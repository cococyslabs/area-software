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</p:sldIdLst>
  <p:sldSz cy="10287000" cx="18288000"/>
  <p:notesSz cx="6858000" cy="9144000"/>
  <p:embeddedFontLst>
    <p:embeddedFont>
      <p:font typeface="Roboto Mono"/>
      <p:regular r:id="rId43"/>
      <p:bold r:id="rId44"/>
      <p:italic r:id="rId45"/>
      <p:boldItalic r:id="rId46"/>
    </p:embeddedFont>
    <p:embeddedFont>
      <p:font typeface="Open Sans"/>
      <p:bold r:id="rId47"/>
      <p:boldItalic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9" roundtripDataSignature="AMtx7mh7I3GrqDou45ha2RaoCIUPrfV8D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font" Target="fonts/RobotoMono-bold.fntdata"/><Relationship Id="rId43" Type="http://schemas.openxmlformats.org/officeDocument/2006/relationships/font" Target="fonts/RobotoMono-regular.fntdata"/><Relationship Id="rId46" Type="http://schemas.openxmlformats.org/officeDocument/2006/relationships/font" Target="fonts/RobotoMono-boldItalic.fntdata"/><Relationship Id="rId45" Type="http://schemas.openxmlformats.org/officeDocument/2006/relationships/font" Target="fonts/RobotoMon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OpenSans-boldItalic.fntdata"/><Relationship Id="rId47" Type="http://schemas.openxmlformats.org/officeDocument/2006/relationships/font" Target="fonts/OpenSans-bold.fntdata"/><Relationship Id="rId49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4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4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4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4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4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4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4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4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4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4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4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4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4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4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3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cs50.harvard.edu/x/" TargetMode="External"/><Relationship Id="rId4" Type="http://schemas.openxmlformats.org/officeDocument/2006/relationships/hyperlink" Target="https://cs50.harvard.edu/x/" TargetMode="Externa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"/>
          <p:cNvSpPr txBox="1"/>
          <p:nvPr/>
        </p:nvSpPr>
        <p:spPr>
          <a:xfrm>
            <a:off x="14691147" y="2075748"/>
            <a:ext cx="2371874" cy="5803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Dia y Fecha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14443944" y="2827978"/>
            <a:ext cx="2866281" cy="5803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Hora de inicio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1346597" y="5057775"/>
            <a:ext cx="15594806" cy="8115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799" u="none" cap="none" strike="noStrike">
                <a:solidFill>
                  <a:srgbClr val="393E46"/>
                </a:solidFill>
                <a:latin typeface="Open Sans"/>
                <a:ea typeface="Open Sans"/>
                <a:cs typeface="Open Sans"/>
                <a:sym typeface="Open Sans"/>
              </a:rPr>
              <a:t>Introducción a los Algoritmos y Flujo de Datos Sec x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7075512" y="5939495"/>
            <a:ext cx="4136975" cy="679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Nombre del tutor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F25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/>
          <p:nvPr/>
        </p:nvSpPr>
        <p:spPr>
          <a:xfrm>
            <a:off x="14575853" y="488854"/>
            <a:ext cx="3106051" cy="1576032"/>
          </a:xfrm>
          <a:custGeom>
            <a:rect b="b" l="l" r="r" t="t"/>
            <a:pathLst>
              <a:path extrusionOk="0" h="1576032" w="3106051">
                <a:moveTo>
                  <a:pt x="0" y="0"/>
                </a:moveTo>
                <a:lnTo>
                  <a:pt x="3106051" y="0"/>
                </a:lnTo>
                <a:lnTo>
                  <a:pt x="3106051" y="1576031"/>
                </a:lnTo>
                <a:lnTo>
                  <a:pt x="0" y="15760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55682" r="0" t="0"/>
            </a:stretch>
          </a:blipFill>
          <a:ln>
            <a:noFill/>
          </a:ln>
        </p:spPr>
      </p:sp>
      <p:sp>
        <p:nvSpPr>
          <p:cNvPr id="94" name="Google Shape;94;p2"/>
          <p:cNvSpPr txBox="1"/>
          <p:nvPr/>
        </p:nvSpPr>
        <p:spPr>
          <a:xfrm>
            <a:off x="7011814" y="3846148"/>
            <a:ext cx="4264372" cy="1094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399" u="none" cap="none" strike="noStrike">
                <a:solidFill>
                  <a:srgbClr val="E0E0E0"/>
                </a:solidFill>
                <a:latin typeface="Arial"/>
                <a:ea typeface="Arial"/>
                <a:cs typeface="Arial"/>
                <a:sym typeface="Arial"/>
              </a:rPr>
              <a:t>Algoritmos</a:t>
            </a:r>
            <a:endParaRPr/>
          </a:p>
        </p:txBody>
      </p:sp>
      <p:sp>
        <p:nvSpPr>
          <p:cNvPr id="95" name="Google Shape;95;p2"/>
          <p:cNvSpPr txBox="1"/>
          <p:nvPr/>
        </p:nvSpPr>
        <p:spPr>
          <a:xfrm>
            <a:off x="1028700" y="6960333"/>
            <a:ext cx="9764464" cy="5803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E0E0E0"/>
                </a:solidFill>
                <a:latin typeface="Arial"/>
                <a:ea typeface="Arial"/>
                <a:cs typeface="Arial"/>
                <a:sym typeface="Arial"/>
              </a:rPr>
              <a:t>Introducción a los Algoritmos y Flujos de Datos</a:t>
            </a:r>
            <a:endParaRPr/>
          </a:p>
        </p:txBody>
      </p:sp>
      <p:sp>
        <p:nvSpPr>
          <p:cNvPr id="96" name="Google Shape;96;p2"/>
          <p:cNvSpPr txBox="1"/>
          <p:nvPr/>
        </p:nvSpPr>
        <p:spPr>
          <a:xfrm>
            <a:off x="1028700" y="7929441"/>
            <a:ext cx="5401121" cy="3492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E0E0E0"/>
                </a:solidFill>
                <a:latin typeface="Arial"/>
                <a:ea typeface="Arial"/>
                <a:cs typeface="Arial"/>
                <a:sym typeface="Arial"/>
              </a:rPr>
              <a:t>Escuela de Ingeniería de Ciencias y Sistemas</a:t>
            </a:r>
            <a:endParaRPr/>
          </a:p>
        </p:txBody>
      </p:sp>
      <p:sp>
        <p:nvSpPr>
          <p:cNvPr id="97" name="Google Shape;97;p2"/>
          <p:cNvSpPr txBox="1"/>
          <p:nvPr/>
        </p:nvSpPr>
        <p:spPr>
          <a:xfrm>
            <a:off x="1028700" y="8421565"/>
            <a:ext cx="2755850" cy="3492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E0E0E0"/>
                </a:solidFill>
                <a:latin typeface="Arial"/>
                <a:ea typeface="Arial"/>
                <a:cs typeface="Arial"/>
                <a:sym typeface="Arial"/>
              </a:rPr>
              <a:t>Facultad de Ingeniería </a:t>
            </a:r>
            <a:endParaRPr/>
          </a:p>
        </p:txBody>
      </p:sp>
      <p:sp>
        <p:nvSpPr>
          <p:cNvPr id="98" name="Google Shape;98;p2"/>
          <p:cNvSpPr txBox="1"/>
          <p:nvPr/>
        </p:nvSpPr>
        <p:spPr>
          <a:xfrm>
            <a:off x="1028700" y="8909051"/>
            <a:ext cx="4956721" cy="3492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E0E0E0"/>
                </a:solidFill>
                <a:latin typeface="Arial"/>
                <a:ea typeface="Arial"/>
                <a:cs typeface="Arial"/>
                <a:sym typeface="Arial"/>
              </a:rPr>
              <a:t>Universidad de San Carlos de Guatemala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F25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"/>
          <p:cNvSpPr/>
          <p:nvPr/>
        </p:nvSpPr>
        <p:spPr>
          <a:xfrm rot="-2700000">
            <a:off x="1740055" y="2938358"/>
            <a:ext cx="1143682" cy="1158425"/>
          </a:xfrm>
          <a:custGeom>
            <a:rect b="b" l="l" r="r" t="t"/>
            <a:pathLst>
              <a:path extrusionOk="0" h="1158425" w="1143682">
                <a:moveTo>
                  <a:pt x="0" y="0"/>
                </a:moveTo>
                <a:lnTo>
                  <a:pt x="1143682" y="0"/>
                </a:lnTo>
                <a:lnTo>
                  <a:pt x="1143682" y="1158425"/>
                </a:lnTo>
                <a:lnTo>
                  <a:pt x="0" y="11584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4" name="Google Shape;104;p3"/>
          <p:cNvSpPr/>
          <p:nvPr/>
        </p:nvSpPr>
        <p:spPr>
          <a:xfrm>
            <a:off x="1028700" y="5143500"/>
            <a:ext cx="785011" cy="854434"/>
          </a:xfrm>
          <a:custGeom>
            <a:rect b="b" l="l" r="r" t="t"/>
            <a:pathLst>
              <a:path extrusionOk="0" h="854434" w="785011">
                <a:moveTo>
                  <a:pt x="0" y="0"/>
                </a:moveTo>
                <a:lnTo>
                  <a:pt x="785011" y="0"/>
                </a:lnTo>
                <a:lnTo>
                  <a:pt x="785011" y="854434"/>
                </a:lnTo>
                <a:lnTo>
                  <a:pt x="0" y="8544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5" name="Google Shape;105;p3"/>
          <p:cNvSpPr txBox="1"/>
          <p:nvPr/>
        </p:nvSpPr>
        <p:spPr>
          <a:xfrm>
            <a:off x="1028700" y="1003935"/>
            <a:ext cx="2566392" cy="962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E0E0E0"/>
                </a:solidFill>
                <a:latin typeface="Arial"/>
                <a:ea typeface="Arial"/>
                <a:cs typeface="Arial"/>
                <a:sym typeface="Arial"/>
              </a:rPr>
              <a:t>Agenda</a:t>
            </a:r>
            <a:endParaRPr/>
          </a:p>
        </p:txBody>
      </p:sp>
      <p:sp>
        <p:nvSpPr>
          <p:cNvPr id="106" name="Google Shape;106;p3"/>
          <p:cNvSpPr txBox="1"/>
          <p:nvPr/>
        </p:nvSpPr>
        <p:spPr>
          <a:xfrm>
            <a:off x="14117241" y="1003935"/>
            <a:ext cx="3142059" cy="962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Recursos</a:t>
            </a:r>
            <a:endParaRPr/>
          </a:p>
        </p:txBody>
      </p:sp>
      <p:sp>
        <p:nvSpPr>
          <p:cNvPr id="107" name="Google Shape;107;p3"/>
          <p:cNvSpPr/>
          <p:nvPr/>
        </p:nvSpPr>
        <p:spPr>
          <a:xfrm>
            <a:off x="1028700" y="6285618"/>
            <a:ext cx="785011" cy="854434"/>
          </a:xfrm>
          <a:custGeom>
            <a:rect b="b" l="l" r="r" t="t"/>
            <a:pathLst>
              <a:path extrusionOk="0" h="854434" w="785011">
                <a:moveTo>
                  <a:pt x="0" y="0"/>
                </a:moveTo>
                <a:lnTo>
                  <a:pt x="785011" y="0"/>
                </a:lnTo>
                <a:lnTo>
                  <a:pt x="785011" y="854435"/>
                </a:lnTo>
                <a:lnTo>
                  <a:pt x="0" y="8544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8" name="Google Shape;108;p3"/>
          <p:cNvSpPr/>
          <p:nvPr/>
        </p:nvSpPr>
        <p:spPr>
          <a:xfrm>
            <a:off x="1028700" y="7425803"/>
            <a:ext cx="785011" cy="854434"/>
          </a:xfrm>
          <a:custGeom>
            <a:rect b="b" l="l" r="r" t="t"/>
            <a:pathLst>
              <a:path extrusionOk="0" h="854434" w="785011">
                <a:moveTo>
                  <a:pt x="0" y="0"/>
                </a:moveTo>
                <a:lnTo>
                  <a:pt x="785011" y="0"/>
                </a:lnTo>
                <a:lnTo>
                  <a:pt x="785011" y="854434"/>
                </a:lnTo>
                <a:lnTo>
                  <a:pt x="0" y="8544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9" name="Google Shape;109;p3"/>
          <p:cNvSpPr/>
          <p:nvPr/>
        </p:nvSpPr>
        <p:spPr>
          <a:xfrm>
            <a:off x="1028700" y="8565987"/>
            <a:ext cx="785011" cy="854434"/>
          </a:xfrm>
          <a:custGeom>
            <a:rect b="b" l="l" r="r" t="t"/>
            <a:pathLst>
              <a:path extrusionOk="0" h="854434" w="785011">
                <a:moveTo>
                  <a:pt x="0" y="0"/>
                </a:moveTo>
                <a:lnTo>
                  <a:pt x="785011" y="0"/>
                </a:lnTo>
                <a:lnTo>
                  <a:pt x="785011" y="854434"/>
                </a:lnTo>
                <a:lnTo>
                  <a:pt x="0" y="8544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0" name="Google Shape;110;p3"/>
          <p:cNvSpPr txBox="1"/>
          <p:nvPr/>
        </p:nvSpPr>
        <p:spPr>
          <a:xfrm>
            <a:off x="2311896" y="5247185"/>
            <a:ext cx="2127647" cy="5803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Texto aqui</a:t>
            </a:r>
            <a:endParaRPr/>
          </a:p>
        </p:txBody>
      </p:sp>
      <p:sp>
        <p:nvSpPr>
          <p:cNvPr id="111" name="Google Shape;111;p3"/>
          <p:cNvSpPr txBox="1"/>
          <p:nvPr/>
        </p:nvSpPr>
        <p:spPr>
          <a:xfrm>
            <a:off x="2311896" y="6389303"/>
            <a:ext cx="2127647" cy="5803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Texto aqui</a:t>
            </a:r>
            <a:endParaRPr/>
          </a:p>
        </p:txBody>
      </p:sp>
      <p:sp>
        <p:nvSpPr>
          <p:cNvPr id="112" name="Google Shape;112;p3"/>
          <p:cNvSpPr txBox="1"/>
          <p:nvPr/>
        </p:nvSpPr>
        <p:spPr>
          <a:xfrm>
            <a:off x="2311896" y="7529487"/>
            <a:ext cx="2127647" cy="5803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Texto aqui</a:t>
            </a:r>
            <a:endParaRPr/>
          </a:p>
        </p:txBody>
      </p:sp>
      <p:sp>
        <p:nvSpPr>
          <p:cNvPr id="113" name="Google Shape;113;p3"/>
          <p:cNvSpPr txBox="1"/>
          <p:nvPr/>
        </p:nvSpPr>
        <p:spPr>
          <a:xfrm>
            <a:off x="2311896" y="8669671"/>
            <a:ext cx="2127647" cy="5803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Texto aqui</a:t>
            </a:r>
            <a:endParaRPr/>
          </a:p>
        </p:txBody>
      </p:sp>
      <p:sp>
        <p:nvSpPr>
          <p:cNvPr id="114" name="Google Shape;114;p3"/>
          <p:cNvSpPr txBox="1"/>
          <p:nvPr/>
        </p:nvSpPr>
        <p:spPr>
          <a:xfrm>
            <a:off x="14624447" y="4264813"/>
            <a:ext cx="2193131" cy="5803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Vídeo aquí</a:t>
            </a:r>
            <a:endParaRPr/>
          </a:p>
        </p:txBody>
      </p:sp>
      <p:sp>
        <p:nvSpPr>
          <p:cNvPr id="115" name="Google Shape;115;p3"/>
          <p:cNvSpPr txBox="1"/>
          <p:nvPr/>
        </p:nvSpPr>
        <p:spPr>
          <a:xfrm>
            <a:off x="14624447" y="6132445"/>
            <a:ext cx="2390329" cy="5803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Link Quizziz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F25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"/>
          <p:cNvSpPr txBox="1"/>
          <p:nvPr/>
        </p:nvSpPr>
        <p:spPr>
          <a:xfrm>
            <a:off x="1028700" y="895350"/>
            <a:ext cx="6533572" cy="1226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Competencias</a:t>
            </a:r>
            <a:endParaRPr/>
          </a:p>
        </p:txBody>
      </p:sp>
      <p:sp>
        <p:nvSpPr>
          <p:cNvPr id="121" name="Google Shape;121;p4"/>
          <p:cNvSpPr txBox="1"/>
          <p:nvPr/>
        </p:nvSpPr>
        <p:spPr>
          <a:xfrm>
            <a:off x="1834369" y="3222964"/>
            <a:ext cx="14619262" cy="42024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Diseña algoritmos básicos con estructuras secuenciales, condicionales y cíclicas aplicando principios del pensamiento algorítmico para resolver problemas simples de procesamiento de datos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F25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"/>
          <p:cNvSpPr/>
          <p:nvPr/>
        </p:nvSpPr>
        <p:spPr>
          <a:xfrm>
            <a:off x="11559927" y="4397407"/>
            <a:ext cx="4259316" cy="4018979"/>
          </a:xfrm>
          <a:custGeom>
            <a:rect b="b" l="l" r="r" t="t"/>
            <a:pathLst>
              <a:path extrusionOk="0" h="4018979" w="4259316">
                <a:moveTo>
                  <a:pt x="0" y="0"/>
                </a:moveTo>
                <a:lnTo>
                  <a:pt x="4259317" y="0"/>
                </a:lnTo>
                <a:lnTo>
                  <a:pt x="4259317" y="4018979"/>
                </a:lnTo>
                <a:lnTo>
                  <a:pt x="0" y="40189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9075" l="-15359" r="-15982" t="-20119"/>
            </a:stretch>
          </a:blipFill>
          <a:ln>
            <a:noFill/>
          </a:ln>
        </p:spPr>
      </p:sp>
      <p:sp>
        <p:nvSpPr>
          <p:cNvPr id="127" name="Google Shape;127;p5"/>
          <p:cNvSpPr txBox="1"/>
          <p:nvPr/>
        </p:nvSpPr>
        <p:spPr>
          <a:xfrm>
            <a:off x="5682332" y="952500"/>
            <a:ext cx="6923336" cy="679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Estructuras Cíclicas (Bucles)</a:t>
            </a:r>
            <a:endParaRPr/>
          </a:p>
        </p:txBody>
      </p:sp>
      <p:sp>
        <p:nvSpPr>
          <p:cNvPr id="128" name="Google Shape;128;p5"/>
          <p:cNvSpPr txBox="1"/>
          <p:nvPr/>
        </p:nvSpPr>
        <p:spPr>
          <a:xfrm>
            <a:off x="1028700" y="2583943"/>
            <a:ext cx="16230600" cy="1362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Concepto General</a:t>
            </a:r>
            <a:r>
              <a:rPr b="0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: Una estructura cíclica es un mecanismo de control que permite que un algoritmo repita una o varias instrucciones de forma ordenada.  Se utilizan cuando necesitamos realizar la misma acción varias veces, pero sin duplicar código manualmente.</a:t>
            </a:r>
            <a:endParaRPr/>
          </a:p>
        </p:txBody>
      </p:sp>
      <p:sp>
        <p:nvSpPr>
          <p:cNvPr id="129" name="Google Shape;129;p5"/>
          <p:cNvSpPr txBox="1"/>
          <p:nvPr/>
        </p:nvSpPr>
        <p:spPr>
          <a:xfrm>
            <a:off x="1028700" y="4388409"/>
            <a:ext cx="8737378" cy="4105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¿Por qué existen los ciclos?</a:t>
            </a:r>
            <a:endParaRPr/>
          </a:p>
          <a:p>
            <a:pPr indent="-280669" lvl="1" marL="561339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99"/>
              <a:buFont typeface="Arial"/>
              <a:buChar char="•"/>
            </a:pPr>
            <a:r>
              <a:rPr b="0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Para evitar escribir 100 veces la misma instrucción.</a:t>
            </a:r>
            <a:endParaRPr/>
          </a:p>
          <a:p>
            <a:pPr indent="-280669" lvl="1" marL="561339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99"/>
              <a:buFont typeface="Arial"/>
              <a:buChar char="•"/>
            </a:pPr>
            <a:r>
              <a:rPr b="0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Para procesar listas, repetir validaciones o recorrer datos.</a:t>
            </a:r>
            <a:endParaRPr/>
          </a:p>
          <a:p>
            <a:pPr indent="-280669" lvl="1" marL="561339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99"/>
              <a:buFont typeface="Arial"/>
              <a:buChar char="•"/>
            </a:pPr>
            <a:r>
              <a:rPr b="0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Para que el algoritmo tome decisiones basadas en cuándo detenerse.</a:t>
            </a:r>
            <a:endParaRPr/>
          </a:p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59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Idea clave</a:t>
            </a:r>
            <a:r>
              <a:rPr b="0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: un ciclo siempre necesita una condición o un contador para saber cuándo parar.</a:t>
            </a:r>
            <a:endParaRPr/>
          </a:p>
        </p:txBody>
      </p:sp>
      <p:sp>
        <p:nvSpPr>
          <p:cNvPr id="130" name="Google Shape;130;p5"/>
          <p:cNvSpPr txBox="1"/>
          <p:nvPr/>
        </p:nvSpPr>
        <p:spPr>
          <a:xfrm>
            <a:off x="1028700" y="8809990"/>
            <a:ext cx="16230600" cy="448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 esa condición nunca se cumple → bucle infinito → algoritmo inútil.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F25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"/>
          <p:cNvSpPr/>
          <p:nvPr/>
        </p:nvSpPr>
        <p:spPr>
          <a:xfrm>
            <a:off x="12388885" y="5520365"/>
            <a:ext cx="3383497" cy="3580741"/>
          </a:xfrm>
          <a:custGeom>
            <a:rect b="b" l="l" r="r" t="t"/>
            <a:pathLst>
              <a:path extrusionOk="0" h="3580741" w="3383497">
                <a:moveTo>
                  <a:pt x="0" y="0"/>
                </a:moveTo>
                <a:lnTo>
                  <a:pt x="3383497" y="0"/>
                </a:lnTo>
                <a:lnTo>
                  <a:pt x="3383497" y="3580741"/>
                </a:lnTo>
                <a:lnTo>
                  <a:pt x="0" y="35807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8599" l="-54488" r="-33394" t="-38933"/>
            </a:stretch>
          </a:blipFill>
          <a:ln>
            <a:noFill/>
          </a:ln>
        </p:spPr>
      </p:sp>
      <p:sp>
        <p:nvSpPr>
          <p:cNvPr id="136" name="Google Shape;136;p6"/>
          <p:cNvSpPr txBox="1"/>
          <p:nvPr/>
        </p:nvSpPr>
        <p:spPr>
          <a:xfrm>
            <a:off x="4973836" y="952500"/>
            <a:ext cx="8340328" cy="679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Tipos de Ciclos y Cómo Funcionan</a:t>
            </a:r>
            <a:endParaRPr/>
          </a:p>
        </p:txBody>
      </p:sp>
      <p:sp>
        <p:nvSpPr>
          <p:cNvPr id="137" name="Google Shape;137;p6"/>
          <p:cNvSpPr txBox="1"/>
          <p:nvPr/>
        </p:nvSpPr>
        <p:spPr>
          <a:xfrm>
            <a:off x="1028700" y="2583943"/>
            <a:ext cx="16230600" cy="448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Los ciclos cambian según cuándo evalúan la condición.</a:t>
            </a:r>
            <a:endParaRPr/>
          </a:p>
        </p:txBody>
      </p:sp>
      <p:sp>
        <p:nvSpPr>
          <p:cNvPr id="138" name="Google Shape;138;p6"/>
          <p:cNvSpPr txBox="1"/>
          <p:nvPr/>
        </p:nvSpPr>
        <p:spPr>
          <a:xfrm>
            <a:off x="1028700" y="3601183"/>
            <a:ext cx="9873267" cy="4563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Ciclo Mientras (WHILE)</a:t>
            </a:r>
            <a:endParaRPr/>
          </a:p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59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Evalúa la condición antes de entrar al ciclo.</a:t>
            </a:r>
            <a:endParaRPr/>
          </a:p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59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 la condición es falsa desde el inicio → el ciclo no se ejecuta.</a:t>
            </a:r>
            <a:endParaRPr/>
          </a:p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59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 usa cuando:</a:t>
            </a:r>
            <a:endParaRPr/>
          </a:p>
          <a:p>
            <a:pPr indent="-280669" lvl="1" marL="561339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99"/>
              <a:buFont typeface="Arial"/>
              <a:buChar char="•"/>
            </a:pPr>
            <a:r>
              <a:rPr b="0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 sabemos cuántas veces se repetirá.</a:t>
            </a:r>
            <a:endParaRPr/>
          </a:p>
          <a:p>
            <a:pPr indent="-280669" lvl="1" marL="561339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99"/>
              <a:buFont typeface="Arial"/>
              <a:buChar char="•"/>
            </a:pPr>
            <a:r>
              <a:rPr b="0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Depende de una condición variable.</a:t>
            </a:r>
            <a:endParaRPr/>
          </a:p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59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6"/>
          <p:cNvSpPr txBox="1"/>
          <p:nvPr/>
        </p:nvSpPr>
        <p:spPr>
          <a:xfrm>
            <a:off x="10901967" y="2574418"/>
            <a:ext cx="6357333" cy="5803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Estructura</a:t>
            </a:r>
            <a:endParaRPr/>
          </a:p>
        </p:txBody>
      </p:sp>
      <p:sp>
        <p:nvSpPr>
          <p:cNvPr id="140" name="Google Shape;140;p6"/>
          <p:cNvSpPr txBox="1"/>
          <p:nvPr/>
        </p:nvSpPr>
        <p:spPr>
          <a:xfrm>
            <a:off x="11470941" y="3450804"/>
            <a:ext cx="5788359" cy="1471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B0B0B0"/>
                </a:solidFill>
                <a:latin typeface="Roboto Mono"/>
                <a:ea typeface="Roboto Mono"/>
                <a:cs typeface="Roboto Mono"/>
                <a:sym typeface="Roboto Mono"/>
              </a:rPr>
              <a:t>Mientras (condición) Hacer</a:t>
            </a:r>
            <a:endParaRPr/>
          </a:p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B0B0B0"/>
                </a:solidFill>
                <a:latin typeface="Roboto Mono"/>
                <a:ea typeface="Roboto Mono"/>
                <a:cs typeface="Roboto Mono"/>
                <a:sym typeface="Roboto Mono"/>
              </a:rPr>
              <a:t>    instrucciones</a:t>
            </a:r>
            <a:endParaRPr/>
          </a:p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B0B0B0"/>
                </a:solidFill>
                <a:latin typeface="Roboto Mono"/>
                <a:ea typeface="Roboto Mono"/>
                <a:cs typeface="Roboto Mono"/>
                <a:sym typeface="Roboto Mono"/>
              </a:rPr>
              <a:t>FinMientras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F25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"/>
          <p:cNvSpPr/>
          <p:nvPr/>
        </p:nvSpPr>
        <p:spPr>
          <a:xfrm>
            <a:off x="12411644" y="5501496"/>
            <a:ext cx="3337979" cy="3292461"/>
          </a:xfrm>
          <a:custGeom>
            <a:rect b="b" l="l" r="r" t="t"/>
            <a:pathLst>
              <a:path extrusionOk="0" h="3292461" w="3337979">
                <a:moveTo>
                  <a:pt x="0" y="0"/>
                </a:moveTo>
                <a:lnTo>
                  <a:pt x="3337979" y="0"/>
                </a:lnTo>
                <a:lnTo>
                  <a:pt x="3337979" y="3292461"/>
                </a:lnTo>
                <a:lnTo>
                  <a:pt x="0" y="32924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0969" l="-53635" r="-36809" t="-52107"/>
            </a:stretch>
          </a:blipFill>
          <a:ln>
            <a:noFill/>
          </a:ln>
        </p:spPr>
      </p:sp>
      <p:sp>
        <p:nvSpPr>
          <p:cNvPr id="146" name="Google Shape;146;p7"/>
          <p:cNvSpPr txBox="1"/>
          <p:nvPr/>
        </p:nvSpPr>
        <p:spPr>
          <a:xfrm>
            <a:off x="4973836" y="952500"/>
            <a:ext cx="8340328" cy="679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Tipos de Ciclos y Cómo Funcionan</a:t>
            </a:r>
            <a:endParaRPr/>
          </a:p>
        </p:txBody>
      </p:sp>
      <p:sp>
        <p:nvSpPr>
          <p:cNvPr id="147" name="Google Shape;147;p7"/>
          <p:cNvSpPr txBox="1"/>
          <p:nvPr/>
        </p:nvSpPr>
        <p:spPr>
          <a:xfrm>
            <a:off x="1028700" y="2584617"/>
            <a:ext cx="8796010" cy="4563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Ciclo Repetir...Hasta (DO-WHILE / REPEAT)</a:t>
            </a:r>
            <a:endParaRPr/>
          </a:p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59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Primero ejecuta el bloque y luego evalúa.</a:t>
            </a:r>
            <a:endParaRPr/>
          </a:p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59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 ejecuta al menos una vez.</a:t>
            </a:r>
            <a:endParaRPr/>
          </a:p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59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 usa cuando:</a:t>
            </a:r>
            <a:endParaRPr/>
          </a:p>
          <a:p>
            <a:pPr indent="-280669" lvl="1" marL="561339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99"/>
              <a:buFont typeface="Arial"/>
              <a:buChar char="•"/>
            </a:pPr>
            <a:r>
              <a:rPr b="0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Necesitamos garantizar que el usuario ingrese algo.</a:t>
            </a:r>
            <a:endParaRPr/>
          </a:p>
          <a:p>
            <a:pPr indent="-280669" lvl="1" marL="561339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99"/>
              <a:buFont typeface="Arial"/>
              <a:buChar char="•"/>
            </a:pPr>
            <a:r>
              <a:rPr b="0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Necesitamos validar información al menos una vez.</a:t>
            </a:r>
            <a:endParaRPr/>
          </a:p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59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7"/>
          <p:cNvSpPr txBox="1"/>
          <p:nvPr/>
        </p:nvSpPr>
        <p:spPr>
          <a:xfrm>
            <a:off x="10901967" y="2574418"/>
            <a:ext cx="6357333" cy="5803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Estructura</a:t>
            </a:r>
            <a:endParaRPr/>
          </a:p>
        </p:txBody>
      </p:sp>
      <p:sp>
        <p:nvSpPr>
          <p:cNvPr id="149" name="Google Shape;149;p7"/>
          <p:cNvSpPr txBox="1"/>
          <p:nvPr/>
        </p:nvSpPr>
        <p:spPr>
          <a:xfrm>
            <a:off x="11470941" y="3450804"/>
            <a:ext cx="5788359" cy="1471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B0B0B0"/>
                </a:solidFill>
                <a:latin typeface="Roboto Mono"/>
                <a:ea typeface="Roboto Mono"/>
                <a:cs typeface="Roboto Mono"/>
                <a:sym typeface="Roboto Mono"/>
              </a:rPr>
              <a:t>Repetir</a:t>
            </a:r>
            <a:endParaRPr/>
          </a:p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B0B0B0"/>
                </a:solidFill>
                <a:latin typeface="Roboto Mono"/>
                <a:ea typeface="Roboto Mono"/>
                <a:cs typeface="Roboto Mono"/>
                <a:sym typeface="Roboto Mono"/>
              </a:rPr>
              <a:t>    instrucciones</a:t>
            </a:r>
            <a:endParaRPr/>
          </a:p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B0B0B0"/>
                </a:solidFill>
                <a:latin typeface="Roboto Mono"/>
                <a:ea typeface="Roboto Mono"/>
                <a:cs typeface="Roboto Mono"/>
                <a:sym typeface="Roboto Mono"/>
              </a:rPr>
              <a:t>Hasta (condición)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F25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"/>
          <p:cNvSpPr/>
          <p:nvPr/>
        </p:nvSpPr>
        <p:spPr>
          <a:xfrm>
            <a:off x="11520252" y="5507665"/>
            <a:ext cx="4521444" cy="3095217"/>
          </a:xfrm>
          <a:custGeom>
            <a:rect b="b" l="l" r="r" t="t"/>
            <a:pathLst>
              <a:path extrusionOk="0" h="3095217" w="4521444">
                <a:moveTo>
                  <a:pt x="0" y="0"/>
                </a:moveTo>
                <a:lnTo>
                  <a:pt x="4521444" y="0"/>
                </a:lnTo>
                <a:lnTo>
                  <a:pt x="4521444" y="3095217"/>
                </a:lnTo>
                <a:lnTo>
                  <a:pt x="0" y="30952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0042" l="-27514" r="-13079" t="-55335"/>
            </a:stretch>
          </a:blipFill>
          <a:ln>
            <a:noFill/>
          </a:ln>
        </p:spPr>
      </p:sp>
      <p:sp>
        <p:nvSpPr>
          <p:cNvPr id="155" name="Google Shape;155;p8"/>
          <p:cNvSpPr txBox="1"/>
          <p:nvPr/>
        </p:nvSpPr>
        <p:spPr>
          <a:xfrm>
            <a:off x="4973836" y="952500"/>
            <a:ext cx="8340328" cy="679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Tipos de Ciclos y Cómo Funcionan</a:t>
            </a:r>
            <a:endParaRPr/>
          </a:p>
        </p:txBody>
      </p:sp>
      <p:sp>
        <p:nvSpPr>
          <p:cNvPr id="156" name="Google Shape;156;p8"/>
          <p:cNvSpPr txBox="1"/>
          <p:nvPr/>
        </p:nvSpPr>
        <p:spPr>
          <a:xfrm>
            <a:off x="1028700" y="2584617"/>
            <a:ext cx="8796010" cy="4563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Ciclo Para (FOR)</a:t>
            </a:r>
            <a:endParaRPr/>
          </a:p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59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Usa un contador con un inicio y un fin.</a:t>
            </a:r>
            <a:endParaRPr/>
          </a:p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59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 cantidad de repeticiones es conocida.</a:t>
            </a:r>
            <a:endParaRPr/>
          </a:p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59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 usa cuando:</a:t>
            </a:r>
            <a:endParaRPr/>
          </a:p>
          <a:p>
            <a:pPr indent="-280669" lvl="1" marL="561339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99"/>
              <a:buFont typeface="Arial"/>
              <a:buChar char="•"/>
            </a:pPr>
            <a:r>
              <a:rPr b="0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Ya sabemos cuántas veces repetir algo.</a:t>
            </a:r>
            <a:endParaRPr/>
          </a:p>
          <a:p>
            <a:pPr indent="-280669" lvl="1" marL="561339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99"/>
              <a:buFont typeface="Arial"/>
              <a:buChar char="•"/>
            </a:pPr>
            <a:r>
              <a:rPr b="0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Recorrer posiciones de un arreglo.</a:t>
            </a:r>
            <a:endParaRPr/>
          </a:p>
          <a:p>
            <a:pPr indent="-280669" lvl="1" marL="561339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99"/>
              <a:buFont typeface="Arial"/>
              <a:buChar char="•"/>
            </a:pPr>
            <a:r>
              <a:rPr b="0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Contar iteraciones específicas.</a:t>
            </a:r>
            <a:endParaRPr/>
          </a:p>
        </p:txBody>
      </p:sp>
      <p:sp>
        <p:nvSpPr>
          <p:cNvPr id="157" name="Google Shape;157;p8"/>
          <p:cNvSpPr txBox="1"/>
          <p:nvPr/>
        </p:nvSpPr>
        <p:spPr>
          <a:xfrm>
            <a:off x="10901967" y="2574418"/>
            <a:ext cx="6357333" cy="5803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Estructura</a:t>
            </a:r>
            <a:endParaRPr/>
          </a:p>
        </p:txBody>
      </p:sp>
      <p:sp>
        <p:nvSpPr>
          <p:cNvPr id="158" name="Google Shape;158;p8"/>
          <p:cNvSpPr txBox="1"/>
          <p:nvPr/>
        </p:nvSpPr>
        <p:spPr>
          <a:xfrm>
            <a:off x="10302648" y="3450804"/>
            <a:ext cx="6956652" cy="1471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B0B0B0"/>
                </a:solidFill>
                <a:latin typeface="Roboto Mono"/>
                <a:ea typeface="Roboto Mono"/>
                <a:cs typeface="Roboto Mono"/>
                <a:sym typeface="Roboto Mono"/>
              </a:rPr>
              <a:t>Para i ← inicio Hasta fin Hacer</a:t>
            </a:r>
            <a:endParaRPr/>
          </a:p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B0B0B0"/>
                </a:solidFill>
                <a:latin typeface="Roboto Mono"/>
                <a:ea typeface="Roboto Mono"/>
                <a:cs typeface="Roboto Mono"/>
                <a:sym typeface="Roboto Mono"/>
              </a:rPr>
              <a:t>    instrucciones</a:t>
            </a:r>
            <a:endParaRPr/>
          </a:p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B0B0B0"/>
                </a:solidFill>
                <a:latin typeface="Roboto Mono"/>
                <a:ea typeface="Roboto Mono"/>
                <a:cs typeface="Roboto Mono"/>
                <a:sym typeface="Roboto Mono"/>
              </a:rPr>
              <a:t>FinPara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F25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"/>
          <p:cNvSpPr txBox="1"/>
          <p:nvPr/>
        </p:nvSpPr>
        <p:spPr>
          <a:xfrm>
            <a:off x="5332214" y="952500"/>
            <a:ext cx="7623572" cy="679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Aplicaciones Prácticas y Reales</a:t>
            </a:r>
            <a:endParaRPr/>
          </a:p>
        </p:txBody>
      </p:sp>
      <p:sp>
        <p:nvSpPr>
          <p:cNvPr id="164" name="Google Shape;164;p9"/>
          <p:cNvSpPr txBox="1"/>
          <p:nvPr/>
        </p:nvSpPr>
        <p:spPr>
          <a:xfrm>
            <a:off x="2057905" y="2338070"/>
            <a:ext cx="14172189" cy="6920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Sistemas de estudiantes</a:t>
            </a:r>
            <a:endParaRPr/>
          </a:p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79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Recorrer la lista de estudiantes para calcular su nota final:</a:t>
            </a:r>
            <a:endParaRPr/>
          </a:p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9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 </a:t>
            </a:r>
            <a:r>
              <a:rPr b="0" i="0" lang="en-US" sz="2799" u="none" cap="none" strike="noStrike">
                <a:solidFill>
                  <a:srgbClr val="B0B0B0"/>
                </a:solidFill>
                <a:latin typeface="Roboto Mono"/>
                <a:ea typeface="Roboto Mono"/>
                <a:cs typeface="Roboto Mono"/>
                <a:sym typeface="Roboto Mono"/>
              </a:rPr>
              <a:t>Para cada estudiante: sumar notas, dividir entre cantidad, </a:t>
            </a:r>
            <a:endParaRPr/>
          </a:p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B0B0B0"/>
                </a:solidFill>
                <a:latin typeface="Roboto Mono"/>
                <a:ea typeface="Roboto Mono"/>
                <a:cs typeface="Roboto Mono"/>
                <a:sym typeface="Roboto Mono"/>
              </a:rPr>
              <a:t>     actualizar promedio.</a:t>
            </a:r>
            <a:endParaRPr/>
          </a:p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99" u="none" cap="none" strike="noStrike">
              <a:solidFill>
                <a:srgbClr val="B0B0B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Validación de formularios</a:t>
            </a:r>
            <a:endParaRPr/>
          </a:p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79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Repetir la solicitud de edad, correo o contraseña hasta que sea válido:</a:t>
            </a:r>
            <a:endParaRPr/>
          </a:p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9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B0B0B0"/>
                </a:solidFill>
                <a:latin typeface="Roboto Mono"/>
                <a:ea typeface="Roboto Mono"/>
                <a:cs typeface="Roboto Mono"/>
                <a:sym typeface="Roboto Mono"/>
              </a:rPr>
              <a:t>     “Ingrese un correo válido”</a:t>
            </a:r>
            <a:endParaRPr/>
          </a:p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B0B0B0"/>
                </a:solidFill>
                <a:latin typeface="Roboto Mono"/>
                <a:ea typeface="Roboto Mono"/>
                <a:cs typeface="Roboto Mono"/>
                <a:sym typeface="Roboto Mono"/>
              </a:rPr>
              <a:t>     “Ingrese una opción del 1 al 3”</a:t>
            </a:r>
            <a:endParaRPr/>
          </a:p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99" u="none" cap="none" strike="noStrike">
              <a:solidFill>
                <a:srgbClr val="B0B0B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F25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0"/>
          <p:cNvSpPr/>
          <p:nvPr/>
        </p:nvSpPr>
        <p:spPr>
          <a:xfrm>
            <a:off x="10668968" y="3201425"/>
            <a:ext cx="6097751" cy="4151660"/>
          </a:xfrm>
          <a:custGeom>
            <a:rect b="b" l="l" r="r" t="t"/>
            <a:pathLst>
              <a:path extrusionOk="0" h="4151660" w="6097751">
                <a:moveTo>
                  <a:pt x="0" y="0"/>
                </a:moveTo>
                <a:lnTo>
                  <a:pt x="6097751" y="0"/>
                </a:lnTo>
                <a:lnTo>
                  <a:pt x="6097751" y="4151660"/>
                </a:lnTo>
                <a:lnTo>
                  <a:pt x="0" y="41516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3966" l="-16716" r="-10632" t="-43076"/>
            </a:stretch>
          </a:blipFill>
          <a:ln>
            <a:noFill/>
          </a:ln>
        </p:spPr>
      </p:sp>
      <p:sp>
        <p:nvSpPr>
          <p:cNvPr id="170" name="Google Shape;170;p10"/>
          <p:cNvSpPr txBox="1"/>
          <p:nvPr/>
        </p:nvSpPr>
        <p:spPr>
          <a:xfrm>
            <a:off x="5332214" y="952500"/>
            <a:ext cx="7623572" cy="679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Aplicaciones Prácticas y Reales</a:t>
            </a:r>
            <a:endParaRPr/>
          </a:p>
        </p:txBody>
      </p:sp>
      <p:sp>
        <p:nvSpPr>
          <p:cNvPr id="171" name="Google Shape;171;p10"/>
          <p:cNvSpPr txBox="1"/>
          <p:nvPr/>
        </p:nvSpPr>
        <p:spPr>
          <a:xfrm>
            <a:off x="1177893" y="2655695"/>
            <a:ext cx="9059012" cy="543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Procesamiento de datos</a:t>
            </a:r>
            <a:endParaRPr/>
          </a:p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79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2259" lvl="1" marL="604518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Sumar los precios en un carrito de compras</a:t>
            </a:r>
            <a:endParaRPr/>
          </a:p>
          <a:p>
            <a:pPr indent="-302259" lvl="1" marL="604518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Buscar el número más grande de una lista</a:t>
            </a:r>
            <a:endParaRPr/>
          </a:p>
          <a:p>
            <a:pPr indent="-302259" lvl="1" marL="604518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Leer archivos línea por línea</a:t>
            </a:r>
            <a:endParaRPr/>
          </a:p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9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 videojuegos</a:t>
            </a:r>
            <a:endParaRPr/>
          </a:p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79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2259" lvl="1" marL="604518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Actualizar posición del personaje en cada frame</a:t>
            </a:r>
            <a:endParaRPr/>
          </a:p>
          <a:p>
            <a:pPr indent="-302259" lvl="1" marL="604518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Repetir la música de fondo</a:t>
            </a:r>
            <a:endParaRPr/>
          </a:p>
          <a:p>
            <a:pPr indent="-302259" lvl="1" marL="604518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Contar puntos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F25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1"/>
          <p:cNvSpPr/>
          <p:nvPr/>
        </p:nvSpPr>
        <p:spPr>
          <a:xfrm>
            <a:off x="11851286" y="5116171"/>
            <a:ext cx="3095217" cy="4142129"/>
          </a:xfrm>
          <a:custGeom>
            <a:rect b="b" l="l" r="r" t="t"/>
            <a:pathLst>
              <a:path extrusionOk="0" h="4142129" w="3095217">
                <a:moveTo>
                  <a:pt x="0" y="0"/>
                </a:moveTo>
                <a:lnTo>
                  <a:pt x="3095217" y="0"/>
                </a:lnTo>
                <a:lnTo>
                  <a:pt x="3095217" y="4142129"/>
                </a:lnTo>
                <a:lnTo>
                  <a:pt x="0" y="41421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6299" l="-50591" r="-54789" t="-27172"/>
            </a:stretch>
          </a:blipFill>
          <a:ln>
            <a:noFill/>
          </a:ln>
        </p:spPr>
      </p:sp>
      <p:sp>
        <p:nvSpPr>
          <p:cNvPr id="177" name="Google Shape;177;p11"/>
          <p:cNvSpPr txBox="1"/>
          <p:nvPr/>
        </p:nvSpPr>
        <p:spPr>
          <a:xfrm>
            <a:off x="6067127" y="952500"/>
            <a:ext cx="6153745" cy="679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Estructuras Secuenciales</a:t>
            </a:r>
            <a:endParaRPr/>
          </a:p>
        </p:txBody>
      </p:sp>
      <p:sp>
        <p:nvSpPr>
          <p:cNvPr id="178" name="Google Shape;178;p11"/>
          <p:cNvSpPr txBox="1"/>
          <p:nvPr/>
        </p:nvSpPr>
        <p:spPr>
          <a:xfrm>
            <a:off x="1028700" y="2113591"/>
            <a:ext cx="7751157" cy="3191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Concepto General: </a:t>
            </a:r>
            <a:endParaRPr/>
          </a:p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59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Una estructura secuencial es el tipo más básico de algoritmo: consiste en ejecutar instrucciones en orden, una después de otra, de arriba hacia abajo, sin saltos, sin decisiones y sin repeticiones.</a:t>
            </a:r>
            <a:endParaRPr/>
          </a:p>
        </p:txBody>
      </p:sp>
      <p:sp>
        <p:nvSpPr>
          <p:cNvPr id="179" name="Google Shape;179;p11"/>
          <p:cNvSpPr txBox="1"/>
          <p:nvPr/>
        </p:nvSpPr>
        <p:spPr>
          <a:xfrm>
            <a:off x="9538488" y="2959447"/>
            <a:ext cx="7720812" cy="181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 el modelo ideal cuando el proceso es lineal, es decir, que siempre se ejecutan los mismos pasos, en el mismo orden, sin condiciones que modifiquen su comportamiento.</a:t>
            </a:r>
            <a:endParaRPr/>
          </a:p>
        </p:txBody>
      </p:sp>
      <p:sp>
        <p:nvSpPr>
          <p:cNvPr id="180" name="Google Shape;180;p11"/>
          <p:cNvSpPr txBox="1"/>
          <p:nvPr/>
        </p:nvSpPr>
        <p:spPr>
          <a:xfrm>
            <a:off x="1028700" y="6018466"/>
            <a:ext cx="7720812" cy="2734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Características principales:</a:t>
            </a:r>
            <a:endParaRPr/>
          </a:p>
          <a:p>
            <a:pPr indent="-280669" lvl="1" marL="561339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99"/>
              <a:buFont typeface="Arial"/>
              <a:buChar char="•"/>
            </a:pPr>
            <a:r>
              <a:rPr b="0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 existen bifurcaciones.</a:t>
            </a:r>
            <a:endParaRPr/>
          </a:p>
          <a:p>
            <a:pPr indent="-280669" lvl="1" marL="561339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99"/>
              <a:buFont typeface="Arial"/>
              <a:buChar char="•"/>
            </a:pPr>
            <a:r>
              <a:rPr b="0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 hay ciclos.</a:t>
            </a:r>
            <a:endParaRPr/>
          </a:p>
          <a:p>
            <a:pPr indent="-280669" lvl="1" marL="561339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99"/>
              <a:buFont typeface="Arial"/>
              <a:buChar char="•"/>
            </a:pPr>
            <a:r>
              <a:rPr b="0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El flujo es totalmente predecible.</a:t>
            </a:r>
            <a:endParaRPr/>
          </a:p>
          <a:p>
            <a:pPr indent="-280669" lvl="1" marL="561339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99"/>
              <a:buFont typeface="Arial"/>
              <a:buChar char="•"/>
            </a:pPr>
            <a:r>
              <a:rPr b="0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 la base para comprender cualquier otro tipo de estructura.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F25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2"/>
          <p:cNvSpPr/>
          <p:nvPr/>
        </p:nvSpPr>
        <p:spPr>
          <a:xfrm>
            <a:off x="9857114" y="3484103"/>
            <a:ext cx="6963420" cy="3961010"/>
          </a:xfrm>
          <a:custGeom>
            <a:rect b="b" l="l" r="r" t="t"/>
            <a:pathLst>
              <a:path extrusionOk="0" h="3961010" w="6963420">
                <a:moveTo>
                  <a:pt x="0" y="0"/>
                </a:moveTo>
                <a:lnTo>
                  <a:pt x="6963420" y="0"/>
                </a:lnTo>
                <a:lnTo>
                  <a:pt x="6963420" y="3961010"/>
                </a:lnTo>
                <a:lnTo>
                  <a:pt x="0" y="39610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2745" l="-4154" r="-4670" t="-48569"/>
            </a:stretch>
          </a:blipFill>
          <a:ln>
            <a:noFill/>
          </a:ln>
        </p:spPr>
      </p:sp>
      <p:sp>
        <p:nvSpPr>
          <p:cNvPr id="186" name="Google Shape;186;p12"/>
          <p:cNvSpPr txBox="1"/>
          <p:nvPr/>
        </p:nvSpPr>
        <p:spPr>
          <a:xfrm>
            <a:off x="5603453" y="952500"/>
            <a:ext cx="7081093" cy="679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Funcionamiento y Estructura</a:t>
            </a:r>
            <a:endParaRPr/>
          </a:p>
        </p:txBody>
      </p:sp>
      <p:sp>
        <p:nvSpPr>
          <p:cNvPr id="187" name="Google Shape;187;p12"/>
          <p:cNvSpPr txBox="1"/>
          <p:nvPr/>
        </p:nvSpPr>
        <p:spPr>
          <a:xfrm>
            <a:off x="1028700" y="3426953"/>
            <a:ext cx="8585652" cy="4563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 Se ejecuta del primer paso al último</a:t>
            </a:r>
            <a:endParaRPr/>
          </a:p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El algoritmo avanza línea por línea.</a:t>
            </a:r>
            <a:endParaRPr/>
          </a:p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No decide nada, solo sigue el orden en que fue escrito.</a:t>
            </a:r>
            <a:endParaRPr/>
          </a:p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59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 Cada instrucción se ejecuta exactamente una vez</a:t>
            </a:r>
            <a:endParaRPr/>
          </a:p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 se repite información, no se salta, no retrocede.</a:t>
            </a:r>
            <a:endParaRPr/>
          </a:p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59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 Cada paso produce un efecto en el siguiente</a:t>
            </a:r>
            <a:endParaRPr/>
          </a:p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Ingresar datos → procesar → mostrar resultados.</a:t>
            </a:r>
            <a:endParaRPr/>
          </a:p>
        </p:txBody>
      </p:sp>
      <p:sp>
        <p:nvSpPr>
          <p:cNvPr id="188" name="Google Shape;188;p12"/>
          <p:cNvSpPr txBox="1"/>
          <p:nvPr/>
        </p:nvSpPr>
        <p:spPr>
          <a:xfrm>
            <a:off x="1028700" y="8809990"/>
            <a:ext cx="16230600" cy="448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 un flujo constante, útil cuando conocemos con certeza lo que debe suceder.</a:t>
            </a:r>
            <a:endParaRPr/>
          </a:p>
        </p:txBody>
      </p:sp>
      <p:sp>
        <p:nvSpPr>
          <p:cNvPr id="189" name="Google Shape;189;p12"/>
          <p:cNvSpPr txBox="1"/>
          <p:nvPr/>
        </p:nvSpPr>
        <p:spPr>
          <a:xfrm>
            <a:off x="1028700" y="2158716"/>
            <a:ext cx="16230600" cy="448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Una estructura secuencial sigue tres reglas simples: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F25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3"/>
          <p:cNvSpPr/>
          <p:nvPr/>
        </p:nvSpPr>
        <p:spPr>
          <a:xfrm>
            <a:off x="10584084" y="3339159"/>
            <a:ext cx="6675216" cy="3608683"/>
          </a:xfrm>
          <a:custGeom>
            <a:rect b="b" l="l" r="r" t="t"/>
            <a:pathLst>
              <a:path extrusionOk="0" h="3608683" w="6675216">
                <a:moveTo>
                  <a:pt x="0" y="0"/>
                </a:moveTo>
                <a:lnTo>
                  <a:pt x="6675216" y="0"/>
                </a:lnTo>
                <a:lnTo>
                  <a:pt x="6675216" y="3608682"/>
                </a:lnTo>
                <a:lnTo>
                  <a:pt x="0" y="36086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1541" l="-3805" r="-2532" t="-55158"/>
            </a:stretch>
          </a:blipFill>
          <a:ln>
            <a:noFill/>
          </a:ln>
        </p:spPr>
      </p:sp>
      <p:sp>
        <p:nvSpPr>
          <p:cNvPr id="195" name="Google Shape;195;p13"/>
          <p:cNvSpPr txBox="1"/>
          <p:nvPr/>
        </p:nvSpPr>
        <p:spPr>
          <a:xfrm>
            <a:off x="1950913" y="952500"/>
            <a:ext cx="14386173" cy="679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Ventajas y Desventajas de Usar Algoritmos y Pseudocódigo</a:t>
            </a:r>
            <a:endParaRPr/>
          </a:p>
        </p:txBody>
      </p:sp>
      <p:sp>
        <p:nvSpPr>
          <p:cNvPr id="196" name="Google Shape;196;p13"/>
          <p:cNvSpPr txBox="1"/>
          <p:nvPr/>
        </p:nvSpPr>
        <p:spPr>
          <a:xfrm>
            <a:off x="1028700" y="3747770"/>
            <a:ext cx="8980140" cy="2734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Cuando trabajamos con algoritmos y pseudocódigo, no solo aprendemos a resolver problemas, sino que lo hacemos de una forma estructurada.</a:t>
            </a:r>
            <a:endParaRPr/>
          </a:p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59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Conocer sus ventajas y desventajas permite entender cuándo y por qué se usan, así como sus límites.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F25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4"/>
          <p:cNvSpPr/>
          <p:nvPr/>
        </p:nvSpPr>
        <p:spPr>
          <a:xfrm>
            <a:off x="1564562" y="7517054"/>
            <a:ext cx="3765411" cy="1273454"/>
          </a:xfrm>
          <a:custGeom>
            <a:rect b="b" l="l" r="r" t="t"/>
            <a:pathLst>
              <a:path extrusionOk="0" h="1273454" w="3765411">
                <a:moveTo>
                  <a:pt x="0" y="0"/>
                </a:moveTo>
                <a:lnTo>
                  <a:pt x="3765412" y="0"/>
                </a:lnTo>
                <a:lnTo>
                  <a:pt x="3765412" y="1273454"/>
                </a:lnTo>
                <a:lnTo>
                  <a:pt x="0" y="12734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95465" l="-23025" r="-130891" t="-255342"/>
            </a:stretch>
          </a:blipFill>
          <a:ln>
            <a:noFill/>
          </a:ln>
        </p:spPr>
      </p:sp>
      <p:sp>
        <p:nvSpPr>
          <p:cNvPr id="202" name="Google Shape;202;p14"/>
          <p:cNvSpPr txBox="1"/>
          <p:nvPr/>
        </p:nvSpPr>
        <p:spPr>
          <a:xfrm>
            <a:off x="4080272" y="952500"/>
            <a:ext cx="10127456" cy="679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Ventajas Usar Algoritmos y Pseudocódigo</a:t>
            </a:r>
            <a:endParaRPr/>
          </a:p>
        </p:txBody>
      </p:sp>
      <p:sp>
        <p:nvSpPr>
          <p:cNvPr id="203" name="Google Shape;203;p14"/>
          <p:cNvSpPr txBox="1"/>
          <p:nvPr/>
        </p:nvSpPr>
        <p:spPr>
          <a:xfrm>
            <a:off x="1028700" y="2841289"/>
            <a:ext cx="7280805" cy="3329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 Claridad en la lógica del problema</a:t>
            </a:r>
            <a:endParaRPr/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Los algoritmos permiten descomponer un problema grande en pasos pequeños y ordenados, facilitando su comprensión incluso antes de escribir código real.</a:t>
            </a:r>
            <a:endParaRPr/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Beneficio: evita confusiones y errores tempranos.</a:t>
            </a:r>
            <a:endParaRPr/>
          </a:p>
        </p:txBody>
      </p:sp>
      <p:sp>
        <p:nvSpPr>
          <p:cNvPr id="204" name="Google Shape;204;p14"/>
          <p:cNvSpPr txBox="1"/>
          <p:nvPr/>
        </p:nvSpPr>
        <p:spPr>
          <a:xfrm>
            <a:off x="9371589" y="2841289"/>
            <a:ext cx="7887711" cy="3749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 Lenguaje independiente</a:t>
            </a:r>
            <a:endParaRPr/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El pseudocódigo no depende de un lenguaje de programación específico. Esto permite que cualquier persona (estudiante o profesional) lo entienda sin conocer sintaxis compleja.</a:t>
            </a:r>
            <a:endParaRPr/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Beneficio: es ideal para aprender lógica antes de programar.</a:t>
            </a:r>
            <a:endParaRPr/>
          </a:p>
        </p:txBody>
      </p:sp>
      <p:sp>
        <p:nvSpPr>
          <p:cNvPr id="205" name="Google Shape;205;p14"/>
          <p:cNvSpPr/>
          <p:nvPr/>
        </p:nvSpPr>
        <p:spPr>
          <a:xfrm>
            <a:off x="7502522" y="7517054"/>
            <a:ext cx="3273330" cy="1273454"/>
          </a:xfrm>
          <a:custGeom>
            <a:rect b="b" l="l" r="r" t="t"/>
            <a:pathLst>
              <a:path extrusionOk="0" h="1273454" w="3273330">
                <a:moveTo>
                  <a:pt x="0" y="0"/>
                </a:moveTo>
                <a:lnTo>
                  <a:pt x="3273329" y="0"/>
                </a:lnTo>
                <a:lnTo>
                  <a:pt x="3273329" y="1273454"/>
                </a:lnTo>
                <a:lnTo>
                  <a:pt x="0" y="12734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47931" l="-17624" r="-137056" t="-306690"/>
            </a:stretch>
          </a:blipFill>
          <a:ln>
            <a:noFill/>
          </a:ln>
        </p:spPr>
      </p:sp>
      <p:sp>
        <p:nvSpPr>
          <p:cNvPr id="206" name="Google Shape;206;p14"/>
          <p:cNvSpPr/>
          <p:nvPr/>
        </p:nvSpPr>
        <p:spPr>
          <a:xfrm>
            <a:off x="12947551" y="7517054"/>
            <a:ext cx="3405745" cy="1273454"/>
          </a:xfrm>
          <a:custGeom>
            <a:rect b="b" l="l" r="r" t="t"/>
            <a:pathLst>
              <a:path extrusionOk="0" h="1273454" w="3405745">
                <a:moveTo>
                  <a:pt x="0" y="0"/>
                </a:moveTo>
                <a:lnTo>
                  <a:pt x="3405746" y="0"/>
                </a:lnTo>
                <a:lnTo>
                  <a:pt x="3405746" y="1273454"/>
                </a:lnTo>
                <a:lnTo>
                  <a:pt x="0" y="12734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59544" l="-17385" r="-133846" t="-412363"/>
            </a:stretch>
          </a:blipFill>
          <a:ln>
            <a:noFill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F25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5"/>
          <p:cNvSpPr txBox="1"/>
          <p:nvPr/>
        </p:nvSpPr>
        <p:spPr>
          <a:xfrm>
            <a:off x="4080272" y="952500"/>
            <a:ext cx="10127456" cy="679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Ventajas Usar Algoritmos y Pseudocódigo</a:t>
            </a:r>
            <a:endParaRPr/>
          </a:p>
        </p:txBody>
      </p:sp>
      <p:sp>
        <p:nvSpPr>
          <p:cNvPr id="212" name="Google Shape;212;p15"/>
          <p:cNvSpPr txBox="1"/>
          <p:nvPr/>
        </p:nvSpPr>
        <p:spPr>
          <a:xfrm>
            <a:off x="1028700" y="2501265"/>
            <a:ext cx="7280805" cy="2910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 Facilita la corrección y mejora</a:t>
            </a:r>
            <a:endParaRPr/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 escribir pasos claros, es más sencillo detectar fallos en la lógica, optimizar procesos o agregar mejoras.</a:t>
            </a:r>
            <a:endParaRPr/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Beneficio: reduce el tiempo de depuración.</a:t>
            </a:r>
            <a:endParaRPr/>
          </a:p>
        </p:txBody>
      </p:sp>
      <p:sp>
        <p:nvSpPr>
          <p:cNvPr id="213" name="Google Shape;213;p15"/>
          <p:cNvSpPr txBox="1"/>
          <p:nvPr/>
        </p:nvSpPr>
        <p:spPr>
          <a:xfrm>
            <a:off x="9371589" y="2501265"/>
            <a:ext cx="7887711" cy="2910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4. Favorece el trabajo en equipo</a:t>
            </a:r>
            <a:endParaRPr/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Como es fácil de leer, varios integrantes pueden entender, discutir o modificar el algoritmo sin malentendidos.</a:t>
            </a:r>
            <a:endParaRPr/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Beneficio: uniformidad y colaboración fluida.</a:t>
            </a:r>
            <a:endParaRPr/>
          </a:p>
        </p:txBody>
      </p:sp>
      <p:sp>
        <p:nvSpPr>
          <p:cNvPr id="214" name="Google Shape;214;p15"/>
          <p:cNvSpPr txBox="1"/>
          <p:nvPr/>
        </p:nvSpPr>
        <p:spPr>
          <a:xfrm>
            <a:off x="1028700" y="6543040"/>
            <a:ext cx="16230600" cy="2491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5. Sirve como puente hacia el código real</a:t>
            </a:r>
            <a:endParaRPr/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Muchos lenguajes se basan en estructuras que son muy parecidas al pseudocódigo (IF, WHILE, FOR, etc.). Esto hace que pasar del pseudocódigo al programa final sea rápido.</a:t>
            </a:r>
            <a:endParaRPr/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Beneficio: acelera el aprendizaje y la implementación.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F25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6"/>
          <p:cNvSpPr/>
          <p:nvPr/>
        </p:nvSpPr>
        <p:spPr>
          <a:xfrm>
            <a:off x="2351060" y="7419004"/>
            <a:ext cx="3440920" cy="1297773"/>
          </a:xfrm>
          <a:custGeom>
            <a:rect b="b" l="l" r="r" t="t"/>
            <a:pathLst>
              <a:path extrusionOk="0" h="1297773" w="3440920">
                <a:moveTo>
                  <a:pt x="0" y="0"/>
                </a:moveTo>
                <a:lnTo>
                  <a:pt x="3440921" y="0"/>
                </a:lnTo>
                <a:lnTo>
                  <a:pt x="3440921" y="1297774"/>
                </a:lnTo>
                <a:lnTo>
                  <a:pt x="0" y="12977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21118" l="-124023" r="-7454" t="-192605"/>
            </a:stretch>
          </a:blipFill>
          <a:ln>
            <a:noFill/>
          </a:ln>
        </p:spPr>
      </p:sp>
      <p:sp>
        <p:nvSpPr>
          <p:cNvPr id="220" name="Google Shape;220;p16"/>
          <p:cNvSpPr txBox="1"/>
          <p:nvPr/>
        </p:nvSpPr>
        <p:spPr>
          <a:xfrm>
            <a:off x="3633936" y="952500"/>
            <a:ext cx="11020127" cy="679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Desventajas Usar Algoritmos y Pseudocódigo</a:t>
            </a:r>
            <a:endParaRPr/>
          </a:p>
        </p:txBody>
      </p:sp>
      <p:sp>
        <p:nvSpPr>
          <p:cNvPr id="221" name="Google Shape;221;p16"/>
          <p:cNvSpPr txBox="1"/>
          <p:nvPr/>
        </p:nvSpPr>
        <p:spPr>
          <a:xfrm>
            <a:off x="1028700" y="2841289"/>
            <a:ext cx="7280805" cy="2910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 No tiene reglas estrictas</a:t>
            </a:r>
            <a:endParaRPr/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Cada docente, libro o programador puede escribir pseudocódigo de manera distinta, lo cual a veces genera confusión.</a:t>
            </a:r>
            <a:endParaRPr/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Problema: falta de estandarización.</a:t>
            </a:r>
            <a:endParaRPr/>
          </a:p>
        </p:txBody>
      </p:sp>
      <p:sp>
        <p:nvSpPr>
          <p:cNvPr id="222" name="Google Shape;222;p16"/>
          <p:cNvSpPr txBox="1"/>
          <p:nvPr/>
        </p:nvSpPr>
        <p:spPr>
          <a:xfrm>
            <a:off x="9371589" y="2841289"/>
            <a:ext cx="7887711" cy="3329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 No detecta errores de sintaxis</a:t>
            </a:r>
            <a:endParaRPr/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Como no es un lenguaje formal, no se puede ejecutar ni probar.</a:t>
            </a:r>
            <a:endParaRPr/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Cualquier error depende exclusivamente de la atención del estudiante o programador.</a:t>
            </a:r>
            <a:endParaRPr/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Problema: requiere mayor cuidado lógico.</a:t>
            </a:r>
            <a:endParaRPr/>
          </a:p>
        </p:txBody>
      </p:sp>
      <p:sp>
        <p:nvSpPr>
          <p:cNvPr id="223" name="Google Shape;223;p16"/>
          <p:cNvSpPr/>
          <p:nvPr/>
        </p:nvSpPr>
        <p:spPr>
          <a:xfrm>
            <a:off x="7468381" y="7419004"/>
            <a:ext cx="3351238" cy="1297773"/>
          </a:xfrm>
          <a:custGeom>
            <a:rect b="b" l="l" r="r" t="t"/>
            <a:pathLst>
              <a:path extrusionOk="0" h="1297773" w="3351238">
                <a:moveTo>
                  <a:pt x="0" y="0"/>
                </a:moveTo>
                <a:lnTo>
                  <a:pt x="3351238" y="0"/>
                </a:lnTo>
                <a:lnTo>
                  <a:pt x="3351238" y="1297774"/>
                </a:lnTo>
                <a:lnTo>
                  <a:pt x="0" y="12977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14068" l="-119083" r="-3174" t="-259886"/>
            </a:stretch>
          </a:blipFill>
          <a:ln>
            <a:noFill/>
          </a:ln>
        </p:spPr>
      </p:sp>
      <p:sp>
        <p:nvSpPr>
          <p:cNvPr id="224" name="Google Shape;224;p16"/>
          <p:cNvSpPr/>
          <p:nvPr/>
        </p:nvSpPr>
        <p:spPr>
          <a:xfrm>
            <a:off x="12499676" y="7419004"/>
            <a:ext cx="3081890" cy="1297773"/>
          </a:xfrm>
          <a:custGeom>
            <a:rect b="b" l="l" r="r" t="t"/>
            <a:pathLst>
              <a:path extrusionOk="0" h="1297773" w="3081890">
                <a:moveTo>
                  <a:pt x="0" y="0"/>
                </a:moveTo>
                <a:lnTo>
                  <a:pt x="3081890" y="0"/>
                </a:lnTo>
                <a:lnTo>
                  <a:pt x="3081890" y="1297774"/>
                </a:lnTo>
                <a:lnTo>
                  <a:pt x="0" y="12977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6775" l="-124742" r="-8076" t="-336138"/>
            </a:stretch>
          </a:blipFill>
          <a:ln>
            <a:noFill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F25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7"/>
          <p:cNvSpPr txBox="1"/>
          <p:nvPr/>
        </p:nvSpPr>
        <p:spPr>
          <a:xfrm>
            <a:off x="3633936" y="952500"/>
            <a:ext cx="11020127" cy="679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Desventajas Usar Algoritmos y Pseudocódigo</a:t>
            </a:r>
            <a:endParaRPr/>
          </a:p>
        </p:txBody>
      </p:sp>
      <p:sp>
        <p:nvSpPr>
          <p:cNvPr id="230" name="Google Shape;230;p17"/>
          <p:cNvSpPr txBox="1"/>
          <p:nvPr/>
        </p:nvSpPr>
        <p:spPr>
          <a:xfrm>
            <a:off x="1028700" y="2501265"/>
            <a:ext cx="7432532" cy="3329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 Puede volverse extenso en problemas grandes. </a:t>
            </a:r>
            <a:endParaRPr/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Aunque es claro, un algoritmo muy complejo puede ocupar muchas líneas y perder legibilidad si no se organiza bien.</a:t>
            </a:r>
            <a:endParaRPr/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Problema: sobrecarga visual y dificultad para seguir el flujo.</a:t>
            </a:r>
            <a:endParaRPr/>
          </a:p>
        </p:txBody>
      </p:sp>
      <p:sp>
        <p:nvSpPr>
          <p:cNvPr id="231" name="Google Shape;231;p17"/>
          <p:cNvSpPr txBox="1"/>
          <p:nvPr/>
        </p:nvSpPr>
        <p:spPr>
          <a:xfrm>
            <a:off x="9371589" y="2501265"/>
            <a:ext cx="7887711" cy="3329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4. No representa ciertos detalles técnicos</a:t>
            </a:r>
            <a:endParaRPr/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El pseudocódigo oculta detalles como manejo de memoria, tipos de datos precisos o características propias de cada lenguaje.</a:t>
            </a:r>
            <a:endParaRPr/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Problema: transición limitada cuando se requieren aspectos técnicos avanzados.</a:t>
            </a:r>
            <a:endParaRPr/>
          </a:p>
        </p:txBody>
      </p:sp>
      <p:sp>
        <p:nvSpPr>
          <p:cNvPr id="232" name="Google Shape;232;p17"/>
          <p:cNvSpPr txBox="1"/>
          <p:nvPr/>
        </p:nvSpPr>
        <p:spPr>
          <a:xfrm>
            <a:off x="1028700" y="6766560"/>
            <a:ext cx="16230600" cy="2491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5. Depende del nivel del lector</a:t>
            </a:r>
            <a:endParaRPr/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 la explicación es demasiado breve, un principiante puede no entenderla; si es demasiado detallada, puede volverse pesada.</a:t>
            </a:r>
            <a:endParaRPr/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Problema: requiere equilibrio entre claridad y profundidad.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F25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8"/>
          <p:cNvSpPr/>
          <p:nvPr/>
        </p:nvSpPr>
        <p:spPr>
          <a:xfrm>
            <a:off x="10107581" y="3005472"/>
            <a:ext cx="6834297" cy="4540753"/>
          </a:xfrm>
          <a:custGeom>
            <a:rect b="b" l="l" r="r" t="t"/>
            <a:pathLst>
              <a:path extrusionOk="0" h="4540753" w="6834297">
                <a:moveTo>
                  <a:pt x="0" y="0"/>
                </a:moveTo>
                <a:lnTo>
                  <a:pt x="6834297" y="0"/>
                </a:lnTo>
                <a:lnTo>
                  <a:pt x="6834297" y="4540753"/>
                </a:lnTo>
                <a:lnTo>
                  <a:pt x="0" y="45407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69124" l="-21015" r="-21010" t="-44638"/>
            </a:stretch>
          </a:blipFill>
          <a:ln>
            <a:noFill/>
          </a:ln>
        </p:spPr>
      </p:sp>
      <p:sp>
        <p:nvSpPr>
          <p:cNvPr id="238" name="Google Shape;238;p18"/>
          <p:cNvSpPr txBox="1"/>
          <p:nvPr/>
        </p:nvSpPr>
        <p:spPr>
          <a:xfrm>
            <a:off x="5873428" y="952500"/>
            <a:ext cx="6541145" cy="679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Software de Pseudocódigo</a:t>
            </a:r>
            <a:endParaRPr/>
          </a:p>
        </p:txBody>
      </p:sp>
      <p:sp>
        <p:nvSpPr>
          <p:cNvPr id="239" name="Google Shape;239;p18"/>
          <p:cNvSpPr txBox="1"/>
          <p:nvPr/>
        </p:nvSpPr>
        <p:spPr>
          <a:xfrm>
            <a:off x="1028700" y="3422918"/>
            <a:ext cx="8115300" cy="3648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El software para trabajar con pseudocódigo es fundamental para aprender, practicar y visualizar la lógica de programación sin necesidad de usar un lenguaje formal. </a:t>
            </a:r>
            <a:endParaRPr/>
          </a:p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59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Estas herramientas ayudan a escribir algoritmos, generar diagramas de flujo y simular su ejecución paso a paso.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F25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9"/>
          <p:cNvSpPr/>
          <p:nvPr/>
        </p:nvSpPr>
        <p:spPr>
          <a:xfrm>
            <a:off x="10789771" y="3841624"/>
            <a:ext cx="6469529" cy="4715741"/>
          </a:xfrm>
          <a:custGeom>
            <a:rect b="b" l="l" r="r" t="t"/>
            <a:pathLst>
              <a:path extrusionOk="0" h="4715741" w="6469529">
                <a:moveTo>
                  <a:pt x="0" y="0"/>
                </a:moveTo>
                <a:lnTo>
                  <a:pt x="6469529" y="0"/>
                </a:lnTo>
                <a:lnTo>
                  <a:pt x="6469529" y="4715740"/>
                </a:lnTo>
                <a:lnTo>
                  <a:pt x="0" y="47157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6151" l="-12045" r="-14150" t="-36979"/>
            </a:stretch>
          </a:blipFill>
          <a:ln>
            <a:noFill/>
          </a:ln>
        </p:spPr>
      </p:sp>
      <p:sp>
        <p:nvSpPr>
          <p:cNvPr id="245" name="Google Shape;245;p19"/>
          <p:cNvSpPr txBox="1"/>
          <p:nvPr/>
        </p:nvSpPr>
        <p:spPr>
          <a:xfrm>
            <a:off x="5181451" y="952500"/>
            <a:ext cx="7925098" cy="679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PSeInt (Pseudocode Interpreter)</a:t>
            </a:r>
            <a:endParaRPr/>
          </a:p>
        </p:txBody>
      </p:sp>
      <p:sp>
        <p:nvSpPr>
          <p:cNvPr id="246" name="Google Shape;246;p19"/>
          <p:cNvSpPr txBox="1"/>
          <p:nvPr/>
        </p:nvSpPr>
        <p:spPr>
          <a:xfrm>
            <a:off x="1028700" y="2409190"/>
            <a:ext cx="9951188" cy="6849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¿Qué es?</a:t>
            </a:r>
            <a:endParaRPr/>
          </a:p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 entorno educativo diseñado para escribir pseudocódigo usando una sintaxis simple y en español. Es uno de los más usados en cursos de introducción a algoritmos.</a:t>
            </a:r>
            <a:endParaRPr/>
          </a:p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59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Características principales</a:t>
            </a:r>
            <a:endParaRPr/>
          </a:p>
          <a:p>
            <a:pPr indent="-280669" lvl="1" marL="561339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99"/>
              <a:buFont typeface="Arial"/>
              <a:buChar char="•"/>
            </a:pPr>
            <a:r>
              <a:rPr b="0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Sintaxis clara basada en estructuras clásicas (SI, MIENTRAS, PARA).</a:t>
            </a:r>
            <a:endParaRPr/>
          </a:p>
          <a:p>
            <a:pPr indent="-280669" lvl="1" marL="561339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99"/>
              <a:buFont typeface="Arial"/>
              <a:buChar char="•"/>
            </a:pPr>
            <a:r>
              <a:rPr b="0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Muestra errores comunes de lógica.</a:t>
            </a:r>
            <a:endParaRPr/>
          </a:p>
          <a:p>
            <a:pPr indent="-280669" lvl="1" marL="561339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99"/>
              <a:buFont typeface="Arial"/>
              <a:buChar char="•"/>
            </a:pPr>
            <a:r>
              <a:rPr b="0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Permite ejecutar el pseudocódigo paso a paso.</a:t>
            </a:r>
            <a:endParaRPr/>
          </a:p>
          <a:p>
            <a:pPr indent="-280669" lvl="1" marL="561339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99"/>
              <a:buFont typeface="Arial"/>
              <a:buChar char="•"/>
            </a:pPr>
            <a:r>
              <a:rPr b="0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Genera diagramas de flujo automáticamente.</a:t>
            </a:r>
            <a:endParaRPr/>
          </a:p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59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Ideal para</a:t>
            </a:r>
            <a:r>
              <a:rPr b="0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endParaRPr/>
          </a:p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Estudiantes que están empezando y necesitan visualizar y entender la lógica sin distraerse con sintaxis formal.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F25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0"/>
          <p:cNvSpPr/>
          <p:nvPr/>
        </p:nvSpPr>
        <p:spPr>
          <a:xfrm>
            <a:off x="10979888" y="3258250"/>
            <a:ext cx="6279412" cy="4506156"/>
          </a:xfrm>
          <a:custGeom>
            <a:rect b="b" l="l" r="r" t="t"/>
            <a:pathLst>
              <a:path extrusionOk="0" h="4506156" w="6279412">
                <a:moveTo>
                  <a:pt x="0" y="0"/>
                </a:moveTo>
                <a:lnTo>
                  <a:pt x="6279412" y="0"/>
                </a:lnTo>
                <a:lnTo>
                  <a:pt x="6279412" y="4506156"/>
                </a:lnTo>
                <a:lnTo>
                  <a:pt x="0" y="45061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61823" l="-20597" r="-18598" t="-32149"/>
            </a:stretch>
          </a:blipFill>
          <a:ln>
            <a:noFill/>
          </a:ln>
        </p:spPr>
      </p:sp>
      <p:sp>
        <p:nvSpPr>
          <p:cNvPr id="252" name="Google Shape;252;p20"/>
          <p:cNvSpPr txBox="1"/>
          <p:nvPr/>
        </p:nvSpPr>
        <p:spPr>
          <a:xfrm>
            <a:off x="8131150" y="952500"/>
            <a:ext cx="2025700" cy="679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RAPTOR</a:t>
            </a:r>
            <a:endParaRPr/>
          </a:p>
        </p:txBody>
      </p:sp>
      <p:sp>
        <p:nvSpPr>
          <p:cNvPr id="253" name="Google Shape;253;p20"/>
          <p:cNvSpPr txBox="1"/>
          <p:nvPr/>
        </p:nvSpPr>
        <p:spPr>
          <a:xfrm>
            <a:off x="1028700" y="2409190"/>
            <a:ext cx="9951188" cy="6391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¿Qué es?</a:t>
            </a:r>
            <a:endParaRPr/>
          </a:p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 software basado en diagramas de flujo. En lugar de escribir pseudocódigo, construyes el algoritmo moviendo bloques y conectándolos.</a:t>
            </a:r>
            <a:endParaRPr/>
          </a:p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59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59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Características principales</a:t>
            </a:r>
            <a:endParaRPr/>
          </a:p>
          <a:p>
            <a:pPr indent="-280669" lvl="1" marL="561339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99"/>
              <a:buFont typeface="Arial"/>
              <a:buChar char="•"/>
            </a:pPr>
            <a:r>
              <a:rPr b="0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Diseño gráfico del algoritmo (flowchart).</a:t>
            </a:r>
            <a:endParaRPr/>
          </a:p>
          <a:p>
            <a:pPr indent="-280669" lvl="1" marL="561339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99"/>
              <a:buFont typeface="Arial"/>
              <a:buChar char="•"/>
            </a:pPr>
            <a:r>
              <a:rPr b="0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Ejecución animada paso a paso.</a:t>
            </a:r>
            <a:endParaRPr/>
          </a:p>
          <a:p>
            <a:pPr indent="-280669" lvl="1" marL="561339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99"/>
              <a:buFont typeface="Arial"/>
              <a:buChar char="•"/>
            </a:pPr>
            <a:r>
              <a:rPr b="0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Control claro del flujo lógico.</a:t>
            </a:r>
            <a:endParaRPr/>
          </a:p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59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Ideal para:</a:t>
            </a:r>
            <a:endParaRPr/>
          </a:p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Personas que comprenden mejor mediante esquemas visuales y diagramas.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F25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1"/>
          <p:cNvSpPr/>
          <p:nvPr/>
        </p:nvSpPr>
        <p:spPr>
          <a:xfrm>
            <a:off x="11434272" y="2606654"/>
            <a:ext cx="5825028" cy="5981056"/>
          </a:xfrm>
          <a:custGeom>
            <a:rect b="b" l="l" r="r" t="t"/>
            <a:pathLst>
              <a:path extrusionOk="0" h="5981056" w="5825028">
                <a:moveTo>
                  <a:pt x="0" y="0"/>
                </a:moveTo>
                <a:lnTo>
                  <a:pt x="5825028" y="0"/>
                </a:lnTo>
                <a:lnTo>
                  <a:pt x="5825028" y="5981056"/>
                </a:lnTo>
                <a:lnTo>
                  <a:pt x="0" y="59810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7603" l="-43975" r="-43064" t="-34560"/>
            </a:stretch>
          </a:blipFill>
          <a:ln>
            <a:noFill/>
          </a:ln>
        </p:spPr>
      </p:sp>
      <p:sp>
        <p:nvSpPr>
          <p:cNvPr id="259" name="Google Shape;259;p21"/>
          <p:cNvSpPr txBox="1"/>
          <p:nvPr/>
        </p:nvSpPr>
        <p:spPr>
          <a:xfrm>
            <a:off x="7608615" y="952500"/>
            <a:ext cx="3070771" cy="679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Flowgorithm</a:t>
            </a:r>
            <a:endParaRPr/>
          </a:p>
        </p:txBody>
      </p:sp>
      <p:sp>
        <p:nvSpPr>
          <p:cNvPr id="260" name="Google Shape;260;p21"/>
          <p:cNvSpPr txBox="1"/>
          <p:nvPr/>
        </p:nvSpPr>
        <p:spPr>
          <a:xfrm>
            <a:off x="1028700" y="2409190"/>
            <a:ext cx="9951188" cy="593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¿Qué es?</a:t>
            </a:r>
            <a:endParaRPr/>
          </a:p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Una alternativa moderna a Raptor, también basada en diagramas de flujo, pero con más opciones visuales y mejor interfaz.</a:t>
            </a:r>
            <a:endParaRPr/>
          </a:p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59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Características principales</a:t>
            </a:r>
            <a:endParaRPr/>
          </a:p>
          <a:p>
            <a:pPr indent="-280669" lvl="1" marL="561339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99"/>
              <a:buFont typeface="Arial"/>
              <a:buChar char="•"/>
            </a:pPr>
            <a:r>
              <a:rPr b="0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Exporta a varios lenguajes (C++, Python, Java, JavaScript).</a:t>
            </a:r>
            <a:endParaRPr/>
          </a:p>
          <a:p>
            <a:pPr indent="-280669" lvl="1" marL="561339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99"/>
              <a:buFont typeface="Arial"/>
              <a:buChar char="•"/>
            </a:pPr>
            <a:r>
              <a:rPr b="0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Fácil de leer incluso para principiantes.</a:t>
            </a:r>
            <a:endParaRPr/>
          </a:p>
          <a:p>
            <a:pPr indent="-280669" lvl="1" marL="561339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99"/>
              <a:buFont typeface="Arial"/>
              <a:buChar char="•"/>
            </a:pPr>
            <a:r>
              <a:rPr b="0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Permite probar y validar el algoritmo visualmente.</a:t>
            </a:r>
            <a:endParaRPr/>
          </a:p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59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Ideal para:</a:t>
            </a:r>
            <a:endParaRPr/>
          </a:p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Estudiantes que luego desean convertir sus diagramas en código real.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F25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2"/>
          <p:cNvSpPr/>
          <p:nvPr/>
        </p:nvSpPr>
        <p:spPr>
          <a:xfrm>
            <a:off x="11746920" y="2162319"/>
            <a:ext cx="5178583" cy="6028401"/>
          </a:xfrm>
          <a:custGeom>
            <a:rect b="b" l="l" r="r" t="t"/>
            <a:pathLst>
              <a:path extrusionOk="0" h="6028401" w="5178583">
                <a:moveTo>
                  <a:pt x="0" y="0"/>
                </a:moveTo>
                <a:lnTo>
                  <a:pt x="5178582" y="0"/>
                </a:lnTo>
                <a:lnTo>
                  <a:pt x="5178582" y="6028402"/>
                </a:lnTo>
                <a:lnTo>
                  <a:pt x="0" y="60284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2063" l="-56921" r="-57939" t="-42506"/>
            </a:stretch>
          </a:blipFill>
          <a:ln>
            <a:noFill/>
          </a:ln>
        </p:spPr>
      </p:sp>
      <p:sp>
        <p:nvSpPr>
          <p:cNvPr id="266" name="Google Shape;266;p22"/>
          <p:cNvSpPr txBox="1"/>
          <p:nvPr/>
        </p:nvSpPr>
        <p:spPr>
          <a:xfrm>
            <a:off x="7701558" y="952500"/>
            <a:ext cx="2884884" cy="679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Visual Logic</a:t>
            </a:r>
            <a:endParaRPr/>
          </a:p>
        </p:txBody>
      </p:sp>
      <p:sp>
        <p:nvSpPr>
          <p:cNvPr id="267" name="Google Shape;267;p22"/>
          <p:cNvSpPr txBox="1"/>
          <p:nvPr/>
        </p:nvSpPr>
        <p:spPr>
          <a:xfrm>
            <a:off x="1028700" y="2409190"/>
            <a:ext cx="9951188" cy="5477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¿Qué es?</a:t>
            </a:r>
            <a:endParaRPr/>
          </a:p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 programa educativo que combina pseudocódigo y diagramas de flujo simples.</a:t>
            </a:r>
            <a:endParaRPr/>
          </a:p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59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Características principales</a:t>
            </a:r>
            <a:endParaRPr/>
          </a:p>
          <a:p>
            <a:pPr indent="-280669" lvl="1" marL="561339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99"/>
              <a:buFont typeface="Arial"/>
              <a:buChar char="•"/>
            </a:pPr>
            <a:r>
              <a:rPr b="0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Muy ligero y fácil de usar.</a:t>
            </a:r>
            <a:endParaRPr/>
          </a:p>
          <a:p>
            <a:pPr indent="-280669" lvl="1" marL="561339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99"/>
              <a:buFont typeface="Arial"/>
              <a:buChar char="•"/>
            </a:pPr>
            <a:r>
              <a:rPr b="0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Diagramas minimalistas.</a:t>
            </a:r>
            <a:endParaRPr/>
          </a:p>
          <a:p>
            <a:pPr indent="-280669" lvl="1" marL="561339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99"/>
              <a:buFont typeface="Arial"/>
              <a:buChar char="•"/>
            </a:pPr>
            <a:r>
              <a:rPr b="0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Ejecución paso a paso con entrada de datos.</a:t>
            </a:r>
            <a:endParaRPr/>
          </a:p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59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Ideal para:</a:t>
            </a:r>
            <a:endParaRPr/>
          </a:p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Cursos de nivel básico que requieren una herramienta rápida y poco compleja.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F25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3"/>
          <p:cNvSpPr/>
          <p:nvPr/>
        </p:nvSpPr>
        <p:spPr>
          <a:xfrm>
            <a:off x="12195889" y="2288028"/>
            <a:ext cx="3637183" cy="6026574"/>
          </a:xfrm>
          <a:custGeom>
            <a:rect b="b" l="l" r="r" t="t"/>
            <a:pathLst>
              <a:path extrusionOk="0" h="6026574" w="3637183">
                <a:moveTo>
                  <a:pt x="0" y="0"/>
                </a:moveTo>
                <a:lnTo>
                  <a:pt x="3637184" y="0"/>
                </a:lnTo>
                <a:lnTo>
                  <a:pt x="3637184" y="6026574"/>
                </a:lnTo>
                <a:lnTo>
                  <a:pt x="0" y="60265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2505" l="-4101" r="-201719" t="-42065"/>
            </a:stretch>
          </a:blipFill>
          <a:ln>
            <a:noFill/>
          </a:ln>
        </p:spPr>
      </p:sp>
      <p:sp>
        <p:nvSpPr>
          <p:cNvPr id="273" name="Google Shape;273;p23"/>
          <p:cNvSpPr txBox="1"/>
          <p:nvPr/>
        </p:nvSpPr>
        <p:spPr>
          <a:xfrm>
            <a:off x="4577209" y="952500"/>
            <a:ext cx="9133582" cy="679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Arreglos Unidimensionales (Vectores)</a:t>
            </a:r>
            <a:endParaRPr/>
          </a:p>
        </p:txBody>
      </p:sp>
      <p:sp>
        <p:nvSpPr>
          <p:cNvPr id="274" name="Google Shape;274;p23"/>
          <p:cNvSpPr txBox="1"/>
          <p:nvPr/>
        </p:nvSpPr>
        <p:spPr>
          <a:xfrm>
            <a:off x="1028700" y="3061970"/>
            <a:ext cx="9951188" cy="4105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Concepto Fundamental</a:t>
            </a:r>
            <a:endParaRPr/>
          </a:p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59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 arreglo unidimensional, también llamado vector, es una estructura de datos que permite almacenar múltiples valores del mismo tipo bajo un solo nombre, organizados de manera secuencial.</a:t>
            </a:r>
            <a:endParaRPr/>
          </a:p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59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Imagina una fila de casilleros numerados: cada casillero guarda un dato y el número que lo identifica es el índice.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F25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4"/>
          <p:cNvSpPr txBox="1"/>
          <p:nvPr/>
        </p:nvSpPr>
        <p:spPr>
          <a:xfrm>
            <a:off x="4577209" y="952500"/>
            <a:ext cx="9133582" cy="679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Arreglos Unidimensionales (Vectores)</a:t>
            </a:r>
            <a:endParaRPr/>
          </a:p>
        </p:txBody>
      </p:sp>
      <p:sp>
        <p:nvSpPr>
          <p:cNvPr id="280" name="Google Shape;280;p24"/>
          <p:cNvSpPr txBox="1"/>
          <p:nvPr/>
        </p:nvSpPr>
        <p:spPr>
          <a:xfrm>
            <a:off x="1028700" y="2394374"/>
            <a:ext cx="9951188" cy="4563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Características Clave</a:t>
            </a:r>
            <a:endParaRPr/>
          </a:p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59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0669" lvl="1" marL="561339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99"/>
              <a:buFont typeface="Arial"/>
              <a:buChar char="•"/>
            </a:pPr>
            <a:r>
              <a:rPr b="0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Homogéneos: todos los elementos deben ser del mismo tipo (enteros, reales, cadenas, etc.).</a:t>
            </a:r>
            <a:endParaRPr/>
          </a:p>
          <a:p>
            <a:pPr indent="-280669" lvl="1" marL="561339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99"/>
              <a:buFont typeface="Arial"/>
              <a:buChar char="•"/>
            </a:pPr>
            <a:r>
              <a:rPr b="0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Indexados: cada posición se identifica por un índice (generalmente iniciando en 0 o 1 según el lenguaje o pseudocódigo).</a:t>
            </a:r>
            <a:endParaRPr/>
          </a:p>
          <a:p>
            <a:pPr indent="-280669" lvl="1" marL="561339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99"/>
              <a:buFont typeface="Arial"/>
              <a:buChar char="•"/>
            </a:pPr>
            <a:r>
              <a:rPr b="0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Tamaño fijo: normalmente se define antes de usarse.</a:t>
            </a:r>
            <a:endParaRPr/>
          </a:p>
          <a:p>
            <a:pPr indent="-280669" lvl="1" marL="561339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99"/>
              <a:buFont typeface="Arial"/>
              <a:buChar char="•"/>
            </a:pPr>
            <a:r>
              <a:rPr b="0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Acceso directo: cualquier elemento puede consultarse rápidamente mediante su índice.</a:t>
            </a:r>
            <a:endParaRPr/>
          </a:p>
        </p:txBody>
      </p:sp>
      <p:sp>
        <p:nvSpPr>
          <p:cNvPr id="281" name="Google Shape;281;p24"/>
          <p:cNvSpPr txBox="1"/>
          <p:nvPr/>
        </p:nvSpPr>
        <p:spPr>
          <a:xfrm>
            <a:off x="1028700" y="8352790"/>
            <a:ext cx="16230600" cy="905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Son esenciales para algoritmos que necesitan recorrer, buscar, ordenar, filtrar o calcular sobre conjuntos de datos.</a:t>
            </a:r>
            <a:endParaRPr/>
          </a:p>
        </p:txBody>
      </p:sp>
      <p:sp>
        <p:nvSpPr>
          <p:cNvPr id="282" name="Google Shape;282;p24"/>
          <p:cNvSpPr/>
          <p:nvPr/>
        </p:nvSpPr>
        <p:spPr>
          <a:xfrm>
            <a:off x="12180717" y="2007658"/>
            <a:ext cx="3637183" cy="6026574"/>
          </a:xfrm>
          <a:custGeom>
            <a:rect b="b" l="l" r="r" t="t"/>
            <a:pathLst>
              <a:path extrusionOk="0" h="6026574" w="3637183">
                <a:moveTo>
                  <a:pt x="0" y="0"/>
                </a:moveTo>
                <a:lnTo>
                  <a:pt x="3637183" y="0"/>
                </a:lnTo>
                <a:lnTo>
                  <a:pt x="3637183" y="6026574"/>
                </a:lnTo>
                <a:lnTo>
                  <a:pt x="0" y="60265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9987" l="-101297" r="-104523" t="-44583"/>
            </a:stretch>
          </a:blipFill>
          <a:ln>
            <a:noFill/>
          </a:ln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F25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5"/>
          <p:cNvSpPr txBox="1"/>
          <p:nvPr/>
        </p:nvSpPr>
        <p:spPr>
          <a:xfrm>
            <a:off x="4577209" y="952500"/>
            <a:ext cx="9133582" cy="679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Arreglos Unidimensionales (Vectores)</a:t>
            </a:r>
            <a:endParaRPr/>
          </a:p>
        </p:txBody>
      </p:sp>
      <p:sp>
        <p:nvSpPr>
          <p:cNvPr id="288" name="Google Shape;288;p25"/>
          <p:cNvSpPr txBox="1"/>
          <p:nvPr/>
        </p:nvSpPr>
        <p:spPr>
          <a:xfrm>
            <a:off x="1028700" y="2455065"/>
            <a:ext cx="5353881" cy="6849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Operaciones Comunes</a:t>
            </a:r>
            <a:endParaRPr/>
          </a:p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59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 Asignación de valores</a:t>
            </a:r>
            <a:endParaRPr/>
          </a:p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Guardar un dato en una posición específica.</a:t>
            </a:r>
            <a:endParaRPr/>
          </a:p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59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 Lectura/Acceso</a:t>
            </a:r>
            <a:endParaRPr/>
          </a:p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Obtener el valor de un índice concreto.</a:t>
            </a:r>
            <a:endParaRPr/>
          </a:p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59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 Recorrido</a:t>
            </a:r>
            <a:endParaRPr/>
          </a:p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Pasar por todos los elementos del vector con un bucle (normalmente PARA o MIENTRAS).</a:t>
            </a:r>
            <a:endParaRPr/>
          </a:p>
        </p:txBody>
      </p:sp>
      <p:sp>
        <p:nvSpPr>
          <p:cNvPr id="289" name="Google Shape;289;p25"/>
          <p:cNvSpPr txBox="1"/>
          <p:nvPr/>
        </p:nvSpPr>
        <p:spPr>
          <a:xfrm>
            <a:off x="11932425" y="3061315"/>
            <a:ext cx="5353881" cy="3191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4. Búsqueda</a:t>
            </a:r>
            <a:endParaRPr/>
          </a:p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Localizar un valor dentro del arreglo.</a:t>
            </a:r>
            <a:endParaRPr/>
          </a:p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59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5. Cálculo</a:t>
            </a:r>
            <a:endParaRPr/>
          </a:p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Sumas, promedios, máximos, mínimos, etc.</a:t>
            </a:r>
            <a:endParaRPr/>
          </a:p>
        </p:txBody>
      </p:sp>
      <p:sp>
        <p:nvSpPr>
          <p:cNvPr id="290" name="Google Shape;290;p25"/>
          <p:cNvSpPr/>
          <p:nvPr/>
        </p:nvSpPr>
        <p:spPr>
          <a:xfrm>
            <a:off x="6883016" y="3118465"/>
            <a:ext cx="4544584" cy="1547608"/>
          </a:xfrm>
          <a:custGeom>
            <a:rect b="b" l="l" r="r" t="t"/>
            <a:pathLst>
              <a:path extrusionOk="0" h="1547608" w="4544584">
                <a:moveTo>
                  <a:pt x="0" y="0"/>
                </a:moveTo>
                <a:lnTo>
                  <a:pt x="4544584" y="0"/>
                </a:lnTo>
                <a:lnTo>
                  <a:pt x="4544584" y="1547609"/>
                </a:lnTo>
                <a:lnTo>
                  <a:pt x="0" y="15476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63092" l="-248454" r="-13118" t="-398704"/>
            </a:stretch>
          </a:blipFill>
          <a:ln>
            <a:noFill/>
          </a:ln>
        </p:spPr>
      </p:sp>
      <p:sp>
        <p:nvSpPr>
          <p:cNvPr id="291" name="Google Shape;291;p25"/>
          <p:cNvSpPr/>
          <p:nvPr/>
        </p:nvSpPr>
        <p:spPr>
          <a:xfrm>
            <a:off x="6883016" y="5143500"/>
            <a:ext cx="4529411" cy="1775859"/>
          </a:xfrm>
          <a:custGeom>
            <a:rect b="b" l="l" r="r" t="t"/>
            <a:pathLst>
              <a:path extrusionOk="0" h="1775859" w="4529411">
                <a:moveTo>
                  <a:pt x="0" y="0"/>
                </a:moveTo>
                <a:lnTo>
                  <a:pt x="4529411" y="0"/>
                </a:lnTo>
                <a:lnTo>
                  <a:pt x="4529411" y="1775859"/>
                </a:lnTo>
                <a:lnTo>
                  <a:pt x="0" y="17758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35236" l="-217861" r="-9439" t="-399557"/>
            </a:stretch>
          </a:blipFill>
          <a:ln>
            <a:noFill/>
          </a:ln>
        </p:spPr>
      </p:sp>
      <p:sp>
        <p:nvSpPr>
          <p:cNvPr id="292" name="Google Shape;292;p25"/>
          <p:cNvSpPr/>
          <p:nvPr/>
        </p:nvSpPr>
        <p:spPr>
          <a:xfrm>
            <a:off x="6854108" y="7395609"/>
            <a:ext cx="4579785" cy="1862691"/>
          </a:xfrm>
          <a:custGeom>
            <a:rect b="b" l="l" r="r" t="t"/>
            <a:pathLst>
              <a:path extrusionOk="0" h="1862691" w="4579785">
                <a:moveTo>
                  <a:pt x="0" y="0"/>
                </a:moveTo>
                <a:lnTo>
                  <a:pt x="4579784" y="0"/>
                </a:lnTo>
                <a:lnTo>
                  <a:pt x="4579784" y="1862691"/>
                </a:lnTo>
                <a:lnTo>
                  <a:pt x="0" y="18626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22979" l="-219486" r="-7407" t="-480751"/>
            </a:stretch>
          </a:blipFill>
          <a:ln>
            <a:noFill/>
          </a:ln>
        </p:spPr>
      </p:sp>
      <p:sp>
        <p:nvSpPr>
          <p:cNvPr id="293" name="Google Shape;293;p25"/>
          <p:cNvSpPr/>
          <p:nvPr/>
        </p:nvSpPr>
        <p:spPr>
          <a:xfrm>
            <a:off x="6869280" y="2247202"/>
            <a:ext cx="4543147" cy="871263"/>
          </a:xfrm>
          <a:custGeom>
            <a:rect b="b" l="l" r="r" t="t"/>
            <a:pathLst>
              <a:path extrusionOk="0" h="871263" w="4543147">
                <a:moveTo>
                  <a:pt x="0" y="0"/>
                </a:moveTo>
                <a:lnTo>
                  <a:pt x="4543147" y="0"/>
                </a:lnTo>
                <a:lnTo>
                  <a:pt x="4543147" y="871263"/>
                </a:lnTo>
                <a:lnTo>
                  <a:pt x="0" y="8712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305998" l="-243181" r="-18496" t="-480083"/>
            </a:stretch>
          </a:blipFill>
          <a:ln>
            <a:noFill/>
          </a:ln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F25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6"/>
          <p:cNvSpPr/>
          <p:nvPr/>
        </p:nvSpPr>
        <p:spPr>
          <a:xfrm>
            <a:off x="12147057" y="2439755"/>
            <a:ext cx="3527071" cy="6065494"/>
          </a:xfrm>
          <a:custGeom>
            <a:rect b="b" l="l" r="r" t="t"/>
            <a:pathLst>
              <a:path extrusionOk="0" h="6065494" w="3527071">
                <a:moveTo>
                  <a:pt x="0" y="0"/>
                </a:moveTo>
                <a:lnTo>
                  <a:pt x="3527071" y="0"/>
                </a:lnTo>
                <a:lnTo>
                  <a:pt x="3527071" y="6065493"/>
                </a:lnTo>
                <a:lnTo>
                  <a:pt x="0" y="606549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2505" l="-7284" r="-210116" t="-42065"/>
            </a:stretch>
          </a:blipFill>
          <a:ln>
            <a:noFill/>
          </a:ln>
        </p:spPr>
      </p:sp>
      <p:sp>
        <p:nvSpPr>
          <p:cNvPr id="299" name="Google Shape;299;p26"/>
          <p:cNvSpPr txBox="1"/>
          <p:nvPr/>
        </p:nvSpPr>
        <p:spPr>
          <a:xfrm>
            <a:off x="4377407" y="952500"/>
            <a:ext cx="9533186" cy="679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Arreglos Multidimensionales (Matrices)</a:t>
            </a:r>
            <a:endParaRPr/>
          </a:p>
        </p:txBody>
      </p:sp>
      <p:sp>
        <p:nvSpPr>
          <p:cNvPr id="300" name="Google Shape;300;p26"/>
          <p:cNvSpPr txBox="1"/>
          <p:nvPr/>
        </p:nvSpPr>
        <p:spPr>
          <a:xfrm>
            <a:off x="1028700" y="3061970"/>
            <a:ext cx="9951188" cy="4563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Concepto Fundamental</a:t>
            </a:r>
            <a:endParaRPr/>
          </a:p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59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 arreglo multidimensional es una estructura de datos que almacena información en dos o más dimensiones.</a:t>
            </a:r>
            <a:endParaRPr/>
          </a:p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59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El caso más común es el arreglo bidimensional, conocido como matriz, que organiza los datos en filas y columnas.</a:t>
            </a:r>
            <a:endParaRPr/>
          </a:p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Piensa en una tabla de Excel: cada celda es un elemento, ubicado en la intersección de una fila y una columna.</a:t>
            </a:r>
            <a:endParaRPr/>
          </a:p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59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F25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7"/>
          <p:cNvSpPr txBox="1"/>
          <p:nvPr/>
        </p:nvSpPr>
        <p:spPr>
          <a:xfrm>
            <a:off x="4377407" y="952500"/>
            <a:ext cx="9533186" cy="679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Arreglos Multidimensionales (Matrices)</a:t>
            </a:r>
            <a:endParaRPr/>
          </a:p>
        </p:txBody>
      </p:sp>
      <p:sp>
        <p:nvSpPr>
          <p:cNvPr id="306" name="Google Shape;306;p27"/>
          <p:cNvSpPr txBox="1"/>
          <p:nvPr/>
        </p:nvSpPr>
        <p:spPr>
          <a:xfrm>
            <a:off x="1028700" y="2394374"/>
            <a:ext cx="9951188" cy="5020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Características Clave</a:t>
            </a:r>
            <a:endParaRPr/>
          </a:p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59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0669" lvl="1" marL="561339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99"/>
              <a:buFont typeface="Arial"/>
              <a:buChar char="•"/>
            </a:pPr>
            <a:r>
              <a:rPr b="0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Estructura en forma de tabla: ideal para representar datos relacionados.</a:t>
            </a:r>
            <a:endParaRPr/>
          </a:p>
          <a:p>
            <a:pPr indent="-280669" lvl="1" marL="561339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99"/>
              <a:buFont typeface="Arial"/>
              <a:buChar char="•"/>
            </a:pPr>
            <a:r>
              <a:rPr b="0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Homogéneos: todos los valores deben ser del mismo tipo.</a:t>
            </a:r>
            <a:endParaRPr/>
          </a:p>
          <a:p>
            <a:pPr indent="-280669" lvl="1" marL="561339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99"/>
              <a:buFont typeface="Arial"/>
              <a:buChar char="•"/>
            </a:pPr>
            <a:r>
              <a:rPr b="0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Acceso por doble índice: fila y columna → matriz[fila][columna].</a:t>
            </a:r>
            <a:endParaRPr/>
          </a:p>
          <a:p>
            <a:pPr indent="-280669" lvl="1" marL="561339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99"/>
              <a:buFont typeface="Arial"/>
              <a:buChar char="•"/>
            </a:pPr>
            <a:r>
              <a:rPr b="0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Tamaño fijo: definido antes de usarse.</a:t>
            </a:r>
            <a:endParaRPr/>
          </a:p>
          <a:p>
            <a:pPr indent="-280669" lvl="1" marL="561339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99"/>
              <a:buFont typeface="Arial"/>
              <a:buChar char="•"/>
            </a:pPr>
            <a:r>
              <a:rPr b="0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Orden y organización superiores: más adecuados que los vectores para modelar datos con relaciones bidimensionales.</a:t>
            </a:r>
            <a:endParaRPr/>
          </a:p>
        </p:txBody>
      </p:sp>
      <p:sp>
        <p:nvSpPr>
          <p:cNvPr id="307" name="Google Shape;307;p27"/>
          <p:cNvSpPr txBox="1"/>
          <p:nvPr/>
        </p:nvSpPr>
        <p:spPr>
          <a:xfrm>
            <a:off x="1028700" y="8352790"/>
            <a:ext cx="16230600" cy="448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Cuando se requiere trabajar con relaciones entre </a:t>
            </a:r>
            <a:r>
              <a:rPr b="1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dos categorías</a:t>
            </a:r>
            <a:r>
              <a:rPr b="0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, una matriz es la herramienta ideal.</a:t>
            </a:r>
            <a:endParaRPr/>
          </a:p>
        </p:txBody>
      </p:sp>
      <p:sp>
        <p:nvSpPr>
          <p:cNvPr id="308" name="Google Shape;308;p27"/>
          <p:cNvSpPr/>
          <p:nvPr/>
        </p:nvSpPr>
        <p:spPr>
          <a:xfrm>
            <a:off x="12147057" y="2110753"/>
            <a:ext cx="3527071" cy="6065494"/>
          </a:xfrm>
          <a:custGeom>
            <a:rect b="b" l="l" r="r" t="t"/>
            <a:pathLst>
              <a:path extrusionOk="0" h="6065494" w="3527071">
                <a:moveTo>
                  <a:pt x="0" y="0"/>
                </a:moveTo>
                <a:lnTo>
                  <a:pt x="3527071" y="0"/>
                </a:lnTo>
                <a:lnTo>
                  <a:pt x="3527071" y="6065494"/>
                </a:lnTo>
                <a:lnTo>
                  <a:pt x="0" y="60654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1253" l="-109236" r="-108163" t="-43317"/>
            </a:stretch>
          </a:blipFill>
          <a:ln>
            <a:noFill/>
          </a:ln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F25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8"/>
          <p:cNvSpPr txBox="1"/>
          <p:nvPr/>
        </p:nvSpPr>
        <p:spPr>
          <a:xfrm>
            <a:off x="4377407" y="952500"/>
            <a:ext cx="9533186" cy="679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Arreglos Multidimensionales (Matrices)</a:t>
            </a:r>
            <a:endParaRPr/>
          </a:p>
        </p:txBody>
      </p:sp>
      <p:sp>
        <p:nvSpPr>
          <p:cNvPr id="314" name="Google Shape;314;p28"/>
          <p:cNvSpPr txBox="1"/>
          <p:nvPr/>
        </p:nvSpPr>
        <p:spPr>
          <a:xfrm>
            <a:off x="1028700" y="2455065"/>
            <a:ext cx="7751157" cy="4563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Operaciones Comunes</a:t>
            </a:r>
            <a:endParaRPr/>
          </a:p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59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 Asignación y acceso</a:t>
            </a:r>
            <a:endParaRPr/>
          </a:p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Guardar o consultar un elemento específico mediante ambos índices.</a:t>
            </a:r>
            <a:endParaRPr/>
          </a:p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59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 Recorrido total</a:t>
            </a:r>
            <a:endParaRPr/>
          </a:p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Usualmente se recorre con dos bucles anidados:</a:t>
            </a:r>
            <a:endParaRPr/>
          </a:p>
          <a:p>
            <a:pPr indent="-280669" lvl="1" marL="561339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99"/>
              <a:buFont typeface="Arial"/>
              <a:buChar char="•"/>
            </a:pPr>
            <a:r>
              <a:rPr b="0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Uno para filas.</a:t>
            </a:r>
            <a:endParaRPr/>
          </a:p>
          <a:p>
            <a:pPr indent="-280669" lvl="1" marL="561339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99"/>
              <a:buFont typeface="Arial"/>
              <a:buChar char="•"/>
            </a:pPr>
            <a:r>
              <a:rPr b="0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Otro para columnas.</a:t>
            </a:r>
            <a:endParaRPr/>
          </a:p>
        </p:txBody>
      </p:sp>
      <p:sp>
        <p:nvSpPr>
          <p:cNvPr id="315" name="Google Shape;315;p28"/>
          <p:cNvSpPr txBox="1"/>
          <p:nvPr/>
        </p:nvSpPr>
        <p:spPr>
          <a:xfrm>
            <a:off x="9750905" y="2561273"/>
            <a:ext cx="7508395" cy="2734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 Cálculo por filas o columnas</a:t>
            </a:r>
            <a:endParaRPr/>
          </a:p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Sumas, promedios, búsqueda de máximos, etc.</a:t>
            </a:r>
            <a:endParaRPr/>
          </a:p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59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4. Representación y visualización</a:t>
            </a:r>
            <a:endParaRPr/>
          </a:p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Impresión en forma de tabla.</a:t>
            </a:r>
            <a:endParaRPr/>
          </a:p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59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28"/>
          <p:cNvSpPr/>
          <p:nvPr/>
        </p:nvSpPr>
        <p:spPr>
          <a:xfrm>
            <a:off x="11623483" y="5037292"/>
            <a:ext cx="3164736" cy="2142380"/>
          </a:xfrm>
          <a:custGeom>
            <a:rect b="b" l="l" r="r" t="t"/>
            <a:pathLst>
              <a:path extrusionOk="0" h="2142380" w="3164736">
                <a:moveTo>
                  <a:pt x="0" y="0"/>
                </a:moveTo>
                <a:lnTo>
                  <a:pt x="3164736" y="0"/>
                </a:lnTo>
                <a:lnTo>
                  <a:pt x="3164736" y="2142380"/>
                </a:lnTo>
                <a:lnTo>
                  <a:pt x="0" y="21423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94247" l="-240164" r="-13580" t="-128301"/>
            </a:stretch>
          </a:blipFill>
          <a:ln>
            <a:noFill/>
          </a:ln>
        </p:spPr>
      </p:sp>
      <p:sp>
        <p:nvSpPr>
          <p:cNvPr id="317" name="Google Shape;317;p28"/>
          <p:cNvSpPr/>
          <p:nvPr/>
        </p:nvSpPr>
        <p:spPr>
          <a:xfrm>
            <a:off x="13910593" y="7468806"/>
            <a:ext cx="3179909" cy="1691748"/>
          </a:xfrm>
          <a:custGeom>
            <a:rect b="b" l="l" r="r" t="t"/>
            <a:pathLst>
              <a:path extrusionOk="0" h="1691748" w="3179909">
                <a:moveTo>
                  <a:pt x="0" y="0"/>
                </a:moveTo>
                <a:lnTo>
                  <a:pt x="3179909" y="0"/>
                </a:lnTo>
                <a:lnTo>
                  <a:pt x="3179909" y="1691749"/>
                </a:lnTo>
                <a:lnTo>
                  <a:pt x="0" y="16917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79366" l="-240922" r="-11128" t="-382403"/>
            </a:stretch>
          </a:blipFill>
          <a:ln>
            <a:noFill/>
          </a:ln>
        </p:spPr>
      </p:sp>
      <p:sp>
        <p:nvSpPr>
          <p:cNvPr id="318" name="Google Shape;318;p28"/>
          <p:cNvSpPr/>
          <p:nvPr/>
        </p:nvSpPr>
        <p:spPr>
          <a:xfrm>
            <a:off x="9144000" y="7468806"/>
            <a:ext cx="3135539" cy="1691748"/>
          </a:xfrm>
          <a:custGeom>
            <a:rect b="b" l="l" r="r" t="t"/>
            <a:pathLst>
              <a:path extrusionOk="0" h="1691748" w="3135539">
                <a:moveTo>
                  <a:pt x="0" y="0"/>
                </a:moveTo>
                <a:lnTo>
                  <a:pt x="3135539" y="0"/>
                </a:lnTo>
                <a:lnTo>
                  <a:pt x="3135539" y="1691749"/>
                </a:lnTo>
                <a:lnTo>
                  <a:pt x="0" y="16917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75536" l="-242402" r="-14639" t="-286190"/>
            </a:stretch>
          </a:blipFill>
          <a:ln>
            <a:noFill/>
          </a:ln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F25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9"/>
          <p:cNvSpPr/>
          <p:nvPr/>
        </p:nvSpPr>
        <p:spPr>
          <a:xfrm>
            <a:off x="3945024" y="2596594"/>
            <a:ext cx="10397952" cy="5093812"/>
          </a:xfrm>
          <a:custGeom>
            <a:rect b="b" l="l" r="r" t="t"/>
            <a:pathLst>
              <a:path extrusionOk="0" h="5093812" w="10397952">
                <a:moveTo>
                  <a:pt x="0" y="0"/>
                </a:moveTo>
                <a:lnTo>
                  <a:pt x="10397952" y="0"/>
                </a:lnTo>
                <a:lnTo>
                  <a:pt x="10397952" y="5093812"/>
                </a:lnTo>
                <a:lnTo>
                  <a:pt x="0" y="50938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0626" l="0" r="-109" t="-25522"/>
            </a:stretch>
          </a:blipFill>
          <a:ln>
            <a:noFill/>
          </a:ln>
        </p:spPr>
      </p:sp>
      <p:sp>
        <p:nvSpPr>
          <p:cNvPr id="324" name="Google Shape;324;p29"/>
          <p:cNvSpPr txBox="1"/>
          <p:nvPr/>
        </p:nvSpPr>
        <p:spPr>
          <a:xfrm>
            <a:off x="5486623" y="952500"/>
            <a:ext cx="7314754" cy="712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1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Conceptos clave aprendidos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F25"/>
        </a:solid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0"/>
          <p:cNvSpPr txBox="1"/>
          <p:nvPr/>
        </p:nvSpPr>
        <p:spPr>
          <a:xfrm>
            <a:off x="7126635" y="1271125"/>
            <a:ext cx="4034730" cy="6464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7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Nombre del valor</a:t>
            </a:r>
            <a:endParaRPr/>
          </a:p>
        </p:txBody>
      </p:sp>
      <p:sp>
        <p:nvSpPr>
          <p:cNvPr id="330" name="Google Shape;330;p30"/>
          <p:cNvSpPr txBox="1"/>
          <p:nvPr/>
        </p:nvSpPr>
        <p:spPr>
          <a:xfrm>
            <a:off x="1942097" y="3589472"/>
            <a:ext cx="14403806" cy="38042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 perseverancia es clave al trabajar con estructuras algorítmicas como ciclos y secuencias, ya que el estudiante debe probar, corregir y ajustar múltiples veces su lógica hasta lograr el funcionamiento correcto. El uso de software de pseudocódigo también exige constancia para familiarizarse con su sintaxis, errores frecuentes y límites.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F25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1"/>
          <p:cNvSpPr txBox="1"/>
          <p:nvPr/>
        </p:nvSpPr>
        <p:spPr>
          <a:xfrm>
            <a:off x="7924949" y="962025"/>
            <a:ext cx="2438102" cy="5803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Referencias</a:t>
            </a:r>
            <a:endParaRPr/>
          </a:p>
        </p:txBody>
      </p:sp>
      <p:sp>
        <p:nvSpPr>
          <p:cNvPr id="336" name="Google Shape;336;p31"/>
          <p:cNvSpPr txBox="1"/>
          <p:nvPr/>
        </p:nvSpPr>
        <p:spPr>
          <a:xfrm>
            <a:off x="1028700" y="2414673"/>
            <a:ext cx="16230600" cy="6263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 Libro de fundamentos de programación: Joyanes Aguilar, L. (2019). Fundamentos de programación (6.ª ed.). McGraw-Hill Interamericana.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 Libro clásico sobre algoritmos: Cormen, T. H., Leiserson, C. E., Rivest, R. L., &amp; Stein, C. (2009). Introduction to algorithms (3rd ed.). MIT Press.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 Arreglos, estructuras y pensamiento computacional: Gutiérrez, R. (2016). Algoritmos y estructura de datos: Un enfoque en el pensamiento computacional. Alfaomega.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4. Curso sobre computación y algoritmos: Harvard University. (2025). CS50x: Introduction to Computer Science [Curso en línea]. edX. </a:t>
            </a:r>
            <a:r>
              <a:rPr b="0" i="0" lang="en-US" sz="2400" u="sng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https://cs50.harvard.edu/x/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sng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  <a:hlinkClick r:id="rId4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5. Software de pseudocódigo: PSeInt. (s.f.). PSeInt: Pseudocode Interpreter and Editor [Software]. https://pseint.sourceforge.net/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F25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2"/>
          <p:cNvSpPr txBox="1"/>
          <p:nvPr/>
        </p:nvSpPr>
        <p:spPr>
          <a:xfrm>
            <a:off x="7068294" y="952500"/>
            <a:ext cx="4151412" cy="679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Ejemplo práctico</a:t>
            </a:r>
            <a:endParaRPr/>
          </a:p>
        </p:txBody>
      </p:sp>
      <p:sp>
        <p:nvSpPr>
          <p:cNvPr id="342" name="Google Shape;342;p32"/>
          <p:cNvSpPr txBox="1"/>
          <p:nvPr/>
        </p:nvSpPr>
        <p:spPr>
          <a:xfrm>
            <a:off x="1028700" y="2179930"/>
            <a:ext cx="6381452" cy="5803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Registro Básico de Estudiantes</a:t>
            </a:r>
            <a:endParaRPr/>
          </a:p>
        </p:txBody>
      </p:sp>
      <p:sp>
        <p:nvSpPr>
          <p:cNvPr id="343" name="Google Shape;343;p32"/>
          <p:cNvSpPr txBox="1"/>
          <p:nvPr/>
        </p:nvSpPr>
        <p:spPr>
          <a:xfrm>
            <a:off x="1585634" y="4708111"/>
            <a:ext cx="4572744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B0B0B0"/>
                </a:solidFill>
                <a:latin typeface="Roboto Mono"/>
                <a:ea typeface="Roboto Mono"/>
                <a:cs typeface="Roboto Mono"/>
                <a:sym typeface="Roboto Mono"/>
              </a:rPr>
              <a:t>Dimension ids[5]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B0B0B0"/>
                </a:solidFill>
                <a:latin typeface="Roboto Mono"/>
                <a:ea typeface="Roboto Mono"/>
                <a:cs typeface="Roboto Mono"/>
                <a:sym typeface="Roboto Mono"/>
              </a:rPr>
              <a:t>Dimension datos[5,3]</a:t>
            </a:r>
            <a:endParaRPr/>
          </a:p>
        </p:txBody>
      </p:sp>
      <p:cxnSp>
        <p:nvCxnSpPr>
          <p:cNvPr id="344" name="Google Shape;344;p32"/>
          <p:cNvCxnSpPr/>
          <p:nvPr/>
        </p:nvCxnSpPr>
        <p:spPr>
          <a:xfrm flipH="1" rot="10800000">
            <a:off x="5426494" y="3779040"/>
            <a:ext cx="3717506" cy="1168293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5" name="Google Shape;345;p32"/>
          <p:cNvCxnSpPr/>
          <p:nvPr/>
        </p:nvCxnSpPr>
        <p:spPr>
          <a:xfrm>
            <a:off x="5426494" y="6084203"/>
            <a:ext cx="3717506" cy="557068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6" name="Google Shape;346;p32"/>
          <p:cNvSpPr txBox="1"/>
          <p:nvPr/>
        </p:nvSpPr>
        <p:spPr>
          <a:xfrm>
            <a:off x="9330983" y="1726806"/>
            <a:ext cx="7928317" cy="7415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Diseño de Datos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Vector</a:t>
            </a:r>
            <a:r>
              <a:rPr b="0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ids[5] → Guarda 5 IDs únicos (números).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Matriz</a:t>
            </a:r>
            <a:r>
              <a:rPr b="0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datos[5,3] → Cada fila representa un estudiante.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Columnas:</a:t>
            </a:r>
            <a:endParaRPr/>
          </a:p>
          <a:p>
            <a:pPr indent="-302261" lvl="1" marL="604523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AutoNum type="arabicPeriod"/>
            </a:pPr>
            <a:r>
              <a:rPr b="0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Nombre</a:t>
            </a:r>
            <a:endParaRPr/>
          </a:p>
          <a:p>
            <a:pPr indent="-302261" lvl="1" marL="604523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AutoNum type="arabicPeriod"/>
            </a:pPr>
            <a:r>
              <a:rPr b="0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Edad</a:t>
            </a:r>
            <a:endParaRPr/>
          </a:p>
          <a:p>
            <a:pPr indent="-302261" lvl="1" marL="604523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AutoNum type="arabicPeriod"/>
            </a:pPr>
            <a:r>
              <a:rPr b="0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Carrera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F25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3"/>
          <p:cNvSpPr txBox="1"/>
          <p:nvPr/>
        </p:nvSpPr>
        <p:spPr>
          <a:xfrm>
            <a:off x="1028700" y="2416396"/>
            <a:ext cx="10383518" cy="15443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B0B0B0"/>
                </a:solidFill>
                <a:latin typeface="Roboto Mono"/>
                <a:ea typeface="Roboto Mono"/>
                <a:cs typeface="Roboto Mono"/>
                <a:sym typeface="Roboto Mono"/>
              </a:rPr>
              <a:t>Para i = 1 Hasta 5 Hacer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B0B0B0"/>
                </a:solidFill>
                <a:latin typeface="Roboto Mono"/>
                <a:ea typeface="Roboto Mono"/>
                <a:cs typeface="Roboto Mono"/>
                <a:sym typeface="Roboto Mono"/>
              </a:rPr>
              <a:t>    Repetir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B0B0B0"/>
                </a:solidFill>
                <a:latin typeface="Roboto Mono"/>
                <a:ea typeface="Roboto Mono"/>
                <a:cs typeface="Roboto Mono"/>
                <a:sym typeface="Roboto Mono"/>
              </a:rPr>
              <a:t>        Escribir "Ingrese ID del estudiante ", i, ": "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B0B0B0"/>
                </a:solidFill>
                <a:latin typeface="Roboto Mono"/>
                <a:ea typeface="Roboto Mono"/>
                <a:cs typeface="Roboto Mono"/>
                <a:sym typeface="Roboto Mono"/>
              </a:rPr>
              <a:t>        Leer idTemp</a:t>
            </a:r>
            <a:endParaRPr/>
          </a:p>
        </p:txBody>
      </p:sp>
      <p:sp>
        <p:nvSpPr>
          <p:cNvPr id="352" name="Google Shape;352;p33"/>
          <p:cNvSpPr txBox="1"/>
          <p:nvPr/>
        </p:nvSpPr>
        <p:spPr>
          <a:xfrm>
            <a:off x="7068294" y="952500"/>
            <a:ext cx="4151412" cy="679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Ejemplo práctico</a:t>
            </a:r>
            <a:endParaRPr/>
          </a:p>
        </p:txBody>
      </p:sp>
      <p:sp>
        <p:nvSpPr>
          <p:cNvPr id="353" name="Google Shape;353;p33"/>
          <p:cNvSpPr txBox="1"/>
          <p:nvPr/>
        </p:nvSpPr>
        <p:spPr>
          <a:xfrm>
            <a:off x="1028700" y="4525472"/>
            <a:ext cx="10504899" cy="42779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B0B0B0"/>
                </a:solidFill>
                <a:latin typeface="Roboto Mono"/>
                <a:ea typeface="Roboto Mono"/>
                <a:cs typeface="Roboto Mono"/>
                <a:sym typeface="Roboto Mono"/>
              </a:rPr>
              <a:t> // Validar ID único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B0B0B0"/>
                </a:solidFill>
                <a:latin typeface="Roboto Mono"/>
                <a:ea typeface="Roboto Mono"/>
                <a:cs typeface="Roboto Mono"/>
                <a:sym typeface="Roboto Mono"/>
              </a:rPr>
              <a:t>        repetido ← Falso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B0B0B0"/>
                </a:solidFill>
                <a:latin typeface="Roboto Mono"/>
                <a:ea typeface="Roboto Mono"/>
                <a:cs typeface="Roboto Mono"/>
                <a:sym typeface="Roboto Mono"/>
              </a:rPr>
              <a:t>        Para j = 1 Hasta i-1 Hacer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B0B0B0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Si ids[j] = idTemp Entonces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B0B0B0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    repetido ← Verdadero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B0B0B0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FinSi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B0B0B0"/>
                </a:solidFill>
                <a:latin typeface="Roboto Mono"/>
                <a:ea typeface="Roboto Mono"/>
                <a:cs typeface="Roboto Mono"/>
                <a:sym typeface="Roboto Mono"/>
              </a:rPr>
              <a:t>        FinPara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B0B0B0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B0B0B0"/>
                </a:solidFill>
                <a:latin typeface="Roboto Mono"/>
                <a:ea typeface="Roboto Mono"/>
                <a:cs typeface="Roboto Mono"/>
                <a:sym typeface="Roboto Mono"/>
              </a:rPr>
              <a:t>        Si repetido Entonces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B0B0B0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Escribir "El ID ya existe, ingrese otro."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B0B0B0"/>
                </a:solidFill>
                <a:latin typeface="Roboto Mono"/>
                <a:ea typeface="Roboto Mono"/>
                <a:cs typeface="Roboto Mono"/>
                <a:sym typeface="Roboto Mono"/>
              </a:rPr>
              <a:t>        FinSi</a:t>
            </a:r>
            <a:endParaRPr/>
          </a:p>
        </p:txBody>
      </p:sp>
      <p:sp>
        <p:nvSpPr>
          <p:cNvPr id="354" name="Google Shape;354;p33"/>
          <p:cNvSpPr txBox="1"/>
          <p:nvPr/>
        </p:nvSpPr>
        <p:spPr>
          <a:xfrm>
            <a:off x="8425481" y="4506422"/>
            <a:ext cx="8833819" cy="1581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 usan ciclos:</a:t>
            </a:r>
            <a:endParaRPr/>
          </a:p>
          <a:p>
            <a:pPr indent="-323851" lvl="1" marL="64770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Repetir – Hasta Que mantiene vivo el menú.</a:t>
            </a:r>
            <a:endParaRPr/>
          </a:p>
          <a:p>
            <a:pPr indent="-323851" lvl="1" marL="64770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Para permite recorrer la lista de estudiantes.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F25"/>
        </a:solidFill>
      </p:bgPr>
    </p:bg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4"/>
          <p:cNvSpPr txBox="1"/>
          <p:nvPr/>
        </p:nvSpPr>
        <p:spPr>
          <a:xfrm>
            <a:off x="1028700" y="2674411"/>
            <a:ext cx="10504899" cy="54495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B0B0B0"/>
                </a:solidFill>
                <a:latin typeface="Roboto Mono"/>
                <a:ea typeface="Roboto Mono"/>
                <a:cs typeface="Roboto Mono"/>
                <a:sym typeface="Roboto Mono"/>
              </a:rPr>
              <a:t>Hasta Que repetido = Falso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B0B0B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B0B0B0"/>
                </a:solidFill>
                <a:latin typeface="Roboto Mono"/>
                <a:ea typeface="Roboto Mono"/>
                <a:cs typeface="Roboto Mono"/>
                <a:sym typeface="Roboto Mono"/>
              </a:rPr>
              <a:t>    ids[i] ← idTemp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B0B0B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B0B0B0"/>
                </a:solidFill>
                <a:latin typeface="Roboto Mono"/>
                <a:ea typeface="Roboto Mono"/>
                <a:cs typeface="Roboto Mono"/>
                <a:sym typeface="Roboto Mono"/>
              </a:rPr>
              <a:t>    Escribir "Ingrese nombre: "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B0B0B0"/>
                </a:solidFill>
                <a:latin typeface="Roboto Mono"/>
                <a:ea typeface="Roboto Mono"/>
                <a:cs typeface="Roboto Mono"/>
                <a:sym typeface="Roboto Mono"/>
              </a:rPr>
              <a:t>    Leer datos[i,1]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B0B0B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B0B0B0"/>
                </a:solidFill>
                <a:latin typeface="Roboto Mono"/>
                <a:ea typeface="Roboto Mono"/>
                <a:cs typeface="Roboto Mono"/>
                <a:sym typeface="Roboto Mono"/>
              </a:rPr>
              <a:t>    Escribir "Ingrese edad: "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B0B0B0"/>
                </a:solidFill>
                <a:latin typeface="Roboto Mono"/>
                <a:ea typeface="Roboto Mono"/>
                <a:cs typeface="Roboto Mono"/>
                <a:sym typeface="Roboto Mono"/>
              </a:rPr>
              <a:t>    Leer datos[i,2]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B0B0B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B0B0B0"/>
                </a:solidFill>
                <a:latin typeface="Roboto Mono"/>
                <a:ea typeface="Roboto Mono"/>
                <a:cs typeface="Roboto Mono"/>
                <a:sym typeface="Roboto Mono"/>
              </a:rPr>
              <a:t>    Escribir "Ingrese carrera: "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B0B0B0"/>
                </a:solidFill>
                <a:latin typeface="Roboto Mono"/>
                <a:ea typeface="Roboto Mono"/>
                <a:cs typeface="Roboto Mono"/>
                <a:sym typeface="Roboto Mono"/>
              </a:rPr>
              <a:t>    Leer datos[i,3]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B0B0B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B0B0B0"/>
                </a:solidFill>
                <a:latin typeface="Roboto Mono"/>
                <a:ea typeface="Roboto Mono"/>
                <a:cs typeface="Roboto Mono"/>
                <a:sym typeface="Roboto Mono"/>
              </a:rPr>
              <a:t>FinPara</a:t>
            </a:r>
            <a:endParaRPr/>
          </a:p>
        </p:txBody>
      </p:sp>
      <p:sp>
        <p:nvSpPr>
          <p:cNvPr id="360" name="Google Shape;360;p34"/>
          <p:cNvSpPr txBox="1"/>
          <p:nvPr/>
        </p:nvSpPr>
        <p:spPr>
          <a:xfrm>
            <a:off x="7068294" y="952500"/>
            <a:ext cx="4151412" cy="679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Ejemplo práctico</a:t>
            </a:r>
            <a:endParaRPr/>
          </a:p>
        </p:txBody>
      </p:sp>
      <p:sp>
        <p:nvSpPr>
          <p:cNvPr id="361" name="Google Shape;361;p34"/>
          <p:cNvSpPr txBox="1"/>
          <p:nvPr/>
        </p:nvSpPr>
        <p:spPr>
          <a:xfrm>
            <a:off x="7818576" y="3798995"/>
            <a:ext cx="8924854" cy="2114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Condicionales</a:t>
            </a:r>
            <a:endParaRPr/>
          </a:p>
          <a:p>
            <a:pPr indent="-323851" lvl="1" marL="64770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 repetido = Verdadero → evita duplicación.</a:t>
            </a:r>
            <a:endParaRPr/>
          </a:p>
          <a:p>
            <a:pPr indent="-323851" lvl="1" marL="64770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 usa dentro de un ciclo Repetir...Hasta para validar entrada.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F25"/>
        </a:solidFill>
      </p:bgPr>
    </p:bg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35"/>
          <p:cNvSpPr txBox="1"/>
          <p:nvPr/>
        </p:nvSpPr>
        <p:spPr>
          <a:xfrm>
            <a:off x="1028700" y="2446821"/>
            <a:ext cx="10504899" cy="34969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B0B0B0"/>
                </a:solidFill>
                <a:latin typeface="Roboto Mono"/>
                <a:ea typeface="Roboto Mono"/>
                <a:cs typeface="Roboto Mono"/>
                <a:sym typeface="Roboto Mono"/>
              </a:rPr>
              <a:t>// Mostrar resultados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B0B0B0"/>
                </a:solidFill>
                <a:latin typeface="Roboto Mono"/>
                <a:ea typeface="Roboto Mono"/>
                <a:cs typeface="Roboto Mono"/>
                <a:sym typeface="Roboto Mono"/>
              </a:rPr>
              <a:t>Escribir "---- LISTADO DE ESTUDIANTES ----"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B0B0B0"/>
                </a:solidFill>
                <a:latin typeface="Roboto Mono"/>
                <a:ea typeface="Roboto Mono"/>
                <a:cs typeface="Roboto Mono"/>
                <a:sym typeface="Roboto Mono"/>
              </a:rPr>
              <a:t>Para i = 1 Hasta 5 Hacer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B0B0B0"/>
                </a:solidFill>
                <a:latin typeface="Roboto Mono"/>
                <a:ea typeface="Roboto Mono"/>
                <a:cs typeface="Roboto Mono"/>
                <a:sym typeface="Roboto Mono"/>
              </a:rPr>
              <a:t>    Escribir "ID: ", ids[i]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B0B0B0"/>
                </a:solidFill>
                <a:latin typeface="Roboto Mono"/>
                <a:ea typeface="Roboto Mono"/>
                <a:cs typeface="Roboto Mono"/>
                <a:sym typeface="Roboto Mono"/>
              </a:rPr>
              <a:t>    Escribir "Nombre: ", datos[i,1]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B0B0B0"/>
                </a:solidFill>
                <a:latin typeface="Roboto Mono"/>
                <a:ea typeface="Roboto Mono"/>
                <a:cs typeface="Roboto Mono"/>
                <a:sym typeface="Roboto Mono"/>
              </a:rPr>
              <a:t>    Escribir "Edad: ", datos[i,2]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B0B0B0"/>
                </a:solidFill>
                <a:latin typeface="Roboto Mono"/>
                <a:ea typeface="Roboto Mono"/>
                <a:cs typeface="Roboto Mono"/>
                <a:sym typeface="Roboto Mono"/>
              </a:rPr>
              <a:t>    Escribir "Carrera: ", datos[i,3]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B0B0B0"/>
                </a:solidFill>
                <a:latin typeface="Roboto Mono"/>
                <a:ea typeface="Roboto Mono"/>
                <a:cs typeface="Roboto Mono"/>
                <a:sym typeface="Roboto Mono"/>
              </a:rPr>
              <a:t>    Escribir "-----------------------------"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B0B0B0"/>
                </a:solidFill>
                <a:latin typeface="Roboto Mono"/>
                <a:ea typeface="Roboto Mono"/>
                <a:cs typeface="Roboto Mono"/>
                <a:sym typeface="Roboto Mono"/>
              </a:rPr>
              <a:t>FinPara</a:t>
            </a:r>
            <a:endParaRPr/>
          </a:p>
        </p:txBody>
      </p:sp>
      <p:sp>
        <p:nvSpPr>
          <p:cNvPr id="367" name="Google Shape;367;p35"/>
          <p:cNvSpPr txBox="1"/>
          <p:nvPr/>
        </p:nvSpPr>
        <p:spPr>
          <a:xfrm>
            <a:off x="1028700" y="6494460"/>
            <a:ext cx="9268420" cy="2114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Manipulación de Cadenas</a:t>
            </a:r>
            <a:endParaRPr/>
          </a:p>
          <a:p>
            <a:pPr indent="-323851" lvl="1" marL="64770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El nombre y carrera se guardan como cadenas.</a:t>
            </a:r>
            <a:endParaRPr/>
          </a:p>
          <a:p>
            <a:pPr indent="-323851" lvl="1" marL="64770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 se modifican, pero se leen y almacenan (concepto básico de string).</a:t>
            </a:r>
            <a:endParaRPr/>
          </a:p>
        </p:txBody>
      </p:sp>
      <p:sp>
        <p:nvSpPr>
          <p:cNvPr id="368" name="Google Shape;368;p35"/>
          <p:cNvSpPr txBox="1"/>
          <p:nvPr/>
        </p:nvSpPr>
        <p:spPr>
          <a:xfrm>
            <a:off x="7068294" y="952500"/>
            <a:ext cx="4151412" cy="679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Ejemplo práctico</a:t>
            </a:r>
            <a:endParaRPr/>
          </a:p>
        </p:txBody>
      </p:sp>
      <p:sp>
        <p:nvSpPr>
          <p:cNvPr id="369" name="Google Shape;369;p35"/>
          <p:cNvSpPr txBox="1"/>
          <p:nvPr/>
        </p:nvSpPr>
        <p:spPr>
          <a:xfrm>
            <a:off x="9341244" y="3028950"/>
            <a:ext cx="7918056" cy="2114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Salida final estructurada</a:t>
            </a:r>
            <a:endParaRPr/>
          </a:p>
          <a:p>
            <a:pPr indent="-323851" lvl="1" marL="64770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 ciclo imprime la tabla completa.</a:t>
            </a:r>
            <a:endParaRPr/>
          </a:p>
          <a:p>
            <a:pPr indent="-323851" lvl="1" marL="64770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Esto simula un “reporte final” típico de aplicaciones.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F25"/>
        </a:solidFill>
      </p:bgPr>
    </p:bg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6"/>
          <p:cNvSpPr txBox="1"/>
          <p:nvPr/>
        </p:nvSpPr>
        <p:spPr>
          <a:xfrm>
            <a:off x="1982219" y="1961515"/>
            <a:ext cx="10955238" cy="68395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B0B0B0"/>
                </a:solidFill>
                <a:latin typeface="Roboto Mono"/>
                <a:ea typeface="Roboto Mono"/>
                <a:cs typeface="Roboto Mono"/>
                <a:sym typeface="Roboto Mono"/>
              </a:rPr>
              <a:t>Inicio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B0B0B0"/>
                </a:solidFill>
                <a:latin typeface="Roboto Mono"/>
                <a:ea typeface="Roboto Mono"/>
                <a:cs typeface="Roboto Mono"/>
                <a:sym typeface="Roboto Mono"/>
              </a:rPr>
              <a:t>  ↓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B0B0B0"/>
                </a:solidFill>
                <a:latin typeface="Roboto Mono"/>
                <a:ea typeface="Roboto Mono"/>
                <a:cs typeface="Roboto Mono"/>
                <a:sym typeface="Roboto Mono"/>
              </a:rPr>
              <a:t>Leer ID y datos del estudiante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B0B0B0"/>
                </a:solidFill>
                <a:latin typeface="Roboto Mono"/>
                <a:ea typeface="Roboto Mono"/>
                <a:cs typeface="Roboto Mono"/>
                <a:sym typeface="Roboto Mono"/>
              </a:rPr>
              <a:t>  ↓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B0B0B0"/>
                </a:solidFill>
                <a:latin typeface="Roboto Mono"/>
                <a:ea typeface="Roboto Mono"/>
                <a:cs typeface="Roboto Mono"/>
                <a:sym typeface="Roboto Mono"/>
              </a:rPr>
              <a:t>¿ID existe en el arreglo?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B0B0B0"/>
                </a:solidFill>
                <a:latin typeface="Roboto Mono"/>
                <a:ea typeface="Roboto Mono"/>
                <a:cs typeface="Roboto Mono"/>
                <a:sym typeface="Roboto Mono"/>
              </a:rPr>
              <a:t> ├─ Sí → Mostrar "ID duplicado"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B0B0B0"/>
                </a:solidFill>
                <a:latin typeface="Roboto Mono"/>
                <a:ea typeface="Roboto Mono"/>
                <a:cs typeface="Roboto Mono"/>
                <a:sym typeface="Roboto Mono"/>
              </a:rPr>
              <a:t> │        ↓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B0B0B0"/>
                </a:solidFill>
                <a:latin typeface="Roboto Mono"/>
                <a:ea typeface="Roboto Mono"/>
                <a:cs typeface="Roboto Mono"/>
                <a:sym typeface="Roboto Mono"/>
              </a:rPr>
              <a:t> │       Fin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B0B0B0"/>
                </a:solidFill>
                <a:latin typeface="Roboto Mono"/>
                <a:ea typeface="Roboto Mono"/>
                <a:cs typeface="Roboto Mono"/>
                <a:sym typeface="Roboto Mono"/>
              </a:rPr>
              <a:t> └─ No → Guardar ID en el arreglo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B0B0B0"/>
                </a:solidFill>
                <a:latin typeface="Roboto Mono"/>
                <a:ea typeface="Roboto Mono"/>
                <a:cs typeface="Roboto Mono"/>
                <a:sym typeface="Roboto Mono"/>
              </a:rPr>
              <a:t>          ↓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B0B0B0"/>
                </a:solidFill>
                <a:latin typeface="Roboto Mono"/>
                <a:ea typeface="Roboto Mono"/>
                <a:cs typeface="Roboto Mono"/>
                <a:sym typeface="Roboto Mono"/>
              </a:rPr>
              <a:t>        Guardar datos en la matriz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B0B0B0"/>
                </a:solidFill>
                <a:latin typeface="Roboto Mono"/>
                <a:ea typeface="Roboto Mono"/>
                <a:cs typeface="Roboto Mono"/>
                <a:sym typeface="Roboto Mono"/>
              </a:rPr>
              <a:t>          ↓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B0B0B0"/>
                </a:solidFill>
                <a:latin typeface="Roboto Mono"/>
                <a:ea typeface="Roboto Mono"/>
                <a:cs typeface="Roboto Mono"/>
                <a:sym typeface="Roboto Mono"/>
              </a:rPr>
              <a:t>     Mostrar "Registro exitoso"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B0B0B0"/>
                </a:solidFill>
                <a:latin typeface="Roboto Mono"/>
                <a:ea typeface="Roboto Mono"/>
                <a:cs typeface="Roboto Mono"/>
                <a:sym typeface="Roboto Mono"/>
              </a:rPr>
              <a:t>          ↓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B0B0B0"/>
                </a:solidFill>
                <a:latin typeface="Roboto Mono"/>
                <a:ea typeface="Roboto Mono"/>
                <a:cs typeface="Roboto Mono"/>
                <a:sym typeface="Roboto Mono"/>
              </a:rPr>
              <a:t>Fin</a:t>
            </a:r>
            <a:endParaRPr/>
          </a:p>
        </p:txBody>
      </p:sp>
      <p:sp>
        <p:nvSpPr>
          <p:cNvPr id="375" name="Google Shape;375;p36"/>
          <p:cNvSpPr txBox="1"/>
          <p:nvPr/>
        </p:nvSpPr>
        <p:spPr>
          <a:xfrm>
            <a:off x="7068294" y="952500"/>
            <a:ext cx="4151412" cy="679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Ejemplo práctico</a:t>
            </a:r>
            <a:endParaRPr/>
          </a:p>
        </p:txBody>
      </p:sp>
      <p:sp>
        <p:nvSpPr>
          <p:cNvPr id="376" name="Google Shape;376;p36"/>
          <p:cNvSpPr txBox="1"/>
          <p:nvPr/>
        </p:nvSpPr>
        <p:spPr>
          <a:xfrm>
            <a:off x="9880422" y="3094990"/>
            <a:ext cx="7378878" cy="4563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Este ejercicio integra de forma práctica los conceptos fundamentales de algoritmos: uso de arreglos y matrices para organizar datos, estructuras condicionales para validar información y ciclos para gestionar múltiples registros. Con ello se demuestra cómo, mediante una lógica simple y bien estructurada, es posible construir soluciones funcionales que sirven como base para programas más complejos.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F25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7"/>
          <p:cNvSpPr/>
          <p:nvPr/>
        </p:nvSpPr>
        <p:spPr>
          <a:xfrm>
            <a:off x="8094951" y="1664842"/>
            <a:ext cx="2098097" cy="2831413"/>
          </a:xfrm>
          <a:custGeom>
            <a:rect b="b" l="l" r="r" t="t"/>
            <a:pathLst>
              <a:path extrusionOk="0" h="2831413" w="2098097">
                <a:moveTo>
                  <a:pt x="0" y="0"/>
                </a:moveTo>
                <a:lnTo>
                  <a:pt x="2098098" y="0"/>
                </a:lnTo>
                <a:lnTo>
                  <a:pt x="2098098" y="2831412"/>
                </a:lnTo>
                <a:lnTo>
                  <a:pt x="0" y="28314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82" name="Google Shape;382;p37"/>
          <p:cNvSpPr txBox="1"/>
          <p:nvPr/>
        </p:nvSpPr>
        <p:spPr>
          <a:xfrm>
            <a:off x="3689524" y="5010150"/>
            <a:ext cx="10908953" cy="1226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0" u="none" cap="none" strike="noStrike">
                <a:solidFill>
                  <a:srgbClr val="E0E0E0"/>
                </a:solidFill>
                <a:latin typeface="Arial"/>
                <a:ea typeface="Arial"/>
                <a:cs typeface="Arial"/>
                <a:sym typeface="Arial"/>
              </a:rPr>
              <a:t>¡Gracias por su atención!</a:t>
            </a:r>
            <a:endParaRPr/>
          </a:p>
        </p:txBody>
      </p:sp>
      <p:sp>
        <p:nvSpPr>
          <p:cNvPr id="383" name="Google Shape;383;p37"/>
          <p:cNvSpPr txBox="1"/>
          <p:nvPr/>
        </p:nvSpPr>
        <p:spPr>
          <a:xfrm>
            <a:off x="1169667" y="7004386"/>
            <a:ext cx="15948666" cy="12515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E0E0E0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