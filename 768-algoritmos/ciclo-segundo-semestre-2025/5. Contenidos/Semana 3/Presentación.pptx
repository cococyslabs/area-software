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sldSz cx="18288000" cy="10287000"/>
  <p:notesSz cx="6858000" cy="9144000"/>
  <p:embeddedFontLst>
    <p:embeddedFont>
      <p:font typeface="Canva Sans" panose="020B0604020202020204" charset="0"/>
      <p:regular r:id="rId36"/>
    </p:embeddedFont>
    <p:embeddedFont>
      <p:font typeface="Canva Sans Bold" panose="020B0604020202020204" charset="0"/>
      <p:regular r:id="rId37"/>
    </p:embeddedFont>
    <p:embeddedFont>
      <p:font typeface="Montserrat" panose="00000500000000000000" pitchFamily="2" charset="0"/>
      <p:regular r:id="rId38"/>
    </p:embeddedFont>
    <p:embeddedFont>
      <p:font typeface="Open Sans" panose="020B0606030504020204" pitchFamily="34" charset="0"/>
      <p:regular r:id="rId39"/>
    </p:embeddedFont>
    <p:embeddedFont>
      <p:font typeface="Open Sans Bold" panose="020B0806030504020204" charset="0"/>
      <p:regular r:id="rId4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8" d="100"/>
          <a:sy n="58" d="100"/>
        </p:scale>
        <p:origin x="514"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4.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2.fntdata"/><Relationship Id="rId40" Type="http://schemas.openxmlformats.org/officeDocument/2006/relationships/font" Target="fonts/font5.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3.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Layout" Target="../slideLayouts/slideLayout7.xml"/><Relationship Id="rId5" Type="http://schemas.openxmlformats.org/officeDocument/2006/relationships/hyperlink" Target="https://es.educaplay.com/recursos-educativos/27816541-verdadero_o_falso_buses_y_hardware.html" TargetMode="External"/><Relationship Id="rId4" Type="http://schemas.openxmlformats.org/officeDocument/2006/relationships/hyperlink" Target="https://youtu.be/g3HtnS6RJh0?list=PLNgaBT67nukSaEQL8JNksizGqOIYnanPT"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s-GT"/>
          </a:p>
        </p:txBody>
      </p:sp>
      <p:sp>
        <p:nvSpPr>
          <p:cNvPr id="3" name="TextBox 3"/>
          <p:cNvSpPr txBox="1"/>
          <p:nvPr/>
        </p:nvSpPr>
        <p:spPr>
          <a:xfrm>
            <a:off x="13866491" y="2085273"/>
            <a:ext cx="4021187" cy="537845"/>
          </a:xfrm>
          <a:prstGeom prst="rect">
            <a:avLst/>
          </a:prstGeom>
        </p:spPr>
        <p:txBody>
          <a:bodyPr lIns="0" tIns="0" rIns="0" bIns="0" rtlCol="0" anchor="t">
            <a:spAutoFit/>
          </a:bodyPr>
          <a:lstStyle/>
          <a:p>
            <a:pPr algn="ctr">
              <a:lnSpc>
                <a:spcPts val="4480"/>
              </a:lnSpc>
              <a:spcBef>
                <a:spcPct val="0"/>
              </a:spcBef>
            </a:pPr>
            <a:r>
              <a:rPr lang="en-US" sz="3200">
                <a:solidFill>
                  <a:srgbClr val="000000"/>
                </a:solidFill>
                <a:latin typeface="Canva Sans"/>
                <a:ea typeface="Canva Sans"/>
                <a:cs typeface="Canva Sans"/>
                <a:sym typeface="Canva Sans"/>
              </a:rPr>
              <a:t>Sábado - xx/0x/2026</a:t>
            </a:r>
          </a:p>
        </p:txBody>
      </p:sp>
      <p:sp>
        <p:nvSpPr>
          <p:cNvPr id="4" name="TextBox 4"/>
          <p:cNvSpPr txBox="1"/>
          <p:nvPr/>
        </p:nvSpPr>
        <p:spPr>
          <a:xfrm>
            <a:off x="14645308" y="2827978"/>
            <a:ext cx="2463552" cy="580390"/>
          </a:xfrm>
          <a:prstGeom prst="rect">
            <a:avLst/>
          </a:prstGeom>
        </p:spPr>
        <p:txBody>
          <a:bodyPr lIns="0" tIns="0" rIns="0" bIns="0" rtlCol="0" anchor="t">
            <a:spAutoFit/>
          </a:bodyPr>
          <a:lstStyle/>
          <a:p>
            <a:pPr algn="ctr">
              <a:lnSpc>
                <a:spcPts val="4759"/>
              </a:lnSpc>
              <a:spcBef>
                <a:spcPct val="0"/>
              </a:spcBef>
            </a:pPr>
            <a:r>
              <a:rPr lang="en-US" sz="3399">
                <a:solidFill>
                  <a:srgbClr val="000000"/>
                </a:solidFill>
                <a:latin typeface="Canva Sans"/>
                <a:ea typeface="Canva Sans"/>
                <a:cs typeface="Canva Sans"/>
                <a:sym typeface="Canva Sans"/>
              </a:rPr>
              <a:t>10:30 horas</a:t>
            </a:r>
          </a:p>
        </p:txBody>
      </p:sp>
      <p:sp>
        <p:nvSpPr>
          <p:cNvPr id="5" name="TextBox 5"/>
          <p:cNvSpPr txBox="1"/>
          <p:nvPr/>
        </p:nvSpPr>
        <p:spPr>
          <a:xfrm>
            <a:off x="1319510" y="5057775"/>
            <a:ext cx="15648980" cy="811531"/>
          </a:xfrm>
          <a:prstGeom prst="rect">
            <a:avLst/>
          </a:prstGeom>
        </p:spPr>
        <p:txBody>
          <a:bodyPr lIns="0" tIns="0" rIns="0" bIns="0" rtlCol="0" anchor="t">
            <a:spAutoFit/>
          </a:bodyPr>
          <a:lstStyle/>
          <a:p>
            <a:pPr algn="ctr">
              <a:lnSpc>
                <a:spcPts val="6719"/>
              </a:lnSpc>
              <a:spcBef>
                <a:spcPct val="0"/>
              </a:spcBef>
            </a:pPr>
            <a:r>
              <a:rPr lang="en-US" sz="4799" b="1">
                <a:solidFill>
                  <a:srgbClr val="393E46"/>
                </a:solidFill>
                <a:latin typeface="Open Sans Bold"/>
                <a:ea typeface="Open Sans Bold"/>
                <a:cs typeface="Open Sans Bold"/>
                <a:sym typeface="Open Sans Bold"/>
              </a:rPr>
              <a:t>Introducción a los Algoritmos y Flujo de Datos Sec X</a:t>
            </a:r>
          </a:p>
        </p:txBody>
      </p:sp>
      <p:sp>
        <p:nvSpPr>
          <p:cNvPr id="6" name="TextBox 6"/>
          <p:cNvSpPr txBox="1"/>
          <p:nvPr/>
        </p:nvSpPr>
        <p:spPr>
          <a:xfrm>
            <a:off x="6837536" y="5939495"/>
            <a:ext cx="4612928" cy="679450"/>
          </a:xfrm>
          <a:prstGeom prst="rect">
            <a:avLst/>
          </a:prstGeom>
        </p:spPr>
        <p:txBody>
          <a:bodyPr lIns="0" tIns="0" rIns="0" bIns="0" rtlCol="0" anchor="t">
            <a:spAutoFit/>
          </a:bodyPr>
          <a:lstStyle/>
          <a:p>
            <a:pPr algn="ctr">
              <a:lnSpc>
                <a:spcPts val="5599"/>
              </a:lnSpc>
              <a:spcBef>
                <a:spcPct val="0"/>
              </a:spcBef>
            </a:pPr>
            <a:r>
              <a:rPr lang="en-US" sz="3999" dirty="0">
                <a:solidFill>
                  <a:srgbClr val="000000"/>
                </a:solidFill>
                <a:latin typeface="Open Sans"/>
                <a:ea typeface="Open Sans"/>
                <a:cs typeface="Open Sans"/>
                <a:sym typeface="Open Sans"/>
              </a:rPr>
              <a:t>Nombre </a:t>
            </a:r>
            <a:r>
              <a:rPr lang="en-US" sz="3999">
                <a:solidFill>
                  <a:srgbClr val="000000"/>
                </a:solidFill>
                <a:latin typeface="Open Sans"/>
                <a:ea typeface="Open Sans"/>
                <a:cs typeface="Open Sans"/>
                <a:sym typeface="Open Sans"/>
              </a:rPr>
              <a:t>del tutor</a:t>
            </a:r>
            <a:endParaRPr lang="en-US" sz="3999" dirty="0">
              <a:solidFill>
                <a:srgbClr val="000000"/>
              </a:solidFill>
              <a:latin typeface="Open Sans"/>
              <a:ea typeface="Open Sans"/>
              <a:cs typeface="Open Sans"/>
              <a:sym typeface="Open Sa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6960333"/>
            <a:ext cx="9548932" cy="580390"/>
          </a:xfrm>
          <a:prstGeom prst="rect">
            <a:avLst/>
          </a:prstGeom>
        </p:spPr>
        <p:txBody>
          <a:bodyPr lIns="0" tIns="0" rIns="0" bIns="0" rtlCol="0" anchor="t">
            <a:spAutoFit/>
          </a:bodyPr>
          <a:lstStyle/>
          <a:p>
            <a:pPr algn="l">
              <a:lnSpc>
                <a:spcPts val="4759"/>
              </a:lnSpc>
              <a:spcBef>
                <a:spcPct val="0"/>
              </a:spcBef>
            </a:pPr>
            <a:r>
              <a:rPr lang="en-US" sz="3399">
                <a:solidFill>
                  <a:srgbClr val="000000"/>
                </a:solidFill>
                <a:latin typeface="Canva Sans"/>
                <a:ea typeface="Canva Sans"/>
                <a:cs typeface="Canva Sans"/>
                <a:sym typeface="Canva Sans"/>
              </a:rPr>
              <a:t>Introducción a los Algoritmos y Flujo de Datos</a:t>
            </a:r>
          </a:p>
        </p:txBody>
      </p:sp>
      <p:sp>
        <p:nvSpPr>
          <p:cNvPr id="3" name="TextBox 3"/>
          <p:cNvSpPr txBox="1"/>
          <p:nvPr/>
        </p:nvSpPr>
        <p:spPr>
          <a:xfrm>
            <a:off x="1028700" y="7929441"/>
            <a:ext cx="5401121" cy="349249"/>
          </a:xfrm>
          <a:prstGeom prst="rect">
            <a:avLst/>
          </a:prstGeom>
        </p:spPr>
        <p:txBody>
          <a:bodyPr lIns="0" tIns="0" rIns="0" bIns="0" rtlCol="0" anchor="t">
            <a:spAutoFit/>
          </a:bodyPr>
          <a:lstStyle/>
          <a:p>
            <a:pPr algn="l">
              <a:lnSpc>
                <a:spcPts val="2800"/>
              </a:lnSpc>
              <a:spcBef>
                <a:spcPct val="0"/>
              </a:spcBef>
            </a:pPr>
            <a:r>
              <a:rPr lang="en-US" sz="2000">
                <a:solidFill>
                  <a:srgbClr val="000000"/>
                </a:solidFill>
                <a:latin typeface="Canva Sans"/>
                <a:ea typeface="Canva Sans"/>
                <a:cs typeface="Canva Sans"/>
                <a:sym typeface="Canva Sans"/>
              </a:rPr>
              <a:t>Escuela de Ingeniería de Ciencias y Sistemas</a:t>
            </a:r>
          </a:p>
        </p:txBody>
      </p:sp>
      <p:sp>
        <p:nvSpPr>
          <p:cNvPr id="4" name="TextBox 4"/>
          <p:cNvSpPr txBox="1"/>
          <p:nvPr/>
        </p:nvSpPr>
        <p:spPr>
          <a:xfrm>
            <a:off x="1028700" y="8421565"/>
            <a:ext cx="2755850" cy="349249"/>
          </a:xfrm>
          <a:prstGeom prst="rect">
            <a:avLst/>
          </a:prstGeom>
        </p:spPr>
        <p:txBody>
          <a:bodyPr lIns="0" tIns="0" rIns="0" bIns="0" rtlCol="0" anchor="t">
            <a:spAutoFit/>
          </a:bodyPr>
          <a:lstStyle/>
          <a:p>
            <a:pPr algn="l">
              <a:lnSpc>
                <a:spcPts val="2800"/>
              </a:lnSpc>
              <a:spcBef>
                <a:spcPct val="0"/>
              </a:spcBef>
            </a:pPr>
            <a:r>
              <a:rPr lang="en-US" sz="2000">
                <a:solidFill>
                  <a:srgbClr val="000000"/>
                </a:solidFill>
                <a:latin typeface="Canva Sans"/>
                <a:ea typeface="Canva Sans"/>
                <a:cs typeface="Canva Sans"/>
                <a:sym typeface="Canva Sans"/>
              </a:rPr>
              <a:t>Facultad de Ingeniería </a:t>
            </a:r>
          </a:p>
        </p:txBody>
      </p:sp>
      <p:sp>
        <p:nvSpPr>
          <p:cNvPr id="5" name="TextBox 5"/>
          <p:cNvSpPr txBox="1"/>
          <p:nvPr/>
        </p:nvSpPr>
        <p:spPr>
          <a:xfrm>
            <a:off x="1028700" y="8909051"/>
            <a:ext cx="4956721" cy="349249"/>
          </a:xfrm>
          <a:prstGeom prst="rect">
            <a:avLst/>
          </a:prstGeom>
        </p:spPr>
        <p:txBody>
          <a:bodyPr lIns="0" tIns="0" rIns="0" bIns="0" rtlCol="0" anchor="t">
            <a:spAutoFit/>
          </a:bodyPr>
          <a:lstStyle/>
          <a:p>
            <a:pPr algn="l">
              <a:lnSpc>
                <a:spcPts val="2800"/>
              </a:lnSpc>
              <a:spcBef>
                <a:spcPct val="0"/>
              </a:spcBef>
            </a:pPr>
            <a:r>
              <a:rPr lang="en-US" sz="2000">
                <a:solidFill>
                  <a:srgbClr val="000000"/>
                </a:solidFill>
                <a:latin typeface="Canva Sans"/>
                <a:ea typeface="Canva Sans"/>
                <a:cs typeface="Canva Sans"/>
                <a:sym typeface="Canva Sans"/>
              </a:rPr>
              <a:t>Universidad de San Carlos de Guatemala</a:t>
            </a:r>
          </a:p>
        </p:txBody>
      </p:sp>
      <p:grpSp>
        <p:nvGrpSpPr>
          <p:cNvPr id="6" name="Group 6"/>
          <p:cNvGrpSpPr/>
          <p:nvPr/>
        </p:nvGrpSpPr>
        <p:grpSpPr>
          <a:xfrm>
            <a:off x="6229882" y="714213"/>
            <a:ext cx="11029418" cy="1576035"/>
            <a:chOff x="0" y="0"/>
            <a:chExt cx="14705891" cy="2101380"/>
          </a:xfrm>
        </p:grpSpPr>
        <p:sp>
          <p:nvSpPr>
            <p:cNvPr id="7" name="Freeform 7"/>
            <p:cNvSpPr/>
            <p:nvPr/>
          </p:nvSpPr>
          <p:spPr>
            <a:xfrm>
              <a:off x="0" y="0"/>
              <a:ext cx="14705665" cy="2101342"/>
            </a:xfrm>
            <a:custGeom>
              <a:avLst/>
              <a:gdLst/>
              <a:ahLst/>
              <a:cxnLst/>
              <a:rect l="l" t="t" r="r" b="b"/>
              <a:pathLst>
                <a:path w="14705665" h="2101342">
                  <a:moveTo>
                    <a:pt x="0" y="0"/>
                  </a:moveTo>
                  <a:lnTo>
                    <a:pt x="14705665" y="0"/>
                  </a:lnTo>
                  <a:lnTo>
                    <a:pt x="14705665" y="2101342"/>
                  </a:lnTo>
                  <a:lnTo>
                    <a:pt x="0" y="2101342"/>
                  </a:lnTo>
                  <a:lnTo>
                    <a:pt x="0" y="0"/>
                  </a:lnTo>
                  <a:close/>
                </a:path>
              </a:pathLst>
            </a:custGeom>
            <a:blipFill>
              <a:blip r:embed="rId2"/>
              <a:stretch>
                <a:fillRect l="-82" r="-83" b="-1"/>
              </a:stretch>
            </a:blipFill>
          </p:spPr>
          <p:txBody>
            <a:bodyPr/>
            <a:lstStyle/>
            <a:p>
              <a:endParaRPr lang="es-GT"/>
            </a:p>
          </p:txBody>
        </p:sp>
      </p:grpSp>
      <p:sp>
        <p:nvSpPr>
          <p:cNvPr id="8" name="TextBox 8"/>
          <p:cNvSpPr txBox="1"/>
          <p:nvPr/>
        </p:nvSpPr>
        <p:spPr>
          <a:xfrm>
            <a:off x="3129305" y="2318823"/>
            <a:ext cx="12029399" cy="3317253"/>
          </a:xfrm>
          <a:prstGeom prst="rect">
            <a:avLst/>
          </a:prstGeom>
        </p:spPr>
        <p:txBody>
          <a:bodyPr lIns="0" tIns="0" rIns="0" bIns="0" rtlCol="0" anchor="t">
            <a:spAutoFit/>
          </a:bodyPr>
          <a:lstStyle/>
          <a:p>
            <a:pPr algn="ctr">
              <a:lnSpc>
                <a:spcPts val="13440"/>
              </a:lnSpc>
            </a:pPr>
            <a:r>
              <a:rPr lang="en-US" sz="8000" b="1">
                <a:solidFill>
                  <a:srgbClr val="000000"/>
                </a:solidFill>
                <a:latin typeface="Open Sans Bold"/>
                <a:ea typeface="Open Sans Bold"/>
                <a:cs typeface="Open Sans Bold"/>
                <a:sym typeface="Open Sans Bold"/>
              </a:rPr>
              <a:t>Arquitectura y organización VNA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2700000">
            <a:off x="1740055" y="2938358"/>
            <a:ext cx="1143682" cy="1158425"/>
          </a:xfrm>
          <a:custGeom>
            <a:avLst/>
            <a:gdLst/>
            <a:ahLst/>
            <a:cxnLst/>
            <a:rect l="l" t="t" r="r" b="b"/>
            <a:pathLst>
              <a:path w="1143682" h="1158425">
                <a:moveTo>
                  <a:pt x="0" y="0"/>
                </a:moveTo>
                <a:lnTo>
                  <a:pt x="1143682" y="0"/>
                </a:lnTo>
                <a:lnTo>
                  <a:pt x="1143682" y="1158425"/>
                </a:lnTo>
                <a:lnTo>
                  <a:pt x="0" y="1158425"/>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s-GT"/>
          </a:p>
        </p:txBody>
      </p:sp>
      <p:sp>
        <p:nvSpPr>
          <p:cNvPr id="3" name="Freeform 3"/>
          <p:cNvSpPr/>
          <p:nvPr/>
        </p:nvSpPr>
        <p:spPr>
          <a:xfrm>
            <a:off x="1028700" y="5143500"/>
            <a:ext cx="785011" cy="854434"/>
          </a:xfrm>
          <a:custGeom>
            <a:avLst/>
            <a:gdLst/>
            <a:ahLst/>
            <a:cxnLst/>
            <a:rect l="l" t="t" r="r" b="b"/>
            <a:pathLst>
              <a:path w="785011" h="854434">
                <a:moveTo>
                  <a:pt x="0" y="0"/>
                </a:moveTo>
                <a:lnTo>
                  <a:pt x="785011" y="0"/>
                </a:lnTo>
                <a:lnTo>
                  <a:pt x="785011" y="854434"/>
                </a:lnTo>
                <a:lnTo>
                  <a:pt x="0" y="85443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GT"/>
          </a:p>
        </p:txBody>
      </p:sp>
      <p:sp>
        <p:nvSpPr>
          <p:cNvPr id="4" name="TextBox 4"/>
          <p:cNvSpPr txBox="1"/>
          <p:nvPr/>
        </p:nvSpPr>
        <p:spPr>
          <a:xfrm>
            <a:off x="2389361" y="904875"/>
            <a:ext cx="3209627" cy="1094740"/>
          </a:xfrm>
          <a:prstGeom prst="rect">
            <a:avLst/>
          </a:prstGeom>
        </p:spPr>
        <p:txBody>
          <a:bodyPr lIns="0" tIns="0" rIns="0" bIns="0" rtlCol="0" anchor="t">
            <a:spAutoFit/>
          </a:bodyPr>
          <a:lstStyle/>
          <a:p>
            <a:pPr algn="l">
              <a:lnSpc>
                <a:spcPts val="8959"/>
              </a:lnSpc>
              <a:spcBef>
                <a:spcPct val="0"/>
              </a:spcBef>
            </a:pPr>
            <a:r>
              <a:rPr lang="en-US" sz="6399">
                <a:solidFill>
                  <a:srgbClr val="000000"/>
                </a:solidFill>
                <a:latin typeface="Montserrat"/>
                <a:ea typeface="Montserrat"/>
                <a:cs typeface="Montserrat"/>
                <a:sym typeface="Montserrat"/>
              </a:rPr>
              <a:t>Agenda</a:t>
            </a:r>
          </a:p>
        </p:txBody>
      </p:sp>
      <p:sp>
        <p:nvSpPr>
          <p:cNvPr id="5" name="TextBox 5"/>
          <p:cNvSpPr txBox="1"/>
          <p:nvPr/>
        </p:nvSpPr>
        <p:spPr>
          <a:xfrm>
            <a:off x="13548866" y="904875"/>
            <a:ext cx="3710434" cy="1094740"/>
          </a:xfrm>
          <a:prstGeom prst="rect">
            <a:avLst/>
          </a:prstGeom>
        </p:spPr>
        <p:txBody>
          <a:bodyPr lIns="0" tIns="0" rIns="0" bIns="0" rtlCol="0" anchor="t">
            <a:spAutoFit/>
          </a:bodyPr>
          <a:lstStyle/>
          <a:p>
            <a:pPr algn="r">
              <a:lnSpc>
                <a:spcPts val="8959"/>
              </a:lnSpc>
              <a:spcBef>
                <a:spcPct val="0"/>
              </a:spcBef>
            </a:pPr>
            <a:r>
              <a:rPr lang="en-US" sz="6399">
                <a:solidFill>
                  <a:srgbClr val="000000"/>
                </a:solidFill>
                <a:latin typeface="Montserrat"/>
                <a:ea typeface="Montserrat"/>
                <a:cs typeface="Montserrat"/>
                <a:sym typeface="Montserrat"/>
              </a:rPr>
              <a:t>Recursos</a:t>
            </a:r>
          </a:p>
        </p:txBody>
      </p:sp>
      <p:sp>
        <p:nvSpPr>
          <p:cNvPr id="6" name="Freeform 6"/>
          <p:cNvSpPr/>
          <p:nvPr/>
        </p:nvSpPr>
        <p:spPr>
          <a:xfrm>
            <a:off x="1028700" y="6285618"/>
            <a:ext cx="785011" cy="854434"/>
          </a:xfrm>
          <a:custGeom>
            <a:avLst/>
            <a:gdLst/>
            <a:ahLst/>
            <a:cxnLst/>
            <a:rect l="l" t="t" r="r" b="b"/>
            <a:pathLst>
              <a:path w="785011" h="854434">
                <a:moveTo>
                  <a:pt x="0" y="0"/>
                </a:moveTo>
                <a:lnTo>
                  <a:pt x="785011" y="0"/>
                </a:lnTo>
                <a:lnTo>
                  <a:pt x="785011" y="854435"/>
                </a:lnTo>
                <a:lnTo>
                  <a:pt x="0" y="85443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GT"/>
          </a:p>
        </p:txBody>
      </p:sp>
      <p:sp>
        <p:nvSpPr>
          <p:cNvPr id="7" name="Freeform 7"/>
          <p:cNvSpPr/>
          <p:nvPr/>
        </p:nvSpPr>
        <p:spPr>
          <a:xfrm>
            <a:off x="1028700" y="7425803"/>
            <a:ext cx="785011" cy="854434"/>
          </a:xfrm>
          <a:custGeom>
            <a:avLst/>
            <a:gdLst/>
            <a:ahLst/>
            <a:cxnLst/>
            <a:rect l="l" t="t" r="r" b="b"/>
            <a:pathLst>
              <a:path w="785011" h="854434">
                <a:moveTo>
                  <a:pt x="0" y="0"/>
                </a:moveTo>
                <a:lnTo>
                  <a:pt x="785011" y="0"/>
                </a:lnTo>
                <a:lnTo>
                  <a:pt x="785011" y="854434"/>
                </a:lnTo>
                <a:lnTo>
                  <a:pt x="0" y="85443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GT"/>
          </a:p>
        </p:txBody>
      </p:sp>
      <p:sp>
        <p:nvSpPr>
          <p:cNvPr id="8" name="Freeform 8"/>
          <p:cNvSpPr/>
          <p:nvPr/>
        </p:nvSpPr>
        <p:spPr>
          <a:xfrm>
            <a:off x="1028700" y="8565987"/>
            <a:ext cx="785011" cy="854434"/>
          </a:xfrm>
          <a:custGeom>
            <a:avLst/>
            <a:gdLst/>
            <a:ahLst/>
            <a:cxnLst/>
            <a:rect l="l" t="t" r="r" b="b"/>
            <a:pathLst>
              <a:path w="785011" h="854434">
                <a:moveTo>
                  <a:pt x="0" y="0"/>
                </a:moveTo>
                <a:lnTo>
                  <a:pt x="785011" y="0"/>
                </a:lnTo>
                <a:lnTo>
                  <a:pt x="785011" y="854434"/>
                </a:lnTo>
                <a:lnTo>
                  <a:pt x="0" y="85443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GT"/>
          </a:p>
        </p:txBody>
      </p:sp>
      <p:sp>
        <p:nvSpPr>
          <p:cNvPr id="9" name="TextBox 9"/>
          <p:cNvSpPr txBox="1"/>
          <p:nvPr/>
        </p:nvSpPr>
        <p:spPr>
          <a:xfrm>
            <a:off x="2311896" y="5247185"/>
            <a:ext cx="4695081" cy="580390"/>
          </a:xfrm>
          <a:prstGeom prst="rect">
            <a:avLst/>
          </a:prstGeom>
        </p:spPr>
        <p:txBody>
          <a:bodyPr lIns="0" tIns="0" rIns="0" bIns="0" rtlCol="0" anchor="t">
            <a:spAutoFit/>
          </a:bodyPr>
          <a:lstStyle/>
          <a:p>
            <a:pPr algn="l">
              <a:lnSpc>
                <a:spcPts val="4759"/>
              </a:lnSpc>
              <a:spcBef>
                <a:spcPct val="0"/>
              </a:spcBef>
            </a:pPr>
            <a:r>
              <a:rPr lang="en-US" sz="3399">
                <a:solidFill>
                  <a:srgbClr val="000000"/>
                </a:solidFill>
                <a:latin typeface="Canva Sans"/>
                <a:ea typeface="Canva Sans"/>
                <a:cs typeface="Canva Sans"/>
                <a:sym typeface="Canva Sans"/>
              </a:rPr>
              <a:t>Tecnologías RISC/CISC</a:t>
            </a:r>
          </a:p>
        </p:txBody>
      </p:sp>
      <p:sp>
        <p:nvSpPr>
          <p:cNvPr id="10" name="TextBox 10"/>
          <p:cNvSpPr txBox="1"/>
          <p:nvPr/>
        </p:nvSpPr>
        <p:spPr>
          <a:xfrm>
            <a:off x="2311896" y="6389303"/>
            <a:ext cx="6574185" cy="580390"/>
          </a:xfrm>
          <a:prstGeom prst="rect">
            <a:avLst/>
          </a:prstGeom>
        </p:spPr>
        <p:txBody>
          <a:bodyPr lIns="0" tIns="0" rIns="0" bIns="0" rtlCol="0" anchor="t">
            <a:spAutoFit/>
          </a:bodyPr>
          <a:lstStyle/>
          <a:p>
            <a:pPr algn="l">
              <a:lnSpc>
                <a:spcPts val="4759"/>
              </a:lnSpc>
              <a:spcBef>
                <a:spcPct val="0"/>
              </a:spcBef>
            </a:pPr>
            <a:r>
              <a:rPr lang="en-US" sz="3399">
                <a:solidFill>
                  <a:srgbClr val="000000"/>
                </a:solidFill>
                <a:latin typeface="Canva Sans"/>
                <a:ea typeface="Canva Sans"/>
                <a:cs typeface="Canva Sans"/>
                <a:sym typeface="Canva Sans"/>
              </a:rPr>
              <a:t>Memoria Principal y Secundaria</a:t>
            </a:r>
          </a:p>
        </p:txBody>
      </p:sp>
      <p:sp>
        <p:nvSpPr>
          <p:cNvPr id="11" name="TextBox 11"/>
          <p:cNvSpPr txBox="1"/>
          <p:nvPr/>
        </p:nvSpPr>
        <p:spPr>
          <a:xfrm>
            <a:off x="2311896" y="7529487"/>
            <a:ext cx="8834289" cy="580390"/>
          </a:xfrm>
          <a:prstGeom prst="rect">
            <a:avLst/>
          </a:prstGeom>
        </p:spPr>
        <p:txBody>
          <a:bodyPr lIns="0" tIns="0" rIns="0" bIns="0" rtlCol="0" anchor="t">
            <a:spAutoFit/>
          </a:bodyPr>
          <a:lstStyle/>
          <a:p>
            <a:pPr algn="l">
              <a:lnSpc>
                <a:spcPts val="4759"/>
              </a:lnSpc>
              <a:spcBef>
                <a:spcPct val="0"/>
              </a:spcBef>
            </a:pPr>
            <a:r>
              <a:rPr lang="en-US" sz="3399">
                <a:solidFill>
                  <a:srgbClr val="000000"/>
                </a:solidFill>
                <a:latin typeface="Canva Sans"/>
                <a:ea typeface="Canva Sans"/>
                <a:cs typeface="Canva Sans"/>
                <a:sym typeface="Canva Sans"/>
              </a:rPr>
              <a:t>Tarjetas de red, routers, switches, AP's, etc</a:t>
            </a:r>
          </a:p>
        </p:txBody>
      </p:sp>
      <p:sp>
        <p:nvSpPr>
          <p:cNvPr id="12" name="TextBox 12"/>
          <p:cNvSpPr txBox="1"/>
          <p:nvPr/>
        </p:nvSpPr>
        <p:spPr>
          <a:xfrm>
            <a:off x="2311896" y="8669671"/>
            <a:ext cx="6332637" cy="580390"/>
          </a:xfrm>
          <a:prstGeom prst="rect">
            <a:avLst/>
          </a:prstGeom>
        </p:spPr>
        <p:txBody>
          <a:bodyPr lIns="0" tIns="0" rIns="0" bIns="0" rtlCol="0" anchor="t">
            <a:spAutoFit/>
          </a:bodyPr>
          <a:lstStyle/>
          <a:p>
            <a:pPr algn="l">
              <a:lnSpc>
                <a:spcPts val="4759"/>
              </a:lnSpc>
              <a:spcBef>
                <a:spcPct val="0"/>
              </a:spcBef>
            </a:pPr>
            <a:r>
              <a:rPr lang="en-US" sz="3399">
                <a:solidFill>
                  <a:srgbClr val="000000"/>
                </a:solidFill>
                <a:latin typeface="Canva Sans"/>
                <a:ea typeface="Canva Sans"/>
                <a:cs typeface="Canva Sans"/>
                <a:sym typeface="Canva Sans"/>
              </a:rPr>
              <a:t>HW de seguridad (firewall, etc)</a:t>
            </a:r>
          </a:p>
        </p:txBody>
      </p:sp>
      <p:sp>
        <p:nvSpPr>
          <p:cNvPr id="13" name="TextBox 13"/>
          <p:cNvSpPr txBox="1"/>
          <p:nvPr/>
        </p:nvSpPr>
        <p:spPr>
          <a:xfrm>
            <a:off x="14624447" y="4264813"/>
            <a:ext cx="2193131" cy="580390"/>
          </a:xfrm>
          <a:prstGeom prst="rect">
            <a:avLst/>
          </a:prstGeom>
        </p:spPr>
        <p:txBody>
          <a:bodyPr lIns="0" tIns="0" rIns="0" bIns="0" rtlCol="0" anchor="t">
            <a:spAutoFit/>
          </a:bodyPr>
          <a:lstStyle/>
          <a:p>
            <a:pPr algn="r">
              <a:lnSpc>
                <a:spcPts val="4759"/>
              </a:lnSpc>
              <a:spcBef>
                <a:spcPct val="0"/>
              </a:spcBef>
            </a:pPr>
            <a:r>
              <a:rPr lang="en-US" sz="3399" u="sng">
                <a:solidFill>
                  <a:srgbClr val="000000"/>
                </a:solidFill>
                <a:latin typeface="Canva Sans"/>
                <a:ea typeface="Canva Sans"/>
                <a:cs typeface="Canva Sans"/>
                <a:sym typeface="Canva Sans"/>
                <a:hlinkClick r:id="rId4" tooltip="https://youtu.be/g3HtnS6RJh0?list=PLNgaBT67nukSaEQL8JNksizGqOIYnanPT"/>
              </a:rPr>
              <a:t>Vídeo aquí</a:t>
            </a:r>
          </a:p>
        </p:txBody>
      </p:sp>
      <p:sp>
        <p:nvSpPr>
          <p:cNvPr id="14" name="TextBox 14"/>
          <p:cNvSpPr txBox="1"/>
          <p:nvPr/>
        </p:nvSpPr>
        <p:spPr>
          <a:xfrm>
            <a:off x="5098486" y="3194038"/>
            <a:ext cx="1876574" cy="580390"/>
          </a:xfrm>
          <a:prstGeom prst="rect">
            <a:avLst/>
          </a:prstGeom>
        </p:spPr>
        <p:txBody>
          <a:bodyPr lIns="0" tIns="0" rIns="0" bIns="0" rtlCol="0" anchor="t">
            <a:spAutoFit/>
          </a:bodyPr>
          <a:lstStyle/>
          <a:p>
            <a:pPr algn="ctr">
              <a:lnSpc>
                <a:spcPts val="4759"/>
              </a:lnSpc>
              <a:spcBef>
                <a:spcPct val="0"/>
              </a:spcBef>
            </a:pPr>
            <a:r>
              <a:rPr lang="en-US" sz="3399">
                <a:solidFill>
                  <a:srgbClr val="000000"/>
                </a:solidFill>
                <a:latin typeface="Canva Sans"/>
                <a:ea typeface="Canva Sans"/>
                <a:cs typeface="Canva Sans"/>
                <a:sym typeface="Canva Sans"/>
              </a:rPr>
              <a:t>¿Dudas ?</a:t>
            </a:r>
          </a:p>
        </p:txBody>
      </p:sp>
      <p:sp>
        <p:nvSpPr>
          <p:cNvPr id="15" name="TextBox 15"/>
          <p:cNvSpPr txBox="1"/>
          <p:nvPr/>
        </p:nvSpPr>
        <p:spPr>
          <a:xfrm>
            <a:off x="14624447" y="5247185"/>
            <a:ext cx="1122878" cy="580390"/>
          </a:xfrm>
          <a:prstGeom prst="rect">
            <a:avLst/>
          </a:prstGeom>
        </p:spPr>
        <p:txBody>
          <a:bodyPr lIns="0" tIns="0" rIns="0" bIns="0" rtlCol="0" anchor="t">
            <a:spAutoFit/>
          </a:bodyPr>
          <a:lstStyle/>
          <a:p>
            <a:pPr algn="l">
              <a:lnSpc>
                <a:spcPts val="4759"/>
              </a:lnSpc>
              <a:spcBef>
                <a:spcPct val="0"/>
              </a:spcBef>
            </a:pPr>
            <a:r>
              <a:rPr lang="en-US" sz="3399" u="sng">
                <a:solidFill>
                  <a:srgbClr val="000000"/>
                </a:solidFill>
                <a:latin typeface="Canva Sans"/>
                <a:ea typeface="Canva Sans"/>
                <a:cs typeface="Canva Sans"/>
                <a:sym typeface="Canva Sans"/>
                <a:hlinkClick r:id="rId5" tooltip="https://es.educaplay.com/recursos-educativos/27816541-verdadero_o_falso_buses_y_hardware.html"/>
              </a:rPr>
              <a:t>Quizz</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895350"/>
            <a:ext cx="6533572" cy="1226820"/>
          </a:xfrm>
          <a:prstGeom prst="rect">
            <a:avLst/>
          </a:prstGeom>
        </p:spPr>
        <p:txBody>
          <a:bodyPr lIns="0" tIns="0" rIns="0" bIns="0" rtlCol="0" anchor="t">
            <a:spAutoFit/>
          </a:bodyPr>
          <a:lstStyle/>
          <a:p>
            <a:pPr algn="l">
              <a:lnSpc>
                <a:spcPts val="10080"/>
              </a:lnSpc>
              <a:spcBef>
                <a:spcPct val="0"/>
              </a:spcBef>
            </a:pPr>
            <a:r>
              <a:rPr lang="en-US" sz="7200">
                <a:solidFill>
                  <a:srgbClr val="000000"/>
                </a:solidFill>
                <a:latin typeface="Canva Sans"/>
                <a:ea typeface="Canva Sans"/>
                <a:cs typeface="Canva Sans"/>
                <a:sym typeface="Canva Sans"/>
              </a:rPr>
              <a:t>Competencias</a:t>
            </a:r>
          </a:p>
        </p:txBody>
      </p:sp>
      <p:sp>
        <p:nvSpPr>
          <p:cNvPr id="3" name="TextBox 3"/>
          <p:cNvSpPr txBox="1"/>
          <p:nvPr/>
        </p:nvSpPr>
        <p:spPr>
          <a:xfrm>
            <a:off x="1591607" y="3250585"/>
            <a:ext cx="15104786" cy="5050155"/>
          </a:xfrm>
          <a:prstGeom prst="rect">
            <a:avLst/>
          </a:prstGeom>
        </p:spPr>
        <p:txBody>
          <a:bodyPr lIns="0" tIns="0" rIns="0" bIns="0" rtlCol="0" anchor="t">
            <a:spAutoFit/>
          </a:bodyPr>
          <a:lstStyle/>
          <a:p>
            <a:pPr algn="ctr">
              <a:lnSpc>
                <a:spcPts val="6719"/>
              </a:lnSpc>
              <a:spcBef>
                <a:spcPct val="0"/>
              </a:spcBef>
            </a:pPr>
            <a:r>
              <a:rPr lang="en-US" sz="4800">
                <a:solidFill>
                  <a:srgbClr val="000000"/>
                </a:solidFill>
                <a:latin typeface="Canva Sans"/>
                <a:ea typeface="Canva Sans"/>
                <a:cs typeface="Canva Sans"/>
                <a:sym typeface="Canva Sans"/>
              </a:rPr>
              <a:t>Clasifica los distintos tipos de hardware de procesamiento, almacenamiento y comunicación mediante la identificación de tecnologías como RISC/CISC, memorias, dispositivos de red y buses para diferenciar sus funciones dentro de un sistema computacional</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1736837" y="2877568"/>
            <a:ext cx="5522463" cy="5522463"/>
          </a:xfrm>
          <a:custGeom>
            <a:avLst/>
            <a:gdLst/>
            <a:ahLst/>
            <a:cxnLst/>
            <a:rect l="l" t="t" r="r" b="b"/>
            <a:pathLst>
              <a:path w="5522463" h="5522463">
                <a:moveTo>
                  <a:pt x="0" y="0"/>
                </a:moveTo>
                <a:lnTo>
                  <a:pt x="5522463" y="0"/>
                </a:lnTo>
                <a:lnTo>
                  <a:pt x="5522463" y="5522464"/>
                </a:lnTo>
                <a:lnTo>
                  <a:pt x="0" y="5522464"/>
                </a:lnTo>
                <a:lnTo>
                  <a:pt x="0" y="0"/>
                </a:lnTo>
                <a:close/>
              </a:path>
            </a:pathLst>
          </a:custGeom>
          <a:blipFill>
            <a:blip r:embed="rId2"/>
            <a:stretch>
              <a:fillRect/>
            </a:stretch>
          </a:blipFill>
        </p:spPr>
        <p:txBody>
          <a:bodyPr/>
          <a:lstStyle/>
          <a:p>
            <a:endParaRPr lang="es-GT"/>
          </a:p>
        </p:txBody>
      </p:sp>
      <p:sp>
        <p:nvSpPr>
          <p:cNvPr id="3" name="TextBox 3"/>
          <p:cNvSpPr txBox="1"/>
          <p:nvPr/>
        </p:nvSpPr>
        <p:spPr>
          <a:xfrm>
            <a:off x="4895701" y="942975"/>
            <a:ext cx="8496598" cy="811530"/>
          </a:xfrm>
          <a:prstGeom prst="rect">
            <a:avLst/>
          </a:prstGeom>
        </p:spPr>
        <p:txBody>
          <a:bodyPr lIns="0" tIns="0" rIns="0" bIns="0" rtlCol="0" anchor="t">
            <a:spAutoFit/>
          </a:bodyPr>
          <a:lstStyle/>
          <a:p>
            <a:pPr algn="ctr">
              <a:lnSpc>
                <a:spcPts val="6719"/>
              </a:lnSpc>
              <a:spcBef>
                <a:spcPct val="0"/>
              </a:spcBef>
            </a:pPr>
            <a:r>
              <a:rPr lang="en-US" sz="4800">
                <a:solidFill>
                  <a:srgbClr val="000000"/>
                </a:solidFill>
                <a:latin typeface="Canva Sans"/>
                <a:ea typeface="Canva Sans"/>
                <a:cs typeface="Canva Sans"/>
                <a:sym typeface="Canva Sans"/>
              </a:rPr>
              <a:t>Arquitectura vs Organización</a:t>
            </a:r>
          </a:p>
        </p:txBody>
      </p:sp>
      <p:sp>
        <p:nvSpPr>
          <p:cNvPr id="4" name="TextBox 4"/>
          <p:cNvSpPr txBox="1"/>
          <p:nvPr/>
        </p:nvSpPr>
        <p:spPr>
          <a:xfrm>
            <a:off x="1028700" y="2680970"/>
            <a:ext cx="9745808" cy="2957830"/>
          </a:xfrm>
          <a:prstGeom prst="rect">
            <a:avLst/>
          </a:prstGeom>
        </p:spPr>
        <p:txBody>
          <a:bodyPr lIns="0" tIns="0" rIns="0" bIns="0" rtlCol="0" anchor="t">
            <a:spAutoFit/>
          </a:bodyPr>
          <a:lstStyle/>
          <a:p>
            <a:pPr marL="604519" lvl="1" indent="-302260" algn="l">
              <a:lnSpc>
                <a:spcPts val="3919"/>
              </a:lnSpc>
              <a:spcBef>
                <a:spcPct val="0"/>
              </a:spcBef>
              <a:buFont typeface="Arial"/>
              <a:buChar char="•"/>
            </a:pPr>
            <a:r>
              <a:rPr lang="en-US" sz="2799">
                <a:solidFill>
                  <a:srgbClr val="000000"/>
                </a:solidFill>
                <a:latin typeface="Canva Sans"/>
                <a:ea typeface="Canva Sans"/>
                <a:cs typeface="Canva Sans"/>
                <a:sym typeface="Canva Sans"/>
              </a:rPr>
              <a:t>Arquitectura de Computadoras: Se refiere a los atributos visibles para el programador, es decir, aquellos aspectos que tienen un impacto directo en la ejecución lógica de un programa (conjunto de instrucciones, número de bits para representar datos, mecanismos de E/S).</a:t>
            </a:r>
          </a:p>
        </p:txBody>
      </p:sp>
      <p:sp>
        <p:nvSpPr>
          <p:cNvPr id="5" name="TextBox 5"/>
          <p:cNvSpPr txBox="1"/>
          <p:nvPr/>
        </p:nvSpPr>
        <p:spPr>
          <a:xfrm>
            <a:off x="1028700" y="6186522"/>
            <a:ext cx="9745808" cy="2462530"/>
          </a:xfrm>
          <a:prstGeom prst="rect">
            <a:avLst/>
          </a:prstGeom>
        </p:spPr>
        <p:txBody>
          <a:bodyPr lIns="0" tIns="0" rIns="0" bIns="0" rtlCol="0" anchor="t">
            <a:spAutoFit/>
          </a:bodyPr>
          <a:lstStyle/>
          <a:p>
            <a:pPr marL="604519" lvl="1" indent="-302260" algn="l">
              <a:lnSpc>
                <a:spcPts val="3919"/>
              </a:lnSpc>
              <a:spcBef>
                <a:spcPct val="0"/>
              </a:spcBef>
              <a:buFont typeface="Arial"/>
              <a:buChar char="•"/>
            </a:pPr>
            <a:r>
              <a:rPr lang="en-US" sz="2799">
                <a:solidFill>
                  <a:srgbClr val="000000"/>
                </a:solidFill>
                <a:latin typeface="Canva Sans"/>
                <a:ea typeface="Canva Sans"/>
                <a:cs typeface="Canva Sans"/>
                <a:sym typeface="Canva Sans"/>
              </a:rPr>
              <a:t>Organización de Computadoras: Se refiere a las unidades operacionales y sus interconexiones que realizan las especificaciones arquitectónicas (señales de control, interfaces entre la computadora y periféricos, tecnología de memoria).</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796133" y="6215343"/>
            <a:ext cx="6356958" cy="1699335"/>
          </a:xfrm>
          <a:custGeom>
            <a:avLst/>
            <a:gdLst/>
            <a:ahLst/>
            <a:cxnLst/>
            <a:rect l="l" t="t" r="r" b="b"/>
            <a:pathLst>
              <a:path w="6356958" h="1699335">
                <a:moveTo>
                  <a:pt x="0" y="0"/>
                </a:moveTo>
                <a:lnTo>
                  <a:pt x="6356959" y="0"/>
                </a:lnTo>
                <a:lnTo>
                  <a:pt x="6356959" y="1699334"/>
                </a:lnTo>
                <a:lnTo>
                  <a:pt x="0" y="1699334"/>
                </a:lnTo>
                <a:lnTo>
                  <a:pt x="0" y="0"/>
                </a:lnTo>
                <a:close/>
              </a:path>
            </a:pathLst>
          </a:custGeom>
          <a:blipFill>
            <a:blip r:embed="rId2"/>
            <a:stretch>
              <a:fillRect t="-146865" b="-127219"/>
            </a:stretch>
          </a:blipFill>
        </p:spPr>
        <p:txBody>
          <a:bodyPr/>
          <a:lstStyle/>
          <a:p>
            <a:endParaRPr lang="es-GT"/>
          </a:p>
        </p:txBody>
      </p:sp>
      <p:sp>
        <p:nvSpPr>
          <p:cNvPr id="3" name="TextBox 3"/>
          <p:cNvSpPr txBox="1"/>
          <p:nvPr/>
        </p:nvSpPr>
        <p:spPr>
          <a:xfrm>
            <a:off x="6650385" y="942975"/>
            <a:ext cx="4987230" cy="811530"/>
          </a:xfrm>
          <a:prstGeom prst="rect">
            <a:avLst/>
          </a:prstGeom>
        </p:spPr>
        <p:txBody>
          <a:bodyPr lIns="0" tIns="0" rIns="0" bIns="0" rtlCol="0" anchor="t">
            <a:spAutoFit/>
          </a:bodyPr>
          <a:lstStyle/>
          <a:p>
            <a:pPr algn="ctr">
              <a:lnSpc>
                <a:spcPts val="6719"/>
              </a:lnSpc>
              <a:spcBef>
                <a:spcPct val="0"/>
              </a:spcBef>
            </a:pPr>
            <a:r>
              <a:rPr lang="en-US" sz="4800">
                <a:solidFill>
                  <a:srgbClr val="000000"/>
                </a:solidFill>
                <a:latin typeface="Canva Sans"/>
                <a:ea typeface="Canva Sans"/>
                <a:cs typeface="Canva Sans"/>
                <a:sym typeface="Canva Sans"/>
              </a:rPr>
              <a:t>Tecnologías RISC</a:t>
            </a:r>
          </a:p>
        </p:txBody>
      </p:sp>
      <p:sp>
        <p:nvSpPr>
          <p:cNvPr id="4" name="TextBox 4"/>
          <p:cNvSpPr txBox="1"/>
          <p:nvPr/>
        </p:nvSpPr>
        <p:spPr>
          <a:xfrm>
            <a:off x="1028700" y="2653549"/>
            <a:ext cx="16230600" cy="1471930"/>
          </a:xfrm>
          <a:prstGeom prst="rect">
            <a:avLst/>
          </a:prstGeom>
        </p:spPr>
        <p:txBody>
          <a:bodyPr lIns="0" tIns="0" rIns="0" bIns="0" rtlCol="0" anchor="t">
            <a:spAutoFit/>
          </a:bodyPr>
          <a:lstStyle/>
          <a:p>
            <a:pPr algn="just">
              <a:lnSpc>
                <a:spcPts val="3919"/>
              </a:lnSpc>
              <a:spcBef>
                <a:spcPct val="0"/>
              </a:spcBef>
            </a:pPr>
            <a:r>
              <a:rPr lang="en-US" sz="2799">
                <a:solidFill>
                  <a:srgbClr val="000000"/>
                </a:solidFill>
                <a:latin typeface="Canva Sans"/>
                <a:ea typeface="Canva Sans"/>
                <a:cs typeface="Canva Sans"/>
                <a:sym typeface="Canva Sans"/>
              </a:rPr>
              <a:t>RISC (Reduced Instruction Set Computer) es una filosofía de diseño de procesadores que utiliza un conjunto simplificado de instrucciones. Cada instrucción ejecuta operaciones básicas en un solo ciclo de reloj.</a:t>
            </a:r>
          </a:p>
        </p:txBody>
      </p:sp>
      <p:sp>
        <p:nvSpPr>
          <p:cNvPr id="5" name="TextBox 5"/>
          <p:cNvSpPr txBox="1"/>
          <p:nvPr/>
        </p:nvSpPr>
        <p:spPr>
          <a:xfrm>
            <a:off x="1028700" y="4814570"/>
            <a:ext cx="9097166" cy="4443730"/>
          </a:xfrm>
          <a:prstGeom prst="rect">
            <a:avLst/>
          </a:prstGeom>
        </p:spPr>
        <p:txBody>
          <a:bodyPr lIns="0" tIns="0" rIns="0" bIns="0" rtlCol="0" anchor="t">
            <a:spAutoFit/>
          </a:bodyPr>
          <a:lstStyle/>
          <a:p>
            <a:pPr algn="just">
              <a:lnSpc>
                <a:spcPts val="3919"/>
              </a:lnSpc>
            </a:pPr>
            <a:r>
              <a:rPr lang="en-US" sz="2799">
                <a:solidFill>
                  <a:srgbClr val="000000"/>
                </a:solidFill>
                <a:latin typeface="Canva Sans"/>
                <a:ea typeface="Canva Sans"/>
                <a:cs typeface="Canva Sans"/>
                <a:sym typeface="Canva Sans"/>
              </a:rPr>
              <a:t>Características principales:</a:t>
            </a:r>
          </a:p>
          <a:p>
            <a:pPr algn="just">
              <a:lnSpc>
                <a:spcPts val="3919"/>
              </a:lnSpc>
            </a:pPr>
            <a:endParaRPr lang="en-US" sz="2799">
              <a:solidFill>
                <a:srgbClr val="000000"/>
              </a:solidFill>
              <a:latin typeface="Canva Sans"/>
              <a:ea typeface="Canva Sans"/>
              <a:cs typeface="Canva Sans"/>
              <a:sym typeface="Canva Sans"/>
            </a:endParaRPr>
          </a:p>
          <a:p>
            <a:pPr marL="604519" lvl="1" indent="-302260" algn="just">
              <a:lnSpc>
                <a:spcPts val="3919"/>
              </a:lnSpc>
              <a:spcBef>
                <a:spcPct val="0"/>
              </a:spcBef>
              <a:buFont typeface="Arial"/>
              <a:buChar char="•"/>
            </a:pPr>
            <a:r>
              <a:rPr lang="en-US" sz="2799">
                <a:solidFill>
                  <a:srgbClr val="000000"/>
                </a:solidFill>
                <a:latin typeface="Canva Sans"/>
                <a:ea typeface="Canva Sans"/>
                <a:cs typeface="Canva Sans"/>
                <a:sym typeface="Canva Sans"/>
              </a:rPr>
              <a:t>Instrucciones de tamaño fijo</a:t>
            </a:r>
          </a:p>
          <a:p>
            <a:pPr marL="604519" lvl="1" indent="-302260" algn="just">
              <a:lnSpc>
                <a:spcPts val="3919"/>
              </a:lnSpc>
              <a:spcBef>
                <a:spcPct val="0"/>
              </a:spcBef>
              <a:buFont typeface="Arial"/>
              <a:buChar char="•"/>
            </a:pPr>
            <a:r>
              <a:rPr lang="en-US" sz="2799">
                <a:solidFill>
                  <a:srgbClr val="000000"/>
                </a:solidFill>
                <a:latin typeface="Canva Sans"/>
                <a:ea typeface="Canva Sans"/>
                <a:cs typeface="Canva Sans"/>
                <a:sym typeface="Canva Sans"/>
              </a:rPr>
              <a:t>Formato de instrucción uniforme</a:t>
            </a:r>
          </a:p>
          <a:p>
            <a:pPr marL="604519" lvl="1" indent="-302260" algn="just">
              <a:lnSpc>
                <a:spcPts val="3919"/>
              </a:lnSpc>
              <a:spcBef>
                <a:spcPct val="0"/>
              </a:spcBef>
              <a:buFont typeface="Arial"/>
              <a:buChar char="•"/>
            </a:pPr>
            <a:r>
              <a:rPr lang="en-US" sz="2799">
                <a:solidFill>
                  <a:srgbClr val="000000"/>
                </a:solidFill>
                <a:latin typeface="Canva Sans"/>
                <a:ea typeface="Canva Sans"/>
                <a:cs typeface="Canva Sans"/>
                <a:sym typeface="Canva Sans"/>
              </a:rPr>
              <a:t>Solo las instrucciones LOAD y STORE acceden a memoria</a:t>
            </a:r>
          </a:p>
          <a:p>
            <a:pPr marL="604519" lvl="1" indent="-302260" algn="just">
              <a:lnSpc>
                <a:spcPts val="3919"/>
              </a:lnSpc>
              <a:spcBef>
                <a:spcPct val="0"/>
              </a:spcBef>
              <a:buFont typeface="Arial"/>
              <a:buChar char="•"/>
            </a:pPr>
            <a:r>
              <a:rPr lang="en-US" sz="2799">
                <a:solidFill>
                  <a:srgbClr val="000000"/>
                </a:solidFill>
                <a:latin typeface="Canva Sans"/>
                <a:ea typeface="Canva Sans"/>
                <a:cs typeface="Canva Sans"/>
                <a:sym typeface="Canva Sans"/>
              </a:rPr>
              <a:t>Numerosos registros de propósito general</a:t>
            </a:r>
          </a:p>
          <a:p>
            <a:pPr marL="604519" lvl="1" indent="-302260" algn="just">
              <a:lnSpc>
                <a:spcPts val="3919"/>
              </a:lnSpc>
              <a:spcBef>
                <a:spcPct val="0"/>
              </a:spcBef>
              <a:buFont typeface="Arial"/>
              <a:buChar char="•"/>
            </a:pPr>
            <a:r>
              <a:rPr lang="en-US" sz="2799">
                <a:solidFill>
                  <a:srgbClr val="000000"/>
                </a:solidFill>
                <a:latin typeface="Canva Sans"/>
                <a:ea typeface="Canva Sans"/>
                <a:cs typeface="Canva Sans"/>
                <a:sym typeface="Canva Sans"/>
              </a:rPr>
              <a:t>Pipeline eficiente</a:t>
            </a:r>
          </a:p>
          <a:p>
            <a:pPr algn="just">
              <a:lnSpc>
                <a:spcPts val="3919"/>
              </a:lnSpc>
              <a:spcBef>
                <a:spcPct val="0"/>
              </a:spcBef>
            </a:pPr>
            <a:endParaRPr lang="en-US" sz="2799">
              <a:solidFill>
                <a:srgbClr val="000000"/>
              </a:solidFill>
              <a:latin typeface="Canva Sans"/>
              <a:ea typeface="Canva Sans"/>
              <a:cs typeface="Canva Sans"/>
              <a:sym typeface="Canva San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526721" y="4311549"/>
            <a:ext cx="5234558" cy="3818416"/>
          </a:xfrm>
          <a:custGeom>
            <a:avLst/>
            <a:gdLst/>
            <a:ahLst/>
            <a:cxnLst/>
            <a:rect l="l" t="t" r="r" b="b"/>
            <a:pathLst>
              <a:path w="5234558" h="3818416">
                <a:moveTo>
                  <a:pt x="0" y="0"/>
                </a:moveTo>
                <a:lnTo>
                  <a:pt x="5234558" y="0"/>
                </a:lnTo>
                <a:lnTo>
                  <a:pt x="5234558" y="3818416"/>
                </a:lnTo>
                <a:lnTo>
                  <a:pt x="0" y="3818416"/>
                </a:lnTo>
                <a:lnTo>
                  <a:pt x="0" y="0"/>
                </a:lnTo>
                <a:close/>
              </a:path>
            </a:pathLst>
          </a:custGeom>
          <a:blipFill>
            <a:blip r:embed="rId2"/>
            <a:stretch>
              <a:fillRect l="-5560" t="-25148" r="-6660" b="-28693"/>
            </a:stretch>
          </a:blipFill>
        </p:spPr>
        <p:txBody>
          <a:bodyPr/>
          <a:lstStyle/>
          <a:p>
            <a:endParaRPr lang="es-GT"/>
          </a:p>
        </p:txBody>
      </p:sp>
      <p:sp>
        <p:nvSpPr>
          <p:cNvPr id="3" name="TextBox 3"/>
          <p:cNvSpPr txBox="1"/>
          <p:nvPr/>
        </p:nvSpPr>
        <p:spPr>
          <a:xfrm>
            <a:off x="6650385" y="942975"/>
            <a:ext cx="4987230" cy="811530"/>
          </a:xfrm>
          <a:prstGeom prst="rect">
            <a:avLst/>
          </a:prstGeom>
        </p:spPr>
        <p:txBody>
          <a:bodyPr lIns="0" tIns="0" rIns="0" bIns="0" rtlCol="0" anchor="t">
            <a:spAutoFit/>
          </a:bodyPr>
          <a:lstStyle/>
          <a:p>
            <a:pPr algn="ctr">
              <a:lnSpc>
                <a:spcPts val="6719"/>
              </a:lnSpc>
              <a:spcBef>
                <a:spcPct val="0"/>
              </a:spcBef>
            </a:pPr>
            <a:r>
              <a:rPr lang="en-US" sz="4800">
                <a:solidFill>
                  <a:srgbClr val="000000"/>
                </a:solidFill>
                <a:latin typeface="Canva Sans"/>
                <a:ea typeface="Canva Sans"/>
                <a:cs typeface="Canva Sans"/>
                <a:sym typeface="Canva Sans"/>
              </a:rPr>
              <a:t>Tecnologías RISC</a:t>
            </a:r>
          </a:p>
        </p:txBody>
      </p:sp>
      <p:sp>
        <p:nvSpPr>
          <p:cNvPr id="4" name="TextBox 4"/>
          <p:cNvSpPr txBox="1"/>
          <p:nvPr/>
        </p:nvSpPr>
        <p:spPr>
          <a:xfrm>
            <a:off x="1028700" y="2225159"/>
            <a:ext cx="5738068" cy="481330"/>
          </a:xfrm>
          <a:prstGeom prst="rect">
            <a:avLst/>
          </a:prstGeom>
        </p:spPr>
        <p:txBody>
          <a:bodyPr lIns="0" tIns="0" rIns="0" bIns="0" rtlCol="0" anchor="t">
            <a:spAutoFit/>
          </a:bodyPr>
          <a:lstStyle/>
          <a:p>
            <a:pPr algn="ctr">
              <a:lnSpc>
                <a:spcPts val="3919"/>
              </a:lnSpc>
              <a:spcBef>
                <a:spcPct val="0"/>
              </a:spcBef>
            </a:pPr>
            <a:r>
              <a:rPr lang="en-US" sz="2799">
                <a:solidFill>
                  <a:srgbClr val="000000"/>
                </a:solidFill>
                <a:latin typeface="Canva Sans"/>
                <a:ea typeface="Canva Sans"/>
                <a:cs typeface="Canva Sans"/>
                <a:sym typeface="Canva Sans"/>
              </a:rPr>
              <a:t>Elementos que caracterizan RISC:</a:t>
            </a:r>
          </a:p>
        </p:txBody>
      </p:sp>
      <p:sp>
        <p:nvSpPr>
          <p:cNvPr id="5" name="AutoShape 5"/>
          <p:cNvSpPr/>
          <p:nvPr/>
        </p:nvSpPr>
        <p:spPr>
          <a:xfrm flipV="1">
            <a:off x="1245860" y="6163608"/>
            <a:ext cx="4987859" cy="57149"/>
          </a:xfrm>
          <a:prstGeom prst="line">
            <a:avLst/>
          </a:prstGeom>
          <a:ln w="38100" cap="flat">
            <a:solidFill>
              <a:srgbClr val="B0B0B0"/>
            </a:solidFill>
            <a:prstDash val="solid"/>
            <a:headEnd type="none" w="sm" len="sm"/>
            <a:tailEnd type="none" w="sm" len="sm"/>
          </a:ln>
        </p:spPr>
        <p:txBody>
          <a:bodyPr/>
          <a:lstStyle/>
          <a:p>
            <a:endParaRPr lang="es-GT"/>
          </a:p>
        </p:txBody>
      </p:sp>
      <p:sp>
        <p:nvSpPr>
          <p:cNvPr id="6" name="AutoShape 6"/>
          <p:cNvSpPr/>
          <p:nvPr/>
        </p:nvSpPr>
        <p:spPr>
          <a:xfrm flipV="1">
            <a:off x="12274301" y="6220757"/>
            <a:ext cx="4984999" cy="57149"/>
          </a:xfrm>
          <a:prstGeom prst="line">
            <a:avLst/>
          </a:prstGeom>
          <a:ln w="38100" cap="flat">
            <a:solidFill>
              <a:srgbClr val="B0B0B0"/>
            </a:solidFill>
            <a:prstDash val="solid"/>
            <a:headEnd type="none" w="sm" len="sm"/>
            <a:tailEnd type="none" w="sm" len="sm"/>
          </a:ln>
        </p:spPr>
        <p:txBody>
          <a:bodyPr/>
          <a:lstStyle/>
          <a:p>
            <a:endParaRPr lang="es-GT"/>
          </a:p>
        </p:txBody>
      </p:sp>
      <p:sp>
        <p:nvSpPr>
          <p:cNvPr id="7" name="TextBox 7"/>
          <p:cNvSpPr txBox="1"/>
          <p:nvPr/>
        </p:nvSpPr>
        <p:spPr>
          <a:xfrm>
            <a:off x="1245860" y="3336806"/>
            <a:ext cx="5520908" cy="2325370"/>
          </a:xfrm>
          <a:prstGeom prst="rect">
            <a:avLst/>
          </a:prstGeom>
        </p:spPr>
        <p:txBody>
          <a:bodyPr lIns="0" tIns="0" rIns="0" bIns="0" rtlCol="0" anchor="t">
            <a:spAutoFit/>
          </a:bodyPr>
          <a:lstStyle/>
          <a:p>
            <a:pPr marL="474981" lvl="1" indent="-237491" algn="l">
              <a:lnSpc>
                <a:spcPts val="3080"/>
              </a:lnSpc>
              <a:buAutoNum type="arabicPeriod"/>
            </a:pPr>
            <a:r>
              <a:rPr lang="en-US" sz="2200">
                <a:solidFill>
                  <a:srgbClr val="000000"/>
                </a:solidFill>
                <a:latin typeface="Canva Sans"/>
                <a:ea typeface="Canva Sans"/>
                <a:cs typeface="Canva Sans"/>
                <a:sym typeface="Canva Sans"/>
              </a:rPr>
              <a:t>Conjunto de Instrucciones Reducido:</a:t>
            </a:r>
          </a:p>
          <a:p>
            <a:pPr algn="l">
              <a:lnSpc>
                <a:spcPts val="3080"/>
              </a:lnSpc>
              <a:spcBef>
                <a:spcPct val="0"/>
              </a:spcBef>
            </a:pPr>
            <a:endParaRPr lang="en-US" sz="2200">
              <a:solidFill>
                <a:srgbClr val="000000"/>
              </a:solidFill>
              <a:latin typeface="Canva Sans"/>
              <a:ea typeface="Canva Sans"/>
              <a:cs typeface="Canva Sans"/>
              <a:sym typeface="Canva Sans"/>
            </a:endParaRPr>
          </a:p>
          <a:p>
            <a:pPr marL="474981" lvl="1" indent="-237491" algn="l">
              <a:lnSpc>
                <a:spcPts val="3080"/>
              </a:lnSpc>
              <a:spcBef>
                <a:spcPct val="0"/>
              </a:spcBef>
              <a:buFont typeface="Arial"/>
              <a:buChar char="•"/>
            </a:pPr>
            <a:r>
              <a:rPr lang="en-US" sz="2200">
                <a:solidFill>
                  <a:srgbClr val="000000"/>
                </a:solidFill>
                <a:latin typeface="Canva Sans"/>
                <a:ea typeface="Canva Sans"/>
                <a:cs typeface="Canva Sans"/>
                <a:sym typeface="Canva Sans"/>
              </a:rPr>
              <a:t>Típicamente menos de 100 instrucciones</a:t>
            </a:r>
          </a:p>
          <a:p>
            <a:pPr marL="474981" lvl="1" indent="-237491" algn="l">
              <a:lnSpc>
                <a:spcPts val="3080"/>
              </a:lnSpc>
              <a:spcBef>
                <a:spcPct val="0"/>
              </a:spcBef>
              <a:buFont typeface="Arial"/>
              <a:buChar char="•"/>
            </a:pPr>
            <a:r>
              <a:rPr lang="en-US" sz="2200">
                <a:solidFill>
                  <a:srgbClr val="000000"/>
                </a:solidFill>
                <a:latin typeface="Canva Sans"/>
                <a:ea typeface="Canva Sans"/>
                <a:cs typeface="Canva Sans"/>
                <a:sym typeface="Canva Sans"/>
              </a:rPr>
              <a:t>Operaciones simples (ADD, SUB, LOAD, STORE)</a:t>
            </a:r>
          </a:p>
        </p:txBody>
      </p:sp>
      <p:sp>
        <p:nvSpPr>
          <p:cNvPr id="8" name="TextBox 8"/>
          <p:cNvSpPr txBox="1"/>
          <p:nvPr/>
        </p:nvSpPr>
        <p:spPr>
          <a:xfrm>
            <a:off x="12271441" y="3532069"/>
            <a:ext cx="4987859" cy="1934845"/>
          </a:xfrm>
          <a:prstGeom prst="rect">
            <a:avLst/>
          </a:prstGeom>
        </p:spPr>
        <p:txBody>
          <a:bodyPr lIns="0" tIns="0" rIns="0" bIns="0" rtlCol="0" anchor="t">
            <a:spAutoFit/>
          </a:bodyPr>
          <a:lstStyle/>
          <a:p>
            <a:pPr algn="l">
              <a:lnSpc>
                <a:spcPts val="3080"/>
              </a:lnSpc>
              <a:spcBef>
                <a:spcPct val="0"/>
              </a:spcBef>
            </a:pPr>
            <a:r>
              <a:rPr lang="en-US" sz="2200">
                <a:solidFill>
                  <a:srgbClr val="000000"/>
                </a:solidFill>
                <a:latin typeface="Canva Sans"/>
                <a:ea typeface="Canva Sans"/>
                <a:cs typeface="Canva Sans"/>
                <a:sym typeface="Canva Sans"/>
              </a:rPr>
              <a:t>  3. Pipeline Profundo:</a:t>
            </a:r>
          </a:p>
          <a:p>
            <a:pPr algn="l">
              <a:lnSpc>
                <a:spcPts val="3080"/>
              </a:lnSpc>
              <a:spcBef>
                <a:spcPct val="0"/>
              </a:spcBef>
            </a:pPr>
            <a:endParaRPr lang="en-US" sz="2200">
              <a:solidFill>
                <a:srgbClr val="000000"/>
              </a:solidFill>
              <a:latin typeface="Canva Sans"/>
              <a:ea typeface="Canva Sans"/>
              <a:cs typeface="Canva Sans"/>
              <a:sym typeface="Canva Sans"/>
            </a:endParaRPr>
          </a:p>
          <a:p>
            <a:pPr marL="474981" lvl="1" indent="-237491" algn="l">
              <a:lnSpc>
                <a:spcPts val="3080"/>
              </a:lnSpc>
              <a:spcBef>
                <a:spcPct val="0"/>
              </a:spcBef>
              <a:buFont typeface="Arial"/>
              <a:buChar char="•"/>
            </a:pPr>
            <a:r>
              <a:rPr lang="en-US" sz="2200">
                <a:solidFill>
                  <a:srgbClr val="000000"/>
                </a:solidFill>
                <a:latin typeface="Canva Sans"/>
                <a:ea typeface="Canva Sans"/>
                <a:cs typeface="Canva Sans"/>
                <a:sym typeface="Canva Sans"/>
              </a:rPr>
              <a:t>Permite ejecutar múltiples instrucciones simultáneamente</a:t>
            </a:r>
          </a:p>
          <a:p>
            <a:pPr marL="474981" lvl="1" indent="-237491" algn="l">
              <a:lnSpc>
                <a:spcPts val="3080"/>
              </a:lnSpc>
              <a:spcBef>
                <a:spcPct val="0"/>
              </a:spcBef>
              <a:buFont typeface="Arial"/>
              <a:buChar char="•"/>
            </a:pPr>
            <a:r>
              <a:rPr lang="en-US" sz="2200">
                <a:solidFill>
                  <a:srgbClr val="000000"/>
                </a:solidFill>
                <a:latin typeface="Canva Sans"/>
                <a:ea typeface="Canva Sans"/>
                <a:cs typeface="Canva Sans"/>
                <a:sym typeface="Canva Sans"/>
              </a:rPr>
              <a:t>Mayor throughput</a:t>
            </a:r>
          </a:p>
        </p:txBody>
      </p:sp>
      <p:sp>
        <p:nvSpPr>
          <p:cNvPr id="9" name="TextBox 9"/>
          <p:cNvSpPr txBox="1"/>
          <p:nvPr/>
        </p:nvSpPr>
        <p:spPr>
          <a:xfrm>
            <a:off x="1245860" y="6779685"/>
            <a:ext cx="4987859" cy="2325370"/>
          </a:xfrm>
          <a:prstGeom prst="rect">
            <a:avLst/>
          </a:prstGeom>
        </p:spPr>
        <p:txBody>
          <a:bodyPr lIns="0" tIns="0" rIns="0" bIns="0" rtlCol="0" anchor="t">
            <a:spAutoFit/>
          </a:bodyPr>
          <a:lstStyle/>
          <a:p>
            <a:pPr algn="l">
              <a:lnSpc>
                <a:spcPts val="3080"/>
              </a:lnSpc>
            </a:pPr>
            <a:r>
              <a:rPr lang="en-US" sz="2200">
                <a:solidFill>
                  <a:srgbClr val="000000"/>
                </a:solidFill>
                <a:latin typeface="Canva Sans"/>
                <a:ea typeface="Canva Sans"/>
                <a:cs typeface="Canva Sans"/>
                <a:sym typeface="Canva Sans"/>
              </a:rPr>
              <a:t>   2. Arquitectura Load/Store:</a:t>
            </a:r>
          </a:p>
          <a:p>
            <a:pPr algn="l">
              <a:lnSpc>
                <a:spcPts val="3080"/>
              </a:lnSpc>
              <a:spcBef>
                <a:spcPct val="0"/>
              </a:spcBef>
            </a:pPr>
            <a:endParaRPr lang="en-US" sz="2200">
              <a:solidFill>
                <a:srgbClr val="000000"/>
              </a:solidFill>
              <a:latin typeface="Canva Sans"/>
              <a:ea typeface="Canva Sans"/>
              <a:cs typeface="Canva Sans"/>
              <a:sym typeface="Canva Sans"/>
            </a:endParaRPr>
          </a:p>
          <a:p>
            <a:pPr marL="474981" lvl="1" indent="-237491" algn="l">
              <a:lnSpc>
                <a:spcPts val="3080"/>
              </a:lnSpc>
              <a:spcBef>
                <a:spcPct val="0"/>
              </a:spcBef>
              <a:buFont typeface="Arial"/>
              <a:buChar char="•"/>
            </a:pPr>
            <a:r>
              <a:rPr lang="en-US" sz="2200">
                <a:solidFill>
                  <a:srgbClr val="000000"/>
                </a:solidFill>
                <a:latin typeface="Canva Sans"/>
                <a:ea typeface="Canva Sans"/>
                <a:cs typeface="Canva Sans"/>
                <a:sym typeface="Canva Sans"/>
              </a:rPr>
              <a:t>Operaciones aritméticas solo en registros</a:t>
            </a:r>
          </a:p>
          <a:p>
            <a:pPr marL="474981" lvl="1" indent="-237491" algn="l">
              <a:lnSpc>
                <a:spcPts val="3080"/>
              </a:lnSpc>
              <a:spcBef>
                <a:spcPct val="0"/>
              </a:spcBef>
              <a:buFont typeface="Arial"/>
              <a:buChar char="•"/>
            </a:pPr>
            <a:r>
              <a:rPr lang="en-US" sz="2200">
                <a:solidFill>
                  <a:srgbClr val="000000"/>
                </a:solidFill>
                <a:latin typeface="Canva Sans"/>
                <a:ea typeface="Canva Sans"/>
                <a:cs typeface="Canva Sans"/>
                <a:sym typeface="Canva Sans"/>
              </a:rPr>
              <a:t>Acceso a memoria solo mediante LOAD/STORE</a:t>
            </a:r>
          </a:p>
        </p:txBody>
      </p:sp>
      <p:sp>
        <p:nvSpPr>
          <p:cNvPr id="10" name="TextBox 10"/>
          <p:cNvSpPr txBox="1"/>
          <p:nvPr/>
        </p:nvSpPr>
        <p:spPr>
          <a:xfrm>
            <a:off x="12271441" y="6779685"/>
            <a:ext cx="4987859" cy="1934845"/>
          </a:xfrm>
          <a:prstGeom prst="rect">
            <a:avLst/>
          </a:prstGeom>
        </p:spPr>
        <p:txBody>
          <a:bodyPr lIns="0" tIns="0" rIns="0" bIns="0" rtlCol="0" anchor="t">
            <a:spAutoFit/>
          </a:bodyPr>
          <a:lstStyle/>
          <a:p>
            <a:pPr algn="l">
              <a:lnSpc>
                <a:spcPts val="3080"/>
              </a:lnSpc>
              <a:spcBef>
                <a:spcPct val="0"/>
              </a:spcBef>
            </a:pPr>
            <a:r>
              <a:rPr lang="en-US" sz="2200">
                <a:solidFill>
                  <a:srgbClr val="000000"/>
                </a:solidFill>
                <a:latin typeface="Canva Sans"/>
                <a:ea typeface="Canva Sans"/>
                <a:cs typeface="Canva Sans"/>
                <a:sym typeface="Canva Sans"/>
              </a:rPr>
              <a:t>   4. Gran Banco de Registros:</a:t>
            </a:r>
          </a:p>
          <a:p>
            <a:pPr algn="l">
              <a:lnSpc>
                <a:spcPts val="3080"/>
              </a:lnSpc>
              <a:spcBef>
                <a:spcPct val="0"/>
              </a:spcBef>
            </a:pPr>
            <a:endParaRPr lang="en-US" sz="2200">
              <a:solidFill>
                <a:srgbClr val="000000"/>
              </a:solidFill>
              <a:latin typeface="Canva Sans"/>
              <a:ea typeface="Canva Sans"/>
              <a:cs typeface="Canva Sans"/>
              <a:sym typeface="Canva Sans"/>
            </a:endParaRPr>
          </a:p>
          <a:p>
            <a:pPr marL="474981" lvl="1" indent="-237491" algn="l">
              <a:lnSpc>
                <a:spcPts val="3080"/>
              </a:lnSpc>
              <a:spcBef>
                <a:spcPct val="0"/>
              </a:spcBef>
              <a:buFont typeface="Arial"/>
              <a:buChar char="•"/>
            </a:pPr>
            <a:r>
              <a:rPr lang="en-US" sz="2200">
                <a:solidFill>
                  <a:srgbClr val="000000"/>
                </a:solidFill>
                <a:latin typeface="Canva Sans"/>
                <a:ea typeface="Canva Sans"/>
                <a:cs typeface="Canva Sans"/>
                <a:sym typeface="Canva Sans"/>
              </a:rPr>
              <a:t>32 o más registros de propósito general</a:t>
            </a:r>
          </a:p>
          <a:p>
            <a:pPr marL="474981" lvl="1" indent="-237491" algn="l">
              <a:lnSpc>
                <a:spcPts val="3080"/>
              </a:lnSpc>
              <a:spcBef>
                <a:spcPct val="0"/>
              </a:spcBef>
              <a:buFont typeface="Arial"/>
              <a:buChar char="•"/>
            </a:pPr>
            <a:r>
              <a:rPr lang="en-US" sz="2200">
                <a:solidFill>
                  <a:srgbClr val="000000"/>
                </a:solidFill>
                <a:latin typeface="Canva Sans"/>
                <a:ea typeface="Canva Sans"/>
                <a:cs typeface="Canva Sans"/>
                <a:sym typeface="Canva Sans"/>
              </a:rPr>
              <a:t>Reduce accesos a memoria</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565867" y="5957917"/>
            <a:ext cx="6356958" cy="2655211"/>
          </a:xfrm>
          <a:custGeom>
            <a:avLst/>
            <a:gdLst/>
            <a:ahLst/>
            <a:cxnLst/>
            <a:rect l="l" t="t" r="r" b="b"/>
            <a:pathLst>
              <a:path w="6356958" h="2655211">
                <a:moveTo>
                  <a:pt x="0" y="0"/>
                </a:moveTo>
                <a:lnTo>
                  <a:pt x="6356959" y="0"/>
                </a:lnTo>
                <a:lnTo>
                  <a:pt x="6356959" y="2655210"/>
                </a:lnTo>
                <a:lnTo>
                  <a:pt x="0" y="2655210"/>
                </a:lnTo>
                <a:lnTo>
                  <a:pt x="0" y="0"/>
                </a:lnTo>
                <a:close/>
              </a:path>
            </a:pathLst>
          </a:custGeom>
          <a:blipFill>
            <a:blip r:embed="rId2"/>
            <a:stretch>
              <a:fillRect t="-74730" b="-64684"/>
            </a:stretch>
          </a:blipFill>
        </p:spPr>
        <p:txBody>
          <a:bodyPr/>
          <a:lstStyle/>
          <a:p>
            <a:endParaRPr lang="es-GT"/>
          </a:p>
        </p:txBody>
      </p:sp>
      <p:sp>
        <p:nvSpPr>
          <p:cNvPr id="3" name="TextBox 3"/>
          <p:cNvSpPr txBox="1"/>
          <p:nvPr/>
        </p:nvSpPr>
        <p:spPr>
          <a:xfrm>
            <a:off x="6650385" y="942975"/>
            <a:ext cx="4987230" cy="811530"/>
          </a:xfrm>
          <a:prstGeom prst="rect">
            <a:avLst/>
          </a:prstGeom>
        </p:spPr>
        <p:txBody>
          <a:bodyPr lIns="0" tIns="0" rIns="0" bIns="0" rtlCol="0" anchor="t">
            <a:spAutoFit/>
          </a:bodyPr>
          <a:lstStyle/>
          <a:p>
            <a:pPr algn="ctr">
              <a:lnSpc>
                <a:spcPts val="6719"/>
              </a:lnSpc>
              <a:spcBef>
                <a:spcPct val="0"/>
              </a:spcBef>
            </a:pPr>
            <a:r>
              <a:rPr lang="en-US" sz="4800">
                <a:solidFill>
                  <a:srgbClr val="000000"/>
                </a:solidFill>
                <a:latin typeface="Canva Sans"/>
                <a:ea typeface="Canva Sans"/>
                <a:cs typeface="Canva Sans"/>
                <a:sym typeface="Canva Sans"/>
              </a:rPr>
              <a:t>Tecnologías RISC</a:t>
            </a:r>
          </a:p>
        </p:txBody>
      </p:sp>
      <p:sp>
        <p:nvSpPr>
          <p:cNvPr id="4" name="TextBox 4"/>
          <p:cNvSpPr txBox="1"/>
          <p:nvPr/>
        </p:nvSpPr>
        <p:spPr>
          <a:xfrm>
            <a:off x="1028700" y="2469227"/>
            <a:ext cx="7999535" cy="6920230"/>
          </a:xfrm>
          <a:prstGeom prst="rect">
            <a:avLst/>
          </a:prstGeom>
        </p:spPr>
        <p:txBody>
          <a:bodyPr lIns="0" tIns="0" rIns="0" bIns="0" rtlCol="0" anchor="t">
            <a:spAutoFit/>
          </a:bodyPr>
          <a:lstStyle/>
          <a:p>
            <a:pPr algn="l">
              <a:lnSpc>
                <a:spcPts val="3919"/>
              </a:lnSpc>
              <a:spcBef>
                <a:spcPct val="0"/>
              </a:spcBef>
            </a:pPr>
            <a:r>
              <a:rPr lang="en-US" sz="2799">
                <a:solidFill>
                  <a:srgbClr val="000000"/>
                </a:solidFill>
                <a:latin typeface="Canva Sans"/>
                <a:ea typeface="Canva Sans"/>
                <a:cs typeface="Canva Sans"/>
                <a:sym typeface="Canva Sans"/>
              </a:rPr>
              <a:t>Ejemplos de Procesadores RISC:</a:t>
            </a:r>
          </a:p>
          <a:p>
            <a:pPr algn="l">
              <a:lnSpc>
                <a:spcPts val="3919"/>
              </a:lnSpc>
              <a:spcBef>
                <a:spcPct val="0"/>
              </a:spcBef>
            </a:pPr>
            <a:endParaRPr lang="en-US" sz="2799">
              <a:solidFill>
                <a:srgbClr val="000000"/>
              </a:solidFill>
              <a:latin typeface="Canva Sans"/>
              <a:ea typeface="Canva Sans"/>
              <a:cs typeface="Canva Sans"/>
              <a:sym typeface="Canva Sans"/>
            </a:endParaRPr>
          </a:p>
          <a:p>
            <a:pPr marL="604519" lvl="1" indent="-302260" algn="l">
              <a:lnSpc>
                <a:spcPts val="3919"/>
              </a:lnSpc>
              <a:spcBef>
                <a:spcPct val="0"/>
              </a:spcBef>
              <a:buAutoNum type="arabicPeriod"/>
            </a:pPr>
            <a:r>
              <a:rPr lang="en-US" sz="2799">
                <a:solidFill>
                  <a:srgbClr val="000000"/>
                </a:solidFill>
                <a:latin typeface="Canva Sans"/>
                <a:ea typeface="Canva Sans"/>
                <a:cs typeface="Canva Sans"/>
                <a:sym typeface="Canva Sans"/>
              </a:rPr>
              <a:t>ARM (Advanced RISC Machine):</a:t>
            </a:r>
          </a:p>
          <a:p>
            <a:pPr marL="1209039" lvl="2" indent="-403013" algn="l">
              <a:lnSpc>
                <a:spcPts val="3919"/>
              </a:lnSpc>
              <a:spcBef>
                <a:spcPct val="0"/>
              </a:spcBef>
              <a:buFont typeface="Arial"/>
              <a:buChar char="⚬"/>
            </a:pPr>
            <a:r>
              <a:rPr lang="en-US" sz="2799">
                <a:solidFill>
                  <a:srgbClr val="000000"/>
                </a:solidFill>
                <a:latin typeface="Canva Sans"/>
                <a:ea typeface="Canva Sans"/>
                <a:cs typeface="Canva Sans"/>
                <a:sym typeface="Canva Sans"/>
              </a:rPr>
              <a:t>Usado en smartphones, tablets</a:t>
            </a:r>
          </a:p>
          <a:p>
            <a:pPr marL="1209039" lvl="2" indent="-403013" algn="l">
              <a:lnSpc>
                <a:spcPts val="3919"/>
              </a:lnSpc>
              <a:spcBef>
                <a:spcPct val="0"/>
              </a:spcBef>
              <a:buFont typeface="Arial"/>
              <a:buChar char="⚬"/>
            </a:pPr>
            <a:r>
              <a:rPr lang="en-US" sz="2799">
                <a:solidFill>
                  <a:srgbClr val="000000"/>
                </a:solidFill>
                <a:latin typeface="Canva Sans"/>
                <a:ea typeface="Canva Sans"/>
                <a:cs typeface="Canva Sans"/>
                <a:sym typeface="Canva Sans"/>
              </a:rPr>
              <a:t>Apple M1/M2/M3, Qualcomm Snapdragon</a:t>
            </a:r>
          </a:p>
          <a:p>
            <a:pPr marL="1209039" lvl="2" indent="-403013" algn="l">
              <a:lnSpc>
                <a:spcPts val="3919"/>
              </a:lnSpc>
              <a:spcBef>
                <a:spcPct val="0"/>
              </a:spcBef>
              <a:buFont typeface="Arial"/>
              <a:buChar char="⚬"/>
            </a:pPr>
            <a:r>
              <a:rPr lang="en-US" sz="2799">
                <a:solidFill>
                  <a:srgbClr val="000000"/>
                </a:solidFill>
                <a:latin typeface="Canva Sans"/>
                <a:ea typeface="Canva Sans"/>
                <a:cs typeface="Canva Sans"/>
                <a:sym typeface="Canva Sans"/>
              </a:rPr>
              <a:t>Eficiencia energética superior</a:t>
            </a:r>
          </a:p>
          <a:p>
            <a:pPr algn="l">
              <a:lnSpc>
                <a:spcPts val="3919"/>
              </a:lnSpc>
              <a:spcBef>
                <a:spcPct val="0"/>
              </a:spcBef>
            </a:pPr>
            <a:r>
              <a:rPr lang="en-US" sz="2799">
                <a:solidFill>
                  <a:srgbClr val="000000"/>
                </a:solidFill>
                <a:latin typeface="Canva Sans"/>
                <a:ea typeface="Canva Sans"/>
                <a:cs typeface="Canva Sans"/>
                <a:sym typeface="Canva Sans"/>
              </a:rPr>
              <a:t>   2. MIPS:</a:t>
            </a:r>
          </a:p>
          <a:p>
            <a:pPr marL="1209039" lvl="2" indent="-403013" algn="l">
              <a:lnSpc>
                <a:spcPts val="3919"/>
              </a:lnSpc>
              <a:spcBef>
                <a:spcPct val="0"/>
              </a:spcBef>
              <a:buFont typeface="Arial"/>
              <a:buChar char="⚬"/>
            </a:pPr>
            <a:r>
              <a:rPr lang="en-US" sz="2799">
                <a:solidFill>
                  <a:srgbClr val="000000"/>
                </a:solidFill>
                <a:latin typeface="Canva Sans"/>
                <a:ea typeface="Canva Sans"/>
                <a:cs typeface="Canva Sans"/>
                <a:sym typeface="Canva Sans"/>
              </a:rPr>
              <a:t>Routers, sistemas embebidos</a:t>
            </a:r>
          </a:p>
          <a:p>
            <a:pPr marL="1209039" lvl="2" indent="-403013" algn="l">
              <a:lnSpc>
                <a:spcPts val="3919"/>
              </a:lnSpc>
              <a:spcBef>
                <a:spcPct val="0"/>
              </a:spcBef>
              <a:buFont typeface="Arial"/>
              <a:buChar char="⚬"/>
            </a:pPr>
            <a:r>
              <a:rPr lang="en-US" sz="2799">
                <a:solidFill>
                  <a:srgbClr val="000000"/>
                </a:solidFill>
                <a:latin typeface="Canva Sans"/>
                <a:ea typeface="Canva Sans"/>
                <a:cs typeface="Canva Sans"/>
                <a:sym typeface="Canva Sans"/>
              </a:rPr>
              <a:t>PlayStation 1 y 2</a:t>
            </a:r>
          </a:p>
          <a:p>
            <a:pPr algn="l">
              <a:lnSpc>
                <a:spcPts val="3919"/>
              </a:lnSpc>
              <a:spcBef>
                <a:spcPct val="0"/>
              </a:spcBef>
            </a:pPr>
            <a:r>
              <a:rPr lang="en-US" sz="2799">
                <a:solidFill>
                  <a:srgbClr val="000000"/>
                </a:solidFill>
                <a:latin typeface="Canva Sans"/>
                <a:ea typeface="Canva Sans"/>
                <a:cs typeface="Canva Sans"/>
                <a:sym typeface="Canva Sans"/>
              </a:rPr>
              <a:t>   3. RISC-V:</a:t>
            </a:r>
          </a:p>
          <a:p>
            <a:pPr marL="1209039" lvl="2" indent="-403013" algn="l">
              <a:lnSpc>
                <a:spcPts val="3919"/>
              </a:lnSpc>
              <a:spcBef>
                <a:spcPct val="0"/>
              </a:spcBef>
              <a:buFont typeface="Arial"/>
              <a:buChar char="⚬"/>
            </a:pPr>
            <a:r>
              <a:rPr lang="en-US" sz="2799">
                <a:solidFill>
                  <a:srgbClr val="000000"/>
                </a:solidFill>
                <a:latin typeface="Canva Sans"/>
                <a:ea typeface="Canva Sans"/>
                <a:cs typeface="Canva Sans"/>
                <a:sym typeface="Canva Sans"/>
              </a:rPr>
              <a:t>Arquitectura open-source</a:t>
            </a:r>
          </a:p>
          <a:p>
            <a:pPr marL="1209039" lvl="2" indent="-403013" algn="l">
              <a:lnSpc>
                <a:spcPts val="3919"/>
              </a:lnSpc>
              <a:spcBef>
                <a:spcPct val="0"/>
              </a:spcBef>
              <a:buFont typeface="Arial"/>
              <a:buChar char="⚬"/>
            </a:pPr>
            <a:r>
              <a:rPr lang="en-US" sz="2799">
                <a:solidFill>
                  <a:srgbClr val="000000"/>
                </a:solidFill>
                <a:latin typeface="Canva Sans"/>
                <a:ea typeface="Canva Sans"/>
                <a:cs typeface="Canva Sans"/>
                <a:sym typeface="Canva Sans"/>
              </a:rPr>
              <a:t>Creciente adopción en IoT y servidores</a:t>
            </a:r>
          </a:p>
          <a:p>
            <a:pPr algn="l">
              <a:lnSpc>
                <a:spcPts val="3919"/>
              </a:lnSpc>
              <a:spcBef>
                <a:spcPct val="0"/>
              </a:spcBef>
            </a:pPr>
            <a:endParaRPr lang="en-US" sz="2799">
              <a:solidFill>
                <a:srgbClr val="000000"/>
              </a:solidFill>
              <a:latin typeface="Canva Sans"/>
              <a:ea typeface="Canva Sans"/>
              <a:cs typeface="Canva Sans"/>
              <a:sym typeface="Canva Sans"/>
            </a:endParaRPr>
          </a:p>
        </p:txBody>
      </p:sp>
      <p:sp>
        <p:nvSpPr>
          <p:cNvPr id="5" name="TextBox 5"/>
          <p:cNvSpPr txBox="1"/>
          <p:nvPr/>
        </p:nvSpPr>
        <p:spPr>
          <a:xfrm>
            <a:off x="10229393" y="3176270"/>
            <a:ext cx="7029907" cy="1967230"/>
          </a:xfrm>
          <a:prstGeom prst="rect">
            <a:avLst/>
          </a:prstGeom>
        </p:spPr>
        <p:txBody>
          <a:bodyPr lIns="0" tIns="0" rIns="0" bIns="0" rtlCol="0" anchor="t">
            <a:spAutoFit/>
          </a:bodyPr>
          <a:lstStyle/>
          <a:p>
            <a:pPr algn="just">
              <a:lnSpc>
                <a:spcPts val="3919"/>
              </a:lnSpc>
              <a:spcBef>
                <a:spcPct val="0"/>
              </a:spcBef>
            </a:pPr>
            <a:r>
              <a:rPr lang="en-US" sz="2799">
                <a:solidFill>
                  <a:srgbClr val="000000"/>
                </a:solidFill>
                <a:latin typeface="Canva Sans"/>
                <a:ea typeface="Canva Sans"/>
                <a:cs typeface="Canva Sans"/>
                <a:sym typeface="Canva Sans"/>
              </a:rPr>
              <a:t>Caso de estudio: El procesador Apple M1 logra un rendimiento excepcional con bajo consumo energético gracias a su arquitectura ARM RISC.</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902342" y="5904304"/>
            <a:ext cx="6356958" cy="2321413"/>
          </a:xfrm>
          <a:custGeom>
            <a:avLst/>
            <a:gdLst/>
            <a:ahLst/>
            <a:cxnLst/>
            <a:rect l="l" t="t" r="r" b="b"/>
            <a:pathLst>
              <a:path w="6356958" h="2321413">
                <a:moveTo>
                  <a:pt x="0" y="0"/>
                </a:moveTo>
                <a:lnTo>
                  <a:pt x="6356958" y="0"/>
                </a:lnTo>
                <a:lnTo>
                  <a:pt x="6356958" y="2321412"/>
                </a:lnTo>
                <a:lnTo>
                  <a:pt x="0" y="2321412"/>
                </a:lnTo>
                <a:lnTo>
                  <a:pt x="0" y="0"/>
                </a:lnTo>
                <a:close/>
              </a:path>
            </a:pathLst>
          </a:custGeom>
          <a:blipFill>
            <a:blip r:embed="rId2"/>
            <a:stretch>
              <a:fillRect t="-89862" b="-83977"/>
            </a:stretch>
          </a:blipFill>
        </p:spPr>
        <p:txBody>
          <a:bodyPr/>
          <a:lstStyle/>
          <a:p>
            <a:endParaRPr lang="es-GT"/>
          </a:p>
        </p:txBody>
      </p:sp>
      <p:sp>
        <p:nvSpPr>
          <p:cNvPr id="3" name="TextBox 3"/>
          <p:cNvSpPr txBox="1"/>
          <p:nvPr/>
        </p:nvSpPr>
        <p:spPr>
          <a:xfrm>
            <a:off x="6638479" y="942975"/>
            <a:ext cx="5011043" cy="811530"/>
          </a:xfrm>
          <a:prstGeom prst="rect">
            <a:avLst/>
          </a:prstGeom>
        </p:spPr>
        <p:txBody>
          <a:bodyPr lIns="0" tIns="0" rIns="0" bIns="0" rtlCol="0" anchor="t">
            <a:spAutoFit/>
          </a:bodyPr>
          <a:lstStyle/>
          <a:p>
            <a:pPr algn="ctr">
              <a:lnSpc>
                <a:spcPts val="6719"/>
              </a:lnSpc>
              <a:spcBef>
                <a:spcPct val="0"/>
              </a:spcBef>
            </a:pPr>
            <a:r>
              <a:rPr lang="en-US" sz="4800">
                <a:solidFill>
                  <a:srgbClr val="000000"/>
                </a:solidFill>
                <a:latin typeface="Canva Sans"/>
                <a:ea typeface="Canva Sans"/>
                <a:cs typeface="Canva Sans"/>
                <a:sym typeface="Canva Sans"/>
              </a:rPr>
              <a:t>Tecnologías CISC</a:t>
            </a:r>
          </a:p>
        </p:txBody>
      </p:sp>
      <p:sp>
        <p:nvSpPr>
          <p:cNvPr id="4" name="TextBox 4"/>
          <p:cNvSpPr txBox="1"/>
          <p:nvPr/>
        </p:nvSpPr>
        <p:spPr>
          <a:xfrm>
            <a:off x="1028700" y="2653549"/>
            <a:ext cx="16230600" cy="1471930"/>
          </a:xfrm>
          <a:prstGeom prst="rect">
            <a:avLst/>
          </a:prstGeom>
        </p:spPr>
        <p:txBody>
          <a:bodyPr lIns="0" tIns="0" rIns="0" bIns="0" rtlCol="0" anchor="t">
            <a:spAutoFit/>
          </a:bodyPr>
          <a:lstStyle/>
          <a:p>
            <a:pPr algn="just">
              <a:lnSpc>
                <a:spcPts val="3919"/>
              </a:lnSpc>
              <a:spcBef>
                <a:spcPct val="0"/>
              </a:spcBef>
            </a:pPr>
            <a:r>
              <a:rPr lang="en-US" sz="2799">
                <a:solidFill>
                  <a:srgbClr val="000000"/>
                </a:solidFill>
                <a:latin typeface="Canva Sans"/>
                <a:ea typeface="Canva Sans"/>
                <a:cs typeface="Canva Sans"/>
                <a:sym typeface="Canva Sans"/>
              </a:rPr>
              <a:t>CISC (Complex Instruction Set Computer) es una filosofía de diseño que utiliza un conjunto amplio de instrucciones complejas. Una sola instrucción puede realizar múltiples operaciones de bajo nivel.</a:t>
            </a:r>
          </a:p>
        </p:txBody>
      </p:sp>
      <p:sp>
        <p:nvSpPr>
          <p:cNvPr id="5" name="TextBox 5"/>
          <p:cNvSpPr txBox="1"/>
          <p:nvPr/>
        </p:nvSpPr>
        <p:spPr>
          <a:xfrm>
            <a:off x="1028700" y="4814570"/>
            <a:ext cx="9097166" cy="4443730"/>
          </a:xfrm>
          <a:prstGeom prst="rect">
            <a:avLst/>
          </a:prstGeom>
        </p:spPr>
        <p:txBody>
          <a:bodyPr lIns="0" tIns="0" rIns="0" bIns="0" rtlCol="0" anchor="t">
            <a:spAutoFit/>
          </a:bodyPr>
          <a:lstStyle/>
          <a:p>
            <a:pPr algn="just">
              <a:lnSpc>
                <a:spcPts val="3919"/>
              </a:lnSpc>
            </a:pPr>
            <a:r>
              <a:rPr lang="en-US" sz="2799">
                <a:solidFill>
                  <a:srgbClr val="000000"/>
                </a:solidFill>
                <a:latin typeface="Canva Sans"/>
                <a:ea typeface="Canva Sans"/>
                <a:cs typeface="Canva Sans"/>
                <a:sym typeface="Canva Sans"/>
              </a:rPr>
              <a:t>Características principales:</a:t>
            </a:r>
          </a:p>
          <a:p>
            <a:pPr algn="just">
              <a:lnSpc>
                <a:spcPts val="3919"/>
              </a:lnSpc>
            </a:pPr>
            <a:endParaRPr lang="en-US" sz="2799">
              <a:solidFill>
                <a:srgbClr val="000000"/>
              </a:solidFill>
              <a:latin typeface="Canva Sans"/>
              <a:ea typeface="Canva Sans"/>
              <a:cs typeface="Canva Sans"/>
              <a:sym typeface="Canva Sans"/>
            </a:endParaRPr>
          </a:p>
          <a:p>
            <a:pPr marL="604519" lvl="1" indent="-302260" algn="just">
              <a:lnSpc>
                <a:spcPts val="3919"/>
              </a:lnSpc>
              <a:spcBef>
                <a:spcPct val="0"/>
              </a:spcBef>
              <a:buFont typeface="Arial"/>
              <a:buChar char="•"/>
            </a:pPr>
            <a:r>
              <a:rPr lang="en-US" sz="2799">
                <a:solidFill>
                  <a:srgbClr val="000000"/>
                </a:solidFill>
                <a:latin typeface="Canva Sans"/>
                <a:ea typeface="Canva Sans"/>
                <a:cs typeface="Canva Sans"/>
                <a:sym typeface="Canva Sans"/>
              </a:rPr>
              <a:t>Instrucciones de longitud variable</a:t>
            </a:r>
          </a:p>
          <a:p>
            <a:pPr marL="604519" lvl="1" indent="-302260" algn="just">
              <a:lnSpc>
                <a:spcPts val="3919"/>
              </a:lnSpc>
              <a:spcBef>
                <a:spcPct val="0"/>
              </a:spcBef>
              <a:buFont typeface="Arial"/>
              <a:buChar char="•"/>
            </a:pPr>
            <a:r>
              <a:rPr lang="en-US" sz="2799">
                <a:solidFill>
                  <a:srgbClr val="000000"/>
                </a:solidFill>
                <a:latin typeface="Canva Sans"/>
                <a:ea typeface="Canva Sans"/>
                <a:cs typeface="Canva Sans"/>
                <a:sym typeface="Canva Sans"/>
              </a:rPr>
              <a:t>Múltiples modos de direccionamiento</a:t>
            </a:r>
          </a:p>
          <a:p>
            <a:pPr marL="604519" lvl="1" indent="-302260" algn="just">
              <a:lnSpc>
                <a:spcPts val="3919"/>
              </a:lnSpc>
              <a:spcBef>
                <a:spcPct val="0"/>
              </a:spcBef>
              <a:buFont typeface="Arial"/>
              <a:buChar char="•"/>
            </a:pPr>
            <a:r>
              <a:rPr lang="en-US" sz="2799">
                <a:solidFill>
                  <a:srgbClr val="000000"/>
                </a:solidFill>
                <a:latin typeface="Canva Sans"/>
                <a:ea typeface="Canva Sans"/>
                <a:cs typeface="Canva Sans"/>
                <a:sym typeface="Canva Sans"/>
              </a:rPr>
              <a:t>Instrucciones pueden acceder directamente a memoria</a:t>
            </a:r>
          </a:p>
          <a:p>
            <a:pPr marL="604519" lvl="1" indent="-302260" algn="just">
              <a:lnSpc>
                <a:spcPts val="3919"/>
              </a:lnSpc>
              <a:spcBef>
                <a:spcPct val="0"/>
              </a:spcBef>
              <a:buFont typeface="Arial"/>
              <a:buChar char="•"/>
            </a:pPr>
            <a:r>
              <a:rPr lang="en-US" sz="2799">
                <a:solidFill>
                  <a:srgbClr val="000000"/>
                </a:solidFill>
                <a:latin typeface="Canva Sans"/>
                <a:ea typeface="Canva Sans"/>
                <a:cs typeface="Canva Sans"/>
                <a:sym typeface="Canva Sans"/>
              </a:rPr>
              <a:t>Menor número de registros</a:t>
            </a:r>
          </a:p>
          <a:p>
            <a:pPr marL="604519" lvl="1" indent="-302260" algn="just">
              <a:lnSpc>
                <a:spcPts val="3919"/>
              </a:lnSpc>
              <a:spcBef>
                <a:spcPct val="0"/>
              </a:spcBef>
              <a:buFont typeface="Arial"/>
              <a:buChar char="•"/>
            </a:pPr>
            <a:r>
              <a:rPr lang="en-US" sz="2799">
                <a:solidFill>
                  <a:srgbClr val="000000"/>
                </a:solidFill>
                <a:latin typeface="Canva Sans"/>
                <a:ea typeface="Canva Sans"/>
                <a:cs typeface="Canva Sans"/>
                <a:sym typeface="Canva Sans"/>
              </a:rPr>
              <a:t>Instrucciones complejas que realizan múltiples operaciones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902342" y="4061870"/>
            <a:ext cx="6356958" cy="3595914"/>
          </a:xfrm>
          <a:custGeom>
            <a:avLst/>
            <a:gdLst/>
            <a:ahLst/>
            <a:cxnLst/>
            <a:rect l="l" t="t" r="r" b="b"/>
            <a:pathLst>
              <a:path w="6356958" h="3595914">
                <a:moveTo>
                  <a:pt x="0" y="0"/>
                </a:moveTo>
                <a:lnTo>
                  <a:pt x="6356958" y="0"/>
                </a:lnTo>
                <a:lnTo>
                  <a:pt x="6356958" y="3595914"/>
                </a:lnTo>
                <a:lnTo>
                  <a:pt x="0" y="3595914"/>
                </a:lnTo>
                <a:lnTo>
                  <a:pt x="0" y="0"/>
                </a:lnTo>
                <a:close/>
              </a:path>
            </a:pathLst>
          </a:custGeom>
          <a:blipFill>
            <a:blip r:embed="rId2"/>
            <a:stretch>
              <a:fillRect t="-27210" b="-49572"/>
            </a:stretch>
          </a:blipFill>
        </p:spPr>
        <p:txBody>
          <a:bodyPr/>
          <a:lstStyle/>
          <a:p>
            <a:endParaRPr lang="es-GT"/>
          </a:p>
        </p:txBody>
      </p:sp>
      <p:sp>
        <p:nvSpPr>
          <p:cNvPr id="3" name="TextBox 3"/>
          <p:cNvSpPr txBox="1"/>
          <p:nvPr/>
        </p:nvSpPr>
        <p:spPr>
          <a:xfrm>
            <a:off x="6638479" y="942975"/>
            <a:ext cx="5011043" cy="811530"/>
          </a:xfrm>
          <a:prstGeom prst="rect">
            <a:avLst/>
          </a:prstGeom>
        </p:spPr>
        <p:txBody>
          <a:bodyPr lIns="0" tIns="0" rIns="0" bIns="0" rtlCol="0" anchor="t">
            <a:spAutoFit/>
          </a:bodyPr>
          <a:lstStyle/>
          <a:p>
            <a:pPr algn="ctr">
              <a:lnSpc>
                <a:spcPts val="6719"/>
              </a:lnSpc>
              <a:spcBef>
                <a:spcPct val="0"/>
              </a:spcBef>
            </a:pPr>
            <a:r>
              <a:rPr lang="en-US" sz="4800">
                <a:solidFill>
                  <a:srgbClr val="000000"/>
                </a:solidFill>
                <a:latin typeface="Canva Sans"/>
                <a:ea typeface="Canva Sans"/>
                <a:cs typeface="Canva Sans"/>
                <a:sym typeface="Canva Sans"/>
              </a:rPr>
              <a:t>Tecnologías CISC</a:t>
            </a:r>
          </a:p>
        </p:txBody>
      </p:sp>
      <p:sp>
        <p:nvSpPr>
          <p:cNvPr id="4" name="TextBox 4"/>
          <p:cNvSpPr txBox="1"/>
          <p:nvPr/>
        </p:nvSpPr>
        <p:spPr>
          <a:xfrm>
            <a:off x="1028700" y="2156460"/>
            <a:ext cx="10620821" cy="7101840"/>
          </a:xfrm>
          <a:prstGeom prst="rect">
            <a:avLst/>
          </a:prstGeom>
        </p:spPr>
        <p:txBody>
          <a:bodyPr lIns="0" tIns="0" rIns="0" bIns="0" rtlCol="0" anchor="t">
            <a:spAutoFit/>
          </a:bodyPr>
          <a:lstStyle/>
          <a:p>
            <a:pPr algn="l">
              <a:lnSpc>
                <a:spcPts val="3359"/>
              </a:lnSpc>
              <a:spcBef>
                <a:spcPct val="0"/>
              </a:spcBef>
            </a:pPr>
            <a:r>
              <a:rPr lang="en-US" sz="2400">
                <a:solidFill>
                  <a:srgbClr val="000000"/>
                </a:solidFill>
                <a:latin typeface="Canva Sans"/>
                <a:ea typeface="Canva Sans"/>
                <a:cs typeface="Canva Sans"/>
                <a:sym typeface="Canva Sans"/>
              </a:rPr>
              <a:t>Elementos que caracterizan CISC:</a:t>
            </a:r>
          </a:p>
          <a:p>
            <a:pPr algn="l">
              <a:lnSpc>
                <a:spcPts val="3359"/>
              </a:lnSpc>
              <a:spcBef>
                <a:spcPct val="0"/>
              </a:spcBef>
            </a:pPr>
            <a:endParaRPr lang="en-US" sz="2400">
              <a:solidFill>
                <a:srgbClr val="000000"/>
              </a:solidFill>
              <a:latin typeface="Canva Sans"/>
              <a:ea typeface="Canva Sans"/>
              <a:cs typeface="Canva Sans"/>
              <a:sym typeface="Canva Sans"/>
            </a:endParaRPr>
          </a:p>
          <a:p>
            <a:pPr marL="518160" lvl="1" indent="-259080" algn="l">
              <a:lnSpc>
                <a:spcPts val="3359"/>
              </a:lnSpc>
              <a:spcBef>
                <a:spcPct val="0"/>
              </a:spcBef>
              <a:buFont typeface="Arial"/>
              <a:buChar char="•"/>
            </a:pPr>
            <a:r>
              <a:rPr lang="en-US" sz="2400">
                <a:solidFill>
                  <a:srgbClr val="000000"/>
                </a:solidFill>
                <a:latin typeface="Canva Sans"/>
                <a:ea typeface="Canva Sans"/>
                <a:cs typeface="Canva Sans"/>
                <a:sym typeface="Canva Sans"/>
              </a:rPr>
              <a:t>Conjunto de Instrucciones Extenso:</a:t>
            </a:r>
          </a:p>
          <a:p>
            <a:pPr marL="1036320" lvl="2" indent="-345440" algn="l">
              <a:lnSpc>
                <a:spcPts val="3359"/>
              </a:lnSpc>
              <a:spcBef>
                <a:spcPct val="0"/>
              </a:spcBef>
              <a:buFont typeface="Arial"/>
              <a:buChar char="⚬"/>
            </a:pPr>
            <a:r>
              <a:rPr lang="en-US" sz="2400">
                <a:solidFill>
                  <a:srgbClr val="000000"/>
                </a:solidFill>
                <a:latin typeface="Canva Sans"/>
                <a:ea typeface="Canva Sans"/>
                <a:cs typeface="Canva Sans"/>
                <a:sym typeface="Canva Sans"/>
              </a:rPr>
              <a:t>Cientos de instrucciones diferentes</a:t>
            </a:r>
          </a:p>
          <a:p>
            <a:pPr marL="1036320" lvl="2" indent="-345440" algn="l">
              <a:lnSpc>
                <a:spcPts val="3359"/>
              </a:lnSpc>
              <a:spcBef>
                <a:spcPct val="0"/>
              </a:spcBef>
              <a:buFont typeface="Arial"/>
              <a:buChar char="⚬"/>
            </a:pPr>
            <a:r>
              <a:rPr lang="en-US" sz="2400">
                <a:solidFill>
                  <a:srgbClr val="000000"/>
                </a:solidFill>
                <a:latin typeface="Canva Sans"/>
                <a:ea typeface="Canva Sans"/>
                <a:cs typeface="Canva Sans"/>
                <a:sym typeface="Canva Sans"/>
              </a:rPr>
              <a:t>Instrucciones especializadas para tareas específicas</a:t>
            </a:r>
          </a:p>
          <a:p>
            <a:pPr algn="l">
              <a:lnSpc>
                <a:spcPts val="3359"/>
              </a:lnSpc>
              <a:spcBef>
                <a:spcPct val="0"/>
              </a:spcBef>
            </a:pPr>
            <a:endParaRPr lang="en-US" sz="2400">
              <a:solidFill>
                <a:srgbClr val="000000"/>
              </a:solidFill>
              <a:latin typeface="Canva Sans"/>
              <a:ea typeface="Canva Sans"/>
              <a:cs typeface="Canva Sans"/>
              <a:sym typeface="Canva Sans"/>
            </a:endParaRPr>
          </a:p>
          <a:p>
            <a:pPr marL="518160" lvl="1" indent="-259080" algn="l">
              <a:lnSpc>
                <a:spcPts val="3359"/>
              </a:lnSpc>
              <a:spcBef>
                <a:spcPct val="0"/>
              </a:spcBef>
              <a:buFont typeface="Arial"/>
              <a:buChar char="•"/>
            </a:pPr>
            <a:r>
              <a:rPr lang="en-US" sz="2400">
                <a:solidFill>
                  <a:srgbClr val="000000"/>
                </a:solidFill>
                <a:latin typeface="Canva Sans"/>
                <a:ea typeface="Canva Sans"/>
                <a:cs typeface="Canva Sans"/>
                <a:sym typeface="Canva Sans"/>
              </a:rPr>
              <a:t>Instrucciones de Longitud Variable:</a:t>
            </a:r>
          </a:p>
          <a:p>
            <a:pPr marL="1036320" lvl="2" indent="-345440" algn="l">
              <a:lnSpc>
                <a:spcPts val="3359"/>
              </a:lnSpc>
              <a:spcBef>
                <a:spcPct val="0"/>
              </a:spcBef>
              <a:buFont typeface="Arial"/>
              <a:buChar char="⚬"/>
            </a:pPr>
            <a:r>
              <a:rPr lang="en-US" sz="2400">
                <a:solidFill>
                  <a:srgbClr val="000000"/>
                </a:solidFill>
                <a:latin typeface="Canva Sans"/>
                <a:ea typeface="Canva Sans"/>
                <a:cs typeface="Canva Sans"/>
                <a:sym typeface="Canva Sans"/>
              </a:rPr>
              <a:t>Desde 1 byte hasta 15+ bytes</a:t>
            </a:r>
          </a:p>
          <a:p>
            <a:pPr marL="1036320" lvl="2" indent="-345440" algn="l">
              <a:lnSpc>
                <a:spcPts val="3359"/>
              </a:lnSpc>
              <a:spcBef>
                <a:spcPct val="0"/>
              </a:spcBef>
              <a:buFont typeface="Arial"/>
              <a:buChar char="⚬"/>
            </a:pPr>
            <a:r>
              <a:rPr lang="en-US" sz="2400">
                <a:solidFill>
                  <a:srgbClr val="000000"/>
                </a:solidFill>
                <a:latin typeface="Canva Sans"/>
                <a:ea typeface="Canva Sans"/>
                <a:cs typeface="Canva Sans"/>
                <a:sym typeface="Canva Sans"/>
              </a:rPr>
              <a:t>Mayor complejidad en decodificación</a:t>
            </a:r>
          </a:p>
          <a:p>
            <a:pPr algn="l">
              <a:lnSpc>
                <a:spcPts val="3359"/>
              </a:lnSpc>
              <a:spcBef>
                <a:spcPct val="0"/>
              </a:spcBef>
            </a:pPr>
            <a:endParaRPr lang="en-US" sz="2400">
              <a:solidFill>
                <a:srgbClr val="000000"/>
              </a:solidFill>
              <a:latin typeface="Canva Sans"/>
              <a:ea typeface="Canva Sans"/>
              <a:cs typeface="Canva Sans"/>
              <a:sym typeface="Canva Sans"/>
            </a:endParaRPr>
          </a:p>
          <a:p>
            <a:pPr marL="518160" lvl="1" indent="-259080" algn="l">
              <a:lnSpc>
                <a:spcPts val="3359"/>
              </a:lnSpc>
              <a:spcBef>
                <a:spcPct val="0"/>
              </a:spcBef>
              <a:buFont typeface="Arial"/>
              <a:buChar char="•"/>
            </a:pPr>
            <a:r>
              <a:rPr lang="en-US" sz="2400">
                <a:solidFill>
                  <a:srgbClr val="000000"/>
                </a:solidFill>
                <a:latin typeface="Canva Sans"/>
                <a:ea typeface="Canva Sans"/>
                <a:cs typeface="Canva Sans"/>
                <a:sym typeface="Canva Sans"/>
              </a:rPr>
              <a:t>Múltiples Modos de Direccionamiento:</a:t>
            </a:r>
          </a:p>
          <a:p>
            <a:pPr marL="1036320" lvl="2" indent="-345440" algn="l">
              <a:lnSpc>
                <a:spcPts val="3359"/>
              </a:lnSpc>
              <a:spcBef>
                <a:spcPct val="0"/>
              </a:spcBef>
              <a:buFont typeface="Arial"/>
              <a:buChar char="⚬"/>
            </a:pPr>
            <a:r>
              <a:rPr lang="en-US" sz="2400">
                <a:solidFill>
                  <a:srgbClr val="000000"/>
                </a:solidFill>
                <a:latin typeface="Canva Sans"/>
                <a:ea typeface="Canva Sans"/>
                <a:cs typeface="Canva Sans"/>
                <a:sym typeface="Canva Sans"/>
              </a:rPr>
              <a:t>Directo, indirecto, indexado, relativo, etc.</a:t>
            </a:r>
          </a:p>
          <a:p>
            <a:pPr marL="1036320" lvl="2" indent="-345440" algn="l">
              <a:lnSpc>
                <a:spcPts val="3359"/>
              </a:lnSpc>
              <a:spcBef>
                <a:spcPct val="0"/>
              </a:spcBef>
              <a:buFont typeface="Arial"/>
              <a:buChar char="⚬"/>
            </a:pPr>
            <a:r>
              <a:rPr lang="en-US" sz="2400">
                <a:solidFill>
                  <a:srgbClr val="000000"/>
                </a:solidFill>
                <a:latin typeface="Canva Sans"/>
                <a:ea typeface="Canva Sans"/>
                <a:cs typeface="Canva Sans"/>
                <a:sym typeface="Canva Sans"/>
              </a:rPr>
              <a:t>Flexibilidad en acceso a datos</a:t>
            </a:r>
          </a:p>
          <a:p>
            <a:pPr algn="l">
              <a:lnSpc>
                <a:spcPts val="3359"/>
              </a:lnSpc>
              <a:spcBef>
                <a:spcPct val="0"/>
              </a:spcBef>
            </a:pPr>
            <a:endParaRPr lang="en-US" sz="2400">
              <a:solidFill>
                <a:srgbClr val="000000"/>
              </a:solidFill>
              <a:latin typeface="Canva Sans"/>
              <a:ea typeface="Canva Sans"/>
              <a:cs typeface="Canva Sans"/>
              <a:sym typeface="Canva Sans"/>
            </a:endParaRPr>
          </a:p>
          <a:p>
            <a:pPr marL="518160" lvl="1" indent="-259080" algn="l">
              <a:lnSpc>
                <a:spcPts val="3359"/>
              </a:lnSpc>
              <a:spcBef>
                <a:spcPct val="0"/>
              </a:spcBef>
              <a:buFont typeface="Arial"/>
              <a:buChar char="•"/>
            </a:pPr>
            <a:r>
              <a:rPr lang="en-US" sz="2400">
                <a:solidFill>
                  <a:srgbClr val="000000"/>
                </a:solidFill>
                <a:latin typeface="Canva Sans"/>
                <a:ea typeface="Canva Sans"/>
                <a:cs typeface="Canva Sans"/>
                <a:sym typeface="Canva Sans"/>
              </a:rPr>
              <a:t>Microcódigo:</a:t>
            </a:r>
          </a:p>
          <a:p>
            <a:pPr marL="1036320" lvl="2" indent="-345440" algn="l">
              <a:lnSpc>
                <a:spcPts val="3359"/>
              </a:lnSpc>
              <a:spcBef>
                <a:spcPct val="0"/>
              </a:spcBef>
              <a:buFont typeface="Arial"/>
              <a:buChar char="⚬"/>
            </a:pPr>
            <a:r>
              <a:rPr lang="en-US" sz="2400">
                <a:solidFill>
                  <a:srgbClr val="000000"/>
                </a:solidFill>
                <a:latin typeface="Canva Sans"/>
                <a:ea typeface="Canva Sans"/>
                <a:cs typeface="Canva Sans"/>
                <a:sym typeface="Canva Sans"/>
              </a:rPr>
              <a:t>Instrucciones complejas se descomponen internamente</a:t>
            </a:r>
          </a:p>
          <a:p>
            <a:pPr marL="1036320" lvl="2" indent="-345440" algn="l">
              <a:lnSpc>
                <a:spcPts val="3359"/>
              </a:lnSpc>
              <a:spcBef>
                <a:spcPct val="0"/>
              </a:spcBef>
              <a:buFont typeface="Arial"/>
              <a:buChar char="⚬"/>
            </a:pPr>
            <a:r>
              <a:rPr lang="en-US" sz="2400">
                <a:solidFill>
                  <a:srgbClr val="000000"/>
                </a:solidFill>
                <a:latin typeface="Canva Sans"/>
                <a:ea typeface="Canva Sans"/>
                <a:cs typeface="Canva Sans"/>
                <a:sym typeface="Canva Sans"/>
              </a:rPr>
              <a:t>Traduce instrucciones CISC a micro-operaciones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407210" y="4767876"/>
            <a:ext cx="5588880" cy="4718014"/>
          </a:xfrm>
          <a:custGeom>
            <a:avLst/>
            <a:gdLst/>
            <a:ahLst/>
            <a:cxnLst/>
            <a:rect l="l" t="t" r="r" b="b"/>
            <a:pathLst>
              <a:path w="5588880" h="4718014">
                <a:moveTo>
                  <a:pt x="0" y="0"/>
                </a:moveTo>
                <a:lnTo>
                  <a:pt x="5588880" y="0"/>
                </a:lnTo>
                <a:lnTo>
                  <a:pt x="5588880" y="4718013"/>
                </a:lnTo>
                <a:lnTo>
                  <a:pt x="0" y="4718013"/>
                </a:lnTo>
                <a:lnTo>
                  <a:pt x="0" y="0"/>
                </a:lnTo>
                <a:close/>
              </a:path>
            </a:pathLst>
          </a:custGeom>
          <a:blipFill>
            <a:blip r:embed="rId2"/>
            <a:stretch>
              <a:fillRect t="-19883" r="-1202"/>
            </a:stretch>
          </a:blipFill>
        </p:spPr>
        <p:txBody>
          <a:bodyPr/>
          <a:lstStyle/>
          <a:p>
            <a:endParaRPr lang="es-GT"/>
          </a:p>
        </p:txBody>
      </p:sp>
      <p:sp>
        <p:nvSpPr>
          <p:cNvPr id="3" name="TextBox 3"/>
          <p:cNvSpPr txBox="1"/>
          <p:nvPr/>
        </p:nvSpPr>
        <p:spPr>
          <a:xfrm>
            <a:off x="6638479" y="942975"/>
            <a:ext cx="5011043" cy="811530"/>
          </a:xfrm>
          <a:prstGeom prst="rect">
            <a:avLst/>
          </a:prstGeom>
        </p:spPr>
        <p:txBody>
          <a:bodyPr lIns="0" tIns="0" rIns="0" bIns="0" rtlCol="0" anchor="t">
            <a:spAutoFit/>
          </a:bodyPr>
          <a:lstStyle/>
          <a:p>
            <a:pPr algn="ctr">
              <a:lnSpc>
                <a:spcPts val="6719"/>
              </a:lnSpc>
              <a:spcBef>
                <a:spcPct val="0"/>
              </a:spcBef>
            </a:pPr>
            <a:r>
              <a:rPr lang="en-US" sz="4800">
                <a:solidFill>
                  <a:srgbClr val="000000"/>
                </a:solidFill>
                <a:latin typeface="Canva Sans"/>
                <a:ea typeface="Canva Sans"/>
                <a:cs typeface="Canva Sans"/>
                <a:sym typeface="Canva Sans"/>
              </a:rPr>
              <a:t>Tecnologías CISC</a:t>
            </a:r>
          </a:p>
        </p:txBody>
      </p:sp>
      <p:sp>
        <p:nvSpPr>
          <p:cNvPr id="4" name="TextBox 4"/>
          <p:cNvSpPr txBox="1"/>
          <p:nvPr/>
        </p:nvSpPr>
        <p:spPr>
          <a:xfrm>
            <a:off x="1028700" y="2357120"/>
            <a:ext cx="7878154" cy="6682740"/>
          </a:xfrm>
          <a:prstGeom prst="rect">
            <a:avLst/>
          </a:prstGeom>
        </p:spPr>
        <p:txBody>
          <a:bodyPr lIns="0" tIns="0" rIns="0" bIns="0" rtlCol="0" anchor="t">
            <a:spAutoFit/>
          </a:bodyPr>
          <a:lstStyle/>
          <a:p>
            <a:pPr algn="l">
              <a:lnSpc>
                <a:spcPts val="3359"/>
              </a:lnSpc>
              <a:spcBef>
                <a:spcPct val="0"/>
              </a:spcBef>
            </a:pPr>
            <a:r>
              <a:rPr lang="en-US" sz="2400">
                <a:solidFill>
                  <a:srgbClr val="000000"/>
                </a:solidFill>
                <a:latin typeface="Canva Sans"/>
                <a:ea typeface="Canva Sans"/>
                <a:cs typeface="Canva Sans"/>
                <a:sym typeface="Canva Sans"/>
              </a:rPr>
              <a:t>Ejemplos de Procesadores CISC:</a:t>
            </a:r>
          </a:p>
          <a:p>
            <a:pPr algn="l">
              <a:lnSpc>
                <a:spcPts val="3359"/>
              </a:lnSpc>
              <a:spcBef>
                <a:spcPct val="0"/>
              </a:spcBef>
            </a:pPr>
            <a:endParaRPr lang="en-US" sz="2400">
              <a:solidFill>
                <a:srgbClr val="000000"/>
              </a:solidFill>
              <a:latin typeface="Canva Sans"/>
              <a:ea typeface="Canva Sans"/>
              <a:cs typeface="Canva Sans"/>
              <a:sym typeface="Canva Sans"/>
            </a:endParaRPr>
          </a:p>
          <a:p>
            <a:pPr marL="518160" lvl="1" indent="-259080" algn="l">
              <a:lnSpc>
                <a:spcPts val="3359"/>
              </a:lnSpc>
              <a:spcBef>
                <a:spcPct val="0"/>
              </a:spcBef>
              <a:buFont typeface="Arial"/>
              <a:buChar char="•"/>
            </a:pPr>
            <a:r>
              <a:rPr lang="en-US" sz="2400">
                <a:solidFill>
                  <a:srgbClr val="000000"/>
                </a:solidFill>
                <a:latin typeface="Canva Sans"/>
                <a:ea typeface="Canva Sans"/>
                <a:cs typeface="Canva Sans"/>
                <a:sym typeface="Canva Sans"/>
              </a:rPr>
              <a:t>Intel x86/x64:Core i3/i5/i7/i9</a:t>
            </a:r>
          </a:p>
          <a:p>
            <a:pPr marL="1036320" lvl="2" indent="-345440" algn="l">
              <a:lnSpc>
                <a:spcPts val="3359"/>
              </a:lnSpc>
              <a:spcBef>
                <a:spcPct val="0"/>
              </a:spcBef>
              <a:buFont typeface="Arial"/>
              <a:buChar char="⚬"/>
            </a:pPr>
            <a:r>
              <a:rPr lang="en-US" sz="2400">
                <a:solidFill>
                  <a:srgbClr val="000000"/>
                </a:solidFill>
                <a:latin typeface="Canva Sans"/>
                <a:ea typeface="Canva Sans"/>
                <a:cs typeface="Canva Sans"/>
                <a:sym typeface="Canva Sans"/>
              </a:rPr>
              <a:t>Xeon para servidores</a:t>
            </a:r>
          </a:p>
          <a:p>
            <a:pPr marL="1036320" lvl="2" indent="-345440" algn="l">
              <a:lnSpc>
                <a:spcPts val="3359"/>
              </a:lnSpc>
              <a:spcBef>
                <a:spcPct val="0"/>
              </a:spcBef>
              <a:buFont typeface="Arial"/>
              <a:buChar char="⚬"/>
            </a:pPr>
            <a:r>
              <a:rPr lang="en-US" sz="2400">
                <a:solidFill>
                  <a:srgbClr val="000000"/>
                </a:solidFill>
                <a:latin typeface="Canva Sans"/>
                <a:ea typeface="Canva Sans"/>
                <a:cs typeface="Canva Sans"/>
                <a:sym typeface="Canva Sans"/>
              </a:rPr>
              <a:t>Dominante en PCs y laptops</a:t>
            </a:r>
          </a:p>
          <a:p>
            <a:pPr algn="l">
              <a:lnSpc>
                <a:spcPts val="3359"/>
              </a:lnSpc>
              <a:spcBef>
                <a:spcPct val="0"/>
              </a:spcBef>
            </a:pPr>
            <a:endParaRPr lang="en-US" sz="2400">
              <a:solidFill>
                <a:srgbClr val="000000"/>
              </a:solidFill>
              <a:latin typeface="Canva Sans"/>
              <a:ea typeface="Canva Sans"/>
              <a:cs typeface="Canva Sans"/>
              <a:sym typeface="Canva Sans"/>
            </a:endParaRPr>
          </a:p>
          <a:p>
            <a:pPr marL="518160" lvl="1" indent="-259080" algn="l">
              <a:lnSpc>
                <a:spcPts val="3359"/>
              </a:lnSpc>
              <a:spcBef>
                <a:spcPct val="0"/>
              </a:spcBef>
              <a:buFont typeface="Arial"/>
              <a:buChar char="•"/>
            </a:pPr>
            <a:r>
              <a:rPr lang="en-US" sz="2400">
                <a:solidFill>
                  <a:srgbClr val="000000"/>
                </a:solidFill>
                <a:latin typeface="Canva Sans"/>
                <a:ea typeface="Canva Sans"/>
                <a:cs typeface="Canva Sans"/>
                <a:sym typeface="Canva Sans"/>
              </a:rPr>
              <a:t>AMD x86/x64:</a:t>
            </a:r>
          </a:p>
          <a:p>
            <a:pPr marL="1036320" lvl="2" indent="-345440" algn="l">
              <a:lnSpc>
                <a:spcPts val="3359"/>
              </a:lnSpc>
              <a:spcBef>
                <a:spcPct val="0"/>
              </a:spcBef>
              <a:buFont typeface="Arial"/>
              <a:buChar char="⚬"/>
            </a:pPr>
            <a:r>
              <a:rPr lang="en-US" sz="2400">
                <a:solidFill>
                  <a:srgbClr val="000000"/>
                </a:solidFill>
                <a:latin typeface="Canva Sans"/>
                <a:ea typeface="Canva Sans"/>
                <a:cs typeface="Canva Sans"/>
                <a:sym typeface="Canva Sans"/>
              </a:rPr>
              <a:t>Ryzen (consumo)</a:t>
            </a:r>
          </a:p>
          <a:p>
            <a:pPr marL="1036320" lvl="2" indent="-345440" algn="l">
              <a:lnSpc>
                <a:spcPts val="3359"/>
              </a:lnSpc>
              <a:spcBef>
                <a:spcPct val="0"/>
              </a:spcBef>
              <a:buFont typeface="Arial"/>
              <a:buChar char="⚬"/>
            </a:pPr>
            <a:r>
              <a:rPr lang="en-US" sz="2400">
                <a:solidFill>
                  <a:srgbClr val="000000"/>
                </a:solidFill>
                <a:latin typeface="Canva Sans"/>
                <a:ea typeface="Canva Sans"/>
                <a:cs typeface="Canva Sans"/>
                <a:sym typeface="Canva Sans"/>
              </a:rPr>
              <a:t>EPYC (servidores)</a:t>
            </a:r>
          </a:p>
          <a:p>
            <a:pPr marL="1036320" lvl="2" indent="-345440" algn="l">
              <a:lnSpc>
                <a:spcPts val="3359"/>
              </a:lnSpc>
              <a:spcBef>
                <a:spcPct val="0"/>
              </a:spcBef>
              <a:buFont typeface="Arial"/>
              <a:buChar char="⚬"/>
            </a:pPr>
            <a:r>
              <a:rPr lang="en-US" sz="2400">
                <a:solidFill>
                  <a:srgbClr val="000000"/>
                </a:solidFill>
                <a:latin typeface="Canva Sans"/>
                <a:ea typeface="Canva Sans"/>
                <a:cs typeface="Canva Sans"/>
                <a:sym typeface="Canva Sans"/>
              </a:rPr>
              <a:t>Compatible con Intel x86</a:t>
            </a:r>
          </a:p>
          <a:p>
            <a:pPr algn="l">
              <a:lnSpc>
                <a:spcPts val="3359"/>
              </a:lnSpc>
              <a:spcBef>
                <a:spcPct val="0"/>
              </a:spcBef>
            </a:pPr>
            <a:endParaRPr lang="en-US" sz="2400">
              <a:solidFill>
                <a:srgbClr val="000000"/>
              </a:solidFill>
              <a:latin typeface="Canva Sans"/>
              <a:ea typeface="Canva Sans"/>
              <a:cs typeface="Canva Sans"/>
              <a:sym typeface="Canva Sans"/>
            </a:endParaRPr>
          </a:p>
          <a:p>
            <a:pPr algn="l">
              <a:lnSpc>
                <a:spcPts val="3359"/>
              </a:lnSpc>
              <a:spcBef>
                <a:spcPct val="0"/>
              </a:spcBef>
            </a:pPr>
            <a:r>
              <a:rPr lang="en-US" sz="2400" b="1">
                <a:solidFill>
                  <a:srgbClr val="000000"/>
                </a:solidFill>
                <a:latin typeface="Canva Sans Bold"/>
                <a:ea typeface="Canva Sans Bold"/>
                <a:cs typeface="Canva Sans Bold"/>
                <a:sym typeface="Canva Sans Bold"/>
              </a:rPr>
              <a:t>Ventajas</a:t>
            </a:r>
            <a:r>
              <a:rPr lang="en-US" sz="2400">
                <a:solidFill>
                  <a:srgbClr val="000000"/>
                </a:solidFill>
                <a:latin typeface="Canva Sans"/>
                <a:ea typeface="Canva Sans"/>
                <a:cs typeface="Canva Sans"/>
                <a:sym typeface="Canva Sans"/>
              </a:rPr>
              <a:t>: Código más compacto, compatibilidad hacia atrás.</a:t>
            </a:r>
          </a:p>
          <a:p>
            <a:pPr algn="l">
              <a:lnSpc>
                <a:spcPts val="3359"/>
              </a:lnSpc>
              <a:spcBef>
                <a:spcPct val="0"/>
              </a:spcBef>
            </a:pPr>
            <a:endParaRPr lang="en-US" sz="2400">
              <a:solidFill>
                <a:srgbClr val="000000"/>
              </a:solidFill>
              <a:latin typeface="Canva Sans"/>
              <a:ea typeface="Canva Sans"/>
              <a:cs typeface="Canva Sans"/>
              <a:sym typeface="Canva Sans"/>
            </a:endParaRPr>
          </a:p>
          <a:p>
            <a:pPr algn="l">
              <a:lnSpc>
                <a:spcPts val="3359"/>
              </a:lnSpc>
              <a:spcBef>
                <a:spcPct val="0"/>
              </a:spcBef>
            </a:pPr>
            <a:r>
              <a:rPr lang="en-US" sz="2400" b="1">
                <a:solidFill>
                  <a:srgbClr val="000000"/>
                </a:solidFill>
                <a:latin typeface="Canva Sans Bold"/>
                <a:ea typeface="Canva Sans Bold"/>
                <a:cs typeface="Canva Sans Bold"/>
                <a:sym typeface="Canva Sans Bold"/>
              </a:rPr>
              <a:t>Desventajas</a:t>
            </a:r>
            <a:r>
              <a:rPr lang="en-US" sz="2400">
                <a:solidFill>
                  <a:srgbClr val="000000"/>
                </a:solidFill>
                <a:latin typeface="Canva Sans"/>
                <a:ea typeface="Canva Sans"/>
                <a:cs typeface="Canva Sans"/>
                <a:sym typeface="Canva Sans"/>
              </a:rPr>
              <a:t>: Mayor consumo energético, complejidad de diseño.</a:t>
            </a:r>
          </a:p>
        </p:txBody>
      </p:sp>
      <p:sp>
        <p:nvSpPr>
          <p:cNvPr id="5" name="TextBox 5"/>
          <p:cNvSpPr txBox="1"/>
          <p:nvPr/>
        </p:nvSpPr>
        <p:spPr>
          <a:xfrm>
            <a:off x="9144000" y="2429106"/>
            <a:ext cx="8115300" cy="1819910"/>
          </a:xfrm>
          <a:prstGeom prst="rect">
            <a:avLst/>
          </a:prstGeom>
        </p:spPr>
        <p:txBody>
          <a:bodyPr lIns="0" tIns="0" rIns="0" bIns="0" rtlCol="0" anchor="t">
            <a:spAutoFit/>
          </a:bodyPr>
          <a:lstStyle/>
          <a:p>
            <a:pPr algn="just">
              <a:lnSpc>
                <a:spcPts val="3640"/>
              </a:lnSpc>
              <a:spcBef>
                <a:spcPct val="0"/>
              </a:spcBef>
            </a:pPr>
            <a:r>
              <a:rPr lang="en-US" sz="2600">
                <a:solidFill>
                  <a:srgbClr val="000000"/>
                </a:solidFill>
                <a:latin typeface="Canva Sans"/>
                <a:ea typeface="Canva Sans"/>
                <a:cs typeface="Canva Sans"/>
                <a:sym typeface="Canva Sans"/>
              </a:rPr>
              <a:t>Caso de estudio: Intel Core i9 utiliza arquitectura CISC pero internamente convierte instrucciones complejas a micro-operaciones tipo RISC, logrando lo mejor de ambos mundos.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471793" y="5077979"/>
            <a:ext cx="6356958" cy="2943491"/>
          </a:xfrm>
          <a:custGeom>
            <a:avLst/>
            <a:gdLst/>
            <a:ahLst/>
            <a:cxnLst/>
            <a:rect l="l" t="t" r="r" b="b"/>
            <a:pathLst>
              <a:path w="6356958" h="2943491">
                <a:moveTo>
                  <a:pt x="0" y="0"/>
                </a:moveTo>
                <a:lnTo>
                  <a:pt x="6356958" y="0"/>
                </a:lnTo>
                <a:lnTo>
                  <a:pt x="6356958" y="2943491"/>
                </a:lnTo>
                <a:lnTo>
                  <a:pt x="0" y="2943491"/>
                </a:lnTo>
                <a:lnTo>
                  <a:pt x="0" y="0"/>
                </a:lnTo>
                <a:close/>
              </a:path>
            </a:pathLst>
          </a:custGeom>
          <a:blipFill>
            <a:blip r:embed="rId2"/>
            <a:stretch>
              <a:fillRect t="-69324" b="-46641"/>
            </a:stretch>
          </a:blipFill>
        </p:spPr>
        <p:txBody>
          <a:bodyPr/>
          <a:lstStyle/>
          <a:p>
            <a:endParaRPr lang="es-GT"/>
          </a:p>
        </p:txBody>
      </p:sp>
      <p:sp>
        <p:nvSpPr>
          <p:cNvPr id="3" name="TextBox 3"/>
          <p:cNvSpPr txBox="1"/>
          <p:nvPr/>
        </p:nvSpPr>
        <p:spPr>
          <a:xfrm>
            <a:off x="6400949" y="942975"/>
            <a:ext cx="5486102" cy="811530"/>
          </a:xfrm>
          <a:prstGeom prst="rect">
            <a:avLst/>
          </a:prstGeom>
        </p:spPr>
        <p:txBody>
          <a:bodyPr lIns="0" tIns="0" rIns="0" bIns="0" rtlCol="0" anchor="t">
            <a:spAutoFit/>
          </a:bodyPr>
          <a:lstStyle/>
          <a:p>
            <a:pPr algn="ctr">
              <a:lnSpc>
                <a:spcPts val="6719"/>
              </a:lnSpc>
              <a:spcBef>
                <a:spcPct val="0"/>
              </a:spcBef>
            </a:pPr>
            <a:r>
              <a:rPr lang="en-US" sz="4800">
                <a:solidFill>
                  <a:srgbClr val="000000"/>
                </a:solidFill>
                <a:latin typeface="Canva Sans"/>
                <a:ea typeface="Canva Sans"/>
                <a:cs typeface="Canva Sans"/>
                <a:sym typeface="Canva Sans"/>
              </a:rPr>
              <a:t>Memoria Principal </a:t>
            </a:r>
          </a:p>
        </p:txBody>
      </p:sp>
      <p:sp>
        <p:nvSpPr>
          <p:cNvPr id="4" name="TextBox 4"/>
          <p:cNvSpPr txBox="1"/>
          <p:nvPr/>
        </p:nvSpPr>
        <p:spPr>
          <a:xfrm>
            <a:off x="1028700" y="2653549"/>
            <a:ext cx="16230600" cy="1471930"/>
          </a:xfrm>
          <a:prstGeom prst="rect">
            <a:avLst/>
          </a:prstGeom>
        </p:spPr>
        <p:txBody>
          <a:bodyPr lIns="0" tIns="0" rIns="0" bIns="0" rtlCol="0" anchor="t">
            <a:spAutoFit/>
          </a:bodyPr>
          <a:lstStyle/>
          <a:p>
            <a:pPr algn="just">
              <a:lnSpc>
                <a:spcPts val="3919"/>
              </a:lnSpc>
              <a:spcBef>
                <a:spcPct val="0"/>
              </a:spcBef>
            </a:pPr>
            <a:r>
              <a:rPr lang="en-US" sz="2799">
                <a:solidFill>
                  <a:srgbClr val="000000"/>
                </a:solidFill>
                <a:latin typeface="Canva Sans"/>
                <a:ea typeface="Canva Sans"/>
                <a:cs typeface="Canva Sans"/>
                <a:sym typeface="Canva Sans"/>
              </a:rPr>
              <a:t>La Memoria Principal o RAM (Random Access Memory) es el componente de almacenamiento volátil de acceso directo donde se almacenan temporalmente los programas y datos que están siendo utilizados activamente por el procesador.</a:t>
            </a:r>
          </a:p>
        </p:txBody>
      </p:sp>
      <p:sp>
        <p:nvSpPr>
          <p:cNvPr id="5" name="TextBox 5"/>
          <p:cNvSpPr txBox="1"/>
          <p:nvPr/>
        </p:nvSpPr>
        <p:spPr>
          <a:xfrm>
            <a:off x="1028700" y="4814570"/>
            <a:ext cx="9097166" cy="3453130"/>
          </a:xfrm>
          <a:prstGeom prst="rect">
            <a:avLst/>
          </a:prstGeom>
        </p:spPr>
        <p:txBody>
          <a:bodyPr lIns="0" tIns="0" rIns="0" bIns="0" rtlCol="0" anchor="t">
            <a:spAutoFit/>
          </a:bodyPr>
          <a:lstStyle/>
          <a:p>
            <a:pPr algn="l">
              <a:lnSpc>
                <a:spcPts val="3919"/>
              </a:lnSpc>
            </a:pPr>
            <a:r>
              <a:rPr lang="en-US" sz="2799">
                <a:solidFill>
                  <a:srgbClr val="000000"/>
                </a:solidFill>
                <a:latin typeface="Canva Sans"/>
                <a:ea typeface="Canva Sans"/>
                <a:cs typeface="Canva Sans"/>
                <a:sym typeface="Canva Sans"/>
              </a:rPr>
              <a:t>Características:</a:t>
            </a:r>
          </a:p>
          <a:p>
            <a:pPr algn="l">
              <a:lnSpc>
                <a:spcPts val="3919"/>
              </a:lnSpc>
            </a:pPr>
            <a:endParaRPr lang="en-US" sz="2799">
              <a:solidFill>
                <a:srgbClr val="000000"/>
              </a:solidFill>
              <a:latin typeface="Canva Sans"/>
              <a:ea typeface="Canva Sans"/>
              <a:cs typeface="Canva Sans"/>
              <a:sym typeface="Canva Sans"/>
            </a:endParaRPr>
          </a:p>
          <a:p>
            <a:pPr marL="604519" lvl="1" indent="-302260" algn="l">
              <a:lnSpc>
                <a:spcPts val="3919"/>
              </a:lnSpc>
              <a:spcBef>
                <a:spcPct val="0"/>
              </a:spcBef>
              <a:buFont typeface="Arial"/>
              <a:buChar char="•"/>
            </a:pPr>
            <a:r>
              <a:rPr lang="en-US" sz="2799">
                <a:solidFill>
                  <a:srgbClr val="000000"/>
                </a:solidFill>
                <a:latin typeface="Canva Sans"/>
                <a:ea typeface="Canva Sans"/>
                <a:cs typeface="Canva Sans"/>
                <a:sym typeface="Canva Sans"/>
              </a:rPr>
              <a:t>Volátil (pierde datos al apagar)</a:t>
            </a:r>
          </a:p>
          <a:p>
            <a:pPr marL="604519" lvl="1" indent="-302260" algn="l">
              <a:lnSpc>
                <a:spcPts val="3919"/>
              </a:lnSpc>
              <a:spcBef>
                <a:spcPct val="0"/>
              </a:spcBef>
              <a:buFont typeface="Arial"/>
              <a:buChar char="•"/>
            </a:pPr>
            <a:r>
              <a:rPr lang="en-US" sz="2799">
                <a:solidFill>
                  <a:srgbClr val="000000"/>
                </a:solidFill>
                <a:latin typeface="Canva Sans"/>
                <a:ea typeface="Canva Sans"/>
                <a:cs typeface="Canva Sans"/>
                <a:sym typeface="Canva Sans"/>
              </a:rPr>
              <a:t>Acceso aleatorio rápido</a:t>
            </a:r>
          </a:p>
          <a:p>
            <a:pPr marL="604519" lvl="1" indent="-302260" algn="l">
              <a:lnSpc>
                <a:spcPts val="3919"/>
              </a:lnSpc>
              <a:spcBef>
                <a:spcPct val="0"/>
              </a:spcBef>
              <a:buFont typeface="Arial"/>
              <a:buChar char="•"/>
            </a:pPr>
            <a:r>
              <a:rPr lang="en-US" sz="2799">
                <a:solidFill>
                  <a:srgbClr val="000000"/>
                </a:solidFill>
                <a:latin typeface="Canva Sans"/>
                <a:ea typeface="Canva Sans"/>
                <a:cs typeface="Canva Sans"/>
                <a:sym typeface="Canva Sans"/>
              </a:rPr>
              <a:t>Trabaja directamente con la CPU</a:t>
            </a:r>
          </a:p>
          <a:p>
            <a:pPr marL="604519" lvl="1" indent="-302260" algn="l">
              <a:lnSpc>
                <a:spcPts val="3919"/>
              </a:lnSpc>
              <a:spcBef>
                <a:spcPct val="0"/>
              </a:spcBef>
              <a:buFont typeface="Arial"/>
              <a:buChar char="•"/>
            </a:pPr>
            <a:r>
              <a:rPr lang="en-US" sz="2799">
                <a:solidFill>
                  <a:srgbClr val="000000"/>
                </a:solidFill>
                <a:latin typeface="Canva Sans"/>
                <a:ea typeface="Canva Sans"/>
                <a:cs typeface="Canva Sans"/>
                <a:sym typeface="Canva Sans"/>
              </a:rPr>
              <a:t>Mayor costo por GB que almacenamiento secundario</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1887051" y="3862951"/>
            <a:ext cx="5137414" cy="5137414"/>
          </a:xfrm>
          <a:custGeom>
            <a:avLst/>
            <a:gdLst/>
            <a:ahLst/>
            <a:cxnLst/>
            <a:rect l="l" t="t" r="r" b="b"/>
            <a:pathLst>
              <a:path w="5137414" h="5137414">
                <a:moveTo>
                  <a:pt x="0" y="0"/>
                </a:moveTo>
                <a:lnTo>
                  <a:pt x="5137414" y="0"/>
                </a:lnTo>
                <a:lnTo>
                  <a:pt x="5137414" y="5137414"/>
                </a:lnTo>
                <a:lnTo>
                  <a:pt x="0" y="5137414"/>
                </a:lnTo>
                <a:lnTo>
                  <a:pt x="0" y="0"/>
                </a:lnTo>
                <a:close/>
              </a:path>
            </a:pathLst>
          </a:custGeom>
          <a:blipFill>
            <a:blip r:embed="rId2"/>
            <a:stretch>
              <a:fillRect/>
            </a:stretch>
          </a:blipFill>
        </p:spPr>
        <p:txBody>
          <a:bodyPr/>
          <a:lstStyle/>
          <a:p>
            <a:endParaRPr lang="es-GT"/>
          </a:p>
        </p:txBody>
      </p:sp>
      <p:sp>
        <p:nvSpPr>
          <p:cNvPr id="3" name="TextBox 3"/>
          <p:cNvSpPr txBox="1"/>
          <p:nvPr/>
        </p:nvSpPr>
        <p:spPr>
          <a:xfrm>
            <a:off x="6400949" y="942975"/>
            <a:ext cx="5486102" cy="811530"/>
          </a:xfrm>
          <a:prstGeom prst="rect">
            <a:avLst/>
          </a:prstGeom>
        </p:spPr>
        <p:txBody>
          <a:bodyPr lIns="0" tIns="0" rIns="0" bIns="0" rtlCol="0" anchor="t">
            <a:spAutoFit/>
          </a:bodyPr>
          <a:lstStyle/>
          <a:p>
            <a:pPr algn="ctr">
              <a:lnSpc>
                <a:spcPts val="6719"/>
              </a:lnSpc>
              <a:spcBef>
                <a:spcPct val="0"/>
              </a:spcBef>
            </a:pPr>
            <a:r>
              <a:rPr lang="en-US" sz="4800">
                <a:solidFill>
                  <a:srgbClr val="000000"/>
                </a:solidFill>
                <a:latin typeface="Canva Sans"/>
                <a:ea typeface="Canva Sans"/>
                <a:cs typeface="Canva Sans"/>
                <a:sym typeface="Canva Sans"/>
              </a:rPr>
              <a:t>Memoria Principal </a:t>
            </a:r>
          </a:p>
        </p:txBody>
      </p:sp>
      <p:sp>
        <p:nvSpPr>
          <p:cNvPr id="4" name="TextBox 4"/>
          <p:cNvSpPr txBox="1"/>
          <p:nvPr/>
        </p:nvSpPr>
        <p:spPr>
          <a:xfrm>
            <a:off x="1028700" y="2575560"/>
            <a:ext cx="10332541" cy="6682740"/>
          </a:xfrm>
          <a:prstGeom prst="rect">
            <a:avLst/>
          </a:prstGeom>
        </p:spPr>
        <p:txBody>
          <a:bodyPr lIns="0" tIns="0" rIns="0" bIns="0" rtlCol="0" anchor="t">
            <a:spAutoFit/>
          </a:bodyPr>
          <a:lstStyle/>
          <a:p>
            <a:pPr algn="l">
              <a:lnSpc>
                <a:spcPts val="3359"/>
              </a:lnSpc>
              <a:spcBef>
                <a:spcPct val="0"/>
              </a:spcBef>
            </a:pPr>
            <a:r>
              <a:rPr lang="en-US" sz="2400">
                <a:solidFill>
                  <a:srgbClr val="000000"/>
                </a:solidFill>
                <a:latin typeface="Canva Sans"/>
                <a:ea typeface="Canva Sans"/>
                <a:cs typeface="Canva Sans"/>
                <a:sym typeface="Canva Sans"/>
              </a:rPr>
              <a:t>Elementos de la Memoria Principal:</a:t>
            </a:r>
          </a:p>
          <a:p>
            <a:pPr algn="l">
              <a:lnSpc>
                <a:spcPts val="3359"/>
              </a:lnSpc>
              <a:spcBef>
                <a:spcPct val="0"/>
              </a:spcBef>
            </a:pPr>
            <a:endParaRPr lang="en-US" sz="2400">
              <a:solidFill>
                <a:srgbClr val="000000"/>
              </a:solidFill>
              <a:latin typeface="Canva Sans"/>
              <a:ea typeface="Canva Sans"/>
              <a:cs typeface="Canva Sans"/>
              <a:sym typeface="Canva Sans"/>
            </a:endParaRPr>
          </a:p>
          <a:p>
            <a:pPr marL="518160" lvl="1" indent="-259080" algn="l">
              <a:lnSpc>
                <a:spcPts val="3359"/>
              </a:lnSpc>
              <a:spcBef>
                <a:spcPct val="0"/>
              </a:spcBef>
              <a:buFont typeface="Arial"/>
              <a:buChar char="•"/>
            </a:pPr>
            <a:r>
              <a:rPr lang="en-US" sz="2400">
                <a:solidFill>
                  <a:srgbClr val="000000"/>
                </a:solidFill>
                <a:latin typeface="Canva Sans"/>
                <a:ea typeface="Canva Sans"/>
                <a:cs typeface="Canva Sans"/>
                <a:sym typeface="Canva Sans"/>
              </a:rPr>
              <a:t>Tecnologías:</a:t>
            </a:r>
          </a:p>
          <a:p>
            <a:pPr marL="1036320" lvl="2" indent="-345440" algn="l">
              <a:lnSpc>
                <a:spcPts val="3359"/>
              </a:lnSpc>
              <a:spcBef>
                <a:spcPct val="0"/>
              </a:spcBef>
              <a:buFont typeface="Arial"/>
              <a:buChar char="⚬"/>
            </a:pPr>
            <a:r>
              <a:rPr lang="en-US" sz="2400">
                <a:solidFill>
                  <a:srgbClr val="000000"/>
                </a:solidFill>
                <a:latin typeface="Canva Sans"/>
                <a:ea typeface="Canva Sans"/>
                <a:cs typeface="Canva Sans"/>
                <a:sym typeface="Canva Sans"/>
              </a:rPr>
              <a:t>DRAM (Dynamic RAM): Necesita refresh constante, más densa</a:t>
            </a:r>
          </a:p>
          <a:p>
            <a:pPr marL="1036320" lvl="2" indent="-345440" algn="l">
              <a:lnSpc>
                <a:spcPts val="3359"/>
              </a:lnSpc>
              <a:spcBef>
                <a:spcPct val="0"/>
              </a:spcBef>
              <a:buFont typeface="Arial"/>
              <a:buChar char="⚬"/>
            </a:pPr>
            <a:r>
              <a:rPr lang="en-US" sz="2400">
                <a:solidFill>
                  <a:srgbClr val="000000"/>
                </a:solidFill>
                <a:latin typeface="Canva Sans"/>
                <a:ea typeface="Canva Sans"/>
                <a:cs typeface="Canva Sans"/>
                <a:sym typeface="Canva Sans"/>
              </a:rPr>
              <a:t>SRAM (Static RAM): Más rápida, usada en caché, más costosa</a:t>
            </a:r>
          </a:p>
          <a:p>
            <a:pPr algn="l">
              <a:lnSpc>
                <a:spcPts val="3359"/>
              </a:lnSpc>
              <a:spcBef>
                <a:spcPct val="0"/>
              </a:spcBef>
            </a:pPr>
            <a:endParaRPr lang="en-US" sz="2400">
              <a:solidFill>
                <a:srgbClr val="000000"/>
              </a:solidFill>
              <a:latin typeface="Canva Sans"/>
              <a:ea typeface="Canva Sans"/>
              <a:cs typeface="Canva Sans"/>
              <a:sym typeface="Canva Sans"/>
            </a:endParaRPr>
          </a:p>
          <a:p>
            <a:pPr marL="518160" lvl="1" indent="-259080" algn="l">
              <a:lnSpc>
                <a:spcPts val="3359"/>
              </a:lnSpc>
              <a:spcBef>
                <a:spcPct val="0"/>
              </a:spcBef>
              <a:buFont typeface="Arial"/>
              <a:buChar char="•"/>
            </a:pPr>
            <a:r>
              <a:rPr lang="en-US" sz="2400">
                <a:solidFill>
                  <a:srgbClr val="000000"/>
                </a:solidFill>
                <a:latin typeface="Canva Sans"/>
                <a:ea typeface="Canva Sans"/>
                <a:cs typeface="Canva Sans"/>
                <a:sym typeface="Canva Sans"/>
              </a:rPr>
              <a:t>Jerarquía de Caché:</a:t>
            </a:r>
          </a:p>
          <a:p>
            <a:pPr marL="1036320" lvl="2" indent="-345440" algn="l">
              <a:lnSpc>
                <a:spcPts val="3359"/>
              </a:lnSpc>
              <a:spcBef>
                <a:spcPct val="0"/>
              </a:spcBef>
              <a:buFont typeface="Arial"/>
              <a:buChar char="⚬"/>
            </a:pPr>
            <a:r>
              <a:rPr lang="en-US" sz="2400">
                <a:solidFill>
                  <a:srgbClr val="000000"/>
                </a:solidFill>
                <a:latin typeface="Canva Sans"/>
                <a:ea typeface="Canva Sans"/>
                <a:cs typeface="Canva Sans"/>
                <a:sym typeface="Canva Sans"/>
              </a:rPr>
              <a:t>L1 Cache: 32-64 KB por core, más rápida (~1 ns)</a:t>
            </a:r>
          </a:p>
          <a:p>
            <a:pPr marL="1036320" lvl="2" indent="-345440" algn="l">
              <a:lnSpc>
                <a:spcPts val="3359"/>
              </a:lnSpc>
              <a:spcBef>
                <a:spcPct val="0"/>
              </a:spcBef>
              <a:buFont typeface="Arial"/>
              <a:buChar char="⚬"/>
            </a:pPr>
            <a:r>
              <a:rPr lang="en-US" sz="2400">
                <a:solidFill>
                  <a:srgbClr val="000000"/>
                </a:solidFill>
                <a:latin typeface="Canva Sans"/>
                <a:ea typeface="Canva Sans"/>
                <a:cs typeface="Canva Sans"/>
                <a:sym typeface="Canva Sans"/>
              </a:rPr>
              <a:t>L2 Cache: 256 KB-1 MB por core (~3-10 ns)</a:t>
            </a:r>
          </a:p>
          <a:p>
            <a:pPr marL="1036320" lvl="2" indent="-345440" algn="l">
              <a:lnSpc>
                <a:spcPts val="3359"/>
              </a:lnSpc>
              <a:spcBef>
                <a:spcPct val="0"/>
              </a:spcBef>
              <a:buFont typeface="Arial"/>
              <a:buChar char="⚬"/>
            </a:pPr>
            <a:r>
              <a:rPr lang="en-US" sz="2400">
                <a:solidFill>
                  <a:srgbClr val="000000"/>
                </a:solidFill>
                <a:latin typeface="Canva Sans"/>
                <a:ea typeface="Canva Sans"/>
                <a:cs typeface="Canva Sans"/>
                <a:sym typeface="Canva Sans"/>
              </a:rPr>
              <a:t>L3 Cache: 8-64 MB compartida (~10-20 ns)</a:t>
            </a:r>
          </a:p>
          <a:p>
            <a:pPr marL="1036320" lvl="2" indent="-345440" algn="l">
              <a:lnSpc>
                <a:spcPts val="3359"/>
              </a:lnSpc>
              <a:spcBef>
                <a:spcPct val="0"/>
              </a:spcBef>
              <a:buFont typeface="Arial"/>
              <a:buChar char="⚬"/>
            </a:pPr>
            <a:r>
              <a:rPr lang="en-US" sz="2400">
                <a:solidFill>
                  <a:srgbClr val="000000"/>
                </a:solidFill>
                <a:latin typeface="Canva Sans"/>
                <a:ea typeface="Canva Sans"/>
                <a:cs typeface="Canva Sans"/>
                <a:sym typeface="Canva Sans"/>
              </a:rPr>
              <a:t>RAM: GB de capacidad (~50-100 ns)</a:t>
            </a:r>
          </a:p>
          <a:p>
            <a:pPr algn="l">
              <a:lnSpc>
                <a:spcPts val="3359"/>
              </a:lnSpc>
              <a:spcBef>
                <a:spcPct val="0"/>
              </a:spcBef>
            </a:pPr>
            <a:endParaRPr lang="en-US" sz="2400">
              <a:solidFill>
                <a:srgbClr val="000000"/>
              </a:solidFill>
              <a:latin typeface="Canva Sans"/>
              <a:ea typeface="Canva Sans"/>
              <a:cs typeface="Canva Sans"/>
              <a:sym typeface="Canva Sans"/>
            </a:endParaRPr>
          </a:p>
          <a:p>
            <a:pPr marL="518160" lvl="1" indent="-259080" algn="l">
              <a:lnSpc>
                <a:spcPts val="3359"/>
              </a:lnSpc>
              <a:spcBef>
                <a:spcPct val="0"/>
              </a:spcBef>
              <a:buFont typeface="Arial"/>
              <a:buChar char="•"/>
            </a:pPr>
            <a:r>
              <a:rPr lang="en-US" sz="2400">
                <a:solidFill>
                  <a:srgbClr val="000000"/>
                </a:solidFill>
                <a:latin typeface="Canva Sans"/>
                <a:ea typeface="Canva Sans"/>
                <a:cs typeface="Canva Sans"/>
                <a:sym typeface="Canva Sans"/>
              </a:rPr>
              <a:t>Tipos de RAM:</a:t>
            </a:r>
          </a:p>
          <a:p>
            <a:pPr marL="1036320" lvl="2" indent="-345440" algn="l">
              <a:lnSpc>
                <a:spcPts val="3359"/>
              </a:lnSpc>
              <a:spcBef>
                <a:spcPct val="0"/>
              </a:spcBef>
              <a:buFont typeface="Arial"/>
              <a:buChar char="⚬"/>
            </a:pPr>
            <a:r>
              <a:rPr lang="en-US" sz="2400">
                <a:solidFill>
                  <a:srgbClr val="000000"/>
                </a:solidFill>
                <a:latin typeface="Canva Sans"/>
                <a:ea typeface="Canva Sans"/>
                <a:cs typeface="Canva Sans"/>
                <a:sym typeface="Canva Sans"/>
              </a:rPr>
              <a:t>DDR4: 2133-3200 MHz</a:t>
            </a:r>
          </a:p>
          <a:p>
            <a:pPr marL="1036320" lvl="2" indent="-345440" algn="l">
              <a:lnSpc>
                <a:spcPts val="3359"/>
              </a:lnSpc>
              <a:spcBef>
                <a:spcPct val="0"/>
              </a:spcBef>
              <a:buFont typeface="Arial"/>
              <a:buChar char="⚬"/>
            </a:pPr>
            <a:r>
              <a:rPr lang="en-US" sz="2400">
                <a:solidFill>
                  <a:srgbClr val="000000"/>
                </a:solidFill>
                <a:latin typeface="Canva Sans"/>
                <a:ea typeface="Canva Sans"/>
                <a:cs typeface="Canva Sans"/>
                <a:sym typeface="Canva Sans"/>
              </a:rPr>
              <a:t>DDR5: 4800-6400+ MHz</a:t>
            </a:r>
          </a:p>
          <a:p>
            <a:pPr marL="1036320" lvl="2" indent="-345440" algn="l">
              <a:lnSpc>
                <a:spcPts val="3359"/>
              </a:lnSpc>
              <a:spcBef>
                <a:spcPct val="0"/>
              </a:spcBef>
              <a:buFont typeface="Arial"/>
              <a:buChar char="⚬"/>
            </a:pPr>
            <a:r>
              <a:rPr lang="en-US" sz="2400">
                <a:solidFill>
                  <a:srgbClr val="000000"/>
                </a:solidFill>
                <a:latin typeface="Canva Sans"/>
                <a:ea typeface="Canva Sans"/>
                <a:cs typeface="Canva Sans"/>
                <a:sym typeface="Canva Sans"/>
              </a:rPr>
              <a:t>Mayor ancho de banda y eficiencia energética</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884264" y="3007460"/>
            <a:ext cx="6581726" cy="4272080"/>
          </a:xfrm>
          <a:custGeom>
            <a:avLst/>
            <a:gdLst/>
            <a:ahLst/>
            <a:cxnLst/>
            <a:rect l="l" t="t" r="r" b="b"/>
            <a:pathLst>
              <a:path w="6581726" h="4272080">
                <a:moveTo>
                  <a:pt x="0" y="0"/>
                </a:moveTo>
                <a:lnTo>
                  <a:pt x="6581726" y="0"/>
                </a:lnTo>
                <a:lnTo>
                  <a:pt x="6581726" y="4272080"/>
                </a:lnTo>
                <a:lnTo>
                  <a:pt x="0" y="4272080"/>
                </a:lnTo>
                <a:lnTo>
                  <a:pt x="0" y="0"/>
                </a:lnTo>
                <a:close/>
              </a:path>
            </a:pathLst>
          </a:custGeom>
          <a:blipFill>
            <a:blip r:embed="rId2"/>
            <a:stretch>
              <a:fillRect t="-33617" r="-300" b="-20909"/>
            </a:stretch>
          </a:blipFill>
        </p:spPr>
        <p:txBody>
          <a:bodyPr/>
          <a:lstStyle/>
          <a:p>
            <a:endParaRPr lang="es-GT"/>
          </a:p>
        </p:txBody>
      </p:sp>
      <p:sp>
        <p:nvSpPr>
          <p:cNvPr id="3" name="TextBox 3"/>
          <p:cNvSpPr txBox="1"/>
          <p:nvPr/>
        </p:nvSpPr>
        <p:spPr>
          <a:xfrm>
            <a:off x="6400949" y="942975"/>
            <a:ext cx="5486102" cy="811530"/>
          </a:xfrm>
          <a:prstGeom prst="rect">
            <a:avLst/>
          </a:prstGeom>
        </p:spPr>
        <p:txBody>
          <a:bodyPr lIns="0" tIns="0" rIns="0" bIns="0" rtlCol="0" anchor="t">
            <a:spAutoFit/>
          </a:bodyPr>
          <a:lstStyle/>
          <a:p>
            <a:pPr algn="ctr">
              <a:lnSpc>
                <a:spcPts val="6719"/>
              </a:lnSpc>
              <a:spcBef>
                <a:spcPct val="0"/>
              </a:spcBef>
            </a:pPr>
            <a:r>
              <a:rPr lang="en-US" sz="4800">
                <a:solidFill>
                  <a:srgbClr val="000000"/>
                </a:solidFill>
                <a:latin typeface="Canva Sans"/>
                <a:ea typeface="Canva Sans"/>
                <a:cs typeface="Canva Sans"/>
                <a:sym typeface="Canva Sans"/>
              </a:rPr>
              <a:t>Memoria Principal </a:t>
            </a:r>
          </a:p>
        </p:txBody>
      </p:sp>
      <p:sp>
        <p:nvSpPr>
          <p:cNvPr id="4" name="TextBox 4"/>
          <p:cNvSpPr txBox="1"/>
          <p:nvPr/>
        </p:nvSpPr>
        <p:spPr>
          <a:xfrm>
            <a:off x="1574915" y="2812588"/>
            <a:ext cx="6011921" cy="6263640"/>
          </a:xfrm>
          <a:prstGeom prst="rect">
            <a:avLst/>
          </a:prstGeom>
        </p:spPr>
        <p:txBody>
          <a:bodyPr lIns="0" tIns="0" rIns="0" bIns="0" rtlCol="0" anchor="t">
            <a:spAutoFit/>
          </a:bodyPr>
          <a:lstStyle/>
          <a:p>
            <a:pPr algn="l">
              <a:lnSpc>
                <a:spcPts val="3359"/>
              </a:lnSpc>
              <a:spcBef>
                <a:spcPct val="0"/>
              </a:spcBef>
            </a:pPr>
            <a:r>
              <a:rPr lang="en-US" sz="2400">
                <a:solidFill>
                  <a:srgbClr val="000000"/>
                </a:solidFill>
                <a:latin typeface="Canva Sans"/>
                <a:ea typeface="Canva Sans"/>
                <a:cs typeface="Canva Sans"/>
                <a:sym typeface="Canva Sans"/>
              </a:rPr>
              <a:t>Casos Prácticos:</a:t>
            </a:r>
          </a:p>
          <a:p>
            <a:pPr algn="l">
              <a:lnSpc>
                <a:spcPts val="3359"/>
              </a:lnSpc>
              <a:spcBef>
                <a:spcPct val="0"/>
              </a:spcBef>
            </a:pPr>
            <a:endParaRPr lang="en-US" sz="2400">
              <a:solidFill>
                <a:srgbClr val="000000"/>
              </a:solidFill>
              <a:latin typeface="Canva Sans"/>
              <a:ea typeface="Canva Sans"/>
              <a:cs typeface="Canva Sans"/>
              <a:sym typeface="Canva Sans"/>
            </a:endParaRPr>
          </a:p>
          <a:p>
            <a:pPr marL="518160" lvl="1" indent="-259080" algn="l">
              <a:lnSpc>
                <a:spcPts val="3359"/>
              </a:lnSpc>
              <a:spcBef>
                <a:spcPct val="0"/>
              </a:spcBef>
              <a:buFont typeface="Arial"/>
              <a:buChar char="•"/>
            </a:pPr>
            <a:r>
              <a:rPr lang="en-US" sz="2400">
                <a:solidFill>
                  <a:srgbClr val="000000"/>
                </a:solidFill>
                <a:latin typeface="Canva Sans"/>
                <a:ea typeface="Canva Sans"/>
                <a:cs typeface="Canva Sans"/>
                <a:sym typeface="Canva Sans"/>
              </a:rPr>
              <a:t>Gaming:</a:t>
            </a:r>
          </a:p>
          <a:p>
            <a:pPr marL="1036320" lvl="2" indent="-345440" algn="l">
              <a:lnSpc>
                <a:spcPts val="3359"/>
              </a:lnSpc>
              <a:spcBef>
                <a:spcPct val="0"/>
              </a:spcBef>
              <a:buFont typeface="Arial"/>
              <a:buChar char="⚬"/>
            </a:pPr>
            <a:r>
              <a:rPr lang="en-US" sz="2400">
                <a:solidFill>
                  <a:srgbClr val="000000"/>
                </a:solidFill>
                <a:latin typeface="Canva Sans"/>
                <a:ea typeface="Canva Sans"/>
                <a:cs typeface="Canva Sans"/>
                <a:sym typeface="Canva Sans"/>
              </a:rPr>
              <a:t>16-32 GB DDR4/DDR5</a:t>
            </a:r>
          </a:p>
          <a:p>
            <a:pPr marL="1036320" lvl="2" indent="-345440" algn="l">
              <a:lnSpc>
                <a:spcPts val="3359"/>
              </a:lnSpc>
              <a:spcBef>
                <a:spcPct val="0"/>
              </a:spcBef>
              <a:buFont typeface="Arial"/>
              <a:buChar char="⚬"/>
            </a:pPr>
            <a:r>
              <a:rPr lang="en-US" sz="2400">
                <a:solidFill>
                  <a:srgbClr val="000000"/>
                </a:solidFill>
                <a:latin typeface="Canva Sans"/>
                <a:ea typeface="Canva Sans"/>
                <a:cs typeface="Canva Sans"/>
                <a:sym typeface="Canva Sans"/>
              </a:rPr>
              <a:t>Latencias bajas (CL14-CL16)</a:t>
            </a:r>
          </a:p>
          <a:p>
            <a:pPr marL="1036320" lvl="2" indent="-345440" algn="l">
              <a:lnSpc>
                <a:spcPts val="3359"/>
              </a:lnSpc>
              <a:spcBef>
                <a:spcPct val="0"/>
              </a:spcBef>
              <a:buFont typeface="Arial"/>
              <a:buChar char="⚬"/>
            </a:pPr>
            <a:r>
              <a:rPr lang="en-US" sz="2400">
                <a:solidFill>
                  <a:srgbClr val="000000"/>
                </a:solidFill>
                <a:latin typeface="Canva Sans"/>
                <a:ea typeface="Canva Sans"/>
                <a:cs typeface="Canva Sans"/>
                <a:sym typeface="Canva Sans"/>
              </a:rPr>
              <a:t>Dual/Quad channel</a:t>
            </a:r>
          </a:p>
          <a:p>
            <a:pPr algn="l">
              <a:lnSpc>
                <a:spcPts val="3359"/>
              </a:lnSpc>
              <a:spcBef>
                <a:spcPct val="0"/>
              </a:spcBef>
            </a:pPr>
            <a:endParaRPr lang="en-US" sz="2400">
              <a:solidFill>
                <a:srgbClr val="000000"/>
              </a:solidFill>
              <a:latin typeface="Canva Sans"/>
              <a:ea typeface="Canva Sans"/>
              <a:cs typeface="Canva Sans"/>
              <a:sym typeface="Canva Sans"/>
            </a:endParaRPr>
          </a:p>
          <a:p>
            <a:pPr marL="518160" lvl="1" indent="-259080" algn="l">
              <a:lnSpc>
                <a:spcPts val="3359"/>
              </a:lnSpc>
              <a:spcBef>
                <a:spcPct val="0"/>
              </a:spcBef>
              <a:buFont typeface="Arial"/>
              <a:buChar char="•"/>
            </a:pPr>
            <a:r>
              <a:rPr lang="en-US" sz="2400">
                <a:solidFill>
                  <a:srgbClr val="000000"/>
                </a:solidFill>
                <a:latin typeface="Canva Sans"/>
                <a:ea typeface="Canva Sans"/>
                <a:cs typeface="Canva Sans"/>
                <a:sym typeface="Canva Sans"/>
              </a:rPr>
              <a:t>Servidores:</a:t>
            </a:r>
          </a:p>
          <a:p>
            <a:pPr marL="1036320" lvl="2" indent="-345440" algn="l">
              <a:lnSpc>
                <a:spcPts val="3359"/>
              </a:lnSpc>
              <a:spcBef>
                <a:spcPct val="0"/>
              </a:spcBef>
              <a:buFont typeface="Arial"/>
              <a:buChar char="⚬"/>
            </a:pPr>
            <a:r>
              <a:rPr lang="en-US" sz="2400">
                <a:solidFill>
                  <a:srgbClr val="000000"/>
                </a:solidFill>
                <a:latin typeface="Canva Sans"/>
                <a:ea typeface="Canva Sans"/>
                <a:cs typeface="Canva Sans"/>
                <a:sym typeface="Canva Sans"/>
              </a:rPr>
              <a:t>64-512 GB ECC RAM</a:t>
            </a:r>
          </a:p>
          <a:p>
            <a:pPr marL="1036320" lvl="2" indent="-345440" algn="l">
              <a:lnSpc>
                <a:spcPts val="3359"/>
              </a:lnSpc>
              <a:spcBef>
                <a:spcPct val="0"/>
              </a:spcBef>
              <a:buFont typeface="Arial"/>
              <a:buChar char="⚬"/>
            </a:pPr>
            <a:r>
              <a:rPr lang="en-US" sz="2400">
                <a:solidFill>
                  <a:srgbClr val="000000"/>
                </a:solidFill>
                <a:latin typeface="Canva Sans"/>
                <a:ea typeface="Canva Sans"/>
                <a:cs typeface="Canva Sans"/>
                <a:sym typeface="Canva Sans"/>
              </a:rPr>
              <a:t>Corrección de errores</a:t>
            </a:r>
          </a:p>
          <a:p>
            <a:pPr marL="1036320" lvl="2" indent="-345440" algn="l">
              <a:lnSpc>
                <a:spcPts val="3359"/>
              </a:lnSpc>
              <a:spcBef>
                <a:spcPct val="0"/>
              </a:spcBef>
              <a:buFont typeface="Arial"/>
              <a:buChar char="⚬"/>
            </a:pPr>
            <a:r>
              <a:rPr lang="en-US" sz="2400">
                <a:solidFill>
                  <a:srgbClr val="000000"/>
                </a:solidFill>
                <a:latin typeface="Canva Sans"/>
                <a:ea typeface="Canva Sans"/>
                <a:cs typeface="Canva Sans"/>
                <a:sym typeface="Canva Sans"/>
              </a:rPr>
              <a:t>Alta confiabilidad</a:t>
            </a:r>
          </a:p>
          <a:p>
            <a:pPr algn="l">
              <a:lnSpc>
                <a:spcPts val="3359"/>
              </a:lnSpc>
              <a:spcBef>
                <a:spcPct val="0"/>
              </a:spcBef>
            </a:pPr>
            <a:endParaRPr lang="en-US" sz="2400">
              <a:solidFill>
                <a:srgbClr val="000000"/>
              </a:solidFill>
              <a:latin typeface="Canva Sans"/>
              <a:ea typeface="Canva Sans"/>
              <a:cs typeface="Canva Sans"/>
              <a:sym typeface="Canva Sans"/>
            </a:endParaRPr>
          </a:p>
          <a:p>
            <a:pPr marL="518160" lvl="1" indent="-259080" algn="l">
              <a:lnSpc>
                <a:spcPts val="3359"/>
              </a:lnSpc>
              <a:spcBef>
                <a:spcPct val="0"/>
              </a:spcBef>
              <a:buFont typeface="Arial"/>
              <a:buChar char="•"/>
            </a:pPr>
            <a:r>
              <a:rPr lang="en-US" sz="2400">
                <a:solidFill>
                  <a:srgbClr val="000000"/>
                </a:solidFill>
                <a:latin typeface="Canva Sans"/>
                <a:ea typeface="Canva Sans"/>
                <a:cs typeface="Canva Sans"/>
                <a:sym typeface="Canva Sans"/>
              </a:rPr>
              <a:t>Workstations:</a:t>
            </a:r>
          </a:p>
          <a:p>
            <a:pPr marL="1036320" lvl="2" indent="-345440" algn="l">
              <a:lnSpc>
                <a:spcPts val="3359"/>
              </a:lnSpc>
              <a:spcBef>
                <a:spcPct val="0"/>
              </a:spcBef>
              <a:buFont typeface="Arial"/>
              <a:buChar char="⚬"/>
            </a:pPr>
            <a:r>
              <a:rPr lang="en-US" sz="2400">
                <a:solidFill>
                  <a:srgbClr val="000000"/>
                </a:solidFill>
                <a:latin typeface="Canva Sans"/>
                <a:ea typeface="Canva Sans"/>
                <a:cs typeface="Canva Sans"/>
                <a:sym typeface="Canva Sans"/>
              </a:rPr>
              <a:t>32-128 GB</a:t>
            </a:r>
          </a:p>
          <a:p>
            <a:pPr marL="1036320" lvl="2" indent="-345440" algn="l">
              <a:lnSpc>
                <a:spcPts val="3359"/>
              </a:lnSpc>
              <a:spcBef>
                <a:spcPct val="0"/>
              </a:spcBef>
              <a:buFont typeface="Arial"/>
              <a:buChar char="⚬"/>
            </a:pPr>
            <a:r>
              <a:rPr lang="en-US" sz="2400">
                <a:solidFill>
                  <a:srgbClr val="000000"/>
                </a:solidFill>
                <a:latin typeface="Canva Sans"/>
                <a:ea typeface="Canva Sans"/>
                <a:cs typeface="Canva Sans"/>
                <a:sym typeface="Canva Sans"/>
              </a:rPr>
              <a:t>Alta frecuencia para renderizado</a:t>
            </a:r>
          </a:p>
        </p:txBody>
      </p:sp>
      <p:sp>
        <p:nvSpPr>
          <p:cNvPr id="5" name="TextBox 5"/>
          <p:cNvSpPr txBox="1"/>
          <p:nvPr/>
        </p:nvSpPr>
        <p:spPr>
          <a:xfrm>
            <a:off x="9957960" y="7841789"/>
            <a:ext cx="6434333" cy="1234440"/>
          </a:xfrm>
          <a:prstGeom prst="rect">
            <a:avLst/>
          </a:prstGeom>
        </p:spPr>
        <p:txBody>
          <a:bodyPr lIns="0" tIns="0" rIns="0" bIns="0" rtlCol="0" anchor="t">
            <a:spAutoFit/>
          </a:bodyPr>
          <a:lstStyle/>
          <a:p>
            <a:pPr algn="just">
              <a:lnSpc>
                <a:spcPts val="3360"/>
              </a:lnSpc>
              <a:spcBef>
                <a:spcPct val="0"/>
              </a:spcBef>
            </a:pPr>
            <a:r>
              <a:rPr lang="en-US" sz="2400">
                <a:solidFill>
                  <a:srgbClr val="000000"/>
                </a:solidFill>
                <a:latin typeface="Canva Sans"/>
                <a:ea typeface="Canva Sans"/>
                <a:cs typeface="Canva Sans"/>
                <a:sym typeface="Canva Sans"/>
              </a:rPr>
              <a:t>Ejemplo de cálculo: Ancho de banda DDR5-5600: 5600 MT/s × 8 bytes = 44.8 GB/s por canal</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365515" y="4667605"/>
            <a:ext cx="6506898" cy="4299510"/>
          </a:xfrm>
          <a:custGeom>
            <a:avLst/>
            <a:gdLst/>
            <a:ahLst/>
            <a:cxnLst/>
            <a:rect l="l" t="t" r="r" b="b"/>
            <a:pathLst>
              <a:path w="6506898" h="4299510">
                <a:moveTo>
                  <a:pt x="0" y="0"/>
                </a:moveTo>
                <a:lnTo>
                  <a:pt x="6506898" y="0"/>
                </a:lnTo>
                <a:lnTo>
                  <a:pt x="6506898" y="4299510"/>
                </a:lnTo>
                <a:lnTo>
                  <a:pt x="0" y="4299510"/>
                </a:lnTo>
                <a:lnTo>
                  <a:pt x="0" y="0"/>
                </a:lnTo>
                <a:close/>
              </a:path>
            </a:pathLst>
          </a:custGeom>
          <a:blipFill>
            <a:blip r:embed="rId2"/>
            <a:stretch>
              <a:fillRect l="-49644" t="-53934" b="-72539"/>
            </a:stretch>
          </a:blipFill>
        </p:spPr>
        <p:txBody>
          <a:bodyPr/>
          <a:lstStyle/>
          <a:p>
            <a:endParaRPr lang="es-GT"/>
          </a:p>
        </p:txBody>
      </p:sp>
      <p:sp>
        <p:nvSpPr>
          <p:cNvPr id="3" name="TextBox 3"/>
          <p:cNvSpPr txBox="1"/>
          <p:nvPr/>
        </p:nvSpPr>
        <p:spPr>
          <a:xfrm>
            <a:off x="6122491" y="942975"/>
            <a:ext cx="6043017" cy="811530"/>
          </a:xfrm>
          <a:prstGeom prst="rect">
            <a:avLst/>
          </a:prstGeom>
        </p:spPr>
        <p:txBody>
          <a:bodyPr lIns="0" tIns="0" rIns="0" bIns="0" rtlCol="0" anchor="t">
            <a:spAutoFit/>
          </a:bodyPr>
          <a:lstStyle/>
          <a:p>
            <a:pPr algn="ctr">
              <a:lnSpc>
                <a:spcPts val="6719"/>
              </a:lnSpc>
              <a:spcBef>
                <a:spcPct val="0"/>
              </a:spcBef>
            </a:pPr>
            <a:r>
              <a:rPr lang="en-US" sz="4800">
                <a:solidFill>
                  <a:srgbClr val="000000"/>
                </a:solidFill>
                <a:latin typeface="Canva Sans"/>
                <a:ea typeface="Canva Sans"/>
                <a:cs typeface="Canva Sans"/>
                <a:sym typeface="Canva Sans"/>
              </a:rPr>
              <a:t>Memoria Secundaria</a:t>
            </a:r>
          </a:p>
        </p:txBody>
      </p:sp>
      <p:sp>
        <p:nvSpPr>
          <p:cNvPr id="4" name="TextBox 4"/>
          <p:cNvSpPr txBox="1"/>
          <p:nvPr/>
        </p:nvSpPr>
        <p:spPr>
          <a:xfrm>
            <a:off x="1028700" y="2425960"/>
            <a:ext cx="16230600" cy="976630"/>
          </a:xfrm>
          <a:prstGeom prst="rect">
            <a:avLst/>
          </a:prstGeom>
        </p:spPr>
        <p:txBody>
          <a:bodyPr lIns="0" tIns="0" rIns="0" bIns="0" rtlCol="0" anchor="t">
            <a:spAutoFit/>
          </a:bodyPr>
          <a:lstStyle/>
          <a:p>
            <a:pPr algn="just">
              <a:lnSpc>
                <a:spcPts val="3919"/>
              </a:lnSpc>
              <a:spcBef>
                <a:spcPct val="0"/>
              </a:spcBef>
            </a:pPr>
            <a:r>
              <a:rPr lang="en-US" sz="2799">
                <a:solidFill>
                  <a:srgbClr val="000000"/>
                </a:solidFill>
                <a:latin typeface="Canva Sans"/>
                <a:ea typeface="Canva Sans"/>
                <a:cs typeface="Canva Sans"/>
                <a:sym typeface="Canva Sans"/>
              </a:rPr>
              <a:t>La Memoria Secundaria es el almacenamiento no volátil de largo plazo para datos y programas. Retiene información incluso sin energía eléctrica.</a:t>
            </a:r>
          </a:p>
        </p:txBody>
      </p:sp>
      <p:sp>
        <p:nvSpPr>
          <p:cNvPr id="5" name="TextBox 5"/>
          <p:cNvSpPr txBox="1"/>
          <p:nvPr/>
        </p:nvSpPr>
        <p:spPr>
          <a:xfrm>
            <a:off x="1028700" y="4319270"/>
            <a:ext cx="9097166" cy="4939030"/>
          </a:xfrm>
          <a:prstGeom prst="rect">
            <a:avLst/>
          </a:prstGeom>
        </p:spPr>
        <p:txBody>
          <a:bodyPr lIns="0" tIns="0" rIns="0" bIns="0" rtlCol="0" anchor="t">
            <a:spAutoFit/>
          </a:bodyPr>
          <a:lstStyle/>
          <a:p>
            <a:pPr algn="l">
              <a:lnSpc>
                <a:spcPts val="3919"/>
              </a:lnSpc>
            </a:pPr>
            <a:r>
              <a:rPr lang="en-US" sz="2799">
                <a:solidFill>
                  <a:srgbClr val="000000"/>
                </a:solidFill>
                <a:latin typeface="Canva Sans"/>
                <a:ea typeface="Canva Sans"/>
                <a:cs typeface="Canva Sans"/>
                <a:sym typeface="Canva Sans"/>
              </a:rPr>
              <a:t>Características:</a:t>
            </a:r>
          </a:p>
          <a:p>
            <a:pPr marL="604519" lvl="1" indent="-302260" algn="l">
              <a:lnSpc>
                <a:spcPts val="3919"/>
              </a:lnSpc>
              <a:spcBef>
                <a:spcPct val="0"/>
              </a:spcBef>
              <a:buFont typeface="Arial"/>
              <a:buChar char="•"/>
            </a:pPr>
            <a:r>
              <a:rPr lang="en-US" sz="2799">
                <a:solidFill>
                  <a:srgbClr val="000000"/>
                </a:solidFill>
                <a:latin typeface="Canva Sans"/>
                <a:ea typeface="Canva Sans"/>
                <a:cs typeface="Canva Sans"/>
                <a:sym typeface="Canva Sans"/>
              </a:rPr>
              <a:t>No volátil (persistente)</a:t>
            </a:r>
          </a:p>
          <a:p>
            <a:pPr marL="604519" lvl="1" indent="-302260" algn="l">
              <a:lnSpc>
                <a:spcPts val="3919"/>
              </a:lnSpc>
              <a:spcBef>
                <a:spcPct val="0"/>
              </a:spcBef>
              <a:buFont typeface="Arial"/>
              <a:buChar char="•"/>
            </a:pPr>
            <a:r>
              <a:rPr lang="en-US" sz="2799">
                <a:solidFill>
                  <a:srgbClr val="000000"/>
                </a:solidFill>
                <a:latin typeface="Canva Sans"/>
                <a:ea typeface="Canva Sans"/>
                <a:cs typeface="Canva Sans"/>
                <a:sym typeface="Canva Sans"/>
              </a:rPr>
              <a:t>Mayor capacidad</a:t>
            </a:r>
          </a:p>
          <a:p>
            <a:pPr marL="604519" lvl="1" indent="-302260" algn="l">
              <a:lnSpc>
                <a:spcPts val="3919"/>
              </a:lnSpc>
              <a:spcBef>
                <a:spcPct val="0"/>
              </a:spcBef>
              <a:buFont typeface="Arial"/>
              <a:buChar char="•"/>
            </a:pPr>
            <a:r>
              <a:rPr lang="en-US" sz="2799">
                <a:solidFill>
                  <a:srgbClr val="000000"/>
                </a:solidFill>
                <a:latin typeface="Canva Sans"/>
                <a:ea typeface="Canva Sans"/>
                <a:cs typeface="Canva Sans"/>
                <a:sym typeface="Canva Sans"/>
              </a:rPr>
              <a:t>Menor velocidad que RAM</a:t>
            </a:r>
          </a:p>
          <a:p>
            <a:pPr marL="604519" lvl="1" indent="-302260" algn="l">
              <a:lnSpc>
                <a:spcPts val="3919"/>
              </a:lnSpc>
              <a:spcBef>
                <a:spcPct val="0"/>
              </a:spcBef>
              <a:buFont typeface="Arial"/>
              <a:buChar char="•"/>
            </a:pPr>
            <a:r>
              <a:rPr lang="en-US" sz="2799">
                <a:solidFill>
                  <a:srgbClr val="000000"/>
                </a:solidFill>
                <a:latin typeface="Canva Sans"/>
                <a:ea typeface="Canva Sans"/>
                <a:cs typeface="Canva Sans"/>
                <a:sym typeface="Canva Sans"/>
              </a:rPr>
              <a:t>Menor costo por GB</a:t>
            </a:r>
          </a:p>
          <a:p>
            <a:pPr algn="l">
              <a:lnSpc>
                <a:spcPts val="3919"/>
              </a:lnSpc>
              <a:spcBef>
                <a:spcPct val="0"/>
              </a:spcBef>
            </a:pPr>
            <a:endParaRPr lang="en-US" sz="2799">
              <a:solidFill>
                <a:srgbClr val="000000"/>
              </a:solidFill>
              <a:latin typeface="Canva Sans"/>
              <a:ea typeface="Canva Sans"/>
              <a:cs typeface="Canva Sans"/>
              <a:sym typeface="Canva Sans"/>
            </a:endParaRPr>
          </a:p>
          <a:p>
            <a:pPr algn="l">
              <a:lnSpc>
                <a:spcPts val="3919"/>
              </a:lnSpc>
              <a:spcBef>
                <a:spcPct val="0"/>
              </a:spcBef>
            </a:pPr>
            <a:r>
              <a:rPr lang="en-US" sz="2799">
                <a:solidFill>
                  <a:srgbClr val="000000"/>
                </a:solidFill>
                <a:latin typeface="Canva Sans"/>
                <a:ea typeface="Canva Sans"/>
                <a:cs typeface="Canva Sans"/>
                <a:sym typeface="Canva Sans"/>
              </a:rPr>
              <a:t>Tipos principales:</a:t>
            </a:r>
          </a:p>
          <a:p>
            <a:pPr marL="604519" lvl="1" indent="-302260" algn="l">
              <a:lnSpc>
                <a:spcPts val="3919"/>
              </a:lnSpc>
              <a:spcBef>
                <a:spcPct val="0"/>
              </a:spcBef>
              <a:buFont typeface="Arial"/>
              <a:buChar char="•"/>
            </a:pPr>
            <a:r>
              <a:rPr lang="en-US" sz="2799">
                <a:solidFill>
                  <a:srgbClr val="000000"/>
                </a:solidFill>
                <a:latin typeface="Canva Sans"/>
                <a:ea typeface="Canva Sans"/>
                <a:cs typeface="Canva Sans"/>
                <a:sym typeface="Canva Sans"/>
              </a:rPr>
              <a:t>HDD (Hard Disk Drive)</a:t>
            </a:r>
          </a:p>
          <a:p>
            <a:pPr marL="604519" lvl="1" indent="-302260" algn="l">
              <a:lnSpc>
                <a:spcPts val="3919"/>
              </a:lnSpc>
              <a:spcBef>
                <a:spcPct val="0"/>
              </a:spcBef>
              <a:buFont typeface="Arial"/>
              <a:buChar char="•"/>
            </a:pPr>
            <a:r>
              <a:rPr lang="en-US" sz="2799">
                <a:solidFill>
                  <a:srgbClr val="000000"/>
                </a:solidFill>
                <a:latin typeface="Canva Sans"/>
                <a:ea typeface="Canva Sans"/>
                <a:cs typeface="Canva Sans"/>
                <a:sym typeface="Canva Sans"/>
              </a:rPr>
              <a:t>SSD (Solid State Drive)</a:t>
            </a:r>
          </a:p>
          <a:p>
            <a:pPr marL="604519" lvl="1" indent="-302260" algn="l">
              <a:lnSpc>
                <a:spcPts val="3919"/>
              </a:lnSpc>
              <a:spcBef>
                <a:spcPct val="0"/>
              </a:spcBef>
              <a:buFont typeface="Arial"/>
              <a:buChar char="•"/>
            </a:pPr>
            <a:r>
              <a:rPr lang="en-US" sz="2799">
                <a:solidFill>
                  <a:srgbClr val="000000"/>
                </a:solidFill>
                <a:latin typeface="Canva Sans"/>
                <a:ea typeface="Canva Sans"/>
                <a:cs typeface="Canva Sans"/>
                <a:sym typeface="Canva Sans"/>
              </a:rPr>
              <a:t>NVMe (Non-Volatile Memory Express)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505187" y="6072047"/>
            <a:ext cx="3161575" cy="3186253"/>
          </a:xfrm>
          <a:custGeom>
            <a:avLst/>
            <a:gdLst/>
            <a:ahLst/>
            <a:cxnLst/>
            <a:rect l="l" t="t" r="r" b="b"/>
            <a:pathLst>
              <a:path w="3161575" h="3186253">
                <a:moveTo>
                  <a:pt x="0" y="0"/>
                </a:moveTo>
                <a:lnTo>
                  <a:pt x="3161575" y="0"/>
                </a:lnTo>
                <a:lnTo>
                  <a:pt x="3161575" y="3186253"/>
                </a:lnTo>
                <a:lnTo>
                  <a:pt x="0" y="3186253"/>
                </a:lnTo>
                <a:lnTo>
                  <a:pt x="0" y="0"/>
                </a:lnTo>
                <a:close/>
              </a:path>
            </a:pathLst>
          </a:custGeom>
          <a:blipFill>
            <a:blip r:embed="rId2"/>
            <a:stretch>
              <a:fillRect t="-19940" r="-101069" b="-79571"/>
            </a:stretch>
          </a:blipFill>
        </p:spPr>
        <p:txBody>
          <a:bodyPr/>
          <a:lstStyle/>
          <a:p>
            <a:endParaRPr lang="es-GT"/>
          </a:p>
        </p:txBody>
      </p:sp>
      <p:sp>
        <p:nvSpPr>
          <p:cNvPr id="3" name="Freeform 3"/>
          <p:cNvSpPr/>
          <p:nvPr/>
        </p:nvSpPr>
        <p:spPr>
          <a:xfrm>
            <a:off x="13018560" y="6117565"/>
            <a:ext cx="2989008" cy="3140735"/>
          </a:xfrm>
          <a:custGeom>
            <a:avLst/>
            <a:gdLst/>
            <a:ahLst/>
            <a:cxnLst/>
            <a:rect l="l" t="t" r="r" b="b"/>
            <a:pathLst>
              <a:path w="2989008" h="3140735">
                <a:moveTo>
                  <a:pt x="0" y="0"/>
                </a:moveTo>
                <a:lnTo>
                  <a:pt x="2989008" y="0"/>
                </a:lnTo>
                <a:lnTo>
                  <a:pt x="2989008" y="3140735"/>
                </a:lnTo>
                <a:lnTo>
                  <a:pt x="0" y="3140735"/>
                </a:lnTo>
                <a:lnTo>
                  <a:pt x="0" y="0"/>
                </a:lnTo>
                <a:close/>
              </a:path>
            </a:pathLst>
          </a:custGeom>
          <a:blipFill>
            <a:blip r:embed="rId2"/>
            <a:stretch>
              <a:fillRect l="-108119" t="-19076" r="-4558" b="-83326"/>
            </a:stretch>
          </a:blipFill>
        </p:spPr>
        <p:txBody>
          <a:bodyPr/>
          <a:lstStyle/>
          <a:p>
            <a:endParaRPr lang="es-GT"/>
          </a:p>
        </p:txBody>
      </p:sp>
      <p:sp>
        <p:nvSpPr>
          <p:cNvPr id="4" name="Freeform 4"/>
          <p:cNvSpPr/>
          <p:nvPr/>
        </p:nvSpPr>
        <p:spPr>
          <a:xfrm>
            <a:off x="7482597" y="2744564"/>
            <a:ext cx="3322806" cy="2283272"/>
          </a:xfrm>
          <a:custGeom>
            <a:avLst/>
            <a:gdLst/>
            <a:ahLst/>
            <a:cxnLst/>
            <a:rect l="l" t="t" r="r" b="b"/>
            <a:pathLst>
              <a:path w="3322806" h="2283272">
                <a:moveTo>
                  <a:pt x="0" y="0"/>
                </a:moveTo>
                <a:lnTo>
                  <a:pt x="3322806" y="0"/>
                </a:lnTo>
                <a:lnTo>
                  <a:pt x="3322806" y="2283272"/>
                </a:lnTo>
                <a:lnTo>
                  <a:pt x="0" y="2283272"/>
                </a:lnTo>
                <a:lnTo>
                  <a:pt x="0" y="0"/>
                </a:lnTo>
                <a:close/>
              </a:path>
            </a:pathLst>
          </a:custGeom>
          <a:blipFill>
            <a:blip r:embed="rId2"/>
            <a:stretch>
              <a:fillRect l="-42920" t="-178414" r="-48392"/>
            </a:stretch>
          </a:blipFill>
        </p:spPr>
        <p:txBody>
          <a:bodyPr/>
          <a:lstStyle/>
          <a:p>
            <a:endParaRPr lang="es-GT"/>
          </a:p>
        </p:txBody>
      </p:sp>
      <p:sp>
        <p:nvSpPr>
          <p:cNvPr id="5" name="TextBox 5"/>
          <p:cNvSpPr txBox="1"/>
          <p:nvPr/>
        </p:nvSpPr>
        <p:spPr>
          <a:xfrm>
            <a:off x="1028700" y="2202180"/>
            <a:ext cx="6114550" cy="3329940"/>
          </a:xfrm>
          <a:prstGeom prst="rect">
            <a:avLst/>
          </a:prstGeom>
        </p:spPr>
        <p:txBody>
          <a:bodyPr lIns="0" tIns="0" rIns="0" bIns="0" rtlCol="0" anchor="t">
            <a:spAutoFit/>
          </a:bodyPr>
          <a:lstStyle/>
          <a:p>
            <a:pPr algn="l">
              <a:lnSpc>
                <a:spcPts val="3359"/>
              </a:lnSpc>
              <a:spcBef>
                <a:spcPct val="0"/>
              </a:spcBef>
            </a:pPr>
            <a:r>
              <a:rPr lang="en-US" sz="2400">
                <a:solidFill>
                  <a:srgbClr val="000000"/>
                </a:solidFill>
                <a:latin typeface="Canva Sans"/>
                <a:ea typeface="Canva Sans"/>
                <a:cs typeface="Canva Sans"/>
                <a:sym typeface="Canva Sans"/>
              </a:rPr>
              <a:t>Tecnologías de Almacenamiento:</a:t>
            </a:r>
          </a:p>
          <a:p>
            <a:pPr algn="l">
              <a:lnSpc>
                <a:spcPts val="3359"/>
              </a:lnSpc>
              <a:spcBef>
                <a:spcPct val="0"/>
              </a:spcBef>
            </a:pPr>
            <a:endParaRPr lang="en-US" sz="2400">
              <a:solidFill>
                <a:srgbClr val="000000"/>
              </a:solidFill>
              <a:latin typeface="Canva Sans"/>
              <a:ea typeface="Canva Sans"/>
              <a:cs typeface="Canva Sans"/>
              <a:sym typeface="Canva Sans"/>
            </a:endParaRPr>
          </a:p>
          <a:p>
            <a:pPr marL="518160" lvl="1" indent="-259080" algn="l">
              <a:lnSpc>
                <a:spcPts val="3359"/>
              </a:lnSpc>
              <a:spcBef>
                <a:spcPct val="0"/>
              </a:spcBef>
              <a:buFont typeface="Arial"/>
              <a:buChar char="•"/>
            </a:pPr>
            <a:r>
              <a:rPr lang="en-US" sz="2400">
                <a:solidFill>
                  <a:srgbClr val="000000"/>
                </a:solidFill>
                <a:latin typeface="Canva Sans"/>
                <a:ea typeface="Canva Sans"/>
                <a:cs typeface="Canva Sans"/>
                <a:sym typeface="Canva Sans"/>
              </a:rPr>
              <a:t>HDD (Mecánico):</a:t>
            </a:r>
          </a:p>
          <a:p>
            <a:pPr marL="1036320" lvl="2" indent="-345440" algn="l">
              <a:lnSpc>
                <a:spcPts val="3359"/>
              </a:lnSpc>
              <a:spcBef>
                <a:spcPct val="0"/>
              </a:spcBef>
              <a:buFont typeface="Arial"/>
              <a:buChar char="⚬"/>
            </a:pPr>
            <a:r>
              <a:rPr lang="en-US" sz="2400">
                <a:solidFill>
                  <a:srgbClr val="000000"/>
                </a:solidFill>
                <a:latin typeface="Canva Sans"/>
                <a:ea typeface="Canva Sans"/>
                <a:cs typeface="Canva Sans"/>
                <a:sym typeface="Canva Sans"/>
              </a:rPr>
              <a:t>Platos magnéticos giratorios</a:t>
            </a:r>
          </a:p>
          <a:p>
            <a:pPr marL="1036320" lvl="2" indent="-345440" algn="l">
              <a:lnSpc>
                <a:spcPts val="3359"/>
              </a:lnSpc>
              <a:spcBef>
                <a:spcPct val="0"/>
              </a:spcBef>
              <a:buFont typeface="Arial"/>
              <a:buChar char="⚬"/>
            </a:pPr>
            <a:r>
              <a:rPr lang="en-US" sz="2400">
                <a:solidFill>
                  <a:srgbClr val="000000"/>
                </a:solidFill>
                <a:latin typeface="Canva Sans"/>
                <a:ea typeface="Canva Sans"/>
                <a:cs typeface="Canva Sans"/>
                <a:sym typeface="Canva Sans"/>
              </a:rPr>
              <a:t>Cabezales de lectura/escritura</a:t>
            </a:r>
          </a:p>
          <a:p>
            <a:pPr marL="1036320" lvl="2" indent="-345440" algn="l">
              <a:lnSpc>
                <a:spcPts val="3359"/>
              </a:lnSpc>
              <a:spcBef>
                <a:spcPct val="0"/>
              </a:spcBef>
              <a:buFont typeface="Arial"/>
              <a:buChar char="⚬"/>
            </a:pPr>
            <a:r>
              <a:rPr lang="en-US" sz="2400">
                <a:solidFill>
                  <a:srgbClr val="000000"/>
                </a:solidFill>
                <a:latin typeface="Canva Sans"/>
                <a:ea typeface="Canva Sans"/>
                <a:cs typeface="Canva Sans"/>
                <a:sym typeface="Canva Sans"/>
              </a:rPr>
              <a:t>Velocidad: 80-160 MB/s</a:t>
            </a:r>
          </a:p>
          <a:p>
            <a:pPr marL="1036320" lvl="2" indent="-345440" algn="l">
              <a:lnSpc>
                <a:spcPts val="3359"/>
              </a:lnSpc>
              <a:spcBef>
                <a:spcPct val="0"/>
              </a:spcBef>
              <a:buFont typeface="Arial"/>
              <a:buChar char="⚬"/>
            </a:pPr>
            <a:r>
              <a:rPr lang="en-US" sz="2400">
                <a:solidFill>
                  <a:srgbClr val="000000"/>
                </a:solidFill>
                <a:latin typeface="Canva Sans"/>
                <a:ea typeface="Canva Sans"/>
                <a:cs typeface="Canva Sans"/>
                <a:sym typeface="Canva Sans"/>
              </a:rPr>
              <a:t>Capacidad: hasta 20 TB</a:t>
            </a:r>
          </a:p>
          <a:p>
            <a:pPr marL="1036320" lvl="2" indent="-345440" algn="l">
              <a:lnSpc>
                <a:spcPts val="3359"/>
              </a:lnSpc>
              <a:spcBef>
                <a:spcPct val="0"/>
              </a:spcBef>
              <a:buFont typeface="Arial"/>
              <a:buChar char="⚬"/>
            </a:pPr>
            <a:r>
              <a:rPr lang="en-US" sz="2400">
                <a:solidFill>
                  <a:srgbClr val="000000"/>
                </a:solidFill>
                <a:latin typeface="Canva Sans"/>
                <a:ea typeface="Canva Sans"/>
                <a:cs typeface="Canva Sans"/>
                <a:sym typeface="Canva Sans"/>
              </a:rPr>
              <a:t>Latencia: 5-10 ms</a:t>
            </a:r>
          </a:p>
        </p:txBody>
      </p:sp>
      <p:sp>
        <p:nvSpPr>
          <p:cNvPr id="6" name="TextBox 6"/>
          <p:cNvSpPr txBox="1"/>
          <p:nvPr/>
        </p:nvSpPr>
        <p:spPr>
          <a:xfrm>
            <a:off x="6122491" y="942975"/>
            <a:ext cx="6043017" cy="811530"/>
          </a:xfrm>
          <a:prstGeom prst="rect">
            <a:avLst/>
          </a:prstGeom>
        </p:spPr>
        <p:txBody>
          <a:bodyPr lIns="0" tIns="0" rIns="0" bIns="0" rtlCol="0" anchor="t">
            <a:spAutoFit/>
          </a:bodyPr>
          <a:lstStyle/>
          <a:p>
            <a:pPr algn="ctr">
              <a:lnSpc>
                <a:spcPts val="6719"/>
              </a:lnSpc>
              <a:spcBef>
                <a:spcPct val="0"/>
              </a:spcBef>
            </a:pPr>
            <a:r>
              <a:rPr lang="en-US" sz="4800">
                <a:solidFill>
                  <a:srgbClr val="000000"/>
                </a:solidFill>
                <a:latin typeface="Canva Sans"/>
                <a:ea typeface="Canva Sans"/>
                <a:cs typeface="Canva Sans"/>
                <a:sym typeface="Canva Sans"/>
              </a:rPr>
              <a:t>Memoria Secundaria</a:t>
            </a:r>
          </a:p>
        </p:txBody>
      </p:sp>
      <p:sp>
        <p:nvSpPr>
          <p:cNvPr id="7" name="TextBox 7"/>
          <p:cNvSpPr txBox="1"/>
          <p:nvPr/>
        </p:nvSpPr>
        <p:spPr>
          <a:xfrm>
            <a:off x="11766828" y="2830830"/>
            <a:ext cx="5492472" cy="2072640"/>
          </a:xfrm>
          <a:prstGeom prst="rect">
            <a:avLst/>
          </a:prstGeom>
        </p:spPr>
        <p:txBody>
          <a:bodyPr lIns="0" tIns="0" rIns="0" bIns="0" rtlCol="0" anchor="t">
            <a:spAutoFit/>
          </a:bodyPr>
          <a:lstStyle/>
          <a:p>
            <a:pPr marL="518160" lvl="1" indent="-259080" algn="l">
              <a:lnSpc>
                <a:spcPts val="3359"/>
              </a:lnSpc>
              <a:spcBef>
                <a:spcPct val="0"/>
              </a:spcBef>
              <a:buFont typeface="Arial"/>
              <a:buChar char="•"/>
            </a:pPr>
            <a:r>
              <a:rPr lang="en-US" sz="2400">
                <a:solidFill>
                  <a:srgbClr val="000000"/>
                </a:solidFill>
                <a:latin typeface="Canva Sans"/>
                <a:ea typeface="Canva Sans"/>
                <a:cs typeface="Canva Sans"/>
                <a:sym typeface="Canva Sans"/>
              </a:rPr>
              <a:t>NVMe SSD:Conexión PCIe directa</a:t>
            </a:r>
          </a:p>
          <a:p>
            <a:pPr marL="1036320" lvl="2" indent="-345440" algn="l">
              <a:lnSpc>
                <a:spcPts val="3359"/>
              </a:lnSpc>
              <a:spcBef>
                <a:spcPct val="0"/>
              </a:spcBef>
              <a:buFont typeface="Arial"/>
              <a:buChar char="⚬"/>
            </a:pPr>
            <a:r>
              <a:rPr lang="en-US" sz="2400">
                <a:solidFill>
                  <a:srgbClr val="000000"/>
                </a:solidFill>
                <a:latin typeface="Canva Sans"/>
                <a:ea typeface="Canva Sans"/>
                <a:cs typeface="Canva Sans"/>
                <a:sym typeface="Canva Sans"/>
              </a:rPr>
              <a:t>PCIe 3.0: hasta 3,500 MB/s</a:t>
            </a:r>
          </a:p>
          <a:p>
            <a:pPr marL="1036320" lvl="2" indent="-345440" algn="l">
              <a:lnSpc>
                <a:spcPts val="3359"/>
              </a:lnSpc>
              <a:spcBef>
                <a:spcPct val="0"/>
              </a:spcBef>
              <a:buFont typeface="Arial"/>
              <a:buChar char="⚬"/>
            </a:pPr>
            <a:r>
              <a:rPr lang="en-US" sz="2400">
                <a:solidFill>
                  <a:srgbClr val="000000"/>
                </a:solidFill>
                <a:latin typeface="Canva Sans"/>
                <a:ea typeface="Canva Sans"/>
                <a:cs typeface="Canva Sans"/>
                <a:sym typeface="Canva Sans"/>
              </a:rPr>
              <a:t>PCIe 4.0: hasta 7,000 MB/s</a:t>
            </a:r>
          </a:p>
          <a:p>
            <a:pPr marL="1036320" lvl="2" indent="-345440" algn="l">
              <a:lnSpc>
                <a:spcPts val="3359"/>
              </a:lnSpc>
              <a:spcBef>
                <a:spcPct val="0"/>
              </a:spcBef>
              <a:buFont typeface="Arial"/>
              <a:buChar char="⚬"/>
            </a:pPr>
            <a:r>
              <a:rPr lang="en-US" sz="2400">
                <a:solidFill>
                  <a:srgbClr val="000000"/>
                </a:solidFill>
                <a:latin typeface="Canva Sans"/>
                <a:ea typeface="Canva Sans"/>
                <a:cs typeface="Canva Sans"/>
                <a:sym typeface="Canva Sans"/>
              </a:rPr>
              <a:t>PCIe 5.0: hasta 14,000 MB/s</a:t>
            </a:r>
          </a:p>
          <a:p>
            <a:pPr marL="1036320" lvl="2" indent="-345440" algn="l">
              <a:lnSpc>
                <a:spcPts val="3359"/>
              </a:lnSpc>
              <a:spcBef>
                <a:spcPct val="0"/>
              </a:spcBef>
              <a:buFont typeface="Arial"/>
              <a:buChar char="⚬"/>
            </a:pPr>
            <a:r>
              <a:rPr lang="en-US" sz="2400">
                <a:solidFill>
                  <a:srgbClr val="000000"/>
                </a:solidFill>
                <a:latin typeface="Canva Sans"/>
                <a:ea typeface="Canva Sans"/>
                <a:cs typeface="Canva Sans"/>
                <a:sym typeface="Canva Sans"/>
              </a:rPr>
              <a:t>Latencia: &lt;100 μs</a:t>
            </a:r>
          </a:p>
        </p:txBody>
      </p:sp>
      <p:sp>
        <p:nvSpPr>
          <p:cNvPr id="8" name="TextBox 8"/>
          <p:cNvSpPr txBox="1"/>
          <p:nvPr/>
        </p:nvSpPr>
        <p:spPr>
          <a:xfrm>
            <a:off x="6526731" y="6609804"/>
            <a:ext cx="5234537" cy="2072640"/>
          </a:xfrm>
          <a:prstGeom prst="rect">
            <a:avLst/>
          </a:prstGeom>
        </p:spPr>
        <p:txBody>
          <a:bodyPr lIns="0" tIns="0" rIns="0" bIns="0" rtlCol="0" anchor="t">
            <a:spAutoFit/>
          </a:bodyPr>
          <a:lstStyle/>
          <a:p>
            <a:pPr marL="518160" lvl="1" indent="-259080" algn="l">
              <a:lnSpc>
                <a:spcPts val="3359"/>
              </a:lnSpc>
              <a:spcBef>
                <a:spcPct val="0"/>
              </a:spcBef>
              <a:buFont typeface="Arial"/>
              <a:buChar char="•"/>
            </a:pPr>
            <a:r>
              <a:rPr lang="en-US" sz="2400">
                <a:solidFill>
                  <a:srgbClr val="000000"/>
                </a:solidFill>
                <a:latin typeface="Canva Sans"/>
                <a:ea typeface="Canva Sans"/>
                <a:cs typeface="Canva Sans"/>
                <a:sym typeface="Canva Sans"/>
              </a:rPr>
              <a:t>SSD SATA:</a:t>
            </a:r>
          </a:p>
          <a:p>
            <a:pPr marL="1036320" lvl="2" indent="-345440" algn="l">
              <a:lnSpc>
                <a:spcPts val="3359"/>
              </a:lnSpc>
              <a:spcBef>
                <a:spcPct val="0"/>
              </a:spcBef>
              <a:buFont typeface="Arial"/>
              <a:buChar char="⚬"/>
            </a:pPr>
            <a:r>
              <a:rPr lang="en-US" sz="2400">
                <a:solidFill>
                  <a:srgbClr val="000000"/>
                </a:solidFill>
                <a:latin typeface="Canva Sans"/>
                <a:ea typeface="Canva Sans"/>
                <a:cs typeface="Canva Sans"/>
                <a:sym typeface="Canva Sans"/>
              </a:rPr>
              <a:t>Memoria flash NAND</a:t>
            </a:r>
          </a:p>
          <a:p>
            <a:pPr marL="1036320" lvl="2" indent="-345440" algn="l">
              <a:lnSpc>
                <a:spcPts val="3359"/>
              </a:lnSpc>
              <a:spcBef>
                <a:spcPct val="0"/>
              </a:spcBef>
              <a:buFont typeface="Arial"/>
              <a:buChar char="⚬"/>
            </a:pPr>
            <a:r>
              <a:rPr lang="en-US" sz="2400">
                <a:solidFill>
                  <a:srgbClr val="000000"/>
                </a:solidFill>
                <a:latin typeface="Canva Sans"/>
                <a:ea typeface="Canva Sans"/>
                <a:cs typeface="Canva Sans"/>
                <a:sym typeface="Canva Sans"/>
              </a:rPr>
              <a:t>Interfaz SATA III (6 Gbps)</a:t>
            </a:r>
          </a:p>
          <a:p>
            <a:pPr marL="1036320" lvl="2" indent="-345440" algn="l">
              <a:lnSpc>
                <a:spcPts val="3359"/>
              </a:lnSpc>
              <a:spcBef>
                <a:spcPct val="0"/>
              </a:spcBef>
              <a:buFont typeface="Arial"/>
              <a:buChar char="⚬"/>
            </a:pPr>
            <a:r>
              <a:rPr lang="en-US" sz="2400">
                <a:solidFill>
                  <a:srgbClr val="000000"/>
                </a:solidFill>
                <a:latin typeface="Canva Sans"/>
                <a:ea typeface="Canva Sans"/>
                <a:cs typeface="Canva Sans"/>
                <a:sym typeface="Canva Sans"/>
              </a:rPr>
              <a:t>Velocidad: 500-550 MB/s</a:t>
            </a:r>
          </a:p>
          <a:p>
            <a:pPr marL="1036320" lvl="2" indent="-345440" algn="l">
              <a:lnSpc>
                <a:spcPts val="3359"/>
              </a:lnSpc>
              <a:spcBef>
                <a:spcPct val="0"/>
              </a:spcBef>
              <a:buFont typeface="Arial"/>
              <a:buChar char="⚬"/>
            </a:pPr>
            <a:r>
              <a:rPr lang="en-US" sz="2400">
                <a:solidFill>
                  <a:srgbClr val="000000"/>
                </a:solidFill>
                <a:latin typeface="Canva Sans"/>
                <a:ea typeface="Canva Sans"/>
                <a:cs typeface="Canva Sans"/>
                <a:sym typeface="Canva Sans"/>
              </a:rPr>
              <a:t>Sin partes móviles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213662" y="5351344"/>
            <a:ext cx="4815262" cy="3906956"/>
          </a:xfrm>
          <a:custGeom>
            <a:avLst/>
            <a:gdLst/>
            <a:ahLst/>
            <a:cxnLst/>
            <a:rect l="l" t="t" r="r" b="b"/>
            <a:pathLst>
              <a:path w="4815262" h="3906956">
                <a:moveTo>
                  <a:pt x="0" y="0"/>
                </a:moveTo>
                <a:lnTo>
                  <a:pt x="4815261" y="0"/>
                </a:lnTo>
                <a:lnTo>
                  <a:pt x="4815261" y="3906956"/>
                </a:lnTo>
                <a:lnTo>
                  <a:pt x="0" y="3906956"/>
                </a:lnTo>
                <a:lnTo>
                  <a:pt x="0" y="0"/>
                </a:lnTo>
                <a:close/>
              </a:path>
            </a:pathLst>
          </a:custGeom>
          <a:blipFill>
            <a:blip r:embed="rId2"/>
            <a:stretch>
              <a:fillRect l="-4649" t="-27530" r="-3612" b="-5900"/>
            </a:stretch>
          </a:blipFill>
        </p:spPr>
        <p:txBody>
          <a:bodyPr/>
          <a:lstStyle/>
          <a:p>
            <a:endParaRPr lang="es-GT"/>
          </a:p>
        </p:txBody>
      </p:sp>
      <p:sp>
        <p:nvSpPr>
          <p:cNvPr id="3" name="TextBox 3"/>
          <p:cNvSpPr txBox="1"/>
          <p:nvPr/>
        </p:nvSpPr>
        <p:spPr>
          <a:xfrm>
            <a:off x="6122491" y="942975"/>
            <a:ext cx="6043017" cy="811530"/>
          </a:xfrm>
          <a:prstGeom prst="rect">
            <a:avLst/>
          </a:prstGeom>
        </p:spPr>
        <p:txBody>
          <a:bodyPr lIns="0" tIns="0" rIns="0" bIns="0" rtlCol="0" anchor="t">
            <a:spAutoFit/>
          </a:bodyPr>
          <a:lstStyle/>
          <a:p>
            <a:pPr algn="ctr">
              <a:lnSpc>
                <a:spcPts val="6719"/>
              </a:lnSpc>
              <a:spcBef>
                <a:spcPct val="0"/>
              </a:spcBef>
            </a:pPr>
            <a:r>
              <a:rPr lang="en-US" sz="4800">
                <a:solidFill>
                  <a:srgbClr val="000000"/>
                </a:solidFill>
                <a:latin typeface="Canva Sans"/>
                <a:ea typeface="Canva Sans"/>
                <a:cs typeface="Canva Sans"/>
                <a:sym typeface="Canva Sans"/>
              </a:rPr>
              <a:t>Memoria Secundaria</a:t>
            </a:r>
          </a:p>
        </p:txBody>
      </p:sp>
      <p:sp>
        <p:nvSpPr>
          <p:cNvPr id="4" name="TextBox 4"/>
          <p:cNvSpPr txBox="1"/>
          <p:nvPr/>
        </p:nvSpPr>
        <p:spPr>
          <a:xfrm>
            <a:off x="1028700" y="2575560"/>
            <a:ext cx="5093791" cy="7101840"/>
          </a:xfrm>
          <a:prstGeom prst="rect">
            <a:avLst/>
          </a:prstGeom>
        </p:spPr>
        <p:txBody>
          <a:bodyPr lIns="0" tIns="0" rIns="0" bIns="0" rtlCol="0" anchor="t">
            <a:spAutoFit/>
          </a:bodyPr>
          <a:lstStyle/>
          <a:p>
            <a:pPr algn="l">
              <a:lnSpc>
                <a:spcPts val="3359"/>
              </a:lnSpc>
              <a:spcBef>
                <a:spcPct val="0"/>
              </a:spcBef>
            </a:pPr>
            <a:r>
              <a:rPr lang="en-US" sz="2400">
                <a:solidFill>
                  <a:srgbClr val="000000"/>
                </a:solidFill>
                <a:latin typeface="Canva Sans"/>
                <a:ea typeface="Canva Sans"/>
                <a:cs typeface="Canva Sans"/>
                <a:sym typeface="Canva Sans"/>
              </a:rPr>
              <a:t>Aplicaciones por Tipo:</a:t>
            </a:r>
          </a:p>
          <a:p>
            <a:pPr algn="l">
              <a:lnSpc>
                <a:spcPts val="3359"/>
              </a:lnSpc>
              <a:spcBef>
                <a:spcPct val="0"/>
              </a:spcBef>
            </a:pPr>
            <a:endParaRPr lang="en-US" sz="2400">
              <a:solidFill>
                <a:srgbClr val="000000"/>
              </a:solidFill>
              <a:latin typeface="Canva Sans"/>
              <a:ea typeface="Canva Sans"/>
              <a:cs typeface="Canva Sans"/>
              <a:sym typeface="Canva Sans"/>
            </a:endParaRPr>
          </a:p>
          <a:p>
            <a:pPr marL="518160" lvl="1" indent="-259080" algn="l">
              <a:lnSpc>
                <a:spcPts val="3359"/>
              </a:lnSpc>
              <a:spcBef>
                <a:spcPct val="0"/>
              </a:spcBef>
              <a:buFont typeface="Arial"/>
              <a:buChar char="•"/>
            </a:pPr>
            <a:r>
              <a:rPr lang="en-US" sz="2400">
                <a:solidFill>
                  <a:srgbClr val="000000"/>
                </a:solidFill>
                <a:latin typeface="Canva Sans"/>
                <a:ea typeface="Canva Sans"/>
                <a:cs typeface="Canva Sans"/>
                <a:sym typeface="Canva Sans"/>
              </a:rPr>
              <a:t>HDD:</a:t>
            </a:r>
          </a:p>
          <a:p>
            <a:pPr marL="1036320" lvl="2" indent="-345440" algn="l">
              <a:lnSpc>
                <a:spcPts val="3359"/>
              </a:lnSpc>
              <a:spcBef>
                <a:spcPct val="0"/>
              </a:spcBef>
              <a:buFont typeface="Arial"/>
              <a:buChar char="⚬"/>
            </a:pPr>
            <a:r>
              <a:rPr lang="en-US" sz="2400">
                <a:solidFill>
                  <a:srgbClr val="000000"/>
                </a:solidFill>
                <a:latin typeface="Canva Sans"/>
                <a:ea typeface="Canva Sans"/>
                <a:cs typeface="Canva Sans"/>
                <a:sym typeface="Canva Sans"/>
              </a:rPr>
              <a:t>Almacenamiento masivo económico</a:t>
            </a:r>
          </a:p>
          <a:p>
            <a:pPr marL="1036320" lvl="2" indent="-345440" algn="l">
              <a:lnSpc>
                <a:spcPts val="3359"/>
              </a:lnSpc>
              <a:spcBef>
                <a:spcPct val="0"/>
              </a:spcBef>
              <a:buFont typeface="Arial"/>
              <a:buChar char="⚬"/>
            </a:pPr>
            <a:r>
              <a:rPr lang="en-US" sz="2400">
                <a:solidFill>
                  <a:srgbClr val="000000"/>
                </a:solidFill>
                <a:latin typeface="Canva Sans"/>
                <a:ea typeface="Canva Sans"/>
                <a:cs typeface="Canva Sans"/>
                <a:sym typeface="Canva Sans"/>
              </a:rPr>
              <a:t>Backups y archivos</a:t>
            </a:r>
          </a:p>
          <a:p>
            <a:pPr marL="1036320" lvl="2" indent="-345440" algn="l">
              <a:lnSpc>
                <a:spcPts val="3359"/>
              </a:lnSpc>
              <a:spcBef>
                <a:spcPct val="0"/>
              </a:spcBef>
              <a:buFont typeface="Arial"/>
              <a:buChar char="⚬"/>
            </a:pPr>
            <a:r>
              <a:rPr lang="en-US" sz="2400">
                <a:solidFill>
                  <a:srgbClr val="000000"/>
                </a:solidFill>
                <a:latin typeface="Canva Sans"/>
                <a:ea typeface="Canva Sans"/>
                <a:cs typeface="Canva Sans"/>
                <a:sym typeface="Canva Sans"/>
              </a:rPr>
              <a:t>NAS (Network Attached Storage)</a:t>
            </a:r>
          </a:p>
          <a:p>
            <a:pPr marL="1036320" lvl="2" indent="-345440" algn="l">
              <a:lnSpc>
                <a:spcPts val="3359"/>
              </a:lnSpc>
              <a:spcBef>
                <a:spcPct val="0"/>
              </a:spcBef>
              <a:buFont typeface="Arial"/>
              <a:buChar char="⚬"/>
            </a:pPr>
            <a:r>
              <a:rPr lang="en-US" sz="2400">
                <a:solidFill>
                  <a:srgbClr val="000000"/>
                </a:solidFill>
                <a:latin typeface="Canva Sans"/>
                <a:ea typeface="Canva Sans"/>
                <a:cs typeface="Canva Sans"/>
                <a:sym typeface="Canva Sans"/>
              </a:rPr>
              <a:t>Ejemplo: Seagate IronWolf 12 TB para NAS</a:t>
            </a:r>
          </a:p>
          <a:p>
            <a:pPr algn="l">
              <a:lnSpc>
                <a:spcPts val="3359"/>
              </a:lnSpc>
              <a:spcBef>
                <a:spcPct val="0"/>
              </a:spcBef>
            </a:pPr>
            <a:endParaRPr lang="en-US" sz="2400">
              <a:solidFill>
                <a:srgbClr val="000000"/>
              </a:solidFill>
              <a:latin typeface="Canva Sans"/>
              <a:ea typeface="Canva Sans"/>
              <a:cs typeface="Canva Sans"/>
              <a:sym typeface="Canva Sans"/>
            </a:endParaRPr>
          </a:p>
          <a:p>
            <a:pPr marL="518160" lvl="1" indent="-259080" algn="l">
              <a:lnSpc>
                <a:spcPts val="3359"/>
              </a:lnSpc>
              <a:spcBef>
                <a:spcPct val="0"/>
              </a:spcBef>
              <a:buFont typeface="Arial"/>
              <a:buChar char="•"/>
            </a:pPr>
            <a:r>
              <a:rPr lang="en-US" sz="2400">
                <a:solidFill>
                  <a:srgbClr val="000000"/>
                </a:solidFill>
                <a:latin typeface="Canva Sans"/>
                <a:ea typeface="Canva Sans"/>
                <a:cs typeface="Canva Sans"/>
                <a:sym typeface="Canva Sans"/>
              </a:rPr>
              <a:t>SSD SATA:</a:t>
            </a:r>
          </a:p>
          <a:p>
            <a:pPr marL="1036320" lvl="2" indent="-345440" algn="l">
              <a:lnSpc>
                <a:spcPts val="3359"/>
              </a:lnSpc>
              <a:spcBef>
                <a:spcPct val="0"/>
              </a:spcBef>
              <a:buFont typeface="Arial"/>
              <a:buChar char="⚬"/>
            </a:pPr>
            <a:r>
              <a:rPr lang="en-US" sz="2400">
                <a:solidFill>
                  <a:srgbClr val="000000"/>
                </a:solidFill>
                <a:latin typeface="Canva Sans"/>
                <a:ea typeface="Canva Sans"/>
                <a:cs typeface="Canva Sans"/>
                <a:sym typeface="Canva Sans"/>
              </a:rPr>
              <a:t>Upgrade de laptops antiguas</a:t>
            </a:r>
          </a:p>
          <a:p>
            <a:pPr marL="1036320" lvl="2" indent="-345440" algn="l">
              <a:lnSpc>
                <a:spcPts val="3359"/>
              </a:lnSpc>
              <a:spcBef>
                <a:spcPct val="0"/>
              </a:spcBef>
              <a:buFont typeface="Arial"/>
              <a:buChar char="⚬"/>
            </a:pPr>
            <a:r>
              <a:rPr lang="en-US" sz="2400">
                <a:solidFill>
                  <a:srgbClr val="000000"/>
                </a:solidFill>
                <a:latin typeface="Canva Sans"/>
                <a:ea typeface="Canva Sans"/>
                <a:cs typeface="Canva Sans"/>
                <a:sym typeface="Canva Sans"/>
              </a:rPr>
              <a:t>Sistema operativo en equipos legacy</a:t>
            </a:r>
          </a:p>
          <a:p>
            <a:pPr marL="1036320" lvl="2" indent="-345440" algn="l">
              <a:lnSpc>
                <a:spcPts val="3359"/>
              </a:lnSpc>
              <a:spcBef>
                <a:spcPct val="0"/>
              </a:spcBef>
              <a:buFont typeface="Arial"/>
              <a:buChar char="⚬"/>
            </a:pPr>
            <a:r>
              <a:rPr lang="en-US" sz="2400">
                <a:solidFill>
                  <a:srgbClr val="000000"/>
                </a:solidFill>
                <a:latin typeface="Canva Sans"/>
                <a:ea typeface="Canva Sans"/>
                <a:cs typeface="Canva Sans"/>
                <a:sym typeface="Canva Sans"/>
              </a:rPr>
              <a:t>Ejemplo: Samsung 870 EVO</a:t>
            </a:r>
          </a:p>
        </p:txBody>
      </p:sp>
      <p:sp>
        <p:nvSpPr>
          <p:cNvPr id="5" name="TextBox 5"/>
          <p:cNvSpPr txBox="1"/>
          <p:nvPr/>
        </p:nvSpPr>
        <p:spPr>
          <a:xfrm>
            <a:off x="6122491" y="2575560"/>
            <a:ext cx="5551125" cy="2491740"/>
          </a:xfrm>
          <a:prstGeom prst="rect">
            <a:avLst/>
          </a:prstGeom>
        </p:spPr>
        <p:txBody>
          <a:bodyPr lIns="0" tIns="0" rIns="0" bIns="0" rtlCol="0" anchor="t">
            <a:spAutoFit/>
          </a:bodyPr>
          <a:lstStyle/>
          <a:p>
            <a:pPr marL="518160" lvl="1" indent="-259080" algn="l">
              <a:lnSpc>
                <a:spcPts val="3359"/>
              </a:lnSpc>
              <a:spcBef>
                <a:spcPct val="0"/>
              </a:spcBef>
              <a:buFont typeface="Arial"/>
              <a:buChar char="•"/>
            </a:pPr>
            <a:r>
              <a:rPr lang="en-US" sz="2400">
                <a:solidFill>
                  <a:srgbClr val="000000"/>
                </a:solidFill>
                <a:latin typeface="Canva Sans"/>
                <a:ea typeface="Canva Sans"/>
                <a:cs typeface="Canva Sans"/>
                <a:sym typeface="Canva Sans"/>
              </a:rPr>
              <a:t>NVMe:</a:t>
            </a:r>
          </a:p>
          <a:p>
            <a:pPr marL="1036320" lvl="2" indent="-345440" algn="l">
              <a:lnSpc>
                <a:spcPts val="3359"/>
              </a:lnSpc>
              <a:spcBef>
                <a:spcPct val="0"/>
              </a:spcBef>
              <a:buFont typeface="Arial"/>
              <a:buChar char="⚬"/>
            </a:pPr>
            <a:r>
              <a:rPr lang="en-US" sz="2400">
                <a:solidFill>
                  <a:srgbClr val="000000"/>
                </a:solidFill>
                <a:latin typeface="Canva Sans"/>
                <a:ea typeface="Canva Sans"/>
                <a:cs typeface="Canva Sans"/>
                <a:sym typeface="Canva Sans"/>
              </a:rPr>
              <a:t>Gaming de alto rendimiento</a:t>
            </a:r>
          </a:p>
          <a:p>
            <a:pPr marL="1036320" lvl="2" indent="-345440" algn="l">
              <a:lnSpc>
                <a:spcPts val="3359"/>
              </a:lnSpc>
              <a:spcBef>
                <a:spcPct val="0"/>
              </a:spcBef>
              <a:buFont typeface="Arial"/>
              <a:buChar char="⚬"/>
            </a:pPr>
            <a:r>
              <a:rPr lang="en-US" sz="2400">
                <a:solidFill>
                  <a:srgbClr val="000000"/>
                </a:solidFill>
                <a:latin typeface="Canva Sans"/>
                <a:ea typeface="Canva Sans"/>
                <a:cs typeface="Canva Sans"/>
                <a:sym typeface="Canva Sans"/>
              </a:rPr>
              <a:t>Edición de video 4K/8K</a:t>
            </a:r>
          </a:p>
          <a:p>
            <a:pPr marL="1036320" lvl="2" indent="-345440" algn="l">
              <a:lnSpc>
                <a:spcPts val="3359"/>
              </a:lnSpc>
              <a:spcBef>
                <a:spcPct val="0"/>
              </a:spcBef>
              <a:buFont typeface="Arial"/>
              <a:buChar char="⚬"/>
            </a:pPr>
            <a:r>
              <a:rPr lang="en-US" sz="2400">
                <a:solidFill>
                  <a:srgbClr val="000000"/>
                </a:solidFill>
                <a:latin typeface="Canva Sans"/>
                <a:ea typeface="Canva Sans"/>
                <a:cs typeface="Canva Sans"/>
                <a:sym typeface="Canva Sans"/>
              </a:rPr>
              <a:t>Workstations profesionales</a:t>
            </a:r>
          </a:p>
          <a:p>
            <a:pPr marL="1036320" lvl="2" indent="-345440" algn="l">
              <a:lnSpc>
                <a:spcPts val="3359"/>
              </a:lnSpc>
              <a:spcBef>
                <a:spcPct val="0"/>
              </a:spcBef>
              <a:buFont typeface="Arial"/>
              <a:buChar char="⚬"/>
            </a:pPr>
            <a:r>
              <a:rPr lang="en-US" sz="2400">
                <a:solidFill>
                  <a:srgbClr val="000000"/>
                </a:solidFill>
                <a:latin typeface="Canva Sans"/>
                <a:ea typeface="Canva Sans"/>
                <a:cs typeface="Canva Sans"/>
                <a:sym typeface="Canva Sans"/>
              </a:rPr>
              <a:t>Ejemplo: Samsung 990 PRO, WD Black SN850X</a:t>
            </a:r>
          </a:p>
        </p:txBody>
      </p:sp>
      <p:sp>
        <p:nvSpPr>
          <p:cNvPr id="6" name="TextBox 6"/>
          <p:cNvSpPr txBox="1"/>
          <p:nvPr/>
        </p:nvSpPr>
        <p:spPr>
          <a:xfrm>
            <a:off x="12798546" y="2994660"/>
            <a:ext cx="4460754" cy="1653540"/>
          </a:xfrm>
          <a:prstGeom prst="rect">
            <a:avLst/>
          </a:prstGeom>
        </p:spPr>
        <p:txBody>
          <a:bodyPr lIns="0" tIns="0" rIns="0" bIns="0" rtlCol="0" anchor="t">
            <a:spAutoFit/>
          </a:bodyPr>
          <a:lstStyle/>
          <a:p>
            <a:pPr algn="just">
              <a:lnSpc>
                <a:spcPts val="3359"/>
              </a:lnSpc>
              <a:spcBef>
                <a:spcPct val="0"/>
              </a:spcBef>
            </a:pPr>
            <a:r>
              <a:rPr lang="en-US" sz="2400">
                <a:solidFill>
                  <a:srgbClr val="000000"/>
                </a:solidFill>
                <a:latin typeface="Canva Sans"/>
                <a:ea typeface="Canva Sans"/>
                <a:cs typeface="Canva Sans"/>
                <a:sym typeface="Canva Sans"/>
              </a:rPr>
              <a:t>Caso de estudio: Un editor de video reduce tiempo de renderizado de 45 min a 15 min al migrar de HDD a NVMe.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011234" y="6256255"/>
            <a:ext cx="6047033" cy="3002045"/>
          </a:xfrm>
          <a:custGeom>
            <a:avLst/>
            <a:gdLst/>
            <a:ahLst/>
            <a:cxnLst/>
            <a:rect l="l" t="t" r="r" b="b"/>
            <a:pathLst>
              <a:path w="6047033" h="3002045">
                <a:moveTo>
                  <a:pt x="0" y="0"/>
                </a:moveTo>
                <a:lnTo>
                  <a:pt x="6047034" y="0"/>
                </a:lnTo>
                <a:lnTo>
                  <a:pt x="6047034" y="3002045"/>
                </a:lnTo>
                <a:lnTo>
                  <a:pt x="0" y="3002045"/>
                </a:lnTo>
                <a:lnTo>
                  <a:pt x="0" y="0"/>
                </a:lnTo>
                <a:close/>
              </a:path>
            </a:pathLst>
          </a:custGeom>
          <a:blipFill>
            <a:blip r:embed="rId2"/>
            <a:stretch>
              <a:fillRect t="-58408" b="-43022"/>
            </a:stretch>
          </a:blipFill>
        </p:spPr>
        <p:txBody>
          <a:bodyPr/>
          <a:lstStyle/>
          <a:p>
            <a:endParaRPr lang="es-GT"/>
          </a:p>
        </p:txBody>
      </p:sp>
      <p:sp>
        <p:nvSpPr>
          <p:cNvPr id="3" name="TextBox 3"/>
          <p:cNvSpPr txBox="1"/>
          <p:nvPr/>
        </p:nvSpPr>
        <p:spPr>
          <a:xfrm>
            <a:off x="3897213" y="942975"/>
            <a:ext cx="10493573" cy="811530"/>
          </a:xfrm>
          <a:prstGeom prst="rect">
            <a:avLst/>
          </a:prstGeom>
        </p:spPr>
        <p:txBody>
          <a:bodyPr lIns="0" tIns="0" rIns="0" bIns="0" rtlCol="0" anchor="t">
            <a:spAutoFit/>
          </a:bodyPr>
          <a:lstStyle/>
          <a:p>
            <a:pPr algn="ctr">
              <a:lnSpc>
                <a:spcPts val="6719"/>
              </a:lnSpc>
              <a:spcBef>
                <a:spcPct val="0"/>
              </a:spcBef>
            </a:pPr>
            <a:r>
              <a:rPr lang="en-US" sz="4800">
                <a:solidFill>
                  <a:srgbClr val="000000"/>
                </a:solidFill>
                <a:latin typeface="Canva Sans"/>
                <a:ea typeface="Canva Sans"/>
                <a:cs typeface="Canva Sans"/>
                <a:sym typeface="Canva Sans"/>
              </a:rPr>
              <a:t>Dispositivos de Red - Tarjeta de Red</a:t>
            </a:r>
          </a:p>
        </p:txBody>
      </p:sp>
      <p:sp>
        <p:nvSpPr>
          <p:cNvPr id="4" name="TextBox 4"/>
          <p:cNvSpPr txBox="1"/>
          <p:nvPr/>
        </p:nvSpPr>
        <p:spPr>
          <a:xfrm>
            <a:off x="1028700" y="2412683"/>
            <a:ext cx="16230600" cy="905510"/>
          </a:xfrm>
          <a:prstGeom prst="rect">
            <a:avLst/>
          </a:prstGeom>
        </p:spPr>
        <p:txBody>
          <a:bodyPr lIns="0" tIns="0" rIns="0" bIns="0" rtlCol="0" anchor="t">
            <a:spAutoFit/>
          </a:bodyPr>
          <a:lstStyle/>
          <a:p>
            <a:pPr algn="just">
              <a:lnSpc>
                <a:spcPts val="3640"/>
              </a:lnSpc>
              <a:spcBef>
                <a:spcPct val="0"/>
              </a:spcBef>
            </a:pPr>
            <a:r>
              <a:rPr lang="en-US" sz="2600">
                <a:solidFill>
                  <a:srgbClr val="000000"/>
                </a:solidFill>
                <a:latin typeface="Canva Sans"/>
                <a:ea typeface="Canva Sans"/>
                <a:cs typeface="Canva Sans"/>
                <a:sym typeface="Canva Sans"/>
              </a:rPr>
              <a:t>La Tarjeta de Red (NIC - Network Interface Card) es el hardware que permite la conexión de un dispositivo a una red.</a:t>
            </a:r>
          </a:p>
        </p:txBody>
      </p:sp>
      <p:sp>
        <p:nvSpPr>
          <p:cNvPr id="5" name="TextBox 5"/>
          <p:cNvSpPr txBox="1"/>
          <p:nvPr/>
        </p:nvSpPr>
        <p:spPr>
          <a:xfrm>
            <a:off x="1028700" y="3672917"/>
            <a:ext cx="7417359" cy="2277110"/>
          </a:xfrm>
          <a:prstGeom prst="rect">
            <a:avLst/>
          </a:prstGeom>
        </p:spPr>
        <p:txBody>
          <a:bodyPr lIns="0" tIns="0" rIns="0" bIns="0" rtlCol="0" anchor="t">
            <a:spAutoFit/>
          </a:bodyPr>
          <a:lstStyle/>
          <a:p>
            <a:pPr algn="l">
              <a:lnSpc>
                <a:spcPts val="3640"/>
              </a:lnSpc>
            </a:pPr>
            <a:r>
              <a:rPr lang="en-US" sz="2600">
                <a:solidFill>
                  <a:srgbClr val="000000"/>
                </a:solidFill>
                <a:latin typeface="Canva Sans"/>
                <a:ea typeface="Canva Sans"/>
                <a:cs typeface="Canva Sans"/>
                <a:sym typeface="Canva Sans"/>
              </a:rPr>
              <a:t>Tipos:</a:t>
            </a:r>
          </a:p>
          <a:p>
            <a:pPr marL="561341" lvl="1" indent="-280670" algn="l">
              <a:lnSpc>
                <a:spcPts val="3640"/>
              </a:lnSpc>
              <a:buFont typeface="Arial"/>
              <a:buChar char="•"/>
            </a:pPr>
            <a:r>
              <a:rPr lang="en-US" sz="2600">
                <a:solidFill>
                  <a:srgbClr val="000000"/>
                </a:solidFill>
                <a:latin typeface="Canva Sans"/>
                <a:ea typeface="Canva Sans"/>
                <a:cs typeface="Canva Sans"/>
                <a:sym typeface="Canva Sans"/>
              </a:rPr>
              <a:t>Ethernet (Cableada):RJ45 conectores</a:t>
            </a:r>
          </a:p>
          <a:p>
            <a:pPr marL="1122681" lvl="2" indent="-374227" algn="l">
              <a:lnSpc>
                <a:spcPts val="3640"/>
              </a:lnSpc>
              <a:spcBef>
                <a:spcPct val="0"/>
              </a:spcBef>
              <a:buFont typeface="Arial"/>
              <a:buChar char="⚬"/>
            </a:pPr>
            <a:r>
              <a:rPr lang="en-US" sz="2600">
                <a:solidFill>
                  <a:srgbClr val="000000"/>
                </a:solidFill>
                <a:latin typeface="Canva Sans"/>
                <a:ea typeface="Canva Sans"/>
                <a:cs typeface="Canva Sans"/>
                <a:sym typeface="Canva Sans"/>
              </a:rPr>
              <a:t>Velocidades: 100 Mbps, 1 Gbps, 2.5 Gbps, 10 Gbps</a:t>
            </a:r>
          </a:p>
          <a:p>
            <a:pPr marL="1122681" lvl="2" indent="-374227" algn="l">
              <a:lnSpc>
                <a:spcPts val="3640"/>
              </a:lnSpc>
              <a:spcBef>
                <a:spcPct val="0"/>
              </a:spcBef>
              <a:buFont typeface="Arial"/>
              <a:buChar char="⚬"/>
            </a:pPr>
            <a:r>
              <a:rPr lang="en-US" sz="2600">
                <a:solidFill>
                  <a:srgbClr val="000000"/>
                </a:solidFill>
                <a:latin typeface="Canva Sans"/>
                <a:ea typeface="Canva Sans"/>
                <a:cs typeface="Canva Sans"/>
                <a:sym typeface="Canva Sans"/>
              </a:rPr>
              <a:t>Mayor estabilidad y velocidad</a:t>
            </a:r>
          </a:p>
        </p:txBody>
      </p:sp>
      <p:sp>
        <p:nvSpPr>
          <p:cNvPr id="6" name="TextBox 6"/>
          <p:cNvSpPr txBox="1"/>
          <p:nvPr/>
        </p:nvSpPr>
        <p:spPr>
          <a:xfrm>
            <a:off x="1028700" y="6647392"/>
            <a:ext cx="5112148" cy="2277110"/>
          </a:xfrm>
          <a:prstGeom prst="rect">
            <a:avLst/>
          </a:prstGeom>
        </p:spPr>
        <p:txBody>
          <a:bodyPr lIns="0" tIns="0" rIns="0" bIns="0" rtlCol="0" anchor="t">
            <a:spAutoFit/>
          </a:bodyPr>
          <a:lstStyle/>
          <a:p>
            <a:pPr algn="l">
              <a:lnSpc>
                <a:spcPts val="3640"/>
              </a:lnSpc>
              <a:spcBef>
                <a:spcPct val="0"/>
              </a:spcBef>
            </a:pPr>
            <a:r>
              <a:rPr lang="en-US" sz="2600">
                <a:solidFill>
                  <a:srgbClr val="000000"/>
                </a:solidFill>
                <a:latin typeface="Canva Sans"/>
                <a:ea typeface="Canva Sans"/>
                <a:cs typeface="Canva Sans"/>
                <a:sym typeface="Canva Sans"/>
              </a:rPr>
              <a:t>Componentes:</a:t>
            </a:r>
          </a:p>
          <a:p>
            <a:pPr marL="1122681" lvl="2" indent="-374227" algn="l">
              <a:lnSpc>
                <a:spcPts val="3640"/>
              </a:lnSpc>
              <a:spcBef>
                <a:spcPct val="0"/>
              </a:spcBef>
              <a:buFont typeface="Arial"/>
              <a:buChar char="⚬"/>
            </a:pPr>
            <a:r>
              <a:rPr lang="en-US" sz="2600">
                <a:solidFill>
                  <a:srgbClr val="000000"/>
                </a:solidFill>
                <a:latin typeface="Canva Sans"/>
                <a:ea typeface="Canva Sans"/>
                <a:cs typeface="Canva Sans"/>
                <a:sym typeface="Canva Sans"/>
              </a:rPr>
              <a:t>Chip controlador</a:t>
            </a:r>
          </a:p>
          <a:p>
            <a:pPr marL="1122681" lvl="2" indent="-374227" algn="l">
              <a:lnSpc>
                <a:spcPts val="3640"/>
              </a:lnSpc>
              <a:spcBef>
                <a:spcPct val="0"/>
              </a:spcBef>
              <a:buFont typeface="Arial"/>
              <a:buChar char="⚬"/>
            </a:pPr>
            <a:r>
              <a:rPr lang="en-US" sz="2600">
                <a:solidFill>
                  <a:srgbClr val="000000"/>
                </a:solidFill>
                <a:latin typeface="Canva Sans"/>
                <a:ea typeface="Canva Sans"/>
                <a:cs typeface="Canva Sans"/>
                <a:sym typeface="Canva Sans"/>
              </a:rPr>
              <a:t>Puerto físico o antenas</a:t>
            </a:r>
          </a:p>
          <a:p>
            <a:pPr marL="1122681" lvl="2" indent="-374227" algn="l">
              <a:lnSpc>
                <a:spcPts val="3640"/>
              </a:lnSpc>
              <a:spcBef>
                <a:spcPct val="0"/>
              </a:spcBef>
              <a:buFont typeface="Arial"/>
              <a:buChar char="⚬"/>
            </a:pPr>
            <a:r>
              <a:rPr lang="en-US" sz="2600">
                <a:solidFill>
                  <a:srgbClr val="000000"/>
                </a:solidFill>
                <a:latin typeface="Canva Sans"/>
                <a:ea typeface="Canva Sans"/>
                <a:cs typeface="Canva Sans"/>
                <a:sym typeface="Canva Sans"/>
              </a:rPr>
              <a:t>MAC Address único</a:t>
            </a:r>
          </a:p>
          <a:p>
            <a:pPr marL="1122681" lvl="2" indent="-374227" algn="l">
              <a:lnSpc>
                <a:spcPts val="3640"/>
              </a:lnSpc>
              <a:spcBef>
                <a:spcPct val="0"/>
              </a:spcBef>
              <a:buFont typeface="Arial"/>
              <a:buChar char="⚬"/>
            </a:pPr>
            <a:r>
              <a:rPr lang="en-US" sz="2600">
                <a:solidFill>
                  <a:srgbClr val="000000"/>
                </a:solidFill>
                <a:latin typeface="Canva Sans"/>
                <a:ea typeface="Canva Sans"/>
                <a:cs typeface="Canva Sans"/>
                <a:sym typeface="Canva Sans"/>
              </a:rPr>
              <a:t>Buffer de memoria</a:t>
            </a:r>
          </a:p>
        </p:txBody>
      </p:sp>
      <p:sp>
        <p:nvSpPr>
          <p:cNvPr id="7" name="TextBox 7"/>
          <p:cNvSpPr txBox="1"/>
          <p:nvPr/>
        </p:nvSpPr>
        <p:spPr>
          <a:xfrm>
            <a:off x="8810202" y="3672917"/>
            <a:ext cx="8449098" cy="1819910"/>
          </a:xfrm>
          <a:prstGeom prst="rect">
            <a:avLst/>
          </a:prstGeom>
        </p:spPr>
        <p:txBody>
          <a:bodyPr lIns="0" tIns="0" rIns="0" bIns="0" rtlCol="0" anchor="t">
            <a:spAutoFit/>
          </a:bodyPr>
          <a:lstStyle/>
          <a:p>
            <a:pPr marL="561341" lvl="1" indent="-280670" algn="l">
              <a:lnSpc>
                <a:spcPts val="3640"/>
              </a:lnSpc>
              <a:spcBef>
                <a:spcPct val="0"/>
              </a:spcBef>
              <a:buFont typeface="Arial"/>
              <a:buChar char="•"/>
            </a:pPr>
            <a:r>
              <a:rPr lang="en-US" sz="2600">
                <a:solidFill>
                  <a:srgbClr val="000000"/>
                </a:solidFill>
                <a:latin typeface="Canva Sans"/>
                <a:ea typeface="Canva Sans"/>
                <a:cs typeface="Canva Sans"/>
                <a:sym typeface="Canva Sans"/>
              </a:rPr>
              <a:t>WiFi (Inalámbrica):</a:t>
            </a:r>
          </a:p>
          <a:p>
            <a:pPr marL="1122681" lvl="2" indent="-374227" algn="l">
              <a:lnSpc>
                <a:spcPts val="3640"/>
              </a:lnSpc>
              <a:spcBef>
                <a:spcPct val="0"/>
              </a:spcBef>
              <a:buFont typeface="Arial"/>
              <a:buChar char="⚬"/>
            </a:pPr>
            <a:r>
              <a:rPr lang="en-US" sz="2600">
                <a:solidFill>
                  <a:srgbClr val="000000"/>
                </a:solidFill>
                <a:latin typeface="Canva Sans"/>
                <a:ea typeface="Canva Sans"/>
                <a:cs typeface="Canva Sans"/>
                <a:sym typeface="Canva Sans"/>
              </a:rPr>
              <a:t>Estándares: 802.11n, ac, ax (WiFi 6), be (WiFi 7)</a:t>
            </a:r>
          </a:p>
          <a:p>
            <a:pPr marL="1122681" lvl="2" indent="-374227" algn="l">
              <a:lnSpc>
                <a:spcPts val="3640"/>
              </a:lnSpc>
              <a:spcBef>
                <a:spcPct val="0"/>
              </a:spcBef>
              <a:buFont typeface="Arial"/>
              <a:buChar char="⚬"/>
            </a:pPr>
            <a:r>
              <a:rPr lang="en-US" sz="2600">
                <a:solidFill>
                  <a:srgbClr val="000000"/>
                </a:solidFill>
                <a:latin typeface="Canva Sans"/>
                <a:ea typeface="Canva Sans"/>
                <a:cs typeface="Canva Sans"/>
                <a:sym typeface="Canva Sans"/>
              </a:rPr>
              <a:t>Frecuencias: 2.4 GHz, 5 GHz, 6 GHz</a:t>
            </a:r>
          </a:p>
          <a:p>
            <a:pPr marL="1122681" lvl="2" indent="-374227" algn="l">
              <a:lnSpc>
                <a:spcPts val="3640"/>
              </a:lnSpc>
              <a:spcBef>
                <a:spcPct val="0"/>
              </a:spcBef>
              <a:buFont typeface="Arial"/>
              <a:buChar char="⚬"/>
            </a:pPr>
            <a:r>
              <a:rPr lang="en-US" sz="2600">
                <a:solidFill>
                  <a:srgbClr val="000000"/>
                </a:solidFill>
                <a:latin typeface="Canva Sans"/>
                <a:ea typeface="Canva Sans"/>
                <a:cs typeface="Canva Sans"/>
                <a:sym typeface="Canva Sans"/>
              </a:rPr>
              <a:t>Velocidades teóricas: hasta 46 Gbps (WiFi 7)</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881385" y="4683236"/>
            <a:ext cx="6175697" cy="3585849"/>
          </a:xfrm>
          <a:custGeom>
            <a:avLst/>
            <a:gdLst/>
            <a:ahLst/>
            <a:cxnLst/>
            <a:rect l="l" t="t" r="r" b="b"/>
            <a:pathLst>
              <a:path w="6175697" h="3585849">
                <a:moveTo>
                  <a:pt x="0" y="0"/>
                </a:moveTo>
                <a:lnTo>
                  <a:pt x="6175697" y="0"/>
                </a:lnTo>
                <a:lnTo>
                  <a:pt x="6175697" y="3585848"/>
                </a:lnTo>
                <a:lnTo>
                  <a:pt x="0" y="3585848"/>
                </a:lnTo>
                <a:lnTo>
                  <a:pt x="0" y="0"/>
                </a:lnTo>
                <a:close/>
              </a:path>
            </a:pathLst>
          </a:custGeom>
          <a:blipFill>
            <a:blip r:embed="rId2"/>
            <a:stretch>
              <a:fillRect l="-4667" t="-30021" b="-50240"/>
            </a:stretch>
          </a:blipFill>
        </p:spPr>
        <p:txBody>
          <a:bodyPr/>
          <a:lstStyle/>
          <a:p>
            <a:endParaRPr lang="es-GT"/>
          </a:p>
        </p:txBody>
      </p:sp>
      <p:sp>
        <p:nvSpPr>
          <p:cNvPr id="3" name="TextBox 3"/>
          <p:cNvSpPr txBox="1"/>
          <p:nvPr/>
        </p:nvSpPr>
        <p:spPr>
          <a:xfrm>
            <a:off x="4675584" y="942975"/>
            <a:ext cx="8936831" cy="811530"/>
          </a:xfrm>
          <a:prstGeom prst="rect">
            <a:avLst/>
          </a:prstGeom>
        </p:spPr>
        <p:txBody>
          <a:bodyPr lIns="0" tIns="0" rIns="0" bIns="0" rtlCol="0" anchor="t">
            <a:spAutoFit/>
          </a:bodyPr>
          <a:lstStyle/>
          <a:p>
            <a:pPr algn="ctr">
              <a:lnSpc>
                <a:spcPts val="6719"/>
              </a:lnSpc>
              <a:spcBef>
                <a:spcPct val="0"/>
              </a:spcBef>
            </a:pPr>
            <a:r>
              <a:rPr lang="en-US" sz="4800">
                <a:solidFill>
                  <a:srgbClr val="000000"/>
                </a:solidFill>
                <a:latin typeface="Canva Sans"/>
                <a:ea typeface="Canva Sans"/>
                <a:cs typeface="Canva Sans"/>
                <a:sym typeface="Canva Sans"/>
              </a:rPr>
              <a:t>Dispositivos de Red - Switches</a:t>
            </a:r>
          </a:p>
        </p:txBody>
      </p:sp>
      <p:sp>
        <p:nvSpPr>
          <p:cNvPr id="4" name="TextBox 4"/>
          <p:cNvSpPr txBox="1"/>
          <p:nvPr/>
        </p:nvSpPr>
        <p:spPr>
          <a:xfrm>
            <a:off x="1028700" y="2412683"/>
            <a:ext cx="16230600" cy="905510"/>
          </a:xfrm>
          <a:prstGeom prst="rect">
            <a:avLst/>
          </a:prstGeom>
        </p:spPr>
        <p:txBody>
          <a:bodyPr lIns="0" tIns="0" rIns="0" bIns="0" rtlCol="0" anchor="t">
            <a:spAutoFit/>
          </a:bodyPr>
          <a:lstStyle/>
          <a:p>
            <a:pPr algn="just">
              <a:lnSpc>
                <a:spcPts val="3640"/>
              </a:lnSpc>
              <a:spcBef>
                <a:spcPct val="0"/>
              </a:spcBef>
            </a:pPr>
            <a:r>
              <a:rPr lang="en-US" sz="2600">
                <a:solidFill>
                  <a:srgbClr val="000000"/>
                </a:solidFill>
                <a:latin typeface="Canva Sans"/>
                <a:ea typeface="Canva Sans"/>
                <a:cs typeface="Canva Sans"/>
                <a:sym typeface="Canva Sans"/>
              </a:rPr>
              <a:t>Un Switch es un dispositivo de red de Capa 2 (Enlace de Datos) que conecta múltiples dispositivos en una red local y dirige el tráfico basándose en direcciones MAC.</a:t>
            </a:r>
          </a:p>
        </p:txBody>
      </p:sp>
      <p:sp>
        <p:nvSpPr>
          <p:cNvPr id="5" name="TextBox 5"/>
          <p:cNvSpPr txBox="1"/>
          <p:nvPr/>
        </p:nvSpPr>
        <p:spPr>
          <a:xfrm>
            <a:off x="1028700" y="4215606"/>
            <a:ext cx="4853184" cy="2072640"/>
          </a:xfrm>
          <a:prstGeom prst="rect">
            <a:avLst/>
          </a:prstGeom>
        </p:spPr>
        <p:txBody>
          <a:bodyPr lIns="0" tIns="0" rIns="0" bIns="0" rtlCol="0" anchor="t">
            <a:spAutoFit/>
          </a:bodyPr>
          <a:lstStyle/>
          <a:p>
            <a:pPr algn="l">
              <a:lnSpc>
                <a:spcPts val="3360"/>
              </a:lnSpc>
            </a:pPr>
            <a:r>
              <a:rPr lang="en-US" sz="2400">
                <a:solidFill>
                  <a:srgbClr val="000000"/>
                </a:solidFill>
                <a:latin typeface="Canva Sans"/>
                <a:ea typeface="Canva Sans"/>
                <a:cs typeface="Canva Sans"/>
                <a:sym typeface="Canva Sans"/>
              </a:rPr>
              <a:t>Tipos:</a:t>
            </a:r>
          </a:p>
          <a:p>
            <a:pPr marL="518162" lvl="1" indent="-259081" algn="l">
              <a:lnSpc>
                <a:spcPts val="3360"/>
              </a:lnSpc>
              <a:buFont typeface="Arial"/>
              <a:buChar char="•"/>
            </a:pPr>
            <a:r>
              <a:rPr lang="en-US" sz="2400">
                <a:solidFill>
                  <a:srgbClr val="000000"/>
                </a:solidFill>
                <a:latin typeface="Canva Sans"/>
                <a:ea typeface="Canva Sans"/>
                <a:cs typeface="Canva Sans"/>
                <a:sym typeface="Canva Sans"/>
              </a:rPr>
              <a:t>Switches No Administrables:</a:t>
            </a:r>
          </a:p>
          <a:p>
            <a:pPr marL="1036323" lvl="2" indent="-345441" algn="l">
              <a:lnSpc>
                <a:spcPts val="3360"/>
              </a:lnSpc>
              <a:spcBef>
                <a:spcPct val="0"/>
              </a:spcBef>
              <a:buFont typeface="Arial"/>
              <a:buChar char="⚬"/>
            </a:pPr>
            <a:r>
              <a:rPr lang="en-US" sz="2400">
                <a:solidFill>
                  <a:srgbClr val="000000"/>
                </a:solidFill>
                <a:latin typeface="Canva Sans"/>
                <a:ea typeface="Canva Sans"/>
                <a:cs typeface="Canva Sans"/>
                <a:sym typeface="Canva Sans"/>
              </a:rPr>
              <a:t>Plug and play</a:t>
            </a:r>
          </a:p>
          <a:p>
            <a:pPr marL="1036323" lvl="2" indent="-345441" algn="l">
              <a:lnSpc>
                <a:spcPts val="3360"/>
              </a:lnSpc>
              <a:spcBef>
                <a:spcPct val="0"/>
              </a:spcBef>
              <a:buFont typeface="Arial"/>
              <a:buChar char="⚬"/>
            </a:pPr>
            <a:r>
              <a:rPr lang="en-US" sz="2400">
                <a:solidFill>
                  <a:srgbClr val="000000"/>
                </a:solidFill>
                <a:latin typeface="Canva Sans"/>
                <a:ea typeface="Canva Sans"/>
                <a:cs typeface="Canva Sans"/>
                <a:sym typeface="Canva Sans"/>
              </a:rPr>
              <a:t>Sin configuración</a:t>
            </a:r>
          </a:p>
          <a:p>
            <a:pPr marL="1036323" lvl="2" indent="-345441" algn="l">
              <a:lnSpc>
                <a:spcPts val="3360"/>
              </a:lnSpc>
              <a:spcBef>
                <a:spcPct val="0"/>
              </a:spcBef>
              <a:buFont typeface="Arial"/>
              <a:buChar char="⚬"/>
            </a:pPr>
            <a:r>
              <a:rPr lang="en-US" sz="2400">
                <a:solidFill>
                  <a:srgbClr val="000000"/>
                </a:solidFill>
                <a:latin typeface="Canva Sans"/>
                <a:ea typeface="Canva Sans"/>
                <a:cs typeface="Canva Sans"/>
                <a:sym typeface="Canva Sans"/>
              </a:rPr>
              <a:t>Uso doméstico/SOHO</a:t>
            </a:r>
          </a:p>
        </p:txBody>
      </p:sp>
      <p:sp>
        <p:nvSpPr>
          <p:cNvPr id="6" name="TextBox 6"/>
          <p:cNvSpPr txBox="1"/>
          <p:nvPr/>
        </p:nvSpPr>
        <p:spPr>
          <a:xfrm>
            <a:off x="5881884" y="4215606"/>
            <a:ext cx="4711272" cy="2072640"/>
          </a:xfrm>
          <a:prstGeom prst="rect">
            <a:avLst/>
          </a:prstGeom>
        </p:spPr>
        <p:txBody>
          <a:bodyPr lIns="0" tIns="0" rIns="0" bIns="0" rtlCol="0" anchor="t">
            <a:spAutoFit/>
          </a:bodyPr>
          <a:lstStyle/>
          <a:p>
            <a:pPr marL="518162" lvl="1" indent="-259081" algn="l">
              <a:lnSpc>
                <a:spcPts val="3360"/>
              </a:lnSpc>
              <a:spcBef>
                <a:spcPct val="0"/>
              </a:spcBef>
              <a:buFont typeface="Arial"/>
              <a:buChar char="•"/>
            </a:pPr>
            <a:r>
              <a:rPr lang="en-US" sz="2400">
                <a:solidFill>
                  <a:srgbClr val="000000"/>
                </a:solidFill>
                <a:latin typeface="Canva Sans"/>
                <a:ea typeface="Canva Sans"/>
                <a:cs typeface="Canva Sans"/>
                <a:sym typeface="Canva Sans"/>
              </a:rPr>
              <a:t>Switches Administrables:</a:t>
            </a:r>
          </a:p>
          <a:p>
            <a:pPr marL="1036323" lvl="2" indent="-345441" algn="l">
              <a:lnSpc>
                <a:spcPts val="3360"/>
              </a:lnSpc>
              <a:spcBef>
                <a:spcPct val="0"/>
              </a:spcBef>
              <a:buFont typeface="Arial"/>
              <a:buChar char="⚬"/>
            </a:pPr>
            <a:r>
              <a:rPr lang="en-US" sz="2400">
                <a:solidFill>
                  <a:srgbClr val="000000"/>
                </a:solidFill>
                <a:latin typeface="Canva Sans"/>
                <a:ea typeface="Canva Sans"/>
                <a:cs typeface="Canva Sans"/>
                <a:sym typeface="Canva Sans"/>
              </a:rPr>
              <a:t>VLANs</a:t>
            </a:r>
          </a:p>
          <a:p>
            <a:pPr marL="1036323" lvl="2" indent="-345441" algn="l">
              <a:lnSpc>
                <a:spcPts val="3360"/>
              </a:lnSpc>
              <a:spcBef>
                <a:spcPct val="0"/>
              </a:spcBef>
              <a:buFont typeface="Arial"/>
              <a:buChar char="⚬"/>
            </a:pPr>
            <a:r>
              <a:rPr lang="en-US" sz="2400">
                <a:solidFill>
                  <a:srgbClr val="000000"/>
                </a:solidFill>
                <a:latin typeface="Canva Sans"/>
                <a:ea typeface="Canva Sans"/>
                <a:cs typeface="Canva Sans"/>
                <a:sym typeface="Canva Sans"/>
              </a:rPr>
              <a:t>QoS (Quality of Service)</a:t>
            </a:r>
          </a:p>
          <a:p>
            <a:pPr marL="1036323" lvl="2" indent="-345441" algn="l">
              <a:lnSpc>
                <a:spcPts val="3360"/>
              </a:lnSpc>
              <a:spcBef>
                <a:spcPct val="0"/>
              </a:spcBef>
              <a:buFont typeface="Arial"/>
              <a:buChar char="⚬"/>
            </a:pPr>
            <a:r>
              <a:rPr lang="en-US" sz="2400">
                <a:solidFill>
                  <a:srgbClr val="000000"/>
                </a:solidFill>
                <a:latin typeface="Canva Sans"/>
                <a:ea typeface="Canva Sans"/>
                <a:cs typeface="Canva Sans"/>
                <a:sym typeface="Canva Sans"/>
              </a:rPr>
              <a:t>Port mirroring</a:t>
            </a:r>
          </a:p>
          <a:p>
            <a:pPr marL="1036323" lvl="2" indent="-345441" algn="l">
              <a:lnSpc>
                <a:spcPts val="3360"/>
              </a:lnSpc>
              <a:spcBef>
                <a:spcPct val="0"/>
              </a:spcBef>
              <a:buFont typeface="Arial"/>
              <a:buChar char="⚬"/>
            </a:pPr>
            <a:r>
              <a:rPr lang="en-US" sz="2400">
                <a:solidFill>
                  <a:srgbClr val="000000"/>
                </a:solidFill>
                <a:latin typeface="Canva Sans"/>
                <a:ea typeface="Canva Sans"/>
                <a:cs typeface="Canva Sans"/>
                <a:sym typeface="Canva Sans"/>
              </a:rPr>
              <a:t>Seguridad avanzada</a:t>
            </a:r>
          </a:p>
        </p:txBody>
      </p:sp>
      <p:sp>
        <p:nvSpPr>
          <p:cNvPr id="7" name="TextBox 7"/>
          <p:cNvSpPr txBox="1"/>
          <p:nvPr/>
        </p:nvSpPr>
        <p:spPr>
          <a:xfrm>
            <a:off x="2211136" y="6964521"/>
            <a:ext cx="7341496" cy="2072640"/>
          </a:xfrm>
          <a:prstGeom prst="rect">
            <a:avLst/>
          </a:prstGeom>
        </p:spPr>
        <p:txBody>
          <a:bodyPr lIns="0" tIns="0" rIns="0" bIns="0" rtlCol="0" anchor="t">
            <a:spAutoFit/>
          </a:bodyPr>
          <a:lstStyle/>
          <a:p>
            <a:pPr algn="l">
              <a:lnSpc>
                <a:spcPts val="3360"/>
              </a:lnSpc>
              <a:spcBef>
                <a:spcPct val="0"/>
              </a:spcBef>
            </a:pPr>
            <a:r>
              <a:rPr lang="en-US" sz="2400">
                <a:solidFill>
                  <a:srgbClr val="000000"/>
                </a:solidFill>
                <a:latin typeface="Canva Sans"/>
                <a:ea typeface="Canva Sans"/>
                <a:cs typeface="Canva Sans"/>
                <a:sym typeface="Canva Sans"/>
              </a:rPr>
              <a:t>Estructura:</a:t>
            </a:r>
          </a:p>
          <a:p>
            <a:pPr marL="518162" lvl="1" indent="-259081" algn="l">
              <a:lnSpc>
                <a:spcPts val="3360"/>
              </a:lnSpc>
              <a:spcBef>
                <a:spcPct val="0"/>
              </a:spcBef>
              <a:buFont typeface="Arial"/>
              <a:buChar char="•"/>
            </a:pPr>
            <a:r>
              <a:rPr lang="en-US" sz="2400">
                <a:solidFill>
                  <a:srgbClr val="000000"/>
                </a:solidFill>
                <a:latin typeface="Canva Sans"/>
                <a:ea typeface="Canva Sans"/>
                <a:cs typeface="Canva Sans"/>
                <a:sym typeface="Canva Sans"/>
              </a:rPr>
              <a:t>Múltiples puertos Ethernet (8, 16, 24, 48+)</a:t>
            </a:r>
          </a:p>
          <a:p>
            <a:pPr marL="518162" lvl="1" indent="-259081" algn="l">
              <a:lnSpc>
                <a:spcPts val="3360"/>
              </a:lnSpc>
              <a:spcBef>
                <a:spcPct val="0"/>
              </a:spcBef>
              <a:buFont typeface="Arial"/>
              <a:buChar char="•"/>
            </a:pPr>
            <a:r>
              <a:rPr lang="en-US" sz="2400">
                <a:solidFill>
                  <a:srgbClr val="000000"/>
                </a:solidFill>
                <a:latin typeface="Canva Sans"/>
                <a:ea typeface="Canva Sans"/>
                <a:cs typeface="Canva Sans"/>
                <a:sym typeface="Canva Sans"/>
              </a:rPr>
              <a:t>Tabla CAM (Content Addressable Memory)</a:t>
            </a:r>
          </a:p>
          <a:p>
            <a:pPr marL="518162" lvl="1" indent="-259081" algn="l">
              <a:lnSpc>
                <a:spcPts val="3360"/>
              </a:lnSpc>
              <a:spcBef>
                <a:spcPct val="0"/>
              </a:spcBef>
              <a:buFont typeface="Arial"/>
              <a:buChar char="•"/>
            </a:pPr>
            <a:r>
              <a:rPr lang="en-US" sz="2400">
                <a:solidFill>
                  <a:srgbClr val="000000"/>
                </a:solidFill>
                <a:latin typeface="Canva Sans"/>
                <a:ea typeface="Canva Sans"/>
                <a:cs typeface="Canva Sans"/>
                <a:sym typeface="Canva Sans"/>
              </a:rPr>
              <a:t>ASIC para conmutación rápida</a:t>
            </a:r>
          </a:p>
          <a:p>
            <a:pPr marL="518162" lvl="1" indent="-259081" algn="l">
              <a:lnSpc>
                <a:spcPts val="3360"/>
              </a:lnSpc>
              <a:spcBef>
                <a:spcPct val="0"/>
              </a:spcBef>
              <a:buFont typeface="Arial"/>
              <a:buChar char="•"/>
            </a:pPr>
            <a:r>
              <a:rPr lang="en-US" sz="2400">
                <a:solidFill>
                  <a:srgbClr val="000000"/>
                </a:solidFill>
                <a:latin typeface="Canva Sans"/>
                <a:ea typeface="Canva Sans"/>
                <a:cs typeface="Canva Sans"/>
                <a:sym typeface="Canva Sans"/>
              </a:rPr>
              <a:t>Backplane de alta velocidad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842123" y="942975"/>
            <a:ext cx="8603754" cy="811530"/>
          </a:xfrm>
          <a:prstGeom prst="rect">
            <a:avLst/>
          </a:prstGeom>
        </p:spPr>
        <p:txBody>
          <a:bodyPr lIns="0" tIns="0" rIns="0" bIns="0" rtlCol="0" anchor="t">
            <a:spAutoFit/>
          </a:bodyPr>
          <a:lstStyle/>
          <a:p>
            <a:pPr algn="ctr">
              <a:lnSpc>
                <a:spcPts val="6719"/>
              </a:lnSpc>
              <a:spcBef>
                <a:spcPct val="0"/>
              </a:spcBef>
            </a:pPr>
            <a:r>
              <a:rPr lang="en-US" sz="4800">
                <a:solidFill>
                  <a:srgbClr val="000000"/>
                </a:solidFill>
                <a:latin typeface="Canva Sans"/>
                <a:ea typeface="Canva Sans"/>
                <a:cs typeface="Canva Sans"/>
                <a:sym typeface="Canva Sans"/>
              </a:rPr>
              <a:t>Dispositivos de Red - Routers</a:t>
            </a:r>
          </a:p>
        </p:txBody>
      </p:sp>
      <p:sp>
        <p:nvSpPr>
          <p:cNvPr id="3" name="TextBox 3"/>
          <p:cNvSpPr txBox="1"/>
          <p:nvPr/>
        </p:nvSpPr>
        <p:spPr>
          <a:xfrm>
            <a:off x="1028700" y="2685790"/>
            <a:ext cx="16230600" cy="905510"/>
          </a:xfrm>
          <a:prstGeom prst="rect">
            <a:avLst/>
          </a:prstGeom>
        </p:spPr>
        <p:txBody>
          <a:bodyPr lIns="0" tIns="0" rIns="0" bIns="0" rtlCol="0" anchor="t">
            <a:spAutoFit/>
          </a:bodyPr>
          <a:lstStyle/>
          <a:p>
            <a:pPr algn="just">
              <a:lnSpc>
                <a:spcPts val="3640"/>
              </a:lnSpc>
              <a:spcBef>
                <a:spcPct val="0"/>
              </a:spcBef>
            </a:pPr>
            <a:r>
              <a:rPr lang="en-US" sz="2600">
                <a:solidFill>
                  <a:srgbClr val="000000"/>
                </a:solidFill>
                <a:latin typeface="Canva Sans"/>
                <a:ea typeface="Canva Sans"/>
                <a:cs typeface="Canva Sans"/>
                <a:sym typeface="Canva Sans"/>
              </a:rPr>
              <a:t>Dispositivo de Capa 3 (Red) que interconecta diferentes redes y enruta paquetes basándose en direcciones IP.</a:t>
            </a:r>
          </a:p>
        </p:txBody>
      </p:sp>
      <p:sp>
        <p:nvSpPr>
          <p:cNvPr id="4" name="TextBox 4"/>
          <p:cNvSpPr txBox="1"/>
          <p:nvPr/>
        </p:nvSpPr>
        <p:spPr>
          <a:xfrm>
            <a:off x="1687809" y="4990693"/>
            <a:ext cx="7341496" cy="2910840"/>
          </a:xfrm>
          <a:prstGeom prst="rect">
            <a:avLst/>
          </a:prstGeom>
        </p:spPr>
        <p:txBody>
          <a:bodyPr lIns="0" tIns="0" rIns="0" bIns="0" rtlCol="0" anchor="t">
            <a:spAutoFit/>
          </a:bodyPr>
          <a:lstStyle/>
          <a:p>
            <a:pPr algn="l">
              <a:lnSpc>
                <a:spcPts val="3360"/>
              </a:lnSpc>
            </a:pPr>
            <a:r>
              <a:rPr lang="en-US" sz="2400">
                <a:solidFill>
                  <a:srgbClr val="000000"/>
                </a:solidFill>
                <a:latin typeface="Canva Sans"/>
                <a:ea typeface="Canva Sans"/>
                <a:cs typeface="Canva Sans"/>
                <a:sym typeface="Canva Sans"/>
              </a:rPr>
              <a:t>Funciones:</a:t>
            </a:r>
          </a:p>
          <a:p>
            <a:pPr algn="l">
              <a:lnSpc>
                <a:spcPts val="3360"/>
              </a:lnSpc>
            </a:pPr>
            <a:endParaRPr lang="en-US" sz="2400">
              <a:solidFill>
                <a:srgbClr val="000000"/>
              </a:solidFill>
              <a:latin typeface="Canva Sans"/>
              <a:ea typeface="Canva Sans"/>
              <a:cs typeface="Canva Sans"/>
              <a:sym typeface="Canva Sans"/>
            </a:endParaRPr>
          </a:p>
          <a:p>
            <a:pPr marL="518162" lvl="1" indent="-259081" algn="l">
              <a:lnSpc>
                <a:spcPts val="3360"/>
              </a:lnSpc>
              <a:spcBef>
                <a:spcPct val="0"/>
              </a:spcBef>
              <a:buFont typeface="Arial"/>
              <a:buChar char="•"/>
            </a:pPr>
            <a:r>
              <a:rPr lang="en-US" sz="2400">
                <a:solidFill>
                  <a:srgbClr val="000000"/>
                </a:solidFill>
                <a:latin typeface="Canva Sans"/>
                <a:ea typeface="Canva Sans"/>
                <a:cs typeface="Canva Sans"/>
                <a:sym typeface="Canva Sans"/>
              </a:rPr>
              <a:t>Enrutamiento entre redes</a:t>
            </a:r>
          </a:p>
          <a:p>
            <a:pPr marL="518162" lvl="1" indent="-259081" algn="l">
              <a:lnSpc>
                <a:spcPts val="3360"/>
              </a:lnSpc>
              <a:spcBef>
                <a:spcPct val="0"/>
              </a:spcBef>
              <a:buFont typeface="Arial"/>
              <a:buChar char="•"/>
            </a:pPr>
            <a:r>
              <a:rPr lang="en-US" sz="2400">
                <a:solidFill>
                  <a:srgbClr val="000000"/>
                </a:solidFill>
                <a:latin typeface="Canva Sans"/>
                <a:ea typeface="Canva Sans"/>
                <a:cs typeface="Canva Sans"/>
                <a:sym typeface="Canva Sans"/>
              </a:rPr>
              <a:t>NAT (Network Address Translation)</a:t>
            </a:r>
          </a:p>
          <a:p>
            <a:pPr marL="518162" lvl="1" indent="-259081" algn="l">
              <a:lnSpc>
                <a:spcPts val="3360"/>
              </a:lnSpc>
              <a:spcBef>
                <a:spcPct val="0"/>
              </a:spcBef>
              <a:buFont typeface="Arial"/>
              <a:buChar char="•"/>
            </a:pPr>
            <a:r>
              <a:rPr lang="en-US" sz="2400">
                <a:solidFill>
                  <a:srgbClr val="000000"/>
                </a:solidFill>
                <a:latin typeface="Canva Sans"/>
                <a:ea typeface="Canva Sans"/>
                <a:cs typeface="Canva Sans"/>
                <a:sym typeface="Canva Sans"/>
              </a:rPr>
              <a:t>Firewall básico</a:t>
            </a:r>
          </a:p>
          <a:p>
            <a:pPr marL="518162" lvl="1" indent="-259081" algn="l">
              <a:lnSpc>
                <a:spcPts val="3360"/>
              </a:lnSpc>
              <a:spcBef>
                <a:spcPct val="0"/>
              </a:spcBef>
              <a:buFont typeface="Arial"/>
              <a:buChar char="•"/>
            </a:pPr>
            <a:r>
              <a:rPr lang="en-US" sz="2400">
                <a:solidFill>
                  <a:srgbClr val="000000"/>
                </a:solidFill>
                <a:latin typeface="Canva Sans"/>
                <a:ea typeface="Canva Sans"/>
                <a:cs typeface="Canva Sans"/>
                <a:sym typeface="Canva Sans"/>
              </a:rPr>
              <a:t>DHCP server</a:t>
            </a:r>
          </a:p>
          <a:p>
            <a:pPr marL="518162" lvl="1" indent="-259081" algn="l">
              <a:lnSpc>
                <a:spcPts val="3360"/>
              </a:lnSpc>
              <a:spcBef>
                <a:spcPct val="0"/>
              </a:spcBef>
              <a:buFont typeface="Arial"/>
              <a:buChar char="•"/>
            </a:pPr>
            <a:r>
              <a:rPr lang="en-US" sz="2400">
                <a:solidFill>
                  <a:srgbClr val="000000"/>
                </a:solidFill>
                <a:latin typeface="Canva Sans"/>
                <a:ea typeface="Canva Sans"/>
                <a:cs typeface="Canva Sans"/>
                <a:sym typeface="Canva Sans"/>
              </a:rPr>
              <a:t>Gateway predeterminado</a:t>
            </a:r>
          </a:p>
        </p:txBody>
      </p:sp>
      <p:sp>
        <p:nvSpPr>
          <p:cNvPr id="5" name="Freeform 5"/>
          <p:cNvSpPr/>
          <p:nvPr/>
        </p:nvSpPr>
        <p:spPr>
          <a:xfrm>
            <a:off x="9887518" y="4303063"/>
            <a:ext cx="6304288" cy="4324200"/>
          </a:xfrm>
          <a:custGeom>
            <a:avLst/>
            <a:gdLst/>
            <a:ahLst/>
            <a:cxnLst/>
            <a:rect l="l" t="t" r="r" b="b"/>
            <a:pathLst>
              <a:path w="6304288" h="4324200">
                <a:moveTo>
                  <a:pt x="0" y="0"/>
                </a:moveTo>
                <a:lnTo>
                  <a:pt x="6304288" y="0"/>
                </a:lnTo>
                <a:lnTo>
                  <a:pt x="6304288" y="4324200"/>
                </a:lnTo>
                <a:lnTo>
                  <a:pt x="0" y="4324200"/>
                </a:lnTo>
                <a:lnTo>
                  <a:pt x="0" y="0"/>
                </a:lnTo>
                <a:close/>
              </a:path>
            </a:pathLst>
          </a:custGeom>
          <a:blipFill>
            <a:blip r:embed="rId2"/>
            <a:stretch>
              <a:fillRect t="-24317" r="-835" b="-22691"/>
            </a:stretch>
          </a:blipFill>
        </p:spPr>
        <p:txBody>
          <a:bodyPr/>
          <a:lstStyle/>
          <a:p>
            <a:endParaRPr lang="es-GT"/>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733148" y="4242372"/>
            <a:ext cx="6356958" cy="4445581"/>
          </a:xfrm>
          <a:custGeom>
            <a:avLst/>
            <a:gdLst/>
            <a:ahLst/>
            <a:cxnLst/>
            <a:rect l="l" t="t" r="r" b="b"/>
            <a:pathLst>
              <a:path w="6356958" h="4445581">
                <a:moveTo>
                  <a:pt x="0" y="0"/>
                </a:moveTo>
                <a:lnTo>
                  <a:pt x="6356959" y="0"/>
                </a:lnTo>
                <a:lnTo>
                  <a:pt x="6356959" y="4445581"/>
                </a:lnTo>
                <a:lnTo>
                  <a:pt x="0" y="4445581"/>
                </a:lnTo>
                <a:lnTo>
                  <a:pt x="0" y="0"/>
                </a:lnTo>
                <a:close/>
              </a:path>
            </a:pathLst>
          </a:custGeom>
          <a:blipFill>
            <a:blip r:embed="rId2"/>
            <a:stretch>
              <a:fillRect t="-25063" b="-17931"/>
            </a:stretch>
          </a:blipFill>
        </p:spPr>
        <p:txBody>
          <a:bodyPr/>
          <a:lstStyle/>
          <a:p>
            <a:endParaRPr lang="es-GT"/>
          </a:p>
        </p:txBody>
      </p:sp>
      <p:sp>
        <p:nvSpPr>
          <p:cNvPr id="3" name="TextBox 3"/>
          <p:cNvSpPr txBox="1"/>
          <p:nvPr/>
        </p:nvSpPr>
        <p:spPr>
          <a:xfrm>
            <a:off x="5358557" y="942975"/>
            <a:ext cx="7570887" cy="811530"/>
          </a:xfrm>
          <a:prstGeom prst="rect">
            <a:avLst/>
          </a:prstGeom>
        </p:spPr>
        <p:txBody>
          <a:bodyPr lIns="0" tIns="0" rIns="0" bIns="0" rtlCol="0" anchor="t">
            <a:spAutoFit/>
          </a:bodyPr>
          <a:lstStyle/>
          <a:p>
            <a:pPr algn="ctr">
              <a:lnSpc>
                <a:spcPts val="6719"/>
              </a:lnSpc>
              <a:spcBef>
                <a:spcPct val="0"/>
              </a:spcBef>
            </a:pPr>
            <a:r>
              <a:rPr lang="en-US" sz="4800">
                <a:solidFill>
                  <a:srgbClr val="000000"/>
                </a:solidFill>
                <a:latin typeface="Canva Sans"/>
                <a:ea typeface="Canva Sans"/>
                <a:cs typeface="Canva Sans"/>
                <a:sym typeface="Canva Sans"/>
              </a:rPr>
              <a:t>Dispositivos de Red - AP’s</a:t>
            </a:r>
          </a:p>
        </p:txBody>
      </p:sp>
      <p:sp>
        <p:nvSpPr>
          <p:cNvPr id="4" name="TextBox 4"/>
          <p:cNvSpPr txBox="1"/>
          <p:nvPr/>
        </p:nvSpPr>
        <p:spPr>
          <a:xfrm>
            <a:off x="1968502" y="2685790"/>
            <a:ext cx="14121604" cy="448310"/>
          </a:xfrm>
          <a:prstGeom prst="rect">
            <a:avLst/>
          </a:prstGeom>
        </p:spPr>
        <p:txBody>
          <a:bodyPr lIns="0" tIns="0" rIns="0" bIns="0" rtlCol="0" anchor="t">
            <a:spAutoFit/>
          </a:bodyPr>
          <a:lstStyle/>
          <a:p>
            <a:pPr algn="just">
              <a:lnSpc>
                <a:spcPts val="3640"/>
              </a:lnSpc>
              <a:spcBef>
                <a:spcPct val="0"/>
              </a:spcBef>
            </a:pPr>
            <a:r>
              <a:rPr lang="en-US" sz="2600">
                <a:solidFill>
                  <a:srgbClr val="000000"/>
                </a:solidFill>
                <a:latin typeface="Canva Sans"/>
                <a:ea typeface="Canva Sans"/>
                <a:cs typeface="Canva Sans"/>
                <a:sym typeface="Canva Sans"/>
              </a:rPr>
              <a:t>Dispositivo que crea redes inalámbricas, permitiendo conexión WiFi a una red cableada.</a:t>
            </a:r>
          </a:p>
        </p:txBody>
      </p:sp>
      <p:sp>
        <p:nvSpPr>
          <p:cNvPr id="5" name="TextBox 5"/>
          <p:cNvSpPr txBox="1"/>
          <p:nvPr/>
        </p:nvSpPr>
        <p:spPr>
          <a:xfrm>
            <a:off x="1687809" y="4990693"/>
            <a:ext cx="7341496" cy="2910840"/>
          </a:xfrm>
          <a:prstGeom prst="rect">
            <a:avLst/>
          </a:prstGeom>
        </p:spPr>
        <p:txBody>
          <a:bodyPr lIns="0" tIns="0" rIns="0" bIns="0" rtlCol="0" anchor="t">
            <a:spAutoFit/>
          </a:bodyPr>
          <a:lstStyle/>
          <a:p>
            <a:pPr algn="l">
              <a:lnSpc>
                <a:spcPts val="3360"/>
              </a:lnSpc>
              <a:spcBef>
                <a:spcPct val="0"/>
              </a:spcBef>
            </a:pPr>
            <a:r>
              <a:rPr lang="en-US" sz="2400">
                <a:solidFill>
                  <a:srgbClr val="000000"/>
                </a:solidFill>
                <a:latin typeface="Canva Sans"/>
                <a:ea typeface="Canva Sans"/>
                <a:cs typeface="Canva Sans"/>
                <a:sym typeface="Canva Sans"/>
              </a:rPr>
              <a:t>Características de AP empresariales:</a:t>
            </a:r>
          </a:p>
          <a:p>
            <a:pPr algn="l">
              <a:lnSpc>
                <a:spcPts val="3360"/>
              </a:lnSpc>
              <a:spcBef>
                <a:spcPct val="0"/>
              </a:spcBef>
            </a:pPr>
            <a:endParaRPr lang="en-US" sz="2400">
              <a:solidFill>
                <a:srgbClr val="000000"/>
              </a:solidFill>
              <a:latin typeface="Canva Sans"/>
              <a:ea typeface="Canva Sans"/>
              <a:cs typeface="Canva Sans"/>
              <a:sym typeface="Canva Sans"/>
            </a:endParaRPr>
          </a:p>
          <a:p>
            <a:pPr marL="518162" lvl="1" indent="-259081" algn="l">
              <a:lnSpc>
                <a:spcPts val="3360"/>
              </a:lnSpc>
              <a:spcBef>
                <a:spcPct val="0"/>
              </a:spcBef>
              <a:buFont typeface="Arial"/>
              <a:buChar char="•"/>
            </a:pPr>
            <a:r>
              <a:rPr lang="en-US" sz="2400">
                <a:solidFill>
                  <a:srgbClr val="000000"/>
                </a:solidFill>
                <a:latin typeface="Canva Sans"/>
                <a:ea typeface="Canva Sans"/>
                <a:cs typeface="Canva Sans"/>
                <a:sym typeface="Canva Sans"/>
              </a:rPr>
              <a:t>Múltiples SSID</a:t>
            </a:r>
          </a:p>
          <a:p>
            <a:pPr marL="518162" lvl="1" indent="-259081" algn="l">
              <a:lnSpc>
                <a:spcPts val="3360"/>
              </a:lnSpc>
              <a:spcBef>
                <a:spcPct val="0"/>
              </a:spcBef>
              <a:buFont typeface="Arial"/>
              <a:buChar char="•"/>
            </a:pPr>
            <a:r>
              <a:rPr lang="en-US" sz="2400">
                <a:solidFill>
                  <a:srgbClr val="000000"/>
                </a:solidFill>
                <a:latin typeface="Canva Sans"/>
                <a:ea typeface="Canva Sans"/>
                <a:cs typeface="Canva Sans"/>
                <a:sym typeface="Canva Sans"/>
              </a:rPr>
              <a:t>Roaming entre APs</a:t>
            </a:r>
          </a:p>
          <a:p>
            <a:pPr marL="518162" lvl="1" indent="-259081" algn="l">
              <a:lnSpc>
                <a:spcPts val="3360"/>
              </a:lnSpc>
              <a:spcBef>
                <a:spcPct val="0"/>
              </a:spcBef>
              <a:buFont typeface="Arial"/>
              <a:buChar char="•"/>
            </a:pPr>
            <a:r>
              <a:rPr lang="en-US" sz="2400">
                <a:solidFill>
                  <a:srgbClr val="000000"/>
                </a:solidFill>
                <a:latin typeface="Canva Sans"/>
                <a:ea typeface="Canva Sans"/>
                <a:cs typeface="Canva Sans"/>
                <a:sym typeface="Canva Sans"/>
              </a:rPr>
              <a:t>PoE (Power over Ethernet)</a:t>
            </a:r>
          </a:p>
          <a:p>
            <a:pPr marL="518162" lvl="1" indent="-259081" algn="l">
              <a:lnSpc>
                <a:spcPts val="3360"/>
              </a:lnSpc>
              <a:spcBef>
                <a:spcPct val="0"/>
              </a:spcBef>
              <a:buFont typeface="Arial"/>
              <a:buChar char="•"/>
            </a:pPr>
            <a:r>
              <a:rPr lang="en-US" sz="2400">
                <a:solidFill>
                  <a:srgbClr val="000000"/>
                </a:solidFill>
                <a:latin typeface="Canva Sans"/>
                <a:ea typeface="Canva Sans"/>
                <a:cs typeface="Canva Sans"/>
                <a:sym typeface="Canva Sans"/>
              </a:rPr>
              <a:t>Gestión centralizada</a:t>
            </a:r>
          </a:p>
          <a:p>
            <a:pPr marL="518162" lvl="1" indent="-259081" algn="l">
              <a:lnSpc>
                <a:spcPts val="3360"/>
              </a:lnSpc>
              <a:spcBef>
                <a:spcPct val="0"/>
              </a:spcBef>
              <a:buFont typeface="Arial"/>
              <a:buChar char="•"/>
            </a:pPr>
            <a:r>
              <a:rPr lang="en-US" sz="2400">
                <a:solidFill>
                  <a:srgbClr val="000000"/>
                </a:solidFill>
                <a:latin typeface="Canva Sans"/>
                <a:ea typeface="Canva Sans"/>
                <a:cs typeface="Canva Sans"/>
                <a:sym typeface="Canva Sans"/>
              </a:rPr>
              <a:t>Handoff inteligente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854327" y="942975"/>
            <a:ext cx="8579346" cy="811530"/>
          </a:xfrm>
          <a:prstGeom prst="rect">
            <a:avLst/>
          </a:prstGeom>
        </p:spPr>
        <p:txBody>
          <a:bodyPr lIns="0" tIns="0" rIns="0" bIns="0" rtlCol="0" anchor="t">
            <a:spAutoFit/>
          </a:bodyPr>
          <a:lstStyle/>
          <a:p>
            <a:pPr algn="ctr">
              <a:lnSpc>
                <a:spcPts val="6719"/>
              </a:lnSpc>
              <a:spcBef>
                <a:spcPct val="0"/>
              </a:spcBef>
            </a:pPr>
            <a:r>
              <a:rPr lang="en-US" sz="4800">
                <a:solidFill>
                  <a:srgbClr val="000000"/>
                </a:solidFill>
                <a:latin typeface="Canva Sans"/>
                <a:ea typeface="Canva Sans"/>
                <a:cs typeface="Canva Sans"/>
                <a:sym typeface="Canva Sans"/>
              </a:rPr>
              <a:t>Dispositivos de Red - Firewall</a:t>
            </a:r>
          </a:p>
        </p:txBody>
      </p:sp>
      <p:sp>
        <p:nvSpPr>
          <p:cNvPr id="3" name="TextBox 3"/>
          <p:cNvSpPr txBox="1"/>
          <p:nvPr/>
        </p:nvSpPr>
        <p:spPr>
          <a:xfrm>
            <a:off x="1028700" y="2412683"/>
            <a:ext cx="16230600" cy="905510"/>
          </a:xfrm>
          <a:prstGeom prst="rect">
            <a:avLst/>
          </a:prstGeom>
        </p:spPr>
        <p:txBody>
          <a:bodyPr lIns="0" tIns="0" rIns="0" bIns="0" rtlCol="0" anchor="t">
            <a:spAutoFit/>
          </a:bodyPr>
          <a:lstStyle/>
          <a:p>
            <a:pPr algn="just">
              <a:lnSpc>
                <a:spcPts val="3640"/>
              </a:lnSpc>
              <a:spcBef>
                <a:spcPct val="0"/>
              </a:spcBef>
            </a:pPr>
            <a:r>
              <a:rPr lang="en-US" sz="2600">
                <a:solidFill>
                  <a:srgbClr val="000000"/>
                </a:solidFill>
                <a:latin typeface="Canva Sans"/>
                <a:ea typeface="Canva Sans"/>
                <a:cs typeface="Canva Sans"/>
                <a:sym typeface="Canva Sans"/>
              </a:rPr>
              <a:t>Un Firewall es un sistema de seguridad que monitorea y controla el tráfico de red entrante y saliente basándose en reglas de seguridad predeterminadas.</a:t>
            </a:r>
          </a:p>
        </p:txBody>
      </p:sp>
      <p:sp>
        <p:nvSpPr>
          <p:cNvPr id="4" name="TextBox 4"/>
          <p:cNvSpPr txBox="1"/>
          <p:nvPr/>
        </p:nvSpPr>
        <p:spPr>
          <a:xfrm>
            <a:off x="1028700" y="3838864"/>
            <a:ext cx="7822665" cy="2734310"/>
          </a:xfrm>
          <a:prstGeom prst="rect">
            <a:avLst/>
          </a:prstGeom>
        </p:spPr>
        <p:txBody>
          <a:bodyPr lIns="0" tIns="0" rIns="0" bIns="0" rtlCol="0" anchor="t">
            <a:spAutoFit/>
          </a:bodyPr>
          <a:lstStyle/>
          <a:p>
            <a:pPr algn="l">
              <a:lnSpc>
                <a:spcPts val="3640"/>
              </a:lnSpc>
            </a:pPr>
            <a:r>
              <a:rPr lang="en-US" sz="2600">
                <a:solidFill>
                  <a:srgbClr val="000000"/>
                </a:solidFill>
                <a:latin typeface="Canva Sans"/>
                <a:ea typeface="Canva Sans"/>
                <a:cs typeface="Canva Sans"/>
                <a:sym typeface="Canva Sans"/>
              </a:rPr>
              <a:t>Tipos:</a:t>
            </a:r>
          </a:p>
          <a:p>
            <a:pPr algn="l">
              <a:lnSpc>
                <a:spcPts val="3640"/>
              </a:lnSpc>
            </a:pPr>
            <a:endParaRPr lang="en-US" sz="2600">
              <a:solidFill>
                <a:srgbClr val="000000"/>
              </a:solidFill>
              <a:latin typeface="Canva Sans"/>
              <a:ea typeface="Canva Sans"/>
              <a:cs typeface="Canva Sans"/>
              <a:sym typeface="Canva Sans"/>
            </a:endParaRPr>
          </a:p>
          <a:p>
            <a:pPr marL="561341" lvl="1" indent="-280670" algn="l">
              <a:lnSpc>
                <a:spcPts val="3640"/>
              </a:lnSpc>
              <a:buFont typeface="Arial"/>
              <a:buChar char="•"/>
            </a:pPr>
            <a:r>
              <a:rPr lang="en-US" sz="2600">
                <a:solidFill>
                  <a:srgbClr val="000000"/>
                </a:solidFill>
                <a:latin typeface="Canva Sans"/>
                <a:ea typeface="Canva Sans"/>
                <a:cs typeface="Canva Sans"/>
                <a:sym typeface="Canva Sans"/>
              </a:rPr>
              <a:t>Firewall de Software:</a:t>
            </a:r>
          </a:p>
          <a:p>
            <a:pPr marL="1122681" lvl="2" indent="-374227" algn="l">
              <a:lnSpc>
                <a:spcPts val="3640"/>
              </a:lnSpc>
              <a:spcBef>
                <a:spcPct val="0"/>
              </a:spcBef>
              <a:buFont typeface="Arial"/>
              <a:buChar char="⚬"/>
            </a:pPr>
            <a:r>
              <a:rPr lang="en-US" sz="2600">
                <a:solidFill>
                  <a:srgbClr val="000000"/>
                </a:solidFill>
                <a:latin typeface="Canva Sans"/>
                <a:ea typeface="Canva Sans"/>
                <a:cs typeface="Canva Sans"/>
                <a:sym typeface="Canva Sans"/>
              </a:rPr>
              <a:t>Instalado en sistemas operativos</a:t>
            </a:r>
          </a:p>
          <a:p>
            <a:pPr marL="1122681" lvl="2" indent="-374227" algn="l">
              <a:lnSpc>
                <a:spcPts val="3640"/>
              </a:lnSpc>
              <a:spcBef>
                <a:spcPct val="0"/>
              </a:spcBef>
              <a:buFont typeface="Arial"/>
              <a:buChar char="⚬"/>
            </a:pPr>
            <a:r>
              <a:rPr lang="en-US" sz="2600">
                <a:solidFill>
                  <a:srgbClr val="000000"/>
                </a:solidFill>
                <a:latin typeface="Canva Sans"/>
                <a:ea typeface="Canva Sans"/>
                <a:cs typeface="Canva Sans"/>
                <a:sym typeface="Canva Sans"/>
              </a:rPr>
              <a:t>Windows Defender Firewall, iptables</a:t>
            </a:r>
          </a:p>
          <a:p>
            <a:pPr marL="1122681" lvl="2" indent="-374227" algn="l">
              <a:lnSpc>
                <a:spcPts val="3640"/>
              </a:lnSpc>
              <a:spcBef>
                <a:spcPct val="0"/>
              </a:spcBef>
              <a:buFont typeface="Arial"/>
              <a:buChar char="⚬"/>
            </a:pPr>
            <a:r>
              <a:rPr lang="en-US" sz="2600">
                <a:solidFill>
                  <a:srgbClr val="000000"/>
                </a:solidFill>
                <a:latin typeface="Canva Sans"/>
                <a:ea typeface="Canva Sans"/>
                <a:cs typeface="Canva Sans"/>
                <a:sym typeface="Canva Sans"/>
              </a:rPr>
              <a:t>Protección por host</a:t>
            </a:r>
          </a:p>
        </p:txBody>
      </p:sp>
      <p:sp>
        <p:nvSpPr>
          <p:cNvPr id="5" name="TextBox 5"/>
          <p:cNvSpPr txBox="1"/>
          <p:nvPr/>
        </p:nvSpPr>
        <p:spPr>
          <a:xfrm>
            <a:off x="6294690" y="7438390"/>
            <a:ext cx="5113350" cy="1819910"/>
          </a:xfrm>
          <a:prstGeom prst="rect">
            <a:avLst/>
          </a:prstGeom>
        </p:spPr>
        <p:txBody>
          <a:bodyPr lIns="0" tIns="0" rIns="0" bIns="0" rtlCol="0" anchor="t">
            <a:spAutoFit/>
          </a:bodyPr>
          <a:lstStyle/>
          <a:p>
            <a:pPr marL="561341" lvl="1" indent="-280670" algn="l">
              <a:lnSpc>
                <a:spcPts val="3640"/>
              </a:lnSpc>
              <a:spcBef>
                <a:spcPct val="0"/>
              </a:spcBef>
              <a:buFont typeface="Arial"/>
              <a:buChar char="•"/>
            </a:pPr>
            <a:r>
              <a:rPr lang="en-US" sz="2600">
                <a:solidFill>
                  <a:srgbClr val="000000"/>
                </a:solidFill>
                <a:latin typeface="Canva Sans"/>
                <a:ea typeface="Canva Sans"/>
                <a:cs typeface="Canva Sans"/>
                <a:sym typeface="Canva Sans"/>
              </a:rPr>
              <a:t>Firewall de Hardware:</a:t>
            </a:r>
          </a:p>
          <a:p>
            <a:pPr marL="1122681" lvl="2" indent="-374227" algn="l">
              <a:lnSpc>
                <a:spcPts val="3640"/>
              </a:lnSpc>
              <a:spcBef>
                <a:spcPct val="0"/>
              </a:spcBef>
              <a:buFont typeface="Arial"/>
              <a:buChar char="⚬"/>
            </a:pPr>
            <a:r>
              <a:rPr lang="en-US" sz="2600">
                <a:solidFill>
                  <a:srgbClr val="000000"/>
                </a:solidFill>
                <a:latin typeface="Canva Sans"/>
                <a:ea typeface="Canva Sans"/>
                <a:cs typeface="Canva Sans"/>
                <a:sym typeface="Canva Sans"/>
              </a:rPr>
              <a:t>Dispositivo dedicado</a:t>
            </a:r>
          </a:p>
          <a:p>
            <a:pPr marL="1122681" lvl="2" indent="-374227" algn="l">
              <a:lnSpc>
                <a:spcPts val="3640"/>
              </a:lnSpc>
              <a:spcBef>
                <a:spcPct val="0"/>
              </a:spcBef>
              <a:buFont typeface="Arial"/>
              <a:buChar char="⚬"/>
            </a:pPr>
            <a:r>
              <a:rPr lang="en-US" sz="2600">
                <a:solidFill>
                  <a:srgbClr val="000000"/>
                </a:solidFill>
                <a:latin typeface="Canva Sans"/>
                <a:ea typeface="Canva Sans"/>
                <a:cs typeface="Canva Sans"/>
                <a:sym typeface="Canva Sans"/>
              </a:rPr>
              <a:t>Protección perimetral</a:t>
            </a:r>
          </a:p>
          <a:p>
            <a:pPr marL="1122681" lvl="2" indent="-374227" algn="l">
              <a:lnSpc>
                <a:spcPts val="3640"/>
              </a:lnSpc>
              <a:spcBef>
                <a:spcPct val="0"/>
              </a:spcBef>
              <a:buFont typeface="Arial"/>
              <a:buChar char="⚬"/>
            </a:pPr>
            <a:r>
              <a:rPr lang="en-US" sz="2600">
                <a:solidFill>
                  <a:srgbClr val="000000"/>
                </a:solidFill>
                <a:latin typeface="Canva Sans"/>
                <a:ea typeface="Canva Sans"/>
                <a:cs typeface="Canva Sans"/>
                <a:sym typeface="Canva Sans"/>
              </a:rPr>
              <a:t>Mayor rendimiento</a:t>
            </a:r>
          </a:p>
        </p:txBody>
      </p:sp>
      <p:sp>
        <p:nvSpPr>
          <p:cNvPr id="6" name="TextBox 6"/>
          <p:cNvSpPr txBox="1"/>
          <p:nvPr/>
        </p:nvSpPr>
        <p:spPr>
          <a:xfrm>
            <a:off x="9708767" y="4011136"/>
            <a:ext cx="7550533" cy="2734310"/>
          </a:xfrm>
          <a:prstGeom prst="rect">
            <a:avLst/>
          </a:prstGeom>
        </p:spPr>
        <p:txBody>
          <a:bodyPr lIns="0" tIns="0" rIns="0" bIns="0" rtlCol="0" anchor="t">
            <a:spAutoFit/>
          </a:bodyPr>
          <a:lstStyle/>
          <a:p>
            <a:pPr marL="561341" lvl="1" indent="-280670" algn="l">
              <a:lnSpc>
                <a:spcPts val="3640"/>
              </a:lnSpc>
              <a:spcBef>
                <a:spcPct val="0"/>
              </a:spcBef>
              <a:buFont typeface="Arial"/>
              <a:buChar char="•"/>
            </a:pPr>
            <a:r>
              <a:rPr lang="en-US" sz="2600">
                <a:solidFill>
                  <a:srgbClr val="000000"/>
                </a:solidFill>
                <a:latin typeface="Canva Sans"/>
                <a:ea typeface="Canva Sans"/>
                <a:cs typeface="Canva Sans"/>
                <a:sym typeface="Canva Sans"/>
              </a:rPr>
              <a:t>Next-Generation Firewall (NGFW):</a:t>
            </a:r>
          </a:p>
          <a:p>
            <a:pPr marL="1122681" lvl="2" indent="-374227" algn="l">
              <a:lnSpc>
                <a:spcPts val="3640"/>
              </a:lnSpc>
              <a:spcBef>
                <a:spcPct val="0"/>
              </a:spcBef>
              <a:buFont typeface="Arial"/>
              <a:buChar char="⚬"/>
            </a:pPr>
            <a:r>
              <a:rPr lang="en-US" sz="2600">
                <a:solidFill>
                  <a:srgbClr val="000000"/>
                </a:solidFill>
                <a:latin typeface="Canva Sans"/>
                <a:ea typeface="Canva Sans"/>
                <a:cs typeface="Canva Sans"/>
                <a:sym typeface="Canva Sans"/>
              </a:rPr>
              <a:t>Inspección profunda de paquetes (DPI)</a:t>
            </a:r>
          </a:p>
          <a:p>
            <a:pPr marL="1122681" lvl="2" indent="-374227" algn="l">
              <a:lnSpc>
                <a:spcPts val="3640"/>
              </a:lnSpc>
              <a:spcBef>
                <a:spcPct val="0"/>
              </a:spcBef>
              <a:buFont typeface="Arial"/>
              <a:buChar char="⚬"/>
            </a:pPr>
            <a:r>
              <a:rPr lang="en-US" sz="2600">
                <a:solidFill>
                  <a:srgbClr val="000000"/>
                </a:solidFill>
                <a:latin typeface="Canva Sans"/>
                <a:ea typeface="Canva Sans"/>
                <a:cs typeface="Canva Sans"/>
                <a:sym typeface="Canva Sans"/>
              </a:rPr>
              <a:t>IPS/IDS integrado</a:t>
            </a:r>
          </a:p>
          <a:p>
            <a:pPr marL="1122681" lvl="2" indent="-374227" algn="l">
              <a:lnSpc>
                <a:spcPts val="3640"/>
              </a:lnSpc>
              <a:spcBef>
                <a:spcPct val="0"/>
              </a:spcBef>
              <a:buFont typeface="Arial"/>
              <a:buChar char="⚬"/>
            </a:pPr>
            <a:r>
              <a:rPr lang="en-US" sz="2600">
                <a:solidFill>
                  <a:srgbClr val="000000"/>
                </a:solidFill>
                <a:latin typeface="Canva Sans"/>
                <a:ea typeface="Canva Sans"/>
                <a:cs typeface="Canva Sans"/>
                <a:sym typeface="Canva Sans"/>
              </a:rPr>
              <a:t>Control de aplicaciones</a:t>
            </a:r>
          </a:p>
          <a:p>
            <a:pPr marL="1122681" lvl="2" indent="-374227" algn="l">
              <a:lnSpc>
                <a:spcPts val="3640"/>
              </a:lnSpc>
              <a:spcBef>
                <a:spcPct val="0"/>
              </a:spcBef>
              <a:buFont typeface="Arial"/>
              <a:buChar char="⚬"/>
            </a:pPr>
            <a:r>
              <a:rPr lang="en-US" sz="2600">
                <a:solidFill>
                  <a:srgbClr val="000000"/>
                </a:solidFill>
                <a:latin typeface="Canva Sans"/>
                <a:ea typeface="Canva Sans"/>
                <a:cs typeface="Canva Sans"/>
                <a:sym typeface="Canva Sans"/>
              </a:rPr>
              <a:t>Filtrado de URLs</a:t>
            </a:r>
          </a:p>
          <a:p>
            <a:pPr marL="1122681" lvl="2" indent="-374227" algn="l">
              <a:lnSpc>
                <a:spcPts val="3640"/>
              </a:lnSpc>
              <a:spcBef>
                <a:spcPct val="0"/>
              </a:spcBef>
              <a:buFont typeface="Arial"/>
              <a:buChar char="⚬"/>
            </a:pPr>
            <a:r>
              <a:rPr lang="en-US" sz="2600">
                <a:solidFill>
                  <a:srgbClr val="000000"/>
                </a:solidFill>
                <a:latin typeface="Canva Sans"/>
                <a:ea typeface="Canva Sans"/>
                <a:cs typeface="Canva Sans"/>
                <a:sym typeface="Canva Sans"/>
              </a:rPr>
              <a:t>Prevención de malware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591780" y="3072804"/>
            <a:ext cx="7082207" cy="4141391"/>
          </a:xfrm>
          <a:custGeom>
            <a:avLst/>
            <a:gdLst/>
            <a:ahLst/>
            <a:cxnLst/>
            <a:rect l="l" t="t" r="r" b="b"/>
            <a:pathLst>
              <a:path w="7082207" h="4141391">
                <a:moveTo>
                  <a:pt x="0" y="0"/>
                </a:moveTo>
                <a:lnTo>
                  <a:pt x="7082207" y="0"/>
                </a:lnTo>
                <a:lnTo>
                  <a:pt x="7082207" y="4141392"/>
                </a:lnTo>
                <a:lnTo>
                  <a:pt x="0" y="4141392"/>
                </a:lnTo>
                <a:lnTo>
                  <a:pt x="0" y="0"/>
                </a:lnTo>
                <a:close/>
              </a:path>
            </a:pathLst>
          </a:custGeom>
          <a:blipFill>
            <a:blip r:embed="rId2"/>
            <a:stretch>
              <a:fillRect t="-35301" b="-35708"/>
            </a:stretch>
          </a:blipFill>
        </p:spPr>
        <p:txBody>
          <a:bodyPr/>
          <a:lstStyle/>
          <a:p>
            <a:endParaRPr lang="es-GT"/>
          </a:p>
        </p:txBody>
      </p:sp>
      <p:sp>
        <p:nvSpPr>
          <p:cNvPr id="3" name="TextBox 3"/>
          <p:cNvSpPr txBox="1"/>
          <p:nvPr/>
        </p:nvSpPr>
        <p:spPr>
          <a:xfrm>
            <a:off x="4854327" y="942975"/>
            <a:ext cx="8579346" cy="811530"/>
          </a:xfrm>
          <a:prstGeom prst="rect">
            <a:avLst/>
          </a:prstGeom>
        </p:spPr>
        <p:txBody>
          <a:bodyPr lIns="0" tIns="0" rIns="0" bIns="0" rtlCol="0" anchor="t">
            <a:spAutoFit/>
          </a:bodyPr>
          <a:lstStyle/>
          <a:p>
            <a:pPr algn="ctr">
              <a:lnSpc>
                <a:spcPts val="6719"/>
              </a:lnSpc>
              <a:spcBef>
                <a:spcPct val="0"/>
              </a:spcBef>
            </a:pPr>
            <a:r>
              <a:rPr lang="en-US" sz="4800">
                <a:solidFill>
                  <a:srgbClr val="000000"/>
                </a:solidFill>
                <a:latin typeface="Canva Sans"/>
                <a:ea typeface="Canva Sans"/>
                <a:cs typeface="Canva Sans"/>
                <a:sym typeface="Canva Sans"/>
              </a:rPr>
              <a:t>Dispositivos de Red - Firewall</a:t>
            </a:r>
          </a:p>
        </p:txBody>
      </p:sp>
      <p:sp>
        <p:nvSpPr>
          <p:cNvPr id="4" name="TextBox 4"/>
          <p:cNvSpPr txBox="1"/>
          <p:nvPr/>
        </p:nvSpPr>
        <p:spPr>
          <a:xfrm>
            <a:off x="1655133" y="3747770"/>
            <a:ext cx="7488867" cy="2734310"/>
          </a:xfrm>
          <a:prstGeom prst="rect">
            <a:avLst/>
          </a:prstGeom>
        </p:spPr>
        <p:txBody>
          <a:bodyPr lIns="0" tIns="0" rIns="0" bIns="0" rtlCol="0" anchor="t">
            <a:spAutoFit/>
          </a:bodyPr>
          <a:lstStyle/>
          <a:p>
            <a:pPr algn="l">
              <a:lnSpc>
                <a:spcPts val="3640"/>
              </a:lnSpc>
            </a:pPr>
            <a:r>
              <a:rPr lang="en-US" sz="2600">
                <a:solidFill>
                  <a:srgbClr val="000000"/>
                </a:solidFill>
                <a:latin typeface="Canva Sans"/>
                <a:ea typeface="Canva Sans"/>
                <a:cs typeface="Canva Sans"/>
                <a:sym typeface="Canva Sans"/>
              </a:rPr>
              <a:t>Componentes:</a:t>
            </a:r>
          </a:p>
          <a:p>
            <a:pPr algn="l">
              <a:lnSpc>
                <a:spcPts val="3640"/>
              </a:lnSpc>
            </a:pPr>
            <a:endParaRPr lang="en-US" sz="2600">
              <a:solidFill>
                <a:srgbClr val="000000"/>
              </a:solidFill>
              <a:latin typeface="Canva Sans"/>
              <a:ea typeface="Canva Sans"/>
              <a:cs typeface="Canva Sans"/>
              <a:sym typeface="Canva Sans"/>
            </a:endParaRPr>
          </a:p>
          <a:p>
            <a:pPr marL="561341" lvl="1" indent="-280670" algn="l">
              <a:lnSpc>
                <a:spcPts val="3640"/>
              </a:lnSpc>
              <a:buFont typeface="Arial"/>
              <a:buChar char="•"/>
            </a:pPr>
            <a:r>
              <a:rPr lang="en-US" sz="2600">
                <a:solidFill>
                  <a:srgbClr val="000000"/>
                </a:solidFill>
                <a:latin typeface="Canva Sans"/>
                <a:ea typeface="Canva Sans"/>
                <a:cs typeface="Canva Sans"/>
                <a:sym typeface="Canva Sans"/>
              </a:rPr>
              <a:t>Motor de inspección de paquetes</a:t>
            </a:r>
          </a:p>
          <a:p>
            <a:pPr marL="561341" lvl="1" indent="-280670" algn="l">
              <a:lnSpc>
                <a:spcPts val="3640"/>
              </a:lnSpc>
              <a:buFont typeface="Arial"/>
              <a:buChar char="•"/>
            </a:pPr>
            <a:r>
              <a:rPr lang="en-US" sz="2600">
                <a:solidFill>
                  <a:srgbClr val="000000"/>
                </a:solidFill>
                <a:latin typeface="Canva Sans"/>
                <a:ea typeface="Canva Sans"/>
                <a:cs typeface="Canva Sans"/>
                <a:sym typeface="Canva Sans"/>
              </a:rPr>
              <a:t>Base de datos de reglas</a:t>
            </a:r>
          </a:p>
          <a:p>
            <a:pPr marL="561341" lvl="1" indent="-280670" algn="l">
              <a:lnSpc>
                <a:spcPts val="3640"/>
              </a:lnSpc>
              <a:spcBef>
                <a:spcPct val="0"/>
              </a:spcBef>
              <a:buFont typeface="Arial"/>
              <a:buChar char="•"/>
            </a:pPr>
            <a:r>
              <a:rPr lang="en-US" sz="2600">
                <a:solidFill>
                  <a:srgbClr val="000000"/>
                </a:solidFill>
                <a:latin typeface="Canva Sans"/>
                <a:ea typeface="Canva Sans"/>
                <a:cs typeface="Canva Sans"/>
                <a:sym typeface="Canva Sans"/>
              </a:rPr>
              <a:t>Sistema de logging</a:t>
            </a:r>
          </a:p>
          <a:p>
            <a:pPr marL="561341" lvl="1" indent="-280670" algn="l">
              <a:lnSpc>
                <a:spcPts val="3640"/>
              </a:lnSpc>
              <a:spcBef>
                <a:spcPct val="0"/>
              </a:spcBef>
              <a:buFont typeface="Arial"/>
              <a:buChar char="•"/>
            </a:pPr>
            <a:r>
              <a:rPr lang="en-US" sz="2600">
                <a:solidFill>
                  <a:srgbClr val="000000"/>
                </a:solidFill>
                <a:latin typeface="Canva Sans"/>
                <a:ea typeface="Canva Sans"/>
                <a:cs typeface="Canva Sans"/>
                <a:sym typeface="Canva Sans"/>
              </a:rPr>
              <a:t>Interfaces de red múltiples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751237" y="942975"/>
            <a:ext cx="12785527" cy="811530"/>
          </a:xfrm>
          <a:prstGeom prst="rect">
            <a:avLst/>
          </a:prstGeom>
        </p:spPr>
        <p:txBody>
          <a:bodyPr lIns="0" tIns="0" rIns="0" bIns="0" rtlCol="0" anchor="t">
            <a:spAutoFit/>
          </a:bodyPr>
          <a:lstStyle/>
          <a:p>
            <a:pPr algn="ctr">
              <a:lnSpc>
                <a:spcPts val="6719"/>
              </a:lnSpc>
              <a:spcBef>
                <a:spcPct val="0"/>
              </a:spcBef>
            </a:pPr>
            <a:r>
              <a:rPr lang="en-US" sz="4800">
                <a:solidFill>
                  <a:srgbClr val="000000"/>
                </a:solidFill>
                <a:latin typeface="Canva Sans"/>
                <a:ea typeface="Canva Sans"/>
                <a:cs typeface="Canva Sans"/>
                <a:sym typeface="Canva Sans"/>
              </a:rPr>
              <a:t>Hardware de Seguridad - Otros Dispositivos</a:t>
            </a:r>
          </a:p>
        </p:txBody>
      </p:sp>
      <p:sp>
        <p:nvSpPr>
          <p:cNvPr id="3" name="TextBox 3"/>
          <p:cNvSpPr txBox="1"/>
          <p:nvPr/>
        </p:nvSpPr>
        <p:spPr>
          <a:xfrm>
            <a:off x="1028700" y="3061970"/>
            <a:ext cx="8277844" cy="5477510"/>
          </a:xfrm>
          <a:prstGeom prst="rect">
            <a:avLst/>
          </a:prstGeom>
        </p:spPr>
        <p:txBody>
          <a:bodyPr lIns="0" tIns="0" rIns="0" bIns="0" rtlCol="0" anchor="t">
            <a:spAutoFit/>
          </a:bodyPr>
          <a:lstStyle/>
          <a:p>
            <a:pPr algn="l">
              <a:lnSpc>
                <a:spcPts val="3640"/>
              </a:lnSpc>
            </a:pPr>
            <a:r>
              <a:rPr lang="en-US" sz="2600">
                <a:solidFill>
                  <a:srgbClr val="000000"/>
                </a:solidFill>
                <a:latin typeface="Canva Sans"/>
                <a:ea typeface="Canva Sans"/>
                <a:cs typeface="Canva Sans"/>
                <a:sym typeface="Canva Sans"/>
              </a:rPr>
              <a:t>Dispositivos Complementarios:</a:t>
            </a:r>
          </a:p>
          <a:p>
            <a:pPr algn="l">
              <a:lnSpc>
                <a:spcPts val="3640"/>
              </a:lnSpc>
            </a:pPr>
            <a:endParaRPr lang="en-US" sz="2600">
              <a:solidFill>
                <a:srgbClr val="000000"/>
              </a:solidFill>
              <a:latin typeface="Canva Sans"/>
              <a:ea typeface="Canva Sans"/>
              <a:cs typeface="Canva Sans"/>
              <a:sym typeface="Canva Sans"/>
            </a:endParaRPr>
          </a:p>
          <a:p>
            <a:pPr marL="561341" lvl="1" indent="-280670" algn="l">
              <a:lnSpc>
                <a:spcPts val="3640"/>
              </a:lnSpc>
              <a:buFont typeface="Arial"/>
              <a:buChar char="•"/>
            </a:pPr>
            <a:r>
              <a:rPr lang="en-US" sz="2600">
                <a:solidFill>
                  <a:srgbClr val="000000"/>
                </a:solidFill>
                <a:latin typeface="Canva Sans"/>
                <a:ea typeface="Canva Sans"/>
                <a:cs typeface="Canva Sans"/>
                <a:sym typeface="Canva Sans"/>
              </a:rPr>
              <a:t>IDS/IPS (Intrusion Detection/Prevention System):</a:t>
            </a:r>
          </a:p>
          <a:p>
            <a:pPr marL="1122681" lvl="2" indent="-374227" algn="l">
              <a:lnSpc>
                <a:spcPts val="3640"/>
              </a:lnSpc>
              <a:buFont typeface="Arial"/>
              <a:buChar char="⚬"/>
            </a:pPr>
            <a:r>
              <a:rPr lang="en-US" sz="2600">
                <a:solidFill>
                  <a:srgbClr val="000000"/>
                </a:solidFill>
                <a:latin typeface="Canva Sans"/>
                <a:ea typeface="Canva Sans"/>
                <a:cs typeface="Canva Sans"/>
                <a:sym typeface="Canva Sans"/>
              </a:rPr>
              <a:t>Detecta y previene ataques</a:t>
            </a:r>
          </a:p>
          <a:p>
            <a:pPr marL="1122681" lvl="2" indent="-374227" algn="l">
              <a:lnSpc>
                <a:spcPts val="3640"/>
              </a:lnSpc>
              <a:buFont typeface="Arial"/>
              <a:buChar char="⚬"/>
            </a:pPr>
            <a:r>
              <a:rPr lang="en-US" sz="2600">
                <a:solidFill>
                  <a:srgbClr val="000000"/>
                </a:solidFill>
                <a:latin typeface="Canva Sans"/>
                <a:ea typeface="Canva Sans"/>
                <a:cs typeface="Canva Sans"/>
                <a:sym typeface="Canva Sans"/>
              </a:rPr>
              <a:t>Análisis de patrones</a:t>
            </a:r>
          </a:p>
          <a:p>
            <a:pPr marL="1122681" lvl="2" indent="-374227" algn="l">
              <a:lnSpc>
                <a:spcPts val="3640"/>
              </a:lnSpc>
              <a:buFont typeface="Arial"/>
              <a:buChar char="⚬"/>
            </a:pPr>
            <a:r>
              <a:rPr lang="en-US" sz="2600">
                <a:solidFill>
                  <a:srgbClr val="000000"/>
                </a:solidFill>
                <a:latin typeface="Canva Sans"/>
                <a:ea typeface="Canva Sans"/>
                <a:cs typeface="Canva Sans"/>
                <a:sym typeface="Canva Sans"/>
              </a:rPr>
              <a:t>Ejemplos: Snort, Suricata</a:t>
            </a:r>
          </a:p>
          <a:p>
            <a:pPr algn="l">
              <a:lnSpc>
                <a:spcPts val="3640"/>
              </a:lnSpc>
            </a:pPr>
            <a:endParaRPr lang="en-US" sz="2600">
              <a:solidFill>
                <a:srgbClr val="000000"/>
              </a:solidFill>
              <a:latin typeface="Canva Sans"/>
              <a:ea typeface="Canva Sans"/>
              <a:cs typeface="Canva Sans"/>
              <a:sym typeface="Canva Sans"/>
            </a:endParaRPr>
          </a:p>
          <a:p>
            <a:pPr marL="561341" lvl="1" indent="-280670" algn="l">
              <a:lnSpc>
                <a:spcPts val="3640"/>
              </a:lnSpc>
              <a:buFont typeface="Arial"/>
              <a:buChar char="•"/>
            </a:pPr>
            <a:r>
              <a:rPr lang="en-US" sz="2600">
                <a:solidFill>
                  <a:srgbClr val="000000"/>
                </a:solidFill>
                <a:latin typeface="Canva Sans"/>
                <a:ea typeface="Canva Sans"/>
                <a:cs typeface="Canva Sans"/>
                <a:sym typeface="Canva Sans"/>
              </a:rPr>
              <a:t>VPN Appliances:</a:t>
            </a:r>
          </a:p>
          <a:p>
            <a:pPr marL="1122681" lvl="2" indent="-374227" algn="l">
              <a:lnSpc>
                <a:spcPts val="3640"/>
              </a:lnSpc>
              <a:buFont typeface="Arial"/>
              <a:buChar char="⚬"/>
            </a:pPr>
            <a:r>
              <a:rPr lang="en-US" sz="2600">
                <a:solidFill>
                  <a:srgbClr val="000000"/>
                </a:solidFill>
                <a:latin typeface="Canva Sans"/>
                <a:ea typeface="Canva Sans"/>
                <a:cs typeface="Canva Sans"/>
                <a:sym typeface="Canva Sans"/>
              </a:rPr>
              <a:t>Túneles cifrados</a:t>
            </a:r>
          </a:p>
          <a:p>
            <a:pPr marL="1122681" lvl="2" indent="-374227" algn="l">
              <a:lnSpc>
                <a:spcPts val="3640"/>
              </a:lnSpc>
              <a:buFont typeface="Arial"/>
              <a:buChar char="⚬"/>
            </a:pPr>
            <a:r>
              <a:rPr lang="en-US" sz="2600">
                <a:solidFill>
                  <a:srgbClr val="000000"/>
                </a:solidFill>
                <a:latin typeface="Canva Sans"/>
                <a:ea typeface="Canva Sans"/>
                <a:cs typeface="Canva Sans"/>
                <a:sym typeface="Canva Sans"/>
              </a:rPr>
              <a:t>Acceso remoto seguro</a:t>
            </a:r>
          </a:p>
          <a:p>
            <a:pPr marL="1122681" lvl="2" indent="-374227" algn="l">
              <a:lnSpc>
                <a:spcPts val="3640"/>
              </a:lnSpc>
              <a:spcBef>
                <a:spcPct val="0"/>
              </a:spcBef>
              <a:buFont typeface="Arial"/>
              <a:buChar char="⚬"/>
            </a:pPr>
            <a:r>
              <a:rPr lang="en-US" sz="2600">
                <a:solidFill>
                  <a:srgbClr val="000000"/>
                </a:solidFill>
                <a:latin typeface="Canva Sans"/>
                <a:ea typeface="Canva Sans"/>
                <a:cs typeface="Canva Sans"/>
                <a:sym typeface="Canva Sans"/>
              </a:rPr>
              <a:t>Site-to-site VPN</a:t>
            </a:r>
          </a:p>
        </p:txBody>
      </p:sp>
      <p:sp>
        <p:nvSpPr>
          <p:cNvPr id="4" name="TextBox 4"/>
          <p:cNvSpPr txBox="1"/>
          <p:nvPr/>
        </p:nvSpPr>
        <p:spPr>
          <a:xfrm>
            <a:off x="10164921" y="3747770"/>
            <a:ext cx="7094379" cy="4105910"/>
          </a:xfrm>
          <a:prstGeom prst="rect">
            <a:avLst/>
          </a:prstGeom>
        </p:spPr>
        <p:txBody>
          <a:bodyPr lIns="0" tIns="0" rIns="0" bIns="0" rtlCol="0" anchor="t">
            <a:spAutoFit/>
          </a:bodyPr>
          <a:lstStyle/>
          <a:p>
            <a:pPr marL="561341" lvl="1" indent="-280670" algn="l">
              <a:lnSpc>
                <a:spcPts val="3640"/>
              </a:lnSpc>
              <a:spcBef>
                <a:spcPct val="0"/>
              </a:spcBef>
              <a:buFont typeface="Arial"/>
              <a:buChar char="•"/>
            </a:pPr>
            <a:r>
              <a:rPr lang="en-US" sz="2600">
                <a:solidFill>
                  <a:srgbClr val="000000"/>
                </a:solidFill>
                <a:latin typeface="Canva Sans"/>
                <a:ea typeface="Canva Sans"/>
                <a:cs typeface="Canva Sans"/>
                <a:sym typeface="Canva Sans"/>
              </a:rPr>
              <a:t>HSM (Hardware Security Module):</a:t>
            </a:r>
          </a:p>
          <a:p>
            <a:pPr marL="1122681" lvl="2" indent="-374227" algn="l">
              <a:lnSpc>
                <a:spcPts val="3640"/>
              </a:lnSpc>
              <a:spcBef>
                <a:spcPct val="0"/>
              </a:spcBef>
              <a:buFont typeface="Arial"/>
              <a:buChar char="⚬"/>
            </a:pPr>
            <a:r>
              <a:rPr lang="en-US" sz="2600">
                <a:solidFill>
                  <a:srgbClr val="000000"/>
                </a:solidFill>
                <a:latin typeface="Canva Sans"/>
                <a:ea typeface="Canva Sans"/>
                <a:cs typeface="Canva Sans"/>
                <a:sym typeface="Canva Sans"/>
              </a:rPr>
              <a:t>Gestión de claves criptográficas</a:t>
            </a:r>
          </a:p>
          <a:p>
            <a:pPr marL="1122681" lvl="2" indent="-374227" algn="l">
              <a:lnSpc>
                <a:spcPts val="3640"/>
              </a:lnSpc>
              <a:spcBef>
                <a:spcPct val="0"/>
              </a:spcBef>
              <a:buFont typeface="Arial"/>
              <a:buChar char="⚬"/>
            </a:pPr>
            <a:r>
              <a:rPr lang="en-US" sz="2600">
                <a:solidFill>
                  <a:srgbClr val="000000"/>
                </a:solidFill>
                <a:latin typeface="Canva Sans"/>
                <a:ea typeface="Canva Sans"/>
                <a:cs typeface="Canva Sans"/>
                <a:sym typeface="Canva Sans"/>
              </a:rPr>
              <a:t>Aceleración criptográfica</a:t>
            </a:r>
          </a:p>
          <a:p>
            <a:pPr marL="1122681" lvl="2" indent="-374227" algn="l">
              <a:lnSpc>
                <a:spcPts val="3640"/>
              </a:lnSpc>
              <a:spcBef>
                <a:spcPct val="0"/>
              </a:spcBef>
              <a:buFont typeface="Arial"/>
              <a:buChar char="⚬"/>
            </a:pPr>
            <a:r>
              <a:rPr lang="en-US" sz="2600">
                <a:solidFill>
                  <a:srgbClr val="000000"/>
                </a:solidFill>
                <a:latin typeface="Canva Sans"/>
                <a:ea typeface="Canva Sans"/>
                <a:cs typeface="Canva Sans"/>
                <a:sym typeface="Canva Sans"/>
              </a:rPr>
              <a:t>Cumplimiento normativo (PCI-DSS)</a:t>
            </a:r>
          </a:p>
          <a:p>
            <a:pPr algn="l">
              <a:lnSpc>
                <a:spcPts val="3640"/>
              </a:lnSpc>
              <a:spcBef>
                <a:spcPct val="0"/>
              </a:spcBef>
            </a:pPr>
            <a:endParaRPr lang="en-US" sz="2600">
              <a:solidFill>
                <a:srgbClr val="000000"/>
              </a:solidFill>
              <a:latin typeface="Canva Sans"/>
              <a:ea typeface="Canva Sans"/>
              <a:cs typeface="Canva Sans"/>
              <a:sym typeface="Canva Sans"/>
            </a:endParaRPr>
          </a:p>
          <a:p>
            <a:pPr marL="561341" lvl="1" indent="-280670" algn="l">
              <a:lnSpc>
                <a:spcPts val="3640"/>
              </a:lnSpc>
              <a:spcBef>
                <a:spcPct val="0"/>
              </a:spcBef>
              <a:buFont typeface="Arial"/>
              <a:buChar char="•"/>
            </a:pPr>
            <a:r>
              <a:rPr lang="en-US" sz="2600">
                <a:solidFill>
                  <a:srgbClr val="000000"/>
                </a:solidFill>
                <a:latin typeface="Canva Sans"/>
                <a:ea typeface="Canva Sans"/>
                <a:cs typeface="Canva Sans"/>
                <a:sym typeface="Canva Sans"/>
              </a:rPr>
              <a:t>UTM (Unified Threat Management):</a:t>
            </a:r>
          </a:p>
          <a:p>
            <a:pPr marL="1122681" lvl="2" indent="-374227" algn="l">
              <a:lnSpc>
                <a:spcPts val="3640"/>
              </a:lnSpc>
              <a:spcBef>
                <a:spcPct val="0"/>
              </a:spcBef>
              <a:buFont typeface="Arial"/>
              <a:buChar char="⚬"/>
            </a:pPr>
            <a:r>
              <a:rPr lang="en-US" sz="2600">
                <a:solidFill>
                  <a:srgbClr val="000000"/>
                </a:solidFill>
                <a:latin typeface="Canva Sans"/>
                <a:ea typeface="Canva Sans"/>
                <a:cs typeface="Canva Sans"/>
                <a:sym typeface="Canva Sans"/>
              </a:rPr>
              <a:t>Firewall + Antivirus + IPS + VPN</a:t>
            </a:r>
          </a:p>
          <a:p>
            <a:pPr marL="1122681" lvl="2" indent="-374227" algn="l">
              <a:lnSpc>
                <a:spcPts val="3640"/>
              </a:lnSpc>
              <a:spcBef>
                <a:spcPct val="0"/>
              </a:spcBef>
              <a:buFont typeface="Arial"/>
              <a:buChar char="⚬"/>
            </a:pPr>
            <a:r>
              <a:rPr lang="en-US" sz="2600">
                <a:solidFill>
                  <a:srgbClr val="000000"/>
                </a:solidFill>
                <a:latin typeface="Canva Sans"/>
                <a:ea typeface="Canva Sans"/>
                <a:cs typeface="Canva Sans"/>
                <a:sym typeface="Canva Sans"/>
              </a:rPr>
              <a:t>Solución todo-en-uno</a:t>
            </a:r>
          </a:p>
          <a:p>
            <a:pPr marL="1122681" lvl="2" indent="-374227" algn="l">
              <a:lnSpc>
                <a:spcPts val="3640"/>
              </a:lnSpc>
              <a:spcBef>
                <a:spcPct val="0"/>
              </a:spcBef>
              <a:buFont typeface="Arial"/>
              <a:buChar char="⚬"/>
            </a:pPr>
            <a:r>
              <a:rPr lang="en-US" sz="2600">
                <a:solidFill>
                  <a:srgbClr val="000000"/>
                </a:solidFill>
                <a:latin typeface="Canva Sans"/>
                <a:ea typeface="Canva Sans"/>
                <a:cs typeface="Canva Sans"/>
                <a:sym typeface="Canva Sans"/>
              </a:rPr>
              <a:t>Ejemplo: Sophos XG</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092477" y="4032567"/>
            <a:ext cx="6356958" cy="4793266"/>
          </a:xfrm>
          <a:custGeom>
            <a:avLst/>
            <a:gdLst/>
            <a:ahLst/>
            <a:cxnLst/>
            <a:rect l="l" t="t" r="r" b="b"/>
            <a:pathLst>
              <a:path w="6356958" h="4793266">
                <a:moveTo>
                  <a:pt x="0" y="0"/>
                </a:moveTo>
                <a:lnTo>
                  <a:pt x="6356958" y="0"/>
                </a:lnTo>
                <a:lnTo>
                  <a:pt x="6356958" y="4793267"/>
                </a:lnTo>
                <a:lnTo>
                  <a:pt x="0" y="4793267"/>
                </a:lnTo>
                <a:lnTo>
                  <a:pt x="0" y="0"/>
                </a:lnTo>
                <a:close/>
              </a:path>
            </a:pathLst>
          </a:custGeom>
          <a:blipFill>
            <a:blip r:embed="rId2"/>
            <a:stretch>
              <a:fillRect t="-27693" b="-4928"/>
            </a:stretch>
          </a:blipFill>
        </p:spPr>
        <p:txBody>
          <a:bodyPr/>
          <a:lstStyle/>
          <a:p>
            <a:endParaRPr lang="es-GT"/>
          </a:p>
        </p:txBody>
      </p:sp>
      <p:sp>
        <p:nvSpPr>
          <p:cNvPr id="3" name="TextBox 3"/>
          <p:cNvSpPr txBox="1"/>
          <p:nvPr/>
        </p:nvSpPr>
        <p:spPr>
          <a:xfrm>
            <a:off x="6492329" y="942975"/>
            <a:ext cx="5303341" cy="811530"/>
          </a:xfrm>
          <a:prstGeom prst="rect">
            <a:avLst/>
          </a:prstGeom>
        </p:spPr>
        <p:txBody>
          <a:bodyPr lIns="0" tIns="0" rIns="0" bIns="0" rtlCol="0" anchor="t">
            <a:spAutoFit/>
          </a:bodyPr>
          <a:lstStyle/>
          <a:p>
            <a:pPr algn="ctr">
              <a:lnSpc>
                <a:spcPts val="6719"/>
              </a:lnSpc>
              <a:spcBef>
                <a:spcPct val="0"/>
              </a:spcBef>
            </a:pPr>
            <a:r>
              <a:rPr lang="en-US" sz="4800">
                <a:solidFill>
                  <a:srgbClr val="000000"/>
                </a:solidFill>
                <a:latin typeface="Canva Sans"/>
                <a:ea typeface="Canva Sans"/>
                <a:cs typeface="Canva Sans"/>
                <a:sym typeface="Canva Sans"/>
              </a:rPr>
              <a:t>Buses del Sistema</a:t>
            </a:r>
          </a:p>
        </p:txBody>
      </p:sp>
      <p:sp>
        <p:nvSpPr>
          <p:cNvPr id="4" name="TextBox 4"/>
          <p:cNvSpPr txBox="1"/>
          <p:nvPr/>
        </p:nvSpPr>
        <p:spPr>
          <a:xfrm>
            <a:off x="1028700" y="2412683"/>
            <a:ext cx="16230600" cy="905510"/>
          </a:xfrm>
          <a:prstGeom prst="rect">
            <a:avLst/>
          </a:prstGeom>
        </p:spPr>
        <p:txBody>
          <a:bodyPr lIns="0" tIns="0" rIns="0" bIns="0" rtlCol="0" anchor="t">
            <a:spAutoFit/>
          </a:bodyPr>
          <a:lstStyle/>
          <a:p>
            <a:pPr algn="just">
              <a:lnSpc>
                <a:spcPts val="3640"/>
              </a:lnSpc>
              <a:spcBef>
                <a:spcPct val="0"/>
              </a:spcBef>
            </a:pPr>
            <a:r>
              <a:rPr lang="en-US" sz="2600">
                <a:solidFill>
                  <a:srgbClr val="000000"/>
                </a:solidFill>
                <a:latin typeface="Canva Sans"/>
                <a:ea typeface="Canva Sans"/>
                <a:cs typeface="Canva Sans"/>
                <a:sym typeface="Canva Sans"/>
              </a:rPr>
              <a:t>Los Buses son rutas de comunicación compartidas que interconectan los componentes del sistema informático, permitiendo la transferencia de información.</a:t>
            </a:r>
          </a:p>
        </p:txBody>
      </p:sp>
      <p:sp>
        <p:nvSpPr>
          <p:cNvPr id="5" name="TextBox 5"/>
          <p:cNvSpPr txBox="1"/>
          <p:nvPr/>
        </p:nvSpPr>
        <p:spPr>
          <a:xfrm>
            <a:off x="1954231" y="3975417"/>
            <a:ext cx="5698497" cy="5020310"/>
          </a:xfrm>
          <a:prstGeom prst="rect">
            <a:avLst/>
          </a:prstGeom>
        </p:spPr>
        <p:txBody>
          <a:bodyPr lIns="0" tIns="0" rIns="0" bIns="0" rtlCol="0" anchor="t">
            <a:spAutoFit/>
          </a:bodyPr>
          <a:lstStyle/>
          <a:p>
            <a:pPr algn="l">
              <a:lnSpc>
                <a:spcPts val="3640"/>
              </a:lnSpc>
            </a:pPr>
            <a:r>
              <a:rPr lang="en-US" sz="2600">
                <a:solidFill>
                  <a:srgbClr val="000000"/>
                </a:solidFill>
                <a:latin typeface="Canva Sans"/>
                <a:ea typeface="Canva Sans"/>
                <a:cs typeface="Canva Sans"/>
                <a:sym typeface="Canva Sans"/>
              </a:rPr>
              <a:t>Tipos de transferencia:</a:t>
            </a:r>
          </a:p>
          <a:p>
            <a:pPr algn="l">
              <a:lnSpc>
                <a:spcPts val="3640"/>
              </a:lnSpc>
            </a:pPr>
            <a:endParaRPr lang="en-US" sz="2600">
              <a:solidFill>
                <a:srgbClr val="000000"/>
              </a:solidFill>
              <a:latin typeface="Canva Sans"/>
              <a:ea typeface="Canva Sans"/>
              <a:cs typeface="Canva Sans"/>
              <a:sym typeface="Canva Sans"/>
            </a:endParaRPr>
          </a:p>
          <a:p>
            <a:pPr marL="561341" lvl="1" indent="-280670" algn="l">
              <a:lnSpc>
                <a:spcPts val="3640"/>
              </a:lnSpc>
              <a:buFont typeface="Arial"/>
              <a:buChar char="•"/>
            </a:pPr>
            <a:r>
              <a:rPr lang="en-US" sz="2600">
                <a:solidFill>
                  <a:srgbClr val="000000"/>
                </a:solidFill>
                <a:latin typeface="Canva Sans"/>
                <a:ea typeface="Canva Sans"/>
                <a:cs typeface="Canva Sans"/>
                <a:sym typeface="Canva Sans"/>
              </a:rPr>
              <a:t>Datos</a:t>
            </a:r>
          </a:p>
          <a:p>
            <a:pPr marL="561341" lvl="1" indent="-280670" algn="l">
              <a:lnSpc>
                <a:spcPts val="3640"/>
              </a:lnSpc>
              <a:buFont typeface="Arial"/>
              <a:buChar char="•"/>
            </a:pPr>
            <a:r>
              <a:rPr lang="en-US" sz="2600">
                <a:solidFill>
                  <a:srgbClr val="000000"/>
                </a:solidFill>
                <a:latin typeface="Canva Sans"/>
                <a:ea typeface="Canva Sans"/>
                <a:cs typeface="Canva Sans"/>
                <a:sym typeface="Canva Sans"/>
              </a:rPr>
              <a:t>Direcciones de memoria</a:t>
            </a:r>
          </a:p>
          <a:p>
            <a:pPr marL="561341" lvl="1" indent="-280670" algn="l">
              <a:lnSpc>
                <a:spcPts val="3640"/>
              </a:lnSpc>
              <a:buFont typeface="Arial"/>
              <a:buChar char="•"/>
            </a:pPr>
            <a:r>
              <a:rPr lang="en-US" sz="2600">
                <a:solidFill>
                  <a:srgbClr val="000000"/>
                </a:solidFill>
                <a:latin typeface="Canva Sans"/>
                <a:ea typeface="Canva Sans"/>
                <a:cs typeface="Canva Sans"/>
                <a:sym typeface="Canva Sans"/>
              </a:rPr>
              <a:t>Señales de control</a:t>
            </a:r>
          </a:p>
          <a:p>
            <a:pPr algn="l">
              <a:lnSpc>
                <a:spcPts val="3640"/>
              </a:lnSpc>
            </a:pPr>
            <a:endParaRPr lang="en-US" sz="2600">
              <a:solidFill>
                <a:srgbClr val="000000"/>
              </a:solidFill>
              <a:latin typeface="Canva Sans"/>
              <a:ea typeface="Canva Sans"/>
              <a:cs typeface="Canva Sans"/>
              <a:sym typeface="Canva Sans"/>
            </a:endParaRPr>
          </a:p>
          <a:p>
            <a:pPr algn="l">
              <a:lnSpc>
                <a:spcPts val="3640"/>
              </a:lnSpc>
            </a:pPr>
            <a:r>
              <a:rPr lang="en-US" sz="2600">
                <a:solidFill>
                  <a:srgbClr val="000000"/>
                </a:solidFill>
                <a:latin typeface="Canva Sans"/>
                <a:ea typeface="Canva Sans"/>
                <a:cs typeface="Canva Sans"/>
                <a:sym typeface="Canva Sans"/>
              </a:rPr>
              <a:t>Características:</a:t>
            </a:r>
          </a:p>
          <a:p>
            <a:pPr marL="561341" lvl="1" indent="-280670" algn="l">
              <a:lnSpc>
                <a:spcPts val="3640"/>
              </a:lnSpc>
              <a:buFont typeface="Arial"/>
              <a:buChar char="•"/>
            </a:pPr>
            <a:r>
              <a:rPr lang="en-US" sz="2600">
                <a:solidFill>
                  <a:srgbClr val="000000"/>
                </a:solidFill>
                <a:latin typeface="Canva Sans"/>
                <a:ea typeface="Canva Sans"/>
                <a:cs typeface="Canva Sans"/>
                <a:sym typeface="Canva Sans"/>
              </a:rPr>
              <a:t>Ancho de bus (bits paralelos)</a:t>
            </a:r>
          </a:p>
          <a:p>
            <a:pPr marL="561341" lvl="1" indent="-280670" algn="l">
              <a:lnSpc>
                <a:spcPts val="3640"/>
              </a:lnSpc>
              <a:buFont typeface="Arial"/>
              <a:buChar char="•"/>
            </a:pPr>
            <a:r>
              <a:rPr lang="en-US" sz="2600">
                <a:solidFill>
                  <a:srgbClr val="000000"/>
                </a:solidFill>
                <a:latin typeface="Canva Sans"/>
                <a:ea typeface="Canva Sans"/>
                <a:cs typeface="Canva Sans"/>
                <a:sym typeface="Canva Sans"/>
              </a:rPr>
              <a:t>Velocidad de reloj</a:t>
            </a:r>
          </a:p>
          <a:p>
            <a:pPr marL="561341" lvl="1" indent="-280670" algn="l">
              <a:lnSpc>
                <a:spcPts val="3640"/>
              </a:lnSpc>
              <a:buFont typeface="Arial"/>
              <a:buChar char="•"/>
            </a:pPr>
            <a:r>
              <a:rPr lang="en-US" sz="2600">
                <a:solidFill>
                  <a:srgbClr val="000000"/>
                </a:solidFill>
                <a:latin typeface="Canva Sans"/>
                <a:ea typeface="Canva Sans"/>
                <a:cs typeface="Canva Sans"/>
                <a:sym typeface="Canva Sans"/>
              </a:rPr>
              <a:t>Protocolo de comunicación</a:t>
            </a:r>
          </a:p>
          <a:p>
            <a:pPr marL="561341" lvl="1" indent="-280670" algn="l">
              <a:lnSpc>
                <a:spcPts val="3640"/>
              </a:lnSpc>
              <a:spcBef>
                <a:spcPct val="0"/>
              </a:spcBef>
              <a:buFont typeface="Arial"/>
              <a:buChar char="•"/>
            </a:pPr>
            <a:r>
              <a:rPr lang="en-US" sz="2600">
                <a:solidFill>
                  <a:srgbClr val="000000"/>
                </a:solidFill>
                <a:latin typeface="Canva Sans"/>
                <a:ea typeface="Canva Sans"/>
                <a:cs typeface="Canva Sans"/>
                <a:sym typeface="Canva Sans"/>
              </a:rPr>
              <a:t>Arbitraje de acceso</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704547" y="3126513"/>
            <a:ext cx="5987650" cy="4873291"/>
          </a:xfrm>
          <a:custGeom>
            <a:avLst/>
            <a:gdLst/>
            <a:ahLst/>
            <a:cxnLst/>
            <a:rect l="l" t="t" r="r" b="b"/>
            <a:pathLst>
              <a:path w="5987650" h="4873291">
                <a:moveTo>
                  <a:pt x="0" y="0"/>
                </a:moveTo>
                <a:lnTo>
                  <a:pt x="5987650" y="0"/>
                </a:lnTo>
                <a:lnTo>
                  <a:pt x="5987650" y="4873291"/>
                </a:lnTo>
                <a:lnTo>
                  <a:pt x="0" y="4873291"/>
                </a:lnTo>
                <a:lnTo>
                  <a:pt x="0" y="0"/>
                </a:lnTo>
                <a:close/>
              </a:path>
            </a:pathLst>
          </a:custGeom>
          <a:blipFill>
            <a:blip r:embed="rId2"/>
            <a:stretch>
              <a:fillRect t="-19289" b="-3576"/>
            </a:stretch>
          </a:blipFill>
        </p:spPr>
        <p:txBody>
          <a:bodyPr/>
          <a:lstStyle/>
          <a:p>
            <a:endParaRPr lang="es-GT"/>
          </a:p>
        </p:txBody>
      </p:sp>
      <p:sp>
        <p:nvSpPr>
          <p:cNvPr id="3" name="TextBox 3"/>
          <p:cNvSpPr txBox="1"/>
          <p:nvPr/>
        </p:nvSpPr>
        <p:spPr>
          <a:xfrm>
            <a:off x="6886575" y="942975"/>
            <a:ext cx="4514850" cy="811530"/>
          </a:xfrm>
          <a:prstGeom prst="rect">
            <a:avLst/>
          </a:prstGeom>
        </p:spPr>
        <p:txBody>
          <a:bodyPr lIns="0" tIns="0" rIns="0" bIns="0" rtlCol="0" anchor="t">
            <a:spAutoFit/>
          </a:bodyPr>
          <a:lstStyle/>
          <a:p>
            <a:pPr algn="ctr">
              <a:lnSpc>
                <a:spcPts val="6719"/>
              </a:lnSpc>
              <a:spcBef>
                <a:spcPct val="0"/>
              </a:spcBef>
            </a:pPr>
            <a:r>
              <a:rPr lang="en-US" sz="4800">
                <a:solidFill>
                  <a:srgbClr val="000000"/>
                </a:solidFill>
                <a:latin typeface="Canva Sans"/>
                <a:ea typeface="Canva Sans"/>
                <a:cs typeface="Canva Sans"/>
                <a:sym typeface="Canva Sans"/>
              </a:rPr>
              <a:t>Buses de Datos</a:t>
            </a:r>
          </a:p>
        </p:txBody>
      </p:sp>
      <p:sp>
        <p:nvSpPr>
          <p:cNvPr id="4" name="TextBox 4"/>
          <p:cNvSpPr txBox="1"/>
          <p:nvPr/>
        </p:nvSpPr>
        <p:spPr>
          <a:xfrm>
            <a:off x="1028700" y="2268066"/>
            <a:ext cx="16230600" cy="448310"/>
          </a:xfrm>
          <a:prstGeom prst="rect">
            <a:avLst/>
          </a:prstGeom>
        </p:spPr>
        <p:txBody>
          <a:bodyPr lIns="0" tIns="0" rIns="0" bIns="0" rtlCol="0" anchor="t">
            <a:spAutoFit/>
          </a:bodyPr>
          <a:lstStyle/>
          <a:p>
            <a:pPr algn="just">
              <a:lnSpc>
                <a:spcPts val="3640"/>
              </a:lnSpc>
              <a:spcBef>
                <a:spcPct val="0"/>
              </a:spcBef>
            </a:pPr>
            <a:r>
              <a:rPr lang="en-US" sz="2600">
                <a:solidFill>
                  <a:srgbClr val="000000"/>
                </a:solidFill>
                <a:latin typeface="Canva Sans"/>
                <a:ea typeface="Canva Sans"/>
                <a:cs typeface="Canva Sans"/>
                <a:sym typeface="Canva Sans"/>
              </a:rPr>
              <a:t>El Bus de Datos transporta la información real (datos e instrucciones) entre componentes.</a:t>
            </a:r>
          </a:p>
        </p:txBody>
      </p:sp>
      <p:sp>
        <p:nvSpPr>
          <p:cNvPr id="5" name="TextBox 5"/>
          <p:cNvSpPr txBox="1"/>
          <p:nvPr/>
        </p:nvSpPr>
        <p:spPr>
          <a:xfrm>
            <a:off x="1028700" y="3229937"/>
            <a:ext cx="8277844" cy="4105910"/>
          </a:xfrm>
          <a:prstGeom prst="rect">
            <a:avLst/>
          </a:prstGeom>
        </p:spPr>
        <p:txBody>
          <a:bodyPr lIns="0" tIns="0" rIns="0" bIns="0" rtlCol="0" anchor="t">
            <a:spAutoFit/>
          </a:bodyPr>
          <a:lstStyle/>
          <a:p>
            <a:pPr algn="l">
              <a:lnSpc>
                <a:spcPts val="3640"/>
              </a:lnSpc>
            </a:pPr>
            <a:r>
              <a:rPr lang="en-US" sz="2600">
                <a:solidFill>
                  <a:srgbClr val="000000"/>
                </a:solidFill>
                <a:latin typeface="Canva Sans"/>
                <a:ea typeface="Canva Sans"/>
                <a:cs typeface="Canva Sans"/>
                <a:sym typeface="Canva Sans"/>
              </a:rPr>
              <a:t>Características:</a:t>
            </a:r>
          </a:p>
          <a:p>
            <a:pPr algn="l">
              <a:lnSpc>
                <a:spcPts val="3640"/>
              </a:lnSpc>
            </a:pPr>
            <a:endParaRPr lang="en-US" sz="2600">
              <a:solidFill>
                <a:srgbClr val="000000"/>
              </a:solidFill>
              <a:latin typeface="Canva Sans"/>
              <a:ea typeface="Canva Sans"/>
              <a:cs typeface="Canva Sans"/>
              <a:sym typeface="Canva Sans"/>
            </a:endParaRPr>
          </a:p>
          <a:p>
            <a:pPr marL="561341" lvl="1" indent="-280670" algn="l">
              <a:lnSpc>
                <a:spcPts val="3640"/>
              </a:lnSpc>
              <a:buFont typeface="Arial"/>
              <a:buChar char="•"/>
            </a:pPr>
            <a:r>
              <a:rPr lang="en-US" sz="2600">
                <a:solidFill>
                  <a:srgbClr val="000000"/>
                </a:solidFill>
                <a:latin typeface="Canva Sans"/>
                <a:ea typeface="Canva Sans"/>
                <a:cs typeface="Canva Sans"/>
                <a:sym typeface="Canva Sans"/>
              </a:rPr>
              <a:t>Bidireccional: Datos fluyen en ambas direcciones</a:t>
            </a:r>
          </a:p>
          <a:p>
            <a:pPr marL="561341" lvl="1" indent="-280670" algn="l">
              <a:lnSpc>
                <a:spcPts val="3640"/>
              </a:lnSpc>
              <a:buFont typeface="Arial"/>
              <a:buChar char="•"/>
            </a:pPr>
            <a:r>
              <a:rPr lang="en-US" sz="2600">
                <a:solidFill>
                  <a:srgbClr val="000000"/>
                </a:solidFill>
                <a:latin typeface="Canva Sans"/>
                <a:ea typeface="Canva Sans"/>
                <a:cs typeface="Canva Sans"/>
                <a:sym typeface="Canva Sans"/>
              </a:rPr>
              <a:t>Ancho: 8, 16, 32, 64, 128 bits</a:t>
            </a:r>
          </a:p>
          <a:p>
            <a:pPr marL="561341" lvl="1" indent="-280670" algn="l">
              <a:lnSpc>
                <a:spcPts val="3640"/>
              </a:lnSpc>
              <a:buFont typeface="Arial"/>
              <a:buChar char="•"/>
            </a:pPr>
            <a:r>
              <a:rPr lang="en-US" sz="2600">
                <a:solidFill>
                  <a:srgbClr val="000000"/>
                </a:solidFill>
                <a:latin typeface="Canva Sans"/>
                <a:ea typeface="Canva Sans"/>
                <a:cs typeface="Canva Sans"/>
                <a:sym typeface="Canva Sans"/>
              </a:rPr>
              <a:t>Determina capacidad de procesamiento:</a:t>
            </a:r>
          </a:p>
          <a:p>
            <a:pPr marL="1122681" lvl="2" indent="-374227" algn="l">
              <a:lnSpc>
                <a:spcPts val="3640"/>
              </a:lnSpc>
              <a:buFont typeface="Arial"/>
              <a:buChar char="⚬"/>
            </a:pPr>
            <a:r>
              <a:rPr lang="en-US" sz="2600">
                <a:solidFill>
                  <a:srgbClr val="000000"/>
                </a:solidFill>
                <a:latin typeface="Canva Sans"/>
                <a:ea typeface="Canva Sans"/>
                <a:cs typeface="Canva Sans"/>
                <a:sym typeface="Canva Sans"/>
              </a:rPr>
              <a:t>Procesador de 64 bits = bus de datos de 64 bits</a:t>
            </a:r>
          </a:p>
          <a:p>
            <a:pPr marL="1122681" lvl="2" indent="-374227" algn="l">
              <a:lnSpc>
                <a:spcPts val="3640"/>
              </a:lnSpc>
              <a:spcBef>
                <a:spcPct val="0"/>
              </a:spcBef>
              <a:buFont typeface="Arial"/>
              <a:buChar char="⚬"/>
            </a:pPr>
            <a:r>
              <a:rPr lang="en-US" sz="2600">
                <a:solidFill>
                  <a:srgbClr val="000000"/>
                </a:solidFill>
                <a:latin typeface="Canva Sans"/>
                <a:ea typeface="Canva Sans"/>
                <a:cs typeface="Canva Sans"/>
                <a:sym typeface="Canva Sans"/>
              </a:rPr>
              <a:t>Puede transferir 8 bytes simultáneamente</a:t>
            </a:r>
          </a:p>
        </p:txBody>
      </p:sp>
      <p:sp>
        <p:nvSpPr>
          <p:cNvPr id="6" name="TextBox 6"/>
          <p:cNvSpPr txBox="1"/>
          <p:nvPr/>
        </p:nvSpPr>
        <p:spPr>
          <a:xfrm>
            <a:off x="1028700" y="8352790"/>
            <a:ext cx="16230600" cy="905510"/>
          </a:xfrm>
          <a:prstGeom prst="rect">
            <a:avLst/>
          </a:prstGeom>
        </p:spPr>
        <p:txBody>
          <a:bodyPr lIns="0" tIns="0" rIns="0" bIns="0" rtlCol="0" anchor="t">
            <a:spAutoFit/>
          </a:bodyPr>
          <a:lstStyle/>
          <a:p>
            <a:pPr algn="l">
              <a:lnSpc>
                <a:spcPts val="3640"/>
              </a:lnSpc>
              <a:spcBef>
                <a:spcPct val="0"/>
              </a:spcBef>
            </a:pPr>
            <a:r>
              <a:rPr lang="en-US" sz="2600">
                <a:solidFill>
                  <a:srgbClr val="000000"/>
                </a:solidFill>
                <a:latin typeface="Canva Sans"/>
                <a:ea typeface="Canva Sans"/>
                <a:cs typeface="Canva Sans"/>
                <a:sym typeface="Canva Sans"/>
              </a:rPr>
              <a:t>Fórmula de transferencia: Tasa de transferencia = (Ancho del bus × Frecuencia) / 8 Ejemplo: 64 bits × 3.2 GHz = 25.6 GB/s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259376" y="3368324"/>
            <a:ext cx="6356958" cy="5462147"/>
          </a:xfrm>
          <a:custGeom>
            <a:avLst/>
            <a:gdLst/>
            <a:ahLst/>
            <a:cxnLst/>
            <a:rect l="l" t="t" r="r" b="b"/>
            <a:pathLst>
              <a:path w="6356958" h="5462147">
                <a:moveTo>
                  <a:pt x="0" y="0"/>
                </a:moveTo>
                <a:lnTo>
                  <a:pt x="6356958" y="0"/>
                </a:lnTo>
                <a:lnTo>
                  <a:pt x="6356958" y="5462148"/>
                </a:lnTo>
                <a:lnTo>
                  <a:pt x="0" y="5462148"/>
                </a:lnTo>
                <a:lnTo>
                  <a:pt x="0" y="0"/>
                </a:lnTo>
                <a:close/>
              </a:path>
            </a:pathLst>
          </a:custGeom>
          <a:blipFill>
            <a:blip r:embed="rId2"/>
            <a:stretch>
              <a:fillRect t="-12438" b="-3943"/>
            </a:stretch>
          </a:blipFill>
        </p:spPr>
        <p:txBody>
          <a:bodyPr/>
          <a:lstStyle/>
          <a:p>
            <a:endParaRPr lang="es-GT"/>
          </a:p>
        </p:txBody>
      </p:sp>
      <p:sp>
        <p:nvSpPr>
          <p:cNvPr id="3" name="TextBox 3"/>
          <p:cNvSpPr txBox="1"/>
          <p:nvPr/>
        </p:nvSpPr>
        <p:spPr>
          <a:xfrm>
            <a:off x="6266855" y="942975"/>
            <a:ext cx="5754291" cy="811530"/>
          </a:xfrm>
          <a:prstGeom prst="rect">
            <a:avLst/>
          </a:prstGeom>
        </p:spPr>
        <p:txBody>
          <a:bodyPr lIns="0" tIns="0" rIns="0" bIns="0" rtlCol="0" anchor="t">
            <a:spAutoFit/>
          </a:bodyPr>
          <a:lstStyle/>
          <a:p>
            <a:pPr algn="ctr">
              <a:lnSpc>
                <a:spcPts val="6719"/>
              </a:lnSpc>
              <a:spcBef>
                <a:spcPct val="0"/>
              </a:spcBef>
            </a:pPr>
            <a:r>
              <a:rPr lang="en-US" sz="4800">
                <a:solidFill>
                  <a:srgbClr val="000000"/>
                </a:solidFill>
                <a:latin typeface="Canva Sans"/>
                <a:ea typeface="Canva Sans"/>
                <a:cs typeface="Canva Sans"/>
                <a:sym typeface="Canva Sans"/>
              </a:rPr>
              <a:t>Bus de Direcciones </a:t>
            </a:r>
          </a:p>
        </p:txBody>
      </p:sp>
      <p:sp>
        <p:nvSpPr>
          <p:cNvPr id="4" name="TextBox 4"/>
          <p:cNvSpPr txBox="1"/>
          <p:nvPr/>
        </p:nvSpPr>
        <p:spPr>
          <a:xfrm>
            <a:off x="1028700" y="2200266"/>
            <a:ext cx="16230600" cy="905510"/>
          </a:xfrm>
          <a:prstGeom prst="rect">
            <a:avLst/>
          </a:prstGeom>
        </p:spPr>
        <p:txBody>
          <a:bodyPr lIns="0" tIns="0" rIns="0" bIns="0" rtlCol="0" anchor="t">
            <a:spAutoFit/>
          </a:bodyPr>
          <a:lstStyle/>
          <a:p>
            <a:pPr algn="just">
              <a:lnSpc>
                <a:spcPts val="3640"/>
              </a:lnSpc>
              <a:spcBef>
                <a:spcPct val="0"/>
              </a:spcBef>
            </a:pPr>
            <a:r>
              <a:rPr lang="en-US" sz="2600">
                <a:solidFill>
                  <a:srgbClr val="000000"/>
                </a:solidFill>
                <a:latin typeface="Canva Sans"/>
                <a:ea typeface="Canva Sans"/>
                <a:cs typeface="Canva Sans"/>
                <a:sym typeface="Canva Sans"/>
              </a:rPr>
              <a:t>El Bus de Direcciones transporta las direcciones de memoria donde se encuentran los datos que se desean leer o escribir.</a:t>
            </a:r>
          </a:p>
        </p:txBody>
      </p:sp>
      <p:sp>
        <p:nvSpPr>
          <p:cNvPr id="5" name="TextBox 5"/>
          <p:cNvSpPr txBox="1"/>
          <p:nvPr/>
        </p:nvSpPr>
        <p:spPr>
          <a:xfrm>
            <a:off x="1028700" y="3669944"/>
            <a:ext cx="8277844" cy="5020310"/>
          </a:xfrm>
          <a:prstGeom prst="rect">
            <a:avLst/>
          </a:prstGeom>
        </p:spPr>
        <p:txBody>
          <a:bodyPr lIns="0" tIns="0" rIns="0" bIns="0" rtlCol="0" anchor="t">
            <a:spAutoFit/>
          </a:bodyPr>
          <a:lstStyle/>
          <a:p>
            <a:pPr algn="l">
              <a:lnSpc>
                <a:spcPts val="3640"/>
              </a:lnSpc>
            </a:pPr>
            <a:r>
              <a:rPr lang="en-US" sz="2600">
                <a:solidFill>
                  <a:srgbClr val="000000"/>
                </a:solidFill>
                <a:latin typeface="Canva Sans"/>
                <a:ea typeface="Canva Sans"/>
                <a:cs typeface="Canva Sans"/>
                <a:sym typeface="Canva Sans"/>
              </a:rPr>
              <a:t>Características:</a:t>
            </a:r>
          </a:p>
          <a:p>
            <a:pPr algn="l">
              <a:lnSpc>
                <a:spcPts val="3640"/>
              </a:lnSpc>
            </a:pPr>
            <a:endParaRPr lang="en-US" sz="2600">
              <a:solidFill>
                <a:srgbClr val="000000"/>
              </a:solidFill>
              <a:latin typeface="Canva Sans"/>
              <a:ea typeface="Canva Sans"/>
              <a:cs typeface="Canva Sans"/>
              <a:sym typeface="Canva Sans"/>
            </a:endParaRPr>
          </a:p>
          <a:p>
            <a:pPr marL="561341" lvl="1" indent="-280670" algn="l">
              <a:lnSpc>
                <a:spcPts val="3640"/>
              </a:lnSpc>
              <a:buFont typeface="Arial"/>
              <a:buChar char="•"/>
            </a:pPr>
            <a:r>
              <a:rPr lang="en-US" sz="2600">
                <a:solidFill>
                  <a:srgbClr val="000000"/>
                </a:solidFill>
                <a:latin typeface="Canva Sans"/>
                <a:ea typeface="Canva Sans"/>
                <a:cs typeface="Canva Sans"/>
                <a:sym typeface="Canva Sans"/>
              </a:rPr>
              <a:t>Unidireccional: Solo la CPU envía direcciones</a:t>
            </a:r>
          </a:p>
          <a:p>
            <a:pPr marL="561341" lvl="1" indent="-280670" algn="l">
              <a:lnSpc>
                <a:spcPts val="3640"/>
              </a:lnSpc>
              <a:buFont typeface="Arial"/>
              <a:buChar char="•"/>
            </a:pPr>
            <a:r>
              <a:rPr lang="en-US" sz="2600">
                <a:solidFill>
                  <a:srgbClr val="000000"/>
                </a:solidFill>
                <a:latin typeface="Canva Sans"/>
                <a:ea typeface="Canva Sans"/>
                <a:cs typeface="Canva Sans"/>
                <a:sym typeface="Canva Sans"/>
              </a:rPr>
              <a:t>Determina espacio de direccionamiento:</a:t>
            </a:r>
          </a:p>
          <a:p>
            <a:pPr marL="1122681" lvl="2" indent="-374227" algn="l">
              <a:lnSpc>
                <a:spcPts val="3640"/>
              </a:lnSpc>
              <a:buFont typeface="Arial"/>
              <a:buChar char="⚬"/>
            </a:pPr>
            <a:r>
              <a:rPr lang="en-US" sz="2600">
                <a:solidFill>
                  <a:srgbClr val="000000"/>
                </a:solidFill>
                <a:latin typeface="Canva Sans"/>
                <a:ea typeface="Canva Sans"/>
                <a:cs typeface="Canva Sans"/>
                <a:sym typeface="Canva Sans"/>
              </a:rPr>
              <a:t>n líneas = 2^n ubicaciones de memoria</a:t>
            </a:r>
          </a:p>
          <a:p>
            <a:pPr marL="1122681" lvl="2" indent="-374227" algn="l">
              <a:lnSpc>
                <a:spcPts val="3640"/>
              </a:lnSpc>
              <a:buFont typeface="Arial"/>
              <a:buChar char="⚬"/>
            </a:pPr>
            <a:r>
              <a:rPr lang="en-US" sz="2600">
                <a:solidFill>
                  <a:srgbClr val="000000"/>
                </a:solidFill>
                <a:latin typeface="Canva Sans"/>
                <a:ea typeface="Canva Sans"/>
                <a:cs typeface="Canva Sans"/>
                <a:sym typeface="Canva Sans"/>
              </a:rPr>
              <a:t>32 bits = 4 GB (2^32 bytes)</a:t>
            </a:r>
          </a:p>
          <a:p>
            <a:pPr marL="1122681" lvl="2" indent="-374227" algn="l">
              <a:lnSpc>
                <a:spcPts val="3640"/>
              </a:lnSpc>
              <a:buFont typeface="Arial"/>
              <a:buChar char="⚬"/>
            </a:pPr>
            <a:r>
              <a:rPr lang="en-US" sz="2600">
                <a:solidFill>
                  <a:srgbClr val="000000"/>
                </a:solidFill>
                <a:latin typeface="Canva Sans"/>
                <a:ea typeface="Canva Sans"/>
                <a:cs typeface="Canva Sans"/>
                <a:sym typeface="Canva Sans"/>
              </a:rPr>
              <a:t>64 bits = 16 Exabytes (2^64 bytes)</a:t>
            </a:r>
          </a:p>
          <a:p>
            <a:pPr algn="l">
              <a:lnSpc>
                <a:spcPts val="3640"/>
              </a:lnSpc>
            </a:pPr>
            <a:endParaRPr lang="en-US" sz="2600">
              <a:solidFill>
                <a:srgbClr val="000000"/>
              </a:solidFill>
              <a:latin typeface="Canva Sans"/>
              <a:ea typeface="Canva Sans"/>
              <a:cs typeface="Canva Sans"/>
              <a:sym typeface="Canva Sans"/>
            </a:endParaRPr>
          </a:p>
          <a:p>
            <a:pPr algn="l">
              <a:lnSpc>
                <a:spcPts val="3640"/>
              </a:lnSpc>
            </a:pPr>
            <a:endParaRPr lang="en-US" sz="2600">
              <a:solidFill>
                <a:srgbClr val="000000"/>
              </a:solidFill>
              <a:latin typeface="Canva Sans"/>
              <a:ea typeface="Canva Sans"/>
              <a:cs typeface="Canva Sans"/>
              <a:sym typeface="Canva Sans"/>
            </a:endParaRPr>
          </a:p>
          <a:p>
            <a:pPr algn="l">
              <a:lnSpc>
                <a:spcPts val="3640"/>
              </a:lnSpc>
              <a:spcBef>
                <a:spcPct val="0"/>
              </a:spcBef>
            </a:pPr>
            <a:r>
              <a:rPr lang="en-US" sz="2600" b="1">
                <a:solidFill>
                  <a:srgbClr val="000000"/>
                </a:solidFill>
                <a:latin typeface="Canva Sans Bold"/>
                <a:ea typeface="Canva Sans Bold"/>
                <a:cs typeface="Canva Sans Bold"/>
                <a:sym typeface="Canva Sans Bold"/>
              </a:rPr>
              <a:t>Limitación</a:t>
            </a:r>
            <a:r>
              <a:rPr lang="en-US" sz="2600">
                <a:solidFill>
                  <a:srgbClr val="000000"/>
                </a:solidFill>
                <a:latin typeface="Canva Sans"/>
                <a:ea typeface="Canva Sans"/>
                <a:cs typeface="Canva Sans"/>
                <a:sym typeface="Canva Sans"/>
              </a:rPr>
              <a:t>: Sistemas de 32 bits solo pueden direccionar ~3.5 GB de RAM útil</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960989" y="942975"/>
            <a:ext cx="4366022" cy="811530"/>
          </a:xfrm>
          <a:prstGeom prst="rect">
            <a:avLst/>
          </a:prstGeom>
        </p:spPr>
        <p:txBody>
          <a:bodyPr lIns="0" tIns="0" rIns="0" bIns="0" rtlCol="0" anchor="t">
            <a:spAutoFit/>
          </a:bodyPr>
          <a:lstStyle/>
          <a:p>
            <a:pPr algn="ctr">
              <a:lnSpc>
                <a:spcPts val="6719"/>
              </a:lnSpc>
              <a:spcBef>
                <a:spcPct val="0"/>
              </a:spcBef>
            </a:pPr>
            <a:r>
              <a:rPr lang="en-US" sz="4800">
                <a:solidFill>
                  <a:srgbClr val="000000"/>
                </a:solidFill>
                <a:latin typeface="Canva Sans"/>
                <a:ea typeface="Canva Sans"/>
                <a:cs typeface="Canva Sans"/>
                <a:sym typeface="Canva Sans"/>
              </a:rPr>
              <a:t>Bus de Control</a:t>
            </a:r>
          </a:p>
        </p:txBody>
      </p:sp>
      <p:sp>
        <p:nvSpPr>
          <p:cNvPr id="3" name="TextBox 3"/>
          <p:cNvSpPr txBox="1"/>
          <p:nvPr/>
        </p:nvSpPr>
        <p:spPr>
          <a:xfrm>
            <a:off x="1028700" y="2412683"/>
            <a:ext cx="16230600" cy="905510"/>
          </a:xfrm>
          <a:prstGeom prst="rect">
            <a:avLst/>
          </a:prstGeom>
        </p:spPr>
        <p:txBody>
          <a:bodyPr lIns="0" tIns="0" rIns="0" bIns="0" rtlCol="0" anchor="t">
            <a:spAutoFit/>
          </a:bodyPr>
          <a:lstStyle/>
          <a:p>
            <a:pPr algn="just">
              <a:lnSpc>
                <a:spcPts val="3640"/>
              </a:lnSpc>
              <a:spcBef>
                <a:spcPct val="0"/>
              </a:spcBef>
            </a:pPr>
            <a:r>
              <a:rPr lang="en-US" sz="2600">
                <a:solidFill>
                  <a:srgbClr val="000000"/>
                </a:solidFill>
                <a:latin typeface="Canva Sans"/>
                <a:ea typeface="Canva Sans"/>
                <a:cs typeface="Canva Sans"/>
                <a:sym typeface="Canva Sans"/>
              </a:rPr>
              <a:t>El Bus de Control transporta señales de control y sincronización para coordinar las operaciones del sistema.</a:t>
            </a:r>
          </a:p>
        </p:txBody>
      </p:sp>
      <p:sp>
        <p:nvSpPr>
          <p:cNvPr id="4" name="TextBox 4"/>
          <p:cNvSpPr txBox="1"/>
          <p:nvPr/>
        </p:nvSpPr>
        <p:spPr>
          <a:xfrm>
            <a:off x="7508562" y="3563018"/>
            <a:ext cx="3270876" cy="448310"/>
          </a:xfrm>
          <a:prstGeom prst="rect">
            <a:avLst/>
          </a:prstGeom>
        </p:spPr>
        <p:txBody>
          <a:bodyPr lIns="0" tIns="0" rIns="0" bIns="0" rtlCol="0" anchor="t">
            <a:spAutoFit/>
          </a:bodyPr>
          <a:lstStyle/>
          <a:p>
            <a:pPr algn="l">
              <a:lnSpc>
                <a:spcPts val="3640"/>
              </a:lnSpc>
              <a:spcBef>
                <a:spcPct val="0"/>
              </a:spcBef>
            </a:pPr>
            <a:r>
              <a:rPr lang="en-US" sz="2600">
                <a:solidFill>
                  <a:srgbClr val="000000"/>
                </a:solidFill>
                <a:latin typeface="Canva Sans"/>
                <a:ea typeface="Canva Sans"/>
                <a:cs typeface="Canva Sans"/>
                <a:sym typeface="Canva Sans"/>
              </a:rPr>
              <a:t>Señales principales:</a:t>
            </a:r>
          </a:p>
        </p:txBody>
      </p:sp>
      <p:sp>
        <p:nvSpPr>
          <p:cNvPr id="5" name="TextBox 5"/>
          <p:cNvSpPr txBox="1"/>
          <p:nvPr/>
        </p:nvSpPr>
        <p:spPr>
          <a:xfrm>
            <a:off x="2744356" y="7575954"/>
            <a:ext cx="5989983" cy="1362710"/>
          </a:xfrm>
          <a:prstGeom prst="rect">
            <a:avLst/>
          </a:prstGeom>
        </p:spPr>
        <p:txBody>
          <a:bodyPr lIns="0" tIns="0" rIns="0" bIns="0" rtlCol="0" anchor="t">
            <a:spAutoFit/>
          </a:bodyPr>
          <a:lstStyle/>
          <a:p>
            <a:pPr marL="561341" lvl="1" indent="-280670" algn="l">
              <a:lnSpc>
                <a:spcPts val="3640"/>
              </a:lnSpc>
              <a:buFont typeface="Arial"/>
              <a:buChar char="•"/>
            </a:pPr>
            <a:r>
              <a:rPr lang="en-US" sz="2600">
                <a:solidFill>
                  <a:srgbClr val="000000"/>
                </a:solidFill>
                <a:latin typeface="Canva Sans"/>
                <a:ea typeface="Canva Sans"/>
                <a:cs typeface="Canva Sans"/>
                <a:sym typeface="Canva Sans"/>
              </a:rPr>
              <a:t>Señales de interrupción:</a:t>
            </a:r>
          </a:p>
          <a:p>
            <a:pPr marL="1122681" lvl="2" indent="-374227" algn="l">
              <a:lnSpc>
                <a:spcPts val="3640"/>
              </a:lnSpc>
              <a:buFont typeface="Arial"/>
              <a:buChar char="⚬"/>
            </a:pPr>
            <a:r>
              <a:rPr lang="en-US" sz="2600">
                <a:solidFill>
                  <a:srgbClr val="000000"/>
                </a:solidFill>
                <a:latin typeface="Canva Sans"/>
                <a:ea typeface="Canva Sans"/>
                <a:cs typeface="Canva Sans"/>
                <a:sym typeface="Canva Sans"/>
              </a:rPr>
              <a:t>IRQ (Interrupt Request)</a:t>
            </a:r>
          </a:p>
          <a:p>
            <a:pPr marL="1122681" lvl="2" indent="-374227" algn="l">
              <a:lnSpc>
                <a:spcPts val="3640"/>
              </a:lnSpc>
              <a:spcBef>
                <a:spcPct val="0"/>
              </a:spcBef>
              <a:buFont typeface="Arial"/>
              <a:buChar char="⚬"/>
            </a:pPr>
            <a:r>
              <a:rPr lang="en-US" sz="2600">
                <a:solidFill>
                  <a:srgbClr val="000000"/>
                </a:solidFill>
                <a:latin typeface="Canva Sans"/>
                <a:ea typeface="Canva Sans"/>
                <a:cs typeface="Canva Sans"/>
                <a:sym typeface="Canva Sans"/>
              </a:rPr>
              <a:t>NMI (Non-Maskable Interrupt)</a:t>
            </a:r>
          </a:p>
        </p:txBody>
      </p:sp>
      <p:sp>
        <p:nvSpPr>
          <p:cNvPr id="6" name="TextBox 6"/>
          <p:cNvSpPr txBox="1"/>
          <p:nvPr/>
        </p:nvSpPr>
        <p:spPr>
          <a:xfrm>
            <a:off x="11530458" y="4589951"/>
            <a:ext cx="5728842" cy="1819910"/>
          </a:xfrm>
          <a:prstGeom prst="rect">
            <a:avLst/>
          </a:prstGeom>
        </p:spPr>
        <p:txBody>
          <a:bodyPr lIns="0" tIns="0" rIns="0" bIns="0" rtlCol="0" anchor="t">
            <a:spAutoFit/>
          </a:bodyPr>
          <a:lstStyle/>
          <a:p>
            <a:pPr marL="561341" lvl="1" indent="-280670" algn="l">
              <a:lnSpc>
                <a:spcPts val="3640"/>
              </a:lnSpc>
              <a:buFont typeface="Arial"/>
              <a:buChar char="•"/>
            </a:pPr>
            <a:r>
              <a:rPr lang="en-US" sz="2600">
                <a:solidFill>
                  <a:srgbClr val="000000"/>
                </a:solidFill>
                <a:latin typeface="Canva Sans"/>
                <a:ea typeface="Canva Sans"/>
                <a:cs typeface="Canva Sans"/>
                <a:sym typeface="Canva Sans"/>
              </a:rPr>
              <a:t>Señales de temporización:</a:t>
            </a:r>
          </a:p>
          <a:p>
            <a:pPr marL="1122681" lvl="2" indent="-374227" algn="l">
              <a:lnSpc>
                <a:spcPts val="3640"/>
              </a:lnSpc>
              <a:buFont typeface="Arial"/>
              <a:buChar char="⚬"/>
            </a:pPr>
            <a:r>
              <a:rPr lang="en-US" sz="2600">
                <a:solidFill>
                  <a:srgbClr val="000000"/>
                </a:solidFill>
                <a:latin typeface="Canva Sans"/>
                <a:ea typeface="Canva Sans"/>
                <a:cs typeface="Canva Sans"/>
                <a:sym typeface="Canva Sans"/>
              </a:rPr>
              <a:t>CLK (Clock) - sincronización</a:t>
            </a:r>
          </a:p>
          <a:p>
            <a:pPr marL="1122681" lvl="2" indent="-374227" algn="l">
              <a:lnSpc>
                <a:spcPts val="3640"/>
              </a:lnSpc>
              <a:buFont typeface="Arial"/>
              <a:buChar char="⚬"/>
            </a:pPr>
            <a:r>
              <a:rPr lang="en-US" sz="2600">
                <a:solidFill>
                  <a:srgbClr val="000000"/>
                </a:solidFill>
                <a:latin typeface="Canva Sans"/>
                <a:ea typeface="Canva Sans"/>
                <a:cs typeface="Canva Sans"/>
                <a:sym typeface="Canva Sans"/>
              </a:rPr>
              <a:t>RESET - reinicio del sistema</a:t>
            </a:r>
          </a:p>
          <a:p>
            <a:pPr marL="1122681" lvl="2" indent="-374227" algn="l">
              <a:lnSpc>
                <a:spcPts val="3640"/>
              </a:lnSpc>
              <a:spcBef>
                <a:spcPct val="0"/>
              </a:spcBef>
              <a:buFont typeface="Arial"/>
              <a:buChar char="⚬"/>
            </a:pPr>
            <a:r>
              <a:rPr lang="en-US" sz="2600">
                <a:solidFill>
                  <a:srgbClr val="000000"/>
                </a:solidFill>
                <a:latin typeface="Canva Sans"/>
                <a:ea typeface="Canva Sans"/>
                <a:cs typeface="Canva Sans"/>
                <a:sym typeface="Canva Sans"/>
              </a:rPr>
              <a:t>READY - dispositivo listo</a:t>
            </a:r>
          </a:p>
        </p:txBody>
      </p:sp>
      <p:sp>
        <p:nvSpPr>
          <p:cNvPr id="7" name="TextBox 7"/>
          <p:cNvSpPr txBox="1"/>
          <p:nvPr/>
        </p:nvSpPr>
        <p:spPr>
          <a:xfrm>
            <a:off x="9417107" y="7347354"/>
            <a:ext cx="5989983" cy="1819910"/>
          </a:xfrm>
          <a:prstGeom prst="rect">
            <a:avLst/>
          </a:prstGeom>
        </p:spPr>
        <p:txBody>
          <a:bodyPr lIns="0" tIns="0" rIns="0" bIns="0" rtlCol="0" anchor="t">
            <a:spAutoFit/>
          </a:bodyPr>
          <a:lstStyle/>
          <a:p>
            <a:pPr marL="561341" lvl="1" indent="-280670" algn="l">
              <a:lnSpc>
                <a:spcPts val="3640"/>
              </a:lnSpc>
              <a:buFont typeface="Arial"/>
              <a:buChar char="•"/>
            </a:pPr>
            <a:r>
              <a:rPr lang="en-US" sz="2600">
                <a:solidFill>
                  <a:srgbClr val="000000"/>
                </a:solidFill>
                <a:latin typeface="Canva Sans"/>
                <a:ea typeface="Canva Sans"/>
                <a:cs typeface="Canva Sans"/>
                <a:sym typeface="Canva Sans"/>
              </a:rPr>
              <a:t>Señales de arbitraje:</a:t>
            </a:r>
          </a:p>
          <a:p>
            <a:pPr marL="1122681" lvl="2" indent="-374227" algn="l">
              <a:lnSpc>
                <a:spcPts val="3640"/>
              </a:lnSpc>
              <a:buFont typeface="Arial"/>
              <a:buChar char="⚬"/>
            </a:pPr>
            <a:r>
              <a:rPr lang="en-US" sz="2600">
                <a:solidFill>
                  <a:srgbClr val="000000"/>
                </a:solidFill>
                <a:latin typeface="Canva Sans"/>
                <a:ea typeface="Canva Sans"/>
                <a:cs typeface="Canva Sans"/>
                <a:sym typeface="Canva Sans"/>
              </a:rPr>
              <a:t>Bus Request (BR)</a:t>
            </a:r>
          </a:p>
          <a:p>
            <a:pPr marL="1122681" lvl="2" indent="-374227" algn="l">
              <a:lnSpc>
                <a:spcPts val="3640"/>
              </a:lnSpc>
              <a:buFont typeface="Arial"/>
              <a:buChar char="⚬"/>
            </a:pPr>
            <a:r>
              <a:rPr lang="en-US" sz="2600">
                <a:solidFill>
                  <a:srgbClr val="000000"/>
                </a:solidFill>
                <a:latin typeface="Canva Sans"/>
                <a:ea typeface="Canva Sans"/>
                <a:cs typeface="Canva Sans"/>
                <a:sym typeface="Canva Sans"/>
              </a:rPr>
              <a:t>Bus Grant (BG)</a:t>
            </a:r>
          </a:p>
          <a:p>
            <a:pPr marL="1122681" lvl="2" indent="-374227" algn="l">
              <a:lnSpc>
                <a:spcPts val="3640"/>
              </a:lnSpc>
              <a:spcBef>
                <a:spcPct val="0"/>
              </a:spcBef>
              <a:buFont typeface="Arial"/>
              <a:buChar char="⚬"/>
            </a:pPr>
            <a:r>
              <a:rPr lang="en-US" sz="2600">
                <a:solidFill>
                  <a:srgbClr val="000000"/>
                </a:solidFill>
                <a:latin typeface="Canva Sans"/>
                <a:ea typeface="Canva Sans"/>
                <a:cs typeface="Canva Sans"/>
                <a:sym typeface="Canva Sans"/>
              </a:rPr>
              <a:t>Control de acceso DMA</a:t>
            </a:r>
          </a:p>
        </p:txBody>
      </p:sp>
      <p:sp>
        <p:nvSpPr>
          <p:cNvPr id="8" name="TextBox 8"/>
          <p:cNvSpPr txBox="1"/>
          <p:nvPr/>
        </p:nvSpPr>
        <p:spPr>
          <a:xfrm>
            <a:off x="1028700" y="4589951"/>
            <a:ext cx="5932289" cy="2277110"/>
          </a:xfrm>
          <a:prstGeom prst="rect">
            <a:avLst/>
          </a:prstGeom>
        </p:spPr>
        <p:txBody>
          <a:bodyPr lIns="0" tIns="0" rIns="0" bIns="0" rtlCol="0" anchor="t">
            <a:spAutoFit/>
          </a:bodyPr>
          <a:lstStyle/>
          <a:p>
            <a:pPr marL="561341" lvl="1" indent="-280670" algn="l">
              <a:lnSpc>
                <a:spcPts val="3640"/>
              </a:lnSpc>
              <a:buFont typeface="Arial"/>
              <a:buChar char="•"/>
            </a:pPr>
            <a:r>
              <a:rPr lang="en-US" sz="2600">
                <a:solidFill>
                  <a:srgbClr val="000000"/>
                </a:solidFill>
                <a:latin typeface="Canva Sans"/>
                <a:ea typeface="Canva Sans"/>
                <a:cs typeface="Canva Sans"/>
                <a:sym typeface="Canva Sans"/>
              </a:rPr>
              <a:t>Señales de lectura/escritura:</a:t>
            </a:r>
          </a:p>
          <a:p>
            <a:pPr marL="1122681" lvl="2" indent="-374227" algn="l">
              <a:lnSpc>
                <a:spcPts val="3640"/>
              </a:lnSpc>
              <a:buFont typeface="Arial"/>
              <a:buChar char="⚬"/>
            </a:pPr>
            <a:r>
              <a:rPr lang="en-US" sz="2600">
                <a:solidFill>
                  <a:srgbClr val="000000"/>
                </a:solidFill>
                <a:latin typeface="Canva Sans"/>
                <a:ea typeface="Canva Sans"/>
                <a:cs typeface="Canva Sans"/>
                <a:sym typeface="Canva Sans"/>
              </a:rPr>
              <a:t>MEMR (Memory Read)</a:t>
            </a:r>
          </a:p>
          <a:p>
            <a:pPr marL="1122681" lvl="2" indent="-374227" algn="l">
              <a:lnSpc>
                <a:spcPts val="3640"/>
              </a:lnSpc>
              <a:buFont typeface="Arial"/>
              <a:buChar char="⚬"/>
            </a:pPr>
            <a:r>
              <a:rPr lang="en-US" sz="2600">
                <a:solidFill>
                  <a:srgbClr val="000000"/>
                </a:solidFill>
                <a:latin typeface="Canva Sans"/>
                <a:ea typeface="Canva Sans"/>
                <a:cs typeface="Canva Sans"/>
                <a:sym typeface="Canva Sans"/>
              </a:rPr>
              <a:t>MEMW (Memory Write)</a:t>
            </a:r>
          </a:p>
          <a:p>
            <a:pPr marL="1122681" lvl="2" indent="-374227" algn="l">
              <a:lnSpc>
                <a:spcPts val="3640"/>
              </a:lnSpc>
              <a:buFont typeface="Arial"/>
              <a:buChar char="⚬"/>
            </a:pPr>
            <a:r>
              <a:rPr lang="en-US" sz="2600">
                <a:solidFill>
                  <a:srgbClr val="000000"/>
                </a:solidFill>
                <a:latin typeface="Canva Sans"/>
                <a:ea typeface="Canva Sans"/>
                <a:cs typeface="Canva Sans"/>
                <a:sym typeface="Canva Sans"/>
              </a:rPr>
              <a:t>IOR (I/O Read)</a:t>
            </a:r>
          </a:p>
          <a:p>
            <a:pPr marL="1122681" lvl="2" indent="-374227" algn="l">
              <a:lnSpc>
                <a:spcPts val="3640"/>
              </a:lnSpc>
              <a:spcBef>
                <a:spcPct val="0"/>
              </a:spcBef>
              <a:buFont typeface="Arial"/>
              <a:buChar char="⚬"/>
            </a:pPr>
            <a:r>
              <a:rPr lang="en-US" sz="2600">
                <a:solidFill>
                  <a:srgbClr val="000000"/>
                </a:solidFill>
                <a:latin typeface="Canva Sans"/>
                <a:ea typeface="Canva Sans"/>
                <a:cs typeface="Canva Sans"/>
                <a:sym typeface="Canva Sans"/>
              </a:rPr>
              <a:t>IOW (I/O Write)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925578" y="3053777"/>
            <a:ext cx="6324311" cy="4733861"/>
          </a:xfrm>
          <a:custGeom>
            <a:avLst/>
            <a:gdLst/>
            <a:ahLst/>
            <a:cxnLst/>
            <a:rect l="l" t="t" r="r" b="b"/>
            <a:pathLst>
              <a:path w="6324311" h="4733861">
                <a:moveTo>
                  <a:pt x="0" y="0"/>
                </a:moveTo>
                <a:lnTo>
                  <a:pt x="6324311" y="0"/>
                </a:lnTo>
                <a:lnTo>
                  <a:pt x="6324311" y="4733861"/>
                </a:lnTo>
                <a:lnTo>
                  <a:pt x="0" y="4733861"/>
                </a:lnTo>
                <a:lnTo>
                  <a:pt x="0" y="0"/>
                </a:lnTo>
                <a:close/>
              </a:path>
            </a:pathLst>
          </a:custGeom>
          <a:blipFill>
            <a:blip r:embed="rId2"/>
            <a:stretch>
              <a:fillRect t="-25797" r="-516" b="-8489"/>
            </a:stretch>
          </a:blipFill>
        </p:spPr>
        <p:txBody>
          <a:bodyPr/>
          <a:lstStyle/>
          <a:p>
            <a:endParaRPr lang="es-GT"/>
          </a:p>
        </p:txBody>
      </p:sp>
      <p:sp>
        <p:nvSpPr>
          <p:cNvPr id="3" name="TextBox 3"/>
          <p:cNvSpPr txBox="1"/>
          <p:nvPr/>
        </p:nvSpPr>
        <p:spPr>
          <a:xfrm>
            <a:off x="2229685" y="3796377"/>
            <a:ext cx="5637806" cy="3191510"/>
          </a:xfrm>
          <a:prstGeom prst="rect">
            <a:avLst/>
          </a:prstGeom>
        </p:spPr>
        <p:txBody>
          <a:bodyPr lIns="0" tIns="0" rIns="0" bIns="0" rtlCol="0" anchor="t">
            <a:spAutoFit/>
          </a:bodyPr>
          <a:lstStyle/>
          <a:p>
            <a:pPr algn="l">
              <a:lnSpc>
                <a:spcPts val="3640"/>
              </a:lnSpc>
            </a:pPr>
            <a:r>
              <a:rPr lang="en-US" sz="2600">
                <a:solidFill>
                  <a:srgbClr val="000000"/>
                </a:solidFill>
                <a:latin typeface="Canva Sans"/>
                <a:ea typeface="Canva Sans"/>
                <a:cs typeface="Canva Sans"/>
                <a:sym typeface="Canva Sans"/>
              </a:rPr>
              <a:t>Características:</a:t>
            </a:r>
          </a:p>
          <a:p>
            <a:pPr algn="l">
              <a:lnSpc>
                <a:spcPts val="3640"/>
              </a:lnSpc>
            </a:pPr>
            <a:endParaRPr lang="en-US" sz="2600">
              <a:solidFill>
                <a:srgbClr val="000000"/>
              </a:solidFill>
              <a:latin typeface="Canva Sans"/>
              <a:ea typeface="Canva Sans"/>
              <a:cs typeface="Canva Sans"/>
              <a:sym typeface="Canva Sans"/>
            </a:endParaRPr>
          </a:p>
          <a:p>
            <a:pPr marL="561341" lvl="1" indent="-280670" algn="l">
              <a:lnSpc>
                <a:spcPts val="3640"/>
              </a:lnSpc>
              <a:buFont typeface="Arial"/>
              <a:buChar char="•"/>
            </a:pPr>
            <a:r>
              <a:rPr lang="en-US" sz="2600">
                <a:solidFill>
                  <a:srgbClr val="000000"/>
                </a:solidFill>
                <a:latin typeface="Canva Sans"/>
                <a:ea typeface="Canva Sans"/>
                <a:cs typeface="Canva Sans"/>
                <a:sym typeface="Canva Sans"/>
              </a:rPr>
              <a:t>Principalmente unidireccional (CPU → dispositivos)</a:t>
            </a:r>
          </a:p>
          <a:p>
            <a:pPr algn="l">
              <a:lnSpc>
                <a:spcPts val="3640"/>
              </a:lnSpc>
            </a:pPr>
            <a:endParaRPr lang="en-US" sz="2600">
              <a:solidFill>
                <a:srgbClr val="000000"/>
              </a:solidFill>
              <a:latin typeface="Canva Sans"/>
              <a:ea typeface="Canva Sans"/>
              <a:cs typeface="Canva Sans"/>
              <a:sym typeface="Canva Sans"/>
            </a:endParaRPr>
          </a:p>
          <a:p>
            <a:pPr marL="561341" lvl="1" indent="-280670" algn="l">
              <a:lnSpc>
                <a:spcPts val="3640"/>
              </a:lnSpc>
              <a:spcBef>
                <a:spcPct val="0"/>
              </a:spcBef>
              <a:buFont typeface="Arial"/>
              <a:buChar char="•"/>
            </a:pPr>
            <a:r>
              <a:rPr lang="en-US" sz="2600">
                <a:solidFill>
                  <a:srgbClr val="000000"/>
                </a:solidFill>
                <a:latin typeface="Canva Sans"/>
                <a:ea typeface="Canva Sans"/>
                <a:cs typeface="Canva Sans"/>
                <a:sym typeface="Canva Sans"/>
              </a:rPr>
              <a:t>Algunas señales bidireccionales (interrupciones)</a:t>
            </a:r>
          </a:p>
        </p:txBody>
      </p:sp>
      <p:sp>
        <p:nvSpPr>
          <p:cNvPr id="4" name="TextBox 4"/>
          <p:cNvSpPr txBox="1"/>
          <p:nvPr/>
        </p:nvSpPr>
        <p:spPr>
          <a:xfrm>
            <a:off x="6960989" y="942975"/>
            <a:ext cx="4366022" cy="811530"/>
          </a:xfrm>
          <a:prstGeom prst="rect">
            <a:avLst/>
          </a:prstGeom>
        </p:spPr>
        <p:txBody>
          <a:bodyPr lIns="0" tIns="0" rIns="0" bIns="0" rtlCol="0" anchor="t">
            <a:spAutoFit/>
          </a:bodyPr>
          <a:lstStyle/>
          <a:p>
            <a:pPr algn="ctr">
              <a:lnSpc>
                <a:spcPts val="6719"/>
              </a:lnSpc>
              <a:spcBef>
                <a:spcPct val="0"/>
              </a:spcBef>
            </a:pPr>
            <a:r>
              <a:rPr lang="en-US" sz="4800">
                <a:solidFill>
                  <a:srgbClr val="000000"/>
                </a:solidFill>
                <a:latin typeface="Canva Sans"/>
                <a:ea typeface="Canva Sans"/>
                <a:cs typeface="Canva Sans"/>
                <a:sym typeface="Canva Sans"/>
              </a:rPr>
              <a:t>Bus de Control</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963418" y="942975"/>
            <a:ext cx="8361164" cy="811530"/>
          </a:xfrm>
          <a:prstGeom prst="rect">
            <a:avLst/>
          </a:prstGeom>
        </p:spPr>
        <p:txBody>
          <a:bodyPr lIns="0" tIns="0" rIns="0" bIns="0" rtlCol="0" anchor="t">
            <a:spAutoFit/>
          </a:bodyPr>
          <a:lstStyle/>
          <a:p>
            <a:pPr algn="ctr">
              <a:lnSpc>
                <a:spcPts val="6719"/>
              </a:lnSpc>
              <a:spcBef>
                <a:spcPct val="0"/>
              </a:spcBef>
            </a:pPr>
            <a:r>
              <a:rPr lang="en-US" sz="4800">
                <a:solidFill>
                  <a:srgbClr val="000000"/>
                </a:solidFill>
                <a:latin typeface="Canva Sans"/>
                <a:ea typeface="Canva Sans"/>
                <a:cs typeface="Canva Sans"/>
                <a:sym typeface="Canva Sans"/>
              </a:rPr>
              <a:t>Conceptos clave aprendidos</a:t>
            </a:r>
          </a:p>
        </p:txBody>
      </p:sp>
      <p:sp>
        <p:nvSpPr>
          <p:cNvPr id="3" name="TextBox 3"/>
          <p:cNvSpPr txBox="1"/>
          <p:nvPr/>
        </p:nvSpPr>
        <p:spPr>
          <a:xfrm>
            <a:off x="2167274" y="3486804"/>
            <a:ext cx="6350920" cy="5020310"/>
          </a:xfrm>
          <a:prstGeom prst="rect">
            <a:avLst/>
          </a:prstGeom>
        </p:spPr>
        <p:txBody>
          <a:bodyPr lIns="0" tIns="0" rIns="0" bIns="0" rtlCol="0" anchor="t">
            <a:spAutoFit/>
          </a:bodyPr>
          <a:lstStyle/>
          <a:p>
            <a:pPr marL="561341" lvl="1" indent="-280670" algn="l">
              <a:lnSpc>
                <a:spcPts val="3640"/>
              </a:lnSpc>
              <a:buFont typeface="Arial"/>
              <a:buChar char="•"/>
            </a:pPr>
            <a:r>
              <a:rPr lang="en-US" sz="2600">
                <a:solidFill>
                  <a:srgbClr val="000000"/>
                </a:solidFill>
                <a:latin typeface="Canva Sans"/>
                <a:ea typeface="Canva Sans"/>
                <a:cs typeface="Canva Sans"/>
                <a:sym typeface="Canva Sans"/>
              </a:rPr>
              <a:t>RISC vs CISC: Convergencia moderna hacia arquitecturas híbridas</a:t>
            </a:r>
          </a:p>
          <a:p>
            <a:pPr algn="l">
              <a:lnSpc>
                <a:spcPts val="3640"/>
              </a:lnSpc>
            </a:pPr>
            <a:endParaRPr lang="en-US" sz="2600">
              <a:solidFill>
                <a:srgbClr val="000000"/>
              </a:solidFill>
              <a:latin typeface="Canva Sans"/>
              <a:ea typeface="Canva Sans"/>
              <a:cs typeface="Canva Sans"/>
              <a:sym typeface="Canva Sans"/>
            </a:endParaRPr>
          </a:p>
          <a:p>
            <a:pPr marL="561341" lvl="1" indent="-280670" algn="l">
              <a:lnSpc>
                <a:spcPts val="3640"/>
              </a:lnSpc>
              <a:buFont typeface="Arial"/>
              <a:buChar char="•"/>
            </a:pPr>
            <a:r>
              <a:rPr lang="en-US" sz="2600">
                <a:solidFill>
                  <a:srgbClr val="000000"/>
                </a:solidFill>
                <a:latin typeface="Canva Sans"/>
                <a:ea typeface="Canva Sans"/>
                <a:cs typeface="Canva Sans"/>
                <a:sym typeface="Canva Sans"/>
              </a:rPr>
              <a:t>Jerarquía de Memoria: Crucial para rendimiento - balance velocidad/capacidad/costo</a:t>
            </a:r>
          </a:p>
          <a:p>
            <a:pPr algn="l">
              <a:lnSpc>
                <a:spcPts val="3640"/>
              </a:lnSpc>
            </a:pPr>
            <a:endParaRPr lang="en-US" sz="2600">
              <a:solidFill>
                <a:srgbClr val="000000"/>
              </a:solidFill>
              <a:latin typeface="Canva Sans"/>
              <a:ea typeface="Canva Sans"/>
              <a:cs typeface="Canva Sans"/>
              <a:sym typeface="Canva Sans"/>
            </a:endParaRPr>
          </a:p>
          <a:p>
            <a:pPr marL="561341" lvl="1" indent="-280670" algn="l">
              <a:lnSpc>
                <a:spcPts val="3640"/>
              </a:lnSpc>
              <a:spcBef>
                <a:spcPct val="0"/>
              </a:spcBef>
              <a:buFont typeface="Arial"/>
              <a:buChar char="•"/>
            </a:pPr>
            <a:r>
              <a:rPr lang="en-US" sz="2600">
                <a:solidFill>
                  <a:srgbClr val="000000"/>
                </a:solidFill>
                <a:latin typeface="Canva Sans"/>
                <a:ea typeface="Canva Sans"/>
                <a:cs typeface="Canva Sans"/>
                <a:sym typeface="Canva Sans"/>
              </a:rPr>
              <a:t>Almacenamiento: NVMe revoluciona velocidades, HDD sigue vigente para capacidad</a:t>
            </a:r>
          </a:p>
        </p:txBody>
      </p:sp>
      <p:sp>
        <p:nvSpPr>
          <p:cNvPr id="4" name="TextBox 4"/>
          <p:cNvSpPr txBox="1"/>
          <p:nvPr/>
        </p:nvSpPr>
        <p:spPr>
          <a:xfrm>
            <a:off x="10589128" y="3486804"/>
            <a:ext cx="5470907" cy="5020310"/>
          </a:xfrm>
          <a:prstGeom prst="rect">
            <a:avLst/>
          </a:prstGeom>
        </p:spPr>
        <p:txBody>
          <a:bodyPr lIns="0" tIns="0" rIns="0" bIns="0" rtlCol="0" anchor="t">
            <a:spAutoFit/>
          </a:bodyPr>
          <a:lstStyle/>
          <a:p>
            <a:pPr marL="561341" lvl="1" indent="-280670" algn="l">
              <a:lnSpc>
                <a:spcPts val="3640"/>
              </a:lnSpc>
              <a:buFont typeface="Arial"/>
              <a:buChar char="•"/>
            </a:pPr>
            <a:r>
              <a:rPr lang="en-US" sz="2600">
                <a:solidFill>
                  <a:srgbClr val="000000"/>
                </a:solidFill>
                <a:latin typeface="Canva Sans"/>
                <a:ea typeface="Canva Sans"/>
                <a:cs typeface="Canva Sans"/>
                <a:sym typeface="Canva Sans"/>
              </a:rPr>
              <a:t>Redes: Switches y routers forman la columna vertebral de comunicaciones</a:t>
            </a:r>
          </a:p>
          <a:p>
            <a:pPr algn="l">
              <a:lnSpc>
                <a:spcPts val="3640"/>
              </a:lnSpc>
            </a:pPr>
            <a:endParaRPr lang="en-US" sz="2600">
              <a:solidFill>
                <a:srgbClr val="000000"/>
              </a:solidFill>
              <a:latin typeface="Canva Sans"/>
              <a:ea typeface="Canva Sans"/>
              <a:cs typeface="Canva Sans"/>
              <a:sym typeface="Canva Sans"/>
            </a:endParaRPr>
          </a:p>
          <a:p>
            <a:pPr marL="561341" lvl="1" indent="-280670" algn="l">
              <a:lnSpc>
                <a:spcPts val="3640"/>
              </a:lnSpc>
              <a:buFont typeface="Arial"/>
              <a:buChar char="•"/>
            </a:pPr>
            <a:r>
              <a:rPr lang="en-US" sz="2600">
                <a:solidFill>
                  <a:srgbClr val="000000"/>
                </a:solidFill>
                <a:latin typeface="Canva Sans"/>
                <a:ea typeface="Canva Sans"/>
                <a:cs typeface="Canva Sans"/>
                <a:sym typeface="Canva Sans"/>
              </a:rPr>
              <a:t>Seguridad: Hardware dedicado esencial en entornos empresariales</a:t>
            </a:r>
          </a:p>
          <a:p>
            <a:pPr algn="l">
              <a:lnSpc>
                <a:spcPts val="3640"/>
              </a:lnSpc>
            </a:pPr>
            <a:endParaRPr lang="en-US" sz="2600">
              <a:solidFill>
                <a:srgbClr val="000000"/>
              </a:solidFill>
              <a:latin typeface="Canva Sans"/>
              <a:ea typeface="Canva Sans"/>
              <a:cs typeface="Canva Sans"/>
              <a:sym typeface="Canva Sans"/>
            </a:endParaRPr>
          </a:p>
          <a:p>
            <a:pPr marL="561341" lvl="1" indent="-280670" algn="l">
              <a:lnSpc>
                <a:spcPts val="3640"/>
              </a:lnSpc>
              <a:spcBef>
                <a:spcPct val="0"/>
              </a:spcBef>
              <a:buFont typeface="Arial"/>
              <a:buChar char="•"/>
            </a:pPr>
            <a:r>
              <a:rPr lang="en-US" sz="2600">
                <a:solidFill>
                  <a:srgbClr val="000000"/>
                </a:solidFill>
                <a:latin typeface="Canva Sans"/>
                <a:ea typeface="Canva Sans"/>
                <a:cs typeface="Canva Sans"/>
                <a:sym typeface="Canva Sans"/>
              </a:rPr>
              <a:t>Buses: Evolución de paralelo a serial para mayores velocidades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7177236" y="1261600"/>
            <a:ext cx="3933527" cy="811530"/>
          </a:xfrm>
          <a:prstGeom prst="rect">
            <a:avLst/>
          </a:prstGeom>
        </p:spPr>
        <p:txBody>
          <a:bodyPr lIns="0" tIns="0" rIns="0" bIns="0" rtlCol="0" anchor="t">
            <a:spAutoFit/>
          </a:bodyPr>
          <a:lstStyle/>
          <a:p>
            <a:pPr algn="ctr">
              <a:lnSpc>
                <a:spcPts val="6719"/>
              </a:lnSpc>
              <a:spcBef>
                <a:spcPct val="0"/>
              </a:spcBef>
            </a:pPr>
            <a:r>
              <a:rPr lang="en-US" sz="4800">
                <a:solidFill>
                  <a:srgbClr val="000000"/>
                </a:solidFill>
                <a:latin typeface="Canva Sans"/>
                <a:ea typeface="Canva Sans"/>
                <a:cs typeface="Canva Sans"/>
                <a:sym typeface="Canva Sans"/>
              </a:rPr>
              <a:t>Colaboración</a:t>
            </a:r>
          </a:p>
        </p:txBody>
      </p:sp>
      <p:sp>
        <p:nvSpPr>
          <p:cNvPr id="3" name="TextBox 3"/>
          <p:cNvSpPr txBox="1"/>
          <p:nvPr/>
        </p:nvSpPr>
        <p:spPr>
          <a:xfrm>
            <a:off x="3236318" y="4051327"/>
            <a:ext cx="11815364" cy="3191510"/>
          </a:xfrm>
          <a:prstGeom prst="rect">
            <a:avLst/>
          </a:prstGeom>
        </p:spPr>
        <p:txBody>
          <a:bodyPr lIns="0" tIns="0" rIns="0" bIns="0" rtlCol="0" anchor="t">
            <a:spAutoFit/>
          </a:bodyPr>
          <a:lstStyle/>
          <a:p>
            <a:pPr algn="just">
              <a:lnSpc>
                <a:spcPts val="3640"/>
              </a:lnSpc>
              <a:spcBef>
                <a:spcPct val="0"/>
              </a:spcBef>
            </a:pPr>
            <a:r>
              <a:rPr lang="en-US" sz="2600">
                <a:solidFill>
                  <a:srgbClr val="000000"/>
                </a:solidFill>
                <a:latin typeface="Canva Sans"/>
                <a:ea typeface="Canva Sans"/>
                <a:cs typeface="Canva Sans"/>
                <a:sym typeface="Canva Sans"/>
              </a:rPr>
              <a:t>La colaboración es fundamental en el ámbito tecnológico, donde la interconexión entre dispositivos, sistemas y personas requiere trabajo en equipo, comunicación efectiva y apoyo mutuo. Al estudiar componentes como redes, memorias, arquitecturas de hardware y sistemas de seguridad, los estudiantes deben reconocer la importancia de construir soluciones conjuntas, compartir conocimientos y contribuir activamente en entornos colaborativos.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1873016" y="5025136"/>
            <a:ext cx="5386284" cy="4233164"/>
          </a:xfrm>
          <a:custGeom>
            <a:avLst/>
            <a:gdLst/>
            <a:ahLst/>
            <a:cxnLst/>
            <a:rect l="l" t="t" r="r" b="b"/>
            <a:pathLst>
              <a:path w="5386284" h="4233164">
                <a:moveTo>
                  <a:pt x="0" y="0"/>
                </a:moveTo>
                <a:lnTo>
                  <a:pt x="5386284" y="0"/>
                </a:lnTo>
                <a:lnTo>
                  <a:pt x="5386284" y="4233164"/>
                </a:lnTo>
                <a:lnTo>
                  <a:pt x="0" y="4233164"/>
                </a:lnTo>
                <a:lnTo>
                  <a:pt x="0" y="0"/>
                </a:lnTo>
                <a:close/>
              </a:path>
            </a:pathLst>
          </a:custGeom>
          <a:blipFill>
            <a:blip r:embed="rId2"/>
            <a:stretch>
              <a:fillRect l="-10395" t="-26986" r="-7625" b="-23184"/>
            </a:stretch>
          </a:blipFill>
        </p:spPr>
        <p:txBody>
          <a:bodyPr/>
          <a:lstStyle/>
          <a:p>
            <a:endParaRPr lang="es-GT"/>
          </a:p>
        </p:txBody>
      </p:sp>
      <p:sp>
        <p:nvSpPr>
          <p:cNvPr id="3" name="TextBox 3"/>
          <p:cNvSpPr txBox="1"/>
          <p:nvPr/>
        </p:nvSpPr>
        <p:spPr>
          <a:xfrm>
            <a:off x="7422952" y="942975"/>
            <a:ext cx="3442097" cy="811530"/>
          </a:xfrm>
          <a:prstGeom prst="rect">
            <a:avLst/>
          </a:prstGeom>
        </p:spPr>
        <p:txBody>
          <a:bodyPr lIns="0" tIns="0" rIns="0" bIns="0" rtlCol="0" anchor="t">
            <a:spAutoFit/>
          </a:bodyPr>
          <a:lstStyle/>
          <a:p>
            <a:pPr algn="ctr">
              <a:lnSpc>
                <a:spcPts val="6719"/>
              </a:lnSpc>
              <a:spcBef>
                <a:spcPct val="0"/>
              </a:spcBef>
            </a:pPr>
            <a:r>
              <a:rPr lang="en-US" sz="4800">
                <a:solidFill>
                  <a:srgbClr val="000000"/>
                </a:solidFill>
                <a:latin typeface="Canva Sans"/>
                <a:ea typeface="Canva Sans"/>
                <a:cs typeface="Canva Sans"/>
                <a:sym typeface="Canva Sans"/>
              </a:rPr>
              <a:t>Referencias</a:t>
            </a:r>
          </a:p>
        </p:txBody>
      </p:sp>
      <p:sp>
        <p:nvSpPr>
          <p:cNvPr id="4" name="TextBox 4"/>
          <p:cNvSpPr txBox="1"/>
          <p:nvPr/>
        </p:nvSpPr>
        <p:spPr>
          <a:xfrm>
            <a:off x="1189632" y="2667482"/>
            <a:ext cx="12739746" cy="3648710"/>
          </a:xfrm>
          <a:prstGeom prst="rect">
            <a:avLst/>
          </a:prstGeom>
        </p:spPr>
        <p:txBody>
          <a:bodyPr lIns="0" tIns="0" rIns="0" bIns="0" rtlCol="0" anchor="t">
            <a:spAutoFit/>
          </a:bodyPr>
          <a:lstStyle/>
          <a:p>
            <a:pPr algn="l">
              <a:lnSpc>
                <a:spcPts val="3640"/>
              </a:lnSpc>
            </a:pPr>
            <a:r>
              <a:rPr lang="en-US" sz="2600">
                <a:solidFill>
                  <a:srgbClr val="000000"/>
                </a:solidFill>
                <a:latin typeface="Canva Sans"/>
                <a:ea typeface="Canva Sans"/>
                <a:cs typeface="Canva Sans"/>
                <a:sym typeface="Canva Sans"/>
              </a:rPr>
              <a:t>Libros Recomendados:</a:t>
            </a:r>
          </a:p>
          <a:p>
            <a:pPr marL="561341" lvl="1" indent="-280670" algn="l">
              <a:lnSpc>
                <a:spcPts val="3640"/>
              </a:lnSpc>
              <a:buFont typeface="Arial"/>
              <a:buChar char="•"/>
            </a:pPr>
            <a:r>
              <a:rPr lang="en-US" sz="2600">
                <a:solidFill>
                  <a:srgbClr val="000000"/>
                </a:solidFill>
                <a:latin typeface="Canva Sans"/>
                <a:ea typeface="Canva Sans"/>
                <a:cs typeface="Canva Sans"/>
                <a:sym typeface="Canva Sans"/>
              </a:rPr>
              <a:t>"Computer Organization and Design" - Patterson &amp; Hennessy</a:t>
            </a:r>
          </a:p>
          <a:p>
            <a:pPr marL="561341" lvl="1" indent="-280670" algn="l">
              <a:lnSpc>
                <a:spcPts val="3640"/>
              </a:lnSpc>
              <a:buFont typeface="Arial"/>
              <a:buChar char="•"/>
            </a:pPr>
            <a:r>
              <a:rPr lang="en-US" sz="2600">
                <a:solidFill>
                  <a:srgbClr val="000000"/>
                </a:solidFill>
                <a:latin typeface="Canva Sans"/>
                <a:ea typeface="Canva Sans"/>
                <a:cs typeface="Canva Sans"/>
                <a:sym typeface="Canva Sans"/>
              </a:rPr>
              <a:t>"Computer Architecture: A Quantitative Approach" - Hennessy &amp; Patterson</a:t>
            </a:r>
          </a:p>
          <a:p>
            <a:pPr algn="l">
              <a:lnSpc>
                <a:spcPts val="3640"/>
              </a:lnSpc>
            </a:pPr>
            <a:endParaRPr lang="en-US" sz="2600">
              <a:solidFill>
                <a:srgbClr val="000000"/>
              </a:solidFill>
              <a:latin typeface="Canva Sans"/>
              <a:ea typeface="Canva Sans"/>
              <a:cs typeface="Canva Sans"/>
              <a:sym typeface="Canva Sans"/>
            </a:endParaRPr>
          </a:p>
          <a:p>
            <a:pPr algn="l">
              <a:lnSpc>
                <a:spcPts val="3640"/>
              </a:lnSpc>
            </a:pPr>
            <a:r>
              <a:rPr lang="en-US" sz="2600">
                <a:solidFill>
                  <a:srgbClr val="000000"/>
                </a:solidFill>
                <a:latin typeface="Canva Sans"/>
                <a:ea typeface="Canva Sans"/>
                <a:cs typeface="Canva Sans"/>
                <a:sym typeface="Canva Sans"/>
              </a:rPr>
              <a:t>Recursos Online:</a:t>
            </a:r>
          </a:p>
          <a:p>
            <a:pPr marL="561341" lvl="1" indent="-280670" algn="l">
              <a:lnSpc>
                <a:spcPts val="3640"/>
              </a:lnSpc>
              <a:buFont typeface="Arial"/>
              <a:buChar char="•"/>
            </a:pPr>
            <a:r>
              <a:rPr lang="en-US" sz="2600">
                <a:solidFill>
                  <a:srgbClr val="000000"/>
                </a:solidFill>
                <a:latin typeface="Canva Sans"/>
                <a:ea typeface="Canva Sans"/>
                <a:cs typeface="Canva Sans"/>
                <a:sym typeface="Canva Sans"/>
              </a:rPr>
              <a:t>AnandTech (análisis de hardware)</a:t>
            </a:r>
          </a:p>
          <a:p>
            <a:pPr marL="561341" lvl="1" indent="-280670" algn="l">
              <a:lnSpc>
                <a:spcPts val="3640"/>
              </a:lnSpc>
              <a:buFont typeface="Arial"/>
              <a:buChar char="•"/>
            </a:pPr>
            <a:r>
              <a:rPr lang="en-US" sz="2600">
                <a:solidFill>
                  <a:srgbClr val="000000"/>
                </a:solidFill>
                <a:latin typeface="Canva Sans"/>
                <a:ea typeface="Canva Sans"/>
                <a:cs typeface="Canva Sans"/>
                <a:sym typeface="Canva Sans"/>
              </a:rPr>
              <a:t>Tom's Hardware (reviews y benchmarks)</a:t>
            </a:r>
          </a:p>
          <a:p>
            <a:pPr marL="561341" lvl="1" indent="-280670" algn="l">
              <a:lnSpc>
                <a:spcPts val="3640"/>
              </a:lnSpc>
              <a:spcBef>
                <a:spcPct val="0"/>
              </a:spcBef>
              <a:buFont typeface="Arial"/>
              <a:buChar char="•"/>
            </a:pPr>
            <a:r>
              <a:rPr lang="en-US" sz="2600">
                <a:solidFill>
                  <a:srgbClr val="000000"/>
                </a:solidFill>
                <a:latin typeface="Canva Sans"/>
                <a:ea typeface="Canva Sans"/>
                <a:cs typeface="Canva Sans"/>
                <a:sym typeface="Canva Sans"/>
              </a:rPr>
              <a:t>Documentación de fabricantes (Intel, AMD, ARM)</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253801" y="2951055"/>
            <a:ext cx="6356958" cy="4384891"/>
          </a:xfrm>
          <a:custGeom>
            <a:avLst/>
            <a:gdLst/>
            <a:ahLst/>
            <a:cxnLst/>
            <a:rect l="l" t="t" r="r" b="b"/>
            <a:pathLst>
              <a:path w="6356958" h="4384891">
                <a:moveTo>
                  <a:pt x="0" y="0"/>
                </a:moveTo>
                <a:lnTo>
                  <a:pt x="6356958" y="0"/>
                </a:lnTo>
                <a:lnTo>
                  <a:pt x="6356958" y="4384890"/>
                </a:lnTo>
                <a:lnTo>
                  <a:pt x="0" y="4384890"/>
                </a:lnTo>
                <a:lnTo>
                  <a:pt x="0" y="0"/>
                </a:lnTo>
                <a:close/>
              </a:path>
            </a:pathLst>
          </a:custGeom>
          <a:blipFill>
            <a:blip r:embed="rId2"/>
            <a:stretch>
              <a:fillRect t="-24390" b="-20583"/>
            </a:stretch>
          </a:blipFill>
        </p:spPr>
        <p:txBody>
          <a:bodyPr/>
          <a:lstStyle/>
          <a:p>
            <a:endParaRPr lang="es-GT"/>
          </a:p>
        </p:txBody>
      </p:sp>
      <p:sp>
        <p:nvSpPr>
          <p:cNvPr id="3" name="TextBox 3"/>
          <p:cNvSpPr txBox="1"/>
          <p:nvPr/>
        </p:nvSpPr>
        <p:spPr>
          <a:xfrm>
            <a:off x="6653064" y="942975"/>
            <a:ext cx="4981873" cy="811530"/>
          </a:xfrm>
          <a:prstGeom prst="rect">
            <a:avLst/>
          </a:prstGeom>
        </p:spPr>
        <p:txBody>
          <a:bodyPr lIns="0" tIns="0" rIns="0" bIns="0" rtlCol="0" anchor="t">
            <a:spAutoFit/>
          </a:bodyPr>
          <a:lstStyle/>
          <a:p>
            <a:pPr algn="ctr">
              <a:lnSpc>
                <a:spcPts val="6719"/>
              </a:lnSpc>
              <a:spcBef>
                <a:spcPct val="0"/>
              </a:spcBef>
            </a:pPr>
            <a:r>
              <a:rPr lang="en-US" sz="4800">
                <a:solidFill>
                  <a:srgbClr val="000000"/>
                </a:solidFill>
                <a:latin typeface="Canva Sans"/>
                <a:ea typeface="Canva Sans"/>
                <a:cs typeface="Canva Sans"/>
                <a:sym typeface="Canva Sans"/>
              </a:rPr>
              <a:t>Ejemplo práctico</a:t>
            </a:r>
          </a:p>
        </p:txBody>
      </p:sp>
      <p:sp>
        <p:nvSpPr>
          <p:cNvPr id="4" name="TextBox 4"/>
          <p:cNvSpPr txBox="1"/>
          <p:nvPr/>
        </p:nvSpPr>
        <p:spPr>
          <a:xfrm>
            <a:off x="1028700" y="3290570"/>
            <a:ext cx="4936821" cy="3648710"/>
          </a:xfrm>
          <a:prstGeom prst="rect">
            <a:avLst/>
          </a:prstGeom>
        </p:spPr>
        <p:txBody>
          <a:bodyPr lIns="0" tIns="0" rIns="0" bIns="0" rtlCol="0" anchor="t">
            <a:spAutoFit/>
          </a:bodyPr>
          <a:lstStyle/>
          <a:p>
            <a:pPr marL="561341" lvl="1" indent="-280670" algn="l">
              <a:lnSpc>
                <a:spcPts val="3640"/>
              </a:lnSpc>
              <a:buAutoNum type="arabicPeriod"/>
            </a:pPr>
            <a:r>
              <a:rPr lang="en-US" sz="2600">
                <a:solidFill>
                  <a:srgbClr val="000000"/>
                </a:solidFill>
                <a:latin typeface="Canva Sans"/>
                <a:ea typeface="Canva Sans"/>
                <a:cs typeface="Canva Sans"/>
                <a:sym typeface="Canva Sans"/>
              </a:rPr>
              <a:t>Usuario abre archivo </a:t>
            </a:r>
          </a:p>
          <a:p>
            <a:pPr algn="l">
              <a:lnSpc>
                <a:spcPts val="3640"/>
              </a:lnSpc>
            </a:pPr>
            <a:r>
              <a:rPr lang="en-US" sz="2600">
                <a:solidFill>
                  <a:srgbClr val="000000"/>
                </a:solidFill>
                <a:latin typeface="Canva Sans"/>
                <a:ea typeface="Canva Sans"/>
                <a:cs typeface="Canva Sans"/>
                <a:sym typeface="Canva Sans"/>
              </a:rPr>
              <a:t>      de video (5 GB)</a:t>
            </a:r>
          </a:p>
          <a:p>
            <a:pPr algn="l">
              <a:lnSpc>
                <a:spcPts val="3640"/>
              </a:lnSpc>
            </a:pPr>
            <a:endParaRPr lang="en-US" sz="2600">
              <a:solidFill>
                <a:srgbClr val="000000"/>
              </a:solidFill>
              <a:latin typeface="Canva Sans"/>
              <a:ea typeface="Canva Sans"/>
              <a:cs typeface="Canva Sans"/>
              <a:sym typeface="Canva Sans"/>
            </a:endParaRPr>
          </a:p>
          <a:p>
            <a:pPr algn="l">
              <a:lnSpc>
                <a:spcPts val="3640"/>
              </a:lnSpc>
            </a:pPr>
            <a:r>
              <a:rPr lang="en-US" sz="2600">
                <a:solidFill>
                  <a:srgbClr val="000000"/>
                </a:solidFill>
                <a:latin typeface="Canva Sans"/>
                <a:ea typeface="Canva Sans"/>
                <a:cs typeface="Canva Sans"/>
                <a:sym typeface="Canva Sans"/>
              </a:rPr>
              <a:t>   2. CPU envía dirección </a:t>
            </a:r>
          </a:p>
          <a:p>
            <a:pPr algn="l">
              <a:lnSpc>
                <a:spcPts val="3640"/>
              </a:lnSpc>
            </a:pPr>
            <a:r>
              <a:rPr lang="en-US" sz="2600">
                <a:solidFill>
                  <a:srgbClr val="000000"/>
                </a:solidFill>
                <a:latin typeface="Canva Sans"/>
                <a:ea typeface="Canva Sans"/>
                <a:cs typeface="Canva Sans"/>
                <a:sym typeface="Canva Sans"/>
              </a:rPr>
              <a:t>     por bus de direcciones</a:t>
            </a:r>
          </a:p>
          <a:p>
            <a:pPr algn="l">
              <a:lnSpc>
                <a:spcPts val="3640"/>
              </a:lnSpc>
            </a:pPr>
            <a:endParaRPr lang="en-US" sz="2600">
              <a:solidFill>
                <a:srgbClr val="000000"/>
              </a:solidFill>
              <a:latin typeface="Canva Sans"/>
              <a:ea typeface="Canva Sans"/>
              <a:cs typeface="Canva Sans"/>
              <a:sym typeface="Canva Sans"/>
            </a:endParaRPr>
          </a:p>
          <a:p>
            <a:pPr algn="l">
              <a:lnSpc>
                <a:spcPts val="3640"/>
              </a:lnSpc>
            </a:pPr>
            <a:r>
              <a:rPr lang="en-US" sz="2600">
                <a:solidFill>
                  <a:srgbClr val="000000"/>
                </a:solidFill>
                <a:latin typeface="Canva Sans"/>
                <a:ea typeface="Canva Sans"/>
                <a:cs typeface="Canva Sans"/>
                <a:sym typeface="Canva Sans"/>
              </a:rPr>
              <a:t>   3. SSD NVMe lee </a:t>
            </a:r>
          </a:p>
          <a:p>
            <a:pPr algn="l">
              <a:lnSpc>
                <a:spcPts val="3640"/>
              </a:lnSpc>
              <a:spcBef>
                <a:spcPct val="0"/>
              </a:spcBef>
            </a:pPr>
            <a:r>
              <a:rPr lang="en-US" sz="2600">
                <a:solidFill>
                  <a:srgbClr val="000000"/>
                </a:solidFill>
                <a:latin typeface="Canva Sans"/>
                <a:ea typeface="Canva Sans"/>
                <a:cs typeface="Canva Sans"/>
                <a:sym typeface="Canva Sans"/>
              </a:rPr>
              <a:t>     datos vía PCIe 4.0 (7 GB/s)</a:t>
            </a:r>
          </a:p>
        </p:txBody>
      </p:sp>
      <p:sp>
        <p:nvSpPr>
          <p:cNvPr id="5" name="TextBox 5"/>
          <p:cNvSpPr txBox="1"/>
          <p:nvPr/>
        </p:nvSpPr>
        <p:spPr>
          <a:xfrm>
            <a:off x="12322479" y="3290570"/>
            <a:ext cx="4936821" cy="4105910"/>
          </a:xfrm>
          <a:prstGeom prst="rect">
            <a:avLst/>
          </a:prstGeom>
        </p:spPr>
        <p:txBody>
          <a:bodyPr lIns="0" tIns="0" rIns="0" bIns="0" rtlCol="0" anchor="t">
            <a:spAutoFit/>
          </a:bodyPr>
          <a:lstStyle/>
          <a:p>
            <a:pPr algn="r">
              <a:lnSpc>
                <a:spcPts val="3640"/>
              </a:lnSpc>
            </a:pPr>
            <a:r>
              <a:rPr lang="en-US" sz="2600">
                <a:solidFill>
                  <a:srgbClr val="000000"/>
                </a:solidFill>
                <a:latin typeface="Canva Sans"/>
                <a:ea typeface="Canva Sans"/>
                <a:cs typeface="Canva Sans"/>
                <a:sym typeface="Canva Sans"/>
              </a:rPr>
              <a:t>4. Datos fluyen por </a:t>
            </a:r>
          </a:p>
          <a:p>
            <a:pPr algn="r">
              <a:lnSpc>
                <a:spcPts val="3640"/>
              </a:lnSpc>
            </a:pPr>
            <a:r>
              <a:rPr lang="en-US" sz="2600">
                <a:solidFill>
                  <a:srgbClr val="000000"/>
                </a:solidFill>
                <a:latin typeface="Canva Sans"/>
                <a:ea typeface="Canva Sans"/>
                <a:cs typeface="Canva Sans"/>
                <a:sym typeface="Canva Sans"/>
              </a:rPr>
              <a:t>bus de datos a RAM</a:t>
            </a:r>
          </a:p>
          <a:p>
            <a:pPr algn="r">
              <a:lnSpc>
                <a:spcPts val="3640"/>
              </a:lnSpc>
            </a:pPr>
            <a:endParaRPr lang="en-US" sz="2600">
              <a:solidFill>
                <a:srgbClr val="000000"/>
              </a:solidFill>
              <a:latin typeface="Canva Sans"/>
              <a:ea typeface="Canva Sans"/>
              <a:cs typeface="Canva Sans"/>
              <a:sym typeface="Canva Sans"/>
            </a:endParaRPr>
          </a:p>
          <a:p>
            <a:pPr algn="r">
              <a:lnSpc>
                <a:spcPts val="3640"/>
              </a:lnSpc>
            </a:pPr>
            <a:r>
              <a:rPr lang="en-US" sz="2600">
                <a:solidFill>
                  <a:srgbClr val="000000"/>
                </a:solidFill>
                <a:latin typeface="Canva Sans"/>
                <a:ea typeface="Canva Sans"/>
                <a:cs typeface="Canva Sans"/>
                <a:sym typeface="Canva Sans"/>
              </a:rPr>
              <a:t>5. CPU procesa y envía </a:t>
            </a:r>
          </a:p>
          <a:p>
            <a:pPr algn="r">
              <a:lnSpc>
                <a:spcPts val="3640"/>
              </a:lnSpc>
            </a:pPr>
            <a:r>
              <a:rPr lang="en-US" sz="2600">
                <a:solidFill>
                  <a:srgbClr val="000000"/>
                </a:solidFill>
                <a:latin typeface="Canva Sans"/>
                <a:ea typeface="Canva Sans"/>
                <a:cs typeface="Canva Sans"/>
                <a:sym typeface="Canva Sans"/>
              </a:rPr>
              <a:t>a GPU vía PCIe x16</a:t>
            </a:r>
          </a:p>
          <a:p>
            <a:pPr algn="r">
              <a:lnSpc>
                <a:spcPts val="3640"/>
              </a:lnSpc>
            </a:pPr>
            <a:endParaRPr lang="en-US" sz="2600">
              <a:solidFill>
                <a:srgbClr val="000000"/>
              </a:solidFill>
              <a:latin typeface="Canva Sans"/>
              <a:ea typeface="Canva Sans"/>
              <a:cs typeface="Canva Sans"/>
              <a:sym typeface="Canva Sans"/>
            </a:endParaRPr>
          </a:p>
          <a:p>
            <a:pPr algn="r">
              <a:lnSpc>
                <a:spcPts val="3640"/>
              </a:lnSpc>
            </a:pPr>
            <a:r>
              <a:rPr lang="en-US" sz="2600">
                <a:solidFill>
                  <a:srgbClr val="000000"/>
                </a:solidFill>
                <a:latin typeface="Canva Sans"/>
                <a:ea typeface="Canva Sans"/>
                <a:cs typeface="Canva Sans"/>
                <a:sym typeface="Canva Sans"/>
              </a:rPr>
              <a:t>6. GPU renderiza en </a:t>
            </a:r>
          </a:p>
          <a:p>
            <a:pPr algn="r">
              <a:lnSpc>
                <a:spcPts val="3640"/>
              </a:lnSpc>
            </a:pPr>
            <a:r>
              <a:rPr lang="en-US" sz="2600">
                <a:solidFill>
                  <a:srgbClr val="000000"/>
                </a:solidFill>
                <a:latin typeface="Canva Sans"/>
                <a:ea typeface="Canva Sans"/>
                <a:cs typeface="Canva Sans"/>
                <a:sym typeface="Canva Sans"/>
              </a:rPr>
              <a:t>monitor</a:t>
            </a:r>
          </a:p>
          <a:p>
            <a:pPr algn="r">
              <a:lnSpc>
                <a:spcPts val="3640"/>
              </a:lnSpc>
            </a:pPr>
            <a:endParaRPr lang="en-US" sz="2600">
              <a:solidFill>
                <a:srgbClr val="000000"/>
              </a:solidFill>
              <a:latin typeface="Canva Sans"/>
              <a:ea typeface="Canva Sans"/>
              <a:cs typeface="Canva Sans"/>
              <a:sym typeface="Canva Sans"/>
            </a:endParaRPr>
          </a:p>
        </p:txBody>
      </p:sp>
      <p:sp>
        <p:nvSpPr>
          <p:cNvPr id="6" name="TextBox 6"/>
          <p:cNvSpPr txBox="1"/>
          <p:nvPr/>
        </p:nvSpPr>
        <p:spPr>
          <a:xfrm>
            <a:off x="5294880" y="8539480"/>
            <a:ext cx="8274800" cy="448310"/>
          </a:xfrm>
          <a:prstGeom prst="rect">
            <a:avLst/>
          </a:prstGeom>
        </p:spPr>
        <p:txBody>
          <a:bodyPr lIns="0" tIns="0" rIns="0" bIns="0" rtlCol="0" anchor="t">
            <a:spAutoFit/>
          </a:bodyPr>
          <a:lstStyle/>
          <a:p>
            <a:pPr algn="l">
              <a:lnSpc>
                <a:spcPts val="3640"/>
              </a:lnSpc>
              <a:spcBef>
                <a:spcPct val="0"/>
              </a:spcBef>
            </a:pPr>
            <a:r>
              <a:rPr lang="en-US" sz="2600">
                <a:solidFill>
                  <a:srgbClr val="000000"/>
                </a:solidFill>
                <a:latin typeface="Canva Sans"/>
                <a:ea typeface="Canva Sans"/>
                <a:cs typeface="Canva Sans"/>
                <a:sym typeface="Canva Sans"/>
              </a:rPr>
              <a:t>Tiempo estimado: ~1 segundo para carga inicial</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8094951" y="1664842"/>
            <a:ext cx="2098097" cy="2831413"/>
          </a:xfrm>
          <a:custGeom>
            <a:avLst/>
            <a:gdLst/>
            <a:ahLst/>
            <a:cxnLst/>
            <a:rect l="l" t="t" r="r" b="b"/>
            <a:pathLst>
              <a:path w="2098097" h="2831413">
                <a:moveTo>
                  <a:pt x="0" y="0"/>
                </a:moveTo>
                <a:lnTo>
                  <a:pt x="2098098" y="0"/>
                </a:lnTo>
                <a:lnTo>
                  <a:pt x="2098098" y="2831412"/>
                </a:lnTo>
                <a:lnTo>
                  <a:pt x="0" y="2831412"/>
                </a:lnTo>
                <a:lnTo>
                  <a:pt x="0" y="0"/>
                </a:lnTo>
                <a:close/>
              </a:path>
            </a:pathLst>
          </a:custGeom>
          <a:blipFill>
            <a:blip r:embed="rId2"/>
            <a:stretch>
              <a:fillRect/>
            </a:stretch>
          </a:blipFill>
        </p:spPr>
        <p:txBody>
          <a:bodyPr/>
          <a:lstStyle/>
          <a:p>
            <a:endParaRPr lang="es-GT"/>
          </a:p>
        </p:txBody>
      </p:sp>
      <p:sp>
        <p:nvSpPr>
          <p:cNvPr id="3" name="TextBox 3"/>
          <p:cNvSpPr txBox="1"/>
          <p:nvPr/>
        </p:nvSpPr>
        <p:spPr>
          <a:xfrm>
            <a:off x="3689524" y="5010150"/>
            <a:ext cx="10908953" cy="1226820"/>
          </a:xfrm>
          <a:prstGeom prst="rect">
            <a:avLst/>
          </a:prstGeom>
        </p:spPr>
        <p:txBody>
          <a:bodyPr lIns="0" tIns="0" rIns="0" bIns="0" rtlCol="0" anchor="t">
            <a:spAutoFit/>
          </a:bodyPr>
          <a:lstStyle/>
          <a:p>
            <a:pPr algn="ctr">
              <a:lnSpc>
                <a:spcPts val="10080"/>
              </a:lnSpc>
              <a:spcBef>
                <a:spcPct val="0"/>
              </a:spcBef>
            </a:pPr>
            <a:r>
              <a:rPr lang="en-US" sz="7200">
                <a:solidFill>
                  <a:srgbClr val="000000"/>
                </a:solidFill>
                <a:latin typeface="Canva Sans"/>
                <a:ea typeface="Canva Sans"/>
                <a:cs typeface="Canva Sans"/>
                <a:sym typeface="Canva Sans"/>
              </a:rPr>
              <a:t>¡Gracias por su atención!</a:t>
            </a:r>
          </a:p>
        </p:txBody>
      </p:sp>
      <p:sp>
        <p:nvSpPr>
          <p:cNvPr id="4" name="TextBox 4"/>
          <p:cNvSpPr txBox="1"/>
          <p:nvPr/>
        </p:nvSpPr>
        <p:spPr>
          <a:xfrm>
            <a:off x="1169667" y="7004386"/>
            <a:ext cx="15948666" cy="1251585"/>
          </a:xfrm>
          <a:prstGeom prst="rect">
            <a:avLst/>
          </a:prstGeom>
        </p:spPr>
        <p:txBody>
          <a:bodyPr lIns="0" tIns="0" rIns="0" bIns="0" rtlCol="0" anchor="t">
            <a:spAutoFit/>
          </a:bodyPr>
          <a:lstStyle/>
          <a:p>
            <a:pPr algn="ctr">
              <a:lnSpc>
                <a:spcPts val="5040"/>
              </a:lnSpc>
              <a:spcBef>
                <a:spcPct val="0"/>
              </a:spcBef>
            </a:pPr>
            <a:r>
              <a:rPr lang="en-US" sz="3600">
                <a:solidFill>
                  <a:srgbClr val="000000"/>
                </a:solidFill>
                <a:latin typeface="Canva Sans"/>
                <a:ea typeface="Canva Sans"/>
                <a:cs typeface="Canva Sans"/>
                <a:sym typeface="Canva Sans"/>
              </a:rPr>
              <a:t>RECUERDA QUE TENEMOS NUESTRO FORO SEMANAL DONDE PUEDES CONSULTAR CUALQUIER DUDA QUE TE SURJA EN LA SEMANA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2228</Words>
  <Application>Microsoft Office PowerPoint</Application>
  <PresentationFormat>Personalizado</PresentationFormat>
  <Paragraphs>397</Paragraphs>
  <Slides>34</Slides>
  <Notes>0</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34</vt:i4>
      </vt:variant>
    </vt:vector>
  </HeadingPairs>
  <TitlesOfParts>
    <vt:vector size="42" baseType="lpstr">
      <vt:lpstr>Calibri</vt:lpstr>
      <vt:lpstr>Open Sans</vt:lpstr>
      <vt:lpstr>Canva Sans</vt:lpstr>
      <vt:lpstr>Open Sans Bold</vt:lpstr>
      <vt:lpstr>Canva Sans Bold</vt:lpstr>
      <vt:lpstr>Arial</vt:lpstr>
      <vt:lpstr>Montserrat</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Semana 2 - blanco</dc:title>
  <cp:lastModifiedBy>Fernando Guzman</cp:lastModifiedBy>
  <cp:revision>2</cp:revision>
  <dcterms:created xsi:type="dcterms:W3CDTF">2006-08-16T00:00:00Z</dcterms:created>
  <dcterms:modified xsi:type="dcterms:W3CDTF">2026-05-08T05:59:09Z</dcterms:modified>
  <dc:identifier>DAHB30aeQyc</dc:identifier>
</cp:coreProperties>
</file>