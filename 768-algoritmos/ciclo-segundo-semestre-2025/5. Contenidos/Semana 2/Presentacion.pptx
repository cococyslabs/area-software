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10287000" cx="18288000"/>
  <p:notesSz cx="6858000" cy="9144000"/>
  <p:embeddedFontLst>
    <p:embeddedFont>
      <p:font typeface="Courier Prime"/>
      <p:regular r:id="rId35"/>
      <p:bold r:id="rId36"/>
      <p:italic r:id="rId37"/>
      <p:boldItalic r:id="rId38"/>
    </p:embeddedFont>
    <p:embeddedFont>
      <p:font typeface="Open Sans"/>
      <p:bold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1" roundtripDataSignature="AMtx7mi9aIsbZwGoSbWo0YJZetWgGMzH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CourierPrime-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CourierPrime-italic.fntdata"/><Relationship Id="rId14" Type="http://schemas.openxmlformats.org/officeDocument/2006/relationships/slide" Target="slides/slide9.xml"/><Relationship Id="rId36" Type="http://schemas.openxmlformats.org/officeDocument/2006/relationships/font" Target="fonts/CourierPrime-bold.fntdata"/><Relationship Id="rId17" Type="http://schemas.openxmlformats.org/officeDocument/2006/relationships/slide" Target="slides/slide12.xml"/><Relationship Id="rId39" Type="http://schemas.openxmlformats.org/officeDocument/2006/relationships/font" Target="fonts/OpenSans-bold.fntdata"/><Relationship Id="rId16" Type="http://schemas.openxmlformats.org/officeDocument/2006/relationships/slide" Target="slides/slide11.xml"/><Relationship Id="rId38" Type="http://schemas.openxmlformats.org/officeDocument/2006/relationships/font" Target="fonts/CourierPrime-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9"/>
          <p:cNvSpPr/>
          <p:nvPr>
            <p:ph idx="2" type="pic"/>
          </p:nvPr>
        </p:nvSpPr>
        <p:spPr>
          <a:xfrm>
            <a:off x="1792288" y="612775"/>
            <a:ext cx="5486400" cy="4114800"/>
          </a:xfrm>
          <a:prstGeom prst="rect">
            <a:avLst/>
          </a:prstGeom>
          <a:noFill/>
          <a:ln>
            <a:noFill/>
          </a:ln>
        </p:spPr>
      </p:sp>
      <p:sp>
        <p:nvSpPr>
          <p:cNvPr id="64" name="Google Shape;64;p3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jp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jpg"/><Relationship Id="rId4" Type="http://schemas.openxmlformats.org/officeDocument/2006/relationships/image" Target="../media/image2.jpg"/><Relationship Id="rId5"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719113" y="4765648"/>
            <a:ext cx="16876949" cy="679504"/>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i="0" lang="en-US" sz="3999" u="none" cap="none" strike="noStrike">
                <a:solidFill>
                  <a:srgbClr val="000000"/>
                </a:solidFill>
                <a:latin typeface="Open Sans"/>
                <a:ea typeface="Open Sans"/>
                <a:cs typeface="Open Sans"/>
                <a:sym typeface="Open Sans"/>
              </a:rPr>
              <a:t>INTRODUCCION A LOS ALGORITMOS Y FLUJO DE DATOS SECCION X</a:t>
            </a:r>
            <a:endParaRPr/>
          </a:p>
        </p:txBody>
      </p:sp>
      <p:sp>
        <p:nvSpPr>
          <p:cNvPr id="86" name="Google Shape;86;p1"/>
          <p:cNvSpPr txBox="1"/>
          <p:nvPr/>
        </p:nvSpPr>
        <p:spPr>
          <a:xfrm>
            <a:off x="3651797" y="6028889"/>
            <a:ext cx="7275703" cy="580363"/>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Auxiliar de la clase</a:t>
            </a:r>
            <a:endParaRPr/>
          </a:p>
        </p:txBody>
      </p:sp>
      <p:sp>
        <p:nvSpPr>
          <p:cNvPr id="87" name="Google Shape;87;p1"/>
          <p:cNvSpPr/>
          <p:nvPr/>
        </p:nvSpPr>
        <p:spPr>
          <a:xfrm>
            <a:off x="733500" y="4781250"/>
            <a:ext cx="16821000" cy="724500"/>
          </a:xfrm>
          <a:prstGeom prst="rect">
            <a:avLst/>
          </a:prstGeom>
          <a:solidFill>
            <a:srgbClr val="EEECE1"/>
          </a:solidFill>
          <a:ln cap="flat" cmpd="sng" w="9525">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40010"/>
              </a:lnSpc>
              <a:spcBef>
                <a:spcPts val="0"/>
              </a:spcBef>
              <a:spcAft>
                <a:spcPts val="0"/>
              </a:spcAft>
              <a:buClr>
                <a:schemeClr val="dk1"/>
              </a:buClr>
              <a:buFont typeface="Arial"/>
              <a:buNone/>
            </a:pPr>
            <a:r>
              <a:rPr b="1" lang="en-US" sz="3999">
                <a:solidFill>
                  <a:schemeClr val="dk1"/>
                </a:solidFill>
                <a:latin typeface="Open Sans"/>
                <a:ea typeface="Open Sans"/>
                <a:cs typeface="Open Sans"/>
                <a:sym typeface="Open Sans"/>
              </a:rPr>
              <a:t>INTRODUCCION A LOS ALGORITMOS Y FLUJO DE DATOS SECCION X</a:t>
            </a:r>
            <a:endParaRPr b="0" i="0" sz="3100" u="none" cap="none" strike="noStrike">
              <a:solidFill>
                <a:srgbClr val="000000"/>
              </a:solidFill>
              <a:latin typeface="Calibri"/>
              <a:ea typeface="Calibri"/>
              <a:cs typeface="Calibri"/>
              <a:sym typeface="Calibri"/>
            </a:endParaRPr>
          </a:p>
        </p:txBody>
      </p:sp>
      <p:sp>
        <p:nvSpPr>
          <p:cNvPr id="88" name="Google Shape;88;p1"/>
          <p:cNvSpPr/>
          <p:nvPr/>
        </p:nvSpPr>
        <p:spPr>
          <a:xfrm>
            <a:off x="3598050" y="5988675"/>
            <a:ext cx="7365000" cy="724500"/>
          </a:xfrm>
          <a:prstGeom prst="rect">
            <a:avLst/>
          </a:prstGeom>
          <a:solidFill>
            <a:srgbClr val="EEECE1"/>
          </a:solidFill>
          <a:ln cap="flat" cmpd="sng" w="9525">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Calibri"/>
                <a:ea typeface="Calibri"/>
                <a:cs typeface="Calibri"/>
                <a:sym typeface="Calibri"/>
              </a:rPr>
              <a:t>NOMBRE DEL TUTOR</a:t>
            </a:r>
            <a:endParaRPr b="0" i="0" sz="2600" u="none" cap="none" strike="noStrike">
              <a:solidFill>
                <a:srgbClr val="000000"/>
              </a:solidFill>
              <a:latin typeface="Calibri"/>
              <a:ea typeface="Calibri"/>
              <a:cs typeface="Calibri"/>
              <a:sym typeface="Calibri"/>
            </a:endParaRPr>
          </a:p>
        </p:txBody>
      </p:sp>
      <p:sp>
        <p:nvSpPr>
          <p:cNvPr id="89" name="Google Shape;89;p1"/>
          <p:cNvSpPr/>
          <p:nvPr/>
        </p:nvSpPr>
        <p:spPr>
          <a:xfrm>
            <a:off x="13759950" y="1983749"/>
            <a:ext cx="4209000" cy="724500"/>
          </a:xfrm>
          <a:prstGeom prst="rect">
            <a:avLst/>
          </a:prstGeom>
          <a:solidFill>
            <a:srgbClr val="EEECE1"/>
          </a:solidFill>
          <a:ln cap="flat" cmpd="sng" w="9525">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lang="en-US" sz="2600">
                <a:latin typeface="Calibri"/>
                <a:ea typeface="Calibri"/>
                <a:cs typeface="Calibri"/>
                <a:sym typeface="Calibri"/>
              </a:rPr>
              <a:t>Sabado, xx/xx/xxxx</a:t>
            </a:r>
            <a:endParaRPr b="0" i="0" sz="2600" u="none" cap="none" strike="noStrike">
              <a:solidFill>
                <a:srgbClr val="000000"/>
              </a:solidFill>
              <a:latin typeface="Calibri"/>
              <a:ea typeface="Calibri"/>
              <a:cs typeface="Calibri"/>
              <a:sym typeface="Calibri"/>
            </a:endParaRPr>
          </a:p>
        </p:txBody>
      </p:sp>
      <p:sp>
        <p:nvSpPr>
          <p:cNvPr id="90" name="Google Shape;90;p1"/>
          <p:cNvSpPr/>
          <p:nvPr/>
        </p:nvSpPr>
        <p:spPr>
          <a:xfrm>
            <a:off x="13759950" y="2790174"/>
            <a:ext cx="4209000" cy="724500"/>
          </a:xfrm>
          <a:prstGeom prst="rect">
            <a:avLst/>
          </a:prstGeom>
          <a:solidFill>
            <a:srgbClr val="EEECE1"/>
          </a:solidFill>
          <a:ln cap="flat" cmpd="sng" w="9525">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lang="en-US" sz="2600">
                <a:latin typeface="Calibri"/>
                <a:ea typeface="Calibri"/>
                <a:cs typeface="Calibri"/>
                <a:sym typeface="Calibri"/>
              </a:rPr>
              <a:t>10:30</a:t>
            </a:r>
            <a:endParaRPr b="0" i="0" sz="26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94" name="Shape 94"/>
        <p:cNvGrpSpPr/>
        <p:nvPr/>
      </p:nvGrpSpPr>
      <p:grpSpPr>
        <a:xfrm>
          <a:off x="0" y="0"/>
          <a:ext cx="0" cy="0"/>
          <a:chOff x="0" y="0"/>
          <a:chExt cx="0" cy="0"/>
        </a:xfrm>
      </p:grpSpPr>
      <p:cxnSp>
        <p:nvCxnSpPr>
          <p:cNvPr id="95" name="Google Shape;95;p2"/>
          <p:cNvCxnSpPr/>
          <p:nvPr/>
        </p:nvCxnSpPr>
        <p:spPr>
          <a:xfrm rot="5400000">
            <a:off x="-3294138" y="4385494"/>
            <a:ext cx="9650362" cy="0"/>
          </a:xfrm>
          <a:prstGeom prst="straightConnector1">
            <a:avLst/>
          </a:prstGeom>
          <a:noFill/>
          <a:ln cap="flat" cmpd="sng" w="95250">
            <a:solidFill>
              <a:srgbClr val="2D2D35"/>
            </a:solidFill>
            <a:prstDash val="solid"/>
            <a:round/>
            <a:headEnd len="sm" w="sm" type="none"/>
            <a:tailEnd len="sm" w="sm" type="none"/>
          </a:ln>
        </p:spPr>
      </p:cxnSp>
      <p:sp>
        <p:nvSpPr>
          <p:cNvPr id="96" name="Google Shape;96;p2"/>
          <p:cNvSpPr txBox="1"/>
          <p:nvPr/>
        </p:nvSpPr>
        <p:spPr>
          <a:xfrm>
            <a:off x="2065144" y="6226703"/>
            <a:ext cx="13359168" cy="24733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FF914D"/>
                </a:solidFill>
                <a:latin typeface="Courier Prime"/>
                <a:ea typeface="Courier Prime"/>
                <a:cs typeface="Courier Prime"/>
                <a:sym typeface="Courier Prime"/>
              </a:rPr>
              <a:t>Introduccion a los algoritmos y Flujo de Datos</a:t>
            </a:r>
            <a:endParaRPr/>
          </a:p>
          <a:p>
            <a:pPr indent="0" lvl="0" marL="0" marR="0" rtl="0" algn="l">
              <a:lnSpc>
                <a:spcPct val="140000"/>
              </a:lnSpc>
              <a:spcBef>
                <a:spcPts val="0"/>
              </a:spcBef>
              <a:spcAft>
                <a:spcPts val="0"/>
              </a:spcAft>
              <a:buNone/>
            </a:pPr>
            <a:r>
              <a:rPr b="0" i="0" lang="en-US" sz="3500" u="none" cap="none" strike="noStrike">
                <a:solidFill>
                  <a:srgbClr val="FF914D"/>
                </a:solidFill>
                <a:latin typeface="Courier Prime"/>
                <a:ea typeface="Courier Prime"/>
                <a:cs typeface="Courier Prime"/>
                <a:sym typeface="Courier Prime"/>
              </a:rPr>
              <a:t>Escuela de Ingeniería de Ciencias Y Sistemas</a:t>
            </a:r>
            <a:endParaRPr/>
          </a:p>
          <a:p>
            <a:pPr indent="0" lvl="0" marL="0" marR="0" rtl="0" algn="l">
              <a:lnSpc>
                <a:spcPct val="140000"/>
              </a:lnSpc>
              <a:spcBef>
                <a:spcPts val="0"/>
              </a:spcBef>
              <a:spcAft>
                <a:spcPts val="0"/>
              </a:spcAft>
              <a:buNone/>
            </a:pPr>
            <a:r>
              <a:rPr b="0" i="0" lang="en-US" sz="3500" u="none" cap="none" strike="noStrike">
                <a:solidFill>
                  <a:srgbClr val="FF914D"/>
                </a:solidFill>
                <a:latin typeface="Courier Prime"/>
                <a:ea typeface="Courier Prime"/>
                <a:cs typeface="Courier Prime"/>
                <a:sym typeface="Courier Prime"/>
              </a:rPr>
              <a:t>Facultad de Ingenieria</a:t>
            </a:r>
            <a:endParaRPr/>
          </a:p>
          <a:p>
            <a:pPr indent="0" lvl="0" marL="0" marR="0" rtl="0" algn="l">
              <a:lnSpc>
                <a:spcPct val="140000"/>
              </a:lnSpc>
              <a:spcBef>
                <a:spcPts val="0"/>
              </a:spcBef>
              <a:spcAft>
                <a:spcPts val="0"/>
              </a:spcAft>
              <a:buNone/>
            </a:pPr>
            <a:r>
              <a:rPr b="0" i="0" lang="en-US" sz="3500" u="none" cap="none" strike="noStrike">
                <a:solidFill>
                  <a:srgbClr val="FF914D"/>
                </a:solidFill>
                <a:latin typeface="Courier Prime"/>
                <a:ea typeface="Courier Prime"/>
                <a:cs typeface="Courier Prime"/>
                <a:sym typeface="Courier Prime"/>
              </a:rPr>
              <a:t>Universidad de San Carlos De Guatemala</a:t>
            </a:r>
            <a:endParaRPr/>
          </a:p>
        </p:txBody>
      </p:sp>
      <p:sp>
        <p:nvSpPr>
          <p:cNvPr id="97" name="Google Shape;97;p2"/>
          <p:cNvSpPr/>
          <p:nvPr/>
        </p:nvSpPr>
        <p:spPr>
          <a:xfrm>
            <a:off x="14762002" y="-102870"/>
            <a:ext cx="4230823" cy="10389870"/>
          </a:xfrm>
          <a:custGeom>
            <a:rect b="b" l="l" r="r" t="t"/>
            <a:pathLst>
              <a:path extrusionOk="0" h="3790253" w="1543416">
                <a:moveTo>
                  <a:pt x="0" y="0"/>
                </a:moveTo>
                <a:lnTo>
                  <a:pt x="1543416" y="0"/>
                </a:lnTo>
                <a:lnTo>
                  <a:pt x="1543416" y="3790253"/>
                </a:lnTo>
                <a:lnTo>
                  <a:pt x="0" y="3790253"/>
                </a:lnTo>
                <a:close/>
              </a:path>
            </a:pathLst>
          </a:custGeom>
          <a:solidFill>
            <a:srgbClr val="2D2D35"/>
          </a:solidFill>
          <a:ln>
            <a:noFill/>
          </a:ln>
        </p:spPr>
      </p:sp>
      <p:sp>
        <p:nvSpPr>
          <p:cNvPr id="98" name="Google Shape;98;p2"/>
          <p:cNvSpPr/>
          <p:nvPr/>
        </p:nvSpPr>
        <p:spPr>
          <a:xfrm>
            <a:off x="6822913" y="436534"/>
            <a:ext cx="11307542" cy="1184331"/>
          </a:xfrm>
          <a:custGeom>
            <a:rect b="b" l="l" r="r" t="t"/>
            <a:pathLst>
              <a:path extrusionOk="0" h="1184331" w="11307542">
                <a:moveTo>
                  <a:pt x="0" y="0"/>
                </a:moveTo>
                <a:lnTo>
                  <a:pt x="11307543" y="0"/>
                </a:lnTo>
                <a:lnTo>
                  <a:pt x="11307543" y="1184332"/>
                </a:lnTo>
                <a:lnTo>
                  <a:pt x="0" y="1184332"/>
                </a:lnTo>
                <a:lnTo>
                  <a:pt x="0" y="0"/>
                </a:lnTo>
                <a:close/>
              </a:path>
            </a:pathLst>
          </a:custGeom>
          <a:blipFill rotWithShape="1">
            <a:blip r:embed="rId3">
              <a:alphaModFix/>
            </a:blip>
            <a:stretch>
              <a:fillRect b="0" l="0" r="0" t="0"/>
            </a:stretch>
          </a:blipFill>
          <a:ln>
            <a:noFill/>
          </a:ln>
        </p:spPr>
      </p:sp>
      <p:sp>
        <p:nvSpPr>
          <p:cNvPr id="99" name="Google Shape;99;p2"/>
          <p:cNvSpPr txBox="1"/>
          <p:nvPr/>
        </p:nvSpPr>
        <p:spPr>
          <a:xfrm>
            <a:off x="2500115" y="3819373"/>
            <a:ext cx="11905014" cy="1324127"/>
          </a:xfrm>
          <a:prstGeom prst="rect">
            <a:avLst/>
          </a:prstGeom>
          <a:noFill/>
          <a:ln>
            <a:noFill/>
          </a:ln>
        </p:spPr>
        <p:txBody>
          <a:bodyPr anchorCtr="0" anchor="t" bIns="0" lIns="0" spcFirstLastPara="1" rIns="0" wrap="square" tIns="0">
            <a:spAutoFit/>
          </a:bodyPr>
          <a:lstStyle/>
          <a:p>
            <a:pPr indent="0" lvl="0" marL="0" marR="0" rtl="0" algn="l">
              <a:lnSpc>
                <a:spcPct val="114002"/>
              </a:lnSpc>
              <a:spcBef>
                <a:spcPts val="0"/>
              </a:spcBef>
              <a:spcAft>
                <a:spcPts val="0"/>
              </a:spcAft>
              <a:buNone/>
            </a:pPr>
            <a:r>
              <a:rPr b="0" i="0" lang="en-US" sz="9120" u="none" cap="none" strike="noStrike">
                <a:solidFill>
                  <a:srgbClr val="FFFFFF"/>
                </a:solidFill>
                <a:latin typeface="Courier Prime"/>
                <a:ea typeface="Courier Prime"/>
                <a:cs typeface="Courier Prime"/>
                <a:sym typeface="Courier Prime"/>
              </a:rPr>
              <a:t>La Computadora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103" name="Shape 103"/>
        <p:cNvGrpSpPr/>
        <p:nvPr/>
      </p:nvGrpSpPr>
      <p:grpSpPr>
        <a:xfrm>
          <a:off x="0" y="0"/>
          <a:ext cx="0" cy="0"/>
          <a:chOff x="0" y="0"/>
          <a:chExt cx="0" cy="0"/>
        </a:xfrm>
      </p:grpSpPr>
      <p:sp>
        <p:nvSpPr>
          <p:cNvPr id="104" name="Google Shape;104;p3"/>
          <p:cNvSpPr/>
          <p:nvPr/>
        </p:nvSpPr>
        <p:spPr>
          <a:xfrm>
            <a:off x="9144000" y="-102870"/>
            <a:ext cx="9314578" cy="10389870"/>
          </a:xfrm>
          <a:custGeom>
            <a:rect b="b" l="l" r="r" t="t"/>
            <a:pathLst>
              <a:path extrusionOk="0" h="3790253" w="3397983">
                <a:moveTo>
                  <a:pt x="0" y="0"/>
                </a:moveTo>
                <a:lnTo>
                  <a:pt x="3397983" y="0"/>
                </a:lnTo>
                <a:lnTo>
                  <a:pt x="3397983" y="3790253"/>
                </a:lnTo>
                <a:lnTo>
                  <a:pt x="0" y="3790253"/>
                </a:lnTo>
                <a:close/>
              </a:path>
            </a:pathLst>
          </a:custGeom>
          <a:solidFill>
            <a:srgbClr val="2D2D35"/>
          </a:solidFill>
          <a:ln>
            <a:noFill/>
          </a:ln>
        </p:spPr>
      </p:sp>
      <p:sp>
        <p:nvSpPr>
          <p:cNvPr id="105" name="Google Shape;105;p3"/>
          <p:cNvSpPr txBox="1"/>
          <p:nvPr/>
        </p:nvSpPr>
        <p:spPr>
          <a:xfrm>
            <a:off x="2156332" y="4706303"/>
            <a:ext cx="5179073" cy="893391"/>
          </a:xfrm>
          <a:prstGeom prst="rect">
            <a:avLst/>
          </a:prstGeom>
          <a:noFill/>
          <a:ln>
            <a:noFill/>
          </a:ln>
        </p:spPr>
        <p:txBody>
          <a:bodyPr anchorCtr="0" anchor="t" bIns="0" lIns="0" spcFirstLastPara="1" rIns="0" wrap="square" tIns="0">
            <a:spAutoFit/>
          </a:bodyPr>
          <a:lstStyle/>
          <a:p>
            <a:pPr indent="0" lvl="0" marL="0" marR="0" rtl="0" algn="l">
              <a:lnSpc>
                <a:spcPct val="113983"/>
              </a:lnSpc>
              <a:spcBef>
                <a:spcPts val="0"/>
              </a:spcBef>
              <a:spcAft>
                <a:spcPts val="0"/>
              </a:spcAft>
              <a:buNone/>
            </a:pPr>
            <a:r>
              <a:rPr b="0" i="0" lang="en-US" sz="6000" u="none" cap="none" strike="noStrike">
                <a:solidFill>
                  <a:srgbClr val="FFFFFF"/>
                </a:solidFill>
                <a:latin typeface="Courier Prime"/>
                <a:ea typeface="Courier Prime"/>
                <a:cs typeface="Courier Prime"/>
                <a:sym typeface="Courier Prime"/>
              </a:rPr>
              <a:t>Agenda</a:t>
            </a:r>
            <a:endParaRPr/>
          </a:p>
        </p:txBody>
      </p:sp>
      <p:sp>
        <p:nvSpPr>
          <p:cNvPr id="106" name="Google Shape;106;p3"/>
          <p:cNvSpPr txBox="1"/>
          <p:nvPr/>
        </p:nvSpPr>
        <p:spPr>
          <a:xfrm>
            <a:off x="9447084" y="1977588"/>
            <a:ext cx="9011494" cy="6390829"/>
          </a:xfrm>
          <a:prstGeom prst="rect">
            <a:avLst/>
          </a:prstGeom>
          <a:noFill/>
          <a:ln>
            <a:noFill/>
          </a:ln>
        </p:spPr>
        <p:txBody>
          <a:bodyPr anchorCtr="0" anchor="t" bIns="0" lIns="0" spcFirstLastPara="1" rIns="0" wrap="square" tIns="0">
            <a:spAutoFit/>
          </a:bodyPr>
          <a:lstStyle/>
          <a:p>
            <a:pPr indent="0" lvl="0" marL="0" marR="0" rtl="0" algn="l">
              <a:lnSpc>
                <a:spcPct val="182020"/>
              </a:lnSpc>
              <a:spcBef>
                <a:spcPts val="0"/>
              </a:spcBef>
              <a:spcAft>
                <a:spcPts val="0"/>
              </a:spcAft>
              <a:buNone/>
            </a:pPr>
            <a:r>
              <a:rPr b="0" i="0" lang="en-US" sz="3999" u="none" cap="none" strike="noStrike">
                <a:solidFill>
                  <a:srgbClr val="FFFFFF"/>
                </a:solidFill>
                <a:latin typeface="Courier Prime"/>
                <a:ea typeface="Courier Prime"/>
                <a:cs typeface="Courier Prime"/>
                <a:sym typeface="Courier Prime"/>
              </a:rPr>
              <a:t>La computadora: Definición</a:t>
            </a:r>
            <a:endParaRPr/>
          </a:p>
          <a:p>
            <a:pPr indent="0" lvl="0" marL="0" marR="0" rtl="0" algn="l">
              <a:lnSpc>
                <a:spcPct val="182020"/>
              </a:lnSpc>
              <a:spcBef>
                <a:spcPts val="0"/>
              </a:spcBef>
              <a:spcAft>
                <a:spcPts val="0"/>
              </a:spcAft>
              <a:buNone/>
            </a:pPr>
            <a:r>
              <a:rPr b="0" i="0" lang="en-US" sz="3999" u="none" cap="none" strike="noStrike">
                <a:solidFill>
                  <a:srgbClr val="FFFFFF"/>
                </a:solidFill>
                <a:latin typeface="Courier Prime"/>
                <a:ea typeface="Courier Prime"/>
                <a:cs typeface="Courier Prime"/>
                <a:sym typeface="Courier Prime"/>
              </a:rPr>
              <a:t>La computadora: Evolución</a:t>
            </a:r>
            <a:endParaRPr/>
          </a:p>
          <a:p>
            <a:pPr indent="0" lvl="0" marL="0" marR="0" rtl="0" algn="l">
              <a:lnSpc>
                <a:spcPct val="182020"/>
              </a:lnSpc>
              <a:spcBef>
                <a:spcPts val="0"/>
              </a:spcBef>
              <a:spcAft>
                <a:spcPts val="0"/>
              </a:spcAft>
              <a:buNone/>
            </a:pPr>
            <a:r>
              <a:rPr b="0" i="0" lang="en-US" sz="3999" u="none" cap="none" strike="noStrike">
                <a:solidFill>
                  <a:srgbClr val="FFFFFF"/>
                </a:solidFill>
                <a:latin typeface="Courier Prime"/>
                <a:ea typeface="Courier Prime"/>
                <a:cs typeface="Courier Prime"/>
                <a:sym typeface="Courier Prime"/>
              </a:rPr>
              <a:t>Ciclo Fetch-Decode-Execute</a:t>
            </a:r>
            <a:endParaRPr/>
          </a:p>
          <a:p>
            <a:pPr indent="0" lvl="0" marL="0" marR="0" rtl="0" algn="l">
              <a:lnSpc>
                <a:spcPct val="182020"/>
              </a:lnSpc>
              <a:spcBef>
                <a:spcPts val="0"/>
              </a:spcBef>
              <a:spcAft>
                <a:spcPts val="0"/>
              </a:spcAft>
              <a:buNone/>
            </a:pPr>
            <a:r>
              <a:rPr b="0" i="0" lang="en-US" sz="3999" u="none" cap="none" strike="noStrike">
                <a:solidFill>
                  <a:srgbClr val="FFFFFF"/>
                </a:solidFill>
                <a:latin typeface="Courier Prime"/>
                <a:ea typeface="Courier Prime"/>
                <a:cs typeface="Courier Prime"/>
                <a:sym typeface="Courier Prime"/>
              </a:rPr>
              <a:t>Componentes de la Unidad de Control</a:t>
            </a:r>
            <a:endParaRPr/>
          </a:p>
          <a:p>
            <a:pPr indent="0" lvl="0" marL="0" marR="0" rtl="0" algn="l">
              <a:lnSpc>
                <a:spcPct val="182020"/>
              </a:lnSpc>
              <a:spcBef>
                <a:spcPts val="0"/>
              </a:spcBef>
              <a:spcAft>
                <a:spcPts val="0"/>
              </a:spcAft>
              <a:buNone/>
            </a:pPr>
            <a:r>
              <a:rPr b="0" i="0" lang="en-US" sz="3999" u="none" cap="none" strike="noStrike">
                <a:solidFill>
                  <a:srgbClr val="FFFFFF"/>
                </a:solidFill>
                <a:latin typeface="Courier Prime"/>
                <a:ea typeface="Courier Prime"/>
                <a:cs typeface="Courier Prime"/>
                <a:sym typeface="Courier Prime"/>
              </a:rPr>
              <a:t>ALU</a:t>
            </a:r>
            <a:endParaRPr/>
          </a:p>
          <a:p>
            <a:pPr indent="0" lvl="0" marL="0" marR="0" rtl="0" algn="l">
              <a:lnSpc>
                <a:spcPct val="182020"/>
              </a:lnSpc>
              <a:spcBef>
                <a:spcPts val="0"/>
              </a:spcBef>
              <a:spcAft>
                <a:spcPts val="0"/>
              </a:spcAft>
              <a:buNone/>
            </a:pPr>
            <a:r>
              <a:t/>
            </a:r>
            <a:endParaRPr b="0" i="0" sz="3999" u="none" cap="none" strike="noStrike">
              <a:solidFill>
                <a:srgbClr val="FFFFFF"/>
              </a:solidFill>
              <a:latin typeface="Courier Prime"/>
              <a:ea typeface="Courier Prime"/>
              <a:cs typeface="Courier Prime"/>
              <a:sym typeface="Courier Prime"/>
            </a:endParaRPr>
          </a:p>
        </p:txBody>
      </p:sp>
      <p:sp>
        <p:nvSpPr>
          <p:cNvPr id="107" name="Google Shape;107;p3"/>
          <p:cNvSpPr txBox="1"/>
          <p:nvPr/>
        </p:nvSpPr>
        <p:spPr>
          <a:xfrm>
            <a:off x="7335405" y="1829306"/>
            <a:ext cx="1167193" cy="6390829"/>
          </a:xfrm>
          <a:prstGeom prst="rect">
            <a:avLst/>
          </a:prstGeom>
          <a:noFill/>
          <a:ln>
            <a:noFill/>
          </a:ln>
        </p:spPr>
        <p:txBody>
          <a:bodyPr anchorCtr="0" anchor="t" bIns="0" lIns="0" spcFirstLastPara="1" rIns="0" wrap="square" tIns="0">
            <a:spAutoFit/>
          </a:bodyPr>
          <a:lstStyle/>
          <a:p>
            <a:pPr indent="0" lvl="0" marL="0" marR="0" rtl="0" algn="r">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01</a:t>
            </a:r>
            <a:endParaRPr/>
          </a:p>
          <a:p>
            <a:pPr indent="0" lvl="0" marL="0" marR="0" rtl="0" algn="r">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02</a:t>
            </a:r>
            <a:endParaRPr/>
          </a:p>
          <a:p>
            <a:pPr indent="0" lvl="0" marL="0" marR="0" rtl="0" algn="r">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03</a:t>
            </a:r>
            <a:endParaRPr/>
          </a:p>
          <a:p>
            <a:pPr indent="0" lvl="0" marL="0" marR="0" rtl="0" algn="r">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04</a:t>
            </a:r>
            <a:endParaRPr/>
          </a:p>
          <a:p>
            <a:pPr indent="0" lvl="0" marL="0" marR="0" rtl="0" algn="r">
              <a:lnSpc>
                <a:spcPct val="182020"/>
              </a:lnSpc>
              <a:spcBef>
                <a:spcPts val="0"/>
              </a:spcBef>
              <a:spcAft>
                <a:spcPts val="0"/>
              </a:spcAft>
              <a:buNone/>
            </a:pPr>
            <a:r>
              <a:t/>
            </a:r>
            <a:endParaRPr b="0" i="0" sz="3999" u="none" cap="none" strike="noStrike">
              <a:solidFill>
                <a:srgbClr val="FF914D"/>
              </a:solidFill>
              <a:latin typeface="Courier Prime"/>
              <a:ea typeface="Courier Prime"/>
              <a:cs typeface="Courier Prime"/>
              <a:sym typeface="Courier Prime"/>
            </a:endParaRPr>
          </a:p>
          <a:p>
            <a:pPr indent="0" lvl="0" marL="0" marR="0" rtl="0" algn="r">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06</a:t>
            </a:r>
            <a:endParaRPr/>
          </a:p>
          <a:p>
            <a:pPr indent="0" lvl="0" marL="0" marR="0" rtl="0" algn="r">
              <a:lnSpc>
                <a:spcPct val="182020"/>
              </a:lnSpc>
              <a:spcBef>
                <a:spcPts val="0"/>
              </a:spcBef>
              <a:spcAft>
                <a:spcPts val="0"/>
              </a:spcAft>
              <a:buNone/>
            </a:pPr>
            <a:r>
              <a:t/>
            </a:r>
            <a:endParaRPr b="0" i="0" sz="3999" u="none" cap="none" strike="noStrike">
              <a:solidFill>
                <a:srgbClr val="FF914D"/>
              </a:solidFill>
              <a:latin typeface="Courier Prime"/>
              <a:ea typeface="Courier Prime"/>
              <a:cs typeface="Courier Prime"/>
              <a:sym typeface="Courier Prim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111" name="Shape 111"/>
        <p:cNvGrpSpPr/>
        <p:nvPr/>
      </p:nvGrpSpPr>
      <p:grpSpPr>
        <a:xfrm>
          <a:off x="0" y="0"/>
          <a:ext cx="0" cy="0"/>
          <a:chOff x="0" y="0"/>
          <a:chExt cx="0" cy="0"/>
        </a:xfrm>
      </p:grpSpPr>
      <p:sp>
        <p:nvSpPr>
          <p:cNvPr id="112" name="Google Shape;112;p4"/>
          <p:cNvSpPr/>
          <p:nvPr/>
        </p:nvSpPr>
        <p:spPr>
          <a:xfrm>
            <a:off x="-875801" y="3440415"/>
            <a:ext cx="5285131" cy="7235825"/>
          </a:xfrm>
          <a:custGeom>
            <a:rect b="b" l="l" r="r" t="t"/>
            <a:pathLst>
              <a:path extrusionOk="0" h="7235825" w="5285131">
                <a:moveTo>
                  <a:pt x="0" y="0"/>
                </a:moveTo>
                <a:lnTo>
                  <a:pt x="5285131" y="0"/>
                </a:lnTo>
                <a:lnTo>
                  <a:pt x="5285131" y="7235825"/>
                </a:lnTo>
                <a:lnTo>
                  <a:pt x="0" y="7235825"/>
                </a:lnTo>
                <a:lnTo>
                  <a:pt x="0" y="0"/>
                </a:lnTo>
                <a:close/>
              </a:path>
            </a:pathLst>
          </a:custGeom>
          <a:blipFill rotWithShape="1">
            <a:blip r:embed="rId3">
              <a:alphaModFix/>
            </a:blip>
            <a:stretch>
              <a:fillRect b="0" l="0" r="0" t="0"/>
            </a:stretch>
          </a:blipFill>
          <a:ln>
            <a:noFill/>
          </a:ln>
        </p:spPr>
      </p:sp>
      <p:sp>
        <p:nvSpPr>
          <p:cNvPr id="113" name="Google Shape;113;p4"/>
          <p:cNvSpPr txBox="1"/>
          <p:nvPr/>
        </p:nvSpPr>
        <p:spPr>
          <a:xfrm>
            <a:off x="863910" y="1057275"/>
            <a:ext cx="17153308" cy="95437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0" i="0" lang="en-US" sz="6500" u="none" cap="none" strike="noStrike">
                <a:solidFill>
                  <a:srgbClr val="FFFFFF"/>
                </a:solidFill>
                <a:latin typeface="Courier Prime"/>
                <a:ea typeface="Courier Prime"/>
                <a:cs typeface="Courier Prime"/>
                <a:sym typeface="Courier Prime"/>
              </a:rPr>
              <a:t>COMPETENCIA(S) QUE DESARROLLAREMOS</a:t>
            </a:r>
            <a:endParaRPr/>
          </a:p>
        </p:txBody>
      </p:sp>
      <p:sp>
        <p:nvSpPr>
          <p:cNvPr id="114" name="Google Shape;114;p4"/>
          <p:cNvSpPr txBox="1"/>
          <p:nvPr/>
        </p:nvSpPr>
        <p:spPr>
          <a:xfrm>
            <a:off x="3165463" y="2965450"/>
            <a:ext cx="14550423" cy="4270375"/>
          </a:xfrm>
          <a:prstGeom prst="rect">
            <a:avLst/>
          </a:prstGeom>
          <a:noFill/>
          <a:ln>
            <a:noFill/>
          </a:ln>
        </p:spPr>
        <p:txBody>
          <a:bodyPr anchorCtr="0" anchor="t" bIns="0" lIns="0" spcFirstLastPara="1" rIns="0" wrap="square" tIns="0">
            <a:spAutoFit/>
          </a:bodyPr>
          <a:lstStyle/>
          <a:p>
            <a:pPr indent="0" lvl="0" marL="0" marR="0" rtl="0" algn="l">
              <a:lnSpc>
                <a:spcPct val="136000"/>
              </a:lnSpc>
              <a:spcBef>
                <a:spcPts val="0"/>
              </a:spcBef>
              <a:spcAft>
                <a:spcPts val="0"/>
              </a:spcAft>
              <a:buNone/>
            </a:pPr>
            <a:r>
              <a:rPr b="0" i="0" lang="en-US" sz="5000" u="none" cap="none" strike="noStrike">
                <a:solidFill>
                  <a:srgbClr val="FF914D"/>
                </a:solidFill>
                <a:latin typeface="Courier Prime"/>
                <a:ea typeface="Courier Prime"/>
                <a:cs typeface="Courier Prime"/>
                <a:sym typeface="Courier Prime"/>
              </a:rPr>
              <a:t>Analiza la arquitectura y organización de una computadora mediante el estudio de sus componentes de hardware para comprender el funcionamiento integral de un sistema.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118" name="Shape 118"/>
        <p:cNvGrpSpPr/>
        <p:nvPr/>
      </p:nvGrpSpPr>
      <p:grpSpPr>
        <a:xfrm>
          <a:off x="0" y="0"/>
          <a:ext cx="0" cy="0"/>
          <a:chOff x="0" y="0"/>
          <a:chExt cx="0" cy="0"/>
        </a:xfrm>
      </p:grpSpPr>
      <p:sp>
        <p:nvSpPr>
          <p:cNvPr id="119" name="Google Shape;119;p5"/>
          <p:cNvSpPr/>
          <p:nvPr/>
        </p:nvSpPr>
        <p:spPr>
          <a:xfrm>
            <a:off x="624550" y="2693750"/>
            <a:ext cx="10450598" cy="6885775"/>
          </a:xfrm>
          <a:custGeom>
            <a:rect b="b" l="l" r="r" t="t"/>
            <a:pathLst>
              <a:path extrusionOk="0" h="2411830" w="3518720">
                <a:moveTo>
                  <a:pt x="0" y="0"/>
                </a:moveTo>
                <a:lnTo>
                  <a:pt x="3518720" y="0"/>
                </a:lnTo>
                <a:lnTo>
                  <a:pt x="3518720" y="2411830"/>
                </a:lnTo>
                <a:lnTo>
                  <a:pt x="0" y="2411830"/>
                </a:lnTo>
                <a:close/>
              </a:path>
            </a:pathLst>
          </a:custGeom>
          <a:solidFill>
            <a:srgbClr val="2D2D35"/>
          </a:solidFill>
          <a:ln>
            <a:noFill/>
          </a:ln>
        </p:spPr>
      </p:sp>
      <p:cxnSp>
        <p:nvCxnSpPr>
          <p:cNvPr id="120" name="Google Shape;120;p5"/>
          <p:cNvCxnSpPr/>
          <p:nvPr/>
        </p:nvCxnSpPr>
        <p:spPr>
          <a:xfrm>
            <a:off x="688525" y="2731184"/>
            <a:ext cx="0" cy="6810900"/>
          </a:xfrm>
          <a:prstGeom prst="straightConnector1">
            <a:avLst/>
          </a:prstGeom>
          <a:noFill/>
          <a:ln cap="flat" cmpd="sng" w="76200">
            <a:solidFill>
              <a:srgbClr val="737373"/>
            </a:solidFill>
            <a:prstDash val="solid"/>
            <a:round/>
            <a:headEnd len="sm" w="sm" type="none"/>
            <a:tailEnd len="sm" w="sm" type="none"/>
          </a:ln>
        </p:spPr>
      </p:cxnSp>
      <p:sp>
        <p:nvSpPr>
          <p:cNvPr id="121" name="Google Shape;121;p5"/>
          <p:cNvSpPr/>
          <p:nvPr/>
        </p:nvSpPr>
        <p:spPr>
          <a:xfrm>
            <a:off x="11185472" y="2343406"/>
            <a:ext cx="6968569" cy="6193316"/>
          </a:xfrm>
          <a:custGeom>
            <a:rect b="b" l="l" r="r" t="t"/>
            <a:pathLst>
              <a:path extrusionOk="0" h="6193316" w="6968569">
                <a:moveTo>
                  <a:pt x="0" y="0"/>
                </a:moveTo>
                <a:lnTo>
                  <a:pt x="6968570" y="0"/>
                </a:lnTo>
                <a:lnTo>
                  <a:pt x="6968570" y="6193316"/>
                </a:lnTo>
                <a:lnTo>
                  <a:pt x="0" y="6193316"/>
                </a:lnTo>
                <a:lnTo>
                  <a:pt x="0" y="0"/>
                </a:lnTo>
                <a:close/>
              </a:path>
            </a:pathLst>
          </a:custGeom>
          <a:blipFill rotWithShape="1">
            <a:blip r:embed="rId3">
              <a:alphaModFix/>
            </a:blip>
            <a:stretch>
              <a:fillRect b="0" l="0" r="0" t="0"/>
            </a:stretch>
          </a:blipFill>
          <a:ln>
            <a:noFill/>
          </a:ln>
        </p:spPr>
      </p:sp>
      <p:sp>
        <p:nvSpPr>
          <p:cNvPr id="122" name="Google Shape;122;p5"/>
          <p:cNvSpPr txBox="1"/>
          <p:nvPr/>
        </p:nvSpPr>
        <p:spPr>
          <a:xfrm>
            <a:off x="1028700" y="1047750"/>
            <a:ext cx="7031406" cy="893391"/>
          </a:xfrm>
          <a:prstGeom prst="rect">
            <a:avLst/>
          </a:prstGeom>
          <a:noFill/>
          <a:ln>
            <a:noFill/>
          </a:ln>
        </p:spPr>
        <p:txBody>
          <a:bodyPr anchorCtr="0" anchor="t" bIns="0" lIns="0" spcFirstLastPara="1" rIns="0" wrap="square" tIns="0">
            <a:spAutoFit/>
          </a:bodyPr>
          <a:lstStyle/>
          <a:p>
            <a:pPr indent="0" lvl="0" marL="0" marR="0" rtl="0" algn="l">
              <a:lnSpc>
                <a:spcPct val="113983"/>
              </a:lnSpc>
              <a:spcBef>
                <a:spcPts val="0"/>
              </a:spcBef>
              <a:spcAft>
                <a:spcPts val="0"/>
              </a:spcAft>
              <a:buNone/>
            </a:pPr>
            <a:r>
              <a:rPr b="0" i="0" lang="en-US" sz="6000" u="none" cap="none" strike="noStrike">
                <a:solidFill>
                  <a:srgbClr val="FFFFFF"/>
                </a:solidFill>
                <a:latin typeface="Courier Prime"/>
                <a:ea typeface="Courier Prime"/>
                <a:cs typeface="Courier Prime"/>
                <a:sym typeface="Courier Prime"/>
              </a:rPr>
              <a:t>La computadora</a:t>
            </a:r>
            <a:endParaRPr/>
          </a:p>
        </p:txBody>
      </p:sp>
      <p:sp>
        <p:nvSpPr>
          <p:cNvPr id="123" name="Google Shape;123;p5"/>
          <p:cNvSpPr txBox="1"/>
          <p:nvPr/>
        </p:nvSpPr>
        <p:spPr>
          <a:xfrm>
            <a:off x="1509030" y="2914889"/>
            <a:ext cx="8524589" cy="614099"/>
          </a:xfrm>
          <a:prstGeom prst="rect">
            <a:avLst/>
          </a:prstGeom>
          <a:noFill/>
          <a:ln>
            <a:noFill/>
          </a:ln>
        </p:spPr>
        <p:txBody>
          <a:bodyPr anchorCtr="0" anchor="t" bIns="0" lIns="0" spcFirstLastPara="1" rIns="0" wrap="square" tIns="0">
            <a:spAutoFit/>
          </a:bodyPr>
          <a:lstStyle/>
          <a:p>
            <a:pPr indent="0" lvl="0" marL="0" marR="0" rtl="0" algn="l">
              <a:lnSpc>
                <a:spcPct val="121005"/>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Definicion</a:t>
            </a:r>
            <a:endParaRPr/>
          </a:p>
        </p:txBody>
      </p:sp>
      <p:sp>
        <p:nvSpPr>
          <p:cNvPr id="124" name="Google Shape;124;p5"/>
          <p:cNvSpPr txBox="1"/>
          <p:nvPr/>
        </p:nvSpPr>
        <p:spPr>
          <a:xfrm>
            <a:off x="950550" y="3764400"/>
            <a:ext cx="9972900" cy="62673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2900" u="none" cap="none" strike="noStrike">
                <a:solidFill>
                  <a:srgbClr val="FFFFFF"/>
                </a:solidFill>
                <a:latin typeface="Courier Prime"/>
                <a:ea typeface="Courier Prime"/>
                <a:cs typeface="Courier Prime"/>
                <a:sym typeface="Courier Prime"/>
              </a:rPr>
              <a:t>Una computadora es una máquina electrónica digital y programable diseñada para procesar datos y convertirlos en información útil. Su funcionamiento se basa en recibir datos de entrada (input), procesarlos siguiendo un conjunto de instrucciones (un programa) y generar un resultado o salida (output).</a:t>
            </a:r>
            <a:endParaRPr sz="2900"/>
          </a:p>
          <a:p>
            <a:pPr indent="0" lvl="0" marL="0" marR="0" rtl="0" algn="l">
              <a:lnSpc>
                <a:spcPct val="121000"/>
              </a:lnSpc>
              <a:spcBef>
                <a:spcPts val="0"/>
              </a:spcBef>
              <a:spcAft>
                <a:spcPts val="0"/>
              </a:spcAft>
              <a:buNone/>
            </a:pPr>
            <a:r>
              <a:t/>
            </a:r>
            <a:endParaRPr b="0" i="0" sz="2900" u="none" cap="none" strike="noStrike">
              <a:solidFill>
                <a:srgbClr val="FFFFFF"/>
              </a:solidFill>
              <a:latin typeface="Courier Prime"/>
              <a:ea typeface="Courier Prime"/>
              <a:cs typeface="Courier Prime"/>
              <a:sym typeface="Courier Prime"/>
            </a:endParaRPr>
          </a:p>
          <a:p>
            <a:pPr indent="0" lvl="0" marL="0" marR="0" rtl="0" algn="l">
              <a:lnSpc>
                <a:spcPct val="121000"/>
              </a:lnSpc>
              <a:spcBef>
                <a:spcPts val="0"/>
              </a:spcBef>
              <a:spcAft>
                <a:spcPts val="0"/>
              </a:spcAft>
              <a:buNone/>
            </a:pPr>
            <a:r>
              <a:rPr b="0" i="0" lang="en-US" sz="2900" u="none" cap="none" strike="noStrike">
                <a:solidFill>
                  <a:srgbClr val="FFFFFF"/>
                </a:solidFill>
                <a:latin typeface="Courier Prime"/>
                <a:ea typeface="Courier Prime"/>
                <a:cs typeface="Courier Prime"/>
                <a:sym typeface="Courier Prime"/>
              </a:rPr>
              <a:t>Está compuesta por dos elementos fundamentales.</a:t>
            </a:r>
            <a:endParaRPr sz="2900"/>
          </a:p>
          <a:p>
            <a:pPr indent="0" lvl="0" marL="0" marR="0" rtl="0" algn="l">
              <a:lnSpc>
                <a:spcPct val="90750"/>
              </a:lnSpc>
              <a:spcBef>
                <a:spcPts val="0"/>
              </a:spcBef>
              <a:spcAft>
                <a:spcPts val="0"/>
              </a:spcAft>
              <a:buNone/>
            </a:pPr>
            <a:r>
              <a:t/>
            </a:r>
            <a:endParaRPr b="0" i="0" sz="3000" u="none" cap="none" strike="noStrike">
              <a:solidFill>
                <a:srgbClr val="FFFFFF"/>
              </a:solidFill>
              <a:latin typeface="Courier Prime"/>
              <a:ea typeface="Courier Prime"/>
              <a:cs typeface="Courier Prime"/>
              <a:sym typeface="Courier Prime"/>
            </a:endParaRPr>
          </a:p>
          <a:p>
            <a:pPr indent="0" lvl="0" marL="0" marR="0" rtl="0" algn="l">
              <a:lnSpc>
                <a:spcPct val="90750"/>
              </a:lnSpc>
              <a:spcBef>
                <a:spcPts val="0"/>
              </a:spcBef>
              <a:spcAft>
                <a:spcPts val="0"/>
              </a:spcAft>
              <a:buNone/>
            </a:pPr>
            <a:r>
              <a:t/>
            </a:r>
            <a:endParaRPr b="0" i="0" sz="3200" u="none" cap="none" strike="noStrike">
              <a:solidFill>
                <a:srgbClr val="FFFFFF"/>
              </a:solidFill>
              <a:latin typeface="Courier Prime"/>
              <a:ea typeface="Courier Prime"/>
              <a:cs typeface="Courier Prime"/>
              <a:sym typeface="Courier Prim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128" name="Shape 128"/>
        <p:cNvGrpSpPr/>
        <p:nvPr/>
      </p:nvGrpSpPr>
      <p:grpSpPr>
        <a:xfrm>
          <a:off x="0" y="0"/>
          <a:ext cx="0" cy="0"/>
          <a:chOff x="0" y="0"/>
          <a:chExt cx="0" cy="0"/>
        </a:xfrm>
      </p:grpSpPr>
      <p:sp>
        <p:nvSpPr>
          <p:cNvPr id="129" name="Google Shape;129;p6"/>
          <p:cNvSpPr/>
          <p:nvPr/>
        </p:nvSpPr>
        <p:spPr>
          <a:xfrm>
            <a:off x="10282263" y="644007"/>
            <a:ext cx="6189496" cy="3482804"/>
          </a:xfrm>
          <a:custGeom>
            <a:rect b="b" l="l" r="r" t="t"/>
            <a:pathLst>
              <a:path extrusionOk="0" h="3482804" w="6189496">
                <a:moveTo>
                  <a:pt x="0" y="0"/>
                </a:moveTo>
                <a:lnTo>
                  <a:pt x="6189496" y="0"/>
                </a:lnTo>
                <a:lnTo>
                  <a:pt x="6189496" y="3482804"/>
                </a:lnTo>
                <a:lnTo>
                  <a:pt x="0" y="3482804"/>
                </a:lnTo>
                <a:lnTo>
                  <a:pt x="0" y="0"/>
                </a:lnTo>
                <a:close/>
              </a:path>
            </a:pathLst>
          </a:custGeom>
          <a:blipFill rotWithShape="1">
            <a:blip r:embed="rId3">
              <a:alphaModFix/>
            </a:blip>
            <a:stretch>
              <a:fillRect b="0" l="0" r="0" t="0"/>
            </a:stretch>
          </a:blipFill>
          <a:ln>
            <a:noFill/>
          </a:ln>
        </p:spPr>
      </p:sp>
      <p:sp>
        <p:nvSpPr>
          <p:cNvPr id="130" name="Google Shape;130;p6"/>
          <p:cNvSpPr/>
          <p:nvPr/>
        </p:nvSpPr>
        <p:spPr>
          <a:xfrm>
            <a:off x="1524114" y="4455751"/>
            <a:ext cx="5850513" cy="3398756"/>
          </a:xfrm>
          <a:custGeom>
            <a:rect b="b" l="l" r="r" t="t"/>
            <a:pathLst>
              <a:path extrusionOk="0" h="3398756" w="5850513">
                <a:moveTo>
                  <a:pt x="0" y="0"/>
                </a:moveTo>
                <a:lnTo>
                  <a:pt x="5850513" y="0"/>
                </a:lnTo>
                <a:lnTo>
                  <a:pt x="5850513" y="3398756"/>
                </a:lnTo>
                <a:lnTo>
                  <a:pt x="0" y="3398756"/>
                </a:lnTo>
                <a:lnTo>
                  <a:pt x="0" y="0"/>
                </a:lnTo>
                <a:close/>
              </a:path>
            </a:pathLst>
          </a:custGeom>
          <a:blipFill rotWithShape="1">
            <a:blip r:embed="rId4">
              <a:alphaModFix/>
            </a:blip>
            <a:stretch>
              <a:fillRect b="-543" l="0" r="-2214" t="0"/>
            </a:stretch>
          </a:blipFill>
          <a:ln>
            <a:noFill/>
          </a:ln>
        </p:spPr>
      </p:sp>
      <p:sp>
        <p:nvSpPr>
          <p:cNvPr id="131" name="Google Shape;131;p6"/>
          <p:cNvSpPr txBox="1"/>
          <p:nvPr/>
        </p:nvSpPr>
        <p:spPr>
          <a:xfrm>
            <a:off x="747047" y="516111"/>
            <a:ext cx="4966319" cy="742896"/>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0" i="0" lang="en-US" sz="5000" u="none" cap="none" strike="noStrike">
                <a:solidFill>
                  <a:srgbClr val="CB6CE6"/>
                </a:solidFill>
                <a:latin typeface="Courier Prime"/>
                <a:ea typeface="Courier Prime"/>
                <a:cs typeface="Courier Prime"/>
                <a:sym typeface="Courier Prime"/>
              </a:rPr>
              <a:t>Hardware</a:t>
            </a:r>
            <a:endParaRPr/>
          </a:p>
        </p:txBody>
      </p:sp>
      <p:sp>
        <p:nvSpPr>
          <p:cNvPr id="132" name="Google Shape;132;p6"/>
          <p:cNvSpPr txBox="1"/>
          <p:nvPr/>
        </p:nvSpPr>
        <p:spPr>
          <a:xfrm>
            <a:off x="12904118" y="4507364"/>
            <a:ext cx="3984600" cy="76950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0" i="0" lang="en-US" sz="5000" u="none" cap="none" strike="noStrike">
                <a:solidFill>
                  <a:srgbClr val="03989E"/>
                </a:solidFill>
                <a:latin typeface="Courier Prime"/>
                <a:ea typeface="Courier Prime"/>
                <a:cs typeface="Courier Prime"/>
                <a:sym typeface="Courier Prime"/>
              </a:rPr>
              <a:t>Software</a:t>
            </a:r>
            <a:endParaRPr/>
          </a:p>
        </p:txBody>
      </p:sp>
      <p:sp>
        <p:nvSpPr>
          <p:cNvPr id="133" name="Google Shape;133;p6"/>
          <p:cNvSpPr txBox="1"/>
          <p:nvPr/>
        </p:nvSpPr>
        <p:spPr>
          <a:xfrm>
            <a:off x="1730498" y="1507717"/>
            <a:ext cx="8524589" cy="2681334"/>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3500" u="none" cap="none" strike="noStrike">
                <a:solidFill>
                  <a:srgbClr val="FFFFFF"/>
                </a:solidFill>
                <a:latin typeface="Courier Prime"/>
                <a:ea typeface="Courier Prime"/>
                <a:cs typeface="Courier Prime"/>
                <a:sym typeface="Courier Prime"/>
              </a:rPr>
              <a:t>Son todos los componentes físicos y tangibles, como el procesador, la memoria, el disco duro, el teclado y el monitor.</a:t>
            </a:r>
            <a:endParaRPr/>
          </a:p>
        </p:txBody>
      </p:sp>
      <p:sp>
        <p:nvSpPr>
          <p:cNvPr id="134" name="Google Shape;134;p6"/>
          <p:cNvSpPr txBox="1"/>
          <p:nvPr/>
        </p:nvSpPr>
        <p:spPr>
          <a:xfrm>
            <a:off x="8095678" y="5361868"/>
            <a:ext cx="9969000" cy="24942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3500" u="none" cap="none" strike="noStrike">
                <a:solidFill>
                  <a:srgbClr val="FFFFFF"/>
                </a:solidFill>
                <a:latin typeface="Courier Prime"/>
                <a:ea typeface="Courier Prime"/>
                <a:cs typeface="Courier Prime"/>
                <a:sym typeface="Courier Prime"/>
              </a:rPr>
              <a:t>Son los componentes lógicos e intangibles, es decir, los programas, instrucciones y datos que le dicen al hardware qué hacer.</a:t>
            </a:r>
            <a:endParaRPr/>
          </a:p>
        </p:txBody>
      </p:sp>
      <p:sp>
        <p:nvSpPr>
          <p:cNvPr id="135" name="Google Shape;135;p6"/>
          <p:cNvSpPr txBox="1"/>
          <p:nvPr/>
        </p:nvSpPr>
        <p:spPr>
          <a:xfrm>
            <a:off x="1073409" y="8182023"/>
            <a:ext cx="16471800" cy="18426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3500" u="none" cap="none" strike="noStrike">
                <a:solidFill>
                  <a:srgbClr val="FFFFFF"/>
                </a:solidFill>
                <a:latin typeface="Courier Prime"/>
                <a:ea typeface="Courier Prime"/>
                <a:cs typeface="Courier Prime"/>
                <a:sym typeface="Courier Prime"/>
              </a:rPr>
              <a:t>La computadora es una herramienta universal capaz de realizar una enorme variedad de tareas, desde simples cálculos hasta complejas simulaciones.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139" name="Shape 139"/>
        <p:cNvGrpSpPr/>
        <p:nvPr/>
      </p:nvGrpSpPr>
      <p:grpSpPr>
        <a:xfrm>
          <a:off x="0" y="0"/>
          <a:ext cx="0" cy="0"/>
          <a:chOff x="0" y="0"/>
          <a:chExt cx="0" cy="0"/>
        </a:xfrm>
      </p:grpSpPr>
      <p:sp>
        <p:nvSpPr>
          <p:cNvPr id="140" name="Google Shape;140;p7"/>
          <p:cNvSpPr/>
          <p:nvPr/>
        </p:nvSpPr>
        <p:spPr>
          <a:xfrm>
            <a:off x="1338716" y="2451159"/>
            <a:ext cx="16128260" cy="6676842"/>
          </a:xfrm>
          <a:custGeom>
            <a:rect b="b" l="l" r="r" t="t"/>
            <a:pathLst>
              <a:path extrusionOk="0" h="2642074" w="6382067">
                <a:moveTo>
                  <a:pt x="0" y="0"/>
                </a:moveTo>
                <a:lnTo>
                  <a:pt x="6382067" y="0"/>
                </a:lnTo>
                <a:lnTo>
                  <a:pt x="6382067" y="2642074"/>
                </a:lnTo>
                <a:lnTo>
                  <a:pt x="0" y="2642074"/>
                </a:lnTo>
                <a:close/>
              </a:path>
            </a:pathLst>
          </a:custGeom>
          <a:solidFill>
            <a:srgbClr val="2D2D35"/>
          </a:solidFill>
          <a:ln>
            <a:noFill/>
          </a:ln>
        </p:spPr>
      </p:sp>
      <p:sp>
        <p:nvSpPr>
          <p:cNvPr id="141" name="Google Shape;141;p7"/>
          <p:cNvSpPr txBox="1"/>
          <p:nvPr/>
        </p:nvSpPr>
        <p:spPr>
          <a:xfrm>
            <a:off x="1919892" y="2890163"/>
            <a:ext cx="6261698" cy="605128"/>
          </a:xfrm>
          <a:prstGeom prst="rect">
            <a:avLst/>
          </a:prstGeom>
          <a:noFill/>
          <a:ln>
            <a:noFill/>
          </a:ln>
        </p:spPr>
        <p:txBody>
          <a:bodyPr anchorCtr="0" anchor="t" bIns="0" lIns="0" spcFirstLastPara="1" rIns="0" wrap="square" tIns="0">
            <a:spAutoFit/>
          </a:bodyPr>
          <a:lstStyle/>
          <a:p>
            <a:pPr indent="0" lvl="0" marL="0" marR="0" rtl="0" algn="l">
              <a:lnSpc>
                <a:spcPct val="119004"/>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Evolucion</a:t>
            </a:r>
            <a:endParaRPr/>
          </a:p>
        </p:txBody>
      </p:sp>
      <p:sp>
        <p:nvSpPr>
          <p:cNvPr id="142" name="Google Shape;142;p7"/>
          <p:cNvSpPr txBox="1"/>
          <p:nvPr/>
        </p:nvSpPr>
        <p:spPr>
          <a:xfrm>
            <a:off x="1919892" y="3743125"/>
            <a:ext cx="15339300" cy="4209600"/>
          </a:xfrm>
          <a:prstGeom prst="rect">
            <a:avLst/>
          </a:prstGeom>
          <a:noFill/>
          <a:ln>
            <a:noFill/>
          </a:ln>
        </p:spPr>
        <p:txBody>
          <a:bodyPr anchorCtr="0" anchor="t" bIns="0" lIns="0" spcFirstLastPara="1" rIns="0" wrap="square" tIns="0">
            <a:spAutoFit/>
          </a:bodyPr>
          <a:lstStyle/>
          <a:p>
            <a:pPr indent="0" lvl="0" marL="0" marR="0" rtl="0" algn="l">
              <a:lnSpc>
                <a:spcPct val="136997"/>
              </a:lnSpc>
              <a:spcBef>
                <a:spcPts val="0"/>
              </a:spcBef>
              <a:spcAft>
                <a:spcPts val="0"/>
              </a:spcAft>
              <a:buNone/>
            </a:pPr>
            <a:r>
              <a:rPr b="0" i="0" lang="en-US" sz="3484" u="none" cap="none" strike="noStrike">
                <a:solidFill>
                  <a:srgbClr val="FFFFFF"/>
                </a:solidFill>
                <a:latin typeface="Courier Prime"/>
                <a:ea typeface="Courier Prime"/>
                <a:cs typeface="Courier Prime"/>
                <a:sym typeface="Courier Prime"/>
              </a:rPr>
              <a:t>A través de la historia la computadora a tenido avances tecnológicos que ha transformado estas máquinas desde dispositivos gigantes y lentos hasta los aparatos pequeños y </a:t>
            </a:r>
            <a:r>
              <a:rPr lang="en-US" sz="3484">
                <a:solidFill>
                  <a:srgbClr val="FFFFFF"/>
                </a:solidFill>
                <a:latin typeface="Courier Prime"/>
                <a:ea typeface="Courier Prime"/>
                <a:cs typeface="Courier Prime"/>
                <a:sym typeface="Courier Prime"/>
              </a:rPr>
              <a:t>ultra potentes</a:t>
            </a:r>
            <a:r>
              <a:rPr b="0" i="0" lang="en-US" sz="3484" u="none" cap="none" strike="noStrike">
                <a:solidFill>
                  <a:srgbClr val="FFFFFF"/>
                </a:solidFill>
                <a:latin typeface="Courier Prime"/>
                <a:ea typeface="Courier Prime"/>
                <a:cs typeface="Courier Prime"/>
                <a:sym typeface="Courier Prime"/>
              </a:rPr>
              <a:t> que conocemos hoy. Generalmente la evolución se divide en generaciones, marcadas por el cambio en la tecnología fundamental de su construcción.</a:t>
            </a:r>
            <a:endParaRPr/>
          </a:p>
        </p:txBody>
      </p:sp>
      <p:sp>
        <p:nvSpPr>
          <p:cNvPr id="143" name="Google Shape;143;p7"/>
          <p:cNvSpPr txBox="1"/>
          <p:nvPr/>
        </p:nvSpPr>
        <p:spPr>
          <a:xfrm>
            <a:off x="1317001" y="769722"/>
            <a:ext cx="7031406" cy="893391"/>
          </a:xfrm>
          <a:prstGeom prst="rect">
            <a:avLst/>
          </a:prstGeom>
          <a:noFill/>
          <a:ln>
            <a:noFill/>
          </a:ln>
        </p:spPr>
        <p:txBody>
          <a:bodyPr anchorCtr="0" anchor="t" bIns="0" lIns="0" spcFirstLastPara="1" rIns="0" wrap="square" tIns="0">
            <a:spAutoFit/>
          </a:bodyPr>
          <a:lstStyle/>
          <a:p>
            <a:pPr indent="0" lvl="0" marL="0" marR="0" rtl="0" algn="l">
              <a:lnSpc>
                <a:spcPct val="113983"/>
              </a:lnSpc>
              <a:spcBef>
                <a:spcPts val="0"/>
              </a:spcBef>
              <a:spcAft>
                <a:spcPts val="0"/>
              </a:spcAft>
              <a:buNone/>
            </a:pPr>
            <a:r>
              <a:rPr b="0" i="0" lang="en-US" sz="6000" u="none" cap="none" strike="noStrike">
                <a:solidFill>
                  <a:srgbClr val="FFFFFF"/>
                </a:solidFill>
                <a:latin typeface="Courier Prime"/>
                <a:ea typeface="Courier Prime"/>
                <a:cs typeface="Courier Prime"/>
                <a:sym typeface="Courier Prime"/>
              </a:rPr>
              <a:t>La computadora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147" name="Shape 147"/>
        <p:cNvGrpSpPr/>
        <p:nvPr/>
      </p:nvGrpSpPr>
      <p:grpSpPr>
        <a:xfrm>
          <a:off x="0" y="0"/>
          <a:ext cx="0" cy="0"/>
          <a:chOff x="0" y="0"/>
          <a:chExt cx="0" cy="0"/>
        </a:xfrm>
      </p:grpSpPr>
      <p:sp>
        <p:nvSpPr>
          <p:cNvPr id="148" name="Google Shape;148;p8"/>
          <p:cNvSpPr/>
          <p:nvPr/>
        </p:nvSpPr>
        <p:spPr>
          <a:xfrm>
            <a:off x="7669700" y="5938349"/>
            <a:ext cx="5180052" cy="3701625"/>
          </a:xfrm>
          <a:custGeom>
            <a:rect b="b" l="l" r="r" t="t"/>
            <a:pathLst>
              <a:path extrusionOk="0" h="3701625" w="5180052">
                <a:moveTo>
                  <a:pt x="0" y="0"/>
                </a:moveTo>
                <a:lnTo>
                  <a:pt x="5180052" y="0"/>
                </a:lnTo>
                <a:lnTo>
                  <a:pt x="5180052" y="3701625"/>
                </a:lnTo>
                <a:lnTo>
                  <a:pt x="0" y="3701625"/>
                </a:lnTo>
                <a:lnTo>
                  <a:pt x="0" y="0"/>
                </a:lnTo>
                <a:close/>
              </a:path>
            </a:pathLst>
          </a:custGeom>
          <a:blipFill rotWithShape="1">
            <a:blip r:embed="rId3">
              <a:alphaModFix/>
            </a:blip>
            <a:stretch>
              <a:fillRect b="0" l="0" r="0" t="0"/>
            </a:stretch>
          </a:blipFill>
          <a:ln>
            <a:noFill/>
          </a:ln>
        </p:spPr>
      </p:sp>
      <p:sp>
        <p:nvSpPr>
          <p:cNvPr id="149" name="Google Shape;149;p8"/>
          <p:cNvSpPr/>
          <p:nvPr/>
        </p:nvSpPr>
        <p:spPr>
          <a:xfrm>
            <a:off x="13165332" y="5919340"/>
            <a:ext cx="4960846" cy="3720635"/>
          </a:xfrm>
          <a:custGeom>
            <a:rect b="b" l="l" r="r" t="t"/>
            <a:pathLst>
              <a:path extrusionOk="0" h="3720635" w="4960846">
                <a:moveTo>
                  <a:pt x="0" y="0"/>
                </a:moveTo>
                <a:lnTo>
                  <a:pt x="4960846" y="0"/>
                </a:lnTo>
                <a:lnTo>
                  <a:pt x="4960846" y="3720634"/>
                </a:lnTo>
                <a:lnTo>
                  <a:pt x="0" y="3720634"/>
                </a:lnTo>
                <a:lnTo>
                  <a:pt x="0" y="0"/>
                </a:lnTo>
                <a:close/>
              </a:path>
            </a:pathLst>
          </a:custGeom>
          <a:blipFill rotWithShape="1">
            <a:blip r:embed="rId4">
              <a:alphaModFix/>
            </a:blip>
            <a:stretch>
              <a:fillRect b="0" l="0" r="0" t="0"/>
            </a:stretch>
          </a:blipFill>
          <a:ln>
            <a:noFill/>
          </a:ln>
        </p:spPr>
      </p:sp>
      <p:sp>
        <p:nvSpPr>
          <p:cNvPr id="150" name="Google Shape;150;p8"/>
          <p:cNvSpPr txBox="1"/>
          <p:nvPr/>
        </p:nvSpPr>
        <p:spPr>
          <a:xfrm>
            <a:off x="1028700" y="1047750"/>
            <a:ext cx="15845306" cy="582930"/>
          </a:xfrm>
          <a:prstGeom prst="rect">
            <a:avLst/>
          </a:prstGeom>
          <a:noFill/>
          <a:ln>
            <a:noFill/>
          </a:ln>
        </p:spPr>
        <p:txBody>
          <a:bodyPr anchorCtr="0" anchor="t" bIns="0" lIns="0" spcFirstLastPara="1" rIns="0" wrap="square" tIns="0">
            <a:spAutoFit/>
          </a:bodyPr>
          <a:lstStyle/>
          <a:p>
            <a:pPr indent="0" lvl="0" marL="0" marR="0" rtl="0" algn="l">
              <a:lnSpc>
                <a:spcPct val="114003"/>
              </a:lnSpc>
              <a:spcBef>
                <a:spcPts val="0"/>
              </a:spcBef>
              <a:spcAft>
                <a:spcPts val="0"/>
              </a:spcAft>
              <a:buNone/>
            </a:pPr>
            <a:r>
              <a:rPr b="0" i="0" lang="en-US" sz="3999" u="none" cap="none" strike="noStrike">
                <a:solidFill>
                  <a:srgbClr val="FFFFFF"/>
                </a:solidFill>
                <a:latin typeface="Courier Prime"/>
                <a:ea typeface="Courier Prime"/>
                <a:cs typeface="Courier Prime"/>
                <a:sym typeface="Courier Prime"/>
              </a:rPr>
              <a:t>1ª Generación (1940-1956) - Válvulas de Vacío</a:t>
            </a:r>
            <a:endParaRPr/>
          </a:p>
        </p:txBody>
      </p:sp>
      <p:sp>
        <p:nvSpPr>
          <p:cNvPr id="151" name="Google Shape;151;p8"/>
          <p:cNvSpPr txBox="1"/>
          <p:nvPr/>
        </p:nvSpPr>
        <p:spPr>
          <a:xfrm>
            <a:off x="598444" y="3143962"/>
            <a:ext cx="5365535" cy="133587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200" u="none" cap="none" strike="noStrike">
                <a:solidFill>
                  <a:srgbClr val="FFFFFF"/>
                </a:solidFill>
                <a:latin typeface="Courier Prime"/>
                <a:ea typeface="Courier Prime"/>
                <a:cs typeface="Courier Prime"/>
                <a:sym typeface="Courier Prime"/>
              </a:rPr>
              <a:t>Usaban tubos o válvulas de vacío para procesar información.</a:t>
            </a:r>
            <a:endParaRPr/>
          </a:p>
        </p:txBody>
      </p:sp>
      <p:sp>
        <p:nvSpPr>
          <p:cNvPr id="152" name="Google Shape;152;p8"/>
          <p:cNvSpPr txBox="1"/>
          <p:nvPr/>
        </p:nvSpPr>
        <p:spPr>
          <a:xfrm>
            <a:off x="7106700" y="3143950"/>
            <a:ext cx="10798800" cy="2118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200" u="none" cap="none" strike="noStrike">
                <a:solidFill>
                  <a:srgbClr val="FFFFFF"/>
                </a:solidFill>
                <a:latin typeface="Courier Prime"/>
                <a:ea typeface="Courier Prime"/>
                <a:cs typeface="Courier Prime"/>
                <a:sym typeface="Courier Prime"/>
              </a:rPr>
              <a:t>Eran enormes (ocupaban habitaciones enteras), muy costosas, consumían muchísima energía y eran poco fiables (se averiaban constantemente).</a:t>
            </a:r>
            <a:endParaRPr/>
          </a:p>
        </p:txBody>
      </p:sp>
      <p:sp>
        <p:nvSpPr>
          <p:cNvPr id="153" name="Google Shape;153;p8"/>
          <p:cNvSpPr txBox="1"/>
          <p:nvPr/>
        </p:nvSpPr>
        <p:spPr>
          <a:xfrm>
            <a:off x="598444" y="7166391"/>
            <a:ext cx="6755677" cy="1773973"/>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200" u="none" cap="none" strike="noStrike">
                <a:solidFill>
                  <a:srgbClr val="FFFFFF"/>
                </a:solidFill>
                <a:latin typeface="Courier Prime"/>
                <a:ea typeface="Courier Prime"/>
                <a:cs typeface="Courier Prime"/>
                <a:sym typeface="Courier Prime"/>
              </a:rPr>
              <a:t>Cálculos balísticos militares (ENIAC), censos y primeras investigaciones científicas.</a:t>
            </a:r>
            <a:endParaRPr/>
          </a:p>
        </p:txBody>
      </p:sp>
      <p:sp>
        <p:nvSpPr>
          <p:cNvPr id="154" name="Google Shape;154;p8"/>
          <p:cNvSpPr txBox="1"/>
          <p:nvPr/>
        </p:nvSpPr>
        <p:spPr>
          <a:xfrm>
            <a:off x="598444" y="2192346"/>
            <a:ext cx="3310430" cy="847117"/>
          </a:xfrm>
          <a:prstGeom prst="rect">
            <a:avLst/>
          </a:prstGeom>
          <a:noFill/>
          <a:ln>
            <a:noFill/>
          </a:ln>
        </p:spPr>
        <p:txBody>
          <a:bodyPr anchorCtr="0" anchor="t" bIns="0" lIns="0" spcFirstLastPara="1" rIns="0" wrap="square" tIns="0">
            <a:spAutoFit/>
          </a:bodyPr>
          <a:lstStyle/>
          <a:p>
            <a:pPr indent="0" lvl="0" marL="0" marR="0" rtl="0" algn="l">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Tecnología</a:t>
            </a:r>
            <a:endParaRPr/>
          </a:p>
        </p:txBody>
      </p:sp>
      <p:sp>
        <p:nvSpPr>
          <p:cNvPr id="155" name="Google Shape;155;p8"/>
          <p:cNvSpPr txBox="1"/>
          <p:nvPr/>
        </p:nvSpPr>
        <p:spPr>
          <a:xfrm>
            <a:off x="7106700" y="2192346"/>
            <a:ext cx="5244942" cy="847117"/>
          </a:xfrm>
          <a:prstGeom prst="rect">
            <a:avLst/>
          </a:prstGeom>
          <a:noFill/>
          <a:ln>
            <a:noFill/>
          </a:ln>
        </p:spPr>
        <p:txBody>
          <a:bodyPr anchorCtr="0" anchor="t" bIns="0" lIns="0" spcFirstLastPara="1" rIns="0" wrap="square" tIns="0">
            <a:spAutoFit/>
          </a:bodyPr>
          <a:lstStyle/>
          <a:p>
            <a:pPr indent="0" lvl="0" marL="0" marR="0" rtl="0" algn="l">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Características</a:t>
            </a:r>
            <a:endParaRPr/>
          </a:p>
        </p:txBody>
      </p:sp>
      <p:sp>
        <p:nvSpPr>
          <p:cNvPr id="156" name="Google Shape;156;p8"/>
          <p:cNvSpPr txBox="1"/>
          <p:nvPr/>
        </p:nvSpPr>
        <p:spPr>
          <a:xfrm>
            <a:off x="598444" y="6109723"/>
            <a:ext cx="1167193" cy="847117"/>
          </a:xfrm>
          <a:prstGeom prst="rect">
            <a:avLst/>
          </a:prstGeom>
          <a:noFill/>
          <a:ln>
            <a:noFill/>
          </a:ln>
        </p:spPr>
        <p:txBody>
          <a:bodyPr anchorCtr="0" anchor="t" bIns="0" lIns="0" spcFirstLastPara="1" rIns="0" wrap="square" tIns="0">
            <a:spAutoFit/>
          </a:bodyPr>
          <a:lstStyle/>
          <a:p>
            <a:pPr indent="0" lvl="0" marL="0" marR="0" rtl="0" algn="l">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Uso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160" name="Shape 160"/>
        <p:cNvGrpSpPr/>
        <p:nvPr/>
      </p:nvGrpSpPr>
      <p:grpSpPr>
        <a:xfrm>
          <a:off x="0" y="0"/>
          <a:ext cx="0" cy="0"/>
          <a:chOff x="0" y="0"/>
          <a:chExt cx="0" cy="0"/>
        </a:xfrm>
      </p:grpSpPr>
      <p:sp>
        <p:nvSpPr>
          <p:cNvPr id="161" name="Google Shape;161;p9"/>
          <p:cNvSpPr/>
          <p:nvPr/>
        </p:nvSpPr>
        <p:spPr>
          <a:xfrm>
            <a:off x="1028700" y="5680900"/>
            <a:ext cx="5208013" cy="3939152"/>
          </a:xfrm>
          <a:custGeom>
            <a:rect b="b" l="l" r="r" t="t"/>
            <a:pathLst>
              <a:path extrusionOk="0" h="3939152" w="5208013">
                <a:moveTo>
                  <a:pt x="0" y="0"/>
                </a:moveTo>
                <a:lnTo>
                  <a:pt x="5208013" y="0"/>
                </a:lnTo>
                <a:lnTo>
                  <a:pt x="5208013" y="3939151"/>
                </a:lnTo>
                <a:lnTo>
                  <a:pt x="0" y="3939151"/>
                </a:lnTo>
                <a:lnTo>
                  <a:pt x="0" y="0"/>
                </a:lnTo>
                <a:close/>
              </a:path>
            </a:pathLst>
          </a:custGeom>
          <a:blipFill rotWithShape="1">
            <a:blip r:embed="rId3">
              <a:alphaModFix/>
            </a:blip>
            <a:stretch>
              <a:fillRect b="0" l="0" r="0" t="0"/>
            </a:stretch>
          </a:blipFill>
          <a:ln>
            <a:noFill/>
          </a:ln>
        </p:spPr>
      </p:sp>
      <p:sp>
        <p:nvSpPr>
          <p:cNvPr id="162" name="Google Shape;162;p9"/>
          <p:cNvSpPr/>
          <p:nvPr/>
        </p:nvSpPr>
        <p:spPr>
          <a:xfrm>
            <a:off x="6497445" y="6098611"/>
            <a:ext cx="4065155" cy="3521441"/>
          </a:xfrm>
          <a:custGeom>
            <a:rect b="b" l="l" r="r" t="t"/>
            <a:pathLst>
              <a:path extrusionOk="0" h="3521441" w="4065155">
                <a:moveTo>
                  <a:pt x="0" y="0"/>
                </a:moveTo>
                <a:lnTo>
                  <a:pt x="4065155" y="0"/>
                </a:lnTo>
                <a:lnTo>
                  <a:pt x="4065155" y="3521440"/>
                </a:lnTo>
                <a:lnTo>
                  <a:pt x="0" y="3521440"/>
                </a:lnTo>
                <a:lnTo>
                  <a:pt x="0" y="0"/>
                </a:lnTo>
                <a:close/>
              </a:path>
            </a:pathLst>
          </a:custGeom>
          <a:blipFill rotWithShape="1">
            <a:blip r:embed="rId4">
              <a:alphaModFix/>
            </a:blip>
            <a:stretch>
              <a:fillRect b="0" l="0" r="0" t="0"/>
            </a:stretch>
          </a:blipFill>
          <a:ln>
            <a:noFill/>
          </a:ln>
        </p:spPr>
      </p:sp>
      <p:sp>
        <p:nvSpPr>
          <p:cNvPr id="163" name="Google Shape;163;p9"/>
          <p:cNvSpPr txBox="1"/>
          <p:nvPr/>
        </p:nvSpPr>
        <p:spPr>
          <a:xfrm>
            <a:off x="1028700" y="1047750"/>
            <a:ext cx="15845306" cy="582930"/>
          </a:xfrm>
          <a:prstGeom prst="rect">
            <a:avLst/>
          </a:prstGeom>
          <a:noFill/>
          <a:ln>
            <a:noFill/>
          </a:ln>
        </p:spPr>
        <p:txBody>
          <a:bodyPr anchorCtr="0" anchor="t" bIns="0" lIns="0" spcFirstLastPara="1" rIns="0" wrap="square" tIns="0">
            <a:spAutoFit/>
          </a:bodyPr>
          <a:lstStyle/>
          <a:p>
            <a:pPr indent="0" lvl="0" marL="0" marR="0" rtl="0" algn="l">
              <a:lnSpc>
                <a:spcPct val="114003"/>
              </a:lnSpc>
              <a:spcBef>
                <a:spcPts val="0"/>
              </a:spcBef>
              <a:spcAft>
                <a:spcPts val="0"/>
              </a:spcAft>
              <a:buNone/>
            </a:pPr>
            <a:r>
              <a:rPr b="0" i="0" lang="en-US" sz="3999" u="none" cap="none" strike="noStrike">
                <a:solidFill>
                  <a:srgbClr val="FFFFFF"/>
                </a:solidFill>
                <a:latin typeface="Courier Prime"/>
                <a:ea typeface="Courier Prime"/>
                <a:cs typeface="Courier Prime"/>
                <a:sym typeface="Courier Prime"/>
              </a:rPr>
              <a:t>2ª Generación (1956-1963) - Transistores</a:t>
            </a:r>
            <a:endParaRPr/>
          </a:p>
        </p:txBody>
      </p:sp>
      <p:sp>
        <p:nvSpPr>
          <p:cNvPr id="164" name="Google Shape;164;p9"/>
          <p:cNvSpPr txBox="1"/>
          <p:nvPr/>
        </p:nvSpPr>
        <p:spPr>
          <a:xfrm>
            <a:off x="783800" y="2931424"/>
            <a:ext cx="5365500" cy="1576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200" u="none" cap="none" strike="noStrike">
                <a:solidFill>
                  <a:srgbClr val="FFFFFF"/>
                </a:solidFill>
                <a:latin typeface="Courier Prime"/>
                <a:ea typeface="Courier Prime"/>
                <a:cs typeface="Courier Prime"/>
                <a:sym typeface="Courier Prime"/>
              </a:rPr>
              <a:t>El transistor reemplazó a las </a:t>
            </a:r>
            <a:r>
              <a:rPr lang="en-US" sz="3200">
                <a:solidFill>
                  <a:srgbClr val="FFFFFF"/>
                </a:solidFill>
                <a:latin typeface="Courier Prime"/>
                <a:ea typeface="Courier Prime"/>
                <a:cs typeface="Courier Prime"/>
                <a:sym typeface="Courier Prime"/>
              </a:rPr>
              <a:t>válvulas</a:t>
            </a:r>
            <a:r>
              <a:rPr b="0" i="0" lang="en-US" sz="3200" u="none" cap="none" strike="noStrike">
                <a:solidFill>
                  <a:srgbClr val="FFFFFF"/>
                </a:solidFill>
                <a:latin typeface="Courier Prime"/>
                <a:ea typeface="Courier Prime"/>
                <a:cs typeface="Courier Prime"/>
                <a:sym typeface="Courier Prime"/>
              </a:rPr>
              <a:t> de vacío.</a:t>
            </a:r>
            <a:endParaRPr/>
          </a:p>
        </p:txBody>
      </p:sp>
      <p:sp>
        <p:nvSpPr>
          <p:cNvPr id="165" name="Google Shape;165;p9"/>
          <p:cNvSpPr txBox="1"/>
          <p:nvPr/>
        </p:nvSpPr>
        <p:spPr>
          <a:xfrm>
            <a:off x="6720154" y="2931431"/>
            <a:ext cx="10388581" cy="2212069"/>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200" u="none" cap="none" strike="noStrike">
                <a:solidFill>
                  <a:srgbClr val="FFFFFF"/>
                </a:solidFill>
                <a:latin typeface="Courier Prime"/>
                <a:ea typeface="Courier Prime"/>
                <a:cs typeface="Courier Prime"/>
                <a:sym typeface="Courier Prime"/>
              </a:rPr>
              <a:t>Mucho más pequeñas, rápidas, baratas, eficientes energéticamente y fiables que la primera generación. Aparecen los primeros lenguajes de programación de alto nivel (COBOL, FORTRAN).</a:t>
            </a:r>
            <a:endParaRPr/>
          </a:p>
        </p:txBody>
      </p:sp>
      <p:sp>
        <p:nvSpPr>
          <p:cNvPr id="166" name="Google Shape;166;p9"/>
          <p:cNvSpPr txBox="1"/>
          <p:nvPr/>
        </p:nvSpPr>
        <p:spPr>
          <a:xfrm>
            <a:off x="10984189" y="6773014"/>
            <a:ext cx="6322904" cy="1773973"/>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200" u="none" cap="none" strike="noStrike">
                <a:solidFill>
                  <a:srgbClr val="FFFFFF"/>
                </a:solidFill>
                <a:latin typeface="Courier Prime"/>
                <a:ea typeface="Courier Prime"/>
                <a:cs typeface="Courier Prime"/>
                <a:sym typeface="Courier Prime"/>
              </a:rPr>
              <a:t>Grandes empresas y gobiernos para gestión de datos, contabilidad y sistemas de control.</a:t>
            </a:r>
            <a:endParaRPr/>
          </a:p>
        </p:txBody>
      </p:sp>
      <p:sp>
        <p:nvSpPr>
          <p:cNvPr id="167" name="Google Shape;167;p9"/>
          <p:cNvSpPr txBox="1"/>
          <p:nvPr/>
        </p:nvSpPr>
        <p:spPr>
          <a:xfrm>
            <a:off x="783796" y="1972968"/>
            <a:ext cx="3310430" cy="847117"/>
          </a:xfrm>
          <a:prstGeom prst="rect">
            <a:avLst/>
          </a:prstGeom>
          <a:noFill/>
          <a:ln>
            <a:noFill/>
          </a:ln>
        </p:spPr>
        <p:txBody>
          <a:bodyPr anchorCtr="0" anchor="t" bIns="0" lIns="0" spcFirstLastPara="1" rIns="0" wrap="square" tIns="0">
            <a:spAutoFit/>
          </a:bodyPr>
          <a:lstStyle/>
          <a:p>
            <a:pPr indent="0" lvl="0" marL="0" marR="0" rtl="0" algn="l">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Tecnología</a:t>
            </a:r>
            <a:endParaRPr/>
          </a:p>
        </p:txBody>
      </p:sp>
      <p:sp>
        <p:nvSpPr>
          <p:cNvPr id="168" name="Google Shape;168;p9"/>
          <p:cNvSpPr txBox="1"/>
          <p:nvPr/>
        </p:nvSpPr>
        <p:spPr>
          <a:xfrm>
            <a:off x="6720154" y="1972968"/>
            <a:ext cx="5244942" cy="847117"/>
          </a:xfrm>
          <a:prstGeom prst="rect">
            <a:avLst/>
          </a:prstGeom>
          <a:noFill/>
          <a:ln>
            <a:noFill/>
          </a:ln>
        </p:spPr>
        <p:txBody>
          <a:bodyPr anchorCtr="0" anchor="t" bIns="0" lIns="0" spcFirstLastPara="1" rIns="0" wrap="square" tIns="0">
            <a:spAutoFit/>
          </a:bodyPr>
          <a:lstStyle/>
          <a:p>
            <a:pPr indent="0" lvl="0" marL="0" marR="0" rtl="0" algn="l">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Características</a:t>
            </a:r>
            <a:endParaRPr/>
          </a:p>
        </p:txBody>
      </p:sp>
      <p:sp>
        <p:nvSpPr>
          <p:cNvPr id="169" name="Google Shape;169;p9"/>
          <p:cNvSpPr txBox="1"/>
          <p:nvPr/>
        </p:nvSpPr>
        <p:spPr>
          <a:xfrm>
            <a:off x="10984189" y="5673443"/>
            <a:ext cx="1167193" cy="847117"/>
          </a:xfrm>
          <a:prstGeom prst="rect">
            <a:avLst/>
          </a:prstGeom>
          <a:noFill/>
          <a:ln>
            <a:noFill/>
          </a:ln>
        </p:spPr>
        <p:txBody>
          <a:bodyPr anchorCtr="0" anchor="t" bIns="0" lIns="0" spcFirstLastPara="1" rIns="0" wrap="square" tIns="0">
            <a:spAutoFit/>
          </a:bodyPr>
          <a:lstStyle/>
          <a:p>
            <a:pPr indent="0" lvl="0" marL="0" marR="0" rtl="0" algn="l">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Uso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173" name="Shape 173"/>
        <p:cNvGrpSpPr/>
        <p:nvPr/>
      </p:nvGrpSpPr>
      <p:grpSpPr>
        <a:xfrm>
          <a:off x="0" y="0"/>
          <a:ext cx="0" cy="0"/>
          <a:chOff x="0" y="0"/>
          <a:chExt cx="0" cy="0"/>
        </a:xfrm>
      </p:grpSpPr>
      <p:sp>
        <p:nvSpPr>
          <p:cNvPr id="174" name="Google Shape;174;p10"/>
          <p:cNvSpPr/>
          <p:nvPr/>
        </p:nvSpPr>
        <p:spPr>
          <a:xfrm>
            <a:off x="7720031" y="5904135"/>
            <a:ext cx="5961029" cy="3354165"/>
          </a:xfrm>
          <a:custGeom>
            <a:rect b="b" l="l" r="r" t="t"/>
            <a:pathLst>
              <a:path extrusionOk="0" h="3354165" w="5961029">
                <a:moveTo>
                  <a:pt x="0" y="0"/>
                </a:moveTo>
                <a:lnTo>
                  <a:pt x="5961029" y="0"/>
                </a:lnTo>
                <a:lnTo>
                  <a:pt x="5961029" y="3354165"/>
                </a:lnTo>
                <a:lnTo>
                  <a:pt x="0" y="3354165"/>
                </a:lnTo>
                <a:lnTo>
                  <a:pt x="0" y="0"/>
                </a:lnTo>
                <a:close/>
              </a:path>
            </a:pathLst>
          </a:custGeom>
          <a:blipFill rotWithShape="1">
            <a:blip r:embed="rId3">
              <a:alphaModFix/>
            </a:blip>
            <a:stretch>
              <a:fillRect b="0" l="0" r="0" t="0"/>
            </a:stretch>
          </a:blipFill>
          <a:ln>
            <a:noFill/>
          </a:ln>
        </p:spPr>
      </p:sp>
      <p:sp>
        <p:nvSpPr>
          <p:cNvPr id="175" name="Google Shape;175;p10"/>
          <p:cNvSpPr/>
          <p:nvPr/>
        </p:nvSpPr>
        <p:spPr>
          <a:xfrm>
            <a:off x="13864743" y="6046689"/>
            <a:ext cx="4233182" cy="3069057"/>
          </a:xfrm>
          <a:custGeom>
            <a:rect b="b" l="l" r="r" t="t"/>
            <a:pathLst>
              <a:path extrusionOk="0" h="3069057" w="4233182">
                <a:moveTo>
                  <a:pt x="0" y="0"/>
                </a:moveTo>
                <a:lnTo>
                  <a:pt x="4233182" y="0"/>
                </a:lnTo>
                <a:lnTo>
                  <a:pt x="4233182" y="3069057"/>
                </a:lnTo>
                <a:lnTo>
                  <a:pt x="0" y="3069057"/>
                </a:lnTo>
                <a:lnTo>
                  <a:pt x="0" y="0"/>
                </a:lnTo>
                <a:close/>
              </a:path>
            </a:pathLst>
          </a:custGeom>
          <a:blipFill rotWithShape="1">
            <a:blip r:embed="rId4">
              <a:alphaModFix/>
            </a:blip>
            <a:stretch>
              <a:fillRect b="0" l="0" r="0" t="0"/>
            </a:stretch>
          </a:blipFill>
          <a:ln>
            <a:noFill/>
          </a:ln>
        </p:spPr>
      </p:sp>
      <p:sp>
        <p:nvSpPr>
          <p:cNvPr id="176" name="Google Shape;176;p10"/>
          <p:cNvSpPr txBox="1"/>
          <p:nvPr/>
        </p:nvSpPr>
        <p:spPr>
          <a:xfrm>
            <a:off x="1028700" y="1047750"/>
            <a:ext cx="15845306" cy="582930"/>
          </a:xfrm>
          <a:prstGeom prst="rect">
            <a:avLst/>
          </a:prstGeom>
          <a:noFill/>
          <a:ln>
            <a:noFill/>
          </a:ln>
        </p:spPr>
        <p:txBody>
          <a:bodyPr anchorCtr="0" anchor="t" bIns="0" lIns="0" spcFirstLastPara="1" rIns="0" wrap="square" tIns="0">
            <a:spAutoFit/>
          </a:bodyPr>
          <a:lstStyle/>
          <a:p>
            <a:pPr indent="0" lvl="0" marL="0" marR="0" rtl="0" algn="l">
              <a:lnSpc>
                <a:spcPct val="114003"/>
              </a:lnSpc>
              <a:spcBef>
                <a:spcPts val="0"/>
              </a:spcBef>
              <a:spcAft>
                <a:spcPts val="0"/>
              </a:spcAft>
              <a:buNone/>
            </a:pPr>
            <a:r>
              <a:rPr b="0" i="0" lang="en-US" sz="3999" u="none" cap="none" strike="noStrike">
                <a:solidFill>
                  <a:srgbClr val="FFFFFF"/>
                </a:solidFill>
                <a:latin typeface="Courier Prime"/>
                <a:ea typeface="Courier Prime"/>
                <a:cs typeface="Courier Prime"/>
                <a:sym typeface="Courier Prime"/>
              </a:rPr>
              <a:t>3ª Generación (1964-1971) - Circuitos Integrados</a:t>
            </a:r>
            <a:endParaRPr/>
          </a:p>
        </p:txBody>
      </p:sp>
      <p:sp>
        <p:nvSpPr>
          <p:cNvPr id="177" name="Google Shape;177;p10"/>
          <p:cNvSpPr txBox="1"/>
          <p:nvPr/>
        </p:nvSpPr>
        <p:spPr>
          <a:xfrm>
            <a:off x="783796" y="2931431"/>
            <a:ext cx="8167557" cy="1773973"/>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200" u="none" cap="none" strike="noStrike">
                <a:solidFill>
                  <a:srgbClr val="FFFFFF"/>
                </a:solidFill>
                <a:latin typeface="Courier Prime"/>
                <a:ea typeface="Courier Prime"/>
                <a:cs typeface="Courier Prime"/>
                <a:sym typeface="Courier Prime"/>
              </a:rPr>
              <a:t> Se inventó el circuito integrado (chip), que permitía colocar cientos de transistores en una pequeña pastilla de silicio.</a:t>
            </a:r>
            <a:endParaRPr/>
          </a:p>
        </p:txBody>
      </p:sp>
      <p:sp>
        <p:nvSpPr>
          <p:cNvPr id="178" name="Google Shape;178;p10"/>
          <p:cNvSpPr txBox="1"/>
          <p:nvPr/>
        </p:nvSpPr>
        <p:spPr>
          <a:xfrm>
            <a:off x="9602369" y="2931431"/>
            <a:ext cx="8157382" cy="2212069"/>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200" u="none" cap="none" strike="noStrike">
                <a:solidFill>
                  <a:srgbClr val="FFFFFF"/>
                </a:solidFill>
                <a:latin typeface="Courier Prime"/>
                <a:ea typeface="Courier Prime"/>
                <a:cs typeface="Courier Prime"/>
                <a:sym typeface="Courier Prime"/>
              </a:rPr>
              <a:t>Las computadoras se hicieron aún más pequeñas y potentes. Aparecen los sistemas operativos para gestionar los recursos de la máquina.</a:t>
            </a:r>
            <a:endParaRPr/>
          </a:p>
        </p:txBody>
      </p:sp>
      <p:sp>
        <p:nvSpPr>
          <p:cNvPr id="179" name="Google Shape;179;p10"/>
          <p:cNvSpPr txBox="1"/>
          <p:nvPr/>
        </p:nvSpPr>
        <p:spPr>
          <a:xfrm>
            <a:off x="783796" y="7199324"/>
            <a:ext cx="7008707" cy="1773973"/>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200" u="none" cap="none" strike="noStrike">
                <a:solidFill>
                  <a:srgbClr val="FFFFFF"/>
                </a:solidFill>
                <a:latin typeface="Courier Prime"/>
                <a:ea typeface="Courier Prime"/>
                <a:cs typeface="Courier Prime"/>
                <a:sym typeface="Courier Prime"/>
              </a:rPr>
              <a:t>Se estandariza su uso en empresas y centros de investigación, permitiendo la multitarea.</a:t>
            </a:r>
            <a:endParaRPr/>
          </a:p>
        </p:txBody>
      </p:sp>
      <p:sp>
        <p:nvSpPr>
          <p:cNvPr id="180" name="Google Shape;180;p10"/>
          <p:cNvSpPr txBox="1"/>
          <p:nvPr/>
        </p:nvSpPr>
        <p:spPr>
          <a:xfrm>
            <a:off x="783796" y="1972968"/>
            <a:ext cx="3310430" cy="847117"/>
          </a:xfrm>
          <a:prstGeom prst="rect">
            <a:avLst/>
          </a:prstGeom>
          <a:noFill/>
          <a:ln>
            <a:noFill/>
          </a:ln>
        </p:spPr>
        <p:txBody>
          <a:bodyPr anchorCtr="0" anchor="t" bIns="0" lIns="0" spcFirstLastPara="1" rIns="0" wrap="square" tIns="0">
            <a:spAutoFit/>
          </a:bodyPr>
          <a:lstStyle/>
          <a:p>
            <a:pPr indent="0" lvl="0" marL="0" marR="0" rtl="0" algn="l">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Tecnología</a:t>
            </a:r>
            <a:endParaRPr/>
          </a:p>
        </p:txBody>
      </p:sp>
      <p:sp>
        <p:nvSpPr>
          <p:cNvPr id="181" name="Google Shape;181;p10"/>
          <p:cNvSpPr txBox="1"/>
          <p:nvPr/>
        </p:nvSpPr>
        <p:spPr>
          <a:xfrm>
            <a:off x="9528910" y="1972968"/>
            <a:ext cx="5244942" cy="847117"/>
          </a:xfrm>
          <a:prstGeom prst="rect">
            <a:avLst/>
          </a:prstGeom>
          <a:noFill/>
          <a:ln>
            <a:noFill/>
          </a:ln>
        </p:spPr>
        <p:txBody>
          <a:bodyPr anchorCtr="0" anchor="t" bIns="0" lIns="0" spcFirstLastPara="1" rIns="0" wrap="square" tIns="0">
            <a:spAutoFit/>
          </a:bodyPr>
          <a:lstStyle/>
          <a:p>
            <a:pPr indent="0" lvl="0" marL="0" marR="0" rtl="0" algn="l">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Características</a:t>
            </a:r>
            <a:endParaRPr/>
          </a:p>
        </p:txBody>
      </p:sp>
      <p:sp>
        <p:nvSpPr>
          <p:cNvPr id="182" name="Google Shape;182;p10"/>
          <p:cNvSpPr txBox="1"/>
          <p:nvPr/>
        </p:nvSpPr>
        <p:spPr>
          <a:xfrm>
            <a:off x="783796" y="6081218"/>
            <a:ext cx="1167193" cy="847117"/>
          </a:xfrm>
          <a:prstGeom prst="rect">
            <a:avLst/>
          </a:prstGeom>
          <a:noFill/>
          <a:ln>
            <a:noFill/>
          </a:ln>
        </p:spPr>
        <p:txBody>
          <a:bodyPr anchorCtr="0" anchor="t" bIns="0" lIns="0" spcFirstLastPara="1" rIns="0" wrap="square" tIns="0">
            <a:spAutoFit/>
          </a:bodyPr>
          <a:lstStyle/>
          <a:p>
            <a:pPr indent="0" lvl="0" marL="0" marR="0" rtl="0" algn="l">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Uso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186" name="Shape 186"/>
        <p:cNvGrpSpPr/>
        <p:nvPr/>
      </p:nvGrpSpPr>
      <p:grpSpPr>
        <a:xfrm>
          <a:off x="0" y="0"/>
          <a:ext cx="0" cy="0"/>
          <a:chOff x="0" y="0"/>
          <a:chExt cx="0" cy="0"/>
        </a:xfrm>
      </p:grpSpPr>
      <p:sp>
        <p:nvSpPr>
          <p:cNvPr id="187" name="Google Shape;187;p11"/>
          <p:cNvSpPr/>
          <p:nvPr/>
        </p:nvSpPr>
        <p:spPr>
          <a:xfrm>
            <a:off x="594756" y="5736019"/>
            <a:ext cx="3499470" cy="3156508"/>
          </a:xfrm>
          <a:custGeom>
            <a:rect b="b" l="l" r="r" t="t"/>
            <a:pathLst>
              <a:path extrusionOk="0" h="3156508" w="3499470">
                <a:moveTo>
                  <a:pt x="0" y="0"/>
                </a:moveTo>
                <a:lnTo>
                  <a:pt x="3499470" y="0"/>
                </a:lnTo>
                <a:lnTo>
                  <a:pt x="3499470" y="3156508"/>
                </a:lnTo>
                <a:lnTo>
                  <a:pt x="0" y="3156508"/>
                </a:lnTo>
                <a:lnTo>
                  <a:pt x="0" y="0"/>
                </a:lnTo>
                <a:close/>
              </a:path>
            </a:pathLst>
          </a:custGeom>
          <a:blipFill rotWithShape="1">
            <a:blip r:embed="rId3">
              <a:alphaModFix/>
            </a:blip>
            <a:stretch>
              <a:fillRect b="-5867" l="-1839" r="-4755" t="0"/>
            </a:stretch>
          </a:blipFill>
          <a:ln>
            <a:noFill/>
          </a:ln>
        </p:spPr>
      </p:sp>
      <p:sp>
        <p:nvSpPr>
          <p:cNvPr id="188" name="Google Shape;188;p11"/>
          <p:cNvSpPr/>
          <p:nvPr/>
        </p:nvSpPr>
        <p:spPr>
          <a:xfrm rot="137537">
            <a:off x="7764356" y="7438825"/>
            <a:ext cx="3311180" cy="2416267"/>
          </a:xfrm>
          <a:custGeom>
            <a:rect b="b" l="l" r="r" t="t"/>
            <a:pathLst>
              <a:path extrusionOk="0" h="2416267" w="3311180">
                <a:moveTo>
                  <a:pt x="0" y="0"/>
                </a:moveTo>
                <a:lnTo>
                  <a:pt x="3311180" y="0"/>
                </a:lnTo>
                <a:lnTo>
                  <a:pt x="3311180" y="2416267"/>
                </a:lnTo>
                <a:lnTo>
                  <a:pt x="0" y="2416267"/>
                </a:lnTo>
                <a:lnTo>
                  <a:pt x="0" y="0"/>
                </a:lnTo>
                <a:close/>
              </a:path>
            </a:pathLst>
          </a:custGeom>
          <a:blipFill rotWithShape="1">
            <a:blip r:embed="rId4">
              <a:alphaModFix/>
            </a:blip>
            <a:stretch>
              <a:fillRect b="0" l="0" r="0" t="0"/>
            </a:stretch>
          </a:blipFill>
          <a:ln>
            <a:noFill/>
          </a:ln>
        </p:spPr>
      </p:sp>
      <p:sp>
        <p:nvSpPr>
          <p:cNvPr id="189" name="Google Shape;189;p11"/>
          <p:cNvSpPr/>
          <p:nvPr/>
        </p:nvSpPr>
        <p:spPr>
          <a:xfrm>
            <a:off x="4329788" y="5841623"/>
            <a:ext cx="4028855" cy="2014428"/>
          </a:xfrm>
          <a:custGeom>
            <a:rect b="b" l="l" r="r" t="t"/>
            <a:pathLst>
              <a:path extrusionOk="0" h="2014428" w="4028855">
                <a:moveTo>
                  <a:pt x="0" y="0"/>
                </a:moveTo>
                <a:lnTo>
                  <a:pt x="4028855" y="0"/>
                </a:lnTo>
                <a:lnTo>
                  <a:pt x="4028855" y="2014427"/>
                </a:lnTo>
                <a:lnTo>
                  <a:pt x="0" y="2014427"/>
                </a:lnTo>
                <a:lnTo>
                  <a:pt x="0" y="0"/>
                </a:lnTo>
                <a:close/>
              </a:path>
            </a:pathLst>
          </a:custGeom>
          <a:blipFill rotWithShape="1">
            <a:blip r:embed="rId5">
              <a:alphaModFix/>
            </a:blip>
            <a:stretch>
              <a:fillRect b="0" l="0" r="0" t="0"/>
            </a:stretch>
          </a:blipFill>
          <a:ln>
            <a:noFill/>
          </a:ln>
        </p:spPr>
      </p:sp>
      <p:sp>
        <p:nvSpPr>
          <p:cNvPr id="190" name="Google Shape;190;p11"/>
          <p:cNvSpPr txBox="1"/>
          <p:nvPr/>
        </p:nvSpPr>
        <p:spPr>
          <a:xfrm>
            <a:off x="1028700" y="1047750"/>
            <a:ext cx="15845306" cy="582930"/>
          </a:xfrm>
          <a:prstGeom prst="rect">
            <a:avLst/>
          </a:prstGeom>
          <a:noFill/>
          <a:ln>
            <a:noFill/>
          </a:ln>
        </p:spPr>
        <p:txBody>
          <a:bodyPr anchorCtr="0" anchor="t" bIns="0" lIns="0" spcFirstLastPara="1" rIns="0" wrap="square" tIns="0">
            <a:spAutoFit/>
          </a:bodyPr>
          <a:lstStyle/>
          <a:p>
            <a:pPr indent="0" lvl="0" marL="0" marR="0" rtl="0" algn="l">
              <a:lnSpc>
                <a:spcPct val="114003"/>
              </a:lnSpc>
              <a:spcBef>
                <a:spcPts val="0"/>
              </a:spcBef>
              <a:spcAft>
                <a:spcPts val="0"/>
              </a:spcAft>
              <a:buNone/>
            </a:pPr>
            <a:r>
              <a:rPr b="0" i="0" lang="en-US" sz="3999" u="none" cap="none" strike="noStrike">
                <a:solidFill>
                  <a:srgbClr val="FFFFFF"/>
                </a:solidFill>
                <a:latin typeface="Courier Prime"/>
                <a:ea typeface="Courier Prime"/>
                <a:cs typeface="Courier Prime"/>
                <a:sym typeface="Courier Prime"/>
              </a:rPr>
              <a:t>4ª Generación (1971-Presente) - Microprocesadores</a:t>
            </a:r>
            <a:endParaRPr/>
          </a:p>
        </p:txBody>
      </p:sp>
      <p:sp>
        <p:nvSpPr>
          <p:cNvPr id="191" name="Google Shape;191;p11"/>
          <p:cNvSpPr txBox="1"/>
          <p:nvPr/>
        </p:nvSpPr>
        <p:spPr>
          <a:xfrm>
            <a:off x="783796" y="2931431"/>
            <a:ext cx="7738044" cy="2212069"/>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200" u="none" cap="none" strike="noStrike">
                <a:solidFill>
                  <a:srgbClr val="FFFFFF"/>
                </a:solidFill>
                <a:latin typeface="Courier Prime"/>
                <a:ea typeface="Courier Prime"/>
                <a:cs typeface="Courier Prime"/>
                <a:sym typeface="Courier Prime"/>
              </a:rPr>
              <a:t>Se desarrolla el microprocesador, que integra todos los componentes de la CPU (Unidad Central de Procesamiento) en un solo chip.</a:t>
            </a:r>
            <a:endParaRPr/>
          </a:p>
        </p:txBody>
      </p:sp>
      <p:sp>
        <p:nvSpPr>
          <p:cNvPr id="192" name="Google Shape;192;p11"/>
          <p:cNvSpPr txBox="1"/>
          <p:nvPr/>
        </p:nvSpPr>
        <p:spPr>
          <a:xfrm>
            <a:off x="9144000" y="2931431"/>
            <a:ext cx="8553593" cy="265016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200" u="none" cap="none" strike="noStrike">
                <a:solidFill>
                  <a:srgbClr val="FFFFFF"/>
                </a:solidFill>
                <a:latin typeface="Courier Prime"/>
                <a:ea typeface="Courier Prime"/>
                <a:cs typeface="Courier Prime"/>
                <a:sym typeface="Courier Prime"/>
              </a:rPr>
              <a:t>Esto da lugar a la revolución de la computadora personal (PC). Las máquinas se vuelven accesibles para el público general. Nacen interfaces gráficas (como Windows) y el internet se masifica.</a:t>
            </a:r>
            <a:endParaRPr/>
          </a:p>
        </p:txBody>
      </p:sp>
      <p:sp>
        <p:nvSpPr>
          <p:cNvPr id="193" name="Google Shape;193;p11"/>
          <p:cNvSpPr txBox="1"/>
          <p:nvPr/>
        </p:nvSpPr>
        <p:spPr>
          <a:xfrm>
            <a:off x="11567775" y="7185948"/>
            <a:ext cx="6322800" cy="2118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200" u="none" cap="none" strike="noStrike">
                <a:solidFill>
                  <a:srgbClr val="FFFFFF"/>
                </a:solidFill>
                <a:latin typeface="Courier Prime"/>
                <a:ea typeface="Courier Prime"/>
                <a:cs typeface="Courier Prime"/>
                <a:sym typeface="Courier Prime"/>
              </a:rPr>
              <a:t>Computadoras en el hogar y la oficina, laptops, smartphones, internet, videojuegos, etc.</a:t>
            </a:r>
            <a:endParaRPr/>
          </a:p>
        </p:txBody>
      </p:sp>
      <p:sp>
        <p:nvSpPr>
          <p:cNvPr id="194" name="Google Shape;194;p11"/>
          <p:cNvSpPr txBox="1"/>
          <p:nvPr/>
        </p:nvSpPr>
        <p:spPr>
          <a:xfrm>
            <a:off x="783796" y="1972968"/>
            <a:ext cx="3310430" cy="847117"/>
          </a:xfrm>
          <a:prstGeom prst="rect">
            <a:avLst/>
          </a:prstGeom>
          <a:noFill/>
          <a:ln>
            <a:noFill/>
          </a:ln>
        </p:spPr>
        <p:txBody>
          <a:bodyPr anchorCtr="0" anchor="t" bIns="0" lIns="0" spcFirstLastPara="1" rIns="0" wrap="square" tIns="0">
            <a:spAutoFit/>
          </a:bodyPr>
          <a:lstStyle/>
          <a:p>
            <a:pPr indent="0" lvl="0" marL="0" marR="0" rtl="0" algn="l">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Tecnología</a:t>
            </a:r>
            <a:endParaRPr/>
          </a:p>
        </p:txBody>
      </p:sp>
      <p:sp>
        <p:nvSpPr>
          <p:cNvPr id="195" name="Google Shape;195;p11"/>
          <p:cNvSpPr txBox="1"/>
          <p:nvPr/>
        </p:nvSpPr>
        <p:spPr>
          <a:xfrm>
            <a:off x="9144000" y="1972968"/>
            <a:ext cx="5244942" cy="847117"/>
          </a:xfrm>
          <a:prstGeom prst="rect">
            <a:avLst/>
          </a:prstGeom>
          <a:noFill/>
          <a:ln>
            <a:noFill/>
          </a:ln>
        </p:spPr>
        <p:txBody>
          <a:bodyPr anchorCtr="0" anchor="t" bIns="0" lIns="0" spcFirstLastPara="1" rIns="0" wrap="square" tIns="0">
            <a:spAutoFit/>
          </a:bodyPr>
          <a:lstStyle/>
          <a:p>
            <a:pPr indent="0" lvl="0" marL="0" marR="0" rtl="0" algn="l">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Características</a:t>
            </a:r>
            <a:endParaRPr/>
          </a:p>
        </p:txBody>
      </p:sp>
      <p:sp>
        <p:nvSpPr>
          <p:cNvPr id="196" name="Google Shape;196;p11"/>
          <p:cNvSpPr txBox="1"/>
          <p:nvPr/>
        </p:nvSpPr>
        <p:spPr>
          <a:xfrm>
            <a:off x="11567785" y="6447869"/>
            <a:ext cx="1167300" cy="615600"/>
          </a:xfrm>
          <a:prstGeom prst="rect">
            <a:avLst/>
          </a:prstGeom>
          <a:noFill/>
          <a:ln>
            <a:noFill/>
          </a:ln>
        </p:spPr>
        <p:txBody>
          <a:bodyPr anchorCtr="0" anchor="t" bIns="0" lIns="0" spcFirstLastPara="1" rIns="0" wrap="square" tIns="0">
            <a:spAutoFit/>
          </a:bodyPr>
          <a:lstStyle/>
          <a:p>
            <a:pPr indent="0" lvl="0" marL="0" marR="0" rtl="0" algn="l">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Uso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200" name="Shape 200"/>
        <p:cNvGrpSpPr/>
        <p:nvPr/>
      </p:nvGrpSpPr>
      <p:grpSpPr>
        <a:xfrm>
          <a:off x="0" y="0"/>
          <a:ext cx="0" cy="0"/>
          <a:chOff x="0" y="0"/>
          <a:chExt cx="0" cy="0"/>
        </a:xfrm>
      </p:grpSpPr>
      <p:sp>
        <p:nvSpPr>
          <p:cNvPr id="201" name="Google Shape;201;p12"/>
          <p:cNvSpPr/>
          <p:nvPr/>
        </p:nvSpPr>
        <p:spPr>
          <a:xfrm>
            <a:off x="11910735" y="3224144"/>
            <a:ext cx="6118953" cy="4829814"/>
          </a:xfrm>
          <a:custGeom>
            <a:rect b="b" l="l" r="r" t="t"/>
            <a:pathLst>
              <a:path extrusionOk="0" h="4829814" w="6118953">
                <a:moveTo>
                  <a:pt x="0" y="0"/>
                </a:moveTo>
                <a:lnTo>
                  <a:pt x="6118953" y="0"/>
                </a:lnTo>
                <a:lnTo>
                  <a:pt x="6118953" y="4829813"/>
                </a:lnTo>
                <a:lnTo>
                  <a:pt x="0" y="4829813"/>
                </a:lnTo>
                <a:lnTo>
                  <a:pt x="0" y="0"/>
                </a:lnTo>
                <a:close/>
              </a:path>
            </a:pathLst>
          </a:custGeom>
          <a:blipFill rotWithShape="1">
            <a:blip r:embed="rId3">
              <a:alphaModFix/>
            </a:blip>
            <a:stretch>
              <a:fillRect b="0" l="0" r="-41532" t="0"/>
            </a:stretch>
          </a:blipFill>
          <a:ln>
            <a:noFill/>
          </a:ln>
        </p:spPr>
      </p:sp>
      <p:sp>
        <p:nvSpPr>
          <p:cNvPr id="202" name="Google Shape;202;p12"/>
          <p:cNvSpPr txBox="1"/>
          <p:nvPr/>
        </p:nvSpPr>
        <p:spPr>
          <a:xfrm>
            <a:off x="1028700" y="1206639"/>
            <a:ext cx="15576144" cy="893391"/>
          </a:xfrm>
          <a:prstGeom prst="rect">
            <a:avLst/>
          </a:prstGeom>
          <a:noFill/>
          <a:ln>
            <a:noFill/>
          </a:ln>
        </p:spPr>
        <p:txBody>
          <a:bodyPr anchorCtr="0" anchor="t" bIns="0" lIns="0" spcFirstLastPara="1" rIns="0" wrap="square" tIns="0">
            <a:spAutoFit/>
          </a:bodyPr>
          <a:lstStyle/>
          <a:p>
            <a:pPr indent="0" lvl="0" marL="0" marR="0" rtl="0" algn="l">
              <a:lnSpc>
                <a:spcPct val="113983"/>
              </a:lnSpc>
              <a:spcBef>
                <a:spcPts val="0"/>
              </a:spcBef>
              <a:spcAft>
                <a:spcPts val="0"/>
              </a:spcAft>
              <a:buNone/>
            </a:pPr>
            <a:r>
              <a:rPr b="0" i="0" lang="en-US" sz="6000" u="none" cap="none" strike="noStrike">
                <a:solidFill>
                  <a:srgbClr val="FFFFFF"/>
                </a:solidFill>
                <a:latin typeface="Courier Prime"/>
                <a:ea typeface="Courier Prime"/>
                <a:cs typeface="Courier Prime"/>
                <a:sym typeface="Courier Prime"/>
              </a:rPr>
              <a:t>Ciclo Fetch-Decode-Execute</a:t>
            </a:r>
            <a:endParaRPr/>
          </a:p>
        </p:txBody>
      </p:sp>
      <p:sp>
        <p:nvSpPr>
          <p:cNvPr id="203" name="Google Shape;203;p12"/>
          <p:cNvSpPr txBox="1"/>
          <p:nvPr/>
        </p:nvSpPr>
        <p:spPr>
          <a:xfrm>
            <a:off x="593099" y="2959969"/>
            <a:ext cx="11150819" cy="4795938"/>
          </a:xfrm>
          <a:prstGeom prst="rect">
            <a:avLst/>
          </a:prstGeom>
          <a:noFill/>
          <a:ln>
            <a:noFill/>
          </a:ln>
        </p:spPr>
        <p:txBody>
          <a:bodyPr anchorCtr="0" anchor="t" bIns="0" lIns="0" spcFirstLastPara="1" rIns="0" wrap="square" tIns="0">
            <a:spAutoFit/>
          </a:bodyPr>
          <a:lstStyle/>
          <a:p>
            <a:pPr indent="0" lvl="0" marL="0" marR="0" rtl="0" algn="l">
              <a:lnSpc>
                <a:spcPct val="136000"/>
              </a:lnSpc>
              <a:spcBef>
                <a:spcPts val="0"/>
              </a:spcBef>
              <a:spcAft>
                <a:spcPts val="0"/>
              </a:spcAft>
              <a:buNone/>
            </a:pPr>
            <a:r>
              <a:rPr b="0" i="0" lang="en-US" sz="3500" u="none" cap="none" strike="noStrike">
                <a:solidFill>
                  <a:srgbClr val="FFFFFF"/>
                </a:solidFill>
                <a:latin typeface="Courier Prime"/>
                <a:ea typeface="Courier Prime"/>
                <a:cs typeface="Courier Prime"/>
                <a:sym typeface="Courier Prime"/>
              </a:rPr>
              <a:t>El </a:t>
            </a:r>
            <a:r>
              <a:rPr b="0" i="0" lang="en-US" sz="3500" u="none" cap="none" strike="noStrike">
                <a:solidFill>
                  <a:srgbClr val="FF914D"/>
                </a:solidFill>
                <a:latin typeface="Courier Prime"/>
                <a:ea typeface="Courier Prime"/>
                <a:cs typeface="Courier Prime"/>
                <a:sym typeface="Courier Prime"/>
              </a:rPr>
              <a:t>ciclo de instrucción</a:t>
            </a:r>
            <a:r>
              <a:rPr b="0" i="0" lang="en-US" sz="3500" u="none" cap="none" strike="noStrike">
                <a:solidFill>
                  <a:srgbClr val="FFFFFF"/>
                </a:solidFill>
                <a:latin typeface="Courier Prime"/>
                <a:ea typeface="Courier Prime"/>
                <a:cs typeface="Courier Prime"/>
                <a:sym typeface="Courier Prime"/>
              </a:rPr>
              <a:t>, también conocido como ciclo Fetch-Decode-Execute (</a:t>
            </a:r>
            <a:r>
              <a:rPr b="0" i="0" lang="en-US" sz="3500" u="none" cap="none" strike="noStrike">
                <a:solidFill>
                  <a:srgbClr val="FF914D"/>
                </a:solidFill>
                <a:latin typeface="Courier Prime"/>
                <a:ea typeface="Courier Prime"/>
                <a:cs typeface="Courier Prime"/>
                <a:sym typeface="Courier Prime"/>
              </a:rPr>
              <a:t>Búsqueda-Decodificación-Ejecución</a:t>
            </a:r>
            <a:r>
              <a:rPr b="0" i="0" lang="en-US" sz="3500" u="none" cap="none" strike="noStrike">
                <a:solidFill>
                  <a:srgbClr val="FFFFFF"/>
                </a:solidFill>
                <a:latin typeface="Courier Prime"/>
                <a:ea typeface="Courier Prime"/>
                <a:cs typeface="Courier Prime"/>
                <a:sym typeface="Courier Prime"/>
              </a:rPr>
              <a:t>), es el proceso fundamental que realiza la CPU para ejecutar una instrucción de un programa. Es el </a:t>
            </a:r>
            <a:r>
              <a:rPr b="0" i="0" lang="en-US" sz="3500" u="none" cap="none" strike="noStrike">
                <a:solidFill>
                  <a:srgbClr val="FF914D"/>
                </a:solidFill>
                <a:latin typeface="Courier Prime"/>
                <a:ea typeface="Courier Prime"/>
                <a:cs typeface="Courier Prime"/>
                <a:sym typeface="Courier Prime"/>
              </a:rPr>
              <a:t>"latido del corazón"</a:t>
            </a:r>
            <a:r>
              <a:rPr b="0" i="0" lang="en-US" sz="3500" u="none" cap="none" strike="noStrike">
                <a:solidFill>
                  <a:srgbClr val="FFFFFF"/>
                </a:solidFill>
                <a:latin typeface="Courier Prime"/>
                <a:ea typeface="Courier Prime"/>
                <a:cs typeface="Courier Prime"/>
                <a:sym typeface="Courier Prime"/>
              </a:rPr>
              <a:t> de la computadora. Este ciclo se repite millones de veces por segundo.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207" name="Shape 207"/>
        <p:cNvGrpSpPr/>
        <p:nvPr/>
      </p:nvGrpSpPr>
      <p:grpSpPr>
        <a:xfrm>
          <a:off x="0" y="0"/>
          <a:ext cx="0" cy="0"/>
          <a:chOff x="0" y="0"/>
          <a:chExt cx="0" cy="0"/>
        </a:xfrm>
      </p:grpSpPr>
      <p:sp>
        <p:nvSpPr>
          <p:cNvPr id="208" name="Google Shape;208;p13"/>
          <p:cNvSpPr/>
          <p:nvPr/>
        </p:nvSpPr>
        <p:spPr>
          <a:xfrm>
            <a:off x="9307275" y="-198120"/>
            <a:ext cx="9310473" cy="10385293"/>
          </a:xfrm>
          <a:custGeom>
            <a:rect b="b" l="l" r="r" t="t"/>
            <a:pathLst>
              <a:path extrusionOk="0" h="3790253" w="3397983">
                <a:moveTo>
                  <a:pt x="0" y="0"/>
                </a:moveTo>
                <a:lnTo>
                  <a:pt x="3397983" y="0"/>
                </a:lnTo>
                <a:lnTo>
                  <a:pt x="3397983" y="3790253"/>
                </a:lnTo>
                <a:lnTo>
                  <a:pt x="0" y="3790253"/>
                </a:lnTo>
                <a:close/>
              </a:path>
            </a:pathLst>
          </a:custGeom>
          <a:solidFill>
            <a:srgbClr val="2D2D35"/>
          </a:solidFill>
          <a:ln>
            <a:noFill/>
          </a:ln>
        </p:spPr>
      </p:sp>
      <p:sp>
        <p:nvSpPr>
          <p:cNvPr id="209" name="Google Shape;209;p13"/>
          <p:cNvSpPr/>
          <p:nvPr/>
        </p:nvSpPr>
        <p:spPr>
          <a:xfrm>
            <a:off x="9880409" y="1918281"/>
            <a:ext cx="7841759" cy="5283932"/>
          </a:xfrm>
          <a:custGeom>
            <a:rect b="b" l="l" r="r" t="t"/>
            <a:pathLst>
              <a:path extrusionOk="0" h="5283932" w="7841759">
                <a:moveTo>
                  <a:pt x="0" y="0"/>
                </a:moveTo>
                <a:lnTo>
                  <a:pt x="7841759" y="0"/>
                </a:lnTo>
                <a:lnTo>
                  <a:pt x="7841759" y="5283932"/>
                </a:lnTo>
                <a:lnTo>
                  <a:pt x="0" y="5283932"/>
                </a:lnTo>
                <a:lnTo>
                  <a:pt x="0" y="0"/>
                </a:lnTo>
                <a:close/>
              </a:path>
            </a:pathLst>
          </a:custGeom>
          <a:blipFill rotWithShape="1">
            <a:blip r:embed="rId3">
              <a:alphaModFix/>
            </a:blip>
            <a:stretch>
              <a:fillRect b="0" l="0" r="0" t="0"/>
            </a:stretch>
          </a:blipFill>
          <a:ln>
            <a:noFill/>
          </a:ln>
        </p:spPr>
      </p:sp>
      <p:sp>
        <p:nvSpPr>
          <p:cNvPr id="210" name="Google Shape;210;p13"/>
          <p:cNvSpPr txBox="1"/>
          <p:nvPr/>
        </p:nvSpPr>
        <p:spPr>
          <a:xfrm>
            <a:off x="1028700" y="1047750"/>
            <a:ext cx="8115300" cy="1760112"/>
          </a:xfrm>
          <a:prstGeom prst="rect">
            <a:avLst/>
          </a:prstGeom>
          <a:noFill/>
          <a:ln>
            <a:noFill/>
          </a:ln>
        </p:spPr>
        <p:txBody>
          <a:bodyPr anchorCtr="0" anchor="t" bIns="0" lIns="0" spcFirstLastPara="1" rIns="0" wrap="square" tIns="0">
            <a:spAutoFit/>
          </a:bodyPr>
          <a:lstStyle/>
          <a:p>
            <a:pPr indent="0" lvl="0" marL="0" marR="0" rtl="0" algn="l">
              <a:lnSpc>
                <a:spcPct val="113983"/>
              </a:lnSpc>
              <a:spcBef>
                <a:spcPts val="0"/>
              </a:spcBef>
              <a:spcAft>
                <a:spcPts val="0"/>
              </a:spcAft>
              <a:buNone/>
            </a:pPr>
            <a:r>
              <a:rPr b="0" i="0" lang="en-US" sz="6000" u="none" cap="none" strike="noStrike">
                <a:solidFill>
                  <a:srgbClr val="FFFFFF"/>
                </a:solidFill>
                <a:latin typeface="Courier Prime"/>
                <a:ea typeface="Courier Prime"/>
                <a:cs typeface="Courier Prime"/>
                <a:sym typeface="Courier Prime"/>
              </a:rPr>
              <a:t>Fase de Búsqueda (Fetch)</a:t>
            </a:r>
            <a:endParaRPr/>
          </a:p>
        </p:txBody>
      </p:sp>
      <p:sp>
        <p:nvSpPr>
          <p:cNvPr id="211" name="Google Shape;211;p13"/>
          <p:cNvSpPr txBox="1"/>
          <p:nvPr/>
        </p:nvSpPr>
        <p:spPr>
          <a:xfrm>
            <a:off x="472650" y="3189275"/>
            <a:ext cx="8178900" cy="6406800"/>
          </a:xfrm>
          <a:prstGeom prst="rect">
            <a:avLst/>
          </a:prstGeom>
          <a:noFill/>
          <a:ln>
            <a:noFill/>
          </a:ln>
        </p:spPr>
        <p:txBody>
          <a:bodyPr anchorCtr="0" anchor="t" bIns="0" lIns="0" spcFirstLastPara="1" rIns="0" wrap="square" tIns="0">
            <a:spAutoFit/>
          </a:bodyPr>
          <a:lstStyle/>
          <a:p>
            <a:pPr indent="-323850" lvl="1" marL="647700" marR="0" rtl="0" algn="l">
              <a:lnSpc>
                <a:spcPct val="136000"/>
              </a:lnSpc>
              <a:spcBef>
                <a:spcPts val="0"/>
              </a:spcBef>
              <a:spcAft>
                <a:spcPts val="0"/>
              </a:spcAft>
              <a:buClr>
                <a:srgbClr val="FFFFFF"/>
              </a:buClr>
              <a:buSzPts val="3000"/>
              <a:buFont typeface="Arial"/>
              <a:buChar char="•"/>
            </a:pPr>
            <a:r>
              <a:rPr b="0" i="0" lang="en-US" sz="3000" u="none" cap="none" strike="noStrike">
                <a:solidFill>
                  <a:srgbClr val="FFFFFF"/>
                </a:solidFill>
                <a:latin typeface="Courier Prime"/>
                <a:ea typeface="Courier Prime"/>
                <a:cs typeface="Courier Prime"/>
                <a:sym typeface="Courier Prime"/>
              </a:rPr>
              <a:t>La Unidad de Control (CU) busca en la memoria RAM la siguiente instrucción que debe ejecutar. La dirección de esta instrucción está almacenada en un registro especial llamado Contador de Programa (PC).</a:t>
            </a:r>
            <a:endParaRPr/>
          </a:p>
          <a:p>
            <a:pPr indent="-222250" lvl="1" marL="647700" marR="0" rtl="0" algn="l">
              <a:lnSpc>
                <a:spcPct val="136000"/>
              </a:lnSpc>
              <a:spcBef>
                <a:spcPts val="0"/>
              </a:spcBef>
              <a:spcAft>
                <a:spcPts val="0"/>
              </a:spcAft>
              <a:buSzPts val="1400"/>
              <a:buChar char="•"/>
            </a:pPr>
            <a:r>
              <a:t/>
            </a:r>
            <a:endParaRPr/>
          </a:p>
          <a:p>
            <a:pPr indent="-323850" lvl="1" marL="647700" marR="0" rtl="0" algn="l">
              <a:lnSpc>
                <a:spcPct val="136000"/>
              </a:lnSpc>
              <a:spcBef>
                <a:spcPts val="0"/>
              </a:spcBef>
              <a:spcAft>
                <a:spcPts val="0"/>
              </a:spcAft>
              <a:buClr>
                <a:srgbClr val="FFFFFF"/>
              </a:buClr>
              <a:buSzPts val="3000"/>
              <a:buFont typeface="Arial"/>
              <a:buChar char="•"/>
            </a:pPr>
            <a:r>
              <a:rPr b="0" i="0" lang="en-US" sz="3000" u="none" cap="none" strike="noStrike">
                <a:solidFill>
                  <a:srgbClr val="FFFFFF"/>
                </a:solidFill>
                <a:latin typeface="Courier Prime"/>
                <a:ea typeface="Courier Prime"/>
                <a:cs typeface="Courier Prime"/>
                <a:sym typeface="Courier Prime"/>
              </a:rPr>
              <a:t>La instrucción se copia desde la RAM al Registro de Instrucción (IR) dentro de la CPU.</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215" name="Shape 215"/>
        <p:cNvGrpSpPr/>
        <p:nvPr/>
      </p:nvGrpSpPr>
      <p:grpSpPr>
        <a:xfrm>
          <a:off x="0" y="0"/>
          <a:ext cx="0" cy="0"/>
          <a:chOff x="0" y="0"/>
          <a:chExt cx="0" cy="0"/>
        </a:xfrm>
      </p:grpSpPr>
      <p:sp>
        <p:nvSpPr>
          <p:cNvPr id="216" name="Google Shape;216;p14"/>
          <p:cNvSpPr/>
          <p:nvPr/>
        </p:nvSpPr>
        <p:spPr>
          <a:xfrm>
            <a:off x="7633374" y="-51435"/>
            <a:ext cx="10654626" cy="10389870"/>
          </a:xfrm>
          <a:custGeom>
            <a:rect b="b" l="l" r="r" t="t"/>
            <a:pathLst>
              <a:path extrusionOk="0" h="3790253" w="3886836">
                <a:moveTo>
                  <a:pt x="0" y="0"/>
                </a:moveTo>
                <a:lnTo>
                  <a:pt x="3886836" y="0"/>
                </a:lnTo>
                <a:lnTo>
                  <a:pt x="3886836" y="3790253"/>
                </a:lnTo>
                <a:lnTo>
                  <a:pt x="0" y="3790253"/>
                </a:lnTo>
                <a:close/>
              </a:path>
            </a:pathLst>
          </a:custGeom>
          <a:solidFill>
            <a:srgbClr val="2D2D35"/>
          </a:solidFill>
          <a:ln>
            <a:noFill/>
          </a:ln>
        </p:spPr>
      </p:sp>
      <p:sp>
        <p:nvSpPr>
          <p:cNvPr id="217" name="Google Shape;217;p14"/>
          <p:cNvSpPr/>
          <p:nvPr/>
        </p:nvSpPr>
        <p:spPr>
          <a:xfrm>
            <a:off x="205334" y="2418622"/>
            <a:ext cx="7261223" cy="6248029"/>
          </a:xfrm>
          <a:custGeom>
            <a:rect b="b" l="l" r="r" t="t"/>
            <a:pathLst>
              <a:path extrusionOk="0" h="6248029" w="7261223">
                <a:moveTo>
                  <a:pt x="0" y="0"/>
                </a:moveTo>
                <a:lnTo>
                  <a:pt x="7261223" y="0"/>
                </a:lnTo>
                <a:lnTo>
                  <a:pt x="7261223" y="6248029"/>
                </a:lnTo>
                <a:lnTo>
                  <a:pt x="0" y="6248029"/>
                </a:lnTo>
                <a:lnTo>
                  <a:pt x="0" y="0"/>
                </a:lnTo>
                <a:close/>
              </a:path>
            </a:pathLst>
          </a:custGeom>
          <a:blipFill rotWithShape="1">
            <a:blip r:embed="rId3">
              <a:alphaModFix/>
            </a:blip>
            <a:stretch>
              <a:fillRect b="0" l="0" r="0" t="0"/>
            </a:stretch>
          </a:blipFill>
          <a:ln>
            <a:noFill/>
          </a:ln>
        </p:spPr>
      </p:sp>
      <p:sp>
        <p:nvSpPr>
          <p:cNvPr id="218" name="Google Shape;218;p14"/>
          <p:cNvSpPr txBox="1"/>
          <p:nvPr/>
        </p:nvSpPr>
        <p:spPr>
          <a:xfrm>
            <a:off x="7911403" y="658510"/>
            <a:ext cx="10376597" cy="1760112"/>
          </a:xfrm>
          <a:prstGeom prst="rect">
            <a:avLst/>
          </a:prstGeom>
          <a:noFill/>
          <a:ln>
            <a:noFill/>
          </a:ln>
        </p:spPr>
        <p:txBody>
          <a:bodyPr anchorCtr="0" anchor="t" bIns="0" lIns="0" spcFirstLastPara="1" rIns="0" wrap="square" tIns="0">
            <a:spAutoFit/>
          </a:bodyPr>
          <a:lstStyle/>
          <a:p>
            <a:pPr indent="0" lvl="0" marL="0" marR="0" rtl="0" algn="l">
              <a:lnSpc>
                <a:spcPct val="113983"/>
              </a:lnSpc>
              <a:spcBef>
                <a:spcPts val="0"/>
              </a:spcBef>
              <a:spcAft>
                <a:spcPts val="0"/>
              </a:spcAft>
              <a:buNone/>
            </a:pPr>
            <a:r>
              <a:rPr b="0" i="0" lang="en-US" sz="6000" u="none" cap="none" strike="noStrike">
                <a:solidFill>
                  <a:srgbClr val="FFFFFF"/>
                </a:solidFill>
                <a:latin typeface="Courier Prime"/>
                <a:ea typeface="Courier Prime"/>
                <a:cs typeface="Courier Prime"/>
                <a:sym typeface="Courier Prime"/>
              </a:rPr>
              <a:t>Fase de Decodificación (Decode)</a:t>
            </a:r>
            <a:endParaRPr/>
          </a:p>
        </p:txBody>
      </p:sp>
      <p:sp>
        <p:nvSpPr>
          <p:cNvPr id="219" name="Google Shape;219;p14"/>
          <p:cNvSpPr txBox="1"/>
          <p:nvPr/>
        </p:nvSpPr>
        <p:spPr>
          <a:xfrm>
            <a:off x="7911400" y="3180850"/>
            <a:ext cx="9403500" cy="5485800"/>
          </a:xfrm>
          <a:prstGeom prst="rect">
            <a:avLst/>
          </a:prstGeom>
          <a:noFill/>
          <a:ln>
            <a:noFill/>
          </a:ln>
        </p:spPr>
        <p:txBody>
          <a:bodyPr anchorCtr="0" anchor="t" bIns="0" lIns="0" spcFirstLastPara="1" rIns="0" wrap="square" tIns="0">
            <a:spAutoFit/>
          </a:bodyPr>
          <a:lstStyle/>
          <a:p>
            <a:pPr indent="-323850" lvl="1" marL="647700" marR="0" rtl="0" algn="l">
              <a:lnSpc>
                <a:spcPct val="136000"/>
              </a:lnSpc>
              <a:spcBef>
                <a:spcPts val="0"/>
              </a:spcBef>
              <a:spcAft>
                <a:spcPts val="0"/>
              </a:spcAft>
              <a:buClr>
                <a:srgbClr val="FFFFFF"/>
              </a:buClr>
              <a:buSzPts val="3000"/>
              <a:buFont typeface="Arial"/>
              <a:buChar char="•"/>
            </a:pPr>
            <a:r>
              <a:rPr b="0" i="0" lang="en-US" sz="3000" u="none" cap="none" strike="noStrike">
                <a:solidFill>
                  <a:srgbClr val="FFFFFF"/>
                </a:solidFill>
                <a:latin typeface="Courier Prime"/>
                <a:ea typeface="Courier Prime"/>
                <a:cs typeface="Courier Prime"/>
                <a:sym typeface="Courier Prime"/>
              </a:rPr>
              <a:t>La Unidad de Control (CU) interpreta o "decodifica" la instrucción que está en el Registro de </a:t>
            </a:r>
            <a:r>
              <a:rPr lang="en-US" sz="3000">
                <a:solidFill>
                  <a:srgbClr val="FFFFFF"/>
                </a:solidFill>
                <a:latin typeface="Courier Prime"/>
                <a:ea typeface="Courier Prime"/>
                <a:cs typeface="Courier Prime"/>
                <a:sym typeface="Courier Prime"/>
              </a:rPr>
              <a:t>Instrucción</a:t>
            </a:r>
            <a:r>
              <a:rPr b="0" i="0" lang="en-US" sz="3000" u="none" cap="none" strike="noStrike">
                <a:solidFill>
                  <a:srgbClr val="FFFFFF"/>
                </a:solidFill>
                <a:latin typeface="Courier Prime"/>
                <a:ea typeface="Courier Prime"/>
                <a:cs typeface="Courier Prime"/>
                <a:sym typeface="Courier Prime"/>
              </a:rPr>
              <a:t> (IR).</a:t>
            </a:r>
            <a:endParaRPr/>
          </a:p>
          <a:p>
            <a:pPr indent="0" lvl="0" marL="0" marR="0" rtl="0" algn="l">
              <a:lnSpc>
                <a:spcPct val="136000"/>
              </a:lnSpc>
              <a:spcBef>
                <a:spcPts val="0"/>
              </a:spcBef>
              <a:spcAft>
                <a:spcPts val="0"/>
              </a:spcAft>
              <a:buNone/>
            </a:pPr>
            <a:r>
              <a:t/>
            </a:r>
            <a:endParaRPr b="0" i="0" sz="3000" u="none" cap="none" strike="noStrike">
              <a:solidFill>
                <a:srgbClr val="FFFFFF"/>
              </a:solidFill>
              <a:latin typeface="Courier Prime"/>
              <a:ea typeface="Courier Prime"/>
              <a:cs typeface="Courier Prime"/>
              <a:sym typeface="Courier Prime"/>
            </a:endParaRPr>
          </a:p>
          <a:p>
            <a:pPr indent="-323850" lvl="1" marL="647700" marR="0" rtl="0" algn="l">
              <a:lnSpc>
                <a:spcPct val="136000"/>
              </a:lnSpc>
              <a:spcBef>
                <a:spcPts val="0"/>
              </a:spcBef>
              <a:spcAft>
                <a:spcPts val="0"/>
              </a:spcAft>
              <a:buClr>
                <a:srgbClr val="FFFFFF"/>
              </a:buClr>
              <a:buSzPts val="3000"/>
              <a:buFont typeface="Arial"/>
              <a:buChar char="•"/>
            </a:pPr>
            <a:r>
              <a:rPr b="0" i="0" lang="en-US" sz="3000" u="none" cap="none" strike="noStrike">
                <a:solidFill>
                  <a:srgbClr val="FFFFFF"/>
                </a:solidFill>
                <a:latin typeface="Courier Prime"/>
                <a:ea typeface="Courier Prime"/>
                <a:cs typeface="Courier Prime"/>
                <a:sym typeface="Courier Prime"/>
              </a:rPr>
              <a:t>Determina qué operación se debe realizar (por ejemplo, una suma, una comparación, mover un dato) y qué operandos (datos) se necesitan.</a:t>
            </a:r>
            <a:endParaRPr/>
          </a:p>
          <a:p>
            <a:pPr indent="0" lvl="0" marL="0" marR="0" rtl="0" algn="l">
              <a:lnSpc>
                <a:spcPct val="136000"/>
              </a:lnSpc>
              <a:spcBef>
                <a:spcPts val="0"/>
              </a:spcBef>
              <a:spcAft>
                <a:spcPts val="0"/>
              </a:spcAft>
              <a:buNone/>
            </a:pPr>
            <a:r>
              <a:t/>
            </a:r>
            <a:endParaRPr b="0" i="0" sz="3000" u="none" cap="none" strike="noStrike">
              <a:solidFill>
                <a:srgbClr val="FFFFFF"/>
              </a:solidFill>
              <a:latin typeface="Courier Prime"/>
              <a:ea typeface="Courier Prime"/>
              <a:cs typeface="Courier Prime"/>
              <a:sym typeface="Courier Prim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223" name="Shape 223"/>
        <p:cNvGrpSpPr/>
        <p:nvPr/>
      </p:nvGrpSpPr>
      <p:grpSpPr>
        <a:xfrm>
          <a:off x="0" y="0"/>
          <a:ext cx="0" cy="0"/>
          <a:chOff x="0" y="0"/>
          <a:chExt cx="0" cy="0"/>
        </a:xfrm>
      </p:grpSpPr>
      <p:sp>
        <p:nvSpPr>
          <p:cNvPr id="224" name="Google Shape;224;p15"/>
          <p:cNvSpPr/>
          <p:nvPr/>
        </p:nvSpPr>
        <p:spPr>
          <a:xfrm>
            <a:off x="9755662" y="-102870"/>
            <a:ext cx="8702915" cy="10389870"/>
          </a:xfrm>
          <a:custGeom>
            <a:rect b="b" l="l" r="r" t="t"/>
            <a:pathLst>
              <a:path extrusionOk="0" h="3790253" w="3174847">
                <a:moveTo>
                  <a:pt x="0" y="0"/>
                </a:moveTo>
                <a:lnTo>
                  <a:pt x="3174847" y="0"/>
                </a:lnTo>
                <a:lnTo>
                  <a:pt x="3174847" y="3790253"/>
                </a:lnTo>
                <a:lnTo>
                  <a:pt x="0" y="3790253"/>
                </a:lnTo>
                <a:close/>
              </a:path>
            </a:pathLst>
          </a:custGeom>
          <a:solidFill>
            <a:srgbClr val="2D2D35"/>
          </a:solidFill>
          <a:ln>
            <a:noFill/>
          </a:ln>
        </p:spPr>
      </p:sp>
      <p:sp>
        <p:nvSpPr>
          <p:cNvPr id="225" name="Google Shape;225;p15"/>
          <p:cNvSpPr/>
          <p:nvPr/>
        </p:nvSpPr>
        <p:spPr>
          <a:xfrm>
            <a:off x="9912599" y="2332728"/>
            <a:ext cx="8075672" cy="4708180"/>
          </a:xfrm>
          <a:custGeom>
            <a:rect b="b" l="l" r="r" t="t"/>
            <a:pathLst>
              <a:path extrusionOk="0" h="4708180" w="8075672">
                <a:moveTo>
                  <a:pt x="0" y="0"/>
                </a:moveTo>
                <a:lnTo>
                  <a:pt x="8075671" y="0"/>
                </a:lnTo>
                <a:lnTo>
                  <a:pt x="8075671" y="4708179"/>
                </a:lnTo>
                <a:lnTo>
                  <a:pt x="0" y="4708179"/>
                </a:lnTo>
                <a:lnTo>
                  <a:pt x="0" y="0"/>
                </a:lnTo>
                <a:close/>
              </a:path>
            </a:pathLst>
          </a:custGeom>
          <a:blipFill rotWithShape="1">
            <a:blip r:embed="rId3">
              <a:alphaModFix/>
            </a:blip>
            <a:stretch>
              <a:fillRect b="0" l="0" r="0" t="0"/>
            </a:stretch>
          </a:blipFill>
          <a:ln>
            <a:noFill/>
          </a:ln>
        </p:spPr>
      </p:sp>
      <p:sp>
        <p:nvSpPr>
          <p:cNvPr id="226" name="Google Shape;226;p15"/>
          <p:cNvSpPr txBox="1"/>
          <p:nvPr/>
        </p:nvSpPr>
        <p:spPr>
          <a:xfrm>
            <a:off x="602400" y="376728"/>
            <a:ext cx="8652900" cy="1976100"/>
          </a:xfrm>
          <a:prstGeom prst="rect">
            <a:avLst/>
          </a:prstGeom>
          <a:noFill/>
          <a:ln>
            <a:noFill/>
          </a:ln>
        </p:spPr>
        <p:txBody>
          <a:bodyPr anchorCtr="0" anchor="t" bIns="0" lIns="0" spcFirstLastPara="1" rIns="0" wrap="square" tIns="0">
            <a:spAutoFit/>
          </a:bodyPr>
          <a:lstStyle/>
          <a:p>
            <a:pPr indent="0" lvl="0" marL="0" marR="0" rtl="0" algn="l">
              <a:lnSpc>
                <a:spcPct val="113983"/>
              </a:lnSpc>
              <a:spcBef>
                <a:spcPts val="0"/>
              </a:spcBef>
              <a:spcAft>
                <a:spcPts val="0"/>
              </a:spcAft>
              <a:buNone/>
            </a:pPr>
            <a:r>
              <a:rPr b="0" i="0" lang="en-US" sz="6000" u="none" cap="none" strike="noStrike">
                <a:solidFill>
                  <a:srgbClr val="FFFFFF"/>
                </a:solidFill>
                <a:latin typeface="Courier Prime"/>
                <a:ea typeface="Courier Prime"/>
                <a:cs typeface="Courier Prime"/>
                <a:sym typeface="Courier Prime"/>
              </a:rPr>
              <a:t>Fase de Ejecución (Execute)</a:t>
            </a:r>
            <a:endParaRPr/>
          </a:p>
        </p:txBody>
      </p:sp>
      <p:sp>
        <p:nvSpPr>
          <p:cNvPr id="227" name="Google Shape;227;p15"/>
          <p:cNvSpPr txBox="1"/>
          <p:nvPr/>
        </p:nvSpPr>
        <p:spPr>
          <a:xfrm>
            <a:off x="-191875" y="2438793"/>
            <a:ext cx="9947400" cy="7475700"/>
          </a:xfrm>
          <a:prstGeom prst="rect">
            <a:avLst/>
          </a:prstGeom>
          <a:noFill/>
          <a:ln>
            <a:noFill/>
          </a:ln>
        </p:spPr>
        <p:txBody>
          <a:bodyPr anchorCtr="0" anchor="t" bIns="0" lIns="0" spcFirstLastPara="1" rIns="0" wrap="square" tIns="0">
            <a:spAutoFit/>
          </a:bodyPr>
          <a:lstStyle/>
          <a:p>
            <a:pPr indent="-298450" lvl="1" marL="647700" marR="0" rtl="0" algn="l">
              <a:lnSpc>
                <a:spcPct val="136000"/>
              </a:lnSpc>
              <a:spcBef>
                <a:spcPts val="0"/>
              </a:spcBef>
              <a:spcAft>
                <a:spcPts val="0"/>
              </a:spcAft>
              <a:buClr>
                <a:srgbClr val="FFFFFF"/>
              </a:buClr>
              <a:buSzPts val="2600"/>
              <a:buFont typeface="Arial"/>
              <a:buChar char="•"/>
            </a:pPr>
            <a:r>
              <a:rPr b="0" i="0" lang="en-US" sz="2600" u="none" cap="none" strike="noStrike">
                <a:solidFill>
                  <a:srgbClr val="FFFFFF"/>
                </a:solidFill>
                <a:latin typeface="Courier Prime"/>
                <a:ea typeface="Courier Prime"/>
                <a:cs typeface="Courier Prime"/>
                <a:sym typeface="Courier Prime"/>
              </a:rPr>
              <a:t>La Unidad de Control envía señales a los componentes correspondientes para que realicen la acción.</a:t>
            </a:r>
            <a:endParaRPr sz="2600"/>
          </a:p>
          <a:p>
            <a:pPr indent="0" lvl="0" marL="0" marR="0" rtl="0" algn="l">
              <a:lnSpc>
                <a:spcPct val="136000"/>
              </a:lnSpc>
              <a:spcBef>
                <a:spcPts val="0"/>
              </a:spcBef>
              <a:spcAft>
                <a:spcPts val="0"/>
              </a:spcAft>
              <a:buNone/>
            </a:pPr>
            <a:r>
              <a:t/>
            </a:r>
            <a:endParaRPr b="0" i="0" sz="2600" u="none" cap="none" strike="noStrike">
              <a:solidFill>
                <a:srgbClr val="FFFFFF"/>
              </a:solidFill>
              <a:latin typeface="Courier Prime"/>
              <a:ea typeface="Courier Prime"/>
              <a:cs typeface="Courier Prime"/>
              <a:sym typeface="Courier Prime"/>
            </a:endParaRPr>
          </a:p>
          <a:p>
            <a:pPr indent="-298450" lvl="1" marL="647700" marR="0" rtl="0" algn="l">
              <a:lnSpc>
                <a:spcPct val="136000"/>
              </a:lnSpc>
              <a:spcBef>
                <a:spcPts val="0"/>
              </a:spcBef>
              <a:spcAft>
                <a:spcPts val="0"/>
              </a:spcAft>
              <a:buClr>
                <a:srgbClr val="FFFFFF"/>
              </a:buClr>
              <a:buSzPts val="2600"/>
              <a:buFont typeface="Arial"/>
              <a:buChar char="•"/>
            </a:pPr>
            <a:r>
              <a:rPr b="0" i="0" lang="en-US" sz="2600" u="none" cap="none" strike="noStrike">
                <a:solidFill>
                  <a:srgbClr val="FFFFFF"/>
                </a:solidFill>
                <a:latin typeface="Courier Prime"/>
                <a:ea typeface="Courier Prime"/>
                <a:cs typeface="Courier Prime"/>
                <a:sym typeface="Courier Prime"/>
              </a:rPr>
              <a:t>Si es una operación matemática o lógica, se le pasa la tarea a la ALU.</a:t>
            </a:r>
            <a:endParaRPr sz="2600"/>
          </a:p>
          <a:p>
            <a:pPr indent="0" lvl="0" marL="0" marR="0" rtl="0" algn="l">
              <a:lnSpc>
                <a:spcPct val="136000"/>
              </a:lnSpc>
              <a:spcBef>
                <a:spcPts val="0"/>
              </a:spcBef>
              <a:spcAft>
                <a:spcPts val="0"/>
              </a:spcAft>
              <a:buNone/>
            </a:pPr>
            <a:r>
              <a:t/>
            </a:r>
            <a:endParaRPr b="0" i="0" sz="2600" u="none" cap="none" strike="noStrike">
              <a:solidFill>
                <a:srgbClr val="FFFFFF"/>
              </a:solidFill>
              <a:latin typeface="Courier Prime"/>
              <a:ea typeface="Courier Prime"/>
              <a:cs typeface="Courier Prime"/>
              <a:sym typeface="Courier Prime"/>
            </a:endParaRPr>
          </a:p>
          <a:p>
            <a:pPr indent="-298450" lvl="1" marL="647700" marR="0" rtl="0" algn="l">
              <a:lnSpc>
                <a:spcPct val="136000"/>
              </a:lnSpc>
              <a:spcBef>
                <a:spcPts val="0"/>
              </a:spcBef>
              <a:spcAft>
                <a:spcPts val="0"/>
              </a:spcAft>
              <a:buClr>
                <a:srgbClr val="FFFFFF"/>
              </a:buClr>
              <a:buSzPts val="2600"/>
              <a:buFont typeface="Arial"/>
              <a:buChar char="•"/>
            </a:pPr>
            <a:r>
              <a:rPr b="0" i="0" lang="en-US" sz="2600" u="none" cap="none" strike="noStrike">
                <a:solidFill>
                  <a:srgbClr val="FFFFFF"/>
                </a:solidFill>
                <a:latin typeface="Courier Prime"/>
                <a:ea typeface="Courier Prime"/>
                <a:cs typeface="Courier Prime"/>
                <a:sym typeface="Courier Prime"/>
              </a:rPr>
              <a:t>El resultado de la operación se almacena en un registro de la CPU o se escribe de nuevo en la memoria RAM.</a:t>
            </a:r>
            <a:endParaRPr b="0" i="0" sz="2600" u="none" cap="none" strike="noStrike">
              <a:solidFill>
                <a:srgbClr val="FFFFFF"/>
              </a:solidFill>
              <a:latin typeface="Courier Prime"/>
              <a:ea typeface="Courier Prime"/>
              <a:cs typeface="Courier Prime"/>
              <a:sym typeface="Courier Prime"/>
            </a:endParaRPr>
          </a:p>
          <a:p>
            <a:pPr indent="0" lvl="0" marL="914400" marR="0" rtl="0" algn="l">
              <a:lnSpc>
                <a:spcPct val="136000"/>
              </a:lnSpc>
              <a:spcBef>
                <a:spcPts val="0"/>
              </a:spcBef>
              <a:spcAft>
                <a:spcPts val="0"/>
              </a:spcAft>
              <a:buNone/>
            </a:pPr>
            <a:r>
              <a:t/>
            </a:r>
            <a:endParaRPr sz="2600">
              <a:solidFill>
                <a:srgbClr val="FFFFFF"/>
              </a:solidFill>
              <a:latin typeface="Courier Prime"/>
              <a:ea typeface="Courier Prime"/>
              <a:cs typeface="Courier Prime"/>
              <a:sym typeface="Courier Prime"/>
            </a:endParaRPr>
          </a:p>
          <a:p>
            <a:pPr indent="-298450" lvl="1" marL="647700" marR="0" rtl="0" algn="l">
              <a:lnSpc>
                <a:spcPct val="136000"/>
              </a:lnSpc>
              <a:spcBef>
                <a:spcPts val="0"/>
              </a:spcBef>
              <a:spcAft>
                <a:spcPts val="0"/>
              </a:spcAft>
              <a:buClr>
                <a:srgbClr val="FFFFFF"/>
              </a:buClr>
              <a:buSzPts val="2600"/>
              <a:buFont typeface="Arial"/>
              <a:buChar char="•"/>
            </a:pPr>
            <a:r>
              <a:rPr b="0" i="0" lang="en-US" sz="2600" u="none" cap="none" strike="noStrike">
                <a:solidFill>
                  <a:srgbClr val="FFFFFF"/>
                </a:solidFill>
                <a:latin typeface="Courier Prime"/>
                <a:ea typeface="Courier Prime"/>
                <a:cs typeface="Courier Prime"/>
                <a:sym typeface="Courier Prime"/>
              </a:rPr>
              <a:t>Una vez terminada la ejecución, el ciclo vuelve a empezar con la fase de búsqueda para la siguiente instrucción.</a:t>
            </a:r>
            <a:endParaRPr sz="2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231" name="Shape 231"/>
        <p:cNvGrpSpPr/>
        <p:nvPr/>
      </p:nvGrpSpPr>
      <p:grpSpPr>
        <a:xfrm>
          <a:off x="0" y="0"/>
          <a:ext cx="0" cy="0"/>
          <a:chOff x="0" y="0"/>
          <a:chExt cx="0" cy="0"/>
        </a:xfrm>
      </p:grpSpPr>
      <p:sp>
        <p:nvSpPr>
          <p:cNvPr id="232" name="Google Shape;232;p16"/>
          <p:cNvSpPr/>
          <p:nvPr/>
        </p:nvSpPr>
        <p:spPr>
          <a:xfrm>
            <a:off x="915950" y="4572200"/>
            <a:ext cx="8224347" cy="5521288"/>
          </a:xfrm>
          <a:custGeom>
            <a:rect b="b" l="l" r="r" t="t"/>
            <a:pathLst>
              <a:path extrusionOk="0" h="2226326" w="3412592">
                <a:moveTo>
                  <a:pt x="0" y="0"/>
                </a:moveTo>
                <a:lnTo>
                  <a:pt x="3412592" y="0"/>
                </a:lnTo>
                <a:lnTo>
                  <a:pt x="3412592" y="2226326"/>
                </a:lnTo>
                <a:lnTo>
                  <a:pt x="0" y="2226326"/>
                </a:lnTo>
                <a:close/>
              </a:path>
            </a:pathLst>
          </a:custGeom>
          <a:solidFill>
            <a:srgbClr val="2D2D35"/>
          </a:solidFill>
          <a:ln>
            <a:noFill/>
          </a:ln>
        </p:spPr>
      </p:sp>
      <p:cxnSp>
        <p:nvCxnSpPr>
          <p:cNvPr id="233" name="Google Shape;233;p16"/>
          <p:cNvCxnSpPr/>
          <p:nvPr/>
        </p:nvCxnSpPr>
        <p:spPr>
          <a:xfrm>
            <a:off x="9106847" y="7553008"/>
            <a:ext cx="2078956" cy="0"/>
          </a:xfrm>
          <a:prstGeom prst="straightConnector1">
            <a:avLst/>
          </a:prstGeom>
          <a:noFill/>
          <a:ln cap="flat" cmpd="sng" w="47625">
            <a:solidFill>
              <a:srgbClr val="737373"/>
            </a:solidFill>
            <a:prstDash val="dot"/>
            <a:round/>
            <a:headEnd len="sm" w="sm" type="none"/>
            <a:tailEnd len="sm" w="sm" type="none"/>
          </a:ln>
        </p:spPr>
      </p:cxnSp>
      <p:sp>
        <p:nvSpPr>
          <p:cNvPr id="234" name="Google Shape;234;p16"/>
          <p:cNvSpPr/>
          <p:nvPr/>
        </p:nvSpPr>
        <p:spPr>
          <a:xfrm>
            <a:off x="11185803" y="4504168"/>
            <a:ext cx="6323941" cy="5365446"/>
          </a:xfrm>
          <a:custGeom>
            <a:rect b="b" l="l" r="r" t="t"/>
            <a:pathLst>
              <a:path extrusionOk="0" h="2226326" w="2624042">
                <a:moveTo>
                  <a:pt x="0" y="0"/>
                </a:moveTo>
                <a:lnTo>
                  <a:pt x="2624042" y="0"/>
                </a:lnTo>
                <a:lnTo>
                  <a:pt x="2624042" y="2226326"/>
                </a:lnTo>
                <a:lnTo>
                  <a:pt x="0" y="2226326"/>
                </a:lnTo>
                <a:close/>
              </a:path>
            </a:pathLst>
          </a:custGeom>
          <a:solidFill>
            <a:srgbClr val="2D2D35"/>
          </a:solidFill>
          <a:ln>
            <a:noFill/>
          </a:ln>
        </p:spPr>
      </p:sp>
      <p:sp>
        <p:nvSpPr>
          <p:cNvPr id="235" name="Google Shape;235;p16"/>
          <p:cNvSpPr txBox="1"/>
          <p:nvPr/>
        </p:nvSpPr>
        <p:spPr>
          <a:xfrm>
            <a:off x="1181375" y="4881878"/>
            <a:ext cx="6360964" cy="1139571"/>
          </a:xfrm>
          <a:prstGeom prst="rect">
            <a:avLst/>
          </a:prstGeom>
          <a:noFill/>
          <a:ln>
            <a:noFill/>
          </a:ln>
        </p:spPr>
        <p:txBody>
          <a:bodyPr anchorCtr="0" anchor="t" bIns="0" lIns="0" spcFirstLastPara="1" rIns="0" wrap="square" tIns="0">
            <a:spAutoFit/>
          </a:bodyPr>
          <a:lstStyle/>
          <a:p>
            <a:pPr indent="0" lvl="0" marL="0" marR="0" rtl="0" algn="l">
              <a:lnSpc>
                <a:spcPct val="127000"/>
              </a:lnSpc>
              <a:spcBef>
                <a:spcPts val="0"/>
              </a:spcBef>
              <a:spcAft>
                <a:spcPts val="0"/>
              </a:spcAft>
              <a:buNone/>
            </a:pPr>
            <a:r>
              <a:rPr b="0" i="0" lang="en-US" sz="3600" u="none" cap="none" strike="noStrike">
                <a:solidFill>
                  <a:srgbClr val="FF914D"/>
                </a:solidFill>
                <a:latin typeface="Courier Prime"/>
                <a:ea typeface="Courier Prime"/>
                <a:cs typeface="Courier Prime"/>
                <a:sym typeface="Courier Prime"/>
              </a:rPr>
              <a:t>CONTADOR DE PROGRAMA (PROGRAM COUNTER - PC)</a:t>
            </a:r>
            <a:endParaRPr/>
          </a:p>
        </p:txBody>
      </p:sp>
      <p:sp>
        <p:nvSpPr>
          <p:cNvPr id="236" name="Google Shape;236;p16"/>
          <p:cNvSpPr txBox="1"/>
          <p:nvPr/>
        </p:nvSpPr>
        <p:spPr>
          <a:xfrm>
            <a:off x="1181375" y="6327665"/>
            <a:ext cx="7746900" cy="3570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900" u="none" cap="none" strike="noStrike">
                <a:solidFill>
                  <a:srgbClr val="FFFFFF"/>
                </a:solidFill>
                <a:latin typeface="Courier Prime"/>
                <a:ea typeface="Courier Prime"/>
                <a:cs typeface="Courier Prime"/>
                <a:sym typeface="Courier Prime"/>
              </a:rPr>
              <a:t>Almacena la dirección de memoria de la siguiente instrucción que se va a ejecutar. Después de cada ciclo, se actualiza para apuntar a la próxima instrucción en la secuencia.</a:t>
            </a:r>
            <a:endParaRPr sz="2900"/>
          </a:p>
        </p:txBody>
      </p:sp>
      <p:sp>
        <p:nvSpPr>
          <p:cNvPr id="237" name="Google Shape;237;p16"/>
          <p:cNvSpPr txBox="1"/>
          <p:nvPr/>
        </p:nvSpPr>
        <p:spPr>
          <a:xfrm>
            <a:off x="11736759" y="5900583"/>
            <a:ext cx="5640426" cy="31905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Courier Prime"/>
                <a:ea typeface="Courier Prime"/>
                <a:cs typeface="Courier Prime"/>
                <a:sym typeface="Courier Prime"/>
              </a:rPr>
              <a:t>Garantiza que el programa se ejecute en el orden correcto, instrucción por instrucción.</a:t>
            </a:r>
            <a:endParaRPr/>
          </a:p>
          <a:p>
            <a:pPr indent="0" lvl="0" marL="0" marR="0" rtl="0" algn="l">
              <a:lnSpc>
                <a:spcPct val="140000"/>
              </a:lnSpc>
              <a:spcBef>
                <a:spcPts val="0"/>
              </a:spcBef>
              <a:spcAft>
                <a:spcPts val="0"/>
              </a:spcAft>
              <a:buNone/>
            </a:pPr>
            <a:r>
              <a:t/>
            </a:r>
            <a:endParaRPr b="0" i="0" sz="3000" u="none" cap="none" strike="noStrike">
              <a:solidFill>
                <a:srgbClr val="FFFFFF"/>
              </a:solidFill>
              <a:latin typeface="Courier Prime"/>
              <a:ea typeface="Courier Prime"/>
              <a:cs typeface="Courier Prime"/>
              <a:sym typeface="Courier Prime"/>
            </a:endParaRPr>
          </a:p>
        </p:txBody>
      </p:sp>
      <p:sp>
        <p:nvSpPr>
          <p:cNvPr id="238" name="Google Shape;238;p16"/>
          <p:cNvSpPr txBox="1"/>
          <p:nvPr/>
        </p:nvSpPr>
        <p:spPr>
          <a:xfrm>
            <a:off x="11958659" y="5049192"/>
            <a:ext cx="2598314" cy="568071"/>
          </a:xfrm>
          <a:prstGeom prst="rect">
            <a:avLst/>
          </a:prstGeom>
          <a:noFill/>
          <a:ln>
            <a:noFill/>
          </a:ln>
        </p:spPr>
        <p:txBody>
          <a:bodyPr anchorCtr="0" anchor="t" bIns="0" lIns="0" spcFirstLastPara="1" rIns="0" wrap="square" tIns="0">
            <a:spAutoFit/>
          </a:bodyPr>
          <a:lstStyle/>
          <a:p>
            <a:pPr indent="0" lvl="0" marL="0" marR="0" rtl="0" algn="l">
              <a:lnSpc>
                <a:spcPct val="127000"/>
              </a:lnSpc>
              <a:spcBef>
                <a:spcPts val="0"/>
              </a:spcBef>
              <a:spcAft>
                <a:spcPts val="0"/>
              </a:spcAft>
              <a:buNone/>
            </a:pPr>
            <a:r>
              <a:rPr b="1" i="0" lang="en-US" sz="3600" u="none" cap="none" strike="noStrike">
                <a:solidFill>
                  <a:srgbClr val="CB6CE6"/>
                </a:solidFill>
                <a:latin typeface="Courier Prime"/>
                <a:ea typeface="Courier Prime"/>
                <a:cs typeface="Courier Prime"/>
                <a:sym typeface="Courier Prime"/>
              </a:rPr>
              <a:t>USO</a:t>
            </a:r>
            <a:endParaRPr/>
          </a:p>
        </p:txBody>
      </p:sp>
      <p:sp>
        <p:nvSpPr>
          <p:cNvPr id="239" name="Google Shape;239;p16"/>
          <p:cNvSpPr/>
          <p:nvPr/>
        </p:nvSpPr>
        <p:spPr>
          <a:xfrm>
            <a:off x="8928291" y="7313486"/>
            <a:ext cx="431419" cy="431419"/>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91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6"/>
          <p:cNvSpPr/>
          <p:nvPr/>
        </p:nvSpPr>
        <p:spPr>
          <a:xfrm>
            <a:off x="10970093" y="7313486"/>
            <a:ext cx="431419" cy="431419"/>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6"/>
          <p:cNvSpPr txBox="1"/>
          <p:nvPr/>
        </p:nvSpPr>
        <p:spPr>
          <a:xfrm>
            <a:off x="262350" y="484102"/>
            <a:ext cx="17763300" cy="892500"/>
          </a:xfrm>
          <a:prstGeom prst="rect">
            <a:avLst/>
          </a:prstGeom>
          <a:noFill/>
          <a:ln>
            <a:noFill/>
          </a:ln>
        </p:spPr>
        <p:txBody>
          <a:bodyPr anchorCtr="0" anchor="t" bIns="0" lIns="0" spcFirstLastPara="1" rIns="0" wrap="square" tIns="0">
            <a:spAutoFit/>
          </a:bodyPr>
          <a:lstStyle/>
          <a:p>
            <a:pPr indent="0" lvl="0" marL="0" marR="0" rtl="0" algn="l">
              <a:lnSpc>
                <a:spcPct val="114002"/>
              </a:lnSpc>
              <a:spcBef>
                <a:spcPts val="0"/>
              </a:spcBef>
              <a:spcAft>
                <a:spcPts val="0"/>
              </a:spcAft>
              <a:buNone/>
            </a:pPr>
            <a:r>
              <a:rPr b="0" i="0" lang="en-US" sz="5799" u="none" cap="none" strike="noStrike">
                <a:solidFill>
                  <a:srgbClr val="FFFFFF"/>
                </a:solidFill>
                <a:latin typeface="Courier Prime"/>
                <a:ea typeface="Courier Prime"/>
                <a:cs typeface="Courier Prime"/>
                <a:sym typeface="Courier Prime"/>
              </a:rPr>
              <a:t>Componentes de la Unidad de Control (CU)</a:t>
            </a:r>
            <a:endParaRPr/>
          </a:p>
        </p:txBody>
      </p:sp>
      <p:sp>
        <p:nvSpPr>
          <p:cNvPr id="242" name="Google Shape;242;p16"/>
          <p:cNvSpPr txBox="1"/>
          <p:nvPr/>
        </p:nvSpPr>
        <p:spPr>
          <a:xfrm>
            <a:off x="1170050" y="1516136"/>
            <a:ext cx="15948000" cy="2775600"/>
          </a:xfrm>
          <a:prstGeom prst="rect">
            <a:avLst/>
          </a:prstGeom>
          <a:noFill/>
          <a:ln>
            <a:noFill/>
          </a:ln>
        </p:spPr>
        <p:txBody>
          <a:bodyPr anchorCtr="0" anchor="t" bIns="0" lIns="0" spcFirstLastPara="1" rIns="0" wrap="square" tIns="0">
            <a:spAutoFit/>
          </a:bodyPr>
          <a:lstStyle/>
          <a:p>
            <a:pPr indent="0" lvl="0" marL="0" marR="0" rtl="0" algn="l">
              <a:lnSpc>
                <a:spcPct val="135997"/>
              </a:lnSpc>
              <a:spcBef>
                <a:spcPts val="0"/>
              </a:spcBef>
              <a:spcAft>
                <a:spcPts val="0"/>
              </a:spcAft>
              <a:buNone/>
            </a:pPr>
            <a:r>
              <a:rPr b="0" i="0" lang="en-US" sz="2800" u="none" cap="none" strike="noStrike">
                <a:solidFill>
                  <a:srgbClr val="FFFFFF"/>
                </a:solidFill>
                <a:latin typeface="Courier Prime"/>
                <a:ea typeface="Courier Prime"/>
                <a:cs typeface="Courier Prime"/>
                <a:sym typeface="Courier Prime"/>
              </a:rPr>
              <a:t>La Unidad de Control (CU) es el "cerebro" o "director de orquesta" de la CPU. No realiza cálculos, sino que dirige y coordina las actividades de todas las demás partes de la computadora. Interpreta las instrucciones del programa y genera las señales de control necesarias para ejecutarlas.</a:t>
            </a:r>
            <a:endParaRPr b="0" i="0" sz="2800" u="none" cap="none" strike="noStrike">
              <a:solidFill>
                <a:srgbClr val="FFFFFF"/>
              </a:solidFill>
              <a:latin typeface="Courier Prime"/>
              <a:ea typeface="Courier Prime"/>
              <a:cs typeface="Courier Prime"/>
              <a:sym typeface="Courier Prime"/>
            </a:endParaRPr>
          </a:p>
          <a:p>
            <a:pPr indent="0" lvl="0" marL="0" marR="0" rtl="0" algn="l">
              <a:lnSpc>
                <a:spcPct val="135997"/>
              </a:lnSpc>
              <a:spcBef>
                <a:spcPts val="0"/>
              </a:spcBef>
              <a:spcAft>
                <a:spcPts val="0"/>
              </a:spcAft>
              <a:buNone/>
            </a:pPr>
            <a:r>
              <a:rPr b="0" i="0" lang="en-US" sz="2800" u="none" cap="none" strike="noStrike">
                <a:solidFill>
                  <a:srgbClr val="FFFFFF"/>
                </a:solidFill>
                <a:latin typeface="Courier Prime"/>
                <a:ea typeface="Courier Prime"/>
                <a:cs typeface="Courier Prime"/>
                <a:sym typeface="Courier Prime"/>
              </a:rPr>
              <a:t>Componentes Principales y su Función:</a:t>
            </a:r>
            <a:endParaRPr sz="2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246" name="Shape 246"/>
        <p:cNvGrpSpPr/>
        <p:nvPr/>
      </p:nvGrpSpPr>
      <p:grpSpPr>
        <a:xfrm>
          <a:off x="0" y="0"/>
          <a:ext cx="0" cy="0"/>
          <a:chOff x="0" y="0"/>
          <a:chExt cx="0" cy="0"/>
        </a:xfrm>
      </p:grpSpPr>
      <p:cxnSp>
        <p:nvCxnSpPr>
          <p:cNvPr id="247" name="Google Shape;247;p17"/>
          <p:cNvCxnSpPr/>
          <p:nvPr/>
        </p:nvCxnSpPr>
        <p:spPr>
          <a:xfrm>
            <a:off x="9006839" y="5829232"/>
            <a:ext cx="2291703" cy="0"/>
          </a:xfrm>
          <a:prstGeom prst="straightConnector1">
            <a:avLst/>
          </a:prstGeom>
          <a:noFill/>
          <a:ln cap="flat" cmpd="sng" w="47625">
            <a:solidFill>
              <a:srgbClr val="737373"/>
            </a:solidFill>
            <a:prstDash val="dot"/>
            <a:round/>
            <a:headEnd len="sm" w="sm" type="none"/>
            <a:tailEnd len="sm" w="sm" type="none"/>
          </a:ln>
        </p:spPr>
      </p:cxnSp>
      <p:sp>
        <p:nvSpPr>
          <p:cNvPr id="248" name="Google Shape;248;p17"/>
          <p:cNvSpPr/>
          <p:nvPr/>
        </p:nvSpPr>
        <p:spPr>
          <a:xfrm>
            <a:off x="1028700" y="2739571"/>
            <a:ext cx="7978139" cy="5367854"/>
          </a:xfrm>
          <a:custGeom>
            <a:rect b="b" l="l" r="r" t="t"/>
            <a:pathLst>
              <a:path extrusionOk="0" h="2226326" w="3308945">
                <a:moveTo>
                  <a:pt x="0" y="0"/>
                </a:moveTo>
                <a:lnTo>
                  <a:pt x="3308945" y="0"/>
                </a:lnTo>
                <a:lnTo>
                  <a:pt x="3308945" y="2226326"/>
                </a:lnTo>
                <a:lnTo>
                  <a:pt x="0" y="2226326"/>
                </a:lnTo>
                <a:close/>
              </a:path>
            </a:pathLst>
          </a:custGeom>
          <a:solidFill>
            <a:srgbClr val="2D2D35"/>
          </a:solidFill>
          <a:ln>
            <a:noFill/>
          </a:ln>
        </p:spPr>
      </p:sp>
      <p:sp>
        <p:nvSpPr>
          <p:cNvPr id="249" name="Google Shape;249;p17"/>
          <p:cNvSpPr/>
          <p:nvPr/>
        </p:nvSpPr>
        <p:spPr>
          <a:xfrm>
            <a:off x="11298542" y="2739571"/>
            <a:ext cx="6382387" cy="5367854"/>
          </a:xfrm>
          <a:custGeom>
            <a:rect b="b" l="l" r="r" t="t"/>
            <a:pathLst>
              <a:path extrusionOk="0" h="2226326" w="2647105">
                <a:moveTo>
                  <a:pt x="0" y="0"/>
                </a:moveTo>
                <a:lnTo>
                  <a:pt x="2647105" y="0"/>
                </a:lnTo>
                <a:lnTo>
                  <a:pt x="2647105" y="2226326"/>
                </a:lnTo>
                <a:lnTo>
                  <a:pt x="0" y="2226326"/>
                </a:lnTo>
                <a:close/>
              </a:path>
            </a:pathLst>
          </a:custGeom>
          <a:solidFill>
            <a:srgbClr val="2D2D35"/>
          </a:solidFill>
          <a:ln>
            <a:noFill/>
          </a:ln>
        </p:spPr>
      </p:sp>
      <p:sp>
        <p:nvSpPr>
          <p:cNvPr id="250" name="Google Shape;250;p17"/>
          <p:cNvSpPr txBox="1"/>
          <p:nvPr/>
        </p:nvSpPr>
        <p:spPr>
          <a:xfrm>
            <a:off x="1294114" y="3158102"/>
            <a:ext cx="7712725" cy="1139571"/>
          </a:xfrm>
          <a:prstGeom prst="rect">
            <a:avLst/>
          </a:prstGeom>
          <a:noFill/>
          <a:ln>
            <a:noFill/>
          </a:ln>
        </p:spPr>
        <p:txBody>
          <a:bodyPr anchorCtr="0" anchor="t" bIns="0" lIns="0" spcFirstLastPara="1" rIns="0" wrap="square" tIns="0">
            <a:spAutoFit/>
          </a:bodyPr>
          <a:lstStyle/>
          <a:p>
            <a:pPr indent="0" lvl="0" marL="0" marR="0" rtl="0" algn="l">
              <a:lnSpc>
                <a:spcPct val="127000"/>
              </a:lnSpc>
              <a:spcBef>
                <a:spcPts val="0"/>
              </a:spcBef>
              <a:spcAft>
                <a:spcPts val="0"/>
              </a:spcAft>
              <a:buNone/>
            </a:pPr>
            <a:r>
              <a:rPr b="0" i="0" lang="en-US" sz="3600" u="none" cap="none" strike="noStrike">
                <a:solidFill>
                  <a:srgbClr val="FF914D"/>
                </a:solidFill>
                <a:latin typeface="Courier Prime"/>
                <a:ea typeface="Courier Prime"/>
                <a:cs typeface="Courier Prime"/>
                <a:sym typeface="Courier Prime"/>
              </a:rPr>
              <a:t>REGISTRO DE INSTRUCCIÓN (INSTRUCTION REGISTER - IR)</a:t>
            </a:r>
            <a:endParaRPr/>
          </a:p>
        </p:txBody>
      </p:sp>
      <p:sp>
        <p:nvSpPr>
          <p:cNvPr id="251" name="Google Shape;251;p17"/>
          <p:cNvSpPr txBox="1"/>
          <p:nvPr/>
        </p:nvSpPr>
        <p:spPr>
          <a:xfrm>
            <a:off x="1503664" y="4757514"/>
            <a:ext cx="6989842" cy="265720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Courier Prime"/>
                <a:ea typeface="Courier Prime"/>
                <a:cs typeface="Courier Prime"/>
                <a:sym typeface="Courier Prime"/>
              </a:rPr>
              <a:t>Almacena temporalmente la instrucción que se ha traído de la memoria y que se está decodificando y ejecutando en ese momento.</a:t>
            </a:r>
            <a:endParaRPr/>
          </a:p>
        </p:txBody>
      </p:sp>
      <p:sp>
        <p:nvSpPr>
          <p:cNvPr id="252" name="Google Shape;252;p17"/>
          <p:cNvSpPr txBox="1"/>
          <p:nvPr/>
        </p:nvSpPr>
        <p:spPr>
          <a:xfrm>
            <a:off x="11776790" y="4221473"/>
            <a:ext cx="5785843" cy="2810854"/>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3166" u="none" cap="none" strike="noStrike">
                <a:solidFill>
                  <a:srgbClr val="FFFFFF"/>
                </a:solidFill>
                <a:latin typeface="Courier Prime"/>
                <a:ea typeface="Courier Prime"/>
                <a:cs typeface="Courier Prime"/>
                <a:sym typeface="Courier Prime"/>
              </a:rPr>
              <a:t>Permite a la CU analizar la instrucción actual sin tener que acceder constantemente a la memoria RAM.</a:t>
            </a:r>
            <a:endParaRPr/>
          </a:p>
        </p:txBody>
      </p:sp>
      <p:sp>
        <p:nvSpPr>
          <p:cNvPr id="253" name="Google Shape;253;p17"/>
          <p:cNvSpPr txBox="1"/>
          <p:nvPr/>
        </p:nvSpPr>
        <p:spPr>
          <a:xfrm>
            <a:off x="11776790" y="3325416"/>
            <a:ext cx="2598314" cy="568071"/>
          </a:xfrm>
          <a:prstGeom prst="rect">
            <a:avLst/>
          </a:prstGeom>
          <a:noFill/>
          <a:ln>
            <a:noFill/>
          </a:ln>
        </p:spPr>
        <p:txBody>
          <a:bodyPr anchorCtr="0" anchor="t" bIns="0" lIns="0" spcFirstLastPara="1" rIns="0" wrap="square" tIns="0">
            <a:spAutoFit/>
          </a:bodyPr>
          <a:lstStyle/>
          <a:p>
            <a:pPr indent="0" lvl="0" marL="0" marR="0" rtl="0" algn="l">
              <a:lnSpc>
                <a:spcPct val="127000"/>
              </a:lnSpc>
              <a:spcBef>
                <a:spcPts val="0"/>
              </a:spcBef>
              <a:spcAft>
                <a:spcPts val="0"/>
              </a:spcAft>
              <a:buNone/>
            </a:pPr>
            <a:r>
              <a:rPr b="1" i="0" lang="en-US" sz="3600" u="none" cap="none" strike="noStrike">
                <a:solidFill>
                  <a:srgbClr val="CB6CE6"/>
                </a:solidFill>
                <a:latin typeface="Courier Prime"/>
                <a:ea typeface="Courier Prime"/>
                <a:cs typeface="Courier Prime"/>
                <a:sym typeface="Courier Prime"/>
              </a:rPr>
              <a:t>USO</a:t>
            </a:r>
            <a:endParaRPr/>
          </a:p>
        </p:txBody>
      </p:sp>
      <p:sp>
        <p:nvSpPr>
          <p:cNvPr id="254" name="Google Shape;254;p17"/>
          <p:cNvSpPr/>
          <p:nvPr/>
        </p:nvSpPr>
        <p:spPr>
          <a:xfrm>
            <a:off x="8712581" y="5586371"/>
            <a:ext cx="431419" cy="431419"/>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91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7"/>
          <p:cNvSpPr/>
          <p:nvPr/>
        </p:nvSpPr>
        <p:spPr>
          <a:xfrm>
            <a:off x="11082833" y="5589710"/>
            <a:ext cx="431419" cy="431419"/>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7"/>
          <p:cNvSpPr txBox="1"/>
          <p:nvPr/>
        </p:nvSpPr>
        <p:spPr>
          <a:xfrm>
            <a:off x="262350" y="606566"/>
            <a:ext cx="17763301" cy="863319"/>
          </a:xfrm>
          <a:prstGeom prst="rect">
            <a:avLst/>
          </a:prstGeom>
          <a:noFill/>
          <a:ln>
            <a:noFill/>
          </a:ln>
        </p:spPr>
        <p:txBody>
          <a:bodyPr anchorCtr="0" anchor="t" bIns="0" lIns="0" spcFirstLastPara="1" rIns="0" wrap="square" tIns="0">
            <a:spAutoFit/>
          </a:bodyPr>
          <a:lstStyle/>
          <a:p>
            <a:pPr indent="0" lvl="0" marL="0" marR="0" rtl="0" algn="l">
              <a:lnSpc>
                <a:spcPct val="114002"/>
              </a:lnSpc>
              <a:spcBef>
                <a:spcPts val="0"/>
              </a:spcBef>
              <a:spcAft>
                <a:spcPts val="0"/>
              </a:spcAft>
              <a:buNone/>
            </a:pPr>
            <a:r>
              <a:rPr b="0" i="0" lang="en-US" sz="5799" u="none" cap="none" strike="noStrike">
                <a:solidFill>
                  <a:srgbClr val="FFFFFF"/>
                </a:solidFill>
                <a:latin typeface="Courier Prime"/>
                <a:ea typeface="Courier Prime"/>
                <a:cs typeface="Courier Prime"/>
                <a:sym typeface="Courier Prime"/>
              </a:rPr>
              <a:t>Componentes de la Unidad de Control (CU)</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260" name="Shape 260"/>
        <p:cNvGrpSpPr/>
        <p:nvPr/>
      </p:nvGrpSpPr>
      <p:grpSpPr>
        <a:xfrm>
          <a:off x="0" y="0"/>
          <a:ext cx="0" cy="0"/>
          <a:chOff x="0" y="0"/>
          <a:chExt cx="0" cy="0"/>
        </a:xfrm>
      </p:grpSpPr>
      <p:cxnSp>
        <p:nvCxnSpPr>
          <p:cNvPr id="261" name="Google Shape;261;p18"/>
          <p:cNvCxnSpPr/>
          <p:nvPr/>
        </p:nvCxnSpPr>
        <p:spPr>
          <a:xfrm>
            <a:off x="9006839" y="5829232"/>
            <a:ext cx="1402135" cy="0"/>
          </a:xfrm>
          <a:prstGeom prst="straightConnector1">
            <a:avLst/>
          </a:prstGeom>
          <a:noFill/>
          <a:ln cap="flat" cmpd="sng" w="47625">
            <a:solidFill>
              <a:srgbClr val="737373"/>
            </a:solidFill>
            <a:prstDash val="dot"/>
            <a:round/>
            <a:headEnd len="sm" w="sm" type="none"/>
            <a:tailEnd len="sm" w="sm" type="none"/>
          </a:ln>
        </p:spPr>
      </p:cxnSp>
      <p:sp>
        <p:nvSpPr>
          <p:cNvPr id="262" name="Google Shape;262;p18"/>
          <p:cNvSpPr/>
          <p:nvPr/>
        </p:nvSpPr>
        <p:spPr>
          <a:xfrm>
            <a:off x="1028700" y="2739575"/>
            <a:ext cx="7974557" cy="5821842"/>
          </a:xfrm>
          <a:custGeom>
            <a:rect b="b" l="l" r="r" t="t"/>
            <a:pathLst>
              <a:path extrusionOk="0" h="2226326" w="3308945">
                <a:moveTo>
                  <a:pt x="0" y="0"/>
                </a:moveTo>
                <a:lnTo>
                  <a:pt x="3308945" y="0"/>
                </a:lnTo>
                <a:lnTo>
                  <a:pt x="3308945" y="2226326"/>
                </a:lnTo>
                <a:lnTo>
                  <a:pt x="0" y="2226326"/>
                </a:lnTo>
                <a:close/>
              </a:path>
            </a:pathLst>
          </a:custGeom>
          <a:solidFill>
            <a:srgbClr val="2D2D35"/>
          </a:solidFill>
          <a:ln>
            <a:noFill/>
          </a:ln>
        </p:spPr>
      </p:sp>
      <p:sp>
        <p:nvSpPr>
          <p:cNvPr id="263" name="Google Shape;263;p18"/>
          <p:cNvSpPr/>
          <p:nvPr/>
        </p:nvSpPr>
        <p:spPr>
          <a:xfrm>
            <a:off x="10464450" y="2739575"/>
            <a:ext cx="7213234" cy="5821842"/>
          </a:xfrm>
          <a:custGeom>
            <a:rect b="b" l="l" r="r" t="t"/>
            <a:pathLst>
              <a:path extrusionOk="0" h="2226326" w="2993043">
                <a:moveTo>
                  <a:pt x="0" y="0"/>
                </a:moveTo>
                <a:lnTo>
                  <a:pt x="2993043" y="0"/>
                </a:lnTo>
                <a:lnTo>
                  <a:pt x="2993043" y="2226326"/>
                </a:lnTo>
                <a:lnTo>
                  <a:pt x="0" y="2226326"/>
                </a:lnTo>
                <a:close/>
              </a:path>
            </a:pathLst>
          </a:custGeom>
          <a:solidFill>
            <a:srgbClr val="2D2D35"/>
          </a:solidFill>
          <a:ln>
            <a:noFill/>
          </a:ln>
        </p:spPr>
      </p:sp>
      <p:sp>
        <p:nvSpPr>
          <p:cNvPr id="264" name="Google Shape;264;p18"/>
          <p:cNvSpPr txBox="1"/>
          <p:nvPr/>
        </p:nvSpPr>
        <p:spPr>
          <a:xfrm>
            <a:off x="1294114" y="3158102"/>
            <a:ext cx="7712725" cy="1139571"/>
          </a:xfrm>
          <a:prstGeom prst="rect">
            <a:avLst/>
          </a:prstGeom>
          <a:noFill/>
          <a:ln>
            <a:noFill/>
          </a:ln>
        </p:spPr>
        <p:txBody>
          <a:bodyPr anchorCtr="0" anchor="t" bIns="0" lIns="0" spcFirstLastPara="1" rIns="0" wrap="square" tIns="0">
            <a:spAutoFit/>
          </a:bodyPr>
          <a:lstStyle/>
          <a:p>
            <a:pPr indent="0" lvl="0" marL="0" marR="0" rtl="0" algn="l">
              <a:lnSpc>
                <a:spcPct val="127000"/>
              </a:lnSpc>
              <a:spcBef>
                <a:spcPts val="0"/>
              </a:spcBef>
              <a:spcAft>
                <a:spcPts val="0"/>
              </a:spcAft>
              <a:buNone/>
            </a:pPr>
            <a:r>
              <a:rPr b="0" i="0" lang="en-US" sz="3600" u="none" cap="none" strike="noStrike">
                <a:solidFill>
                  <a:srgbClr val="FF914D"/>
                </a:solidFill>
                <a:latin typeface="Courier Prime"/>
                <a:ea typeface="Courier Prime"/>
                <a:cs typeface="Courier Prime"/>
                <a:sym typeface="Courier Prime"/>
              </a:rPr>
              <a:t>DECODIFICADOR DE INSTRUCCIONES</a:t>
            </a:r>
            <a:endParaRPr/>
          </a:p>
        </p:txBody>
      </p:sp>
      <p:sp>
        <p:nvSpPr>
          <p:cNvPr id="265" name="Google Shape;265;p18"/>
          <p:cNvSpPr txBox="1"/>
          <p:nvPr/>
        </p:nvSpPr>
        <p:spPr>
          <a:xfrm>
            <a:off x="1294114" y="4553626"/>
            <a:ext cx="6989842" cy="31905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Courier Prime"/>
                <a:ea typeface="Courier Prime"/>
                <a:cs typeface="Courier Prime"/>
                <a:sym typeface="Courier Prime"/>
              </a:rPr>
              <a:t>Es el circuito que "lee" el código de la instrucción (en el IR) y lo traduce en un conjunto de acciones específicas que la CPU debe realizar.</a:t>
            </a:r>
            <a:endParaRPr/>
          </a:p>
        </p:txBody>
      </p:sp>
      <p:sp>
        <p:nvSpPr>
          <p:cNvPr id="266" name="Google Shape;266;p18"/>
          <p:cNvSpPr txBox="1"/>
          <p:nvPr/>
        </p:nvSpPr>
        <p:spPr>
          <a:xfrm>
            <a:off x="11179771" y="3826812"/>
            <a:ext cx="6193618" cy="372389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Courier Prime"/>
                <a:ea typeface="Courier Prime"/>
                <a:cs typeface="Courier Prime"/>
                <a:sym typeface="Courier Prime"/>
              </a:rPr>
              <a:t>Si el código de instrucción es 001, el decodificador podría saber que eso significa "sumar". Si es 010, podría significar "cargar un dato de la memoria"</a:t>
            </a:r>
            <a:endParaRPr/>
          </a:p>
        </p:txBody>
      </p:sp>
      <p:sp>
        <p:nvSpPr>
          <p:cNvPr id="267" name="Google Shape;267;p18"/>
          <p:cNvSpPr txBox="1"/>
          <p:nvPr/>
        </p:nvSpPr>
        <p:spPr>
          <a:xfrm>
            <a:off x="11179771" y="3174104"/>
            <a:ext cx="2598314" cy="568071"/>
          </a:xfrm>
          <a:prstGeom prst="rect">
            <a:avLst/>
          </a:prstGeom>
          <a:noFill/>
          <a:ln>
            <a:noFill/>
          </a:ln>
        </p:spPr>
        <p:txBody>
          <a:bodyPr anchorCtr="0" anchor="t" bIns="0" lIns="0" spcFirstLastPara="1" rIns="0" wrap="square" tIns="0">
            <a:spAutoFit/>
          </a:bodyPr>
          <a:lstStyle/>
          <a:p>
            <a:pPr indent="0" lvl="0" marL="0" marR="0" rtl="0" algn="l">
              <a:lnSpc>
                <a:spcPct val="127000"/>
              </a:lnSpc>
              <a:spcBef>
                <a:spcPts val="0"/>
              </a:spcBef>
              <a:spcAft>
                <a:spcPts val="0"/>
              </a:spcAft>
              <a:buNone/>
            </a:pPr>
            <a:r>
              <a:rPr b="1" i="0" lang="en-US" sz="3600" u="none" cap="none" strike="noStrike">
                <a:solidFill>
                  <a:srgbClr val="CB6CE6"/>
                </a:solidFill>
                <a:latin typeface="Courier Prime"/>
                <a:ea typeface="Courier Prime"/>
                <a:cs typeface="Courier Prime"/>
                <a:sym typeface="Courier Prime"/>
              </a:rPr>
              <a:t>USO</a:t>
            </a:r>
            <a:endParaRPr/>
          </a:p>
        </p:txBody>
      </p:sp>
      <p:sp>
        <p:nvSpPr>
          <p:cNvPr id="268" name="Google Shape;268;p18"/>
          <p:cNvSpPr/>
          <p:nvPr/>
        </p:nvSpPr>
        <p:spPr>
          <a:xfrm>
            <a:off x="8712581" y="5586371"/>
            <a:ext cx="431419" cy="431419"/>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91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8"/>
          <p:cNvSpPr/>
          <p:nvPr/>
        </p:nvSpPr>
        <p:spPr>
          <a:xfrm>
            <a:off x="10244686" y="5613523"/>
            <a:ext cx="431419" cy="431419"/>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8"/>
          <p:cNvSpPr txBox="1"/>
          <p:nvPr/>
        </p:nvSpPr>
        <p:spPr>
          <a:xfrm>
            <a:off x="262350" y="606566"/>
            <a:ext cx="17763301" cy="863319"/>
          </a:xfrm>
          <a:prstGeom prst="rect">
            <a:avLst/>
          </a:prstGeom>
          <a:noFill/>
          <a:ln>
            <a:noFill/>
          </a:ln>
        </p:spPr>
        <p:txBody>
          <a:bodyPr anchorCtr="0" anchor="t" bIns="0" lIns="0" spcFirstLastPara="1" rIns="0" wrap="square" tIns="0">
            <a:spAutoFit/>
          </a:bodyPr>
          <a:lstStyle/>
          <a:p>
            <a:pPr indent="0" lvl="0" marL="0" marR="0" rtl="0" algn="l">
              <a:lnSpc>
                <a:spcPct val="114002"/>
              </a:lnSpc>
              <a:spcBef>
                <a:spcPts val="0"/>
              </a:spcBef>
              <a:spcAft>
                <a:spcPts val="0"/>
              </a:spcAft>
              <a:buNone/>
            </a:pPr>
            <a:r>
              <a:rPr b="0" i="0" lang="en-US" sz="5799" u="none" cap="none" strike="noStrike">
                <a:solidFill>
                  <a:srgbClr val="FFFFFF"/>
                </a:solidFill>
                <a:latin typeface="Courier Prime"/>
                <a:ea typeface="Courier Prime"/>
                <a:cs typeface="Courier Prime"/>
                <a:sym typeface="Courier Prime"/>
              </a:rPr>
              <a:t>Componentes de la Unidad de Control (CU)</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274" name="Shape 274"/>
        <p:cNvGrpSpPr/>
        <p:nvPr/>
      </p:nvGrpSpPr>
      <p:grpSpPr>
        <a:xfrm>
          <a:off x="0" y="0"/>
          <a:ext cx="0" cy="0"/>
          <a:chOff x="0" y="0"/>
          <a:chExt cx="0" cy="0"/>
        </a:xfrm>
      </p:grpSpPr>
      <p:cxnSp>
        <p:nvCxnSpPr>
          <p:cNvPr id="275" name="Google Shape;275;p19"/>
          <p:cNvCxnSpPr/>
          <p:nvPr/>
        </p:nvCxnSpPr>
        <p:spPr>
          <a:xfrm>
            <a:off x="9006839" y="5829232"/>
            <a:ext cx="1402135" cy="0"/>
          </a:xfrm>
          <a:prstGeom prst="straightConnector1">
            <a:avLst/>
          </a:prstGeom>
          <a:noFill/>
          <a:ln cap="flat" cmpd="sng" w="47625">
            <a:solidFill>
              <a:srgbClr val="737373"/>
            </a:solidFill>
            <a:prstDash val="dot"/>
            <a:round/>
            <a:headEnd len="sm" w="sm" type="none"/>
            <a:tailEnd len="sm" w="sm" type="none"/>
          </a:ln>
        </p:spPr>
      </p:cxnSp>
      <p:sp>
        <p:nvSpPr>
          <p:cNvPr id="276" name="Google Shape;276;p19"/>
          <p:cNvSpPr/>
          <p:nvPr/>
        </p:nvSpPr>
        <p:spPr>
          <a:xfrm>
            <a:off x="1028700" y="2739571"/>
            <a:ext cx="7978139" cy="5367854"/>
          </a:xfrm>
          <a:custGeom>
            <a:rect b="b" l="l" r="r" t="t"/>
            <a:pathLst>
              <a:path extrusionOk="0" h="2226326" w="3308945">
                <a:moveTo>
                  <a:pt x="0" y="0"/>
                </a:moveTo>
                <a:lnTo>
                  <a:pt x="3308945" y="0"/>
                </a:lnTo>
                <a:lnTo>
                  <a:pt x="3308945" y="2226326"/>
                </a:lnTo>
                <a:lnTo>
                  <a:pt x="0" y="2226326"/>
                </a:lnTo>
                <a:close/>
              </a:path>
            </a:pathLst>
          </a:custGeom>
          <a:solidFill>
            <a:srgbClr val="2D2D35"/>
          </a:solidFill>
          <a:ln>
            <a:noFill/>
          </a:ln>
        </p:spPr>
      </p:sp>
      <p:sp>
        <p:nvSpPr>
          <p:cNvPr id="277" name="Google Shape;277;p19"/>
          <p:cNvSpPr/>
          <p:nvPr/>
        </p:nvSpPr>
        <p:spPr>
          <a:xfrm>
            <a:off x="10464450" y="2739575"/>
            <a:ext cx="7213234" cy="5743921"/>
          </a:xfrm>
          <a:custGeom>
            <a:rect b="b" l="l" r="r" t="t"/>
            <a:pathLst>
              <a:path extrusionOk="0" h="2226326" w="2993043">
                <a:moveTo>
                  <a:pt x="0" y="0"/>
                </a:moveTo>
                <a:lnTo>
                  <a:pt x="2993043" y="0"/>
                </a:lnTo>
                <a:lnTo>
                  <a:pt x="2993043" y="2226326"/>
                </a:lnTo>
                <a:lnTo>
                  <a:pt x="0" y="2226326"/>
                </a:lnTo>
                <a:close/>
              </a:path>
            </a:pathLst>
          </a:custGeom>
          <a:solidFill>
            <a:srgbClr val="2D2D35"/>
          </a:solidFill>
          <a:ln>
            <a:noFill/>
          </a:ln>
        </p:spPr>
      </p:sp>
      <p:sp>
        <p:nvSpPr>
          <p:cNvPr id="278" name="Google Shape;278;p19"/>
          <p:cNvSpPr txBox="1"/>
          <p:nvPr/>
        </p:nvSpPr>
        <p:spPr>
          <a:xfrm>
            <a:off x="1294114" y="3158102"/>
            <a:ext cx="7712725" cy="568071"/>
          </a:xfrm>
          <a:prstGeom prst="rect">
            <a:avLst/>
          </a:prstGeom>
          <a:noFill/>
          <a:ln>
            <a:noFill/>
          </a:ln>
        </p:spPr>
        <p:txBody>
          <a:bodyPr anchorCtr="0" anchor="t" bIns="0" lIns="0" spcFirstLastPara="1" rIns="0" wrap="square" tIns="0">
            <a:spAutoFit/>
          </a:bodyPr>
          <a:lstStyle/>
          <a:p>
            <a:pPr indent="0" lvl="0" marL="0" marR="0" rtl="0" algn="l">
              <a:lnSpc>
                <a:spcPct val="127000"/>
              </a:lnSpc>
              <a:spcBef>
                <a:spcPts val="0"/>
              </a:spcBef>
              <a:spcAft>
                <a:spcPts val="0"/>
              </a:spcAft>
              <a:buNone/>
            </a:pPr>
            <a:r>
              <a:rPr b="0" i="0" lang="en-US" sz="3600" u="none" cap="none" strike="noStrike">
                <a:solidFill>
                  <a:srgbClr val="FF914D"/>
                </a:solidFill>
                <a:latin typeface="Courier Prime"/>
                <a:ea typeface="Courier Prime"/>
                <a:cs typeface="Courier Prime"/>
                <a:sym typeface="Courier Prime"/>
              </a:rPr>
              <a:t>RELOJ (CLOCK)</a:t>
            </a:r>
            <a:endParaRPr/>
          </a:p>
        </p:txBody>
      </p:sp>
      <p:sp>
        <p:nvSpPr>
          <p:cNvPr id="279" name="Google Shape;279;p19"/>
          <p:cNvSpPr txBox="1"/>
          <p:nvPr/>
        </p:nvSpPr>
        <p:spPr>
          <a:xfrm>
            <a:off x="1294114" y="4553626"/>
            <a:ext cx="6989842" cy="265720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Courier Prime"/>
                <a:ea typeface="Courier Prime"/>
                <a:cs typeface="Courier Prime"/>
                <a:sym typeface="Courier Prime"/>
              </a:rPr>
              <a:t>Genera pulsos eléctricos a una velocidad constante (medida en Gigahercios, GHz). Cada pulso sincroniza una acción dentro del ciclo de instrucción.</a:t>
            </a:r>
            <a:endParaRPr/>
          </a:p>
        </p:txBody>
      </p:sp>
      <p:sp>
        <p:nvSpPr>
          <p:cNvPr id="280" name="Google Shape;280;p19"/>
          <p:cNvSpPr txBox="1"/>
          <p:nvPr/>
        </p:nvSpPr>
        <p:spPr>
          <a:xfrm>
            <a:off x="11179771" y="3826812"/>
            <a:ext cx="6193618" cy="372389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Courier Prime"/>
                <a:ea typeface="Courier Prime"/>
                <a:cs typeface="Courier Prime"/>
                <a:sym typeface="Courier Prime"/>
              </a:rPr>
              <a:t>Marca el ritmo de trabajo de la CPU. Una CPU de 3 GHz puede realizar 3 mil millones de ciclos de reloj por segundo, lo que determina su velocidad general.</a:t>
            </a:r>
            <a:endParaRPr/>
          </a:p>
        </p:txBody>
      </p:sp>
      <p:sp>
        <p:nvSpPr>
          <p:cNvPr id="281" name="Google Shape;281;p19"/>
          <p:cNvSpPr txBox="1"/>
          <p:nvPr/>
        </p:nvSpPr>
        <p:spPr>
          <a:xfrm>
            <a:off x="11179771" y="3174104"/>
            <a:ext cx="2598314" cy="568071"/>
          </a:xfrm>
          <a:prstGeom prst="rect">
            <a:avLst/>
          </a:prstGeom>
          <a:noFill/>
          <a:ln>
            <a:noFill/>
          </a:ln>
        </p:spPr>
        <p:txBody>
          <a:bodyPr anchorCtr="0" anchor="t" bIns="0" lIns="0" spcFirstLastPara="1" rIns="0" wrap="square" tIns="0">
            <a:spAutoFit/>
          </a:bodyPr>
          <a:lstStyle/>
          <a:p>
            <a:pPr indent="0" lvl="0" marL="0" marR="0" rtl="0" algn="l">
              <a:lnSpc>
                <a:spcPct val="127000"/>
              </a:lnSpc>
              <a:spcBef>
                <a:spcPts val="0"/>
              </a:spcBef>
              <a:spcAft>
                <a:spcPts val="0"/>
              </a:spcAft>
              <a:buNone/>
            </a:pPr>
            <a:r>
              <a:rPr b="1" i="0" lang="en-US" sz="3600" u="none" cap="none" strike="noStrike">
                <a:solidFill>
                  <a:srgbClr val="CB6CE6"/>
                </a:solidFill>
                <a:latin typeface="Courier Prime"/>
                <a:ea typeface="Courier Prime"/>
                <a:cs typeface="Courier Prime"/>
                <a:sym typeface="Courier Prime"/>
              </a:rPr>
              <a:t>USO</a:t>
            </a:r>
            <a:endParaRPr/>
          </a:p>
        </p:txBody>
      </p:sp>
      <p:sp>
        <p:nvSpPr>
          <p:cNvPr id="282" name="Google Shape;282;p19"/>
          <p:cNvSpPr/>
          <p:nvPr/>
        </p:nvSpPr>
        <p:spPr>
          <a:xfrm>
            <a:off x="8712581" y="5586371"/>
            <a:ext cx="431419" cy="431419"/>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91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9"/>
          <p:cNvSpPr/>
          <p:nvPr/>
        </p:nvSpPr>
        <p:spPr>
          <a:xfrm>
            <a:off x="10244686" y="5613523"/>
            <a:ext cx="431419" cy="431419"/>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9"/>
          <p:cNvSpPr txBox="1"/>
          <p:nvPr/>
        </p:nvSpPr>
        <p:spPr>
          <a:xfrm>
            <a:off x="262350" y="606566"/>
            <a:ext cx="17763301" cy="863319"/>
          </a:xfrm>
          <a:prstGeom prst="rect">
            <a:avLst/>
          </a:prstGeom>
          <a:noFill/>
          <a:ln>
            <a:noFill/>
          </a:ln>
        </p:spPr>
        <p:txBody>
          <a:bodyPr anchorCtr="0" anchor="t" bIns="0" lIns="0" spcFirstLastPara="1" rIns="0" wrap="square" tIns="0">
            <a:spAutoFit/>
          </a:bodyPr>
          <a:lstStyle/>
          <a:p>
            <a:pPr indent="0" lvl="0" marL="0" marR="0" rtl="0" algn="l">
              <a:lnSpc>
                <a:spcPct val="114002"/>
              </a:lnSpc>
              <a:spcBef>
                <a:spcPts val="0"/>
              </a:spcBef>
              <a:spcAft>
                <a:spcPts val="0"/>
              </a:spcAft>
              <a:buNone/>
            </a:pPr>
            <a:r>
              <a:rPr b="0" i="0" lang="en-US" sz="5799" u="none" cap="none" strike="noStrike">
                <a:solidFill>
                  <a:srgbClr val="FFFFFF"/>
                </a:solidFill>
                <a:latin typeface="Courier Prime"/>
                <a:ea typeface="Courier Prime"/>
                <a:cs typeface="Courier Prime"/>
                <a:sym typeface="Courier Prime"/>
              </a:rPr>
              <a:t>Componentes de la Unidad de Control (CU)</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288" name="Shape 288"/>
        <p:cNvGrpSpPr/>
        <p:nvPr/>
      </p:nvGrpSpPr>
      <p:grpSpPr>
        <a:xfrm>
          <a:off x="0" y="0"/>
          <a:ext cx="0" cy="0"/>
          <a:chOff x="0" y="0"/>
          <a:chExt cx="0" cy="0"/>
        </a:xfrm>
      </p:grpSpPr>
      <p:sp>
        <p:nvSpPr>
          <p:cNvPr id="289" name="Google Shape;289;p20"/>
          <p:cNvSpPr/>
          <p:nvPr/>
        </p:nvSpPr>
        <p:spPr>
          <a:xfrm>
            <a:off x="3057037" y="2037643"/>
            <a:ext cx="13093883" cy="7819248"/>
          </a:xfrm>
          <a:custGeom>
            <a:rect b="b" l="l" r="r" t="t"/>
            <a:pathLst>
              <a:path extrusionOk="0" h="7819248" w="13093883">
                <a:moveTo>
                  <a:pt x="0" y="0"/>
                </a:moveTo>
                <a:lnTo>
                  <a:pt x="13093883" y="0"/>
                </a:lnTo>
                <a:lnTo>
                  <a:pt x="13093883" y="7819248"/>
                </a:lnTo>
                <a:lnTo>
                  <a:pt x="0" y="7819248"/>
                </a:lnTo>
                <a:lnTo>
                  <a:pt x="0" y="0"/>
                </a:lnTo>
                <a:close/>
              </a:path>
            </a:pathLst>
          </a:custGeom>
          <a:blipFill rotWithShape="1">
            <a:blip r:embed="rId3">
              <a:alphaModFix/>
            </a:blip>
            <a:stretch>
              <a:fillRect b="0" l="0" r="0" t="0"/>
            </a:stretch>
          </a:blipFill>
          <a:ln>
            <a:noFill/>
          </a:ln>
        </p:spPr>
      </p:sp>
      <p:sp>
        <p:nvSpPr>
          <p:cNvPr id="290" name="Google Shape;290;p20"/>
          <p:cNvSpPr txBox="1"/>
          <p:nvPr/>
        </p:nvSpPr>
        <p:spPr>
          <a:xfrm>
            <a:off x="1862785" y="732651"/>
            <a:ext cx="11164800" cy="923400"/>
          </a:xfrm>
          <a:prstGeom prst="rect">
            <a:avLst/>
          </a:prstGeom>
          <a:noFill/>
          <a:ln>
            <a:noFill/>
          </a:ln>
        </p:spPr>
        <p:txBody>
          <a:bodyPr anchorCtr="0" anchor="t" bIns="0" lIns="0" spcFirstLastPara="1" rIns="0" wrap="square" tIns="0">
            <a:spAutoFit/>
          </a:bodyPr>
          <a:lstStyle/>
          <a:p>
            <a:pPr indent="0" lvl="0" marL="0" marR="0" rtl="0" algn="l">
              <a:lnSpc>
                <a:spcPct val="113983"/>
              </a:lnSpc>
              <a:spcBef>
                <a:spcPts val="0"/>
              </a:spcBef>
              <a:spcAft>
                <a:spcPts val="0"/>
              </a:spcAft>
              <a:buNone/>
            </a:pPr>
            <a:r>
              <a:rPr lang="en-US" sz="6000">
                <a:solidFill>
                  <a:srgbClr val="FF914D"/>
                </a:solidFill>
                <a:latin typeface="Courier Prime"/>
                <a:ea typeface="Courier Prime"/>
                <a:cs typeface="Courier Prime"/>
                <a:sym typeface="Courier Prime"/>
              </a:rPr>
              <a:t>Ejemplificación</a:t>
            </a:r>
            <a:r>
              <a:rPr b="0" i="0" lang="en-US" sz="6000" u="none" cap="none" strike="noStrike">
                <a:solidFill>
                  <a:srgbClr val="FF914D"/>
                </a:solidFill>
                <a:latin typeface="Courier Prime"/>
                <a:ea typeface="Courier Prime"/>
                <a:cs typeface="Courier Prime"/>
                <a:sym typeface="Courier Prime"/>
              </a:rPr>
              <a:t> de CU</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294" name="Shape 294"/>
        <p:cNvGrpSpPr/>
        <p:nvPr/>
      </p:nvGrpSpPr>
      <p:grpSpPr>
        <a:xfrm>
          <a:off x="0" y="0"/>
          <a:ext cx="0" cy="0"/>
          <a:chOff x="0" y="0"/>
          <a:chExt cx="0" cy="0"/>
        </a:xfrm>
      </p:grpSpPr>
      <p:cxnSp>
        <p:nvCxnSpPr>
          <p:cNvPr id="295" name="Google Shape;295;p21"/>
          <p:cNvCxnSpPr/>
          <p:nvPr/>
        </p:nvCxnSpPr>
        <p:spPr>
          <a:xfrm flipH="1" rot="10800000">
            <a:off x="12721300" y="6778475"/>
            <a:ext cx="694500" cy="6000"/>
          </a:xfrm>
          <a:prstGeom prst="straightConnector1">
            <a:avLst/>
          </a:prstGeom>
          <a:noFill/>
          <a:ln cap="flat" cmpd="sng" w="47625">
            <a:solidFill>
              <a:srgbClr val="737373"/>
            </a:solidFill>
            <a:prstDash val="dot"/>
            <a:round/>
            <a:headEnd len="sm" w="sm" type="none"/>
            <a:tailEnd len="sm" w="sm" type="none"/>
          </a:ln>
        </p:spPr>
      </p:cxnSp>
      <p:sp>
        <p:nvSpPr>
          <p:cNvPr id="296" name="Google Shape;296;p21"/>
          <p:cNvSpPr/>
          <p:nvPr/>
        </p:nvSpPr>
        <p:spPr>
          <a:xfrm>
            <a:off x="1028700" y="4276275"/>
            <a:ext cx="4846470" cy="5194276"/>
          </a:xfrm>
          <a:custGeom>
            <a:rect b="b" l="l" r="r" t="t"/>
            <a:pathLst>
              <a:path extrusionOk="0" h="1892268" w="1708007">
                <a:moveTo>
                  <a:pt x="0" y="0"/>
                </a:moveTo>
                <a:lnTo>
                  <a:pt x="1708007" y="0"/>
                </a:lnTo>
                <a:lnTo>
                  <a:pt x="1708007" y="1892268"/>
                </a:lnTo>
                <a:lnTo>
                  <a:pt x="0" y="1892268"/>
                </a:lnTo>
                <a:close/>
              </a:path>
            </a:pathLst>
          </a:custGeom>
          <a:solidFill>
            <a:srgbClr val="2D2D35"/>
          </a:solidFill>
          <a:ln>
            <a:noFill/>
          </a:ln>
        </p:spPr>
      </p:sp>
      <p:sp>
        <p:nvSpPr>
          <p:cNvPr id="297" name="Google Shape;297;p21"/>
          <p:cNvSpPr/>
          <p:nvPr/>
        </p:nvSpPr>
        <p:spPr>
          <a:xfrm>
            <a:off x="13631425" y="4216300"/>
            <a:ext cx="4141850" cy="5255258"/>
          </a:xfrm>
          <a:custGeom>
            <a:rect b="b" l="l" r="r" t="t"/>
            <a:pathLst>
              <a:path extrusionOk="0" h="1724449" w="1330715">
                <a:moveTo>
                  <a:pt x="0" y="0"/>
                </a:moveTo>
                <a:lnTo>
                  <a:pt x="1330715" y="0"/>
                </a:lnTo>
                <a:lnTo>
                  <a:pt x="1330715" y="1724449"/>
                </a:lnTo>
                <a:lnTo>
                  <a:pt x="0" y="1724449"/>
                </a:lnTo>
                <a:close/>
              </a:path>
            </a:pathLst>
          </a:custGeom>
          <a:solidFill>
            <a:srgbClr val="2D2D35"/>
          </a:solidFill>
          <a:ln>
            <a:noFill/>
          </a:ln>
        </p:spPr>
      </p:sp>
      <p:sp>
        <p:nvSpPr>
          <p:cNvPr id="298" name="Google Shape;298;p21"/>
          <p:cNvSpPr/>
          <p:nvPr/>
        </p:nvSpPr>
        <p:spPr>
          <a:xfrm>
            <a:off x="6336350" y="4276275"/>
            <a:ext cx="6280932" cy="5254129"/>
          </a:xfrm>
          <a:custGeom>
            <a:rect b="b" l="l" r="r" t="t"/>
            <a:pathLst>
              <a:path extrusionOk="0" h="2226326" w="2606196">
                <a:moveTo>
                  <a:pt x="0" y="0"/>
                </a:moveTo>
                <a:lnTo>
                  <a:pt x="2606196" y="0"/>
                </a:lnTo>
                <a:lnTo>
                  <a:pt x="2606196" y="2226326"/>
                </a:lnTo>
                <a:lnTo>
                  <a:pt x="0" y="2226326"/>
                </a:lnTo>
                <a:close/>
              </a:path>
            </a:pathLst>
          </a:custGeom>
          <a:solidFill>
            <a:srgbClr val="2D2D35"/>
          </a:solidFill>
          <a:ln>
            <a:noFill/>
          </a:ln>
        </p:spPr>
      </p:sp>
      <p:sp>
        <p:nvSpPr>
          <p:cNvPr id="299" name="Google Shape;299;p21"/>
          <p:cNvSpPr txBox="1"/>
          <p:nvPr/>
        </p:nvSpPr>
        <p:spPr>
          <a:xfrm>
            <a:off x="1701889" y="4445579"/>
            <a:ext cx="3961670" cy="1139571"/>
          </a:xfrm>
          <a:prstGeom prst="rect">
            <a:avLst/>
          </a:prstGeom>
          <a:noFill/>
          <a:ln>
            <a:noFill/>
          </a:ln>
        </p:spPr>
        <p:txBody>
          <a:bodyPr anchorCtr="0" anchor="t" bIns="0" lIns="0" spcFirstLastPara="1" rIns="0" wrap="square" tIns="0">
            <a:spAutoFit/>
          </a:bodyPr>
          <a:lstStyle/>
          <a:p>
            <a:pPr indent="0" lvl="0" marL="0" marR="0" rtl="0" algn="l">
              <a:lnSpc>
                <a:spcPct val="127000"/>
              </a:lnSpc>
              <a:spcBef>
                <a:spcPts val="0"/>
              </a:spcBef>
              <a:spcAft>
                <a:spcPts val="0"/>
              </a:spcAft>
              <a:buNone/>
            </a:pPr>
            <a:r>
              <a:rPr b="0" i="0" lang="en-US" sz="3600" u="none" cap="none" strike="noStrike">
                <a:solidFill>
                  <a:srgbClr val="FF914D"/>
                </a:solidFill>
                <a:latin typeface="Courier Prime"/>
                <a:ea typeface="Courier Prime"/>
                <a:cs typeface="Courier Prime"/>
                <a:sym typeface="Courier Prime"/>
              </a:rPr>
              <a:t>OPERACIONES ARITMÉTICAS</a:t>
            </a:r>
            <a:endParaRPr/>
          </a:p>
        </p:txBody>
      </p:sp>
      <p:sp>
        <p:nvSpPr>
          <p:cNvPr id="300" name="Google Shape;300;p21"/>
          <p:cNvSpPr txBox="1"/>
          <p:nvPr/>
        </p:nvSpPr>
        <p:spPr>
          <a:xfrm>
            <a:off x="1280425" y="5819811"/>
            <a:ext cx="4257600" cy="2401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Courier Prime"/>
                <a:ea typeface="Courier Prime"/>
                <a:cs typeface="Courier Prime"/>
                <a:sym typeface="Courier Prime"/>
              </a:rPr>
              <a:t>Suma</a:t>
            </a:r>
            <a:endParaRPr/>
          </a:p>
          <a:p>
            <a:pPr indent="0" lvl="0" marL="0" marR="0" rtl="0" algn="l">
              <a:lnSpc>
                <a:spcPct val="140000"/>
              </a:lnSpc>
              <a:spcBef>
                <a:spcPts val="0"/>
              </a:spcBef>
              <a:spcAft>
                <a:spcPts val="0"/>
              </a:spcAft>
              <a:buNone/>
            </a:pPr>
            <a:r>
              <a:rPr b="0" i="0" lang="en-US" sz="3000" u="none" cap="none" strike="noStrike">
                <a:solidFill>
                  <a:srgbClr val="FFFFFF"/>
                </a:solidFill>
                <a:latin typeface="Courier Prime"/>
                <a:ea typeface="Courier Prime"/>
                <a:cs typeface="Courier Prime"/>
                <a:sym typeface="Courier Prime"/>
              </a:rPr>
              <a:t>Resta</a:t>
            </a:r>
            <a:endParaRPr/>
          </a:p>
          <a:p>
            <a:pPr indent="0" lvl="0" marL="0" marR="0" rtl="0" algn="l">
              <a:lnSpc>
                <a:spcPct val="140000"/>
              </a:lnSpc>
              <a:spcBef>
                <a:spcPts val="0"/>
              </a:spcBef>
              <a:spcAft>
                <a:spcPts val="0"/>
              </a:spcAft>
              <a:buNone/>
            </a:pPr>
            <a:r>
              <a:rPr b="0" i="0" lang="en-US" sz="3000" u="none" cap="none" strike="noStrike">
                <a:solidFill>
                  <a:srgbClr val="FFFFFF"/>
                </a:solidFill>
                <a:latin typeface="Courier Prime"/>
                <a:ea typeface="Courier Prime"/>
                <a:cs typeface="Courier Prime"/>
                <a:sym typeface="Courier Prime"/>
              </a:rPr>
              <a:t>Multiplicación</a:t>
            </a:r>
            <a:endParaRPr/>
          </a:p>
          <a:p>
            <a:pPr indent="0" lvl="0" marL="0" marR="0" rtl="0" algn="l">
              <a:lnSpc>
                <a:spcPct val="140000"/>
              </a:lnSpc>
              <a:spcBef>
                <a:spcPts val="0"/>
              </a:spcBef>
              <a:spcAft>
                <a:spcPts val="0"/>
              </a:spcAft>
              <a:buNone/>
            </a:pPr>
            <a:r>
              <a:rPr b="0" i="0" lang="en-US" sz="3000" u="none" cap="none" strike="noStrike">
                <a:solidFill>
                  <a:srgbClr val="FFFFFF"/>
                </a:solidFill>
                <a:latin typeface="Courier Prime"/>
                <a:ea typeface="Courier Prime"/>
                <a:cs typeface="Courier Prime"/>
                <a:sym typeface="Courier Prime"/>
              </a:rPr>
              <a:t>División</a:t>
            </a:r>
            <a:endParaRPr/>
          </a:p>
        </p:txBody>
      </p:sp>
      <p:sp>
        <p:nvSpPr>
          <p:cNvPr id="301" name="Google Shape;301;p21"/>
          <p:cNvSpPr txBox="1"/>
          <p:nvPr/>
        </p:nvSpPr>
        <p:spPr>
          <a:xfrm>
            <a:off x="13969971" y="5652912"/>
            <a:ext cx="3339723" cy="212385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Courier Prime"/>
                <a:ea typeface="Courier Prime"/>
                <a:cs typeface="Courier Prime"/>
                <a:sym typeface="Courier Prime"/>
              </a:rPr>
              <a:t>AND</a:t>
            </a:r>
            <a:endParaRPr/>
          </a:p>
          <a:p>
            <a:pPr indent="0" lvl="0" marL="0" marR="0" rtl="0" algn="l">
              <a:lnSpc>
                <a:spcPct val="140000"/>
              </a:lnSpc>
              <a:spcBef>
                <a:spcPts val="0"/>
              </a:spcBef>
              <a:spcAft>
                <a:spcPts val="0"/>
              </a:spcAft>
              <a:buNone/>
            </a:pPr>
            <a:r>
              <a:rPr b="0" i="0" lang="en-US" sz="3000" u="none" cap="none" strike="noStrike">
                <a:solidFill>
                  <a:srgbClr val="FFFFFF"/>
                </a:solidFill>
                <a:latin typeface="Courier Prime"/>
                <a:ea typeface="Courier Prime"/>
                <a:cs typeface="Courier Prime"/>
                <a:sym typeface="Courier Prime"/>
              </a:rPr>
              <a:t>OR</a:t>
            </a:r>
            <a:endParaRPr/>
          </a:p>
          <a:p>
            <a:pPr indent="0" lvl="0" marL="0" marR="0" rtl="0" algn="l">
              <a:lnSpc>
                <a:spcPct val="140000"/>
              </a:lnSpc>
              <a:spcBef>
                <a:spcPts val="0"/>
              </a:spcBef>
              <a:spcAft>
                <a:spcPts val="0"/>
              </a:spcAft>
              <a:buNone/>
            </a:pPr>
            <a:r>
              <a:rPr b="0" i="0" lang="en-US" sz="3000" u="none" cap="none" strike="noStrike">
                <a:solidFill>
                  <a:srgbClr val="FFFFFF"/>
                </a:solidFill>
                <a:latin typeface="Courier Prime"/>
                <a:ea typeface="Courier Prime"/>
                <a:cs typeface="Courier Prime"/>
                <a:sym typeface="Courier Prime"/>
              </a:rPr>
              <a:t>NOT Comparaciones</a:t>
            </a:r>
            <a:endParaRPr/>
          </a:p>
        </p:txBody>
      </p:sp>
      <p:sp>
        <p:nvSpPr>
          <p:cNvPr id="302" name="Google Shape;302;p21"/>
          <p:cNvSpPr txBox="1"/>
          <p:nvPr/>
        </p:nvSpPr>
        <p:spPr>
          <a:xfrm>
            <a:off x="6720580" y="5502831"/>
            <a:ext cx="5552368" cy="31905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Courier Prime"/>
                <a:ea typeface="Courier Prime"/>
                <a:cs typeface="Courier Prime"/>
                <a:sym typeface="Courier Prime"/>
              </a:rPr>
              <a:t>Son operaciones que trabajan con valores binarios (verdadero/falso o 1/0) y se usan para tomar decisiones.</a:t>
            </a:r>
            <a:endParaRPr/>
          </a:p>
        </p:txBody>
      </p:sp>
      <p:sp>
        <p:nvSpPr>
          <p:cNvPr id="303" name="Google Shape;303;p21"/>
          <p:cNvSpPr txBox="1"/>
          <p:nvPr/>
        </p:nvSpPr>
        <p:spPr>
          <a:xfrm>
            <a:off x="7054214" y="4506135"/>
            <a:ext cx="5218734" cy="568071"/>
          </a:xfrm>
          <a:prstGeom prst="rect">
            <a:avLst/>
          </a:prstGeom>
          <a:noFill/>
          <a:ln>
            <a:noFill/>
          </a:ln>
        </p:spPr>
        <p:txBody>
          <a:bodyPr anchorCtr="0" anchor="t" bIns="0" lIns="0" spcFirstLastPara="1" rIns="0" wrap="square" tIns="0">
            <a:spAutoFit/>
          </a:bodyPr>
          <a:lstStyle/>
          <a:p>
            <a:pPr indent="0" lvl="0" marL="0" marR="0" rtl="0" algn="l">
              <a:lnSpc>
                <a:spcPct val="127000"/>
              </a:lnSpc>
              <a:spcBef>
                <a:spcPts val="0"/>
              </a:spcBef>
              <a:spcAft>
                <a:spcPts val="0"/>
              </a:spcAft>
              <a:buNone/>
            </a:pPr>
            <a:r>
              <a:rPr b="0" i="0" lang="en-US" sz="3600" u="none" cap="none" strike="noStrike">
                <a:solidFill>
                  <a:srgbClr val="CB6CE6"/>
                </a:solidFill>
                <a:latin typeface="Courier Prime"/>
                <a:ea typeface="Courier Prime"/>
                <a:cs typeface="Courier Prime"/>
                <a:sym typeface="Courier Prime"/>
              </a:rPr>
              <a:t>OPERACIONES LÓGICAS</a:t>
            </a:r>
            <a:endParaRPr/>
          </a:p>
        </p:txBody>
      </p:sp>
      <p:sp>
        <p:nvSpPr>
          <p:cNvPr id="304" name="Google Shape;304;p21"/>
          <p:cNvSpPr txBox="1"/>
          <p:nvPr/>
        </p:nvSpPr>
        <p:spPr>
          <a:xfrm>
            <a:off x="13969971" y="4575429"/>
            <a:ext cx="2598314" cy="568071"/>
          </a:xfrm>
          <a:prstGeom prst="rect">
            <a:avLst/>
          </a:prstGeom>
          <a:noFill/>
          <a:ln>
            <a:noFill/>
          </a:ln>
        </p:spPr>
        <p:txBody>
          <a:bodyPr anchorCtr="0" anchor="t" bIns="0" lIns="0" spcFirstLastPara="1" rIns="0" wrap="square" tIns="0">
            <a:spAutoFit/>
          </a:bodyPr>
          <a:lstStyle/>
          <a:p>
            <a:pPr indent="0" lvl="0" marL="0" marR="0" rtl="0" algn="l">
              <a:lnSpc>
                <a:spcPct val="127000"/>
              </a:lnSpc>
              <a:spcBef>
                <a:spcPts val="0"/>
              </a:spcBef>
              <a:spcAft>
                <a:spcPts val="0"/>
              </a:spcAft>
              <a:buNone/>
            </a:pPr>
            <a:r>
              <a:rPr b="0" i="0" lang="en-US" sz="3600" u="none" cap="none" strike="noStrike">
                <a:solidFill>
                  <a:srgbClr val="03989E"/>
                </a:solidFill>
                <a:latin typeface="Courier Prime"/>
                <a:ea typeface="Courier Prime"/>
                <a:cs typeface="Courier Prime"/>
                <a:sym typeface="Courier Prime"/>
              </a:rPr>
              <a:t>EJEMPLOS</a:t>
            </a:r>
            <a:endParaRPr/>
          </a:p>
        </p:txBody>
      </p:sp>
      <p:sp>
        <p:nvSpPr>
          <p:cNvPr id="305" name="Google Shape;305;p21"/>
          <p:cNvSpPr/>
          <p:nvPr/>
        </p:nvSpPr>
        <p:spPr>
          <a:xfrm>
            <a:off x="12404396" y="6570780"/>
            <a:ext cx="431419" cy="431419"/>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91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1"/>
          <p:cNvSpPr/>
          <p:nvPr/>
        </p:nvSpPr>
        <p:spPr>
          <a:xfrm>
            <a:off x="13415726" y="6570780"/>
            <a:ext cx="431419" cy="431419"/>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1"/>
          <p:cNvSpPr txBox="1"/>
          <p:nvPr/>
        </p:nvSpPr>
        <p:spPr>
          <a:xfrm>
            <a:off x="1028700" y="591530"/>
            <a:ext cx="14371355" cy="893391"/>
          </a:xfrm>
          <a:prstGeom prst="rect">
            <a:avLst/>
          </a:prstGeom>
          <a:noFill/>
          <a:ln>
            <a:noFill/>
          </a:ln>
        </p:spPr>
        <p:txBody>
          <a:bodyPr anchorCtr="0" anchor="t" bIns="0" lIns="0" spcFirstLastPara="1" rIns="0" wrap="square" tIns="0">
            <a:spAutoFit/>
          </a:bodyPr>
          <a:lstStyle/>
          <a:p>
            <a:pPr indent="0" lvl="0" marL="0" marR="0" rtl="0" algn="l">
              <a:lnSpc>
                <a:spcPct val="113983"/>
              </a:lnSpc>
              <a:spcBef>
                <a:spcPts val="0"/>
              </a:spcBef>
              <a:spcAft>
                <a:spcPts val="0"/>
              </a:spcAft>
              <a:buNone/>
            </a:pPr>
            <a:r>
              <a:rPr b="0" i="0" lang="en-US" sz="6000" u="none" cap="none" strike="noStrike">
                <a:solidFill>
                  <a:srgbClr val="FFFFFF"/>
                </a:solidFill>
                <a:latin typeface="Courier Prime"/>
                <a:ea typeface="Courier Prime"/>
                <a:cs typeface="Courier Prime"/>
                <a:sym typeface="Courier Prime"/>
              </a:rPr>
              <a:t>Unidad Aritmético-Lógica (ALU)</a:t>
            </a:r>
            <a:endParaRPr/>
          </a:p>
        </p:txBody>
      </p:sp>
      <p:sp>
        <p:nvSpPr>
          <p:cNvPr id="308" name="Google Shape;308;p21"/>
          <p:cNvSpPr txBox="1"/>
          <p:nvPr/>
        </p:nvSpPr>
        <p:spPr>
          <a:xfrm>
            <a:off x="841843" y="1698475"/>
            <a:ext cx="15485484" cy="212385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Courier Prime"/>
                <a:ea typeface="Courier Prime"/>
                <a:cs typeface="Courier Prime"/>
                <a:sym typeface="Courier Prime"/>
              </a:rPr>
              <a:t>La Unidad Aritmético-Lógica (</a:t>
            </a:r>
            <a:r>
              <a:rPr b="0" i="0" lang="en-US" sz="3000" u="none" cap="none" strike="noStrike">
                <a:solidFill>
                  <a:srgbClr val="FF914D"/>
                </a:solidFill>
                <a:latin typeface="Courier Prime"/>
                <a:ea typeface="Courier Prime"/>
                <a:cs typeface="Courier Prime"/>
                <a:sym typeface="Courier Prime"/>
              </a:rPr>
              <a:t>ALU</a:t>
            </a:r>
            <a:r>
              <a:rPr b="0" i="0" lang="en-US" sz="3000" u="none" cap="none" strike="noStrike">
                <a:solidFill>
                  <a:srgbClr val="FFFFFF"/>
                </a:solidFill>
                <a:latin typeface="Courier Prime"/>
                <a:ea typeface="Courier Prime"/>
                <a:cs typeface="Courier Prime"/>
                <a:sym typeface="Courier Prime"/>
              </a:rPr>
              <a:t>) es la </a:t>
            </a:r>
            <a:r>
              <a:rPr b="0" i="0" lang="en-US" sz="3000" u="none" cap="none" strike="noStrike">
                <a:solidFill>
                  <a:srgbClr val="FF914D"/>
                </a:solidFill>
                <a:latin typeface="Courier Prime"/>
                <a:ea typeface="Courier Prime"/>
                <a:cs typeface="Courier Prime"/>
                <a:sym typeface="Courier Prime"/>
              </a:rPr>
              <a:t>"calculadora"</a:t>
            </a:r>
            <a:r>
              <a:rPr b="0" i="0" lang="en-US" sz="3000" u="none" cap="none" strike="noStrike">
                <a:solidFill>
                  <a:srgbClr val="FFFFFF"/>
                </a:solidFill>
                <a:latin typeface="Courier Prime"/>
                <a:ea typeface="Courier Prime"/>
                <a:cs typeface="Courier Prime"/>
                <a:sym typeface="Courier Prime"/>
              </a:rPr>
              <a:t> de la CPU. Es un circuito digital de alta velocidad que realiza dos tipos de operaciones: las </a:t>
            </a:r>
            <a:r>
              <a:rPr b="0" i="0" lang="en-US" sz="3000" u="none" cap="none" strike="noStrike">
                <a:solidFill>
                  <a:srgbClr val="FF914D"/>
                </a:solidFill>
                <a:latin typeface="Courier Prime"/>
                <a:ea typeface="Courier Prime"/>
                <a:cs typeface="Courier Prime"/>
                <a:sym typeface="Courier Prime"/>
              </a:rPr>
              <a:t>operaciones aritméticas</a:t>
            </a:r>
            <a:r>
              <a:rPr b="0" i="0" lang="en-US" sz="3000" u="none" cap="none" strike="noStrike">
                <a:solidFill>
                  <a:srgbClr val="FFFFFF"/>
                </a:solidFill>
                <a:latin typeface="Courier Prime"/>
                <a:ea typeface="Courier Prime"/>
                <a:cs typeface="Courier Prime"/>
                <a:sym typeface="Courier Prime"/>
              </a:rPr>
              <a:t> y las </a:t>
            </a:r>
            <a:r>
              <a:rPr b="0" i="0" lang="en-US" sz="3000" u="none" cap="none" strike="noStrike">
                <a:solidFill>
                  <a:srgbClr val="FF914D"/>
                </a:solidFill>
                <a:latin typeface="Courier Prime"/>
                <a:ea typeface="Courier Prime"/>
                <a:cs typeface="Courier Prime"/>
                <a:sym typeface="Courier Prime"/>
              </a:rPr>
              <a:t>operaciones lógicas</a:t>
            </a:r>
            <a:r>
              <a:rPr b="0" i="0" lang="en-US" sz="3000" u="none" cap="none" strike="noStrike">
                <a:solidFill>
                  <a:srgbClr val="FFFFFF"/>
                </a:solidFill>
                <a:latin typeface="Courier Prime"/>
                <a:ea typeface="Courier Prime"/>
                <a:cs typeface="Courier Prime"/>
                <a:sym typeface="Courier Prime"/>
              </a:rPr>
              <a:t>, bajo el comando de la Unidad de Control.</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312" name="Shape 312"/>
        <p:cNvGrpSpPr/>
        <p:nvPr/>
      </p:nvGrpSpPr>
      <p:grpSpPr>
        <a:xfrm>
          <a:off x="0" y="0"/>
          <a:ext cx="0" cy="0"/>
          <a:chOff x="0" y="0"/>
          <a:chExt cx="0" cy="0"/>
        </a:xfrm>
      </p:grpSpPr>
      <p:sp>
        <p:nvSpPr>
          <p:cNvPr id="313" name="Google Shape;313;p22"/>
          <p:cNvSpPr/>
          <p:nvPr/>
        </p:nvSpPr>
        <p:spPr>
          <a:xfrm>
            <a:off x="3703095" y="2104867"/>
            <a:ext cx="12307036" cy="6924951"/>
          </a:xfrm>
          <a:custGeom>
            <a:rect b="b" l="l" r="r" t="t"/>
            <a:pathLst>
              <a:path extrusionOk="0" h="6924951" w="12307036">
                <a:moveTo>
                  <a:pt x="0" y="0"/>
                </a:moveTo>
                <a:lnTo>
                  <a:pt x="12307037" y="0"/>
                </a:lnTo>
                <a:lnTo>
                  <a:pt x="12307037" y="6924950"/>
                </a:lnTo>
                <a:lnTo>
                  <a:pt x="0" y="6924950"/>
                </a:lnTo>
                <a:lnTo>
                  <a:pt x="0" y="0"/>
                </a:lnTo>
                <a:close/>
              </a:path>
            </a:pathLst>
          </a:custGeom>
          <a:blipFill rotWithShape="1">
            <a:blip r:embed="rId3">
              <a:alphaModFix/>
            </a:blip>
            <a:stretch>
              <a:fillRect b="0" l="0" r="0" t="0"/>
            </a:stretch>
          </a:blipFill>
          <a:ln>
            <a:noFill/>
          </a:ln>
        </p:spPr>
      </p:sp>
      <p:sp>
        <p:nvSpPr>
          <p:cNvPr id="314" name="Google Shape;314;p22"/>
          <p:cNvSpPr txBox="1"/>
          <p:nvPr/>
        </p:nvSpPr>
        <p:spPr>
          <a:xfrm>
            <a:off x="1862785" y="732651"/>
            <a:ext cx="11164800" cy="923400"/>
          </a:xfrm>
          <a:prstGeom prst="rect">
            <a:avLst/>
          </a:prstGeom>
          <a:noFill/>
          <a:ln>
            <a:noFill/>
          </a:ln>
        </p:spPr>
        <p:txBody>
          <a:bodyPr anchorCtr="0" anchor="t" bIns="0" lIns="0" spcFirstLastPara="1" rIns="0" wrap="square" tIns="0">
            <a:spAutoFit/>
          </a:bodyPr>
          <a:lstStyle/>
          <a:p>
            <a:pPr indent="0" lvl="0" marL="0" marR="0" rtl="0" algn="l">
              <a:lnSpc>
                <a:spcPct val="113983"/>
              </a:lnSpc>
              <a:spcBef>
                <a:spcPts val="0"/>
              </a:spcBef>
              <a:spcAft>
                <a:spcPts val="0"/>
              </a:spcAft>
              <a:buNone/>
            </a:pPr>
            <a:r>
              <a:rPr lang="en-US" sz="6000">
                <a:solidFill>
                  <a:srgbClr val="FF914D"/>
                </a:solidFill>
                <a:latin typeface="Courier Prime"/>
                <a:ea typeface="Courier Prime"/>
                <a:cs typeface="Courier Prime"/>
                <a:sym typeface="Courier Prime"/>
              </a:rPr>
              <a:t>Ejemplificación</a:t>
            </a:r>
            <a:r>
              <a:rPr b="0" i="0" lang="en-US" sz="6000" u="none" cap="none" strike="noStrike">
                <a:solidFill>
                  <a:srgbClr val="FF914D"/>
                </a:solidFill>
                <a:latin typeface="Courier Prime"/>
                <a:ea typeface="Courier Prime"/>
                <a:cs typeface="Courier Prime"/>
                <a:sym typeface="Courier Prime"/>
              </a:rPr>
              <a:t> de ALU</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318" name="Shape 318"/>
        <p:cNvGrpSpPr/>
        <p:nvPr/>
      </p:nvGrpSpPr>
      <p:grpSpPr>
        <a:xfrm>
          <a:off x="0" y="0"/>
          <a:ext cx="0" cy="0"/>
          <a:chOff x="0" y="0"/>
          <a:chExt cx="0" cy="0"/>
        </a:xfrm>
      </p:grpSpPr>
      <p:sp>
        <p:nvSpPr>
          <p:cNvPr id="319" name="Google Shape;319;p23"/>
          <p:cNvSpPr txBox="1"/>
          <p:nvPr/>
        </p:nvSpPr>
        <p:spPr>
          <a:xfrm>
            <a:off x="1028700" y="1047750"/>
            <a:ext cx="7031406" cy="893391"/>
          </a:xfrm>
          <a:prstGeom prst="rect">
            <a:avLst/>
          </a:prstGeom>
          <a:noFill/>
          <a:ln>
            <a:noFill/>
          </a:ln>
        </p:spPr>
        <p:txBody>
          <a:bodyPr anchorCtr="0" anchor="t" bIns="0" lIns="0" spcFirstLastPara="1" rIns="0" wrap="square" tIns="0">
            <a:spAutoFit/>
          </a:bodyPr>
          <a:lstStyle/>
          <a:p>
            <a:pPr indent="0" lvl="0" marL="0" marR="0" rtl="0" algn="l">
              <a:lnSpc>
                <a:spcPct val="113983"/>
              </a:lnSpc>
              <a:spcBef>
                <a:spcPts val="0"/>
              </a:spcBef>
              <a:spcAft>
                <a:spcPts val="0"/>
              </a:spcAft>
              <a:buNone/>
            </a:pPr>
            <a:r>
              <a:rPr b="0" i="0" lang="en-US" sz="6000" u="none" cap="none" strike="noStrike">
                <a:solidFill>
                  <a:srgbClr val="FFFFFF"/>
                </a:solidFill>
                <a:latin typeface="Courier Prime"/>
                <a:ea typeface="Courier Prime"/>
                <a:cs typeface="Courier Prime"/>
                <a:sym typeface="Courier Prime"/>
              </a:rPr>
              <a:t>Ejemplos</a:t>
            </a:r>
            <a:endParaRPr/>
          </a:p>
        </p:txBody>
      </p:sp>
      <p:sp>
        <p:nvSpPr>
          <p:cNvPr id="320" name="Google Shape;320;p23"/>
          <p:cNvSpPr txBox="1"/>
          <p:nvPr/>
        </p:nvSpPr>
        <p:spPr>
          <a:xfrm>
            <a:off x="1771825" y="3679497"/>
            <a:ext cx="14744400" cy="2118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200" u="none" cap="none" strike="noStrike">
                <a:solidFill>
                  <a:srgbClr val="FFFFFF"/>
                </a:solidFill>
                <a:latin typeface="Courier Prime"/>
                <a:ea typeface="Courier Prime"/>
                <a:cs typeface="Courier Prime"/>
                <a:sym typeface="Courier Prime"/>
              </a:rPr>
              <a:t>El teléfono inteligente actual es resultado de siglos de avances, integrando capacidades de cálculo, comunicación y almacenamiento en un solo dispositivo, lo cual es un claro ejemplo de la evolución de la computación.</a:t>
            </a:r>
            <a:endParaRPr/>
          </a:p>
        </p:txBody>
      </p:sp>
      <p:sp>
        <p:nvSpPr>
          <p:cNvPr id="321" name="Google Shape;321;p23"/>
          <p:cNvSpPr txBox="1"/>
          <p:nvPr/>
        </p:nvSpPr>
        <p:spPr>
          <a:xfrm>
            <a:off x="1771821" y="7189128"/>
            <a:ext cx="14744358" cy="133587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200" u="none" cap="none" strike="noStrike">
                <a:solidFill>
                  <a:srgbClr val="FFFFFF"/>
                </a:solidFill>
                <a:latin typeface="Courier Prime"/>
                <a:ea typeface="Courier Prime"/>
                <a:cs typeface="Courier Prime"/>
                <a:sym typeface="Courier Prime"/>
              </a:rPr>
              <a:t>Al presionar una tecla en un procesador de texto, el CPU sigue el Ciclo Fetch-Decode-Execute para mostrar el carácter en pantalla.</a:t>
            </a:r>
            <a:endParaRPr/>
          </a:p>
        </p:txBody>
      </p:sp>
      <p:sp>
        <p:nvSpPr>
          <p:cNvPr id="322" name="Google Shape;322;p23"/>
          <p:cNvSpPr txBox="1"/>
          <p:nvPr/>
        </p:nvSpPr>
        <p:spPr>
          <a:xfrm>
            <a:off x="1771821" y="2589519"/>
            <a:ext cx="1167193" cy="847090"/>
          </a:xfrm>
          <a:prstGeom prst="rect">
            <a:avLst/>
          </a:prstGeom>
          <a:noFill/>
          <a:ln>
            <a:noFill/>
          </a:ln>
        </p:spPr>
        <p:txBody>
          <a:bodyPr anchorCtr="0" anchor="t" bIns="0" lIns="0" spcFirstLastPara="1" rIns="0" wrap="square" tIns="0">
            <a:spAutoFit/>
          </a:bodyPr>
          <a:lstStyle/>
          <a:p>
            <a:pPr indent="0" lvl="0" marL="0" marR="0" rtl="0" algn="l">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01</a:t>
            </a:r>
            <a:endParaRPr/>
          </a:p>
        </p:txBody>
      </p:sp>
      <p:sp>
        <p:nvSpPr>
          <p:cNvPr id="323" name="Google Shape;323;p23"/>
          <p:cNvSpPr txBox="1"/>
          <p:nvPr/>
        </p:nvSpPr>
        <p:spPr>
          <a:xfrm>
            <a:off x="1771821" y="6101185"/>
            <a:ext cx="1167193" cy="847090"/>
          </a:xfrm>
          <a:prstGeom prst="rect">
            <a:avLst/>
          </a:prstGeom>
          <a:noFill/>
          <a:ln>
            <a:noFill/>
          </a:ln>
        </p:spPr>
        <p:txBody>
          <a:bodyPr anchorCtr="0" anchor="t" bIns="0" lIns="0" spcFirstLastPara="1" rIns="0" wrap="square" tIns="0">
            <a:spAutoFit/>
          </a:bodyPr>
          <a:lstStyle/>
          <a:p>
            <a:pPr indent="0" lvl="0" marL="0" marR="0" rtl="0" algn="l">
              <a:lnSpc>
                <a:spcPct val="182020"/>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02</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327" name="Shape 327"/>
        <p:cNvGrpSpPr/>
        <p:nvPr/>
      </p:nvGrpSpPr>
      <p:grpSpPr>
        <a:xfrm>
          <a:off x="0" y="0"/>
          <a:ext cx="0" cy="0"/>
          <a:chOff x="0" y="0"/>
          <a:chExt cx="0" cy="0"/>
        </a:xfrm>
      </p:grpSpPr>
      <p:sp>
        <p:nvSpPr>
          <p:cNvPr id="328" name="Google Shape;328;p24"/>
          <p:cNvSpPr/>
          <p:nvPr/>
        </p:nvSpPr>
        <p:spPr>
          <a:xfrm>
            <a:off x="287300" y="2784625"/>
            <a:ext cx="5261808" cy="3205480"/>
          </a:xfrm>
          <a:custGeom>
            <a:rect b="b" l="l" r="r" t="t"/>
            <a:pathLst>
              <a:path extrusionOk="0" h="1172022" w="1987463">
                <a:moveTo>
                  <a:pt x="0" y="0"/>
                </a:moveTo>
                <a:lnTo>
                  <a:pt x="1987463" y="0"/>
                </a:lnTo>
                <a:lnTo>
                  <a:pt x="1987463" y="1172022"/>
                </a:lnTo>
                <a:lnTo>
                  <a:pt x="0" y="1172022"/>
                </a:lnTo>
                <a:close/>
              </a:path>
            </a:pathLst>
          </a:custGeom>
          <a:solidFill>
            <a:srgbClr val="2D2D35"/>
          </a:solidFill>
          <a:ln>
            <a:noFill/>
          </a:ln>
        </p:spPr>
      </p:sp>
      <p:sp>
        <p:nvSpPr>
          <p:cNvPr id="329" name="Google Shape;329;p24"/>
          <p:cNvSpPr/>
          <p:nvPr/>
        </p:nvSpPr>
        <p:spPr>
          <a:xfrm>
            <a:off x="6282525" y="2743804"/>
            <a:ext cx="5389089" cy="3205480"/>
          </a:xfrm>
          <a:custGeom>
            <a:rect b="b" l="l" r="r" t="t"/>
            <a:pathLst>
              <a:path extrusionOk="0" h="1172022" w="2184028">
                <a:moveTo>
                  <a:pt x="0" y="0"/>
                </a:moveTo>
                <a:lnTo>
                  <a:pt x="2184028" y="0"/>
                </a:lnTo>
                <a:lnTo>
                  <a:pt x="2184028" y="1172022"/>
                </a:lnTo>
                <a:lnTo>
                  <a:pt x="0" y="1172022"/>
                </a:lnTo>
                <a:close/>
              </a:path>
            </a:pathLst>
          </a:custGeom>
          <a:solidFill>
            <a:srgbClr val="2D2D35"/>
          </a:solidFill>
          <a:ln>
            <a:noFill/>
          </a:ln>
        </p:spPr>
      </p:sp>
      <p:sp>
        <p:nvSpPr>
          <p:cNvPr id="330" name="Google Shape;330;p24"/>
          <p:cNvSpPr/>
          <p:nvPr/>
        </p:nvSpPr>
        <p:spPr>
          <a:xfrm>
            <a:off x="12300800" y="2784625"/>
            <a:ext cx="5390109" cy="3097968"/>
          </a:xfrm>
          <a:custGeom>
            <a:rect b="b" l="l" r="r" t="t"/>
            <a:pathLst>
              <a:path extrusionOk="0" h="1226918" w="2340981">
                <a:moveTo>
                  <a:pt x="0" y="0"/>
                </a:moveTo>
                <a:lnTo>
                  <a:pt x="2340981" y="0"/>
                </a:lnTo>
                <a:lnTo>
                  <a:pt x="2340981" y="1226918"/>
                </a:lnTo>
                <a:lnTo>
                  <a:pt x="0" y="1226918"/>
                </a:lnTo>
                <a:close/>
              </a:path>
            </a:pathLst>
          </a:custGeom>
          <a:solidFill>
            <a:srgbClr val="2D2D35"/>
          </a:solidFill>
          <a:ln>
            <a:noFill/>
          </a:ln>
        </p:spPr>
      </p:sp>
      <p:sp>
        <p:nvSpPr>
          <p:cNvPr id="331" name="Google Shape;331;p24"/>
          <p:cNvSpPr/>
          <p:nvPr/>
        </p:nvSpPr>
        <p:spPr>
          <a:xfrm>
            <a:off x="3063125" y="6314800"/>
            <a:ext cx="6078136" cy="2575370"/>
          </a:xfrm>
          <a:custGeom>
            <a:rect b="b" l="l" r="r" t="t"/>
            <a:pathLst>
              <a:path extrusionOk="0" h="938204" w="2522048">
                <a:moveTo>
                  <a:pt x="0" y="0"/>
                </a:moveTo>
                <a:lnTo>
                  <a:pt x="2522048" y="0"/>
                </a:lnTo>
                <a:lnTo>
                  <a:pt x="2522048" y="938204"/>
                </a:lnTo>
                <a:lnTo>
                  <a:pt x="0" y="938204"/>
                </a:lnTo>
                <a:close/>
              </a:path>
            </a:pathLst>
          </a:custGeom>
          <a:solidFill>
            <a:srgbClr val="2D2D35"/>
          </a:solidFill>
          <a:ln>
            <a:noFill/>
          </a:ln>
        </p:spPr>
      </p:sp>
      <p:sp>
        <p:nvSpPr>
          <p:cNvPr id="332" name="Google Shape;332;p24"/>
          <p:cNvSpPr/>
          <p:nvPr/>
        </p:nvSpPr>
        <p:spPr>
          <a:xfrm>
            <a:off x="10164050" y="6314800"/>
            <a:ext cx="5477850" cy="2507350"/>
          </a:xfrm>
          <a:custGeom>
            <a:rect b="b" l="l" r="r" t="t"/>
            <a:pathLst>
              <a:path extrusionOk="0" h="938204" w="2272967">
                <a:moveTo>
                  <a:pt x="0" y="0"/>
                </a:moveTo>
                <a:lnTo>
                  <a:pt x="2272967" y="0"/>
                </a:lnTo>
                <a:lnTo>
                  <a:pt x="2272967" y="938204"/>
                </a:lnTo>
                <a:lnTo>
                  <a:pt x="0" y="938204"/>
                </a:lnTo>
                <a:close/>
              </a:path>
            </a:pathLst>
          </a:custGeom>
          <a:solidFill>
            <a:srgbClr val="2D2D35"/>
          </a:solidFill>
          <a:ln>
            <a:noFill/>
          </a:ln>
        </p:spPr>
      </p:sp>
      <p:sp>
        <p:nvSpPr>
          <p:cNvPr id="333" name="Google Shape;333;p24"/>
          <p:cNvSpPr txBox="1"/>
          <p:nvPr/>
        </p:nvSpPr>
        <p:spPr>
          <a:xfrm>
            <a:off x="580600" y="3217976"/>
            <a:ext cx="4675200" cy="2338800"/>
          </a:xfrm>
          <a:prstGeom prst="rect">
            <a:avLst/>
          </a:prstGeom>
          <a:noFill/>
          <a:ln>
            <a:noFill/>
          </a:ln>
        </p:spPr>
        <p:txBody>
          <a:bodyPr anchorCtr="0" anchor="t" bIns="0" lIns="0" spcFirstLastPara="1" rIns="0" wrap="square" tIns="0">
            <a:spAutoFit/>
          </a:bodyPr>
          <a:lstStyle/>
          <a:p>
            <a:pPr indent="0" lvl="0" marL="0" marR="0" rtl="0" algn="l">
              <a:lnSpc>
                <a:spcPct val="127010"/>
              </a:lnSpc>
              <a:spcBef>
                <a:spcPts val="0"/>
              </a:spcBef>
              <a:spcAft>
                <a:spcPts val="0"/>
              </a:spcAft>
              <a:buNone/>
            </a:pPr>
            <a:r>
              <a:rPr b="0" i="0" lang="en-US" sz="2499" u="none" cap="none" strike="noStrike">
                <a:solidFill>
                  <a:srgbClr val="FF914D"/>
                </a:solidFill>
                <a:latin typeface="Courier Prime"/>
                <a:ea typeface="Courier Prime"/>
                <a:cs typeface="Courier Prime"/>
                <a:sym typeface="Courier Prime"/>
              </a:rPr>
              <a:t>LA COMPUTADORA INVOLUCRA TANTO LA PARTE FÍSICA (HARDWARE) COMO LÓGICA (SOFTWARE) DE LOS SISTEMAS.</a:t>
            </a:r>
            <a:endParaRPr/>
          </a:p>
        </p:txBody>
      </p:sp>
      <p:sp>
        <p:nvSpPr>
          <p:cNvPr id="334" name="Google Shape;334;p24"/>
          <p:cNvSpPr txBox="1"/>
          <p:nvPr/>
        </p:nvSpPr>
        <p:spPr>
          <a:xfrm>
            <a:off x="3304071" y="6639136"/>
            <a:ext cx="5839929" cy="1606658"/>
          </a:xfrm>
          <a:prstGeom prst="rect">
            <a:avLst/>
          </a:prstGeom>
          <a:noFill/>
          <a:ln>
            <a:noFill/>
          </a:ln>
        </p:spPr>
        <p:txBody>
          <a:bodyPr anchorCtr="0" anchor="t" bIns="0" lIns="0" spcFirstLastPara="1" rIns="0" wrap="square" tIns="0">
            <a:spAutoFit/>
          </a:bodyPr>
          <a:lstStyle/>
          <a:p>
            <a:pPr indent="0" lvl="0" marL="0" marR="0" rtl="0" algn="l">
              <a:lnSpc>
                <a:spcPct val="127010"/>
              </a:lnSpc>
              <a:spcBef>
                <a:spcPts val="0"/>
              </a:spcBef>
              <a:spcAft>
                <a:spcPts val="0"/>
              </a:spcAft>
              <a:buNone/>
            </a:pPr>
            <a:r>
              <a:rPr b="0" i="0" lang="en-US" sz="2499" u="none" cap="none" strike="noStrike">
                <a:solidFill>
                  <a:srgbClr val="CB6CE6"/>
                </a:solidFill>
                <a:latin typeface="Courier Prime"/>
                <a:ea typeface="Courier Prime"/>
                <a:cs typeface="Courier Prime"/>
                <a:sym typeface="Courier Prime"/>
              </a:rPr>
              <a:t>EL CICLO FETCH-DECODE-EXECUTE ES EL CORAZÓN DEL FUNCIONAMIENTO DE CUALQUIER PROCESADOR.</a:t>
            </a:r>
            <a:endParaRPr/>
          </a:p>
        </p:txBody>
      </p:sp>
      <p:sp>
        <p:nvSpPr>
          <p:cNvPr id="335" name="Google Shape;335;p24"/>
          <p:cNvSpPr txBox="1"/>
          <p:nvPr/>
        </p:nvSpPr>
        <p:spPr>
          <a:xfrm>
            <a:off x="6535525" y="3298900"/>
            <a:ext cx="4954800" cy="1850400"/>
          </a:xfrm>
          <a:prstGeom prst="rect">
            <a:avLst/>
          </a:prstGeom>
          <a:noFill/>
          <a:ln>
            <a:noFill/>
          </a:ln>
        </p:spPr>
        <p:txBody>
          <a:bodyPr anchorCtr="0" anchor="t" bIns="0" lIns="0" spcFirstLastPara="1" rIns="0" wrap="square" tIns="0">
            <a:spAutoFit/>
          </a:bodyPr>
          <a:lstStyle/>
          <a:p>
            <a:pPr indent="0" lvl="0" marL="0" marR="0" rtl="0" algn="l">
              <a:lnSpc>
                <a:spcPct val="127010"/>
              </a:lnSpc>
              <a:spcBef>
                <a:spcPts val="0"/>
              </a:spcBef>
              <a:spcAft>
                <a:spcPts val="0"/>
              </a:spcAft>
              <a:buNone/>
            </a:pPr>
            <a:r>
              <a:rPr b="0" i="0" lang="en-US" sz="2499" u="none" cap="none" strike="noStrike">
                <a:solidFill>
                  <a:srgbClr val="03989E"/>
                </a:solidFill>
                <a:latin typeface="Courier Prime"/>
                <a:ea typeface="Courier Prime"/>
                <a:cs typeface="Courier Prime"/>
                <a:sym typeface="Courier Prime"/>
              </a:rPr>
              <a:t>LA ALU EJECUTA LAS OPERACIONES MATEMÁTICAS Y LÓGICAS BÁSICAS NECESARIAS PARA CUALQUIER PROGRAMA.</a:t>
            </a:r>
            <a:endParaRPr/>
          </a:p>
        </p:txBody>
      </p:sp>
      <p:sp>
        <p:nvSpPr>
          <p:cNvPr id="336" name="Google Shape;336;p24"/>
          <p:cNvSpPr txBox="1"/>
          <p:nvPr/>
        </p:nvSpPr>
        <p:spPr>
          <a:xfrm>
            <a:off x="10320941" y="6839174"/>
            <a:ext cx="5166529" cy="1206581"/>
          </a:xfrm>
          <a:prstGeom prst="rect">
            <a:avLst/>
          </a:prstGeom>
          <a:noFill/>
          <a:ln>
            <a:noFill/>
          </a:ln>
        </p:spPr>
        <p:txBody>
          <a:bodyPr anchorCtr="0" anchor="t" bIns="0" lIns="0" spcFirstLastPara="1" rIns="0" wrap="square" tIns="0">
            <a:spAutoFit/>
          </a:bodyPr>
          <a:lstStyle/>
          <a:p>
            <a:pPr indent="0" lvl="0" marL="0" marR="0" rtl="0" algn="l">
              <a:lnSpc>
                <a:spcPct val="127010"/>
              </a:lnSpc>
              <a:spcBef>
                <a:spcPts val="0"/>
              </a:spcBef>
              <a:spcAft>
                <a:spcPts val="0"/>
              </a:spcAft>
              <a:buNone/>
            </a:pPr>
            <a:r>
              <a:rPr b="0" i="0" lang="en-US" sz="2499" u="none" cap="none" strike="noStrike">
                <a:solidFill>
                  <a:srgbClr val="8C52FF"/>
                </a:solidFill>
                <a:latin typeface="Courier Prime"/>
                <a:ea typeface="Courier Prime"/>
                <a:cs typeface="Courier Prime"/>
                <a:sym typeface="Courier Prime"/>
              </a:rPr>
              <a:t>LA COMPUTACIÓN HA PASADO DE SER MECÁNICA A ELECTRÓNICA Y DIGITAL.</a:t>
            </a:r>
            <a:endParaRPr/>
          </a:p>
        </p:txBody>
      </p:sp>
      <p:sp>
        <p:nvSpPr>
          <p:cNvPr id="337" name="Google Shape;337;p24"/>
          <p:cNvSpPr txBox="1"/>
          <p:nvPr/>
        </p:nvSpPr>
        <p:spPr>
          <a:xfrm>
            <a:off x="12482296" y="3203651"/>
            <a:ext cx="5444272" cy="1606658"/>
          </a:xfrm>
          <a:prstGeom prst="rect">
            <a:avLst/>
          </a:prstGeom>
          <a:noFill/>
          <a:ln>
            <a:noFill/>
          </a:ln>
        </p:spPr>
        <p:txBody>
          <a:bodyPr anchorCtr="0" anchor="t" bIns="0" lIns="0" spcFirstLastPara="1" rIns="0" wrap="square" tIns="0">
            <a:spAutoFit/>
          </a:bodyPr>
          <a:lstStyle/>
          <a:p>
            <a:pPr indent="0" lvl="0" marL="0" marR="0" rtl="0" algn="l">
              <a:lnSpc>
                <a:spcPct val="127010"/>
              </a:lnSpc>
              <a:spcBef>
                <a:spcPts val="0"/>
              </a:spcBef>
              <a:spcAft>
                <a:spcPts val="0"/>
              </a:spcAft>
              <a:buNone/>
            </a:pPr>
            <a:r>
              <a:rPr b="0" i="0" lang="en-US" sz="2499" u="none" cap="none" strike="noStrike">
                <a:solidFill>
                  <a:srgbClr val="FFFFFF"/>
                </a:solidFill>
                <a:latin typeface="Courier Prime"/>
                <a:ea typeface="Courier Prime"/>
                <a:cs typeface="Courier Prime"/>
                <a:sym typeface="Courier Prime"/>
              </a:rPr>
              <a:t>LA UNIDAD DE CONTROL ES ESENCIAL PARA LA COORDINACIÓN Y EJECUCIÓN ORDENADA DE INSTRUCCIONES.</a:t>
            </a:r>
            <a:endParaRPr/>
          </a:p>
        </p:txBody>
      </p:sp>
      <p:sp>
        <p:nvSpPr>
          <p:cNvPr id="338" name="Google Shape;338;p24"/>
          <p:cNvSpPr txBox="1"/>
          <p:nvPr/>
        </p:nvSpPr>
        <p:spPr>
          <a:xfrm>
            <a:off x="1028700" y="1047750"/>
            <a:ext cx="14615660" cy="893391"/>
          </a:xfrm>
          <a:prstGeom prst="rect">
            <a:avLst/>
          </a:prstGeom>
          <a:noFill/>
          <a:ln>
            <a:noFill/>
          </a:ln>
        </p:spPr>
        <p:txBody>
          <a:bodyPr anchorCtr="0" anchor="t" bIns="0" lIns="0" spcFirstLastPara="1" rIns="0" wrap="square" tIns="0">
            <a:spAutoFit/>
          </a:bodyPr>
          <a:lstStyle/>
          <a:p>
            <a:pPr indent="0" lvl="0" marL="0" marR="0" rtl="0" algn="l">
              <a:lnSpc>
                <a:spcPct val="113983"/>
              </a:lnSpc>
              <a:spcBef>
                <a:spcPts val="0"/>
              </a:spcBef>
              <a:spcAft>
                <a:spcPts val="0"/>
              </a:spcAft>
              <a:buNone/>
            </a:pPr>
            <a:r>
              <a:rPr b="0" i="0" lang="en-US" sz="6000" u="none" cap="none" strike="noStrike">
                <a:solidFill>
                  <a:srgbClr val="FFFFFF"/>
                </a:solidFill>
                <a:latin typeface="Courier Prime"/>
                <a:ea typeface="Courier Prime"/>
                <a:cs typeface="Courier Prime"/>
                <a:sym typeface="Courier Prime"/>
              </a:rPr>
              <a:t>CONCEPTOS CLAVE APRENDIDOS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342" name="Shape 342"/>
        <p:cNvGrpSpPr/>
        <p:nvPr/>
      </p:nvGrpSpPr>
      <p:grpSpPr>
        <a:xfrm>
          <a:off x="0" y="0"/>
          <a:ext cx="0" cy="0"/>
          <a:chOff x="0" y="0"/>
          <a:chExt cx="0" cy="0"/>
        </a:xfrm>
      </p:grpSpPr>
      <p:sp>
        <p:nvSpPr>
          <p:cNvPr id="343" name="Google Shape;343;p25"/>
          <p:cNvSpPr/>
          <p:nvPr/>
        </p:nvSpPr>
        <p:spPr>
          <a:xfrm>
            <a:off x="9144000" y="-102870"/>
            <a:ext cx="9314578" cy="10389870"/>
          </a:xfrm>
          <a:custGeom>
            <a:rect b="b" l="l" r="r" t="t"/>
            <a:pathLst>
              <a:path extrusionOk="0" h="3790253" w="3397983">
                <a:moveTo>
                  <a:pt x="0" y="0"/>
                </a:moveTo>
                <a:lnTo>
                  <a:pt x="3397983" y="0"/>
                </a:lnTo>
                <a:lnTo>
                  <a:pt x="3397983" y="3790253"/>
                </a:lnTo>
                <a:lnTo>
                  <a:pt x="0" y="3790253"/>
                </a:lnTo>
                <a:close/>
              </a:path>
            </a:pathLst>
          </a:custGeom>
          <a:solidFill>
            <a:srgbClr val="2D2D35"/>
          </a:solidFill>
          <a:ln>
            <a:noFill/>
          </a:ln>
        </p:spPr>
      </p:sp>
      <p:sp>
        <p:nvSpPr>
          <p:cNvPr id="344" name="Google Shape;344;p25"/>
          <p:cNvSpPr txBox="1"/>
          <p:nvPr/>
        </p:nvSpPr>
        <p:spPr>
          <a:xfrm>
            <a:off x="1269658" y="4308414"/>
            <a:ext cx="7031406" cy="893391"/>
          </a:xfrm>
          <a:prstGeom prst="rect">
            <a:avLst/>
          </a:prstGeom>
          <a:noFill/>
          <a:ln>
            <a:noFill/>
          </a:ln>
        </p:spPr>
        <p:txBody>
          <a:bodyPr anchorCtr="0" anchor="t" bIns="0" lIns="0" spcFirstLastPara="1" rIns="0" wrap="square" tIns="0">
            <a:spAutoFit/>
          </a:bodyPr>
          <a:lstStyle/>
          <a:p>
            <a:pPr indent="0" lvl="0" marL="0" marR="0" rtl="0" algn="l">
              <a:lnSpc>
                <a:spcPct val="113983"/>
              </a:lnSpc>
              <a:spcBef>
                <a:spcPts val="0"/>
              </a:spcBef>
              <a:spcAft>
                <a:spcPts val="0"/>
              </a:spcAft>
              <a:buNone/>
            </a:pPr>
            <a:r>
              <a:rPr b="0" i="0" lang="en-US" sz="6000" u="none" cap="none" strike="noStrike">
                <a:solidFill>
                  <a:srgbClr val="FFFFFF"/>
                </a:solidFill>
                <a:latin typeface="Courier Prime"/>
                <a:ea typeface="Courier Prime"/>
                <a:cs typeface="Courier Prime"/>
                <a:sym typeface="Courier Prime"/>
              </a:rPr>
              <a:t>Responsabilidad</a:t>
            </a:r>
            <a:endParaRPr/>
          </a:p>
        </p:txBody>
      </p:sp>
      <p:sp>
        <p:nvSpPr>
          <p:cNvPr id="345" name="Google Shape;345;p25"/>
          <p:cNvSpPr txBox="1"/>
          <p:nvPr/>
        </p:nvSpPr>
        <p:spPr>
          <a:xfrm>
            <a:off x="9669244" y="1979808"/>
            <a:ext cx="8264671" cy="6157839"/>
          </a:xfrm>
          <a:prstGeom prst="rect">
            <a:avLst/>
          </a:prstGeom>
          <a:noFill/>
          <a:ln>
            <a:noFill/>
          </a:ln>
        </p:spPr>
        <p:txBody>
          <a:bodyPr anchorCtr="0" anchor="t" bIns="0" lIns="0" spcFirstLastPara="1" rIns="0" wrap="square" tIns="0">
            <a:spAutoFit/>
          </a:bodyPr>
          <a:lstStyle/>
          <a:p>
            <a:pPr indent="0" lvl="0" marL="0" marR="0" rtl="0" algn="l">
              <a:lnSpc>
                <a:spcPct val="136009"/>
              </a:lnSpc>
              <a:spcBef>
                <a:spcPts val="0"/>
              </a:spcBef>
              <a:spcAft>
                <a:spcPts val="0"/>
              </a:spcAft>
              <a:buNone/>
            </a:pPr>
            <a:r>
              <a:rPr b="0" i="0" lang="en-US" sz="3999" u="none" cap="none" strike="noStrike">
                <a:solidFill>
                  <a:srgbClr val="FFFFFF"/>
                </a:solidFill>
                <a:latin typeface="Courier Prime"/>
                <a:ea typeface="Courier Prime"/>
                <a:cs typeface="Courier Prime"/>
                <a:sym typeface="Courier Prime"/>
              </a:rPr>
              <a:t>Responsabilidad significa asumir con compromiso el aprendizaje y uso de la tecnología. Implica estudiar con seriedad, aplicar los conocimientos con precisión y actuar de forma ética en cada decisión técnica.</a:t>
            </a:r>
            <a:endParaRPr/>
          </a:p>
        </p:txBody>
      </p:sp>
      <p:sp>
        <p:nvSpPr>
          <p:cNvPr id="346" name="Google Shape;346;p25"/>
          <p:cNvSpPr txBox="1"/>
          <p:nvPr/>
        </p:nvSpPr>
        <p:spPr>
          <a:xfrm>
            <a:off x="1139911" y="2866785"/>
            <a:ext cx="7031406" cy="582930"/>
          </a:xfrm>
          <a:prstGeom prst="rect">
            <a:avLst/>
          </a:prstGeom>
          <a:noFill/>
          <a:ln>
            <a:noFill/>
          </a:ln>
        </p:spPr>
        <p:txBody>
          <a:bodyPr anchorCtr="0" anchor="t" bIns="0" lIns="0" spcFirstLastPara="1" rIns="0" wrap="square" tIns="0">
            <a:spAutoFit/>
          </a:bodyPr>
          <a:lstStyle/>
          <a:p>
            <a:pPr indent="0" lvl="0" marL="0" marR="0" rtl="0" algn="l">
              <a:lnSpc>
                <a:spcPct val="114003"/>
              </a:lnSpc>
              <a:spcBef>
                <a:spcPts val="0"/>
              </a:spcBef>
              <a:spcAft>
                <a:spcPts val="0"/>
              </a:spcAft>
              <a:buNone/>
            </a:pPr>
            <a:r>
              <a:rPr b="0" i="0" lang="en-US" sz="3999" u="none" cap="none" strike="noStrike">
                <a:solidFill>
                  <a:srgbClr val="FF914D"/>
                </a:solidFill>
                <a:latin typeface="Courier Prime"/>
                <a:ea typeface="Courier Prime"/>
                <a:cs typeface="Courier Prime"/>
                <a:sym typeface="Courier Prime"/>
              </a:rPr>
              <a:t>Valor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350" name="Shape 350"/>
        <p:cNvGrpSpPr/>
        <p:nvPr/>
      </p:nvGrpSpPr>
      <p:grpSpPr>
        <a:xfrm>
          <a:off x="0" y="0"/>
          <a:ext cx="0" cy="0"/>
          <a:chOff x="0" y="0"/>
          <a:chExt cx="0" cy="0"/>
        </a:xfrm>
      </p:grpSpPr>
      <p:grpSp>
        <p:nvGrpSpPr>
          <p:cNvPr id="351" name="Google Shape;351;p26"/>
          <p:cNvGrpSpPr/>
          <p:nvPr/>
        </p:nvGrpSpPr>
        <p:grpSpPr>
          <a:xfrm>
            <a:off x="14569450" y="289717"/>
            <a:ext cx="3541106" cy="3452208"/>
            <a:chOff x="0" y="0"/>
            <a:chExt cx="4721474" cy="4602944"/>
          </a:xfrm>
        </p:grpSpPr>
        <p:sp>
          <p:nvSpPr>
            <p:cNvPr id="352" name="Google Shape;352;p26"/>
            <p:cNvSpPr/>
            <p:nvPr/>
          </p:nvSpPr>
          <p:spPr>
            <a:xfrm>
              <a:off x="2067046" y="3361655"/>
              <a:ext cx="553854" cy="553854"/>
            </a:xfrm>
            <a:custGeom>
              <a:rect b="b" l="l" r="r" t="t"/>
              <a:pathLst>
                <a:path extrusionOk="0" h="152400" w="152400">
                  <a:moveTo>
                    <a:pt x="0" y="0"/>
                  </a:moveTo>
                  <a:lnTo>
                    <a:pt x="152400" y="0"/>
                  </a:lnTo>
                  <a:lnTo>
                    <a:pt x="152400" y="152400"/>
                  </a:lnTo>
                  <a:lnTo>
                    <a:pt x="0" y="152400"/>
                  </a:lnTo>
                  <a:close/>
                </a:path>
              </a:pathLst>
            </a:custGeom>
            <a:solidFill>
              <a:srgbClr val="FFFFFF"/>
            </a:solidFill>
            <a:ln>
              <a:noFill/>
            </a:ln>
          </p:spPr>
        </p:sp>
        <p:sp>
          <p:nvSpPr>
            <p:cNvPr id="353" name="Google Shape;353;p26"/>
            <p:cNvSpPr/>
            <p:nvPr/>
          </p:nvSpPr>
          <p:spPr>
            <a:xfrm>
              <a:off x="1139610" y="2231946"/>
              <a:ext cx="2438946" cy="1482566"/>
            </a:xfrm>
            <a:custGeom>
              <a:rect b="b" l="l" r="r" t="t"/>
              <a:pathLst>
                <a:path extrusionOk="0" h="407947" w="671107">
                  <a:moveTo>
                    <a:pt x="0" y="0"/>
                  </a:moveTo>
                  <a:lnTo>
                    <a:pt x="671107" y="0"/>
                  </a:lnTo>
                  <a:lnTo>
                    <a:pt x="671107" y="407947"/>
                  </a:lnTo>
                  <a:lnTo>
                    <a:pt x="0" y="407947"/>
                  </a:lnTo>
                  <a:close/>
                </a:path>
              </a:pathLst>
            </a:custGeom>
            <a:solidFill>
              <a:srgbClr val="FFFFFF"/>
            </a:solidFill>
            <a:ln>
              <a:noFill/>
            </a:ln>
          </p:spPr>
        </p:sp>
        <p:sp>
          <p:nvSpPr>
            <p:cNvPr id="354" name="Google Shape;354;p26"/>
            <p:cNvSpPr/>
            <p:nvPr/>
          </p:nvSpPr>
          <p:spPr>
            <a:xfrm>
              <a:off x="0" y="0"/>
              <a:ext cx="4721474" cy="4602944"/>
            </a:xfrm>
            <a:custGeom>
              <a:rect b="b" l="l" r="r" t="t"/>
              <a:pathLst>
                <a:path extrusionOk="0" h="4602944" w="4721474">
                  <a:moveTo>
                    <a:pt x="0" y="0"/>
                  </a:moveTo>
                  <a:lnTo>
                    <a:pt x="4721474" y="0"/>
                  </a:lnTo>
                  <a:lnTo>
                    <a:pt x="4721474" y="4602944"/>
                  </a:lnTo>
                  <a:lnTo>
                    <a:pt x="0" y="4602944"/>
                  </a:lnTo>
                  <a:lnTo>
                    <a:pt x="0" y="0"/>
                  </a:lnTo>
                  <a:close/>
                </a:path>
              </a:pathLst>
            </a:custGeom>
            <a:blipFill rotWithShape="1">
              <a:blip r:embed="rId3">
                <a:alphaModFix/>
              </a:blip>
              <a:stretch>
                <a:fillRect b="-3439" l="-37188" r="-34748" t="-6459"/>
              </a:stretch>
            </a:blipFill>
            <a:ln>
              <a:noFill/>
            </a:ln>
          </p:spPr>
        </p:sp>
      </p:grpSp>
      <p:sp>
        <p:nvSpPr>
          <p:cNvPr id="355" name="Google Shape;355;p26"/>
          <p:cNvSpPr txBox="1"/>
          <p:nvPr/>
        </p:nvSpPr>
        <p:spPr>
          <a:xfrm>
            <a:off x="1703740" y="3751450"/>
            <a:ext cx="14880520" cy="681609"/>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2400" u="none" cap="none" strike="noStrike">
                <a:solidFill>
                  <a:srgbClr val="FF914D"/>
                </a:solidFill>
                <a:latin typeface="Courier Prime"/>
                <a:ea typeface="Courier Prime"/>
                <a:cs typeface="Courier Prime"/>
                <a:sym typeface="Courier Prime"/>
              </a:rPr>
              <a:t>HTTPS://HISTORICO.UNILIBRE.EDU.CO/BOGOTA/UL/NOTICIAS/NOTICIAS-UNIVERSITARIAS/256-LA-EVOLUCION-DEL-COMPUTADOR</a:t>
            </a:r>
            <a:endParaRPr/>
          </a:p>
        </p:txBody>
      </p:sp>
      <p:sp>
        <p:nvSpPr>
          <p:cNvPr id="356" name="Google Shape;356;p26"/>
          <p:cNvSpPr txBox="1"/>
          <p:nvPr/>
        </p:nvSpPr>
        <p:spPr>
          <a:xfrm>
            <a:off x="1703740" y="5000158"/>
            <a:ext cx="14880520" cy="681609"/>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2400" u="none" cap="none" strike="noStrike">
                <a:solidFill>
                  <a:srgbClr val="FF914D"/>
                </a:solidFill>
                <a:latin typeface="Courier Prime"/>
                <a:ea typeface="Courier Prime"/>
                <a:cs typeface="Courier Prime"/>
                <a:sym typeface="Courier Prime"/>
              </a:rPr>
              <a:t>HTTPS://WWW.NUTSHELLAPP.COM/PUBLICSUMMARIES/LA-EVOLUCI%C3%B3N-DE-LA-COMPUTACI%C3%B3N:-DESDE-EL-%C3%A1BACO-HASTA-LA-TECNOLOG%C3%ADA-MODERNA</a:t>
            </a:r>
            <a:endParaRPr/>
          </a:p>
        </p:txBody>
      </p:sp>
      <p:sp>
        <p:nvSpPr>
          <p:cNvPr id="357" name="Google Shape;357;p26"/>
          <p:cNvSpPr txBox="1"/>
          <p:nvPr/>
        </p:nvSpPr>
        <p:spPr>
          <a:xfrm>
            <a:off x="1703740" y="6253267"/>
            <a:ext cx="12781688" cy="348234"/>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2400" u="none" cap="none" strike="noStrike">
                <a:solidFill>
                  <a:srgbClr val="FF914D"/>
                </a:solidFill>
                <a:latin typeface="Courier Prime"/>
                <a:ea typeface="Courier Prime"/>
                <a:cs typeface="Courier Prime"/>
                <a:sym typeface="Courier Prime"/>
              </a:rPr>
              <a:t>HTTPS://HARDZONE.ES/TUTORIALES/RENDIMIENTO/CICLO-INSTRUCCION-CPU/</a:t>
            </a:r>
            <a:endParaRPr/>
          </a:p>
        </p:txBody>
      </p:sp>
      <p:sp>
        <p:nvSpPr>
          <p:cNvPr id="358" name="Google Shape;358;p26"/>
          <p:cNvSpPr txBox="1"/>
          <p:nvPr/>
        </p:nvSpPr>
        <p:spPr>
          <a:xfrm>
            <a:off x="1703740" y="7320675"/>
            <a:ext cx="14636262" cy="348234"/>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2400" u="none" cap="none" strike="noStrike">
                <a:solidFill>
                  <a:srgbClr val="FF914D"/>
                </a:solidFill>
                <a:latin typeface="Courier Prime"/>
                <a:ea typeface="Courier Prime"/>
                <a:cs typeface="Courier Prime"/>
                <a:sym typeface="Courier Prime"/>
              </a:rPr>
              <a:t>HTTPS://WWW.A24.COM/MUNDO/HISTORIA-DE-LA-COMPUTADORA-10092019_HYHOI54UH</a:t>
            </a:r>
            <a:endParaRPr/>
          </a:p>
        </p:txBody>
      </p:sp>
      <p:sp>
        <p:nvSpPr>
          <p:cNvPr id="359" name="Google Shape;359;p26"/>
          <p:cNvSpPr txBox="1"/>
          <p:nvPr/>
        </p:nvSpPr>
        <p:spPr>
          <a:xfrm>
            <a:off x="1028700" y="1047750"/>
            <a:ext cx="7031406" cy="893391"/>
          </a:xfrm>
          <a:prstGeom prst="rect">
            <a:avLst/>
          </a:prstGeom>
          <a:noFill/>
          <a:ln>
            <a:noFill/>
          </a:ln>
        </p:spPr>
        <p:txBody>
          <a:bodyPr anchorCtr="0" anchor="t" bIns="0" lIns="0" spcFirstLastPara="1" rIns="0" wrap="square" tIns="0">
            <a:spAutoFit/>
          </a:bodyPr>
          <a:lstStyle/>
          <a:p>
            <a:pPr indent="0" lvl="0" marL="0" marR="0" rtl="0" algn="l">
              <a:lnSpc>
                <a:spcPct val="113983"/>
              </a:lnSpc>
              <a:spcBef>
                <a:spcPts val="0"/>
              </a:spcBef>
              <a:spcAft>
                <a:spcPts val="0"/>
              </a:spcAft>
              <a:buNone/>
            </a:pPr>
            <a:r>
              <a:rPr b="0" i="0" lang="en-US" sz="6000" u="none" cap="none" strike="noStrike">
                <a:solidFill>
                  <a:srgbClr val="FFFFFF"/>
                </a:solidFill>
                <a:latin typeface="Courier Prime"/>
                <a:ea typeface="Courier Prime"/>
                <a:cs typeface="Courier Prime"/>
                <a:sym typeface="Courier Prime"/>
              </a:rPr>
              <a:t>Referencias</a:t>
            </a:r>
            <a:endParaRPr/>
          </a:p>
        </p:txBody>
      </p:sp>
      <p:sp>
        <p:nvSpPr>
          <p:cNvPr id="360" name="Google Shape;360;p26"/>
          <p:cNvSpPr txBox="1"/>
          <p:nvPr/>
        </p:nvSpPr>
        <p:spPr>
          <a:xfrm>
            <a:off x="15622531" y="8595387"/>
            <a:ext cx="702165" cy="662913"/>
          </a:xfrm>
          <a:prstGeom prst="rect">
            <a:avLst/>
          </a:prstGeom>
          <a:noFill/>
          <a:ln>
            <a:noFill/>
          </a:ln>
        </p:spPr>
        <p:txBody>
          <a:bodyPr anchorCtr="0" anchor="t" bIns="0" lIns="0" spcFirstLastPara="1" rIns="0" wrap="square" tIns="0">
            <a:spAutoFit/>
          </a:bodyPr>
          <a:lstStyle/>
          <a:p>
            <a:pPr indent="0" lvl="0" marL="0" marR="0" rtl="0" algn="r">
              <a:lnSpc>
                <a:spcPct val="114000"/>
              </a:lnSpc>
              <a:spcBef>
                <a:spcPts val="0"/>
              </a:spcBef>
              <a:spcAft>
                <a:spcPts val="0"/>
              </a:spcAft>
              <a:buNone/>
            </a:pPr>
            <a:r>
              <a:rPr b="0" i="0" lang="en-US" sz="4500" u="none" cap="none" strike="noStrike">
                <a:solidFill>
                  <a:srgbClr val="FFFFFF"/>
                </a:solidFill>
                <a:latin typeface="Courier Prime"/>
                <a:ea typeface="Courier Prime"/>
                <a:cs typeface="Courier Prime"/>
                <a:sym typeface="Courier Prime"/>
              </a:rPr>
              <a:t>}</a:t>
            </a:r>
            <a:endParaRPr/>
          </a:p>
        </p:txBody>
      </p:sp>
      <p:sp>
        <p:nvSpPr>
          <p:cNvPr id="361" name="Google Shape;361;p26"/>
          <p:cNvSpPr txBox="1"/>
          <p:nvPr/>
        </p:nvSpPr>
        <p:spPr>
          <a:xfrm>
            <a:off x="1703740" y="8240409"/>
            <a:ext cx="14636262" cy="348234"/>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2400" u="none" cap="none" strike="noStrike">
                <a:solidFill>
                  <a:srgbClr val="FF914D"/>
                </a:solidFill>
                <a:latin typeface="Courier Prime"/>
                <a:ea typeface="Courier Prime"/>
                <a:cs typeface="Courier Prime"/>
                <a:sym typeface="Courier Prime"/>
              </a:rPr>
              <a:t>HTTPS://BYJUS.COM/GATE/CONTROL-UNIT-NOTES/</a:t>
            </a:r>
            <a:endParaRPr/>
          </a:p>
        </p:txBody>
      </p:sp>
      <p:sp>
        <p:nvSpPr>
          <p:cNvPr id="362" name="Google Shape;362;p26"/>
          <p:cNvSpPr txBox="1"/>
          <p:nvPr/>
        </p:nvSpPr>
        <p:spPr>
          <a:xfrm>
            <a:off x="710323" y="2630060"/>
            <a:ext cx="636753" cy="662913"/>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0" i="0" lang="en-US" sz="4500" u="none" cap="none" strike="noStrike">
                <a:solidFill>
                  <a:srgbClr val="FFFFFF"/>
                </a:solidFill>
                <a:latin typeface="Courier Prime"/>
                <a:ea typeface="Courier Prime"/>
                <a:cs typeface="Courier Prime"/>
                <a:sym typeface="Courier Prime"/>
              </a:rPr>
              <a: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366" name="Shape 366"/>
        <p:cNvGrpSpPr/>
        <p:nvPr/>
      </p:nvGrpSpPr>
      <p:grpSpPr>
        <a:xfrm>
          <a:off x="0" y="0"/>
          <a:ext cx="0" cy="0"/>
          <a:chOff x="0" y="0"/>
          <a:chExt cx="0" cy="0"/>
        </a:xfrm>
      </p:grpSpPr>
      <p:sp>
        <p:nvSpPr>
          <p:cNvPr id="367" name="Google Shape;367;p27"/>
          <p:cNvSpPr/>
          <p:nvPr/>
        </p:nvSpPr>
        <p:spPr>
          <a:xfrm>
            <a:off x="688805" y="1435888"/>
            <a:ext cx="4329820" cy="4290812"/>
          </a:xfrm>
          <a:custGeom>
            <a:rect b="b" l="l" r="r" t="t"/>
            <a:pathLst>
              <a:path extrusionOk="0" h="4290812" w="4329820">
                <a:moveTo>
                  <a:pt x="0" y="0"/>
                </a:moveTo>
                <a:lnTo>
                  <a:pt x="4329819" y="0"/>
                </a:lnTo>
                <a:lnTo>
                  <a:pt x="4329819" y="4290812"/>
                </a:lnTo>
                <a:lnTo>
                  <a:pt x="0" y="4290812"/>
                </a:lnTo>
                <a:lnTo>
                  <a:pt x="0" y="0"/>
                </a:lnTo>
                <a:close/>
              </a:path>
            </a:pathLst>
          </a:custGeom>
          <a:blipFill rotWithShape="1">
            <a:blip r:embed="rId3">
              <a:alphaModFix/>
            </a:blip>
            <a:stretch>
              <a:fillRect b="-39662" l="-15387" r="-10459" t="-34465"/>
            </a:stretch>
          </a:blipFill>
          <a:ln>
            <a:noFill/>
          </a:ln>
        </p:spPr>
      </p:sp>
      <p:sp>
        <p:nvSpPr>
          <p:cNvPr id="368" name="Google Shape;368;p27"/>
          <p:cNvSpPr txBox="1"/>
          <p:nvPr/>
        </p:nvSpPr>
        <p:spPr>
          <a:xfrm>
            <a:off x="5719135" y="4250109"/>
            <a:ext cx="9185169" cy="893391"/>
          </a:xfrm>
          <a:prstGeom prst="rect">
            <a:avLst/>
          </a:prstGeom>
          <a:noFill/>
          <a:ln>
            <a:noFill/>
          </a:ln>
        </p:spPr>
        <p:txBody>
          <a:bodyPr anchorCtr="0" anchor="t" bIns="0" lIns="0" spcFirstLastPara="1" rIns="0" wrap="square" tIns="0">
            <a:spAutoFit/>
          </a:bodyPr>
          <a:lstStyle/>
          <a:p>
            <a:pPr indent="0" lvl="0" marL="0" marR="0" rtl="0" algn="l">
              <a:lnSpc>
                <a:spcPct val="113983"/>
              </a:lnSpc>
              <a:spcBef>
                <a:spcPts val="0"/>
              </a:spcBef>
              <a:spcAft>
                <a:spcPts val="0"/>
              </a:spcAft>
              <a:buNone/>
            </a:pPr>
            <a:r>
              <a:rPr b="0" i="0" lang="en-US" sz="6000" u="none" cap="none" strike="noStrike">
                <a:solidFill>
                  <a:srgbClr val="FFFFFF"/>
                </a:solidFill>
                <a:latin typeface="Courier Prime"/>
                <a:ea typeface="Courier Prime"/>
                <a:cs typeface="Courier Prime"/>
                <a:sym typeface="Courier Prime"/>
              </a:rPr>
              <a:t>Ejemplo práctico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372" name="Shape 372"/>
        <p:cNvGrpSpPr/>
        <p:nvPr/>
      </p:nvGrpSpPr>
      <p:grpSpPr>
        <a:xfrm>
          <a:off x="0" y="0"/>
          <a:ext cx="0" cy="0"/>
          <a:chOff x="0" y="0"/>
          <a:chExt cx="0" cy="0"/>
        </a:xfrm>
      </p:grpSpPr>
      <p:sp>
        <p:nvSpPr>
          <p:cNvPr id="373" name="Google Shape;373;p28"/>
          <p:cNvSpPr/>
          <p:nvPr/>
        </p:nvSpPr>
        <p:spPr>
          <a:xfrm>
            <a:off x="4324849" y="3512297"/>
            <a:ext cx="9230527" cy="5746003"/>
          </a:xfrm>
          <a:custGeom>
            <a:rect b="b" l="l" r="r" t="t"/>
            <a:pathLst>
              <a:path extrusionOk="0" h="5746003" w="9230527">
                <a:moveTo>
                  <a:pt x="0" y="0"/>
                </a:moveTo>
                <a:lnTo>
                  <a:pt x="9230527" y="0"/>
                </a:lnTo>
                <a:lnTo>
                  <a:pt x="9230527" y="5746003"/>
                </a:lnTo>
                <a:lnTo>
                  <a:pt x="0" y="5746003"/>
                </a:lnTo>
                <a:lnTo>
                  <a:pt x="0" y="0"/>
                </a:lnTo>
                <a:close/>
              </a:path>
            </a:pathLst>
          </a:custGeom>
          <a:blipFill rotWithShape="1">
            <a:blip r:embed="rId3">
              <a:alphaModFix/>
            </a:blip>
            <a:stretch>
              <a:fillRect b="0" l="0" r="0" t="0"/>
            </a:stretch>
          </a:blipFill>
          <a:ln>
            <a:noFill/>
          </a:ln>
        </p:spPr>
      </p:sp>
      <p:sp>
        <p:nvSpPr>
          <p:cNvPr id="374" name="Google Shape;374;p28"/>
          <p:cNvSpPr txBox="1"/>
          <p:nvPr/>
        </p:nvSpPr>
        <p:spPr>
          <a:xfrm>
            <a:off x="5552318" y="1303208"/>
            <a:ext cx="7183365" cy="1819911"/>
          </a:xfrm>
          <a:prstGeom prst="rect">
            <a:avLst/>
          </a:prstGeom>
          <a:noFill/>
          <a:ln>
            <a:noFill/>
          </a:ln>
        </p:spPr>
        <p:txBody>
          <a:bodyPr anchorCtr="0" anchor="t" bIns="0" lIns="0" spcFirstLastPara="1" rIns="0" wrap="square" tIns="0">
            <a:spAutoFit/>
          </a:bodyPr>
          <a:lstStyle/>
          <a:p>
            <a:pPr indent="0" lvl="0" marL="0" marR="0" rtl="0" algn="l">
              <a:lnSpc>
                <a:spcPct val="113997"/>
              </a:lnSpc>
              <a:spcBef>
                <a:spcPts val="0"/>
              </a:spcBef>
              <a:spcAft>
                <a:spcPts val="0"/>
              </a:spcAft>
              <a:buNone/>
            </a:pPr>
            <a:r>
              <a:rPr b="0" i="0" lang="en-US" sz="12424" u="none" cap="none" strike="noStrike">
                <a:solidFill>
                  <a:srgbClr val="FFFFFF"/>
                </a:solidFill>
                <a:latin typeface="Courier Prime"/>
                <a:ea typeface="Courier Prime"/>
                <a:cs typeface="Courier Prime"/>
                <a:sym typeface="Courier Prime"/>
              </a:rPr>
              <a:t>¿Dudas?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232A"/>
        </a:solidFill>
      </p:bgPr>
    </p:bg>
    <p:spTree>
      <p:nvGrpSpPr>
        <p:cNvPr id="378" name="Shape 378"/>
        <p:cNvGrpSpPr/>
        <p:nvPr/>
      </p:nvGrpSpPr>
      <p:grpSpPr>
        <a:xfrm>
          <a:off x="0" y="0"/>
          <a:ext cx="0" cy="0"/>
          <a:chOff x="0" y="0"/>
          <a:chExt cx="0" cy="0"/>
        </a:xfrm>
      </p:grpSpPr>
      <p:cxnSp>
        <p:nvCxnSpPr>
          <p:cNvPr id="379" name="Google Shape;379;p29"/>
          <p:cNvCxnSpPr/>
          <p:nvPr/>
        </p:nvCxnSpPr>
        <p:spPr>
          <a:xfrm>
            <a:off x="641352" y="-299385"/>
            <a:ext cx="0" cy="8741551"/>
          </a:xfrm>
          <a:prstGeom prst="straightConnector1">
            <a:avLst/>
          </a:prstGeom>
          <a:noFill/>
          <a:ln cap="flat" cmpd="sng" w="95250">
            <a:solidFill>
              <a:srgbClr val="2D2D35"/>
            </a:solidFill>
            <a:prstDash val="solid"/>
            <a:round/>
            <a:headEnd len="sm" w="sm" type="none"/>
            <a:tailEnd len="sm" w="sm" type="none"/>
          </a:ln>
        </p:spPr>
      </p:cxnSp>
      <p:sp>
        <p:nvSpPr>
          <p:cNvPr id="380" name="Google Shape;380;p29"/>
          <p:cNvSpPr/>
          <p:nvPr/>
        </p:nvSpPr>
        <p:spPr>
          <a:xfrm>
            <a:off x="7439897" y="846772"/>
            <a:ext cx="3408206" cy="4667432"/>
          </a:xfrm>
          <a:custGeom>
            <a:rect b="b" l="l" r="r" t="t"/>
            <a:pathLst>
              <a:path extrusionOk="0" h="4667432" w="3408206">
                <a:moveTo>
                  <a:pt x="0" y="0"/>
                </a:moveTo>
                <a:lnTo>
                  <a:pt x="3408206" y="0"/>
                </a:lnTo>
                <a:lnTo>
                  <a:pt x="3408206" y="4667432"/>
                </a:lnTo>
                <a:lnTo>
                  <a:pt x="0" y="4667432"/>
                </a:lnTo>
                <a:lnTo>
                  <a:pt x="0" y="0"/>
                </a:lnTo>
                <a:close/>
              </a:path>
            </a:pathLst>
          </a:custGeom>
          <a:blipFill rotWithShape="1">
            <a:blip r:embed="rId3">
              <a:alphaModFix/>
            </a:blip>
            <a:stretch>
              <a:fillRect b="0" l="0" r="0" t="0"/>
            </a:stretch>
          </a:blipFill>
          <a:ln>
            <a:noFill/>
          </a:ln>
        </p:spPr>
      </p:sp>
      <p:sp>
        <p:nvSpPr>
          <p:cNvPr id="381" name="Google Shape;381;p29"/>
          <p:cNvSpPr txBox="1"/>
          <p:nvPr/>
        </p:nvSpPr>
        <p:spPr>
          <a:xfrm>
            <a:off x="1975888" y="6260353"/>
            <a:ext cx="15506088" cy="1175331"/>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None/>
            </a:pPr>
            <a:r>
              <a:rPr b="0" i="0" lang="en-US" sz="8000" u="none" cap="none" strike="noStrike">
                <a:solidFill>
                  <a:srgbClr val="FFFFFF"/>
                </a:solidFill>
                <a:latin typeface="Courier Prime"/>
                <a:ea typeface="Courier Prime"/>
                <a:cs typeface="Courier Prime"/>
                <a:sym typeface="Courier Prime"/>
              </a:rPr>
              <a:t>¡GRACIAS POR SU ATENCIÓN!</a:t>
            </a:r>
            <a:endParaRPr/>
          </a:p>
        </p:txBody>
      </p:sp>
      <p:sp>
        <p:nvSpPr>
          <p:cNvPr id="382" name="Google Shape;382;p29"/>
          <p:cNvSpPr txBox="1"/>
          <p:nvPr/>
        </p:nvSpPr>
        <p:spPr>
          <a:xfrm>
            <a:off x="1628996" y="8385015"/>
            <a:ext cx="15630304" cy="959091"/>
          </a:xfrm>
          <a:prstGeom prst="rect">
            <a:avLst/>
          </a:prstGeom>
          <a:noFill/>
          <a:ln>
            <a:noFill/>
          </a:ln>
        </p:spPr>
        <p:txBody>
          <a:bodyPr anchorCtr="0" anchor="t" bIns="0" lIns="0" spcFirstLastPara="1" rIns="0" wrap="square" tIns="0">
            <a:spAutoFit/>
          </a:bodyPr>
          <a:lstStyle/>
          <a:p>
            <a:pPr indent="0" lvl="0" marL="0" marR="0" rtl="0" algn="ctr">
              <a:lnSpc>
                <a:spcPct val="139985"/>
              </a:lnSpc>
              <a:spcBef>
                <a:spcPts val="0"/>
              </a:spcBef>
              <a:spcAft>
                <a:spcPts val="0"/>
              </a:spcAft>
              <a:buNone/>
            </a:pPr>
            <a:r>
              <a:rPr b="0" i="0" lang="en-US" sz="2736" u="none" cap="none" strike="noStrike">
                <a:solidFill>
                  <a:srgbClr val="8F8F8F"/>
                </a:solidFill>
                <a:latin typeface="Courier Prime"/>
                <a:ea typeface="Courier Prime"/>
                <a:cs typeface="Courier Prime"/>
                <a:sym typeface="Courier Prime"/>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