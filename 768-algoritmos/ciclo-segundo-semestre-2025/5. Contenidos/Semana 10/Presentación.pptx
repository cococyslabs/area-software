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Canva Sans" charset="1" panose="020B0503030501040103"/>
      <p:regular r:id="rId44"/>
    </p:embeddedFont>
    <p:embeddedFont>
      <p:font typeface="Open Sans Bold" charset="1" panose="00000000000000000000"/>
      <p:regular r:id="rId45"/>
    </p:embeddedFont>
    <p:embeddedFont>
      <p:font typeface="Open Sans" charset="1" panose="00000000000000000000"/>
      <p:regular r:id="rId46"/>
    </p:embeddedFont>
    <p:embeddedFont>
      <p:font typeface="Calibri (MS) Bold" charset="1" panose="020F0702030404030204"/>
      <p:regular r:id="rId47"/>
    </p:embeddedFont>
    <p:embeddedFont>
      <p:font typeface="Canva Sans Bold" charset="1" panose="020B0803030501040103"/>
      <p:regular r:id="rId51"/>
    </p:embeddedFont>
    <p:embeddedFont>
      <p:font typeface="Calibri (MS)" charset="1" panose="020F0502020204030204"/>
      <p:regular r:id="rId53"/>
    </p:embeddedFont>
    <p:embeddedFont>
      <p:font typeface="Calibri (MS) Italics" charset="1" panose="020F05020202040A0204"/>
      <p:regular r:id="rId55"/>
    </p:embeddedFont>
    <p:embeddedFont>
      <p:font typeface="Consolas" charset="1" panose="020B0609020204030204"/>
      <p:regular r:id="rId60"/>
    </p:embeddedFont>
    <p:embeddedFont>
      <p:font typeface="Calibri (MS) Bold Italics" charset="1" panose="020F07020304040A0204"/>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notesSlides/notesSlide2.xml" Type="http://schemas.openxmlformats.org/officeDocument/2006/relationships/notesSlide"/><Relationship Id="rId53" Target="fonts/font53.fntdata" Type="http://schemas.openxmlformats.org/officeDocument/2006/relationships/font"/><Relationship Id="rId54" Target="notesSlides/notesSlide3.xml" Type="http://schemas.openxmlformats.org/officeDocument/2006/relationships/notesSlide"/><Relationship Id="rId55" Target="fonts/font55.fntdata" Type="http://schemas.openxmlformats.org/officeDocument/2006/relationships/font"/><Relationship Id="rId56" Target="notesSlides/notesSlide4.xml" Type="http://schemas.openxmlformats.org/officeDocument/2006/relationships/notesSlide"/><Relationship Id="rId57" Target="notesSlides/notesSlide5.xml" Type="http://schemas.openxmlformats.org/officeDocument/2006/relationships/notesSlide"/><Relationship Id="rId58" Target="notesSlides/notesSlide6.xml" Type="http://schemas.openxmlformats.org/officeDocument/2006/relationships/notesSlide"/><Relationship Id="rId59" Target="notesSlides/notesSlide7.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notesSlides/notesSlide8.xml" Type="http://schemas.openxmlformats.org/officeDocument/2006/relationships/notesSlide"/><Relationship Id="rId62" Target="notesSlides/notesSlide9.xml" Type="http://schemas.openxmlformats.org/officeDocument/2006/relationships/notesSlide"/><Relationship Id="rId63" Target="notesSlides/notesSlide10.xml" Type="http://schemas.openxmlformats.org/officeDocument/2006/relationships/notesSlide"/><Relationship Id="rId64" Target="notesSlides/notesSlide11.xml" Type="http://schemas.openxmlformats.org/officeDocument/2006/relationships/notesSlide"/><Relationship Id="rId65" Target="notesSlides/notesSlide12.xml" Type="http://schemas.openxmlformats.org/officeDocument/2006/relationships/notesSlide"/><Relationship Id="rId66" Target="notesSlides/notesSlide13.xml" Type="http://schemas.openxmlformats.org/officeDocument/2006/relationships/notesSlide"/><Relationship Id="rId67" Target="notesSlides/notesSlide14.xml" Type="http://schemas.openxmlformats.org/officeDocument/2006/relationships/notesSlide"/><Relationship Id="rId68" Target="notesSlides/notesSlide15.xml" Type="http://schemas.openxmlformats.org/officeDocument/2006/relationships/notesSlide"/><Relationship Id="rId69" Target="fonts/font69.fntdata" Type="http://schemas.openxmlformats.org/officeDocument/2006/relationships/font"/><Relationship Id="rId7" Target="slides/slide2.xml" Type="http://schemas.openxmlformats.org/officeDocument/2006/relationships/slide"/><Relationship Id="rId70" Target="notesSlides/notesSlide16.xml" Type="http://schemas.openxmlformats.org/officeDocument/2006/relationships/notesSlide"/><Relationship Id="rId71" Target="notesSlides/notesSlide17.xml" Type="http://schemas.openxmlformats.org/officeDocument/2006/relationships/notesSlide"/><Relationship Id="rId72" Target="notesSlides/notesSlide18.xml" Type="http://schemas.openxmlformats.org/officeDocument/2006/relationships/notesSlide"/><Relationship Id="rId73" Target="notesSlides/notesSlide19.xml" Type="http://schemas.openxmlformats.org/officeDocument/2006/relationships/notesSlide"/><Relationship Id="rId74" Target="notesSlides/notesSlide20.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https://pseint.sourceforge.net"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7.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7.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7.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7.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7.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7.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7.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7.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3866491" y="2085273"/>
            <a:ext cx="4021187" cy="537845"/>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Canva Sans"/>
                <a:ea typeface="Canva Sans"/>
                <a:cs typeface="Canva Sans"/>
                <a:sym typeface="Canva Sans"/>
              </a:rPr>
              <a:t>Sábado - xx/0x/2026</a:t>
            </a:r>
          </a:p>
        </p:txBody>
      </p:sp>
      <p:sp>
        <p:nvSpPr>
          <p:cNvPr name="TextBox 4" id="4"/>
          <p:cNvSpPr txBox="true"/>
          <p:nvPr/>
        </p:nvSpPr>
        <p:spPr>
          <a:xfrm rot="0">
            <a:off x="14645308" y="2827978"/>
            <a:ext cx="2463552"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10:30 horas</a:t>
            </a:r>
          </a:p>
        </p:txBody>
      </p:sp>
      <p:sp>
        <p:nvSpPr>
          <p:cNvPr name="TextBox 5" id="5"/>
          <p:cNvSpPr txBox="true"/>
          <p:nvPr/>
        </p:nvSpPr>
        <p:spPr>
          <a:xfrm rot="0">
            <a:off x="1346597" y="5057775"/>
            <a:ext cx="15594806" cy="811531"/>
          </a:xfrm>
          <a:prstGeom prst="rect">
            <a:avLst/>
          </a:prstGeom>
        </p:spPr>
        <p:txBody>
          <a:bodyPr anchor="t" rtlCol="false" tIns="0" lIns="0" bIns="0" rIns="0">
            <a:spAutoFit/>
          </a:bodyPr>
          <a:lstStyle/>
          <a:p>
            <a:pPr algn="ctr">
              <a:lnSpc>
                <a:spcPts val="6719"/>
              </a:lnSpc>
              <a:spcBef>
                <a:spcPct val="0"/>
              </a:spcBef>
            </a:pPr>
            <a:r>
              <a:rPr lang="en-US" b="true" sz="4799">
                <a:solidFill>
                  <a:srgbClr val="393E46"/>
                </a:solidFill>
                <a:latin typeface="Open Sans Bold"/>
                <a:ea typeface="Open Sans Bold"/>
                <a:cs typeface="Open Sans Bold"/>
                <a:sym typeface="Open Sans Bold"/>
              </a:rPr>
              <a:t>Introducción a los Algoritmos y Flujo de Datos Sec x</a:t>
            </a:r>
          </a:p>
        </p:txBody>
      </p:sp>
      <p:sp>
        <p:nvSpPr>
          <p:cNvPr name="TextBox 6" id="6"/>
          <p:cNvSpPr txBox="true"/>
          <p:nvPr/>
        </p:nvSpPr>
        <p:spPr>
          <a:xfrm rot="0">
            <a:off x="7075512" y="5939495"/>
            <a:ext cx="4136975" cy="679450"/>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Open Sans"/>
                <a:ea typeface="Open Sans"/>
                <a:cs typeface="Open Sans"/>
                <a:sym typeface="Open Sans"/>
              </a:rPr>
              <a:t>Nombre del tutor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575853" y="488854"/>
            <a:ext cx="3106051" cy="1576032"/>
          </a:xfrm>
          <a:custGeom>
            <a:avLst/>
            <a:gdLst/>
            <a:ahLst/>
            <a:cxnLst/>
            <a:rect r="r" b="b" t="t" l="l"/>
            <a:pathLst>
              <a:path h="1576032" w="3106051">
                <a:moveTo>
                  <a:pt x="0" y="0"/>
                </a:moveTo>
                <a:lnTo>
                  <a:pt x="3106051" y="0"/>
                </a:lnTo>
                <a:lnTo>
                  <a:pt x="3106051" y="1576031"/>
                </a:lnTo>
                <a:lnTo>
                  <a:pt x="0" y="1576031"/>
                </a:lnTo>
                <a:lnTo>
                  <a:pt x="0" y="0"/>
                </a:lnTo>
                <a:close/>
              </a:path>
            </a:pathLst>
          </a:custGeom>
          <a:blipFill>
            <a:blip r:embed="rId2"/>
            <a:stretch>
              <a:fillRect l="-255677" t="0" r="0" b="0"/>
            </a:stretch>
          </a:blipFill>
        </p:spPr>
      </p:sp>
      <p:sp>
        <p:nvSpPr>
          <p:cNvPr name="TextBox 3" id="3"/>
          <p:cNvSpPr txBox="true"/>
          <p:nvPr/>
        </p:nvSpPr>
        <p:spPr>
          <a:xfrm rot="0">
            <a:off x="7511355" y="3846148"/>
            <a:ext cx="3265289" cy="1094740"/>
          </a:xfrm>
          <a:prstGeom prst="rect">
            <a:avLst/>
          </a:prstGeom>
        </p:spPr>
        <p:txBody>
          <a:bodyPr anchor="t" rtlCol="false" tIns="0" lIns="0" bIns="0" rIns="0">
            <a:spAutoFit/>
          </a:bodyPr>
          <a:lstStyle/>
          <a:p>
            <a:pPr algn="ctr">
              <a:lnSpc>
                <a:spcPts val="8959"/>
              </a:lnSpc>
              <a:spcBef>
                <a:spcPct val="0"/>
              </a:spcBef>
            </a:pPr>
            <a:r>
              <a:rPr lang="en-US" sz="6399">
                <a:solidFill>
                  <a:srgbClr val="000000"/>
                </a:solidFill>
                <a:latin typeface="Canva Sans"/>
                <a:ea typeface="Canva Sans"/>
                <a:cs typeface="Canva Sans"/>
                <a:sym typeface="Canva Sans"/>
              </a:rPr>
              <a:t>Arreglos</a:t>
            </a:r>
          </a:p>
        </p:txBody>
      </p:sp>
      <p:sp>
        <p:nvSpPr>
          <p:cNvPr name="TextBox 4" id="4"/>
          <p:cNvSpPr txBox="true"/>
          <p:nvPr/>
        </p:nvSpPr>
        <p:spPr>
          <a:xfrm rot="0">
            <a:off x="1028700" y="6960333"/>
            <a:ext cx="9764464" cy="5803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Introducción a los Algoritmos y Flujos de Datos</a:t>
            </a:r>
          </a:p>
        </p:txBody>
      </p:sp>
      <p:sp>
        <p:nvSpPr>
          <p:cNvPr name="TextBox 5" id="5"/>
          <p:cNvSpPr txBox="true"/>
          <p:nvPr/>
        </p:nvSpPr>
        <p:spPr>
          <a:xfrm rot="0">
            <a:off x="1028700" y="7929441"/>
            <a:ext cx="5401121" cy="349249"/>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Canva Sans"/>
                <a:ea typeface="Canva Sans"/>
                <a:cs typeface="Canva Sans"/>
                <a:sym typeface="Canva Sans"/>
              </a:rPr>
              <a:t>Escuela de Ingeniería de Ciencias y Sistemas</a:t>
            </a:r>
          </a:p>
        </p:txBody>
      </p:sp>
      <p:sp>
        <p:nvSpPr>
          <p:cNvPr name="TextBox 6" id="6"/>
          <p:cNvSpPr txBox="true"/>
          <p:nvPr/>
        </p:nvSpPr>
        <p:spPr>
          <a:xfrm rot="0">
            <a:off x="1028700" y="8421565"/>
            <a:ext cx="2755850" cy="349249"/>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Canva Sans"/>
                <a:ea typeface="Canva Sans"/>
                <a:cs typeface="Canva Sans"/>
                <a:sym typeface="Canva Sans"/>
              </a:rPr>
              <a:t>Facultad de Ingeniería </a:t>
            </a:r>
          </a:p>
        </p:txBody>
      </p:sp>
      <p:sp>
        <p:nvSpPr>
          <p:cNvPr name="TextBox 7" id="7"/>
          <p:cNvSpPr txBox="true"/>
          <p:nvPr/>
        </p:nvSpPr>
        <p:spPr>
          <a:xfrm rot="0">
            <a:off x="1028700" y="8909051"/>
            <a:ext cx="4956721" cy="349249"/>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Canva Sans"/>
                <a:ea typeface="Canva Sans"/>
                <a:cs typeface="Canva Sans"/>
                <a:sym typeface="Canva Sans"/>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1740055" y="2938358"/>
            <a:ext cx="1143682" cy="1158425"/>
          </a:xfrm>
          <a:custGeom>
            <a:avLst/>
            <a:gdLst/>
            <a:ahLst/>
            <a:cxnLst/>
            <a:rect r="r" b="b" t="t" l="l"/>
            <a:pathLst>
              <a:path h="1158425" w="1143682">
                <a:moveTo>
                  <a:pt x="0" y="0"/>
                </a:moveTo>
                <a:lnTo>
                  <a:pt x="1143682" y="0"/>
                </a:lnTo>
                <a:lnTo>
                  <a:pt x="1143682" y="1158425"/>
                </a:lnTo>
                <a:lnTo>
                  <a:pt x="0" y="11584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143500"/>
            <a:ext cx="785011" cy="854434"/>
          </a:xfrm>
          <a:custGeom>
            <a:avLst/>
            <a:gdLst/>
            <a:ahLst/>
            <a:cxnLst/>
            <a:rect r="r" b="b" t="t" l="l"/>
            <a:pathLst>
              <a:path h="854434" w="785011">
                <a:moveTo>
                  <a:pt x="0" y="0"/>
                </a:moveTo>
                <a:lnTo>
                  <a:pt x="785011" y="0"/>
                </a:lnTo>
                <a:lnTo>
                  <a:pt x="785011" y="854434"/>
                </a:lnTo>
                <a:lnTo>
                  <a:pt x="0" y="854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003935"/>
            <a:ext cx="2566392" cy="962660"/>
          </a:xfrm>
          <a:prstGeom prst="rect">
            <a:avLst/>
          </a:prstGeom>
        </p:spPr>
        <p:txBody>
          <a:bodyPr anchor="t" rtlCol="false" tIns="0" lIns="0" bIns="0" rIns="0">
            <a:spAutoFit/>
          </a:bodyPr>
          <a:lstStyle/>
          <a:p>
            <a:pPr algn="l">
              <a:lnSpc>
                <a:spcPts val="7840"/>
              </a:lnSpc>
              <a:spcBef>
                <a:spcPct val="0"/>
              </a:spcBef>
            </a:pPr>
            <a:r>
              <a:rPr lang="en-US" sz="5600">
                <a:solidFill>
                  <a:srgbClr val="000000"/>
                </a:solidFill>
                <a:latin typeface="Canva Sans"/>
                <a:ea typeface="Canva Sans"/>
                <a:cs typeface="Canva Sans"/>
                <a:sym typeface="Canva Sans"/>
              </a:rPr>
              <a:t>Agenda</a:t>
            </a:r>
          </a:p>
        </p:txBody>
      </p:sp>
      <p:sp>
        <p:nvSpPr>
          <p:cNvPr name="TextBox 5" id="5"/>
          <p:cNvSpPr txBox="true"/>
          <p:nvPr/>
        </p:nvSpPr>
        <p:spPr>
          <a:xfrm rot="0">
            <a:off x="14117241" y="1003935"/>
            <a:ext cx="3142059" cy="962660"/>
          </a:xfrm>
          <a:prstGeom prst="rect">
            <a:avLst/>
          </a:prstGeom>
        </p:spPr>
        <p:txBody>
          <a:bodyPr anchor="t" rtlCol="false" tIns="0" lIns="0" bIns="0" rIns="0">
            <a:spAutoFit/>
          </a:bodyPr>
          <a:lstStyle/>
          <a:p>
            <a:pPr algn="r">
              <a:lnSpc>
                <a:spcPts val="7840"/>
              </a:lnSpc>
              <a:spcBef>
                <a:spcPct val="0"/>
              </a:spcBef>
            </a:pPr>
            <a:r>
              <a:rPr lang="en-US" sz="5600">
                <a:solidFill>
                  <a:srgbClr val="000000"/>
                </a:solidFill>
                <a:latin typeface="Canva Sans"/>
                <a:ea typeface="Canva Sans"/>
                <a:cs typeface="Canva Sans"/>
                <a:sym typeface="Canva Sans"/>
              </a:rPr>
              <a:t>Recursos</a:t>
            </a:r>
          </a:p>
        </p:txBody>
      </p:sp>
      <p:sp>
        <p:nvSpPr>
          <p:cNvPr name="Freeform 6" id="6"/>
          <p:cNvSpPr/>
          <p:nvPr/>
        </p:nvSpPr>
        <p:spPr>
          <a:xfrm flipH="false" flipV="false" rot="0">
            <a:off x="1028700" y="6285618"/>
            <a:ext cx="785011" cy="854434"/>
          </a:xfrm>
          <a:custGeom>
            <a:avLst/>
            <a:gdLst/>
            <a:ahLst/>
            <a:cxnLst/>
            <a:rect r="r" b="b" t="t" l="l"/>
            <a:pathLst>
              <a:path h="854434" w="785011">
                <a:moveTo>
                  <a:pt x="0" y="0"/>
                </a:moveTo>
                <a:lnTo>
                  <a:pt x="785011" y="0"/>
                </a:lnTo>
                <a:lnTo>
                  <a:pt x="785011" y="854435"/>
                </a:lnTo>
                <a:lnTo>
                  <a:pt x="0" y="8544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7425803"/>
            <a:ext cx="785011" cy="854434"/>
          </a:xfrm>
          <a:custGeom>
            <a:avLst/>
            <a:gdLst/>
            <a:ahLst/>
            <a:cxnLst/>
            <a:rect r="r" b="b" t="t" l="l"/>
            <a:pathLst>
              <a:path h="854434" w="785011">
                <a:moveTo>
                  <a:pt x="0" y="0"/>
                </a:moveTo>
                <a:lnTo>
                  <a:pt x="785011" y="0"/>
                </a:lnTo>
                <a:lnTo>
                  <a:pt x="785011" y="854434"/>
                </a:lnTo>
                <a:lnTo>
                  <a:pt x="0" y="854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8565987"/>
            <a:ext cx="785011" cy="854434"/>
          </a:xfrm>
          <a:custGeom>
            <a:avLst/>
            <a:gdLst/>
            <a:ahLst/>
            <a:cxnLst/>
            <a:rect r="r" b="b" t="t" l="l"/>
            <a:pathLst>
              <a:path h="854434" w="785011">
                <a:moveTo>
                  <a:pt x="0" y="0"/>
                </a:moveTo>
                <a:lnTo>
                  <a:pt x="785011" y="0"/>
                </a:lnTo>
                <a:lnTo>
                  <a:pt x="785011" y="854434"/>
                </a:lnTo>
                <a:lnTo>
                  <a:pt x="0" y="854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2311896" y="5247185"/>
            <a:ext cx="5520095" cy="5803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Arreglos de una dimensión</a:t>
            </a:r>
          </a:p>
        </p:txBody>
      </p:sp>
      <p:sp>
        <p:nvSpPr>
          <p:cNvPr name="TextBox 10" id="10"/>
          <p:cNvSpPr txBox="true"/>
          <p:nvPr/>
        </p:nvSpPr>
        <p:spPr>
          <a:xfrm rot="0">
            <a:off x="2311896" y="6389303"/>
            <a:ext cx="5970151" cy="5803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Arreglos de dos dimensiones</a:t>
            </a:r>
          </a:p>
        </p:txBody>
      </p:sp>
      <p:sp>
        <p:nvSpPr>
          <p:cNvPr name="TextBox 11" id="11"/>
          <p:cNvSpPr txBox="true"/>
          <p:nvPr/>
        </p:nvSpPr>
        <p:spPr>
          <a:xfrm rot="0">
            <a:off x="2311896" y="7529487"/>
            <a:ext cx="4339709" cy="5803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Introducción a ciclos</a:t>
            </a:r>
          </a:p>
        </p:txBody>
      </p:sp>
      <p:sp>
        <p:nvSpPr>
          <p:cNvPr name="TextBox 12" id="12"/>
          <p:cNvSpPr txBox="true"/>
          <p:nvPr/>
        </p:nvSpPr>
        <p:spPr>
          <a:xfrm rot="0">
            <a:off x="2311896" y="8669671"/>
            <a:ext cx="2743200" cy="5803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Uso practico </a:t>
            </a:r>
          </a:p>
        </p:txBody>
      </p:sp>
      <p:sp>
        <p:nvSpPr>
          <p:cNvPr name="TextBox 13" id="13"/>
          <p:cNvSpPr txBox="true"/>
          <p:nvPr/>
        </p:nvSpPr>
        <p:spPr>
          <a:xfrm rot="0">
            <a:off x="15004435" y="4264813"/>
            <a:ext cx="1367671" cy="580390"/>
          </a:xfrm>
          <a:prstGeom prst="rect">
            <a:avLst/>
          </a:prstGeom>
        </p:spPr>
        <p:txBody>
          <a:bodyPr anchor="t" rtlCol="false" tIns="0" lIns="0" bIns="0" rIns="0">
            <a:spAutoFit/>
          </a:bodyPr>
          <a:lstStyle/>
          <a:p>
            <a:pPr algn="r">
              <a:lnSpc>
                <a:spcPts val="4759"/>
              </a:lnSpc>
              <a:spcBef>
                <a:spcPct val="0"/>
              </a:spcBef>
            </a:pPr>
            <a:r>
              <a:rPr lang="en-US" sz="3399" u="sng">
                <a:solidFill>
                  <a:srgbClr val="000000"/>
                </a:solidFill>
                <a:latin typeface="Canva Sans"/>
                <a:ea typeface="Canva Sans"/>
                <a:cs typeface="Canva Sans"/>
                <a:sym typeface="Canva Sans"/>
                <a:hlinkClick r:id="rId6" tooltip="https://pseint.sourceforge.net"/>
              </a:rPr>
              <a:t>PSeInt</a:t>
            </a:r>
          </a:p>
        </p:txBody>
      </p:sp>
      <p:sp>
        <p:nvSpPr>
          <p:cNvPr name="TextBox 14" id="14"/>
          <p:cNvSpPr txBox="true"/>
          <p:nvPr/>
        </p:nvSpPr>
        <p:spPr>
          <a:xfrm rot="0">
            <a:off x="3460254" y="2636978"/>
            <a:ext cx="1765548" cy="5803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¿Dudas?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0574" y="3192618"/>
            <a:ext cx="14846852" cy="4202430"/>
          </a:xfrm>
          <a:prstGeom prst="rect">
            <a:avLst/>
          </a:prstGeom>
        </p:spPr>
        <p:txBody>
          <a:bodyPr anchor="t" rtlCol="false" tIns="0" lIns="0" bIns="0" rIns="0">
            <a:spAutoFit/>
          </a:bodyPr>
          <a:lstStyle/>
          <a:p>
            <a:pPr algn="ctr">
              <a:lnSpc>
                <a:spcPts val="6719"/>
              </a:lnSpc>
              <a:spcBef>
                <a:spcPct val="0"/>
              </a:spcBef>
            </a:pPr>
            <a:r>
              <a:rPr lang="en-US" sz="4800">
                <a:solidFill>
                  <a:srgbClr val="000000"/>
                </a:solidFill>
                <a:latin typeface="Canva Sans"/>
                <a:ea typeface="Canva Sans"/>
                <a:cs typeface="Canva Sans"/>
                <a:sym typeface="Canva Sans"/>
              </a:rPr>
              <a:t>Analiza problemas computacionales sencillos mediante técnicas de descomposición, abstracción y reconocimiento de patrones para formular su estructura y determinar posibles soluciones algorítmicas</a:t>
            </a:r>
          </a:p>
        </p:txBody>
      </p:sp>
      <p:grpSp>
        <p:nvGrpSpPr>
          <p:cNvPr name="Group 3" id="3"/>
          <p:cNvGrpSpPr/>
          <p:nvPr/>
        </p:nvGrpSpPr>
        <p:grpSpPr>
          <a:xfrm rot="0">
            <a:off x="1720574" y="1196924"/>
            <a:ext cx="13862245" cy="1450330"/>
            <a:chOff x="0" y="0"/>
            <a:chExt cx="18482994" cy="1933773"/>
          </a:xfrm>
        </p:grpSpPr>
        <p:sp>
          <p:nvSpPr>
            <p:cNvPr name="Freeform 4" id="4"/>
            <p:cNvSpPr/>
            <p:nvPr/>
          </p:nvSpPr>
          <p:spPr>
            <a:xfrm flipH="false" flipV="false" rot="0">
              <a:off x="0" y="0"/>
              <a:ext cx="18482994" cy="1933773"/>
            </a:xfrm>
            <a:custGeom>
              <a:avLst/>
              <a:gdLst/>
              <a:ahLst/>
              <a:cxnLst/>
              <a:rect r="r" b="b" t="t" l="l"/>
              <a:pathLst>
                <a:path h="1933773" w="18482994">
                  <a:moveTo>
                    <a:pt x="0" y="0"/>
                  </a:moveTo>
                  <a:lnTo>
                    <a:pt x="18482994" y="0"/>
                  </a:lnTo>
                  <a:lnTo>
                    <a:pt x="18482994" y="1933773"/>
                  </a:lnTo>
                  <a:lnTo>
                    <a:pt x="0" y="1933773"/>
                  </a:lnTo>
                  <a:close/>
                </a:path>
              </a:pathLst>
            </a:custGeom>
            <a:blipFill>
              <a:blip r:embed="rId2">
                <a:alphaModFix amt="0"/>
              </a:blip>
              <a:stretch>
                <a:fillRect l="0" t="-186451" r="-18734" b="-155803"/>
              </a:stretch>
            </a:blipFill>
          </p:spPr>
        </p:sp>
        <p:sp>
          <p:nvSpPr>
            <p:cNvPr name="TextBox 5" id="5"/>
            <p:cNvSpPr txBox="true"/>
            <p:nvPr/>
          </p:nvSpPr>
          <p:spPr>
            <a:xfrm>
              <a:off x="0" y="-142875"/>
              <a:ext cx="18482994" cy="2076648"/>
            </a:xfrm>
            <a:prstGeom prst="rect">
              <a:avLst/>
            </a:prstGeom>
          </p:spPr>
          <p:txBody>
            <a:bodyPr anchor="ctr" rtlCol="false" tIns="0" lIns="0" bIns="0" rIns="0"/>
            <a:lstStyle/>
            <a:p>
              <a:pPr algn="l">
                <a:lnSpc>
                  <a:spcPts val="8640"/>
                </a:lnSpc>
              </a:pPr>
              <a:r>
                <a:rPr lang="en-US" sz="7200" b="true">
                  <a:solidFill>
                    <a:srgbClr val="1A1A1A"/>
                  </a:solidFill>
                  <a:latin typeface="Calibri (MS) Bold"/>
                  <a:ea typeface="Calibri (MS) Bold"/>
                  <a:cs typeface="Calibri (MS) Bold"/>
                  <a:sym typeface="Calibri (MS) Bold"/>
                </a:rPr>
                <a:t>Competencias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7908" y="102870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El problema que resuelven los arreglos</a:t>
              </a:r>
            </a:p>
          </p:txBody>
        </p:sp>
      </p:grpSp>
      <p:sp>
        <p:nvSpPr>
          <p:cNvPr name="TextBox 5" id="5"/>
          <p:cNvSpPr txBox="true"/>
          <p:nvPr/>
        </p:nvSpPr>
        <p:spPr>
          <a:xfrm rot="0">
            <a:off x="1057908" y="2411230"/>
            <a:ext cx="16276320" cy="790575"/>
          </a:xfrm>
          <a:prstGeom prst="rect">
            <a:avLst/>
          </a:prstGeom>
        </p:spPr>
        <p:txBody>
          <a:bodyPr anchor="t" rtlCol="false" tIns="0" lIns="0" bIns="0" rIns="0">
            <a:spAutoFit/>
          </a:bodyPr>
          <a:lstStyle/>
          <a:p>
            <a:pPr algn="l">
              <a:lnSpc>
                <a:spcPts val="3120"/>
              </a:lnSpc>
            </a:pPr>
            <a:r>
              <a:rPr lang="en-US" sz="2600">
                <a:solidFill>
                  <a:srgbClr val="000000"/>
                </a:solidFill>
                <a:latin typeface="Canva Sans"/>
                <a:ea typeface="Canva Sans"/>
                <a:cs typeface="Canva Sans"/>
                <a:sym typeface="Canva Sans"/>
              </a:rPr>
              <a:t>Se necesitan</a:t>
            </a:r>
            <a:r>
              <a:rPr lang="en-US" sz="2600">
                <a:solidFill>
                  <a:srgbClr val="000000"/>
                </a:solidFill>
                <a:latin typeface="Canva Sans"/>
                <a:ea typeface="Canva Sans"/>
                <a:cs typeface="Canva Sans"/>
                <a:sym typeface="Canva Sans"/>
              </a:rPr>
              <a:t> guardar las notas de 5 estudiantes. Sin arreglos, tendríamos que declarar una variable para cada uno:</a:t>
            </a:r>
          </a:p>
        </p:txBody>
      </p:sp>
      <p:grpSp>
        <p:nvGrpSpPr>
          <p:cNvPr name="Group 6" id="6"/>
          <p:cNvGrpSpPr/>
          <p:nvPr/>
        </p:nvGrpSpPr>
        <p:grpSpPr>
          <a:xfrm rot="0">
            <a:off x="953772" y="4378595"/>
            <a:ext cx="7327897" cy="2010661"/>
            <a:chOff x="0" y="0"/>
            <a:chExt cx="9770529" cy="2680881"/>
          </a:xfrm>
        </p:grpSpPr>
        <p:sp>
          <p:nvSpPr>
            <p:cNvPr name="Freeform 7" id="7"/>
            <p:cNvSpPr/>
            <p:nvPr/>
          </p:nvSpPr>
          <p:spPr>
            <a:xfrm flipH="false" flipV="false" rot="0">
              <a:off x="16061" y="12951"/>
              <a:ext cx="9738322" cy="2654911"/>
            </a:xfrm>
            <a:custGeom>
              <a:avLst/>
              <a:gdLst/>
              <a:ahLst/>
              <a:cxnLst/>
              <a:rect r="r" b="b" t="t" l="l"/>
              <a:pathLst>
                <a:path h="2654911" w="9738322">
                  <a:moveTo>
                    <a:pt x="0" y="0"/>
                  </a:moveTo>
                  <a:lnTo>
                    <a:pt x="9738323" y="0"/>
                  </a:lnTo>
                  <a:lnTo>
                    <a:pt x="9738323" y="2654911"/>
                  </a:lnTo>
                  <a:lnTo>
                    <a:pt x="0" y="2654911"/>
                  </a:lnTo>
                  <a:close/>
                </a:path>
              </a:pathLst>
            </a:custGeom>
            <a:solidFill>
              <a:srgbClr val="F5F5F5"/>
            </a:solidFill>
          </p:spPr>
        </p:sp>
        <p:sp>
          <p:nvSpPr>
            <p:cNvPr name="Freeform 8" id="8"/>
            <p:cNvSpPr/>
            <p:nvPr/>
          </p:nvSpPr>
          <p:spPr>
            <a:xfrm flipH="false" flipV="false" rot="0">
              <a:off x="0" y="0"/>
              <a:ext cx="9770445" cy="2680813"/>
            </a:xfrm>
            <a:custGeom>
              <a:avLst/>
              <a:gdLst/>
              <a:ahLst/>
              <a:cxnLst/>
              <a:rect r="r" b="b" t="t" l="l"/>
              <a:pathLst>
                <a:path h="2680813" w="9770445">
                  <a:moveTo>
                    <a:pt x="16061" y="0"/>
                  </a:moveTo>
                  <a:lnTo>
                    <a:pt x="9754384" y="0"/>
                  </a:lnTo>
                  <a:cubicBezTo>
                    <a:pt x="9763320" y="0"/>
                    <a:pt x="9770445" y="5843"/>
                    <a:pt x="9770445" y="12951"/>
                  </a:cubicBezTo>
                  <a:lnTo>
                    <a:pt x="9770445" y="2667862"/>
                  </a:lnTo>
                  <a:cubicBezTo>
                    <a:pt x="9770445" y="2675068"/>
                    <a:pt x="9763199" y="2680813"/>
                    <a:pt x="9754384" y="2680813"/>
                  </a:cubicBezTo>
                  <a:lnTo>
                    <a:pt x="16061" y="2680813"/>
                  </a:lnTo>
                  <a:cubicBezTo>
                    <a:pt x="7125" y="2680813"/>
                    <a:pt x="0" y="2674970"/>
                    <a:pt x="0" y="2667862"/>
                  </a:cubicBezTo>
                  <a:lnTo>
                    <a:pt x="0" y="12951"/>
                  </a:lnTo>
                  <a:cubicBezTo>
                    <a:pt x="0" y="5843"/>
                    <a:pt x="7246" y="0"/>
                    <a:pt x="16061" y="0"/>
                  </a:cubicBezTo>
                  <a:moveTo>
                    <a:pt x="16061" y="26000"/>
                  </a:moveTo>
                  <a:lnTo>
                    <a:pt x="16061" y="12951"/>
                  </a:lnTo>
                  <a:lnTo>
                    <a:pt x="32244" y="12951"/>
                  </a:lnTo>
                  <a:lnTo>
                    <a:pt x="32244" y="2667862"/>
                  </a:lnTo>
                  <a:lnTo>
                    <a:pt x="16061" y="2667862"/>
                  </a:lnTo>
                  <a:lnTo>
                    <a:pt x="16061" y="2654911"/>
                  </a:lnTo>
                  <a:lnTo>
                    <a:pt x="9754384" y="2654911"/>
                  </a:lnTo>
                  <a:lnTo>
                    <a:pt x="9754384" y="2667862"/>
                  </a:lnTo>
                  <a:lnTo>
                    <a:pt x="9738322" y="2667862"/>
                  </a:lnTo>
                  <a:lnTo>
                    <a:pt x="9738322" y="12951"/>
                  </a:lnTo>
                  <a:lnTo>
                    <a:pt x="9754384" y="12951"/>
                  </a:lnTo>
                  <a:lnTo>
                    <a:pt x="9754384" y="26000"/>
                  </a:lnTo>
                  <a:lnTo>
                    <a:pt x="16061" y="26000"/>
                  </a:lnTo>
                  <a:close/>
                </a:path>
              </a:pathLst>
            </a:custGeom>
            <a:solidFill>
              <a:srgbClr val="DDDDDD"/>
            </a:solidFill>
          </p:spPr>
        </p:sp>
      </p:grpSp>
      <p:sp>
        <p:nvSpPr>
          <p:cNvPr name="TextBox 9" id="9"/>
          <p:cNvSpPr txBox="true"/>
          <p:nvPr/>
        </p:nvSpPr>
        <p:spPr>
          <a:xfrm rot="0">
            <a:off x="1332228" y="4619892"/>
            <a:ext cx="6949440" cy="1666875"/>
          </a:xfrm>
          <a:prstGeom prst="rect">
            <a:avLst/>
          </a:prstGeom>
        </p:spPr>
        <p:txBody>
          <a:bodyPr anchor="t" rtlCol="false" tIns="0" lIns="0" bIns="0" rIns="0">
            <a:spAutoFit/>
          </a:bodyPr>
          <a:lstStyle/>
          <a:p>
            <a:pPr algn="l">
              <a:lnSpc>
                <a:spcPts val="2639"/>
              </a:lnSpc>
            </a:pPr>
            <a:r>
              <a:rPr lang="en-US" sz="2199">
                <a:solidFill>
                  <a:srgbClr val="000000"/>
                </a:solidFill>
                <a:latin typeface="Canva Sans"/>
                <a:ea typeface="Canva Sans"/>
                <a:cs typeface="Canva Sans"/>
                <a:sym typeface="Canva Sans"/>
              </a:rPr>
              <a:t>nota1 &lt;- 85</a:t>
            </a:r>
          </a:p>
          <a:p>
            <a:pPr algn="l">
              <a:lnSpc>
                <a:spcPts val="2639"/>
              </a:lnSpc>
            </a:pPr>
            <a:r>
              <a:rPr lang="en-US" sz="2199">
                <a:solidFill>
                  <a:srgbClr val="000000"/>
                </a:solidFill>
                <a:latin typeface="Canva Sans"/>
                <a:ea typeface="Canva Sans"/>
                <a:cs typeface="Canva Sans"/>
                <a:sym typeface="Canva Sans"/>
              </a:rPr>
              <a:t>nota2 &lt;- 72</a:t>
            </a:r>
          </a:p>
          <a:p>
            <a:pPr algn="l">
              <a:lnSpc>
                <a:spcPts val="2639"/>
              </a:lnSpc>
            </a:pPr>
            <a:r>
              <a:rPr lang="en-US" sz="2199">
                <a:solidFill>
                  <a:srgbClr val="000000"/>
                </a:solidFill>
                <a:latin typeface="Canva Sans"/>
                <a:ea typeface="Canva Sans"/>
                <a:cs typeface="Canva Sans"/>
                <a:sym typeface="Canva Sans"/>
              </a:rPr>
              <a:t>nota3 &lt;- 91</a:t>
            </a:r>
          </a:p>
          <a:p>
            <a:pPr algn="l">
              <a:lnSpc>
                <a:spcPts val="2639"/>
              </a:lnSpc>
            </a:pPr>
            <a:r>
              <a:rPr lang="en-US" sz="2199">
                <a:solidFill>
                  <a:srgbClr val="000000"/>
                </a:solidFill>
                <a:latin typeface="Canva Sans"/>
                <a:ea typeface="Canva Sans"/>
                <a:cs typeface="Canva Sans"/>
                <a:sym typeface="Canva Sans"/>
              </a:rPr>
              <a:t>nota4 &lt;- 68</a:t>
            </a:r>
          </a:p>
          <a:p>
            <a:pPr algn="l">
              <a:lnSpc>
                <a:spcPts val="2639"/>
              </a:lnSpc>
            </a:pPr>
            <a:r>
              <a:rPr lang="en-US" sz="2199">
                <a:solidFill>
                  <a:srgbClr val="000000"/>
                </a:solidFill>
                <a:latin typeface="Canva Sans"/>
                <a:ea typeface="Canva Sans"/>
                <a:cs typeface="Canva Sans"/>
                <a:sym typeface="Canva Sans"/>
              </a:rPr>
              <a:t>nota5 &lt;- 79</a:t>
            </a:r>
          </a:p>
        </p:txBody>
      </p:sp>
      <p:sp>
        <p:nvSpPr>
          <p:cNvPr name="TextBox 10" id="10"/>
          <p:cNvSpPr txBox="true"/>
          <p:nvPr/>
        </p:nvSpPr>
        <p:spPr>
          <a:xfrm rot="0">
            <a:off x="1124003" y="3618750"/>
            <a:ext cx="14210152" cy="352425"/>
          </a:xfrm>
          <a:prstGeom prst="rect">
            <a:avLst/>
          </a:prstGeom>
        </p:spPr>
        <p:txBody>
          <a:bodyPr anchor="t" rtlCol="false" tIns="0" lIns="0" bIns="0" rIns="0">
            <a:spAutoFit/>
          </a:bodyPr>
          <a:lstStyle/>
          <a:p>
            <a:pPr algn="l">
              <a:lnSpc>
                <a:spcPts val="2879"/>
              </a:lnSpc>
            </a:pPr>
            <a:r>
              <a:rPr lang="en-US" sz="2400">
                <a:solidFill>
                  <a:srgbClr val="000000"/>
                </a:solidFill>
                <a:latin typeface="Canva Sans"/>
                <a:ea typeface="Canva Sans"/>
                <a:cs typeface="Canva Sans"/>
                <a:sym typeface="Canva Sans"/>
              </a:rPr>
              <a:t>Esto ya es incómodo con 5 estudiantes. ¿Y si fueran 30? ¿O 200?</a:t>
            </a:r>
          </a:p>
        </p:txBody>
      </p:sp>
      <p:sp>
        <p:nvSpPr>
          <p:cNvPr name="TextBox 11" id="11"/>
          <p:cNvSpPr txBox="true"/>
          <p:nvPr/>
        </p:nvSpPr>
        <p:spPr>
          <a:xfrm rot="0">
            <a:off x="8738868" y="4820998"/>
            <a:ext cx="8595360" cy="714375"/>
          </a:xfrm>
          <a:prstGeom prst="rect">
            <a:avLst/>
          </a:prstGeom>
        </p:spPr>
        <p:txBody>
          <a:bodyPr anchor="t" rtlCol="false" tIns="0" lIns="0" bIns="0" rIns="0">
            <a:spAutoFit/>
          </a:bodyPr>
          <a:lstStyle/>
          <a:p>
            <a:pPr algn="l">
              <a:lnSpc>
                <a:spcPts val="2879"/>
              </a:lnSpc>
            </a:pPr>
            <a:r>
              <a:rPr lang="en-US" sz="2400">
                <a:solidFill>
                  <a:srgbClr val="000000"/>
                </a:solidFill>
                <a:latin typeface="Canva Sans"/>
                <a:ea typeface="Canva Sans"/>
                <a:cs typeface="Canva Sans"/>
                <a:sym typeface="Canva Sans"/>
              </a:rPr>
              <a:t>Cada operación (calcular promedio, buscar la nota más alta) requeriría escribir 30 líneas casi idénticas.</a:t>
            </a:r>
          </a:p>
        </p:txBody>
      </p:sp>
      <p:sp>
        <p:nvSpPr>
          <p:cNvPr name="TextBox 12" id="12"/>
          <p:cNvSpPr txBox="true"/>
          <p:nvPr/>
        </p:nvSpPr>
        <p:spPr>
          <a:xfrm rot="0">
            <a:off x="953772" y="6675006"/>
            <a:ext cx="6494172" cy="352425"/>
          </a:xfrm>
          <a:prstGeom prst="rect">
            <a:avLst/>
          </a:prstGeom>
        </p:spPr>
        <p:txBody>
          <a:bodyPr anchor="t" rtlCol="false" tIns="0" lIns="0" bIns="0" rIns="0">
            <a:spAutoFit/>
          </a:bodyPr>
          <a:lstStyle/>
          <a:p>
            <a:pPr algn="l">
              <a:lnSpc>
                <a:spcPts val="2879"/>
              </a:lnSpc>
            </a:pPr>
            <a:r>
              <a:rPr lang="en-US" b="true" sz="2400">
                <a:solidFill>
                  <a:srgbClr val="000000"/>
                </a:solidFill>
                <a:latin typeface="Canva Sans Bold"/>
                <a:ea typeface="Canva Sans Bold"/>
                <a:cs typeface="Canva Sans Bold"/>
                <a:sym typeface="Canva Sans Bold"/>
              </a:rPr>
              <a:t>Los arreglos resuelven esto:</a:t>
            </a:r>
          </a:p>
        </p:txBody>
      </p:sp>
      <p:grpSp>
        <p:nvGrpSpPr>
          <p:cNvPr name="Group 13" id="13"/>
          <p:cNvGrpSpPr/>
          <p:nvPr/>
        </p:nvGrpSpPr>
        <p:grpSpPr>
          <a:xfrm rot="0">
            <a:off x="9909084" y="6798831"/>
            <a:ext cx="7425144" cy="2065782"/>
            <a:chOff x="0" y="0"/>
            <a:chExt cx="9900193" cy="2754376"/>
          </a:xfrm>
        </p:grpSpPr>
        <p:sp>
          <p:nvSpPr>
            <p:cNvPr name="Freeform 14" id="14"/>
            <p:cNvSpPr/>
            <p:nvPr/>
          </p:nvSpPr>
          <p:spPr>
            <a:xfrm flipH="false" flipV="false" rot="0">
              <a:off x="14246" y="21345"/>
              <a:ext cx="9871626" cy="2711574"/>
            </a:xfrm>
            <a:custGeom>
              <a:avLst/>
              <a:gdLst/>
              <a:ahLst/>
              <a:cxnLst/>
              <a:rect r="r" b="b" t="t" l="l"/>
              <a:pathLst>
                <a:path h="2711574" w="9871626">
                  <a:moveTo>
                    <a:pt x="0" y="0"/>
                  </a:moveTo>
                  <a:lnTo>
                    <a:pt x="9871626" y="0"/>
                  </a:lnTo>
                  <a:lnTo>
                    <a:pt x="9871626" y="2711574"/>
                  </a:lnTo>
                  <a:lnTo>
                    <a:pt x="0" y="2711574"/>
                  </a:lnTo>
                  <a:close/>
                </a:path>
              </a:pathLst>
            </a:custGeom>
            <a:solidFill>
              <a:srgbClr val="F5F5F5"/>
            </a:solidFill>
          </p:spPr>
        </p:sp>
        <p:sp>
          <p:nvSpPr>
            <p:cNvPr name="Freeform 15" id="15"/>
            <p:cNvSpPr/>
            <p:nvPr/>
          </p:nvSpPr>
          <p:spPr>
            <a:xfrm flipH="false" flipV="false" rot="0">
              <a:off x="0" y="0"/>
              <a:ext cx="9900117" cy="2754264"/>
            </a:xfrm>
            <a:custGeom>
              <a:avLst/>
              <a:gdLst/>
              <a:ahLst/>
              <a:cxnLst/>
              <a:rect r="r" b="b" t="t" l="l"/>
              <a:pathLst>
                <a:path h="2754264" w="9900117">
                  <a:moveTo>
                    <a:pt x="14246" y="0"/>
                  </a:moveTo>
                  <a:lnTo>
                    <a:pt x="9885872" y="0"/>
                  </a:lnTo>
                  <a:cubicBezTo>
                    <a:pt x="9893798" y="0"/>
                    <a:pt x="9900117" y="9629"/>
                    <a:pt x="9900117" y="21345"/>
                  </a:cubicBezTo>
                  <a:lnTo>
                    <a:pt x="9900117" y="2732919"/>
                  </a:lnTo>
                  <a:cubicBezTo>
                    <a:pt x="9900117" y="2744795"/>
                    <a:pt x="9893691" y="2754264"/>
                    <a:pt x="9885872" y="2754264"/>
                  </a:cubicBezTo>
                  <a:lnTo>
                    <a:pt x="14246" y="2754264"/>
                  </a:lnTo>
                  <a:cubicBezTo>
                    <a:pt x="6320" y="2754264"/>
                    <a:pt x="0" y="2744634"/>
                    <a:pt x="0" y="2732919"/>
                  </a:cubicBezTo>
                  <a:lnTo>
                    <a:pt x="0" y="21345"/>
                  </a:lnTo>
                  <a:cubicBezTo>
                    <a:pt x="0" y="9629"/>
                    <a:pt x="6427" y="0"/>
                    <a:pt x="14246" y="0"/>
                  </a:cubicBezTo>
                  <a:moveTo>
                    <a:pt x="14246" y="42850"/>
                  </a:moveTo>
                  <a:lnTo>
                    <a:pt x="14246" y="21345"/>
                  </a:lnTo>
                  <a:lnTo>
                    <a:pt x="28599" y="21345"/>
                  </a:lnTo>
                  <a:lnTo>
                    <a:pt x="28599" y="2732919"/>
                  </a:lnTo>
                  <a:lnTo>
                    <a:pt x="14246" y="2732919"/>
                  </a:lnTo>
                  <a:lnTo>
                    <a:pt x="14246" y="2711574"/>
                  </a:lnTo>
                  <a:lnTo>
                    <a:pt x="9885872" y="2711574"/>
                  </a:lnTo>
                  <a:lnTo>
                    <a:pt x="9885872" y="2732919"/>
                  </a:lnTo>
                  <a:lnTo>
                    <a:pt x="9871625" y="2732919"/>
                  </a:lnTo>
                  <a:lnTo>
                    <a:pt x="9871625" y="21345"/>
                  </a:lnTo>
                  <a:lnTo>
                    <a:pt x="9885872" y="21345"/>
                  </a:lnTo>
                  <a:lnTo>
                    <a:pt x="9885872" y="42850"/>
                  </a:lnTo>
                  <a:lnTo>
                    <a:pt x="14246" y="42850"/>
                  </a:lnTo>
                  <a:close/>
                </a:path>
              </a:pathLst>
            </a:custGeom>
            <a:solidFill>
              <a:srgbClr val="DDDDDD"/>
            </a:solidFill>
          </p:spPr>
        </p:sp>
      </p:grpSp>
      <p:sp>
        <p:nvSpPr>
          <p:cNvPr name="TextBox 16" id="16"/>
          <p:cNvSpPr txBox="true"/>
          <p:nvPr/>
        </p:nvSpPr>
        <p:spPr>
          <a:xfrm rot="0">
            <a:off x="10409102" y="7236410"/>
            <a:ext cx="6425107" cy="1181100"/>
          </a:xfrm>
          <a:prstGeom prst="rect">
            <a:avLst/>
          </a:prstGeom>
        </p:spPr>
        <p:txBody>
          <a:bodyPr anchor="t" rtlCol="false" tIns="0" lIns="0" bIns="0" rIns="0">
            <a:spAutoFit/>
          </a:bodyPr>
          <a:lstStyle/>
          <a:p>
            <a:pPr algn="l">
              <a:lnSpc>
                <a:spcPts val="3119"/>
              </a:lnSpc>
            </a:pPr>
            <a:r>
              <a:rPr lang="en-US" sz="2599">
                <a:solidFill>
                  <a:srgbClr val="000000"/>
                </a:solidFill>
                <a:latin typeface="Canva Sans"/>
                <a:ea typeface="Canva Sans"/>
                <a:cs typeface="Canva Sans"/>
                <a:sym typeface="Canva Sans"/>
              </a:rPr>
              <a:t>notas(1) &lt;- 85</a:t>
            </a:r>
          </a:p>
          <a:p>
            <a:pPr algn="l">
              <a:lnSpc>
                <a:spcPts val="3119"/>
              </a:lnSpc>
            </a:pPr>
            <a:r>
              <a:rPr lang="en-US" sz="2599">
                <a:solidFill>
                  <a:srgbClr val="000000"/>
                </a:solidFill>
                <a:latin typeface="Canva Sans"/>
                <a:ea typeface="Canva Sans"/>
                <a:cs typeface="Canva Sans"/>
                <a:sym typeface="Canva Sans"/>
              </a:rPr>
              <a:t>notas(2) &lt;- 72</a:t>
            </a:r>
          </a:p>
          <a:p>
            <a:pPr algn="l">
              <a:lnSpc>
                <a:spcPts val="3119"/>
              </a:lnSpc>
            </a:pPr>
            <a:r>
              <a:rPr lang="en-US" sz="2599">
                <a:solidFill>
                  <a:srgbClr val="000000"/>
                </a:solidFill>
                <a:latin typeface="Canva Sans"/>
                <a:ea typeface="Canva Sans"/>
                <a:cs typeface="Canva Sans"/>
                <a:sym typeface="Canva Sans"/>
              </a:rPr>
              <a:t>// ... y así hasta notas(N)</a:t>
            </a:r>
          </a:p>
        </p:txBody>
      </p:sp>
      <p:sp>
        <p:nvSpPr>
          <p:cNvPr name="TextBox 17" id="17"/>
          <p:cNvSpPr txBox="true"/>
          <p:nvPr/>
        </p:nvSpPr>
        <p:spPr>
          <a:xfrm rot="0">
            <a:off x="953772" y="7427481"/>
            <a:ext cx="8333737" cy="1571625"/>
          </a:xfrm>
          <a:prstGeom prst="rect">
            <a:avLst/>
          </a:prstGeom>
        </p:spPr>
        <p:txBody>
          <a:bodyPr anchor="t" rtlCol="false" tIns="0" lIns="0" bIns="0" rIns="0">
            <a:spAutoFit/>
          </a:bodyPr>
          <a:lstStyle/>
          <a:p>
            <a:pPr algn="l">
              <a:lnSpc>
                <a:spcPts val="3120"/>
              </a:lnSpc>
            </a:pPr>
            <a:r>
              <a:rPr lang="en-US" sz="2600">
                <a:solidFill>
                  <a:srgbClr val="000000"/>
                </a:solidFill>
                <a:latin typeface="Canva Sans"/>
                <a:ea typeface="Canva Sans"/>
                <a:cs typeface="Canva Sans"/>
                <a:sym typeface="Canva Sans"/>
              </a:rPr>
              <a:t>Un arreglo es una estructura que permite almacenar varios valores del mismo tipo bajo un único nombre, identificando cada valor con un número llamado índice.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Arreglos</a:t>
              </a:r>
            </a:p>
          </p:txBody>
        </p:sp>
      </p:grpSp>
      <p:graphicFrame>
        <p:nvGraphicFramePr>
          <p:cNvPr name="Table 5" id="5"/>
          <p:cNvGraphicFramePr>
            <a:graphicFrameLocks noGrp="true"/>
          </p:cNvGraphicFramePr>
          <p:nvPr/>
        </p:nvGraphicFramePr>
        <p:xfrm>
          <a:off x="2273174" y="3124841"/>
          <a:ext cx="13741652" cy="5918200"/>
        </p:xfrm>
        <a:graphic>
          <a:graphicData uri="http://schemas.openxmlformats.org/drawingml/2006/table">
            <a:tbl>
              <a:tblPr/>
              <a:tblGrid>
                <a:gridCol w="3684112"/>
                <a:gridCol w="10057541"/>
              </a:tblGrid>
              <a:tr h="917952">
                <a:tc>
                  <a:txBody>
                    <a:bodyPr anchor="t" rtlCol="false"/>
                    <a:lstStyle/>
                    <a:p>
                      <a:pPr algn="ctr">
                        <a:lnSpc>
                          <a:spcPts val="3840"/>
                        </a:lnSpc>
                        <a:defRPr/>
                      </a:pPr>
                      <a:r>
                        <a:rPr lang="en-US" sz="3200" b="true">
                          <a:solidFill>
                            <a:srgbClr val="FFFFFF"/>
                          </a:solidFill>
                          <a:latin typeface="Calibri (MS) Bold"/>
                          <a:ea typeface="Calibri (MS) Bold"/>
                          <a:cs typeface="Calibri (MS) Bold"/>
                          <a:sym typeface="Calibri (MS) Bold"/>
                        </a:rPr>
                        <a:t>Característica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840"/>
                        </a:lnSpc>
                        <a:defRPr/>
                      </a:pPr>
                      <a:r>
                        <a:rPr lang="en-US" sz="32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1477964">
                <a:tc>
                  <a:txBody>
                    <a:bodyPr anchor="t" rtlCol="false"/>
                    <a:lstStyle/>
                    <a:p>
                      <a:pPr algn="l">
                        <a:lnSpc>
                          <a:spcPts val="3840"/>
                        </a:lnSpc>
                        <a:defRPr/>
                      </a:pPr>
                      <a:r>
                        <a:rPr lang="en-US" sz="3200">
                          <a:solidFill>
                            <a:srgbClr val="000000"/>
                          </a:solidFill>
                          <a:latin typeface="Calibri (MS)"/>
                          <a:ea typeface="Calibri (MS)"/>
                          <a:cs typeface="Calibri (MS)"/>
                          <a:sym typeface="Calibri (MS)"/>
                        </a:rPr>
                        <a:t>Tamaño fijo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Calibri (MS)"/>
                          <a:ea typeface="Calibri (MS)"/>
                          <a:cs typeface="Calibri (MS)"/>
                          <a:sym typeface="Calibri (MS)"/>
                        </a:rPr>
                        <a:t>Se define al declararlo y no cambia durante la ejecución del programa.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336368">
                <a:tc>
                  <a:txBody>
                    <a:bodyPr anchor="t" rtlCol="false"/>
                    <a:lstStyle/>
                    <a:p>
                      <a:pPr algn="l">
                        <a:lnSpc>
                          <a:spcPts val="3840"/>
                        </a:lnSpc>
                        <a:defRPr/>
                      </a:pPr>
                      <a:r>
                        <a:rPr lang="en-US" sz="3200">
                          <a:solidFill>
                            <a:srgbClr val="000000"/>
                          </a:solidFill>
                          <a:latin typeface="Calibri (MS)"/>
                          <a:ea typeface="Calibri (MS)"/>
                          <a:cs typeface="Calibri (MS)"/>
                          <a:sym typeface="Calibri (MS)"/>
                        </a:rPr>
                        <a:t>Mismo tipo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Calibri (MS)"/>
                          <a:ea typeface="Calibri (MS)"/>
                          <a:cs typeface="Calibri (MS)"/>
                          <a:sym typeface="Calibri (MS)"/>
                        </a:rPr>
                        <a:t>Todos los elementos son del mismo tipo: Real, Entero, Caracter, etc.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336368">
                <a:tc>
                  <a:txBody>
                    <a:bodyPr anchor="t" rtlCol="false"/>
                    <a:lstStyle/>
                    <a:p>
                      <a:pPr algn="l">
                        <a:lnSpc>
                          <a:spcPts val="3840"/>
                        </a:lnSpc>
                        <a:defRPr/>
                      </a:pPr>
                      <a:r>
                        <a:rPr lang="en-US" sz="3200">
                          <a:solidFill>
                            <a:srgbClr val="000000"/>
                          </a:solidFill>
                          <a:latin typeface="Calibri (MS)"/>
                          <a:ea typeface="Calibri (MS)"/>
                          <a:cs typeface="Calibri (MS)"/>
                          <a:sym typeface="Calibri (MS)"/>
                        </a:rPr>
                        <a:t>Acceso por índice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Calibri (MS)"/>
                          <a:ea typeface="Calibri (MS)"/>
                          <a:cs typeface="Calibri (MS)"/>
                          <a:sym typeface="Calibri (MS)"/>
                        </a:rPr>
                        <a:t>Se accede a cada elemento usando su posición numérica (índice).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849548">
                <a:tc>
                  <a:txBody>
                    <a:bodyPr anchor="t" rtlCol="false"/>
                    <a:lstStyle/>
                    <a:p>
                      <a:pPr algn="l">
                        <a:lnSpc>
                          <a:spcPts val="3840"/>
                        </a:lnSpc>
                        <a:defRPr/>
                      </a:pPr>
                      <a:r>
                        <a:rPr lang="en-US" sz="3200">
                          <a:solidFill>
                            <a:srgbClr val="000000"/>
                          </a:solidFill>
                          <a:latin typeface="Calibri (MS)"/>
                          <a:ea typeface="Calibri (MS)"/>
                          <a:cs typeface="Calibri (MS)"/>
                          <a:sym typeface="Calibri (MS)"/>
                        </a:rPr>
                        <a:t>Índices en PSeInt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Calibri (MS)"/>
                          <a:ea typeface="Calibri (MS)"/>
                          <a:cs typeface="Calibri (MS)"/>
                          <a:sym typeface="Calibri (MS)"/>
                        </a:rPr>
                        <a:t>Van desde 1 hasta N (el tamaño declarado) o desde 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1698" y="602609"/>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¿Qué es un Vector?</a:t>
              </a:r>
            </a:p>
          </p:txBody>
        </p:sp>
      </p:grpSp>
      <p:sp>
        <p:nvSpPr>
          <p:cNvPr name="TextBox 5" id="5"/>
          <p:cNvSpPr txBox="true"/>
          <p:nvPr/>
        </p:nvSpPr>
        <p:spPr>
          <a:xfrm rot="0">
            <a:off x="1028700" y="1827524"/>
            <a:ext cx="16276320" cy="1282446"/>
          </a:xfrm>
          <a:prstGeom prst="rect">
            <a:avLst/>
          </a:prstGeom>
        </p:spPr>
        <p:txBody>
          <a:bodyPr anchor="t" rtlCol="false" tIns="0" lIns="0" bIns="0" rIns="0">
            <a:spAutoFit/>
          </a:bodyPr>
          <a:lstStyle/>
          <a:p>
            <a:pPr algn="l">
              <a:lnSpc>
                <a:spcPts val="3120"/>
              </a:lnSpc>
            </a:pPr>
            <a:r>
              <a:rPr lang="en-US" sz="2600">
                <a:solidFill>
                  <a:srgbClr val="1A1A1A"/>
                </a:solidFill>
                <a:latin typeface="Calibri (MS)"/>
                <a:ea typeface="Calibri (MS)"/>
                <a:cs typeface="Calibri (MS)"/>
                <a:sym typeface="Calibri (MS)"/>
              </a:rPr>
              <a:t>Un vector es un arreglo de una sola dimensión. Se puede pensar como una fila de cajas numeradas, donde cada caja guarda un valor. Para llegar a una caja específica sólo se necesita saber su número de posición.</a:t>
            </a:r>
          </a:p>
        </p:txBody>
      </p:sp>
      <p:sp>
        <p:nvSpPr>
          <p:cNvPr name="TextBox 6" id="6"/>
          <p:cNvSpPr txBox="true"/>
          <p:nvPr/>
        </p:nvSpPr>
        <p:spPr>
          <a:xfrm rot="0">
            <a:off x="1005835" y="3052820"/>
            <a:ext cx="16276320" cy="447675"/>
          </a:xfrm>
          <a:prstGeom prst="rect">
            <a:avLst/>
          </a:prstGeom>
        </p:spPr>
        <p:txBody>
          <a:bodyPr anchor="t" rtlCol="false" tIns="0" lIns="0" bIns="0" rIns="0">
            <a:spAutoFit/>
          </a:bodyPr>
          <a:lstStyle/>
          <a:p>
            <a:pPr algn="l">
              <a:lnSpc>
                <a:spcPts val="3120"/>
              </a:lnSpc>
            </a:pPr>
            <a:r>
              <a:rPr lang="en-US" sz="2600" b="true">
                <a:solidFill>
                  <a:srgbClr val="1A1A1A"/>
                </a:solidFill>
                <a:latin typeface="Calibri (MS) Bold"/>
                <a:ea typeface="Calibri (MS) Bold"/>
                <a:cs typeface="Calibri (MS) Bold"/>
                <a:sym typeface="Calibri (MS) Bold"/>
              </a:rPr>
              <a:t>Analogía: una hilera de casilleros en el T-3</a:t>
            </a:r>
          </a:p>
        </p:txBody>
      </p:sp>
      <p:sp>
        <p:nvSpPr>
          <p:cNvPr name="TextBox 7" id="7"/>
          <p:cNvSpPr txBox="true"/>
          <p:nvPr/>
        </p:nvSpPr>
        <p:spPr>
          <a:xfrm rot="0">
            <a:off x="1005835" y="3692900"/>
            <a:ext cx="16276320" cy="1228725"/>
          </a:xfrm>
          <a:prstGeom prst="rect">
            <a:avLst/>
          </a:prstGeom>
        </p:spPr>
        <p:txBody>
          <a:bodyPr anchor="t" rtlCol="false" tIns="0" lIns="0" bIns="0" rIns="0">
            <a:spAutoFit/>
          </a:bodyPr>
          <a:lstStyle/>
          <a:p>
            <a:pPr algn="l">
              <a:lnSpc>
                <a:spcPts val="3120"/>
              </a:lnSpc>
            </a:pPr>
            <a:r>
              <a:rPr lang="en-US" sz="2600">
                <a:solidFill>
                  <a:srgbClr val="1A1A1A"/>
                </a:solidFill>
                <a:latin typeface="Calibri (MS)"/>
                <a:ea typeface="Calibri (MS)"/>
                <a:cs typeface="Calibri (MS)"/>
                <a:sym typeface="Calibri (MS)"/>
              </a:rPr>
              <a:t>U</a:t>
            </a:r>
            <a:r>
              <a:rPr lang="en-US" sz="2600">
                <a:solidFill>
                  <a:srgbClr val="1A1A1A"/>
                </a:solidFill>
                <a:latin typeface="Calibri (MS)"/>
                <a:ea typeface="Calibri (MS)"/>
                <a:cs typeface="Calibri (MS)"/>
                <a:sym typeface="Calibri (MS)"/>
              </a:rPr>
              <a:t>na fila de casilleros numerados del 1 al 6. Cada casillero puede guardar exactamente un objeto (un libro, una mochila). Para acceder al contenido de un casillero, sólo necesitas su número. El vector funciona exactamente igual: cada posición guarda un valor y se accede por su índice.</a:t>
            </a:r>
          </a:p>
        </p:txBody>
      </p:sp>
      <p:sp>
        <p:nvSpPr>
          <p:cNvPr name="TextBox 8" id="8"/>
          <p:cNvSpPr txBox="true"/>
          <p:nvPr/>
        </p:nvSpPr>
        <p:spPr>
          <a:xfrm rot="0">
            <a:off x="1005835" y="5430260"/>
            <a:ext cx="16276320" cy="569214"/>
          </a:xfrm>
          <a:prstGeom prst="rect">
            <a:avLst/>
          </a:prstGeom>
        </p:spPr>
        <p:txBody>
          <a:bodyPr anchor="t" rtlCol="false" tIns="0" lIns="0" bIns="0" rIns="0">
            <a:spAutoFit/>
          </a:bodyPr>
          <a:lstStyle/>
          <a:p>
            <a:pPr algn="l">
              <a:lnSpc>
                <a:spcPts val="3120"/>
              </a:lnSpc>
            </a:pPr>
            <a:r>
              <a:rPr lang="en-US" sz="2600" b="true">
                <a:solidFill>
                  <a:srgbClr val="1A1A1A"/>
                </a:solidFill>
                <a:latin typeface="Calibri (MS) Bold"/>
                <a:ea typeface="Calibri (MS) Bold"/>
                <a:cs typeface="Calibri (MS) Bold"/>
                <a:sym typeface="Calibri (MS) Bold"/>
              </a:rPr>
              <a:t>Representación de un vector de 6 posiciones con notas de estudiantes:</a:t>
            </a:r>
          </a:p>
        </p:txBody>
      </p:sp>
      <p:grpSp>
        <p:nvGrpSpPr>
          <p:cNvPr name="Group 9" id="9"/>
          <p:cNvGrpSpPr/>
          <p:nvPr/>
        </p:nvGrpSpPr>
        <p:grpSpPr>
          <a:xfrm rot="0">
            <a:off x="1450338" y="6160513"/>
            <a:ext cx="2402843" cy="1159259"/>
            <a:chOff x="0" y="0"/>
            <a:chExt cx="3203791" cy="1545679"/>
          </a:xfrm>
        </p:grpSpPr>
        <p:sp>
          <p:nvSpPr>
            <p:cNvPr name="Freeform 10" id="10"/>
            <p:cNvSpPr/>
            <p:nvPr/>
          </p:nvSpPr>
          <p:spPr>
            <a:xfrm flipH="false" flipV="false" rot="0">
              <a:off x="16891" y="16891"/>
              <a:ext cx="3169920" cy="1511808"/>
            </a:xfrm>
            <a:custGeom>
              <a:avLst/>
              <a:gdLst/>
              <a:ahLst/>
              <a:cxnLst/>
              <a:rect r="r" b="b" t="t" l="l"/>
              <a:pathLst>
                <a:path h="1511808" w="3169920">
                  <a:moveTo>
                    <a:pt x="0" y="0"/>
                  </a:moveTo>
                  <a:lnTo>
                    <a:pt x="3169920" y="0"/>
                  </a:lnTo>
                  <a:lnTo>
                    <a:pt x="3169920" y="1511808"/>
                  </a:lnTo>
                  <a:lnTo>
                    <a:pt x="0" y="1511808"/>
                  </a:lnTo>
                  <a:close/>
                </a:path>
              </a:pathLst>
            </a:custGeom>
            <a:solidFill>
              <a:srgbClr val="F5F5F5"/>
            </a:solidFill>
          </p:spPr>
        </p:sp>
        <p:sp>
          <p:nvSpPr>
            <p:cNvPr name="Freeform 11" id="11"/>
            <p:cNvSpPr/>
            <p:nvPr/>
          </p:nvSpPr>
          <p:spPr>
            <a:xfrm flipH="false" flipV="false" rot="0">
              <a:off x="0" y="0"/>
              <a:ext cx="3203702" cy="1545590"/>
            </a:xfrm>
            <a:custGeom>
              <a:avLst/>
              <a:gdLst/>
              <a:ahLst/>
              <a:cxnLst/>
              <a:rect r="r" b="b" t="t" l="l"/>
              <a:pathLst>
                <a:path h="1545590" w="3203702">
                  <a:moveTo>
                    <a:pt x="16891" y="0"/>
                  </a:moveTo>
                  <a:lnTo>
                    <a:pt x="3186811" y="0"/>
                  </a:lnTo>
                  <a:cubicBezTo>
                    <a:pt x="3196209" y="0"/>
                    <a:pt x="3203702" y="7620"/>
                    <a:pt x="3203702" y="16891"/>
                  </a:cubicBezTo>
                  <a:lnTo>
                    <a:pt x="3203702" y="1528699"/>
                  </a:lnTo>
                  <a:cubicBezTo>
                    <a:pt x="3203702" y="1538097"/>
                    <a:pt x="3196082" y="1545590"/>
                    <a:pt x="31868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86811" y="1511808"/>
                  </a:lnTo>
                  <a:lnTo>
                    <a:pt x="3186811" y="1528699"/>
                  </a:lnTo>
                  <a:lnTo>
                    <a:pt x="3169920" y="1528699"/>
                  </a:lnTo>
                  <a:lnTo>
                    <a:pt x="3169920" y="16891"/>
                  </a:lnTo>
                  <a:lnTo>
                    <a:pt x="3186811" y="16891"/>
                  </a:lnTo>
                  <a:lnTo>
                    <a:pt x="3186811" y="33909"/>
                  </a:lnTo>
                  <a:lnTo>
                    <a:pt x="16891" y="33909"/>
                  </a:lnTo>
                  <a:close/>
                </a:path>
              </a:pathLst>
            </a:custGeom>
            <a:solidFill>
              <a:srgbClr val="1A1A1A"/>
            </a:solidFill>
          </p:spPr>
        </p:sp>
      </p:grpSp>
      <p:grpSp>
        <p:nvGrpSpPr>
          <p:cNvPr name="Group 12" id="12"/>
          <p:cNvGrpSpPr/>
          <p:nvPr/>
        </p:nvGrpSpPr>
        <p:grpSpPr>
          <a:xfrm rot="0">
            <a:off x="1463035" y="6173210"/>
            <a:ext cx="2377440" cy="1133856"/>
            <a:chOff x="0" y="0"/>
            <a:chExt cx="3169920" cy="1511808"/>
          </a:xfrm>
        </p:grpSpPr>
        <p:sp>
          <p:nvSpPr>
            <p:cNvPr name="Freeform 13" id="13"/>
            <p:cNvSpPr/>
            <p:nvPr/>
          </p:nvSpPr>
          <p:spPr>
            <a:xfrm flipH="false" flipV="false" rot="0">
              <a:off x="0" y="0"/>
              <a:ext cx="3169920" cy="1511808"/>
            </a:xfrm>
            <a:custGeom>
              <a:avLst/>
              <a:gdLst/>
              <a:ahLst/>
              <a:cxnLst/>
              <a:rect r="r" b="b" t="t" l="l"/>
              <a:pathLst>
                <a:path h="1511808" w="3169920">
                  <a:moveTo>
                    <a:pt x="0" y="0"/>
                  </a:moveTo>
                  <a:lnTo>
                    <a:pt x="3169920" y="0"/>
                  </a:lnTo>
                  <a:lnTo>
                    <a:pt x="3169920" y="1511808"/>
                  </a:lnTo>
                  <a:lnTo>
                    <a:pt x="0" y="1511808"/>
                  </a:lnTo>
                  <a:close/>
                </a:path>
              </a:pathLst>
            </a:custGeom>
            <a:blipFill>
              <a:blip r:embed="rId3">
                <a:alphaModFix amt="0"/>
              </a:blip>
              <a:stretch>
                <a:fillRect l="-11190" t="0" r="-11190" b="0"/>
              </a:stretch>
            </a:blipFill>
          </p:spPr>
        </p:sp>
        <p:sp>
          <p:nvSpPr>
            <p:cNvPr name="TextBox 14" id="14"/>
            <p:cNvSpPr txBox="true"/>
            <p:nvPr/>
          </p:nvSpPr>
          <p:spPr>
            <a:xfrm>
              <a:off x="0" y="-66675"/>
              <a:ext cx="3169920" cy="1578483"/>
            </a:xfrm>
            <a:prstGeom prst="rect">
              <a:avLst/>
            </a:prstGeom>
          </p:spPr>
          <p:txBody>
            <a:bodyPr anchor="ctr" rtlCol="false" tIns="0" lIns="0" bIns="0" rIns="0"/>
            <a:lstStyle/>
            <a:p>
              <a:pPr algn="ctr">
                <a:lnSpc>
                  <a:spcPts val="4320"/>
                </a:lnSpc>
              </a:pPr>
              <a:r>
                <a:rPr lang="en-US" sz="3600" b="true">
                  <a:solidFill>
                    <a:srgbClr val="1A1A1A"/>
                  </a:solidFill>
                  <a:latin typeface="Calibri (MS) Bold"/>
                  <a:ea typeface="Calibri (MS) Bold"/>
                  <a:cs typeface="Calibri (MS) Bold"/>
                  <a:sym typeface="Calibri (MS) Bold"/>
                </a:rPr>
                <a:t>85</a:t>
              </a:r>
            </a:p>
          </p:txBody>
        </p:sp>
      </p:grpSp>
      <p:sp>
        <p:nvSpPr>
          <p:cNvPr name="TextBox 15" id="15"/>
          <p:cNvSpPr txBox="true"/>
          <p:nvPr/>
        </p:nvSpPr>
        <p:spPr>
          <a:xfrm rot="0">
            <a:off x="1841502" y="7405497"/>
            <a:ext cx="2194560" cy="458724"/>
          </a:xfrm>
          <a:prstGeom prst="rect">
            <a:avLst/>
          </a:prstGeom>
        </p:spPr>
        <p:txBody>
          <a:bodyPr anchor="t" rtlCol="false" tIns="0" lIns="0" bIns="0" rIns="0">
            <a:spAutoFit/>
          </a:bodyPr>
          <a:lstStyle/>
          <a:p>
            <a:pPr algn="ctr">
              <a:lnSpc>
                <a:spcPts val="2400"/>
              </a:lnSpc>
            </a:pPr>
            <a:r>
              <a:rPr lang="en-US" sz="2000">
                <a:solidFill>
                  <a:srgbClr val="888888"/>
                </a:solidFill>
                <a:latin typeface="Calibri (MS)"/>
                <a:ea typeface="Calibri (MS)"/>
                <a:cs typeface="Calibri (MS)"/>
                <a:sym typeface="Calibri (MS)"/>
              </a:rPr>
              <a:t>Posición 1</a:t>
            </a:r>
          </a:p>
        </p:txBody>
      </p:sp>
      <p:grpSp>
        <p:nvGrpSpPr>
          <p:cNvPr name="Group 16" id="16"/>
          <p:cNvGrpSpPr/>
          <p:nvPr/>
        </p:nvGrpSpPr>
        <p:grpSpPr>
          <a:xfrm rot="0">
            <a:off x="3827778" y="6160513"/>
            <a:ext cx="2402843" cy="1159259"/>
            <a:chOff x="0" y="0"/>
            <a:chExt cx="3203791" cy="1545679"/>
          </a:xfrm>
        </p:grpSpPr>
        <p:sp>
          <p:nvSpPr>
            <p:cNvPr name="Freeform 17" id="17"/>
            <p:cNvSpPr/>
            <p:nvPr/>
          </p:nvSpPr>
          <p:spPr>
            <a:xfrm flipH="false" flipV="false" rot="0">
              <a:off x="16891" y="16891"/>
              <a:ext cx="3169920" cy="1511808"/>
            </a:xfrm>
            <a:custGeom>
              <a:avLst/>
              <a:gdLst/>
              <a:ahLst/>
              <a:cxnLst/>
              <a:rect r="r" b="b" t="t" l="l"/>
              <a:pathLst>
                <a:path h="1511808" w="3169920">
                  <a:moveTo>
                    <a:pt x="0" y="0"/>
                  </a:moveTo>
                  <a:lnTo>
                    <a:pt x="3169920" y="0"/>
                  </a:lnTo>
                  <a:lnTo>
                    <a:pt x="3169920" y="1511808"/>
                  </a:lnTo>
                  <a:lnTo>
                    <a:pt x="0" y="1511808"/>
                  </a:lnTo>
                  <a:close/>
                </a:path>
              </a:pathLst>
            </a:custGeom>
            <a:solidFill>
              <a:srgbClr val="F5F5F5"/>
            </a:solidFill>
          </p:spPr>
        </p:sp>
        <p:sp>
          <p:nvSpPr>
            <p:cNvPr name="Freeform 18" id="18"/>
            <p:cNvSpPr/>
            <p:nvPr/>
          </p:nvSpPr>
          <p:spPr>
            <a:xfrm flipH="false" flipV="false" rot="0">
              <a:off x="0" y="0"/>
              <a:ext cx="3203702" cy="1545590"/>
            </a:xfrm>
            <a:custGeom>
              <a:avLst/>
              <a:gdLst/>
              <a:ahLst/>
              <a:cxnLst/>
              <a:rect r="r" b="b" t="t" l="l"/>
              <a:pathLst>
                <a:path h="1545590" w="3203702">
                  <a:moveTo>
                    <a:pt x="16891" y="0"/>
                  </a:moveTo>
                  <a:lnTo>
                    <a:pt x="3186811" y="0"/>
                  </a:lnTo>
                  <a:cubicBezTo>
                    <a:pt x="3196209" y="0"/>
                    <a:pt x="3203702" y="7620"/>
                    <a:pt x="3203702" y="16891"/>
                  </a:cubicBezTo>
                  <a:lnTo>
                    <a:pt x="3203702" y="1528699"/>
                  </a:lnTo>
                  <a:cubicBezTo>
                    <a:pt x="3203702" y="1538097"/>
                    <a:pt x="3196082" y="1545590"/>
                    <a:pt x="31868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86811" y="1511808"/>
                  </a:lnTo>
                  <a:lnTo>
                    <a:pt x="3186811" y="1528699"/>
                  </a:lnTo>
                  <a:lnTo>
                    <a:pt x="3169920" y="1528699"/>
                  </a:lnTo>
                  <a:lnTo>
                    <a:pt x="3169920" y="16891"/>
                  </a:lnTo>
                  <a:lnTo>
                    <a:pt x="3186811" y="16891"/>
                  </a:lnTo>
                  <a:lnTo>
                    <a:pt x="3186811" y="33909"/>
                  </a:lnTo>
                  <a:lnTo>
                    <a:pt x="16891" y="33909"/>
                  </a:lnTo>
                  <a:close/>
                </a:path>
              </a:pathLst>
            </a:custGeom>
            <a:solidFill>
              <a:srgbClr val="1A1A1A"/>
            </a:solidFill>
          </p:spPr>
        </p:sp>
      </p:grpSp>
      <p:grpSp>
        <p:nvGrpSpPr>
          <p:cNvPr name="Group 19" id="19"/>
          <p:cNvGrpSpPr/>
          <p:nvPr/>
        </p:nvGrpSpPr>
        <p:grpSpPr>
          <a:xfrm rot="0">
            <a:off x="3840475" y="6173210"/>
            <a:ext cx="2377440" cy="1133856"/>
            <a:chOff x="0" y="0"/>
            <a:chExt cx="3169920" cy="1511808"/>
          </a:xfrm>
        </p:grpSpPr>
        <p:sp>
          <p:nvSpPr>
            <p:cNvPr name="Freeform 20" id="20"/>
            <p:cNvSpPr/>
            <p:nvPr/>
          </p:nvSpPr>
          <p:spPr>
            <a:xfrm flipH="false" flipV="false" rot="0">
              <a:off x="0" y="0"/>
              <a:ext cx="3169920" cy="1511808"/>
            </a:xfrm>
            <a:custGeom>
              <a:avLst/>
              <a:gdLst/>
              <a:ahLst/>
              <a:cxnLst/>
              <a:rect r="r" b="b" t="t" l="l"/>
              <a:pathLst>
                <a:path h="1511808" w="3169920">
                  <a:moveTo>
                    <a:pt x="0" y="0"/>
                  </a:moveTo>
                  <a:lnTo>
                    <a:pt x="3169920" y="0"/>
                  </a:lnTo>
                  <a:lnTo>
                    <a:pt x="3169920" y="1511808"/>
                  </a:lnTo>
                  <a:lnTo>
                    <a:pt x="0" y="1511808"/>
                  </a:lnTo>
                  <a:close/>
                </a:path>
              </a:pathLst>
            </a:custGeom>
            <a:blipFill>
              <a:blip r:embed="rId3">
                <a:alphaModFix amt="0"/>
              </a:blip>
              <a:stretch>
                <a:fillRect l="-11190" t="0" r="-11190" b="0"/>
              </a:stretch>
            </a:blipFill>
          </p:spPr>
        </p:sp>
        <p:sp>
          <p:nvSpPr>
            <p:cNvPr name="TextBox 21" id="21"/>
            <p:cNvSpPr txBox="true"/>
            <p:nvPr/>
          </p:nvSpPr>
          <p:spPr>
            <a:xfrm>
              <a:off x="0" y="-66675"/>
              <a:ext cx="3169920" cy="1578483"/>
            </a:xfrm>
            <a:prstGeom prst="rect">
              <a:avLst/>
            </a:prstGeom>
          </p:spPr>
          <p:txBody>
            <a:bodyPr anchor="ctr" rtlCol="false" tIns="0" lIns="0" bIns="0" rIns="0"/>
            <a:lstStyle/>
            <a:p>
              <a:pPr algn="ctr">
                <a:lnSpc>
                  <a:spcPts val="4320"/>
                </a:lnSpc>
              </a:pPr>
              <a:r>
                <a:rPr lang="en-US" sz="3600" b="true">
                  <a:solidFill>
                    <a:srgbClr val="1A1A1A"/>
                  </a:solidFill>
                  <a:latin typeface="Calibri (MS) Bold"/>
                  <a:ea typeface="Calibri (MS) Bold"/>
                  <a:cs typeface="Calibri (MS) Bold"/>
                  <a:sym typeface="Calibri (MS) Bold"/>
                </a:rPr>
                <a:t>72</a:t>
              </a:r>
            </a:p>
          </p:txBody>
        </p:sp>
      </p:grpSp>
      <p:sp>
        <p:nvSpPr>
          <p:cNvPr name="TextBox 22" id="22"/>
          <p:cNvSpPr txBox="true"/>
          <p:nvPr/>
        </p:nvSpPr>
        <p:spPr>
          <a:xfrm rot="0">
            <a:off x="4218942" y="7405497"/>
            <a:ext cx="2194560" cy="458724"/>
          </a:xfrm>
          <a:prstGeom prst="rect">
            <a:avLst/>
          </a:prstGeom>
        </p:spPr>
        <p:txBody>
          <a:bodyPr anchor="t" rtlCol="false" tIns="0" lIns="0" bIns="0" rIns="0">
            <a:spAutoFit/>
          </a:bodyPr>
          <a:lstStyle/>
          <a:p>
            <a:pPr algn="ctr">
              <a:lnSpc>
                <a:spcPts val="2400"/>
              </a:lnSpc>
            </a:pPr>
            <a:r>
              <a:rPr lang="en-US" sz="2000">
                <a:solidFill>
                  <a:srgbClr val="888888"/>
                </a:solidFill>
                <a:latin typeface="Calibri (MS)"/>
                <a:ea typeface="Calibri (MS)"/>
                <a:cs typeface="Calibri (MS)"/>
                <a:sym typeface="Calibri (MS)"/>
              </a:rPr>
              <a:t>Posición 2</a:t>
            </a:r>
          </a:p>
        </p:txBody>
      </p:sp>
      <p:grpSp>
        <p:nvGrpSpPr>
          <p:cNvPr name="Group 23" id="23"/>
          <p:cNvGrpSpPr/>
          <p:nvPr/>
        </p:nvGrpSpPr>
        <p:grpSpPr>
          <a:xfrm rot="0">
            <a:off x="6205218" y="6160513"/>
            <a:ext cx="2402843" cy="1159259"/>
            <a:chOff x="0" y="0"/>
            <a:chExt cx="3203791" cy="1545679"/>
          </a:xfrm>
        </p:grpSpPr>
        <p:sp>
          <p:nvSpPr>
            <p:cNvPr name="Freeform 24" id="24"/>
            <p:cNvSpPr/>
            <p:nvPr/>
          </p:nvSpPr>
          <p:spPr>
            <a:xfrm flipH="false" flipV="false" rot="0">
              <a:off x="16891" y="16891"/>
              <a:ext cx="3169920" cy="1511808"/>
            </a:xfrm>
            <a:custGeom>
              <a:avLst/>
              <a:gdLst/>
              <a:ahLst/>
              <a:cxnLst/>
              <a:rect r="r" b="b" t="t" l="l"/>
              <a:pathLst>
                <a:path h="1511808" w="3169920">
                  <a:moveTo>
                    <a:pt x="0" y="0"/>
                  </a:moveTo>
                  <a:lnTo>
                    <a:pt x="3169920" y="0"/>
                  </a:lnTo>
                  <a:lnTo>
                    <a:pt x="3169920" y="1511808"/>
                  </a:lnTo>
                  <a:lnTo>
                    <a:pt x="0" y="1511808"/>
                  </a:lnTo>
                  <a:close/>
                </a:path>
              </a:pathLst>
            </a:custGeom>
            <a:solidFill>
              <a:srgbClr val="F5F5F5"/>
            </a:solidFill>
          </p:spPr>
        </p:sp>
        <p:sp>
          <p:nvSpPr>
            <p:cNvPr name="Freeform 25" id="25"/>
            <p:cNvSpPr/>
            <p:nvPr/>
          </p:nvSpPr>
          <p:spPr>
            <a:xfrm flipH="false" flipV="false" rot="0">
              <a:off x="0" y="0"/>
              <a:ext cx="3203702" cy="1545590"/>
            </a:xfrm>
            <a:custGeom>
              <a:avLst/>
              <a:gdLst/>
              <a:ahLst/>
              <a:cxnLst/>
              <a:rect r="r" b="b" t="t" l="l"/>
              <a:pathLst>
                <a:path h="1545590" w="3203702">
                  <a:moveTo>
                    <a:pt x="16891" y="0"/>
                  </a:moveTo>
                  <a:lnTo>
                    <a:pt x="3186811" y="0"/>
                  </a:lnTo>
                  <a:cubicBezTo>
                    <a:pt x="3196209" y="0"/>
                    <a:pt x="3203702" y="7620"/>
                    <a:pt x="3203702" y="16891"/>
                  </a:cubicBezTo>
                  <a:lnTo>
                    <a:pt x="3203702" y="1528699"/>
                  </a:lnTo>
                  <a:cubicBezTo>
                    <a:pt x="3203702" y="1538097"/>
                    <a:pt x="3196082" y="1545590"/>
                    <a:pt x="31868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86811" y="1511808"/>
                  </a:lnTo>
                  <a:lnTo>
                    <a:pt x="3186811" y="1528699"/>
                  </a:lnTo>
                  <a:lnTo>
                    <a:pt x="3169920" y="1528699"/>
                  </a:lnTo>
                  <a:lnTo>
                    <a:pt x="3169920" y="16891"/>
                  </a:lnTo>
                  <a:lnTo>
                    <a:pt x="3186811" y="16891"/>
                  </a:lnTo>
                  <a:lnTo>
                    <a:pt x="3186811" y="33909"/>
                  </a:lnTo>
                  <a:lnTo>
                    <a:pt x="16891" y="33909"/>
                  </a:lnTo>
                  <a:close/>
                </a:path>
              </a:pathLst>
            </a:custGeom>
            <a:solidFill>
              <a:srgbClr val="1A1A1A"/>
            </a:solidFill>
          </p:spPr>
        </p:sp>
      </p:grpSp>
      <p:grpSp>
        <p:nvGrpSpPr>
          <p:cNvPr name="Group 26" id="26"/>
          <p:cNvGrpSpPr/>
          <p:nvPr/>
        </p:nvGrpSpPr>
        <p:grpSpPr>
          <a:xfrm rot="0">
            <a:off x="6217915" y="6173210"/>
            <a:ext cx="2377440" cy="1133856"/>
            <a:chOff x="0" y="0"/>
            <a:chExt cx="3169920" cy="1511808"/>
          </a:xfrm>
        </p:grpSpPr>
        <p:sp>
          <p:nvSpPr>
            <p:cNvPr name="Freeform 27" id="27"/>
            <p:cNvSpPr/>
            <p:nvPr/>
          </p:nvSpPr>
          <p:spPr>
            <a:xfrm flipH="false" flipV="false" rot="0">
              <a:off x="0" y="0"/>
              <a:ext cx="3169920" cy="1511808"/>
            </a:xfrm>
            <a:custGeom>
              <a:avLst/>
              <a:gdLst/>
              <a:ahLst/>
              <a:cxnLst/>
              <a:rect r="r" b="b" t="t" l="l"/>
              <a:pathLst>
                <a:path h="1511808" w="3169920">
                  <a:moveTo>
                    <a:pt x="0" y="0"/>
                  </a:moveTo>
                  <a:lnTo>
                    <a:pt x="3169920" y="0"/>
                  </a:lnTo>
                  <a:lnTo>
                    <a:pt x="3169920" y="1511808"/>
                  </a:lnTo>
                  <a:lnTo>
                    <a:pt x="0" y="1511808"/>
                  </a:lnTo>
                  <a:close/>
                </a:path>
              </a:pathLst>
            </a:custGeom>
            <a:blipFill>
              <a:blip r:embed="rId3">
                <a:alphaModFix amt="0"/>
              </a:blip>
              <a:stretch>
                <a:fillRect l="-11190" t="0" r="-11190" b="0"/>
              </a:stretch>
            </a:blipFill>
          </p:spPr>
        </p:sp>
        <p:sp>
          <p:nvSpPr>
            <p:cNvPr name="TextBox 28" id="28"/>
            <p:cNvSpPr txBox="true"/>
            <p:nvPr/>
          </p:nvSpPr>
          <p:spPr>
            <a:xfrm>
              <a:off x="0" y="-66675"/>
              <a:ext cx="3169920" cy="1578483"/>
            </a:xfrm>
            <a:prstGeom prst="rect">
              <a:avLst/>
            </a:prstGeom>
          </p:spPr>
          <p:txBody>
            <a:bodyPr anchor="ctr" rtlCol="false" tIns="0" lIns="0" bIns="0" rIns="0"/>
            <a:lstStyle/>
            <a:p>
              <a:pPr algn="ctr">
                <a:lnSpc>
                  <a:spcPts val="4320"/>
                </a:lnSpc>
              </a:pPr>
              <a:r>
                <a:rPr lang="en-US" sz="3600" b="true">
                  <a:solidFill>
                    <a:srgbClr val="1A1A1A"/>
                  </a:solidFill>
                  <a:latin typeface="Calibri (MS) Bold"/>
                  <a:ea typeface="Calibri (MS) Bold"/>
                  <a:cs typeface="Calibri (MS) Bold"/>
                  <a:sym typeface="Calibri (MS) Bold"/>
                </a:rPr>
                <a:t>91</a:t>
              </a:r>
            </a:p>
          </p:txBody>
        </p:sp>
      </p:grpSp>
      <p:sp>
        <p:nvSpPr>
          <p:cNvPr name="TextBox 29" id="29"/>
          <p:cNvSpPr txBox="true"/>
          <p:nvPr/>
        </p:nvSpPr>
        <p:spPr>
          <a:xfrm rot="0">
            <a:off x="6596382" y="7405497"/>
            <a:ext cx="2194560" cy="458724"/>
          </a:xfrm>
          <a:prstGeom prst="rect">
            <a:avLst/>
          </a:prstGeom>
        </p:spPr>
        <p:txBody>
          <a:bodyPr anchor="t" rtlCol="false" tIns="0" lIns="0" bIns="0" rIns="0">
            <a:spAutoFit/>
          </a:bodyPr>
          <a:lstStyle/>
          <a:p>
            <a:pPr algn="ctr">
              <a:lnSpc>
                <a:spcPts val="2400"/>
              </a:lnSpc>
            </a:pPr>
            <a:r>
              <a:rPr lang="en-US" sz="2000">
                <a:solidFill>
                  <a:srgbClr val="888888"/>
                </a:solidFill>
                <a:latin typeface="Calibri (MS)"/>
                <a:ea typeface="Calibri (MS)"/>
                <a:cs typeface="Calibri (MS)"/>
                <a:sym typeface="Calibri (MS)"/>
              </a:rPr>
              <a:t>Posición 3</a:t>
            </a:r>
          </a:p>
        </p:txBody>
      </p:sp>
      <p:grpSp>
        <p:nvGrpSpPr>
          <p:cNvPr name="Group 30" id="30"/>
          <p:cNvGrpSpPr/>
          <p:nvPr/>
        </p:nvGrpSpPr>
        <p:grpSpPr>
          <a:xfrm rot="0">
            <a:off x="8582658" y="6160513"/>
            <a:ext cx="2402843" cy="1159259"/>
            <a:chOff x="0" y="0"/>
            <a:chExt cx="3203791" cy="1545679"/>
          </a:xfrm>
        </p:grpSpPr>
        <p:sp>
          <p:nvSpPr>
            <p:cNvPr name="Freeform 31" id="31"/>
            <p:cNvSpPr/>
            <p:nvPr/>
          </p:nvSpPr>
          <p:spPr>
            <a:xfrm flipH="false" flipV="false" rot="0">
              <a:off x="16891" y="16891"/>
              <a:ext cx="3169920" cy="1511808"/>
            </a:xfrm>
            <a:custGeom>
              <a:avLst/>
              <a:gdLst/>
              <a:ahLst/>
              <a:cxnLst/>
              <a:rect r="r" b="b" t="t" l="l"/>
              <a:pathLst>
                <a:path h="1511808" w="3169920">
                  <a:moveTo>
                    <a:pt x="0" y="0"/>
                  </a:moveTo>
                  <a:lnTo>
                    <a:pt x="3169920" y="0"/>
                  </a:lnTo>
                  <a:lnTo>
                    <a:pt x="3169920" y="1511808"/>
                  </a:lnTo>
                  <a:lnTo>
                    <a:pt x="0" y="1511808"/>
                  </a:lnTo>
                  <a:close/>
                </a:path>
              </a:pathLst>
            </a:custGeom>
            <a:solidFill>
              <a:srgbClr val="F5F5F5"/>
            </a:solidFill>
          </p:spPr>
        </p:sp>
        <p:sp>
          <p:nvSpPr>
            <p:cNvPr name="Freeform 32" id="32"/>
            <p:cNvSpPr/>
            <p:nvPr/>
          </p:nvSpPr>
          <p:spPr>
            <a:xfrm flipH="false" flipV="false" rot="0">
              <a:off x="0" y="0"/>
              <a:ext cx="3203702" cy="1545590"/>
            </a:xfrm>
            <a:custGeom>
              <a:avLst/>
              <a:gdLst/>
              <a:ahLst/>
              <a:cxnLst/>
              <a:rect r="r" b="b" t="t" l="l"/>
              <a:pathLst>
                <a:path h="1545590" w="3203702">
                  <a:moveTo>
                    <a:pt x="16891" y="0"/>
                  </a:moveTo>
                  <a:lnTo>
                    <a:pt x="3186811" y="0"/>
                  </a:lnTo>
                  <a:cubicBezTo>
                    <a:pt x="3196209" y="0"/>
                    <a:pt x="3203702" y="7620"/>
                    <a:pt x="3203702" y="16891"/>
                  </a:cubicBezTo>
                  <a:lnTo>
                    <a:pt x="3203702" y="1528699"/>
                  </a:lnTo>
                  <a:cubicBezTo>
                    <a:pt x="3203702" y="1538097"/>
                    <a:pt x="3196082" y="1545590"/>
                    <a:pt x="31868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86811" y="1511808"/>
                  </a:lnTo>
                  <a:lnTo>
                    <a:pt x="3186811" y="1528699"/>
                  </a:lnTo>
                  <a:lnTo>
                    <a:pt x="3169920" y="1528699"/>
                  </a:lnTo>
                  <a:lnTo>
                    <a:pt x="3169920" y="16891"/>
                  </a:lnTo>
                  <a:lnTo>
                    <a:pt x="3186811" y="16891"/>
                  </a:lnTo>
                  <a:lnTo>
                    <a:pt x="3186811" y="33909"/>
                  </a:lnTo>
                  <a:lnTo>
                    <a:pt x="16891" y="33909"/>
                  </a:lnTo>
                  <a:close/>
                </a:path>
              </a:pathLst>
            </a:custGeom>
            <a:solidFill>
              <a:srgbClr val="1A1A1A"/>
            </a:solidFill>
          </p:spPr>
        </p:sp>
      </p:grpSp>
      <p:grpSp>
        <p:nvGrpSpPr>
          <p:cNvPr name="Group 33" id="33"/>
          <p:cNvGrpSpPr/>
          <p:nvPr/>
        </p:nvGrpSpPr>
        <p:grpSpPr>
          <a:xfrm rot="0">
            <a:off x="8595355" y="6173210"/>
            <a:ext cx="2377440" cy="1133856"/>
            <a:chOff x="0" y="0"/>
            <a:chExt cx="3169920" cy="1511808"/>
          </a:xfrm>
        </p:grpSpPr>
        <p:sp>
          <p:nvSpPr>
            <p:cNvPr name="Freeform 34" id="34"/>
            <p:cNvSpPr/>
            <p:nvPr/>
          </p:nvSpPr>
          <p:spPr>
            <a:xfrm flipH="false" flipV="false" rot="0">
              <a:off x="0" y="0"/>
              <a:ext cx="3169920" cy="1511808"/>
            </a:xfrm>
            <a:custGeom>
              <a:avLst/>
              <a:gdLst/>
              <a:ahLst/>
              <a:cxnLst/>
              <a:rect r="r" b="b" t="t" l="l"/>
              <a:pathLst>
                <a:path h="1511808" w="3169920">
                  <a:moveTo>
                    <a:pt x="0" y="0"/>
                  </a:moveTo>
                  <a:lnTo>
                    <a:pt x="3169920" y="0"/>
                  </a:lnTo>
                  <a:lnTo>
                    <a:pt x="3169920" y="1511808"/>
                  </a:lnTo>
                  <a:lnTo>
                    <a:pt x="0" y="1511808"/>
                  </a:lnTo>
                  <a:close/>
                </a:path>
              </a:pathLst>
            </a:custGeom>
            <a:blipFill>
              <a:blip r:embed="rId3">
                <a:alphaModFix amt="0"/>
              </a:blip>
              <a:stretch>
                <a:fillRect l="-11190" t="0" r="-11190" b="0"/>
              </a:stretch>
            </a:blipFill>
          </p:spPr>
        </p:sp>
        <p:sp>
          <p:nvSpPr>
            <p:cNvPr name="TextBox 35" id="35"/>
            <p:cNvSpPr txBox="true"/>
            <p:nvPr/>
          </p:nvSpPr>
          <p:spPr>
            <a:xfrm>
              <a:off x="0" y="-66675"/>
              <a:ext cx="3169920" cy="1578483"/>
            </a:xfrm>
            <a:prstGeom prst="rect">
              <a:avLst/>
            </a:prstGeom>
          </p:spPr>
          <p:txBody>
            <a:bodyPr anchor="ctr" rtlCol="false" tIns="0" lIns="0" bIns="0" rIns="0"/>
            <a:lstStyle/>
            <a:p>
              <a:pPr algn="ctr">
                <a:lnSpc>
                  <a:spcPts val="4320"/>
                </a:lnSpc>
              </a:pPr>
              <a:r>
                <a:rPr lang="en-US" sz="3600" b="true">
                  <a:solidFill>
                    <a:srgbClr val="1A1A1A"/>
                  </a:solidFill>
                  <a:latin typeface="Calibri (MS) Bold"/>
                  <a:ea typeface="Calibri (MS) Bold"/>
                  <a:cs typeface="Calibri (MS) Bold"/>
                  <a:sym typeface="Calibri (MS) Bold"/>
                </a:rPr>
                <a:t>68</a:t>
              </a:r>
            </a:p>
          </p:txBody>
        </p:sp>
      </p:grpSp>
      <p:sp>
        <p:nvSpPr>
          <p:cNvPr name="TextBox 36" id="36"/>
          <p:cNvSpPr txBox="true"/>
          <p:nvPr/>
        </p:nvSpPr>
        <p:spPr>
          <a:xfrm rot="0">
            <a:off x="8973822" y="7405497"/>
            <a:ext cx="2194560" cy="458724"/>
          </a:xfrm>
          <a:prstGeom prst="rect">
            <a:avLst/>
          </a:prstGeom>
        </p:spPr>
        <p:txBody>
          <a:bodyPr anchor="t" rtlCol="false" tIns="0" lIns="0" bIns="0" rIns="0">
            <a:spAutoFit/>
          </a:bodyPr>
          <a:lstStyle/>
          <a:p>
            <a:pPr algn="ctr">
              <a:lnSpc>
                <a:spcPts val="2400"/>
              </a:lnSpc>
            </a:pPr>
            <a:r>
              <a:rPr lang="en-US" sz="2000">
                <a:solidFill>
                  <a:srgbClr val="888888"/>
                </a:solidFill>
                <a:latin typeface="Calibri (MS)"/>
                <a:ea typeface="Calibri (MS)"/>
                <a:cs typeface="Calibri (MS)"/>
                <a:sym typeface="Calibri (MS)"/>
              </a:rPr>
              <a:t>Posición 4</a:t>
            </a:r>
          </a:p>
        </p:txBody>
      </p:sp>
      <p:grpSp>
        <p:nvGrpSpPr>
          <p:cNvPr name="Group 37" id="37"/>
          <p:cNvGrpSpPr/>
          <p:nvPr/>
        </p:nvGrpSpPr>
        <p:grpSpPr>
          <a:xfrm rot="0">
            <a:off x="10960098" y="6160513"/>
            <a:ext cx="2402843" cy="1159259"/>
            <a:chOff x="0" y="0"/>
            <a:chExt cx="3203791" cy="1545679"/>
          </a:xfrm>
        </p:grpSpPr>
        <p:sp>
          <p:nvSpPr>
            <p:cNvPr name="Freeform 38" id="38"/>
            <p:cNvSpPr/>
            <p:nvPr/>
          </p:nvSpPr>
          <p:spPr>
            <a:xfrm flipH="false" flipV="false" rot="0">
              <a:off x="16891" y="16891"/>
              <a:ext cx="3169920" cy="1511808"/>
            </a:xfrm>
            <a:custGeom>
              <a:avLst/>
              <a:gdLst/>
              <a:ahLst/>
              <a:cxnLst/>
              <a:rect r="r" b="b" t="t" l="l"/>
              <a:pathLst>
                <a:path h="1511808" w="3169920">
                  <a:moveTo>
                    <a:pt x="0" y="0"/>
                  </a:moveTo>
                  <a:lnTo>
                    <a:pt x="3169920" y="0"/>
                  </a:lnTo>
                  <a:lnTo>
                    <a:pt x="3169920" y="1511808"/>
                  </a:lnTo>
                  <a:lnTo>
                    <a:pt x="0" y="1511808"/>
                  </a:lnTo>
                  <a:close/>
                </a:path>
              </a:pathLst>
            </a:custGeom>
            <a:solidFill>
              <a:srgbClr val="F5F5F5"/>
            </a:solidFill>
          </p:spPr>
        </p:sp>
        <p:sp>
          <p:nvSpPr>
            <p:cNvPr name="Freeform 39" id="39"/>
            <p:cNvSpPr/>
            <p:nvPr/>
          </p:nvSpPr>
          <p:spPr>
            <a:xfrm flipH="false" flipV="false" rot="0">
              <a:off x="0" y="0"/>
              <a:ext cx="3203702" cy="1545590"/>
            </a:xfrm>
            <a:custGeom>
              <a:avLst/>
              <a:gdLst/>
              <a:ahLst/>
              <a:cxnLst/>
              <a:rect r="r" b="b" t="t" l="l"/>
              <a:pathLst>
                <a:path h="1545590" w="3203702">
                  <a:moveTo>
                    <a:pt x="16891" y="0"/>
                  </a:moveTo>
                  <a:lnTo>
                    <a:pt x="3186811" y="0"/>
                  </a:lnTo>
                  <a:cubicBezTo>
                    <a:pt x="3196209" y="0"/>
                    <a:pt x="3203702" y="7620"/>
                    <a:pt x="3203702" y="16891"/>
                  </a:cubicBezTo>
                  <a:lnTo>
                    <a:pt x="3203702" y="1528699"/>
                  </a:lnTo>
                  <a:cubicBezTo>
                    <a:pt x="3203702" y="1538097"/>
                    <a:pt x="3196082" y="1545590"/>
                    <a:pt x="31868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86811" y="1511808"/>
                  </a:lnTo>
                  <a:lnTo>
                    <a:pt x="3186811" y="1528699"/>
                  </a:lnTo>
                  <a:lnTo>
                    <a:pt x="3169920" y="1528699"/>
                  </a:lnTo>
                  <a:lnTo>
                    <a:pt x="3169920" y="16891"/>
                  </a:lnTo>
                  <a:lnTo>
                    <a:pt x="3186811" y="16891"/>
                  </a:lnTo>
                  <a:lnTo>
                    <a:pt x="3186811" y="33909"/>
                  </a:lnTo>
                  <a:lnTo>
                    <a:pt x="16891" y="33909"/>
                  </a:lnTo>
                  <a:close/>
                </a:path>
              </a:pathLst>
            </a:custGeom>
            <a:solidFill>
              <a:srgbClr val="1A1A1A"/>
            </a:solidFill>
          </p:spPr>
        </p:sp>
      </p:grpSp>
      <p:grpSp>
        <p:nvGrpSpPr>
          <p:cNvPr name="Group 40" id="40"/>
          <p:cNvGrpSpPr/>
          <p:nvPr/>
        </p:nvGrpSpPr>
        <p:grpSpPr>
          <a:xfrm rot="0">
            <a:off x="10972795" y="6173210"/>
            <a:ext cx="2377440" cy="1133856"/>
            <a:chOff x="0" y="0"/>
            <a:chExt cx="3169920" cy="1511808"/>
          </a:xfrm>
        </p:grpSpPr>
        <p:sp>
          <p:nvSpPr>
            <p:cNvPr name="Freeform 41" id="41"/>
            <p:cNvSpPr/>
            <p:nvPr/>
          </p:nvSpPr>
          <p:spPr>
            <a:xfrm flipH="false" flipV="false" rot="0">
              <a:off x="0" y="0"/>
              <a:ext cx="3169920" cy="1511808"/>
            </a:xfrm>
            <a:custGeom>
              <a:avLst/>
              <a:gdLst/>
              <a:ahLst/>
              <a:cxnLst/>
              <a:rect r="r" b="b" t="t" l="l"/>
              <a:pathLst>
                <a:path h="1511808" w="3169920">
                  <a:moveTo>
                    <a:pt x="0" y="0"/>
                  </a:moveTo>
                  <a:lnTo>
                    <a:pt x="3169920" y="0"/>
                  </a:lnTo>
                  <a:lnTo>
                    <a:pt x="3169920" y="1511808"/>
                  </a:lnTo>
                  <a:lnTo>
                    <a:pt x="0" y="1511808"/>
                  </a:lnTo>
                  <a:close/>
                </a:path>
              </a:pathLst>
            </a:custGeom>
            <a:blipFill>
              <a:blip r:embed="rId3">
                <a:alphaModFix amt="0"/>
              </a:blip>
              <a:stretch>
                <a:fillRect l="-11190" t="0" r="-11190" b="0"/>
              </a:stretch>
            </a:blipFill>
          </p:spPr>
        </p:sp>
        <p:sp>
          <p:nvSpPr>
            <p:cNvPr name="TextBox 42" id="42"/>
            <p:cNvSpPr txBox="true"/>
            <p:nvPr/>
          </p:nvSpPr>
          <p:spPr>
            <a:xfrm>
              <a:off x="0" y="-66675"/>
              <a:ext cx="3169920" cy="1578483"/>
            </a:xfrm>
            <a:prstGeom prst="rect">
              <a:avLst/>
            </a:prstGeom>
          </p:spPr>
          <p:txBody>
            <a:bodyPr anchor="ctr" rtlCol="false" tIns="0" lIns="0" bIns="0" rIns="0"/>
            <a:lstStyle/>
            <a:p>
              <a:pPr algn="ctr">
                <a:lnSpc>
                  <a:spcPts val="4320"/>
                </a:lnSpc>
              </a:pPr>
              <a:r>
                <a:rPr lang="en-US" sz="3600" b="true">
                  <a:solidFill>
                    <a:srgbClr val="1A1A1A"/>
                  </a:solidFill>
                  <a:latin typeface="Calibri (MS) Bold"/>
                  <a:ea typeface="Calibri (MS) Bold"/>
                  <a:cs typeface="Calibri (MS) Bold"/>
                  <a:sym typeface="Calibri (MS) Bold"/>
                </a:rPr>
                <a:t>79</a:t>
              </a:r>
            </a:p>
          </p:txBody>
        </p:sp>
      </p:grpSp>
      <p:sp>
        <p:nvSpPr>
          <p:cNvPr name="TextBox 43" id="43"/>
          <p:cNvSpPr txBox="true"/>
          <p:nvPr/>
        </p:nvSpPr>
        <p:spPr>
          <a:xfrm rot="0">
            <a:off x="11351262" y="7405497"/>
            <a:ext cx="2194560" cy="458724"/>
          </a:xfrm>
          <a:prstGeom prst="rect">
            <a:avLst/>
          </a:prstGeom>
        </p:spPr>
        <p:txBody>
          <a:bodyPr anchor="t" rtlCol="false" tIns="0" lIns="0" bIns="0" rIns="0">
            <a:spAutoFit/>
          </a:bodyPr>
          <a:lstStyle/>
          <a:p>
            <a:pPr algn="ctr">
              <a:lnSpc>
                <a:spcPts val="2400"/>
              </a:lnSpc>
            </a:pPr>
            <a:r>
              <a:rPr lang="en-US" sz="2000">
                <a:solidFill>
                  <a:srgbClr val="888888"/>
                </a:solidFill>
                <a:latin typeface="Calibri (MS)"/>
                <a:ea typeface="Calibri (MS)"/>
                <a:cs typeface="Calibri (MS)"/>
                <a:sym typeface="Calibri (MS)"/>
              </a:rPr>
              <a:t>Posición 5</a:t>
            </a:r>
          </a:p>
        </p:txBody>
      </p:sp>
      <p:grpSp>
        <p:nvGrpSpPr>
          <p:cNvPr name="Group 44" id="44"/>
          <p:cNvGrpSpPr/>
          <p:nvPr/>
        </p:nvGrpSpPr>
        <p:grpSpPr>
          <a:xfrm rot="0">
            <a:off x="13337538" y="6160513"/>
            <a:ext cx="2402843" cy="1159259"/>
            <a:chOff x="0" y="0"/>
            <a:chExt cx="3203791" cy="1545679"/>
          </a:xfrm>
        </p:grpSpPr>
        <p:sp>
          <p:nvSpPr>
            <p:cNvPr name="Freeform 45" id="45"/>
            <p:cNvSpPr/>
            <p:nvPr/>
          </p:nvSpPr>
          <p:spPr>
            <a:xfrm flipH="false" flipV="false" rot="0">
              <a:off x="16891" y="16891"/>
              <a:ext cx="3169920" cy="1511808"/>
            </a:xfrm>
            <a:custGeom>
              <a:avLst/>
              <a:gdLst/>
              <a:ahLst/>
              <a:cxnLst/>
              <a:rect r="r" b="b" t="t" l="l"/>
              <a:pathLst>
                <a:path h="1511808" w="3169920">
                  <a:moveTo>
                    <a:pt x="0" y="0"/>
                  </a:moveTo>
                  <a:lnTo>
                    <a:pt x="3169920" y="0"/>
                  </a:lnTo>
                  <a:lnTo>
                    <a:pt x="3169920" y="1511808"/>
                  </a:lnTo>
                  <a:lnTo>
                    <a:pt x="0" y="1511808"/>
                  </a:lnTo>
                  <a:close/>
                </a:path>
              </a:pathLst>
            </a:custGeom>
            <a:solidFill>
              <a:srgbClr val="F5F5F5"/>
            </a:solidFill>
          </p:spPr>
        </p:sp>
        <p:sp>
          <p:nvSpPr>
            <p:cNvPr name="Freeform 46" id="46"/>
            <p:cNvSpPr/>
            <p:nvPr/>
          </p:nvSpPr>
          <p:spPr>
            <a:xfrm flipH="false" flipV="false" rot="0">
              <a:off x="0" y="0"/>
              <a:ext cx="3203702" cy="1545590"/>
            </a:xfrm>
            <a:custGeom>
              <a:avLst/>
              <a:gdLst/>
              <a:ahLst/>
              <a:cxnLst/>
              <a:rect r="r" b="b" t="t" l="l"/>
              <a:pathLst>
                <a:path h="1545590" w="3203702">
                  <a:moveTo>
                    <a:pt x="16891" y="0"/>
                  </a:moveTo>
                  <a:lnTo>
                    <a:pt x="3186811" y="0"/>
                  </a:lnTo>
                  <a:cubicBezTo>
                    <a:pt x="3196209" y="0"/>
                    <a:pt x="3203702" y="7620"/>
                    <a:pt x="3203702" y="16891"/>
                  </a:cubicBezTo>
                  <a:lnTo>
                    <a:pt x="3203702" y="1528699"/>
                  </a:lnTo>
                  <a:cubicBezTo>
                    <a:pt x="3203702" y="1538097"/>
                    <a:pt x="3196082" y="1545590"/>
                    <a:pt x="31868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3186811" y="1511808"/>
                  </a:lnTo>
                  <a:lnTo>
                    <a:pt x="3186811" y="1528699"/>
                  </a:lnTo>
                  <a:lnTo>
                    <a:pt x="3169920" y="1528699"/>
                  </a:lnTo>
                  <a:lnTo>
                    <a:pt x="3169920" y="16891"/>
                  </a:lnTo>
                  <a:lnTo>
                    <a:pt x="3186811" y="16891"/>
                  </a:lnTo>
                  <a:lnTo>
                    <a:pt x="3186811" y="33909"/>
                  </a:lnTo>
                  <a:lnTo>
                    <a:pt x="16891" y="33909"/>
                  </a:lnTo>
                  <a:close/>
                </a:path>
              </a:pathLst>
            </a:custGeom>
            <a:solidFill>
              <a:srgbClr val="1A1A1A"/>
            </a:solidFill>
          </p:spPr>
        </p:sp>
      </p:grpSp>
      <p:grpSp>
        <p:nvGrpSpPr>
          <p:cNvPr name="Group 47" id="47"/>
          <p:cNvGrpSpPr/>
          <p:nvPr/>
        </p:nvGrpSpPr>
        <p:grpSpPr>
          <a:xfrm rot="0">
            <a:off x="13350235" y="6173210"/>
            <a:ext cx="2377440" cy="1133856"/>
            <a:chOff x="0" y="0"/>
            <a:chExt cx="3169920" cy="1511808"/>
          </a:xfrm>
        </p:grpSpPr>
        <p:sp>
          <p:nvSpPr>
            <p:cNvPr name="Freeform 48" id="48"/>
            <p:cNvSpPr/>
            <p:nvPr/>
          </p:nvSpPr>
          <p:spPr>
            <a:xfrm flipH="false" flipV="false" rot="0">
              <a:off x="0" y="0"/>
              <a:ext cx="3169920" cy="1511808"/>
            </a:xfrm>
            <a:custGeom>
              <a:avLst/>
              <a:gdLst/>
              <a:ahLst/>
              <a:cxnLst/>
              <a:rect r="r" b="b" t="t" l="l"/>
              <a:pathLst>
                <a:path h="1511808" w="3169920">
                  <a:moveTo>
                    <a:pt x="0" y="0"/>
                  </a:moveTo>
                  <a:lnTo>
                    <a:pt x="3169920" y="0"/>
                  </a:lnTo>
                  <a:lnTo>
                    <a:pt x="3169920" y="1511808"/>
                  </a:lnTo>
                  <a:lnTo>
                    <a:pt x="0" y="1511808"/>
                  </a:lnTo>
                  <a:close/>
                </a:path>
              </a:pathLst>
            </a:custGeom>
            <a:blipFill>
              <a:blip r:embed="rId3">
                <a:alphaModFix amt="0"/>
              </a:blip>
              <a:stretch>
                <a:fillRect l="-11190" t="0" r="-11190" b="0"/>
              </a:stretch>
            </a:blipFill>
          </p:spPr>
        </p:sp>
        <p:sp>
          <p:nvSpPr>
            <p:cNvPr name="TextBox 49" id="49"/>
            <p:cNvSpPr txBox="true"/>
            <p:nvPr/>
          </p:nvSpPr>
          <p:spPr>
            <a:xfrm>
              <a:off x="0" y="-66675"/>
              <a:ext cx="3169920" cy="1578483"/>
            </a:xfrm>
            <a:prstGeom prst="rect">
              <a:avLst/>
            </a:prstGeom>
          </p:spPr>
          <p:txBody>
            <a:bodyPr anchor="ctr" rtlCol="false" tIns="0" lIns="0" bIns="0" rIns="0"/>
            <a:lstStyle/>
            <a:p>
              <a:pPr algn="ctr">
                <a:lnSpc>
                  <a:spcPts val="4320"/>
                </a:lnSpc>
              </a:pPr>
              <a:r>
                <a:rPr lang="en-US" sz="3600" b="true">
                  <a:solidFill>
                    <a:srgbClr val="1A1A1A"/>
                  </a:solidFill>
                  <a:latin typeface="Calibri (MS) Bold"/>
                  <a:ea typeface="Calibri (MS) Bold"/>
                  <a:cs typeface="Calibri (MS) Bold"/>
                  <a:sym typeface="Calibri (MS) Bold"/>
                </a:rPr>
                <a:t>55</a:t>
              </a:r>
            </a:p>
          </p:txBody>
        </p:sp>
      </p:grpSp>
      <p:sp>
        <p:nvSpPr>
          <p:cNvPr name="TextBox 50" id="50"/>
          <p:cNvSpPr txBox="true"/>
          <p:nvPr/>
        </p:nvSpPr>
        <p:spPr>
          <a:xfrm rot="0">
            <a:off x="13728702" y="7405497"/>
            <a:ext cx="2194560" cy="458724"/>
          </a:xfrm>
          <a:prstGeom prst="rect">
            <a:avLst/>
          </a:prstGeom>
        </p:spPr>
        <p:txBody>
          <a:bodyPr anchor="t" rtlCol="false" tIns="0" lIns="0" bIns="0" rIns="0">
            <a:spAutoFit/>
          </a:bodyPr>
          <a:lstStyle/>
          <a:p>
            <a:pPr algn="ctr">
              <a:lnSpc>
                <a:spcPts val="2400"/>
              </a:lnSpc>
            </a:pPr>
            <a:r>
              <a:rPr lang="en-US" sz="2000">
                <a:solidFill>
                  <a:srgbClr val="888888"/>
                </a:solidFill>
                <a:latin typeface="Calibri (MS)"/>
                <a:ea typeface="Calibri (MS)"/>
                <a:cs typeface="Calibri (MS)"/>
                <a:sym typeface="Calibri (MS)"/>
              </a:rPr>
              <a:t>Posición 6</a:t>
            </a:r>
          </a:p>
        </p:txBody>
      </p:sp>
      <p:sp>
        <p:nvSpPr>
          <p:cNvPr name="TextBox 51" id="51"/>
          <p:cNvSpPr txBox="true"/>
          <p:nvPr/>
        </p:nvSpPr>
        <p:spPr>
          <a:xfrm rot="0">
            <a:off x="1292862" y="7405497"/>
            <a:ext cx="1005840" cy="458724"/>
          </a:xfrm>
          <a:prstGeom prst="rect">
            <a:avLst/>
          </a:prstGeom>
        </p:spPr>
        <p:txBody>
          <a:bodyPr anchor="t" rtlCol="false" tIns="0" lIns="0" bIns="0" rIns="0">
            <a:spAutoFit/>
          </a:bodyPr>
          <a:lstStyle/>
          <a:p>
            <a:pPr algn="l">
              <a:lnSpc>
                <a:spcPts val="2400"/>
              </a:lnSpc>
            </a:pPr>
            <a:r>
              <a:rPr lang="en-US" sz="2000">
                <a:solidFill>
                  <a:srgbClr val="888888"/>
                </a:solidFill>
                <a:latin typeface="Calibri (MS)"/>
                <a:ea typeface="Calibri (MS)"/>
                <a:cs typeface="Calibri (MS)"/>
                <a:sym typeface="Calibri (MS)"/>
              </a:rPr>
              <a:t>↑ índice</a:t>
            </a:r>
          </a:p>
        </p:txBody>
      </p:sp>
      <p:grpSp>
        <p:nvGrpSpPr>
          <p:cNvPr name="Group 52" id="52"/>
          <p:cNvGrpSpPr/>
          <p:nvPr/>
        </p:nvGrpSpPr>
        <p:grpSpPr>
          <a:xfrm rot="0">
            <a:off x="901698" y="8227057"/>
            <a:ext cx="16484603" cy="1031243"/>
            <a:chOff x="0" y="0"/>
            <a:chExt cx="21979471" cy="1374991"/>
          </a:xfrm>
        </p:grpSpPr>
        <p:sp>
          <p:nvSpPr>
            <p:cNvPr name="Freeform 53" id="53"/>
            <p:cNvSpPr/>
            <p:nvPr/>
          </p:nvSpPr>
          <p:spPr>
            <a:xfrm flipH="false" flipV="false" rot="0">
              <a:off x="16891" y="16891"/>
              <a:ext cx="21945599" cy="1341120"/>
            </a:xfrm>
            <a:custGeom>
              <a:avLst/>
              <a:gdLst/>
              <a:ahLst/>
              <a:cxnLst/>
              <a:rect r="r" b="b" t="t" l="l"/>
              <a:pathLst>
                <a:path h="1341120" w="21945599">
                  <a:moveTo>
                    <a:pt x="0" y="0"/>
                  </a:moveTo>
                  <a:lnTo>
                    <a:pt x="21945599" y="0"/>
                  </a:lnTo>
                  <a:lnTo>
                    <a:pt x="21945599" y="1341120"/>
                  </a:lnTo>
                  <a:lnTo>
                    <a:pt x="0" y="1341120"/>
                  </a:lnTo>
                  <a:close/>
                </a:path>
              </a:pathLst>
            </a:custGeom>
            <a:solidFill>
              <a:srgbClr val="F5F5F5"/>
            </a:solidFill>
          </p:spPr>
        </p:sp>
        <p:sp>
          <p:nvSpPr>
            <p:cNvPr name="Freeform 54" id="54"/>
            <p:cNvSpPr/>
            <p:nvPr/>
          </p:nvSpPr>
          <p:spPr>
            <a:xfrm flipH="false" flipV="false" rot="0">
              <a:off x="0" y="0"/>
              <a:ext cx="21979382" cy="1374902"/>
            </a:xfrm>
            <a:custGeom>
              <a:avLst/>
              <a:gdLst/>
              <a:ahLst/>
              <a:cxnLst/>
              <a:rect r="r" b="b" t="t" l="l"/>
              <a:pathLst>
                <a:path h="1374902" w="21979382">
                  <a:moveTo>
                    <a:pt x="16891" y="0"/>
                  </a:moveTo>
                  <a:lnTo>
                    <a:pt x="21962490" y="0"/>
                  </a:lnTo>
                  <a:cubicBezTo>
                    <a:pt x="21971890" y="0"/>
                    <a:pt x="21979382" y="7620"/>
                    <a:pt x="21979382" y="16891"/>
                  </a:cubicBezTo>
                  <a:lnTo>
                    <a:pt x="21979382" y="1358011"/>
                  </a:lnTo>
                  <a:cubicBezTo>
                    <a:pt x="21979382" y="1367409"/>
                    <a:pt x="21971763" y="1374902"/>
                    <a:pt x="21962490"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962490" y="1341120"/>
                  </a:lnTo>
                  <a:lnTo>
                    <a:pt x="21962490" y="1358011"/>
                  </a:lnTo>
                  <a:lnTo>
                    <a:pt x="21945600" y="1358011"/>
                  </a:lnTo>
                  <a:lnTo>
                    <a:pt x="21945600" y="16891"/>
                  </a:lnTo>
                  <a:lnTo>
                    <a:pt x="21962490" y="16891"/>
                  </a:lnTo>
                  <a:lnTo>
                    <a:pt x="21962490" y="33909"/>
                  </a:lnTo>
                  <a:lnTo>
                    <a:pt x="16891" y="33909"/>
                  </a:lnTo>
                  <a:close/>
                </a:path>
              </a:pathLst>
            </a:custGeom>
            <a:solidFill>
              <a:srgbClr val="DDDDDD"/>
            </a:solidFill>
          </p:spPr>
        </p:sp>
      </p:grpSp>
      <p:grpSp>
        <p:nvGrpSpPr>
          <p:cNvPr name="Group 55" id="55"/>
          <p:cNvGrpSpPr/>
          <p:nvPr/>
        </p:nvGrpSpPr>
        <p:grpSpPr>
          <a:xfrm rot="0">
            <a:off x="1280155" y="8331194"/>
            <a:ext cx="15727680" cy="822960"/>
            <a:chOff x="0" y="0"/>
            <a:chExt cx="20970240" cy="1097280"/>
          </a:xfrm>
        </p:grpSpPr>
        <p:sp>
          <p:nvSpPr>
            <p:cNvPr name="Freeform 56" id="56"/>
            <p:cNvSpPr/>
            <p:nvPr/>
          </p:nvSpPr>
          <p:spPr>
            <a:xfrm flipH="false" flipV="false" rot="0">
              <a:off x="0" y="0"/>
              <a:ext cx="20970239" cy="1097280"/>
            </a:xfrm>
            <a:custGeom>
              <a:avLst/>
              <a:gdLst/>
              <a:ahLst/>
              <a:cxnLst/>
              <a:rect r="r" b="b" t="t" l="l"/>
              <a:pathLst>
                <a:path h="1097280" w="20970239">
                  <a:moveTo>
                    <a:pt x="0" y="0"/>
                  </a:moveTo>
                  <a:lnTo>
                    <a:pt x="20970239" y="0"/>
                  </a:lnTo>
                  <a:lnTo>
                    <a:pt x="20970239" y="1097280"/>
                  </a:lnTo>
                  <a:lnTo>
                    <a:pt x="0" y="1097280"/>
                  </a:lnTo>
                  <a:close/>
                </a:path>
              </a:pathLst>
            </a:custGeom>
            <a:blipFill>
              <a:blip r:embed="rId3">
                <a:alphaModFix amt="0"/>
              </a:blip>
              <a:stretch>
                <a:fillRect l="0" t="-322380" r="0" b="-322380"/>
              </a:stretch>
            </a:blipFill>
          </p:spPr>
        </p:sp>
        <p:sp>
          <p:nvSpPr>
            <p:cNvPr name="TextBox 57" id="57"/>
            <p:cNvSpPr txBox="true"/>
            <p:nvPr/>
          </p:nvSpPr>
          <p:spPr>
            <a:xfrm>
              <a:off x="0" y="-47625"/>
              <a:ext cx="20970240" cy="1144905"/>
            </a:xfrm>
            <a:prstGeom prst="rect">
              <a:avLst/>
            </a:prstGeom>
          </p:spPr>
          <p:txBody>
            <a:bodyPr anchor="ctr" rtlCol="false" tIns="0" lIns="0" bIns="0" rIns="0"/>
            <a:lstStyle/>
            <a:p>
              <a:pPr algn="l">
                <a:lnSpc>
                  <a:spcPts val="2640"/>
                </a:lnSpc>
              </a:pPr>
              <a:r>
                <a:rPr lang="en-US" sz="2200" i="true">
                  <a:solidFill>
                    <a:srgbClr val="444444"/>
                  </a:solidFill>
                  <a:latin typeface="Calibri (MS) Italics"/>
                  <a:ea typeface="Calibri (MS) Italics"/>
                  <a:cs typeface="Calibri (MS) Italics"/>
                  <a:sym typeface="Calibri (MS) Italics"/>
                </a:rPr>
                <a:t>Observación: todos los valores son notas (números), es decir, son del mismo tipo. No se puede mezclar números con letras en el mismo arreglo.</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69723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Ejemplos de Vectores</a:t>
              </a:r>
            </a:p>
          </p:txBody>
        </p:sp>
      </p:grpSp>
      <p:sp>
        <p:nvSpPr>
          <p:cNvPr name="TextBox 5" id="5"/>
          <p:cNvSpPr txBox="true"/>
          <p:nvPr/>
        </p:nvSpPr>
        <p:spPr>
          <a:xfrm rot="0">
            <a:off x="1005840" y="1817370"/>
            <a:ext cx="16276320" cy="971550"/>
          </a:xfrm>
          <a:prstGeom prst="rect">
            <a:avLst/>
          </a:prstGeom>
        </p:spPr>
        <p:txBody>
          <a:bodyPr anchor="t" rtlCol="false" tIns="0" lIns="0" bIns="0" rIns="0">
            <a:spAutoFit/>
          </a:bodyPr>
          <a:lstStyle/>
          <a:p>
            <a:pPr algn="l">
              <a:lnSpc>
                <a:spcPts val="3120"/>
              </a:lnSpc>
            </a:pPr>
            <a:r>
              <a:rPr lang="en-US" sz="2600">
                <a:solidFill>
                  <a:srgbClr val="1A1A1A"/>
                </a:solidFill>
                <a:latin typeface="Calibri (MS)"/>
                <a:ea typeface="Calibri (MS)"/>
                <a:cs typeface="Calibri (MS)"/>
                <a:sym typeface="Calibri (MS)"/>
              </a:rPr>
              <a:t>Antes de programar un arreglo, es útil reconocer cuándo la información que se maneja tiene naturalmente forma de vector.</a:t>
            </a:r>
          </a:p>
        </p:txBody>
      </p:sp>
      <p:graphicFrame>
        <p:nvGraphicFramePr>
          <p:cNvPr name="Table 6" id="6"/>
          <p:cNvGraphicFramePr>
            <a:graphicFrameLocks noGrp="true"/>
          </p:cNvGraphicFramePr>
          <p:nvPr/>
        </p:nvGraphicFramePr>
        <p:xfrm>
          <a:off x="914400" y="2962656"/>
          <a:ext cx="16408400" cy="6350000"/>
        </p:xfrm>
        <a:graphic>
          <a:graphicData uri="http://schemas.openxmlformats.org/drawingml/2006/table">
            <a:tbl>
              <a:tblPr/>
              <a:tblGrid>
                <a:gridCol w="4204966"/>
                <a:gridCol w="7095253"/>
                <a:gridCol w="5108181"/>
              </a:tblGrid>
              <a:tr h="1270000">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Situación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Cómo se vería el vector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Notas de un estudiante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Las notas de las 5 materias de un estudiante forman un vector de 5 posiciones. Cada posición corresponde a una materia.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nota(1)=Matemática, nota(2)=Física, ...</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Temperaturas de la semana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Las temperaturas registradas de lunes a domingo forman un vector de 7 posiciones.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temp(1)=Lunes, temp(2)=Martes, ...</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Inventario de productos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Las cantidades en stock de 10 productos diferentes forman un vector de 10 posiciones.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stock(1)=Producto A, stock(2)=Producto B, ...</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Resultados de una encuesta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Los 50 puntajes de una encuesta aplicada a 50 personas forman un vector de 50 posiciones.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puntaje(1) al puntaje(50)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grpSp>
        <p:nvGrpSpPr>
          <p:cNvPr name="Group 7" id="7"/>
          <p:cNvGrpSpPr/>
          <p:nvPr/>
        </p:nvGrpSpPr>
        <p:grpSpPr>
          <a:xfrm rot="0">
            <a:off x="901703" y="10228583"/>
            <a:ext cx="16484603" cy="976379"/>
            <a:chOff x="0" y="0"/>
            <a:chExt cx="21979471" cy="1301839"/>
          </a:xfrm>
        </p:grpSpPr>
        <p:sp>
          <p:nvSpPr>
            <p:cNvPr name="Freeform 8" id="8"/>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solidFill>
              <a:srgbClr val="F5F5F5"/>
            </a:solidFill>
          </p:spPr>
        </p:sp>
        <p:sp>
          <p:nvSpPr>
            <p:cNvPr name="Freeform 9" id="9"/>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DDDDDD"/>
            </a:solidFill>
          </p:spPr>
        </p:sp>
      </p:grpSp>
      <p:grpSp>
        <p:nvGrpSpPr>
          <p:cNvPr name="Group 10" id="10"/>
          <p:cNvGrpSpPr/>
          <p:nvPr/>
        </p:nvGrpSpPr>
        <p:grpSpPr>
          <a:xfrm rot="0">
            <a:off x="1280160" y="10332720"/>
            <a:ext cx="15727680" cy="768096"/>
            <a:chOff x="0" y="0"/>
            <a:chExt cx="20970240" cy="1024128"/>
          </a:xfrm>
        </p:grpSpPr>
        <p:sp>
          <p:nvSpPr>
            <p:cNvPr name="Freeform 11" id="11"/>
            <p:cNvSpPr/>
            <p:nvPr/>
          </p:nvSpPr>
          <p:spPr>
            <a:xfrm flipH="false" flipV="false" rot="0">
              <a:off x="0" y="0"/>
              <a:ext cx="20970239" cy="1024128"/>
            </a:xfrm>
            <a:custGeom>
              <a:avLst/>
              <a:gdLst/>
              <a:ahLst/>
              <a:cxnLst/>
              <a:rect r="r" b="b" t="t" l="l"/>
              <a:pathLst>
                <a:path h="1024128" w="20970239">
                  <a:moveTo>
                    <a:pt x="0" y="0"/>
                  </a:moveTo>
                  <a:lnTo>
                    <a:pt x="20970239" y="0"/>
                  </a:lnTo>
                  <a:lnTo>
                    <a:pt x="20970239" y="1024128"/>
                  </a:lnTo>
                  <a:lnTo>
                    <a:pt x="0" y="1024128"/>
                  </a:lnTo>
                  <a:close/>
                </a:path>
              </a:pathLst>
            </a:custGeom>
            <a:blipFill>
              <a:blip r:embed="rId3">
                <a:alphaModFix amt="0"/>
              </a:blip>
              <a:stretch>
                <a:fillRect l="0" t="-348979" r="0" b="-348979"/>
              </a:stretch>
            </a:blipFill>
          </p:spPr>
        </p:sp>
        <p:sp>
          <p:nvSpPr>
            <p:cNvPr name="TextBox 12" id="12"/>
            <p:cNvSpPr txBox="true"/>
            <p:nvPr/>
          </p:nvSpPr>
          <p:spPr>
            <a:xfrm>
              <a:off x="0" y="-47625"/>
              <a:ext cx="20970240" cy="1071753"/>
            </a:xfrm>
            <a:prstGeom prst="rect">
              <a:avLst/>
            </a:prstGeom>
          </p:spPr>
          <p:txBody>
            <a:bodyPr anchor="ctr" rtlCol="false" tIns="0" lIns="0" bIns="0" rIns="0"/>
            <a:lstStyle/>
            <a:p>
              <a:pPr algn="l">
                <a:lnSpc>
                  <a:spcPts val="2640"/>
                </a:lnSpc>
              </a:pPr>
              <a:r>
                <a:rPr lang="en-US" sz="2200" i="true">
                  <a:solidFill>
                    <a:srgbClr val="444444"/>
                  </a:solidFill>
                  <a:latin typeface="Calibri (MS) Italics"/>
                  <a:ea typeface="Calibri (MS) Italics"/>
                  <a:cs typeface="Calibri (MS) Italics"/>
                  <a:sym typeface="Calibri (MS) Italics"/>
                </a:rPr>
                <a:t>Patrón para identificar un vector: si tienes una lista de valores que pertenecen a la misma categoría y cada uno puede identificarse con un número de posición, es un vector.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986" y="1225686"/>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¿Qué es una Matriz?</a:t>
              </a:r>
            </a:p>
          </p:txBody>
        </p:sp>
      </p:grpSp>
      <p:sp>
        <p:nvSpPr>
          <p:cNvPr name="TextBox 5" id="5"/>
          <p:cNvSpPr txBox="true"/>
          <p:nvPr/>
        </p:nvSpPr>
        <p:spPr>
          <a:xfrm rot="0">
            <a:off x="1005845" y="2680905"/>
            <a:ext cx="16253455" cy="1257300"/>
          </a:xfrm>
          <a:prstGeom prst="rect">
            <a:avLst/>
          </a:prstGeom>
        </p:spPr>
        <p:txBody>
          <a:bodyPr anchor="t" rtlCol="false" tIns="0" lIns="0" bIns="0" rIns="0">
            <a:spAutoFit/>
          </a:bodyPr>
          <a:lstStyle/>
          <a:p>
            <a:pPr algn="l">
              <a:lnSpc>
                <a:spcPts val="3359"/>
              </a:lnSpc>
            </a:pPr>
            <a:r>
              <a:rPr lang="en-US" sz="2799">
                <a:solidFill>
                  <a:srgbClr val="1A1A1A"/>
                </a:solidFill>
                <a:latin typeface="Canva Sans"/>
                <a:ea typeface="Canva Sans"/>
                <a:cs typeface="Canva Sans"/>
                <a:sym typeface="Canva Sans"/>
              </a:rPr>
              <a:t>Una matriz es un arreglo de dos dimensiones. Se puede pensar como una tabla con filas y columnas, donde cada celda guarda un valor. Para llegar a una celda se necesitan dos números: el número de fila y el número de columna.</a:t>
            </a:r>
          </a:p>
        </p:txBody>
      </p:sp>
      <p:sp>
        <p:nvSpPr>
          <p:cNvPr name="TextBox 6" id="6"/>
          <p:cNvSpPr txBox="true"/>
          <p:nvPr/>
        </p:nvSpPr>
        <p:spPr>
          <a:xfrm rot="0">
            <a:off x="1109986" y="4576380"/>
            <a:ext cx="16276320" cy="419100"/>
          </a:xfrm>
          <a:prstGeom prst="rect">
            <a:avLst/>
          </a:prstGeom>
        </p:spPr>
        <p:txBody>
          <a:bodyPr anchor="t" rtlCol="false" tIns="0" lIns="0" bIns="0" rIns="0">
            <a:spAutoFit/>
          </a:bodyPr>
          <a:lstStyle/>
          <a:p>
            <a:pPr algn="l">
              <a:lnSpc>
                <a:spcPts val="3359"/>
              </a:lnSpc>
            </a:pPr>
            <a:r>
              <a:rPr lang="en-US" sz="2799" b="true">
                <a:solidFill>
                  <a:srgbClr val="1A1A1A"/>
                </a:solidFill>
                <a:latin typeface="Canva Sans Bold"/>
                <a:ea typeface="Canva Sans Bold"/>
                <a:cs typeface="Canva Sans Bold"/>
                <a:sym typeface="Canva Sans Bold"/>
              </a:rPr>
              <a:t>Analogía: hoja de cálculo o tabla de calificaciones del curso</a:t>
            </a:r>
          </a:p>
        </p:txBody>
      </p:sp>
      <p:sp>
        <p:nvSpPr>
          <p:cNvPr name="TextBox 7" id="7"/>
          <p:cNvSpPr txBox="true"/>
          <p:nvPr/>
        </p:nvSpPr>
        <p:spPr>
          <a:xfrm rot="0">
            <a:off x="1151896" y="6070068"/>
            <a:ext cx="16192500" cy="1257300"/>
          </a:xfrm>
          <a:prstGeom prst="rect">
            <a:avLst/>
          </a:prstGeom>
        </p:spPr>
        <p:txBody>
          <a:bodyPr anchor="t" rtlCol="false" tIns="0" lIns="0" bIns="0" rIns="0">
            <a:spAutoFit/>
          </a:bodyPr>
          <a:lstStyle/>
          <a:p>
            <a:pPr algn="l">
              <a:lnSpc>
                <a:spcPts val="3359"/>
              </a:lnSpc>
            </a:pPr>
            <a:r>
              <a:rPr lang="en-US" sz="2799">
                <a:solidFill>
                  <a:srgbClr val="1A1A1A"/>
                </a:solidFill>
                <a:latin typeface="Canva Sans"/>
                <a:ea typeface="Canva Sans"/>
                <a:cs typeface="Canva Sans"/>
                <a:sym typeface="Canva Sans"/>
              </a:rPr>
              <a:t>U</a:t>
            </a:r>
            <a:r>
              <a:rPr lang="en-US" sz="2799">
                <a:solidFill>
                  <a:srgbClr val="1A1A1A"/>
                </a:solidFill>
                <a:latin typeface="Canva Sans"/>
                <a:ea typeface="Canva Sans"/>
                <a:cs typeface="Canva Sans"/>
                <a:sym typeface="Canva Sans"/>
              </a:rPr>
              <a:t>na tabla donde las filas son estudiantes y las columnas son materias. Cada celda contiene la nota de un estudiante en una materia específica. Para referirse a una celda lo común para este ejemplo seria: fila 2 (estudiante 2), columna 3 (materia 3).</a:t>
            </a:r>
          </a:p>
        </p:txBody>
      </p:sp>
      <p:grpSp>
        <p:nvGrpSpPr>
          <p:cNvPr name="Group 8" id="8"/>
          <p:cNvGrpSpPr/>
          <p:nvPr/>
        </p:nvGrpSpPr>
        <p:grpSpPr>
          <a:xfrm rot="0">
            <a:off x="901703" y="10192007"/>
            <a:ext cx="16484603" cy="976379"/>
            <a:chOff x="0" y="0"/>
            <a:chExt cx="21979471" cy="1301839"/>
          </a:xfrm>
        </p:grpSpPr>
        <p:sp>
          <p:nvSpPr>
            <p:cNvPr name="Freeform 9" id="9"/>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solidFill>
              <a:srgbClr val="F5F5F5"/>
            </a:solidFill>
          </p:spPr>
        </p:sp>
        <p:sp>
          <p:nvSpPr>
            <p:cNvPr name="Freeform 10" id="10"/>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DDDDDD"/>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229163"/>
            <a:ext cx="13014208" cy="485775"/>
          </a:xfrm>
          <a:prstGeom prst="rect">
            <a:avLst/>
          </a:prstGeom>
        </p:spPr>
        <p:txBody>
          <a:bodyPr anchor="t" rtlCol="false" tIns="0" lIns="0" bIns="0" rIns="0">
            <a:spAutoFit/>
          </a:bodyPr>
          <a:lstStyle/>
          <a:p>
            <a:pPr algn="l">
              <a:lnSpc>
                <a:spcPts val="3839"/>
              </a:lnSpc>
            </a:pPr>
            <a:r>
              <a:rPr lang="en-US" sz="3199" b="true">
                <a:solidFill>
                  <a:srgbClr val="1A1A1A"/>
                </a:solidFill>
                <a:latin typeface="Canva Sans Bold"/>
                <a:ea typeface="Canva Sans Bold"/>
                <a:cs typeface="Canva Sans Bold"/>
                <a:sym typeface="Canva Sans Bold"/>
              </a:rPr>
              <a:t>Representación de una matriz de 3 estudiantes × 4 materias:</a:t>
            </a:r>
          </a:p>
        </p:txBody>
      </p:sp>
      <p:grpSp>
        <p:nvGrpSpPr>
          <p:cNvPr name="Group 3" id="3"/>
          <p:cNvGrpSpPr/>
          <p:nvPr/>
        </p:nvGrpSpPr>
        <p:grpSpPr>
          <a:xfrm rot="0">
            <a:off x="2961637" y="3887199"/>
            <a:ext cx="2860043" cy="683771"/>
            <a:chOff x="0" y="0"/>
            <a:chExt cx="3813391" cy="911695"/>
          </a:xfrm>
        </p:grpSpPr>
        <p:sp>
          <p:nvSpPr>
            <p:cNvPr name="Freeform 4" id="4"/>
            <p:cNvSpPr/>
            <p:nvPr/>
          </p:nvSpPr>
          <p:spPr>
            <a:xfrm flipH="false" flipV="false" rot="0">
              <a:off x="16891" y="16891"/>
              <a:ext cx="3779520" cy="877824"/>
            </a:xfrm>
            <a:custGeom>
              <a:avLst/>
              <a:gdLst/>
              <a:ahLst/>
              <a:cxnLst/>
              <a:rect r="r" b="b" t="t" l="l"/>
              <a:pathLst>
                <a:path h="877824" w="3779520">
                  <a:moveTo>
                    <a:pt x="0" y="0"/>
                  </a:moveTo>
                  <a:lnTo>
                    <a:pt x="3779520" y="0"/>
                  </a:lnTo>
                  <a:lnTo>
                    <a:pt x="3779520" y="877824"/>
                  </a:lnTo>
                  <a:lnTo>
                    <a:pt x="0" y="877824"/>
                  </a:lnTo>
                  <a:close/>
                </a:path>
              </a:pathLst>
            </a:custGeom>
            <a:solidFill>
              <a:srgbClr val="1A1A1A"/>
            </a:solidFill>
          </p:spPr>
        </p:sp>
        <p:sp>
          <p:nvSpPr>
            <p:cNvPr name="Freeform 5" id="5"/>
            <p:cNvSpPr/>
            <p:nvPr/>
          </p:nvSpPr>
          <p:spPr>
            <a:xfrm flipH="false" flipV="false" rot="0">
              <a:off x="0" y="0"/>
              <a:ext cx="3813302" cy="911608"/>
            </a:xfrm>
            <a:custGeom>
              <a:avLst/>
              <a:gdLst/>
              <a:ahLst/>
              <a:cxnLst/>
              <a:rect r="r" b="b" t="t" l="l"/>
              <a:pathLst>
                <a:path h="911608" w="3813302">
                  <a:moveTo>
                    <a:pt x="16891" y="0"/>
                  </a:moveTo>
                  <a:lnTo>
                    <a:pt x="3796411" y="0"/>
                  </a:lnTo>
                  <a:cubicBezTo>
                    <a:pt x="3805809" y="0"/>
                    <a:pt x="3813302" y="7620"/>
                    <a:pt x="3813302" y="16891"/>
                  </a:cubicBezTo>
                  <a:lnTo>
                    <a:pt x="3813302" y="894715"/>
                  </a:lnTo>
                  <a:cubicBezTo>
                    <a:pt x="3813302" y="904113"/>
                    <a:pt x="3805682" y="911606"/>
                    <a:pt x="379641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3796411" y="877824"/>
                  </a:lnTo>
                  <a:lnTo>
                    <a:pt x="3796411" y="894715"/>
                  </a:lnTo>
                  <a:lnTo>
                    <a:pt x="3779520" y="894715"/>
                  </a:lnTo>
                  <a:lnTo>
                    <a:pt x="3779520" y="16891"/>
                  </a:lnTo>
                  <a:lnTo>
                    <a:pt x="3796411" y="16891"/>
                  </a:lnTo>
                  <a:lnTo>
                    <a:pt x="3796411" y="33909"/>
                  </a:lnTo>
                  <a:lnTo>
                    <a:pt x="16891" y="33909"/>
                  </a:lnTo>
                  <a:close/>
                </a:path>
              </a:pathLst>
            </a:custGeom>
            <a:solidFill>
              <a:srgbClr val="1A1A1A"/>
            </a:solidFill>
          </p:spPr>
        </p:sp>
      </p:grpSp>
      <p:grpSp>
        <p:nvGrpSpPr>
          <p:cNvPr name="Group 6" id="6"/>
          <p:cNvGrpSpPr/>
          <p:nvPr/>
        </p:nvGrpSpPr>
        <p:grpSpPr>
          <a:xfrm rot="0">
            <a:off x="2974334" y="3899895"/>
            <a:ext cx="2834640" cy="658368"/>
            <a:chOff x="0" y="0"/>
            <a:chExt cx="3779520" cy="877824"/>
          </a:xfrm>
        </p:grpSpPr>
        <p:sp>
          <p:nvSpPr>
            <p:cNvPr name="Freeform 7" id="7"/>
            <p:cNvSpPr/>
            <p:nvPr/>
          </p:nvSpPr>
          <p:spPr>
            <a:xfrm flipH="false" flipV="false" rot="0">
              <a:off x="0" y="0"/>
              <a:ext cx="3779520" cy="877824"/>
            </a:xfrm>
            <a:custGeom>
              <a:avLst/>
              <a:gdLst/>
              <a:ahLst/>
              <a:cxnLst/>
              <a:rect r="r" b="b" t="t" l="l"/>
              <a:pathLst>
                <a:path h="877824" w="3779520">
                  <a:moveTo>
                    <a:pt x="0" y="0"/>
                  </a:moveTo>
                  <a:lnTo>
                    <a:pt x="3779520" y="0"/>
                  </a:lnTo>
                  <a:lnTo>
                    <a:pt x="3779520" y="877824"/>
                  </a:lnTo>
                  <a:lnTo>
                    <a:pt x="0" y="877824"/>
                  </a:lnTo>
                  <a:close/>
                </a:path>
              </a:pathLst>
            </a:custGeom>
            <a:blipFill>
              <a:blip r:embed="rId2">
                <a:alphaModFix amt="0"/>
              </a:blip>
              <a:stretch>
                <a:fillRect l="0" t="-33893" r="0" b="-33893"/>
              </a:stretch>
            </a:blipFill>
          </p:spPr>
        </p:sp>
        <p:sp>
          <p:nvSpPr>
            <p:cNvPr name="TextBox 8" id="8"/>
            <p:cNvSpPr txBox="true"/>
            <p:nvPr/>
          </p:nvSpPr>
          <p:spPr>
            <a:xfrm>
              <a:off x="0" y="0"/>
              <a:ext cx="3779520" cy="877824"/>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Materia 1</a:t>
              </a:r>
            </a:p>
          </p:txBody>
        </p:sp>
      </p:grpSp>
      <p:grpSp>
        <p:nvGrpSpPr>
          <p:cNvPr name="Group 9" id="9"/>
          <p:cNvGrpSpPr/>
          <p:nvPr/>
        </p:nvGrpSpPr>
        <p:grpSpPr>
          <a:xfrm rot="0">
            <a:off x="5796277" y="3887199"/>
            <a:ext cx="2860043" cy="683771"/>
            <a:chOff x="0" y="0"/>
            <a:chExt cx="3813391" cy="911695"/>
          </a:xfrm>
        </p:grpSpPr>
        <p:sp>
          <p:nvSpPr>
            <p:cNvPr name="Freeform 10" id="10"/>
            <p:cNvSpPr/>
            <p:nvPr/>
          </p:nvSpPr>
          <p:spPr>
            <a:xfrm flipH="false" flipV="false" rot="0">
              <a:off x="16891" y="16891"/>
              <a:ext cx="3779520" cy="877824"/>
            </a:xfrm>
            <a:custGeom>
              <a:avLst/>
              <a:gdLst/>
              <a:ahLst/>
              <a:cxnLst/>
              <a:rect r="r" b="b" t="t" l="l"/>
              <a:pathLst>
                <a:path h="877824" w="3779520">
                  <a:moveTo>
                    <a:pt x="0" y="0"/>
                  </a:moveTo>
                  <a:lnTo>
                    <a:pt x="3779520" y="0"/>
                  </a:lnTo>
                  <a:lnTo>
                    <a:pt x="3779520" y="877824"/>
                  </a:lnTo>
                  <a:lnTo>
                    <a:pt x="0" y="877824"/>
                  </a:lnTo>
                  <a:close/>
                </a:path>
              </a:pathLst>
            </a:custGeom>
            <a:solidFill>
              <a:srgbClr val="1A1A1A"/>
            </a:solidFill>
          </p:spPr>
        </p:sp>
        <p:sp>
          <p:nvSpPr>
            <p:cNvPr name="Freeform 11" id="11"/>
            <p:cNvSpPr/>
            <p:nvPr/>
          </p:nvSpPr>
          <p:spPr>
            <a:xfrm flipH="false" flipV="false" rot="0">
              <a:off x="0" y="0"/>
              <a:ext cx="3813302" cy="911608"/>
            </a:xfrm>
            <a:custGeom>
              <a:avLst/>
              <a:gdLst/>
              <a:ahLst/>
              <a:cxnLst/>
              <a:rect r="r" b="b" t="t" l="l"/>
              <a:pathLst>
                <a:path h="911608" w="3813302">
                  <a:moveTo>
                    <a:pt x="16891" y="0"/>
                  </a:moveTo>
                  <a:lnTo>
                    <a:pt x="3796411" y="0"/>
                  </a:lnTo>
                  <a:cubicBezTo>
                    <a:pt x="3805809" y="0"/>
                    <a:pt x="3813302" y="7620"/>
                    <a:pt x="3813302" y="16891"/>
                  </a:cubicBezTo>
                  <a:lnTo>
                    <a:pt x="3813302" y="894715"/>
                  </a:lnTo>
                  <a:cubicBezTo>
                    <a:pt x="3813302" y="904113"/>
                    <a:pt x="3805682" y="911606"/>
                    <a:pt x="379641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3796411" y="877824"/>
                  </a:lnTo>
                  <a:lnTo>
                    <a:pt x="3796411" y="894715"/>
                  </a:lnTo>
                  <a:lnTo>
                    <a:pt x="3779520" y="894715"/>
                  </a:lnTo>
                  <a:lnTo>
                    <a:pt x="3779520" y="16891"/>
                  </a:lnTo>
                  <a:lnTo>
                    <a:pt x="3796411" y="16891"/>
                  </a:lnTo>
                  <a:lnTo>
                    <a:pt x="3796411" y="33909"/>
                  </a:lnTo>
                  <a:lnTo>
                    <a:pt x="16891" y="33909"/>
                  </a:lnTo>
                  <a:close/>
                </a:path>
              </a:pathLst>
            </a:custGeom>
            <a:solidFill>
              <a:srgbClr val="1A1A1A"/>
            </a:solidFill>
          </p:spPr>
        </p:sp>
      </p:grpSp>
      <p:grpSp>
        <p:nvGrpSpPr>
          <p:cNvPr name="Group 12" id="12"/>
          <p:cNvGrpSpPr/>
          <p:nvPr/>
        </p:nvGrpSpPr>
        <p:grpSpPr>
          <a:xfrm rot="0">
            <a:off x="5808974" y="3899895"/>
            <a:ext cx="2834640" cy="658368"/>
            <a:chOff x="0" y="0"/>
            <a:chExt cx="3779520" cy="877824"/>
          </a:xfrm>
        </p:grpSpPr>
        <p:sp>
          <p:nvSpPr>
            <p:cNvPr name="Freeform 13" id="13"/>
            <p:cNvSpPr/>
            <p:nvPr/>
          </p:nvSpPr>
          <p:spPr>
            <a:xfrm flipH="false" flipV="false" rot="0">
              <a:off x="0" y="0"/>
              <a:ext cx="3779520" cy="877824"/>
            </a:xfrm>
            <a:custGeom>
              <a:avLst/>
              <a:gdLst/>
              <a:ahLst/>
              <a:cxnLst/>
              <a:rect r="r" b="b" t="t" l="l"/>
              <a:pathLst>
                <a:path h="877824" w="3779520">
                  <a:moveTo>
                    <a:pt x="0" y="0"/>
                  </a:moveTo>
                  <a:lnTo>
                    <a:pt x="3779520" y="0"/>
                  </a:lnTo>
                  <a:lnTo>
                    <a:pt x="3779520" y="877824"/>
                  </a:lnTo>
                  <a:lnTo>
                    <a:pt x="0" y="877824"/>
                  </a:lnTo>
                  <a:close/>
                </a:path>
              </a:pathLst>
            </a:custGeom>
            <a:blipFill>
              <a:blip r:embed="rId2">
                <a:alphaModFix amt="0"/>
              </a:blip>
              <a:stretch>
                <a:fillRect l="0" t="-33893" r="0" b="-33893"/>
              </a:stretch>
            </a:blipFill>
          </p:spPr>
        </p:sp>
        <p:sp>
          <p:nvSpPr>
            <p:cNvPr name="TextBox 14" id="14"/>
            <p:cNvSpPr txBox="true"/>
            <p:nvPr/>
          </p:nvSpPr>
          <p:spPr>
            <a:xfrm>
              <a:off x="0" y="0"/>
              <a:ext cx="3779520" cy="877824"/>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Materia 2</a:t>
              </a:r>
            </a:p>
          </p:txBody>
        </p:sp>
      </p:grpSp>
      <p:grpSp>
        <p:nvGrpSpPr>
          <p:cNvPr name="Group 15" id="15"/>
          <p:cNvGrpSpPr/>
          <p:nvPr/>
        </p:nvGrpSpPr>
        <p:grpSpPr>
          <a:xfrm rot="0">
            <a:off x="8630917" y="3887199"/>
            <a:ext cx="2860043" cy="683771"/>
            <a:chOff x="0" y="0"/>
            <a:chExt cx="3813391" cy="911695"/>
          </a:xfrm>
        </p:grpSpPr>
        <p:sp>
          <p:nvSpPr>
            <p:cNvPr name="Freeform 16" id="16"/>
            <p:cNvSpPr/>
            <p:nvPr/>
          </p:nvSpPr>
          <p:spPr>
            <a:xfrm flipH="false" flipV="false" rot="0">
              <a:off x="16891" y="16891"/>
              <a:ext cx="3779520" cy="877824"/>
            </a:xfrm>
            <a:custGeom>
              <a:avLst/>
              <a:gdLst/>
              <a:ahLst/>
              <a:cxnLst/>
              <a:rect r="r" b="b" t="t" l="l"/>
              <a:pathLst>
                <a:path h="877824" w="3779520">
                  <a:moveTo>
                    <a:pt x="0" y="0"/>
                  </a:moveTo>
                  <a:lnTo>
                    <a:pt x="3779520" y="0"/>
                  </a:lnTo>
                  <a:lnTo>
                    <a:pt x="3779520" y="877824"/>
                  </a:lnTo>
                  <a:lnTo>
                    <a:pt x="0" y="877824"/>
                  </a:lnTo>
                  <a:close/>
                </a:path>
              </a:pathLst>
            </a:custGeom>
            <a:solidFill>
              <a:srgbClr val="1A1A1A"/>
            </a:solidFill>
          </p:spPr>
        </p:sp>
        <p:sp>
          <p:nvSpPr>
            <p:cNvPr name="Freeform 17" id="17"/>
            <p:cNvSpPr/>
            <p:nvPr/>
          </p:nvSpPr>
          <p:spPr>
            <a:xfrm flipH="false" flipV="false" rot="0">
              <a:off x="0" y="0"/>
              <a:ext cx="3813302" cy="911608"/>
            </a:xfrm>
            <a:custGeom>
              <a:avLst/>
              <a:gdLst/>
              <a:ahLst/>
              <a:cxnLst/>
              <a:rect r="r" b="b" t="t" l="l"/>
              <a:pathLst>
                <a:path h="911608" w="3813302">
                  <a:moveTo>
                    <a:pt x="16891" y="0"/>
                  </a:moveTo>
                  <a:lnTo>
                    <a:pt x="3796411" y="0"/>
                  </a:lnTo>
                  <a:cubicBezTo>
                    <a:pt x="3805809" y="0"/>
                    <a:pt x="3813302" y="7620"/>
                    <a:pt x="3813302" y="16891"/>
                  </a:cubicBezTo>
                  <a:lnTo>
                    <a:pt x="3813302" y="894715"/>
                  </a:lnTo>
                  <a:cubicBezTo>
                    <a:pt x="3813302" y="904113"/>
                    <a:pt x="3805682" y="911606"/>
                    <a:pt x="379641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3796411" y="877824"/>
                  </a:lnTo>
                  <a:lnTo>
                    <a:pt x="3796411" y="894715"/>
                  </a:lnTo>
                  <a:lnTo>
                    <a:pt x="3779520" y="894715"/>
                  </a:lnTo>
                  <a:lnTo>
                    <a:pt x="3779520" y="16891"/>
                  </a:lnTo>
                  <a:lnTo>
                    <a:pt x="3796411" y="16891"/>
                  </a:lnTo>
                  <a:lnTo>
                    <a:pt x="3796411" y="33909"/>
                  </a:lnTo>
                  <a:lnTo>
                    <a:pt x="16891" y="33909"/>
                  </a:lnTo>
                  <a:close/>
                </a:path>
              </a:pathLst>
            </a:custGeom>
            <a:solidFill>
              <a:srgbClr val="1A1A1A"/>
            </a:solidFill>
          </p:spPr>
        </p:sp>
      </p:grpSp>
      <p:grpSp>
        <p:nvGrpSpPr>
          <p:cNvPr name="Group 18" id="18"/>
          <p:cNvGrpSpPr/>
          <p:nvPr/>
        </p:nvGrpSpPr>
        <p:grpSpPr>
          <a:xfrm rot="0">
            <a:off x="8643614" y="3899895"/>
            <a:ext cx="2834640" cy="658368"/>
            <a:chOff x="0" y="0"/>
            <a:chExt cx="3779520" cy="877824"/>
          </a:xfrm>
        </p:grpSpPr>
        <p:sp>
          <p:nvSpPr>
            <p:cNvPr name="Freeform 19" id="19"/>
            <p:cNvSpPr/>
            <p:nvPr/>
          </p:nvSpPr>
          <p:spPr>
            <a:xfrm flipH="false" flipV="false" rot="0">
              <a:off x="0" y="0"/>
              <a:ext cx="3779520" cy="877824"/>
            </a:xfrm>
            <a:custGeom>
              <a:avLst/>
              <a:gdLst/>
              <a:ahLst/>
              <a:cxnLst/>
              <a:rect r="r" b="b" t="t" l="l"/>
              <a:pathLst>
                <a:path h="877824" w="3779520">
                  <a:moveTo>
                    <a:pt x="0" y="0"/>
                  </a:moveTo>
                  <a:lnTo>
                    <a:pt x="3779520" y="0"/>
                  </a:lnTo>
                  <a:lnTo>
                    <a:pt x="3779520" y="877824"/>
                  </a:lnTo>
                  <a:lnTo>
                    <a:pt x="0" y="877824"/>
                  </a:lnTo>
                  <a:close/>
                </a:path>
              </a:pathLst>
            </a:custGeom>
            <a:blipFill>
              <a:blip r:embed="rId2">
                <a:alphaModFix amt="0"/>
              </a:blip>
              <a:stretch>
                <a:fillRect l="0" t="-33893" r="0" b="-33893"/>
              </a:stretch>
            </a:blipFill>
          </p:spPr>
        </p:sp>
        <p:sp>
          <p:nvSpPr>
            <p:cNvPr name="TextBox 20" id="20"/>
            <p:cNvSpPr txBox="true"/>
            <p:nvPr/>
          </p:nvSpPr>
          <p:spPr>
            <a:xfrm>
              <a:off x="0" y="0"/>
              <a:ext cx="3779520" cy="877824"/>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Materia 3</a:t>
              </a:r>
            </a:p>
          </p:txBody>
        </p:sp>
      </p:grpSp>
      <p:grpSp>
        <p:nvGrpSpPr>
          <p:cNvPr name="Group 21" id="21"/>
          <p:cNvGrpSpPr/>
          <p:nvPr/>
        </p:nvGrpSpPr>
        <p:grpSpPr>
          <a:xfrm rot="0">
            <a:off x="11465557" y="3887199"/>
            <a:ext cx="2860043" cy="683771"/>
            <a:chOff x="0" y="0"/>
            <a:chExt cx="3813391" cy="911695"/>
          </a:xfrm>
        </p:grpSpPr>
        <p:sp>
          <p:nvSpPr>
            <p:cNvPr name="Freeform 22" id="22"/>
            <p:cNvSpPr/>
            <p:nvPr/>
          </p:nvSpPr>
          <p:spPr>
            <a:xfrm flipH="false" flipV="false" rot="0">
              <a:off x="16891" y="16891"/>
              <a:ext cx="3779520" cy="877824"/>
            </a:xfrm>
            <a:custGeom>
              <a:avLst/>
              <a:gdLst/>
              <a:ahLst/>
              <a:cxnLst/>
              <a:rect r="r" b="b" t="t" l="l"/>
              <a:pathLst>
                <a:path h="877824" w="3779520">
                  <a:moveTo>
                    <a:pt x="0" y="0"/>
                  </a:moveTo>
                  <a:lnTo>
                    <a:pt x="3779520" y="0"/>
                  </a:lnTo>
                  <a:lnTo>
                    <a:pt x="3779520" y="877824"/>
                  </a:lnTo>
                  <a:lnTo>
                    <a:pt x="0" y="877824"/>
                  </a:lnTo>
                  <a:close/>
                </a:path>
              </a:pathLst>
            </a:custGeom>
            <a:solidFill>
              <a:srgbClr val="1A1A1A"/>
            </a:solidFill>
          </p:spPr>
        </p:sp>
        <p:sp>
          <p:nvSpPr>
            <p:cNvPr name="Freeform 23" id="23"/>
            <p:cNvSpPr/>
            <p:nvPr/>
          </p:nvSpPr>
          <p:spPr>
            <a:xfrm flipH="false" flipV="false" rot="0">
              <a:off x="0" y="0"/>
              <a:ext cx="3813302" cy="911608"/>
            </a:xfrm>
            <a:custGeom>
              <a:avLst/>
              <a:gdLst/>
              <a:ahLst/>
              <a:cxnLst/>
              <a:rect r="r" b="b" t="t" l="l"/>
              <a:pathLst>
                <a:path h="911608" w="3813302">
                  <a:moveTo>
                    <a:pt x="16891" y="0"/>
                  </a:moveTo>
                  <a:lnTo>
                    <a:pt x="3796411" y="0"/>
                  </a:lnTo>
                  <a:cubicBezTo>
                    <a:pt x="3805809" y="0"/>
                    <a:pt x="3813302" y="7620"/>
                    <a:pt x="3813302" y="16891"/>
                  </a:cubicBezTo>
                  <a:lnTo>
                    <a:pt x="3813302" y="894715"/>
                  </a:lnTo>
                  <a:cubicBezTo>
                    <a:pt x="3813302" y="904113"/>
                    <a:pt x="3805682" y="911606"/>
                    <a:pt x="379641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3796411" y="877824"/>
                  </a:lnTo>
                  <a:lnTo>
                    <a:pt x="3796411" y="894715"/>
                  </a:lnTo>
                  <a:lnTo>
                    <a:pt x="3779520" y="894715"/>
                  </a:lnTo>
                  <a:lnTo>
                    <a:pt x="3779520" y="16891"/>
                  </a:lnTo>
                  <a:lnTo>
                    <a:pt x="3796411" y="16891"/>
                  </a:lnTo>
                  <a:lnTo>
                    <a:pt x="3796411" y="33909"/>
                  </a:lnTo>
                  <a:lnTo>
                    <a:pt x="16891" y="33909"/>
                  </a:lnTo>
                  <a:close/>
                </a:path>
              </a:pathLst>
            </a:custGeom>
            <a:solidFill>
              <a:srgbClr val="1A1A1A"/>
            </a:solidFill>
          </p:spPr>
        </p:sp>
      </p:grpSp>
      <p:grpSp>
        <p:nvGrpSpPr>
          <p:cNvPr name="Group 24" id="24"/>
          <p:cNvGrpSpPr/>
          <p:nvPr/>
        </p:nvGrpSpPr>
        <p:grpSpPr>
          <a:xfrm rot="0">
            <a:off x="11478254" y="3899895"/>
            <a:ext cx="2834640" cy="658368"/>
            <a:chOff x="0" y="0"/>
            <a:chExt cx="3779520" cy="877824"/>
          </a:xfrm>
        </p:grpSpPr>
        <p:sp>
          <p:nvSpPr>
            <p:cNvPr name="Freeform 25" id="25"/>
            <p:cNvSpPr/>
            <p:nvPr/>
          </p:nvSpPr>
          <p:spPr>
            <a:xfrm flipH="false" flipV="false" rot="0">
              <a:off x="0" y="0"/>
              <a:ext cx="3779520" cy="877824"/>
            </a:xfrm>
            <a:custGeom>
              <a:avLst/>
              <a:gdLst/>
              <a:ahLst/>
              <a:cxnLst/>
              <a:rect r="r" b="b" t="t" l="l"/>
              <a:pathLst>
                <a:path h="877824" w="3779520">
                  <a:moveTo>
                    <a:pt x="0" y="0"/>
                  </a:moveTo>
                  <a:lnTo>
                    <a:pt x="3779520" y="0"/>
                  </a:lnTo>
                  <a:lnTo>
                    <a:pt x="3779520" y="877824"/>
                  </a:lnTo>
                  <a:lnTo>
                    <a:pt x="0" y="877824"/>
                  </a:lnTo>
                  <a:close/>
                </a:path>
              </a:pathLst>
            </a:custGeom>
            <a:blipFill>
              <a:blip r:embed="rId2">
                <a:alphaModFix amt="0"/>
              </a:blip>
              <a:stretch>
                <a:fillRect l="0" t="-33893" r="0" b="-33893"/>
              </a:stretch>
            </a:blipFill>
          </p:spPr>
        </p:sp>
        <p:sp>
          <p:nvSpPr>
            <p:cNvPr name="TextBox 26" id="26"/>
            <p:cNvSpPr txBox="true"/>
            <p:nvPr/>
          </p:nvSpPr>
          <p:spPr>
            <a:xfrm>
              <a:off x="0" y="0"/>
              <a:ext cx="3779520" cy="877824"/>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Materia 4</a:t>
              </a:r>
            </a:p>
          </p:txBody>
        </p:sp>
      </p:grpSp>
      <p:grpSp>
        <p:nvGrpSpPr>
          <p:cNvPr name="Group 27" id="27"/>
          <p:cNvGrpSpPr/>
          <p:nvPr/>
        </p:nvGrpSpPr>
        <p:grpSpPr>
          <a:xfrm rot="0">
            <a:off x="1041397" y="4545567"/>
            <a:ext cx="1945643" cy="903227"/>
            <a:chOff x="0" y="0"/>
            <a:chExt cx="2594191" cy="1204303"/>
          </a:xfrm>
        </p:grpSpPr>
        <p:sp>
          <p:nvSpPr>
            <p:cNvPr name="Freeform 28" id="28"/>
            <p:cNvSpPr/>
            <p:nvPr/>
          </p:nvSpPr>
          <p:spPr>
            <a:xfrm flipH="false" flipV="false" rot="0">
              <a:off x="16891" y="16891"/>
              <a:ext cx="2560320" cy="1170432"/>
            </a:xfrm>
            <a:custGeom>
              <a:avLst/>
              <a:gdLst/>
              <a:ahLst/>
              <a:cxnLst/>
              <a:rect r="r" b="b" t="t" l="l"/>
              <a:pathLst>
                <a:path h="1170432" w="2560320">
                  <a:moveTo>
                    <a:pt x="0" y="0"/>
                  </a:moveTo>
                  <a:lnTo>
                    <a:pt x="2560320" y="0"/>
                  </a:lnTo>
                  <a:lnTo>
                    <a:pt x="2560320" y="1170432"/>
                  </a:lnTo>
                  <a:lnTo>
                    <a:pt x="0" y="1170432"/>
                  </a:lnTo>
                  <a:close/>
                </a:path>
              </a:pathLst>
            </a:custGeom>
            <a:solidFill>
              <a:srgbClr val="1A1A1A"/>
            </a:solidFill>
          </p:spPr>
        </p:sp>
        <p:sp>
          <p:nvSpPr>
            <p:cNvPr name="Freeform 29" id="29"/>
            <p:cNvSpPr/>
            <p:nvPr/>
          </p:nvSpPr>
          <p:spPr>
            <a:xfrm flipH="false" flipV="false" rot="0">
              <a:off x="0" y="0"/>
              <a:ext cx="2594102" cy="1204216"/>
            </a:xfrm>
            <a:custGeom>
              <a:avLst/>
              <a:gdLst/>
              <a:ahLst/>
              <a:cxnLst/>
              <a:rect r="r" b="b" t="t" l="l"/>
              <a:pathLst>
                <a:path h="1204216" w="2594102">
                  <a:moveTo>
                    <a:pt x="16891" y="0"/>
                  </a:moveTo>
                  <a:lnTo>
                    <a:pt x="2577211" y="0"/>
                  </a:lnTo>
                  <a:cubicBezTo>
                    <a:pt x="2586609" y="0"/>
                    <a:pt x="2594102" y="7620"/>
                    <a:pt x="2594102" y="16891"/>
                  </a:cubicBezTo>
                  <a:lnTo>
                    <a:pt x="2594102" y="1187323"/>
                  </a:lnTo>
                  <a:cubicBezTo>
                    <a:pt x="2594102" y="1196721"/>
                    <a:pt x="2586482" y="1204214"/>
                    <a:pt x="25772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2577211" y="1170432"/>
                  </a:lnTo>
                  <a:lnTo>
                    <a:pt x="2577211" y="1187323"/>
                  </a:lnTo>
                  <a:lnTo>
                    <a:pt x="2560320" y="1187323"/>
                  </a:lnTo>
                  <a:lnTo>
                    <a:pt x="2560320" y="16891"/>
                  </a:lnTo>
                  <a:lnTo>
                    <a:pt x="2577211" y="16891"/>
                  </a:lnTo>
                  <a:lnTo>
                    <a:pt x="2577211" y="33909"/>
                  </a:lnTo>
                  <a:lnTo>
                    <a:pt x="16891" y="33909"/>
                  </a:lnTo>
                  <a:close/>
                </a:path>
              </a:pathLst>
            </a:custGeom>
            <a:solidFill>
              <a:srgbClr val="1A1A1A"/>
            </a:solidFill>
          </p:spPr>
        </p:sp>
      </p:grpSp>
      <p:grpSp>
        <p:nvGrpSpPr>
          <p:cNvPr name="Group 30" id="30"/>
          <p:cNvGrpSpPr/>
          <p:nvPr/>
        </p:nvGrpSpPr>
        <p:grpSpPr>
          <a:xfrm rot="0">
            <a:off x="1054094" y="4558263"/>
            <a:ext cx="1920240" cy="877824"/>
            <a:chOff x="0" y="0"/>
            <a:chExt cx="2560320" cy="1170432"/>
          </a:xfrm>
        </p:grpSpPr>
        <p:sp>
          <p:nvSpPr>
            <p:cNvPr name="Freeform 31" id="31"/>
            <p:cNvSpPr/>
            <p:nvPr/>
          </p:nvSpPr>
          <p:spPr>
            <a:xfrm flipH="false" flipV="false" rot="0">
              <a:off x="0" y="0"/>
              <a:ext cx="2560320" cy="1170432"/>
            </a:xfrm>
            <a:custGeom>
              <a:avLst/>
              <a:gdLst/>
              <a:ahLst/>
              <a:cxnLst/>
              <a:rect r="r" b="b" t="t" l="l"/>
              <a:pathLst>
                <a:path h="1170432" w="2560320">
                  <a:moveTo>
                    <a:pt x="0" y="0"/>
                  </a:moveTo>
                  <a:lnTo>
                    <a:pt x="2560320" y="0"/>
                  </a:lnTo>
                  <a:lnTo>
                    <a:pt x="2560320" y="1170432"/>
                  </a:lnTo>
                  <a:lnTo>
                    <a:pt x="0" y="1170432"/>
                  </a:lnTo>
                  <a:close/>
                </a:path>
              </a:pathLst>
            </a:custGeom>
            <a:blipFill>
              <a:blip r:embed="rId2">
                <a:alphaModFix amt="0"/>
              </a:blip>
              <a:stretch>
                <a:fillRect l="-8653" t="0" r="-8653" b="0"/>
              </a:stretch>
            </a:blipFill>
          </p:spPr>
        </p:sp>
        <p:sp>
          <p:nvSpPr>
            <p:cNvPr name="TextBox 32" id="32"/>
            <p:cNvSpPr txBox="true"/>
            <p:nvPr/>
          </p:nvSpPr>
          <p:spPr>
            <a:xfrm>
              <a:off x="0" y="0"/>
              <a:ext cx="2560320" cy="1170432"/>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Est. 1</a:t>
              </a:r>
            </a:p>
          </p:txBody>
        </p:sp>
      </p:grpSp>
      <p:grpSp>
        <p:nvGrpSpPr>
          <p:cNvPr name="Group 33" id="33"/>
          <p:cNvGrpSpPr/>
          <p:nvPr/>
        </p:nvGrpSpPr>
        <p:grpSpPr>
          <a:xfrm rot="0">
            <a:off x="2961637" y="4545567"/>
            <a:ext cx="2860043" cy="903227"/>
            <a:chOff x="0" y="0"/>
            <a:chExt cx="3813391" cy="1204303"/>
          </a:xfrm>
        </p:grpSpPr>
        <p:sp>
          <p:nvSpPr>
            <p:cNvPr name="Freeform 34" id="34"/>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35" id="35"/>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36" id="36"/>
          <p:cNvGrpSpPr/>
          <p:nvPr/>
        </p:nvGrpSpPr>
        <p:grpSpPr>
          <a:xfrm rot="0">
            <a:off x="2974334" y="4558263"/>
            <a:ext cx="2834640" cy="877824"/>
            <a:chOff x="0" y="0"/>
            <a:chExt cx="3779520" cy="1170432"/>
          </a:xfrm>
        </p:grpSpPr>
        <p:sp>
          <p:nvSpPr>
            <p:cNvPr name="Freeform 37" id="37"/>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38" id="38"/>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85</a:t>
              </a:r>
            </a:p>
          </p:txBody>
        </p:sp>
      </p:grpSp>
      <p:grpSp>
        <p:nvGrpSpPr>
          <p:cNvPr name="Group 39" id="39"/>
          <p:cNvGrpSpPr/>
          <p:nvPr/>
        </p:nvGrpSpPr>
        <p:grpSpPr>
          <a:xfrm rot="0">
            <a:off x="5796277" y="4545567"/>
            <a:ext cx="2860043" cy="903227"/>
            <a:chOff x="0" y="0"/>
            <a:chExt cx="3813391" cy="1204303"/>
          </a:xfrm>
        </p:grpSpPr>
        <p:sp>
          <p:nvSpPr>
            <p:cNvPr name="Freeform 40" id="40"/>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41" id="41"/>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42" id="42"/>
          <p:cNvGrpSpPr/>
          <p:nvPr/>
        </p:nvGrpSpPr>
        <p:grpSpPr>
          <a:xfrm rot="0">
            <a:off x="5808974" y="4558263"/>
            <a:ext cx="2834640" cy="877824"/>
            <a:chOff x="0" y="0"/>
            <a:chExt cx="3779520" cy="1170432"/>
          </a:xfrm>
        </p:grpSpPr>
        <p:sp>
          <p:nvSpPr>
            <p:cNvPr name="Freeform 43" id="43"/>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44" id="44"/>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72</a:t>
              </a:r>
            </a:p>
          </p:txBody>
        </p:sp>
      </p:grpSp>
      <p:grpSp>
        <p:nvGrpSpPr>
          <p:cNvPr name="Group 45" id="45"/>
          <p:cNvGrpSpPr/>
          <p:nvPr/>
        </p:nvGrpSpPr>
        <p:grpSpPr>
          <a:xfrm rot="0">
            <a:off x="8630917" y="4545567"/>
            <a:ext cx="2860043" cy="903227"/>
            <a:chOff x="0" y="0"/>
            <a:chExt cx="3813391" cy="1204303"/>
          </a:xfrm>
        </p:grpSpPr>
        <p:sp>
          <p:nvSpPr>
            <p:cNvPr name="Freeform 46" id="46"/>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47" id="47"/>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48" id="48"/>
          <p:cNvGrpSpPr/>
          <p:nvPr/>
        </p:nvGrpSpPr>
        <p:grpSpPr>
          <a:xfrm rot="0">
            <a:off x="8643614" y="4558263"/>
            <a:ext cx="2834640" cy="877824"/>
            <a:chOff x="0" y="0"/>
            <a:chExt cx="3779520" cy="1170432"/>
          </a:xfrm>
        </p:grpSpPr>
        <p:sp>
          <p:nvSpPr>
            <p:cNvPr name="Freeform 49" id="49"/>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50" id="50"/>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91</a:t>
              </a:r>
            </a:p>
          </p:txBody>
        </p:sp>
      </p:grpSp>
      <p:grpSp>
        <p:nvGrpSpPr>
          <p:cNvPr name="Group 51" id="51"/>
          <p:cNvGrpSpPr/>
          <p:nvPr/>
        </p:nvGrpSpPr>
        <p:grpSpPr>
          <a:xfrm rot="0">
            <a:off x="11465557" y="4545567"/>
            <a:ext cx="2860043" cy="903227"/>
            <a:chOff x="0" y="0"/>
            <a:chExt cx="3813391" cy="1204303"/>
          </a:xfrm>
        </p:grpSpPr>
        <p:sp>
          <p:nvSpPr>
            <p:cNvPr name="Freeform 52" id="52"/>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53" id="53"/>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54" id="54"/>
          <p:cNvGrpSpPr/>
          <p:nvPr/>
        </p:nvGrpSpPr>
        <p:grpSpPr>
          <a:xfrm rot="0">
            <a:off x="11478254" y="4558263"/>
            <a:ext cx="2834640" cy="877824"/>
            <a:chOff x="0" y="0"/>
            <a:chExt cx="3779520" cy="1170432"/>
          </a:xfrm>
        </p:grpSpPr>
        <p:sp>
          <p:nvSpPr>
            <p:cNvPr name="Freeform 55" id="55"/>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56" id="56"/>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68</a:t>
              </a:r>
            </a:p>
          </p:txBody>
        </p:sp>
      </p:grpSp>
      <p:grpSp>
        <p:nvGrpSpPr>
          <p:cNvPr name="Group 57" id="57"/>
          <p:cNvGrpSpPr/>
          <p:nvPr/>
        </p:nvGrpSpPr>
        <p:grpSpPr>
          <a:xfrm rot="0">
            <a:off x="1041397" y="5423391"/>
            <a:ext cx="1945643" cy="903227"/>
            <a:chOff x="0" y="0"/>
            <a:chExt cx="2594191" cy="1204303"/>
          </a:xfrm>
        </p:grpSpPr>
        <p:sp>
          <p:nvSpPr>
            <p:cNvPr name="Freeform 58" id="58"/>
            <p:cNvSpPr/>
            <p:nvPr/>
          </p:nvSpPr>
          <p:spPr>
            <a:xfrm flipH="false" flipV="false" rot="0">
              <a:off x="16891" y="16891"/>
              <a:ext cx="2560320" cy="1170432"/>
            </a:xfrm>
            <a:custGeom>
              <a:avLst/>
              <a:gdLst/>
              <a:ahLst/>
              <a:cxnLst/>
              <a:rect r="r" b="b" t="t" l="l"/>
              <a:pathLst>
                <a:path h="1170432" w="2560320">
                  <a:moveTo>
                    <a:pt x="0" y="0"/>
                  </a:moveTo>
                  <a:lnTo>
                    <a:pt x="2560320" y="0"/>
                  </a:lnTo>
                  <a:lnTo>
                    <a:pt x="2560320" y="1170432"/>
                  </a:lnTo>
                  <a:lnTo>
                    <a:pt x="0" y="1170432"/>
                  </a:lnTo>
                  <a:close/>
                </a:path>
              </a:pathLst>
            </a:custGeom>
            <a:solidFill>
              <a:srgbClr val="1A1A1A"/>
            </a:solidFill>
          </p:spPr>
        </p:sp>
        <p:sp>
          <p:nvSpPr>
            <p:cNvPr name="Freeform 59" id="59"/>
            <p:cNvSpPr/>
            <p:nvPr/>
          </p:nvSpPr>
          <p:spPr>
            <a:xfrm flipH="false" flipV="false" rot="0">
              <a:off x="0" y="0"/>
              <a:ext cx="2594102" cy="1204216"/>
            </a:xfrm>
            <a:custGeom>
              <a:avLst/>
              <a:gdLst/>
              <a:ahLst/>
              <a:cxnLst/>
              <a:rect r="r" b="b" t="t" l="l"/>
              <a:pathLst>
                <a:path h="1204216" w="2594102">
                  <a:moveTo>
                    <a:pt x="16891" y="0"/>
                  </a:moveTo>
                  <a:lnTo>
                    <a:pt x="2577211" y="0"/>
                  </a:lnTo>
                  <a:cubicBezTo>
                    <a:pt x="2586609" y="0"/>
                    <a:pt x="2594102" y="7620"/>
                    <a:pt x="2594102" y="16891"/>
                  </a:cubicBezTo>
                  <a:lnTo>
                    <a:pt x="2594102" y="1187323"/>
                  </a:lnTo>
                  <a:cubicBezTo>
                    <a:pt x="2594102" y="1196721"/>
                    <a:pt x="2586482" y="1204214"/>
                    <a:pt x="25772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2577211" y="1170432"/>
                  </a:lnTo>
                  <a:lnTo>
                    <a:pt x="2577211" y="1187323"/>
                  </a:lnTo>
                  <a:lnTo>
                    <a:pt x="2560320" y="1187323"/>
                  </a:lnTo>
                  <a:lnTo>
                    <a:pt x="2560320" y="16891"/>
                  </a:lnTo>
                  <a:lnTo>
                    <a:pt x="2577211" y="16891"/>
                  </a:lnTo>
                  <a:lnTo>
                    <a:pt x="2577211" y="33909"/>
                  </a:lnTo>
                  <a:lnTo>
                    <a:pt x="16891" y="33909"/>
                  </a:lnTo>
                  <a:close/>
                </a:path>
              </a:pathLst>
            </a:custGeom>
            <a:solidFill>
              <a:srgbClr val="1A1A1A"/>
            </a:solidFill>
          </p:spPr>
        </p:sp>
      </p:grpSp>
      <p:grpSp>
        <p:nvGrpSpPr>
          <p:cNvPr name="Group 60" id="60"/>
          <p:cNvGrpSpPr/>
          <p:nvPr/>
        </p:nvGrpSpPr>
        <p:grpSpPr>
          <a:xfrm rot="0">
            <a:off x="1054094" y="5436087"/>
            <a:ext cx="1920240" cy="877824"/>
            <a:chOff x="0" y="0"/>
            <a:chExt cx="2560320" cy="1170432"/>
          </a:xfrm>
        </p:grpSpPr>
        <p:sp>
          <p:nvSpPr>
            <p:cNvPr name="Freeform 61" id="61"/>
            <p:cNvSpPr/>
            <p:nvPr/>
          </p:nvSpPr>
          <p:spPr>
            <a:xfrm flipH="false" flipV="false" rot="0">
              <a:off x="0" y="0"/>
              <a:ext cx="2560320" cy="1170432"/>
            </a:xfrm>
            <a:custGeom>
              <a:avLst/>
              <a:gdLst/>
              <a:ahLst/>
              <a:cxnLst/>
              <a:rect r="r" b="b" t="t" l="l"/>
              <a:pathLst>
                <a:path h="1170432" w="2560320">
                  <a:moveTo>
                    <a:pt x="0" y="0"/>
                  </a:moveTo>
                  <a:lnTo>
                    <a:pt x="2560320" y="0"/>
                  </a:lnTo>
                  <a:lnTo>
                    <a:pt x="2560320" y="1170432"/>
                  </a:lnTo>
                  <a:lnTo>
                    <a:pt x="0" y="1170432"/>
                  </a:lnTo>
                  <a:close/>
                </a:path>
              </a:pathLst>
            </a:custGeom>
            <a:blipFill>
              <a:blip r:embed="rId2">
                <a:alphaModFix amt="0"/>
              </a:blip>
              <a:stretch>
                <a:fillRect l="-8653" t="0" r="-8653" b="0"/>
              </a:stretch>
            </a:blipFill>
          </p:spPr>
        </p:sp>
        <p:sp>
          <p:nvSpPr>
            <p:cNvPr name="TextBox 62" id="62"/>
            <p:cNvSpPr txBox="true"/>
            <p:nvPr/>
          </p:nvSpPr>
          <p:spPr>
            <a:xfrm>
              <a:off x="0" y="0"/>
              <a:ext cx="2560320" cy="1170432"/>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Est. 2</a:t>
              </a:r>
            </a:p>
          </p:txBody>
        </p:sp>
      </p:grpSp>
      <p:grpSp>
        <p:nvGrpSpPr>
          <p:cNvPr name="Group 63" id="63"/>
          <p:cNvGrpSpPr/>
          <p:nvPr/>
        </p:nvGrpSpPr>
        <p:grpSpPr>
          <a:xfrm rot="0">
            <a:off x="2961637" y="5423391"/>
            <a:ext cx="2860043" cy="903227"/>
            <a:chOff x="0" y="0"/>
            <a:chExt cx="3813391" cy="1204303"/>
          </a:xfrm>
        </p:grpSpPr>
        <p:sp>
          <p:nvSpPr>
            <p:cNvPr name="Freeform 64" id="64"/>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FFFFF"/>
            </a:solidFill>
          </p:spPr>
        </p:sp>
        <p:sp>
          <p:nvSpPr>
            <p:cNvPr name="Freeform 65" id="65"/>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66" id="66"/>
          <p:cNvGrpSpPr/>
          <p:nvPr/>
        </p:nvGrpSpPr>
        <p:grpSpPr>
          <a:xfrm rot="0">
            <a:off x="2974334" y="5436087"/>
            <a:ext cx="2834640" cy="877824"/>
            <a:chOff x="0" y="0"/>
            <a:chExt cx="3779520" cy="1170432"/>
          </a:xfrm>
        </p:grpSpPr>
        <p:sp>
          <p:nvSpPr>
            <p:cNvPr name="Freeform 67" id="67"/>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68" id="68"/>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78</a:t>
              </a:r>
            </a:p>
          </p:txBody>
        </p:sp>
      </p:grpSp>
      <p:grpSp>
        <p:nvGrpSpPr>
          <p:cNvPr name="Group 69" id="69"/>
          <p:cNvGrpSpPr/>
          <p:nvPr/>
        </p:nvGrpSpPr>
        <p:grpSpPr>
          <a:xfrm rot="0">
            <a:off x="5796277" y="5423391"/>
            <a:ext cx="2860043" cy="903227"/>
            <a:chOff x="0" y="0"/>
            <a:chExt cx="3813391" cy="1204303"/>
          </a:xfrm>
        </p:grpSpPr>
        <p:sp>
          <p:nvSpPr>
            <p:cNvPr name="Freeform 70" id="70"/>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FFFFF"/>
            </a:solidFill>
          </p:spPr>
        </p:sp>
        <p:sp>
          <p:nvSpPr>
            <p:cNvPr name="Freeform 71" id="71"/>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72" id="72"/>
          <p:cNvGrpSpPr/>
          <p:nvPr/>
        </p:nvGrpSpPr>
        <p:grpSpPr>
          <a:xfrm rot="0">
            <a:off x="5808974" y="5436087"/>
            <a:ext cx="2834640" cy="877824"/>
            <a:chOff x="0" y="0"/>
            <a:chExt cx="3779520" cy="1170432"/>
          </a:xfrm>
        </p:grpSpPr>
        <p:sp>
          <p:nvSpPr>
            <p:cNvPr name="Freeform 73" id="73"/>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74" id="74"/>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85</a:t>
              </a:r>
            </a:p>
          </p:txBody>
        </p:sp>
      </p:grpSp>
      <p:grpSp>
        <p:nvGrpSpPr>
          <p:cNvPr name="Group 75" id="75"/>
          <p:cNvGrpSpPr/>
          <p:nvPr/>
        </p:nvGrpSpPr>
        <p:grpSpPr>
          <a:xfrm rot="0">
            <a:off x="8630917" y="5423391"/>
            <a:ext cx="2860043" cy="903227"/>
            <a:chOff x="0" y="0"/>
            <a:chExt cx="3813391" cy="1204303"/>
          </a:xfrm>
        </p:grpSpPr>
        <p:sp>
          <p:nvSpPr>
            <p:cNvPr name="Freeform 76" id="76"/>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FFFFF"/>
            </a:solidFill>
          </p:spPr>
        </p:sp>
        <p:sp>
          <p:nvSpPr>
            <p:cNvPr name="Freeform 77" id="77"/>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78" id="78"/>
          <p:cNvGrpSpPr/>
          <p:nvPr/>
        </p:nvGrpSpPr>
        <p:grpSpPr>
          <a:xfrm rot="0">
            <a:off x="8643614" y="5436087"/>
            <a:ext cx="2834640" cy="877824"/>
            <a:chOff x="0" y="0"/>
            <a:chExt cx="3779520" cy="1170432"/>
          </a:xfrm>
        </p:grpSpPr>
        <p:sp>
          <p:nvSpPr>
            <p:cNvPr name="Freeform 79" id="79"/>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80" id="80"/>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60</a:t>
              </a:r>
            </a:p>
          </p:txBody>
        </p:sp>
      </p:grpSp>
      <p:grpSp>
        <p:nvGrpSpPr>
          <p:cNvPr name="Group 81" id="81"/>
          <p:cNvGrpSpPr/>
          <p:nvPr/>
        </p:nvGrpSpPr>
        <p:grpSpPr>
          <a:xfrm rot="0">
            <a:off x="11465557" y="5423391"/>
            <a:ext cx="2860043" cy="903227"/>
            <a:chOff x="0" y="0"/>
            <a:chExt cx="3813391" cy="1204303"/>
          </a:xfrm>
        </p:grpSpPr>
        <p:sp>
          <p:nvSpPr>
            <p:cNvPr name="Freeform 82" id="82"/>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FFFFF"/>
            </a:solidFill>
          </p:spPr>
        </p:sp>
        <p:sp>
          <p:nvSpPr>
            <p:cNvPr name="Freeform 83" id="83"/>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84" id="84"/>
          <p:cNvGrpSpPr/>
          <p:nvPr/>
        </p:nvGrpSpPr>
        <p:grpSpPr>
          <a:xfrm rot="0">
            <a:off x="11478254" y="5436087"/>
            <a:ext cx="2834640" cy="877824"/>
            <a:chOff x="0" y="0"/>
            <a:chExt cx="3779520" cy="1170432"/>
          </a:xfrm>
        </p:grpSpPr>
        <p:sp>
          <p:nvSpPr>
            <p:cNvPr name="Freeform 85" id="85"/>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86" id="86"/>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92</a:t>
              </a:r>
            </a:p>
          </p:txBody>
        </p:sp>
      </p:grpSp>
      <p:grpSp>
        <p:nvGrpSpPr>
          <p:cNvPr name="Group 87" id="87"/>
          <p:cNvGrpSpPr/>
          <p:nvPr/>
        </p:nvGrpSpPr>
        <p:grpSpPr>
          <a:xfrm rot="0">
            <a:off x="1041397" y="6301215"/>
            <a:ext cx="1945643" cy="903227"/>
            <a:chOff x="0" y="0"/>
            <a:chExt cx="2594191" cy="1204303"/>
          </a:xfrm>
        </p:grpSpPr>
        <p:sp>
          <p:nvSpPr>
            <p:cNvPr name="Freeform 88" id="88"/>
            <p:cNvSpPr/>
            <p:nvPr/>
          </p:nvSpPr>
          <p:spPr>
            <a:xfrm flipH="false" flipV="false" rot="0">
              <a:off x="16891" y="16891"/>
              <a:ext cx="2560320" cy="1170432"/>
            </a:xfrm>
            <a:custGeom>
              <a:avLst/>
              <a:gdLst/>
              <a:ahLst/>
              <a:cxnLst/>
              <a:rect r="r" b="b" t="t" l="l"/>
              <a:pathLst>
                <a:path h="1170432" w="2560320">
                  <a:moveTo>
                    <a:pt x="0" y="0"/>
                  </a:moveTo>
                  <a:lnTo>
                    <a:pt x="2560320" y="0"/>
                  </a:lnTo>
                  <a:lnTo>
                    <a:pt x="2560320" y="1170432"/>
                  </a:lnTo>
                  <a:lnTo>
                    <a:pt x="0" y="1170432"/>
                  </a:lnTo>
                  <a:close/>
                </a:path>
              </a:pathLst>
            </a:custGeom>
            <a:solidFill>
              <a:srgbClr val="1A1A1A"/>
            </a:solidFill>
          </p:spPr>
        </p:sp>
        <p:sp>
          <p:nvSpPr>
            <p:cNvPr name="Freeform 89" id="89"/>
            <p:cNvSpPr/>
            <p:nvPr/>
          </p:nvSpPr>
          <p:spPr>
            <a:xfrm flipH="false" flipV="false" rot="0">
              <a:off x="0" y="0"/>
              <a:ext cx="2594102" cy="1204216"/>
            </a:xfrm>
            <a:custGeom>
              <a:avLst/>
              <a:gdLst/>
              <a:ahLst/>
              <a:cxnLst/>
              <a:rect r="r" b="b" t="t" l="l"/>
              <a:pathLst>
                <a:path h="1204216" w="2594102">
                  <a:moveTo>
                    <a:pt x="16891" y="0"/>
                  </a:moveTo>
                  <a:lnTo>
                    <a:pt x="2577211" y="0"/>
                  </a:lnTo>
                  <a:cubicBezTo>
                    <a:pt x="2586609" y="0"/>
                    <a:pt x="2594102" y="7620"/>
                    <a:pt x="2594102" y="16891"/>
                  </a:cubicBezTo>
                  <a:lnTo>
                    <a:pt x="2594102" y="1187323"/>
                  </a:lnTo>
                  <a:cubicBezTo>
                    <a:pt x="2594102" y="1196721"/>
                    <a:pt x="2586482" y="1204214"/>
                    <a:pt x="25772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2577211" y="1170432"/>
                  </a:lnTo>
                  <a:lnTo>
                    <a:pt x="2577211" y="1187323"/>
                  </a:lnTo>
                  <a:lnTo>
                    <a:pt x="2560320" y="1187323"/>
                  </a:lnTo>
                  <a:lnTo>
                    <a:pt x="2560320" y="16891"/>
                  </a:lnTo>
                  <a:lnTo>
                    <a:pt x="2577211" y="16891"/>
                  </a:lnTo>
                  <a:lnTo>
                    <a:pt x="2577211" y="33909"/>
                  </a:lnTo>
                  <a:lnTo>
                    <a:pt x="16891" y="33909"/>
                  </a:lnTo>
                  <a:close/>
                </a:path>
              </a:pathLst>
            </a:custGeom>
            <a:solidFill>
              <a:srgbClr val="1A1A1A"/>
            </a:solidFill>
          </p:spPr>
        </p:sp>
      </p:grpSp>
      <p:grpSp>
        <p:nvGrpSpPr>
          <p:cNvPr name="Group 90" id="90"/>
          <p:cNvGrpSpPr/>
          <p:nvPr/>
        </p:nvGrpSpPr>
        <p:grpSpPr>
          <a:xfrm rot="0">
            <a:off x="1054094" y="6313911"/>
            <a:ext cx="1920240" cy="877824"/>
            <a:chOff x="0" y="0"/>
            <a:chExt cx="2560320" cy="1170432"/>
          </a:xfrm>
        </p:grpSpPr>
        <p:sp>
          <p:nvSpPr>
            <p:cNvPr name="Freeform 91" id="91"/>
            <p:cNvSpPr/>
            <p:nvPr/>
          </p:nvSpPr>
          <p:spPr>
            <a:xfrm flipH="false" flipV="false" rot="0">
              <a:off x="0" y="0"/>
              <a:ext cx="2560320" cy="1170432"/>
            </a:xfrm>
            <a:custGeom>
              <a:avLst/>
              <a:gdLst/>
              <a:ahLst/>
              <a:cxnLst/>
              <a:rect r="r" b="b" t="t" l="l"/>
              <a:pathLst>
                <a:path h="1170432" w="2560320">
                  <a:moveTo>
                    <a:pt x="0" y="0"/>
                  </a:moveTo>
                  <a:lnTo>
                    <a:pt x="2560320" y="0"/>
                  </a:lnTo>
                  <a:lnTo>
                    <a:pt x="2560320" y="1170432"/>
                  </a:lnTo>
                  <a:lnTo>
                    <a:pt x="0" y="1170432"/>
                  </a:lnTo>
                  <a:close/>
                </a:path>
              </a:pathLst>
            </a:custGeom>
            <a:blipFill>
              <a:blip r:embed="rId2">
                <a:alphaModFix amt="0"/>
              </a:blip>
              <a:stretch>
                <a:fillRect l="-8653" t="0" r="-8653" b="0"/>
              </a:stretch>
            </a:blipFill>
          </p:spPr>
        </p:sp>
        <p:sp>
          <p:nvSpPr>
            <p:cNvPr name="TextBox 92" id="92"/>
            <p:cNvSpPr txBox="true"/>
            <p:nvPr/>
          </p:nvSpPr>
          <p:spPr>
            <a:xfrm>
              <a:off x="0" y="0"/>
              <a:ext cx="2560320" cy="1170432"/>
            </a:xfrm>
            <a:prstGeom prst="rect">
              <a:avLst/>
            </a:prstGeom>
          </p:spPr>
          <p:txBody>
            <a:bodyPr anchor="ctr" rtlCol="false" tIns="0" lIns="0" bIns="0" rIns="0"/>
            <a:lstStyle/>
            <a:p>
              <a:pPr algn="ctr">
                <a:lnSpc>
                  <a:spcPts val="2640"/>
                </a:lnSpc>
              </a:pPr>
              <a:r>
                <a:rPr lang="en-US" sz="2200">
                  <a:solidFill>
                    <a:srgbClr val="FFFFFF"/>
                  </a:solidFill>
                  <a:latin typeface="Canva Sans"/>
                  <a:ea typeface="Canva Sans"/>
                  <a:cs typeface="Canva Sans"/>
                  <a:sym typeface="Canva Sans"/>
                </a:rPr>
                <a:t>Est. 3</a:t>
              </a:r>
            </a:p>
          </p:txBody>
        </p:sp>
      </p:grpSp>
      <p:grpSp>
        <p:nvGrpSpPr>
          <p:cNvPr name="Group 93" id="93"/>
          <p:cNvGrpSpPr/>
          <p:nvPr/>
        </p:nvGrpSpPr>
        <p:grpSpPr>
          <a:xfrm rot="0">
            <a:off x="2961637" y="6301215"/>
            <a:ext cx="2860043" cy="903227"/>
            <a:chOff x="0" y="0"/>
            <a:chExt cx="3813391" cy="1204303"/>
          </a:xfrm>
        </p:grpSpPr>
        <p:sp>
          <p:nvSpPr>
            <p:cNvPr name="Freeform 94" id="94"/>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95" id="95"/>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96" id="96"/>
          <p:cNvGrpSpPr/>
          <p:nvPr/>
        </p:nvGrpSpPr>
        <p:grpSpPr>
          <a:xfrm rot="0">
            <a:off x="2974334" y="6313911"/>
            <a:ext cx="2834640" cy="877824"/>
            <a:chOff x="0" y="0"/>
            <a:chExt cx="3779520" cy="1170432"/>
          </a:xfrm>
        </p:grpSpPr>
        <p:sp>
          <p:nvSpPr>
            <p:cNvPr name="Freeform 97" id="97"/>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98" id="98"/>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95</a:t>
              </a:r>
            </a:p>
          </p:txBody>
        </p:sp>
      </p:grpSp>
      <p:grpSp>
        <p:nvGrpSpPr>
          <p:cNvPr name="Group 99" id="99"/>
          <p:cNvGrpSpPr/>
          <p:nvPr/>
        </p:nvGrpSpPr>
        <p:grpSpPr>
          <a:xfrm rot="0">
            <a:off x="5796277" y="6301215"/>
            <a:ext cx="2860043" cy="903227"/>
            <a:chOff x="0" y="0"/>
            <a:chExt cx="3813391" cy="1204303"/>
          </a:xfrm>
        </p:grpSpPr>
        <p:sp>
          <p:nvSpPr>
            <p:cNvPr name="Freeform 100" id="100"/>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101" id="101"/>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102" id="102"/>
          <p:cNvGrpSpPr/>
          <p:nvPr/>
        </p:nvGrpSpPr>
        <p:grpSpPr>
          <a:xfrm rot="0">
            <a:off x="5808974" y="6313911"/>
            <a:ext cx="2834640" cy="877824"/>
            <a:chOff x="0" y="0"/>
            <a:chExt cx="3779520" cy="1170432"/>
          </a:xfrm>
        </p:grpSpPr>
        <p:sp>
          <p:nvSpPr>
            <p:cNvPr name="Freeform 103" id="103"/>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104" id="104"/>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88</a:t>
              </a:r>
            </a:p>
          </p:txBody>
        </p:sp>
      </p:grpSp>
      <p:grpSp>
        <p:nvGrpSpPr>
          <p:cNvPr name="Group 105" id="105"/>
          <p:cNvGrpSpPr/>
          <p:nvPr/>
        </p:nvGrpSpPr>
        <p:grpSpPr>
          <a:xfrm rot="0">
            <a:off x="8630917" y="6301215"/>
            <a:ext cx="2860043" cy="903227"/>
            <a:chOff x="0" y="0"/>
            <a:chExt cx="3813391" cy="1204303"/>
          </a:xfrm>
        </p:grpSpPr>
        <p:sp>
          <p:nvSpPr>
            <p:cNvPr name="Freeform 106" id="106"/>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107" id="107"/>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108" id="108"/>
          <p:cNvGrpSpPr/>
          <p:nvPr/>
        </p:nvGrpSpPr>
        <p:grpSpPr>
          <a:xfrm rot="0">
            <a:off x="8643614" y="6313911"/>
            <a:ext cx="2834640" cy="877824"/>
            <a:chOff x="0" y="0"/>
            <a:chExt cx="3779520" cy="1170432"/>
          </a:xfrm>
        </p:grpSpPr>
        <p:sp>
          <p:nvSpPr>
            <p:cNvPr name="Freeform 109" id="109"/>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110" id="110"/>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74</a:t>
              </a:r>
            </a:p>
          </p:txBody>
        </p:sp>
      </p:grpSp>
      <p:grpSp>
        <p:nvGrpSpPr>
          <p:cNvPr name="Group 111" id="111"/>
          <p:cNvGrpSpPr/>
          <p:nvPr/>
        </p:nvGrpSpPr>
        <p:grpSpPr>
          <a:xfrm rot="0">
            <a:off x="11465557" y="6301215"/>
            <a:ext cx="2860043" cy="903227"/>
            <a:chOff x="0" y="0"/>
            <a:chExt cx="3813391" cy="1204303"/>
          </a:xfrm>
        </p:grpSpPr>
        <p:sp>
          <p:nvSpPr>
            <p:cNvPr name="Freeform 112" id="112"/>
            <p:cNvSpPr/>
            <p:nvPr/>
          </p:nvSpPr>
          <p:spPr>
            <a:xfrm flipH="false" flipV="false" rot="0">
              <a:off x="16891" y="16891"/>
              <a:ext cx="3779520" cy="1170432"/>
            </a:xfrm>
            <a:custGeom>
              <a:avLst/>
              <a:gdLst/>
              <a:ahLst/>
              <a:cxnLst/>
              <a:rect r="r" b="b" t="t" l="l"/>
              <a:pathLst>
                <a:path h="1170432" w="3779520">
                  <a:moveTo>
                    <a:pt x="0" y="0"/>
                  </a:moveTo>
                  <a:lnTo>
                    <a:pt x="3779520" y="0"/>
                  </a:lnTo>
                  <a:lnTo>
                    <a:pt x="3779520" y="1170432"/>
                  </a:lnTo>
                  <a:lnTo>
                    <a:pt x="0" y="1170432"/>
                  </a:lnTo>
                  <a:close/>
                </a:path>
              </a:pathLst>
            </a:custGeom>
            <a:solidFill>
              <a:srgbClr val="F5F5F5"/>
            </a:solidFill>
          </p:spPr>
        </p:sp>
        <p:sp>
          <p:nvSpPr>
            <p:cNvPr name="Freeform 113" id="113"/>
            <p:cNvSpPr/>
            <p:nvPr/>
          </p:nvSpPr>
          <p:spPr>
            <a:xfrm flipH="false" flipV="false" rot="0">
              <a:off x="0" y="0"/>
              <a:ext cx="3813302" cy="1204216"/>
            </a:xfrm>
            <a:custGeom>
              <a:avLst/>
              <a:gdLst/>
              <a:ahLst/>
              <a:cxnLst/>
              <a:rect r="r" b="b" t="t" l="l"/>
              <a:pathLst>
                <a:path h="1204216" w="3813302">
                  <a:moveTo>
                    <a:pt x="16891" y="0"/>
                  </a:moveTo>
                  <a:lnTo>
                    <a:pt x="3796411" y="0"/>
                  </a:lnTo>
                  <a:cubicBezTo>
                    <a:pt x="3805809" y="0"/>
                    <a:pt x="3813302" y="7620"/>
                    <a:pt x="3813302" y="16891"/>
                  </a:cubicBezTo>
                  <a:lnTo>
                    <a:pt x="3813302" y="1187323"/>
                  </a:lnTo>
                  <a:cubicBezTo>
                    <a:pt x="3813302" y="1196721"/>
                    <a:pt x="3805682" y="1204214"/>
                    <a:pt x="379641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796411" y="1170432"/>
                  </a:lnTo>
                  <a:lnTo>
                    <a:pt x="3796411" y="1187323"/>
                  </a:lnTo>
                  <a:lnTo>
                    <a:pt x="3779520" y="1187323"/>
                  </a:lnTo>
                  <a:lnTo>
                    <a:pt x="3779520" y="16891"/>
                  </a:lnTo>
                  <a:lnTo>
                    <a:pt x="3796411" y="16891"/>
                  </a:lnTo>
                  <a:lnTo>
                    <a:pt x="3796411" y="33909"/>
                  </a:lnTo>
                  <a:lnTo>
                    <a:pt x="16891" y="33909"/>
                  </a:lnTo>
                  <a:close/>
                </a:path>
              </a:pathLst>
            </a:custGeom>
            <a:solidFill>
              <a:srgbClr val="DDDDDD"/>
            </a:solidFill>
          </p:spPr>
        </p:sp>
      </p:grpSp>
      <p:grpSp>
        <p:nvGrpSpPr>
          <p:cNvPr name="Group 114" id="114"/>
          <p:cNvGrpSpPr/>
          <p:nvPr/>
        </p:nvGrpSpPr>
        <p:grpSpPr>
          <a:xfrm rot="0">
            <a:off x="11478254" y="6313911"/>
            <a:ext cx="2834640" cy="877824"/>
            <a:chOff x="0" y="0"/>
            <a:chExt cx="3779520" cy="1170432"/>
          </a:xfrm>
        </p:grpSpPr>
        <p:sp>
          <p:nvSpPr>
            <p:cNvPr name="Freeform 115" id="115"/>
            <p:cNvSpPr/>
            <p:nvPr/>
          </p:nvSpPr>
          <p:spPr>
            <a:xfrm flipH="false" flipV="false" rot="0">
              <a:off x="0" y="0"/>
              <a:ext cx="3779520" cy="1170432"/>
            </a:xfrm>
            <a:custGeom>
              <a:avLst/>
              <a:gdLst/>
              <a:ahLst/>
              <a:cxnLst/>
              <a:rect r="r" b="b" t="t" l="l"/>
              <a:pathLst>
                <a:path h="1170432" w="3779520">
                  <a:moveTo>
                    <a:pt x="0" y="0"/>
                  </a:moveTo>
                  <a:lnTo>
                    <a:pt x="3779520" y="0"/>
                  </a:lnTo>
                  <a:lnTo>
                    <a:pt x="3779520" y="1170432"/>
                  </a:lnTo>
                  <a:lnTo>
                    <a:pt x="0" y="1170432"/>
                  </a:lnTo>
                  <a:close/>
                </a:path>
              </a:pathLst>
            </a:custGeom>
            <a:blipFill>
              <a:blip r:embed="rId2">
                <a:alphaModFix amt="0"/>
              </a:blip>
              <a:stretch>
                <a:fillRect l="0" t="-12920" r="0" b="-12920"/>
              </a:stretch>
            </a:blipFill>
          </p:spPr>
        </p:sp>
        <p:sp>
          <p:nvSpPr>
            <p:cNvPr name="TextBox 116" id="116"/>
            <p:cNvSpPr txBox="true"/>
            <p:nvPr/>
          </p:nvSpPr>
          <p:spPr>
            <a:xfrm>
              <a:off x="0" y="0"/>
              <a:ext cx="3779520" cy="1170432"/>
            </a:xfrm>
            <a:prstGeom prst="rect">
              <a:avLst/>
            </a:prstGeom>
          </p:spPr>
          <p:txBody>
            <a:bodyPr anchor="ctr" rtlCol="false" tIns="0" lIns="0" bIns="0" rIns="0"/>
            <a:lstStyle/>
            <a:p>
              <a:pPr algn="ctr">
                <a:lnSpc>
                  <a:spcPts val="3600"/>
                </a:lnSpc>
              </a:pPr>
              <a:r>
                <a:rPr lang="en-US" sz="3000">
                  <a:solidFill>
                    <a:srgbClr val="1A1A1A"/>
                  </a:solidFill>
                  <a:latin typeface="Canva Sans"/>
                  <a:ea typeface="Canva Sans"/>
                  <a:cs typeface="Canva Sans"/>
                  <a:sym typeface="Canva Sans"/>
                </a:rPr>
                <a:t>81</a:t>
              </a:r>
            </a:p>
          </p:txBody>
        </p:sp>
      </p:grpSp>
      <p:grpSp>
        <p:nvGrpSpPr>
          <p:cNvPr name="Group 117" id="117"/>
          <p:cNvGrpSpPr/>
          <p:nvPr/>
        </p:nvGrpSpPr>
        <p:grpSpPr>
          <a:xfrm rot="0">
            <a:off x="14504964" y="5423391"/>
            <a:ext cx="3330745" cy="877824"/>
            <a:chOff x="0" y="0"/>
            <a:chExt cx="4440993" cy="1170432"/>
          </a:xfrm>
        </p:grpSpPr>
        <p:sp>
          <p:nvSpPr>
            <p:cNvPr name="Freeform 118" id="118"/>
            <p:cNvSpPr/>
            <p:nvPr/>
          </p:nvSpPr>
          <p:spPr>
            <a:xfrm flipH="false" flipV="false" rot="0">
              <a:off x="0" y="0"/>
              <a:ext cx="4440993" cy="1170432"/>
            </a:xfrm>
            <a:custGeom>
              <a:avLst/>
              <a:gdLst/>
              <a:ahLst/>
              <a:cxnLst/>
              <a:rect r="r" b="b" t="t" l="l"/>
              <a:pathLst>
                <a:path h="1170432" w="4440993">
                  <a:moveTo>
                    <a:pt x="0" y="0"/>
                  </a:moveTo>
                  <a:lnTo>
                    <a:pt x="4440993" y="0"/>
                  </a:lnTo>
                  <a:lnTo>
                    <a:pt x="4440993" y="1170432"/>
                  </a:lnTo>
                  <a:lnTo>
                    <a:pt x="0" y="1170432"/>
                  </a:lnTo>
                  <a:close/>
                </a:path>
              </a:pathLst>
            </a:custGeom>
            <a:blipFill>
              <a:blip r:embed="rId2">
                <a:alphaModFix amt="0"/>
              </a:blip>
              <a:stretch>
                <a:fillRect l="0" t="-43365" r="-26285" b="-43365"/>
              </a:stretch>
            </a:blipFill>
          </p:spPr>
        </p:sp>
        <p:sp>
          <p:nvSpPr>
            <p:cNvPr name="TextBox 119" id="119"/>
            <p:cNvSpPr txBox="true"/>
            <p:nvPr/>
          </p:nvSpPr>
          <p:spPr>
            <a:xfrm>
              <a:off x="0" y="-9525"/>
              <a:ext cx="4440993" cy="1179957"/>
            </a:xfrm>
            <a:prstGeom prst="rect">
              <a:avLst/>
            </a:prstGeom>
          </p:spPr>
          <p:txBody>
            <a:bodyPr anchor="ctr" rtlCol="false" tIns="0" lIns="0" bIns="0" rIns="0"/>
            <a:lstStyle/>
            <a:p>
              <a:pPr algn="l">
                <a:lnSpc>
                  <a:spcPts val="2400"/>
                </a:lnSpc>
              </a:pPr>
              <a:r>
                <a:rPr lang="en-US" sz="2000">
                  <a:solidFill>
                    <a:srgbClr val="000000"/>
                  </a:solidFill>
                  <a:latin typeface="Canva Sans"/>
                  <a:ea typeface="Canva Sans"/>
                  <a:cs typeface="Canva Sans"/>
                  <a:sym typeface="Canva Sans"/>
                </a:rPr>
                <a:t>← Para acceder al 60: fila 2 (Est.2), columna 3 (Mat.3)</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2578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Ejemplos de Matrices</a:t>
              </a:r>
            </a:p>
          </p:txBody>
        </p:sp>
      </p:grpSp>
      <p:sp>
        <p:nvSpPr>
          <p:cNvPr name="TextBox 5" id="5"/>
          <p:cNvSpPr txBox="true"/>
          <p:nvPr/>
        </p:nvSpPr>
        <p:spPr>
          <a:xfrm rot="0">
            <a:off x="1028700" y="1697228"/>
            <a:ext cx="16230600" cy="952500"/>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Una matriz aparece cuando la información tiene naturalmente dos categorías independientes que se cruzan entre sí.</a:t>
            </a:r>
          </a:p>
        </p:txBody>
      </p:sp>
      <p:graphicFrame>
        <p:nvGraphicFramePr>
          <p:cNvPr name="Table 6" id="6"/>
          <p:cNvGraphicFramePr>
            <a:graphicFrameLocks noGrp="true"/>
          </p:cNvGraphicFramePr>
          <p:nvPr/>
        </p:nvGraphicFramePr>
        <p:xfrm>
          <a:off x="1835426" y="2908300"/>
          <a:ext cx="14617147" cy="6350000"/>
        </p:xfrm>
        <a:graphic>
          <a:graphicData uri="http://schemas.openxmlformats.org/drawingml/2006/table">
            <a:tbl>
              <a:tblPr/>
              <a:tblGrid>
                <a:gridCol w="3298348"/>
                <a:gridCol w="7649739"/>
                <a:gridCol w="3669060"/>
              </a:tblGrid>
              <a:tr h="1270000">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Situación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Estructura (filas × columnas)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Tamaño total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Calificaciones del salón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Filas = estudiantes, Columnas = materias. Cada celda = nota de ese estudiante en esa materia.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30 estudiantes × 5 materias = 150 celdas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Horario de clases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Filas = días de la semana, Columnas = períodos. Cada celda = materia en ese día y período.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5 días × 8 períodos = 40 celdas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Mapa de un juego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Filas = coordenada Y, Columnas = coordenada X. Cada celda = tipo de terreno en esa posición.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10 filas × 10 col. = 100 celdas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270000">
                <a:tc>
                  <a:txBody>
                    <a:bodyPr anchor="t" rtlCol="false"/>
                    <a:lstStyle/>
                    <a:p>
                      <a:pPr algn="l">
                        <a:lnSpc>
                          <a:spcPts val="2760"/>
                        </a:lnSpc>
                        <a:defRPr/>
                      </a:pPr>
                      <a:r>
                        <a:rPr lang="en-US" sz="2300">
                          <a:solidFill>
                            <a:srgbClr val="000000"/>
                          </a:solidFill>
                          <a:latin typeface="Calibri (MS)"/>
                          <a:ea typeface="Calibri (MS)"/>
                          <a:cs typeface="Calibri (MS)"/>
                          <a:sym typeface="Calibri (MS)"/>
                        </a:rPr>
                        <a:t>Ventas mensuales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Filas = productos, Columnas = meses. Cada celda = unidades vendidas de ese producto en ese mes.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20 productos × 12 meses = 240 celdas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
        <p:nvSpPr>
          <p:cNvPr name="TextBox 7" id="7"/>
          <p:cNvSpPr txBox="true"/>
          <p:nvPr/>
        </p:nvSpPr>
        <p:spPr>
          <a:xfrm rot="0">
            <a:off x="1005840" y="10340340"/>
            <a:ext cx="16276320" cy="714756"/>
          </a:xfrm>
          <a:prstGeom prst="rect">
            <a:avLst/>
          </a:prstGeom>
        </p:spPr>
        <p:txBody>
          <a:bodyPr anchor="t" rtlCol="false" tIns="0" lIns="0" bIns="0" rIns="0">
            <a:spAutoFit/>
          </a:bodyPr>
          <a:lstStyle/>
          <a:p>
            <a:pPr algn="l">
              <a:lnSpc>
                <a:spcPts val="2879"/>
              </a:lnSpc>
            </a:pPr>
            <a:r>
              <a:rPr lang="en-US" sz="2400">
                <a:solidFill>
                  <a:srgbClr val="444444"/>
                </a:solidFill>
                <a:latin typeface="Calibri (MS)"/>
                <a:ea typeface="Calibri (MS)"/>
                <a:cs typeface="Calibri (MS)"/>
                <a:sym typeface="Calibri (MS)"/>
              </a:rPr>
              <a:t>Cuando los datos tienen dos categorías que se cruzan (estudiante + materia, día + período), la matriz es la estructura natural. Si sólo hay una categoría (una lista), el vector es suficiente.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7275" y="1569076"/>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¿Por qué se necesitan ciclos para trabajar con arreglos?</a:t>
              </a:r>
            </a:p>
          </p:txBody>
        </p:sp>
      </p:grpSp>
      <p:sp>
        <p:nvSpPr>
          <p:cNvPr name="TextBox 5" id="5"/>
          <p:cNvSpPr txBox="true"/>
          <p:nvPr/>
        </p:nvSpPr>
        <p:spPr>
          <a:xfrm rot="0">
            <a:off x="982980" y="3176883"/>
            <a:ext cx="16276320" cy="952500"/>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Un arreglo puede tener decenas o cientos de posiciones. Sin ciclos, habría que escribir una línea por cada posición:</a:t>
            </a:r>
          </a:p>
        </p:txBody>
      </p:sp>
      <p:grpSp>
        <p:nvGrpSpPr>
          <p:cNvPr name="Group 6" id="6"/>
          <p:cNvGrpSpPr/>
          <p:nvPr/>
        </p:nvGrpSpPr>
        <p:grpSpPr>
          <a:xfrm rot="0">
            <a:off x="901698" y="4788499"/>
            <a:ext cx="8072123" cy="3170939"/>
            <a:chOff x="0" y="0"/>
            <a:chExt cx="10762831" cy="4227919"/>
          </a:xfrm>
        </p:grpSpPr>
        <p:sp>
          <p:nvSpPr>
            <p:cNvPr name="Freeform 7" id="7"/>
            <p:cNvSpPr/>
            <p:nvPr/>
          </p:nvSpPr>
          <p:spPr>
            <a:xfrm flipH="false" flipV="false" rot="0">
              <a:off x="16891" y="16891"/>
              <a:ext cx="10728960" cy="4194048"/>
            </a:xfrm>
            <a:custGeom>
              <a:avLst/>
              <a:gdLst/>
              <a:ahLst/>
              <a:cxnLst/>
              <a:rect r="r" b="b" t="t" l="l"/>
              <a:pathLst>
                <a:path h="4194048" w="10728960">
                  <a:moveTo>
                    <a:pt x="0" y="0"/>
                  </a:moveTo>
                  <a:lnTo>
                    <a:pt x="10728960" y="0"/>
                  </a:lnTo>
                  <a:lnTo>
                    <a:pt x="10728960" y="4194048"/>
                  </a:lnTo>
                  <a:lnTo>
                    <a:pt x="0" y="4194048"/>
                  </a:lnTo>
                  <a:close/>
                </a:path>
              </a:pathLst>
            </a:custGeom>
            <a:solidFill>
              <a:srgbClr val="F5F5F5"/>
            </a:solidFill>
          </p:spPr>
        </p:sp>
        <p:sp>
          <p:nvSpPr>
            <p:cNvPr name="Freeform 8" id="8"/>
            <p:cNvSpPr/>
            <p:nvPr/>
          </p:nvSpPr>
          <p:spPr>
            <a:xfrm flipH="false" flipV="false" rot="0">
              <a:off x="0" y="0"/>
              <a:ext cx="10762742" cy="4227830"/>
            </a:xfrm>
            <a:custGeom>
              <a:avLst/>
              <a:gdLst/>
              <a:ahLst/>
              <a:cxnLst/>
              <a:rect r="r" b="b" t="t" l="l"/>
              <a:pathLst>
                <a:path h="4227830" w="10762742">
                  <a:moveTo>
                    <a:pt x="16891" y="0"/>
                  </a:moveTo>
                  <a:lnTo>
                    <a:pt x="10745851" y="0"/>
                  </a:lnTo>
                  <a:cubicBezTo>
                    <a:pt x="10755249" y="0"/>
                    <a:pt x="10762742" y="7620"/>
                    <a:pt x="10762742" y="16891"/>
                  </a:cubicBezTo>
                  <a:lnTo>
                    <a:pt x="10762742" y="4210939"/>
                  </a:lnTo>
                  <a:cubicBezTo>
                    <a:pt x="10762742" y="4220337"/>
                    <a:pt x="10755122" y="4227830"/>
                    <a:pt x="10745851" y="4227830"/>
                  </a:cubicBezTo>
                  <a:lnTo>
                    <a:pt x="16891" y="4227830"/>
                  </a:lnTo>
                  <a:cubicBezTo>
                    <a:pt x="7493" y="4227830"/>
                    <a:pt x="0" y="4220210"/>
                    <a:pt x="0" y="4210939"/>
                  </a:cubicBezTo>
                  <a:lnTo>
                    <a:pt x="0" y="16891"/>
                  </a:lnTo>
                  <a:cubicBezTo>
                    <a:pt x="0" y="7620"/>
                    <a:pt x="7620" y="0"/>
                    <a:pt x="16891" y="0"/>
                  </a:cubicBezTo>
                  <a:moveTo>
                    <a:pt x="16891" y="33909"/>
                  </a:moveTo>
                  <a:lnTo>
                    <a:pt x="16891" y="16891"/>
                  </a:lnTo>
                  <a:lnTo>
                    <a:pt x="33909" y="16891"/>
                  </a:lnTo>
                  <a:lnTo>
                    <a:pt x="33909" y="4210939"/>
                  </a:lnTo>
                  <a:lnTo>
                    <a:pt x="16891" y="4210939"/>
                  </a:lnTo>
                  <a:lnTo>
                    <a:pt x="16891" y="4194048"/>
                  </a:lnTo>
                  <a:lnTo>
                    <a:pt x="10745851" y="4194048"/>
                  </a:lnTo>
                  <a:lnTo>
                    <a:pt x="10745851" y="4210939"/>
                  </a:lnTo>
                  <a:lnTo>
                    <a:pt x="10728960" y="4210939"/>
                  </a:lnTo>
                  <a:lnTo>
                    <a:pt x="10728960" y="16891"/>
                  </a:lnTo>
                  <a:lnTo>
                    <a:pt x="10745851" y="16891"/>
                  </a:lnTo>
                  <a:lnTo>
                    <a:pt x="10745851" y="33909"/>
                  </a:lnTo>
                  <a:lnTo>
                    <a:pt x="16891" y="33909"/>
                  </a:lnTo>
                  <a:close/>
                </a:path>
              </a:pathLst>
            </a:custGeom>
            <a:solidFill>
              <a:srgbClr val="DDDDDD"/>
            </a:solidFill>
          </p:spPr>
        </p:sp>
      </p:grpSp>
      <p:sp>
        <p:nvSpPr>
          <p:cNvPr name="TextBox 9" id="9"/>
          <p:cNvSpPr txBox="true"/>
          <p:nvPr/>
        </p:nvSpPr>
        <p:spPr>
          <a:xfrm rot="0">
            <a:off x="1280155" y="4982171"/>
            <a:ext cx="7315200" cy="2735961"/>
          </a:xfrm>
          <a:prstGeom prst="rect">
            <a:avLst/>
          </a:prstGeom>
        </p:spPr>
        <p:txBody>
          <a:bodyPr anchor="t" rtlCol="false" tIns="0" lIns="0" bIns="0" rIns="0">
            <a:spAutoFit/>
          </a:bodyPr>
          <a:lstStyle/>
          <a:p>
            <a:pPr algn="l">
              <a:lnSpc>
                <a:spcPts val="2520"/>
              </a:lnSpc>
            </a:pPr>
            <a:r>
              <a:rPr lang="en-US" sz="2100">
                <a:solidFill>
                  <a:srgbClr val="1A1A1A"/>
                </a:solidFill>
                <a:latin typeface="Consolas"/>
                <a:ea typeface="Consolas"/>
                <a:cs typeface="Consolas"/>
                <a:sym typeface="Consolas"/>
              </a:rPr>
              <a:t>// Sin ciclos: leer 5 notas requiere 5 líneas explícitas</a:t>
            </a:r>
          </a:p>
          <a:p>
            <a:pPr algn="l">
              <a:lnSpc>
                <a:spcPts val="2520"/>
              </a:lnSpc>
            </a:pPr>
            <a:r>
              <a:rPr lang="en-US" sz="2100">
                <a:solidFill>
                  <a:srgbClr val="1A1A1A"/>
                </a:solidFill>
                <a:latin typeface="Consolas"/>
                <a:ea typeface="Consolas"/>
                <a:cs typeface="Consolas"/>
                <a:sym typeface="Consolas"/>
              </a:rPr>
              <a:t>Leer notas(1)</a:t>
            </a:r>
          </a:p>
          <a:p>
            <a:pPr algn="l">
              <a:lnSpc>
                <a:spcPts val="2520"/>
              </a:lnSpc>
            </a:pPr>
            <a:r>
              <a:rPr lang="en-US" sz="2100">
                <a:solidFill>
                  <a:srgbClr val="1A1A1A"/>
                </a:solidFill>
                <a:latin typeface="Consolas"/>
                <a:ea typeface="Consolas"/>
                <a:cs typeface="Consolas"/>
                <a:sym typeface="Consolas"/>
              </a:rPr>
              <a:t>Leer notas(2)</a:t>
            </a:r>
          </a:p>
          <a:p>
            <a:pPr algn="l">
              <a:lnSpc>
                <a:spcPts val="2520"/>
              </a:lnSpc>
            </a:pPr>
            <a:r>
              <a:rPr lang="en-US" sz="2100">
                <a:solidFill>
                  <a:srgbClr val="1A1A1A"/>
                </a:solidFill>
                <a:latin typeface="Consolas"/>
                <a:ea typeface="Consolas"/>
                <a:cs typeface="Consolas"/>
                <a:sym typeface="Consolas"/>
              </a:rPr>
              <a:t>Leer notas(3)</a:t>
            </a:r>
          </a:p>
          <a:p>
            <a:pPr algn="l">
              <a:lnSpc>
                <a:spcPts val="2520"/>
              </a:lnSpc>
            </a:pPr>
            <a:r>
              <a:rPr lang="en-US" sz="2100">
                <a:solidFill>
                  <a:srgbClr val="1A1A1A"/>
                </a:solidFill>
                <a:latin typeface="Consolas"/>
                <a:ea typeface="Consolas"/>
                <a:cs typeface="Consolas"/>
                <a:sym typeface="Consolas"/>
              </a:rPr>
              <a:t>Leer notas(4)</a:t>
            </a:r>
          </a:p>
          <a:p>
            <a:pPr algn="l">
              <a:lnSpc>
                <a:spcPts val="2520"/>
              </a:lnSpc>
            </a:pPr>
            <a:r>
              <a:rPr lang="en-US" sz="2100">
                <a:solidFill>
                  <a:srgbClr val="1A1A1A"/>
                </a:solidFill>
                <a:latin typeface="Consolas"/>
                <a:ea typeface="Consolas"/>
                <a:cs typeface="Consolas"/>
                <a:sym typeface="Consolas"/>
              </a:rPr>
              <a:t>Leer notas(5)</a:t>
            </a:r>
          </a:p>
          <a:p>
            <a:pPr algn="l">
              <a:lnSpc>
                <a:spcPts val="2520"/>
              </a:lnSpc>
            </a:pPr>
            <a:r>
              <a:rPr lang="en-US" sz="2100">
                <a:solidFill>
                  <a:srgbClr val="1A1A1A"/>
                </a:solidFill>
                <a:latin typeface="Consolas"/>
                <a:ea typeface="Consolas"/>
                <a:cs typeface="Consolas"/>
                <a:sym typeface="Consolas"/>
              </a:rPr>
              <a:t>// Y si fueran 100 notas, serían 100 líneas...</a:t>
            </a:r>
          </a:p>
        </p:txBody>
      </p:sp>
      <p:grpSp>
        <p:nvGrpSpPr>
          <p:cNvPr name="Group 10" id="10"/>
          <p:cNvGrpSpPr/>
          <p:nvPr/>
        </p:nvGrpSpPr>
        <p:grpSpPr>
          <a:xfrm rot="0">
            <a:off x="8948418" y="4788499"/>
            <a:ext cx="8437883" cy="3170939"/>
            <a:chOff x="0" y="0"/>
            <a:chExt cx="11250511" cy="4227919"/>
          </a:xfrm>
        </p:grpSpPr>
        <p:sp>
          <p:nvSpPr>
            <p:cNvPr name="Freeform 11" id="11"/>
            <p:cNvSpPr/>
            <p:nvPr/>
          </p:nvSpPr>
          <p:spPr>
            <a:xfrm flipH="false" flipV="false" rot="0">
              <a:off x="16891" y="16891"/>
              <a:ext cx="11216640" cy="4194048"/>
            </a:xfrm>
            <a:custGeom>
              <a:avLst/>
              <a:gdLst/>
              <a:ahLst/>
              <a:cxnLst/>
              <a:rect r="r" b="b" t="t" l="l"/>
              <a:pathLst>
                <a:path h="4194048" w="11216640">
                  <a:moveTo>
                    <a:pt x="0" y="0"/>
                  </a:moveTo>
                  <a:lnTo>
                    <a:pt x="11216640" y="0"/>
                  </a:lnTo>
                  <a:lnTo>
                    <a:pt x="11216640" y="4194048"/>
                  </a:lnTo>
                  <a:lnTo>
                    <a:pt x="0" y="4194048"/>
                  </a:lnTo>
                  <a:close/>
                </a:path>
              </a:pathLst>
            </a:custGeom>
            <a:solidFill>
              <a:srgbClr val="F5F5F5"/>
            </a:solidFill>
          </p:spPr>
        </p:sp>
        <p:sp>
          <p:nvSpPr>
            <p:cNvPr name="Freeform 12" id="12"/>
            <p:cNvSpPr/>
            <p:nvPr/>
          </p:nvSpPr>
          <p:spPr>
            <a:xfrm flipH="false" flipV="false" rot="0">
              <a:off x="0" y="0"/>
              <a:ext cx="11250422" cy="4227830"/>
            </a:xfrm>
            <a:custGeom>
              <a:avLst/>
              <a:gdLst/>
              <a:ahLst/>
              <a:cxnLst/>
              <a:rect r="r" b="b" t="t" l="l"/>
              <a:pathLst>
                <a:path h="4227830" w="11250422">
                  <a:moveTo>
                    <a:pt x="16891" y="0"/>
                  </a:moveTo>
                  <a:lnTo>
                    <a:pt x="11233531" y="0"/>
                  </a:lnTo>
                  <a:cubicBezTo>
                    <a:pt x="11242929" y="0"/>
                    <a:pt x="11250422" y="7620"/>
                    <a:pt x="11250422" y="16891"/>
                  </a:cubicBezTo>
                  <a:lnTo>
                    <a:pt x="11250422" y="4210939"/>
                  </a:lnTo>
                  <a:cubicBezTo>
                    <a:pt x="11250422" y="4220337"/>
                    <a:pt x="11242802" y="4227830"/>
                    <a:pt x="11233531" y="4227830"/>
                  </a:cubicBezTo>
                  <a:lnTo>
                    <a:pt x="16891" y="4227830"/>
                  </a:lnTo>
                  <a:cubicBezTo>
                    <a:pt x="7493" y="4227830"/>
                    <a:pt x="0" y="4220210"/>
                    <a:pt x="0" y="4210939"/>
                  </a:cubicBezTo>
                  <a:lnTo>
                    <a:pt x="0" y="16891"/>
                  </a:lnTo>
                  <a:cubicBezTo>
                    <a:pt x="0" y="7620"/>
                    <a:pt x="7620" y="0"/>
                    <a:pt x="16891" y="0"/>
                  </a:cubicBezTo>
                  <a:moveTo>
                    <a:pt x="16891" y="33909"/>
                  </a:moveTo>
                  <a:lnTo>
                    <a:pt x="16891" y="16891"/>
                  </a:lnTo>
                  <a:lnTo>
                    <a:pt x="33909" y="16891"/>
                  </a:lnTo>
                  <a:lnTo>
                    <a:pt x="33909" y="4210939"/>
                  </a:lnTo>
                  <a:lnTo>
                    <a:pt x="16891" y="4210939"/>
                  </a:lnTo>
                  <a:lnTo>
                    <a:pt x="16891" y="4194048"/>
                  </a:lnTo>
                  <a:lnTo>
                    <a:pt x="11233531" y="4194048"/>
                  </a:lnTo>
                  <a:lnTo>
                    <a:pt x="11233531" y="4210939"/>
                  </a:lnTo>
                  <a:lnTo>
                    <a:pt x="11216640" y="4210939"/>
                  </a:lnTo>
                  <a:lnTo>
                    <a:pt x="11216640" y="16891"/>
                  </a:lnTo>
                  <a:lnTo>
                    <a:pt x="11233531" y="16891"/>
                  </a:lnTo>
                  <a:lnTo>
                    <a:pt x="11233531" y="33909"/>
                  </a:lnTo>
                  <a:lnTo>
                    <a:pt x="16891" y="33909"/>
                  </a:lnTo>
                  <a:close/>
                </a:path>
              </a:pathLst>
            </a:custGeom>
            <a:solidFill>
              <a:srgbClr val="DDDDDD"/>
            </a:solidFill>
          </p:spPr>
        </p:sp>
      </p:grpSp>
      <p:sp>
        <p:nvSpPr>
          <p:cNvPr name="TextBox 13" id="13"/>
          <p:cNvSpPr txBox="true"/>
          <p:nvPr/>
        </p:nvSpPr>
        <p:spPr>
          <a:xfrm rot="0">
            <a:off x="9326875" y="4982171"/>
            <a:ext cx="7680960" cy="2735961"/>
          </a:xfrm>
          <a:prstGeom prst="rect">
            <a:avLst/>
          </a:prstGeom>
        </p:spPr>
        <p:txBody>
          <a:bodyPr anchor="t" rtlCol="false" tIns="0" lIns="0" bIns="0" rIns="0">
            <a:spAutoFit/>
          </a:bodyPr>
          <a:lstStyle/>
          <a:p>
            <a:pPr algn="l">
              <a:lnSpc>
                <a:spcPts val="2520"/>
              </a:lnSpc>
            </a:pPr>
            <a:r>
              <a:rPr lang="en-US" sz="2100">
                <a:solidFill>
                  <a:srgbClr val="1A1A1A"/>
                </a:solidFill>
                <a:latin typeface="Consolas"/>
                <a:ea typeface="Consolas"/>
                <a:cs typeface="Consolas"/>
                <a:sym typeface="Consolas"/>
              </a:rPr>
              <a:t>// Con ciclos: sin importar el tamaño</a:t>
            </a:r>
          </a:p>
          <a:p>
            <a:pPr algn="l">
              <a:lnSpc>
                <a:spcPts val="2520"/>
              </a:lnSpc>
            </a:pPr>
            <a:r>
              <a:rPr lang="en-US" sz="2100">
                <a:solidFill>
                  <a:srgbClr val="1A1A1A"/>
                </a:solidFill>
                <a:latin typeface="Consolas"/>
                <a:ea typeface="Consolas"/>
                <a:cs typeface="Consolas"/>
                <a:sym typeface="Consolas"/>
              </a:rPr>
              <a:t>Para i &lt;- 1 Hasta 5 Con Paso 1 Hacer</a:t>
            </a:r>
          </a:p>
          <a:p>
            <a:pPr algn="l">
              <a:lnSpc>
                <a:spcPts val="2520"/>
              </a:lnSpc>
            </a:pPr>
            <a:r>
              <a:rPr lang="en-US" sz="2100">
                <a:solidFill>
                  <a:srgbClr val="1A1A1A"/>
                </a:solidFill>
                <a:latin typeface="Consolas"/>
                <a:ea typeface="Consolas"/>
                <a:cs typeface="Consolas"/>
                <a:sym typeface="Consolas"/>
              </a:rPr>
              <a:t>   Leer notas(i)</a:t>
            </a:r>
          </a:p>
          <a:p>
            <a:pPr algn="l">
              <a:lnSpc>
                <a:spcPts val="2520"/>
              </a:lnSpc>
            </a:pPr>
            <a:r>
              <a:rPr lang="en-US" sz="2100">
                <a:solidFill>
                  <a:srgbClr val="1A1A1A"/>
                </a:solidFill>
                <a:latin typeface="Consolas"/>
                <a:ea typeface="Consolas"/>
                <a:cs typeface="Consolas"/>
                <a:sym typeface="Consolas"/>
              </a:rPr>
              <a:t>FinPara</a:t>
            </a:r>
          </a:p>
          <a:p>
            <a:pPr algn="l">
              <a:lnSpc>
                <a:spcPts val="2520"/>
              </a:lnSpc>
            </a:pPr>
          </a:p>
          <a:p>
            <a:pPr algn="l">
              <a:lnSpc>
                <a:spcPts val="2520"/>
              </a:lnSpc>
            </a:pPr>
            <a:r>
              <a:rPr lang="en-US" sz="2100">
                <a:solidFill>
                  <a:srgbClr val="1A1A1A"/>
                </a:solidFill>
                <a:latin typeface="Consolas"/>
                <a:ea typeface="Consolas"/>
                <a:cs typeface="Consolas"/>
                <a:sym typeface="Consolas"/>
              </a:rPr>
              <a:t>// Si cambia a 100: solo cambiar el 5 por 100</a:t>
            </a:r>
          </a:p>
          <a:p>
            <a:pPr algn="l">
              <a:lnSpc>
                <a:spcPts val="2520"/>
              </a:lnSpc>
            </a:pPr>
            <a:r>
              <a:rPr lang="en-US" sz="2100">
                <a:solidFill>
                  <a:srgbClr val="1A1A1A"/>
                </a:solidFill>
                <a:latin typeface="Consolas"/>
                <a:ea typeface="Consolas"/>
                <a:cs typeface="Consolas"/>
                <a:sym typeface="Consolas"/>
              </a:rPr>
              <a:t>// El resto del código no cambia.</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1397" y="1386398"/>
            <a:ext cx="16276320" cy="438150"/>
          </a:xfrm>
          <a:prstGeom prst="rect">
            <a:avLst/>
          </a:prstGeom>
        </p:spPr>
        <p:txBody>
          <a:bodyPr anchor="t" rtlCol="false" tIns="0" lIns="0" bIns="0" rIns="0">
            <a:spAutoFit/>
          </a:bodyPr>
          <a:lstStyle/>
          <a:p>
            <a:pPr algn="l">
              <a:lnSpc>
                <a:spcPts val="3599"/>
              </a:lnSpc>
            </a:pPr>
            <a:r>
              <a:rPr lang="en-US" sz="2999" b="true">
                <a:solidFill>
                  <a:srgbClr val="1A1A1A"/>
                </a:solidFill>
                <a:latin typeface="Canva Sans Bold"/>
                <a:ea typeface="Canva Sans Bold"/>
                <a:cs typeface="Canva Sans Bold"/>
                <a:sym typeface="Canva Sans Bold"/>
              </a:rPr>
              <a:t>Conclusión:</a:t>
            </a:r>
          </a:p>
        </p:txBody>
      </p:sp>
      <p:sp>
        <p:nvSpPr>
          <p:cNvPr name="TextBox 3" id="3"/>
          <p:cNvSpPr txBox="true"/>
          <p:nvPr/>
        </p:nvSpPr>
        <p:spPr>
          <a:xfrm rot="0">
            <a:off x="1028700" y="2357948"/>
            <a:ext cx="16276320" cy="1400175"/>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Los ciclos y los arreglos son complementarios: el arreglo almacena la colección de valores, y el ciclo proporciona el mecanismo para recorrerla de forma automática. Sin ciclos, los arreglos pierden gran parte de su utilidad. Por eso se estudian juntos.</a:t>
            </a:r>
          </a:p>
        </p:txBody>
      </p:sp>
      <p:sp>
        <p:nvSpPr>
          <p:cNvPr name="TextBox 4" id="4"/>
          <p:cNvSpPr txBox="true"/>
          <p:nvPr/>
        </p:nvSpPr>
        <p:spPr>
          <a:xfrm rot="0">
            <a:off x="982980" y="4562475"/>
            <a:ext cx="16276320" cy="581025"/>
          </a:xfrm>
          <a:prstGeom prst="rect">
            <a:avLst/>
          </a:prstGeom>
        </p:spPr>
        <p:txBody>
          <a:bodyPr anchor="t" rtlCol="false" tIns="0" lIns="0" bIns="0" rIns="0">
            <a:spAutoFit/>
          </a:bodyPr>
          <a:lstStyle/>
          <a:p>
            <a:pPr algn="l">
              <a:lnSpc>
                <a:spcPts val="4079"/>
              </a:lnSpc>
            </a:pPr>
            <a:r>
              <a:rPr lang="en-US" sz="3399" b="true">
                <a:solidFill>
                  <a:srgbClr val="1A1A1A"/>
                </a:solidFill>
                <a:latin typeface="Calibri (MS) Bold"/>
                <a:ea typeface="Calibri (MS) Bold"/>
                <a:cs typeface="Calibri (MS) Bold"/>
                <a:sym typeface="Calibri (MS) Bold"/>
              </a:rPr>
              <a:t>Tipos de ciclos disponibles en PSeInt:</a:t>
            </a:r>
          </a:p>
        </p:txBody>
      </p:sp>
      <p:graphicFrame>
        <p:nvGraphicFramePr>
          <p:cNvPr name="Table 5" id="5"/>
          <p:cNvGraphicFramePr>
            <a:graphicFrameLocks noGrp="true"/>
          </p:cNvGraphicFramePr>
          <p:nvPr/>
        </p:nvGraphicFramePr>
        <p:xfrm>
          <a:off x="927100" y="5761566"/>
          <a:ext cx="16433800" cy="2743200"/>
        </p:xfrm>
        <a:graphic>
          <a:graphicData uri="http://schemas.openxmlformats.org/drawingml/2006/table">
            <a:tbl>
              <a:tblPr/>
              <a:tblGrid>
                <a:gridCol w="4573320"/>
                <a:gridCol w="5839778"/>
                <a:gridCol w="6020701"/>
              </a:tblGrid>
              <a:tr h="685800">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Tipo de ciclo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Cuándo se evalúa la condición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¿El cuerpo se ejecuta al menos una vez?</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685800">
                <a:tc>
                  <a:txBody>
                    <a:bodyPr anchor="t" rtlCol="false"/>
                    <a:lstStyle/>
                    <a:p>
                      <a:pPr algn="l">
                        <a:lnSpc>
                          <a:spcPts val="2640"/>
                        </a:lnSpc>
                        <a:defRPr/>
                      </a:pPr>
                      <a:r>
                        <a:rPr lang="en-US" sz="2200">
                          <a:solidFill>
                            <a:srgbClr val="000000"/>
                          </a:solidFill>
                          <a:latin typeface="Calibri (MS)"/>
                          <a:ea typeface="Calibri (MS)"/>
                          <a:cs typeface="Calibri (MS)"/>
                          <a:sym typeface="Calibri (MS)"/>
                        </a:rPr>
                        <a:t>Para … Hasta … Con Paso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 usa condición, usa un rango numérico fijo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Sí, si el rango es válido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640"/>
                        </a:lnSpc>
                        <a:defRPr/>
                      </a:pPr>
                      <a:r>
                        <a:rPr lang="en-US" sz="2200">
                          <a:solidFill>
                            <a:srgbClr val="000000"/>
                          </a:solidFill>
                          <a:latin typeface="Calibri (MS)"/>
                          <a:ea typeface="Calibri (MS)"/>
                          <a:cs typeface="Calibri (MS)"/>
                          <a:sym typeface="Calibri (MS)"/>
                        </a:rPr>
                        <a:t>Mientras … Hacer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Antes de entrar al ciclo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 necesariamente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640"/>
                        </a:lnSpc>
                        <a:defRPr/>
                      </a:pPr>
                      <a:r>
                        <a:rPr lang="en-US" sz="2200">
                          <a:solidFill>
                            <a:srgbClr val="000000"/>
                          </a:solidFill>
                          <a:latin typeface="Calibri (MS)"/>
                          <a:ea typeface="Calibri (MS)"/>
                          <a:cs typeface="Calibri (MS)"/>
                          <a:sym typeface="Calibri (MS)"/>
                        </a:rPr>
                        <a:t>Repetir … Hasta Que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Después de ejecutar el cuerpo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Siempre sí (mínimo una vez)</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1402" y="1462402"/>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Ciclo Para … Hasta … Con Paso</a:t>
              </a:r>
            </a:p>
          </p:txBody>
        </p:sp>
      </p:grpSp>
      <p:sp>
        <p:nvSpPr>
          <p:cNvPr name="TextBox 5" id="5"/>
          <p:cNvSpPr txBox="true"/>
          <p:nvPr/>
        </p:nvSpPr>
        <p:spPr>
          <a:xfrm rot="0">
            <a:off x="1028700" y="3173092"/>
            <a:ext cx="16276320" cy="1400175"/>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El ciclo Para repite un bloque de instrucciones un número determinado de veces. La variable de control (índice) toma valores consecutivos dentro de un rango definido. Es ideal cuando se sabe de antemano cuántas repeticiones se necesitan.</a:t>
            </a:r>
          </a:p>
        </p:txBody>
      </p:sp>
      <p:sp>
        <p:nvSpPr>
          <p:cNvPr name="TextBox 6" id="6"/>
          <p:cNvSpPr txBox="true"/>
          <p:nvPr/>
        </p:nvSpPr>
        <p:spPr>
          <a:xfrm rot="0">
            <a:off x="1120135" y="5276340"/>
            <a:ext cx="16276320"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Estructura general:</a:t>
            </a:r>
          </a:p>
        </p:txBody>
      </p:sp>
      <p:grpSp>
        <p:nvGrpSpPr>
          <p:cNvPr name="Group 7" id="7"/>
          <p:cNvGrpSpPr/>
          <p:nvPr/>
        </p:nvGrpSpPr>
        <p:grpSpPr>
          <a:xfrm rot="0">
            <a:off x="1015998" y="5933442"/>
            <a:ext cx="16484603" cy="1875217"/>
            <a:chOff x="0" y="0"/>
            <a:chExt cx="21979471" cy="2500290"/>
          </a:xfrm>
        </p:grpSpPr>
        <p:sp>
          <p:nvSpPr>
            <p:cNvPr name="Freeform 8" id="8"/>
            <p:cNvSpPr/>
            <p:nvPr/>
          </p:nvSpPr>
          <p:spPr>
            <a:xfrm flipH="false" flipV="false" rot="0">
              <a:off x="16891" y="20770"/>
              <a:ext cx="21945599" cy="2458641"/>
            </a:xfrm>
            <a:custGeom>
              <a:avLst/>
              <a:gdLst/>
              <a:ahLst/>
              <a:cxnLst/>
              <a:rect r="r" b="b" t="t" l="l"/>
              <a:pathLst>
                <a:path h="2458641" w="21945599">
                  <a:moveTo>
                    <a:pt x="0" y="0"/>
                  </a:moveTo>
                  <a:lnTo>
                    <a:pt x="21945599" y="0"/>
                  </a:lnTo>
                  <a:lnTo>
                    <a:pt x="21945599" y="2458641"/>
                  </a:lnTo>
                  <a:lnTo>
                    <a:pt x="0" y="2458641"/>
                  </a:lnTo>
                  <a:close/>
                </a:path>
              </a:pathLst>
            </a:custGeom>
            <a:solidFill>
              <a:srgbClr val="F5F5F5"/>
            </a:solidFill>
          </p:spPr>
        </p:sp>
        <p:sp>
          <p:nvSpPr>
            <p:cNvPr name="Freeform 9" id="9"/>
            <p:cNvSpPr/>
            <p:nvPr/>
          </p:nvSpPr>
          <p:spPr>
            <a:xfrm flipH="false" flipV="false" rot="0">
              <a:off x="0" y="0"/>
              <a:ext cx="21979382" cy="2500181"/>
            </a:xfrm>
            <a:custGeom>
              <a:avLst/>
              <a:gdLst/>
              <a:ahLst/>
              <a:cxnLst/>
              <a:rect r="r" b="b" t="t" l="l"/>
              <a:pathLst>
                <a:path h="2500181" w="21979382">
                  <a:moveTo>
                    <a:pt x="16891" y="0"/>
                  </a:moveTo>
                  <a:lnTo>
                    <a:pt x="21962490" y="0"/>
                  </a:lnTo>
                  <a:cubicBezTo>
                    <a:pt x="21971890" y="0"/>
                    <a:pt x="21979382" y="9370"/>
                    <a:pt x="21979382" y="20770"/>
                  </a:cubicBezTo>
                  <a:lnTo>
                    <a:pt x="21979382" y="2479411"/>
                  </a:lnTo>
                  <a:cubicBezTo>
                    <a:pt x="21979382" y="2490967"/>
                    <a:pt x="21971763" y="2500181"/>
                    <a:pt x="21962490" y="2500181"/>
                  </a:cubicBezTo>
                  <a:lnTo>
                    <a:pt x="16891" y="2500181"/>
                  </a:lnTo>
                  <a:cubicBezTo>
                    <a:pt x="7493" y="2500181"/>
                    <a:pt x="0" y="2490811"/>
                    <a:pt x="0" y="2479411"/>
                  </a:cubicBezTo>
                  <a:lnTo>
                    <a:pt x="0" y="20770"/>
                  </a:lnTo>
                  <a:cubicBezTo>
                    <a:pt x="0" y="9370"/>
                    <a:pt x="7620" y="0"/>
                    <a:pt x="16891" y="0"/>
                  </a:cubicBezTo>
                  <a:moveTo>
                    <a:pt x="16891" y="41696"/>
                  </a:moveTo>
                  <a:lnTo>
                    <a:pt x="16891" y="20770"/>
                  </a:lnTo>
                  <a:lnTo>
                    <a:pt x="33909" y="20770"/>
                  </a:lnTo>
                  <a:lnTo>
                    <a:pt x="33909" y="2479411"/>
                  </a:lnTo>
                  <a:lnTo>
                    <a:pt x="16891" y="2479411"/>
                  </a:lnTo>
                  <a:lnTo>
                    <a:pt x="16891" y="2458641"/>
                  </a:lnTo>
                  <a:lnTo>
                    <a:pt x="21962490" y="2458641"/>
                  </a:lnTo>
                  <a:lnTo>
                    <a:pt x="21962490" y="2479411"/>
                  </a:lnTo>
                  <a:lnTo>
                    <a:pt x="21945600" y="2479411"/>
                  </a:lnTo>
                  <a:lnTo>
                    <a:pt x="21945600" y="20770"/>
                  </a:lnTo>
                  <a:lnTo>
                    <a:pt x="21962490" y="20770"/>
                  </a:lnTo>
                  <a:lnTo>
                    <a:pt x="21962490" y="41696"/>
                  </a:lnTo>
                  <a:lnTo>
                    <a:pt x="16891" y="41696"/>
                  </a:lnTo>
                  <a:close/>
                </a:path>
              </a:pathLst>
            </a:custGeom>
            <a:solidFill>
              <a:srgbClr val="DDDDDD"/>
            </a:solidFill>
          </p:spPr>
        </p:sp>
      </p:grpSp>
      <p:sp>
        <p:nvSpPr>
          <p:cNvPr name="TextBox 10" id="10"/>
          <p:cNvSpPr txBox="true"/>
          <p:nvPr/>
        </p:nvSpPr>
        <p:spPr>
          <a:xfrm rot="0">
            <a:off x="1394460" y="6256688"/>
            <a:ext cx="15727680" cy="1285875"/>
          </a:xfrm>
          <a:prstGeom prst="rect">
            <a:avLst/>
          </a:prstGeom>
        </p:spPr>
        <p:txBody>
          <a:bodyPr anchor="t" rtlCol="false" tIns="0" lIns="0" bIns="0" rIns="0">
            <a:spAutoFit/>
          </a:bodyPr>
          <a:lstStyle/>
          <a:p>
            <a:pPr algn="l">
              <a:lnSpc>
                <a:spcPts val="3239"/>
              </a:lnSpc>
            </a:pPr>
            <a:r>
              <a:rPr lang="en-US" sz="2699">
                <a:solidFill>
                  <a:srgbClr val="1A1A1A"/>
                </a:solidFill>
                <a:latin typeface="Consolas"/>
                <a:ea typeface="Consolas"/>
                <a:cs typeface="Consolas"/>
                <a:sym typeface="Consolas"/>
              </a:rPr>
              <a:t>Para &lt;variable&gt; &lt;- &lt;valor inicial&gt; Hasta &lt;valor final&gt; Con Paso &lt;incremento&gt; Hacer</a:t>
            </a:r>
          </a:p>
          <a:p>
            <a:pPr algn="l">
              <a:lnSpc>
                <a:spcPts val="3239"/>
              </a:lnSpc>
            </a:pPr>
            <a:r>
              <a:rPr lang="en-US" sz="2699">
                <a:solidFill>
                  <a:srgbClr val="1A1A1A"/>
                </a:solidFill>
                <a:latin typeface="Consolas"/>
                <a:ea typeface="Consolas"/>
                <a:cs typeface="Consolas"/>
                <a:sym typeface="Consolas"/>
              </a:rPr>
              <a:t>   // instrucciones que se repiten</a:t>
            </a:r>
          </a:p>
          <a:p>
            <a:pPr algn="l">
              <a:lnSpc>
                <a:spcPts val="3239"/>
              </a:lnSpc>
            </a:pPr>
            <a:r>
              <a:rPr lang="en-US" sz="2699">
                <a:solidFill>
                  <a:srgbClr val="1A1A1A"/>
                </a:solidFill>
                <a:latin typeface="Consolas"/>
                <a:ea typeface="Consolas"/>
                <a:cs typeface="Consolas"/>
                <a:sym typeface="Consolas"/>
              </a:rPr>
              <a:t>FinPara</a:t>
            </a:r>
          </a:p>
        </p:txBody>
      </p:sp>
      <p:grpSp>
        <p:nvGrpSpPr>
          <p:cNvPr name="Group 11" id="11"/>
          <p:cNvGrpSpPr/>
          <p:nvPr/>
        </p:nvGrpSpPr>
        <p:grpSpPr>
          <a:xfrm rot="0">
            <a:off x="901703" y="10905239"/>
            <a:ext cx="16484603" cy="848363"/>
            <a:chOff x="0" y="0"/>
            <a:chExt cx="21979471" cy="1131151"/>
          </a:xfrm>
        </p:grpSpPr>
        <p:sp>
          <p:nvSpPr>
            <p:cNvPr name="Freeform 12" id="12"/>
            <p:cNvSpPr/>
            <p:nvPr/>
          </p:nvSpPr>
          <p:spPr>
            <a:xfrm flipH="false" flipV="false" rot="0">
              <a:off x="16891" y="16891"/>
              <a:ext cx="21945599" cy="1097280"/>
            </a:xfrm>
            <a:custGeom>
              <a:avLst/>
              <a:gdLst/>
              <a:ahLst/>
              <a:cxnLst/>
              <a:rect r="r" b="b" t="t" l="l"/>
              <a:pathLst>
                <a:path h="1097280" w="21945599">
                  <a:moveTo>
                    <a:pt x="0" y="0"/>
                  </a:moveTo>
                  <a:lnTo>
                    <a:pt x="21945599" y="0"/>
                  </a:lnTo>
                  <a:lnTo>
                    <a:pt x="21945599" y="1097280"/>
                  </a:lnTo>
                  <a:lnTo>
                    <a:pt x="0" y="1097280"/>
                  </a:lnTo>
                  <a:close/>
                </a:path>
              </a:pathLst>
            </a:custGeom>
            <a:solidFill>
              <a:srgbClr val="F5F5F5"/>
            </a:solidFill>
          </p:spPr>
        </p:sp>
        <p:sp>
          <p:nvSpPr>
            <p:cNvPr name="Freeform 13" id="13"/>
            <p:cNvSpPr/>
            <p:nvPr/>
          </p:nvSpPr>
          <p:spPr>
            <a:xfrm flipH="false" flipV="false" rot="0">
              <a:off x="0" y="0"/>
              <a:ext cx="21979382" cy="1131064"/>
            </a:xfrm>
            <a:custGeom>
              <a:avLst/>
              <a:gdLst/>
              <a:ahLst/>
              <a:cxnLst/>
              <a:rect r="r" b="b" t="t" l="l"/>
              <a:pathLst>
                <a:path h="1131064" w="21979382">
                  <a:moveTo>
                    <a:pt x="16891" y="0"/>
                  </a:moveTo>
                  <a:lnTo>
                    <a:pt x="21962490" y="0"/>
                  </a:lnTo>
                  <a:cubicBezTo>
                    <a:pt x="21971890" y="0"/>
                    <a:pt x="21979382" y="7620"/>
                    <a:pt x="21979382" y="16891"/>
                  </a:cubicBezTo>
                  <a:lnTo>
                    <a:pt x="21979382" y="1114171"/>
                  </a:lnTo>
                  <a:cubicBezTo>
                    <a:pt x="21979382" y="1123569"/>
                    <a:pt x="21971763" y="1131062"/>
                    <a:pt x="21962490"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962490" y="1097280"/>
                  </a:lnTo>
                  <a:lnTo>
                    <a:pt x="21962490" y="1114171"/>
                  </a:lnTo>
                  <a:lnTo>
                    <a:pt x="21945600" y="1114171"/>
                  </a:lnTo>
                  <a:lnTo>
                    <a:pt x="21945600" y="16891"/>
                  </a:lnTo>
                  <a:lnTo>
                    <a:pt x="21962490" y="16891"/>
                  </a:lnTo>
                  <a:lnTo>
                    <a:pt x="21962490" y="33909"/>
                  </a:lnTo>
                  <a:lnTo>
                    <a:pt x="16891" y="33909"/>
                  </a:lnTo>
                  <a:close/>
                </a:path>
              </a:pathLst>
            </a:custGeom>
            <a:solidFill>
              <a:srgbClr val="DDDDDD"/>
            </a:solidFill>
          </p:spPr>
        </p:sp>
      </p:grpSp>
      <p:grpSp>
        <p:nvGrpSpPr>
          <p:cNvPr name="Group 14" id="14"/>
          <p:cNvGrpSpPr/>
          <p:nvPr/>
        </p:nvGrpSpPr>
        <p:grpSpPr>
          <a:xfrm rot="0">
            <a:off x="1280160" y="11009376"/>
            <a:ext cx="15727680" cy="640080"/>
            <a:chOff x="0" y="0"/>
            <a:chExt cx="20970240" cy="853440"/>
          </a:xfrm>
        </p:grpSpPr>
        <p:sp>
          <p:nvSpPr>
            <p:cNvPr name="Freeform 15" id="15"/>
            <p:cNvSpPr/>
            <p:nvPr/>
          </p:nvSpPr>
          <p:spPr>
            <a:xfrm flipH="false" flipV="false" rot="0">
              <a:off x="0" y="0"/>
              <a:ext cx="20970239" cy="853440"/>
            </a:xfrm>
            <a:custGeom>
              <a:avLst/>
              <a:gdLst/>
              <a:ahLst/>
              <a:cxnLst/>
              <a:rect r="r" b="b" t="t" l="l"/>
              <a:pathLst>
                <a:path h="853440" w="20970239">
                  <a:moveTo>
                    <a:pt x="0" y="0"/>
                  </a:moveTo>
                  <a:lnTo>
                    <a:pt x="20970239" y="0"/>
                  </a:lnTo>
                  <a:lnTo>
                    <a:pt x="20970239" y="853440"/>
                  </a:lnTo>
                  <a:lnTo>
                    <a:pt x="0" y="853440"/>
                  </a:lnTo>
                  <a:close/>
                </a:path>
              </a:pathLst>
            </a:custGeom>
            <a:blipFill>
              <a:blip r:embed="rId3">
                <a:alphaModFix amt="0"/>
              </a:blip>
              <a:stretch>
                <a:fillRect l="0" t="-428775" r="0" b="-428775"/>
              </a:stretch>
            </a:blipFill>
          </p:spPr>
        </p:sp>
        <p:sp>
          <p:nvSpPr>
            <p:cNvPr name="TextBox 16" id="16"/>
            <p:cNvSpPr txBox="true"/>
            <p:nvPr/>
          </p:nvSpPr>
          <p:spPr>
            <a:xfrm>
              <a:off x="0" y="-47625"/>
              <a:ext cx="20970240" cy="901065"/>
            </a:xfrm>
            <a:prstGeom prst="rect">
              <a:avLst/>
            </a:prstGeom>
          </p:spPr>
          <p:txBody>
            <a:bodyPr anchor="ctr" rtlCol="false" tIns="0" lIns="0" bIns="0" rIns="0"/>
            <a:lstStyle/>
            <a:p>
              <a:pPr algn="l">
                <a:lnSpc>
                  <a:spcPts val="2640"/>
                </a:lnSpc>
              </a:pPr>
              <a:r>
                <a:rPr lang="en-US" sz="2200" i="true">
                  <a:solidFill>
                    <a:srgbClr val="444444"/>
                  </a:solidFill>
                  <a:latin typeface="Calibri (MS) Italics"/>
                  <a:ea typeface="Calibri (MS) Italics"/>
                  <a:cs typeface="Calibri (MS) Italics"/>
                  <a:sym typeface="Calibri (MS) Italics"/>
                </a:rPr>
                <a:t>Con Paso 1 es lo más común. Se puede usar Con Paso 2 para saltar de dos en dos, o Con Paso -1 para contar hacia atrás.</a:t>
              </a:r>
            </a:p>
          </p:txBody>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28372" y="1884045"/>
            <a:ext cx="8111492" cy="561975"/>
          </a:xfrm>
          <a:prstGeom prst="rect">
            <a:avLst/>
          </a:prstGeom>
        </p:spPr>
        <p:txBody>
          <a:bodyPr anchor="t" rtlCol="false" tIns="0" lIns="0" bIns="0" rIns="0">
            <a:spAutoFit/>
          </a:bodyPr>
          <a:lstStyle/>
          <a:p>
            <a:pPr algn="l">
              <a:lnSpc>
                <a:spcPts val="3839"/>
              </a:lnSpc>
            </a:pPr>
            <a:r>
              <a:rPr lang="en-US" sz="3199" b="true">
                <a:solidFill>
                  <a:srgbClr val="1A1A1A"/>
                </a:solidFill>
                <a:latin typeface="Calibri (MS) Bold"/>
                <a:ea typeface="Calibri (MS) Bold"/>
                <a:cs typeface="Calibri (MS) Bold"/>
                <a:sym typeface="Calibri (MS) Bold"/>
              </a:rPr>
              <a:t>Ejemplo — imprimir los números del 1 al 5:</a:t>
            </a:r>
          </a:p>
        </p:txBody>
      </p:sp>
      <p:grpSp>
        <p:nvGrpSpPr>
          <p:cNvPr name="Group 3" id="3"/>
          <p:cNvGrpSpPr/>
          <p:nvPr/>
        </p:nvGrpSpPr>
        <p:grpSpPr>
          <a:xfrm rot="0">
            <a:off x="928372" y="3027683"/>
            <a:ext cx="8255003" cy="5040021"/>
            <a:chOff x="0" y="0"/>
            <a:chExt cx="11006671" cy="6720028"/>
          </a:xfrm>
        </p:grpSpPr>
        <p:sp>
          <p:nvSpPr>
            <p:cNvPr name="Freeform 4" id="4"/>
            <p:cNvSpPr/>
            <p:nvPr/>
          </p:nvSpPr>
          <p:spPr>
            <a:xfrm flipH="false" flipV="false" rot="0">
              <a:off x="16891" y="23115"/>
              <a:ext cx="10972800" cy="6673677"/>
            </a:xfrm>
            <a:custGeom>
              <a:avLst/>
              <a:gdLst/>
              <a:ahLst/>
              <a:cxnLst/>
              <a:rect r="r" b="b" t="t" l="l"/>
              <a:pathLst>
                <a:path h="6673677" w="10972800">
                  <a:moveTo>
                    <a:pt x="0" y="0"/>
                  </a:moveTo>
                  <a:lnTo>
                    <a:pt x="10972800" y="0"/>
                  </a:lnTo>
                  <a:lnTo>
                    <a:pt x="10972800" y="6673676"/>
                  </a:lnTo>
                  <a:lnTo>
                    <a:pt x="0" y="6673676"/>
                  </a:lnTo>
                  <a:close/>
                </a:path>
              </a:pathLst>
            </a:custGeom>
            <a:solidFill>
              <a:srgbClr val="F5F5F5"/>
            </a:solidFill>
          </p:spPr>
        </p:sp>
        <p:sp>
          <p:nvSpPr>
            <p:cNvPr name="Freeform 5" id="5"/>
            <p:cNvSpPr/>
            <p:nvPr/>
          </p:nvSpPr>
          <p:spPr>
            <a:xfrm flipH="false" flipV="false" rot="0">
              <a:off x="0" y="0"/>
              <a:ext cx="11006582" cy="6719906"/>
            </a:xfrm>
            <a:custGeom>
              <a:avLst/>
              <a:gdLst/>
              <a:ahLst/>
              <a:cxnLst/>
              <a:rect r="r" b="b" t="t" l="l"/>
              <a:pathLst>
                <a:path h="6719906" w="11006582">
                  <a:moveTo>
                    <a:pt x="16891" y="0"/>
                  </a:moveTo>
                  <a:lnTo>
                    <a:pt x="10989691" y="0"/>
                  </a:lnTo>
                  <a:cubicBezTo>
                    <a:pt x="10999089" y="0"/>
                    <a:pt x="11006582" y="10428"/>
                    <a:pt x="11006582" y="23115"/>
                  </a:cubicBezTo>
                  <a:lnTo>
                    <a:pt x="11006582" y="6696791"/>
                  </a:lnTo>
                  <a:cubicBezTo>
                    <a:pt x="11006582" y="6709652"/>
                    <a:pt x="10998962" y="6719906"/>
                    <a:pt x="10989691" y="6719906"/>
                  </a:cubicBezTo>
                  <a:lnTo>
                    <a:pt x="16891" y="6719906"/>
                  </a:lnTo>
                  <a:cubicBezTo>
                    <a:pt x="7493" y="6719906"/>
                    <a:pt x="0" y="6709478"/>
                    <a:pt x="0" y="6696791"/>
                  </a:cubicBezTo>
                  <a:lnTo>
                    <a:pt x="0" y="23115"/>
                  </a:lnTo>
                  <a:cubicBezTo>
                    <a:pt x="0" y="10428"/>
                    <a:pt x="7620" y="0"/>
                    <a:pt x="16891" y="0"/>
                  </a:cubicBezTo>
                  <a:moveTo>
                    <a:pt x="16891" y="46403"/>
                  </a:moveTo>
                  <a:lnTo>
                    <a:pt x="16891" y="23115"/>
                  </a:lnTo>
                  <a:lnTo>
                    <a:pt x="33909" y="23115"/>
                  </a:lnTo>
                  <a:lnTo>
                    <a:pt x="33909" y="6696791"/>
                  </a:lnTo>
                  <a:lnTo>
                    <a:pt x="16891" y="6696791"/>
                  </a:lnTo>
                  <a:lnTo>
                    <a:pt x="16891" y="6673677"/>
                  </a:lnTo>
                  <a:lnTo>
                    <a:pt x="10989691" y="6673677"/>
                  </a:lnTo>
                  <a:lnTo>
                    <a:pt x="10989691" y="6696791"/>
                  </a:lnTo>
                  <a:lnTo>
                    <a:pt x="10972800" y="6696791"/>
                  </a:lnTo>
                  <a:lnTo>
                    <a:pt x="10972800" y="23115"/>
                  </a:lnTo>
                  <a:lnTo>
                    <a:pt x="10989691" y="23115"/>
                  </a:lnTo>
                  <a:lnTo>
                    <a:pt x="10989691" y="46403"/>
                  </a:lnTo>
                  <a:lnTo>
                    <a:pt x="16891" y="46403"/>
                  </a:lnTo>
                  <a:close/>
                </a:path>
              </a:pathLst>
            </a:custGeom>
            <a:solidFill>
              <a:srgbClr val="DDDDDD"/>
            </a:solidFill>
          </p:spPr>
        </p:sp>
      </p:grpSp>
      <p:sp>
        <p:nvSpPr>
          <p:cNvPr name="TextBox 6" id="6"/>
          <p:cNvSpPr txBox="true"/>
          <p:nvPr/>
        </p:nvSpPr>
        <p:spPr>
          <a:xfrm rot="0">
            <a:off x="1306828" y="3211830"/>
            <a:ext cx="7498080" cy="4438650"/>
          </a:xfrm>
          <a:prstGeom prst="rect">
            <a:avLst/>
          </a:prstGeom>
        </p:spPr>
        <p:txBody>
          <a:bodyPr anchor="t" rtlCol="false" tIns="0" lIns="0" bIns="0" rIns="0">
            <a:spAutoFit/>
          </a:bodyPr>
          <a:lstStyle/>
          <a:p>
            <a:pPr algn="l">
              <a:lnSpc>
                <a:spcPts val="3479"/>
              </a:lnSpc>
            </a:pPr>
            <a:r>
              <a:rPr lang="en-US" sz="2899">
                <a:solidFill>
                  <a:srgbClr val="1A1A1A"/>
                </a:solidFill>
                <a:latin typeface="Consolas"/>
                <a:ea typeface="Consolas"/>
                <a:cs typeface="Consolas"/>
                <a:sym typeface="Consolas"/>
              </a:rPr>
              <a:t>Para i &lt;- 1 Hasta 5 Con Paso 1 Hacer</a:t>
            </a:r>
          </a:p>
          <a:p>
            <a:pPr algn="l">
              <a:lnSpc>
                <a:spcPts val="3479"/>
              </a:lnSpc>
            </a:pPr>
            <a:r>
              <a:rPr lang="en-US" sz="2899">
                <a:solidFill>
                  <a:srgbClr val="1A1A1A"/>
                </a:solidFill>
                <a:latin typeface="Consolas"/>
                <a:ea typeface="Consolas"/>
                <a:cs typeface="Consolas"/>
                <a:sym typeface="Consolas"/>
              </a:rPr>
              <a:t>   Escribir "El valor de i es: ", i</a:t>
            </a:r>
          </a:p>
          <a:p>
            <a:pPr algn="l">
              <a:lnSpc>
                <a:spcPts val="3479"/>
              </a:lnSpc>
            </a:pPr>
            <a:r>
              <a:rPr lang="en-US" sz="2899">
                <a:solidFill>
                  <a:srgbClr val="1A1A1A"/>
                </a:solidFill>
                <a:latin typeface="Consolas"/>
                <a:ea typeface="Consolas"/>
                <a:cs typeface="Consolas"/>
                <a:sym typeface="Consolas"/>
              </a:rPr>
              <a:t>FinPara</a:t>
            </a:r>
          </a:p>
          <a:p>
            <a:pPr algn="l">
              <a:lnSpc>
                <a:spcPts val="3479"/>
              </a:lnSpc>
            </a:pPr>
          </a:p>
          <a:p>
            <a:pPr algn="l">
              <a:lnSpc>
                <a:spcPts val="3479"/>
              </a:lnSpc>
            </a:pPr>
            <a:r>
              <a:rPr lang="en-US" sz="2899">
                <a:solidFill>
                  <a:srgbClr val="1A1A1A"/>
                </a:solidFill>
                <a:latin typeface="Consolas"/>
                <a:ea typeface="Consolas"/>
                <a:cs typeface="Consolas"/>
                <a:sym typeface="Consolas"/>
              </a:rPr>
              <a:t>// Salida:</a:t>
            </a:r>
          </a:p>
          <a:p>
            <a:pPr algn="l">
              <a:lnSpc>
                <a:spcPts val="3479"/>
              </a:lnSpc>
            </a:pPr>
            <a:r>
              <a:rPr lang="en-US" sz="2899">
                <a:solidFill>
                  <a:srgbClr val="1A1A1A"/>
                </a:solidFill>
                <a:latin typeface="Consolas"/>
                <a:ea typeface="Consolas"/>
                <a:cs typeface="Consolas"/>
                <a:sym typeface="Consolas"/>
              </a:rPr>
              <a:t>// El valor de i es: 1</a:t>
            </a:r>
          </a:p>
          <a:p>
            <a:pPr algn="l">
              <a:lnSpc>
                <a:spcPts val="3479"/>
              </a:lnSpc>
            </a:pPr>
            <a:r>
              <a:rPr lang="en-US" sz="2899">
                <a:solidFill>
                  <a:srgbClr val="1A1A1A"/>
                </a:solidFill>
                <a:latin typeface="Consolas"/>
                <a:ea typeface="Consolas"/>
                <a:cs typeface="Consolas"/>
                <a:sym typeface="Consolas"/>
              </a:rPr>
              <a:t>// El valor de i es: 2</a:t>
            </a:r>
          </a:p>
          <a:p>
            <a:pPr algn="l">
              <a:lnSpc>
                <a:spcPts val="3479"/>
              </a:lnSpc>
            </a:pPr>
            <a:r>
              <a:rPr lang="en-US" sz="2899">
                <a:solidFill>
                  <a:srgbClr val="1A1A1A"/>
                </a:solidFill>
                <a:latin typeface="Consolas"/>
                <a:ea typeface="Consolas"/>
                <a:cs typeface="Consolas"/>
                <a:sym typeface="Consolas"/>
              </a:rPr>
              <a:t>// El valor de i es: 3</a:t>
            </a:r>
          </a:p>
          <a:p>
            <a:pPr algn="l">
              <a:lnSpc>
                <a:spcPts val="3479"/>
              </a:lnSpc>
            </a:pPr>
            <a:r>
              <a:rPr lang="en-US" sz="2899">
                <a:solidFill>
                  <a:srgbClr val="1A1A1A"/>
                </a:solidFill>
                <a:latin typeface="Consolas"/>
                <a:ea typeface="Consolas"/>
                <a:cs typeface="Consolas"/>
                <a:sym typeface="Consolas"/>
              </a:rPr>
              <a:t>// El valor de i es: 4</a:t>
            </a:r>
          </a:p>
          <a:p>
            <a:pPr algn="l">
              <a:lnSpc>
                <a:spcPts val="3479"/>
              </a:lnSpc>
            </a:pPr>
            <a:r>
              <a:rPr lang="en-US" sz="2899">
                <a:solidFill>
                  <a:srgbClr val="1A1A1A"/>
                </a:solidFill>
                <a:latin typeface="Consolas"/>
                <a:ea typeface="Consolas"/>
                <a:cs typeface="Consolas"/>
                <a:sym typeface="Consolas"/>
              </a:rPr>
              <a:t>// El valor de i es: 5</a:t>
            </a:r>
          </a:p>
        </p:txBody>
      </p:sp>
      <p:sp>
        <p:nvSpPr>
          <p:cNvPr name="TextBox 7" id="7"/>
          <p:cNvSpPr txBox="true"/>
          <p:nvPr/>
        </p:nvSpPr>
        <p:spPr>
          <a:xfrm rot="0">
            <a:off x="9536428" y="1884045"/>
            <a:ext cx="7680960" cy="561975"/>
          </a:xfrm>
          <a:prstGeom prst="rect">
            <a:avLst/>
          </a:prstGeom>
        </p:spPr>
        <p:txBody>
          <a:bodyPr anchor="t" rtlCol="false" tIns="0" lIns="0" bIns="0" rIns="0">
            <a:spAutoFit/>
          </a:bodyPr>
          <a:lstStyle/>
          <a:p>
            <a:pPr algn="l">
              <a:lnSpc>
                <a:spcPts val="3839"/>
              </a:lnSpc>
            </a:pPr>
            <a:r>
              <a:rPr lang="en-US" sz="3199" b="true">
                <a:solidFill>
                  <a:srgbClr val="1A1A1A"/>
                </a:solidFill>
                <a:latin typeface="Calibri (MS) Bold"/>
                <a:ea typeface="Calibri (MS) Bold"/>
                <a:cs typeface="Calibri (MS) Bold"/>
                <a:sym typeface="Calibri (MS) Bold"/>
              </a:rPr>
              <a:t>Traza de ejecución:</a:t>
            </a:r>
          </a:p>
        </p:txBody>
      </p:sp>
      <p:graphicFrame>
        <p:nvGraphicFramePr>
          <p:cNvPr name="Table 8" id="8"/>
          <p:cNvGraphicFramePr>
            <a:graphicFrameLocks noGrp="true"/>
          </p:cNvGraphicFramePr>
          <p:nvPr/>
        </p:nvGraphicFramePr>
        <p:xfrm>
          <a:off x="9536428" y="3040380"/>
          <a:ext cx="7823200" cy="4800600"/>
        </p:xfrm>
        <a:graphic>
          <a:graphicData uri="http://schemas.openxmlformats.org/drawingml/2006/table">
            <a:tbl>
              <a:tblPr/>
              <a:tblGrid>
                <a:gridCol w="2726717"/>
                <a:gridCol w="2548241"/>
                <a:gridCol w="2548241"/>
              </a:tblGrid>
              <a:tr h="685800">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Iteración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Valor de i</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¿i &lt;= 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685800">
                <a:tc>
                  <a:txBody>
                    <a:bodyPr anchor="t" rtlCol="false"/>
                    <a:lstStyle/>
                    <a:p>
                      <a:pPr algn="l">
                        <a:lnSpc>
                          <a:spcPts val="2760"/>
                        </a:lnSpc>
                        <a:defRPr/>
                      </a:pPr>
                      <a:r>
                        <a:rPr lang="en-US" sz="2300">
                          <a:solidFill>
                            <a:srgbClr val="000000"/>
                          </a:solidFill>
                          <a:latin typeface="Calibri (MS)"/>
                          <a:ea typeface="Calibri (MS)"/>
                          <a:cs typeface="Calibri (MS)"/>
                          <a:sym typeface="Calibri (MS)"/>
                        </a:rPr>
                        <a:t>1ª</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Sí → ejecuta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760"/>
                        </a:lnSpc>
                        <a:defRPr/>
                      </a:pPr>
                      <a:r>
                        <a:rPr lang="en-US" sz="2300">
                          <a:solidFill>
                            <a:srgbClr val="000000"/>
                          </a:solidFill>
                          <a:latin typeface="Calibri (MS)"/>
                          <a:ea typeface="Calibri (MS)"/>
                          <a:cs typeface="Calibri (MS)"/>
                          <a:sym typeface="Calibri (MS)"/>
                        </a:rPr>
                        <a:t>2ª</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Sí → ejecuta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760"/>
                        </a:lnSpc>
                        <a:defRPr/>
                      </a:pPr>
                      <a:r>
                        <a:rPr lang="en-US" sz="2300">
                          <a:solidFill>
                            <a:srgbClr val="000000"/>
                          </a:solidFill>
                          <a:latin typeface="Calibri (MS)"/>
                          <a:ea typeface="Calibri (MS)"/>
                          <a:cs typeface="Calibri (MS)"/>
                          <a:sym typeface="Calibri (MS)"/>
                        </a:rPr>
                        <a:t>3ª</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Sí → ejecuta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760"/>
                        </a:lnSpc>
                        <a:defRPr/>
                      </a:pPr>
                      <a:r>
                        <a:rPr lang="en-US" sz="2300">
                          <a:solidFill>
                            <a:srgbClr val="000000"/>
                          </a:solidFill>
                          <a:latin typeface="Calibri (MS)"/>
                          <a:ea typeface="Calibri (MS)"/>
                          <a:cs typeface="Calibri (MS)"/>
                          <a:sym typeface="Calibri (MS)"/>
                        </a:rPr>
                        <a:t>4ª</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4</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Sí → ejecuta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760"/>
                        </a:lnSpc>
                        <a:defRPr/>
                      </a:pPr>
                      <a:r>
                        <a:rPr lang="en-US" sz="2300">
                          <a:solidFill>
                            <a:srgbClr val="000000"/>
                          </a:solidFill>
                          <a:latin typeface="Calibri (MS)"/>
                          <a:ea typeface="Calibri (MS)"/>
                          <a:cs typeface="Calibri (MS)"/>
                          <a:sym typeface="Calibri (MS)"/>
                        </a:rPr>
                        <a:t>5ª</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Sí → ejecuta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85800">
                <a:tc>
                  <a:txBody>
                    <a:bodyPr anchor="t" rtlCol="false"/>
                    <a:lstStyle/>
                    <a:p>
                      <a:pPr algn="l">
                        <a:lnSpc>
                          <a:spcPts val="2760"/>
                        </a:lnSpc>
                        <a:defRPr/>
                      </a:pPr>
                      <a:r>
                        <a:rPr lang="en-US" sz="2300">
                          <a:solidFill>
                            <a:srgbClr val="000000"/>
                          </a:solidFill>
                          <a:latin typeface="Calibri (MS)"/>
                          <a:ea typeface="Calibri (MS)"/>
                          <a:cs typeface="Calibri (MS)"/>
                          <a:sym typeface="Calibri (MS)"/>
                        </a:rPr>
                        <a:t>6ª (fin)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6</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No → sale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21539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Ciclo Mientras … Hacer</a:t>
              </a:r>
            </a:p>
          </p:txBody>
        </p:sp>
      </p:grpSp>
      <p:sp>
        <p:nvSpPr>
          <p:cNvPr name="TextBox 5" id="5"/>
          <p:cNvSpPr txBox="true"/>
          <p:nvPr/>
        </p:nvSpPr>
        <p:spPr>
          <a:xfrm rot="0">
            <a:off x="1028700" y="2659380"/>
            <a:ext cx="16276320" cy="1400175"/>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El ciclo Mientras evalúa una condición lógica antes de ejecutar su cuerpo. Si la condición es verdadera, ejecuta el bloque y vuelve a evaluar. Si la condición es falsa desde el inicio, el cuerpo no se ejecuta ni una sola vez.</a:t>
            </a:r>
          </a:p>
        </p:txBody>
      </p:sp>
      <p:sp>
        <p:nvSpPr>
          <p:cNvPr name="TextBox 6" id="6"/>
          <p:cNvSpPr txBox="true"/>
          <p:nvPr/>
        </p:nvSpPr>
        <p:spPr>
          <a:xfrm rot="0">
            <a:off x="1120135" y="4573905"/>
            <a:ext cx="16276320" cy="590550"/>
          </a:xfrm>
          <a:prstGeom prst="rect">
            <a:avLst/>
          </a:prstGeom>
        </p:spPr>
        <p:txBody>
          <a:bodyPr anchor="t" rtlCol="false" tIns="0" lIns="0" bIns="0" rIns="0">
            <a:spAutoFit/>
          </a:bodyPr>
          <a:lstStyle/>
          <a:p>
            <a:pPr algn="l">
              <a:lnSpc>
                <a:spcPts val="4199"/>
              </a:lnSpc>
            </a:pPr>
            <a:r>
              <a:rPr lang="en-US" sz="3499" b="true">
                <a:solidFill>
                  <a:srgbClr val="1A1A1A"/>
                </a:solidFill>
                <a:latin typeface="Calibri (MS) Bold"/>
                <a:ea typeface="Calibri (MS) Bold"/>
                <a:cs typeface="Calibri (MS) Bold"/>
                <a:sym typeface="Calibri (MS) Bold"/>
              </a:rPr>
              <a:t>Estructura general:</a:t>
            </a:r>
          </a:p>
        </p:txBody>
      </p:sp>
      <p:grpSp>
        <p:nvGrpSpPr>
          <p:cNvPr name="Group 7" id="7"/>
          <p:cNvGrpSpPr/>
          <p:nvPr/>
        </p:nvGrpSpPr>
        <p:grpSpPr>
          <a:xfrm rot="0">
            <a:off x="924558" y="5745480"/>
            <a:ext cx="16484603" cy="2130085"/>
            <a:chOff x="0" y="0"/>
            <a:chExt cx="21979471" cy="2840113"/>
          </a:xfrm>
        </p:grpSpPr>
        <p:sp>
          <p:nvSpPr>
            <p:cNvPr name="Freeform 8" id="8"/>
            <p:cNvSpPr/>
            <p:nvPr/>
          </p:nvSpPr>
          <p:spPr>
            <a:xfrm flipH="false" flipV="false" rot="0">
              <a:off x="16891" y="26807"/>
              <a:ext cx="21945599" cy="2786357"/>
            </a:xfrm>
            <a:custGeom>
              <a:avLst/>
              <a:gdLst/>
              <a:ahLst/>
              <a:cxnLst/>
              <a:rect r="r" b="b" t="t" l="l"/>
              <a:pathLst>
                <a:path h="2786357" w="21945599">
                  <a:moveTo>
                    <a:pt x="0" y="0"/>
                  </a:moveTo>
                  <a:lnTo>
                    <a:pt x="21945599" y="0"/>
                  </a:lnTo>
                  <a:lnTo>
                    <a:pt x="21945599" y="2786358"/>
                  </a:lnTo>
                  <a:lnTo>
                    <a:pt x="0" y="2786358"/>
                  </a:lnTo>
                  <a:close/>
                </a:path>
              </a:pathLst>
            </a:custGeom>
            <a:solidFill>
              <a:srgbClr val="F5F5F5"/>
            </a:solidFill>
          </p:spPr>
        </p:sp>
        <p:sp>
          <p:nvSpPr>
            <p:cNvPr name="Freeform 9" id="9"/>
            <p:cNvSpPr/>
            <p:nvPr/>
          </p:nvSpPr>
          <p:spPr>
            <a:xfrm flipH="false" flipV="false" rot="0">
              <a:off x="0" y="0"/>
              <a:ext cx="21979382" cy="2839972"/>
            </a:xfrm>
            <a:custGeom>
              <a:avLst/>
              <a:gdLst/>
              <a:ahLst/>
              <a:cxnLst/>
              <a:rect r="r" b="b" t="t" l="l"/>
              <a:pathLst>
                <a:path h="2839972" w="21979382">
                  <a:moveTo>
                    <a:pt x="16891" y="0"/>
                  </a:moveTo>
                  <a:lnTo>
                    <a:pt x="21962490" y="0"/>
                  </a:lnTo>
                  <a:cubicBezTo>
                    <a:pt x="21971890" y="0"/>
                    <a:pt x="21979382" y="12094"/>
                    <a:pt x="21979382" y="26807"/>
                  </a:cubicBezTo>
                  <a:lnTo>
                    <a:pt x="21979382" y="2813165"/>
                  </a:lnTo>
                  <a:cubicBezTo>
                    <a:pt x="21979382" y="2828080"/>
                    <a:pt x="21971763" y="2839972"/>
                    <a:pt x="21962490" y="2839972"/>
                  </a:cubicBezTo>
                  <a:lnTo>
                    <a:pt x="16891" y="2839972"/>
                  </a:lnTo>
                  <a:cubicBezTo>
                    <a:pt x="7493" y="2839972"/>
                    <a:pt x="0" y="2827879"/>
                    <a:pt x="0" y="2813165"/>
                  </a:cubicBezTo>
                  <a:lnTo>
                    <a:pt x="0" y="26807"/>
                  </a:lnTo>
                  <a:cubicBezTo>
                    <a:pt x="0" y="12094"/>
                    <a:pt x="7620" y="0"/>
                    <a:pt x="16891" y="0"/>
                  </a:cubicBezTo>
                  <a:moveTo>
                    <a:pt x="16891" y="53816"/>
                  </a:moveTo>
                  <a:lnTo>
                    <a:pt x="16891" y="26807"/>
                  </a:lnTo>
                  <a:lnTo>
                    <a:pt x="33909" y="26807"/>
                  </a:lnTo>
                  <a:lnTo>
                    <a:pt x="33909" y="2813165"/>
                  </a:lnTo>
                  <a:lnTo>
                    <a:pt x="16891" y="2813165"/>
                  </a:lnTo>
                  <a:lnTo>
                    <a:pt x="16891" y="2786357"/>
                  </a:lnTo>
                  <a:lnTo>
                    <a:pt x="21962490" y="2786357"/>
                  </a:lnTo>
                  <a:lnTo>
                    <a:pt x="21962490" y="2813165"/>
                  </a:lnTo>
                  <a:lnTo>
                    <a:pt x="21945600" y="2813165"/>
                  </a:lnTo>
                  <a:lnTo>
                    <a:pt x="21945600" y="26807"/>
                  </a:lnTo>
                  <a:lnTo>
                    <a:pt x="21962490" y="26807"/>
                  </a:lnTo>
                  <a:lnTo>
                    <a:pt x="21962490" y="53816"/>
                  </a:lnTo>
                  <a:lnTo>
                    <a:pt x="16891" y="53816"/>
                  </a:lnTo>
                  <a:close/>
                </a:path>
              </a:pathLst>
            </a:custGeom>
            <a:solidFill>
              <a:srgbClr val="DDDDDD"/>
            </a:solidFill>
          </p:spPr>
        </p:sp>
      </p:grpSp>
      <p:sp>
        <p:nvSpPr>
          <p:cNvPr name="TextBox 10" id="10"/>
          <p:cNvSpPr txBox="true"/>
          <p:nvPr/>
        </p:nvSpPr>
        <p:spPr>
          <a:xfrm rot="0">
            <a:off x="1303015" y="5929627"/>
            <a:ext cx="15727680" cy="1628775"/>
          </a:xfrm>
          <a:prstGeom prst="rect">
            <a:avLst/>
          </a:prstGeom>
        </p:spPr>
        <p:txBody>
          <a:bodyPr anchor="t" rtlCol="false" tIns="0" lIns="0" bIns="0" rIns="0">
            <a:spAutoFit/>
          </a:bodyPr>
          <a:lstStyle/>
          <a:p>
            <a:pPr algn="l">
              <a:lnSpc>
                <a:spcPts val="4199"/>
              </a:lnSpc>
            </a:pPr>
            <a:r>
              <a:rPr lang="en-US" sz="3499">
                <a:solidFill>
                  <a:srgbClr val="1A1A1A"/>
                </a:solidFill>
                <a:latin typeface="Consolas"/>
                <a:ea typeface="Consolas"/>
                <a:cs typeface="Consolas"/>
                <a:sym typeface="Consolas"/>
              </a:rPr>
              <a:t>Mientras &lt;condición&gt; Hacer</a:t>
            </a:r>
          </a:p>
          <a:p>
            <a:pPr algn="l">
              <a:lnSpc>
                <a:spcPts val="4199"/>
              </a:lnSpc>
            </a:pPr>
            <a:r>
              <a:rPr lang="en-US" sz="3499">
                <a:solidFill>
                  <a:srgbClr val="1A1A1A"/>
                </a:solidFill>
                <a:latin typeface="Consolas"/>
                <a:ea typeface="Consolas"/>
                <a:cs typeface="Consolas"/>
                <a:sym typeface="Consolas"/>
              </a:rPr>
              <a:t>   // instrucciones</a:t>
            </a:r>
          </a:p>
          <a:p>
            <a:pPr algn="l">
              <a:lnSpc>
                <a:spcPts val="4199"/>
              </a:lnSpc>
            </a:pPr>
            <a:r>
              <a:rPr lang="en-US" sz="3499">
                <a:solidFill>
                  <a:srgbClr val="1A1A1A"/>
                </a:solidFill>
                <a:latin typeface="Consolas"/>
                <a:ea typeface="Consolas"/>
                <a:cs typeface="Consolas"/>
                <a:sym typeface="Consolas"/>
              </a:rPr>
              <a:t>FinMientras</a:t>
            </a:r>
          </a:p>
        </p:txBody>
      </p:sp>
      <p:grpSp>
        <p:nvGrpSpPr>
          <p:cNvPr name="Group 11" id="11"/>
          <p:cNvGrpSpPr/>
          <p:nvPr/>
        </p:nvGrpSpPr>
        <p:grpSpPr>
          <a:xfrm rot="0">
            <a:off x="901703" y="10923527"/>
            <a:ext cx="16484603" cy="793499"/>
            <a:chOff x="0" y="0"/>
            <a:chExt cx="21979471" cy="1057999"/>
          </a:xfrm>
        </p:grpSpPr>
        <p:sp>
          <p:nvSpPr>
            <p:cNvPr name="Freeform 12" id="12"/>
            <p:cNvSpPr/>
            <p:nvPr/>
          </p:nvSpPr>
          <p:spPr>
            <a:xfrm flipH="false" flipV="false" rot="0">
              <a:off x="16891" y="16891"/>
              <a:ext cx="21945599" cy="1024128"/>
            </a:xfrm>
            <a:custGeom>
              <a:avLst/>
              <a:gdLst/>
              <a:ahLst/>
              <a:cxnLst/>
              <a:rect r="r" b="b" t="t" l="l"/>
              <a:pathLst>
                <a:path h="1024128" w="21945599">
                  <a:moveTo>
                    <a:pt x="0" y="0"/>
                  </a:moveTo>
                  <a:lnTo>
                    <a:pt x="21945599" y="0"/>
                  </a:lnTo>
                  <a:lnTo>
                    <a:pt x="21945599" y="1024128"/>
                  </a:lnTo>
                  <a:lnTo>
                    <a:pt x="0" y="1024128"/>
                  </a:lnTo>
                  <a:close/>
                </a:path>
              </a:pathLst>
            </a:custGeom>
            <a:solidFill>
              <a:srgbClr val="F5F5F5"/>
            </a:solidFill>
          </p:spPr>
        </p:sp>
        <p:sp>
          <p:nvSpPr>
            <p:cNvPr name="Freeform 13" id="13"/>
            <p:cNvSpPr/>
            <p:nvPr/>
          </p:nvSpPr>
          <p:spPr>
            <a:xfrm flipH="false" flipV="false" rot="0">
              <a:off x="0" y="0"/>
              <a:ext cx="21979382" cy="1057912"/>
            </a:xfrm>
            <a:custGeom>
              <a:avLst/>
              <a:gdLst/>
              <a:ahLst/>
              <a:cxnLst/>
              <a:rect r="r" b="b" t="t" l="l"/>
              <a:pathLst>
                <a:path h="1057912" w="21979382">
                  <a:moveTo>
                    <a:pt x="16891" y="0"/>
                  </a:moveTo>
                  <a:lnTo>
                    <a:pt x="21962490" y="0"/>
                  </a:lnTo>
                  <a:cubicBezTo>
                    <a:pt x="21971890" y="0"/>
                    <a:pt x="21979382" y="7620"/>
                    <a:pt x="21979382" y="16891"/>
                  </a:cubicBezTo>
                  <a:lnTo>
                    <a:pt x="21979382" y="1041019"/>
                  </a:lnTo>
                  <a:cubicBezTo>
                    <a:pt x="21979382" y="1050417"/>
                    <a:pt x="21971763" y="1057910"/>
                    <a:pt x="2196249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1962490" y="1024128"/>
                  </a:lnTo>
                  <a:lnTo>
                    <a:pt x="21962490" y="1041019"/>
                  </a:lnTo>
                  <a:lnTo>
                    <a:pt x="21945600" y="1041019"/>
                  </a:lnTo>
                  <a:lnTo>
                    <a:pt x="21945600" y="16891"/>
                  </a:lnTo>
                  <a:lnTo>
                    <a:pt x="21962490" y="16891"/>
                  </a:lnTo>
                  <a:lnTo>
                    <a:pt x="21962490" y="33909"/>
                  </a:lnTo>
                  <a:lnTo>
                    <a:pt x="16891" y="33909"/>
                  </a:lnTo>
                  <a:close/>
                </a:path>
              </a:pathLst>
            </a:custGeom>
            <a:solidFill>
              <a:srgbClr val="DDDDDD"/>
            </a:solidFill>
          </p:spPr>
        </p:sp>
      </p:grpSp>
      <p:grpSp>
        <p:nvGrpSpPr>
          <p:cNvPr name="Group 14" id="14"/>
          <p:cNvGrpSpPr/>
          <p:nvPr/>
        </p:nvGrpSpPr>
        <p:grpSpPr>
          <a:xfrm rot="0">
            <a:off x="1280160" y="11027664"/>
            <a:ext cx="15727680" cy="585216"/>
            <a:chOff x="0" y="0"/>
            <a:chExt cx="20970240" cy="780288"/>
          </a:xfrm>
        </p:grpSpPr>
        <p:sp>
          <p:nvSpPr>
            <p:cNvPr name="Freeform 15" id="15"/>
            <p:cNvSpPr/>
            <p:nvPr/>
          </p:nvSpPr>
          <p:spPr>
            <a:xfrm flipH="false" flipV="false" rot="0">
              <a:off x="0" y="0"/>
              <a:ext cx="20970239" cy="780288"/>
            </a:xfrm>
            <a:custGeom>
              <a:avLst/>
              <a:gdLst/>
              <a:ahLst/>
              <a:cxnLst/>
              <a:rect r="r" b="b" t="t" l="l"/>
              <a:pathLst>
                <a:path h="780288" w="20970239">
                  <a:moveTo>
                    <a:pt x="0" y="0"/>
                  </a:moveTo>
                  <a:lnTo>
                    <a:pt x="20970239" y="0"/>
                  </a:lnTo>
                  <a:lnTo>
                    <a:pt x="20970239" y="780288"/>
                  </a:lnTo>
                  <a:lnTo>
                    <a:pt x="0" y="780288"/>
                  </a:lnTo>
                  <a:close/>
                </a:path>
              </a:pathLst>
            </a:custGeom>
            <a:blipFill>
              <a:blip r:embed="rId3">
                <a:alphaModFix amt="0"/>
              </a:blip>
              <a:stretch>
                <a:fillRect l="0" t="-473660" r="0" b="-473660"/>
              </a:stretch>
            </a:blipFill>
          </p:spPr>
        </p:sp>
        <p:sp>
          <p:nvSpPr>
            <p:cNvPr name="TextBox 16" id="16"/>
            <p:cNvSpPr txBox="true"/>
            <p:nvPr/>
          </p:nvSpPr>
          <p:spPr>
            <a:xfrm>
              <a:off x="0" y="-47625"/>
              <a:ext cx="20970240" cy="827913"/>
            </a:xfrm>
            <a:prstGeom prst="rect">
              <a:avLst/>
            </a:prstGeom>
          </p:spPr>
          <p:txBody>
            <a:bodyPr anchor="ctr" rtlCol="false" tIns="0" lIns="0" bIns="0" rIns="0"/>
            <a:lstStyle/>
            <a:p>
              <a:pPr algn="l">
                <a:lnSpc>
                  <a:spcPts val="2640"/>
                </a:lnSpc>
              </a:pPr>
              <a:r>
                <a:rPr lang="en-US" sz="2200" i="true">
                  <a:solidFill>
                    <a:srgbClr val="444444"/>
                  </a:solidFill>
                  <a:latin typeface="Calibri (MS) Italics"/>
                  <a:ea typeface="Calibri (MS) Italics"/>
                  <a:cs typeface="Calibri (MS) Italics"/>
                  <a:sym typeface="Calibri (MS) Italics"/>
                </a:rPr>
                <a:t>Peligro: si la condición nunca se vuelve falsa, el ciclo se ejecuta para siempre. Eso se llama ciclo infinito.</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12188" y="2467639"/>
            <a:ext cx="7937228"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Ejemplo — pedir un número positivo al usuario:</a:t>
            </a:r>
          </a:p>
        </p:txBody>
      </p:sp>
      <p:grpSp>
        <p:nvGrpSpPr>
          <p:cNvPr name="Group 3" id="3"/>
          <p:cNvGrpSpPr/>
          <p:nvPr/>
        </p:nvGrpSpPr>
        <p:grpSpPr>
          <a:xfrm rot="0">
            <a:off x="908052" y="3143028"/>
            <a:ext cx="8673696" cy="4911466"/>
            <a:chOff x="0" y="0"/>
            <a:chExt cx="11564928" cy="6548622"/>
          </a:xfrm>
        </p:grpSpPr>
        <p:sp>
          <p:nvSpPr>
            <p:cNvPr name="Freeform 4" id="4"/>
            <p:cNvSpPr/>
            <p:nvPr/>
          </p:nvSpPr>
          <p:spPr>
            <a:xfrm flipH="false" flipV="false" rot="0">
              <a:off x="15978" y="21459"/>
              <a:ext cx="11532889" cy="6505590"/>
            </a:xfrm>
            <a:custGeom>
              <a:avLst/>
              <a:gdLst/>
              <a:ahLst/>
              <a:cxnLst/>
              <a:rect r="r" b="b" t="t" l="l"/>
              <a:pathLst>
                <a:path h="6505590" w="11532889">
                  <a:moveTo>
                    <a:pt x="0" y="0"/>
                  </a:moveTo>
                  <a:lnTo>
                    <a:pt x="11532888" y="0"/>
                  </a:lnTo>
                  <a:lnTo>
                    <a:pt x="11532888" y="6505591"/>
                  </a:lnTo>
                  <a:lnTo>
                    <a:pt x="0" y="6505591"/>
                  </a:lnTo>
                  <a:close/>
                </a:path>
              </a:pathLst>
            </a:custGeom>
            <a:solidFill>
              <a:srgbClr val="F5F5F5"/>
            </a:solidFill>
          </p:spPr>
        </p:sp>
        <p:sp>
          <p:nvSpPr>
            <p:cNvPr name="Freeform 5" id="5"/>
            <p:cNvSpPr/>
            <p:nvPr/>
          </p:nvSpPr>
          <p:spPr>
            <a:xfrm flipH="false" flipV="false" rot="0">
              <a:off x="0" y="0"/>
              <a:ext cx="11564844" cy="6548510"/>
            </a:xfrm>
            <a:custGeom>
              <a:avLst/>
              <a:gdLst/>
              <a:ahLst/>
              <a:cxnLst/>
              <a:rect r="r" b="b" t="t" l="l"/>
              <a:pathLst>
                <a:path h="6548510" w="11564844">
                  <a:moveTo>
                    <a:pt x="15978" y="0"/>
                  </a:moveTo>
                  <a:lnTo>
                    <a:pt x="11548866" y="0"/>
                  </a:lnTo>
                  <a:cubicBezTo>
                    <a:pt x="11557756" y="0"/>
                    <a:pt x="11564844" y="9681"/>
                    <a:pt x="11564844" y="21459"/>
                  </a:cubicBezTo>
                  <a:lnTo>
                    <a:pt x="11564844" y="6527050"/>
                  </a:lnTo>
                  <a:cubicBezTo>
                    <a:pt x="11564844" y="6538990"/>
                    <a:pt x="11557636" y="6548510"/>
                    <a:pt x="11548866" y="6548510"/>
                  </a:cubicBezTo>
                  <a:lnTo>
                    <a:pt x="15978" y="6548510"/>
                  </a:lnTo>
                  <a:cubicBezTo>
                    <a:pt x="7088" y="6548510"/>
                    <a:pt x="0" y="6538828"/>
                    <a:pt x="0" y="6527050"/>
                  </a:cubicBezTo>
                  <a:lnTo>
                    <a:pt x="0" y="21459"/>
                  </a:lnTo>
                  <a:cubicBezTo>
                    <a:pt x="0" y="9681"/>
                    <a:pt x="7208" y="0"/>
                    <a:pt x="15978" y="0"/>
                  </a:cubicBezTo>
                  <a:moveTo>
                    <a:pt x="15978" y="43080"/>
                  </a:moveTo>
                  <a:lnTo>
                    <a:pt x="15978" y="21459"/>
                  </a:lnTo>
                  <a:lnTo>
                    <a:pt x="32076" y="21459"/>
                  </a:lnTo>
                  <a:lnTo>
                    <a:pt x="32076" y="6527050"/>
                  </a:lnTo>
                  <a:lnTo>
                    <a:pt x="15978" y="6527050"/>
                  </a:lnTo>
                  <a:lnTo>
                    <a:pt x="15978" y="6505591"/>
                  </a:lnTo>
                  <a:lnTo>
                    <a:pt x="11548866" y="6505591"/>
                  </a:lnTo>
                  <a:lnTo>
                    <a:pt x="11548866" y="6527050"/>
                  </a:lnTo>
                  <a:lnTo>
                    <a:pt x="11532888" y="6527050"/>
                  </a:lnTo>
                  <a:lnTo>
                    <a:pt x="11532888" y="21459"/>
                  </a:lnTo>
                  <a:lnTo>
                    <a:pt x="11548866" y="21459"/>
                  </a:lnTo>
                  <a:lnTo>
                    <a:pt x="11548866" y="43080"/>
                  </a:lnTo>
                  <a:lnTo>
                    <a:pt x="15978" y="43080"/>
                  </a:lnTo>
                  <a:close/>
                </a:path>
              </a:pathLst>
            </a:custGeom>
            <a:solidFill>
              <a:srgbClr val="DDDDDD"/>
            </a:solidFill>
          </p:spPr>
        </p:sp>
      </p:grpSp>
      <p:sp>
        <p:nvSpPr>
          <p:cNvPr name="TextBox 6" id="6"/>
          <p:cNvSpPr txBox="true"/>
          <p:nvPr/>
        </p:nvSpPr>
        <p:spPr>
          <a:xfrm rot="0">
            <a:off x="1097280" y="3417760"/>
            <a:ext cx="8295239" cy="4400550"/>
          </a:xfrm>
          <a:prstGeom prst="rect">
            <a:avLst/>
          </a:prstGeom>
        </p:spPr>
        <p:txBody>
          <a:bodyPr anchor="t" rtlCol="false" tIns="0" lIns="0" bIns="0" rIns="0">
            <a:spAutoFit/>
          </a:bodyPr>
          <a:lstStyle/>
          <a:p>
            <a:pPr algn="l">
              <a:lnSpc>
                <a:spcPts val="2639"/>
              </a:lnSpc>
            </a:pPr>
            <a:r>
              <a:rPr lang="en-US" sz="2199">
                <a:solidFill>
                  <a:srgbClr val="1A1A1A"/>
                </a:solidFill>
                <a:latin typeface="Consolas"/>
                <a:ea typeface="Consolas"/>
                <a:cs typeface="Consolas"/>
                <a:sym typeface="Consolas"/>
              </a:rPr>
              <a:t>Definir numero Como Entero</a:t>
            </a:r>
          </a:p>
          <a:p>
            <a:pPr algn="l">
              <a:lnSpc>
                <a:spcPts val="2639"/>
              </a:lnSpc>
            </a:pPr>
            <a:r>
              <a:rPr lang="en-US" sz="2199">
                <a:solidFill>
                  <a:srgbClr val="1A1A1A"/>
                </a:solidFill>
                <a:latin typeface="Consolas"/>
                <a:ea typeface="Consolas"/>
                <a:cs typeface="Consolas"/>
                <a:sym typeface="Consolas"/>
              </a:rPr>
              <a:t>numero &lt;- 0</a:t>
            </a:r>
          </a:p>
          <a:p>
            <a:pPr algn="l">
              <a:lnSpc>
                <a:spcPts val="2639"/>
              </a:lnSpc>
            </a:pPr>
          </a:p>
          <a:p>
            <a:pPr algn="l">
              <a:lnSpc>
                <a:spcPts val="2639"/>
              </a:lnSpc>
            </a:pPr>
            <a:r>
              <a:rPr lang="en-US" sz="2199">
                <a:solidFill>
                  <a:srgbClr val="1A1A1A"/>
                </a:solidFill>
                <a:latin typeface="Consolas"/>
                <a:ea typeface="Consolas"/>
                <a:cs typeface="Consolas"/>
                <a:sym typeface="Consolas"/>
              </a:rPr>
              <a:t>Mientras numero &lt;= 0 Hacer</a:t>
            </a:r>
          </a:p>
          <a:p>
            <a:pPr algn="l">
              <a:lnSpc>
                <a:spcPts val="2639"/>
              </a:lnSpc>
            </a:pPr>
            <a:r>
              <a:rPr lang="en-US" sz="2199">
                <a:solidFill>
                  <a:srgbClr val="1A1A1A"/>
                </a:solidFill>
                <a:latin typeface="Consolas"/>
                <a:ea typeface="Consolas"/>
                <a:cs typeface="Consolas"/>
                <a:sym typeface="Consolas"/>
              </a:rPr>
              <a:t>   Escribir "Ingrese un número positivo:"</a:t>
            </a:r>
          </a:p>
          <a:p>
            <a:pPr algn="l">
              <a:lnSpc>
                <a:spcPts val="2639"/>
              </a:lnSpc>
            </a:pPr>
            <a:r>
              <a:rPr lang="en-US" sz="2199">
                <a:solidFill>
                  <a:srgbClr val="1A1A1A"/>
                </a:solidFill>
                <a:latin typeface="Consolas"/>
                <a:ea typeface="Consolas"/>
                <a:cs typeface="Consolas"/>
                <a:sym typeface="Consolas"/>
              </a:rPr>
              <a:t>   Leer numero</a:t>
            </a:r>
          </a:p>
          <a:p>
            <a:pPr algn="l">
              <a:lnSpc>
                <a:spcPts val="2639"/>
              </a:lnSpc>
            </a:pPr>
            <a:r>
              <a:rPr lang="en-US" sz="2199">
                <a:solidFill>
                  <a:srgbClr val="1A1A1A"/>
                </a:solidFill>
                <a:latin typeface="Consolas"/>
                <a:ea typeface="Consolas"/>
                <a:cs typeface="Consolas"/>
                <a:sym typeface="Consolas"/>
              </a:rPr>
              <a:t>   Si numero &lt;= 0 Entonces</a:t>
            </a:r>
          </a:p>
          <a:p>
            <a:pPr algn="l">
              <a:lnSpc>
                <a:spcPts val="2759"/>
              </a:lnSpc>
            </a:pPr>
            <a:r>
              <a:rPr lang="en-US" sz="2299">
                <a:solidFill>
                  <a:srgbClr val="1A1A1A"/>
                </a:solidFill>
                <a:latin typeface="Consolas"/>
                <a:ea typeface="Consolas"/>
                <a:cs typeface="Consolas"/>
                <a:sym typeface="Consolas"/>
              </a:rPr>
              <a:t>      Escribir "El número debe ser mayor que cero. Intente de nuevo."</a:t>
            </a:r>
          </a:p>
          <a:p>
            <a:pPr algn="l">
              <a:lnSpc>
                <a:spcPts val="2639"/>
              </a:lnSpc>
            </a:pPr>
            <a:r>
              <a:rPr lang="en-US" sz="2199">
                <a:solidFill>
                  <a:srgbClr val="1A1A1A"/>
                </a:solidFill>
                <a:latin typeface="Consolas"/>
                <a:ea typeface="Consolas"/>
                <a:cs typeface="Consolas"/>
                <a:sym typeface="Consolas"/>
              </a:rPr>
              <a:t>   FinSi</a:t>
            </a:r>
          </a:p>
          <a:p>
            <a:pPr algn="l">
              <a:lnSpc>
                <a:spcPts val="2639"/>
              </a:lnSpc>
            </a:pPr>
            <a:r>
              <a:rPr lang="en-US" sz="2199">
                <a:solidFill>
                  <a:srgbClr val="1A1A1A"/>
                </a:solidFill>
                <a:latin typeface="Consolas"/>
                <a:ea typeface="Consolas"/>
                <a:cs typeface="Consolas"/>
                <a:sym typeface="Consolas"/>
              </a:rPr>
              <a:t>FinMientras</a:t>
            </a:r>
          </a:p>
          <a:p>
            <a:pPr algn="l">
              <a:lnSpc>
                <a:spcPts val="2639"/>
              </a:lnSpc>
            </a:pPr>
          </a:p>
          <a:p>
            <a:pPr algn="l">
              <a:lnSpc>
                <a:spcPts val="2639"/>
              </a:lnSpc>
            </a:pPr>
            <a:r>
              <a:rPr lang="en-US" sz="2199">
                <a:solidFill>
                  <a:srgbClr val="1A1A1A"/>
                </a:solidFill>
                <a:latin typeface="Consolas"/>
                <a:ea typeface="Consolas"/>
                <a:cs typeface="Consolas"/>
                <a:sym typeface="Consolas"/>
              </a:rPr>
              <a:t>Escribir "Número aceptado: ", numero</a:t>
            </a:r>
          </a:p>
        </p:txBody>
      </p:sp>
      <p:sp>
        <p:nvSpPr>
          <p:cNvPr name="TextBox 7" id="7"/>
          <p:cNvSpPr txBox="true"/>
          <p:nvPr/>
        </p:nvSpPr>
        <p:spPr>
          <a:xfrm rot="0">
            <a:off x="9790428" y="2467639"/>
            <a:ext cx="5199905"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¿Qué ocurre en cada paso?</a:t>
            </a:r>
          </a:p>
        </p:txBody>
      </p:sp>
      <p:grpSp>
        <p:nvGrpSpPr>
          <p:cNvPr name="Group 8" id="8"/>
          <p:cNvGrpSpPr/>
          <p:nvPr/>
        </p:nvGrpSpPr>
        <p:grpSpPr>
          <a:xfrm rot="0">
            <a:off x="9961637" y="3223260"/>
            <a:ext cx="7680960" cy="768096"/>
            <a:chOff x="0" y="0"/>
            <a:chExt cx="10241280" cy="1024128"/>
          </a:xfrm>
        </p:grpSpPr>
        <p:sp>
          <p:nvSpPr>
            <p:cNvPr name="Freeform 9" id="9"/>
            <p:cNvSpPr/>
            <p:nvPr/>
          </p:nvSpPr>
          <p:spPr>
            <a:xfrm flipH="false" flipV="false" rot="0">
              <a:off x="0" y="0"/>
              <a:ext cx="10241280" cy="1024128"/>
            </a:xfrm>
            <a:custGeom>
              <a:avLst/>
              <a:gdLst/>
              <a:ahLst/>
              <a:cxnLst/>
              <a:rect r="r" b="b" t="t" l="l"/>
              <a:pathLst>
                <a:path h="1024128" w="10241280">
                  <a:moveTo>
                    <a:pt x="0" y="0"/>
                  </a:moveTo>
                  <a:lnTo>
                    <a:pt x="10241280" y="0"/>
                  </a:lnTo>
                  <a:lnTo>
                    <a:pt x="10241280" y="1024128"/>
                  </a:lnTo>
                  <a:lnTo>
                    <a:pt x="0" y="1024128"/>
                  </a:lnTo>
                  <a:close/>
                </a:path>
              </a:pathLst>
            </a:custGeom>
            <a:blipFill>
              <a:blip r:embed="rId2">
                <a:alphaModFix amt="0"/>
              </a:blip>
              <a:stretch>
                <a:fillRect l="0" t="-144850" r="0" b="-144850"/>
              </a:stretch>
            </a:blipFill>
          </p:spPr>
        </p:sp>
        <p:sp>
          <p:nvSpPr>
            <p:cNvPr name="TextBox 10" id="10"/>
            <p:cNvSpPr txBox="true"/>
            <p:nvPr/>
          </p:nvSpPr>
          <p:spPr>
            <a:xfrm>
              <a:off x="0" y="-57150"/>
              <a:ext cx="10241280" cy="1081278"/>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numero se inicializa en 0 antes del ciclo.</a:t>
              </a:r>
            </a:p>
          </p:txBody>
        </p:sp>
      </p:grpSp>
      <p:grpSp>
        <p:nvGrpSpPr>
          <p:cNvPr name="Group 11" id="11"/>
          <p:cNvGrpSpPr/>
          <p:nvPr/>
        </p:nvGrpSpPr>
        <p:grpSpPr>
          <a:xfrm rot="0">
            <a:off x="9961637" y="3991356"/>
            <a:ext cx="7680960" cy="909228"/>
            <a:chOff x="0" y="0"/>
            <a:chExt cx="10241280" cy="1212304"/>
          </a:xfrm>
        </p:grpSpPr>
        <p:sp>
          <p:nvSpPr>
            <p:cNvPr name="Freeform 12" id="12"/>
            <p:cNvSpPr/>
            <p:nvPr/>
          </p:nvSpPr>
          <p:spPr>
            <a:xfrm flipH="false" flipV="false" rot="0">
              <a:off x="0" y="0"/>
              <a:ext cx="10241280" cy="1212304"/>
            </a:xfrm>
            <a:custGeom>
              <a:avLst/>
              <a:gdLst/>
              <a:ahLst/>
              <a:cxnLst/>
              <a:rect r="r" b="b" t="t" l="l"/>
              <a:pathLst>
                <a:path h="1212304" w="10241280">
                  <a:moveTo>
                    <a:pt x="0" y="0"/>
                  </a:moveTo>
                  <a:lnTo>
                    <a:pt x="10241280" y="0"/>
                  </a:lnTo>
                  <a:lnTo>
                    <a:pt x="10241280" y="1212304"/>
                  </a:lnTo>
                  <a:lnTo>
                    <a:pt x="0" y="1212304"/>
                  </a:lnTo>
                  <a:close/>
                </a:path>
              </a:pathLst>
            </a:custGeom>
            <a:blipFill>
              <a:blip r:embed="rId2">
                <a:alphaModFix amt="0"/>
              </a:blip>
              <a:stretch>
                <a:fillRect l="0" t="-122366" r="0" b="-106844"/>
              </a:stretch>
            </a:blipFill>
          </p:spPr>
        </p:sp>
        <p:sp>
          <p:nvSpPr>
            <p:cNvPr name="TextBox 13" id="13"/>
            <p:cNvSpPr txBox="true"/>
            <p:nvPr/>
          </p:nvSpPr>
          <p:spPr>
            <a:xfrm>
              <a:off x="0" y="-57150"/>
              <a:ext cx="10241280" cy="1269454"/>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La condición numero &lt;= 0 se evalúa: 0 &lt;= 0 es Verdadero, entra al ciclo.</a:t>
              </a:r>
            </a:p>
          </p:txBody>
        </p:sp>
      </p:grpSp>
      <p:grpSp>
        <p:nvGrpSpPr>
          <p:cNvPr name="Group 14" id="14"/>
          <p:cNvGrpSpPr/>
          <p:nvPr/>
        </p:nvGrpSpPr>
        <p:grpSpPr>
          <a:xfrm rot="0">
            <a:off x="9961637" y="4759452"/>
            <a:ext cx="7680960" cy="768096"/>
            <a:chOff x="0" y="0"/>
            <a:chExt cx="10241280" cy="1024128"/>
          </a:xfrm>
        </p:grpSpPr>
        <p:sp>
          <p:nvSpPr>
            <p:cNvPr name="Freeform 15" id="15"/>
            <p:cNvSpPr/>
            <p:nvPr/>
          </p:nvSpPr>
          <p:spPr>
            <a:xfrm flipH="false" flipV="false" rot="0">
              <a:off x="0" y="0"/>
              <a:ext cx="10241280" cy="1024128"/>
            </a:xfrm>
            <a:custGeom>
              <a:avLst/>
              <a:gdLst/>
              <a:ahLst/>
              <a:cxnLst/>
              <a:rect r="r" b="b" t="t" l="l"/>
              <a:pathLst>
                <a:path h="1024128" w="10241280">
                  <a:moveTo>
                    <a:pt x="0" y="0"/>
                  </a:moveTo>
                  <a:lnTo>
                    <a:pt x="10241280" y="0"/>
                  </a:lnTo>
                  <a:lnTo>
                    <a:pt x="10241280" y="1024128"/>
                  </a:lnTo>
                  <a:lnTo>
                    <a:pt x="0" y="1024128"/>
                  </a:lnTo>
                  <a:close/>
                </a:path>
              </a:pathLst>
            </a:custGeom>
            <a:blipFill>
              <a:blip r:embed="rId2">
                <a:alphaModFix amt="0"/>
              </a:blip>
              <a:stretch>
                <a:fillRect l="0" t="-144850" r="0" b="-144850"/>
              </a:stretch>
            </a:blipFill>
          </p:spPr>
        </p:sp>
        <p:sp>
          <p:nvSpPr>
            <p:cNvPr name="TextBox 16" id="16"/>
            <p:cNvSpPr txBox="true"/>
            <p:nvPr/>
          </p:nvSpPr>
          <p:spPr>
            <a:xfrm>
              <a:off x="0" y="-57150"/>
              <a:ext cx="10241280" cy="1081278"/>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Se pide el número al usuario.</a:t>
              </a:r>
            </a:p>
          </p:txBody>
        </p:sp>
      </p:grpSp>
      <p:grpSp>
        <p:nvGrpSpPr>
          <p:cNvPr name="Group 17" id="17"/>
          <p:cNvGrpSpPr/>
          <p:nvPr/>
        </p:nvGrpSpPr>
        <p:grpSpPr>
          <a:xfrm rot="0">
            <a:off x="9961637" y="5527548"/>
            <a:ext cx="7680960" cy="909228"/>
            <a:chOff x="0" y="0"/>
            <a:chExt cx="10241280" cy="1212304"/>
          </a:xfrm>
        </p:grpSpPr>
        <p:sp>
          <p:nvSpPr>
            <p:cNvPr name="Freeform 18" id="18"/>
            <p:cNvSpPr/>
            <p:nvPr/>
          </p:nvSpPr>
          <p:spPr>
            <a:xfrm flipH="false" flipV="false" rot="0">
              <a:off x="0" y="0"/>
              <a:ext cx="10241280" cy="1212304"/>
            </a:xfrm>
            <a:custGeom>
              <a:avLst/>
              <a:gdLst/>
              <a:ahLst/>
              <a:cxnLst/>
              <a:rect r="r" b="b" t="t" l="l"/>
              <a:pathLst>
                <a:path h="1212304" w="10241280">
                  <a:moveTo>
                    <a:pt x="0" y="0"/>
                  </a:moveTo>
                  <a:lnTo>
                    <a:pt x="10241280" y="0"/>
                  </a:lnTo>
                  <a:lnTo>
                    <a:pt x="10241280" y="1212304"/>
                  </a:lnTo>
                  <a:lnTo>
                    <a:pt x="0" y="1212304"/>
                  </a:lnTo>
                  <a:close/>
                </a:path>
              </a:pathLst>
            </a:custGeom>
            <a:blipFill>
              <a:blip r:embed="rId2">
                <a:alphaModFix amt="0"/>
              </a:blip>
              <a:stretch>
                <a:fillRect l="0" t="-122366" r="0" b="-106844"/>
              </a:stretch>
            </a:blipFill>
          </p:spPr>
        </p:sp>
        <p:sp>
          <p:nvSpPr>
            <p:cNvPr name="TextBox 19" id="19"/>
            <p:cNvSpPr txBox="true"/>
            <p:nvPr/>
          </p:nvSpPr>
          <p:spPr>
            <a:xfrm>
              <a:off x="0" y="-57150"/>
              <a:ext cx="10241280" cy="1269454"/>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Si ingresa –3: la condición sigue siendo verdadera, repite.</a:t>
              </a:r>
            </a:p>
          </p:txBody>
        </p:sp>
      </p:grpSp>
      <p:grpSp>
        <p:nvGrpSpPr>
          <p:cNvPr name="Group 20" id="20"/>
          <p:cNvGrpSpPr/>
          <p:nvPr/>
        </p:nvGrpSpPr>
        <p:grpSpPr>
          <a:xfrm rot="0">
            <a:off x="9961637" y="6295644"/>
            <a:ext cx="7680960" cy="768096"/>
            <a:chOff x="0" y="0"/>
            <a:chExt cx="10241280" cy="1024128"/>
          </a:xfrm>
        </p:grpSpPr>
        <p:sp>
          <p:nvSpPr>
            <p:cNvPr name="Freeform 21" id="21"/>
            <p:cNvSpPr/>
            <p:nvPr/>
          </p:nvSpPr>
          <p:spPr>
            <a:xfrm flipH="false" flipV="false" rot="0">
              <a:off x="0" y="0"/>
              <a:ext cx="10241280" cy="1024128"/>
            </a:xfrm>
            <a:custGeom>
              <a:avLst/>
              <a:gdLst/>
              <a:ahLst/>
              <a:cxnLst/>
              <a:rect r="r" b="b" t="t" l="l"/>
              <a:pathLst>
                <a:path h="1024128" w="10241280">
                  <a:moveTo>
                    <a:pt x="0" y="0"/>
                  </a:moveTo>
                  <a:lnTo>
                    <a:pt x="10241280" y="0"/>
                  </a:lnTo>
                  <a:lnTo>
                    <a:pt x="10241280" y="1024128"/>
                  </a:lnTo>
                  <a:lnTo>
                    <a:pt x="0" y="1024128"/>
                  </a:lnTo>
                  <a:close/>
                </a:path>
              </a:pathLst>
            </a:custGeom>
            <a:blipFill>
              <a:blip r:embed="rId2">
                <a:alphaModFix amt="0"/>
              </a:blip>
              <a:stretch>
                <a:fillRect l="0" t="-144850" r="0" b="-144850"/>
              </a:stretch>
            </a:blipFill>
          </p:spPr>
        </p:sp>
        <p:sp>
          <p:nvSpPr>
            <p:cNvPr name="TextBox 22" id="22"/>
            <p:cNvSpPr txBox="true"/>
            <p:nvPr/>
          </p:nvSpPr>
          <p:spPr>
            <a:xfrm>
              <a:off x="0" y="-57150"/>
              <a:ext cx="10241280" cy="1081278"/>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Si ingresa 7: la condición 7 &lt;= 0 es Falsa, sale del ciclo.</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124411"/>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Ciclo Repetir … Hasta Que</a:t>
              </a:r>
            </a:p>
          </p:txBody>
        </p:sp>
      </p:grpSp>
      <p:sp>
        <p:nvSpPr>
          <p:cNvPr name="TextBox 5" id="5"/>
          <p:cNvSpPr txBox="true"/>
          <p:nvPr/>
        </p:nvSpPr>
        <p:spPr>
          <a:xfrm rot="0">
            <a:off x="1028700" y="2558876"/>
            <a:ext cx="16276320" cy="1400175"/>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El ciclo Repetir ejecuta su cuerpo primero y evalúa la condición después. Esto garantiza que el bloque se ejecuta al menos una vez. Sale del ciclo cuando la condición es verdadera (a diferencia del Mientras, que sale cuando es falsa).</a:t>
            </a:r>
          </a:p>
        </p:txBody>
      </p:sp>
      <p:sp>
        <p:nvSpPr>
          <p:cNvPr name="TextBox 6" id="6"/>
          <p:cNvSpPr txBox="true"/>
          <p:nvPr/>
        </p:nvSpPr>
        <p:spPr>
          <a:xfrm rot="0">
            <a:off x="1028700" y="4678272"/>
            <a:ext cx="16276320" cy="561975"/>
          </a:xfrm>
          <a:prstGeom prst="rect">
            <a:avLst/>
          </a:prstGeom>
        </p:spPr>
        <p:txBody>
          <a:bodyPr anchor="t" rtlCol="false" tIns="0" lIns="0" bIns="0" rIns="0">
            <a:spAutoFit/>
          </a:bodyPr>
          <a:lstStyle/>
          <a:p>
            <a:pPr algn="l">
              <a:lnSpc>
                <a:spcPts val="3839"/>
              </a:lnSpc>
            </a:pPr>
            <a:r>
              <a:rPr lang="en-US" sz="3199" b="true">
                <a:solidFill>
                  <a:srgbClr val="1A1A1A"/>
                </a:solidFill>
                <a:latin typeface="Calibri (MS) Bold"/>
                <a:ea typeface="Calibri (MS) Bold"/>
                <a:cs typeface="Calibri (MS) Bold"/>
                <a:sym typeface="Calibri (MS) Bold"/>
              </a:rPr>
              <a:t>Estructura general:</a:t>
            </a:r>
          </a:p>
        </p:txBody>
      </p:sp>
      <p:grpSp>
        <p:nvGrpSpPr>
          <p:cNvPr name="Group 7" id="7"/>
          <p:cNvGrpSpPr/>
          <p:nvPr/>
        </p:nvGrpSpPr>
        <p:grpSpPr>
          <a:xfrm rot="0">
            <a:off x="1028700" y="5724898"/>
            <a:ext cx="16122424" cy="2494708"/>
            <a:chOff x="0" y="0"/>
            <a:chExt cx="21496565" cy="3326277"/>
          </a:xfrm>
        </p:grpSpPr>
        <p:sp>
          <p:nvSpPr>
            <p:cNvPr name="Freeform 8" id="8"/>
            <p:cNvSpPr/>
            <p:nvPr/>
          </p:nvSpPr>
          <p:spPr>
            <a:xfrm flipH="false" flipV="false" rot="0">
              <a:off x="16520" y="31396"/>
              <a:ext cx="21463437" cy="3263320"/>
            </a:xfrm>
            <a:custGeom>
              <a:avLst/>
              <a:gdLst/>
              <a:ahLst/>
              <a:cxnLst/>
              <a:rect r="r" b="b" t="t" l="l"/>
              <a:pathLst>
                <a:path h="3263320" w="21463437">
                  <a:moveTo>
                    <a:pt x="0" y="0"/>
                  </a:moveTo>
                  <a:lnTo>
                    <a:pt x="21463437" y="0"/>
                  </a:lnTo>
                  <a:lnTo>
                    <a:pt x="21463437" y="3263320"/>
                  </a:lnTo>
                  <a:lnTo>
                    <a:pt x="0" y="3263320"/>
                  </a:lnTo>
                  <a:close/>
                </a:path>
              </a:pathLst>
            </a:custGeom>
            <a:solidFill>
              <a:srgbClr val="F5F5F5"/>
            </a:solidFill>
          </p:spPr>
        </p:sp>
        <p:sp>
          <p:nvSpPr>
            <p:cNvPr name="Freeform 9" id="9"/>
            <p:cNvSpPr/>
            <p:nvPr/>
          </p:nvSpPr>
          <p:spPr>
            <a:xfrm flipH="false" flipV="false" rot="0">
              <a:off x="0" y="0"/>
              <a:ext cx="21496479" cy="3326112"/>
            </a:xfrm>
            <a:custGeom>
              <a:avLst/>
              <a:gdLst/>
              <a:ahLst/>
              <a:cxnLst/>
              <a:rect r="r" b="b" t="t" l="l"/>
              <a:pathLst>
                <a:path h="3326112" w="21496479">
                  <a:moveTo>
                    <a:pt x="16520" y="0"/>
                  </a:moveTo>
                  <a:lnTo>
                    <a:pt x="21479957" y="0"/>
                  </a:lnTo>
                  <a:cubicBezTo>
                    <a:pt x="21489150" y="0"/>
                    <a:pt x="21496479" y="14164"/>
                    <a:pt x="21496479" y="31396"/>
                  </a:cubicBezTo>
                  <a:lnTo>
                    <a:pt x="21496479" y="3294716"/>
                  </a:lnTo>
                  <a:cubicBezTo>
                    <a:pt x="21496479" y="3312185"/>
                    <a:pt x="21489026" y="3326112"/>
                    <a:pt x="21479957" y="3326112"/>
                  </a:cubicBezTo>
                  <a:lnTo>
                    <a:pt x="16520" y="3326112"/>
                  </a:lnTo>
                  <a:cubicBezTo>
                    <a:pt x="7328" y="3326112"/>
                    <a:pt x="0" y="3311949"/>
                    <a:pt x="0" y="3294716"/>
                  </a:cubicBezTo>
                  <a:lnTo>
                    <a:pt x="0" y="31396"/>
                  </a:lnTo>
                  <a:cubicBezTo>
                    <a:pt x="0" y="14164"/>
                    <a:pt x="7453" y="0"/>
                    <a:pt x="16520" y="0"/>
                  </a:cubicBezTo>
                  <a:moveTo>
                    <a:pt x="16520" y="63029"/>
                  </a:moveTo>
                  <a:lnTo>
                    <a:pt x="16520" y="31396"/>
                  </a:lnTo>
                  <a:lnTo>
                    <a:pt x="33164" y="31396"/>
                  </a:lnTo>
                  <a:lnTo>
                    <a:pt x="33164" y="3294716"/>
                  </a:lnTo>
                  <a:lnTo>
                    <a:pt x="16520" y="3294716"/>
                  </a:lnTo>
                  <a:lnTo>
                    <a:pt x="16520" y="3263320"/>
                  </a:lnTo>
                  <a:lnTo>
                    <a:pt x="21479957" y="3263320"/>
                  </a:lnTo>
                  <a:lnTo>
                    <a:pt x="21479957" y="3294716"/>
                  </a:lnTo>
                  <a:lnTo>
                    <a:pt x="21463439" y="3294716"/>
                  </a:lnTo>
                  <a:lnTo>
                    <a:pt x="21463439" y="31396"/>
                  </a:lnTo>
                  <a:lnTo>
                    <a:pt x="21479957" y="31396"/>
                  </a:lnTo>
                  <a:lnTo>
                    <a:pt x="21479957" y="63029"/>
                  </a:lnTo>
                  <a:lnTo>
                    <a:pt x="16520" y="63029"/>
                  </a:lnTo>
                  <a:close/>
                </a:path>
              </a:pathLst>
            </a:custGeom>
            <a:solidFill>
              <a:srgbClr val="DDDDDD"/>
            </a:solidFill>
          </p:spPr>
        </p:sp>
      </p:grpSp>
      <p:sp>
        <p:nvSpPr>
          <p:cNvPr name="TextBox 10" id="10"/>
          <p:cNvSpPr txBox="true"/>
          <p:nvPr/>
        </p:nvSpPr>
        <p:spPr>
          <a:xfrm rot="0">
            <a:off x="1394460" y="6057852"/>
            <a:ext cx="15727680" cy="1628775"/>
          </a:xfrm>
          <a:prstGeom prst="rect">
            <a:avLst/>
          </a:prstGeom>
        </p:spPr>
        <p:txBody>
          <a:bodyPr anchor="t" rtlCol="false" tIns="0" lIns="0" bIns="0" rIns="0">
            <a:spAutoFit/>
          </a:bodyPr>
          <a:lstStyle/>
          <a:p>
            <a:pPr algn="l">
              <a:lnSpc>
                <a:spcPts val="4199"/>
              </a:lnSpc>
            </a:pPr>
            <a:r>
              <a:rPr lang="en-US" sz="3499">
                <a:solidFill>
                  <a:srgbClr val="1A1A1A"/>
                </a:solidFill>
                <a:latin typeface="Consolas"/>
                <a:ea typeface="Consolas"/>
                <a:cs typeface="Consolas"/>
                <a:sym typeface="Consolas"/>
              </a:rPr>
              <a:t>Repetir</a:t>
            </a:r>
          </a:p>
          <a:p>
            <a:pPr algn="l">
              <a:lnSpc>
                <a:spcPts val="4199"/>
              </a:lnSpc>
            </a:pPr>
            <a:r>
              <a:rPr lang="en-US" sz="3499">
                <a:solidFill>
                  <a:srgbClr val="1A1A1A"/>
                </a:solidFill>
                <a:latin typeface="Consolas"/>
                <a:ea typeface="Consolas"/>
                <a:cs typeface="Consolas"/>
                <a:sym typeface="Consolas"/>
              </a:rPr>
              <a:t>   // instrucciones (se ejecutan al menos una vez)</a:t>
            </a:r>
          </a:p>
          <a:p>
            <a:pPr algn="l">
              <a:lnSpc>
                <a:spcPts val="4199"/>
              </a:lnSpc>
            </a:pPr>
            <a:r>
              <a:rPr lang="en-US" sz="3499">
                <a:solidFill>
                  <a:srgbClr val="1A1A1A"/>
                </a:solidFill>
                <a:latin typeface="Consolas"/>
                <a:ea typeface="Consolas"/>
                <a:cs typeface="Consolas"/>
                <a:sym typeface="Consolas"/>
              </a:rPr>
              <a:t>Hasta Que &lt;condición de salida&gt;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3132" y="1848073"/>
            <a:ext cx="8265166"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Ejemplo — validar que una nota esté entre 0 y 100:</a:t>
            </a:r>
          </a:p>
        </p:txBody>
      </p:sp>
      <p:grpSp>
        <p:nvGrpSpPr>
          <p:cNvPr name="Group 3" id="3"/>
          <p:cNvGrpSpPr/>
          <p:nvPr/>
        </p:nvGrpSpPr>
        <p:grpSpPr>
          <a:xfrm rot="0">
            <a:off x="913132" y="2800573"/>
            <a:ext cx="8581308" cy="4288779"/>
            <a:chOff x="0" y="0"/>
            <a:chExt cx="11377213" cy="5686120"/>
          </a:xfrm>
        </p:grpSpPr>
        <p:sp>
          <p:nvSpPr>
            <p:cNvPr name="Freeform 4" id="4"/>
            <p:cNvSpPr/>
            <p:nvPr/>
          </p:nvSpPr>
          <p:spPr>
            <a:xfrm flipH="false" flipV="false" rot="0">
              <a:off x="15719" y="19558"/>
              <a:ext cx="11345693" cy="5646901"/>
            </a:xfrm>
            <a:custGeom>
              <a:avLst/>
              <a:gdLst/>
              <a:ahLst/>
              <a:cxnLst/>
              <a:rect r="r" b="b" t="t" l="l"/>
              <a:pathLst>
                <a:path h="5646901" w="11345693">
                  <a:moveTo>
                    <a:pt x="0" y="0"/>
                  </a:moveTo>
                  <a:lnTo>
                    <a:pt x="11345693" y="0"/>
                  </a:lnTo>
                  <a:lnTo>
                    <a:pt x="11345693" y="5646901"/>
                  </a:lnTo>
                  <a:lnTo>
                    <a:pt x="0" y="5646901"/>
                  </a:lnTo>
                  <a:close/>
                </a:path>
              </a:pathLst>
            </a:custGeom>
            <a:solidFill>
              <a:srgbClr val="F5F5F5"/>
            </a:solidFill>
          </p:spPr>
        </p:sp>
        <p:sp>
          <p:nvSpPr>
            <p:cNvPr name="Freeform 5" id="5"/>
            <p:cNvSpPr/>
            <p:nvPr/>
          </p:nvSpPr>
          <p:spPr>
            <a:xfrm flipH="false" flipV="false" rot="0">
              <a:off x="0" y="0"/>
              <a:ext cx="11377130" cy="5686017"/>
            </a:xfrm>
            <a:custGeom>
              <a:avLst/>
              <a:gdLst/>
              <a:ahLst/>
              <a:cxnLst/>
              <a:rect r="r" b="b" t="t" l="l"/>
              <a:pathLst>
                <a:path h="5686017" w="11377130">
                  <a:moveTo>
                    <a:pt x="15719" y="0"/>
                  </a:moveTo>
                  <a:lnTo>
                    <a:pt x="11361412" y="0"/>
                  </a:lnTo>
                  <a:cubicBezTo>
                    <a:pt x="11370158" y="0"/>
                    <a:pt x="11377130" y="8823"/>
                    <a:pt x="11377130" y="19558"/>
                  </a:cubicBezTo>
                  <a:lnTo>
                    <a:pt x="11377130" y="5666459"/>
                  </a:lnTo>
                  <a:cubicBezTo>
                    <a:pt x="11377130" y="5677341"/>
                    <a:pt x="11370039" y="5686017"/>
                    <a:pt x="11361412" y="5686017"/>
                  </a:cubicBezTo>
                  <a:lnTo>
                    <a:pt x="15719" y="5686017"/>
                  </a:lnTo>
                  <a:cubicBezTo>
                    <a:pt x="6973" y="5686017"/>
                    <a:pt x="0" y="5677194"/>
                    <a:pt x="0" y="5666459"/>
                  </a:cubicBezTo>
                  <a:lnTo>
                    <a:pt x="0" y="19558"/>
                  </a:lnTo>
                  <a:cubicBezTo>
                    <a:pt x="0" y="8823"/>
                    <a:pt x="7091" y="0"/>
                    <a:pt x="15719" y="0"/>
                  </a:cubicBezTo>
                  <a:moveTo>
                    <a:pt x="15719" y="39264"/>
                  </a:moveTo>
                  <a:lnTo>
                    <a:pt x="15719" y="19558"/>
                  </a:lnTo>
                  <a:lnTo>
                    <a:pt x="31555" y="19558"/>
                  </a:lnTo>
                  <a:lnTo>
                    <a:pt x="31555" y="5666459"/>
                  </a:lnTo>
                  <a:lnTo>
                    <a:pt x="15719" y="5666459"/>
                  </a:lnTo>
                  <a:lnTo>
                    <a:pt x="15719" y="5646901"/>
                  </a:lnTo>
                  <a:lnTo>
                    <a:pt x="11361412" y="5646901"/>
                  </a:lnTo>
                  <a:lnTo>
                    <a:pt x="11361412" y="5666459"/>
                  </a:lnTo>
                  <a:lnTo>
                    <a:pt x="11345694" y="5666459"/>
                  </a:lnTo>
                  <a:lnTo>
                    <a:pt x="11345694" y="19558"/>
                  </a:lnTo>
                  <a:lnTo>
                    <a:pt x="11361412" y="19558"/>
                  </a:lnTo>
                  <a:lnTo>
                    <a:pt x="11361412" y="39264"/>
                  </a:lnTo>
                  <a:lnTo>
                    <a:pt x="15719" y="39264"/>
                  </a:lnTo>
                  <a:close/>
                </a:path>
              </a:pathLst>
            </a:custGeom>
            <a:solidFill>
              <a:srgbClr val="DDDDDD"/>
            </a:solidFill>
          </p:spPr>
        </p:sp>
      </p:grpSp>
      <p:sp>
        <p:nvSpPr>
          <p:cNvPr name="TextBox 6" id="6"/>
          <p:cNvSpPr txBox="true"/>
          <p:nvPr/>
        </p:nvSpPr>
        <p:spPr>
          <a:xfrm rot="0">
            <a:off x="1291588" y="2994245"/>
            <a:ext cx="7990846" cy="3819525"/>
          </a:xfrm>
          <a:prstGeom prst="rect">
            <a:avLst/>
          </a:prstGeom>
        </p:spPr>
        <p:txBody>
          <a:bodyPr anchor="t" rtlCol="false" tIns="0" lIns="0" bIns="0" rIns="0">
            <a:spAutoFit/>
          </a:bodyPr>
          <a:lstStyle/>
          <a:p>
            <a:pPr algn="l">
              <a:lnSpc>
                <a:spcPts val="2520"/>
              </a:lnSpc>
            </a:pPr>
            <a:r>
              <a:rPr lang="en-US" sz="2100">
                <a:solidFill>
                  <a:srgbClr val="1A1A1A"/>
                </a:solidFill>
                <a:latin typeface="Consolas"/>
                <a:ea typeface="Consolas"/>
                <a:cs typeface="Consolas"/>
                <a:sym typeface="Consolas"/>
              </a:rPr>
              <a:t>Definir nota Como Real</a:t>
            </a:r>
          </a:p>
          <a:p>
            <a:pPr algn="l">
              <a:lnSpc>
                <a:spcPts val="2520"/>
              </a:lnSpc>
            </a:pPr>
          </a:p>
          <a:p>
            <a:pPr algn="l">
              <a:lnSpc>
                <a:spcPts val="2520"/>
              </a:lnSpc>
            </a:pPr>
            <a:r>
              <a:rPr lang="en-US" sz="2100">
                <a:solidFill>
                  <a:srgbClr val="1A1A1A"/>
                </a:solidFill>
                <a:latin typeface="Consolas"/>
                <a:ea typeface="Consolas"/>
                <a:cs typeface="Consolas"/>
                <a:sym typeface="Consolas"/>
              </a:rPr>
              <a:t>Repetir</a:t>
            </a:r>
          </a:p>
          <a:p>
            <a:pPr algn="l">
              <a:lnSpc>
                <a:spcPts val="2520"/>
              </a:lnSpc>
            </a:pPr>
            <a:r>
              <a:rPr lang="en-US" sz="2100">
                <a:solidFill>
                  <a:srgbClr val="1A1A1A"/>
                </a:solidFill>
                <a:latin typeface="Consolas"/>
                <a:ea typeface="Consolas"/>
                <a:cs typeface="Consolas"/>
                <a:sym typeface="Consolas"/>
              </a:rPr>
              <a:t>   Escribir "Ingrese una nota (0 a 100):"</a:t>
            </a:r>
          </a:p>
          <a:p>
            <a:pPr algn="l">
              <a:lnSpc>
                <a:spcPts val="2520"/>
              </a:lnSpc>
            </a:pPr>
            <a:r>
              <a:rPr lang="en-US" sz="2100">
                <a:solidFill>
                  <a:srgbClr val="1A1A1A"/>
                </a:solidFill>
                <a:latin typeface="Consolas"/>
                <a:ea typeface="Consolas"/>
                <a:cs typeface="Consolas"/>
                <a:sym typeface="Consolas"/>
              </a:rPr>
              <a:t>   Leer nota</a:t>
            </a:r>
          </a:p>
          <a:p>
            <a:pPr algn="l">
              <a:lnSpc>
                <a:spcPts val="2520"/>
              </a:lnSpc>
            </a:pPr>
            <a:r>
              <a:rPr lang="en-US" sz="2100">
                <a:solidFill>
                  <a:srgbClr val="1A1A1A"/>
                </a:solidFill>
                <a:latin typeface="Consolas"/>
                <a:ea typeface="Consolas"/>
                <a:cs typeface="Consolas"/>
                <a:sym typeface="Consolas"/>
              </a:rPr>
              <a:t>   Si nota &lt; 0 O nota &gt; 100 Entonces</a:t>
            </a:r>
          </a:p>
          <a:p>
            <a:pPr algn="l">
              <a:lnSpc>
                <a:spcPts val="2520"/>
              </a:lnSpc>
            </a:pPr>
            <a:r>
              <a:rPr lang="en-US" sz="2100">
                <a:solidFill>
                  <a:srgbClr val="1A1A1A"/>
                </a:solidFill>
                <a:latin typeface="Consolas"/>
                <a:ea typeface="Consolas"/>
                <a:cs typeface="Consolas"/>
                <a:sym typeface="Consolas"/>
              </a:rPr>
              <a:t>      Escribir "Valor inválido. Debe estar entre 0 y 100."</a:t>
            </a:r>
          </a:p>
          <a:p>
            <a:pPr algn="l">
              <a:lnSpc>
                <a:spcPts val="2520"/>
              </a:lnSpc>
            </a:pPr>
            <a:r>
              <a:rPr lang="en-US" sz="2100">
                <a:solidFill>
                  <a:srgbClr val="1A1A1A"/>
                </a:solidFill>
                <a:latin typeface="Consolas"/>
                <a:ea typeface="Consolas"/>
                <a:cs typeface="Consolas"/>
                <a:sym typeface="Consolas"/>
              </a:rPr>
              <a:t>   FinSi</a:t>
            </a:r>
          </a:p>
          <a:p>
            <a:pPr algn="l">
              <a:lnSpc>
                <a:spcPts val="2520"/>
              </a:lnSpc>
            </a:pPr>
            <a:r>
              <a:rPr lang="en-US" sz="2100">
                <a:solidFill>
                  <a:srgbClr val="1A1A1A"/>
                </a:solidFill>
                <a:latin typeface="Consolas"/>
                <a:ea typeface="Consolas"/>
                <a:cs typeface="Consolas"/>
                <a:sym typeface="Consolas"/>
              </a:rPr>
              <a:t>Hasta Que nota &gt;= 0 Y nota &lt;= 100</a:t>
            </a:r>
          </a:p>
          <a:p>
            <a:pPr algn="l">
              <a:lnSpc>
                <a:spcPts val="2520"/>
              </a:lnSpc>
            </a:pPr>
          </a:p>
          <a:p>
            <a:pPr algn="l">
              <a:lnSpc>
                <a:spcPts val="2520"/>
              </a:lnSpc>
            </a:pPr>
            <a:r>
              <a:rPr lang="en-US" sz="2100">
                <a:solidFill>
                  <a:srgbClr val="1A1A1A"/>
                </a:solidFill>
                <a:latin typeface="Consolas"/>
                <a:ea typeface="Consolas"/>
                <a:cs typeface="Consolas"/>
                <a:sym typeface="Consolas"/>
              </a:rPr>
              <a:t>Escribir "Nota registrada: ", nota</a:t>
            </a:r>
          </a:p>
        </p:txBody>
      </p:sp>
      <p:sp>
        <p:nvSpPr>
          <p:cNvPr name="TextBox 7" id="7"/>
          <p:cNvSpPr txBox="true"/>
          <p:nvPr/>
        </p:nvSpPr>
        <p:spPr>
          <a:xfrm rot="0">
            <a:off x="9704068" y="1848073"/>
            <a:ext cx="7498080"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Comparación con el ciclo Mientras:</a:t>
            </a:r>
          </a:p>
        </p:txBody>
      </p:sp>
      <p:graphicFrame>
        <p:nvGraphicFramePr>
          <p:cNvPr name="Table 8" id="8"/>
          <p:cNvGraphicFramePr>
            <a:graphicFrameLocks noGrp="true"/>
          </p:cNvGraphicFramePr>
          <p:nvPr/>
        </p:nvGraphicFramePr>
        <p:xfrm>
          <a:off x="9704068" y="2813270"/>
          <a:ext cx="7670800" cy="3810000"/>
        </p:xfrm>
        <a:graphic>
          <a:graphicData uri="http://schemas.openxmlformats.org/drawingml/2006/table">
            <a:tbl>
              <a:tblPr/>
              <a:tblGrid>
                <a:gridCol w="3810527"/>
                <a:gridCol w="1840594"/>
                <a:gridCol w="2019679"/>
              </a:tblGrid>
              <a:tr h="762000">
                <a:tc>
                  <a:txBody>
                    <a:bodyPr anchor="t" rtlCol="false"/>
                    <a:lstStyle/>
                    <a:p>
                      <a:pPr algn="ctr">
                        <a:lnSpc>
                          <a:spcPts val="2520"/>
                        </a:lnSpc>
                        <a:defRPr/>
                      </a:pPr>
                      <a:r>
                        <a:rPr lang="en-US" sz="2100" b="true">
                          <a:solidFill>
                            <a:srgbClr val="FFFFFF"/>
                          </a:solidFill>
                          <a:latin typeface="Calibri (MS) Bold"/>
                          <a:ea typeface="Calibri (MS) Bold"/>
                          <a:cs typeface="Calibri (MS) Bold"/>
                          <a:sym typeface="Calibri (MS) Bold"/>
                        </a:rPr>
                        <a:t>Característica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520"/>
                        </a:lnSpc>
                        <a:defRPr/>
                      </a:pPr>
                      <a:r>
                        <a:rPr lang="en-US" sz="2100" b="true">
                          <a:solidFill>
                            <a:srgbClr val="FFFFFF"/>
                          </a:solidFill>
                          <a:latin typeface="Calibri (MS) Bold"/>
                          <a:ea typeface="Calibri (MS) Bold"/>
                          <a:cs typeface="Calibri (MS) Bold"/>
                          <a:sym typeface="Calibri (MS) Bold"/>
                        </a:rPr>
                        <a:t>Mientras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520"/>
                        </a:lnSpc>
                        <a:defRPr/>
                      </a:pPr>
                      <a:r>
                        <a:rPr lang="en-US" sz="2100" b="true">
                          <a:solidFill>
                            <a:srgbClr val="FFFFFF"/>
                          </a:solidFill>
                          <a:latin typeface="Calibri (MS) Bold"/>
                          <a:ea typeface="Calibri (MS) Bold"/>
                          <a:cs typeface="Calibri (MS) Bold"/>
                          <a:sym typeface="Calibri (MS) Bold"/>
                        </a:rPr>
                        <a:t>Repetir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762000">
                <a:tc>
                  <a:txBody>
                    <a:bodyPr anchor="t" rtlCol="false"/>
                    <a:lstStyle/>
                    <a:p>
                      <a:pPr algn="l">
                        <a:lnSpc>
                          <a:spcPts val="2520"/>
                        </a:lnSpc>
                        <a:defRPr/>
                      </a:pPr>
                      <a:r>
                        <a:rPr lang="en-US" sz="2100">
                          <a:solidFill>
                            <a:srgbClr val="000000"/>
                          </a:solidFill>
                          <a:latin typeface="Calibri (MS)"/>
                          <a:ea typeface="Calibri (MS)"/>
                          <a:cs typeface="Calibri (MS)"/>
                          <a:sym typeface="Calibri (MS)"/>
                        </a:rPr>
                        <a:t>Evaluación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Antes del cuerpo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Después del cuerpo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762000">
                <a:tc>
                  <a:txBody>
                    <a:bodyPr anchor="t" rtlCol="false"/>
                    <a:lstStyle/>
                    <a:p>
                      <a:pPr algn="l">
                        <a:lnSpc>
                          <a:spcPts val="2520"/>
                        </a:lnSpc>
                        <a:defRPr/>
                      </a:pPr>
                      <a:r>
                        <a:rPr lang="en-US" sz="2100">
                          <a:solidFill>
                            <a:srgbClr val="000000"/>
                          </a:solidFill>
                          <a:latin typeface="Calibri (MS)"/>
                          <a:ea typeface="Calibri (MS)"/>
                          <a:cs typeface="Calibri (MS)"/>
                          <a:sym typeface="Calibri (MS)"/>
                        </a:rPr>
                        <a:t>¿Mínimo de ejecuciones?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762000">
                <a:tc>
                  <a:txBody>
                    <a:bodyPr anchor="t" rtlCol="false"/>
                    <a:lstStyle/>
                    <a:p>
                      <a:pPr algn="l">
                        <a:lnSpc>
                          <a:spcPts val="2520"/>
                        </a:lnSpc>
                        <a:defRPr/>
                      </a:pPr>
                      <a:r>
                        <a:rPr lang="en-US" sz="2100">
                          <a:solidFill>
                            <a:srgbClr val="000000"/>
                          </a:solidFill>
                          <a:latin typeface="Calibri (MS)"/>
                          <a:ea typeface="Calibri (MS)"/>
                          <a:cs typeface="Calibri (MS)"/>
                          <a:sym typeface="Calibri (MS)"/>
                        </a:rPr>
                        <a:t>Condición de continuación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Verdadera = sigue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Verdadera = sale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762000">
                <a:tc>
                  <a:txBody>
                    <a:bodyPr anchor="t" rtlCol="false"/>
                    <a:lstStyle/>
                    <a:p>
                      <a:pPr algn="l">
                        <a:lnSpc>
                          <a:spcPts val="2520"/>
                        </a:lnSpc>
                        <a:defRPr/>
                      </a:pPr>
                      <a:r>
                        <a:rPr lang="en-US" sz="2100">
                          <a:solidFill>
                            <a:srgbClr val="000000"/>
                          </a:solidFill>
                          <a:latin typeface="Calibri (MS)"/>
                          <a:ea typeface="Calibri (MS)"/>
                          <a:cs typeface="Calibri (MS)"/>
                          <a:sym typeface="Calibri (MS)"/>
                        </a:rPr>
                        <a:t>Uso típico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Número de repeticiones desconocido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alibri (MS)"/>
                          <a:ea typeface="Calibri (MS)"/>
                          <a:cs typeface="Calibri (MS)"/>
                          <a:sym typeface="Calibri (MS)"/>
                        </a:rPr>
                        <a:t>Validar entrada del usuario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grpSp>
        <p:nvGrpSpPr>
          <p:cNvPr name="Group 9" id="9"/>
          <p:cNvGrpSpPr/>
          <p:nvPr/>
        </p:nvGrpSpPr>
        <p:grpSpPr>
          <a:xfrm rot="0">
            <a:off x="1017268" y="7533413"/>
            <a:ext cx="16271240" cy="848363"/>
            <a:chOff x="0" y="0"/>
            <a:chExt cx="21694987" cy="1131151"/>
          </a:xfrm>
        </p:grpSpPr>
        <p:sp>
          <p:nvSpPr>
            <p:cNvPr name="Freeform 10" id="10"/>
            <p:cNvSpPr/>
            <p:nvPr/>
          </p:nvSpPr>
          <p:spPr>
            <a:xfrm flipH="false" flipV="false" rot="0">
              <a:off x="16672" y="16891"/>
              <a:ext cx="21661553" cy="1097280"/>
            </a:xfrm>
            <a:custGeom>
              <a:avLst/>
              <a:gdLst/>
              <a:ahLst/>
              <a:cxnLst/>
              <a:rect r="r" b="b" t="t" l="l"/>
              <a:pathLst>
                <a:path h="1097280" w="21661553">
                  <a:moveTo>
                    <a:pt x="0" y="0"/>
                  </a:moveTo>
                  <a:lnTo>
                    <a:pt x="21661554" y="0"/>
                  </a:lnTo>
                  <a:lnTo>
                    <a:pt x="21661554" y="1097280"/>
                  </a:lnTo>
                  <a:lnTo>
                    <a:pt x="0" y="1097280"/>
                  </a:lnTo>
                  <a:close/>
                </a:path>
              </a:pathLst>
            </a:custGeom>
            <a:solidFill>
              <a:srgbClr val="F5F5F5"/>
            </a:solidFill>
          </p:spPr>
        </p:sp>
        <p:sp>
          <p:nvSpPr>
            <p:cNvPr name="Freeform 11" id="11"/>
            <p:cNvSpPr/>
            <p:nvPr/>
          </p:nvSpPr>
          <p:spPr>
            <a:xfrm flipH="false" flipV="false" rot="0">
              <a:off x="0" y="0"/>
              <a:ext cx="21694899" cy="1131064"/>
            </a:xfrm>
            <a:custGeom>
              <a:avLst/>
              <a:gdLst/>
              <a:ahLst/>
              <a:cxnLst/>
              <a:rect r="r" b="b" t="t" l="l"/>
              <a:pathLst>
                <a:path h="1131064" w="21694899">
                  <a:moveTo>
                    <a:pt x="16672" y="0"/>
                  </a:moveTo>
                  <a:lnTo>
                    <a:pt x="21678226" y="0"/>
                  </a:lnTo>
                  <a:cubicBezTo>
                    <a:pt x="21687504" y="0"/>
                    <a:pt x="21694899" y="7620"/>
                    <a:pt x="21694899" y="16891"/>
                  </a:cubicBezTo>
                  <a:lnTo>
                    <a:pt x="21694899" y="1114171"/>
                  </a:lnTo>
                  <a:cubicBezTo>
                    <a:pt x="21694899" y="1123569"/>
                    <a:pt x="21687379" y="1131062"/>
                    <a:pt x="21678226" y="1131062"/>
                  </a:cubicBezTo>
                  <a:lnTo>
                    <a:pt x="16672" y="1131062"/>
                  </a:lnTo>
                  <a:cubicBezTo>
                    <a:pt x="7521" y="1131189"/>
                    <a:pt x="0" y="1123569"/>
                    <a:pt x="0" y="1114171"/>
                  </a:cubicBezTo>
                  <a:lnTo>
                    <a:pt x="0" y="16891"/>
                  </a:lnTo>
                  <a:cubicBezTo>
                    <a:pt x="0" y="7620"/>
                    <a:pt x="7521" y="0"/>
                    <a:pt x="16672" y="0"/>
                  </a:cubicBezTo>
                  <a:moveTo>
                    <a:pt x="16672" y="33909"/>
                  </a:moveTo>
                  <a:lnTo>
                    <a:pt x="16672" y="16891"/>
                  </a:lnTo>
                  <a:lnTo>
                    <a:pt x="33470" y="16891"/>
                  </a:lnTo>
                  <a:lnTo>
                    <a:pt x="33470" y="1114171"/>
                  </a:lnTo>
                  <a:lnTo>
                    <a:pt x="16672" y="1114171"/>
                  </a:lnTo>
                  <a:lnTo>
                    <a:pt x="16672" y="1097280"/>
                  </a:lnTo>
                  <a:lnTo>
                    <a:pt x="21678226" y="1097280"/>
                  </a:lnTo>
                  <a:lnTo>
                    <a:pt x="21678226" y="1114171"/>
                  </a:lnTo>
                  <a:lnTo>
                    <a:pt x="21661554" y="1114171"/>
                  </a:lnTo>
                  <a:lnTo>
                    <a:pt x="21661554" y="16891"/>
                  </a:lnTo>
                  <a:lnTo>
                    <a:pt x="21678226" y="16891"/>
                  </a:lnTo>
                  <a:lnTo>
                    <a:pt x="21678226" y="33909"/>
                  </a:lnTo>
                  <a:lnTo>
                    <a:pt x="16672" y="33909"/>
                  </a:lnTo>
                  <a:close/>
                </a:path>
              </a:pathLst>
            </a:custGeom>
            <a:solidFill>
              <a:srgbClr val="DDDDDD"/>
            </a:solidFill>
          </p:spPr>
        </p:sp>
      </p:grpSp>
      <p:grpSp>
        <p:nvGrpSpPr>
          <p:cNvPr name="Group 12" id="12"/>
          <p:cNvGrpSpPr/>
          <p:nvPr/>
        </p:nvGrpSpPr>
        <p:grpSpPr>
          <a:xfrm rot="0">
            <a:off x="1390827" y="7637550"/>
            <a:ext cx="15524114" cy="640080"/>
            <a:chOff x="0" y="0"/>
            <a:chExt cx="20698818" cy="853440"/>
          </a:xfrm>
        </p:grpSpPr>
        <p:sp>
          <p:nvSpPr>
            <p:cNvPr name="Freeform 13" id="13"/>
            <p:cNvSpPr/>
            <p:nvPr/>
          </p:nvSpPr>
          <p:spPr>
            <a:xfrm flipH="false" flipV="false" rot="0">
              <a:off x="0" y="0"/>
              <a:ext cx="20698817" cy="853440"/>
            </a:xfrm>
            <a:custGeom>
              <a:avLst/>
              <a:gdLst/>
              <a:ahLst/>
              <a:cxnLst/>
              <a:rect r="r" b="b" t="t" l="l"/>
              <a:pathLst>
                <a:path h="853440" w="20698817">
                  <a:moveTo>
                    <a:pt x="0" y="0"/>
                  </a:moveTo>
                  <a:lnTo>
                    <a:pt x="20698817" y="0"/>
                  </a:lnTo>
                  <a:lnTo>
                    <a:pt x="20698817" y="853440"/>
                  </a:lnTo>
                  <a:lnTo>
                    <a:pt x="0" y="853440"/>
                  </a:lnTo>
                  <a:close/>
                </a:path>
              </a:pathLst>
            </a:custGeom>
            <a:blipFill>
              <a:blip r:embed="rId2">
                <a:alphaModFix amt="0"/>
              </a:blip>
              <a:stretch>
                <a:fillRect l="0" t="-428775" r="-1311" b="-428775"/>
              </a:stretch>
            </a:blipFill>
          </p:spPr>
        </p:sp>
        <p:sp>
          <p:nvSpPr>
            <p:cNvPr name="TextBox 14" id="14"/>
            <p:cNvSpPr txBox="true"/>
            <p:nvPr/>
          </p:nvSpPr>
          <p:spPr>
            <a:xfrm>
              <a:off x="0" y="-47625"/>
              <a:ext cx="20698818" cy="901065"/>
            </a:xfrm>
            <a:prstGeom prst="rect">
              <a:avLst/>
            </a:prstGeom>
          </p:spPr>
          <p:txBody>
            <a:bodyPr anchor="ctr" rtlCol="false" tIns="0" lIns="0" bIns="0" rIns="0"/>
            <a:lstStyle/>
            <a:p>
              <a:pPr algn="l">
                <a:lnSpc>
                  <a:spcPts val="2640"/>
                </a:lnSpc>
              </a:pPr>
              <a:r>
                <a:rPr lang="en-US" sz="2200" i="true">
                  <a:solidFill>
                    <a:srgbClr val="444444"/>
                  </a:solidFill>
                  <a:latin typeface="Calibri (MS) Italics"/>
                  <a:ea typeface="Calibri (MS) Italics"/>
                  <a:cs typeface="Calibri (MS) Italics"/>
                  <a:sym typeface="Calibri (MS) Italics"/>
                </a:rPr>
                <a:t>Uso recomendado con arreglos: Repetir es ideal para leer y validar cada elemento antes de guardarlo en el arreglo.</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187210"/>
            <a:ext cx="15321056" cy="1005840"/>
            <a:chOff x="0" y="0"/>
            <a:chExt cx="20428075" cy="1341120"/>
          </a:xfrm>
        </p:grpSpPr>
        <p:sp>
          <p:nvSpPr>
            <p:cNvPr name="Freeform 3" id="3"/>
            <p:cNvSpPr/>
            <p:nvPr/>
          </p:nvSpPr>
          <p:spPr>
            <a:xfrm flipH="false" flipV="false" rot="0">
              <a:off x="0" y="0"/>
              <a:ext cx="20428076" cy="1341120"/>
            </a:xfrm>
            <a:custGeom>
              <a:avLst/>
              <a:gdLst/>
              <a:ahLst/>
              <a:cxnLst/>
              <a:rect r="r" b="b" t="t" l="l"/>
              <a:pathLst>
                <a:path h="1341120" w="20428076">
                  <a:moveTo>
                    <a:pt x="0" y="0"/>
                  </a:moveTo>
                  <a:lnTo>
                    <a:pt x="20428076" y="0"/>
                  </a:lnTo>
                  <a:lnTo>
                    <a:pt x="20428076" y="1341120"/>
                  </a:lnTo>
                  <a:lnTo>
                    <a:pt x="0" y="1341120"/>
                  </a:lnTo>
                  <a:close/>
                </a:path>
              </a:pathLst>
            </a:custGeom>
            <a:blipFill>
              <a:blip r:embed="rId3">
                <a:alphaModFix amt="0"/>
              </a:blip>
              <a:stretch>
                <a:fillRect l="0" t="-268846" r="-7428" b="-268846"/>
              </a:stretch>
            </a:blipFill>
          </p:spPr>
        </p:sp>
        <p:sp>
          <p:nvSpPr>
            <p:cNvPr name="TextBox 4" id="4"/>
            <p:cNvSpPr txBox="true"/>
            <p:nvPr/>
          </p:nvSpPr>
          <p:spPr>
            <a:xfrm>
              <a:off x="0" y="-85725"/>
              <a:ext cx="20428075"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Ciclos Infinitos: Qué son y Cómo Evitarlos</a:t>
              </a:r>
            </a:p>
          </p:txBody>
        </p:sp>
      </p:grpSp>
      <p:sp>
        <p:nvSpPr>
          <p:cNvPr name="TextBox 5" id="5"/>
          <p:cNvSpPr txBox="true"/>
          <p:nvPr/>
        </p:nvSpPr>
        <p:spPr>
          <a:xfrm rot="0">
            <a:off x="1028700" y="2441914"/>
            <a:ext cx="15510262" cy="1400175"/>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Un ciclo infinito ocurre cuando la condición de salida nunca se vuelve verdadera (o la condición de continuación nunca se vuelve falsa). El programa queda atrapado ejecutando el mismo bloque indefinidamente y nunca termina.</a:t>
            </a:r>
          </a:p>
        </p:txBody>
      </p:sp>
      <p:sp>
        <p:nvSpPr>
          <p:cNvPr name="TextBox 6" id="6"/>
          <p:cNvSpPr txBox="true"/>
          <p:nvPr/>
        </p:nvSpPr>
        <p:spPr>
          <a:xfrm rot="0">
            <a:off x="1028700" y="4445565"/>
            <a:ext cx="16276320"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Ejemplo de ciclo infinito — error típico:</a:t>
            </a:r>
          </a:p>
        </p:txBody>
      </p:sp>
      <p:grpSp>
        <p:nvGrpSpPr>
          <p:cNvPr name="Group 7" id="7"/>
          <p:cNvGrpSpPr/>
          <p:nvPr/>
        </p:nvGrpSpPr>
        <p:grpSpPr>
          <a:xfrm rot="0">
            <a:off x="901698" y="5369718"/>
            <a:ext cx="8068175" cy="3672893"/>
            <a:chOff x="0" y="0"/>
            <a:chExt cx="10757567" cy="4897191"/>
          </a:xfrm>
        </p:grpSpPr>
        <p:sp>
          <p:nvSpPr>
            <p:cNvPr name="Freeform 8" id="8"/>
            <p:cNvSpPr/>
            <p:nvPr/>
          </p:nvSpPr>
          <p:spPr>
            <a:xfrm flipH="false" flipV="false" rot="0">
              <a:off x="14862" y="23658"/>
              <a:ext cx="10727764" cy="4849751"/>
            </a:xfrm>
            <a:custGeom>
              <a:avLst/>
              <a:gdLst/>
              <a:ahLst/>
              <a:cxnLst/>
              <a:rect r="r" b="b" t="t" l="l"/>
              <a:pathLst>
                <a:path h="4849751" w="10727764">
                  <a:moveTo>
                    <a:pt x="0" y="0"/>
                  </a:moveTo>
                  <a:lnTo>
                    <a:pt x="10727764" y="0"/>
                  </a:lnTo>
                  <a:lnTo>
                    <a:pt x="10727764" y="4849751"/>
                  </a:lnTo>
                  <a:lnTo>
                    <a:pt x="0" y="4849751"/>
                  </a:lnTo>
                  <a:close/>
                </a:path>
              </a:pathLst>
            </a:custGeom>
            <a:solidFill>
              <a:srgbClr val="F5F5F5"/>
            </a:solidFill>
          </p:spPr>
        </p:sp>
        <p:sp>
          <p:nvSpPr>
            <p:cNvPr name="Freeform 9" id="9"/>
            <p:cNvSpPr/>
            <p:nvPr/>
          </p:nvSpPr>
          <p:spPr>
            <a:xfrm flipH="false" flipV="false" rot="0">
              <a:off x="0" y="0"/>
              <a:ext cx="10757488" cy="4897067"/>
            </a:xfrm>
            <a:custGeom>
              <a:avLst/>
              <a:gdLst/>
              <a:ahLst/>
              <a:cxnLst/>
              <a:rect r="r" b="b" t="t" l="l"/>
              <a:pathLst>
                <a:path h="4897067" w="10757488">
                  <a:moveTo>
                    <a:pt x="14862" y="0"/>
                  </a:moveTo>
                  <a:lnTo>
                    <a:pt x="10742626" y="0"/>
                  </a:lnTo>
                  <a:cubicBezTo>
                    <a:pt x="10750896" y="0"/>
                    <a:pt x="10757488" y="10673"/>
                    <a:pt x="10757488" y="23658"/>
                  </a:cubicBezTo>
                  <a:lnTo>
                    <a:pt x="10757488" y="4873409"/>
                  </a:lnTo>
                  <a:cubicBezTo>
                    <a:pt x="10757488" y="4886571"/>
                    <a:pt x="10750784" y="4897067"/>
                    <a:pt x="10742626" y="4897067"/>
                  </a:cubicBezTo>
                  <a:lnTo>
                    <a:pt x="14862" y="4897067"/>
                  </a:lnTo>
                  <a:cubicBezTo>
                    <a:pt x="6593" y="4897067"/>
                    <a:pt x="0" y="4886394"/>
                    <a:pt x="0" y="4873409"/>
                  </a:cubicBezTo>
                  <a:lnTo>
                    <a:pt x="0" y="23658"/>
                  </a:lnTo>
                  <a:cubicBezTo>
                    <a:pt x="0" y="10673"/>
                    <a:pt x="6705" y="0"/>
                    <a:pt x="14862" y="0"/>
                  </a:cubicBezTo>
                  <a:moveTo>
                    <a:pt x="14862" y="47494"/>
                  </a:moveTo>
                  <a:lnTo>
                    <a:pt x="14862" y="23658"/>
                  </a:lnTo>
                  <a:lnTo>
                    <a:pt x="29837" y="23658"/>
                  </a:lnTo>
                  <a:lnTo>
                    <a:pt x="29837" y="4873409"/>
                  </a:lnTo>
                  <a:lnTo>
                    <a:pt x="14862" y="4873409"/>
                  </a:lnTo>
                  <a:lnTo>
                    <a:pt x="14862" y="4849750"/>
                  </a:lnTo>
                  <a:lnTo>
                    <a:pt x="10742626" y="4849750"/>
                  </a:lnTo>
                  <a:lnTo>
                    <a:pt x="10742626" y="4873409"/>
                  </a:lnTo>
                  <a:lnTo>
                    <a:pt x="10727764" y="4873409"/>
                  </a:lnTo>
                  <a:lnTo>
                    <a:pt x="10727764" y="23658"/>
                  </a:lnTo>
                  <a:lnTo>
                    <a:pt x="10742626" y="23658"/>
                  </a:lnTo>
                  <a:lnTo>
                    <a:pt x="10742626" y="47494"/>
                  </a:lnTo>
                  <a:lnTo>
                    <a:pt x="14862" y="47494"/>
                  </a:lnTo>
                  <a:close/>
                </a:path>
              </a:pathLst>
            </a:custGeom>
            <a:solidFill>
              <a:srgbClr val="DDDDDD"/>
            </a:solidFill>
          </p:spPr>
        </p:sp>
      </p:grpSp>
      <p:sp>
        <p:nvSpPr>
          <p:cNvPr name="TextBox 10" id="10"/>
          <p:cNvSpPr txBox="true"/>
          <p:nvPr/>
        </p:nvSpPr>
        <p:spPr>
          <a:xfrm rot="0">
            <a:off x="1280155" y="5553865"/>
            <a:ext cx="7503676" cy="3181350"/>
          </a:xfrm>
          <a:prstGeom prst="rect">
            <a:avLst/>
          </a:prstGeom>
        </p:spPr>
        <p:txBody>
          <a:bodyPr anchor="t" rtlCol="false" tIns="0" lIns="0" bIns="0" rIns="0">
            <a:spAutoFit/>
          </a:bodyPr>
          <a:lstStyle/>
          <a:p>
            <a:pPr algn="l">
              <a:lnSpc>
                <a:spcPts val="3119"/>
              </a:lnSpc>
            </a:pPr>
            <a:r>
              <a:rPr lang="en-US" sz="2599">
                <a:solidFill>
                  <a:srgbClr val="1A1A1A"/>
                </a:solidFill>
                <a:latin typeface="Consolas"/>
                <a:ea typeface="Consolas"/>
                <a:cs typeface="Consolas"/>
                <a:sym typeface="Consolas"/>
              </a:rPr>
              <a:t>// ERROR: i nunca cambia, la condición siempre es verdadera</a:t>
            </a:r>
          </a:p>
          <a:p>
            <a:pPr algn="l">
              <a:lnSpc>
                <a:spcPts val="3119"/>
              </a:lnSpc>
            </a:pPr>
            <a:r>
              <a:rPr lang="en-US" sz="2599">
                <a:solidFill>
                  <a:srgbClr val="1A1A1A"/>
                </a:solidFill>
                <a:latin typeface="Consolas"/>
                <a:ea typeface="Consolas"/>
                <a:cs typeface="Consolas"/>
                <a:sym typeface="Consolas"/>
              </a:rPr>
              <a:t>i &lt;- 1</a:t>
            </a:r>
          </a:p>
          <a:p>
            <a:pPr algn="l">
              <a:lnSpc>
                <a:spcPts val="3119"/>
              </a:lnSpc>
            </a:pPr>
            <a:r>
              <a:rPr lang="en-US" sz="2599">
                <a:solidFill>
                  <a:srgbClr val="1A1A1A"/>
                </a:solidFill>
                <a:latin typeface="Consolas"/>
                <a:ea typeface="Consolas"/>
                <a:cs typeface="Consolas"/>
                <a:sym typeface="Consolas"/>
              </a:rPr>
              <a:t>Mientras i &lt;= 5 Hacer</a:t>
            </a:r>
          </a:p>
          <a:p>
            <a:pPr algn="l">
              <a:lnSpc>
                <a:spcPts val="3119"/>
              </a:lnSpc>
            </a:pPr>
            <a:r>
              <a:rPr lang="en-US" sz="2599">
                <a:solidFill>
                  <a:srgbClr val="1A1A1A"/>
                </a:solidFill>
                <a:latin typeface="Consolas"/>
                <a:ea typeface="Consolas"/>
                <a:cs typeface="Consolas"/>
                <a:sym typeface="Consolas"/>
              </a:rPr>
              <a:t>   Escribir "Valor: ", i</a:t>
            </a:r>
          </a:p>
          <a:p>
            <a:pPr algn="l">
              <a:lnSpc>
                <a:spcPts val="3119"/>
              </a:lnSpc>
            </a:pPr>
            <a:r>
              <a:rPr lang="en-US" sz="2599">
                <a:solidFill>
                  <a:srgbClr val="1A1A1A"/>
                </a:solidFill>
                <a:latin typeface="Consolas"/>
                <a:ea typeface="Consolas"/>
                <a:cs typeface="Consolas"/>
                <a:sym typeface="Consolas"/>
              </a:rPr>
              <a:t>   // Se olvidó actualizar i  ← el error está aquí</a:t>
            </a:r>
          </a:p>
          <a:p>
            <a:pPr algn="l">
              <a:lnSpc>
                <a:spcPts val="3119"/>
              </a:lnSpc>
            </a:pPr>
            <a:r>
              <a:rPr lang="en-US" sz="2599">
                <a:solidFill>
                  <a:srgbClr val="1A1A1A"/>
                </a:solidFill>
                <a:latin typeface="Consolas"/>
                <a:ea typeface="Consolas"/>
                <a:cs typeface="Consolas"/>
                <a:sym typeface="Consolas"/>
              </a:rPr>
              <a:t>FinMientras</a:t>
            </a:r>
          </a:p>
        </p:txBody>
      </p:sp>
      <p:grpSp>
        <p:nvGrpSpPr>
          <p:cNvPr name="Group 11" id="11"/>
          <p:cNvGrpSpPr/>
          <p:nvPr/>
        </p:nvGrpSpPr>
        <p:grpSpPr>
          <a:xfrm rot="0">
            <a:off x="9370057" y="5369714"/>
            <a:ext cx="7889243" cy="3672898"/>
            <a:chOff x="0" y="0"/>
            <a:chExt cx="10518991" cy="4897198"/>
          </a:xfrm>
        </p:grpSpPr>
        <p:sp>
          <p:nvSpPr>
            <p:cNvPr name="Freeform 12" id="12"/>
            <p:cNvSpPr/>
            <p:nvPr/>
          </p:nvSpPr>
          <p:spPr>
            <a:xfrm flipH="false" flipV="false" rot="0">
              <a:off x="16891" y="23658"/>
              <a:ext cx="10485120" cy="4849757"/>
            </a:xfrm>
            <a:custGeom>
              <a:avLst/>
              <a:gdLst/>
              <a:ahLst/>
              <a:cxnLst/>
              <a:rect r="r" b="b" t="t" l="l"/>
              <a:pathLst>
                <a:path h="4849757" w="10485120">
                  <a:moveTo>
                    <a:pt x="0" y="0"/>
                  </a:moveTo>
                  <a:lnTo>
                    <a:pt x="10485120" y="0"/>
                  </a:lnTo>
                  <a:lnTo>
                    <a:pt x="10485120" y="4849757"/>
                  </a:lnTo>
                  <a:lnTo>
                    <a:pt x="0" y="4849757"/>
                  </a:lnTo>
                  <a:close/>
                </a:path>
              </a:pathLst>
            </a:custGeom>
            <a:solidFill>
              <a:srgbClr val="F5F5F5"/>
            </a:solidFill>
          </p:spPr>
        </p:sp>
        <p:sp>
          <p:nvSpPr>
            <p:cNvPr name="Freeform 13" id="13"/>
            <p:cNvSpPr/>
            <p:nvPr/>
          </p:nvSpPr>
          <p:spPr>
            <a:xfrm flipH="false" flipV="false" rot="0">
              <a:off x="0" y="0"/>
              <a:ext cx="10518901" cy="4897073"/>
            </a:xfrm>
            <a:custGeom>
              <a:avLst/>
              <a:gdLst/>
              <a:ahLst/>
              <a:cxnLst/>
              <a:rect r="r" b="b" t="t" l="l"/>
              <a:pathLst>
                <a:path h="4897073" w="10518901">
                  <a:moveTo>
                    <a:pt x="16891" y="0"/>
                  </a:moveTo>
                  <a:lnTo>
                    <a:pt x="10502011" y="0"/>
                  </a:lnTo>
                  <a:cubicBezTo>
                    <a:pt x="10511409" y="0"/>
                    <a:pt x="10518901" y="10673"/>
                    <a:pt x="10518901" y="23658"/>
                  </a:cubicBezTo>
                  <a:lnTo>
                    <a:pt x="10518901" y="4873415"/>
                  </a:lnTo>
                  <a:cubicBezTo>
                    <a:pt x="10518901" y="4886578"/>
                    <a:pt x="10511282" y="4897073"/>
                    <a:pt x="10502011" y="4897073"/>
                  </a:cubicBezTo>
                  <a:lnTo>
                    <a:pt x="16891" y="4897073"/>
                  </a:lnTo>
                  <a:cubicBezTo>
                    <a:pt x="7493" y="4897073"/>
                    <a:pt x="0" y="4886401"/>
                    <a:pt x="0" y="4873415"/>
                  </a:cubicBezTo>
                  <a:lnTo>
                    <a:pt x="0" y="23658"/>
                  </a:lnTo>
                  <a:cubicBezTo>
                    <a:pt x="0" y="10673"/>
                    <a:pt x="7620" y="0"/>
                    <a:pt x="16891" y="0"/>
                  </a:cubicBezTo>
                  <a:moveTo>
                    <a:pt x="16891" y="47494"/>
                  </a:moveTo>
                  <a:lnTo>
                    <a:pt x="16891" y="23658"/>
                  </a:lnTo>
                  <a:lnTo>
                    <a:pt x="33909" y="23658"/>
                  </a:lnTo>
                  <a:lnTo>
                    <a:pt x="33909" y="4873415"/>
                  </a:lnTo>
                  <a:lnTo>
                    <a:pt x="16891" y="4873415"/>
                  </a:lnTo>
                  <a:lnTo>
                    <a:pt x="16891" y="4849757"/>
                  </a:lnTo>
                  <a:lnTo>
                    <a:pt x="10502011" y="4849757"/>
                  </a:lnTo>
                  <a:lnTo>
                    <a:pt x="10502011" y="4873415"/>
                  </a:lnTo>
                  <a:lnTo>
                    <a:pt x="10485120" y="4873415"/>
                  </a:lnTo>
                  <a:lnTo>
                    <a:pt x="10485120" y="23658"/>
                  </a:lnTo>
                  <a:lnTo>
                    <a:pt x="10502011" y="23658"/>
                  </a:lnTo>
                  <a:lnTo>
                    <a:pt x="10502011" y="47494"/>
                  </a:lnTo>
                  <a:lnTo>
                    <a:pt x="16891" y="47494"/>
                  </a:lnTo>
                  <a:close/>
                </a:path>
              </a:pathLst>
            </a:custGeom>
            <a:solidFill>
              <a:srgbClr val="DDDDDD"/>
            </a:solidFill>
          </p:spPr>
        </p:sp>
      </p:grpSp>
      <p:sp>
        <p:nvSpPr>
          <p:cNvPr name="TextBox 14" id="14"/>
          <p:cNvSpPr txBox="true"/>
          <p:nvPr/>
        </p:nvSpPr>
        <p:spPr>
          <a:xfrm rot="0">
            <a:off x="9748518" y="5749128"/>
            <a:ext cx="7132320" cy="2790825"/>
          </a:xfrm>
          <a:prstGeom prst="rect">
            <a:avLst/>
          </a:prstGeom>
        </p:spPr>
        <p:txBody>
          <a:bodyPr anchor="t" rtlCol="false" tIns="0" lIns="0" bIns="0" rIns="0">
            <a:spAutoFit/>
          </a:bodyPr>
          <a:lstStyle/>
          <a:p>
            <a:pPr algn="l">
              <a:lnSpc>
                <a:spcPts val="3119"/>
              </a:lnSpc>
            </a:pPr>
            <a:r>
              <a:rPr lang="en-US" sz="2599">
                <a:solidFill>
                  <a:srgbClr val="1A1A1A"/>
                </a:solidFill>
                <a:latin typeface="Consolas"/>
                <a:ea typeface="Consolas"/>
                <a:cs typeface="Consolas"/>
                <a:sym typeface="Consolas"/>
              </a:rPr>
              <a:t>// CORRECTO: i aumenta en cada iteración</a:t>
            </a:r>
          </a:p>
          <a:p>
            <a:pPr algn="l">
              <a:lnSpc>
                <a:spcPts val="3119"/>
              </a:lnSpc>
            </a:pPr>
            <a:r>
              <a:rPr lang="en-US" sz="2599">
                <a:solidFill>
                  <a:srgbClr val="1A1A1A"/>
                </a:solidFill>
                <a:latin typeface="Consolas"/>
                <a:ea typeface="Consolas"/>
                <a:cs typeface="Consolas"/>
                <a:sym typeface="Consolas"/>
              </a:rPr>
              <a:t>i &lt;- 1</a:t>
            </a:r>
          </a:p>
          <a:p>
            <a:pPr algn="l">
              <a:lnSpc>
                <a:spcPts val="3119"/>
              </a:lnSpc>
            </a:pPr>
            <a:r>
              <a:rPr lang="en-US" sz="2599">
                <a:solidFill>
                  <a:srgbClr val="1A1A1A"/>
                </a:solidFill>
                <a:latin typeface="Consolas"/>
                <a:ea typeface="Consolas"/>
                <a:cs typeface="Consolas"/>
                <a:sym typeface="Consolas"/>
              </a:rPr>
              <a:t>Mientras i &lt;= 5 Hacer</a:t>
            </a:r>
          </a:p>
          <a:p>
            <a:pPr algn="l">
              <a:lnSpc>
                <a:spcPts val="3119"/>
              </a:lnSpc>
            </a:pPr>
            <a:r>
              <a:rPr lang="en-US" sz="2599">
                <a:solidFill>
                  <a:srgbClr val="1A1A1A"/>
                </a:solidFill>
                <a:latin typeface="Consolas"/>
                <a:ea typeface="Consolas"/>
                <a:cs typeface="Consolas"/>
                <a:sym typeface="Consolas"/>
              </a:rPr>
              <a:t>   Escribir "Valor: ", i</a:t>
            </a:r>
          </a:p>
          <a:p>
            <a:pPr algn="l">
              <a:lnSpc>
                <a:spcPts val="3119"/>
              </a:lnSpc>
            </a:pPr>
            <a:r>
              <a:rPr lang="en-US" sz="2599">
                <a:solidFill>
                  <a:srgbClr val="1A1A1A"/>
                </a:solidFill>
                <a:latin typeface="Consolas"/>
                <a:ea typeface="Consolas"/>
                <a:cs typeface="Consolas"/>
                <a:sym typeface="Consolas"/>
              </a:rPr>
              <a:t>   i &lt;- i + 1   ← i se actualiza</a:t>
            </a:r>
          </a:p>
          <a:p>
            <a:pPr algn="l">
              <a:lnSpc>
                <a:spcPts val="3119"/>
              </a:lnSpc>
            </a:pPr>
            <a:r>
              <a:rPr lang="en-US" sz="2599">
                <a:solidFill>
                  <a:srgbClr val="1A1A1A"/>
                </a:solidFill>
                <a:latin typeface="Consolas"/>
                <a:ea typeface="Consolas"/>
                <a:cs typeface="Consolas"/>
                <a:sym typeface="Consolas"/>
              </a:rPr>
              <a:t>FinMientras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2980" y="2747031"/>
            <a:ext cx="16276320" cy="542925"/>
          </a:xfrm>
          <a:prstGeom prst="rect">
            <a:avLst/>
          </a:prstGeom>
        </p:spPr>
        <p:txBody>
          <a:bodyPr anchor="t" rtlCol="false" tIns="0" lIns="0" bIns="0" rIns="0">
            <a:spAutoFit/>
          </a:bodyPr>
          <a:lstStyle/>
          <a:p>
            <a:pPr algn="l">
              <a:lnSpc>
                <a:spcPts val="3840"/>
              </a:lnSpc>
            </a:pPr>
            <a:r>
              <a:rPr lang="en-US" sz="3200" b="true">
                <a:solidFill>
                  <a:srgbClr val="1A1A1A"/>
                </a:solidFill>
                <a:latin typeface="Calibri (MS) Bold"/>
                <a:ea typeface="Calibri (MS) Bold"/>
                <a:cs typeface="Calibri (MS) Bold"/>
                <a:sym typeface="Calibri (MS) Bold"/>
              </a:rPr>
              <a:t>Tres mecanismos para evitar ciclos infinitos:</a:t>
            </a:r>
          </a:p>
        </p:txBody>
      </p:sp>
      <p:sp>
        <p:nvSpPr>
          <p:cNvPr name="TextBox 3" id="3"/>
          <p:cNvSpPr txBox="true"/>
          <p:nvPr/>
        </p:nvSpPr>
        <p:spPr>
          <a:xfrm rot="0">
            <a:off x="960120" y="3823356"/>
            <a:ext cx="16276320" cy="542925"/>
          </a:xfrm>
          <a:prstGeom prst="rect">
            <a:avLst/>
          </a:prstGeom>
        </p:spPr>
        <p:txBody>
          <a:bodyPr anchor="t" rtlCol="false" tIns="0" lIns="0" bIns="0" rIns="0">
            <a:spAutoFit/>
          </a:bodyPr>
          <a:lstStyle/>
          <a:p>
            <a:pPr algn="l">
              <a:lnSpc>
                <a:spcPts val="3840"/>
              </a:lnSpc>
            </a:pPr>
            <a:r>
              <a:rPr lang="en-US" sz="3200" b="true">
                <a:solidFill>
                  <a:srgbClr val="1A1A1A"/>
                </a:solidFill>
                <a:latin typeface="Calibri (MS) Bold"/>
                <a:ea typeface="Calibri (MS) Bold"/>
                <a:cs typeface="Calibri (MS) Bold"/>
                <a:sym typeface="Calibri (MS) Bold"/>
              </a:rPr>
              <a:t>1. Actualizar la variable de control:</a:t>
            </a:r>
          </a:p>
        </p:txBody>
      </p:sp>
      <p:sp>
        <p:nvSpPr>
          <p:cNvPr name="TextBox 4" id="4"/>
          <p:cNvSpPr txBox="true"/>
          <p:nvPr/>
        </p:nvSpPr>
        <p:spPr>
          <a:xfrm rot="0">
            <a:off x="1371600" y="4257675"/>
            <a:ext cx="14006358" cy="1028700"/>
          </a:xfrm>
          <a:prstGeom prst="rect">
            <a:avLst/>
          </a:prstGeom>
        </p:spPr>
        <p:txBody>
          <a:bodyPr anchor="t" rtlCol="false" tIns="0" lIns="0" bIns="0" rIns="0">
            <a:spAutoFit/>
          </a:bodyPr>
          <a:lstStyle/>
          <a:p>
            <a:pPr algn="l">
              <a:lnSpc>
                <a:spcPts val="3840"/>
              </a:lnSpc>
            </a:pPr>
            <a:r>
              <a:rPr lang="en-US" sz="3200">
                <a:solidFill>
                  <a:srgbClr val="444444"/>
                </a:solidFill>
                <a:latin typeface="Calibri (MS)"/>
                <a:ea typeface="Calibri (MS)"/>
                <a:cs typeface="Calibri (MS)"/>
                <a:sym typeface="Calibri (MS)"/>
              </a:rPr>
              <a:t>En ciclos Mientras/Repetir, siempre modificar la variable que aparece en la condición dentro del cuerpo del ciclo.</a:t>
            </a:r>
          </a:p>
        </p:txBody>
      </p:sp>
      <p:sp>
        <p:nvSpPr>
          <p:cNvPr name="TextBox 5" id="5"/>
          <p:cNvSpPr txBox="true"/>
          <p:nvPr/>
        </p:nvSpPr>
        <p:spPr>
          <a:xfrm rot="0">
            <a:off x="1005840" y="5620292"/>
            <a:ext cx="16276320" cy="542925"/>
          </a:xfrm>
          <a:prstGeom prst="rect">
            <a:avLst/>
          </a:prstGeom>
        </p:spPr>
        <p:txBody>
          <a:bodyPr anchor="t" rtlCol="false" tIns="0" lIns="0" bIns="0" rIns="0">
            <a:spAutoFit/>
          </a:bodyPr>
          <a:lstStyle/>
          <a:p>
            <a:pPr algn="l">
              <a:lnSpc>
                <a:spcPts val="3840"/>
              </a:lnSpc>
            </a:pPr>
            <a:r>
              <a:rPr lang="en-US" sz="3200" b="true">
                <a:solidFill>
                  <a:srgbClr val="1A1A1A"/>
                </a:solidFill>
                <a:latin typeface="Calibri (MS) Bold"/>
                <a:ea typeface="Calibri (MS) Bold"/>
                <a:cs typeface="Calibri (MS) Bold"/>
                <a:sym typeface="Calibri (MS) Bold"/>
              </a:rPr>
              <a:t>2. Usar Para cuando el rango es fijo:</a:t>
            </a:r>
          </a:p>
        </p:txBody>
      </p:sp>
      <p:sp>
        <p:nvSpPr>
          <p:cNvPr name="TextBox 6" id="6"/>
          <p:cNvSpPr txBox="true"/>
          <p:nvPr/>
        </p:nvSpPr>
        <p:spPr>
          <a:xfrm rot="0">
            <a:off x="1371600" y="6114068"/>
            <a:ext cx="15910560" cy="542925"/>
          </a:xfrm>
          <a:prstGeom prst="rect">
            <a:avLst/>
          </a:prstGeom>
        </p:spPr>
        <p:txBody>
          <a:bodyPr anchor="t" rtlCol="false" tIns="0" lIns="0" bIns="0" rIns="0">
            <a:spAutoFit/>
          </a:bodyPr>
          <a:lstStyle/>
          <a:p>
            <a:pPr algn="l">
              <a:lnSpc>
                <a:spcPts val="3840"/>
              </a:lnSpc>
            </a:pPr>
            <a:r>
              <a:rPr lang="en-US" sz="3200">
                <a:solidFill>
                  <a:srgbClr val="444444"/>
                </a:solidFill>
                <a:latin typeface="Calibri (MS)"/>
                <a:ea typeface="Calibri (MS)"/>
                <a:cs typeface="Calibri (MS)"/>
                <a:sym typeface="Calibri (MS)"/>
              </a:rPr>
              <a:t>El ciclo Para actualiza automáticamente el índice. No hay riesgo de olvidar la actualización.</a:t>
            </a:r>
          </a:p>
        </p:txBody>
      </p:sp>
      <p:sp>
        <p:nvSpPr>
          <p:cNvPr name="TextBox 7" id="7"/>
          <p:cNvSpPr txBox="true"/>
          <p:nvPr/>
        </p:nvSpPr>
        <p:spPr>
          <a:xfrm rot="0">
            <a:off x="1005840" y="7037993"/>
            <a:ext cx="16276320" cy="542925"/>
          </a:xfrm>
          <a:prstGeom prst="rect">
            <a:avLst/>
          </a:prstGeom>
        </p:spPr>
        <p:txBody>
          <a:bodyPr anchor="t" rtlCol="false" tIns="0" lIns="0" bIns="0" rIns="0">
            <a:spAutoFit/>
          </a:bodyPr>
          <a:lstStyle/>
          <a:p>
            <a:pPr algn="l">
              <a:lnSpc>
                <a:spcPts val="3840"/>
              </a:lnSpc>
            </a:pPr>
            <a:r>
              <a:rPr lang="en-US" sz="3200" b="true">
                <a:solidFill>
                  <a:srgbClr val="1A1A1A"/>
                </a:solidFill>
                <a:latin typeface="Calibri (MS) Bold"/>
                <a:ea typeface="Calibri (MS) Bold"/>
                <a:cs typeface="Calibri (MS) Bold"/>
                <a:sym typeface="Calibri (MS) Bold"/>
              </a:rPr>
              <a:t>3. Incluir condición de validez:</a:t>
            </a:r>
          </a:p>
        </p:txBody>
      </p:sp>
      <p:sp>
        <p:nvSpPr>
          <p:cNvPr name="TextBox 8" id="8"/>
          <p:cNvSpPr txBox="true"/>
          <p:nvPr/>
        </p:nvSpPr>
        <p:spPr>
          <a:xfrm rot="0">
            <a:off x="1371600" y="7531769"/>
            <a:ext cx="14978156" cy="1028700"/>
          </a:xfrm>
          <a:prstGeom prst="rect">
            <a:avLst/>
          </a:prstGeom>
        </p:spPr>
        <p:txBody>
          <a:bodyPr anchor="t" rtlCol="false" tIns="0" lIns="0" bIns="0" rIns="0">
            <a:spAutoFit/>
          </a:bodyPr>
          <a:lstStyle/>
          <a:p>
            <a:pPr algn="l">
              <a:lnSpc>
                <a:spcPts val="3840"/>
              </a:lnSpc>
            </a:pPr>
            <a:r>
              <a:rPr lang="en-US" sz="3200">
                <a:solidFill>
                  <a:srgbClr val="444444"/>
                </a:solidFill>
                <a:latin typeface="Calibri (MS)"/>
                <a:ea typeface="Calibri (MS)"/>
                <a:cs typeface="Calibri (MS)"/>
                <a:sym typeface="Calibri (MS)"/>
              </a:rPr>
              <a:t>La condición debe poder volverse falsa (Mientras) o verdadera (Repetir) con valores reales que el usuario pueda ingresar.</a:t>
            </a:r>
          </a:p>
        </p:txBody>
      </p:sp>
      <p:grpSp>
        <p:nvGrpSpPr>
          <p:cNvPr name="Group 9" id="9"/>
          <p:cNvGrpSpPr/>
          <p:nvPr/>
        </p:nvGrpSpPr>
        <p:grpSpPr>
          <a:xfrm rot="0">
            <a:off x="1028700" y="1204803"/>
            <a:ext cx="15321056" cy="1005840"/>
            <a:chOff x="0" y="0"/>
            <a:chExt cx="20428075" cy="1341120"/>
          </a:xfrm>
        </p:grpSpPr>
        <p:sp>
          <p:nvSpPr>
            <p:cNvPr name="Freeform 10" id="10"/>
            <p:cNvSpPr/>
            <p:nvPr/>
          </p:nvSpPr>
          <p:spPr>
            <a:xfrm flipH="false" flipV="false" rot="0">
              <a:off x="0" y="0"/>
              <a:ext cx="20428076" cy="1341120"/>
            </a:xfrm>
            <a:custGeom>
              <a:avLst/>
              <a:gdLst/>
              <a:ahLst/>
              <a:cxnLst/>
              <a:rect r="r" b="b" t="t" l="l"/>
              <a:pathLst>
                <a:path h="1341120" w="20428076">
                  <a:moveTo>
                    <a:pt x="0" y="0"/>
                  </a:moveTo>
                  <a:lnTo>
                    <a:pt x="20428076" y="0"/>
                  </a:lnTo>
                  <a:lnTo>
                    <a:pt x="20428076" y="1341120"/>
                  </a:lnTo>
                  <a:lnTo>
                    <a:pt x="0" y="1341120"/>
                  </a:lnTo>
                  <a:close/>
                </a:path>
              </a:pathLst>
            </a:custGeom>
            <a:blipFill>
              <a:blip r:embed="rId2">
                <a:alphaModFix amt="0"/>
              </a:blip>
              <a:stretch>
                <a:fillRect l="0" t="-268846" r="-7428" b="-268846"/>
              </a:stretch>
            </a:blipFill>
          </p:spPr>
        </p:sp>
        <p:sp>
          <p:nvSpPr>
            <p:cNvPr name="TextBox 11" id="11"/>
            <p:cNvSpPr txBox="true"/>
            <p:nvPr/>
          </p:nvSpPr>
          <p:spPr>
            <a:xfrm>
              <a:off x="0" y="-85725"/>
              <a:ext cx="20428075"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Me</a:t>
              </a:r>
              <a:r>
                <a:rPr lang="en-US" sz="4800" b="true">
                  <a:solidFill>
                    <a:srgbClr val="1A1A1A"/>
                  </a:solidFill>
                  <a:latin typeface="Calibri (MS) Bold"/>
                  <a:ea typeface="Calibri (MS) Bold"/>
                  <a:cs typeface="Calibri (MS) Bold"/>
                  <a:sym typeface="Calibri (MS) Bold"/>
                </a:rPr>
                <a:t>canismos para evitar ciclos infinitos</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220911"/>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Condicionales dentro de Ciclos</a:t>
              </a:r>
            </a:p>
          </p:txBody>
        </p:sp>
      </p:grpSp>
      <p:sp>
        <p:nvSpPr>
          <p:cNvPr name="TextBox 5" id="5"/>
          <p:cNvSpPr txBox="true"/>
          <p:nvPr/>
        </p:nvSpPr>
        <p:spPr>
          <a:xfrm rot="0">
            <a:off x="1028700" y="2706343"/>
            <a:ext cx="15772910" cy="952500"/>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Dentro de un ciclo se puede incluir un condicional Si … Entonces para tomar decisiones sobre cada elemento procesado. Esto permite filtrar, contar, o clasificar valores mientras se recorre el arreglo.</a:t>
            </a:r>
          </a:p>
        </p:txBody>
      </p:sp>
      <p:sp>
        <p:nvSpPr>
          <p:cNvPr name="TextBox 6" id="6"/>
          <p:cNvSpPr txBox="true"/>
          <p:nvPr/>
        </p:nvSpPr>
        <p:spPr>
          <a:xfrm rot="0">
            <a:off x="1028700" y="4325593"/>
            <a:ext cx="14809866" cy="581025"/>
          </a:xfrm>
          <a:prstGeom prst="rect">
            <a:avLst/>
          </a:prstGeom>
        </p:spPr>
        <p:txBody>
          <a:bodyPr anchor="t" rtlCol="false" tIns="0" lIns="0" bIns="0" rIns="0">
            <a:spAutoFit/>
          </a:bodyPr>
          <a:lstStyle/>
          <a:p>
            <a:pPr algn="l">
              <a:lnSpc>
                <a:spcPts val="4079"/>
              </a:lnSpc>
            </a:pPr>
            <a:r>
              <a:rPr lang="en-US" sz="3399" b="true">
                <a:solidFill>
                  <a:srgbClr val="1A1A1A"/>
                </a:solidFill>
                <a:latin typeface="Calibri (MS) Bold"/>
                <a:ea typeface="Calibri (MS) Bold"/>
                <a:cs typeface="Calibri (MS) Bold"/>
                <a:sym typeface="Calibri (MS) Bold"/>
              </a:rPr>
              <a:t>Estructura combinada: ciclo + condicional</a:t>
            </a:r>
          </a:p>
        </p:txBody>
      </p:sp>
      <p:grpSp>
        <p:nvGrpSpPr>
          <p:cNvPr name="Group 7" id="7"/>
          <p:cNvGrpSpPr/>
          <p:nvPr/>
        </p:nvGrpSpPr>
        <p:grpSpPr>
          <a:xfrm rot="0">
            <a:off x="1079499" y="5309999"/>
            <a:ext cx="16357602" cy="3796728"/>
            <a:chOff x="0" y="0"/>
            <a:chExt cx="21810135" cy="5062304"/>
          </a:xfrm>
        </p:grpSpPr>
        <p:sp>
          <p:nvSpPr>
            <p:cNvPr name="Freeform 8" id="8"/>
            <p:cNvSpPr/>
            <p:nvPr/>
          </p:nvSpPr>
          <p:spPr>
            <a:xfrm flipH="false" flipV="false" rot="0">
              <a:off x="16761" y="25158"/>
              <a:ext cx="21776524" cy="5011856"/>
            </a:xfrm>
            <a:custGeom>
              <a:avLst/>
              <a:gdLst/>
              <a:ahLst/>
              <a:cxnLst/>
              <a:rect r="r" b="b" t="t" l="l"/>
              <a:pathLst>
                <a:path h="5011856" w="21776524">
                  <a:moveTo>
                    <a:pt x="0" y="0"/>
                  </a:moveTo>
                  <a:lnTo>
                    <a:pt x="21776524" y="0"/>
                  </a:lnTo>
                  <a:lnTo>
                    <a:pt x="21776524" y="5011856"/>
                  </a:lnTo>
                  <a:lnTo>
                    <a:pt x="0" y="5011856"/>
                  </a:lnTo>
                  <a:close/>
                </a:path>
              </a:pathLst>
            </a:custGeom>
            <a:solidFill>
              <a:srgbClr val="F5F5F5"/>
            </a:solidFill>
          </p:spPr>
        </p:sp>
        <p:sp>
          <p:nvSpPr>
            <p:cNvPr name="Freeform 9" id="9"/>
            <p:cNvSpPr/>
            <p:nvPr/>
          </p:nvSpPr>
          <p:spPr>
            <a:xfrm flipH="false" flipV="false" rot="0">
              <a:off x="0" y="0"/>
              <a:ext cx="21810047" cy="5062171"/>
            </a:xfrm>
            <a:custGeom>
              <a:avLst/>
              <a:gdLst/>
              <a:ahLst/>
              <a:cxnLst/>
              <a:rect r="r" b="b" t="t" l="l"/>
              <a:pathLst>
                <a:path h="5062171" w="21810047">
                  <a:moveTo>
                    <a:pt x="16761" y="0"/>
                  </a:moveTo>
                  <a:lnTo>
                    <a:pt x="21793285" y="0"/>
                  </a:lnTo>
                  <a:cubicBezTo>
                    <a:pt x="21802613" y="0"/>
                    <a:pt x="21810047" y="11349"/>
                    <a:pt x="21810047" y="25158"/>
                  </a:cubicBezTo>
                  <a:lnTo>
                    <a:pt x="21810047" y="5037014"/>
                  </a:lnTo>
                  <a:cubicBezTo>
                    <a:pt x="21810047" y="5051011"/>
                    <a:pt x="21802486" y="5062171"/>
                    <a:pt x="21793285" y="5062171"/>
                  </a:cubicBezTo>
                  <a:lnTo>
                    <a:pt x="16761" y="5062171"/>
                  </a:lnTo>
                  <a:cubicBezTo>
                    <a:pt x="7435" y="5062171"/>
                    <a:pt x="0" y="5050822"/>
                    <a:pt x="0" y="5037014"/>
                  </a:cubicBezTo>
                  <a:lnTo>
                    <a:pt x="0" y="25158"/>
                  </a:lnTo>
                  <a:cubicBezTo>
                    <a:pt x="0" y="11349"/>
                    <a:pt x="7561" y="0"/>
                    <a:pt x="16761" y="0"/>
                  </a:cubicBezTo>
                  <a:moveTo>
                    <a:pt x="16761" y="50504"/>
                  </a:moveTo>
                  <a:lnTo>
                    <a:pt x="16761" y="25158"/>
                  </a:lnTo>
                  <a:lnTo>
                    <a:pt x="33648" y="25158"/>
                  </a:lnTo>
                  <a:lnTo>
                    <a:pt x="33648" y="5037014"/>
                  </a:lnTo>
                  <a:lnTo>
                    <a:pt x="16761" y="5037014"/>
                  </a:lnTo>
                  <a:lnTo>
                    <a:pt x="16761" y="5011856"/>
                  </a:lnTo>
                  <a:lnTo>
                    <a:pt x="21793285" y="5011856"/>
                  </a:lnTo>
                  <a:lnTo>
                    <a:pt x="21793285" y="5037014"/>
                  </a:lnTo>
                  <a:lnTo>
                    <a:pt x="21776525" y="5037014"/>
                  </a:lnTo>
                  <a:lnTo>
                    <a:pt x="21776525" y="25158"/>
                  </a:lnTo>
                  <a:lnTo>
                    <a:pt x="21793285" y="25158"/>
                  </a:lnTo>
                  <a:lnTo>
                    <a:pt x="21793285" y="50504"/>
                  </a:lnTo>
                  <a:lnTo>
                    <a:pt x="16761" y="50504"/>
                  </a:lnTo>
                  <a:close/>
                </a:path>
              </a:pathLst>
            </a:custGeom>
            <a:solidFill>
              <a:srgbClr val="DDDDDD"/>
            </a:solidFill>
          </p:spPr>
        </p:sp>
      </p:grpSp>
      <p:sp>
        <p:nvSpPr>
          <p:cNvPr name="TextBox 10" id="10"/>
          <p:cNvSpPr txBox="true"/>
          <p:nvPr/>
        </p:nvSpPr>
        <p:spPr>
          <a:xfrm rot="0">
            <a:off x="1330959" y="5584351"/>
            <a:ext cx="15727680" cy="3190875"/>
          </a:xfrm>
          <a:prstGeom prst="rect">
            <a:avLst/>
          </a:prstGeom>
        </p:spPr>
        <p:txBody>
          <a:bodyPr anchor="t" rtlCol="false" tIns="0" lIns="0" bIns="0" rIns="0">
            <a:spAutoFit/>
          </a:bodyPr>
          <a:lstStyle/>
          <a:p>
            <a:pPr algn="l">
              <a:lnSpc>
                <a:spcPts val="3599"/>
              </a:lnSpc>
            </a:pPr>
            <a:r>
              <a:rPr lang="en-US" sz="2999">
                <a:solidFill>
                  <a:srgbClr val="1A1A1A"/>
                </a:solidFill>
                <a:latin typeface="Consolas"/>
                <a:ea typeface="Consolas"/>
                <a:cs typeface="Consolas"/>
                <a:sym typeface="Consolas"/>
              </a:rPr>
              <a:t>Para i &lt;- 1 Hasta N Con Paso 1 Hacer</a:t>
            </a:r>
          </a:p>
          <a:p>
            <a:pPr algn="l">
              <a:lnSpc>
                <a:spcPts val="3599"/>
              </a:lnSpc>
            </a:pPr>
            <a:r>
              <a:rPr lang="en-US" sz="2999">
                <a:solidFill>
                  <a:srgbClr val="1A1A1A"/>
                </a:solidFill>
                <a:latin typeface="Consolas"/>
                <a:ea typeface="Consolas"/>
                <a:cs typeface="Consolas"/>
                <a:sym typeface="Consolas"/>
              </a:rPr>
              <a:t>   Si &lt;condición sobre el elemento i&gt; Entonces</a:t>
            </a:r>
          </a:p>
          <a:p>
            <a:pPr algn="l">
              <a:lnSpc>
                <a:spcPts val="3599"/>
              </a:lnSpc>
            </a:pPr>
            <a:r>
              <a:rPr lang="en-US" sz="2999">
                <a:solidFill>
                  <a:srgbClr val="1A1A1A"/>
                </a:solidFill>
                <a:latin typeface="Consolas"/>
                <a:ea typeface="Consolas"/>
                <a:cs typeface="Consolas"/>
                <a:sym typeface="Consolas"/>
              </a:rPr>
              <a:t>      // acción cuando la condición es verdadera</a:t>
            </a:r>
          </a:p>
          <a:p>
            <a:pPr algn="l">
              <a:lnSpc>
                <a:spcPts val="3599"/>
              </a:lnSpc>
            </a:pPr>
            <a:r>
              <a:rPr lang="en-US" sz="2999">
                <a:solidFill>
                  <a:srgbClr val="1A1A1A"/>
                </a:solidFill>
                <a:latin typeface="Consolas"/>
                <a:ea typeface="Consolas"/>
                <a:cs typeface="Consolas"/>
                <a:sym typeface="Consolas"/>
              </a:rPr>
              <a:t>   SiNo</a:t>
            </a:r>
          </a:p>
          <a:p>
            <a:pPr algn="l">
              <a:lnSpc>
                <a:spcPts val="3599"/>
              </a:lnSpc>
            </a:pPr>
            <a:r>
              <a:rPr lang="en-US" sz="2999">
                <a:solidFill>
                  <a:srgbClr val="1A1A1A"/>
                </a:solidFill>
                <a:latin typeface="Consolas"/>
                <a:ea typeface="Consolas"/>
                <a:cs typeface="Consolas"/>
                <a:sym typeface="Consolas"/>
              </a:rPr>
              <a:t>      // acción cuando la condición es falsa</a:t>
            </a:r>
          </a:p>
          <a:p>
            <a:pPr algn="l">
              <a:lnSpc>
                <a:spcPts val="3599"/>
              </a:lnSpc>
            </a:pPr>
            <a:r>
              <a:rPr lang="en-US" sz="2999">
                <a:solidFill>
                  <a:srgbClr val="1A1A1A"/>
                </a:solidFill>
                <a:latin typeface="Consolas"/>
                <a:ea typeface="Consolas"/>
                <a:cs typeface="Consolas"/>
                <a:sym typeface="Consolas"/>
              </a:rPr>
              <a:t>   FinSi</a:t>
            </a:r>
          </a:p>
          <a:p>
            <a:pPr algn="l">
              <a:lnSpc>
                <a:spcPts val="3599"/>
              </a:lnSpc>
            </a:pPr>
            <a:r>
              <a:rPr lang="en-US" sz="2999">
                <a:solidFill>
                  <a:srgbClr val="1A1A1A"/>
                </a:solidFill>
                <a:latin typeface="Consolas"/>
                <a:ea typeface="Consolas"/>
                <a:cs typeface="Consolas"/>
                <a:sym typeface="Consolas"/>
              </a:rPr>
              <a:t>FinPara</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93030"/>
            <a:ext cx="15883832" cy="561975"/>
          </a:xfrm>
          <a:prstGeom prst="rect">
            <a:avLst/>
          </a:prstGeom>
        </p:spPr>
        <p:txBody>
          <a:bodyPr anchor="t" rtlCol="false" tIns="0" lIns="0" bIns="0" rIns="0">
            <a:spAutoFit/>
          </a:bodyPr>
          <a:lstStyle/>
          <a:p>
            <a:pPr algn="l">
              <a:lnSpc>
                <a:spcPts val="3839"/>
              </a:lnSpc>
            </a:pPr>
            <a:r>
              <a:rPr lang="en-US" sz="3199" b="true">
                <a:solidFill>
                  <a:srgbClr val="1A1A1A"/>
                </a:solidFill>
                <a:latin typeface="Calibri (MS) Bold"/>
                <a:ea typeface="Calibri (MS) Bold"/>
                <a:cs typeface="Calibri (MS) Bold"/>
                <a:sym typeface="Calibri (MS) Bold"/>
              </a:rPr>
              <a:t>Ejemplo: clasificar notas como aprobado o reprobado mientras se recorre el arreglo</a:t>
            </a:r>
          </a:p>
        </p:txBody>
      </p:sp>
      <p:grpSp>
        <p:nvGrpSpPr>
          <p:cNvPr name="Group 3" id="3"/>
          <p:cNvGrpSpPr/>
          <p:nvPr/>
        </p:nvGrpSpPr>
        <p:grpSpPr>
          <a:xfrm rot="0">
            <a:off x="1375468" y="2671474"/>
            <a:ext cx="15537065" cy="6586826"/>
            <a:chOff x="0" y="0"/>
            <a:chExt cx="20716087" cy="8782435"/>
          </a:xfrm>
        </p:grpSpPr>
        <p:sp>
          <p:nvSpPr>
            <p:cNvPr name="Freeform 4" id="4"/>
            <p:cNvSpPr/>
            <p:nvPr/>
          </p:nvSpPr>
          <p:spPr>
            <a:xfrm flipH="false" flipV="false" rot="0">
              <a:off x="15920" y="29911"/>
              <a:ext cx="20684162" cy="8722454"/>
            </a:xfrm>
            <a:custGeom>
              <a:avLst/>
              <a:gdLst/>
              <a:ahLst/>
              <a:cxnLst/>
              <a:rect r="r" b="b" t="t" l="l"/>
              <a:pathLst>
                <a:path h="8722454" w="20684162">
                  <a:moveTo>
                    <a:pt x="0" y="0"/>
                  </a:moveTo>
                  <a:lnTo>
                    <a:pt x="20684162" y="0"/>
                  </a:lnTo>
                  <a:lnTo>
                    <a:pt x="20684162" y="8722455"/>
                  </a:lnTo>
                  <a:lnTo>
                    <a:pt x="0" y="8722455"/>
                  </a:lnTo>
                  <a:close/>
                </a:path>
              </a:pathLst>
            </a:custGeom>
            <a:solidFill>
              <a:srgbClr val="F5F5F5"/>
            </a:solidFill>
          </p:spPr>
        </p:sp>
        <p:sp>
          <p:nvSpPr>
            <p:cNvPr name="Freeform 5" id="5"/>
            <p:cNvSpPr/>
            <p:nvPr/>
          </p:nvSpPr>
          <p:spPr>
            <a:xfrm flipH="false" flipV="false" rot="0">
              <a:off x="0" y="0"/>
              <a:ext cx="20716004" cy="8782277"/>
            </a:xfrm>
            <a:custGeom>
              <a:avLst/>
              <a:gdLst/>
              <a:ahLst/>
              <a:cxnLst/>
              <a:rect r="r" b="b" t="t" l="l"/>
              <a:pathLst>
                <a:path h="8782277" w="20716004">
                  <a:moveTo>
                    <a:pt x="15920" y="0"/>
                  </a:moveTo>
                  <a:lnTo>
                    <a:pt x="20700082" y="0"/>
                  </a:lnTo>
                  <a:cubicBezTo>
                    <a:pt x="20708942" y="0"/>
                    <a:pt x="20716004" y="13494"/>
                    <a:pt x="20716004" y="29911"/>
                  </a:cubicBezTo>
                  <a:lnTo>
                    <a:pt x="20716004" y="8752366"/>
                  </a:lnTo>
                  <a:cubicBezTo>
                    <a:pt x="20716004" y="8769008"/>
                    <a:pt x="20708821" y="8782277"/>
                    <a:pt x="20700082" y="8782277"/>
                  </a:cubicBezTo>
                  <a:lnTo>
                    <a:pt x="15920" y="8782277"/>
                  </a:lnTo>
                  <a:cubicBezTo>
                    <a:pt x="7062" y="8782277"/>
                    <a:pt x="0" y="8768784"/>
                    <a:pt x="0" y="8752366"/>
                  </a:cubicBezTo>
                  <a:lnTo>
                    <a:pt x="0" y="29911"/>
                  </a:lnTo>
                  <a:cubicBezTo>
                    <a:pt x="0" y="13494"/>
                    <a:pt x="7182" y="0"/>
                    <a:pt x="15920" y="0"/>
                  </a:cubicBezTo>
                  <a:moveTo>
                    <a:pt x="15920" y="60048"/>
                  </a:moveTo>
                  <a:lnTo>
                    <a:pt x="15920" y="29911"/>
                  </a:lnTo>
                  <a:lnTo>
                    <a:pt x="31960" y="29911"/>
                  </a:lnTo>
                  <a:lnTo>
                    <a:pt x="31960" y="8752366"/>
                  </a:lnTo>
                  <a:lnTo>
                    <a:pt x="15920" y="8752366"/>
                  </a:lnTo>
                  <a:lnTo>
                    <a:pt x="15920" y="8722455"/>
                  </a:lnTo>
                  <a:lnTo>
                    <a:pt x="20700082" y="8722455"/>
                  </a:lnTo>
                  <a:lnTo>
                    <a:pt x="20700082" y="8752366"/>
                  </a:lnTo>
                  <a:lnTo>
                    <a:pt x="20684162" y="8752366"/>
                  </a:lnTo>
                  <a:lnTo>
                    <a:pt x="20684162" y="29911"/>
                  </a:lnTo>
                  <a:lnTo>
                    <a:pt x="20700082" y="29911"/>
                  </a:lnTo>
                  <a:lnTo>
                    <a:pt x="20700082" y="60048"/>
                  </a:lnTo>
                  <a:lnTo>
                    <a:pt x="15920" y="60048"/>
                  </a:lnTo>
                  <a:close/>
                </a:path>
              </a:pathLst>
            </a:custGeom>
            <a:solidFill>
              <a:srgbClr val="DDDDDD"/>
            </a:solidFill>
          </p:spPr>
        </p:sp>
      </p:grpSp>
      <p:sp>
        <p:nvSpPr>
          <p:cNvPr name="TextBox 6" id="6"/>
          <p:cNvSpPr txBox="true"/>
          <p:nvPr/>
        </p:nvSpPr>
        <p:spPr>
          <a:xfrm rot="0">
            <a:off x="1728851" y="2945462"/>
            <a:ext cx="14830297" cy="5991225"/>
          </a:xfrm>
          <a:prstGeom prst="rect">
            <a:avLst/>
          </a:prstGeom>
        </p:spPr>
        <p:txBody>
          <a:bodyPr anchor="t" rtlCol="false" tIns="0" lIns="0" bIns="0" rIns="0">
            <a:spAutoFit/>
          </a:bodyPr>
          <a:lstStyle/>
          <a:p>
            <a:pPr algn="l">
              <a:lnSpc>
                <a:spcPts val="2999"/>
              </a:lnSpc>
            </a:pPr>
            <a:r>
              <a:rPr lang="en-US" sz="2499">
                <a:solidFill>
                  <a:srgbClr val="1A1A1A"/>
                </a:solidFill>
                <a:latin typeface="Consolas"/>
                <a:ea typeface="Consolas"/>
                <a:cs typeface="Consolas"/>
                <a:sym typeface="Consolas"/>
              </a:rPr>
              <a:t>Definir aprobados, reprobados Como Entero</a:t>
            </a:r>
          </a:p>
          <a:p>
            <a:pPr algn="l">
              <a:lnSpc>
                <a:spcPts val="2999"/>
              </a:lnSpc>
            </a:pPr>
            <a:r>
              <a:rPr lang="en-US" sz="2499">
                <a:solidFill>
                  <a:srgbClr val="1A1A1A"/>
                </a:solidFill>
                <a:latin typeface="Consolas"/>
                <a:ea typeface="Consolas"/>
                <a:cs typeface="Consolas"/>
                <a:sym typeface="Consolas"/>
              </a:rPr>
              <a:t>aprobados  &lt;- 0</a:t>
            </a:r>
          </a:p>
          <a:p>
            <a:pPr algn="l">
              <a:lnSpc>
                <a:spcPts val="2999"/>
              </a:lnSpc>
            </a:pPr>
            <a:r>
              <a:rPr lang="en-US" sz="2499">
                <a:solidFill>
                  <a:srgbClr val="1A1A1A"/>
                </a:solidFill>
                <a:latin typeface="Consolas"/>
                <a:ea typeface="Consolas"/>
                <a:cs typeface="Consolas"/>
                <a:sym typeface="Consolas"/>
              </a:rPr>
              <a:t>reprobados &lt;- 0</a:t>
            </a:r>
          </a:p>
          <a:p>
            <a:pPr algn="l">
              <a:lnSpc>
                <a:spcPts val="2999"/>
              </a:lnSpc>
            </a:pPr>
          </a:p>
          <a:p>
            <a:pPr algn="l">
              <a:lnSpc>
                <a:spcPts val="2999"/>
              </a:lnSpc>
            </a:pPr>
            <a:r>
              <a:rPr lang="en-US" sz="2499">
                <a:solidFill>
                  <a:srgbClr val="1A1A1A"/>
                </a:solidFill>
                <a:latin typeface="Consolas"/>
                <a:ea typeface="Consolas"/>
                <a:cs typeface="Consolas"/>
                <a:sym typeface="Consolas"/>
              </a:rPr>
              <a:t>Para i &lt;- 1 Hasta N Con Paso 1 Hacer</a:t>
            </a:r>
          </a:p>
          <a:p>
            <a:pPr algn="l">
              <a:lnSpc>
                <a:spcPts val="2999"/>
              </a:lnSpc>
            </a:pPr>
            <a:r>
              <a:rPr lang="en-US" sz="2499">
                <a:solidFill>
                  <a:srgbClr val="1A1A1A"/>
                </a:solidFill>
                <a:latin typeface="Consolas"/>
                <a:ea typeface="Consolas"/>
                <a:cs typeface="Consolas"/>
                <a:sym typeface="Consolas"/>
              </a:rPr>
              <a:t>   Si notas(i) &gt;= 61 Entonces</a:t>
            </a:r>
          </a:p>
          <a:p>
            <a:pPr algn="l">
              <a:lnSpc>
                <a:spcPts val="2999"/>
              </a:lnSpc>
            </a:pPr>
            <a:r>
              <a:rPr lang="en-US" sz="2499">
                <a:solidFill>
                  <a:srgbClr val="1A1A1A"/>
                </a:solidFill>
                <a:latin typeface="Consolas"/>
                <a:ea typeface="Consolas"/>
                <a:cs typeface="Consolas"/>
                <a:sym typeface="Consolas"/>
              </a:rPr>
              <a:t>      Escribir "Estudiante ", i, ": APROBADO (", notas(i), ")"</a:t>
            </a:r>
          </a:p>
          <a:p>
            <a:pPr algn="l">
              <a:lnSpc>
                <a:spcPts val="2999"/>
              </a:lnSpc>
            </a:pPr>
            <a:r>
              <a:rPr lang="en-US" sz="2499">
                <a:solidFill>
                  <a:srgbClr val="1A1A1A"/>
                </a:solidFill>
                <a:latin typeface="Consolas"/>
                <a:ea typeface="Consolas"/>
                <a:cs typeface="Consolas"/>
                <a:sym typeface="Consolas"/>
              </a:rPr>
              <a:t>      aprobados &lt;- aprobados + 1</a:t>
            </a:r>
          </a:p>
          <a:p>
            <a:pPr algn="l">
              <a:lnSpc>
                <a:spcPts val="2999"/>
              </a:lnSpc>
            </a:pPr>
            <a:r>
              <a:rPr lang="en-US" sz="2499">
                <a:solidFill>
                  <a:srgbClr val="1A1A1A"/>
                </a:solidFill>
                <a:latin typeface="Consolas"/>
                <a:ea typeface="Consolas"/>
                <a:cs typeface="Consolas"/>
                <a:sym typeface="Consolas"/>
              </a:rPr>
              <a:t>   SiNo</a:t>
            </a:r>
          </a:p>
          <a:p>
            <a:pPr algn="l">
              <a:lnSpc>
                <a:spcPts val="2999"/>
              </a:lnSpc>
            </a:pPr>
            <a:r>
              <a:rPr lang="en-US" sz="2499">
                <a:solidFill>
                  <a:srgbClr val="1A1A1A"/>
                </a:solidFill>
                <a:latin typeface="Consolas"/>
                <a:ea typeface="Consolas"/>
                <a:cs typeface="Consolas"/>
                <a:sym typeface="Consolas"/>
              </a:rPr>
              <a:t>      Escribir "Estudiante ", i, ": REPROBADO (", notas(i), ")"</a:t>
            </a:r>
          </a:p>
          <a:p>
            <a:pPr algn="l">
              <a:lnSpc>
                <a:spcPts val="2999"/>
              </a:lnSpc>
            </a:pPr>
            <a:r>
              <a:rPr lang="en-US" sz="2499">
                <a:solidFill>
                  <a:srgbClr val="1A1A1A"/>
                </a:solidFill>
                <a:latin typeface="Consolas"/>
                <a:ea typeface="Consolas"/>
                <a:cs typeface="Consolas"/>
                <a:sym typeface="Consolas"/>
              </a:rPr>
              <a:t>      reprobados &lt;- reprobados + 1</a:t>
            </a:r>
          </a:p>
          <a:p>
            <a:pPr algn="l">
              <a:lnSpc>
                <a:spcPts val="2999"/>
              </a:lnSpc>
            </a:pPr>
            <a:r>
              <a:rPr lang="en-US" sz="2499">
                <a:solidFill>
                  <a:srgbClr val="1A1A1A"/>
                </a:solidFill>
                <a:latin typeface="Consolas"/>
                <a:ea typeface="Consolas"/>
                <a:cs typeface="Consolas"/>
                <a:sym typeface="Consolas"/>
              </a:rPr>
              <a:t>   FinSi</a:t>
            </a:r>
          </a:p>
          <a:p>
            <a:pPr algn="l">
              <a:lnSpc>
                <a:spcPts val="2999"/>
              </a:lnSpc>
            </a:pPr>
            <a:r>
              <a:rPr lang="en-US" sz="2499">
                <a:solidFill>
                  <a:srgbClr val="1A1A1A"/>
                </a:solidFill>
                <a:latin typeface="Consolas"/>
                <a:ea typeface="Consolas"/>
                <a:cs typeface="Consolas"/>
                <a:sym typeface="Consolas"/>
              </a:rPr>
              <a:t>FinPara</a:t>
            </a:r>
          </a:p>
          <a:p>
            <a:pPr algn="l">
              <a:lnSpc>
                <a:spcPts val="2999"/>
              </a:lnSpc>
            </a:pPr>
          </a:p>
          <a:p>
            <a:pPr algn="l">
              <a:lnSpc>
                <a:spcPts val="2999"/>
              </a:lnSpc>
            </a:pPr>
            <a:r>
              <a:rPr lang="en-US" sz="2499">
                <a:solidFill>
                  <a:srgbClr val="1A1A1A"/>
                </a:solidFill>
                <a:latin typeface="Consolas"/>
                <a:ea typeface="Consolas"/>
                <a:cs typeface="Consolas"/>
                <a:sym typeface="Consolas"/>
              </a:rPr>
              <a:t>Escribir "Total aprobados: ",  aprobados</a:t>
            </a:r>
          </a:p>
          <a:p>
            <a:pPr algn="l">
              <a:lnSpc>
                <a:spcPts val="2999"/>
              </a:lnSpc>
            </a:pPr>
            <a:r>
              <a:rPr lang="en-US" sz="2499">
                <a:solidFill>
                  <a:srgbClr val="1A1A1A"/>
                </a:solidFill>
                <a:latin typeface="Consolas"/>
                <a:ea typeface="Consolas"/>
                <a:cs typeface="Consolas"/>
                <a:sym typeface="Consolas"/>
              </a:rPr>
              <a:t>Escribir "Total reprobados: ", reprobados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38533"/>
            <a:ext cx="16230600" cy="1005840"/>
            <a:chOff x="0" y="0"/>
            <a:chExt cx="21640800" cy="1341120"/>
          </a:xfrm>
        </p:grpSpPr>
        <p:sp>
          <p:nvSpPr>
            <p:cNvPr name="Freeform 3" id="3"/>
            <p:cNvSpPr/>
            <p:nvPr/>
          </p:nvSpPr>
          <p:spPr>
            <a:xfrm flipH="false" flipV="false" rot="0">
              <a:off x="0" y="0"/>
              <a:ext cx="21640800" cy="1341120"/>
            </a:xfrm>
            <a:custGeom>
              <a:avLst/>
              <a:gdLst/>
              <a:ahLst/>
              <a:cxnLst/>
              <a:rect r="r" b="b" t="t" l="l"/>
              <a:pathLst>
                <a:path h="1341120" w="21640800">
                  <a:moveTo>
                    <a:pt x="0" y="0"/>
                  </a:moveTo>
                  <a:lnTo>
                    <a:pt x="21640800" y="0"/>
                  </a:lnTo>
                  <a:lnTo>
                    <a:pt x="21640800" y="1341120"/>
                  </a:lnTo>
                  <a:lnTo>
                    <a:pt x="0" y="1341120"/>
                  </a:lnTo>
                  <a:close/>
                </a:path>
              </a:pathLst>
            </a:custGeom>
            <a:blipFill>
              <a:blip r:embed="rId3">
                <a:alphaModFix amt="0"/>
              </a:blip>
              <a:stretch>
                <a:fillRect l="0" t="-268846" r="-1408" b="-268846"/>
              </a:stretch>
            </a:blipFill>
          </p:spPr>
        </p:sp>
        <p:sp>
          <p:nvSpPr>
            <p:cNvPr name="TextBox 4" id="4"/>
            <p:cNvSpPr txBox="true"/>
            <p:nvPr/>
          </p:nvSpPr>
          <p:spPr>
            <a:xfrm>
              <a:off x="0" y="-85725"/>
              <a:ext cx="216408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Declarar y Llenar un Vector en PSeInt</a:t>
              </a:r>
            </a:p>
          </p:txBody>
        </p:sp>
      </p:grpSp>
      <p:graphicFrame>
        <p:nvGraphicFramePr>
          <p:cNvPr name="Table 5" id="5"/>
          <p:cNvGraphicFramePr>
            <a:graphicFrameLocks noGrp="true"/>
          </p:cNvGraphicFramePr>
          <p:nvPr/>
        </p:nvGraphicFramePr>
        <p:xfrm>
          <a:off x="1028700" y="3992806"/>
          <a:ext cx="16205553" cy="2590800"/>
        </p:xfrm>
        <a:graphic>
          <a:graphicData uri="http://schemas.openxmlformats.org/drawingml/2006/table">
            <a:tbl>
              <a:tblPr/>
              <a:tblGrid>
                <a:gridCol w="2904114"/>
                <a:gridCol w="8077997"/>
                <a:gridCol w="5223441"/>
              </a:tblGrid>
              <a:tr h="863600">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Instrucción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Qué hace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Ejemplo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863600">
                <a:tc>
                  <a:txBody>
                    <a:bodyPr anchor="t" rtlCol="false"/>
                    <a:lstStyle/>
                    <a:p>
                      <a:pPr algn="l">
                        <a:lnSpc>
                          <a:spcPts val="3119"/>
                        </a:lnSpc>
                        <a:defRPr/>
                      </a:pPr>
                      <a:r>
                        <a:rPr lang="en-US" sz="2599">
                          <a:solidFill>
                            <a:srgbClr val="000000"/>
                          </a:solidFill>
                          <a:latin typeface="Calibri (MS)"/>
                          <a:ea typeface="Calibri (MS)"/>
                          <a:cs typeface="Calibri (MS)"/>
                          <a:sym typeface="Calibri (MS)"/>
                        </a:rPr>
                        <a:t>Definir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Declara el tipo de dato que almacenará el arreglo.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Definir notas Como Real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863600">
                <a:tc>
                  <a:txBody>
                    <a:bodyPr anchor="t" rtlCol="false"/>
                    <a:lstStyle/>
                    <a:p>
                      <a:pPr algn="l">
                        <a:lnSpc>
                          <a:spcPts val="3119"/>
                        </a:lnSpc>
                        <a:defRPr/>
                      </a:pPr>
                      <a:r>
                        <a:rPr lang="en-US" sz="2599">
                          <a:solidFill>
                            <a:srgbClr val="000000"/>
                          </a:solidFill>
                          <a:latin typeface="Calibri (MS)"/>
                          <a:ea typeface="Calibri (MS)"/>
                          <a:cs typeface="Calibri (MS)"/>
                          <a:sym typeface="Calibri (MS)"/>
                        </a:rPr>
                        <a:t>Dimensionar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Reserva el espacio para N posiciones en memoria.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Dimensionar notas[5]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09982" y="942975"/>
            <a:ext cx="16149318" cy="628650"/>
          </a:xfrm>
          <a:prstGeom prst="rect">
            <a:avLst/>
          </a:prstGeom>
        </p:spPr>
        <p:txBody>
          <a:bodyPr anchor="t" rtlCol="false" tIns="0" lIns="0" bIns="0" rIns="0">
            <a:spAutoFit/>
          </a:bodyPr>
          <a:lstStyle/>
          <a:p>
            <a:pPr algn="l">
              <a:lnSpc>
                <a:spcPts val="4319"/>
              </a:lnSpc>
            </a:pPr>
            <a:r>
              <a:rPr lang="en-US" sz="3599" b="true">
                <a:solidFill>
                  <a:srgbClr val="1A1A1A"/>
                </a:solidFill>
                <a:latin typeface="Calibri (MS) Bold"/>
                <a:ea typeface="Calibri (MS) Bold"/>
                <a:cs typeface="Calibri (MS) Bold"/>
                <a:sym typeface="Calibri (MS) Bold"/>
              </a:rPr>
              <a:t>Llenar el vector con un ciclo Para:</a:t>
            </a:r>
          </a:p>
        </p:txBody>
      </p:sp>
      <p:grpSp>
        <p:nvGrpSpPr>
          <p:cNvPr name="Group 3" id="3"/>
          <p:cNvGrpSpPr/>
          <p:nvPr/>
        </p:nvGrpSpPr>
        <p:grpSpPr>
          <a:xfrm rot="0">
            <a:off x="901698" y="2132715"/>
            <a:ext cx="16484603" cy="6773014"/>
            <a:chOff x="0" y="0"/>
            <a:chExt cx="21979471" cy="9030686"/>
          </a:xfrm>
        </p:grpSpPr>
        <p:sp>
          <p:nvSpPr>
            <p:cNvPr name="Freeform 4" id="4"/>
            <p:cNvSpPr/>
            <p:nvPr/>
          </p:nvSpPr>
          <p:spPr>
            <a:xfrm flipH="false" flipV="false" rot="0">
              <a:off x="16891" y="30310"/>
              <a:ext cx="21945599" cy="8969906"/>
            </a:xfrm>
            <a:custGeom>
              <a:avLst/>
              <a:gdLst/>
              <a:ahLst/>
              <a:cxnLst/>
              <a:rect r="r" b="b" t="t" l="l"/>
              <a:pathLst>
                <a:path h="8969906" w="21945599">
                  <a:moveTo>
                    <a:pt x="0" y="0"/>
                  </a:moveTo>
                  <a:lnTo>
                    <a:pt x="21945599" y="0"/>
                  </a:lnTo>
                  <a:lnTo>
                    <a:pt x="21945599" y="8969906"/>
                  </a:lnTo>
                  <a:lnTo>
                    <a:pt x="0" y="8969906"/>
                  </a:lnTo>
                  <a:close/>
                </a:path>
              </a:pathLst>
            </a:custGeom>
            <a:solidFill>
              <a:srgbClr val="F5F5F5"/>
            </a:solidFill>
          </p:spPr>
        </p:sp>
        <p:sp>
          <p:nvSpPr>
            <p:cNvPr name="Freeform 5" id="5"/>
            <p:cNvSpPr/>
            <p:nvPr/>
          </p:nvSpPr>
          <p:spPr>
            <a:xfrm flipH="false" flipV="false" rot="0">
              <a:off x="0" y="0"/>
              <a:ext cx="21979382" cy="9030526"/>
            </a:xfrm>
            <a:custGeom>
              <a:avLst/>
              <a:gdLst/>
              <a:ahLst/>
              <a:cxnLst/>
              <a:rect r="r" b="b" t="t" l="l"/>
              <a:pathLst>
                <a:path h="9030526" w="21979382">
                  <a:moveTo>
                    <a:pt x="16891" y="0"/>
                  </a:moveTo>
                  <a:lnTo>
                    <a:pt x="21962490" y="0"/>
                  </a:lnTo>
                  <a:cubicBezTo>
                    <a:pt x="21971890" y="0"/>
                    <a:pt x="21979382" y="13674"/>
                    <a:pt x="21979382" y="30310"/>
                  </a:cubicBezTo>
                  <a:lnTo>
                    <a:pt x="21979382" y="9000216"/>
                  </a:lnTo>
                  <a:cubicBezTo>
                    <a:pt x="21979382" y="9017081"/>
                    <a:pt x="21971763" y="9030526"/>
                    <a:pt x="21962490" y="9030526"/>
                  </a:cubicBezTo>
                  <a:lnTo>
                    <a:pt x="16891" y="9030526"/>
                  </a:lnTo>
                  <a:cubicBezTo>
                    <a:pt x="7493" y="9030526"/>
                    <a:pt x="0" y="9016853"/>
                    <a:pt x="0" y="9000216"/>
                  </a:cubicBezTo>
                  <a:lnTo>
                    <a:pt x="0" y="30310"/>
                  </a:lnTo>
                  <a:cubicBezTo>
                    <a:pt x="0" y="13674"/>
                    <a:pt x="7620" y="0"/>
                    <a:pt x="16891" y="0"/>
                  </a:cubicBezTo>
                  <a:moveTo>
                    <a:pt x="16891" y="60848"/>
                  </a:moveTo>
                  <a:lnTo>
                    <a:pt x="16891" y="30310"/>
                  </a:lnTo>
                  <a:lnTo>
                    <a:pt x="33909" y="30310"/>
                  </a:lnTo>
                  <a:lnTo>
                    <a:pt x="33909" y="9000216"/>
                  </a:lnTo>
                  <a:lnTo>
                    <a:pt x="16891" y="9000216"/>
                  </a:lnTo>
                  <a:lnTo>
                    <a:pt x="16891" y="8969907"/>
                  </a:lnTo>
                  <a:lnTo>
                    <a:pt x="21962490" y="8969907"/>
                  </a:lnTo>
                  <a:lnTo>
                    <a:pt x="21962490" y="9000216"/>
                  </a:lnTo>
                  <a:lnTo>
                    <a:pt x="21945600" y="9000216"/>
                  </a:lnTo>
                  <a:lnTo>
                    <a:pt x="21945600" y="30310"/>
                  </a:lnTo>
                  <a:lnTo>
                    <a:pt x="21962490" y="30310"/>
                  </a:lnTo>
                  <a:lnTo>
                    <a:pt x="21962490" y="60848"/>
                  </a:lnTo>
                  <a:lnTo>
                    <a:pt x="16891" y="60848"/>
                  </a:lnTo>
                  <a:close/>
                </a:path>
              </a:pathLst>
            </a:custGeom>
            <a:solidFill>
              <a:srgbClr val="DDDDDD"/>
            </a:solidFill>
          </p:spPr>
        </p:sp>
      </p:grpSp>
      <p:sp>
        <p:nvSpPr>
          <p:cNvPr name="TextBox 6" id="6"/>
          <p:cNvSpPr txBox="true"/>
          <p:nvPr/>
        </p:nvSpPr>
        <p:spPr>
          <a:xfrm rot="0">
            <a:off x="1280155" y="2316862"/>
            <a:ext cx="15727680" cy="6191250"/>
          </a:xfrm>
          <a:prstGeom prst="rect">
            <a:avLst/>
          </a:prstGeom>
        </p:spPr>
        <p:txBody>
          <a:bodyPr anchor="t" rtlCol="false" tIns="0" lIns="0" bIns="0" rIns="0">
            <a:spAutoFit/>
          </a:bodyPr>
          <a:lstStyle/>
          <a:p>
            <a:pPr algn="l">
              <a:lnSpc>
                <a:spcPts val="3479"/>
              </a:lnSpc>
            </a:pPr>
            <a:r>
              <a:rPr lang="en-US" sz="2899">
                <a:solidFill>
                  <a:srgbClr val="1A1A1A"/>
                </a:solidFill>
                <a:latin typeface="Consolas"/>
                <a:ea typeface="Consolas"/>
                <a:cs typeface="Consolas"/>
                <a:sym typeface="Consolas"/>
              </a:rPr>
              <a:t>Proceso LlenarVector</a:t>
            </a:r>
          </a:p>
          <a:p>
            <a:pPr algn="l">
              <a:lnSpc>
                <a:spcPts val="3479"/>
              </a:lnSpc>
            </a:pPr>
            <a:r>
              <a:rPr lang="en-US" sz="2899">
                <a:solidFill>
                  <a:srgbClr val="1A1A1A"/>
                </a:solidFill>
                <a:latin typeface="Consolas"/>
                <a:ea typeface="Consolas"/>
                <a:cs typeface="Consolas"/>
                <a:sym typeface="Consolas"/>
              </a:rPr>
              <a:t>   Definir notas Como Real</a:t>
            </a:r>
          </a:p>
          <a:p>
            <a:pPr algn="l">
              <a:lnSpc>
                <a:spcPts val="3479"/>
              </a:lnSpc>
            </a:pPr>
            <a:r>
              <a:rPr lang="en-US" sz="2899">
                <a:solidFill>
                  <a:srgbClr val="1A1A1A"/>
                </a:solidFill>
                <a:latin typeface="Consolas"/>
                <a:ea typeface="Consolas"/>
                <a:cs typeface="Consolas"/>
                <a:sym typeface="Consolas"/>
              </a:rPr>
              <a:t>   Definir i, N  Como Entero</a:t>
            </a:r>
          </a:p>
          <a:p>
            <a:pPr algn="l">
              <a:lnSpc>
                <a:spcPts val="3479"/>
              </a:lnSpc>
            </a:pPr>
            <a:r>
              <a:rPr lang="en-US" sz="2899">
                <a:solidFill>
                  <a:srgbClr val="1A1A1A"/>
                </a:solidFill>
                <a:latin typeface="Consolas"/>
                <a:ea typeface="Consolas"/>
                <a:cs typeface="Consolas"/>
                <a:sym typeface="Consolas"/>
              </a:rPr>
              <a:t>   Dimensionar notas[10]     // reservar espacio para hasta 10 notas</a:t>
            </a:r>
          </a:p>
          <a:p>
            <a:pPr algn="l">
              <a:lnSpc>
                <a:spcPts val="3479"/>
              </a:lnSpc>
            </a:pPr>
          </a:p>
          <a:p>
            <a:pPr algn="l">
              <a:lnSpc>
                <a:spcPts val="3479"/>
              </a:lnSpc>
            </a:pPr>
            <a:r>
              <a:rPr lang="en-US" sz="2899">
                <a:solidFill>
                  <a:srgbClr val="1A1A1A"/>
                </a:solidFill>
                <a:latin typeface="Consolas"/>
                <a:ea typeface="Consolas"/>
                <a:cs typeface="Consolas"/>
                <a:sym typeface="Consolas"/>
              </a:rPr>
              <a:t>   N &lt;- 5                  // en esta ejecución usaremos 5 posiciones</a:t>
            </a:r>
          </a:p>
          <a:p>
            <a:pPr algn="l">
              <a:lnSpc>
                <a:spcPts val="3479"/>
              </a:lnSpc>
            </a:pPr>
          </a:p>
          <a:p>
            <a:pPr algn="l">
              <a:lnSpc>
                <a:spcPts val="3479"/>
              </a:lnSpc>
            </a:pPr>
            <a:r>
              <a:rPr lang="en-US" sz="2899">
                <a:solidFill>
                  <a:srgbClr val="1A1A1A"/>
                </a:solidFill>
                <a:latin typeface="Consolas"/>
                <a:ea typeface="Consolas"/>
                <a:cs typeface="Consolas"/>
                <a:sym typeface="Consolas"/>
              </a:rPr>
              <a:t>   Para i &lt;- 1 Hasta N Con Paso 1 Hacer</a:t>
            </a:r>
          </a:p>
          <a:p>
            <a:pPr algn="l">
              <a:lnSpc>
                <a:spcPts val="3479"/>
              </a:lnSpc>
            </a:pPr>
            <a:r>
              <a:rPr lang="en-US" sz="2899">
                <a:solidFill>
                  <a:srgbClr val="1A1A1A"/>
                </a:solidFill>
                <a:latin typeface="Consolas"/>
                <a:ea typeface="Consolas"/>
                <a:cs typeface="Consolas"/>
                <a:sym typeface="Consolas"/>
              </a:rPr>
              <a:t>      Escribir "Ingrese la nota ", i, " de ", N, ":"</a:t>
            </a:r>
          </a:p>
          <a:p>
            <a:pPr algn="l">
              <a:lnSpc>
                <a:spcPts val="3479"/>
              </a:lnSpc>
            </a:pPr>
            <a:r>
              <a:rPr lang="en-US" sz="2899">
                <a:solidFill>
                  <a:srgbClr val="1A1A1A"/>
                </a:solidFill>
                <a:latin typeface="Consolas"/>
                <a:ea typeface="Consolas"/>
                <a:cs typeface="Consolas"/>
                <a:sym typeface="Consolas"/>
              </a:rPr>
              <a:t>      Leer notas[i]        // notas(i) accede a la posición i del arreglo</a:t>
            </a:r>
          </a:p>
          <a:p>
            <a:pPr algn="l">
              <a:lnSpc>
                <a:spcPts val="3479"/>
              </a:lnSpc>
            </a:pPr>
            <a:r>
              <a:rPr lang="en-US" sz="2899">
                <a:solidFill>
                  <a:srgbClr val="1A1A1A"/>
                </a:solidFill>
                <a:latin typeface="Consolas"/>
                <a:ea typeface="Consolas"/>
                <a:cs typeface="Consolas"/>
                <a:sym typeface="Consolas"/>
              </a:rPr>
              <a:t>   FinPara</a:t>
            </a:r>
          </a:p>
          <a:p>
            <a:pPr algn="l">
              <a:lnSpc>
                <a:spcPts val="3479"/>
              </a:lnSpc>
            </a:pPr>
          </a:p>
          <a:p>
            <a:pPr algn="l">
              <a:lnSpc>
                <a:spcPts val="3479"/>
              </a:lnSpc>
            </a:pPr>
            <a:r>
              <a:rPr lang="en-US" sz="2899">
                <a:solidFill>
                  <a:srgbClr val="1A1A1A"/>
                </a:solidFill>
                <a:latin typeface="Consolas"/>
                <a:ea typeface="Consolas"/>
                <a:cs typeface="Consolas"/>
                <a:sym typeface="Consolas"/>
              </a:rPr>
              <a:t>   Escribir "Vector llenado correctamente."</a:t>
            </a:r>
          </a:p>
          <a:p>
            <a:pPr algn="l">
              <a:lnSpc>
                <a:spcPts val="3479"/>
              </a:lnSpc>
            </a:pPr>
            <a:r>
              <a:rPr lang="en-US" sz="2899">
                <a:solidFill>
                  <a:srgbClr val="1A1A1A"/>
                </a:solidFill>
                <a:latin typeface="Consolas"/>
                <a:ea typeface="Consolas"/>
                <a:cs typeface="Consolas"/>
                <a:sym typeface="Consolas"/>
              </a:rPr>
              <a:t>FinProceso</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32837" y="2351011"/>
            <a:ext cx="16276320" cy="704850"/>
          </a:xfrm>
          <a:prstGeom prst="rect">
            <a:avLst/>
          </a:prstGeom>
        </p:spPr>
        <p:txBody>
          <a:bodyPr anchor="t" rtlCol="false" tIns="0" lIns="0" bIns="0" rIns="0">
            <a:spAutoFit/>
          </a:bodyPr>
          <a:lstStyle/>
          <a:p>
            <a:pPr algn="l">
              <a:lnSpc>
                <a:spcPts val="4919"/>
              </a:lnSpc>
            </a:pPr>
            <a:r>
              <a:rPr lang="en-US" sz="4099" b="true">
                <a:solidFill>
                  <a:srgbClr val="1A1A1A"/>
                </a:solidFill>
                <a:latin typeface="Calibri (MS) Bold"/>
                <a:ea typeface="Calibri (MS) Bold"/>
                <a:cs typeface="Calibri (MS) Bold"/>
                <a:sym typeface="Calibri (MS) Bold"/>
              </a:rPr>
              <a:t>¿Qué ocurre en memoria?</a:t>
            </a:r>
          </a:p>
        </p:txBody>
      </p:sp>
      <p:sp>
        <p:nvSpPr>
          <p:cNvPr name="TextBox 3" id="3"/>
          <p:cNvSpPr txBox="true"/>
          <p:nvPr/>
        </p:nvSpPr>
        <p:spPr>
          <a:xfrm rot="0">
            <a:off x="1132837" y="3742570"/>
            <a:ext cx="7132320" cy="590550"/>
          </a:xfrm>
          <a:prstGeom prst="rect">
            <a:avLst/>
          </a:prstGeom>
        </p:spPr>
        <p:txBody>
          <a:bodyPr anchor="t" rtlCol="false" tIns="0" lIns="0" bIns="0" rIns="0">
            <a:spAutoFit/>
          </a:bodyPr>
          <a:lstStyle/>
          <a:p>
            <a:pPr algn="l">
              <a:lnSpc>
                <a:spcPts val="4199"/>
              </a:lnSpc>
            </a:pPr>
            <a:r>
              <a:rPr lang="en-US" sz="3499">
                <a:solidFill>
                  <a:srgbClr val="888888"/>
                </a:solidFill>
                <a:latin typeface="Calibri (MS)"/>
                <a:ea typeface="Calibri (MS)"/>
                <a:cs typeface="Calibri (MS)"/>
                <a:sym typeface="Calibri (MS)"/>
              </a:rPr>
              <a:t>Antes del ciclo (todo vacío):</a:t>
            </a:r>
          </a:p>
        </p:txBody>
      </p:sp>
      <p:grpSp>
        <p:nvGrpSpPr>
          <p:cNvPr name="Group 4" id="4"/>
          <p:cNvGrpSpPr/>
          <p:nvPr/>
        </p:nvGrpSpPr>
        <p:grpSpPr>
          <a:xfrm rot="0">
            <a:off x="1028700" y="5086504"/>
            <a:ext cx="1579883" cy="793499"/>
            <a:chOff x="0" y="0"/>
            <a:chExt cx="2106511" cy="1057999"/>
          </a:xfrm>
        </p:grpSpPr>
        <p:sp>
          <p:nvSpPr>
            <p:cNvPr name="Freeform 5" id="5"/>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6" id="6"/>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7" id="7"/>
          <p:cNvGrpSpPr/>
          <p:nvPr/>
        </p:nvGrpSpPr>
        <p:grpSpPr>
          <a:xfrm rot="0">
            <a:off x="1041397" y="5099201"/>
            <a:ext cx="1554480" cy="768096"/>
            <a:chOff x="0" y="0"/>
            <a:chExt cx="2072640" cy="1024128"/>
          </a:xfrm>
        </p:grpSpPr>
        <p:sp>
          <p:nvSpPr>
            <p:cNvPr name="Freeform 8" id="8"/>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9" id="9"/>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grpSp>
        <p:nvGrpSpPr>
          <p:cNvPr name="Group 10" id="10"/>
          <p:cNvGrpSpPr/>
          <p:nvPr/>
        </p:nvGrpSpPr>
        <p:grpSpPr>
          <a:xfrm rot="0">
            <a:off x="2583180" y="5086504"/>
            <a:ext cx="1579883" cy="793499"/>
            <a:chOff x="0" y="0"/>
            <a:chExt cx="2106511" cy="1057999"/>
          </a:xfrm>
        </p:grpSpPr>
        <p:sp>
          <p:nvSpPr>
            <p:cNvPr name="Freeform 11" id="11"/>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12" id="12"/>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13" id="13"/>
          <p:cNvGrpSpPr/>
          <p:nvPr/>
        </p:nvGrpSpPr>
        <p:grpSpPr>
          <a:xfrm rot="0">
            <a:off x="2595877" y="5099201"/>
            <a:ext cx="1554480" cy="768096"/>
            <a:chOff x="0" y="0"/>
            <a:chExt cx="2072640" cy="1024128"/>
          </a:xfrm>
        </p:grpSpPr>
        <p:sp>
          <p:nvSpPr>
            <p:cNvPr name="Freeform 14" id="14"/>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15" id="15"/>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grpSp>
        <p:nvGrpSpPr>
          <p:cNvPr name="Group 16" id="16"/>
          <p:cNvGrpSpPr/>
          <p:nvPr/>
        </p:nvGrpSpPr>
        <p:grpSpPr>
          <a:xfrm rot="0">
            <a:off x="4137660" y="5086504"/>
            <a:ext cx="1579883" cy="793499"/>
            <a:chOff x="0" y="0"/>
            <a:chExt cx="2106511" cy="1057999"/>
          </a:xfrm>
        </p:grpSpPr>
        <p:sp>
          <p:nvSpPr>
            <p:cNvPr name="Freeform 17" id="17"/>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18" id="18"/>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19" id="19"/>
          <p:cNvGrpSpPr/>
          <p:nvPr/>
        </p:nvGrpSpPr>
        <p:grpSpPr>
          <a:xfrm rot="0">
            <a:off x="4150357" y="5099201"/>
            <a:ext cx="1554480" cy="768096"/>
            <a:chOff x="0" y="0"/>
            <a:chExt cx="2072640" cy="1024128"/>
          </a:xfrm>
        </p:grpSpPr>
        <p:sp>
          <p:nvSpPr>
            <p:cNvPr name="Freeform 20" id="20"/>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21" id="21"/>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grpSp>
        <p:nvGrpSpPr>
          <p:cNvPr name="Group 22" id="22"/>
          <p:cNvGrpSpPr/>
          <p:nvPr/>
        </p:nvGrpSpPr>
        <p:grpSpPr>
          <a:xfrm rot="0">
            <a:off x="5692140" y="5086504"/>
            <a:ext cx="1579883" cy="793499"/>
            <a:chOff x="0" y="0"/>
            <a:chExt cx="2106511" cy="1057999"/>
          </a:xfrm>
        </p:grpSpPr>
        <p:sp>
          <p:nvSpPr>
            <p:cNvPr name="Freeform 23" id="23"/>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24" id="24"/>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25" id="25"/>
          <p:cNvGrpSpPr/>
          <p:nvPr/>
        </p:nvGrpSpPr>
        <p:grpSpPr>
          <a:xfrm rot="0">
            <a:off x="5704837" y="5099201"/>
            <a:ext cx="1554480" cy="768096"/>
            <a:chOff x="0" y="0"/>
            <a:chExt cx="2072640" cy="1024128"/>
          </a:xfrm>
        </p:grpSpPr>
        <p:sp>
          <p:nvSpPr>
            <p:cNvPr name="Freeform 26" id="26"/>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27" id="27"/>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grpSp>
        <p:nvGrpSpPr>
          <p:cNvPr name="Group 28" id="28"/>
          <p:cNvGrpSpPr/>
          <p:nvPr/>
        </p:nvGrpSpPr>
        <p:grpSpPr>
          <a:xfrm rot="0">
            <a:off x="7246620" y="5086504"/>
            <a:ext cx="1579883" cy="793499"/>
            <a:chOff x="0" y="0"/>
            <a:chExt cx="2106511" cy="1057999"/>
          </a:xfrm>
        </p:grpSpPr>
        <p:sp>
          <p:nvSpPr>
            <p:cNvPr name="Freeform 29" id="29"/>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30" id="30"/>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31" id="31"/>
          <p:cNvGrpSpPr/>
          <p:nvPr/>
        </p:nvGrpSpPr>
        <p:grpSpPr>
          <a:xfrm rot="0">
            <a:off x="7259317" y="5099201"/>
            <a:ext cx="1554480" cy="768096"/>
            <a:chOff x="0" y="0"/>
            <a:chExt cx="2072640" cy="1024128"/>
          </a:xfrm>
        </p:grpSpPr>
        <p:sp>
          <p:nvSpPr>
            <p:cNvPr name="Freeform 32" id="32"/>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33" id="33"/>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sp>
        <p:nvSpPr>
          <p:cNvPr name="TextBox 34" id="34"/>
          <p:cNvSpPr txBox="true"/>
          <p:nvPr/>
        </p:nvSpPr>
        <p:spPr>
          <a:xfrm rot="0">
            <a:off x="9956797" y="3742570"/>
            <a:ext cx="7132320" cy="590550"/>
          </a:xfrm>
          <a:prstGeom prst="rect">
            <a:avLst/>
          </a:prstGeom>
        </p:spPr>
        <p:txBody>
          <a:bodyPr anchor="t" rtlCol="false" tIns="0" lIns="0" bIns="0" rIns="0">
            <a:spAutoFit/>
          </a:bodyPr>
          <a:lstStyle/>
          <a:p>
            <a:pPr algn="l">
              <a:lnSpc>
                <a:spcPts val="4199"/>
              </a:lnSpc>
            </a:pPr>
            <a:r>
              <a:rPr lang="en-US" sz="3499">
                <a:solidFill>
                  <a:srgbClr val="888888"/>
                </a:solidFill>
                <a:latin typeface="Calibri (MS)"/>
                <a:ea typeface="Calibri (MS)"/>
                <a:cs typeface="Calibri (MS)"/>
                <a:sym typeface="Calibri (MS)"/>
              </a:rPr>
              <a:t>Tras i=1 e i=2:</a:t>
            </a:r>
          </a:p>
        </p:txBody>
      </p:sp>
      <p:grpSp>
        <p:nvGrpSpPr>
          <p:cNvPr name="Group 35" id="35"/>
          <p:cNvGrpSpPr/>
          <p:nvPr/>
        </p:nvGrpSpPr>
        <p:grpSpPr>
          <a:xfrm rot="0">
            <a:off x="9624060" y="5086504"/>
            <a:ext cx="1579883" cy="793499"/>
            <a:chOff x="0" y="0"/>
            <a:chExt cx="2106511" cy="1057999"/>
          </a:xfrm>
        </p:grpSpPr>
        <p:sp>
          <p:nvSpPr>
            <p:cNvPr name="Freeform 36" id="36"/>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37" id="37"/>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38" id="38"/>
          <p:cNvGrpSpPr/>
          <p:nvPr/>
        </p:nvGrpSpPr>
        <p:grpSpPr>
          <a:xfrm rot="0">
            <a:off x="9636757" y="5099201"/>
            <a:ext cx="1554480" cy="768096"/>
            <a:chOff x="0" y="0"/>
            <a:chExt cx="2072640" cy="1024128"/>
          </a:xfrm>
        </p:grpSpPr>
        <p:sp>
          <p:nvSpPr>
            <p:cNvPr name="Freeform 39" id="39"/>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40" id="40"/>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b="true">
                  <a:solidFill>
                    <a:srgbClr val="1A1A1A"/>
                  </a:solidFill>
                  <a:latin typeface="Calibri (MS) Bold"/>
                  <a:ea typeface="Calibri (MS) Bold"/>
                  <a:cs typeface="Calibri (MS) Bold"/>
                  <a:sym typeface="Calibri (MS) Bold"/>
                </a:rPr>
                <a:t>85</a:t>
              </a:r>
            </a:p>
          </p:txBody>
        </p:sp>
      </p:grpSp>
      <p:grpSp>
        <p:nvGrpSpPr>
          <p:cNvPr name="Group 41" id="41"/>
          <p:cNvGrpSpPr/>
          <p:nvPr/>
        </p:nvGrpSpPr>
        <p:grpSpPr>
          <a:xfrm rot="0">
            <a:off x="11178540" y="5086504"/>
            <a:ext cx="1579883" cy="793499"/>
            <a:chOff x="0" y="0"/>
            <a:chExt cx="2106511" cy="1057999"/>
          </a:xfrm>
        </p:grpSpPr>
        <p:sp>
          <p:nvSpPr>
            <p:cNvPr name="Freeform 42" id="42"/>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43" id="43"/>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44" id="44"/>
          <p:cNvGrpSpPr/>
          <p:nvPr/>
        </p:nvGrpSpPr>
        <p:grpSpPr>
          <a:xfrm rot="0">
            <a:off x="11191237" y="5099201"/>
            <a:ext cx="1554480" cy="768096"/>
            <a:chOff x="0" y="0"/>
            <a:chExt cx="2072640" cy="1024128"/>
          </a:xfrm>
        </p:grpSpPr>
        <p:sp>
          <p:nvSpPr>
            <p:cNvPr name="Freeform 45" id="45"/>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46" id="46"/>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b="true">
                  <a:solidFill>
                    <a:srgbClr val="1A1A1A"/>
                  </a:solidFill>
                  <a:latin typeface="Calibri (MS) Bold"/>
                  <a:ea typeface="Calibri (MS) Bold"/>
                  <a:cs typeface="Calibri (MS) Bold"/>
                  <a:sym typeface="Calibri (MS) Bold"/>
                </a:rPr>
                <a:t>72</a:t>
              </a:r>
            </a:p>
          </p:txBody>
        </p:sp>
      </p:grpSp>
      <p:grpSp>
        <p:nvGrpSpPr>
          <p:cNvPr name="Group 47" id="47"/>
          <p:cNvGrpSpPr/>
          <p:nvPr/>
        </p:nvGrpSpPr>
        <p:grpSpPr>
          <a:xfrm rot="0">
            <a:off x="12733020" y="5086504"/>
            <a:ext cx="1579883" cy="793499"/>
            <a:chOff x="0" y="0"/>
            <a:chExt cx="2106511" cy="1057999"/>
          </a:xfrm>
        </p:grpSpPr>
        <p:sp>
          <p:nvSpPr>
            <p:cNvPr name="Freeform 48" id="48"/>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49" id="49"/>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50" id="50"/>
          <p:cNvGrpSpPr/>
          <p:nvPr/>
        </p:nvGrpSpPr>
        <p:grpSpPr>
          <a:xfrm rot="0">
            <a:off x="12745717" y="5099201"/>
            <a:ext cx="1554480" cy="768096"/>
            <a:chOff x="0" y="0"/>
            <a:chExt cx="2072640" cy="1024128"/>
          </a:xfrm>
        </p:grpSpPr>
        <p:sp>
          <p:nvSpPr>
            <p:cNvPr name="Freeform 51" id="51"/>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52" id="52"/>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b="true">
                  <a:solidFill>
                    <a:srgbClr val="1A1A1A"/>
                  </a:solidFill>
                  <a:latin typeface="Calibri (MS) Bold"/>
                  <a:ea typeface="Calibri (MS) Bold"/>
                  <a:cs typeface="Calibri (MS) Bold"/>
                  <a:sym typeface="Calibri (MS) Bold"/>
                </a:rPr>
                <a:t>91</a:t>
              </a:r>
            </a:p>
          </p:txBody>
        </p:sp>
      </p:grpSp>
      <p:grpSp>
        <p:nvGrpSpPr>
          <p:cNvPr name="Group 53" id="53"/>
          <p:cNvGrpSpPr/>
          <p:nvPr/>
        </p:nvGrpSpPr>
        <p:grpSpPr>
          <a:xfrm rot="0">
            <a:off x="14287500" y="5086504"/>
            <a:ext cx="1579883" cy="793499"/>
            <a:chOff x="0" y="0"/>
            <a:chExt cx="2106511" cy="1057999"/>
          </a:xfrm>
        </p:grpSpPr>
        <p:sp>
          <p:nvSpPr>
            <p:cNvPr name="Freeform 54" id="54"/>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55" id="55"/>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56" id="56"/>
          <p:cNvGrpSpPr/>
          <p:nvPr/>
        </p:nvGrpSpPr>
        <p:grpSpPr>
          <a:xfrm rot="0">
            <a:off x="14300197" y="5099201"/>
            <a:ext cx="1554480" cy="768096"/>
            <a:chOff x="0" y="0"/>
            <a:chExt cx="2072640" cy="1024128"/>
          </a:xfrm>
        </p:grpSpPr>
        <p:sp>
          <p:nvSpPr>
            <p:cNvPr name="Freeform 57" id="57"/>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58" id="58"/>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grpSp>
        <p:nvGrpSpPr>
          <p:cNvPr name="Group 59" id="59"/>
          <p:cNvGrpSpPr/>
          <p:nvPr/>
        </p:nvGrpSpPr>
        <p:grpSpPr>
          <a:xfrm rot="0">
            <a:off x="15841980" y="5086504"/>
            <a:ext cx="1579883" cy="793499"/>
            <a:chOff x="0" y="0"/>
            <a:chExt cx="2106511" cy="1057999"/>
          </a:xfrm>
        </p:grpSpPr>
        <p:sp>
          <p:nvSpPr>
            <p:cNvPr name="Freeform 60" id="60"/>
            <p:cNvSpPr/>
            <p:nvPr/>
          </p:nvSpPr>
          <p:spPr>
            <a:xfrm flipH="false" flipV="false" rot="0">
              <a:off x="16891" y="16891"/>
              <a:ext cx="2072640" cy="1024128"/>
            </a:xfrm>
            <a:custGeom>
              <a:avLst/>
              <a:gdLst/>
              <a:ahLst/>
              <a:cxnLst/>
              <a:rect r="r" b="b" t="t" l="l"/>
              <a:pathLst>
                <a:path h="1024128" w="2072640">
                  <a:moveTo>
                    <a:pt x="0" y="0"/>
                  </a:moveTo>
                  <a:lnTo>
                    <a:pt x="2072640" y="0"/>
                  </a:lnTo>
                  <a:lnTo>
                    <a:pt x="2072640" y="1024128"/>
                  </a:lnTo>
                  <a:lnTo>
                    <a:pt x="0" y="1024128"/>
                  </a:lnTo>
                  <a:close/>
                </a:path>
              </a:pathLst>
            </a:custGeom>
            <a:solidFill>
              <a:srgbClr val="F5F5F5"/>
            </a:solidFill>
          </p:spPr>
        </p:sp>
        <p:sp>
          <p:nvSpPr>
            <p:cNvPr name="Freeform 61" id="61"/>
            <p:cNvSpPr/>
            <p:nvPr/>
          </p:nvSpPr>
          <p:spPr>
            <a:xfrm flipH="false" flipV="false" rot="0">
              <a:off x="0" y="0"/>
              <a:ext cx="2106422" cy="1057912"/>
            </a:xfrm>
            <a:custGeom>
              <a:avLst/>
              <a:gdLst/>
              <a:ahLst/>
              <a:cxnLst/>
              <a:rect r="r" b="b" t="t" l="l"/>
              <a:pathLst>
                <a:path h="1057912" w="2106422">
                  <a:moveTo>
                    <a:pt x="16891" y="0"/>
                  </a:moveTo>
                  <a:lnTo>
                    <a:pt x="2089531" y="0"/>
                  </a:lnTo>
                  <a:cubicBezTo>
                    <a:pt x="2098929" y="0"/>
                    <a:pt x="2106422" y="7620"/>
                    <a:pt x="2106422" y="16891"/>
                  </a:cubicBezTo>
                  <a:lnTo>
                    <a:pt x="2106422" y="1041019"/>
                  </a:lnTo>
                  <a:cubicBezTo>
                    <a:pt x="2106422" y="1050417"/>
                    <a:pt x="2098802" y="1057910"/>
                    <a:pt x="20895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089531" y="1024128"/>
                  </a:lnTo>
                  <a:lnTo>
                    <a:pt x="2089531" y="1041019"/>
                  </a:lnTo>
                  <a:lnTo>
                    <a:pt x="2072640" y="1041019"/>
                  </a:lnTo>
                  <a:lnTo>
                    <a:pt x="2072640" y="16891"/>
                  </a:lnTo>
                  <a:lnTo>
                    <a:pt x="2089531" y="16891"/>
                  </a:lnTo>
                  <a:lnTo>
                    <a:pt x="2089531" y="33909"/>
                  </a:lnTo>
                  <a:lnTo>
                    <a:pt x="16891" y="33909"/>
                  </a:lnTo>
                  <a:close/>
                </a:path>
              </a:pathLst>
            </a:custGeom>
            <a:solidFill>
              <a:srgbClr val="1A1A1A"/>
            </a:solidFill>
          </p:spPr>
        </p:sp>
      </p:grpSp>
      <p:grpSp>
        <p:nvGrpSpPr>
          <p:cNvPr name="Group 62" id="62"/>
          <p:cNvGrpSpPr/>
          <p:nvPr/>
        </p:nvGrpSpPr>
        <p:grpSpPr>
          <a:xfrm rot="0">
            <a:off x="15854677" y="5099201"/>
            <a:ext cx="1554480" cy="768096"/>
            <a:chOff x="0" y="0"/>
            <a:chExt cx="2072640" cy="1024128"/>
          </a:xfrm>
        </p:grpSpPr>
        <p:sp>
          <p:nvSpPr>
            <p:cNvPr name="Freeform 63" id="63"/>
            <p:cNvSpPr/>
            <p:nvPr/>
          </p:nvSpPr>
          <p:spPr>
            <a:xfrm flipH="false" flipV="false" rot="0">
              <a:off x="0" y="0"/>
              <a:ext cx="2072640" cy="1024128"/>
            </a:xfrm>
            <a:custGeom>
              <a:avLst/>
              <a:gdLst/>
              <a:ahLst/>
              <a:cxnLst/>
              <a:rect r="r" b="b" t="t" l="l"/>
              <a:pathLst>
                <a:path h="1024128" w="2072640">
                  <a:moveTo>
                    <a:pt x="0" y="0"/>
                  </a:moveTo>
                  <a:lnTo>
                    <a:pt x="2072640" y="0"/>
                  </a:lnTo>
                  <a:lnTo>
                    <a:pt x="2072640" y="1024128"/>
                  </a:lnTo>
                  <a:lnTo>
                    <a:pt x="0" y="1024128"/>
                  </a:lnTo>
                  <a:close/>
                </a:path>
              </a:pathLst>
            </a:custGeom>
            <a:blipFill>
              <a:blip r:embed="rId2">
                <a:alphaModFix amt="0"/>
              </a:blip>
              <a:stretch>
                <a:fillRect l="-13397" t="0" r="-13397" b="0"/>
              </a:stretch>
            </a:blipFill>
          </p:spPr>
        </p:sp>
        <p:sp>
          <p:nvSpPr>
            <p:cNvPr name="TextBox 64" id="64"/>
            <p:cNvSpPr txBox="true"/>
            <p:nvPr/>
          </p:nvSpPr>
          <p:spPr>
            <a:xfrm>
              <a:off x="0" y="-57150"/>
              <a:ext cx="2072640" cy="1081278"/>
            </a:xfrm>
            <a:prstGeom prst="rect">
              <a:avLst/>
            </a:prstGeom>
          </p:spPr>
          <p:txBody>
            <a:bodyPr anchor="ctr" rtlCol="false" tIns="0" lIns="0" bIns="0" rIns="0"/>
            <a:lstStyle/>
            <a:p>
              <a:pPr algn="ctr">
                <a:lnSpc>
                  <a:spcPts val="3599"/>
                </a:lnSpc>
              </a:pPr>
              <a:r>
                <a:rPr lang="en-US" sz="2999">
                  <a:solidFill>
                    <a:srgbClr val="888888"/>
                  </a:solidFill>
                  <a:latin typeface="Calibri (MS)"/>
                  <a:ea typeface="Calibri (MS)"/>
                  <a:cs typeface="Calibri (MS)"/>
                  <a:sym typeface="Calibri (MS)"/>
                </a:rPr>
                <a:t>?</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1397" y="836276"/>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Mostrar y Procesar un Vector</a:t>
              </a:r>
            </a:p>
          </p:txBody>
        </p:sp>
      </p:grpSp>
      <p:sp>
        <p:nvSpPr>
          <p:cNvPr name="TextBox 5" id="5"/>
          <p:cNvSpPr txBox="true"/>
          <p:nvPr/>
        </p:nvSpPr>
        <p:spPr>
          <a:xfrm rot="0">
            <a:off x="1041397" y="2013767"/>
            <a:ext cx="14831753" cy="952500"/>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Una vez llenado el vector, se puede recorrer de nuevo con otro ciclo Para para procesar sus valores. El índice i da acceso a cada posición.</a:t>
            </a:r>
          </a:p>
        </p:txBody>
      </p:sp>
      <p:sp>
        <p:nvSpPr>
          <p:cNvPr name="TextBox 6" id="6"/>
          <p:cNvSpPr txBox="true"/>
          <p:nvPr/>
        </p:nvSpPr>
        <p:spPr>
          <a:xfrm rot="0">
            <a:off x="1103628" y="3355699"/>
            <a:ext cx="8399783" cy="466725"/>
          </a:xfrm>
          <a:prstGeom prst="rect">
            <a:avLst/>
          </a:prstGeom>
        </p:spPr>
        <p:txBody>
          <a:bodyPr anchor="t" rtlCol="false" tIns="0" lIns="0" bIns="0" rIns="0">
            <a:spAutoFit/>
          </a:bodyPr>
          <a:lstStyle/>
          <a:p>
            <a:pPr algn="l">
              <a:lnSpc>
                <a:spcPts val="3240"/>
              </a:lnSpc>
            </a:pPr>
            <a:r>
              <a:rPr lang="en-US" sz="2700" b="true">
                <a:solidFill>
                  <a:srgbClr val="1A1A1A"/>
                </a:solidFill>
                <a:latin typeface="Calibri (MS) Bold"/>
                <a:ea typeface="Calibri (MS) Bold"/>
                <a:cs typeface="Calibri (MS) Bold"/>
                <a:sym typeface="Calibri (MS) Bold"/>
              </a:rPr>
              <a:t>Mostrar todos los elementos + calcular suma y promedio:</a:t>
            </a:r>
          </a:p>
        </p:txBody>
      </p:sp>
      <p:grpSp>
        <p:nvGrpSpPr>
          <p:cNvPr name="Group 7" id="7"/>
          <p:cNvGrpSpPr/>
          <p:nvPr/>
        </p:nvGrpSpPr>
        <p:grpSpPr>
          <a:xfrm rot="0">
            <a:off x="1090932" y="4031088"/>
            <a:ext cx="8115300" cy="4960834"/>
            <a:chOff x="0" y="0"/>
            <a:chExt cx="10820400" cy="6614446"/>
          </a:xfrm>
        </p:grpSpPr>
        <p:sp>
          <p:nvSpPr>
            <p:cNvPr name="Freeform 8" id="8"/>
            <p:cNvSpPr/>
            <p:nvPr/>
          </p:nvSpPr>
          <p:spPr>
            <a:xfrm flipH="false" flipV="false" rot="0">
              <a:off x="16245" y="20511"/>
              <a:ext cx="10787825" cy="6573316"/>
            </a:xfrm>
            <a:custGeom>
              <a:avLst/>
              <a:gdLst/>
              <a:ahLst/>
              <a:cxnLst/>
              <a:rect r="r" b="b" t="t" l="l"/>
              <a:pathLst>
                <a:path h="6573316" w="10787825">
                  <a:moveTo>
                    <a:pt x="0" y="0"/>
                  </a:moveTo>
                  <a:lnTo>
                    <a:pt x="10787825" y="0"/>
                  </a:lnTo>
                  <a:lnTo>
                    <a:pt x="10787825" y="6573316"/>
                  </a:lnTo>
                  <a:lnTo>
                    <a:pt x="0" y="6573316"/>
                  </a:lnTo>
                  <a:close/>
                </a:path>
              </a:pathLst>
            </a:custGeom>
            <a:solidFill>
              <a:srgbClr val="F5F5F5"/>
            </a:solidFill>
          </p:spPr>
        </p:sp>
        <p:sp>
          <p:nvSpPr>
            <p:cNvPr name="Freeform 9" id="9"/>
            <p:cNvSpPr/>
            <p:nvPr/>
          </p:nvSpPr>
          <p:spPr>
            <a:xfrm flipH="false" flipV="false" rot="0">
              <a:off x="0" y="0"/>
              <a:ext cx="10820314" cy="6614338"/>
            </a:xfrm>
            <a:custGeom>
              <a:avLst/>
              <a:gdLst/>
              <a:ahLst/>
              <a:cxnLst/>
              <a:rect r="r" b="b" t="t" l="l"/>
              <a:pathLst>
                <a:path h="6614338" w="10820314">
                  <a:moveTo>
                    <a:pt x="16245" y="0"/>
                  </a:moveTo>
                  <a:lnTo>
                    <a:pt x="10804070" y="0"/>
                  </a:lnTo>
                  <a:cubicBezTo>
                    <a:pt x="10813108" y="0"/>
                    <a:pt x="10820314" y="9253"/>
                    <a:pt x="10820314" y="20511"/>
                  </a:cubicBezTo>
                  <a:lnTo>
                    <a:pt x="10820314" y="6593827"/>
                  </a:lnTo>
                  <a:cubicBezTo>
                    <a:pt x="10820314" y="6605239"/>
                    <a:pt x="10812986" y="6614338"/>
                    <a:pt x="10804070" y="6614338"/>
                  </a:cubicBezTo>
                  <a:lnTo>
                    <a:pt x="16245" y="6614338"/>
                  </a:lnTo>
                  <a:cubicBezTo>
                    <a:pt x="7207" y="6614338"/>
                    <a:pt x="0" y="6605085"/>
                    <a:pt x="0" y="6593827"/>
                  </a:cubicBezTo>
                  <a:lnTo>
                    <a:pt x="0" y="20511"/>
                  </a:lnTo>
                  <a:cubicBezTo>
                    <a:pt x="0" y="9253"/>
                    <a:pt x="7329" y="0"/>
                    <a:pt x="16245" y="0"/>
                  </a:cubicBezTo>
                  <a:moveTo>
                    <a:pt x="16245" y="41176"/>
                  </a:moveTo>
                  <a:lnTo>
                    <a:pt x="16245" y="20511"/>
                  </a:lnTo>
                  <a:lnTo>
                    <a:pt x="32613" y="20511"/>
                  </a:lnTo>
                  <a:lnTo>
                    <a:pt x="32613" y="6593827"/>
                  </a:lnTo>
                  <a:lnTo>
                    <a:pt x="16245" y="6593827"/>
                  </a:lnTo>
                  <a:lnTo>
                    <a:pt x="16245" y="6573317"/>
                  </a:lnTo>
                  <a:lnTo>
                    <a:pt x="10804070" y="6573317"/>
                  </a:lnTo>
                  <a:lnTo>
                    <a:pt x="10804070" y="6593827"/>
                  </a:lnTo>
                  <a:lnTo>
                    <a:pt x="10787824" y="6593827"/>
                  </a:lnTo>
                  <a:lnTo>
                    <a:pt x="10787824" y="20511"/>
                  </a:lnTo>
                  <a:lnTo>
                    <a:pt x="10804070" y="20511"/>
                  </a:lnTo>
                  <a:lnTo>
                    <a:pt x="10804070" y="41176"/>
                  </a:lnTo>
                  <a:lnTo>
                    <a:pt x="16245" y="41176"/>
                  </a:lnTo>
                  <a:close/>
                </a:path>
              </a:pathLst>
            </a:custGeom>
            <a:solidFill>
              <a:srgbClr val="DDDDDD"/>
            </a:solidFill>
          </p:spPr>
        </p:sp>
      </p:grpSp>
      <p:sp>
        <p:nvSpPr>
          <p:cNvPr name="TextBox 10" id="10"/>
          <p:cNvSpPr txBox="true"/>
          <p:nvPr/>
        </p:nvSpPr>
        <p:spPr>
          <a:xfrm rot="0">
            <a:off x="1469388" y="4224760"/>
            <a:ext cx="7680960" cy="4505325"/>
          </a:xfrm>
          <a:prstGeom prst="rect">
            <a:avLst/>
          </a:prstGeom>
        </p:spPr>
        <p:txBody>
          <a:bodyPr anchor="t" rtlCol="false" tIns="0" lIns="0" bIns="0" rIns="0">
            <a:spAutoFit/>
          </a:bodyPr>
          <a:lstStyle/>
          <a:p>
            <a:pPr algn="l">
              <a:lnSpc>
                <a:spcPts val="2759"/>
              </a:lnSpc>
            </a:pPr>
            <a:r>
              <a:rPr lang="en-US" sz="2299">
                <a:solidFill>
                  <a:srgbClr val="1A1A1A"/>
                </a:solidFill>
                <a:latin typeface="Consolas"/>
                <a:ea typeface="Consolas"/>
                <a:cs typeface="Consolas"/>
                <a:sym typeface="Consolas"/>
              </a:rPr>
              <a:t>// Se asume que notas ya está declarado, tiene </a:t>
            </a:r>
          </a:p>
          <a:p>
            <a:pPr algn="l">
              <a:lnSpc>
                <a:spcPts val="2759"/>
              </a:lnSpc>
            </a:pPr>
            <a:r>
              <a:rPr lang="en-US" sz="2299">
                <a:solidFill>
                  <a:srgbClr val="1A1A1A"/>
                </a:solidFill>
                <a:latin typeface="Consolas"/>
                <a:ea typeface="Consolas"/>
                <a:cs typeface="Consolas"/>
                <a:sym typeface="Consolas"/>
              </a:rPr>
              <a:t>// dimension y fue llenado con N valores</a:t>
            </a:r>
          </a:p>
          <a:p>
            <a:pPr algn="l">
              <a:lnSpc>
                <a:spcPts val="2759"/>
              </a:lnSpc>
            </a:pPr>
            <a:r>
              <a:rPr lang="en-US" sz="2299">
                <a:solidFill>
                  <a:srgbClr val="1A1A1A"/>
                </a:solidFill>
                <a:latin typeface="Consolas"/>
                <a:ea typeface="Consolas"/>
                <a:cs typeface="Consolas"/>
                <a:sym typeface="Consolas"/>
              </a:rPr>
              <a:t>Definir suma, promedio Como Real</a:t>
            </a:r>
          </a:p>
          <a:p>
            <a:pPr algn="l">
              <a:lnSpc>
                <a:spcPts val="2759"/>
              </a:lnSpc>
            </a:pPr>
            <a:r>
              <a:rPr lang="en-US" sz="2299">
                <a:solidFill>
                  <a:srgbClr val="1A1A1A"/>
                </a:solidFill>
                <a:latin typeface="Consolas"/>
                <a:ea typeface="Consolas"/>
                <a:cs typeface="Consolas"/>
                <a:sym typeface="Consolas"/>
              </a:rPr>
              <a:t>suma &lt;- 0</a:t>
            </a:r>
          </a:p>
          <a:p>
            <a:pPr algn="l">
              <a:lnSpc>
                <a:spcPts val="2759"/>
              </a:lnSpc>
            </a:pPr>
          </a:p>
          <a:p>
            <a:pPr algn="l">
              <a:lnSpc>
                <a:spcPts val="2759"/>
              </a:lnSpc>
            </a:pPr>
            <a:r>
              <a:rPr lang="en-US" sz="2299">
                <a:solidFill>
                  <a:srgbClr val="1A1A1A"/>
                </a:solidFill>
                <a:latin typeface="Consolas"/>
                <a:ea typeface="Consolas"/>
                <a:cs typeface="Consolas"/>
                <a:sym typeface="Consolas"/>
              </a:rPr>
              <a:t>Para i &lt;- 1 Hasta N Con Paso 1 Hacer</a:t>
            </a:r>
          </a:p>
          <a:p>
            <a:pPr algn="l">
              <a:lnSpc>
                <a:spcPts val="2759"/>
              </a:lnSpc>
            </a:pPr>
            <a:r>
              <a:rPr lang="en-US" sz="2299">
                <a:solidFill>
                  <a:srgbClr val="1A1A1A"/>
                </a:solidFill>
                <a:latin typeface="Consolas"/>
                <a:ea typeface="Consolas"/>
                <a:cs typeface="Consolas"/>
                <a:sym typeface="Consolas"/>
              </a:rPr>
              <a:t>   Escribir "notas(", i, ") = ", notas(i)</a:t>
            </a:r>
          </a:p>
          <a:p>
            <a:pPr algn="l">
              <a:lnSpc>
                <a:spcPts val="2759"/>
              </a:lnSpc>
            </a:pPr>
            <a:r>
              <a:rPr lang="en-US" sz="2299">
                <a:solidFill>
                  <a:srgbClr val="1A1A1A"/>
                </a:solidFill>
                <a:latin typeface="Consolas"/>
                <a:ea typeface="Consolas"/>
                <a:cs typeface="Consolas"/>
                <a:sym typeface="Consolas"/>
              </a:rPr>
              <a:t>   suma &lt;- suma + notas(i)         // acumular</a:t>
            </a:r>
          </a:p>
          <a:p>
            <a:pPr algn="l">
              <a:lnSpc>
                <a:spcPts val="2759"/>
              </a:lnSpc>
            </a:pPr>
            <a:r>
              <a:rPr lang="en-US" sz="2299">
                <a:solidFill>
                  <a:srgbClr val="1A1A1A"/>
                </a:solidFill>
                <a:latin typeface="Consolas"/>
                <a:ea typeface="Consolas"/>
                <a:cs typeface="Consolas"/>
                <a:sym typeface="Consolas"/>
              </a:rPr>
              <a:t>FinPara</a:t>
            </a:r>
          </a:p>
          <a:p>
            <a:pPr algn="l">
              <a:lnSpc>
                <a:spcPts val="2759"/>
              </a:lnSpc>
            </a:pPr>
          </a:p>
          <a:p>
            <a:pPr algn="l">
              <a:lnSpc>
                <a:spcPts val="2759"/>
              </a:lnSpc>
            </a:pPr>
            <a:r>
              <a:rPr lang="en-US" sz="2299">
                <a:solidFill>
                  <a:srgbClr val="1A1A1A"/>
                </a:solidFill>
                <a:latin typeface="Consolas"/>
                <a:ea typeface="Consolas"/>
                <a:cs typeface="Consolas"/>
                <a:sym typeface="Consolas"/>
              </a:rPr>
              <a:t>promedio &lt;- suma / N</a:t>
            </a:r>
          </a:p>
          <a:p>
            <a:pPr algn="l">
              <a:lnSpc>
                <a:spcPts val="2759"/>
              </a:lnSpc>
            </a:pPr>
            <a:r>
              <a:rPr lang="en-US" sz="2299">
                <a:solidFill>
                  <a:srgbClr val="1A1A1A"/>
                </a:solidFill>
                <a:latin typeface="Consolas"/>
                <a:ea typeface="Consolas"/>
                <a:cs typeface="Consolas"/>
                <a:sym typeface="Consolas"/>
              </a:rPr>
              <a:t>Escribir "Suma: ", suma</a:t>
            </a:r>
          </a:p>
          <a:p>
            <a:pPr algn="l">
              <a:lnSpc>
                <a:spcPts val="2759"/>
              </a:lnSpc>
            </a:pPr>
            <a:r>
              <a:rPr lang="en-US" sz="2299">
                <a:solidFill>
                  <a:srgbClr val="1A1A1A"/>
                </a:solidFill>
                <a:latin typeface="Consolas"/>
                <a:ea typeface="Consolas"/>
                <a:cs typeface="Consolas"/>
                <a:sym typeface="Consolas"/>
              </a:rPr>
              <a:t>Escribir "Promedio: ", promedio</a:t>
            </a:r>
          </a:p>
        </p:txBody>
      </p:sp>
      <p:sp>
        <p:nvSpPr>
          <p:cNvPr name="TextBox 11" id="11"/>
          <p:cNvSpPr txBox="true"/>
          <p:nvPr/>
        </p:nvSpPr>
        <p:spPr>
          <a:xfrm rot="0">
            <a:off x="9794319" y="2899592"/>
            <a:ext cx="4668283" cy="485775"/>
          </a:xfrm>
          <a:prstGeom prst="rect">
            <a:avLst/>
          </a:prstGeom>
        </p:spPr>
        <p:txBody>
          <a:bodyPr anchor="t" rtlCol="false" tIns="0" lIns="0" bIns="0" rIns="0">
            <a:spAutoFit/>
          </a:bodyPr>
          <a:lstStyle/>
          <a:p>
            <a:pPr algn="l">
              <a:lnSpc>
                <a:spcPts val="3359"/>
              </a:lnSpc>
            </a:pPr>
            <a:r>
              <a:rPr lang="en-US" sz="2799" b="true">
                <a:solidFill>
                  <a:srgbClr val="1A1A1A"/>
                </a:solidFill>
                <a:latin typeface="Calibri (MS) Bold"/>
                <a:ea typeface="Calibri (MS) Bold"/>
                <a:cs typeface="Calibri (MS) Bold"/>
                <a:sym typeface="Calibri (MS) Bold"/>
              </a:rPr>
              <a:t>Encontrar la nota más alta:</a:t>
            </a:r>
          </a:p>
        </p:txBody>
      </p:sp>
      <p:grpSp>
        <p:nvGrpSpPr>
          <p:cNvPr name="Group 12" id="12"/>
          <p:cNvGrpSpPr/>
          <p:nvPr/>
        </p:nvGrpSpPr>
        <p:grpSpPr>
          <a:xfrm rot="0">
            <a:off x="9694017" y="3565457"/>
            <a:ext cx="7415502" cy="5595568"/>
            <a:chOff x="0" y="0"/>
            <a:chExt cx="9887336" cy="7460758"/>
          </a:xfrm>
        </p:grpSpPr>
        <p:sp>
          <p:nvSpPr>
            <p:cNvPr name="Freeform 13" id="13"/>
            <p:cNvSpPr/>
            <p:nvPr/>
          </p:nvSpPr>
          <p:spPr>
            <a:xfrm flipH="false" flipV="false" rot="0">
              <a:off x="15517" y="23135"/>
              <a:ext cx="9856220" cy="7414366"/>
            </a:xfrm>
            <a:custGeom>
              <a:avLst/>
              <a:gdLst/>
              <a:ahLst/>
              <a:cxnLst/>
              <a:rect r="r" b="b" t="t" l="l"/>
              <a:pathLst>
                <a:path h="7414366" w="9856220">
                  <a:moveTo>
                    <a:pt x="0" y="0"/>
                  </a:moveTo>
                  <a:lnTo>
                    <a:pt x="9856220" y="0"/>
                  </a:lnTo>
                  <a:lnTo>
                    <a:pt x="9856220" y="7414366"/>
                  </a:lnTo>
                  <a:lnTo>
                    <a:pt x="0" y="7414366"/>
                  </a:lnTo>
                  <a:close/>
                </a:path>
              </a:pathLst>
            </a:custGeom>
            <a:solidFill>
              <a:srgbClr val="F5F5F5"/>
            </a:solidFill>
          </p:spPr>
        </p:sp>
        <p:sp>
          <p:nvSpPr>
            <p:cNvPr name="Freeform 14" id="14"/>
            <p:cNvSpPr/>
            <p:nvPr/>
          </p:nvSpPr>
          <p:spPr>
            <a:xfrm flipH="false" flipV="false" rot="0">
              <a:off x="0" y="0"/>
              <a:ext cx="9887254" cy="7460636"/>
            </a:xfrm>
            <a:custGeom>
              <a:avLst/>
              <a:gdLst/>
              <a:ahLst/>
              <a:cxnLst/>
              <a:rect r="r" b="b" t="t" l="l"/>
              <a:pathLst>
                <a:path h="7460636" w="9887254">
                  <a:moveTo>
                    <a:pt x="15517" y="0"/>
                  </a:moveTo>
                  <a:lnTo>
                    <a:pt x="9871737" y="0"/>
                  </a:lnTo>
                  <a:cubicBezTo>
                    <a:pt x="9880371" y="0"/>
                    <a:pt x="9887254" y="10437"/>
                    <a:pt x="9887254" y="23135"/>
                  </a:cubicBezTo>
                  <a:lnTo>
                    <a:pt x="9887254" y="7437501"/>
                  </a:lnTo>
                  <a:cubicBezTo>
                    <a:pt x="9887254" y="7450373"/>
                    <a:pt x="9880254" y="7460636"/>
                    <a:pt x="9871737" y="7460636"/>
                  </a:cubicBezTo>
                  <a:lnTo>
                    <a:pt x="15517" y="7460636"/>
                  </a:lnTo>
                  <a:cubicBezTo>
                    <a:pt x="6883" y="7460636"/>
                    <a:pt x="0" y="7450200"/>
                    <a:pt x="0" y="7437501"/>
                  </a:cubicBezTo>
                  <a:lnTo>
                    <a:pt x="0" y="23135"/>
                  </a:lnTo>
                  <a:cubicBezTo>
                    <a:pt x="0" y="10437"/>
                    <a:pt x="7000" y="0"/>
                    <a:pt x="15517" y="0"/>
                  </a:cubicBezTo>
                  <a:moveTo>
                    <a:pt x="15517" y="46444"/>
                  </a:moveTo>
                  <a:lnTo>
                    <a:pt x="15517" y="23135"/>
                  </a:lnTo>
                  <a:lnTo>
                    <a:pt x="31151" y="23135"/>
                  </a:lnTo>
                  <a:lnTo>
                    <a:pt x="31151" y="7437501"/>
                  </a:lnTo>
                  <a:lnTo>
                    <a:pt x="15517" y="7437501"/>
                  </a:lnTo>
                  <a:lnTo>
                    <a:pt x="15517" y="7414366"/>
                  </a:lnTo>
                  <a:lnTo>
                    <a:pt x="9871737" y="7414366"/>
                  </a:lnTo>
                  <a:lnTo>
                    <a:pt x="9871737" y="7437501"/>
                  </a:lnTo>
                  <a:lnTo>
                    <a:pt x="9856220" y="7437501"/>
                  </a:lnTo>
                  <a:lnTo>
                    <a:pt x="9856220" y="23135"/>
                  </a:lnTo>
                  <a:lnTo>
                    <a:pt x="9871737" y="23135"/>
                  </a:lnTo>
                  <a:lnTo>
                    <a:pt x="9871737" y="46444"/>
                  </a:lnTo>
                  <a:lnTo>
                    <a:pt x="15517" y="46444"/>
                  </a:lnTo>
                  <a:close/>
                </a:path>
              </a:pathLst>
            </a:custGeom>
            <a:solidFill>
              <a:srgbClr val="DDDDDD"/>
            </a:solidFill>
          </p:spPr>
        </p:sp>
      </p:grpSp>
      <p:sp>
        <p:nvSpPr>
          <p:cNvPr name="TextBox 15" id="15"/>
          <p:cNvSpPr txBox="true"/>
          <p:nvPr/>
        </p:nvSpPr>
        <p:spPr>
          <a:xfrm rot="0">
            <a:off x="10013193" y="3759128"/>
            <a:ext cx="6395930" cy="5191125"/>
          </a:xfrm>
          <a:prstGeom prst="rect">
            <a:avLst/>
          </a:prstGeom>
        </p:spPr>
        <p:txBody>
          <a:bodyPr anchor="t" rtlCol="false" tIns="0" lIns="0" bIns="0" rIns="0">
            <a:spAutoFit/>
          </a:bodyPr>
          <a:lstStyle/>
          <a:p>
            <a:pPr algn="l">
              <a:lnSpc>
                <a:spcPts val="2759"/>
              </a:lnSpc>
            </a:pPr>
            <a:r>
              <a:rPr lang="en-US" sz="2299">
                <a:solidFill>
                  <a:srgbClr val="1A1A1A"/>
                </a:solidFill>
                <a:latin typeface="Consolas"/>
                <a:ea typeface="Consolas"/>
                <a:cs typeface="Consolas"/>
                <a:sym typeface="Consolas"/>
              </a:rPr>
              <a:t>// Inicializar con el primer elemento</a:t>
            </a:r>
          </a:p>
          <a:p>
            <a:pPr algn="l">
              <a:lnSpc>
                <a:spcPts val="2759"/>
              </a:lnSpc>
            </a:pPr>
            <a:r>
              <a:rPr lang="en-US" sz="2299">
                <a:solidFill>
                  <a:srgbClr val="1A1A1A"/>
                </a:solidFill>
                <a:latin typeface="Consolas"/>
                <a:ea typeface="Consolas"/>
                <a:cs typeface="Consolas"/>
                <a:sym typeface="Consolas"/>
              </a:rPr>
              <a:t>Definir maximo Como Real</a:t>
            </a:r>
          </a:p>
          <a:p>
            <a:pPr algn="l">
              <a:lnSpc>
                <a:spcPts val="2759"/>
              </a:lnSpc>
            </a:pPr>
            <a:r>
              <a:rPr lang="en-US" sz="2299">
                <a:solidFill>
                  <a:srgbClr val="1A1A1A"/>
                </a:solidFill>
                <a:latin typeface="Consolas"/>
                <a:ea typeface="Consolas"/>
                <a:cs typeface="Consolas"/>
                <a:sym typeface="Consolas"/>
              </a:rPr>
              <a:t>Definir posMax Como Entero</a:t>
            </a:r>
          </a:p>
          <a:p>
            <a:pPr algn="l">
              <a:lnSpc>
                <a:spcPts val="2759"/>
              </a:lnSpc>
            </a:pPr>
            <a:r>
              <a:rPr lang="en-US" sz="2299">
                <a:solidFill>
                  <a:srgbClr val="1A1A1A"/>
                </a:solidFill>
                <a:latin typeface="Consolas"/>
                <a:ea typeface="Consolas"/>
                <a:cs typeface="Consolas"/>
                <a:sym typeface="Consolas"/>
              </a:rPr>
              <a:t>maximo &lt;- notas[1]</a:t>
            </a:r>
          </a:p>
          <a:p>
            <a:pPr algn="l">
              <a:lnSpc>
                <a:spcPts val="2759"/>
              </a:lnSpc>
            </a:pPr>
            <a:r>
              <a:rPr lang="en-US" sz="2299">
                <a:solidFill>
                  <a:srgbClr val="1A1A1A"/>
                </a:solidFill>
                <a:latin typeface="Consolas"/>
                <a:ea typeface="Consolas"/>
                <a:cs typeface="Consolas"/>
                <a:sym typeface="Consolas"/>
              </a:rPr>
              <a:t>posMax &lt;- 1</a:t>
            </a:r>
          </a:p>
          <a:p>
            <a:pPr algn="l">
              <a:lnSpc>
                <a:spcPts val="2759"/>
              </a:lnSpc>
            </a:pPr>
          </a:p>
          <a:p>
            <a:pPr algn="l">
              <a:lnSpc>
                <a:spcPts val="2759"/>
              </a:lnSpc>
            </a:pPr>
            <a:r>
              <a:rPr lang="en-US" sz="2299">
                <a:solidFill>
                  <a:srgbClr val="1A1A1A"/>
                </a:solidFill>
                <a:latin typeface="Consolas"/>
                <a:ea typeface="Consolas"/>
                <a:cs typeface="Consolas"/>
                <a:sym typeface="Consolas"/>
              </a:rPr>
              <a:t>Para i &lt;- 2 Hasta N Con Paso 1 Hacer</a:t>
            </a:r>
          </a:p>
          <a:p>
            <a:pPr algn="l">
              <a:lnSpc>
                <a:spcPts val="2759"/>
              </a:lnSpc>
            </a:pPr>
            <a:r>
              <a:rPr lang="en-US" sz="2299">
                <a:solidFill>
                  <a:srgbClr val="1A1A1A"/>
                </a:solidFill>
                <a:latin typeface="Consolas"/>
                <a:ea typeface="Consolas"/>
                <a:cs typeface="Consolas"/>
                <a:sym typeface="Consolas"/>
              </a:rPr>
              <a:t>   Si notas[i] &gt; maximo Entonces</a:t>
            </a:r>
          </a:p>
          <a:p>
            <a:pPr algn="l">
              <a:lnSpc>
                <a:spcPts val="2759"/>
              </a:lnSpc>
            </a:pPr>
            <a:r>
              <a:rPr lang="en-US" sz="2299">
                <a:solidFill>
                  <a:srgbClr val="1A1A1A"/>
                </a:solidFill>
                <a:latin typeface="Consolas"/>
                <a:ea typeface="Consolas"/>
                <a:cs typeface="Consolas"/>
                <a:sym typeface="Consolas"/>
              </a:rPr>
              <a:t>      maximo &lt;- notas[i]</a:t>
            </a:r>
          </a:p>
          <a:p>
            <a:pPr algn="l">
              <a:lnSpc>
                <a:spcPts val="2759"/>
              </a:lnSpc>
            </a:pPr>
            <a:r>
              <a:rPr lang="en-US" sz="2299">
                <a:solidFill>
                  <a:srgbClr val="1A1A1A"/>
                </a:solidFill>
                <a:latin typeface="Consolas"/>
                <a:ea typeface="Consolas"/>
                <a:cs typeface="Consolas"/>
                <a:sym typeface="Consolas"/>
              </a:rPr>
              <a:t>      posMax &lt;- i</a:t>
            </a:r>
          </a:p>
          <a:p>
            <a:pPr algn="l">
              <a:lnSpc>
                <a:spcPts val="2759"/>
              </a:lnSpc>
            </a:pPr>
            <a:r>
              <a:rPr lang="en-US" sz="2299">
                <a:solidFill>
                  <a:srgbClr val="1A1A1A"/>
                </a:solidFill>
                <a:latin typeface="Consolas"/>
                <a:ea typeface="Consolas"/>
                <a:cs typeface="Consolas"/>
                <a:sym typeface="Consolas"/>
              </a:rPr>
              <a:t>   FinSi</a:t>
            </a:r>
          </a:p>
          <a:p>
            <a:pPr algn="l">
              <a:lnSpc>
                <a:spcPts val="2759"/>
              </a:lnSpc>
            </a:pPr>
            <a:r>
              <a:rPr lang="en-US" sz="2299">
                <a:solidFill>
                  <a:srgbClr val="1A1A1A"/>
                </a:solidFill>
                <a:latin typeface="Consolas"/>
                <a:ea typeface="Consolas"/>
                <a:cs typeface="Consolas"/>
                <a:sym typeface="Consolas"/>
              </a:rPr>
              <a:t>FinPara</a:t>
            </a:r>
          </a:p>
          <a:p>
            <a:pPr algn="l">
              <a:lnSpc>
                <a:spcPts val="2759"/>
              </a:lnSpc>
            </a:pPr>
          </a:p>
          <a:p>
            <a:pPr algn="l">
              <a:lnSpc>
                <a:spcPts val="2759"/>
              </a:lnSpc>
            </a:pPr>
            <a:r>
              <a:rPr lang="en-US" sz="2299">
                <a:solidFill>
                  <a:srgbClr val="1A1A1A"/>
                </a:solidFill>
                <a:latin typeface="Consolas"/>
                <a:ea typeface="Consolas"/>
                <a:cs typeface="Consolas"/>
                <a:sym typeface="Consolas"/>
              </a:rPr>
              <a:t>Escribir "Nota más alta: ", maximo</a:t>
            </a:r>
          </a:p>
          <a:p>
            <a:pPr algn="l">
              <a:lnSpc>
                <a:spcPts val="2759"/>
              </a:lnSpc>
            </a:pPr>
            <a:r>
              <a:rPr lang="en-US" sz="2299">
                <a:solidFill>
                  <a:srgbClr val="1A1A1A"/>
                </a:solidFill>
                <a:latin typeface="Consolas"/>
                <a:ea typeface="Consolas"/>
                <a:cs typeface="Consolas"/>
                <a:sym typeface="Consolas"/>
              </a:rPr>
              <a:t>Escribir "En la posición: ", posMax</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022475"/>
            <a:ext cx="12117718" cy="628650"/>
          </a:xfrm>
          <a:prstGeom prst="rect">
            <a:avLst/>
          </a:prstGeom>
        </p:spPr>
        <p:txBody>
          <a:bodyPr anchor="t" rtlCol="false" tIns="0" lIns="0" bIns="0" rIns="0">
            <a:spAutoFit/>
          </a:bodyPr>
          <a:lstStyle/>
          <a:p>
            <a:pPr algn="l">
              <a:lnSpc>
                <a:spcPts val="4319"/>
              </a:lnSpc>
            </a:pPr>
            <a:r>
              <a:rPr lang="en-US" sz="3599" b="true">
                <a:solidFill>
                  <a:srgbClr val="1A1A1A"/>
                </a:solidFill>
                <a:latin typeface="Calibri (MS) Bold"/>
                <a:ea typeface="Calibri (MS) Bold"/>
                <a:cs typeface="Calibri (MS) Bold"/>
                <a:sym typeface="Calibri (MS) Bold"/>
              </a:rPr>
              <a:t>Traza del cálculo de máximo con notas = [85, 72, 91, 68, 79]:</a:t>
            </a:r>
          </a:p>
        </p:txBody>
      </p:sp>
      <p:graphicFrame>
        <p:nvGraphicFramePr>
          <p:cNvPr name="Table 3" id="3"/>
          <p:cNvGraphicFramePr>
            <a:graphicFrameLocks noGrp="true"/>
          </p:cNvGraphicFramePr>
          <p:nvPr/>
        </p:nvGraphicFramePr>
        <p:xfrm>
          <a:off x="1813287" y="3051175"/>
          <a:ext cx="13690600" cy="4184650"/>
        </p:xfrm>
        <a:graphic>
          <a:graphicData uri="http://schemas.openxmlformats.org/drawingml/2006/table">
            <a:tbl>
              <a:tblPr/>
              <a:tblGrid>
                <a:gridCol w="1322288"/>
                <a:gridCol w="2708291"/>
                <a:gridCol w="4512397"/>
                <a:gridCol w="2760028"/>
                <a:gridCol w="2387597"/>
              </a:tblGrid>
              <a:tr h="697442">
                <a:tc>
                  <a:txBody>
                    <a:bodyPr anchor="t" rtlCol="false"/>
                    <a:lstStyle/>
                    <a:p>
                      <a:pPr algn="ctr">
                        <a:lnSpc>
                          <a:spcPts val="2999"/>
                        </a:lnSpc>
                        <a:defRPr/>
                      </a:pPr>
                      <a:r>
                        <a:rPr lang="en-US" sz="2499" b="true">
                          <a:solidFill>
                            <a:srgbClr val="FFFFFF"/>
                          </a:solidFill>
                          <a:latin typeface="Calibri (MS) Bold"/>
                          <a:ea typeface="Calibri (MS) Bold"/>
                          <a:cs typeface="Calibri (MS) Bold"/>
                          <a:sym typeface="Calibri (MS) Bold"/>
                        </a:rPr>
                        <a:t>i</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999"/>
                        </a:lnSpc>
                        <a:defRPr/>
                      </a:pPr>
                      <a:r>
                        <a:rPr lang="en-US" sz="2499" b="true">
                          <a:solidFill>
                            <a:srgbClr val="FFFFFF"/>
                          </a:solidFill>
                          <a:latin typeface="Calibri (MS) Bold"/>
                          <a:ea typeface="Calibri (MS) Bold"/>
                          <a:cs typeface="Calibri (MS) Bold"/>
                          <a:sym typeface="Calibri (MS) Bold"/>
                        </a:rPr>
                        <a:t>notas(i)</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999"/>
                        </a:lnSpc>
                        <a:defRPr/>
                      </a:pPr>
                      <a:r>
                        <a:rPr lang="en-US" sz="2499" b="true">
                          <a:solidFill>
                            <a:srgbClr val="FFFFFF"/>
                          </a:solidFill>
                          <a:latin typeface="Calibri (MS) Bold"/>
                          <a:ea typeface="Calibri (MS) Bold"/>
                          <a:cs typeface="Calibri (MS) Bold"/>
                          <a:sym typeface="Calibri (MS) Bold"/>
                        </a:rPr>
                        <a:t>¿notas(i) &gt; maximo?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999"/>
                        </a:lnSpc>
                        <a:defRPr/>
                      </a:pPr>
                      <a:r>
                        <a:rPr lang="en-US" sz="2499" b="true">
                          <a:solidFill>
                            <a:srgbClr val="FFFFFF"/>
                          </a:solidFill>
                          <a:latin typeface="Calibri (MS) Bold"/>
                          <a:ea typeface="Calibri (MS) Bold"/>
                          <a:cs typeface="Calibri (MS) Bold"/>
                          <a:sym typeface="Calibri (MS) Bold"/>
                        </a:rPr>
                        <a:t>maximo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999"/>
                        </a:lnSpc>
                        <a:defRPr/>
                      </a:pPr>
                      <a:r>
                        <a:rPr lang="en-US" sz="2499" b="true">
                          <a:solidFill>
                            <a:srgbClr val="FFFFFF"/>
                          </a:solidFill>
                          <a:latin typeface="Calibri (MS) Bold"/>
                          <a:ea typeface="Calibri (MS) Bold"/>
                          <a:cs typeface="Calibri (MS) Bold"/>
                          <a:sym typeface="Calibri (MS) Bold"/>
                        </a:rPr>
                        <a:t>posMax</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697442">
                <a:tc>
                  <a:txBody>
                    <a:bodyPr anchor="t" rtlCol="false"/>
                    <a:lstStyle/>
                    <a:p>
                      <a:pPr algn="l">
                        <a:lnSpc>
                          <a:spcPts val="2999"/>
                        </a:lnSpc>
                        <a:defRPr/>
                      </a:pPr>
                      <a:r>
                        <a:rPr lang="en-US" sz="2499">
                          <a:solidFill>
                            <a:srgbClr val="000000"/>
                          </a:solidFill>
                          <a:latin typeface="Calibri (MS)"/>
                          <a:ea typeface="Calibri (MS)"/>
                          <a:cs typeface="Calibri (MS)"/>
                          <a:sym typeface="Calibri (MS)"/>
                        </a:rPr>
                        <a:t>inicio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Inicialización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85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97442">
                <a:tc>
                  <a:txBody>
                    <a:bodyPr anchor="t" rtlCol="false"/>
                    <a:lstStyle/>
                    <a:p>
                      <a:pPr algn="l">
                        <a:lnSpc>
                          <a:spcPts val="2999"/>
                        </a:lnSpc>
                        <a:defRPr/>
                      </a:pPr>
                      <a:r>
                        <a:rPr lang="en-US" sz="2499">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72 &gt; 85 → No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85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97442">
                <a:tc>
                  <a:txBody>
                    <a:bodyPr anchor="t" rtlCol="false"/>
                    <a:lstStyle/>
                    <a:p>
                      <a:pPr algn="l">
                        <a:lnSpc>
                          <a:spcPts val="2999"/>
                        </a:lnSpc>
                        <a:defRPr/>
                      </a:pPr>
                      <a:r>
                        <a:rPr lang="en-US" sz="2499">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91 &gt; 85 → Sí</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97442">
                <a:tc>
                  <a:txBody>
                    <a:bodyPr anchor="t" rtlCol="false"/>
                    <a:lstStyle/>
                    <a:p>
                      <a:pPr algn="l">
                        <a:lnSpc>
                          <a:spcPts val="2999"/>
                        </a:lnSpc>
                        <a:defRPr/>
                      </a:pPr>
                      <a:r>
                        <a:rPr lang="en-US" sz="2499">
                          <a:solidFill>
                            <a:srgbClr val="000000"/>
                          </a:solidFill>
                          <a:latin typeface="Calibri (MS)"/>
                          <a:ea typeface="Calibri (MS)"/>
                          <a:cs typeface="Calibri (MS)"/>
                          <a:sym typeface="Calibri (MS)"/>
                        </a:rPr>
                        <a:t>4</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68</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68 &gt; 91 → No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97442">
                <a:tc>
                  <a:txBody>
                    <a:bodyPr anchor="t" rtlCol="false"/>
                    <a:lstStyle/>
                    <a:p>
                      <a:pPr algn="l">
                        <a:lnSpc>
                          <a:spcPts val="2999"/>
                        </a:lnSpc>
                        <a:defRPr/>
                      </a:pPr>
                      <a:r>
                        <a:rPr lang="en-US" sz="2499">
                          <a:solidFill>
                            <a:srgbClr val="000000"/>
                          </a:solidFill>
                          <a:latin typeface="Calibri (MS)"/>
                          <a:ea typeface="Calibri (MS)"/>
                          <a:cs typeface="Calibri (MS)"/>
                          <a:sym typeface="Calibri (MS)"/>
                        </a:rPr>
                        <a:t>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79</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79 &gt; 91 → No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grpSp>
        <p:nvGrpSpPr>
          <p:cNvPr name="Group 4" id="4"/>
          <p:cNvGrpSpPr/>
          <p:nvPr/>
        </p:nvGrpSpPr>
        <p:grpSpPr>
          <a:xfrm rot="0">
            <a:off x="1216659" y="7635875"/>
            <a:ext cx="15854682" cy="1318288"/>
            <a:chOff x="0" y="0"/>
            <a:chExt cx="21139575" cy="1757717"/>
          </a:xfrm>
        </p:grpSpPr>
        <p:sp>
          <p:nvSpPr>
            <p:cNvPr name="Freeform 5" id="5"/>
            <p:cNvSpPr/>
            <p:nvPr/>
          </p:nvSpPr>
          <p:spPr>
            <a:xfrm flipH="false" flipV="false" rot="0">
              <a:off x="16246" y="22806"/>
              <a:ext cx="21106998" cy="1711985"/>
            </a:xfrm>
            <a:custGeom>
              <a:avLst/>
              <a:gdLst/>
              <a:ahLst/>
              <a:cxnLst/>
              <a:rect r="r" b="b" t="t" l="l"/>
              <a:pathLst>
                <a:path h="1711985" w="21106998">
                  <a:moveTo>
                    <a:pt x="0" y="0"/>
                  </a:moveTo>
                  <a:lnTo>
                    <a:pt x="21106998" y="0"/>
                  </a:lnTo>
                  <a:lnTo>
                    <a:pt x="21106998" y="1711985"/>
                  </a:lnTo>
                  <a:lnTo>
                    <a:pt x="0" y="1711985"/>
                  </a:lnTo>
                  <a:close/>
                </a:path>
              </a:pathLst>
            </a:custGeom>
            <a:solidFill>
              <a:srgbClr val="F5F5F5"/>
            </a:solidFill>
          </p:spPr>
        </p:sp>
        <p:sp>
          <p:nvSpPr>
            <p:cNvPr name="Freeform 6" id="6"/>
            <p:cNvSpPr/>
            <p:nvPr/>
          </p:nvSpPr>
          <p:spPr>
            <a:xfrm flipH="false" flipV="false" rot="0">
              <a:off x="0" y="0"/>
              <a:ext cx="21139491" cy="1757597"/>
            </a:xfrm>
            <a:custGeom>
              <a:avLst/>
              <a:gdLst/>
              <a:ahLst/>
              <a:cxnLst/>
              <a:rect r="r" b="b" t="t" l="l"/>
              <a:pathLst>
                <a:path h="1757597" w="21139491">
                  <a:moveTo>
                    <a:pt x="16246" y="0"/>
                  </a:moveTo>
                  <a:lnTo>
                    <a:pt x="21123244" y="0"/>
                  </a:lnTo>
                  <a:cubicBezTo>
                    <a:pt x="21132284" y="0"/>
                    <a:pt x="21139491" y="10288"/>
                    <a:pt x="21139491" y="22806"/>
                  </a:cubicBezTo>
                  <a:lnTo>
                    <a:pt x="21139491" y="1734791"/>
                  </a:lnTo>
                  <a:cubicBezTo>
                    <a:pt x="21139491" y="1747480"/>
                    <a:pt x="21132161" y="1757597"/>
                    <a:pt x="21123244" y="1757597"/>
                  </a:cubicBezTo>
                  <a:lnTo>
                    <a:pt x="16246" y="1757597"/>
                  </a:lnTo>
                  <a:cubicBezTo>
                    <a:pt x="7207" y="1757597"/>
                    <a:pt x="0" y="1747308"/>
                    <a:pt x="0" y="1734791"/>
                  </a:cubicBezTo>
                  <a:lnTo>
                    <a:pt x="0" y="22806"/>
                  </a:lnTo>
                  <a:cubicBezTo>
                    <a:pt x="0" y="10288"/>
                    <a:pt x="7329" y="0"/>
                    <a:pt x="16246" y="0"/>
                  </a:cubicBezTo>
                  <a:moveTo>
                    <a:pt x="16246" y="45783"/>
                  </a:moveTo>
                  <a:lnTo>
                    <a:pt x="16246" y="22806"/>
                  </a:lnTo>
                  <a:lnTo>
                    <a:pt x="32613" y="22806"/>
                  </a:lnTo>
                  <a:lnTo>
                    <a:pt x="32613" y="1734791"/>
                  </a:lnTo>
                  <a:lnTo>
                    <a:pt x="16246" y="1734791"/>
                  </a:lnTo>
                  <a:lnTo>
                    <a:pt x="16246" y="1711985"/>
                  </a:lnTo>
                  <a:lnTo>
                    <a:pt x="21123244" y="1711985"/>
                  </a:lnTo>
                  <a:lnTo>
                    <a:pt x="21123244" y="1734791"/>
                  </a:lnTo>
                  <a:lnTo>
                    <a:pt x="21106998" y="1734791"/>
                  </a:lnTo>
                  <a:lnTo>
                    <a:pt x="21106998" y="22806"/>
                  </a:lnTo>
                  <a:lnTo>
                    <a:pt x="21123244" y="22806"/>
                  </a:lnTo>
                  <a:lnTo>
                    <a:pt x="21123244" y="45783"/>
                  </a:lnTo>
                  <a:lnTo>
                    <a:pt x="16246" y="45783"/>
                  </a:lnTo>
                  <a:close/>
                </a:path>
              </a:pathLst>
            </a:custGeom>
            <a:solidFill>
              <a:srgbClr val="DDDDDD"/>
            </a:solidFill>
          </p:spPr>
        </p:sp>
      </p:grpSp>
      <p:grpSp>
        <p:nvGrpSpPr>
          <p:cNvPr name="Group 7" id="7"/>
          <p:cNvGrpSpPr/>
          <p:nvPr/>
        </p:nvGrpSpPr>
        <p:grpSpPr>
          <a:xfrm rot="0">
            <a:off x="1343661" y="7750805"/>
            <a:ext cx="15727680" cy="1050906"/>
            <a:chOff x="0" y="0"/>
            <a:chExt cx="20970240" cy="1401208"/>
          </a:xfrm>
        </p:grpSpPr>
        <p:sp>
          <p:nvSpPr>
            <p:cNvPr name="Freeform 8" id="8"/>
            <p:cNvSpPr/>
            <p:nvPr/>
          </p:nvSpPr>
          <p:spPr>
            <a:xfrm flipH="false" flipV="false" rot="0">
              <a:off x="0" y="0"/>
              <a:ext cx="20970239" cy="1401208"/>
            </a:xfrm>
            <a:custGeom>
              <a:avLst/>
              <a:gdLst/>
              <a:ahLst/>
              <a:cxnLst/>
              <a:rect r="r" b="b" t="t" l="l"/>
              <a:pathLst>
                <a:path h="1401208" w="20970239">
                  <a:moveTo>
                    <a:pt x="0" y="0"/>
                  </a:moveTo>
                  <a:lnTo>
                    <a:pt x="20970239" y="0"/>
                  </a:lnTo>
                  <a:lnTo>
                    <a:pt x="20970239" y="1401208"/>
                  </a:lnTo>
                  <a:lnTo>
                    <a:pt x="0" y="1401208"/>
                  </a:lnTo>
                  <a:close/>
                </a:path>
              </a:pathLst>
            </a:custGeom>
            <a:blipFill>
              <a:blip r:embed="rId2">
                <a:alphaModFix amt="0"/>
              </a:blip>
              <a:stretch>
                <a:fillRect l="0" t="-255065" r="0" b="-228154"/>
              </a:stretch>
            </a:blipFill>
          </p:spPr>
        </p:sp>
        <p:sp>
          <p:nvSpPr>
            <p:cNvPr name="TextBox 9" id="9"/>
            <p:cNvSpPr txBox="true"/>
            <p:nvPr/>
          </p:nvSpPr>
          <p:spPr>
            <a:xfrm>
              <a:off x="0" y="-57150"/>
              <a:ext cx="20970240" cy="1458358"/>
            </a:xfrm>
            <a:prstGeom prst="rect">
              <a:avLst/>
            </a:prstGeom>
          </p:spPr>
          <p:txBody>
            <a:bodyPr anchor="ctr" rtlCol="false" tIns="0" lIns="0" bIns="0" rIns="0"/>
            <a:lstStyle/>
            <a:p>
              <a:pPr algn="l">
                <a:lnSpc>
                  <a:spcPts val="3239"/>
                </a:lnSpc>
              </a:pPr>
              <a:r>
                <a:rPr lang="en-US" sz="2699" i="true">
                  <a:solidFill>
                    <a:srgbClr val="444444"/>
                  </a:solidFill>
                  <a:latin typeface="Calibri (MS) Italics"/>
                  <a:ea typeface="Calibri (MS) Italics"/>
                  <a:cs typeface="Calibri (MS) Italics"/>
                  <a:sym typeface="Calibri (MS) Italics"/>
                </a:rPr>
                <a:t>Importante: el máximo siempre se inicializa con notas(1), nunca con 0. Si todos los valores fueran negativos, inicializar con 0 daría un resultado incorrecto.</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Declarar y Llenar una Matriz en PSeInt</a:t>
              </a:r>
            </a:p>
          </p:txBody>
        </p:sp>
      </p:grpSp>
      <p:sp>
        <p:nvSpPr>
          <p:cNvPr name="TextBox 5" id="5"/>
          <p:cNvSpPr txBox="true"/>
          <p:nvPr/>
        </p:nvSpPr>
        <p:spPr>
          <a:xfrm rot="0">
            <a:off x="1028700" y="2515291"/>
            <a:ext cx="16276320" cy="952500"/>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Una matriz necesita dos índices, por lo tanto su recorrido requiere dos ciclos Para anidados: uno para las filas y uno para las columnas.</a:t>
            </a:r>
          </a:p>
        </p:txBody>
      </p:sp>
      <p:graphicFrame>
        <p:nvGraphicFramePr>
          <p:cNvPr name="Table 6" id="6"/>
          <p:cNvGraphicFramePr>
            <a:graphicFrameLocks noGrp="true"/>
          </p:cNvGraphicFramePr>
          <p:nvPr/>
        </p:nvGraphicFramePr>
        <p:xfrm>
          <a:off x="1167861" y="4005692"/>
          <a:ext cx="15952278" cy="3251200"/>
        </p:xfrm>
        <a:graphic>
          <a:graphicData uri="http://schemas.openxmlformats.org/drawingml/2006/table">
            <a:tbl>
              <a:tblPr/>
              <a:tblGrid>
                <a:gridCol w="2858726"/>
                <a:gridCol w="4966183"/>
                <a:gridCol w="8127368"/>
              </a:tblGrid>
              <a:tr h="812800">
                <a:tc>
                  <a:txBody>
                    <a:bodyPr anchor="t" rtlCol="false"/>
                    <a:lstStyle/>
                    <a:p>
                      <a:pPr algn="ctr">
                        <a:lnSpc>
                          <a:spcPts val="3479"/>
                        </a:lnSpc>
                        <a:defRPr/>
                      </a:pPr>
                      <a:r>
                        <a:rPr lang="en-US" sz="2899" b="true">
                          <a:solidFill>
                            <a:srgbClr val="FFFFFF"/>
                          </a:solidFill>
                          <a:latin typeface="Calibri (MS) Bold"/>
                          <a:ea typeface="Calibri (MS) Bold"/>
                          <a:cs typeface="Calibri (MS) Bold"/>
                          <a:sym typeface="Calibri (MS) Bold"/>
                        </a:rPr>
                        <a:t>Instrucción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479"/>
                        </a:lnSpc>
                        <a:defRPr/>
                      </a:pPr>
                      <a:r>
                        <a:rPr lang="en-US" sz="2899" b="true">
                          <a:solidFill>
                            <a:srgbClr val="FFFFFF"/>
                          </a:solidFill>
                          <a:latin typeface="Calibri (MS) Bold"/>
                          <a:ea typeface="Calibri (MS) Bold"/>
                          <a:cs typeface="Calibri (MS) Bold"/>
                          <a:sym typeface="Calibri (MS) Bold"/>
                        </a:rPr>
                        <a:t>Ejemplo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479"/>
                        </a:lnSpc>
                        <a:defRPr/>
                      </a:pPr>
                      <a:r>
                        <a:rPr lang="en-US" sz="2899" b="true">
                          <a:solidFill>
                            <a:srgbClr val="FFFFFF"/>
                          </a:solidFill>
                          <a:latin typeface="Calibri (MS) Bold"/>
                          <a:ea typeface="Calibri (MS) Bold"/>
                          <a:cs typeface="Calibri (MS) Bold"/>
                          <a:sym typeface="Calibri (MS) Bold"/>
                        </a:rPr>
                        <a:t>Significado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812800">
                <a:tc>
                  <a:txBody>
                    <a:bodyPr anchor="t" rtlCol="false"/>
                    <a:lstStyle/>
                    <a:p>
                      <a:pPr algn="l">
                        <a:lnSpc>
                          <a:spcPts val="3479"/>
                        </a:lnSpc>
                        <a:defRPr/>
                      </a:pPr>
                      <a:r>
                        <a:rPr lang="en-US" sz="2899">
                          <a:solidFill>
                            <a:srgbClr val="000000"/>
                          </a:solidFill>
                          <a:latin typeface="Calibri (MS)"/>
                          <a:ea typeface="Calibri (MS)"/>
                          <a:cs typeface="Calibri (MS)"/>
                          <a:sym typeface="Calibri (MS)"/>
                        </a:rPr>
                        <a:t>Definir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479"/>
                        </a:lnSpc>
                        <a:defRPr/>
                      </a:pPr>
                      <a:r>
                        <a:rPr lang="en-US" sz="2899">
                          <a:solidFill>
                            <a:srgbClr val="000000"/>
                          </a:solidFill>
                          <a:latin typeface="Calibri (MS)"/>
                          <a:ea typeface="Calibri (MS)"/>
                          <a:cs typeface="Calibri (MS)"/>
                          <a:sym typeface="Calibri (MS)"/>
                        </a:rPr>
                        <a:t>Definir notas Como Real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479"/>
                        </a:lnSpc>
                        <a:defRPr/>
                      </a:pPr>
                      <a:r>
                        <a:rPr lang="en-US" sz="2899">
                          <a:solidFill>
                            <a:srgbClr val="000000"/>
                          </a:solidFill>
                          <a:latin typeface="Calibri (MS)"/>
                          <a:ea typeface="Calibri (MS)"/>
                          <a:cs typeface="Calibri (MS)"/>
                          <a:sym typeface="Calibri (MS)"/>
                        </a:rPr>
                        <a:t>El arreglo almacenará valores de tipo Real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812800">
                <a:tc>
                  <a:txBody>
                    <a:bodyPr anchor="t" rtlCol="false"/>
                    <a:lstStyle/>
                    <a:p>
                      <a:pPr algn="l">
                        <a:lnSpc>
                          <a:spcPts val="3479"/>
                        </a:lnSpc>
                        <a:defRPr/>
                      </a:pPr>
                      <a:r>
                        <a:rPr lang="en-US" sz="2899">
                          <a:solidFill>
                            <a:srgbClr val="000000"/>
                          </a:solidFill>
                          <a:latin typeface="Calibri (MS)"/>
                          <a:ea typeface="Calibri (MS)"/>
                          <a:cs typeface="Calibri (MS)"/>
                          <a:sym typeface="Calibri (MS)"/>
                        </a:rPr>
                        <a:t>Dimensionar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479"/>
                        </a:lnSpc>
                        <a:defRPr/>
                      </a:pPr>
                      <a:r>
                        <a:rPr lang="en-US" sz="2899">
                          <a:solidFill>
                            <a:srgbClr val="000000"/>
                          </a:solidFill>
                          <a:latin typeface="Calibri (MS)"/>
                          <a:ea typeface="Calibri (MS)"/>
                          <a:cs typeface="Calibri (MS)"/>
                          <a:sym typeface="Calibri (MS)"/>
                        </a:rPr>
                        <a:t>Dimensionr notas[3, 4]</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479"/>
                        </a:lnSpc>
                        <a:defRPr/>
                      </a:pPr>
                      <a:r>
                        <a:rPr lang="en-US" sz="2899">
                          <a:solidFill>
                            <a:srgbClr val="000000"/>
                          </a:solidFill>
                          <a:latin typeface="Calibri (MS)"/>
                          <a:ea typeface="Calibri (MS)"/>
                          <a:cs typeface="Calibri (MS)"/>
                          <a:sym typeface="Calibri (MS)"/>
                        </a:rPr>
                        <a:t>3 filas × 4 columnas = 12 celdas en total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812800">
                <a:tc>
                  <a:txBody>
                    <a:bodyPr anchor="t" rtlCol="false"/>
                    <a:lstStyle/>
                    <a:p>
                      <a:pPr algn="l">
                        <a:lnSpc>
                          <a:spcPts val="3479"/>
                        </a:lnSpc>
                        <a:defRPr/>
                      </a:pPr>
                      <a:r>
                        <a:rPr lang="en-US" sz="2899">
                          <a:solidFill>
                            <a:srgbClr val="000000"/>
                          </a:solidFill>
                          <a:latin typeface="Calibri (MS)"/>
                          <a:ea typeface="Calibri (MS)"/>
                          <a:cs typeface="Calibri (MS)"/>
                          <a:sym typeface="Calibri (MS)"/>
                        </a:rPr>
                        <a:t>Acceso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479"/>
                        </a:lnSpc>
                        <a:defRPr/>
                      </a:pPr>
                      <a:r>
                        <a:rPr lang="en-US" sz="2899">
                          <a:solidFill>
                            <a:srgbClr val="000000"/>
                          </a:solidFill>
                          <a:latin typeface="Calibri (MS)"/>
                          <a:ea typeface="Calibri (MS)"/>
                          <a:cs typeface="Calibri (MS)"/>
                          <a:sym typeface="Calibri (MS)"/>
                        </a:rPr>
                        <a:t>notas[i, j]</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479"/>
                        </a:lnSpc>
                        <a:defRPr/>
                      </a:pPr>
                      <a:r>
                        <a:rPr lang="en-US" sz="2899">
                          <a:solidFill>
                            <a:srgbClr val="000000"/>
                          </a:solidFill>
                          <a:latin typeface="Calibri (MS)"/>
                          <a:ea typeface="Calibri (MS)"/>
                          <a:cs typeface="Calibri (MS)"/>
                          <a:sym typeface="Calibri (MS)"/>
                        </a:rPr>
                        <a:t>Fila i, columna j. Requiere dos índices.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85142"/>
            <a:ext cx="12971326"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Llenar la matriz fila por fila con doble ciclo:</a:t>
            </a:r>
          </a:p>
        </p:txBody>
      </p:sp>
      <p:grpSp>
        <p:nvGrpSpPr>
          <p:cNvPr name="Group 3" id="3"/>
          <p:cNvGrpSpPr/>
          <p:nvPr/>
        </p:nvGrpSpPr>
        <p:grpSpPr>
          <a:xfrm rot="0">
            <a:off x="1028700" y="1803481"/>
            <a:ext cx="10253977" cy="6279227"/>
            <a:chOff x="0" y="0"/>
            <a:chExt cx="13671969" cy="8372303"/>
          </a:xfrm>
        </p:grpSpPr>
        <p:sp>
          <p:nvSpPr>
            <p:cNvPr name="Freeform 4" id="4"/>
            <p:cNvSpPr/>
            <p:nvPr/>
          </p:nvSpPr>
          <p:spPr>
            <a:xfrm flipH="false" flipV="false" rot="0">
              <a:off x="16290" y="21214"/>
              <a:ext cx="13639303" cy="8329764"/>
            </a:xfrm>
            <a:custGeom>
              <a:avLst/>
              <a:gdLst/>
              <a:ahLst/>
              <a:cxnLst/>
              <a:rect r="r" b="b" t="t" l="l"/>
              <a:pathLst>
                <a:path h="8329764" w="13639303">
                  <a:moveTo>
                    <a:pt x="0" y="0"/>
                  </a:moveTo>
                  <a:lnTo>
                    <a:pt x="13639303" y="0"/>
                  </a:lnTo>
                  <a:lnTo>
                    <a:pt x="13639303" y="8329764"/>
                  </a:lnTo>
                  <a:lnTo>
                    <a:pt x="0" y="8329764"/>
                  </a:lnTo>
                  <a:close/>
                </a:path>
              </a:pathLst>
            </a:custGeom>
            <a:solidFill>
              <a:srgbClr val="F5F5F5"/>
            </a:solidFill>
          </p:spPr>
        </p:sp>
        <p:sp>
          <p:nvSpPr>
            <p:cNvPr name="Freeform 5" id="5"/>
            <p:cNvSpPr/>
            <p:nvPr/>
          </p:nvSpPr>
          <p:spPr>
            <a:xfrm flipH="false" flipV="false" rot="0">
              <a:off x="0" y="0"/>
              <a:ext cx="13671883" cy="8372191"/>
            </a:xfrm>
            <a:custGeom>
              <a:avLst/>
              <a:gdLst/>
              <a:ahLst/>
              <a:cxnLst/>
              <a:rect r="r" b="b" t="t" l="l"/>
              <a:pathLst>
                <a:path h="8372191" w="13671883">
                  <a:moveTo>
                    <a:pt x="16290" y="0"/>
                  </a:moveTo>
                  <a:lnTo>
                    <a:pt x="13655593" y="0"/>
                  </a:lnTo>
                  <a:cubicBezTo>
                    <a:pt x="13664656" y="0"/>
                    <a:pt x="13671883" y="9570"/>
                    <a:pt x="13671883" y="21214"/>
                  </a:cubicBezTo>
                  <a:lnTo>
                    <a:pt x="13671883" y="8350978"/>
                  </a:lnTo>
                  <a:cubicBezTo>
                    <a:pt x="13671883" y="8362780"/>
                    <a:pt x="13664535" y="8372191"/>
                    <a:pt x="13655593" y="8372191"/>
                  </a:cubicBezTo>
                  <a:lnTo>
                    <a:pt x="16290" y="8372191"/>
                  </a:lnTo>
                  <a:cubicBezTo>
                    <a:pt x="7226" y="8372191"/>
                    <a:pt x="0" y="8362621"/>
                    <a:pt x="0" y="8350978"/>
                  </a:cubicBezTo>
                  <a:lnTo>
                    <a:pt x="0" y="21214"/>
                  </a:lnTo>
                  <a:cubicBezTo>
                    <a:pt x="0" y="9570"/>
                    <a:pt x="7349" y="0"/>
                    <a:pt x="16290" y="0"/>
                  </a:cubicBezTo>
                  <a:moveTo>
                    <a:pt x="16290" y="42587"/>
                  </a:moveTo>
                  <a:lnTo>
                    <a:pt x="16290" y="21214"/>
                  </a:lnTo>
                  <a:lnTo>
                    <a:pt x="32702" y="21214"/>
                  </a:lnTo>
                  <a:lnTo>
                    <a:pt x="32702" y="8350978"/>
                  </a:lnTo>
                  <a:lnTo>
                    <a:pt x="16290" y="8350978"/>
                  </a:lnTo>
                  <a:lnTo>
                    <a:pt x="16290" y="8329764"/>
                  </a:lnTo>
                  <a:lnTo>
                    <a:pt x="13655593" y="8329764"/>
                  </a:lnTo>
                  <a:lnTo>
                    <a:pt x="13655593" y="8350978"/>
                  </a:lnTo>
                  <a:lnTo>
                    <a:pt x="13639304" y="8350978"/>
                  </a:lnTo>
                  <a:lnTo>
                    <a:pt x="13639304" y="21214"/>
                  </a:lnTo>
                  <a:lnTo>
                    <a:pt x="13655593" y="21214"/>
                  </a:lnTo>
                  <a:lnTo>
                    <a:pt x="13655593" y="42587"/>
                  </a:lnTo>
                  <a:lnTo>
                    <a:pt x="16290" y="42587"/>
                  </a:lnTo>
                  <a:close/>
                </a:path>
              </a:pathLst>
            </a:custGeom>
            <a:solidFill>
              <a:srgbClr val="DDDDDD"/>
            </a:solidFill>
          </p:spPr>
        </p:sp>
      </p:grpSp>
      <p:sp>
        <p:nvSpPr>
          <p:cNvPr name="TextBox 6" id="6"/>
          <p:cNvSpPr txBox="true"/>
          <p:nvPr/>
        </p:nvSpPr>
        <p:spPr>
          <a:xfrm rot="0">
            <a:off x="1280155" y="1943531"/>
            <a:ext cx="9875520" cy="5715000"/>
          </a:xfrm>
          <a:prstGeom prst="rect">
            <a:avLst/>
          </a:prstGeom>
        </p:spPr>
        <p:txBody>
          <a:bodyPr anchor="t" rtlCol="false" tIns="0" lIns="0" bIns="0" rIns="0">
            <a:spAutoFit/>
          </a:bodyPr>
          <a:lstStyle/>
          <a:p>
            <a:pPr algn="l">
              <a:lnSpc>
                <a:spcPts val="2639"/>
              </a:lnSpc>
            </a:pPr>
            <a:r>
              <a:rPr lang="en-US" sz="2199">
                <a:solidFill>
                  <a:srgbClr val="1A1A1A"/>
                </a:solidFill>
                <a:latin typeface="Consolas"/>
                <a:ea typeface="Consolas"/>
                <a:cs typeface="Consolas"/>
                <a:sym typeface="Consolas"/>
              </a:rPr>
              <a:t>Proceso LlenarMatriz</a:t>
            </a:r>
          </a:p>
          <a:p>
            <a:pPr algn="l">
              <a:lnSpc>
                <a:spcPts val="2639"/>
              </a:lnSpc>
            </a:pPr>
            <a:r>
              <a:rPr lang="en-US" sz="2199">
                <a:solidFill>
                  <a:srgbClr val="1A1A1A"/>
                </a:solidFill>
                <a:latin typeface="Consolas"/>
                <a:ea typeface="Consolas"/>
                <a:cs typeface="Consolas"/>
                <a:sym typeface="Consolas"/>
              </a:rPr>
              <a:t>   Definir notas    Como Real</a:t>
            </a:r>
          </a:p>
          <a:p>
            <a:pPr algn="l">
              <a:lnSpc>
                <a:spcPts val="2639"/>
              </a:lnSpc>
            </a:pPr>
            <a:r>
              <a:rPr lang="en-US" sz="2199">
                <a:solidFill>
                  <a:srgbClr val="1A1A1A"/>
                </a:solidFill>
                <a:latin typeface="Consolas"/>
                <a:ea typeface="Consolas"/>
                <a:cs typeface="Consolas"/>
                <a:sym typeface="Consolas"/>
              </a:rPr>
              <a:t>   Definir i, j, F, C  Como Entero</a:t>
            </a:r>
          </a:p>
          <a:p>
            <a:pPr algn="l">
              <a:lnSpc>
                <a:spcPts val="2639"/>
              </a:lnSpc>
            </a:pPr>
            <a:r>
              <a:rPr lang="en-US" sz="2199">
                <a:solidFill>
                  <a:srgbClr val="1A1A1A"/>
                </a:solidFill>
                <a:latin typeface="Consolas"/>
                <a:ea typeface="Consolas"/>
                <a:cs typeface="Consolas"/>
                <a:sym typeface="Consolas"/>
              </a:rPr>
              <a:t>   Dimension notas(10, 10)</a:t>
            </a:r>
          </a:p>
          <a:p>
            <a:pPr algn="l">
              <a:lnSpc>
                <a:spcPts val="2639"/>
              </a:lnSpc>
            </a:pPr>
          </a:p>
          <a:p>
            <a:pPr algn="l">
              <a:lnSpc>
                <a:spcPts val="2639"/>
              </a:lnSpc>
            </a:pPr>
            <a:r>
              <a:rPr lang="en-US" sz="2199">
                <a:solidFill>
                  <a:srgbClr val="1A1A1A"/>
                </a:solidFill>
                <a:latin typeface="Consolas"/>
                <a:ea typeface="Consolas"/>
                <a:cs typeface="Consolas"/>
                <a:sym typeface="Consolas"/>
              </a:rPr>
              <a:t>   F &lt;- 3    // número de filas a usar</a:t>
            </a:r>
          </a:p>
          <a:p>
            <a:pPr algn="l">
              <a:lnSpc>
                <a:spcPts val="2639"/>
              </a:lnSpc>
            </a:pPr>
            <a:r>
              <a:rPr lang="en-US" sz="2199">
                <a:solidFill>
                  <a:srgbClr val="1A1A1A"/>
                </a:solidFill>
                <a:latin typeface="Consolas"/>
                <a:ea typeface="Consolas"/>
                <a:cs typeface="Consolas"/>
                <a:sym typeface="Consolas"/>
              </a:rPr>
              <a:t>   C &lt;- 4    // número de columnas a usar</a:t>
            </a:r>
          </a:p>
          <a:p>
            <a:pPr algn="l">
              <a:lnSpc>
                <a:spcPts val="2639"/>
              </a:lnSpc>
            </a:pPr>
          </a:p>
          <a:p>
            <a:pPr algn="l">
              <a:lnSpc>
                <a:spcPts val="2639"/>
              </a:lnSpc>
            </a:pPr>
            <a:r>
              <a:rPr lang="en-US" sz="2199">
                <a:solidFill>
                  <a:srgbClr val="1A1A1A"/>
                </a:solidFill>
                <a:latin typeface="Consolas"/>
                <a:ea typeface="Consolas"/>
                <a:cs typeface="Consolas"/>
                <a:sym typeface="Consolas"/>
              </a:rPr>
              <a:t>   // Ciclo externo: recorre filas (estudiantes)</a:t>
            </a:r>
          </a:p>
          <a:p>
            <a:pPr algn="l">
              <a:lnSpc>
                <a:spcPts val="2639"/>
              </a:lnSpc>
            </a:pPr>
            <a:r>
              <a:rPr lang="en-US" sz="2199">
                <a:solidFill>
                  <a:srgbClr val="1A1A1A"/>
                </a:solidFill>
                <a:latin typeface="Consolas"/>
                <a:ea typeface="Consolas"/>
                <a:cs typeface="Consolas"/>
                <a:sym typeface="Consolas"/>
              </a:rPr>
              <a:t>   Para i &lt;- 1 Hasta F Con Paso 1 Hacer</a:t>
            </a:r>
          </a:p>
          <a:p>
            <a:pPr algn="l">
              <a:lnSpc>
                <a:spcPts val="2639"/>
              </a:lnSpc>
            </a:pPr>
            <a:r>
              <a:rPr lang="en-US" sz="2199">
                <a:solidFill>
                  <a:srgbClr val="1A1A1A"/>
                </a:solidFill>
                <a:latin typeface="Consolas"/>
                <a:ea typeface="Consolas"/>
                <a:cs typeface="Consolas"/>
                <a:sym typeface="Consolas"/>
              </a:rPr>
              <a:t>      // Ciclo interno: recorre columnas (materias) de la fila i</a:t>
            </a:r>
          </a:p>
          <a:p>
            <a:pPr algn="l">
              <a:lnSpc>
                <a:spcPts val="2639"/>
              </a:lnSpc>
            </a:pPr>
            <a:r>
              <a:rPr lang="en-US" sz="2199">
                <a:solidFill>
                  <a:srgbClr val="1A1A1A"/>
                </a:solidFill>
                <a:latin typeface="Consolas"/>
                <a:ea typeface="Consolas"/>
                <a:cs typeface="Consolas"/>
                <a:sym typeface="Consolas"/>
              </a:rPr>
              <a:t>      Para j &lt;- 1 Hasta C Con Paso 1 Hacer</a:t>
            </a:r>
          </a:p>
          <a:p>
            <a:pPr algn="l">
              <a:lnSpc>
                <a:spcPts val="2639"/>
              </a:lnSpc>
            </a:pPr>
            <a:r>
              <a:rPr lang="en-US" sz="2199">
                <a:solidFill>
                  <a:srgbClr val="1A1A1A"/>
                </a:solidFill>
                <a:latin typeface="Consolas"/>
                <a:ea typeface="Consolas"/>
                <a:cs typeface="Consolas"/>
                <a:sym typeface="Consolas"/>
              </a:rPr>
              <a:t>         Escribir "Nota estudiante ", i, " en materia ", j, ":"</a:t>
            </a:r>
          </a:p>
          <a:p>
            <a:pPr algn="l">
              <a:lnSpc>
                <a:spcPts val="2639"/>
              </a:lnSpc>
            </a:pPr>
            <a:r>
              <a:rPr lang="en-US" sz="2199">
                <a:solidFill>
                  <a:srgbClr val="1A1A1A"/>
                </a:solidFill>
                <a:latin typeface="Consolas"/>
                <a:ea typeface="Consolas"/>
                <a:cs typeface="Consolas"/>
                <a:sym typeface="Consolas"/>
              </a:rPr>
              <a:t>         Leer notas(i, j)</a:t>
            </a:r>
          </a:p>
          <a:p>
            <a:pPr algn="l">
              <a:lnSpc>
                <a:spcPts val="2639"/>
              </a:lnSpc>
            </a:pPr>
            <a:r>
              <a:rPr lang="en-US" sz="2199">
                <a:solidFill>
                  <a:srgbClr val="1A1A1A"/>
                </a:solidFill>
                <a:latin typeface="Consolas"/>
                <a:ea typeface="Consolas"/>
                <a:cs typeface="Consolas"/>
                <a:sym typeface="Consolas"/>
              </a:rPr>
              <a:t>      FinPara</a:t>
            </a:r>
          </a:p>
          <a:p>
            <a:pPr algn="l">
              <a:lnSpc>
                <a:spcPts val="2639"/>
              </a:lnSpc>
            </a:pPr>
            <a:r>
              <a:rPr lang="en-US" sz="2199">
                <a:solidFill>
                  <a:srgbClr val="1A1A1A"/>
                </a:solidFill>
                <a:latin typeface="Consolas"/>
                <a:ea typeface="Consolas"/>
                <a:cs typeface="Consolas"/>
                <a:sym typeface="Consolas"/>
              </a:rPr>
              <a:t>   FinPara</a:t>
            </a:r>
          </a:p>
          <a:p>
            <a:pPr algn="l">
              <a:lnSpc>
                <a:spcPts val="2639"/>
              </a:lnSpc>
            </a:pPr>
            <a:r>
              <a:rPr lang="en-US" sz="2199">
                <a:solidFill>
                  <a:srgbClr val="1A1A1A"/>
                </a:solidFill>
                <a:latin typeface="Consolas"/>
                <a:ea typeface="Consolas"/>
                <a:cs typeface="Consolas"/>
                <a:sym typeface="Consolas"/>
              </a:rPr>
              <a:t>FinProceso</a:t>
            </a:r>
          </a:p>
        </p:txBody>
      </p:sp>
      <p:sp>
        <p:nvSpPr>
          <p:cNvPr name="TextBox 7" id="7"/>
          <p:cNvSpPr txBox="true"/>
          <p:nvPr/>
        </p:nvSpPr>
        <p:spPr>
          <a:xfrm rot="0">
            <a:off x="12137694" y="1696404"/>
            <a:ext cx="4656135" cy="447675"/>
          </a:xfrm>
          <a:prstGeom prst="rect">
            <a:avLst/>
          </a:prstGeom>
        </p:spPr>
        <p:txBody>
          <a:bodyPr anchor="t" rtlCol="false" tIns="0" lIns="0" bIns="0" rIns="0">
            <a:spAutoFit/>
          </a:bodyPr>
          <a:lstStyle/>
          <a:p>
            <a:pPr algn="l">
              <a:lnSpc>
                <a:spcPts val="3119"/>
              </a:lnSpc>
            </a:pPr>
            <a:r>
              <a:rPr lang="en-US" sz="2599" b="true">
                <a:solidFill>
                  <a:srgbClr val="1A1A1A"/>
                </a:solidFill>
                <a:latin typeface="Calibri (MS) Bold"/>
                <a:ea typeface="Calibri (MS) Bold"/>
                <a:cs typeface="Calibri (MS) Bold"/>
                <a:sym typeface="Calibri (MS) Bold"/>
              </a:rPr>
              <a:t>Orden de recorrido (F=2, C=3):</a:t>
            </a:r>
          </a:p>
        </p:txBody>
      </p:sp>
      <p:graphicFrame>
        <p:nvGraphicFramePr>
          <p:cNvPr name="Table 8" id="8"/>
          <p:cNvGraphicFramePr>
            <a:graphicFrameLocks noGrp="true"/>
          </p:cNvGraphicFramePr>
          <p:nvPr/>
        </p:nvGraphicFramePr>
        <p:xfrm>
          <a:off x="12137694" y="2254454"/>
          <a:ext cx="5121606" cy="4622800"/>
        </p:xfrm>
        <a:graphic>
          <a:graphicData uri="http://schemas.openxmlformats.org/drawingml/2006/table">
            <a:tbl>
              <a:tblPr/>
              <a:tblGrid>
                <a:gridCol w="831068"/>
                <a:gridCol w="1050485"/>
                <a:gridCol w="3240053"/>
              </a:tblGrid>
              <a:tr h="660400">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i</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j</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Posición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660400">
                <a:tc>
                  <a:txBody>
                    <a:bodyPr anchor="t" rtlCol="false"/>
                    <a:lstStyle/>
                    <a:p>
                      <a:pPr algn="l">
                        <a:lnSpc>
                          <a:spcPts val="2640"/>
                        </a:lnSpc>
                        <a:defRPr/>
                      </a:pPr>
                      <a:r>
                        <a:rPr lang="en-US" sz="22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notas[1,1]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60400">
                <a:tc>
                  <a:txBody>
                    <a:bodyPr anchor="t" rtlCol="false"/>
                    <a:lstStyle/>
                    <a:p>
                      <a:pPr algn="l">
                        <a:lnSpc>
                          <a:spcPts val="2640"/>
                        </a:lnSpc>
                        <a:defRPr/>
                      </a:pPr>
                      <a:r>
                        <a:rPr lang="en-US" sz="22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notas[1,2]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60400">
                <a:tc>
                  <a:txBody>
                    <a:bodyPr anchor="t" rtlCol="false"/>
                    <a:lstStyle/>
                    <a:p>
                      <a:pPr algn="l">
                        <a:lnSpc>
                          <a:spcPts val="2640"/>
                        </a:lnSpc>
                        <a:defRPr/>
                      </a:pPr>
                      <a:r>
                        <a:rPr lang="en-US" sz="22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notas[1,3]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60400">
                <a:tc>
                  <a:txBody>
                    <a:bodyPr anchor="t" rtlCol="false"/>
                    <a:lstStyle/>
                    <a:p>
                      <a:pPr algn="l">
                        <a:lnSpc>
                          <a:spcPts val="2640"/>
                        </a:lnSpc>
                        <a:defRPr/>
                      </a:pPr>
                      <a:r>
                        <a:rPr lang="en-US" sz="2200">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notas[2,1]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60400">
                <a:tc>
                  <a:txBody>
                    <a:bodyPr anchor="t" rtlCol="false"/>
                    <a:lstStyle/>
                    <a:p>
                      <a:pPr algn="l">
                        <a:lnSpc>
                          <a:spcPts val="2640"/>
                        </a:lnSpc>
                        <a:defRPr/>
                      </a:pPr>
                      <a:r>
                        <a:rPr lang="en-US" sz="2200">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notas[2,2]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660400">
                <a:tc>
                  <a:txBody>
                    <a:bodyPr anchor="t" rtlCol="false"/>
                    <a:lstStyle/>
                    <a:p>
                      <a:pPr algn="l">
                        <a:lnSpc>
                          <a:spcPts val="2640"/>
                        </a:lnSpc>
                        <a:defRPr/>
                      </a:pPr>
                      <a:r>
                        <a:rPr lang="en-US" sz="2200">
                          <a:solidFill>
                            <a:srgbClr val="000000"/>
                          </a:solidFill>
                          <a:latin typeface="Calibri (MS)"/>
                          <a:ea typeface="Calibri (MS)"/>
                          <a:cs typeface="Calibri (MS)"/>
                          <a:sym typeface="Calibri (MS)"/>
                        </a:rPr>
                        <a:t>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notas[2,3]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grpSp>
        <p:nvGrpSpPr>
          <p:cNvPr name="Group 9" id="9"/>
          <p:cNvGrpSpPr/>
          <p:nvPr/>
        </p:nvGrpSpPr>
        <p:grpSpPr>
          <a:xfrm rot="0">
            <a:off x="901698" y="8435132"/>
            <a:ext cx="16484603" cy="976379"/>
            <a:chOff x="0" y="0"/>
            <a:chExt cx="21979471" cy="1301839"/>
          </a:xfrm>
        </p:grpSpPr>
        <p:sp>
          <p:nvSpPr>
            <p:cNvPr name="Freeform 10" id="10"/>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solidFill>
              <a:srgbClr val="F5F5F5"/>
            </a:solidFill>
          </p:spPr>
        </p:sp>
        <p:sp>
          <p:nvSpPr>
            <p:cNvPr name="Freeform 11" id="11"/>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DDDDDD"/>
            </a:solidFill>
          </p:spPr>
        </p:sp>
      </p:grpSp>
      <p:grpSp>
        <p:nvGrpSpPr>
          <p:cNvPr name="Group 12" id="12"/>
          <p:cNvGrpSpPr/>
          <p:nvPr/>
        </p:nvGrpSpPr>
        <p:grpSpPr>
          <a:xfrm rot="0">
            <a:off x="1280155" y="8539269"/>
            <a:ext cx="15727680" cy="775208"/>
            <a:chOff x="0" y="0"/>
            <a:chExt cx="20970240" cy="1033611"/>
          </a:xfrm>
        </p:grpSpPr>
        <p:sp>
          <p:nvSpPr>
            <p:cNvPr name="Freeform 13" id="13"/>
            <p:cNvSpPr/>
            <p:nvPr/>
          </p:nvSpPr>
          <p:spPr>
            <a:xfrm flipH="false" flipV="false" rot="0">
              <a:off x="0" y="0"/>
              <a:ext cx="20970239" cy="1033611"/>
            </a:xfrm>
            <a:custGeom>
              <a:avLst/>
              <a:gdLst/>
              <a:ahLst/>
              <a:cxnLst/>
              <a:rect r="r" b="b" t="t" l="l"/>
              <a:pathLst>
                <a:path h="1033611" w="20970239">
                  <a:moveTo>
                    <a:pt x="0" y="0"/>
                  </a:moveTo>
                  <a:lnTo>
                    <a:pt x="20970239" y="0"/>
                  </a:lnTo>
                  <a:lnTo>
                    <a:pt x="20970239" y="1033611"/>
                  </a:lnTo>
                  <a:lnTo>
                    <a:pt x="0" y="1033611"/>
                  </a:lnTo>
                  <a:close/>
                </a:path>
              </a:pathLst>
            </a:custGeom>
            <a:blipFill>
              <a:blip r:embed="rId2">
                <a:alphaModFix amt="0"/>
              </a:blip>
              <a:stretch>
                <a:fillRect l="0" t="-345777" r="0" b="-344859"/>
              </a:stretch>
            </a:blipFill>
          </p:spPr>
        </p:sp>
        <p:sp>
          <p:nvSpPr>
            <p:cNvPr name="TextBox 14" id="14"/>
            <p:cNvSpPr txBox="true"/>
            <p:nvPr/>
          </p:nvSpPr>
          <p:spPr>
            <a:xfrm>
              <a:off x="0" y="-47625"/>
              <a:ext cx="20970240" cy="1081236"/>
            </a:xfrm>
            <a:prstGeom prst="rect">
              <a:avLst/>
            </a:prstGeom>
          </p:spPr>
          <p:txBody>
            <a:bodyPr anchor="ctr" rtlCol="false" tIns="0" lIns="0" bIns="0" rIns="0"/>
            <a:lstStyle/>
            <a:p>
              <a:pPr algn="l">
                <a:lnSpc>
                  <a:spcPts val="2640"/>
                </a:lnSpc>
              </a:pPr>
              <a:r>
                <a:rPr lang="en-US" b="true" sz="2200" i="true">
                  <a:solidFill>
                    <a:srgbClr val="444444"/>
                  </a:solidFill>
                  <a:latin typeface="Calibri (MS) Bold Italics"/>
                  <a:ea typeface="Calibri (MS) Bold Italics"/>
                  <a:cs typeface="Calibri (MS) Bold Italics"/>
                  <a:sym typeface="Calibri (MS) Bold Italics"/>
                </a:rPr>
                <a:t>Regla: el ciclo externo siempre controla las filas (i) y el ciclo interno las columnas (j). Cada vez que i avanza una fila, j recorre toda la fila completa.</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1397" y="102870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Operaciones con Matrices: Suma por Fila y Columna</a:t>
              </a:r>
            </a:p>
          </p:txBody>
        </p:sp>
      </p:grpSp>
      <p:sp>
        <p:nvSpPr>
          <p:cNvPr name="TextBox 5" id="5"/>
          <p:cNvSpPr txBox="true"/>
          <p:nvPr/>
        </p:nvSpPr>
        <p:spPr>
          <a:xfrm rot="0">
            <a:off x="1028700" y="2358532"/>
            <a:ext cx="16276320" cy="952500"/>
          </a:xfrm>
          <a:prstGeom prst="rect">
            <a:avLst/>
          </a:prstGeom>
        </p:spPr>
        <p:txBody>
          <a:bodyPr anchor="t" rtlCol="false" tIns="0" lIns="0" bIns="0" rIns="0">
            <a:spAutoFit/>
          </a:bodyPr>
          <a:lstStyle/>
          <a:p>
            <a:pPr algn="l">
              <a:lnSpc>
                <a:spcPts val="3599"/>
              </a:lnSpc>
            </a:pPr>
            <a:r>
              <a:rPr lang="en-US" sz="2999">
                <a:solidFill>
                  <a:srgbClr val="1A1A1A"/>
                </a:solidFill>
                <a:latin typeface="Calibri (MS)"/>
                <a:ea typeface="Calibri (MS)"/>
                <a:cs typeface="Calibri (MS)"/>
                <a:sym typeface="Calibri (MS)"/>
              </a:rPr>
              <a:t>Las operaciones más comunes en matrices son calcular la suma (o promedio) de cada fila y de cada columna de forma independiente.</a:t>
            </a:r>
          </a:p>
        </p:txBody>
      </p:sp>
      <p:sp>
        <p:nvSpPr>
          <p:cNvPr name="TextBox 6" id="6"/>
          <p:cNvSpPr txBox="true"/>
          <p:nvPr/>
        </p:nvSpPr>
        <p:spPr>
          <a:xfrm rot="0">
            <a:off x="1028700" y="3909803"/>
            <a:ext cx="7565198"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Suma de cada fila (total por estudiante):</a:t>
            </a:r>
          </a:p>
        </p:txBody>
      </p:sp>
      <p:grpSp>
        <p:nvGrpSpPr>
          <p:cNvPr name="Group 7" id="7"/>
          <p:cNvGrpSpPr/>
          <p:nvPr/>
        </p:nvGrpSpPr>
        <p:grpSpPr>
          <a:xfrm rot="0">
            <a:off x="1041397" y="4795628"/>
            <a:ext cx="8102603" cy="3170939"/>
            <a:chOff x="0" y="0"/>
            <a:chExt cx="10803471" cy="4227919"/>
          </a:xfrm>
        </p:grpSpPr>
        <p:sp>
          <p:nvSpPr>
            <p:cNvPr name="Freeform 8" id="8"/>
            <p:cNvSpPr/>
            <p:nvPr/>
          </p:nvSpPr>
          <p:spPr>
            <a:xfrm flipH="false" flipV="false" rot="0">
              <a:off x="16579" y="16891"/>
              <a:ext cx="10770225" cy="4194048"/>
            </a:xfrm>
            <a:custGeom>
              <a:avLst/>
              <a:gdLst/>
              <a:ahLst/>
              <a:cxnLst/>
              <a:rect r="r" b="b" t="t" l="l"/>
              <a:pathLst>
                <a:path h="4194048" w="10770225">
                  <a:moveTo>
                    <a:pt x="0" y="0"/>
                  </a:moveTo>
                  <a:lnTo>
                    <a:pt x="10770225" y="0"/>
                  </a:lnTo>
                  <a:lnTo>
                    <a:pt x="10770225" y="4194048"/>
                  </a:lnTo>
                  <a:lnTo>
                    <a:pt x="0" y="4194048"/>
                  </a:lnTo>
                  <a:close/>
                </a:path>
              </a:pathLst>
            </a:custGeom>
            <a:solidFill>
              <a:srgbClr val="F5F5F5"/>
            </a:solidFill>
          </p:spPr>
        </p:sp>
        <p:sp>
          <p:nvSpPr>
            <p:cNvPr name="Freeform 9" id="9"/>
            <p:cNvSpPr/>
            <p:nvPr/>
          </p:nvSpPr>
          <p:spPr>
            <a:xfrm flipH="false" flipV="false" rot="0">
              <a:off x="0" y="0"/>
              <a:ext cx="10803383" cy="4227830"/>
            </a:xfrm>
            <a:custGeom>
              <a:avLst/>
              <a:gdLst/>
              <a:ahLst/>
              <a:cxnLst/>
              <a:rect r="r" b="b" t="t" l="l"/>
              <a:pathLst>
                <a:path h="4227830" w="10803383">
                  <a:moveTo>
                    <a:pt x="16579" y="0"/>
                  </a:moveTo>
                  <a:lnTo>
                    <a:pt x="10786804" y="0"/>
                  </a:lnTo>
                  <a:cubicBezTo>
                    <a:pt x="10796029" y="0"/>
                    <a:pt x="10803383" y="7620"/>
                    <a:pt x="10803383" y="16891"/>
                  </a:cubicBezTo>
                  <a:lnTo>
                    <a:pt x="10803383" y="4210939"/>
                  </a:lnTo>
                  <a:cubicBezTo>
                    <a:pt x="10803383" y="4220337"/>
                    <a:pt x="10795905" y="4227830"/>
                    <a:pt x="10786804" y="4227830"/>
                  </a:cubicBezTo>
                  <a:lnTo>
                    <a:pt x="16579" y="4227830"/>
                  </a:lnTo>
                  <a:cubicBezTo>
                    <a:pt x="7355" y="4227830"/>
                    <a:pt x="0" y="4220210"/>
                    <a:pt x="0" y="4210939"/>
                  </a:cubicBezTo>
                  <a:lnTo>
                    <a:pt x="0" y="16891"/>
                  </a:lnTo>
                  <a:cubicBezTo>
                    <a:pt x="0" y="7620"/>
                    <a:pt x="7479" y="0"/>
                    <a:pt x="16579" y="0"/>
                  </a:cubicBezTo>
                  <a:moveTo>
                    <a:pt x="16579" y="33909"/>
                  </a:moveTo>
                  <a:lnTo>
                    <a:pt x="16579" y="16891"/>
                  </a:lnTo>
                  <a:lnTo>
                    <a:pt x="33283" y="16891"/>
                  </a:lnTo>
                  <a:lnTo>
                    <a:pt x="33283" y="4210939"/>
                  </a:lnTo>
                  <a:lnTo>
                    <a:pt x="16579" y="4210939"/>
                  </a:lnTo>
                  <a:lnTo>
                    <a:pt x="16579" y="4194048"/>
                  </a:lnTo>
                  <a:lnTo>
                    <a:pt x="10786804" y="4194048"/>
                  </a:lnTo>
                  <a:lnTo>
                    <a:pt x="10786804" y="4210939"/>
                  </a:lnTo>
                  <a:lnTo>
                    <a:pt x="10770226" y="4210939"/>
                  </a:lnTo>
                  <a:lnTo>
                    <a:pt x="10770226" y="16891"/>
                  </a:lnTo>
                  <a:lnTo>
                    <a:pt x="10786804" y="16891"/>
                  </a:lnTo>
                  <a:lnTo>
                    <a:pt x="10786804" y="33909"/>
                  </a:lnTo>
                  <a:lnTo>
                    <a:pt x="16579" y="33909"/>
                  </a:lnTo>
                  <a:close/>
                </a:path>
              </a:pathLst>
            </a:custGeom>
            <a:solidFill>
              <a:srgbClr val="DDDDDD"/>
            </a:solidFill>
          </p:spPr>
        </p:sp>
      </p:grpSp>
      <p:sp>
        <p:nvSpPr>
          <p:cNvPr name="TextBox 10" id="10"/>
          <p:cNvSpPr txBox="true"/>
          <p:nvPr/>
        </p:nvSpPr>
        <p:spPr>
          <a:xfrm rot="0">
            <a:off x="1419854" y="4989300"/>
            <a:ext cx="7498080" cy="2790825"/>
          </a:xfrm>
          <a:prstGeom prst="rect">
            <a:avLst/>
          </a:prstGeom>
        </p:spPr>
        <p:txBody>
          <a:bodyPr anchor="t" rtlCol="false" tIns="0" lIns="0" bIns="0" rIns="0">
            <a:spAutoFit/>
          </a:bodyPr>
          <a:lstStyle/>
          <a:p>
            <a:pPr algn="l">
              <a:lnSpc>
                <a:spcPts val="2759"/>
              </a:lnSpc>
            </a:pPr>
            <a:r>
              <a:rPr lang="en-US" sz="2299">
                <a:solidFill>
                  <a:srgbClr val="1A1A1A"/>
                </a:solidFill>
                <a:latin typeface="Consolas"/>
                <a:ea typeface="Consolas"/>
                <a:cs typeface="Consolas"/>
                <a:sym typeface="Consolas"/>
              </a:rPr>
              <a:t>Para i &lt;- 1 Hasta F Con Paso 1 Hacer</a:t>
            </a:r>
          </a:p>
          <a:p>
            <a:pPr algn="l">
              <a:lnSpc>
                <a:spcPts val="2759"/>
              </a:lnSpc>
            </a:pPr>
            <a:r>
              <a:rPr lang="en-US" sz="2299">
                <a:solidFill>
                  <a:srgbClr val="1A1A1A"/>
                </a:solidFill>
                <a:latin typeface="Consolas"/>
                <a:ea typeface="Consolas"/>
                <a:cs typeface="Consolas"/>
                <a:sym typeface="Consolas"/>
              </a:rPr>
              <a:t>   sumaFila &lt;- 0</a:t>
            </a:r>
          </a:p>
          <a:p>
            <a:pPr algn="l">
              <a:lnSpc>
                <a:spcPts val="2759"/>
              </a:lnSpc>
            </a:pPr>
            <a:r>
              <a:rPr lang="en-US" sz="2299">
                <a:solidFill>
                  <a:srgbClr val="1A1A1A"/>
                </a:solidFill>
                <a:latin typeface="Consolas"/>
                <a:ea typeface="Consolas"/>
                <a:cs typeface="Consolas"/>
                <a:sym typeface="Consolas"/>
              </a:rPr>
              <a:t>   Para j &lt;- 1 Hasta C Con Paso 1 Hacer</a:t>
            </a:r>
          </a:p>
          <a:p>
            <a:pPr algn="l">
              <a:lnSpc>
                <a:spcPts val="2759"/>
              </a:lnSpc>
            </a:pPr>
            <a:r>
              <a:rPr lang="en-US" sz="2299">
                <a:solidFill>
                  <a:srgbClr val="1A1A1A"/>
                </a:solidFill>
                <a:latin typeface="Consolas"/>
                <a:ea typeface="Consolas"/>
                <a:cs typeface="Consolas"/>
                <a:sym typeface="Consolas"/>
              </a:rPr>
              <a:t>      sumaFila &lt;- sumaFila + notas(i,j)</a:t>
            </a:r>
          </a:p>
          <a:p>
            <a:pPr algn="l">
              <a:lnSpc>
                <a:spcPts val="2759"/>
              </a:lnSpc>
            </a:pPr>
            <a:r>
              <a:rPr lang="en-US" sz="2299">
                <a:solidFill>
                  <a:srgbClr val="1A1A1A"/>
                </a:solidFill>
                <a:latin typeface="Consolas"/>
                <a:ea typeface="Consolas"/>
                <a:cs typeface="Consolas"/>
                <a:sym typeface="Consolas"/>
              </a:rPr>
              <a:t>   FinPara</a:t>
            </a:r>
          </a:p>
          <a:p>
            <a:pPr algn="l">
              <a:lnSpc>
                <a:spcPts val="2759"/>
              </a:lnSpc>
            </a:pPr>
            <a:r>
              <a:rPr lang="en-US" sz="2299">
                <a:solidFill>
                  <a:srgbClr val="1A1A1A"/>
                </a:solidFill>
                <a:latin typeface="Consolas"/>
                <a:ea typeface="Consolas"/>
                <a:cs typeface="Consolas"/>
                <a:sym typeface="Consolas"/>
              </a:rPr>
              <a:t>   Escribir "Suma estudiante ",i,": ",sumaFila</a:t>
            </a:r>
          </a:p>
          <a:p>
            <a:pPr algn="l">
              <a:lnSpc>
                <a:spcPts val="2759"/>
              </a:lnSpc>
            </a:pPr>
            <a:r>
              <a:rPr lang="en-US" sz="2299">
                <a:solidFill>
                  <a:srgbClr val="1A1A1A"/>
                </a:solidFill>
                <a:latin typeface="Consolas"/>
                <a:ea typeface="Consolas"/>
                <a:cs typeface="Consolas"/>
                <a:sym typeface="Consolas"/>
              </a:rPr>
              <a:t>   Escribir "Promedio:        ",sumaFila/C</a:t>
            </a:r>
          </a:p>
          <a:p>
            <a:pPr algn="l">
              <a:lnSpc>
                <a:spcPts val="2759"/>
              </a:lnSpc>
            </a:pPr>
            <a:r>
              <a:rPr lang="en-US" sz="2299">
                <a:solidFill>
                  <a:srgbClr val="1A1A1A"/>
                </a:solidFill>
                <a:latin typeface="Consolas"/>
                <a:ea typeface="Consolas"/>
                <a:cs typeface="Consolas"/>
                <a:sym typeface="Consolas"/>
              </a:rPr>
              <a:t>FinPara</a:t>
            </a:r>
          </a:p>
        </p:txBody>
      </p:sp>
      <p:sp>
        <p:nvSpPr>
          <p:cNvPr name="TextBox 11" id="11"/>
          <p:cNvSpPr txBox="true"/>
          <p:nvPr/>
        </p:nvSpPr>
        <p:spPr>
          <a:xfrm rot="0">
            <a:off x="9385297" y="3909803"/>
            <a:ext cx="7874003" cy="504825"/>
          </a:xfrm>
          <a:prstGeom prst="rect">
            <a:avLst/>
          </a:prstGeom>
        </p:spPr>
        <p:txBody>
          <a:bodyPr anchor="t" rtlCol="false" tIns="0" lIns="0" bIns="0" rIns="0">
            <a:spAutoFit/>
          </a:bodyPr>
          <a:lstStyle/>
          <a:p>
            <a:pPr algn="l">
              <a:lnSpc>
                <a:spcPts val="3599"/>
              </a:lnSpc>
            </a:pPr>
            <a:r>
              <a:rPr lang="en-US" sz="2999" b="true">
                <a:solidFill>
                  <a:srgbClr val="1A1A1A"/>
                </a:solidFill>
                <a:latin typeface="Calibri (MS) Bold"/>
                <a:ea typeface="Calibri (MS) Bold"/>
                <a:cs typeface="Calibri (MS) Bold"/>
                <a:sym typeface="Calibri (MS) Bold"/>
              </a:rPr>
              <a:t>Suma de cada columna (total por materia):</a:t>
            </a:r>
          </a:p>
        </p:txBody>
      </p:sp>
      <p:grpSp>
        <p:nvGrpSpPr>
          <p:cNvPr name="Group 12" id="12"/>
          <p:cNvGrpSpPr/>
          <p:nvPr/>
        </p:nvGrpSpPr>
        <p:grpSpPr>
          <a:xfrm rot="0">
            <a:off x="9362437" y="4795628"/>
            <a:ext cx="7785097" cy="3170939"/>
            <a:chOff x="0" y="0"/>
            <a:chExt cx="10380129" cy="4227919"/>
          </a:xfrm>
        </p:grpSpPr>
        <p:sp>
          <p:nvSpPr>
            <p:cNvPr name="Freeform 13" id="13"/>
            <p:cNvSpPr/>
            <p:nvPr/>
          </p:nvSpPr>
          <p:spPr>
            <a:xfrm flipH="false" flipV="false" rot="0">
              <a:off x="15930" y="16891"/>
              <a:ext cx="10348187" cy="4194048"/>
            </a:xfrm>
            <a:custGeom>
              <a:avLst/>
              <a:gdLst/>
              <a:ahLst/>
              <a:cxnLst/>
              <a:rect r="r" b="b" t="t" l="l"/>
              <a:pathLst>
                <a:path h="4194048" w="10348187">
                  <a:moveTo>
                    <a:pt x="0" y="0"/>
                  </a:moveTo>
                  <a:lnTo>
                    <a:pt x="10348186" y="0"/>
                  </a:lnTo>
                  <a:lnTo>
                    <a:pt x="10348186" y="4194048"/>
                  </a:lnTo>
                  <a:lnTo>
                    <a:pt x="0" y="4194048"/>
                  </a:lnTo>
                  <a:close/>
                </a:path>
              </a:pathLst>
            </a:custGeom>
            <a:solidFill>
              <a:srgbClr val="F5F5F5"/>
            </a:solidFill>
          </p:spPr>
        </p:sp>
        <p:sp>
          <p:nvSpPr>
            <p:cNvPr name="Freeform 14" id="14"/>
            <p:cNvSpPr/>
            <p:nvPr/>
          </p:nvSpPr>
          <p:spPr>
            <a:xfrm flipH="false" flipV="false" rot="0">
              <a:off x="0" y="0"/>
              <a:ext cx="10380045" cy="4227830"/>
            </a:xfrm>
            <a:custGeom>
              <a:avLst/>
              <a:gdLst/>
              <a:ahLst/>
              <a:cxnLst/>
              <a:rect r="r" b="b" t="t" l="l"/>
              <a:pathLst>
                <a:path h="4227830" w="10380045">
                  <a:moveTo>
                    <a:pt x="15930" y="0"/>
                  </a:moveTo>
                  <a:lnTo>
                    <a:pt x="10364116" y="0"/>
                  </a:lnTo>
                  <a:cubicBezTo>
                    <a:pt x="10372979" y="0"/>
                    <a:pt x="10380045" y="7620"/>
                    <a:pt x="10380045" y="16891"/>
                  </a:cubicBezTo>
                  <a:lnTo>
                    <a:pt x="10380045" y="4210939"/>
                  </a:lnTo>
                  <a:cubicBezTo>
                    <a:pt x="10380045" y="4220337"/>
                    <a:pt x="10372859" y="4227830"/>
                    <a:pt x="10364116" y="4227830"/>
                  </a:cubicBezTo>
                  <a:lnTo>
                    <a:pt x="15930" y="4227830"/>
                  </a:lnTo>
                  <a:cubicBezTo>
                    <a:pt x="7066" y="4227830"/>
                    <a:pt x="0" y="4220210"/>
                    <a:pt x="0" y="4210939"/>
                  </a:cubicBezTo>
                  <a:lnTo>
                    <a:pt x="0" y="16891"/>
                  </a:lnTo>
                  <a:cubicBezTo>
                    <a:pt x="0" y="7620"/>
                    <a:pt x="7186" y="0"/>
                    <a:pt x="15930" y="0"/>
                  </a:cubicBezTo>
                  <a:moveTo>
                    <a:pt x="15930" y="33909"/>
                  </a:moveTo>
                  <a:lnTo>
                    <a:pt x="15930" y="16891"/>
                  </a:lnTo>
                  <a:lnTo>
                    <a:pt x="31979" y="16891"/>
                  </a:lnTo>
                  <a:lnTo>
                    <a:pt x="31979" y="4210939"/>
                  </a:lnTo>
                  <a:lnTo>
                    <a:pt x="15930" y="4210939"/>
                  </a:lnTo>
                  <a:lnTo>
                    <a:pt x="15930" y="4194048"/>
                  </a:lnTo>
                  <a:lnTo>
                    <a:pt x="10364116" y="4194048"/>
                  </a:lnTo>
                  <a:lnTo>
                    <a:pt x="10364116" y="4210939"/>
                  </a:lnTo>
                  <a:lnTo>
                    <a:pt x="10348186" y="4210939"/>
                  </a:lnTo>
                  <a:lnTo>
                    <a:pt x="10348186" y="16891"/>
                  </a:lnTo>
                  <a:lnTo>
                    <a:pt x="10364116" y="16891"/>
                  </a:lnTo>
                  <a:lnTo>
                    <a:pt x="10364116" y="33909"/>
                  </a:lnTo>
                  <a:lnTo>
                    <a:pt x="15930" y="33909"/>
                  </a:lnTo>
                  <a:close/>
                </a:path>
              </a:pathLst>
            </a:custGeom>
            <a:solidFill>
              <a:srgbClr val="DDDDDD"/>
            </a:solidFill>
          </p:spPr>
        </p:sp>
      </p:grpSp>
      <p:sp>
        <p:nvSpPr>
          <p:cNvPr name="TextBox 15" id="15"/>
          <p:cNvSpPr txBox="true"/>
          <p:nvPr/>
        </p:nvSpPr>
        <p:spPr>
          <a:xfrm rot="0">
            <a:off x="9649454" y="4989300"/>
            <a:ext cx="7498080" cy="2790825"/>
          </a:xfrm>
          <a:prstGeom prst="rect">
            <a:avLst/>
          </a:prstGeom>
        </p:spPr>
        <p:txBody>
          <a:bodyPr anchor="t" rtlCol="false" tIns="0" lIns="0" bIns="0" rIns="0">
            <a:spAutoFit/>
          </a:bodyPr>
          <a:lstStyle/>
          <a:p>
            <a:pPr algn="l">
              <a:lnSpc>
                <a:spcPts val="2759"/>
              </a:lnSpc>
            </a:pPr>
            <a:r>
              <a:rPr lang="en-US" sz="2299">
                <a:solidFill>
                  <a:srgbClr val="1A1A1A"/>
                </a:solidFill>
                <a:latin typeface="Consolas"/>
                <a:ea typeface="Consolas"/>
                <a:cs typeface="Consolas"/>
                <a:sym typeface="Consolas"/>
              </a:rPr>
              <a:t>Para j &lt;- 1 Hasta C Con Paso 1 Hacer</a:t>
            </a:r>
          </a:p>
          <a:p>
            <a:pPr algn="l">
              <a:lnSpc>
                <a:spcPts val="2759"/>
              </a:lnSpc>
            </a:pPr>
            <a:r>
              <a:rPr lang="en-US" sz="2299">
                <a:solidFill>
                  <a:srgbClr val="1A1A1A"/>
                </a:solidFill>
                <a:latin typeface="Consolas"/>
                <a:ea typeface="Consolas"/>
                <a:cs typeface="Consolas"/>
                <a:sym typeface="Consolas"/>
              </a:rPr>
              <a:t>   sumaCol &lt;- 0</a:t>
            </a:r>
          </a:p>
          <a:p>
            <a:pPr algn="l">
              <a:lnSpc>
                <a:spcPts val="2759"/>
              </a:lnSpc>
            </a:pPr>
            <a:r>
              <a:rPr lang="en-US" sz="2299">
                <a:solidFill>
                  <a:srgbClr val="1A1A1A"/>
                </a:solidFill>
                <a:latin typeface="Consolas"/>
                <a:ea typeface="Consolas"/>
                <a:cs typeface="Consolas"/>
                <a:sym typeface="Consolas"/>
              </a:rPr>
              <a:t>   Para i &lt;- 1 Hasta F Con Paso 1 Hacer</a:t>
            </a:r>
          </a:p>
          <a:p>
            <a:pPr algn="l">
              <a:lnSpc>
                <a:spcPts val="2759"/>
              </a:lnSpc>
            </a:pPr>
            <a:r>
              <a:rPr lang="en-US" sz="2299">
                <a:solidFill>
                  <a:srgbClr val="1A1A1A"/>
                </a:solidFill>
                <a:latin typeface="Consolas"/>
                <a:ea typeface="Consolas"/>
                <a:cs typeface="Consolas"/>
                <a:sym typeface="Consolas"/>
              </a:rPr>
              <a:t>      sumaCol &lt;- sumaCol + notas(i,j)</a:t>
            </a:r>
          </a:p>
          <a:p>
            <a:pPr algn="l">
              <a:lnSpc>
                <a:spcPts val="2759"/>
              </a:lnSpc>
            </a:pPr>
            <a:r>
              <a:rPr lang="en-US" sz="2299">
                <a:solidFill>
                  <a:srgbClr val="1A1A1A"/>
                </a:solidFill>
                <a:latin typeface="Consolas"/>
                <a:ea typeface="Consolas"/>
                <a:cs typeface="Consolas"/>
                <a:sym typeface="Consolas"/>
              </a:rPr>
              <a:t>   FinPara</a:t>
            </a:r>
          </a:p>
          <a:p>
            <a:pPr algn="l">
              <a:lnSpc>
                <a:spcPts val="2759"/>
              </a:lnSpc>
            </a:pPr>
            <a:r>
              <a:rPr lang="en-US" sz="2299">
                <a:solidFill>
                  <a:srgbClr val="1A1A1A"/>
                </a:solidFill>
                <a:latin typeface="Consolas"/>
                <a:ea typeface="Consolas"/>
                <a:cs typeface="Consolas"/>
                <a:sym typeface="Consolas"/>
              </a:rPr>
              <a:t>   Escribir "Suma materia ",j,": ",sumaCol</a:t>
            </a:r>
          </a:p>
          <a:p>
            <a:pPr algn="l">
              <a:lnSpc>
                <a:spcPts val="2759"/>
              </a:lnSpc>
            </a:pPr>
            <a:r>
              <a:rPr lang="en-US" sz="2299">
                <a:solidFill>
                  <a:srgbClr val="1A1A1A"/>
                </a:solidFill>
                <a:latin typeface="Consolas"/>
                <a:ea typeface="Consolas"/>
                <a:cs typeface="Consolas"/>
                <a:sym typeface="Consolas"/>
              </a:rPr>
              <a:t>   Escribir "Promedio:     ",sumaCol/F</a:t>
            </a:r>
          </a:p>
          <a:p>
            <a:pPr algn="l">
              <a:lnSpc>
                <a:spcPts val="2759"/>
              </a:lnSpc>
            </a:pPr>
            <a:r>
              <a:rPr lang="en-US" sz="2299">
                <a:solidFill>
                  <a:srgbClr val="1A1A1A"/>
                </a:solidFill>
                <a:latin typeface="Consolas"/>
                <a:ea typeface="Consolas"/>
                <a:cs typeface="Consolas"/>
                <a:sym typeface="Consolas"/>
              </a:rPr>
              <a:t>FinPara</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386792"/>
            <a:ext cx="10892025" cy="561975"/>
          </a:xfrm>
          <a:prstGeom prst="rect">
            <a:avLst/>
          </a:prstGeom>
        </p:spPr>
        <p:txBody>
          <a:bodyPr anchor="t" rtlCol="false" tIns="0" lIns="0" bIns="0" rIns="0">
            <a:spAutoFit/>
          </a:bodyPr>
          <a:lstStyle/>
          <a:p>
            <a:pPr algn="l">
              <a:lnSpc>
                <a:spcPts val="3839"/>
              </a:lnSpc>
            </a:pPr>
            <a:r>
              <a:rPr lang="en-US" sz="3199" b="true">
                <a:solidFill>
                  <a:srgbClr val="1A1A1A"/>
                </a:solidFill>
                <a:latin typeface="Calibri (MS) Bold"/>
                <a:ea typeface="Calibri (MS) Bold"/>
                <a:cs typeface="Calibri (MS) Bold"/>
                <a:sym typeface="Calibri (MS) Bold"/>
              </a:rPr>
              <a:t>Resultado esperado con los datos de ejemplo:</a:t>
            </a:r>
          </a:p>
        </p:txBody>
      </p:sp>
      <p:graphicFrame>
        <p:nvGraphicFramePr>
          <p:cNvPr name="Table 3" id="3"/>
          <p:cNvGraphicFramePr>
            <a:graphicFrameLocks noGrp="true"/>
          </p:cNvGraphicFramePr>
          <p:nvPr/>
        </p:nvGraphicFramePr>
        <p:xfrm>
          <a:off x="1256937" y="2463117"/>
          <a:ext cx="15774126" cy="4298950"/>
        </p:xfrm>
        <a:graphic>
          <a:graphicData uri="http://schemas.openxmlformats.org/drawingml/2006/table">
            <a:tbl>
              <a:tblPr/>
              <a:tblGrid>
                <a:gridCol w="2597847"/>
                <a:gridCol w="1832862"/>
                <a:gridCol w="1854767"/>
                <a:gridCol w="2095722"/>
                <a:gridCol w="1482381"/>
                <a:gridCol w="2722332"/>
                <a:gridCol w="3188215"/>
              </a:tblGrid>
              <a:tr h="716492">
                <a:tc>
                  <a:txBody>
                    <a:bodyPr anchor="t" rtlCol="false"/>
                    <a:lstStyle/>
                    <a:p>
                      <a:pPr algn="l">
                        <a:lnSpc>
                          <a:spcPts val="2239"/>
                        </a:lnSpc>
                        <a:defRPr/>
                      </a:pP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Mat. 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Mat. 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Mat. 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Mat. 4</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Suma fila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Prom. estudiante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716492">
                <a:tc>
                  <a:txBody>
                    <a:bodyPr anchor="t" rtlCol="false"/>
                    <a:lstStyle/>
                    <a:p>
                      <a:pPr algn="l">
                        <a:lnSpc>
                          <a:spcPts val="3119"/>
                        </a:lnSpc>
                        <a:defRPr/>
                      </a:pPr>
                      <a:r>
                        <a:rPr lang="en-US" sz="2599">
                          <a:solidFill>
                            <a:srgbClr val="000000"/>
                          </a:solidFill>
                          <a:latin typeface="Calibri (MS)"/>
                          <a:ea typeface="Calibri (MS)"/>
                          <a:cs typeface="Calibri (MS)"/>
                          <a:sym typeface="Calibri (MS)"/>
                        </a:rPr>
                        <a:t>Est. 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72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91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68</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316</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79.00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716492">
                <a:tc>
                  <a:txBody>
                    <a:bodyPr anchor="t" rtlCol="false"/>
                    <a:lstStyle/>
                    <a:p>
                      <a:pPr algn="l">
                        <a:lnSpc>
                          <a:spcPts val="3119"/>
                        </a:lnSpc>
                        <a:defRPr/>
                      </a:pPr>
                      <a:r>
                        <a:rPr lang="en-US" sz="2599">
                          <a:solidFill>
                            <a:srgbClr val="000000"/>
                          </a:solidFill>
                          <a:latin typeface="Calibri (MS)"/>
                          <a:ea typeface="Calibri (MS)"/>
                          <a:cs typeface="Calibri (MS)"/>
                          <a:sym typeface="Calibri (MS)"/>
                        </a:rPr>
                        <a:t>Est. 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78</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60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92</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315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78.75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716492">
                <a:tc>
                  <a:txBody>
                    <a:bodyPr anchor="t" rtlCol="false"/>
                    <a:lstStyle/>
                    <a:p>
                      <a:pPr algn="l">
                        <a:lnSpc>
                          <a:spcPts val="3119"/>
                        </a:lnSpc>
                        <a:defRPr/>
                      </a:pPr>
                      <a:r>
                        <a:rPr lang="en-US" sz="2599">
                          <a:solidFill>
                            <a:srgbClr val="000000"/>
                          </a:solidFill>
                          <a:latin typeface="Calibri (MS)"/>
                          <a:ea typeface="Calibri (MS)"/>
                          <a:cs typeface="Calibri (MS)"/>
                          <a:sym typeface="Calibri (MS)"/>
                        </a:rPr>
                        <a:t>Est. 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95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88</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74</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338</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84.50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716492">
                <a:tc>
                  <a:txBody>
                    <a:bodyPr anchor="t" rtlCol="false"/>
                    <a:lstStyle/>
                    <a:p>
                      <a:pPr algn="l">
                        <a:lnSpc>
                          <a:spcPts val="3119"/>
                        </a:lnSpc>
                        <a:defRPr/>
                      </a:pPr>
                      <a:r>
                        <a:rPr lang="en-US" sz="2599" b="true">
                          <a:solidFill>
                            <a:srgbClr val="1A1A1A"/>
                          </a:solidFill>
                          <a:latin typeface="Calibri (MS) Bold"/>
                          <a:ea typeface="Calibri (MS) Bold"/>
                          <a:cs typeface="Calibri (MS) Bold"/>
                          <a:sym typeface="Calibri (MS) Bold"/>
                        </a:rPr>
                        <a:t>Suma col.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5F5F5"/>
                    </a:solidFill>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258</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245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225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241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b="true">
                          <a:solidFill>
                            <a:srgbClr val="1A1A1A"/>
                          </a:solidFill>
                          <a:latin typeface="Calibri (MS) Bold"/>
                          <a:ea typeface="Calibri (MS) Bold"/>
                          <a:cs typeface="Calibri (MS) Bold"/>
                          <a:sym typeface="Calibri (MS) Bold"/>
                        </a:rPr>
                        <a:t>Total: 969</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5F5F5"/>
                    </a:solidFill>
                  </a:tcPr>
                </a:tc>
                <a:tc>
                  <a:txBody>
                    <a:bodyPr anchor="t" rtlCol="false"/>
                    <a:lstStyle/>
                    <a:p>
                      <a:pPr algn="l">
                        <a:lnSpc>
                          <a:spcPts val="3119"/>
                        </a:lnSpc>
                        <a:defRPr/>
                      </a:pPr>
                      <a:r>
                        <a:rPr lang="en-US" sz="2599" b="true">
                          <a:solidFill>
                            <a:srgbClr val="1A1A1A"/>
                          </a:solidFill>
                          <a:latin typeface="Calibri (MS) Bold"/>
                          <a:ea typeface="Calibri (MS) Bold"/>
                          <a:cs typeface="Calibri (MS) Bold"/>
                          <a:sym typeface="Calibri (MS) Bold"/>
                        </a:rPr>
                        <a:t>Prom. : 80.75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5F5F5"/>
                    </a:solidFill>
                  </a:tcPr>
                </a:tc>
              </a:tr>
              <a:tr h="716492">
                <a:tc>
                  <a:txBody>
                    <a:bodyPr anchor="t" rtlCol="false"/>
                    <a:lstStyle/>
                    <a:p>
                      <a:pPr algn="l">
                        <a:lnSpc>
                          <a:spcPts val="3119"/>
                        </a:lnSpc>
                        <a:defRPr/>
                      </a:pPr>
                      <a:r>
                        <a:rPr lang="en-US" sz="2599" b="true">
                          <a:solidFill>
                            <a:srgbClr val="1A1A1A"/>
                          </a:solidFill>
                          <a:latin typeface="Calibri (MS) Bold"/>
                          <a:ea typeface="Calibri (MS) Bold"/>
                          <a:cs typeface="Calibri (MS) Bold"/>
                          <a:sym typeface="Calibri (MS) Bold"/>
                        </a:rPr>
                        <a:t>Prom. materia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5F5F5"/>
                    </a:solidFill>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86.00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81.67</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75.00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80.33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239"/>
                        </a:lnSpc>
                        <a:defRPr/>
                      </a:pP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239"/>
                        </a:lnSpc>
                        <a:defRPr/>
                      </a:pP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grpSp>
        <p:nvGrpSpPr>
          <p:cNvPr name="Group 4" id="4"/>
          <p:cNvGrpSpPr/>
          <p:nvPr/>
        </p:nvGrpSpPr>
        <p:grpSpPr>
          <a:xfrm rot="0">
            <a:off x="1181912" y="7315965"/>
            <a:ext cx="15924177" cy="1417435"/>
            <a:chOff x="0" y="0"/>
            <a:chExt cx="21232236" cy="1889913"/>
          </a:xfrm>
        </p:grpSpPr>
        <p:sp>
          <p:nvSpPr>
            <p:cNvPr name="Freeform 5" id="5"/>
            <p:cNvSpPr/>
            <p:nvPr/>
          </p:nvSpPr>
          <p:spPr>
            <a:xfrm flipH="false" flipV="false" rot="0">
              <a:off x="16317" y="28221"/>
              <a:ext cx="21199515" cy="1833322"/>
            </a:xfrm>
            <a:custGeom>
              <a:avLst/>
              <a:gdLst/>
              <a:ahLst/>
              <a:cxnLst/>
              <a:rect r="r" b="b" t="t" l="l"/>
              <a:pathLst>
                <a:path h="1833322" w="21199515">
                  <a:moveTo>
                    <a:pt x="0" y="0"/>
                  </a:moveTo>
                  <a:lnTo>
                    <a:pt x="21199515" y="0"/>
                  </a:lnTo>
                  <a:lnTo>
                    <a:pt x="21199515" y="1833323"/>
                  </a:lnTo>
                  <a:lnTo>
                    <a:pt x="0" y="1833323"/>
                  </a:lnTo>
                  <a:close/>
                </a:path>
              </a:pathLst>
            </a:custGeom>
            <a:solidFill>
              <a:srgbClr val="F5F5F5"/>
            </a:solidFill>
          </p:spPr>
        </p:sp>
        <p:sp>
          <p:nvSpPr>
            <p:cNvPr name="Freeform 6" id="6"/>
            <p:cNvSpPr/>
            <p:nvPr/>
          </p:nvSpPr>
          <p:spPr>
            <a:xfrm flipH="false" flipV="false" rot="0">
              <a:off x="0" y="0"/>
              <a:ext cx="21232151" cy="1889767"/>
            </a:xfrm>
            <a:custGeom>
              <a:avLst/>
              <a:gdLst/>
              <a:ahLst/>
              <a:cxnLst/>
              <a:rect r="r" b="b" t="t" l="l"/>
              <a:pathLst>
                <a:path h="1889767" w="21232151">
                  <a:moveTo>
                    <a:pt x="16317" y="0"/>
                  </a:moveTo>
                  <a:lnTo>
                    <a:pt x="21215832" y="0"/>
                  </a:lnTo>
                  <a:cubicBezTo>
                    <a:pt x="21224912" y="0"/>
                    <a:pt x="21232151" y="12731"/>
                    <a:pt x="21232151" y="28221"/>
                  </a:cubicBezTo>
                  <a:lnTo>
                    <a:pt x="21232151" y="1861544"/>
                  </a:lnTo>
                  <a:cubicBezTo>
                    <a:pt x="21232151" y="1877246"/>
                    <a:pt x="21224790" y="1889765"/>
                    <a:pt x="21215832" y="1889765"/>
                  </a:cubicBezTo>
                  <a:lnTo>
                    <a:pt x="16317" y="1889765"/>
                  </a:lnTo>
                  <a:cubicBezTo>
                    <a:pt x="7361" y="1889951"/>
                    <a:pt x="0" y="1877246"/>
                    <a:pt x="0" y="1861544"/>
                  </a:cubicBezTo>
                  <a:lnTo>
                    <a:pt x="0" y="28221"/>
                  </a:lnTo>
                  <a:cubicBezTo>
                    <a:pt x="0" y="12731"/>
                    <a:pt x="7361" y="0"/>
                    <a:pt x="16317" y="0"/>
                  </a:cubicBezTo>
                  <a:moveTo>
                    <a:pt x="16317" y="56655"/>
                  </a:moveTo>
                  <a:lnTo>
                    <a:pt x="16317" y="28221"/>
                  </a:lnTo>
                  <a:lnTo>
                    <a:pt x="32756" y="28221"/>
                  </a:lnTo>
                  <a:lnTo>
                    <a:pt x="32756" y="1861544"/>
                  </a:lnTo>
                  <a:lnTo>
                    <a:pt x="16317" y="1861544"/>
                  </a:lnTo>
                  <a:lnTo>
                    <a:pt x="16317" y="1833322"/>
                  </a:lnTo>
                  <a:lnTo>
                    <a:pt x="21215832" y="1833322"/>
                  </a:lnTo>
                  <a:lnTo>
                    <a:pt x="21215832" y="1861544"/>
                  </a:lnTo>
                  <a:lnTo>
                    <a:pt x="21199517" y="1861544"/>
                  </a:lnTo>
                  <a:lnTo>
                    <a:pt x="21199517" y="28221"/>
                  </a:lnTo>
                  <a:lnTo>
                    <a:pt x="21215832" y="28221"/>
                  </a:lnTo>
                  <a:lnTo>
                    <a:pt x="21215832" y="56655"/>
                  </a:lnTo>
                  <a:lnTo>
                    <a:pt x="16317" y="56655"/>
                  </a:lnTo>
                  <a:close/>
                </a:path>
              </a:pathLst>
            </a:custGeom>
            <a:solidFill>
              <a:srgbClr val="DDDDDD"/>
            </a:solidFill>
          </p:spPr>
        </p:sp>
      </p:grpSp>
      <p:grpSp>
        <p:nvGrpSpPr>
          <p:cNvPr name="Group 7" id="7"/>
          <p:cNvGrpSpPr/>
          <p:nvPr/>
        </p:nvGrpSpPr>
        <p:grpSpPr>
          <a:xfrm rot="0">
            <a:off x="1317486" y="7524248"/>
            <a:ext cx="15485340" cy="1043247"/>
            <a:chOff x="0" y="0"/>
            <a:chExt cx="20647120" cy="1390996"/>
          </a:xfrm>
        </p:grpSpPr>
        <p:sp>
          <p:nvSpPr>
            <p:cNvPr name="Freeform 8" id="8"/>
            <p:cNvSpPr/>
            <p:nvPr/>
          </p:nvSpPr>
          <p:spPr>
            <a:xfrm flipH="false" flipV="false" rot="0">
              <a:off x="0" y="0"/>
              <a:ext cx="20647120" cy="1390996"/>
            </a:xfrm>
            <a:custGeom>
              <a:avLst/>
              <a:gdLst/>
              <a:ahLst/>
              <a:cxnLst/>
              <a:rect r="r" b="b" t="t" l="l"/>
              <a:pathLst>
                <a:path h="1390996" w="20647120">
                  <a:moveTo>
                    <a:pt x="0" y="0"/>
                  </a:moveTo>
                  <a:lnTo>
                    <a:pt x="20647120" y="0"/>
                  </a:lnTo>
                  <a:lnTo>
                    <a:pt x="20647120" y="1390996"/>
                  </a:lnTo>
                  <a:lnTo>
                    <a:pt x="0" y="1390996"/>
                  </a:lnTo>
                  <a:close/>
                </a:path>
              </a:pathLst>
            </a:custGeom>
            <a:blipFill>
              <a:blip r:embed="rId2">
                <a:alphaModFix amt="0"/>
              </a:blip>
              <a:stretch>
                <a:fillRect l="0" t="-263073" r="-1564" b="-224427"/>
              </a:stretch>
            </a:blipFill>
          </p:spPr>
        </p:sp>
        <p:sp>
          <p:nvSpPr>
            <p:cNvPr name="TextBox 9" id="9"/>
            <p:cNvSpPr txBox="true"/>
            <p:nvPr/>
          </p:nvSpPr>
          <p:spPr>
            <a:xfrm>
              <a:off x="0" y="-57150"/>
              <a:ext cx="20647120" cy="1448146"/>
            </a:xfrm>
            <a:prstGeom prst="rect">
              <a:avLst/>
            </a:prstGeom>
          </p:spPr>
          <p:txBody>
            <a:bodyPr anchor="ctr" rtlCol="false" tIns="0" lIns="0" bIns="0" rIns="0"/>
            <a:lstStyle/>
            <a:p>
              <a:pPr algn="l">
                <a:lnSpc>
                  <a:spcPts val="3599"/>
                </a:lnSpc>
              </a:pPr>
              <a:r>
                <a:rPr lang="en-US" b="true" sz="2999" i="true">
                  <a:solidFill>
                    <a:srgbClr val="444444"/>
                  </a:solidFill>
                  <a:latin typeface="Calibri (MS) Bold Italics"/>
                  <a:ea typeface="Calibri (MS) Bold Italics"/>
                  <a:cs typeface="Calibri (MS) Bold Italics"/>
                  <a:sym typeface="Calibri (MS) Bold Italics"/>
                </a:rPr>
                <a:t>Observación: al cambiar de fila a columna, los ciclos se invierten: el ciclo externo cambia de i a j y el interno de j a i.</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790116"/>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1A1A1A"/>
                  </a:solidFill>
                  <a:latin typeface="Calibri (MS) Bold"/>
                  <a:ea typeface="Calibri (MS) Bold"/>
                  <a:cs typeface="Calibri (MS) Bold"/>
                  <a:sym typeface="Calibri (MS) Bold"/>
                </a:rPr>
                <a:t>Vector vs. Matriz: Comparación Conceptual</a:t>
              </a:r>
            </a:p>
          </p:txBody>
        </p:sp>
      </p:grpSp>
      <p:graphicFrame>
        <p:nvGraphicFramePr>
          <p:cNvPr name="Table 5" id="5"/>
          <p:cNvGraphicFramePr>
            <a:graphicFrameLocks noGrp="true"/>
          </p:cNvGraphicFramePr>
          <p:nvPr/>
        </p:nvGraphicFramePr>
        <p:xfrm>
          <a:off x="914400" y="2093136"/>
          <a:ext cx="16459200" cy="7403747"/>
        </p:xfrm>
        <a:graphic>
          <a:graphicData uri="http://schemas.openxmlformats.org/drawingml/2006/table">
            <a:tbl>
              <a:tblPr/>
              <a:tblGrid>
                <a:gridCol w="4580389"/>
                <a:gridCol w="5486400"/>
                <a:gridCol w="6392411"/>
              </a:tblGrid>
              <a:tr h="914558">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Criterio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Vector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760"/>
                        </a:lnSpc>
                        <a:defRPr/>
                      </a:pPr>
                      <a:r>
                        <a:rPr lang="en-US" sz="2300" b="true">
                          <a:solidFill>
                            <a:srgbClr val="FFFFFF"/>
                          </a:solidFill>
                          <a:latin typeface="Calibri (MS) Bold"/>
                          <a:ea typeface="Calibri (MS) Bold"/>
                          <a:cs typeface="Calibri (MS) Bold"/>
                          <a:sym typeface="Calibri (MS) Bold"/>
                        </a:rPr>
                        <a:t>Matriz</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914558">
                <a:tc>
                  <a:txBody>
                    <a:bodyPr anchor="t" rtlCol="false"/>
                    <a:lstStyle/>
                    <a:p>
                      <a:pPr algn="l">
                        <a:lnSpc>
                          <a:spcPts val="2760"/>
                        </a:lnSpc>
                        <a:defRPr/>
                      </a:pPr>
                      <a:r>
                        <a:rPr lang="en-US" sz="2300">
                          <a:solidFill>
                            <a:srgbClr val="000000"/>
                          </a:solidFill>
                          <a:latin typeface="Calibri (MS)"/>
                          <a:ea typeface="Calibri (MS)"/>
                          <a:cs typeface="Calibri (MS)"/>
                          <a:sym typeface="Calibri (MS)"/>
                        </a:rPr>
                        <a:t>Dimensiones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Una (longitud 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Dos (F filas × C columnas)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14558">
                <a:tc>
                  <a:txBody>
                    <a:bodyPr anchor="t" rtlCol="false"/>
                    <a:lstStyle/>
                    <a:p>
                      <a:pPr algn="l">
                        <a:lnSpc>
                          <a:spcPts val="2760"/>
                        </a:lnSpc>
                        <a:defRPr/>
                      </a:pPr>
                      <a:r>
                        <a:rPr lang="en-US" sz="2300">
                          <a:solidFill>
                            <a:srgbClr val="000000"/>
                          </a:solidFill>
                          <a:latin typeface="Calibri (MS)"/>
                          <a:ea typeface="Calibri (MS)"/>
                          <a:cs typeface="Calibri (MS)"/>
                          <a:sym typeface="Calibri (MS)"/>
                        </a:rPr>
                        <a:t>Índices para acceder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Uno: v[i]</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Dos: m[i, j]</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14558">
                <a:tc>
                  <a:txBody>
                    <a:bodyPr anchor="t" rtlCol="false"/>
                    <a:lstStyle/>
                    <a:p>
                      <a:pPr algn="l">
                        <a:lnSpc>
                          <a:spcPts val="2760"/>
                        </a:lnSpc>
                        <a:defRPr/>
                      </a:pPr>
                      <a:r>
                        <a:rPr lang="en-US" sz="2300">
                          <a:solidFill>
                            <a:srgbClr val="000000"/>
                          </a:solidFill>
                          <a:latin typeface="Calibri (MS)"/>
                          <a:ea typeface="Calibri (MS)"/>
                          <a:cs typeface="Calibri (MS)"/>
                          <a:sym typeface="Calibri (MS)"/>
                        </a:rPr>
                        <a:t>Declaración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Dimension v[N]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Dimension m[F, 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14558">
                <a:tc>
                  <a:txBody>
                    <a:bodyPr anchor="t" rtlCol="false"/>
                    <a:lstStyle/>
                    <a:p>
                      <a:pPr algn="l">
                        <a:lnSpc>
                          <a:spcPts val="2760"/>
                        </a:lnSpc>
                        <a:defRPr/>
                      </a:pPr>
                      <a:r>
                        <a:rPr lang="en-US" sz="2300">
                          <a:solidFill>
                            <a:srgbClr val="000000"/>
                          </a:solidFill>
                          <a:latin typeface="Calibri (MS)"/>
                          <a:ea typeface="Calibri (MS)"/>
                          <a:cs typeface="Calibri (MS)"/>
                          <a:sym typeface="Calibri (MS)"/>
                        </a:rPr>
                        <a:t>Ciclos para recorrer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Un solo Para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Dos Para anidados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14558">
                <a:tc>
                  <a:txBody>
                    <a:bodyPr anchor="t" rtlCol="false"/>
                    <a:lstStyle/>
                    <a:p>
                      <a:pPr algn="l">
                        <a:lnSpc>
                          <a:spcPts val="2760"/>
                        </a:lnSpc>
                        <a:defRPr/>
                      </a:pPr>
                      <a:r>
                        <a:rPr lang="en-US" sz="2300">
                          <a:solidFill>
                            <a:srgbClr val="000000"/>
                          </a:solidFill>
                          <a:latin typeface="Calibri (MS)"/>
                          <a:ea typeface="Calibri (MS)"/>
                          <a:cs typeface="Calibri (MS)"/>
                          <a:sym typeface="Calibri (MS)"/>
                        </a:rPr>
                        <a:t>Total de elementos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F × 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001844">
                <a:tc>
                  <a:txBody>
                    <a:bodyPr anchor="t" rtlCol="false"/>
                    <a:lstStyle/>
                    <a:p>
                      <a:pPr algn="l">
                        <a:lnSpc>
                          <a:spcPts val="2760"/>
                        </a:lnSpc>
                        <a:defRPr/>
                      </a:pPr>
                      <a:r>
                        <a:rPr lang="en-US" sz="2300">
                          <a:solidFill>
                            <a:srgbClr val="000000"/>
                          </a:solidFill>
                          <a:latin typeface="Calibri (MS)"/>
                          <a:ea typeface="Calibri (MS)"/>
                          <a:cs typeface="Calibri (MS)"/>
                          <a:sym typeface="Calibri (MS)"/>
                        </a:rPr>
                        <a:t>Cuándo usarlo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Lista de una sola categoría: notas de un estudiante, temperaturas de una semana.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Tabla con dos categorías que se cruzan: notas de varios estudiantes en varias materias.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14558">
                <a:tc>
                  <a:txBody>
                    <a:bodyPr anchor="t" rtlCol="false"/>
                    <a:lstStyle/>
                    <a:p>
                      <a:pPr algn="l">
                        <a:lnSpc>
                          <a:spcPts val="2760"/>
                        </a:lnSpc>
                        <a:defRPr/>
                      </a:pPr>
                      <a:r>
                        <a:rPr lang="en-US" sz="2300">
                          <a:solidFill>
                            <a:srgbClr val="000000"/>
                          </a:solidFill>
                          <a:latin typeface="Calibri (MS)"/>
                          <a:ea typeface="Calibri (MS)"/>
                          <a:cs typeface="Calibri (MS)"/>
                          <a:sym typeface="Calibri (MS)"/>
                        </a:rPr>
                        <a:t>Complejidad del código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Simple: 1 ciclo basta para casi todo.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760"/>
                        </a:lnSpc>
                        <a:defRPr/>
                      </a:pPr>
                      <a:r>
                        <a:rPr lang="en-US" sz="2300">
                          <a:solidFill>
                            <a:srgbClr val="000000"/>
                          </a:solidFill>
                          <a:latin typeface="Calibri (MS)"/>
                          <a:ea typeface="Calibri (MS)"/>
                          <a:cs typeface="Calibri (MS)"/>
                          <a:sym typeface="Calibri (MS)"/>
                        </a:rPr>
                        <a:t>Mayor: cada operación requiere 2 ciclos anidados.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000" y="986790"/>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ctr">
                <a:lnSpc>
                  <a:spcPts val="5759"/>
                </a:lnSpc>
              </a:pPr>
              <a:r>
                <a:rPr lang="en-US" sz="4800" b="true">
                  <a:solidFill>
                    <a:srgbClr val="1A1A1A"/>
                  </a:solidFill>
                  <a:latin typeface="Calibri (MS) Bold"/>
                  <a:ea typeface="Calibri (MS) Bold"/>
                  <a:cs typeface="Calibri (MS) Bold"/>
                  <a:sym typeface="Calibri (MS) Bold"/>
                </a:rPr>
                <a:t>Errores Comunes al Usar Arreglos</a:t>
              </a:r>
            </a:p>
          </p:txBody>
        </p:sp>
      </p:grpSp>
      <p:graphicFrame>
        <p:nvGraphicFramePr>
          <p:cNvPr name="Table 5" id="5"/>
          <p:cNvGraphicFramePr>
            <a:graphicFrameLocks noGrp="true"/>
          </p:cNvGraphicFramePr>
          <p:nvPr/>
        </p:nvGraphicFramePr>
        <p:xfrm>
          <a:off x="1028700" y="2289810"/>
          <a:ext cx="16433800" cy="7010400"/>
        </p:xfrm>
        <a:graphic>
          <a:graphicData uri="http://schemas.openxmlformats.org/drawingml/2006/table">
            <a:tbl>
              <a:tblPr/>
              <a:tblGrid>
                <a:gridCol w="4030553"/>
                <a:gridCol w="6020701"/>
                <a:gridCol w="6382546"/>
              </a:tblGrid>
              <a:tr h="1168400">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Error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Cómo evitarlo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1168400">
                <a:tc>
                  <a:txBody>
                    <a:bodyPr anchor="t" rtlCol="false"/>
                    <a:lstStyle/>
                    <a:p>
                      <a:pPr algn="l">
                        <a:lnSpc>
                          <a:spcPts val="2640"/>
                        </a:lnSpc>
                        <a:defRPr/>
                      </a:pPr>
                      <a:r>
                        <a:rPr lang="en-US" sz="2200">
                          <a:solidFill>
                            <a:srgbClr val="000000"/>
                          </a:solidFill>
                          <a:latin typeface="Calibri (MS)"/>
                          <a:ea typeface="Calibri (MS)"/>
                          <a:cs typeface="Calibri (MS)"/>
                          <a:sym typeface="Calibri (MS)"/>
                        </a:rPr>
                        <a:t>Índice fuera de rango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Acceder a notas[6] en un arreglo declarado con Dimensionar notas[5].</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PSeInt genera error de ejecución. Verificar que i siempre esté entre 1 y 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168400">
                <a:tc>
                  <a:txBody>
                    <a:bodyPr anchor="t" rtlCol="false"/>
                    <a:lstStyle/>
                    <a:p>
                      <a:pPr algn="l">
                        <a:lnSpc>
                          <a:spcPts val="2640"/>
                        </a:lnSpc>
                        <a:defRPr/>
                      </a:pPr>
                      <a:r>
                        <a:rPr lang="en-US" sz="2200">
                          <a:solidFill>
                            <a:srgbClr val="000000"/>
                          </a:solidFill>
                          <a:latin typeface="Calibri (MS)"/>
                          <a:ea typeface="Calibri (MS)"/>
                          <a:cs typeface="Calibri (MS)"/>
                          <a:sym typeface="Calibri (MS)"/>
                        </a:rPr>
                        <a:t>Olvidar reiniciar el acumulador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No escribir suma &lt;- 0 antes del ciclo de suma para cada fila o columna.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El resultado suma valores de iteraciones anteriores. Siempre inicializar antes del ciclo.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168400">
                <a:tc>
                  <a:txBody>
                    <a:bodyPr anchor="t" rtlCol="false"/>
                    <a:lstStyle/>
                    <a:p>
                      <a:pPr algn="l">
                        <a:lnSpc>
                          <a:spcPts val="2640"/>
                        </a:lnSpc>
                        <a:defRPr/>
                      </a:pPr>
                      <a:r>
                        <a:rPr lang="en-US" sz="2200">
                          <a:solidFill>
                            <a:srgbClr val="000000"/>
                          </a:solidFill>
                          <a:latin typeface="Calibri (MS)"/>
                          <a:ea typeface="Calibri (MS)"/>
                          <a:cs typeface="Calibri (MS)"/>
                          <a:sym typeface="Calibri (MS)"/>
                        </a:rPr>
                        <a:t>Confundir i y j en la matriz</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Escribir notas[j,i] cuando se necesita notas[i,j].</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Los resultados serán incorrectos. Verificar que i = fila y j = columna.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168400">
                <a:tc>
                  <a:txBody>
                    <a:bodyPr anchor="t" rtlCol="false"/>
                    <a:lstStyle/>
                    <a:p>
                      <a:pPr algn="l">
                        <a:lnSpc>
                          <a:spcPts val="2640"/>
                        </a:lnSpc>
                        <a:defRPr/>
                      </a:pPr>
                      <a:r>
                        <a:rPr lang="en-US" sz="2200">
                          <a:solidFill>
                            <a:srgbClr val="000000"/>
                          </a:solidFill>
                          <a:latin typeface="Calibri (MS)"/>
                          <a:ea typeface="Calibri (MS)"/>
                          <a:cs typeface="Calibri (MS)"/>
                          <a:sym typeface="Calibri (MS)"/>
                        </a:rPr>
                        <a:t>Inicializar el máximo con 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Si todos los valores son menores que 0, el máximo quedará en 0 (valor ficticio).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Inicializar siempre con el primer elemento real: maximo &lt;- notas[1] o maximo &lt;- notas[1,1].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168400">
                <a:tc>
                  <a:txBody>
                    <a:bodyPr anchor="t" rtlCol="false"/>
                    <a:lstStyle/>
                    <a:p>
                      <a:pPr algn="l">
                        <a:lnSpc>
                          <a:spcPts val="2640"/>
                        </a:lnSpc>
                        <a:defRPr/>
                      </a:pPr>
                      <a:r>
                        <a:rPr lang="en-US" sz="2200">
                          <a:solidFill>
                            <a:srgbClr val="000000"/>
                          </a:solidFill>
                          <a:latin typeface="Calibri (MS)"/>
                          <a:ea typeface="Calibri (MS)"/>
                          <a:cs typeface="Calibri (MS)"/>
                          <a:sym typeface="Calibri (MS)"/>
                        </a:rPr>
                        <a:t>Olvidar actualizar el índice en Mientras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En un ciclo Mientras que controla un índice manual, no incrementar i genera un ciclo infinito.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Calibri (MS)"/>
                          <a:ea typeface="Calibri (MS)"/>
                          <a:cs typeface="Calibri (MS)"/>
                          <a:sym typeface="Calibri (MS)"/>
                        </a:rPr>
                        <a:t>Usar preferentemente el ciclo Para para recorrer arreglos, ya que actualiza el índice automáticamente.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7908" y="642019"/>
            <a:ext cx="16459200" cy="1005840"/>
            <a:chOff x="0" y="0"/>
            <a:chExt cx="21945600" cy="1341120"/>
          </a:xfrm>
        </p:grpSpPr>
        <p:sp>
          <p:nvSpPr>
            <p:cNvPr name="Freeform 3" id="3"/>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3">
                <a:alphaModFix amt="0"/>
              </a:blip>
              <a:stretch>
                <a:fillRect l="0" t="-268846" r="0" b="-268846"/>
              </a:stretch>
            </a:blipFill>
          </p:spPr>
        </p:sp>
        <p:sp>
          <p:nvSpPr>
            <p:cNvPr name="TextBox 4" id="4"/>
            <p:cNvSpPr txBox="true"/>
            <p:nvPr/>
          </p:nvSpPr>
          <p:spPr>
            <a:xfrm>
              <a:off x="0" y="-85725"/>
              <a:ext cx="21945600" cy="1426845"/>
            </a:xfrm>
            <a:prstGeom prst="rect">
              <a:avLst/>
            </a:prstGeom>
          </p:spPr>
          <p:txBody>
            <a:bodyPr anchor="ctr" rtlCol="false" tIns="0" lIns="0" bIns="0" rIns="0"/>
            <a:lstStyle/>
            <a:p>
              <a:pPr algn="ctr">
                <a:lnSpc>
                  <a:spcPts val="5759"/>
                </a:lnSpc>
              </a:pPr>
              <a:r>
                <a:rPr lang="en-US" sz="4800" b="true">
                  <a:solidFill>
                    <a:srgbClr val="1A1A1A"/>
                  </a:solidFill>
                  <a:latin typeface="Calibri (MS) Bold"/>
                  <a:ea typeface="Calibri (MS) Bold"/>
                  <a:cs typeface="Calibri (MS) Bold"/>
                  <a:sym typeface="Calibri (MS) Bold"/>
                </a:rPr>
                <a:t>Conceptos aprendidos</a:t>
              </a:r>
            </a:p>
          </p:txBody>
        </p:sp>
      </p:grpSp>
      <p:graphicFrame>
        <p:nvGraphicFramePr>
          <p:cNvPr name="Table 5" id="5"/>
          <p:cNvGraphicFramePr>
            <a:graphicFrameLocks noGrp="true"/>
          </p:cNvGraphicFramePr>
          <p:nvPr/>
        </p:nvGraphicFramePr>
        <p:xfrm>
          <a:off x="850902" y="1698661"/>
          <a:ext cx="16459200" cy="7946319"/>
        </p:xfrm>
        <a:graphic>
          <a:graphicData uri="http://schemas.openxmlformats.org/drawingml/2006/table">
            <a:tbl>
              <a:tblPr/>
              <a:tblGrid>
                <a:gridCol w="4594439"/>
                <a:gridCol w="11864761"/>
              </a:tblGrid>
              <a:tr h="965332">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Concepto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2879"/>
                        </a:lnSpc>
                        <a:defRPr/>
                      </a:pPr>
                      <a:r>
                        <a:rPr lang="en-US" sz="2400" b="true">
                          <a:solidFill>
                            <a:srgbClr val="FFFFFF"/>
                          </a:solidFill>
                          <a:latin typeface="Calibri (MS) Bold"/>
                          <a:ea typeface="Calibri (MS) Bold"/>
                          <a:cs typeface="Calibri (MS) Bold"/>
                          <a:sym typeface="Calibri (MS) Bold"/>
                        </a:rPr>
                        <a:t>Idea principal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1039887">
                <a:tc>
                  <a:txBody>
                    <a:bodyPr anchor="t" rtlCol="false"/>
                    <a:lstStyle/>
                    <a:p>
                      <a:pPr algn="l">
                        <a:lnSpc>
                          <a:spcPts val="2879"/>
                        </a:lnSpc>
                        <a:defRPr/>
                      </a:pPr>
                      <a:r>
                        <a:rPr lang="en-US" sz="2400">
                          <a:solidFill>
                            <a:srgbClr val="000000"/>
                          </a:solidFill>
                          <a:latin typeface="Calibri (MS)"/>
                          <a:ea typeface="Calibri (MS)"/>
                          <a:cs typeface="Calibri (MS)"/>
                          <a:sym typeface="Calibri (MS)"/>
                        </a:rPr>
                        <a:t>Arreglo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Estructura que almacena varios valores del mismo tipo bajo un único nombre, con acceso por índice.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65332">
                <a:tc>
                  <a:txBody>
                    <a:bodyPr anchor="t" rtlCol="false"/>
                    <a:lstStyle/>
                    <a:p>
                      <a:pPr algn="l">
                        <a:lnSpc>
                          <a:spcPts val="2879"/>
                        </a:lnSpc>
                        <a:defRPr/>
                      </a:pPr>
                      <a:r>
                        <a:rPr lang="en-US" sz="2400">
                          <a:solidFill>
                            <a:srgbClr val="000000"/>
                          </a:solidFill>
                          <a:latin typeface="Calibri (MS)"/>
                          <a:ea typeface="Calibri (MS)"/>
                          <a:cs typeface="Calibri (MS)"/>
                          <a:sym typeface="Calibri (MS)"/>
                        </a:rPr>
                        <a:t>Vector (1D)</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Fila de posiciones. Un índice. Declaración: Dimensionar v[N]. Recorrido: un ciclo Para.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039887">
                <a:tc>
                  <a:txBody>
                    <a:bodyPr anchor="t" rtlCol="false"/>
                    <a:lstStyle/>
                    <a:p>
                      <a:pPr algn="l">
                        <a:lnSpc>
                          <a:spcPts val="2879"/>
                        </a:lnSpc>
                        <a:defRPr/>
                      </a:pPr>
                      <a:r>
                        <a:rPr lang="en-US" sz="2400">
                          <a:solidFill>
                            <a:srgbClr val="000000"/>
                          </a:solidFill>
                          <a:latin typeface="Calibri (MS)"/>
                          <a:ea typeface="Calibri (MS)"/>
                          <a:cs typeface="Calibri (MS)"/>
                          <a:sym typeface="Calibri (MS)"/>
                        </a:rPr>
                        <a:t>Matriz (2D)</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Tabla de filas y columnas. Dos índices. Declaración: Dimensionar m[F,C]. Recorrido: doble ciclo Para.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65332">
                <a:tc>
                  <a:txBody>
                    <a:bodyPr anchor="t" rtlCol="false"/>
                    <a:lstStyle/>
                    <a:p>
                      <a:pPr algn="l">
                        <a:lnSpc>
                          <a:spcPts val="2879"/>
                        </a:lnSpc>
                        <a:defRPr/>
                      </a:pPr>
                      <a:r>
                        <a:rPr lang="en-US" sz="2400">
                          <a:solidFill>
                            <a:srgbClr val="000000"/>
                          </a:solidFill>
                          <a:latin typeface="Calibri (MS)"/>
                          <a:ea typeface="Calibri (MS)"/>
                          <a:cs typeface="Calibri (MS)"/>
                          <a:sym typeface="Calibri (MS)"/>
                        </a:rPr>
                        <a:t>Ciclo Para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Ideal para recorrer arreglos. El índice recorre automáticamente de 1 a 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65332">
                <a:tc>
                  <a:txBody>
                    <a:bodyPr anchor="t" rtlCol="false"/>
                    <a:lstStyle/>
                    <a:p>
                      <a:pPr algn="l">
                        <a:lnSpc>
                          <a:spcPts val="2879"/>
                        </a:lnSpc>
                        <a:defRPr/>
                      </a:pPr>
                      <a:r>
                        <a:rPr lang="en-US" sz="2400">
                          <a:solidFill>
                            <a:srgbClr val="000000"/>
                          </a:solidFill>
                          <a:latin typeface="Calibri (MS)"/>
                          <a:ea typeface="Calibri (MS)"/>
                          <a:cs typeface="Calibri (MS)"/>
                          <a:sym typeface="Calibri (MS)"/>
                        </a:rPr>
                        <a:t>Ciclo Mientras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Útil cuando no se sabe cuántas repeticiones habrá. Condición se evalúa antes.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965332">
                <a:tc>
                  <a:txBody>
                    <a:bodyPr anchor="t" rtlCol="false"/>
                    <a:lstStyle/>
                    <a:p>
                      <a:pPr algn="l">
                        <a:lnSpc>
                          <a:spcPts val="2879"/>
                        </a:lnSpc>
                        <a:defRPr/>
                      </a:pPr>
                      <a:r>
                        <a:rPr lang="en-US" sz="2400">
                          <a:solidFill>
                            <a:srgbClr val="000000"/>
                          </a:solidFill>
                          <a:latin typeface="Calibri (MS)"/>
                          <a:ea typeface="Calibri (MS)"/>
                          <a:cs typeface="Calibri (MS)"/>
                          <a:sym typeface="Calibri (MS)"/>
                        </a:rPr>
                        <a:t>Ciclo Repetir</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Garantiza al menos una ejecución. Ideal para validar entradas. Condición se evalúa después.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1039887">
                <a:tc>
                  <a:txBody>
                    <a:bodyPr anchor="t" rtlCol="false"/>
                    <a:lstStyle/>
                    <a:p>
                      <a:pPr algn="l">
                        <a:lnSpc>
                          <a:spcPts val="2879"/>
                        </a:lnSpc>
                        <a:defRPr/>
                      </a:pPr>
                      <a:r>
                        <a:rPr lang="en-US" sz="2400">
                          <a:solidFill>
                            <a:srgbClr val="000000"/>
                          </a:solidFill>
                          <a:latin typeface="Calibri (MS)"/>
                          <a:ea typeface="Calibri (MS)"/>
                          <a:cs typeface="Calibri (MS)"/>
                          <a:sym typeface="Calibri (MS)"/>
                        </a:rPr>
                        <a:t>Ciclo infinito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2879"/>
                        </a:lnSpc>
                        <a:defRPr/>
                      </a:pPr>
                      <a:r>
                        <a:rPr lang="en-US" sz="2400">
                          <a:solidFill>
                            <a:srgbClr val="000000"/>
                          </a:solidFill>
                          <a:latin typeface="Calibri (MS)"/>
                          <a:ea typeface="Calibri (MS)"/>
                          <a:cs typeface="Calibri (MS)"/>
                          <a:sym typeface="Calibri (MS)"/>
                        </a:rPr>
                        <a:t>Ocurre si la condición de salida nunca se cumple. Prevenirlo actualizando siempre la variable de control.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grpSp>
        <p:nvGrpSpPr>
          <p:cNvPr name="Group 6" id="6"/>
          <p:cNvGrpSpPr/>
          <p:nvPr/>
        </p:nvGrpSpPr>
        <p:grpSpPr>
          <a:xfrm rot="0">
            <a:off x="901703" y="10320023"/>
            <a:ext cx="16484603" cy="976379"/>
            <a:chOff x="0" y="0"/>
            <a:chExt cx="21979471" cy="1301839"/>
          </a:xfrm>
        </p:grpSpPr>
        <p:sp>
          <p:nvSpPr>
            <p:cNvPr name="Freeform 7" id="7"/>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solidFill>
              <a:srgbClr val="F5F5F5"/>
            </a:solidFill>
          </p:spPr>
        </p:sp>
        <p:sp>
          <p:nvSpPr>
            <p:cNvPr name="Freeform 8" id="8"/>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DDDDDD"/>
            </a:solidFill>
          </p:spPr>
        </p:sp>
      </p:grpSp>
      <p:grpSp>
        <p:nvGrpSpPr>
          <p:cNvPr name="Group 9" id="9"/>
          <p:cNvGrpSpPr/>
          <p:nvPr/>
        </p:nvGrpSpPr>
        <p:grpSpPr>
          <a:xfrm rot="0">
            <a:off x="1280160" y="10424160"/>
            <a:ext cx="15727680" cy="768096"/>
            <a:chOff x="0" y="0"/>
            <a:chExt cx="20970240" cy="1024128"/>
          </a:xfrm>
        </p:grpSpPr>
        <p:sp>
          <p:nvSpPr>
            <p:cNvPr name="Freeform 10" id="10"/>
            <p:cNvSpPr/>
            <p:nvPr/>
          </p:nvSpPr>
          <p:spPr>
            <a:xfrm flipH="false" flipV="false" rot="0">
              <a:off x="0" y="0"/>
              <a:ext cx="20970239" cy="1024128"/>
            </a:xfrm>
            <a:custGeom>
              <a:avLst/>
              <a:gdLst/>
              <a:ahLst/>
              <a:cxnLst/>
              <a:rect r="r" b="b" t="t" l="l"/>
              <a:pathLst>
                <a:path h="1024128" w="20970239">
                  <a:moveTo>
                    <a:pt x="0" y="0"/>
                  </a:moveTo>
                  <a:lnTo>
                    <a:pt x="20970239" y="0"/>
                  </a:lnTo>
                  <a:lnTo>
                    <a:pt x="20970239" y="1024128"/>
                  </a:lnTo>
                  <a:lnTo>
                    <a:pt x="0" y="1024128"/>
                  </a:lnTo>
                  <a:close/>
                </a:path>
              </a:pathLst>
            </a:custGeom>
            <a:blipFill>
              <a:blip r:embed="rId3">
                <a:alphaModFix amt="0"/>
              </a:blip>
              <a:stretch>
                <a:fillRect l="0" t="-348979" r="0" b="-348979"/>
              </a:stretch>
            </a:blipFill>
          </p:spPr>
        </p:sp>
        <p:sp>
          <p:nvSpPr>
            <p:cNvPr name="TextBox 11" id="11"/>
            <p:cNvSpPr txBox="true"/>
            <p:nvPr/>
          </p:nvSpPr>
          <p:spPr>
            <a:xfrm>
              <a:off x="0" y="-47625"/>
              <a:ext cx="20970240" cy="1071753"/>
            </a:xfrm>
            <a:prstGeom prst="rect">
              <a:avLst/>
            </a:prstGeom>
          </p:spPr>
          <p:txBody>
            <a:bodyPr anchor="ctr" rtlCol="false" tIns="0" lIns="0" bIns="0" rIns="0"/>
            <a:lstStyle/>
            <a:p>
              <a:pPr algn="l">
                <a:lnSpc>
                  <a:spcPts val="2640"/>
                </a:lnSpc>
              </a:pPr>
              <a:r>
                <a:rPr lang="en-US" sz="2200" i="true">
                  <a:solidFill>
                    <a:srgbClr val="444444"/>
                  </a:solidFill>
                  <a:latin typeface="Calibri (MS) Italics"/>
                  <a:ea typeface="Calibri (MS) Italics"/>
                  <a:cs typeface="Calibri (MS) Italics"/>
                  <a:sym typeface="Calibri (MS) Italics"/>
                </a:rPr>
                <a:t>Regla de oro: el índice del ciclo y el índice del arreglo son el mismo. Esa conexión es lo que permite procesar automáticamente cada elemento.</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442794" y="3712365"/>
            <a:ext cx="13402413" cy="3166110"/>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Canva Sans"/>
                <a:ea typeface="Canva Sans"/>
                <a:cs typeface="Canva Sans"/>
                <a:sym typeface="Canva Sans"/>
              </a:rPr>
              <a:t>La resp</a:t>
            </a:r>
            <a:r>
              <a:rPr lang="en-US" sz="3599">
                <a:solidFill>
                  <a:srgbClr val="000000"/>
                </a:solidFill>
                <a:latin typeface="Canva Sans"/>
                <a:ea typeface="Canva Sans"/>
                <a:cs typeface="Canva Sans"/>
                <a:sym typeface="Canva Sans"/>
              </a:rPr>
              <a:t>onsabilidad permite al estudiante cumplir con todas las actividades y aplicar correctamente los fundamentos de algoritmos, como descomposición, reconocimiento de patrones y abstracción, para analizar y resolver problemas de manera ordenada y completa</a:t>
            </a:r>
          </a:p>
        </p:txBody>
      </p:sp>
      <p:grpSp>
        <p:nvGrpSpPr>
          <p:cNvPr name="Group 3" id="3"/>
          <p:cNvGrpSpPr/>
          <p:nvPr/>
        </p:nvGrpSpPr>
        <p:grpSpPr>
          <a:xfrm rot="0">
            <a:off x="914400" y="1618652"/>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85725"/>
              <a:ext cx="21945600" cy="1426845"/>
            </a:xfrm>
            <a:prstGeom prst="rect">
              <a:avLst/>
            </a:prstGeom>
          </p:spPr>
          <p:txBody>
            <a:bodyPr anchor="ctr" rtlCol="false" tIns="0" lIns="0" bIns="0" rIns="0"/>
            <a:lstStyle/>
            <a:p>
              <a:pPr algn="ctr">
                <a:lnSpc>
                  <a:spcPts val="5759"/>
                </a:lnSpc>
              </a:pPr>
              <a:r>
                <a:rPr lang="en-US" sz="4800" b="true">
                  <a:solidFill>
                    <a:srgbClr val="1A1A1A"/>
                  </a:solidFill>
                  <a:latin typeface="Calibri (MS) Bold"/>
                  <a:ea typeface="Calibri (MS) Bold"/>
                  <a:cs typeface="Calibri (MS) Bold"/>
                  <a:sym typeface="Calibri (MS) Bold"/>
                </a:rPr>
                <a:t>Responsabilidad</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478090"/>
            <a:ext cx="16230600" cy="1005840"/>
            <a:chOff x="0" y="0"/>
            <a:chExt cx="21640800" cy="1341120"/>
          </a:xfrm>
        </p:grpSpPr>
        <p:sp>
          <p:nvSpPr>
            <p:cNvPr name="Freeform 3" id="3"/>
            <p:cNvSpPr/>
            <p:nvPr/>
          </p:nvSpPr>
          <p:spPr>
            <a:xfrm flipH="false" flipV="false" rot="0">
              <a:off x="0" y="0"/>
              <a:ext cx="21640800" cy="1341120"/>
            </a:xfrm>
            <a:custGeom>
              <a:avLst/>
              <a:gdLst/>
              <a:ahLst/>
              <a:cxnLst/>
              <a:rect r="r" b="b" t="t" l="l"/>
              <a:pathLst>
                <a:path h="1341120" w="21640800">
                  <a:moveTo>
                    <a:pt x="0" y="0"/>
                  </a:moveTo>
                  <a:lnTo>
                    <a:pt x="21640800" y="0"/>
                  </a:lnTo>
                  <a:lnTo>
                    <a:pt x="21640800" y="1341120"/>
                  </a:lnTo>
                  <a:lnTo>
                    <a:pt x="0" y="1341120"/>
                  </a:lnTo>
                  <a:close/>
                </a:path>
              </a:pathLst>
            </a:custGeom>
            <a:blipFill>
              <a:blip r:embed="rId3">
                <a:alphaModFix amt="0"/>
              </a:blip>
              <a:stretch>
                <a:fillRect l="0" t="-268846" r="-1408" b="-268846"/>
              </a:stretch>
            </a:blipFill>
          </p:spPr>
        </p:sp>
        <p:sp>
          <p:nvSpPr>
            <p:cNvPr name="TextBox 4" id="4"/>
            <p:cNvSpPr txBox="true"/>
            <p:nvPr/>
          </p:nvSpPr>
          <p:spPr>
            <a:xfrm>
              <a:off x="0" y="-104775"/>
              <a:ext cx="21640800" cy="1445895"/>
            </a:xfrm>
            <a:prstGeom prst="rect">
              <a:avLst/>
            </a:prstGeom>
          </p:spPr>
          <p:txBody>
            <a:bodyPr anchor="ctr" rtlCol="false" tIns="0" lIns="0" bIns="0" rIns="0"/>
            <a:lstStyle/>
            <a:p>
              <a:pPr algn="ctr">
                <a:lnSpc>
                  <a:spcPts val="5999"/>
                </a:lnSpc>
              </a:pPr>
              <a:r>
                <a:rPr lang="en-US" b="true" sz="4999">
                  <a:solidFill>
                    <a:srgbClr val="1A1A1A"/>
                  </a:solidFill>
                  <a:latin typeface="Calibri (MS) Bold"/>
                  <a:ea typeface="Calibri (MS) Bold"/>
                  <a:cs typeface="Calibri (MS) Bold"/>
                  <a:sym typeface="Calibri (MS) Bold"/>
                </a:rPr>
                <a:t>Referencias</a:t>
              </a:r>
            </a:p>
          </p:txBody>
        </p:sp>
      </p:grpSp>
      <p:sp>
        <p:nvSpPr>
          <p:cNvPr name="TextBox 5" id="5"/>
          <p:cNvSpPr txBox="true"/>
          <p:nvPr/>
        </p:nvSpPr>
        <p:spPr>
          <a:xfrm rot="0">
            <a:off x="1118870" y="2655380"/>
            <a:ext cx="16050260" cy="485775"/>
          </a:xfrm>
          <a:prstGeom prst="rect">
            <a:avLst/>
          </a:prstGeom>
        </p:spPr>
        <p:txBody>
          <a:bodyPr anchor="t" rtlCol="false" tIns="0" lIns="0" bIns="0" rIns="0">
            <a:spAutoFit/>
          </a:bodyPr>
          <a:lstStyle/>
          <a:p>
            <a:pPr algn="l">
              <a:lnSpc>
                <a:spcPts val="3359"/>
              </a:lnSpc>
            </a:pPr>
            <a:r>
              <a:rPr lang="en-US" sz="2799" b="true">
                <a:solidFill>
                  <a:srgbClr val="1A1A1A"/>
                </a:solidFill>
                <a:latin typeface="Calibri (MS) Bold"/>
                <a:ea typeface="Calibri (MS) Bold"/>
                <a:cs typeface="Calibri (MS) Bold"/>
                <a:sym typeface="Calibri (MS) Bold"/>
              </a:rPr>
              <a:t>Bibliografía:</a:t>
            </a:r>
          </a:p>
        </p:txBody>
      </p:sp>
      <p:grpSp>
        <p:nvGrpSpPr>
          <p:cNvPr name="Group 6" id="6"/>
          <p:cNvGrpSpPr/>
          <p:nvPr/>
        </p:nvGrpSpPr>
        <p:grpSpPr>
          <a:xfrm rot="0">
            <a:off x="1389380" y="3444431"/>
            <a:ext cx="15869920" cy="768096"/>
            <a:chOff x="0" y="0"/>
            <a:chExt cx="21159893" cy="1024128"/>
          </a:xfrm>
        </p:grpSpPr>
        <p:sp>
          <p:nvSpPr>
            <p:cNvPr name="Freeform 7" id="7"/>
            <p:cNvSpPr/>
            <p:nvPr/>
          </p:nvSpPr>
          <p:spPr>
            <a:xfrm flipH="false" flipV="false" rot="0">
              <a:off x="0" y="0"/>
              <a:ext cx="21159893" cy="1024128"/>
            </a:xfrm>
            <a:custGeom>
              <a:avLst/>
              <a:gdLst/>
              <a:ahLst/>
              <a:cxnLst/>
              <a:rect r="r" b="b" t="t" l="l"/>
              <a:pathLst>
                <a:path h="1024128" w="21159893">
                  <a:moveTo>
                    <a:pt x="0" y="0"/>
                  </a:moveTo>
                  <a:lnTo>
                    <a:pt x="21159893" y="0"/>
                  </a:lnTo>
                  <a:lnTo>
                    <a:pt x="21159893" y="1024128"/>
                  </a:lnTo>
                  <a:lnTo>
                    <a:pt x="0" y="1024128"/>
                  </a:lnTo>
                  <a:close/>
                </a:path>
              </a:pathLst>
            </a:custGeom>
            <a:blipFill>
              <a:blip r:embed="rId3">
                <a:alphaModFix amt="0"/>
              </a:blip>
              <a:stretch>
                <a:fillRect l="0" t="-358257" r="-1408" b="-358257"/>
              </a:stretch>
            </a:blipFill>
          </p:spPr>
        </p:sp>
        <p:sp>
          <p:nvSpPr>
            <p:cNvPr name="TextBox 8" id="8"/>
            <p:cNvSpPr txBox="true"/>
            <p:nvPr/>
          </p:nvSpPr>
          <p:spPr>
            <a:xfrm>
              <a:off x="0" y="-57150"/>
              <a:ext cx="21159893" cy="1081278"/>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Joyanes Aguilar, L. (2008). Fundamentos de Programación (4.ª ed.). McGraw-Hill. Capítulos 7 y 8.</a:t>
              </a:r>
            </a:p>
          </p:txBody>
        </p:sp>
      </p:grpSp>
      <p:grpSp>
        <p:nvGrpSpPr>
          <p:cNvPr name="Group 9" id="9"/>
          <p:cNvGrpSpPr/>
          <p:nvPr/>
        </p:nvGrpSpPr>
        <p:grpSpPr>
          <a:xfrm rot="0">
            <a:off x="1389380" y="4212526"/>
            <a:ext cx="15869920" cy="768096"/>
            <a:chOff x="0" y="0"/>
            <a:chExt cx="21159893" cy="1024128"/>
          </a:xfrm>
        </p:grpSpPr>
        <p:sp>
          <p:nvSpPr>
            <p:cNvPr name="Freeform 10" id="10"/>
            <p:cNvSpPr/>
            <p:nvPr/>
          </p:nvSpPr>
          <p:spPr>
            <a:xfrm flipH="false" flipV="false" rot="0">
              <a:off x="0" y="0"/>
              <a:ext cx="21159893" cy="1024128"/>
            </a:xfrm>
            <a:custGeom>
              <a:avLst/>
              <a:gdLst/>
              <a:ahLst/>
              <a:cxnLst/>
              <a:rect r="r" b="b" t="t" l="l"/>
              <a:pathLst>
                <a:path h="1024128" w="21159893">
                  <a:moveTo>
                    <a:pt x="0" y="0"/>
                  </a:moveTo>
                  <a:lnTo>
                    <a:pt x="21159893" y="0"/>
                  </a:lnTo>
                  <a:lnTo>
                    <a:pt x="21159893" y="1024128"/>
                  </a:lnTo>
                  <a:lnTo>
                    <a:pt x="0" y="1024128"/>
                  </a:lnTo>
                  <a:close/>
                </a:path>
              </a:pathLst>
            </a:custGeom>
            <a:blipFill>
              <a:blip r:embed="rId3">
                <a:alphaModFix amt="0"/>
              </a:blip>
              <a:stretch>
                <a:fillRect l="0" t="-358257" r="-1408" b="-358257"/>
              </a:stretch>
            </a:blipFill>
          </p:spPr>
        </p:sp>
        <p:sp>
          <p:nvSpPr>
            <p:cNvPr name="TextBox 11" id="11"/>
            <p:cNvSpPr txBox="true"/>
            <p:nvPr/>
          </p:nvSpPr>
          <p:spPr>
            <a:xfrm>
              <a:off x="0" y="-57150"/>
              <a:ext cx="21159893" cy="1081278"/>
            </a:xfrm>
            <a:prstGeom prst="rect">
              <a:avLst/>
            </a:prstGeom>
          </p:spPr>
          <p:txBody>
            <a:bodyPr anchor="ctr" rtlCol="false" tIns="0" lIns="0" bIns="0" rIns="0"/>
            <a:lstStyle/>
            <a:p>
              <a:pPr algn="l">
                <a:lnSpc>
                  <a:spcPts val="3119"/>
                </a:lnSpc>
              </a:pPr>
              <a:r>
                <a:rPr lang="en-US" sz="2599" b="true">
                  <a:solidFill>
                    <a:srgbClr val="1A1A1A"/>
                  </a:solidFill>
                  <a:latin typeface="Calibri (MS) Bold"/>
                  <a:ea typeface="Calibri (MS) Bold"/>
                  <a:cs typeface="Calibri (MS) Bold"/>
                  <a:sym typeface="Calibri (MS) Bold"/>
                </a:rPr>
                <a:t>–  </a:t>
              </a:r>
              <a:r>
                <a:rPr lang="en-US" sz="2599">
                  <a:solidFill>
                    <a:srgbClr val="1A1A1A"/>
                  </a:solidFill>
                  <a:latin typeface="Calibri (MS)"/>
                  <a:ea typeface="Calibri (MS)"/>
                  <a:cs typeface="Calibri (MS)"/>
                  <a:sym typeface="Calibri (MS)"/>
                </a:rPr>
                <a:t>Cairó Battistutti, O. (2005). Metodología de la Programación. Alfaomega. Capítulo 6.</a:t>
              </a:r>
            </a:p>
          </p:txBody>
        </p:sp>
      </p:grpSp>
      <p:sp>
        <p:nvSpPr>
          <p:cNvPr name="TextBox 12" id="12"/>
          <p:cNvSpPr txBox="true"/>
          <p:nvPr/>
        </p:nvSpPr>
        <p:spPr>
          <a:xfrm rot="0">
            <a:off x="1118870" y="5532501"/>
            <a:ext cx="16050260" cy="485775"/>
          </a:xfrm>
          <a:prstGeom prst="rect">
            <a:avLst/>
          </a:prstGeom>
        </p:spPr>
        <p:txBody>
          <a:bodyPr anchor="t" rtlCol="false" tIns="0" lIns="0" bIns="0" rIns="0">
            <a:spAutoFit/>
          </a:bodyPr>
          <a:lstStyle/>
          <a:p>
            <a:pPr algn="l">
              <a:lnSpc>
                <a:spcPts val="3359"/>
              </a:lnSpc>
            </a:pPr>
            <a:r>
              <a:rPr lang="en-US" sz="2799" b="true">
                <a:solidFill>
                  <a:srgbClr val="1A1A1A"/>
                </a:solidFill>
                <a:latin typeface="Calibri (MS) Bold"/>
                <a:ea typeface="Calibri (MS) Bold"/>
                <a:cs typeface="Calibri (MS) Bold"/>
                <a:sym typeface="Calibri (MS) Bold"/>
              </a:rPr>
              <a:t>Recursos en línea:</a:t>
            </a:r>
          </a:p>
        </p:txBody>
      </p:sp>
      <p:graphicFrame>
        <p:nvGraphicFramePr>
          <p:cNvPr name="Table 13" id="13"/>
          <p:cNvGraphicFramePr>
            <a:graphicFrameLocks noGrp="true"/>
          </p:cNvGraphicFramePr>
          <p:nvPr/>
        </p:nvGraphicFramePr>
        <p:xfrm>
          <a:off x="1028700" y="6370510"/>
          <a:ext cx="16230600" cy="2438400"/>
        </p:xfrm>
        <a:graphic>
          <a:graphicData uri="http://schemas.openxmlformats.org/drawingml/2006/table">
            <a:tbl>
              <a:tblPr/>
              <a:tblGrid>
                <a:gridCol w="6322964"/>
                <a:gridCol w="9907636"/>
              </a:tblGrid>
              <a:tr h="812800">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Recurso</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c>
                  <a:txBody>
                    <a:bodyPr anchor="t" rtlCol="false"/>
                    <a:lstStyle/>
                    <a:p>
                      <a:pPr algn="ctr">
                        <a:lnSpc>
                          <a:spcPts val="3119"/>
                        </a:lnSpc>
                        <a:defRPr/>
                      </a:pPr>
                      <a:r>
                        <a:rPr lang="en-US" sz="2599" b="true">
                          <a:solidFill>
                            <a:srgbClr val="FFFFFF"/>
                          </a:solidFill>
                          <a:latin typeface="Calibri (MS) Bold"/>
                          <a:ea typeface="Calibri (MS) Bold"/>
                          <a:cs typeface="Calibri (MS) Bold"/>
                          <a:sym typeface="Calibri (MS) Bold"/>
                        </a:rPr>
                        <a:t>URL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1A1A1A"/>
                    </a:solidFill>
                  </a:tcPr>
                </a:tc>
              </a:tr>
              <a:tr h="812800">
                <a:tc>
                  <a:txBody>
                    <a:bodyPr anchor="t" rtlCol="false"/>
                    <a:lstStyle/>
                    <a:p>
                      <a:pPr algn="l">
                        <a:lnSpc>
                          <a:spcPts val="3119"/>
                        </a:lnSpc>
                        <a:defRPr/>
                      </a:pPr>
                      <a:r>
                        <a:rPr lang="en-US" sz="2599">
                          <a:solidFill>
                            <a:srgbClr val="000000"/>
                          </a:solidFill>
                          <a:latin typeface="Calibri (MS)"/>
                          <a:ea typeface="Calibri (MS)"/>
                          <a:cs typeface="Calibri (MS)"/>
                          <a:sym typeface="Calibri (MS)"/>
                        </a:rPr>
                        <a:t>PSeInt — Documentación y descarga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https://pseint.sourceforge.net/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r h="812800">
                <a:tc>
                  <a:txBody>
                    <a:bodyPr anchor="t" rtlCol="false"/>
                    <a:lstStyle/>
                    <a:p>
                      <a:pPr algn="l">
                        <a:lnSpc>
                          <a:spcPts val="3119"/>
                        </a:lnSpc>
                        <a:defRPr/>
                      </a:pPr>
                      <a:r>
                        <a:rPr lang="en-US" sz="2599">
                          <a:solidFill>
                            <a:srgbClr val="000000"/>
                          </a:solidFill>
                          <a:latin typeface="Calibri (MS)"/>
                          <a:ea typeface="Calibri (MS)"/>
                          <a:cs typeface="Calibri (MS)"/>
                          <a:sym typeface="Calibri (MS)"/>
                        </a:rPr>
                        <a:t>Khan Academy ES — Algoritmos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c>
                  <a:txBody>
                    <a:bodyPr anchor="t" rtlCol="false"/>
                    <a:lstStyle/>
                    <a:p>
                      <a:pPr algn="l">
                        <a:lnSpc>
                          <a:spcPts val="3119"/>
                        </a:lnSpc>
                        <a:defRPr/>
                      </a:pPr>
                      <a:r>
                        <a:rPr lang="en-US" sz="2599">
                          <a:solidFill>
                            <a:srgbClr val="000000"/>
                          </a:solidFill>
                          <a:latin typeface="Calibri (MS)"/>
                          <a:ea typeface="Calibri (MS)"/>
                          <a:cs typeface="Calibri (MS)"/>
                          <a:sym typeface="Calibri (MS)"/>
                        </a:rPr>
                        <a:t>https://es.khanacademy.org/computing/computer-science/algorithms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94951" y="1664842"/>
            <a:ext cx="2098097" cy="2831413"/>
          </a:xfrm>
          <a:custGeom>
            <a:avLst/>
            <a:gdLst/>
            <a:ahLst/>
            <a:cxnLst/>
            <a:rect r="r" b="b" t="t" l="l"/>
            <a:pathLst>
              <a:path h="2831413" w="2098097">
                <a:moveTo>
                  <a:pt x="0" y="0"/>
                </a:moveTo>
                <a:lnTo>
                  <a:pt x="2098098" y="0"/>
                </a:lnTo>
                <a:lnTo>
                  <a:pt x="2098098" y="2831412"/>
                </a:lnTo>
                <a:lnTo>
                  <a:pt x="0" y="2831412"/>
                </a:lnTo>
                <a:lnTo>
                  <a:pt x="0" y="0"/>
                </a:lnTo>
                <a:close/>
              </a:path>
            </a:pathLst>
          </a:custGeom>
          <a:blipFill>
            <a:blip r:embed="rId2"/>
            <a:stretch>
              <a:fillRect l="0" t="0" r="0" b="0"/>
            </a:stretch>
          </a:blipFill>
        </p:spPr>
      </p:sp>
      <p:sp>
        <p:nvSpPr>
          <p:cNvPr name="TextBox 3" id="3"/>
          <p:cNvSpPr txBox="true"/>
          <p:nvPr/>
        </p:nvSpPr>
        <p:spPr>
          <a:xfrm rot="0">
            <a:off x="3689524" y="5010150"/>
            <a:ext cx="10908953" cy="1226820"/>
          </a:xfrm>
          <a:prstGeom prst="rect">
            <a:avLst/>
          </a:prstGeom>
        </p:spPr>
        <p:txBody>
          <a:bodyPr anchor="t" rtlCol="false" tIns="0" lIns="0" bIns="0" rIns="0">
            <a:spAutoFit/>
          </a:bodyPr>
          <a:lstStyle/>
          <a:p>
            <a:pPr algn="ctr">
              <a:lnSpc>
                <a:spcPts val="10080"/>
              </a:lnSpc>
              <a:spcBef>
                <a:spcPct val="0"/>
              </a:spcBef>
            </a:pPr>
            <a:r>
              <a:rPr lang="en-US" sz="7200">
                <a:solidFill>
                  <a:srgbClr val="000000"/>
                </a:solidFill>
                <a:latin typeface="Canva Sans"/>
                <a:ea typeface="Canva Sans"/>
                <a:cs typeface="Canva Sans"/>
                <a:sym typeface="Canva Sans"/>
              </a:rPr>
              <a:t>¡Gracias por su atención!</a:t>
            </a:r>
          </a:p>
        </p:txBody>
      </p:sp>
      <p:sp>
        <p:nvSpPr>
          <p:cNvPr name="TextBox 4" id="4"/>
          <p:cNvSpPr txBox="true"/>
          <p:nvPr/>
        </p:nvSpPr>
        <p:spPr>
          <a:xfrm rot="0">
            <a:off x="1169667" y="7004386"/>
            <a:ext cx="15948666" cy="1251585"/>
          </a:xfrm>
          <a:prstGeom prst="rect">
            <a:avLst/>
          </a:prstGeom>
        </p:spPr>
        <p:txBody>
          <a:bodyPr anchor="t" rtlCol="false" tIns="0" lIns="0" bIns="0" rIns="0">
            <a:spAutoFit/>
          </a:bodyPr>
          <a:lstStyle/>
          <a:p>
            <a:pPr algn="ctr">
              <a:lnSpc>
                <a:spcPts val="5040"/>
              </a:lnSpc>
              <a:spcBef>
                <a:spcPct val="0"/>
              </a:spcBef>
            </a:pPr>
            <a:r>
              <a:rPr lang="en-US" sz="3600">
                <a:solidFill>
                  <a:srgbClr val="000000"/>
                </a:solidFill>
                <a:latin typeface="Canva Sans"/>
                <a:ea typeface="Canva Sans"/>
                <a:cs typeface="Canva Sans"/>
                <a:sym typeface="Canva Sans"/>
              </a:rPr>
              <a:t>RECUERDA QUE TENEMOS NUESTRO FORO SEMANAL DONDE PUEDES CONSULTAR</a:t>
            </a:r>
            <a:r>
              <a:rPr lang="en-US" sz="3600">
                <a:solidFill>
                  <a:srgbClr val="000000"/>
                </a:solidFill>
                <a:latin typeface="Canva Sans"/>
                <a:ea typeface="Canva Sans"/>
                <a:cs typeface="Canva Sans"/>
                <a:sym typeface="Canva Sans"/>
              </a:rPr>
              <a:t>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DAHD1xB86Jk</dc:identifier>
  <dcterms:modified xsi:type="dcterms:W3CDTF">2011-08-01T06:04:30Z</dcterms:modified>
  <cp:revision>1</cp:revision>
  <dc:title>Arreglos_Pedagogico.pptx</dc:title>
</cp:coreProperties>
</file>