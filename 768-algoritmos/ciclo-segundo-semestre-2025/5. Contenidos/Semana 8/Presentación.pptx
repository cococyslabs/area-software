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8288000" cy="10287000"/>
  <p:notesSz cx="6858000" cy="9144000"/>
  <p:embeddedFontLst>
    <p:embeddedFont>
      <p:font typeface="Calibri (MS)" panose="020B0604020202020204" charset="0"/>
      <p:regular r:id="rId34"/>
    </p:embeddedFont>
    <p:embeddedFont>
      <p:font typeface="Calibri (MS) Bold" panose="020B0604020202020204" charset="0"/>
      <p:regular r:id="rId35"/>
    </p:embeddedFont>
    <p:embeddedFont>
      <p:font typeface="Canva Sans" panose="020B0604020202020204" charset="0"/>
      <p:regular r:id="rId36"/>
    </p:embeddedFont>
    <p:embeddedFont>
      <p:font typeface="Consolas" panose="020B0609020204030204" pitchFamily="49" charset="0"/>
      <p:regular r:id="rId37"/>
      <p:bold r:id="rId38"/>
      <p:italic r:id="rId39"/>
      <p:boldItalic r:id="rId40"/>
    </p:embeddedFont>
    <p:embeddedFont>
      <p:font typeface="Consolas Bold" panose="020B0709020204030204" pitchFamily="49" charset="0"/>
      <p:regular r:id="rId41"/>
      <p:bold r:id="rId42"/>
    </p:embeddedFont>
    <p:embeddedFont>
      <p:font typeface="Open Sans" panose="020B0606030504020204" pitchFamily="34" charset="0"/>
      <p:regular r:id="rId43"/>
    </p:embeddedFont>
    <p:embeddedFont>
      <p:font typeface="Open Sans Bold" panose="020B0806030504020204" charset="0"/>
      <p:regular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8" d="100"/>
          <a:sy n="58" d="100"/>
        </p:scale>
        <p:origin x="51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07.05.2026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‹Nº›</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7.xml"/><Relationship Id="rId5" Type="http://schemas.openxmlformats.org/officeDocument/2006/relationships/hyperlink" Target="https://youtu.be/bLWUsm2eyqM" TargetMode="External"/><Relationship Id="rId4" Type="http://schemas.openxmlformats.org/officeDocument/2006/relationships/hyperlink" Target="https://pseint.sourceforge.net"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235"/>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s-GT"/>
          </a:p>
        </p:txBody>
      </p:sp>
      <p:sp>
        <p:nvSpPr>
          <p:cNvPr id="3" name="TextBox 3"/>
          <p:cNvSpPr txBox="1"/>
          <p:nvPr/>
        </p:nvSpPr>
        <p:spPr>
          <a:xfrm>
            <a:off x="13866491" y="2085273"/>
            <a:ext cx="4021187" cy="537845"/>
          </a:xfrm>
          <a:prstGeom prst="rect">
            <a:avLst/>
          </a:prstGeom>
        </p:spPr>
        <p:txBody>
          <a:bodyPr lIns="0" tIns="0" rIns="0" bIns="0" rtlCol="0" anchor="t">
            <a:spAutoFit/>
          </a:bodyPr>
          <a:lstStyle/>
          <a:p>
            <a:pPr algn="ctr">
              <a:lnSpc>
                <a:spcPts val="4480"/>
              </a:lnSpc>
              <a:spcBef>
                <a:spcPct val="0"/>
              </a:spcBef>
            </a:pPr>
            <a:r>
              <a:rPr lang="en-US" sz="3200">
                <a:solidFill>
                  <a:srgbClr val="000000"/>
                </a:solidFill>
                <a:latin typeface="Canva Sans"/>
                <a:ea typeface="Canva Sans"/>
                <a:cs typeface="Canva Sans"/>
                <a:sym typeface="Canva Sans"/>
              </a:rPr>
              <a:t>Sábado - xx/0x/2026</a:t>
            </a:r>
          </a:p>
        </p:txBody>
      </p:sp>
      <p:sp>
        <p:nvSpPr>
          <p:cNvPr id="4" name="TextBox 4"/>
          <p:cNvSpPr txBox="1"/>
          <p:nvPr/>
        </p:nvSpPr>
        <p:spPr>
          <a:xfrm>
            <a:off x="14645308" y="2827978"/>
            <a:ext cx="2463552" cy="580390"/>
          </a:xfrm>
          <a:prstGeom prst="rect">
            <a:avLst/>
          </a:prstGeom>
        </p:spPr>
        <p:txBody>
          <a:bodyPr lIns="0" tIns="0" rIns="0" bIns="0" rtlCol="0" anchor="t">
            <a:spAutoFit/>
          </a:bodyPr>
          <a:lstStyle/>
          <a:p>
            <a:pPr algn="ctr">
              <a:lnSpc>
                <a:spcPts val="4759"/>
              </a:lnSpc>
              <a:spcBef>
                <a:spcPct val="0"/>
              </a:spcBef>
            </a:pPr>
            <a:r>
              <a:rPr lang="en-US" sz="3399">
                <a:solidFill>
                  <a:srgbClr val="000000"/>
                </a:solidFill>
                <a:latin typeface="Canva Sans"/>
                <a:ea typeface="Canva Sans"/>
                <a:cs typeface="Canva Sans"/>
                <a:sym typeface="Canva Sans"/>
              </a:rPr>
              <a:t>10:30 horas</a:t>
            </a:r>
          </a:p>
        </p:txBody>
      </p:sp>
      <p:sp>
        <p:nvSpPr>
          <p:cNvPr id="5" name="TextBox 5"/>
          <p:cNvSpPr txBox="1"/>
          <p:nvPr/>
        </p:nvSpPr>
        <p:spPr>
          <a:xfrm>
            <a:off x="1346596" y="5057775"/>
            <a:ext cx="15950803" cy="811531"/>
          </a:xfrm>
          <a:prstGeom prst="rect">
            <a:avLst/>
          </a:prstGeom>
        </p:spPr>
        <p:txBody>
          <a:bodyPr wrap="square" lIns="0" tIns="0" rIns="0" bIns="0" rtlCol="0" anchor="t">
            <a:spAutoFit/>
          </a:bodyPr>
          <a:lstStyle/>
          <a:p>
            <a:pPr algn="ctr">
              <a:lnSpc>
                <a:spcPts val="6719"/>
              </a:lnSpc>
              <a:spcBef>
                <a:spcPct val="0"/>
              </a:spcBef>
            </a:pPr>
            <a:r>
              <a:rPr lang="en-US" sz="4799" b="1" dirty="0" err="1">
                <a:solidFill>
                  <a:srgbClr val="393E46"/>
                </a:solidFill>
                <a:latin typeface="Open Sans Bold"/>
                <a:ea typeface="Open Sans Bold"/>
                <a:cs typeface="Open Sans Bold"/>
                <a:sym typeface="Open Sans Bold"/>
              </a:rPr>
              <a:t>Introducción</a:t>
            </a:r>
            <a:r>
              <a:rPr lang="en-US" sz="4799" b="1" dirty="0">
                <a:solidFill>
                  <a:srgbClr val="393E46"/>
                </a:solidFill>
                <a:latin typeface="Open Sans Bold"/>
                <a:ea typeface="Open Sans Bold"/>
                <a:cs typeface="Open Sans Bold"/>
                <a:sym typeface="Open Sans Bold"/>
              </a:rPr>
              <a:t> a </a:t>
            </a:r>
            <a:r>
              <a:rPr lang="en-US" sz="4799" b="1" dirty="0" err="1">
                <a:solidFill>
                  <a:srgbClr val="393E46"/>
                </a:solidFill>
                <a:latin typeface="Open Sans Bold"/>
                <a:ea typeface="Open Sans Bold"/>
                <a:cs typeface="Open Sans Bold"/>
                <a:sym typeface="Open Sans Bold"/>
              </a:rPr>
              <a:t>los</a:t>
            </a:r>
            <a:r>
              <a:rPr lang="en-US" sz="4799" b="1" dirty="0">
                <a:solidFill>
                  <a:srgbClr val="393E46"/>
                </a:solidFill>
                <a:latin typeface="Open Sans Bold"/>
                <a:ea typeface="Open Sans Bold"/>
                <a:cs typeface="Open Sans Bold"/>
                <a:sym typeface="Open Sans Bold"/>
              </a:rPr>
              <a:t> </a:t>
            </a:r>
            <a:r>
              <a:rPr lang="en-US" sz="4799" b="1" dirty="0" err="1">
                <a:solidFill>
                  <a:srgbClr val="393E46"/>
                </a:solidFill>
                <a:latin typeface="Open Sans Bold"/>
                <a:ea typeface="Open Sans Bold"/>
                <a:cs typeface="Open Sans Bold"/>
                <a:sym typeface="Open Sans Bold"/>
              </a:rPr>
              <a:t>Algoritmos</a:t>
            </a:r>
            <a:r>
              <a:rPr lang="en-US" sz="4799" b="1" dirty="0">
                <a:solidFill>
                  <a:srgbClr val="393E46"/>
                </a:solidFill>
                <a:latin typeface="Open Sans Bold"/>
                <a:ea typeface="Open Sans Bold"/>
                <a:cs typeface="Open Sans Bold"/>
                <a:sym typeface="Open Sans Bold"/>
              </a:rPr>
              <a:t> y </a:t>
            </a:r>
            <a:r>
              <a:rPr lang="en-US" sz="4799" b="1" dirty="0" err="1">
                <a:solidFill>
                  <a:srgbClr val="393E46"/>
                </a:solidFill>
                <a:latin typeface="Open Sans Bold"/>
                <a:ea typeface="Open Sans Bold"/>
                <a:cs typeface="Open Sans Bold"/>
                <a:sym typeface="Open Sans Bold"/>
              </a:rPr>
              <a:t>Flujo</a:t>
            </a:r>
            <a:r>
              <a:rPr lang="en-US" sz="4799" b="1" dirty="0">
                <a:solidFill>
                  <a:srgbClr val="393E46"/>
                </a:solidFill>
                <a:latin typeface="Open Sans Bold"/>
                <a:ea typeface="Open Sans Bold"/>
                <a:cs typeface="Open Sans Bold"/>
                <a:sym typeface="Open Sans Bold"/>
              </a:rPr>
              <a:t> de Datos Sec x</a:t>
            </a:r>
          </a:p>
        </p:txBody>
      </p:sp>
      <p:sp>
        <p:nvSpPr>
          <p:cNvPr id="6" name="TextBox 6"/>
          <p:cNvSpPr txBox="1"/>
          <p:nvPr/>
        </p:nvSpPr>
        <p:spPr>
          <a:xfrm>
            <a:off x="6837536" y="5939495"/>
            <a:ext cx="4612928" cy="679450"/>
          </a:xfrm>
          <a:prstGeom prst="rect">
            <a:avLst/>
          </a:prstGeom>
        </p:spPr>
        <p:txBody>
          <a:bodyPr lIns="0" tIns="0" rIns="0" bIns="0" rtlCol="0" anchor="t">
            <a:spAutoFit/>
          </a:bodyPr>
          <a:lstStyle/>
          <a:p>
            <a:pPr algn="ctr">
              <a:lnSpc>
                <a:spcPts val="5599"/>
              </a:lnSpc>
              <a:spcBef>
                <a:spcPct val="0"/>
              </a:spcBef>
            </a:pPr>
            <a:r>
              <a:rPr lang="en-US" sz="3999" dirty="0">
                <a:solidFill>
                  <a:srgbClr val="000000"/>
                </a:solidFill>
                <a:latin typeface="Open Sans"/>
                <a:ea typeface="Open Sans"/>
                <a:cs typeface="Open Sans"/>
                <a:sym typeface="Open Sans"/>
              </a:rPr>
              <a:t>Nombre del tutor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E2235"/>
        </a:solidFill>
        <a:effectLst/>
      </p:bgPr>
    </p:bg>
    <p:spTree>
      <p:nvGrpSpPr>
        <p:cNvPr id="1" name=""/>
        <p:cNvGrpSpPr/>
        <p:nvPr/>
      </p:nvGrpSpPr>
      <p:grpSpPr>
        <a:xfrm>
          <a:off x="0" y="0"/>
          <a:ext cx="0" cy="0"/>
          <a:chOff x="0" y="0"/>
          <a:chExt cx="0" cy="0"/>
        </a:xfrm>
      </p:grpSpPr>
      <p:sp>
        <p:nvSpPr>
          <p:cNvPr id="2" name="Freeform 2"/>
          <p:cNvSpPr/>
          <p:nvPr/>
        </p:nvSpPr>
        <p:spPr>
          <a:xfrm>
            <a:off x="14575853" y="488854"/>
            <a:ext cx="3106051" cy="1576032"/>
          </a:xfrm>
          <a:custGeom>
            <a:avLst/>
            <a:gdLst/>
            <a:ahLst/>
            <a:cxnLst/>
            <a:rect l="l" t="t" r="r" b="b"/>
            <a:pathLst>
              <a:path w="3106051" h="1576032">
                <a:moveTo>
                  <a:pt x="0" y="0"/>
                </a:moveTo>
                <a:lnTo>
                  <a:pt x="3106051" y="0"/>
                </a:lnTo>
                <a:lnTo>
                  <a:pt x="3106051" y="1576031"/>
                </a:lnTo>
                <a:lnTo>
                  <a:pt x="0" y="1576031"/>
                </a:lnTo>
                <a:lnTo>
                  <a:pt x="0" y="0"/>
                </a:lnTo>
                <a:close/>
              </a:path>
            </a:pathLst>
          </a:custGeom>
          <a:blipFill>
            <a:blip r:embed="rId2"/>
            <a:stretch>
              <a:fillRect l="-255677"/>
            </a:stretch>
          </a:blipFill>
        </p:spPr>
        <p:txBody>
          <a:bodyPr/>
          <a:lstStyle/>
          <a:p>
            <a:endParaRPr lang="es-GT"/>
          </a:p>
        </p:txBody>
      </p:sp>
      <p:sp>
        <p:nvSpPr>
          <p:cNvPr id="3" name="TextBox 3"/>
          <p:cNvSpPr txBox="1"/>
          <p:nvPr/>
        </p:nvSpPr>
        <p:spPr>
          <a:xfrm>
            <a:off x="4847272" y="3846148"/>
            <a:ext cx="8593455" cy="1094740"/>
          </a:xfrm>
          <a:prstGeom prst="rect">
            <a:avLst/>
          </a:prstGeom>
        </p:spPr>
        <p:txBody>
          <a:bodyPr lIns="0" tIns="0" rIns="0" bIns="0" rtlCol="0" anchor="t">
            <a:spAutoFit/>
          </a:bodyPr>
          <a:lstStyle/>
          <a:p>
            <a:pPr algn="ctr">
              <a:lnSpc>
                <a:spcPts val="8959"/>
              </a:lnSpc>
              <a:spcBef>
                <a:spcPct val="0"/>
              </a:spcBef>
            </a:pPr>
            <a:r>
              <a:rPr lang="en-US" sz="6399">
                <a:solidFill>
                  <a:srgbClr val="FFFFFF"/>
                </a:solidFill>
                <a:latin typeface="Canva Sans"/>
                <a:ea typeface="Canva Sans"/>
                <a:cs typeface="Canva Sans"/>
                <a:sym typeface="Canva Sans"/>
              </a:rPr>
              <a:t>Métodos Algorítmicos</a:t>
            </a:r>
          </a:p>
        </p:txBody>
      </p:sp>
      <p:sp>
        <p:nvSpPr>
          <p:cNvPr id="4" name="TextBox 4"/>
          <p:cNvSpPr txBox="1"/>
          <p:nvPr/>
        </p:nvSpPr>
        <p:spPr>
          <a:xfrm>
            <a:off x="1028700" y="6960333"/>
            <a:ext cx="9764464" cy="580390"/>
          </a:xfrm>
          <a:prstGeom prst="rect">
            <a:avLst/>
          </a:prstGeom>
        </p:spPr>
        <p:txBody>
          <a:bodyPr lIns="0" tIns="0" rIns="0" bIns="0" rtlCol="0" anchor="t">
            <a:spAutoFit/>
          </a:bodyPr>
          <a:lstStyle/>
          <a:p>
            <a:pPr algn="l">
              <a:lnSpc>
                <a:spcPts val="4759"/>
              </a:lnSpc>
              <a:spcBef>
                <a:spcPct val="0"/>
              </a:spcBef>
            </a:pPr>
            <a:r>
              <a:rPr lang="en-US" sz="3399">
                <a:solidFill>
                  <a:srgbClr val="FFFFFF"/>
                </a:solidFill>
                <a:latin typeface="Canva Sans"/>
                <a:ea typeface="Canva Sans"/>
                <a:cs typeface="Canva Sans"/>
                <a:sym typeface="Canva Sans"/>
              </a:rPr>
              <a:t>Introducción a los Algoritmos y Flujos de Datos</a:t>
            </a:r>
          </a:p>
        </p:txBody>
      </p:sp>
      <p:sp>
        <p:nvSpPr>
          <p:cNvPr id="5" name="TextBox 5"/>
          <p:cNvSpPr txBox="1"/>
          <p:nvPr/>
        </p:nvSpPr>
        <p:spPr>
          <a:xfrm>
            <a:off x="1028700" y="7929441"/>
            <a:ext cx="5401121" cy="349249"/>
          </a:xfrm>
          <a:prstGeom prst="rect">
            <a:avLst/>
          </a:prstGeom>
        </p:spPr>
        <p:txBody>
          <a:bodyPr lIns="0" tIns="0" rIns="0" bIns="0" rtlCol="0" anchor="t">
            <a:spAutoFit/>
          </a:bodyPr>
          <a:lstStyle/>
          <a:p>
            <a:pPr algn="l">
              <a:lnSpc>
                <a:spcPts val="2800"/>
              </a:lnSpc>
              <a:spcBef>
                <a:spcPct val="0"/>
              </a:spcBef>
            </a:pPr>
            <a:r>
              <a:rPr lang="en-US" sz="2000">
                <a:solidFill>
                  <a:srgbClr val="FFFFFF"/>
                </a:solidFill>
                <a:latin typeface="Canva Sans"/>
                <a:ea typeface="Canva Sans"/>
                <a:cs typeface="Canva Sans"/>
                <a:sym typeface="Canva Sans"/>
              </a:rPr>
              <a:t>Escuela de Ingeniería de Ciencias y Sistemas</a:t>
            </a:r>
          </a:p>
        </p:txBody>
      </p:sp>
      <p:sp>
        <p:nvSpPr>
          <p:cNvPr id="6" name="TextBox 6"/>
          <p:cNvSpPr txBox="1"/>
          <p:nvPr/>
        </p:nvSpPr>
        <p:spPr>
          <a:xfrm>
            <a:off x="1028700" y="8421565"/>
            <a:ext cx="2755850" cy="349249"/>
          </a:xfrm>
          <a:prstGeom prst="rect">
            <a:avLst/>
          </a:prstGeom>
        </p:spPr>
        <p:txBody>
          <a:bodyPr lIns="0" tIns="0" rIns="0" bIns="0" rtlCol="0" anchor="t">
            <a:spAutoFit/>
          </a:bodyPr>
          <a:lstStyle/>
          <a:p>
            <a:pPr algn="l">
              <a:lnSpc>
                <a:spcPts val="2800"/>
              </a:lnSpc>
              <a:spcBef>
                <a:spcPct val="0"/>
              </a:spcBef>
            </a:pPr>
            <a:r>
              <a:rPr lang="en-US" sz="2000">
                <a:solidFill>
                  <a:srgbClr val="FFFFFF"/>
                </a:solidFill>
                <a:latin typeface="Canva Sans"/>
                <a:ea typeface="Canva Sans"/>
                <a:cs typeface="Canva Sans"/>
                <a:sym typeface="Canva Sans"/>
              </a:rPr>
              <a:t>Facultad de Ingeniería </a:t>
            </a:r>
          </a:p>
        </p:txBody>
      </p:sp>
      <p:sp>
        <p:nvSpPr>
          <p:cNvPr id="7" name="TextBox 7"/>
          <p:cNvSpPr txBox="1"/>
          <p:nvPr/>
        </p:nvSpPr>
        <p:spPr>
          <a:xfrm>
            <a:off x="1028700" y="8909051"/>
            <a:ext cx="4956721" cy="349249"/>
          </a:xfrm>
          <a:prstGeom prst="rect">
            <a:avLst/>
          </a:prstGeom>
        </p:spPr>
        <p:txBody>
          <a:bodyPr lIns="0" tIns="0" rIns="0" bIns="0" rtlCol="0" anchor="t">
            <a:spAutoFit/>
          </a:bodyPr>
          <a:lstStyle/>
          <a:p>
            <a:pPr algn="l">
              <a:lnSpc>
                <a:spcPts val="2800"/>
              </a:lnSpc>
              <a:spcBef>
                <a:spcPct val="0"/>
              </a:spcBef>
            </a:pPr>
            <a:r>
              <a:rPr lang="en-US" sz="2000">
                <a:solidFill>
                  <a:srgbClr val="FFFFFF"/>
                </a:solidFill>
                <a:latin typeface="Canva Sans"/>
                <a:ea typeface="Canva Sans"/>
                <a:cs typeface="Canva Sans"/>
                <a:sym typeface="Canva Sans"/>
              </a:rPr>
              <a:t>Universidad de San Carlos de Guatemala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2235"/>
        </a:solidFill>
        <a:effectLst/>
      </p:bgPr>
    </p:bg>
    <p:spTree>
      <p:nvGrpSpPr>
        <p:cNvPr id="1" name=""/>
        <p:cNvGrpSpPr/>
        <p:nvPr/>
      </p:nvGrpSpPr>
      <p:grpSpPr>
        <a:xfrm>
          <a:off x="0" y="0"/>
          <a:ext cx="0" cy="0"/>
          <a:chOff x="0" y="0"/>
          <a:chExt cx="0" cy="0"/>
        </a:xfrm>
      </p:grpSpPr>
      <p:sp>
        <p:nvSpPr>
          <p:cNvPr id="2" name="Freeform 2"/>
          <p:cNvSpPr/>
          <p:nvPr/>
        </p:nvSpPr>
        <p:spPr>
          <a:xfrm rot="-2700000">
            <a:off x="1740055" y="2938358"/>
            <a:ext cx="1143682" cy="1158425"/>
          </a:xfrm>
          <a:custGeom>
            <a:avLst/>
            <a:gdLst/>
            <a:ahLst/>
            <a:cxnLst/>
            <a:rect l="l" t="t" r="r" b="b"/>
            <a:pathLst>
              <a:path w="1143682" h="1158425">
                <a:moveTo>
                  <a:pt x="0" y="0"/>
                </a:moveTo>
                <a:lnTo>
                  <a:pt x="1143682" y="0"/>
                </a:lnTo>
                <a:lnTo>
                  <a:pt x="1143682" y="1158425"/>
                </a:lnTo>
                <a:lnTo>
                  <a:pt x="0" y="115842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GT"/>
          </a:p>
        </p:txBody>
      </p:sp>
      <p:sp>
        <p:nvSpPr>
          <p:cNvPr id="3" name="Freeform 3"/>
          <p:cNvSpPr/>
          <p:nvPr/>
        </p:nvSpPr>
        <p:spPr>
          <a:xfrm>
            <a:off x="1028700" y="5143500"/>
            <a:ext cx="785011" cy="854434"/>
          </a:xfrm>
          <a:custGeom>
            <a:avLst/>
            <a:gdLst/>
            <a:ahLst/>
            <a:cxnLst/>
            <a:rect l="l" t="t" r="r" b="b"/>
            <a:pathLst>
              <a:path w="785011" h="854434">
                <a:moveTo>
                  <a:pt x="0" y="0"/>
                </a:moveTo>
                <a:lnTo>
                  <a:pt x="785011" y="0"/>
                </a:lnTo>
                <a:lnTo>
                  <a:pt x="785011" y="854434"/>
                </a:lnTo>
                <a:lnTo>
                  <a:pt x="0" y="85443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GT"/>
          </a:p>
        </p:txBody>
      </p:sp>
      <p:sp>
        <p:nvSpPr>
          <p:cNvPr id="4" name="TextBox 4"/>
          <p:cNvSpPr txBox="1"/>
          <p:nvPr/>
        </p:nvSpPr>
        <p:spPr>
          <a:xfrm>
            <a:off x="1028700" y="1003935"/>
            <a:ext cx="2566392" cy="962660"/>
          </a:xfrm>
          <a:prstGeom prst="rect">
            <a:avLst/>
          </a:prstGeom>
        </p:spPr>
        <p:txBody>
          <a:bodyPr lIns="0" tIns="0" rIns="0" bIns="0" rtlCol="0" anchor="t">
            <a:spAutoFit/>
          </a:bodyPr>
          <a:lstStyle/>
          <a:p>
            <a:pPr algn="l">
              <a:lnSpc>
                <a:spcPts val="7840"/>
              </a:lnSpc>
              <a:spcBef>
                <a:spcPct val="0"/>
              </a:spcBef>
            </a:pPr>
            <a:r>
              <a:rPr lang="en-US" sz="5600">
                <a:solidFill>
                  <a:srgbClr val="FFFFFF"/>
                </a:solidFill>
                <a:latin typeface="Canva Sans"/>
                <a:ea typeface="Canva Sans"/>
                <a:cs typeface="Canva Sans"/>
                <a:sym typeface="Canva Sans"/>
              </a:rPr>
              <a:t>Agenda</a:t>
            </a:r>
          </a:p>
        </p:txBody>
      </p:sp>
      <p:sp>
        <p:nvSpPr>
          <p:cNvPr id="5" name="TextBox 5"/>
          <p:cNvSpPr txBox="1"/>
          <p:nvPr/>
        </p:nvSpPr>
        <p:spPr>
          <a:xfrm>
            <a:off x="14117241" y="1003935"/>
            <a:ext cx="3142059" cy="962660"/>
          </a:xfrm>
          <a:prstGeom prst="rect">
            <a:avLst/>
          </a:prstGeom>
        </p:spPr>
        <p:txBody>
          <a:bodyPr lIns="0" tIns="0" rIns="0" bIns="0" rtlCol="0" anchor="t">
            <a:spAutoFit/>
          </a:bodyPr>
          <a:lstStyle/>
          <a:p>
            <a:pPr algn="r">
              <a:lnSpc>
                <a:spcPts val="7840"/>
              </a:lnSpc>
              <a:spcBef>
                <a:spcPct val="0"/>
              </a:spcBef>
            </a:pPr>
            <a:r>
              <a:rPr lang="en-US" sz="5600">
                <a:solidFill>
                  <a:srgbClr val="FFFFFF"/>
                </a:solidFill>
                <a:latin typeface="Canva Sans"/>
                <a:ea typeface="Canva Sans"/>
                <a:cs typeface="Canva Sans"/>
                <a:sym typeface="Canva Sans"/>
              </a:rPr>
              <a:t>Recursos</a:t>
            </a:r>
          </a:p>
        </p:txBody>
      </p:sp>
      <p:sp>
        <p:nvSpPr>
          <p:cNvPr id="6" name="Freeform 6"/>
          <p:cNvSpPr/>
          <p:nvPr/>
        </p:nvSpPr>
        <p:spPr>
          <a:xfrm>
            <a:off x="1028700" y="6285618"/>
            <a:ext cx="785011" cy="854434"/>
          </a:xfrm>
          <a:custGeom>
            <a:avLst/>
            <a:gdLst/>
            <a:ahLst/>
            <a:cxnLst/>
            <a:rect l="l" t="t" r="r" b="b"/>
            <a:pathLst>
              <a:path w="785011" h="854434">
                <a:moveTo>
                  <a:pt x="0" y="0"/>
                </a:moveTo>
                <a:lnTo>
                  <a:pt x="785011" y="0"/>
                </a:lnTo>
                <a:lnTo>
                  <a:pt x="785011" y="854435"/>
                </a:lnTo>
                <a:lnTo>
                  <a:pt x="0" y="85443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GT"/>
          </a:p>
        </p:txBody>
      </p:sp>
      <p:sp>
        <p:nvSpPr>
          <p:cNvPr id="7" name="Freeform 7"/>
          <p:cNvSpPr/>
          <p:nvPr/>
        </p:nvSpPr>
        <p:spPr>
          <a:xfrm>
            <a:off x="1028700" y="7425803"/>
            <a:ext cx="785011" cy="854434"/>
          </a:xfrm>
          <a:custGeom>
            <a:avLst/>
            <a:gdLst/>
            <a:ahLst/>
            <a:cxnLst/>
            <a:rect l="l" t="t" r="r" b="b"/>
            <a:pathLst>
              <a:path w="785011" h="854434">
                <a:moveTo>
                  <a:pt x="0" y="0"/>
                </a:moveTo>
                <a:lnTo>
                  <a:pt x="785011" y="0"/>
                </a:lnTo>
                <a:lnTo>
                  <a:pt x="785011" y="854434"/>
                </a:lnTo>
                <a:lnTo>
                  <a:pt x="0" y="85443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GT"/>
          </a:p>
        </p:txBody>
      </p:sp>
      <p:sp>
        <p:nvSpPr>
          <p:cNvPr id="8" name="Freeform 8"/>
          <p:cNvSpPr/>
          <p:nvPr/>
        </p:nvSpPr>
        <p:spPr>
          <a:xfrm>
            <a:off x="1028700" y="8565987"/>
            <a:ext cx="785011" cy="854434"/>
          </a:xfrm>
          <a:custGeom>
            <a:avLst/>
            <a:gdLst/>
            <a:ahLst/>
            <a:cxnLst/>
            <a:rect l="l" t="t" r="r" b="b"/>
            <a:pathLst>
              <a:path w="785011" h="854434">
                <a:moveTo>
                  <a:pt x="0" y="0"/>
                </a:moveTo>
                <a:lnTo>
                  <a:pt x="785011" y="0"/>
                </a:lnTo>
                <a:lnTo>
                  <a:pt x="785011" y="854434"/>
                </a:lnTo>
                <a:lnTo>
                  <a:pt x="0" y="85443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GT"/>
          </a:p>
        </p:txBody>
      </p:sp>
      <p:sp>
        <p:nvSpPr>
          <p:cNvPr id="9" name="TextBox 9"/>
          <p:cNvSpPr txBox="1"/>
          <p:nvPr/>
        </p:nvSpPr>
        <p:spPr>
          <a:xfrm>
            <a:off x="2311896" y="5247185"/>
            <a:ext cx="5508070" cy="580390"/>
          </a:xfrm>
          <a:prstGeom prst="rect">
            <a:avLst/>
          </a:prstGeom>
        </p:spPr>
        <p:txBody>
          <a:bodyPr lIns="0" tIns="0" rIns="0" bIns="0" rtlCol="0" anchor="t">
            <a:spAutoFit/>
          </a:bodyPr>
          <a:lstStyle/>
          <a:p>
            <a:pPr algn="l">
              <a:lnSpc>
                <a:spcPts val="4759"/>
              </a:lnSpc>
              <a:spcBef>
                <a:spcPct val="0"/>
              </a:spcBef>
            </a:pPr>
            <a:r>
              <a:rPr lang="en-US" sz="3399">
                <a:solidFill>
                  <a:srgbClr val="FFFFFF"/>
                </a:solidFill>
                <a:latin typeface="Canva Sans"/>
                <a:ea typeface="Canva Sans"/>
                <a:cs typeface="Canva Sans"/>
                <a:sym typeface="Canva Sans"/>
              </a:rPr>
              <a:t>Definición de un algoritmo</a:t>
            </a:r>
          </a:p>
        </p:txBody>
      </p:sp>
      <p:sp>
        <p:nvSpPr>
          <p:cNvPr id="10" name="TextBox 10"/>
          <p:cNvSpPr txBox="1"/>
          <p:nvPr/>
        </p:nvSpPr>
        <p:spPr>
          <a:xfrm>
            <a:off x="2311896" y="6389303"/>
            <a:ext cx="6788468" cy="580390"/>
          </a:xfrm>
          <a:prstGeom prst="rect">
            <a:avLst/>
          </a:prstGeom>
        </p:spPr>
        <p:txBody>
          <a:bodyPr lIns="0" tIns="0" rIns="0" bIns="0" rtlCol="0" anchor="t">
            <a:spAutoFit/>
          </a:bodyPr>
          <a:lstStyle/>
          <a:p>
            <a:pPr algn="l">
              <a:lnSpc>
                <a:spcPts val="4759"/>
              </a:lnSpc>
              <a:spcBef>
                <a:spcPct val="0"/>
              </a:spcBef>
            </a:pPr>
            <a:r>
              <a:rPr lang="en-US" sz="3399">
                <a:solidFill>
                  <a:srgbClr val="FFFFFF"/>
                </a:solidFill>
                <a:latin typeface="Canva Sans"/>
                <a:ea typeface="Canva Sans"/>
                <a:cs typeface="Canva Sans"/>
                <a:sym typeface="Canva Sans"/>
              </a:rPr>
              <a:t>Caracteristicas de los algoritmos</a:t>
            </a:r>
          </a:p>
        </p:txBody>
      </p:sp>
      <p:sp>
        <p:nvSpPr>
          <p:cNvPr id="11" name="TextBox 11"/>
          <p:cNvSpPr txBox="1"/>
          <p:nvPr/>
        </p:nvSpPr>
        <p:spPr>
          <a:xfrm>
            <a:off x="2311896" y="7529487"/>
            <a:ext cx="5417106" cy="580390"/>
          </a:xfrm>
          <a:prstGeom prst="rect">
            <a:avLst/>
          </a:prstGeom>
        </p:spPr>
        <p:txBody>
          <a:bodyPr lIns="0" tIns="0" rIns="0" bIns="0" rtlCol="0" anchor="t">
            <a:spAutoFit/>
          </a:bodyPr>
          <a:lstStyle/>
          <a:p>
            <a:pPr algn="l">
              <a:lnSpc>
                <a:spcPts val="4759"/>
              </a:lnSpc>
              <a:spcBef>
                <a:spcPct val="0"/>
              </a:spcBef>
            </a:pPr>
            <a:r>
              <a:rPr lang="en-US" sz="3399">
                <a:solidFill>
                  <a:srgbClr val="FFFFFF"/>
                </a:solidFill>
                <a:latin typeface="Canva Sans"/>
                <a:ea typeface="Canva Sans"/>
                <a:cs typeface="Canva Sans"/>
                <a:sym typeface="Canva Sans"/>
              </a:rPr>
              <a:t>Niveles de representación</a:t>
            </a:r>
          </a:p>
        </p:txBody>
      </p:sp>
      <p:sp>
        <p:nvSpPr>
          <p:cNvPr id="12" name="TextBox 12"/>
          <p:cNvSpPr txBox="1"/>
          <p:nvPr/>
        </p:nvSpPr>
        <p:spPr>
          <a:xfrm>
            <a:off x="2311896" y="8669671"/>
            <a:ext cx="5191839" cy="580390"/>
          </a:xfrm>
          <a:prstGeom prst="rect">
            <a:avLst/>
          </a:prstGeom>
        </p:spPr>
        <p:txBody>
          <a:bodyPr lIns="0" tIns="0" rIns="0" bIns="0" rtlCol="0" anchor="t">
            <a:spAutoFit/>
          </a:bodyPr>
          <a:lstStyle/>
          <a:p>
            <a:pPr algn="l">
              <a:lnSpc>
                <a:spcPts val="4759"/>
              </a:lnSpc>
              <a:spcBef>
                <a:spcPct val="0"/>
              </a:spcBef>
            </a:pPr>
            <a:r>
              <a:rPr lang="en-US" sz="3399">
                <a:solidFill>
                  <a:srgbClr val="FFFFFF"/>
                </a:solidFill>
                <a:latin typeface="Canva Sans"/>
                <a:ea typeface="Canva Sans"/>
                <a:cs typeface="Canva Sans"/>
                <a:sym typeface="Canva Sans"/>
              </a:rPr>
              <a:t>Pensamiento algoritmico</a:t>
            </a:r>
          </a:p>
        </p:txBody>
      </p:sp>
      <p:sp>
        <p:nvSpPr>
          <p:cNvPr id="13" name="TextBox 13"/>
          <p:cNvSpPr txBox="1"/>
          <p:nvPr/>
        </p:nvSpPr>
        <p:spPr>
          <a:xfrm>
            <a:off x="15004435" y="4264813"/>
            <a:ext cx="1367671" cy="580390"/>
          </a:xfrm>
          <a:prstGeom prst="rect">
            <a:avLst/>
          </a:prstGeom>
        </p:spPr>
        <p:txBody>
          <a:bodyPr lIns="0" tIns="0" rIns="0" bIns="0" rtlCol="0" anchor="t">
            <a:spAutoFit/>
          </a:bodyPr>
          <a:lstStyle/>
          <a:p>
            <a:pPr algn="r">
              <a:lnSpc>
                <a:spcPts val="4759"/>
              </a:lnSpc>
              <a:spcBef>
                <a:spcPct val="0"/>
              </a:spcBef>
            </a:pPr>
            <a:r>
              <a:rPr lang="en-US" sz="3399">
                <a:solidFill>
                  <a:srgbClr val="FFFFFF"/>
                </a:solidFill>
                <a:latin typeface="Canva Sans"/>
                <a:ea typeface="Canva Sans"/>
                <a:cs typeface="Canva Sans"/>
                <a:sym typeface="Canva Sans"/>
                <a:hlinkClick r:id="rId4" tooltip="https://pseint.sourceforge.net"/>
              </a:rPr>
              <a:t>PSeInt</a:t>
            </a:r>
          </a:p>
        </p:txBody>
      </p:sp>
      <p:sp>
        <p:nvSpPr>
          <p:cNvPr id="14" name="TextBox 14"/>
          <p:cNvSpPr txBox="1"/>
          <p:nvPr/>
        </p:nvSpPr>
        <p:spPr>
          <a:xfrm>
            <a:off x="3595092" y="3194038"/>
            <a:ext cx="1765548" cy="580390"/>
          </a:xfrm>
          <a:prstGeom prst="rect">
            <a:avLst/>
          </a:prstGeom>
        </p:spPr>
        <p:txBody>
          <a:bodyPr lIns="0" tIns="0" rIns="0" bIns="0" rtlCol="0" anchor="t">
            <a:spAutoFit/>
          </a:bodyPr>
          <a:lstStyle/>
          <a:p>
            <a:pPr algn="l">
              <a:lnSpc>
                <a:spcPts val="4759"/>
              </a:lnSpc>
              <a:spcBef>
                <a:spcPct val="0"/>
              </a:spcBef>
            </a:pPr>
            <a:r>
              <a:rPr lang="en-US" sz="3399">
                <a:solidFill>
                  <a:srgbClr val="FFFFFF"/>
                </a:solidFill>
                <a:latin typeface="Canva Sans"/>
                <a:ea typeface="Canva Sans"/>
                <a:cs typeface="Canva Sans"/>
                <a:sym typeface="Canva Sans"/>
              </a:rPr>
              <a:t>¿Dudas?</a:t>
            </a:r>
          </a:p>
        </p:txBody>
      </p:sp>
      <p:sp>
        <p:nvSpPr>
          <p:cNvPr id="15" name="TextBox 15"/>
          <p:cNvSpPr txBox="1"/>
          <p:nvPr/>
        </p:nvSpPr>
        <p:spPr>
          <a:xfrm>
            <a:off x="15004435" y="5076825"/>
            <a:ext cx="1122878" cy="580390"/>
          </a:xfrm>
          <a:prstGeom prst="rect">
            <a:avLst/>
          </a:prstGeom>
        </p:spPr>
        <p:txBody>
          <a:bodyPr lIns="0" tIns="0" rIns="0" bIns="0" rtlCol="0" anchor="t">
            <a:spAutoFit/>
          </a:bodyPr>
          <a:lstStyle/>
          <a:p>
            <a:pPr algn="r">
              <a:lnSpc>
                <a:spcPts val="4759"/>
              </a:lnSpc>
              <a:spcBef>
                <a:spcPct val="0"/>
              </a:spcBef>
            </a:pPr>
            <a:r>
              <a:rPr lang="en-US" sz="3399">
                <a:solidFill>
                  <a:srgbClr val="FFFFFF"/>
                </a:solidFill>
                <a:latin typeface="Canva Sans"/>
                <a:ea typeface="Canva Sans"/>
                <a:cs typeface="Canva Sans"/>
                <a:sym typeface="Canva Sans"/>
              </a:rPr>
              <a:t>Quizz</a:t>
            </a:r>
          </a:p>
        </p:txBody>
      </p:sp>
      <p:sp>
        <p:nvSpPr>
          <p:cNvPr id="16" name="TextBox 16"/>
          <p:cNvSpPr txBox="1"/>
          <p:nvPr/>
        </p:nvSpPr>
        <p:spPr>
          <a:xfrm>
            <a:off x="15090398" y="5962086"/>
            <a:ext cx="1195745" cy="580390"/>
          </a:xfrm>
          <a:prstGeom prst="rect">
            <a:avLst/>
          </a:prstGeom>
        </p:spPr>
        <p:txBody>
          <a:bodyPr lIns="0" tIns="0" rIns="0" bIns="0" rtlCol="0" anchor="t">
            <a:spAutoFit/>
          </a:bodyPr>
          <a:lstStyle/>
          <a:p>
            <a:pPr algn="r">
              <a:lnSpc>
                <a:spcPts val="4759"/>
              </a:lnSpc>
              <a:spcBef>
                <a:spcPct val="0"/>
              </a:spcBef>
            </a:pPr>
            <a:r>
              <a:rPr lang="en-US" sz="3399">
                <a:solidFill>
                  <a:srgbClr val="FFFFFF"/>
                </a:solidFill>
                <a:latin typeface="Canva Sans"/>
                <a:ea typeface="Canva Sans"/>
                <a:cs typeface="Canva Sans"/>
                <a:sym typeface="Canva Sans"/>
                <a:hlinkClick r:id="rId5" tooltip="https://youtu.be/bLWUsm2eyqM"/>
              </a:rPr>
              <a:t>Video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E2235"/>
        </a:solidFill>
        <a:effectLst/>
      </p:bgPr>
    </p:bg>
    <p:spTree>
      <p:nvGrpSpPr>
        <p:cNvPr id="1" name=""/>
        <p:cNvGrpSpPr/>
        <p:nvPr/>
      </p:nvGrpSpPr>
      <p:grpSpPr>
        <a:xfrm>
          <a:off x="0" y="0"/>
          <a:ext cx="0" cy="0"/>
          <a:chOff x="0" y="0"/>
          <a:chExt cx="0" cy="0"/>
        </a:xfrm>
      </p:grpSpPr>
      <p:sp>
        <p:nvSpPr>
          <p:cNvPr id="2" name="TextBox 2"/>
          <p:cNvSpPr txBox="1"/>
          <p:nvPr/>
        </p:nvSpPr>
        <p:spPr>
          <a:xfrm>
            <a:off x="1720574" y="3192618"/>
            <a:ext cx="14846852" cy="4202430"/>
          </a:xfrm>
          <a:prstGeom prst="rect">
            <a:avLst/>
          </a:prstGeom>
        </p:spPr>
        <p:txBody>
          <a:bodyPr lIns="0" tIns="0" rIns="0" bIns="0" rtlCol="0" anchor="t">
            <a:spAutoFit/>
          </a:bodyPr>
          <a:lstStyle/>
          <a:p>
            <a:pPr algn="ctr">
              <a:lnSpc>
                <a:spcPts val="6719"/>
              </a:lnSpc>
              <a:spcBef>
                <a:spcPct val="0"/>
              </a:spcBef>
            </a:pPr>
            <a:r>
              <a:rPr lang="en-US" sz="4800">
                <a:solidFill>
                  <a:srgbClr val="FFFFFF"/>
                </a:solidFill>
                <a:latin typeface="Canva Sans"/>
                <a:ea typeface="Canva Sans"/>
                <a:cs typeface="Canva Sans"/>
                <a:sym typeface="Canva Sans"/>
              </a:rPr>
              <a:t>Analiza problemas computacionales sencillos mediante técnicas de descomposición, abstracción y reconocimiento de patrones para formular su estructura y determinar posibles soluciones algorítmicas</a:t>
            </a:r>
          </a:p>
        </p:txBody>
      </p:sp>
      <p:grpSp>
        <p:nvGrpSpPr>
          <p:cNvPr id="3" name="Group 3"/>
          <p:cNvGrpSpPr/>
          <p:nvPr/>
        </p:nvGrpSpPr>
        <p:grpSpPr>
          <a:xfrm>
            <a:off x="1720574" y="1196924"/>
            <a:ext cx="13862245" cy="1450330"/>
            <a:chOff x="0" y="0"/>
            <a:chExt cx="18482994" cy="1933773"/>
          </a:xfrm>
        </p:grpSpPr>
        <p:sp>
          <p:nvSpPr>
            <p:cNvPr id="4" name="Freeform 4"/>
            <p:cNvSpPr/>
            <p:nvPr/>
          </p:nvSpPr>
          <p:spPr>
            <a:xfrm>
              <a:off x="0" y="0"/>
              <a:ext cx="18482994" cy="1933773"/>
            </a:xfrm>
            <a:custGeom>
              <a:avLst/>
              <a:gdLst/>
              <a:ahLst/>
              <a:cxnLst/>
              <a:rect l="l" t="t" r="r" b="b"/>
              <a:pathLst>
                <a:path w="18482994" h="1933773">
                  <a:moveTo>
                    <a:pt x="0" y="0"/>
                  </a:moveTo>
                  <a:lnTo>
                    <a:pt x="18482994" y="0"/>
                  </a:lnTo>
                  <a:lnTo>
                    <a:pt x="18482994" y="1933773"/>
                  </a:lnTo>
                  <a:lnTo>
                    <a:pt x="0" y="1933773"/>
                  </a:lnTo>
                  <a:close/>
                </a:path>
              </a:pathLst>
            </a:custGeom>
            <a:blipFill>
              <a:blip r:embed="rId2">
                <a:alphaModFix amt="0"/>
              </a:blip>
              <a:stretch>
                <a:fillRect t="-186451" r="-18734" b="-155803"/>
              </a:stretch>
            </a:blipFill>
          </p:spPr>
          <p:txBody>
            <a:bodyPr/>
            <a:lstStyle/>
            <a:p>
              <a:endParaRPr lang="es-GT"/>
            </a:p>
          </p:txBody>
        </p:sp>
        <p:sp>
          <p:nvSpPr>
            <p:cNvPr id="5" name="TextBox 5"/>
            <p:cNvSpPr txBox="1"/>
            <p:nvPr/>
          </p:nvSpPr>
          <p:spPr>
            <a:xfrm>
              <a:off x="0" y="-142875"/>
              <a:ext cx="18482994" cy="2076648"/>
            </a:xfrm>
            <a:prstGeom prst="rect">
              <a:avLst/>
            </a:prstGeom>
          </p:spPr>
          <p:txBody>
            <a:bodyPr lIns="0" tIns="0" rIns="0" bIns="0" rtlCol="0" anchor="ctr"/>
            <a:lstStyle/>
            <a:p>
              <a:pPr algn="l">
                <a:lnSpc>
                  <a:spcPts val="8640"/>
                </a:lnSpc>
              </a:pPr>
              <a:r>
                <a:rPr lang="en-US" sz="7200" b="1">
                  <a:solidFill>
                    <a:srgbClr val="FFFFFF"/>
                  </a:solidFill>
                  <a:latin typeface="Calibri (MS) Bold"/>
                  <a:ea typeface="Calibri (MS) Bold"/>
                  <a:cs typeface="Calibri (MS) Bold"/>
                  <a:sym typeface="Calibri (MS) Bold"/>
                </a:rPr>
                <a:t>Competencias</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E2235"/>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16891" y="16891"/>
              <a:ext cx="24383999" cy="1755648"/>
            </a:xfrm>
            <a:custGeom>
              <a:avLst/>
              <a:gdLst/>
              <a:ahLst/>
              <a:cxnLst/>
              <a:rect l="l" t="t" r="r" b="b"/>
              <a:pathLst>
                <a:path w="24383999" h="1755648">
                  <a:moveTo>
                    <a:pt x="0" y="0"/>
                  </a:moveTo>
                  <a:lnTo>
                    <a:pt x="24383999" y="0"/>
                  </a:lnTo>
                  <a:lnTo>
                    <a:pt x="24383999" y="1755648"/>
                  </a:lnTo>
                  <a:lnTo>
                    <a:pt x="0" y="1755648"/>
                  </a:lnTo>
                  <a:close/>
                </a:path>
              </a:pathLst>
            </a:custGeom>
            <a:solidFill>
              <a:srgbClr val="161929"/>
            </a:solidFill>
          </p:spPr>
          <p:txBody>
            <a:bodyPr/>
            <a:lstStyle/>
            <a:p>
              <a:endParaRPr lang="es-GT"/>
            </a:p>
          </p:txBody>
        </p:sp>
        <p:sp>
          <p:nvSpPr>
            <p:cNvPr id="4" name="Freeform 4"/>
            <p:cNvSpPr/>
            <p:nvPr/>
          </p:nvSpPr>
          <p:spPr>
            <a:xfrm>
              <a:off x="0" y="0"/>
              <a:ext cx="24417782" cy="1789430"/>
            </a:xfrm>
            <a:custGeom>
              <a:avLst/>
              <a:gdLst/>
              <a:ahLst/>
              <a:cxnLst/>
              <a:rect l="l" t="t" r="r" b="b"/>
              <a:pathLst>
                <a:path w="24417782" h="1789430">
                  <a:moveTo>
                    <a:pt x="16891" y="0"/>
                  </a:moveTo>
                  <a:lnTo>
                    <a:pt x="24400890" y="0"/>
                  </a:lnTo>
                  <a:cubicBezTo>
                    <a:pt x="24410290" y="0"/>
                    <a:pt x="24417782" y="7620"/>
                    <a:pt x="24417782" y="16891"/>
                  </a:cubicBezTo>
                  <a:lnTo>
                    <a:pt x="24417782" y="1772539"/>
                  </a:lnTo>
                  <a:cubicBezTo>
                    <a:pt x="24417782" y="1781937"/>
                    <a:pt x="24410163" y="1789430"/>
                    <a:pt x="24400890"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24400890" y="1755648"/>
                  </a:lnTo>
                  <a:lnTo>
                    <a:pt x="24400890" y="1772539"/>
                  </a:lnTo>
                  <a:lnTo>
                    <a:pt x="24384000" y="1772539"/>
                  </a:lnTo>
                  <a:lnTo>
                    <a:pt x="24384000" y="16891"/>
                  </a:lnTo>
                  <a:lnTo>
                    <a:pt x="24400890" y="16891"/>
                  </a:lnTo>
                  <a:lnTo>
                    <a:pt x="24400890" y="33909"/>
                  </a:lnTo>
                  <a:lnTo>
                    <a:pt x="16891" y="33909"/>
                  </a:lnTo>
                  <a:close/>
                </a:path>
              </a:pathLst>
            </a:custGeom>
            <a:solidFill>
              <a:srgbClr val="161929"/>
            </a:solidFill>
          </p:spPr>
          <p:txBody>
            <a:bodyPr/>
            <a:lstStyle/>
            <a:p>
              <a:endParaRPr lang="es-GT"/>
            </a:p>
          </p:txBody>
        </p:sp>
      </p:grpSp>
      <p:grpSp>
        <p:nvGrpSpPr>
          <p:cNvPr id="5" name="Group 5"/>
          <p:cNvGrpSpPr/>
          <p:nvPr/>
        </p:nvGrpSpPr>
        <p:grpSpPr>
          <a:xfrm>
            <a:off x="-12697" y="1304039"/>
            <a:ext cx="18313403" cy="98555"/>
            <a:chOff x="0" y="0"/>
            <a:chExt cx="24417871" cy="131407"/>
          </a:xfrm>
        </p:grpSpPr>
        <p:sp>
          <p:nvSpPr>
            <p:cNvPr id="6" name="Freeform 6"/>
            <p:cNvSpPr/>
            <p:nvPr/>
          </p:nvSpPr>
          <p:spPr>
            <a:xfrm>
              <a:off x="16891" y="16891"/>
              <a:ext cx="24383999" cy="97536"/>
            </a:xfrm>
            <a:custGeom>
              <a:avLst/>
              <a:gdLst/>
              <a:ahLst/>
              <a:cxnLst/>
              <a:rect l="l" t="t" r="r" b="b"/>
              <a:pathLst>
                <a:path w="24383999" h="97536">
                  <a:moveTo>
                    <a:pt x="0" y="0"/>
                  </a:moveTo>
                  <a:lnTo>
                    <a:pt x="24383999" y="0"/>
                  </a:lnTo>
                  <a:lnTo>
                    <a:pt x="24383999" y="97536"/>
                  </a:lnTo>
                  <a:lnTo>
                    <a:pt x="0" y="97536"/>
                  </a:lnTo>
                  <a:close/>
                </a:path>
              </a:pathLst>
            </a:custGeom>
            <a:solidFill>
              <a:srgbClr val="5B8CFF"/>
            </a:solidFill>
          </p:spPr>
          <p:txBody>
            <a:bodyPr/>
            <a:lstStyle/>
            <a:p>
              <a:endParaRPr lang="es-GT"/>
            </a:p>
          </p:txBody>
        </p:sp>
        <p:sp>
          <p:nvSpPr>
            <p:cNvPr id="7" name="Freeform 7"/>
            <p:cNvSpPr/>
            <p:nvPr/>
          </p:nvSpPr>
          <p:spPr>
            <a:xfrm>
              <a:off x="0" y="0"/>
              <a:ext cx="24417782" cy="131320"/>
            </a:xfrm>
            <a:custGeom>
              <a:avLst/>
              <a:gdLst/>
              <a:ahLst/>
              <a:cxnLst/>
              <a:rect l="l" t="t" r="r" b="b"/>
              <a:pathLst>
                <a:path w="24417782" h="131320">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5B8CFF"/>
            </a:solidFill>
          </p:spPr>
          <p:txBody>
            <a:bodyPr/>
            <a:lstStyle/>
            <a:p>
              <a:endParaRPr lang="es-GT"/>
            </a:p>
          </p:txBody>
        </p:sp>
      </p:grpSp>
      <p:grpSp>
        <p:nvGrpSpPr>
          <p:cNvPr id="8" name="Group 8"/>
          <p:cNvGrpSpPr/>
          <p:nvPr/>
        </p:nvGrpSpPr>
        <p:grpSpPr>
          <a:xfrm>
            <a:off x="822960" y="0"/>
            <a:ext cx="16642080" cy="1316736"/>
            <a:chOff x="0" y="0"/>
            <a:chExt cx="22189440" cy="1755648"/>
          </a:xfrm>
        </p:grpSpPr>
        <p:sp>
          <p:nvSpPr>
            <p:cNvPr id="9" name="Freeform 9"/>
            <p:cNvSpPr/>
            <p:nvPr/>
          </p:nvSpPr>
          <p:spPr>
            <a:xfrm>
              <a:off x="0" y="0"/>
              <a:ext cx="22189439" cy="1755648"/>
            </a:xfrm>
            <a:custGeom>
              <a:avLst/>
              <a:gdLst/>
              <a:ahLst/>
              <a:cxnLst/>
              <a:rect l="l" t="t" r="r" b="b"/>
              <a:pathLst>
                <a:path w="22189439" h="1755648">
                  <a:moveTo>
                    <a:pt x="0" y="0"/>
                  </a:moveTo>
                  <a:lnTo>
                    <a:pt x="22189439" y="0"/>
                  </a:lnTo>
                  <a:lnTo>
                    <a:pt x="22189439" y="1755648"/>
                  </a:lnTo>
                  <a:lnTo>
                    <a:pt x="0" y="1755648"/>
                  </a:lnTo>
                  <a:close/>
                </a:path>
              </a:pathLst>
            </a:custGeom>
            <a:blipFill>
              <a:blip r:embed="rId3">
                <a:alphaModFix amt="0"/>
              </a:blip>
              <a:stretch>
                <a:fillRect t="-196269" b="-196269"/>
              </a:stretch>
            </a:blipFill>
          </p:spPr>
          <p:txBody>
            <a:bodyPr/>
            <a:lstStyle/>
            <a:p>
              <a:endParaRPr lang="es-GT"/>
            </a:p>
          </p:txBody>
        </p:sp>
        <p:sp>
          <p:nvSpPr>
            <p:cNvPr id="10" name="TextBox 10"/>
            <p:cNvSpPr txBox="1"/>
            <p:nvPr/>
          </p:nvSpPr>
          <p:spPr>
            <a:xfrm>
              <a:off x="0" y="-76200"/>
              <a:ext cx="22189440" cy="1831848"/>
            </a:xfrm>
            <a:prstGeom prst="rect">
              <a:avLst/>
            </a:prstGeom>
          </p:spPr>
          <p:txBody>
            <a:bodyPr lIns="0" tIns="0" rIns="0" bIns="0" rtlCol="0" anchor="ctr"/>
            <a:lstStyle/>
            <a:p>
              <a:pPr algn="l">
                <a:lnSpc>
                  <a:spcPts val="5280"/>
                </a:lnSpc>
              </a:pPr>
              <a:r>
                <a:rPr lang="en-US" sz="4400" b="1">
                  <a:solidFill>
                    <a:srgbClr val="FFFFFF"/>
                  </a:solidFill>
                  <a:latin typeface="Calibri (MS) Bold"/>
                  <a:ea typeface="Calibri (MS) Bold"/>
                  <a:cs typeface="Calibri (MS) Bold"/>
                  <a:sym typeface="Calibri (MS) Bold"/>
                </a:rPr>
                <a:t>Definición de algoritmo</a:t>
              </a:r>
            </a:p>
          </p:txBody>
        </p:sp>
      </p:grpSp>
      <p:grpSp>
        <p:nvGrpSpPr>
          <p:cNvPr id="11" name="Group 11"/>
          <p:cNvGrpSpPr/>
          <p:nvPr/>
        </p:nvGrpSpPr>
        <p:grpSpPr>
          <a:xfrm>
            <a:off x="-12697" y="9954263"/>
            <a:ext cx="18313403" cy="345443"/>
            <a:chOff x="0" y="0"/>
            <a:chExt cx="24417871" cy="460591"/>
          </a:xfrm>
        </p:grpSpPr>
        <p:sp>
          <p:nvSpPr>
            <p:cNvPr id="12" name="Freeform 12"/>
            <p:cNvSpPr/>
            <p:nvPr/>
          </p:nvSpPr>
          <p:spPr>
            <a:xfrm>
              <a:off x="16891" y="16891"/>
              <a:ext cx="24383999" cy="426720"/>
            </a:xfrm>
            <a:custGeom>
              <a:avLst/>
              <a:gdLst/>
              <a:ahLst/>
              <a:cxnLst/>
              <a:rect l="l" t="t" r="r" b="b"/>
              <a:pathLst>
                <a:path w="24383999" h="426720">
                  <a:moveTo>
                    <a:pt x="0" y="0"/>
                  </a:moveTo>
                  <a:lnTo>
                    <a:pt x="24383999" y="0"/>
                  </a:lnTo>
                  <a:lnTo>
                    <a:pt x="24383999" y="426720"/>
                  </a:lnTo>
                  <a:lnTo>
                    <a:pt x="0" y="426720"/>
                  </a:lnTo>
                  <a:close/>
                </a:path>
              </a:pathLst>
            </a:custGeom>
            <a:solidFill>
              <a:srgbClr val="12152A"/>
            </a:solidFill>
          </p:spPr>
          <p:txBody>
            <a:bodyPr/>
            <a:lstStyle/>
            <a:p>
              <a:endParaRPr lang="es-GT"/>
            </a:p>
          </p:txBody>
        </p:sp>
        <p:sp>
          <p:nvSpPr>
            <p:cNvPr id="13" name="Freeform 13"/>
            <p:cNvSpPr/>
            <p:nvPr/>
          </p:nvSpPr>
          <p:spPr>
            <a:xfrm>
              <a:off x="0" y="0"/>
              <a:ext cx="24417782" cy="460504"/>
            </a:xfrm>
            <a:custGeom>
              <a:avLst/>
              <a:gdLst/>
              <a:ahLst/>
              <a:cxnLst/>
              <a:rect l="l" t="t" r="r" b="b"/>
              <a:pathLst>
                <a:path w="24417782" h="460504">
                  <a:moveTo>
                    <a:pt x="16891" y="0"/>
                  </a:moveTo>
                  <a:lnTo>
                    <a:pt x="24400890" y="0"/>
                  </a:lnTo>
                  <a:cubicBezTo>
                    <a:pt x="24410290" y="0"/>
                    <a:pt x="24417782" y="7620"/>
                    <a:pt x="24417782" y="16891"/>
                  </a:cubicBezTo>
                  <a:lnTo>
                    <a:pt x="24417782" y="443611"/>
                  </a:lnTo>
                  <a:cubicBezTo>
                    <a:pt x="24417782" y="453009"/>
                    <a:pt x="24410163" y="460502"/>
                    <a:pt x="24400890" y="460502"/>
                  </a:cubicBezTo>
                  <a:lnTo>
                    <a:pt x="16891" y="460502"/>
                  </a:lnTo>
                  <a:cubicBezTo>
                    <a:pt x="7620" y="460629"/>
                    <a:pt x="0" y="453009"/>
                    <a:pt x="0" y="443611"/>
                  </a:cubicBezTo>
                  <a:lnTo>
                    <a:pt x="0" y="16891"/>
                  </a:lnTo>
                  <a:cubicBezTo>
                    <a:pt x="0" y="7620"/>
                    <a:pt x="7620" y="0"/>
                    <a:pt x="16891" y="0"/>
                  </a:cubicBezTo>
                  <a:moveTo>
                    <a:pt x="16891" y="33909"/>
                  </a:moveTo>
                  <a:lnTo>
                    <a:pt x="16891" y="16891"/>
                  </a:lnTo>
                  <a:lnTo>
                    <a:pt x="33909" y="16891"/>
                  </a:lnTo>
                  <a:lnTo>
                    <a:pt x="33909" y="443611"/>
                  </a:lnTo>
                  <a:lnTo>
                    <a:pt x="16891" y="443611"/>
                  </a:lnTo>
                  <a:lnTo>
                    <a:pt x="16891" y="426720"/>
                  </a:lnTo>
                  <a:lnTo>
                    <a:pt x="24400890" y="426720"/>
                  </a:lnTo>
                  <a:lnTo>
                    <a:pt x="24400890" y="443611"/>
                  </a:lnTo>
                  <a:lnTo>
                    <a:pt x="24384000" y="443611"/>
                  </a:lnTo>
                  <a:lnTo>
                    <a:pt x="24384000" y="16891"/>
                  </a:lnTo>
                  <a:lnTo>
                    <a:pt x="24400890" y="16891"/>
                  </a:lnTo>
                  <a:lnTo>
                    <a:pt x="24400890" y="33909"/>
                  </a:lnTo>
                  <a:lnTo>
                    <a:pt x="16891" y="33909"/>
                  </a:lnTo>
                  <a:close/>
                </a:path>
              </a:pathLst>
            </a:custGeom>
            <a:solidFill>
              <a:srgbClr val="12152A"/>
            </a:solidFill>
          </p:spPr>
          <p:txBody>
            <a:bodyPr/>
            <a:lstStyle/>
            <a:p>
              <a:endParaRPr lang="es-GT"/>
            </a:p>
          </p:txBody>
        </p:sp>
      </p:grpSp>
      <p:grpSp>
        <p:nvGrpSpPr>
          <p:cNvPr id="14" name="Group 14"/>
          <p:cNvGrpSpPr/>
          <p:nvPr/>
        </p:nvGrpSpPr>
        <p:grpSpPr>
          <a:xfrm>
            <a:off x="17007840" y="9966960"/>
            <a:ext cx="914400" cy="320040"/>
            <a:chOff x="0" y="0"/>
            <a:chExt cx="1219200" cy="426720"/>
          </a:xfrm>
        </p:grpSpPr>
        <p:sp>
          <p:nvSpPr>
            <p:cNvPr id="15" name="Freeform 15"/>
            <p:cNvSpPr/>
            <p:nvPr/>
          </p:nvSpPr>
          <p:spPr>
            <a:xfrm>
              <a:off x="0" y="0"/>
              <a:ext cx="1219200" cy="426720"/>
            </a:xfrm>
            <a:custGeom>
              <a:avLst/>
              <a:gdLst/>
              <a:ahLst/>
              <a:cxnLst/>
              <a:rect l="l" t="t" r="r" b="b"/>
              <a:pathLst>
                <a:path w="1219200" h="426720">
                  <a:moveTo>
                    <a:pt x="0" y="0"/>
                  </a:moveTo>
                  <a:lnTo>
                    <a:pt x="1219200" y="0"/>
                  </a:lnTo>
                  <a:lnTo>
                    <a:pt x="1219200" y="426720"/>
                  </a:lnTo>
                  <a:lnTo>
                    <a:pt x="0" y="426720"/>
                  </a:lnTo>
                  <a:close/>
                </a:path>
              </a:pathLst>
            </a:custGeom>
            <a:blipFill>
              <a:blip r:embed="rId3">
                <a:alphaModFix amt="0"/>
              </a:blip>
              <a:stretch>
                <a:fillRect t="-5671" b="-5671"/>
              </a:stretch>
            </a:blipFill>
          </p:spPr>
          <p:txBody>
            <a:bodyPr/>
            <a:lstStyle/>
            <a:p>
              <a:endParaRPr lang="es-GT"/>
            </a:p>
          </p:txBody>
        </p:sp>
        <p:sp>
          <p:nvSpPr>
            <p:cNvPr id="16" name="TextBox 16"/>
            <p:cNvSpPr txBox="1"/>
            <p:nvPr/>
          </p:nvSpPr>
          <p:spPr>
            <a:xfrm>
              <a:off x="0" y="-38100"/>
              <a:ext cx="1219200" cy="464820"/>
            </a:xfrm>
            <a:prstGeom prst="rect">
              <a:avLst/>
            </a:prstGeom>
          </p:spPr>
          <p:txBody>
            <a:bodyPr lIns="0" tIns="0" rIns="0" bIns="0" rtlCol="0" anchor="ctr"/>
            <a:lstStyle/>
            <a:p>
              <a:pPr algn="r">
                <a:lnSpc>
                  <a:spcPts val="1800"/>
                </a:lnSpc>
              </a:pPr>
              <a:r>
                <a:rPr lang="en-US" sz="1500">
                  <a:solidFill>
                    <a:srgbClr val="6E7A9F"/>
                  </a:solidFill>
                  <a:latin typeface="Calibri (MS)"/>
                  <a:ea typeface="Calibri (MS)"/>
                  <a:cs typeface="Calibri (MS)"/>
                  <a:sym typeface="Calibri (MS)"/>
                </a:rPr>
                <a:t>6</a:t>
              </a:r>
            </a:p>
          </p:txBody>
        </p:sp>
      </p:grpSp>
      <p:grpSp>
        <p:nvGrpSpPr>
          <p:cNvPr id="17" name="Group 17"/>
          <p:cNvGrpSpPr/>
          <p:nvPr/>
        </p:nvGrpSpPr>
        <p:grpSpPr>
          <a:xfrm>
            <a:off x="718823" y="1633223"/>
            <a:ext cx="9718043" cy="8072123"/>
            <a:chOff x="0" y="0"/>
            <a:chExt cx="12957391" cy="10762831"/>
          </a:xfrm>
        </p:grpSpPr>
        <p:sp>
          <p:nvSpPr>
            <p:cNvPr id="18" name="Freeform 18"/>
            <p:cNvSpPr/>
            <p:nvPr/>
          </p:nvSpPr>
          <p:spPr>
            <a:xfrm>
              <a:off x="16891" y="16891"/>
              <a:ext cx="12923520" cy="10728960"/>
            </a:xfrm>
            <a:custGeom>
              <a:avLst/>
              <a:gdLst/>
              <a:ahLst/>
              <a:cxnLst/>
              <a:rect l="l" t="t" r="r" b="b"/>
              <a:pathLst>
                <a:path w="12923520" h="10728960">
                  <a:moveTo>
                    <a:pt x="0" y="0"/>
                  </a:moveTo>
                  <a:lnTo>
                    <a:pt x="12923520" y="0"/>
                  </a:lnTo>
                  <a:lnTo>
                    <a:pt x="12923520" y="10728960"/>
                  </a:lnTo>
                  <a:lnTo>
                    <a:pt x="0" y="10728960"/>
                  </a:lnTo>
                  <a:close/>
                </a:path>
              </a:pathLst>
            </a:custGeom>
            <a:solidFill>
              <a:srgbClr val="252B42"/>
            </a:solidFill>
          </p:spPr>
          <p:txBody>
            <a:bodyPr/>
            <a:lstStyle/>
            <a:p>
              <a:endParaRPr lang="es-GT"/>
            </a:p>
          </p:txBody>
        </p:sp>
        <p:sp>
          <p:nvSpPr>
            <p:cNvPr id="19" name="Freeform 19"/>
            <p:cNvSpPr/>
            <p:nvPr/>
          </p:nvSpPr>
          <p:spPr>
            <a:xfrm>
              <a:off x="0" y="0"/>
              <a:ext cx="12957302" cy="10762742"/>
            </a:xfrm>
            <a:custGeom>
              <a:avLst/>
              <a:gdLst/>
              <a:ahLst/>
              <a:cxnLst/>
              <a:rect l="l" t="t" r="r" b="b"/>
              <a:pathLst>
                <a:path w="12957302" h="10762742">
                  <a:moveTo>
                    <a:pt x="16891" y="0"/>
                  </a:moveTo>
                  <a:lnTo>
                    <a:pt x="12940411" y="0"/>
                  </a:lnTo>
                  <a:cubicBezTo>
                    <a:pt x="12949809" y="0"/>
                    <a:pt x="12957302" y="7620"/>
                    <a:pt x="12957302" y="16891"/>
                  </a:cubicBezTo>
                  <a:lnTo>
                    <a:pt x="12957302" y="10745851"/>
                  </a:lnTo>
                  <a:cubicBezTo>
                    <a:pt x="12957302" y="10755249"/>
                    <a:pt x="12949682" y="10762742"/>
                    <a:pt x="12940411" y="10762742"/>
                  </a:cubicBezTo>
                  <a:lnTo>
                    <a:pt x="16891" y="10762742"/>
                  </a:lnTo>
                  <a:cubicBezTo>
                    <a:pt x="7493" y="10762742"/>
                    <a:pt x="0" y="10755122"/>
                    <a:pt x="0" y="10745851"/>
                  </a:cubicBezTo>
                  <a:lnTo>
                    <a:pt x="0" y="16891"/>
                  </a:lnTo>
                  <a:cubicBezTo>
                    <a:pt x="0" y="7620"/>
                    <a:pt x="7620" y="0"/>
                    <a:pt x="16891" y="0"/>
                  </a:cubicBezTo>
                  <a:moveTo>
                    <a:pt x="16891" y="33909"/>
                  </a:moveTo>
                  <a:lnTo>
                    <a:pt x="16891" y="16891"/>
                  </a:lnTo>
                  <a:lnTo>
                    <a:pt x="33909" y="16891"/>
                  </a:lnTo>
                  <a:lnTo>
                    <a:pt x="33909" y="10745851"/>
                  </a:lnTo>
                  <a:lnTo>
                    <a:pt x="16891" y="10745851"/>
                  </a:lnTo>
                  <a:lnTo>
                    <a:pt x="16891" y="10728960"/>
                  </a:lnTo>
                  <a:lnTo>
                    <a:pt x="12940411" y="10728960"/>
                  </a:lnTo>
                  <a:lnTo>
                    <a:pt x="12940411" y="10745851"/>
                  </a:lnTo>
                  <a:lnTo>
                    <a:pt x="12923520" y="10745851"/>
                  </a:lnTo>
                  <a:lnTo>
                    <a:pt x="12923520" y="16891"/>
                  </a:lnTo>
                  <a:lnTo>
                    <a:pt x="12940411" y="16891"/>
                  </a:lnTo>
                  <a:lnTo>
                    <a:pt x="12940411" y="33909"/>
                  </a:lnTo>
                  <a:lnTo>
                    <a:pt x="16891" y="33909"/>
                  </a:lnTo>
                  <a:close/>
                </a:path>
              </a:pathLst>
            </a:custGeom>
            <a:solidFill>
              <a:srgbClr val="3A4160"/>
            </a:solidFill>
          </p:spPr>
          <p:txBody>
            <a:bodyPr/>
            <a:lstStyle/>
            <a:p>
              <a:endParaRPr lang="es-GT"/>
            </a:p>
          </p:txBody>
        </p:sp>
      </p:grpSp>
      <p:grpSp>
        <p:nvGrpSpPr>
          <p:cNvPr id="20" name="Group 20"/>
          <p:cNvGrpSpPr/>
          <p:nvPr/>
        </p:nvGrpSpPr>
        <p:grpSpPr>
          <a:xfrm>
            <a:off x="1097280" y="1828800"/>
            <a:ext cx="8961120" cy="694944"/>
            <a:chOff x="0" y="0"/>
            <a:chExt cx="11948160" cy="926592"/>
          </a:xfrm>
        </p:grpSpPr>
        <p:sp>
          <p:nvSpPr>
            <p:cNvPr id="21" name="Freeform 21"/>
            <p:cNvSpPr/>
            <p:nvPr/>
          </p:nvSpPr>
          <p:spPr>
            <a:xfrm>
              <a:off x="0" y="0"/>
              <a:ext cx="11948160" cy="926592"/>
            </a:xfrm>
            <a:custGeom>
              <a:avLst/>
              <a:gdLst/>
              <a:ahLst/>
              <a:cxnLst/>
              <a:rect l="l" t="t" r="r" b="b"/>
              <a:pathLst>
                <a:path w="11948160" h="926592">
                  <a:moveTo>
                    <a:pt x="0" y="0"/>
                  </a:moveTo>
                  <a:lnTo>
                    <a:pt x="11948160" y="0"/>
                  </a:lnTo>
                  <a:lnTo>
                    <a:pt x="11948160" y="926592"/>
                  </a:lnTo>
                  <a:lnTo>
                    <a:pt x="0" y="926592"/>
                  </a:lnTo>
                  <a:close/>
                </a:path>
              </a:pathLst>
            </a:custGeom>
            <a:blipFill>
              <a:blip r:embed="rId3">
                <a:alphaModFix amt="0"/>
              </a:blip>
              <a:stretch>
                <a:fillRect t="-201254" b="-201254"/>
              </a:stretch>
            </a:blipFill>
          </p:spPr>
          <p:txBody>
            <a:bodyPr/>
            <a:lstStyle/>
            <a:p>
              <a:endParaRPr lang="es-GT"/>
            </a:p>
          </p:txBody>
        </p:sp>
        <p:sp>
          <p:nvSpPr>
            <p:cNvPr id="22" name="TextBox 22"/>
            <p:cNvSpPr txBox="1"/>
            <p:nvPr/>
          </p:nvSpPr>
          <p:spPr>
            <a:xfrm>
              <a:off x="0" y="-47625"/>
              <a:ext cx="11948160" cy="974217"/>
            </a:xfrm>
            <a:prstGeom prst="rect">
              <a:avLst/>
            </a:prstGeom>
          </p:spPr>
          <p:txBody>
            <a:bodyPr lIns="0" tIns="0" rIns="0" bIns="0" rtlCol="0" anchor="ctr"/>
            <a:lstStyle/>
            <a:p>
              <a:pPr algn="l">
                <a:lnSpc>
                  <a:spcPts val="3359"/>
                </a:lnSpc>
              </a:pPr>
              <a:r>
                <a:rPr lang="en-US" sz="2799" b="1">
                  <a:solidFill>
                    <a:srgbClr val="5B8CFF"/>
                  </a:solidFill>
                  <a:latin typeface="Calibri (MS) Bold"/>
                  <a:ea typeface="Calibri (MS) Bold"/>
                  <a:cs typeface="Calibri (MS) Bold"/>
                  <a:sym typeface="Calibri (MS) Bold"/>
                </a:rPr>
                <a:t>¿Qué es un algoritmo?</a:t>
              </a:r>
            </a:p>
          </p:txBody>
        </p:sp>
      </p:grpSp>
      <p:sp>
        <p:nvSpPr>
          <p:cNvPr id="23" name="TextBox 23"/>
          <p:cNvSpPr txBox="1"/>
          <p:nvPr/>
        </p:nvSpPr>
        <p:spPr>
          <a:xfrm>
            <a:off x="1188720" y="2630805"/>
            <a:ext cx="8778240" cy="1743075"/>
          </a:xfrm>
          <a:prstGeom prst="rect">
            <a:avLst/>
          </a:prstGeom>
        </p:spPr>
        <p:txBody>
          <a:bodyPr lIns="0" tIns="0" rIns="0" bIns="0" rtlCol="0" anchor="t">
            <a:spAutoFit/>
          </a:bodyPr>
          <a:lstStyle/>
          <a:p>
            <a:pPr algn="l">
              <a:lnSpc>
                <a:spcPts val="3359"/>
              </a:lnSpc>
            </a:pPr>
            <a:r>
              <a:rPr lang="en-US" sz="2799">
                <a:solidFill>
                  <a:srgbClr val="FFFFFF"/>
                </a:solidFill>
                <a:latin typeface="Calibri (MS)"/>
                <a:ea typeface="Calibri (MS)"/>
                <a:cs typeface="Calibri (MS)"/>
                <a:sym typeface="Calibri (MS)"/>
              </a:rPr>
              <a:t>Un algoritmo es un conjunto ordenado y finito de instrucciones bien definidas que, aplicadas a una entrada, permiten resolver un problema o ejecutar una tarea en un número determinado de pasos.</a:t>
            </a:r>
          </a:p>
        </p:txBody>
      </p:sp>
      <p:grpSp>
        <p:nvGrpSpPr>
          <p:cNvPr id="24" name="Group 24"/>
          <p:cNvGrpSpPr/>
          <p:nvPr/>
        </p:nvGrpSpPr>
        <p:grpSpPr>
          <a:xfrm>
            <a:off x="1084583" y="4833623"/>
            <a:ext cx="8986523" cy="80267"/>
            <a:chOff x="0" y="0"/>
            <a:chExt cx="11982031" cy="107023"/>
          </a:xfrm>
        </p:grpSpPr>
        <p:sp>
          <p:nvSpPr>
            <p:cNvPr id="25" name="Freeform 25"/>
            <p:cNvSpPr/>
            <p:nvPr/>
          </p:nvSpPr>
          <p:spPr>
            <a:xfrm>
              <a:off x="16891" y="16891"/>
              <a:ext cx="11948160" cy="73152"/>
            </a:xfrm>
            <a:custGeom>
              <a:avLst/>
              <a:gdLst/>
              <a:ahLst/>
              <a:cxnLst/>
              <a:rect l="l" t="t" r="r" b="b"/>
              <a:pathLst>
                <a:path w="11948160" h="73152">
                  <a:moveTo>
                    <a:pt x="0" y="0"/>
                  </a:moveTo>
                  <a:lnTo>
                    <a:pt x="11948160" y="0"/>
                  </a:lnTo>
                  <a:lnTo>
                    <a:pt x="11948160" y="73152"/>
                  </a:lnTo>
                  <a:lnTo>
                    <a:pt x="0" y="73152"/>
                  </a:lnTo>
                  <a:close/>
                </a:path>
              </a:pathLst>
            </a:custGeom>
            <a:solidFill>
              <a:srgbClr val="3A4160"/>
            </a:solidFill>
          </p:spPr>
          <p:txBody>
            <a:bodyPr/>
            <a:lstStyle/>
            <a:p>
              <a:endParaRPr lang="es-GT"/>
            </a:p>
          </p:txBody>
        </p:sp>
        <p:sp>
          <p:nvSpPr>
            <p:cNvPr id="26" name="Freeform 26"/>
            <p:cNvSpPr/>
            <p:nvPr/>
          </p:nvSpPr>
          <p:spPr>
            <a:xfrm>
              <a:off x="0" y="0"/>
              <a:ext cx="11981942" cy="106936"/>
            </a:xfrm>
            <a:custGeom>
              <a:avLst/>
              <a:gdLst/>
              <a:ahLst/>
              <a:cxnLst/>
              <a:rect l="l" t="t" r="r" b="b"/>
              <a:pathLst>
                <a:path w="11981942" h="106936">
                  <a:moveTo>
                    <a:pt x="16891" y="0"/>
                  </a:moveTo>
                  <a:lnTo>
                    <a:pt x="11965051" y="0"/>
                  </a:lnTo>
                  <a:cubicBezTo>
                    <a:pt x="11974449" y="0"/>
                    <a:pt x="11981942" y="7620"/>
                    <a:pt x="11981942" y="16891"/>
                  </a:cubicBezTo>
                  <a:lnTo>
                    <a:pt x="11981942" y="90043"/>
                  </a:lnTo>
                  <a:cubicBezTo>
                    <a:pt x="11981942" y="99441"/>
                    <a:pt x="11974322" y="106934"/>
                    <a:pt x="11965051" y="106934"/>
                  </a:cubicBezTo>
                  <a:lnTo>
                    <a:pt x="16891" y="106934"/>
                  </a:lnTo>
                  <a:cubicBezTo>
                    <a:pt x="7620" y="107061"/>
                    <a:pt x="0" y="99441"/>
                    <a:pt x="0" y="90043"/>
                  </a:cubicBezTo>
                  <a:lnTo>
                    <a:pt x="0" y="16891"/>
                  </a:lnTo>
                  <a:cubicBezTo>
                    <a:pt x="0" y="7620"/>
                    <a:pt x="7620" y="0"/>
                    <a:pt x="16891" y="0"/>
                  </a:cubicBezTo>
                  <a:moveTo>
                    <a:pt x="16891" y="33909"/>
                  </a:moveTo>
                  <a:lnTo>
                    <a:pt x="16891" y="16891"/>
                  </a:lnTo>
                  <a:lnTo>
                    <a:pt x="33909" y="16891"/>
                  </a:lnTo>
                  <a:lnTo>
                    <a:pt x="33909" y="90043"/>
                  </a:lnTo>
                  <a:lnTo>
                    <a:pt x="16891" y="90043"/>
                  </a:lnTo>
                  <a:lnTo>
                    <a:pt x="16891" y="73152"/>
                  </a:lnTo>
                  <a:lnTo>
                    <a:pt x="11965051" y="73152"/>
                  </a:lnTo>
                  <a:lnTo>
                    <a:pt x="11965051" y="90043"/>
                  </a:lnTo>
                  <a:lnTo>
                    <a:pt x="11948160" y="90043"/>
                  </a:lnTo>
                  <a:lnTo>
                    <a:pt x="11948160" y="16891"/>
                  </a:lnTo>
                  <a:lnTo>
                    <a:pt x="11965051" y="16891"/>
                  </a:lnTo>
                  <a:lnTo>
                    <a:pt x="11965051" y="33909"/>
                  </a:lnTo>
                  <a:lnTo>
                    <a:pt x="16891" y="33909"/>
                  </a:lnTo>
                  <a:close/>
                </a:path>
              </a:pathLst>
            </a:custGeom>
            <a:solidFill>
              <a:srgbClr val="3A4160"/>
            </a:solidFill>
          </p:spPr>
          <p:txBody>
            <a:bodyPr/>
            <a:lstStyle/>
            <a:p>
              <a:endParaRPr lang="es-GT"/>
            </a:p>
          </p:txBody>
        </p:sp>
      </p:grpSp>
      <p:grpSp>
        <p:nvGrpSpPr>
          <p:cNvPr id="27" name="Group 27"/>
          <p:cNvGrpSpPr/>
          <p:nvPr/>
        </p:nvGrpSpPr>
        <p:grpSpPr>
          <a:xfrm>
            <a:off x="1097280" y="5084064"/>
            <a:ext cx="8961120" cy="512064"/>
            <a:chOff x="0" y="0"/>
            <a:chExt cx="11948160" cy="682752"/>
          </a:xfrm>
        </p:grpSpPr>
        <p:sp>
          <p:nvSpPr>
            <p:cNvPr id="28" name="Freeform 28"/>
            <p:cNvSpPr/>
            <p:nvPr/>
          </p:nvSpPr>
          <p:spPr>
            <a:xfrm>
              <a:off x="0" y="0"/>
              <a:ext cx="11948160" cy="682752"/>
            </a:xfrm>
            <a:custGeom>
              <a:avLst/>
              <a:gdLst/>
              <a:ahLst/>
              <a:cxnLst/>
              <a:rect l="l" t="t" r="r" b="b"/>
              <a:pathLst>
                <a:path w="11948160" h="682752">
                  <a:moveTo>
                    <a:pt x="0" y="0"/>
                  </a:moveTo>
                  <a:lnTo>
                    <a:pt x="11948160" y="0"/>
                  </a:lnTo>
                  <a:lnTo>
                    <a:pt x="11948160" y="682752"/>
                  </a:lnTo>
                  <a:lnTo>
                    <a:pt x="0" y="682752"/>
                  </a:lnTo>
                  <a:close/>
                </a:path>
              </a:pathLst>
            </a:custGeom>
            <a:blipFill>
              <a:blip r:embed="rId3">
                <a:alphaModFix amt="0"/>
              </a:blip>
              <a:stretch>
                <a:fillRect t="-290988" b="-290988"/>
              </a:stretch>
            </a:blipFill>
          </p:spPr>
          <p:txBody>
            <a:bodyPr/>
            <a:lstStyle/>
            <a:p>
              <a:endParaRPr lang="es-GT"/>
            </a:p>
          </p:txBody>
        </p:sp>
        <p:sp>
          <p:nvSpPr>
            <p:cNvPr id="29" name="TextBox 29"/>
            <p:cNvSpPr txBox="1"/>
            <p:nvPr/>
          </p:nvSpPr>
          <p:spPr>
            <a:xfrm>
              <a:off x="0" y="-47625"/>
              <a:ext cx="11948160" cy="730377"/>
            </a:xfrm>
            <a:prstGeom prst="rect">
              <a:avLst/>
            </a:prstGeom>
          </p:spPr>
          <p:txBody>
            <a:bodyPr lIns="0" tIns="0" rIns="0" bIns="0" rtlCol="0" anchor="ctr"/>
            <a:lstStyle/>
            <a:p>
              <a:pPr algn="l">
                <a:lnSpc>
                  <a:spcPts val="2640"/>
                </a:lnSpc>
              </a:pPr>
              <a:r>
                <a:rPr lang="en-US" sz="2200" b="1">
                  <a:solidFill>
                    <a:srgbClr val="7EC8A4"/>
                  </a:solidFill>
                  <a:latin typeface="Calibri (MS) Bold"/>
                  <a:ea typeface="Calibri (MS) Bold"/>
                  <a:cs typeface="Calibri (MS) Bold"/>
                  <a:sym typeface="Calibri (MS) Bold"/>
                </a:rPr>
                <a:t>Origen del término</a:t>
              </a:r>
            </a:p>
          </p:txBody>
        </p:sp>
      </p:grpSp>
      <p:sp>
        <p:nvSpPr>
          <p:cNvPr id="30" name="TextBox 30"/>
          <p:cNvSpPr txBox="1"/>
          <p:nvPr/>
        </p:nvSpPr>
        <p:spPr>
          <a:xfrm>
            <a:off x="1188720" y="5648325"/>
            <a:ext cx="8778240" cy="1743075"/>
          </a:xfrm>
          <a:prstGeom prst="rect">
            <a:avLst/>
          </a:prstGeom>
        </p:spPr>
        <p:txBody>
          <a:bodyPr lIns="0" tIns="0" rIns="0" bIns="0" rtlCol="0" anchor="t">
            <a:spAutoFit/>
          </a:bodyPr>
          <a:lstStyle/>
          <a:p>
            <a:pPr algn="l">
              <a:lnSpc>
                <a:spcPts val="3359"/>
              </a:lnSpc>
            </a:pPr>
            <a:r>
              <a:rPr lang="en-US" sz="2799">
                <a:solidFill>
                  <a:srgbClr val="B0B8CC"/>
                </a:solidFill>
                <a:latin typeface="Calibri (MS)"/>
                <a:ea typeface="Calibri (MS)"/>
                <a:cs typeface="Calibri (MS)"/>
                <a:sym typeface="Calibri (MS)"/>
              </a:rPr>
              <a:t>El término deriva del nombre del matemático persa Al-Juarismi (siglo IX), cuyo trabajo sobre métodos de cálculo sistemático sentó las bases del álgebra y de lo que hoy conocemos como computación.</a:t>
            </a:r>
          </a:p>
        </p:txBody>
      </p:sp>
      <p:grpSp>
        <p:nvGrpSpPr>
          <p:cNvPr id="31" name="Group 31"/>
          <p:cNvGrpSpPr/>
          <p:nvPr/>
        </p:nvGrpSpPr>
        <p:grpSpPr>
          <a:xfrm>
            <a:off x="10777223" y="1633223"/>
            <a:ext cx="6791963" cy="2439419"/>
            <a:chOff x="0" y="0"/>
            <a:chExt cx="9055951" cy="3252559"/>
          </a:xfrm>
        </p:grpSpPr>
        <p:sp>
          <p:nvSpPr>
            <p:cNvPr id="32" name="Freeform 32"/>
            <p:cNvSpPr/>
            <p:nvPr/>
          </p:nvSpPr>
          <p:spPr>
            <a:xfrm>
              <a:off x="16891" y="16891"/>
              <a:ext cx="9022081" cy="3218688"/>
            </a:xfrm>
            <a:custGeom>
              <a:avLst/>
              <a:gdLst/>
              <a:ahLst/>
              <a:cxnLst/>
              <a:rect l="l" t="t" r="r" b="b"/>
              <a:pathLst>
                <a:path w="9022081" h="3218688">
                  <a:moveTo>
                    <a:pt x="0" y="0"/>
                  </a:moveTo>
                  <a:lnTo>
                    <a:pt x="9022081" y="0"/>
                  </a:lnTo>
                  <a:lnTo>
                    <a:pt x="9022081" y="3218688"/>
                  </a:lnTo>
                  <a:lnTo>
                    <a:pt x="0" y="3218688"/>
                  </a:lnTo>
                  <a:close/>
                </a:path>
              </a:pathLst>
            </a:custGeom>
            <a:solidFill>
              <a:srgbClr val="1A1F33"/>
            </a:solidFill>
          </p:spPr>
          <p:txBody>
            <a:bodyPr/>
            <a:lstStyle/>
            <a:p>
              <a:endParaRPr lang="es-GT"/>
            </a:p>
          </p:txBody>
        </p:sp>
        <p:sp>
          <p:nvSpPr>
            <p:cNvPr id="33" name="Freeform 33"/>
            <p:cNvSpPr/>
            <p:nvPr/>
          </p:nvSpPr>
          <p:spPr>
            <a:xfrm>
              <a:off x="0" y="0"/>
              <a:ext cx="9055862" cy="3252470"/>
            </a:xfrm>
            <a:custGeom>
              <a:avLst/>
              <a:gdLst/>
              <a:ahLst/>
              <a:cxnLst/>
              <a:rect l="l" t="t" r="r" b="b"/>
              <a:pathLst>
                <a:path w="9055862" h="3252470">
                  <a:moveTo>
                    <a:pt x="16891" y="0"/>
                  </a:moveTo>
                  <a:lnTo>
                    <a:pt x="9038972" y="0"/>
                  </a:lnTo>
                  <a:cubicBezTo>
                    <a:pt x="9048369" y="0"/>
                    <a:pt x="9055862" y="7620"/>
                    <a:pt x="9055862" y="16891"/>
                  </a:cubicBezTo>
                  <a:lnTo>
                    <a:pt x="9055862" y="3235579"/>
                  </a:lnTo>
                  <a:cubicBezTo>
                    <a:pt x="9055862" y="3244977"/>
                    <a:pt x="9048242" y="3252470"/>
                    <a:pt x="9038972" y="3252470"/>
                  </a:cubicBezTo>
                  <a:lnTo>
                    <a:pt x="16891" y="3252470"/>
                  </a:lnTo>
                  <a:cubicBezTo>
                    <a:pt x="7493" y="3252470"/>
                    <a:pt x="0" y="3244850"/>
                    <a:pt x="0" y="3235579"/>
                  </a:cubicBezTo>
                  <a:lnTo>
                    <a:pt x="0" y="16891"/>
                  </a:lnTo>
                  <a:cubicBezTo>
                    <a:pt x="0" y="7620"/>
                    <a:pt x="7620" y="0"/>
                    <a:pt x="16891" y="0"/>
                  </a:cubicBezTo>
                  <a:moveTo>
                    <a:pt x="16891" y="33909"/>
                  </a:moveTo>
                  <a:lnTo>
                    <a:pt x="16891" y="16891"/>
                  </a:lnTo>
                  <a:lnTo>
                    <a:pt x="33909" y="16891"/>
                  </a:lnTo>
                  <a:lnTo>
                    <a:pt x="33909" y="3235579"/>
                  </a:lnTo>
                  <a:lnTo>
                    <a:pt x="16891" y="3235579"/>
                  </a:lnTo>
                  <a:lnTo>
                    <a:pt x="16891" y="3218688"/>
                  </a:lnTo>
                  <a:lnTo>
                    <a:pt x="9038972" y="3218688"/>
                  </a:lnTo>
                  <a:lnTo>
                    <a:pt x="9038972" y="3235579"/>
                  </a:lnTo>
                  <a:lnTo>
                    <a:pt x="9022080" y="3235579"/>
                  </a:lnTo>
                  <a:lnTo>
                    <a:pt x="9022080" y="16891"/>
                  </a:lnTo>
                  <a:lnTo>
                    <a:pt x="9038972" y="16891"/>
                  </a:lnTo>
                  <a:lnTo>
                    <a:pt x="9038972" y="33909"/>
                  </a:lnTo>
                  <a:lnTo>
                    <a:pt x="16891" y="33909"/>
                  </a:lnTo>
                  <a:close/>
                </a:path>
              </a:pathLst>
            </a:custGeom>
            <a:solidFill>
              <a:srgbClr val="5B8CFF"/>
            </a:solidFill>
          </p:spPr>
          <p:txBody>
            <a:bodyPr/>
            <a:lstStyle/>
            <a:p>
              <a:endParaRPr lang="es-GT"/>
            </a:p>
          </p:txBody>
        </p:sp>
      </p:grpSp>
      <p:grpSp>
        <p:nvGrpSpPr>
          <p:cNvPr id="34" name="Group 34"/>
          <p:cNvGrpSpPr/>
          <p:nvPr/>
        </p:nvGrpSpPr>
        <p:grpSpPr>
          <a:xfrm>
            <a:off x="10777223" y="1633223"/>
            <a:ext cx="6791963" cy="171707"/>
            <a:chOff x="0" y="0"/>
            <a:chExt cx="9055951" cy="228943"/>
          </a:xfrm>
        </p:grpSpPr>
        <p:sp>
          <p:nvSpPr>
            <p:cNvPr id="35" name="Freeform 35"/>
            <p:cNvSpPr/>
            <p:nvPr/>
          </p:nvSpPr>
          <p:spPr>
            <a:xfrm>
              <a:off x="16891" y="16891"/>
              <a:ext cx="9022081" cy="195072"/>
            </a:xfrm>
            <a:custGeom>
              <a:avLst/>
              <a:gdLst/>
              <a:ahLst/>
              <a:cxnLst/>
              <a:rect l="l" t="t" r="r" b="b"/>
              <a:pathLst>
                <a:path w="9022081" h="195072">
                  <a:moveTo>
                    <a:pt x="0" y="0"/>
                  </a:moveTo>
                  <a:lnTo>
                    <a:pt x="9022081" y="0"/>
                  </a:lnTo>
                  <a:lnTo>
                    <a:pt x="9022081" y="195072"/>
                  </a:lnTo>
                  <a:lnTo>
                    <a:pt x="0" y="195072"/>
                  </a:lnTo>
                  <a:close/>
                </a:path>
              </a:pathLst>
            </a:custGeom>
            <a:solidFill>
              <a:srgbClr val="5B8CFF"/>
            </a:solidFill>
          </p:spPr>
          <p:txBody>
            <a:bodyPr/>
            <a:lstStyle/>
            <a:p>
              <a:endParaRPr lang="es-GT"/>
            </a:p>
          </p:txBody>
        </p:sp>
        <p:sp>
          <p:nvSpPr>
            <p:cNvPr id="36" name="Freeform 36"/>
            <p:cNvSpPr/>
            <p:nvPr/>
          </p:nvSpPr>
          <p:spPr>
            <a:xfrm>
              <a:off x="0" y="0"/>
              <a:ext cx="9055862" cy="228856"/>
            </a:xfrm>
            <a:custGeom>
              <a:avLst/>
              <a:gdLst/>
              <a:ahLst/>
              <a:cxnLst/>
              <a:rect l="l" t="t" r="r" b="b"/>
              <a:pathLst>
                <a:path w="9055862" h="228856">
                  <a:moveTo>
                    <a:pt x="16891" y="0"/>
                  </a:moveTo>
                  <a:lnTo>
                    <a:pt x="9038972" y="0"/>
                  </a:lnTo>
                  <a:cubicBezTo>
                    <a:pt x="9048369" y="0"/>
                    <a:pt x="9055862" y="7620"/>
                    <a:pt x="9055862" y="16891"/>
                  </a:cubicBezTo>
                  <a:lnTo>
                    <a:pt x="9055862" y="211963"/>
                  </a:lnTo>
                  <a:cubicBezTo>
                    <a:pt x="9055862" y="221361"/>
                    <a:pt x="9048242" y="228854"/>
                    <a:pt x="9038972"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9038972" y="195072"/>
                  </a:lnTo>
                  <a:lnTo>
                    <a:pt x="9038972" y="211963"/>
                  </a:lnTo>
                  <a:lnTo>
                    <a:pt x="9022080" y="211963"/>
                  </a:lnTo>
                  <a:lnTo>
                    <a:pt x="9022080" y="16891"/>
                  </a:lnTo>
                  <a:lnTo>
                    <a:pt x="9038972" y="16891"/>
                  </a:lnTo>
                  <a:lnTo>
                    <a:pt x="9038972" y="33909"/>
                  </a:lnTo>
                  <a:lnTo>
                    <a:pt x="16891" y="33909"/>
                  </a:lnTo>
                  <a:close/>
                </a:path>
              </a:pathLst>
            </a:custGeom>
            <a:solidFill>
              <a:srgbClr val="5B8CFF"/>
            </a:solidFill>
          </p:spPr>
          <p:txBody>
            <a:bodyPr/>
            <a:lstStyle/>
            <a:p>
              <a:endParaRPr lang="es-GT"/>
            </a:p>
          </p:txBody>
        </p:sp>
      </p:grpSp>
      <p:grpSp>
        <p:nvGrpSpPr>
          <p:cNvPr id="37" name="Group 37"/>
          <p:cNvGrpSpPr/>
          <p:nvPr/>
        </p:nvGrpSpPr>
        <p:grpSpPr>
          <a:xfrm>
            <a:off x="11064240" y="1920240"/>
            <a:ext cx="6217920" cy="548640"/>
            <a:chOff x="0" y="0"/>
            <a:chExt cx="8290560" cy="731520"/>
          </a:xfrm>
        </p:grpSpPr>
        <p:sp>
          <p:nvSpPr>
            <p:cNvPr id="38" name="Freeform 38"/>
            <p:cNvSpPr/>
            <p:nvPr/>
          </p:nvSpPr>
          <p:spPr>
            <a:xfrm>
              <a:off x="0" y="0"/>
              <a:ext cx="8290560" cy="731520"/>
            </a:xfrm>
            <a:custGeom>
              <a:avLst/>
              <a:gdLst/>
              <a:ahLst/>
              <a:cxnLst/>
              <a:rect l="l" t="t" r="r" b="b"/>
              <a:pathLst>
                <a:path w="8290560" h="731520">
                  <a:moveTo>
                    <a:pt x="0" y="0"/>
                  </a:moveTo>
                  <a:lnTo>
                    <a:pt x="8290560" y="0"/>
                  </a:lnTo>
                  <a:lnTo>
                    <a:pt x="8290560" y="731520"/>
                  </a:lnTo>
                  <a:lnTo>
                    <a:pt x="0" y="731520"/>
                  </a:lnTo>
                  <a:close/>
                </a:path>
              </a:pathLst>
            </a:custGeom>
            <a:blipFill>
              <a:blip r:embed="rId3">
                <a:alphaModFix amt="0"/>
              </a:blip>
              <a:stretch>
                <a:fillRect t="-170830" b="-170830"/>
              </a:stretch>
            </a:blipFill>
          </p:spPr>
          <p:txBody>
            <a:bodyPr/>
            <a:lstStyle/>
            <a:p>
              <a:endParaRPr lang="es-GT"/>
            </a:p>
          </p:txBody>
        </p:sp>
        <p:sp>
          <p:nvSpPr>
            <p:cNvPr id="39" name="TextBox 39"/>
            <p:cNvSpPr txBox="1"/>
            <p:nvPr/>
          </p:nvSpPr>
          <p:spPr>
            <a:xfrm>
              <a:off x="0" y="-47625"/>
              <a:ext cx="8290560" cy="779145"/>
            </a:xfrm>
            <a:prstGeom prst="rect">
              <a:avLst/>
            </a:prstGeom>
          </p:spPr>
          <p:txBody>
            <a:bodyPr lIns="0" tIns="0" rIns="0" bIns="0" rtlCol="0" anchor="ctr"/>
            <a:lstStyle/>
            <a:p>
              <a:pPr algn="l">
                <a:lnSpc>
                  <a:spcPts val="2640"/>
                </a:lnSpc>
              </a:pPr>
              <a:r>
                <a:rPr lang="en-US" sz="2200" b="1">
                  <a:solidFill>
                    <a:srgbClr val="5B8CFF"/>
                  </a:solidFill>
                  <a:latin typeface="Calibri (MS) Bold"/>
                  <a:ea typeface="Calibri (MS) Bold"/>
                  <a:cs typeface="Calibri (MS) Bold"/>
                  <a:sym typeface="Calibri (MS) Bold"/>
                </a:rPr>
                <a:t>ORDENADO</a:t>
              </a:r>
            </a:p>
          </p:txBody>
        </p:sp>
      </p:grpSp>
      <p:sp>
        <p:nvSpPr>
          <p:cNvPr id="40" name="TextBox 40"/>
          <p:cNvSpPr txBox="1"/>
          <p:nvPr/>
        </p:nvSpPr>
        <p:spPr>
          <a:xfrm>
            <a:off x="11155680" y="2512314"/>
            <a:ext cx="6035040" cy="838200"/>
          </a:xfrm>
          <a:prstGeom prst="rect">
            <a:avLst/>
          </a:prstGeom>
        </p:spPr>
        <p:txBody>
          <a:bodyPr lIns="0" tIns="0" rIns="0" bIns="0" rtlCol="0" anchor="t">
            <a:spAutoFit/>
          </a:bodyPr>
          <a:lstStyle/>
          <a:p>
            <a:pPr algn="l">
              <a:lnSpc>
                <a:spcPts val="3119"/>
              </a:lnSpc>
            </a:pPr>
            <a:r>
              <a:rPr lang="en-US" sz="2599">
                <a:solidFill>
                  <a:srgbClr val="FFFFFF"/>
                </a:solidFill>
                <a:latin typeface="Calibri (MS)"/>
                <a:ea typeface="Calibri (MS)"/>
                <a:cs typeface="Calibri (MS)"/>
                <a:sym typeface="Calibri (MS)"/>
              </a:rPr>
              <a:t>Las instrucciones siguen una secuencia lógica e inamovible.</a:t>
            </a:r>
          </a:p>
        </p:txBody>
      </p:sp>
      <p:grpSp>
        <p:nvGrpSpPr>
          <p:cNvPr id="41" name="Group 41"/>
          <p:cNvGrpSpPr/>
          <p:nvPr/>
        </p:nvGrpSpPr>
        <p:grpSpPr>
          <a:xfrm>
            <a:off x="10777223" y="4321559"/>
            <a:ext cx="6791963" cy="2439419"/>
            <a:chOff x="0" y="0"/>
            <a:chExt cx="9055951" cy="3252559"/>
          </a:xfrm>
        </p:grpSpPr>
        <p:sp>
          <p:nvSpPr>
            <p:cNvPr id="42" name="Freeform 42"/>
            <p:cNvSpPr/>
            <p:nvPr/>
          </p:nvSpPr>
          <p:spPr>
            <a:xfrm>
              <a:off x="16891" y="16891"/>
              <a:ext cx="9022081" cy="3218688"/>
            </a:xfrm>
            <a:custGeom>
              <a:avLst/>
              <a:gdLst/>
              <a:ahLst/>
              <a:cxnLst/>
              <a:rect l="l" t="t" r="r" b="b"/>
              <a:pathLst>
                <a:path w="9022081" h="3218688">
                  <a:moveTo>
                    <a:pt x="0" y="0"/>
                  </a:moveTo>
                  <a:lnTo>
                    <a:pt x="9022081" y="0"/>
                  </a:lnTo>
                  <a:lnTo>
                    <a:pt x="9022081" y="3218688"/>
                  </a:lnTo>
                  <a:lnTo>
                    <a:pt x="0" y="3218688"/>
                  </a:lnTo>
                  <a:close/>
                </a:path>
              </a:pathLst>
            </a:custGeom>
            <a:solidFill>
              <a:srgbClr val="1A1F33"/>
            </a:solidFill>
          </p:spPr>
          <p:txBody>
            <a:bodyPr/>
            <a:lstStyle/>
            <a:p>
              <a:endParaRPr lang="es-GT"/>
            </a:p>
          </p:txBody>
        </p:sp>
        <p:sp>
          <p:nvSpPr>
            <p:cNvPr id="43" name="Freeform 43"/>
            <p:cNvSpPr/>
            <p:nvPr/>
          </p:nvSpPr>
          <p:spPr>
            <a:xfrm>
              <a:off x="0" y="0"/>
              <a:ext cx="9055862" cy="3252470"/>
            </a:xfrm>
            <a:custGeom>
              <a:avLst/>
              <a:gdLst/>
              <a:ahLst/>
              <a:cxnLst/>
              <a:rect l="l" t="t" r="r" b="b"/>
              <a:pathLst>
                <a:path w="9055862" h="3252470">
                  <a:moveTo>
                    <a:pt x="16891" y="0"/>
                  </a:moveTo>
                  <a:lnTo>
                    <a:pt x="9038972" y="0"/>
                  </a:lnTo>
                  <a:cubicBezTo>
                    <a:pt x="9048369" y="0"/>
                    <a:pt x="9055862" y="7620"/>
                    <a:pt x="9055862" y="16891"/>
                  </a:cubicBezTo>
                  <a:lnTo>
                    <a:pt x="9055862" y="3235579"/>
                  </a:lnTo>
                  <a:cubicBezTo>
                    <a:pt x="9055862" y="3244977"/>
                    <a:pt x="9048242" y="3252470"/>
                    <a:pt x="9038972" y="3252470"/>
                  </a:cubicBezTo>
                  <a:lnTo>
                    <a:pt x="16891" y="3252470"/>
                  </a:lnTo>
                  <a:cubicBezTo>
                    <a:pt x="7493" y="3252470"/>
                    <a:pt x="0" y="3244850"/>
                    <a:pt x="0" y="3235579"/>
                  </a:cubicBezTo>
                  <a:lnTo>
                    <a:pt x="0" y="16891"/>
                  </a:lnTo>
                  <a:cubicBezTo>
                    <a:pt x="0" y="7620"/>
                    <a:pt x="7620" y="0"/>
                    <a:pt x="16891" y="0"/>
                  </a:cubicBezTo>
                  <a:moveTo>
                    <a:pt x="16891" y="33909"/>
                  </a:moveTo>
                  <a:lnTo>
                    <a:pt x="16891" y="16891"/>
                  </a:lnTo>
                  <a:lnTo>
                    <a:pt x="33909" y="16891"/>
                  </a:lnTo>
                  <a:lnTo>
                    <a:pt x="33909" y="3235579"/>
                  </a:lnTo>
                  <a:lnTo>
                    <a:pt x="16891" y="3235579"/>
                  </a:lnTo>
                  <a:lnTo>
                    <a:pt x="16891" y="3218688"/>
                  </a:lnTo>
                  <a:lnTo>
                    <a:pt x="9038972" y="3218688"/>
                  </a:lnTo>
                  <a:lnTo>
                    <a:pt x="9038972" y="3235579"/>
                  </a:lnTo>
                  <a:lnTo>
                    <a:pt x="9022080" y="3235579"/>
                  </a:lnTo>
                  <a:lnTo>
                    <a:pt x="9022080" y="16891"/>
                  </a:lnTo>
                  <a:lnTo>
                    <a:pt x="9038972" y="16891"/>
                  </a:lnTo>
                  <a:lnTo>
                    <a:pt x="9038972" y="33909"/>
                  </a:lnTo>
                  <a:lnTo>
                    <a:pt x="16891" y="33909"/>
                  </a:lnTo>
                  <a:close/>
                </a:path>
              </a:pathLst>
            </a:custGeom>
            <a:solidFill>
              <a:srgbClr val="7EC8A4"/>
            </a:solidFill>
          </p:spPr>
          <p:txBody>
            <a:bodyPr/>
            <a:lstStyle/>
            <a:p>
              <a:endParaRPr lang="es-GT"/>
            </a:p>
          </p:txBody>
        </p:sp>
      </p:grpSp>
      <p:grpSp>
        <p:nvGrpSpPr>
          <p:cNvPr id="44" name="Group 44"/>
          <p:cNvGrpSpPr/>
          <p:nvPr/>
        </p:nvGrpSpPr>
        <p:grpSpPr>
          <a:xfrm>
            <a:off x="10777223" y="4321559"/>
            <a:ext cx="6791963" cy="171707"/>
            <a:chOff x="0" y="0"/>
            <a:chExt cx="9055951" cy="228943"/>
          </a:xfrm>
        </p:grpSpPr>
        <p:sp>
          <p:nvSpPr>
            <p:cNvPr id="45" name="Freeform 45"/>
            <p:cNvSpPr/>
            <p:nvPr/>
          </p:nvSpPr>
          <p:spPr>
            <a:xfrm>
              <a:off x="16891" y="16891"/>
              <a:ext cx="9022081" cy="195072"/>
            </a:xfrm>
            <a:custGeom>
              <a:avLst/>
              <a:gdLst/>
              <a:ahLst/>
              <a:cxnLst/>
              <a:rect l="l" t="t" r="r" b="b"/>
              <a:pathLst>
                <a:path w="9022081" h="195072">
                  <a:moveTo>
                    <a:pt x="0" y="0"/>
                  </a:moveTo>
                  <a:lnTo>
                    <a:pt x="9022081" y="0"/>
                  </a:lnTo>
                  <a:lnTo>
                    <a:pt x="9022081" y="195072"/>
                  </a:lnTo>
                  <a:lnTo>
                    <a:pt x="0" y="195072"/>
                  </a:lnTo>
                  <a:close/>
                </a:path>
              </a:pathLst>
            </a:custGeom>
            <a:solidFill>
              <a:srgbClr val="7EC8A4"/>
            </a:solidFill>
          </p:spPr>
          <p:txBody>
            <a:bodyPr/>
            <a:lstStyle/>
            <a:p>
              <a:endParaRPr lang="es-GT"/>
            </a:p>
          </p:txBody>
        </p:sp>
        <p:sp>
          <p:nvSpPr>
            <p:cNvPr id="46" name="Freeform 46"/>
            <p:cNvSpPr/>
            <p:nvPr/>
          </p:nvSpPr>
          <p:spPr>
            <a:xfrm>
              <a:off x="0" y="0"/>
              <a:ext cx="9055862" cy="228856"/>
            </a:xfrm>
            <a:custGeom>
              <a:avLst/>
              <a:gdLst/>
              <a:ahLst/>
              <a:cxnLst/>
              <a:rect l="l" t="t" r="r" b="b"/>
              <a:pathLst>
                <a:path w="9055862" h="228856">
                  <a:moveTo>
                    <a:pt x="16891" y="0"/>
                  </a:moveTo>
                  <a:lnTo>
                    <a:pt x="9038972" y="0"/>
                  </a:lnTo>
                  <a:cubicBezTo>
                    <a:pt x="9048369" y="0"/>
                    <a:pt x="9055862" y="7620"/>
                    <a:pt x="9055862" y="16891"/>
                  </a:cubicBezTo>
                  <a:lnTo>
                    <a:pt x="9055862" y="211963"/>
                  </a:lnTo>
                  <a:cubicBezTo>
                    <a:pt x="9055862" y="221361"/>
                    <a:pt x="9048242" y="228854"/>
                    <a:pt x="9038972"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9038972" y="195072"/>
                  </a:lnTo>
                  <a:lnTo>
                    <a:pt x="9038972" y="211963"/>
                  </a:lnTo>
                  <a:lnTo>
                    <a:pt x="9022080" y="211963"/>
                  </a:lnTo>
                  <a:lnTo>
                    <a:pt x="9022080" y="16891"/>
                  </a:lnTo>
                  <a:lnTo>
                    <a:pt x="9038972" y="16891"/>
                  </a:lnTo>
                  <a:lnTo>
                    <a:pt x="9038972" y="33909"/>
                  </a:lnTo>
                  <a:lnTo>
                    <a:pt x="16891" y="33909"/>
                  </a:lnTo>
                  <a:close/>
                </a:path>
              </a:pathLst>
            </a:custGeom>
            <a:solidFill>
              <a:srgbClr val="7EC8A4"/>
            </a:solidFill>
          </p:spPr>
          <p:txBody>
            <a:bodyPr/>
            <a:lstStyle/>
            <a:p>
              <a:endParaRPr lang="es-GT"/>
            </a:p>
          </p:txBody>
        </p:sp>
      </p:grpSp>
      <p:grpSp>
        <p:nvGrpSpPr>
          <p:cNvPr id="47" name="Group 47"/>
          <p:cNvGrpSpPr/>
          <p:nvPr/>
        </p:nvGrpSpPr>
        <p:grpSpPr>
          <a:xfrm>
            <a:off x="11064240" y="4608576"/>
            <a:ext cx="6217920" cy="548640"/>
            <a:chOff x="0" y="0"/>
            <a:chExt cx="8290560" cy="731520"/>
          </a:xfrm>
        </p:grpSpPr>
        <p:sp>
          <p:nvSpPr>
            <p:cNvPr id="48" name="Freeform 48"/>
            <p:cNvSpPr/>
            <p:nvPr/>
          </p:nvSpPr>
          <p:spPr>
            <a:xfrm>
              <a:off x="0" y="0"/>
              <a:ext cx="8290560" cy="731520"/>
            </a:xfrm>
            <a:custGeom>
              <a:avLst/>
              <a:gdLst/>
              <a:ahLst/>
              <a:cxnLst/>
              <a:rect l="l" t="t" r="r" b="b"/>
              <a:pathLst>
                <a:path w="8290560" h="731520">
                  <a:moveTo>
                    <a:pt x="0" y="0"/>
                  </a:moveTo>
                  <a:lnTo>
                    <a:pt x="8290560" y="0"/>
                  </a:lnTo>
                  <a:lnTo>
                    <a:pt x="8290560" y="731520"/>
                  </a:lnTo>
                  <a:lnTo>
                    <a:pt x="0" y="731520"/>
                  </a:lnTo>
                  <a:close/>
                </a:path>
              </a:pathLst>
            </a:custGeom>
            <a:blipFill>
              <a:blip r:embed="rId3">
                <a:alphaModFix amt="0"/>
              </a:blip>
              <a:stretch>
                <a:fillRect t="-170830" b="-170830"/>
              </a:stretch>
            </a:blipFill>
          </p:spPr>
          <p:txBody>
            <a:bodyPr/>
            <a:lstStyle/>
            <a:p>
              <a:endParaRPr lang="es-GT"/>
            </a:p>
          </p:txBody>
        </p:sp>
        <p:sp>
          <p:nvSpPr>
            <p:cNvPr id="49" name="TextBox 49"/>
            <p:cNvSpPr txBox="1"/>
            <p:nvPr/>
          </p:nvSpPr>
          <p:spPr>
            <a:xfrm>
              <a:off x="0" y="-47625"/>
              <a:ext cx="8290560" cy="779145"/>
            </a:xfrm>
            <a:prstGeom prst="rect">
              <a:avLst/>
            </a:prstGeom>
          </p:spPr>
          <p:txBody>
            <a:bodyPr lIns="0" tIns="0" rIns="0" bIns="0" rtlCol="0" anchor="ctr"/>
            <a:lstStyle/>
            <a:p>
              <a:pPr algn="l">
                <a:lnSpc>
                  <a:spcPts val="2640"/>
                </a:lnSpc>
              </a:pPr>
              <a:r>
                <a:rPr lang="en-US" sz="2200" b="1">
                  <a:solidFill>
                    <a:srgbClr val="7EC8A4"/>
                  </a:solidFill>
                  <a:latin typeface="Calibri (MS) Bold"/>
                  <a:ea typeface="Calibri (MS) Bold"/>
                  <a:cs typeface="Calibri (MS) Bold"/>
                  <a:sym typeface="Calibri (MS) Bold"/>
                </a:rPr>
                <a:t>FINITO</a:t>
              </a:r>
            </a:p>
          </p:txBody>
        </p:sp>
      </p:grpSp>
      <p:sp>
        <p:nvSpPr>
          <p:cNvPr id="50" name="TextBox 50"/>
          <p:cNvSpPr txBox="1"/>
          <p:nvPr/>
        </p:nvSpPr>
        <p:spPr>
          <a:xfrm>
            <a:off x="11155680" y="5200650"/>
            <a:ext cx="6035040" cy="838200"/>
          </a:xfrm>
          <a:prstGeom prst="rect">
            <a:avLst/>
          </a:prstGeom>
        </p:spPr>
        <p:txBody>
          <a:bodyPr lIns="0" tIns="0" rIns="0" bIns="0" rtlCol="0" anchor="t">
            <a:spAutoFit/>
          </a:bodyPr>
          <a:lstStyle/>
          <a:p>
            <a:pPr algn="l">
              <a:lnSpc>
                <a:spcPts val="3119"/>
              </a:lnSpc>
            </a:pPr>
            <a:r>
              <a:rPr lang="en-US" sz="2599">
                <a:solidFill>
                  <a:srgbClr val="FFFFFF"/>
                </a:solidFill>
                <a:latin typeface="Calibri (MS)"/>
                <a:ea typeface="Calibri (MS)"/>
                <a:cs typeface="Calibri (MS)"/>
                <a:sym typeface="Calibri (MS)"/>
              </a:rPr>
              <a:t>Debe terminar después de un número determinado de pasos.</a:t>
            </a:r>
          </a:p>
        </p:txBody>
      </p:sp>
      <p:grpSp>
        <p:nvGrpSpPr>
          <p:cNvPr id="51" name="Group 51"/>
          <p:cNvGrpSpPr/>
          <p:nvPr/>
        </p:nvGrpSpPr>
        <p:grpSpPr>
          <a:xfrm>
            <a:off x="10777223" y="7009895"/>
            <a:ext cx="6791963" cy="2439419"/>
            <a:chOff x="0" y="0"/>
            <a:chExt cx="9055951" cy="3252559"/>
          </a:xfrm>
        </p:grpSpPr>
        <p:sp>
          <p:nvSpPr>
            <p:cNvPr id="52" name="Freeform 52"/>
            <p:cNvSpPr/>
            <p:nvPr/>
          </p:nvSpPr>
          <p:spPr>
            <a:xfrm>
              <a:off x="16891" y="16891"/>
              <a:ext cx="9022081" cy="3218688"/>
            </a:xfrm>
            <a:custGeom>
              <a:avLst/>
              <a:gdLst/>
              <a:ahLst/>
              <a:cxnLst/>
              <a:rect l="l" t="t" r="r" b="b"/>
              <a:pathLst>
                <a:path w="9022081" h="3218688">
                  <a:moveTo>
                    <a:pt x="0" y="0"/>
                  </a:moveTo>
                  <a:lnTo>
                    <a:pt x="9022081" y="0"/>
                  </a:lnTo>
                  <a:lnTo>
                    <a:pt x="9022081" y="3218688"/>
                  </a:lnTo>
                  <a:lnTo>
                    <a:pt x="0" y="3218688"/>
                  </a:lnTo>
                  <a:close/>
                </a:path>
              </a:pathLst>
            </a:custGeom>
            <a:solidFill>
              <a:srgbClr val="1A1F33"/>
            </a:solidFill>
          </p:spPr>
          <p:txBody>
            <a:bodyPr/>
            <a:lstStyle/>
            <a:p>
              <a:endParaRPr lang="es-GT"/>
            </a:p>
          </p:txBody>
        </p:sp>
        <p:sp>
          <p:nvSpPr>
            <p:cNvPr id="53" name="Freeform 53"/>
            <p:cNvSpPr/>
            <p:nvPr/>
          </p:nvSpPr>
          <p:spPr>
            <a:xfrm>
              <a:off x="0" y="0"/>
              <a:ext cx="9055862" cy="3252470"/>
            </a:xfrm>
            <a:custGeom>
              <a:avLst/>
              <a:gdLst/>
              <a:ahLst/>
              <a:cxnLst/>
              <a:rect l="l" t="t" r="r" b="b"/>
              <a:pathLst>
                <a:path w="9055862" h="3252470">
                  <a:moveTo>
                    <a:pt x="16891" y="0"/>
                  </a:moveTo>
                  <a:lnTo>
                    <a:pt x="9038972" y="0"/>
                  </a:lnTo>
                  <a:cubicBezTo>
                    <a:pt x="9048369" y="0"/>
                    <a:pt x="9055862" y="7620"/>
                    <a:pt x="9055862" y="16891"/>
                  </a:cubicBezTo>
                  <a:lnTo>
                    <a:pt x="9055862" y="3235579"/>
                  </a:lnTo>
                  <a:cubicBezTo>
                    <a:pt x="9055862" y="3244977"/>
                    <a:pt x="9048242" y="3252470"/>
                    <a:pt x="9038972" y="3252470"/>
                  </a:cubicBezTo>
                  <a:lnTo>
                    <a:pt x="16891" y="3252470"/>
                  </a:lnTo>
                  <a:cubicBezTo>
                    <a:pt x="7493" y="3252470"/>
                    <a:pt x="0" y="3244850"/>
                    <a:pt x="0" y="3235579"/>
                  </a:cubicBezTo>
                  <a:lnTo>
                    <a:pt x="0" y="16891"/>
                  </a:lnTo>
                  <a:cubicBezTo>
                    <a:pt x="0" y="7620"/>
                    <a:pt x="7620" y="0"/>
                    <a:pt x="16891" y="0"/>
                  </a:cubicBezTo>
                  <a:moveTo>
                    <a:pt x="16891" y="33909"/>
                  </a:moveTo>
                  <a:lnTo>
                    <a:pt x="16891" y="16891"/>
                  </a:lnTo>
                  <a:lnTo>
                    <a:pt x="33909" y="16891"/>
                  </a:lnTo>
                  <a:lnTo>
                    <a:pt x="33909" y="3235579"/>
                  </a:lnTo>
                  <a:lnTo>
                    <a:pt x="16891" y="3235579"/>
                  </a:lnTo>
                  <a:lnTo>
                    <a:pt x="16891" y="3218688"/>
                  </a:lnTo>
                  <a:lnTo>
                    <a:pt x="9038972" y="3218688"/>
                  </a:lnTo>
                  <a:lnTo>
                    <a:pt x="9038972" y="3235579"/>
                  </a:lnTo>
                  <a:lnTo>
                    <a:pt x="9022080" y="3235579"/>
                  </a:lnTo>
                  <a:lnTo>
                    <a:pt x="9022080" y="16891"/>
                  </a:lnTo>
                  <a:lnTo>
                    <a:pt x="9038972" y="16891"/>
                  </a:lnTo>
                  <a:lnTo>
                    <a:pt x="9038972" y="33909"/>
                  </a:lnTo>
                  <a:lnTo>
                    <a:pt x="16891" y="33909"/>
                  </a:lnTo>
                  <a:close/>
                </a:path>
              </a:pathLst>
            </a:custGeom>
            <a:solidFill>
              <a:srgbClr val="9B7FD4"/>
            </a:solidFill>
          </p:spPr>
          <p:txBody>
            <a:bodyPr/>
            <a:lstStyle/>
            <a:p>
              <a:endParaRPr lang="es-GT"/>
            </a:p>
          </p:txBody>
        </p:sp>
      </p:grpSp>
      <p:grpSp>
        <p:nvGrpSpPr>
          <p:cNvPr id="54" name="Group 54"/>
          <p:cNvGrpSpPr/>
          <p:nvPr/>
        </p:nvGrpSpPr>
        <p:grpSpPr>
          <a:xfrm>
            <a:off x="10777223" y="7009895"/>
            <a:ext cx="6791963" cy="171707"/>
            <a:chOff x="0" y="0"/>
            <a:chExt cx="9055951" cy="228943"/>
          </a:xfrm>
        </p:grpSpPr>
        <p:sp>
          <p:nvSpPr>
            <p:cNvPr id="55" name="Freeform 55"/>
            <p:cNvSpPr/>
            <p:nvPr/>
          </p:nvSpPr>
          <p:spPr>
            <a:xfrm>
              <a:off x="16891" y="16891"/>
              <a:ext cx="9022081" cy="195072"/>
            </a:xfrm>
            <a:custGeom>
              <a:avLst/>
              <a:gdLst/>
              <a:ahLst/>
              <a:cxnLst/>
              <a:rect l="l" t="t" r="r" b="b"/>
              <a:pathLst>
                <a:path w="9022081" h="195072">
                  <a:moveTo>
                    <a:pt x="0" y="0"/>
                  </a:moveTo>
                  <a:lnTo>
                    <a:pt x="9022081" y="0"/>
                  </a:lnTo>
                  <a:lnTo>
                    <a:pt x="9022081" y="195072"/>
                  </a:lnTo>
                  <a:lnTo>
                    <a:pt x="0" y="195072"/>
                  </a:lnTo>
                  <a:close/>
                </a:path>
              </a:pathLst>
            </a:custGeom>
            <a:solidFill>
              <a:srgbClr val="9B7FD4"/>
            </a:solidFill>
          </p:spPr>
          <p:txBody>
            <a:bodyPr/>
            <a:lstStyle/>
            <a:p>
              <a:endParaRPr lang="es-GT"/>
            </a:p>
          </p:txBody>
        </p:sp>
        <p:sp>
          <p:nvSpPr>
            <p:cNvPr id="56" name="Freeform 56"/>
            <p:cNvSpPr/>
            <p:nvPr/>
          </p:nvSpPr>
          <p:spPr>
            <a:xfrm>
              <a:off x="0" y="0"/>
              <a:ext cx="9055862" cy="228856"/>
            </a:xfrm>
            <a:custGeom>
              <a:avLst/>
              <a:gdLst/>
              <a:ahLst/>
              <a:cxnLst/>
              <a:rect l="l" t="t" r="r" b="b"/>
              <a:pathLst>
                <a:path w="9055862" h="228856">
                  <a:moveTo>
                    <a:pt x="16891" y="0"/>
                  </a:moveTo>
                  <a:lnTo>
                    <a:pt x="9038972" y="0"/>
                  </a:lnTo>
                  <a:cubicBezTo>
                    <a:pt x="9048369" y="0"/>
                    <a:pt x="9055862" y="7620"/>
                    <a:pt x="9055862" y="16891"/>
                  </a:cubicBezTo>
                  <a:lnTo>
                    <a:pt x="9055862" y="211963"/>
                  </a:lnTo>
                  <a:cubicBezTo>
                    <a:pt x="9055862" y="221361"/>
                    <a:pt x="9048242" y="228854"/>
                    <a:pt x="9038972"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9038972" y="195072"/>
                  </a:lnTo>
                  <a:lnTo>
                    <a:pt x="9038972" y="211963"/>
                  </a:lnTo>
                  <a:lnTo>
                    <a:pt x="9022080" y="211963"/>
                  </a:lnTo>
                  <a:lnTo>
                    <a:pt x="9022080" y="16891"/>
                  </a:lnTo>
                  <a:lnTo>
                    <a:pt x="9038972" y="16891"/>
                  </a:lnTo>
                  <a:lnTo>
                    <a:pt x="9038972" y="33909"/>
                  </a:lnTo>
                  <a:lnTo>
                    <a:pt x="16891" y="33909"/>
                  </a:lnTo>
                  <a:close/>
                </a:path>
              </a:pathLst>
            </a:custGeom>
            <a:solidFill>
              <a:srgbClr val="9B7FD4"/>
            </a:solidFill>
          </p:spPr>
          <p:txBody>
            <a:bodyPr/>
            <a:lstStyle/>
            <a:p>
              <a:endParaRPr lang="es-GT"/>
            </a:p>
          </p:txBody>
        </p:sp>
      </p:grpSp>
      <p:grpSp>
        <p:nvGrpSpPr>
          <p:cNvPr id="57" name="Group 57"/>
          <p:cNvGrpSpPr/>
          <p:nvPr/>
        </p:nvGrpSpPr>
        <p:grpSpPr>
          <a:xfrm>
            <a:off x="11064240" y="7296912"/>
            <a:ext cx="6217920" cy="548640"/>
            <a:chOff x="0" y="0"/>
            <a:chExt cx="8290560" cy="731520"/>
          </a:xfrm>
        </p:grpSpPr>
        <p:sp>
          <p:nvSpPr>
            <p:cNvPr id="58" name="Freeform 58"/>
            <p:cNvSpPr/>
            <p:nvPr/>
          </p:nvSpPr>
          <p:spPr>
            <a:xfrm>
              <a:off x="0" y="0"/>
              <a:ext cx="8290560" cy="731520"/>
            </a:xfrm>
            <a:custGeom>
              <a:avLst/>
              <a:gdLst/>
              <a:ahLst/>
              <a:cxnLst/>
              <a:rect l="l" t="t" r="r" b="b"/>
              <a:pathLst>
                <a:path w="8290560" h="731520">
                  <a:moveTo>
                    <a:pt x="0" y="0"/>
                  </a:moveTo>
                  <a:lnTo>
                    <a:pt x="8290560" y="0"/>
                  </a:lnTo>
                  <a:lnTo>
                    <a:pt x="8290560" y="731520"/>
                  </a:lnTo>
                  <a:lnTo>
                    <a:pt x="0" y="731520"/>
                  </a:lnTo>
                  <a:close/>
                </a:path>
              </a:pathLst>
            </a:custGeom>
            <a:blipFill>
              <a:blip r:embed="rId3">
                <a:alphaModFix amt="0"/>
              </a:blip>
              <a:stretch>
                <a:fillRect t="-170830" b="-170830"/>
              </a:stretch>
            </a:blipFill>
          </p:spPr>
          <p:txBody>
            <a:bodyPr/>
            <a:lstStyle/>
            <a:p>
              <a:endParaRPr lang="es-GT"/>
            </a:p>
          </p:txBody>
        </p:sp>
        <p:sp>
          <p:nvSpPr>
            <p:cNvPr id="59" name="TextBox 59"/>
            <p:cNvSpPr txBox="1"/>
            <p:nvPr/>
          </p:nvSpPr>
          <p:spPr>
            <a:xfrm>
              <a:off x="0" y="-47625"/>
              <a:ext cx="8290560" cy="779145"/>
            </a:xfrm>
            <a:prstGeom prst="rect">
              <a:avLst/>
            </a:prstGeom>
          </p:spPr>
          <p:txBody>
            <a:bodyPr lIns="0" tIns="0" rIns="0" bIns="0" rtlCol="0" anchor="ctr"/>
            <a:lstStyle/>
            <a:p>
              <a:pPr algn="l">
                <a:lnSpc>
                  <a:spcPts val="2640"/>
                </a:lnSpc>
              </a:pPr>
              <a:r>
                <a:rPr lang="en-US" sz="2200" b="1">
                  <a:solidFill>
                    <a:srgbClr val="9B7FD4"/>
                  </a:solidFill>
                  <a:latin typeface="Calibri (MS) Bold"/>
                  <a:ea typeface="Calibri (MS) Bold"/>
                  <a:cs typeface="Calibri (MS) Bold"/>
                  <a:sym typeface="Calibri (MS) Bold"/>
                </a:rPr>
                <a:t>DETERMINÍSTICO</a:t>
              </a:r>
            </a:p>
          </p:txBody>
        </p:sp>
      </p:grpSp>
      <p:sp>
        <p:nvSpPr>
          <p:cNvPr id="60" name="TextBox 60"/>
          <p:cNvSpPr txBox="1"/>
          <p:nvPr/>
        </p:nvSpPr>
        <p:spPr>
          <a:xfrm>
            <a:off x="11155680" y="7888986"/>
            <a:ext cx="6035040" cy="838200"/>
          </a:xfrm>
          <a:prstGeom prst="rect">
            <a:avLst/>
          </a:prstGeom>
        </p:spPr>
        <p:txBody>
          <a:bodyPr lIns="0" tIns="0" rIns="0" bIns="0" rtlCol="0" anchor="t">
            <a:spAutoFit/>
          </a:bodyPr>
          <a:lstStyle/>
          <a:p>
            <a:pPr algn="l">
              <a:lnSpc>
                <a:spcPts val="3119"/>
              </a:lnSpc>
            </a:pPr>
            <a:r>
              <a:rPr lang="en-US" sz="2599">
                <a:solidFill>
                  <a:srgbClr val="FFFFFF"/>
                </a:solidFill>
                <a:latin typeface="Calibri (MS)"/>
                <a:ea typeface="Calibri (MS)"/>
                <a:cs typeface="Calibri (MS)"/>
                <a:sym typeface="Calibri (MS)"/>
              </a:rPr>
              <a:t>La misma entrada produce siempre la misma salida.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E2235"/>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16891" y="16891"/>
              <a:ext cx="24383999" cy="1755648"/>
            </a:xfrm>
            <a:custGeom>
              <a:avLst/>
              <a:gdLst/>
              <a:ahLst/>
              <a:cxnLst/>
              <a:rect l="l" t="t" r="r" b="b"/>
              <a:pathLst>
                <a:path w="24383999" h="1755648">
                  <a:moveTo>
                    <a:pt x="0" y="0"/>
                  </a:moveTo>
                  <a:lnTo>
                    <a:pt x="24383999" y="0"/>
                  </a:lnTo>
                  <a:lnTo>
                    <a:pt x="24383999" y="1755648"/>
                  </a:lnTo>
                  <a:lnTo>
                    <a:pt x="0" y="1755648"/>
                  </a:lnTo>
                  <a:close/>
                </a:path>
              </a:pathLst>
            </a:custGeom>
            <a:solidFill>
              <a:srgbClr val="161929"/>
            </a:solidFill>
          </p:spPr>
          <p:txBody>
            <a:bodyPr/>
            <a:lstStyle/>
            <a:p>
              <a:endParaRPr lang="es-GT"/>
            </a:p>
          </p:txBody>
        </p:sp>
        <p:sp>
          <p:nvSpPr>
            <p:cNvPr id="4" name="Freeform 4"/>
            <p:cNvSpPr/>
            <p:nvPr/>
          </p:nvSpPr>
          <p:spPr>
            <a:xfrm>
              <a:off x="0" y="0"/>
              <a:ext cx="24417782" cy="1789430"/>
            </a:xfrm>
            <a:custGeom>
              <a:avLst/>
              <a:gdLst/>
              <a:ahLst/>
              <a:cxnLst/>
              <a:rect l="l" t="t" r="r" b="b"/>
              <a:pathLst>
                <a:path w="24417782" h="1789430">
                  <a:moveTo>
                    <a:pt x="16891" y="0"/>
                  </a:moveTo>
                  <a:lnTo>
                    <a:pt x="24400890" y="0"/>
                  </a:lnTo>
                  <a:cubicBezTo>
                    <a:pt x="24410290" y="0"/>
                    <a:pt x="24417782" y="7620"/>
                    <a:pt x="24417782" y="16891"/>
                  </a:cubicBezTo>
                  <a:lnTo>
                    <a:pt x="24417782" y="1772539"/>
                  </a:lnTo>
                  <a:cubicBezTo>
                    <a:pt x="24417782" y="1781937"/>
                    <a:pt x="24410163" y="1789430"/>
                    <a:pt x="24400890"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24400890" y="1755648"/>
                  </a:lnTo>
                  <a:lnTo>
                    <a:pt x="24400890" y="1772539"/>
                  </a:lnTo>
                  <a:lnTo>
                    <a:pt x="24384000" y="1772539"/>
                  </a:lnTo>
                  <a:lnTo>
                    <a:pt x="24384000" y="16891"/>
                  </a:lnTo>
                  <a:lnTo>
                    <a:pt x="24400890" y="16891"/>
                  </a:lnTo>
                  <a:lnTo>
                    <a:pt x="24400890" y="33909"/>
                  </a:lnTo>
                  <a:lnTo>
                    <a:pt x="16891" y="33909"/>
                  </a:lnTo>
                  <a:close/>
                </a:path>
              </a:pathLst>
            </a:custGeom>
            <a:solidFill>
              <a:srgbClr val="161929"/>
            </a:solidFill>
          </p:spPr>
          <p:txBody>
            <a:bodyPr/>
            <a:lstStyle/>
            <a:p>
              <a:endParaRPr lang="es-GT"/>
            </a:p>
          </p:txBody>
        </p:sp>
      </p:grpSp>
      <p:grpSp>
        <p:nvGrpSpPr>
          <p:cNvPr id="5" name="Group 5"/>
          <p:cNvGrpSpPr/>
          <p:nvPr/>
        </p:nvGrpSpPr>
        <p:grpSpPr>
          <a:xfrm>
            <a:off x="-12697" y="1304039"/>
            <a:ext cx="18313403" cy="98555"/>
            <a:chOff x="0" y="0"/>
            <a:chExt cx="24417871" cy="131407"/>
          </a:xfrm>
        </p:grpSpPr>
        <p:sp>
          <p:nvSpPr>
            <p:cNvPr id="6" name="Freeform 6"/>
            <p:cNvSpPr/>
            <p:nvPr/>
          </p:nvSpPr>
          <p:spPr>
            <a:xfrm>
              <a:off x="16891" y="16891"/>
              <a:ext cx="24383999" cy="97536"/>
            </a:xfrm>
            <a:custGeom>
              <a:avLst/>
              <a:gdLst/>
              <a:ahLst/>
              <a:cxnLst/>
              <a:rect l="l" t="t" r="r" b="b"/>
              <a:pathLst>
                <a:path w="24383999" h="97536">
                  <a:moveTo>
                    <a:pt x="0" y="0"/>
                  </a:moveTo>
                  <a:lnTo>
                    <a:pt x="24383999" y="0"/>
                  </a:lnTo>
                  <a:lnTo>
                    <a:pt x="24383999" y="97536"/>
                  </a:lnTo>
                  <a:lnTo>
                    <a:pt x="0" y="97536"/>
                  </a:lnTo>
                  <a:close/>
                </a:path>
              </a:pathLst>
            </a:custGeom>
            <a:solidFill>
              <a:srgbClr val="5B8CFF"/>
            </a:solidFill>
          </p:spPr>
          <p:txBody>
            <a:bodyPr/>
            <a:lstStyle/>
            <a:p>
              <a:endParaRPr lang="es-GT"/>
            </a:p>
          </p:txBody>
        </p:sp>
        <p:sp>
          <p:nvSpPr>
            <p:cNvPr id="7" name="Freeform 7"/>
            <p:cNvSpPr/>
            <p:nvPr/>
          </p:nvSpPr>
          <p:spPr>
            <a:xfrm>
              <a:off x="0" y="0"/>
              <a:ext cx="24417782" cy="131320"/>
            </a:xfrm>
            <a:custGeom>
              <a:avLst/>
              <a:gdLst/>
              <a:ahLst/>
              <a:cxnLst/>
              <a:rect l="l" t="t" r="r" b="b"/>
              <a:pathLst>
                <a:path w="24417782" h="131320">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5B8CFF"/>
            </a:solidFill>
          </p:spPr>
          <p:txBody>
            <a:bodyPr/>
            <a:lstStyle/>
            <a:p>
              <a:endParaRPr lang="es-GT"/>
            </a:p>
          </p:txBody>
        </p:sp>
      </p:grpSp>
      <p:grpSp>
        <p:nvGrpSpPr>
          <p:cNvPr id="8" name="Group 8"/>
          <p:cNvGrpSpPr/>
          <p:nvPr/>
        </p:nvGrpSpPr>
        <p:grpSpPr>
          <a:xfrm>
            <a:off x="822960" y="0"/>
            <a:ext cx="16642080" cy="1316736"/>
            <a:chOff x="0" y="0"/>
            <a:chExt cx="22189440" cy="1755648"/>
          </a:xfrm>
        </p:grpSpPr>
        <p:sp>
          <p:nvSpPr>
            <p:cNvPr id="9" name="Freeform 9"/>
            <p:cNvSpPr/>
            <p:nvPr/>
          </p:nvSpPr>
          <p:spPr>
            <a:xfrm>
              <a:off x="0" y="0"/>
              <a:ext cx="22189439" cy="1755648"/>
            </a:xfrm>
            <a:custGeom>
              <a:avLst/>
              <a:gdLst/>
              <a:ahLst/>
              <a:cxnLst/>
              <a:rect l="l" t="t" r="r" b="b"/>
              <a:pathLst>
                <a:path w="22189439" h="1755648">
                  <a:moveTo>
                    <a:pt x="0" y="0"/>
                  </a:moveTo>
                  <a:lnTo>
                    <a:pt x="22189439" y="0"/>
                  </a:lnTo>
                  <a:lnTo>
                    <a:pt x="22189439" y="1755648"/>
                  </a:lnTo>
                  <a:lnTo>
                    <a:pt x="0" y="1755648"/>
                  </a:lnTo>
                  <a:close/>
                </a:path>
              </a:pathLst>
            </a:custGeom>
            <a:blipFill>
              <a:blip r:embed="rId3">
                <a:alphaModFix amt="0"/>
              </a:blip>
              <a:stretch>
                <a:fillRect t="-196269" b="-196269"/>
              </a:stretch>
            </a:blipFill>
          </p:spPr>
          <p:txBody>
            <a:bodyPr/>
            <a:lstStyle/>
            <a:p>
              <a:endParaRPr lang="es-GT"/>
            </a:p>
          </p:txBody>
        </p:sp>
        <p:sp>
          <p:nvSpPr>
            <p:cNvPr id="10" name="TextBox 10"/>
            <p:cNvSpPr txBox="1"/>
            <p:nvPr/>
          </p:nvSpPr>
          <p:spPr>
            <a:xfrm>
              <a:off x="0" y="-76200"/>
              <a:ext cx="22189440" cy="1831848"/>
            </a:xfrm>
            <a:prstGeom prst="rect">
              <a:avLst/>
            </a:prstGeom>
          </p:spPr>
          <p:txBody>
            <a:bodyPr lIns="0" tIns="0" rIns="0" bIns="0" rtlCol="0" anchor="ctr"/>
            <a:lstStyle/>
            <a:p>
              <a:pPr algn="l">
                <a:lnSpc>
                  <a:spcPts val="5280"/>
                </a:lnSpc>
              </a:pPr>
              <a:r>
                <a:rPr lang="en-US" sz="4400" b="1">
                  <a:solidFill>
                    <a:srgbClr val="FFFFFF"/>
                  </a:solidFill>
                  <a:latin typeface="Calibri (MS) Bold"/>
                  <a:ea typeface="Calibri (MS) Bold"/>
                  <a:cs typeface="Calibri (MS) Bold"/>
                  <a:sym typeface="Calibri (MS) Bold"/>
                </a:rPr>
                <a:t>¿Para qué se utilizan los algoritmos?</a:t>
              </a:r>
            </a:p>
          </p:txBody>
        </p:sp>
      </p:grpSp>
      <p:grpSp>
        <p:nvGrpSpPr>
          <p:cNvPr id="11" name="Group 11"/>
          <p:cNvGrpSpPr/>
          <p:nvPr/>
        </p:nvGrpSpPr>
        <p:grpSpPr>
          <a:xfrm>
            <a:off x="-12697" y="9954263"/>
            <a:ext cx="18313403" cy="345443"/>
            <a:chOff x="0" y="0"/>
            <a:chExt cx="24417871" cy="460591"/>
          </a:xfrm>
        </p:grpSpPr>
        <p:sp>
          <p:nvSpPr>
            <p:cNvPr id="12" name="Freeform 12"/>
            <p:cNvSpPr/>
            <p:nvPr/>
          </p:nvSpPr>
          <p:spPr>
            <a:xfrm>
              <a:off x="16891" y="16891"/>
              <a:ext cx="24383999" cy="426720"/>
            </a:xfrm>
            <a:custGeom>
              <a:avLst/>
              <a:gdLst/>
              <a:ahLst/>
              <a:cxnLst/>
              <a:rect l="l" t="t" r="r" b="b"/>
              <a:pathLst>
                <a:path w="24383999" h="426720">
                  <a:moveTo>
                    <a:pt x="0" y="0"/>
                  </a:moveTo>
                  <a:lnTo>
                    <a:pt x="24383999" y="0"/>
                  </a:lnTo>
                  <a:lnTo>
                    <a:pt x="24383999" y="426720"/>
                  </a:lnTo>
                  <a:lnTo>
                    <a:pt x="0" y="426720"/>
                  </a:lnTo>
                  <a:close/>
                </a:path>
              </a:pathLst>
            </a:custGeom>
            <a:solidFill>
              <a:srgbClr val="12152A"/>
            </a:solidFill>
          </p:spPr>
          <p:txBody>
            <a:bodyPr/>
            <a:lstStyle/>
            <a:p>
              <a:endParaRPr lang="es-GT"/>
            </a:p>
          </p:txBody>
        </p:sp>
        <p:sp>
          <p:nvSpPr>
            <p:cNvPr id="13" name="Freeform 13"/>
            <p:cNvSpPr/>
            <p:nvPr/>
          </p:nvSpPr>
          <p:spPr>
            <a:xfrm>
              <a:off x="0" y="0"/>
              <a:ext cx="24417782" cy="460504"/>
            </a:xfrm>
            <a:custGeom>
              <a:avLst/>
              <a:gdLst/>
              <a:ahLst/>
              <a:cxnLst/>
              <a:rect l="l" t="t" r="r" b="b"/>
              <a:pathLst>
                <a:path w="24417782" h="460504">
                  <a:moveTo>
                    <a:pt x="16891" y="0"/>
                  </a:moveTo>
                  <a:lnTo>
                    <a:pt x="24400890" y="0"/>
                  </a:lnTo>
                  <a:cubicBezTo>
                    <a:pt x="24410290" y="0"/>
                    <a:pt x="24417782" y="7620"/>
                    <a:pt x="24417782" y="16891"/>
                  </a:cubicBezTo>
                  <a:lnTo>
                    <a:pt x="24417782" y="443611"/>
                  </a:lnTo>
                  <a:cubicBezTo>
                    <a:pt x="24417782" y="453009"/>
                    <a:pt x="24410163" y="460502"/>
                    <a:pt x="24400890" y="460502"/>
                  </a:cubicBezTo>
                  <a:lnTo>
                    <a:pt x="16891" y="460502"/>
                  </a:lnTo>
                  <a:cubicBezTo>
                    <a:pt x="7620" y="460629"/>
                    <a:pt x="0" y="453009"/>
                    <a:pt x="0" y="443611"/>
                  </a:cubicBezTo>
                  <a:lnTo>
                    <a:pt x="0" y="16891"/>
                  </a:lnTo>
                  <a:cubicBezTo>
                    <a:pt x="0" y="7620"/>
                    <a:pt x="7620" y="0"/>
                    <a:pt x="16891" y="0"/>
                  </a:cubicBezTo>
                  <a:moveTo>
                    <a:pt x="16891" y="33909"/>
                  </a:moveTo>
                  <a:lnTo>
                    <a:pt x="16891" y="16891"/>
                  </a:lnTo>
                  <a:lnTo>
                    <a:pt x="33909" y="16891"/>
                  </a:lnTo>
                  <a:lnTo>
                    <a:pt x="33909" y="443611"/>
                  </a:lnTo>
                  <a:lnTo>
                    <a:pt x="16891" y="443611"/>
                  </a:lnTo>
                  <a:lnTo>
                    <a:pt x="16891" y="426720"/>
                  </a:lnTo>
                  <a:lnTo>
                    <a:pt x="24400890" y="426720"/>
                  </a:lnTo>
                  <a:lnTo>
                    <a:pt x="24400890" y="443611"/>
                  </a:lnTo>
                  <a:lnTo>
                    <a:pt x="24384000" y="443611"/>
                  </a:lnTo>
                  <a:lnTo>
                    <a:pt x="24384000" y="16891"/>
                  </a:lnTo>
                  <a:lnTo>
                    <a:pt x="24400890" y="16891"/>
                  </a:lnTo>
                  <a:lnTo>
                    <a:pt x="24400890" y="33909"/>
                  </a:lnTo>
                  <a:lnTo>
                    <a:pt x="16891" y="33909"/>
                  </a:lnTo>
                  <a:close/>
                </a:path>
              </a:pathLst>
            </a:custGeom>
            <a:solidFill>
              <a:srgbClr val="12152A"/>
            </a:solidFill>
          </p:spPr>
          <p:txBody>
            <a:bodyPr/>
            <a:lstStyle/>
            <a:p>
              <a:endParaRPr lang="es-GT"/>
            </a:p>
          </p:txBody>
        </p:sp>
      </p:grpSp>
      <p:grpSp>
        <p:nvGrpSpPr>
          <p:cNvPr id="14" name="Group 14"/>
          <p:cNvGrpSpPr/>
          <p:nvPr/>
        </p:nvGrpSpPr>
        <p:grpSpPr>
          <a:xfrm>
            <a:off x="17007840" y="9966960"/>
            <a:ext cx="914400" cy="320040"/>
            <a:chOff x="0" y="0"/>
            <a:chExt cx="1219200" cy="426720"/>
          </a:xfrm>
        </p:grpSpPr>
        <p:sp>
          <p:nvSpPr>
            <p:cNvPr id="15" name="Freeform 15"/>
            <p:cNvSpPr/>
            <p:nvPr/>
          </p:nvSpPr>
          <p:spPr>
            <a:xfrm>
              <a:off x="0" y="0"/>
              <a:ext cx="1219200" cy="426720"/>
            </a:xfrm>
            <a:custGeom>
              <a:avLst/>
              <a:gdLst/>
              <a:ahLst/>
              <a:cxnLst/>
              <a:rect l="l" t="t" r="r" b="b"/>
              <a:pathLst>
                <a:path w="1219200" h="426720">
                  <a:moveTo>
                    <a:pt x="0" y="0"/>
                  </a:moveTo>
                  <a:lnTo>
                    <a:pt x="1219200" y="0"/>
                  </a:lnTo>
                  <a:lnTo>
                    <a:pt x="1219200" y="426720"/>
                  </a:lnTo>
                  <a:lnTo>
                    <a:pt x="0" y="426720"/>
                  </a:lnTo>
                  <a:close/>
                </a:path>
              </a:pathLst>
            </a:custGeom>
            <a:blipFill>
              <a:blip r:embed="rId3">
                <a:alphaModFix amt="0"/>
              </a:blip>
              <a:stretch>
                <a:fillRect t="-5671" b="-5671"/>
              </a:stretch>
            </a:blipFill>
          </p:spPr>
          <p:txBody>
            <a:bodyPr/>
            <a:lstStyle/>
            <a:p>
              <a:endParaRPr lang="es-GT"/>
            </a:p>
          </p:txBody>
        </p:sp>
        <p:sp>
          <p:nvSpPr>
            <p:cNvPr id="16" name="TextBox 16"/>
            <p:cNvSpPr txBox="1"/>
            <p:nvPr/>
          </p:nvSpPr>
          <p:spPr>
            <a:xfrm>
              <a:off x="0" y="-38100"/>
              <a:ext cx="1219200" cy="464820"/>
            </a:xfrm>
            <a:prstGeom prst="rect">
              <a:avLst/>
            </a:prstGeom>
          </p:spPr>
          <p:txBody>
            <a:bodyPr lIns="0" tIns="0" rIns="0" bIns="0" rtlCol="0" anchor="ctr"/>
            <a:lstStyle/>
            <a:p>
              <a:pPr algn="r">
                <a:lnSpc>
                  <a:spcPts val="1800"/>
                </a:lnSpc>
              </a:pPr>
              <a:r>
                <a:rPr lang="en-US" sz="1500">
                  <a:solidFill>
                    <a:srgbClr val="6E7A9F"/>
                  </a:solidFill>
                  <a:latin typeface="Calibri (MS)"/>
                  <a:ea typeface="Calibri (MS)"/>
                  <a:cs typeface="Calibri (MS)"/>
                  <a:sym typeface="Calibri (MS)"/>
                </a:rPr>
                <a:t>7</a:t>
              </a:r>
            </a:p>
          </p:txBody>
        </p:sp>
      </p:grpSp>
      <p:grpSp>
        <p:nvGrpSpPr>
          <p:cNvPr id="17" name="Group 17"/>
          <p:cNvGrpSpPr/>
          <p:nvPr/>
        </p:nvGrpSpPr>
        <p:grpSpPr>
          <a:xfrm>
            <a:off x="718823" y="1633223"/>
            <a:ext cx="8255003" cy="3683003"/>
            <a:chOff x="0" y="0"/>
            <a:chExt cx="11006671" cy="4910671"/>
          </a:xfrm>
        </p:grpSpPr>
        <p:sp>
          <p:nvSpPr>
            <p:cNvPr id="18" name="Freeform 18"/>
            <p:cNvSpPr/>
            <p:nvPr/>
          </p:nvSpPr>
          <p:spPr>
            <a:xfrm>
              <a:off x="16891" y="16891"/>
              <a:ext cx="10972800" cy="4876800"/>
            </a:xfrm>
            <a:custGeom>
              <a:avLst/>
              <a:gdLst/>
              <a:ahLst/>
              <a:cxnLst/>
              <a:rect l="l" t="t" r="r" b="b"/>
              <a:pathLst>
                <a:path w="10972800" h="4876800">
                  <a:moveTo>
                    <a:pt x="0" y="0"/>
                  </a:moveTo>
                  <a:lnTo>
                    <a:pt x="10972800" y="0"/>
                  </a:lnTo>
                  <a:lnTo>
                    <a:pt x="10972800" y="4876800"/>
                  </a:lnTo>
                  <a:lnTo>
                    <a:pt x="0" y="4876800"/>
                  </a:lnTo>
                  <a:close/>
                </a:path>
              </a:pathLst>
            </a:custGeom>
            <a:solidFill>
              <a:srgbClr val="252B42"/>
            </a:solidFill>
          </p:spPr>
          <p:txBody>
            <a:bodyPr/>
            <a:lstStyle/>
            <a:p>
              <a:endParaRPr lang="es-GT"/>
            </a:p>
          </p:txBody>
        </p:sp>
        <p:sp>
          <p:nvSpPr>
            <p:cNvPr id="19" name="Freeform 19"/>
            <p:cNvSpPr/>
            <p:nvPr/>
          </p:nvSpPr>
          <p:spPr>
            <a:xfrm>
              <a:off x="0" y="0"/>
              <a:ext cx="11006582" cy="4910582"/>
            </a:xfrm>
            <a:custGeom>
              <a:avLst/>
              <a:gdLst/>
              <a:ahLst/>
              <a:cxnLst/>
              <a:rect l="l" t="t" r="r" b="b"/>
              <a:pathLst>
                <a:path w="11006582" h="4910582">
                  <a:moveTo>
                    <a:pt x="16891" y="0"/>
                  </a:moveTo>
                  <a:lnTo>
                    <a:pt x="10989691" y="0"/>
                  </a:lnTo>
                  <a:cubicBezTo>
                    <a:pt x="10999089" y="0"/>
                    <a:pt x="11006582" y="7620"/>
                    <a:pt x="11006582" y="16891"/>
                  </a:cubicBezTo>
                  <a:lnTo>
                    <a:pt x="11006582" y="4893691"/>
                  </a:lnTo>
                  <a:cubicBezTo>
                    <a:pt x="11006582" y="4903089"/>
                    <a:pt x="10998962" y="4910582"/>
                    <a:pt x="10989691" y="4910582"/>
                  </a:cubicBezTo>
                  <a:lnTo>
                    <a:pt x="16891" y="4910582"/>
                  </a:lnTo>
                  <a:cubicBezTo>
                    <a:pt x="7493" y="4910582"/>
                    <a:pt x="0" y="4902962"/>
                    <a:pt x="0" y="4893691"/>
                  </a:cubicBezTo>
                  <a:lnTo>
                    <a:pt x="0" y="16891"/>
                  </a:lnTo>
                  <a:cubicBezTo>
                    <a:pt x="0" y="7620"/>
                    <a:pt x="7620" y="0"/>
                    <a:pt x="16891" y="0"/>
                  </a:cubicBezTo>
                  <a:moveTo>
                    <a:pt x="16891" y="33909"/>
                  </a:moveTo>
                  <a:lnTo>
                    <a:pt x="16891" y="16891"/>
                  </a:lnTo>
                  <a:lnTo>
                    <a:pt x="33909" y="16891"/>
                  </a:lnTo>
                  <a:lnTo>
                    <a:pt x="33909" y="4893691"/>
                  </a:lnTo>
                  <a:lnTo>
                    <a:pt x="16891" y="4893691"/>
                  </a:lnTo>
                  <a:lnTo>
                    <a:pt x="16891" y="4876800"/>
                  </a:lnTo>
                  <a:lnTo>
                    <a:pt x="10989691" y="4876800"/>
                  </a:lnTo>
                  <a:lnTo>
                    <a:pt x="10989691" y="4893691"/>
                  </a:lnTo>
                  <a:lnTo>
                    <a:pt x="10972800" y="4893691"/>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grpSp>
        <p:nvGrpSpPr>
          <p:cNvPr id="20" name="Group 20"/>
          <p:cNvGrpSpPr/>
          <p:nvPr/>
        </p:nvGrpSpPr>
        <p:grpSpPr>
          <a:xfrm>
            <a:off x="1097280" y="2011680"/>
            <a:ext cx="1005840" cy="1005840"/>
            <a:chOff x="0" y="0"/>
            <a:chExt cx="1341120" cy="1341120"/>
          </a:xfrm>
        </p:grpSpPr>
        <p:sp>
          <p:nvSpPr>
            <p:cNvPr id="21" name="Freeform 21" descr="preencoded.png"/>
            <p:cNvSpPr/>
            <p:nvPr/>
          </p:nvSpPr>
          <p:spPr>
            <a:xfrm>
              <a:off x="0" y="0"/>
              <a:ext cx="1341120" cy="1341120"/>
            </a:xfrm>
            <a:custGeom>
              <a:avLst/>
              <a:gdLst/>
              <a:ahLst/>
              <a:cxnLst/>
              <a:rect l="l" t="t" r="r" b="b"/>
              <a:pathLst>
                <a:path w="1341120" h="1341120">
                  <a:moveTo>
                    <a:pt x="0" y="0"/>
                  </a:moveTo>
                  <a:lnTo>
                    <a:pt x="1341120" y="0"/>
                  </a:lnTo>
                  <a:lnTo>
                    <a:pt x="1341120" y="1341120"/>
                  </a:lnTo>
                  <a:lnTo>
                    <a:pt x="0" y="1341120"/>
                  </a:lnTo>
                  <a:lnTo>
                    <a:pt x="0" y="0"/>
                  </a:lnTo>
                  <a:close/>
                </a:path>
              </a:pathLst>
            </a:custGeom>
            <a:blipFill>
              <a:blip r:embed="rId4"/>
              <a:stretch>
                <a:fillRect/>
              </a:stretch>
            </a:blipFill>
          </p:spPr>
          <p:txBody>
            <a:bodyPr/>
            <a:lstStyle/>
            <a:p>
              <a:endParaRPr lang="es-GT"/>
            </a:p>
          </p:txBody>
        </p:sp>
      </p:grpSp>
      <p:grpSp>
        <p:nvGrpSpPr>
          <p:cNvPr id="22" name="Group 22"/>
          <p:cNvGrpSpPr/>
          <p:nvPr/>
        </p:nvGrpSpPr>
        <p:grpSpPr>
          <a:xfrm>
            <a:off x="2286000" y="1975104"/>
            <a:ext cx="6309360" cy="694944"/>
            <a:chOff x="0" y="0"/>
            <a:chExt cx="8412480" cy="926592"/>
          </a:xfrm>
        </p:grpSpPr>
        <p:sp>
          <p:nvSpPr>
            <p:cNvPr id="23" name="Freeform 23"/>
            <p:cNvSpPr/>
            <p:nvPr/>
          </p:nvSpPr>
          <p:spPr>
            <a:xfrm>
              <a:off x="0" y="0"/>
              <a:ext cx="8412480" cy="926592"/>
            </a:xfrm>
            <a:custGeom>
              <a:avLst/>
              <a:gdLst/>
              <a:ahLst/>
              <a:cxnLst/>
              <a:rect l="l" t="t" r="r" b="b"/>
              <a:pathLst>
                <a:path w="8412480" h="926592">
                  <a:moveTo>
                    <a:pt x="0" y="0"/>
                  </a:moveTo>
                  <a:lnTo>
                    <a:pt x="8412480" y="0"/>
                  </a:lnTo>
                  <a:lnTo>
                    <a:pt x="8412480" y="926592"/>
                  </a:lnTo>
                  <a:lnTo>
                    <a:pt x="0" y="926592"/>
                  </a:lnTo>
                  <a:close/>
                </a:path>
              </a:pathLst>
            </a:custGeom>
            <a:blipFill>
              <a:blip r:embed="rId3">
                <a:alphaModFix amt="0"/>
              </a:blip>
              <a:stretch>
                <a:fillRect t="-126903" b="-126903"/>
              </a:stretch>
            </a:blipFill>
          </p:spPr>
          <p:txBody>
            <a:bodyPr/>
            <a:lstStyle/>
            <a:p>
              <a:endParaRPr lang="es-GT"/>
            </a:p>
          </p:txBody>
        </p:sp>
        <p:sp>
          <p:nvSpPr>
            <p:cNvPr id="24" name="TextBox 24"/>
            <p:cNvSpPr txBox="1"/>
            <p:nvPr/>
          </p:nvSpPr>
          <p:spPr>
            <a:xfrm>
              <a:off x="0" y="-38100"/>
              <a:ext cx="8412480" cy="964692"/>
            </a:xfrm>
            <a:prstGeom prst="rect">
              <a:avLst/>
            </a:prstGeom>
          </p:spPr>
          <p:txBody>
            <a:bodyPr lIns="0" tIns="0" rIns="0" bIns="0" rtlCol="0" anchor="ctr"/>
            <a:lstStyle/>
            <a:p>
              <a:pPr algn="l">
                <a:lnSpc>
                  <a:spcPts val="2879"/>
                </a:lnSpc>
              </a:pPr>
              <a:r>
                <a:rPr lang="en-US" sz="2400" b="1">
                  <a:solidFill>
                    <a:srgbClr val="5B8CFF"/>
                  </a:solidFill>
                  <a:latin typeface="Calibri (MS) Bold"/>
                  <a:ea typeface="Calibri (MS) Bold"/>
                  <a:cs typeface="Calibri (MS) Bold"/>
                  <a:sym typeface="Calibri (MS) Bold"/>
                </a:rPr>
                <a:t>Resolución de problemas</a:t>
              </a:r>
            </a:p>
          </p:txBody>
        </p:sp>
      </p:grpSp>
      <p:sp>
        <p:nvSpPr>
          <p:cNvPr id="25" name="TextBox 25"/>
          <p:cNvSpPr txBox="1"/>
          <p:nvPr/>
        </p:nvSpPr>
        <p:spPr>
          <a:xfrm>
            <a:off x="1188720" y="3088005"/>
            <a:ext cx="7315200" cy="1323975"/>
          </a:xfrm>
          <a:prstGeom prst="rect">
            <a:avLst/>
          </a:prstGeom>
        </p:spPr>
        <p:txBody>
          <a:bodyPr lIns="0" tIns="0" rIns="0" bIns="0" rtlCol="0" anchor="t">
            <a:spAutoFit/>
          </a:bodyPr>
          <a:lstStyle/>
          <a:p>
            <a:pPr algn="l">
              <a:lnSpc>
                <a:spcPts val="3359"/>
              </a:lnSpc>
            </a:pPr>
            <a:r>
              <a:rPr lang="en-US" sz="2799">
                <a:solidFill>
                  <a:srgbClr val="FFFFFF"/>
                </a:solidFill>
                <a:latin typeface="Calibri (MS)"/>
                <a:ea typeface="Calibri (MS)"/>
                <a:cs typeface="Calibri (MS)"/>
                <a:sym typeface="Calibri (MS)"/>
              </a:rPr>
              <a:t>Permiten encontrar soluciones eficientes y reproducibles a problemas complejos, reduciendo la dependencia de la intuición.</a:t>
            </a:r>
          </a:p>
        </p:txBody>
      </p:sp>
      <p:grpSp>
        <p:nvGrpSpPr>
          <p:cNvPr id="26" name="Group 26"/>
          <p:cNvGrpSpPr/>
          <p:nvPr/>
        </p:nvGrpSpPr>
        <p:grpSpPr>
          <a:xfrm>
            <a:off x="9497063" y="1633223"/>
            <a:ext cx="8255003" cy="3683003"/>
            <a:chOff x="0" y="0"/>
            <a:chExt cx="11006671" cy="4910671"/>
          </a:xfrm>
        </p:grpSpPr>
        <p:sp>
          <p:nvSpPr>
            <p:cNvPr id="27" name="Freeform 27"/>
            <p:cNvSpPr/>
            <p:nvPr/>
          </p:nvSpPr>
          <p:spPr>
            <a:xfrm>
              <a:off x="16891" y="16891"/>
              <a:ext cx="10972800" cy="4876800"/>
            </a:xfrm>
            <a:custGeom>
              <a:avLst/>
              <a:gdLst/>
              <a:ahLst/>
              <a:cxnLst/>
              <a:rect l="l" t="t" r="r" b="b"/>
              <a:pathLst>
                <a:path w="10972800" h="4876800">
                  <a:moveTo>
                    <a:pt x="0" y="0"/>
                  </a:moveTo>
                  <a:lnTo>
                    <a:pt x="10972800" y="0"/>
                  </a:lnTo>
                  <a:lnTo>
                    <a:pt x="10972800" y="4876800"/>
                  </a:lnTo>
                  <a:lnTo>
                    <a:pt x="0" y="4876800"/>
                  </a:lnTo>
                  <a:close/>
                </a:path>
              </a:pathLst>
            </a:custGeom>
            <a:solidFill>
              <a:srgbClr val="252B42"/>
            </a:solidFill>
          </p:spPr>
          <p:txBody>
            <a:bodyPr/>
            <a:lstStyle/>
            <a:p>
              <a:endParaRPr lang="es-GT"/>
            </a:p>
          </p:txBody>
        </p:sp>
        <p:sp>
          <p:nvSpPr>
            <p:cNvPr id="28" name="Freeform 28"/>
            <p:cNvSpPr/>
            <p:nvPr/>
          </p:nvSpPr>
          <p:spPr>
            <a:xfrm>
              <a:off x="0" y="0"/>
              <a:ext cx="11006582" cy="4910582"/>
            </a:xfrm>
            <a:custGeom>
              <a:avLst/>
              <a:gdLst/>
              <a:ahLst/>
              <a:cxnLst/>
              <a:rect l="l" t="t" r="r" b="b"/>
              <a:pathLst>
                <a:path w="11006582" h="4910582">
                  <a:moveTo>
                    <a:pt x="16891" y="0"/>
                  </a:moveTo>
                  <a:lnTo>
                    <a:pt x="10989691" y="0"/>
                  </a:lnTo>
                  <a:cubicBezTo>
                    <a:pt x="10999089" y="0"/>
                    <a:pt x="11006582" y="7620"/>
                    <a:pt x="11006582" y="16891"/>
                  </a:cubicBezTo>
                  <a:lnTo>
                    <a:pt x="11006582" y="4893691"/>
                  </a:lnTo>
                  <a:cubicBezTo>
                    <a:pt x="11006582" y="4903089"/>
                    <a:pt x="10998962" y="4910582"/>
                    <a:pt x="10989691" y="4910582"/>
                  </a:cubicBezTo>
                  <a:lnTo>
                    <a:pt x="16891" y="4910582"/>
                  </a:lnTo>
                  <a:cubicBezTo>
                    <a:pt x="7493" y="4910582"/>
                    <a:pt x="0" y="4902962"/>
                    <a:pt x="0" y="4893691"/>
                  </a:cubicBezTo>
                  <a:lnTo>
                    <a:pt x="0" y="16891"/>
                  </a:lnTo>
                  <a:cubicBezTo>
                    <a:pt x="0" y="7620"/>
                    <a:pt x="7620" y="0"/>
                    <a:pt x="16891" y="0"/>
                  </a:cubicBezTo>
                  <a:moveTo>
                    <a:pt x="16891" y="33909"/>
                  </a:moveTo>
                  <a:lnTo>
                    <a:pt x="16891" y="16891"/>
                  </a:lnTo>
                  <a:lnTo>
                    <a:pt x="33909" y="16891"/>
                  </a:lnTo>
                  <a:lnTo>
                    <a:pt x="33909" y="4893691"/>
                  </a:lnTo>
                  <a:lnTo>
                    <a:pt x="16891" y="4893691"/>
                  </a:lnTo>
                  <a:lnTo>
                    <a:pt x="16891" y="4876800"/>
                  </a:lnTo>
                  <a:lnTo>
                    <a:pt x="10989691" y="4876800"/>
                  </a:lnTo>
                  <a:lnTo>
                    <a:pt x="10989691" y="4893691"/>
                  </a:lnTo>
                  <a:lnTo>
                    <a:pt x="10972800" y="4893691"/>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grpSp>
        <p:nvGrpSpPr>
          <p:cNvPr id="29" name="Group 29"/>
          <p:cNvGrpSpPr/>
          <p:nvPr/>
        </p:nvGrpSpPr>
        <p:grpSpPr>
          <a:xfrm>
            <a:off x="9875520" y="2011680"/>
            <a:ext cx="1005840" cy="1005840"/>
            <a:chOff x="0" y="0"/>
            <a:chExt cx="1341120" cy="1341120"/>
          </a:xfrm>
        </p:grpSpPr>
        <p:sp>
          <p:nvSpPr>
            <p:cNvPr id="30" name="Freeform 30" descr="preencoded.png"/>
            <p:cNvSpPr/>
            <p:nvPr/>
          </p:nvSpPr>
          <p:spPr>
            <a:xfrm>
              <a:off x="0" y="0"/>
              <a:ext cx="1341120" cy="1341120"/>
            </a:xfrm>
            <a:custGeom>
              <a:avLst/>
              <a:gdLst/>
              <a:ahLst/>
              <a:cxnLst/>
              <a:rect l="l" t="t" r="r" b="b"/>
              <a:pathLst>
                <a:path w="1341120" h="1341120">
                  <a:moveTo>
                    <a:pt x="0" y="0"/>
                  </a:moveTo>
                  <a:lnTo>
                    <a:pt x="1341120" y="0"/>
                  </a:lnTo>
                  <a:lnTo>
                    <a:pt x="1341120" y="1341120"/>
                  </a:lnTo>
                  <a:lnTo>
                    <a:pt x="0" y="1341120"/>
                  </a:lnTo>
                  <a:lnTo>
                    <a:pt x="0" y="0"/>
                  </a:lnTo>
                  <a:close/>
                </a:path>
              </a:pathLst>
            </a:custGeom>
            <a:blipFill>
              <a:blip r:embed="rId5"/>
              <a:stretch>
                <a:fillRect/>
              </a:stretch>
            </a:blipFill>
          </p:spPr>
          <p:txBody>
            <a:bodyPr/>
            <a:lstStyle/>
            <a:p>
              <a:endParaRPr lang="es-GT"/>
            </a:p>
          </p:txBody>
        </p:sp>
      </p:grpSp>
      <p:grpSp>
        <p:nvGrpSpPr>
          <p:cNvPr id="31" name="Group 31"/>
          <p:cNvGrpSpPr/>
          <p:nvPr/>
        </p:nvGrpSpPr>
        <p:grpSpPr>
          <a:xfrm>
            <a:off x="11064240" y="1975104"/>
            <a:ext cx="6309360" cy="694944"/>
            <a:chOff x="0" y="0"/>
            <a:chExt cx="8412480" cy="926592"/>
          </a:xfrm>
        </p:grpSpPr>
        <p:sp>
          <p:nvSpPr>
            <p:cNvPr id="32" name="Freeform 32"/>
            <p:cNvSpPr/>
            <p:nvPr/>
          </p:nvSpPr>
          <p:spPr>
            <a:xfrm>
              <a:off x="0" y="0"/>
              <a:ext cx="8412480" cy="926592"/>
            </a:xfrm>
            <a:custGeom>
              <a:avLst/>
              <a:gdLst/>
              <a:ahLst/>
              <a:cxnLst/>
              <a:rect l="l" t="t" r="r" b="b"/>
              <a:pathLst>
                <a:path w="8412480" h="926592">
                  <a:moveTo>
                    <a:pt x="0" y="0"/>
                  </a:moveTo>
                  <a:lnTo>
                    <a:pt x="8412480" y="0"/>
                  </a:lnTo>
                  <a:lnTo>
                    <a:pt x="8412480" y="926592"/>
                  </a:lnTo>
                  <a:lnTo>
                    <a:pt x="0" y="926592"/>
                  </a:lnTo>
                  <a:close/>
                </a:path>
              </a:pathLst>
            </a:custGeom>
            <a:blipFill>
              <a:blip r:embed="rId3">
                <a:alphaModFix amt="0"/>
              </a:blip>
              <a:stretch>
                <a:fillRect t="-126903" b="-126903"/>
              </a:stretch>
            </a:blipFill>
          </p:spPr>
          <p:txBody>
            <a:bodyPr/>
            <a:lstStyle/>
            <a:p>
              <a:endParaRPr lang="es-GT"/>
            </a:p>
          </p:txBody>
        </p:sp>
        <p:sp>
          <p:nvSpPr>
            <p:cNvPr id="33" name="TextBox 33"/>
            <p:cNvSpPr txBox="1"/>
            <p:nvPr/>
          </p:nvSpPr>
          <p:spPr>
            <a:xfrm>
              <a:off x="0" y="-38100"/>
              <a:ext cx="8412480" cy="964692"/>
            </a:xfrm>
            <a:prstGeom prst="rect">
              <a:avLst/>
            </a:prstGeom>
          </p:spPr>
          <p:txBody>
            <a:bodyPr lIns="0" tIns="0" rIns="0" bIns="0" rtlCol="0" anchor="ctr"/>
            <a:lstStyle/>
            <a:p>
              <a:pPr algn="l">
                <a:lnSpc>
                  <a:spcPts val="2879"/>
                </a:lnSpc>
              </a:pPr>
              <a:r>
                <a:rPr lang="en-US" sz="2400" b="1">
                  <a:solidFill>
                    <a:srgbClr val="7EC8A4"/>
                  </a:solidFill>
                  <a:latin typeface="Calibri (MS) Bold"/>
                  <a:ea typeface="Calibri (MS) Bold"/>
                  <a:cs typeface="Calibri (MS) Bold"/>
                  <a:sym typeface="Calibri (MS) Bold"/>
                </a:rPr>
                <a:t>Automatización de tareas</a:t>
              </a:r>
            </a:p>
          </p:txBody>
        </p:sp>
      </p:grpSp>
      <p:sp>
        <p:nvSpPr>
          <p:cNvPr id="34" name="TextBox 34"/>
          <p:cNvSpPr txBox="1"/>
          <p:nvPr/>
        </p:nvSpPr>
        <p:spPr>
          <a:xfrm>
            <a:off x="9966960" y="3088005"/>
            <a:ext cx="7315200" cy="1323975"/>
          </a:xfrm>
          <a:prstGeom prst="rect">
            <a:avLst/>
          </a:prstGeom>
        </p:spPr>
        <p:txBody>
          <a:bodyPr lIns="0" tIns="0" rIns="0" bIns="0" rtlCol="0" anchor="t">
            <a:spAutoFit/>
          </a:bodyPr>
          <a:lstStyle/>
          <a:p>
            <a:pPr algn="l">
              <a:lnSpc>
                <a:spcPts val="3359"/>
              </a:lnSpc>
            </a:pPr>
            <a:r>
              <a:rPr lang="en-US" sz="2799">
                <a:solidFill>
                  <a:srgbClr val="FFFFFF"/>
                </a:solidFill>
                <a:latin typeface="Calibri (MS)"/>
                <a:ea typeface="Calibri (MS)"/>
                <a:cs typeface="Calibri (MS)"/>
                <a:sym typeface="Calibri (MS)"/>
              </a:rPr>
              <a:t>Facilitan la ejecución automática de procesos repetitivos, eliminando errores humanos y reduciendo tiempos operativos.</a:t>
            </a:r>
          </a:p>
        </p:txBody>
      </p:sp>
      <p:grpSp>
        <p:nvGrpSpPr>
          <p:cNvPr id="35" name="Group 35"/>
          <p:cNvGrpSpPr/>
          <p:nvPr/>
        </p:nvGrpSpPr>
        <p:grpSpPr>
          <a:xfrm>
            <a:off x="718823" y="5656583"/>
            <a:ext cx="8255003" cy="3683003"/>
            <a:chOff x="0" y="0"/>
            <a:chExt cx="11006671" cy="4910671"/>
          </a:xfrm>
        </p:grpSpPr>
        <p:sp>
          <p:nvSpPr>
            <p:cNvPr id="36" name="Freeform 36"/>
            <p:cNvSpPr/>
            <p:nvPr/>
          </p:nvSpPr>
          <p:spPr>
            <a:xfrm>
              <a:off x="16891" y="16891"/>
              <a:ext cx="10972800" cy="4876800"/>
            </a:xfrm>
            <a:custGeom>
              <a:avLst/>
              <a:gdLst/>
              <a:ahLst/>
              <a:cxnLst/>
              <a:rect l="l" t="t" r="r" b="b"/>
              <a:pathLst>
                <a:path w="10972800" h="4876800">
                  <a:moveTo>
                    <a:pt x="0" y="0"/>
                  </a:moveTo>
                  <a:lnTo>
                    <a:pt x="10972800" y="0"/>
                  </a:lnTo>
                  <a:lnTo>
                    <a:pt x="10972800" y="4876800"/>
                  </a:lnTo>
                  <a:lnTo>
                    <a:pt x="0" y="4876800"/>
                  </a:lnTo>
                  <a:close/>
                </a:path>
              </a:pathLst>
            </a:custGeom>
            <a:solidFill>
              <a:srgbClr val="252B42"/>
            </a:solidFill>
          </p:spPr>
          <p:txBody>
            <a:bodyPr/>
            <a:lstStyle/>
            <a:p>
              <a:endParaRPr lang="es-GT"/>
            </a:p>
          </p:txBody>
        </p:sp>
        <p:sp>
          <p:nvSpPr>
            <p:cNvPr id="37" name="Freeform 37"/>
            <p:cNvSpPr/>
            <p:nvPr/>
          </p:nvSpPr>
          <p:spPr>
            <a:xfrm>
              <a:off x="0" y="0"/>
              <a:ext cx="11006582" cy="4910582"/>
            </a:xfrm>
            <a:custGeom>
              <a:avLst/>
              <a:gdLst/>
              <a:ahLst/>
              <a:cxnLst/>
              <a:rect l="l" t="t" r="r" b="b"/>
              <a:pathLst>
                <a:path w="11006582" h="4910582">
                  <a:moveTo>
                    <a:pt x="16891" y="0"/>
                  </a:moveTo>
                  <a:lnTo>
                    <a:pt x="10989691" y="0"/>
                  </a:lnTo>
                  <a:cubicBezTo>
                    <a:pt x="10999089" y="0"/>
                    <a:pt x="11006582" y="7620"/>
                    <a:pt x="11006582" y="16891"/>
                  </a:cubicBezTo>
                  <a:lnTo>
                    <a:pt x="11006582" y="4893691"/>
                  </a:lnTo>
                  <a:cubicBezTo>
                    <a:pt x="11006582" y="4903089"/>
                    <a:pt x="10998962" y="4910582"/>
                    <a:pt x="10989691" y="4910582"/>
                  </a:cubicBezTo>
                  <a:lnTo>
                    <a:pt x="16891" y="4910582"/>
                  </a:lnTo>
                  <a:cubicBezTo>
                    <a:pt x="7493" y="4910582"/>
                    <a:pt x="0" y="4902962"/>
                    <a:pt x="0" y="4893691"/>
                  </a:cubicBezTo>
                  <a:lnTo>
                    <a:pt x="0" y="16891"/>
                  </a:lnTo>
                  <a:cubicBezTo>
                    <a:pt x="0" y="7620"/>
                    <a:pt x="7620" y="0"/>
                    <a:pt x="16891" y="0"/>
                  </a:cubicBezTo>
                  <a:moveTo>
                    <a:pt x="16891" y="33909"/>
                  </a:moveTo>
                  <a:lnTo>
                    <a:pt x="16891" y="16891"/>
                  </a:lnTo>
                  <a:lnTo>
                    <a:pt x="33909" y="16891"/>
                  </a:lnTo>
                  <a:lnTo>
                    <a:pt x="33909" y="4893691"/>
                  </a:lnTo>
                  <a:lnTo>
                    <a:pt x="16891" y="4893691"/>
                  </a:lnTo>
                  <a:lnTo>
                    <a:pt x="16891" y="4876800"/>
                  </a:lnTo>
                  <a:lnTo>
                    <a:pt x="10989691" y="4876800"/>
                  </a:lnTo>
                  <a:lnTo>
                    <a:pt x="10989691" y="4893691"/>
                  </a:lnTo>
                  <a:lnTo>
                    <a:pt x="10972800" y="4893691"/>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grpSp>
        <p:nvGrpSpPr>
          <p:cNvPr id="38" name="Group 38"/>
          <p:cNvGrpSpPr/>
          <p:nvPr/>
        </p:nvGrpSpPr>
        <p:grpSpPr>
          <a:xfrm>
            <a:off x="1097280" y="6035040"/>
            <a:ext cx="1005840" cy="1005840"/>
            <a:chOff x="0" y="0"/>
            <a:chExt cx="1341120" cy="1341120"/>
          </a:xfrm>
        </p:grpSpPr>
        <p:sp>
          <p:nvSpPr>
            <p:cNvPr id="39" name="Freeform 39" descr="preencoded.png"/>
            <p:cNvSpPr/>
            <p:nvPr/>
          </p:nvSpPr>
          <p:spPr>
            <a:xfrm>
              <a:off x="0" y="0"/>
              <a:ext cx="1341120" cy="1341120"/>
            </a:xfrm>
            <a:custGeom>
              <a:avLst/>
              <a:gdLst/>
              <a:ahLst/>
              <a:cxnLst/>
              <a:rect l="l" t="t" r="r" b="b"/>
              <a:pathLst>
                <a:path w="1341120" h="1341120">
                  <a:moveTo>
                    <a:pt x="0" y="0"/>
                  </a:moveTo>
                  <a:lnTo>
                    <a:pt x="1341120" y="0"/>
                  </a:lnTo>
                  <a:lnTo>
                    <a:pt x="1341120" y="1341120"/>
                  </a:lnTo>
                  <a:lnTo>
                    <a:pt x="0" y="1341120"/>
                  </a:lnTo>
                  <a:lnTo>
                    <a:pt x="0" y="0"/>
                  </a:lnTo>
                  <a:close/>
                </a:path>
              </a:pathLst>
            </a:custGeom>
            <a:blipFill>
              <a:blip r:embed="rId6"/>
              <a:stretch>
                <a:fillRect/>
              </a:stretch>
            </a:blipFill>
          </p:spPr>
          <p:txBody>
            <a:bodyPr/>
            <a:lstStyle/>
            <a:p>
              <a:endParaRPr lang="es-GT"/>
            </a:p>
          </p:txBody>
        </p:sp>
      </p:grpSp>
      <p:grpSp>
        <p:nvGrpSpPr>
          <p:cNvPr id="40" name="Group 40"/>
          <p:cNvGrpSpPr/>
          <p:nvPr/>
        </p:nvGrpSpPr>
        <p:grpSpPr>
          <a:xfrm>
            <a:off x="2286000" y="5998464"/>
            <a:ext cx="6309360" cy="694944"/>
            <a:chOff x="0" y="0"/>
            <a:chExt cx="8412480" cy="926592"/>
          </a:xfrm>
        </p:grpSpPr>
        <p:sp>
          <p:nvSpPr>
            <p:cNvPr id="41" name="Freeform 41"/>
            <p:cNvSpPr/>
            <p:nvPr/>
          </p:nvSpPr>
          <p:spPr>
            <a:xfrm>
              <a:off x="0" y="0"/>
              <a:ext cx="8412480" cy="926592"/>
            </a:xfrm>
            <a:custGeom>
              <a:avLst/>
              <a:gdLst/>
              <a:ahLst/>
              <a:cxnLst/>
              <a:rect l="l" t="t" r="r" b="b"/>
              <a:pathLst>
                <a:path w="8412480" h="926592">
                  <a:moveTo>
                    <a:pt x="0" y="0"/>
                  </a:moveTo>
                  <a:lnTo>
                    <a:pt x="8412480" y="0"/>
                  </a:lnTo>
                  <a:lnTo>
                    <a:pt x="8412480" y="926592"/>
                  </a:lnTo>
                  <a:lnTo>
                    <a:pt x="0" y="926592"/>
                  </a:lnTo>
                  <a:close/>
                </a:path>
              </a:pathLst>
            </a:custGeom>
            <a:blipFill>
              <a:blip r:embed="rId3">
                <a:alphaModFix amt="0"/>
              </a:blip>
              <a:stretch>
                <a:fillRect t="-126903" b="-126903"/>
              </a:stretch>
            </a:blipFill>
          </p:spPr>
          <p:txBody>
            <a:bodyPr/>
            <a:lstStyle/>
            <a:p>
              <a:endParaRPr lang="es-GT"/>
            </a:p>
          </p:txBody>
        </p:sp>
        <p:sp>
          <p:nvSpPr>
            <p:cNvPr id="42" name="TextBox 42"/>
            <p:cNvSpPr txBox="1"/>
            <p:nvPr/>
          </p:nvSpPr>
          <p:spPr>
            <a:xfrm>
              <a:off x="0" y="-38100"/>
              <a:ext cx="8412480" cy="964692"/>
            </a:xfrm>
            <a:prstGeom prst="rect">
              <a:avLst/>
            </a:prstGeom>
          </p:spPr>
          <p:txBody>
            <a:bodyPr lIns="0" tIns="0" rIns="0" bIns="0" rtlCol="0" anchor="ctr"/>
            <a:lstStyle/>
            <a:p>
              <a:pPr algn="l">
                <a:lnSpc>
                  <a:spcPts val="2879"/>
                </a:lnSpc>
              </a:pPr>
              <a:r>
                <a:rPr lang="en-US" sz="2400" b="1">
                  <a:solidFill>
                    <a:srgbClr val="9B7FD4"/>
                  </a:solidFill>
                  <a:latin typeface="Calibri (MS) Bold"/>
                  <a:ea typeface="Calibri (MS) Bold"/>
                  <a:cs typeface="Calibri (MS) Bold"/>
                  <a:sym typeface="Calibri (MS) Bold"/>
                </a:rPr>
                <a:t>Procesamiento de datos</a:t>
              </a:r>
            </a:p>
          </p:txBody>
        </p:sp>
      </p:grpSp>
      <p:sp>
        <p:nvSpPr>
          <p:cNvPr id="43" name="TextBox 43"/>
          <p:cNvSpPr txBox="1"/>
          <p:nvPr/>
        </p:nvSpPr>
        <p:spPr>
          <a:xfrm>
            <a:off x="1188720" y="7111365"/>
            <a:ext cx="7315200" cy="904875"/>
          </a:xfrm>
          <a:prstGeom prst="rect">
            <a:avLst/>
          </a:prstGeom>
        </p:spPr>
        <p:txBody>
          <a:bodyPr lIns="0" tIns="0" rIns="0" bIns="0" rtlCol="0" anchor="t">
            <a:spAutoFit/>
          </a:bodyPr>
          <a:lstStyle/>
          <a:p>
            <a:pPr algn="l">
              <a:lnSpc>
                <a:spcPts val="3359"/>
              </a:lnSpc>
            </a:pPr>
            <a:r>
              <a:rPr lang="en-US" sz="2799">
                <a:solidFill>
                  <a:srgbClr val="FFFFFF"/>
                </a:solidFill>
                <a:latin typeface="Calibri (MS)"/>
                <a:ea typeface="Calibri (MS)"/>
                <a:cs typeface="Calibri (MS)"/>
                <a:sym typeface="Calibri (MS)"/>
              </a:rPr>
              <a:t>Organizan, filtran y analizan grandes volúmenes de información de forma estructurada y eficiente.</a:t>
            </a:r>
          </a:p>
        </p:txBody>
      </p:sp>
      <p:grpSp>
        <p:nvGrpSpPr>
          <p:cNvPr id="44" name="Group 44"/>
          <p:cNvGrpSpPr/>
          <p:nvPr/>
        </p:nvGrpSpPr>
        <p:grpSpPr>
          <a:xfrm>
            <a:off x="9497063" y="5656583"/>
            <a:ext cx="8255003" cy="3683003"/>
            <a:chOff x="0" y="0"/>
            <a:chExt cx="11006671" cy="4910671"/>
          </a:xfrm>
        </p:grpSpPr>
        <p:sp>
          <p:nvSpPr>
            <p:cNvPr id="45" name="Freeform 45"/>
            <p:cNvSpPr/>
            <p:nvPr/>
          </p:nvSpPr>
          <p:spPr>
            <a:xfrm>
              <a:off x="16891" y="16891"/>
              <a:ext cx="10972800" cy="4876800"/>
            </a:xfrm>
            <a:custGeom>
              <a:avLst/>
              <a:gdLst/>
              <a:ahLst/>
              <a:cxnLst/>
              <a:rect l="l" t="t" r="r" b="b"/>
              <a:pathLst>
                <a:path w="10972800" h="4876800">
                  <a:moveTo>
                    <a:pt x="0" y="0"/>
                  </a:moveTo>
                  <a:lnTo>
                    <a:pt x="10972800" y="0"/>
                  </a:lnTo>
                  <a:lnTo>
                    <a:pt x="10972800" y="4876800"/>
                  </a:lnTo>
                  <a:lnTo>
                    <a:pt x="0" y="4876800"/>
                  </a:lnTo>
                  <a:close/>
                </a:path>
              </a:pathLst>
            </a:custGeom>
            <a:solidFill>
              <a:srgbClr val="252B42"/>
            </a:solidFill>
          </p:spPr>
          <p:txBody>
            <a:bodyPr/>
            <a:lstStyle/>
            <a:p>
              <a:endParaRPr lang="es-GT"/>
            </a:p>
          </p:txBody>
        </p:sp>
        <p:sp>
          <p:nvSpPr>
            <p:cNvPr id="46" name="Freeform 46"/>
            <p:cNvSpPr/>
            <p:nvPr/>
          </p:nvSpPr>
          <p:spPr>
            <a:xfrm>
              <a:off x="0" y="0"/>
              <a:ext cx="11006582" cy="4910582"/>
            </a:xfrm>
            <a:custGeom>
              <a:avLst/>
              <a:gdLst/>
              <a:ahLst/>
              <a:cxnLst/>
              <a:rect l="l" t="t" r="r" b="b"/>
              <a:pathLst>
                <a:path w="11006582" h="4910582">
                  <a:moveTo>
                    <a:pt x="16891" y="0"/>
                  </a:moveTo>
                  <a:lnTo>
                    <a:pt x="10989691" y="0"/>
                  </a:lnTo>
                  <a:cubicBezTo>
                    <a:pt x="10999089" y="0"/>
                    <a:pt x="11006582" y="7620"/>
                    <a:pt x="11006582" y="16891"/>
                  </a:cubicBezTo>
                  <a:lnTo>
                    <a:pt x="11006582" y="4893691"/>
                  </a:lnTo>
                  <a:cubicBezTo>
                    <a:pt x="11006582" y="4903089"/>
                    <a:pt x="10998962" y="4910582"/>
                    <a:pt x="10989691" y="4910582"/>
                  </a:cubicBezTo>
                  <a:lnTo>
                    <a:pt x="16891" y="4910582"/>
                  </a:lnTo>
                  <a:cubicBezTo>
                    <a:pt x="7493" y="4910582"/>
                    <a:pt x="0" y="4902962"/>
                    <a:pt x="0" y="4893691"/>
                  </a:cubicBezTo>
                  <a:lnTo>
                    <a:pt x="0" y="16891"/>
                  </a:lnTo>
                  <a:cubicBezTo>
                    <a:pt x="0" y="7620"/>
                    <a:pt x="7620" y="0"/>
                    <a:pt x="16891" y="0"/>
                  </a:cubicBezTo>
                  <a:moveTo>
                    <a:pt x="16891" y="33909"/>
                  </a:moveTo>
                  <a:lnTo>
                    <a:pt x="16891" y="16891"/>
                  </a:lnTo>
                  <a:lnTo>
                    <a:pt x="33909" y="16891"/>
                  </a:lnTo>
                  <a:lnTo>
                    <a:pt x="33909" y="4893691"/>
                  </a:lnTo>
                  <a:lnTo>
                    <a:pt x="16891" y="4893691"/>
                  </a:lnTo>
                  <a:lnTo>
                    <a:pt x="16891" y="4876800"/>
                  </a:lnTo>
                  <a:lnTo>
                    <a:pt x="10989691" y="4876800"/>
                  </a:lnTo>
                  <a:lnTo>
                    <a:pt x="10989691" y="4893691"/>
                  </a:lnTo>
                  <a:lnTo>
                    <a:pt x="10972800" y="4893691"/>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grpSp>
        <p:nvGrpSpPr>
          <p:cNvPr id="47" name="Group 47"/>
          <p:cNvGrpSpPr/>
          <p:nvPr/>
        </p:nvGrpSpPr>
        <p:grpSpPr>
          <a:xfrm>
            <a:off x="9875520" y="6035040"/>
            <a:ext cx="1005840" cy="1005840"/>
            <a:chOff x="0" y="0"/>
            <a:chExt cx="1341120" cy="1341120"/>
          </a:xfrm>
        </p:grpSpPr>
        <p:sp>
          <p:nvSpPr>
            <p:cNvPr id="48" name="Freeform 48" descr="preencoded.png"/>
            <p:cNvSpPr/>
            <p:nvPr/>
          </p:nvSpPr>
          <p:spPr>
            <a:xfrm>
              <a:off x="0" y="0"/>
              <a:ext cx="1341120" cy="1341120"/>
            </a:xfrm>
            <a:custGeom>
              <a:avLst/>
              <a:gdLst/>
              <a:ahLst/>
              <a:cxnLst/>
              <a:rect l="l" t="t" r="r" b="b"/>
              <a:pathLst>
                <a:path w="1341120" h="1341120">
                  <a:moveTo>
                    <a:pt x="0" y="0"/>
                  </a:moveTo>
                  <a:lnTo>
                    <a:pt x="1341120" y="0"/>
                  </a:lnTo>
                  <a:lnTo>
                    <a:pt x="1341120" y="1341120"/>
                  </a:lnTo>
                  <a:lnTo>
                    <a:pt x="0" y="1341120"/>
                  </a:lnTo>
                  <a:lnTo>
                    <a:pt x="0" y="0"/>
                  </a:lnTo>
                  <a:close/>
                </a:path>
              </a:pathLst>
            </a:custGeom>
            <a:blipFill>
              <a:blip r:embed="rId7"/>
              <a:stretch>
                <a:fillRect/>
              </a:stretch>
            </a:blipFill>
          </p:spPr>
          <p:txBody>
            <a:bodyPr/>
            <a:lstStyle/>
            <a:p>
              <a:endParaRPr lang="es-GT"/>
            </a:p>
          </p:txBody>
        </p:sp>
      </p:grpSp>
      <p:grpSp>
        <p:nvGrpSpPr>
          <p:cNvPr id="49" name="Group 49"/>
          <p:cNvGrpSpPr/>
          <p:nvPr/>
        </p:nvGrpSpPr>
        <p:grpSpPr>
          <a:xfrm>
            <a:off x="11064240" y="5998464"/>
            <a:ext cx="6309360" cy="694944"/>
            <a:chOff x="0" y="0"/>
            <a:chExt cx="8412480" cy="926592"/>
          </a:xfrm>
        </p:grpSpPr>
        <p:sp>
          <p:nvSpPr>
            <p:cNvPr id="50" name="Freeform 50"/>
            <p:cNvSpPr/>
            <p:nvPr/>
          </p:nvSpPr>
          <p:spPr>
            <a:xfrm>
              <a:off x="0" y="0"/>
              <a:ext cx="8412480" cy="926592"/>
            </a:xfrm>
            <a:custGeom>
              <a:avLst/>
              <a:gdLst/>
              <a:ahLst/>
              <a:cxnLst/>
              <a:rect l="l" t="t" r="r" b="b"/>
              <a:pathLst>
                <a:path w="8412480" h="926592">
                  <a:moveTo>
                    <a:pt x="0" y="0"/>
                  </a:moveTo>
                  <a:lnTo>
                    <a:pt x="8412480" y="0"/>
                  </a:lnTo>
                  <a:lnTo>
                    <a:pt x="8412480" y="926592"/>
                  </a:lnTo>
                  <a:lnTo>
                    <a:pt x="0" y="926592"/>
                  </a:lnTo>
                  <a:close/>
                </a:path>
              </a:pathLst>
            </a:custGeom>
            <a:blipFill>
              <a:blip r:embed="rId3">
                <a:alphaModFix amt="0"/>
              </a:blip>
              <a:stretch>
                <a:fillRect t="-126903" b="-126903"/>
              </a:stretch>
            </a:blipFill>
          </p:spPr>
          <p:txBody>
            <a:bodyPr/>
            <a:lstStyle/>
            <a:p>
              <a:endParaRPr lang="es-GT"/>
            </a:p>
          </p:txBody>
        </p:sp>
        <p:sp>
          <p:nvSpPr>
            <p:cNvPr id="51" name="TextBox 51"/>
            <p:cNvSpPr txBox="1"/>
            <p:nvPr/>
          </p:nvSpPr>
          <p:spPr>
            <a:xfrm>
              <a:off x="0" y="-38100"/>
              <a:ext cx="8412480" cy="964692"/>
            </a:xfrm>
            <a:prstGeom prst="rect">
              <a:avLst/>
            </a:prstGeom>
          </p:spPr>
          <p:txBody>
            <a:bodyPr lIns="0" tIns="0" rIns="0" bIns="0" rtlCol="0" anchor="ctr"/>
            <a:lstStyle/>
            <a:p>
              <a:pPr algn="l">
                <a:lnSpc>
                  <a:spcPts val="2879"/>
                </a:lnSpc>
              </a:pPr>
              <a:r>
                <a:rPr lang="en-US" sz="2400" b="1">
                  <a:solidFill>
                    <a:srgbClr val="E8A87C"/>
                  </a:solidFill>
                  <a:latin typeface="Calibri (MS) Bold"/>
                  <a:ea typeface="Calibri (MS) Bold"/>
                  <a:cs typeface="Calibri (MS) Bold"/>
                  <a:sym typeface="Calibri (MS) Bold"/>
                </a:rPr>
                <a:t>Inteligencia Artificial</a:t>
              </a:r>
            </a:p>
          </p:txBody>
        </p:sp>
      </p:grpSp>
      <p:sp>
        <p:nvSpPr>
          <p:cNvPr id="52" name="TextBox 52"/>
          <p:cNvSpPr txBox="1"/>
          <p:nvPr/>
        </p:nvSpPr>
        <p:spPr>
          <a:xfrm>
            <a:off x="9966960" y="7111365"/>
            <a:ext cx="7315200" cy="1323975"/>
          </a:xfrm>
          <a:prstGeom prst="rect">
            <a:avLst/>
          </a:prstGeom>
        </p:spPr>
        <p:txBody>
          <a:bodyPr lIns="0" tIns="0" rIns="0" bIns="0" rtlCol="0" anchor="t">
            <a:spAutoFit/>
          </a:bodyPr>
          <a:lstStyle/>
          <a:p>
            <a:pPr algn="l">
              <a:lnSpc>
                <a:spcPts val="3359"/>
              </a:lnSpc>
            </a:pPr>
            <a:r>
              <a:rPr lang="en-US" sz="2799">
                <a:solidFill>
                  <a:srgbClr val="FFFFFF"/>
                </a:solidFill>
                <a:latin typeface="Calibri (MS)"/>
                <a:ea typeface="Calibri (MS)"/>
                <a:cs typeface="Calibri (MS)"/>
                <a:sym typeface="Calibri (MS)"/>
              </a:rPr>
              <a:t>Son la base del aprendizaje automático, la visión por computadora y los sistemas de toma de decisiones autónoma.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2235"/>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16891" y="16891"/>
              <a:ext cx="24383999" cy="1755648"/>
            </a:xfrm>
            <a:custGeom>
              <a:avLst/>
              <a:gdLst/>
              <a:ahLst/>
              <a:cxnLst/>
              <a:rect l="l" t="t" r="r" b="b"/>
              <a:pathLst>
                <a:path w="24383999" h="1755648">
                  <a:moveTo>
                    <a:pt x="0" y="0"/>
                  </a:moveTo>
                  <a:lnTo>
                    <a:pt x="24383999" y="0"/>
                  </a:lnTo>
                  <a:lnTo>
                    <a:pt x="24383999" y="1755648"/>
                  </a:lnTo>
                  <a:lnTo>
                    <a:pt x="0" y="1755648"/>
                  </a:lnTo>
                  <a:close/>
                </a:path>
              </a:pathLst>
            </a:custGeom>
            <a:solidFill>
              <a:srgbClr val="161929"/>
            </a:solidFill>
          </p:spPr>
          <p:txBody>
            <a:bodyPr/>
            <a:lstStyle/>
            <a:p>
              <a:endParaRPr lang="es-GT"/>
            </a:p>
          </p:txBody>
        </p:sp>
        <p:sp>
          <p:nvSpPr>
            <p:cNvPr id="4" name="Freeform 4"/>
            <p:cNvSpPr/>
            <p:nvPr/>
          </p:nvSpPr>
          <p:spPr>
            <a:xfrm>
              <a:off x="0" y="0"/>
              <a:ext cx="24417782" cy="1789430"/>
            </a:xfrm>
            <a:custGeom>
              <a:avLst/>
              <a:gdLst/>
              <a:ahLst/>
              <a:cxnLst/>
              <a:rect l="l" t="t" r="r" b="b"/>
              <a:pathLst>
                <a:path w="24417782" h="1789430">
                  <a:moveTo>
                    <a:pt x="16891" y="0"/>
                  </a:moveTo>
                  <a:lnTo>
                    <a:pt x="24400890" y="0"/>
                  </a:lnTo>
                  <a:cubicBezTo>
                    <a:pt x="24410290" y="0"/>
                    <a:pt x="24417782" y="7620"/>
                    <a:pt x="24417782" y="16891"/>
                  </a:cubicBezTo>
                  <a:lnTo>
                    <a:pt x="24417782" y="1772539"/>
                  </a:lnTo>
                  <a:cubicBezTo>
                    <a:pt x="24417782" y="1781937"/>
                    <a:pt x="24410163" y="1789430"/>
                    <a:pt x="24400890"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24400890" y="1755648"/>
                  </a:lnTo>
                  <a:lnTo>
                    <a:pt x="24400890" y="1772539"/>
                  </a:lnTo>
                  <a:lnTo>
                    <a:pt x="24384000" y="1772539"/>
                  </a:lnTo>
                  <a:lnTo>
                    <a:pt x="24384000" y="16891"/>
                  </a:lnTo>
                  <a:lnTo>
                    <a:pt x="24400890" y="16891"/>
                  </a:lnTo>
                  <a:lnTo>
                    <a:pt x="24400890" y="33909"/>
                  </a:lnTo>
                  <a:lnTo>
                    <a:pt x="16891" y="33909"/>
                  </a:lnTo>
                  <a:close/>
                </a:path>
              </a:pathLst>
            </a:custGeom>
            <a:solidFill>
              <a:srgbClr val="161929"/>
            </a:solidFill>
          </p:spPr>
          <p:txBody>
            <a:bodyPr/>
            <a:lstStyle/>
            <a:p>
              <a:endParaRPr lang="es-GT"/>
            </a:p>
          </p:txBody>
        </p:sp>
      </p:grpSp>
      <p:grpSp>
        <p:nvGrpSpPr>
          <p:cNvPr id="5" name="Group 5"/>
          <p:cNvGrpSpPr/>
          <p:nvPr/>
        </p:nvGrpSpPr>
        <p:grpSpPr>
          <a:xfrm>
            <a:off x="-12697" y="1304039"/>
            <a:ext cx="18313403" cy="98555"/>
            <a:chOff x="0" y="0"/>
            <a:chExt cx="24417871" cy="131407"/>
          </a:xfrm>
        </p:grpSpPr>
        <p:sp>
          <p:nvSpPr>
            <p:cNvPr id="6" name="Freeform 6"/>
            <p:cNvSpPr/>
            <p:nvPr/>
          </p:nvSpPr>
          <p:spPr>
            <a:xfrm>
              <a:off x="16891" y="16891"/>
              <a:ext cx="24383999" cy="97536"/>
            </a:xfrm>
            <a:custGeom>
              <a:avLst/>
              <a:gdLst/>
              <a:ahLst/>
              <a:cxnLst/>
              <a:rect l="l" t="t" r="r" b="b"/>
              <a:pathLst>
                <a:path w="24383999" h="97536">
                  <a:moveTo>
                    <a:pt x="0" y="0"/>
                  </a:moveTo>
                  <a:lnTo>
                    <a:pt x="24383999" y="0"/>
                  </a:lnTo>
                  <a:lnTo>
                    <a:pt x="24383999" y="97536"/>
                  </a:lnTo>
                  <a:lnTo>
                    <a:pt x="0" y="97536"/>
                  </a:lnTo>
                  <a:close/>
                </a:path>
              </a:pathLst>
            </a:custGeom>
            <a:solidFill>
              <a:srgbClr val="5B8CFF"/>
            </a:solidFill>
          </p:spPr>
          <p:txBody>
            <a:bodyPr/>
            <a:lstStyle/>
            <a:p>
              <a:endParaRPr lang="es-GT"/>
            </a:p>
          </p:txBody>
        </p:sp>
        <p:sp>
          <p:nvSpPr>
            <p:cNvPr id="7" name="Freeform 7"/>
            <p:cNvSpPr/>
            <p:nvPr/>
          </p:nvSpPr>
          <p:spPr>
            <a:xfrm>
              <a:off x="0" y="0"/>
              <a:ext cx="24417782" cy="131320"/>
            </a:xfrm>
            <a:custGeom>
              <a:avLst/>
              <a:gdLst/>
              <a:ahLst/>
              <a:cxnLst/>
              <a:rect l="l" t="t" r="r" b="b"/>
              <a:pathLst>
                <a:path w="24417782" h="131320">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5B8CFF"/>
            </a:solidFill>
          </p:spPr>
          <p:txBody>
            <a:bodyPr/>
            <a:lstStyle/>
            <a:p>
              <a:endParaRPr lang="es-GT"/>
            </a:p>
          </p:txBody>
        </p:sp>
      </p:grpSp>
      <p:grpSp>
        <p:nvGrpSpPr>
          <p:cNvPr id="8" name="Group 8"/>
          <p:cNvGrpSpPr/>
          <p:nvPr/>
        </p:nvGrpSpPr>
        <p:grpSpPr>
          <a:xfrm>
            <a:off x="822960" y="0"/>
            <a:ext cx="16642080" cy="1316736"/>
            <a:chOff x="0" y="0"/>
            <a:chExt cx="22189440" cy="1755648"/>
          </a:xfrm>
        </p:grpSpPr>
        <p:sp>
          <p:nvSpPr>
            <p:cNvPr id="9" name="Freeform 9"/>
            <p:cNvSpPr/>
            <p:nvPr/>
          </p:nvSpPr>
          <p:spPr>
            <a:xfrm>
              <a:off x="0" y="0"/>
              <a:ext cx="22189439" cy="1755648"/>
            </a:xfrm>
            <a:custGeom>
              <a:avLst/>
              <a:gdLst/>
              <a:ahLst/>
              <a:cxnLst/>
              <a:rect l="l" t="t" r="r" b="b"/>
              <a:pathLst>
                <a:path w="22189439" h="1755648">
                  <a:moveTo>
                    <a:pt x="0" y="0"/>
                  </a:moveTo>
                  <a:lnTo>
                    <a:pt x="22189439" y="0"/>
                  </a:lnTo>
                  <a:lnTo>
                    <a:pt x="22189439" y="1755648"/>
                  </a:lnTo>
                  <a:lnTo>
                    <a:pt x="0" y="1755648"/>
                  </a:lnTo>
                  <a:close/>
                </a:path>
              </a:pathLst>
            </a:custGeom>
            <a:blipFill>
              <a:blip r:embed="rId3">
                <a:alphaModFix amt="0"/>
              </a:blip>
              <a:stretch>
                <a:fillRect t="-196269" b="-196269"/>
              </a:stretch>
            </a:blipFill>
          </p:spPr>
          <p:txBody>
            <a:bodyPr/>
            <a:lstStyle/>
            <a:p>
              <a:endParaRPr lang="es-GT"/>
            </a:p>
          </p:txBody>
        </p:sp>
        <p:sp>
          <p:nvSpPr>
            <p:cNvPr id="10" name="TextBox 10"/>
            <p:cNvSpPr txBox="1"/>
            <p:nvPr/>
          </p:nvSpPr>
          <p:spPr>
            <a:xfrm>
              <a:off x="0" y="-76200"/>
              <a:ext cx="22189440" cy="1831848"/>
            </a:xfrm>
            <a:prstGeom prst="rect">
              <a:avLst/>
            </a:prstGeom>
          </p:spPr>
          <p:txBody>
            <a:bodyPr lIns="0" tIns="0" rIns="0" bIns="0" rtlCol="0" anchor="ctr"/>
            <a:lstStyle/>
            <a:p>
              <a:pPr algn="l">
                <a:lnSpc>
                  <a:spcPts val="5280"/>
                </a:lnSpc>
              </a:pPr>
              <a:r>
                <a:rPr lang="en-US" sz="4400" b="1">
                  <a:solidFill>
                    <a:srgbClr val="FFFFFF"/>
                  </a:solidFill>
                  <a:latin typeface="Calibri (MS) Bold"/>
                  <a:ea typeface="Calibri (MS) Bold"/>
                  <a:cs typeface="Calibri (MS) Bold"/>
                  <a:sym typeface="Calibri (MS) Bold"/>
                </a:rPr>
                <a:t>Características de los algoritmos</a:t>
              </a:r>
            </a:p>
          </p:txBody>
        </p:sp>
      </p:grpSp>
      <p:grpSp>
        <p:nvGrpSpPr>
          <p:cNvPr id="11" name="Group 11"/>
          <p:cNvGrpSpPr/>
          <p:nvPr/>
        </p:nvGrpSpPr>
        <p:grpSpPr>
          <a:xfrm>
            <a:off x="-12697" y="9954263"/>
            <a:ext cx="18313403" cy="345443"/>
            <a:chOff x="0" y="0"/>
            <a:chExt cx="24417871" cy="460591"/>
          </a:xfrm>
        </p:grpSpPr>
        <p:sp>
          <p:nvSpPr>
            <p:cNvPr id="12" name="Freeform 12"/>
            <p:cNvSpPr/>
            <p:nvPr/>
          </p:nvSpPr>
          <p:spPr>
            <a:xfrm>
              <a:off x="16891" y="16891"/>
              <a:ext cx="24383999" cy="426720"/>
            </a:xfrm>
            <a:custGeom>
              <a:avLst/>
              <a:gdLst/>
              <a:ahLst/>
              <a:cxnLst/>
              <a:rect l="l" t="t" r="r" b="b"/>
              <a:pathLst>
                <a:path w="24383999" h="426720">
                  <a:moveTo>
                    <a:pt x="0" y="0"/>
                  </a:moveTo>
                  <a:lnTo>
                    <a:pt x="24383999" y="0"/>
                  </a:lnTo>
                  <a:lnTo>
                    <a:pt x="24383999" y="426720"/>
                  </a:lnTo>
                  <a:lnTo>
                    <a:pt x="0" y="426720"/>
                  </a:lnTo>
                  <a:close/>
                </a:path>
              </a:pathLst>
            </a:custGeom>
            <a:solidFill>
              <a:srgbClr val="12152A"/>
            </a:solidFill>
          </p:spPr>
          <p:txBody>
            <a:bodyPr/>
            <a:lstStyle/>
            <a:p>
              <a:endParaRPr lang="es-GT"/>
            </a:p>
          </p:txBody>
        </p:sp>
        <p:sp>
          <p:nvSpPr>
            <p:cNvPr id="13" name="Freeform 13"/>
            <p:cNvSpPr/>
            <p:nvPr/>
          </p:nvSpPr>
          <p:spPr>
            <a:xfrm>
              <a:off x="0" y="0"/>
              <a:ext cx="24417782" cy="460504"/>
            </a:xfrm>
            <a:custGeom>
              <a:avLst/>
              <a:gdLst/>
              <a:ahLst/>
              <a:cxnLst/>
              <a:rect l="l" t="t" r="r" b="b"/>
              <a:pathLst>
                <a:path w="24417782" h="460504">
                  <a:moveTo>
                    <a:pt x="16891" y="0"/>
                  </a:moveTo>
                  <a:lnTo>
                    <a:pt x="24400890" y="0"/>
                  </a:lnTo>
                  <a:cubicBezTo>
                    <a:pt x="24410290" y="0"/>
                    <a:pt x="24417782" y="7620"/>
                    <a:pt x="24417782" y="16891"/>
                  </a:cubicBezTo>
                  <a:lnTo>
                    <a:pt x="24417782" y="443611"/>
                  </a:lnTo>
                  <a:cubicBezTo>
                    <a:pt x="24417782" y="453009"/>
                    <a:pt x="24410163" y="460502"/>
                    <a:pt x="24400890" y="460502"/>
                  </a:cubicBezTo>
                  <a:lnTo>
                    <a:pt x="16891" y="460502"/>
                  </a:lnTo>
                  <a:cubicBezTo>
                    <a:pt x="7620" y="460629"/>
                    <a:pt x="0" y="453009"/>
                    <a:pt x="0" y="443611"/>
                  </a:cubicBezTo>
                  <a:lnTo>
                    <a:pt x="0" y="16891"/>
                  </a:lnTo>
                  <a:cubicBezTo>
                    <a:pt x="0" y="7620"/>
                    <a:pt x="7620" y="0"/>
                    <a:pt x="16891" y="0"/>
                  </a:cubicBezTo>
                  <a:moveTo>
                    <a:pt x="16891" y="33909"/>
                  </a:moveTo>
                  <a:lnTo>
                    <a:pt x="16891" y="16891"/>
                  </a:lnTo>
                  <a:lnTo>
                    <a:pt x="33909" y="16891"/>
                  </a:lnTo>
                  <a:lnTo>
                    <a:pt x="33909" y="443611"/>
                  </a:lnTo>
                  <a:lnTo>
                    <a:pt x="16891" y="443611"/>
                  </a:lnTo>
                  <a:lnTo>
                    <a:pt x="16891" y="426720"/>
                  </a:lnTo>
                  <a:lnTo>
                    <a:pt x="24400890" y="426720"/>
                  </a:lnTo>
                  <a:lnTo>
                    <a:pt x="24400890" y="443611"/>
                  </a:lnTo>
                  <a:lnTo>
                    <a:pt x="24384000" y="443611"/>
                  </a:lnTo>
                  <a:lnTo>
                    <a:pt x="24384000" y="16891"/>
                  </a:lnTo>
                  <a:lnTo>
                    <a:pt x="24400890" y="16891"/>
                  </a:lnTo>
                  <a:lnTo>
                    <a:pt x="24400890" y="33909"/>
                  </a:lnTo>
                  <a:lnTo>
                    <a:pt x="16891" y="33909"/>
                  </a:lnTo>
                  <a:close/>
                </a:path>
              </a:pathLst>
            </a:custGeom>
            <a:solidFill>
              <a:srgbClr val="12152A"/>
            </a:solidFill>
          </p:spPr>
          <p:txBody>
            <a:bodyPr/>
            <a:lstStyle/>
            <a:p>
              <a:endParaRPr lang="es-GT"/>
            </a:p>
          </p:txBody>
        </p:sp>
      </p:grpSp>
      <p:grpSp>
        <p:nvGrpSpPr>
          <p:cNvPr id="14" name="Group 14"/>
          <p:cNvGrpSpPr/>
          <p:nvPr/>
        </p:nvGrpSpPr>
        <p:grpSpPr>
          <a:xfrm>
            <a:off x="17007840" y="9966960"/>
            <a:ext cx="914400" cy="320040"/>
            <a:chOff x="0" y="0"/>
            <a:chExt cx="1219200" cy="426720"/>
          </a:xfrm>
        </p:grpSpPr>
        <p:sp>
          <p:nvSpPr>
            <p:cNvPr id="15" name="Freeform 15"/>
            <p:cNvSpPr/>
            <p:nvPr/>
          </p:nvSpPr>
          <p:spPr>
            <a:xfrm>
              <a:off x="0" y="0"/>
              <a:ext cx="1219200" cy="426720"/>
            </a:xfrm>
            <a:custGeom>
              <a:avLst/>
              <a:gdLst/>
              <a:ahLst/>
              <a:cxnLst/>
              <a:rect l="l" t="t" r="r" b="b"/>
              <a:pathLst>
                <a:path w="1219200" h="426720">
                  <a:moveTo>
                    <a:pt x="0" y="0"/>
                  </a:moveTo>
                  <a:lnTo>
                    <a:pt x="1219200" y="0"/>
                  </a:lnTo>
                  <a:lnTo>
                    <a:pt x="1219200" y="426720"/>
                  </a:lnTo>
                  <a:lnTo>
                    <a:pt x="0" y="426720"/>
                  </a:lnTo>
                  <a:close/>
                </a:path>
              </a:pathLst>
            </a:custGeom>
            <a:blipFill>
              <a:blip r:embed="rId3">
                <a:alphaModFix amt="0"/>
              </a:blip>
              <a:stretch>
                <a:fillRect t="-5671" b="-5671"/>
              </a:stretch>
            </a:blipFill>
          </p:spPr>
          <p:txBody>
            <a:bodyPr/>
            <a:lstStyle/>
            <a:p>
              <a:endParaRPr lang="es-GT"/>
            </a:p>
          </p:txBody>
        </p:sp>
        <p:sp>
          <p:nvSpPr>
            <p:cNvPr id="16" name="TextBox 16"/>
            <p:cNvSpPr txBox="1"/>
            <p:nvPr/>
          </p:nvSpPr>
          <p:spPr>
            <a:xfrm>
              <a:off x="0" y="-38100"/>
              <a:ext cx="1219200" cy="464820"/>
            </a:xfrm>
            <a:prstGeom prst="rect">
              <a:avLst/>
            </a:prstGeom>
          </p:spPr>
          <p:txBody>
            <a:bodyPr lIns="0" tIns="0" rIns="0" bIns="0" rtlCol="0" anchor="ctr"/>
            <a:lstStyle/>
            <a:p>
              <a:pPr algn="r">
                <a:lnSpc>
                  <a:spcPts val="1800"/>
                </a:lnSpc>
              </a:pPr>
              <a:r>
                <a:rPr lang="en-US" sz="1500">
                  <a:solidFill>
                    <a:srgbClr val="6E7A9F"/>
                  </a:solidFill>
                  <a:latin typeface="Calibri (MS)"/>
                  <a:ea typeface="Calibri (MS)"/>
                  <a:cs typeface="Calibri (MS)"/>
                  <a:sym typeface="Calibri (MS)"/>
                </a:rPr>
                <a:t>8</a:t>
              </a:r>
            </a:p>
          </p:txBody>
        </p:sp>
      </p:grpSp>
      <p:grpSp>
        <p:nvGrpSpPr>
          <p:cNvPr id="17" name="Group 17"/>
          <p:cNvGrpSpPr/>
          <p:nvPr/>
        </p:nvGrpSpPr>
        <p:grpSpPr>
          <a:xfrm>
            <a:off x="731520" y="1554480"/>
            <a:ext cx="16824960" cy="731520"/>
            <a:chOff x="0" y="0"/>
            <a:chExt cx="22433280" cy="975360"/>
          </a:xfrm>
        </p:grpSpPr>
        <p:sp>
          <p:nvSpPr>
            <p:cNvPr id="18" name="Freeform 18"/>
            <p:cNvSpPr/>
            <p:nvPr/>
          </p:nvSpPr>
          <p:spPr>
            <a:xfrm>
              <a:off x="0" y="0"/>
              <a:ext cx="22433280" cy="975360"/>
            </a:xfrm>
            <a:custGeom>
              <a:avLst/>
              <a:gdLst/>
              <a:ahLst/>
              <a:cxnLst/>
              <a:rect l="l" t="t" r="r" b="b"/>
              <a:pathLst>
                <a:path w="22433280" h="975360">
                  <a:moveTo>
                    <a:pt x="0" y="0"/>
                  </a:moveTo>
                  <a:lnTo>
                    <a:pt x="22433280" y="0"/>
                  </a:lnTo>
                  <a:lnTo>
                    <a:pt x="22433280" y="975360"/>
                  </a:lnTo>
                  <a:lnTo>
                    <a:pt x="0" y="975360"/>
                  </a:lnTo>
                  <a:close/>
                </a:path>
              </a:pathLst>
            </a:custGeom>
            <a:blipFill>
              <a:blip r:embed="rId3">
                <a:alphaModFix amt="0"/>
              </a:blip>
              <a:stretch>
                <a:fillRect t="-398155" b="-398155"/>
              </a:stretch>
            </a:blipFill>
          </p:spPr>
          <p:txBody>
            <a:bodyPr/>
            <a:lstStyle/>
            <a:p>
              <a:endParaRPr lang="es-GT"/>
            </a:p>
          </p:txBody>
        </p:sp>
        <p:sp>
          <p:nvSpPr>
            <p:cNvPr id="19" name="TextBox 19"/>
            <p:cNvSpPr txBox="1"/>
            <p:nvPr/>
          </p:nvSpPr>
          <p:spPr>
            <a:xfrm>
              <a:off x="0" y="-47625"/>
              <a:ext cx="22433280" cy="1022985"/>
            </a:xfrm>
            <a:prstGeom prst="rect">
              <a:avLst/>
            </a:prstGeom>
          </p:spPr>
          <p:txBody>
            <a:bodyPr lIns="0" tIns="0" rIns="0" bIns="0" rtlCol="0" anchor="ctr"/>
            <a:lstStyle/>
            <a:p>
              <a:pPr algn="l">
                <a:lnSpc>
                  <a:spcPts val="2640"/>
                </a:lnSpc>
              </a:pPr>
              <a:r>
                <a:rPr lang="en-US" sz="2200">
                  <a:solidFill>
                    <a:srgbClr val="B0B8CC"/>
                  </a:solidFill>
                  <a:latin typeface="Calibri (MS)"/>
                  <a:ea typeface="Calibri (MS)"/>
                  <a:cs typeface="Calibri (MS)"/>
                  <a:sym typeface="Calibri (MS)"/>
                </a:rPr>
                <a:t>Todo algoritmo debe cumplir las siguientes propiedades para ser considerado formalmente correcto:</a:t>
              </a:r>
            </a:p>
          </p:txBody>
        </p:sp>
      </p:grpSp>
      <p:graphicFrame>
        <p:nvGraphicFramePr>
          <p:cNvPr id="20" name="Table 20"/>
          <p:cNvGraphicFramePr>
            <a:graphicFrameLocks noGrp="1"/>
          </p:cNvGraphicFramePr>
          <p:nvPr/>
        </p:nvGraphicFramePr>
        <p:xfrm>
          <a:off x="731520" y="2377440"/>
          <a:ext cx="16789400" cy="7315200"/>
        </p:xfrm>
        <a:graphic>
          <a:graphicData uri="http://schemas.openxmlformats.org/drawingml/2006/table">
            <a:tbl>
              <a:tblPr/>
              <a:tblGrid>
                <a:gridCol w="3840317">
                  <a:extLst>
                    <a:ext uri="{9D8B030D-6E8A-4147-A177-3AD203B41FA5}">
                      <a16:colId xmlns:a16="http://schemas.microsoft.com/office/drawing/2014/main" val="20000"/>
                    </a:ext>
                  </a:extLst>
                </a:gridCol>
                <a:gridCol w="7655401">
                  <a:extLst>
                    <a:ext uri="{9D8B030D-6E8A-4147-A177-3AD203B41FA5}">
                      <a16:colId xmlns:a16="http://schemas.microsoft.com/office/drawing/2014/main" val="20001"/>
                    </a:ext>
                  </a:extLst>
                </a:gridCol>
                <a:gridCol w="5293682">
                  <a:extLst>
                    <a:ext uri="{9D8B030D-6E8A-4147-A177-3AD203B41FA5}">
                      <a16:colId xmlns:a16="http://schemas.microsoft.com/office/drawing/2014/main" val="20002"/>
                    </a:ext>
                  </a:extLst>
                </a:gridCol>
              </a:tblGrid>
              <a:tr h="1219200">
                <a:tc>
                  <a:txBody>
                    <a:bodyPr/>
                    <a:lstStyle/>
                    <a:p>
                      <a:pPr algn="l">
                        <a:lnSpc>
                          <a:spcPts val="2640"/>
                        </a:lnSpc>
                        <a:defRPr/>
                      </a:pPr>
                      <a:r>
                        <a:rPr lang="en-US" sz="2200" b="1">
                          <a:solidFill>
                            <a:srgbClr val="FFFFFF"/>
                          </a:solidFill>
                          <a:latin typeface="Calibri (MS) Bold"/>
                          <a:ea typeface="Calibri (MS) Bold"/>
                          <a:cs typeface="Calibri (MS) Bold"/>
                          <a:sym typeface="Calibri (MS) Bold"/>
                        </a:rPr>
                        <a:t>Propiedad</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2040"/>
                    </a:solidFill>
                  </a:tcPr>
                </a:tc>
                <a:tc>
                  <a:txBody>
                    <a:bodyPr/>
                    <a:lstStyle/>
                    <a:p>
                      <a:pPr algn="l">
                        <a:lnSpc>
                          <a:spcPts val="2640"/>
                        </a:lnSpc>
                        <a:defRPr/>
                      </a:pPr>
                      <a:r>
                        <a:rPr lang="en-US" sz="2200" b="1">
                          <a:solidFill>
                            <a:srgbClr val="FFFFFF"/>
                          </a:solidFill>
                          <a:latin typeface="Calibri (MS) Bold"/>
                          <a:ea typeface="Calibri (MS) Bold"/>
                          <a:cs typeface="Calibri (MS) Bold"/>
                          <a:sym typeface="Calibri (MS) Bold"/>
                        </a:rPr>
                        <a:t>Definición</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2040"/>
                    </a:solidFill>
                  </a:tcPr>
                </a:tc>
                <a:tc>
                  <a:txBody>
                    <a:bodyPr/>
                    <a:lstStyle/>
                    <a:p>
                      <a:pPr algn="l">
                        <a:lnSpc>
                          <a:spcPts val="2640"/>
                        </a:lnSpc>
                        <a:defRPr/>
                      </a:pPr>
                      <a:r>
                        <a:rPr lang="en-US" sz="2200" b="1">
                          <a:solidFill>
                            <a:srgbClr val="FFFFFF"/>
                          </a:solidFill>
                          <a:latin typeface="Calibri (MS) Bold"/>
                          <a:ea typeface="Calibri (MS) Bold"/>
                          <a:cs typeface="Calibri (MS) Bold"/>
                          <a:sym typeface="Calibri (MS) Bold"/>
                        </a:rPr>
                        <a:t>Consecuencia si se omite</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2040"/>
                    </a:solidFill>
                  </a:tcPr>
                </a:tc>
                <a:extLst>
                  <a:ext uri="{0D108BD9-81ED-4DB2-BD59-A6C34878D82A}">
                    <a16:rowId xmlns:a16="http://schemas.microsoft.com/office/drawing/2014/main" val="10000"/>
                  </a:ext>
                </a:extLst>
              </a:tr>
              <a:tr h="1219200">
                <a:tc>
                  <a:txBody>
                    <a:bodyPr/>
                    <a:lstStyle/>
                    <a:p>
                      <a:pPr algn="l">
                        <a:lnSpc>
                          <a:spcPts val="2520"/>
                        </a:lnSpc>
                        <a:defRPr/>
                      </a:pPr>
                      <a:r>
                        <a:rPr lang="en-US" sz="2100" b="1">
                          <a:solidFill>
                            <a:srgbClr val="5B8CFF"/>
                          </a:solidFill>
                          <a:latin typeface="Calibri (MS) Bold"/>
                          <a:ea typeface="Calibri (MS) Bold"/>
                          <a:cs typeface="Calibri (MS) Bold"/>
                          <a:sym typeface="Calibri (MS) Bold"/>
                        </a:rPr>
                        <a:t>Precisión</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3119"/>
                        </a:lnSpc>
                        <a:defRPr/>
                      </a:pPr>
                      <a:r>
                        <a:rPr lang="en-US" sz="2599">
                          <a:solidFill>
                            <a:srgbClr val="FFFFFF"/>
                          </a:solidFill>
                          <a:latin typeface="Calibri (MS)"/>
                          <a:ea typeface="Calibri (MS)"/>
                          <a:cs typeface="Calibri (MS)"/>
                          <a:sym typeface="Calibri (MS)"/>
                        </a:rPr>
                        <a:t>Cada paso está inequívocamente definido; no admite ambigüedad.</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879"/>
                        </a:lnSpc>
                        <a:defRPr/>
                      </a:pPr>
                      <a:r>
                        <a:rPr lang="en-US" sz="2399">
                          <a:solidFill>
                            <a:srgbClr val="B0B8CC"/>
                          </a:solidFill>
                          <a:latin typeface="Calibri (MS)"/>
                          <a:ea typeface="Calibri (MS)"/>
                          <a:cs typeface="Calibri (MS)"/>
                          <a:sym typeface="Calibri (MS)"/>
                        </a:rPr>
                        <a:t>Resultados impredecibles o comportamiento no determinístico.</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extLst>
                  <a:ext uri="{0D108BD9-81ED-4DB2-BD59-A6C34878D82A}">
                    <a16:rowId xmlns:a16="http://schemas.microsoft.com/office/drawing/2014/main" val="10001"/>
                  </a:ext>
                </a:extLst>
              </a:tr>
              <a:tr h="1219200">
                <a:tc>
                  <a:txBody>
                    <a:bodyPr/>
                    <a:lstStyle/>
                    <a:p>
                      <a:pPr algn="l">
                        <a:lnSpc>
                          <a:spcPts val="2520"/>
                        </a:lnSpc>
                        <a:defRPr/>
                      </a:pPr>
                      <a:r>
                        <a:rPr lang="en-US" sz="2100" b="1">
                          <a:solidFill>
                            <a:srgbClr val="7EC8A4"/>
                          </a:solidFill>
                          <a:latin typeface="Calibri (MS) Bold"/>
                          <a:ea typeface="Calibri (MS) Bold"/>
                          <a:cs typeface="Calibri (MS) Bold"/>
                          <a:sym typeface="Calibri (MS) Bold"/>
                        </a:rPr>
                        <a:t>Definición (Determinismo)</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tc>
                  <a:txBody>
                    <a:bodyPr/>
                    <a:lstStyle/>
                    <a:p>
                      <a:pPr algn="l">
                        <a:lnSpc>
                          <a:spcPts val="3119"/>
                        </a:lnSpc>
                        <a:defRPr/>
                      </a:pPr>
                      <a:r>
                        <a:rPr lang="en-US" sz="2599">
                          <a:solidFill>
                            <a:srgbClr val="FFFFFF"/>
                          </a:solidFill>
                          <a:latin typeface="Calibri (MS)"/>
                          <a:ea typeface="Calibri (MS)"/>
                          <a:cs typeface="Calibri (MS)"/>
                          <a:sym typeface="Calibri (MS)"/>
                        </a:rPr>
                        <a:t>La misma entrada produce siempre la misma salida, independientemente del contexto.</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tc>
                  <a:txBody>
                    <a:bodyPr/>
                    <a:lstStyle/>
                    <a:p>
                      <a:pPr algn="l">
                        <a:lnSpc>
                          <a:spcPts val="2879"/>
                        </a:lnSpc>
                        <a:defRPr/>
                      </a:pPr>
                      <a:r>
                        <a:rPr lang="en-US" sz="2399">
                          <a:solidFill>
                            <a:srgbClr val="B0B8CC"/>
                          </a:solidFill>
                          <a:latin typeface="Calibri (MS)"/>
                          <a:ea typeface="Calibri (MS)"/>
                          <a:cs typeface="Calibri (MS)"/>
                          <a:sym typeface="Calibri (MS)"/>
                        </a:rPr>
                        <a:t>El algoritmo no es reproducible ni verificable.</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extLst>
                  <a:ext uri="{0D108BD9-81ED-4DB2-BD59-A6C34878D82A}">
                    <a16:rowId xmlns:a16="http://schemas.microsoft.com/office/drawing/2014/main" val="10002"/>
                  </a:ext>
                </a:extLst>
              </a:tr>
              <a:tr h="1219200">
                <a:tc>
                  <a:txBody>
                    <a:bodyPr/>
                    <a:lstStyle/>
                    <a:p>
                      <a:pPr algn="l">
                        <a:lnSpc>
                          <a:spcPts val="2520"/>
                        </a:lnSpc>
                        <a:defRPr/>
                      </a:pPr>
                      <a:r>
                        <a:rPr lang="en-US" sz="2100" b="1">
                          <a:solidFill>
                            <a:srgbClr val="9B7FD4"/>
                          </a:solidFill>
                          <a:latin typeface="Calibri (MS) Bold"/>
                          <a:ea typeface="Calibri (MS) Bold"/>
                          <a:cs typeface="Calibri (MS) Bold"/>
                          <a:sym typeface="Calibri (MS) Bold"/>
                        </a:rPr>
                        <a:t>Finitud</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3119"/>
                        </a:lnSpc>
                        <a:defRPr/>
                      </a:pPr>
                      <a:r>
                        <a:rPr lang="en-US" sz="2599">
                          <a:solidFill>
                            <a:srgbClr val="FFFFFF"/>
                          </a:solidFill>
                          <a:latin typeface="Calibri (MS)"/>
                          <a:ea typeface="Calibri (MS)"/>
                          <a:cs typeface="Calibri (MS)"/>
                          <a:sym typeface="Calibri (MS)"/>
                        </a:rPr>
                        <a:t>Debe concluir tras un número finito de pasos; no puede ejecutarse indefinidamente.</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879"/>
                        </a:lnSpc>
                        <a:defRPr/>
                      </a:pPr>
                      <a:r>
                        <a:rPr lang="en-US" sz="2399">
                          <a:solidFill>
                            <a:srgbClr val="B0B8CC"/>
                          </a:solidFill>
                          <a:latin typeface="Calibri (MS)"/>
                          <a:ea typeface="Calibri (MS)"/>
                          <a:cs typeface="Calibri (MS)"/>
                          <a:sym typeface="Calibri (MS)"/>
                        </a:rPr>
                        <a:t>Bucle infinito; el sistema se bloquea y no entrega resultado.</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extLst>
                  <a:ext uri="{0D108BD9-81ED-4DB2-BD59-A6C34878D82A}">
                    <a16:rowId xmlns:a16="http://schemas.microsoft.com/office/drawing/2014/main" val="10003"/>
                  </a:ext>
                </a:extLst>
              </a:tr>
              <a:tr h="1219200">
                <a:tc>
                  <a:txBody>
                    <a:bodyPr/>
                    <a:lstStyle/>
                    <a:p>
                      <a:pPr algn="l">
                        <a:lnSpc>
                          <a:spcPts val="2520"/>
                        </a:lnSpc>
                        <a:defRPr/>
                      </a:pPr>
                      <a:r>
                        <a:rPr lang="en-US" sz="2100" b="1">
                          <a:solidFill>
                            <a:srgbClr val="E8A87C"/>
                          </a:solidFill>
                          <a:latin typeface="Calibri (MS) Bold"/>
                          <a:ea typeface="Calibri (MS) Bold"/>
                          <a:cs typeface="Calibri (MS) Bold"/>
                          <a:sym typeface="Calibri (MS) Bold"/>
                        </a:rPr>
                        <a:t>Efectividad</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tc>
                  <a:txBody>
                    <a:bodyPr/>
                    <a:lstStyle/>
                    <a:p>
                      <a:pPr algn="l">
                        <a:lnSpc>
                          <a:spcPts val="3119"/>
                        </a:lnSpc>
                        <a:defRPr/>
                      </a:pPr>
                      <a:r>
                        <a:rPr lang="en-US" sz="2599">
                          <a:solidFill>
                            <a:srgbClr val="FFFFFF"/>
                          </a:solidFill>
                          <a:latin typeface="Calibri (MS)"/>
                          <a:ea typeface="Calibri (MS)"/>
                          <a:cs typeface="Calibri (MS)"/>
                          <a:sym typeface="Calibri (MS)"/>
                        </a:rPr>
                        <a:t>Cada operación debe ser ejecutable en tiempo finito con los recursos disponibles.</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tc>
                  <a:txBody>
                    <a:bodyPr/>
                    <a:lstStyle/>
                    <a:p>
                      <a:pPr algn="l">
                        <a:lnSpc>
                          <a:spcPts val="2879"/>
                        </a:lnSpc>
                        <a:defRPr/>
                      </a:pPr>
                      <a:r>
                        <a:rPr lang="en-US" sz="2399">
                          <a:solidFill>
                            <a:srgbClr val="B0B8CC"/>
                          </a:solidFill>
                          <a:latin typeface="Calibri (MS)"/>
                          <a:ea typeface="Calibri (MS)"/>
                          <a:cs typeface="Calibri (MS)"/>
                          <a:sym typeface="Calibri (MS)"/>
                        </a:rPr>
                        <a:t>Pasos teóricamente correctos pero computacionalmente imposibles.</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extLst>
                  <a:ext uri="{0D108BD9-81ED-4DB2-BD59-A6C34878D82A}">
                    <a16:rowId xmlns:a16="http://schemas.microsoft.com/office/drawing/2014/main" val="10004"/>
                  </a:ext>
                </a:extLst>
              </a:tr>
              <a:tr h="1219200">
                <a:tc>
                  <a:txBody>
                    <a:bodyPr/>
                    <a:lstStyle/>
                    <a:p>
                      <a:pPr algn="l">
                        <a:lnSpc>
                          <a:spcPts val="2520"/>
                        </a:lnSpc>
                        <a:defRPr/>
                      </a:pPr>
                      <a:r>
                        <a:rPr lang="en-US" sz="2100" b="1">
                          <a:solidFill>
                            <a:srgbClr val="5EC6E8"/>
                          </a:solidFill>
                          <a:latin typeface="Calibri (MS) Bold"/>
                          <a:ea typeface="Calibri (MS) Bold"/>
                          <a:cs typeface="Calibri (MS) Bold"/>
                          <a:sym typeface="Calibri (MS) Bold"/>
                        </a:rPr>
                        <a:t>Entrada / Salida</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3119"/>
                        </a:lnSpc>
                        <a:defRPr/>
                      </a:pPr>
                      <a:r>
                        <a:rPr lang="en-US" sz="2599">
                          <a:solidFill>
                            <a:srgbClr val="FFFFFF"/>
                          </a:solidFill>
                          <a:latin typeface="Calibri (MS)"/>
                          <a:ea typeface="Calibri (MS)"/>
                          <a:cs typeface="Calibri (MS)"/>
                          <a:sym typeface="Calibri (MS)"/>
                        </a:rPr>
                        <a:t>Recibe cero o más entradas y produce al menos una salida.</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879"/>
                        </a:lnSpc>
                        <a:defRPr/>
                      </a:pPr>
                      <a:r>
                        <a:rPr lang="en-US" sz="2399">
                          <a:solidFill>
                            <a:srgbClr val="B0B8CC"/>
                          </a:solidFill>
                          <a:latin typeface="Calibri (MS)"/>
                          <a:ea typeface="Calibri (MS)"/>
                          <a:cs typeface="Calibri (MS)"/>
                          <a:sym typeface="Calibri (MS)"/>
                        </a:rPr>
                        <a:t>Sin salida, el algoritmo no aporta utilidad observable.</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2235"/>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16891" y="16891"/>
              <a:ext cx="24383999" cy="1755648"/>
            </a:xfrm>
            <a:custGeom>
              <a:avLst/>
              <a:gdLst/>
              <a:ahLst/>
              <a:cxnLst/>
              <a:rect l="l" t="t" r="r" b="b"/>
              <a:pathLst>
                <a:path w="24383999" h="1755648">
                  <a:moveTo>
                    <a:pt x="0" y="0"/>
                  </a:moveTo>
                  <a:lnTo>
                    <a:pt x="24383999" y="0"/>
                  </a:lnTo>
                  <a:lnTo>
                    <a:pt x="24383999" y="1755648"/>
                  </a:lnTo>
                  <a:lnTo>
                    <a:pt x="0" y="1755648"/>
                  </a:lnTo>
                  <a:close/>
                </a:path>
              </a:pathLst>
            </a:custGeom>
            <a:solidFill>
              <a:srgbClr val="161929"/>
            </a:solidFill>
          </p:spPr>
          <p:txBody>
            <a:bodyPr/>
            <a:lstStyle/>
            <a:p>
              <a:endParaRPr lang="es-GT"/>
            </a:p>
          </p:txBody>
        </p:sp>
        <p:sp>
          <p:nvSpPr>
            <p:cNvPr id="4" name="Freeform 4"/>
            <p:cNvSpPr/>
            <p:nvPr/>
          </p:nvSpPr>
          <p:spPr>
            <a:xfrm>
              <a:off x="0" y="0"/>
              <a:ext cx="24417782" cy="1789430"/>
            </a:xfrm>
            <a:custGeom>
              <a:avLst/>
              <a:gdLst/>
              <a:ahLst/>
              <a:cxnLst/>
              <a:rect l="l" t="t" r="r" b="b"/>
              <a:pathLst>
                <a:path w="24417782" h="1789430">
                  <a:moveTo>
                    <a:pt x="16891" y="0"/>
                  </a:moveTo>
                  <a:lnTo>
                    <a:pt x="24400890" y="0"/>
                  </a:lnTo>
                  <a:cubicBezTo>
                    <a:pt x="24410290" y="0"/>
                    <a:pt x="24417782" y="7620"/>
                    <a:pt x="24417782" y="16891"/>
                  </a:cubicBezTo>
                  <a:lnTo>
                    <a:pt x="24417782" y="1772539"/>
                  </a:lnTo>
                  <a:cubicBezTo>
                    <a:pt x="24417782" y="1781937"/>
                    <a:pt x="24410163" y="1789430"/>
                    <a:pt x="24400890"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24400890" y="1755648"/>
                  </a:lnTo>
                  <a:lnTo>
                    <a:pt x="24400890" y="1772539"/>
                  </a:lnTo>
                  <a:lnTo>
                    <a:pt x="24384000" y="1772539"/>
                  </a:lnTo>
                  <a:lnTo>
                    <a:pt x="24384000" y="16891"/>
                  </a:lnTo>
                  <a:lnTo>
                    <a:pt x="24400890" y="16891"/>
                  </a:lnTo>
                  <a:lnTo>
                    <a:pt x="24400890" y="33909"/>
                  </a:lnTo>
                  <a:lnTo>
                    <a:pt x="16891" y="33909"/>
                  </a:lnTo>
                  <a:close/>
                </a:path>
              </a:pathLst>
            </a:custGeom>
            <a:solidFill>
              <a:srgbClr val="161929"/>
            </a:solidFill>
          </p:spPr>
          <p:txBody>
            <a:bodyPr/>
            <a:lstStyle/>
            <a:p>
              <a:endParaRPr lang="es-GT"/>
            </a:p>
          </p:txBody>
        </p:sp>
      </p:grpSp>
      <p:grpSp>
        <p:nvGrpSpPr>
          <p:cNvPr id="5" name="Group 5"/>
          <p:cNvGrpSpPr/>
          <p:nvPr/>
        </p:nvGrpSpPr>
        <p:grpSpPr>
          <a:xfrm>
            <a:off x="-12697" y="1304039"/>
            <a:ext cx="18313403" cy="98555"/>
            <a:chOff x="0" y="0"/>
            <a:chExt cx="24417871" cy="131407"/>
          </a:xfrm>
        </p:grpSpPr>
        <p:sp>
          <p:nvSpPr>
            <p:cNvPr id="6" name="Freeform 6"/>
            <p:cNvSpPr/>
            <p:nvPr/>
          </p:nvSpPr>
          <p:spPr>
            <a:xfrm>
              <a:off x="16891" y="16891"/>
              <a:ext cx="24383999" cy="97536"/>
            </a:xfrm>
            <a:custGeom>
              <a:avLst/>
              <a:gdLst/>
              <a:ahLst/>
              <a:cxnLst/>
              <a:rect l="l" t="t" r="r" b="b"/>
              <a:pathLst>
                <a:path w="24383999" h="97536">
                  <a:moveTo>
                    <a:pt x="0" y="0"/>
                  </a:moveTo>
                  <a:lnTo>
                    <a:pt x="24383999" y="0"/>
                  </a:lnTo>
                  <a:lnTo>
                    <a:pt x="24383999" y="97536"/>
                  </a:lnTo>
                  <a:lnTo>
                    <a:pt x="0" y="97536"/>
                  </a:lnTo>
                  <a:close/>
                </a:path>
              </a:pathLst>
            </a:custGeom>
            <a:solidFill>
              <a:srgbClr val="5B8CFF"/>
            </a:solidFill>
          </p:spPr>
          <p:txBody>
            <a:bodyPr/>
            <a:lstStyle/>
            <a:p>
              <a:endParaRPr lang="es-GT"/>
            </a:p>
          </p:txBody>
        </p:sp>
        <p:sp>
          <p:nvSpPr>
            <p:cNvPr id="7" name="Freeform 7"/>
            <p:cNvSpPr/>
            <p:nvPr/>
          </p:nvSpPr>
          <p:spPr>
            <a:xfrm>
              <a:off x="0" y="0"/>
              <a:ext cx="24417782" cy="131320"/>
            </a:xfrm>
            <a:custGeom>
              <a:avLst/>
              <a:gdLst/>
              <a:ahLst/>
              <a:cxnLst/>
              <a:rect l="l" t="t" r="r" b="b"/>
              <a:pathLst>
                <a:path w="24417782" h="131320">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5B8CFF"/>
            </a:solidFill>
          </p:spPr>
          <p:txBody>
            <a:bodyPr/>
            <a:lstStyle/>
            <a:p>
              <a:endParaRPr lang="es-GT"/>
            </a:p>
          </p:txBody>
        </p:sp>
      </p:grpSp>
      <p:grpSp>
        <p:nvGrpSpPr>
          <p:cNvPr id="8" name="Group 8"/>
          <p:cNvGrpSpPr/>
          <p:nvPr/>
        </p:nvGrpSpPr>
        <p:grpSpPr>
          <a:xfrm>
            <a:off x="822960" y="0"/>
            <a:ext cx="16642080" cy="1316736"/>
            <a:chOff x="0" y="0"/>
            <a:chExt cx="22189440" cy="1755648"/>
          </a:xfrm>
        </p:grpSpPr>
        <p:sp>
          <p:nvSpPr>
            <p:cNvPr id="9" name="Freeform 9"/>
            <p:cNvSpPr/>
            <p:nvPr/>
          </p:nvSpPr>
          <p:spPr>
            <a:xfrm>
              <a:off x="0" y="0"/>
              <a:ext cx="22189439" cy="1755648"/>
            </a:xfrm>
            <a:custGeom>
              <a:avLst/>
              <a:gdLst/>
              <a:ahLst/>
              <a:cxnLst/>
              <a:rect l="l" t="t" r="r" b="b"/>
              <a:pathLst>
                <a:path w="22189439" h="1755648">
                  <a:moveTo>
                    <a:pt x="0" y="0"/>
                  </a:moveTo>
                  <a:lnTo>
                    <a:pt x="22189439" y="0"/>
                  </a:lnTo>
                  <a:lnTo>
                    <a:pt x="22189439" y="1755648"/>
                  </a:lnTo>
                  <a:lnTo>
                    <a:pt x="0" y="1755648"/>
                  </a:lnTo>
                  <a:close/>
                </a:path>
              </a:pathLst>
            </a:custGeom>
            <a:blipFill>
              <a:blip r:embed="rId3">
                <a:alphaModFix amt="0"/>
              </a:blip>
              <a:stretch>
                <a:fillRect t="-196269" b="-196269"/>
              </a:stretch>
            </a:blipFill>
          </p:spPr>
          <p:txBody>
            <a:bodyPr/>
            <a:lstStyle/>
            <a:p>
              <a:endParaRPr lang="es-GT"/>
            </a:p>
          </p:txBody>
        </p:sp>
        <p:sp>
          <p:nvSpPr>
            <p:cNvPr id="10" name="TextBox 10"/>
            <p:cNvSpPr txBox="1"/>
            <p:nvPr/>
          </p:nvSpPr>
          <p:spPr>
            <a:xfrm>
              <a:off x="0" y="-76200"/>
              <a:ext cx="22189440" cy="1831848"/>
            </a:xfrm>
            <a:prstGeom prst="rect">
              <a:avLst/>
            </a:prstGeom>
          </p:spPr>
          <p:txBody>
            <a:bodyPr lIns="0" tIns="0" rIns="0" bIns="0" rtlCol="0" anchor="ctr"/>
            <a:lstStyle/>
            <a:p>
              <a:pPr algn="l">
                <a:lnSpc>
                  <a:spcPts val="5280"/>
                </a:lnSpc>
              </a:pPr>
              <a:r>
                <a:rPr lang="en-US" sz="4400" b="1">
                  <a:solidFill>
                    <a:srgbClr val="FFFFFF"/>
                  </a:solidFill>
                  <a:latin typeface="Calibri (MS) Bold"/>
                  <a:ea typeface="Calibri (MS) Bold"/>
                  <a:cs typeface="Calibri (MS) Bold"/>
                  <a:sym typeface="Calibri (MS) Bold"/>
                </a:rPr>
                <a:t>Niveles de representación de algoritmos</a:t>
              </a:r>
            </a:p>
          </p:txBody>
        </p:sp>
      </p:grpSp>
      <p:grpSp>
        <p:nvGrpSpPr>
          <p:cNvPr id="11" name="Group 11"/>
          <p:cNvGrpSpPr/>
          <p:nvPr/>
        </p:nvGrpSpPr>
        <p:grpSpPr>
          <a:xfrm>
            <a:off x="-12697" y="9954263"/>
            <a:ext cx="18313403" cy="345443"/>
            <a:chOff x="0" y="0"/>
            <a:chExt cx="24417871" cy="460591"/>
          </a:xfrm>
        </p:grpSpPr>
        <p:sp>
          <p:nvSpPr>
            <p:cNvPr id="12" name="Freeform 12"/>
            <p:cNvSpPr/>
            <p:nvPr/>
          </p:nvSpPr>
          <p:spPr>
            <a:xfrm>
              <a:off x="16891" y="16891"/>
              <a:ext cx="24383999" cy="426720"/>
            </a:xfrm>
            <a:custGeom>
              <a:avLst/>
              <a:gdLst/>
              <a:ahLst/>
              <a:cxnLst/>
              <a:rect l="l" t="t" r="r" b="b"/>
              <a:pathLst>
                <a:path w="24383999" h="426720">
                  <a:moveTo>
                    <a:pt x="0" y="0"/>
                  </a:moveTo>
                  <a:lnTo>
                    <a:pt x="24383999" y="0"/>
                  </a:lnTo>
                  <a:lnTo>
                    <a:pt x="24383999" y="426720"/>
                  </a:lnTo>
                  <a:lnTo>
                    <a:pt x="0" y="426720"/>
                  </a:lnTo>
                  <a:close/>
                </a:path>
              </a:pathLst>
            </a:custGeom>
            <a:solidFill>
              <a:srgbClr val="12152A"/>
            </a:solidFill>
          </p:spPr>
          <p:txBody>
            <a:bodyPr/>
            <a:lstStyle/>
            <a:p>
              <a:endParaRPr lang="es-GT"/>
            </a:p>
          </p:txBody>
        </p:sp>
        <p:sp>
          <p:nvSpPr>
            <p:cNvPr id="13" name="Freeform 13"/>
            <p:cNvSpPr/>
            <p:nvPr/>
          </p:nvSpPr>
          <p:spPr>
            <a:xfrm>
              <a:off x="0" y="0"/>
              <a:ext cx="24417782" cy="460504"/>
            </a:xfrm>
            <a:custGeom>
              <a:avLst/>
              <a:gdLst/>
              <a:ahLst/>
              <a:cxnLst/>
              <a:rect l="l" t="t" r="r" b="b"/>
              <a:pathLst>
                <a:path w="24417782" h="460504">
                  <a:moveTo>
                    <a:pt x="16891" y="0"/>
                  </a:moveTo>
                  <a:lnTo>
                    <a:pt x="24400890" y="0"/>
                  </a:lnTo>
                  <a:cubicBezTo>
                    <a:pt x="24410290" y="0"/>
                    <a:pt x="24417782" y="7620"/>
                    <a:pt x="24417782" y="16891"/>
                  </a:cubicBezTo>
                  <a:lnTo>
                    <a:pt x="24417782" y="443611"/>
                  </a:lnTo>
                  <a:cubicBezTo>
                    <a:pt x="24417782" y="453009"/>
                    <a:pt x="24410163" y="460502"/>
                    <a:pt x="24400890" y="460502"/>
                  </a:cubicBezTo>
                  <a:lnTo>
                    <a:pt x="16891" y="460502"/>
                  </a:lnTo>
                  <a:cubicBezTo>
                    <a:pt x="7620" y="460629"/>
                    <a:pt x="0" y="453009"/>
                    <a:pt x="0" y="443611"/>
                  </a:cubicBezTo>
                  <a:lnTo>
                    <a:pt x="0" y="16891"/>
                  </a:lnTo>
                  <a:cubicBezTo>
                    <a:pt x="0" y="7620"/>
                    <a:pt x="7620" y="0"/>
                    <a:pt x="16891" y="0"/>
                  </a:cubicBezTo>
                  <a:moveTo>
                    <a:pt x="16891" y="33909"/>
                  </a:moveTo>
                  <a:lnTo>
                    <a:pt x="16891" y="16891"/>
                  </a:lnTo>
                  <a:lnTo>
                    <a:pt x="33909" y="16891"/>
                  </a:lnTo>
                  <a:lnTo>
                    <a:pt x="33909" y="443611"/>
                  </a:lnTo>
                  <a:lnTo>
                    <a:pt x="16891" y="443611"/>
                  </a:lnTo>
                  <a:lnTo>
                    <a:pt x="16891" y="426720"/>
                  </a:lnTo>
                  <a:lnTo>
                    <a:pt x="24400890" y="426720"/>
                  </a:lnTo>
                  <a:lnTo>
                    <a:pt x="24400890" y="443611"/>
                  </a:lnTo>
                  <a:lnTo>
                    <a:pt x="24384000" y="443611"/>
                  </a:lnTo>
                  <a:lnTo>
                    <a:pt x="24384000" y="16891"/>
                  </a:lnTo>
                  <a:lnTo>
                    <a:pt x="24400890" y="16891"/>
                  </a:lnTo>
                  <a:lnTo>
                    <a:pt x="24400890" y="33909"/>
                  </a:lnTo>
                  <a:lnTo>
                    <a:pt x="16891" y="33909"/>
                  </a:lnTo>
                  <a:close/>
                </a:path>
              </a:pathLst>
            </a:custGeom>
            <a:solidFill>
              <a:srgbClr val="12152A"/>
            </a:solidFill>
          </p:spPr>
          <p:txBody>
            <a:bodyPr/>
            <a:lstStyle/>
            <a:p>
              <a:endParaRPr lang="es-GT"/>
            </a:p>
          </p:txBody>
        </p:sp>
      </p:grpSp>
      <p:grpSp>
        <p:nvGrpSpPr>
          <p:cNvPr id="14" name="Group 14"/>
          <p:cNvGrpSpPr/>
          <p:nvPr/>
        </p:nvGrpSpPr>
        <p:grpSpPr>
          <a:xfrm>
            <a:off x="17007840" y="9966960"/>
            <a:ext cx="914400" cy="320040"/>
            <a:chOff x="0" y="0"/>
            <a:chExt cx="1219200" cy="426720"/>
          </a:xfrm>
        </p:grpSpPr>
        <p:sp>
          <p:nvSpPr>
            <p:cNvPr id="15" name="Freeform 15"/>
            <p:cNvSpPr/>
            <p:nvPr/>
          </p:nvSpPr>
          <p:spPr>
            <a:xfrm>
              <a:off x="0" y="0"/>
              <a:ext cx="1219200" cy="426720"/>
            </a:xfrm>
            <a:custGeom>
              <a:avLst/>
              <a:gdLst/>
              <a:ahLst/>
              <a:cxnLst/>
              <a:rect l="l" t="t" r="r" b="b"/>
              <a:pathLst>
                <a:path w="1219200" h="426720">
                  <a:moveTo>
                    <a:pt x="0" y="0"/>
                  </a:moveTo>
                  <a:lnTo>
                    <a:pt x="1219200" y="0"/>
                  </a:lnTo>
                  <a:lnTo>
                    <a:pt x="1219200" y="426720"/>
                  </a:lnTo>
                  <a:lnTo>
                    <a:pt x="0" y="426720"/>
                  </a:lnTo>
                  <a:close/>
                </a:path>
              </a:pathLst>
            </a:custGeom>
            <a:blipFill>
              <a:blip r:embed="rId3">
                <a:alphaModFix amt="0"/>
              </a:blip>
              <a:stretch>
                <a:fillRect t="-5671" b="-5671"/>
              </a:stretch>
            </a:blipFill>
          </p:spPr>
          <p:txBody>
            <a:bodyPr/>
            <a:lstStyle/>
            <a:p>
              <a:endParaRPr lang="es-GT"/>
            </a:p>
          </p:txBody>
        </p:sp>
        <p:sp>
          <p:nvSpPr>
            <p:cNvPr id="16" name="TextBox 16"/>
            <p:cNvSpPr txBox="1"/>
            <p:nvPr/>
          </p:nvSpPr>
          <p:spPr>
            <a:xfrm>
              <a:off x="0" y="-38100"/>
              <a:ext cx="1219200" cy="464820"/>
            </a:xfrm>
            <a:prstGeom prst="rect">
              <a:avLst/>
            </a:prstGeom>
          </p:spPr>
          <p:txBody>
            <a:bodyPr lIns="0" tIns="0" rIns="0" bIns="0" rtlCol="0" anchor="ctr"/>
            <a:lstStyle/>
            <a:p>
              <a:pPr algn="r">
                <a:lnSpc>
                  <a:spcPts val="1800"/>
                </a:lnSpc>
              </a:pPr>
              <a:r>
                <a:rPr lang="en-US" sz="1500">
                  <a:solidFill>
                    <a:srgbClr val="6E7A9F"/>
                  </a:solidFill>
                  <a:latin typeface="Calibri (MS)"/>
                  <a:ea typeface="Calibri (MS)"/>
                  <a:cs typeface="Calibri (MS)"/>
                  <a:sym typeface="Calibri (MS)"/>
                </a:rPr>
                <a:t>10</a:t>
              </a:r>
            </a:p>
          </p:txBody>
        </p:sp>
      </p:grpSp>
      <p:grpSp>
        <p:nvGrpSpPr>
          <p:cNvPr id="17" name="Group 17"/>
          <p:cNvGrpSpPr/>
          <p:nvPr/>
        </p:nvGrpSpPr>
        <p:grpSpPr>
          <a:xfrm>
            <a:off x="731520" y="1554480"/>
            <a:ext cx="16824960" cy="822960"/>
            <a:chOff x="0" y="0"/>
            <a:chExt cx="22433280" cy="1097280"/>
          </a:xfrm>
        </p:grpSpPr>
        <p:sp>
          <p:nvSpPr>
            <p:cNvPr id="18" name="Freeform 18"/>
            <p:cNvSpPr/>
            <p:nvPr/>
          </p:nvSpPr>
          <p:spPr>
            <a:xfrm>
              <a:off x="0" y="0"/>
              <a:ext cx="22433280" cy="1097280"/>
            </a:xfrm>
            <a:custGeom>
              <a:avLst/>
              <a:gdLst/>
              <a:ahLst/>
              <a:cxnLst/>
              <a:rect l="l" t="t" r="r" b="b"/>
              <a:pathLst>
                <a:path w="22433280" h="1097280">
                  <a:moveTo>
                    <a:pt x="0" y="0"/>
                  </a:moveTo>
                  <a:lnTo>
                    <a:pt x="22433280" y="0"/>
                  </a:lnTo>
                  <a:lnTo>
                    <a:pt x="22433280" y="1097280"/>
                  </a:lnTo>
                  <a:lnTo>
                    <a:pt x="0" y="1097280"/>
                  </a:lnTo>
                  <a:close/>
                </a:path>
              </a:pathLst>
            </a:custGeom>
            <a:blipFill>
              <a:blip r:embed="rId3">
                <a:alphaModFix amt="0"/>
              </a:blip>
              <a:stretch>
                <a:fillRect t="-348360" b="-348360"/>
              </a:stretch>
            </a:blipFill>
          </p:spPr>
          <p:txBody>
            <a:bodyPr/>
            <a:lstStyle/>
            <a:p>
              <a:endParaRPr lang="es-GT"/>
            </a:p>
          </p:txBody>
        </p:sp>
        <p:sp>
          <p:nvSpPr>
            <p:cNvPr id="19" name="TextBox 19"/>
            <p:cNvSpPr txBox="1"/>
            <p:nvPr/>
          </p:nvSpPr>
          <p:spPr>
            <a:xfrm>
              <a:off x="0" y="-47625"/>
              <a:ext cx="22433280" cy="1144905"/>
            </a:xfrm>
            <a:prstGeom prst="rect">
              <a:avLst/>
            </a:prstGeom>
          </p:spPr>
          <p:txBody>
            <a:bodyPr lIns="0" tIns="0" rIns="0" bIns="0" rtlCol="0" anchor="ctr"/>
            <a:lstStyle/>
            <a:p>
              <a:pPr algn="l">
                <a:lnSpc>
                  <a:spcPts val="2640"/>
                </a:lnSpc>
              </a:pPr>
              <a:r>
                <a:rPr lang="en-US" sz="2200">
                  <a:solidFill>
                    <a:srgbClr val="B0B8CC"/>
                  </a:solidFill>
                  <a:latin typeface="Calibri (MS)"/>
                  <a:ea typeface="Calibri (MS)"/>
                  <a:cs typeface="Calibri (MS)"/>
                  <a:sym typeface="Calibri (MS)"/>
                </a:rPr>
                <a:t>Un mismo algoritmo puede expresarse en tres niveles de abstracción, desde el más informal al más cercano a la implementación:</a:t>
              </a:r>
            </a:p>
          </p:txBody>
        </p:sp>
      </p:grpSp>
      <p:grpSp>
        <p:nvGrpSpPr>
          <p:cNvPr id="20" name="Group 20"/>
          <p:cNvGrpSpPr/>
          <p:nvPr/>
        </p:nvGrpSpPr>
        <p:grpSpPr>
          <a:xfrm>
            <a:off x="627383" y="2511047"/>
            <a:ext cx="5420363" cy="7157723"/>
            <a:chOff x="0" y="0"/>
            <a:chExt cx="7227151" cy="9543631"/>
          </a:xfrm>
        </p:grpSpPr>
        <p:sp>
          <p:nvSpPr>
            <p:cNvPr id="21" name="Freeform 21"/>
            <p:cNvSpPr/>
            <p:nvPr/>
          </p:nvSpPr>
          <p:spPr>
            <a:xfrm>
              <a:off x="16891" y="16891"/>
              <a:ext cx="7193281" cy="9509760"/>
            </a:xfrm>
            <a:custGeom>
              <a:avLst/>
              <a:gdLst/>
              <a:ahLst/>
              <a:cxnLst/>
              <a:rect l="l" t="t" r="r" b="b"/>
              <a:pathLst>
                <a:path w="7193281" h="9509760">
                  <a:moveTo>
                    <a:pt x="0" y="0"/>
                  </a:moveTo>
                  <a:lnTo>
                    <a:pt x="7193281" y="0"/>
                  </a:lnTo>
                  <a:lnTo>
                    <a:pt x="7193281" y="9509760"/>
                  </a:lnTo>
                  <a:lnTo>
                    <a:pt x="0" y="9509760"/>
                  </a:lnTo>
                  <a:close/>
                </a:path>
              </a:pathLst>
            </a:custGeom>
            <a:solidFill>
              <a:srgbClr val="252B42"/>
            </a:solidFill>
          </p:spPr>
          <p:txBody>
            <a:bodyPr/>
            <a:lstStyle/>
            <a:p>
              <a:endParaRPr lang="es-GT"/>
            </a:p>
          </p:txBody>
        </p:sp>
        <p:sp>
          <p:nvSpPr>
            <p:cNvPr id="22" name="Freeform 22"/>
            <p:cNvSpPr/>
            <p:nvPr/>
          </p:nvSpPr>
          <p:spPr>
            <a:xfrm>
              <a:off x="0" y="0"/>
              <a:ext cx="7227062" cy="9543542"/>
            </a:xfrm>
            <a:custGeom>
              <a:avLst/>
              <a:gdLst/>
              <a:ahLst/>
              <a:cxnLst/>
              <a:rect l="l" t="t" r="r" b="b"/>
              <a:pathLst>
                <a:path w="7227062" h="9543542">
                  <a:moveTo>
                    <a:pt x="16891" y="0"/>
                  </a:moveTo>
                  <a:lnTo>
                    <a:pt x="7210172" y="0"/>
                  </a:lnTo>
                  <a:cubicBezTo>
                    <a:pt x="7219569" y="0"/>
                    <a:pt x="7227062" y="7620"/>
                    <a:pt x="7227062" y="16891"/>
                  </a:cubicBezTo>
                  <a:lnTo>
                    <a:pt x="7227062" y="9526651"/>
                  </a:lnTo>
                  <a:cubicBezTo>
                    <a:pt x="7227062" y="9536049"/>
                    <a:pt x="7219442" y="9543542"/>
                    <a:pt x="7210172" y="9543542"/>
                  </a:cubicBezTo>
                  <a:lnTo>
                    <a:pt x="16891" y="9543542"/>
                  </a:lnTo>
                  <a:cubicBezTo>
                    <a:pt x="7493" y="9543542"/>
                    <a:pt x="0" y="9535922"/>
                    <a:pt x="0" y="9526651"/>
                  </a:cubicBezTo>
                  <a:lnTo>
                    <a:pt x="0" y="16891"/>
                  </a:lnTo>
                  <a:cubicBezTo>
                    <a:pt x="0" y="7620"/>
                    <a:pt x="7620" y="0"/>
                    <a:pt x="16891" y="0"/>
                  </a:cubicBezTo>
                  <a:moveTo>
                    <a:pt x="16891" y="33909"/>
                  </a:moveTo>
                  <a:lnTo>
                    <a:pt x="16891" y="16891"/>
                  </a:lnTo>
                  <a:lnTo>
                    <a:pt x="33909" y="16891"/>
                  </a:lnTo>
                  <a:lnTo>
                    <a:pt x="33909" y="9526651"/>
                  </a:lnTo>
                  <a:lnTo>
                    <a:pt x="16891" y="9526651"/>
                  </a:lnTo>
                  <a:lnTo>
                    <a:pt x="16891" y="9509760"/>
                  </a:lnTo>
                  <a:lnTo>
                    <a:pt x="7210172" y="9509760"/>
                  </a:lnTo>
                  <a:lnTo>
                    <a:pt x="7210172" y="9526651"/>
                  </a:lnTo>
                  <a:lnTo>
                    <a:pt x="7193280" y="9526651"/>
                  </a:lnTo>
                  <a:lnTo>
                    <a:pt x="7193280" y="16891"/>
                  </a:lnTo>
                  <a:lnTo>
                    <a:pt x="7210172" y="16891"/>
                  </a:lnTo>
                  <a:lnTo>
                    <a:pt x="7210172" y="33909"/>
                  </a:lnTo>
                  <a:lnTo>
                    <a:pt x="16891" y="33909"/>
                  </a:lnTo>
                  <a:close/>
                </a:path>
              </a:pathLst>
            </a:custGeom>
            <a:solidFill>
              <a:srgbClr val="5B8CFF"/>
            </a:solidFill>
          </p:spPr>
          <p:txBody>
            <a:bodyPr/>
            <a:lstStyle/>
            <a:p>
              <a:endParaRPr lang="es-GT"/>
            </a:p>
          </p:txBody>
        </p:sp>
      </p:grpSp>
      <p:grpSp>
        <p:nvGrpSpPr>
          <p:cNvPr id="23" name="Group 23"/>
          <p:cNvGrpSpPr/>
          <p:nvPr/>
        </p:nvGrpSpPr>
        <p:grpSpPr>
          <a:xfrm>
            <a:off x="627383" y="2511047"/>
            <a:ext cx="5420363" cy="171707"/>
            <a:chOff x="0" y="0"/>
            <a:chExt cx="7227151" cy="228943"/>
          </a:xfrm>
        </p:grpSpPr>
        <p:sp>
          <p:nvSpPr>
            <p:cNvPr id="24" name="Freeform 24"/>
            <p:cNvSpPr/>
            <p:nvPr/>
          </p:nvSpPr>
          <p:spPr>
            <a:xfrm>
              <a:off x="16891" y="16891"/>
              <a:ext cx="7193281" cy="195072"/>
            </a:xfrm>
            <a:custGeom>
              <a:avLst/>
              <a:gdLst/>
              <a:ahLst/>
              <a:cxnLst/>
              <a:rect l="l" t="t" r="r" b="b"/>
              <a:pathLst>
                <a:path w="7193281" h="195072">
                  <a:moveTo>
                    <a:pt x="0" y="0"/>
                  </a:moveTo>
                  <a:lnTo>
                    <a:pt x="7193281" y="0"/>
                  </a:lnTo>
                  <a:lnTo>
                    <a:pt x="7193281" y="195072"/>
                  </a:lnTo>
                  <a:lnTo>
                    <a:pt x="0" y="195072"/>
                  </a:lnTo>
                  <a:close/>
                </a:path>
              </a:pathLst>
            </a:custGeom>
            <a:solidFill>
              <a:srgbClr val="5B8CFF"/>
            </a:solidFill>
          </p:spPr>
          <p:txBody>
            <a:bodyPr/>
            <a:lstStyle/>
            <a:p>
              <a:endParaRPr lang="es-GT"/>
            </a:p>
          </p:txBody>
        </p:sp>
        <p:sp>
          <p:nvSpPr>
            <p:cNvPr id="25" name="Freeform 25"/>
            <p:cNvSpPr/>
            <p:nvPr/>
          </p:nvSpPr>
          <p:spPr>
            <a:xfrm>
              <a:off x="0" y="0"/>
              <a:ext cx="7227062" cy="228856"/>
            </a:xfrm>
            <a:custGeom>
              <a:avLst/>
              <a:gdLst/>
              <a:ahLst/>
              <a:cxnLst/>
              <a:rect l="l" t="t" r="r" b="b"/>
              <a:pathLst>
                <a:path w="7227062" h="228856">
                  <a:moveTo>
                    <a:pt x="16891" y="0"/>
                  </a:moveTo>
                  <a:lnTo>
                    <a:pt x="7210172" y="0"/>
                  </a:lnTo>
                  <a:cubicBezTo>
                    <a:pt x="7219569" y="0"/>
                    <a:pt x="7227062" y="7620"/>
                    <a:pt x="7227062" y="16891"/>
                  </a:cubicBezTo>
                  <a:lnTo>
                    <a:pt x="7227062" y="211963"/>
                  </a:lnTo>
                  <a:cubicBezTo>
                    <a:pt x="7227062" y="221361"/>
                    <a:pt x="7219442" y="228854"/>
                    <a:pt x="7210172"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7210172" y="195072"/>
                  </a:lnTo>
                  <a:lnTo>
                    <a:pt x="7210172" y="211963"/>
                  </a:lnTo>
                  <a:lnTo>
                    <a:pt x="7193280" y="211963"/>
                  </a:lnTo>
                  <a:lnTo>
                    <a:pt x="7193280" y="16891"/>
                  </a:lnTo>
                  <a:lnTo>
                    <a:pt x="7210172" y="16891"/>
                  </a:lnTo>
                  <a:lnTo>
                    <a:pt x="7210172" y="33909"/>
                  </a:lnTo>
                  <a:lnTo>
                    <a:pt x="16891" y="33909"/>
                  </a:lnTo>
                  <a:close/>
                </a:path>
              </a:pathLst>
            </a:custGeom>
            <a:solidFill>
              <a:srgbClr val="5B8CFF"/>
            </a:solidFill>
          </p:spPr>
          <p:txBody>
            <a:bodyPr/>
            <a:lstStyle/>
            <a:p>
              <a:endParaRPr lang="es-GT"/>
            </a:p>
          </p:txBody>
        </p:sp>
      </p:grpSp>
      <p:grpSp>
        <p:nvGrpSpPr>
          <p:cNvPr id="26" name="Group 26"/>
          <p:cNvGrpSpPr/>
          <p:nvPr/>
        </p:nvGrpSpPr>
        <p:grpSpPr>
          <a:xfrm>
            <a:off x="914400" y="2743200"/>
            <a:ext cx="4846320" cy="640080"/>
            <a:chOff x="0" y="0"/>
            <a:chExt cx="6461760" cy="853440"/>
          </a:xfrm>
        </p:grpSpPr>
        <p:sp>
          <p:nvSpPr>
            <p:cNvPr id="27" name="Freeform 27"/>
            <p:cNvSpPr/>
            <p:nvPr/>
          </p:nvSpPr>
          <p:spPr>
            <a:xfrm>
              <a:off x="0" y="0"/>
              <a:ext cx="6461760" cy="853440"/>
            </a:xfrm>
            <a:custGeom>
              <a:avLst/>
              <a:gdLst/>
              <a:ahLst/>
              <a:cxnLst/>
              <a:rect l="l" t="t" r="r" b="b"/>
              <a:pathLst>
                <a:path w="6461760" h="853440">
                  <a:moveTo>
                    <a:pt x="0" y="0"/>
                  </a:moveTo>
                  <a:lnTo>
                    <a:pt x="6461760" y="0"/>
                  </a:lnTo>
                  <a:lnTo>
                    <a:pt x="6461760" y="853440"/>
                  </a:lnTo>
                  <a:lnTo>
                    <a:pt x="0" y="853440"/>
                  </a:lnTo>
                  <a:close/>
                </a:path>
              </a:pathLst>
            </a:custGeom>
            <a:blipFill>
              <a:blip r:embed="rId3">
                <a:alphaModFix amt="0"/>
              </a:blip>
              <a:stretch>
                <a:fillRect t="-97529" b="-97529"/>
              </a:stretch>
            </a:blipFill>
          </p:spPr>
          <p:txBody>
            <a:bodyPr/>
            <a:lstStyle/>
            <a:p>
              <a:endParaRPr lang="es-GT"/>
            </a:p>
          </p:txBody>
        </p:sp>
        <p:sp>
          <p:nvSpPr>
            <p:cNvPr id="28" name="TextBox 28"/>
            <p:cNvSpPr txBox="1"/>
            <p:nvPr/>
          </p:nvSpPr>
          <p:spPr>
            <a:xfrm>
              <a:off x="0" y="-38100"/>
              <a:ext cx="6461760" cy="891540"/>
            </a:xfrm>
            <a:prstGeom prst="rect">
              <a:avLst/>
            </a:prstGeom>
          </p:spPr>
          <p:txBody>
            <a:bodyPr lIns="0" tIns="0" rIns="0" bIns="0" rtlCol="0" anchor="ctr"/>
            <a:lstStyle/>
            <a:p>
              <a:pPr algn="l">
                <a:lnSpc>
                  <a:spcPts val="2400"/>
                </a:lnSpc>
              </a:pPr>
              <a:r>
                <a:rPr lang="en-US" sz="2000" b="1">
                  <a:solidFill>
                    <a:srgbClr val="5B8CFF"/>
                  </a:solidFill>
                  <a:latin typeface="Calibri (MS) Bold"/>
                  <a:ea typeface="Calibri (MS) Bold"/>
                  <a:cs typeface="Calibri (MS) Bold"/>
                  <a:sym typeface="Calibri (MS) Bold"/>
                </a:rPr>
                <a:t>01  NIVEL NATURAL</a:t>
              </a:r>
            </a:p>
          </p:txBody>
        </p:sp>
      </p:grpSp>
      <p:grpSp>
        <p:nvGrpSpPr>
          <p:cNvPr id="29" name="Group 29"/>
          <p:cNvGrpSpPr/>
          <p:nvPr/>
        </p:nvGrpSpPr>
        <p:grpSpPr>
          <a:xfrm>
            <a:off x="914400" y="3438144"/>
            <a:ext cx="4846320" cy="557138"/>
            <a:chOff x="0" y="0"/>
            <a:chExt cx="6461760" cy="742850"/>
          </a:xfrm>
        </p:grpSpPr>
        <p:sp>
          <p:nvSpPr>
            <p:cNvPr id="30" name="Freeform 30"/>
            <p:cNvSpPr/>
            <p:nvPr/>
          </p:nvSpPr>
          <p:spPr>
            <a:xfrm>
              <a:off x="0" y="0"/>
              <a:ext cx="6461760" cy="742850"/>
            </a:xfrm>
            <a:custGeom>
              <a:avLst/>
              <a:gdLst/>
              <a:ahLst/>
              <a:cxnLst/>
              <a:rect l="l" t="t" r="r" b="b"/>
              <a:pathLst>
                <a:path w="6461760" h="742850">
                  <a:moveTo>
                    <a:pt x="0" y="0"/>
                  </a:moveTo>
                  <a:lnTo>
                    <a:pt x="6461760" y="0"/>
                  </a:lnTo>
                  <a:lnTo>
                    <a:pt x="6461760" y="742850"/>
                  </a:lnTo>
                  <a:lnTo>
                    <a:pt x="0" y="742850"/>
                  </a:lnTo>
                  <a:close/>
                </a:path>
              </a:pathLst>
            </a:custGeom>
            <a:blipFill>
              <a:blip r:embed="rId3">
                <a:alphaModFix amt="0"/>
              </a:blip>
              <a:stretch>
                <a:fillRect t="-120255" b="-118730"/>
              </a:stretch>
            </a:blipFill>
          </p:spPr>
          <p:txBody>
            <a:bodyPr/>
            <a:lstStyle/>
            <a:p>
              <a:endParaRPr lang="es-GT"/>
            </a:p>
          </p:txBody>
        </p:sp>
        <p:sp>
          <p:nvSpPr>
            <p:cNvPr id="31" name="TextBox 31"/>
            <p:cNvSpPr txBox="1"/>
            <p:nvPr/>
          </p:nvSpPr>
          <p:spPr>
            <a:xfrm>
              <a:off x="0" y="-66675"/>
              <a:ext cx="6461760" cy="809525"/>
            </a:xfrm>
            <a:prstGeom prst="rect">
              <a:avLst/>
            </a:prstGeom>
          </p:spPr>
          <p:txBody>
            <a:bodyPr lIns="0" tIns="0" rIns="0" bIns="0" rtlCol="0" anchor="ctr"/>
            <a:lstStyle/>
            <a:p>
              <a:pPr algn="l">
                <a:lnSpc>
                  <a:spcPts val="3359"/>
                </a:lnSpc>
              </a:pPr>
              <a:r>
                <a:rPr lang="en-US" sz="2799" b="1">
                  <a:solidFill>
                    <a:srgbClr val="FFFFFF"/>
                  </a:solidFill>
                  <a:latin typeface="Calibri (MS) Bold"/>
                  <a:ea typeface="Calibri (MS) Bold"/>
                  <a:cs typeface="Calibri (MS) Bold"/>
                  <a:sym typeface="Calibri (MS) Bold"/>
                </a:rPr>
                <a:t>Lenguaje cotidiano</a:t>
              </a:r>
            </a:p>
          </p:txBody>
        </p:sp>
      </p:grpSp>
      <p:grpSp>
        <p:nvGrpSpPr>
          <p:cNvPr id="32" name="Group 32"/>
          <p:cNvGrpSpPr/>
          <p:nvPr/>
        </p:nvGrpSpPr>
        <p:grpSpPr>
          <a:xfrm>
            <a:off x="901703" y="4047239"/>
            <a:ext cx="4871723" cy="61979"/>
            <a:chOff x="0" y="0"/>
            <a:chExt cx="6495631" cy="82639"/>
          </a:xfrm>
        </p:grpSpPr>
        <p:sp>
          <p:nvSpPr>
            <p:cNvPr id="33" name="Freeform 33"/>
            <p:cNvSpPr/>
            <p:nvPr/>
          </p:nvSpPr>
          <p:spPr>
            <a:xfrm>
              <a:off x="16891" y="16891"/>
              <a:ext cx="6461760" cy="48768"/>
            </a:xfrm>
            <a:custGeom>
              <a:avLst/>
              <a:gdLst/>
              <a:ahLst/>
              <a:cxnLst/>
              <a:rect l="l" t="t" r="r" b="b"/>
              <a:pathLst>
                <a:path w="6461760" h="48768">
                  <a:moveTo>
                    <a:pt x="0" y="0"/>
                  </a:moveTo>
                  <a:lnTo>
                    <a:pt x="6461760" y="0"/>
                  </a:lnTo>
                  <a:lnTo>
                    <a:pt x="6461760" y="48768"/>
                  </a:lnTo>
                  <a:lnTo>
                    <a:pt x="0" y="48768"/>
                  </a:lnTo>
                  <a:close/>
                </a:path>
              </a:pathLst>
            </a:custGeom>
            <a:solidFill>
              <a:srgbClr val="3A4160"/>
            </a:solidFill>
          </p:spPr>
          <p:txBody>
            <a:bodyPr/>
            <a:lstStyle/>
            <a:p>
              <a:endParaRPr lang="es-GT"/>
            </a:p>
          </p:txBody>
        </p:sp>
        <p:sp>
          <p:nvSpPr>
            <p:cNvPr id="34" name="Freeform 34"/>
            <p:cNvSpPr/>
            <p:nvPr/>
          </p:nvSpPr>
          <p:spPr>
            <a:xfrm>
              <a:off x="0" y="0"/>
              <a:ext cx="6495542" cy="82552"/>
            </a:xfrm>
            <a:custGeom>
              <a:avLst/>
              <a:gdLst/>
              <a:ahLst/>
              <a:cxnLst/>
              <a:rect l="l" t="t" r="r" b="b"/>
              <a:pathLst>
                <a:path w="6495542" h="82552">
                  <a:moveTo>
                    <a:pt x="16891" y="0"/>
                  </a:moveTo>
                  <a:lnTo>
                    <a:pt x="6478651" y="0"/>
                  </a:lnTo>
                  <a:cubicBezTo>
                    <a:pt x="6488049" y="0"/>
                    <a:pt x="6495542" y="7620"/>
                    <a:pt x="6495542" y="16891"/>
                  </a:cubicBezTo>
                  <a:lnTo>
                    <a:pt x="6495542" y="65659"/>
                  </a:lnTo>
                  <a:cubicBezTo>
                    <a:pt x="6495542" y="75057"/>
                    <a:pt x="6487922" y="82550"/>
                    <a:pt x="6478651" y="82550"/>
                  </a:cubicBezTo>
                  <a:lnTo>
                    <a:pt x="16891" y="82550"/>
                  </a:lnTo>
                  <a:cubicBezTo>
                    <a:pt x="7620" y="82677"/>
                    <a:pt x="0" y="75057"/>
                    <a:pt x="0" y="65659"/>
                  </a:cubicBezTo>
                  <a:lnTo>
                    <a:pt x="0" y="16891"/>
                  </a:lnTo>
                  <a:cubicBezTo>
                    <a:pt x="0" y="7620"/>
                    <a:pt x="7620" y="0"/>
                    <a:pt x="16891" y="0"/>
                  </a:cubicBezTo>
                  <a:moveTo>
                    <a:pt x="16891" y="33909"/>
                  </a:moveTo>
                  <a:lnTo>
                    <a:pt x="16891" y="16891"/>
                  </a:lnTo>
                  <a:lnTo>
                    <a:pt x="33909" y="16891"/>
                  </a:lnTo>
                  <a:lnTo>
                    <a:pt x="33909" y="65659"/>
                  </a:lnTo>
                  <a:lnTo>
                    <a:pt x="16891" y="65659"/>
                  </a:lnTo>
                  <a:lnTo>
                    <a:pt x="16891" y="48768"/>
                  </a:lnTo>
                  <a:lnTo>
                    <a:pt x="6478651" y="48768"/>
                  </a:lnTo>
                  <a:lnTo>
                    <a:pt x="6478651" y="65659"/>
                  </a:lnTo>
                  <a:lnTo>
                    <a:pt x="6461760" y="65659"/>
                  </a:lnTo>
                  <a:lnTo>
                    <a:pt x="6461760" y="16891"/>
                  </a:lnTo>
                  <a:lnTo>
                    <a:pt x="6478651" y="16891"/>
                  </a:lnTo>
                  <a:lnTo>
                    <a:pt x="6478651" y="33909"/>
                  </a:lnTo>
                  <a:lnTo>
                    <a:pt x="16891" y="33909"/>
                  </a:lnTo>
                  <a:close/>
                </a:path>
              </a:pathLst>
            </a:custGeom>
            <a:solidFill>
              <a:srgbClr val="3A4160"/>
            </a:solidFill>
          </p:spPr>
          <p:txBody>
            <a:bodyPr/>
            <a:lstStyle/>
            <a:p>
              <a:endParaRPr lang="es-GT"/>
            </a:p>
          </p:txBody>
        </p:sp>
      </p:grpSp>
      <p:sp>
        <p:nvSpPr>
          <p:cNvPr id="35" name="TextBox 35"/>
          <p:cNvSpPr txBox="1"/>
          <p:nvPr/>
        </p:nvSpPr>
        <p:spPr>
          <a:xfrm>
            <a:off x="1005840" y="4185285"/>
            <a:ext cx="4663440" cy="3838575"/>
          </a:xfrm>
          <a:prstGeom prst="rect">
            <a:avLst/>
          </a:prstGeom>
        </p:spPr>
        <p:txBody>
          <a:bodyPr lIns="0" tIns="0" rIns="0" bIns="0" rtlCol="0" anchor="t">
            <a:spAutoFit/>
          </a:bodyPr>
          <a:lstStyle/>
          <a:p>
            <a:pPr algn="l">
              <a:lnSpc>
                <a:spcPts val="3359"/>
              </a:lnSpc>
            </a:pPr>
            <a:r>
              <a:rPr lang="en-US" sz="2799">
                <a:solidFill>
                  <a:srgbClr val="B0B8CC"/>
                </a:solidFill>
                <a:latin typeface="Calibri (MS)"/>
                <a:ea typeface="Calibri (MS)"/>
                <a:cs typeface="Calibri (MS)"/>
                <a:sym typeface="Calibri (MS)"/>
              </a:rPr>
              <a:t>Se describe el proceso con frases en lenguaje común, sin notación formal. Accesible para cualquier persona sin formación técnica.</a:t>
            </a:r>
          </a:p>
          <a:p>
            <a:pPr algn="l">
              <a:lnSpc>
                <a:spcPts val="3359"/>
              </a:lnSpc>
            </a:pPr>
            <a:endParaRPr lang="en-US" sz="2799">
              <a:solidFill>
                <a:srgbClr val="B0B8CC"/>
              </a:solidFill>
              <a:latin typeface="Calibri (MS)"/>
              <a:ea typeface="Calibri (MS)"/>
              <a:cs typeface="Calibri (MS)"/>
              <a:sym typeface="Calibri (MS)"/>
            </a:endParaRPr>
          </a:p>
          <a:p>
            <a:pPr algn="l">
              <a:lnSpc>
                <a:spcPts val="3359"/>
              </a:lnSpc>
            </a:pPr>
            <a:r>
              <a:rPr lang="en-US" sz="2799">
                <a:solidFill>
                  <a:srgbClr val="B0B8CC"/>
                </a:solidFill>
                <a:latin typeface="Calibri (MS)"/>
                <a:ea typeface="Calibri (MS)"/>
                <a:cs typeface="Calibri (MS)"/>
                <a:sym typeface="Calibri (MS)"/>
              </a:rPr>
              <a:t>Ejemplo: "Leer dos números, compararlos y mostrar el mayor."</a:t>
            </a:r>
          </a:p>
        </p:txBody>
      </p:sp>
      <p:grpSp>
        <p:nvGrpSpPr>
          <p:cNvPr id="36" name="Group 36"/>
          <p:cNvGrpSpPr/>
          <p:nvPr/>
        </p:nvGrpSpPr>
        <p:grpSpPr>
          <a:xfrm>
            <a:off x="6296663" y="2511047"/>
            <a:ext cx="5420363" cy="7157723"/>
            <a:chOff x="0" y="0"/>
            <a:chExt cx="7227151" cy="9543631"/>
          </a:xfrm>
        </p:grpSpPr>
        <p:sp>
          <p:nvSpPr>
            <p:cNvPr id="37" name="Freeform 37"/>
            <p:cNvSpPr/>
            <p:nvPr/>
          </p:nvSpPr>
          <p:spPr>
            <a:xfrm>
              <a:off x="16891" y="16891"/>
              <a:ext cx="7193281" cy="9509760"/>
            </a:xfrm>
            <a:custGeom>
              <a:avLst/>
              <a:gdLst/>
              <a:ahLst/>
              <a:cxnLst/>
              <a:rect l="l" t="t" r="r" b="b"/>
              <a:pathLst>
                <a:path w="7193281" h="9509760">
                  <a:moveTo>
                    <a:pt x="0" y="0"/>
                  </a:moveTo>
                  <a:lnTo>
                    <a:pt x="7193281" y="0"/>
                  </a:lnTo>
                  <a:lnTo>
                    <a:pt x="7193281" y="9509760"/>
                  </a:lnTo>
                  <a:lnTo>
                    <a:pt x="0" y="9509760"/>
                  </a:lnTo>
                  <a:close/>
                </a:path>
              </a:pathLst>
            </a:custGeom>
            <a:solidFill>
              <a:srgbClr val="252B42"/>
            </a:solidFill>
          </p:spPr>
          <p:txBody>
            <a:bodyPr/>
            <a:lstStyle/>
            <a:p>
              <a:endParaRPr lang="es-GT"/>
            </a:p>
          </p:txBody>
        </p:sp>
        <p:sp>
          <p:nvSpPr>
            <p:cNvPr id="38" name="Freeform 38"/>
            <p:cNvSpPr/>
            <p:nvPr/>
          </p:nvSpPr>
          <p:spPr>
            <a:xfrm>
              <a:off x="0" y="0"/>
              <a:ext cx="7227062" cy="9543542"/>
            </a:xfrm>
            <a:custGeom>
              <a:avLst/>
              <a:gdLst/>
              <a:ahLst/>
              <a:cxnLst/>
              <a:rect l="l" t="t" r="r" b="b"/>
              <a:pathLst>
                <a:path w="7227062" h="9543542">
                  <a:moveTo>
                    <a:pt x="16891" y="0"/>
                  </a:moveTo>
                  <a:lnTo>
                    <a:pt x="7210172" y="0"/>
                  </a:lnTo>
                  <a:cubicBezTo>
                    <a:pt x="7219569" y="0"/>
                    <a:pt x="7227062" y="7620"/>
                    <a:pt x="7227062" y="16891"/>
                  </a:cubicBezTo>
                  <a:lnTo>
                    <a:pt x="7227062" y="9526651"/>
                  </a:lnTo>
                  <a:cubicBezTo>
                    <a:pt x="7227062" y="9536049"/>
                    <a:pt x="7219442" y="9543542"/>
                    <a:pt x="7210172" y="9543542"/>
                  </a:cubicBezTo>
                  <a:lnTo>
                    <a:pt x="16891" y="9543542"/>
                  </a:lnTo>
                  <a:cubicBezTo>
                    <a:pt x="7493" y="9543542"/>
                    <a:pt x="0" y="9535922"/>
                    <a:pt x="0" y="9526651"/>
                  </a:cubicBezTo>
                  <a:lnTo>
                    <a:pt x="0" y="16891"/>
                  </a:lnTo>
                  <a:cubicBezTo>
                    <a:pt x="0" y="7620"/>
                    <a:pt x="7620" y="0"/>
                    <a:pt x="16891" y="0"/>
                  </a:cubicBezTo>
                  <a:moveTo>
                    <a:pt x="16891" y="33909"/>
                  </a:moveTo>
                  <a:lnTo>
                    <a:pt x="16891" y="16891"/>
                  </a:lnTo>
                  <a:lnTo>
                    <a:pt x="33909" y="16891"/>
                  </a:lnTo>
                  <a:lnTo>
                    <a:pt x="33909" y="9526651"/>
                  </a:lnTo>
                  <a:lnTo>
                    <a:pt x="16891" y="9526651"/>
                  </a:lnTo>
                  <a:lnTo>
                    <a:pt x="16891" y="9509760"/>
                  </a:lnTo>
                  <a:lnTo>
                    <a:pt x="7210172" y="9509760"/>
                  </a:lnTo>
                  <a:lnTo>
                    <a:pt x="7210172" y="9526651"/>
                  </a:lnTo>
                  <a:lnTo>
                    <a:pt x="7193280" y="9526651"/>
                  </a:lnTo>
                  <a:lnTo>
                    <a:pt x="7193280" y="16891"/>
                  </a:lnTo>
                  <a:lnTo>
                    <a:pt x="7210172" y="16891"/>
                  </a:lnTo>
                  <a:lnTo>
                    <a:pt x="7210172" y="33909"/>
                  </a:lnTo>
                  <a:lnTo>
                    <a:pt x="16891" y="33909"/>
                  </a:lnTo>
                  <a:close/>
                </a:path>
              </a:pathLst>
            </a:custGeom>
            <a:solidFill>
              <a:srgbClr val="7EC8A4"/>
            </a:solidFill>
          </p:spPr>
          <p:txBody>
            <a:bodyPr/>
            <a:lstStyle/>
            <a:p>
              <a:endParaRPr lang="es-GT"/>
            </a:p>
          </p:txBody>
        </p:sp>
      </p:grpSp>
      <p:grpSp>
        <p:nvGrpSpPr>
          <p:cNvPr id="39" name="Group 39"/>
          <p:cNvGrpSpPr/>
          <p:nvPr/>
        </p:nvGrpSpPr>
        <p:grpSpPr>
          <a:xfrm>
            <a:off x="6296663" y="2511047"/>
            <a:ext cx="5420363" cy="171707"/>
            <a:chOff x="0" y="0"/>
            <a:chExt cx="7227151" cy="228943"/>
          </a:xfrm>
        </p:grpSpPr>
        <p:sp>
          <p:nvSpPr>
            <p:cNvPr id="40" name="Freeform 40"/>
            <p:cNvSpPr/>
            <p:nvPr/>
          </p:nvSpPr>
          <p:spPr>
            <a:xfrm>
              <a:off x="16891" y="16891"/>
              <a:ext cx="7193281" cy="195072"/>
            </a:xfrm>
            <a:custGeom>
              <a:avLst/>
              <a:gdLst/>
              <a:ahLst/>
              <a:cxnLst/>
              <a:rect l="l" t="t" r="r" b="b"/>
              <a:pathLst>
                <a:path w="7193281" h="195072">
                  <a:moveTo>
                    <a:pt x="0" y="0"/>
                  </a:moveTo>
                  <a:lnTo>
                    <a:pt x="7193281" y="0"/>
                  </a:lnTo>
                  <a:lnTo>
                    <a:pt x="7193281" y="195072"/>
                  </a:lnTo>
                  <a:lnTo>
                    <a:pt x="0" y="195072"/>
                  </a:lnTo>
                  <a:close/>
                </a:path>
              </a:pathLst>
            </a:custGeom>
            <a:solidFill>
              <a:srgbClr val="7EC8A4"/>
            </a:solidFill>
          </p:spPr>
          <p:txBody>
            <a:bodyPr/>
            <a:lstStyle/>
            <a:p>
              <a:endParaRPr lang="es-GT"/>
            </a:p>
          </p:txBody>
        </p:sp>
        <p:sp>
          <p:nvSpPr>
            <p:cNvPr id="41" name="Freeform 41"/>
            <p:cNvSpPr/>
            <p:nvPr/>
          </p:nvSpPr>
          <p:spPr>
            <a:xfrm>
              <a:off x="0" y="0"/>
              <a:ext cx="7227062" cy="228856"/>
            </a:xfrm>
            <a:custGeom>
              <a:avLst/>
              <a:gdLst/>
              <a:ahLst/>
              <a:cxnLst/>
              <a:rect l="l" t="t" r="r" b="b"/>
              <a:pathLst>
                <a:path w="7227062" h="228856">
                  <a:moveTo>
                    <a:pt x="16891" y="0"/>
                  </a:moveTo>
                  <a:lnTo>
                    <a:pt x="7210172" y="0"/>
                  </a:lnTo>
                  <a:cubicBezTo>
                    <a:pt x="7219569" y="0"/>
                    <a:pt x="7227062" y="7620"/>
                    <a:pt x="7227062" y="16891"/>
                  </a:cubicBezTo>
                  <a:lnTo>
                    <a:pt x="7227062" y="211963"/>
                  </a:lnTo>
                  <a:cubicBezTo>
                    <a:pt x="7227062" y="221361"/>
                    <a:pt x="7219442" y="228854"/>
                    <a:pt x="7210172"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7210172" y="195072"/>
                  </a:lnTo>
                  <a:lnTo>
                    <a:pt x="7210172" y="211963"/>
                  </a:lnTo>
                  <a:lnTo>
                    <a:pt x="7193280" y="211963"/>
                  </a:lnTo>
                  <a:lnTo>
                    <a:pt x="7193280" y="16891"/>
                  </a:lnTo>
                  <a:lnTo>
                    <a:pt x="7210172" y="16891"/>
                  </a:lnTo>
                  <a:lnTo>
                    <a:pt x="7210172" y="33909"/>
                  </a:lnTo>
                  <a:lnTo>
                    <a:pt x="16891" y="33909"/>
                  </a:lnTo>
                  <a:close/>
                </a:path>
              </a:pathLst>
            </a:custGeom>
            <a:solidFill>
              <a:srgbClr val="7EC8A4"/>
            </a:solidFill>
          </p:spPr>
          <p:txBody>
            <a:bodyPr/>
            <a:lstStyle/>
            <a:p>
              <a:endParaRPr lang="es-GT"/>
            </a:p>
          </p:txBody>
        </p:sp>
      </p:grpSp>
      <p:grpSp>
        <p:nvGrpSpPr>
          <p:cNvPr id="42" name="Group 42"/>
          <p:cNvGrpSpPr/>
          <p:nvPr/>
        </p:nvGrpSpPr>
        <p:grpSpPr>
          <a:xfrm>
            <a:off x="6583680" y="2743200"/>
            <a:ext cx="4846320" cy="640080"/>
            <a:chOff x="0" y="0"/>
            <a:chExt cx="6461760" cy="853440"/>
          </a:xfrm>
        </p:grpSpPr>
        <p:sp>
          <p:nvSpPr>
            <p:cNvPr id="43" name="Freeform 43"/>
            <p:cNvSpPr/>
            <p:nvPr/>
          </p:nvSpPr>
          <p:spPr>
            <a:xfrm>
              <a:off x="0" y="0"/>
              <a:ext cx="6461760" cy="853440"/>
            </a:xfrm>
            <a:custGeom>
              <a:avLst/>
              <a:gdLst/>
              <a:ahLst/>
              <a:cxnLst/>
              <a:rect l="l" t="t" r="r" b="b"/>
              <a:pathLst>
                <a:path w="6461760" h="853440">
                  <a:moveTo>
                    <a:pt x="0" y="0"/>
                  </a:moveTo>
                  <a:lnTo>
                    <a:pt x="6461760" y="0"/>
                  </a:lnTo>
                  <a:lnTo>
                    <a:pt x="6461760" y="853440"/>
                  </a:lnTo>
                  <a:lnTo>
                    <a:pt x="0" y="853440"/>
                  </a:lnTo>
                  <a:close/>
                </a:path>
              </a:pathLst>
            </a:custGeom>
            <a:blipFill>
              <a:blip r:embed="rId3">
                <a:alphaModFix amt="0"/>
              </a:blip>
              <a:stretch>
                <a:fillRect t="-97529" b="-97529"/>
              </a:stretch>
            </a:blipFill>
          </p:spPr>
          <p:txBody>
            <a:bodyPr/>
            <a:lstStyle/>
            <a:p>
              <a:endParaRPr lang="es-GT"/>
            </a:p>
          </p:txBody>
        </p:sp>
        <p:sp>
          <p:nvSpPr>
            <p:cNvPr id="44" name="TextBox 44"/>
            <p:cNvSpPr txBox="1"/>
            <p:nvPr/>
          </p:nvSpPr>
          <p:spPr>
            <a:xfrm>
              <a:off x="0" y="-38100"/>
              <a:ext cx="6461760" cy="891540"/>
            </a:xfrm>
            <a:prstGeom prst="rect">
              <a:avLst/>
            </a:prstGeom>
          </p:spPr>
          <p:txBody>
            <a:bodyPr lIns="0" tIns="0" rIns="0" bIns="0" rtlCol="0" anchor="ctr"/>
            <a:lstStyle/>
            <a:p>
              <a:pPr algn="l">
                <a:lnSpc>
                  <a:spcPts val="2400"/>
                </a:lnSpc>
              </a:pPr>
              <a:r>
                <a:rPr lang="en-US" sz="2000" b="1">
                  <a:solidFill>
                    <a:srgbClr val="7EC8A4"/>
                  </a:solidFill>
                  <a:latin typeface="Calibri (MS) Bold"/>
                  <a:ea typeface="Calibri (MS) Bold"/>
                  <a:cs typeface="Calibri (MS) Bold"/>
                  <a:sym typeface="Calibri (MS) Bold"/>
                </a:rPr>
                <a:t>02  NIVEL GRÁFICO</a:t>
              </a:r>
            </a:p>
          </p:txBody>
        </p:sp>
      </p:grpSp>
      <p:grpSp>
        <p:nvGrpSpPr>
          <p:cNvPr id="45" name="Group 45"/>
          <p:cNvGrpSpPr/>
          <p:nvPr/>
        </p:nvGrpSpPr>
        <p:grpSpPr>
          <a:xfrm>
            <a:off x="6583680" y="3438144"/>
            <a:ext cx="4846320" cy="557138"/>
            <a:chOff x="0" y="0"/>
            <a:chExt cx="6461760" cy="742850"/>
          </a:xfrm>
        </p:grpSpPr>
        <p:sp>
          <p:nvSpPr>
            <p:cNvPr id="46" name="Freeform 46"/>
            <p:cNvSpPr/>
            <p:nvPr/>
          </p:nvSpPr>
          <p:spPr>
            <a:xfrm>
              <a:off x="0" y="0"/>
              <a:ext cx="6461760" cy="742850"/>
            </a:xfrm>
            <a:custGeom>
              <a:avLst/>
              <a:gdLst/>
              <a:ahLst/>
              <a:cxnLst/>
              <a:rect l="l" t="t" r="r" b="b"/>
              <a:pathLst>
                <a:path w="6461760" h="742850">
                  <a:moveTo>
                    <a:pt x="0" y="0"/>
                  </a:moveTo>
                  <a:lnTo>
                    <a:pt x="6461760" y="0"/>
                  </a:lnTo>
                  <a:lnTo>
                    <a:pt x="6461760" y="742850"/>
                  </a:lnTo>
                  <a:lnTo>
                    <a:pt x="0" y="742850"/>
                  </a:lnTo>
                  <a:close/>
                </a:path>
              </a:pathLst>
            </a:custGeom>
            <a:blipFill>
              <a:blip r:embed="rId3">
                <a:alphaModFix amt="0"/>
              </a:blip>
              <a:stretch>
                <a:fillRect t="-120255" b="-118730"/>
              </a:stretch>
            </a:blipFill>
          </p:spPr>
          <p:txBody>
            <a:bodyPr/>
            <a:lstStyle/>
            <a:p>
              <a:endParaRPr lang="es-GT"/>
            </a:p>
          </p:txBody>
        </p:sp>
        <p:sp>
          <p:nvSpPr>
            <p:cNvPr id="47" name="TextBox 47"/>
            <p:cNvSpPr txBox="1"/>
            <p:nvPr/>
          </p:nvSpPr>
          <p:spPr>
            <a:xfrm>
              <a:off x="0" y="-66675"/>
              <a:ext cx="6461760" cy="809525"/>
            </a:xfrm>
            <a:prstGeom prst="rect">
              <a:avLst/>
            </a:prstGeom>
          </p:spPr>
          <p:txBody>
            <a:bodyPr lIns="0" tIns="0" rIns="0" bIns="0" rtlCol="0" anchor="ctr"/>
            <a:lstStyle/>
            <a:p>
              <a:pPr algn="l">
                <a:lnSpc>
                  <a:spcPts val="3359"/>
                </a:lnSpc>
              </a:pPr>
              <a:r>
                <a:rPr lang="en-US" sz="2799" b="1">
                  <a:solidFill>
                    <a:srgbClr val="FFFFFF"/>
                  </a:solidFill>
                  <a:latin typeface="Calibri (MS) Bold"/>
                  <a:ea typeface="Calibri (MS) Bold"/>
                  <a:cs typeface="Calibri (MS) Bold"/>
                  <a:sym typeface="Calibri (MS) Bold"/>
                </a:rPr>
                <a:t>Diagramas de flujo</a:t>
              </a:r>
            </a:p>
          </p:txBody>
        </p:sp>
      </p:grpSp>
      <p:grpSp>
        <p:nvGrpSpPr>
          <p:cNvPr id="48" name="Group 48"/>
          <p:cNvGrpSpPr/>
          <p:nvPr/>
        </p:nvGrpSpPr>
        <p:grpSpPr>
          <a:xfrm>
            <a:off x="6570983" y="4047239"/>
            <a:ext cx="4871723" cy="61979"/>
            <a:chOff x="0" y="0"/>
            <a:chExt cx="6495631" cy="82639"/>
          </a:xfrm>
        </p:grpSpPr>
        <p:sp>
          <p:nvSpPr>
            <p:cNvPr id="49" name="Freeform 49"/>
            <p:cNvSpPr/>
            <p:nvPr/>
          </p:nvSpPr>
          <p:spPr>
            <a:xfrm>
              <a:off x="16891" y="16891"/>
              <a:ext cx="6461760" cy="48768"/>
            </a:xfrm>
            <a:custGeom>
              <a:avLst/>
              <a:gdLst/>
              <a:ahLst/>
              <a:cxnLst/>
              <a:rect l="l" t="t" r="r" b="b"/>
              <a:pathLst>
                <a:path w="6461760" h="48768">
                  <a:moveTo>
                    <a:pt x="0" y="0"/>
                  </a:moveTo>
                  <a:lnTo>
                    <a:pt x="6461760" y="0"/>
                  </a:lnTo>
                  <a:lnTo>
                    <a:pt x="6461760" y="48768"/>
                  </a:lnTo>
                  <a:lnTo>
                    <a:pt x="0" y="48768"/>
                  </a:lnTo>
                  <a:close/>
                </a:path>
              </a:pathLst>
            </a:custGeom>
            <a:solidFill>
              <a:srgbClr val="3A4160"/>
            </a:solidFill>
          </p:spPr>
          <p:txBody>
            <a:bodyPr/>
            <a:lstStyle/>
            <a:p>
              <a:endParaRPr lang="es-GT"/>
            </a:p>
          </p:txBody>
        </p:sp>
        <p:sp>
          <p:nvSpPr>
            <p:cNvPr id="50" name="Freeform 50"/>
            <p:cNvSpPr/>
            <p:nvPr/>
          </p:nvSpPr>
          <p:spPr>
            <a:xfrm>
              <a:off x="0" y="0"/>
              <a:ext cx="6495542" cy="82552"/>
            </a:xfrm>
            <a:custGeom>
              <a:avLst/>
              <a:gdLst/>
              <a:ahLst/>
              <a:cxnLst/>
              <a:rect l="l" t="t" r="r" b="b"/>
              <a:pathLst>
                <a:path w="6495542" h="82552">
                  <a:moveTo>
                    <a:pt x="16891" y="0"/>
                  </a:moveTo>
                  <a:lnTo>
                    <a:pt x="6478651" y="0"/>
                  </a:lnTo>
                  <a:cubicBezTo>
                    <a:pt x="6488049" y="0"/>
                    <a:pt x="6495542" y="7620"/>
                    <a:pt x="6495542" y="16891"/>
                  </a:cubicBezTo>
                  <a:lnTo>
                    <a:pt x="6495542" y="65659"/>
                  </a:lnTo>
                  <a:cubicBezTo>
                    <a:pt x="6495542" y="75057"/>
                    <a:pt x="6487922" y="82550"/>
                    <a:pt x="6478651" y="82550"/>
                  </a:cubicBezTo>
                  <a:lnTo>
                    <a:pt x="16891" y="82550"/>
                  </a:lnTo>
                  <a:cubicBezTo>
                    <a:pt x="7620" y="82677"/>
                    <a:pt x="0" y="75057"/>
                    <a:pt x="0" y="65659"/>
                  </a:cubicBezTo>
                  <a:lnTo>
                    <a:pt x="0" y="16891"/>
                  </a:lnTo>
                  <a:cubicBezTo>
                    <a:pt x="0" y="7620"/>
                    <a:pt x="7620" y="0"/>
                    <a:pt x="16891" y="0"/>
                  </a:cubicBezTo>
                  <a:moveTo>
                    <a:pt x="16891" y="33909"/>
                  </a:moveTo>
                  <a:lnTo>
                    <a:pt x="16891" y="16891"/>
                  </a:lnTo>
                  <a:lnTo>
                    <a:pt x="33909" y="16891"/>
                  </a:lnTo>
                  <a:lnTo>
                    <a:pt x="33909" y="65659"/>
                  </a:lnTo>
                  <a:lnTo>
                    <a:pt x="16891" y="65659"/>
                  </a:lnTo>
                  <a:lnTo>
                    <a:pt x="16891" y="48768"/>
                  </a:lnTo>
                  <a:lnTo>
                    <a:pt x="6478651" y="48768"/>
                  </a:lnTo>
                  <a:lnTo>
                    <a:pt x="6478651" y="65659"/>
                  </a:lnTo>
                  <a:lnTo>
                    <a:pt x="6461760" y="65659"/>
                  </a:lnTo>
                  <a:lnTo>
                    <a:pt x="6461760" y="16891"/>
                  </a:lnTo>
                  <a:lnTo>
                    <a:pt x="6478651" y="16891"/>
                  </a:lnTo>
                  <a:lnTo>
                    <a:pt x="6478651" y="33909"/>
                  </a:lnTo>
                  <a:lnTo>
                    <a:pt x="16891" y="33909"/>
                  </a:lnTo>
                  <a:close/>
                </a:path>
              </a:pathLst>
            </a:custGeom>
            <a:solidFill>
              <a:srgbClr val="3A4160"/>
            </a:solidFill>
          </p:spPr>
          <p:txBody>
            <a:bodyPr/>
            <a:lstStyle/>
            <a:p>
              <a:endParaRPr lang="es-GT"/>
            </a:p>
          </p:txBody>
        </p:sp>
      </p:grpSp>
      <p:sp>
        <p:nvSpPr>
          <p:cNvPr id="51" name="TextBox 51"/>
          <p:cNvSpPr txBox="1"/>
          <p:nvPr/>
        </p:nvSpPr>
        <p:spPr>
          <a:xfrm>
            <a:off x="6675120" y="4185285"/>
            <a:ext cx="4663440" cy="3838575"/>
          </a:xfrm>
          <a:prstGeom prst="rect">
            <a:avLst/>
          </a:prstGeom>
        </p:spPr>
        <p:txBody>
          <a:bodyPr lIns="0" tIns="0" rIns="0" bIns="0" rtlCol="0" anchor="t">
            <a:spAutoFit/>
          </a:bodyPr>
          <a:lstStyle/>
          <a:p>
            <a:pPr algn="l">
              <a:lnSpc>
                <a:spcPts val="3359"/>
              </a:lnSpc>
            </a:pPr>
            <a:r>
              <a:rPr lang="en-US" sz="2799">
                <a:solidFill>
                  <a:srgbClr val="B0B8CC"/>
                </a:solidFill>
                <a:latin typeface="Calibri (MS)"/>
                <a:ea typeface="Calibri (MS)"/>
                <a:cs typeface="Calibri (MS)"/>
                <a:sym typeface="Calibri (MS)"/>
              </a:rPr>
              <a:t>Emplea símbolos estandarizados (ISO 5807): óvalos para inicio/fin, rombos para decisiones, rectángulos para procesos, flechas para flujo.</a:t>
            </a:r>
          </a:p>
          <a:p>
            <a:pPr algn="l">
              <a:lnSpc>
                <a:spcPts val="3359"/>
              </a:lnSpc>
            </a:pPr>
            <a:endParaRPr lang="en-US" sz="2799">
              <a:solidFill>
                <a:srgbClr val="B0B8CC"/>
              </a:solidFill>
              <a:latin typeface="Calibri (MS)"/>
              <a:ea typeface="Calibri (MS)"/>
              <a:cs typeface="Calibri (MS)"/>
              <a:sym typeface="Calibri (MS)"/>
            </a:endParaRPr>
          </a:p>
          <a:p>
            <a:pPr algn="l">
              <a:lnSpc>
                <a:spcPts val="3359"/>
              </a:lnSpc>
            </a:pPr>
            <a:r>
              <a:rPr lang="en-US" sz="2799">
                <a:solidFill>
                  <a:srgbClr val="B0B8CC"/>
                </a:solidFill>
                <a:latin typeface="Calibri (MS)"/>
                <a:ea typeface="Calibri (MS)"/>
                <a:cs typeface="Calibri (MS)"/>
                <a:sym typeface="Calibri (MS)"/>
              </a:rPr>
              <a:t>Ejemplo: Diagrama para calcular el área de un triángulo.</a:t>
            </a:r>
          </a:p>
        </p:txBody>
      </p:sp>
      <p:grpSp>
        <p:nvGrpSpPr>
          <p:cNvPr id="52" name="Group 52"/>
          <p:cNvGrpSpPr/>
          <p:nvPr/>
        </p:nvGrpSpPr>
        <p:grpSpPr>
          <a:xfrm>
            <a:off x="11965943" y="2511047"/>
            <a:ext cx="5420363" cy="7157723"/>
            <a:chOff x="0" y="0"/>
            <a:chExt cx="7227151" cy="9543631"/>
          </a:xfrm>
        </p:grpSpPr>
        <p:sp>
          <p:nvSpPr>
            <p:cNvPr id="53" name="Freeform 53"/>
            <p:cNvSpPr/>
            <p:nvPr/>
          </p:nvSpPr>
          <p:spPr>
            <a:xfrm>
              <a:off x="16891" y="16891"/>
              <a:ext cx="7193281" cy="9509760"/>
            </a:xfrm>
            <a:custGeom>
              <a:avLst/>
              <a:gdLst/>
              <a:ahLst/>
              <a:cxnLst/>
              <a:rect l="l" t="t" r="r" b="b"/>
              <a:pathLst>
                <a:path w="7193281" h="9509760">
                  <a:moveTo>
                    <a:pt x="0" y="0"/>
                  </a:moveTo>
                  <a:lnTo>
                    <a:pt x="7193281" y="0"/>
                  </a:lnTo>
                  <a:lnTo>
                    <a:pt x="7193281" y="9509760"/>
                  </a:lnTo>
                  <a:lnTo>
                    <a:pt x="0" y="9509760"/>
                  </a:lnTo>
                  <a:close/>
                </a:path>
              </a:pathLst>
            </a:custGeom>
            <a:solidFill>
              <a:srgbClr val="252B42"/>
            </a:solidFill>
          </p:spPr>
          <p:txBody>
            <a:bodyPr/>
            <a:lstStyle/>
            <a:p>
              <a:endParaRPr lang="es-GT"/>
            </a:p>
          </p:txBody>
        </p:sp>
        <p:sp>
          <p:nvSpPr>
            <p:cNvPr id="54" name="Freeform 54"/>
            <p:cNvSpPr/>
            <p:nvPr/>
          </p:nvSpPr>
          <p:spPr>
            <a:xfrm>
              <a:off x="0" y="0"/>
              <a:ext cx="7227062" cy="9543542"/>
            </a:xfrm>
            <a:custGeom>
              <a:avLst/>
              <a:gdLst/>
              <a:ahLst/>
              <a:cxnLst/>
              <a:rect l="l" t="t" r="r" b="b"/>
              <a:pathLst>
                <a:path w="7227062" h="9543542">
                  <a:moveTo>
                    <a:pt x="16891" y="0"/>
                  </a:moveTo>
                  <a:lnTo>
                    <a:pt x="7210172" y="0"/>
                  </a:lnTo>
                  <a:cubicBezTo>
                    <a:pt x="7219569" y="0"/>
                    <a:pt x="7227062" y="7620"/>
                    <a:pt x="7227062" y="16891"/>
                  </a:cubicBezTo>
                  <a:lnTo>
                    <a:pt x="7227062" y="9526651"/>
                  </a:lnTo>
                  <a:cubicBezTo>
                    <a:pt x="7227062" y="9536049"/>
                    <a:pt x="7219442" y="9543542"/>
                    <a:pt x="7210172" y="9543542"/>
                  </a:cubicBezTo>
                  <a:lnTo>
                    <a:pt x="16891" y="9543542"/>
                  </a:lnTo>
                  <a:cubicBezTo>
                    <a:pt x="7493" y="9543542"/>
                    <a:pt x="0" y="9535922"/>
                    <a:pt x="0" y="9526651"/>
                  </a:cubicBezTo>
                  <a:lnTo>
                    <a:pt x="0" y="16891"/>
                  </a:lnTo>
                  <a:cubicBezTo>
                    <a:pt x="0" y="7620"/>
                    <a:pt x="7620" y="0"/>
                    <a:pt x="16891" y="0"/>
                  </a:cubicBezTo>
                  <a:moveTo>
                    <a:pt x="16891" y="33909"/>
                  </a:moveTo>
                  <a:lnTo>
                    <a:pt x="16891" y="16891"/>
                  </a:lnTo>
                  <a:lnTo>
                    <a:pt x="33909" y="16891"/>
                  </a:lnTo>
                  <a:lnTo>
                    <a:pt x="33909" y="9526651"/>
                  </a:lnTo>
                  <a:lnTo>
                    <a:pt x="16891" y="9526651"/>
                  </a:lnTo>
                  <a:lnTo>
                    <a:pt x="16891" y="9509760"/>
                  </a:lnTo>
                  <a:lnTo>
                    <a:pt x="7210172" y="9509760"/>
                  </a:lnTo>
                  <a:lnTo>
                    <a:pt x="7210172" y="9526651"/>
                  </a:lnTo>
                  <a:lnTo>
                    <a:pt x="7193280" y="9526651"/>
                  </a:lnTo>
                  <a:lnTo>
                    <a:pt x="7193280" y="16891"/>
                  </a:lnTo>
                  <a:lnTo>
                    <a:pt x="7210172" y="16891"/>
                  </a:lnTo>
                  <a:lnTo>
                    <a:pt x="7210172" y="33909"/>
                  </a:lnTo>
                  <a:lnTo>
                    <a:pt x="16891" y="33909"/>
                  </a:lnTo>
                  <a:close/>
                </a:path>
              </a:pathLst>
            </a:custGeom>
            <a:solidFill>
              <a:srgbClr val="9B7FD4"/>
            </a:solidFill>
          </p:spPr>
          <p:txBody>
            <a:bodyPr/>
            <a:lstStyle/>
            <a:p>
              <a:endParaRPr lang="es-GT"/>
            </a:p>
          </p:txBody>
        </p:sp>
      </p:grpSp>
      <p:grpSp>
        <p:nvGrpSpPr>
          <p:cNvPr id="55" name="Group 55"/>
          <p:cNvGrpSpPr/>
          <p:nvPr/>
        </p:nvGrpSpPr>
        <p:grpSpPr>
          <a:xfrm>
            <a:off x="11965943" y="2511047"/>
            <a:ext cx="5420363" cy="171707"/>
            <a:chOff x="0" y="0"/>
            <a:chExt cx="7227151" cy="228943"/>
          </a:xfrm>
        </p:grpSpPr>
        <p:sp>
          <p:nvSpPr>
            <p:cNvPr id="56" name="Freeform 56"/>
            <p:cNvSpPr/>
            <p:nvPr/>
          </p:nvSpPr>
          <p:spPr>
            <a:xfrm>
              <a:off x="16891" y="16891"/>
              <a:ext cx="7193281" cy="195072"/>
            </a:xfrm>
            <a:custGeom>
              <a:avLst/>
              <a:gdLst/>
              <a:ahLst/>
              <a:cxnLst/>
              <a:rect l="l" t="t" r="r" b="b"/>
              <a:pathLst>
                <a:path w="7193281" h="195072">
                  <a:moveTo>
                    <a:pt x="0" y="0"/>
                  </a:moveTo>
                  <a:lnTo>
                    <a:pt x="7193281" y="0"/>
                  </a:lnTo>
                  <a:lnTo>
                    <a:pt x="7193281" y="195072"/>
                  </a:lnTo>
                  <a:lnTo>
                    <a:pt x="0" y="195072"/>
                  </a:lnTo>
                  <a:close/>
                </a:path>
              </a:pathLst>
            </a:custGeom>
            <a:solidFill>
              <a:srgbClr val="9B7FD4"/>
            </a:solidFill>
          </p:spPr>
          <p:txBody>
            <a:bodyPr/>
            <a:lstStyle/>
            <a:p>
              <a:endParaRPr lang="es-GT"/>
            </a:p>
          </p:txBody>
        </p:sp>
        <p:sp>
          <p:nvSpPr>
            <p:cNvPr id="57" name="Freeform 57"/>
            <p:cNvSpPr/>
            <p:nvPr/>
          </p:nvSpPr>
          <p:spPr>
            <a:xfrm>
              <a:off x="0" y="0"/>
              <a:ext cx="7227062" cy="228856"/>
            </a:xfrm>
            <a:custGeom>
              <a:avLst/>
              <a:gdLst/>
              <a:ahLst/>
              <a:cxnLst/>
              <a:rect l="l" t="t" r="r" b="b"/>
              <a:pathLst>
                <a:path w="7227062" h="228856">
                  <a:moveTo>
                    <a:pt x="16891" y="0"/>
                  </a:moveTo>
                  <a:lnTo>
                    <a:pt x="7210172" y="0"/>
                  </a:lnTo>
                  <a:cubicBezTo>
                    <a:pt x="7219569" y="0"/>
                    <a:pt x="7227062" y="7620"/>
                    <a:pt x="7227062" y="16891"/>
                  </a:cubicBezTo>
                  <a:lnTo>
                    <a:pt x="7227062" y="211963"/>
                  </a:lnTo>
                  <a:cubicBezTo>
                    <a:pt x="7227062" y="221361"/>
                    <a:pt x="7219442" y="228854"/>
                    <a:pt x="7210172"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7210172" y="195072"/>
                  </a:lnTo>
                  <a:lnTo>
                    <a:pt x="7210172" y="211963"/>
                  </a:lnTo>
                  <a:lnTo>
                    <a:pt x="7193280" y="211963"/>
                  </a:lnTo>
                  <a:lnTo>
                    <a:pt x="7193280" y="16891"/>
                  </a:lnTo>
                  <a:lnTo>
                    <a:pt x="7210172" y="16891"/>
                  </a:lnTo>
                  <a:lnTo>
                    <a:pt x="7210172" y="33909"/>
                  </a:lnTo>
                  <a:lnTo>
                    <a:pt x="16891" y="33909"/>
                  </a:lnTo>
                  <a:close/>
                </a:path>
              </a:pathLst>
            </a:custGeom>
            <a:solidFill>
              <a:srgbClr val="9B7FD4"/>
            </a:solidFill>
          </p:spPr>
          <p:txBody>
            <a:bodyPr/>
            <a:lstStyle/>
            <a:p>
              <a:endParaRPr lang="es-GT"/>
            </a:p>
          </p:txBody>
        </p:sp>
      </p:grpSp>
      <p:grpSp>
        <p:nvGrpSpPr>
          <p:cNvPr id="58" name="Group 58"/>
          <p:cNvGrpSpPr/>
          <p:nvPr/>
        </p:nvGrpSpPr>
        <p:grpSpPr>
          <a:xfrm>
            <a:off x="12252960" y="2743200"/>
            <a:ext cx="4846320" cy="640080"/>
            <a:chOff x="0" y="0"/>
            <a:chExt cx="6461760" cy="853440"/>
          </a:xfrm>
        </p:grpSpPr>
        <p:sp>
          <p:nvSpPr>
            <p:cNvPr id="59" name="Freeform 59"/>
            <p:cNvSpPr/>
            <p:nvPr/>
          </p:nvSpPr>
          <p:spPr>
            <a:xfrm>
              <a:off x="0" y="0"/>
              <a:ext cx="6461760" cy="853440"/>
            </a:xfrm>
            <a:custGeom>
              <a:avLst/>
              <a:gdLst/>
              <a:ahLst/>
              <a:cxnLst/>
              <a:rect l="l" t="t" r="r" b="b"/>
              <a:pathLst>
                <a:path w="6461760" h="853440">
                  <a:moveTo>
                    <a:pt x="0" y="0"/>
                  </a:moveTo>
                  <a:lnTo>
                    <a:pt x="6461760" y="0"/>
                  </a:lnTo>
                  <a:lnTo>
                    <a:pt x="6461760" y="853440"/>
                  </a:lnTo>
                  <a:lnTo>
                    <a:pt x="0" y="853440"/>
                  </a:lnTo>
                  <a:close/>
                </a:path>
              </a:pathLst>
            </a:custGeom>
            <a:blipFill>
              <a:blip r:embed="rId3">
                <a:alphaModFix amt="0"/>
              </a:blip>
              <a:stretch>
                <a:fillRect t="-97529" b="-97529"/>
              </a:stretch>
            </a:blipFill>
          </p:spPr>
          <p:txBody>
            <a:bodyPr/>
            <a:lstStyle/>
            <a:p>
              <a:endParaRPr lang="es-GT"/>
            </a:p>
          </p:txBody>
        </p:sp>
        <p:sp>
          <p:nvSpPr>
            <p:cNvPr id="60" name="TextBox 60"/>
            <p:cNvSpPr txBox="1"/>
            <p:nvPr/>
          </p:nvSpPr>
          <p:spPr>
            <a:xfrm>
              <a:off x="0" y="-38100"/>
              <a:ext cx="6461760" cy="891540"/>
            </a:xfrm>
            <a:prstGeom prst="rect">
              <a:avLst/>
            </a:prstGeom>
          </p:spPr>
          <p:txBody>
            <a:bodyPr lIns="0" tIns="0" rIns="0" bIns="0" rtlCol="0" anchor="ctr"/>
            <a:lstStyle/>
            <a:p>
              <a:pPr algn="l">
                <a:lnSpc>
                  <a:spcPts val="2400"/>
                </a:lnSpc>
              </a:pPr>
              <a:r>
                <a:rPr lang="en-US" sz="2000" b="1">
                  <a:solidFill>
                    <a:srgbClr val="9B7FD4"/>
                  </a:solidFill>
                  <a:latin typeface="Calibri (MS) Bold"/>
                  <a:ea typeface="Calibri (MS) Bold"/>
                  <a:cs typeface="Calibri (MS) Bold"/>
                  <a:sym typeface="Calibri (MS) Bold"/>
                </a:rPr>
                <a:t>03  NIVEL FORMAL</a:t>
              </a:r>
            </a:p>
          </p:txBody>
        </p:sp>
      </p:grpSp>
      <p:grpSp>
        <p:nvGrpSpPr>
          <p:cNvPr id="61" name="Group 61"/>
          <p:cNvGrpSpPr/>
          <p:nvPr/>
        </p:nvGrpSpPr>
        <p:grpSpPr>
          <a:xfrm>
            <a:off x="12252960" y="3438144"/>
            <a:ext cx="4846320" cy="557138"/>
            <a:chOff x="0" y="0"/>
            <a:chExt cx="6461760" cy="742850"/>
          </a:xfrm>
        </p:grpSpPr>
        <p:sp>
          <p:nvSpPr>
            <p:cNvPr id="62" name="Freeform 62"/>
            <p:cNvSpPr/>
            <p:nvPr/>
          </p:nvSpPr>
          <p:spPr>
            <a:xfrm>
              <a:off x="0" y="0"/>
              <a:ext cx="6461760" cy="742850"/>
            </a:xfrm>
            <a:custGeom>
              <a:avLst/>
              <a:gdLst/>
              <a:ahLst/>
              <a:cxnLst/>
              <a:rect l="l" t="t" r="r" b="b"/>
              <a:pathLst>
                <a:path w="6461760" h="742850">
                  <a:moveTo>
                    <a:pt x="0" y="0"/>
                  </a:moveTo>
                  <a:lnTo>
                    <a:pt x="6461760" y="0"/>
                  </a:lnTo>
                  <a:lnTo>
                    <a:pt x="6461760" y="742850"/>
                  </a:lnTo>
                  <a:lnTo>
                    <a:pt x="0" y="742850"/>
                  </a:lnTo>
                  <a:close/>
                </a:path>
              </a:pathLst>
            </a:custGeom>
            <a:blipFill>
              <a:blip r:embed="rId3">
                <a:alphaModFix amt="0"/>
              </a:blip>
              <a:stretch>
                <a:fillRect t="-120255" b="-118730"/>
              </a:stretch>
            </a:blipFill>
          </p:spPr>
          <p:txBody>
            <a:bodyPr/>
            <a:lstStyle/>
            <a:p>
              <a:endParaRPr lang="es-GT"/>
            </a:p>
          </p:txBody>
        </p:sp>
        <p:sp>
          <p:nvSpPr>
            <p:cNvPr id="63" name="TextBox 63"/>
            <p:cNvSpPr txBox="1"/>
            <p:nvPr/>
          </p:nvSpPr>
          <p:spPr>
            <a:xfrm>
              <a:off x="0" y="-66675"/>
              <a:ext cx="6461760" cy="809525"/>
            </a:xfrm>
            <a:prstGeom prst="rect">
              <a:avLst/>
            </a:prstGeom>
          </p:spPr>
          <p:txBody>
            <a:bodyPr lIns="0" tIns="0" rIns="0" bIns="0" rtlCol="0" anchor="ctr"/>
            <a:lstStyle/>
            <a:p>
              <a:pPr algn="l">
                <a:lnSpc>
                  <a:spcPts val="3359"/>
                </a:lnSpc>
              </a:pPr>
              <a:r>
                <a:rPr lang="en-US" sz="2799" b="1">
                  <a:solidFill>
                    <a:srgbClr val="FFFFFF"/>
                  </a:solidFill>
                  <a:latin typeface="Calibri (MS) Bold"/>
                  <a:ea typeface="Calibri (MS) Bold"/>
                  <a:cs typeface="Calibri (MS) Bold"/>
                  <a:sym typeface="Calibri (MS) Bold"/>
                </a:rPr>
                <a:t>Pseudocódigo / Código</a:t>
              </a:r>
            </a:p>
          </p:txBody>
        </p:sp>
      </p:grpSp>
      <p:grpSp>
        <p:nvGrpSpPr>
          <p:cNvPr id="64" name="Group 64"/>
          <p:cNvGrpSpPr/>
          <p:nvPr/>
        </p:nvGrpSpPr>
        <p:grpSpPr>
          <a:xfrm>
            <a:off x="12240263" y="4047239"/>
            <a:ext cx="4871723" cy="61979"/>
            <a:chOff x="0" y="0"/>
            <a:chExt cx="6495631" cy="82639"/>
          </a:xfrm>
        </p:grpSpPr>
        <p:sp>
          <p:nvSpPr>
            <p:cNvPr id="65" name="Freeform 65"/>
            <p:cNvSpPr/>
            <p:nvPr/>
          </p:nvSpPr>
          <p:spPr>
            <a:xfrm>
              <a:off x="16891" y="16891"/>
              <a:ext cx="6461760" cy="48768"/>
            </a:xfrm>
            <a:custGeom>
              <a:avLst/>
              <a:gdLst/>
              <a:ahLst/>
              <a:cxnLst/>
              <a:rect l="l" t="t" r="r" b="b"/>
              <a:pathLst>
                <a:path w="6461760" h="48768">
                  <a:moveTo>
                    <a:pt x="0" y="0"/>
                  </a:moveTo>
                  <a:lnTo>
                    <a:pt x="6461760" y="0"/>
                  </a:lnTo>
                  <a:lnTo>
                    <a:pt x="6461760" y="48768"/>
                  </a:lnTo>
                  <a:lnTo>
                    <a:pt x="0" y="48768"/>
                  </a:lnTo>
                  <a:close/>
                </a:path>
              </a:pathLst>
            </a:custGeom>
            <a:solidFill>
              <a:srgbClr val="3A4160"/>
            </a:solidFill>
          </p:spPr>
          <p:txBody>
            <a:bodyPr/>
            <a:lstStyle/>
            <a:p>
              <a:endParaRPr lang="es-GT"/>
            </a:p>
          </p:txBody>
        </p:sp>
        <p:sp>
          <p:nvSpPr>
            <p:cNvPr id="66" name="Freeform 66"/>
            <p:cNvSpPr/>
            <p:nvPr/>
          </p:nvSpPr>
          <p:spPr>
            <a:xfrm>
              <a:off x="0" y="0"/>
              <a:ext cx="6495542" cy="82552"/>
            </a:xfrm>
            <a:custGeom>
              <a:avLst/>
              <a:gdLst/>
              <a:ahLst/>
              <a:cxnLst/>
              <a:rect l="l" t="t" r="r" b="b"/>
              <a:pathLst>
                <a:path w="6495542" h="82552">
                  <a:moveTo>
                    <a:pt x="16891" y="0"/>
                  </a:moveTo>
                  <a:lnTo>
                    <a:pt x="6478651" y="0"/>
                  </a:lnTo>
                  <a:cubicBezTo>
                    <a:pt x="6488049" y="0"/>
                    <a:pt x="6495542" y="7620"/>
                    <a:pt x="6495542" y="16891"/>
                  </a:cubicBezTo>
                  <a:lnTo>
                    <a:pt x="6495542" y="65659"/>
                  </a:lnTo>
                  <a:cubicBezTo>
                    <a:pt x="6495542" y="75057"/>
                    <a:pt x="6487922" y="82550"/>
                    <a:pt x="6478651" y="82550"/>
                  </a:cubicBezTo>
                  <a:lnTo>
                    <a:pt x="16891" y="82550"/>
                  </a:lnTo>
                  <a:cubicBezTo>
                    <a:pt x="7620" y="82677"/>
                    <a:pt x="0" y="75057"/>
                    <a:pt x="0" y="65659"/>
                  </a:cubicBezTo>
                  <a:lnTo>
                    <a:pt x="0" y="16891"/>
                  </a:lnTo>
                  <a:cubicBezTo>
                    <a:pt x="0" y="7620"/>
                    <a:pt x="7620" y="0"/>
                    <a:pt x="16891" y="0"/>
                  </a:cubicBezTo>
                  <a:moveTo>
                    <a:pt x="16891" y="33909"/>
                  </a:moveTo>
                  <a:lnTo>
                    <a:pt x="16891" y="16891"/>
                  </a:lnTo>
                  <a:lnTo>
                    <a:pt x="33909" y="16891"/>
                  </a:lnTo>
                  <a:lnTo>
                    <a:pt x="33909" y="65659"/>
                  </a:lnTo>
                  <a:lnTo>
                    <a:pt x="16891" y="65659"/>
                  </a:lnTo>
                  <a:lnTo>
                    <a:pt x="16891" y="48768"/>
                  </a:lnTo>
                  <a:lnTo>
                    <a:pt x="6478651" y="48768"/>
                  </a:lnTo>
                  <a:lnTo>
                    <a:pt x="6478651" y="65659"/>
                  </a:lnTo>
                  <a:lnTo>
                    <a:pt x="6461760" y="65659"/>
                  </a:lnTo>
                  <a:lnTo>
                    <a:pt x="6461760" y="16891"/>
                  </a:lnTo>
                  <a:lnTo>
                    <a:pt x="6478651" y="16891"/>
                  </a:lnTo>
                  <a:lnTo>
                    <a:pt x="6478651" y="33909"/>
                  </a:lnTo>
                  <a:lnTo>
                    <a:pt x="16891" y="33909"/>
                  </a:lnTo>
                  <a:close/>
                </a:path>
              </a:pathLst>
            </a:custGeom>
            <a:solidFill>
              <a:srgbClr val="3A4160"/>
            </a:solidFill>
          </p:spPr>
          <p:txBody>
            <a:bodyPr/>
            <a:lstStyle/>
            <a:p>
              <a:endParaRPr lang="es-GT"/>
            </a:p>
          </p:txBody>
        </p:sp>
      </p:grpSp>
      <p:sp>
        <p:nvSpPr>
          <p:cNvPr id="67" name="TextBox 67"/>
          <p:cNvSpPr txBox="1"/>
          <p:nvPr/>
        </p:nvSpPr>
        <p:spPr>
          <a:xfrm>
            <a:off x="12344400" y="4185285"/>
            <a:ext cx="4663440" cy="3000375"/>
          </a:xfrm>
          <a:prstGeom prst="rect">
            <a:avLst/>
          </a:prstGeom>
        </p:spPr>
        <p:txBody>
          <a:bodyPr lIns="0" tIns="0" rIns="0" bIns="0" rtlCol="0" anchor="t">
            <a:spAutoFit/>
          </a:bodyPr>
          <a:lstStyle/>
          <a:p>
            <a:pPr algn="l">
              <a:lnSpc>
                <a:spcPts val="3359"/>
              </a:lnSpc>
            </a:pPr>
            <a:r>
              <a:rPr lang="en-US" sz="2799">
                <a:solidFill>
                  <a:srgbClr val="B0B8CC"/>
                </a:solidFill>
                <a:latin typeface="Calibri (MS)"/>
                <a:ea typeface="Calibri (MS)"/>
                <a:cs typeface="Calibri (MS)"/>
                <a:sym typeface="Calibri (MS)"/>
              </a:rPr>
              <a:t>Usa estructuras algorítmicas (variables, ciclos, condicionales) independientes de un lenguaje de programación específico.</a:t>
            </a:r>
          </a:p>
          <a:p>
            <a:pPr algn="l">
              <a:lnSpc>
                <a:spcPts val="3359"/>
              </a:lnSpc>
            </a:pPr>
            <a:endParaRPr lang="en-US" sz="2799">
              <a:solidFill>
                <a:srgbClr val="B0B8CC"/>
              </a:solidFill>
              <a:latin typeface="Calibri (MS)"/>
              <a:ea typeface="Calibri (MS)"/>
              <a:cs typeface="Calibri (MS)"/>
              <a:sym typeface="Calibri (MS)"/>
            </a:endParaRPr>
          </a:p>
          <a:p>
            <a:pPr algn="l">
              <a:lnSpc>
                <a:spcPts val="3359"/>
              </a:lnSpc>
            </a:pPr>
            <a:r>
              <a:rPr lang="en-US" sz="2799">
                <a:solidFill>
                  <a:srgbClr val="B0B8CC"/>
                </a:solidFill>
                <a:latin typeface="Calibri (MS)"/>
                <a:ea typeface="Calibri (MS)"/>
                <a:cs typeface="Calibri (MS)"/>
                <a:sym typeface="Calibri (MS)"/>
              </a:rPr>
              <a:t>Ejemplo: PSeInt, pseudocódigo estructurado.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E2235"/>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16891" y="16891"/>
              <a:ext cx="24383999" cy="1755648"/>
            </a:xfrm>
            <a:custGeom>
              <a:avLst/>
              <a:gdLst/>
              <a:ahLst/>
              <a:cxnLst/>
              <a:rect l="l" t="t" r="r" b="b"/>
              <a:pathLst>
                <a:path w="24383999" h="1755648">
                  <a:moveTo>
                    <a:pt x="0" y="0"/>
                  </a:moveTo>
                  <a:lnTo>
                    <a:pt x="24383999" y="0"/>
                  </a:lnTo>
                  <a:lnTo>
                    <a:pt x="24383999" y="1755648"/>
                  </a:lnTo>
                  <a:lnTo>
                    <a:pt x="0" y="1755648"/>
                  </a:lnTo>
                  <a:close/>
                </a:path>
              </a:pathLst>
            </a:custGeom>
            <a:solidFill>
              <a:srgbClr val="161929"/>
            </a:solidFill>
          </p:spPr>
          <p:txBody>
            <a:bodyPr/>
            <a:lstStyle/>
            <a:p>
              <a:endParaRPr lang="es-GT"/>
            </a:p>
          </p:txBody>
        </p:sp>
        <p:sp>
          <p:nvSpPr>
            <p:cNvPr id="4" name="Freeform 4"/>
            <p:cNvSpPr/>
            <p:nvPr/>
          </p:nvSpPr>
          <p:spPr>
            <a:xfrm>
              <a:off x="0" y="0"/>
              <a:ext cx="24417782" cy="1789430"/>
            </a:xfrm>
            <a:custGeom>
              <a:avLst/>
              <a:gdLst/>
              <a:ahLst/>
              <a:cxnLst/>
              <a:rect l="l" t="t" r="r" b="b"/>
              <a:pathLst>
                <a:path w="24417782" h="1789430">
                  <a:moveTo>
                    <a:pt x="16891" y="0"/>
                  </a:moveTo>
                  <a:lnTo>
                    <a:pt x="24400890" y="0"/>
                  </a:lnTo>
                  <a:cubicBezTo>
                    <a:pt x="24410290" y="0"/>
                    <a:pt x="24417782" y="7620"/>
                    <a:pt x="24417782" y="16891"/>
                  </a:cubicBezTo>
                  <a:lnTo>
                    <a:pt x="24417782" y="1772539"/>
                  </a:lnTo>
                  <a:cubicBezTo>
                    <a:pt x="24417782" y="1781937"/>
                    <a:pt x="24410163" y="1789430"/>
                    <a:pt x="24400890"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24400890" y="1755648"/>
                  </a:lnTo>
                  <a:lnTo>
                    <a:pt x="24400890" y="1772539"/>
                  </a:lnTo>
                  <a:lnTo>
                    <a:pt x="24384000" y="1772539"/>
                  </a:lnTo>
                  <a:lnTo>
                    <a:pt x="24384000" y="16891"/>
                  </a:lnTo>
                  <a:lnTo>
                    <a:pt x="24400890" y="16891"/>
                  </a:lnTo>
                  <a:lnTo>
                    <a:pt x="24400890" y="33909"/>
                  </a:lnTo>
                  <a:lnTo>
                    <a:pt x="16891" y="33909"/>
                  </a:lnTo>
                  <a:close/>
                </a:path>
              </a:pathLst>
            </a:custGeom>
            <a:solidFill>
              <a:srgbClr val="161929"/>
            </a:solidFill>
          </p:spPr>
          <p:txBody>
            <a:bodyPr/>
            <a:lstStyle/>
            <a:p>
              <a:endParaRPr lang="es-GT"/>
            </a:p>
          </p:txBody>
        </p:sp>
      </p:grpSp>
      <p:grpSp>
        <p:nvGrpSpPr>
          <p:cNvPr id="5" name="Group 5"/>
          <p:cNvGrpSpPr/>
          <p:nvPr/>
        </p:nvGrpSpPr>
        <p:grpSpPr>
          <a:xfrm>
            <a:off x="-12697" y="1304039"/>
            <a:ext cx="18313403" cy="98555"/>
            <a:chOff x="0" y="0"/>
            <a:chExt cx="24417871" cy="131407"/>
          </a:xfrm>
        </p:grpSpPr>
        <p:sp>
          <p:nvSpPr>
            <p:cNvPr id="6" name="Freeform 6"/>
            <p:cNvSpPr/>
            <p:nvPr/>
          </p:nvSpPr>
          <p:spPr>
            <a:xfrm>
              <a:off x="16891" y="16891"/>
              <a:ext cx="24383999" cy="97536"/>
            </a:xfrm>
            <a:custGeom>
              <a:avLst/>
              <a:gdLst/>
              <a:ahLst/>
              <a:cxnLst/>
              <a:rect l="l" t="t" r="r" b="b"/>
              <a:pathLst>
                <a:path w="24383999" h="97536">
                  <a:moveTo>
                    <a:pt x="0" y="0"/>
                  </a:moveTo>
                  <a:lnTo>
                    <a:pt x="24383999" y="0"/>
                  </a:lnTo>
                  <a:lnTo>
                    <a:pt x="24383999" y="97536"/>
                  </a:lnTo>
                  <a:lnTo>
                    <a:pt x="0" y="97536"/>
                  </a:lnTo>
                  <a:close/>
                </a:path>
              </a:pathLst>
            </a:custGeom>
            <a:solidFill>
              <a:srgbClr val="5B8CFF"/>
            </a:solidFill>
          </p:spPr>
          <p:txBody>
            <a:bodyPr/>
            <a:lstStyle/>
            <a:p>
              <a:endParaRPr lang="es-GT"/>
            </a:p>
          </p:txBody>
        </p:sp>
        <p:sp>
          <p:nvSpPr>
            <p:cNvPr id="7" name="Freeform 7"/>
            <p:cNvSpPr/>
            <p:nvPr/>
          </p:nvSpPr>
          <p:spPr>
            <a:xfrm>
              <a:off x="0" y="0"/>
              <a:ext cx="24417782" cy="131320"/>
            </a:xfrm>
            <a:custGeom>
              <a:avLst/>
              <a:gdLst/>
              <a:ahLst/>
              <a:cxnLst/>
              <a:rect l="l" t="t" r="r" b="b"/>
              <a:pathLst>
                <a:path w="24417782" h="131320">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5B8CFF"/>
            </a:solidFill>
          </p:spPr>
          <p:txBody>
            <a:bodyPr/>
            <a:lstStyle/>
            <a:p>
              <a:endParaRPr lang="es-GT"/>
            </a:p>
          </p:txBody>
        </p:sp>
      </p:grpSp>
      <p:grpSp>
        <p:nvGrpSpPr>
          <p:cNvPr id="8" name="Group 8"/>
          <p:cNvGrpSpPr/>
          <p:nvPr/>
        </p:nvGrpSpPr>
        <p:grpSpPr>
          <a:xfrm>
            <a:off x="822960" y="0"/>
            <a:ext cx="16642080" cy="1316736"/>
            <a:chOff x="0" y="0"/>
            <a:chExt cx="22189440" cy="1755648"/>
          </a:xfrm>
        </p:grpSpPr>
        <p:sp>
          <p:nvSpPr>
            <p:cNvPr id="9" name="Freeform 9"/>
            <p:cNvSpPr/>
            <p:nvPr/>
          </p:nvSpPr>
          <p:spPr>
            <a:xfrm>
              <a:off x="0" y="0"/>
              <a:ext cx="22189439" cy="1755648"/>
            </a:xfrm>
            <a:custGeom>
              <a:avLst/>
              <a:gdLst/>
              <a:ahLst/>
              <a:cxnLst/>
              <a:rect l="l" t="t" r="r" b="b"/>
              <a:pathLst>
                <a:path w="22189439" h="1755648">
                  <a:moveTo>
                    <a:pt x="0" y="0"/>
                  </a:moveTo>
                  <a:lnTo>
                    <a:pt x="22189439" y="0"/>
                  </a:lnTo>
                  <a:lnTo>
                    <a:pt x="22189439" y="1755648"/>
                  </a:lnTo>
                  <a:lnTo>
                    <a:pt x="0" y="1755648"/>
                  </a:lnTo>
                  <a:close/>
                </a:path>
              </a:pathLst>
            </a:custGeom>
            <a:blipFill>
              <a:blip r:embed="rId3">
                <a:alphaModFix amt="0"/>
              </a:blip>
              <a:stretch>
                <a:fillRect t="-196269" b="-196269"/>
              </a:stretch>
            </a:blipFill>
          </p:spPr>
          <p:txBody>
            <a:bodyPr/>
            <a:lstStyle/>
            <a:p>
              <a:endParaRPr lang="es-GT"/>
            </a:p>
          </p:txBody>
        </p:sp>
        <p:sp>
          <p:nvSpPr>
            <p:cNvPr id="10" name="TextBox 10"/>
            <p:cNvSpPr txBox="1"/>
            <p:nvPr/>
          </p:nvSpPr>
          <p:spPr>
            <a:xfrm>
              <a:off x="0" y="-76200"/>
              <a:ext cx="22189440" cy="1831848"/>
            </a:xfrm>
            <a:prstGeom prst="rect">
              <a:avLst/>
            </a:prstGeom>
          </p:spPr>
          <p:txBody>
            <a:bodyPr lIns="0" tIns="0" rIns="0" bIns="0" rtlCol="0" anchor="ctr"/>
            <a:lstStyle/>
            <a:p>
              <a:pPr algn="l">
                <a:lnSpc>
                  <a:spcPts val="5280"/>
                </a:lnSpc>
              </a:pPr>
              <a:r>
                <a:rPr lang="en-US" sz="4400" b="1">
                  <a:solidFill>
                    <a:srgbClr val="FFFFFF"/>
                  </a:solidFill>
                  <a:latin typeface="Calibri (MS) Bold"/>
                  <a:ea typeface="Calibri (MS) Bold"/>
                  <a:cs typeface="Calibri (MS) Bold"/>
                  <a:sym typeface="Calibri (MS) Bold"/>
                </a:rPr>
                <a:t>Nivel natural (narrativo)</a:t>
              </a:r>
            </a:p>
          </p:txBody>
        </p:sp>
      </p:grpSp>
      <p:grpSp>
        <p:nvGrpSpPr>
          <p:cNvPr id="11" name="Group 11"/>
          <p:cNvGrpSpPr/>
          <p:nvPr/>
        </p:nvGrpSpPr>
        <p:grpSpPr>
          <a:xfrm>
            <a:off x="-12697" y="9954263"/>
            <a:ext cx="18313403" cy="345443"/>
            <a:chOff x="0" y="0"/>
            <a:chExt cx="24417871" cy="460591"/>
          </a:xfrm>
        </p:grpSpPr>
        <p:sp>
          <p:nvSpPr>
            <p:cNvPr id="12" name="Freeform 12"/>
            <p:cNvSpPr/>
            <p:nvPr/>
          </p:nvSpPr>
          <p:spPr>
            <a:xfrm>
              <a:off x="16891" y="16891"/>
              <a:ext cx="24383999" cy="426720"/>
            </a:xfrm>
            <a:custGeom>
              <a:avLst/>
              <a:gdLst/>
              <a:ahLst/>
              <a:cxnLst/>
              <a:rect l="l" t="t" r="r" b="b"/>
              <a:pathLst>
                <a:path w="24383999" h="426720">
                  <a:moveTo>
                    <a:pt x="0" y="0"/>
                  </a:moveTo>
                  <a:lnTo>
                    <a:pt x="24383999" y="0"/>
                  </a:lnTo>
                  <a:lnTo>
                    <a:pt x="24383999" y="426720"/>
                  </a:lnTo>
                  <a:lnTo>
                    <a:pt x="0" y="426720"/>
                  </a:lnTo>
                  <a:close/>
                </a:path>
              </a:pathLst>
            </a:custGeom>
            <a:solidFill>
              <a:srgbClr val="12152A"/>
            </a:solidFill>
          </p:spPr>
          <p:txBody>
            <a:bodyPr/>
            <a:lstStyle/>
            <a:p>
              <a:endParaRPr lang="es-GT"/>
            </a:p>
          </p:txBody>
        </p:sp>
        <p:sp>
          <p:nvSpPr>
            <p:cNvPr id="13" name="Freeform 13"/>
            <p:cNvSpPr/>
            <p:nvPr/>
          </p:nvSpPr>
          <p:spPr>
            <a:xfrm>
              <a:off x="0" y="0"/>
              <a:ext cx="24417782" cy="460504"/>
            </a:xfrm>
            <a:custGeom>
              <a:avLst/>
              <a:gdLst/>
              <a:ahLst/>
              <a:cxnLst/>
              <a:rect l="l" t="t" r="r" b="b"/>
              <a:pathLst>
                <a:path w="24417782" h="460504">
                  <a:moveTo>
                    <a:pt x="16891" y="0"/>
                  </a:moveTo>
                  <a:lnTo>
                    <a:pt x="24400890" y="0"/>
                  </a:lnTo>
                  <a:cubicBezTo>
                    <a:pt x="24410290" y="0"/>
                    <a:pt x="24417782" y="7620"/>
                    <a:pt x="24417782" y="16891"/>
                  </a:cubicBezTo>
                  <a:lnTo>
                    <a:pt x="24417782" y="443611"/>
                  </a:lnTo>
                  <a:cubicBezTo>
                    <a:pt x="24417782" y="453009"/>
                    <a:pt x="24410163" y="460502"/>
                    <a:pt x="24400890" y="460502"/>
                  </a:cubicBezTo>
                  <a:lnTo>
                    <a:pt x="16891" y="460502"/>
                  </a:lnTo>
                  <a:cubicBezTo>
                    <a:pt x="7620" y="460629"/>
                    <a:pt x="0" y="453009"/>
                    <a:pt x="0" y="443611"/>
                  </a:cubicBezTo>
                  <a:lnTo>
                    <a:pt x="0" y="16891"/>
                  </a:lnTo>
                  <a:cubicBezTo>
                    <a:pt x="0" y="7620"/>
                    <a:pt x="7620" y="0"/>
                    <a:pt x="16891" y="0"/>
                  </a:cubicBezTo>
                  <a:moveTo>
                    <a:pt x="16891" y="33909"/>
                  </a:moveTo>
                  <a:lnTo>
                    <a:pt x="16891" y="16891"/>
                  </a:lnTo>
                  <a:lnTo>
                    <a:pt x="33909" y="16891"/>
                  </a:lnTo>
                  <a:lnTo>
                    <a:pt x="33909" y="443611"/>
                  </a:lnTo>
                  <a:lnTo>
                    <a:pt x="16891" y="443611"/>
                  </a:lnTo>
                  <a:lnTo>
                    <a:pt x="16891" y="426720"/>
                  </a:lnTo>
                  <a:lnTo>
                    <a:pt x="24400890" y="426720"/>
                  </a:lnTo>
                  <a:lnTo>
                    <a:pt x="24400890" y="443611"/>
                  </a:lnTo>
                  <a:lnTo>
                    <a:pt x="24384000" y="443611"/>
                  </a:lnTo>
                  <a:lnTo>
                    <a:pt x="24384000" y="16891"/>
                  </a:lnTo>
                  <a:lnTo>
                    <a:pt x="24400890" y="16891"/>
                  </a:lnTo>
                  <a:lnTo>
                    <a:pt x="24400890" y="33909"/>
                  </a:lnTo>
                  <a:lnTo>
                    <a:pt x="16891" y="33909"/>
                  </a:lnTo>
                  <a:close/>
                </a:path>
              </a:pathLst>
            </a:custGeom>
            <a:solidFill>
              <a:srgbClr val="12152A"/>
            </a:solidFill>
          </p:spPr>
          <p:txBody>
            <a:bodyPr/>
            <a:lstStyle/>
            <a:p>
              <a:endParaRPr lang="es-GT"/>
            </a:p>
          </p:txBody>
        </p:sp>
      </p:grpSp>
      <p:grpSp>
        <p:nvGrpSpPr>
          <p:cNvPr id="14" name="Group 14"/>
          <p:cNvGrpSpPr/>
          <p:nvPr/>
        </p:nvGrpSpPr>
        <p:grpSpPr>
          <a:xfrm>
            <a:off x="17007840" y="9966960"/>
            <a:ext cx="914400" cy="320040"/>
            <a:chOff x="0" y="0"/>
            <a:chExt cx="1219200" cy="426720"/>
          </a:xfrm>
        </p:grpSpPr>
        <p:sp>
          <p:nvSpPr>
            <p:cNvPr id="15" name="Freeform 15"/>
            <p:cNvSpPr/>
            <p:nvPr/>
          </p:nvSpPr>
          <p:spPr>
            <a:xfrm>
              <a:off x="0" y="0"/>
              <a:ext cx="1219200" cy="426720"/>
            </a:xfrm>
            <a:custGeom>
              <a:avLst/>
              <a:gdLst/>
              <a:ahLst/>
              <a:cxnLst/>
              <a:rect l="l" t="t" r="r" b="b"/>
              <a:pathLst>
                <a:path w="1219200" h="426720">
                  <a:moveTo>
                    <a:pt x="0" y="0"/>
                  </a:moveTo>
                  <a:lnTo>
                    <a:pt x="1219200" y="0"/>
                  </a:lnTo>
                  <a:lnTo>
                    <a:pt x="1219200" y="426720"/>
                  </a:lnTo>
                  <a:lnTo>
                    <a:pt x="0" y="426720"/>
                  </a:lnTo>
                  <a:close/>
                </a:path>
              </a:pathLst>
            </a:custGeom>
            <a:blipFill>
              <a:blip r:embed="rId3">
                <a:alphaModFix amt="0"/>
              </a:blip>
              <a:stretch>
                <a:fillRect t="-5671" b="-5671"/>
              </a:stretch>
            </a:blipFill>
          </p:spPr>
          <p:txBody>
            <a:bodyPr/>
            <a:lstStyle/>
            <a:p>
              <a:endParaRPr lang="es-GT"/>
            </a:p>
          </p:txBody>
        </p:sp>
        <p:sp>
          <p:nvSpPr>
            <p:cNvPr id="16" name="TextBox 16"/>
            <p:cNvSpPr txBox="1"/>
            <p:nvPr/>
          </p:nvSpPr>
          <p:spPr>
            <a:xfrm>
              <a:off x="0" y="-38100"/>
              <a:ext cx="1219200" cy="464820"/>
            </a:xfrm>
            <a:prstGeom prst="rect">
              <a:avLst/>
            </a:prstGeom>
          </p:spPr>
          <p:txBody>
            <a:bodyPr lIns="0" tIns="0" rIns="0" bIns="0" rtlCol="0" anchor="ctr"/>
            <a:lstStyle/>
            <a:p>
              <a:pPr algn="r">
                <a:lnSpc>
                  <a:spcPts val="1800"/>
                </a:lnSpc>
              </a:pPr>
              <a:r>
                <a:rPr lang="en-US" sz="1500">
                  <a:solidFill>
                    <a:srgbClr val="6E7A9F"/>
                  </a:solidFill>
                  <a:latin typeface="Calibri (MS)"/>
                  <a:ea typeface="Calibri (MS)"/>
                  <a:cs typeface="Calibri (MS)"/>
                  <a:sym typeface="Calibri (MS)"/>
                </a:rPr>
                <a:t>11</a:t>
              </a:r>
            </a:p>
          </p:txBody>
        </p:sp>
      </p:grpSp>
      <p:grpSp>
        <p:nvGrpSpPr>
          <p:cNvPr id="17" name="Group 17"/>
          <p:cNvGrpSpPr/>
          <p:nvPr/>
        </p:nvGrpSpPr>
        <p:grpSpPr>
          <a:xfrm>
            <a:off x="718823" y="1596647"/>
            <a:ext cx="8255003" cy="8255003"/>
            <a:chOff x="0" y="0"/>
            <a:chExt cx="11006671" cy="11006671"/>
          </a:xfrm>
        </p:grpSpPr>
        <p:sp>
          <p:nvSpPr>
            <p:cNvPr id="18" name="Freeform 18"/>
            <p:cNvSpPr/>
            <p:nvPr/>
          </p:nvSpPr>
          <p:spPr>
            <a:xfrm>
              <a:off x="16891" y="16891"/>
              <a:ext cx="10972800" cy="10972800"/>
            </a:xfrm>
            <a:custGeom>
              <a:avLst/>
              <a:gdLst/>
              <a:ahLst/>
              <a:cxnLst/>
              <a:rect l="l" t="t" r="r" b="b"/>
              <a:pathLst>
                <a:path w="10972800" h="10972800">
                  <a:moveTo>
                    <a:pt x="0" y="0"/>
                  </a:moveTo>
                  <a:lnTo>
                    <a:pt x="10972800" y="0"/>
                  </a:lnTo>
                  <a:lnTo>
                    <a:pt x="10972800" y="10972800"/>
                  </a:lnTo>
                  <a:lnTo>
                    <a:pt x="0" y="10972800"/>
                  </a:lnTo>
                  <a:close/>
                </a:path>
              </a:pathLst>
            </a:custGeom>
            <a:solidFill>
              <a:srgbClr val="252B42"/>
            </a:solidFill>
          </p:spPr>
          <p:txBody>
            <a:bodyPr/>
            <a:lstStyle/>
            <a:p>
              <a:endParaRPr lang="es-GT"/>
            </a:p>
          </p:txBody>
        </p:sp>
        <p:sp>
          <p:nvSpPr>
            <p:cNvPr id="19" name="Freeform 19"/>
            <p:cNvSpPr/>
            <p:nvPr/>
          </p:nvSpPr>
          <p:spPr>
            <a:xfrm>
              <a:off x="0" y="0"/>
              <a:ext cx="11006582" cy="11006582"/>
            </a:xfrm>
            <a:custGeom>
              <a:avLst/>
              <a:gdLst/>
              <a:ahLst/>
              <a:cxnLst/>
              <a:rect l="l" t="t" r="r" b="b"/>
              <a:pathLst>
                <a:path w="11006582" h="11006582">
                  <a:moveTo>
                    <a:pt x="16891" y="0"/>
                  </a:moveTo>
                  <a:lnTo>
                    <a:pt x="10989691" y="0"/>
                  </a:lnTo>
                  <a:cubicBezTo>
                    <a:pt x="10999089" y="0"/>
                    <a:pt x="11006582" y="7620"/>
                    <a:pt x="11006582" y="16891"/>
                  </a:cubicBezTo>
                  <a:lnTo>
                    <a:pt x="11006582" y="10989691"/>
                  </a:lnTo>
                  <a:cubicBezTo>
                    <a:pt x="11006582" y="10999089"/>
                    <a:pt x="10998962" y="11006582"/>
                    <a:pt x="10989691" y="11006582"/>
                  </a:cubicBezTo>
                  <a:lnTo>
                    <a:pt x="16891" y="11006582"/>
                  </a:lnTo>
                  <a:cubicBezTo>
                    <a:pt x="7493" y="11006582"/>
                    <a:pt x="0" y="10998962"/>
                    <a:pt x="0" y="10989691"/>
                  </a:cubicBezTo>
                  <a:lnTo>
                    <a:pt x="0" y="16891"/>
                  </a:lnTo>
                  <a:cubicBezTo>
                    <a:pt x="0" y="7620"/>
                    <a:pt x="7620" y="0"/>
                    <a:pt x="16891" y="0"/>
                  </a:cubicBezTo>
                  <a:moveTo>
                    <a:pt x="16891" y="33909"/>
                  </a:moveTo>
                  <a:lnTo>
                    <a:pt x="16891" y="16891"/>
                  </a:lnTo>
                  <a:lnTo>
                    <a:pt x="33909" y="16891"/>
                  </a:lnTo>
                  <a:lnTo>
                    <a:pt x="33909" y="10989691"/>
                  </a:lnTo>
                  <a:lnTo>
                    <a:pt x="16891" y="10989691"/>
                  </a:lnTo>
                  <a:lnTo>
                    <a:pt x="16891" y="10972800"/>
                  </a:lnTo>
                  <a:lnTo>
                    <a:pt x="10989691" y="10972800"/>
                  </a:lnTo>
                  <a:lnTo>
                    <a:pt x="10989691" y="10989691"/>
                  </a:lnTo>
                  <a:lnTo>
                    <a:pt x="10972800" y="10989691"/>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grpSp>
        <p:nvGrpSpPr>
          <p:cNvPr id="20" name="Group 20"/>
          <p:cNvGrpSpPr/>
          <p:nvPr/>
        </p:nvGrpSpPr>
        <p:grpSpPr>
          <a:xfrm>
            <a:off x="1097280" y="1828800"/>
            <a:ext cx="7498080" cy="640080"/>
            <a:chOff x="0" y="0"/>
            <a:chExt cx="9997440" cy="853440"/>
          </a:xfrm>
        </p:grpSpPr>
        <p:sp>
          <p:nvSpPr>
            <p:cNvPr id="21" name="Freeform 21"/>
            <p:cNvSpPr/>
            <p:nvPr/>
          </p:nvSpPr>
          <p:spPr>
            <a:xfrm>
              <a:off x="0" y="0"/>
              <a:ext cx="9997440" cy="853440"/>
            </a:xfrm>
            <a:custGeom>
              <a:avLst/>
              <a:gdLst/>
              <a:ahLst/>
              <a:cxnLst/>
              <a:rect l="l" t="t" r="r" b="b"/>
              <a:pathLst>
                <a:path w="9997440" h="853440">
                  <a:moveTo>
                    <a:pt x="0" y="0"/>
                  </a:moveTo>
                  <a:lnTo>
                    <a:pt x="9997440" y="0"/>
                  </a:lnTo>
                  <a:lnTo>
                    <a:pt x="9997440" y="853440"/>
                  </a:lnTo>
                  <a:lnTo>
                    <a:pt x="0" y="853440"/>
                  </a:lnTo>
                  <a:close/>
                </a:path>
              </a:pathLst>
            </a:custGeom>
            <a:blipFill>
              <a:blip r:embed="rId3">
                <a:alphaModFix amt="0"/>
              </a:blip>
              <a:stretch>
                <a:fillRect t="-178253" b="-178253"/>
              </a:stretch>
            </a:blipFill>
          </p:spPr>
          <p:txBody>
            <a:bodyPr/>
            <a:lstStyle/>
            <a:p>
              <a:endParaRPr lang="es-GT"/>
            </a:p>
          </p:txBody>
        </p:sp>
        <p:sp>
          <p:nvSpPr>
            <p:cNvPr id="22" name="TextBox 22"/>
            <p:cNvSpPr txBox="1"/>
            <p:nvPr/>
          </p:nvSpPr>
          <p:spPr>
            <a:xfrm>
              <a:off x="0" y="-57150"/>
              <a:ext cx="9997440" cy="910590"/>
            </a:xfrm>
            <a:prstGeom prst="rect">
              <a:avLst/>
            </a:prstGeom>
          </p:spPr>
          <p:txBody>
            <a:bodyPr lIns="0" tIns="0" rIns="0" bIns="0" rtlCol="0" anchor="ctr"/>
            <a:lstStyle/>
            <a:p>
              <a:pPr algn="l">
                <a:lnSpc>
                  <a:spcPts val="3120"/>
                </a:lnSpc>
              </a:pPr>
              <a:r>
                <a:rPr lang="en-US" sz="2600" b="1">
                  <a:solidFill>
                    <a:srgbClr val="5B8CFF"/>
                  </a:solidFill>
                  <a:latin typeface="Calibri (MS) Bold"/>
                  <a:ea typeface="Calibri (MS) Bold"/>
                  <a:cs typeface="Calibri (MS) Bold"/>
                  <a:sym typeface="Calibri (MS) Bold"/>
                </a:rPr>
                <a:t>Características</a:t>
              </a:r>
            </a:p>
          </p:txBody>
        </p:sp>
      </p:grpSp>
      <p:grpSp>
        <p:nvGrpSpPr>
          <p:cNvPr id="23" name="Group 23"/>
          <p:cNvGrpSpPr/>
          <p:nvPr/>
        </p:nvGrpSpPr>
        <p:grpSpPr>
          <a:xfrm>
            <a:off x="1097280" y="2596896"/>
            <a:ext cx="7498080" cy="4572000"/>
            <a:chOff x="0" y="0"/>
            <a:chExt cx="9997440" cy="6096000"/>
          </a:xfrm>
        </p:grpSpPr>
        <p:sp>
          <p:nvSpPr>
            <p:cNvPr id="24" name="Freeform 24"/>
            <p:cNvSpPr/>
            <p:nvPr/>
          </p:nvSpPr>
          <p:spPr>
            <a:xfrm>
              <a:off x="0" y="0"/>
              <a:ext cx="9997440" cy="6096000"/>
            </a:xfrm>
            <a:custGeom>
              <a:avLst/>
              <a:gdLst/>
              <a:ahLst/>
              <a:cxnLst/>
              <a:rect l="l" t="t" r="r" b="b"/>
              <a:pathLst>
                <a:path w="9997440" h="6096000">
                  <a:moveTo>
                    <a:pt x="0" y="0"/>
                  </a:moveTo>
                  <a:lnTo>
                    <a:pt x="9997440" y="0"/>
                  </a:lnTo>
                  <a:lnTo>
                    <a:pt x="9997440" y="6096000"/>
                  </a:lnTo>
                  <a:lnTo>
                    <a:pt x="0" y="6096000"/>
                  </a:lnTo>
                  <a:close/>
                </a:path>
              </a:pathLst>
            </a:custGeom>
            <a:blipFill>
              <a:blip r:embed="rId3">
                <a:alphaModFix amt="0"/>
              </a:blip>
              <a:stretch>
                <a:fillRect l="-28233" r="-28233"/>
              </a:stretch>
            </a:blipFill>
          </p:spPr>
          <p:txBody>
            <a:bodyPr/>
            <a:lstStyle/>
            <a:p>
              <a:endParaRPr lang="es-GT"/>
            </a:p>
          </p:txBody>
        </p:sp>
        <p:sp>
          <p:nvSpPr>
            <p:cNvPr id="25" name="TextBox 25"/>
            <p:cNvSpPr txBox="1"/>
            <p:nvPr/>
          </p:nvSpPr>
          <p:spPr>
            <a:xfrm>
              <a:off x="0" y="-66675"/>
              <a:ext cx="9997440" cy="6162675"/>
            </a:xfrm>
            <a:prstGeom prst="rect">
              <a:avLst/>
            </a:prstGeom>
          </p:spPr>
          <p:txBody>
            <a:bodyPr lIns="0" tIns="0" rIns="0" bIns="0" rtlCol="0" anchor="ctr"/>
            <a:lstStyle/>
            <a:p>
              <a:pPr marL="675636" lvl="1" indent="-337818" algn="l">
                <a:lnSpc>
                  <a:spcPts val="3359"/>
                </a:lnSpc>
                <a:buFont typeface="Arial"/>
                <a:buChar char="•"/>
              </a:pPr>
              <a:r>
                <a:rPr lang="en-US" sz="2799">
                  <a:solidFill>
                    <a:srgbClr val="FFFFFF"/>
                  </a:solidFill>
                  <a:latin typeface="Calibri (MS)"/>
                  <a:ea typeface="Calibri (MS)"/>
                  <a:cs typeface="Calibri (MS)"/>
                  <a:sym typeface="Calibri (MS)"/>
                </a:rPr>
                <a:t>Expresado en el idioma natural del autor (español, inglés, etc.).</a:t>
              </a:r>
            </a:p>
            <a:p>
              <a:pPr marL="675636" lvl="1" indent="-337818" algn="l">
                <a:lnSpc>
                  <a:spcPts val="3359"/>
                </a:lnSpc>
                <a:buFont typeface="Arial"/>
                <a:buChar char="•"/>
              </a:pPr>
              <a:r>
                <a:rPr lang="en-US" sz="2799">
                  <a:solidFill>
                    <a:srgbClr val="FFFFFF"/>
                  </a:solidFill>
                  <a:latin typeface="Calibri (MS)"/>
                  <a:ea typeface="Calibri (MS)"/>
                  <a:cs typeface="Calibri (MS)"/>
                  <a:sym typeface="Calibri (MS)"/>
                </a:rPr>
                <a:t>Sin formalismo ni sintaxis especial.</a:t>
              </a:r>
            </a:p>
            <a:p>
              <a:pPr marL="675636" lvl="1" indent="-337818" algn="l">
                <a:lnSpc>
                  <a:spcPts val="3359"/>
                </a:lnSpc>
                <a:buFont typeface="Arial"/>
                <a:buChar char="•"/>
              </a:pPr>
              <a:r>
                <a:rPr lang="en-US" sz="2799">
                  <a:solidFill>
                    <a:srgbClr val="FFFFFF"/>
                  </a:solidFill>
                  <a:latin typeface="Calibri (MS)"/>
                  <a:ea typeface="Calibri (MS)"/>
                  <a:cs typeface="Calibri (MS)"/>
                  <a:sym typeface="Calibri (MS)"/>
                </a:rPr>
                <a:t>Puede ser ambiguo o impreciso.</a:t>
              </a:r>
            </a:p>
            <a:p>
              <a:pPr marL="675636" lvl="1" indent="-337818" algn="l">
                <a:lnSpc>
                  <a:spcPts val="3359"/>
                </a:lnSpc>
                <a:buFont typeface="Arial"/>
                <a:buChar char="•"/>
              </a:pPr>
              <a:r>
                <a:rPr lang="en-US" sz="2799">
                  <a:solidFill>
                    <a:srgbClr val="FFFFFF"/>
                  </a:solidFill>
                  <a:latin typeface="Calibri (MS)"/>
                  <a:ea typeface="Calibri (MS)"/>
                  <a:cs typeface="Calibri (MS)"/>
                  <a:sym typeface="Calibri (MS)"/>
                </a:rPr>
                <a:t>Útil en la fase de análisis inicial del problema.</a:t>
              </a:r>
            </a:p>
            <a:p>
              <a:pPr marL="675636" lvl="1" indent="-337818" algn="l">
                <a:lnSpc>
                  <a:spcPts val="3359"/>
                </a:lnSpc>
                <a:buFont typeface="Arial"/>
                <a:buChar char="•"/>
              </a:pPr>
              <a:r>
                <a:rPr lang="en-US" sz="2799">
                  <a:solidFill>
                    <a:srgbClr val="FFFFFF"/>
                  </a:solidFill>
                  <a:latin typeface="Calibri (MS)"/>
                  <a:ea typeface="Calibri (MS)"/>
                  <a:cs typeface="Calibri (MS)"/>
                  <a:sym typeface="Calibri (MS)"/>
                </a:rPr>
                <a:t>No es directamente ejecutable por una computadora.</a:t>
              </a:r>
            </a:p>
            <a:p>
              <a:pPr marL="675636" lvl="1" indent="-337818" algn="l">
                <a:lnSpc>
                  <a:spcPts val="3359"/>
                </a:lnSpc>
              </a:pPr>
              <a:endParaRPr lang="en-US" sz="2799">
                <a:solidFill>
                  <a:srgbClr val="FFFFFF"/>
                </a:solidFill>
                <a:latin typeface="Calibri (MS)"/>
                <a:ea typeface="Calibri (MS)"/>
                <a:cs typeface="Calibri (MS)"/>
                <a:sym typeface="Calibri (MS)"/>
              </a:endParaRPr>
            </a:p>
          </p:txBody>
        </p:sp>
      </p:grpSp>
      <p:grpSp>
        <p:nvGrpSpPr>
          <p:cNvPr id="26" name="Group 26"/>
          <p:cNvGrpSpPr/>
          <p:nvPr/>
        </p:nvGrpSpPr>
        <p:grpSpPr>
          <a:xfrm>
            <a:off x="1097280" y="6836689"/>
            <a:ext cx="7523483" cy="2689619"/>
            <a:chOff x="0" y="0"/>
            <a:chExt cx="10031311" cy="3586158"/>
          </a:xfrm>
        </p:grpSpPr>
        <p:sp>
          <p:nvSpPr>
            <p:cNvPr id="27" name="Freeform 27"/>
            <p:cNvSpPr/>
            <p:nvPr/>
          </p:nvSpPr>
          <p:spPr>
            <a:xfrm>
              <a:off x="16891" y="22302"/>
              <a:ext cx="9997440" cy="3541437"/>
            </a:xfrm>
            <a:custGeom>
              <a:avLst/>
              <a:gdLst/>
              <a:ahLst/>
              <a:cxnLst/>
              <a:rect l="l" t="t" r="r" b="b"/>
              <a:pathLst>
                <a:path w="9997440" h="3541437">
                  <a:moveTo>
                    <a:pt x="0" y="0"/>
                  </a:moveTo>
                  <a:lnTo>
                    <a:pt x="9997440" y="0"/>
                  </a:lnTo>
                  <a:lnTo>
                    <a:pt x="9997440" y="3541437"/>
                  </a:lnTo>
                  <a:lnTo>
                    <a:pt x="0" y="3541437"/>
                  </a:lnTo>
                  <a:close/>
                </a:path>
              </a:pathLst>
            </a:custGeom>
            <a:solidFill>
              <a:srgbClr val="1A2040"/>
            </a:solidFill>
          </p:spPr>
          <p:txBody>
            <a:bodyPr/>
            <a:lstStyle/>
            <a:p>
              <a:endParaRPr lang="es-GT"/>
            </a:p>
          </p:txBody>
        </p:sp>
        <p:sp>
          <p:nvSpPr>
            <p:cNvPr id="28" name="Freeform 28"/>
            <p:cNvSpPr/>
            <p:nvPr/>
          </p:nvSpPr>
          <p:spPr>
            <a:xfrm>
              <a:off x="0" y="0"/>
              <a:ext cx="10031222" cy="3586041"/>
            </a:xfrm>
            <a:custGeom>
              <a:avLst/>
              <a:gdLst/>
              <a:ahLst/>
              <a:cxnLst/>
              <a:rect l="l" t="t" r="r" b="b"/>
              <a:pathLst>
                <a:path w="10031222" h="3586041">
                  <a:moveTo>
                    <a:pt x="16891" y="0"/>
                  </a:moveTo>
                  <a:lnTo>
                    <a:pt x="10014331" y="0"/>
                  </a:lnTo>
                  <a:cubicBezTo>
                    <a:pt x="10023729" y="0"/>
                    <a:pt x="10031222" y="10061"/>
                    <a:pt x="10031222" y="22302"/>
                  </a:cubicBezTo>
                  <a:lnTo>
                    <a:pt x="10031222" y="3563739"/>
                  </a:lnTo>
                  <a:cubicBezTo>
                    <a:pt x="10031222" y="3576148"/>
                    <a:pt x="10023602" y="3586041"/>
                    <a:pt x="10014331" y="3586041"/>
                  </a:cubicBezTo>
                  <a:lnTo>
                    <a:pt x="16891" y="3586041"/>
                  </a:lnTo>
                  <a:cubicBezTo>
                    <a:pt x="7493" y="3586041"/>
                    <a:pt x="0" y="3575980"/>
                    <a:pt x="0" y="3563739"/>
                  </a:cubicBezTo>
                  <a:lnTo>
                    <a:pt x="0" y="22302"/>
                  </a:lnTo>
                  <a:cubicBezTo>
                    <a:pt x="0" y="10061"/>
                    <a:pt x="7620" y="0"/>
                    <a:pt x="16891" y="0"/>
                  </a:cubicBezTo>
                  <a:moveTo>
                    <a:pt x="16891" y="44771"/>
                  </a:moveTo>
                  <a:lnTo>
                    <a:pt x="16891" y="22302"/>
                  </a:lnTo>
                  <a:lnTo>
                    <a:pt x="33909" y="22302"/>
                  </a:lnTo>
                  <a:lnTo>
                    <a:pt x="33909" y="3563739"/>
                  </a:lnTo>
                  <a:lnTo>
                    <a:pt x="16891" y="3563739"/>
                  </a:lnTo>
                  <a:lnTo>
                    <a:pt x="16891" y="3541437"/>
                  </a:lnTo>
                  <a:lnTo>
                    <a:pt x="10014331" y="3541437"/>
                  </a:lnTo>
                  <a:lnTo>
                    <a:pt x="10014331" y="3563739"/>
                  </a:lnTo>
                  <a:lnTo>
                    <a:pt x="9997440" y="3563739"/>
                  </a:lnTo>
                  <a:lnTo>
                    <a:pt x="9997440" y="22302"/>
                  </a:lnTo>
                  <a:lnTo>
                    <a:pt x="10014331" y="22302"/>
                  </a:lnTo>
                  <a:lnTo>
                    <a:pt x="10014331" y="44771"/>
                  </a:lnTo>
                  <a:lnTo>
                    <a:pt x="16891" y="44771"/>
                  </a:lnTo>
                  <a:close/>
                </a:path>
              </a:pathLst>
            </a:custGeom>
            <a:solidFill>
              <a:srgbClr val="5B8CFF"/>
            </a:solidFill>
          </p:spPr>
          <p:txBody>
            <a:bodyPr/>
            <a:lstStyle/>
            <a:p>
              <a:endParaRPr lang="es-GT"/>
            </a:p>
          </p:txBody>
        </p:sp>
      </p:grpSp>
      <p:grpSp>
        <p:nvGrpSpPr>
          <p:cNvPr id="29" name="Group 29"/>
          <p:cNvGrpSpPr/>
          <p:nvPr/>
        </p:nvGrpSpPr>
        <p:grpSpPr>
          <a:xfrm>
            <a:off x="1371600" y="7117080"/>
            <a:ext cx="6949440" cy="512064"/>
            <a:chOff x="0" y="0"/>
            <a:chExt cx="9265920" cy="682752"/>
          </a:xfrm>
        </p:grpSpPr>
        <p:sp>
          <p:nvSpPr>
            <p:cNvPr id="30" name="Freeform 30"/>
            <p:cNvSpPr/>
            <p:nvPr/>
          </p:nvSpPr>
          <p:spPr>
            <a:xfrm>
              <a:off x="0" y="0"/>
              <a:ext cx="9265920" cy="682752"/>
            </a:xfrm>
            <a:custGeom>
              <a:avLst/>
              <a:gdLst/>
              <a:ahLst/>
              <a:cxnLst/>
              <a:rect l="l" t="t" r="r" b="b"/>
              <a:pathLst>
                <a:path w="9265920" h="682752">
                  <a:moveTo>
                    <a:pt x="0" y="0"/>
                  </a:moveTo>
                  <a:lnTo>
                    <a:pt x="9265920" y="0"/>
                  </a:lnTo>
                  <a:lnTo>
                    <a:pt x="9265920" y="682752"/>
                  </a:lnTo>
                  <a:lnTo>
                    <a:pt x="0" y="682752"/>
                  </a:lnTo>
                  <a:close/>
                </a:path>
              </a:pathLst>
            </a:custGeom>
            <a:blipFill>
              <a:blip r:embed="rId3">
                <a:alphaModFix amt="0"/>
              </a:blip>
              <a:stretch>
                <a:fillRect t="-214439" b="-214439"/>
              </a:stretch>
            </a:blipFill>
          </p:spPr>
          <p:txBody>
            <a:bodyPr/>
            <a:lstStyle/>
            <a:p>
              <a:endParaRPr lang="es-GT"/>
            </a:p>
          </p:txBody>
        </p:sp>
        <p:sp>
          <p:nvSpPr>
            <p:cNvPr id="31" name="TextBox 31"/>
            <p:cNvSpPr txBox="1"/>
            <p:nvPr/>
          </p:nvSpPr>
          <p:spPr>
            <a:xfrm>
              <a:off x="0" y="-38100"/>
              <a:ext cx="9265920" cy="720852"/>
            </a:xfrm>
            <a:prstGeom prst="rect">
              <a:avLst/>
            </a:prstGeom>
          </p:spPr>
          <p:txBody>
            <a:bodyPr lIns="0" tIns="0" rIns="0" bIns="0" rtlCol="0" anchor="ctr"/>
            <a:lstStyle/>
            <a:p>
              <a:pPr algn="l">
                <a:lnSpc>
                  <a:spcPts val="2400"/>
                </a:lnSpc>
              </a:pPr>
              <a:r>
                <a:rPr lang="en-US" sz="2000" b="1">
                  <a:solidFill>
                    <a:srgbClr val="5B8CFF"/>
                  </a:solidFill>
                  <a:latin typeface="Calibri (MS) Bold"/>
                  <a:ea typeface="Calibri (MS) Bold"/>
                  <a:cs typeface="Calibri (MS) Bold"/>
                  <a:sym typeface="Calibri (MS) Bold"/>
                </a:rPr>
                <a:t>Ejemplo: Validar si un número es par</a:t>
              </a:r>
            </a:p>
          </p:txBody>
        </p:sp>
      </p:grpSp>
      <p:grpSp>
        <p:nvGrpSpPr>
          <p:cNvPr id="32" name="Group 32"/>
          <p:cNvGrpSpPr/>
          <p:nvPr/>
        </p:nvGrpSpPr>
        <p:grpSpPr>
          <a:xfrm>
            <a:off x="1371600" y="7692182"/>
            <a:ext cx="6949440" cy="1566118"/>
            <a:chOff x="0" y="0"/>
            <a:chExt cx="9265920" cy="2088157"/>
          </a:xfrm>
        </p:grpSpPr>
        <p:sp>
          <p:nvSpPr>
            <p:cNvPr id="33" name="Freeform 33"/>
            <p:cNvSpPr/>
            <p:nvPr/>
          </p:nvSpPr>
          <p:spPr>
            <a:xfrm>
              <a:off x="0" y="0"/>
              <a:ext cx="9265920" cy="2088157"/>
            </a:xfrm>
            <a:custGeom>
              <a:avLst/>
              <a:gdLst/>
              <a:ahLst/>
              <a:cxnLst/>
              <a:rect l="l" t="t" r="r" b="b"/>
              <a:pathLst>
                <a:path w="9265920" h="2088157">
                  <a:moveTo>
                    <a:pt x="0" y="0"/>
                  </a:moveTo>
                  <a:lnTo>
                    <a:pt x="9265920" y="0"/>
                  </a:lnTo>
                  <a:lnTo>
                    <a:pt x="9265920" y="2088157"/>
                  </a:lnTo>
                  <a:lnTo>
                    <a:pt x="0" y="2088157"/>
                  </a:lnTo>
                  <a:close/>
                </a:path>
              </a:pathLst>
            </a:custGeom>
            <a:blipFill>
              <a:blip r:embed="rId3">
                <a:alphaModFix amt="0"/>
              </a:blip>
              <a:stretch>
                <a:fillRect t="-46759" b="-26165"/>
              </a:stretch>
            </a:blipFill>
          </p:spPr>
          <p:txBody>
            <a:bodyPr/>
            <a:lstStyle/>
            <a:p>
              <a:endParaRPr lang="es-GT"/>
            </a:p>
          </p:txBody>
        </p:sp>
        <p:sp>
          <p:nvSpPr>
            <p:cNvPr id="34" name="TextBox 34"/>
            <p:cNvSpPr txBox="1"/>
            <p:nvPr/>
          </p:nvSpPr>
          <p:spPr>
            <a:xfrm>
              <a:off x="0" y="-57150"/>
              <a:ext cx="9265920" cy="2145307"/>
            </a:xfrm>
            <a:prstGeom prst="rect">
              <a:avLst/>
            </a:prstGeom>
          </p:spPr>
          <p:txBody>
            <a:bodyPr lIns="0" tIns="0" rIns="0" bIns="0" rtlCol="0" anchor="ctr"/>
            <a:lstStyle/>
            <a:p>
              <a:pPr algn="l">
                <a:lnSpc>
                  <a:spcPts val="2879"/>
                </a:lnSpc>
              </a:pPr>
              <a:r>
                <a:rPr lang="en-US" sz="2399">
                  <a:solidFill>
                    <a:srgbClr val="B0B8CC"/>
                  </a:solidFill>
                  <a:latin typeface="Calibri (MS)"/>
                  <a:ea typeface="Calibri (MS)"/>
                  <a:cs typeface="Calibri (MS)"/>
                  <a:sym typeface="Calibri (MS)"/>
                </a:rPr>
                <a:t>1. Solicitar un número al usuario.</a:t>
              </a:r>
            </a:p>
            <a:p>
              <a:pPr algn="l">
                <a:lnSpc>
                  <a:spcPts val="2879"/>
                </a:lnSpc>
              </a:pPr>
              <a:r>
                <a:rPr lang="en-US" sz="2399">
                  <a:solidFill>
                    <a:srgbClr val="B0B8CC"/>
                  </a:solidFill>
                  <a:latin typeface="Calibri (MS)"/>
                  <a:ea typeface="Calibri (MS)"/>
                  <a:cs typeface="Calibri (MS)"/>
                  <a:sym typeface="Calibri (MS)"/>
                </a:rPr>
                <a:t>2. Dividirlo entre 2 y obtener el residuo.</a:t>
              </a:r>
            </a:p>
            <a:p>
              <a:pPr algn="l">
                <a:lnSpc>
                  <a:spcPts val="2879"/>
                </a:lnSpc>
              </a:pPr>
              <a:r>
                <a:rPr lang="en-US" sz="2399">
                  <a:solidFill>
                    <a:srgbClr val="B0B8CC"/>
                  </a:solidFill>
                  <a:latin typeface="Calibri (MS)"/>
                  <a:ea typeface="Calibri (MS)"/>
                  <a:cs typeface="Calibri (MS)"/>
                  <a:sym typeface="Calibri (MS)"/>
                </a:rPr>
                <a:t>3. Si el residuo es 0, mostrar "El número es par".</a:t>
              </a:r>
            </a:p>
            <a:p>
              <a:pPr algn="l">
                <a:lnSpc>
                  <a:spcPts val="2879"/>
                </a:lnSpc>
              </a:pPr>
              <a:r>
                <a:rPr lang="en-US" sz="2399">
                  <a:solidFill>
                    <a:srgbClr val="B0B8CC"/>
                  </a:solidFill>
                  <a:latin typeface="Calibri (MS)"/>
                  <a:ea typeface="Calibri (MS)"/>
                  <a:cs typeface="Calibri (MS)"/>
                  <a:sym typeface="Calibri (MS)"/>
                </a:rPr>
                <a:t>4. En caso contrario, mostrar "El número es impar".</a:t>
              </a:r>
            </a:p>
          </p:txBody>
        </p:sp>
      </p:grpSp>
      <p:grpSp>
        <p:nvGrpSpPr>
          <p:cNvPr id="35" name="Group 35"/>
          <p:cNvGrpSpPr/>
          <p:nvPr/>
        </p:nvGrpSpPr>
        <p:grpSpPr>
          <a:xfrm>
            <a:off x="9418320" y="1737360"/>
            <a:ext cx="8229600" cy="640080"/>
            <a:chOff x="0" y="0"/>
            <a:chExt cx="10972800" cy="853440"/>
          </a:xfrm>
        </p:grpSpPr>
        <p:sp>
          <p:nvSpPr>
            <p:cNvPr id="36" name="Freeform 36"/>
            <p:cNvSpPr/>
            <p:nvPr/>
          </p:nvSpPr>
          <p:spPr>
            <a:xfrm>
              <a:off x="0" y="0"/>
              <a:ext cx="10972800" cy="853440"/>
            </a:xfrm>
            <a:custGeom>
              <a:avLst/>
              <a:gdLst/>
              <a:ahLst/>
              <a:cxnLst/>
              <a:rect l="l" t="t" r="r" b="b"/>
              <a:pathLst>
                <a:path w="10972800" h="853440">
                  <a:moveTo>
                    <a:pt x="0" y="0"/>
                  </a:moveTo>
                  <a:lnTo>
                    <a:pt x="10972800" y="0"/>
                  </a:lnTo>
                  <a:lnTo>
                    <a:pt x="10972800" y="853440"/>
                  </a:lnTo>
                  <a:lnTo>
                    <a:pt x="0" y="853440"/>
                  </a:lnTo>
                  <a:close/>
                </a:path>
              </a:pathLst>
            </a:custGeom>
            <a:blipFill>
              <a:blip r:embed="rId3">
                <a:alphaModFix amt="0"/>
              </a:blip>
              <a:stretch>
                <a:fillRect t="-200521" b="-200521"/>
              </a:stretch>
            </a:blipFill>
          </p:spPr>
          <p:txBody>
            <a:bodyPr/>
            <a:lstStyle/>
            <a:p>
              <a:endParaRPr lang="es-GT"/>
            </a:p>
          </p:txBody>
        </p:sp>
        <p:sp>
          <p:nvSpPr>
            <p:cNvPr id="37" name="TextBox 37"/>
            <p:cNvSpPr txBox="1"/>
            <p:nvPr/>
          </p:nvSpPr>
          <p:spPr>
            <a:xfrm>
              <a:off x="0" y="-57150"/>
              <a:ext cx="10972800" cy="910590"/>
            </a:xfrm>
            <a:prstGeom prst="rect">
              <a:avLst/>
            </a:prstGeom>
          </p:spPr>
          <p:txBody>
            <a:bodyPr lIns="0" tIns="0" rIns="0" bIns="0" rtlCol="0" anchor="ctr"/>
            <a:lstStyle/>
            <a:p>
              <a:pPr algn="l">
                <a:lnSpc>
                  <a:spcPts val="3120"/>
                </a:lnSpc>
              </a:pPr>
              <a:r>
                <a:rPr lang="en-US" sz="2600" b="1">
                  <a:solidFill>
                    <a:srgbClr val="5B8CFF"/>
                  </a:solidFill>
                  <a:latin typeface="Calibri (MS) Bold"/>
                  <a:ea typeface="Calibri (MS) Bold"/>
                  <a:cs typeface="Calibri (MS) Bold"/>
                  <a:sym typeface="Calibri (MS) Bold"/>
                </a:rPr>
                <a:t>Comparación de niveles</a:t>
              </a:r>
            </a:p>
          </p:txBody>
        </p:sp>
      </p:grpSp>
      <p:graphicFrame>
        <p:nvGraphicFramePr>
          <p:cNvPr id="38" name="Table 38"/>
          <p:cNvGraphicFramePr>
            <a:graphicFrameLocks noGrp="1"/>
          </p:cNvGraphicFramePr>
          <p:nvPr/>
        </p:nvGraphicFramePr>
        <p:xfrm>
          <a:off x="9418320" y="2468880"/>
          <a:ext cx="8102600" cy="6858000"/>
        </p:xfrm>
        <a:graphic>
          <a:graphicData uri="http://schemas.openxmlformats.org/drawingml/2006/table">
            <a:tbl>
              <a:tblPr/>
              <a:tblGrid>
                <a:gridCol w="2362842">
                  <a:extLst>
                    <a:ext uri="{9D8B030D-6E8A-4147-A177-3AD203B41FA5}">
                      <a16:colId xmlns:a16="http://schemas.microsoft.com/office/drawing/2014/main" val="20000"/>
                    </a:ext>
                  </a:extLst>
                </a:gridCol>
                <a:gridCol w="1823335">
                  <a:extLst>
                    <a:ext uri="{9D8B030D-6E8A-4147-A177-3AD203B41FA5}">
                      <a16:colId xmlns:a16="http://schemas.microsoft.com/office/drawing/2014/main" val="20001"/>
                    </a:ext>
                  </a:extLst>
                </a:gridCol>
                <a:gridCol w="1823335">
                  <a:extLst>
                    <a:ext uri="{9D8B030D-6E8A-4147-A177-3AD203B41FA5}">
                      <a16:colId xmlns:a16="http://schemas.microsoft.com/office/drawing/2014/main" val="20002"/>
                    </a:ext>
                  </a:extLst>
                </a:gridCol>
                <a:gridCol w="2093088">
                  <a:extLst>
                    <a:ext uri="{9D8B030D-6E8A-4147-A177-3AD203B41FA5}">
                      <a16:colId xmlns:a16="http://schemas.microsoft.com/office/drawing/2014/main" val="20003"/>
                    </a:ext>
                  </a:extLst>
                </a:gridCol>
              </a:tblGrid>
              <a:tr h="1143000">
                <a:tc>
                  <a:txBody>
                    <a:bodyPr/>
                    <a:lstStyle/>
                    <a:p>
                      <a:pPr algn="l">
                        <a:lnSpc>
                          <a:spcPts val="2400"/>
                        </a:lnSpc>
                        <a:defRPr/>
                      </a:pPr>
                      <a:r>
                        <a:rPr lang="en-US" sz="2000" b="1">
                          <a:solidFill>
                            <a:srgbClr val="FFFFFF"/>
                          </a:solidFill>
                          <a:latin typeface="Calibri (MS) Bold"/>
                          <a:ea typeface="Calibri (MS) Bold"/>
                          <a:cs typeface="Calibri (MS) Bold"/>
                          <a:sym typeface="Calibri (MS) Bold"/>
                        </a:rPr>
                        <a:t>Criterio</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2040"/>
                    </a:solidFill>
                  </a:tcPr>
                </a:tc>
                <a:tc>
                  <a:txBody>
                    <a:bodyPr/>
                    <a:lstStyle/>
                    <a:p>
                      <a:pPr algn="l">
                        <a:lnSpc>
                          <a:spcPts val="2400"/>
                        </a:lnSpc>
                        <a:defRPr/>
                      </a:pPr>
                      <a:r>
                        <a:rPr lang="en-US" sz="2000" b="1">
                          <a:solidFill>
                            <a:srgbClr val="5B8CFF"/>
                          </a:solidFill>
                          <a:latin typeface="Calibri (MS) Bold"/>
                          <a:ea typeface="Calibri (MS) Bold"/>
                          <a:cs typeface="Calibri (MS) Bold"/>
                          <a:sym typeface="Calibri (MS) Bold"/>
                        </a:rPr>
                        <a:t>Natural</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2040"/>
                    </a:solidFill>
                  </a:tcPr>
                </a:tc>
                <a:tc>
                  <a:txBody>
                    <a:bodyPr/>
                    <a:lstStyle/>
                    <a:p>
                      <a:pPr algn="l">
                        <a:lnSpc>
                          <a:spcPts val="2400"/>
                        </a:lnSpc>
                        <a:defRPr/>
                      </a:pPr>
                      <a:r>
                        <a:rPr lang="en-US" sz="2000" b="1">
                          <a:solidFill>
                            <a:srgbClr val="7EC8A4"/>
                          </a:solidFill>
                          <a:latin typeface="Calibri (MS) Bold"/>
                          <a:ea typeface="Calibri (MS) Bold"/>
                          <a:cs typeface="Calibri (MS) Bold"/>
                          <a:sym typeface="Calibri (MS) Bold"/>
                        </a:rPr>
                        <a:t>Gráfico</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2040"/>
                    </a:solidFill>
                  </a:tcPr>
                </a:tc>
                <a:tc>
                  <a:txBody>
                    <a:bodyPr/>
                    <a:lstStyle/>
                    <a:p>
                      <a:pPr algn="l">
                        <a:lnSpc>
                          <a:spcPts val="2400"/>
                        </a:lnSpc>
                        <a:defRPr/>
                      </a:pPr>
                      <a:r>
                        <a:rPr lang="en-US" sz="2000" b="1">
                          <a:solidFill>
                            <a:srgbClr val="9B7FD4"/>
                          </a:solidFill>
                          <a:latin typeface="Calibri (MS) Bold"/>
                          <a:ea typeface="Calibri (MS) Bold"/>
                          <a:cs typeface="Calibri (MS) Bold"/>
                          <a:sym typeface="Calibri (MS) Bold"/>
                        </a:rPr>
                        <a:t>Formal</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2040"/>
                    </a:solidFill>
                  </a:tcPr>
                </a:tc>
                <a:extLst>
                  <a:ext uri="{0D108BD9-81ED-4DB2-BD59-A6C34878D82A}">
                    <a16:rowId xmlns:a16="http://schemas.microsoft.com/office/drawing/2014/main" val="10000"/>
                  </a:ext>
                </a:extLst>
              </a:tr>
              <a:tr h="1143000">
                <a:tc>
                  <a:txBody>
                    <a:bodyPr/>
                    <a:lstStyle/>
                    <a:p>
                      <a:pPr algn="l">
                        <a:lnSpc>
                          <a:spcPts val="2280"/>
                        </a:lnSpc>
                        <a:defRPr/>
                      </a:pPr>
                      <a:r>
                        <a:rPr lang="en-US" sz="1900">
                          <a:solidFill>
                            <a:srgbClr val="FFFFFF"/>
                          </a:solidFill>
                          <a:latin typeface="Calibri (MS)"/>
                          <a:ea typeface="Calibri (MS)"/>
                          <a:cs typeface="Calibri (MS)"/>
                          <a:sym typeface="Calibri (MS)"/>
                        </a:rPr>
                        <a:t>Precisión</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280"/>
                        </a:lnSpc>
                        <a:defRPr/>
                      </a:pPr>
                      <a:r>
                        <a:rPr lang="en-US" sz="1900">
                          <a:solidFill>
                            <a:srgbClr val="5B8CFF"/>
                          </a:solidFill>
                          <a:latin typeface="Calibri (MS)"/>
                          <a:ea typeface="Calibri (MS)"/>
                          <a:cs typeface="Calibri (MS)"/>
                          <a:sym typeface="Calibri (MS)"/>
                        </a:rPr>
                        <a:t>Baja</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280"/>
                        </a:lnSpc>
                        <a:defRPr/>
                      </a:pPr>
                      <a:r>
                        <a:rPr lang="en-US" sz="1900">
                          <a:solidFill>
                            <a:srgbClr val="7EC8A4"/>
                          </a:solidFill>
                          <a:latin typeface="Calibri (MS)"/>
                          <a:ea typeface="Calibri (MS)"/>
                          <a:cs typeface="Calibri (MS)"/>
                          <a:sym typeface="Calibri (MS)"/>
                        </a:rPr>
                        <a:t>Media</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280"/>
                        </a:lnSpc>
                        <a:defRPr/>
                      </a:pPr>
                      <a:r>
                        <a:rPr lang="en-US" sz="1900">
                          <a:solidFill>
                            <a:srgbClr val="9B7FD4"/>
                          </a:solidFill>
                          <a:latin typeface="Calibri (MS)"/>
                          <a:ea typeface="Calibri (MS)"/>
                          <a:cs typeface="Calibri (MS)"/>
                          <a:sym typeface="Calibri (MS)"/>
                        </a:rPr>
                        <a:t>Alta</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extLst>
                  <a:ext uri="{0D108BD9-81ED-4DB2-BD59-A6C34878D82A}">
                    <a16:rowId xmlns:a16="http://schemas.microsoft.com/office/drawing/2014/main" val="10001"/>
                  </a:ext>
                </a:extLst>
              </a:tr>
              <a:tr h="1143000">
                <a:tc>
                  <a:txBody>
                    <a:bodyPr/>
                    <a:lstStyle/>
                    <a:p>
                      <a:pPr algn="l">
                        <a:lnSpc>
                          <a:spcPts val="2280"/>
                        </a:lnSpc>
                        <a:defRPr/>
                      </a:pPr>
                      <a:r>
                        <a:rPr lang="en-US" sz="1900">
                          <a:solidFill>
                            <a:srgbClr val="FFFFFF"/>
                          </a:solidFill>
                          <a:latin typeface="Calibri (MS)"/>
                          <a:ea typeface="Calibri (MS)"/>
                          <a:cs typeface="Calibri (MS)"/>
                          <a:sym typeface="Calibri (MS)"/>
                        </a:rPr>
                        <a:t>Accesibilidad</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tc>
                  <a:txBody>
                    <a:bodyPr/>
                    <a:lstStyle/>
                    <a:p>
                      <a:pPr algn="l">
                        <a:lnSpc>
                          <a:spcPts val="2280"/>
                        </a:lnSpc>
                        <a:defRPr/>
                      </a:pPr>
                      <a:r>
                        <a:rPr lang="en-US" sz="1900">
                          <a:solidFill>
                            <a:srgbClr val="5B8CFF"/>
                          </a:solidFill>
                          <a:latin typeface="Calibri (MS)"/>
                          <a:ea typeface="Calibri (MS)"/>
                          <a:cs typeface="Calibri (MS)"/>
                          <a:sym typeface="Calibri (MS)"/>
                        </a:rPr>
                        <a:t>Alta</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tc>
                  <a:txBody>
                    <a:bodyPr/>
                    <a:lstStyle/>
                    <a:p>
                      <a:pPr algn="l">
                        <a:lnSpc>
                          <a:spcPts val="2280"/>
                        </a:lnSpc>
                        <a:defRPr/>
                      </a:pPr>
                      <a:r>
                        <a:rPr lang="en-US" sz="1900">
                          <a:solidFill>
                            <a:srgbClr val="7EC8A4"/>
                          </a:solidFill>
                          <a:latin typeface="Calibri (MS)"/>
                          <a:ea typeface="Calibri (MS)"/>
                          <a:cs typeface="Calibri (MS)"/>
                          <a:sym typeface="Calibri (MS)"/>
                        </a:rPr>
                        <a:t>Media</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tc>
                  <a:txBody>
                    <a:bodyPr/>
                    <a:lstStyle/>
                    <a:p>
                      <a:pPr algn="l">
                        <a:lnSpc>
                          <a:spcPts val="2280"/>
                        </a:lnSpc>
                        <a:defRPr/>
                      </a:pPr>
                      <a:r>
                        <a:rPr lang="en-US" sz="1900">
                          <a:solidFill>
                            <a:srgbClr val="9B7FD4"/>
                          </a:solidFill>
                          <a:latin typeface="Calibri (MS)"/>
                          <a:ea typeface="Calibri (MS)"/>
                          <a:cs typeface="Calibri (MS)"/>
                          <a:sym typeface="Calibri (MS)"/>
                        </a:rPr>
                        <a:t>Baja</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extLst>
                  <a:ext uri="{0D108BD9-81ED-4DB2-BD59-A6C34878D82A}">
                    <a16:rowId xmlns:a16="http://schemas.microsoft.com/office/drawing/2014/main" val="10002"/>
                  </a:ext>
                </a:extLst>
              </a:tr>
              <a:tr h="1143000">
                <a:tc>
                  <a:txBody>
                    <a:bodyPr/>
                    <a:lstStyle/>
                    <a:p>
                      <a:pPr algn="l">
                        <a:lnSpc>
                          <a:spcPts val="2280"/>
                        </a:lnSpc>
                        <a:defRPr/>
                      </a:pPr>
                      <a:r>
                        <a:rPr lang="en-US" sz="1900">
                          <a:solidFill>
                            <a:srgbClr val="FFFFFF"/>
                          </a:solidFill>
                          <a:latin typeface="Calibri (MS)"/>
                          <a:ea typeface="Calibri (MS)"/>
                          <a:cs typeface="Calibri (MS)"/>
                          <a:sym typeface="Calibri (MS)"/>
                        </a:rPr>
                        <a:t>Formalismo</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280"/>
                        </a:lnSpc>
                        <a:defRPr/>
                      </a:pPr>
                      <a:r>
                        <a:rPr lang="en-US" sz="1900">
                          <a:solidFill>
                            <a:srgbClr val="5B8CFF"/>
                          </a:solidFill>
                          <a:latin typeface="Calibri (MS)"/>
                          <a:ea typeface="Calibri (MS)"/>
                          <a:cs typeface="Calibri (MS)"/>
                          <a:sym typeface="Calibri (MS)"/>
                        </a:rPr>
                        <a:t>Ninguno</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280"/>
                        </a:lnSpc>
                        <a:defRPr/>
                      </a:pPr>
                      <a:r>
                        <a:rPr lang="en-US" sz="1900">
                          <a:solidFill>
                            <a:srgbClr val="7EC8A4"/>
                          </a:solidFill>
                          <a:latin typeface="Calibri (MS)"/>
                          <a:ea typeface="Calibri (MS)"/>
                          <a:cs typeface="Calibri (MS)"/>
                          <a:sym typeface="Calibri (MS)"/>
                        </a:rPr>
                        <a:t>Simbólico</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280"/>
                        </a:lnSpc>
                        <a:defRPr/>
                      </a:pPr>
                      <a:r>
                        <a:rPr lang="en-US" sz="1900">
                          <a:solidFill>
                            <a:srgbClr val="9B7FD4"/>
                          </a:solidFill>
                          <a:latin typeface="Calibri (MS)"/>
                          <a:ea typeface="Calibri (MS)"/>
                          <a:cs typeface="Calibri (MS)"/>
                          <a:sym typeface="Calibri (MS)"/>
                        </a:rPr>
                        <a:t>Sintáctico</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extLst>
                  <a:ext uri="{0D108BD9-81ED-4DB2-BD59-A6C34878D82A}">
                    <a16:rowId xmlns:a16="http://schemas.microsoft.com/office/drawing/2014/main" val="10003"/>
                  </a:ext>
                </a:extLst>
              </a:tr>
              <a:tr h="1143000">
                <a:tc>
                  <a:txBody>
                    <a:bodyPr/>
                    <a:lstStyle/>
                    <a:p>
                      <a:pPr algn="l">
                        <a:lnSpc>
                          <a:spcPts val="2280"/>
                        </a:lnSpc>
                        <a:defRPr/>
                      </a:pPr>
                      <a:r>
                        <a:rPr lang="en-US" sz="1900">
                          <a:solidFill>
                            <a:srgbClr val="FFFFFF"/>
                          </a:solidFill>
                          <a:latin typeface="Calibri (MS)"/>
                          <a:ea typeface="Calibri (MS)"/>
                          <a:cs typeface="Calibri (MS)"/>
                          <a:sym typeface="Calibri (MS)"/>
                        </a:rPr>
                        <a:t>Ambigüedad</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tc>
                  <a:txBody>
                    <a:bodyPr/>
                    <a:lstStyle/>
                    <a:p>
                      <a:pPr algn="l">
                        <a:lnSpc>
                          <a:spcPts val="2280"/>
                        </a:lnSpc>
                        <a:defRPr/>
                      </a:pPr>
                      <a:r>
                        <a:rPr lang="en-US" sz="1900">
                          <a:solidFill>
                            <a:srgbClr val="5B8CFF"/>
                          </a:solidFill>
                          <a:latin typeface="Calibri (MS)"/>
                          <a:ea typeface="Calibri (MS)"/>
                          <a:cs typeface="Calibri (MS)"/>
                          <a:sym typeface="Calibri (MS)"/>
                        </a:rPr>
                        <a:t>Alta</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tc>
                  <a:txBody>
                    <a:bodyPr/>
                    <a:lstStyle/>
                    <a:p>
                      <a:pPr algn="l">
                        <a:lnSpc>
                          <a:spcPts val="2280"/>
                        </a:lnSpc>
                        <a:defRPr/>
                      </a:pPr>
                      <a:r>
                        <a:rPr lang="en-US" sz="1900">
                          <a:solidFill>
                            <a:srgbClr val="7EC8A4"/>
                          </a:solidFill>
                          <a:latin typeface="Calibri (MS)"/>
                          <a:ea typeface="Calibri (MS)"/>
                          <a:cs typeface="Calibri (MS)"/>
                          <a:sym typeface="Calibri (MS)"/>
                        </a:rPr>
                        <a:t>Baja</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tc>
                  <a:txBody>
                    <a:bodyPr/>
                    <a:lstStyle/>
                    <a:p>
                      <a:pPr algn="l">
                        <a:lnSpc>
                          <a:spcPts val="2280"/>
                        </a:lnSpc>
                        <a:defRPr/>
                      </a:pPr>
                      <a:r>
                        <a:rPr lang="en-US" sz="1900">
                          <a:solidFill>
                            <a:srgbClr val="9B7FD4"/>
                          </a:solidFill>
                          <a:latin typeface="Calibri (MS)"/>
                          <a:ea typeface="Calibri (MS)"/>
                          <a:cs typeface="Calibri (MS)"/>
                          <a:sym typeface="Calibri (MS)"/>
                        </a:rPr>
                        <a:t>Muy baja</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extLst>
                  <a:ext uri="{0D108BD9-81ED-4DB2-BD59-A6C34878D82A}">
                    <a16:rowId xmlns:a16="http://schemas.microsoft.com/office/drawing/2014/main" val="10004"/>
                  </a:ext>
                </a:extLst>
              </a:tr>
              <a:tr h="1143000">
                <a:tc>
                  <a:txBody>
                    <a:bodyPr/>
                    <a:lstStyle/>
                    <a:p>
                      <a:pPr algn="l">
                        <a:lnSpc>
                          <a:spcPts val="2280"/>
                        </a:lnSpc>
                        <a:defRPr/>
                      </a:pPr>
                      <a:r>
                        <a:rPr lang="en-US" sz="1900">
                          <a:solidFill>
                            <a:srgbClr val="FFFFFF"/>
                          </a:solidFill>
                          <a:latin typeface="Calibri (MS)"/>
                          <a:ea typeface="Calibri (MS)"/>
                          <a:cs typeface="Calibri (MS)"/>
                          <a:sym typeface="Calibri (MS)"/>
                        </a:rPr>
                        <a:t>Ejecutable</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280"/>
                        </a:lnSpc>
                        <a:defRPr/>
                      </a:pPr>
                      <a:r>
                        <a:rPr lang="en-US" sz="1900">
                          <a:solidFill>
                            <a:srgbClr val="5B8CFF"/>
                          </a:solidFill>
                          <a:latin typeface="Calibri (MS)"/>
                          <a:ea typeface="Calibri (MS)"/>
                          <a:cs typeface="Calibri (MS)"/>
                          <a:sym typeface="Calibri (MS)"/>
                        </a:rPr>
                        <a:t>No</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280"/>
                        </a:lnSpc>
                        <a:defRPr/>
                      </a:pPr>
                      <a:r>
                        <a:rPr lang="en-US" sz="1900">
                          <a:solidFill>
                            <a:srgbClr val="7EC8A4"/>
                          </a:solidFill>
                          <a:latin typeface="Calibri (MS)"/>
                          <a:ea typeface="Calibri (MS)"/>
                          <a:cs typeface="Calibri (MS)"/>
                          <a:sym typeface="Calibri (MS)"/>
                        </a:rPr>
                        <a:t>No</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280"/>
                        </a:lnSpc>
                        <a:defRPr/>
                      </a:pPr>
                      <a:r>
                        <a:rPr lang="en-US" sz="1900">
                          <a:solidFill>
                            <a:srgbClr val="9B7FD4"/>
                          </a:solidFill>
                          <a:latin typeface="Calibri (MS)"/>
                          <a:ea typeface="Calibri (MS)"/>
                          <a:cs typeface="Calibri (MS)"/>
                          <a:sym typeface="Calibri (MS)"/>
                        </a:rPr>
                        <a:t>Próximo</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E2235"/>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16891" y="16891"/>
              <a:ext cx="24383999" cy="1755648"/>
            </a:xfrm>
            <a:custGeom>
              <a:avLst/>
              <a:gdLst/>
              <a:ahLst/>
              <a:cxnLst/>
              <a:rect l="l" t="t" r="r" b="b"/>
              <a:pathLst>
                <a:path w="24383999" h="1755648">
                  <a:moveTo>
                    <a:pt x="0" y="0"/>
                  </a:moveTo>
                  <a:lnTo>
                    <a:pt x="24383999" y="0"/>
                  </a:lnTo>
                  <a:lnTo>
                    <a:pt x="24383999" y="1755648"/>
                  </a:lnTo>
                  <a:lnTo>
                    <a:pt x="0" y="1755648"/>
                  </a:lnTo>
                  <a:close/>
                </a:path>
              </a:pathLst>
            </a:custGeom>
            <a:solidFill>
              <a:srgbClr val="161929"/>
            </a:solidFill>
          </p:spPr>
          <p:txBody>
            <a:bodyPr/>
            <a:lstStyle/>
            <a:p>
              <a:endParaRPr lang="es-GT"/>
            </a:p>
          </p:txBody>
        </p:sp>
        <p:sp>
          <p:nvSpPr>
            <p:cNvPr id="4" name="Freeform 4"/>
            <p:cNvSpPr/>
            <p:nvPr/>
          </p:nvSpPr>
          <p:spPr>
            <a:xfrm>
              <a:off x="0" y="0"/>
              <a:ext cx="24417782" cy="1789430"/>
            </a:xfrm>
            <a:custGeom>
              <a:avLst/>
              <a:gdLst/>
              <a:ahLst/>
              <a:cxnLst/>
              <a:rect l="l" t="t" r="r" b="b"/>
              <a:pathLst>
                <a:path w="24417782" h="1789430">
                  <a:moveTo>
                    <a:pt x="16891" y="0"/>
                  </a:moveTo>
                  <a:lnTo>
                    <a:pt x="24400890" y="0"/>
                  </a:lnTo>
                  <a:cubicBezTo>
                    <a:pt x="24410290" y="0"/>
                    <a:pt x="24417782" y="7620"/>
                    <a:pt x="24417782" y="16891"/>
                  </a:cubicBezTo>
                  <a:lnTo>
                    <a:pt x="24417782" y="1772539"/>
                  </a:lnTo>
                  <a:cubicBezTo>
                    <a:pt x="24417782" y="1781937"/>
                    <a:pt x="24410163" y="1789430"/>
                    <a:pt x="24400890"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24400890" y="1755648"/>
                  </a:lnTo>
                  <a:lnTo>
                    <a:pt x="24400890" y="1772539"/>
                  </a:lnTo>
                  <a:lnTo>
                    <a:pt x="24384000" y="1772539"/>
                  </a:lnTo>
                  <a:lnTo>
                    <a:pt x="24384000" y="16891"/>
                  </a:lnTo>
                  <a:lnTo>
                    <a:pt x="24400890" y="16891"/>
                  </a:lnTo>
                  <a:lnTo>
                    <a:pt x="24400890" y="33909"/>
                  </a:lnTo>
                  <a:lnTo>
                    <a:pt x="16891" y="33909"/>
                  </a:lnTo>
                  <a:close/>
                </a:path>
              </a:pathLst>
            </a:custGeom>
            <a:solidFill>
              <a:srgbClr val="161929"/>
            </a:solidFill>
          </p:spPr>
          <p:txBody>
            <a:bodyPr/>
            <a:lstStyle/>
            <a:p>
              <a:endParaRPr lang="es-GT"/>
            </a:p>
          </p:txBody>
        </p:sp>
      </p:grpSp>
      <p:grpSp>
        <p:nvGrpSpPr>
          <p:cNvPr id="5" name="Group 5"/>
          <p:cNvGrpSpPr/>
          <p:nvPr/>
        </p:nvGrpSpPr>
        <p:grpSpPr>
          <a:xfrm>
            <a:off x="-12697" y="1304039"/>
            <a:ext cx="18313403" cy="98555"/>
            <a:chOff x="0" y="0"/>
            <a:chExt cx="24417871" cy="131407"/>
          </a:xfrm>
        </p:grpSpPr>
        <p:sp>
          <p:nvSpPr>
            <p:cNvPr id="6" name="Freeform 6"/>
            <p:cNvSpPr/>
            <p:nvPr/>
          </p:nvSpPr>
          <p:spPr>
            <a:xfrm>
              <a:off x="16891" y="16891"/>
              <a:ext cx="24383999" cy="97536"/>
            </a:xfrm>
            <a:custGeom>
              <a:avLst/>
              <a:gdLst/>
              <a:ahLst/>
              <a:cxnLst/>
              <a:rect l="l" t="t" r="r" b="b"/>
              <a:pathLst>
                <a:path w="24383999" h="97536">
                  <a:moveTo>
                    <a:pt x="0" y="0"/>
                  </a:moveTo>
                  <a:lnTo>
                    <a:pt x="24383999" y="0"/>
                  </a:lnTo>
                  <a:lnTo>
                    <a:pt x="24383999" y="97536"/>
                  </a:lnTo>
                  <a:lnTo>
                    <a:pt x="0" y="97536"/>
                  </a:lnTo>
                  <a:close/>
                </a:path>
              </a:pathLst>
            </a:custGeom>
            <a:solidFill>
              <a:srgbClr val="5B8CFF"/>
            </a:solidFill>
          </p:spPr>
          <p:txBody>
            <a:bodyPr/>
            <a:lstStyle/>
            <a:p>
              <a:endParaRPr lang="es-GT"/>
            </a:p>
          </p:txBody>
        </p:sp>
        <p:sp>
          <p:nvSpPr>
            <p:cNvPr id="7" name="Freeform 7"/>
            <p:cNvSpPr/>
            <p:nvPr/>
          </p:nvSpPr>
          <p:spPr>
            <a:xfrm>
              <a:off x="0" y="0"/>
              <a:ext cx="24417782" cy="131320"/>
            </a:xfrm>
            <a:custGeom>
              <a:avLst/>
              <a:gdLst/>
              <a:ahLst/>
              <a:cxnLst/>
              <a:rect l="l" t="t" r="r" b="b"/>
              <a:pathLst>
                <a:path w="24417782" h="131320">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5B8CFF"/>
            </a:solidFill>
          </p:spPr>
          <p:txBody>
            <a:bodyPr/>
            <a:lstStyle/>
            <a:p>
              <a:endParaRPr lang="es-GT"/>
            </a:p>
          </p:txBody>
        </p:sp>
      </p:grpSp>
      <p:grpSp>
        <p:nvGrpSpPr>
          <p:cNvPr id="8" name="Group 8"/>
          <p:cNvGrpSpPr/>
          <p:nvPr/>
        </p:nvGrpSpPr>
        <p:grpSpPr>
          <a:xfrm>
            <a:off x="822960" y="0"/>
            <a:ext cx="16642080" cy="1316736"/>
            <a:chOff x="0" y="0"/>
            <a:chExt cx="22189440" cy="1755648"/>
          </a:xfrm>
        </p:grpSpPr>
        <p:sp>
          <p:nvSpPr>
            <p:cNvPr id="9" name="Freeform 9"/>
            <p:cNvSpPr/>
            <p:nvPr/>
          </p:nvSpPr>
          <p:spPr>
            <a:xfrm>
              <a:off x="0" y="0"/>
              <a:ext cx="22189439" cy="1755648"/>
            </a:xfrm>
            <a:custGeom>
              <a:avLst/>
              <a:gdLst/>
              <a:ahLst/>
              <a:cxnLst/>
              <a:rect l="l" t="t" r="r" b="b"/>
              <a:pathLst>
                <a:path w="22189439" h="1755648">
                  <a:moveTo>
                    <a:pt x="0" y="0"/>
                  </a:moveTo>
                  <a:lnTo>
                    <a:pt x="22189439" y="0"/>
                  </a:lnTo>
                  <a:lnTo>
                    <a:pt x="22189439" y="1755648"/>
                  </a:lnTo>
                  <a:lnTo>
                    <a:pt x="0" y="1755648"/>
                  </a:lnTo>
                  <a:close/>
                </a:path>
              </a:pathLst>
            </a:custGeom>
            <a:blipFill>
              <a:blip r:embed="rId3">
                <a:alphaModFix amt="0"/>
              </a:blip>
              <a:stretch>
                <a:fillRect t="-196269" b="-196269"/>
              </a:stretch>
            </a:blipFill>
          </p:spPr>
          <p:txBody>
            <a:bodyPr/>
            <a:lstStyle/>
            <a:p>
              <a:endParaRPr lang="es-GT"/>
            </a:p>
          </p:txBody>
        </p:sp>
        <p:sp>
          <p:nvSpPr>
            <p:cNvPr id="10" name="TextBox 10"/>
            <p:cNvSpPr txBox="1"/>
            <p:nvPr/>
          </p:nvSpPr>
          <p:spPr>
            <a:xfrm>
              <a:off x="0" y="-76200"/>
              <a:ext cx="22189440" cy="1831848"/>
            </a:xfrm>
            <a:prstGeom prst="rect">
              <a:avLst/>
            </a:prstGeom>
          </p:spPr>
          <p:txBody>
            <a:bodyPr lIns="0" tIns="0" rIns="0" bIns="0" rtlCol="0" anchor="ctr"/>
            <a:lstStyle/>
            <a:p>
              <a:pPr algn="l">
                <a:lnSpc>
                  <a:spcPts val="5280"/>
                </a:lnSpc>
              </a:pPr>
              <a:r>
                <a:rPr lang="en-US" sz="4400" b="1">
                  <a:solidFill>
                    <a:srgbClr val="FFFFFF"/>
                  </a:solidFill>
                  <a:latin typeface="Calibri (MS) Bold"/>
                  <a:ea typeface="Calibri (MS) Bold"/>
                  <a:cs typeface="Calibri (MS) Bold"/>
                  <a:sym typeface="Calibri (MS) Bold"/>
                </a:rPr>
                <a:t>Nivel gráfico – Diagramas de flujo: simbología ISO 5807</a:t>
              </a:r>
            </a:p>
          </p:txBody>
        </p:sp>
      </p:grpSp>
      <p:grpSp>
        <p:nvGrpSpPr>
          <p:cNvPr id="11" name="Group 11"/>
          <p:cNvGrpSpPr/>
          <p:nvPr/>
        </p:nvGrpSpPr>
        <p:grpSpPr>
          <a:xfrm>
            <a:off x="-12697" y="9954263"/>
            <a:ext cx="18313403" cy="345443"/>
            <a:chOff x="0" y="0"/>
            <a:chExt cx="24417871" cy="460591"/>
          </a:xfrm>
        </p:grpSpPr>
        <p:sp>
          <p:nvSpPr>
            <p:cNvPr id="12" name="Freeform 12"/>
            <p:cNvSpPr/>
            <p:nvPr/>
          </p:nvSpPr>
          <p:spPr>
            <a:xfrm>
              <a:off x="16891" y="16891"/>
              <a:ext cx="24383999" cy="426720"/>
            </a:xfrm>
            <a:custGeom>
              <a:avLst/>
              <a:gdLst/>
              <a:ahLst/>
              <a:cxnLst/>
              <a:rect l="l" t="t" r="r" b="b"/>
              <a:pathLst>
                <a:path w="24383999" h="426720">
                  <a:moveTo>
                    <a:pt x="0" y="0"/>
                  </a:moveTo>
                  <a:lnTo>
                    <a:pt x="24383999" y="0"/>
                  </a:lnTo>
                  <a:lnTo>
                    <a:pt x="24383999" y="426720"/>
                  </a:lnTo>
                  <a:lnTo>
                    <a:pt x="0" y="426720"/>
                  </a:lnTo>
                  <a:close/>
                </a:path>
              </a:pathLst>
            </a:custGeom>
            <a:solidFill>
              <a:srgbClr val="12152A"/>
            </a:solidFill>
          </p:spPr>
          <p:txBody>
            <a:bodyPr/>
            <a:lstStyle/>
            <a:p>
              <a:endParaRPr lang="es-GT"/>
            </a:p>
          </p:txBody>
        </p:sp>
        <p:sp>
          <p:nvSpPr>
            <p:cNvPr id="13" name="Freeform 13"/>
            <p:cNvSpPr/>
            <p:nvPr/>
          </p:nvSpPr>
          <p:spPr>
            <a:xfrm>
              <a:off x="0" y="0"/>
              <a:ext cx="24417782" cy="460504"/>
            </a:xfrm>
            <a:custGeom>
              <a:avLst/>
              <a:gdLst/>
              <a:ahLst/>
              <a:cxnLst/>
              <a:rect l="l" t="t" r="r" b="b"/>
              <a:pathLst>
                <a:path w="24417782" h="460504">
                  <a:moveTo>
                    <a:pt x="16891" y="0"/>
                  </a:moveTo>
                  <a:lnTo>
                    <a:pt x="24400890" y="0"/>
                  </a:lnTo>
                  <a:cubicBezTo>
                    <a:pt x="24410290" y="0"/>
                    <a:pt x="24417782" y="7620"/>
                    <a:pt x="24417782" y="16891"/>
                  </a:cubicBezTo>
                  <a:lnTo>
                    <a:pt x="24417782" y="443611"/>
                  </a:lnTo>
                  <a:cubicBezTo>
                    <a:pt x="24417782" y="453009"/>
                    <a:pt x="24410163" y="460502"/>
                    <a:pt x="24400890" y="460502"/>
                  </a:cubicBezTo>
                  <a:lnTo>
                    <a:pt x="16891" y="460502"/>
                  </a:lnTo>
                  <a:cubicBezTo>
                    <a:pt x="7620" y="460629"/>
                    <a:pt x="0" y="453009"/>
                    <a:pt x="0" y="443611"/>
                  </a:cubicBezTo>
                  <a:lnTo>
                    <a:pt x="0" y="16891"/>
                  </a:lnTo>
                  <a:cubicBezTo>
                    <a:pt x="0" y="7620"/>
                    <a:pt x="7620" y="0"/>
                    <a:pt x="16891" y="0"/>
                  </a:cubicBezTo>
                  <a:moveTo>
                    <a:pt x="16891" y="33909"/>
                  </a:moveTo>
                  <a:lnTo>
                    <a:pt x="16891" y="16891"/>
                  </a:lnTo>
                  <a:lnTo>
                    <a:pt x="33909" y="16891"/>
                  </a:lnTo>
                  <a:lnTo>
                    <a:pt x="33909" y="443611"/>
                  </a:lnTo>
                  <a:lnTo>
                    <a:pt x="16891" y="443611"/>
                  </a:lnTo>
                  <a:lnTo>
                    <a:pt x="16891" y="426720"/>
                  </a:lnTo>
                  <a:lnTo>
                    <a:pt x="24400890" y="426720"/>
                  </a:lnTo>
                  <a:lnTo>
                    <a:pt x="24400890" y="443611"/>
                  </a:lnTo>
                  <a:lnTo>
                    <a:pt x="24384000" y="443611"/>
                  </a:lnTo>
                  <a:lnTo>
                    <a:pt x="24384000" y="16891"/>
                  </a:lnTo>
                  <a:lnTo>
                    <a:pt x="24400890" y="16891"/>
                  </a:lnTo>
                  <a:lnTo>
                    <a:pt x="24400890" y="33909"/>
                  </a:lnTo>
                  <a:lnTo>
                    <a:pt x="16891" y="33909"/>
                  </a:lnTo>
                  <a:close/>
                </a:path>
              </a:pathLst>
            </a:custGeom>
            <a:solidFill>
              <a:srgbClr val="12152A"/>
            </a:solidFill>
          </p:spPr>
          <p:txBody>
            <a:bodyPr/>
            <a:lstStyle/>
            <a:p>
              <a:endParaRPr lang="es-GT"/>
            </a:p>
          </p:txBody>
        </p:sp>
      </p:grpSp>
      <p:grpSp>
        <p:nvGrpSpPr>
          <p:cNvPr id="14" name="Group 14"/>
          <p:cNvGrpSpPr/>
          <p:nvPr/>
        </p:nvGrpSpPr>
        <p:grpSpPr>
          <a:xfrm>
            <a:off x="17007840" y="9966960"/>
            <a:ext cx="914400" cy="320040"/>
            <a:chOff x="0" y="0"/>
            <a:chExt cx="1219200" cy="426720"/>
          </a:xfrm>
        </p:grpSpPr>
        <p:sp>
          <p:nvSpPr>
            <p:cNvPr id="15" name="Freeform 15"/>
            <p:cNvSpPr/>
            <p:nvPr/>
          </p:nvSpPr>
          <p:spPr>
            <a:xfrm>
              <a:off x="0" y="0"/>
              <a:ext cx="1219200" cy="426720"/>
            </a:xfrm>
            <a:custGeom>
              <a:avLst/>
              <a:gdLst/>
              <a:ahLst/>
              <a:cxnLst/>
              <a:rect l="l" t="t" r="r" b="b"/>
              <a:pathLst>
                <a:path w="1219200" h="426720">
                  <a:moveTo>
                    <a:pt x="0" y="0"/>
                  </a:moveTo>
                  <a:lnTo>
                    <a:pt x="1219200" y="0"/>
                  </a:lnTo>
                  <a:lnTo>
                    <a:pt x="1219200" y="426720"/>
                  </a:lnTo>
                  <a:lnTo>
                    <a:pt x="0" y="426720"/>
                  </a:lnTo>
                  <a:close/>
                </a:path>
              </a:pathLst>
            </a:custGeom>
            <a:blipFill>
              <a:blip r:embed="rId3">
                <a:alphaModFix amt="0"/>
              </a:blip>
              <a:stretch>
                <a:fillRect t="-5671" b="-5671"/>
              </a:stretch>
            </a:blipFill>
          </p:spPr>
          <p:txBody>
            <a:bodyPr/>
            <a:lstStyle/>
            <a:p>
              <a:endParaRPr lang="es-GT"/>
            </a:p>
          </p:txBody>
        </p:sp>
        <p:sp>
          <p:nvSpPr>
            <p:cNvPr id="16" name="TextBox 16"/>
            <p:cNvSpPr txBox="1"/>
            <p:nvPr/>
          </p:nvSpPr>
          <p:spPr>
            <a:xfrm>
              <a:off x="0" y="-38100"/>
              <a:ext cx="1219200" cy="464820"/>
            </a:xfrm>
            <a:prstGeom prst="rect">
              <a:avLst/>
            </a:prstGeom>
          </p:spPr>
          <p:txBody>
            <a:bodyPr lIns="0" tIns="0" rIns="0" bIns="0" rtlCol="0" anchor="ctr"/>
            <a:lstStyle/>
            <a:p>
              <a:pPr algn="r">
                <a:lnSpc>
                  <a:spcPts val="1800"/>
                </a:lnSpc>
              </a:pPr>
              <a:r>
                <a:rPr lang="en-US" sz="1500">
                  <a:solidFill>
                    <a:srgbClr val="6E7A9F"/>
                  </a:solidFill>
                  <a:latin typeface="Calibri (MS)"/>
                  <a:ea typeface="Calibri (MS)"/>
                  <a:cs typeface="Calibri (MS)"/>
                  <a:sym typeface="Calibri (MS)"/>
                </a:rPr>
                <a:t>12</a:t>
              </a:r>
            </a:p>
          </p:txBody>
        </p:sp>
      </p:grpSp>
      <p:grpSp>
        <p:nvGrpSpPr>
          <p:cNvPr id="17" name="Group 17"/>
          <p:cNvGrpSpPr/>
          <p:nvPr/>
        </p:nvGrpSpPr>
        <p:grpSpPr>
          <a:xfrm>
            <a:off x="731520" y="1554480"/>
            <a:ext cx="16824960" cy="731520"/>
            <a:chOff x="0" y="0"/>
            <a:chExt cx="22433280" cy="975360"/>
          </a:xfrm>
        </p:grpSpPr>
        <p:sp>
          <p:nvSpPr>
            <p:cNvPr id="18" name="Freeform 18"/>
            <p:cNvSpPr/>
            <p:nvPr/>
          </p:nvSpPr>
          <p:spPr>
            <a:xfrm>
              <a:off x="0" y="0"/>
              <a:ext cx="22433280" cy="975360"/>
            </a:xfrm>
            <a:custGeom>
              <a:avLst/>
              <a:gdLst/>
              <a:ahLst/>
              <a:cxnLst/>
              <a:rect l="l" t="t" r="r" b="b"/>
              <a:pathLst>
                <a:path w="22433280" h="975360">
                  <a:moveTo>
                    <a:pt x="0" y="0"/>
                  </a:moveTo>
                  <a:lnTo>
                    <a:pt x="22433280" y="0"/>
                  </a:lnTo>
                  <a:lnTo>
                    <a:pt x="22433280" y="975360"/>
                  </a:lnTo>
                  <a:lnTo>
                    <a:pt x="0" y="975360"/>
                  </a:lnTo>
                  <a:close/>
                </a:path>
              </a:pathLst>
            </a:custGeom>
            <a:blipFill>
              <a:blip r:embed="rId3">
                <a:alphaModFix amt="0"/>
              </a:blip>
              <a:stretch>
                <a:fillRect t="-398155" b="-398155"/>
              </a:stretch>
            </a:blipFill>
          </p:spPr>
          <p:txBody>
            <a:bodyPr/>
            <a:lstStyle/>
            <a:p>
              <a:endParaRPr lang="es-GT"/>
            </a:p>
          </p:txBody>
        </p:sp>
        <p:sp>
          <p:nvSpPr>
            <p:cNvPr id="19" name="TextBox 19"/>
            <p:cNvSpPr txBox="1"/>
            <p:nvPr/>
          </p:nvSpPr>
          <p:spPr>
            <a:xfrm>
              <a:off x="0" y="-47625"/>
              <a:ext cx="22433280" cy="1022985"/>
            </a:xfrm>
            <a:prstGeom prst="rect">
              <a:avLst/>
            </a:prstGeom>
          </p:spPr>
          <p:txBody>
            <a:bodyPr lIns="0" tIns="0" rIns="0" bIns="0" rtlCol="0" anchor="ctr"/>
            <a:lstStyle/>
            <a:p>
              <a:pPr algn="l">
                <a:lnSpc>
                  <a:spcPts val="2520"/>
                </a:lnSpc>
              </a:pPr>
              <a:r>
                <a:rPr lang="en-US" sz="2100">
                  <a:solidFill>
                    <a:srgbClr val="B0B8CC"/>
                  </a:solidFill>
                  <a:latin typeface="Calibri (MS)"/>
                  <a:ea typeface="Calibri (MS)"/>
                  <a:cs typeface="Calibri (MS)"/>
                  <a:sym typeface="Calibri (MS)"/>
                </a:rPr>
                <a:t>Los diagramas de flujo emplean una simbología estandarizada. Conocer y aplicar correctamente cada símbolo es requisito de todo desarrollo algorítmico formal:</a:t>
              </a:r>
            </a:p>
          </p:txBody>
        </p:sp>
      </p:grpSp>
      <p:grpSp>
        <p:nvGrpSpPr>
          <p:cNvPr id="20" name="Group 20"/>
          <p:cNvGrpSpPr/>
          <p:nvPr/>
        </p:nvGrpSpPr>
        <p:grpSpPr>
          <a:xfrm>
            <a:off x="718823" y="2511047"/>
            <a:ext cx="8255003" cy="2183387"/>
            <a:chOff x="0" y="0"/>
            <a:chExt cx="11006671" cy="2911183"/>
          </a:xfrm>
        </p:grpSpPr>
        <p:sp>
          <p:nvSpPr>
            <p:cNvPr id="21" name="Freeform 21"/>
            <p:cNvSpPr/>
            <p:nvPr/>
          </p:nvSpPr>
          <p:spPr>
            <a:xfrm>
              <a:off x="16891" y="16891"/>
              <a:ext cx="10972800" cy="2877312"/>
            </a:xfrm>
            <a:custGeom>
              <a:avLst/>
              <a:gdLst/>
              <a:ahLst/>
              <a:cxnLst/>
              <a:rect l="l" t="t" r="r" b="b"/>
              <a:pathLst>
                <a:path w="10972800" h="2877312">
                  <a:moveTo>
                    <a:pt x="0" y="0"/>
                  </a:moveTo>
                  <a:lnTo>
                    <a:pt x="10972800" y="0"/>
                  </a:lnTo>
                  <a:lnTo>
                    <a:pt x="10972800" y="2877312"/>
                  </a:lnTo>
                  <a:lnTo>
                    <a:pt x="0" y="2877312"/>
                  </a:lnTo>
                  <a:close/>
                </a:path>
              </a:pathLst>
            </a:custGeom>
            <a:solidFill>
              <a:srgbClr val="252B42"/>
            </a:solidFill>
          </p:spPr>
          <p:txBody>
            <a:bodyPr/>
            <a:lstStyle/>
            <a:p>
              <a:endParaRPr lang="es-GT"/>
            </a:p>
          </p:txBody>
        </p:sp>
        <p:sp>
          <p:nvSpPr>
            <p:cNvPr id="22" name="Freeform 22"/>
            <p:cNvSpPr/>
            <p:nvPr/>
          </p:nvSpPr>
          <p:spPr>
            <a:xfrm>
              <a:off x="0" y="0"/>
              <a:ext cx="11006582" cy="2911094"/>
            </a:xfrm>
            <a:custGeom>
              <a:avLst/>
              <a:gdLst/>
              <a:ahLst/>
              <a:cxnLst/>
              <a:rect l="l" t="t" r="r" b="b"/>
              <a:pathLst>
                <a:path w="11006582" h="2911094">
                  <a:moveTo>
                    <a:pt x="16891" y="0"/>
                  </a:moveTo>
                  <a:lnTo>
                    <a:pt x="10989691" y="0"/>
                  </a:lnTo>
                  <a:cubicBezTo>
                    <a:pt x="10999089" y="0"/>
                    <a:pt x="11006582" y="7620"/>
                    <a:pt x="11006582" y="16891"/>
                  </a:cubicBezTo>
                  <a:lnTo>
                    <a:pt x="11006582" y="2894203"/>
                  </a:lnTo>
                  <a:cubicBezTo>
                    <a:pt x="11006582" y="2903601"/>
                    <a:pt x="10998962" y="2911094"/>
                    <a:pt x="10989691" y="2911094"/>
                  </a:cubicBezTo>
                  <a:lnTo>
                    <a:pt x="16891" y="2911094"/>
                  </a:lnTo>
                  <a:cubicBezTo>
                    <a:pt x="7493" y="2911094"/>
                    <a:pt x="0" y="2903474"/>
                    <a:pt x="0" y="2894203"/>
                  </a:cubicBezTo>
                  <a:lnTo>
                    <a:pt x="0" y="16891"/>
                  </a:lnTo>
                  <a:cubicBezTo>
                    <a:pt x="0" y="7620"/>
                    <a:pt x="7620" y="0"/>
                    <a:pt x="16891" y="0"/>
                  </a:cubicBezTo>
                  <a:moveTo>
                    <a:pt x="16891" y="33909"/>
                  </a:moveTo>
                  <a:lnTo>
                    <a:pt x="16891" y="16891"/>
                  </a:lnTo>
                  <a:lnTo>
                    <a:pt x="33909" y="16891"/>
                  </a:lnTo>
                  <a:lnTo>
                    <a:pt x="33909" y="2894203"/>
                  </a:lnTo>
                  <a:lnTo>
                    <a:pt x="16891" y="2894203"/>
                  </a:lnTo>
                  <a:lnTo>
                    <a:pt x="16891" y="2877312"/>
                  </a:lnTo>
                  <a:lnTo>
                    <a:pt x="10989691" y="2877312"/>
                  </a:lnTo>
                  <a:lnTo>
                    <a:pt x="10989691" y="2894203"/>
                  </a:lnTo>
                  <a:lnTo>
                    <a:pt x="10972800" y="2894203"/>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grpSp>
        <p:nvGrpSpPr>
          <p:cNvPr id="23" name="Group 23"/>
          <p:cNvGrpSpPr/>
          <p:nvPr/>
        </p:nvGrpSpPr>
        <p:grpSpPr>
          <a:xfrm>
            <a:off x="718823" y="2511047"/>
            <a:ext cx="171707" cy="2183387"/>
            <a:chOff x="0" y="0"/>
            <a:chExt cx="228943" cy="2911183"/>
          </a:xfrm>
        </p:grpSpPr>
        <p:sp>
          <p:nvSpPr>
            <p:cNvPr id="24" name="Freeform 24"/>
            <p:cNvSpPr/>
            <p:nvPr/>
          </p:nvSpPr>
          <p:spPr>
            <a:xfrm>
              <a:off x="16891" y="16891"/>
              <a:ext cx="195072" cy="2877312"/>
            </a:xfrm>
            <a:custGeom>
              <a:avLst/>
              <a:gdLst/>
              <a:ahLst/>
              <a:cxnLst/>
              <a:rect l="l" t="t" r="r" b="b"/>
              <a:pathLst>
                <a:path w="195072" h="2877312">
                  <a:moveTo>
                    <a:pt x="0" y="0"/>
                  </a:moveTo>
                  <a:lnTo>
                    <a:pt x="195072" y="0"/>
                  </a:lnTo>
                  <a:lnTo>
                    <a:pt x="195072" y="2877312"/>
                  </a:lnTo>
                  <a:lnTo>
                    <a:pt x="0" y="2877312"/>
                  </a:lnTo>
                  <a:close/>
                </a:path>
              </a:pathLst>
            </a:custGeom>
            <a:solidFill>
              <a:srgbClr val="5B8CFF"/>
            </a:solidFill>
          </p:spPr>
          <p:txBody>
            <a:bodyPr/>
            <a:lstStyle/>
            <a:p>
              <a:endParaRPr lang="es-GT"/>
            </a:p>
          </p:txBody>
        </p:sp>
        <p:sp>
          <p:nvSpPr>
            <p:cNvPr id="25" name="Freeform 25"/>
            <p:cNvSpPr/>
            <p:nvPr/>
          </p:nvSpPr>
          <p:spPr>
            <a:xfrm>
              <a:off x="0" y="0"/>
              <a:ext cx="228854" cy="2911094"/>
            </a:xfrm>
            <a:custGeom>
              <a:avLst/>
              <a:gdLst/>
              <a:ahLst/>
              <a:cxnLst/>
              <a:rect l="l" t="t" r="r" b="b"/>
              <a:pathLst>
                <a:path w="228854" h="2911094">
                  <a:moveTo>
                    <a:pt x="16891" y="0"/>
                  </a:moveTo>
                  <a:lnTo>
                    <a:pt x="211963" y="0"/>
                  </a:lnTo>
                  <a:cubicBezTo>
                    <a:pt x="221361" y="0"/>
                    <a:pt x="228854" y="7620"/>
                    <a:pt x="228854" y="16891"/>
                  </a:cubicBezTo>
                  <a:lnTo>
                    <a:pt x="228854" y="2894203"/>
                  </a:lnTo>
                  <a:cubicBezTo>
                    <a:pt x="228854" y="2903601"/>
                    <a:pt x="221234" y="2911094"/>
                    <a:pt x="211963" y="2911094"/>
                  </a:cubicBezTo>
                  <a:lnTo>
                    <a:pt x="16891" y="2911094"/>
                  </a:lnTo>
                  <a:cubicBezTo>
                    <a:pt x="7493" y="2911094"/>
                    <a:pt x="0" y="2903474"/>
                    <a:pt x="0" y="2894203"/>
                  </a:cubicBezTo>
                  <a:lnTo>
                    <a:pt x="0" y="16891"/>
                  </a:lnTo>
                  <a:cubicBezTo>
                    <a:pt x="0" y="7620"/>
                    <a:pt x="7620" y="0"/>
                    <a:pt x="16891" y="0"/>
                  </a:cubicBezTo>
                  <a:moveTo>
                    <a:pt x="16891" y="33909"/>
                  </a:moveTo>
                  <a:lnTo>
                    <a:pt x="16891" y="16891"/>
                  </a:lnTo>
                  <a:lnTo>
                    <a:pt x="33909" y="16891"/>
                  </a:lnTo>
                  <a:lnTo>
                    <a:pt x="33909" y="2894203"/>
                  </a:lnTo>
                  <a:lnTo>
                    <a:pt x="16891" y="2894203"/>
                  </a:lnTo>
                  <a:lnTo>
                    <a:pt x="16891" y="2877312"/>
                  </a:lnTo>
                  <a:lnTo>
                    <a:pt x="211963" y="2877312"/>
                  </a:lnTo>
                  <a:lnTo>
                    <a:pt x="211963" y="2894203"/>
                  </a:lnTo>
                  <a:lnTo>
                    <a:pt x="195072" y="2894203"/>
                  </a:lnTo>
                  <a:lnTo>
                    <a:pt x="195072" y="16891"/>
                  </a:lnTo>
                  <a:lnTo>
                    <a:pt x="211963" y="16891"/>
                  </a:lnTo>
                  <a:lnTo>
                    <a:pt x="211963" y="33909"/>
                  </a:lnTo>
                  <a:lnTo>
                    <a:pt x="16891" y="33909"/>
                  </a:lnTo>
                  <a:close/>
                </a:path>
              </a:pathLst>
            </a:custGeom>
            <a:solidFill>
              <a:srgbClr val="5B8CFF"/>
            </a:solidFill>
          </p:spPr>
          <p:txBody>
            <a:bodyPr/>
            <a:lstStyle/>
            <a:p>
              <a:endParaRPr lang="es-GT"/>
            </a:p>
          </p:txBody>
        </p:sp>
      </p:grpSp>
      <p:grpSp>
        <p:nvGrpSpPr>
          <p:cNvPr id="26" name="Group 26"/>
          <p:cNvGrpSpPr/>
          <p:nvPr/>
        </p:nvGrpSpPr>
        <p:grpSpPr>
          <a:xfrm>
            <a:off x="1133856" y="2706624"/>
            <a:ext cx="7498080" cy="548640"/>
            <a:chOff x="0" y="0"/>
            <a:chExt cx="9997440" cy="731520"/>
          </a:xfrm>
        </p:grpSpPr>
        <p:sp>
          <p:nvSpPr>
            <p:cNvPr id="27" name="Freeform 27"/>
            <p:cNvSpPr/>
            <p:nvPr/>
          </p:nvSpPr>
          <p:spPr>
            <a:xfrm>
              <a:off x="0" y="0"/>
              <a:ext cx="9997440" cy="731520"/>
            </a:xfrm>
            <a:custGeom>
              <a:avLst/>
              <a:gdLst/>
              <a:ahLst/>
              <a:cxnLst/>
              <a:rect l="l" t="t" r="r" b="b"/>
              <a:pathLst>
                <a:path w="9997440" h="731520">
                  <a:moveTo>
                    <a:pt x="0" y="0"/>
                  </a:moveTo>
                  <a:lnTo>
                    <a:pt x="9997440" y="0"/>
                  </a:lnTo>
                  <a:lnTo>
                    <a:pt x="9997440" y="731520"/>
                  </a:lnTo>
                  <a:lnTo>
                    <a:pt x="0" y="731520"/>
                  </a:lnTo>
                  <a:close/>
                </a:path>
              </a:pathLst>
            </a:custGeom>
            <a:blipFill>
              <a:blip r:embed="rId3">
                <a:alphaModFix amt="0"/>
              </a:blip>
              <a:stretch>
                <a:fillRect t="-216295" b="-216295"/>
              </a:stretch>
            </a:blipFill>
          </p:spPr>
          <p:txBody>
            <a:bodyPr/>
            <a:lstStyle/>
            <a:p>
              <a:endParaRPr lang="es-GT"/>
            </a:p>
          </p:txBody>
        </p:sp>
        <p:sp>
          <p:nvSpPr>
            <p:cNvPr id="28" name="TextBox 28"/>
            <p:cNvSpPr txBox="1"/>
            <p:nvPr/>
          </p:nvSpPr>
          <p:spPr>
            <a:xfrm>
              <a:off x="0" y="-38100"/>
              <a:ext cx="9997440" cy="769620"/>
            </a:xfrm>
            <a:prstGeom prst="rect">
              <a:avLst/>
            </a:prstGeom>
          </p:spPr>
          <p:txBody>
            <a:bodyPr lIns="0" tIns="0" rIns="0" bIns="0" rtlCol="0" anchor="ctr"/>
            <a:lstStyle/>
            <a:p>
              <a:pPr algn="l">
                <a:lnSpc>
                  <a:spcPts val="2400"/>
                </a:lnSpc>
              </a:pPr>
              <a:r>
                <a:rPr lang="en-US" sz="2000" b="1">
                  <a:solidFill>
                    <a:srgbClr val="5B8CFF"/>
                  </a:solidFill>
                  <a:latin typeface="Calibri (MS) Bold"/>
                  <a:ea typeface="Calibri (MS) Bold"/>
                  <a:cs typeface="Calibri (MS) Bold"/>
                  <a:sym typeface="Calibri (MS) Bold"/>
                </a:rPr>
                <a:t>ÓVALO / TERMINAL</a:t>
              </a:r>
            </a:p>
          </p:txBody>
        </p:sp>
      </p:grpSp>
      <p:sp>
        <p:nvSpPr>
          <p:cNvPr id="29" name="TextBox 29"/>
          <p:cNvSpPr txBox="1"/>
          <p:nvPr/>
        </p:nvSpPr>
        <p:spPr>
          <a:xfrm>
            <a:off x="1225296" y="3335274"/>
            <a:ext cx="7315200" cy="781050"/>
          </a:xfrm>
          <a:prstGeom prst="rect">
            <a:avLst/>
          </a:prstGeom>
        </p:spPr>
        <p:txBody>
          <a:bodyPr lIns="0" tIns="0" rIns="0" bIns="0" rtlCol="0" anchor="t">
            <a:spAutoFit/>
          </a:bodyPr>
          <a:lstStyle/>
          <a:p>
            <a:pPr algn="l">
              <a:lnSpc>
                <a:spcPts val="2879"/>
              </a:lnSpc>
            </a:pPr>
            <a:r>
              <a:rPr lang="en-US" sz="2399">
                <a:solidFill>
                  <a:srgbClr val="FFFFFF"/>
                </a:solidFill>
                <a:latin typeface="Calibri (MS)"/>
                <a:ea typeface="Calibri (MS)"/>
                <a:cs typeface="Calibri (MS)"/>
                <a:sym typeface="Calibri (MS)"/>
              </a:rPr>
              <a:t>Marca el inicio o fin del algoritmo. Aparece exactamente dos veces.</a:t>
            </a:r>
          </a:p>
        </p:txBody>
      </p:sp>
      <p:grpSp>
        <p:nvGrpSpPr>
          <p:cNvPr id="30" name="Group 30"/>
          <p:cNvGrpSpPr/>
          <p:nvPr/>
        </p:nvGrpSpPr>
        <p:grpSpPr>
          <a:xfrm>
            <a:off x="9497063" y="2511047"/>
            <a:ext cx="8255003" cy="2183387"/>
            <a:chOff x="0" y="0"/>
            <a:chExt cx="11006671" cy="2911183"/>
          </a:xfrm>
        </p:grpSpPr>
        <p:sp>
          <p:nvSpPr>
            <p:cNvPr id="31" name="Freeform 31"/>
            <p:cNvSpPr/>
            <p:nvPr/>
          </p:nvSpPr>
          <p:spPr>
            <a:xfrm>
              <a:off x="16891" y="16891"/>
              <a:ext cx="10972800" cy="2877312"/>
            </a:xfrm>
            <a:custGeom>
              <a:avLst/>
              <a:gdLst/>
              <a:ahLst/>
              <a:cxnLst/>
              <a:rect l="l" t="t" r="r" b="b"/>
              <a:pathLst>
                <a:path w="10972800" h="2877312">
                  <a:moveTo>
                    <a:pt x="0" y="0"/>
                  </a:moveTo>
                  <a:lnTo>
                    <a:pt x="10972800" y="0"/>
                  </a:lnTo>
                  <a:lnTo>
                    <a:pt x="10972800" y="2877312"/>
                  </a:lnTo>
                  <a:lnTo>
                    <a:pt x="0" y="2877312"/>
                  </a:lnTo>
                  <a:close/>
                </a:path>
              </a:pathLst>
            </a:custGeom>
            <a:solidFill>
              <a:srgbClr val="252B42"/>
            </a:solidFill>
          </p:spPr>
          <p:txBody>
            <a:bodyPr/>
            <a:lstStyle/>
            <a:p>
              <a:endParaRPr lang="es-GT"/>
            </a:p>
          </p:txBody>
        </p:sp>
        <p:sp>
          <p:nvSpPr>
            <p:cNvPr id="32" name="Freeform 32"/>
            <p:cNvSpPr/>
            <p:nvPr/>
          </p:nvSpPr>
          <p:spPr>
            <a:xfrm>
              <a:off x="0" y="0"/>
              <a:ext cx="11006582" cy="2911094"/>
            </a:xfrm>
            <a:custGeom>
              <a:avLst/>
              <a:gdLst/>
              <a:ahLst/>
              <a:cxnLst/>
              <a:rect l="l" t="t" r="r" b="b"/>
              <a:pathLst>
                <a:path w="11006582" h="2911094">
                  <a:moveTo>
                    <a:pt x="16891" y="0"/>
                  </a:moveTo>
                  <a:lnTo>
                    <a:pt x="10989691" y="0"/>
                  </a:lnTo>
                  <a:cubicBezTo>
                    <a:pt x="10999089" y="0"/>
                    <a:pt x="11006582" y="7620"/>
                    <a:pt x="11006582" y="16891"/>
                  </a:cubicBezTo>
                  <a:lnTo>
                    <a:pt x="11006582" y="2894203"/>
                  </a:lnTo>
                  <a:cubicBezTo>
                    <a:pt x="11006582" y="2903601"/>
                    <a:pt x="10998962" y="2911094"/>
                    <a:pt x="10989691" y="2911094"/>
                  </a:cubicBezTo>
                  <a:lnTo>
                    <a:pt x="16891" y="2911094"/>
                  </a:lnTo>
                  <a:cubicBezTo>
                    <a:pt x="7493" y="2911094"/>
                    <a:pt x="0" y="2903474"/>
                    <a:pt x="0" y="2894203"/>
                  </a:cubicBezTo>
                  <a:lnTo>
                    <a:pt x="0" y="16891"/>
                  </a:lnTo>
                  <a:cubicBezTo>
                    <a:pt x="0" y="7620"/>
                    <a:pt x="7620" y="0"/>
                    <a:pt x="16891" y="0"/>
                  </a:cubicBezTo>
                  <a:moveTo>
                    <a:pt x="16891" y="33909"/>
                  </a:moveTo>
                  <a:lnTo>
                    <a:pt x="16891" y="16891"/>
                  </a:lnTo>
                  <a:lnTo>
                    <a:pt x="33909" y="16891"/>
                  </a:lnTo>
                  <a:lnTo>
                    <a:pt x="33909" y="2894203"/>
                  </a:lnTo>
                  <a:lnTo>
                    <a:pt x="16891" y="2894203"/>
                  </a:lnTo>
                  <a:lnTo>
                    <a:pt x="16891" y="2877312"/>
                  </a:lnTo>
                  <a:lnTo>
                    <a:pt x="10989691" y="2877312"/>
                  </a:lnTo>
                  <a:lnTo>
                    <a:pt x="10989691" y="2894203"/>
                  </a:lnTo>
                  <a:lnTo>
                    <a:pt x="10972800" y="2894203"/>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grpSp>
        <p:nvGrpSpPr>
          <p:cNvPr id="33" name="Group 33"/>
          <p:cNvGrpSpPr/>
          <p:nvPr/>
        </p:nvGrpSpPr>
        <p:grpSpPr>
          <a:xfrm>
            <a:off x="9497063" y="2511047"/>
            <a:ext cx="171707" cy="2183387"/>
            <a:chOff x="0" y="0"/>
            <a:chExt cx="228943" cy="2911183"/>
          </a:xfrm>
        </p:grpSpPr>
        <p:sp>
          <p:nvSpPr>
            <p:cNvPr id="34" name="Freeform 34"/>
            <p:cNvSpPr/>
            <p:nvPr/>
          </p:nvSpPr>
          <p:spPr>
            <a:xfrm>
              <a:off x="16891" y="16891"/>
              <a:ext cx="195072" cy="2877312"/>
            </a:xfrm>
            <a:custGeom>
              <a:avLst/>
              <a:gdLst/>
              <a:ahLst/>
              <a:cxnLst/>
              <a:rect l="l" t="t" r="r" b="b"/>
              <a:pathLst>
                <a:path w="195072" h="2877312">
                  <a:moveTo>
                    <a:pt x="0" y="0"/>
                  </a:moveTo>
                  <a:lnTo>
                    <a:pt x="195072" y="0"/>
                  </a:lnTo>
                  <a:lnTo>
                    <a:pt x="195072" y="2877312"/>
                  </a:lnTo>
                  <a:lnTo>
                    <a:pt x="0" y="2877312"/>
                  </a:lnTo>
                  <a:close/>
                </a:path>
              </a:pathLst>
            </a:custGeom>
            <a:solidFill>
              <a:srgbClr val="7EC8A4"/>
            </a:solidFill>
          </p:spPr>
          <p:txBody>
            <a:bodyPr/>
            <a:lstStyle/>
            <a:p>
              <a:endParaRPr lang="es-GT"/>
            </a:p>
          </p:txBody>
        </p:sp>
        <p:sp>
          <p:nvSpPr>
            <p:cNvPr id="35" name="Freeform 35"/>
            <p:cNvSpPr/>
            <p:nvPr/>
          </p:nvSpPr>
          <p:spPr>
            <a:xfrm>
              <a:off x="0" y="0"/>
              <a:ext cx="228854" cy="2911094"/>
            </a:xfrm>
            <a:custGeom>
              <a:avLst/>
              <a:gdLst/>
              <a:ahLst/>
              <a:cxnLst/>
              <a:rect l="l" t="t" r="r" b="b"/>
              <a:pathLst>
                <a:path w="228854" h="2911094">
                  <a:moveTo>
                    <a:pt x="16891" y="0"/>
                  </a:moveTo>
                  <a:lnTo>
                    <a:pt x="211963" y="0"/>
                  </a:lnTo>
                  <a:cubicBezTo>
                    <a:pt x="221361" y="0"/>
                    <a:pt x="228854" y="7620"/>
                    <a:pt x="228854" y="16891"/>
                  </a:cubicBezTo>
                  <a:lnTo>
                    <a:pt x="228854" y="2894203"/>
                  </a:lnTo>
                  <a:cubicBezTo>
                    <a:pt x="228854" y="2903601"/>
                    <a:pt x="221234" y="2911094"/>
                    <a:pt x="211963" y="2911094"/>
                  </a:cubicBezTo>
                  <a:lnTo>
                    <a:pt x="16891" y="2911094"/>
                  </a:lnTo>
                  <a:cubicBezTo>
                    <a:pt x="7493" y="2911094"/>
                    <a:pt x="0" y="2903474"/>
                    <a:pt x="0" y="2894203"/>
                  </a:cubicBezTo>
                  <a:lnTo>
                    <a:pt x="0" y="16891"/>
                  </a:lnTo>
                  <a:cubicBezTo>
                    <a:pt x="0" y="7620"/>
                    <a:pt x="7620" y="0"/>
                    <a:pt x="16891" y="0"/>
                  </a:cubicBezTo>
                  <a:moveTo>
                    <a:pt x="16891" y="33909"/>
                  </a:moveTo>
                  <a:lnTo>
                    <a:pt x="16891" y="16891"/>
                  </a:lnTo>
                  <a:lnTo>
                    <a:pt x="33909" y="16891"/>
                  </a:lnTo>
                  <a:lnTo>
                    <a:pt x="33909" y="2894203"/>
                  </a:lnTo>
                  <a:lnTo>
                    <a:pt x="16891" y="2894203"/>
                  </a:lnTo>
                  <a:lnTo>
                    <a:pt x="16891" y="2877312"/>
                  </a:lnTo>
                  <a:lnTo>
                    <a:pt x="211963" y="2877312"/>
                  </a:lnTo>
                  <a:lnTo>
                    <a:pt x="211963" y="2894203"/>
                  </a:lnTo>
                  <a:lnTo>
                    <a:pt x="195072" y="2894203"/>
                  </a:lnTo>
                  <a:lnTo>
                    <a:pt x="195072" y="16891"/>
                  </a:lnTo>
                  <a:lnTo>
                    <a:pt x="211963" y="16891"/>
                  </a:lnTo>
                  <a:lnTo>
                    <a:pt x="211963" y="33909"/>
                  </a:lnTo>
                  <a:lnTo>
                    <a:pt x="16891" y="33909"/>
                  </a:lnTo>
                  <a:close/>
                </a:path>
              </a:pathLst>
            </a:custGeom>
            <a:solidFill>
              <a:srgbClr val="7EC8A4"/>
            </a:solidFill>
          </p:spPr>
          <p:txBody>
            <a:bodyPr/>
            <a:lstStyle/>
            <a:p>
              <a:endParaRPr lang="es-GT"/>
            </a:p>
          </p:txBody>
        </p:sp>
      </p:grpSp>
      <p:grpSp>
        <p:nvGrpSpPr>
          <p:cNvPr id="36" name="Group 36"/>
          <p:cNvGrpSpPr/>
          <p:nvPr/>
        </p:nvGrpSpPr>
        <p:grpSpPr>
          <a:xfrm>
            <a:off x="9912096" y="2706624"/>
            <a:ext cx="7498080" cy="548640"/>
            <a:chOff x="0" y="0"/>
            <a:chExt cx="9997440" cy="731520"/>
          </a:xfrm>
        </p:grpSpPr>
        <p:sp>
          <p:nvSpPr>
            <p:cNvPr id="37" name="Freeform 37"/>
            <p:cNvSpPr/>
            <p:nvPr/>
          </p:nvSpPr>
          <p:spPr>
            <a:xfrm>
              <a:off x="0" y="0"/>
              <a:ext cx="9997440" cy="731520"/>
            </a:xfrm>
            <a:custGeom>
              <a:avLst/>
              <a:gdLst/>
              <a:ahLst/>
              <a:cxnLst/>
              <a:rect l="l" t="t" r="r" b="b"/>
              <a:pathLst>
                <a:path w="9997440" h="731520">
                  <a:moveTo>
                    <a:pt x="0" y="0"/>
                  </a:moveTo>
                  <a:lnTo>
                    <a:pt x="9997440" y="0"/>
                  </a:lnTo>
                  <a:lnTo>
                    <a:pt x="9997440" y="731520"/>
                  </a:lnTo>
                  <a:lnTo>
                    <a:pt x="0" y="731520"/>
                  </a:lnTo>
                  <a:close/>
                </a:path>
              </a:pathLst>
            </a:custGeom>
            <a:blipFill>
              <a:blip r:embed="rId3">
                <a:alphaModFix amt="0"/>
              </a:blip>
              <a:stretch>
                <a:fillRect t="-216295" b="-216295"/>
              </a:stretch>
            </a:blipFill>
          </p:spPr>
          <p:txBody>
            <a:bodyPr/>
            <a:lstStyle/>
            <a:p>
              <a:endParaRPr lang="es-GT"/>
            </a:p>
          </p:txBody>
        </p:sp>
        <p:sp>
          <p:nvSpPr>
            <p:cNvPr id="38" name="TextBox 38"/>
            <p:cNvSpPr txBox="1"/>
            <p:nvPr/>
          </p:nvSpPr>
          <p:spPr>
            <a:xfrm>
              <a:off x="0" y="-38100"/>
              <a:ext cx="9997440" cy="769620"/>
            </a:xfrm>
            <a:prstGeom prst="rect">
              <a:avLst/>
            </a:prstGeom>
          </p:spPr>
          <p:txBody>
            <a:bodyPr lIns="0" tIns="0" rIns="0" bIns="0" rtlCol="0" anchor="ctr"/>
            <a:lstStyle/>
            <a:p>
              <a:pPr algn="l">
                <a:lnSpc>
                  <a:spcPts val="2400"/>
                </a:lnSpc>
              </a:pPr>
              <a:r>
                <a:rPr lang="en-US" sz="2000" b="1">
                  <a:solidFill>
                    <a:srgbClr val="7EC8A4"/>
                  </a:solidFill>
                  <a:latin typeface="Calibri (MS) Bold"/>
                  <a:ea typeface="Calibri (MS) Bold"/>
                  <a:cs typeface="Calibri (MS) Bold"/>
                  <a:sym typeface="Calibri (MS) Bold"/>
                </a:rPr>
                <a:t>PARALELOGRAMO</a:t>
              </a:r>
            </a:p>
          </p:txBody>
        </p:sp>
      </p:grpSp>
      <p:sp>
        <p:nvSpPr>
          <p:cNvPr id="39" name="TextBox 39"/>
          <p:cNvSpPr txBox="1"/>
          <p:nvPr/>
        </p:nvSpPr>
        <p:spPr>
          <a:xfrm>
            <a:off x="10003536" y="3354324"/>
            <a:ext cx="7315200" cy="762000"/>
          </a:xfrm>
          <a:prstGeom prst="rect">
            <a:avLst/>
          </a:prstGeom>
        </p:spPr>
        <p:txBody>
          <a:bodyPr lIns="0" tIns="0" rIns="0" bIns="0" rtlCol="0" anchor="t">
            <a:spAutoFit/>
          </a:bodyPr>
          <a:lstStyle/>
          <a:p>
            <a:pPr algn="l">
              <a:lnSpc>
                <a:spcPts val="2879"/>
              </a:lnSpc>
            </a:pPr>
            <a:r>
              <a:rPr lang="en-US" sz="2400">
                <a:solidFill>
                  <a:srgbClr val="FFFFFF"/>
                </a:solidFill>
                <a:latin typeface="Calibri (MS)"/>
                <a:ea typeface="Calibri (MS)"/>
                <a:cs typeface="Calibri (MS)"/>
                <a:sym typeface="Calibri (MS)"/>
              </a:rPr>
              <a:t>Representa operaciones de entrada (leer) o salida (mostrar).</a:t>
            </a:r>
          </a:p>
        </p:txBody>
      </p:sp>
      <p:grpSp>
        <p:nvGrpSpPr>
          <p:cNvPr id="40" name="Group 40"/>
          <p:cNvGrpSpPr/>
          <p:nvPr/>
        </p:nvGrpSpPr>
        <p:grpSpPr>
          <a:xfrm>
            <a:off x="718823" y="4979927"/>
            <a:ext cx="8255003" cy="2183387"/>
            <a:chOff x="0" y="0"/>
            <a:chExt cx="11006671" cy="2911183"/>
          </a:xfrm>
        </p:grpSpPr>
        <p:sp>
          <p:nvSpPr>
            <p:cNvPr id="41" name="Freeform 41"/>
            <p:cNvSpPr/>
            <p:nvPr/>
          </p:nvSpPr>
          <p:spPr>
            <a:xfrm>
              <a:off x="16891" y="16891"/>
              <a:ext cx="10972800" cy="2877312"/>
            </a:xfrm>
            <a:custGeom>
              <a:avLst/>
              <a:gdLst/>
              <a:ahLst/>
              <a:cxnLst/>
              <a:rect l="l" t="t" r="r" b="b"/>
              <a:pathLst>
                <a:path w="10972800" h="2877312">
                  <a:moveTo>
                    <a:pt x="0" y="0"/>
                  </a:moveTo>
                  <a:lnTo>
                    <a:pt x="10972800" y="0"/>
                  </a:lnTo>
                  <a:lnTo>
                    <a:pt x="10972800" y="2877312"/>
                  </a:lnTo>
                  <a:lnTo>
                    <a:pt x="0" y="2877312"/>
                  </a:lnTo>
                  <a:close/>
                </a:path>
              </a:pathLst>
            </a:custGeom>
            <a:solidFill>
              <a:srgbClr val="252B42"/>
            </a:solidFill>
          </p:spPr>
          <p:txBody>
            <a:bodyPr/>
            <a:lstStyle/>
            <a:p>
              <a:endParaRPr lang="es-GT"/>
            </a:p>
          </p:txBody>
        </p:sp>
        <p:sp>
          <p:nvSpPr>
            <p:cNvPr id="42" name="Freeform 42"/>
            <p:cNvSpPr/>
            <p:nvPr/>
          </p:nvSpPr>
          <p:spPr>
            <a:xfrm>
              <a:off x="0" y="0"/>
              <a:ext cx="11006582" cy="2911094"/>
            </a:xfrm>
            <a:custGeom>
              <a:avLst/>
              <a:gdLst/>
              <a:ahLst/>
              <a:cxnLst/>
              <a:rect l="l" t="t" r="r" b="b"/>
              <a:pathLst>
                <a:path w="11006582" h="2911094">
                  <a:moveTo>
                    <a:pt x="16891" y="0"/>
                  </a:moveTo>
                  <a:lnTo>
                    <a:pt x="10989691" y="0"/>
                  </a:lnTo>
                  <a:cubicBezTo>
                    <a:pt x="10999089" y="0"/>
                    <a:pt x="11006582" y="7620"/>
                    <a:pt x="11006582" y="16891"/>
                  </a:cubicBezTo>
                  <a:lnTo>
                    <a:pt x="11006582" y="2894203"/>
                  </a:lnTo>
                  <a:cubicBezTo>
                    <a:pt x="11006582" y="2903601"/>
                    <a:pt x="10998962" y="2911094"/>
                    <a:pt x="10989691" y="2911094"/>
                  </a:cubicBezTo>
                  <a:lnTo>
                    <a:pt x="16891" y="2911094"/>
                  </a:lnTo>
                  <a:cubicBezTo>
                    <a:pt x="7493" y="2911094"/>
                    <a:pt x="0" y="2903474"/>
                    <a:pt x="0" y="2894203"/>
                  </a:cubicBezTo>
                  <a:lnTo>
                    <a:pt x="0" y="16891"/>
                  </a:lnTo>
                  <a:cubicBezTo>
                    <a:pt x="0" y="7620"/>
                    <a:pt x="7620" y="0"/>
                    <a:pt x="16891" y="0"/>
                  </a:cubicBezTo>
                  <a:moveTo>
                    <a:pt x="16891" y="33909"/>
                  </a:moveTo>
                  <a:lnTo>
                    <a:pt x="16891" y="16891"/>
                  </a:lnTo>
                  <a:lnTo>
                    <a:pt x="33909" y="16891"/>
                  </a:lnTo>
                  <a:lnTo>
                    <a:pt x="33909" y="2894203"/>
                  </a:lnTo>
                  <a:lnTo>
                    <a:pt x="16891" y="2894203"/>
                  </a:lnTo>
                  <a:lnTo>
                    <a:pt x="16891" y="2877312"/>
                  </a:lnTo>
                  <a:lnTo>
                    <a:pt x="10989691" y="2877312"/>
                  </a:lnTo>
                  <a:lnTo>
                    <a:pt x="10989691" y="2894203"/>
                  </a:lnTo>
                  <a:lnTo>
                    <a:pt x="10972800" y="2894203"/>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grpSp>
        <p:nvGrpSpPr>
          <p:cNvPr id="43" name="Group 43"/>
          <p:cNvGrpSpPr/>
          <p:nvPr/>
        </p:nvGrpSpPr>
        <p:grpSpPr>
          <a:xfrm>
            <a:off x="718823" y="4979927"/>
            <a:ext cx="171707" cy="2183387"/>
            <a:chOff x="0" y="0"/>
            <a:chExt cx="228943" cy="2911183"/>
          </a:xfrm>
        </p:grpSpPr>
        <p:sp>
          <p:nvSpPr>
            <p:cNvPr id="44" name="Freeform 44"/>
            <p:cNvSpPr/>
            <p:nvPr/>
          </p:nvSpPr>
          <p:spPr>
            <a:xfrm>
              <a:off x="16891" y="16891"/>
              <a:ext cx="195072" cy="2877312"/>
            </a:xfrm>
            <a:custGeom>
              <a:avLst/>
              <a:gdLst/>
              <a:ahLst/>
              <a:cxnLst/>
              <a:rect l="l" t="t" r="r" b="b"/>
              <a:pathLst>
                <a:path w="195072" h="2877312">
                  <a:moveTo>
                    <a:pt x="0" y="0"/>
                  </a:moveTo>
                  <a:lnTo>
                    <a:pt x="195072" y="0"/>
                  </a:lnTo>
                  <a:lnTo>
                    <a:pt x="195072" y="2877312"/>
                  </a:lnTo>
                  <a:lnTo>
                    <a:pt x="0" y="2877312"/>
                  </a:lnTo>
                  <a:close/>
                </a:path>
              </a:pathLst>
            </a:custGeom>
            <a:solidFill>
              <a:srgbClr val="9B7FD4"/>
            </a:solidFill>
          </p:spPr>
          <p:txBody>
            <a:bodyPr/>
            <a:lstStyle/>
            <a:p>
              <a:endParaRPr lang="es-GT"/>
            </a:p>
          </p:txBody>
        </p:sp>
        <p:sp>
          <p:nvSpPr>
            <p:cNvPr id="45" name="Freeform 45"/>
            <p:cNvSpPr/>
            <p:nvPr/>
          </p:nvSpPr>
          <p:spPr>
            <a:xfrm>
              <a:off x="0" y="0"/>
              <a:ext cx="228854" cy="2911094"/>
            </a:xfrm>
            <a:custGeom>
              <a:avLst/>
              <a:gdLst/>
              <a:ahLst/>
              <a:cxnLst/>
              <a:rect l="l" t="t" r="r" b="b"/>
              <a:pathLst>
                <a:path w="228854" h="2911094">
                  <a:moveTo>
                    <a:pt x="16891" y="0"/>
                  </a:moveTo>
                  <a:lnTo>
                    <a:pt x="211963" y="0"/>
                  </a:lnTo>
                  <a:cubicBezTo>
                    <a:pt x="221361" y="0"/>
                    <a:pt x="228854" y="7620"/>
                    <a:pt x="228854" y="16891"/>
                  </a:cubicBezTo>
                  <a:lnTo>
                    <a:pt x="228854" y="2894203"/>
                  </a:lnTo>
                  <a:cubicBezTo>
                    <a:pt x="228854" y="2903601"/>
                    <a:pt x="221234" y="2911094"/>
                    <a:pt x="211963" y="2911094"/>
                  </a:cubicBezTo>
                  <a:lnTo>
                    <a:pt x="16891" y="2911094"/>
                  </a:lnTo>
                  <a:cubicBezTo>
                    <a:pt x="7493" y="2911094"/>
                    <a:pt x="0" y="2903474"/>
                    <a:pt x="0" y="2894203"/>
                  </a:cubicBezTo>
                  <a:lnTo>
                    <a:pt x="0" y="16891"/>
                  </a:lnTo>
                  <a:cubicBezTo>
                    <a:pt x="0" y="7620"/>
                    <a:pt x="7620" y="0"/>
                    <a:pt x="16891" y="0"/>
                  </a:cubicBezTo>
                  <a:moveTo>
                    <a:pt x="16891" y="33909"/>
                  </a:moveTo>
                  <a:lnTo>
                    <a:pt x="16891" y="16891"/>
                  </a:lnTo>
                  <a:lnTo>
                    <a:pt x="33909" y="16891"/>
                  </a:lnTo>
                  <a:lnTo>
                    <a:pt x="33909" y="2894203"/>
                  </a:lnTo>
                  <a:lnTo>
                    <a:pt x="16891" y="2894203"/>
                  </a:lnTo>
                  <a:lnTo>
                    <a:pt x="16891" y="2877312"/>
                  </a:lnTo>
                  <a:lnTo>
                    <a:pt x="211963" y="2877312"/>
                  </a:lnTo>
                  <a:lnTo>
                    <a:pt x="211963" y="2894203"/>
                  </a:lnTo>
                  <a:lnTo>
                    <a:pt x="195072" y="2894203"/>
                  </a:lnTo>
                  <a:lnTo>
                    <a:pt x="195072" y="16891"/>
                  </a:lnTo>
                  <a:lnTo>
                    <a:pt x="211963" y="16891"/>
                  </a:lnTo>
                  <a:lnTo>
                    <a:pt x="211963" y="33909"/>
                  </a:lnTo>
                  <a:lnTo>
                    <a:pt x="16891" y="33909"/>
                  </a:lnTo>
                  <a:close/>
                </a:path>
              </a:pathLst>
            </a:custGeom>
            <a:solidFill>
              <a:srgbClr val="9B7FD4"/>
            </a:solidFill>
          </p:spPr>
          <p:txBody>
            <a:bodyPr/>
            <a:lstStyle/>
            <a:p>
              <a:endParaRPr lang="es-GT"/>
            </a:p>
          </p:txBody>
        </p:sp>
      </p:grpSp>
      <p:grpSp>
        <p:nvGrpSpPr>
          <p:cNvPr id="46" name="Group 46"/>
          <p:cNvGrpSpPr/>
          <p:nvPr/>
        </p:nvGrpSpPr>
        <p:grpSpPr>
          <a:xfrm>
            <a:off x="1133856" y="5175504"/>
            <a:ext cx="7498080" cy="548640"/>
            <a:chOff x="0" y="0"/>
            <a:chExt cx="9997440" cy="731520"/>
          </a:xfrm>
        </p:grpSpPr>
        <p:sp>
          <p:nvSpPr>
            <p:cNvPr id="47" name="Freeform 47"/>
            <p:cNvSpPr/>
            <p:nvPr/>
          </p:nvSpPr>
          <p:spPr>
            <a:xfrm>
              <a:off x="0" y="0"/>
              <a:ext cx="9997440" cy="731520"/>
            </a:xfrm>
            <a:custGeom>
              <a:avLst/>
              <a:gdLst/>
              <a:ahLst/>
              <a:cxnLst/>
              <a:rect l="l" t="t" r="r" b="b"/>
              <a:pathLst>
                <a:path w="9997440" h="731520">
                  <a:moveTo>
                    <a:pt x="0" y="0"/>
                  </a:moveTo>
                  <a:lnTo>
                    <a:pt x="9997440" y="0"/>
                  </a:lnTo>
                  <a:lnTo>
                    <a:pt x="9997440" y="731520"/>
                  </a:lnTo>
                  <a:lnTo>
                    <a:pt x="0" y="731520"/>
                  </a:lnTo>
                  <a:close/>
                </a:path>
              </a:pathLst>
            </a:custGeom>
            <a:blipFill>
              <a:blip r:embed="rId3">
                <a:alphaModFix amt="0"/>
              </a:blip>
              <a:stretch>
                <a:fillRect t="-216295" b="-216295"/>
              </a:stretch>
            </a:blipFill>
          </p:spPr>
          <p:txBody>
            <a:bodyPr/>
            <a:lstStyle/>
            <a:p>
              <a:endParaRPr lang="es-GT"/>
            </a:p>
          </p:txBody>
        </p:sp>
        <p:sp>
          <p:nvSpPr>
            <p:cNvPr id="48" name="TextBox 48"/>
            <p:cNvSpPr txBox="1"/>
            <p:nvPr/>
          </p:nvSpPr>
          <p:spPr>
            <a:xfrm>
              <a:off x="0" y="-38100"/>
              <a:ext cx="9997440" cy="769620"/>
            </a:xfrm>
            <a:prstGeom prst="rect">
              <a:avLst/>
            </a:prstGeom>
          </p:spPr>
          <p:txBody>
            <a:bodyPr lIns="0" tIns="0" rIns="0" bIns="0" rtlCol="0" anchor="ctr"/>
            <a:lstStyle/>
            <a:p>
              <a:pPr algn="l">
                <a:lnSpc>
                  <a:spcPts val="2400"/>
                </a:lnSpc>
              </a:pPr>
              <a:r>
                <a:rPr lang="en-US" sz="2000" b="1">
                  <a:solidFill>
                    <a:srgbClr val="9B7FD4"/>
                  </a:solidFill>
                  <a:latin typeface="Calibri (MS) Bold"/>
                  <a:ea typeface="Calibri (MS) Bold"/>
                  <a:cs typeface="Calibri (MS) Bold"/>
                  <a:sym typeface="Calibri (MS) Bold"/>
                </a:rPr>
                <a:t>RECTÁNGULO</a:t>
              </a:r>
            </a:p>
          </p:txBody>
        </p:sp>
      </p:grpSp>
      <p:sp>
        <p:nvSpPr>
          <p:cNvPr id="49" name="TextBox 49"/>
          <p:cNvSpPr txBox="1"/>
          <p:nvPr/>
        </p:nvSpPr>
        <p:spPr>
          <a:xfrm>
            <a:off x="1225296" y="5804154"/>
            <a:ext cx="7315200" cy="419100"/>
          </a:xfrm>
          <a:prstGeom prst="rect">
            <a:avLst/>
          </a:prstGeom>
        </p:spPr>
        <p:txBody>
          <a:bodyPr lIns="0" tIns="0" rIns="0" bIns="0" rtlCol="0" anchor="t">
            <a:spAutoFit/>
          </a:bodyPr>
          <a:lstStyle/>
          <a:p>
            <a:pPr algn="l">
              <a:lnSpc>
                <a:spcPts val="2879"/>
              </a:lnSpc>
            </a:pPr>
            <a:r>
              <a:rPr lang="en-US" sz="2399">
                <a:solidFill>
                  <a:srgbClr val="FFFFFF"/>
                </a:solidFill>
                <a:latin typeface="Calibri (MS)"/>
                <a:ea typeface="Calibri (MS)"/>
                <a:cs typeface="Calibri (MS)"/>
                <a:sym typeface="Calibri (MS)"/>
              </a:rPr>
              <a:t>Bloque de proceso: cálculos, asignaciones y operaciones.</a:t>
            </a:r>
          </a:p>
        </p:txBody>
      </p:sp>
      <p:grpSp>
        <p:nvGrpSpPr>
          <p:cNvPr id="50" name="Group 50"/>
          <p:cNvGrpSpPr/>
          <p:nvPr/>
        </p:nvGrpSpPr>
        <p:grpSpPr>
          <a:xfrm>
            <a:off x="9497063" y="4979927"/>
            <a:ext cx="8255003" cy="2183387"/>
            <a:chOff x="0" y="0"/>
            <a:chExt cx="11006671" cy="2911183"/>
          </a:xfrm>
        </p:grpSpPr>
        <p:sp>
          <p:nvSpPr>
            <p:cNvPr id="51" name="Freeform 51"/>
            <p:cNvSpPr/>
            <p:nvPr/>
          </p:nvSpPr>
          <p:spPr>
            <a:xfrm>
              <a:off x="16891" y="16891"/>
              <a:ext cx="10972800" cy="2877312"/>
            </a:xfrm>
            <a:custGeom>
              <a:avLst/>
              <a:gdLst/>
              <a:ahLst/>
              <a:cxnLst/>
              <a:rect l="l" t="t" r="r" b="b"/>
              <a:pathLst>
                <a:path w="10972800" h="2877312">
                  <a:moveTo>
                    <a:pt x="0" y="0"/>
                  </a:moveTo>
                  <a:lnTo>
                    <a:pt x="10972800" y="0"/>
                  </a:lnTo>
                  <a:lnTo>
                    <a:pt x="10972800" y="2877312"/>
                  </a:lnTo>
                  <a:lnTo>
                    <a:pt x="0" y="2877312"/>
                  </a:lnTo>
                  <a:close/>
                </a:path>
              </a:pathLst>
            </a:custGeom>
            <a:solidFill>
              <a:srgbClr val="252B42"/>
            </a:solidFill>
          </p:spPr>
          <p:txBody>
            <a:bodyPr/>
            <a:lstStyle/>
            <a:p>
              <a:endParaRPr lang="es-GT"/>
            </a:p>
          </p:txBody>
        </p:sp>
        <p:sp>
          <p:nvSpPr>
            <p:cNvPr id="52" name="Freeform 52"/>
            <p:cNvSpPr/>
            <p:nvPr/>
          </p:nvSpPr>
          <p:spPr>
            <a:xfrm>
              <a:off x="0" y="0"/>
              <a:ext cx="11006582" cy="2911094"/>
            </a:xfrm>
            <a:custGeom>
              <a:avLst/>
              <a:gdLst/>
              <a:ahLst/>
              <a:cxnLst/>
              <a:rect l="l" t="t" r="r" b="b"/>
              <a:pathLst>
                <a:path w="11006582" h="2911094">
                  <a:moveTo>
                    <a:pt x="16891" y="0"/>
                  </a:moveTo>
                  <a:lnTo>
                    <a:pt x="10989691" y="0"/>
                  </a:lnTo>
                  <a:cubicBezTo>
                    <a:pt x="10999089" y="0"/>
                    <a:pt x="11006582" y="7620"/>
                    <a:pt x="11006582" y="16891"/>
                  </a:cubicBezTo>
                  <a:lnTo>
                    <a:pt x="11006582" y="2894203"/>
                  </a:lnTo>
                  <a:cubicBezTo>
                    <a:pt x="11006582" y="2903601"/>
                    <a:pt x="10998962" y="2911094"/>
                    <a:pt x="10989691" y="2911094"/>
                  </a:cubicBezTo>
                  <a:lnTo>
                    <a:pt x="16891" y="2911094"/>
                  </a:lnTo>
                  <a:cubicBezTo>
                    <a:pt x="7493" y="2911094"/>
                    <a:pt x="0" y="2903474"/>
                    <a:pt x="0" y="2894203"/>
                  </a:cubicBezTo>
                  <a:lnTo>
                    <a:pt x="0" y="16891"/>
                  </a:lnTo>
                  <a:cubicBezTo>
                    <a:pt x="0" y="7620"/>
                    <a:pt x="7620" y="0"/>
                    <a:pt x="16891" y="0"/>
                  </a:cubicBezTo>
                  <a:moveTo>
                    <a:pt x="16891" y="33909"/>
                  </a:moveTo>
                  <a:lnTo>
                    <a:pt x="16891" y="16891"/>
                  </a:lnTo>
                  <a:lnTo>
                    <a:pt x="33909" y="16891"/>
                  </a:lnTo>
                  <a:lnTo>
                    <a:pt x="33909" y="2894203"/>
                  </a:lnTo>
                  <a:lnTo>
                    <a:pt x="16891" y="2894203"/>
                  </a:lnTo>
                  <a:lnTo>
                    <a:pt x="16891" y="2877312"/>
                  </a:lnTo>
                  <a:lnTo>
                    <a:pt x="10989691" y="2877312"/>
                  </a:lnTo>
                  <a:lnTo>
                    <a:pt x="10989691" y="2894203"/>
                  </a:lnTo>
                  <a:lnTo>
                    <a:pt x="10972800" y="2894203"/>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grpSp>
        <p:nvGrpSpPr>
          <p:cNvPr id="53" name="Group 53"/>
          <p:cNvGrpSpPr/>
          <p:nvPr/>
        </p:nvGrpSpPr>
        <p:grpSpPr>
          <a:xfrm>
            <a:off x="9497063" y="4979927"/>
            <a:ext cx="171707" cy="2183387"/>
            <a:chOff x="0" y="0"/>
            <a:chExt cx="228943" cy="2911183"/>
          </a:xfrm>
        </p:grpSpPr>
        <p:sp>
          <p:nvSpPr>
            <p:cNvPr id="54" name="Freeform 54"/>
            <p:cNvSpPr/>
            <p:nvPr/>
          </p:nvSpPr>
          <p:spPr>
            <a:xfrm>
              <a:off x="16891" y="16891"/>
              <a:ext cx="195072" cy="2877312"/>
            </a:xfrm>
            <a:custGeom>
              <a:avLst/>
              <a:gdLst/>
              <a:ahLst/>
              <a:cxnLst/>
              <a:rect l="l" t="t" r="r" b="b"/>
              <a:pathLst>
                <a:path w="195072" h="2877312">
                  <a:moveTo>
                    <a:pt x="0" y="0"/>
                  </a:moveTo>
                  <a:lnTo>
                    <a:pt x="195072" y="0"/>
                  </a:lnTo>
                  <a:lnTo>
                    <a:pt x="195072" y="2877312"/>
                  </a:lnTo>
                  <a:lnTo>
                    <a:pt x="0" y="2877312"/>
                  </a:lnTo>
                  <a:close/>
                </a:path>
              </a:pathLst>
            </a:custGeom>
            <a:solidFill>
              <a:srgbClr val="E8A87C"/>
            </a:solidFill>
          </p:spPr>
          <p:txBody>
            <a:bodyPr/>
            <a:lstStyle/>
            <a:p>
              <a:endParaRPr lang="es-GT"/>
            </a:p>
          </p:txBody>
        </p:sp>
        <p:sp>
          <p:nvSpPr>
            <p:cNvPr id="55" name="Freeform 55"/>
            <p:cNvSpPr/>
            <p:nvPr/>
          </p:nvSpPr>
          <p:spPr>
            <a:xfrm>
              <a:off x="0" y="0"/>
              <a:ext cx="228854" cy="2911094"/>
            </a:xfrm>
            <a:custGeom>
              <a:avLst/>
              <a:gdLst/>
              <a:ahLst/>
              <a:cxnLst/>
              <a:rect l="l" t="t" r="r" b="b"/>
              <a:pathLst>
                <a:path w="228854" h="2911094">
                  <a:moveTo>
                    <a:pt x="16891" y="0"/>
                  </a:moveTo>
                  <a:lnTo>
                    <a:pt x="211963" y="0"/>
                  </a:lnTo>
                  <a:cubicBezTo>
                    <a:pt x="221361" y="0"/>
                    <a:pt x="228854" y="7620"/>
                    <a:pt x="228854" y="16891"/>
                  </a:cubicBezTo>
                  <a:lnTo>
                    <a:pt x="228854" y="2894203"/>
                  </a:lnTo>
                  <a:cubicBezTo>
                    <a:pt x="228854" y="2903601"/>
                    <a:pt x="221234" y="2911094"/>
                    <a:pt x="211963" y="2911094"/>
                  </a:cubicBezTo>
                  <a:lnTo>
                    <a:pt x="16891" y="2911094"/>
                  </a:lnTo>
                  <a:cubicBezTo>
                    <a:pt x="7493" y="2911094"/>
                    <a:pt x="0" y="2903474"/>
                    <a:pt x="0" y="2894203"/>
                  </a:cubicBezTo>
                  <a:lnTo>
                    <a:pt x="0" y="16891"/>
                  </a:lnTo>
                  <a:cubicBezTo>
                    <a:pt x="0" y="7620"/>
                    <a:pt x="7620" y="0"/>
                    <a:pt x="16891" y="0"/>
                  </a:cubicBezTo>
                  <a:moveTo>
                    <a:pt x="16891" y="33909"/>
                  </a:moveTo>
                  <a:lnTo>
                    <a:pt x="16891" y="16891"/>
                  </a:lnTo>
                  <a:lnTo>
                    <a:pt x="33909" y="16891"/>
                  </a:lnTo>
                  <a:lnTo>
                    <a:pt x="33909" y="2894203"/>
                  </a:lnTo>
                  <a:lnTo>
                    <a:pt x="16891" y="2894203"/>
                  </a:lnTo>
                  <a:lnTo>
                    <a:pt x="16891" y="2877312"/>
                  </a:lnTo>
                  <a:lnTo>
                    <a:pt x="211963" y="2877312"/>
                  </a:lnTo>
                  <a:lnTo>
                    <a:pt x="211963" y="2894203"/>
                  </a:lnTo>
                  <a:lnTo>
                    <a:pt x="195072" y="2894203"/>
                  </a:lnTo>
                  <a:lnTo>
                    <a:pt x="195072" y="16891"/>
                  </a:lnTo>
                  <a:lnTo>
                    <a:pt x="211963" y="16891"/>
                  </a:lnTo>
                  <a:lnTo>
                    <a:pt x="211963" y="33909"/>
                  </a:lnTo>
                  <a:lnTo>
                    <a:pt x="16891" y="33909"/>
                  </a:lnTo>
                  <a:close/>
                </a:path>
              </a:pathLst>
            </a:custGeom>
            <a:solidFill>
              <a:srgbClr val="E8A87C"/>
            </a:solidFill>
          </p:spPr>
          <p:txBody>
            <a:bodyPr/>
            <a:lstStyle/>
            <a:p>
              <a:endParaRPr lang="es-GT"/>
            </a:p>
          </p:txBody>
        </p:sp>
      </p:grpSp>
      <p:grpSp>
        <p:nvGrpSpPr>
          <p:cNvPr id="56" name="Group 56"/>
          <p:cNvGrpSpPr/>
          <p:nvPr/>
        </p:nvGrpSpPr>
        <p:grpSpPr>
          <a:xfrm>
            <a:off x="9912096" y="5175504"/>
            <a:ext cx="7498080" cy="548640"/>
            <a:chOff x="0" y="0"/>
            <a:chExt cx="9997440" cy="731520"/>
          </a:xfrm>
        </p:grpSpPr>
        <p:sp>
          <p:nvSpPr>
            <p:cNvPr id="57" name="Freeform 57"/>
            <p:cNvSpPr/>
            <p:nvPr/>
          </p:nvSpPr>
          <p:spPr>
            <a:xfrm>
              <a:off x="0" y="0"/>
              <a:ext cx="9997440" cy="731520"/>
            </a:xfrm>
            <a:custGeom>
              <a:avLst/>
              <a:gdLst/>
              <a:ahLst/>
              <a:cxnLst/>
              <a:rect l="l" t="t" r="r" b="b"/>
              <a:pathLst>
                <a:path w="9997440" h="731520">
                  <a:moveTo>
                    <a:pt x="0" y="0"/>
                  </a:moveTo>
                  <a:lnTo>
                    <a:pt x="9997440" y="0"/>
                  </a:lnTo>
                  <a:lnTo>
                    <a:pt x="9997440" y="731520"/>
                  </a:lnTo>
                  <a:lnTo>
                    <a:pt x="0" y="731520"/>
                  </a:lnTo>
                  <a:close/>
                </a:path>
              </a:pathLst>
            </a:custGeom>
            <a:blipFill>
              <a:blip r:embed="rId3">
                <a:alphaModFix amt="0"/>
              </a:blip>
              <a:stretch>
                <a:fillRect t="-216295" b="-216295"/>
              </a:stretch>
            </a:blipFill>
          </p:spPr>
          <p:txBody>
            <a:bodyPr/>
            <a:lstStyle/>
            <a:p>
              <a:endParaRPr lang="es-GT"/>
            </a:p>
          </p:txBody>
        </p:sp>
        <p:sp>
          <p:nvSpPr>
            <p:cNvPr id="58" name="TextBox 58"/>
            <p:cNvSpPr txBox="1"/>
            <p:nvPr/>
          </p:nvSpPr>
          <p:spPr>
            <a:xfrm>
              <a:off x="0" y="-38100"/>
              <a:ext cx="9997440" cy="769620"/>
            </a:xfrm>
            <a:prstGeom prst="rect">
              <a:avLst/>
            </a:prstGeom>
          </p:spPr>
          <p:txBody>
            <a:bodyPr lIns="0" tIns="0" rIns="0" bIns="0" rtlCol="0" anchor="ctr"/>
            <a:lstStyle/>
            <a:p>
              <a:pPr algn="l">
                <a:lnSpc>
                  <a:spcPts val="2400"/>
                </a:lnSpc>
              </a:pPr>
              <a:r>
                <a:rPr lang="en-US" sz="2000" b="1">
                  <a:solidFill>
                    <a:srgbClr val="E8A87C"/>
                  </a:solidFill>
                  <a:latin typeface="Calibri (MS) Bold"/>
                  <a:ea typeface="Calibri (MS) Bold"/>
                  <a:cs typeface="Calibri (MS) Bold"/>
                  <a:sym typeface="Calibri (MS) Bold"/>
                </a:rPr>
                <a:t>ROMBO</a:t>
              </a:r>
            </a:p>
          </p:txBody>
        </p:sp>
      </p:grpSp>
      <p:sp>
        <p:nvSpPr>
          <p:cNvPr id="59" name="TextBox 59"/>
          <p:cNvSpPr txBox="1"/>
          <p:nvPr/>
        </p:nvSpPr>
        <p:spPr>
          <a:xfrm>
            <a:off x="10003536" y="5804154"/>
            <a:ext cx="7315200" cy="781050"/>
          </a:xfrm>
          <a:prstGeom prst="rect">
            <a:avLst/>
          </a:prstGeom>
        </p:spPr>
        <p:txBody>
          <a:bodyPr lIns="0" tIns="0" rIns="0" bIns="0" rtlCol="0" anchor="t">
            <a:spAutoFit/>
          </a:bodyPr>
          <a:lstStyle/>
          <a:p>
            <a:pPr algn="l">
              <a:lnSpc>
                <a:spcPts val="2879"/>
              </a:lnSpc>
            </a:pPr>
            <a:r>
              <a:rPr lang="en-US" sz="2399">
                <a:solidFill>
                  <a:srgbClr val="FFFFFF"/>
                </a:solidFill>
                <a:latin typeface="Calibri (MS)"/>
                <a:ea typeface="Calibri (MS)"/>
                <a:cs typeface="Calibri (MS)"/>
                <a:sym typeface="Calibri (MS)"/>
              </a:rPr>
              <a:t>Decisión o condición. Tiene dos salidas: Sí (verdadero) y No (falso).</a:t>
            </a:r>
          </a:p>
        </p:txBody>
      </p:sp>
      <p:grpSp>
        <p:nvGrpSpPr>
          <p:cNvPr id="60" name="Group 60"/>
          <p:cNvGrpSpPr/>
          <p:nvPr/>
        </p:nvGrpSpPr>
        <p:grpSpPr>
          <a:xfrm>
            <a:off x="718823" y="7448807"/>
            <a:ext cx="8255003" cy="2183387"/>
            <a:chOff x="0" y="0"/>
            <a:chExt cx="11006671" cy="2911183"/>
          </a:xfrm>
        </p:grpSpPr>
        <p:sp>
          <p:nvSpPr>
            <p:cNvPr id="61" name="Freeform 61"/>
            <p:cNvSpPr/>
            <p:nvPr/>
          </p:nvSpPr>
          <p:spPr>
            <a:xfrm>
              <a:off x="16891" y="16891"/>
              <a:ext cx="10972800" cy="2877312"/>
            </a:xfrm>
            <a:custGeom>
              <a:avLst/>
              <a:gdLst/>
              <a:ahLst/>
              <a:cxnLst/>
              <a:rect l="l" t="t" r="r" b="b"/>
              <a:pathLst>
                <a:path w="10972800" h="2877312">
                  <a:moveTo>
                    <a:pt x="0" y="0"/>
                  </a:moveTo>
                  <a:lnTo>
                    <a:pt x="10972800" y="0"/>
                  </a:lnTo>
                  <a:lnTo>
                    <a:pt x="10972800" y="2877312"/>
                  </a:lnTo>
                  <a:lnTo>
                    <a:pt x="0" y="2877312"/>
                  </a:lnTo>
                  <a:close/>
                </a:path>
              </a:pathLst>
            </a:custGeom>
            <a:solidFill>
              <a:srgbClr val="252B42"/>
            </a:solidFill>
          </p:spPr>
          <p:txBody>
            <a:bodyPr/>
            <a:lstStyle/>
            <a:p>
              <a:endParaRPr lang="es-GT"/>
            </a:p>
          </p:txBody>
        </p:sp>
        <p:sp>
          <p:nvSpPr>
            <p:cNvPr id="62" name="Freeform 62"/>
            <p:cNvSpPr/>
            <p:nvPr/>
          </p:nvSpPr>
          <p:spPr>
            <a:xfrm>
              <a:off x="0" y="0"/>
              <a:ext cx="11006582" cy="2911094"/>
            </a:xfrm>
            <a:custGeom>
              <a:avLst/>
              <a:gdLst/>
              <a:ahLst/>
              <a:cxnLst/>
              <a:rect l="l" t="t" r="r" b="b"/>
              <a:pathLst>
                <a:path w="11006582" h="2911094">
                  <a:moveTo>
                    <a:pt x="16891" y="0"/>
                  </a:moveTo>
                  <a:lnTo>
                    <a:pt x="10989691" y="0"/>
                  </a:lnTo>
                  <a:cubicBezTo>
                    <a:pt x="10999089" y="0"/>
                    <a:pt x="11006582" y="7620"/>
                    <a:pt x="11006582" y="16891"/>
                  </a:cubicBezTo>
                  <a:lnTo>
                    <a:pt x="11006582" y="2894203"/>
                  </a:lnTo>
                  <a:cubicBezTo>
                    <a:pt x="11006582" y="2903601"/>
                    <a:pt x="10998962" y="2911094"/>
                    <a:pt x="10989691" y="2911094"/>
                  </a:cubicBezTo>
                  <a:lnTo>
                    <a:pt x="16891" y="2911094"/>
                  </a:lnTo>
                  <a:cubicBezTo>
                    <a:pt x="7493" y="2911094"/>
                    <a:pt x="0" y="2903474"/>
                    <a:pt x="0" y="2894203"/>
                  </a:cubicBezTo>
                  <a:lnTo>
                    <a:pt x="0" y="16891"/>
                  </a:lnTo>
                  <a:cubicBezTo>
                    <a:pt x="0" y="7620"/>
                    <a:pt x="7620" y="0"/>
                    <a:pt x="16891" y="0"/>
                  </a:cubicBezTo>
                  <a:moveTo>
                    <a:pt x="16891" y="33909"/>
                  </a:moveTo>
                  <a:lnTo>
                    <a:pt x="16891" y="16891"/>
                  </a:lnTo>
                  <a:lnTo>
                    <a:pt x="33909" y="16891"/>
                  </a:lnTo>
                  <a:lnTo>
                    <a:pt x="33909" y="2894203"/>
                  </a:lnTo>
                  <a:lnTo>
                    <a:pt x="16891" y="2894203"/>
                  </a:lnTo>
                  <a:lnTo>
                    <a:pt x="16891" y="2877312"/>
                  </a:lnTo>
                  <a:lnTo>
                    <a:pt x="10989691" y="2877312"/>
                  </a:lnTo>
                  <a:lnTo>
                    <a:pt x="10989691" y="2894203"/>
                  </a:lnTo>
                  <a:lnTo>
                    <a:pt x="10972800" y="2894203"/>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grpSp>
        <p:nvGrpSpPr>
          <p:cNvPr id="63" name="Group 63"/>
          <p:cNvGrpSpPr/>
          <p:nvPr/>
        </p:nvGrpSpPr>
        <p:grpSpPr>
          <a:xfrm>
            <a:off x="718823" y="7448807"/>
            <a:ext cx="171707" cy="2183387"/>
            <a:chOff x="0" y="0"/>
            <a:chExt cx="228943" cy="2911183"/>
          </a:xfrm>
        </p:grpSpPr>
        <p:sp>
          <p:nvSpPr>
            <p:cNvPr id="64" name="Freeform 64"/>
            <p:cNvSpPr/>
            <p:nvPr/>
          </p:nvSpPr>
          <p:spPr>
            <a:xfrm>
              <a:off x="16891" y="16891"/>
              <a:ext cx="195072" cy="2877312"/>
            </a:xfrm>
            <a:custGeom>
              <a:avLst/>
              <a:gdLst/>
              <a:ahLst/>
              <a:cxnLst/>
              <a:rect l="l" t="t" r="r" b="b"/>
              <a:pathLst>
                <a:path w="195072" h="2877312">
                  <a:moveTo>
                    <a:pt x="0" y="0"/>
                  </a:moveTo>
                  <a:lnTo>
                    <a:pt x="195072" y="0"/>
                  </a:lnTo>
                  <a:lnTo>
                    <a:pt x="195072" y="2877312"/>
                  </a:lnTo>
                  <a:lnTo>
                    <a:pt x="0" y="2877312"/>
                  </a:lnTo>
                  <a:close/>
                </a:path>
              </a:pathLst>
            </a:custGeom>
            <a:solidFill>
              <a:srgbClr val="5EC6E8"/>
            </a:solidFill>
          </p:spPr>
          <p:txBody>
            <a:bodyPr/>
            <a:lstStyle/>
            <a:p>
              <a:endParaRPr lang="es-GT"/>
            </a:p>
          </p:txBody>
        </p:sp>
        <p:sp>
          <p:nvSpPr>
            <p:cNvPr id="65" name="Freeform 65"/>
            <p:cNvSpPr/>
            <p:nvPr/>
          </p:nvSpPr>
          <p:spPr>
            <a:xfrm>
              <a:off x="0" y="0"/>
              <a:ext cx="228854" cy="2911094"/>
            </a:xfrm>
            <a:custGeom>
              <a:avLst/>
              <a:gdLst/>
              <a:ahLst/>
              <a:cxnLst/>
              <a:rect l="l" t="t" r="r" b="b"/>
              <a:pathLst>
                <a:path w="228854" h="2911094">
                  <a:moveTo>
                    <a:pt x="16891" y="0"/>
                  </a:moveTo>
                  <a:lnTo>
                    <a:pt x="211963" y="0"/>
                  </a:lnTo>
                  <a:cubicBezTo>
                    <a:pt x="221361" y="0"/>
                    <a:pt x="228854" y="7620"/>
                    <a:pt x="228854" y="16891"/>
                  </a:cubicBezTo>
                  <a:lnTo>
                    <a:pt x="228854" y="2894203"/>
                  </a:lnTo>
                  <a:cubicBezTo>
                    <a:pt x="228854" y="2903601"/>
                    <a:pt x="221234" y="2911094"/>
                    <a:pt x="211963" y="2911094"/>
                  </a:cubicBezTo>
                  <a:lnTo>
                    <a:pt x="16891" y="2911094"/>
                  </a:lnTo>
                  <a:cubicBezTo>
                    <a:pt x="7493" y="2911094"/>
                    <a:pt x="0" y="2903474"/>
                    <a:pt x="0" y="2894203"/>
                  </a:cubicBezTo>
                  <a:lnTo>
                    <a:pt x="0" y="16891"/>
                  </a:lnTo>
                  <a:cubicBezTo>
                    <a:pt x="0" y="7620"/>
                    <a:pt x="7620" y="0"/>
                    <a:pt x="16891" y="0"/>
                  </a:cubicBezTo>
                  <a:moveTo>
                    <a:pt x="16891" y="33909"/>
                  </a:moveTo>
                  <a:lnTo>
                    <a:pt x="16891" y="16891"/>
                  </a:lnTo>
                  <a:lnTo>
                    <a:pt x="33909" y="16891"/>
                  </a:lnTo>
                  <a:lnTo>
                    <a:pt x="33909" y="2894203"/>
                  </a:lnTo>
                  <a:lnTo>
                    <a:pt x="16891" y="2894203"/>
                  </a:lnTo>
                  <a:lnTo>
                    <a:pt x="16891" y="2877312"/>
                  </a:lnTo>
                  <a:lnTo>
                    <a:pt x="211963" y="2877312"/>
                  </a:lnTo>
                  <a:lnTo>
                    <a:pt x="211963" y="2894203"/>
                  </a:lnTo>
                  <a:lnTo>
                    <a:pt x="195072" y="2894203"/>
                  </a:lnTo>
                  <a:lnTo>
                    <a:pt x="195072" y="16891"/>
                  </a:lnTo>
                  <a:lnTo>
                    <a:pt x="211963" y="16891"/>
                  </a:lnTo>
                  <a:lnTo>
                    <a:pt x="211963" y="33909"/>
                  </a:lnTo>
                  <a:lnTo>
                    <a:pt x="16891" y="33909"/>
                  </a:lnTo>
                  <a:close/>
                </a:path>
              </a:pathLst>
            </a:custGeom>
            <a:solidFill>
              <a:srgbClr val="5EC6E8"/>
            </a:solidFill>
          </p:spPr>
          <p:txBody>
            <a:bodyPr/>
            <a:lstStyle/>
            <a:p>
              <a:endParaRPr lang="es-GT"/>
            </a:p>
          </p:txBody>
        </p:sp>
      </p:grpSp>
      <p:grpSp>
        <p:nvGrpSpPr>
          <p:cNvPr id="66" name="Group 66"/>
          <p:cNvGrpSpPr/>
          <p:nvPr/>
        </p:nvGrpSpPr>
        <p:grpSpPr>
          <a:xfrm>
            <a:off x="1133856" y="7644384"/>
            <a:ext cx="7498080" cy="548640"/>
            <a:chOff x="0" y="0"/>
            <a:chExt cx="9997440" cy="731520"/>
          </a:xfrm>
        </p:grpSpPr>
        <p:sp>
          <p:nvSpPr>
            <p:cNvPr id="67" name="Freeform 67"/>
            <p:cNvSpPr/>
            <p:nvPr/>
          </p:nvSpPr>
          <p:spPr>
            <a:xfrm>
              <a:off x="0" y="0"/>
              <a:ext cx="9997440" cy="731520"/>
            </a:xfrm>
            <a:custGeom>
              <a:avLst/>
              <a:gdLst/>
              <a:ahLst/>
              <a:cxnLst/>
              <a:rect l="l" t="t" r="r" b="b"/>
              <a:pathLst>
                <a:path w="9997440" h="731520">
                  <a:moveTo>
                    <a:pt x="0" y="0"/>
                  </a:moveTo>
                  <a:lnTo>
                    <a:pt x="9997440" y="0"/>
                  </a:lnTo>
                  <a:lnTo>
                    <a:pt x="9997440" y="731520"/>
                  </a:lnTo>
                  <a:lnTo>
                    <a:pt x="0" y="731520"/>
                  </a:lnTo>
                  <a:close/>
                </a:path>
              </a:pathLst>
            </a:custGeom>
            <a:blipFill>
              <a:blip r:embed="rId3">
                <a:alphaModFix amt="0"/>
              </a:blip>
              <a:stretch>
                <a:fillRect t="-216295" b="-216295"/>
              </a:stretch>
            </a:blipFill>
          </p:spPr>
          <p:txBody>
            <a:bodyPr/>
            <a:lstStyle/>
            <a:p>
              <a:endParaRPr lang="es-GT"/>
            </a:p>
          </p:txBody>
        </p:sp>
        <p:sp>
          <p:nvSpPr>
            <p:cNvPr id="68" name="TextBox 68"/>
            <p:cNvSpPr txBox="1"/>
            <p:nvPr/>
          </p:nvSpPr>
          <p:spPr>
            <a:xfrm>
              <a:off x="0" y="-38100"/>
              <a:ext cx="9997440" cy="769620"/>
            </a:xfrm>
            <a:prstGeom prst="rect">
              <a:avLst/>
            </a:prstGeom>
          </p:spPr>
          <p:txBody>
            <a:bodyPr lIns="0" tIns="0" rIns="0" bIns="0" rtlCol="0" anchor="ctr"/>
            <a:lstStyle/>
            <a:p>
              <a:pPr algn="l">
                <a:lnSpc>
                  <a:spcPts val="2400"/>
                </a:lnSpc>
              </a:pPr>
              <a:r>
                <a:rPr lang="en-US" sz="2000" b="1">
                  <a:solidFill>
                    <a:srgbClr val="5EC6E8"/>
                  </a:solidFill>
                  <a:latin typeface="Calibri (MS) Bold"/>
                  <a:ea typeface="Calibri (MS) Bold"/>
                  <a:cs typeface="Calibri (MS) Bold"/>
                  <a:sym typeface="Calibri (MS) Bold"/>
                </a:rPr>
                <a:t>FLECHA (CONECTOR)</a:t>
              </a:r>
            </a:p>
          </p:txBody>
        </p:sp>
      </p:grpSp>
      <p:sp>
        <p:nvSpPr>
          <p:cNvPr id="69" name="TextBox 69"/>
          <p:cNvSpPr txBox="1"/>
          <p:nvPr/>
        </p:nvSpPr>
        <p:spPr>
          <a:xfrm>
            <a:off x="1225296" y="8273034"/>
            <a:ext cx="7315200" cy="419100"/>
          </a:xfrm>
          <a:prstGeom prst="rect">
            <a:avLst/>
          </a:prstGeom>
        </p:spPr>
        <p:txBody>
          <a:bodyPr lIns="0" tIns="0" rIns="0" bIns="0" rtlCol="0" anchor="t">
            <a:spAutoFit/>
          </a:bodyPr>
          <a:lstStyle/>
          <a:p>
            <a:pPr algn="l">
              <a:lnSpc>
                <a:spcPts val="2879"/>
              </a:lnSpc>
            </a:pPr>
            <a:r>
              <a:rPr lang="en-US" sz="2399">
                <a:solidFill>
                  <a:srgbClr val="FFFFFF"/>
                </a:solidFill>
                <a:latin typeface="Calibri (MS)"/>
                <a:ea typeface="Calibri (MS)"/>
                <a:cs typeface="Calibri (MS)"/>
                <a:sym typeface="Calibri (MS)"/>
              </a:rPr>
              <a:t>Indica la dirección del flujo de control entre los símbolos.</a:t>
            </a:r>
          </a:p>
        </p:txBody>
      </p:sp>
      <p:grpSp>
        <p:nvGrpSpPr>
          <p:cNvPr id="70" name="Group 70"/>
          <p:cNvGrpSpPr/>
          <p:nvPr/>
        </p:nvGrpSpPr>
        <p:grpSpPr>
          <a:xfrm>
            <a:off x="9497063" y="7448807"/>
            <a:ext cx="8255003" cy="2183387"/>
            <a:chOff x="0" y="0"/>
            <a:chExt cx="11006671" cy="2911183"/>
          </a:xfrm>
        </p:grpSpPr>
        <p:sp>
          <p:nvSpPr>
            <p:cNvPr id="71" name="Freeform 71"/>
            <p:cNvSpPr/>
            <p:nvPr/>
          </p:nvSpPr>
          <p:spPr>
            <a:xfrm>
              <a:off x="16891" y="16891"/>
              <a:ext cx="10972800" cy="2877312"/>
            </a:xfrm>
            <a:custGeom>
              <a:avLst/>
              <a:gdLst/>
              <a:ahLst/>
              <a:cxnLst/>
              <a:rect l="l" t="t" r="r" b="b"/>
              <a:pathLst>
                <a:path w="10972800" h="2877312">
                  <a:moveTo>
                    <a:pt x="0" y="0"/>
                  </a:moveTo>
                  <a:lnTo>
                    <a:pt x="10972800" y="0"/>
                  </a:lnTo>
                  <a:lnTo>
                    <a:pt x="10972800" y="2877312"/>
                  </a:lnTo>
                  <a:lnTo>
                    <a:pt x="0" y="2877312"/>
                  </a:lnTo>
                  <a:close/>
                </a:path>
              </a:pathLst>
            </a:custGeom>
            <a:solidFill>
              <a:srgbClr val="252B42"/>
            </a:solidFill>
          </p:spPr>
          <p:txBody>
            <a:bodyPr/>
            <a:lstStyle/>
            <a:p>
              <a:endParaRPr lang="es-GT"/>
            </a:p>
          </p:txBody>
        </p:sp>
        <p:sp>
          <p:nvSpPr>
            <p:cNvPr id="72" name="Freeform 72"/>
            <p:cNvSpPr/>
            <p:nvPr/>
          </p:nvSpPr>
          <p:spPr>
            <a:xfrm>
              <a:off x="0" y="0"/>
              <a:ext cx="11006582" cy="2911094"/>
            </a:xfrm>
            <a:custGeom>
              <a:avLst/>
              <a:gdLst/>
              <a:ahLst/>
              <a:cxnLst/>
              <a:rect l="l" t="t" r="r" b="b"/>
              <a:pathLst>
                <a:path w="11006582" h="2911094">
                  <a:moveTo>
                    <a:pt x="16891" y="0"/>
                  </a:moveTo>
                  <a:lnTo>
                    <a:pt x="10989691" y="0"/>
                  </a:lnTo>
                  <a:cubicBezTo>
                    <a:pt x="10999089" y="0"/>
                    <a:pt x="11006582" y="7620"/>
                    <a:pt x="11006582" y="16891"/>
                  </a:cubicBezTo>
                  <a:lnTo>
                    <a:pt x="11006582" y="2894203"/>
                  </a:lnTo>
                  <a:cubicBezTo>
                    <a:pt x="11006582" y="2903601"/>
                    <a:pt x="10998962" y="2911094"/>
                    <a:pt x="10989691" y="2911094"/>
                  </a:cubicBezTo>
                  <a:lnTo>
                    <a:pt x="16891" y="2911094"/>
                  </a:lnTo>
                  <a:cubicBezTo>
                    <a:pt x="7493" y="2911094"/>
                    <a:pt x="0" y="2903474"/>
                    <a:pt x="0" y="2894203"/>
                  </a:cubicBezTo>
                  <a:lnTo>
                    <a:pt x="0" y="16891"/>
                  </a:lnTo>
                  <a:cubicBezTo>
                    <a:pt x="0" y="7620"/>
                    <a:pt x="7620" y="0"/>
                    <a:pt x="16891" y="0"/>
                  </a:cubicBezTo>
                  <a:moveTo>
                    <a:pt x="16891" y="33909"/>
                  </a:moveTo>
                  <a:lnTo>
                    <a:pt x="16891" y="16891"/>
                  </a:lnTo>
                  <a:lnTo>
                    <a:pt x="33909" y="16891"/>
                  </a:lnTo>
                  <a:lnTo>
                    <a:pt x="33909" y="2894203"/>
                  </a:lnTo>
                  <a:lnTo>
                    <a:pt x="16891" y="2894203"/>
                  </a:lnTo>
                  <a:lnTo>
                    <a:pt x="16891" y="2877312"/>
                  </a:lnTo>
                  <a:lnTo>
                    <a:pt x="10989691" y="2877312"/>
                  </a:lnTo>
                  <a:lnTo>
                    <a:pt x="10989691" y="2894203"/>
                  </a:lnTo>
                  <a:lnTo>
                    <a:pt x="10972800" y="2894203"/>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grpSp>
        <p:nvGrpSpPr>
          <p:cNvPr id="73" name="Group 73"/>
          <p:cNvGrpSpPr/>
          <p:nvPr/>
        </p:nvGrpSpPr>
        <p:grpSpPr>
          <a:xfrm>
            <a:off x="9497063" y="7448807"/>
            <a:ext cx="171707" cy="2183387"/>
            <a:chOff x="0" y="0"/>
            <a:chExt cx="228943" cy="2911183"/>
          </a:xfrm>
        </p:grpSpPr>
        <p:sp>
          <p:nvSpPr>
            <p:cNvPr id="74" name="Freeform 74"/>
            <p:cNvSpPr/>
            <p:nvPr/>
          </p:nvSpPr>
          <p:spPr>
            <a:xfrm>
              <a:off x="16891" y="16891"/>
              <a:ext cx="195072" cy="2877312"/>
            </a:xfrm>
            <a:custGeom>
              <a:avLst/>
              <a:gdLst/>
              <a:ahLst/>
              <a:cxnLst/>
              <a:rect l="l" t="t" r="r" b="b"/>
              <a:pathLst>
                <a:path w="195072" h="2877312">
                  <a:moveTo>
                    <a:pt x="0" y="0"/>
                  </a:moveTo>
                  <a:lnTo>
                    <a:pt x="195072" y="0"/>
                  </a:lnTo>
                  <a:lnTo>
                    <a:pt x="195072" y="2877312"/>
                  </a:lnTo>
                  <a:lnTo>
                    <a:pt x="0" y="2877312"/>
                  </a:lnTo>
                  <a:close/>
                </a:path>
              </a:pathLst>
            </a:custGeom>
            <a:solidFill>
              <a:srgbClr val="F0877A"/>
            </a:solidFill>
          </p:spPr>
          <p:txBody>
            <a:bodyPr/>
            <a:lstStyle/>
            <a:p>
              <a:endParaRPr lang="es-GT"/>
            </a:p>
          </p:txBody>
        </p:sp>
        <p:sp>
          <p:nvSpPr>
            <p:cNvPr id="75" name="Freeform 75"/>
            <p:cNvSpPr/>
            <p:nvPr/>
          </p:nvSpPr>
          <p:spPr>
            <a:xfrm>
              <a:off x="0" y="0"/>
              <a:ext cx="228854" cy="2911094"/>
            </a:xfrm>
            <a:custGeom>
              <a:avLst/>
              <a:gdLst/>
              <a:ahLst/>
              <a:cxnLst/>
              <a:rect l="l" t="t" r="r" b="b"/>
              <a:pathLst>
                <a:path w="228854" h="2911094">
                  <a:moveTo>
                    <a:pt x="16891" y="0"/>
                  </a:moveTo>
                  <a:lnTo>
                    <a:pt x="211963" y="0"/>
                  </a:lnTo>
                  <a:cubicBezTo>
                    <a:pt x="221361" y="0"/>
                    <a:pt x="228854" y="7620"/>
                    <a:pt x="228854" y="16891"/>
                  </a:cubicBezTo>
                  <a:lnTo>
                    <a:pt x="228854" y="2894203"/>
                  </a:lnTo>
                  <a:cubicBezTo>
                    <a:pt x="228854" y="2903601"/>
                    <a:pt x="221234" y="2911094"/>
                    <a:pt x="211963" y="2911094"/>
                  </a:cubicBezTo>
                  <a:lnTo>
                    <a:pt x="16891" y="2911094"/>
                  </a:lnTo>
                  <a:cubicBezTo>
                    <a:pt x="7493" y="2911094"/>
                    <a:pt x="0" y="2903474"/>
                    <a:pt x="0" y="2894203"/>
                  </a:cubicBezTo>
                  <a:lnTo>
                    <a:pt x="0" y="16891"/>
                  </a:lnTo>
                  <a:cubicBezTo>
                    <a:pt x="0" y="7620"/>
                    <a:pt x="7620" y="0"/>
                    <a:pt x="16891" y="0"/>
                  </a:cubicBezTo>
                  <a:moveTo>
                    <a:pt x="16891" y="33909"/>
                  </a:moveTo>
                  <a:lnTo>
                    <a:pt x="16891" y="16891"/>
                  </a:lnTo>
                  <a:lnTo>
                    <a:pt x="33909" y="16891"/>
                  </a:lnTo>
                  <a:lnTo>
                    <a:pt x="33909" y="2894203"/>
                  </a:lnTo>
                  <a:lnTo>
                    <a:pt x="16891" y="2894203"/>
                  </a:lnTo>
                  <a:lnTo>
                    <a:pt x="16891" y="2877312"/>
                  </a:lnTo>
                  <a:lnTo>
                    <a:pt x="211963" y="2877312"/>
                  </a:lnTo>
                  <a:lnTo>
                    <a:pt x="211963" y="2894203"/>
                  </a:lnTo>
                  <a:lnTo>
                    <a:pt x="195072" y="2894203"/>
                  </a:lnTo>
                  <a:lnTo>
                    <a:pt x="195072" y="16891"/>
                  </a:lnTo>
                  <a:lnTo>
                    <a:pt x="211963" y="16891"/>
                  </a:lnTo>
                  <a:lnTo>
                    <a:pt x="211963" y="33909"/>
                  </a:lnTo>
                  <a:lnTo>
                    <a:pt x="16891" y="33909"/>
                  </a:lnTo>
                  <a:close/>
                </a:path>
              </a:pathLst>
            </a:custGeom>
            <a:solidFill>
              <a:srgbClr val="F0877A"/>
            </a:solidFill>
          </p:spPr>
          <p:txBody>
            <a:bodyPr/>
            <a:lstStyle/>
            <a:p>
              <a:endParaRPr lang="es-GT"/>
            </a:p>
          </p:txBody>
        </p:sp>
      </p:grpSp>
      <p:grpSp>
        <p:nvGrpSpPr>
          <p:cNvPr id="76" name="Group 76"/>
          <p:cNvGrpSpPr/>
          <p:nvPr/>
        </p:nvGrpSpPr>
        <p:grpSpPr>
          <a:xfrm>
            <a:off x="9912096" y="7644384"/>
            <a:ext cx="7498080" cy="548640"/>
            <a:chOff x="0" y="0"/>
            <a:chExt cx="9997440" cy="731520"/>
          </a:xfrm>
        </p:grpSpPr>
        <p:sp>
          <p:nvSpPr>
            <p:cNvPr id="77" name="Freeform 77"/>
            <p:cNvSpPr/>
            <p:nvPr/>
          </p:nvSpPr>
          <p:spPr>
            <a:xfrm>
              <a:off x="0" y="0"/>
              <a:ext cx="9997440" cy="731520"/>
            </a:xfrm>
            <a:custGeom>
              <a:avLst/>
              <a:gdLst/>
              <a:ahLst/>
              <a:cxnLst/>
              <a:rect l="l" t="t" r="r" b="b"/>
              <a:pathLst>
                <a:path w="9997440" h="731520">
                  <a:moveTo>
                    <a:pt x="0" y="0"/>
                  </a:moveTo>
                  <a:lnTo>
                    <a:pt x="9997440" y="0"/>
                  </a:lnTo>
                  <a:lnTo>
                    <a:pt x="9997440" y="731520"/>
                  </a:lnTo>
                  <a:lnTo>
                    <a:pt x="0" y="731520"/>
                  </a:lnTo>
                  <a:close/>
                </a:path>
              </a:pathLst>
            </a:custGeom>
            <a:blipFill>
              <a:blip r:embed="rId3">
                <a:alphaModFix amt="0"/>
              </a:blip>
              <a:stretch>
                <a:fillRect t="-216295" b="-216295"/>
              </a:stretch>
            </a:blipFill>
          </p:spPr>
          <p:txBody>
            <a:bodyPr/>
            <a:lstStyle/>
            <a:p>
              <a:endParaRPr lang="es-GT"/>
            </a:p>
          </p:txBody>
        </p:sp>
        <p:sp>
          <p:nvSpPr>
            <p:cNvPr id="78" name="TextBox 78"/>
            <p:cNvSpPr txBox="1"/>
            <p:nvPr/>
          </p:nvSpPr>
          <p:spPr>
            <a:xfrm>
              <a:off x="0" y="-38100"/>
              <a:ext cx="9997440" cy="769620"/>
            </a:xfrm>
            <a:prstGeom prst="rect">
              <a:avLst/>
            </a:prstGeom>
          </p:spPr>
          <p:txBody>
            <a:bodyPr lIns="0" tIns="0" rIns="0" bIns="0" rtlCol="0" anchor="ctr"/>
            <a:lstStyle/>
            <a:p>
              <a:pPr algn="l">
                <a:lnSpc>
                  <a:spcPts val="2400"/>
                </a:lnSpc>
              </a:pPr>
              <a:r>
                <a:rPr lang="en-US" sz="2000" b="1">
                  <a:solidFill>
                    <a:srgbClr val="F0877A"/>
                  </a:solidFill>
                  <a:latin typeface="Calibri (MS) Bold"/>
                  <a:ea typeface="Calibri (MS) Bold"/>
                  <a:cs typeface="Calibri (MS) Bold"/>
                  <a:sym typeface="Calibri (MS) Bold"/>
                </a:rPr>
                <a:t>CÍRCULO PEQUEÑO</a:t>
              </a:r>
            </a:p>
          </p:txBody>
        </p:sp>
      </p:grpSp>
      <p:sp>
        <p:nvSpPr>
          <p:cNvPr id="79" name="TextBox 79"/>
          <p:cNvSpPr txBox="1"/>
          <p:nvPr/>
        </p:nvSpPr>
        <p:spPr>
          <a:xfrm>
            <a:off x="10003536" y="8273034"/>
            <a:ext cx="7315200" cy="781050"/>
          </a:xfrm>
          <a:prstGeom prst="rect">
            <a:avLst/>
          </a:prstGeom>
        </p:spPr>
        <p:txBody>
          <a:bodyPr lIns="0" tIns="0" rIns="0" bIns="0" rtlCol="0" anchor="t">
            <a:spAutoFit/>
          </a:bodyPr>
          <a:lstStyle/>
          <a:p>
            <a:pPr algn="l">
              <a:lnSpc>
                <a:spcPts val="2879"/>
              </a:lnSpc>
            </a:pPr>
            <a:r>
              <a:rPr lang="en-US" sz="2399">
                <a:solidFill>
                  <a:srgbClr val="FFFFFF"/>
                </a:solidFill>
                <a:latin typeface="Calibri (MS)"/>
                <a:ea typeface="Calibri (MS)"/>
                <a:cs typeface="Calibri (MS)"/>
                <a:sym typeface="Calibri (MS)"/>
              </a:rPr>
              <a:t>Conector de página: enlaza partes del diagrama en páginas distintas.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2235"/>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16891" y="16891"/>
              <a:ext cx="24383999" cy="1755648"/>
            </a:xfrm>
            <a:custGeom>
              <a:avLst/>
              <a:gdLst/>
              <a:ahLst/>
              <a:cxnLst/>
              <a:rect l="l" t="t" r="r" b="b"/>
              <a:pathLst>
                <a:path w="24383999" h="1755648">
                  <a:moveTo>
                    <a:pt x="0" y="0"/>
                  </a:moveTo>
                  <a:lnTo>
                    <a:pt x="24383999" y="0"/>
                  </a:lnTo>
                  <a:lnTo>
                    <a:pt x="24383999" y="1755648"/>
                  </a:lnTo>
                  <a:lnTo>
                    <a:pt x="0" y="1755648"/>
                  </a:lnTo>
                  <a:close/>
                </a:path>
              </a:pathLst>
            </a:custGeom>
            <a:solidFill>
              <a:srgbClr val="161929"/>
            </a:solidFill>
          </p:spPr>
          <p:txBody>
            <a:bodyPr/>
            <a:lstStyle/>
            <a:p>
              <a:endParaRPr lang="es-GT"/>
            </a:p>
          </p:txBody>
        </p:sp>
        <p:sp>
          <p:nvSpPr>
            <p:cNvPr id="4" name="Freeform 4"/>
            <p:cNvSpPr/>
            <p:nvPr/>
          </p:nvSpPr>
          <p:spPr>
            <a:xfrm>
              <a:off x="0" y="0"/>
              <a:ext cx="24417782" cy="1789430"/>
            </a:xfrm>
            <a:custGeom>
              <a:avLst/>
              <a:gdLst/>
              <a:ahLst/>
              <a:cxnLst/>
              <a:rect l="l" t="t" r="r" b="b"/>
              <a:pathLst>
                <a:path w="24417782" h="1789430">
                  <a:moveTo>
                    <a:pt x="16891" y="0"/>
                  </a:moveTo>
                  <a:lnTo>
                    <a:pt x="24400890" y="0"/>
                  </a:lnTo>
                  <a:cubicBezTo>
                    <a:pt x="24410290" y="0"/>
                    <a:pt x="24417782" y="7620"/>
                    <a:pt x="24417782" y="16891"/>
                  </a:cubicBezTo>
                  <a:lnTo>
                    <a:pt x="24417782" y="1772539"/>
                  </a:lnTo>
                  <a:cubicBezTo>
                    <a:pt x="24417782" y="1781937"/>
                    <a:pt x="24410163" y="1789430"/>
                    <a:pt x="24400890"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24400890" y="1755648"/>
                  </a:lnTo>
                  <a:lnTo>
                    <a:pt x="24400890" y="1772539"/>
                  </a:lnTo>
                  <a:lnTo>
                    <a:pt x="24384000" y="1772539"/>
                  </a:lnTo>
                  <a:lnTo>
                    <a:pt x="24384000" y="16891"/>
                  </a:lnTo>
                  <a:lnTo>
                    <a:pt x="24400890" y="16891"/>
                  </a:lnTo>
                  <a:lnTo>
                    <a:pt x="24400890" y="33909"/>
                  </a:lnTo>
                  <a:lnTo>
                    <a:pt x="16891" y="33909"/>
                  </a:lnTo>
                  <a:close/>
                </a:path>
              </a:pathLst>
            </a:custGeom>
            <a:solidFill>
              <a:srgbClr val="161929"/>
            </a:solidFill>
          </p:spPr>
          <p:txBody>
            <a:bodyPr/>
            <a:lstStyle/>
            <a:p>
              <a:endParaRPr lang="es-GT"/>
            </a:p>
          </p:txBody>
        </p:sp>
      </p:grpSp>
      <p:grpSp>
        <p:nvGrpSpPr>
          <p:cNvPr id="5" name="Group 5"/>
          <p:cNvGrpSpPr/>
          <p:nvPr/>
        </p:nvGrpSpPr>
        <p:grpSpPr>
          <a:xfrm>
            <a:off x="-12697" y="1304039"/>
            <a:ext cx="18313403" cy="98555"/>
            <a:chOff x="0" y="0"/>
            <a:chExt cx="24417871" cy="131407"/>
          </a:xfrm>
        </p:grpSpPr>
        <p:sp>
          <p:nvSpPr>
            <p:cNvPr id="6" name="Freeform 6"/>
            <p:cNvSpPr/>
            <p:nvPr/>
          </p:nvSpPr>
          <p:spPr>
            <a:xfrm>
              <a:off x="16891" y="16891"/>
              <a:ext cx="24383999" cy="97536"/>
            </a:xfrm>
            <a:custGeom>
              <a:avLst/>
              <a:gdLst/>
              <a:ahLst/>
              <a:cxnLst/>
              <a:rect l="l" t="t" r="r" b="b"/>
              <a:pathLst>
                <a:path w="24383999" h="97536">
                  <a:moveTo>
                    <a:pt x="0" y="0"/>
                  </a:moveTo>
                  <a:lnTo>
                    <a:pt x="24383999" y="0"/>
                  </a:lnTo>
                  <a:lnTo>
                    <a:pt x="24383999" y="97536"/>
                  </a:lnTo>
                  <a:lnTo>
                    <a:pt x="0" y="97536"/>
                  </a:lnTo>
                  <a:close/>
                </a:path>
              </a:pathLst>
            </a:custGeom>
            <a:solidFill>
              <a:srgbClr val="5B8CFF"/>
            </a:solidFill>
          </p:spPr>
          <p:txBody>
            <a:bodyPr/>
            <a:lstStyle/>
            <a:p>
              <a:endParaRPr lang="es-GT"/>
            </a:p>
          </p:txBody>
        </p:sp>
        <p:sp>
          <p:nvSpPr>
            <p:cNvPr id="7" name="Freeform 7"/>
            <p:cNvSpPr/>
            <p:nvPr/>
          </p:nvSpPr>
          <p:spPr>
            <a:xfrm>
              <a:off x="0" y="0"/>
              <a:ext cx="24417782" cy="131320"/>
            </a:xfrm>
            <a:custGeom>
              <a:avLst/>
              <a:gdLst/>
              <a:ahLst/>
              <a:cxnLst/>
              <a:rect l="l" t="t" r="r" b="b"/>
              <a:pathLst>
                <a:path w="24417782" h="131320">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5B8CFF"/>
            </a:solidFill>
          </p:spPr>
          <p:txBody>
            <a:bodyPr/>
            <a:lstStyle/>
            <a:p>
              <a:endParaRPr lang="es-GT"/>
            </a:p>
          </p:txBody>
        </p:sp>
      </p:grpSp>
      <p:grpSp>
        <p:nvGrpSpPr>
          <p:cNvPr id="8" name="Group 8"/>
          <p:cNvGrpSpPr/>
          <p:nvPr/>
        </p:nvGrpSpPr>
        <p:grpSpPr>
          <a:xfrm>
            <a:off x="822960" y="0"/>
            <a:ext cx="16642080" cy="1316736"/>
            <a:chOff x="0" y="0"/>
            <a:chExt cx="22189440" cy="1755648"/>
          </a:xfrm>
        </p:grpSpPr>
        <p:sp>
          <p:nvSpPr>
            <p:cNvPr id="9" name="Freeform 9"/>
            <p:cNvSpPr/>
            <p:nvPr/>
          </p:nvSpPr>
          <p:spPr>
            <a:xfrm>
              <a:off x="0" y="0"/>
              <a:ext cx="22189439" cy="1755648"/>
            </a:xfrm>
            <a:custGeom>
              <a:avLst/>
              <a:gdLst/>
              <a:ahLst/>
              <a:cxnLst/>
              <a:rect l="l" t="t" r="r" b="b"/>
              <a:pathLst>
                <a:path w="22189439" h="1755648">
                  <a:moveTo>
                    <a:pt x="0" y="0"/>
                  </a:moveTo>
                  <a:lnTo>
                    <a:pt x="22189439" y="0"/>
                  </a:lnTo>
                  <a:lnTo>
                    <a:pt x="22189439" y="1755648"/>
                  </a:lnTo>
                  <a:lnTo>
                    <a:pt x="0" y="1755648"/>
                  </a:lnTo>
                  <a:close/>
                </a:path>
              </a:pathLst>
            </a:custGeom>
            <a:blipFill>
              <a:blip r:embed="rId3">
                <a:alphaModFix amt="0"/>
              </a:blip>
              <a:stretch>
                <a:fillRect t="-196269" b="-196269"/>
              </a:stretch>
            </a:blipFill>
          </p:spPr>
          <p:txBody>
            <a:bodyPr/>
            <a:lstStyle/>
            <a:p>
              <a:endParaRPr lang="es-GT"/>
            </a:p>
          </p:txBody>
        </p:sp>
        <p:sp>
          <p:nvSpPr>
            <p:cNvPr id="10" name="TextBox 10"/>
            <p:cNvSpPr txBox="1"/>
            <p:nvPr/>
          </p:nvSpPr>
          <p:spPr>
            <a:xfrm>
              <a:off x="0" y="-76200"/>
              <a:ext cx="22189440" cy="1831848"/>
            </a:xfrm>
            <a:prstGeom prst="rect">
              <a:avLst/>
            </a:prstGeom>
          </p:spPr>
          <p:txBody>
            <a:bodyPr lIns="0" tIns="0" rIns="0" bIns="0" rtlCol="0" anchor="ctr"/>
            <a:lstStyle/>
            <a:p>
              <a:pPr algn="l">
                <a:lnSpc>
                  <a:spcPts val="5280"/>
                </a:lnSpc>
              </a:pPr>
              <a:r>
                <a:rPr lang="en-US" sz="4400" b="1">
                  <a:solidFill>
                    <a:srgbClr val="FFFFFF"/>
                  </a:solidFill>
                  <a:latin typeface="Calibri (MS) Bold"/>
                  <a:ea typeface="Calibri (MS) Bold"/>
                  <a:cs typeface="Calibri (MS) Bold"/>
                  <a:sym typeface="Calibri (MS) Bold"/>
                </a:rPr>
                <a:t>Nivel gráfico – Ejemplo: número par o impar</a:t>
              </a:r>
            </a:p>
          </p:txBody>
        </p:sp>
      </p:grpSp>
      <p:grpSp>
        <p:nvGrpSpPr>
          <p:cNvPr id="11" name="Group 11"/>
          <p:cNvGrpSpPr/>
          <p:nvPr/>
        </p:nvGrpSpPr>
        <p:grpSpPr>
          <a:xfrm>
            <a:off x="-12697" y="9954263"/>
            <a:ext cx="18313403" cy="345443"/>
            <a:chOff x="0" y="0"/>
            <a:chExt cx="24417871" cy="460591"/>
          </a:xfrm>
        </p:grpSpPr>
        <p:sp>
          <p:nvSpPr>
            <p:cNvPr id="12" name="Freeform 12"/>
            <p:cNvSpPr/>
            <p:nvPr/>
          </p:nvSpPr>
          <p:spPr>
            <a:xfrm>
              <a:off x="16891" y="16891"/>
              <a:ext cx="24383999" cy="426720"/>
            </a:xfrm>
            <a:custGeom>
              <a:avLst/>
              <a:gdLst/>
              <a:ahLst/>
              <a:cxnLst/>
              <a:rect l="l" t="t" r="r" b="b"/>
              <a:pathLst>
                <a:path w="24383999" h="426720">
                  <a:moveTo>
                    <a:pt x="0" y="0"/>
                  </a:moveTo>
                  <a:lnTo>
                    <a:pt x="24383999" y="0"/>
                  </a:lnTo>
                  <a:lnTo>
                    <a:pt x="24383999" y="426720"/>
                  </a:lnTo>
                  <a:lnTo>
                    <a:pt x="0" y="426720"/>
                  </a:lnTo>
                  <a:close/>
                </a:path>
              </a:pathLst>
            </a:custGeom>
            <a:solidFill>
              <a:srgbClr val="12152A"/>
            </a:solidFill>
          </p:spPr>
          <p:txBody>
            <a:bodyPr/>
            <a:lstStyle/>
            <a:p>
              <a:endParaRPr lang="es-GT"/>
            </a:p>
          </p:txBody>
        </p:sp>
        <p:sp>
          <p:nvSpPr>
            <p:cNvPr id="13" name="Freeform 13"/>
            <p:cNvSpPr/>
            <p:nvPr/>
          </p:nvSpPr>
          <p:spPr>
            <a:xfrm>
              <a:off x="0" y="0"/>
              <a:ext cx="24417782" cy="460504"/>
            </a:xfrm>
            <a:custGeom>
              <a:avLst/>
              <a:gdLst/>
              <a:ahLst/>
              <a:cxnLst/>
              <a:rect l="l" t="t" r="r" b="b"/>
              <a:pathLst>
                <a:path w="24417782" h="460504">
                  <a:moveTo>
                    <a:pt x="16891" y="0"/>
                  </a:moveTo>
                  <a:lnTo>
                    <a:pt x="24400890" y="0"/>
                  </a:lnTo>
                  <a:cubicBezTo>
                    <a:pt x="24410290" y="0"/>
                    <a:pt x="24417782" y="7620"/>
                    <a:pt x="24417782" y="16891"/>
                  </a:cubicBezTo>
                  <a:lnTo>
                    <a:pt x="24417782" y="443611"/>
                  </a:lnTo>
                  <a:cubicBezTo>
                    <a:pt x="24417782" y="453009"/>
                    <a:pt x="24410163" y="460502"/>
                    <a:pt x="24400890" y="460502"/>
                  </a:cubicBezTo>
                  <a:lnTo>
                    <a:pt x="16891" y="460502"/>
                  </a:lnTo>
                  <a:cubicBezTo>
                    <a:pt x="7620" y="460629"/>
                    <a:pt x="0" y="453009"/>
                    <a:pt x="0" y="443611"/>
                  </a:cubicBezTo>
                  <a:lnTo>
                    <a:pt x="0" y="16891"/>
                  </a:lnTo>
                  <a:cubicBezTo>
                    <a:pt x="0" y="7620"/>
                    <a:pt x="7620" y="0"/>
                    <a:pt x="16891" y="0"/>
                  </a:cubicBezTo>
                  <a:moveTo>
                    <a:pt x="16891" y="33909"/>
                  </a:moveTo>
                  <a:lnTo>
                    <a:pt x="16891" y="16891"/>
                  </a:lnTo>
                  <a:lnTo>
                    <a:pt x="33909" y="16891"/>
                  </a:lnTo>
                  <a:lnTo>
                    <a:pt x="33909" y="443611"/>
                  </a:lnTo>
                  <a:lnTo>
                    <a:pt x="16891" y="443611"/>
                  </a:lnTo>
                  <a:lnTo>
                    <a:pt x="16891" y="426720"/>
                  </a:lnTo>
                  <a:lnTo>
                    <a:pt x="24400890" y="426720"/>
                  </a:lnTo>
                  <a:lnTo>
                    <a:pt x="24400890" y="443611"/>
                  </a:lnTo>
                  <a:lnTo>
                    <a:pt x="24384000" y="443611"/>
                  </a:lnTo>
                  <a:lnTo>
                    <a:pt x="24384000" y="16891"/>
                  </a:lnTo>
                  <a:lnTo>
                    <a:pt x="24400890" y="16891"/>
                  </a:lnTo>
                  <a:lnTo>
                    <a:pt x="24400890" y="33909"/>
                  </a:lnTo>
                  <a:lnTo>
                    <a:pt x="16891" y="33909"/>
                  </a:lnTo>
                  <a:close/>
                </a:path>
              </a:pathLst>
            </a:custGeom>
            <a:solidFill>
              <a:srgbClr val="12152A"/>
            </a:solidFill>
          </p:spPr>
          <p:txBody>
            <a:bodyPr/>
            <a:lstStyle/>
            <a:p>
              <a:endParaRPr lang="es-GT"/>
            </a:p>
          </p:txBody>
        </p:sp>
      </p:grpSp>
      <p:grpSp>
        <p:nvGrpSpPr>
          <p:cNvPr id="14" name="Group 14"/>
          <p:cNvGrpSpPr/>
          <p:nvPr/>
        </p:nvGrpSpPr>
        <p:grpSpPr>
          <a:xfrm>
            <a:off x="17007840" y="9966960"/>
            <a:ext cx="914400" cy="320040"/>
            <a:chOff x="0" y="0"/>
            <a:chExt cx="1219200" cy="426720"/>
          </a:xfrm>
        </p:grpSpPr>
        <p:sp>
          <p:nvSpPr>
            <p:cNvPr id="15" name="Freeform 15"/>
            <p:cNvSpPr/>
            <p:nvPr/>
          </p:nvSpPr>
          <p:spPr>
            <a:xfrm>
              <a:off x="0" y="0"/>
              <a:ext cx="1219200" cy="426720"/>
            </a:xfrm>
            <a:custGeom>
              <a:avLst/>
              <a:gdLst/>
              <a:ahLst/>
              <a:cxnLst/>
              <a:rect l="l" t="t" r="r" b="b"/>
              <a:pathLst>
                <a:path w="1219200" h="426720">
                  <a:moveTo>
                    <a:pt x="0" y="0"/>
                  </a:moveTo>
                  <a:lnTo>
                    <a:pt x="1219200" y="0"/>
                  </a:lnTo>
                  <a:lnTo>
                    <a:pt x="1219200" y="426720"/>
                  </a:lnTo>
                  <a:lnTo>
                    <a:pt x="0" y="426720"/>
                  </a:lnTo>
                  <a:close/>
                </a:path>
              </a:pathLst>
            </a:custGeom>
            <a:blipFill>
              <a:blip r:embed="rId3">
                <a:alphaModFix amt="0"/>
              </a:blip>
              <a:stretch>
                <a:fillRect t="-5671" b="-5671"/>
              </a:stretch>
            </a:blipFill>
          </p:spPr>
          <p:txBody>
            <a:bodyPr/>
            <a:lstStyle/>
            <a:p>
              <a:endParaRPr lang="es-GT"/>
            </a:p>
          </p:txBody>
        </p:sp>
        <p:sp>
          <p:nvSpPr>
            <p:cNvPr id="16" name="TextBox 16"/>
            <p:cNvSpPr txBox="1"/>
            <p:nvPr/>
          </p:nvSpPr>
          <p:spPr>
            <a:xfrm>
              <a:off x="0" y="-38100"/>
              <a:ext cx="1219200" cy="464820"/>
            </a:xfrm>
            <a:prstGeom prst="rect">
              <a:avLst/>
            </a:prstGeom>
          </p:spPr>
          <p:txBody>
            <a:bodyPr lIns="0" tIns="0" rIns="0" bIns="0" rtlCol="0" anchor="ctr"/>
            <a:lstStyle/>
            <a:p>
              <a:pPr algn="r">
                <a:lnSpc>
                  <a:spcPts val="1800"/>
                </a:lnSpc>
              </a:pPr>
              <a:r>
                <a:rPr lang="en-US" sz="1500">
                  <a:solidFill>
                    <a:srgbClr val="6E7A9F"/>
                  </a:solidFill>
                  <a:latin typeface="Calibri (MS)"/>
                  <a:ea typeface="Calibri (MS)"/>
                  <a:cs typeface="Calibri (MS)"/>
                  <a:sym typeface="Calibri (MS)"/>
                </a:rPr>
                <a:t>13</a:t>
              </a:r>
            </a:p>
          </p:txBody>
        </p:sp>
      </p:grpSp>
      <p:grpSp>
        <p:nvGrpSpPr>
          <p:cNvPr id="17" name="Group 17"/>
          <p:cNvGrpSpPr/>
          <p:nvPr/>
        </p:nvGrpSpPr>
        <p:grpSpPr>
          <a:xfrm>
            <a:off x="731520" y="1554480"/>
            <a:ext cx="16824960" cy="731520"/>
            <a:chOff x="0" y="0"/>
            <a:chExt cx="22433280" cy="975360"/>
          </a:xfrm>
        </p:grpSpPr>
        <p:sp>
          <p:nvSpPr>
            <p:cNvPr id="18" name="Freeform 18"/>
            <p:cNvSpPr/>
            <p:nvPr/>
          </p:nvSpPr>
          <p:spPr>
            <a:xfrm>
              <a:off x="0" y="0"/>
              <a:ext cx="22433280" cy="975360"/>
            </a:xfrm>
            <a:custGeom>
              <a:avLst/>
              <a:gdLst/>
              <a:ahLst/>
              <a:cxnLst/>
              <a:rect l="l" t="t" r="r" b="b"/>
              <a:pathLst>
                <a:path w="22433280" h="975360">
                  <a:moveTo>
                    <a:pt x="0" y="0"/>
                  </a:moveTo>
                  <a:lnTo>
                    <a:pt x="22433280" y="0"/>
                  </a:lnTo>
                  <a:lnTo>
                    <a:pt x="22433280" y="975360"/>
                  </a:lnTo>
                  <a:lnTo>
                    <a:pt x="0" y="975360"/>
                  </a:lnTo>
                  <a:close/>
                </a:path>
              </a:pathLst>
            </a:custGeom>
            <a:blipFill>
              <a:blip r:embed="rId3">
                <a:alphaModFix amt="0"/>
              </a:blip>
              <a:stretch>
                <a:fillRect t="-398155" b="-398155"/>
              </a:stretch>
            </a:blipFill>
          </p:spPr>
          <p:txBody>
            <a:bodyPr/>
            <a:lstStyle/>
            <a:p>
              <a:endParaRPr lang="es-GT"/>
            </a:p>
          </p:txBody>
        </p:sp>
        <p:sp>
          <p:nvSpPr>
            <p:cNvPr id="19" name="TextBox 19"/>
            <p:cNvSpPr txBox="1"/>
            <p:nvPr/>
          </p:nvSpPr>
          <p:spPr>
            <a:xfrm>
              <a:off x="0" y="-47625"/>
              <a:ext cx="22433280" cy="1022985"/>
            </a:xfrm>
            <a:prstGeom prst="rect">
              <a:avLst/>
            </a:prstGeom>
          </p:spPr>
          <p:txBody>
            <a:bodyPr lIns="0" tIns="0" rIns="0" bIns="0" rtlCol="0" anchor="ctr"/>
            <a:lstStyle/>
            <a:p>
              <a:pPr algn="l">
                <a:lnSpc>
                  <a:spcPts val="2520"/>
                </a:lnSpc>
              </a:pPr>
              <a:r>
                <a:rPr lang="en-US" sz="2100">
                  <a:solidFill>
                    <a:srgbClr val="B0B8CC"/>
                  </a:solidFill>
                  <a:latin typeface="Calibri (MS)"/>
                  <a:ea typeface="Calibri (MS)"/>
                  <a:cs typeface="Calibri (MS)"/>
                  <a:sym typeface="Calibri (MS)"/>
                </a:rPr>
                <a:t>Lectura del diagrama: el flujo inicia en el terminal superior, pasa por el bloque de entrada, continúa hacia la decisión y se bifurca según la condición evaluada.</a:t>
              </a:r>
            </a:p>
          </p:txBody>
        </p:sp>
      </p:grpSp>
      <p:grpSp>
        <p:nvGrpSpPr>
          <p:cNvPr id="20" name="Group 20"/>
          <p:cNvGrpSpPr/>
          <p:nvPr/>
        </p:nvGrpSpPr>
        <p:grpSpPr>
          <a:xfrm>
            <a:off x="4704093" y="2438400"/>
            <a:ext cx="4048763" cy="939803"/>
            <a:chOff x="0" y="0"/>
            <a:chExt cx="5398351" cy="1253071"/>
          </a:xfrm>
        </p:grpSpPr>
        <p:sp>
          <p:nvSpPr>
            <p:cNvPr id="21" name="Freeform 21"/>
            <p:cNvSpPr/>
            <p:nvPr/>
          </p:nvSpPr>
          <p:spPr>
            <a:xfrm>
              <a:off x="16891" y="16891"/>
              <a:ext cx="5364480" cy="1219200"/>
            </a:xfrm>
            <a:custGeom>
              <a:avLst/>
              <a:gdLst/>
              <a:ahLst/>
              <a:cxnLst/>
              <a:rect l="l" t="t" r="r" b="b"/>
              <a:pathLst>
                <a:path w="5364480" h="1219200">
                  <a:moveTo>
                    <a:pt x="0" y="609600"/>
                  </a:moveTo>
                  <a:cubicBezTo>
                    <a:pt x="0" y="272923"/>
                    <a:pt x="1200912" y="0"/>
                    <a:pt x="2682240" y="0"/>
                  </a:cubicBezTo>
                  <a:cubicBezTo>
                    <a:pt x="4163568" y="0"/>
                    <a:pt x="5364480" y="272923"/>
                    <a:pt x="5364480" y="609600"/>
                  </a:cubicBezTo>
                  <a:cubicBezTo>
                    <a:pt x="5364480" y="946277"/>
                    <a:pt x="4163568" y="1219200"/>
                    <a:pt x="2682240" y="1219200"/>
                  </a:cubicBezTo>
                  <a:cubicBezTo>
                    <a:pt x="1200912" y="1219200"/>
                    <a:pt x="0" y="946277"/>
                    <a:pt x="0" y="609600"/>
                  </a:cubicBezTo>
                  <a:close/>
                </a:path>
              </a:pathLst>
            </a:custGeom>
            <a:solidFill>
              <a:srgbClr val="253870"/>
            </a:solidFill>
          </p:spPr>
          <p:txBody>
            <a:bodyPr/>
            <a:lstStyle/>
            <a:p>
              <a:endParaRPr lang="es-GT"/>
            </a:p>
          </p:txBody>
        </p:sp>
        <p:sp>
          <p:nvSpPr>
            <p:cNvPr id="22" name="Freeform 22"/>
            <p:cNvSpPr/>
            <p:nvPr/>
          </p:nvSpPr>
          <p:spPr>
            <a:xfrm>
              <a:off x="0" y="0"/>
              <a:ext cx="5398389" cy="1252982"/>
            </a:xfrm>
            <a:custGeom>
              <a:avLst/>
              <a:gdLst/>
              <a:ahLst/>
              <a:cxnLst/>
              <a:rect l="l" t="t" r="r" b="b"/>
              <a:pathLst>
                <a:path w="5398389" h="1252982">
                  <a:moveTo>
                    <a:pt x="0" y="626491"/>
                  </a:moveTo>
                  <a:lnTo>
                    <a:pt x="16891" y="626491"/>
                  </a:lnTo>
                  <a:lnTo>
                    <a:pt x="0" y="626491"/>
                  </a:lnTo>
                  <a:cubicBezTo>
                    <a:pt x="0" y="268351"/>
                    <a:pt x="1230376" y="0"/>
                    <a:pt x="2699131" y="0"/>
                  </a:cubicBezTo>
                  <a:cubicBezTo>
                    <a:pt x="4168013" y="0"/>
                    <a:pt x="5398389" y="268351"/>
                    <a:pt x="5398389" y="626491"/>
                  </a:cubicBezTo>
                  <a:lnTo>
                    <a:pt x="5381498" y="626491"/>
                  </a:lnTo>
                  <a:lnTo>
                    <a:pt x="5398389" y="626491"/>
                  </a:lnTo>
                  <a:cubicBezTo>
                    <a:pt x="5398389" y="984631"/>
                    <a:pt x="4168013" y="1252982"/>
                    <a:pt x="2699258" y="1252982"/>
                  </a:cubicBezTo>
                  <a:lnTo>
                    <a:pt x="2699258" y="1236091"/>
                  </a:lnTo>
                  <a:lnTo>
                    <a:pt x="2699258" y="1252982"/>
                  </a:lnTo>
                  <a:cubicBezTo>
                    <a:pt x="1230376" y="1253109"/>
                    <a:pt x="0" y="984631"/>
                    <a:pt x="0" y="626491"/>
                  </a:cubicBezTo>
                  <a:lnTo>
                    <a:pt x="16891" y="626491"/>
                  </a:lnTo>
                  <a:lnTo>
                    <a:pt x="33909" y="626491"/>
                  </a:lnTo>
                  <a:lnTo>
                    <a:pt x="16891" y="626491"/>
                  </a:lnTo>
                  <a:lnTo>
                    <a:pt x="0" y="626491"/>
                  </a:lnTo>
                  <a:moveTo>
                    <a:pt x="33909" y="626491"/>
                  </a:moveTo>
                  <a:cubicBezTo>
                    <a:pt x="33909" y="635889"/>
                    <a:pt x="26289" y="643382"/>
                    <a:pt x="17018" y="643382"/>
                  </a:cubicBezTo>
                  <a:cubicBezTo>
                    <a:pt x="7747" y="643382"/>
                    <a:pt x="0" y="635889"/>
                    <a:pt x="0" y="626491"/>
                  </a:cubicBezTo>
                  <a:cubicBezTo>
                    <a:pt x="0" y="617093"/>
                    <a:pt x="7620" y="609600"/>
                    <a:pt x="16891" y="609600"/>
                  </a:cubicBezTo>
                  <a:cubicBezTo>
                    <a:pt x="26162" y="609600"/>
                    <a:pt x="33782" y="617220"/>
                    <a:pt x="33782" y="626491"/>
                  </a:cubicBezTo>
                  <a:cubicBezTo>
                    <a:pt x="33909" y="941705"/>
                    <a:pt x="1205230" y="1219200"/>
                    <a:pt x="2699131" y="1219200"/>
                  </a:cubicBezTo>
                  <a:cubicBezTo>
                    <a:pt x="4193159" y="1219200"/>
                    <a:pt x="5364480" y="941705"/>
                    <a:pt x="5364480" y="626491"/>
                  </a:cubicBezTo>
                  <a:cubicBezTo>
                    <a:pt x="5364480" y="311277"/>
                    <a:pt x="4193159" y="33782"/>
                    <a:pt x="2699131" y="33782"/>
                  </a:cubicBezTo>
                  <a:lnTo>
                    <a:pt x="2699131" y="16891"/>
                  </a:lnTo>
                  <a:lnTo>
                    <a:pt x="2699131" y="33909"/>
                  </a:lnTo>
                  <a:cubicBezTo>
                    <a:pt x="1205230" y="33909"/>
                    <a:pt x="33909" y="311277"/>
                    <a:pt x="33909" y="626491"/>
                  </a:cubicBezTo>
                  <a:close/>
                </a:path>
              </a:pathLst>
            </a:custGeom>
            <a:solidFill>
              <a:srgbClr val="1E2235"/>
            </a:solidFill>
          </p:spPr>
          <p:txBody>
            <a:bodyPr/>
            <a:lstStyle/>
            <a:p>
              <a:endParaRPr lang="es-GT"/>
            </a:p>
          </p:txBody>
        </p:sp>
      </p:grpSp>
      <p:grpSp>
        <p:nvGrpSpPr>
          <p:cNvPr id="23" name="Group 23"/>
          <p:cNvGrpSpPr/>
          <p:nvPr/>
        </p:nvGrpSpPr>
        <p:grpSpPr>
          <a:xfrm>
            <a:off x="4716790" y="2451097"/>
            <a:ext cx="4023360" cy="914400"/>
            <a:chOff x="0" y="0"/>
            <a:chExt cx="5364480" cy="1219200"/>
          </a:xfrm>
        </p:grpSpPr>
        <p:sp>
          <p:nvSpPr>
            <p:cNvPr id="24" name="Freeform 24"/>
            <p:cNvSpPr/>
            <p:nvPr/>
          </p:nvSpPr>
          <p:spPr>
            <a:xfrm>
              <a:off x="0" y="0"/>
              <a:ext cx="5364480" cy="1219200"/>
            </a:xfrm>
            <a:custGeom>
              <a:avLst/>
              <a:gdLst/>
              <a:ahLst/>
              <a:cxnLst/>
              <a:rect l="l" t="t" r="r" b="b"/>
              <a:pathLst>
                <a:path w="5364480" h="1219200">
                  <a:moveTo>
                    <a:pt x="0" y="0"/>
                  </a:moveTo>
                  <a:lnTo>
                    <a:pt x="5364480" y="0"/>
                  </a:lnTo>
                  <a:lnTo>
                    <a:pt x="5364480" y="1219200"/>
                  </a:lnTo>
                  <a:lnTo>
                    <a:pt x="0" y="1219200"/>
                  </a:lnTo>
                  <a:close/>
                </a:path>
              </a:pathLst>
            </a:custGeom>
            <a:blipFill>
              <a:blip r:embed="rId3">
                <a:alphaModFix amt="0"/>
              </a:blip>
              <a:stretch>
                <a:fillRect t="-35734" b="-35734"/>
              </a:stretch>
            </a:blipFill>
          </p:spPr>
          <p:txBody>
            <a:bodyPr/>
            <a:lstStyle/>
            <a:p>
              <a:endParaRPr lang="es-GT"/>
            </a:p>
          </p:txBody>
        </p:sp>
        <p:sp>
          <p:nvSpPr>
            <p:cNvPr id="25" name="TextBox 25"/>
            <p:cNvSpPr txBox="1"/>
            <p:nvPr/>
          </p:nvSpPr>
          <p:spPr>
            <a:xfrm>
              <a:off x="0" y="-47625"/>
              <a:ext cx="5364480" cy="1266825"/>
            </a:xfrm>
            <a:prstGeom prst="rect">
              <a:avLst/>
            </a:prstGeom>
          </p:spPr>
          <p:txBody>
            <a:bodyPr lIns="0" tIns="0" rIns="0" bIns="0" rtlCol="0" anchor="ctr"/>
            <a:lstStyle/>
            <a:p>
              <a:pPr algn="ctr">
                <a:lnSpc>
                  <a:spcPts val="2640"/>
                </a:lnSpc>
              </a:pPr>
              <a:r>
                <a:rPr lang="en-US" sz="2200" b="1">
                  <a:solidFill>
                    <a:srgbClr val="FFFFFF"/>
                  </a:solidFill>
                  <a:latin typeface="Calibri (MS) Bold"/>
                  <a:ea typeface="Calibri (MS) Bold"/>
                  <a:cs typeface="Calibri (MS) Bold"/>
                  <a:sym typeface="Calibri (MS) Bold"/>
                </a:rPr>
                <a:t>INICIO</a:t>
              </a:r>
            </a:p>
          </p:txBody>
        </p:sp>
      </p:grpSp>
      <p:grpSp>
        <p:nvGrpSpPr>
          <p:cNvPr id="26" name="Group 26"/>
          <p:cNvGrpSpPr/>
          <p:nvPr/>
        </p:nvGrpSpPr>
        <p:grpSpPr>
          <a:xfrm>
            <a:off x="6709420" y="3346447"/>
            <a:ext cx="38100" cy="330708"/>
            <a:chOff x="0" y="0"/>
            <a:chExt cx="50800" cy="440944"/>
          </a:xfrm>
        </p:grpSpPr>
        <p:sp>
          <p:nvSpPr>
            <p:cNvPr id="27" name="Freeform 27"/>
            <p:cNvSpPr/>
            <p:nvPr/>
          </p:nvSpPr>
          <p:spPr>
            <a:xfrm>
              <a:off x="0" y="25400"/>
              <a:ext cx="50800" cy="390144"/>
            </a:xfrm>
            <a:custGeom>
              <a:avLst/>
              <a:gdLst/>
              <a:ahLst/>
              <a:cxnLst/>
              <a:rect l="l" t="t" r="r" b="b"/>
              <a:pathLst>
                <a:path w="50800" h="390144">
                  <a:moveTo>
                    <a:pt x="50800" y="0"/>
                  </a:moveTo>
                  <a:lnTo>
                    <a:pt x="50800" y="390144"/>
                  </a:lnTo>
                  <a:lnTo>
                    <a:pt x="0" y="390144"/>
                  </a:lnTo>
                  <a:lnTo>
                    <a:pt x="0" y="0"/>
                  </a:lnTo>
                  <a:close/>
                </a:path>
              </a:pathLst>
            </a:custGeom>
            <a:solidFill>
              <a:srgbClr val="3A4160"/>
            </a:solidFill>
          </p:spPr>
          <p:txBody>
            <a:bodyPr/>
            <a:lstStyle/>
            <a:p>
              <a:endParaRPr lang="es-GT"/>
            </a:p>
          </p:txBody>
        </p:sp>
      </p:grpSp>
      <p:grpSp>
        <p:nvGrpSpPr>
          <p:cNvPr id="28" name="Group 28"/>
          <p:cNvGrpSpPr/>
          <p:nvPr/>
        </p:nvGrpSpPr>
        <p:grpSpPr>
          <a:xfrm>
            <a:off x="4521213" y="3645408"/>
            <a:ext cx="4414523" cy="939803"/>
            <a:chOff x="0" y="0"/>
            <a:chExt cx="5886031" cy="1253071"/>
          </a:xfrm>
        </p:grpSpPr>
        <p:sp>
          <p:nvSpPr>
            <p:cNvPr id="29" name="Freeform 29"/>
            <p:cNvSpPr/>
            <p:nvPr/>
          </p:nvSpPr>
          <p:spPr>
            <a:xfrm>
              <a:off x="16891" y="16891"/>
              <a:ext cx="5852160" cy="1219200"/>
            </a:xfrm>
            <a:custGeom>
              <a:avLst/>
              <a:gdLst/>
              <a:ahLst/>
              <a:cxnLst/>
              <a:rect l="l" t="t" r="r" b="b"/>
              <a:pathLst>
                <a:path w="5852160" h="1219200">
                  <a:moveTo>
                    <a:pt x="0" y="0"/>
                  </a:moveTo>
                  <a:lnTo>
                    <a:pt x="5852160" y="0"/>
                  </a:lnTo>
                  <a:lnTo>
                    <a:pt x="5852160" y="1219200"/>
                  </a:lnTo>
                  <a:lnTo>
                    <a:pt x="0" y="1219200"/>
                  </a:lnTo>
                  <a:close/>
                </a:path>
              </a:pathLst>
            </a:custGeom>
            <a:solidFill>
              <a:srgbClr val="1A2040"/>
            </a:solidFill>
          </p:spPr>
          <p:txBody>
            <a:bodyPr/>
            <a:lstStyle/>
            <a:p>
              <a:endParaRPr lang="es-GT"/>
            </a:p>
          </p:txBody>
        </p:sp>
        <p:sp>
          <p:nvSpPr>
            <p:cNvPr id="30" name="Freeform 30"/>
            <p:cNvSpPr/>
            <p:nvPr/>
          </p:nvSpPr>
          <p:spPr>
            <a:xfrm>
              <a:off x="0" y="0"/>
              <a:ext cx="5885942" cy="1252984"/>
            </a:xfrm>
            <a:custGeom>
              <a:avLst/>
              <a:gdLst/>
              <a:ahLst/>
              <a:cxnLst/>
              <a:rect l="l" t="t" r="r" b="b"/>
              <a:pathLst>
                <a:path w="5885942" h="1252984">
                  <a:moveTo>
                    <a:pt x="16891" y="0"/>
                  </a:moveTo>
                  <a:lnTo>
                    <a:pt x="5869051" y="0"/>
                  </a:lnTo>
                  <a:cubicBezTo>
                    <a:pt x="5878449" y="0"/>
                    <a:pt x="5885942" y="7620"/>
                    <a:pt x="5885942" y="16891"/>
                  </a:cubicBezTo>
                  <a:lnTo>
                    <a:pt x="5885942" y="1236091"/>
                  </a:lnTo>
                  <a:cubicBezTo>
                    <a:pt x="5885942" y="1245489"/>
                    <a:pt x="5878322" y="1252982"/>
                    <a:pt x="5869051" y="1252982"/>
                  </a:cubicBezTo>
                  <a:lnTo>
                    <a:pt x="16891" y="1252982"/>
                  </a:lnTo>
                  <a:cubicBezTo>
                    <a:pt x="7620" y="1253109"/>
                    <a:pt x="0" y="1245489"/>
                    <a:pt x="0" y="1236091"/>
                  </a:cubicBezTo>
                  <a:lnTo>
                    <a:pt x="0" y="16891"/>
                  </a:lnTo>
                  <a:cubicBezTo>
                    <a:pt x="0" y="7620"/>
                    <a:pt x="7620" y="0"/>
                    <a:pt x="16891" y="0"/>
                  </a:cubicBezTo>
                  <a:moveTo>
                    <a:pt x="16891" y="33909"/>
                  </a:moveTo>
                  <a:lnTo>
                    <a:pt x="16891" y="16891"/>
                  </a:lnTo>
                  <a:lnTo>
                    <a:pt x="33909" y="16891"/>
                  </a:lnTo>
                  <a:lnTo>
                    <a:pt x="33909" y="1236091"/>
                  </a:lnTo>
                  <a:lnTo>
                    <a:pt x="16891" y="1236091"/>
                  </a:lnTo>
                  <a:lnTo>
                    <a:pt x="16891" y="1219200"/>
                  </a:lnTo>
                  <a:lnTo>
                    <a:pt x="5869051" y="1219200"/>
                  </a:lnTo>
                  <a:lnTo>
                    <a:pt x="5869051" y="1236091"/>
                  </a:lnTo>
                  <a:lnTo>
                    <a:pt x="5852160" y="1236091"/>
                  </a:lnTo>
                  <a:lnTo>
                    <a:pt x="5852160" y="16891"/>
                  </a:lnTo>
                  <a:lnTo>
                    <a:pt x="5869051" y="16891"/>
                  </a:lnTo>
                  <a:lnTo>
                    <a:pt x="5869051" y="33909"/>
                  </a:lnTo>
                  <a:lnTo>
                    <a:pt x="16891" y="33909"/>
                  </a:lnTo>
                  <a:close/>
                </a:path>
              </a:pathLst>
            </a:custGeom>
            <a:solidFill>
              <a:srgbClr val="9B7FD4"/>
            </a:solidFill>
          </p:spPr>
          <p:txBody>
            <a:bodyPr/>
            <a:lstStyle/>
            <a:p>
              <a:endParaRPr lang="es-GT"/>
            </a:p>
          </p:txBody>
        </p:sp>
      </p:grpSp>
      <p:grpSp>
        <p:nvGrpSpPr>
          <p:cNvPr id="31" name="Group 31"/>
          <p:cNvGrpSpPr/>
          <p:nvPr/>
        </p:nvGrpSpPr>
        <p:grpSpPr>
          <a:xfrm>
            <a:off x="4533910" y="3658105"/>
            <a:ext cx="4389120" cy="914400"/>
            <a:chOff x="0" y="0"/>
            <a:chExt cx="5852160" cy="1219200"/>
          </a:xfrm>
        </p:grpSpPr>
        <p:sp>
          <p:nvSpPr>
            <p:cNvPr id="32" name="Freeform 32"/>
            <p:cNvSpPr/>
            <p:nvPr/>
          </p:nvSpPr>
          <p:spPr>
            <a:xfrm>
              <a:off x="0" y="0"/>
              <a:ext cx="5852160" cy="1219200"/>
            </a:xfrm>
            <a:custGeom>
              <a:avLst/>
              <a:gdLst/>
              <a:ahLst/>
              <a:cxnLst/>
              <a:rect l="l" t="t" r="r" b="b"/>
              <a:pathLst>
                <a:path w="5852160" h="1219200">
                  <a:moveTo>
                    <a:pt x="0" y="0"/>
                  </a:moveTo>
                  <a:lnTo>
                    <a:pt x="5852160" y="0"/>
                  </a:lnTo>
                  <a:lnTo>
                    <a:pt x="5852160" y="1219200"/>
                  </a:lnTo>
                  <a:lnTo>
                    <a:pt x="0" y="1219200"/>
                  </a:lnTo>
                  <a:close/>
                </a:path>
              </a:pathLst>
            </a:custGeom>
            <a:blipFill>
              <a:blip r:embed="rId3">
                <a:alphaModFix amt="0"/>
              </a:blip>
              <a:stretch>
                <a:fillRect t="-43528" b="-43528"/>
              </a:stretch>
            </a:blipFill>
          </p:spPr>
          <p:txBody>
            <a:bodyPr/>
            <a:lstStyle/>
            <a:p>
              <a:endParaRPr lang="es-GT"/>
            </a:p>
          </p:txBody>
        </p:sp>
        <p:sp>
          <p:nvSpPr>
            <p:cNvPr id="33" name="TextBox 33"/>
            <p:cNvSpPr txBox="1"/>
            <p:nvPr/>
          </p:nvSpPr>
          <p:spPr>
            <a:xfrm>
              <a:off x="0" y="-38100"/>
              <a:ext cx="5852160" cy="1257300"/>
            </a:xfrm>
            <a:prstGeom prst="rect">
              <a:avLst/>
            </a:prstGeom>
          </p:spPr>
          <p:txBody>
            <a:bodyPr lIns="0" tIns="0" rIns="0" bIns="0" rtlCol="0" anchor="ctr"/>
            <a:lstStyle/>
            <a:p>
              <a:pPr algn="ctr">
                <a:lnSpc>
                  <a:spcPts val="2400"/>
                </a:lnSpc>
              </a:pPr>
              <a:r>
                <a:rPr lang="en-US" sz="2000">
                  <a:solidFill>
                    <a:srgbClr val="FFFFFF"/>
                  </a:solidFill>
                  <a:latin typeface="Calibri (MS)"/>
                  <a:ea typeface="Calibri (MS)"/>
                  <a:cs typeface="Calibri (MS)"/>
                  <a:sym typeface="Calibri (MS)"/>
                </a:rPr>
                <a:t>Leer N</a:t>
              </a:r>
            </a:p>
          </p:txBody>
        </p:sp>
      </p:grpSp>
      <p:grpSp>
        <p:nvGrpSpPr>
          <p:cNvPr id="34" name="Group 34"/>
          <p:cNvGrpSpPr/>
          <p:nvPr/>
        </p:nvGrpSpPr>
        <p:grpSpPr>
          <a:xfrm>
            <a:off x="6709420" y="4553455"/>
            <a:ext cx="38100" cy="348996"/>
            <a:chOff x="0" y="0"/>
            <a:chExt cx="50800" cy="465328"/>
          </a:xfrm>
        </p:grpSpPr>
        <p:sp>
          <p:nvSpPr>
            <p:cNvPr id="35" name="Freeform 35"/>
            <p:cNvSpPr/>
            <p:nvPr/>
          </p:nvSpPr>
          <p:spPr>
            <a:xfrm>
              <a:off x="0" y="25400"/>
              <a:ext cx="50800" cy="414528"/>
            </a:xfrm>
            <a:custGeom>
              <a:avLst/>
              <a:gdLst/>
              <a:ahLst/>
              <a:cxnLst/>
              <a:rect l="l" t="t" r="r" b="b"/>
              <a:pathLst>
                <a:path w="50800" h="414528">
                  <a:moveTo>
                    <a:pt x="50800" y="0"/>
                  </a:moveTo>
                  <a:lnTo>
                    <a:pt x="50800" y="414528"/>
                  </a:lnTo>
                  <a:lnTo>
                    <a:pt x="0" y="414528"/>
                  </a:lnTo>
                  <a:lnTo>
                    <a:pt x="0" y="0"/>
                  </a:lnTo>
                  <a:close/>
                </a:path>
              </a:pathLst>
            </a:custGeom>
            <a:solidFill>
              <a:srgbClr val="3A4160"/>
            </a:solidFill>
          </p:spPr>
          <p:txBody>
            <a:bodyPr/>
            <a:lstStyle/>
            <a:p>
              <a:endParaRPr lang="es-GT"/>
            </a:p>
          </p:txBody>
        </p:sp>
      </p:grpSp>
      <p:grpSp>
        <p:nvGrpSpPr>
          <p:cNvPr id="36" name="Group 36"/>
          <p:cNvGrpSpPr/>
          <p:nvPr/>
        </p:nvGrpSpPr>
        <p:grpSpPr>
          <a:xfrm>
            <a:off x="4521213" y="4870704"/>
            <a:ext cx="4414523" cy="939803"/>
            <a:chOff x="0" y="0"/>
            <a:chExt cx="5886031" cy="1253071"/>
          </a:xfrm>
        </p:grpSpPr>
        <p:sp>
          <p:nvSpPr>
            <p:cNvPr id="37" name="Freeform 37"/>
            <p:cNvSpPr/>
            <p:nvPr/>
          </p:nvSpPr>
          <p:spPr>
            <a:xfrm>
              <a:off x="16891" y="16891"/>
              <a:ext cx="5852160" cy="1219200"/>
            </a:xfrm>
            <a:custGeom>
              <a:avLst/>
              <a:gdLst/>
              <a:ahLst/>
              <a:cxnLst/>
              <a:rect l="l" t="t" r="r" b="b"/>
              <a:pathLst>
                <a:path w="5852160" h="1219200">
                  <a:moveTo>
                    <a:pt x="0" y="0"/>
                  </a:moveTo>
                  <a:lnTo>
                    <a:pt x="5852160" y="0"/>
                  </a:lnTo>
                  <a:lnTo>
                    <a:pt x="5852160" y="1219200"/>
                  </a:lnTo>
                  <a:lnTo>
                    <a:pt x="0" y="1219200"/>
                  </a:lnTo>
                  <a:close/>
                </a:path>
              </a:pathLst>
            </a:custGeom>
            <a:solidFill>
              <a:srgbClr val="252B42"/>
            </a:solidFill>
          </p:spPr>
          <p:txBody>
            <a:bodyPr/>
            <a:lstStyle/>
            <a:p>
              <a:endParaRPr lang="es-GT"/>
            </a:p>
          </p:txBody>
        </p:sp>
        <p:sp>
          <p:nvSpPr>
            <p:cNvPr id="38" name="Freeform 38"/>
            <p:cNvSpPr/>
            <p:nvPr/>
          </p:nvSpPr>
          <p:spPr>
            <a:xfrm>
              <a:off x="0" y="0"/>
              <a:ext cx="5885942" cy="1252984"/>
            </a:xfrm>
            <a:custGeom>
              <a:avLst/>
              <a:gdLst/>
              <a:ahLst/>
              <a:cxnLst/>
              <a:rect l="l" t="t" r="r" b="b"/>
              <a:pathLst>
                <a:path w="5885942" h="1252984">
                  <a:moveTo>
                    <a:pt x="16891" y="0"/>
                  </a:moveTo>
                  <a:lnTo>
                    <a:pt x="5869051" y="0"/>
                  </a:lnTo>
                  <a:cubicBezTo>
                    <a:pt x="5878449" y="0"/>
                    <a:pt x="5885942" y="7620"/>
                    <a:pt x="5885942" y="16891"/>
                  </a:cubicBezTo>
                  <a:lnTo>
                    <a:pt x="5885942" y="1236091"/>
                  </a:lnTo>
                  <a:cubicBezTo>
                    <a:pt x="5885942" y="1245489"/>
                    <a:pt x="5878322" y="1252982"/>
                    <a:pt x="5869051" y="1252982"/>
                  </a:cubicBezTo>
                  <a:lnTo>
                    <a:pt x="16891" y="1252982"/>
                  </a:lnTo>
                  <a:cubicBezTo>
                    <a:pt x="7620" y="1253109"/>
                    <a:pt x="0" y="1245489"/>
                    <a:pt x="0" y="1236091"/>
                  </a:cubicBezTo>
                  <a:lnTo>
                    <a:pt x="0" y="16891"/>
                  </a:lnTo>
                  <a:cubicBezTo>
                    <a:pt x="0" y="7620"/>
                    <a:pt x="7620" y="0"/>
                    <a:pt x="16891" y="0"/>
                  </a:cubicBezTo>
                  <a:moveTo>
                    <a:pt x="16891" y="33909"/>
                  </a:moveTo>
                  <a:lnTo>
                    <a:pt x="16891" y="16891"/>
                  </a:lnTo>
                  <a:lnTo>
                    <a:pt x="33909" y="16891"/>
                  </a:lnTo>
                  <a:lnTo>
                    <a:pt x="33909" y="1236091"/>
                  </a:lnTo>
                  <a:lnTo>
                    <a:pt x="16891" y="1236091"/>
                  </a:lnTo>
                  <a:lnTo>
                    <a:pt x="16891" y="1219200"/>
                  </a:lnTo>
                  <a:lnTo>
                    <a:pt x="5869051" y="1219200"/>
                  </a:lnTo>
                  <a:lnTo>
                    <a:pt x="5869051" y="1236091"/>
                  </a:lnTo>
                  <a:lnTo>
                    <a:pt x="5852160" y="1236091"/>
                  </a:lnTo>
                  <a:lnTo>
                    <a:pt x="5852160" y="16891"/>
                  </a:lnTo>
                  <a:lnTo>
                    <a:pt x="5869051" y="16891"/>
                  </a:lnTo>
                  <a:lnTo>
                    <a:pt x="5869051" y="33909"/>
                  </a:lnTo>
                  <a:lnTo>
                    <a:pt x="16891" y="33909"/>
                  </a:lnTo>
                  <a:close/>
                </a:path>
              </a:pathLst>
            </a:custGeom>
            <a:solidFill>
              <a:srgbClr val="7EC8A4"/>
            </a:solidFill>
          </p:spPr>
          <p:txBody>
            <a:bodyPr/>
            <a:lstStyle/>
            <a:p>
              <a:endParaRPr lang="es-GT"/>
            </a:p>
          </p:txBody>
        </p:sp>
      </p:grpSp>
      <p:grpSp>
        <p:nvGrpSpPr>
          <p:cNvPr id="39" name="Group 39"/>
          <p:cNvGrpSpPr/>
          <p:nvPr/>
        </p:nvGrpSpPr>
        <p:grpSpPr>
          <a:xfrm>
            <a:off x="4533910" y="4883401"/>
            <a:ext cx="4389120" cy="914400"/>
            <a:chOff x="0" y="0"/>
            <a:chExt cx="5852160" cy="1219200"/>
          </a:xfrm>
        </p:grpSpPr>
        <p:sp>
          <p:nvSpPr>
            <p:cNvPr id="40" name="Freeform 40"/>
            <p:cNvSpPr/>
            <p:nvPr/>
          </p:nvSpPr>
          <p:spPr>
            <a:xfrm>
              <a:off x="0" y="0"/>
              <a:ext cx="5852160" cy="1219200"/>
            </a:xfrm>
            <a:custGeom>
              <a:avLst/>
              <a:gdLst/>
              <a:ahLst/>
              <a:cxnLst/>
              <a:rect l="l" t="t" r="r" b="b"/>
              <a:pathLst>
                <a:path w="5852160" h="1219200">
                  <a:moveTo>
                    <a:pt x="0" y="0"/>
                  </a:moveTo>
                  <a:lnTo>
                    <a:pt x="5852160" y="0"/>
                  </a:lnTo>
                  <a:lnTo>
                    <a:pt x="5852160" y="1219200"/>
                  </a:lnTo>
                  <a:lnTo>
                    <a:pt x="0" y="1219200"/>
                  </a:lnTo>
                  <a:close/>
                </a:path>
              </a:pathLst>
            </a:custGeom>
            <a:blipFill>
              <a:blip r:embed="rId3">
                <a:alphaModFix amt="0"/>
              </a:blip>
              <a:stretch>
                <a:fillRect t="-43528" b="-43528"/>
              </a:stretch>
            </a:blipFill>
          </p:spPr>
          <p:txBody>
            <a:bodyPr/>
            <a:lstStyle/>
            <a:p>
              <a:endParaRPr lang="es-GT"/>
            </a:p>
          </p:txBody>
        </p:sp>
        <p:sp>
          <p:nvSpPr>
            <p:cNvPr id="41" name="TextBox 41"/>
            <p:cNvSpPr txBox="1"/>
            <p:nvPr/>
          </p:nvSpPr>
          <p:spPr>
            <a:xfrm>
              <a:off x="0" y="-38100"/>
              <a:ext cx="5852160" cy="1257300"/>
            </a:xfrm>
            <a:prstGeom prst="rect">
              <a:avLst/>
            </a:prstGeom>
          </p:spPr>
          <p:txBody>
            <a:bodyPr lIns="0" tIns="0" rIns="0" bIns="0" rtlCol="0" anchor="ctr"/>
            <a:lstStyle/>
            <a:p>
              <a:pPr algn="ctr">
                <a:lnSpc>
                  <a:spcPts val="2400"/>
                </a:lnSpc>
              </a:pPr>
              <a:r>
                <a:rPr lang="en-US" sz="2000">
                  <a:solidFill>
                    <a:srgbClr val="FFFFFF"/>
                  </a:solidFill>
                  <a:latin typeface="Calibri (MS)"/>
                  <a:ea typeface="Calibri (MS)"/>
                  <a:cs typeface="Calibri (MS)"/>
                  <a:sym typeface="Calibri (MS)"/>
                </a:rPr>
                <a:t>residuo = N mod 2</a:t>
              </a:r>
            </a:p>
          </p:txBody>
        </p:sp>
      </p:grpSp>
      <p:grpSp>
        <p:nvGrpSpPr>
          <p:cNvPr id="42" name="Group 42"/>
          <p:cNvGrpSpPr/>
          <p:nvPr/>
        </p:nvGrpSpPr>
        <p:grpSpPr>
          <a:xfrm>
            <a:off x="6709420" y="5778751"/>
            <a:ext cx="38100" cy="348996"/>
            <a:chOff x="0" y="0"/>
            <a:chExt cx="50800" cy="465328"/>
          </a:xfrm>
        </p:grpSpPr>
        <p:sp>
          <p:nvSpPr>
            <p:cNvPr id="43" name="Freeform 43"/>
            <p:cNvSpPr/>
            <p:nvPr/>
          </p:nvSpPr>
          <p:spPr>
            <a:xfrm>
              <a:off x="0" y="25400"/>
              <a:ext cx="50800" cy="414528"/>
            </a:xfrm>
            <a:custGeom>
              <a:avLst/>
              <a:gdLst/>
              <a:ahLst/>
              <a:cxnLst/>
              <a:rect l="l" t="t" r="r" b="b"/>
              <a:pathLst>
                <a:path w="50800" h="414528">
                  <a:moveTo>
                    <a:pt x="50800" y="0"/>
                  </a:moveTo>
                  <a:lnTo>
                    <a:pt x="50800" y="414528"/>
                  </a:lnTo>
                  <a:lnTo>
                    <a:pt x="0" y="414528"/>
                  </a:lnTo>
                  <a:lnTo>
                    <a:pt x="0" y="0"/>
                  </a:lnTo>
                  <a:close/>
                </a:path>
              </a:pathLst>
            </a:custGeom>
            <a:solidFill>
              <a:srgbClr val="3A4160"/>
            </a:solidFill>
          </p:spPr>
          <p:txBody>
            <a:bodyPr/>
            <a:lstStyle/>
            <a:p>
              <a:endParaRPr lang="es-GT"/>
            </a:p>
          </p:txBody>
        </p:sp>
      </p:grpSp>
      <p:grpSp>
        <p:nvGrpSpPr>
          <p:cNvPr id="44" name="Group 44"/>
          <p:cNvGrpSpPr/>
          <p:nvPr/>
        </p:nvGrpSpPr>
        <p:grpSpPr>
          <a:xfrm>
            <a:off x="4521213" y="6096000"/>
            <a:ext cx="4414523" cy="1122683"/>
            <a:chOff x="0" y="0"/>
            <a:chExt cx="5886031" cy="1496911"/>
          </a:xfrm>
        </p:grpSpPr>
        <p:sp>
          <p:nvSpPr>
            <p:cNvPr id="45" name="Freeform 45"/>
            <p:cNvSpPr/>
            <p:nvPr/>
          </p:nvSpPr>
          <p:spPr>
            <a:xfrm>
              <a:off x="16891" y="16891"/>
              <a:ext cx="5852160" cy="1463040"/>
            </a:xfrm>
            <a:custGeom>
              <a:avLst/>
              <a:gdLst/>
              <a:ahLst/>
              <a:cxnLst/>
              <a:rect l="l" t="t" r="r" b="b"/>
              <a:pathLst>
                <a:path w="5852160" h="1463040">
                  <a:moveTo>
                    <a:pt x="0" y="0"/>
                  </a:moveTo>
                  <a:lnTo>
                    <a:pt x="5852160" y="0"/>
                  </a:lnTo>
                  <a:lnTo>
                    <a:pt x="5852160" y="1463040"/>
                  </a:lnTo>
                  <a:lnTo>
                    <a:pt x="0" y="1463040"/>
                  </a:lnTo>
                  <a:close/>
                </a:path>
              </a:pathLst>
            </a:custGeom>
            <a:solidFill>
              <a:srgbClr val="1E1040"/>
            </a:solidFill>
          </p:spPr>
          <p:txBody>
            <a:bodyPr/>
            <a:lstStyle/>
            <a:p>
              <a:endParaRPr lang="es-GT"/>
            </a:p>
          </p:txBody>
        </p:sp>
        <p:sp>
          <p:nvSpPr>
            <p:cNvPr id="46" name="Freeform 46"/>
            <p:cNvSpPr/>
            <p:nvPr/>
          </p:nvSpPr>
          <p:spPr>
            <a:xfrm>
              <a:off x="0" y="0"/>
              <a:ext cx="5885942" cy="1496822"/>
            </a:xfrm>
            <a:custGeom>
              <a:avLst/>
              <a:gdLst/>
              <a:ahLst/>
              <a:cxnLst/>
              <a:rect l="l" t="t" r="r" b="b"/>
              <a:pathLst>
                <a:path w="5885942" h="1496822">
                  <a:moveTo>
                    <a:pt x="16891" y="0"/>
                  </a:moveTo>
                  <a:lnTo>
                    <a:pt x="5869051" y="0"/>
                  </a:lnTo>
                  <a:cubicBezTo>
                    <a:pt x="5878449" y="0"/>
                    <a:pt x="5885942" y="7620"/>
                    <a:pt x="5885942" y="16891"/>
                  </a:cubicBezTo>
                  <a:lnTo>
                    <a:pt x="5885942" y="1479931"/>
                  </a:lnTo>
                  <a:cubicBezTo>
                    <a:pt x="5885942" y="1489329"/>
                    <a:pt x="5878322" y="1496822"/>
                    <a:pt x="5869051" y="1496822"/>
                  </a:cubicBezTo>
                  <a:lnTo>
                    <a:pt x="16891" y="1496822"/>
                  </a:lnTo>
                  <a:cubicBezTo>
                    <a:pt x="7493" y="1496822"/>
                    <a:pt x="0" y="1489202"/>
                    <a:pt x="0" y="1479931"/>
                  </a:cubicBezTo>
                  <a:lnTo>
                    <a:pt x="0" y="16891"/>
                  </a:lnTo>
                  <a:cubicBezTo>
                    <a:pt x="0" y="7620"/>
                    <a:pt x="7620" y="0"/>
                    <a:pt x="16891" y="0"/>
                  </a:cubicBezTo>
                  <a:moveTo>
                    <a:pt x="16891" y="33909"/>
                  </a:moveTo>
                  <a:lnTo>
                    <a:pt x="16891" y="16891"/>
                  </a:lnTo>
                  <a:lnTo>
                    <a:pt x="33909" y="16891"/>
                  </a:lnTo>
                  <a:lnTo>
                    <a:pt x="33909" y="1479931"/>
                  </a:lnTo>
                  <a:lnTo>
                    <a:pt x="16891" y="1479931"/>
                  </a:lnTo>
                  <a:lnTo>
                    <a:pt x="16891" y="1463040"/>
                  </a:lnTo>
                  <a:lnTo>
                    <a:pt x="5869051" y="1463040"/>
                  </a:lnTo>
                  <a:lnTo>
                    <a:pt x="5869051" y="1479931"/>
                  </a:lnTo>
                  <a:lnTo>
                    <a:pt x="5852160" y="1479931"/>
                  </a:lnTo>
                  <a:lnTo>
                    <a:pt x="5852160" y="16891"/>
                  </a:lnTo>
                  <a:lnTo>
                    <a:pt x="5869051" y="16891"/>
                  </a:lnTo>
                  <a:lnTo>
                    <a:pt x="5869051" y="33909"/>
                  </a:lnTo>
                  <a:lnTo>
                    <a:pt x="16891" y="33909"/>
                  </a:lnTo>
                  <a:close/>
                </a:path>
              </a:pathLst>
            </a:custGeom>
            <a:solidFill>
              <a:srgbClr val="E8A87C"/>
            </a:solidFill>
          </p:spPr>
          <p:txBody>
            <a:bodyPr/>
            <a:lstStyle/>
            <a:p>
              <a:endParaRPr lang="es-GT"/>
            </a:p>
          </p:txBody>
        </p:sp>
      </p:grpSp>
      <p:grpSp>
        <p:nvGrpSpPr>
          <p:cNvPr id="47" name="Group 47"/>
          <p:cNvGrpSpPr/>
          <p:nvPr/>
        </p:nvGrpSpPr>
        <p:grpSpPr>
          <a:xfrm>
            <a:off x="4533910" y="6108697"/>
            <a:ext cx="4389120" cy="1097280"/>
            <a:chOff x="0" y="0"/>
            <a:chExt cx="5852160" cy="1463040"/>
          </a:xfrm>
        </p:grpSpPr>
        <p:sp>
          <p:nvSpPr>
            <p:cNvPr id="48" name="Freeform 48"/>
            <p:cNvSpPr/>
            <p:nvPr/>
          </p:nvSpPr>
          <p:spPr>
            <a:xfrm>
              <a:off x="0" y="0"/>
              <a:ext cx="5852160" cy="1463040"/>
            </a:xfrm>
            <a:custGeom>
              <a:avLst/>
              <a:gdLst/>
              <a:ahLst/>
              <a:cxnLst/>
              <a:rect l="l" t="t" r="r" b="b"/>
              <a:pathLst>
                <a:path w="5852160" h="1463040">
                  <a:moveTo>
                    <a:pt x="731520" y="0"/>
                  </a:moveTo>
                  <a:lnTo>
                    <a:pt x="5120640" y="0"/>
                  </a:lnTo>
                  <a:cubicBezTo>
                    <a:pt x="5524647" y="0"/>
                    <a:pt x="5852160" y="327513"/>
                    <a:pt x="5852160" y="731520"/>
                  </a:cubicBezTo>
                  <a:lnTo>
                    <a:pt x="5852160" y="731520"/>
                  </a:lnTo>
                  <a:cubicBezTo>
                    <a:pt x="5852160" y="925531"/>
                    <a:pt x="5775089" y="1111596"/>
                    <a:pt x="5637903" y="1248783"/>
                  </a:cubicBezTo>
                  <a:cubicBezTo>
                    <a:pt x="5500716" y="1385969"/>
                    <a:pt x="5314651" y="1463040"/>
                    <a:pt x="5120640" y="1463040"/>
                  </a:cubicBezTo>
                  <a:lnTo>
                    <a:pt x="731520" y="1463040"/>
                  </a:lnTo>
                  <a:cubicBezTo>
                    <a:pt x="327513" y="1463040"/>
                    <a:pt x="0" y="1135527"/>
                    <a:pt x="0" y="731520"/>
                  </a:cubicBezTo>
                  <a:lnTo>
                    <a:pt x="0" y="731520"/>
                  </a:lnTo>
                  <a:cubicBezTo>
                    <a:pt x="0" y="327513"/>
                    <a:pt x="327513" y="0"/>
                    <a:pt x="731520" y="0"/>
                  </a:cubicBezTo>
                  <a:close/>
                </a:path>
              </a:pathLst>
            </a:custGeom>
            <a:blipFill>
              <a:blip r:embed="rId3">
                <a:alphaModFix amt="0"/>
              </a:blip>
              <a:stretch>
                <a:fillRect t="-27940" b="-27940"/>
              </a:stretch>
            </a:blipFill>
          </p:spPr>
          <p:txBody>
            <a:bodyPr/>
            <a:lstStyle/>
            <a:p>
              <a:endParaRPr lang="es-GT"/>
            </a:p>
          </p:txBody>
        </p:sp>
        <p:sp>
          <p:nvSpPr>
            <p:cNvPr id="49" name="TextBox 49"/>
            <p:cNvSpPr txBox="1"/>
            <p:nvPr/>
          </p:nvSpPr>
          <p:spPr>
            <a:xfrm>
              <a:off x="0" y="-38100"/>
              <a:ext cx="5852160" cy="1501140"/>
            </a:xfrm>
            <a:prstGeom prst="rect">
              <a:avLst/>
            </a:prstGeom>
          </p:spPr>
          <p:txBody>
            <a:bodyPr lIns="0" tIns="0" rIns="0" bIns="0" rtlCol="0" anchor="ctr"/>
            <a:lstStyle/>
            <a:p>
              <a:pPr algn="ctr">
                <a:lnSpc>
                  <a:spcPts val="2400"/>
                </a:lnSpc>
              </a:pPr>
              <a:r>
                <a:rPr lang="en-US" sz="2000">
                  <a:solidFill>
                    <a:srgbClr val="FFFFFF"/>
                  </a:solidFill>
                  <a:latin typeface="Calibri (MS)"/>
                  <a:ea typeface="Calibri (MS)"/>
                  <a:cs typeface="Calibri (MS)"/>
                  <a:sym typeface="Calibri (MS)"/>
                </a:rPr>
                <a:t>¿residuo = 0?</a:t>
              </a:r>
            </a:p>
          </p:txBody>
        </p:sp>
      </p:grpSp>
      <p:grpSp>
        <p:nvGrpSpPr>
          <p:cNvPr id="50" name="Group 50"/>
          <p:cNvGrpSpPr/>
          <p:nvPr/>
        </p:nvGrpSpPr>
        <p:grpSpPr>
          <a:xfrm>
            <a:off x="4514860" y="6638287"/>
            <a:ext cx="38100" cy="38100"/>
            <a:chOff x="0" y="0"/>
            <a:chExt cx="50800" cy="50800"/>
          </a:xfrm>
        </p:grpSpPr>
        <p:sp>
          <p:nvSpPr>
            <p:cNvPr id="51" name="Freeform 51"/>
            <p:cNvSpPr/>
            <p:nvPr/>
          </p:nvSpPr>
          <p:spPr>
            <a:xfrm>
              <a:off x="25400" y="0"/>
              <a:ext cx="0" cy="50800"/>
            </a:xfrm>
            <a:custGeom>
              <a:avLst/>
              <a:gdLst/>
              <a:ahLst/>
              <a:cxnLst/>
              <a:rect l="l" t="t" r="r" b="b"/>
              <a:pathLst>
                <a:path h="50800">
                  <a:moveTo>
                    <a:pt x="0" y="0"/>
                  </a:moveTo>
                  <a:lnTo>
                    <a:pt x="0" y="50800"/>
                  </a:lnTo>
                  <a:close/>
                </a:path>
              </a:pathLst>
            </a:custGeom>
            <a:solidFill>
              <a:srgbClr val="3A4160"/>
            </a:solidFill>
          </p:spPr>
          <p:txBody>
            <a:bodyPr/>
            <a:lstStyle/>
            <a:p>
              <a:endParaRPr lang="es-GT"/>
            </a:p>
          </p:txBody>
        </p:sp>
      </p:grpSp>
      <p:grpSp>
        <p:nvGrpSpPr>
          <p:cNvPr id="52" name="Group 52"/>
          <p:cNvGrpSpPr/>
          <p:nvPr/>
        </p:nvGrpSpPr>
        <p:grpSpPr>
          <a:xfrm>
            <a:off x="2868940" y="6638287"/>
            <a:ext cx="38100" cy="1318260"/>
            <a:chOff x="0" y="0"/>
            <a:chExt cx="50800" cy="1757680"/>
          </a:xfrm>
        </p:grpSpPr>
        <p:sp>
          <p:nvSpPr>
            <p:cNvPr id="53" name="Freeform 53"/>
            <p:cNvSpPr/>
            <p:nvPr/>
          </p:nvSpPr>
          <p:spPr>
            <a:xfrm>
              <a:off x="0" y="25400"/>
              <a:ext cx="50800" cy="1706880"/>
            </a:xfrm>
            <a:custGeom>
              <a:avLst/>
              <a:gdLst/>
              <a:ahLst/>
              <a:cxnLst/>
              <a:rect l="l" t="t" r="r" b="b"/>
              <a:pathLst>
                <a:path w="50800" h="1706880">
                  <a:moveTo>
                    <a:pt x="50800" y="0"/>
                  </a:moveTo>
                  <a:lnTo>
                    <a:pt x="50800" y="1706880"/>
                  </a:lnTo>
                  <a:lnTo>
                    <a:pt x="0" y="1706880"/>
                  </a:lnTo>
                  <a:lnTo>
                    <a:pt x="0" y="0"/>
                  </a:lnTo>
                  <a:close/>
                </a:path>
              </a:pathLst>
            </a:custGeom>
            <a:solidFill>
              <a:srgbClr val="3A4160"/>
            </a:solidFill>
          </p:spPr>
          <p:txBody>
            <a:bodyPr/>
            <a:lstStyle/>
            <a:p>
              <a:endParaRPr lang="es-GT"/>
            </a:p>
          </p:txBody>
        </p:sp>
      </p:grpSp>
      <p:grpSp>
        <p:nvGrpSpPr>
          <p:cNvPr id="54" name="Group 54"/>
          <p:cNvGrpSpPr/>
          <p:nvPr/>
        </p:nvGrpSpPr>
        <p:grpSpPr>
          <a:xfrm>
            <a:off x="314973" y="7741920"/>
            <a:ext cx="5146043" cy="939803"/>
            <a:chOff x="0" y="0"/>
            <a:chExt cx="6861391" cy="1253071"/>
          </a:xfrm>
        </p:grpSpPr>
        <p:sp>
          <p:nvSpPr>
            <p:cNvPr id="55" name="Freeform 55"/>
            <p:cNvSpPr/>
            <p:nvPr/>
          </p:nvSpPr>
          <p:spPr>
            <a:xfrm>
              <a:off x="16891" y="16891"/>
              <a:ext cx="6827520" cy="1219200"/>
            </a:xfrm>
            <a:custGeom>
              <a:avLst/>
              <a:gdLst/>
              <a:ahLst/>
              <a:cxnLst/>
              <a:rect l="l" t="t" r="r" b="b"/>
              <a:pathLst>
                <a:path w="6827520" h="1219200">
                  <a:moveTo>
                    <a:pt x="0" y="0"/>
                  </a:moveTo>
                  <a:lnTo>
                    <a:pt x="6827520" y="0"/>
                  </a:lnTo>
                  <a:lnTo>
                    <a:pt x="6827520" y="1219200"/>
                  </a:lnTo>
                  <a:lnTo>
                    <a:pt x="0" y="1219200"/>
                  </a:lnTo>
                  <a:close/>
                </a:path>
              </a:pathLst>
            </a:custGeom>
            <a:solidFill>
              <a:srgbClr val="1A2040"/>
            </a:solidFill>
          </p:spPr>
          <p:txBody>
            <a:bodyPr/>
            <a:lstStyle/>
            <a:p>
              <a:endParaRPr lang="es-GT"/>
            </a:p>
          </p:txBody>
        </p:sp>
        <p:sp>
          <p:nvSpPr>
            <p:cNvPr id="56" name="Freeform 56"/>
            <p:cNvSpPr/>
            <p:nvPr/>
          </p:nvSpPr>
          <p:spPr>
            <a:xfrm>
              <a:off x="0" y="0"/>
              <a:ext cx="6861301" cy="1252984"/>
            </a:xfrm>
            <a:custGeom>
              <a:avLst/>
              <a:gdLst/>
              <a:ahLst/>
              <a:cxnLst/>
              <a:rect l="l" t="t" r="r" b="b"/>
              <a:pathLst>
                <a:path w="6861301" h="1252984">
                  <a:moveTo>
                    <a:pt x="16891" y="0"/>
                  </a:moveTo>
                  <a:lnTo>
                    <a:pt x="6844411" y="0"/>
                  </a:lnTo>
                  <a:cubicBezTo>
                    <a:pt x="6853809" y="0"/>
                    <a:pt x="6861301" y="7620"/>
                    <a:pt x="6861301" y="16891"/>
                  </a:cubicBezTo>
                  <a:lnTo>
                    <a:pt x="6861301" y="1236091"/>
                  </a:lnTo>
                  <a:cubicBezTo>
                    <a:pt x="6861301" y="1245489"/>
                    <a:pt x="6853682" y="1252982"/>
                    <a:pt x="6844411" y="1252982"/>
                  </a:cubicBezTo>
                  <a:lnTo>
                    <a:pt x="16891" y="1252982"/>
                  </a:lnTo>
                  <a:cubicBezTo>
                    <a:pt x="7620" y="1253109"/>
                    <a:pt x="0" y="1245489"/>
                    <a:pt x="0" y="1236091"/>
                  </a:cubicBezTo>
                  <a:lnTo>
                    <a:pt x="0" y="16891"/>
                  </a:lnTo>
                  <a:cubicBezTo>
                    <a:pt x="0" y="7620"/>
                    <a:pt x="7620" y="0"/>
                    <a:pt x="16891" y="0"/>
                  </a:cubicBezTo>
                  <a:moveTo>
                    <a:pt x="16891" y="33909"/>
                  </a:moveTo>
                  <a:lnTo>
                    <a:pt x="16891" y="16891"/>
                  </a:lnTo>
                  <a:lnTo>
                    <a:pt x="33909" y="16891"/>
                  </a:lnTo>
                  <a:lnTo>
                    <a:pt x="33909" y="1236091"/>
                  </a:lnTo>
                  <a:lnTo>
                    <a:pt x="16891" y="1236091"/>
                  </a:lnTo>
                  <a:lnTo>
                    <a:pt x="16891" y="1219200"/>
                  </a:lnTo>
                  <a:lnTo>
                    <a:pt x="6844411" y="1219200"/>
                  </a:lnTo>
                  <a:lnTo>
                    <a:pt x="6844411" y="1236091"/>
                  </a:lnTo>
                  <a:lnTo>
                    <a:pt x="6827520" y="1236091"/>
                  </a:lnTo>
                  <a:lnTo>
                    <a:pt x="6827520" y="16891"/>
                  </a:lnTo>
                  <a:lnTo>
                    <a:pt x="6844411" y="16891"/>
                  </a:lnTo>
                  <a:lnTo>
                    <a:pt x="6844411" y="33909"/>
                  </a:lnTo>
                  <a:lnTo>
                    <a:pt x="16891" y="33909"/>
                  </a:lnTo>
                  <a:close/>
                </a:path>
              </a:pathLst>
            </a:custGeom>
            <a:solidFill>
              <a:srgbClr val="7EC8A4"/>
            </a:solidFill>
          </p:spPr>
          <p:txBody>
            <a:bodyPr/>
            <a:lstStyle/>
            <a:p>
              <a:endParaRPr lang="es-GT"/>
            </a:p>
          </p:txBody>
        </p:sp>
      </p:grpSp>
      <p:grpSp>
        <p:nvGrpSpPr>
          <p:cNvPr id="57" name="Group 57"/>
          <p:cNvGrpSpPr/>
          <p:nvPr/>
        </p:nvGrpSpPr>
        <p:grpSpPr>
          <a:xfrm>
            <a:off x="327670" y="7754617"/>
            <a:ext cx="5120640" cy="914400"/>
            <a:chOff x="0" y="0"/>
            <a:chExt cx="6827520" cy="1219200"/>
          </a:xfrm>
        </p:grpSpPr>
        <p:sp>
          <p:nvSpPr>
            <p:cNvPr id="58" name="Freeform 58"/>
            <p:cNvSpPr/>
            <p:nvPr/>
          </p:nvSpPr>
          <p:spPr>
            <a:xfrm>
              <a:off x="0" y="0"/>
              <a:ext cx="6827520" cy="1219200"/>
            </a:xfrm>
            <a:custGeom>
              <a:avLst/>
              <a:gdLst/>
              <a:ahLst/>
              <a:cxnLst/>
              <a:rect l="l" t="t" r="r" b="b"/>
              <a:pathLst>
                <a:path w="6827520" h="1219200">
                  <a:moveTo>
                    <a:pt x="0" y="0"/>
                  </a:moveTo>
                  <a:lnTo>
                    <a:pt x="6827520" y="0"/>
                  </a:lnTo>
                  <a:lnTo>
                    <a:pt x="6827520" y="1219200"/>
                  </a:lnTo>
                  <a:lnTo>
                    <a:pt x="0" y="1219200"/>
                  </a:lnTo>
                  <a:close/>
                </a:path>
              </a:pathLst>
            </a:custGeom>
            <a:blipFill>
              <a:blip r:embed="rId3">
                <a:alphaModFix amt="0"/>
              </a:blip>
              <a:stretch>
                <a:fillRect t="-59116" b="-59116"/>
              </a:stretch>
            </a:blipFill>
          </p:spPr>
          <p:txBody>
            <a:bodyPr/>
            <a:lstStyle/>
            <a:p>
              <a:endParaRPr lang="es-GT"/>
            </a:p>
          </p:txBody>
        </p:sp>
        <p:sp>
          <p:nvSpPr>
            <p:cNvPr id="59" name="TextBox 59"/>
            <p:cNvSpPr txBox="1"/>
            <p:nvPr/>
          </p:nvSpPr>
          <p:spPr>
            <a:xfrm>
              <a:off x="0" y="-38100"/>
              <a:ext cx="6827520" cy="1257300"/>
            </a:xfrm>
            <a:prstGeom prst="rect">
              <a:avLst/>
            </a:prstGeom>
          </p:spPr>
          <p:txBody>
            <a:bodyPr lIns="0" tIns="0" rIns="0" bIns="0" rtlCol="0" anchor="ctr"/>
            <a:lstStyle/>
            <a:p>
              <a:pPr algn="ctr">
                <a:lnSpc>
                  <a:spcPts val="2280"/>
                </a:lnSpc>
              </a:pPr>
              <a:r>
                <a:rPr lang="en-US" sz="1900">
                  <a:solidFill>
                    <a:srgbClr val="FFFFFF"/>
                  </a:solidFill>
                  <a:latin typeface="Calibri (MS)"/>
                  <a:ea typeface="Calibri (MS)"/>
                  <a:cs typeface="Calibri (MS)"/>
                  <a:sym typeface="Calibri (MS)"/>
                </a:rPr>
                <a:t>Mostrar</a:t>
              </a:r>
            </a:p>
            <a:p>
              <a:pPr algn="ctr">
                <a:lnSpc>
                  <a:spcPts val="2280"/>
                </a:lnSpc>
              </a:pPr>
              <a:r>
                <a:rPr lang="en-US" sz="1900">
                  <a:solidFill>
                    <a:srgbClr val="FFFFFF"/>
                  </a:solidFill>
                  <a:latin typeface="Calibri (MS)"/>
                  <a:ea typeface="Calibri (MS)"/>
                  <a:cs typeface="Calibri (MS)"/>
                  <a:sym typeface="Calibri (MS)"/>
                </a:rPr>
                <a:t>"Es PAR"</a:t>
              </a:r>
            </a:p>
          </p:txBody>
        </p:sp>
      </p:grpSp>
      <p:grpSp>
        <p:nvGrpSpPr>
          <p:cNvPr id="60" name="Group 60"/>
          <p:cNvGrpSpPr/>
          <p:nvPr/>
        </p:nvGrpSpPr>
        <p:grpSpPr>
          <a:xfrm>
            <a:off x="2979430" y="6291577"/>
            <a:ext cx="914400" cy="457200"/>
            <a:chOff x="0" y="0"/>
            <a:chExt cx="1219200" cy="609600"/>
          </a:xfrm>
        </p:grpSpPr>
        <p:sp>
          <p:nvSpPr>
            <p:cNvPr id="61" name="Freeform 61"/>
            <p:cNvSpPr/>
            <p:nvPr/>
          </p:nvSpPr>
          <p:spPr>
            <a:xfrm>
              <a:off x="0" y="0"/>
              <a:ext cx="1219200" cy="609600"/>
            </a:xfrm>
            <a:custGeom>
              <a:avLst/>
              <a:gdLst/>
              <a:ahLst/>
              <a:cxnLst/>
              <a:rect l="l" t="t" r="r" b="b"/>
              <a:pathLst>
                <a:path w="1219200" h="609600">
                  <a:moveTo>
                    <a:pt x="0" y="0"/>
                  </a:moveTo>
                  <a:lnTo>
                    <a:pt x="1219200" y="0"/>
                  </a:lnTo>
                  <a:lnTo>
                    <a:pt x="1219200" y="609600"/>
                  </a:lnTo>
                  <a:lnTo>
                    <a:pt x="0" y="609600"/>
                  </a:lnTo>
                  <a:close/>
                </a:path>
              </a:pathLst>
            </a:custGeom>
            <a:blipFill>
              <a:blip r:embed="rId3">
                <a:alphaModFix amt="0"/>
              </a:blip>
              <a:stretch>
                <a:fillRect l="-14151" r="-14151"/>
              </a:stretch>
            </a:blipFill>
          </p:spPr>
          <p:txBody>
            <a:bodyPr/>
            <a:lstStyle/>
            <a:p>
              <a:endParaRPr lang="es-GT"/>
            </a:p>
          </p:txBody>
        </p:sp>
        <p:sp>
          <p:nvSpPr>
            <p:cNvPr id="62" name="TextBox 62"/>
            <p:cNvSpPr txBox="1"/>
            <p:nvPr/>
          </p:nvSpPr>
          <p:spPr>
            <a:xfrm>
              <a:off x="0" y="-38100"/>
              <a:ext cx="1219200" cy="647700"/>
            </a:xfrm>
            <a:prstGeom prst="rect">
              <a:avLst/>
            </a:prstGeom>
          </p:spPr>
          <p:txBody>
            <a:bodyPr lIns="0" tIns="0" rIns="0" bIns="0" rtlCol="0" anchor="ctr"/>
            <a:lstStyle/>
            <a:p>
              <a:pPr algn="l">
                <a:lnSpc>
                  <a:spcPts val="2160"/>
                </a:lnSpc>
              </a:pPr>
              <a:r>
                <a:rPr lang="en-US" sz="1800" b="1">
                  <a:solidFill>
                    <a:srgbClr val="7EC8A4"/>
                  </a:solidFill>
                  <a:latin typeface="Calibri (MS) Bold"/>
                  <a:ea typeface="Calibri (MS) Bold"/>
                  <a:cs typeface="Calibri (MS) Bold"/>
                  <a:sym typeface="Calibri (MS) Bold"/>
                </a:rPr>
                <a:t>SÍ</a:t>
              </a:r>
            </a:p>
          </p:txBody>
        </p:sp>
      </p:grpSp>
      <p:grpSp>
        <p:nvGrpSpPr>
          <p:cNvPr id="63" name="Group 63"/>
          <p:cNvGrpSpPr/>
          <p:nvPr/>
        </p:nvGrpSpPr>
        <p:grpSpPr>
          <a:xfrm>
            <a:off x="8903980" y="6638287"/>
            <a:ext cx="1684020" cy="38100"/>
            <a:chOff x="0" y="0"/>
            <a:chExt cx="2245360" cy="50800"/>
          </a:xfrm>
        </p:grpSpPr>
        <p:sp>
          <p:nvSpPr>
            <p:cNvPr id="64" name="Freeform 64"/>
            <p:cNvSpPr/>
            <p:nvPr/>
          </p:nvSpPr>
          <p:spPr>
            <a:xfrm>
              <a:off x="25400" y="0"/>
              <a:ext cx="2194560" cy="50800"/>
            </a:xfrm>
            <a:custGeom>
              <a:avLst/>
              <a:gdLst/>
              <a:ahLst/>
              <a:cxnLst/>
              <a:rect l="l" t="t" r="r" b="b"/>
              <a:pathLst>
                <a:path w="2194560" h="50800">
                  <a:moveTo>
                    <a:pt x="0" y="0"/>
                  </a:moveTo>
                  <a:lnTo>
                    <a:pt x="2194560" y="0"/>
                  </a:lnTo>
                  <a:lnTo>
                    <a:pt x="2194560" y="50800"/>
                  </a:lnTo>
                  <a:lnTo>
                    <a:pt x="0" y="50800"/>
                  </a:lnTo>
                  <a:close/>
                </a:path>
              </a:pathLst>
            </a:custGeom>
            <a:solidFill>
              <a:srgbClr val="3A4160"/>
            </a:solidFill>
          </p:spPr>
          <p:txBody>
            <a:bodyPr/>
            <a:lstStyle/>
            <a:p>
              <a:endParaRPr lang="es-GT"/>
            </a:p>
          </p:txBody>
        </p:sp>
      </p:grpSp>
      <p:grpSp>
        <p:nvGrpSpPr>
          <p:cNvPr id="65" name="Group 65"/>
          <p:cNvGrpSpPr/>
          <p:nvPr/>
        </p:nvGrpSpPr>
        <p:grpSpPr>
          <a:xfrm>
            <a:off x="10549900" y="6638287"/>
            <a:ext cx="38100" cy="1318260"/>
            <a:chOff x="0" y="0"/>
            <a:chExt cx="50800" cy="1757680"/>
          </a:xfrm>
        </p:grpSpPr>
        <p:sp>
          <p:nvSpPr>
            <p:cNvPr id="66" name="Freeform 66"/>
            <p:cNvSpPr/>
            <p:nvPr/>
          </p:nvSpPr>
          <p:spPr>
            <a:xfrm>
              <a:off x="0" y="25400"/>
              <a:ext cx="50800" cy="1706880"/>
            </a:xfrm>
            <a:custGeom>
              <a:avLst/>
              <a:gdLst/>
              <a:ahLst/>
              <a:cxnLst/>
              <a:rect l="l" t="t" r="r" b="b"/>
              <a:pathLst>
                <a:path w="50800" h="1706880">
                  <a:moveTo>
                    <a:pt x="50800" y="0"/>
                  </a:moveTo>
                  <a:lnTo>
                    <a:pt x="50800" y="1706880"/>
                  </a:lnTo>
                  <a:lnTo>
                    <a:pt x="0" y="1706880"/>
                  </a:lnTo>
                  <a:lnTo>
                    <a:pt x="0" y="0"/>
                  </a:lnTo>
                  <a:close/>
                </a:path>
              </a:pathLst>
            </a:custGeom>
            <a:solidFill>
              <a:srgbClr val="3A4160"/>
            </a:solidFill>
          </p:spPr>
          <p:txBody>
            <a:bodyPr/>
            <a:lstStyle/>
            <a:p>
              <a:endParaRPr lang="es-GT"/>
            </a:p>
          </p:txBody>
        </p:sp>
      </p:grpSp>
      <p:grpSp>
        <p:nvGrpSpPr>
          <p:cNvPr id="67" name="Group 67"/>
          <p:cNvGrpSpPr/>
          <p:nvPr/>
        </p:nvGrpSpPr>
        <p:grpSpPr>
          <a:xfrm>
            <a:off x="7995933" y="7741920"/>
            <a:ext cx="5146043" cy="939803"/>
            <a:chOff x="0" y="0"/>
            <a:chExt cx="6861391" cy="1253071"/>
          </a:xfrm>
        </p:grpSpPr>
        <p:sp>
          <p:nvSpPr>
            <p:cNvPr id="68" name="Freeform 68"/>
            <p:cNvSpPr/>
            <p:nvPr/>
          </p:nvSpPr>
          <p:spPr>
            <a:xfrm>
              <a:off x="16891" y="16891"/>
              <a:ext cx="6827520" cy="1219200"/>
            </a:xfrm>
            <a:custGeom>
              <a:avLst/>
              <a:gdLst/>
              <a:ahLst/>
              <a:cxnLst/>
              <a:rect l="l" t="t" r="r" b="b"/>
              <a:pathLst>
                <a:path w="6827520" h="1219200">
                  <a:moveTo>
                    <a:pt x="0" y="0"/>
                  </a:moveTo>
                  <a:lnTo>
                    <a:pt x="6827520" y="0"/>
                  </a:lnTo>
                  <a:lnTo>
                    <a:pt x="6827520" y="1219200"/>
                  </a:lnTo>
                  <a:lnTo>
                    <a:pt x="0" y="1219200"/>
                  </a:lnTo>
                  <a:close/>
                </a:path>
              </a:pathLst>
            </a:custGeom>
            <a:solidFill>
              <a:srgbClr val="1A2040"/>
            </a:solidFill>
          </p:spPr>
          <p:txBody>
            <a:bodyPr/>
            <a:lstStyle/>
            <a:p>
              <a:endParaRPr lang="es-GT"/>
            </a:p>
          </p:txBody>
        </p:sp>
        <p:sp>
          <p:nvSpPr>
            <p:cNvPr id="69" name="Freeform 69"/>
            <p:cNvSpPr/>
            <p:nvPr/>
          </p:nvSpPr>
          <p:spPr>
            <a:xfrm>
              <a:off x="0" y="0"/>
              <a:ext cx="6861301" cy="1252984"/>
            </a:xfrm>
            <a:custGeom>
              <a:avLst/>
              <a:gdLst/>
              <a:ahLst/>
              <a:cxnLst/>
              <a:rect l="l" t="t" r="r" b="b"/>
              <a:pathLst>
                <a:path w="6861301" h="1252984">
                  <a:moveTo>
                    <a:pt x="16891" y="0"/>
                  </a:moveTo>
                  <a:lnTo>
                    <a:pt x="6844411" y="0"/>
                  </a:lnTo>
                  <a:cubicBezTo>
                    <a:pt x="6853809" y="0"/>
                    <a:pt x="6861301" y="7620"/>
                    <a:pt x="6861301" y="16891"/>
                  </a:cubicBezTo>
                  <a:lnTo>
                    <a:pt x="6861301" y="1236091"/>
                  </a:lnTo>
                  <a:cubicBezTo>
                    <a:pt x="6861301" y="1245489"/>
                    <a:pt x="6853682" y="1252982"/>
                    <a:pt x="6844411" y="1252982"/>
                  </a:cubicBezTo>
                  <a:lnTo>
                    <a:pt x="16891" y="1252982"/>
                  </a:lnTo>
                  <a:cubicBezTo>
                    <a:pt x="7620" y="1253109"/>
                    <a:pt x="0" y="1245489"/>
                    <a:pt x="0" y="1236091"/>
                  </a:cubicBezTo>
                  <a:lnTo>
                    <a:pt x="0" y="16891"/>
                  </a:lnTo>
                  <a:cubicBezTo>
                    <a:pt x="0" y="7620"/>
                    <a:pt x="7620" y="0"/>
                    <a:pt x="16891" y="0"/>
                  </a:cubicBezTo>
                  <a:moveTo>
                    <a:pt x="16891" y="33909"/>
                  </a:moveTo>
                  <a:lnTo>
                    <a:pt x="16891" y="16891"/>
                  </a:lnTo>
                  <a:lnTo>
                    <a:pt x="33909" y="16891"/>
                  </a:lnTo>
                  <a:lnTo>
                    <a:pt x="33909" y="1236091"/>
                  </a:lnTo>
                  <a:lnTo>
                    <a:pt x="16891" y="1236091"/>
                  </a:lnTo>
                  <a:lnTo>
                    <a:pt x="16891" y="1219200"/>
                  </a:lnTo>
                  <a:lnTo>
                    <a:pt x="6844411" y="1219200"/>
                  </a:lnTo>
                  <a:lnTo>
                    <a:pt x="6844411" y="1236091"/>
                  </a:lnTo>
                  <a:lnTo>
                    <a:pt x="6827520" y="1236091"/>
                  </a:lnTo>
                  <a:lnTo>
                    <a:pt x="6827520" y="16891"/>
                  </a:lnTo>
                  <a:lnTo>
                    <a:pt x="6844411" y="16891"/>
                  </a:lnTo>
                  <a:lnTo>
                    <a:pt x="6844411" y="33909"/>
                  </a:lnTo>
                  <a:lnTo>
                    <a:pt x="16891" y="33909"/>
                  </a:lnTo>
                  <a:close/>
                </a:path>
              </a:pathLst>
            </a:custGeom>
            <a:solidFill>
              <a:srgbClr val="E8A87C"/>
            </a:solidFill>
          </p:spPr>
          <p:txBody>
            <a:bodyPr/>
            <a:lstStyle/>
            <a:p>
              <a:endParaRPr lang="es-GT"/>
            </a:p>
          </p:txBody>
        </p:sp>
      </p:grpSp>
      <p:grpSp>
        <p:nvGrpSpPr>
          <p:cNvPr id="70" name="Group 70"/>
          <p:cNvGrpSpPr/>
          <p:nvPr/>
        </p:nvGrpSpPr>
        <p:grpSpPr>
          <a:xfrm>
            <a:off x="8008630" y="7754617"/>
            <a:ext cx="5120640" cy="914400"/>
            <a:chOff x="0" y="0"/>
            <a:chExt cx="6827520" cy="1219200"/>
          </a:xfrm>
        </p:grpSpPr>
        <p:sp>
          <p:nvSpPr>
            <p:cNvPr id="71" name="Freeform 71"/>
            <p:cNvSpPr/>
            <p:nvPr/>
          </p:nvSpPr>
          <p:spPr>
            <a:xfrm>
              <a:off x="0" y="0"/>
              <a:ext cx="6827520" cy="1219200"/>
            </a:xfrm>
            <a:custGeom>
              <a:avLst/>
              <a:gdLst/>
              <a:ahLst/>
              <a:cxnLst/>
              <a:rect l="l" t="t" r="r" b="b"/>
              <a:pathLst>
                <a:path w="6827520" h="1219200">
                  <a:moveTo>
                    <a:pt x="0" y="0"/>
                  </a:moveTo>
                  <a:lnTo>
                    <a:pt x="6827520" y="0"/>
                  </a:lnTo>
                  <a:lnTo>
                    <a:pt x="6827520" y="1219200"/>
                  </a:lnTo>
                  <a:lnTo>
                    <a:pt x="0" y="1219200"/>
                  </a:lnTo>
                  <a:close/>
                </a:path>
              </a:pathLst>
            </a:custGeom>
            <a:blipFill>
              <a:blip r:embed="rId3">
                <a:alphaModFix amt="0"/>
              </a:blip>
              <a:stretch>
                <a:fillRect t="-59116" b="-59116"/>
              </a:stretch>
            </a:blipFill>
          </p:spPr>
          <p:txBody>
            <a:bodyPr/>
            <a:lstStyle/>
            <a:p>
              <a:endParaRPr lang="es-GT"/>
            </a:p>
          </p:txBody>
        </p:sp>
        <p:sp>
          <p:nvSpPr>
            <p:cNvPr id="72" name="TextBox 72"/>
            <p:cNvSpPr txBox="1"/>
            <p:nvPr/>
          </p:nvSpPr>
          <p:spPr>
            <a:xfrm>
              <a:off x="0" y="-38100"/>
              <a:ext cx="6827520" cy="1257300"/>
            </a:xfrm>
            <a:prstGeom prst="rect">
              <a:avLst/>
            </a:prstGeom>
          </p:spPr>
          <p:txBody>
            <a:bodyPr lIns="0" tIns="0" rIns="0" bIns="0" rtlCol="0" anchor="ctr"/>
            <a:lstStyle/>
            <a:p>
              <a:pPr algn="ctr">
                <a:lnSpc>
                  <a:spcPts val="2280"/>
                </a:lnSpc>
              </a:pPr>
              <a:r>
                <a:rPr lang="en-US" sz="1900">
                  <a:solidFill>
                    <a:srgbClr val="FFFFFF"/>
                  </a:solidFill>
                  <a:latin typeface="Calibri (MS)"/>
                  <a:ea typeface="Calibri (MS)"/>
                  <a:cs typeface="Calibri (MS)"/>
                  <a:sym typeface="Calibri (MS)"/>
                </a:rPr>
                <a:t>Mostrar</a:t>
              </a:r>
            </a:p>
            <a:p>
              <a:pPr algn="ctr">
                <a:lnSpc>
                  <a:spcPts val="2280"/>
                </a:lnSpc>
              </a:pPr>
              <a:r>
                <a:rPr lang="en-US" sz="1900">
                  <a:solidFill>
                    <a:srgbClr val="FFFFFF"/>
                  </a:solidFill>
                  <a:latin typeface="Calibri (MS)"/>
                  <a:ea typeface="Calibri (MS)"/>
                  <a:cs typeface="Calibri (MS)"/>
                  <a:sym typeface="Calibri (MS)"/>
                </a:rPr>
                <a:t>"Es IMPAR"</a:t>
              </a:r>
            </a:p>
          </p:txBody>
        </p:sp>
      </p:grpSp>
      <p:grpSp>
        <p:nvGrpSpPr>
          <p:cNvPr id="73" name="Group 73"/>
          <p:cNvGrpSpPr/>
          <p:nvPr/>
        </p:nvGrpSpPr>
        <p:grpSpPr>
          <a:xfrm>
            <a:off x="8959606" y="6291577"/>
            <a:ext cx="914400" cy="457200"/>
            <a:chOff x="0" y="0"/>
            <a:chExt cx="1219200" cy="609600"/>
          </a:xfrm>
        </p:grpSpPr>
        <p:sp>
          <p:nvSpPr>
            <p:cNvPr id="74" name="Freeform 74"/>
            <p:cNvSpPr/>
            <p:nvPr/>
          </p:nvSpPr>
          <p:spPr>
            <a:xfrm>
              <a:off x="0" y="0"/>
              <a:ext cx="1219200" cy="609600"/>
            </a:xfrm>
            <a:custGeom>
              <a:avLst/>
              <a:gdLst/>
              <a:ahLst/>
              <a:cxnLst/>
              <a:rect l="l" t="t" r="r" b="b"/>
              <a:pathLst>
                <a:path w="1219200" h="609600">
                  <a:moveTo>
                    <a:pt x="0" y="0"/>
                  </a:moveTo>
                  <a:lnTo>
                    <a:pt x="1219200" y="0"/>
                  </a:lnTo>
                  <a:lnTo>
                    <a:pt x="1219200" y="609600"/>
                  </a:lnTo>
                  <a:lnTo>
                    <a:pt x="0" y="609600"/>
                  </a:lnTo>
                  <a:close/>
                </a:path>
              </a:pathLst>
            </a:custGeom>
            <a:blipFill>
              <a:blip r:embed="rId3">
                <a:alphaModFix amt="0"/>
              </a:blip>
              <a:stretch>
                <a:fillRect l="-14151" r="-14151"/>
              </a:stretch>
            </a:blipFill>
          </p:spPr>
          <p:txBody>
            <a:bodyPr/>
            <a:lstStyle/>
            <a:p>
              <a:endParaRPr lang="es-GT"/>
            </a:p>
          </p:txBody>
        </p:sp>
        <p:sp>
          <p:nvSpPr>
            <p:cNvPr id="75" name="TextBox 75"/>
            <p:cNvSpPr txBox="1"/>
            <p:nvPr/>
          </p:nvSpPr>
          <p:spPr>
            <a:xfrm>
              <a:off x="0" y="-38100"/>
              <a:ext cx="1219200" cy="647700"/>
            </a:xfrm>
            <a:prstGeom prst="rect">
              <a:avLst/>
            </a:prstGeom>
          </p:spPr>
          <p:txBody>
            <a:bodyPr lIns="0" tIns="0" rIns="0" bIns="0" rtlCol="0" anchor="ctr"/>
            <a:lstStyle/>
            <a:p>
              <a:pPr algn="l">
                <a:lnSpc>
                  <a:spcPts val="2160"/>
                </a:lnSpc>
              </a:pPr>
              <a:r>
                <a:rPr lang="en-US" sz="1800" b="1">
                  <a:solidFill>
                    <a:srgbClr val="E8A87C"/>
                  </a:solidFill>
                  <a:latin typeface="Calibri (MS) Bold"/>
                  <a:ea typeface="Calibri (MS) Bold"/>
                  <a:cs typeface="Calibri (MS) Bold"/>
                  <a:sym typeface="Calibri (MS) Bold"/>
                </a:rPr>
                <a:t>NO</a:t>
              </a:r>
            </a:p>
          </p:txBody>
        </p:sp>
      </p:grpSp>
      <p:grpSp>
        <p:nvGrpSpPr>
          <p:cNvPr id="76" name="Group 76"/>
          <p:cNvGrpSpPr/>
          <p:nvPr/>
        </p:nvGrpSpPr>
        <p:grpSpPr>
          <a:xfrm>
            <a:off x="2868940" y="8649967"/>
            <a:ext cx="38100" cy="861060"/>
            <a:chOff x="0" y="0"/>
            <a:chExt cx="50800" cy="1148080"/>
          </a:xfrm>
        </p:grpSpPr>
        <p:sp>
          <p:nvSpPr>
            <p:cNvPr id="77" name="Freeform 77"/>
            <p:cNvSpPr/>
            <p:nvPr/>
          </p:nvSpPr>
          <p:spPr>
            <a:xfrm>
              <a:off x="0" y="25400"/>
              <a:ext cx="50800" cy="1097280"/>
            </a:xfrm>
            <a:custGeom>
              <a:avLst/>
              <a:gdLst/>
              <a:ahLst/>
              <a:cxnLst/>
              <a:rect l="l" t="t" r="r" b="b"/>
              <a:pathLst>
                <a:path w="50800" h="1097280">
                  <a:moveTo>
                    <a:pt x="50800" y="0"/>
                  </a:moveTo>
                  <a:lnTo>
                    <a:pt x="50800" y="1097280"/>
                  </a:lnTo>
                  <a:lnTo>
                    <a:pt x="0" y="1097280"/>
                  </a:lnTo>
                  <a:lnTo>
                    <a:pt x="0" y="0"/>
                  </a:lnTo>
                  <a:close/>
                </a:path>
              </a:pathLst>
            </a:custGeom>
            <a:solidFill>
              <a:srgbClr val="3A4160"/>
            </a:solidFill>
          </p:spPr>
          <p:txBody>
            <a:bodyPr/>
            <a:lstStyle/>
            <a:p>
              <a:endParaRPr lang="es-GT"/>
            </a:p>
          </p:txBody>
        </p:sp>
      </p:grpSp>
      <p:grpSp>
        <p:nvGrpSpPr>
          <p:cNvPr id="78" name="Group 78"/>
          <p:cNvGrpSpPr/>
          <p:nvPr/>
        </p:nvGrpSpPr>
        <p:grpSpPr>
          <a:xfrm>
            <a:off x="10549900" y="8649967"/>
            <a:ext cx="38100" cy="861060"/>
            <a:chOff x="0" y="0"/>
            <a:chExt cx="50800" cy="1148080"/>
          </a:xfrm>
        </p:grpSpPr>
        <p:sp>
          <p:nvSpPr>
            <p:cNvPr id="79" name="Freeform 79"/>
            <p:cNvSpPr/>
            <p:nvPr/>
          </p:nvSpPr>
          <p:spPr>
            <a:xfrm>
              <a:off x="0" y="25400"/>
              <a:ext cx="50800" cy="1097280"/>
            </a:xfrm>
            <a:custGeom>
              <a:avLst/>
              <a:gdLst/>
              <a:ahLst/>
              <a:cxnLst/>
              <a:rect l="l" t="t" r="r" b="b"/>
              <a:pathLst>
                <a:path w="50800" h="1097280">
                  <a:moveTo>
                    <a:pt x="50800" y="0"/>
                  </a:moveTo>
                  <a:lnTo>
                    <a:pt x="50800" y="1097280"/>
                  </a:lnTo>
                  <a:lnTo>
                    <a:pt x="0" y="1097280"/>
                  </a:lnTo>
                  <a:lnTo>
                    <a:pt x="0" y="0"/>
                  </a:lnTo>
                  <a:close/>
                </a:path>
              </a:pathLst>
            </a:custGeom>
            <a:solidFill>
              <a:srgbClr val="3A4160"/>
            </a:solidFill>
          </p:spPr>
          <p:txBody>
            <a:bodyPr/>
            <a:lstStyle/>
            <a:p>
              <a:endParaRPr lang="es-GT"/>
            </a:p>
          </p:txBody>
        </p:sp>
      </p:grpSp>
      <p:grpSp>
        <p:nvGrpSpPr>
          <p:cNvPr id="80" name="Group 80"/>
          <p:cNvGrpSpPr/>
          <p:nvPr/>
        </p:nvGrpSpPr>
        <p:grpSpPr>
          <a:xfrm>
            <a:off x="2868940" y="9472927"/>
            <a:ext cx="7719060" cy="38100"/>
            <a:chOff x="0" y="0"/>
            <a:chExt cx="10292080" cy="50800"/>
          </a:xfrm>
        </p:grpSpPr>
        <p:sp>
          <p:nvSpPr>
            <p:cNvPr id="81" name="Freeform 81"/>
            <p:cNvSpPr/>
            <p:nvPr/>
          </p:nvSpPr>
          <p:spPr>
            <a:xfrm>
              <a:off x="25400" y="0"/>
              <a:ext cx="10241280" cy="50800"/>
            </a:xfrm>
            <a:custGeom>
              <a:avLst/>
              <a:gdLst/>
              <a:ahLst/>
              <a:cxnLst/>
              <a:rect l="l" t="t" r="r" b="b"/>
              <a:pathLst>
                <a:path w="10241280" h="50800">
                  <a:moveTo>
                    <a:pt x="0" y="0"/>
                  </a:moveTo>
                  <a:lnTo>
                    <a:pt x="10241280" y="0"/>
                  </a:lnTo>
                  <a:lnTo>
                    <a:pt x="10241280" y="50800"/>
                  </a:lnTo>
                  <a:lnTo>
                    <a:pt x="0" y="50800"/>
                  </a:lnTo>
                  <a:close/>
                </a:path>
              </a:pathLst>
            </a:custGeom>
            <a:solidFill>
              <a:srgbClr val="3A4160"/>
            </a:solidFill>
          </p:spPr>
          <p:txBody>
            <a:bodyPr/>
            <a:lstStyle/>
            <a:p>
              <a:endParaRPr lang="es-GT"/>
            </a:p>
          </p:txBody>
        </p:sp>
      </p:grpSp>
      <p:grpSp>
        <p:nvGrpSpPr>
          <p:cNvPr id="82" name="Group 82"/>
          <p:cNvGrpSpPr/>
          <p:nvPr/>
        </p:nvGrpSpPr>
        <p:grpSpPr>
          <a:xfrm>
            <a:off x="4704093" y="8839200"/>
            <a:ext cx="4048763" cy="939803"/>
            <a:chOff x="0" y="0"/>
            <a:chExt cx="5398351" cy="1253071"/>
          </a:xfrm>
        </p:grpSpPr>
        <p:sp>
          <p:nvSpPr>
            <p:cNvPr id="83" name="Freeform 83"/>
            <p:cNvSpPr/>
            <p:nvPr/>
          </p:nvSpPr>
          <p:spPr>
            <a:xfrm>
              <a:off x="16891" y="16891"/>
              <a:ext cx="5364480" cy="1219200"/>
            </a:xfrm>
            <a:custGeom>
              <a:avLst/>
              <a:gdLst/>
              <a:ahLst/>
              <a:cxnLst/>
              <a:rect l="l" t="t" r="r" b="b"/>
              <a:pathLst>
                <a:path w="5364480" h="1219200">
                  <a:moveTo>
                    <a:pt x="0" y="609600"/>
                  </a:moveTo>
                  <a:cubicBezTo>
                    <a:pt x="0" y="272923"/>
                    <a:pt x="1200912" y="0"/>
                    <a:pt x="2682240" y="0"/>
                  </a:cubicBezTo>
                  <a:cubicBezTo>
                    <a:pt x="4163568" y="0"/>
                    <a:pt x="5364480" y="272923"/>
                    <a:pt x="5364480" y="609600"/>
                  </a:cubicBezTo>
                  <a:cubicBezTo>
                    <a:pt x="5364480" y="946277"/>
                    <a:pt x="4163568" y="1219200"/>
                    <a:pt x="2682240" y="1219200"/>
                  </a:cubicBezTo>
                  <a:cubicBezTo>
                    <a:pt x="1200912" y="1219200"/>
                    <a:pt x="0" y="946277"/>
                    <a:pt x="0" y="609600"/>
                  </a:cubicBezTo>
                  <a:close/>
                </a:path>
              </a:pathLst>
            </a:custGeom>
            <a:solidFill>
              <a:srgbClr val="4B2070"/>
            </a:solidFill>
          </p:spPr>
          <p:txBody>
            <a:bodyPr/>
            <a:lstStyle/>
            <a:p>
              <a:endParaRPr lang="es-GT"/>
            </a:p>
          </p:txBody>
        </p:sp>
        <p:sp>
          <p:nvSpPr>
            <p:cNvPr id="84" name="Freeform 84"/>
            <p:cNvSpPr/>
            <p:nvPr/>
          </p:nvSpPr>
          <p:spPr>
            <a:xfrm>
              <a:off x="0" y="0"/>
              <a:ext cx="5398389" cy="1252982"/>
            </a:xfrm>
            <a:custGeom>
              <a:avLst/>
              <a:gdLst/>
              <a:ahLst/>
              <a:cxnLst/>
              <a:rect l="l" t="t" r="r" b="b"/>
              <a:pathLst>
                <a:path w="5398389" h="1252982">
                  <a:moveTo>
                    <a:pt x="0" y="626491"/>
                  </a:moveTo>
                  <a:lnTo>
                    <a:pt x="16891" y="626491"/>
                  </a:lnTo>
                  <a:lnTo>
                    <a:pt x="0" y="626491"/>
                  </a:lnTo>
                  <a:cubicBezTo>
                    <a:pt x="0" y="268351"/>
                    <a:pt x="1230376" y="0"/>
                    <a:pt x="2699131" y="0"/>
                  </a:cubicBezTo>
                  <a:cubicBezTo>
                    <a:pt x="4168013" y="0"/>
                    <a:pt x="5398389" y="268351"/>
                    <a:pt x="5398389" y="626491"/>
                  </a:cubicBezTo>
                  <a:lnTo>
                    <a:pt x="5381498" y="626491"/>
                  </a:lnTo>
                  <a:lnTo>
                    <a:pt x="5398389" y="626491"/>
                  </a:lnTo>
                  <a:cubicBezTo>
                    <a:pt x="5398389" y="984631"/>
                    <a:pt x="4168013" y="1252982"/>
                    <a:pt x="2699258" y="1252982"/>
                  </a:cubicBezTo>
                  <a:lnTo>
                    <a:pt x="2699258" y="1236091"/>
                  </a:lnTo>
                  <a:lnTo>
                    <a:pt x="2699258" y="1252982"/>
                  </a:lnTo>
                  <a:cubicBezTo>
                    <a:pt x="1230376" y="1253109"/>
                    <a:pt x="0" y="984631"/>
                    <a:pt x="0" y="626491"/>
                  </a:cubicBezTo>
                  <a:lnTo>
                    <a:pt x="16891" y="626491"/>
                  </a:lnTo>
                  <a:lnTo>
                    <a:pt x="33909" y="626491"/>
                  </a:lnTo>
                  <a:lnTo>
                    <a:pt x="16891" y="626491"/>
                  </a:lnTo>
                  <a:lnTo>
                    <a:pt x="0" y="626491"/>
                  </a:lnTo>
                  <a:moveTo>
                    <a:pt x="33909" y="626491"/>
                  </a:moveTo>
                  <a:cubicBezTo>
                    <a:pt x="33909" y="635889"/>
                    <a:pt x="26289" y="643382"/>
                    <a:pt x="17018" y="643382"/>
                  </a:cubicBezTo>
                  <a:cubicBezTo>
                    <a:pt x="7747" y="643382"/>
                    <a:pt x="0" y="635889"/>
                    <a:pt x="0" y="626491"/>
                  </a:cubicBezTo>
                  <a:cubicBezTo>
                    <a:pt x="0" y="617093"/>
                    <a:pt x="7620" y="609600"/>
                    <a:pt x="16891" y="609600"/>
                  </a:cubicBezTo>
                  <a:cubicBezTo>
                    <a:pt x="26162" y="609600"/>
                    <a:pt x="33782" y="617220"/>
                    <a:pt x="33782" y="626491"/>
                  </a:cubicBezTo>
                  <a:cubicBezTo>
                    <a:pt x="33909" y="941705"/>
                    <a:pt x="1205230" y="1219200"/>
                    <a:pt x="2699131" y="1219200"/>
                  </a:cubicBezTo>
                  <a:cubicBezTo>
                    <a:pt x="4193159" y="1219200"/>
                    <a:pt x="5364480" y="941705"/>
                    <a:pt x="5364480" y="626491"/>
                  </a:cubicBezTo>
                  <a:cubicBezTo>
                    <a:pt x="5364480" y="311277"/>
                    <a:pt x="4193159" y="33782"/>
                    <a:pt x="2699131" y="33782"/>
                  </a:cubicBezTo>
                  <a:lnTo>
                    <a:pt x="2699131" y="16891"/>
                  </a:lnTo>
                  <a:lnTo>
                    <a:pt x="2699131" y="33909"/>
                  </a:lnTo>
                  <a:cubicBezTo>
                    <a:pt x="1205230" y="33909"/>
                    <a:pt x="33909" y="311277"/>
                    <a:pt x="33909" y="626491"/>
                  </a:cubicBezTo>
                  <a:close/>
                </a:path>
              </a:pathLst>
            </a:custGeom>
            <a:solidFill>
              <a:srgbClr val="1E2235"/>
            </a:solidFill>
          </p:spPr>
          <p:txBody>
            <a:bodyPr/>
            <a:lstStyle/>
            <a:p>
              <a:endParaRPr lang="es-GT"/>
            </a:p>
          </p:txBody>
        </p:sp>
      </p:grpSp>
      <p:grpSp>
        <p:nvGrpSpPr>
          <p:cNvPr id="85" name="Group 85"/>
          <p:cNvGrpSpPr/>
          <p:nvPr/>
        </p:nvGrpSpPr>
        <p:grpSpPr>
          <a:xfrm>
            <a:off x="4716790" y="8851897"/>
            <a:ext cx="4023360" cy="914400"/>
            <a:chOff x="0" y="0"/>
            <a:chExt cx="5364480" cy="1219200"/>
          </a:xfrm>
        </p:grpSpPr>
        <p:sp>
          <p:nvSpPr>
            <p:cNvPr id="86" name="Freeform 86"/>
            <p:cNvSpPr/>
            <p:nvPr/>
          </p:nvSpPr>
          <p:spPr>
            <a:xfrm>
              <a:off x="0" y="0"/>
              <a:ext cx="5364480" cy="1219200"/>
            </a:xfrm>
            <a:custGeom>
              <a:avLst/>
              <a:gdLst/>
              <a:ahLst/>
              <a:cxnLst/>
              <a:rect l="l" t="t" r="r" b="b"/>
              <a:pathLst>
                <a:path w="5364480" h="1219200">
                  <a:moveTo>
                    <a:pt x="0" y="0"/>
                  </a:moveTo>
                  <a:lnTo>
                    <a:pt x="5364480" y="0"/>
                  </a:lnTo>
                  <a:lnTo>
                    <a:pt x="5364480" y="1219200"/>
                  </a:lnTo>
                  <a:lnTo>
                    <a:pt x="0" y="1219200"/>
                  </a:lnTo>
                  <a:close/>
                </a:path>
              </a:pathLst>
            </a:custGeom>
            <a:blipFill>
              <a:blip r:embed="rId3">
                <a:alphaModFix amt="0"/>
              </a:blip>
              <a:stretch>
                <a:fillRect t="-35734" b="-35734"/>
              </a:stretch>
            </a:blipFill>
          </p:spPr>
          <p:txBody>
            <a:bodyPr/>
            <a:lstStyle/>
            <a:p>
              <a:endParaRPr lang="es-GT"/>
            </a:p>
          </p:txBody>
        </p:sp>
        <p:sp>
          <p:nvSpPr>
            <p:cNvPr id="87" name="TextBox 87"/>
            <p:cNvSpPr txBox="1"/>
            <p:nvPr/>
          </p:nvSpPr>
          <p:spPr>
            <a:xfrm>
              <a:off x="0" y="-47625"/>
              <a:ext cx="5364480" cy="1266825"/>
            </a:xfrm>
            <a:prstGeom prst="rect">
              <a:avLst/>
            </a:prstGeom>
          </p:spPr>
          <p:txBody>
            <a:bodyPr lIns="0" tIns="0" rIns="0" bIns="0" rtlCol="0" anchor="ctr"/>
            <a:lstStyle/>
            <a:p>
              <a:pPr algn="ctr">
                <a:lnSpc>
                  <a:spcPts val="2640"/>
                </a:lnSpc>
              </a:pPr>
              <a:r>
                <a:rPr lang="en-US" sz="2200" b="1">
                  <a:solidFill>
                    <a:srgbClr val="FFFFFF"/>
                  </a:solidFill>
                  <a:latin typeface="Calibri (MS) Bold"/>
                  <a:ea typeface="Calibri (MS) Bold"/>
                  <a:cs typeface="Calibri (MS) Bold"/>
                  <a:sym typeface="Calibri (MS) Bold"/>
                </a:rPr>
                <a:t>FIN</a:t>
              </a:r>
            </a:p>
          </p:txBody>
        </p:sp>
      </p:grpSp>
      <p:grpSp>
        <p:nvGrpSpPr>
          <p:cNvPr id="88" name="Group 88"/>
          <p:cNvGrpSpPr/>
          <p:nvPr/>
        </p:nvGrpSpPr>
        <p:grpSpPr>
          <a:xfrm>
            <a:off x="9679943" y="2324986"/>
            <a:ext cx="5852160" cy="640080"/>
            <a:chOff x="0" y="0"/>
            <a:chExt cx="7802880" cy="853440"/>
          </a:xfrm>
        </p:grpSpPr>
        <p:sp>
          <p:nvSpPr>
            <p:cNvPr id="89" name="Freeform 89"/>
            <p:cNvSpPr/>
            <p:nvPr/>
          </p:nvSpPr>
          <p:spPr>
            <a:xfrm>
              <a:off x="0" y="0"/>
              <a:ext cx="7802880" cy="853440"/>
            </a:xfrm>
            <a:custGeom>
              <a:avLst/>
              <a:gdLst/>
              <a:ahLst/>
              <a:cxnLst/>
              <a:rect l="l" t="t" r="r" b="b"/>
              <a:pathLst>
                <a:path w="7802880" h="853440">
                  <a:moveTo>
                    <a:pt x="0" y="0"/>
                  </a:moveTo>
                  <a:lnTo>
                    <a:pt x="7802880" y="0"/>
                  </a:lnTo>
                  <a:lnTo>
                    <a:pt x="7802880" y="853440"/>
                  </a:lnTo>
                  <a:lnTo>
                    <a:pt x="0" y="853440"/>
                  </a:lnTo>
                  <a:close/>
                </a:path>
              </a:pathLst>
            </a:custGeom>
            <a:blipFill>
              <a:blip r:embed="rId3">
                <a:alphaModFix amt="0"/>
              </a:blip>
              <a:stretch>
                <a:fillRect t="-128148" b="-128148"/>
              </a:stretch>
            </a:blipFill>
          </p:spPr>
          <p:txBody>
            <a:bodyPr/>
            <a:lstStyle/>
            <a:p>
              <a:endParaRPr lang="es-GT"/>
            </a:p>
          </p:txBody>
        </p:sp>
        <p:sp>
          <p:nvSpPr>
            <p:cNvPr id="90" name="TextBox 90"/>
            <p:cNvSpPr txBox="1"/>
            <p:nvPr/>
          </p:nvSpPr>
          <p:spPr>
            <a:xfrm>
              <a:off x="0" y="-38100"/>
              <a:ext cx="7802880" cy="891540"/>
            </a:xfrm>
            <a:prstGeom prst="rect">
              <a:avLst/>
            </a:prstGeom>
          </p:spPr>
          <p:txBody>
            <a:bodyPr lIns="0" tIns="0" rIns="0" bIns="0" rtlCol="0" anchor="ctr"/>
            <a:lstStyle/>
            <a:p>
              <a:pPr algn="l">
                <a:lnSpc>
                  <a:spcPts val="2879"/>
                </a:lnSpc>
              </a:pPr>
              <a:r>
                <a:rPr lang="en-US" sz="2400" b="1">
                  <a:solidFill>
                    <a:srgbClr val="5B8CFF"/>
                  </a:solidFill>
                  <a:latin typeface="Calibri (MS) Bold"/>
                  <a:ea typeface="Calibri (MS) Bold"/>
                  <a:cs typeface="Calibri (MS) Bold"/>
                  <a:sym typeface="Calibri (MS) Bold"/>
                </a:rPr>
                <a:t>Leyenda de símbolos</a:t>
              </a:r>
            </a:p>
          </p:txBody>
        </p:sp>
      </p:grpSp>
      <p:grpSp>
        <p:nvGrpSpPr>
          <p:cNvPr id="91" name="Group 91"/>
          <p:cNvGrpSpPr/>
          <p:nvPr/>
        </p:nvGrpSpPr>
        <p:grpSpPr>
          <a:xfrm>
            <a:off x="9745990" y="3146041"/>
            <a:ext cx="1031243" cy="848363"/>
            <a:chOff x="0" y="0"/>
            <a:chExt cx="1374991" cy="1131151"/>
          </a:xfrm>
        </p:grpSpPr>
        <p:sp>
          <p:nvSpPr>
            <p:cNvPr id="92" name="Freeform 92"/>
            <p:cNvSpPr/>
            <p:nvPr/>
          </p:nvSpPr>
          <p:spPr>
            <a:xfrm>
              <a:off x="16891" y="16891"/>
              <a:ext cx="1341120" cy="1097280"/>
            </a:xfrm>
            <a:custGeom>
              <a:avLst/>
              <a:gdLst/>
              <a:ahLst/>
              <a:cxnLst/>
              <a:rect l="l" t="t" r="r" b="b"/>
              <a:pathLst>
                <a:path w="1341120" h="1097280">
                  <a:moveTo>
                    <a:pt x="0" y="0"/>
                  </a:moveTo>
                  <a:lnTo>
                    <a:pt x="1341120" y="0"/>
                  </a:lnTo>
                  <a:lnTo>
                    <a:pt x="1341120" y="1097280"/>
                  </a:lnTo>
                  <a:lnTo>
                    <a:pt x="0" y="1097280"/>
                  </a:lnTo>
                  <a:close/>
                </a:path>
              </a:pathLst>
            </a:custGeom>
            <a:solidFill>
              <a:srgbClr val="7EC8A4"/>
            </a:solidFill>
          </p:spPr>
          <p:txBody>
            <a:bodyPr/>
            <a:lstStyle/>
            <a:p>
              <a:endParaRPr lang="es-GT"/>
            </a:p>
          </p:txBody>
        </p:sp>
        <p:sp>
          <p:nvSpPr>
            <p:cNvPr id="93" name="Freeform 93"/>
            <p:cNvSpPr/>
            <p:nvPr/>
          </p:nvSpPr>
          <p:spPr>
            <a:xfrm>
              <a:off x="0" y="0"/>
              <a:ext cx="1374902" cy="1131064"/>
            </a:xfrm>
            <a:custGeom>
              <a:avLst/>
              <a:gdLst/>
              <a:ahLst/>
              <a:cxnLst/>
              <a:rect l="l" t="t" r="r" b="b"/>
              <a:pathLst>
                <a:path w="1374902" h="1131064">
                  <a:moveTo>
                    <a:pt x="16891" y="0"/>
                  </a:moveTo>
                  <a:lnTo>
                    <a:pt x="1358011" y="0"/>
                  </a:lnTo>
                  <a:cubicBezTo>
                    <a:pt x="1367409" y="0"/>
                    <a:pt x="1374902" y="7620"/>
                    <a:pt x="1374902" y="16891"/>
                  </a:cubicBezTo>
                  <a:lnTo>
                    <a:pt x="1374902" y="1114171"/>
                  </a:lnTo>
                  <a:cubicBezTo>
                    <a:pt x="1374902" y="1123569"/>
                    <a:pt x="1367282" y="1131062"/>
                    <a:pt x="135801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1358011" y="1097280"/>
                  </a:lnTo>
                  <a:lnTo>
                    <a:pt x="1358011" y="1114171"/>
                  </a:lnTo>
                  <a:lnTo>
                    <a:pt x="1341120" y="1114171"/>
                  </a:lnTo>
                  <a:lnTo>
                    <a:pt x="1341120" y="16891"/>
                  </a:lnTo>
                  <a:lnTo>
                    <a:pt x="1358011" y="16891"/>
                  </a:lnTo>
                  <a:lnTo>
                    <a:pt x="1358011" y="33909"/>
                  </a:lnTo>
                  <a:lnTo>
                    <a:pt x="16891" y="33909"/>
                  </a:lnTo>
                  <a:close/>
                </a:path>
              </a:pathLst>
            </a:custGeom>
            <a:solidFill>
              <a:srgbClr val="1E2235"/>
            </a:solidFill>
          </p:spPr>
          <p:txBody>
            <a:bodyPr/>
            <a:lstStyle/>
            <a:p>
              <a:endParaRPr lang="es-GT"/>
            </a:p>
          </p:txBody>
        </p:sp>
      </p:grpSp>
      <p:grpSp>
        <p:nvGrpSpPr>
          <p:cNvPr id="94" name="Group 94"/>
          <p:cNvGrpSpPr/>
          <p:nvPr/>
        </p:nvGrpSpPr>
        <p:grpSpPr>
          <a:xfrm>
            <a:off x="9758686" y="3158738"/>
            <a:ext cx="1005840" cy="822960"/>
            <a:chOff x="0" y="0"/>
            <a:chExt cx="1341120" cy="1097280"/>
          </a:xfrm>
        </p:grpSpPr>
        <p:sp>
          <p:nvSpPr>
            <p:cNvPr id="95" name="Freeform 95"/>
            <p:cNvSpPr/>
            <p:nvPr/>
          </p:nvSpPr>
          <p:spPr>
            <a:xfrm>
              <a:off x="0" y="0"/>
              <a:ext cx="1341120" cy="1097280"/>
            </a:xfrm>
            <a:custGeom>
              <a:avLst/>
              <a:gdLst/>
              <a:ahLst/>
              <a:cxnLst/>
              <a:rect l="l" t="t" r="r" b="b"/>
              <a:pathLst>
                <a:path w="1341120" h="1097280">
                  <a:moveTo>
                    <a:pt x="0" y="0"/>
                  </a:moveTo>
                  <a:lnTo>
                    <a:pt x="1341120" y="0"/>
                  </a:lnTo>
                  <a:lnTo>
                    <a:pt x="1341120" y="1097280"/>
                  </a:lnTo>
                  <a:lnTo>
                    <a:pt x="0" y="1097280"/>
                  </a:lnTo>
                  <a:close/>
                </a:path>
              </a:pathLst>
            </a:custGeom>
            <a:blipFill>
              <a:blip r:embed="rId3">
                <a:alphaModFix amt="0"/>
              </a:blip>
              <a:stretch>
                <a:fillRect l="-54975" r="-54975"/>
              </a:stretch>
            </a:blipFill>
          </p:spPr>
          <p:txBody>
            <a:bodyPr/>
            <a:lstStyle/>
            <a:p>
              <a:endParaRPr lang="es-GT"/>
            </a:p>
          </p:txBody>
        </p:sp>
        <p:sp>
          <p:nvSpPr>
            <p:cNvPr id="96" name="TextBox 96"/>
            <p:cNvSpPr txBox="1"/>
            <p:nvPr/>
          </p:nvSpPr>
          <p:spPr>
            <a:xfrm>
              <a:off x="0" y="-28575"/>
              <a:ext cx="1341120" cy="1125855"/>
            </a:xfrm>
            <a:prstGeom prst="rect">
              <a:avLst/>
            </a:prstGeom>
          </p:spPr>
          <p:txBody>
            <a:bodyPr lIns="0" tIns="0" rIns="0" bIns="0" rtlCol="0" anchor="ctr"/>
            <a:lstStyle/>
            <a:p>
              <a:pPr algn="ctr">
                <a:lnSpc>
                  <a:spcPts val="1560"/>
                </a:lnSpc>
              </a:pPr>
              <a:r>
                <a:rPr lang="en-US" sz="1300" b="1">
                  <a:solidFill>
                    <a:srgbClr val="FFFFFF"/>
                  </a:solidFill>
                  <a:latin typeface="Calibri (MS) Bold"/>
                  <a:ea typeface="Calibri (MS) Bold"/>
                  <a:cs typeface="Calibri (MS) Bold"/>
                  <a:sym typeface="Calibri (MS) Bold"/>
                </a:rPr>
                <a:t>TERMINAL</a:t>
              </a:r>
            </a:p>
          </p:txBody>
        </p:sp>
      </p:grpSp>
      <p:grpSp>
        <p:nvGrpSpPr>
          <p:cNvPr id="97" name="Group 97"/>
          <p:cNvGrpSpPr/>
          <p:nvPr/>
        </p:nvGrpSpPr>
        <p:grpSpPr>
          <a:xfrm>
            <a:off x="10947406" y="3158738"/>
            <a:ext cx="4572000" cy="822960"/>
            <a:chOff x="0" y="0"/>
            <a:chExt cx="6096000" cy="1097280"/>
          </a:xfrm>
        </p:grpSpPr>
        <p:sp>
          <p:nvSpPr>
            <p:cNvPr id="98" name="Freeform 98"/>
            <p:cNvSpPr/>
            <p:nvPr/>
          </p:nvSpPr>
          <p:spPr>
            <a:xfrm>
              <a:off x="0" y="0"/>
              <a:ext cx="6096000" cy="1097280"/>
            </a:xfrm>
            <a:custGeom>
              <a:avLst/>
              <a:gdLst/>
              <a:ahLst/>
              <a:cxnLst/>
              <a:rect l="l" t="t" r="r" b="b"/>
              <a:pathLst>
                <a:path w="6096000" h="1097280">
                  <a:moveTo>
                    <a:pt x="0" y="0"/>
                  </a:moveTo>
                  <a:lnTo>
                    <a:pt x="6096000" y="0"/>
                  </a:lnTo>
                  <a:lnTo>
                    <a:pt x="6096000" y="1097280"/>
                  </a:lnTo>
                  <a:lnTo>
                    <a:pt x="0" y="1097280"/>
                  </a:lnTo>
                  <a:close/>
                </a:path>
              </a:pathLst>
            </a:custGeom>
            <a:blipFill>
              <a:blip r:embed="rId3">
                <a:alphaModFix amt="0"/>
              </a:blip>
              <a:stretch>
                <a:fillRect t="-58250" b="-58250"/>
              </a:stretch>
            </a:blipFill>
          </p:spPr>
          <p:txBody>
            <a:bodyPr/>
            <a:lstStyle/>
            <a:p>
              <a:endParaRPr lang="es-GT"/>
            </a:p>
          </p:txBody>
        </p:sp>
        <p:sp>
          <p:nvSpPr>
            <p:cNvPr id="99" name="TextBox 99"/>
            <p:cNvSpPr txBox="1"/>
            <p:nvPr/>
          </p:nvSpPr>
          <p:spPr>
            <a:xfrm>
              <a:off x="0" y="-38100"/>
              <a:ext cx="6096000" cy="1135380"/>
            </a:xfrm>
            <a:prstGeom prst="rect">
              <a:avLst/>
            </a:prstGeom>
          </p:spPr>
          <p:txBody>
            <a:bodyPr lIns="0" tIns="0" rIns="0" bIns="0" rtlCol="0" anchor="ctr"/>
            <a:lstStyle/>
            <a:p>
              <a:pPr algn="l">
                <a:lnSpc>
                  <a:spcPts val="2400"/>
                </a:lnSpc>
              </a:pPr>
              <a:r>
                <a:rPr lang="en-US" sz="2000">
                  <a:solidFill>
                    <a:srgbClr val="FFFFFF"/>
                  </a:solidFill>
                  <a:latin typeface="Calibri (MS)"/>
                  <a:ea typeface="Calibri (MS)"/>
                  <a:cs typeface="Calibri (MS)"/>
                  <a:sym typeface="Calibri (MS)"/>
                </a:rPr>
                <a:t>Inicio / Fin</a:t>
              </a:r>
            </a:p>
          </p:txBody>
        </p:sp>
      </p:grpSp>
      <p:grpSp>
        <p:nvGrpSpPr>
          <p:cNvPr id="100" name="Group 100"/>
          <p:cNvGrpSpPr/>
          <p:nvPr/>
        </p:nvGrpSpPr>
        <p:grpSpPr>
          <a:xfrm>
            <a:off x="9758686" y="4146804"/>
            <a:ext cx="1031243" cy="848363"/>
            <a:chOff x="0" y="0"/>
            <a:chExt cx="1374991" cy="1131151"/>
          </a:xfrm>
        </p:grpSpPr>
        <p:sp>
          <p:nvSpPr>
            <p:cNvPr id="101" name="Freeform 101"/>
            <p:cNvSpPr/>
            <p:nvPr/>
          </p:nvSpPr>
          <p:spPr>
            <a:xfrm>
              <a:off x="16891" y="16891"/>
              <a:ext cx="1341120" cy="1097280"/>
            </a:xfrm>
            <a:custGeom>
              <a:avLst/>
              <a:gdLst/>
              <a:ahLst/>
              <a:cxnLst/>
              <a:rect l="l" t="t" r="r" b="b"/>
              <a:pathLst>
                <a:path w="1341120" h="1097280">
                  <a:moveTo>
                    <a:pt x="0" y="0"/>
                  </a:moveTo>
                  <a:lnTo>
                    <a:pt x="1341120" y="0"/>
                  </a:lnTo>
                  <a:lnTo>
                    <a:pt x="1341120" y="1097280"/>
                  </a:lnTo>
                  <a:lnTo>
                    <a:pt x="0" y="1097280"/>
                  </a:lnTo>
                  <a:close/>
                </a:path>
              </a:pathLst>
            </a:custGeom>
            <a:solidFill>
              <a:srgbClr val="9B7FD4"/>
            </a:solidFill>
          </p:spPr>
          <p:txBody>
            <a:bodyPr/>
            <a:lstStyle/>
            <a:p>
              <a:endParaRPr lang="es-GT"/>
            </a:p>
          </p:txBody>
        </p:sp>
        <p:sp>
          <p:nvSpPr>
            <p:cNvPr id="102" name="Freeform 102"/>
            <p:cNvSpPr/>
            <p:nvPr/>
          </p:nvSpPr>
          <p:spPr>
            <a:xfrm>
              <a:off x="0" y="0"/>
              <a:ext cx="1374902" cy="1131064"/>
            </a:xfrm>
            <a:custGeom>
              <a:avLst/>
              <a:gdLst/>
              <a:ahLst/>
              <a:cxnLst/>
              <a:rect l="l" t="t" r="r" b="b"/>
              <a:pathLst>
                <a:path w="1374902" h="1131064">
                  <a:moveTo>
                    <a:pt x="16891" y="0"/>
                  </a:moveTo>
                  <a:lnTo>
                    <a:pt x="1358011" y="0"/>
                  </a:lnTo>
                  <a:cubicBezTo>
                    <a:pt x="1367409" y="0"/>
                    <a:pt x="1374902" y="7620"/>
                    <a:pt x="1374902" y="16891"/>
                  </a:cubicBezTo>
                  <a:lnTo>
                    <a:pt x="1374902" y="1114171"/>
                  </a:lnTo>
                  <a:cubicBezTo>
                    <a:pt x="1374902" y="1123569"/>
                    <a:pt x="1367282" y="1131062"/>
                    <a:pt x="135801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1358011" y="1097280"/>
                  </a:lnTo>
                  <a:lnTo>
                    <a:pt x="1358011" y="1114171"/>
                  </a:lnTo>
                  <a:lnTo>
                    <a:pt x="1341120" y="1114171"/>
                  </a:lnTo>
                  <a:lnTo>
                    <a:pt x="1341120" y="16891"/>
                  </a:lnTo>
                  <a:lnTo>
                    <a:pt x="1358011" y="16891"/>
                  </a:lnTo>
                  <a:lnTo>
                    <a:pt x="1358011" y="33909"/>
                  </a:lnTo>
                  <a:lnTo>
                    <a:pt x="16891" y="33909"/>
                  </a:lnTo>
                  <a:close/>
                </a:path>
              </a:pathLst>
            </a:custGeom>
            <a:solidFill>
              <a:srgbClr val="1E2235"/>
            </a:solidFill>
          </p:spPr>
          <p:txBody>
            <a:bodyPr/>
            <a:lstStyle/>
            <a:p>
              <a:endParaRPr lang="es-GT"/>
            </a:p>
          </p:txBody>
        </p:sp>
      </p:grpSp>
      <p:grpSp>
        <p:nvGrpSpPr>
          <p:cNvPr id="103" name="Group 103"/>
          <p:cNvGrpSpPr/>
          <p:nvPr/>
        </p:nvGrpSpPr>
        <p:grpSpPr>
          <a:xfrm>
            <a:off x="9771383" y="4159501"/>
            <a:ext cx="1005840" cy="822960"/>
            <a:chOff x="0" y="0"/>
            <a:chExt cx="1341120" cy="1097280"/>
          </a:xfrm>
        </p:grpSpPr>
        <p:sp>
          <p:nvSpPr>
            <p:cNvPr id="104" name="Freeform 104"/>
            <p:cNvSpPr/>
            <p:nvPr/>
          </p:nvSpPr>
          <p:spPr>
            <a:xfrm>
              <a:off x="0" y="0"/>
              <a:ext cx="1341120" cy="1097280"/>
            </a:xfrm>
            <a:custGeom>
              <a:avLst/>
              <a:gdLst/>
              <a:ahLst/>
              <a:cxnLst/>
              <a:rect l="l" t="t" r="r" b="b"/>
              <a:pathLst>
                <a:path w="1341120" h="1097280">
                  <a:moveTo>
                    <a:pt x="0" y="0"/>
                  </a:moveTo>
                  <a:lnTo>
                    <a:pt x="1341120" y="0"/>
                  </a:lnTo>
                  <a:lnTo>
                    <a:pt x="1341120" y="1097280"/>
                  </a:lnTo>
                  <a:lnTo>
                    <a:pt x="0" y="1097280"/>
                  </a:lnTo>
                  <a:close/>
                </a:path>
              </a:pathLst>
            </a:custGeom>
            <a:blipFill>
              <a:blip r:embed="rId3">
                <a:alphaModFix amt="0"/>
              </a:blip>
              <a:stretch>
                <a:fillRect l="-54975" r="-54975"/>
              </a:stretch>
            </a:blipFill>
          </p:spPr>
          <p:txBody>
            <a:bodyPr/>
            <a:lstStyle/>
            <a:p>
              <a:endParaRPr lang="es-GT"/>
            </a:p>
          </p:txBody>
        </p:sp>
        <p:sp>
          <p:nvSpPr>
            <p:cNvPr id="105" name="TextBox 105"/>
            <p:cNvSpPr txBox="1"/>
            <p:nvPr/>
          </p:nvSpPr>
          <p:spPr>
            <a:xfrm>
              <a:off x="0" y="-28575"/>
              <a:ext cx="1341120" cy="1125855"/>
            </a:xfrm>
            <a:prstGeom prst="rect">
              <a:avLst/>
            </a:prstGeom>
          </p:spPr>
          <p:txBody>
            <a:bodyPr lIns="0" tIns="0" rIns="0" bIns="0" rtlCol="0" anchor="ctr"/>
            <a:lstStyle/>
            <a:p>
              <a:pPr algn="ctr">
                <a:lnSpc>
                  <a:spcPts val="1560"/>
                </a:lnSpc>
              </a:pPr>
              <a:r>
                <a:rPr lang="en-US" sz="1300" b="1">
                  <a:solidFill>
                    <a:srgbClr val="FFFFFF"/>
                  </a:solidFill>
                  <a:latin typeface="Calibri (MS) Bold"/>
                  <a:ea typeface="Calibri (MS) Bold"/>
                  <a:cs typeface="Calibri (MS) Bold"/>
                  <a:sym typeface="Calibri (MS) Bold"/>
                </a:rPr>
                <a:t>PROCESO</a:t>
              </a:r>
            </a:p>
          </p:txBody>
        </p:sp>
      </p:grpSp>
      <p:grpSp>
        <p:nvGrpSpPr>
          <p:cNvPr id="106" name="Group 106"/>
          <p:cNvGrpSpPr/>
          <p:nvPr/>
        </p:nvGrpSpPr>
        <p:grpSpPr>
          <a:xfrm>
            <a:off x="10960103" y="4159501"/>
            <a:ext cx="4572000" cy="822960"/>
            <a:chOff x="0" y="0"/>
            <a:chExt cx="6096000" cy="1097280"/>
          </a:xfrm>
        </p:grpSpPr>
        <p:sp>
          <p:nvSpPr>
            <p:cNvPr id="107" name="Freeform 107"/>
            <p:cNvSpPr/>
            <p:nvPr/>
          </p:nvSpPr>
          <p:spPr>
            <a:xfrm>
              <a:off x="0" y="0"/>
              <a:ext cx="6096000" cy="1097280"/>
            </a:xfrm>
            <a:custGeom>
              <a:avLst/>
              <a:gdLst/>
              <a:ahLst/>
              <a:cxnLst/>
              <a:rect l="l" t="t" r="r" b="b"/>
              <a:pathLst>
                <a:path w="6096000" h="1097280">
                  <a:moveTo>
                    <a:pt x="0" y="0"/>
                  </a:moveTo>
                  <a:lnTo>
                    <a:pt x="6096000" y="0"/>
                  </a:lnTo>
                  <a:lnTo>
                    <a:pt x="6096000" y="1097280"/>
                  </a:lnTo>
                  <a:lnTo>
                    <a:pt x="0" y="1097280"/>
                  </a:lnTo>
                  <a:close/>
                </a:path>
              </a:pathLst>
            </a:custGeom>
            <a:blipFill>
              <a:blip r:embed="rId3">
                <a:alphaModFix amt="0"/>
              </a:blip>
              <a:stretch>
                <a:fillRect t="-58250" b="-58250"/>
              </a:stretch>
            </a:blipFill>
          </p:spPr>
          <p:txBody>
            <a:bodyPr/>
            <a:lstStyle/>
            <a:p>
              <a:endParaRPr lang="es-GT"/>
            </a:p>
          </p:txBody>
        </p:sp>
        <p:sp>
          <p:nvSpPr>
            <p:cNvPr id="108" name="TextBox 108"/>
            <p:cNvSpPr txBox="1"/>
            <p:nvPr/>
          </p:nvSpPr>
          <p:spPr>
            <a:xfrm>
              <a:off x="0" y="-38100"/>
              <a:ext cx="6096000" cy="1135380"/>
            </a:xfrm>
            <a:prstGeom prst="rect">
              <a:avLst/>
            </a:prstGeom>
          </p:spPr>
          <p:txBody>
            <a:bodyPr lIns="0" tIns="0" rIns="0" bIns="0" rtlCol="0" anchor="ctr"/>
            <a:lstStyle/>
            <a:p>
              <a:pPr algn="l">
                <a:lnSpc>
                  <a:spcPts val="2400"/>
                </a:lnSpc>
              </a:pPr>
              <a:r>
                <a:rPr lang="en-US" sz="2000">
                  <a:solidFill>
                    <a:srgbClr val="FFFFFF"/>
                  </a:solidFill>
                  <a:latin typeface="Calibri (MS)"/>
                  <a:ea typeface="Calibri (MS)"/>
                  <a:cs typeface="Calibri (MS)"/>
                  <a:sym typeface="Calibri (MS)"/>
                </a:rPr>
                <a:t>Operación / Cálculo</a:t>
              </a:r>
            </a:p>
          </p:txBody>
        </p:sp>
      </p:grpSp>
      <p:grpSp>
        <p:nvGrpSpPr>
          <p:cNvPr id="109" name="Group 109"/>
          <p:cNvGrpSpPr/>
          <p:nvPr/>
        </p:nvGrpSpPr>
        <p:grpSpPr>
          <a:xfrm>
            <a:off x="9771383" y="5179695"/>
            <a:ext cx="1031243" cy="848363"/>
            <a:chOff x="0" y="0"/>
            <a:chExt cx="1374991" cy="1131151"/>
          </a:xfrm>
        </p:grpSpPr>
        <p:sp>
          <p:nvSpPr>
            <p:cNvPr id="110" name="Freeform 110"/>
            <p:cNvSpPr/>
            <p:nvPr/>
          </p:nvSpPr>
          <p:spPr>
            <a:xfrm>
              <a:off x="16891" y="16891"/>
              <a:ext cx="1341120" cy="1097280"/>
            </a:xfrm>
            <a:custGeom>
              <a:avLst/>
              <a:gdLst/>
              <a:ahLst/>
              <a:cxnLst/>
              <a:rect l="l" t="t" r="r" b="b"/>
              <a:pathLst>
                <a:path w="1341120" h="1097280">
                  <a:moveTo>
                    <a:pt x="0" y="0"/>
                  </a:moveTo>
                  <a:lnTo>
                    <a:pt x="1341120" y="0"/>
                  </a:lnTo>
                  <a:lnTo>
                    <a:pt x="1341120" y="1097280"/>
                  </a:lnTo>
                  <a:lnTo>
                    <a:pt x="0" y="1097280"/>
                  </a:lnTo>
                  <a:close/>
                </a:path>
              </a:pathLst>
            </a:custGeom>
            <a:solidFill>
              <a:srgbClr val="1A2040"/>
            </a:solidFill>
          </p:spPr>
          <p:txBody>
            <a:bodyPr/>
            <a:lstStyle/>
            <a:p>
              <a:endParaRPr lang="es-GT"/>
            </a:p>
          </p:txBody>
        </p:sp>
        <p:sp>
          <p:nvSpPr>
            <p:cNvPr id="111" name="Freeform 111"/>
            <p:cNvSpPr/>
            <p:nvPr/>
          </p:nvSpPr>
          <p:spPr>
            <a:xfrm>
              <a:off x="0" y="0"/>
              <a:ext cx="1374902" cy="1131064"/>
            </a:xfrm>
            <a:custGeom>
              <a:avLst/>
              <a:gdLst/>
              <a:ahLst/>
              <a:cxnLst/>
              <a:rect l="l" t="t" r="r" b="b"/>
              <a:pathLst>
                <a:path w="1374902" h="1131064">
                  <a:moveTo>
                    <a:pt x="16891" y="0"/>
                  </a:moveTo>
                  <a:lnTo>
                    <a:pt x="1358011" y="0"/>
                  </a:lnTo>
                  <a:cubicBezTo>
                    <a:pt x="1367409" y="0"/>
                    <a:pt x="1374902" y="7620"/>
                    <a:pt x="1374902" y="16891"/>
                  </a:cubicBezTo>
                  <a:lnTo>
                    <a:pt x="1374902" y="1114171"/>
                  </a:lnTo>
                  <a:cubicBezTo>
                    <a:pt x="1374902" y="1123569"/>
                    <a:pt x="1367282" y="1131062"/>
                    <a:pt x="135801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1358011" y="1097280"/>
                  </a:lnTo>
                  <a:lnTo>
                    <a:pt x="1358011" y="1114171"/>
                  </a:lnTo>
                  <a:lnTo>
                    <a:pt x="1341120" y="1114171"/>
                  </a:lnTo>
                  <a:lnTo>
                    <a:pt x="1341120" y="16891"/>
                  </a:lnTo>
                  <a:lnTo>
                    <a:pt x="1358011" y="16891"/>
                  </a:lnTo>
                  <a:lnTo>
                    <a:pt x="1358011" y="33909"/>
                  </a:lnTo>
                  <a:lnTo>
                    <a:pt x="16891" y="33909"/>
                  </a:lnTo>
                  <a:close/>
                </a:path>
              </a:pathLst>
            </a:custGeom>
            <a:solidFill>
              <a:srgbClr val="1E2235"/>
            </a:solidFill>
          </p:spPr>
          <p:txBody>
            <a:bodyPr/>
            <a:lstStyle/>
            <a:p>
              <a:endParaRPr lang="es-GT"/>
            </a:p>
          </p:txBody>
        </p:sp>
      </p:grpSp>
      <p:grpSp>
        <p:nvGrpSpPr>
          <p:cNvPr id="112" name="Group 112"/>
          <p:cNvGrpSpPr/>
          <p:nvPr/>
        </p:nvGrpSpPr>
        <p:grpSpPr>
          <a:xfrm>
            <a:off x="9784080" y="5192392"/>
            <a:ext cx="1005840" cy="822960"/>
            <a:chOff x="0" y="0"/>
            <a:chExt cx="1341120" cy="1097280"/>
          </a:xfrm>
        </p:grpSpPr>
        <p:sp>
          <p:nvSpPr>
            <p:cNvPr id="113" name="Freeform 113"/>
            <p:cNvSpPr/>
            <p:nvPr/>
          </p:nvSpPr>
          <p:spPr>
            <a:xfrm>
              <a:off x="0" y="0"/>
              <a:ext cx="1341120" cy="1097280"/>
            </a:xfrm>
            <a:custGeom>
              <a:avLst/>
              <a:gdLst/>
              <a:ahLst/>
              <a:cxnLst/>
              <a:rect l="l" t="t" r="r" b="b"/>
              <a:pathLst>
                <a:path w="1341120" h="1097280">
                  <a:moveTo>
                    <a:pt x="0" y="0"/>
                  </a:moveTo>
                  <a:lnTo>
                    <a:pt x="1341120" y="0"/>
                  </a:lnTo>
                  <a:lnTo>
                    <a:pt x="1341120" y="1097280"/>
                  </a:lnTo>
                  <a:lnTo>
                    <a:pt x="0" y="1097280"/>
                  </a:lnTo>
                  <a:close/>
                </a:path>
              </a:pathLst>
            </a:custGeom>
            <a:blipFill>
              <a:blip r:embed="rId3">
                <a:alphaModFix amt="0"/>
              </a:blip>
              <a:stretch>
                <a:fillRect l="-54975" r="-54975"/>
              </a:stretch>
            </a:blipFill>
          </p:spPr>
          <p:txBody>
            <a:bodyPr/>
            <a:lstStyle/>
            <a:p>
              <a:endParaRPr lang="es-GT"/>
            </a:p>
          </p:txBody>
        </p:sp>
        <p:sp>
          <p:nvSpPr>
            <p:cNvPr id="114" name="TextBox 114"/>
            <p:cNvSpPr txBox="1"/>
            <p:nvPr/>
          </p:nvSpPr>
          <p:spPr>
            <a:xfrm>
              <a:off x="0" y="-28575"/>
              <a:ext cx="1341120" cy="1125855"/>
            </a:xfrm>
            <a:prstGeom prst="rect">
              <a:avLst/>
            </a:prstGeom>
          </p:spPr>
          <p:txBody>
            <a:bodyPr lIns="0" tIns="0" rIns="0" bIns="0" rtlCol="0" anchor="ctr"/>
            <a:lstStyle/>
            <a:p>
              <a:pPr algn="ctr">
                <a:lnSpc>
                  <a:spcPts val="1560"/>
                </a:lnSpc>
              </a:pPr>
              <a:r>
                <a:rPr lang="en-US" sz="1300" b="1">
                  <a:solidFill>
                    <a:srgbClr val="FFFFFF"/>
                  </a:solidFill>
                  <a:latin typeface="Calibri (MS) Bold"/>
                  <a:ea typeface="Calibri (MS) Bold"/>
                  <a:cs typeface="Calibri (MS) Bold"/>
                  <a:sym typeface="Calibri (MS) Bold"/>
                </a:rPr>
                <a:t>E/S</a:t>
              </a:r>
            </a:p>
          </p:txBody>
        </p:sp>
      </p:grpSp>
      <p:grpSp>
        <p:nvGrpSpPr>
          <p:cNvPr id="115" name="Group 115"/>
          <p:cNvGrpSpPr/>
          <p:nvPr/>
        </p:nvGrpSpPr>
        <p:grpSpPr>
          <a:xfrm>
            <a:off x="10972800" y="5192392"/>
            <a:ext cx="4572000" cy="822960"/>
            <a:chOff x="0" y="0"/>
            <a:chExt cx="6096000" cy="1097280"/>
          </a:xfrm>
        </p:grpSpPr>
        <p:sp>
          <p:nvSpPr>
            <p:cNvPr id="116" name="Freeform 116"/>
            <p:cNvSpPr/>
            <p:nvPr/>
          </p:nvSpPr>
          <p:spPr>
            <a:xfrm>
              <a:off x="0" y="0"/>
              <a:ext cx="6096000" cy="1097280"/>
            </a:xfrm>
            <a:custGeom>
              <a:avLst/>
              <a:gdLst/>
              <a:ahLst/>
              <a:cxnLst/>
              <a:rect l="l" t="t" r="r" b="b"/>
              <a:pathLst>
                <a:path w="6096000" h="1097280">
                  <a:moveTo>
                    <a:pt x="0" y="0"/>
                  </a:moveTo>
                  <a:lnTo>
                    <a:pt x="6096000" y="0"/>
                  </a:lnTo>
                  <a:lnTo>
                    <a:pt x="6096000" y="1097280"/>
                  </a:lnTo>
                  <a:lnTo>
                    <a:pt x="0" y="1097280"/>
                  </a:lnTo>
                  <a:close/>
                </a:path>
              </a:pathLst>
            </a:custGeom>
            <a:blipFill>
              <a:blip r:embed="rId3">
                <a:alphaModFix amt="0"/>
              </a:blip>
              <a:stretch>
                <a:fillRect t="-58250" b="-58250"/>
              </a:stretch>
            </a:blipFill>
          </p:spPr>
          <p:txBody>
            <a:bodyPr/>
            <a:lstStyle/>
            <a:p>
              <a:endParaRPr lang="es-GT"/>
            </a:p>
          </p:txBody>
        </p:sp>
        <p:sp>
          <p:nvSpPr>
            <p:cNvPr id="117" name="TextBox 117"/>
            <p:cNvSpPr txBox="1"/>
            <p:nvPr/>
          </p:nvSpPr>
          <p:spPr>
            <a:xfrm>
              <a:off x="0" y="-38100"/>
              <a:ext cx="6096000" cy="1135380"/>
            </a:xfrm>
            <a:prstGeom prst="rect">
              <a:avLst/>
            </a:prstGeom>
          </p:spPr>
          <p:txBody>
            <a:bodyPr lIns="0" tIns="0" rIns="0" bIns="0" rtlCol="0" anchor="ctr"/>
            <a:lstStyle/>
            <a:p>
              <a:pPr algn="l">
                <a:lnSpc>
                  <a:spcPts val="2400"/>
                </a:lnSpc>
              </a:pPr>
              <a:r>
                <a:rPr lang="en-US" sz="2000">
                  <a:solidFill>
                    <a:srgbClr val="FFFFFF"/>
                  </a:solidFill>
                  <a:latin typeface="Calibri (MS)"/>
                  <a:ea typeface="Calibri (MS)"/>
                  <a:cs typeface="Calibri (MS)"/>
                  <a:sym typeface="Calibri (MS)"/>
                </a:rPr>
                <a:t>Entrada o Salida</a:t>
              </a:r>
            </a:p>
          </p:txBody>
        </p:sp>
      </p:grpSp>
      <p:grpSp>
        <p:nvGrpSpPr>
          <p:cNvPr id="118" name="Group 118"/>
          <p:cNvGrpSpPr/>
          <p:nvPr/>
        </p:nvGrpSpPr>
        <p:grpSpPr>
          <a:xfrm>
            <a:off x="11264275" y="6520177"/>
            <a:ext cx="1031243" cy="848363"/>
            <a:chOff x="0" y="0"/>
            <a:chExt cx="1374991" cy="1131151"/>
          </a:xfrm>
        </p:grpSpPr>
        <p:sp>
          <p:nvSpPr>
            <p:cNvPr id="119" name="Freeform 119"/>
            <p:cNvSpPr/>
            <p:nvPr/>
          </p:nvSpPr>
          <p:spPr>
            <a:xfrm>
              <a:off x="16891" y="16891"/>
              <a:ext cx="1341120" cy="1097280"/>
            </a:xfrm>
            <a:custGeom>
              <a:avLst/>
              <a:gdLst/>
              <a:ahLst/>
              <a:cxnLst/>
              <a:rect l="l" t="t" r="r" b="b"/>
              <a:pathLst>
                <a:path w="1341120" h="1097280">
                  <a:moveTo>
                    <a:pt x="0" y="0"/>
                  </a:moveTo>
                  <a:lnTo>
                    <a:pt x="1341120" y="0"/>
                  </a:lnTo>
                  <a:lnTo>
                    <a:pt x="1341120" y="1097280"/>
                  </a:lnTo>
                  <a:lnTo>
                    <a:pt x="0" y="1097280"/>
                  </a:lnTo>
                  <a:close/>
                </a:path>
              </a:pathLst>
            </a:custGeom>
            <a:solidFill>
              <a:srgbClr val="E8A87C"/>
            </a:solidFill>
          </p:spPr>
          <p:txBody>
            <a:bodyPr/>
            <a:lstStyle/>
            <a:p>
              <a:endParaRPr lang="es-GT"/>
            </a:p>
          </p:txBody>
        </p:sp>
        <p:sp>
          <p:nvSpPr>
            <p:cNvPr id="120" name="Freeform 120"/>
            <p:cNvSpPr/>
            <p:nvPr/>
          </p:nvSpPr>
          <p:spPr>
            <a:xfrm>
              <a:off x="0" y="0"/>
              <a:ext cx="1374902" cy="1131064"/>
            </a:xfrm>
            <a:custGeom>
              <a:avLst/>
              <a:gdLst/>
              <a:ahLst/>
              <a:cxnLst/>
              <a:rect l="l" t="t" r="r" b="b"/>
              <a:pathLst>
                <a:path w="1374902" h="1131064">
                  <a:moveTo>
                    <a:pt x="16891" y="0"/>
                  </a:moveTo>
                  <a:lnTo>
                    <a:pt x="1358011" y="0"/>
                  </a:lnTo>
                  <a:cubicBezTo>
                    <a:pt x="1367409" y="0"/>
                    <a:pt x="1374902" y="7620"/>
                    <a:pt x="1374902" y="16891"/>
                  </a:cubicBezTo>
                  <a:lnTo>
                    <a:pt x="1374902" y="1114171"/>
                  </a:lnTo>
                  <a:cubicBezTo>
                    <a:pt x="1374902" y="1123569"/>
                    <a:pt x="1367282" y="1131062"/>
                    <a:pt x="135801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1358011" y="1097280"/>
                  </a:lnTo>
                  <a:lnTo>
                    <a:pt x="1358011" y="1114171"/>
                  </a:lnTo>
                  <a:lnTo>
                    <a:pt x="1341120" y="1114171"/>
                  </a:lnTo>
                  <a:lnTo>
                    <a:pt x="1341120" y="16891"/>
                  </a:lnTo>
                  <a:lnTo>
                    <a:pt x="1358011" y="16891"/>
                  </a:lnTo>
                  <a:lnTo>
                    <a:pt x="1358011" y="33909"/>
                  </a:lnTo>
                  <a:lnTo>
                    <a:pt x="16891" y="33909"/>
                  </a:lnTo>
                  <a:close/>
                </a:path>
              </a:pathLst>
            </a:custGeom>
            <a:solidFill>
              <a:srgbClr val="1E2235"/>
            </a:solidFill>
          </p:spPr>
          <p:txBody>
            <a:bodyPr/>
            <a:lstStyle/>
            <a:p>
              <a:endParaRPr lang="es-GT"/>
            </a:p>
          </p:txBody>
        </p:sp>
      </p:grpSp>
      <p:grpSp>
        <p:nvGrpSpPr>
          <p:cNvPr id="121" name="Group 121"/>
          <p:cNvGrpSpPr/>
          <p:nvPr/>
        </p:nvGrpSpPr>
        <p:grpSpPr>
          <a:xfrm>
            <a:off x="11276971" y="6532874"/>
            <a:ext cx="1005840" cy="822960"/>
            <a:chOff x="0" y="0"/>
            <a:chExt cx="1341120" cy="1097280"/>
          </a:xfrm>
        </p:grpSpPr>
        <p:sp>
          <p:nvSpPr>
            <p:cNvPr id="122" name="Freeform 122"/>
            <p:cNvSpPr/>
            <p:nvPr/>
          </p:nvSpPr>
          <p:spPr>
            <a:xfrm>
              <a:off x="0" y="0"/>
              <a:ext cx="1341120" cy="1097280"/>
            </a:xfrm>
            <a:custGeom>
              <a:avLst/>
              <a:gdLst/>
              <a:ahLst/>
              <a:cxnLst/>
              <a:rect l="l" t="t" r="r" b="b"/>
              <a:pathLst>
                <a:path w="1341120" h="1097280">
                  <a:moveTo>
                    <a:pt x="0" y="0"/>
                  </a:moveTo>
                  <a:lnTo>
                    <a:pt x="1341120" y="0"/>
                  </a:lnTo>
                  <a:lnTo>
                    <a:pt x="1341120" y="1097280"/>
                  </a:lnTo>
                  <a:lnTo>
                    <a:pt x="0" y="1097280"/>
                  </a:lnTo>
                  <a:close/>
                </a:path>
              </a:pathLst>
            </a:custGeom>
            <a:blipFill>
              <a:blip r:embed="rId3">
                <a:alphaModFix amt="0"/>
              </a:blip>
              <a:stretch>
                <a:fillRect l="-54975" r="-54975"/>
              </a:stretch>
            </a:blipFill>
          </p:spPr>
          <p:txBody>
            <a:bodyPr/>
            <a:lstStyle/>
            <a:p>
              <a:endParaRPr lang="es-GT"/>
            </a:p>
          </p:txBody>
        </p:sp>
        <p:sp>
          <p:nvSpPr>
            <p:cNvPr id="123" name="TextBox 123"/>
            <p:cNvSpPr txBox="1"/>
            <p:nvPr/>
          </p:nvSpPr>
          <p:spPr>
            <a:xfrm>
              <a:off x="0" y="-28575"/>
              <a:ext cx="1341120" cy="1125855"/>
            </a:xfrm>
            <a:prstGeom prst="rect">
              <a:avLst/>
            </a:prstGeom>
          </p:spPr>
          <p:txBody>
            <a:bodyPr lIns="0" tIns="0" rIns="0" bIns="0" rtlCol="0" anchor="ctr"/>
            <a:lstStyle/>
            <a:p>
              <a:pPr algn="ctr">
                <a:lnSpc>
                  <a:spcPts val="1560"/>
                </a:lnSpc>
              </a:pPr>
              <a:r>
                <a:rPr lang="en-US" sz="1300" b="1">
                  <a:solidFill>
                    <a:srgbClr val="FFFFFF"/>
                  </a:solidFill>
                  <a:latin typeface="Calibri (MS) Bold"/>
                  <a:ea typeface="Calibri (MS) Bold"/>
                  <a:cs typeface="Calibri (MS) Bold"/>
                  <a:sym typeface="Calibri (MS) Bold"/>
                </a:rPr>
                <a:t>DECISIÓN</a:t>
              </a:r>
            </a:p>
          </p:txBody>
        </p:sp>
      </p:grpSp>
      <p:grpSp>
        <p:nvGrpSpPr>
          <p:cNvPr id="124" name="Group 124"/>
          <p:cNvGrpSpPr/>
          <p:nvPr/>
        </p:nvGrpSpPr>
        <p:grpSpPr>
          <a:xfrm>
            <a:off x="12465691" y="6532874"/>
            <a:ext cx="4572000" cy="822960"/>
            <a:chOff x="0" y="0"/>
            <a:chExt cx="6096000" cy="1097280"/>
          </a:xfrm>
        </p:grpSpPr>
        <p:sp>
          <p:nvSpPr>
            <p:cNvPr id="125" name="Freeform 125"/>
            <p:cNvSpPr/>
            <p:nvPr/>
          </p:nvSpPr>
          <p:spPr>
            <a:xfrm>
              <a:off x="0" y="0"/>
              <a:ext cx="6096000" cy="1097280"/>
            </a:xfrm>
            <a:custGeom>
              <a:avLst/>
              <a:gdLst/>
              <a:ahLst/>
              <a:cxnLst/>
              <a:rect l="l" t="t" r="r" b="b"/>
              <a:pathLst>
                <a:path w="6096000" h="1097280">
                  <a:moveTo>
                    <a:pt x="0" y="0"/>
                  </a:moveTo>
                  <a:lnTo>
                    <a:pt x="6096000" y="0"/>
                  </a:lnTo>
                  <a:lnTo>
                    <a:pt x="6096000" y="1097280"/>
                  </a:lnTo>
                  <a:lnTo>
                    <a:pt x="0" y="1097280"/>
                  </a:lnTo>
                  <a:close/>
                </a:path>
              </a:pathLst>
            </a:custGeom>
            <a:blipFill>
              <a:blip r:embed="rId3">
                <a:alphaModFix amt="0"/>
              </a:blip>
              <a:stretch>
                <a:fillRect t="-58250" b="-58250"/>
              </a:stretch>
            </a:blipFill>
          </p:spPr>
          <p:txBody>
            <a:bodyPr/>
            <a:lstStyle/>
            <a:p>
              <a:endParaRPr lang="es-GT"/>
            </a:p>
          </p:txBody>
        </p:sp>
        <p:sp>
          <p:nvSpPr>
            <p:cNvPr id="126" name="TextBox 126"/>
            <p:cNvSpPr txBox="1"/>
            <p:nvPr/>
          </p:nvSpPr>
          <p:spPr>
            <a:xfrm>
              <a:off x="0" y="-38100"/>
              <a:ext cx="6096000" cy="1135380"/>
            </a:xfrm>
            <a:prstGeom prst="rect">
              <a:avLst/>
            </a:prstGeom>
          </p:spPr>
          <p:txBody>
            <a:bodyPr lIns="0" tIns="0" rIns="0" bIns="0" rtlCol="0" anchor="ctr"/>
            <a:lstStyle/>
            <a:p>
              <a:pPr algn="l">
                <a:lnSpc>
                  <a:spcPts val="2400"/>
                </a:lnSpc>
              </a:pPr>
              <a:r>
                <a:rPr lang="en-US" sz="2000">
                  <a:solidFill>
                    <a:srgbClr val="FFFFFF"/>
                  </a:solidFill>
                  <a:latin typeface="Calibri (MS)"/>
                  <a:ea typeface="Calibri (MS)"/>
                  <a:cs typeface="Calibri (MS)"/>
                  <a:sym typeface="Calibri (MS)"/>
                </a:rPr>
                <a:t>Condición bifurcada</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E2235"/>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16891" y="16891"/>
              <a:ext cx="24383999" cy="1755648"/>
            </a:xfrm>
            <a:custGeom>
              <a:avLst/>
              <a:gdLst/>
              <a:ahLst/>
              <a:cxnLst/>
              <a:rect l="l" t="t" r="r" b="b"/>
              <a:pathLst>
                <a:path w="24383999" h="1755648">
                  <a:moveTo>
                    <a:pt x="0" y="0"/>
                  </a:moveTo>
                  <a:lnTo>
                    <a:pt x="24383999" y="0"/>
                  </a:lnTo>
                  <a:lnTo>
                    <a:pt x="24383999" y="1755648"/>
                  </a:lnTo>
                  <a:lnTo>
                    <a:pt x="0" y="1755648"/>
                  </a:lnTo>
                  <a:close/>
                </a:path>
              </a:pathLst>
            </a:custGeom>
            <a:solidFill>
              <a:srgbClr val="161929"/>
            </a:solidFill>
          </p:spPr>
          <p:txBody>
            <a:bodyPr/>
            <a:lstStyle/>
            <a:p>
              <a:endParaRPr lang="es-GT"/>
            </a:p>
          </p:txBody>
        </p:sp>
        <p:sp>
          <p:nvSpPr>
            <p:cNvPr id="4" name="Freeform 4"/>
            <p:cNvSpPr/>
            <p:nvPr/>
          </p:nvSpPr>
          <p:spPr>
            <a:xfrm>
              <a:off x="0" y="0"/>
              <a:ext cx="24417782" cy="1789430"/>
            </a:xfrm>
            <a:custGeom>
              <a:avLst/>
              <a:gdLst/>
              <a:ahLst/>
              <a:cxnLst/>
              <a:rect l="l" t="t" r="r" b="b"/>
              <a:pathLst>
                <a:path w="24417782" h="1789430">
                  <a:moveTo>
                    <a:pt x="16891" y="0"/>
                  </a:moveTo>
                  <a:lnTo>
                    <a:pt x="24400890" y="0"/>
                  </a:lnTo>
                  <a:cubicBezTo>
                    <a:pt x="24410290" y="0"/>
                    <a:pt x="24417782" y="7620"/>
                    <a:pt x="24417782" y="16891"/>
                  </a:cubicBezTo>
                  <a:lnTo>
                    <a:pt x="24417782" y="1772539"/>
                  </a:lnTo>
                  <a:cubicBezTo>
                    <a:pt x="24417782" y="1781937"/>
                    <a:pt x="24410163" y="1789430"/>
                    <a:pt x="24400890"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24400890" y="1755648"/>
                  </a:lnTo>
                  <a:lnTo>
                    <a:pt x="24400890" y="1772539"/>
                  </a:lnTo>
                  <a:lnTo>
                    <a:pt x="24384000" y="1772539"/>
                  </a:lnTo>
                  <a:lnTo>
                    <a:pt x="24384000" y="16891"/>
                  </a:lnTo>
                  <a:lnTo>
                    <a:pt x="24400890" y="16891"/>
                  </a:lnTo>
                  <a:lnTo>
                    <a:pt x="24400890" y="33909"/>
                  </a:lnTo>
                  <a:lnTo>
                    <a:pt x="16891" y="33909"/>
                  </a:lnTo>
                  <a:close/>
                </a:path>
              </a:pathLst>
            </a:custGeom>
            <a:solidFill>
              <a:srgbClr val="161929"/>
            </a:solidFill>
          </p:spPr>
          <p:txBody>
            <a:bodyPr/>
            <a:lstStyle/>
            <a:p>
              <a:endParaRPr lang="es-GT"/>
            </a:p>
          </p:txBody>
        </p:sp>
      </p:grpSp>
      <p:grpSp>
        <p:nvGrpSpPr>
          <p:cNvPr id="5" name="Group 5"/>
          <p:cNvGrpSpPr/>
          <p:nvPr/>
        </p:nvGrpSpPr>
        <p:grpSpPr>
          <a:xfrm>
            <a:off x="-12697" y="1304039"/>
            <a:ext cx="18313403" cy="98555"/>
            <a:chOff x="0" y="0"/>
            <a:chExt cx="24417871" cy="131407"/>
          </a:xfrm>
        </p:grpSpPr>
        <p:sp>
          <p:nvSpPr>
            <p:cNvPr id="6" name="Freeform 6"/>
            <p:cNvSpPr/>
            <p:nvPr/>
          </p:nvSpPr>
          <p:spPr>
            <a:xfrm>
              <a:off x="16891" y="16891"/>
              <a:ext cx="24383999" cy="97536"/>
            </a:xfrm>
            <a:custGeom>
              <a:avLst/>
              <a:gdLst/>
              <a:ahLst/>
              <a:cxnLst/>
              <a:rect l="l" t="t" r="r" b="b"/>
              <a:pathLst>
                <a:path w="24383999" h="97536">
                  <a:moveTo>
                    <a:pt x="0" y="0"/>
                  </a:moveTo>
                  <a:lnTo>
                    <a:pt x="24383999" y="0"/>
                  </a:lnTo>
                  <a:lnTo>
                    <a:pt x="24383999" y="97536"/>
                  </a:lnTo>
                  <a:lnTo>
                    <a:pt x="0" y="97536"/>
                  </a:lnTo>
                  <a:close/>
                </a:path>
              </a:pathLst>
            </a:custGeom>
            <a:solidFill>
              <a:srgbClr val="5B8CFF"/>
            </a:solidFill>
          </p:spPr>
          <p:txBody>
            <a:bodyPr/>
            <a:lstStyle/>
            <a:p>
              <a:endParaRPr lang="es-GT"/>
            </a:p>
          </p:txBody>
        </p:sp>
        <p:sp>
          <p:nvSpPr>
            <p:cNvPr id="7" name="Freeform 7"/>
            <p:cNvSpPr/>
            <p:nvPr/>
          </p:nvSpPr>
          <p:spPr>
            <a:xfrm>
              <a:off x="0" y="0"/>
              <a:ext cx="24417782" cy="131320"/>
            </a:xfrm>
            <a:custGeom>
              <a:avLst/>
              <a:gdLst/>
              <a:ahLst/>
              <a:cxnLst/>
              <a:rect l="l" t="t" r="r" b="b"/>
              <a:pathLst>
                <a:path w="24417782" h="131320">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5B8CFF"/>
            </a:solidFill>
          </p:spPr>
          <p:txBody>
            <a:bodyPr/>
            <a:lstStyle/>
            <a:p>
              <a:endParaRPr lang="es-GT"/>
            </a:p>
          </p:txBody>
        </p:sp>
      </p:grpSp>
      <p:grpSp>
        <p:nvGrpSpPr>
          <p:cNvPr id="8" name="Group 8"/>
          <p:cNvGrpSpPr/>
          <p:nvPr/>
        </p:nvGrpSpPr>
        <p:grpSpPr>
          <a:xfrm>
            <a:off x="822960" y="0"/>
            <a:ext cx="16642080" cy="1316736"/>
            <a:chOff x="0" y="0"/>
            <a:chExt cx="22189440" cy="1755648"/>
          </a:xfrm>
        </p:grpSpPr>
        <p:sp>
          <p:nvSpPr>
            <p:cNvPr id="9" name="Freeform 9"/>
            <p:cNvSpPr/>
            <p:nvPr/>
          </p:nvSpPr>
          <p:spPr>
            <a:xfrm>
              <a:off x="0" y="0"/>
              <a:ext cx="22189439" cy="1755648"/>
            </a:xfrm>
            <a:custGeom>
              <a:avLst/>
              <a:gdLst/>
              <a:ahLst/>
              <a:cxnLst/>
              <a:rect l="l" t="t" r="r" b="b"/>
              <a:pathLst>
                <a:path w="22189439" h="1755648">
                  <a:moveTo>
                    <a:pt x="0" y="0"/>
                  </a:moveTo>
                  <a:lnTo>
                    <a:pt x="22189439" y="0"/>
                  </a:lnTo>
                  <a:lnTo>
                    <a:pt x="22189439" y="1755648"/>
                  </a:lnTo>
                  <a:lnTo>
                    <a:pt x="0" y="1755648"/>
                  </a:lnTo>
                  <a:close/>
                </a:path>
              </a:pathLst>
            </a:custGeom>
            <a:blipFill>
              <a:blip r:embed="rId3">
                <a:alphaModFix amt="0"/>
              </a:blip>
              <a:stretch>
                <a:fillRect t="-196269" b="-196269"/>
              </a:stretch>
            </a:blipFill>
          </p:spPr>
          <p:txBody>
            <a:bodyPr/>
            <a:lstStyle/>
            <a:p>
              <a:endParaRPr lang="es-GT"/>
            </a:p>
          </p:txBody>
        </p:sp>
        <p:sp>
          <p:nvSpPr>
            <p:cNvPr id="10" name="TextBox 10"/>
            <p:cNvSpPr txBox="1"/>
            <p:nvPr/>
          </p:nvSpPr>
          <p:spPr>
            <a:xfrm>
              <a:off x="0" y="-76200"/>
              <a:ext cx="22189440" cy="1831848"/>
            </a:xfrm>
            <a:prstGeom prst="rect">
              <a:avLst/>
            </a:prstGeom>
          </p:spPr>
          <p:txBody>
            <a:bodyPr lIns="0" tIns="0" rIns="0" bIns="0" rtlCol="0" anchor="ctr"/>
            <a:lstStyle/>
            <a:p>
              <a:pPr algn="l">
                <a:lnSpc>
                  <a:spcPts val="5280"/>
                </a:lnSpc>
              </a:pPr>
              <a:r>
                <a:rPr lang="en-US" sz="4400" b="1">
                  <a:solidFill>
                    <a:srgbClr val="FFFFFF"/>
                  </a:solidFill>
                  <a:latin typeface="Calibri (MS) Bold"/>
                  <a:ea typeface="Calibri (MS) Bold"/>
                  <a:cs typeface="Calibri (MS) Bold"/>
                  <a:sym typeface="Calibri (MS) Bold"/>
                </a:rPr>
                <a:t>Nivel formal – Pseudocódigo</a:t>
              </a:r>
            </a:p>
          </p:txBody>
        </p:sp>
      </p:grpSp>
      <p:grpSp>
        <p:nvGrpSpPr>
          <p:cNvPr id="11" name="Group 11"/>
          <p:cNvGrpSpPr/>
          <p:nvPr/>
        </p:nvGrpSpPr>
        <p:grpSpPr>
          <a:xfrm>
            <a:off x="-12697" y="9954263"/>
            <a:ext cx="18313403" cy="345443"/>
            <a:chOff x="0" y="0"/>
            <a:chExt cx="24417871" cy="460591"/>
          </a:xfrm>
        </p:grpSpPr>
        <p:sp>
          <p:nvSpPr>
            <p:cNvPr id="12" name="Freeform 12"/>
            <p:cNvSpPr/>
            <p:nvPr/>
          </p:nvSpPr>
          <p:spPr>
            <a:xfrm>
              <a:off x="16891" y="16891"/>
              <a:ext cx="24383999" cy="426720"/>
            </a:xfrm>
            <a:custGeom>
              <a:avLst/>
              <a:gdLst/>
              <a:ahLst/>
              <a:cxnLst/>
              <a:rect l="l" t="t" r="r" b="b"/>
              <a:pathLst>
                <a:path w="24383999" h="426720">
                  <a:moveTo>
                    <a:pt x="0" y="0"/>
                  </a:moveTo>
                  <a:lnTo>
                    <a:pt x="24383999" y="0"/>
                  </a:lnTo>
                  <a:lnTo>
                    <a:pt x="24383999" y="426720"/>
                  </a:lnTo>
                  <a:lnTo>
                    <a:pt x="0" y="426720"/>
                  </a:lnTo>
                  <a:close/>
                </a:path>
              </a:pathLst>
            </a:custGeom>
            <a:solidFill>
              <a:srgbClr val="12152A"/>
            </a:solidFill>
          </p:spPr>
          <p:txBody>
            <a:bodyPr/>
            <a:lstStyle/>
            <a:p>
              <a:endParaRPr lang="es-GT"/>
            </a:p>
          </p:txBody>
        </p:sp>
        <p:sp>
          <p:nvSpPr>
            <p:cNvPr id="13" name="Freeform 13"/>
            <p:cNvSpPr/>
            <p:nvPr/>
          </p:nvSpPr>
          <p:spPr>
            <a:xfrm>
              <a:off x="0" y="0"/>
              <a:ext cx="24417782" cy="460504"/>
            </a:xfrm>
            <a:custGeom>
              <a:avLst/>
              <a:gdLst/>
              <a:ahLst/>
              <a:cxnLst/>
              <a:rect l="l" t="t" r="r" b="b"/>
              <a:pathLst>
                <a:path w="24417782" h="460504">
                  <a:moveTo>
                    <a:pt x="16891" y="0"/>
                  </a:moveTo>
                  <a:lnTo>
                    <a:pt x="24400890" y="0"/>
                  </a:lnTo>
                  <a:cubicBezTo>
                    <a:pt x="24410290" y="0"/>
                    <a:pt x="24417782" y="7620"/>
                    <a:pt x="24417782" y="16891"/>
                  </a:cubicBezTo>
                  <a:lnTo>
                    <a:pt x="24417782" y="443611"/>
                  </a:lnTo>
                  <a:cubicBezTo>
                    <a:pt x="24417782" y="453009"/>
                    <a:pt x="24410163" y="460502"/>
                    <a:pt x="24400890" y="460502"/>
                  </a:cubicBezTo>
                  <a:lnTo>
                    <a:pt x="16891" y="460502"/>
                  </a:lnTo>
                  <a:cubicBezTo>
                    <a:pt x="7620" y="460629"/>
                    <a:pt x="0" y="453009"/>
                    <a:pt x="0" y="443611"/>
                  </a:cubicBezTo>
                  <a:lnTo>
                    <a:pt x="0" y="16891"/>
                  </a:lnTo>
                  <a:cubicBezTo>
                    <a:pt x="0" y="7620"/>
                    <a:pt x="7620" y="0"/>
                    <a:pt x="16891" y="0"/>
                  </a:cubicBezTo>
                  <a:moveTo>
                    <a:pt x="16891" y="33909"/>
                  </a:moveTo>
                  <a:lnTo>
                    <a:pt x="16891" y="16891"/>
                  </a:lnTo>
                  <a:lnTo>
                    <a:pt x="33909" y="16891"/>
                  </a:lnTo>
                  <a:lnTo>
                    <a:pt x="33909" y="443611"/>
                  </a:lnTo>
                  <a:lnTo>
                    <a:pt x="16891" y="443611"/>
                  </a:lnTo>
                  <a:lnTo>
                    <a:pt x="16891" y="426720"/>
                  </a:lnTo>
                  <a:lnTo>
                    <a:pt x="24400890" y="426720"/>
                  </a:lnTo>
                  <a:lnTo>
                    <a:pt x="24400890" y="443611"/>
                  </a:lnTo>
                  <a:lnTo>
                    <a:pt x="24384000" y="443611"/>
                  </a:lnTo>
                  <a:lnTo>
                    <a:pt x="24384000" y="16891"/>
                  </a:lnTo>
                  <a:lnTo>
                    <a:pt x="24400890" y="16891"/>
                  </a:lnTo>
                  <a:lnTo>
                    <a:pt x="24400890" y="33909"/>
                  </a:lnTo>
                  <a:lnTo>
                    <a:pt x="16891" y="33909"/>
                  </a:lnTo>
                  <a:close/>
                </a:path>
              </a:pathLst>
            </a:custGeom>
            <a:solidFill>
              <a:srgbClr val="12152A"/>
            </a:solidFill>
          </p:spPr>
          <p:txBody>
            <a:bodyPr/>
            <a:lstStyle/>
            <a:p>
              <a:endParaRPr lang="es-GT"/>
            </a:p>
          </p:txBody>
        </p:sp>
      </p:grpSp>
      <p:grpSp>
        <p:nvGrpSpPr>
          <p:cNvPr id="14" name="Group 14"/>
          <p:cNvGrpSpPr/>
          <p:nvPr/>
        </p:nvGrpSpPr>
        <p:grpSpPr>
          <a:xfrm>
            <a:off x="17007840" y="9966960"/>
            <a:ext cx="914400" cy="320040"/>
            <a:chOff x="0" y="0"/>
            <a:chExt cx="1219200" cy="426720"/>
          </a:xfrm>
        </p:grpSpPr>
        <p:sp>
          <p:nvSpPr>
            <p:cNvPr id="15" name="Freeform 15"/>
            <p:cNvSpPr/>
            <p:nvPr/>
          </p:nvSpPr>
          <p:spPr>
            <a:xfrm>
              <a:off x="0" y="0"/>
              <a:ext cx="1219200" cy="426720"/>
            </a:xfrm>
            <a:custGeom>
              <a:avLst/>
              <a:gdLst/>
              <a:ahLst/>
              <a:cxnLst/>
              <a:rect l="l" t="t" r="r" b="b"/>
              <a:pathLst>
                <a:path w="1219200" h="426720">
                  <a:moveTo>
                    <a:pt x="0" y="0"/>
                  </a:moveTo>
                  <a:lnTo>
                    <a:pt x="1219200" y="0"/>
                  </a:lnTo>
                  <a:lnTo>
                    <a:pt x="1219200" y="426720"/>
                  </a:lnTo>
                  <a:lnTo>
                    <a:pt x="0" y="426720"/>
                  </a:lnTo>
                  <a:close/>
                </a:path>
              </a:pathLst>
            </a:custGeom>
            <a:blipFill>
              <a:blip r:embed="rId3">
                <a:alphaModFix amt="0"/>
              </a:blip>
              <a:stretch>
                <a:fillRect t="-5671" b="-5671"/>
              </a:stretch>
            </a:blipFill>
          </p:spPr>
          <p:txBody>
            <a:bodyPr/>
            <a:lstStyle/>
            <a:p>
              <a:endParaRPr lang="es-GT"/>
            </a:p>
          </p:txBody>
        </p:sp>
        <p:sp>
          <p:nvSpPr>
            <p:cNvPr id="16" name="TextBox 16"/>
            <p:cNvSpPr txBox="1"/>
            <p:nvPr/>
          </p:nvSpPr>
          <p:spPr>
            <a:xfrm>
              <a:off x="0" y="-38100"/>
              <a:ext cx="1219200" cy="464820"/>
            </a:xfrm>
            <a:prstGeom prst="rect">
              <a:avLst/>
            </a:prstGeom>
          </p:spPr>
          <p:txBody>
            <a:bodyPr lIns="0" tIns="0" rIns="0" bIns="0" rtlCol="0" anchor="ctr"/>
            <a:lstStyle/>
            <a:p>
              <a:pPr algn="r">
                <a:lnSpc>
                  <a:spcPts val="1800"/>
                </a:lnSpc>
              </a:pPr>
              <a:r>
                <a:rPr lang="en-US" sz="1500">
                  <a:solidFill>
                    <a:srgbClr val="6E7A9F"/>
                  </a:solidFill>
                  <a:latin typeface="Calibri (MS)"/>
                  <a:ea typeface="Calibri (MS)"/>
                  <a:cs typeface="Calibri (MS)"/>
                  <a:sym typeface="Calibri (MS)"/>
                </a:rPr>
                <a:t>14</a:t>
              </a:r>
            </a:p>
          </p:txBody>
        </p:sp>
      </p:grpSp>
      <p:grpSp>
        <p:nvGrpSpPr>
          <p:cNvPr id="17" name="Group 17"/>
          <p:cNvGrpSpPr/>
          <p:nvPr/>
        </p:nvGrpSpPr>
        <p:grpSpPr>
          <a:xfrm>
            <a:off x="731520" y="1554480"/>
            <a:ext cx="16824960" cy="731520"/>
            <a:chOff x="0" y="0"/>
            <a:chExt cx="22433280" cy="975360"/>
          </a:xfrm>
        </p:grpSpPr>
        <p:sp>
          <p:nvSpPr>
            <p:cNvPr id="18" name="Freeform 18"/>
            <p:cNvSpPr/>
            <p:nvPr/>
          </p:nvSpPr>
          <p:spPr>
            <a:xfrm>
              <a:off x="0" y="0"/>
              <a:ext cx="22433280" cy="975360"/>
            </a:xfrm>
            <a:custGeom>
              <a:avLst/>
              <a:gdLst/>
              <a:ahLst/>
              <a:cxnLst/>
              <a:rect l="l" t="t" r="r" b="b"/>
              <a:pathLst>
                <a:path w="22433280" h="975360">
                  <a:moveTo>
                    <a:pt x="0" y="0"/>
                  </a:moveTo>
                  <a:lnTo>
                    <a:pt x="22433280" y="0"/>
                  </a:lnTo>
                  <a:lnTo>
                    <a:pt x="22433280" y="975360"/>
                  </a:lnTo>
                  <a:lnTo>
                    <a:pt x="0" y="975360"/>
                  </a:lnTo>
                  <a:close/>
                </a:path>
              </a:pathLst>
            </a:custGeom>
            <a:blipFill>
              <a:blip r:embed="rId3">
                <a:alphaModFix amt="0"/>
              </a:blip>
              <a:stretch>
                <a:fillRect t="-398155" b="-398155"/>
              </a:stretch>
            </a:blipFill>
          </p:spPr>
          <p:txBody>
            <a:bodyPr/>
            <a:lstStyle/>
            <a:p>
              <a:endParaRPr lang="es-GT"/>
            </a:p>
          </p:txBody>
        </p:sp>
        <p:sp>
          <p:nvSpPr>
            <p:cNvPr id="19" name="TextBox 19"/>
            <p:cNvSpPr txBox="1"/>
            <p:nvPr/>
          </p:nvSpPr>
          <p:spPr>
            <a:xfrm>
              <a:off x="0" y="-47625"/>
              <a:ext cx="22433280" cy="1022985"/>
            </a:xfrm>
            <a:prstGeom prst="rect">
              <a:avLst/>
            </a:prstGeom>
          </p:spPr>
          <p:txBody>
            <a:bodyPr lIns="0" tIns="0" rIns="0" bIns="0" rtlCol="0" anchor="ctr"/>
            <a:lstStyle/>
            <a:p>
              <a:pPr algn="l">
                <a:lnSpc>
                  <a:spcPts val="2520"/>
                </a:lnSpc>
              </a:pPr>
              <a:r>
                <a:rPr lang="en-US" sz="2100">
                  <a:solidFill>
                    <a:srgbClr val="B0B8CC"/>
                  </a:solidFill>
                  <a:latin typeface="Calibri (MS)"/>
                  <a:ea typeface="Calibri (MS)"/>
                  <a:cs typeface="Calibri (MS)"/>
                  <a:sym typeface="Calibri (MS)"/>
                </a:rPr>
                <a:t>El pseudocódigo combina la legibilidad del lenguaje natural con la estructura formal de un lenguaje de programación. No depende de ningún compilador ni sintaxis específica.</a:t>
              </a:r>
            </a:p>
          </p:txBody>
        </p:sp>
      </p:grpSp>
      <p:grpSp>
        <p:nvGrpSpPr>
          <p:cNvPr id="20" name="Group 20"/>
          <p:cNvGrpSpPr/>
          <p:nvPr/>
        </p:nvGrpSpPr>
        <p:grpSpPr>
          <a:xfrm>
            <a:off x="718823" y="2511047"/>
            <a:ext cx="9718043" cy="7249163"/>
            <a:chOff x="0" y="0"/>
            <a:chExt cx="12957391" cy="9665551"/>
          </a:xfrm>
        </p:grpSpPr>
        <p:sp>
          <p:nvSpPr>
            <p:cNvPr id="21" name="Freeform 21"/>
            <p:cNvSpPr/>
            <p:nvPr/>
          </p:nvSpPr>
          <p:spPr>
            <a:xfrm>
              <a:off x="16891" y="16891"/>
              <a:ext cx="12923520" cy="9631681"/>
            </a:xfrm>
            <a:custGeom>
              <a:avLst/>
              <a:gdLst/>
              <a:ahLst/>
              <a:cxnLst/>
              <a:rect l="l" t="t" r="r" b="b"/>
              <a:pathLst>
                <a:path w="12923520" h="9631681">
                  <a:moveTo>
                    <a:pt x="0" y="0"/>
                  </a:moveTo>
                  <a:lnTo>
                    <a:pt x="12923520" y="0"/>
                  </a:lnTo>
                  <a:lnTo>
                    <a:pt x="12923520" y="9631681"/>
                  </a:lnTo>
                  <a:lnTo>
                    <a:pt x="0" y="9631681"/>
                  </a:lnTo>
                  <a:close/>
                </a:path>
              </a:pathLst>
            </a:custGeom>
            <a:solidFill>
              <a:srgbClr val="0D1020"/>
            </a:solidFill>
          </p:spPr>
          <p:txBody>
            <a:bodyPr/>
            <a:lstStyle/>
            <a:p>
              <a:endParaRPr lang="es-GT"/>
            </a:p>
          </p:txBody>
        </p:sp>
        <p:sp>
          <p:nvSpPr>
            <p:cNvPr id="22" name="Freeform 22"/>
            <p:cNvSpPr/>
            <p:nvPr/>
          </p:nvSpPr>
          <p:spPr>
            <a:xfrm>
              <a:off x="0" y="0"/>
              <a:ext cx="12957302" cy="9665462"/>
            </a:xfrm>
            <a:custGeom>
              <a:avLst/>
              <a:gdLst/>
              <a:ahLst/>
              <a:cxnLst/>
              <a:rect l="l" t="t" r="r" b="b"/>
              <a:pathLst>
                <a:path w="12957302" h="9665462">
                  <a:moveTo>
                    <a:pt x="16891" y="0"/>
                  </a:moveTo>
                  <a:lnTo>
                    <a:pt x="12940411" y="0"/>
                  </a:lnTo>
                  <a:cubicBezTo>
                    <a:pt x="12949809" y="0"/>
                    <a:pt x="12957302" y="7620"/>
                    <a:pt x="12957302" y="16891"/>
                  </a:cubicBezTo>
                  <a:lnTo>
                    <a:pt x="12957302" y="9648572"/>
                  </a:lnTo>
                  <a:cubicBezTo>
                    <a:pt x="12957302" y="9657969"/>
                    <a:pt x="12949682" y="9665462"/>
                    <a:pt x="12940411" y="9665462"/>
                  </a:cubicBezTo>
                  <a:lnTo>
                    <a:pt x="16891" y="9665462"/>
                  </a:lnTo>
                  <a:cubicBezTo>
                    <a:pt x="7493" y="9665462"/>
                    <a:pt x="0" y="9657842"/>
                    <a:pt x="0" y="9648572"/>
                  </a:cubicBezTo>
                  <a:lnTo>
                    <a:pt x="0" y="16891"/>
                  </a:lnTo>
                  <a:cubicBezTo>
                    <a:pt x="0" y="7620"/>
                    <a:pt x="7620" y="0"/>
                    <a:pt x="16891" y="0"/>
                  </a:cubicBezTo>
                  <a:moveTo>
                    <a:pt x="16891" y="33909"/>
                  </a:moveTo>
                  <a:lnTo>
                    <a:pt x="16891" y="16891"/>
                  </a:lnTo>
                  <a:lnTo>
                    <a:pt x="33909" y="16891"/>
                  </a:lnTo>
                  <a:lnTo>
                    <a:pt x="33909" y="9648572"/>
                  </a:lnTo>
                  <a:lnTo>
                    <a:pt x="16891" y="9648572"/>
                  </a:lnTo>
                  <a:lnTo>
                    <a:pt x="16891" y="9631680"/>
                  </a:lnTo>
                  <a:lnTo>
                    <a:pt x="12940411" y="9631680"/>
                  </a:lnTo>
                  <a:lnTo>
                    <a:pt x="12940411" y="9648572"/>
                  </a:lnTo>
                  <a:lnTo>
                    <a:pt x="12923520" y="9648572"/>
                  </a:lnTo>
                  <a:lnTo>
                    <a:pt x="12923520" y="16891"/>
                  </a:lnTo>
                  <a:lnTo>
                    <a:pt x="12940411" y="16891"/>
                  </a:lnTo>
                  <a:lnTo>
                    <a:pt x="12940411" y="33909"/>
                  </a:lnTo>
                  <a:lnTo>
                    <a:pt x="16891" y="33909"/>
                  </a:lnTo>
                  <a:close/>
                </a:path>
              </a:pathLst>
            </a:custGeom>
            <a:solidFill>
              <a:srgbClr val="3A4160"/>
            </a:solidFill>
          </p:spPr>
          <p:txBody>
            <a:bodyPr/>
            <a:lstStyle/>
            <a:p>
              <a:endParaRPr lang="es-GT"/>
            </a:p>
          </p:txBody>
        </p:sp>
      </p:grpSp>
      <p:grpSp>
        <p:nvGrpSpPr>
          <p:cNvPr id="23" name="Group 23"/>
          <p:cNvGrpSpPr/>
          <p:nvPr/>
        </p:nvGrpSpPr>
        <p:grpSpPr>
          <a:xfrm>
            <a:off x="1005840" y="2651760"/>
            <a:ext cx="9144000" cy="548640"/>
            <a:chOff x="0" y="0"/>
            <a:chExt cx="12192000" cy="731520"/>
          </a:xfrm>
        </p:grpSpPr>
        <p:sp>
          <p:nvSpPr>
            <p:cNvPr id="24" name="Freeform 24"/>
            <p:cNvSpPr/>
            <p:nvPr/>
          </p:nvSpPr>
          <p:spPr>
            <a:xfrm>
              <a:off x="0" y="0"/>
              <a:ext cx="12192000" cy="731520"/>
            </a:xfrm>
            <a:custGeom>
              <a:avLst/>
              <a:gdLst/>
              <a:ahLst/>
              <a:cxnLst/>
              <a:rect l="l" t="t" r="r" b="b"/>
              <a:pathLst>
                <a:path w="12192000" h="731520">
                  <a:moveTo>
                    <a:pt x="0" y="0"/>
                  </a:moveTo>
                  <a:lnTo>
                    <a:pt x="12192000" y="0"/>
                  </a:lnTo>
                  <a:lnTo>
                    <a:pt x="12192000" y="731520"/>
                  </a:lnTo>
                  <a:lnTo>
                    <a:pt x="0" y="731520"/>
                  </a:lnTo>
                  <a:close/>
                </a:path>
              </a:pathLst>
            </a:custGeom>
            <a:blipFill>
              <a:blip r:embed="rId3">
                <a:alphaModFix amt="0"/>
              </a:blip>
              <a:stretch>
                <a:fillRect t="-274750" b="-274750"/>
              </a:stretch>
            </a:blipFill>
          </p:spPr>
          <p:txBody>
            <a:bodyPr/>
            <a:lstStyle/>
            <a:p>
              <a:endParaRPr lang="es-GT"/>
            </a:p>
          </p:txBody>
        </p:sp>
        <p:sp>
          <p:nvSpPr>
            <p:cNvPr id="25" name="TextBox 25"/>
            <p:cNvSpPr txBox="1"/>
            <p:nvPr/>
          </p:nvSpPr>
          <p:spPr>
            <a:xfrm>
              <a:off x="0" y="-38100"/>
              <a:ext cx="12192000" cy="769620"/>
            </a:xfrm>
            <a:prstGeom prst="rect">
              <a:avLst/>
            </a:prstGeom>
          </p:spPr>
          <p:txBody>
            <a:bodyPr lIns="0" tIns="0" rIns="0" bIns="0" rtlCol="0" anchor="ctr"/>
            <a:lstStyle/>
            <a:p>
              <a:pPr algn="l">
                <a:lnSpc>
                  <a:spcPts val="2280"/>
                </a:lnSpc>
              </a:pPr>
              <a:r>
                <a:rPr lang="en-US" sz="1900" b="1">
                  <a:solidFill>
                    <a:srgbClr val="5B8CFF"/>
                  </a:solidFill>
                  <a:latin typeface="Consolas Bold"/>
                  <a:ea typeface="Consolas Bold"/>
                  <a:cs typeface="Consolas Bold"/>
                  <a:sym typeface="Consolas Bold"/>
                </a:rPr>
                <a:t>Pseudocódigo: Número par o impar</a:t>
              </a:r>
            </a:p>
          </p:txBody>
        </p:sp>
      </p:grpSp>
      <p:grpSp>
        <p:nvGrpSpPr>
          <p:cNvPr id="26" name="Group 26"/>
          <p:cNvGrpSpPr/>
          <p:nvPr/>
        </p:nvGrpSpPr>
        <p:grpSpPr>
          <a:xfrm>
            <a:off x="718823" y="3242567"/>
            <a:ext cx="9718043" cy="61979"/>
            <a:chOff x="0" y="0"/>
            <a:chExt cx="12957391" cy="82639"/>
          </a:xfrm>
        </p:grpSpPr>
        <p:sp>
          <p:nvSpPr>
            <p:cNvPr id="27" name="Freeform 27"/>
            <p:cNvSpPr/>
            <p:nvPr/>
          </p:nvSpPr>
          <p:spPr>
            <a:xfrm>
              <a:off x="16891" y="16891"/>
              <a:ext cx="12923520" cy="48768"/>
            </a:xfrm>
            <a:custGeom>
              <a:avLst/>
              <a:gdLst/>
              <a:ahLst/>
              <a:cxnLst/>
              <a:rect l="l" t="t" r="r" b="b"/>
              <a:pathLst>
                <a:path w="12923520" h="48768">
                  <a:moveTo>
                    <a:pt x="0" y="0"/>
                  </a:moveTo>
                  <a:lnTo>
                    <a:pt x="12923520" y="0"/>
                  </a:lnTo>
                  <a:lnTo>
                    <a:pt x="12923520" y="48768"/>
                  </a:lnTo>
                  <a:lnTo>
                    <a:pt x="0" y="48768"/>
                  </a:lnTo>
                  <a:close/>
                </a:path>
              </a:pathLst>
            </a:custGeom>
            <a:solidFill>
              <a:srgbClr val="3A4160"/>
            </a:solidFill>
          </p:spPr>
          <p:txBody>
            <a:bodyPr/>
            <a:lstStyle/>
            <a:p>
              <a:endParaRPr lang="es-GT"/>
            </a:p>
          </p:txBody>
        </p:sp>
        <p:sp>
          <p:nvSpPr>
            <p:cNvPr id="28" name="Freeform 28"/>
            <p:cNvSpPr/>
            <p:nvPr/>
          </p:nvSpPr>
          <p:spPr>
            <a:xfrm>
              <a:off x="0" y="0"/>
              <a:ext cx="12957302" cy="82552"/>
            </a:xfrm>
            <a:custGeom>
              <a:avLst/>
              <a:gdLst/>
              <a:ahLst/>
              <a:cxnLst/>
              <a:rect l="l" t="t" r="r" b="b"/>
              <a:pathLst>
                <a:path w="12957302" h="82552">
                  <a:moveTo>
                    <a:pt x="16891" y="0"/>
                  </a:moveTo>
                  <a:lnTo>
                    <a:pt x="12940411" y="0"/>
                  </a:lnTo>
                  <a:cubicBezTo>
                    <a:pt x="12949809" y="0"/>
                    <a:pt x="12957302" y="7620"/>
                    <a:pt x="12957302" y="16891"/>
                  </a:cubicBezTo>
                  <a:lnTo>
                    <a:pt x="12957302" y="65659"/>
                  </a:lnTo>
                  <a:cubicBezTo>
                    <a:pt x="12957302" y="75057"/>
                    <a:pt x="12949682" y="82550"/>
                    <a:pt x="12940411" y="82550"/>
                  </a:cubicBezTo>
                  <a:lnTo>
                    <a:pt x="16891" y="82550"/>
                  </a:lnTo>
                  <a:cubicBezTo>
                    <a:pt x="7620" y="82677"/>
                    <a:pt x="0" y="75057"/>
                    <a:pt x="0" y="65659"/>
                  </a:cubicBezTo>
                  <a:lnTo>
                    <a:pt x="0" y="16891"/>
                  </a:lnTo>
                  <a:cubicBezTo>
                    <a:pt x="0" y="7620"/>
                    <a:pt x="7620" y="0"/>
                    <a:pt x="16891" y="0"/>
                  </a:cubicBezTo>
                  <a:moveTo>
                    <a:pt x="16891" y="33909"/>
                  </a:moveTo>
                  <a:lnTo>
                    <a:pt x="16891" y="16891"/>
                  </a:lnTo>
                  <a:lnTo>
                    <a:pt x="33909" y="16891"/>
                  </a:lnTo>
                  <a:lnTo>
                    <a:pt x="33909" y="65659"/>
                  </a:lnTo>
                  <a:lnTo>
                    <a:pt x="16891" y="65659"/>
                  </a:lnTo>
                  <a:lnTo>
                    <a:pt x="16891" y="48768"/>
                  </a:lnTo>
                  <a:lnTo>
                    <a:pt x="12940411" y="48768"/>
                  </a:lnTo>
                  <a:lnTo>
                    <a:pt x="12940411" y="65659"/>
                  </a:lnTo>
                  <a:lnTo>
                    <a:pt x="12923520" y="65659"/>
                  </a:lnTo>
                  <a:lnTo>
                    <a:pt x="12923520" y="16891"/>
                  </a:lnTo>
                  <a:lnTo>
                    <a:pt x="12940411" y="16891"/>
                  </a:lnTo>
                  <a:lnTo>
                    <a:pt x="12940411" y="33909"/>
                  </a:lnTo>
                  <a:lnTo>
                    <a:pt x="16891" y="33909"/>
                  </a:lnTo>
                  <a:close/>
                </a:path>
              </a:pathLst>
            </a:custGeom>
            <a:solidFill>
              <a:srgbClr val="3A4160"/>
            </a:solidFill>
          </p:spPr>
          <p:txBody>
            <a:bodyPr/>
            <a:lstStyle/>
            <a:p>
              <a:endParaRPr lang="es-GT"/>
            </a:p>
          </p:txBody>
        </p:sp>
      </p:grpSp>
      <p:grpSp>
        <p:nvGrpSpPr>
          <p:cNvPr id="29" name="Group 29"/>
          <p:cNvGrpSpPr/>
          <p:nvPr/>
        </p:nvGrpSpPr>
        <p:grpSpPr>
          <a:xfrm>
            <a:off x="1005840" y="3438144"/>
            <a:ext cx="9144000" cy="402336"/>
            <a:chOff x="0" y="0"/>
            <a:chExt cx="12192000" cy="536448"/>
          </a:xfrm>
        </p:grpSpPr>
        <p:sp>
          <p:nvSpPr>
            <p:cNvPr id="30" name="Freeform 30"/>
            <p:cNvSpPr/>
            <p:nvPr/>
          </p:nvSpPr>
          <p:spPr>
            <a:xfrm>
              <a:off x="0" y="0"/>
              <a:ext cx="12192000" cy="536448"/>
            </a:xfrm>
            <a:custGeom>
              <a:avLst/>
              <a:gdLst/>
              <a:ahLst/>
              <a:cxnLst/>
              <a:rect l="l" t="t" r="r" b="b"/>
              <a:pathLst>
                <a:path w="12192000" h="536448">
                  <a:moveTo>
                    <a:pt x="0" y="0"/>
                  </a:moveTo>
                  <a:lnTo>
                    <a:pt x="12192000" y="0"/>
                  </a:lnTo>
                  <a:lnTo>
                    <a:pt x="12192000" y="536448"/>
                  </a:lnTo>
                  <a:lnTo>
                    <a:pt x="0" y="536448"/>
                  </a:lnTo>
                  <a:close/>
                </a:path>
              </a:pathLst>
            </a:custGeom>
            <a:blipFill>
              <a:blip r:embed="rId3">
                <a:alphaModFix amt="0"/>
              </a:blip>
              <a:stretch>
                <a:fillRect t="-392841" b="-392841"/>
              </a:stretch>
            </a:blipFill>
          </p:spPr>
          <p:txBody>
            <a:bodyPr/>
            <a:lstStyle/>
            <a:p>
              <a:endParaRPr lang="es-GT"/>
            </a:p>
          </p:txBody>
        </p:sp>
        <p:sp>
          <p:nvSpPr>
            <p:cNvPr id="31" name="TextBox 31"/>
            <p:cNvSpPr txBox="1"/>
            <p:nvPr/>
          </p:nvSpPr>
          <p:spPr>
            <a:xfrm>
              <a:off x="0" y="-38100"/>
              <a:ext cx="12192000" cy="574548"/>
            </a:xfrm>
            <a:prstGeom prst="rect">
              <a:avLst/>
            </a:prstGeom>
          </p:spPr>
          <p:txBody>
            <a:bodyPr lIns="0" tIns="0" rIns="0" bIns="0" rtlCol="0" anchor="ctr"/>
            <a:lstStyle/>
            <a:p>
              <a:pPr algn="l">
                <a:lnSpc>
                  <a:spcPts val="2160"/>
                </a:lnSpc>
              </a:pPr>
              <a:r>
                <a:rPr lang="en-US" sz="1800">
                  <a:solidFill>
                    <a:srgbClr val="FFFFFF"/>
                  </a:solidFill>
                  <a:latin typeface="Consolas"/>
                  <a:ea typeface="Consolas"/>
                  <a:cs typeface="Consolas"/>
                  <a:sym typeface="Consolas"/>
                </a:rPr>
                <a:t>Algoritmo</a:t>
              </a:r>
            </a:p>
          </p:txBody>
        </p:sp>
      </p:grpSp>
      <p:grpSp>
        <p:nvGrpSpPr>
          <p:cNvPr id="32" name="Group 32"/>
          <p:cNvGrpSpPr/>
          <p:nvPr/>
        </p:nvGrpSpPr>
        <p:grpSpPr>
          <a:xfrm>
            <a:off x="1005840" y="3803904"/>
            <a:ext cx="9144000" cy="402336"/>
            <a:chOff x="0" y="0"/>
            <a:chExt cx="12192000" cy="536448"/>
          </a:xfrm>
        </p:grpSpPr>
        <p:sp>
          <p:nvSpPr>
            <p:cNvPr id="33" name="Freeform 33"/>
            <p:cNvSpPr/>
            <p:nvPr/>
          </p:nvSpPr>
          <p:spPr>
            <a:xfrm>
              <a:off x="0" y="0"/>
              <a:ext cx="12192000" cy="536448"/>
            </a:xfrm>
            <a:custGeom>
              <a:avLst/>
              <a:gdLst/>
              <a:ahLst/>
              <a:cxnLst/>
              <a:rect l="l" t="t" r="r" b="b"/>
              <a:pathLst>
                <a:path w="12192000" h="536448">
                  <a:moveTo>
                    <a:pt x="0" y="0"/>
                  </a:moveTo>
                  <a:lnTo>
                    <a:pt x="12192000" y="0"/>
                  </a:lnTo>
                  <a:lnTo>
                    <a:pt x="12192000" y="536448"/>
                  </a:lnTo>
                  <a:lnTo>
                    <a:pt x="0" y="536448"/>
                  </a:lnTo>
                  <a:close/>
                </a:path>
              </a:pathLst>
            </a:custGeom>
            <a:blipFill>
              <a:blip r:embed="rId3">
                <a:alphaModFix amt="0"/>
              </a:blip>
              <a:stretch>
                <a:fillRect t="-392841" b="-392841"/>
              </a:stretch>
            </a:blipFill>
          </p:spPr>
          <p:txBody>
            <a:bodyPr/>
            <a:lstStyle/>
            <a:p>
              <a:endParaRPr lang="es-GT"/>
            </a:p>
          </p:txBody>
        </p:sp>
        <p:sp>
          <p:nvSpPr>
            <p:cNvPr id="34" name="TextBox 34"/>
            <p:cNvSpPr txBox="1"/>
            <p:nvPr/>
          </p:nvSpPr>
          <p:spPr>
            <a:xfrm>
              <a:off x="0" y="-38100"/>
              <a:ext cx="12192000" cy="574548"/>
            </a:xfrm>
            <a:prstGeom prst="rect">
              <a:avLst/>
            </a:prstGeom>
          </p:spPr>
          <p:txBody>
            <a:bodyPr lIns="0" tIns="0" rIns="0" bIns="0" rtlCol="0" anchor="ctr"/>
            <a:lstStyle/>
            <a:p>
              <a:pPr algn="l">
                <a:lnSpc>
                  <a:spcPts val="2160"/>
                </a:lnSpc>
              </a:pPr>
              <a:r>
                <a:rPr lang="en-US" sz="1800">
                  <a:solidFill>
                    <a:srgbClr val="7EC8A4"/>
                  </a:solidFill>
                  <a:latin typeface="Consolas"/>
                  <a:ea typeface="Consolas"/>
                  <a:cs typeface="Consolas"/>
                  <a:sym typeface="Consolas"/>
                </a:rPr>
                <a:t>   ParOImpar</a:t>
              </a:r>
            </a:p>
          </p:txBody>
        </p:sp>
      </p:grpSp>
      <p:grpSp>
        <p:nvGrpSpPr>
          <p:cNvPr id="35" name="Group 35"/>
          <p:cNvGrpSpPr/>
          <p:nvPr/>
        </p:nvGrpSpPr>
        <p:grpSpPr>
          <a:xfrm>
            <a:off x="1005840" y="4535424"/>
            <a:ext cx="9144000" cy="402336"/>
            <a:chOff x="0" y="0"/>
            <a:chExt cx="12192000" cy="536448"/>
          </a:xfrm>
        </p:grpSpPr>
        <p:sp>
          <p:nvSpPr>
            <p:cNvPr id="36" name="Freeform 36"/>
            <p:cNvSpPr/>
            <p:nvPr/>
          </p:nvSpPr>
          <p:spPr>
            <a:xfrm>
              <a:off x="0" y="0"/>
              <a:ext cx="12192000" cy="536448"/>
            </a:xfrm>
            <a:custGeom>
              <a:avLst/>
              <a:gdLst/>
              <a:ahLst/>
              <a:cxnLst/>
              <a:rect l="l" t="t" r="r" b="b"/>
              <a:pathLst>
                <a:path w="12192000" h="536448">
                  <a:moveTo>
                    <a:pt x="0" y="0"/>
                  </a:moveTo>
                  <a:lnTo>
                    <a:pt x="12192000" y="0"/>
                  </a:lnTo>
                  <a:lnTo>
                    <a:pt x="12192000" y="536448"/>
                  </a:lnTo>
                  <a:lnTo>
                    <a:pt x="0" y="536448"/>
                  </a:lnTo>
                  <a:close/>
                </a:path>
              </a:pathLst>
            </a:custGeom>
            <a:blipFill>
              <a:blip r:embed="rId3">
                <a:alphaModFix amt="0"/>
              </a:blip>
              <a:stretch>
                <a:fillRect t="-392841" b="-392841"/>
              </a:stretch>
            </a:blipFill>
          </p:spPr>
          <p:txBody>
            <a:bodyPr/>
            <a:lstStyle/>
            <a:p>
              <a:endParaRPr lang="es-GT"/>
            </a:p>
          </p:txBody>
        </p:sp>
        <p:sp>
          <p:nvSpPr>
            <p:cNvPr id="37" name="TextBox 37"/>
            <p:cNvSpPr txBox="1"/>
            <p:nvPr/>
          </p:nvSpPr>
          <p:spPr>
            <a:xfrm>
              <a:off x="0" y="-38100"/>
              <a:ext cx="12192000" cy="574548"/>
            </a:xfrm>
            <a:prstGeom prst="rect">
              <a:avLst/>
            </a:prstGeom>
          </p:spPr>
          <p:txBody>
            <a:bodyPr lIns="0" tIns="0" rIns="0" bIns="0" rtlCol="0" anchor="ctr"/>
            <a:lstStyle/>
            <a:p>
              <a:pPr algn="l">
                <a:lnSpc>
                  <a:spcPts val="2160"/>
                </a:lnSpc>
              </a:pPr>
              <a:r>
                <a:rPr lang="en-US" sz="1800">
                  <a:solidFill>
                    <a:srgbClr val="B0B8CC"/>
                  </a:solidFill>
                  <a:latin typeface="Consolas"/>
                  <a:ea typeface="Consolas"/>
                  <a:cs typeface="Consolas"/>
                  <a:sym typeface="Consolas"/>
                </a:rPr>
                <a:t>   Definir N, residuo Como Entero</a:t>
              </a:r>
            </a:p>
          </p:txBody>
        </p:sp>
      </p:grpSp>
      <p:grpSp>
        <p:nvGrpSpPr>
          <p:cNvPr id="38" name="Group 38"/>
          <p:cNvGrpSpPr/>
          <p:nvPr/>
        </p:nvGrpSpPr>
        <p:grpSpPr>
          <a:xfrm>
            <a:off x="1005840" y="5266944"/>
            <a:ext cx="9144000" cy="402336"/>
            <a:chOff x="0" y="0"/>
            <a:chExt cx="12192000" cy="536448"/>
          </a:xfrm>
        </p:grpSpPr>
        <p:sp>
          <p:nvSpPr>
            <p:cNvPr id="39" name="Freeform 39"/>
            <p:cNvSpPr/>
            <p:nvPr/>
          </p:nvSpPr>
          <p:spPr>
            <a:xfrm>
              <a:off x="0" y="0"/>
              <a:ext cx="12192000" cy="536448"/>
            </a:xfrm>
            <a:custGeom>
              <a:avLst/>
              <a:gdLst/>
              <a:ahLst/>
              <a:cxnLst/>
              <a:rect l="l" t="t" r="r" b="b"/>
              <a:pathLst>
                <a:path w="12192000" h="536448">
                  <a:moveTo>
                    <a:pt x="0" y="0"/>
                  </a:moveTo>
                  <a:lnTo>
                    <a:pt x="12192000" y="0"/>
                  </a:lnTo>
                  <a:lnTo>
                    <a:pt x="12192000" y="536448"/>
                  </a:lnTo>
                  <a:lnTo>
                    <a:pt x="0" y="536448"/>
                  </a:lnTo>
                  <a:close/>
                </a:path>
              </a:pathLst>
            </a:custGeom>
            <a:blipFill>
              <a:blip r:embed="rId3">
                <a:alphaModFix amt="0"/>
              </a:blip>
              <a:stretch>
                <a:fillRect t="-392841" b="-392841"/>
              </a:stretch>
            </a:blipFill>
          </p:spPr>
          <p:txBody>
            <a:bodyPr/>
            <a:lstStyle/>
            <a:p>
              <a:endParaRPr lang="es-GT"/>
            </a:p>
          </p:txBody>
        </p:sp>
        <p:sp>
          <p:nvSpPr>
            <p:cNvPr id="40" name="TextBox 40"/>
            <p:cNvSpPr txBox="1"/>
            <p:nvPr/>
          </p:nvSpPr>
          <p:spPr>
            <a:xfrm>
              <a:off x="0" y="-38100"/>
              <a:ext cx="12192000" cy="574548"/>
            </a:xfrm>
            <a:prstGeom prst="rect">
              <a:avLst/>
            </a:prstGeom>
          </p:spPr>
          <p:txBody>
            <a:bodyPr lIns="0" tIns="0" rIns="0" bIns="0" rtlCol="0" anchor="ctr"/>
            <a:lstStyle/>
            <a:p>
              <a:pPr algn="l">
                <a:lnSpc>
                  <a:spcPts val="2160"/>
                </a:lnSpc>
              </a:pPr>
              <a:r>
                <a:rPr lang="en-US" sz="1800">
                  <a:solidFill>
                    <a:srgbClr val="E8A87C"/>
                  </a:solidFill>
                  <a:latin typeface="Consolas"/>
                  <a:ea typeface="Consolas"/>
                  <a:cs typeface="Consolas"/>
                  <a:sym typeface="Consolas"/>
                </a:rPr>
                <a:t>   Escribir "Ingrese un número entero: "</a:t>
              </a:r>
            </a:p>
          </p:txBody>
        </p:sp>
      </p:grpSp>
      <p:grpSp>
        <p:nvGrpSpPr>
          <p:cNvPr id="41" name="Group 41"/>
          <p:cNvGrpSpPr/>
          <p:nvPr/>
        </p:nvGrpSpPr>
        <p:grpSpPr>
          <a:xfrm>
            <a:off x="1005840" y="5632704"/>
            <a:ext cx="9144000" cy="402336"/>
            <a:chOff x="0" y="0"/>
            <a:chExt cx="12192000" cy="536448"/>
          </a:xfrm>
        </p:grpSpPr>
        <p:sp>
          <p:nvSpPr>
            <p:cNvPr id="42" name="Freeform 42"/>
            <p:cNvSpPr/>
            <p:nvPr/>
          </p:nvSpPr>
          <p:spPr>
            <a:xfrm>
              <a:off x="0" y="0"/>
              <a:ext cx="12192000" cy="536448"/>
            </a:xfrm>
            <a:custGeom>
              <a:avLst/>
              <a:gdLst/>
              <a:ahLst/>
              <a:cxnLst/>
              <a:rect l="l" t="t" r="r" b="b"/>
              <a:pathLst>
                <a:path w="12192000" h="536448">
                  <a:moveTo>
                    <a:pt x="0" y="0"/>
                  </a:moveTo>
                  <a:lnTo>
                    <a:pt x="12192000" y="0"/>
                  </a:lnTo>
                  <a:lnTo>
                    <a:pt x="12192000" y="536448"/>
                  </a:lnTo>
                  <a:lnTo>
                    <a:pt x="0" y="536448"/>
                  </a:lnTo>
                  <a:close/>
                </a:path>
              </a:pathLst>
            </a:custGeom>
            <a:blipFill>
              <a:blip r:embed="rId3">
                <a:alphaModFix amt="0"/>
              </a:blip>
              <a:stretch>
                <a:fillRect t="-392841" b="-392841"/>
              </a:stretch>
            </a:blipFill>
          </p:spPr>
          <p:txBody>
            <a:bodyPr/>
            <a:lstStyle/>
            <a:p>
              <a:endParaRPr lang="es-GT"/>
            </a:p>
          </p:txBody>
        </p:sp>
        <p:sp>
          <p:nvSpPr>
            <p:cNvPr id="43" name="TextBox 43"/>
            <p:cNvSpPr txBox="1"/>
            <p:nvPr/>
          </p:nvSpPr>
          <p:spPr>
            <a:xfrm>
              <a:off x="0" y="-38100"/>
              <a:ext cx="12192000" cy="574548"/>
            </a:xfrm>
            <a:prstGeom prst="rect">
              <a:avLst/>
            </a:prstGeom>
          </p:spPr>
          <p:txBody>
            <a:bodyPr lIns="0" tIns="0" rIns="0" bIns="0" rtlCol="0" anchor="ctr"/>
            <a:lstStyle/>
            <a:p>
              <a:pPr algn="l">
                <a:lnSpc>
                  <a:spcPts val="2160"/>
                </a:lnSpc>
              </a:pPr>
              <a:r>
                <a:rPr lang="en-US" sz="1800">
                  <a:solidFill>
                    <a:srgbClr val="FFFFFF"/>
                  </a:solidFill>
                  <a:latin typeface="Consolas"/>
                  <a:ea typeface="Consolas"/>
                  <a:cs typeface="Consolas"/>
                  <a:sym typeface="Consolas"/>
                </a:rPr>
                <a:t>   Leer N</a:t>
              </a:r>
            </a:p>
          </p:txBody>
        </p:sp>
      </p:grpSp>
      <p:grpSp>
        <p:nvGrpSpPr>
          <p:cNvPr id="44" name="Group 44"/>
          <p:cNvGrpSpPr/>
          <p:nvPr/>
        </p:nvGrpSpPr>
        <p:grpSpPr>
          <a:xfrm>
            <a:off x="1005840" y="6364224"/>
            <a:ext cx="9144000" cy="402336"/>
            <a:chOff x="0" y="0"/>
            <a:chExt cx="12192000" cy="536448"/>
          </a:xfrm>
        </p:grpSpPr>
        <p:sp>
          <p:nvSpPr>
            <p:cNvPr id="45" name="Freeform 45"/>
            <p:cNvSpPr/>
            <p:nvPr/>
          </p:nvSpPr>
          <p:spPr>
            <a:xfrm>
              <a:off x="0" y="0"/>
              <a:ext cx="12192000" cy="536448"/>
            </a:xfrm>
            <a:custGeom>
              <a:avLst/>
              <a:gdLst/>
              <a:ahLst/>
              <a:cxnLst/>
              <a:rect l="l" t="t" r="r" b="b"/>
              <a:pathLst>
                <a:path w="12192000" h="536448">
                  <a:moveTo>
                    <a:pt x="0" y="0"/>
                  </a:moveTo>
                  <a:lnTo>
                    <a:pt x="12192000" y="0"/>
                  </a:lnTo>
                  <a:lnTo>
                    <a:pt x="12192000" y="536448"/>
                  </a:lnTo>
                  <a:lnTo>
                    <a:pt x="0" y="536448"/>
                  </a:lnTo>
                  <a:close/>
                </a:path>
              </a:pathLst>
            </a:custGeom>
            <a:blipFill>
              <a:blip r:embed="rId3">
                <a:alphaModFix amt="0"/>
              </a:blip>
              <a:stretch>
                <a:fillRect t="-392841" b="-392841"/>
              </a:stretch>
            </a:blipFill>
          </p:spPr>
          <p:txBody>
            <a:bodyPr/>
            <a:lstStyle/>
            <a:p>
              <a:endParaRPr lang="es-GT"/>
            </a:p>
          </p:txBody>
        </p:sp>
        <p:sp>
          <p:nvSpPr>
            <p:cNvPr id="46" name="TextBox 46"/>
            <p:cNvSpPr txBox="1"/>
            <p:nvPr/>
          </p:nvSpPr>
          <p:spPr>
            <a:xfrm>
              <a:off x="0" y="-38100"/>
              <a:ext cx="12192000" cy="574548"/>
            </a:xfrm>
            <a:prstGeom prst="rect">
              <a:avLst/>
            </a:prstGeom>
          </p:spPr>
          <p:txBody>
            <a:bodyPr lIns="0" tIns="0" rIns="0" bIns="0" rtlCol="0" anchor="ctr"/>
            <a:lstStyle/>
            <a:p>
              <a:pPr algn="l">
                <a:lnSpc>
                  <a:spcPts val="2160"/>
                </a:lnSpc>
              </a:pPr>
              <a:r>
                <a:rPr lang="en-US" sz="1800">
                  <a:solidFill>
                    <a:srgbClr val="9B7FD4"/>
                  </a:solidFill>
                  <a:latin typeface="Consolas"/>
                  <a:ea typeface="Consolas"/>
                  <a:cs typeface="Consolas"/>
                  <a:sym typeface="Consolas"/>
                </a:rPr>
                <a:t>   residuo &lt;- N mod 2</a:t>
              </a:r>
            </a:p>
          </p:txBody>
        </p:sp>
      </p:grpSp>
      <p:grpSp>
        <p:nvGrpSpPr>
          <p:cNvPr id="47" name="Group 47"/>
          <p:cNvGrpSpPr/>
          <p:nvPr/>
        </p:nvGrpSpPr>
        <p:grpSpPr>
          <a:xfrm>
            <a:off x="1005840" y="7095744"/>
            <a:ext cx="9144000" cy="402336"/>
            <a:chOff x="0" y="0"/>
            <a:chExt cx="12192000" cy="536448"/>
          </a:xfrm>
        </p:grpSpPr>
        <p:sp>
          <p:nvSpPr>
            <p:cNvPr id="48" name="Freeform 48"/>
            <p:cNvSpPr/>
            <p:nvPr/>
          </p:nvSpPr>
          <p:spPr>
            <a:xfrm>
              <a:off x="0" y="0"/>
              <a:ext cx="12192000" cy="536448"/>
            </a:xfrm>
            <a:custGeom>
              <a:avLst/>
              <a:gdLst/>
              <a:ahLst/>
              <a:cxnLst/>
              <a:rect l="l" t="t" r="r" b="b"/>
              <a:pathLst>
                <a:path w="12192000" h="536448">
                  <a:moveTo>
                    <a:pt x="0" y="0"/>
                  </a:moveTo>
                  <a:lnTo>
                    <a:pt x="12192000" y="0"/>
                  </a:lnTo>
                  <a:lnTo>
                    <a:pt x="12192000" y="536448"/>
                  </a:lnTo>
                  <a:lnTo>
                    <a:pt x="0" y="536448"/>
                  </a:lnTo>
                  <a:close/>
                </a:path>
              </a:pathLst>
            </a:custGeom>
            <a:blipFill>
              <a:blip r:embed="rId3">
                <a:alphaModFix amt="0"/>
              </a:blip>
              <a:stretch>
                <a:fillRect t="-392841" b="-392841"/>
              </a:stretch>
            </a:blipFill>
          </p:spPr>
          <p:txBody>
            <a:bodyPr/>
            <a:lstStyle/>
            <a:p>
              <a:endParaRPr lang="es-GT"/>
            </a:p>
          </p:txBody>
        </p:sp>
        <p:sp>
          <p:nvSpPr>
            <p:cNvPr id="49" name="TextBox 49"/>
            <p:cNvSpPr txBox="1"/>
            <p:nvPr/>
          </p:nvSpPr>
          <p:spPr>
            <a:xfrm>
              <a:off x="0" y="-38100"/>
              <a:ext cx="12192000" cy="574548"/>
            </a:xfrm>
            <a:prstGeom prst="rect">
              <a:avLst/>
            </a:prstGeom>
          </p:spPr>
          <p:txBody>
            <a:bodyPr lIns="0" tIns="0" rIns="0" bIns="0" rtlCol="0" anchor="ctr"/>
            <a:lstStyle/>
            <a:p>
              <a:pPr algn="l">
                <a:lnSpc>
                  <a:spcPts val="2160"/>
                </a:lnSpc>
              </a:pPr>
              <a:r>
                <a:rPr lang="en-US" sz="1800">
                  <a:solidFill>
                    <a:srgbClr val="7EC8A4"/>
                  </a:solidFill>
                  <a:latin typeface="Consolas"/>
                  <a:ea typeface="Consolas"/>
                  <a:cs typeface="Consolas"/>
                  <a:sym typeface="Consolas"/>
                </a:rPr>
                <a:t>   Si residuo = 0 Entonces</a:t>
              </a:r>
            </a:p>
          </p:txBody>
        </p:sp>
      </p:grpSp>
      <p:grpSp>
        <p:nvGrpSpPr>
          <p:cNvPr id="50" name="Group 50"/>
          <p:cNvGrpSpPr/>
          <p:nvPr/>
        </p:nvGrpSpPr>
        <p:grpSpPr>
          <a:xfrm>
            <a:off x="1005840" y="7461504"/>
            <a:ext cx="9144000" cy="402336"/>
            <a:chOff x="0" y="0"/>
            <a:chExt cx="12192000" cy="536448"/>
          </a:xfrm>
        </p:grpSpPr>
        <p:sp>
          <p:nvSpPr>
            <p:cNvPr id="51" name="Freeform 51"/>
            <p:cNvSpPr/>
            <p:nvPr/>
          </p:nvSpPr>
          <p:spPr>
            <a:xfrm>
              <a:off x="0" y="0"/>
              <a:ext cx="12192000" cy="536448"/>
            </a:xfrm>
            <a:custGeom>
              <a:avLst/>
              <a:gdLst/>
              <a:ahLst/>
              <a:cxnLst/>
              <a:rect l="l" t="t" r="r" b="b"/>
              <a:pathLst>
                <a:path w="12192000" h="536448">
                  <a:moveTo>
                    <a:pt x="0" y="0"/>
                  </a:moveTo>
                  <a:lnTo>
                    <a:pt x="12192000" y="0"/>
                  </a:lnTo>
                  <a:lnTo>
                    <a:pt x="12192000" y="536448"/>
                  </a:lnTo>
                  <a:lnTo>
                    <a:pt x="0" y="536448"/>
                  </a:lnTo>
                  <a:close/>
                </a:path>
              </a:pathLst>
            </a:custGeom>
            <a:blipFill>
              <a:blip r:embed="rId3">
                <a:alphaModFix amt="0"/>
              </a:blip>
              <a:stretch>
                <a:fillRect t="-392841" b="-392841"/>
              </a:stretch>
            </a:blipFill>
          </p:spPr>
          <p:txBody>
            <a:bodyPr/>
            <a:lstStyle/>
            <a:p>
              <a:endParaRPr lang="es-GT"/>
            </a:p>
          </p:txBody>
        </p:sp>
        <p:sp>
          <p:nvSpPr>
            <p:cNvPr id="52" name="TextBox 52"/>
            <p:cNvSpPr txBox="1"/>
            <p:nvPr/>
          </p:nvSpPr>
          <p:spPr>
            <a:xfrm>
              <a:off x="0" y="-38100"/>
              <a:ext cx="12192000" cy="574548"/>
            </a:xfrm>
            <a:prstGeom prst="rect">
              <a:avLst/>
            </a:prstGeom>
          </p:spPr>
          <p:txBody>
            <a:bodyPr lIns="0" tIns="0" rIns="0" bIns="0" rtlCol="0" anchor="ctr"/>
            <a:lstStyle/>
            <a:p>
              <a:pPr algn="l">
                <a:lnSpc>
                  <a:spcPts val="2160"/>
                </a:lnSpc>
              </a:pPr>
              <a:r>
                <a:rPr lang="en-US" sz="1800">
                  <a:solidFill>
                    <a:srgbClr val="E8A87C"/>
                  </a:solidFill>
                  <a:latin typeface="Consolas"/>
                  <a:ea typeface="Consolas"/>
                  <a:cs typeface="Consolas"/>
                  <a:sym typeface="Consolas"/>
                </a:rPr>
                <a:t>      Escribir "El número es PAR"</a:t>
              </a:r>
            </a:p>
          </p:txBody>
        </p:sp>
      </p:grpSp>
      <p:grpSp>
        <p:nvGrpSpPr>
          <p:cNvPr id="53" name="Group 53"/>
          <p:cNvGrpSpPr/>
          <p:nvPr/>
        </p:nvGrpSpPr>
        <p:grpSpPr>
          <a:xfrm>
            <a:off x="1005840" y="7827264"/>
            <a:ext cx="9144000" cy="402336"/>
            <a:chOff x="0" y="0"/>
            <a:chExt cx="12192000" cy="536448"/>
          </a:xfrm>
        </p:grpSpPr>
        <p:sp>
          <p:nvSpPr>
            <p:cNvPr id="54" name="Freeform 54"/>
            <p:cNvSpPr/>
            <p:nvPr/>
          </p:nvSpPr>
          <p:spPr>
            <a:xfrm>
              <a:off x="0" y="0"/>
              <a:ext cx="12192000" cy="536448"/>
            </a:xfrm>
            <a:custGeom>
              <a:avLst/>
              <a:gdLst/>
              <a:ahLst/>
              <a:cxnLst/>
              <a:rect l="l" t="t" r="r" b="b"/>
              <a:pathLst>
                <a:path w="12192000" h="536448">
                  <a:moveTo>
                    <a:pt x="0" y="0"/>
                  </a:moveTo>
                  <a:lnTo>
                    <a:pt x="12192000" y="0"/>
                  </a:lnTo>
                  <a:lnTo>
                    <a:pt x="12192000" y="536448"/>
                  </a:lnTo>
                  <a:lnTo>
                    <a:pt x="0" y="536448"/>
                  </a:lnTo>
                  <a:close/>
                </a:path>
              </a:pathLst>
            </a:custGeom>
            <a:blipFill>
              <a:blip r:embed="rId3">
                <a:alphaModFix amt="0"/>
              </a:blip>
              <a:stretch>
                <a:fillRect t="-392841" b="-392841"/>
              </a:stretch>
            </a:blipFill>
          </p:spPr>
          <p:txBody>
            <a:bodyPr/>
            <a:lstStyle/>
            <a:p>
              <a:endParaRPr lang="es-GT"/>
            </a:p>
          </p:txBody>
        </p:sp>
        <p:sp>
          <p:nvSpPr>
            <p:cNvPr id="55" name="TextBox 55"/>
            <p:cNvSpPr txBox="1"/>
            <p:nvPr/>
          </p:nvSpPr>
          <p:spPr>
            <a:xfrm>
              <a:off x="0" y="-38100"/>
              <a:ext cx="12192000" cy="574548"/>
            </a:xfrm>
            <a:prstGeom prst="rect">
              <a:avLst/>
            </a:prstGeom>
          </p:spPr>
          <p:txBody>
            <a:bodyPr lIns="0" tIns="0" rIns="0" bIns="0" rtlCol="0" anchor="ctr"/>
            <a:lstStyle/>
            <a:p>
              <a:pPr algn="l">
                <a:lnSpc>
                  <a:spcPts val="2160"/>
                </a:lnSpc>
              </a:pPr>
              <a:r>
                <a:rPr lang="en-US" sz="1800">
                  <a:solidFill>
                    <a:srgbClr val="7EC8A4"/>
                  </a:solidFill>
                  <a:latin typeface="Consolas"/>
                  <a:ea typeface="Consolas"/>
                  <a:cs typeface="Consolas"/>
                  <a:sym typeface="Consolas"/>
                </a:rPr>
                <a:t>   SiNo</a:t>
              </a:r>
            </a:p>
          </p:txBody>
        </p:sp>
      </p:grpSp>
      <p:grpSp>
        <p:nvGrpSpPr>
          <p:cNvPr id="56" name="Group 56"/>
          <p:cNvGrpSpPr/>
          <p:nvPr/>
        </p:nvGrpSpPr>
        <p:grpSpPr>
          <a:xfrm>
            <a:off x="1005840" y="8193024"/>
            <a:ext cx="9144000" cy="402336"/>
            <a:chOff x="0" y="0"/>
            <a:chExt cx="12192000" cy="536448"/>
          </a:xfrm>
        </p:grpSpPr>
        <p:sp>
          <p:nvSpPr>
            <p:cNvPr id="57" name="Freeform 57"/>
            <p:cNvSpPr/>
            <p:nvPr/>
          </p:nvSpPr>
          <p:spPr>
            <a:xfrm>
              <a:off x="0" y="0"/>
              <a:ext cx="12192000" cy="536448"/>
            </a:xfrm>
            <a:custGeom>
              <a:avLst/>
              <a:gdLst/>
              <a:ahLst/>
              <a:cxnLst/>
              <a:rect l="l" t="t" r="r" b="b"/>
              <a:pathLst>
                <a:path w="12192000" h="536448">
                  <a:moveTo>
                    <a:pt x="0" y="0"/>
                  </a:moveTo>
                  <a:lnTo>
                    <a:pt x="12192000" y="0"/>
                  </a:lnTo>
                  <a:lnTo>
                    <a:pt x="12192000" y="536448"/>
                  </a:lnTo>
                  <a:lnTo>
                    <a:pt x="0" y="536448"/>
                  </a:lnTo>
                  <a:close/>
                </a:path>
              </a:pathLst>
            </a:custGeom>
            <a:blipFill>
              <a:blip r:embed="rId3">
                <a:alphaModFix amt="0"/>
              </a:blip>
              <a:stretch>
                <a:fillRect t="-392841" b="-392841"/>
              </a:stretch>
            </a:blipFill>
          </p:spPr>
          <p:txBody>
            <a:bodyPr/>
            <a:lstStyle/>
            <a:p>
              <a:endParaRPr lang="es-GT"/>
            </a:p>
          </p:txBody>
        </p:sp>
        <p:sp>
          <p:nvSpPr>
            <p:cNvPr id="58" name="TextBox 58"/>
            <p:cNvSpPr txBox="1"/>
            <p:nvPr/>
          </p:nvSpPr>
          <p:spPr>
            <a:xfrm>
              <a:off x="0" y="-38100"/>
              <a:ext cx="12192000" cy="574548"/>
            </a:xfrm>
            <a:prstGeom prst="rect">
              <a:avLst/>
            </a:prstGeom>
          </p:spPr>
          <p:txBody>
            <a:bodyPr lIns="0" tIns="0" rIns="0" bIns="0" rtlCol="0" anchor="ctr"/>
            <a:lstStyle/>
            <a:p>
              <a:pPr algn="l">
                <a:lnSpc>
                  <a:spcPts val="2160"/>
                </a:lnSpc>
              </a:pPr>
              <a:r>
                <a:rPr lang="en-US" sz="1800">
                  <a:solidFill>
                    <a:srgbClr val="E8A87C"/>
                  </a:solidFill>
                  <a:latin typeface="Consolas"/>
                  <a:ea typeface="Consolas"/>
                  <a:cs typeface="Consolas"/>
                  <a:sym typeface="Consolas"/>
                </a:rPr>
                <a:t>      Escribir "El número es IMPAR"</a:t>
              </a:r>
            </a:p>
          </p:txBody>
        </p:sp>
      </p:grpSp>
      <p:grpSp>
        <p:nvGrpSpPr>
          <p:cNvPr id="59" name="Group 59"/>
          <p:cNvGrpSpPr/>
          <p:nvPr/>
        </p:nvGrpSpPr>
        <p:grpSpPr>
          <a:xfrm>
            <a:off x="1005840" y="8558784"/>
            <a:ext cx="9144000" cy="402336"/>
            <a:chOff x="0" y="0"/>
            <a:chExt cx="12192000" cy="536448"/>
          </a:xfrm>
        </p:grpSpPr>
        <p:sp>
          <p:nvSpPr>
            <p:cNvPr id="60" name="Freeform 60"/>
            <p:cNvSpPr/>
            <p:nvPr/>
          </p:nvSpPr>
          <p:spPr>
            <a:xfrm>
              <a:off x="0" y="0"/>
              <a:ext cx="12192000" cy="536448"/>
            </a:xfrm>
            <a:custGeom>
              <a:avLst/>
              <a:gdLst/>
              <a:ahLst/>
              <a:cxnLst/>
              <a:rect l="l" t="t" r="r" b="b"/>
              <a:pathLst>
                <a:path w="12192000" h="536448">
                  <a:moveTo>
                    <a:pt x="0" y="0"/>
                  </a:moveTo>
                  <a:lnTo>
                    <a:pt x="12192000" y="0"/>
                  </a:lnTo>
                  <a:lnTo>
                    <a:pt x="12192000" y="536448"/>
                  </a:lnTo>
                  <a:lnTo>
                    <a:pt x="0" y="536448"/>
                  </a:lnTo>
                  <a:close/>
                </a:path>
              </a:pathLst>
            </a:custGeom>
            <a:blipFill>
              <a:blip r:embed="rId3">
                <a:alphaModFix amt="0"/>
              </a:blip>
              <a:stretch>
                <a:fillRect t="-392841" b="-392841"/>
              </a:stretch>
            </a:blipFill>
          </p:spPr>
          <p:txBody>
            <a:bodyPr/>
            <a:lstStyle/>
            <a:p>
              <a:endParaRPr lang="es-GT"/>
            </a:p>
          </p:txBody>
        </p:sp>
        <p:sp>
          <p:nvSpPr>
            <p:cNvPr id="61" name="TextBox 61"/>
            <p:cNvSpPr txBox="1"/>
            <p:nvPr/>
          </p:nvSpPr>
          <p:spPr>
            <a:xfrm>
              <a:off x="0" y="-38100"/>
              <a:ext cx="12192000" cy="574548"/>
            </a:xfrm>
            <a:prstGeom prst="rect">
              <a:avLst/>
            </a:prstGeom>
          </p:spPr>
          <p:txBody>
            <a:bodyPr lIns="0" tIns="0" rIns="0" bIns="0" rtlCol="0" anchor="ctr"/>
            <a:lstStyle/>
            <a:p>
              <a:pPr algn="l">
                <a:lnSpc>
                  <a:spcPts val="2160"/>
                </a:lnSpc>
              </a:pPr>
              <a:r>
                <a:rPr lang="en-US" sz="1800">
                  <a:solidFill>
                    <a:srgbClr val="7EC8A4"/>
                  </a:solidFill>
                  <a:latin typeface="Consolas"/>
                  <a:ea typeface="Consolas"/>
                  <a:cs typeface="Consolas"/>
                  <a:sym typeface="Consolas"/>
                </a:rPr>
                <a:t>   FinSi</a:t>
              </a:r>
            </a:p>
          </p:txBody>
        </p:sp>
      </p:grpSp>
      <p:grpSp>
        <p:nvGrpSpPr>
          <p:cNvPr id="62" name="Group 62"/>
          <p:cNvGrpSpPr/>
          <p:nvPr/>
        </p:nvGrpSpPr>
        <p:grpSpPr>
          <a:xfrm>
            <a:off x="1005840" y="9290304"/>
            <a:ext cx="9144000" cy="402336"/>
            <a:chOff x="0" y="0"/>
            <a:chExt cx="12192000" cy="536448"/>
          </a:xfrm>
        </p:grpSpPr>
        <p:sp>
          <p:nvSpPr>
            <p:cNvPr id="63" name="Freeform 63"/>
            <p:cNvSpPr/>
            <p:nvPr/>
          </p:nvSpPr>
          <p:spPr>
            <a:xfrm>
              <a:off x="0" y="0"/>
              <a:ext cx="12192000" cy="536448"/>
            </a:xfrm>
            <a:custGeom>
              <a:avLst/>
              <a:gdLst/>
              <a:ahLst/>
              <a:cxnLst/>
              <a:rect l="l" t="t" r="r" b="b"/>
              <a:pathLst>
                <a:path w="12192000" h="536448">
                  <a:moveTo>
                    <a:pt x="0" y="0"/>
                  </a:moveTo>
                  <a:lnTo>
                    <a:pt x="12192000" y="0"/>
                  </a:lnTo>
                  <a:lnTo>
                    <a:pt x="12192000" y="536448"/>
                  </a:lnTo>
                  <a:lnTo>
                    <a:pt x="0" y="536448"/>
                  </a:lnTo>
                  <a:close/>
                </a:path>
              </a:pathLst>
            </a:custGeom>
            <a:blipFill>
              <a:blip r:embed="rId3">
                <a:alphaModFix amt="0"/>
              </a:blip>
              <a:stretch>
                <a:fillRect t="-392841" b="-392841"/>
              </a:stretch>
            </a:blipFill>
          </p:spPr>
          <p:txBody>
            <a:bodyPr/>
            <a:lstStyle/>
            <a:p>
              <a:endParaRPr lang="es-GT"/>
            </a:p>
          </p:txBody>
        </p:sp>
        <p:sp>
          <p:nvSpPr>
            <p:cNvPr id="64" name="TextBox 64"/>
            <p:cNvSpPr txBox="1"/>
            <p:nvPr/>
          </p:nvSpPr>
          <p:spPr>
            <a:xfrm>
              <a:off x="0" y="-38100"/>
              <a:ext cx="12192000" cy="574548"/>
            </a:xfrm>
            <a:prstGeom prst="rect">
              <a:avLst/>
            </a:prstGeom>
          </p:spPr>
          <p:txBody>
            <a:bodyPr lIns="0" tIns="0" rIns="0" bIns="0" rtlCol="0" anchor="ctr"/>
            <a:lstStyle/>
            <a:p>
              <a:pPr algn="l">
                <a:lnSpc>
                  <a:spcPts val="2160"/>
                </a:lnSpc>
              </a:pPr>
              <a:r>
                <a:rPr lang="en-US" sz="1800">
                  <a:solidFill>
                    <a:srgbClr val="FFFFFF"/>
                  </a:solidFill>
                  <a:latin typeface="Consolas"/>
                  <a:ea typeface="Consolas"/>
                  <a:cs typeface="Consolas"/>
                  <a:sym typeface="Consolas"/>
                </a:rPr>
                <a:t>FinAlgoritmo</a:t>
              </a:r>
            </a:p>
          </p:txBody>
        </p:sp>
      </p:grpSp>
      <p:grpSp>
        <p:nvGrpSpPr>
          <p:cNvPr id="65" name="Group 65"/>
          <p:cNvGrpSpPr/>
          <p:nvPr/>
        </p:nvGrpSpPr>
        <p:grpSpPr>
          <a:xfrm>
            <a:off x="10685774" y="2319018"/>
            <a:ext cx="6858000" cy="640080"/>
            <a:chOff x="0" y="0"/>
            <a:chExt cx="9144000" cy="853440"/>
          </a:xfrm>
        </p:grpSpPr>
        <p:sp>
          <p:nvSpPr>
            <p:cNvPr id="66" name="Freeform 66"/>
            <p:cNvSpPr/>
            <p:nvPr/>
          </p:nvSpPr>
          <p:spPr>
            <a:xfrm>
              <a:off x="0" y="0"/>
              <a:ext cx="9144000" cy="853440"/>
            </a:xfrm>
            <a:custGeom>
              <a:avLst/>
              <a:gdLst/>
              <a:ahLst/>
              <a:cxnLst/>
              <a:rect l="l" t="t" r="r" b="b"/>
              <a:pathLst>
                <a:path w="9144000" h="853440">
                  <a:moveTo>
                    <a:pt x="0" y="0"/>
                  </a:moveTo>
                  <a:lnTo>
                    <a:pt x="9144000" y="0"/>
                  </a:lnTo>
                  <a:lnTo>
                    <a:pt x="9144000" y="853440"/>
                  </a:lnTo>
                  <a:lnTo>
                    <a:pt x="0" y="853440"/>
                  </a:lnTo>
                  <a:close/>
                </a:path>
              </a:pathLst>
            </a:custGeom>
            <a:blipFill>
              <a:blip r:embed="rId3">
                <a:alphaModFix amt="0"/>
              </a:blip>
              <a:stretch>
                <a:fillRect t="-158768" b="-158768"/>
              </a:stretch>
            </a:blipFill>
          </p:spPr>
          <p:txBody>
            <a:bodyPr/>
            <a:lstStyle/>
            <a:p>
              <a:endParaRPr lang="es-GT"/>
            </a:p>
          </p:txBody>
        </p:sp>
        <p:sp>
          <p:nvSpPr>
            <p:cNvPr id="67" name="TextBox 67"/>
            <p:cNvSpPr txBox="1"/>
            <p:nvPr/>
          </p:nvSpPr>
          <p:spPr>
            <a:xfrm>
              <a:off x="0" y="-38100"/>
              <a:ext cx="9144000" cy="891540"/>
            </a:xfrm>
            <a:prstGeom prst="rect">
              <a:avLst/>
            </a:prstGeom>
          </p:spPr>
          <p:txBody>
            <a:bodyPr lIns="0" tIns="0" rIns="0" bIns="0" rtlCol="0" anchor="ctr"/>
            <a:lstStyle/>
            <a:p>
              <a:pPr algn="l">
                <a:lnSpc>
                  <a:spcPts val="2879"/>
                </a:lnSpc>
              </a:pPr>
              <a:r>
                <a:rPr lang="en-US" sz="2400" b="1">
                  <a:solidFill>
                    <a:srgbClr val="5B8CFF"/>
                  </a:solidFill>
                  <a:latin typeface="Calibri (MS) Bold"/>
                  <a:ea typeface="Calibri (MS) Bold"/>
                  <a:cs typeface="Calibri (MS) Bold"/>
                  <a:sym typeface="Calibri (MS) Bold"/>
                </a:rPr>
                <a:t>Elementos clave del pseudocódigo</a:t>
              </a:r>
            </a:p>
          </p:txBody>
        </p:sp>
      </p:grpSp>
      <p:grpSp>
        <p:nvGrpSpPr>
          <p:cNvPr id="68" name="Group 68"/>
          <p:cNvGrpSpPr/>
          <p:nvPr/>
        </p:nvGrpSpPr>
        <p:grpSpPr>
          <a:xfrm>
            <a:off x="10673077" y="3165858"/>
            <a:ext cx="6883403" cy="1268987"/>
            <a:chOff x="0" y="0"/>
            <a:chExt cx="9177871" cy="1691983"/>
          </a:xfrm>
        </p:grpSpPr>
        <p:sp>
          <p:nvSpPr>
            <p:cNvPr id="69" name="Freeform 69"/>
            <p:cNvSpPr/>
            <p:nvPr/>
          </p:nvSpPr>
          <p:spPr>
            <a:xfrm>
              <a:off x="16891" y="16891"/>
              <a:ext cx="9144000" cy="1658112"/>
            </a:xfrm>
            <a:custGeom>
              <a:avLst/>
              <a:gdLst/>
              <a:ahLst/>
              <a:cxnLst/>
              <a:rect l="l" t="t" r="r" b="b"/>
              <a:pathLst>
                <a:path w="9144000" h="1658112">
                  <a:moveTo>
                    <a:pt x="0" y="0"/>
                  </a:moveTo>
                  <a:lnTo>
                    <a:pt x="9144000" y="0"/>
                  </a:lnTo>
                  <a:lnTo>
                    <a:pt x="9144000" y="1658112"/>
                  </a:lnTo>
                  <a:lnTo>
                    <a:pt x="0" y="1658112"/>
                  </a:lnTo>
                  <a:close/>
                </a:path>
              </a:pathLst>
            </a:custGeom>
            <a:solidFill>
              <a:srgbClr val="252B42"/>
            </a:solidFill>
          </p:spPr>
          <p:txBody>
            <a:bodyPr/>
            <a:lstStyle/>
            <a:p>
              <a:endParaRPr lang="es-GT"/>
            </a:p>
          </p:txBody>
        </p:sp>
        <p:sp>
          <p:nvSpPr>
            <p:cNvPr id="70" name="Freeform 70"/>
            <p:cNvSpPr/>
            <p:nvPr/>
          </p:nvSpPr>
          <p:spPr>
            <a:xfrm>
              <a:off x="0" y="0"/>
              <a:ext cx="9177782" cy="1691894"/>
            </a:xfrm>
            <a:custGeom>
              <a:avLst/>
              <a:gdLst/>
              <a:ahLst/>
              <a:cxnLst/>
              <a:rect l="l" t="t" r="r" b="b"/>
              <a:pathLst>
                <a:path w="9177782" h="1691894">
                  <a:moveTo>
                    <a:pt x="16891" y="0"/>
                  </a:moveTo>
                  <a:lnTo>
                    <a:pt x="9160891" y="0"/>
                  </a:lnTo>
                  <a:cubicBezTo>
                    <a:pt x="9170289" y="0"/>
                    <a:pt x="9177782" y="7620"/>
                    <a:pt x="9177782" y="16891"/>
                  </a:cubicBezTo>
                  <a:lnTo>
                    <a:pt x="9177782" y="1675003"/>
                  </a:lnTo>
                  <a:cubicBezTo>
                    <a:pt x="9177782" y="1684401"/>
                    <a:pt x="9170162" y="1691894"/>
                    <a:pt x="9160891"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9160891" y="1658112"/>
                  </a:lnTo>
                  <a:lnTo>
                    <a:pt x="9160891" y="1675003"/>
                  </a:lnTo>
                  <a:lnTo>
                    <a:pt x="9144000" y="1675003"/>
                  </a:lnTo>
                  <a:lnTo>
                    <a:pt x="9144000" y="16891"/>
                  </a:lnTo>
                  <a:lnTo>
                    <a:pt x="9160891" y="16891"/>
                  </a:lnTo>
                  <a:lnTo>
                    <a:pt x="9160891" y="33909"/>
                  </a:lnTo>
                  <a:lnTo>
                    <a:pt x="16891" y="33909"/>
                  </a:lnTo>
                  <a:close/>
                </a:path>
              </a:pathLst>
            </a:custGeom>
            <a:solidFill>
              <a:srgbClr val="3A4160"/>
            </a:solidFill>
          </p:spPr>
          <p:txBody>
            <a:bodyPr/>
            <a:lstStyle/>
            <a:p>
              <a:endParaRPr lang="es-GT"/>
            </a:p>
          </p:txBody>
        </p:sp>
      </p:grpSp>
      <p:grpSp>
        <p:nvGrpSpPr>
          <p:cNvPr id="71" name="Group 71"/>
          <p:cNvGrpSpPr/>
          <p:nvPr/>
        </p:nvGrpSpPr>
        <p:grpSpPr>
          <a:xfrm>
            <a:off x="10960094" y="3288282"/>
            <a:ext cx="6309360" cy="457200"/>
            <a:chOff x="0" y="0"/>
            <a:chExt cx="8412480" cy="609600"/>
          </a:xfrm>
        </p:grpSpPr>
        <p:sp>
          <p:nvSpPr>
            <p:cNvPr id="72" name="Freeform 72"/>
            <p:cNvSpPr/>
            <p:nvPr/>
          </p:nvSpPr>
          <p:spPr>
            <a:xfrm>
              <a:off x="0" y="0"/>
              <a:ext cx="8412480" cy="609600"/>
            </a:xfrm>
            <a:custGeom>
              <a:avLst/>
              <a:gdLst/>
              <a:ahLst/>
              <a:cxnLst/>
              <a:rect l="l" t="t" r="r" b="b"/>
              <a:pathLst>
                <a:path w="8412480" h="609600">
                  <a:moveTo>
                    <a:pt x="0" y="0"/>
                  </a:moveTo>
                  <a:lnTo>
                    <a:pt x="8412480" y="0"/>
                  </a:lnTo>
                  <a:lnTo>
                    <a:pt x="8412480" y="609600"/>
                  </a:lnTo>
                  <a:lnTo>
                    <a:pt x="0" y="609600"/>
                  </a:lnTo>
                  <a:close/>
                </a:path>
              </a:pathLst>
            </a:custGeom>
            <a:blipFill>
              <a:blip r:embed="rId3">
                <a:alphaModFix amt="0"/>
              </a:blip>
              <a:stretch>
                <a:fillRect t="-218893" b="-218893"/>
              </a:stretch>
            </a:blipFill>
          </p:spPr>
          <p:txBody>
            <a:bodyPr/>
            <a:lstStyle/>
            <a:p>
              <a:endParaRPr lang="es-GT"/>
            </a:p>
          </p:txBody>
        </p:sp>
        <p:sp>
          <p:nvSpPr>
            <p:cNvPr id="73" name="TextBox 73"/>
            <p:cNvSpPr txBox="1"/>
            <p:nvPr/>
          </p:nvSpPr>
          <p:spPr>
            <a:xfrm>
              <a:off x="0" y="-38100"/>
              <a:ext cx="8412480" cy="647700"/>
            </a:xfrm>
            <a:prstGeom prst="rect">
              <a:avLst/>
            </a:prstGeom>
          </p:spPr>
          <p:txBody>
            <a:bodyPr lIns="0" tIns="0" rIns="0" bIns="0" rtlCol="0" anchor="ctr"/>
            <a:lstStyle/>
            <a:p>
              <a:pPr algn="l">
                <a:lnSpc>
                  <a:spcPts val="2280"/>
                </a:lnSpc>
              </a:pPr>
              <a:r>
                <a:rPr lang="en-US" sz="1900" b="1">
                  <a:solidFill>
                    <a:srgbClr val="7EC8A4"/>
                  </a:solidFill>
                  <a:latin typeface="Consolas Bold"/>
                  <a:ea typeface="Consolas Bold"/>
                  <a:cs typeface="Consolas Bold"/>
                  <a:sym typeface="Consolas Bold"/>
                </a:rPr>
                <a:t>Algoritmo / FinAlgoritmo</a:t>
              </a:r>
            </a:p>
          </p:txBody>
        </p:sp>
      </p:grpSp>
      <p:grpSp>
        <p:nvGrpSpPr>
          <p:cNvPr id="74" name="Group 74"/>
          <p:cNvGrpSpPr/>
          <p:nvPr/>
        </p:nvGrpSpPr>
        <p:grpSpPr>
          <a:xfrm>
            <a:off x="10960094" y="3818634"/>
            <a:ext cx="6309360" cy="512064"/>
            <a:chOff x="0" y="0"/>
            <a:chExt cx="8412480" cy="682752"/>
          </a:xfrm>
        </p:grpSpPr>
        <p:sp>
          <p:nvSpPr>
            <p:cNvPr id="75" name="Freeform 75"/>
            <p:cNvSpPr/>
            <p:nvPr/>
          </p:nvSpPr>
          <p:spPr>
            <a:xfrm>
              <a:off x="0" y="0"/>
              <a:ext cx="8412480" cy="682752"/>
            </a:xfrm>
            <a:custGeom>
              <a:avLst/>
              <a:gdLst/>
              <a:ahLst/>
              <a:cxnLst/>
              <a:rect l="l" t="t" r="r" b="b"/>
              <a:pathLst>
                <a:path w="8412480" h="682752">
                  <a:moveTo>
                    <a:pt x="0" y="0"/>
                  </a:moveTo>
                  <a:lnTo>
                    <a:pt x="8412480" y="0"/>
                  </a:lnTo>
                  <a:lnTo>
                    <a:pt x="8412480" y="682752"/>
                  </a:lnTo>
                  <a:lnTo>
                    <a:pt x="0" y="682752"/>
                  </a:lnTo>
                  <a:close/>
                </a:path>
              </a:pathLst>
            </a:custGeom>
            <a:blipFill>
              <a:blip r:embed="rId3">
                <a:alphaModFix amt="0"/>
              </a:blip>
              <a:stretch>
                <a:fillRect t="-190083" b="-190083"/>
              </a:stretch>
            </a:blipFill>
          </p:spPr>
          <p:txBody>
            <a:bodyPr/>
            <a:lstStyle/>
            <a:p>
              <a:endParaRPr lang="es-GT"/>
            </a:p>
          </p:txBody>
        </p:sp>
        <p:sp>
          <p:nvSpPr>
            <p:cNvPr id="76" name="TextBox 76"/>
            <p:cNvSpPr txBox="1"/>
            <p:nvPr/>
          </p:nvSpPr>
          <p:spPr>
            <a:xfrm>
              <a:off x="0" y="-38100"/>
              <a:ext cx="8412480" cy="720852"/>
            </a:xfrm>
            <a:prstGeom prst="rect">
              <a:avLst/>
            </a:prstGeom>
          </p:spPr>
          <p:txBody>
            <a:bodyPr lIns="0" tIns="0" rIns="0" bIns="0" rtlCol="0" anchor="ctr"/>
            <a:lstStyle/>
            <a:p>
              <a:pPr algn="l">
                <a:lnSpc>
                  <a:spcPts val="2280"/>
                </a:lnSpc>
              </a:pPr>
              <a:r>
                <a:rPr lang="en-US" sz="1900">
                  <a:solidFill>
                    <a:srgbClr val="FFFFFF"/>
                  </a:solidFill>
                  <a:latin typeface="Calibri (MS)"/>
                  <a:ea typeface="Calibri (MS)"/>
                  <a:cs typeface="Calibri (MS)"/>
                  <a:sym typeface="Calibri (MS)"/>
                </a:rPr>
                <a:t>Delimita el bloque principal.</a:t>
              </a:r>
            </a:p>
          </p:txBody>
        </p:sp>
      </p:grpSp>
      <p:grpSp>
        <p:nvGrpSpPr>
          <p:cNvPr id="77" name="Group 77"/>
          <p:cNvGrpSpPr/>
          <p:nvPr/>
        </p:nvGrpSpPr>
        <p:grpSpPr>
          <a:xfrm>
            <a:off x="10673077" y="4537458"/>
            <a:ext cx="6883403" cy="1268987"/>
            <a:chOff x="0" y="0"/>
            <a:chExt cx="9177871" cy="1691983"/>
          </a:xfrm>
        </p:grpSpPr>
        <p:sp>
          <p:nvSpPr>
            <p:cNvPr id="78" name="Freeform 78"/>
            <p:cNvSpPr/>
            <p:nvPr/>
          </p:nvSpPr>
          <p:spPr>
            <a:xfrm>
              <a:off x="16891" y="16891"/>
              <a:ext cx="9144000" cy="1658112"/>
            </a:xfrm>
            <a:custGeom>
              <a:avLst/>
              <a:gdLst/>
              <a:ahLst/>
              <a:cxnLst/>
              <a:rect l="l" t="t" r="r" b="b"/>
              <a:pathLst>
                <a:path w="9144000" h="1658112">
                  <a:moveTo>
                    <a:pt x="0" y="0"/>
                  </a:moveTo>
                  <a:lnTo>
                    <a:pt x="9144000" y="0"/>
                  </a:lnTo>
                  <a:lnTo>
                    <a:pt x="9144000" y="1658112"/>
                  </a:lnTo>
                  <a:lnTo>
                    <a:pt x="0" y="1658112"/>
                  </a:lnTo>
                  <a:close/>
                </a:path>
              </a:pathLst>
            </a:custGeom>
            <a:solidFill>
              <a:srgbClr val="252B42"/>
            </a:solidFill>
          </p:spPr>
          <p:txBody>
            <a:bodyPr/>
            <a:lstStyle/>
            <a:p>
              <a:endParaRPr lang="es-GT"/>
            </a:p>
          </p:txBody>
        </p:sp>
        <p:sp>
          <p:nvSpPr>
            <p:cNvPr id="79" name="Freeform 79"/>
            <p:cNvSpPr/>
            <p:nvPr/>
          </p:nvSpPr>
          <p:spPr>
            <a:xfrm>
              <a:off x="0" y="0"/>
              <a:ext cx="9177782" cy="1691894"/>
            </a:xfrm>
            <a:custGeom>
              <a:avLst/>
              <a:gdLst/>
              <a:ahLst/>
              <a:cxnLst/>
              <a:rect l="l" t="t" r="r" b="b"/>
              <a:pathLst>
                <a:path w="9177782" h="1691894">
                  <a:moveTo>
                    <a:pt x="16891" y="0"/>
                  </a:moveTo>
                  <a:lnTo>
                    <a:pt x="9160891" y="0"/>
                  </a:lnTo>
                  <a:cubicBezTo>
                    <a:pt x="9170289" y="0"/>
                    <a:pt x="9177782" y="7620"/>
                    <a:pt x="9177782" y="16891"/>
                  </a:cubicBezTo>
                  <a:lnTo>
                    <a:pt x="9177782" y="1675003"/>
                  </a:lnTo>
                  <a:cubicBezTo>
                    <a:pt x="9177782" y="1684401"/>
                    <a:pt x="9170162" y="1691894"/>
                    <a:pt x="9160891"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9160891" y="1658112"/>
                  </a:lnTo>
                  <a:lnTo>
                    <a:pt x="9160891" y="1675003"/>
                  </a:lnTo>
                  <a:lnTo>
                    <a:pt x="9144000" y="1675003"/>
                  </a:lnTo>
                  <a:lnTo>
                    <a:pt x="9144000" y="16891"/>
                  </a:lnTo>
                  <a:lnTo>
                    <a:pt x="9160891" y="16891"/>
                  </a:lnTo>
                  <a:lnTo>
                    <a:pt x="9160891" y="33909"/>
                  </a:lnTo>
                  <a:lnTo>
                    <a:pt x="16891" y="33909"/>
                  </a:lnTo>
                  <a:close/>
                </a:path>
              </a:pathLst>
            </a:custGeom>
            <a:solidFill>
              <a:srgbClr val="3A4160"/>
            </a:solidFill>
          </p:spPr>
          <p:txBody>
            <a:bodyPr/>
            <a:lstStyle/>
            <a:p>
              <a:endParaRPr lang="es-GT"/>
            </a:p>
          </p:txBody>
        </p:sp>
      </p:grpSp>
      <p:grpSp>
        <p:nvGrpSpPr>
          <p:cNvPr id="80" name="Group 80"/>
          <p:cNvGrpSpPr/>
          <p:nvPr/>
        </p:nvGrpSpPr>
        <p:grpSpPr>
          <a:xfrm>
            <a:off x="10960094" y="4659882"/>
            <a:ext cx="6309360" cy="457200"/>
            <a:chOff x="0" y="0"/>
            <a:chExt cx="8412480" cy="609600"/>
          </a:xfrm>
        </p:grpSpPr>
        <p:sp>
          <p:nvSpPr>
            <p:cNvPr id="81" name="Freeform 81"/>
            <p:cNvSpPr/>
            <p:nvPr/>
          </p:nvSpPr>
          <p:spPr>
            <a:xfrm>
              <a:off x="0" y="0"/>
              <a:ext cx="8412480" cy="609600"/>
            </a:xfrm>
            <a:custGeom>
              <a:avLst/>
              <a:gdLst/>
              <a:ahLst/>
              <a:cxnLst/>
              <a:rect l="l" t="t" r="r" b="b"/>
              <a:pathLst>
                <a:path w="8412480" h="609600">
                  <a:moveTo>
                    <a:pt x="0" y="0"/>
                  </a:moveTo>
                  <a:lnTo>
                    <a:pt x="8412480" y="0"/>
                  </a:lnTo>
                  <a:lnTo>
                    <a:pt x="8412480" y="609600"/>
                  </a:lnTo>
                  <a:lnTo>
                    <a:pt x="0" y="609600"/>
                  </a:lnTo>
                  <a:close/>
                </a:path>
              </a:pathLst>
            </a:custGeom>
            <a:blipFill>
              <a:blip r:embed="rId3">
                <a:alphaModFix amt="0"/>
              </a:blip>
              <a:stretch>
                <a:fillRect t="-218893" b="-218893"/>
              </a:stretch>
            </a:blipFill>
          </p:spPr>
          <p:txBody>
            <a:bodyPr/>
            <a:lstStyle/>
            <a:p>
              <a:endParaRPr lang="es-GT"/>
            </a:p>
          </p:txBody>
        </p:sp>
        <p:sp>
          <p:nvSpPr>
            <p:cNvPr id="82" name="TextBox 82"/>
            <p:cNvSpPr txBox="1"/>
            <p:nvPr/>
          </p:nvSpPr>
          <p:spPr>
            <a:xfrm>
              <a:off x="0" y="-38100"/>
              <a:ext cx="8412480" cy="647700"/>
            </a:xfrm>
            <a:prstGeom prst="rect">
              <a:avLst/>
            </a:prstGeom>
          </p:spPr>
          <p:txBody>
            <a:bodyPr lIns="0" tIns="0" rIns="0" bIns="0" rtlCol="0" anchor="ctr"/>
            <a:lstStyle/>
            <a:p>
              <a:pPr algn="l">
                <a:lnSpc>
                  <a:spcPts val="2280"/>
                </a:lnSpc>
              </a:pPr>
              <a:r>
                <a:rPr lang="en-US" sz="1900" b="1">
                  <a:solidFill>
                    <a:srgbClr val="9B7FD4"/>
                  </a:solidFill>
                  <a:latin typeface="Consolas Bold"/>
                  <a:ea typeface="Consolas Bold"/>
                  <a:cs typeface="Consolas Bold"/>
                  <a:sym typeface="Consolas Bold"/>
                </a:rPr>
                <a:t>Definir … Como …</a:t>
              </a:r>
            </a:p>
          </p:txBody>
        </p:sp>
      </p:grpSp>
      <p:grpSp>
        <p:nvGrpSpPr>
          <p:cNvPr id="83" name="Group 83"/>
          <p:cNvGrpSpPr/>
          <p:nvPr/>
        </p:nvGrpSpPr>
        <p:grpSpPr>
          <a:xfrm>
            <a:off x="10960094" y="5190234"/>
            <a:ext cx="6309360" cy="512064"/>
            <a:chOff x="0" y="0"/>
            <a:chExt cx="8412480" cy="682752"/>
          </a:xfrm>
        </p:grpSpPr>
        <p:sp>
          <p:nvSpPr>
            <p:cNvPr id="84" name="Freeform 84"/>
            <p:cNvSpPr/>
            <p:nvPr/>
          </p:nvSpPr>
          <p:spPr>
            <a:xfrm>
              <a:off x="0" y="0"/>
              <a:ext cx="8412480" cy="682752"/>
            </a:xfrm>
            <a:custGeom>
              <a:avLst/>
              <a:gdLst/>
              <a:ahLst/>
              <a:cxnLst/>
              <a:rect l="l" t="t" r="r" b="b"/>
              <a:pathLst>
                <a:path w="8412480" h="682752">
                  <a:moveTo>
                    <a:pt x="0" y="0"/>
                  </a:moveTo>
                  <a:lnTo>
                    <a:pt x="8412480" y="0"/>
                  </a:lnTo>
                  <a:lnTo>
                    <a:pt x="8412480" y="682752"/>
                  </a:lnTo>
                  <a:lnTo>
                    <a:pt x="0" y="682752"/>
                  </a:lnTo>
                  <a:close/>
                </a:path>
              </a:pathLst>
            </a:custGeom>
            <a:blipFill>
              <a:blip r:embed="rId3">
                <a:alphaModFix amt="0"/>
              </a:blip>
              <a:stretch>
                <a:fillRect t="-190083" b="-190083"/>
              </a:stretch>
            </a:blipFill>
          </p:spPr>
          <p:txBody>
            <a:bodyPr/>
            <a:lstStyle/>
            <a:p>
              <a:endParaRPr lang="es-GT"/>
            </a:p>
          </p:txBody>
        </p:sp>
        <p:sp>
          <p:nvSpPr>
            <p:cNvPr id="85" name="TextBox 85"/>
            <p:cNvSpPr txBox="1"/>
            <p:nvPr/>
          </p:nvSpPr>
          <p:spPr>
            <a:xfrm>
              <a:off x="0" y="-38100"/>
              <a:ext cx="8412480" cy="720852"/>
            </a:xfrm>
            <a:prstGeom prst="rect">
              <a:avLst/>
            </a:prstGeom>
          </p:spPr>
          <p:txBody>
            <a:bodyPr lIns="0" tIns="0" rIns="0" bIns="0" rtlCol="0" anchor="ctr"/>
            <a:lstStyle/>
            <a:p>
              <a:pPr algn="l">
                <a:lnSpc>
                  <a:spcPts val="2280"/>
                </a:lnSpc>
              </a:pPr>
              <a:r>
                <a:rPr lang="en-US" sz="1900">
                  <a:solidFill>
                    <a:srgbClr val="FFFFFF"/>
                  </a:solidFill>
                  <a:latin typeface="Calibri (MS)"/>
                  <a:ea typeface="Calibri (MS)"/>
                  <a:cs typeface="Calibri (MS)"/>
                  <a:sym typeface="Calibri (MS)"/>
                </a:rPr>
                <a:t>Declara variables y su tipo de dato.</a:t>
              </a:r>
            </a:p>
          </p:txBody>
        </p:sp>
      </p:grpSp>
      <p:grpSp>
        <p:nvGrpSpPr>
          <p:cNvPr id="86" name="Group 86"/>
          <p:cNvGrpSpPr/>
          <p:nvPr/>
        </p:nvGrpSpPr>
        <p:grpSpPr>
          <a:xfrm>
            <a:off x="10673077" y="5909058"/>
            <a:ext cx="6883403" cy="1268987"/>
            <a:chOff x="0" y="0"/>
            <a:chExt cx="9177871" cy="1691983"/>
          </a:xfrm>
        </p:grpSpPr>
        <p:sp>
          <p:nvSpPr>
            <p:cNvPr id="87" name="Freeform 87"/>
            <p:cNvSpPr/>
            <p:nvPr/>
          </p:nvSpPr>
          <p:spPr>
            <a:xfrm>
              <a:off x="16891" y="16891"/>
              <a:ext cx="9144000" cy="1658112"/>
            </a:xfrm>
            <a:custGeom>
              <a:avLst/>
              <a:gdLst/>
              <a:ahLst/>
              <a:cxnLst/>
              <a:rect l="l" t="t" r="r" b="b"/>
              <a:pathLst>
                <a:path w="9144000" h="1658112">
                  <a:moveTo>
                    <a:pt x="0" y="0"/>
                  </a:moveTo>
                  <a:lnTo>
                    <a:pt x="9144000" y="0"/>
                  </a:lnTo>
                  <a:lnTo>
                    <a:pt x="9144000" y="1658112"/>
                  </a:lnTo>
                  <a:lnTo>
                    <a:pt x="0" y="1658112"/>
                  </a:lnTo>
                  <a:close/>
                </a:path>
              </a:pathLst>
            </a:custGeom>
            <a:solidFill>
              <a:srgbClr val="252B42"/>
            </a:solidFill>
          </p:spPr>
          <p:txBody>
            <a:bodyPr/>
            <a:lstStyle/>
            <a:p>
              <a:endParaRPr lang="es-GT"/>
            </a:p>
          </p:txBody>
        </p:sp>
        <p:sp>
          <p:nvSpPr>
            <p:cNvPr id="88" name="Freeform 88"/>
            <p:cNvSpPr/>
            <p:nvPr/>
          </p:nvSpPr>
          <p:spPr>
            <a:xfrm>
              <a:off x="0" y="0"/>
              <a:ext cx="9177782" cy="1691894"/>
            </a:xfrm>
            <a:custGeom>
              <a:avLst/>
              <a:gdLst/>
              <a:ahLst/>
              <a:cxnLst/>
              <a:rect l="l" t="t" r="r" b="b"/>
              <a:pathLst>
                <a:path w="9177782" h="1691894">
                  <a:moveTo>
                    <a:pt x="16891" y="0"/>
                  </a:moveTo>
                  <a:lnTo>
                    <a:pt x="9160891" y="0"/>
                  </a:lnTo>
                  <a:cubicBezTo>
                    <a:pt x="9170289" y="0"/>
                    <a:pt x="9177782" y="7620"/>
                    <a:pt x="9177782" y="16891"/>
                  </a:cubicBezTo>
                  <a:lnTo>
                    <a:pt x="9177782" y="1675003"/>
                  </a:lnTo>
                  <a:cubicBezTo>
                    <a:pt x="9177782" y="1684401"/>
                    <a:pt x="9170162" y="1691894"/>
                    <a:pt x="9160891"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9160891" y="1658112"/>
                  </a:lnTo>
                  <a:lnTo>
                    <a:pt x="9160891" y="1675003"/>
                  </a:lnTo>
                  <a:lnTo>
                    <a:pt x="9144000" y="1675003"/>
                  </a:lnTo>
                  <a:lnTo>
                    <a:pt x="9144000" y="16891"/>
                  </a:lnTo>
                  <a:lnTo>
                    <a:pt x="9160891" y="16891"/>
                  </a:lnTo>
                  <a:lnTo>
                    <a:pt x="9160891" y="33909"/>
                  </a:lnTo>
                  <a:lnTo>
                    <a:pt x="16891" y="33909"/>
                  </a:lnTo>
                  <a:close/>
                </a:path>
              </a:pathLst>
            </a:custGeom>
            <a:solidFill>
              <a:srgbClr val="3A4160"/>
            </a:solidFill>
          </p:spPr>
          <p:txBody>
            <a:bodyPr/>
            <a:lstStyle/>
            <a:p>
              <a:endParaRPr lang="es-GT"/>
            </a:p>
          </p:txBody>
        </p:sp>
      </p:grpSp>
      <p:grpSp>
        <p:nvGrpSpPr>
          <p:cNvPr id="89" name="Group 89"/>
          <p:cNvGrpSpPr/>
          <p:nvPr/>
        </p:nvGrpSpPr>
        <p:grpSpPr>
          <a:xfrm>
            <a:off x="10960094" y="6031482"/>
            <a:ext cx="6309360" cy="457200"/>
            <a:chOff x="0" y="0"/>
            <a:chExt cx="8412480" cy="609600"/>
          </a:xfrm>
        </p:grpSpPr>
        <p:sp>
          <p:nvSpPr>
            <p:cNvPr id="90" name="Freeform 90"/>
            <p:cNvSpPr/>
            <p:nvPr/>
          </p:nvSpPr>
          <p:spPr>
            <a:xfrm>
              <a:off x="0" y="0"/>
              <a:ext cx="8412480" cy="609600"/>
            </a:xfrm>
            <a:custGeom>
              <a:avLst/>
              <a:gdLst/>
              <a:ahLst/>
              <a:cxnLst/>
              <a:rect l="l" t="t" r="r" b="b"/>
              <a:pathLst>
                <a:path w="8412480" h="609600">
                  <a:moveTo>
                    <a:pt x="0" y="0"/>
                  </a:moveTo>
                  <a:lnTo>
                    <a:pt x="8412480" y="0"/>
                  </a:lnTo>
                  <a:lnTo>
                    <a:pt x="8412480" y="609600"/>
                  </a:lnTo>
                  <a:lnTo>
                    <a:pt x="0" y="609600"/>
                  </a:lnTo>
                  <a:close/>
                </a:path>
              </a:pathLst>
            </a:custGeom>
            <a:blipFill>
              <a:blip r:embed="rId3">
                <a:alphaModFix amt="0"/>
              </a:blip>
              <a:stretch>
                <a:fillRect t="-218893" b="-218893"/>
              </a:stretch>
            </a:blipFill>
          </p:spPr>
          <p:txBody>
            <a:bodyPr/>
            <a:lstStyle/>
            <a:p>
              <a:endParaRPr lang="es-GT"/>
            </a:p>
          </p:txBody>
        </p:sp>
        <p:sp>
          <p:nvSpPr>
            <p:cNvPr id="91" name="TextBox 91"/>
            <p:cNvSpPr txBox="1"/>
            <p:nvPr/>
          </p:nvSpPr>
          <p:spPr>
            <a:xfrm>
              <a:off x="0" y="-38100"/>
              <a:ext cx="8412480" cy="647700"/>
            </a:xfrm>
            <a:prstGeom prst="rect">
              <a:avLst/>
            </a:prstGeom>
          </p:spPr>
          <p:txBody>
            <a:bodyPr lIns="0" tIns="0" rIns="0" bIns="0" rtlCol="0" anchor="ctr"/>
            <a:lstStyle/>
            <a:p>
              <a:pPr algn="l">
                <a:lnSpc>
                  <a:spcPts val="2280"/>
                </a:lnSpc>
              </a:pPr>
              <a:r>
                <a:rPr lang="en-US" sz="1900" b="1">
                  <a:solidFill>
                    <a:srgbClr val="E8A87C"/>
                  </a:solidFill>
                  <a:latin typeface="Consolas Bold"/>
                  <a:ea typeface="Consolas Bold"/>
                  <a:cs typeface="Consolas Bold"/>
                  <a:sym typeface="Consolas Bold"/>
                </a:rPr>
                <a:t>Escribir / Leer</a:t>
              </a:r>
            </a:p>
          </p:txBody>
        </p:sp>
      </p:grpSp>
      <p:grpSp>
        <p:nvGrpSpPr>
          <p:cNvPr id="92" name="Group 92"/>
          <p:cNvGrpSpPr/>
          <p:nvPr/>
        </p:nvGrpSpPr>
        <p:grpSpPr>
          <a:xfrm>
            <a:off x="10960094" y="6561834"/>
            <a:ext cx="6309360" cy="512064"/>
            <a:chOff x="0" y="0"/>
            <a:chExt cx="8412480" cy="682752"/>
          </a:xfrm>
        </p:grpSpPr>
        <p:sp>
          <p:nvSpPr>
            <p:cNvPr id="93" name="Freeform 93"/>
            <p:cNvSpPr/>
            <p:nvPr/>
          </p:nvSpPr>
          <p:spPr>
            <a:xfrm>
              <a:off x="0" y="0"/>
              <a:ext cx="8412480" cy="682752"/>
            </a:xfrm>
            <a:custGeom>
              <a:avLst/>
              <a:gdLst/>
              <a:ahLst/>
              <a:cxnLst/>
              <a:rect l="l" t="t" r="r" b="b"/>
              <a:pathLst>
                <a:path w="8412480" h="682752">
                  <a:moveTo>
                    <a:pt x="0" y="0"/>
                  </a:moveTo>
                  <a:lnTo>
                    <a:pt x="8412480" y="0"/>
                  </a:lnTo>
                  <a:lnTo>
                    <a:pt x="8412480" y="682752"/>
                  </a:lnTo>
                  <a:lnTo>
                    <a:pt x="0" y="682752"/>
                  </a:lnTo>
                  <a:close/>
                </a:path>
              </a:pathLst>
            </a:custGeom>
            <a:blipFill>
              <a:blip r:embed="rId3">
                <a:alphaModFix amt="0"/>
              </a:blip>
              <a:stretch>
                <a:fillRect t="-190083" b="-190083"/>
              </a:stretch>
            </a:blipFill>
          </p:spPr>
          <p:txBody>
            <a:bodyPr/>
            <a:lstStyle/>
            <a:p>
              <a:endParaRPr lang="es-GT"/>
            </a:p>
          </p:txBody>
        </p:sp>
        <p:sp>
          <p:nvSpPr>
            <p:cNvPr id="94" name="TextBox 94"/>
            <p:cNvSpPr txBox="1"/>
            <p:nvPr/>
          </p:nvSpPr>
          <p:spPr>
            <a:xfrm>
              <a:off x="0" y="-38100"/>
              <a:ext cx="8412480" cy="720852"/>
            </a:xfrm>
            <a:prstGeom prst="rect">
              <a:avLst/>
            </a:prstGeom>
          </p:spPr>
          <p:txBody>
            <a:bodyPr lIns="0" tIns="0" rIns="0" bIns="0" rtlCol="0" anchor="ctr"/>
            <a:lstStyle/>
            <a:p>
              <a:pPr algn="l">
                <a:lnSpc>
                  <a:spcPts val="2280"/>
                </a:lnSpc>
              </a:pPr>
              <a:r>
                <a:rPr lang="en-US" sz="1900">
                  <a:solidFill>
                    <a:srgbClr val="FFFFFF"/>
                  </a:solidFill>
                  <a:latin typeface="Calibri (MS)"/>
                  <a:ea typeface="Calibri (MS)"/>
                  <a:cs typeface="Calibri (MS)"/>
                  <a:sym typeface="Calibri (MS)"/>
                </a:rPr>
                <a:t>Operaciones de salida y entrada de datos.</a:t>
              </a:r>
            </a:p>
          </p:txBody>
        </p:sp>
      </p:grpSp>
      <p:grpSp>
        <p:nvGrpSpPr>
          <p:cNvPr id="95" name="Group 95"/>
          <p:cNvGrpSpPr/>
          <p:nvPr/>
        </p:nvGrpSpPr>
        <p:grpSpPr>
          <a:xfrm>
            <a:off x="10673077" y="7280658"/>
            <a:ext cx="6883403" cy="1268987"/>
            <a:chOff x="0" y="0"/>
            <a:chExt cx="9177871" cy="1691983"/>
          </a:xfrm>
        </p:grpSpPr>
        <p:sp>
          <p:nvSpPr>
            <p:cNvPr id="96" name="Freeform 96"/>
            <p:cNvSpPr/>
            <p:nvPr/>
          </p:nvSpPr>
          <p:spPr>
            <a:xfrm>
              <a:off x="16891" y="16891"/>
              <a:ext cx="9144000" cy="1658112"/>
            </a:xfrm>
            <a:custGeom>
              <a:avLst/>
              <a:gdLst/>
              <a:ahLst/>
              <a:cxnLst/>
              <a:rect l="l" t="t" r="r" b="b"/>
              <a:pathLst>
                <a:path w="9144000" h="1658112">
                  <a:moveTo>
                    <a:pt x="0" y="0"/>
                  </a:moveTo>
                  <a:lnTo>
                    <a:pt x="9144000" y="0"/>
                  </a:lnTo>
                  <a:lnTo>
                    <a:pt x="9144000" y="1658112"/>
                  </a:lnTo>
                  <a:lnTo>
                    <a:pt x="0" y="1658112"/>
                  </a:lnTo>
                  <a:close/>
                </a:path>
              </a:pathLst>
            </a:custGeom>
            <a:solidFill>
              <a:srgbClr val="252B42"/>
            </a:solidFill>
          </p:spPr>
          <p:txBody>
            <a:bodyPr/>
            <a:lstStyle/>
            <a:p>
              <a:endParaRPr lang="es-GT"/>
            </a:p>
          </p:txBody>
        </p:sp>
        <p:sp>
          <p:nvSpPr>
            <p:cNvPr id="97" name="Freeform 97"/>
            <p:cNvSpPr/>
            <p:nvPr/>
          </p:nvSpPr>
          <p:spPr>
            <a:xfrm>
              <a:off x="0" y="0"/>
              <a:ext cx="9177782" cy="1691894"/>
            </a:xfrm>
            <a:custGeom>
              <a:avLst/>
              <a:gdLst/>
              <a:ahLst/>
              <a:cxnLst/>
              <a:rect l="l" t="t" r="r" b="b"/>
              <a:pathLst>
                <a:path w="9177782" h="1691894">
                  <a:moveTo>
                    <a:pt x="16891" y="0"/>
                  </a:moveTo>
                  <a:lnTo>
                    <a:pt x="9160891" y="0"/>
                  </a:lnTo>
                  <a:cubicBezTo>
                    <a:pt x="9170289" y="0"/>
                    <a:pt x="9177782" y="7620"/>
                    <a:pt x="9177782" y="16891"/>
                  </a:cubicBezTo>
                  <a:lnTo>
                    <a:pt x="9177782" y="1675003"/>
                  </a:lnTo>
                  <a:cubicBezTo>
                    <a:pt x="9177782" y="1684401"/>
                    <a:pt x="9170162" y="1691894"/>
                    <a:pt x="9160891"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9160891" y="1658112"/>
                  </a:lnTo>
                  <a:lnTo>
                    <a:pt x="9160891" y="1675003"/>
                  </a:lnTo>
                  <a:lnTo>
                    <a:pt x="9144000" y="1675003"/>
                  </a:lnTo>
                  <a:lnTo>
                    <a:pt x="9144000" y="16891"/>
                  </a:lnTo>
                  <a:lnTo>
                    <a:pt x="9160891" y="16891"/>
                  </a:lnTo>
                  <a:lnTo>
                    <a:pt x="9160891" y="33909"/>
                  </a:lnTo>
                  <a:lnTo>
                    <a:pt x="16891" y="33909"/>
                  </a:lnTo>
                  <a:close/>
                </a:path>
              </a:pathLst>
            </a:custGeom>
            <a:solidFill>
              <a:srgbClr val="3A4160"/>
            </a:solidFill>
          </p:spPr>
          <p:txBody>
            <a:bodyPr/>
            <a:lstStyle/>
            <a:p>
              <a:endParaRPr lang="es-GT"/>
            </a:p>
          </p:txBody>
        </p:sp>
      </p:grpSp>
      <p:grpSp>
        <p:nvGrpSpPr>
          <p:cNvPr id="98" name="Group 98"/>
          <p:cNvGrpSpPr/>
          <p:nvPr/>
        </p:nvGrpSpPr>
        <p:grpSpPr>
          <a:xfrm>
            <a:off x="10960094" y="7403082"/>
            <a:ext cx="6309360" cy="457200"/>
            <a:chOff x="0" y="0"/>
            <a:chExt cx="8412480" cy="609600"/>
          </a:xfrm>
        </p:grpSpPr>
        <p:sp>
          <p:nvSpPr>
            <p:cNvPr id="99" name="Freeform 99"/>
            <p:cNvSpPr/>
            <p:nvPr/>
          </p:nvSpPr>
          <p:spPr>
            <a:xfrm>
              <a:off x="0" y="0"/>
              <a:ext cx="8412480" cy="609600"/>
            </a:xfrm>
            <a:custGeom>
              <a:avLst/>
              <a:gdLst/>
              <a:ahLst/>
              <a:cxnLst/>
              <a:rect l="l" t="t" r="r" b="b"/>
              <a:pathLst>
                <a:path w="8412480" h="609600">
                  <a:moveTo>
                    <a:pt x="0" y="0"/>
                  </a:moveTo>
                  <a:lnTo>
                    <a:pt x="8412480" y="0"/>
                  </a:lnTo>
                  <a:lnTo>
                    <a:pt x="8412480" y="609600"/>
                  </a:lnTo>
                  <a:lnTo>
                    <a:pt x="0" y="609600"/>
                  </a:lnTo>
                  <a:close/>
                </a:path>
              </a:pathLst>
            </a:custGeom>
            <a:blipFill>
              <a:blip r:embed="rId3">
                <a:alphaModFix amt="0"/>
              </a:blip>
              <a:stretch>
                <a:fillRect t="-218893" b="-218893"/>
              </a:stretch>
            </a:blipFill>
          </p:spPr>
          <p:txBody>
            <a:bodyPr/>
            <a:lstStyle/>
            <a:p>
              <a:endParaRPr lang="es-GT"/>
            </a:p>
          </p:txBody>
        </p:sp>
        <p:sp>
          <p:nvSpPr>
            <p:cNvPr id="100" name="TextBox 100"/>
            <p:cNvSpPr txBox="1"/>
            <p:nvPr/>
          </p:nvSpPr>
          <p:spPr>
            <a:xfrm>
              <a:off x="0" y="-38100"/>
              <a:ext cx="8412480" cy="647700"/>
            </a:xfrm>
            <a:prstGeom prst="rect">
              <a:avLst/>
            </a:prstGeom>
          </p:spPr>
          <p:txBody>
            <a:bodyPr lIns="0" tIns="0" rIns="0" bIns="0" rtlCol="0" anchor="ctr"/>
            <a:lstStyle/>
            <a:p>
              <a:pPr algn="l">
                <a:lnSpc>
                  <a:spcPts val="2280"/>
                </a:lnSpc>
              </a:pPr>
              <a:r>
                <a:rPr lang="en-US" sz="1900" b="1">
                  <a:solidFill>
                    <a:srgbClr val="5B8CFF"/>
                  </a:solidFill>
                  <a:latin typeface="Consolas Bold"/>
                  <a:ea typeface="Consolas Bold"/>
                  <a:cs typeface="Consolas Bold"/>
                  <a:sym typeface="Consolas Bold"/>
                </a:rPr>
                <a:t>Si … Entonces / SiNo</a:t>
              </a:r>
            </a:p>
          </p:txBody>
        </p:sp>
      </p:grpSp>
      <p:grpSp>
        <p:nvGrpSpPr>
          <p:cNvPr id="101" name="Group 101"/>
          <p:cNvGrpSpPr/>
          <p:nvPr/>
        </p:nvGrpSpPr>
        <p:grpSpPr>
          <a:xfrm>
            <a:off x="10960094" y="7933434"/>
            <a:ext cx="6309360" cy="512064"/>
            <a:chOff x="0" y="0"/>
            <a:chExt cx="8412480" cy="682752"/>
          </a:xfrm>
        </p:grpSpPr>
        <p:sp>
          <p:nvSpPr>
            <p:cNvPr id="102" name="Freeform 102"/>
            <p:cNvSpPr/>
            <p:nvPr/>
          </p:nvSpPr>
          <p:spPr>
            <a:xfrm>
              <a:off x="0" y="0"/>
              <a:ext cx="8412480" cy="682752"/>
            </a:xfrm>
            <a:custGeom>
              <a:avLst/>
              <a:gdLst/>
              <a:ahLst/>
              <a:cxnLst/>
              <a:rect l="l" t="t" r="r" b="b"/>
              <a:pathLst>
                <a:path w="8412480" h="682752">
                  <a:moveTo>
                    <a:pt x="0" y="0"/>
                  </a:moveTo>
                  <a:lnTo>
                    <a:pt x="8412480" y="0"/>
                  </a:lnTo>
                  <a:lnTo>
                    <a:pt x="8412480" y="682752"/>
                  </a:lnTo>
                  <a:lnTo>
                    <a:pt x="0" y="682752"/>
                  </a:lnTo>
                  <a:close/>
                </a:path>
              </a:pathLst>
            </a:custGeom>
            <a:blipFill>
              <a:blip r:embed="rId3">
                <a:alphaModFix amt="0"/>
              </a:blip>
              <a:stretch>
                <a:fillRect t="-190083" b="-190083"/>
              </a:stretch>
            </a:blipFill>
          </p:spPr>
          <p:txBody>
            <a:bodyPr/>
            <a:lstStyle/>
            <a:p>
              <a:endParaRPr lang="es-GT"/>
            </a:p>
          </p:txBody>
        </p:sp>
        <p:sp>
          <p:nvSpPr>
            <p:cNvPr id="103" name="TextBox 103"/>
            <p:cNvSpPr txBox="1"/>
            <p:nvPr/>
          </p:nvSpPr>
          <p:spPr>
            <a:xfrm>
              <a:off x="0" y="-38100"/>
              <a:ext cx="8412480" cy="720852"/>
            </a:xfrm>
            <a:prstGeom prst="rect">
              <a:avLst/>
            </a:prstGeom>
          </p:spPr>
          <p:txBody>
            <a:bodyPr lIns="0" tIns="0" rIns="0" bIns="0" rtlCol="0" anchor="ctr"/>
            <a:lstStyle/>
            <a:p>
              <a:pPr algn="l">
                <a:lnSpc>
                  <a:spcPts val="2280"/>
                </a:lnSpc>
              </a:pPr>
              <a:r>
                <a:rPr lang="en-US" sz="1900">
                  <a:solidFill>
                    <a:srgbClr val="FFFFFF"/>
                  </a:solidFill>
                  <a:latin typeface="Calibri (MS)"/>
                  <a:ea typeface="Calibri (MS)"/>
                  <a:cs typeface="Calibri (MS)"/>
                  <a:sym typeface="Calibri (MS)"/>
                </a:rPr>
                <a:t>Estructura de decisión condicional.</a:t>
              </a:r>
            </a:p>
          </p:txBody>
        </p:sp>
      </p:grpSp>
      <p:grpSp>
        <p:nvGrpSpPr>
          <p:cNvPr id="104" name="Group 104"/>
          <p:cNvGrpSpPr/>
          <p:nvPr/>
        </p:nvGrpSpPr>
        <p:grpSpPr>
          <a:xfrm>
            <a:off x="10673077" y="8652258"/>
            <a:ext cx="6883403" cy="1268987"/>
            <a:chOff x="0" y="0"/>
            <a:chExt cx="9177871" cy="1691983"/>
          </a:xfrm>
        </p:grpSpPr>
        <p:sp>
          <p:nvSpPr>
            <p:cNvPr id="105" name="Freeform 105"/>
            <p:cNvSpPr/>
            <p:nvPr/>
          </p:nvSpPr>
          <p:spPr>
            <a:xfrm>
              <a:off x="16891" y="16891"/>
              <a:ext cx="9144000" cy="1658112"/>
            </a:xfrm>
            <a:custGeom>
              <a:avLst/>
              <a:gdLst/>
              <a:ahLst/>
              <a:cxnLst/>
              <a:rect l="l" t="t" r="r" b="b"/>
              <a:pathLst>
                <a:path w="9144000" h="1658112">
                  <a:moveTo>
                    <a:pt x="0" y="0"/>
                  </a:moveTo>
                  <a:lnTo>
                    <a:pt x="9144000" y="0"/>
                  </a:lnTo>
                  <a:lnTo>
                    <a:pt x="9144000" y="1658112"/>
                  </a:lnTo>
                  <a:lnTo>
                    <a:pt x="0" y="1658112"/>
                  </a:lnTo>
                  <a:close/>
                </a:path>
              </a:pathLst>
            </a:custGeom>
            <a:solidFill>
              <a:srgbClr val="252B42"/>
            </a:solidFill>
          </p:spPr>
          <p:txBody>
            <a:bodyPr/>
            <a:lstStyle/>
            <a:p>
              <a:endParaRPr lang="es-GT"/>
            </a:p>
          </p:txBody>
        </p:sp>
        <p:sp>
          <p:nvSpPr>
            <p:cNvPr id="106" name="Freeform 106"/>
            <p:cNvSpPr/>
            <p:nvPr/>
          </p:nvSpPr>
          <p:spPr>
            <a:xfrm>
              <a:off x="0" y="0"/>
              <a:ext cx="9177782" cy="1691894"/>
            </a:xfrm>
            <a:custGeom>
              <a:avLst/>
              <a:gdLst/>
              <a:ahLst/>
              <a:cxnLst/>
              <a:rect l="l" t="t" r="r" b="b"/>
              <a:pathLst>
                <a:path w="9177782" h="1691894">
                  <a:moveTo>
                    <a:pt x="16891" y="0"/>
                  </a:moveTo>
                  <a:lnTo>
                    <a:pt x="9160891" y="0"/>
                  </a:lnTo>
                  <a:cubicBezTo>
                    <a:pt x="9170289" y="0"/>
                    <a:pt x="9177782" y="7620"/>
                    <a:pt x="9177782" y="16891"/>
                  </a:cubicBezTo>
                  <a:lnTo>
                    <a:pt x="9177782" y="1675003"/>
                  </a:lnTo>
                  <a:cubicBezTo>
                    <a:pt x="9177782" y="1684401"/>
                    <a:pt x="9170162" y="1691894"/>
                    <a:pt x="9160891"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9160891" y="1658112"/>
                  </a:lnTo>
                  <a:lnTo>
                    <a:pt x="9160891" y="1675003"/>
                  </a:lnTo>
                  <a:lnTo>
                    <a:pt x="9144000" y="1675003"/>
                  </a:lnTo>
                  <a:lnTo>
                    <a:pt x="9144000" y="16891"/>
                  </a:lnTo>
                  <a:lnTo>
                    <a:pt x="9160891" y="16891"/>
                  </a:lnTo>
                  <a:lnTo>
                    <a:pt x="9160891" y="33909"/>
                  </a:lnTo>
                  <a:lnTo>
                    <a:pt x="16891" y="33909"/>
                  </a:lnTo>
                  <a:close/>
                </a:path>
              </a:pathLst>
            </a:custGeom>
            <a:solidFill>
              <a:srgbClr val="3A4160"/>
            </a:solidFill>
          </p:spPr>
          <p:txBody>
            <a:bodyPr/>
            <a:lstStyle/>
            <a:p>
              <a:endParaRPr lang="es-GT"/>
            </a:p>
          </p:txBody>
        </p:sp>
      </p:grpSp>
      <p:grpSp>
        <p:nvGrpSpPr>
          <p:cNvPr id="107" name="Group 107"/>
          <p:cNvGrpSpPr/>
          <p:nvPr/>
        </p:nvGrpSpPr>
        <p:grpSpPr>
          <a:xfrm>
            <a:off x="10960094" y="8774682"/>
            <a:ext cx="6309360" cy="457200"/>
            <a:chOff x="0" y="0"/>
            <a:chExt cx="8412480" cy="609600"/>
          </a:xfrm>
        </p:grpSpPr>
        <p:sp>
          <p:nvSpPr>
            <p:cNvPr id="108" name="Freeform 108"/>
            <p:cNvSpPr/>
            <p:nvPr/>
          </p:nvSpPr>
          <p:spPr>
            <a:xfrm>
              <a:off x="0" y="0"/>
              <a:ext cx="8412480" cy="609600"/>
            </a:xfrm>
            <a:custGeom>
              <a:avLst/>
              <a:gdLst/>
              <a:ahLst/>
              <a:cxnLst/>
              <a:rect l="l" t="t" r="r" b="b"/>
              <a:pathLst>
                <a:path w="8412480" h="609600">
                  <a:moveTo>
                    <a:pt x="0" y="0"/>
                  </a:moveTo>
                  <a:lnTo>
                    <a:pt x="8412480" y="0"/>
                  </a:lnTo>
                  <a:lnTo>
                    <a:pt x="8412480" y="609600"/>
                  </a:lnTo>
                  <a:lnTo>
                    <a:pt x="0" y="609600"/>
                  </a:lnTo>
                  <a:close/>
                </a:path>
              </a:pathLst>
            </a:custGeom>
            <a:blipFill>
              <a:blip r:embed="rId3">
                <a:alphaModFix amt="0"/>
              </a:blip>
              <a:stretch>
                <a:fillRect t="-218893" b="-218893"/>
              </a:stretch>
            </a:blipFill>
          </p:spPr>
          <p:txBody>
            <a:bodyPr/>
            <a:lstStyle/>
            <a:p>
              <a:endParaRPr lang="es-GT"/>
            </a:p>
          </p:txBody>
        </p:sp>
        <p:sp>
          <p:nvSpPr>
            <p:cNvPr id="109" name="TextBox 109"/>
            <p:cNvSpPr txBox="1"/>
            <p:nvPr/>
          </p:nvSpPr>
          <p:spPr>
            <a:xfrm>
              <a:off x="0" y="-38100"/>
              <a:ext cx="8412480" cy="647700"/>
            </a:xfrm>
            <a:prstGeom prst="rect">
              <a:avLst/>
            </a:prstGeom>
          </p:spPr>
          <p:txBody>
            <a:bodyPr lIns="0" tIns="0" rIns="0" bIns="0" rtlCol="0" anchor="ctr"/>
            <a:lstStyle/>
            <a:p>
              <a:pPr algn="l">
                <a:lnSpc>
                  <a:spcPts val="2280"/>
                </a:lnSpc>
              </a:pPr>
              <a:r>
                <a:rPr lang="en-US" sz="1900" b="1">
                  <a:solidFill>
                    <a:srgbClr val="5EC6E8"/>
                  </a:solidFill>
                  <a:latin typeface="Consolas Bold"/>
                  <a:ea typeface="Consolas Bold"/>
                  <a:cs typeface="Consolas Bold"/>
                  <a:sym typeface="Consolas Bold"/>
                </a:rPr>
                <a:t>← (asignación)</a:t>
              </a:r>
            </a:p>
          </p:txBody>
        </p:sp>
      </p:grpSp>
      <p:grpSp>
        <p:nvGrpSpPr>
          <p:cNvPr id="110" name="Group 110"/>
          <p:cNvGrpSpPr/>
          <p:nvPr/>
        </p:nvGrpSpPr>
        <p:grpSpPr>
          <a:xfrm>
            <a:off x="10960094" y="9305034"/>
            <a:ext cx="6309360" cy="512064"/>
            <a:chOff x="0" y="0"/>
            <a:chExt cx="8412480" cy="682752"/>
          </a:xfrm>
        </p:grpSpPr>
        <p:sp>
          <p:nvSpPr>
            <p:cNvPr id="111" name="Freeform 111"/>
            <p:cNvSpPr/>
            <p:nvPr/>
          </p:nvSpPr>
          <p:spPr>
            <a:xfrm>
              <a:off x="0" y="0"/>
              <a:ext cx="8412480" cy="682752"/>
            </a:xfrm>
            <a:custGeom>
              <a:avLst/>
              <a:gdLst/>
              <a:ahLst/>
              <a:cxnLst/>
              <a:rect l="l" t="t" r="r" b="b"/>
              <a:pathLst>
                <a:path w="8412480" h="682752">
                  <a:moveTo>
                    <a:pt x="0" y="0"/>
                  </a:moveTo>
                  <a:lnTo>
                    <a:pt x="8412480" y="0"/>
                  </a:lnTo>
                  <a:lnTo>
                    <a:pt x="8412480" y="682752"/>
                  </a:lnTo>
                  <a:lnTo>
                    <a:pt x="0" y="682752"/>
                  </a:lnTo>
                  <a:close/>
                </a:path>
              </a:pathLst>
            </a:custGeom>
            <a:blipFill>
              <a:blip r:embed="rId3">
                <a:alphaModFix amt="0"/>
              </a:blip>
              <a:stretch>
                <a:fillRect t="-190083" b="-190083"/>
              </a:stretch>
            </a:blipFill>
          </p:spPr>
          <p:txBody>
            <a:bodyPr/>
            <a:lstStyle/>
            <a:p>
              <a:endParaRPr lang="es-GT"/>
            </a:p>
          </p:txBody>
        </p:sp>
        <p:sp>
          <p:nvSpPr>
            <p:cNvPr id="112" name="TextBox 112"/>
            <p:cNvSpPr txBox="1"/>
            <p:nvPr/>
          </p:nvSpPr>
          <p:spPr>
            <a:xfrm>
              <a:off x="0" y="-38100"/>
              <a:ext cx="8412480" cy="720852"/>
            </a:xfrm>
            <a:prstGeom prst="rect">
              <a:avLst/>
            </a:prstGeom>
          </p:spPr>
          <p:txBody>
            <a:bodyPr lIns="0" tIns="0" rIns="0" bIns="0" rtlCol="0" anchor="ctr"/>
            <a:lstStyle/>
            <a:p>
              <a:pPr algn="l">
                <a:lnSpc>
                  <a:spcPts val="2280"/>
                </a:lnSpc>
              </a:pPr>
              <a:r>
                <a:rPr lang="en-US" sz="1900">
                  <a:solidFill>
                    <a:srgbClr val="FFFFFF"/>
                  </a:solidFill>
                  <a:latin typeface="Calibri (MS)"/>
                  <a:ea typeface="Calibri (MS)"/>
                  <a:cs typeface="Calibri (MS)"/>
                  <a:sym typeface="Calibri (MS)"/>
                </a:rPr>
                <a:t>Asigna un valor a una variable.</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E2235"/>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16891" y="16891"/>
              <a:ext cx="24383999" cy="1755648"/>
            </a:xfrm>
            <a:custGeom>
              <a:avLst/>
              <a:gdLst/>
              <a:ahLst/>
              <a:cxnLst/>
              <a:rect l="l" t="t" r="r" b="b"/>
              <a:pathLst>
                <a:path w="24383999" h="1755648">
                  <a:moveTo>
                    <a:pt x="0" y="0"/>
                  </a:moveTo>
                  <a:lnTo>
                    <a:pt x="24383999" y="0"/>
                  </a:lnTo>
                  <a:lnTo>
                    <a:pt x="24383999" y="1755648"/>
                  </a:lnTo>
                  <a:lnTo>
                    <a:pt x="0" y="1755648"/>
                  </a:lnTo>
                  <a:close/>
                </a:path>
              </a:pathLst>
            </a:custGeom>
            <a:solidFill>
              <a:srgbClr val="161929"/>
            </a:solidFill>
          </p:spPr>
          <p:txBody>
            <a:bodyPr/>
            <a:lstStyle/>
            <a:p>
              <a:endParaRPr lang="es-GT"/>
            </a:p>
          </p:txBody>
        </p:sp>
        <p:sp>
          <p:nvSpPr>
            <p:cNvPr id="4" name="Freeform 4"/>
            <p:cNvSpPr/>
            <p:nvPr/>
          </p:nvSpPr>
          <p:spPr>
            <a:xfrm>
              <a:off x="0" y="0"/>
              <a:ext cx="24417782" cy="1789430"/>
            </a:xfrm>
            <a:custGeom>
              <a:avLst/>
              <a:gdLst/>
              <a:ahLst/>
              <a:cxnLst/>
              <a:rect l="l" t="t" r="r" b="b"/>
              <a:pathLst>
                <a:path w="24417782" h="1789430">
                  <a:moveTo>
                    <a:pt x="16891" y="0"/>
                  </a:moveTo>
                  <a:lnTo>
                    <a:pt x="24400890" y="0"/>
                  </a:lnTo>
                  <a:cubicBezTo>
                    <a:pt x="24410290" y="0"/>
                    <a:pt x="24417782" y="7620"/>
                    <a:pt x="24417782" y="16891"/>
                  </a:cubicBezTo>
                  <a:lnTo>
                    <a:pt x="24417782" y="1772539"/>
                  </a:lnTo>
                  <a:cubicBezTo>
                    <a:pt x="24417782" y="1781937"/>
                    <a:pt x="24410163" y="1789430"/>
                    <a:pt x="24400890"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24400890" y="1755648"/>
                  </a:lnTo>
                  <a:lnTo>
                    <a:pt x="24400890" y="1772539"/>
                  </a:lnTo>
                  <a:lnTo>
                    <a:pt x="24384000" y="1772539"/>
                  </a:lnTo>
                  <a:lnTo>
                    <a:pt x="24384000" y="16891"/>
                  </a:lnTo>
                  <a:lnTo>
                    <a:pt x="24400890" y="16891"/>
                  </a:lnTo>
                  <a:lnTo>
                    <a:pt x="24400890" y="33909"/>
                  </a:lnTo>
                  <a:lnTo>
                    <a:pt x="16891" y="33909"/>
                  </a:lnTo>
                  <a:close/>
                </a:path>
              </a:pathLst>
            </a:custGeom>
            <a:solidFill>
              <a:srgbClr val="161929"/>
            </a:solidFill>
          </p:spPr>
          <p:txBody>
            <a:bodyPr/>
            <a:lstStyle/>
            <a:p>
              <a:endParaRPr lang="es-GT"/>
            </a:p>
          </p:txBody>
        </p:sp>
      </p:grpSp>
      <p:grpSp>
        <p:nvGrpSpPr>
          <p:cNvPr id="5" name="Group 5"/>
          <p:cNvGrpSpPr/>
          <p:nvPr/>
        </p:nvGrpSpPr>
        <p:grpSpPr>
          <a:xfrm>
            <a:off x="-12697" y="1304039"/>
            <a:ext cx="18313403" cy="98555"/>
            <a:chOff x="0" y="0"/>
            <a:chExt cx="24417871" cy="131407"/>
          </a:xfrm>
        </p:grpSpPr>
        <p:sp>
          <p:nvSpPr>
            <p:cNvPr id="6" name="Freeform 6"/>
            <p:cNvSpPr/>
            <p:nvPr/>
          </p:nvSpPr>
          <p:spPr>
            <a:xfrm>
              <a:off x="16891" y="16891"/>
              <a:ext cx="24383999" cy="97536"/>
            </a:xfrm>
            <a:custGeom>
              <a:avLst/>
              <a:gdLst/>
              <a:ahLst/>
              <a:cxnLst/>
              <a:rect l="l" t="t" r="r" b="b"/>
              <a:pathLst>
                <a:path w="24383999" h="97536">
                  <a:moveTo>
                    <a:pt x="0" y="0"/>
                  </a:moveTo>
                  <a:lnTo>
                    <a:pt x="24383999" y="0"/>
                  </a:lnTo>
                  <a:lnTo>
                    <a:pt x="24383999" y="97536"/>
                  </a:lnTo>
                  <a:lnTo>
                    <a:pt x="0" y="97536"/>
                  </a:lnTo>
                  <a:close/>
                </a:path>
              </a:pathLst>
            </a:custGeom>
            <a:solidFill>
              <a:srgbClr val="5B8CFF"/>
            </a:solidFill>
          </p:spPr>
          <p:txBody>
            <a:bodyPr/>
            <a:lstStyle/>
            <a:p>
              <a:endParaRPr lang="es-GT"/>
            </a:p>
          </p:txBody>
        </p:sp>
        <p:sp>
          <p:nvSpPr>
            <p:cNvPr id="7" name="Freeform 7"/>
            <p:cNvSpPr/>
            <p:nvPr/>
          </p:nvSpPr>
          <p:spPr>
            <a:xfrm>
              <a:off x="0" y="0"/>
              <a:ext cx="24417782" cy="131320"/>
            </a:xfrm>
            <a:custGeom>
              <a:avLst/>
              <a:gdLst/>
              <a:ahLst/>
              <a:cxnLst/>
              <a:rect l="l" t="t" r="r" b="b"/>
              <a:pathLst>
                <a:path w="24417782" h="131320">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5B8CFF"/>
            </a:solidFill>
          </p:spPr>
          <p:txBody>
            <a:bodyPr/>
            <a:lstStyle/>
            <a:p>
              <a:endParaRPr lang="es-GT"/>
            </a:p>
          </p:txBody>
        </p:sp>
      </p:grpSp>
      <p:grpSp>
        <p:nvGrpSpPr>
          <p:cNvPr id="8" name="Group 8"/>
          <p:cNvGrpSpPr/>
          <p:nvPr/>
        </p:nvGrpSpPr>
        <p:grpSpPr>
          <a:xfrm>
            <a:off x="822960" y="0"/>
            <a:ext cx="16642080" cy="1316736"/>
            <a:chOff x="0" y="0"/>
            <a:chExt cx="22189440" cy="1755648"/>
          </a:xfrm>
        </p:grpSpPr>
        <p:sp>
          <p:nvSpPr>
            <p:cNvPr id="9" name="Freeform 9"/>
            <p:cNvSpPr/>
            <p:nvPr/>
          </p:nvSpPr>
          <p:spPr>
            <a:xfrm>
              <a:off x="0" y="0"/>
              <a:ext cx="22189439" cy="1755648"/>
            </a:xfrm>
            <a:custGeom>
              <a:avLst/>
              <a:gdLst/>
              <a:ahLst/>
              <a:cxnLst/>
              <a:rect l="l" t="t" r="r" b="b"/>
              <a:pathLst>
                <a:path w="22189439" h="1755648">
                  <a:moveTo>
                    <a:pt x="0" y="0"/>
                  </a:moveTo>
                  <a:lnTo>
                    <a:pt x="22189439" y="0"/>
                  </a:lnTo>
                  <a:lnTo>
                    <a:pt x="22189439" y="1755648"/>
                  </a:lnTo>
                  <a:lnTo>
                    <a:pt x="0" y="1755648"/>
                  </a:lnTo>
                  <a:close/>
                </a:path>
              </a:pathLst>
            </a:custGeom>
            <a:blipFill>
              <a:blip r:embed="rId3">
                <a:alphaModFix amt="0"/>
              </a:blip>
              <a:stretch>
                <a:fillRect t="-196269" b="-196269"/>
              </a:stretch>
            </a:blipFill>
          </p:spPr>
          <p:txBody>
            <a:bodyPr/>
            <a:lstStyle/>
            <a:p>
              <a:endParaRPr lang="es-GT"/>
            </a:p>
          </p:txBody>
        </p:sp>
        <p:sp>
          <p:nvSpPr>
            <p:cNvPr id="10" name="TextBox 10"/>
            <p:cNvSpPr txBox="1"/>
            <p:nvPr/>
          </p:nvSpPr>
          <p:spPr>
            <a:xfrm>
              <a:off x="0" y="-76200"/>
              <a:ext cx="22189440" cy="1831848"/>
            </a:xfrm>
            <a:prstGeom prst="rect">
              <a:avLst/>
            </a:prstGeom>
          </p:spPr>
          <p:txBody>
            <a:bodyPr lIns="0" tIns="0" rIns="0" bIns="0" rtlCol="0" anchor="ctr"/>
            <a:lstStyle/>
            <a:p>
              <a:pPr algn="l">
                <a:lnSpc>
                  <a:spcPts val="5280"/>
                </a:lnSpc>
              </a:pPr>
              <a:r>
                <a:rPr lang="en-US" sz="4400" b="1">
                  <a:solidFill>
                    <a:srgbClr val="FFFFFF"/>
                  </a:solidFill>
                  <a:latin typeface="Calibri (MS) Bold"/>
                  <a:ea typeface="Calibri (MS) Bold"/>
                  <a:cs typeface="Calibri (MS) Bold"/>
                  <a:sym typeface="Calibri (MS) Bold"/>
                </a:rPr>
                <a:t>Pensamiento algorítmico – Definición</a:t>
              </a:r>
            </a:p>
          </p:txBody>
        </p:sp>
      </p:grpSp>
      <p:grpSp>
        <p:nvGrpSpPr>
          <p:cNvPr id="11" name="Group 11"/>
          <p:cNvGrpSpPr/>
          <p:nvPr/>
        </p:nvGrpSpPr>
        <p:grpSpPr>
          <a:xfrm>
            <a:off x="-12697" y="9954263"/>
            <a:ext cx="18313403" cy="345443"/>
            <a:chOff x="0" y="0"/>
            <a:chExt cx="24417871" cy="460591"/>
          </a:xfrm>
        </p:grpSpPr>
        <p:sp>
          <p:nvSpPr>
            <p:cNvPr id="12" name="Freeform 12"/>
            <p:cNvSpPr/>
            <p:nvPr/>
          </p:nvSpPr>
          <p:spPr>
            <a:xfrm>
              <a:off x="16891" y="16891"/>
              <a:ext cx="24383999" cy="426720"/>
            </a:xfrm>
            <a:custGeom>
              <a:avLst/>
              <a:gdLst/>
              <a:ahLst/>
              <a:cxnLst/>
              <a:rect l="l" t="t" r="r" b="b"/>
              <a:pathLst>
                <a:path w="24383999" h="426720">
                  <a:moveTo>
                    <a:pt x="0" y="0"/>
                  </a:moveTo>
                  <a:lnTo>
                    <a:pt x="24383999" y="0"/>
                  </a:lnTo>
                  <a:lnTo>
                    <a:pt x="24383999" y="426720"/>
                  </a:lnTo>
                  <a:lnTo>
                    <a:pt x="0" y="426720"/>
                  </a:lnTo>
                  <a:close/>
                </a:path>
              </a:pathLst>
            </a:custGeom>
            <a:solidFill>
              <a:srgbClr val="12152A"/>
            </a:solidFill>
          </p:spPr>
          <p:txBody>
            <a:bodyPr/>
            <a:lstStyle/>
            <a:p>
              <a:endParaRPr lang="es-GT"/>
            </a:p>
          </p:txBody>
        </p:sp>
        <p:sp>
          <p:nvSpPr>
            <p:cNvPr id="13" name="Freeform 13"/>
            <p:cNvSpPr/>
            <p:nvPr/>
          </p:nvSpPr>
          <p:spPr>
            <a:xfrm>
              <a:off x="0" y="0"/>
              <a:ext cx="24417782" cy="460504"/>
            </a:xfrm>
            <a:custGeom>
              <a:avLst/>
              <a:gdLst/>
              <a:ahLst/>
              <a:cxnLst/>
              <a:rect l="l" t="t" r="r" b="b"/>
              <a:pathLst>
                <a:path w="24417782" h="460504">
                  <a:moveTo>
                    <a:pt x="16891" y="0"/>
                  </a:moveTo>
                  <a:lnTo>
                    <a:pt x="24400890" y="0"/>
                  </a:lnTo>
                  <a:cubicBezTo>
                    <a:pt x="24410290" y="0"/>
                    <a:pt x="24417782" y="7620"/>
                    <a:pt x="24417782" y="16891"/>
                  </a:cubicBezTo>
                  <a:lnTo>
                    <a:pt x="24417782" y="443611"/>
                  </a:lnTo>
                  <a:cubicBezTo>
                    <a:pt x="24417782" y="453009"/>
                    <a:pt x="24410163" y="460502"/>
                    <a:pt x="24400890" y="460502"/>
                  </a:cubicBezTo>
                  <a:lnTo>
                    <a:pt x="16891" y="460502"/>
                  </a:lnTo>
                  <a:cubicBezTo>
                    <a:pt x="7620" y="460629"/>
                    <a:pt x="0" y="453009"/>
                    <a:pt x="0" y="443611"/>
                  </a:cubicBezTo>
                  <a:lnTo>
                    <a:pt x="0" y="16891"/>
                  </a:lnTo>
                  <a:cubicBezTo>
                    <a:pt x="0" y="7620"/>
                    <a:pt x="7620" y="0"/>
                    <a:pt x="16891" y="0"/>
                  </a:cubicBezTo>
                  <a:moveTo>
                    <a:pt x="16891" y="33909"/>
                  </a:moveTo>
                  <a:lnTo>
                    <a:pt x="16891" y="16891"/>
                  </a:lnTo>
                  <a:lnTo>
                    <a:pt x="33909" y="16891"/>
                  </a:lnTo>
                  <a:lnTo>
                    <a:pt x="33909" y="443611"/>
                  </a:lnTo>
                  <a:lnTo>
                    <a:pt x="16891" y="443611"/>
                  </a:lnTo>
                  <a:lnTo>
                    <a:pt x="16891" y="426720"/>
                  </a:lnTo>
                  <a:lnTo>
                    <a:pt x="24400890" y="426720"/>
                  </a:lnTo>
                  <a:lnTo>
                    <a:pt x="24400890" y="443611"/>
                  </a:lnTo>
                  <a:lnTo>
                    <a:pt x="24384000" y="443611"/>
                  </a:lnTo>
                  <a:lnTo>
                    <a:pt x="24384000" y="16891"/>
                  </a:lnTo>
                  <a:lnTo>
                    <a:pt x="24400890" y="16891"/>
                  </a:lnTo>
                  <a:lnTo>
                    <a:pt x="24400890" y="33909"/>
                  </a:lnTo>
                  <a:lnTo>
                    <a:pt x="16891" y="33909"/>
                  </a:lnTo>
                  <a:close/>
                </a:path>
              </a:pathLst>
            </a:custGeom>
            <a:solidFill>
              <a:srgbClr val="12152A"/>
            </a:solidFill>
          </p:spPr>
          <p:txBody>
            <a:bodyPr/>
            <a:lstStyle/>
            <a:p>
              <a:endParaRPr lang="es-GT"/>
            </a:p>
          </p:txBody>
        </p:sp>
      </p:grpSp>
      <p:grpSp>
        <p:nvGrpSpPr>
          <p:cNvPr id="14" name="Group 14"/>
          <p:cNvGrpSpPr/>
          <p:nvPr/>
        </p:nvGrpSpPr>
        <p:grpSpPr>
          <a:xfrm>
            <a:off x="17007840" y="9966960"/>
            <a:ext cx="914400" cy="320040"/>
            <a:chOff x="0" y="0"/>
            <a:chExt cx="1219200" cy="426720"/>
          </a:xfrm>
        </p:grpSpPr>
        <p:sp>
          <p:nvSpPr>
            <p:cNvPr id="15" name="Freeform 15"/>
            <p:cNvSpPr/>
            <p:nvPr/>
          </p:nvSpPr>
          <p:spPr>
            <a:xfrm>
              <a:off x="0" y="0"/>
              <a:ext cx="1219200" cy="426720"/>
            </a:xfrm>
            <a:custGeom>
              <a:avLst/>
              <a:gdLst/>
              <a:ahLst/>
              <a:cxnLst/>
              <a:rect l="l" t="t" r="r" b="b"/>
              <a:pathLst>
                <a:path w="1219200" h="426720">
                  <a:moveTo>
                    <a:pt x="0" y="0"/>
                  </a:moveTo>
                  <a:lnTo>
                    <a:pt x="1219200" y="0"/>
                  </a:lnTo>
                  <a:lnTo>
                    <a:pt x="1219200" y="426720"/>
                  </a:lnTo>
                  <a:lnTo>
                    <a:pt x="0" y="426720"/>
                  </a:lnTo>
                  <a:close/>
                </a:path>
              </a:pathLst>
            </a:custGeom>
            <a:blipFill>
              <a:blip r:embed="rId3">
                <a:alphaModFix amt="0"/>
              </a:blip>
              <a:stretch>
                <a:fillRect t="-5671" b="-5671"/>
              </a:stretch>
            </a:blipFill>
          </p:spPr>
          <p:txBody>
            <a:bodyPr/>
            <a:lstStyle/>
            <a:p>
              <a:endParaRPr lang="es-GT"/>
            </a:p>
          </p:txBody>
        </p:sp>
        <p:sp>
          <p:nvSpPr>
            <p:cNvPr id="16" name="TextBox 16"/>
            <p:cNvSpPr txBox="1"/>
            <p:nvPr/>
          </p:nvSpPr>
          <p:spPr>
            <a:xfrm>
              <a:off x="0" y="-38100"/>
              <a:ext cx="1219200" cy="464820"/>
            </a:xfrm>
            <a:prstGeom prst="rect">
              <a:avLst/>
            </a:prstGeom>
          </p:spPr>
          <p:txBody>
            <a:bodyPr lIns="0" tIns="0" rIns="0" bIns="0" rtlCol="0" anchor="ctr"/>
            <a:lstStyle/>
            <a:p>
              <a:pPr algn="r">
                <a:lnSpc>
                  <a:spcPts val="1800"/>
                </a:lnSpc>
              </a:pPr>
              <a:r>
                <a:rPr lang="en-US" sz="1500">
                  <a:solidFill>
                    <a:srgbClr val="6E7A9F"/>
                  </a:solidFill>
                  <a:latin typeface="Calibri (MS)"/>
                  <a:ea typeface="Calibri (MS)"/>
                  <a:cs typeface="Calibri (MS)"/>
                  <a:sym typeface="Calibri (MS)"/>
                </a:rPr>
                <a:t>16</a:t>
              </a:r>
            </a:p>
          </p:txBody>
        </p:sp>
      </p:grpSp>
      <p:grpSp>
        <p:nvGrpSpPr>
          <p:cNvPr id="17" name="Group 17"/>
          <p:cNvGrpSpPr/>
          <p:nvPr/>
        </p:nvGrpSpPr>
        <p:grpSpPr>
          <a:xfrm>
            <a:off x="718823" y="1596647"/>
            <a:ext cx="16850363" cy="2677163"/>
            <a:chOff x="0" y="0"/>
            <a:chExt cx="22467151" cy="3569551"/>
          </a:xfrm>
        </p:grpSpPr>
        <p:sp>
          <p:nvSpPr>
            <p:cNvPr id="18" name="Freeform 18"/>
            <p:cNvSpPr/>
            <p:nvPr/>
          </p:nvSpPr>
          <p:spPr>
            <a:xfrm>
              <a:off x="16891" y="16891"/>
              <a:ext cx="22433280" cy="3535680"/>
            </a:xfrm>
            <a:custGeom>
              <a:avLst/>
              <a:gdLst/>
              <a:ahLst/>
              <a:cxnLst/>
              <a:rect l="l" t="t" r="r" b="b"/>
              <a:pathLst>
                <a:path w="22433280" h="3535680">
                  <a:moveTo>
                    <a:pt x="0" y="0"/>
                  </a:moveTo>
                  <a:lnTo>
                    <a:pt x="22433280" y="0"/>
                  </a:lnTo>
                  <a:lnTo>
                    <a:pt x="22433280" y="3535680"/>
                  </a:lnTo>
                  <a:lnTo>
                    <a:pt x="0" y="3535680"/>
                  </a:lnTo>
                  <a:close/>
                </a:path>
              </a:pathLst>
            </a:custGeom>
            <a:solidFill>
              <a:srgbClr val="252B42"/>
            </a:solidFill>
          </p:spPr>
          <p:txBody>
            <a:bodyPr/>
            <a:lstStyle/>
            <a:p>
              <a:endParaRPr lang="es-GT"/>
            </a:p>
          </p:txBody>
        </p:sp>
        <p:sp>
          <p:nvSpPr>
            <p:cNvPr id="19" name="Freeform 19"/>
            <p:cNvSpPr/>
            <p:nvPr/>
          </p:nvSpPr>
          <p:spPr>
            <a:xfrm>
              <a:off x="0" y="0"/>
              <a:ext cx="22467063" cy="3569462"/>
            </a:xfrm>
            <a:custGeom>
              <a:avLst/>
              <a:gdLst/>
              <a:ahLst/>
              <a:cxnLst/>
              <a:rect l="l" t="t" r="r" b="b"/>
              <a:pathLst>
                <a:path w="22467063" h="3569462">
                  <a:moveTo>
                    <a:pt x="16891" y="0"/>
                  </a:moveTo>
                  <a:lnTo>
                    <a:pt x="22450171" y="0"/>
                  </a:lnTo>
                  <a:cubicBezTo>
                    <a:pt x="22459569" y="0"/>
                    <a:pt x="22467063" y="7620"/>
                    <a:pt x="22467063" y="16891"/>
                  </a:cubicBezTo>
                  <a:lnTo>
                    <a:pt x="22467063" y="3552571"/>
                  </a:lnTo>
                  <a:cubicBezTo>
                    <a:pt x="22467063" y="3561969"/>
                    <a:pt x="22459443" y="3569462"/>
                    <a:pt x="22450171" y="3569462"/>
                  </a:cubicBezTo>
                  <a:lnTo>
                    <a:pt x="16891" y="3569462"/>
                  </a:lnTo>
                  <a:cubicBezTo>
                    <a:pt x="7493" y="3569462"/>
                    <a:pt x="0" y="3561842"/>
                    <a:pt x="0" y="3552571"/>
                  </a:cubicBezTo>
                  <a:lnTo>
                    <a:pt x="0" y="16891"/>
                  </a:lnTo>
                  <a:cubicBezTo>
                    <a:pt x="0" y="7620"/>
                    <a:pt x="7620" y="0"/>
                    <a:pt x="16891" y="0"/>
                  </a:cubicBezTo>
                  <a:moveTo>
                    <a:pt x="16891" y="33909"/>
                  </a:moveTo>
                  <a:lnTo>
                    <a:pt x="16891" y="16891"/>
                  </a:lnTo>
                  <a:lnTo>
                    <a:pt x="33909" y="16891"/>
                  </a:lnTo>
                  <a:lnTo>
                    <a:pt x="33909" y="3552571"/>
                  </a:lnTo>
                  <a:lnTo>
                    <a:pt x="16891" y="3552571"/>
                  </a:lnTo>
                  <a:lnTo>
                    <a:pt x="16891" y="3535680"/>
                  </a:lnTo>
                  <a:lnTo>
                    <a:pt x="22450171" y="3535680"/>
                  </a:lnTo>
                  <a:lnTo>
                    <a:pt x="22450171" y="3552571"/>
                  </a:lnTo>
                  <a:lnTo>
                    <a:pt x="22433280" y="3552571"/>
                  </a:lnTo>
                  <a:lnTo>
                    <a:pt x="22433280" y="16891"/>
                  </a:lnTo>
                  <a:lnTo>
                    <a:pt x="22450171" y="16891"/>
                  </a:lnTo>
                  <a:lnTo>
                    <a:pt x="22450171" y="33909"/>
                  </a:lnTo>
                  <a:lnTo>
                    <a:pt x="16891" y="33909"/>
                  </a:lnTo>
                  <a:close/>
                </a:path>
              </a:pathLst>
            </a:custGeom>
            <a:solidFill>
              <a:srgbClr val="3A4160"/>
            </a:solidFill>
          </p:spPr>
          <p:txBody>
            <a:bodyPr/>
            <a:lstStyle/>
            <a:p>
              <a:endParaRPr lang="es-GT"/>
            </a:p>
          </p:txBody>
        </p:sp>
      </p:grpSp>
      <p:grpSp>
        <p:nvGrpSpPr>
          <p:cNvPr id="20" name="Group 20"/>
          <p:cNvGrpSpPr/>
          <p:nvPr/>
        </p:nvGrpSpPr>
        <p:grpSpPr>
          <a:xfrm>
            <a:off x="1097280" y="1792224"/>
            <a:ext cx="16093440" cy="2231136"/>
            <a:chOff x="0" y="0"/>
            <a:chExt cx="21457920" cy="2974848"/>
          </a:xfrm>
        </p:grpSpPr>
        <p:sp>
          <p:nvSpPr>
            <p:cNvPr id="21" name="Freeform 21"/>
            <p:cNvSpPr/>
            <p:nvPr/>
          </p:nvSpPr>
          <p:spPr>
            <a:xfrm>
              <a:off x="0" y="0"/>
              <a:ext cx="21457920" cy="2974848"/>
            </a:xfrm>
            <a:custGeom>
              <a:avLst/>
              <a:gdLst/>
              <a:ahLst/>
              <a:cxnLst/>
              <a:rect l="l" t="t" r="r" b="b"/>
              <a:pathLst>
                <a:path w="21457920" h="2974848">
                  <a:moveTo>
                    <a:pt x="0" y="0"/>
                  </a:moveTo>
                  <a:lnTo>
                    <a:pt x="21457920" y="0"/>
                  </a:lnTo>
                  <a:lnTo>
                    <a:pt x="21457920" y="2974848"/>
                  </a:lnTo>
                  <a:lnTo>
                    <a:pt x="0" y="2974848"/>
                  </a:lnTo>
                  <a:close/>
                </a:path>
              </a:pathLst>
            </a:custGeom>
            <a:blipFill>
              <a:blip r:embed="rId3">
                <a:alphaModFix amt="0"/>
              </a:blip>
              <a:stretch>
                <a:fillRect t="-90547" b="-90547"/>
              </a:stretch>
            </a:blipFill>
          </p:spPr>
          <p:txBody>
            <a:bodyPr/>
            <a:lstStyle/>
            <a:p>
              <a:endParaRPr lang="es-GT"/>
            </a:p>
          </p:txBody>
        </p:sp>
        <p:sp>
          <p:nvSpPr>
            <p:cNvPr id="22" name="TextBox 22"/>
            <p:cNvSpPr txBox="1"/>
            <p:nvPr/>
          </p:nvSpPr>
          <p:spPr>
            <a:xfrm>
              <a:off x="0" y="-57150"/>
              <a:ext cx="21457920" cy="3031998"/>
            </a:xfrm>
            <a:prstGeom prst="rect">
              <a:avLst/>
            </a:prstGeom>
          </p:spPr>
          <p:txBody>
            <a:bodyPr lIns="0" tIns="0" rIns="0" bIns="0" rtlCol="0" anchor="ctr"/>
            <a:lstStyle/>
            <a:p>
              <a:pPr algn="l">
                <a:lnSpc>
                  <a:spcPts val="3120"/>
                </a:lnSpc>
              </a:pPr>
              <a:r>
                <a:rPr lang="en-US" sz="2600">
                  <a:solidFill>
                    <a:srgbClr val="FFFFFF"/>
                  </a:solidFill>
                  <a:latin typeface="Calibri (MS)"/>
                  <a:ea typeface="Calibri (MS)"/>
                  <a:cs typeface="Calibri (MS)"/>
                  <a:sym typeface="Calibri (MS)"/>
                </a:rPr>
                <a:t>Pensamiento algorítmico es la capacidad de analizar un problema, identificar sus componentes esenciales y diseñar una secuencia de pasos lógicos y ordenados que conduzcan a su resolución de manera sistemática, reproducible y eficiente.</a:t>
              </a:r>
            </a:p>
          </p:txBody>
        </p:sp>
      </p:grpSp>
      <p:grpSp>
        <p:nvGrpSpPr>
          <p:cNvPr id="23" name="Group 23"/>
          <p:cNvGrpSpPr/>
          <p:nvPr/>
        </p:nvGrpSpPr>
        <p:grpSpPr>
          <a:xfrm>
            <a:off x="718823" y="4522727"/>
            <a:ext cx="8255003" cy="2311403"/>
            <a:chOff x="0" y="0"/>
            <a:chExt cx="11006671" cy="3081871"/>
          </a:xfrm>
        </p:grpSpPr>
        <p:sp>
          <p:nvSpPr>
            <p:cNvPr id="24" name="Freeform 24"/>
            <p:cNvSpPr/>
            <p:nvPr/>
          </p:nvSpPr>
          <p:spPr>
            <a:xfrm>
              <a:off x="16891" y="16891"/>
              <a:ext cx="10972800" cy="3048000"/>
            </a:xfrm>
            <a:custGeom>
              <a:avLst/>
              <a:gdLst/>
              <a:ahLst/>
              <a:cxnLst/>
              <a:rect l="l" t="t" r="r" b="b"/>
              <a:pathLst>
                <a:path w="10972800" h="3048000">
                  <a:moveTo>
                    <a:pt x="0" y="0"/>
                  </a:moveTo>
                  <a:lnTo>
                    <a:pt x="10972800" y="0"/>
                  </a:lnTo>
                  <a:lnTo>
                    <a:pt x="10972800" y="3048000"/>
                  </a:lnTo>
                  <a:lnTo>
                    <a:pt x="0" y="3048000"/>
                  </a:lnTo>
                  <a:close/>
                </a:path>
              </a:pathLst>
            </a:custGeom>
            <a:solidFill>
              <a:srgbClr val="252B42"/>
            </a:solidFill>
          </p:spPr>
          <p:txBody>
            <a:bodyPr/>
            <a:lstStyle/>
            <a:p>
              <a:endParaRPr lang="es-GT"/>
            </a:p>
          </p:txBody>
        </p:sp>
        <p:sp>
          <p:nvSpPr>
            <p:cNvPr id="25" name="Freeform 25"/>
            <p:cNvSpPr/>
            <p:nvPr/>
          </p:nvSpPr>
          <p:spPr>
            <a:xfrm>
              <a:off x="0" y="0"/>
              <a:ext cx="11006582" cy="3081782"/>
            </a:xfrm>
            <a:custGeom>
              <a:avLst/>
              <a:gdLst/>
              <a:ahLst/>
              <a:cxnLst/>
              <a:rect l="l" t="t" r="r" b="b"/>
              <a:pathLst>
                <a:path w="11006582" h="3081782">
                  <a:moveTo>
                    <a:pt x="16891" y="0"/>
                  </a:moveTo>
                  <a:lnTo>
                    <a:pt x="10989691" y="0"/>
                  </a:lnTo>
                  <a:cubicBezTo>
                    <a:pt x="10999089" y="0"/>
                    <a:pt x="11006582" y="7620"/>
                    <a:pt x="11006582" y="16891"/>
                  </a:cubicBezTo>
                  <a:lnTo>
                    <a:pt x="11006582" y="3064891"/>
                  </a:lnTo>
                  <a:cubicBezTo>
                    <a:pt x="11006582" y="3074289"/>
                    <a:pt x="10998962" y="3081782"/>
                    <a:pt x="10989691" y="3081782"/>
                  </a:cubicBezTo>
                  <a:lnTo>
                    <a:pt x="16891" y="3081782"/>
                  </a:lnTo>
                  <a:cubicBezTo>
                    <a:pt x="7493" y="3081782"/>
                    <a:pt x="0" y="3074162"/>
                    <a:pt x="0" y="3064891"/>
                  </a:cubicBezTo>
                  <a:lnTo>
                    <a:pt x="0" y="16891"/>
                  </a:lnTo>
                  <a:cubicBezTo>
                    <a:pt x="0" y="7620"/>
                    <a:pt x="7620" y="0"/>
                    <a:pt x="16891" y="0"/>
                  </a:cubicBezTo>
                  <a:moveTo>
                    <a:pt x="16891" y="33909"/>
                  </a:moveTo>
                  <a:lnTo>
                    <a:pt x="16891" y="16891"/>
                  </a:lnTo>
                  <a:lnTo>
                    <a:pt x="33909" y="16891"/>
                  </a:lnTo>
                  <a:lnTo>
                    <a:pt x="33909" y="3064891"/>
                  </a:lnTo>
                  <a:lnTo>
                    <a:pt x="16891" y="3064891"/>
                  </a:lnTo>
                  <a:lnTo>
                    <a:pt x="16891" y="3048000"/>
                  </a:lnTo>
                  <a:lnTo>
                    <a:pt x="10989691" y="3048000"/>
                  </a:lnTo>
                  <a:lnTo>
                    <a:pt x="10989691" y="3064891"/>
                  </a:lnTo>
                  <a:lnTo>
                    <a:pt x="10972800" y="3064891"/>
                  </a:lnTo>
                  <a:lnTo>
                    <a:pt x="10972800" y="16891"/>
                  </a:lnTo>
                  <a:lnTo>
                    <a:pt x="10989691" y="16891"/>
                  </a:lnTo>
                  <a:lnTo>
                    <a:pt x="10989691" y="33909"/>
                  </a:lnTo>
                  <a:lnTo>
                    <a:pt x="16891" y="33909"/>
                  </a:lnTo>
                  <a:close/>
                </a:path>
              </a:pathLst>
            </a:custGeom>
            <a:solidFill>
              <a:srgbClr val="5B8CFF"/>
            </a:solidFill>
          </p:spPr>
          <p:txBody>
            <a:bodyPr/>
            <a:lstStyle/>
            <a:p>
              <a:endParaRPr lang="es-GT"/>
            </a:p>
          </p:txBody>
        </p:sp>
      </p:grpSp>
      <p:grpSp>
        <p:nvGrpSpPr>
          <p:cNvPr id="26" name="Group 26"/>
          <p:cNvGrpSpPr/>
          <p:nvPr/>
        </p:nvGrpSpPr>
        <p:grpSpPr>
          <a:xfrm>
            <a:off x="718823" y="4522727"/>
            <a:ext cx="171707" cy="2311403"/>
            <a:chOff x="0" y="0"/>
            <a:chExt cx="228943" cy="3081871"/>
          </a:xfrm>
        </p:grpSpPr>
        <p:sp>
          <p:nvSpPr>
            <p:cNvPr id="27" name="Freeform 27"/>
            <p:cNvSpPr/>
            <p:nvPr/>
          </p:nvSpPr>
          <p:spPr>
            <a:xfrm>
              <a:off x="16891" y="16891"/>
              <a:ext cx="195072" cy="3048000"/>
            </a:xfrm>
            <a:custGeom>
              <a:avLst/>
              <a:gdLst/>
              <a:ahLst/>
              <a:cxnLst/>
              <a:rect l="l" t="t" r="r" b="b"/>
              <a:pathLst>
                <a:path w="195072" h="3048000">
                  <a:moveTo>
                    <a:pt x="0" y="0"/>
                  </a:moveTo>
                  <a:lnTo>
                    <a:pt x="195072" y="0"/>
                  </a:lnTo>
                  <a:lnTo>
                    <a:pt x="195072" y="3048000"/>
                  </a:lnTo>
                  <a:lnTo>
                    <a:pt x="0" y="3048000"/>
                  </a:lnTo>
                  <a:close/>
                </a:path>
              </a:pathLst>
            </a:custGeom>
            <a:solidFill>
              <a:srgbClr val="5B8CFF"/>
            </a:solidFill>
          </p:spPr>
          <p:txBody>
            <a:bodyPr/>
            <a:lstStyle/>
            <a:p>
              <a:endParaRPr lang="es-GT"/>
            </a:p>
          </p:txBody>
        </p:sp>
        <p:sp>
          <p:nvSpPr>
            <p:cNvPr id="28" name="Freeform 28"/>
            <p:cNvSpPr/>
            <p:nvPr/>
          </p:nvSpPr>
          <p:spPr>
            <a:xfrm>
              <a:off x="0" y="0"/>
              <a:ext cx="228854" cy="3081782"/>
            </a:xfrm>
            <a:custGeom>
              <a:avLst/>
              <a:gdLst/>
              <a:ahLst/>
              <a:cxnLst/>
              <a:rect l="l" t="t" r="r" b="b"/>
              <a:pathLst>
                <a:path w="228854" h="3081782">
                  <a:moveTo>
                    <a:pt x="16891" y="0"/>
                  </a:moveTo>
                  <a:lnTo>
                    <a:pt x="211963" y="0"/>
                  </a:lnTo>
                  <a:cubicBezTo>
                    <a:pt x="221361" y="0"/>
                    <a:pt x="228854" y="7620"/>
                    <a:pt x="228854" y="16891"/>
                  </a:cubicBezTo>
                  <a:lnTo>
                    <a:pt x="228854" y="3064891"/>
                  </a:lnTo>
                  <a:cubicBezTo>
                    <a:pt x="228854" y="3074289"/>
                    <a:pt x="221234" y="3081782"/>
                    <a:pt x="211963" y="3081782"/>
                  </a:cubicBezTo>
                  <a:lnTo>
                    <a:pt x="16891" y="3081782"/>
                  </a:lnTo>
                  <a:cubicBezTo>
                    <a:pt x="7493" y="3081782"/>
                    <a:pt x="0" y="3074162"/>
                    <a:pt x="0" y="3064891"/>
                  </a:cubicBezTo>
                  <a:lnTo>
                    <a:pt x="0" y="16891"/>
                  </a:lnTo>
                  <a:cubicBezTo>
                    <a:pt x="0" y="7620"/>
                    <a:pt x="7620" y="0"/>
                    <a:pt x="16891" y="0"/>
                  </a:cubicBezTo>
                  <a:moveTo>
                    <a:pt x="16891" y="33909"/>
                  </a:moveTo>
                  <a:lnTo>
                    <a:pt x="16891" y="16891"/>
                  </a:lnTo>
                  <a:lnTo>
                    <a:pt x="33909" y="16891"/>
                  </a:lnTo>
                  <a:lnTo>
                    <a:pt x="33909" y="3064891"/>
                  </a:lnTo>
                  <a:lnTo>
                    <a:pt x="16891" y="3064891"/>
                  </a:lnTo>
                  <a:lnTo>
                    <a:pt x="16891" y="3048000"/>
                  </a:lnTo>
                  <a:lnTo>
                    <a:pt x="211963" y="3048000"/>
                  </a:lnTo>
                  <a:lnTo>
                    <a:pt x="211963" y="3064891"/>
                  </a:lnTo>
                  <a:lnTo>
                    <a:pt x="195072" y="3064891"/>
                  </a:lnTo>
                  <a:lnTo>
                    <a:pt x="195072" y="16891"/>
                  </a:lnTo>
                  <a:lnTo>
                    <a:pt x="211963" y="16891"/>
                  </a:lnTo>
                  <a:lnTo>
                    <a:pt x="211963" y="33909"/>
                  </a:lnTo>
                  <a:lnTo>
                    <a:pt x="16891" y="33909"/>
                  </a:lnTo>
                  <a:close/>
                </a:path>
              </a:pathLst>
            </a:custGeom>
            <a:solidFill>
              <a:srgbClr val="5B8CFF"/>
            </a:solidFill>
          </p:spPr>
          <p:txBody>
            <a:bodyPr/>
            <a:lstStyle/>
            <a:p>
              <a:endParaRPr lang="es-GT"/>
            </a:p>
          </p:txBody>
        </p:sp>
      </p:grpSp>
      <p:grpSp>
        <p:nvGrpSpPr>
          <p:cNvPr id="29" name="Group 29"/>
          <p:cNvGrpSpPr/>
          <p:nvPr/>
        </p:nvGrpSpPr>
        <p:grpSpPr>
          <a:xfrm>
            <a:off x="1133856" y="4718304"/>
            <a:ext cx="7498080" cy="548640"/>
            <a:chOff x="0" y="0"/>
            <a:chExt cx="9997440" cy="731520"/>
          </a:xfrm>
        </p:grpSpPr>
        <p:sp>
          <p:nvSpPr>
            <p:cNvPr id="30" name="Freeform 30"/>
            <p:cNvSpPr/>
            <p:nvPr/>
          </p:nvSpPr>
          <p:spPr>
            <a:xfrm>
              <a:off x="0" y="0"/>
              <a:ext cx="9997440" cy="731520"/>
            </a:xfrm>
            <a:custGeom>
              <a:avLst/>
              <a:gdLst/>
              <a:ahLst/>
              <a:cxnLst/>
              <a:rect l="l" t="t" r="r" b="b"/>
              <a:pathLst>
                <a:path w="9997440" h="731520">
                  <a:moveTo>
                    <a:pt x="0" y="0"/>
                  </a:moveTo>
                  <a:lnTo>
                    <a:pt x="9997440" y="0"/>
                  </a:lnTo>
                  <a:lnTo>
                    <a:pt x="9997440" y="731520"/>
                  </a:lnTo>
                  <a:lnTo>
                    <a:pt x="0" y="731520"/>
                  </a:lnTo>
                  <a:close/>
                </a:path>
              </a:pathLst>
            </a:custGeom>
            <a:blipFill>
              <a:blip r:embed="rId3">
                <a:alphaModFix amt="0"/>
              </a:blip>
              <a:stretch>
                <a:fillRect t="-216295" b="-216295"/>
              </a:stretch>
            </a:blipFill>
          </p:spPr>
          <p:txBody>
            <a:bodyPr/>
            <a:lstStyle/>
            <a:p>
              <a:endParaRPr lang="es-GT"/>
            </a:p>
          </p:txBody>
        </p:sp>
        <p:sp>
          <p:nvSpPr>
            <p:cNvPr id="31" name="TextBox 31"/>
            <p:cNvSpPr txBox="1"/>
            <p:nvPr/>
          </p:nvSpPr>
          <p:spPr>
            <a:xfrm>
              <a:off x="0" y="-47625"/>
              <a:ext cx="9997440" cy="779145"/>
            </a:xfrm>
            <a:prstGeom prst="rect">
              <a:avLst/>
            </a:prstGeom>
          </p:spPr>
          <p:txBody>
            <a:bodyPr lIns="0" tIns="0" rIns="0" bIns="0" rtlCol="0" anchor="ctr"/>
            <a:lstStyle/>
            <a:p>
              <a:pPr algn="l">
                <a:lnSpc>
                  <a:spcPts val="2640"/>
                </a:lnSpc>
              </a:pPr>
              <a:r>
                <a:rPr lang="en-US" sz="2200" b="1">
                  <a:solidFill>
                    <a:srgbClr val="5B8CFF"/>
                  </a:solidFill>
                  <a:latin typeface="Calibri (MS) Bold"/>
                  <a:ea typeface="Calibri (MS) Bold"/>
                  <a:cs typeface="Calibri (MS) Bold"/>
                  <a:sym typeface="Calibri (MS) Bold"/>
                </a:rPr>
                <a:t>Descomposición</a:t>
              </a:r>
            </a:p>
          </p:txBody>
        </p:sp>
      </p:grpSp>
      <p:sp>
        <p:nvSpPr>
          <p:cNvPr id="32" name="TextBox 32"/>
          <p:cNvSpPr txBox="1"/>
          <p:nvPr/>
        </p:nvSpPr>
        <p:spPr>
          <a:xfrm>
            <a:off x="1225296" y="5356479"/>
            <a:ext cx="7315200" cy="1047750"/>
          </a:xfrm>
          <a:prstGeom prst="rect">
            <a:avLst/>
          </a:prstGeom>
        </p:spPr>
        <p:txBody>
          <a:bodyPr lIns="0" tIns="0" rIns="0" bIns="0" rtlCol="0" anchor="t">
            <a:spAutoFit/>
          </a:bodyPr>
          <a:lstStyle/>
          <a:p>
            <a:pPr algn="l">
              <a:lnSpc>
                <a:spcPts val="2639"/>
              </a:lnSpc>
            </a:pPr>
            <a:r>
              <a:rPr lang="en-US" sz="2199">
                <a:solidFill>
                  <a:srgbClr val="FFFFFF"/>
                </a:solidFill>
                <a:latin typeface="Calibri (MS)"/>
                <a:ea typeface="Calibri (MS)"/>
                <a:cs typeface="Calibri (MS)"/>
                <a:sym typeface="Calibri (MS)"/>
              </a:rPr>
              <a:t>Dividir el problema en subproblemas menores, independientes y manejables. Se aborda cada parte de forma separada antes de integrar la solución global.</a:t>
            </a:r>
          </a:p>
        </p:txBody>
      </p:sp>
      <p:grpSp>
        <p:nvGrpSpPr>
          <p:cNvPr id="33" name="Group 33"/>
          <p:cNvGrpSpPr/>
          <p:nvPr/>
        </p:nvGrpSpPr>
        <p:grpSpPr>
          <a:xfrm>
            <a:off x="9497063" y="4522727"/>
            <a:ext cx="8255003" cy="2311403"/>
            <a:chOff x="0" y="0"/>
            <a:chExt cx="11006671" cy="3081871"/>
          </a:xfrm>
        </p:grpSpPr>
        <p:sp>
          <p:nvSpPr>
            <p:cNvPr id="34" name="Freeform 34"/>
            <p:cNvSpPr/>
            <p:nvPr/>
          </p:nvSpPr>
          <p:spPr>
            <a:xfrm>
              <a:off x="16891" y="16891"/>
              <a:ext cx="10972800" cy="3048000"/>
            </a:xfrm>
            <a:custGeom>
              <a:avLst/>
              <a:gdLst/>
              <a:ahLst/>
              <a:cxnLst/>
              <a:rect l="l" t="t" r="r" b="b"/>
              <a:pathLst>
                <a:path w="10972800" h="3048000">
                  <a:moveTo>
                    <a:pt x="0" y="0"/>
                  </a:moveTo>
                  <a:lnTo>
                    <a:pt x="10972800" y="0"/>
                  </a:lnTo>
                  <a:lnTo>
                    <a:pt x="10972800" y="3048000"/>
                  </a:lnTo>
                  <a:lnTo>
                    <a:pt x="0" y="3048000"/>
                  </a:lnTo>
                  <a:close/>
                </a:path>
              </a:pathLst>
            </a:custGeom>
            <a:solidFill>
              <a:srgbClr val="252B42"/>
            </a:solidFill>
          </p:spPr>
          <p:txBody>
            <a:bodyPr/>
            <a:lstStyle/>
            <a:p>
              <a:endParaRPr lang="es-GT"/>
            </a:p>
          </p:txBody>
        </p:sp>
        <p:sp>
          <p:nvSpPr>
            <p:cNvPr id="35" name="Freeform 35"/>
            <p:cNvSpPr/>
            <p:nvPr/>
          </p:nvSpPr>
          <p:spPr>
            <a:xfrm>
              <a:off x="0" y="0"/>
              <a:ext cx="11006582" cy="3081782"/>
            </a:xfrm>
            <a:custGeom>
              <a:avLst/>
              <a:gdLst/>
              <a:ahLst/>
              <a:cxnLst/>
              <a:rect l="l" t="t" r="r" b="b"/>
              <a:pathLst>
                <a:path w="11006582" h="3081782">
                  <a:moveTo>
                    <a:pt x="16891" y="0"/>
                  </a:moveTo>
                  <a:lnTo>
                    <a:pt x="10989691" y="0"/>
                  </a:lnTo>
                  <a:cubicBezTo>
                    <a:pt x="10999089" y="0"/>
                    <a:pt x="11006582" y="7620"/>
                    <a:pt x="11006582" y="16891"/>
                  </a:cubicBezTo>
                  <a:lnTo>
                    <a:pt x="11006582" y="3064891"/>
                  </a:lnTo>
                  <a:cubicBezTo>
                    <a:pt x="11006582" y="3074289"/>
                    <a:pt x="10998962" y="3081782"/>
                    <a:pt x="10989691" y="3081782"/>
                  </a:cubicBezTo>
                  <a:lnTo>
                    <a:pt x="16891" y="3081782"/>
                  </a:lnTo>
                  <a:cubicBezTo>
                    <a:pt x="7493" y="3081782"/>
                    <a:pt x="0" y="3074162"/>
                    <a:pt x="0" y="3064891"/>
                  </a:cubicBezTo>
                  <a:lnTo>
                    <a:pt x="0" y="16891"/>
                  </a:lnTo>
                  <a:cubicBezTo>
                    <a:pt x="0" y="7620"/>
                    <a:pt x="7620" y="0"/>
                    <a:pt x="16891" y="0"/>
                  </a:cubicBezTo>
                  <a:moveTo>
                    <a:pt x="16891" y="33909"/>
                  </a:moveTo>
                  <a:lnTo>
                    <a:pt x="16891" y="16891"/>
                  </a:lnTo>
                  <a:lnTo>
                    <a:pt x="33909" y="16891"/>
                  </a:lnTo>
                  <a:lnTo>
                    <a:pt x="33909" y="3064891"/>
                  </a:lnTo>
                  <a:lnTo>
                    <a:pt x="16891" y="3064891"/>
                  </a:lnTo>
                  <a:lnTo>
                    <a:pt x="16891" y="3048000"/>
                  </a:lnTo>
                  <a:lnTo>
                    <a:pt x="10989691" y="3048000"/>
                  </a:lnTo>
                  <a:lnTo>
                    <a:pt x="10989691" y="3064891"/>
                  </a:lnTo>
                  <a:lnTo>
                    <a:pt x="10972800" y="3064891"/>
                  </a:lnTo>
                  <a:lnTo>
                    <a:pt x="10972800" y="16891"/>
                  </a:lnTo>
                  <a:lnTo>
                    <a:pt x="10989691" y="16891"/>
                  </a:lnTo>
                  <a:lnTo>
                    <a:pt x="10989691" y="33909"/>
                  </a:lnTo>
                  <a:lnTo>
                    <a:pt x="16891" y="33909"/>
                  </a:lnTo>
                  <a:close/>
                </a:path>
              </a:pathLst>
            </a:custGeom>
            <a:solidFill>
              <a:srgbClr val="7EC8A4"/>
            </a:solidFill>
          </p:spPr>
          <p:txBody>
            <a:bodyPr/>
            <a:lstStyle/>
            <a:p>
              <a:endParaRPr lang="es-GT"/>
            </a:p>
          </p:txBody>
        </p:sp>
      </p:grpSp>
      <p:grpSp>
        <p:nvGrpSpPr>
          <p:cNvPr id="36" name="Group 36"/>
          <p:cNvGrpSpPr/>
          <p:nvPr/>
        </p:nvGrpSpPr>
        <p:grpSpPr>
          <a:xfrm>
            <a:off x="9497063" y="4522727"/>
            <a:ext cx="171707" cy="2311403"/>
            <a:chOff x="0" y="0"/>
            <a:chExt cx="228943" cy="3081871"/>
          </a:xfrm>
        </p:grpSpPr>
        <p:sp>
          <p:nvSpPr>
            <p:cNvPr id="37" name="Freeform 37"/>
            <p:cNvSpPr/>
            <p:nvPr/>
          </p:nvSpPr>
          <p:spPr>
            <a:xfrm>
              <a:off x="16891" y="16891"/>
              <a:ext cx="195072" cy="3048000"/>
            </a:xfrm>
            <a:custGeom>
              <a:avLst/>
              <a:gdLst/>
              <a:ahLst/>
              <a:cxnLst/>
              <a:rect l="l" t="t" r="r" b="b"/>
              <a:pathLst>
                <a:path w="195072" h="3048000">
                  <a:moveTo>
                    <a:pt x="0" y="0"/>
                  </a:moveTo>
                  <a:lnTo>
                    <a:pt x="195072" y="0"/>
                  </a:lnTo>
                  <a:lnTo>
                    <a:pt x="195072" y="3048000"/>
                  </a:lnTo>
                  <a:lnTo>
                    <a:pt x="0" y="3048000"/>
                  </a:lnTo>
                  <a:close/>
                </a:path>
              </a:pathLst>
            </a:custGeom>
            <a:solidFill>
              <a:srgbClr val="7EC8A4"/>
            </a:solidFill>
          </p:spPr>
          <p:txBody>
            <a:bodyPr/>
            <a:lstStyle/>
            <a:p>
              <a:endParaRPr lang="es-GT"/>
            </a:p>
          </p:txBody>
        </p:sp>
        <p:sp>
          <p:nvSpPr>
            <p:cNvPr id="38" name="Freeform 38"/>
            <p:cNvSpPr/>
            <p:nvPr/>
          </p:nvSpPr>
          <p:spPr>
            <a:xfrm>
              <a:off x="0" y="0"/>
              <a:ext cx="228854" cy="3081782"/>
            </a:xfrm>
            <a:custGeom>
              <a:avLst/>
              <a:gdLst/>
              <a:ahLst/>
              <a:cxnLst/>
              <a:rect l="l" t="t" r="r" b="b"/>
              <a:pathLst>
                <a:path w="228854" h="3081782">
                  <a:moveTo>
                    <a:pt x="16891" y="0"/>
                  </a:moveTo>
                  <a:lnTo>
                    <a:pt x="211963" y="0"/>
                  </a:lnTo>
                  <a:cubicBezTo>
                    <a:pt x="221361" y="0"/>
                    <a:pt x="228854" y="7620"/>
                    <a:pt x="228854" y="16891"/>
                  </a:cubicBezTo>
                  <a:lnTo>
                    <a:pt x="228854" y="3064891"/>
                  </a:lnTo>
                  <a:cubicBezTo>
                    <a:pt x="228854" y="3074289"/>
                    <a:pt x="221234" y="3081782"/>
                    <a:pt x="211963" y="3081782"/>
                  </a:cubicBezTo>
                  <a:lnTo>
                    <a:pt x="16891" y="3081782"/>
                  </a:lnTo>
                  <a:cubicBezTo>
                    <a:pt x="7493" y="3081782"/>
                    <a:pt x="0" y="3074162"/>
                    <a:pt x="0" y="3064891"/>
                  </a:cubicBezTo>
                  <a:lnTo>
                    <a:pt x="0" y="16891"/>
                  </a:lnTo>
                  <a:cubicBezTo>
                    <a:pt x="0" y="7620"/>
                    <a:pt x="7620" y="0"/>
                    <a:pt x="16891" y="0"/>
                  </a:cubicBezTo>
                  <a:moveTo>
                    <a:pt x="16891" y="33909"/>
                  </a:moveTo>
                  <a:lnTo>
                    <a:pt x="16891" y="16891"/>
                  </a:lnTo>
                  <a:lnTo>
                    <a:pt x="33909" y="16891"/>
                  </a:lnTo>
                  <a:lnTo>
                    <a:pt x="33909" y="3064891"/>
                  </a:lnTo>
                  <a:lnTo>
                    <a:pt x="16891" y="3064891"/>
                  </a:lnTo>
                  <a:lnTo>
                    <a:pt x="16891" y="3048000"/>
                  </a:lnTo>
                  <a:lnTo>
                    <a:pt x="211963" y="3048000"/>
                  </a:lnTo>
                  <a:lnTo>
                    <a:pt x="211963" y="3064891"/>
                  </a:lnTo>
                  <a:lnTo>
                    <a:pt x="195072" y="3064891"/>
                  </a:lnTo>
                  <a:lnTo>
                    <a:pt x="195072" y="16891"/>
                  </a:lnTo>
                  <a:lnTo>
                    <a:pt x="211963" y="16891"/>
                  </a:lnTo>
                  <a:lnTo>
                    <a:pt x="211963" y="33909"/>
                  </a:lnTo>
                  <a:lnTo>
                    <a:pt x="16891" y="33909"/>
                  </a:lnTo>
                  <a:close/>
                </a:path>
              </a:pathLst>
            </a:custGeom>
            <a:solidFill>
              <a:srgbClr val="7EC8A4"/>
            </a:solidFill>
          </p:spPr>
          <p:txBody>
            <a:bodyPr/>
            <a:lstStyle/>
            <a:p>
              <a:endParaRPr lang="es-GT"/>
            </a:p>
          </p:txBody>
        </p:sp>
      </p:grpSp>
      <p:grpSp>
        <p:nvGrpSpPr>
          <p:cNvPr id="39" name="Group 39"/>
          <p:cNvGrpSpPr/>
          <p:nvPr/>
        </p:nvGrpSpPr>
        <p:grpSpPr>
          <a:xfrm>
            <a:off x="9912096" y="4718304"/>
            <a:ext cx="7498080" cy="548640"/>
            <a:chOff x="0" y="0"/>
            <a:chExt cx="9997440" cy="731520"/>
          </a:xfrm>
        </p:grpSpPr>
        <p:sp>
          <p:nvSpPr>
            <p:cNvPr id="40" name="Freeform 40"/>
            <p:cNvSpPr/>
            <p:nvPr/>
          </p:nvSpPr>
          <p:spPr>
            <a:xfrm>
              <a:off x="0" y="0"/>
              <a:ext cx="9997440" cy="731520"/>
            </a:xfrm>
            <a:custGeom>
              <a:avLst/>
              <a:gdLst/>
              <a:ahLst/>
              <a:cxnLst/>
              <a:rect l="l" t="t" r="r" b="b"/>
              <a:pathLst>
                <a:path w="9997440" h="731520">
                  <a:moveTo>
                    <a:pt x="0" y="0"/>
                  </a:moveTo>
                  <a:lnTo>
                    <a:pt x="9997440" y="0"/>
                  </a:lnTo>
                  <a:lnTo>
                    <a:pt x="9997440" y="731520"/>
                  </a:lnTo>
                  <a:lnTo>
                    <a:pt x="0" y="731520"/>
                  </a:lnTo>
                  <a:close/>
                </a:path>
              </a:pathLst>
            </a:custGeom>
            <a:blipFill>
              <a:blip r:embed="rId3">
                <a:alphaModFix amt="0"/>
              </a:blip>
              <a:stretch>
                <a:fillRect t="-216295" b="-216295"/>
              </a:stretch>
            </a:blipFill>
          </p:spPr>
          <p:txBody>
            <a:bodyPr/>
            <a:lstStyle/>
            <a:p>
              <a:endParaRPr lang="es-GT"/>
            </a:p>
          </p:txBody>
        </p:sp>
        <p:sp>
          <p:nvSpPr>
            <p:cNvPr id="41" name="TextBox 41"/>
            <p:cNvSpPr txBox="1"/>
            <p:nvPr/>
          </p:nvSpPr>
          <p:spPr>
            <a:xfrm>
              <a:off x="0" y="-47625"/>
              <a:ext cx="9997440" cy="779145"/>
            </a:xfrm>
            <a:prstGeom prst="rect">
              <a:avLst/>
            </a:prstGeom>
          </p:spPr>
          <p:txBody>
            <a:bodyPr lIns="0" tIns="0" rIns="0" bIns="0" rtlCol="0" anchor="ctr"/>
            <a:lstStyle/>
            <a:p>
              <a:pPr algn="l">
                <a:lnSpc>
                  <a:spcPts val="2640"/>
                </a:lnSpc>
              </a:pPr>
              <a:r>
                <a:rPr lang="en-US" sz="2200" b="1">
                  <a:solidFill>
                    <a:srgbClr val="7EC8A4"/>
                  </a:solidFill>
                  <a:latin typeface="Calibri (MS) Bold"/>
                  <a:ea typeface="Calibri (MS) Bold"/>
                  <a:cs typeface="Calibri (MS) Bold"/>
                  <a:sym typeface="Calibri (MS) Bold"/>
                </a:rPr>
                <a:t>Reconocimiento de patrones</a:t>
              </a:r>
            </a:p>
          </p:txBody>
        </p:sp>
      </p:grpSp>
      <p:sp>
        <p:nvSpPr>
          <p:cNvPr id="42" name="TextBox 42"/>
          <p:cNvSpPr txBox="1"/>
          <p:nvPr/>
        </p:nvSpPr>
        <p:spPr>
          <a:xfrm>
            <a:off x="10003536" y="5356479"/>
            <a:ext cx="7315200" cy="1047750"/>
          </a:xfrm>
          <a:prstGeom prst="rect">
            <a:avLst/>
          </a:prstGeom>
        </p:spPr>
        <p:txBody>
          <a:bodyPr lIns="0" tIns="0" rIns="0" bIns="0" rtlCol="0" anchor="t">
            <a:spAutoFit/>
          </a:bodyPr>
          <a:lstStyle/>
          <a:p>
            <a:pPr algn="l">
              <a:lnSpc>
                <a:spcPts val="2639"/>
              </a:lnSpc>
            </a:pPr>
            <a:r>
              <a:rPr lang="en-US" sz="2199">
                <a:solidFill>
                  <a:srgbClr val="FFFFFF"/>
                </a:solidFill>
                <a:latin typeface="Calibri (MS)"/>
                <a:ea typeface="Calibri (MS)"/>
                <a:cs typeface="Calibri (MS)"/>
                <a:sym typeface="Calibri (MS)"/>
              </a:rPr>
              <a:t>Identificar similitudes, regularidades o estructuras comunes entre el problema actual y problemas previamente resueltos, para reutilizar soluciones.</a:t>
            </a:r>
          </a:p>
        </p:txBody>
      </p:sp>
      <p:grpSp>
        <p:nvGrpSpPr>
          <p:cNvPr id="43" name="Group 43"/>
          <p:cNvGrpSpPr/>
          <p:nvPr/>
        </p:nvGrpSpPr>
        <p:grpSpPr>
          <a:xfrm>
            <a:off x="718823" y="7083047"/>
            <a:ext cx="8255003" cy="2311403"/>
            <a:chOff x="0" y="0"/>
            <a:chExt cx="11006671" cy="3081871"/>
          </a:xfrm>
        </p:grpSpPr>
        <p:sp>
          <p:nvSpPr>
            <p:cNvPr id="44" name="Freeform 44"/>
            <p:cNvSpPr/>
            <p:nvPr/>
          </p:nvSpPr>
          <p:spPr>
            <a:xfrm>
              <a:off x="16891" y="16891"/>
              <a:ext cx="10972800" cy="3048000"/>
            </a:xfrm>
            <a:custGeom>
              <a:avLst/>
              <a:gdLst/>
              <a:ahLst/>
              <a:cxnLst/>
              <a:rect l="l" t="t" r="r" b="b"/>
              <a:pathLst>
                <a:path w="10972800" h="3048000">
                  <a:moveTo>
                    <a:pt x="0" y="0"/>
                  </a:moveTo>
                  <a:lnTo>
                    <a:pt x="10972800" y="0"/>
                  </a:lnTo>
                  <a:lnTo>
                    <a:pt x="10972800" y="3048000"/>
                  </a:lnTo>
                  <a:lnTo>
                    <a:pt x="0" y="3048000"/>
                  </a:lnTo>
                  <a:close/>
                </a:path>
              </a:pathLst>
            </a:custGeom>
            <a:solidFill>
              <a:srgbClr val="252B42"/>
            </a:solidFill>
          </p:spPr>
          <p:txBody>
            <a:bodyPr/>
            <a:lstStyle/>
            <a:p>
              <a:endParaRPr lang="es-GT"/>
            </a:p>
          </p:txBody>
        </p:sp>
        <p:sp>
          <p:nvSpPr>
            <p:cNvPr id="45" name="Freeform 45"/>
            <p:cNvSpPr/>
            <p:nvPr/>
          </p:nvSpPr>
          <p:spPr>
            <a:xfrm>
              <a:off x="0" y="0"/>
              <a:ext cx="11006582" cy="3081782"/>
            </a:xfrm>
            <a:custGeom>
              <a:avLst/>
              <a:gdLst/>
              <a:ahLst/>
              <a:cxnLst/>
              <a:rect l="l" t="t" r="r" b="b"/>
              <a:pathLst>
                <a:path w="11006582" h="3081782">
                  <a:moveTo>
                    <a:pt x="16891" y="0"/>
                  </a:moveTo>
                  <a:lnTo>
                    <a:pt x="10989691" y="0"/>
                  </a:lnTo>
                  <a:cubicBezTo>
                    <a:pt x="10999089" y="0"/>
                    <a:pt x="11006582" y="7620"/>
                    <a:pt x="11006582" y="16891"/>
                  </a:cubicBezTo>
                  <a:lnTo>
                    <a:pt x="11006582" y="3064891"/>
                  </a:lnTo>
                  <a:cubicBezTo>
                    <a:pt x="11006582" y="3074289"/>
                    <a:pt x="10998962" y="3081782"/>
                    <a:pt x="10989691" y="3081782"/>
                  </a:cubicBezTo>
                  <a:lnTo>
                    <a:pt x="16891" y="3081782"/>
                  </a:lnTo>
                  <a:cubicBezTo>
                    <a:pt x="7493" y="3081782"/>
                    <a:pt x="0" y="3074162"/>
                    <a:pt x="0" y="3064891"/>
                  </a:cubicBezTo>
                  <a:lnTo>
                    <a:pt x="0" y="16891"/>
                  </a:lnTo>
                  <a:cubicBezTo>
                    <a:pt x="0" y="7620"/>
                    <a:pt x="7620" y="0"/>
                    <a:pt x="16891" y="0"/>
                  </a:cubicBezTo>
                  <a:moveTo>
                    <a:pt x="16891" y="33909"/>
                  </a:moveTo>
                  <a:lnTo>
                    <a:pt x="16891" y="16891"/>
                  </a:lnTo>
                  <a:lnTo>
                    <a:pt x="33909" y="16891"/>
                  </a:lnTo>
                  <a:lnTo>
                    <a:pt x="33909" y="3064891"/>
                  </a:lnTo>
                  <a:lnTo>
                    <a:pt x="16891" y="3064891"/>
                  </a:lnTo>
                  <a:lnTo>
                    <a:pt x="16891" y="3048000"/>
                  </a:lnTo>
                  <a:lnTo>
                    <a:pt x="10989691" y="3048000"/>
                  </a:lnTo>
                  <a:lnTo>
                    <a:pt x="10989691" y="3064891"/>
                  </a:lnTo>
                  <a:lnTo>
                    <a:pt x="10972800" y="3064891"/>
                  </a:lnTo>
                  <a:lnTo>
                    <a:pt x="10972800" y="16891"/>
                  </a:lnTo>
                  <a:lnTo>
                    <a:pt x="10989691" y="16891"/>
                  </a:lnTo>
                  <a:lnTo>
                    <a:pt x="10989691" y="33909"/>
                  </a:lnTo>
                  <a:lnTo>
                    <a:pt x="16891" y="33909"/>
                  </a:lnTo>
                  <a:close/>
                </a:path>
              </a:pathLst>
            </a:custGeom>
            <a:solidFill>
              <a:srgbClr val="9B7FD4"/>
            </a:solidFill>
          </p:spPr>
          <p:txBody>
            <a:bodyPr/>
            <a:lstStyle/>
            <a:p>
              <a:endParaRPr lang="es-GT"/>
            </a:p>
          </p:txBody>
        </p:sp>
      </p:grpSp>
      <p:grpSp>
        <p:nvGrpSpPr>
          <p:cNvPr id="46" name="Group 46"/>
          <p:cNvGrpSpPr/>
          <p:nvPr/>
        </p:nvGrpSpPr>
        <p:grpSpPr>
          <a:xfrm>
            <a:off x="718823" y="7083047"/>
            <a:ext cx="171707" cy="2311403"/>
            <a:chOff x="0" y="0"/>
            <a:chExt cx="228943" cy="3081871"/>
          </a:xfrm>
        </p:grpSpPr>
        <p:sp>
          <p:nvSpPr>
            <p:cNvPr id="47" name="Freeform 47"/>
            <p:cNvSpPr/>
            <p:nvPr/>
          </p:nvSpPr>
          <p:spPr>
            <a:xfrm>
              <a:off x="16891" y="16891"/>
              <a:ext cx="195072" cy="3048000"/>
            </a:xfrm>
            <a:custGeom>
              <a:avLst/>
              <a:gdLst/>
              <a:ahLst/>
              <a:cxnLst/>
              <a:rect l="l" t="t" r="r" b="b"/>
              <a:pathLst>
                <a:path w="195072" h="3048000">
                  <a:moveTo>
                    <a:pt x="0" y="0"/>
                  </a:moveTo>
                  <a:lnTo>
                    <a:pt x="195072" y="0"/>
                  </a:lnTo>
                  <a:lnTo>
                    <a:pt x="195072" y="3048000"/>
                  </a:lnTo>
                  <a:lnTo>
                    <a:pt x="0" y="3048000"/>
                  </a:lnTo>
                  <a:close/>
                </a:path>
              </a:pathLst>
            </a:custGeom>
            <a:solidFill>
              <a:srgbClr val="9B7FD4"/>
            </a:solidFill>
          </p:spPr>
          <p:txBody>
            <a:bodyPr/>
            <a:lstStyle/>
            <a:p>
              <a:endParaRPr lang="es-GT"/>
            </a:p>
          </p:txBody>
        </p:sp>
        <p:sp>
          <p:nvSpPr>
            <p:cNvPr id="48" name="Freeform 48"/>
            <p:cNvSpPr/>
            <p:nvPr/>
          </p:nvSpPr>
          <p:spPr>
            <a:xfrm>
              <a:off x="0" y="0"/>
              <a:ext cx="228854" cy="3081782"/>
            </a:xfrm>
            <a:custGeom>
              <a:avLst/>
              <a:gdLst/>
              <a:ahLst/>
              <a:cxnLst/>
              <a:rect l="l" t="t" r="r" b="b"/>
              <a:pathLst>
                <a:path w="228854" h="3081782">
                  <a:moveTo>
                    <a:pt x="16891" y="0"/>
                  </a:moveTo>
                  <a:lnTo>
                    <a:pt x="211963" y="0"/>
                  </a:lnTo>
                  <a:cubicBezTo>
                    <a:pt x="221361" y="0"/>
                    <a:pt x="228854" y="7620"/>
                    <a:pt x="228854" y="16891"/>
                  </a:cubicBezTo>
                  <a:lnTo>
                    <a:pt x="228854" y="3064891"/>
                  </a:lnTo>
                  <a:cubicBezTo>
                    <a:pt x="228854" y="3074289"/>
                    <a:pt x="221234" y="3081782"/>
                    <a:pt x="211963" y="3081782"/>
                  </a:cubicBezTo>
                  <a:lnTo>
                    <a:pt x="16891" y="3081782"/>
                  </a:lnTo>
                  <a:cubicBezTo>
                    <a:pt x="7493" y="3081782"/>
                    <a:pt x="0" y="3074162"/>
                    <a:pt x="0" y="3064891"/>
                  </a:cubicBezTo>
                  <a:lnTo>
                    <a:pt x="0" y="16891"/>
                  </a:lnTo>
                  <a:cubicBezTo>
                    <a:pt x="0" y="7620"/>
                    <a:pt x="7620" y="0"/>
                    <a:pt x="16891" y="0"/>
                  </a:cubicBezTo>
                  <a:moveTo>
                    <a:pt x="16891" y="33909"/>
                  </a:moveTo>
                  <a:lnTo>
                    <a:pt x="16891" y="16891"/>
                  </a:lnTo>
                  <a:lnTo>
                    <a:pt x="33909" y="16891"/>
                  </a:lnTo>
                  <a:lnTo>
                    <a:pt x="33909" y="3064891"/>
                  </a:lnTo>
                  <a:lnTo>
                    <a:pt x="16891" y="3064891"/>
                  </a:lnTo>
                  <a:lnTo>
                    <a:pt x="16891" y="3048000"/>
                  </a:lnTo>
                  <a:lnTo>
                    <a:pt x="211963" y="3048000"/>
                  </a:lnTo>
                  <a:lnTo>
                    <a:pt x="211963" y="3064891"/>
                  </a:lnTo>
                  <a:lnTo>
                    <a:pt x="195072" y="3064891"/>
                  </a:lnTo>
                  <a:lnTo>
                    <a:pt x="195072" y="16891"/>
                  </a:lnTo>
                  <a:lnTo>
                    <a:pt x="211963" y="16891"/>
                  </a:lnTo>
                  <a:lnTo>
                    <a:pt x="211963" y="33909"/>
                  </a:lnTo>
                  <a:lnTo>
                    <a:pt x="16891" y="33909"/>
                  </a:lnTo>
                  <a:close/>
                </a:path>
              </a:pathLst>
            </a:custGeom>
            <a:solidFill>
              <a:srgbClr val="9B7FD4"/>
            </a:solidFill>
          </p:spPr>
          <p:txBody>
            <a:bodyPr/>
            <a:lstStyle/>
            <a:p>
              <a:endParaRPr lang="es-GT"/>
            </a:p>
          </p:txBody>
        </p:sp>
      </p:grpSp>
      <p:grpSp>
        <p:nvGrpSpPr>
          <p:cNvPr id="49" name="Group 49"/>
          <p:cNvGrpSpPr/>
          <p:nvPr/>
        </p:nvGrpSpPr>
        <p:grpSpPr>
          <a:xfrm>
            <a:off x="1133856" y="7278624"/>
            <a:ext cx="7498080" cy="548640"/>
            <a:chOff x="0" y="0"/>
            <a:chExt cx="9997440" cy="731520"/>
          </a:xfrm>
        </p:grpSpPr>
        <p:sp>
          <p:nvSpPr>
            <p:cNvPr id="50" name="Freeform 50"/>
            <p:cNvSpPr/>
            <p:nvPr/>
          </p:nvSpPr>
          <p:spPr>
            <a:xfrm>
              <a:off x="0" y="0"/>
              <a:ext cx="9997440" cy="731520"/>
            </a:xfrm>
            <a:custGeom>
              <a:avLst/>
              <a:gdLst/>
              <a:ahLst/>
              <a:cxnLst/>
              <a:rect l="l" t="t" r="r" b="b"/>
              <a:pathLst>
                <a:path w="9997440" h="731520">
                  <a:moveTo>
                    <a:pt x="0" y="0"/>
                  </a:moveTo>
                  <a:lnTo>
                    <a:pt x="9997440" y="0"/>
                  </a:lnTo>
                  <a:lnTo>
                    <a:pt x="9997440" y="731520"/>
                  </a:lnTo>
                  <a:lnTo>
                    <a:pt x="0" y="731520"/>
                  </a:lnTo>
                  <a:close/>
                </a:path>
              </a:pathLst>
            </a:custGeom>
            <a:blipFill>
              <a:blip r:embed="rId3">
                <a:alphaModFix amt="0"/>
              </a:blip>
              <a:stretch>
                <a:fillRect t="-216295" b="-216295"/>
              </a:stretch>
            </a:blipFill>
          </p:spPr>
          <p:txBody>
            <a:bodyPr/>
            <a:lstStyle/>
            <a:p>
              <a:endParaRPr lang="es-GT"/>
            </a:p>
          </p:txBody>
        </p:sp>
        <p:sp>
          <p:nvSpPr>
            <p:cNvPr id="51" name="TextBox 51"/>
            <p:cNvSpPr txBox="1"/>
            <p:nvPr/>
          </p:nvSpPr>
          <p:spPr>
            <a:xfrm>
              <a:off x="0" y="-47625"/>
              <a:ext cx="9997440" cy="779145"/>
            </a:xfrm>
            <a:prstGeom prst="rect">
              <a:avLst/>
            </a:prstGeom>
          </p:spPr>
          <p:txBody>
            <a:bodyPr lIns="0" tIns="0" rIns="0" bIns="0" rtlCol="0" anchor="ctr"/>
            <a:lstStyle/>
            <a:p>
              <a:pPr algn="l">
                <a:lnSpc>
                  <a:spcPts val="2640"/>
                </a:lnSpc>
              </a:pPr>
              <a:r>
                <a:rPr lang="en-US" sz="2200" b="1">
                  <a:solidFill>
                    <a:srgbClr val="9B7FD4"/>
                  </a:solidFill>
                  <a:latin typeface="Calibri (MS) Bold"/>
                  <a:ea typeface="Calibri (MS) Bold"/>
                  <a:cs typeface="Calibri (MS) Bold"/>
                  <a:sym typeface="Calibri (MS) Bold"/>
                </a:rPr>
                <a:t>Abstracción</a:t>
              </a:r>
            </a:p>
          </p:txBody>
        </p:sp>
      </p:grpSp>
      <p:sp>
        <p:nvSpPr>
          <p:cNvPr id="52" name="TextBox 52"/>
          <p:cNvSpPr txBox="1"/>
          <p:nvPr/>
        </p:nvSpPr>
        <p:spPr>
          <a:xfrm>
            <a:off x="1225296" y="7916799"/>
            <a:ext cx="7315200" cy="1047750"/>
          </a:xfrm>
          <a:prstGeom prst="rect">
            <a:avLst/>
          </a:prstGeom>
        </p:spPr>
        <p:txBody>
          <a:bodyPr lIns="0" tIns="0" rIns="0" bIns="0" rtlCol="0" anchor="t">
            <a:spAutoFit/>
          </a:bodyPr>
          <a:lstStyle/>
          <a:p>
            <a:pPr algn="l">
              <a:lnSpc>
                <a:spcPts val="2639"/>
              </a:lnSpc>
            </a:pPr>
            <a:r>
              <a:rPr lang="en-US" sz="2199">
                <a:solidFill>
                  <a:srgbClr val="FFFFFF"/>
                </a:solidFill>
                <a:latin typeface="Calibri (MS)"/>
                <a:ea typeface="Calibri (MS)"/>
                <a:cs typeface="Calibri (MS)"/>
                <a:sym typeface="Calibri (MS)"/>
              </a:rPr>
              <a:t>Enfocarse únicamente en los datos y procesos relevantes, ignorando detalles que no afectan la solución. Define el nivel de generalización adecuado.</a:t>
            </a:r>
          </a:p>
        </p:txBody>
      </p:sp>
      <p:grpSp>
        <p:nvGrpSpPr>
          <p:cNvPr id="53" name="Group 53"/>
          <p:cNvGrpSpPr/>
          <p:nvPr/>
        </p:nvGrpSpPr>
        <p:grpSpPr>
          <a:xfrm>
            <a:off x="9497063" y="7083047"/>
            <a:ext cx="8255003" cy="2311403"/>
            <a:chOff x="0" y="0"/>
            <a:chExt cx="11006671" cy="3081871"/>
          </a:xfrm>
        </p:grpSpPr>
        <p:sp>
          <p:nvSpPr>
            <p:cNvPr id="54" name="Freeform 54"/>
            <p:cNvSpPr/>
            <p:nvPr/>
          </p:nvSpPr>
          <p:spPr>
            <a:xfrm>
              <a:off x="16891" y="16891"/>
              <a:ext cx="10972800" cy="3048000"/>
            </a:xfrm>
            <a:custGeom>
              <a:avLst/>
              <a:gdLst/>
              <a:ahLst/>
              <a:cxnLst/>
              <a:rect l="l" t="t" r="r" b="b"/>
              <a:pathLst>
                <a:path w="10972800" h="3048000">
                  <a:moveTo>
                    <a:pt x="0" y="0"/>
                  </a:moveTo>
                  <a:lnTo>
                    <a:pt x="10972800" y="0"/>
                  </a:lnTo>
                  <a:lnTo>
                    <a:pt x="10972800" y="3048000"/>
                  </a:lnTo>
                  <a:lnTo>
                    <a:pt x="0" y="3048000"/>
                  </a:lnTo>
                  <a:close/>
                </a:path>
              </a:pathLst>
            </a:custGeom>
            <a:solidFill>
              <a:srgbClr val="252B42"/>
            </a:solidFill>
          </p:spPr>
          <p:txBody>
            <a:bodyPr/>
            <a:lstStyle/>
            <a:p>
              <a:endParaRPr lang="es-GT"/>
            </a:p>
          </p:txBody>
        </p:sp>
        <p:sp>
          <p:nvSpPr>
            <p:cNvPr id="55" name="Freeform 55"/>
            <p:cNvSpPr/>
            <p:nvPr/>
          </p:nvSpPr>
          <p:spPr>
            <a:xfrm>
              <a:off x="0" y="0"/>
              <a:ext cx="11006582" cy="3081782"/>
            </a:xfrm>
            <a:custGeom>
              <a:avLst/>
              <a:gdLst/>
              <a:ahLst/>
              <a:cxnLst/>
              <a:rect l="l" t="t" r="r" b="b"/>
              <a:pathLst>
                <a:path w="11006582" h="3081782">
                  <a:moveTo>
                    <a:pt x="16891" y="0"/>
                  </a:moveTo>
                  <a:lnTo>
                    <a:pt x="10989691" y="0"/>
                  </a:lnTo>
                  <a:cubicBezTo>
                    <a:pt x="10999089" y="0"/>
                    <a:pt x="11006582" y="7620"/>
                    <a:pt x="11006582" y="16891"/>
                  </a:cubicBezTo>
                  <a:lnTo>
                    <a:pt x="11006582" y="3064891"/>
                  </a:lnTo>
                  <a:cubicBezTo>
                    <a:pt x="11006582" y="3074289"/>
                    <a:pt x="10998962" y="3081782"/>
                    <a:pt x="10989691" y="3081782"/>
                  </a:cubicBezTo>
                  <a:lnTo>
                    <a:pt x="16891" y="3081782"/>
                  </a:lnTo>
                  <a:cubicBezTo>
                    <a:pt x="7493" y="3081782"/>
                    <a:pt x="0" y="3074162"/>
                    <a:pt x="0" y="3064891"/>
                  </a:cubicBezTo>
                  <a:lnTo>
                    <a:pt x="0" y="16891"/>
                  </a:lnTo>
                  <a:cubicBezTo>
                    <a:pt x="0" y="7620"/>
                    <a:pt x="7620" y="0"/>
                    <a:pt x="16891" y="0"/>
                  </a:cubicBezTo>
                  <a:moveTo>
                    <a:pt x="16891" y="33909"/>
                  </a:moveTo>
                  <a:lnTo>
                    <a:pt x="16891" y="16891"/>
                  </a:lnTo>
                  <a:lnTo>
                    <a:pt x="33909" y="16891"/>
                  </a:lnTo>
                  <a:lnTo>
                    <a:pt x="33909" y="3064891"/>
                  </a:lnTo>
                  <a:lnTo>
                    <a:pt x="16891" y="3064891"/>
                  </a:lnTo>
                  <a:lnTo>
                    <a:pt x="16891" y="3048000"/>
                  </a:lnTo>
                  <a:lnTo>
                    <a:pt x="10989691" y="3048000"/>
                  </a:lnTo>
                  <a:lnTo>
                    <a:pt x="10989691" y="3064891"/>
                  </a:lnTo>
                  <a:lnTo>
                    <a:pt x="10972800" y="3064891"/>
                  </a:lnTo>
                  <a:lnTo>
                    <a:pt x="10972800" y="16891"/>
                  </a:lnTo>
                  <a:lnTo>
                    <a:pt x="10989691" y="16891"/>
                  </a:lnTo>
                  <a:lnTo>
                    <a:pt x="10989691" y="33909"/>
                  </a:lnTo>
                  <a:lnTo>
                    <a:pt x="16891" y="33909"/>
                  </a:lnTo>
                  <a:close/>
                </a:path>
              </a:pathLst>
            </a:custGeom>
            <a:solidFill>
              <a:srgbClr val="E8A87C"/>
            </a:solidFill>
          </p:spPr>
          <p:txBody>
            <a:bodyPr/>
            <a:lstStyle/>
            <a:p>
              <a:endParaRPr lang="es-GT"/>
            </a:p>
          </p:txBody>
        </p:sp>
      </p:grpSp>
      <p:grpSp>
        <p:nvGrpSpPr>
          <p:cNvPr id="56" name="Group 56"/>
          <p:cNvGrpSpPr/>
          <p:nvPr/>
        </p:nvGrpSpPr>
        <p:grpSpPr>
          <a:xfrm>
            <a:off x="9497063" y="7083047"/>
            <a:ext cx="171707" cy="2311403"/>
            <a:chOff x="0" y="0"/>
            <a:chExt cx="228943" cy="3081871"/>
          </a:xfrm>
        </p:grpSpPr>
        <p:sp>
          <p:nvSpPr>
            <p:cNvPr id="57" name="Freeform 57"/>
            <p:cNvSpPr/>
            <p:nvPr/>
          </p:nvSpPr>
          <p:spPr>
            <a:xfrm>
              <a:off x="16891" y="16891"/>
              <a:ext cx="195072" cy="3048000"/>
            </a:xfrm>
            <a:custGeom>
              <a:avLst/>
              <a:gdLst/>
              <a:ahLst/>
              <a:cxnLst/>
              <a:rect l="l" t="t" r="r" b="b"/>
              <a:pathLst>
                <a:path w="195072" h="3048000">
                  <a:moveTo>
                    <a:pt x="0" y="0"/>
                  </a:moveTo>
                  <a:lnTo>
                    <a:pt x="195072" y="0"/>
                  </a:lnTo>
                  <a:lnTo>
                    <a:pt x="195072" y="3048000"/>
                  </a:lnTo>
                  <a:lnTo>
                    <a:pt x="0" y="3048000"/>
                  </a:lnTo>
                  <a:close/>
                </a:path>
              </a:pathLst>
            </a:custGeom>
            <a:solidFill>
              <a:srgbClr val="E8A87C"/>
            </a:solidFill>
          </p:spPr>
          <p:txBody>
            <a:bodyPr/>
            <a:lstStyle/>
            <a:p>
              <a:endParaRPr lang="es-GT"/>
            </a:p>
          </p:txBody>
        </p:sp>
        <p:sp>
          <p:nvSpPr>
            <p:cNvPr id="58" name="Freeform 58"/>
            <p:cNvSpPr/>
            <p:nvPr/>
          </p:nvSpPr>
          <p:spPr>
            <a:xfrm>
              <a:off x="0" y="0"/>
              <a:ext cx="228854" cy="3081782"/>
            </a:xfrm>
            <a:custGeom>
              <a:avLst/>
              <a:gdLst/>
              <a:ahLst/>
              <a:cxnLst/>
              <a:rect l="l" t="t" r="r" b="b"/>
              <a:pathLst>
                <a:path w="228854" h="3081782">
                  <a:moveTo>
                    <a:pt x="16891" y="0"/>
                  </a:moveTo>
                  <a:lnTo>
                    <a:pt x="211963" y="0"/>
                  </a:lnTo>
                  <a:cubicBezTo>
                    <a:pt x="221361" y="0"/>
                    <a:pt x="228854" y="7620"/>
                    <a:pt x="228854" y="16891"/>
                  </a:cubicBezTo>
                  <a:lnTo>
                    <a:pt x="228854" y="3064891"/>
                  </a:lnTo>
                  <a:cubicBezTo>
                    <a:pt x="228854" y="3074289"/>
                    <a:pt x="221234" y="3081782"/>
                    <a:pt x="211963" y="3081782"/>
                  </a:cubicBezTo>
                  <a:lnTo>
                    <a:pt x="16891" y="3081782"/>
                  </a:lnTo>
                  <a:cubicBezTo>
                    <a:pt x="7493" y="3081782"/>
                    <a:pt x="0" y="3074162"/>
                    <a:pt x="0" y="3064891"/>
                  </a:cubicBezTo>
                  <a:lnTo>
                    <a:pt x="0" y="16891"/>
                  </a:lnTo>
                  <a:cubicBezTo>
                    <a:pt x="0" y="7620"/>
                    <a:pt x="7620" y="0"/>
                    <a:pt x="16891" y="0"/>
                  </a:cubicBezTo>
                  <a:moveTo>
                    <a:pt x="16891" y="33909"/>
                  </a:moveTo>
                  <a:lnTo>
                    <a:pt x="16891" y="16891"/>
                  </a:lnTo>
                  <a:lnTo>
                    <a:pt x="33909" y="16891"/>
                  </a:lnTo>
                  <a:lnTo>
                    <a:pt x="33909" y="3064891"/>
                  </a:lnTo>
                  <a:lnTo>
                    <a:pt x="16891" y="3064891"/>
                  </a:lnTo>
                  <a:lnTo>
                    <a:pt x="16891" y="3048000"/>
                  </a:lnTo>
                  <a:lnTo>
                    <a:pt x="211963" y="3048000"/>
                  </a:lnTo>
                  <a:lnTo>
                    <a:pt x="211963" y="3064891"/>
                  </a:lnTo>
                  <a:lnTo>
                    <a:pt x="195072" y="3064891"/>
                  </a:lnTo>
                  <a:lnTo>
                    <a:pt x="195072" y="16891"/>
                  </a:lnTo>
                  <a:lnTo>
                    <a:pt x="211963" y="16891"/>
                  </a:lnTo>
                  <a:lnTo>
                    <a:pt x="211963" y="33909"/>
                  </a:lnTo>
                  <a:lnTo>
                    <a:pt x="16891" y="33909"/>
                  </a:lnTo>
                  <a:close/>
                </a:path>
              </a:pathLst>
            </a:custGeom>
            <a:solidFill>
              <a:srgbClr val="E8A87C"/>
            </a:solidFill>
          </p:spPr>
          <p:txBody>
            <a:bodyPr/>
            <a:lstStyle/>
            <a:p>
              <a:endParaRPr lang="es-GT"/>
            </a:p>
          </p:txBody>
        </p:sp>
      </p:grpSp>
      <p:grpSp>
        <p:nvGrpSpPr>
          <p:cNvPr id="59" name="Group 59"/>
          <p:cNvGrpSpPr/>
          <p:nvPr/>
        </p:nvGrpSpPr>
        <p:grpSpPr>
          <a:xfrm>
            <a:off x="9912096" y="7278624"/>
            <a:ext cx="7498080" cy="548640"/>
            <a:chOff x="0" y="0"/>
            <a:chExt cx="9997440" cy="731520"/>
          </a:xfrm>
        </p:grpSpPr>
        <p:sp>
          <p:nvSpPr>
            <p:cNvPr id="60" name="Freeform 60"/>
            <p:cNvSpPr/>
            <p:nvPr/>
          </p:nvSpPr>
          <p:spPr>
            <a:xfrm>
              <a:off x="0" y="0"/>
              <a:ext cx="9997440" cy="731520"/>
            </a:xfrm>
            <a:custGeom>
              <a:avLst/>
              <a:gdLst/>
              <a:ahLst/>
              <a:cxnLst/>
              <a:rect l="l" t="t" r="r" b="b"/>
              <a:pathLst>
                <a:path w="9997440" h="731520">
                  <a:moveTo>
                    <a:pt x="0" y="0"/>
                  </a:moveTo>
                  <a:lnTo>
                    <a:pt x="9997440" y="0"/>
                  </a:lnTo>
                  <a:lnTo>
                    <a:pt x="9997440" y="731520"/>
                  </a:lnTo>
                  <a:lnTo>
                    <a:pt x="0" y="731520"/>
                  </a:lnTo>
                  <a:close/>
                </a:path>
              </a:pathLst>
            </a:custGeom>
            <a:blipFill>
              <a:blip r:embed="rId3">
                <a:alphaModFix amt="0"/>
              </a:blip>
              <a:stretch>
                <a:fillRect t="-216295" b="-216295"/>
              </a:stretch>
            </a:blipFill>
          </p:spPr>
          <p:txBody>
            <a:bodyPr/>
            <a:lstStyle/>
            <a:p>
              <a:endParaRPr lang="es-GT"/>
            </a:p>
          </p:txBody>
        </p:sp>
        <p:sp>
          <p:nvSpPr>
            <p:cNvPr id="61" name="TextBox 61"/>
            <p:cNvSpPr txBox="1"/>
            <p:nvPr/>
          </p:nvSpPr>
          <p:spPr>
            <a:xfrm>
              <a:off x="0" y="-47625"/>
              <a:ext cx="9997440" cy="779145"/>
            </a:xfrm>
            <a:prstGeom prst="rect">
              <a:avLst/>
            </a:prstGeom>
          </p:spPr>
          <p:txBody>
            <a:bodyPr lIns="0" tIns="0" rIns="0" bIns="0" rtlCol="0" anchor="ctr"/>
            <a:lstStyle/>
            <a:p>
              <a:pPr algn="l">
                <a:lnSpc>
                  <a:spcPts val="2640"/>
                </a:lnSpc>
              </a:pPr>
              <a:r>
                <a:rPr lang="en-US" sz="2200" b="1">
                  <a:solidFill>
                    <a:srgbClr val="E8A87C"/>
                  </a:solidFill>
                  <a:latin typeface="Calibri (MS) Bold"/>
                  <a:ea typeface="Calibri (MS) Bold"/>
                  <a:cs typeface="Calibri (MS) Bold"/>
                  <a:sym typeface="Calibri (MS) Bold"/>
                </a:rPr>
                <a:t>Diseño del algoritmo</a:t>
              </a:r>
            </a:p>
          </p:txBody>
        </p:sp>
      </p:grpSp>
      <p:sp>
        <p:nvSpPr>
          <p:cNvPr id="62" name="TextBox 62"/>
          <p:cNvSpPr txBox="1"/>
          <p:nvPr/>
        </p:nvSpPr>
        <p:spPr>
          <a:xfrm>
            <a:off x="10003536" y="7916799"/>
            <a:ext cx="7315200" cy="1047750"/>
          </a:xfrm>
          <a:prstGeom prst="rect">
            <a:avLst/>
          </a:prstGeom>
        </p:spPr>
        <p:txBody>
          <a:bodyPr lIns="0" tIns="0" rIns="0" bIns="0" rtlCol="0" anchor="t">
            <a:spAutoFit/>
          </a:bodyPr>
          <a:lstStyle/>
          <a:p>
            <a:pPr algn="l">
              <a:lnSpc>
                <a:spcPts val="2639"/>
              </a:lnSpc>
            </a:pPr>
            <a:r>
              <a:rPr lang="en-US" sz="2199">
                <a:solidFill>
                  <a:srgbClr val="FFFFFF"/>
                </a:solidFill>
                <a:latin typeface="Calibri (MS)"/>
                <a:ea typeface="Calibri (MS)"/>
                <a:cs typeface="Calibri (MS)"/>
                <a:sym typeface="Calibri (MS)"/>
              </a:rPr>
              <a:t>Formular los pasos concretos que resuelven el problema: seleccionar estructuras de control apropiadas y verificar la corrección de la solución.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E2235"/>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16891" y="16891"/>
              <a:ext cx="24383999" cy="1755648"/>
            </a:xfrm>
            <a:custGeom>
              <a:avLst/>
              <a:gdLst/>
              <a:ahLst/>
              <a:cxnLst/>
              <a:rect l="l" t="t" r="r" b="b"/>
              <a:pathLst>
                <a:path w="24383999" h="1755648">
                  <a:moveTo>
                    <a:pt x="0" y="0"/>
                  </a:moveTo>
                  <a:lnTo>
                    <a:pt x="24383999" y="0"/>
                  </a:lnTo>
                  <a:lnTo>
                    <a:pt x="24383999" y="1755648"/>
                  </a:lnTo>
                  <a:lnTo>
                    <a:pt x="0" y="1755648"/>
                  </a:lnTo>
                  <a:close/>
                </a:path>
              </a:pathLst>
            </a:custGeom>
            <a:solidFill>
              <a:srgbClr val="161929"/>
            </a:solidFill>
          </p:spPr>
          <p:txBody>
            <a:bodyPr/>
            <a:lstStyle/>
            <a:p>
              <a:endParaRPr lang="es-GT"/>
            </a:p>
          </p:txBody>
        </p:sp>
        <p:sp>
          <p:nvSpPr>
            <p:cNvPr id="4" name="Freeform 4"/>
            <p:cNvSpPr/>
            <p:nvPr/>
          </p:nvSpPr>
          <p:spPr>
            <a:xfrm>
              <a:off x="0" y="0"/>
              <a:ext cx="24417782" cy="1789430"/>
            </a:xfrm>
            <a:custGeom>
              <a:avLst/>
              <a:gdLst/>
              <a:ahLst/>
              <a:cxnLst/>
              <a:rect l="l" t="t" r="r" b="b"/>
              <a:pathLst>
                <a:path w="24417782" h="1789430">
                  <a:moveTo>
                    <a:pt x="16891" y="0"/>
                  </a:moveTo>
                  <a:lnTo>
                    <a:pt x="24400890" y="0"/>
                  </a:lnTo>
                  <a:cubicBezTo>
                    <a:pt x="24410290" y="0"/>
                    <a:pt x="24417782" y="7620"/>
                    <a:pt x="24417782" y="16891"/>
                  </a:cubicBezTo>
                  <a:lnTo>
                    <a:pt x="24417782" y="1772539"/>
                  </a:lnTo>
                  <a:cubicBezTo>
                    <a:pt x="24417782" y="1781937"/>
                    <a:pt x="24410163" y="1789430"/>
                    <a:pt x="24400890"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24400890" y="1755648"/>
                  </a:lnTo>
                  <a:lnTo>
                    <a:pt x="24400890" y="1772539"/>
                  </a:lnTo>
                  <a:lnTo>
                    <a:pt x="24384000" y="1772539"/>
                  </a:lnTo>
                  <a:lnTo>
                    <a:pt x="24384000" y="16891"/>
                  </a:lnTo>
                  <a:lnTo>
                    <a:pt x="24400890" y="16891"/>
                  </a:lnTo>
                  <a:lnTo>
                    <a:pt x="24400890" y="33909"/>
                  </a:lnTo>
                  <a:lnTo>
                    <a:pt x="16891" y="33909"/>
                  </a:lnTo>
                  <a:close/>
                </a:path>
              </a:pathLst>
            </a:custGeom>
            <a:solidFill>
              <a:srgbClr val="161929"/>
            </a:solidFill>
          </p:spPr>
          <p:txBody>
            <a:bodyPr/>
            <a:lstStyle/>
            <a:p>
              <a:endParaRPr lang="es-GT"/>
            </a:p>
          </p:txBody>
        </p:sp>
      </p:grpSp>
      <p:grpSp>
        <p:nvGrpSpPr>
          <p:cNvPr id="5" name="Group 5"/>
          <p:cNvGrpSpPr/>
          <p:nvPr/>
        </p:nvGrpSpPr>
        <p:grpSpPr>
          <a:xfrm>
            <a:off x="-12697" y="1304039"/>
            <a:ext cx="18313403" cy="98555"/>
            <a:chOff x="0" y="0"/>
            <a:chExt cx="24417871" cy="131407"/>
          </a:xfrm>
        </p:grpSpPr>
        <p:sp>
          <p:nvSpPr>
            <p:cNvPr id="6" name="Freeform 6"/>
            <p:cNvSpPr/>
            <p:nvPr/>
          </p:nvSpPr>
          <p:spPr>
            <a:xfrm>
              <a:off x="16891" y="16891"/>
              <a:ext cx="24383999" cy="97536"/>
            </a:xfrm>
            <a:custGeom>
              <a:avLst/>
              <a:gdLst/>
              <a:ahLst/>
              <a:cxnLst/>
              <a:rect l="l" t="t" r="r" b="b"/>
              <a:pathLst>
                <a:path w="24383999" h="97536">
                  <a:moveTo>
                    <a:pt x="0" y="0"/>
                  </a:moveTo>
                  <a:lnTo>
                    <a:pt x="24383999" y="0"/>
                  </a:lnTo>
                  <a:lnTo>
                    <a:pt x="24383999" y="97536"/>
                  </a:lnTo>
                  <a:lnTo>
                    <a:pt x="0" y="97536"/>
                  </a:lnTo>
                  <a:close/>
                </a:path>
              </a:pathLst>
            </a:custGeom>
            <a:solidFill>
              <a:srgbClr val="5B8CFF"/>
            </a:solidFill>
          </p:spPr>
          <p:txBody>
            <a:bodyPr/>
            <a:lstStyle/>
            <a:p>
              <a:endParaRPr lang="es-GT"/>
            </a:p>
          </p:txBody>
        </p:sp>
        <p:sp>
          <p:nvSpPr>
            <p:cNvPr id="7" name="Freeform 7"/>
            <p:cNvSpPr/>
            <p:nvPr/>
          </p:nvSpPr>
          <p:spPr>
            <a:xfrm>
              <a:off x="0" y="0"/>
              <a:ext cx="24417782" cy="131320"/>
            </a:xfrm>
            <a:custGeom>
              <a:avLst/>
              <a:gdLst/>
              <a:ahLst/>
              <a:cxnLst/>
              <a:rect l="l" t="t" r="r" b="b"/>
              <a:pathLst>
                <a:path w="24417782" h="131320">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5B8CFF"/>
            </a:solidFill>
          </p:spPr>
          <p:txBody>
            <a:bodyPr/>
            <a:lstStyle/>
            <a:p>
              <a:endParaRPr lang="es-GT"/>
            </a:p>
          </p:txBody>
        </p:sp>
      </p:grpSp>
      <p:grpSp>
        <p:nvGrpSpPr>
          <p:cNvPr id="8" name="Group 8"/>
          <p:cNvGrpSpPr/>
          <p:nvPr/>
        </p:nvGrpSpPr>
        <p:grpSpPr>
          <a:xfrm>
            <a:off x="822960" y="0"/>
            <a:ext cx="16642080" cy="1316736"/>
            <a:chOff x="0" y="0"/>
            <a:chExt cx="22189440" cy="1755648"/>
          </a:xfrm>
        </p:grpSpPr>
        <p:sp>
          <p:nvSpPr>
            <p:cNvPr id="9" name="Freeform 9"/>
            <p:cNvSpPr/>
            <p:nvPr/>
          </p:nvSpPr>
          <p:spPr>
            <a:xfrm>
              <a:off x="0" y="0"/>
              <a:ext cx="22189439" cy="1755648"/>
            </a:xfrm>
            <a:custGeom>
              <a:avLst/>
              <a:gdLst/>
              <a:ahLst/>
              <a:cxnLst/>
              <a:rect l="l" t="t" r="r" b="b"/>
              <a:pathLst>
                <a:path w="22189439" h="1755648">
                  <a:moveTo>
                    <a:pt x="0" y="0"/>
                  </a:moveTo>
                  <a:lnTo>
                    <a:pt x="22189439" y="0"/>
                  </a:lnTo>
                  <a:lnTo>
                    <a:pt x="22189439" y="1755648"/>
                  </a:lnTo>
                  <a:lnTo>
                    <a:pt x="0" y="1755648"/>
                  </a:lnTo>
                  <a:close/>
                </a:path>
              </a:pathLst>
            </a:custGeom>
            <a:blipFill>
              <a:blip r:embed="rId3">
                <a:alphaModFix amt="0"/>
              </a:blip>
              <a:stretch>
                <a:fillRect t="-196269" b="-196269"/>
              </a:stretch>
            </a:blipFill>
          </p:spPr>
          <p:txBody>
            <a:bodyPr/>
            <a:lstStyle/>
            <a:p>
              <a:endParaRPr lang="es-GT"/>
            </a:p>
          </p:txBody>
        </p:sp>
        <p:sp>
          <p:nvSpPr>
            <p:cNvPr id="10" name="TextBox 10"/>
            <p:cNvSpPr txBox="1"/>
            <p:nvPr/>
          </p:nvSpPr>
          <p:spPr>
            <a:xfrm>
              <a:off x="0" y="-76200"/>
              <a:ext cx="22189440" cy="1831848"/>
            </a:xfrm>
            <a:prstGeom prst="rect">
              <a:avLst/>
            </a:prstGeom>
          </p:spPr>
          <p:txBody>
            <a:bodyPr lIns="0" tIns="0" rIns="0" bIns="0" rtlCol="0" anchor="ctr"/>
            <a:lstStyle/>
            <a:p>
              <a:pPr algn="l">
                <a:lnSpc>
                  <a:spcPts val="5280"/>
                </a:lnSpc>
              </a:pPr>
              <a:r>
                <a:rPr lang="en-US" sz="4400" b="1">
                  <a:solidFill>
                    <a:srgbClr val="FFFFFF"/>
                  </a:solidFill>
                  <a:latin typeface="Calibri (MS) Bold"/>
                  <a:ea typeface="Calibri (MS) Bold"/>
                  <a:cs typeface="Calibri (MS) Bold"/>
                  <a:sym typeface="Calibri (MS) Bold"/>
                </a:rPr>
                <a:t>Pensamiento algorítmico – Ejemplo aplicado</a:t>
              </a:r>
            </a:p>
          </p:txBody>
        </p:sp>
      </p:grpSp>
      <p:grpSp>
        <p:nvGrpSpPr>
          <p:cNvPr id="11" name="Group 11"/>
          <p:cNvGrpSpPr/>
          <p:nvPr/>
        </p:nvGrpSpPr>
        <p:grpSpPr>
          <a:xfrm>
            <a:off x="-12697" y="9954263"/>
            <a:ext cx="18313403" cy="345443"/>
            <a:chOff x="0" y="0"/>
            <a:chExt cx="24417871" cy="460591"/>
          </a:xfrm>
        </p:grpSpPr>
        <p:sp>
          <p:nvSpPr>
            <p:cNvPr id="12" name="Freeform 12"/>
            <p:cNvSpPr/>
            <p:nvPr/>
          </p:nvSpPr>
          <p:spPr>
            <a:xfrm>
              <a:off x="16891" y="16891"/>
              <a:ext cx="24383999" cy="426720"/>
            </a:xfrm>
            <a:custGeom>
              <a:avLst/>
              <a:gdLst/>
              <a:ahLst/>
              <a:cxnLst/>
              <a:rect l="l" t="t" r="r" b="b"/>
              <a:pathLst>
                <a:path w="24383999" h="426720">
                  <a:moveTo>
                    <a:pt x="0" y="0"/>
                  </a:moveTo>
                  <a:lnTo>
                    <a:pt x="24383999" y="0"/>
                  </a:lnTo>
                  <a:lnTo>
                    <a:pt x="24383999" y="426720"/>
                  </a:lnTo>
                  <a:lnTo>
                    <a:pt x="0" y="426720"/>
                  </a:lnTo>
                  <a:close/>
                </a:path>
              </a:pathLst>
            </a:custGeom>
            <a:solidFill>
              <a:srgbClr val="12152A"/>
            </a:solidFill>
          </p:spPr>
          <p:txBody>
            <a:bodyPr/>
            <a:lstStyle/>
            <a:p>
              <a:endParaRPr lang="es-GT"/>
            </a:p>
          </p:txBody>
        </p:sp>
        <p:sp>
          <p:nvSpPr>
            <p:cNvPr id="13" name="Freeform 13"/>
            <p:cNvSpPr/>
            <p:nvPr/>
          </p:nvSpPr>
          <p:spPr>
            <a:xfrm>
              <a:off x="0" y="0"/>
              <a:ext cx="24417782" cy="460504"/>
            </a:xfrm>
            <a:custGeom>
              <a:avLst/>
              <a:gdLst/>
              <a:ahLst/>
              <a:cxnLst/>
              <a:rect l="l" t="t" r="r" b="b"/>
              <a:pathLst>
                <a:path w="24417782" h="460504">
                  <a:moveTo>
                    <a:pt x="16891" y="0"/>
                  </a:moveTo>
                  <a:lnTo>
                    <a:pt x="24400890" y="0"/>
                  </a:lnTo>
                  <a:cubicBezTo>
                    <a:pt x="24410290" y="0"/>
                    <a:pt x="24417782" y="7620"/>
                    <a:pt x="24417782" y="16891"/>
                  </a:cubicBezTo>
                  <a:lnTo>
                    <a:pt x="24417782" y="443611"/>
                  </a:lnTo>
                  <a:cubicBezTo>
                    <a:pt x="24417782" y="453009"/>
                    <a:pt x="24410163" y="460502"/>
                    <a:pt x="24400890" y="460502"/>
                  </a:cubicBezTo>
                  <a:lnTo>
                    <a:pt x="16891" y="460502"/>
                  </a:lnTo>
                  <a:cubicBezTo>
                    <a:pt x="7620" y="460629"/>
                    <a:pt x="0" y="453009"/>
                    <a:pt x="0" y="443611"/>
                  </a:cubicBezTo>
                  <a:lnTo>
                    <a:pt x="0" y="16891"/>
                  </a:lnTo>
                  <a:cubicBezTo>
                    <a:pt x="0" y="7620"/>
                    <a:pt x="7620" y="0"/>
                    <a:pt x="16891" y="0"/>
                  </a:cubicBezTo>
                  <a:moveTo>
                    <a:pt x="16891" y="33909"/>
                  </a:moveTo>
                  <a:lnTo>
                    <a:pt x="16891" y="16891"/>
                  </a:lnTo>
                  <a:lnTo>
                    <a:pt x="33909" y="16891"/>
                  </a:lnTo>
                  <a:lnTo>
                    <a:pt x="33909" y="443611"/>
                  </a:lnTo>
                  <a:lnTo>
                    <a:pt x="16891" y="443611"/>
                  </a:lnTo>
                  <a:lnTo>
                    <a:pt x="16891" y="426720"/>
                  </a:lnTo>
                  <a:lnTo>
                    <a:pt x="24400890" y="426720"/>
                  </a:lnTo>
                  <a:lnTo>
                    <a:pt x="24400890" y="443611"/>
                  </a:lnTo>
                  <a:lnTo>
                    <a:pt x="24384000" y="443611"/>
                  </a:lnTo>
                  <a:lnTo>
                    <a:pt x="24384000" y="16891"/>
                  </a:lnTo>
                  <a:lnTo>
                    <a:pt x="24400890" y="16891"/>
                  </a:lnTo>
                  <a:lnTo>
                    <a:pt x="24400890" y="33909"/>
                  </a:lnTo>
                  <a:lnTo>
                    <a:pt x="16891" y="33909"/>
                  </a:lnTo>
                  <a:close/>
                </a:path>
              </a:pathLst>
            </a:custGeom>
            <a:solidFill>
              <a:srgbClr val="12152A"/>
            </a:solidFill>
          </p:spPr>
          <p:txBody>
            <a:bodyPr/>
            <a:lstStyle/>
            <a:p>
              <a:endParaRPr lang="es-GT"/>
            </a:p>
          </p:txBody>
        </p:sp>
      </p:grpSp>
      <p:grpSp>
        <p:nvGrpSpPr>
          <p:cNvPr id="14" name="Group 14"/>
          <p:cNvGrpSpPr/>
          <p:nvPr/>
        </p:nvGrpSpPr>
        <p:grpSpPr>
          <a:xfrm>
            <a:off x="17007840" y="9966960"/>
            <a:ext cx="914400" cy="320040"/>
            <a:chOff x="0" y="0"/>
            <a:chExt cx="1219200" cy="426720"/>
          </a:xfrm>
        </p:grpSpPr>
        <p:sp>
          <p:nvSpPr>
            <p:cNvPr id="15" name="Freeform 15"/>
            <p:cNvSpPr/>
            <p:nvPr/>
          </p:nvSpPr>
          <p:spPr>
            <a:xfrm>
              <a:off x="0" y="0"/>
              <a:ext cx="1219200" cy="426720"/>
            </a:xfrm>
            <a:custGeom>
              <a:avLst/>
              <a:gdLst/>
              <a:ahLst/>
              <a:cxnLst/>
              <a:rect l="l" t="t" r="r" b="b"/>
              <a:pathLst>
                <a:path w="1219200" h="426720">
                  <a:moveTo>
                    <a:pt x="0" y="0"/>
                  </a:moveTo>
                  <a:lnTo>
                    <a:pt x="1219200" y="0"/>
                  </a:lnTo>
                  <a:lnTo>
                    <a:pt x="1219200" y="426720"/>
                  </a:lnTo>
                  <a:lnTo>
                    <a:pt x="0" y="426720"/>
                  </a:lnTo>
                  <a:close/>
                </a:path>
              </a:pathLst>
            </a:custGeom>
            <a:blipFill>
              <a:blip r:embed="rId3">
                <a:alphaModFix amt="0"/>
              </a:blip>
              <a:stretch>
                <a:fillRect t="-5671" b="-5671"/>
              </a:stretch>
            </a:blipFill>
          </p:spPr>
          <p:txBody>
            <a:bodyPr/>
            <a:lstStyle/>
            <a:p>
              <a:endParaRPr lang="es-GT"/>
            </a:p>
          </p:txBody>
        </p:sp>
        <p:sp>
          <p:nvSpPr>
            <p:cNvPr id="16" name="TextBox 16"/>
            <p:cNvSpPr txBox="1"/>
            <p:nvPr/>
          </p:nvSpPr>
          <p:spPr>
            <a:xfrm>
              <a:off x="0" y="-38100"/>
              <a:ext cx="1219200" cy="464820"/>
            </a:xfrm>
            <a:prstGeom prst="rect">
              <a:avLst/>
            </a:prstGeom>
          </p:spPr>
          <p:txBody>
            <a:bodyPr lIns="0" tIns="0" rIns="0" bIns="0" rtlCol="0" anchor="ctr"/>
            <a:lstStyle/>
            <a:p>
              <a:pPr algn="r">
                <a:lnSpc>
                  <a:spcPts val="1800"/>
                </a:lnSpc>
              </a:pPr>
              <a:r>
                <a:rPr lang="en-US" sz="1500">
                  <a:solidFill>
                    <a:srgbClr val="6E7A9F"/>
                  </a:solidFill>
                  <a:latin typeface="Calibri (MS)"/>
                  <a:ea typeface="Calibri (MS)"/>
                  <a:cs typeface="Calibri (MS)"/>
                  <a:sym typeface="Calibri (MS)"/>
                </a:rPr>
                <a:t>17</a:t>
              </a:r>
            </a:p>
          </p:txBody>
        </p:sp>
      </p:grpSp>
      <p:grpSp>
        <p:nvGrpSpPr>
          <p:cNvPr id="17" name="Group 17"/>
          <p:cNvGrpSpPr/>
          <p:nvPr/>
        </p:nvGrpSpPr>
        <p:grpSpPr>
          <a:xfrm>
            <a:off x="731520" y="1554480"/>
            <a:ext cx="16824960" cy="731520"/>
            <a:chOff x="0" y="0"/>
            <a:chExt cx="22433280" cy="975360"/>
          </a:xfrm>
        </p:grpSpPr>
        <p:sp>
          <p:nvSpPr>
            <p:cNvPr id="18" name="Freeform 18"/>
            <p:cNvSpPr/>
            <p:nvPr/>
          </p:nvSpPr>
          <p:spPr>
            <a:xfrm>
              <a:off x="0" y="0"/>
              <a:ext cx="22433280" cy="975360"/>
            </a:xfrm>
            <a:custGeom>
              <a:avLst/>
              <a:gdLst/>
              <a:ahLst/>
              <a:cxnLst/>
              <a:rect l="l" t="t" r="r" b="b"/>
              <a:pathLst>
                <a:path w="22433280" h="975360">
                  <a:moveTo>
                    <a:pt x="0" y="0"/>
                  </a:moveTo>
                  <a:lnTo>
                    <a:pt x="22433280" y="0"/>
                  </a:lnTo>
                  <a:lnTo>
                    <a:pt x="22433280" y="975360"/>
                  </a:lnTo>
                  <a:lnTo>
                    <a:pt x="0" y="975360"/>
                  </a:lnTo>
                  <a:close/>
                </a:path>
              </a:pathLst>
            </a:custGeom>
            <a:blipFill>
              <a:blip r:embed="rId3">
                <a:alphaModFix amt="0"/>
              </a:blip>
              <a:stretch>
                <a:fillRect t="-398155" b="-398155"/>
              </a:stretch>
            </a:blipFill>
          </p:spPr>
          <p:txBody>
            <a:bodyPr/>
            <a:lstStyle/>
            <a:p>
              <a:endParaRPr lang="es-GT"/>
            </a:p>
          </p:txBody>
        </p:sp>
        <p:sp>
          <p:nvSpPr>
            <p:cNvPr id="19" name="TextBox 19"/>
            <p:cNvSpPr txBox="1"/>
            <p:nvPr/>
          </p:nvSpPr>
          <p:spPr>
            <a:xfrm>
              <a:off x="0" y="-47625"/>
              <a:ext cx="22433280" cy="1022985"/>
            </a:xfrm>
            <a:prstGeom prst="rect">
              <a:avLst/>
            </a:prstGeom>
          </p:spPr>
          <p:txBody>
            <a:bodyPr lIns="0" tIns="0" rIns="0" bIns="0" rtlCol="0" anchor="ctr"/>
            <a:lstStyle/>
            <a:p>
              <a:pPr algn="l">
                <a:lnSpc>
                  <a:spcPts val="2640"/>
                </a:lnSpc>
              </a:pPr>
              <a:r>
                <a:rPr lang="en-US" sz="2200">
                  <a:solidFill>
                    <a:srgbClr val="FFFFFF"/>
                  </a:solidFill>
                  <a:latin typeface="Calibri (MS)"/>
                  <a:ea typeface="Calibri (MS)"/>
                  <a:cs typeface="Calibri (MS)"/>
                  <a:sym typeface="Calibri (MS)"/>
                </a:rPr>
                <a:t>Problema: Calcular el promedio de notas de un estudiante en 3 cursos y determinar si aprueba (nota ≥ 61).</a:t>
              </a:r>
            </a:p>
          </p:txBody>
        </p:sp>
      </p:grpSp>
      <p:grpSp>
        <p:nvGrpSpPr>
          <p:cNvPr id="20" name="Group 20"/>
          <p:cNvGrpSpPr/>
          <p:nvPr/>
        </p:nvGrpSpPr>
        <p:grpSpPr>
          <a:xfrm>
            <a:off x="718823" y="2584199"/>
            <a:ext cx="8255003" cy="3353819"/>
            <a:chOff x="0" y="0"/>
            <a:chExt cx="11006671" cy="4471759"/>
          </a:xfrm>
        </p:grpSpPr>
        <p:sp>
          <p:nvSpPr>
            <p:cNvPr id="21" name="Freeform 21"/>
            <p:cNvSpPr/>
            <p:nvPr/>
          </p:nvSpPr>
          <p:spPr>
            <a:xfrm>
              <a:off x="16891" y="16891"/>
              <a:ext cx="10972800" cy="4437888"/>
            </a:xfrm>
            <a:custGeom>
              <a:avLst/>
              <a:gdLst/>
              <a:ahLst/>
              <a:cxnLst/>
              <a:rect l="l" t="t" r="r" b="b"/>
              <a:pathLst>
                <a:path w="10972800" h="4437888">
                  <a:moveTo>
                    <a:pt x="0" y="0"/>
                  </a:moveTo>
                  <a:lnTo>
                    <a:pt x="10972800" y="0"/>
                  </a:lnTo>
                  <a:lnTo>
                    <a:pt x="10972800" y="4437888"/>
                  </a:lnTo>
                  <a:lnTo>
                    <a:pt x="0" y="4437888"/>
                  </a:lnTo>
                  <a:close/>
                </a:path>
              </a:pathLst>
            </a:custGeom>
            <a:solidFill>
              <a:srgbClr val="252B42"/>
            </a:solidFill>
          </p:spPr>
          <p:txBody>
            <a:bodyPr/>
            <a:lstStyle/>
            <a:p>
              <a:endParaRPr lang="es-GT"/>
            </a:p>
          </p:txBody>
        </p:sp>
        <p:sp>
          <p:nvSpPr>
            <p:cNvPr id="22" name="Freeform 22"/>
            <p:cNvSpPr/>
            <p:nvPr/>
          </p:nvSpPr>
          <p:spPr>
            <a:xfrm>
              <a:off x="0" y="0"/>
              <a:ext cx="11006582" cy="4471670"/>
            </a:xfrm>
            <a:custGeom>
              <a:avLst/>
              <a:gdLst/>
              <a:ahLst/>
              <a:cxnLst/>
              <a:rect l="l" t="t" r="r" b="b"/>
              <a:pathLst>
                <a:path w="11006582" h="4471670">
                  <a:moveTo>
                    <a:pt x="16891" y="0"/>
                  </a:moveTo>
                  <a:lnTo>
                    <a:pt x="10989691" y="0"/>
                  </a:lnTo>
                  <a:cubicBezTo>
                    <a:pt x="10999089" y="0"/>
                    <a:pt x="11006582" y="7620"/>
                    <a:pt x="11006582" y="16891"/>
                  </a:cubicBezTo>
                  <a:lnTo>
                    <a:pt x="11006582" y="4454779"/>
                  </a:lnTo>
                  <a:cubicBezTo>
                    <a:pt x="11006582" y="4464177"/>
                    <a:pt x="10998962" y="4471670"/>
                    <a:pt x="10989691" y="4471670"/>
                  </a:cubicBezTo>
                  <a:lnTo>
                    <a:pt x="16891" y="4471670"/>
                  </a:lnTo>
                  <a:cubicBezTo>
                    <a:pt x="7493" y="4471670"/>
                    <a:pt x="0" y="4464050"/>
                    <a:pt x="0" y="4454779"/>
                  </a:cubicBezTo>
                  <a:lnTo>
                    <a:pt x="0" y="16891"/>
                  </a:lnTo>
                  <a:cubicBezTo>
                    <a:pt x="0" y="7620"/>
                    <a:pt x="7620" y="0"/>
                    <a:pt x="16891" y="0"/>
                  </a:cubicBezTo>
                  <a:moveTo>
                    <a:pt x="16891" y="33909"/>
                  </a:moveTo>
                  <a:lnTo>
                    <a:pt x="16891" y="16891"/>
                  </a:lnTo>
                  <a:lnTo>
                    <a:pt x="33909" y="16891"/>
                  </a:lnTo>
                  <a:lnTo>
                    <a:pt x="33909" y="4454779"/>
                  </a:lnTo>
                  <a:lnTo>
                    <a:pt x="16891" y="4454779"/>
                  </a:lnTo>
                  <a:lnTo>
                    <a:pt x="16891" y="4437888"/>
                  </a:lnTo>
                  <a:lnTo>
                    <a:pt x="10989691" y="4437888"/>
                  </a:lnTo>
                  <a:lnTo>
                    <a:pt x="10989691" y="4454779"/>
                  </a:lnTo>
                  <a:lnTo>
                    <a:pt x="10972800" y="4454779"/>
                  </a:lnTo>
                  <a:lnTo>
                    <a:pt x="10972800" y="16891"/>
                  </a:lnTo>
                  <a:lnTo>
                    <a:pt x="10989691" y="16891"/>
                  </a:lnTo>
                  <a:lnTo>
                    <a:pt x="10989691" y="33909"/>
                  </a:lnTo>
                  <a:lnTo>
                    <a:pt x="16891" y="33909"/>
                  </a:lnTo>
                  <a:close/>
                </a:path>
              </a:pathLst>
            </a:custGeom>
            <a:solidFill>
              <a:srgbClr val="5B8CFF"/>
            </a:solidFill>
          </p:spPr>
          <p:txBody>
            <a:bodyPr/>
            <a:lstStyle/>
            <a:p>
              <a:endParaRPr lang="es-GT"/>
            </a:p>
          </p:txBody>
        </p:sp>
      </p:grpSp>
      <p:grpSp>
        <p:nvGrpSpPr>
          <p:cNvPr id="23" name="Group 23"/>
          <p:cNvGrpSpPr/>
          <p:nvPr/>
        </p:nvGrpSpPr>
        <p:grpSpPr>
          <a:xfrm>
            <a:off x="718823" y="2584199"/>
            <a:ext cx="8255003" cy="665483"/>
            <a:chOff x="0" y="0"/>
            <a:chExt cx="11006671" cy="887311"/>
          </a:xfrm>
        </p:grpSpPr>
        <p:sp>
          <p:nvSpPr>
            <p:cNvPr id="24" name="Freeform 24"/>
            <p:cNvSpPr/>
            <p:nvPr/>
          </p:nvSpPr>
          <p:spPr>
            <a:xfrm>
              <a:off x="16891" y="16891"/>
              <a:ext cx="10972800" cy="853440"/>
            </a:xfrm>
            <a:custGeom>
              <a:avLst/>
              <a:gdLst/>
              <a:ahLst/>
              <a:cxnLst/>
              <a:rect l="l" t="t" r="r" b="b"/>
              <a:pathLst>
                <a:path w="10972800" h="853440">
                  <a:moveTo>
                    <a:pt x="0" y="0"/>
                  </a:moveTo>
                  <a:lnTo>
                    <a:pt x="10972800" y="0"/>
                  </a:lnTo>
                  <a:lnTo>
                    <a:pt x="10972800" y="853440"/>
                  </a:lnTo>
                  <a:lnTo>
                    <a:pt x="0" y="853440"/>
                  </a:lnTo>
                  <a:close/>
                </a:path>
              </a:pathLst>
            </a:custGeom>
            <a:solidFill>
              <a:srgbClr val="1A1F33"/>
            </a:solidFill>
          </p:spPr>
          <p:txBody>
            <a:bodyPr/>
            <a:lstStyle/>
            <a:p>
              <a:endParaRPr lang="es-GT"/>
            </a:p>
          </p:txBody>
        </p:sp>
        <p:sp>
          <p:nvSpPr>
            <p:cNvPr id="25" name="Freeform 25"/>
            <p:cNvSpPr/>
            <p:nvPr/>
          </p:nvSpPr>
          <p:spPr>
            <a:xfrm>
              <a:off x="0" y="0"/>
              <a:ext cx="11006582" cy="887224"/>
            </a:xfrm>
            <a:custGeom>
              <a:avLst/>
              <a:gdLst/>
              <a:ahLst/>
              <a:cxnLst/>
              <a:rect l="l" t="t" r="r" b="b"/>
              <a:pathLst>
                <a:path w="11006582" h="887224">
                  <a:moveTo>
                    <a:pt x="16891" y="0"/>
                  </a:moveTo>
                  <a:lnTo>
                    <a:pt x="10989691" y="0"/>
                  </a:lnTo>
                  <a:cubicBezTo>
                    <a:pt x="10999089" y="0"/>
                    <a:pt x="11006582" y="7620"/>
                    <a:pt x="11006582" y="16891"/>
                  </a:cubicBezTo>
                  <a:lnTo>
                    <a:pt x="11006582" y="870331"/>
                  </a:lnTo>
                  <a:cubicBezTo>
                    <a:pt x="11006582" y="879729"/>
                    <a:pt x="10998962" y="887222"/>
                    <a:pt x="10989691" y="887222"/>
                  </a:cubicBezTo>
                  <a:lnTo>
                    <a:pt x="16891" y="887222"/>
                  </a:lnTo>
                  <a:cubicBezTo>
                    <a:pt x="7620" y="887349"/>
                    <a:pt x="0" y="879729"/>
                    <a:pt x="0" y="870331"/>
                  </a:cubicBezTo>
                  <a:lnTo>
                    <a:pt x="0" y="16891"/>
                  </a:lnTo>
                  <a:cubicBezTo>
                    <a:pt x="0" y="7620"/>
                    <a:pt x="7620" y="0"/>
                    <a:pt x="16891" y="0"/>
                  </a:cubicBezTo>
                  <a:moveTo>
                    <a:pt x="16891" y="33909"/>
                  </a:moveTo>
                  <a:lnTo>
                    <a:pt x="16891" y="16891"/>
                  </a:lnTo>
                  <a:lnTo>
                    <a:pt x="33909" y="16891"/>
                  </a:lnTo>
                  <a:lnTo>
                    <a:pt x="33909" y="870331"/>
                  </a:lnTo>
                  <a:lnTo>
                    <a:pt x="16891" y="870331"/>
                  </a:lnTo>
                  <a:lnTo>
                    <a:pt x="16891" y="853440"/>
                  </a:lnTo>
                  <a:lnTo>
                    <a:pt x="10989691" y="853440"/>
                  </a:lnTo>
                  <a:lnTo>
                    <a:pt x="10989691" y="870331"/>
                  </a:lnTo>
                  <a:lnTo>
                    <a:pt x="10972800" y="870331"/>
                  </a:lnTo>
                  <a:lnTo>
                    <a:pt x="10972800" y="16891"/>
                  </a:lnTo>
                  <a:lnTo>
                    <a:pt x="10989691" y="16891"/>
                  </a:lnTo>
                  <a:lnTo>
                    <a:pt x="10989691" y="33909"/>
                  </a:lnTo>
                  <a:lnTo>
                    <a:pt x="16891" y="33909"/>
                  </a:lnTo>
                  <a:close/>
                </a:path>
              </a:pathLst>
            </a:custGeom>
            <a:solidFill>
              <a:srgbClr val="5B8CFF"/>
            </a:solidFill>
          </p:spPr>
          <p:txBody>
            <a:bodyPr/>
            <a:lstStyle/>
            <a:p>
              <a:endParaRPr lang="es-GT"/>
            </a:p>
          </p:txBody>
        </p:sp>
      </p:grpSp>
      <p:grpSp>
        <p:nvGrpSpPr>
          <p:cNvPr id="26" name="Group 26"/>
          <p:cNvGrpSpPr/>
          <p:nvPr/>
        </p:nvGrpSpPr>
        <p:grpSpPr>
          <a:xfrm>
            <a:off x="1005840" y="2670048"/>
            <a:ext cx="7680960" cy="548640"/>
            <a:chOff x="0" y="0"/>
            <a:chExt cx="10241280" cy="731520"/>
          </a:xfrm>
        </p:grpSpPr>
        <p:sp>
          <p:nvSpPr>
            <p:cNvPr id="27" name="Freeform 27"/>
            <p:cNvSpPr/>
            <p:nvPr/>
          </p:nvSpPr>
          <p:spPr>
            <a:xfrm>
              <a:off x="0" y="0"/>
              <a:ext cx="10241280" cy="731520"/>
            </a:xfrm>
            <a:custGeom>
              <a:avLst/>
              <a:gdLst/>
              <a:ahLst/>
              <a:cxnLst/>
              <a:rect l="l" t="t" r="r" b="b"/>
              <a:pathLst>
                <a:path w="10241280" h="731520">
                  <a:moveTo>
                    <a:pt x="0" y="0"/>
                  </a:moveTo>
                  <a:lnTo>
                    <a:pt x="10241280" y="0"/>
                  </a:lnTo>
                  <a:lnTo>
                    <a:pt x="10241280" y="731520"/>
                  </a:lnTo>
                  <a:lnTo>
                    <a:pt x="0" y="731520"/>
                  </a:lnTo>
                  <a:close/>
                </a:path>
              </a:pathLst>
            </a:custGeom>
            <a:blipFill>
              <a:blip r:embed="rId3">
                <a:alphaModFix amt="0"/>
              </a:blip>
              <a:stretch>
                <a:fillRect t="-222790" b="-222790"/>
              </a:stretch>
            </a:blipFill>
          </p:spPr>
          <p:txBody>
            <a:bodyPr/>
            <a:lstStyle/>
            <a:p>
              <a:endParaRPr lang="es-GT"/>
            </a:p>
          </p:txBody>
        </p:sp>
        <p:sp>
          <p:nvSpPr>
            <p:cNvPr id="28" name="TextBox 28"/>
            <p:cNvSpPr txBox="1"/>
            <p:nvPr/>
          </p:nvSpPr>
          <p:spPr>
            <a:xfrm>
              <a:off x="0" y="-38100"/>
              <a:ext cx="10241280" cy="769620"/>
            </a:xfrm>
            <a:prstGeom prst="rect">
              <a:avLst/>
            </a:prstGeom>
          </p:spPr>
          <p:txBody>
            <a:bodyPr lIns="0" tIns="0" rIns="0" bIns="0" rtlCol="0" anchor="ctr"/>
            <a:lstStyle/>
            <a:p>
              <a:pPr algn="l">
                <a:lnSpc>
                  <a:spcPts val="2400"/>
                </a:lnSpc>
              </a:pPr>
              <a:r>
                <a:rPr lang="en-US" sz="2000" b="1">
                  <a:solidFill>
                    <a:srgbClr val="5B8CFF"/>
                  </a:solidFill>
                  <a:latin typeface="Calibri (MS) Bold"/>
                  <a:ea typeface="Calibri (MS) Bold"/>
                  <a:cs typeface="Calibri (MS) Bold"/>
                  <a:sym typeface="Calibri (MS) Bold"/>
                </a:rPr>
                <a:t>1. DESCOMPOSICIÓN</a:t>
              </a:r>
            </a:p>
          </p:txBody>
        </p:sp>
      </p:grpSp>
      <p:grpSp>
        <p:nvGrpSpPr>
          <p:cNvPr id="29" name="Group 29"/>
          <p:cNvGrpSpPr/>
          <p:nvPr/>
        </p:nvGrpSpPr>
        <p:grpSpPr>
          <a:xfrm>
            <a:off x="1005840" y="3419856"/>
            <a:ext cx="7680960" cy="2377440"/>
            <a:chOff x="0" y="0"/>
            <a:chExt cx="10241280" cy="3169920"/>
          </a:xfrm>
        </p:grpSpPr>
        <p:sp>
          <p:nvSpPr>
            <p:cNvPr id="30" name="Freeform 30"/>
            <p:cNvSpPr/>
            <p:nvPr/>
          </p:nvSpPr>
          <p:spPr>
            <a:xfrm>
              <a:off x="0" y="0"/>
              <a:ext cx="10241280" cy="3169920"/>
            </a:xfrm>
            <a:custGeom>
              <a:avLst/>
              <a:gdLst/>
              <a:ahLst/>
              <a:cxnLst/>
              <a:rect l="l" t="t" r="r" b="b"/>
              <a:pathLst>
                <a:path w="10241280" h="3169920">
                  <a:moveTo>
                    <a:pt x="0" y="0"/>
                  </a:moveTo>
                  <a:lnTo>
                    <a:pt x="10241280" y="0"/>
                  </a:lnTo>
                  <a:lnTo>
                    <a:pt x="10241280" y="3169920"/>
                  </a:lnTo>
                  <a:lnTo>
                    <a:pt x="0" y="3169920"/>
                  </a:lnTo>
                  <a:close/>
                </a:path>
              </a:pathLst>
            </a:custGeom>
            <a:blipFill>
              <a:blip r:embed="rId3">
                <a:alphaModFix amt="0"/>
              </a:blip>
              <a:stretch>
                <a:fillRect t="-12951" b="-12951"/>
              </a:stretch>
            </a:blipFill>
          </p:spPr>
          <p:txBody>
            <a:bodyPr/>
            <a:lstStyle/>
            <a:p>
              <a:endParaRPr lang="es-GT"/>
            </a:p>
          </p:txBody>
        </p:sp>
        <p:sp>
          <p:nvSpPr>
            <p:cNvPr id="31" name="TextBox 31"/>
            <p:cNvSpPr txBox="1"/>
            <p:nvPr/>
          </p:nvSpPr>
          <p:spPr>
            <a:xfrm>
              <a:off x="0" y="-57150"/>
              <a:ext cx="10241280" cy="3227070"/>
            </a:xfrm>
            <a:prstGeom prst="rect">
              <a:avLst/>
            </a:prstGeom>
          </p:spPr>
          <p:txBody>
            <a:bodyPr lIns="0" tIns="0" rIns="0" bIns="0" rtlCol="0" anchor="ctr"/>
            <a:lstStyle/>
            <a:p>
              <a:pPr marL="579118" lvl="1" indent="-289559" algn="l">
                <a:lnSpc>
                  <a:spcPts val="2879"/>
                </a:lnSpc>
                <a:buFont typeface="Arial"/>
                <a:buChar char="•"/>
              </a:pPr>
              <a:r>
                <a:rPr lang="en-US" sz="2399">
                  <a:solidFill>
                    <a:srgbClr val="FFFFFF"/>
                  </a:solidFill>
                  <a:latin typeface="Calibri (MS)"/>
                  <a:ea typeface="Calibri (MS)"/>
                  <a:cs typeface="Calibri (MS)"/>
                  <a:sym typeface="Calibri (MS)"/>
                </a:rPr>
                <a:t>Subproblema A: Leer 3 notas.</a:t>
              </a:r>
            </a:p>
            <a:p>
              <a:pPr marL="579118" lvl="1" indent="-289559" algn="l">
                <a:lnSpc>
                  <a:spcPts val="2879"/>
                </a:lnSpc>
                <a:buFont typeface="Arial"/>
                <a:buChar char="•"/>
              </a:pPr>
              <a:r>
                <a:rPr lang="en-US" sz="2399">
                  <a:solidFill>
                    <a:srgbClr val="FFFFFF"/>
                  </a:solidFill>
                  <a:latin typeface="Calibri (MS)"/>
                  <a:ea typeface="Calibri (MS)"/>
                  <a:cs typeface="Calibri (MS)"/>
                  <a:sym typeface="Calibri (MS)"/>
                </a:rPr>
                <a:t>Subproblema B: Calcular el promedio.</a:t>
              </a:r>
            </a:p>
            <a:p>
              <a:pPr marL="579118" lvl="1" indent="-289559" algn="l">
                <a:lnSpc>
                  <a:spcPts val="2879"/>
                </a:lnSpc>
                <a:buFont typeface="Arial"/>
                <a:buChar char="•"/>
              </a:pPr>
              <a:r>
                <a:rPr lang="en-US" sz="2399">
                  <a:solidFill>
                    <a:srgbClr val="FFFFFF"/>
                  </a:solidFill>
                  <a:latin typeface="Calibri (MS)"/>
                  <a:ea typeface="Calibri (MS)"/>
                  <a:cs typeface="Calibri (MS)"/>
                  <a:sym typeface="Calibri (MS)"/>
                </a:rPr>
                <a:t>Subproblema C: Evaluar si el promedio ≥ 61.</a:t>
              </a:r>
            </a:p>
            <a:p>
              <a:pPr marL="579118" lvl="1" indent="-289559" algn="l">
                <a:lnSpc>
                  <a:spcPts val="2879"/>
                </a:lnSpc>
                <a:buFont typeface="Arial"/>
                <a:buChar char="•"/>
              </a:pPr>
              <a:r>
                <a:rPr lang="en-US" sz="2399">
                  <a:solidFill>
                    <a:srgbClr val="FFFFFF"/>
                  </a:solidFill>
                  <a:latin typeface="Calibri (MS)"/>
                  <a:ea typeface="Calibri (MS)"/>
                  <a:cs typeface="Calibri (MS)"/>
                  <a:sym typeface="Calibri (MS)"/>
                </a:rPr>
                <a:t>Subproblema D: Mostrar resultado.</a:t>
              </a:r>
            </a:p>
            <a:p>
              <a:pPr marL="579118" lvl="1" indent="-289559" algn="l">
                <a:lnSpc>
                  <a:spcPts val="2879"/>
                </a:lnSpc>
              </a:pPr>
              <a:endParaRPr lang="en-US" sz="2399">
                <a:solidFill>
                  <a:srgbClr val="FFFFFF"/>
                </a:solidFill>
                <a:latin typeface="Calibri (MS)"/>
                <a:ea typeface="Calibri (MS)"/>
                <a:cs typeface="Calibri (MS)"/>
                <a:sym typeface="Calibri (MS)"/>
              </a:endParaRPr>
            </a:p>
          </p:txBody>
        </p:sp>
      </p:grpSp>
      <p:grpSp>
        <p:nvGrpSpPr>
          <p:cNvPr id="32" name="Group 32"/>
          <p:cNvGrpSpPr/>
          <p:nvPr/>
        </p:nvGrpSpPr>
        <p:grpSpPr>
          <a:xfrm>
            <a:off x="9497063" y="2584199"/>
            <a:ext cx="8255003" cy="3353819"/>
            <a:chOff x="0" y="0"/>
            <a:chExt cx="11006671" cy="4471759"/>
          </a:xfrm>
        </p:grpSpPr>
        <p:sp>
          <p:nvSpPr>
            <p:cNvPr id="33" name="Freeform 33"/>
            <p:cNvSpPr/>
            <p:nvPr/>
          </p:nvSpPr>
          <p:spPr>
            <a:xfrm>
              <a:off x="16891" y="16891"/>
              <a:ext cx="10972800" cy="4437888"/>
            </a:xfrm>
            <a:custGeom>
              <a:avLst/>
              <a:gdLst/>
              <a:ahLst/>
              <a:cxnLst/>
              <a:rect l="l" t="t" r="r" b="b"/>
              <a:pathLst>
                <a:path w="10972800" h="4437888">
                  <a:moveTo>
                    <a:pt x="0" y="0"/>
                  </a:moveTo>
                  <a:lnTo>
                    <a:pt x="10972800" y="0"/>
                  </a:lnTo>
                  <a:lnTo>
                    <a:pt x="10972800" y="4437888"/>
                  </a:lnTo>
                  <a:lnTo>
                    <a:pt x="0" y="4437888"/>
                  </a:lnTo>
                  <a:close/>
                </a:path>
              </a:pathLst>
            </a:custGeom>
            <a:solidFill>
              <a:srgbClr val="252B42"/>
            </a:solidFill>
          </p:spPr>
          <p:txBody>
            <a:bodyPr/>
            <a:lstStyle/>
            <a:p>
              <a:endParaRPr lang="es-GT"/>
            </a:p>
          </p:txBody>
        </p:sp>
        <p:sp>
          <p:nvSpPr>
            <p:cNvPr id="34" name="Freeform 34"/>
            <p:cNvSpPr/>
            <p:nvPr/>
          </p:nvSpPr>
          <p:spPr>
            <a:xfrm>
              <a:off x="0" y="0"/>
              <a:ext cx="11006582" cy="4471670"/>
            </a:xfrm>
            <a:custGeom>
              <a:avLst/>
              <a:gdLst/>
              <a:ahLst/>
              <a:cxnLst/>
              <a:rect l="l" t="t" r="r" b="b"/>
              <a:pathLst>
                <a:path w="11006582" h="4471670">
                  <a:moveTo>
                    <a:pt x="16891" y="0"/>
                  </a:moveTo>
                  <a:lnTo>
                    <a:pt x="10989691" y="0"/>
                  </a:lnTo>
                  <a:cubicBezTo>
                    <a:pt x="10999089" y="0"/>
                    <a:pt x="11006582" y="7620"/>
                    <a:pt x="11006582" y="16891"/>
                  </a:cubicBezTo>
                  <a:lnTo>
                    <a:pt x="11006582" y="4454779"/>
                  </a:lnTo>
                  <a:cubicBezTo>
                    <a:pt x="11006582" y="4464177"/>
                    <a:pt x="10998962" y="4471670"/>
                    <a:pt x="10989691" y="4471670"/>
                  </a:cubicBezTo>
                  <a:lnTo>
                    <a:pt x="16891" y="4471670"/>
                  </a:lnTo>
                  <a:cubicBezTo>
                    <a:pt x="7493" y="4471670"/>
                    <a:pt x="0" y="4464050"/>
                    <a:pt x="0" y="4454779"/>
                  </a:cubicBezTo>
                  <a:lnTo>
                    <a:pt x="0" y="16891"/>
                  </a:lnTo>
                  <a:cubicBezTo>
                    <a:pt x="0" y="7620"/>
                    <a:pt x="7620" y="0"/>
                    <a:pt x="16891" y="0"/>
                  </a:cubicBezTo>
                  <a:moveTo>
                    <a:pt x="16891" y="33909"/>
                  </a:moveTo>
                  <a:lnTo>
                    <a:pt x="16891" y="16891"/>
                  </a:lnTo>
                  <a:lnTo>
                    <a:pt x="33909" y="16891"/>
                  </a:lnTo>
                  <a:lnTo>
                    <a:pt x="33909" y="4454779"/>
                  </a:lnTo>
                  <a:lnTo>
                    <a:pt x="16891" y="4454779"/>
                  </a:lnTo>
                  <a:lnTo>
                    <a:pt x="16891" y="4437888"/>
                  </a:lnTo>
                  <a:lnTo>
                    <a:pt x="10989691" y="4437888"/>
                  </a:lnTo>
                  <a:lnTo>
                    <a:pt x="10989691" y="4454779"/>
                  </a:lnTo>
                  <a:lnTo>
                    <a:pt x="10972800" y="4454779"/>
                  </a:lnTo>
                  <a:lnTo>
                    <a:pt x="10972800" y="16891"/>
                  </a:lnTo>
                  <a:lnTo>
                    <a:pt x="10989691" y="16891"/>
                  </a:lnTo>
                  <a:lnTo>
                    <a:pt x="10989691" y="33909"/>
                  </a:lnTo>
                  <a:lnTo>
                    <a:pt x="16891" y="33909"/>
                  </a:lnTo>
                  <a:close/>
                </a:path>
              </a:pathLst>
            </a:custGeom>
            <a:solidFill>
              <a:srgbClr val="7EC8A4"/>
            </a:solidFill>
          </p:spPr>
          <p:txBody>
            <a:bodyPr/>
            <a:lstStyle/>
            <a:p>
              <a:endParaRPr lang="es-GT"/>
            </a:p>
          </p:txBody>
        </p:sp>
      </p:grpSp>
      <p:grpSp>
        <p:nvGrpSpPr>
          <p:cNvPr id="35" name="Group 35"/>
          <p:cNvGrpSpPr/>
          <p:nvPr/>
        </p:nvGrpSpPr>
        <p:grpSpPr>
          <a:xfrm>
            <a:off x="9497063" y="2584199"/>
            <a:ext cx="8255003" cy="665483"/>
            <a:chOff x="0" y="0"/>
            <a:chExt cx="11006671" cy="887311"/>
          </a:xfrm>
        </p:grpSpPr>
        <p:sp>
          <p:nvSpPr>
            <p:cNvPr id="36" name="Freeform 36"/>
            <p:cNvSpPr/>
            <p:nvPr/>
          </p:nvSpPr>
          <p:spPr>
            <a:xfrm>
              <a:off x="16891" y="16891"/>
              <a:ext cx="10972800" cy="853440"/>
            </a:xfrm>
            <a:custGeom>
              <a:avLst/>
              <a:gdLst/>
              <a:ahLst/>
              <a:cxnLst/>
              <a:rect l="l" t="t" r="r" b="b"/>
              <a:pathLst>
                <a:path w="10972800" h="853440">
                  <a:moveTo>
                    <a:pt x="0" y="0"/>
                  </a:moveTo>
                  <a:lnTo>
                    <a:pt x="10972800" y="0"/>
                  </a:lnTo>
                  <a:lnTo>
                    <a:pt x="10972800" y="853440"/>
                  </a:lnTo>
                  <a:lnTo>
                    <a:pt x="0" y="853440"/>
                  </a:lnTo>
                  <a:close/>
                </a:path>
              </a:pathLst>
            </a:custGeom>
            <a:solidFill>
              <a:srgbClr val="1A1F33"/>
            </a:solidFill>
          </p:spPr>
          <p:txBody>
            <a:bodyPr/>
            <a:lstStyle/>
            <a:p>
              <a:endParaRPr lang="es-GT"/>
            </a:p>
          </p:txBody>
        </p:sp>
        <p:sp>
          <p:nvSpPr>
            <p:cNvPr id="37" name="Freeform 37"/>
            <p:cNvSpPr/>
            <p:nvPr/>
          </p:nvSpPr>
          <p:spPr>
            <a:xfrm>
              <a:off x="0" y="0"/>
              <a:ext cx="11006582" cy="887224"/>
            </a:xfrm>
            <a:custGeom>
              <a:avLst/>
              <a:gdLst/>
              <a:ahLst/>
              <a:cxnLst/>
              <a:rect l="l" t="t" r="r" b="b"/>
              <a:pathLst>
                <a:path w="11006582" h="887224">
                  <a:moveTo>
                    <a:pt x="16891" y="0"/>
                  </a:moveTo>
                  <a:lnTo>
                    <a:pt x="10989691" y="0"/>
                  </a:lnTo>
                  <a:cubicBezTo>
                    <a:pt x="10999089" y="0"/>
                    <a:pt x="11006582" y="7620"/>
                    <a:pt x="11006582" y="16891"/>
                  </a:cubicBezTo>
                  <a:lnTo>
                    <a:pt x="11006582" y="870331"/>
                  </a:lnTo>
                  <a:cubicBezTo>
                    <a:pt x="11006582" y="879729"/>
                    <a:pt x="10998962" y="887222"/>
                    <a:pt x="10989691" y="887222"/>
                  </a:cubicBezTo>
                  <a:lnTo>
                    <a:pt x="16891" y="887222"/>
                  </a:lnTo>
                  <a:cubicBezTo>
                    <a:pt x="7620" y="887349"/>
                    <a:pt x="0" y="879729"/>
                    <a:pt x="0" y="870331"/>
                  </a:cubicBezTo>
                  <a:lnTo>
                    <a:pt x="0" y="16891"/>
                  </a:lnTo>
                  <a:cubicBezTo>
                    <a:pt x="0" y="7620"/>
                    <a:pt x="7620" y="0"/>
                    <a:pt x="16891" y="0"/>
                  </a:cubicBezTo>
                  <a:moveTo>
                    <a:pt x="16891" y="33909"/>
                  </a:moveTo>
                  <a:lnTo>
                    <a:pt x="16891" y="16891"/>
                  </a:lnTo>
                  <a:lnTo>
                    <a:pt x="33909" y="16891"/>
                  </a:lnTo>
                  <a:lnTo>
                    <a:pt x="33909" y="870331"/>
                  </a:lnTo>
                  <a:lnTo>
                    <a:pt x="16891" y="870331"/>
                  </a:lnTo>
                  <a:lnTo>
                    <a:pt x="16891" y="853440"/>
                  </a:lnTo>
                  <a:lnTo>
                    <a:pt x="10989691" y="853440"/>
                  </a:lnTo>
                  <a:lnTo>
                    <a:pt x="10989691" y="870331"/>
                  </a:lnTo>
                  <a:lnTo>
                    <a:pt x="10972800" y="870331"/>
                  </a:lnTo>
                  <a:lnTo>
                    <a:pt x="10972800" y="16891"/>
                  </a:lnTo>
                  <a:lnTo>
                    <a:pt x="10989691" y="16891"/>
                  </a:lnTo>
                  <a:lnTo>
                    <a:pt x="10989691" y="33909"/>
                  </a:lnTo>
                  <a:lnTo>
                    <a:pt x="16891" y="33909"/>
                  </a:lnTo>
                  <a:close/>
                </a:path>
              </a:pathLst>
            </a:custGeom>
            <a:solidFill>
              <a:srgbClr val="7EC8A4"/>
            </a:solidFill>
          </p:spPr>
          <p:txBody>
            <a:bodyPr/>
            <a:lstStyle/>
            <a:p>
              <a:endParaRPr lang="es-GT"/>
            </a:p>
          </p:txBody>
        </p:sp>
      </p:grpSp>
      <p:grpSp>
        <p:nvGrpSpPr>
          <p:cNvPr id="38" name="Group 38"/>
          <p:cNvGrpSpPr/>
          <p:nvPr/>
        </p:nvGrpSpPr>
        <p:grpSpPr>
          <a:xfrm>
            <a:off x="9784080" y="2670048"/>
            <a:ext cx="7680960" cy="548640"/>
            <a:chOff x="0" y="0"/>
            <a:chExt cx="10241280" cy="731520"/>
          </a:xfrm>
        </p:grpSpPr>
        <p:sp>
          <p:nvSpPr>
            <p:cNvPr id="39" name="Freeform 39"/>
            <p:cNvSpPr/>
            <p:nvPr/>
          </p:nvSpPr>
          <p:spPr>
            <a:xfrm>
              <a:off x="0" y="0"/>
              <a:ext cx="10241280" cy="731520"/>
            </a:xfrm>
            <a:custGeom>
              <a:avLst/>
              <a:gdLst/>
              <a:ahLst/>
              <a:cxnLst/>
              <a:rect l="l" t="t" r="r" b="b"/>
              <a:pathLst>
                <a:path w="10241280" h="731520">
                  <a:moveTo>
                    <a:pt x="0" y="0"/>
                  </a:moveTo>
                  <a:lnTo>
                    <a:pt x="10241280" y="0"/>
                  </a:lnTo>
                  <a:lnTo>
                    <a:pt x="10241280" y="731520"/>
                  </a:lnTo>
                  <a:lnTo>
                    <a:pt x="0" y="731520"/>
                  </a:lnTo>
                  <a:close/>
                </a:path>
              </a:pathLst>
            </a:custGeom>
            <a:blipFill>
              <a:blip r:embed="rId3">
                <a:alphaModFix amt="0"/>
              </a:blip>
              <a:stretch>
                <a:fillRect t="-222790" b="-222790"/>
              </a:stretch>
            </a:blipFill>
          </p:spPr>
          <p:txBody>
            <a:bodyPr/>
            <a:lstStyle/>
            <a:p>
              <a:endParaRPr lang="es-GT"/>
            </a:p>
          </p:txBody>
        </p:sp>
        <p:sp>
          <p:nvSpPr>
            <p:cNvPr id="40" name="TextBox 40"/>
            <p:cNvSpPr txBox="1"/>
            <p:nvPr/>
          </p:nvSpPr>
          <p:spPr>
            <a:xfrm>
              <a:off x="0" y="-38100"/>
              <a:ext cx="10241280" cy="769620"/>
            </a:xfrm>
            <a:prstGeom prst="rect">
              <a:avLst/>
            </a:prstGeom>
          </p:spPr>
          <p:txBody>
            <a:bodyPr lIns="0" tIns="0" rIns="0" bIns="0" rtlCol="0" anchor="ctr"/>
            <a:lstStyle/>
            <a:p>
              <a:pPr algn="l">
                <a:lnSpc>
                  <a:spcPts val="2400"/>
                </a:lnSpc>
              </a:pPr>
              <a:r>
                <a:rPr lang="en-US" sz="2000" b="1">
                  <a:solidFill>
                    <a:srgbClr val="7EC8A4"/>
                  </a:solidFill>
                  <a:latin typeface="Calibri (MS) Bold"/>
                  <a:ea typeface="Calibri (MS) Bold"/>
                  <a:cs typeface="Calibri (MS) Bold"/>
                  <a:sym typeface="Calibri (MS) Bold"/>
                </a:rPr>
                <a:t>2. RECONOCIMIENTO DE PATRONES</a:t>
              </a:r>
            </a:p>
          </p:txBody>
        </p:sp>
      </p:grpSp>
      <p:grpSp>
        <p:nvGrpSpPr>
          <p:cNvPr id="41" name="Group 41"/>
          <p:cNvGrpSpPr/>
          <p:nvPr/>
        </p:nvGrpSpPr>
        <p:grpSpPr>
          <a:xfrm>
            <a:off x="9784080" y="3419856"/>
            <a:ext cx="7680960" cy="2377440"/>
            <a:chOff x="0" y="0"/>
            <a:chExt cx="10241280" cy="3169920"/>
          </a:xfrm>
        </p:grpSpPr>
        <p:sp>
          <p:nvSpPr>
            <p:cNvPr id="42" name="Freeform 42"/>
            <p:cNvSpPr/>
            <p:nvPr/>
          </p:nvSpPr>
          <p:spPr>
            <a:xfrm>
              <a:off x="0" y="0"/>
              <a:ext cx="10241280" cy="3169920"/>
            </a:xfrm>
            <a:custGeom>
              <a:avLst/>
              <a:gdLst/>
              <a:ahLst/>
              <a:cxnLst/>
              <a:rect l="l" t="t" r="r" b="b"/>
              <a:pathLst>
                <a:path w="10241280" h="3169920">
                  <a:moveTo>
                    <a:pt x="0" y="0"/>
                  </a:moveTo>
                  <a:lnTo>
                    <a:pt x="10241280" y="0"/>
                  </a:lnTo>
                  <a:lnTo>
                    <a:pt x="10241280" y="3169920"/>
                  </a:lnTo>
                  <a:lnTo>
                    <a:pt x="0" y="3169920"/>
                  </a:lnTo>
                  <a:close/>
                </a:path>
              </a:pathLst>
            </a:custGeom>
            <a:blipFill>
              <a:blip r:embed="rId3">
                <a:alphaModFix amt="0"/>
              </a:blip>
              <a:stretch>
                <a:fillRect t="-12951" b="-12951"/>
              </a:stretch>
            </a:blipFill>
          </p:spPr>
          <p:txBody>
            <a:bodyPr/>
            <a:lstStyle/>
            <a:p>
              <a:endParaRPr lang="es-GT"/>
            </a:p>
          </p:txBody>
        </p:sp>
        <p:sp>
          <p:nvSpPr>
            <p:cNvPr id="43" name="TextBox 43"/>
            <p:cNvSpPr txBox="1"/>
            <p:nvPr/>
          </p:nvSpPr>
          <p:spPr>
            <a:xfrm>
              <a:off x="0" y="-57150"/>
              <a:ext cx="10241280" cy="3227070"/>
            </a:xfrm>
            <a:prstGeom prst="rect">
              <a:avLst/>
            </a:prstGeom>
          </p:spPr>
          <p:txBody>
            <a:bodyPr lIns="0" tIns="0" rIns="0" bIns="0" rtlCol="0" anchor="ctr"/>
            <a:lstStyle/>
            <a:p>
              <a:pPr marL="579118" lvl="1" indent="-289559" algn="l">
                <a:lnSpc>
                  <a:spcPts val="2879"/>
                </a:lnSpc>
                <a:buFont typeface="Arial"/>
                <a:buChar char="•"/>
              </a:pPr>
              <a:r>
                <a:rPr lang="en-US" sz="2399">
                  <a:solidFill>
                    <a:srgbClr val="FFFFFF"/>
                  </a:solidFill>
                  <a:latin typeface="Calibri (MS)"/>
                  <a:ea typeface="Calibri (MS)"/>
                  <a:cs typeface="Calibri (MS)"/>
                  <a:sym typeface="Calibri (MS)"/>
                </a:rPr>
                <a:t>Las notas son datos numéricos con rango 0–100.</a:t>
              </a:r>
            </a:p>
            <a:p>
              <a:pPr marL="579118" lvl="1" indent="-289559" algn="l">
                <a:lnSpc>
                  <a:spcPts val="2879"/>
                </a:lnSpc>
                <a:buFont typeface="Arial"/>
                <a:buChar char="•"/>
              </a:pPr>
              <a:r>
                <a:rPr lang="en-US" sz="2399">
                  <a:solidFill>
                    <a:srgbClr val="FFFFFF"/>
                  </a:solidFill>
                  <a:latin typeface="Calibri (MS)"/>
                  <a:ea typeface="Calibri (MS)"/>
                  <a:cs typeface="Calibri (MS)"/>
                  <a:sym typeface="Calibri (MS)"/>
                </a:rPr>
                <a:t>El cálculo de promedio es una operación conocida: suma / cantidad.</a:t>
              </a:r>
            </a:p>
            <a:p>
              <a:pPr marL="579118" lvl="1" indent="-289559" algn="l">
                <a:lnSpc>
                  <a:spcPts val="2879"/>
                </a:lnSpc>
                <a:buFont typeface="Arial"/>
                <a:buChar char="•"/>
              </a:pPr>
              <a:r>
                <a:rPr lang="en-US" sz="2399">
                  <a:solidFill>
                    <a:srgbClr val="FFFFFF"/>
                  </a:solidFill>
                  <a:latin typeface="Calibri (MS)"/>
                  <a:ea typeface="Calibri (MS)"/>
                  <a:cs typeface="Calibri (MS)"/>
                  <a:sym typeface="Calibri (MS)"/>
                </a:rPr>
                <a:t>La evaluación es una decisión binaria (Aprueba / Reprueba).</a:t>
              </a:r>
            </a:p>
            <a:p>
              <a:pPr marL="579118" lvl="1" indent="-289559" algn="l">
                <a:lnSpc>
                  <a:spcPts val="2879"/>
                </a:lnSpc>
              </a:pPr>
              <a:endParaRPr lang="en-US" sz="2399">
                <a:solidFill>
                  <a:srgbClr val="FFFFFF"/>
                </a:solidFill>
                <a:latin typeface="Calibri (MS)"/>
                <a:ea typeface="Calibri (MS)"/>
                <a:cs typeface="Calibri (MS)"/>
                <a:sym typeface="Calibri (MS)"/>
              </a:endParaRPr>
            </a:p>
          </p:txBody>
        </p:sp>
      </p:grpSp>
      <p:grpSp>
        <p:nvGrpSpPr>
          <p:cNvPr id="44" name="Group 44"/>
          <p:cNvGrpSpPr/>
          <p:nvPr/>
        </p:nvGrpSpPr>
        <p:grpSpPr>
          <a:xfrm>
            <a:off x="718823" y="6241799"/>
            <a:ext cx="8255003" cy="3353819"/>
            <a:chOff x="0" y="0"/>
            <a:chExt cx="11006671" cy="4471759"/>
          </a:xfrm>
        </p:grpSpPr>
        <p:sp>
          <p:nvSpPr>
            <p:cNvPr id="45" name="Freeform 45"/>
            <p:cNvSpPr/>
            <p:nvPr/>
          </p:nvSpPr>
          <p:spPr>
            <a:xfrm>
              <a:off x="16891" y="16891"/>
              <a:ext cx="10972800" cy="4437888"/>
            </a:xfrm>
            <a:custGeom>
              <a:avLst/>
              <a:gdLst/>
              <a:ahLst/>
              <a:cxnLst/>
              <a:rect l="l" t="t" r="r" b="b"/>
              <a:pathLst>
                <a:path w="10972800" h="4437888">
                  <a:moveTo>
                    <a:pt x="0" y="0"/>
                  </a:moveTo>
                  <a:lnTo>
                    <a:pt x="10972800" y="0"/>
                  </a:lnTo>
                  <a:lnTo>
                    <a:pt x="10972800" y="4437888"/>
                  </a:lnTo>
                  <a:lnTo>
                    <a:pt x="0" y="4437888"/>
                  </a:lnTo>
                  <a:close/>
                </a:path>
              </a:pathLst>
            </a:custGeom>
            <a:solidFill>
              <a:srgbClr val="252B42"/>
            </a:solidFill>
          </p:spPr>
          <p:txBody>
            <a:bodyPr/>
            <a:lstStyle/>
            <a:p>
              <a:endParaRPr lang="es-GT"/>
            </a:p>
          </p:txBody>
        </p:sp>
        <p:sp>
          <p:nvSpPr>
            <p:cNvPr id="46" name="Freeform 46"/>
            <p:cNvSpPr/>
            <p:nvPr/>
          </p:nvSpPr>
          <p:spPr>
            <a:xfrm>
              <a:off x="0" y="0"/>
              <a:ext cx="11006582" cy="4471670"/>
            </a:xfrm>
            <a:custGeom>
              <a:avLst/>
              <a:gdLst/>
              <a:ahLst/>
              <a:cxnLst/>
              <a:rect l="l" t="t" r="r" b="b"/>
              <a:pathLst>
                <a:path w="11006582" h="4471670">
                  <a:moveTo>
                    <a:pt x="16891" y="0"/>
                  </a:moveTo>
                  <a:lnTo>
                    <a:pt x="10989691" y="0"/>
                  </a:lnTo>
                  <a:cubicBezTo>
                    <a:pt x="10999089" y="0"/>
                    <a:pt x="11006582" y="7620"/>
                    <a:pt x="11006582" y="16891"/>
                  </a:cubicBezTo>
                  <a:lnTo>
                    <a:pt x="11006582" y="4454779"/>
                  </a:lnTo>
                  <a:cubicBezTo>
                    <a:pt x="11006582" y="4464177"/>
                    <a:pt x="10998962" y="4471670"/>
                    <a:pt x="10989691" y="4471670"/>
                  </a:cubicBezTo>
                  <a:lnTo>
                    <a:pt x="16891" y="4471670"/>
                  </a:lnTo>
                  <a:cubicBezTo>
                    <a:pt x="7493" y="4471670"/>
                    <a:pt x="0" y="4464050"/>
                    <a:pt x="0" y="4454779"/>
                  </a:cubicBezTo>
                  <a:lnTo>
                    <a:pt x="0" y="16891"/>
                  </a:lnTo>
                  <a:cubicBezTo>
                    <a:pt x="0" y="7620"/>
                    <a:pt x="7620" y="0"/>
                    <a:pt x="16891" y="0"/>
                  </a:cubicBezTo>
                  <a:moveTo>
                    <a:pt x="16891" y="33909"/>
                  </a:moveTo>
                  <a:lnTo>
                    <a:pt x="16891" y="16891"/>
                  </a:lnTo>
                  <a:lnTo>
                    <a:pt x="33909" y="16891"/>
                  </a:lnTo>
                  <a:lnTo>
                    <a:pt x="33909" y="4454779"/>
                  </a:lnTo>
                  <a:lnTo>
                    <a:pt x="16891" y="4454779"/>
                  </a:lnTo>
                  <a:lnTo>
                    <a:pt x="16891" y="4437888"/>
                  </a:lnTo>
                  <a:lnTo>
                    <a:pt x="10989691" y="4437888"/>
                  </a:lnTo>
                  <a:lnTo>
                    <a:pt x="10989691" y="4454779"/>
                  </a:lnTo>
                  <a:lnTo>
                    <a:pt x="10972800" y="4454779"/>
                  </a:lnTo>
                  <a:lnTo>
                    <a:pt x="10972800" y="16891"/>
                  </a:lnTo>
                  <a:lnTo>
                    <a:pt x="10989691" y="16891"/>
                  </a:lnTo>
                  <a:lnTo>
                    <a:pt x="10989691" y="33909"/>
                  </a:lnTo>
                  <a:lnTo>
                    <a:pt x="16891" y="33909"/>
                  </a:lnTo>
                  <a:close/>
                </a:path>
              </a:pathLst>
            </a:custGeom>
            <a:solidFill>
              <a:srgbClr val="9B7FD4"/>
            </a:solidFill>
          </p:spPr>
          <p:txBody>
            <a:bodyPr/>
            <a:lstStyle/>
            <a:p>
              <a:endParaRPr lang="es-GT"/>
            </a:p>
          </p:txBody>
        </p:sp>
      </p:grpSp>
      <p:grpSp>
        <p:nvGrpSpPr>
          <p:cNvPr id="47" name="Group 47"/>
          <p:cNvGrpSpPr/>
          <p:nvPr/>
        </p:nvGrpSpPr>
        <p:grpSpPr>
          <a:xfrm>
            <a:off x="718823" y="6241799"/>
            <a:ext cx="8255003" cy="665483"/>
            <a:chOff x="0" y="0"/>
            <a:chExt cx="11006671" cy="887311"/>
          </a:xfrm>
        </p:grpSpPr>
        <p:sp>
          <p:nvSpPr>
            <p:cNvPr id="48" name="Freeform 48"/>
            <p:cNvSpPr/>
            <p:nvPr/>
          </p:nvSpPr>
          <p:spPr>
            <a:xfrm>
              <a:off x="16891" y="16891"/>
              <a:ext cx="10972800" cy="853440"/>
            </a:xfrm>
            <a:custGeom>
              <a:avLst/>
              <a:gdLst/>
              <a:ahLst/>
              <a:cxnLst/>
              <a:rect l="l" t="t" r="r" b="b"/>
              <a:pathLst>
                <a:path w="10972800" h="853440">
                  <a:moveTo>
                    <a:pt x="0" y="0"/>
                  </a:moveTo>
                  <a:lnTo>
                    <a:pt x="10972800" y="0"/>
                  </a:lnTo>
                  <a:lnTo>
                    <a:pt x="10972800" y="853440"/>
                  </a:lnTo>
                  <a:lnTo>
                    <a:pt x="0" y="853440"/>
                  </a:lnTo>
                  <a:close/>
                </a:path>
              </a:pathLst>
            </a:custGeom>
            <a:solidFill>
              <a:srgbClr val="1A1F33"/>
            </a:solidFill>
          </p:spPr>
          <p:txBody>
            <a:bodyPr/>
            <a:lstStyle/>
            <a:p>
              <a:endParaRPr lang="es-GT"/>
            </a:p>
          </p:txBody>
        </p:sp>
        <p:sp>
          <p:nvSpPr>
            <p:cNvPr id="49" name="Freeform 49"/>
            <p:cNvSpPr/>
            <p:nvPr/>
          </p:nvSpPr>
          <p:spPr>
            <a:xfrm>
              <a:off x="0" y="0"/>
              <a:ext cx="11006582" cy="887224"/>
            </a:xfrm>
            <a:custGeom>
              <a:avLst/>
              <a:gdLst/>
              <a:ahLst/>
              <a:cxnLst/>
              <a:rect l="l" t="t" r="r" b="b"/>
              <a:pathLst>
                <a:path w="11006582" h="887224">
                  <a:moveTo>
                    <a:pt x="16891" y="0"/>
                  </a:moveTo>
                  <a:lnTo>
                    <a:pt x="10989691" y="0"/>
                  </a:lnTo>
                  <a:cubicBezTo>
                    <a:pt x="10999089" y="0"/>
                    <a:pt x="11006582" y="7620"/>
                    <a:pt x="11006582" y="16891"/>
                  </a:cubicBezTo>
                  <a:lnTo>
                    <a:pt x="11006582" y="870331"/>
                  </a:lnTo>
                  <a:cubicBezTo>
                    <a:pt x="11006582" y="879729"/>
                    <a:pt x="10998962" y="887222"/>
                    <a:pt x="10989691" y="887222"/>
                  </a:cubicBezTo>
                  <a:lnTo>
                    <a:pt x="16891" y="887222"/>
                  </a:lnTo>
                  <a:cubicBezTo>
                    <a:pt x="7620" y="887349"/>
                    <a:pt x="0" y="879729"/>
                    <a:pt x="0" y="870331"/>
                  </a:cubicBezTo>
                  <a:lnTo>
                    <a:pt x="0" y="16891"/>
                  </a:lnTo>
                  <a:cubicBezTo>
                    <a:pt x="0" y="7620"/>
                    <a:pt x="7620" y="0"/>
                    <a:pt x="16891" y="0"/>
                  </a:cubicBezTo>
                  <a:moveTo>
                    <a:pt x="16891" y="33909"/>
                  </a:moveTo>
                  <a:lnTo>
                    <a:pt x="16891" y="16891"/>
                  </a:lnTo>
                  <a:lnTo>
                    <a:pt x="33909" y="16891"/>
                  </a:lnTo>
                  <a:lnTo>
                    <a:pt x="33909" y="870331"/>
                  </a:lnTo>
                  <a:lnTo>
                    <a:pt x="16891" y="870331"/>
                  </a:lnTo>
                  <a:lnTo>
                    <a:pt x="16891" y="853440"/>
                  </a:lnTo>
                  <a:lnTo>
                    <a:pt x="10989691" y="853440"/>
                  </a:lnTo>
                  <a:lnTo>
                    <a:pt x="10989691" y="870331"/>
                  </a:lnTo>
                  <a:lnTo>
                    <a:pt x="10972800" y="870331"/>
                  </a:lnTo>
                  <a:lnTo>
                    <a:pt x="10972800" y="16891"/>
                  </a:lnTo>
                  <a:lnTo>
                    <a:pt x="10989691" y="16891"/>
                  </a:lnTo>
                  <a:lnTo>
                    <a:pt x="10989691" y="33909"/>
                  </a:lnTo>
                  <a:lnTo>
                    <a:pt x="16891" y="33909"/>
                  </a:lnTo>
                  <a:close/>
                </a:path>
              </a:pathLst>
            </a:custGeom>
            <a:solidFill>
              <a:srgbClr val="9B7FD4"/>
            </a:solidFill>
          </p:spPr>
          <p:txBody>
            <a:bodyPr/>
            <a:lstStyle/>
            <a:p>
              <a:endParaRPr lang="es-GT"/>
            </a:p>
          </p:txBody>
        </p:sp>
      </p:grpSp>
      <p:grpSp>
        <p:nvGrpSpPr>
          <p:cNvPr id="50" name="Group 50"/>
          <p:cNvGrpSpPr/>
          <p:nvPr/>
        </p:nvGrpSpPr>
        <p:grpSpPr>
          <a:xfrm>
            <a:off x="1005840" y="6327648"/>
            <a:ext cx="7680960" cy="548640"/>
            <a:chOff x="0" y="0"/>
            <a:chExt cx="10241280" cy="731520"/>
          </a:xfrm>
        </p:grpSpPr>
        <p:sp>
          <p:nvSpPr>
            <p:cNvPr id="51" name="Freeform 51"/>
            <p:cNvSpPr/>
            <p:nvPr/>
          </p:nvSpPr>
          <p:spPr>
            <a:xfrm>
              <a:off x="0" y="0"/>
              <a:ext cx="10241280" cy="731520"/>
            </a:xfrm>
            <a:custGeom>
              <a:avLst/>
              <a:gdLst/>
              <a:ahLst/>
              <a:cxnLst/>
              <a:rect l="l" t="t" r="r" b="b"/>
              <a:pathLst>
                <a:path w="10241280" h="731520">
                  <a:moveTo>
                    <a:pt x="0" y="0"/>
                  </a:moveTo>
                  <a:lnTo>
                    <a:pt x="10241280" y="0"/>
                  </a:lnTo>
                  <a:lnTo>
                    <a:pt x="10241280" y="731520"/>
                  </a:lnTo>
                  <a:lnTo>
                    <a:pt x="0" y="731520"/>
                  </a:lnTo>
                  <a:close/>
                </a:path>
              </a:pathLst>
            </a:custGeom>
            <a:blipFill>
              <a:blip r:embed="rId3">
                <a:alphaModFix amt="0"/>
              </a:blip>
              <a:stretch>
                <a:fillRect t="-222790" b="-222790"/>
              </a:stretch>
            </a:blipFill>
          </p:spPr>
          <p:txBody>
            <a:bodyPr/>
            <a:lstStyle/>
            <a:p>
              <a:endParaRPr lang="es-GT"/>
            </a:p>
          </p:txBody>
        </p:sp>
        <p:sp>
          <p:nvSpPr>
            <p:cNvPr id="52" name="TextBox 52"/>
            <p:cNvSpPr txBox="1"/>
            <p:nvPr/>
          </p:nvSpPr>
          <p:spPr>
            <a:xfrm>
              <a:off x="0" y="-38100"/>
              <a:ext cx="10241280" cy="769620"/>
            </a:xfrm>
            <a:prstGeom prst="rect">
              <a:avLst/>
            </a:prstGeom>
          </p:spPr>
          <p:txBody>
            <a:bodyPr lIns="0" tIns="0" rIns="0" bIns="0" rtlCol="0" anchor="ctr"/>
            <a:lstStyle/>
            <a:p>
              <a:pPr algn="l">
                <a:lnSpc>
                  <a:spcPts val="2400"/>
                </a:lnSpc>
              </a:pPr>
              <a:r>
                <a:rPr lang="en-US" sz="2000" b="1">
                  <a:solidFill>
                    <a:srgbClr val="9B7FD4"/>
                  </a:solidFill>
                  <a:latin typeface="Calibri (MS) Bold"/>
                  <a:ea typeface="Calibri (MS) Bold"/>
                  <a:cs typeface="Calibri (MS) Bold"/>
                  <a:sym typeface="Calibri (MS) Bold"/>
                </a:rPr>
                <a:t>3. ABSTRACCIÓN</a:t>
              </a:r>
            </a:p>
          </p:txBody>
        </p:sp>
      </p:grpSp>
      <p:grpSp>
        <p:nvGrpSpPr>
          <p:cNvPr id="53" name="Group 53"/>
          <p:cNvGrpSpPr/>
          <p:nvPr/>
        </p:nvGrpSpPr>
        <p:grpSpPr>
          <a:xfrm>
            <a:off x="1005840" y="7077456"/>
            <a:ext cx="7680960" cy="2377440"/>
            <a:chOff x="0" y="0"/>
            <a:chExt cx="10241280" cy="3169920"/>
          </a:xfrm>
        </p:grpSpPr>
        <p:sp>
          <p:nvSpPr>
            <p:cNvPr id="54" name="Freeform 54"/>
            <p:cNvSpPr/>
            <p:nvPr/>
          </p:nvSpPr>
          <p:spPr>
            <a:xfrm>
              <a:off x="0" y="0"/>
              <a:ext cx="10241280" cy="3169920"/>
            </a:xfrm>
            <a:custGeom>
              <a:avLst/>
              <a:gdLst/>
              <a:ahLst/>
              <a:cxnLst/>
              <a:rect l="l" t="t" r="r" b="b"/>
              <a:pathLst>
                <a:path w="10241280" h="3169920">
                  <a:moveTo>
                    <a:pt x="0" y="0"/>
                  </a:moveTo>
                  <a:lnTo>
                    <a:pt x="10241280" y="0"/>
                  </a:lnTo>
                  <a:lnTo>
                    <a:pt x="10241280" y="3169920"/>
                  </a:lnTo>
                  <a:lnTo>
                    <a:pt x="0" y="3169920"/>
                  </a:lnTo>
                  <a:close/>
                </a:path>
              </a:pathLst>
            </a:custGeom>
            <a:blipFill>
              <a:blip r:embed="rId3">
                <a:alphaModFix amt="0"/>
              </a:blip>
              <a:stretch>
                <a:fillRect t="-12951" b="-12951"/>
              </a:stretch>
            </a:blipFill>
          </p:spPr>
          <p:txBody>
            <a:bodyPr/>
            <a:lstStyle/>
            <a:p>
              <a:endParaRPr lang="es-GT"/>
            </a:p>
          </p:txBody>
        </p:sp>
        <p:sp>
          <p:nvSpPr>
            <p:cNvPr id="55" name="TextBox 55"/>
            <p:cNvSpPr txBox="1"/>
            <p:nvPr/>
          </p:nvSpPr>
          <p:spPr>
            <a:xfrm>
              <a:off x="0" y="-57150"/>
              <a:ext cx="10241280" cy="3227070"/>
            </a:xfrm>
            <a:prstGeom prst="rect">
              <a:avLst/>
            </a:prstGeom>
          </p:spPr>
          <p:txBody>
            <a:bodyPr lIns="0" tIns="0" rIns="0" bIns="0" rtlCol="0" anchor="ctr"/>
            <a:lstStyle/>
            <a:p>
              <a:pPr marL="579118" lvl="1" indent="-289559" algn="l">
                <a:lnSpc>
                  <a:spcPts val="2879"/>
                </a:lnSpc>
                <a:buFont typeface="Arial"/>
                <a:buChar char="•"/>
              </a:pPr>
              <a:r>
                <a:rPr lang="en-US" sz="2399">
                  <a:solidFill>
                    <a:srgbClr val="FFFFFF"/>
                  </a:solidFill>
                  <a:latin typeface="Calibri (MS)"/>
                  <a:ea typeface="Calibri (MS)"/>
                  <a:cs typeface="Calibri (MS)"/>
                  <a:sym typeface="Calibri (MS)"/>
                </a:rPr>
                <a:t>Variables relevantes: nota1, nota2, nota3, promedio.</a:t>
              </a:r>
            </a:p>
            <a:p>
              <a:pPr marL="579118" lvl="1" indent="-289559" algn="l">
                <a:lnSpc>
                  <a:spcPts val="2879"/>
                </a:lnSpc>
                <a:buFont typeface="Arial"/>
                <a:buChar char="•"/>
              </a:pPr>
              <a:r>
                <a:rPr lang="en-US" sz="2399">
                  <a:solidFill>
                    <a:srgbClr val="FFFFFF"/>
                  </a:solidFill>
                  <a:latin typeface="Calibri (MS)"/>
                  <a:ea typeface="Calibri (MS)"/>
                  <a:cs typeface="Calibri (MS)"/>
                  <a:sym typeface="Calibri (MS)"/>
                </a:rPr>
                <a:t>No es necesario registrar fecha, nombre del estudiante ni créditos.</a:t>
              </a:r>
            </a:p>
            <a:p>
              <a:pPr marL="579118" lvl="1" indent="-289559" algn="l">
                <a:lnSpc>
                  <a:spcPts val="2879"/>
                </a:lnSpc>
                <a:buFont typeface="Arial"/>
                <a:buChar char="•"/>
              </a:pPr>
              <a:r>
                <a:rPr lang="en-US" sz="2399">
                  <a:solidFill>
                    <a:srgbClr val="FFFFFF"/>
                  </a:solidFill>
                  <a:latin typeface="Calibri (MS)"/>
                  <a:ea typeface="Calibri (MS)"/>
                  <a:cs typeface="Calibri (MS)"/>
                  <a:sym typeface="Calibri (MS)"/>
                </a:rPr>
                <a:t>Solo importa el valor numérico para el cálculo.</a:t>
              </a:r>
            </a:p>
            <a:p>
              <a:pPr marL="579118" lvl="1" indent="-289559" algn="l">
                <a:lnSpc>
                  <a:spcPts val="2879"/>
                </a:lnSpc>
              </a:pPr>
              <a:endParaRPr lang="en-US" sz="2399">
                <a:solidFill>
                  <a:srgbClr val="FFFFFF"/>
                </a:solidFill>
                <a:latin typeface="Calibri (MS)"/>
                <a:ea typeface="Calibri (MS)"/>
                <a:cs typeface="Calibri (MS)"/>
                <a:sym typeface="Calibri (MS)"/>
              </a:endParaRPr>
            </a:p>
          </p:txBody>
        </p:sp>
      </p:grpSp>
      <p:grpSp>
        <p:nvGrpSpPr>
          <p:cNvPr id="56" name="Group 56"/>
          <p:cNvGrpSpPr/>
          <p:nvPr/>
        </p:nvGrpSpPr>
        <p:grpSpPr>
          <a:xfrm>
            <a:off x="9497063" y="6241799"/>
            <a:ext cx="8255003" cy="3353819"/>
            <a:chOff x="0" y="0"/>
            <a:chExt cx="11006671" cy="4471759"/>
          </a:xfrm>
        </p:grpSpPr>
        <p:sp>
          <p:nvSpPr>
            <p:cNvPr id="57" name="Freeform 57"/>
            <p:cNvSpPr/>
            <p:nvPr/>
          </p:nvSpPr>
          <p:spPr>
            <a:xfrm>
              <a:off x="16891" y="16891"/>
              <a:ext cx="10972800" cy="4437888"/>
            </a:xfrm>
            <a:custGeom>
              <a:avLst/>
              <a:gdLst/>
              <a:ahLst/>
              <a:cxnLst/>
              <a:rect l="l" t="t" r="r" b="b"/>
              <a:pathLst>
                <a:path w="10972800" h="4437888">
                  <a:moveTo>
                    <a:pt x="0" y="0"/>
                  </a:moveTo>
                  <a:lnTo>
                    <a:pt x="10972800" y="0"/>
                  </a:lnTo>
                  <a:lnTo>
                    <a:pt x="10972800" y="4437888"/>
                  </a:lnTo>
                  <a:lnTo>
                    <a:pt x="0" y="4437888"/>
                  </a:lnTo>
                  <a:close/>
                </a:path>
              </a:pathLst>
            </a:custGeom>
            <a:solidFill>
              <a:srgbClr val="252B42"/>
            </a:solidFill>
          </p:spPr>
          <p:txBody>
            <a:bodyPr/>
            <a:lstStyle/>
            <a:p>
              <a:endParaRPr lang="es-GT"/>
            </a:p>
          </p:txBody>
        </p:sp>
        <p:sp>
          <p:nvSpPr>
            <p:cNvPr id="58" name="Freeform 58"/>
            <p:cNvSpPr/>
            <p:nvPr/>
          </p:nvSpPr>
          <p:spPr>
            <a:xfrm>
              <a:off x="0" y="0"/>
              <a:ext cx="11006582" cy="4471670"/>
            </a:xfrm>
            <a:custGeom>
              <a:avLst/>
              <a:gdLst/>
              <a:ahLst/>
              <a:cxnLst/>
              <a:rect l="l" t="t" r="r" b="b"/>
              <a:pathLst>
                <a:path w="11006582" h="4471670">
                  <a:moveTo>
                    <a:pt x="16891" y="0"/>
                  </a:moveTo>
                  <a:lnTo>
                    <a:pt x="10989691" y="0"/>
                  </a:lnTo>
                  <a:cubicBezTo>
                    <a:pt x="10999089" y="0"/>
                    <a:pt x="11006582" y="7620"/>
                    <a:pt x="11006582" y="16891"/>
                  </a:cubicBezTo>
                  <a:lnTo>
                    <a:pt x="11006582" y="4454779"/>
                  </a:lnTo>
                  <a:cubicBezTo>
                    <a:pt x="11006582" y="4464177"/>
                    <a:pt x="10998962" y="4471670"/>
                    <a:pt x="10989691" y="4471670"/>
                  </a:cubicBezTo>
                  <a:lnTo>
                    <a:pt x="16891" y="4471670"/>
                  </a:lnTo>
                  <a:cubicBezTo>
                    <a:pt x="7493" y="4471670"/>
                    <a:pt x="0" y="4464050"/>
                    <a:pt x="0" y="4454779"/>
                  </a:cubicBezTo>
                  <a:lnTo>
                    <a:pt x="0" y="16891"/>
                  </a:lnTo>
                  <a:cubicBezTo>
                    <a:pt x="0" y="7620"/>
                    <a:pt x="7620" y="0"/>
                    <a:pt x="16891" y="0"/>
                  </a:cubicBezTo>
                  <a:moveTo>
                    <a:pt x="16891" y="33909"/>
                  </a:moveTo>
                  <a:lnTo>
                    <a:pt x="16891" y="16891"/>
                  </a:lnTo>
                  <a:lnTo>
                    <a:pt x="33909" y="16891"/>
                  </a:lnTo>
                  <a:lnTo>
                    <a:pt x="33909" y="4454779"/>
                  </a:lnTo>
                  <a:lnTo>
                    <a:pt x="16891" y="4454779"/>
                  </a:lnTo>
                  <a:lnTo>
                    <a:pt x="16891" y="4437888"/>
                  </a:lnTo>
                  <a:lnTo>
                    <a:pt x="10989691" y="4437888"/>
                  </a:lnTo>
                  <a:lnTo>
                    <a:pt x="10989691" y="4454779"/>
                  </a:lnTo>
                  <a:lnTo>
                    <a:pt x="10972800" y="4454779"/>
                  </a:lnTo>
                  <a:lnTo>
                    <a:pt x="10972800" y="16891"/>
                  </a:lnTo>
                  <a:lnTo>
                    <a:pt x="10989691" y="16891"/>
                  </a:lnTo>
                  <a:lnTo>
                    <a:pt x="10989691" y="33909"/>
                  </a:lnTo>
                  <a:lnTo>
                    <a:pt x="16891" y="33909"/>
                  </a:lnTo>
                  <a:close/>
                </a:path>
              </a:pathLst>
            </a:custGeom>
            <a:solidFill>
              <a:srgbClr val="E8A87C"/>
            </a:solidFill>
          </p:spPr>
          <p:txBody>
            <a:bodyPr/>
            <a:lstStyle/>
            <a:p>
              <a:endParaRPr lang="es-GT"/>
            </a:p>
          </p:txBody>
        </p:sp>
      </p:grpSp>
      <p:grpSp>
        <p:nvGrpSpPr>
          <p:cNvPr id="59" name="Group 59"/>
          <p:cNvGrpSpPr/>
          <p:nvPr/>
        </p:nvGrpSpPr>
        <p:grpSpPr>
          <a:xfrm>
            <a:off x="9497063" y="6241799"/>
            <a:ext cx="8255003" cy="665483"/>
            <a:chOff x="0" y="0"/>
            <a:chExt cx="11006671" cy="887311"/>
          </a:xfrm>
        </p:grpSpPr>
        <p:sp>
          <p:nvSpPr>
            <p:cNvPr id="60" name="Freeform 60"/>
            <p:cNvSpPr/>
            <p:nvPr/>
          </p:nvSpPr>
          <p:spPr>
            <a:xfrm>
              <a:off x="16891" y="16891"/>
              <a:ext cx="10972800" cy="853440"/>
            </a:xfrm>
            <a:custGeom>
              <a:avLst/>
              <a:gdLst/>
              <a:ahLst/>
              <a:cxnLst/>
              <a:rect l="l" t="t" r="r" b="b"/>
              <a:pathLst>
                <a:path w="10972800" h="853440">
                  <a:moveTo>
                    <a:pt x="0" y="0"/>
                  </a:moveTo>
                  <a:lnTo>
                    <a:pt x="10972800" y="0"/>
                  </a:lnTo>
                  <a:lnTo>
                    <a:pt x="10972800" y="853440"/>
                  </a:lnTo>
                  <a:lnTo>
                    <a:pt x="0" y="853440"/>
                  </a:lnTo>
                  <a:close/>
                </a:path>
              </a:pathLst>
            </a:custGeom>
            <a:solidFill>
              <a:srgbClr val="1A1F33"/>
            </a:solidFill>
          </p:spPr>
          <p:txBody>
            <a:bodyPr/>
            <a:lstStyle/>
            <a:p>
              <a:endParaRPr lang="es-GT"/>
            </a:p>
          </p:txBody>
        </p:sp>
        <p:sp>
          <p:nvSpPr>
            <p:cNvPr id="61" name="Freeform 61"/>
            <p:cNvSpPr/>
            <p:nvPr/>
          </p:nvSpPr>
          <p:spPr>
            <a:xfrm>
              <a:off x="0" y="0"/>
              <a:ext cx="11006582" cy="887224"/>
            </a:xfrm>
            <a:custGeom>
              <a:avLst/>
              <a:gdLst/>
              <a:ahLst/>
              <a:cxnLst/>
              <a:rect l="l" t="t" r="r" b="b"/>
              <a:pathLst>
                <a:path w="11006582" h="887224">
                  <a:moveTo>
                    <a:pt x="16891" y="0"/>
                  </a:moveTo>
                  <a:lnTo>
                    <a:pt x="10989691" y="0"/>
                  </a:lnTo>
                  <a:cubicBezTo>
                    <a:pt x="10999089" y="0"/>
                    <a:pt x="11006582" y="7620"/>
                    <a:pt x="11006582" y="16891"/>
                  </a:cubicBezTo>
                  <a:lnTo>
                    <a:pt x="11006582" y="870331"/>
                  </a:lnTo>
                  <a:cubicBezTo>
                    <a:pt x="11006582" y="879729"/>
                    <a:pt x="10998962" y="887222"/>
                    <a:pt x="10989691" y="887222"/>
                  </a:cubicBezTo>
                  <a:lnTo>
                    <a:pt x="16891" y="887222"/>
                  </a:lnTo>
                  <a:cubicBezTo>
                    <a:pt x="7620" y="887349"/>
                    <a:pt x="0" y="879729"/>
                    <a:pt x="0" y="870331"/>
                  </a:cubicBezTo>
                  <a:lnTo>
                    <a:pt x="0" y="16891"/>
                  </a:lnTo>
                  <a:cubicBezTo>
                    <a:pt x="0" y="7620"/>
                    <a:pt x="7620" y="0"/>
                    <a:pt x="16891" y="0"/>
                  </a:cubicBezTo>
                  <a:moveTo>
                    <a:pt x="16891" y="33909"/>
                  </a:moveTo>
                  <a:lnTo>
                    <a:pt x="16891" y="16891"/>
                  </a:lnTo>
                  <a:lnTo>
                    <a:pt x="33909" y="16891"/>
                  </a:lnTo>
                  <a:lnTo>
                    <a:pt x="33909" y="870331"/>
                  </a:lnTo>
                  <a:lnTo>
                    <a:pt x="16891" y="870331"/>
                  </a:lnTo>
                  <a:lnTo>
                    <a:pt x="16891" y="853440"/>
                  </a:lnTo>
                  <a:lnTo>
                    <a:pt x="10989691" y="853440"/>
                  </a:lnTo>
                  <a:lnTo>
                    <a:pt x="10989691" y="870331"/>
                  </a:lnTo>
                  <a:lnTo>
                    <a:pt x="10972800" y="870331"/>
                  </a:lnTo>
                  <a:lnTo>
                    <a:pt x="10972800" y="16891"/>
                  </a:lnTo>
                  <a:lnTo>
                    <a:pt x="10989691" y="16891"/>
                  </a:lnTo>
                  <a:lnTo>
                    <a:pt x="10989691" y="33909"/>
                  </a:lnTo>
                  <a:lnTo>
                    <a:pt x="16891" y="33909"/>
                  </a:lnTo>
                  <a:close/>
                </a:path>
              </a:pathLst>
            </a:custGeom>
            <a:solidFill>
              <a:srgbClr val="E8A87C"/>
            </a:solidFill>
          </p:spPr>
          <p:txBody>
            <a:bodyPr/>
            <a:lstStyle/>
            <a:p>
              <a:endParaRPr lang="es-GT"/>
            </a:p>
          </p:txBody>
        </p:sp>
      </p:grpSp>
      <p:grpSp>
        <p:nvGrpSpPr>
          <p:cNvPr id="62" name="Group 62"/>
          <p:cNvGrpSpPr/>
          <p:nvPr/>
        </p:nvGrpSpPr>
        <p:grpSpPr>
          <a:xfrm>
            <a:off x="9784080" y="6327648"/>
            <a:ext cx="7680960" cy="548640"/>
            <a:chOff x="0" y="0"/>
            <a:chExt cx="10241280" cy="731520"/>
          </a:xfrm>
        </p:grpSpPr>
        <p:sp>
          <p:nvSpPr>
            <p:cNvPr id="63" name="Freeform 63"/>
            <p:cNvSpPr/>
            <p:nvPr/>
          </p:nvSpPr>
          <p:spPr>
            <a:xfrm>
              <a:off x="0" y="0"/>
              <a:ext cx="10241280" cy="731520"/>
            </a:xfrm>
            <a:custGeom>
              <a:avLst/>
              <a:gdLst/>
              <a:ahLst/>
              <a:cxnLst/>
              <a:rect l="l" t="t" r="r" b="b"/>
              <a:pathLst>
                <a:path w="10241280" h="731520">
                  <a:moveTo>
                    <a:pt x="0" y="0"/>
                  </a:moveTo>
                  <a:lnTo>
                    <a:pt x="10241280" y="0"/>
                  </a:lnTo>
                  <a:lnTo>
                    <a:pt x="10241280" y="731520"/>
                  </a:lnTo>
                  <a:lnTo>
                    <a:pt x="0" y="731520"/>
                  </a:lnTo>
                  <a:close/>
                </a:path>
              </a:pathLst>
            </a:custGeom>
            <a:blipFill>
              <a:blip r:embed="rId3">
                <a:alphaModFix amt="0"/>
              </a:blip>
              <a:stretch>
                <a:fillRect t="-222790" b="-222790"/>
              </a:stretch>
            </a:blipFill>
          </p:spPr>
          <p:txBody>
            <a:bodyPr/>
            <a:lstStyle/>
            <a:p>
              <a:endParaRPr lang="es-GT"/>
            </a:p>
          </p:txBody>
        </p:sp>
        <p:sp>
          <p:nvSpPr>
            <p:cNvPr id="64" name="TextBox 64"/>
            <p:cNvSpPr txBox="1"/>
            <p:nvPr/>
          </p:nvSpPr>
          <p:spPr>
            <a:xfrm>
              <a:off x="0" y="-38100"/>
              <a:ext cx="10241280" cy="769620"/>
            </a:xfrm>
            <a:prstGeom prst="rect">
              <a:avLst/>
            </a:prstGeom>
          </p:spPr>
          <p:txBody>
            <a:bodyPr lIns="0" tIns="0" rIns="0" bIns="0" rtlCol="0" anchor="ctr"/>
            <a:lstStyle/>
            <a:p>
              <a:pPr algn="l">
                <a:lnSpc>
                  <a:spcPts val="2400"/>
                </a:lnSpc>
              </a:pPr>
              <a:r>
                <a:rPr lang="en-US" sz="2000" b="1">
                  <a:solidFill>
                    <a:srgbClr val="E8A87C"/>
                  </a:solidFill>
                  <a:latin typeface="Calibri (MS) Bold"/>
                  <a:ea typeface="Calibri (MS) Bold"/>
                  <a:cs typeface="Calibri (MS) Bold"/>
                  <a:sym typeface="Calibri (MS) Bold"/>
                </a:rPr>
                <a:t>4. DISEÑO DEL ALGORITMO</a:t>
              </a:r>
            </a:p>
          </p:txBody>
        </p:sp>
      </p:grpSp>
      <p:grpSp>
        <p:nvGrpSpPr>
          <p:cNvPr id="65" name="Group 65"/>
          <p:cNvGrpSpPr/>
          <p:nvPr/>
        </p:nvGrpSpPr>
        <p:grpSpPr>
          <a:xfrm>
            <a:off x="9784080" y="7077456"/>
            <a:ext cx="7680960" cy="2377440"/>
            <a:chOff x="0" y="0"/>
            <a:chExt cx="10241280" cy="3169920"/>
          </a:xfrm>
        </p:grpSpPr>
        <p:sp>
          <p:nvSpPr>
            <p:cNvPr id="66" name="Freeform 66"/>
            <p:cNvSpPr/>
            <p:nvPr/>
          </p:nvSpPr>
          <p:spPr>
            <a:xfrm>
              <a:off x="0" y="0"/>
              <a:ext cx="10241280" cy="3169920"/>
            </a:xfrm>
            <a:custGeom>
              <a:avLst/>
              <a:gdLst/>
              <a:ahLst/>
              <a:cxnLst/>
              <a:rect l="l" t="t" r="r" b="b"/>
              <a:pathLst>
                <a:path w="10241280" h="3169920">
                  <a:moveTo>
                    <a:pt x="0" y="0"/>
                  </a:moveTo>
                  <a:lnTo>
                    <a:pt x="10241280" y="0"/>
                  </a:lnTo>
                  <a:lnTo>
                    <a:pt x="10241280" y="3169920"/>
                  </a:lnTo>
                  <a:lnTo>
                    <a:pt x="0" y="3169920"/>
                  </a:lnTo>
                  <a:close/>
                </a:path>
              </a:pathLst>
            </a:custGeom>
            <a:blipFill>
              <a:blip r:embed="rId3">
                <a:alphaModFix amt="0"/>
              </a:blip>
              <a:stretch>
                <a:fillRect t="-12951" b="-12951"/>
              </a:stretch>
            </a:blipFill>
          </p:spPr>
          <p:txBody>
            <a:bodyPr/>
            <a:lstStyle/>
            <a:p>
              <a:endParaRPr lang="es-GT"/>
            </a:p>
          </p:txBody>
        </p:sp>
        <p:sp>
          <p:nvSpPr>
            <p:cNvPr id="67" name="TextBox 67"/>
            <p:cNvSpPr txBox="1"/>
            <p:nvPr/>
          </p:nvSpPr>
          <p:spPr>
            <a:xfrm>
              <a:off x="0" y="-57150"/>
              <a:ext cx="10241280" cy="3227070"/>
            </a:xfrm>
            <a:prstGeom prst="rect">
              <a:avLst/>
            </a:prstGeom>
          </p:spPr>
          <p:txBody>
            <a:bodyPr lIns="0" tIns="0" rIns="0" bIns="0" rtlCol="0" anchor="ctr"/>
            <a:lstStyle/>
            <a:p>
              <a:pPr marL="579118" lvl="1" indent="-289559" algn="l">
                <a:lnSpc>
                  <a:spcPts val="2879"/>
                </a:lnSpc>
                <a:buFont typeface="Arial"/>
                <a:buChar char="•"/>
              </a:pPr>
              <a:r>
                <a:rPr lang="en-US" sz="2399">
                  <a:solidFill>
                    <a:srgbClr val="FFFFFF"/>
                  </a:solidFill>
                  <a:latin typeface="Calibri (MS)"/>
                  <a:ea typeface="Calibri (MS)"/>
                  <a:cs typeface="Calibri (MS)"/>
                  <a:sym typeface="Calibri (MS)"/>
                </a:rPr>
                <a:t>Leer nota1, nota2, nota3.</a:t>
              </a:r>
            </a:p>
            <a:p>
              <a:pPr marL="579118" lvl="1" indent="-289559" algn="l">
                <a:lnSpc>
                  <a:spcPts val="2879"/>
                </a:lnSpc>
                <a:buFont typeface="Arial"/>
                <a:buChar char="•"/>
              </a:pPr>
              <a:r>
                <a:rPr lang="en-US" sz="2399">
                  <a:solidFill>
                    <a:srgbClr val="FFFFFF"/>
                  </a:solidFill>
                  <a:latin typeface="Calibri (MS)"/>
                  <a:ea typeface="Calibri (MS)"/>
                  <a:cs typeface="Calibri (MS)"/>
                  <a:sym typeface="Calibri (MS)"/>
                </a:rPr>
                <a:t>promedio ← (nota1 + nota2 + nota3) / 3.</a:t>
              </a:r>
            </a:p>
            <a:p>
              <a:pPr marL="579118" lvl="1" indent="-289559" algn="l">
                <a:lnSpc>
                  <a:spcPts val="2879"/>
                </a:lnSpc>
                <a:buFont typeface="Arial"/>
                <a:buChar char="•"/>
              </a:pPr>
              <a:r>
                <a:rPr lang="en-US" sz="2399">
                  <a:solidFill>
                    <a:srgbClr val="FFFFFF"/>
                  </a:solidFill>
                  <a:latin typeface="Calibri (MS)"/>
                  <a:ea typeface="Calibri (MS)"/>
                  <a:cs typeface="Calibri (MS)"/>
                  <a:sym typeface="Calibri (MS)"/>
                </a:rPr>
                <a:t>Si promedio ≥ 61 → "Aprueba", si no → "Reprueba".</a:t>
              </a:r>
            </a:p>
            <a:p>
              <a:pPr marL="579118" lvl="1" indent="-289559" algn="l">
                <a:lnSpc>
                  <a:spcPts val="2879"/>
                </a:lnSpc>
                <a:buFont typeface="Arial"/>
                <a:buChar char="•"/>
              </a:pPr>
              <a:r>
                <a:rPr lang="en-US" sz="2399">
                  <a:solidFill>
                    <a:srgbClr val="FFFFFF"/>
                  </a:solidFill>
                  <a:latin typeface="Calibri (MS)"/>
                  <a:ea typeface="Calibri (MS)"/>
                  <a:cs typeface="Calibri (MS)"/>
                  <a:sym typeface="Calibri (MS)"/>
                </a:rPr>
                <a:t>Escribir resultado.</a:t>
              </a:r>
            </a:p>
            <a:p>
              <a:pPr marL="579118" lvl="1" indent="-289559" algn="l">
                <a:lnSpc>
                  <a:spcPts val="2879"/>
                </a:lnSpc>
              </a:pPr>
              <a:endParaRPr lang="en-US" sz="2399">
                <a:solidFill>
                  <a:srgbClr val="FFFFFF"/>
                </a:solidFill>
                <a:latin typeface="Calibri (MS)"/>
                <a:ea typeface="Calibri (MS)"/>
                <a:cs typeface="Calibri (MS)"/>
                <a:sym typeface="Calibri (MS)"/>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E2235"/>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16891" y="16891"/>
              <a:ext cx="24383999" cy="1755648"/>
            </a:xfrm>
            <a:custGeom>
              <a:avLst/>
              <a:gdLst/>
              <a:ahLst/>
              <a:cxnLst/>
              <a:rect l="l" t="t" r="r" b="b"/>
              <a:pathLst>
                <a:path w="24383999" h="1755648">
                  <a:moveTo>
                    <a:pt x="0" y="0"/>
                  </a:moveTo>
                  <a:lnTo>
                    <a:pt x="24383999" y="0"/>
                  </a:lnTo>
                  <a:lnTo>
                    <a:pt x="24383999" y="1755648"/>
                  </a:lnTo>
                  <a:lnTo>
                    <a:pt x="0" y="1755648"/>
                  </a:lnTo>
                  <a:close/>
                </a:path>
              </a:pathLst>
            </a:custGeom>
            <a:solidFill>
              <a:srgbClr val="161929"/>
            </a:solidFill>
          </p:spPr>
          <p:txBody>
            <a:bodyPr/>
            <a:lstStyle/>
            <a:p>
              <a:endParaRPr lang="es-GT"/>
            </a:p>
          </p:txBody>
        </p:sp>
        <p:sp>
          <p:nvSpPr>
            <p:cNvPr id="4" name="Freeform 4"/>
            <p:cNvSpPr/>
            <p:nvPr/>
          </p:nvSpPr>
          <p:spPr>
            <a:xfrm>
              <a:off x="0" y="0"/>
              <a:ext cx="24417782" cy="1789430"/>
            </a:xfrm>
            <a:custGeom>
              <a:avLst/>
              <a:gdLst/>
              <a:ahLst/>
              <a:cxnLst/>
              <a:rect l="l" t="t" r="r" b="b"/>
              <a:pathLst>
                <a:path w="24417782" h="1789430">
                  <a:moveTo>
                    <a:pt x="16891" y="0"/>
                  </a:moveTo>
                  <a:lnTo>
                    <a:pt x="24400890" y="0"/>
                  </a:lnTo>
                  <a:cubicBezTo>
                    <a:pt x="24410290" y="0"/>
                    <a:pt x="24417782" y="7620"/>
                    <a:pt x="24417782" y="16891"/>
                  </a:cubicBezTo>
                  <a:lnTo>
                    <a:pt x="24417782" y="1772539"/>
                  </a:lnTo>
                  <a:cubicBezTo>
                    <a:pt x="24417782" y="1781937"/>
                    <a:pt x="24410163" y="1789430"/>
                    <a:pt x="24400890"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24400890" y="1755648"/>
                  </a:lnTo>
                  <a:lnTo>
                    <a:pt x="24400890" y="1772539"/>
                  </a:lnTo>
                  <a:lnTo>
                    <a:pt x="24384000" y="1772539"/>
                  </a:lnTo>
                  <a:lnTo>
                    <a:pt x="24384000" y="16891"/>
                  </a:lnTo>
                  <a:lnTo>
                    <a:pt x="24400890" y="16891"/>
                  </a:lnTo>
                  <a:lnTo>
                    <a:pt x="24400890" y="33909"/>
                  </a:lnTo>
                  <a:lnTo>
                    <a:pt x="16891" y="33909"/>
                  </a:lnTo>
                  <a:close/>
                </a:path>
              </a:pathLst>
            </a:custGeom>
            <a:solidFill>
              <a:srgbClr val="161929"/>
            </a:solidFill>
          </p:spPr>
          <p:txBody>
            <a:bodyPr/>
            <a:lstStyle/>
            <a:p>
              <a:endParaRPr lang="es-GT"/>
            </a:p>
          </p:txBody>
        </p:sp>
      </p:grpSp>
      <p:grpSp>
        <p:nvGrpSpPr>
          <p:cNvPr id="5" name="Group 5"/>
          <p:cNvGrpSpPr/>
          <p:nvPr/>
        </p:nvGrpSpPr>
        <p:grpSpPr>
          <a:xfrm>
            <a:off x="-12697" y="1304039"/>
            <a:ext cx="18313403" cy="98555"/>
            <a:chOff x="0" y="0"/>
            <a:chExt cx="24417871" cy="131407"/>
          </a:xfrm>
        </p:grpSpPr>
        <p:sp>
          <p:nvSpPr>
            <p:cNvPr id="6" name="Freeform 6"/>
            <p:cNvSpPr/>
            <p:nvPr/>
          </p:nvSpPr>
          <p:spPr>
            <a:xfrm>
              <a:off x="16891" y="16891"/>
              <a:ext cx="24383999" cy="97536"/>
            </a:xfrm>
            <a:custGeom>
              <a:avLst/>
              <a:gdLst/>
              <a:ahLst/>
              <a:cxnLst/>
              <a:rect l="l" t="t" r="r" b="b"/>
              <a:pathLst>
                <a:path w="24383999" h="97536">
                  <a:moveTo>
                    <a:pt x="0" y="0"/>
                  </a:moveTo>
                  <a:lnTo>
                    <a:pt x="24383999" y="0"/>
                  </a:lnTo>
                  <a:lnTo>
                    <a:pt x="24383999" y="97536"/>
                  </a:lnTo>
                  <a:lnTo>
                    <a:pt x="0" y="97536"/>
                  </a:lnTo>
                  <a:close/>
                </a:path>
              </a:pathLst>
            </a:custGeom>
            <a:solidFill>
              <a:srgbClr val="5B8CFF"/>
            </a:solidFill>
          </p:spPr>
          <p:txBody>
            <a:bodyPr/>
            <a:lstStyle/>
            <a:p>
              <a:endParaRPr lang="es-GT"/>
            </a:p>
          </p:txBody>
        </p:sp>
        <p:sp>
          <p:nvSpPr>
            <p:cNvPr id="7" name="Freeform 7"/>
            <p:cNvSpPr/>
            <p:nvPr/>
          </p:nvSpPr>
          <p:spPr>
            <a:xfrm>
              <a:off x="0" y="0"/>
              <a:ext cx="24417782" cy="131320"/>
            </a:xfrm>
            <a:custGeom>
              <a:avLst/>
              <a:gdLst/>
              <a:ahLst/>
              <a:cxnLst/>
              <a:rect l="l" t="t" r="r" b="b"/>
              <a:pathLst>
                <a:path w="24417782" h="131320">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5B8CFF"/>
            </a:solidFill>
          </p:spPr>
          <p:txBody>
            <a:bodyPr/>
            <a:lstStyle/>
            <a:p>
              <a:endParaRPr lang="es-GT"/>
            </a:p>
          </p:txBody>
        </p:sp>
      </p:grpSp>
      <p:grpSp>
        <p:nvGrpSpPr>
          <p:cNvPr id="8" name="Group 8"/>
          <p:cNvGrpSpPr/>
          <p:nvPr/>
        </p:nvGrpSpPr>
        <p:grpSpPr>
          <a:xfrm>
            <a:off x="822960" y="0"/>
            <a:ext cx="16642080" cy="1316736"/>
            <a:chOff x="0" y="0"/>
            <a:chExt cx="22189440" cy="1755648"/>
          </a:xfrm>
        </p:grpSpPr>
        <p:sp>
          <p:nvSpPr>
            <p:cNvPr id="9" name="Freeform 9"/>
            <p:cNvSpPr/>
            <p:nvPr/>
          </p:nvSpPr>
          <p:spPr>
            <a:xfrm>
              <a:off x="0" y="0"/>
              <a:ext cx="22189439" cy="1755648"/>
            </a:xfrm>
            <a:custGeom>
              <a:avLst/>
              <a:gdLst/>
              <a:ahLst/>
              <a:cxnLst/>
              <a:rect l="l" t="t" r="r" b="b"/>
              <a:pathLst>
                <a:path w="22189439" h="1755648">
                  <a:moveTo>
                    <a:pt x="0" y="0"/>
                  </a:moveTo>
                  <a:lnTo>
                    <a:pt x="22189439" y="0"/>
                  </a:lnTo>
                  <a:lnTo>
                    <a:pt x="22189439" y="1755648"/>
                  </a:lnTo>
                  <a:lnTo>
                    <a:pt x="0" y="1755648"/>
                  </a:lnTo>
                  <a:close/>
                </a:path>
              </a:pathLst>
            </a:custGeom>
            <a:blipFill>
              <a:blip r:embed="rId3">
                <a:alphaModFix amt="0"/>
              </a:blip>
              <a:stretch>
                <a:fillRect t="-196269" b="-196269"/>
              </a:stretch>
            </a:blipFill>
          </p:spPr>
          <p:txBody>
            <a:bodyPr/>
            <a:lstStyle/>
            <a:p>
              <a:endParaRPr lang="es-GT"/>
            </a:p>
          </p:txBody>
        </p:sp>
        <p:sp>
          <p:nvSpPr>
            <p:cNvPr id="10" name="TextBox 10"/>
            <p:cNvSpPr txBox="1"/>
            <p:nvPr/>
          </p:nvSpPr>
          <p:spPr>
            <a:xfrm>
              <a:off x="0" y="-76200"/>
              <a:ext cx="22189440" cy="1831848"/>
            </a:xfrm>
            <a:prstGeom prst="rect">
              <a:avLst/>
            </a:prstGeom>
          </p:spPr>
          <p:txBody>
            <a:bodyPr lIns="0" tIns="0" rIns="0" bIns="0" rtlCol="0" anchor="ctr"/>
            <a:lstStyle/>
            <a:p>
              <a:pPr algn="l">
                <a:lnSpc>
                  <a:spcPts val="5280"/>
                </a:lnSpc>
              </a:pPr>
              <a:r>
                <a:rPr lang="en-US" sz="4400" b="1">
                  <a:solidFill>
                    <a:srgbClr val="FFFFFF"/>
                  </a:solidFill>
                  <a:latin typeface="Calibri (MS) Bold"/>
                  <a:ea typeface="Calibri (MS) Bold"/>
                  <a:cs typeface="Calibri (MS) Bold"/>
                  <a:sym typeface="Calibri (MS) Bold"/>
                </a:rPr>
                <a:t>Modelo de flujo de datos: Entrada – Proceso – Salida</a:t>
              </a:r>
            </a:p>
          </p:txBody>
        </p:sp>
      </p:grpSp>
      <p:grpSp>
        <p:nvGrpSpPr>
          <p:cNvPr id="11" name="Group 11"/>
          <p:cNvGrpSpPr/>
          <p:nvPr/>
        </p:nvGrpSpPr>
        <p:grpSpPr>
          <a:xfrm>
            <a:off x="-12697" y="9954263"/>
            <a:ext cx="18313403" cy="345443"/>
            <a:chOff x="0" y="0"/>
            <a:chExt cx="24417871" cy="460591"/>
          </a:xfrm>
        </p:grpSpPr>
        <p:sp>
          <p:nvSpPr>
            <p:cNvPr id="12" name="Freeform 12"/>
            <p:cNvSpPr/>
            <p:nvPr/>
          </p:nvSpPr>
          <p:spPr>
            <a:xfrm>
              <a:off x="16891" y="16891"/>
              <a:ext cx="24383999" cy="426720"/>
            </a:xfrm>
            <a:custGeom>
              <a:avLst/>
              <a:gdLst/>
              <a:ahLst/>
              <a:cxnLst/>
              <a:rect l="l" t="t" r="r" b="b"/>
              <a:pathLst>
                <a:path w="24383999" h="426720">
                  <a:moveTo>
                    <a:pt x="0" y="0"/>
                  </a:moveTo>
                  <a:lnTo>
                    <a:pt x="24383999" y="0"/>
                  </a:lnTo>
                  <a:lnTo>
                    <a:pt x="24383999" y="426720"/>
                  </a:lnTo>
                  <a:lnTo>
                    <a:pt x="0" y="426720"/>
                  </a:lnTo>
                  <a:close/>
                </a:path>
              </a:pathLst>
            </a:custGeom>
            <a:solidFill>
              <a:srgbClr val="12152A"/>
            </a:solidFill>
          </p:spPr>
          <p:txBody>
            <a:bodyPr/>
            <a:lstStyle/>
            <a:p>
              <a:endParaRPr lang="es-GT"/>
            </a:p>
          </p:txBody>
        </p:sp>
        <p:sp>
          <p:nvSpPr>
            <p:cNvPr id="13" name="Freeform 13"/>
            <p:cNvSpPr/>
            <p:nvPr/>
          </p:nvSpPr>
          <p:spPr>
            <a:xfrm>
              <a:off x="0" y="0"/>
              <a:ext cx="24417782" cy="460504"/>
            </a:xfrm>
            <a:custGeom>
              <a:avLst/>
              <a:gdLst/>
              <a:ahLst/>
              <a:cxnLst/>
              <a:rect l="l" t="t" r="r" b="b"/>
              <a:pathLst>
                <a:path w="24417782" h="460504">
                  <a:moveTo>
                    <a:pt x="16891" y="0"/>
                  </a:moveTo>
                  <a:lnTo>
                    <a:pt x="24400890" y="0"/>
                  </a:lnTo>
                  <a:cubicBezTo>
                    <a:pt x="24410290" y="0"/>
                    <a:pt x="24417782" y="7620"/>
                    <a:pt x="24417782" y="16891"/>
                  </a:cubicBezTo>
                  <a:lnTo>
                    <a:pt x="24417782" y="443611"/>
                  </a:lnTo>
                  <a:cubicBezTo>
                    <a:pt x="24417782" y="453009"/>
                    <a:pt x="24410163" y="460502"/>
                    <a:pt x="24400890" y="460502"/>
                  </a:cubicBezTo>
                  <a:lnTo>
                    <a:pt x="16891" y="460502"/>
                  </a:lnTo>
                  <a:cubicBezTo>
                    <a:pt x="7620" y="460629"/>
                    <a:pt x="0" y="453009"/>
                    <a:pt x="0" y="443611"/>
                  </a:cubicBezTo>
                  <a:lnTo>
                    <a:pt x="0" y="16891"/>
                  </a:lnTo>
                  <a:cubicBezTo>
                    <a:pt x="0" y="7620"/>
                    <a:pt x="7620" y="0"/>
                    <a:pt x="16891" y="0"/>
                  </a:cubicBezTo>
                  <a:moveTo>
                    <a:pt x="16891" y="33909"/>
                  </a:moveTo>
                  <a:lnTo>
                    <a:pt x="16891" y="16891"/>
                  </a:lnTo>
                  <a:lnTo>
                    <a:pt x="33909" y="16891"/>
                  </a:lnTo>
                  <a:lnTo>
                    <a:pt x="33909" y="443611"/>
                  </a:lnTo>
                  <a:lnTo>
                    <a:pt x="16891" y="443611"/>
                  </a:lnTo>
                  <a:lnTo>
                    <a:pt x="16891" y="426720"/>
                  </a:lnTo>
                  <a:lnTo>
                    <a:pt x="24400890" y="426720"/>
                  </a:lnTo>
                  <a:lnTo>
                    <a:pt x="24400890" y="443611"/>
                  </a:lnTo>
                  <a:lnTo>
                    <a:pt x="24384000" y="443611"/>
                  </a:lnTo>
                  <a:lnTo>
                    <a:pt x="24384000" y="16891"/>
                  </a:lnTo>
                  <a:lnTo>
                    <a:pt x="24400890" y="16891"/>
                  </a:lnTo>
                  <a:lnTo>
                    <a:pt x="24400890" y="33909"/>
                  </a:lnTo>
                  <a:lnTo>
                    <a:pt x="16891" y="33909"/>
                  </a:lnTo>
                  <a:close/>
                </a:path>
              </a:pathLst>
            </a:custGeom>
            <a:solidFill>
              <a:srgbClr val="12152A"/>
            </a:solidFill>
          </p:spPr>
          <p:txBody>
            <a:bodyPr/>
            <a:lstStyle/>
            <a:p>
              <a:endParaRPr lang="es-GT"/>
            </a:p>
          </p:txBody>
        </p:sp>
      </p:grpSp>
      <p:grpSp>
        <p:nvGrpSpPr>
          <p:cNvPr id="14" name="Group 14"/>
          <p:cNvGrpSpPr/>
          <p:nvPr/>
        </p:nvGrpSpPr>
        <p:grpSpPr>
          <a:xfrm>
            <a:off x="17007840" y="9966960"/>
            <a:ext cx="914400" cy="320040"/>
            <a:chOff x="0" y="0"/>
            <a:chExt cx="1219200" cy="426720"/>
          </a:xfrm>
        </p:grpSpPr>
        <p:sp>
          <p:nvSpPr>
            <p:cNvPr id="15" name="Freeform 15"/>
            <p:cNvSpPr/>
            <p:nvPr/>
          </p:nvSpPr>
          <p:spPr>
            <a:xfrm>
              <a:off x="0" y="0"/>
              <a:ext cx="1219200" cy="426720"/>
            </a:xfrm>
            <a:custGeom>
              <a:avLst/>
              <a:gdLst/>
              <a:ahLst/>
              <a:cxnLst/>
              <a:rect l="l" t="t" r="r" b="b"/>
              <a:pathLst>
                <a:path w="1219200" h="426720">
                  <a:moveTo>
                    <a:pt x="0" y="0"/>
                  </a:moveTo>
                  <a:lnTo>
                    <a:pt x="1219200" y="0"/>
                  </a:lnTo>
                  <a:lnTo>
                    <a:pt x="1219200" y="426720"/>
                  </a:lnTo>
                  <a:lnTo>
                    <a:pt x="0" y="426720"/>
                  </a:lnTo>
                  <a:close/>
                </a:path>
              </a:pathLst>
            </a:custGeom>
            <a:blipFill>
              <a:blip r:embed="rId3">
                <a:alphaModFix amt="0"/>
              </a:blip>
              <a:stretch>
                <a:fillRect t="-5671" b="-5671"/>
              </a:stretch>
            </a:blipFill>
          </p:spPr>
          <p:txBody>
            <a:bodyPr/>
            <a:lstStyle/>
            <a:p>
              <a:endParaRPr lang="es-GT"/>
            </a:p>
          </p:txBody>
        </p:sp>
        <p:sp>
          <p:nvSpPr>
            <p:cNvPr id="16" name="TextBox 16"/>
            <p:cNvSpPr txBox="1"/>
            <p:nvPr/>
          </p:nvSpPr>
          <p:spPr>
            <a:xfrm>
              <a:off x="0" y="-38100"/>
              <a:ext cx="1219200" cy="464820"/>
            </a:xfrm>
            <a:prstGeom prst="rect">
              <a:avLst/>
            </a:prstGeom>
          </p:spPr>
          <p:txBody>
            <a:bodyPr lIns="0" tIns="0" rIns="0" bIns="0" rtlCol="0" anchor="ctr"/>
            <a:lstStyle/>
            <a:p>
              <a:pPr algn="r">
                <a:lnSpc>
                  <a:spcPts val="1800"/>
                </a:lnSpc>
              </a:pPr>
              <a:r>
                <a:rPr lang="en-US" sz="1500">
                  <a:solidFill>
                    <a:srgbClr val="6E7A9F"/>
                  </a:solidFill>
                  <a:latin typeface="Calibri (MS)"/>
                  <a:ea typeface="Calibri (MS)"/>
                  <a:cs typeface="Calibri (MS)"/>
                  <a:sym typeface="Calibri (MS)"/>
                </a:rPr>
                <a:t>19</a:t>
              </a:r>
            </a:p>
          </p:txBody>
        </p:sp>
      </p:grpSp>
      <p:grpSp>
        <p:nvGrpSpPr>
          <p:cNvPr id="17" name="Group 17"/>
          <p:cNvGrpSpPr/>
          <p:nvPr/>
        </p:nvGrpSpPr>
        <p:grpSpPr>
          <a:xfrm>
            <a:off x="731520" y="1554480"/>
            <a:ext cx="16824960" cy="731520"/>
            <a:chOff x="0" y="0"/>
            <a:chExt cx="22433280" cy="975360"/>
          </a:xfrm>
        </p:grpSpPr>
        <p:sp>
          <p:nvSpPr>
            <p:cNvPr id="18" name="Freeform 18"/>
            <p:cNvSpPr/>
            <p:nvPr/>
          </p:nvSpPr>
          <p:spPr>
            <a:xfrm>
              <a:off x="0" y="0"/>
              <a:ext cx="22433280" cy="975360"/>
            </a:xfrm>
            <a:custGeom>
              <a:avLst/>
              <a:gdLst/>
              <a:ahLst/>
              <a:cxnLst/>
              <a:rect l="l" t="t" r="r" b="b"/>
              <a:pathLst>
                <a:path w="22433280" h="975360">
                  <a:moveTo>
                    <a:pt x="0" y="0"/>
                  </a:moveTo>
                  <a:lnTo>
                    <a:pt x="22433280" y="0"/>
                  </a:lnTo>
                  <a:lnTo>
                    <a:pt x="22433280" y="975360"/>
                  </a:lnTo>
                  <a:lnTo>
                    <a:pt x="0" y="975360"/>
                  </a:lnTo>
                  <a:close/>
                </a:path>
              </a:pathLst>
            </a:custGeom>
            <a:blipFill>
              <a:blip r:embed="rId3">
                <a:alphaModFix amt="0"/>
              </a:blip>
              <a:stretch>
                <a:fillRect t="-398155" b="-398155"/>
              </a:stretch>
            </a:blipFill>
          </p:spPr>
          <p:txBody>
            <a:bodyPr/>
            <a:lstStyle/>
            <a:p>
              <a:endParaRPr lang="es-GT"/>
            </a:p>
          </p:txBody>
        </p:sp>
        <p:sp>
          <p:nvSpPr>
            <p:cNvPr id="19" name="TextBox 19"/>
            <p:cNvSpPr txBox="1"/>
            <p:nvPr/>
          </p:nvSpPr>
          <p:spPr>
            <a:xfrm>
              <a:off x="0" y="-47625"/>
              <a:ext cx="22433280" cy="1022985"/>
            </a:xfrm>
            <a:prstGeom prst="rect">
              <a:avLst/>
            </a:prstGeom>
          </p:spPr>
          <p:txBody>
            <a:bodyPr lIns="0" tIns="0" rIns="0" bIns="0" rtlCol="0" anchor="ctr"/>
            <a:lstStyle/>
            <a:p>
              <a:pPr algn="l">
                <a:lnSpc>
                  <a:spcPts val="2520"/>
                </a:lnSpc>
              </a:pPr>
              <a:r>
                <a:rPr lang="en-US" sz="2100">
                  <a:solidFill>
                    <a:srgbClr val="B0B8CC"/>
                  </a:solidFill>
                  <a:latin typeface="Calibri (MS)"/>
                  <a:ea typeface="Calibri (MS)"/>
                  <a:cs typeface="Calibri (MS)"/>
                  <a:sym typeface="Calibri (MS)"/>
                </a:rPr>
                <a:t>Todo algoritmo opera bajo el modelo IPO (Input – Process – Output). Comprender este flujo es fundamental para analizar y diseñar cualquier solución computacional.</a:t>
              </a:r>
            </a:p>
          </p:txBody>
        </p:sp>
      </p:grpSp>
      <p:grpSp>
        <p:nvGrpSpPr>
          <p:cNvPr id="20" name="Group 20"/>
          <p:cNvGrpSpPr/>
          <p:nvPr/>
        </p:nvGrpSpPr>
        <p:grpSpPr>
          <a:xfrm>
            <a:off x="1450338" y="2438400"/>
            <a:ext cx="5328923" cy="7157723"/>
            <a:chOff x="0" y="0"/>
            <a:chExt cx="7105231" cy="9543631"/>
          </a:xfrm>
        </p:grpSpPr>
        <p:sp>
          <p:nvSpPr>
            <p:cNvPr id="21" name="Freeform 21"/>
            <p:cNvSpPr/>
            <p:nvPr/>
          </p:nvSpPr>
          <p:spPr>
            <a:xfrm>
              <a:off x="16891" y="16891"/>
              <a:ext cx="7071360" cy="9509760"/>
            </a:xfrm>
            <a:custGeom>
              <a:avLst/>
              <a:gdLst/>
              <a:ahLst/>
              <a:cxnLst/>
              <a:rect l="l" t="t" r="r" b="b"/>
              <a:pathLst>
                <a:path w="7071360" h="9509760">
                  <a:moveTo>
                    <a:pt x="0" y="0"/>
                  </a:moveTo>
                  <a:lnTo>
                    <a:pt x="7071360" y="0"/>
                  </a:lnTo>
                  <a:lnTo>
                    <a:pt x="7071360" y="9509760"/>
                  </a:lnTo>
                  <a:lnTo>
                    <a:pt x="0" y="9509760"/>
                  </a:lnTo>
                  <a:close/>
                </a:path>
              </a:pathLst>
            </a:custGeom>
            <a:solidFill>
              <a:srgbClr val="252B42"/>
            </a:solidFill>
          </p:spPr>
          <p:txBody>
            <a:bodyPr/>
            <a:lstStyle/>
            <a:p>
              <a:endParaRPr lang="es-GT"/>
            </a:p>
          </p:txBody>
        </p:sp>
        <p:sp>
          <p:nvSpPr>
            <p:cNvPr id="22" name="Freeform 22"/>
            <p:cNvSpPr/>
            <p:nvPr/>
          </p:nvSpPr>
          <p:spPr>
            <a:xfrm>
              <a:off x="0" y="0"/>
              <a:ext cx="7105142" cy="9543542"/>
            </a:xfrm>
            <a:custGeom>
              <a:avLst/>
              <a:gdLst/>
              <a:ahLst/>
              <a:cxnLst/>
              <a:rect l="l" t="t" r="r" b="b"/>
              <a:pathLst>
                <a:path w="7105142" h="9543542">
                  <a:moveTo>
                    <a:pt x="16891" y="0"/>
                  </a:moveTo>
                  <a:lnTo>
                    <a:pt x="7088251" y="0"/>
                  </a:lnTo>
                  <a:cubicBezTo>
                    <a:pt x="7097649" y="0"/>
                    <a:pt x="7105142" y="7620"/>
                    <a:pt x="7105142" y="16891"/>
                  </a:cubicBezTo>
                  <a:lnTo>
                    <a:pt x="7105142" y="9526651"/>
                  </a:lnTo>
                  <a:cubicBezTo>
                    <a:pt x="7105142" y="9536049"/>
                    <a:pt x="7097522" y="9543542"/>
                    <a:pt x="7088251" y="9543542"/>
                  </a:cubicBezTo>
                  <a:lnTo>
                    <a:pt x="16891" y="9543542"/>
                  </a:lnTo>
                  <a:cubicBezTo>
                    <a:pt x="7493" y="9543542"/>
                    <a:pt x="0" y="9535922"/>
                    <a:pt x="0" y="9526651"/>
                  </a:cubicBezTo>
                  <a:lnTo>
                    <a:pt x="0" y="16891"/>
                  </a:lnTo>
                  <a:cubicBezTo>
                    <a:pt x="0" y="7620"/>
                    <a:pt x="7620" y="0"/>
                    <a:pt x="16891" y="0"/>
                  </a:cubicBezTo>
                  <a:moveTo>
                    <a:pt x="16891" y="33909"/>
                  </a:moveTo>
                  <a:lnTo>
                    <a:pt x="16891" y="16891"/>
                  </a:lnTo>
                  <a:lnTo>
                    <a:pt x="33909" y="16891"/>
                  </a:lnTo>
                  <a:lnTo>
                    <a:pt x="33909" y="9526651"/>
                  </a:lnTo>
                  <a:lnTo>
                    <a:pt x="16891" y="9526651"/>
                  </a:lnTo>
                  <a:lnTo>
                    <a:pt x="16891" y="9509760"/>
                  </a:lnTo>
                  <a:lnTo>
                    <a:pt x="7088251" y="9509760"/>
                  </a:lnTo>
                  <a:lnTo>
                    <a:pt x="7088251" y="9526651"/>
                  </a:lnTo>
                  <a:lnTo>
                    <a:pt x="7071360" y="9526651"/>
                  </a:lnTo>
                  <a:lnTo>
                    <a:pt x="7071360" y="16891"/>
                  </a:lnTo>
                  <a:lnTo>
                    <a:pt x="7088251" y="16891"/>
                  </a:lnTo>
                  <a:lnTo>
                    <a:pt x="7088251" y="33909"/>
                  </a:lnTo>
                  <a:lnTo>
                    <a:pt x="16891" y="33909"/>
                  </a:lnTo>
                  <a:close/>
                </a:path>
              </a:pathLst>
            </a:custGeom>
            <a:solidFill>
              <a:srgbClr val="5B8CFF"/>
            </a:solidFill>
          </p:spPr>
          <p:txBody>
            <a:bodyPr/>
            <a:lstStyle/>
            <a:p>
              <a:endParaRPr lang="es-GT"/>
            </a:p>
          </p:txBody>
        </p:sp>
      </p:grpSp>
      <p:grpSp>
        <p:nvGrpSpPr>
          <p:cNvPr id="23" name="Group 23"/>
          <p:cNvGrpSpPr/>
          <p:nvPr/>
        </p:nvGrpSpPr>
        <p:grpSpPr>
          <a:xfrm>
            <a:off x="1450338" y="2438400"/>
            <a:ext cx="5328923" cy="1031243"/>
            <a:chOff x="0" y="0"/>
            <a:chExt cx="7105231" cy="1374991"/>
          </a:xfrm>
        </p:grpSpPr>
        <p:sp>
          <p:nvSpPr>
            <p:cNvPr id="24" name="Freeform 24"/>
            <p:cNvSpPr/>
            <p:nvPr/>
          </p:nvSpPr>
          <p:spPr>
            <a:xfrm>
              <a:off x="16891" y="16891"/>
              <a:ext cx="7071360" cy="1341120"/>
            </a:xfrm>
            <a:custGeom>
              <a:avLst/>
              <a:gdLst/>
              <a:ahLst/>
              <a:cxnLst/>
              <a:rect l="l" t="t" r="r" b="b"/>
              <a:pathLst>
                <a:path w="7071360" h="1341120">
                  <a:moveTo>
                    <a:pt x="0" y="0"/>
                  </a:moveTo>
                  <a:lnTo>
                    <a:pt x="7071360" y="0"/>
                  </a:lnTo>
                  <a:lnTo>
                    <a:pt x="7071360" y="1341120"/>
                  </a:lnTo>
                  <a:lnTo>
                    <a:pt x="0" y="1341120"/>
                  </a:lnTo>
                  <a:close/>
                </a:path>
              </a:pathLst>
            </a:custGeom>
            <a:solidFill>
              <a:srgbClr val="1A1F33"/>
            </a:solidFill>
          </p:spPr>
          <p:txBody>
            <a:bodyPr/>
            <a:lstStyle/>
            <a:p>
              <a:endParaRPr lang="es-GT"/>
            </a:p>
          </p:txBody>
        </p:sp>
        <p:sp>
          <p:nvSpPr>
            <p:cNvPr id="25" name="Freeform 25"/>
            <p:cNvSpPr/>
            <p:nvPr/>
          </p:nvSpPr>
          <p:spPr>
            <a:xfrm>
              <a:off x="0" y="0"/>
              <a:ext cx="7105142" cy="1374902"/>
            </a:xfrm>
            <a:custGeom>
              <a:avLst/>
              <a:gdLst/>
              <a:ahLst/>
              <a:cxnLst/>
              <a:rect l="l" t="t" r="r" b="b"/>
              <a:pathLst>
                <a:path w="7105142" h="1374902">
                  <a:moveTo>
                    <a:pt x="16891" y="0"/>
                  </a:moveTo>
                  <a:lnTo>
                    <a:pt x="7088251" y="0"/>
                  </a:lnTo>
                  <a:cubicBezTo>
                    <a:pt x="7097649" y="0"/>
                    <a:pt x="7105142" y="7620"/>
                    <a:pt x="7105142" y="16891"/>
                  </a:cubicBezTo>
                  <a:lnTo>
                    <a:pt x="7105142" y="1358011"/>
                  </a:lnTo>
                  <a:cubicBezTo>
                    <a:pt x="7105142" y="1367409"/>
                    <a:pt x="7097522" y="1374902"/>
                    <a:pt x="708825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7088251" y="1341120"/>
                  </a:lnTo>
                  <a:lnTo>
                    <a:pt x="7088251" y="1358011"/>
                  </a:lnTo>
                  <a:lnTo>
                    <a:pt x="7071360" y="1358011"/>
                  </a:lnTo>
                  <a:lnTo>
                    <a:pt x="7071360" y="16891"/>
                  </a:lnTo>
                  <a:lnTo>
                    <a:pt x="7088251" y="16891"/>
                  </a:lnTo>
                  <a:lnTo>
                    <a:pt x="7088251" y="33909"/>
                  </a:lnTo>
                  <a:lnTo>
                    <a:pt x="16891" y="33909"/>
                  </a:lnTo>
                  <a:close/>
                </a:path>
              </a:pathLst>
            </a:custGeom>
            <a:solidFill>
              <a:srgbClr val="5B8CFF"/>
            </a:solidFill>
          </p:spPr>
          <p:txBody>
            <a:bodyPr/>
            <a:lstStyle/>
            <a:p>
              <a:endParaRPr lang="es-GT"/>
            </a:p>
          </p:txBody>
        </p:sp>
      </p:grpSp>
      <p:grpSp>
        <p:nvGrpSpPr>
          <p:cNvPr id="26" name="Group 26"/>
          <p:cNvGrpSpPr/>
          <p:nvPr/>
        </p:nvGrpSpPr>
        <p:grpSpPr>
          <a:xfrm>
            <a:off x="1463035" y="2451097"/>
            <a:ext cx="5303520" cy="1005840"/>
            <a:chOff x="0" y="0"/>
            <a:chExt cx="7071360" cy="1341120"/>
          </a:xfrm>
        </p:grpSpPr>
        <p:sp>
          <p:nvSpPr>
            <p:cNvPr id="27" name="Freeform 27"/>
            <p:cNvSpPr/>
            <p:nvPr/>
          </p:nvSpPr>
          <p:spPr>
            <a:xfrm>
              <a:off x="0" y="0"/>
              <a:ext cx="7071360" cy="1341120"/>
            </a:xfrm>
            <a:custGeom>
              <a:avLst/>
              <a:gdLst/>
              <a:ahLst/>
              <a:cxnLst/>
              <a:rect l="l" t="t" r="r" b="b"/>
              <a:pathLst>
                <a:path w="7071360" h="1341120">
                  <a:moveTo>
                    <a:pt x="0" y="0"/>
                  </a:moveTo>
                  <a:lnTo>
                    <a:pt x="7071360" y="0"/>
                  </a:lnTo>
                  <a:lnTo>
                    <a:pt x="7071360" y="1341120"/>
                  </a:lnTo>
                  <a:lnTo>
                    <a:pt x="0" y="1341120"/>
                  </a:lnTo>
                  <a:close/>
                </a:path>
              </a:pathLst>
            </a:custGeom>
            <a:blipFill>
              <a:blip r:embed="rId3">
                <a:alphaModFix amt="0"/>
              </a:blip>
              <a:stretch>
                <a:fillRect t="-52739" b="-52739"/>
              </a:stretch>
            </a:blipFill>
          </p:spPr>
          <p:txBody>
            <a:bodyPr/>
            <a:lstStyle/>
            <a:p>
              <a:endParaRPr lang="es-GT"/>
            </a:p>
          </p:txBody>
        </p:sp>
        <p:sp>
          <p:nvSpPr>
            <p:cNvPr id="28" name="TextBox 28"/>
            <p:cNvSpPr txBox="1"/>
            <p:nvPr/>
          </p:nvSpPr>
          <p:spPr>
            <a:xfrm>
              <a:off x="0" y="-57150"/>
              <a:ext cx="7071360" cy="1398270"/>
            </a:xfrm>
            <a:prstGeom prst="rect">
              <a:avLst/>
            </a:prstGeom>
          </p:spPr>
          <p:txBody>
            <a:bodyPr lIns="0" tIns="0" rIns="0" bIns="0" rtlCol="0" anchor="ctr"/>
            <a:lstStyle/>
            <a:p>
              <a:pPr algn="ctr">
                <a:lnSpc>
                  <a:spcPts val="3120"/>
                </a:lnSpc>
              </a:pPr>
              <a:r>
                <a:rPr lang="en-US" sz="2600" b="1">
                  <a:solidFill>
                    <a:srgbClr val="5B8CFF"/>
                  </a:solidFill>
                  <a:latin typeface="Calibri (MS) Bold"/>
                  <a:ea typeface="Calibri (MS) Bold"/>
                  <a:cs typeface="Calibri (MS) Bold"/>
                  <a:sym typeface="Calibri (MS) Bold"/>
                </a:rPr>
                <a:t>ENTRADA</a:t>
              </a:r>
            </a:p>
          </p:txBody>
        </p:sp>
      </p:grpSp>
      <p:grpSp>
        <p:nvGrpSpPr>
          <p:cNvPr id="29" name="Group 29"/>
          <p:cNvGrpSpPr/>
          <p:nvPr/>
        </p:nvGrpSpPr>
        <p:grpSpPr>
          <a:xfrm>
            <a:off x="1463035" y="3548377"/>
            <a:ext cx="5303520" cy="640080"/>
            <a:chOff x="0" y="0"/>
            <a:chExt cx="7071360" cy="853440"/>
          </a:xfrm>
        </p:grpSpPr>
        <p:sp>
          <p:nvSpPr>
            <p:cNvPr id="30" name="Freeform 30"/>
            <p:cNvSpPr/>
            <p:nvPr/>
          </p:nvSpPr>
          <p:spPr>
            <a:xfrm>
              <a:off x="0" y="0"/>
              <a:ext cx="7071360" cy="853440"/>
            </a:xfrm>
            <a:custGeom>
              <a:avLst/>
              <a:gdLst/>
              <a:ahLst/>
              <a:cxnLst/>
              <a:rect l="l" t="t" r="r" b="b"/>
              <a:pathLst>
                <a:path w="7071360" h="853440">
                  <a:moveTo>
                    <a:pt x="0" y="0"/>
                  </a:moveTo>
                  <a:lnTo>
                    <a:pt x="7071360" y="0"/>
                  </a:lnTo>
                  <a:lnTo>
                    <a:pt x="7071360" y="853440"/>
                  </a:lnTo>
                  <a:lnTo>
                    <a:pt x="0" y="853440"/>
                  </a:lnTo>
                  <a:close/>
                </a:path>
              </a:pathLst>
            </a:custGeom>
            <a:blipFill>
              <a:blip r:embed="rId3">
                <a:alphaModFix amt="0"/>
              </a:blip>
              <a:stretch>
                <a:fillRect t="-111447" b="-111447"/>
              </a:stretch>
            </a:blipFill>
          </p:spPr>
          <p:txBody>
            <a:bodyPr/>
            <a:lstStyle/>
            <a:p>
              <a:endParaRPr lang="es-GT"/>
            </a:p>
          </p:txBody>
        </p:sp>
        <p:sp>
          <p:nvSpPr>
            <p:cNvPr id="31" name="TextBox 31"/>
            <p:cNvSpPr txBox="1"/>
            <p:nvPr/>
          </p:nvSpPr>
          <p:spPr>
            <a:xfrm>
              <a:off x="0" y="-38100"/>
              <a:ext cx="7071360" cy="891540"/>
            </a:xfrm>
            <a:prstGeom prst="rect">
              <a:avLst/>
            </a:prstGeom>
          </p:spPr>
          <p:txBody>
            <a:bodyPr lIns="0" tIns="0" rIns="0" bIns="0" rtlCol="0" anchor="ctr"/>
            <a:lstStyle/>
            <a:p>
              <a:pPr algn="ctr">
                <a:lnSpc>
                  <a:spcPts val="2400"/>
                </a:lnSpc>
              </a:pPr>
              <a:r>
                <a:rPr lang="en-US" sz="2000">
                  <a:solidFill>
                    <a:srgbClr val="B0B8CC"/>
                  </a:solidFill>
                  <a:latin typeface="Calibri (MS)"/>
                  <a:ea typeface="Calibri (MS)"/>
                  <a:cs typeface="Calibri (MS)"/>
                  <a:sym typeface="Calibri (MS)"/>
                </a:rPr>
                <a:t>INPUT</a:t>
              </a:r>
            </a:p>
          </p:txBody>
        </p:sp>
      </p:grpSp>
      <p:sp>
        <p:nvSpPr>
          <p:cNvPr id="32" name="TextBox 32"/>
          <p:cNvSpPr txBox="1"/>
          <p:nvPr/>
        </p:nvSpPr>
        <p:spPr>
          <a:xfrm>
            <a:off x="1828795" y="4313806"/>
            <a:ext cx="4572000" cy="1743075"/>
          </a:xfrm>
          <a:prstGeom prst="rect">
            <a:avLst/>
          </a:prstGeom>
        </p:spPr>
        <p:txBody>
          <a:bodyPr lIns="0" tIns="0" rIns="0" bIns="0" rtlCol="0" anchor="t">
            <a:spAutoFit/>
          </a:bodyPr>
          <a:lstStyle/>
          <a:p>
            <a:pPr algn="l">
              <a:lnSpc>
                <a:spcPts val="3359"/>
              </a:lnSpc>
            </a:pPr>
            <a:r>
              <a:rPr lang="en-US" sz="2799">
                <a:solidFill>
                  <a:srgbClr val="FFFFFF"/>
                </a:solidFill>
                <a:latin typeface="Calibri (MS)"/>
                <a:ea typeface="Calibri (MS)"/>
                <a:cs typeface="Calibri (MS)"/>
                <a:sym typeface="Calibri (MS)"/>
              </a:rPr>
              <a:t>Datos e información que el algoritmo recibe del entorno: teclado, archivos, sensores, red u otras fuentes.</a:t>
            </a:r>
          </a:p>
        </p:txBody>
      </p:sp>
      <p:grpSp>
        <p:nvGrpSpPr>
          <p:cNvPr id="33" name="Group 33"/>
          <p:cNvGrpSpPr/>
          <p:nvPr/>
        </p:nvGrpSpPr>
        <p:grpSpPr>
          <a:xfrm>
            <a:off x="6479538" y="2438400"/>
            <a:ext cx="5328923" cy="7157723"/>
            <a:chOff x="0" y="0"/>
            <a:chExt cx="7105231" cy="9543631"/>
          </a:xfrm>
        </p:grpSpPr>
        <p:sp>
          <p:nvSpPr>
            <p:cNvPr id="34" name="Freeform 34"/>
            <p:cNvSpPr/>
            <p:nvPr/>
          </p:nvSpPr>
          <p:spPr>
            <a:xfrm>
              <a:off x="16891" y="16891"/>
              <a:ext cx="7071360" cy="9509760"/>
            </a:xfrm>
            <a:custGeom>
              <a:avLst/>
              <a:gdLst/>
              <a:ahLst/>
              <a:cxnLst/>
              <a:rect l="l" t="t" r="r" b="b"/>
              <a:pathLst>
                <a:path w="7071360" h="9509760">
                  <a:moveTo>
                    <a:pt x="0" y="0"/>
                  </a:moveTo>
                  <a:lnTo>
                    <a:pt x="7071360" y="0"/>
                  </a:lnTo>
                  <a:lnTo>
                    <a:pt x="7071360" y="9509760"/>
                  </a:lnTo>
                  <a:lnTo>
                    <a:pt x="0" y="9509760"/>
                  </a:lnTo>
                  <a:close/>
                </a:path>
              </a:pathLst>
            </a:custGeom>
            <a:solidFill>
              <a:srgbClr val="252B42"/>
            </a:solidFill>
          </p:spPr>
          <p:txBody>
            <a:bodyPr/>
            <a:lstStyle/>
            <a:p>
              <a:endParaRPr lang="es-GT"/>
            </a:p>
          </p:txBody>
        </p:sp>
        <p:sp>
          <p:nvSpPr>
            <p:cNvPr id="35" name="Freeform 35"/>
            <p:cNvSpPr/>
            <p:nvPr/>
          </p:nvSpPr>
          <p:spPr>
            <a:xfrm>
              <a:off x="0" y="0"/>
              <a:ext cx="7105142" cy="9543542"/>
            </a:xfrm>
            <a:custGeom>
              <a:avLst/>
              <a:gdLst/>
              <a:ahLst/>
              <a:cxnLst/>
              <a:rect l="l" t="t" r="r" b="b"/>
              <a:pathLst>
                <a:path w="7105142" h="9543542">
                  <a:moveTo>
                    <a:pt x="16891" y="0"/>
                  </a:moveTo>
                  <a:lnTo>
                    <a:pt x="7088251" y="0"/>
                  </a:lnTo>
                  <a:cubicBezTo>
                    <a:pt x="7097649" y="0"/>
                    <a:pt x="7105142" y="7620"/>
                    <a:pt x="7105142" y="16891"/>
                  </a:cubicBezTo>
                  <a:lnTo>
                    <a:pt x="7105142" y="9526651"/>
                  </a:lnTo>
                  <a:cubicBezTo>
                    <a:pt x="7105142" y="9536049"/>
                    <a:pt x="7097522" y="9543542"/>
                    <a:pt x="7088251" y="9543542"/>
                  </a:cubicBezTo>
                  <a:lnTo>
                    <a:pt x="16891" y="9543542"/>
                  </a:lnTo>
                  <a:cubicBezTo>
                    <a:pt x="7493" y="9543542"/>
                    <a:pt x="0" y="9535922"/>
                    <a:pt x="0" y="9526651"/>
                  </a:cubicBezTo>
                  <a:lnTo>
                    <a:pt x="0" y="16891"/>
                  </a:lnTo>
                  <a:cubicBezTo>
                    <a:pt x="0" y="7620"/>
                    <a:pt x="7620" y="0"/>
                    <a:pt x="16891" y="0"/>
                  </a:cubicBezTo>
                  <a:moveTo>
                    <a:pt x="16891" y="33909"/>
                  </a:moveTo>
                  <a:lnTo>
                    <a:pt x="16891" y="16891"/>
                  </a:lnTo>
                  <a:lnTo>
                    <a:pt x="33909" y="16891"/>
                  </a:lnTo>
                  <a:lnTo>
                    <a:pt x="33909" y="9526651"/>
                  </a:lnTo>
                  <a:lnTo>
                    <a:pt x="16891" y="9526651"/>
                  </a:lnTo>
                  <a:lnTo>
                    <a:pt x="16891" y="9509760"/>
                  </a:lnTo>
                  <a:lnTo>
                    <a:pt x="7088251" y="9509760"/>
                  </a:lnTo>
                  <a:lnTo>
                    <a:pt x="7088251" y="9526651"/>
                  </a:lnTo>
                  <a:lnTo>
                    <a:pt x="7071360" y="9526651"/>
                  </a:lnTo>
                  <a:lnTo>
                    <a:pt x="7071360" y="16891"/>
                  </a:lnTo>
                  <a:lnTo>
                    <a:pt x="7088251" y="16891"/>
                  </a:lnTo>
                  <a:lnTo>
                    <a:pt x="7088251" y="33909"/>
                  </a:lnTo>
                  <a:lnTo>
                    <a:pt x="16891" y="33909"/>
                  </a:lnTo>
                  <a:close/>
                </a:path>
              </a:pathLst>
            </a:custGeom>
            <a:solidFill>
              <a:srgbClr val="7EC8A4"/>
            </a:solidFill>
          </p:spPr>
          <p:txBody>
            <a:bodyPr/>
            <a:lstStyle/>
            <a:p>
              <a:endParaRPr lang="es-GT"/>
            </a:p>
          </p:txBody>
        </p:sp>
      </p:grpSp>
      <p:grpSp>
        <p:nvGrpSpPr>
          <p:cNvPr id="36" name="Group 36"/>
          <p:cNvGrpSpPr/>
          <p:nvPr/>
        </p:nvGrpSpPr>
        <p:grpSpPr>
          <a:xfrm>
            <a:off x="6479538" y="2438400"/>
            <a:ext cx="5328923" cy="1031243"/>
            <a:chOff x="0" y="0"/>
            <a:chExt cx="7105231" cy="1374991"/>
          </a:xfrm>
        </p:grpSpPr>
        <p:sp>
          <p:nvSpPr>
            <p:cNvPr id="37" name="Freeform 37"/>
            <p:cNvSpPr/>
            <p:nvPr/>
          </p:nvSpPr>
          <p:spPr>
            <a:xfrm>
              <a:off x="16891" y="16891"/>
              <a:ext cx="7071360" cy="1341120"/>
            </a:xfrm>
            <a:custGeom>
              <a:avLst/>
              <a:gdLst/>
              <a:ahLst/>
              <a:cxnLst/>
              <a:rect l="l" t="t" r="r" b="b"/>
              <a:pathLst>
                <a:path w="7071360" h="1341120">
                  <a:moveTo>
                    <a:pt x="0" y="0"/>
                  </a:moveTo>
                  <a:lnTo>
                    <a:pt x="7071360" y="0"/>
                  </a:lnTo>
                  <a:lnTo>
                    <a:pt x="7071360" y="1341120"/>
                  </a:lnTo>
                  <a:lnTo>
                    <a:pt x="0" y="1341120"/>
                  </a:lnTo>
                  <a:close/>
                </a:path>
              </a:pathLst>
            </a:custGeom>
            <a:solidFill>
              <a:srgbClr val="1A1F33"/>
            </a:solidFill>
          </p:spPr>
          <p:txBody>
            <a:bodyPr/>
            <a:lstStyle/>
            <a:p>
              <a:endParaRPr lang="es-GT"/>
            </a:p>
          </p:txBody>
        </p:sp>
        <p:sp>
          <p:nvSpPr>
            <p:cNvPr id="38" name="Freeform 38"/>
            <p:cNvSpPr/>
            <p:nvPr/>
          </p:nvSpPr>
          <p:spPr>
            <a:xfrm>
              <a:off x="0" y="0"/>
              <a:ext cx="7105142" cy="1374902"/>
            </a:xfrm>
            <a:custGeom>
              <a:avLst/>
              <a:gdLst/>
              <a:ahLst/>
              <a:cxnLst/>
              <a:rect l="l" t="t" r="r" b="b"/>
              <a:pathLst>
                <a:path w="7105142" h="1374902">
                  <a:moveTo>
                    <a:pt x="16891" y="0"/>
                  </a:moveTo>
                  <a:lnTo>
                    <a:pt x="7088251" y="0"/>
                  </a:lnTo>
                  <a:cubicBezTo>
                    <a:pt x="7097649" y="0"/>
                    <a:pt x="7105142" y="7620"/>
                    <a:pt x="7105142" y="16891"/>
                  </a:cubicBezTo>
                  <a:lnTo>
                    <a:pt x="7105142" y="1358011"/>
                  </a:lnTo>
                  <a:cubicBezTo>
                    <a:pt x="7105142" y="1367409"/>
                    <a:pt x="7097522" y="1374902"/>
                    <a:pt x="708825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7088251" y="1341120"/>
                  </a:lnTo>
                  <a:lnTo>
                    <a:pt x="7088251" y="1358011"/>
                  </a:lnTo>
                  <a:lnTo>
                    <a:pt x="7071360" y="1358011"/>
                  </a:lnTo>
                  <a:lnTo>
                    <a:pt x="7071360" y="16891"/>
                  </a:lnTo>
                  <a:lnTo>
                    <a:pt x="7088251" y="16891"/>
                  </a:lnTo>
                  <a:lnTo>
                    <a:pt x="7088251" y="33909"/>
                  </a:lnTo>
                  <a:lnTo>
                    <a:pt x="16891" y="33909"/>
                  </a:lnTo>
                  <a:close/>
                </a:path>
              </a:pathLst>
            </a:custGeom>
            <a:solidFill>
              <a:srgbClr val="7EC8A4"/>
            </a:solidFill>
          </p:spPr>
          <p:txBody>
            <a:bodyPr/>
            <a:lstStyle/>
            <a:p>
              <a:endParaRPr lang="es-GT"/>
            </a:p>
          </p:txBody>
        </p:sp>
      </p:grpSp>
      <p:grpSp>
        <p:nvGrpSpPr>
          <p:cNvPr id="39" name="Group 39"/>
          <p:cNvGrpSpPr/>
          <p:nvPr/>
        </p:nvGrpSpPr>
        <p:grpSpPr>
          <a:xfrm>
            <a:off x="6492235" y="2451097"/>
            <a:ext cx="5303520" cy="1005840"/>
            <a:chOff x="0" y="0"/>
            <a:chExt cx="7071360" cy="1341120"/>
          </a:xfrm>
        </p:grpSpPr>
        <p:sp>
          <p:nvSpPr>
            <p:cNvPr id="40" name="Freeform 40"/>
            <p:cNvSpPr/>
            <p:nvPr/>
          </p:nvSpPr>
          <p:spPr>
            <a:xfrm>
              <a:off x="0" y="0"/>
              <a:ext cx="7071360" cy="1341120"/>
            </a:xfrm>
            <a:custGeom>
              <a:avLst/>
              <a:gdLst/>
              <a:ahLst/>
              <a:cxnLst/>
              <a:rect l="l" t="t" r="r" b="b"/>
              <a:pathLst>
                <a:path w="7071360" h="1341120">
                  <a:moveTo>
                    <a:pt x="0" y="0"/>
                  </a:moveTo>
                  <a:lnTo>
                    <a:pt x="7071360" y="0"/>
                  </a:lnTo>
                  <a:lnTo>
                    <a:pt x="7071360" y="1341120"/>
                  </a:lnTo>
                  <a:lnTo>
                    <a:pt x="0" y="1341120"/>
                  </a:lnTo>
                  <a:close/>
                </a:path>
              </a:pathLst>
            </a:custGeom>
            <a:blipFill>
              <a:blip r:embed="rId3">
                <a:alphaModFix amt="0"/>
              </a:blip>
              <a:stretch>
                <a:fillRect t="-52739" b="-52739"/>
              </a:stretch>
            </a:blipFill>
          </p:spPr>
          <p:txBody>
            <a:bodyPr/>
            <a:lstStyle/>
            <a:p>
              <a:endParaRPr lang="es-GT"/>
            </a:p>
          </p:txBody>
        </p:sp>
        <p:sp>
          <p:nvSpPr>
            <p:cNvPr id="41" name="TextBox 41"/>
            <p:cNvSpPr txBox="1"/>
            <p:nvPr/>
          </p:nvSpPr>
          <p:spPr>
            <a:xfrm>
              <a:off x="0" y="-57150"/>
              <a:ext cx="7071360" cy="1398270"/>
            </a:xfrm>
            <a:prstGeom prst="rect">
              <a:avLst/>
            </a:prstGeom>
          </p:spPr>
          <p:txBody>
            <a:bodyPr lIns="0" tIns="0" rIns="0" bIns="0" rtlCol="0" anchor="ctr"/>
            <a:lstStyle/>
            <a:p>
              <a:pPr algn="ctr">
                <a:lnSpc>
                  <a:spcPts val="3120"/>
                </a:lnSpc>
              </a:pPr>
              <a:r>
                <a:rPr lang="en-US" sz="2600" b="1">
                  <a:solidFill>
                    <a:srgbClr val="7EC8A4"/>
                  </a:solidFill>
                  <a:latin typeface="Calibri (MS) Bold"/>
                  <a:ea typeface="Calibri (MS) Bold"/>
                  <a:cs typeface="Calibri (MS) Bold"/>
                  <a:sym typeface="Calibri (MS) Bold"/>
                </a:rPr>
                <a:t>PROCESO</a:t>
              </a:r>
            </a:p>
          </p:txBody>
        </p:sp>
      </p:grpSp>
      <p:grpSp>
        <p:nvGrpSpPr>
          <p:cNvPr id="42" name="Group 42"/>
          <p:cNvGrpSpPr/>
          <p:nvPr/>
        </p:nvGrpSpPr>
        <p:grpSpPr>
          <a:xfrm>
            <a:off x="6492235" y="3548377"/>
            <a:ext cx="5303520" cy="640080"/>
            <a:chOff x="0" y="0"/>
            <a:chExt cx="7071360" cy="853440"/>
          </a:xfrm>
        </p:grpSpPr>
        <p:sp>
          <p:nvSpPr>
            <p:cNvPr id="43" name="Freeform 43"/>
            <p:cNvSpPr/>
            <p:nvPr/>
          </p:nvSpPr>
          <p:spPr>
            <a:xfrm>
              <a:off x="0" y="0"/>
              <a:ext cx="7071360" cy="853440"/>
            </a:xfrm>
            <a:custGeom>
              <a:avLst/>
              <a:gdLst/>
              <a:ahLst/>
              <a:cxnLst/>
              <a:rect l="l" t="t" r="r" b="b"/>
              <a:pathLst>
                <a:path w="7071360" h="853440">
                  <a:moveTo>
                    <a:pt x="0" y="0"/>
                  </a:moveTo>
                  <a:lnTo>
                    <a:pt x="7071360" y="0"/>
                  </a:lnTo>
                  <a:lnTo>
                    <a:pt x="7071360" y="853440"/>
                  </a:lnTo>
                  <a:lnTo>
                    <a:pt x="0" y="853440"/>
                  </a:lnTo>
                  <a:close/>
                </a:path>
              </a:pathLst>
            </a:custGeom>
            <a:blipFill>
              <a:blip r:embed="rId3">
                <a:alphaModFix amt="0"/>
              </a:blip>
              <a:stretch>
                <a:fillRect t="-111447" b="-111447"/>
              </a:stretch>
            </a:blipFill>
          </p:spPr>
          <p:txBody>
            <a:bodyPr/>
            <a:lstStyle/>
            <a:p>
              <a:endParaRPr lang="es-GT"/>
            </a:p>
          </p:txBody>
        </p:sp>
        <p:sp>
          <p:nvSpPr>
            <p:cNvPr id="44" name="TextBox 44"/>
            <p:cNvSpPr txBox="1"/>
            <p:nvPr/>
          </p:nvSpPr>
          <p:spPr>
            <a:xfrm>
              <a:off x="0" y="-38100"/>
              <a:ext cx="7071360" cy="891540"/>
            </a:xfrm>
            <a:prstGeom prst="rect">
              <a:avLst/>
            </a:prstGeom>
          </p:spPr>
          <p:txBody>
            <a:bodyPr lIns="0" tIns="0" rIns="0" bIns="0" rtlCol="0" anchor="ctr"/>
            <a:lstStyle/>
            <a:p>
              <a:pPr algn="ctr">
                <a:lnSpc>
                  <a:spcPts val="2400"/>
                </a:lnSpc>
              </a:pPr>
              <a:r>
                <a:rPr lang="en-US" sz="2000">
                  <a:solidFill>
                    <a:srgbClr val="B0B8CC"/>
                  </a:solidFill>
                  <a:latin typeface="Calibri (MS)"/>
                  <a:ea typeface="Calibri (MS)"/>
                  <a:cs typeface="Calibri (MS)"/>
                  <a:sym typeface="Calibri (MS)"/>
                </a:rPr>
                <a:t>PROCESS</a:t>
              </a:r>
            </a:p>
          </p:txBody>
        </p:sp>
      </p:grpSp>
      <p:sp>
        <p:nvSpPr>
          <p:cNvPr id="45" name="TextBox 45"/>
          <p:cNvSpPr txBox="1"/>
          <p:nvPr/>
        </p:nvSpPr>
        <p:spPr>
          <a:xfrm>
            <a:off x="6857995" y="4313806"/>
            <a:ext cx="4572000" cy="2162175"/>
          </a:xfrm>
          <a:prstGeom prst="rect">
            <a:avLst/>
          </a:prstGeom>
        </p:spPr>
        <p:txBody>
          <a:bodyPr lIns="0" tIns="0" rIns="0" bIns="0" rtlCol="0" anchor="t">
            <a:spAutoFit/>
          </a:bodyPr>
          <a:lstStyle/>
          <a:p>
            <a:pPr algn="l">
              <a:lnSpc>
                <a:spcPts val="3359"/>
              </a:lnSpc>
            </a:pPr>
            <a:r>
              <a:rPr lang="en-US" sz="2799">
                <a:solidFill>
                  <a:srgbClr val="FFFFFF"/>
                </a:solidFill>
                <a:latin typeface="Calibri (MS)"/>
                <a:ea typeface="Calibri (MS)"/>
                <a:cs typeface="Calibri (MS)"/>
                <a:sym typeface="Calibri (MS)"/>
              </a:rPr>
              <a:t>Conjunto de operaciones: cálculos aritméticos, comparaciones, asignaciones y transformaciones sobre los datos de entrada.</a:t>
            </a:r>
          </a:p>
        </p:txBody>
      </p:sp>
      <p:grpSp>
        <p:nvGrpSpPr>
          <p:cNvPr id="46" name="Group 46"/>
          <p:cNvGrpSpPr/>
          <p:nvPr/>
        </p:nvGrpSpPr>
        <p:grpSpPr>
          <a:xfrm>
            <a:off x="11508738" y="2438400"/>
            <a:ext cx="5328923" cy="7157723"/>
            <a:chOff x="0" y="0"/>
            <a:chExt cx="7105231" cy="9543631"/>
          </a:xfrm>
        </p:grpSpPr>
        <p:sp>
          <p:nvSpPr>
            <p:cNvPr id="47" name="Freeform 47"/>
            <p:cNvSpPr/>
            <p:nvPr/>
          </p:nvSpPr>
          <p:spPr>
            <a:xfrm>
              <a:off x="16891" y="16891"/>
              <a:ext cx="7071360" cy="9509760"/>
            </a:xfrm>
            <a:custGeom>
              <a:avLst/>
              <a:gdLst/>
              <a:ahLst/>
              <a:cxnLst/>
              <a:rect l="l" t="t" r="r" b="b"/>
              <a:pathLst>
                <a:path w="7071360" h="9509760">
                  <a:moveTo>
                    <a:pt x="0" y="0"/>
                  </a:moveTo>
                  <a:lnTo>
                    <a:pt x="7071360" y="0"/>
                  </a:lnTo>
                  <a:lnTo>
                    <a:pt x="7071360" y="9509760"/>
                  </a:lnTo>
                  <a:lnTo>
                    <a:pt x="0" y="9509760"/>
                  </a:lnTo>
                  <a:close/>
                </a:path>
              </a:pathLst>
            </a:custGeom>
            <a:solidFill>
              <a:srgbClr val="252B42"/>
            </a:solidFill>
          </p:spPr>
          <p:txBody>
            <a:bodyPr/>
            <a:lstStyle/>
            <a:p>
              <a:endParaRPr lang="es-GT"/>
            </a:p>
          </p:txBody>
        </p:sp>
        <p:sp>
          <p:nvSpPr>
            <p:cNvPr id="48" name="Freeform 48"/>
            <p:cNvSpPr/>
            <p:nvPr/>
          </p:nvSpPr>
          <p:spPr>
            <a:xfrm>
              <a:off x="0" y="0"/>
              <a:ext cx="7105142" cy="9543542"/>
            </a:xfrm>
            <a:custGeom>
              <a:avLst/>
              <a:gdLst/>
              <a:ahLst/>
              <a:cxnLst/>
              <a:rect l="l" t="t" r="r" b="b"/>
              <a:pathLst>
                <a:path w="7105142" h="9543542">
                  <a:moveTo>
                    <a:pt x="16891" y="0"/>
                  </a:moveTo>
                  <a:lnTo>
                    <a:pt x="7088251" y="0"/>
                  </a:lnTo>
                  <a:cubicBezTo>
                    <a:pt x="7097649" y="0"/>
                    <a:pt x="7105142" y="7620"/>
                    <a:pt x="7105142" y="16891"/>
                  </a:cubicBezTo>
                  <a:lnTo>
                    <a:pt x="7105142" y="9526651"/>
                  </a:lnTo>
                  <a:cubicBezTo>
                    <a:pt x="7105142" y="9536049"/>
                    <a:pt x="7097522" y="9543542"/>
                    <a:pt x="7088251" y="9543542"/>
                  </a:cubicBezTo>
                  <a:lnTo>
                    <a:pt x="16891" y="9543542"/>
                  </a:lnTo>
                  <a:cubicBezTo>
                    <a:pt x="7493" y="9543542"/>
                    <a:pt x="0" y="9535922"/>
                    <a:pt x="0" y="9526651"/>
                  </a:cubicBezTo>
                  <a:lnTo>
                    <a:pt x="0" y="16891"/>
                  </a:lnTo>
                  <a:cubicBezTo>
                    <a:pt x="0" y="7620"/>
                    <a:pt x="7620" y="0"/>
                    <a:pt x="16891" y="0"/>
                  </a:cubicBezTo>
                  <a:moveTo>
                    <a:pt x="16891" y="33909"/>
                  </a:moveTo>
                  <a:lnTo>
                    <a:pt x="16891" y="16891"/>
                  </a:lnTo>
                  <a:lnTo>
                    <a:pt x="33909" y="16891"/>
                  </a:lnTo>
                  <a:lnTo>
                    <a:pt x="33909" y="9526651"/>
                  </a:lnTo>
                  <a:lnTo>
                    <a:pt x="16891" y="9526651"/>
                  </a:lnTo>
                  <a:lnTo>
                    <a:pt x="16891" y="9509760"/>
                  </a:lnTo>
                  <a:lnTo>
                    <a:pt x="7088251" y="9509760"/>
                  </a:lnTo>
                  <a:lnTo>
                    <a:pt x="7088251" y="9526651"/>
                  </a:lnTo>
                  <a:lnTo>
                    <a:pt x="7071360" y="9526651"/>
                  </a:lnTo>
                  <a:lnTo>
                    <a:pt x="7071360" y="16891"/>
                  </a:lnTo>
                  <a:lnTo>
                    <a:pt x="7088251" y="16891"/>
                  </a:lnTo>
                  <a:lnTo>
                    <a:pt x="7088251" y="33909"/>
                  </a:lnTo>
                  <a:lnTo>
                    <a:pt x="16891" y="33909"/>
                  </a:lnTo>
                  <a:close/>
                </a:path>
              </a:pathLst>
            </a:custGeom>
            <a:solidFill>
              <a:srgbClr val="E8A87C"/>
            </a:solidFill>
          </p:spPr>
          <p:txBody>
            <a:bodyPr/>
            <a:lstStyle/>
            <a:p>
              <a:endParaRPr lang="es-GT"/>
            </a:p>
          </p:txBody>
        </p:sp>
      </p:grpSp>
      <p:grpSp>
        <p:nvGrpSpPr>
          <p:cNvPr id="49" name="Group 49"/>
          <p:cNvGrpSpPr/>
          <p:nvPr/>
        </p:nvGrpSpPr>
        <p:grpSpPr>
          <a:xfrm>
            <a:off x="11508738" y="2438400"/>
            <a:ext cx="5328923" cy="1031243"/>
            <a:chOff x="0" y="0"/>
            <a:chExt cx="7105231" cy="1374991"/>
          </a:xfrm>
        </p:grpSpPr>
        <p:sp>
          <p:nvSpPr>
            <p:cNvPr id="50" name="Freeform 50"/>
            <p:cNvSpPr/>
            <p:nvPr/>
          </p:nvSpPr>
          <p:spPr>
            <a:xfrm>
              <a:off x="16891" y="16891"/>
              <a:ext cx="7071360" cy="1341120"/>
            </a:xfrm>
            <a:custGeom>
              <a:avLst/>
              <a:gdLst/>
              <a:ahLst/>
              <a:cxnLst/>
              <a:rect l="l" t="t" r="r" b="b"/>
              <a:pathLst>
                <a:path w="7071360" h="1341120">
                  <a:moveTo>
                    <a:pt x="0" y="0"/>
                  </a:moveTo>
                  <a:lnTo>
                    <a:pt x="7071360" y="0"/>
                  </a:lnTo>
                  <a:lnTo>
                    <a:pt x="7071360" y="1341120"/>
                  </a:lnTo>
                  <a:lnTo>
                    <a:pt x="0" y="1341120"/>
                  </a:lnTo>
                  <a:close/>
                </a:path>
              </a:pathLst>
            </a:custGeom>
            <a:solidFill>
              <a:srgbClr val="1A1F33"/>
            </a:solidFill>
          </p:spPr>
          <p:txBody>
            <a:bodyPr/>
            <a:lstStyle/>
            <a:p>
              <a:endParaRPr lang="es-GT"/>
            </a:p>
          </p:txBody>
        </p:sp>
        <p:sp>
          <p:nvSpPr>
            <p:cNvPr id="51" name="Freeform 51"/>
            <p:cNvSpPr/>
            <p:nvPr/>
          </p:nvSpPr>
          <p:spPr>
            <a:xfrm>
              <a:off x="0" y="0"/>
              <a:ext cx="7105142" cy="1374902"/>
            </a:xfrm>
            <a:custGeom>
              <a:avLst/>
              <a:gdLst/>
              <a:ahLst/>
              <a:cxnLst/>
              <a:rect l="l" t="t" r="r" b="b"/>
              <a:pathLst>
                <a:path w="7105142" h="1374902">
                  <a:moveTo>
                    <a:pt x="16891" y="0"/>
                  </a:moveTo>
                  <a:lnTo>
                    <a:pt x="7088251" y="0"/>
                  </a:lnTo>
                  <a:cubicBezTo>
                    <a:pt x="7097649" y="0"/>
                    <a:pt x="7105142" y="7620"/>
                    <a:pt x="7105142" y="16891"/>
                  </a:cubicBezTo>
                  <a:lnTo>
                    <a:pt x="7105142" y="1358011"/>
                  </a:lnTo>
                  <a:cubicBezTo>
                    <a:pt x="7105142" y="1367409"/>
                    <a:pt x="7097522" y="1374902"/>
                    <a:pt x="708825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7088251" y="1341120"/>
                  </a:lnTo>
                  <a:lnTo>
                    <a:pt x="7088251" y="1358011"/>
                  </a:lnTo>
                  <a:lnTo>
                    <a:pt x="7071360" y="1358011"/>
                  </a:lnTo>
                  <a:lnTo>
                    <a:pt x="7071360" y="16891"/>
                  </a:lnTo>
                  <a:lnTo>
                    <a:pt x="7088251" y="16891"/>
                  </a:lnTo>
                  <a:lnTo>
                    <a:pt x="7088251" y="33909"/>
                  </a:lnTo>
                  <a:lnTo>
                    <a:pt x="16891" y="33909"/>
                  </a:lnTo>
                  <a:close/>
                </a:path>
              </a:pathLst>
            </a:custGeom>
            <a:solidFill>
              <a:srgbClr val="E8A87C"/>
            </a:solidFill>
          </p:spPr>
          <p:txBody>
            <a:bodyPr/>
            <a:lstStyle/>
            <a:p>
              <a:endParaRPr lang="es-GT"/>
            </a:p>
          </p:txBody>
        </p:sp>
      </p:grpSp>
      <p:grpSp>
        <p:nvGrpSpPr>
          <p:cNvPr id="52" name="Group 52"/>
          <p:cNvGrpSpPr/>
          <p:nvPr/>
        </p:nvGrpSpPr>
        <p:grpSpPr>
          <a:xfrm>
            <a:off x="11521435" y="2451097"/>
            <a:ext cx="5303520" cy="1005840"/>
            <a:chOff x="0" y="0"/>
            <a:chExt cx="7071360" cy="1341120"/>
          </a:xfrm>
        </p:grpSpPr>
        <p:sp>
          <p:nvSpPr>
            <p:cNvPr id="53" name="Freeform 53"/>
            <p:cNvSpPr/>
            <p:nvPr/>
          </p:nvSpPr>
          <p:spPr>
            <a:xfrm>
              <a:off x="0" y="0"/>
              <a:ext cx="7071360" cy="1341120"/>
            </a:xfrm>
            <a:custGeom>
              <a:avLst/>
              <a:gdLst/>
              <a:ahLst/>
              <a:cxnLst/>
              <a:rect l="l" t="t" r="r" b="b"/>
              <a:pathLst>
                <a:path w="7071360" h="1341120">
                  <a:moveTo>
                    <a:pt x="0" y="0"/>
                  </a:moveTo>
                  <a:lnTo>
                    <a:pt x="7071360" y="0"/>
                  </a:lnTo>
                  <a:lnTo>
                    <a:pt x="7071360" y="1341120"/>
                  </a:lnTo>
                  <a:lnTo>
                    <a:pt x="0" y="1341120"/>
                  </a:lnTo>
                  <a:close/>
                </a:path>
              </a:pathLst>
            </a:custGeom>
            <a:blipFill>
              <a:blip r:embed="rId3">
                <a:alphaModFix amt="0"/>
              </a:blip>
              <a:stretch>
                <a:fillRect t="-52739" b="-52739"/>
              </a:stretch>
            </a:blipFill>
          </p:spPr>
          <p:txBody>
            <a:bodyPr/>
            <a:lstStyle/>
            <a:p>
              <a:endParaRPr lang="es-GT"/>
            </a:p>
          </p:txBody>
        </p:sp>
        <p:sp>
          <p:nvSpPr>
            <p:cNvPr id="54" name="TextBox 54"/>
            <p:cNvSpPr txBox="1"/>
            <p:nvPr/>
          </p:nvSpPr>
          <p:spPr>
            <a:xfrm>
              <a:off x="0" y="-57150"/>
              <a:ext cx="7071360" cy="1398270"/>
            </a:xfrm>
            <a:prstGeom prst="rect">
              <a:avLst/>
            </a:prstGeom>
          </p:spPr>
          <p:txBody>
            <a:bodyPr lIns="0" tIns="0" rIns="0" bIns="0" rtlCol="0" anchor="ctr"/>
            <a:lstStyle/>
            <a:p>
              <a:pPr algn="ctr">
                <a:lnSpc>
                  <a:spcPts val="3120"/>
                </a:lnSpc>
              </a:pPr>
              <a:r>
                <a:rPr lang="en-US" sz="2600" b="1">
                  <a:solidFill>
                    <a:srgbClr val="E8A87C"/>
                  </a:solidFill>
                  <a:latin typeface="Calibri (MS) Bold"/>
                  <a:ea typeface="Calibri (MS) Bold"/>
                  <a:cs typeface="Calibri (MS) Bold"/>
                  <a:sym typeface="Calibri (MS) Bold"/>
                </a:rPr>
                <a:t>SALIDA</a:t>
              </a:r>
            </a:p>
          </p:txBody>
        </p:sp>
      </p:grpSp>
      <p:grpSp>
        <p:nvGrpSpPr>
          <p:cNvPr id="55" name="Group 55"/>
          <p:cNvGrpSpPr/>
          <p:nvPr/>
        </p:nvGrpSpPr>
        <p:grpSpPr>
          <a:xfrm>
            <a:off x="11521435" y="3548377"/>
            <a:ext cx="5303520" cy="640080"/>
            <a:chOff x="0" y="0"/>
            <a:chExt cx="7071360" cy="853440"/>
          </a:xfrm>
        </p:grpSpPr>
        <p:sp>
          <p:nvSpPr>
            <p:cNvPr id="56" name="Freeform 56"/>
            <p:cNvSpPr/>
            <p:nvPr/>
          </p:nvSpPr>
          <p:spPr>
            <a:xfrm>
              <a:off x="0" y="0"/>
              <a:ext cx="7071360" cy="853440"/>
            </a:xfrm>
            <a:custGeom>
              <a:avLst/>
              <a:gdLst/>
              <a:ahLst/>
              <a:cxnLst/>
              <a:rect l="l" t="t" r="r" b="b"/>
              <a:pathLst>
                <a:path w="7071360" h="853440">
                  <a:moveTo>
                    <a:pt x="0" y="0"/>
                  </a:moveTo>
                  <a:lnTo>
                    <a:pt x="7071360" y="0"/>
                  </a:lnTo>
                  <a:lnTo>
                    <a:pt x="7071360" y="853440"/>
                  </a:lnTo>
                  <a:lnTo>
                    <a:pt x="0" y="853440"/>
                  </a:lnTo>
                  <a:close/>
                </a:path>
              </a:pathLst>
            </a:custGeom>
            <a:blipFill>
              <a:blip r:embed="rId3">
                <a:alphaModFix amt="0"/>
              </a:blip>
              <a:stretch>
                <a:fillRect t="-111447" b="-111447"/>
              </a:stretch>
            </a:blipFill>
          </p:spPr>
          <p:txBody>
            <a:bodyPr/>
            <a:lstStyle/>
            <a:p>
              <a:endParaRPr lang="es-GT"/>
            </a:p>
          </p:txBody>
        </p:sp>
        <p:sp>
          <p:nvSpPr>
            <p:cNvPr id="57" name="TextBox 57"/>
            <p:cNvSpPr txBox="1"/>
            <p:nvPr/>
          </p:nvSpPr>
          <p:spPr>
            <a:xfrm>
              <a:off x="0" y="-38100"/>
              <a:ext cx="7071360" cy="891540"/>
            </a:xfrm>
            <a:prstGeom prst="rect">
              <a:avLst/>
            </a:prstGeom>
          </p:spPr>
          <p:txBody>
            <a:bodyPr lIns="0" tIns="0" rIns="0" bIns="0" rtlCol="0" anchor="ctr"/>
            <a:lstStyle/>
            <a:p>
              <a:pPr algn="ctr">
                <a:lnSpc>
                  <a:spcPts val="2400"/>
                </a:lnSpc>
              </a:pPr>
              <a:r>
                <a:rPr lang="en-US" sz="2000">
                  <a:solidFill>
                    <a:srgbClr val="B0B8CC"/>
                  </a:solidFill>
                  <a:latin typeface="Calibri (MS)"/>
                  <a:ea typeface="Calibri (MS)"/>
                  <a:cs typeface="Calibri (MS)"/>
                  <a:sym typeface="Calibri (MS)"/>
                </a:rPr>
                <a:t>OUTPUT</a:t>
              </a:r>
            </a:p>
          </p:txBody>
        </p:sp>
      </p:grpSp>
      <p:sp>
        <p:nvSpPr>
          <p:cNvPr id="58" name="TextBox 58"/>
          <p:cNvSpPr txBox="1"/>
          <p:nvPr/>
        </p:nvSpPr>
        <p:spPr>
          <a:xfrm>
            <a:off x="11887195" y="4313806"/>
            <a:ext cx="4572000" cy="1743075"/>
          </a:xfrm>
          <a:prstGeom prst="rect">
            <a:avLst/>
          </a:prstGeom>
        </p:spPr>
        <p:txBody>
          <a:bodyPr lIns="0" tIns="0" rIns="0" bIns="0" rtlCol="0" anchor="t">
            <a:spAutoFit/>
          </a:bodyPr>
          <a:lstStyle/>
          <a:p>
            <a:pPr algn="l">
              <a:lnSpc>
                <a:spcPts val="3359"/>
              </a:lnSpc>
            </a:pPr>
            <a:r>
              <a:rPr lang="en-US" sz="2799">
                <a:solidFill>
                  <a:srgbClr val="FFFFFF"/>
                </a:solidFill>
                <a:latin typeface="Calibri (MS)"/>
                <a:ea typeface="Calibri (MS)"/>
                <a:cs typeface="Calibri (MS)"/>
                <a:sym typeface="Calibri (MS)"/>
              </a:rPr>
              <a:t>Resultado producido por el algoritmo: valores en pantalla, archivos generados, acciones ejecutadas, señales enviadas.</a:t>
            </a:r>
          </a:p>
        </p:txBody>
      </p:sp>
      <p:grpSp>
        <p:nvGrpSpPr>
          <p:cNvPr id="59" name="Group 59"/>
          <p:cNvGrpSpPr/>
          <p:nvPr/>
        </p:nvGrpSpPr>
        <p:grpSpPr>
          <a:xfrm>
            <a:off x="6924032" y="4528814"/>
            <a:ext cx="782317" cy="50797"/>
            <a:chOff x="0" y="0"/>
            <a:chExt cx="1043089" cy="67729"/>
          </a:xfrm>
        </p:grpSpPr>
        <p:sp>
          <p:nvSpPr>
            <p:cNvPr id="60" name="Freeform 60"/>
            <p:cNvSpPr/>
            <p:nvPr/>
          </p:nvSpPr>
          <p:spPr>
            <a:xfrm>
              <a:off x="33909" y="0"/>
              <a:ext cx="975360" cy="67691"/>
            </a:xfrm>
            <a:custGeom>
              <a:avLst/>
              <a:gdLst/>
              <a:ahLst/>
              <a:cxnLst/>
              <a:rect l="l" t="t" r="r" b="b"/>
              <a:pathLst>
                <a:path w="975360" h="67691">
                  <a:moveTo>
                    <a:pt x="0" y="0"/>
                  </a:moveTo>
                  <a:lnTo>
                    <a:pt x="975360" y="0"/>
                  </a:lnTo>
                  <a:lnTo>
                    <a:pt x="975360" y="67691"/>
                  </a:lnTo>
                  <a:lnTo>
                    <a:pt x="0" y="67691"/>
                  </a:lnTo>
                  <a:close/>
                </a:path>
              </a:pathLst>
            </a:custGeom>
            <a:solidFill>
              <a:srgbClr val="B0B8CC"/>
            </a:solidFill>
          </p:spPr>
          <p:txBody>
            <a:bodyPr/>
            <a:lstStyle/>
            <a:p>
              <a:endParaRPr lang="es-GT"/>
            </a:p>
          </p:txBody>
        </p:sp>
      </p:grpSp>
      <p:grpSp>
        <p:nvGrpSpPr>
          <p:cNvPr id="61" name="Group 61"/>
          <p:cNvGrpSpPr/>
          <p:nvPr/>
        </p:nvGrpSpPr>
        <p:grpSpPr>
          <a:xfrm>
            <a:off x="7498075" y="4389625"/>
            <a:ext cx="548640" cy="548640"/>
            <a:chOff x="0" y="0"/>
            <a:chExt cx="731520" cy="731520"/>
          </a:xfrm>
        </p:grpSpPr>
        <p:sp>
          <p:nvSpPr>
            <p:cNvPr id="62" name="Freeform 62"/>
            <p:cNvSpPr/>
            <p:nvPr/>
          </p:nvSpPr>
          <p:spPr>
            <a:xfrm>
              <a:off x="0" y="0"/>
              <a:ext cx="731520" cy="731520"/>
            </a:xfrm>
            <a:custGeom>
              <a:avLst/>
              <a:gdLst/>
              <a:ahLst/>
              <a:cxnLst/>
              <a:rect l="l" t="t" r="r" b="b"/>
              <a:pathLst>
                <a:path w="731520" h="731520">
                  <a:moveTo>
                    <a:pt x="0" y="0"/>
                  </a:moveTo>
                  <a:lnTo>
                    <a:pt x="731520" y="0"/>
                  </a:lnTo>
                  <a:lnTo>
                    <a:pt x="731520" y="731520"/>
                  </a:lnTo>
                  <a:lnTo>
                    <a:pt x="0" y="731520"/>
                  </a:lnTo>
                  <a:close/>
                </a:path>
              </a:pathLst>
            </a:custGeom>
            <a:blipFill>
              <a:blip r:embed="rId3">
                <a:alphaModFix amt="0"/>
              </a:blip>
              <a:stretch>
                <a:fillRect l="-78303" r="-78303"/>
              </a:stretch>
            </a:blipFill>
          </p:spPr>
          <p:txBody>
            <a:bodyPr/>
            <a:lstStyle/>
            <a:p>
              <a:endParaRPr lang="es-GT"/>
            </a:p>
          </p:txBody>
        </p:sp>
        <p:sp>
          <p:nvSpPr>
            <p:cNvPr id="63" name="TextBox 63"/>
            <p:cNvSpPr txBox="1"/>
            <p:nvPr/>
          </p:nvSpPr>
          <p:spPr>
            <a:xfrm>
              <a:off x="0" y="-57150"/>
              <a:ext cx="731520" cy="788670"/>
            </a:xfrm>
            <a:prstGeom prst="rect">
              <a:avLst/>
            </a:prstGeom>
          </p:spPr>
          <p:txBody>
            <a:bodyPr lIns="0" tIns="0" rIns="0" bIns="0" rtlCol="0" anchor="ctr"/>
            <a:lstStyle/>
            <a:p>
              <a:pPr algn="l">
                <a:lnSpc>
                  <a:spcPts val="3120"/>
                </a:lnSpc>
              </a:pPr>
              <a:r>
                <a:rPr lang="en-US" sz="2600">
                  <a:solidFill>
                    <a:srgbClr val="B0B8CC"/>
                  </a:solidFill>
                  <a:latin typeface="Calibri (MS)"/>
                  <a:ea typeface="Calibri (MS)"/>
                  <a:cs typeface="Calibri (MS)"/>
                  <a:sym typeface="Calibri (MS)"/>
                </a:rPr>
                <a:t>▶</a:t>
              </a:r>
            </a:p>
          </p:txBody>
        </p:sp>
      </p:grpSp>
      <p:grpSp>
        <p:nvGrpSpPr>
          <p:cNvPr id="64" name="Group 64"/>
          <p:cNvGrpSpPr/>
          <p:nvPr/>
        </p:nvGrpSpPr>
        <p:grpSpPr>
          <a:xfrm>
            <a:off x="11953232" y="4528814"/>
            <a:ext cx="782317" cy="50797"/>
            <a:chOff x="0" y="0"/>
            <a:chExt cx="1043089" cy="67729"/>
          </a:xfrm>
        </p:grpSpPr>
        <p:sp>
          <p:nvSpPr>
            <p:cNvPr id="65" name="Freeform 65"/>
            <p:cNvSpPr/>
            <p:nvPr/>
          </p:nvSpPr>
          <p:spPr>
            <a:xfrm>
              <a:off x="33909" y="0"/>
              <a:ext cx="975360" cy="67691"/>
            </a:xfrm>
            <a:custGeom>
              <a:avLst/>
              <a:gdLst/>
              <a:ahLst/>
              <a:cxnLst/>
              <a:rect l="l" t="t" r="r" b="b"/>
              <a:pathLst>
                <a:path w="975360" h="67691">
                  <a:moveTo>
                    <a:pt x="0" y="0"/>
                  </a:moveTo>
                  <a:lnTo>
                    <a:pt x="975360" y="0"/>
                  </a:lnTo>
                  <a:lnTo>
                    <a:pt x="975360" y="67691"/>
                  </a:lnTo>
                  <a:lnTo>
                    <a:pt x="0" y="67691"/>
                  </a:lnTo>
                  <a:close/>
                </a:path>
              </a:pathLst>
            </a:custGeom>
            <a:solidFill>
              <a:srgbClr val="B0B8CC"/>
            </a:solidFill>
          </p:spPr>
          <p:txBody>
            <a:bodyPr/>
            <a:lstStyle/>
            <a:p>
              <a:endParaRPr lang="es-GT"/>
            </a:p>
          </p:txBody>
        </p:sp>
      </p:grpSp>
      <p:grpSp>
        <p:nvGrpSpPr>
          <p:cNvPr id="66" name="Group 66"/>
          <p:cNvGrpSpPr/>
          <p:nvPr/>
        </p:nvGrpSpPr>
        <p:grpSpPr>
          <a:xfrm>
            <a:off x="12527275" y="4389625"/>
            <a:ext cx="548640" cy="548640"/>
            <a:chOff x="0" y="0"/>
            <a:chExt cx="731520" cy="731520"/>
          </a:xfrm>
        </p:grpSpPr>
        <p:sp>
          <p:nvSpPr>
            <p:cNvPr id="67" name="Freeform 67"/>
            <p:cNvSpPr/>
            <p:nvPr/>
          </p:nvSpPr>
          <p:spPr>
            <a:xfrm>
              <a:off x="0" y="0"/>
              <a:ext cx="731520" cy="731520"/>
            </a:xfrm>
            <a:custGeom>
              <a:avLst/>
              <a:gdLst/>
              <a:ahLst/>
              <a:cxnLst/>
              <a:rect l="l" t="t" r="r" b="b"/>
              <a:pathLst>
                <a:path w="731520" h="731520">
                  <a:moveTo>
                    <a:pt x="0" y="0"/>
                  </a:moveTo>
                  <a:lnTo>
                    <a:pt x="731520" y="0"/>
                  </a:lnTo>
                  <a:lnTo>
                    <a:pt x="731520" y="731520"/>
                  </a:lnTo>
                  <a:lnTo>
                    <a:pt x="0" y="731520"/>
                  </a:lnTo>
                  <a:close/>
                </a:path>
              </a:pathLst>
            </a:custGeom>
            <a:blipFill>
              <a:blip r:embed="rId3">
                <a:alphaModFix amt="0"/>
              </a:blip>
              <a:stretch>
                <a:fillRect l="-78303" r="-78303"/>
              </a:stretch>
            </a:blipFill>
          </p:spPr>
          <p:txBody>
            <a:bodyPr/>
            <a:lstStyle/>
            <a:p>
              <a:endParaRPr lang="es-GT"/>
            </a:p>
          </p:txBody>
        </p:sp>
        <p:sp>
          <p:nvSpPr>
            <p:cNvPr id="68" name="TextBox 68"/>
            <p:cNvSpPr txBox="1"/>
            <p:nvPr/>
          </p:nvSpPr>
          <p:spPr>
            <a:xfrm>
              <a:off x="0" y="-57150"/>
              <a:ext cx="731520" cy="788670"/>
            </a:xfrm>
            <a:prstGeom prst="rect">
              <a:avLst/>
            </a:prstGeom>
          </p:spPr>
          <p:txBody>
            <a:bodyPr lIns="0" tIns="0" rIns="0" bIns="0" rtlCol="0" anchor="ctr"/>
            <a:lstStyle/>
            <a:p>
              <a:pPr algn="l">
                <a:lnSpc>
                  <a:spcPts val="3120"/>
                </a:lnSpc>
              </a:pPr>
              <a:r>
                <a:rPr lang="en-US" sz="2600">
                  <a:solidFill>
                    <a:srgbClr val="B0B8CC"/>
                  </a:solidFill>
                  <a:latin typeface="Calibri (MS)"/>
                  <a:ea typeface="Calibri (MS)"/>
                  <a:cs typeface="Calibri (MS)"/>
                  <a:sym typeface="Calibri (MS)"/>
                </a:rPr>
                <a:t>▶</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E2235"/>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16891" y="16891"/>
              <a:ext cx="24383999" cy="1755648"/>
            </a:xfrm>
            <a:custGeom>
              <a:avLst/>
              <a:gdLst/>
              <a:ahLst/>
              <a:cxnLst/>
              <a:rect l="l" t="t" r="r" b="b"/>
              <a:pathLst>
                <a:path w="24383999" h="1755648">
                  <a:moveTo>
                    <a:pt x="0" y="0"/>
                  </a:moveTo>
                  <a:lnTo>
                    <a:pt x="24383999" y="0"/>
                  </a:lnTo>
                  <a:lnTo>
                    <a:pt x="24383999" y="1755648"/>
                  </a:lnTo>
                  <a:lnTo>
                    <a:pt x="0" y="1755648"/>
                  </a:lnTo>
                  <a:close/>
                </a:path>
              </a:pathLst>
            </a:custGeom>
            <a:solidFill>
              <a:srgbClr val="161929"/>
            </a:solidFill>
          </p:spPr>
          <p:txBody>
            <a:bodyPr/>
            <a:lstStyle/>
            <a:p>
              <a:endParaRPr lang="es-GT"/>
            </a:p>
          </p:txBody>
        </p:sp>
        <p:sp>
          <p:nvSpPr>
            <p:cNvPr id="4" name="Freeform 4"/>
            <p:cNvSpPr/>
            <p:nvPr/>
          </p:nvSpPr>
          <p:spPr>
            <a:xfrm>
              <a:off x="0" y="0"/>
              <a:ext cx="24417782" cy="1789430"/>
            </a:xfrm>
            <a:custGeom>
              <a:avLst/>
              <a:gdLst/>
              <a:ahLst/>
              <a:cxnLst/>
              <a:rect l="l" t="t" r="r" b="b"/>
              <a:pathLst>
                <a:path w="24417782" h="1789430">
                  <a:moveTo>
                    <a:pt x="16891" y="0"/>
                  </a:moveTo>
                  <a:lnTo>
                    <a:pt x="24400890" y="0"/>
                  </a:lnTo>
                  <a:cubicBezTo>
                    <a:pt x="24410290" y="0"/>
                    <a:pt x="24417782" y="7620"/>
                    <a:pt x="24417782" y="16891"/>
                  </a:cubicBezTo>
                  <a:lnTo>
                    <a:pt x="24417782" y="1772539"/>
                  </a:lnTo>
                  <a:cubicBezTo>
                    <a:pt x="24417782" y="1781937"/>
                    <a:pt x="24410163" y="1789430"/>
                    <a:pt x="24400890"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24400890" y="1755648"/>
                  </a:lnTo>
                  <a:lnTo>
                    <a:pt x="24400890" y="1772539"/>
                  </a:lnTo>
                  <a:lnTo>
                    <a:pt x="24384000" y="1772539"/>
                  </a:lnTo>
                  <a:lnTo>
                    <a:pt x="24384000" y="16891"/>
                  </a:lnTo>
                  <a:lnTo>
                    <a:pt x="24400890" y="16891"/>
                  </a:lnTo>
                  <a:lnTo>
                    <a:pt x="24400890" y="33909"/>
                  </a:lnTo>
                  <a:lnTo>
                    <a:pt x="16891" y="33909"/>
                  </a:lnTo>
                  <a:close/>
                </a:path>
              </a:pathLst>
            </a:custGeom>
            <a:solidFill>
              <a:srgbClr val="161929"/>
            </a:solidFill>
          </p:spPr>
          <p:txBody>
            <a:bodyPr/>
            <a:lstStyle/>
            <a:p>
              <a:endParaRPr lang="es-GT"/>
            </a:p>
          </p:txBody>
        </p:sp>
      </p:grpSp>
      <p:grpSp>
        <p:nvGrpSpPr>
          <p:cNvPr id="5" name="Group 5"/>
          <p:cNvGrpSpPr/>
          <p:nvPr/>
        </p:nvGrpSpPr>
        <p:grpSpPr>
          <a:xfrm>
            <a:off x="-12697" y="1304039"/>
            <a:ext cx="18313403" cy="98555"/>
            <a:chOff x="0" y="0"/>
            <a:chExt cx="24417871" cy="131407"/>
          </a:xfrm>
        </p:grpSpPr>
        <p:sp>
          <p:nvSpPr>
            <p:cNvPr id="6" name="Freeform 6"/>
            <p:cNvSpPr/>
            <p:nvPr/>
          </p:nvSpPr>
          <p:spPr>
            <a:xfrm>
              <a:off x="16891" y="16891"/>
              <a:ext cx="24383999" cy="97536"/>
            </a:xfrm>
            <a:custGeom>
              <a:avLst/>
              <a:gdLst/>
              <a:ahLst/>
              <a:cxnLst/>
              <a:rect l="l" t="t" r="r" b="b"/>
              <a:pathLst>
                <a:path w="24383999" h="97536">
                  <a:moveTo>
                    <a:pt x="0" y="0"/>
                  </a:moveTo>
                  <a:lnTo>
                    <a:pt x="24383999" y="0"/>
                  </a:lnTo>
                  <a:lnTo>
                    <a:pt x="24383999" y="97536"/>
                  </a:lnTo>
                  <a:lnTo>
                    <a:pt x="0" y="97536"/>
                  </a:lnTo>
                  <a:close/>
                </a:path>
              </a:pathLst>
            </a:custGeom>
            <a:solidFill>
              <a:srgbClr val="5B8CFF"/>
            </a:solidFill>
          </p:spPr>
          <p:txBody>
            <a:bodyPr/>
            <a:lstStyle/>
            <a:p>
              <a:endParaRPr lang="es-GT"/>
            </a:p>
          </p:txBody>
        </p:sp>
        <p:sp>
          <p:nvSpPr>
            <p:cNvPr id="7" name="Freeform 7"/>
            <p:cNvSpPr/>
            <p:nvPr/>
          </p:nvSpPr>
          <p:spPr>
            <a:xfrm>
              <a:off x="0" y="0"/>
              <a:ext cx="24417782" cy="131320"/>
            </a:xfrm>
            <a:custGeom>
              <a:avLst/>
              <a:gdLst/>
              <a:ahLst/>
              <a:cxnLst/>
              <a:rect l="l" t="t" r="r" b="b"/>
              <a:pathLst>
                <a:path w="24417782" h="131320">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5B8CFF"/>
            </a:solidFill>
          </p:spPr>
          <p:txBody>
            <a:bodyPr/>
            <a:lstStyle/>
            <a:p>
              <a:endParaRPr lang="es-GT"/>
            </a:p>
          </p:txBody>
        </p:sp>
      </p:grpSp>
      <p:grpSp>
        <p:nvGrpSpPr>
          <p:cNvPr id="8" name="Group 8"/>
          <p:cNvGrpSpPr/>
          <p:nvPr/>
        </p:nvGrpSpPr>
        <p:grpSpPr>
          <a:xfrm>
            <a:off x="822960" y="0"/>
            <a:ext cx="16642080" cy="1316736"/>
            <a:chOff x="0" y="0"/>
            <a:chExt cx="22189440" cy="1755648"/>
          </a:xfrm>
        </p:grpSpPr>
        <p:sp>
          <p:nvSpPr>
            <p:cNvPr id="9" name="Freeform 9"/>
            <p:cNvSpPr/>
            <p:nvPr/>
          </p:nvSpPr>
          <p:spPr>
            <a:xfrm>
              <a:off x="0" y="0"/>
              <a:ext cx="22189439" cy="1755648"/>
            </a:xfrm>
            <a:custGeom>
              <a:avLst/>
              <a:gdLst/>
              <a:ahLst/>
              <a:cxnLst/>
              <a:rect l="l" t="t" r="r" b="b"/>
              <a:pathLst>
                <a:path w="22189439" h="1755648">
                  <a:moveTo>
                    <a:pt x="0" y="0"/>
                  </a:moveTo>
                  <a:lnTo>
                    <a:pt x="22189439" y="0"/>
                  </a:lnTo>
                  <a:lnTo>
                    <a:pt x="22189439" y="1755648"/>
                  </a:lnTo>
                  <a:lnTo>
                    <a:pt x="0" y="1755648"/>
                  </a:lnTo>
                  <a:close/>
                </a:path>
              </a:pathLst>
            </a:custGeom>
            <a:blipFill>
              <a:blip r:embed="rId3">
                <a:alphaModFix amt="0"/>
              </a:blip>
              <a:stretch>
                <a:fillRect t="-196269" b="-196269"/>
              </a:stretch>
            </a:blipFill>
          </p:spPr>
          <p:txBody>
            <a:bodyPr/>
            <a:lstStyle/>
            <a:p>
              <a:endParaRPr lang="es-GT"/>
            </a:p>
          </p:txBody>
        </p:sp>
        <p:sp>
          <p:nvSpPr>
            <p:cNvPr id="10" name="TextBox 10"/>
            <p:cNvSpPr txBox="1"/>
            <p:nvPr/>
          </p:nvSpPr>
          <p:spPr>
            <a:xfrm>
              <a:off x="0" y="-76200"/>
              <a:ext cx="22189440" cy="1831848"/>
            </a:xfrm>
            <a:prstGeom prst="rect">
              <a:avLst/>
            </a:prstGeom>
          </p:spPr>
          <p:txBody>
            <a:bodyPr lIns="0" tIns="0" rIns="0" bIns="0" rtlCol="0" anchor="ctr"/>
            <a:lstStyle/>
            <a:p>
              <a:pPr algn="l">
                <a:lnSpc>
                  <a:spcPts val="5280"/>
                </a:lnSpc>
              </a:pPr>
              <a:r>
                <a:rPr lang="en-US" sz="4400" b="1">
                  <a:solidFill>
                    <a:srgbClr val="FFFFFF"/>
                  </a:solidFill>
                  <a:latin typeface="Calibri (MS) Bold"/>
                  <a:ea typeface="Calibri (MS) Bold"/>
                  <a:cs typeface="Calibri (MS) Bold"/>
                  <a:sym typeface="Calibri (MS) Bold"/>
                </a:rPr>
                <a:t>Variables y tipos de datos en el flujo</a:t>
              </a:r>
            </a:p>
          </p:txBody>
        </p:sp>
      </p:grpSp>
      <p:grpSp>
        <p:nvGrpSpPr>
          <p:cNvPr id="11" name="Group 11"/>
          <p:cNvGrpSpPr/>
          <p:nvPr/>
        </p:nvGrpSpPr>
        <p:grpSpPr>
          <a:xfrm>
            <a:off x="-12697" y="9954263"/>
            <a:ext cx="18313403" cy="345443"/>
            <a:chOff x="0" y="0"/>
            <a:chExt cx="24417871" cy="460591"/>
          </a:xfrm>
        </p:grpSpPr>
        <p:sp>
          <p:nvSpPr>
            <p:cNvPr id="12" name="Freeform 12"/>
            <p:cNvSpPr/>
            <p:nvPr/>
          </p:nvSpPr>
          <p:spPr>
            <a:xfrm>
              <a:off x="16891" y="16891"/>
              <a:ext cx="24383999" cy="426720"/>
            </a:xfrm>
            <a:custGeom>
              <a:avLst/>
              <a:gdLst/>
              <a:ahLst/>
              <a:cxnLst/>
              <a:rect l="l" t="t" r="r" b="b"/>
              <a:pathLst>
                <a:path w="24383999" h="426720">
                  <a:moveTo>
                    <a:pt x="0" y="0"/>
                  </a:moveTo>
                  <a:lnTo>
                    <a:pt x="24383999" y="0"/>
                  </a:lnTo>
                  <a:lnTo>
                    <a:pt x="24383999" y="426720"/>
                  </a:lnTo>
                  <a:lnTo>
                    <a:pt x="0" y="426720"/>
                  </a:lnTo>
                  <a:close/>
                </a:path>
              </a:pathLst>
            </a:custGeom>
            <a:solidFill>
              <a:srgbClr val="12152A"/>
            </a:solidFill>
          </p:spPr>
          <p:txBody>
            <a:bodyPr/>
            <a:lstStyle/>
            <a:p>
              <a:endParaRPr lang="es-GT"/>
            </a:p>
          </p:txBody>
        </p:sp>
        <p:sp>
          <p:nvSpPr>
            <p:cNvPr id="13" name="Freeform 13"/>
            <p:cNvSpPr/>
            <p:nvPr/>
          </p:nvSpPr>
          <p:spPr>
            <a:xfrm>
              <a:off x="0" y="0"/>
              <a:ext cx="24417782" cy="460504"/>
            </a:xfrm>
            <a:custGeom>
              <a:avLst/>
              <a:gdLst/>
              <a:ahLst/>
              <a:cxnLst/>
              <a:rect l="l" t="t" r="r" b="b"/>
              <a:pathLst>
                <a:path w="24417782" h="460504">
                  <a:moveTo>
                    <a:pt x="16891" y="0"/>
                  </a:moveTo>
                  <a:lnTo>
                    <a:pt x="24400890" y="0"/>
                  </a:lnTo>
                  <a:cubicBezTo>
                    <a:pt x="24410290" y="0"/>
                    <a:pt x="24417782" y="7620"/>
                    <a:pt x="24417782" y="16891"/>
                  </a:cubicBezTo>
                  <a:lnTo>
                    <a:pt x="24417782" y="443611"/>
                  </a:lnTo>
                  <a:cubicBezTo>
                    <a:pt x="24417782" y="453009"/>
                    <a:pt x="24410163" y="460502"/>
                    <a:pt x="24400890" y="460502"/>
                  </a:cubicBezTo>
                  <a:lnTo>
                    <a:pt x="16891" y="460502"/>
                  </a:lnTo>
                  <a:cubicBezTo>
                    <a:pt x="7620" y="460629"/>
                    <a:pt x="0" y="453009"/>
                    <a:pt x="0" y="443611"/>
                  </a:cubicBezTo>
                  <a:lnTo>
                    <a:pt x="0" y="16891"/>
                  </a:lnTo>
                  <a:cubicBezTo>
                    <a:pt x="0" y="7620"/>
                    <a:pt x="7620" y="0"/>
                    <a:pt x="16891" y="0"/>
                  </a:cubicBezTo>
                  <a:moveTo>
                    <a:pt x="16891" y="33909"/>
                  </a:moveTo>
                  <a:lnTo>
                    <a:pt x="16891" y="16891"/>
                  </a:lnTo>
                  <a:lnTo>
                    <a:pt x="33909" y="16891"/>
                  </a:lnTo>
                  <a:lnTo>
                    <a:pt x="33909" y="443611"/>
                  </a:lnTo>
                  <a:lnTo>
                    <a:pt x="16891" y="443611"/>
                  </a:lnTo>
                  <a:lnTo>
                    <a:pt x="16891" y="426720"/>
                  </a:lnTo>
                  <a:lnTo>
                    <a:pt x="24400890" y="426720"/>
                  </a:lnTo>
                  <a:lnTo>
                    <a:pt x="24400890" y="443611"/>
                  </a:lnTo>
                  <a:lnTo>
                    <a:pt x="24384000" y="443611"/>
                  </a:lnTo>
                  <a:lnTo>
                    <a:pt x="24384000" y="16891"/>
                  </a:lnTo>
                  <a:lnTo>
                    <a:pt x="24400890" y="16891"/>
                  </a:lnTo>
                  <a:lnTo>
                    <a:pt x="24400890" y="33909"/>
                  </a:lnTo>
                  <a:lnTo>
                    <a:pt x="16891" y="33909"/>
                  </a:lnTo>
                  <a:close/>
                </a:path>
              </a:pathLst>
            </a:custGeom>
            <a:solidFill>
              <a:srgbClr val="12152A"/>
            </a:solidFill>
          </p:spPr>
          <p:txBody>
            <a:bodyPr/>
            <a:lstStyle/>
            <a:p>
              <a:endParaRPr lang="es-GT"/>
            </a:p>
          </p:txBody>
        </p:sp>
      </p:grpSp>
      <p:grpSp>
        <p:nvGrpSpPr>
          <p:cNvPr id="14" name="Group 14"/>
          <p:cNvGrpSpPr/>
          <p:nvPr/>
        </p:nvGrpSpPr>
        <p:grpSpPr>
          <a:xfrm>
            <a:off x="17007840" y="9966960"/>
            <a:ext cx="914400" cy="320040"/>
            <a:chOff x="0" y="0"/>
            <a:chExt cx="1219200" cy="426720"/>
          </a:xfrm>
        </p:grpSpPr>
        <p:sp>
          <p:nvSpPr>
            <p:cNvPr id="15" name="Freeform 15"/>
            <p:cNvSpPr/>
            <p:nvPr/>
          </p:nvSpPr>
          <p:spPr>
            <a:xfrm>
              <a:off x="0" y="0"/>
              <a:ext cx="1219200" cy="426720"/>
            </a:xfrm>
            <a:custGeom>
              <a:avLst/>
              <a:gdLst/>
              <a:ahLst/>
              <a:cxnLst/>
              <a:rect l="l" t="t" r="r" b="b"/>
              <a:pathLst>
                <a:path w="1219200" h="426720">
                  <a:moveTo>
                    <a:pt x="0" y="0"/>
                  </a:moveTo>
                  <a:lnTo>
                    <a:pt x="1219200" y="0"/>
                  </a:lnTo>
                  <a:lnTo>
                    <a:pt x="1219200" y="426720"/>
                  </a:lnTo>
                  <a:lnTo>
                    <a:pt x="0" y="426720"/>
                  </a:lnTo>
                  <a:close/>
                </a:path>
              </a:pathLst>
            </a:custGeom>
            <a:blipFill>
              <a:blip r:embed="rId3">
                <a:alphaModFix amt="0"/>
              </a:blip>
              <a:stretch>
                <a:fillRect t="-5671" b="-5671"/>
              </a:stretch>
            </a:blipFill>
          </p:spPr>
          <p:txBody>
            <a:bodyPr/>
            <a:lstStyle/>
            <a:p>
              <a:endParaRPr lang="es-GT"/>
            </a:p>
          </p:txBody>
        </p:sp>
        <p:sp>
          <p:nvSpPr>
            <p:cNvPr id="16" name="TextBox 16"/>
            <p:cNvSpPr txBox="1"/>
            <p:nvPr/>
          </p:nvSpPr>
          <p:spPr>
            <a:xfrm>
              <a:off x="0" y="-38100"/>
              <a:ext cx="1219200" cy="464820"/>
            </a:xfrm>
            <a:prstGeom prst="rect">
              <a:avLst/>
            </a:prstGeom>
          </p:spPr>
          <p:txBody>
            <a:bodyPr lIns="0" tIns="0" rIns="0" bIns="0" rtlCol="0" anchor="ctr"/>
            <a:lstStyle/>
            <a:p>
              <a:pPr algn="r">
                <a:lnSpc>
                  <a:spcPts val="1800"/>
                </a:lnSpc>
              </a:pPr>
              <a:r>
                <a:rPr lang="en-US" sz="1500">
                  <a:solidFill>
                    <a:srgbClr val="6E7A9F"/>
                  </a:solidFill>
                  <a:latin typeface="Calibri (MS)"/>
                  <a:ea typeface="Calibri (MS)"/>
                  <a:cs typeface="Calibri (MS)"/>
                  <a:sym typeface="Calibri (MS)"/>
                </a:rPr>
                <a:t>20</a:t>
              </a:r>
            </a:p>
          </p:txBody>
        </p:sp>
      </p:grpSp>
      <p:grpSp>
        <p:nvGrpSpPr>
          <p:cNvPr id="17" name="Group 17"/>
          <p:cNvGrpSpPr/>
          <p:nvPr/>
        </p:nvGrpSpPr>
        <p:grpSpPr>
          <a:xfrm>
            <a:off x="731520" y="1554480"/>
            <a:ext cx="16824960" cy="731520"/>
            <a:chOff x="0" y="0"/>
            <a:chExt cx="22433280" cy="975360"/>
          </a:xfrm>
        </p:grpSpPr>
        <p:sp>
          <p:nvSpPr>
            <p:cNvPr id="18" name="Freeform 18"/>
            <p:cNvSpPr/>
            <p:nvPr/>
          </p:nvSpPr>
          <p:spPr>
            <a:xfrm>
              <a:off x="0" y="0"/>
              <a:ext cx="22433280" cy="975360"/>
            </a:xfrm>
            <a:custGeom>
              <a:avLst/>
              <a:gdLst/>
              <a:ahLst/>
              <a:cxnLst/>
              <a:rect l="l" t="t" r="r" b="b"/>
              <a:pathLst>
                <a:path w="22433280" h="975360">
                  <a:moveTo>
                    <a:pt x="0" y="0"/>
                  </a:moveTo>
                  <a:lnTo>
                    <a:pt x="22433280" y="0"/>
                  </a:lnTo>
                  <a:lnTo>
                    <a:pt x="22433280" y="975360"/>
                  </a:lnTo>
                  <a:lnTo>
                    <a:pt x="0" y="975360"/>
                  </a:lnTo>
                  <a:close/>
                </a:path>
              </a:pathLst>
            </a:custGeom>
            <a:blipFill>
              <a:blip r:embed="rId3">
                <a:alphaModFix amt="0"/>
              </a:blip>
              <a:stretch>
                <a:fillRect t="-398155" b="-398155"/>
              </a:stretch>
            </a:blipFill>
          </p:spPr>
          <p:txBody>
            <a:bodyPr/>
            <a:lstStyle/>
            <a:p>
              <a:endParaRPr lang="es-GT"/>
            </a:p>
          </p:txBody>
        </p:sp>
        <p:sp>
          <p:nvSpPr>
            <p:cNvPr id="19" name="TextBox 19"/>
            <p:cNvSpPr txBox="1"/>
            <p:nvPr/>
          </p:nvSpPr>
          <p:spPr>
            <a:xfrm>
              <a:off x="0" y="-47625"/>
              <a:ext cx="22433280" cy="1022985"/>
            </a:xfrm>
            <a:prstGeom prst="rect">
              <a:avLst/>
            </a:prstGeom>
          </p:spPr>
          <p:txBody>
            <a:bodyPr lIns="0" tIns="0" rIns="0" bIns="0" rtlCol="0" anchor="ctr"/>
            <a:lstStyle/>
            <a:p>
              <a:pPr algn="l">
                <a:lnSpc>
                  <a:spcPts val="2520"/>
                </a:lnSpc>
              </a:pPr>
              <a:r>
                <a:rPr lang="en-US" sz="2100">
                  <a:solidFill>
                    <a:srgbClr val="B0B8CC"/>
                  </a:solidFill>
                  <a:latin typeface="Calibri (MS)"/>
                  <a:ea typeface="Calibri (MS)"/>
                  <a:cs typeface="Calibri (MS)"/>
                  <a:sym typeface="Calibri (MS)"/>
                </a:rPr>
                <a:t>Las variables son los contenedores de información que fluyen a través del algoritmo. Cada variable posee un nombre, un tipo y un valor que puede cambiar durante la ejecución.</a:t>
              </a:r>
            </a:p>
          </p:txBody>
        </p:sp>
      </p:grpSp>
      <p:graphicFrame>
        <p:nvGraphicFramePr>
          <p:cNvPr id="20" name="Table 20"/>
          <p:cNvGraphicFramePr>
            <a:graphicFrameLocks noGrp="1"/>
          </p:cNvGraphicFramePr>
          <p:nvPr/>
        </p:nvGraphicFramePr>
        <p:xfrm>
          <a:off x="731520" y="2468880"/>
          <a:ext cx="16764000" cy="7162800"/>
        </p:xfrm>
        <a:graphic>
          <a:graphicData uri="http://schemas.openxmlformats.org/drawingml/2006/table">
            <a:tbl>
              <a:tblPr/>
              <a:tblGrid>
                <a:gridCol w="2560887">
                  <a:extLst>
                    <a:ext uri="{9D8B030D-6E8A-4147-A177-3AD203B41FA5}">
                      <a16:colId xmlns:a16="http://schemas.microsoft.com/office/drawing/2014/main" val="20000"/>
                    </a:ext>
                  </a:extLst>
                </a:gridCol>
                <a:gridCol w="4372124">
                  <a:extLst>
                    <a:ext uri="{9D8B030D-6E8A-4147-A177-3AD203B41FA5}">
                      <a16:colId xmlns:a16="http://schemas.microsoft.com/office/drawing/2014/main" val="20001"/>
                    </a:ext>
                  </a:extLst>
                </a:gridCol>
                <a:gridCol w="4009876">
                  <a:extLst>
                    <a:ext uri="{9D8B030D-6E8A-4147-A177-3AD203B41FA5}">
                      <a16:colId xmlns:a16="http://schemas.microsoft.com/office/drawing/2014/main" val="20002"/>
                    </a:ext>
                  </a:extLst>
                </a:gridCol>
                <a:gridCol w="5821113">
                  <a:extLst>
                    <a:ext uri="{9D8B030D-6E8A-4147-A177-3AD203B41FA5}">
                      <a16:colId xmlns:a16="http://schemas.microsoft.com/office/drawing/2014/main" val="20003"/>
                    </a:ext>
                  </a:extLst>
                </a:gridCol>
              </a:tblGrid>
              <a:tr h="1193800">
                <a:tc>
                  <a:txBody>
                    <a:bodyPr/>
                    <a:lstStyle/>
                    <a:p>
                      <a:pPr algn="l">
                        <a:lnSpc>
                          <a:spcPts val="2520"/>
                        </a:lnSpc>
                        <a:defRPr/>
                      </a:pPr>
                      <a:r>
                        <a:rPr lang="en-US" sz="2100" b="1">
                          <a:solidFill>
                            <a:srgbClr val="FFFFFF"/>
                          </a:solidFill>
                          <a:latin typeface="Calibri (MS) Bold"/>
                          <a:ea typeface="Calibri (MS) Bold"/>
                          <a:cs typeface="Calibri (MS) Bold"/>
                          <a:sym typeface="Calibri (MS) Bold"/>
                        </a:rPr>
                        <a:t>Tipo de dato</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2040"/>
                    </a:solidFill>
                  </a:tcPr>
                </a:tc>
                <a:tc>
                  <a:txBody>
                    <a:bodyPr/>
                    <a:lstStyle/>
                    <a:p>
                      <a:pPr algn="l">
                        <a:lnSpc>
                          <a:spcPts val="2520"/>
                        </a:lnSpc>
                        <a:defRPr/>
                      </a:pPr>
                      <a:r>
                        <a:rPr lang="en-US" sz="2100" b="1">
                          <a:solidFill>
                            <a:srgbClr val="FFFFFF"/>
                          </a:solidFill>
                          <a:latin typeface="Calibri (MS) Bold"/>
                          <a:ea typeface="Calibri (MS) Bold"/>
                          <a:cs typeface="Calibri (MS) Bold"/>
                          <a:sym typeface="Calibri (MS) Bold"/>
                        </a:rPr>
                        <a:t>Descripción</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2040"/>
                    </a:solidFill>
                  </a:tcPr>
                </a:tc>
                <a:tc>
                  <a:txBody>
                    <a:bodyPr/>
                    <a:lstStyle/>
                    <a:p>
                      <a:pPr algn="l">
                        <a:lnSpc>
                          <a:spcPts val="2520"/>
                        </a:lnSpc>
                        <a:defRPr/>
                      </a:pPr>
                      <a:r>
                        <a:rPr lang="en-US" sz="2100" b="1">
                          <a:solidFill>
                            <a:srgbClr val="FFFFFF"/>
                          </a:solidFill>
                          <a:latin typeface="Calibri (MS) Bold"/>
                          <a:ea typeface="Calibri (MS) Bold"/>
                          <a:cs typeface="Calibri (MS) Bold"/>
                          <a:sym typeface="Calibri (MS) Bold"/>
                        </a:rPr>
                        <a:t>Ejemplo de valor</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2040"/>
                    </a:solidFill>
                  </a:tcPr>
                </a:tc>
                <a:tc>
                  <a:txBody>
                    <a:bodyPr/>
                    <a:lstStyle/>
                    <a:p>
                      <a:pPr algn="l">
                        <a:lnSpc>
                          <a:spcPts val="2520"/>
                        </a:lnSpc>
                        <a:defRPr/>
                      </a:pPr>
                      <a:r>
                        <a:rPr lang="en-US" sz="2100" b="1">
                          <a:solidFill>
                            <a:srgbClr val="FFFFFF"/>
                          </a:solidFill>
                          <a:latin typeface="Calibri (MS) Bold"/>
                          <a:ea typeface="Calibri (MS) Bold"/>
                          <a:cs typeface="Calibri (MS) Bold"/>
                          <a:sym typeface="Calibri (MS) Bold"/>
                        </a:rPr>
                        <a:t>Uso frecuente</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2040"/>
                    </a:solidFill>
                  </a:tcPr>
                </a:tc>
                <a:extLst>
                  <a:ext uri="{0D108BD9-81ED-4DB2-BD59-A6C34878D82A}">
                    <a16:rowId xmlns:a16="http://schemas.microsoft.com/office/drawing/2014/main" val="10000"/>
                  </a:ext>
                </a:extLst>
              </a:tr>
              <a:tr h="1193800">
                <a:tc>
                  <a:txBody>
                    <a:bodyPr/>
                    <a:lstStyle/>
                    <a:p>
                      <a:pPr algn="l">
                        <a:lnSpc>
                          <a:spcPts val="2400"/>
                        </a:lnSpc>
                        <a:defRPr/>
                      </a:pPr>
                      <a:r>
                        <a:rPr lang="en-US" sz="2000" b="1">
                          <a:solidFill>
                            <a:srgbClr val="5B8CFF"/>
                          </a:solidFill>
                          <a:latin typeface="Calibri (MS) Bold"/>
                          <a:ea typeface="Calibri (MS) Bold"/>
                          <a:cs typeface="Calibri (MS) Bold"/>
                          <a:sym typeface="Calibri (MS) Bold"/>
                        </a:rPr>
                        <a:t>Entero</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400"/>
                        </a:lnSpc>
                        <a:defRPr/>
                      </a:pPr>
                      <a:r>
                        <a:rPr lang="en-US" sz="2000">
                          <a:solidFill>
                            <a:srgbClr val="FFFFFF"/>
                          </a:solidFill>
                          <a:latin typeface="Calibri (MS)"/>
                          <a:ea typeface="Calibri (MS)"/>
                          <a:cs typeface="Calibri (MS)"/>
                          <a:sym typeface="Calibri (MS)"/>
                        </a:rPr>
                        <a:t>Números sin parte decimal</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400"/>
                        </a:lnSpc>
                        <a:defRPr/>
                      </a:pPr>
                      <a:r>
                        <a:rPr lang="en-US" sz="2000">
                          <a:solidFill>
                            <a:srgbClr val="B0B8CC"/>
                          </a:solidFill>
                          <a:latin typeface="Consolas"/>
                          <a:ea typeface="Consolas"/>
                          <a:cs typeface="Consolas"/>
                          <a:sym typeface="Consolas"/>
                        </a:rPr>
                        <a:t>5, -12, 0, 200</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400"/>
                        </a:lnSpc>
                        <a:defRPr/>
                      </a:pPr>
                      <a:r>
                        <a:rPr lang="en-US" sz="2000">
                          <a:solidFill>
                            <a:srgbClr val="FFFFFF"/>
                          </a:solidFill>
                          <a:latin typeface="Calibri (MS)"/>
                          <a:ea typeface="Calibri (MS)"/>
                          <a:cs typeface="Calibri (MS)"/>
                          <a:sym typeface="Calibri (MS)"/>
                        </a:rPr>
                        <a:t>Contadores, índices, cantidades</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extLst>
                  <a:ext uri="{0D108BD9-81ED-4DB2-BD59-A6C34878D82A}">
                    <a16:rowId xmlns:a16="http://schemas.microsoft.com/office/drawing/2014/main" val="10001"/>
                  </a:ext>
                </a:extLst>
              </a:tr>
              <a:tr h="1193800">
                <a:tc>
                  <a:txBody>
                    <a:bodyPr/>
                    <a:lstStyle/>
                    <a:p>
                      <a:pPr algn="l">
                        <a:lnSpc>
                          <a:spcPts val="2400"/>
                        </a:lnSpc>
                        <a:defRPr/>
                      </a:pPr>
                      <a:r>
                        <a:rPr lang="en-US" sz="2000" b="1">
                          <a:solidFill>
                            <a:srgbClr val="7EC8A4"/>
                          </a:solidFill>
                          <a:latin typeface="Calibri (MS) Bold"/>
                          <a:ea typeface="Calibri (MS) Bold"/>
                          <a:cs typeface="Calibri (MS) Bold"/>
                          <a:sym typeface="Calibri (MS) Bold"/>
                        </a:rPr>
                        <a:t>Real</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tc>
                  <a:txBody>
                    <a:bodyPr/>
                    <a:lstStyle/>
                    <a:p>
                      <a:pPr algn="l">
                        <a:lnSpc>
                          <a:spcPts val="2400"/>
                        </a:lnSpc>
                        <a:defRPr/>
                      </a:pPr>
                      <a:r>
                        <a:rPr lang="en-US" sz="2000">
                          <a:solidFill>
                            <a:srgbClr val="FFFFFF"/>
                          </a:solidFill>
                          <a:latin typeface="Calibri (MS)"/>
                          <a:ea typeface="Calibri (MS)"/>
                          <a:cs typeface="Calibri (MS)"/>
                          <a:sym typeface="Calibri (MS)"/>
                        </a:rPr>
                        <a:t>Números con parte decimal</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tc>
                  <a:txBody>
                    <a:bodyPr/>
                    <a:lstStyle/>
                    <a:p>
                      <a:pPr algn="l">
                        <a:lnSpc>
                          <a:spcPts val="2400"/>
                        </a:lnSpc>
                        <a:defRPr/>
                      </a:pPr>
                      <a:r>
                        <a:rPr lang="en-US" sz="2000">
                          <a:solidFill>
                            <a:srgbClr val="B0B8CC"/>
                          </a:solidFill>
                          <a:latin typeface="Consolas"/>
                          <a:ea typeface="Consolas"/>
                          <a:cs typeface="Consolas"/>
                          <a:sym typeface="Consolas"/>
                        </a:rPr>
                        <a:t>3.14, -0.5, 99.9</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tc>
                  <a:txBody>
                    <a:bodyPr/>
                    <a:lstStyle/>
                    <a:p>
                      <a:pPr algn="l">
                        <a:lnSpc>
                          <a:spcPts val="2400"/>
                        </a:lnSpc>
                        <a:defRPr/>
                      </a:pPr>
                      <a:r>
                        <a:rPr lang="en-US" sz="2000">
                          <a:solidFill>
                            <a:srgbClr val="FFFFFF"/>
                          </a:solidFill>
                          <a:latin typeface="Calibri (MS)"/>
                          <a:ea typeface="Calibri (MS)"/>
                          <a:cs typeface="Calibri (MS)"/>
                          <a:sym typeface="Calibri (MS)"/>
                        </a:rPr>
                        <a:t>Promedios, precios, medidas</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extLst>
                  <a:ext uri="{0D108BD9-81ED-4DB2-BD59-A6C34878D82A}">
                    <a16:rowId xmlns:a16="http://schemas.microsoft.com/office/drawing/2014/main" val="10002"/>
                  </a:ext>
                </a:extLst>
              </a:tr>
              <a:tr h="1193800">
                <a:tc>
                  <a:txBody>
                    <a:bodyPr/>
                    <a:lstStyle/>
                    <a:p>
                      <a:pPr algn="l">
                        <a:lnSpc>
                          <a:spcPts val="2400"/>
                        </a:lnSpc>
                        <a:defRPr/>
                      </a:pPr>
                      <a:r>
                        <a:rPr lang="en-US" sz="2000" b="1">
                          <a:solidFill>
                            <a:srgbClr val="9B7FD4"/>
                          </a:solidFill>
                          <a:latin typeface="Calibri (MS) Bold"/>
                          <a:ea typeface="Calibri (MS) Bold"/>
                          <a:cs typeface="Calibri (MS) Bold"/>
                          <a:sym typeface="Calibri (MS) Bold"/>
                        </a:rPr>
                        <a:t>Cadena</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400"/>
                        </a:lnSpc>
                        <a:defRPr/>
                      </a:pPr>
                      <a:r>
                        <a:rPr lang="en-US" sz="2000">
                          <a:solidFill>
                            <a:srgbClr val="FFFFFF"/>
                          </a:solidFill>
                          <a:latin typeface="Calibri (MS)"/>
                          <a:ea typeface="Calibri (MS)"/>
                          <a:cs typeface="Calibri (MS)"/>
                          <a:sym typeface="Calibri (MS)"/>
                        </a:rPr>
                        <a:t>Secuencia de caracteres de texto</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400"/>
                        </a:lnSpc>
                        <a:defRPr/>
                      </a:pPr>
                      <a:r>
                        <a:rPr lang="en-US" sz="2000">
                          <a:solidFill>
                            <a:srgbClr val="B0B8CC"/>
                          </a:solidFill>
                          <a:latin typeface="Consolas"/>
                          <a:ea typeface="Consolas"/>
                          <a:cs typeface="Consolas"/>
                          <a:sym typeface="Consolas"/>
                        </a:rPr>
                        <a:t>"Hola", "2024-01"</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400"/>
                        </a:lnSpc>
                        <a:defRPr/>
                      </a:pPr>
                      <a:r>
                        <a:rPr lang="en-US" sz="2000">
                          <a:solidFill>
                            <a:srgbClr val="FFFFFF"/>
                          </a:solidFill>
                          <a:latin typeface="Calibri (MS)"/>
                          <a:ea typeface="Calibri (MS)"/>
                          <a:cs typeface="Calibri (MS)"/>
                          <a:sym typeface="Calibri (MS)"/>
                        </a:rPr>
                        <a:t>Nombres, mensajes, identificadores</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extLst>
                  <a:ext uri="{0D108BD9-81ED-4DB2-BD59-A6C34878D82A}">
                    <a16:rowId xmlns:a16="http://schemas.microsoft.com/office/drawing/2014/main" val="10003"/>
                  </a:ext>
                </a:extLst>
              </a:tr>
              <a:tr h="1193800">
                <a:tc>
                  <a:txBody>
                    <a:bodyPr/>
                    <a:lstStyle/>
                    <a:p>
                      <a:pPr algn="l">
                        <a:lnSpc>
                          <a:spcPts val="2400"/>
                        </a:lnSpc>
                        <a:defRPr/>
                      </a:pPr>
                      <a:r>
                        <a:rPr lang="en-US" sz="2000" b="1">
                          <a:solidFill>
                            <a:srgbClr val="E8A87C"/>
                          </a:solidFill>
                          <a:latin typeface="Calibri (MS) Bold"/>
                          <a:ea typeface="Calibri (MS) Bold"/>
                          <a:cs typeface="Calibri (MS) Bold"/>
                          <a:sym typeface="Calibri (MS) Bold"/>
                        </a:rPr>
                        <a:t>Lógico</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tc>
                  <a:txBody>
                    <a:bodyPr/>
                    <a:lstStyle/>
                    <a:p>
                      <a:pPr algn="l">
                        <a:lnSpc>
                          <a:spcPts val="2400"/>
                        </a:lnSpc>
                        <a:defRPr/>
                      </a:pPr>
                      <a:r>
                        <a:rPr lang="en-US" sz="2000">
                          <a:solidFill>
                            <a:srgbClr val="FFFFFF"/>
                          </a:solidFill>
                          <a:latin typeface="Calibri (MS)"/>
                          <a:ea typeface="Calibri (MS)"/>
                          <a:cs typeface="Calibri (MS)"/>
                          <a:sym typeface="Calibri (MS)"/>
                        </a:rPr>
                        <a:t>Valor booleano: verdadero o falso</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tc>
                  <a:txBody>
                    <a:bodyPr/>
                    <a:lstStyle/>
                    <a:p>
                      <a:pPr algn="l">
                        <a:lnSpc>
                          <a:spcPts val="2400"/>
                        </a:lnSpc>
                        <a:defRPr/>
                      </a:pPr>
                      <a:r>
                        <a:rPr lang="en-US" sz="2000">
                          <a:solidFill>
                            <a:srgbClr val="B0B8CC"/>
                          </a:solidFill>
                          <a:latin typeface="Consolas"/>
                          <a:ea typeface="Consolas"/>
                          <a:cs typeface="Consolas"/>
                          <a:sym typeface="Consolas"/>
                        </a:rPr>
                        <a:t>VERDADERO, FALSO</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tc>
                  <a:txBody>
                    <a:bodyPr/>
                    <a:lstStyle/>
                    <a:p>
                      <a:pPr algn="l">
                        <a:lnSpc>
                          <a:spcPts val="2400"/>
                        </a:lnSpc>
                        <a:defRPr/>
                      </a:pPr>
                      <a:r>
                        <a:rPr lang="en-US" sz="2000">
                          <a:solidFill>
                            <a:srgbClr val="FFFFFF"/>
                          </a:solidFill>
                          <a:latin typeface="Calibri (MS)"/>
                          <a:ea typeface="Calibri (MS)"/>
                          <a:cs typeface="Calibri (MS)"/>
                          <a:sym typeface="Calibri (MS)"/>
                        </a:rPr>
                        <a:t>Condiciones, validaciones, banderas</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extLst>
                  <a:ext uri="{0D108BD9-81ED-4DB2-BD59-A6C34878D82A}">
                    <a16:rowId xmlns:a16="http://schemas.microsoft.com/office/drawing/2014/main" val="10004"/>
                  </a:ext>
                </a:extLst>
              </a:tr>
              <a:tr h="1193800">
                <a:tc>
                  <a:txBody>
                    <a:bodyPr/>
                    <a:lstStyle/>
                    <a:p>
                      <a:pPr algn="l">
                        <a:lnSpc>
                          <a:spcPts val="2400"/>
                        </a:lnSpc>
                        <a:defRPr/>
                      </a:pPr>
                      <a:r>
                        <a:rPr lang="en-US" sz="2000" b="1">
                          <a:solidFill>
                            <a:srgbClr val="5EC6E8"/>
                          </a:solidFill>
                          <a:latin typeface="Calibri (MS) Bold"/>
                          <a:ea typeface="Calibri (MS) Bold"/>
                          <a:cs typeface="Calibri (MS) Bold"/>
                          <a:sym typeface="Calibri (MS) Bold"/>
                        </a:rPr>
                        <a:t>Carácter</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400"/>
                        </a:lnSpc>
                        <a:defRPr/>
                      </a:pPr>
                      <a:r>
                        <a:rPr lang="en-US" sz="2000">
                          <a:solidFill>
                            <a:srgbClr val="FFFFFF"/>
                          </a:solidFill>
                          <a:latin typeface="Calibri (MS)"/>
                          <a:ea typeface="Calibri (MS)"/>
                          <a:cs typeface="Calibri (MS)"/>
                          <a:sym typeface="Calibri (MS)"/>
                        </a:rPr>
                        <a:t>Un único símbolo o letra</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400"/>
                        </a:lnSpc>
                        <a:defRPr/>
                      </a:pPr>
                      <a:r>
                        <a:rPr lang="en-US" sz="2000">
                          <a:solidFill>
                            <a:srgbClr val="B0B8CC"/>
                          </a:solidFill>
                          <a:latin typeface="Consolas"/>
                          <a:ea typeface="Consolas"/>
                          <a:cs typeface="Consolas"/>
                          <a:sym typeface="Consolas"/>
                        </a:rPr>
                        <a:t>'A', 'z', '3', '@'</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400"/>
                        </a:lnSpc>
                        <a:defRPr/>
                      </a:pPr>
                      <a:r>
                        <a:rPr lang="en-US" sz="2000">
                          <a:solidFill>
                            <a:srgbClr val="FFFFFF"/>
                          </a:solidFill>
                          <a:latin typeface="Calibri (MS)"/>
                          <a:ea typeface="Calibri (MS)"/>
                          <a:cs typeface="Calibri (MS)"/>
                          <a:sym typeface="Calibri (MS)"/>
                        </a:rPr>
                        <a:t>Opciones de menú, separadores</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E2235"/>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16891" y="16891"/>
              <a:ext cx="24383999" cy="1755648"/>
            </a:xfrm>
            <a:custGeom>
              <a:avLst/>
              <a:gdLst/>
              <a:ahLst/>
              <a:cxnLst/>
              <a:rect l="l" t="t" r="r" b="b"/>
              <a:pathLst>
                <a:path w="24383999" h="1755648">
                  <a:moveTo>
                    <a:pt x="0" y="0"/>
                  </a:moveTo>
                  <a:lnTo>
                    <a:pt x="24383999" y="0"/>
                  </a:lnTo>
                  <a:lnTo>
                    <a:pt x="24383999" y="1755648"/>
                  </a:lnTo>
                  <a:lnTo>
                    <a:pt x="0" y="1755648"/>
                  </a:lnTo>
                  <a:close/>
                </a:path>
              </a:pathLst>
            </a:custGeom>
            <a:solidFill>
              <a:srgbClr val="161929"/>
            </a:solidFill>
          </p:spPr>
          <p:txBody>
            <a:bodyPr/>
            <a:lstStyle/>
            <a:p>
              <a:endParaRPr lang="es-GT"/>
            </a:p>
          </p:txBody>
        </p:sp>
        <p:sp>
          <p:nvSpPr>
            <p:cNvPr id="4" name="Freeform 4"/>
            <p:cNvSpPr/>
            <p:nvPr/>
          </p:nvSpPr>
          <p:spPr>
            <a:xfrm>
              <a:off x="0" y="0"/>
              <a:ext cx="24417782" cy="1789430"/>
            </a:xfrm>
            <a:custGeom>
              <a:avLst/>
              <a:gdLst/>
              <a:ahLst/>
              <a:cxnLst/>
              <a:rect l="l" t="t" r="r" b="b"/>
              <a:pathLst>
                <a:path w="24417782" h="1789430">
                  <a:moveTo>
                    <a:pt x="16891" y="0"/>
                  </a:moveTo>
                  <a:lnTo>
                    <a:pt x="24400890" y="0"/>
                  </a:lnTo>
                  <a:cubicBezTo>
                    <a:pt x="24410290" y="0"/>
                    <a:pt x="24417782" y="7620"/>
                    <a:pt x="24417782" y="16891"/>
                  </a:cubicBezTo>
                  <a:lnTo>
                    <a:pt x="24417782" y="1772539"/>
                  </a:lnTo>
                  <a:cubicBezTo>
                    <a:pt x="24417782" y="1781937"/>
                    <a:pt x="24410163" y="1789430"/>
                    <a:pt x="24400890"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24400890" y="1755648"/>
                  </a:lnTo>
                  <a:lnTo>
                    <a:pt x="24400890" y="1772539"/>
                  </a:lnTo>
                  <a:lnTo>
                    <a:pt x="24384000" y="1772539"/>
                  </a:lnTo>
                  <a:lnTo>
                    <a:pt x="24384000" y="16891"/>
                  </a:lnTo>
                  <a:lnTo>
                    <a:pt x="24400890" y="16891"/>
                  </a:lnTo>
                  <a:lnTo>
                    <a:pt x="24400890" y="33909"/>
                  </a:lnTo>
                  <a:lnTo>
                    <a:pt x="16891" y="33909"/>
                  </a:lnTo>
                  <a:close/>
                </a:path>
              </a:pathLst>
            </a:custGeom>
            <a:solidFill>
              <a:srgbClr val="161929"/>
            </a:solidFill>
          </p:spPr>
          <p:txBody>
            <a:bodyPr/>
            <a:lstStyle/>
            <a:p>
              <a:endParaRPr lang="es-GT"/>
            </a:p>
          </p:txBody>
        </p:sp>
      </p:grpSp>
      <p:grpSp>
        <p:nvGrpSpPr>
          <p:cNvPr id="5" name="Group 5"/>
          <p:cNvGrpSpPr/>
          <p:nvPr/>
        </p:nvGrpSpPr>
        <p:grpSpPr>
          <a:xfrm>
            <a:off x="-12697" y="1304039"/>
            <a:ext cx="18313403" cy="98555"/>
            <a:chOff x="0" y="0"/>
            <a:chExt cx="24417871" cy="131407"/>
          </a:xfrm>
        </p:grpSpPr>
        <p:sp>
          <p:nvSpPr>
            <p:cNvPr id="6" name="Freeform 6"/>
            <p:cNvSpPr/>
            <p:nvPr/>
          </p:nvSpPr>
          <p:spPr>
            <a:xfrm>
              <a:off x="16891" y="16891"/>
              <a:ext cx="24383999" cy="97536"/>
            </a:xfrm>
            <a:custGeom>
              <a:avLst/>
              <a:gdLst/>
              <a:ahLst/>
              <a:cxnLst/>
              <a:rect l="l" t="t" r="r" b="b"/>
              <a:pathLst>
                <a:path w="24383999" h="97536">
                  <a:moveTo>
                    <a:pt x="0" y="0"/>
                  </a:moveTo>
                  <a:lnTo>
                    <a:pt x="24383999" y="0"/>
                  </a:lnTo>
                  <a:lnTo>
                    <a:pt x="24383999" y="97536"/>
                  </a:lnTo>
                  <a:lnTo>
                    <a:pt x="0" y="97536"/>
                  </a:lnTo>
                  <a:close/>
                </a:path>
              </a:pathLst>
            </a:custGeom>
            <a:solidFill>
              <a:srgbClr val="5B8CFF"/>
            </a:solidFill>
          </p:spPr>
          <p:txBody>
            <a:bodyPr/>
            <a:lstStyle/>
            <a:p>
              <a:endParaRPr lang="es-GT"/>
            </a:p>
          </p:txBody>
        </p:sp>
        <p:sp>
          <p:nvSpPr>
            <p:cNvPr id="7" name="Freeform 7"/>
            <p:cNvSpPr/>
            <p:nvPr/>
          </p:nvSpPr>
          <p:spPr>
            <a:xfrm>
              <a:off x="0" y="0"/>
              <a:ext cx="24417782" cy="131320"/>
            </a:xfrm>
            <a:custGeom>
              <a:avLst/>
              <a:gdLst/>
              <a:ahLst/>
              <a:cxnLst/>
              <a:rect l="l" t="t" r="r" b="b"/>
              <a:pathLst>
                <a:path w="24417782" h="131320">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5B8CFF"/>
            </a:solidFill>
          </p:spPr>
          <p:txBody>
            <a:bodyPr/>
            <a:lstStyle/>
            <a:p>
              <a:endParaRPr lang="es-GT"/>
            </a:p>
          </p:txBody>
        </p:sp>
      </p:grpSp>
      <p:grpSp>
        <p:nvGrpSpPr>
          <p:cNvPr id="8" name="Group 8"/>
          <p:cNvGrpSpPr/>
          <p:nvPr/>
        </p:nvGrpSpPr>
        <p:grpSpPr>
          <a:xfrm>
            <a:off x="822960" y="0"/>
            <a:ext cx="16642080" cy="1316736"/>
            <a:chOff x="0" y="0"/>
            <a:chExt cx="22189440" cy="1755648"/>
          </a:xfrm>
        </p:grpSpPr>
        <p:sp>
          <p:nvSpPr>
            <p:cNvPr id="9" name="Freeform 9"/>
            <p:cNvSpPr/>
            <p:nvPr/>
          </p:nvSpPr>
          <p:spPr>
            <a:xfrm>
              <a:off x="0" y="0"/>
              <a:ext cx="22189439" cy="1755648"/>
            </a:xfrm>
            <a:custGeom>
              <a:avLst/>
              <a:gdLst/>
              <a:ahLst/>
              <a:cxnLst/>
              <a:rect l="l" t="t" r="r" b="b"/>
              <a:pathLst>
                <a:path w="22189439" h="1755648">
                  <a:moveTo>
                    <a:pt x="0" y="0"/>
                  </a:moveTo>
                  <a:lnTo>
                    <a:pt x="22189439" y="0"/>
                  </a:lnTo>
                  <a:lnTo>
                    <a:pt x="22189439" y="1755648"/>
                  </a:lnTo>
                  <a:lnTo>
                    <a:pt x="0" y="1755648"/>
                  </a:lnTo>
                  <a:close/>
                </a:path>
              </a:pathLst>
            </a:custGeom>
            <a:blipFill>
              <a:blip r:embed="rId3">
                <a:alphaModFix amt="0"/>
              </a:blip>
              <a:stretch>
                <a:fillRect t="-196269" b="-196269"/>
              </a:stretch>
            </a:blipFill>
          </p:spPr>
          <p:txBody>
            <a:bodyPr/>
            <a:lstStyle/>
            <a:p>
              <a:endParaRPr lang="es-GT"/>
            </a:p>
          </p:txBody>
        </p:sp>
        <p:sp>
          <p:nvSpPr>
            <p:cNvPr id="10" name="TextBox 10"/>
            <p:cNvSpPr txBox="1"/>
            <p:nvPr/>
          </p:nvSpPr>
          <p:spPr>
            <a:xfrm>
              <a:off x="0" y="-76200"/>
              <a:ext cx="22189440" cy="1831848"/>
            </a:xfrm>
            <a:prstGeom prst="rect">
              <a:avLst/>
            </a:prstGeom>
          </p:spPr>
          <p:txBody>
            <a:bodyPr lIns="0" tIns="0" rIns="0" bIns="0" rtlCol="0" anchor="ctr"/>
            <a:lstStyle/>
            <a:p>
              <a:pPr algn="l">
                <a:lnSpc>
                  <a:spcPts val="5280"/>
                </a:lnSpc>
              </a:pPr>
              <a:r>
                <a:rPr lang="en-US" sz="4400" b="1">
                  <a:solidFill>
                    <a:srgbClr val="FFFFFF"/>
                  </a:solidFill>
                  <a:latin typeface="Calibri (MS) Bold"/>
                  <a:ea typeface="Calibri (MS) Bold"/>
                  <a:cs typeface="Calibri (MS) Bold"/>
                  <a:sym typeface="Calibri (MS) Bold"/>
                </a:rPr>
                <a:t>Estructuras de control del flujo</a:t>
              </a:r>
            </a:p>
          </p:txBody>
        </p:sp>
      </p:grpSp>
      <p:grpSp>
        <p:nvGrpSpPr>
          <p:cNvPr id="11" name="Group 11"/>
          <p:cNvGrpSpPr/>
          <p:nvPr/>
        </p:nvGrpSpPr>
        <p:grpSpPr>
          <a:xfrm>
            <a:off x="-12697" y="9954263"/>
            <a:ext cx="18313403" cy="345443"/>
            <a:chOff x="0" y="0"/>
            <a:chExt cx="24417871" cy="460591"/>
          </a:xfrm>
        </p:grpSpPr>
        <p:sp>
          <p:nvSpPr>
            <p:cNvPr id="12" name="Freeform 12"/>
            <p:cNvSpPr/>
            <p:nvPr/>
          </p:nvSpPr>
          <p:spPr>
            <a:xfrm>
              <a:off x="16891" y="16891"/>
              <a:ext cx="24383999" cy="426720"/>
            </a:xfrm>
            <a:custGeom>
              <a:avLst/>
              <a:gdLst/>
              <a:ahLst/>
              <a:cxnLst/>
              <a:rect l="l" t="t" r="r" b="b"/>
              <a:pathLst>
                <a:path w="24383999" h="426720">
                  <a:moveTo>
                    <a:pt x="0" y="0"/>
                  </a:moveTo>
                  <a:lnTo>
                    <a:pt x="24383999" y="0"/>
                  </a:lnTo>
                  <a:lnTo>
                    <a:pt x="24383999" y="426720"/>
                  </a:lnTo>
                  <a:lnTo>
                    <a:pt x="0" y="426720"/>
                  </a:lnTo>
                  <a:close/>
                </a:path>
              </a:pathLst>
            </a:custGeom>
            <a:solidFill>
              <a:srgbClr val="12152A"/>
            </a:solidFill>
          </p:spPr>
          <p:txBody>
            <a:bodyPr/>
            <a:lstStyle/>
            <a:p>
              <a:endParaRPr lang="es-GT"/>
            </a:p>
          </p:txBody>
        </p:sp>
        <p:sp>
          <p:nvSpPr>
            <p:cNvPr id="13" name="Freeform 13"/>
            <p:cNvSpPr/>
            <p:nvPr/>
          </p:nvSpPr>
          <p:spPr>
            <a:xfrm>
              <a:off x="0" y="0"/>
              <a:ext cx="24417782" cy="460504"/>
            </a:xfrm>
            <a:custGeom>
              <a:avLst/>
              <a:gdLst/>
              <a:ahLst/>
              <a:cxnLst/>
              <a:rect l="l" t="t" r="r" b="b"/>
              <a:pathLst>
                <a:path w="24417782" h="460504">
                  <a:moveTo>
                    <a:pt x="16891" y="0"/>
                  </a:moveTo>
                  <a:lnTo>
                    <a:pt x="24400890" y="0"/>
                  </a:lnTo>
                  <a:cubicBezTo>
                    <a:pt x="24410290" y="0"/>
                    <a:pt x="24417782" y="7620"/>
                    <a:pt x="24417782" y="16891"/>
                  </a:cubicBezTo>
                  <a:lnTo>
                    <a:pt x="24417782" y="443611"/>
                  </a:lnTo>
                  <a:cubicBezTo>
                    <a:pt x="24417782" y="453009"/>
                    <a:pt x="24410163" y="460502"/>
                    <a:pt x="24400890" y="460502"/>
                  </a:cubicBezTo>
                  <a:lnTo>
                    <a:pt x="16891" y="460502"/>
                  </a:lnTo>
                  <a:cubicBezTo>
                    <a:pt x="7620" y="460629"/>
                    <a:pt x="0" y="453009"/>
                    <a:pt x="0" y="443611"/>
                  </a:cubicBezTo>
                  <a:lnTo>
                    <a:pt x="0" y="16891"/>
                  </a:lnTo>
                  <a:cubicBezTo>
                    <a:pt x="0" y="7620"/>
                    <a:pt x="7620" y="0"/>
                    <a:pt x="16891" y="0"/>
                  </a:cubicBezTo>
                  <a:moveTo>
                    <a:pt x="16891" y="33909"/>
                  </a:moveTo>
                  <a:lnTo>
                    <a:pt x="16891" y="16891"/>
                  </a:lnTo>
                  <a:lnTo>
                    <a:pt x="33909" y="16891"/>
                  </a:lnTo>
                  <a:lnTo>
                    <a:pt x="33909" y="443611"/>
                  </a:lnTo>
                  <a:lnTo>
                    <a:pt x="16891" y="443611"/>
                  </a:lnTo>
                  <a:lnTo>
                    <a:pt x="16891" y="426720"/>
                  </a:lnTo>
                  <a:lnTo>
                    <a:pt x="24400890" y="426720"/>
                  </a:lnTo>
                  <a:lnTo>
                    <a:pt x="24400890" y="443611"/>
                  </a:lnTo>
                  <a:lnTo>
                    <a:pt x="24384000" y="443611"/>
                  </a:lnTo>
                  <a:lnTo>
                    <a:pt x="24384000" y="16891"/>
                  </a:lnTo>
                  <a:lnTo>
                    <a:pt x="24400890" y="16891"/>
                  </a:lnTo>
                  <a:lnTo>
                    <a:pt x="24400890" y="33909"/>
                  </a:lnTo>
                  <a:lnTo>
                    <a:pt x="16891" y="33909"/>
                  </a:lnTo>
                  <a:close/>
                </a:path>
              </a:pathLst>
            </a:custGeom>
            <a:solidFill>
              <a:srgbClr val="12152A"/>
            </a:solidFill>
          </p:spPr>
          <p:txBody>
            <a:bodyPr/>
            <a:lstStyle/>
            <a:p>
              <a:endParaRPr lang="es-GT"/>
            </a:p>
          </p:txBody>
        </p:sp>
      </p:grpSp>
      <p:grpSp>
        <p:nvGrpSpPr>
          <p:cNvPr id="14" name="Group 14"/>
          <p:cNvGrpSpPr/>
          <p:nvPr/>
        </p:nvGrpSpPr>
        <p:grpSpPr>
          <a:xfrm>
            <a:off x="17007840" y="9966960"/>
            <a:ext cx="914400" cy="320040"/>
            <a:chOff x="0" y="0"/>
            <a:chExt cx="1219200" cy="426720"/>
          </a:xfrm>
        </p:grpSpPr>
        <p:sp>
          <p:nvSpPr>
            <p:cNvPr id="15" name="Freeform 15"/>
            <p:cNvSpPr/>
            <p:nvPr/>
          </p:nvSpPr>
          <p:spPr>
            <a:xfrm>
              <a:off x="0" y="0"/>
              <a:ext cx="1219200" cy="426720"/>
            </a:xfrm>
            <a:custGeom>
              <a:avLst/>
              <a:gdLst/>
              <a:ahLst/>
              <a:cxnLst/>
              <a:rect l="l" t="t" r="r" b="b"/>
              <a:pathLst>
                <a:path w="1219200" h="426720">
                  <a:moveTo>
                    <a:pt x="0" y="0"/>
                  </a:moveTo>
                  <a:lnTo>
                    <a:pt x="1219200" y="0"/>
                  </a:lnTo>
                  <a:lnTo>
                    <a:pt x="1219200" y="426720"/>
                  </a:lnTo>
                  <a:lnTo>
                    <a:pt x="0" y="426720"/>
                  </a:lnTo>
                  <a:close/>
                </a:path>
              </a:pathLst>
            </a:custGeom>
            <a:blipFill>
              <a:blip r:embed="rId3">
                <a:alphaModFix amt="0"/>
              </a:blip>
              <a:stretch>
                <a:fillRect t="-5671" b="-5671"/>
              </a:stretch>
            </a:blipFill>
          </p:spPr>
          <p:txBody>
            <a:bodyPr/>
            <a:lstStyle/>
            <a:p>
              <a:endParaRPr lang="es-GT"/>
            </a:p>
          </p:txBody>
        </p:sp>
        <p:sp>
          <p:nvSpPr>
            <p:cNvPr id="16" name="TextBox 16"/>
            <p:cNvSpPr txBox="1"/>
            <p:nvPr/>
          </p:nvSpPr>
          <p:spPr>
            <a:xfrm>
              <a:off x="0" y="-38100"/>
              <a:ext cx="1219200" cy="464820"/>
            </a:xfrm>
            <a:prstGeom prst="rect">
              <a:avLst/>
            </a:prstGeom>
          </p:spPr>
          <p:txBody>
            <a:bodyPr lIns="0" tIns="0" rIns="0" bIns="0" rtlCol="0" anchor="ctr"/>
            <a:lstStyle/>
            <a:p>
              <a:pPr algn="r">
                <a:lnSpc>
                  <a:spcPts val="1800"/>
                </a:lnSpc>
              </a:pPr>
              <a:r>
                <a:rPr lang="en-US" sz="1500">
                  <a:solidFill>
                    <a:srgbClr val="6E7A9F"/>
                  </a:solidFill>
                  <a:latin typeface="Calibri (MS)"/>
                  <a:ea typeface="Calibri (MS)"/>
                  <a:cs typeface="Calibri (MS)"/>
                  <a:sym typeface="Calibri (MS)"/>
                </a:rPr>
                <a:t>21</a:t>
              </a:r>
            </a:p>
          </p:txBody>
        </p:sp>
      </p:grpSp>
      <p:grpSp>
        <p:nvGrpSpPr>
          <p:cNvPr id="17" name="Group 17"/>
          <p:cNvGrpSpPr/>
          <p:nvPr/>
        </p:nvGrpSpPr>
        <p:grpSpPr>
          <a:xfrm>
            <a:off x="731520" y="1554480"/>
            <a:ext cx="16824960" cy="731520"/>
            <a:chOff x="0" y="0"/>
            <a:chExt cx="22433280" cy="975360"/>
          </a:xfrm>
        </p:grpSpPr>
        <p:sp>
          <p:nvSpPr>
            <p:cNvPr id="18" name="Freeform 18"/>
            <p:cNvSpPr/>
            <p:nvPr/>
          </p:nvSpPr>
          <p:spPr>
            <a:xfrm>
              <a:off x="0" y="0"/>
              <a:ext cx="22433280" cy="975360"/>
            </a:xfrm>
            <a:custGeom>
              <a:avLst/>
              <a:gdLst/>
              <a:ahLst/>
              <a:cxnLst/>
              <a:rect l="l" t="t" r="r" b="b"/>
              <a:pathLst>
                <a:path w="22433280" h="975360">
                  <a:moveTo>
                    <a:pt x="0" y="0"/>
                  </a:moveTo>
                  <a:lnTo>
                    <a:pt x="22433280" y="0"/>
                  </a:lnTo>
                  <a:lnTo>
                    <a:pt x="22433280" y="975360"/>
                  </a:lnTo>
                  <a:lnTo>
                    <a:pt x="0" y="975360"/>
                  </a:lnTo>
                  <a:close/>
                </a:path>
              </a:pathLst>
            </a:custGeom>
            <a:blipFill>
              <a:blip r:embed="rId3">
                <a:alphaModFix amt="0"/>
              </a:blip>
              <a:stretch>
                <a:fillRect t="-398155" b="-398155"/>
              </a:stretch>
            </a:blipFill>
          </p:spPr>
          <p:txBody>
            <a:bodyPr/>
            <a:lstStyle/>
            <a:p>
              <a:endParaRPr lang="es-GT"/>
            </a:p>
          </p:txBody>
        </p:sp>
        <p:sp>
          <p:nvSpPr>
            <p:cNvPr id="19" name="TextBox 19"/>
            <p:cNvSpPr txBox="1"/>
            <p:nvPr/>
          </p:nvSpPr>
          <p:spPr>
            <a:xfrm>
              <a:off x="0" y="-47625"/>
              <a:ext cx="22433280" cy="1022985"/>
            </a:xfrm>
            <a:prstGeom prst="rect">
              <a:avLst/>
            </a:prstGeom>
          </p:spPr>
          <p:txBody>
            <a:bodyPr lIns="0" tIns="0" rIns="0" bIns="0" rtlCol="0" anchor="ctr"/>
            <a:lstStyle/>
            <a:p>
              <a:pPr algn="l">
                <a:lnSpc>
                  <a:spcPts val="2520"/>
                </a:lnSpc>
              </a:pPr>
              <a:r>
                <a:rPr lang="en-US" sz="2100">
                  <a:solidFill>
                    <a:srgbClr val="B0B8CC"/>
                  </a:solidFill>
                  <a:latin typeface="Calibri (MS)"/>
                  <a:ea typeface="Calibri (MS)"/>
                  <a:cs typeface="Calibri (MS)"/>
                  <a:sym typeface="Calibri (MS)"/>
                </a:rPr>
                <a:t>Las estructuras de control determinan el orden en que se ejecutan las instrucciones del algoritmo. Existen tres categorías fundamentales:</a:t>
              </a:r>
            </a:p>
          </p:txBody>
        </p:sp>
      </p:grpSp>
      <p:grpSp>
        <p:nvGrpSpPr>
          <p:cNvPr id="20" name="Group 20"/>
          <p:cNvGrpSpPr/>
          <p:nvPr/>
        </p:nvGrpSpPr>
        <p:grpSpPr>
          <a:xfrm>
            <a:off x="627383" y="2511047"/>
            <a:ext cx="5420363" cy="7249163"/>
            <a:chOff x="0" y="0"/>
            <a:chExt cx="7227151" cy="9665551"/>
          </a:xfrm>
        </p:grpSpPr>
        <p:sp>
          <p:nvSpPr>
            <p:cNvPr id="21" name="Freeform 21"/>
            <p:cNvSpPr/>
            <p:nvPr/>
          </p:nvSpPr>
          <p:spPr>
            <a:xfrm>
              <a:off x="16891" y="16891"/>
              <a:ext cx="7193281" cy="9631681"/>
            </a:xfrm>
            <a:custGeom>
              <a:avLst/>
              <a:gdLst/>
              <a:ahLst/>
              <a:cxnLst/>
              <a:rect l="l" t="t" r="r" b="b"/>
              <a:pathLst>
                <a:path w="7193281" h="9631681">
                  <a:moveTo>
                    <a:pt x="0" y="0"/>
                  </a:moveTo>
                  <a:lnTo>
                    <a:pt x="7193281" y="0"/>
                  </a:lnTo>
                  <a:lnTo>
                    <a:pt x="7193281" y="9631681"/>
                  </a:lnTo>
                  <a:lnTo>
                    <a:pt x="0" y="9631681"/>
                  </a:lnTo>
                  <a:close/>
                </a:path>
              </a:pathLst>
            </a:custGeom>
            <a:solidFill>
              <a:srgbClr val="252B42"/>
            </a:solidFill>
          </p:spPr>
          <p:txBody>
            <a:bodyPr/>
            <a:lstStyle/>
            <a:p>
              <a:endParaRPr lang="es-GT"/>
            </a:p>
          </p:txBody>
        </p:sp>
        <p:sp>
          <p:nvSpPr>
            <p:cNvPr id="22" name="Freeform 22"/>
            <p:cNvSpPr/>
            <p:nvPr/>
          </p:nvSpPr>
          <p:spPr>
            <a:xfrm>
              <a:off x="0" y="0"/>
              <a:ext cx="7227062" cy="9665462"/>
            </a:xfrm>
            <a:custGeom>
              <a:avLst/>
              <a:gdLst/>
              <a:ahLst/>
              <a:cxnLst/>
              <a:rect l="l" t="t" r="r" b="b"/>
              <a:pathLst>
                <a:path w="7227062" h="9665462">
                  <a:moveTo>
                    <a:pt x="16891" y="0"/>
                  </a:moveTo>
                  <a:lnTo>
                    <a:pt x="7210172" y="0"/>
                  </a:lnTo>
                  <a:cubicBezTo>
                    <a:pt x="7219569" y="0"/>
                    <a:pt x="7227062" y="7620"/>
                    <a:pt x="7227062" y="16891"/>
                  </a:cubicBezTo>
                  <a:lnTo>
                    <a:pt x="7227062" y="9648572"/>
                  </a:lnTo>
                  <a:cubicBezTo>
                    <a:pt x="7227062" y="9657969"/>
                    <a:pt x="7219442" y="9665462"/>
                    <a:pt x="7210172" y="9665462"/>
                  </a:cubicBezTo>
                  <a:lnTo>
                    <a:pt x="16891" y="9665462"/>
                  </a:lnTo>
                  <a:cubicBezTo>
                    <a:pt x="7493" y="9665462"/>
                    <a:pt x="0" y="9657842"/>
                    <a:pt x="0" y="9648572"/>
                  </a:cubicBezTo>
                  <a:lnTo>
                    <a:pt x="0" y="16891"/>
                  </a:lnTo>
                  <a:cubicBezTo>
                    <a:pt x="0" y="7620"/>
                    <a:pt x="7620" y="0"/>
                    <a:pt x="16891" y="0"/>
                  </a:cubicBezTo>
                  <a:moveTo>
                    <a:pt x="16891" y="33909"/>
                  </a:moveTo>
                  <a:lnTo>
                    <a:pt x="16891" y="16891"/>
                  </a:lnTo>
                  <a:lnTo>
                    <a:pt x="33909" y="16891"/>
                  </a:lnTo>
                  <a:lnTo>
                    <a:pt x="33909" y="9648572"/>
                  </a:lnTo>
                  <a:lnTo>
                    <a:pt x="16891" y="9648572"/>
                  </a:lnTo>
                  <a:lnTo>
                    <a:pt x="16891" y="9631680"/>
                  </a:lnTo>
                  <a:lnTo>
                    <a:pt x="7210172" y="9631680"/>
                  </a:lnTo>
                  <a:lnTo>
                    <a:pt x="7210172" y="9648572"/>
                  </a:lnTo>
                  <a:lnTo>
                    <a:pt x="7193280" y="9648572"/>
                  </a:lnTo>
                  <a:lnTo>
                    <a:pt x="7193280" y="16891"/>
                  </a:lnTo>
                  <a:lnTo>
                    <a:pt x="7210172" y="16891"/>
                  </a:lnTo>
                  <a:lnTo>
                    <a:pt x="7210172" y="33909"/>
                  </a:lnTo>
                  <a:lnTo>
                    <a:pt x="16891" y="33909"/>
                  </a:lnTo>
                  <a:close/>
                </a:path>
              </a:pathLst>
            </a:custGeom>
            <a:solidFill>
              <a:srgbClr val="5B8CFF"/>
            </a:solidFill>
          </p:spPr>
          <p:txBody>
            <a:bodyPr/>
            <a:lstStyle/>
            <a:p>
              <a:endParaRPr lang="es-GT"/>
            </a:p>
          </p:txBody>
        </p:sp>
      </p:grpSp>
      <p:grpSp>
        <p:nvGrpSpPr>
          <p:cNvPr id="23" name="Group 23"/>
          <p:cNvGrpSpPr/>
          <p:nvPr/>
        </p:nvGrpSpPr>
        <p:grpSpPr>
          <a:xfrm>
            <a:off x="627383" y="2511047"/>
            <a:ext cx="5420363" cy="1086107"/>
            <a:chOff x="0" y="0"/>
            <a:chExt cx="7227151" cy="1448143"/>
          </a:xfrm>
        </p:grpSpPr>
        <p:sp>
          <p:nvSpPr>
            <p:cNvPr id="24" name="Freeform 24"/>
            <p:cNvSpPr/>
            <p:nvPr/>
          </p:nvSpPr>
          <p:spPr>
            <a:xfrm>
              <a:off x="16891" y="16891"/>
              <a:ext cx="7193281" cy="1414272"/>
            </a:xfrm>
            <a:custGeom>
              <a:avLst/>
              <a:gdLst/>
              <a:ahLst/>
              <a:cxnLst/>
              <a:rect l="l" t="t" r="r" b="b"/>
              <a:pathLst>
                <a:path w="7193281" h="1414272">
                  <a:moveTo>
                    <a:pt x="0" y="0"/>
                  </a:moveTo>
                  <a:lnTo>
                    <a:pt x="7193281" y="0"/>
                  </a:lnTo>
                  <a:lnTo>
                    <a:pt x="7193281" y="1414272"/>
                  </a:lnTo>
                  <a:lnTo>
                    <a:pt x="0" y="1414272"/>
                  </a:lnTo>
                  <a:close/>
                </a:path>
              </a:pathLst>
            </a:custGeom>
            <a:solidFill>
              <a:srgbClr val="1A1F33"/>
            </a:solidFill>
          </p:spPr>
          <p:txBody>
            <a:bodyPr/>
            <a:lstStyle/>
            <a:p>
              <a:endParaRPr lang="es-GT"/>
            </a:p>
          </p:txBody>
        </p:sp>
        <p:sp>
          <p:nvSpPr>
            <p:cNvPr id="25" name="Freeform 25"/>
            <p:cNvSpPr/>
            <p:nvPr/>
          </p:nvSpPr>
          <p:spPr>
            <a:xfrm>
              <a:off x="0" y="0"/>
              <a:ext cx="7227062" cy="1448054"/>
            </a:xfrm>
            <a:custGeom>
              <a:avLst/>
              <a:gdLst/>
              <a:ahLst/>
              <a:cxnLst/>
              <a:rect l="l" t="t" r="r" b="b"/>
              <a:pathLst>
                <a:path w="7227062" h="1448054">
                  <a:moveTo>
                    <a:pt x="16891" y="0"/>
                  </a:moveTo>
                  <a:lnTo>
                    <a:pt x="7210172" y="0"/>
                  </a:lnTo>
                  <a:cubicBezTo>
                    <a:pt x="7219569" y="0"/>
                    <a:pt x="7227062" y="7620"/>
                    <a:pt x="7227062" y="16891"/>
                  </a:cubicBezTo>
                  <a:lnTo>
                    <a:pt x="7227062" y="1431163"/>
                  </a:lnTo>
                  <a:cubicBezTo>
                    <a:pt x="7227062" y="1440561"/>
                    <a:pt x="7219442" y="1448054"/>
                    <a:pt x="7210172" y="1448054"/>
                  </a:cubicBezTo>
                  <a:lnTo>
                    <a:pt x="16891" y="1448054"/>
                  </a:lnTo>
                  <a:cubicBezTo>
                    <a:pt x="7493" y="1448054"/>
                    <a:pt x="0" y="1440434"/>
                    <a:pt x="0" y="1431163"/>
                  </a:cubicBezTo>
                  <a:lnTo>
                    <a:pt x="0" y="16891"/>
                  </a:lnTo>
                  <a:cubicBezTo>
                    <a:pt x="0" y="7620"/>
                    <a:pt x="7620" y="0"/>
                    <a:pt x="16891" y="0"/>
                  </a:cubicBezTo>
                  <a:moveTo>
                    <a:pt x="16891" y="33909"/>
                  </a:moveTo>
                  <a:lnTo>
                    <a:pt x="16891" y="16891"/>
                  </a:lnTo>
                  <a:lnTo>
                    <a:pt x="33909" y="16891"/>
                  </a:lnTo>
                  <a:lnTo>
                    <a:pt x="33909" y="1431163"/>
                  </a:lnTo>
                  <a:lnTo>
                    <a:pt x="16891" y="1431163"/>
                  </a:lnTo>
                  <a:lnTo>
                    <a:pt x="16891" y="1414272"/>
                  </a:lnTo>
                  <a:lnTo>
                    <a:pt x="7210172" y="1414272"/>
                  </a:lnTo>
                  <a:lnTo>
                    <a:pt x="7210172" y="1431163"/>
                  </a:lnTo>
                  <a:lnTo>
                    <a:pt x="7193280" y="1431163"/>
                  </a:lnTo>
                  <a:lnTo>
                    <a:pt x="7193280" y="16891"/>
                  </a:lnTo>
                  <a:lnTo>
                    <a:pt x="7210172" y="16891"/>
                  </a:lnTo>
                  <a:lnTo>
                    <a:pt x="7210172" y="33909"/>
                  </a:lnTo>
                  <a:lnTo>
                    <a:pt x="16891" y="33909"/>
                  </a:lnTo>
                  <a:close/>
                </a:path>
              </a:pathLst>
            </a:custGeom>
            <a:solidFill>
              <a:srgbClr val="5B8CFF"/>
            </a:solidFill>
          </p:spPr>
          <p:txBody>
            <a:bodyPr/>
            <a:lstStyle/>
            <a:p>
              <a:endParaRPr lang="es-GT"/>
            </a:p>
          </p:txBody>
        </p:sp>
      </p:grpSp>
      <p:grpSp>
        <p:nvGrpSpPr>
          <p:cNvPr id="26" name="Group 26"/>
          <p:cNvGrpSpPr/>
          <p:nvPr/>
        </p:nvGrpSpPr>
        <p:grpSpPr>
          <a:xfrm>
            <a:off x="859536" y="2596896"/>
            <a:ext cx="4937760" cy="548640"/>
            <a:chOff x="0" y="0"/>
            <a:chExt cx="6583680" cy="731520"/>
          </a:xfrm>
        </p:grpSpPr>
        <p:sp>
          <p:nvSpPr>
            <p:cNvPr id="27" name="Freeform 27"/>
            <p:cNvSpPr/>
            <p:nvPr/>
          </p:nvSpPr>
          <p:spPr>
            <a:xfrm>
              <a:off x="0" y="0"/>
              <a:ext cx="6583680" cy="731520"/>
            </a:xfrm>
            <a:custGeom>
              <a:avLst/>
              <a:gdLst/>
              <a:ahLst/>
              <a:cxnLst/>
              <a:rect l="l" t="t" r="r" b="b"/>
              <a:pathLst>
                <a:path w="6583680" h="731520">
                  <a:moveTo>
                    <a:pt x="0" y="0"/>
                  </a:moveTo>
                  <a:lnTo>
                    <a:pt x="6583680" y="0"/>
                  </a:lnTo>
                  <a:lnTo>
                    <a:pt x="6583680" y="731520"/>
                  </a:lnTo>
                  <a:lnTo>
                    <a:pt x="0" y="731520"/>
                  </a:lnTo>
                  <a:close/>
                </a:path>
              </a:pathLst>
            </a:custGeom>
            <a:blipFill>
              <a:blip r:embed="rId3">
                <a:alphaModFix amt="0"/>
              </a:blip>
              <a:stretch>
                <a:fillRect t="-125365" b="-125365"/>
              </a:stretch>
            </a:blipFill>
          </p:spPr>
          <p:txBody>
            <a:bodyPr/>
            <a:lstStyle/>
            <a:p>
              <a:endParaRPr lang="es-GT"/>
            </a:p>
          </p:txBody>
        </p:sp>
        <p:sp>
          <p:nvSpPr>
            <p:cNvPr id="28" name="TextBox 28"/>
            <p:cNvSpPr txBox="1"/>
            <p:nvPr/>
          </p:nvSpPr>
          <p:spPr>
            <a:xfrm>
              <a:off x="0" y="-47625"/>
              <a:ext cx="6583680" cy="779145"/>
            </a:xfrm>
            <a:prstGeom prst="rect">
              <a:avLst/>
            </a:prstGeom>
          </p:spPr>
          <p:txBody>
            <a:bodyPr lIns="0" tIns="0" rIns="0" bIns="0" rtlCol="0" anchor="ctr"/>
            <a:lstStyle/>
            <a:p>
              <a:pPr algn="l">
                <a:lnSpc>
                  <a:spcPts val="2520"/>
                </a:lnSpc>
              </a:pPr>
              <a:r>
                <a:rPr lang="en-US" sz="2100" b="1">
                  <a:solidFill>
                    <a:srgbClr val="5B8CFF"/>
                  </a:solidFill>
                  <a:latin typeface="Calibri (MS) Bold"/>
                  <a:ea typeface="Calibri (MS) Bold"/>
                  <a:cs typeface="Calibri (MS) Bold"/>
                  <a:sym typeface="Calibri (MS) Bold"/>
                </a:rPr>
                <a:t>SECUENCIAL</a:t>
              </a:r>
            </a:p>
          </p:txBody>
        </p:sp>
      </p:grpSp>
      <p:grpSp>
        <p:nvGrpSpPr>
          <p:cNvPr id="29" name="Group 29"/>
          <p:cNvGrpSpPr/>
          <p:nvPr/>
        </p:nvGrpSpPr>
        <p:grpSpPr>
          <a:xfrm>
            <a:off x="859536" y="3145536"/>
            <a:ext cx="4937760" cy="402336"/>
            <a:chOff x="0" y="0"/>
            <a:chExt cx="6583680" cy="536448"/>
          </a:xfrm>
        </p:grpSpPr>
        <p:sp>
          <p:nvSpPr>
            <p:cNvPr id="30" name="Freeform 30"/>
            <p:cNvSpPr/>
            <p:nvPr/>
          </p:nvSpPr>
          <p:spPr>
            <a:xfrm>
              <a:off x="0" y="0"/>
              <a:ext cx="6583680" cy="536448"/>
            </a:xfrm>
            <a:custGeom>
              <a:avLst/>
              <a:gdLst/>
              <a:ahLst/>
              <a:cxnLst/>
              <a:rect l="l" t="t" r="r" b="b"/>
              <a:pathLst>
                <a:path w="6583680" h="536448">
                  <a:moveTo>
                    <a:pt x="0" y="0"/>
                  </a:moveTo>
                  <a:lnTo>
                    <a:pt x="6583680" y="0"/>
                  </a:lnTo>
                  <a:lnTo>
                    <a:pt x="6583680" y="536448"/>
                  </a:lnTo>
                  <a:lnTo>
                    <a:pt x="0" y="536448"/>
                  </a:lnTo>
                  <a:close/>
                </a:path>
              </a:pathLst>
            </a:custGeom>
            <a:blipFill>
              <a:blip r:embed="rId3">
                <a:alphaModFix amt="0"/>
              </a:blip>
              <a:stretch>
                <a:fillRect t="-189134" b="-189134"/>
              </a:stretch>
            </a:blipFill>
          </p:spPr>
          <p:txBody>
            <a:bodyPr/>
            <a:lstStyle/>
            <a:p>
              <a:endParaRPr lang="es-GT"/>
            </a:p>
          </p:txBody>
        </p:sp>
        <p:sp>
          <p:nvSpPr>
            <p:cNvPr id="31" name="TextBox 31"/>
            <p:cNvSpPr txBox="1"/>
            <p:nvPr/>
          </p:nvSpPr>
          <p:spPr>
            <a:xfrm>
              <a:off x="0" y="-38100"/>
              <a:ext cx="6583680" cy="574548"/>
            </a:xfrm>
            <a:prstGeom prst="rect">
              <a:avLst/>
            </a:prstGeom>
          </p:spPr>
          <p:txBody>
            <a:bodyPr lIns="0" tIns="0" rIns="0" bIns="0" rtlCol="0" anchor="ctr"/>
            <a:lstStyle/>
            <a:p>
              <a:pPr algn="l">
                <a:lnSpc>
                  <a:spcPts val="2160"/>
                </a:lnSpc>
              </a:pPr>
              <a:r>
                <a:rPr lang="en-US" sz="1800">
                  <a:solidFill>
                    <a:srgbClr val="B0B8CC"/>
                  </a:solidFill>
                  <a:latin typeface="Calibri (MS)"/>
                  <a:ea typeface="Calibri (MS)"/>
                  <a:cs typeface="Calibri (MS)"/>
                  <a:sym typeface="Calibri (MS)"/>
                </a:rPr>
                <a:t>Ejecución lineal</a:t>
              </a:r>
            </a:p>
          </p:txBody>
        </p:sp>
      </p:grpSp>
      <p:sp>
        <p:nvSpPr>
          <p:cNvPr id="32" name="TextBox 32"/>
          <p:cNvSpPr txBox="1"/>
          <p:nvPr/>
        </p:nvSpPr>
        <p:spPr>
          <a:xfrm>
            <a:off x="950976" y="3755898"/>
            <a:ext cx="4754880" cy="1619250"/>
          </a:xfrm>
          <a:prstGeom prst="rect">
            <a:avLst/>
          </a:prstGeom>
        </p:spPr>
        <p:txBody>
          <a:bodyPr lIns="0" tIns="0" rIns="0" bIns="0" rtlCol="0" anchor="t">
            <a:spAutoFit/>
          </a:bodyPr>
          <a:lstStyle/>
          <a:p>
            <a:pPr algn="l">
              <a:lnSpc>
                <a:spcPts val="3119"/>
              </a:lnSpc>
            </a:pPr>
            <a:r>
              <a:rPr lang="en-US" sz="2599">
                <a:solidFill>
                  <a:srgbClr val="FFFFFF"/>
                </a:solidFill>
                <a:latin typeface="Calibri (MS)"/>
                <a:ea typeface="Calibri (MS)"/>
                <a:cs typeface="Calibri (MS)"/>
                <a:sym typeface="Calibri (MS)"/>
              </a:rPr>
              <a:t>Las instrucciones se ejecutan una tras otra en el orden en que aparecen. No hay bifurcaciones ni repeticiones.</a:t>
            </a:r>
          </a:p>
        </p:txBody>
      </p:sp>
      <p:grpSp>
        <p:nvGrpSpPr>
          <p:cNvPr id="33" name="Group 33"/>
          <p:cNvGrpSpPr/>
          <p:nvPr/>
        </p:nvGrpSpPr>
        <p:grpSpPr>
          <a:xfrm>
            <a:off x="846839" y="6662423"/>
            <a:ext cx="4963163" cy="2860043"/>
            <a:chOff x="0" y="0"/>
            <a:chExt cx="6617551" cy="3813391"/>
          </a:xfrm>
        </p:grpSpPr>
        <p:sp>
          <p:nvSpPr>
            <p:cNvPr id="34" name="Freeform 34"/>
            <p:cNvSpPr/>
            <p:nvPr/>
          </p:nvSpPr>
          <p:spPr>
            <a:xfrm>
              <a:off x="16891" y="16891"/>
              <a:ext cx="6583681" cy="3779520"/>
            </a:xfrm>
            <a:custGeom>
              <a:avLst/>
              <a:gdLst/>
              <a:ahLst/>
              <a:cxnLst/>
              <a:rect l="l" t="t" r="r" b="b"/>
              <a:pathLst>
                <a:path w="6583681" h="3779520">
                  <a:moveTo>
                    <a:pt x="0" y="0"/>
                  </a:moveTo>
                  <a:lnTo>
                    <a:pt x="6583681" y="0"/>
                  </a:lnTo>
                  <a:lnTo>
                    <a:pt x="6583681" y="3779520"/>
                  </a:lnTo>
                  <a:lnTo>
                    <a:pt x="0" y="3779520"/>
                  </a:lnTo>
                  <a:close/>
                </a:path>
              </a:pathLst>
            </a:custGeom>
            <a:solidFill>
              <a:srgbClr val="0D1020"/>
            </a:solidFill>
          </p:spPr>
          <p:txBody>
            <a:bodyPr/>
            <a:lstStyle/>
            <a:p>
              <a:endParaRPr lang="es-GT"/>
            </a:p>
          </p:txBody>
        </p:sp>
        <p:sp>
          <p:nvSpPr>
            <p:cNvPr id="35" name="Freeform 35"/>
            <p:cNvSpPr/>
            <p:nvPr/>
          </p:nvSpPr>
          <p:spPr>
            <a:xfrm>
              <a:off x="0" y="0"/>
              <a:ext cx="6617462" cy="3813302"/>
            </a:xfrm>
            <a:custGeom>
              <a:avLst/>
              <a:gdLst/>
              <a:ahLst/>
              <a:cxnLst/>
              <a:rect l="l" t="t" r="r" b="b"/>
              <a:pathLst>
                <a:path w="6617462" h="3813302">
                  <a:moveTo>
                    <a:pt x="16891" y="0"/>
                  </a:moveTo>
                  <a:lnTo>
                    <a:pt x="6600572" y="0"/>
                  </a:lnTo>
                  <a:cubicBezTo>
                    <a:pt x="6609969" y="0"/>
                    <a:pt x="6617462" y="7620"/>
                    <a:pt x="6617462" y="16891"/>
                  </a:cubicBezTo>
                  <a:lnTo>
                    <a:pt x="6617462" y="3796411"/>
                  </a:lnTo>
                  <a:cubicBezTo>
                    <a:pt x="6617462" y="3805809"/>
                    <a:pt x="6609842" y="3813302"/>
                    <a:pt x="6600572" y="3813302"/>
                  </a:cubicBezTo>
                  <a:lnTo>
                    <a:pt x="16891" y="3813302"/>
                  </a:lnTo>
                  <a:cubicBezTo>
                    <a:pt x="7493" y="3813302"/>
                    <a:pt x="0" y="3805682"/>
                    <a:pt x="0" y="3796411"/>
                  </a:cubicBezTo>
                  <a:lnTo>
                    <a:pt x="0" y="16891"/>
                  </a:lnTo>
                  <a:cubicBezTo>
                    <a:pt x="0" y="7620"/>
                    <a:pt x="7620" y="0"/>
                    <a:pt x="16891" y="0"/>
                  </a:cubicBezTo>
                  <a:moveTo>
                    <a:pt x="16891" y="33909"/>
                  </a:moveTo>
                  <a:lnTo>
                    <a:pt x="16891" y="16891"/>
                  </a:lnTo>
                  <a:lnTo>
                    <a:pt x="33909" y="16891"/>
                  </a:lnTo>
                  <a:lnTo>
                    <a:pt x="33909" y="3796411"/>
                  </a:lnTo>
                  <a:lnTo>
                    <a:pt x="16891" y="3796411"/>
                  </a:lnTo>
                  <a:lnTo>
                    <a:pt x="16891" y="3779520"/>
                  </a:lnTo>
                  <a:lnTo>
                    <a:pt x="6600572" y="3779520"/>
                  </a:lnTo>
                  <a:lnTo>
                    <a:pt x="6600572" y="3796411"/>
                  </a:lnTo>
                  <a:lnTo>
                    <a:pt x="6583680" y="3796411"/>
                  </a:lnTo>
                  <a:lnTo>
                    <a:pt x="6583680" y="16891"/>
                  </a:lnTo>
                  <a:lnTo>
                    <a:pt x="6600572" y="16891"/>
                  </a:lnTo>
                  <a:lnTo>
                    <a:pt x="6600572" y="33909"/>
                  </a:lnTo>
                  <a:lnTo>
                    <a:pt x="16891" y="33909"/>
                  </a:lnTo>
                  <a:close/>
                </a:path>
              </a:pathLst>
            </a:custGeom>
            <a:solidFill>
              <a:srgbClr val="3A4160"/>
            </a:solidFill>
          </p:spPr>
          <p:txBody>
            <a:bodyPr/>
            <a:lstStyle/>
            <a:p>
              <a:endParaRPr lang="es-GT"/>
            </a:p>
          </p:txBody>
        </p:sp>
      </p:grpSp>
      <p:sp>
        <p:nvSpPr>
          <p:cNvPr id="36" name="TextBox 36"/>
          <p:cNvSpPr txBox="1"/>
          <p:nvPr/>
        </p:nvSpPr>
        <p:spPr>
          <a:xfrm>
            <a:off x="1097280" y="6810756"/>
            <a:ext cx="4480560" cy="2543556"/>
          </a:xfrm>
          <a:prstGeom prst="rect">
            <a:avLst/>
          </a:prstGeom>
        </p:spPr>
        <p:txBody>
          <a:bodyPr lIns="0" tIns="0" rIns="0" bIns="0" rtlCol="0" anchor="t">
            <a:spAutoFit/>
          </a:bodyPr>
          <a:lstStyle/>
          <a:p>
            <a:pPr algn="l">
              <a:lnSpc>
                <a:spcPts val="2039"/>
              </a:lnSpc>
            </a:pPr>
            <a:r>
              <a:rPr lang="en-US" sz="1700">
                <a:solidFill>
                  <a:srgbClr val="7EC8A4"/>
                </a:solidFill>
                <a:latin typeface="Consolas"/>
                <a:ea typeface="Consolas"/>
                <a:cs typeface="Consolas"/>
                <a:sym typeface="Consolas"/>
              </a:rPr>
              <a:t>Leer A</a:t>
            </a:r>
          </a:p>
          <a:p>
            <a:pPr algn="l">
              <a:lnSpc>
                <a:spcPts val="2039"/>
              </a:lnSpc>
            </a:pPr>
            <a:r>
              <a:rPr lang="en-US" sz="1700">
                <a:solidFill>
                  <a:srgbClr val="7EC8A4"/>
                </a:solidFill>
                <a:latin typeface="Consolas"/>
                <a:ea typeface="Consolas"/>
                <a:cs typeface="Consolas"/>
                <a:sym typeface="Consolas"/>
              </a:rPr>
              <a:t>Leer B</a:t>
            </a:r>
          </a:p>
          <a:p>
            <a:pPr algn="l">
              <a:lnSpc>
                <a:spcPts val="2039"/>
              </a:lnSpc>
            </a:pPr>
            <a:r>
              <a:rPr lang="en-US" sz="1700">
                <a:solidFill>
                  <a:srgbClr val="7EC8A4"/>
                </a:solidFill>
                <a:latin typeface="Consolas"/>
                <a:ea typeface="Consolas"/>
                <a:cs typeface="Consolas"/>
                <a:sym typeface="Consolas"/>
              </a:rPr>
              <a:t>C ← A + B</a:t>
            </a:r>
          </a:p>
          <a:p>
            <a:pPr algn="l">
              <a:lnSpc>
                <a:spcPts val="2039"/>
              </a:lnSpc>
            </a:pPr>
            <a:r>
              <a:rPr lang="en-US" sz="1700">
                <a:solidFill>
                  <a:srgbClr val="7EC8A4"/>
                </a:solidFill>
                <a:latin typeface="Consolas"/>
                <a:ea typeface="Consolas"/>
                <a:cs typeface="Consolas"/>
                <a:sym typeface="Consolas"/>
              </a:rPr>
              <a:t>Escribir C</a:t>
            </a:r>
          </a:p>
        </p:txBody>
      </p:sp>
      <p:grpSp>
        <p:nvGrpSpPr>
          <p:cNvPr id="37" name="Group 37"/>
          <p:cNvGrpSpPr/>
          <p:nvPr/>
        </p:nvGrpSpPr>
        <p:grpSpPr>
          <a:xfrm>
            <a:off x="6296663" y="2511047"/>
            <a:ext cx="5420363" cy="7249163"/>
            <a:chOff x="0" y="0"/>
            <a:chExt cx="7227151" cy="9665551"/>
          </a:xfrm>
        </p:grpSpPr>
        <p:sp>
          <p:nvSpPr>
            <p:cNvPr id="38" name="Freeform 38"/>
            <p:cNvSpPr/>
            <p:nvPr/>
          </p:nvSpPr>
          <p:spPr>
            <a:xfrm>
              <a:off x="16891" y="16891"/>
              <a:ext cx="7193281" cy="9631681"/>
            </a:xfrm>
            <a:custGeom>
              <a:avLst/>
              <a:gdLst/>
              <a:ahLst/>
              <a:cxnLst/>
              <a:rect l="l" t="t" r="r" b="b"/>
              <a:pathLst>
                <a:path w="7193281" h="9631681">
                  <a:moveTo>
                    <a:pt x="0" y="0"/>
                  </a:moveTo>
                  <a:lnTo>
                    <a:pt x="7193281" y="0"/>
                  </a:lnTo>
                  <a:lnTo>
                    <a:pt x="7193281" y="9631681"/>
                  </a:lnTo>
                  <a:lnTo>
                    <a:pt x="0" y="9631681"/>
                  </a:lnTo>
                  <a:close/>
                </a:path>
              </a:pathLst>
            </a:custGeom>
            <a:solidFill>
              <a:srgbClr val="252B42"/>
            </a:solidFill>
          </p:spPr>
          <p:txBody>
            <a:bodyPr/>
            <a:lstStyle/>
            <a:p>
              <a:endParaRPr lang="es-GT"/>
            </a:p>
          </p:txBody>
        </p:sp>
        <p:sp>
          <p:nvSpPr>
            <p:cNvPr id="39" name="Freeform 39"/>
            <p:cNvSpPr/>
            <p:nvPr/>
          </p:nvSpPr>
          <p:spPr>
            <a:xfrm>
              <a:off x="0" y="0"/>
              <a:ext cx="7227062" cy="9665462"/>
            </a:xfrm>
            <a:custGeom>
              <a:avLst/>
              <a:gdLst/>
              <a:ahLst/>
              <a:cxnLst/>
              <a:rect l="l" t="t" r="r" b="b"/>
              <a:pathLst>
                <a:path w="7227062" h="9665462">
                  <a:moveTo>
                    <a:pt x="16891" y="0"/>
                  </a:moveTo>
                  <a:lnTo>
                    <a:pt x="7210172" y="0"/>
                  </a:lnTo>
                  <a:cubicBezTo>
                    <a:pt x="7219569" y="0"/>
                    <a:pt x="7227062" y="7620"/>
                    <a:pt x="7227062" y="16891"/>
                  </a:cubicBezTo>
                  <a:lnTo>
                    <a:pt x="7227062" y="9648572"/>
                  </a:lnTo>
                  <a:cubicBezTo>
                    <a:pt x="7227062" y="9657969"/>
                    <a:pt x="7219442" y="9665462"/>
                    <a:pt x="7210172" y="9665462"/>
                  </a:cubicBezTo>
                  <a:lnTo>
                    <a:pt x="16891" y="9665462"/>
                  </a:lnTo>
                  <a:cubicBezTo>
                    <a:pt x="7493" y="9665462"/>
                    <a:pt x="0" y="9657842"/>
                    <a:pt x="0" y="9648572"/>
                  </a:cubicBezTo>
                  <a:lnTo>
                    <a:pt x="0" y="16891"/>
                  </a:lnTo>
                  <a:cubicBezTo>
                    <a:pt x="0" y="7620"/>
                    <a:pt x="7620" y="0"/>
                    <a:pt x="16891" y="0"/>
                  </a:cubicBezTo>
                  <a:moveTo>
                    <a:pt x="16891" y="33909"/>
                  </a:moveTo>
                  <a:lnTo>
                    <a:pt x="16891" y="16891"/>
                  </a:lnTo>
                  <a:lnTo>
                    <a:pt x="33909" y="16891"/>
                  </a:lnTo>
                  <a:lnTo>
                    <a:pt x="33909" y="9648572"/>
                  </a:lnTo>
                  <a:lnTo>
                    <a:pt x="16891" y="9648572"/>
                  </a:lnTo>
                  <a:lnTo>
                    <a:pt x="16891" y="9631680"/>
                  </a:lnTo>
                  <a:lnTo>
                    <a:pt x="7210172" y="9631680"/>
                  </a:lnTo>
                  <a:lnTo>
                    <a:pt x="7210172" y="9648572"/>
                  </a:lnTo>
                  <a:lnTo>
                    <a:pt x="7193280" y="9648572"/>
                  </a:lnTo>
                  <a:lnTo>
                    <a:pt x="7193280" y="16891"/>
                  </a:lnTo>
                  <a:lnTo>
                    <a:pt x="7210172" y="16891"/>
                  </a:lnTo>
                  <a:lnTo>
                    <a:pt x="7210172" y="33909"/>
                  </a:lnTo>
                  <a:lnTo>
                    <a:pt x="16891" y="33909"/>
                  </a:lnTo>
                  <a:close/>
                </a:path>
              </a:pathLst>
            </a:custGeom>
            <a:solidFill>
              <a:srgbClr val="7EC8A4"/>
            </a:solidFill>
          </p:spPr>
          <p:txBody>
            <a:bodyPr/>
            <a:lstStyle/>
            <a:p>
              <a:endParaRPr lang="es-GT"/>
            </a:p>
          </p:txBody>
        </p:sp>
      </p:grpSp>
      <p:grpSp>
        <p:nvGrpSpPr>
          <p:cNvPr id="40" name="Group 40"/>
          <p:cNvGrpSpPr/>
          <p:nvPr/>
        </p:nvGrpSpPr>
        <p:grpSpPr>
          <a:xfrm>
            <a:off x="6296663" y="2511047"/>
            <a:ext cx="5420363" cy="1086107"/>
            <a:chOff x="0" y="0"/>
            <a:chExt cx="7227151" cy="1448143"/>
          </a:xfrm>
        </p:grpSpPr>
        <p:sp>
          <p:nvSpPr>
            <p:cNvPr id="41" name="Freeform 41"/>
            <p:cNvSpPr/>
            <p:nvPr/>
          </p:nvSpPr>
          <p:spPr>
            <a:xfrm>
              <a:off x="16891" y="16891"/>
              <a:ext cx="7193281" cy="1414272"/>
            </a:xfrm>
            <a:custGeom>
              <a:avLst/>
              <a:gdLst/>
              <a:ahLst/>
              <a:cxnLst/>
              <a:rect l="l" t="t" r="r" b="b"/>
              <a:pathLst>
                <a:path w="7193281" h="1414272">
                  <a:moveTo>
                    <a:pt x="0" y="0"/>
                  </a:moveTo>
                  <a:lnTo>
                    <a:pt x="7193281" y="0"/>
                  </a:lnTo>
                  <a:lnTo>
                    <a:pt x="7193281" y="1414272"/>
                  </a:lnTo>
                  <a:lnTo>
                    <a:pt x="0" y="1414272"/>
                  </a:lnTo>
                  <a:close/>
                </a:path>
              </a:pathLst>
            </a:custGeom>
            <a:solidFill>
              <a:srgbClr val="1A1F33"/>
            </a:solidFill>
          </p:spPr>
          <p:txBody>
            <a:bodyPr/>
            <a:lstStyle/>
            <a:p>
              <a:endParaRPr lang="es-GT"/>
            </a:p>
          </p:txBody>
        </p:sp>
        <p:sp>
          <p:nvSpPr>
            <p:cNvPr id="42" name="Freeform 42"/>
            <p:cNvSpPr/>
            <p:nvPr/>
          </p:nvSpPr>
          <p:spPr>
            <a:xfrm>
              <a:off x="0" y="0"/>
              <a:ext cx="7227062" cy="1448054"/>
            </a:xfrm>
            <a:custGeom>
              <a:avLst/>
              <a:gdLst/>
              <a:ahLst/>
              <a:cxnLst/>
              <a:rect l="l" t="t" r="r" b="b"/>
              <a:pathLst>
                <a:path w="7227062" h="1448054">
                  <a:moveTo>
                    <a:pt x="16891" y="0"/>
                  </a:moveTo>
                  <a:lnTo>
                    <a:pt x="7210172" y="0"/>
                  </a:lnTo>
                  <a:cubicBezTo>
                    <a:pt x="7219569" y="0"/>
                    <a:pt x="7227062" y="7620"/>
                    <a:pt x="7227062" y="16891"/>
                  </a:cubicBezTo>
                  <a:lnTo>
                    <a:pt x="7227062" y="1431163"/>
                  </a:lnTo>
                  <a:cubicBezTo>
                    <a:pt x="7227062" y="1440561"/>
                    <a:pt x="7219442" y="1448054"/>
                    <a:pt x="7210172" y="1448054"/>
                  </a:cubicBezTo>
                  <a:lnTo>
                    <a:pt x="16891" y="1448054"/>
                  </a:lnTo>
                  <a:cubicBezTo>
                    <a:pt x="7493" y="1448054"/>
                    <a:pt x="0" y="1440434"/>
                    <a:pt x="0" y="1431163"/>
                  </a:cubicBezTo>
                  <a:lnTo>
                    <a:pt x="0" y="16891"/>
                  </a:lnTo>
                  <a:cubicBezTo>
                    <a:pt x="0" y="7620"/>
                    <a:pt x="7620" y="0"/>
                    <a:pt x="16891" y="0"/>
                  </a:cubicBezTo>
                  <a:moveTo>
                    <a:pt x="16891" y="33909"/>
                  </a:moveTo>
                  <a:lnTo>
                    <a:pt x="16891" y="16891"/>
                  </a:lnTo>
                  <a:lnTo>
                    <a:pt x="33909" y="16891"/>
                  </a:lnTo>
                  <a:lnTo>
                    <a:pt x="33909" y="1431163"/>
                  </a:lnTo>
                  <a:lnTo>
                    <a:pt x="16891" y="1431163"/>
                  </a:lnTo>
                  <a:lnTo>
                    <a:pt x="16891" y="1414272"/>
                  </a:lnTo>
                  <a:lnTo>
                    <a:pt x="7210172" y="1414272"/>
                  </a:lnTo>
                  <a:lnTo>
                    <a:pt x="7210172" y="1431163"/>
                  </a:lnTo>
                  <a:lnTo>
                    <a:pt x="7193280" y="1431163"/>
                  </a:lnTo>
                  <a:lnTo>
                    <a:pt x="7193280" y="16891"/>
                  </a:lnTo>
                  <a:lnTo>
                    <a:pt x="7210172" y="16891"/>
                  </a:lnTo>
                  <a:lnTo>
                    <a:pt x="7210172" y="33909"/>
                  </a:lnTo>
                  <a:lnTo>
                    <a:pt x="16891" y="33909"/>
                  </a:lnTo>
                  <a:close/>
                </a:path>
              </a:pathLst>
            </a:custGeom>
            <a:solidFill>
              <a:srgbClr val="7EC8A4"/>
            </a:solidFill>
          </p:spPr>
          <p:txBody>
            <a:bodyPr/>
            <a:lstStyle/>
            <a:p>
              <a:endParaRPr lang="es-GT"/>
            </a:p>
          </p:txBody>
        </p:sp>
      </p:grpSp>
      <p:grpSp>
        <p:nvGrpSpPr>
          <p:cNvPr id="43" name="Group 43"/>
          <p:cNvGrpSpPr/>
          <p:nvPr/>
        </p:nvGrpSpPr>
        <p:grpSpPr>
          <a:xfrm>
            <a:off x="6528816" y="2596896"/>
            <a:ext cx="4937760" cy="548640"/>
            <a:chOff x="0" y="0"/>
            <a:chExt cx="6583680" cy="731520"/>
          </a:xfrm>
        </p:grpSpPr>
        <p:sp>
          <p:nvSpPr>
            <p:cNvPr id="44" name="Freeform 44"/>
            <p:cNvSpPr/>
            <p:nvPr/>
          </p:nvSpPr>
          <p:spPr>
            <a:xfrm>
              <a:off x="0" y="0"/>
              <a:ext cx="6583680" cy="731520"/>
            </a:xfrm>
            <a:custGeom>
              <a:avLst/>
              <a:gdLst/>
              <a:ahLst/>
              <a:cxnLst/>
              <a:rect l="l" t="t" r="r" b="b"/>
              <a:pathLst>
                <a:path w="6583680" h="731520">
                  <a:moveTo>
                    <a:pt x="0" y="0"/>
                  </a:moveTo>
                  <a:lnTo>
                    <a:pt x="6583680" y="0"/>
                  </a:lnTo>
                  <a:lnTo>
                    <a:pt x="6583680" y="731520"/>
                  </a:lnTo>
                  <a:lnTo>
                    <a:pt x="0" y="731520"/>
                  </a:lnTo>
                  <a:close/>
                </a:path>
              </a:pathLst>
            </a:custGeom>
            <a:blipFill>
              <a:blip r:embed="rId3">
                <a:alphaModFix amt="0"/>
              </a:blip>
              <a:stretch>
                <a:fillRect t="-125365" b="-125365"/>
              </a:stretch>
            </a:blipFill>
          </p:spPr>
          <p:txBody>
            <a:bodyPr/>
            <a:lstStyle/>
            <a:p>
              <a:endParaRPr lang="es-GT"/>
            </a:p>
          </p:txBody>
        </p:sp>
        <p:sp>
          <p:nvSpPr>
            <p:cNvPr id="45" name="TextBox 45"/>
            <p:cNvSpPr txBox="1"/>
            <p:nvPr/>
          </p:nvSpPr>
          <p:spPr>
            <a:xfrm>
              <a:off x="0" y="-47625"/>
              <a:ext cx="6583680" cy="779145"/>
            </a:xfrm>
            <a:prstGeom prst="rect">
              <a:avLst/>
            </a:prstGeom>
          </p:spPr>
          <p:txBody>
            <a:bodyPr lIns="0" tIns="0" rIns="0" bIns="0" rtlCol="0" anchor="ctr"/>
            <a:lstStyle/>
            <a:p>
              <a:pPr algn="l">
                <a:lnSpc>
                  <a:spcPts val="2520"/>
                </a:lnSpc>
              </a:pPr>
              <a:r>
                <a:rPr lang="en-US" sz="2100" b="1">
                  <a:solidFill>
                    <a:srgbClr val="7EC8A4"/>
                  </a:solidFill>
                  <a:latin typeface="Calibri (MS) Bold"/>
                  <a:ea typeface="Calibri (MS) Bold"/>
                  <a:cs typeface="Calibri (MS) Bold"/>
                  <a:sym typeface="Calibri (MS) Bold"/>
                </a:rPr>
                <a:t>CONDICIONAL (Selección)</a:t>
              </a:r>
            </a:p>
          </p:txBody>
        </p:sp>
      </p:grpSp>
      <p:grpSp>
        <p:nvGrpSpPr>
          <p:cNvPr id="46" name="Group 46"/>
          <p:cNvGrpSpPr/>
          <p:nvPr/>
        </p:nvGrpSpPr>
        <p:grpSpPr>
          <a:xfrm>
            <a:off x="6528816" y="3145536"/>
            <a:ext cx="4937760" cy="402336"/>
            <a:chOff x="0" y="0"/>
            <a:chExt cx="6583680" cy="536448"/>
          </a:xfrm>
        </p:grpSpPr>
        <p:sp>
          <p:nvSpPr>
            <p:cNvPr id="47" name="Freeform 47"/>
            <p:cNvSpPr/>
            <p:nvPr/>
          </p:nvSpPr>
          <p:spPr>
            <a:xfrm>
              <a:off x="0" y="0"/>
              <a:ext cx="6583680" cy="536448"/>
            </a:xfrm>
            <a:custGeom>
              <a:avLst/>
              <a:gdLst/>
              <a:ahLst/>
              <a:cxnLst/>
              <a:rect l="l" t="t" r="r" b="b"/>
              <a:pathLst>
                <a:path w="6583680" h="536448">
                  <a:moveTo>
                    <a:pt x="0" y="0"/>
                  </a:moveTo>
                  <a:lnTo>
                    <a:pt x="6583680" y="0"/>
                  </a:lnTo>
                  <a:lnTo>
                    <a:pt x="6583680" y="536448"/>
                  </a:lnTo>
                  <a:lnTo>
                    <a:pt x="0" y="536448"/>
                  </a:lnTo>
                  <a:close/>
                </a:path>
              </a:pathLst>
            </a:custGeom>
            <a:blipFill>
              <a:blip r:embed="rId3">
                <a:alphaModFix amt="0"/>
              </a:blip>
              <a:stretch>
                <a:fillRect t="-189134" b="-189134"/>
              </a:stretch>
            </a:blipFill>
          </p:spPr>
          <p:txBody>
            <a:bodyPr/>
            <a:lstStyle/>
            <a:p>
              <a:endParaRPr lang="es-GT"/>
            </a:p>
          </p:txBody>
        </p:sp>
        <p:sp>
          <p:nvSpPr>
            <p:cNvPr id="48" name="TextBox 48"/>
            <p:cNvSpPr txBox="1"/>
            <p:nvPr/>
          </p:nvSpPr>
          <p:spPr>
            <a:xfrm>
              <a:off x="0" y="-38100"/>
              <a:ext cx="6583680" cy="574548"/>
            </a:xfrm>
            <a:prstGeom prst="rect">
              <a:avLst/>
            </a:prstGeom>
          </p:spPr>
          <p:txBody>
            <a:bodyPr lIns="0" tIns="0" rIns="0" bIns="0" rtlCol="0" anchor="ctr"/>
            <a:lstStyle/>
            <a:p>
              <a:pPr algn="l">
                <a:lnSpc>
                  <a:spcPts val="2160"/>
                </a:lnSpc>
              </a:pPr>
              <a:r>
                <a:rPr lang="en-US" sz="1800">
                  <a:solidFill>
                    <a:srgbClr val="B0B8CC"/>
                  </a:solidFill>
                  <a:latin typeface="Calibri (MS)"/>
                  <a:ea typeface="Calibri (MS)"/>
                  <a:cs typeface="Calibri (MS)"/>
                  <a:sym typeface="Calibri (MS)"/>
                </a:rPr>
                <a:t>Bifurcación por condición</a:t>
              </a:r>
            </a:p>
          </p:txBody>
        </p:sp>
      </p:grpSp>
      <p:sp>
        <p:nvSpPr>
          <p:cNvPr id="49" name="TextBox 49"/>
          <p:cNvSpPr txBox="1"/>
          <p:nvPr/>
        </p:nvSpPr>
        <p:spPr>
          <a:xfrm>
            <a:off x="6620256" y="3755898"/>
            <a:ext cx="4754880" cy="1619250"/>
          </a:xfrm>
          <a:prstGeom prst="rect">
            <a:avLst/>
          </a:prstGeom>
        </p:spPr>
        <p:txBody>
          <a:bodyPr lIns="0" tIns="0" rIns="0" bIns="0" rtlCol="0" anchor="t">
            <a:spAutoFit/>
          </a:bodyPr>
          <a:lstStyle/>
          <a:p>
            <a:pPr algn="l">
              <a:lnSpc>
                <a:spcPts val="3119"/>
              </a:lnSpc>
            </a:pPr>
            <a:r>
              <a:rPr lang="en-US" sz="2599">
                <a:solidFill>
                  <a:srgbClr val="FFFFFF"/>
                </a:solidFill>
                <a:latin typeface="Calibri (MS)"/>
                <a:ea typeface="Calibri (MS)"/>
                <a:cs typeface="Calibri (MS)"/>
                <a:sym typeface="Calibri (MS)"/>
              </a:rPr>
              <a:t>El flujo se divide según el resultado de una condición booleana. Puede ser simple (Si/SiNo) o múltiple (Segun).</a:t>
            </a:r>
          </a:p>
        </p:txBody>
      </p:sp>
      <p:grpSp>
        <p:nvGrpSpPr>
          <p:cNvPr id="50" name="Group 50"/>
          <p:cNvGrpSpPr/>
          <p:nvPr/>
        </p:nvGrpSpPr>
        <p:grpSpPr>
          <a:xfrm>
            <a:off x="6516119" y="6662423"/>
            <a:ext cx="4963163" cy="2860043"/>
            <a:chOff x="0" y="0"/>
            <a:chExt cx="6617551" cy="3813391"/>
          </a:xfrm>
        </p:grpSpPr>
        <p:sp>
          <p:nvSpPr>
            <p:cNvPr id="51" name="Freeform 51"/>
            <p:cNvSpPr/>
            <p:nvPr/>
          </p:nvSpPr>
          <p:spPr>
            <a:xfrm>
              <a:off x="16891" y="16891"/>
              <a:ext cx="6583681" cy="3779520"/>
            </a:xfrm>
            <a:custGeom>
              <a:avLst/>
              <a:gdLst/>
              <a:ahLst/>
              <a:cxnLst/>
              <a:rect l="l" t="t" r="r" b="b"/>
              <a:pathLst>
                <a:path w="6583681" h="3779520">
                  <a:moveTo>
                    <a:pt x="0" y="0"/>
                  </a:moveTo>
                  <a:lnTo>
                    <a:pt x="6583681" y="0"/>
                  </a:lnTo>
                  <a:lnTo>
                    <a:pt x="6583681" y="3779520"/>
                  </a:lnTo>
                  <a:lnTo>
                    <a:pt x="0" y="3779520"/>
                  </a:lnTo>
                  <a:close/>
                </a:path>
              </a:pathLst>
            </a:custGeom>
            <a:solidFill>
              <a:srgbClr val="0D1020"/>
            </a:solidFill>
          </p:spPr>
          <p:txBody>
            <a:bodyPr/>
            <a:lstStyle/>
            <a:p>
              <a:endParaRPr lang="es-GT"/>
            </a:p>
          </p:txBody>
        </p:sp>
        <p:sp>
          <p:nvSpPr>
            <p:cNvPr id="52" name="Freeform 52"/>
            <p:cNvSpPr/>
            <p:nvPr/>
          </p:nvSpPr>
          <p:spPr>
            <a:xfrm>
              <a:off x="0" y="0"/>
              <a:ext cx="6617462" cy="3813302"/>
            </a:xfrm>
            <a:custGeom>
              <a:avLst/>
              <a:gdLst/>
              <a:ahLst/>
              <a:cxnLst/>
              <a:rect l="l" t="t" r="r" b="b"/>
              <a:pathLst>
                <a:path w="6617462" h="3813302">
                  <a:moveTo>
                    <a:pt x="16891" y="0"/>
                  </a:moveTo>
                  <a:lnTo>
                    <a:pt x="6600572" y="0"/>
                  </a:lnTo>
                  <a:cubicBezTo>
                    <a:pt x="6609969" y="0"/>
                    <a:pt x="6617462" y="7620"/>
                    <a:pt x="6617462" y="16891"/>
                  </a:cubicBezTo>
                  <a:lnTo>
                    <a:pt x="6617462" y="3796411"/>
                  </a:lnTo>
                  <a:cubicBezTo>
                    <a:pt x="6617462" y="3805809"/>
                    <a:pt x="6609842" y="3813302"/>
                    <a:pt x="6600572" y="3813302"/>
                  </a:cubicBezTo>
                  <a:lnTo>
                    <a:pt x="16891" y="3813302"/>
                  </a:lnTo>
                  <a:cubicBezTo>
                    <a:pt x="7493" y="3813302"/>
                    <a:pt x="0" y="3805682"/>
                    <a:pt x="0" y="3796411"/>
                  </a:cubicBezTo>
                  <a:lnTo>
                    <a:pt x="0" y="16891"/>
                  </a:lnTo>
                  <a:cubicBezTo>
                    <a:pt x="0" y="7620"/>
                    <a:pt x="7620" y="0"/>
                    <a:pt x="16891" y="0"/>
                  </a:cubicBezTo>
                  <a:moveTo>
                    <a:pt x="16891" y="33909"/>
                  </a:moveTo>
                  <a:lnTo>
                    <a:pt x="16891" y="16891"/>
                  </a:lnTo>
                  <a:lnTo>
                    <a:pt x="33909" y="16891"/>
                  </a:lnTo>
                  <a:lnTo>
                    <a:pt x="33909" y="3796411"/>
                  </a:lnTo>
                  <a:lnTo>
                    <a:pt x="16891" y="3796411"/>
                  </a:lnTo>
                  <a:lnTo>
                    <a:pt x="16891" y="3779520"/>
                  </a:lnTo>
                  <a:lnTo>
                    <a:pt x="6600572" y="3779520"/>
                  </a:lnTo>
                  <a:lnTo>
                    <a:pt x="6600572" y="3796411"/>
                  </a:lnTo>
                  <a:lnTo>
                    <a:pt x="6583680" y="3796411"/>
                  </a:lnTo>
                  <a:lnTo>
                    <a:pt x="6583680" y="16891"/>
                  </a:lnTo>
                  <a:lnTo>
                    <a:pt x="6600572" y="16891"/>
                  </a:lnTo>
                  <a:lnTo>
                    <a:pt x="6600572" y="33909"/>
                  </a:lnTo>
                  <a:lnTo>
                    <a:pt x="16891" y="33909"/>
                  </a:lnTo>
                  <a:close/>
                </a:path>
              </a:pathLst>
            </a:custGeom>
            <a:solidFill>
              <a:srgbClr val="3A4160"/>
            </a:solidFill>
          </p:spPr>
          <p:txBody>
            <a:bodyPr/>
            <a:lstStyle/>
            <a:p>
              <a:endParaRPr lang="es-GT"/>
            </a:p>
          </p:txBody>
        </p:sp>
      </p:grpSp>
      <p:sp>
        <p:nvSpPr>
          <p:cNvPr id="53" name="TextBox 53"/>
          <p:cNvSpPr txBox="1"/>
          <p:nvPr/>
        </p:nvSpPr>
        <p:spPr>
          <a:xfrm>
            <a:off x="6766560" y="6810756"/>
            <a:ext cx="4480560" cy="2543556"/>
          </a:xfrm>
          <a:prstGeom prst="rect">
            <a:avLst/>
          </a:prstGeom>
        </p:spPr>
        <p:txBody>
          <a:bodyPr lIns="0" tIns="0" rIns="0" bIns="0" rtlCol="0" anchor="t">
            <a:spAutoFit/>
          </a:bodyPr>
          <a:lstStyle/>
          <a:p>
            <a:pPr algn="l">
              <a:lnSpc>
                <a:spcPts val="2039"/>
              </a:lnSpc>
            </a:pPr>
            <a:r>
              <a:rPr lang="en-US" sz="1700">
                <a:solidFill>
                  <a:srgbClr val="7EC8A4"/>
                </a:solidFill>
                <a:latin typeface="Consolas"/>
                <a:ea typeface="Consolas"/>
                <a:cs typeface="Consolas"/>
                <a:sym typeface="Consolas"/>
              </a:rPr>
              <a:t>Si N &gt; 0 Entonces</a:t>
            </a:r>
          </a:p>
          <a:p>
            <a:pPr algn="l">
              <a:lnSpc>
                <a:spcPts val="2039"/>
              </a:lnSpc>
            </a:pPr>
            <a:r>
              <a:rPr lang="en-US" sz="1700">
                <a:solidFill>
                  <a:srgbClr val="7EC8A4"/>
                </a:solidFill>
                <a:latin typeface="Consolas"/>
                <a:ea typeface="Consolas"/>
                <a:cs typeface="Consolas"/>
                <a:sym typeface="Consolas"/>
              </a:rPr>
              <a:t>   Escribir "Positivo"</a:t>
            </a:r>
          </a:p>
          <a:p>
            <a:pPr algn="l">
              <a:lnSpc>
                <a:spcPts val="2039"/>
              </a:lnSpc>
            </a:pPr>
            <a:r>
              <a:rPr lang="en-US" sz="1700">
                <a:solidFill>
                  <a:srgbClr val="7EC8A4"/>
                </a:solidFill>
                <a:latin typeface="Consolas"/>
                <a:ea typeface="Consolas"/>
                <a:cs typeface="Consolas"/>
                <a:sym typeface="Consolas"/>
              </a:rPr>
              <a:t>SiNo</a:t>
            </a:r>
          </a:p>
          <a:p>
            <a:pPr algn="l">
              <a:lnSpc>
                <a:spcPts val="2039"/>
              </a:lnSpc>
            </a:pPr>
            <a:r>
              <a:rPr lang="en-US" sz="1700">
                <a:solidFill>
                  <a:srgbClr val="7EC8A4"/>
                </a:solidFill>
                <a:latin typeface="Consolas"/>
                <a:ea typeface="Consolas"/>
                <a:cs typeface="Consolas"/>
                <a:sym typeface="Consolas"/>
              </a:rPr>
              <a:t>   Escribir "No positivo"</a:t>
            </a:r>
          </a:p>
          <a:p>
            <a:pPr algn="l">
              <a:lnSpc>
                <a:spcPts val="2039"/>
              </a:lnSpc>
            </a:pPr>
            <a:r>
              <a:rPr lang="en-US" sz="1700">
                <a:solidFill>
                  <a:srgbClr val="7EC8A4"/>
                </a:solidFill>
                <a:latin typeface="Consolas"/>
                <a:ea typeface="Consolas"/>
                <a:cs typeface="Consolas"/>
                <a:sym typeface="Consolas"/>
              </a:rPr>
              <a:t>FinSi</a:t>
            </a:r>
          </a:p>
        </p:txBody>
      </p:sp>
      <p:grpSp>
        <p:nvGrpSpPr>
          <p:cNvPr id="54" name="Group 54"/>
          <p:cNvGrpSpPr/>
          <p:nvPr/>
        </p:nvGrpSpPr>
        <p:grpSpPr>
          <a:xfrm>
            <a:off x="11965943" y="2511047"/>
            <a:ext cx="5420363" cy="7249163"/>
            <a:chOff x="0" y="0"/>
            <a:chExt cx="7227151" cy="9665551"/>
          </a:xfrm>
        </p:grpSpPr>
        <p:sp>
          <p:nvSpPr>
            <p:cNvPr id="55" name="Freeform 55"/>
            <p:cNvSpPr/>
            <p:nvPr/>
          </p:nvSpPr>
          <p:spPr>
            <a:xfrm>
              <a:off x="16891" y="16891"/>
              <a:ext cx="7193281" cy="9631681"/>
            </a:xfrm>
            <a:custGeom>
              <a:avLst/>
              <a:gdLst/>
              <a:ahLst/>
              <a:cxnLst/>
              <a:rect l="l" t="t" r="r" b="b"/>
              <a:pathLst>
                <a:path w="7193281" h="9631681">
                  <a:moveTo>
                    <a:pt x="0" y="0"/>
                  </a:moveTo>
                  <a:lnTo>
                    <a:pt x="7193281" y="0"/>
                  </a:lnTo>
                  <a:lnTo>
                    <a:pt x="7193281" y="9631681"/>
                  </a:lnTo>
                  <a:lnTo>
                    <a:pt x="0" y="9631681"/>
                  </a:lnTo>
                  <a:close/>
                </a:path>
              </a:pathLst>
            </a:custGeom>
            <a:solidFill>
              <a:srgbClr val="252B42"/>
            </a:solidFill>
          </p:spPr>
          <p:txBody>
            <a:bodyPr/>
            <a:lstStyle/>
            <a:p>
              <a:endParaRPr lang="es-GT"/>
            </a:p>
          </p:txBody>
        </p:sp>
        <p:sp>
          <p:nvSpPr>
            <p:cNvPr id="56" name="Freeform 56"/>
            <p:cNvSpPr/>
            <p:nvPr/>
          </p:nvSpPr>
          <p:spPr>
            <a:xfrm>
              <a:off x="0" y="0"/>
              <a:ext cx="7227062" cy="9665462"/>
            </a:xfrm>
            <a:custGeom>
              <a:avLst/>
              <a:gdLst/>
              <a:ahLst/>
              <a:cxnLst/>
              <a:rect l="l" t="t" r="r" b="b"/>
              <a:pathLst>
                <a:path w="7227062" h="9665462">
                  <a:moveTo>
                    <a:pt x="16891" y="0"/>
                  </a:moveTo>
                  <a:lnTo>
                    <a:pt x="7210172" y="0"/>
                  </a:lnTo>
                  <a:cubicBezTo>
                    <a:pt x="7219569" y="0"/>
                    <a:pt x="7227062" y="7620"/>
                    <a:pt x="7227062" y="16891"/>
                  </a:cubicBezTo>
                  <a:lnTo>
                    <a:pt x="7227062" y="9648572"/>
                  </a:lnTo>
                  <a:cubicBezTo>
                    <a:pt x="7227062" y="9657969"/>
                    <a:pt x="7219442" y="9665462"/>
                    <a:pt x="7210172" y="9665462"/>
                  </a:cubicBezTo>
                  <a:lnTo>
                    <a:pt x="16891" y="9665462"/>
                  </a:lnTo>
                  <a:cubicBezTo>
                    <a:pt x="7493" y="9665462"/>
                    <a:pt x="0" y="9657842"/>
                    <a:pt x="0" y="9648572"/>
                  </a:cubicBezTo>
                  <a:lnTo>
                    <a:pt x="0" y="16891"/>
                  </a:lnTo>
                  <a:cubicBezTo>
                    <a:pt x="0" y="7620"/>
                    <a:pt x="7620" y="0"/>
                    <a:pt x="16891" y="0"/>
                  </a:cubicBezTo>
                  <a:moveTo>
                    <a:pt x="16891" y="33909"/>
                  </a:moveTo>
                  <a:lnTo>
                    <a:pt x="16891" y="16891"/>
                  </a:lnTo>
                  <a:lnTo>
                    <a:pt x="33909" y="16891"/>
                  </a:lnTo>
                  <a:lnTo>
                    <a:pt x="33909" y="9648572"/>
                  </a:lnTo>
                  <a:lnTo>
                    <a:pt x="16891" y="9648572"/>
                  </a:lnTo>
                  <a:lnTo>
                    <a:pt x="16891" y="9631680"/>
                  </a:lnTo>
                  <a:lnTo>
                    <a:pt x="7210172" y="9631680"/>
                  </a:lnTo>
                  <a:lnTo>
                    <a:pt x="7210172" y="9648572"/>
                  </a:lnTo>
                  <a:lnTo>
                    <a:pt x="7193280" y="9648572"/>
                  </a:lnTo>
                  <a:lnTo>
                    <a:pt x="7193280" y="16891"/>
                  </a:lnTo>
                  <a:lnTo>
                    <a:pt x="7210172" y="16891"/>
                  </a:lnTo>
                  <a:lnTo>
                    <a:pt x="7210172" y="33909"/>
                  </a:lnTo>
                  <a:lnTo>
                    <a:pt x="16891" y="33909"/>
                  </a:lnTo>
                  <a:close/>
                </a:path>
              </a:pathLst>
            </a:custGeom>
            <a:solidFill>
              <a:srgbClr val="9B7FD4"/>
            </a:solidFill>
          </p:spPr>
          <p:txBody>
            <a:bodyPr/>
            <a:lstStyle/>
            <a:p>
              <a:endParaRPr lang="es-GT"/>
            </a:p>
          </p:txBody>
        </p:sp>
      </p:grpSp>
      <p:grpSp>
        <p:nvGrpSpPr>
          <p:cNvPr id="57" name="Group 57"/>
          <p:cNvGrpSpPr/>
          <p:nvPr/>
        </p:nvGrpSpPr>
        <p:grpSpPr>
          <a:xfrm>
            <a:off x="11965943" y="2511047"/>
            <a:ext cx="5420363" cy="1086107"/>
            <a:chOff x="0" y="0"/>
            <a:chExt cx="7227151" cy="1448143"/>
          </a:xfrm>
        </p:grpSpPr>
        <p:sp>
          <p:nvSpPr>
            <p:cNvPr id="58" name="Freeform 58"/>
            <p:cNvSpPr/>
            <p:nvPr/>
          </p:nvSpPr>
          <p:spPr>
            <a:xfrm>
              <a:off x="16891" y="16891"/>
              <a:ext cx="7193281" cy="1414272"/>
            </a:xfrm>
            <a:custGeom>
              <a:avLst/>
              <a:gdLst/>
              <a:ahLst/>
              <a:cxnLst/>
              <a:rect l="l" t="t" r="r" b="b"/>
              <a:pathLst>
                <a:path w="7193281" h="1414272">
                  <a:moveTo>
                    <a:pt x="0" y="0"/>
                  </a:moveTo>
                  <a:lnTo>
                    <a:pt x="7193281" y="0"/>
                  </a:lnTo>
                  <a:lnTo>
                    <a:pt x="7193281" y="1414272"/>
                  </a:lnTo>
                  <a:lnTo>
                    <a:pt x="0" y="1414272"/>
                  </a:lnTo>
                  <a:close/>
                </a:path>
              </a:pathLst>
            </a:custGeom>
            <a:solidFill>
              <a:srgbClr val="1A1F33"/>
            </a:solidFill>
          </p:spPr>
          <p:txBody>
            <a:bodyPr/>
            <a:lstStyle/>
            <a:p>
              <a:endParaRPr lang="es-GT"/>
            </a:p>
          </p:txBody>
        </p:sp>
        <p:sp>
          <p:nvSpPr>
            <p:cNvPr id="59" name="Freeform 59"/>
            <p:cNvSpPr/>
            <p:nvPr/>
          </p:nvSpPr>
          <p:spPr>
            <a:xfrm>
              <a:off x="0" y="0"/>
              <a:ext cx="7227062" cy="1448054"/>
            </a:xfrm>
            <a:custGeom>
              <a:avLst/>
              <a:gdLst/>
              <a:ahLst/>
              <a:cxnLst/>
              <a:rect l="l" t="t" r="r" b="b"/>
              <a:pathLst>
                <a:path w="7227062" h="1448054">
                  <a:moveTo>
                    <a:pt x="16891" y="0"/>
                  </a:moveTo>
                  <a:lnTo>
                    <a:pt x="7210172" y="0"/>
                  </a:lnTo>
                  <a:cubicBezTo>
                    <a:pt x="7219569" y="0"/>
                    <a:pt x="7227062" y="7620"/>
                    <a:pt x="7227062" y="16891"/>
                  </a:cubicBezTo>
                  <a:lnTo>
                    <a:pt x="7227062" y="1431163"/>
                  </a:lnTo>
                  <a:cubicBezTo>
                    <a:pt x="7227062" y="1440561"/>
                    <a:pt x="7219442" y="1448054"/>
                    <a:pt x="7210172" y="1448054"/>
                  </a:cubicBezTo>
                  <a:lnTo>
                    <a:pt x="16891" y="1448054"/>
                  </a:lnTo>
                  <a:cubicBezTo>
                    <a:pt x="7493" y="1448054"/>
                    <a:pt x="0" y="1440434"/>
                    <a:pt x="0" y="1431163"/>
                  </a:cubicBezTo>
                  <a:lnTo>
                    <a:pt x="0" y="16891"/>
                  </a:lnTo>
                  <a:cubicBezTo>
                    <a:pt x="0" y="7620"/>
                    <a:pt x="7620" y="0"/>
                    <a:pt x="16891" y="0"/>
                  </a:cubicBezTo>
                  <a:moveTo>
                    <a:pt x="16891" y="33909"/>
                  </a:moveTo>
                  <a:lnTo>
                    <a:pt x="16891" y="16891"/>
                  </a:lnTo>
                  <a:lnTo>
                    <a:pt x="33909" y="16891"/>
                  </a:lnTo>
                  <a:lnTo>
                    <a:pt x="33909" y="1431163"/>
                  </a:lnTo>
                  <a:lnTo>
                    <a:pt x="16891" y="1431163"/>
                  </a:lnTo>
                  <a:lnTo>
                    <a:pt x="16891" y="1414272"/>
                  </a:lnTo>
                  <a:lnTo>
                    <a:pt x="7210172" y="1414272"/>
                  </a:lnTo>
                  <a:lnTo>
                    <a:pt x="7210172" y="1431163"/>
                  </a:lnTo>
                  <a:lnTo>
                    <a:pt x="7193280" y="1431163"/>
                  </a:lnTo>
                  <a:lnTo>
                    <a:pt x="7193280" y="16891"/>
                  </a:lnTo>
                  <a:lnTo>
                    <a:pt x="7210172" y="16891"/>
                  </a:lnTo>
                  <a:lnTo>
                    <a:pt x="7210172" y="33909"/>
                  </a:lnTo>
                  <a:lnTo>
                    <a:pt x="16891" y="33909"/>
                  </a:lnTo>
                  <a:close/>
                </a:path>
              </a:pathLst>
            </a:custGeom>
            <a:solidFill>
              <a:srgbClr val="9B7FD4"/>
            </a:solidFill>
          </p:spPr>
          <p:txBody>
            <a:bodyPr/>
            <a:lstStyle/>
            <a:p>
              <a:endParaRPr lang="es-GT"/>
            </a:p>
          </p:txBody>
        </p:sp>
      </p:grpSp>
      <p:grpSp>
        <p:nvGrpSpPr>
          <p:cNvPr id="60" name="Group 60"/>
          <p:cNvGrpSpPr/>
          <p:nvPr/>
        </p:nvGrpSpPr>
        <p:grpSpPr>
          <a:xfrm>
            <a:off x="12198096" y="2596896"/>
            <a:ext cx="4937760" cy="548640"/>
            <a:chOff x="0" y="0"/>
            <a:chExt cx="6583680" cy="731520"/>
          </a:xfrm>
        </p:grpSpPr>
        <p:sp>
          <p:nvSpPr>
            <p:cNvPr id="61" name="Freeform 61"/>
            <p:cNvSpPr/>
            <p:nvPr/>
          </p:nvSpPr>
          <p:spPr>
            <a:xfrm>
              <a:off x="0" y="0"/>
              <a:ext cx="6583680" cy="731520"/>
            </a:xfrm>
            <a:custGeom>
              <a:avLst/>
              <a:gdLst/>
              <a:ahLst/>
              <a:cxnLst/>
              <a:rect l="l" t="t" r="r" b="b"/>
              <a:pathLst>
                <a:path w="6583680" h="731520">
                  <a:moveTo>
                    <a:pt x="0" y="0"/>
                  </a:moveTo>
                  <a:lnTo>
                    <a:pt x="6583680" y="0"/>
                  </a:lnTo>
                  <a:lnTo>
                    <a:pt x="6583680" y="731520"/>
                  </a:lnTo>
                  <a:lnTo>
                    <a:pt x="0" y="731520"/>
                  </a:lnTo>
                  <a:close/>
                </a:path>
              </a:pathLst>
            </a:custGeom>
            <a:blipFill>
              <a:blip r:embed="rId3">
                <a:alphaModFix amt="0"/>
              </a:blip>
              <a:stretch>
                <a:fillRect t="-125365" b="-125365"/>
              </a:stretch>
            </a:blipFill>
          </p:spPr>
          <p:txBody>
            <a:bodyPr/>
            <a:lstStyle/>
            <a:p>
              <a:endParaRPr lang="es-GT"/>
            </a:p>
          </p:txBody>
        </p:sp>
        <p:sp>
          <p:nvSpPr>
            <p:cNvPr id="62" name="TextBox 62"/>
            <p:cNvSpPr txBox="1"/>
            <p:nvPr/>
          </p:nvSpPr>
          <p:spPr>
            <a:xfrm>
              <a:off x="0" y="-47625"/>
              <a:ext cx="6583680" cy="779145"/>
            </a:xfrm>
            <a:prstGeom prst="rect">
              <a:avLst/>
            </a:prstGeom>
          </p:spPr>
          <p:txBody>
            <a:bodyPr lIns="0" tIns="0" rIns="0" bIns="0" rtlCol="0" anchor="ctr"/>
            <a:lstStyle/>
            <a:p>
              <a:pPr algn="l">
                <a:lnSpc>
                  <a:spcPts val="2520"/>
                </a:lnSpc>
              </a:pPr>
              <a:r>
                <a:rPr lang="en-US" sz="2100" b="1">
                  <a:solidFill>
                    <a:srgbClr val="9B7FD4"/>
                  </a:solidFill>
                  <a:latin typeface="Calibri (MS) Bold"/>
                  <a:ea typeface="Calibri (MS) Bold"/>
                  <a:cs typeface="Calibri (MS) Bold"/>
                  <a:sym typeface="Calibri (MS) Bold"/>
                </a:rPr>
                <a:t>ITERATIVA (Repetición)</a:t>
              </a:r>
            </a:p>
          </p:txBody>
        </p:sp>
      </p:grpSp>
      <p:grpSp>
        <p:nvGrpSpPr>
          <p:cNvPr id="63" name="Group 63"/>
          <p:cNvGrpSpPr/>
          <p:nvPr/>
        </p:nvGrpSpPr>
        <p:grpSpPr>
          <a:xfrm>
            <a:off x="12198096" y="3145536"/>
            <a:ext cx="4937760" cy="402336"/>
            <a:chOff x="0" y="0"/>
            <a:chExt cx="6583680" cy="536448"/>
          </a:xfrm>
        </p:grpSpPr>
        <p:sp>
          <p:nvSpPr>
            <p:cNvPr id="64" name="Freeform 64"/>
            <p:cNvSpPr/>
            <p:nvPr/>
          </p:nvSpPr>
          <p:spPr>
            <a:xfrm>
              <a:off x="0" y="0"/>
              <a:ext cx="6583680" cy="536448"/>
            </a:xfrm>
            <a:custGeom>
              <a:avLst/>
              <a:gdLst/>
              <a:ahLst/>
              <a:cxnLst/>
              <a:rect l="l" t="t" r="r" b="b"/>
              <a:pathLst>
                <a:path w="6583680" h="536448">
                  <a:moveTo>
                    <a:pt x="0" y="0"/>
                  </a:moveTo>
                  <a:lnTo>
                    <a:pt x="6583680" y="0"/>
                  </a:lnTo>
                  <a:lnTo>
                    <a:pt x="6583680" y="536448"/>
                  </a:lnTo>
                  <a:lnTo>
                    <a:pt x="0" y="536448"/>
                  </a:lnTo>
                  <a:close/>
                </a:path>
              </a:pathLst>
            </a:custGeom>
            <a:blipFill>
              <a:blip r:embed="rId3">
                <a:alphaModFix amt="0"/>
              </a:blip>
              <a:stretch>
                <a:fillRect t="-189134" b="-189134"/>
              </a:stretch>
            </a:blipFill>
          </p:spPr>
          <p:txBody>
            <a:bodyPr/>
            <a:lstStyle/>
            <a:p>
              <a:endParaRPr lang="es-GT"/>
            </a:p>
          </p:txBody>
        </p:sp>
        <p:sp>
          <p:nvSpPr>
            <p:cNvPr id="65" name="TextBox 65"/>
            <p:cNvSpPr txBox="1"/>
            <p:nvPr/>
          </p:nvSpPr>
          <p:spPr>
            <a:xfrm>
              <a:off x="0" y="-38100"/>
              <a:ext cx="6583680" cy="574548"/>
            </a:xfrm>
            <a:prstGeom prst="rect">
              <a:avLst/>
            </a:prstGeom>
          </p:spPr>
          <p:txBody>
            <a:bodyPr lIns="0" tIns="0" rIns="0" bIns="0" rtlCol="0" anchor="ctr"/>
            <a:lstStyle/>
            <a:p>
              <a:pPr algn="l">
                <a:lnSpc>
                  <a:spcPts val="2160"/>
                </a:lnSpc>
              </a:pPr>
              <a:r>
                <a:rPr lang="en-US" sz="1800">
                  <a:solidFill>
                    <a:srgbClr val="B0B8CC"/>
                  </a:solidFill>
                  <a:latin typeface="Calibri (MS)"/>
                  <a:ea typeface="Calibri (MS)"/>
                  <a:cs typeface="Calibri (MS)"/>
                  <a:sym typeface="Calibri (MS)"/>
                </a:rPr>
                <a:t>Ejecución controlada por ciclos</a:t>
              </a:r>
            </a:p>
          </p:txBody>
        </p:sp>
      </p:grpSp>
      <p:sp>
        <p:nvSpPr>
          <p:cNvPr id="66" name="TextBox 66"/>
          <p:cNvSpPr txBox="1"/>
          <p:nvPr/>
        </p:nvSpPr>
        <p:spPr>
          <a:xfrm>
            <a:off x="12289536" y="3755898"/>
            <a:ext cx="4754880" cy="2009775"/>
          </a:xfrm>
          <a:prstGeom prst="rect">
            <a:avLst/>
          </a:prstGeom>
        </p:spPr>
        <p:txBody>
          <a:bodyPr lIns="0" tIns="0" rIns="0" bIns="0" rtlCol="0" anchor="t">
            <a:spAutoFit/>
          </a:bodyPr>
          <a:lstStyle/>
          <a:p>
            <a:pPr algn="l">
              <a:lnSpc>
                <a:spcPts val="3119"/>
              </a:lnSpc>
            </a:pPr>
            <a:r>
              <a:rPr lang="en-US" sz="2599">
                <a:solidFill>
                  <a:srgbClr val="FFFFFF"/>
                </a:solidFill>
                <a:latin typeface="Calibri (MS)"/>
                <a:ea typeface="Calibri (MS)"/>
                <a:cs typeface="Calibri (MS)"/>
                <a:sym typeface="Calibri (MS)"/>
              </a:rPr>
              <a:t>Un bloque de instrucciones se repite mientras se cumpla una condición o un número determinado de veces. Tipos: Para, Mientras, Repetir.</a:t>
            </a:r>
          </a:p>
        </p:txBody>
      </p:sp>
      <p:grpSp>
        <p:nvGrpSpPr>
          <p:cNvPr id="67" name="Group 67"/>
          <p:cNvGrpSpPr/>
          <p:nvPr/>
        </p:nvGrpSpPr>
        <p:grpSpPr>
          <a:xfrm>
            <a:off x="12185399" y="6662423"/>
            <a:ext cx="4963163" cy="2860043"/>
            <a:chOff x="0" y="0"/>
            <a:chExt cx="6617551" cy="3813391"/>
          </a:xfrm>
        </p:grpSpPr>
        <p:sp>
          <p:nvSpPr>
            <p:cNvPr id="68" name="Freeform 68"/>
            <p:cNvSpPr/>
            <p:nvPr/>
          </p:nvSpPr>
          <p:spPr>
            <a:xfrm>
              <a:off x="16891" y="16891"/>
              <a:ext cx="6583681" cy="3779520"/>
            </a:xfrm>
            <a:custGeom>
              <a:avLst/>
              <a:gdLst/>
              <a:ahLst/>
              <a:cxnLst/>
              <a:rect l="l" t="t" r="r" b="b"/>
              <a:pathLst>
                <a:path w="6583681" h="3779520">
                  <a:moveTo>
                    <a:pt x="0" y="0"/>
                  </a:moveTo>
                  <a:lnTo>
                    <a:pt x="6583681" y="0"/>
                  </a:lnTo>
                  <a:lnTo>
                    <a:pt x="6583681" y="3779520"/>
                  </a:lnTo>
                  <a:lnTo>
                    <a:pt x="0" y="3779520"/>
                  </a:lnTo>
                  <a:close/>
                </a:path>
              </a:pathLst>
            </a:custGeom>
            <a:solidFill>
              <a:srgbClr val="0D1020"/>
            </a:solidFill>
          </p:spPr>
          <p:txBody>
            <a:bodyPr/>
            <a:lstStyle/>
            <a:p>
              <a:endParaRPr lang="es-GT"/>
            </a:p>
          </p:txBody>
        </p:sp>
        <p:sp>
          <p:nvSpPr>
            <p:cNvPr id="69" name="Freeform 69"/>
            <p:cNvSpPr/>
            <p:nvPr/>
          </p:nvSpPr>
          <p:spPr>
            <a:xfrm>
              <a:off x="0" y="0"/>
              <a:ext cx="6617462" cy="3813302"/>
            </a:xfrm>
            <a:custGeom>
              <a:avLst/>
              <a:gdLst/>
              <a:ahLst/>
              <a:cxnLst/>
              <a:rect l="l" t="t" r="r" b="b"/>
              <a:pathLst>
                <a:path w="6617462" h="3813302">
                  <a:moveTo>
                    <a:pt x="16891" y="0"/>
                  </a:moveTo>
                  <a:lnTo>
                    <a:pt x="6600572" y="0"/>
                  </a:lnTo>
                  <a:cubicBezTo>
                    <a:pt x="6609969" y="0"/>
                    <a:pt x="6617462" y="7620"/>
                    <a:pt x="6617462" y="16891"/>
                  </a:cubicBezTo>
                  <a:lnTo>
                    <a:pt x="6617462" y="3796411"/>
                  </a:lnTo>
                  <a:cubicBezTo>
                    <a:pt x="6617462" y="3805809"/>
                    <a:pt x="6609842" y="3813302"/>
                    <a:pt x="6600572" y="3813302"/>
                  </a:cubicBezTo>
                  <a:lnTo>
                    <a:pt x="16891" y="3813302"/>
                  </a:lnTo>
                  <a:cubicBezTo>
                    <a:pt x="7493" y="3813302"/>
                    <a:pt x="0" y="3805682"/>
                    <a:pt x="0" y="3796411"/>
                  </a:cubicBezTo>
                  <a:lnTo>
                    <a:pt x="0" y="16891"/>
                  </a:lnTo>
                  <a:cubicBezTo>
                    <a:pt x="0" y="7620"/>
                    <a:pt x="7620" y="0"/>
                    <a:pt x="16891" y="0"/>
                  </a:cubicBezTo>
                  <a:moveTo>
                    <a:pt x="16891" y="33909"/>
                  </a:moveTo>
                  <a:lnTo>
                    <a:pt x="16891" y="16891"/>
                  </a:lnTo>
                  <a:lnTo>
                    <a:pt x="33909" y="16891"/>
                  </a:lnTo>
                  <a:lnTo>
                    <a:pt x="33909" y="3796411"/>
                  </a:lnTo>
                  <a:lnTo>
                    <a:pt x="16891" y="3796411"/>
                  </a:lnTo>
                  <a:lnTo>
                    <a:pt x="16891" y="3779520"/>
                  </a:lnTo>
                  <a:lnTo>
                    <a:pt x="6600572" y="3779520"/>
                  </a:lnTo>
                  <a:lnTo>
                    <a:pt x="6600572" y="3796411"/>
                  </a:lnTo>
                  <a:lnTo>
                    <a:pt x="6583680" y="3796411"/>
                  </a:lnTo>
                  <a:lnTo>
                    <a:pt x="6583680" y="16891"/>
                  </a:lnTo>
                  <a:lnTo>
                    <a:pt x="6600572" y="16891"/>
                  </a:lnTo>
                  <a:lnTo>
                    <a:pt x="6600572" y="33909"/>
                  </a:lnTo>
                  <a:lnTo>
                    <a:pt x="16891" y="33909"/>
                  </a:lnTo>
                  <a:close/>
                </a:path>
              </a:pathLst>
            </a:custGeom>
            <a:solidFill>
              <a:srgbClr val="3A4160"/>
            </a:solidFill>
          </p:spPr>
          <p:txBody>
            <a:bodyPr/>
            <a:lstStyle/>
            <a:p>
              <a:endParaRPr lang="es-GT"/>
            </a:p>
          </p:txBody>
        </p:sp>
      </p:grpSp>
      <p:sp>
        <p:nvSpPr>
          <p:cNvPr id="70" name="TextBox 70"/>
          <p:cNvSpPr txBox="1"/>
          <p:nvPr/>
        </p:nvSpPr>
        <p:spPr>
          <a:xfrm>
            <a:off x="12435840" y="6810756"/>
            <a:ext cx="4480560" cy="2543556"/>
          </a:xfrm>
          <a:prstGeom prst="rect">
            <a:avLst/>
          </a:prstGeom>
        </p:spPr>
        <p:txBody>
          <a:bodyPr lIns="0" tIns="0" rIns="0" bIns="0" rtlCol="0" anchor="t">
            <a:spAutoFit/>
          </a:bodyPr>
          <a:lstStyle/>
          <a:p>
            <a:pPr algn="l">
              <a:lnSpc>
                <a:spcPts val="2039"/>
              </a:lnSpc>
            </a:pPr>
            <a:r>
              <a:rPr lang="en-US" sz="1700">
                <a:solidFill>
                  <a:srgbClr val="7EC8A4"/>
                </a:solidFill>
                <a:latin typeface="Consolas"/>
                <a:ea typeface="Consolas"/>
                <a:cs typeface="Consolas"/>
                <a:sym typeface="Consolas"/>
              </a:rPr>
              <a:t>Para i ← 1 Hasta 5 Hacer</a:t>
            </a:r>
          </a:p>
          <a:p>
            <a:pPr algn="l">
              <a:lnSpc>
                <a:spcPts val="2039"/>
              </a:lnSpc>
            </a:pPr>
            <a:r>
              <a:rPr lang="en-US" sz="1700">
                <a:solidFill>
                  <a:srgbClr val="7EC8A4"/>
                </a:solidFill>
                <a:latin typeface="Consolas"/>
                <a:ea typeface="Consolas"/>
                <a:cs typeface="Consolas"/>
                <a:sym typeface="Consolas"/>
              </a:rPr>
              <a:t>   Escribir i</a:t>
            </a:r>
          </a:p>
          <a:p>
            <a:pPr algn="l">
              <a:lnSpc>
                <a:spcPts val="2039"/>
              </a:lnSpc>
            </a:pPr>
            <a:r>
              <a:rPr lang="en-US" sz="1700">
                <a:solidFill>
                  <a:srgbClr val="7EC8A4"/>
                </a:solidFill>
                <a:latin typeface="Consolas"/>
                <a:ea typeface="Consolas"/>
                <a:cs typeface="Consolas"/>
                <a:sym typeface="Consolas"/>
              </a:rPr>
              <a:t>FinPara</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E2235"/>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16891" y="16891"/>
              <a:ext cx="24383999" cy="1755648"/>
            </a:xfrm>
            <a:custGeom>
              <a:avLst/>
              <a:gdLst/>
              <a:ahLst/>
              <a:cxnLst/>
              <a:rect l="l" t="t" r="r" b="b"/>
              <a:pathLst>
                <a:path w="24383999" h="1755648">
                  <a:moveTo>
                    <a:pt x="0" y="0"/>
                  </a:moveTo>
                  <a:lnTo>
                    <a:pt x="24383999" y="0"/>
                  </a:lnTo>
                  <a:lnTo>
                    <a:pt x="24383999" y="1755648"/>
                  </a:lnTo>
                  <a:lnTo>
                    <a:pt x="0" y="1755648"/>
                  </a:lnTo>
                  <a:close/>
                </a:path>
              </a:pathLst>
            </a:custGeom>
            <a:solidFill>
              <a:srgbClr val="161929"/>
            </a:solidFill>
          </p:spPr>
          <p:txBody>
            <a:bodyPr/>
            <a:lstStyle/>
            <a:p>
              <a:endParaRPr lang="es-GT"/>
            </a:p>
          </p:txBody>
        </p:sp>
        <p:sp>
          <p:nvSpPr>
            <p:cNvPr id="4" name="Freeform 4"/>
            <p:cNvSpPr/>
            <p:nvPr/>
          </p:nvSpPr>
          <p:spPr>
            <a:xfrm>
              <a:off x="0" y="0"/>
              <a:ext cx="24417782" cy="1789430"/>
            </a:xfrm>
            <a:custGeom>
              <a:avLst/>
              <a:gdLst/>
              <a:ahLst/>
              <a:cxnLst/>
              <a:rect l="l" t="t" r="r" b="b"/>
              <a:pathLst>
                <a:path w="24417782" h="1789430">
                  <a:moveTo>
                    <a:pt x="16891" y="0"/>
                  </a:moveTo>
                  <a:lnTo>
                    <a:pt x="24400890" y="0"/>
                  </a:lnTo>
                  <a:cubicBezTo>
                    <a:pt x="24410290" y="0"/>
                    <a:pt x="24417782" y="7620"/>
                    <a:pt x="24417782" y="16891"/>
                  </a:cubicBezTo>
                  <a:lnTo>
                    <a:pt x="24417782" y="1772539"/>
                  </a:lnTo>
                  <a:cubicBezTo>
                    <a:pt x="24417782" y="1781937"/>
                    <a:pt x="24410163" y="1789430"/>
                    <a:pt x="24400890"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24400890" y="1755648"/>
                  </a:lnTo>
                  <a:lnTo>
                    <a:pt x="24400890" y="1772539"/>
                  </a:lnTo>
                  <a:lnTo>
                    <a:pt x="24384000" y="1772539"/>
                  </a:lnTo>
                  <a:lnTo>
                    <a:pt x="24384000" y="16891"/>
                  </a:lnTo>
                  <a:lnTo>
                    <a:pt x="24400890" y="16891"/>
                  </a:lnTo>
                  <a:lnTo>
                    <a:pt x="24400890" y="33909"/>
                  </a:lnTo>
                  <a:lnTo>
                    <a:pt x="16891" y="33909"/>
                  </a:lnTo>
                  <a:close/>
                </a:path>
              </a:pathLst>
            </a:custGeom>
            <a:solidFill>
              <a:srgbClr val="161929"/>
            </a:solidFill>
          </p:spPr>
          <p:txBody>
            <a:bodyPr/>
            <a:lstStyle/>
            <a:p>
              <a:endParaRPr lang="es-GT"/>
            </a:p>
          </p:txBody>
        </p:sp>
      </p:grpSp>
      <p:grpSp>
        <p:nvGrpSpPr>
          <p:cNvPr id="5" name="Group 5"/>
          <p:cNvGrpSpPr/>
          <p:nvPr/>
        </p:nvGrpSpPr>
        <p:grpSpPr>
          <a:xfrm>
            <a:off x="-12697" y="1304039"/>
            <a:ext cx="18313403" cy="98555"/>
            <a:chOff x="0" y="0"/>
            <a:chExt cx="24417871" cy="131407"/>
          </a:xfrm>
        </p:grpSpPr>
        <p:sp>
          <p:nvSpPr>
            <p:cNvPr id="6" name="Freeform 6"/>
            <p:cNvSpPr/>
            <p:nvPr/>
          </p:nvSpPr>
          <p:spPr>
            <a:xfrm>
              <a:off x="16891" y="16891"/>
              <a:ext cx="24383999" cy="97536"/>
            </a:xfrm>
            <a:custGeom>
              <a:avLst/>
              <a:gdLst/>
              <a:ahLst/>
              <a:cxnLst/>
              <a:rect l="l" t="t" r="r" b="b"/>
              <a:pathLst>
                <a:path w="24383999" h="97536">
                  <a:moveTo>
                    <a:pt x="0" y="0"/>
                  </a:moveTo>
                  <a:lnTo>
                    <a:pt x="24383999" y="0"/>
                  </a:lnTo>
                  <a:lnTo>
                    <a:pt x="24383999" y="97536"/>
                  </a:lnTo>
                  <a:lnTo>
                    <a:pt x="0" y="97536"/>
                  </a:lnTo>
                  <a:close/>
                </a:path>
              </a:pathLst>
            </a:custGeom>
            <a:solidFill>
              <a:srgbClr val="5B8CFF"/>
            </a:solidFill>
          </p:spPr>
          <p:txBody>
            <a:bodyPr/>
            <a:lstStyle/>
            <a:p>
              <a:endParaRPr lang="es-GT"/>
            </a:p>
          </p:txBody>
        </p:sp>
        <p:sp>
          <p:nvSpPr>
            <p:cNvPr id="7" name="Freeform 7"/>
            <p:cNvSpPr/>
            <p:nvPr/>
          </p:nvSpPr>
          <p:spPr>
            <a:xfrm>
              <a:off x="0" y="0"/>
              <a:ext cx="24417782" cy="131320"/>
            </a:xfrm>
            <a:custGeom>
              <a:avLst/>
              <a:gdLst/>
              <a:ahLst/>
              <a:cxnLst/>
              <a:rect l="l" t="t" r="r" b="b"/>
              <a:pathLst>
                <a:path w="24417782" h="131320">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5B8CFF"/>
            </a:solidFill>
          </p:spPr>
          <p:txBody>
            <a:bodyPr/>
            <a:lstStyle/>
            <a:p>
              <a:endParaRPr lang="es-GT"/>
            </a:p>
          </p:txBody>
        </p:sp>
      </p:grpSp>
      <p:grpSp>
        <p:nvGrpSpPr>
          <p:cNvPr id="8" name="Group 8"/>
          <p:cNvGrpSpPr/>
          <p:nvPr/>
        </p:nvGrpSpPr>
        <p:grpSpPr>
          <a:xfrm>
            <a:off x="822960" y="0"/>
            <a:ext cx="16642080" cy="1316736"/>
            <a:chOff x="0" y="0"/>
            <a:chExt cx="22189440" cy="1755648"/>
          </a:xfrm>
        </p:grpSpPr>
        <p:sp>
          <p:nvSpPr>
            <p:cNvPr id="9" name="Freeform 9"/>
            <p:cNvSpPr/>
            <p:nvPr/>
          </p:nvSpPr>
          <p:spPr>
            <a:xfrm>
              <a:off x="0" y="0"/>
              <a:ext cx="22189439" cy="1755648"/>
            </a:xfrm>
            <a:custGeom>
              <a:avLst/>
              <a:gdLst/>
              <a:ahLst/>
              <a:cxnLst/>
              <a:rect l="l" t="t" r="r" b="b"/>
              <a:pathLst>
                <a:path w="22189439" h="1755648">
                  <a:moveTo>
                    <a:pt x="0" y="0"/>
                  </a:moveTo>
                  <a:lnTo>
                    <a:pt x="22189439" y="0"/>
                  </a:lnTo>
                  <a:lnTo>
                    <a:pt x="22189439" y="1755648"/>
                  </a:lnTo>
                  <a:lnTo>
                    <a:pt x="0" y="1755648"/>
                  </a:lnTo>
                  <a:close/>
                </a:path>
              </a:pathLst>
            </a:custGeom>
            <a:blipFill>
              <a:blip r:embed="rId3">
                <a:alphaModFix amt="0"/>
              </a:blip>
              <a:stretch>
                <a:fillRect t="-196269" b="-196269"/>
              </a:stretch>
            </a:blipFill>
          </p:spPr>
          <p:txBody>
            <a:bodyPr/>
            <a:lstStyle/>
            <a:p>
              <a:endParaRPr lang="es-GT"/>
            </a:p>
          </p:txBody>
        </p:sp>
        <p:sp>
          <p:nvSpPr>
            <p:cNvPr id="10" name="TextBox 10"/>
            <p:cNvSpPr txBox="1"/>
            <p:nvPr/>
          </p:nvSpPr>
          <p:spPr>
            <a:xfrm>
              <a:off x="0" y="-76200"/>
              <a:ext cx="22189440" cy="1831848"/>
            </a:xfrm>
            <a:prstGeom prst="rect">
              <a:avLst/>
            </a:prstGeom>
          </p:spPr>
          <p:txBody>
            <a:bodyPr lIns="0" tIns="0" rIns="0" bIns="0" rtlCol="0" anchor="ctr"/>
            <a:lstStyle/>
            <a:p>
              <a:pPr algn="l">
                <a:lnSpc>
                  <a:spcPts val="5280"/>
                </a:lnSpc>
              </a:pPr>
              <a:r>
                <a:rPr lang="en-US" sz="4400" b="1">
                  <a:solidFill>
                    <a:srgbClr val="FFFFFF"/>
                  </a:solidFill>
                  <a:latin typeface="Calibri (MS) Bold"/>
                  <a:ea typeface="Calibri (MS) Bold"/>
                  <a:cs typeface="Calibri (MS) Bold"/>
                  <a:sym typeface="Calibri (MS) Bold"/>
                </a:rPr>
                <a:t>Ejemplo integrado – Calculadora de promedio de notas</a:t>
              </a:r>
            </a:p>
          </p:txBody>
        </p:sp>
      </p:grpSp>
      <p:grpSp>
        <p:nvGrpSpPr>
          <p:cNvPr id="11" name="Group 11"/>
          <p:cNvGrpSpPr/>
          <p:nvPr/>
        </p:nvGrpSpPr>
        <p:grpSpPr>
          <a:xfrm>
            <a:off x="-12697" y="9954263"/>
            <a:ext cx="18313403" cy="345443"/>
            <a:chOff x="0" y="0"/>
            <a:chExt cx="24417871" cy="460591"/>
          </a:xfrm>
        </p:grpSpPr>
        <p:sp>
          <p:nvSpPr>
            <p:cNvPr id="12" name="Freeform 12"/>
            <p:cNvSpPr/>
            <p:nvPr/>
          </p:nvSpPr>
          <p:spPr>
            <a:xfrm>
              <a:off x="16891" y="16891"/>
              <a:ext cx="24383999" cy="426720"/>
            </a:xfrm>
            <a:custGeom>
              <a:avLst/>
              <a:gdLst/>
              <a:ahLst/>
              <a:cxnLst/>
              <a:rect l="l" t="t" r="r" b="b"/>
              <a:pathLst>
                <a:path w="24383999" h="426720">
                  <a:moveTo>
                    <a:pt x="0" y="0"/>
                  </a:moveTo>
                  <a:lnTo>
                    <a:pt x="24383999" y="0"/>
                  </a:lnTo>
                  <a:lnTo>
                    <a:pt x="24383999" y="426720"/>
                  </a:lnTo>
                  <a:lnTo>
                    <a:pt x="0" y="426720"/>
                  </a:lnTo>
                  <a:close/>
                </a:path>
              </a:pathLst>
            </a:custGeom>
            <a:solidFill>
              <a:srgbClr val="12152A"/>
            </a:solidFill>
          </p:spPr>
          <p:txBody>
            <a:bodyPr/>
            <a:lstStyle/>
            <a:p>
              <a:endParaRPr lang="es-GT"/>
            </a:p>
          </p:txBody>
        </p:sp>
        <p:sp>
          <p:nvSpPr>
            <p:cNvPr id="13" name="Freeform 13"/>
            <p:cNvSpPr/>
            <p:nvPr/>
          </p:nvSpPr>
          <p:spPr>
            <a:xfrm>
              <a:off x="0" y="0"/>
              <a:ext cx="24417782" cy="460504"/>
            </a:xfrm>
            <a:custGeom>
              <a:avLst/>
              <a:gdLst/>
              <a:ahLst/>
              <a:cxnLst/>
              <a:rect l="l" t="t" r="r" b="b"/>
              <a:pathLst>
                <a:path w="24417782" h="460504">
                  <a:moveTo>
                    <a:pt x="16891" y="0"/>
                  </a:moveTo>
                  <a:lnTo>
                    <a:pt x="24400890" y="0"/>
                  </a:lnTo>
                  <a:cubicBezTo>
                    <a:pt x="24410290" y="0"/>
                    <a:pt x="24417782" y="7620"/>
                    <a:pt x="24417782" y="16891"/>
                  </a:cubicBezTo>
                  <a:lnTo>
                    <a:pt x="24417782" y="443611"/>
                  </a:lnTo>
                  <a:cubicBezTo>
                    <a:pt x="24417782" y="453009"/>
                    <a:pt x="24410163" y="460502"/>
                    <a:pt x="24400890" y="460502"/>
                  </a:cubicBezTo>
                  <a:lnTo>
                    <a:pt x="16891" y="460502"/>
                  </a:lnTo>
                  <a:cubicBezTo>
                    <a:pt x="7620" y="460629"/>
                    <a:pt x="0" y="453009"/>
                    <a:pt x="0" y="443611"/>
                  </a:cubicBezTo>
                  <a:lnTo>
                    <a:pt x="0" y="16891"/>
                  </a:lnTo>
                  <a:cubicBezTo>
                    <a:pt x="0" y="7620"/>
                    <a:pt x="7620" y="0"/>
                    <a:pt x="16891" y="0"/>
                  </a:cubicBezTo>
                  <a:moveTo>
                    <a:pt x="16891" y="33909"/>
                  </a:moveTo>
                  <a:lnTo>
                    <a:pt x="16891" y="16891"/>
                  </a:lnTo>
                  <a:lnTo>
                    <a:pt x="33909" y="16891"/>
                  </a:lnTo>
                  <a:lnTo>
                    <a:pt x="33909" y="443611"/>
                  </a:lnTo>
                  <a:lnTo>
                    <a:pt x="16891" y="443611"/>
                  </a:lnTo>
                  <a:lnTo>
                    <a:pt x="16891" y="426720"/>
                  </a:lnTo>
                  <a:lnTo>
                    <a:pt x="24400890" y="426720"/>
                  </a:lnTo>
                  <a:lnTo>
                    <a:pt x="24400890" y="443611"/>
                  </a:lnTo>
                  <a:lnTo>
                    <a:pt x="24384000" y="443611"/>
                  </a:lnTo>
                  <a:lnTo>
                    <a:pt x="24384000" y="16891"/>
                  </a:lnTo>
                  <a:lnTo>
                    <a:pt x="24400890" y="16891"/>
                  </a:lnTo>
                  <a:lnTo>
                    <a:pt x="24400890" y="33909"/>
                  </a:lnTo>
                  <a:lnTo>
                    <a:pt x="16891" y="33909"/>
                  </a:lnTo>
                  <a:close/>
                </a:path>
              </a:pathLst>
            </a:custGeom>
            <a:solidFill>
              <a:srgbClr val="12152A"/>
            </a:solidFill>
          </p:spPr>
          <p:txBody>
            <a:bodyPr/>
            <a:lstStyle/>
            <a:p>
              <a:endParaRPr lang="es-GT"/>
            </a:p>
          </p:txBody>
        </p:sp>
      </p:grpSp>
      <p:grpSp>
        <p:nvGrpSpPr>
          <p:cNvPr id="14" name="Group 14"/>
          <p:cNvGrpSpPr/>
          <p:nvPr/>
        </p:nvGrpSpPr>
        <p:grpSpPr>
          <a:xfrm>
            <a:off x="17007840" y="9966960"/>
            <a:ext cx="914400" cy="320040"/>
            <a:chOff x="0" y="0"/>
            <a:chExt cx="1219200" cy="426720"/>
          </a:xfrm>
        </p:grpSpPr>
        <p:sp>
          <p:nvSpPr>
            <p:cNvPr id="15" name="Freeform 15"/>
            <p:cNvSpPr/>
            <p:nvPr/>
          </p:nvSpPr>
          <p:spPr>
            <a:xfrm>
              <a:off x="0" y="0"/>
              <a:ext cx="1219200" cy="426720"/>
            </a:xfrm>
            <a:custGeom>
              <a:avLst/>
              <a:gdLst/>
              <a:ahLst/>
              <a:cxnLst/>
              <a:rect l="l" t="t" r="r" b="b"/>
              <a:pathLst>
                <a:path w="1219200" h="426720">
                  <a:moveTo>
                    <a:pt x="0" y="0"/>
                  </a:moveTo>
                  <a:lnTo>
                    <a:pt x="1219200" y="0"/>
                  </a:lnTo>
                  <a:lnTo>
                    <a:pt x="1219200" y="426720"/>
                  </a:lnTo>
                  <a:lnTo>
                    <a:pt x="0" y="426720"/>
                  </a:lnTo>
                  <a:close/>
                </a:path>
              </a:pathLst>
            </a:custGeom>
            <a:blipFill>
              <a:blip r:embed="rId3">
                <a:alphaModFix amt="0"/>
              </a:blip>
              <a:stretch>
                <a:fillRect t="-5671" b="-5671"/>
              </a:stretch>
            </a:blipFill>
          </p:spPr>
          <p:txBody>
            <a:bodyPr/>
            <a:lstStyle/>
            <a:p>
              <a:endParaRPr lang="es-GT"/>
            </a:p>
          </p:txBody>
        </p:sp>
        <p:sp>
          <p:nvSpPr>
            <p:cNvPr id="16" name="TextBox 16"/>
            <p:cNvSpPr txBox="1"/>
            <p:nvPr/>
          </p:nvSpPr>
          <p:spPr>
            <a:xfrm>
              <a:off x="0" y="-38100"/>
              <a:ext cx="1219200" cy="464820"/>
            </a:xfrm>
            <a:prstGeom prst="rect">
              <a:avLst/>
            </a:prstGeom>
          </p:spPr>
          <p:txBody>
            <a:bodyPr lIns="0" tIns="0" rIns="0" bIns="0" rtlCol="0" anchor="ctr"/>
            <a:lstStyle/>
            <a:p>
              <a:pPr algn="r">
                <a:lnSpc>
                  <a:spcPts val="1800"/>
                </a:lnSpc>
              </a:pPr>
              <a:r>
                <a:rPr lang="en-US" sz="1500">
                  <a:solidFill>
                    <a:srgbClr val="6E7A9F"/>
                  </a:solidFill>
                  <a:latin typeface="Calibri (MS)"/>
                  <a:ea typeface="Calibri (MS)"/>
                  <a:cs typeface="Calibri (MS)"/>
                  <a:sym typeface="Calibri (MS)"/>
                </a:rPr>
                <a:t>22</a:t>
              </a:r>
            </a:p>
          </p:txBody>
        </p:sp>
      </p:grpSp>
      <p:grpSp>
        <p:nvGrpSpPr>
          <p:cNvPr id="17" name="Group 17"/>
          <p:cNvGrpSpPr/>
          <p:nvPr/>
        </p:nvGrpSpPr>
        <p:grpSpPr>
          <a:xfrm>
            <a:off x="731520" y="1554480"/>
            <a:ext cx="16824960" cy="694944"/>
            <a:chOff x="0" y="0"/>
            <a:chExt cx="22433280" cy="926592"/>
          </a:xfrm>
        </p:grpSpPr>
        <p:sp>
          <p:nvSpPr>
            <p:cNvPr id="18" name="Freeform 18"/>
            <p:cNvSpPr/>
            <p:nvPr/>
          </p:nvSpPr>
          <p:spPr>
            <a:xfrm>
              <a:off x="0" y="0"/>
              <a:ext cx="22433280" cy="926592"/>
            </a:xfrm>
            <a:custGeom>
              <a:avLst/>
              <a:gdLst/>
              <a:ahLst/>
              <a:cxnLst/>
              <a:rect l="l" t="t" r="r" b="b"/>
              <a:pathLst>
                <a:path w="22433280" h="926592">
                  <a:moveTo>
                    <a:pt x="0" y="0"/>
                  </a:moveTo>
                  <a:lnTo>
                    <a:pt x="22433280" y="0"/>
                  </a:lnTo>
                  <a:lnTo>
                    <a:pt x="22433280" y="926592"/>
                  </a:lnTo>
                  <a:lnTo>
                    <a:pt x="0" y="926592"/>
                  </a:lnTo>
                  <a:close/>
                </a:path>
              </a:pathLst>
            </a:custGeom>
            <a:blipFill>
              <a:blip r:embed="rId3">
                <a:alphaModFix amt="0"/>
              </a:blip>
              <a:stretch>
                <a:fillRect t="-421743" b="-421743"/>
              </a:stretch>
            </a:blipFill>
          </p:spPr>
          <p:txBody>
            <a:bodyPr/>
            <a:lstStyle/>
            <a:p>
              <a:endParaRPr lang="es-GT"/>
            </a:p>
          </p:txBody>
        </p:sp>
        <p:sp>
          <p:nvSpPr>
            <p:cNvPr id="19" name="TextBox 19"/>
            <p:cNvSpPr txBox="1"/>
            <p:nvPr/>
          </p:nvSpPr>
          <p:spPr>
            <a:xfrm>
              <a:off x="0" y="-47625"/>
              <a:ext cx="22433280" cy="974217"/>
            </a:xfrm>
            <a:prstGeom prst="rect">
              <a:avLst/>
            </a:prstGeom>
          </p:spPr>
          <p:txBody>
            <a:bodyPr lIns="0" tIns="0" rIns="0" bIns="0" rtlCol="0" anchor="ctr"/>
            <a:lstStyle/>
            <a:p>
              <a:pPr algn="l">
                <a:lnSpc>
                  <a:spcPts val="2520"/>
                </a:lnSpc>
              </a:pPr>
              <a:r>
                <a:rPr lang="en-US" sz="2100">
                  <a:solidFill>
                    <a:srgbClr val="B0B8CC"/>
                  </a:solidFill>
                  <a:latin typeface="Calibri (MS)"/>
                  <a:ea typeface="Calibri (MS)"/>
                  <a:cs typeface="Calibri (MS)"/>
                  <a:sym typeface="Calibri (MS)"/>
                </a:rPr>
                <a:t>Se presenta el mismo algoritmo en los tres niveles de representación, evidenciando la progresión de la abstracción hacia la implementación:</a:t>
              </a:r>
            </a:p>
          </p:txBody>
        </p:sp>
      </p:grpSp>
      <p:grpSp>
        <p:nvGrpSpPr>
          <p:cNvPr id="20" name="Group 20"/>
          <p:cNvGrpSpPr/>
          <p:nvPr/>
        </p:nvGrpSpPr>
        <p:grpSpPr>
          <a:xfrm>
            <a:off x="718823" y="2401319"/>
            <a:ext cx="5328923" cy="7304027"/>
            <a:chOff x="0" y="0"/>
            <a:chExt cx="7105231" cy="9738703"/>
          </a:xfrm>
        </p:grpSpPr>
        <p:sp>
          <p:nvSpPr>
            <p:cNvPr id="21" name="Freeform 21"/>
            <p:cNvSpPr/>
            <p:nvPr/>
          </p:nvSpPr>
          <p:spPr>
            <a:xfrm>
              <a:off x="16891" y="16891"/>
              <a:ext cx="7071360" cy="9704832"/>
            </a:xfrm>
            <a:custGeom>
              <a:avLst/>
              <a:gdLst/>
              <a:ahLst/>
              <a:cxnLst/>
              <a:rect l="l" t="t" r="r" b="b"/>
              <a:pathLst>
                <a:path w="7071360" h="9704832">
                  <a:moveTo>
                    <a:pt x="0" y="0"/>
                  </a:moveTo>
                  <a:lnTo>
                    <a:pt x="7071360" y="0"/>
                  </a:lnTo>
                  <a:lnTo>
                    <a:pt x="7071360" y="9704832"/>
                  </a:lnTo>
                  <a:lnTo>
                    <a:pt x="0" y="9704832"/>
                  </a:lnTo>
                  <a:close/>
                </a:path>
              </a:pathLst>
            </a:custGeom>
            <a:solidFill>
              <a:srgbClr val="252B42"/>
            </a:solidFill>
          </p:spPr>
          <p:txBody>
            <a:bodyPr/>
            <a:lstStyle/>
            <a:p>
              <a:endParaRPr lang="es-GT"/>
            </a:p>
          </p:txBody>
        </p:sp>
        <p:sp>
          <p:nvSpPr>
            <p:cNvPr id="22" name="Freeform 22"/>
            <p:cNvSpPr/>
            <p:nvPr/>
          </p:nvSpPr>
          <p:spPr>
            <a:xfrm>
              <a:off x="0" y="0"/>
              <a:ext cx="7105142" cy="9738614"/>
            </a:xfrm>
            <a:custGeom>
              <a:avLst/>
              <a:gdLst/>
              <a:ahLst/>
              <a:cxnLst/>
              <a:rect l="l" t="t" r="r" b="b"/>
              <a:pathLst>
                <a:path w="7105142" h="9738614">
                  <a:moveTo>
                    <a:pt x="16891" y="0"/>
                  </a:moveTo>
                  <a:lnTo>
                    <a:pt x="7088251" y="0"/>
                  </a:lnTo>
                  <a:cubicBezTo>
                    <a:pt x="7097649" y="0"/>
                    <a:pt x="7105142" y="7620"/>
                    <a:pt x="7105142" y="16891"/>
                  </a:cubicBezTo>
                  <a:lnTo>
                    <a:pt x="7105142" y="9721723"/>
                  </a:lnTo>
                  <a:cubicBezTo>
                    <a:pt x="7105142" y="9731121"/>
                    <a:pt x="7097522" y="9738614"/>
                    <a:pt x="7088251" y="9738614"/>
                  </a:cubicBezTo>
                  <a:lnTo>
                    <a:pt x="16891" y="9738614"/>
                  </a:lnTo>
                  <a:cubicBezTo>
                    <a:pt x="7493" y="9738614"/>
                    <a:pt x="0" y="9730994"/>
                    <a:pt x="0" y="9721723"/>
                  </a:cubicBezTo>
                  <a:lnTo>
                    <a:pt x="0" y="16891"/>
                  </a:lnTo>
                  <a:cubicBezTo>
                    <a:pt x="0" y="7620"/>
                    <a:pt x="7620" y="0"/>
                    <a:pt x="16891" y="0"/>
                  </a:cubicBezTo>
                  <a:moveTo>
                    <a:pt x="16891" y="33909"/>
                  </a:moveTo>
                  <a:lnTo>
                    <a:pt x="16891" y="16891"/>
                  </a:lnTo>
                  <a:lnTo>
                    <a:pt x="33909" y="16891"/>
                  </a:lnTo>
                  <a:lnTo>
                    <a:pt x="33909" y="9721723"/>
                  </a:lnTo>
                  <a:lnTo>
                    <a:pt x="16891" y="9721723"/>
                  </a:lnTo>
                  <a:lnTo>
                    <a:pt x="16891" y="9704832"/>
                  </a:lnTo>
                  <a:lnTo>
                    <a:pt x="7088251" y="9704832"/>
                  </a:lnTo>
                  <a:lnTo>
                    <a:pt x="7088251" y="9721723"/>
                  </a:lnTo>
                  <a:lnTo>
                    <a:pt x="7071360" y="9721723"/>
                  </a:lnTo>
                  <a:lnTo>
                    <a:pt x="7071360" y="16891"/>
                  </a:lnTo>
                  <a:lnTo>
                    <a:pt x="7088251" y="16891"/>
                  </a:lnTo>
                  <a:lnTo>
                    <a:pt x="7088251" y="33909"/>
                  </a:lnTo>
                  <a:lnTo>
                    <a:pt x="16891" y="33909"/>
                  </a:lnTo>
                  <a:close/>
                </a:path>
              </a:pathLst>
            </a:custGeom>
            <a:solidFill>
              <a:srgbClr val="5B8CFF"/>
            </a:solidFill>
          </p:spPr>
          <p:txBody>
            <a:bodyPr/>
            <a:lstStyle/>
            <a:p>
              <a:endParaRPr lang="es-GT"/>
            </a:p>
          </p:txBody>
        </p:sp>
      </p:grpSp>
      <p:grpSp>
        <p:nvGrpSpPr>
          <p:cNvPr id="23" name="Group 23"/>
          <p:cNvGrpSpPr/>
          <p:nvPr/>
        </p:nvGrpSpPr>
        <p:grpSpPr>
          <a:xfrm>
            <a:off x="718823" y="2401319"/>
            <a:ext cx="5328923" cy="720347"/>
            <a:chOff x="0" y="0"/>
            <a:chExt cx="7105231" cy="960463"/>
          </a:xfrm>
        </p:grpSpPr>
        <p:sp>
          <p:nvSpPr>
            <p:cNvPr id="24" name="Freeform 24"/>
            <p:cNvSpPr/>
            <p:nvPr/>
          </p:nvSpPr>
          <p:spPr>
            <a:xfrm>
              <a:off x="16891" y="16891"/>
              <a:ext cx="7071360" cy="926592"/>
            </a:xfrm>
            <a:custGeom>
              <a:avLst/>
              <a:gdLst/>
              <a:ahLst/>
              <a:cxnLst/>
              <a:rect l="l" t="t" r="r" b="b"/>
              <a:pathLst>
                <a:path w="7071360" h="926592">
                  <a:moveTo>
                    <a:pt x="0" y="0"/>
                  </a:moveTo>
                  <a:lnTo>
                    <a:pt x="7071360" y="0"/>
                  </a:lnTo>
                  <a:lnTo>
                    <a:pt x="7071360" y="926592"/>
                  </a:lnTo>
                  <a:lnTo>
                    <a:pt x="0" y="926592"/>
                  </a:lnTo>
                  <a:close/>
                </a:path>
              </a:pathLst>
            </a:custGeom>
            <a:solidFill>
              <a:srgbClr val="1A1F33"/>
            </a:solidFill>
          </p:spPr>
          <p:txBody>
            <a:bodyPr/>
            <a:lstStyle/>
            <a:p>
              <a:endParaRPr lang="es-GT"/>
            </a:p>
          </p:txBody>
        </p:sp>
        <p:sp>
          <p:nvSpPr>
            <p:cNvPr id="25" name="Freeform 25"/>
            <p:cNvSpPr/>
            <p:nvPr/>
          </p:nvSpPr>
          <p:spPr>
            <a:xfrm>
              <a:off x="0" y="0"/>
              <a:ext cx="7105142" cy="960376"/>
            </a:xfrm>
            <a:custGeom>
              <a:avLst/>
              <a:gdLst/>
              <a:ahLst/>
              <a:cxnLst/>
              <a:rect l="l" t="t" r="r" b="b"/>
              <a:pathLst>
                <a:path w="7105142" h="960376">
                  <a:moveTo>
                    <a:pt x="16891" y="0"/>
                  </a:moveTo>
                  <a:lnTo>
                    <a:pt x="7088251" y="0"/>
                  </a:lnTo>
                  <a:cubicBezTo>
                    <a:pt x="7097649" y="0"/>
                    <a:pt x="7105142" y="7620"/>
                    <a:pt x="7105142" y="16891"/>
                  </a:cubicBezTo>
                  <a:lnTo>
                    <a:pt x="7105142" y="943483"/>
                  </a:lnTo>
                  <a:cubicBezTo>
                    <a:pt x="7105142" y="952881"/>
                    <a:pt x="7097522" y="960374"/>
                    <a:pt x="708825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7088251" y="926592"/>
                  </a:lnTo>
                  <a:lnTo>
                    <a:pt x="7088251" y="943483"/>
                  </a:lnTo>
                  <a:lnTo>
                    <a:pt x="7071360" y="943483"/>
                  </a:lnTo>
                  <a:lnTo>
                    <a:pt x="7071360" y="16891"/>
                  </a:lnTo>
                  <a:lnTo>
                    <a:pt x="7088251" y="16891"/>
                  </a:lnTo>
                  <a:lnTo>
                    <a:pt x="7088251" y="33909"/>
                  </a:lnTo>
                  <a:lnTo>
                    <a:pt x="16891" y="33909"/>
                  </a:lnTo>
                  <a:close/>
                </a:path>
              </a:pathLst>
            </a:custGeom>
            <a:solidFill>
              <a:srgbClr val="5B8CFF"/>
            </a:solidFill>
          </p:spPr>
          <p:txBody>
            <a:bodyPr/>
            <a:lstStyle/>
            <a:p>
              <a:endParaRPr lang="es-GT"/>
            </a:p>
          </p:txBody>
        </p:sp>
      </p:grpSp>
      <p:grpSp>
        <p:nvGrpSpPr>
          <p:cNvPr id="26" name="Group 26"/>
          <p:cNvGrpSpPr/>
          <p:nvPr/>
        </p:nvGrpSpPr>
        <p:grpSpPr>
          <a:xfrm>
            <a:off x="1005840" y="2468880"/>
            <a:ext cx="4754880" cy="548640"/>
            <a:chOff x="0" y="0"/>
            <a:chExt cx="6339840" cy="731520"/>
          </a:xfrm>
        </p:grpSpPr>
        <p:sp>
          <p:nvSpPr>
            <p:cNvPr id="27" name="Freeform 27"/>
            <p:cNvSpPr/>
            <p:nvPr/>
          </p:nvSpPr>
          <p:spPr>
            <a:xfrm>
              <a:off x="0" y="0"/>
              <a:ext cx="6339840" cy="731520"/>
            </a:xfrm>
            <a:custGeom>
              <a:avLst/>
              <a:gdLst/>
              <a:ahLst/>
              <a:cxnLst/>
              <a:rect l="l" t="t" r="r" b="b"/>
              <a:pathLst>
                <a:path w="6339840" h="731520">
                  <a:moveTo>
                    <a:pt x="0" y="0"/>
                  </a:moveTo>
                  <a:lnTo>
                    <a:pt x="6339840" y="0"/>
                  </a:lnTo>
                  <a:lnTo>
                    <a:pt x="6339840" y="731520"/>
                  </a:lnTo>
                  <a:lnTo>
                    <a:pt x="0" y="731520"/>
                  </a:lnTo>
                  <a:close/>
                </a:path>
              </a:pathLst>
            </a:custGeom>
            <a:blipFill>
              <a:blip r:embed="rId3">
                <a:alphaModFix amt="0"/>
              </a:blip>
              <a:stretch>
                <a:fillRect t="-118870" b="-118870"/>
              </a:stretch>
            </a:blipFill>
          </p:spPr>
          <p:txBody>
            <a:bodyPr/>
            <a:lstStyle/>
            <a:p>
              <a:endParaRPr lang="es-GT"/>
            </a:p>
          </p:txBody>
        </p:sp>
        <p:sp>
          <p:nvSpPr>
            <p:cNvPr id="28" name="TextBox 28"/>
            <p:cNvSpPr txBox="1"/>
            <p:nvPr/>
          </p:nvSpPr>
          <p:spPr>
            <a:xfrm>
              <a:off x="0" y="-38100"/>
              <a:ext cx="6339840" cy="769620"/>
            </a:xfrm>
            <a:prstGeom prst="rect">
              <a:avLst/>
            </a:prstGeom>
          </p:spPr>
          <p:txBody>
            <a:bodyPr lIns="0" tIns="0" rIns="0" bIns="0" rtlCol="0" anchor="ctr"/>
            <a:lstStyle/>
            <a:p>
              <a:pPr algn="l">
                <a:lnSpc>
                  <a:spcPts val="2280"/>
                </a:lnSpc>
              </a:pPr>
              <a:r>
                <a:rPr lang="en-US" sz="1900" b="1">
                  <a:solidFill>
                    <a:srgbClr val="5B8CFF"/>
                  </a:solidFill>
                  <a:latin typeface="Calibri (MS) Bold"/>
                  <a:ea typeface="Calibri (MS) Bold"/>
                  <a:cs typeface="Calibri (MS) Bold"/>
                  <a:sym typeface="Calibri (MS) Bold"/>
                </a:rPr>
                <a:t>01  NIVEL NATURAL</a:t>
              </a:r>
            </a:p>
          </p:txBody>
        </p:sp>
      </p:grpSp>
      <p:sp>
        <p:nvSpPr>
          <p:cNvPr id="29" name="TextBox 29"/>
          <p:cNvSpPr txBox="1"/>
          <p:nvPr/>
        </p:nvSpPr>
        <p:spPr>
          <a:xfrm>
            <a:off x="1097280" y="3243834"/>
            <a:ext cx="4572000" cy="3676650"/>
          </a:xfrm>
          <a:prstGeom prst="rect">
            <a:avLst/>
          </a:prstGeom>
        </p:spPr>
        <p:txBody>
          <a:bodyPr lIns="0" tIns="0" rIns="0" bIns="0" rtlCol="0" anchor="t">
            <a:spAutoFit/>
          </a:bodyPr>
          <a:lstStyle/>
          <a:p>
            <a:pPr algn="l">
              <a:lnSpc>
                <a:spcPts val="2879"/>
              </a:lnSpc>
            </a:pPr>
            <a:r>
              <a:rPr lang="en-US" sz="2399">
                <a:solidFill>
                  <a:srgbClr val="FFFFFF"/>
                </a:solidFill>
                <a:latin typeface="Calibri (MS)"/>
                <a:ea typeface="Calibri (MS)"/>
                <a:cs typeface="Calibri (MS)"/>
                <a:sym typeface="Calibri (MS)"/>
              </a:rPr>
              <a:t>1. Solicitar tres notas al estudiante.</a:t>
            </a:r>
          </a:p>
          <a:p>
            <a:pPr algn="l">
              <a:lnSpc>
                <a:spcPts val="2879"/>
              </a:lnSpc>
            </a:pPr>
            <a:r>
              <a:rPr lang="en-US" sz="2399">
                <a:solidFill>
                  <a:srgbClr val="FFFFFF"/>
                </a:solidFill>
                <a:latin typeface="Calibri (MS)"/>
                <a:ea typeface="Calibri (MS)"/>
                <a:cs typeface="Calibri (MS)"/>
                <a:sym typeface="Calibri (MS)"/>
              </a:rPr>
              <a:t>2. Sumar las tres notas.</a:t>
            </a:r>
          </a:p>
          <a:p>
            <a:pPr algn="l">
              <a:lnSpc>
                <a:spcPts val="2879"/>
              </a:lnSpc>
            </a:pPr>
            <a:r>
              <a:rPr lang="en-US" sz="2399">
                <a:solidFill>
                  <a:srgbClr val="FFFFFF"/>
                </a:solidFill>
                <a:latin typeface="Calibri (MS)"/>
                <a:ea typeface="Calibri (MS)"/>
                <a:cs typeface="Calibri (MS)"/>
                <a:sym typeface="Calibri (MS)"/>
              </a:rPr>
              <a:t>3. Dividir la suma entre 3 para obtener el promedio.</a:t>
            </a:r>
          </a:p>
          <a:p>
            <a:pPr algn="l">
              <a:lnSpc>
                <a:spcPts val="2879"/>
              </a:lnSpc>
            </a:pPr>
            <a:r>
              <a:rPr lang="en-US" sz="2399">
                <a:solidFill>
                  <a:srgbClr val="FFFFFF"/>
                </a:solidFill>
                <a:latin typeface="Calibri (MS)"/>
                <a:ea typeface="Calibri (MS)"/>
                <a:cs typeface="Calibri (MS)"/>
                <a:sym typeface="Calibri (MS)"/>
              </a:rPr>
              <a:t>4. Si el promedio es mayor o igual a 61, indicar que aprueba.</a:t>
            </a:r>
          </a:p>
          <a:p>
            <a:pPr algn="l">
              <a:lnSpc>
                <a:spcPts val="2879"/>
              </a:lnSpc>
            </a:pPr>
            <a:r>
              <a:rPr lang="en-US" sz="2399">
                <a:solidFill>
                  <a:srgbClr val="FFFFFF"/>
                </a:solidFill>
                <a:latin typeface="Calibri (MS)"/>
                <a:ea typeface="Calibri (MS)"/>
                <a:cs typeface="Calibri (MS)"/>
                <a:sym typeface="Calibri (MS)"/>
              </a:rPr>
              <a:t>5. En caso contrario, indicar que reprueba.</a:t>
            </a:r>
          </a:p>
          <a:p>
            <a:pPr algn="l">
              <a:lnSpc>
                <a:spcPts val="2879"/>
              </a:lnSpc>
            </a:pPr>
            <a:r>
              <a:rPr lang="en-US" sz="2399">
                <a:solidFill>
                  <a:srgbClr val="FFFFFF"/>
                </a:solidFill>
                <a:latin typeface="Calibri (MS)"/>
                <a:ea typeface="Calibri (MS)"/>
                <a:cs typeface="Calibri (MS)"/>
                <a:sym typeface="Calibri (MS)"/>
              </a:rPr>
              <a:t>6. Mostrar el promedio y el resultado.</a:t>
            </a:r>
          </a:p>
        </p:txBody>
      </p:sp>
      <p:grpSp>
        <p:nvGrpSpPr>
          <p:cNvPr id="30" name="Group 30"/>
          <p:cNvGrpSpPr/>
          <p:nvPr/>
        </p:nvGrpSpPr>
        <p:grpSpPr>
          <a:xfrm>
            <a:off x="6479543" y="2401319"/>
            <a:ext cx="5328923" cy="7304027"/>
            <a:chOff x="0" y="0"/>
            <a:chExt cx="7105231" cy="9738703"/>
          </a:xfrm>
        </p:grpSpPr>
        <p:sp>
          <p:nvSpPr>
            <p:cNvPr id="31" name="Freeform 31"/>
            <p:cNvSpPr/>
            <p:nvPr/>
          </p:nvSpPr>
          <p:spPr>
            <a:xfrm>
              <a:off x="16891" y="16891"/>
              <a:ext cx="7071360" cy="9704832"/>
            </a:xfrm>
            <a:custGeom>
              <a:avLst/>
              <a:gdLst/>
              <a:ahLst/>
              <a:cxnLst/>
              <a:rect l="l" t="t" r="r" b="b"/>
              <a:pathLst>
                <a:path w="7071360" h="9704832">
                  <a:moveTo>
                    <a:pt x="0" y="0"/>
                  </a:moveTo>
                  <a:lnTo>
                    <a:pt x="7071360" y="0"/>
                  </a:lnTo>
                  <a:lnTo>
                    <a:pt x="7071360" y="9704832"/>
                  </a:lnTo>
                  <a:lnTo>
                    <a:pt x="0" y="9704832"/>
                  </a:lnTo>
                  <a:close/>
                </a:path>
              </a:pathLst>
            </a:custGeom>
            <a:solidFill>
              <a:srgbClr val="0D1020"/>
            </a:solidFill>
          </p:spPr>
          <p:txBody>
            <a:bodyPr/>
            <a:lstStyle/>
            <a:p>
              <a:endParaRPr lang="es-GT"/>
            </a:p>
          </p:txBody>
        </p:sp>
        <p:sp>
          <p:nvSpPr>
            <p:cNvPr id="32" name="Freeform 32"/>
            <p:cNvSpPr/>
            <p:nvPr/>
          </p:nvSpPr>
          <p:spPr>
            <a:xfrm>
              <a:off x="0" y="0"/>
              <a:ext cx="7105142" cy="9738614"/>
            </a:xfrm>
            <a:custGeom>
              <a:avLst/>
              <a:gdLst/>
              <a:ahLst/>
              <a:cxnLst/>
              <a:rect l="l" t="t" r="r" b="b"/>
              <a:pathLst>
                <a:path w="7105142" h="9738614">
                  <a:moveTo>
                    <a:pt x="16891" y="0"/>
                  </a:moveTo>
                  <a:lnTo>
                    <a:pt x="7088251" y="0"/>
                  </a:lnTo>
                  <a:cubicBezTo>
                    <a:pt x="7097649" y="0"/>
                    <a:pt x="7105142" y="7620"/>
                    <a:pt x="7105142" y="16891"/>
                  </a:cubicBezTo>
                  <a:lnTo>
                    <a:pt x="7105142" y="9721723"/>
                  </a:lnTo>
                  <a:cubicBezTo>
                    <a:pt x="7105142" y="9731121"/>
                    <a:pt x="7097522" y="9738614"/>
                    <a:pt x="7088251" y="9738614"/>
                  </a:cubicBezTo>
                  <a:lnTo>
                    <a:pt x="16891" y="9738614"/>
                  </a:lnTo>
                  <a:cubicBezTo>
                    <a:pt x="7493" y="9738614"/>
                    <a:pt x="0" y="9730994"/>
                    <a:pt x="0" y="9721723"/>
                  </a:cubicBezTo>
                  <a:lnTo>
                    <a:pt x="0" y="16891"/>
                  </a:lnTo>
                  <a:cubicBezTo>
                    <a:pt x="0" y="7620"/>
                    <a:pt x="7620" y="0"/>
                    <a:pt x="16891" y="0"/>
                  </a:cubicBezTo>
                  <a:moveTo>
                    <a:pt x="16891" y="33909"/>
                  </a:moveTo>
                  <a:lnTo>
                    <a:pt x="16891" y="16891"/>
                  </a:lnTo>
                  <a:lnTo>
                    <a:pt x="33909" y="16891"/>
                  </a:lnTo>
                  <a:lnTo>
                    <a:pt x="33909" y="9721723"/>
                  </a:lnTo>
                  <a:lnTo>
                    <a:pt x="16891" y="9721723"/>
                  </a:lnTo>
                  <a:lnTo>
                    <a:pt x="16891" y="9704832"/>
                  </a:lnTo>
                  <a:lnTo>
                    <a:pt x="7088251" y="9704832"/>
                  </a:lnTo>
                  <a:lnTo>
                    <a:pt x="7088251" y="9721723"/>
                  </a:lnTo>
                  <a:lnTo>
                    <a:pt x="7071360" y="9721723"/>
                  </a:lnTo>
                  <a:lnTo>
                    <a:pt x="7071360" y="16891"/>
                  </a:lnTo>
                  <a:lnTo>
                    <a:pt x="7088251" y="16891"/>
                  </a:lnTo>
                  <a:lnTo>
                    <a:pt x="7088251" y="33909"/>
                  </a:lnTo>
                  <a:lnTo>
                    <a:pt x="16891" y="33909"/>
                  </a:lnTo>
                  <a:close/>
                </a:path>
              </a:pathLst>
            </a:custGeom>
            <a:solidFill>
              <a:srgbClr val="7EC8A4"/>
            </a:solidFill>
          </p:spPr>
          <p:txBody>
            <a:bodyPr/>
            <a:lstStyle/>
            <a:p>
              <a:endParaRPr lang="es-GT"/>
            </a:p>
          </p:txBody>
        </p:sp>
      </p:grpSp>
      <p:grpSp>
        <p:nvGrpSpPr>
          <p:cNvPr id="33" name="Group 33"/>
          <p:cNvGrpSpPr/>
          <p:nvPr/>
        </p:nvGrpSpPr>
        <p:grpSpPr>
          <a:xfrm>
            <a:off x="6479543" y="2401319"/>
            <a:ext cx="5328923" cy="720347"/>
            <a:chOff x="0" y="0"/>
            <a:chExt cx="7105231" cy="960463"/>
          </a:xfrm>
        </p:grpSpPr>
        <p:sp>
          <p:nvSpPr>
            <p:cNvPr id="34" name="Freeform 34"/>
            <p:cNvSpPr/>
            <p:nvPr/>
          </p:nvSpPr>
          <p:spPr>
            <a:xfrm>
              <a:off x="16891" y="16891"/>
              <a:ext cx="7071360" cy="926592"/>
            </a:xfrm>
            <a:custGeom>
              <a:avLst/>
              <a:gdLst/>
              <a:ahLst/>
              <a:cxnLst/>
              <a:rect l="l" t="t" r="r" b="b"/>
              <a:pathLst>
                <a:path w="7071360" h="926592">
                  <a:moveTo>
                    <a:pt x="0" y="0"/>
                  </a:moveTo>
                  <a:lnTo>
                    <a:pt x="7071360" y="0"/>
                  </a:lnTo>
                  <a:lnTo>
                    <a:pt x="7071360" y="926592"/>
                  </a:lnTo>
                  <a:lnTo>
                    <a:pt x="0" y="926592"/>
                  </a:lnTo>
                  <a:close/>
                </a:path>
              </a:pathLst>
            </a:custGeom>
            <a:solidFill>
              <a:srgbClr val="1A1F33"/>
            </a:solidFill>
          </p:spPr>
          <p:txBody>
            <a:bodyPr/>
            <a:lstStyle/>
            <a:p>
              <a:endParaRPr lang="es-GT"/>
            </a:p>
          </p:txBody>
        </p:sp>
        <p:sp>
          <p:nvSpPr>
            <p:cNvPr id="35" name="Freeform 35"/>
            <p:cNvSpPr/>
            <p:nvPr/>
          </p:nvSpPr>
          <p:spPr>
            <a:xfrm>
              <a:off x="0" y="0"/>
              <a:ext cx="7105142" cy="960376"/>
            </a:xfrm>
            <a:custGeom>
              <a:avLst/>
              <a:gdLst/>
              <a:ahLst/>
              <a:cxnLst/>
              <a:rect l="l" t="t" r="r" b="b"/>
              <a:pathLst>
                <a:path w="7105142" h="960376">
                  <a:moveTo>
                    <a:pt x="16891" y="0"/>
                  </a:moveTo>
                  <a:lnTo>
                    <a:pt x="7088251" y="0"/>
                  </a:lnTo>
                  <a:cubicBezTo>
                    <a:pt x="7097649" y="0"/>
                    <a:pt x="7105142" y="7620"/>
                    <a:pt x="7105142" y="16891"/>
                  </a:cubicBezTo>
                  <a:lnTo>
                    <a:pt x="7105142" y="943483"/>
                  </a:lnTo>
                  <a:cubicBezTo>
                    <a:pt x="7105142" y="952881"/>
                    <a:pt x="7097522" y="960374"/>
                    <a:pt x="708825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7088251" y="926592"/>
                  </a:lnTo>
                  <a:lnTo>
                    <a:pt x="7088251" y="943483"/>
                  </a:lnTo>
                  <a:lnTo>
                    <a:pt x="7071360" y="943483"/>
                  </a:lnTo>
                  <a:lnTo>
                    <a:pt x="7071360" y="16891"/>
                  </a:lnTo>
                  <a:lnTo>
                    <a:pt x="7088251" y="16891"/>
                  </a:lnTo>
                  <a:lnTo>
                    <a:pt x="7088251" y="33909"/>
                  </a:lnTo>
                  <a:lnTo>
                    <a:pt x="16891" y="33909"/>
                  </a:lnTo>
                  <a:close/>
                </a:path>
              </a:pathLst>
            </a:custGeom>
            <a:solidFill>
              <a:srgbClr val="7EC8A4"/>
            </a:solidFill>
          </p:spPr>
          <p:txBody>
            <a:bodyPr/>
            <a:lstStyle/>
            <a:p>
              <a:endParaRPr lang="es-GT"/>
            </a:p>
          </p:txBody>
        </p:sp>
      </p:grpSp>
      <p:grpSp>
        <p:nvGrpSpPr>
          <p:cNvPr id="36" name="Group 36"/>
          <p:cNvGrpSpPr/>
          <p:nvPr/>
        </p:nvGrpSpPr>
        <p:grpSpPr>
          <a:xfrm>
            <a:off x="6766560" y="2468880"/>
            <a:ext cx="4754880" cy="548640"/>
            <a:chOff x="0" y="0"/>
            <a:chExt cx="6339840" cy="731520"/>
          </a:xfrm>
        </p:grpSpPr>
        <p:sp>
          <p:nvSpPr>
            <p:cNvPr id="37" name="Freeform 37"/>
            <p:cNvSpPr/>
            <p:nvPr/>
          </p:nvSpPr>
          <p:spPr>
            <a:xfrm>
              <a:off x="0" y="0"/>
              <a:ext cx="6339840" cy="731520"/>
            </a:xfrm>
            <a:custGeom>
              <a:avLst/>
              <a:gdLst/>
              <a:ahLst/>
              <a:cxnLst/>
              <a:rect l="l" t="t" r="r" b="b"/>
              <a:pathLst>
                <a:path w="6339840" h="731520">
                  <a:moveTo>
                    <a:pt x="0" y="0"/>
                  </a:moveTo>
                  <a:lnTo>
                    <a:pt x="6339840" y="0"/>
                  </a:lnTo>
                  <a:lnTo>
                    <a:pt x="6339840" y="731520"/>
                  </a:lnTo>
                  <a:lnTo>
                    <a:pt x="0" y="731520"/>
                  </a:lnTo>
                  <a:close/>
                </a:path>
              </a:pathLst>
            </a:custGeom>
            <a:blipFill>
              <a:blip r:embed="rId3">
                <a:alphaModFix amt="0"/>
              </a:blip>
              <a:stretch>
                <a:fillRect t="-118870" b="-118870"/>
              </a:stretch>
            </a:blipFill>
          </p:spPr>
          <p:txBody>
            <a:bodyPr/>
            <a:lstStyle/>
            <a:p>
              <a:endParaRPr lang="es-GT"/>
            </a:p>
          </p:txBody>
        </p:sp>
        <p:sp>
          <p:nvSpPr>
            <p:cNvPr id="38" name="TextBox 38"/>
            <p:cNvSpPr txBox="1"/>
            <p:nvPr/>
          </p:nvSpPr>
          <p:spPr>
            <a:xfrm>
              <a:off x="0" y="-38100"/>
              <a:ext cx="6339840" cy="769620"/>
            </a:xfrm>
            <a:prstGeom prst="rect">
              <a:avLst/>
            </a:prstGeom>
          </p:spPr>
          <p:txBody>
            <a:bodyPr lIns="0" tIns="0" rIns="0" bIns="0" rtlCol="0" anchor="ctr"/>
            <a:lstStyle/>
            <a:p>
              <a:pPr algn="l">
                <a:lnSpc>
                  <a:spcPts val="2280"/>
                </a:lnSpc>
              </a:pPr>
              <a:r>
                <a:rPr lang="en-US" sz="1900" b="1">
                  <a:solidFill>
                    <a:srgbClr val="7EC8A4"/>
                  </a:solidFill>
                  <a:latin typeface="Calibri (MS) Bold"/>
                  <a:ea typeface="Calibri (MS) Bold"/>
                  <a:cs typeface="Calibri (MS) Bold"/>
                  <a:sym typeface="Calibri (MS) Bold"/>
                </a:rPr>
                <a:t>02  PSEUDOCÓDIGO</a:t>
              </a:r>
            </a:p>
          </p:txBody>
        </p:sp>
      </p:grpSp>
      <p:sp>
        <p:nvSpPr>
          <p:cNvPr id="39" name="TextBox 39"/>
          <p:cNvSpPr txBox="1"/>
          <p:nvPr/>
        </p:nvSpPr>
        <p:spPr>
          <a:xfrm>
            <a:off x="6821424" y="3253359"/>
            <a:ext cx="4754880" cy="3819525"/>
          </a:xfrm>
          <a:prstGeom prst="rect">
            <a:avLst/>
          </a:prstGeom>
        </p:spPr>
        <p:txBody>
          <a:bodyPr lIns="0" tIns="0" rIns="0" bIns="0" rtlCol="0" anchor="t">
            <a:spAutoFit/>
          </a:bodyPr>
          <a:lstStyle/>
          <a:p>
            <a:pPr algn="l">
              <a:lnSpc>
                <a:spcPts val="2519"/>
              </a:lnSpc>
            </a:pPr>
            <a:r>
              <a:rPr lang="en-US" sz="2099">
                <a:solidFill>
                  <a:srgbClr val="7EC8A4"/>
                </a:solidFill>
                <a:latin typeface="Consolas"/>
                <a:ea typeface="Consolas"/>
                <a:cs typeface="Consolas"/>
                <a:sym typeface="Consolas"/>
              </a:rPr>
              <a:t>Algoritmo Promedio</a:t>
            </a:r>
          </a:p>
          <a:p>
            <a:pPr algn="l">
              <a:lnSpc>
                <a:spcPts val="2519"/>
              </a:lnSpc>
            </a:pPr>
            <a:r>
              <a:rPr lang="en-US" sz="2099">
                <a:solidFill>
                  <a:srgbClr val="7EC8A4"/>
                </a:solidFill>
                <a:latin typeface="Consolas"/>
                <a:ea typeface="Consolas"/>
                <a:cs typeface="Consolas"/>
                <a:sym typeface="Consolas"/>
              </a:rPr>
              <a:t>   Definir n1, n2, n3 Como Real</a:t>
            </a:r>
          </a:p>
          <a:p>
            <a:pPr algn="l">
              <a:lnSpc>
                <a:spcPts val="2519"/>
              </a:lnSpc>
            </a:pPr>
            <a:r>
              <a:rPr lang="en-US" sz="2099">
                <a:solidFill>
                  <a:srgbClr val="7EC8A4"/>
                </a:solidFill>
                <a:latin typeface="Consolas"/>
                <a:ea typeface="Consolas"/>
                <a:cs typeface="Consolas"/>
                <a:sym typeface="Consolas"/>
              </a:rPr>
              <a:t>   Definir prom Como Real</a:t>
            </a:r>
          </a:p>
          <a:p>
            <a:pPr algn="l">
              <a:lnSpc>
                <a:spcPts val="2519"/>
              </a:lnSpc>
            </a:pPr>
            <a:r>
              <a:rPr lang="en-US" sz="2099">
                <a:solidFill>
                  <a:srgbClr val="7EC8A4"/>
                </a:solidFill>
                <a:latin typeface="Consolas"/>
                <a:ea typeface="Consolas"/>
                <a:cs typeface="Consolas"/>
                <a:sym typeface="Consolas"/>
              </a:rPr>
              <a:t>   Leer n1, n2, n3</a:t>
            </a:r>
          </a:p>
          <a:p>
            <a:pPr algn="l">
              <a:lnSpc>
                <a:spcPts val="2519"/>
              </a:lnSpc>
            </a:pPr>
            <a:r>
              <a:rPr lang="en-US" sz="2099">
                <a:solidFill>
                  <a:srgbClr val="7EC8A4"/>
                </a:solidFill>
                <a:latin typeface="Consolas"/>
                <a:ea typeface="Consolas"/>
                <a:cs typeface="Consolas"/>
                <a:sym typeface="Consolas"/>
              </a:rPr>
              <a:t>   prom ← (n1+n2+n3)/3</a:t>
            </a:r>
          </a:p>
          <a:p>
            <a:pPr algn="l">
              <a:lnSpc>
                <a:spcPts val="2519"/>
              </a:lnSpc>
            </a:pPr>
            <a:r>
              <a:rPr lang="en-US" sz="2099">
                <a:solidFill>
                  <a:srgbClr val="7EC8A4"/>
                </a:solidFill>
                <a:latin typeface="Consolas"/>
                <a:ea typeface="Consolas"/>
                <a:cs typeface="Consolas"/>
                <a:sym typeface="Consolas"/>
              </a:rPr>
              <a:t>   Si prom &gt;= 61 Entonces</a:t>
            </a:r>
          </a:p>
          <a:p>
            <a:pPr algn="l">
              <a:lnSpc>
                <a:spcPts val="2519"/>
              </a:lnSpc>
            </a:pPr>
            <a:r>
              <a:rPr lang="en-US" sz="2099">
                <a:solidFill>
                  <a:srgbClr val="7EC8A4"/>
                </a:solidFill>
                <a:latin typeface="Consolas"/>
                <a:ea typeface="Consolas"/>
                <a:cs typeface="Consolas"/>
                <a:sym typeface="Consolas"/>
              </a:rPr>
              <a:t>      Escribir "APRUEBA"</a:t>
            </a:r>
          </a:p>
          <a:p>
            <a:pPr algn="l">
              <a:lnSpc>
                <a:spcPts val="2519"/>
              </a:lnSpc>
            </a:pPr>
            <a:r>
              <a:rPr lang="en-US" sz="2099">
                <a:solidFill>
                  <a:srgbClr val="7EC8A4"/>
                </a:solidFill>
                <a:latin typeface="Consolas"/>
                <a:ea typeface="Consolas"/>
                <a:cs typeface="Consolas"/>
                <a:sym typeface="Consolas"/>
              </a:rPr>
              <a:t>   SiNo</a:t>
            </a:r>
          </a:p>
          <a:p>
            <a:pPr algn="l">
              <a:lnSpc>
                <a:spcPts val="2519"/>
              </a:lnSpc>
            </a:pPr>
            <a:r>
              <a:rPr lang="en-US" sz="2099">
                <a:solidFill>
                  <a:srgbClr val="7EC8A4"/>
                </a:solidFill>
                <a:latin typeface="Consolas"/>
                <a:ea typeface="Consolas"/>
                <a:cs typeface="Consolas"/>
                <a:sym typeface="Consolas"/>
              </a:rPr>
              <a:t>      Escribir "REPRUEBA"</a:t>
            </a:r>
          </a:p>
          <a:p>
            <a:pPr algn="l">
              <a:lnSpc>
                <a:spcPts val="2519"/>
              </a:lnSpc>
            </a:pPr>
            <a:r>
              <a:rPr lang="en-US" sz="2099">
                <a:solidFill>
                  <a:srgbClr val="7EC8A4"/>
                </a:solidFill>
                <a:latin typeface="Consolas"/>
                <a:ea typeface="Consolas"/>
                <a:cs typeface="Consolas"/>
                <a:sym typeface="Consolas"/>
              </a:rPr>
              <a:t>   FinSi</a:t>
            </a:r>
          </a:p>
          <a:p>
            <a:pPr algn="l">
              <a:lnSpc>
                <a:spcPts val="2519"/>
              </a:lnSpc>
            </a:pPr>
            <a:r>
              <a:rPr lang="en-US" sz="2099">
                <a:solidFill>
                  <a:srgbClr val="7EC8A4"/>
                </a:solidFill>
                <a:latin typeface="Consolas"/>
                <a:ea typeface="Consolas"/>
                <a:cs typeface="Consolas"/>
                <a:sym typeface="Consolas"/>
              </a:rPr>
              <a:t>   Escribir "Promedio: ", prom</a:t>
            </a:r>
          </a:p>
          <a:p>
            <a:pPr algn="l">
              <a:lnSpc>
                <a:spcPts val="2519"/>
              </a:lnSpc>
            </a:pPr>
            <a:r>
              <a:rPr lang="en-US" sz="2099">
                <a:solidFill>
                  <a:srgbClr val="7EC8A4"/>
                </a:solidFill>
                <a:latin typeface="Consolas"/>
                <a:ea typeface="Consolas"/>
                <a:cs typeface="Consolas"/>
                <a:sym typeface="Consolas"/>
              </a:rPr>
              <a:t>FinAlgoritmo</a:t>
            </a:r>
          </a:p>
        </p:txBody>
      </p:sp>
      <p:grpSp>
        <p:nvGrpSpPr>
          <p:cNvPr id="40" name="Group 40"/>
          <p:cNvGrpSpPr/>
          <p:nvPr/>
        </p:nvGrpSpPr>
        <p:grpSpPr>
          <a:xfrm>
            <a:off x="12240263" y="2401319"/>
            <a:ext cx="5328923" cy="7304027"/>
            <a:chOff x="0" y="0"/>
            <a:chExt cx="7105231" cy="9738703"/>
          </a:xfrm>
        </p:grpSpPr>
        <p:sp>
          <p:nvSpPr>
            <p:cNvPr id="41" name="Freeform 41"/>
            <p:cNvSpPr/>
            <p:nvPr/>
          </p:nvSpPr>
          <p:spPr>
            <a:xfrm>
              <a:off x="16891" y="16891"/>
              <a:ext cx="7071360" cy="9704832"/>
            </a:xfrm>
            <a:custGeom>
              <a:avLst/>
              <a:gdLst/>
              <a:ahLst/>
              <a:cxnLst/>
              <a:rect l="l" t="t" r="r" b="b"/>
              <a:pathLst>
                <a:path w="7071360" h="9704832">
                  <a:moveTo>
                    <a:pt x="0" y="0"/>
                  </a:moveTo>
                  <a:lnTo>
                    <a:pt x="7071360" y="0"/>
                  </a:lnTo>
                  <a:lnTo>
                    <a:pt x="7071360" y="9704832"/>
                  </a:lnTo>
                  <a:lnTo>
                    <a:pt x="0" y="9704832"/>
                  </a:lnTo>
                  <a:close/>
                </a:path>
              </a:pathLst>
            </a:custGeom>
            <a:solidFill>
              <a:srgbClr val="252B42"/>
            </a:solidFill>
          </p:spPr>
          <p:txBody>
            <a:bodyPr/>
            <a:lstStyle/>
            <a:p>
              <a:endParaRPr lang="es-GT"/>
            </a:p>
          </p:txBody>
        </p:sp>
        <p:sp>
          <p:nvSpPr>
            <p:cNvPr id="42" name="Freeform 42"/>
            <p:cNvSpPr/>
            <p:nvPr/>
          </p:nvSpPr>
          <p:spPr>
            <a:xfrm>
              <a:off x="0" y="0"/>
              <a:ext cx="7105142" cy="9738614"/>
            </a:xfrm>
            <a:custGeom>
              <a:avLst/>
              <a:gdLst/>
              <a:ahLst/>
              <a:cxnLst/>
              <a:rect l="l" t="t" r="r" b="b"/>
              <a:pathLst>
                <a:path w="7105142" h="9738614">
                  <a:moveTo>
                    <a:pt x="16891" y="0"/>
                  </a:moveTo>
                  <a:lnTo>
                    <a:pt x="7088251" y="0"/>
                  </a:lnTo>
                  <a:cubicBezTo>
                    <a:pt x="7097649" y="0"/>
                    <a:pt x="7105142" y="7620"/>
                    <a:pt x="7105142" y="16891"/>
                  </a:cubicBezTo>
                  <a:lnTo>
                    <a:pt x="7105142" y="9721723"/>
                  </a:lnTo>
                  <a:cubicBezTo>
                    <a:pt x="7105142" y="9731121"/>
                    <a:pt x="7097522" y="9738614"/>
                    <a:pt x="7088251" y="9738614"/>
                  </a:cubicBezTo>
                  <a:lnTo>
                    <a:pt x="16891" y="9738614"/>
                  </a:lnTo>
                  <a:cubicBezTo>
                    <a:pt x="7493" y="9738614"/>
                    <a:pt x="0" y="9730994"/>
                    <a:pt x="0" y="9721723"/>
                  </a:cubicBezTo>
                  <a:lnTo>
                    <a:pt x="0" y="16891"/>
                  </a:lnTo>
                  <a:cubicBezTo>
                    <a:pt x="0" y="7620"/>
                    <a:pt x="7620" y="0"/>
                    <a:pt x="16891" y="0"/>
                  </a:cubicBezTo>
                  <a:moveTo>
                    <a:pt x="16891" y="33909"/>
                  </a:moveTo>
                  <a:lnTo>
                    <a:pt x="16891" y="16891"/>
                  </a:lnTo>
                  <a:lnTo>
                    <a:pt x="33909" y="16891"/>
                  </a:lnTo>
                  <a:lnTo>
                    <a:pt x="33909" y="9721723"/>
                  </a:lnTo>
                  <a:lnTo>
                    <a:pt x="16891" y="9721723"/>
                  </a:lnTo>
                  <a:lnTo>
                    <a:pt x="16891" y="9704832"/>
                  </a:lnTo>
                  <a:lnTo>
                    <a:pt x="7088251" y="9704832"/>
                  </a:lnTo>
                  <a:lnTo>
                    <a:pt x="7088251" y="9721723"/>
                  </a:lnTo>
                  <a:lnTo>
                    <a:pt x="7071360" y="9721723"/>
                  </a:lnTo>
                  <a:lnTo>
                    <a:pt x="7071360" y="16891"/>
                  </a:lnTo>
                  <a:lnTo>
                    <a:pt x="7088251" y="16891"/>
                  </a:lnTo>
                  <a:lnTo>
                    <a:pt x="7088251" y="33909"/>
                  </a:lnTo>
                  <a:lnTo>
                    <a:pt x="16891" y="33909"/>
                  </a:lnTo>
                  <a:close/>
                </a:path>
              </a:pathLst>
            </a:custGeom>
            <a:solidFill>
              <a:srgbClr val="9B7FD4"/>
            </a:solidFill>
          </p:spPr>
          <p:txBody>
            <a:bodyPr/>
            <a:lstStyle/>
            <a:p>
              <a:endParaRPr lang="es-GT"/>
            </a:p>
          </p:txBody>
        </p:sp>
      </p:grpSp>
      <p:grpSp>
        <p:nvGrpSpPr>
          <p:cNvPr id="43" name="Group 43"/>
          <p:cNvGrpSpPr/>
          <p:nvPr/>
        </p:nvGrpSpPr>
        <p:grpSpPr>
          <a:xfrm>
            <a:off x="12240263" y="2401319"/>
            <a:ext cx="5328923" cy="720347"/>
            <a:chOff x="0" y="0"/>
            <a:chExt cx="7105231" cy="960463"/>
          </a:xfrm>
        </p:grpSpPr>
        <p:sp>
          <p:nvSpPr>
            <p:cNvPr id="44" name="Freeform 44"/>
            <p:cNvSpPr/>
            <p:nvPr/>
          </p:nvSpPr>
          <p:spPr>
            <a:xfrm>
              <a:off x="16891" y="16891"/>
              <a:ext cx="7071360" cy="926592"/>
            </a:xfrm>
            <a:custGeom>
              <a:avLst/>
              <a:gdLst/>
              <a:ahLst/>
              <a:cxnLst/>
              <a:rect l="l" t="t" r="r" b="b"/>
              <a:pathLst>
                <a:path w="7071360" h="926592">
                  <a:moveTo>
                    <a:pt x="0" y="0"/>
                  </a:moveTo>
                  <a:lnTo>
                    <a:pt x="7071360" y="0"/>
                  </a:lnTo>
                  <a:lnTo>
                    <a:pt x="7071360" y="926592"/>
                  </a:lnTo>
                  <a:lnTo>
                    <a:pt x="0" y="926592"/>
                  </a:lnTo>
                  <a:close/>
                </a:path>
              </a:pathLst>
            </a:custGeom>
            <a:solidFill>
              <a:srgbClr val="1A1F33"/>
            </a:solidFill>
          </p:spPr>
          <p:txBody>
            <a:bodyPr/>
            <a:lstStyle/>
            <a:p>
              <a:endParaRPr lang="es-GT"/>
            </a:p>
          </p:txBody>
        </p:sp>
        <p:sp>
          <p:nvSpPr>
            <p:cNvPr id="45" name="Freeform 45"/>
            <p:cNvSpPr/>
            <p:nvPr/>
          </p:nvSpPr>
          <p:spPr>
            <a:xfrm>
              <a:off x="0" y="0"/>
              <a:ext cx="7105142" cy="960376"/>
            </a:xfrm>
            <a:custGeom>
              <a:avLst/>
              <a:gdLst/>
              <a:ahLst/>
              <a:cxnLst/>
              <a:rect l="l" t="t" r="r" b="b"/>
              <a:pathLst>
                <a:path w="7105142" h="960376">
                  <a:moveTo>
                    <a:pt x="16891" y="0"/>
                  </a:moveTo>
                  <a:lnTo>
                    <a:pt x="7088251" y="0"/>
                  </a:lnTo>
                  <a:cubicBezTo>
                    <a:pt x="7097649" y="0"/>
                    <a:pt x="7105142" y="7620"/>
                    <a:pt x="7105142" y="16891"/>
                  </a:cubicBezTo>
                  <a:lnTo>
                    <a:pt x="7105142" y="943483"/>
                  </a:lnTo>
                  <a:cubicBezTo>
                    <a:pt x="7105142" y="952881"/>
                    <a:pt x="7097522" y="960374"/>
                    <a:pt x="708825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7088251" y="926592"/>
                  </a:lnTo>
                  <a:lnTo>
                    <a:pt x="7088251" y="943483"/>
                  </a:lnTo>
                  <a:lnTo>
                    <a:pt x="7071360" y="943483"/>
                  </a:lnTo>
                  <a:lnTo>
                    <a:pt x="7071360" y="16891"/>
                  </a:lnTo>
                  <a:lnTo>
                    <a:pt x="7088251" y="16891"/>
                  </a:lnTo>
                  <a:lnTo>
                    <a:pt x="7088251" y="33909"/>
                  </a:lnTo>
                  <a:lnTo>
                    <a:pt x="16891" y="33909"/>
                  </a:lnTo>
                  <a:close/>
                </a:path>
              </a:pathLst>
            </a:custGeom>
            <a:solidFill>
              <a:srgbClr val="9B7FD4"/>
            </a:solidFill>
          </p:spPr>
          <p:txBody>
            <a:bodyPr/>
            <a:lstStyle/>
            <a:p>
              <a:endParaRPr lang="es-GT"/>
            </a:p>
          </p:txBody>
        </p:sp>
      </p:grpSp>
      <p:grpSp>
        <p:nvGrpSpPr>
          <p:cNvPr id="46" name="Group 46"/>
          <p:cNvGrpSpPr/>
          <p:nvPr/>
        </p:nvGrpSpPr>
        <p:grpSpPr>
          <a:xfrm>
            <a:off x="12527280" y="2468880"/>
            <a:ext cx="4754880" cy="548640"/>
            <a:chOff x="0" y="0"/>
            <a:chExt cx="6339840" cy="731520"/>
          </a:xfrm>
        </p:grpSpPr>
        <p:sp>
          <p:nvSpPr>
            <p:cNvPr id="47" name="Freeform 47"/>
            <p:cNvSpPr/>
            <p:nvPr/>
          </p:nvSpPr>
          <p:spPr>
            <a:xfrm>
              <a:off x="0" y="0"/>
              <a:ext cx="6339840" cy="731520"/>
            </a:xfrm>
            <a:custGeom>
              <a:avLst/>
              <a:gdLst/>
              <a:ahLst/>
              <a:cxnLst/>
              <a:rect l="l" t="t" r="r" b="b"/>
              <a:pathLst>
                <a:path w="6339840" h="731520">
                  <a:moveTo>
                    <a:pt x="0" y="0"/>
                  </a:moveTo>
                  <a:lnTo>
                    <a:pt x="6339840" y="0"/>
                  </a:lnTo>
                  <a:lnTo>
                    <a:pt x="6339840" y="731520"/>
                  </a:lnTo>
                  <a:lnTo>
                    <a:pt x="0" y="731520"/>
                  </a:lnTo>
                  <a:close/>
                </a:path>
              </a:pathLst>
            </a:custGeom>
            <a:blipFill>
              <a:blip r:embed="rId3">
                <a:alphaModFix amt="0"/>
              </a:blip>
              <a:stretch>
                <a:fillRect t="-118870" b="-118870"/>
              </a:stretch>
            </a:blipFill>
          </p:spPr>
          <p:txBody>
            <a:bodyPr/>
            <a:lstStyle/>
            <a:p>
              <a:endParaRPr lang="es-GT"/>
            </a:p>
          </p:txBody>
        </p:sp>
        <p:sp>
          <p:nvSpPr>
            <p:cNvPr id="48" name="TextBox 48"/>
            <p:cNvSpPr txBox="1"/>
            <p:nvPr/>
          </p:nvSpPr>
          <p:spPr>
            <a:xfrm>
              <a:off x="0" y="-38100"/>
              <a:ext cx="6339840" cy="769620"/>
            </a:xfrm>
            <a:prstGeom prst="rect">
              <a:avLst/>
            </a:prstGeom>
          </p:spPr>
          <p:txBody>
            <a:bodyPr lIns="0" tIns="0" rIns="0" bIns="0" rtlCol="0" anchor="ctr"/>
            <a:lstStyle/>
            <a:p>
              <a:pPr algn="l">
                <a:lnSpc>
                  <a:spcPts val="2280"/>
                </a:lnSpc>
              </a:pPr>
              <a:r>
                <a:rPr lang="en-US" sz="1900" b="1">
                  <a:solidFill>
                    <a:srgbClr val="9B7FD4"/>
                  </a:solidFill>
                  <a:latin typeface="Calibri (MS) Bold"/>
                  <a:ea typeface="Calibri (MS) Bold"/>
                  <a:cs typeface="Calibri (MS) Bold"/>
                  <a:sym typeface="Calibri (MS) Bold"/>
                </a:rPr>
                <a:t>03  TABLA DE PRUEBA</a:t>
              </a:r>
            </a:p>
          </p:txBody>
        </p:sp>
      </p:grpSp>
      <p:graphicFrame>
        <p:nvGraphicFramePr>
          <p:cNvPr id="49" name="Table 49"/>
          <p:cNvGraphicFramePr>
            <a:graphicFrameLocks noGrp="1"/>
          </p:cNvGraphicFramePr>
          <p:nvPr/>
        </p:nvGraphicFramePr>
        <p:xfrm>
          <a:off x="12344400" y="3255264"/>
          <a:ext cx="5080000" cy="6223000"/>
        </p:xfrm>
        <a:graphic>
          <a:graphicData uri="http://schemas.openxmlformats.org/drawingml/2006/table">
            <a:tbl>
              <a:tblPr/>
              <a:tblGrid>
                <a:gridCol w="768147">
                  <a:extLst>
                    <a:ext uri="{9D8B030D-6E8A-4147-A177-3AD203B41FA5}">
                      <a16:colId xmlns:a16="http://schemas.microsoft.com/office/drawing/2014/main" val="20000"/>
                    </a:ext>
                  </a:extLst>
                </a:gridCol>
                <a:gridCol w="768147">
                  <a:extLst>
                    <a:ext uri="{9D8B030D-6E8A-4147-A177-3AD203B41FA5}">
                      <a16:colId xmlns:a16="http://schemas.microsoft.com/office/drawing/2014/main" val="20001"/>
                    </a:ext>
                  </a:extLst>
                </a:gridCol>
                <a:gridCol w="768147">
                  <a:extLst>
                    <a:ext uri="{9D8B030D-6E8A-4147-A177-3AD203B41FA5}">
                      <a16:colId xmlns:a16="http://schemas.microsoft.com/office/drawing/2014/main" val="20002"/>
                    </a:ext>
                  </a:extLst>
                </a:gridCol>
                <a:gridCol w="998296">
                  <a:extLst>
                    <a:ext uri="{9D8B030D-6E8A-4147-A177-3AD203B41FA5}">
                      <a16:colId xmlns:a16="http://schemas.microsoft.com/office/drawing/2014/main" val="20003"/>
                    </a:ext>
                  </a:extLst>
                </a:gridCol>
                <a:gridCol w="1777262">
                  <a:extLst>
                    <a:ext uri="{9D8B030D-6E8A-4147-A177-3AD203B41FA5}">
                      <a16:colId xmlns:a16="http://schemas.microsoft.com/office/drawing/2014/main" val="20004"/>
                    </a:ext>
                  </a:extLst>
                </a:gridCol>
              </a:tblGrid>
              <a:tr h="1244600">
                <a:tc>
                  <a:txBody>
                    <a:bodyPr/>
                    <a:lstStyle/>
                    <a:p>
                      <a:pPr algn="l">
                        <a:lnSpc>
                          <a:spcPts val="2160"/>
                        </a:lnSpc>
                        <a:defRPr/>
                      </a:pPr>
                      <a:r>
                        <a:rPr lang="en-US" sz="1800" b="1">
                          <a:solidFill>
                            <a:srgbClr val="FFFFFF"/>
                          </a:solidFill>
                          <a:latin typeface="Calibri (MS) Bold"/>
                          <a:ea typeface="Calibri (MS) Bold"/>
                          <a:cs typeface="Calibri (MS) Bold"/>
                          <a:sym typeface="Calibri (MS) Bold"/>
                        </a:rPr>
                        <a:t>n1</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2040"/>
                    </a:solidFill>
                  </a:tcPr>
                </a:tc>
                <a:tc>
                  <a:txBody>
                    <a:bodyPr/>
                    <a:lstStyle/>
                    <a:p>
                      <a:pPr algn="l">
                        <a:lnSpc>
                          <a:spcPts val="2160"/>
                        </a:lnSpc>
                        <a:defRPr/>
                      </a:pPr>
                      <a:r>
                        <a:rPr lang="en-US" sz="1800" b="1">
                          <a:solidFill>
                            <a:srgbClr val="FFFFFF"/>
                          </a:solidFill>
                          <a:latin typeface="Calibri (MS) Bold"/>
                          <a:ea typeface="Calibri (MS) Bold"/>
                          <a:cs typeface="Calibri (MS) Bold"/>
                          <a:sym typeface="Calibri (MS) Bold"/>
                        </a:rPr>
                        <a:t>n2</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2040"/>
                    </a:solidFill>
                  </a:tcPr>
                </a:tc>
                <a:tc>
                  <a:txBody>
                    <a:bodyPr/>
                    <a:lstStyle/>
                    <a:p>
                      <a:pPr algn="l">
                        <a:lnSpc>
                          <a:spcPts val="2160"/>
                        </a:lnSpc>
                        <a:defRPr/>
                      </a:pPr>
                      <a:r>
                        <a:rPr lang="en-US" sz="1800" b="1">
                          <a:solidFill>
                            <a:srgbClr val="FFFFFF"/>
                          </a:solidFill>
                          <a:latin typeface="Calibri (MS) Bold"/>
                          <a:ea typeface="Calibri (MS) Bold"/>
                          <a:cs typeface="Calibri (MS) Bold"/>
                          <a:sym typeface="Calibri (MS) Bold"/>
                        </a:rPr>
                        <a:t>n3</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2040"/>
                    </a:solidFill>
                  </a:tcPr>
                </a:tc>
                <a:tc>
                  <a:txBody>
                    <a:bodyPr/>
                    <a:lstStyle/>
                    <a:p>
                      <a:pPr algn="l">
                        <a:lnSpc>
                          <a:spcPts val="2160"/>
                        </a:lnSpc>
                        <a:defRPr/>
                      </a:pPr>
                      <a:r>
                        <a:rPr lang="en-US" sz="1800" b="1">
                          <a:solidFill>
                            <a:srgbClr val="FFFFFF"/>
                          </a:solidFill>
                          <a:latin typeface="Calibri (MS) Bold"/>
                          <a:ea typeface="Calibri (MS) Bold"/>
                          <a:cs typeface="Calibri (MS) Bold"/>
                          <a:sym typeface="Calibri (MS) Bold"/>
                        </a:rPr>
                        <a:t>prom</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2040"/>
                    </a:solidFill>
                  </a:tcPr>
                </a:tc>
                <a:tc>
                  <a:txBody>
                    <a:bodyPr/>
                    <a:lstStyle/>
                    <a:p>
                      <a:pPr algn="l">
                        <a:lnSpc>
                          <a:spcPts val="2160"/>
                        </a:lnSpc>
                        <a:defRPr/>
                      </a:pPr>
                      <a:r>
                        <a:rPr lang="en-US" sz="1800" b="1">
                          <a:solidFill>
                            <a:srgbClr val="FFFFFF"/>
                          </a:solidFill>
                          <a:latin typeface="Calibri (MS) Bold"/>
                          <a:ea typeface="Calibri (MS) Bold"/>
                          <a:cs typeface="Calibri (MS) Bold"/>
                          <a:sym typeface="Calibri (MS) Bold"/>
                        </a:rPr>
                        <a:t>Resultado</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2040"/>
                    </a:solidFill>
                  </a:tcPr>
                </a:tc>
                <a:extLst>
                  <a:ext uri="{0D108BD9-81ED-4DB2-BD59-A6C34878D82A}">
                    <a16:rowId xmlns:a16="http://schemas.microsoft.com/office/drawing/2014/main" val="10000"/>
                  </a:ext>
                </a:extLst>
              </a:tr>
              <a:tr h="1244600">
                <a:tc>
                  <a:txBody>
                    <a:bodyPr/>
                    <a:lstStyle/>
                    <a:p>
                      <a:pPr algn="l">
                        <a:lnSpc>
                          <a:spcPts val="2160"/>
                        </a:lnSpc>
                        <a:defRPr/>
                      </a:pPr>
                      <a:r>
                        <a:rPr lang="en-US" sz="1800">
                          <a:solidFill>
                            <a:srgbClr val="FFFFFF"/>
                          </a:solidFill>
                          <a:latin typeface="Calibri (MS)"/>
                          <a:ea typeface="Calibri (MS)"/>
                          <a:cs typeface="Calibri (MS)"/>
                          <a:sym typeface="Calibri (MS)"/>
                        </a:rPr>
                        <a:t>80</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tc>
                  <a:txBody>
                    <a:bodyPr/>
                    <a:lstStyle/>
                    <a:p>
                      <a:pPr algn="l">
                        <a:lnSpc>
                          <a:spcPts val="2160"/>
                        </a:lnSpc>
                        <a:defRPr/>
                      </a:pPr>
                      <a:r>
                        <a:rPr lang="en-US" sz="1800">
                          <a:solidFill>
                            <a:srgbClr val="FFFFFF"/>
                          </a:solidFill>
                          <a:latin typeface="Calibri (MS)"/>
                          <a:ea typeface="Calibri (MS)"/>
                          <a:cs typeface="Calibri (MS)"/>
                          <a:sym typeface="Calibri (MS)"/>
                        </a:rPr>
                        <a:t>75</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tc>
                  <a:txBody>
                    <a:bodyPr/>
                    <a:lstStyle/>
                    <a:p>
                      <a:pPr algn="l">
                        <a:lnSpc>
                          <a:spcPts val="2160"/>
                        </a:lnSpc>
                        <a:defRPr/>
                      </a:pPr>
                      <a:r>
                        <a:rPr lang="en-US" sz="1800">
                          <a:solidFill>
                            <a:srgbClr val="FFFFFF"/>
                          </a:solidFill>
                          <a:latin typeface="Calibri (MS)"/>
                          <a:ea typeface="Calibri (MS)"/>
                          <a:cs typeface="Calibri (MS)"/>
                          <a:sym typeface="Calibri (MS)"/>
                        </a:rPr>
                        <a:t>90</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tc>
                  <a:txBody>
                    <a:bodyPr/>
                    <a:lstStyle/>
                    <a:p>
                      <a:pPr algn="l">
                        <a:lnSpc>
                          <a:spcPts val="2160"/>
                        </a:lnSpc>
                        <a:defRPr/>
                      </a:pPr>
                      <a:r>
                        <a:rPr lang="en-US" sz="1800">
                          <a:solidFill>
                            <a:srgbClr val="7EC8A4"/>
                          </a:solidFill>
                          <a:latin typeface="Calibri (MS)"/>
                          <a:ea typeface="Calibri (MS)"/>
                          <a:cs typeface="Calibri (MS)"/>
                          <a:sym typeface="Calibri (MS)"/>
                        </a:rPr>
                        <a:t>81.67</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tc>
                  <a:txBody>
                    <a:bodyPr/>
                    <a:lstStyle/>
                    <a:p>
                      <a:pPr algn="l">
                        <a:lnSpc>
                          <a:spcPts val="2160"/>
                        </a:lnSpc>
                        <a:defRPr/>
                      </a:pPr>
                      <a:r>
                        <a:rPr lang="en-US" sz="1800" b="1">
                          <a:solidFill>
                            <a:srgbClr val="7EC8A4"/>
                          </a:solidFill>
                          <a:latin typeface="Calibri (MS) Bold"/>
                          <a:ea typeface="Calibri (MS) Bold"/>
                          <a:cs typeface="Calibri (MS) Bold"/>
                          <a:sym typeface="Calibri (MS) Bold"/>
                        </a:rPr>
                        <a:t>APRUEBA</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extLst>
                  <a:ext uri="{0D108BD9-81ED-4DB2-BD59-A6C34878D82A}">
                    <a16:rowId xmlns:a16="http://schemas.microsoft.com/office/drawing/2014/main" val="10001"/>
                  </a:ext>
                </a:extLst>
              </a:tr>
              <a:tr h="1244600">
                <a:tc>
                  <a:txBody>
                    <a:bodyPr/>
                    <a:lstStyle/>
                    <a:p>
                      <a:pPr algn="l">
                        <a:lnSpc>
                          <a:spcPts val="2160"/>
                        </a:lnSpc>
                        <a:defRPr/>
                      </a:pPr>
                      <a:r>
                        <a:rPr lang="en-US" sz="1800">
                          <a:solidFill>
                            <a:srgbClr val="FFFFFF"/>
                          </a:solidFill>
                          <a:latin typeface="Calibri (MS)"/>
                          <a:ea typeface="Calibri (MS)"/>
                          <a:cs typeface="Calibri (MS)"/>
                          <a:sym typeface="Calibri (MS)"/>
                        </a:rPr>
                        <a:t>50</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160"/>
                        </a:lnSpc>
                        <a:defRPr/>
                      </a:pPr>
                      <a:r>
                        <a:rPr lang="en-US" sz="1800">
                          <a:solidFill>
                            <a:srgbClr val="FFFFFF"/>
                          </a:solidFill>
                          <a:latin typeface="Calibri (MS)"/>
                          <a:ea typeface="Calibri (MS)"/>
                          <a:cs typeface="Calibri (MS)"/>
                          <a:sym typeface="Calibri (MS)"/>
                        </a:rPr>
                        <a:t>60</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160"/>
                        </a:lnSpc>
                        <a:defRPr/>
                      </a:pPr>
                      <a:r>
                        <a:rPr lang="en-US" sz="1800">
                          <a:solidFill>
                            <a:srgbClr val="FFFFFF"/>
                          </a:solidFill>
                          <a:latin typeface="Calibri (MS)"/>
                          <a:ea typeface="Calibri (MS)"/>
                          <a:cs typeface="Calibri (MS)"/>
                          <a:sym typeface="Calibri (MS)"/>
                        </a:rPr>
                        <a:t>45</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160"/>
                        </a:lnSpc>
                        <a:defRPr/>
                      </a:pPr>
                      <a:r>
                        <a:rPr lang="en-US" sz="1800">
                          <a:solidFill>
                            <a:srgbClr val="F0877A"/>
                          </a:solidFill>
                          <a:latin typeface="Calibri (MS)"/>
                          <a:ea typeface="Calibri (MS)"/>
                          <a:cs typeface="Calibri (MS)"/>
                          <a:sym typeface="Calibri (MS)"/>
                        </a:rPr>
                        <a:t>51.67</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160"/>
                        </a:lnSpc>
                        <a:defRPr/>
                      </a:pPr>
                      <a:r>
                        <a:rPr lang="en-US" sz="1800" b="1">
                          <a:solidFill>
                            <a:srgbClr val="F0877A"/>
                          </a:solidFill>
                          <a:latin typeface="Calibri (MS) Bold"/>
                          <a:ea typeface="Calibri (MS) Bold"/>
                          <a:cs typeface="Calibri (MS) Bold"/>
                          <a:sym typeface="Calibri (MS) Bold"/>
                        </a:rPr>
                        <a:t>REPRUEBA</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extLst>
                  <a:ext uri="{0D108BD9-81ED-4DB2-BD59-A6C34878D82A}">
                    <a16:rowId xmlns:a16="http://schemas.microsoft.com/office/drawing/2014/main" val="10002"/>
                  </a:ext>
                </a:extLst>
              </a:tr>
              <a:tr h="1244600">
                <a:tc>
                  <a:txBody>
                    <a:bodyPr/>
                    <a:lstStyle/>
                    <a:p>
                      <a:pPr algn="l">
                        <a:lnSpc>
                          <a:spcPts val="2160"/>
                        </a:lnSpc>
                        <a:defRPr/>
                      </a:pPr>
                      <a:r>
                        <a:rPr lang="en-US" sz="1800">
                          <a:solidFill>
                            <a:srgbClr val="FFFFFF"/>
                          </a:solidFill>
                          <a:latin typeface="Calibri (MS)"/>
                          <a:ea typeface="Calibri (MS)"/>
                          <a:cs typeface="Calibri (MS)"/>
                          <a:sym typeface="Calibri (MS)"/>
                        </a:rPr>
                        <a:t>61</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tc>
                  <a:txBody>
                    <a:bodyPr/>
                    <a:lstStyle/>
                    <a:p>
                      <a:pPr algn="l">
                        <a:lnSpc>
                          <a:spcPts val="2160"/>
                        </a:lnSpc>
                        <a:defRPr/>
                      </a:pPr>
                      <a:r>
                        <a:rPr lang="en-US" sz="1800">
                          <a:solidFill>
                            <a:srgbClr val="FFFFFF"/>
                          </a:solidFill>
                          <a:latin typeface="Calibri (MS)"/>
                          <a:ea typeface="Calibri (MS)"/>
                          <a:cs typeface="Calibri (MS)"/>
                          <a:sym typeface="Calibri (MS)"/>
                        </a:rPr>
                        <a:t>61</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tc>
                  <a:txBody>
                    <a:bodyPr/>
                    <a:lstStyle/>
                    <a:p>
                      <a:pPr algn="l">
                        <a:lnSpc>
                          <a:spcPts val="2160"/>
                        </a:lnSpc>
                        <a:defRPr/>
                      </a:pPr>
                      <a:r>
                        <a:rPr lang="en-US" sz="1800">
                          <a:solidFill>
                            <a:srgbClr val="FFFFFF"/>
                          </a:solidFill>
                          <a:latin typeface="Calibri (MS)"/>
                          <a:ea typeface="Calibri (MS)"/>
                          <a:cs typeface="Calibri (MS)"/>
                          <a:sym typeface="Calibri (MS)"/>
                        </a:rPr>
                        <a:t>61</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tc>
                  <a:txBody>
                    <a:bodyPr/>
                    <a:lstStyle/>
                    <a:p>
                      <a:pPr algn="l">
                        <a:lnSpc>
                          <a:spcPts val="2160"/>
                        </a:lnSpc>
                        <a:defRPr/>
                      </a:pPr>
                      <a:r>
                        <a:rPr lang="en-US" sz="1800">
                          <a:solidFill>
                            <a:srgbClr val="7EC8A4"/>
                          </a:solidFill>
                          <a:latin typeface="Calibri (MS)"/>
                          <a:ea typeface="Calibri (MS)"/>
                          <a:cs typeface="Calibri (MS)"/>
                          <a:sym typeface="Calibri (MS)"/>
                        </a:rPr>
                        <a:t>61.00</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tc>
                  <a:txBody>
                    <a:bodyPr/>
                    <a:lstStyle/>
                    <a:p>
                      <a:pPr algn="l">
                        <a:lnSpc>
                          <a:spcPts val="2160"/>
                        </a:lnSpc>
                        <a:defRPr/>
                      </a:pPr>
                      <a:r>
                        <a:rPr lang="en-US" sz="1800" b="1">
                          <a:solidFill>
                            <a:srgbClr val="7EC8A4"/>
                          </a:solidFill>
                          <a:latin typeface="Calibri (MS) Bold"/>
                          <a:ea typeface="Calibri (MS) Bold"/>
                          <a:cs typeface="Calibri (MS) Bold"/>
                          <a:sym typeface="Calibri (MS) Bold"/>
                        </a:rPr>
                        <a:t>APRUEBA</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extLst>
                  <a:ext uri="{0D108BD9-81ED-4DB2-BD59-A6C34878D82A}">
                    <a16:rowId xmlns:a16="http://schemas.microsoft.com/office/drawing/2014/main" val="10003"/>
                  </a:ext>
                </a:extLst>
              </a:tr>
              <a:tr h="1244600">
                <a:tc>
                  <a:txBody>
                    <a:bodyPr/>
                    <a:lstStyle/>
                    <a:p>
                      <a:pPr algn="l">
                        <a:lnSpc>
                          <a:spcPts val="2160"/>
                        </a:lnSpc>
                        <a:defRPr/>
                      </a:pPr>
                      <a:r>
                        <a:rPr lang="en-US" sz="1800">
                          <a:solidFill>
                            <a:srgbClr val="FFFFFF"/>
                          </a:solidFill>
                          <a:latin typeface="Calibri (MS)"/>
                          <a:ea typeface="Calibri (MS)"/>
                          <a:cs typeface="Calibri (MS)"/>
                          <a:sym typeface="Calibri (MS)"/>
                        </a:rPr>
                        <a:t>100</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160"/>
                        </a:lnSpc>
                        <a:defRPr/>
                      </a:pPr>
                      <a:r>
                        <a:rPr lang="en-US" sz="1800">
                          <a:solidFill>
                            <a:srgbClr val="FFFFFF"/>
                          </a:solidFill>
                          <a:latin typeface="Calibri (MS)"/>
                          <a:ea typeface="Calibri (MS)"/>
                          <a:cs typeface="Calibri (MS)"/>
                          <a:sym typeface="Calibri (MS)"/>
                        </a:rPr>
                        <a:t>0</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160"/>
                        </a:lnSpc>
                        <a:defRPr/>
                      </a:pPr>
                      <a:r>
                        <a:rPr lang="en-US" sz="1800">
                          <a:solidFill>
                            <a:srgbClr val="FFFFFF"/>
                          </a:solidFill>
                          <a:latin typeface="Calibri (MS)"/>
                          <a:ea typeface="Calibri (MS)"/>
                          <a:cs typeface="Calibri (MS)"/>
                          <a:sym typeface="Calibri (MS)"/>
                        </a:rPr>
                        <a:t>100</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160"/>
                        </a:lnSpc>
                        <a:defRPr/>
                      </a:pPr>
                      <a:r>
                        <a:rPr lang="en-US" sz="1800">
                          <a:solidFill>
                            <a:srgbClr val="7EC8A4"/>
                          </a:solidFill>
                          <a:latin typeface="Calibri (MS)"/>
                          <a:ea typeface="Calibri (MS)"/>
                          <a:cs typeface="Calibri (MS)"/>
                          <a:sym typeface="Calibri (MS)"/>
                        </a:rPr>
                        <a:t>66.67</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160"/>
                        </a:lnSpc>
                        <a:defRPr/>
                      </a:pPr>
                      <a:r>
                        <a:rPr lang="en-US" sz="1800" b="1">
                          <a:solidFill>
                            <a:srgbClr val="7EC8A4"/>
                          </a:solidFill>
                          <a:latin typeface="Calibri (MS) Bold"/>
                          <a:ea typeface="Calibri (MS) Bold"/>
                          <a:cs typeface="Calibri (MS) Bold"/>
                          <a:sym typeface="Calibri (MS) Bold"/>
                        </a:rPr>
                        <a:t>APRUEBA</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E2235"/>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16891" y="16891"/>
              <a:ext cx="24383999" cy="1755648"/>
            </a:xfrm>
            <a:custGeom>
              <a:avLst/>
              <a:gdLst/>
              <a:ahLst/>
              <a:cxnLst/>
              <a:rect l="l" t="t" r="r" b="b"/>
              <a:pathLst>
                <a:path w="24383999" h="1755648">
                  <a:moveTo>
                    <a:pt x="0" y="0"/>
                  </a:moveTo>
                  <a:lnTo>
                    <a:pt x="24383999" y="0"/>
                  </a:lnTo>
                  <a:lnTo>
                    <a:pt x="24383999" y="1755648"/>
                  </a:lnTo>
                  <a:lnTo>
                    <a:pt x="0" y="1755648"/>
                  </a:lnTo>
                  <a:close/>
                </a:path>
              </a:pathLst>
            </a:custGeom>
            <a:solidFill>
              <a:srgbClr val="161929"/>
            </a:solidFill>
          </p:spPr>
          <p:txBody>
            <a:bodyPr/>
            <a:lstStyle/>
            <a:p>
              <a:endParaRPr lang="es-GT"/>
            </a:p>
          </p:txBody>
        </p:sp>
        <p:sp>
          <p:nvSpPr>
            <p:cNvPr id="4" name="Freeform 4"/>
            <p:cNvSpPr/>
            <p:nvPr/>
          </p:nvSpPr>
          <p:spPr>
            <a:xfrm>
              <a:off x="0" y="0"/>
              <a:ext cx="24417782" cy="1789430"/>
            </a:xfrm>
            <a:custGeom>
              <a:avLst/>
              <a:gdLst/>
              <a:ahLst/>
              <a:cxnLst/>
              <a:rect l="l" t="t" r="r" b="b"/>
              <a:pathLst>
                <a:path w="24417782" h="1789430">
                  <a:moveTo>
                    <a:pt x="16891" y="0"/>
                  </a:moveTo>
                  <a:lnTo>
                    <a:pt x="24400890" y="0"/>
                  </a:lnTo>
                  <a:cubicBezTo>
                    <a:pt x="24410290" y="0"/>
                    <a:pt x="24417782" y="7620"/>
                    <a:pt x="24417782" y="16891"/>
                  </a:cubicBezTo>
                  <a:lnTo>
                    <a:pt x="24417782" y="1772539"/>
                  </a:lnTo>
                  <a:cubicBezTo>
                    <a:pt x="24417782" y="1781937"/>
                    <a:pt x="24410163" y="1789430"/>
                    <a:pt x="24400890"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24400890" y="1755648"/>
                  </a:lnTo>
                  <a:lnTo>
                    <a:pt x="24400890" y="1772539"/>
                  </a:lnTo>
                  <a:lnTo>
                    <a:pt x="24384000" y="1772539"/>
                  </a:lnTo>
                  <a:lnTo>
                    <a:pt x="24384000" y="16891"/>
                  </a:lnTo>
                  <a:lnTo>
                    <a:pt x="24400890" y="16891"/>
                  </a:lnTo>
                  <a:lnTo>
                    <a:pt x="24400890" y="33909"/>
                  </a:lnTo>
                  <a:lnTo>
                    <a:pt x="16891" y="33909"/>
                  </a:lnTo>
                  <a:close/>
                </a:path>
              </a:pathLst>
            </a:custGeom>
            <a:solidFill>
              <a:srgbClr val="161929"/>
            </a:solidFill>
          </p:spPr>
          <p:txBody>
            <a:bodyPr/>
            <a:lstStyle/>
            <a:p>
              <a:endParaRPr lang="es-GT"/>
            </a:p>
          </p:txBody>
        </p:sp>
      </p:grpSp>
      <p:grpSp>
        <p:nvGrpSpPr>
          <p:cNvPr id="5" name="Group 5"/>
          <p:cNvGrpSpPr/>
          <p:nvPr/>
        </p:nvGrpSpPr>
        <p:grpSpPr>
          <a:xfrm>
            <a:off x="-12697" y="1304039"/>
            <a:ext cx="18313403" cy="98555"/>
            <a:chOff x="0" y="0"/>
            <a:chExt cx="24417871" cy="131407"/>
          </a:xfrm>
        </p:grpSpPr>
        <p:sp>
          <p:nvSpPr>
            <p:cNvPr id="6" name="Freeform 6"/>
            <p:cNvSpPr/>
            <p:nvPr/>
          </p:nvSpPr>
          <p:spPr>
            <a:xfrm>
              <a:off x="16891" y="16891"/>
              <a:ext cx="24383999" cy="97536"/>
            </a:xfrm>
            <a:custGeom>
              <a:avLst/>
              <a:gdLst/>
              <a:ahLst/>
              <a:cxnLst/>
              <a:rect l="l" t="t" r="r" b="b"/>
              <a:pathLst>
                <a:path w="24383999" h="97536">
                  <a:moveTo>
                    <a:pt x="0" y="0"/>
                  </a:moveTo>
                  <a:lnTo>
                    <a:pt x="24383999" y="0"/>
                  </a:lnTo>
                  <a:lnTo>
                    <a:pt x="24383999" y="97536"/>
                  </a:lnTo>
                  <a:lnTo>
                    <a:pt x="0" y="97536"/>
                  </a:lnTo>
                  <a:close/>
                </a:path>
              </a:pathLst>
            </a:custGeom>
            <a:solidFill>
              <a:srgbClr val="5B8CFF"/>
            </a:solidFill>
          </p:spPr>
          <p:txBody>
            <a:bodyPr/>
            <a:lstStyle/>
            <a:p>
              <a:endParaRPr lang="es-GT"/>
            </a:p>
          </p:txBody>
        </p:sp>
        <p:sp>
          <p:nvSpPr>
            <p:cNvPr id="7" name="Freeform 7"/>
            <p:cNvSpPr/>
            <p:nvPr/>
          </p:nvSpPr>
          <p:spPr>
            <a:xfrm>
              <a:off x="0" y="0"/>
              <a:ext cx="24417782" cy="131320"/>
            </a:xfrm>
            <a:custGeom>
              <a:avLst/>
              <a:gdLst/>
              <a:ahLst/>
              <a:cxnLst/>
              <a:rect l="l" t="t" r="r" b="b"/>
              <a:pathLst>
                <a:path w="24417782" h="131320">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5B8CFF"/>
            </a:solidFill>
          </p:spPr>
          <p:txBody>
            <a:bodyPr/>
            <a:lstStyle/>
            <a:p>
              <a:endParaRPr lang="es-GT"/>
            </a:p>
          </p:txBody>
        </p:sp>
      </p:grpSp>
      <p:grpSp>
        <p:nvGrpSpPr>
          <p:cNvPr id="8" name="Group 8"/>
          <p:cNvGrpSpPr/>
          <p:nvPr/>
        </p:nvGrpSpPr>
        <p:grpSpPr>
          <a:xfrm>
            <a:off x="822960" y="0"/>
            <a:ext cx="16642080" cy="1316736"/>
            <a:chOff x="0" y="0"/>
            <a:chExt cx="22189440" cy="1755648"/>
          </a:xfrm>
        </p:grpSpPr>
        <p:sp>
          <p:nvSpPr>
            <p:cNvPr id="9" name="Freeform 9"/>
            <p:cNvSpPr/>
            <p:nvPr/>
          </p:nvSpPr>
          <p:spPr>
            <a:xfrm>
              <a:off x="0" y="0"/>
              <a:ext cx="22189439" cy="1755648"/>
            </a:xfrm>
            <a:custGeom>
              <a:avLst/>
              <a:gdLst/>
              <a:ahLst/>
              <a:cxnLst/>
              <a:rect l="l" t="t" r="r" b="b"/>
              <a:pathLst>
                <a:path w="22189439" h="1755648">
                  <a:moveTo>
                    <a:pt x="0" y="0"/>
                  </a:moveTo>
                  <a:lnTo>
                    <a:pt x="22189439" y="0"/>
                  </a:lnTo>
                  <a:lnTo>
                    <a:pt x="22189439" y="1755648"/>
                  </a:lnTo>
                  <a:lnTo>
                    <a:pt x="0" y="1755648"/>
                  </a:lnTo>
                  <a:close/>
                </a:path>
              </a:pathLst>
            </a:custGeom>
            <a:blipFill>
              <a:blip r:embed="rId3">
                <a:alphaModFix amt="0"/>
              </a:blip>
              <a:stretch>
                <a:fillRect t="-196269" b="-196269"/>
              </a:stretch>
            </a:blipFill>
          </p:spPr>
          <p:txBody>
            <a:bodyPr/>
            <a:lstStyle/>
            <a:p>
              <a:endParaRPr lang="es-GT"/>
            </a:p>
          </p:txBody>
        </p:sp>
        <p:sp>
          <p:nvSpPr>
            <p:cNvPr id="10" name="TextBox 10"/>
            <p:cNvSpPr txBox="1"/>
            <p:nvPr/>
          </p:nvSpPr>
          <p:spPr>
            <a:xfrm>
              <a:off x="0" y="-76200"/>
              <a:ext cx="22189440" cy="1831848"/>
            </a:xfrm>
            <a:prstGeom prst="rect">
              <a:avLst/>
            </a:prstGeom>
          </p:spPr>
          <p:txBody>
            <a:bodyPr lIns="0" tIns="0" rIns="0" bIns="0" rtlCol="0" anchor="ctr"/>
            <a:lstStyle/>
            <a:p>
              <a:pPr algn="l">
                <a:lnSpc>
                  <a:spcPts val="5280"/>
                </a:lnSpc>
              </a:pPr>
              <a:r>
                <a:rPr lang="en-US" sz="4400" b="1">
                  <a:solidFill>
                    <a:srgbClr val="FFFFFF"/>
                  </a:solidFill>
                  <a:latin typeface="Calibri (MS) Bold"/>
                  <a:ea typeface="Calibri (MS) Bold"/>
                  <a:cs typeface="Calibri (MS) Bold"/>
                  <a:sym typeface="Calibri (MS) Bold"/>
                </a:rPr>
                <a:t>Algoritmos en aplicaciones del mundo real</a:t>
              </a:r>
            </a:p>
          </p:txBody>
        </p:sp>
      </p:grpSp>
      <p:grpSp>
        <p:nvGrpSpPr>
          <p:cNvPr id="11" name="Group 11"/>
          <p:cNvGrpSpPr/>
          <p:nvPr/>
        </p:nvGrpSpPr>
        <p:grpSpPr>
          <a:xfrm>
            <a:off x="-12697" y="9954263"/>
            <a:ext cx="18313403" cy="345443"/>
            <a:chOff x="0" y="0"/>
            <a:chExt cx="24417871" cy="460591"/>
          </a:xfrm>
        </p:grpSpPr>
        <p:sp>
          <p:nvSpPr>
            <p:cNvPr id="12" name="Freeform 12"/>
            <p:cNvSpPr/>
            <p:nvPr/>
          </p:nvSpPr>
          <p:spPr>
            <a:xfrm>
              <a:off x="16891" y="16891"/>
              <a:ext cx="24383999" cy="426720"/>
            </a:xfrm>
            <a:custGeom>
              <a:avLst/>
              <a:gdLst/>
              <a:ahLst/>
              <a:cxnLst/>
              <a:rect l="l" t="t" r="r" b="b"/>
              <a:pathLst>
                <a:path w="24383999" h="426720">
                  <a:moveTo>
                    <a:pt x="0" y="0"/>
                  </a:moveTo>
                  <a:lnTo>
                    <a:pt x="24383999" y="0"/>
                  </a:lnTo>
                  <a:lnTo>
                    <a:pt x="24383999" y="426720"/>
                  </a:lnTo>
                  <a:lnTo>
                    <a:pt x="0" y="426720"/>
                  </a:lnTo>
                  <a:close/>
                </a:path>
              </a:pathLst>
            </a:custGeom>
            <a:solidFill>
              <a:srgbClr val="12152A"/>
            </a:solidFill>
          </p:spPr>
          <p:txBody>
            <a:bodyPr/>
            <a:lstStyle/>
            <a:p>
              <a:endParaRPr lang="es-GT"/>
            </a:p>
          </p:txBody>
        </p:sp>
        <p:sp>
          <p:nvSpPr>
            <p:cNvPr id="13" name="Freeform 13"/>
            <p:cNvSpPr/>
            <p:nvPr/>
          </p:nvSpPr>
          <p:spPr>
            <a:xfrm>
              <a:off x="0" y="0"/>
              <a:ext cx="24417782" cy="460504"/>
            </a:xfrm>
            <a:custGeom>
              <a:avLst/>
              <a:gdLst/>
              <a:ahLst/>
              <a:cxnLst/>
              <a:rect l="l" t="t" r="r" b="b"/>
              <a:pathLst>
                <a:path w="24417782" h="460504">
                  <a:moveTo>
                    <a:pt x="16891" y="0"/>
                  </a:moveTo>
                  <a:lnTo>
                    <a:pt x="24400890" y="0"/>
                  </a:lnTo>
                  <a:cubicBezTo>
                    <a:pt x="24410290" y="0"/>
                    <a:pt x="24417782" y="7620"/>
                    <a:pt x="24417782" y="16891"/>
                  </a:cubicBezTo>
                  <a:lnTo>
                    <a:pt x="24417782" y="443611"/>
                  </a:lnTo>
                  <a:cubicBezTo>
                    <a:pt x="24417782" y="453009"/>
                    <a:pt x="24410163" y="460502"/>
                    <a:pt x="24400890" y="460502"/>
                  </a:cubicBezTo>
                  <a:lnTo>
                    <a:pt x="16891" y="460502"/>
                  </a:lnTo>
                  <a:cubicBezTo>
                    <a:pt x="7620" y="460629"/>
                    <a:pt x="0" y="453009"/>
                    <a:pt x="0" y="443611"/>
                  </a:cubicBezTo>
                  <a:lnTo>
                    <a:pt x="0" y="16891"/>
                  </a:lnTo>
                  <a:cubicBezTo>
                    <a:pt x="0" y="7620"/>
                    <a:pt x="7620" y="0"/>
                    <a:pt x="16891" y="0"/>
                  </a:cubicBezTo>
                  <a:moveTo>
                    <a:pt x="16891" y="33909"/>
                  </a:moveTo>
                  <a:lnTo>
                    <a:pt x="16891" y="16891"/>
                  </a:lnTo>
                  <a:lnTo>
                    <a:pt x="33909" y="16891"/>
                  </a:lnTo>
                  <a:lnTo>
                    <a:pt x="33909" y="443611"/>
                  </a:lnTo>
                  <a:lnTo>
                    <a:pt x="16891" y="443611"/>
                  </a:lnTo>
                  <a:lnTo>
                    <a:pt x="16891" y="426720"/>
                  </a:lnTo>
                  <a:lnTo>
                    <a:pt x="24400890" y="426720"/>
                  </a:lnTo>
                  <a:lnTo>
                    <a:pt x="24400890" y="443611"/>
                  </a:lnTo>
                  <a:lnTo>
                    <a:pt x="24384000" y="443611"/>
                  </a:lnTo>
                  <a:lnTo>
                    <a:pt x="24384000" y="16891"/>
                  </a:lnTo>
                  <a:lnTo>
                    <a:pt x="24400890" y="16891"/>
                  </a:lnTo>
                  <a:lnTo>
                    <a:pt x="24400890" y="33909"/>
                  </a:lnTo>
                  <a:lnTo>
                    <a:pt x="16891" y="33909"/>
                  </a:lnTo>
                  <a:close/>
                </a:path>
              </a:pathLst>
            </a:custGeom>
            <a:solidFill>
              <a:srgbClr val="12152A"/>
            </a:solidFill>
          </p:spPr>
          <p:txBody>
            <a:bodyPr/>
            <a:lstStyle/>
            <a:p>
              <a:endParaRPr lang="es-GT"/>
            </a:p>
          </p:txBody>
        </p:sp>
      </p:grpSp>
      <p:grpSp>
        <p:nvGrpSpPr>
          <p:cNvPr id="14" name="Group 14"/>
          <p:cNvGrpSpPr/>
          <p:nvPr/>
        </p:nvGrpSpPr>
        <p:grpSpPr>
          <a:xfrm>
            <a:off x="17007840" y="9966960"/>
            <a:ext cx="914400" cy="320040"/>
            <a:chOff x="0" y="0"/>
            <a:chExt cx="1219200" cy="426720"/>
          </a:xfrm>
        </p:grpSpPr>
        <p:sp>
          <p:nvSpPr>
            <p:cNvPr id="15" name="Freeform 15"/>
            <p:cNvSpPr/>
            <p:nvPr/>
          </p:nvSpPr>
          <p:spPr>
            <a:xfrm>
              <a:off x="0" y="0"/>
              <a:ext cx="1219200" cy="426720"/>
            </a:xfrm>
            <a:custGeom>
              <a:avLst/>
              <a:gdLst/>
              <a:ahLst/>
              <a:cxnLst/>
              <a:rect l="l" t="t" r="r" b="b"/>
              <a:pathLst>
                <a:path w="1219200" h="426720">
                  <a:moveTo>
                    <a:pt x="0" y="0"/>
                  </a:moveTo>
                  <a:lnTo>
                    <a:pt x="1219200" y="0"/>
                  </a:lnTo>
                  <a:lnTo>
                    <a:pt x="1219200" y="426720"/>
                  </a:lnTo>
                  <a:lnTo>
                    <a:pt x="0" y="426720"/>
                  </a:lnTo>
                  <a:close/>
                </a:path>
              </a:pathLst>
            </a:custGeom>
            <a:blipFill>
              <a:blip r:embed="rId3">
                <a:alphaModFix amt="0"/>
              </a:blip>
              <a:stretch>
                <a:fillRect t="-5671" b="-5671"/>
              </a:stretch>
            </a:blipFill>
          </p:spPr>
          <p:txBody>
            <a:bodyPr/>
            <a:lstStyle/>
            <a:p>
              <a:endParaRPr lang="es-GT"/>
            </a:p>
          </p:txBody>
        </p:sp>
        <p:sp>
          <p:nvSpPr>
            <p:cNvPr id="16" name="TextBox 16"/>
            <p:cNvSpPr txBox="1"/>
            <p:nvPr/>
          </p:nvSpPr>
          <p:spPr>
            <a:xfrm>
              <a:off x="0" y="-38100"/>
              <a:ext cx="1219200" cy="464820"/>
            </a:xfrm>
            <a:prstGeom prst="rect">
              <a:avLst/>
            </a:prstGeom>
          </p:spPr>
          <p:txBody>
            <a:bodyPr lIns="0" tIns="0" rIns="0" bIns="0" rtlCol="0" anchor="ctr"/>
            <a:lstStyle/>
            <a:p>
              <a:pPr algn="r">
                <a:lnSpc>
                  <a:spcPts val="1800"/>
                </a:lnSpc>
              </a:pPr>
              <a:r>
                <a:rPr lang="en-US" sz="1500">
                  <a:solidFill>
                    <a:srgbClr val="6E7A9F"/>
                  </a:solidFill>
                  <a:latin typeface="Calibri (MS)"/>
                  <a:ea typeface="Calibri (MS)"/>
                  <a:cs typeface="Calibri (MS)"/>
                  <a:sym typeface="Calibri (MS)"/>
                </a:rPr>
                <a:t>25</a:t>
              </a:r>
            </a:p>
          </p:txBody>
        </p:sp>
      </p:grpSp>
      <p:grpSp>
        <p:nvGrpSpPr>
          <p:cNvPr id="17" name="Group 17"/>
          <p:cNvGrpSpPr/>
          <p:nvPr/>
        </p:nvGrpSpPr>
        <p:grpSpPr>
          <a:xfrm>
            <a:off x="731520" y="1554480"/>
            <a:ext cx="16824960" cy="731520"/>
            <a:chOff x="0" y="0"/>
            <a:chExt cx="22433280" cy="975360"/>
          </a:xfrm>
        </p:grpSpPr>
        <p:sp>
          <p:nvSpPr>
            <p:cNvPr id="18" name="Freeform 18"/>
            <p:cNvSpPr/>
            <p:nvPr/>
          </p:nvSpPr>
          <p:spPr>
            <a:xfrm>
              <a:off x="0" y="0"/>
              <a:ext cx="22433280" cy="975360"/>
            </a:xfrm>
            <a:custGeom>
              <a:avLst/>
              <a:gdLst/>
              <a:ahLst/>
              <a:cxnLst/>
              <a:rect l="l" t="t" r="r" b="b"/>
              <a:pathLst>
                <a:path w="22433280" h="975360">
                  <a:moveTo>
                    <a:pt x="0" y="0"/>
                  </a:moveTo>
                  <a:lnTo>
                    <a:pt x="22433280" y="0"/>
                  </a:lnTo>
                  <a:lnTo>
                    <a:pt x="22433280" y="975360"/>
                  </a:lnTo>
                  <a:lnTo>
                    <a:pt x="0" y="975360"/>
                  </a:lnTo>
                  <a:close/>
                </a:path>
              </a:pathLst>
            </a:custGeom>
            <a:blipFill>
              <a:blip r:embed="rId3">
                <a:alphaModFix amt="0"/>
              </a:blip>
              <a:stretch>
                <a:fillRect t="-398155" b="-398155"/>
              </a:stretch>
            </a:blipFill>
          </p:spPr>
          <p:txBody>
            <a:bodyPr/>
            <a:lstStyle/>
            <a:p>
              <a:endParaRPr lang="es-GT"/>
            </a:p>
          </p:txBody>
        </p:sp>
        <p:sp>
          <p:nvSpPr>
            <p:cNvPr id="19" name="TextBox 19"/>
            <p:cNvSpPr txBox="1"/>
            <p:nvPr/>
          </p:nvSpPr>
          <p:spPr>
            <a:xfrm>
              <a:off x="0" y="-47625"/>
              <a:ext cx="22433280" cy="1022985"/>
            </a:xfrm>
            <a:prstGeom prst="rect">
              <a:avLst/>
            </a:prstGeom>
          </p:spPr>
          <p:txBody>
            <a:bodyPr lIns="0" tIns="0" rIns="0" bIns="0" rtlCol="0" anchor="ctr"/>
            <a:lstStyle/>
            <a:p>
              <a:pPr algn="l">
                <a:lnSpc>
                  <a:spcPts val="2520"/>
                </a:lnSpc>
              </a:pPr>
              <a:r>
                <a:rPr lang="en-US" sz="2100">
                  <a:solidFill>
                    <a:srgbClr val="B0B8CC"/>
                  </a:solidFill>
                  <a:latin typeface="Calibri (MS)"/>
                  <a:ea typeface="Calibri (MS)"/>
                  <a:cs typeface="Calibri (MS)"/>
                  <a:sym typeface="Calibri (MS)"/>
                </a:rPr>
                <a:t>Los algoritmos no son exclusivos de la programación. Están presentes en procesos cotidianos, sistemas de información y plataformas tecnológicas de alta escala:</a:t>
              </a:r>
            </a:p>
          </p:txBody>
        </p:sp>
      </p:grpSp>
      <p:grpSp>
        <p:nvGrpSpPr>
          <p:cNvPr id="20" name="Group 20"/>
          <p:cNvGrpSpPr/>
          <p:nvPr/>
        </p:nvGrpSpPr>
        <p:grpSpPr>
          <a:xfrm>
            <a:off x="718823" y="2456183"/>
            <a:ext cx="8255003" cy="2256539"/>
            <a:chOff x="0" y="0"/>
            <a:chExt cx="11006671" cy="3008719"/>
          </a:xfrm>
        </p:grpSpPr>
        <p:sp>
          <p:nvSpPr>
            <p:cNvPr id="21" name="Freeform 21"/>
            <p:cNvSpPr/>
            <p:nvPr/>
          </p:nvSpPr>
          <p:spPr>
            <a:xfrm>
              <a:off x="16891" y="16891"/>
              <a:ext cx="10972800" cy="2974848"/>
            </a:xfrm>
            <a:custGeom>
              <a:avLst/>
              <a:gdLst/>
              <a:ahLst/>
              <a:cxnLst/>
              <a:rect l="l" t="t" r="r" b="b"/>
              <a:pathLst>
                <a:path w="10972800" h="2974848">
                  <a:moveTo>
                    <a:pt x="0" y="0"/>
                  </a:moveTo>
                  <a:lnTo>
                    <a:pt x="10972800" y="0"/>
                  </a:lnTo>
                  <a:lnTo>
                    <a:pt x="10972800" y="2974848"/>
                  </a:lnTo>
                  <a:lnTo>
                    <a:pt x="0" y="2974848"/>
                  </a:lnTo>
                  <a:close/>
                </a:path>
              </a:pathLst>
            </a:custGeom>
            <a:solidFill>
              <a:srgbClr val="252B42"/>
            </a:solidFill>
          </p:spPr>
          <p:txBody>
            <a:bodyPr/>
            <a:lstStyle/>
            <a:p>
              <a:endParaRPr lang="es-GT"/>
            </a:p>
          </p:txBody>
        </p:sp>
        <p:sp>
          <p:nvSpPr>
            <p:cNvPr id="22" name="Freeform 22"/>
            <p:cNvSpPr/>
            <p:nvPr/>
          </p:nvSpPr>
          <p:spPr>
            <a:xfrm>
              <a:off x="0" y="0"/>
              <a:ext cx="11006582" cy="3008630"/>
            </a:xfrm>
            <a:custGeom>
              <a:avLst/>
              <a:gdLst/>
              <a:ahLst/>
              <a:cxnLst/>
              <a:rect l="l" t="t" r="r" b="b"/>
              <a:pathLst>
                <a:path w="11006582" h="3008630">
                  <a:moveTo>
                    <a:pt x="16891" y="0"/>
                  </a:moveTo>
                  <a:lnTo>
                    <a:pt x="10989691" y="0"/>
                  </a:lnTo>
                  <a:cubicBezTo>
                    <a:pt x="10999089" y="0"/>
                    <a:pt x="11006582" y="7620"/>
                    <a:pt x="11006582" y="16891"/>
                  </a:cubicBezTo>
                  <a:lnTo>
                    <a:pt x="11006582" y="2991739"/>
                  </a:lnTo>
                  <a:cubicBezTo>
                    <a:pt x="11006582" y="3001137"/>
                    <a:pt x="10998962" y="3008630"/>
                    <a:pt x="10989691" y="3008630"/>
                  </a:cubicBezTo>
                  <a:lnTo>
                    <a:pt x="16891" y="3008630"/>
                  </a:lnTo>
                  <a:cubicBezTo>
                    <a:pt x="7493" y="3008630"/>
                    <a:pt x="0" y="3001010"/>
                    <a:pt x="0" y="2991739"/>
                  </a:cubicBezTo>
                  <a:lnTo>
                    <a:pt x="0" y="16891"/>
                  </a:lnTo>
                  <a:cubicBezTo>
                    <a:pt x="0" y="7620"/>
                    <a:pt x="7620" y="0"/>
                    <a:pt x="16891" y="0"/>
                  </a:cubicBezTo>
                  <a:moveTo>
                    <a:pt x="16891" y="33909"/>
                  </a:moveTo>
                  <a:lnTo>
                    <a:pt x="16891" y="16891"/>
                  </a:lnTo>
                  <a:lnTo>
                    <a:pt x="33909" y="16891"/>
                  </a:lnTo>
                  <a:lnTo>
                    <a:pt x="33909" y="2991739"/>
                  </a:lnTo>
                  <a:lnTo>
                    <a:pt x="16891" y="2991739"/>
                  </a:lnTo>
                  <a:lnTo>
                    <a:pt x="16891" y="2974848"/>
                  </a:lnTo>
                  <a:lnTo>
                    <a:pt x="10989691" y="2974848"/>
                  </a:lnTo>
                  <a:lnTo>
                    <a:pt x="10989691" y="2991739"/>
                  </a:lnTo>
                  <a:lnTo>
                    <a:pt x="10972800" y="2991739"/>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grpSp>
        <p:nvGrpSpPr>
          <p:cNvPr id="23" name="Group 23"/>
          <p:cNvGrpSpPr/>
          <p:nvPr/>
        </p:nvGrpSpPr>
        <p:grpSpPr>
          <a:xfrm>
            <a:off x="718823" y="2456183"/>
            <a:ext cx="171707" cy="2256539"/>
            <a:chOff x="0" y="0"/>
            <a:chExt cx="228943" cy="3008719"/>
          </a:xfrm>
        </p:grpSpPr>
        <p:sp>
          <p:nvSpPr>
            <p:cNvPr id="24" name="Freeform 24"/>
            <p:cNvSpPr/>
            <p:nvPr/>
          </p:nvSpPr>
          <p:spPr>
            <a:xfrm>
              <a:off x="16891" y="16891"/>
              <a:ext cx="195072" cy="2974848"/>
            </a:xfrm>
            <a:custGeom>
              <a:avLst/>
              <a:gdLst/>
              <a:ahLst/>
              <a:cxnLst/>
              <a:rect l="l" t="t" r="r" b="b"/>
              <a:pathLst>
                <a:path w="195072" h="2974848">
                  <a:moveTo>
                    <a:pt x="0" y="0"/>
                  </a:moveTo>
                  <a:lnTo>
                    <a:pt x="195072" y="0"/>
                  </a:lnTo>
                  <a:lnTo>
                    <a:pt x="195072" y="2974848"/>
                  </a:lnTo>
                  <a:lnTo>
                    <a:pt x="0" y="2974848"/>
                  </a:lnTo>
                  <a:close/>
                </a:path>
              </a:pathLst>
            </a:custGeom>
            <a:solidFill>
              <a:srgbClr val="5B8CFF"/>
            </a:solidFill>
          </p:spPr>
          <p:txBody>
            <a:bodyPr/>
            <a:lstStyle/>
            <a:p>
              <a:endParaRPr lang="es-GT"/>
            </a:p>
          </p:txBody>
        </p:sp>
        <p:sp>
          <p:nvSpPr>
            <p:cNvPr id="25" name="Freeform 25"/>
            <p:cNvSpPr/>
            <p:nvPr/>
          </p:nvSpPr>
          <p:spPr>
            <a:xfrm>
              <a:off x="0" y="0"/>
              <a:ext cx="228854" cy="3008630"/>
            </a:xfrm>
            <a:custGeom>
              <a:avLst/>
              <a:gdLst/>
              <a:ahLst/>
              <a:cxnLst/>
              <a:rect l="l" t="t" r="r" b="b"/>
              <a:pathLst>
                <a:path w="228854" h="3008630">
                  <a:moveTo>
                    <a:pt x="16891" y="0"/>
                  </a:moveTo>
                  <a:lnTo>
                    <a:pt x="211963" y="0"/>
                  </a:lnTo>
                  <a:cubicBezTo>
                    <a:pt x="221361" y="0"/>
                    <a:pt x="228854" y="7620"/>
                    <a:pt x="228854" y="16891"/>
                  </a:cubicBezTo>
                  <a:lnTo>
                    <a:pt x="228854" y="2991739"/>
                  </a:lnTo>
                  <a:cubicBezTo>
                    <a:pt x="228854" y="3001137"/>
                    <a:pt x="221234" y="3008630"/>
                    <a:pt x="211963" y="3008630"/>
                  </a:cubicBezTo>
                  <a:lnTo>
                    <a:pt x="16891" y="3008630"/>
                  </a:lnTo>
                  <a:cubicBezTo>
                    <a:pt x="7493" y="3008630"/>
                    <a:pt x="0" y="3001010"/>
                    <a:pt x="0" y="2991739"/>
                  </a:cubicBezTo>
                  <a:lnTo>
                    <a:pt x="0" y="16891"/>
                  </a:lnTo>
                  <a:cubicBezTo>
                    <a:pt x="0" y="7620"/>
                    <a:pt x="7620" y="0"/>
                    <a:pt x="16891" y="0"/>
                  </a:cubicBezTo>
                  <a:moveTo>
                    <a:pt x="16891" y="33909"/>
                  </a:moveTo>
                  <a:lnTo>
                    <a:pt x="16891" y="16891"/>
                  </a:lnTo>
                  <a:lnTo>
                    <a:pt x="33909" y="16891"/>
                  </a:lnTo>
                  <a:lnTo>
                    <a:pt x="33909" y="2991739"/>
                  </a:lnTo>
                  <a:lnTo>
                    <a:pt x="16891" y="2991739"/>
                  </a:lnTo>
                  <a:lnTo>
                    <a:pt x="16891" y="2974848"/>
                  </a:lnTo>
                  <a:lnTo>
                    <a:pt x="211963" y="2974848"/>
                  </a:lnTo>
                  <a:lnTo>
                    <a:pt x="211963" y="2991739"/>
                  </a:lnTo>
                  <a:lnTo>
                    <a:pt x="195072" y="2991739"/>
                  </a:lnTo>
                  <a:lnTo>
                    <a:pt x="195072" y="16891"/>
                  </a:lnTo>
                  <a:lnTo>
                    <a:pt x="211963" y="16891"/>
                  </a:lnTo>
                  <a:lnTo>
                    <a:pt x="211963" y="33909"/>
                  </a:lnTo>
                  <a:lnTo>
                    <a:pt x="16891" y="33909"/>
                  </a:lnTo>
                  <a:close/>
                </a:path>
              </a:pathLst>
            </a:custGeom>
            <a:solidFill>
              <a:srgbClr val="5B8CFF"/>
            </a:solidFill>
          </p:spPr>
          <p:txBody>
            <a:bodyPr/>
            <a:lstStyle/>
            <a:p>
              <a:endParaRPr lang="es-GT"/>
            </a:p>
          </p:txBody>
        </p:sp>
      </p:grpSp>
      <p:grpSp>
        <p:nvGrpSpPr>
          <p:cNvPr id="26" name="Group 26"/>
          <p:cNvGrpSpPr/>
          <p:nvPr/>
        </p:nvGrpSpPr>
        <p:grpSpPr>
          <a:xfrm>
            <a:off x="1133856" y="2651760"/>
            <a:ext cx="7498080" cy="512064"/>
            <a:chOff x="0" y="0"/>
            <a:chExt cx="9997440" cy="682752"/>
          </a:xfrm>
        </p:grpSpPr>
        <p:sp>
          <p:nvSpPr>
            <p:cNvPr id="27" name="Freeform 27"/>
            <p:cNvSpPr/>
            <p:nvPr/>
          </p:nvSpPr>
          <p:spPr>
            <a:xfrm>
              <a:off x="0" y="0"/>
              <a:ext cx="9997440" cy="682752"/>
            </a:xfrm>
            <a:custGeom>
              <a:avLst/>
              <a:gdLst/>
              <a:ahLst/>
              <a:cxnLst/>
              <a:rect l="l" t="t" r="r" b="b"/>
              <a:pathLst>
                <a:path w="9997440" h="682752">
                  <a:moveTo>
                    <a:pt x="0" y="0"/>
                  </a:moveTo>
                  <a:lnTo>
                    <a:pt x="9997440" y="0"/>
                  </a:lnTo>
                  <a:lnTo>
                    <a:pt x="9997440" y="682752"/>
                  </a:lnTo>
                  <a:lnTo>
                    <a:pt x="0" y="682752"/>
                  </a:lnTo>
                  <a:close/>
                </a:path>
              </a:pathLst>
            </a:custGeom>
            <a:blipFill>
              <a:blip r:embed="rId3">
                <a:alphaModFix amt="0"/>
              </a:blip>
              <a:stretch>
                <a:fillRect t="-235316" b="-235316"/>
              </a:stretch>
            </a:blipFill>
          </p:spPr>
          <p:txBody>
            <a:bodyPr/>
            <a:lstStyle/>
            <a:p>
              <a:endParaRPr lang="es-GT"/>
            </a:p>
          </p:txBody>
        </p:sp>
        <p:sp>
          <p:nvSpPr>
            <p:cNvPr id="28" name="TextBox 28"/>
            <p:cNvSpPr txBox="1"/>
            <p:nvPr/>
          </p:nvSpPr>
          <p:spPr>
            <a:xfrm>
              <a:off x="0" y="-47625"/>
              <a:ext cx="9997440" cy="730377"/>
            </a:xfrm>
            <a:prstGeom prst="rect">
              <a:avLst/>
            </a:prstGeom>
          </p:spPr>
          <p:txBody>
            <a:bodyPr lIns="0" tIns="0" rIns="0" bIns="0" rtlCol="0" anchor="ctr"/>
            <a:lstStyle/>
            <a:p>
              <a:pPr algn="l">
                <a:lnSpc>
                  <a:spcPts val="2640"/>
                </a:lnSpc>
              </a:pPr>
              <a:r>
                <a:rPr lang="en-US" sz="2200" b="1">
                  <a:solidFill>
                    <a:srgbClr val="5B8CFF"/>
                  </a:solidFill>
                  <a:latin typeface="Calibri (MS) Bold"/>
                  <a:ea typeface="Calibri (MS) Bold"/>
                  <a:cs typeface="Calibri (MS) Bold"/>
                  <a:sym typeface="Calibri (MS) Bold"/>
                </a:rPr>
                <a:t>Motores de búsqueda</a:t>
              </a:r>
            </a:p>
          </p:txBody>
        </p:sp>
      </p:grpSp>
      <p:sp>
        <p:nvSpPr>
          <p:cNvPr id="29" name="TextBox 29"/>
          <p:cNvSpPr txBox="1"/>
          <p:nvPr/>
        </p:nvSpPr>
        <p:spPr>
          <a:xfrm>
            <a:off x="1225296" y="3271647"/>
            <a:ext cx="7315200" cy="1047750"/>
          </a:xfrm>
          <a:prstGeom prst="rect">
            <a:avLst/>
          </a:prstGeom>
        </p:spPr>
        <p:txBody>
          <a:bodyPr lIns="0" tIns="0" rIns="0" bIns="0" rtlCol="0" anchor="t">
            <a:spAutoFit/>
          </a:bodyPr>
          <a:lstStyle/>
          <a:p>
            <a:pPr algn="l">
              <a:lnSpc>
                <a:spcPts val="2639"/>
              </a:lnSpc>
            </a:pPr>
            <a:r>
              <a:rPr lang="en-US" sz="2199">
                <a:solidFill>
                  <a:srgbClr val="FFFFFF"/>
                </a:solidFill>
                <a:latin typeface="Calibri (MS)"/>
                <a:ea typeface="Calibri (MS)"/>
                <a:cs typeface="Calibri (MS)"/>
                <a:sym typeface="Calibri (MS)"/>
              </a:rPr>
              <a:t>PageRank (Google) ordena páginas web según relevancia y número de enlaces entrantes, ejecutando millones de operaciones por consulta.</a:t>
            </a:r>
          </a:p>
        </p:txBody>
      </p:sp>
      <p:grpSp>
        <p:nvGrpSpPr>
          <p:cNvPr id="30" name="Group 30"/>
          <p:cNvGrpSpPr/>
          <p:nvPr/>
        </p:nvGrpSpPr>
        <p:grpSpPr>
          <a:xfrm>
            <a:off x="9497063" y="2456183"/>
            <a:ext cx="8255003" cy="2256539"/>
            <a:chOff x="0" y="0"/>
            <a:chExt cx="11006671" cy="3008719"/>
          </a:xfrm>
        </p:grpSpPr>
        <p:sp>
          <p:nvSpPr>
            <p:cNvPr id="31" name="Freeform 31"/>
            <p:cNvSpPr/>
            <p:nvPr/>
          </p:nvSpPr>
          <p:spPr>
            <a:xfrm>
              <a:off x="16891" y="16891"/>
              <a:ext cx="10972800" cy="2974848"/>
            </a:xfrm>
            <a:custGeom>
              <a:avLst/>
              <a:gdLst/>
              <a:ahLst/>
              <a:cxnLst/>
              <a:rect l="l" t="t" r="r" b="b"/>
              <a:pathLst>
                <a:path w="10972800" h="2974848">
                  <a:moveTo>
                    <a:pt x="0" y="0"/>
                  </a:moveTo>
                  <a:lnTo>
                    <a:pt x="10972800" y="0"/>
                  </a:lnTo>
                  <a:lnTo>
                    <a:pt x="10972800" y="2974848"/>
                  </a:lnTo>
                  <a:lnTo>
                    <a:pt x="0" y="2974848"/>
                  </a:lnTo>
                  <a:close/>
                </a:path>
              </a:pathLst>
            </a:custGeom>
            <a:solidFill>
              <a:srgbClr val="252B42"/>
            </a:solidFill>
          </p:spPr>
          <p:txBody>
            <a:bodyPr/>
            <a:lstStyle/>
            <a:p>
              <a:endParaRPr lang="es-GT"/>
            </a:p>
          </p:txBody>
        </p:sp>
        <p:sp>
          <p:nvSpPr>
            <p:cNvPr id="32" name="Freeform 32"/>
            <p:cNvSpPr/>
            <p:nvPr/>
          </p:nvSpPr>
          <p:spPr>
            <a:xfrm>
              <a:off x="0" y="0"/>
              <a:ext cx="11006582" cy="3008630"/>
            </a:xfrm>
            <a:custGeom>
              <a:avLst/>
              <a:gdLst/>
              <a:ahLst/>
              <a:cxnLst/>
              <a:rect l="l" t="t" r="r" b="b"/>
              <a:pathLst>
                <a:path w="11006582" h="3008630">
                  <a:moveTo>
                    <a:pt x="16891" y="0"/>
                  </a:moveTo>
                  <a:lnTo>
                    <a:pt x="10989691" y="0"/>
                  </a:lnTo>
                  <a:cubicBezTo>
                    <a:pt x="10999089" y="0"/>
                    <a:pt x="11006582" y="7620"/>
                    <a:pt x="11006582" y="16891"/>
                  </a:cubicBezTo>
                  <a:lnTo>
                    <a:pt x="11006582" y="2991739"/>
                  </a:lnTo>
                  <a:cubicBezTo>
                    <a:pt x="11006582" y="3001137"/>
                    <a:pt x="10998962" y="3008630"/>
                    <a:pt x="10989691" y="3008630"/>
                  </a:cubicBezTo>
                  <a:lnTo>
                    <a:pt x="16891" y="3008630"/>
                  </a:lnTo>
                  <a:cubicBezTo>
                    <a:pt x="7493" y="3008630"/>
                    <a:pt x="0" y="3001010"/>
                    <a:pt x="0" y="2991739"/>
                  </a:cubicBezTo>
                  <a:lnTo>
                    <a:pt x="0" y="16891"/>
                  </a:lnTo>
                  <a:cubicBezTo>
                    <a:pt x="0" y="7620"/>
                    <a:pt x="7620" y="0"/>
                    <a:pt x="16891" y="0"/>
                  </a:cubicBezTo>
                  <a:moveTo>
                    <a:pt x="16891" y="33909"/>
                  </a:moveTo>
                  <a:lnTo>
                    <a:pt x="16891" y="16891"/>
                  </a:lnTo>
                  <a:lnTo>
                    <a:pt x="33909" y="16891"/>
                  </a:lnTo>
                  <a:lnTo>
                    <a:pt x="33909" y="2991739"/>
                  </a:lnTo>
                  <a:lnTo>
                    <a:pt x="16891" y="2991739"/>
                  </a:lnTo>
                  <a:lnTo>
                    <a:pt x="16891" y="2974848"/>
                  </a:lnTo>
                  <a:lnTo>
                    <a:pt x="10989691" y="2974848"/>
                  </a:lnTo>
                  <a:lnTo>
                    <a:pt x="10989691" y="2991739"/>
                  </a:lnTo>
                  <a:lnTo>
                    <a:pt x="10972800" y="2991739"/>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grpSp>
        <p:nvGrpSpPr>
          <p:cNvPr id="33" name="Group 33"/>
          <p:cNvGrpSpPr/>
          <p:nvPr/>
        </p:nvGrpSpPr>
        <p:grpSpPr>
          <a:xfrm>
            <a:off x="9497063" y="2456183"/>
            <a:ext cx="171707" cy="2256539"/>
            <a:chOff x="0" y="0"/>
            <a:chExt cx="228943" cy="3008719"/>
          </a:xfrm>
        </p:grpSpPr>
        <p:sp>
          <p:nvSpPr>
            <p:cNvPr id="34" name="Freeform 34"/>
            <p:cNvSpPr/>
            <p:nvPr/>
          </p:nvSpPr>
          <p:spPr>
            <a:xfrm>
              <a:off x="16891" y="16891"/>
              <a:ext cx="195072" cy="2974848"/>
            </a:xfrm>
            <a:custGeom>
              <a:avLst/>
              <a:gdLst/>
              <a:ahLst/>
              <a:cxnLst/>
              <a:rect l="l" t="t" r="r" b="b"/>
              <a:pathLst>
                <a:path w="195072" h="2974848">
                  <a:moveTo>
                    <a:pt x="0" y="0"/>
                  </a:moveTo>
                  <a:lnTo>
                    <a:pt x="195072" y="0"/>
                  </a:lnTo>
                  <a:lnTo>
                    <a:pt x="195072" y="2974848"/>
                  </a:lnTo>
                  <a:lnTo>
                    <a:pt x="0" y="2974848"/>
                  </a:lnTo>
                  <a:close/>
                </a:path>
              </a:pathLst>
            </a:custGeom>
            <a:solidFill>
              <a:srgbClr val="7EC8A4"/>
            </a:solidFill>
          </p:spPr>
          <p:txBody>
            <a:bodyPr/>
            <a:lstStyle/>
            <a:p>
              <a:endParaRPr lang="es-GT"/>
            </a:p>
          </p:txBody>
        </p:sp>
        <p:sp>
          <p:nvSpPr>
            <p:cNvPr id="35" name="Freeform 35"/>
            <p:cNvSpPr/>
            <p:nvPr/>
          </p:nvSpPr>
          <p:spPr>
            <a:xfrm>
              <a:off x="0" y="0"/>
              <a:ext cx="228854" cy="3008630"/>
            </a:xfrm>
            <a:custGeom>
              <a:avLst/>
              <a:gdLst/>
              <a:ahLst/>
              <a:cxnLst/>
              <a:rect l="l" t="t" r="r" b="b"/>
              <a:pathLst>
                <a:path w="228854" h="3008630">
                  <a:moveTo>
                    <a:pt x="16891" y="0"/>
                  </a:moveTo>
                  <a:lnTo>
                    <a:pt x="211963" y="0"/>
                  </a:lnTo>
                  <a:cubicBezTo>
                    <a:pt x="221361" y="0"/>
                    <a:pt x="228854" y="7620"/>
                    <a:pt x="228854" y="16891"/>
                  </a:cubicBezTo>
                  <a:lnTo>
                    <a:pt x="228854" y="2991739"/>
                  </a:lnTo>
                  <a:cubicBezTo>
                    <a:pt x="228854" y="3001137"/>
                    <a:pt x="221234" y="3008630"/>
                    <a:pt x="211963" y="3008630"/>
                  </a:cubicBezTo>
                  <a:lnTo>
                    <a:pt x="16891" y="3008630"/>
                  </a:lnTo>
                  <a:cubicBezTo>
                    <a:pt x="7493" y="3008630"/>
                    <a:pt x="0" y="3001010"/>
                    <a:pt x="0" y="2991739"/>
                  </a:cubicBezTo>
                  <a:lnTo>
                    <a:pt x="0" y="16891"/>
                  </a:lnTo>
                  <a:cubicBezTo>
                    <a:pt x="0" y="7620"/>
                    <a:pt x="7620" y="0"/>
                    <a:pt x="16891" y="0"/>
                  </a:cubicBezTo>
                  <a:moveTo>
                    <a:pt x="16891" y="33909"/>
                  </a:moveTo>
                  <a:lnTo>
                    <a:pt x="16891" y="16891"/>
                  </a:lnTo>
                  <a:lnTo>
                    <a:pt x="33909" y="16891"/>
                  </a:lnTo>
                  <a:lnTo>
                    <a:pt x="33909" y="2991739"/>
                  </a:lnTo>
                  <a:lnTo>
                    <a:pt x="16891" y="2991739"/>
                  </a:lnTo>
                  <a:lnTo>
                    <a:pt x="16891" y="2974848"/>
                  </a:lnTo>
                  <a:lnTo>
                    <a:pt x="211963" y="2974848"/>
                  </a:lnTo>
                  <a:lnTo>
                    <a:pt x="211963" y="2991739"/>
                  </a:lnTo>
                  <a:lnTo>
                    <a:pt x="195072" y="2991739"/>
                  </a:lnTo>
                  <a:lnTo>
                    <a:pt x="195072" y="16891"/>
                  </a:lnTo>
                  <a:lnTo>
                    <a:pt x="211963" y="16891"/>
                  </a:lnTo>
                  <a:lnTo>
                    <a:pt x="211963" y="33909"/>
                  </a:lnTo>
                  <a:lnTo>
                    <a:pt x="16891" y="33909"/>
                  </a:lnTo>
                  <a:close/>
                </a:path>
              </a:pathLst>
            </a:custGeom>
            <a:solidFill>
              <a:srgbClr val="7EC8A4"/>
            </a:solidFill>
          </p:spPr>
          <p:txBody>
            <a:bodyPr/>
            <a:lstStyle/>
            <a:p>
              <a:endParaRPr lang="es-GT"/>
            </a:p>
          </p:txBody>
        </p:sp>
      </p:grpSp>
      <p:grpSp>
        <p:nvGrpSpPr>
          <p:cNvPr id="36" name="Group 36"/>
          <p:cNvGrpSpPr/>
          <p:nvPr/>
        </p:nvGrpSpPr>
        <p:grpSpPr>
          <a:xfrm>
            <a:off x="9912096" y="2651760"/>
            <a:ext cx="7498080" cy="512064"/>
            <a:chOff x="0" y="0"/>
            <a:chExt cx="9997440" cy="682752"/>
          </a:xfrm>
        </p:grpSpPr>
        <p:sp>
          <p:nvSpPr>
            <p:cNvPr id="37" name="Freeform 37"/>
            <p:cNvSpPr/>
            <p:nvPr/>
          </p:nvSpPr>
          <p:spPr>
            <a:xfrm>
              <a:off x="0" y="0"/>
              <a:ext cx="9997440" cy="682752"/>
            </a:xfrm>
            <a:custGeom>
              <a:avLst/>
              <a:gdLst/>
              <a:ahLst/>
              <a:cxnLst/>
              <a:rect l="l" t="t" r="r" b="b"/>
              <a:pathLst>
                <a:path w="9997440" h="682752">
                  <a:moveTo>
                    <a:pt x="0" y="0"/>
                  </a:moveTo>
                  <a:lnTo>
                    <a:pt x="9997440" y="0"/>
                  </a:lnTo>
                  <a:lnTo>
                    <a:pt x="9997440" y="682752"/>
                  </a:lnTo>
                  <a:lnTo>
                    <a:pt x="0" y="682752"/>
                  </a:lnTo>
                  <a:close/>
                </a:path>
              </a:pathLst>
            </a:custGeom>
            <a:blipFill>
              <a:blip r:embed="rId3">
                <a:alphaModFix amt="0"/>
              </a:blip>
              <a:stretch>
                <a:fillRect t="-235316" b="-235316"/>
              </a:stretch>
            </a:blipFill>
          </p:spPr>
          <p:txBody>
            <a:bodyPr/>
            <a:lstStyle/>
            <a:p>
              <a:endParaRPr lang="es-GT"/>
            </a:p>
          </p:txBody>
        </p:sp>
        <p:sp>
          <p:nvSpPr>
            <p:cNvPr id="38" name="TextBox 38"/>
            <p:cNvSpPr txBox="1"/>
            <p:nvPr/>
          </p:nvSpPr>
          <p:spPr>
            <a:xfrm>
              <a:off x="0" y="-47625"/>
              <a:ext cx="9997440" cy="730377"/>
            </a:xfrm>
            <a:prstGeom prst="rect">
              <a:avLst/>
            </a:prstGeom>
          </p:spPr>
          <p:txBody>
            <a:bodyPr lIns="0" tIns="0" rIns="0" bIns="0" rtlCol="0" anchor="ctr"/>
            <a:lstStyle/>
            <a:p>
              <a:pPr algn="l">
                <a:lnSpc>
                  <a:spcPts val="2640"/>
                </a:lnSpc>
              </a:pPr>
              <a:r>
                <a:rPr lang="en-US" sz="2200" b="1">
                  <a:solidFill>
                    <a:srgbClr val="7EC8A4"/>
                  </a:solidFill>
                  <a:latin typeface="Calibri (MS) Bold"/>
                  <a:ea typeface="Calibri (MS) Bold"/>
                  <a:cs typeface="Calibri (MS) Bold"/>
                  <a:sym typeface="Calibri (MS) Bold"/>
                </a:rPr>
                <a:t>Navegación GPS</a:t>
              </a:r>
            </a:p>
          </p:txBody>
        </p:sp>
      </p:grpSp>
      <p:sp>
        <p:nvSpPr>
          <p:cNvPr id="39" name="TextBox 39"/>
          <p:cNvSpPr txBox="1"/>
          <p:nvPr/>
        </p:nvSpPr>
        <p:spPr>
          <a:xfrm>
            <a:off x="10003536" y="3271647"/>
            <a:ext cx="7315200" cy="1047750"/>
          </a:xfrm>
          <a:prstGeom prst="rect">
            <a:avLst/>
          </a:prstGeom>
        </p:spPr>
        <p:txBody>
          <a:bodyPr lIns="0" tIns="0" rIns="0" bIns="0" rtlCol="0" anchor="t">
            <a:spAutoFit/>
          </a:bodyPr>
          <a:lstStyle/>
          <a:p>
            <a:pPr algn="l">
              <a:lnSpc>
                <a:spcPts val="2639"/>
              </a:lnSpc>
            </a:pPr>
            <a:r>
              <a:rPr lang="en-US" sz="2199">
                <a:solidFill>
                  <a:srgbClr val="FFFFFF"/>
                </a:solidFill>
                <a:latin typeface="Calibri (MS)"/>
                <a:ea typeface="Calibri (MS)"/>
                <a:cs typeface="Calibri (MS)"/>
                <a:sym typeface="Calibri (MS)"/>
              </a:rPr>
              <a:t>Dijkstra y A* calculan la ruta óptima en grafos de calles, considerando distancias, tráfico y restricciones viales en tiempo real.</a:t>
            </a:r>
          </a:p>
        </p:txBody>
      </p:sp>
      <p:grpSp>
        <p:nvGrpSpPr>
          <p:cNvPr id="40" name="Group 40"/>
          <p:cNvGrpSpPr/>
          <p:nvPr/>
        </p:nvGrpSpPr>
        <p:grpSpPr>
          <a:xfrm>
            <a:off x="718823" y="4979927"/>
            <a:ext cx="8255003" cy="2256539"/>
            <a:chOff x="0" y="0"/>
            <a:chExt cx="11006671" cy="3008719"/>
          </a:xfrm>
        </p:grpSpPr>
        <p:sp>
          <p:nvSpPr>
            <p:cNvPr id="41" name="Freeform 41"/>
            <p:cNvSpPr/>
            <p:nvPr/>
          </p:nvSpPr>
          <p:spPr>
            <a:xfrm>
              <a:off x="16891" y="16891"/>
              <a:ext cx="10972800" cy="2974848"/>
            </a:xfrm>
            <a:custGeom>
              <a:avLst/>
              <a:gdLst/>
              <a:ahLst/>
              <a:cxnLst/>
              <a:rect l="l" t="t" r="r" b="b"/>
              <a:pathLst>
                <a:path w="10972800" h="2974848">
                  <a:moveTo>
                    <a:pt x="0" y="0"/>
                  </a:moveTo>
                  <a:lnTo>
                    <a:pt x="10972800" y="0"/>
                  </a:lnTo>
                  <a:lnTo>
                    <a:pt x="10972800" y="2974848"/>
                  </a:lnTo>
                  <a:lnTo>
                    <a:pt x="0" y="2974848"/>
                  </a:lnTo>
                  <a:close/>
                </a:path>
              </a:pathLst>
            </a:custGeom>
            <a:solidFill>
              <a:srgbClr val="252B42"/>
            </a:solidFill>
          </p:spPr>
          <p:txBody>
            <a:bodyPr/>
            <a:lstStyle/>
            <a:p>
              <a:endParaRPr lang="es-GT"/>
            </a:p>
          </p:txBody>
        </p:sp>
        <p:sp>
          <p:nvSpPr>
            <p:cNvPr id="42" name="Freeform 42"/>
            <p:cNvSpPr/>
            <p:nvPr/>
          </p:nvSpPr>
          <p:spPr>
            <a:xfrm>
              <a:off x="0" y="0"/>
              <a:ext cx="11006582" cy="3008630"/>
            </a:xfrm>
            <a:custGeom>
              <a:avLst/>
              <a:gdLst/>
              <a:ahLst/>
              <a:cxnLst/>
              <a:rect l="l" t="t" r="r" b="b"/>
              <a:pathLst>
                <a:path w="11006582" h="3008630">
                  <a:moveTo>
                    <a:pt x="16891" y="0"/>
                  </a:moveTo>
                  <a:lnTo>
                    <a:pt x="10989691" y="0"/>
                  </a:lnTo>
                  <a:cubicBezTo>
                    <a:pt x="10999089" y="0"/>
                    <a:pt x="11006582" y="7620"/>
                    <a:pt x="11006582" y="16891"/>
                  </a:cubicBezTo>
                  <a:lnTo>
                    <a:pt x="11006582" y="2991739"/>
                  </a:lnTo>
                  <a:cubicBezTo>
                    <a:pt x="11006582" y="3001137"/>
                    <a:pt x="10998962" y="3008630"/>
                    <a:pt x="10989691" y="3008630"/>
                  </a:cubicBezTo>
                  <a:lnTo>
                    <a:pt x="16891" y="3008630"/>
                  </a:lnTo>
                  <a:cubicBezTo>
                    <a:pt x="7493" y="3008630"/>
                    <a:pt x="0" y="3001010"/>
                    <a:pt x="0" y="2991739"/>
                  </a:cubicBezTo>
                  <a:lnTo>
                    <a:pt x="0" y="16891"/>
                  </a:lnTo>
                  <a:cubicBezTo>
                    <a:pt x="0" y="7620"/>
                    <a:pt x="7620" y="0"/>
                    <a:pt x="16891" y="0"/>
                  </a:cubicBezTo>
                  <a:moveTo>
                    <a:pt x="16891" y="33909"/>
                  </a:moveTo>
                  <a:lnTo>
                    <a:pt x="16891" y="16891"/>
                  </a:lnTo>
                  <a:lnTo>
                    <a:pt x="33909" y="16891"/>
                  </a:lnTo>
                  <a:lnTo>
                    <a:pt x="33909" y="2991739"/>
                  </a:lnTo>
                  <a:lnTo>
                    <a:pt x="16891" y="2991739"/>
                  </a:lnTo>
                  <a:lnTo>
                    <a:pt x="16891" y="2974848"/>
                  </a:lnTo>
                  <a:lnTo>
                    <a:pt x="10989691" y="2974848"/>
                  </a:lnTo>
                  <a:lnTo>
                    <a:pt x="10989691" y="2991739"/>
                  </a:lnTo>
                  <a:lnTo>
                    <a:pt x="10972800" y="2991739"/>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grpSp>
        <p:nvGrpSpPr>
          <p:cNvPr id="43" name="Group 43"/>
          <p:cNvGrpSpPr/>
          <p:nvPr/>
        </p:nvGrpSpPr>
        <p:grpSpPr>
          <a:xfrm>
            <a:off x="718823" y="4979927"/>
            <a:ext cx="171707" cy="2256539"/>
            <a:chOff x="0" y="0"/>
            <a:chExt cx="228943" cy="3008719"/>
          </a:xfrm>
        </p:grpSpPr>
        <p:sp>
          <p:nvSpPr>
            <p:cNvPr id="44" name="Freeform 44"/>
            <p:cNvSpPr/>
            <p:nvPr/>
          </p:nvSpPr>
          <p:spPr>
            <a:xfrm>
              <a:off x="16891" y="16891"/>
              <a:ext cx="195072" cy="2974848"/>
            </a:xfrm>
            <a:custGeom>
              <a:avLst/>
              <a:gdLst/>
              <a:ahLst/>
              <a:cxnLst/>
              <a:rect l="l" t="t" r="r" b="b"/>
              <a:pathLst>
                <a:path w="195072" h="2974848">
                  <a:moveTo>
                    <a:pt x="0" y="0"/>
                  </a:moveTo>
                  <a:lnTo>
                    <a:pt x="195072" y="0"/>
                  </a:lnTo>
                  <a:lnTo>
                    <a:pt x="195072" y="2974848"/>
                  </a:lnTo>
                  <a:lnTo>
                    <a:pt x="0" y="2974848"/>
                  </a:lnTo>
                  <a:close/>
                </a:path>
              </a:pathLst>
            </a:custGeom>
            <a:solidFill>
              <a:srgbClr val="9B7FD4"/>
            </a:solidFill>
          </p:spPr>
          <p:txBody>
            <a:bodyPr/>
            <a:lstStyle/>
            <a:p>
              <a:endParaRPr lang="es-GT"/>
            </a:p>
          </p:txBody>
        </p:sp>
        <p:sp>
          <p:nvSpPr>
            <p:cNvPr id="45" name="Freeform 45"/>
            <p:cNvSpPr/>
            <p:nvPr/>
          </p:nvSpPr>
          <p:spPr>
            <a:xfrm>
              <a:off x="0" y="0"/>
              <a:ext cx="228854" cy="3008630"/>
            </a:xfrm>
            <a:custGeom>
              <a:avLst/>
              <a:gdLst/>
              <a:ahLst/>
              <a:cxnLst/>
              <a:rect l="l" t="t" r="r" b="b"/>
              <a:pathLst>
                <a:path w="228854" h="3008630">
                  <a:moveTo>
                    <a:pt x="16891" y="0"/>
                  </a:moveTo>
                  <a:lnTo>
                    <a:pt x="211963" y="0"/>
                  </a:lnTo>
                  <a:cubicBezTo>
                    <a:pt x="221361" y="0"/>
                    <a:pt x="228854" y="7620"/>
                    <a:pt x="228854" y="16891"/>
                  </a:cubicBezTo>
                  <a:lnTo>
                    <a:pt x="228854" y="2991739"/>
                  </a:lnTo>
                  <a:cubicBezTo>
                    <a:pt x="228854" y="3001137"/>
                    <a:pt x="221234" y="3008630"/>
                    <a:pt x="211963" y="3008630"/>
                  </a:cubicBezTo>
                  <a:lnTo>
                    <a:pt x="16891" y="3008630"/>
                  </a:lnTo>
                  <a:cubicBezTo>
                    <a:pt x="7493" y="3008630"/>
                    <a:pt x="0" y="3001010"/>
                    <a:pt x="0" y="2991739"/>
                  </a:cubicBezTo>
                  <a:lnTo>
                    <a:pt x="0" y="16891"/>
                  </a:lnTo>
                  <a:cubicBezTo>
                    <a:pt x="0" y="7620"/>
                    <a:pt x="7620" y="0"/>
                    <a:pt x="16891" y="0"/>
                  </a:cubicBezTo>
                  <a:moveTo>
                    <a:pt x="16891" y="33909"/>
                  </a:moveTo>
                  <a:lnTo>
                    <a:pt x="16891" y="16891"/>
                  </a:lnTo>
                  <a:lnTo>
                    <a:pt x="33909" y="16891"/>
                  </a:lnTo>
                  <a:lnTo>
                    <a:pt x="33909" y="2991739"/>
                  </a:lnTo>
                  <a:lnTo>
                    <a:pt x="16891" y="2991739"/>
                  </a:lnTo>
                  <a:lnTo>
                    <a:pt x="16891" y="2974848"/>
                  </a:lnTo>
                  <a:lnTo>
                    <a:pt x="211963" y="2974848"/>
                  </a:lnTo>
                  <a:lnTo>
                    <a:pt x="211963" y="2991739"/>
                  </a:lnTo>
                  <a:lnTo>
                    <a:pt x="195072" y="2991739"/>
                  </a:lnTo>
                  <a:lnTo>
                    <a:pt x="195072" y="16891"/>
                  </a:lnTo>
                  <a:lnTo>
                    <a:pt x="211963" y="16891"/>
                  </a:lnTo>
                  <a:lnTo>
                    <a:pt x="211963" y="33909"/>
                  </a:lnTo>
                  <a:lnTo>
                    <a:pt x="16891" y="33909"/>
                  </a:lnTo>
                  <a:close/>
                </a:path>
              </a:pathLst>
            </a:custGeom>
            <a:solidFill>
              <a:srgbClr val="9B7FD4"/>
            </a:solidFill>
          </p:spPr>
          <p:txBody>
            <a:bodyPr/>
            <a:lstStyle/>
            <a:p>
              <a:endParaRPr lang="es-GT"/>
            </a:p>
          </p:txBody>
        </p:sp>
      </p:grpSp>
      <p:grpSp>
        <p:nvGrpSpPr>
          <p:cNvPr id="46" name="Group 46"/>
          <p:cNvGrpSpPr/>
          <p:nvPr/>
        </p:nvGrpSpPr>
        <p:grpSpPr>
          <a:xfrm>
            <a:off x="1133856" y="5175504"/>
            <a:ext cx="7498080" cy="512064"/>
            <a:chOff x="0" y="0"/>
            <a:chExt cx="9997440" cy="682752"/>
          </a:xfrm>
        </p:grpSpPr>
        <p:sp>
          <p:nvSpPr>
            <p:cNvPr id="47" name="Freeform 47"/>
            <p:cNvSpPr/>
            <p:nvPr/>
          </p:nvSpPr>
          <p:spPr>
            <a:xfrm>
              <a:off x="0" y="0"/>
              <a:ext cx="9997440" cy="682752"/>
            </a:xfrm>
            <a:custGeom>
              <a:avLst/>
              <a:gdLst/>
              <a:ahLst/>
              <a:cxnLst/>
              <a:rect l="l" t="t" r="r" b="b"/>
              <a:pathLst>
                <a:path w="9997440" h="682752">
                  <a:moveTo>
                    <a:pt x="0" y="0"/>
                  </a:moveTo>
                  <a:lnTo>
                    <a:pt x="9997440" y="0"/>
                  </a:lnTo>
                  <a:lnTo>
                    <a:pt x="9997440" y="682752"/>
                  </a:lnTo>
                  <a:lnTo>
                    <a:pt x="0" y="682752"/>
                  </a:lnTo>
                  <a:close/>
                </a:path>
              </a:pathLst>
            </a:custGeom>
            <a:blipFill>
              <a:blip r:embed="rId3">
                <a:alphaModFix amt="0"/>
              </a:blip>
              <a:stretch>
                <a:fillRect t="-235316" b="-235316"/>
              </a:stretch>
            </a:blipFill>
          </p:spPr>
          <p:txBody>
            <a:bodyPr/>
            <a:lstStyle/>
            <a:p>
              <a:endParaRPr lang="es-GT"/>
            </a:p>
          </p:txBody>
        </p:sp>
        <p:sp>
          <p:nvSpPr>
            <p:cNvPr id="48" name="TextBox 48"/>
            <p:cNvSpPr txBox="1"/>
            <p:nvPr/>
          </p:nvSpPr>
          <p:spPr>
            <a:xfrm>
              <a:off x="0" y="-47625"/>
              <a:ext cx="9997440" cy="730377"/>
            </a:xfrm>
            <a:prstGeom prst="rect">
              <a:avLst/>
            </a:prstGeom>
          </p:spPr>
          <p:txBody>
            <a:bodyPr lIns="0" tIns="0" rIns="0" bIns="0" rtlCol="0" anchor="ctr"/>
            <a:lstStyle/>
            <a:p>
              <a:pPr algn="l">
                <a:lnSpc>
                  <a:spcPts val="2640"/>
                </a:lnSpc>
              </a:pPr>
              <a:r>
                <a:rPr lang="en-US" sz="2200" b="1">
                  <a:solidFill>
                    <a:srgbClr val="9B7FD4"/>
                  </a:solidFill>
                  <a:latin typeface="Calibri (MS) Bold"/>
                  <a:ea typeface="Calibri (MS) Bold"/>
                  <a:cs typeface="Calibri (MS) Bold"/>
                  <a:sym typeface="Calibri (MS) Bold"/>
                </a:rPr>
                <a:t>Recomendación de contenido</a:t>
              </a:r>
            </a:p>
          </p:txBody>
        </p:sp>
      </p:grpSp>
      <p:sp>
        <p:nvSpPr>
          <p:cNvPr id="49" name="TextBox 49"/>
          <p:cNvSpPr txBox="1"/>
          <p:nvPr/>
        </p:nvSpPr>
        <p:spPr>
          <a:xfrm>
            <a:off x="1225296" y="5795391"/>
            <a:ext cx="7315200" cy="1047750"/>
          </a:xfrm>
          <a:prstGeom prst="rect">
            <a:avLst/>
          </a:prstGeom>
        </p:spPr>
        <p:txBody>
          <a:bodyPr lIns="0" tIns="0" rIns="0" bIns="0" rtlCol="0" anchor="t">
            <a:spAutoFit/>
          </a:bodyPr>
          <a:lstStyle/>
          <a:p>
            <a:pPr algn="l">
              <a:lnSpc>
                <a:spcPts val="2639"/>
              </a:lnSpc>
            </a:pPr>
            <a:r>
              <a:rPr lang="en-US" sz="2199">
                <a:solidFill>
                  <a:srgbClr val="FFFFFF"/>
                </a:solidFill>
                <a:latin typeface="Calibri (MS)"/>
                <a:ea typeface="Calibri (MS)"/>
                <a:cs typeface="Calibri (MS)"/>
                <a:sym typeface="Calibri (MS)"/>
              </a:rPr>
              <a:t>Filtrado colaborativo analiza patrones de consumo de millones de usuarios para predecir qué contenido es relevante para cada perfil.</a:t>
            </a:r>
          </a:p>
        </p:txBody>
      </p:sp>
      <p:grpSp>
        <p:nvGrpSpPr>
          <p:cNvPr id="50" name="Group 50"/>
          <p:cNvGrpSpPr/>
          <p:nvPr/>
        </p:nvGrpSpPr>
        <p:grpSpPr>
          <a:xfrm>
            <a:off x="9497063" y="4979927"/>
            <a:ext cx="8255003" cy="2256539"/>
            <a:chOff x="0" y="0"/>
            <a:chExt cx="11006671" cy="3008719"/>
          </a:xfrm>
        </p:grpSpPr>
        <p:sp>
          <p:nvSpPr>
            <p:cNvPr id="51" name="Freeform 51"/>
            <p:cNvSpPr/>
            <p:nvPr/>
          </p:nvSpPr>
          <p:spPr>
            <a:xfrm>
              <a:off x="16891" y="16891"/>
              <a:ext cx="10972800" cy="2974848"/>
            </a:xfrm>
            <a:custGeom>
              <a:avLst/>
              <a:gdLst/>
              <a:ahLst/>
              <a:cxnLst/>
              <a:rect l="l" t="t" r="r" b="b"/>
              <a:pathLst>
                <a:path w="10972800" h="2974848">
                  <a:moveTo>
                    <a:pt x="0" y="0"/>
                  </a:moveTo>
                  <a:lnTo>
                    <a:pt x="10972800" y="0"/>
                  </a:lnTo>
                  <a:lnTo>
                    <a:pt x="10972800" y="2974848"/>
                  </a:lnTo>
                  <a:lnTo>
                    <a:pt x="0" y="2974848"/>
                  </a:lnTo>
                  <a:close/>
                </a:path>
              </a:pathLst>
            </a:custGeom>
            <a:solidFill>
              <a:srgbClr val="252B42"/>
            </a:solidFill>
          </p:spPr>
          <p:txBody>
            <a:bodyPr/>
            <a:lstStyle/>
            <a:p>
              <a:endParaRPr lang="es-GT"/>
            </a:p>
          </p:txBody>
        </p:sp>
        <p:sp>
          <p:nvSpPr>
            <p:cNvPr id="52" name="Freeform 52"/>
            <p:cNvSpPr/>
            <p:nvPr/>
          </p:nvSpPr>
          <p:spPr>
            <a:xfrm>
              <a:off x="0" y="0"/>
              <a:ext cx="11006582" cy="3008630"/>
            </a:xfrm>
            <a:custGeom>
              <a:avLst/>
              <a:gdLst/>
              <a:ahLst/>
              <a:cxnLst/>
              <a:rect l="l" t="t" r="r" b="b"/>
              <a:pathLst>
                <a:path w="11006582" h="3008630">
                  <a:moveTo>
                    <a:pt x="16891" y="0"/>
                  </a:moveTo>
                  <a:lnTo>
                    <a:pt x="10989691" y="0"/>
                  </a:lnTo>
                  <a:cubicBezTo>
                    <a:pt x="10999089" y="0"/>
                    <a:pt x="11006582" y="7620"/>
                    <a:pt x="11006582" y="16891"/>
                  </a:cubicBezTo>
                  <a:lnTo>
                    <a:pt x="11006582" y="2991739"/>
                  </a:lnTo>
                  <a:cubicBezTo>
                    <a:pt x="11006582" y="3001137"/>
                    <a:pt x="10998962" y="3008630"/>
                    <a:pt x="10989691" y="3008630"/>
                  </a:cubicBezTo>
                  <a:lnTo>
                    <a:pt x="16891" y="3008630"/>
                  </a:lnTo>
                  <a:cubicBezTo>
                    <a:pt x="7493" y="3008630"/>
                    <a:pt x="0" y="3001010"/>
                    <a:pt x="0" y="2991739"/>
                  </a:cubicBezTo>
                  <a:lnTo>
                    <a:pt x="0" y="16891"/>
                  </a:lnTo>
                  <a:cubicBezTo>
                    <a:pt x="0" y="7620"/>
                    <a:pt x="7620" y="0"/>
                    <a:pt x="16891" y="0"/>
                  </a:cubicBezTo>
                  <a:moveTo>
                    <a:pt x="16891" y="33909"/>
                  </a:moveTo>
                  <a:lnTo>
                    <a:pt x="16891" y="16891"/>
                  </a:lnTo>
                  <a:lnTo>
                    <a:pt x="33909" y="16891"/>
                  </a:lnTo>
                  <a:lnTo>
                    <a:pt x="33909" y="2991739"/>
                  </a:lnTo>
                  <a:lnTo>
                    <a:pt x="16891" y="2991739"/>
                  </a:lnTo>
                  <a:lnTo>
                    <a:pt x="16891" y="2974848"/>
                  </a:lnTo>
                  <a:lnTo>
                    <a:pt x="10989691" y="2974848"/>
                  </a:lnTo>
                  <a:lnTo>
                    <a:pt x="10989691" y="2991739"/>
                  </a:lnTo>
                  <a:lnTo>
                    <a:pt x="10972800" y="2991739"/>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grpSp>
        <p:nvGrpSpPr>
          <p:cNvPr id="53" name="Group 53"/>
          <p:cNvGrpSpPr/>
          <p:nvPr/>
        </p:nvGrpSpPr>
        <p:grpSpPr>
          <a:xfrm>
            <a:off x="9497063" y="4979927"/>
            <a:ext cx="171707" cy="2256539"/>
            <a:chOff x="0" y="0"/>
            <a:chExt cx="228943" cy="3008719"/>
          </a:xfrm>
        </p:grpSpPr>
        <p:sp>
          <p:nvSpPr>
            <p:cNvPr id="54" name="Freeform 54"/>
            <p:cNvSpPr/>
            <p:nvPr/>
          </p:nvSpPr>
          <p:spPr>
            <a:xfrm>
              <a:off x="16891" y="16891"/>
              <a:ext cx="195072" cy="2974848"/>
            </a:xfrm>
            <a:custGeom>
              <a:avLst/>
              <a:gdLst/>
              <a:ahLst/>
              <a:cxnLst/>
              <a:rect l="l" t="t" r="r" b="b"/>
              <a:pathLst>
                <a:path w="195072" h="2974848">
                  <a:moveTo>
                    <a:pt x="0" y="0"/>
                  </a:moveTo>
                  <a:lnTo>
                    <a:pt x="195072" y="0"/>
                  </a:lnTo>
                  <a:lnTo>
                    <a:pt x="195072" y="2974848"/>
                  </a:lnTo>
                  <a:lnTo>
                    <a:pt x="0" y="2974848"/>
                  </a:lnTo>
                  <a:close/>
                </a:path>
              </a:pathLst>
            </a:custGeom>
            <a:solidFill>
              <a:srgbClr val="E8A87C"/>
            </a:solidFill>
          </p:spPr>
          <p:txBody>
            <a:bodyPr/>
            <a:lstStyle/>
            <a:p>
              <a:endParaRPr lang="es-GT"/>
            </a:p>
          </p:txBody>
        </p:sp>
        <p:sp>
          <p:nvSpPr>
            <p:cNvPr id="55" name="Freeform 55"/>
            <p:cNvSpPr/>
            <p:nvPr/>
          </p:nvSpPr>
          <p:spPr>
            <a:xfrm>
              <a:off x="0" y="0"/>
              <a:ext cx="228854" cy="3008630"/>
            </a:xfrm>
            <a:custGeom>
              <a:avLst/>
              <a:gdLst/>
              <a:ahLst/>
              <a:cxnLst/>
              <a:rect l="l" t="t" r="r" b="b"/>
              <a:pathLst>
                <a:path w="228854" h="3008630">
                  <a:moveTo>
                    <a:pt x="16891" y="0"/>
                  </a:moveTo>
                  <a:lnTo>
                    <a:pt x="211963" y="0"/>
                  </a:lnTo>
                  <a:cubicBezTo>
                    <a:pt x="221361" y="0"/>
                    <a:pt x="228854" y="7620"/>
                    <a:pt x="228854" y="16891"/>
                  </a:cubicBezTo>
                  <a:lnTo>
                    <a:pt x="228854" y="2991739"/>
                  </a:lnTo>
                  <a:cubicBezTo>
                    <a:pt x="228854" y="3001137"/>
                    <a:pt x="221234" y="3008630"/>
                    <a:pt x="211963" y="3008630"/>
                  </a:cubicBezTo>
                  <a:lnTo>
                    <a:pt x="16891" y="3008630"/>
                  </a:lnTo>
                  <a:cubicBezTo>
                    <a:pt x="7493" y="3008630"/>
                    <a:pt x="0" y="3001010"/>
                    <a:pt x="0" y="2991739"/>
                  </a:cubicBezTo>
                  <a:lnTo>
                    <a:pt x="0" y="16891"/>
                  </a:lnTo>
                  <a:cubicBezTo>
                    <a:pt x="0" y="7620"/>
                    <a:pt x="7620" y="0"/>
                    <a:pt x="16891" y="0"/>
                  </a:cubicBezTo>
                  <a:moveTo>
                    <a:pt x="16891" y="33909"/>
                  </a:moveTo>
                  <a:lnTo>
                    <a:pt x="16891" y="16891"/>
                  </a:lnTo>
                  <a:lnTo>
                    <a:pt x="33909" y="16891"/>
                  </a:lnTo>
                  <a:lnTo>
                    <a:pt x="33909" y="2991739"/>
                  </a:lnTo>
                  <a:lnTo>
                    <a:pt x="16891" y="2991739"/>
                  </a:lnTo>
                  <a:lnTo>
                    <a:pt x="16891" y="2974848"/>
                  </a:lnTo>
                  <a:lnTo>
                    <a:pt x="211963" y="2974848"/>
                  </a:lnTo>
                  <a:lnTo>
                    <a:pt x="211963" y="2991739"/>
                  </a:lnTo>
                  <a:lnTo>
                    <a:pt x="195072" y="2991739"/>
                  </a:lnTo>
                  <a:lnTo>
                    <a:pt x="195072" y="16891"/>
                  </a:lnTo>
                  <a:lnTo>
                    <a:pt x="211963" y="16891"/>
                  </a:lnTo>
                  <a:lnTo>
                    <a:pt x="211963" y="33909"/>
                  </a:lnTo>
                  <a:lnTo>
                    <a:pt x="16891" y="33909"/>
                  </a:lnTo>
                  <a:close/>
                </a:path>
              </a:pathLst>
            </a:custGeom>
            <a:solidFill>
              <a:srgbClr val="E8A87C"/>
            </a:solidFill>
          </p:spPr>
          <p:txBody>
            <a:bodyPr/>
            <a:lstStyle/>
            <a:p>
              <a:endParaRPr lang="es-GT"/>
            </a:p>
          </p:txBody>
        </p:sp>
      </p:grpSp>
      <p:grpSp>
        <p:nvGrpSpPr>
          <p:cNvPr id="56" name="Group 56"/>
          <p:cNvGrpSpPr/>
          <p:nvPr/>
        </p:nvGrpSpPr>
        <p:grpSpPr>
          <a:xfrm>
            <a:off x="9912096" y="5175504"/>
            <a:ext cx="7498080" cy="512064"/>
            <a:chOff x="0" y="0"/>
            <a:chExt cx="9997440" cy="682752"/>
          </a:xfrm>
        </p:grpSpPr>
        <p:sp>
          <p:nvSpPr>
            <p:cNvPr id="57" name="Freeform 57"/>
            <p:cNvSpPr/>
            <p:nvPr/>
          </p:nvSpPr>
          <p:spPr>
            <a:xfrm>
              <a:off x="0" y="0"/>
              <a:ext cx="9997440" cy="682752"/>
            </a:xfrm>
            <a:custGeom>
              <a:avLst/>
              <a:gdLst/>
              <a:ahLst/>
              <a:cxnLst/>
              <a:rect l="l" t="t" r="r" b="b"/>
              <a:pathLst>
                <a:path w="9997440" h="682752">
                  <a:moveTo>
                    <a:pt x="0" y="0"/>
                  </a:moveTo>
                  <a:lnTo>
                    <a:pt x="9997440" y="0"/>
                  </a:lnTo>
                  <a:lnTo>
                    <a:pt x="9997440" y="682752"/>
                  </a:lnTo>
                  <a:lnTo>
                    <a:pt x="0" y="682752"/>
                  </a:lnTo>
                  <a:close/>
                </a:path>
              </a:pathLst>
            </a:custGeom>
            <a:blipFill>
              <a:blip r:embed="rId3">
                <a:alphaModFix amt="0"/>
              </a:blip>
              <a:stretch>
                <a:fillRect t="-235316" b="-235316"/>
              </a:stretch>
            </a:blipFill>
          </p:spPr>
          <p:txBody>
            <a:bodyPr/>
            <a:lstStyle/>
            <a:p>
              <a:endParaRPr lang="es-GT"/>
            </a:p>
          </p:txBody>
        </p:sp>
        <p:sp>
          <p:nvSpPr>
            <p:cNvPr id="58" name="TextBox 58"/>
            <p:cNvSpPr txBox="1"/>
            <p:nvPr/>
          </p:nvSpPr>
          <p:spPr>
            <a:xfrm>
              <a:off x="0" y="-47625"/>
              <a:ext cx="9997440" cy="730377"/>
            </a:xfrm>
            <a:prstGeom prst="rect">
              <a:avLst/>
            </a:prstGeom>
          </p:spPr>
          <p:txBody>
            <a:bodyPr lIns="0" tIns="0" rIns="0" bIns="0" rtlCol="0" anchor="ctr"/>
            <a:lstStyle/>
            <a:p>
              <a:pPr algn="l">
                <a:lnSpc>
                  <a:spcPts val="2640"/>
                </a:lnSpc>
              </a:pPr>
              <a:r>
                <a:rPr lang="en-US" sz="2200" b="1">
                  <a:solidFill>
                    <a:srgbClr val="E8A87C"/>
                  </a:solidFill>
                  <a:latin typeface="Calibri (MS) Bold"/>
                  <a:ea typeface="Calibri (MS) Bold"/>
                  <a:cs typeface="Calibri (MS) Bold"/>
                  <a:sym typeface="Calibri (MS) Bold"/>
                </a:rPr>
                <a:t>Ciberseguridad</a:t>
              </a:r>
            </a:p>
          </p:txBody>
        </p:sp>
      </p:grpSp>
      <p:sp>
        <p:nvSpPr>
          <p:cNvPr id="59" name="TextBox 59"/>
          <p:cNvSpPr txBox="1"/>
          <p:nvPr/>
        </p:nvSpPr>
        <p:spPr>
          <a:xfrm>
            <a:off x="10003536" y="5795391"/>
            <a:ext cx="7315200" cy="1047750"/>
          </a:xfrm>
          <a:prstGeom prst="rect">
            <a:avLst/>
          </a:prstGeom>
        </p:spPr>
        <p:txBody>
          <a:bodyPr lIns="0" tIns="0" rIns="0" bIns="0" rtlCol="0" anchor="t">
            <a:spAutoFit/>
          </a:bodyPr>
          <a:lstStyle/>
          <a:p>
            <a:pPr algn="l">
              <a:lnSpc>
                <a:spcPts val="2639"/>
              </a:lnSpc>
            </a:pPr>
            <a:r>
              <a:rPr lang="en-US" sz="2199">
                <a:solidFill>
                  <a:srgbClr val="FFFFFF"/>
                </a:solidFill>
                <a:latin typeface="Calibri (MS)"/>
                <a:ea typeface="Calibri (MS)"/>
                <a:cs typeface="Calibri (MS)"/>
                <a:sym typeface="Calibri (MS)"/>
              </a:rPr>
              <a:t>Algoritmos de cifrado (AES, RSA) protegen la transmisión de datos mediante transformaciones matemáticas reversibles solo con la clave correcta.</a:t>
            </a:r>
          </a:p>
        </p:txBody>
      </p:sp>
      <p:grpSp>
        <p:nvGrpSpPr>
          <p:cNvPr id="60" name="Group 60"/>
          <p:cNvGrpSpPr/>
          <p:nvPr/>
        </p:nvGrpSpPr>
        <p:grpSpPr>
          <a:xfrm>
            <a:off x="718823" y="7503671"/>
            <a:ext cx="8255003" cy="2256539"/>
            <a:chOff x="0" y="0"/>
            <a:chExt cx="11006671" cy="3008719"/>
          </a:xfrm>
        </p:grpSpPr>
        <p:sp>
          <p:nvSpPr>
            <p:cNvPr id="61" name="Freeform 61"/>
            <p:cNvSpPr/>
            <p:nvPr/>
          </p:nvSpPr>
          <p:spPr>
            <a:xfrm>
              <a:off x="16891" y="16891"/>
              <a:ext cx="10972800" cy="2974848"/>
            </a:xfrm>
            <a:custGeom>
              <a:avLst/>
              <a:gdLst/>
              <a:ahLst/>
              <a:cxnLst/>
              <a:rect l="l" t="t" r="r" b="b"/>
              <a:pathLst>
                <a:path w="10972800" h="2974848">
                  <a:moveTo>
                    <a:pt x="0" y="0"/>
                  </a:moveTo>
                  <a:lnTo>
                    <a:pt x="10972800" y="0"/>
                  </a:lnTo>
                  <a:lnTo>
                    <a:pt x="10972800" y="2974848"/>
                  </a:lnTo>
                  <a:lnTo>
                    <a:pt x="0" y="2974848"/>
                  </a:lnTo>
                  <a:close/>
                </a:path>
              </a:pathLst>
            </a:custGeom>
            <a:solidFill>
              <a:srgbClr val="252B42"/>
            </a:solidFill>
          </p:spPr>
          <p:txBody>
            <a:bodyPr/>
            <a:lstStyle/>
            <a:p>
              <a:endParaRPr lang="es-GT"/>
            </a:p>
          </p:txBody>
        </p:sp>
        <p:sp>
          <p:nvSpPr>
            <p:cNvPr id="62" name="Freeform 62"/>
            <p:cNvSpPr/>
            <p:nvPr/>
          </p:nvSpPr>
          <p:spPr>
            <a:xfrm>
              <a:off x="0" y="0"/>
              <a:ext cx="11006582" cy="3008630"/>
            </a:xfrm>
            <a:custGeom>
              <a:avLst/>
              <a:gdLst/>
              <a:ahLst/>
              <a:cxnLst/>
              <a:rect l="l" t="t" r="r" b="b"/>
              <a:pathLst>
                <a:path w="11006582" h="3008630">
                  <a:moveTo>
                    <a:pt x="16891" y="0"/>
                  </a:moveTo>
                  <a:lnTo>
                    <a:pt x="10989691" y="0"/>
                  </a:lnTo>
                  <a:cubicBezTo>
                    <a:pt x="10999089" y="0"/>
                    <a:pt x="11006582" y="7620"/>
                    <a:pt x="11006582" y="16891"/>
                  </a:cubicBezTo>
                  <a:lnTo>
                    <a:pt x="11006582" y="2991739"/>
                  </a:lnTo>
                  <a:cubicBezTo>
                    <a:pt x="11006582" y="3001137"/>
                    <a:pt x="10998962" y="3008630"/>
                    <a:pt x="10989691" y="3008630"/>
                  </a:cubicBezTo>
                  <a:lnTo>
                    <a:pt x="16891" y="3008630"/>
                  </a:lnTo>
                  <a:cubicBezTo>
                    <a:pt x="7493" y="3008630"/>
                    <a:pt x="0" y="3001010"/>
                    <a:pt x="0" y="2991739"/>
                  </a:cubicBezTo>
                  <a:lnTo>
                    <a:pt x="0" y="16891"/>
                  </a:lnTo>
                  <a:cubicBezTo>
                    <a:pt x="0" y="7620"/>
                    <a:pt x="7620" y="0"/>
                    <a:pt x="16891" y="0"/>
                  </a:cubicBezTo>
                  <a:moveTo>
                    <a:pt x="16891" y="33909"/>
                  </a:moveTo>
                  <a:lnTo>
                    <a:pt x="16891" y="16891"/>
                  </a:lnTo>
                  <a:lnTo>
                    <a:pt x="33909" y="16891"/>
                  </a:lnTo>
                  <a:lnTo>
                    <a:pt x="33909" y="2991739"/>
                  </a:lnTo>
                  <a:lnTo>
                    <a:pt x="16891" y="2991739"/>
                  </a:lnTo>
                  <a:lnTo>
                    <a:pt x="16891" y="2974848"/>
                  </a:lnTo>
                  <a:lnTo>
                    <a:pt x="10989691" y="2974848"/>
                  </a:lnTo>
                  <a:lnTo>
                    <a:pt x="10989691" y="2991739"/>
                  </a:lnTo>
                  <a:lnTo>
                    <a:pt x="10972800" y="2991739"/>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grpSp>
        <p:nvGrpSpPr>
          <p:cNvPr id="63" name="Group 63"/>
          <p:cNvGrpSpPr/>
          <p:nvPr/>
        </p:nvGrpSpPr>
        <p:grpSpPr>
          <a:xfrm>
            <a:off x="718823" y="7503671"/>
            <a:ext cx="171707" cy="2256539"/>
            <a:chOff x="0" y="0"/>
            <a:chExt cx="228943" cy="3008719"/>
          </a:xfrm>
        </p:grpSpPr>
        <p:sp>
          <p:nvSpPr>
            <p:cNvPr id="64" name="Freeform 64"/>
            <p:cNvSpPr/>
            <p:nvPr/>
          </p:nvSpPr>
          <p:spPr>
            <a:xfrm>
              <a:off x="16891" y="16891"/>
              <a:ext cx="195072" cy="2974848"/>
            </a:xfrm>
            <a:custGeom>
              <a:avLst/>
              <a:gdLst/>
              <a:ahLst/>
              <a:cxnLst/>
              <a:rect l="l" t="t" r="r" b="b"/>
              <a:pathLst>
                <a:path w="195072" h="2974848">
                  <a:moveTo>
                    <a:pt x="0" y="0"/>
                  </a:moveTo>
                  <a:lnTo>
                    <a:pt x="195072" y="0"/>
                  </a:lnTo>
                  <a:lnTo>
                    <a:pt x="195072" y="2974848"/>
                  </a:lnTo>
                  <a:lnTo>
                    <a:pt x="0" y="2974848"/>
                  </a:lnTo>
                  <a:close/>
                </a:path>
              </a:pathLst>
            </a:custGeom>
            <a:solidFill>
              <a:srgbClr val="5EC6E8"/>
            </a:solidFill>
          </p:spPr>
          <p:txBody>
            <a:bodyPr/>
            <a:lstStyle/>
            <a:p>
              <a:endParaRPr lang="es-GT"/>
            </a:p>
          </p:txBody>
        </p:sp>
        <p:sp>
          <p:nvSpPr>
            <p:cNvPr id="65" name="Freeform 65"/>
            <p:cNvSpPr/>
            <p:nvPr/>
          </p:nvSpPr>
          <p:spPr>
            <a:xfrm>
              <a:off x="0" y="0"/>
              <a:ext cx="228854" cy="3008630"/>
            </a:xfrm>
            <a:custGeom>
              <a:avLst/>
              <a:gdLst/>
              <a:ahLst/>
              <a:cxnLst/>
              <a:rect l="l" t="t" r="r" b="b"/>
              <a:pathLst>
                <a:path w="228854" h="3008630">
                  <a:moveTo>
                    <a:pt x="16891" y="0"/>
                  </a:moveTo>
                  <a:lnTo>
                    <a:pt x="211963" y="0"/>
                  </a:lnTo>
                  <a:cubicBezTo>
                    <a:pt x="221361" y="0"/>
                    <a:pt x="228854" y="7620"/>
                    <a:pt x="228854" y="16891"/>
                  </a:cubicBezTo>
                  <a:lnTo>
                    <a:pt x="228854" y="2991739"/>
                  </a:lnTo>
                  <a:cubicBezTo>
                    <a:pt x="228854" y="3001137"/>
                    <a:pt x="221234" y="3008630"/>
                    <a:pt x="211963" y="3008630"/>
                  </a:cubicBezTo>
                  <a:lnTo>
                    <a:pt x="16891" y="3008630"/>
                  </a:lnTo>
                  <a:cubicBezTo>
                    <a:pt x="7493" y="3008630"/>
                    <a:pt x="0" y="3001010"/>
                    <a:pt x="0" y="2991739"/>
                  </a:cubicBezTo>
                  <a:lnTo>
                    <a:pt x="0" y="16891"/>
                  </a:lnTo>
                  <a:cubicBezTo>
                    <a:pt x="0" y="7620"/>
                    <a:pt x="7620" y="0"/>
                    <a:pt x="16891" y="0"/>
                  </a:cubicBezTo>
                  <a:moveTo>
                    <a:pt x="16891" y="33909"/>
                  </a:moveTo>
                  <a:lnTo>
                    <a:pt x="16891" y="16891"/>
                  </a:lnTo>
                  <a:lnTo>
                    <a:pt x="33909" y="16891"/>
                  </a:lnTo>
                  <a:lnTo>
                    <a:pt x="33909" y="2991739"/>
                  </a:lnTo>
                  <a:lnTo>
                    <a:pt x="16891" y="2991739"/>
                  </a:lnTo>
                  <a:lnTo>
                    <a:pt x="16891" y="2974848"/>
                  </a:lnTo>
                  <a:lnTo>
                    <a:pt x="211963" y="2974848"/>
                  </a:lnTo>
                  <a:lnTo>
                    <a:pt x="211963" y="2991739"/>
                  </a:lnTo>
                  <a:lnTo>
                    <a:pt x="195072" y="2991739"/>
                  </a:lnTo>
                  <a:lnTo>
                    <a:pt x="195072" y="16891"/>
                  </a:lnTo>
                  <a:lnTo>
                    <a:pt x="211963" y="16891"/>
                  </a:lnTo>
                  <a:lnTo>
                    <a:pt x="211963" y="33909"/>
                  </a:lnTo>
                  <a:lnTo>
                    <a:pt x="16891" y="33909"/>
                  </a:lnTo>
                  <a:close/>
                </a:path>
              </a:pathLst>
            </a:custGeom>
            <a:solidFill>
              <a:srgbClr val="5EC6E8"/>
            </a:solidFill>
          </p:spPr>
          <p:txBody>
            <a:bodyPr/>
            <a:lstStyle/>
            <a:p>
              <a:endParaRPr lang="es-GT"/>
            </a:p>
          </p:txBody>
        </p:sp>
      </p:grpSp>
      <p:grpSp>
        <p:nvGrpSpPr>
          <p:cNvPr id="66" name="Group 66"/>
          <p:cNvGrpSpPr/>
          <p:nvPr/>
        </p:nvGrpSpPr>
        <p:grpSpPr>
          <a:xfrm>
            <a:off x="1133856" y="7699248"/>
            <a:ext cx="7498080" cy="512064"/>
            <a:chOff x="0" y="0"/>
            <a:chExt cx="9997440" cy="682752"/>
          </a:xfrm>
        </p:grpSpPr>
        <p:sp>
          <p:nvSpPr>
            <p:cNvPr id="67" name="Freeform 67"/>
            <p:cNvSpPr/>
            <p:nvPr/>
          </p:nvSpPr>
          <p:spPr>
            <a:xfrm>
              <a:off x="0" y="0"/>
              <a:ext cx="9997440" cy="682752"/>
            </a:xfrm>
            <a:custGeom>
              <a:avLst/>
              <a:gdLst/>
              <a:ahLst/>
              <a:cxnLst/>
              <a:rect l="l" t="t" r="r" b="b"/>
              <a:pathLst>
                <a:path w="9997440" h="682752">
                  <a:moveTo>
                    <a:pt x="0" y="0"/>
                  </a:moveTo>
                  <a:lnTo>
                    <a:pt x="9997440" y="0"/>
                  </a:lnTo>
                  <a:lnTo>
                    <a:pt x="9997440" y="682752"/>
                  </a:lnTo>
                  <a:lnTo>
                    <a:pt x="0" y="682752"/>
                  </a:lnTo>
                  <a:close/>
                </a:path>
              </a:pathLst>
            </a:custGeom>
            <a:blipFill>
              <a:blip r:embed="rId3">
                <a:alphaModFix amt="0"/>
              </a:blip>
              <a:stretch>
                <a:fillRect t="-235316" b="-235316"/>
              </a:stretch>
            </a:blipFill>
          </p:spPr>
          <p:txBody>
            <a:bodyPr/>
            <a:lstStyle/>
            <a:p>
              <a:endParaRPr lang="es-GT"/>
            </a:p>
          </p:txBody>
        </p:sp>
        <p:sp>
          <p:nvSpPr>
            <p:cNvPr id="68" name="TextBox 68"/>
            <p:cNvSpPr txBox="1"/>
            <p:nvPr/>
          </p:nvSpPr>
          <p:spPr>
            <a:xfrm>
              <a:off x="0" y="-47625"/>
              <a:ext cx="9997440" cy="730377"/>
            </a:xfrm>
            <a:prstGeom prst="rect">
              <a:avLst/>
            </a:prstGeom>
          </p:spPr>
          <p:txBody>
            <a:bodyPr lIns="0" tIns="0" rIns="0" bIns="0" rtlCol="0" anchor="ctr"/>
            <a:lstStyle/>
            <a:p>
              <a:pPr algn="l">
                <a:lnSpc>
                  <a:spcPts val="2640"/>
                </a:lnSpc>
              </a:pPr>
              <a:r>
                <a:rPr lang="en-US" sz="2200" b="1">
                  <a:solidFill>
                    <a:srgbClr val="5EC6E8"/>
                  </a:solidFill>
                  <a:latin typeface="Calibri (MS) Bold"/>
                  <a:ea typeface="Calibri (MS) Bold"/>
                  <a:cs typeface="Calibri (MS) Bold"/>
                  <a:sym typeface="Calibri (MS) Bold"/>
                </a:rPr>
                <a:t>Compresión de datos</a:t>
              </a:r>
            </a:p>
          </p:txBody>
        </p:sp>
      </p:grpSp>
      <p:sp>
        <p:nvSpPr>
          <p:cNvPr id="69" name="TextBox 69"/>
          <p:cNvSpPr txBox="1"/>
          <p:nvPr/>
        </p:nvSpPr>
        <p:spPr>
          <a:xfrm>
            <a:off x="1225296" y="8319135"/>
            <a:ext cx="7315200" cy="1047750"/>
          </a:xfrm>
          <a:prstGeom prst="rect">
            <a:avLst/>
          </a:prstGeom>
        </p:spPr>
        <p:txBody>
          <a:bodyPr lIns="0" tIns="0" rIns="0" bIns="0" rtlCol="0" anchor="t">
            <a:spAutoFit/>
          </a:bodyPr>
          <a:lstStyle/>
          <a:p>
            <a:pPr algn="l">
              <a:lnSpc>
                <a:spcPts val="2639"/>
              </a:lnSpc>
            </a:pPr>
            <a:r>
              <a:rPr lang="en-US" sz="2199">
                <a:solidFill>
                  <a:srgbClr val="FFFFFF"/>
                </a:solidFill>
                <a:latin typeface="Calibri (MS)"/>
                <a:ea typeface="Calibri (MS)"/>
                <a:cs typeface="Calibri (MS)"/>
                <a:sym typeface="Calibri (MS)"/>
              </a:rPr>
              <a:t>Huffman y LZ77 reducen el tamaño de archivos eliminando redundancias sin pérdida de información, base de ZIP, PNG y MP3.</a:t>
            </a:r>
          </a:p>
        </p:txBody>
      </p:sp>
      <p:grpSp>
        <p:nvGrpSpPr>
          <p:cNvPr id="70" name="Group 70"/>
          <p:cNvGrpSpPr/>
          <p:nvPr/>
        </p:nvGrpSpPr>
        <p:grpSpPr>
          <a:xfrm>
            <a:off x="9497063" y="7503671"/>
            <a:ext cx="8255003" cy="2256539"/>
            <a:chOff x="0" y="0"/>
            <a:chExt cx="11006671" cy="3008719"/>
          </a:xfrm>
        </p:grpSpPr>
        <p:sp>
          <p:nvSpPr>
            <p:cNvPr id="71" name="Freeform 71"/>
            <p:cNvSpPr/>
            <p:nvPr/>
          </p:nvSpPr>
          <p:spPr>
            <a:xfrm>
              <a:off x="16891" y="16891"/>
              <a:ext cx="10972800" cy="2974848"/>
            </a:xfrm>
            <a:custGeom>
              <a:avLst/>
              <a:gdLst/>
              <a:ahLst/>
              <a:cxnLst/>
              <a:rect l="l" t="t" r="r" b="b"/>
              <a:pathLst>
                <a:path w="10972800" h="2974848">
                  <a:moveTo>
                    <a:pt x="0" y="0"/>
                  </a:moveTo>
                  <a:lnTo>
                    <a:pt x="10972800" y="0"/>
                  </a:lnTo>
                  <a:lnTo>
                    <a:pt x="10972800" y="2974848"/>
                  </a:lnTo>
                  <a:lnTo>
                    <a:pt x="0" y="2974848"/>
                  </a:lnTo>
                  <a:close/>
                </a:path>
              </a:pathLst>
            </a:custGeom>
            <a:solidFill>
              <a:srgbClr val="252B42"/>
            </a:solidFill>
          </p:spPr>
          <p:txBody>
            <a:bodyPr/>
            <a:lstStyle/>
            <a:p>
              <a:endParaRPr lang="es-GT"/>
            </a:p>
          </p:txBody>
        </p:sp>
        <p:sp>
          <p:nvSpPr>
            <p:cNvPr id="72" name="Freeform 72"/>
            <p:cNvSpPr/>
            <p:nvPr/>
          </p:nvSpPr>
          <p:spPr>
            <a:xfrm>
              <a:off x="0" y="0"/>
              <a:ext cx="11006582" cy="3008630"/>
            </a:xfrm>
            <a:custGeom>
              <a:avLst/>
              <a:gdLst/>
              <a:ahLst/>
              <a:cxnLst/>
              <a:rect l="l" t="t" r="r" b="b"/>
              <a:pathLst>
                <a:path w="11006582" h="3008630">
                  <a:moveTo>
                    <a:pt x="16891" y="0"/>
                  </a:moveTo>
                  <a:lnTo>
                    <a:pt x="10989691" y="0"/>
                  </a:lnTo>
                  <a:cubicBezTo>
                    <a:pt x="10999089" y="0"/>
                    <a:pt x="11006582" y="7620"/>
                    <a:pt x="11006582" y="16891"/>
                  </a:cubicBezTo>
                  <a:lnTo>
                    <a:pt x="11006582" y="2991739"/>
                  </a:lnTo>
                  <a:cubicBezTo>
                    <a:pt x="11006582" y="3001137"/>
                    <a:pt x="10998962" y="3008630"/>
                    <a:pt x="10989691" y="3008630"/>
                  </a:cubicBezTo>
                  <a:lnTo>
                    <a:pt x="16891" y="3008630"/>
                  </a:lnTo>
                  <a:cubicBezTo>
                    <a:pt x="7493" y="3008630"/>
                    <a:pt x="0" y="3001010"/>
                    <a:pt x="0" y="2991739"/>
                  </a:cubicBezTo>
                  <a:lnTo>
                    <a:pt x="0" y="16891"/>
                  </a:lnTo>
                  <a:cubicBezTo>
                    <a:pt x="0" y="7620"/>
                    <a:pt x="7620" y="0"/>
                    <a:pt x="16891" y="0"/>
                  </a:cubicBezTo>
                  <a:moveTo>
                    <a:pt x="16891" y="33909"/>
                  </a:moveTo>
                  <a:lnTo>
                    <a:pt x="16891" y="16891"/>
                  </a:lnTo>
                  <a:lnTo>
                    <a:pt x="33909" y="16891"/>
                  </a:lnTo>
                  <a:lnTo>
                    <a:pt x="33909" y="2991739"/>
                  </a:lnTo>
                  <a:lnTo>
                    <a:pt x="16891" y="2991739"/>
                  </a:lnTo>
                  <a:lnTo>
                    <a:pt x="16891" y="2974848"/>
                  </a:lnTo>
                  <a:lnTo>
                    <a:pt x="10989691" y="2974848"/>
                  </a:lnTo>
                  <a:lnTo>
                    <a:pt x="10989691" y="2991739"/>
                  </a:lnTo>
                  <a:lnTo>
                    <a:pt x="10972800" y="2991739"/>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grpSp>
        <p:nvGrpSpPr>
          <p:cNvPr id="73" name="Group 73"/>
          <p:cNvGrpSpPr/>
          <p:nvPr/>
        </p:nvGrpSpPr>
        <p:grpSpPr>
          <a:xfrm>
            <a:off x="9497063" y="7503671"/>
            <a:ext cx="171707" cy="2256539"/>
            <a:chOff x="0" y="0"/>
            <a:chExt cx="228943" cy="3008719"/>
          </a:xfrm>
        </p:grpSpPr>
        <p:sp>
          <p:nvSpPr>
            <p:cNvPr id="74" name="Freeform 74"/>
            <p:cNvSpPr/>
            <p:nvPr/>
          </p:nvSpPr>
          <p:spPr>
            <a:xfrm>
              <a:off x="16891" y="16891"/>
              <a:ext cx="195072" cy="2974848"/>
            </a:xfrm>
            <a:custGeom>
              <a:avLst/>
              <a:gdLst/>
              <a:ahLst/>
              <a:cxnLst/>
              <a:rect l="l" t="t" r="r" b="b"/>
              <a:pathLst>
                <a:path w="195072" h="2974848">
                  <a:moveTo>
                    <a:pt x="0" y="0"/>
                  </a:moveTo>
                  <a:lnTo>
                    <a:pt x="195072" y="0"/>
                  </a:lnTo>
                  <a:lnTo>
                    <a:pt x="195072" y="2974848"/>
                  </a:lnTo>
                  <a:lnTo>
                    <a:pt x="0" y="2974848"/>
                  </a:lnTo>
                  <a:close/>
                </a:path>
              </a:pathLst>
            </a:custGeom>
            <a:solidFill>
              <a:srgbClr val="F0877A"/>
            </a:solidFill>
          </p:spPr>
          <p:txBody>
            <a:bodyPr/>
            <a:lstStyle/>
            <a:p>
              <a:endParaRPr lang="es-GT"/>
            </a:p>
          </p:txBody>
        </p:sp>
        <p:sp>
          <p:nvSpPr>
            <p:cNvPr id="75" name="Freeform 75"/>
            <p:cNvSpPr/>
            <p:nvPr/>
          </p:nvSpPr>
          <p:spPr>
            <a:xfrm>
              <a:off x="0" y="0"/>
              <a:ext cx="228854" cy="3008630"/>
            </a:xfrm>
            <a:custGeom>
              <a:avLst/>
              <a:gdLst/>
              <a:ahLst/>
              <a:cxnLst/>
              <a:rect l="l" t="t" r="r" b="b"/>
              <a:pathLst>
                <a:path w="228854" h="3008630">
                  <a:moveTo>
                    <a:pt x="16891" y="0"/>
                  </a:moveTo>
                  <a:lnTo>
                    <a:pt x="211963" y="0"/>
                  </a:lnTo>
                  <a:cubicBezTo>
                    <a:pt x="221361" y="0"/>
                    <a:pt x="228854" y="7620"/>
                    <a:pt x="228854" y="16891"/>
                  </a:cubicBezTo>
                  <a:lnTo>
                    <a:pt x="228854" y="2991739"/>
                  </a:lnTo>
                  <a:cubicBezTo>
                    <a:pt x="228854" y="3001137"/>
                    <a:pt x="221234" y="3008630"/>
                    <a:pt x="211963" y="3008630"/>
                  </a:cubicBezTo>
                  <a:lnTo>
                    <a:pt x="16891" y="3008630"/>
                  </a:lnTo>
                  <a:cubicBezTo>
                    <a:pt x="7493" y="3008630"/>
                    <a:pt x="0" y="3001010"/>
                    <a:pt x="0" y="2991739"/>
                  </a:cubicBezTo>
                  <a:lnTo>
                    <a:pt x="0" y="16891"/>
                  </a:lnTo>
                  <a:cubicBezTo>
                    <a:pt x="0" y="7620"/>
                    <a:pt x="7620" y="0"/>
                    <a:pt x="16891" y="0"/>
                  </a:cubicBezTo>
                  <a:moveTo>
                    <a:pt x="16891" y="33909"/>
                  </a:moveTo>
                  <a:lnTo>
                    <a:pt x="16891" y="16891"/>
                  </a:lnTo>
                  <a:lnTo>
                    <a:pt x="33909" y="16891"/>
                  </a:lnTo>
                  <a:lnTo>
                    <a:pt x="33909" y="2991739"/>
                  </a:lnTo>
                  <a:lnTo>
                    <a:pt x="16891" y="2991739"/>
                  </a:lnTo>
                  <a:lnTo>
                    <a:pt x="16891" y="2974848"/>
                  </a:lnTo>
                  <a:lnTo>
                    <a:pt x="211963" y="2974848"/>
                  </a:lnTo>
                  <a:lnTo>
                    <a:pt x="211963" y="2991739"/>
                  </a:lnTo>
                  <a:lnTo>
                    <a:pt x="195072" y="2991739"/>
                  </a:lnTo>
                  <a:lnTo>
                    <a:pt x="195072" y="16891"/>
                  </a:lnTo>
                  <a:lnTo>
                    <a:pt x="211963" y="16891"/>
                  </a:lnTo>
                  <a:lnTo>
                    <a:pt x="211963" y="33909"/>
                  </a:lnTo>
                  <a:lnTo>
                    <a:pt x="16891" y="33909"/>
                  </a:lnTo>
                  <a:close/>
                </a:path>
              </a:pathLst>
            </a:custGeom>
            <a:solidFill>
              <a:srgbClr val="F0877A"/>
            </a:solidFill>
          </p:spPr>
          <p:txBody>
            <a:bodyPr/>
            <a:lstStyle/>
            <a:p>
              <a:endParaRPr lang="es-GT"/>
            </a:p>
          </p:txBody>
        </p:sp>
      </p:grpSp>
      <p:grpSp>
        <p:nvGrpSpPr>
          <p:cNvPr id="76" name="Group 76"/>
          <p:cNvGrpSpPr/>
          <p:nvPr/>
        </p:nvGrpSpPr>
        <p:grpSpPr>
          <a:xfrm>
            <a:off x="9912096" y="7699248"/>
            <a:ext cx="7498080" cy="512064"/>
            <a:chOff x="0" y="0"/>
            <a:chExt cx="9997440" cy="682752"/>
          </a:xfrm>
        </p:grpSpPr>
        <p:sp>
          <p:nvSpPr>
            <p:cNvPr id="77" name="Freeform 77"/>
            <p:cNvSpPr/>
            <p:nvPr/>
          </p:nvSpPr>
          <p:spPr>
            <a:xfrm>
              <a:off x="0" y="0"/>
              <a:ext cx="9997440" cy="682752"/>
            </a:xfrm>
            <a:custGeom>
              <a:avLst/>
              <a:gdLst/>
              <a:ahLst/>
              <a:cxnLst/>
              <a:rect l="l" t="t" r="r" b="b"/>
              <a:pathLst>
                <a:path w="9997440" h="682752">
                  <a:moveTo>
                    <a:pt x="0" y="0"/>
                  </a:moveTo>
                  <a:lnTo>
                    <a:pt x="9997440" y="0"/>
                  </a:lnTo>
                  <a:lnTo>
                    <a:pt x="9997440" y="682752"/>
                  </a:lnTo>
                  <a:lnTo>
                    <a:pt x="0" y="682752"/>
                  </a:lnTo>
                  <a:close/>
                </a:path>
              </a:pathLst>
            </a:custGeom>
            <a:blipFill>
              <a:blip r:embed="rId3">
                <a:alphaModFix amt="0"/>
              </a:blip>
              <a:stretch>
                <a:fillRect t="-235316" b="-235316"/>
              </a:stretch>
            </a:blipFill>
          </p:spPr>
          <p:txBody>
            <a:bodyPr/>
            <a:lstStyle/>
            <a:p>
              <a:endParaRPr lang="es-GT"/>
            </a:p>
          </p:txBody>
        </p:sp>
        <p:sp>
          <p:nvSpPr>
            <p:cNvPr id="78" name="TextBox 78"/>
            <p:cNvSpPr txBox="1"/>
            <p:nvPr/>
          </p:nvSpPr>
          <p:spPr>
            <a:xfrm>
              <a:off x="0" y="-47625"/>
              <a:ext cx="9997440" cy="730377"/>
            </a:xfrm>
            <a:prstGeom prst="rect">
              <a:avLst/>
            </a:prstGeom>
          </p:spPr>
          <p:txBody>
            <a:bodyPr lIns="0" tIns="0" rIns="0" bIns="0" rtlCol="0" anchor="ctr"/>
            <a:lstStyle/>
            <a:p>
              <a:pPr algn="l">
                <a:lnSpc>
                  <a:spcPts val="2640"/>
                </a:lnSpc>
              </a:pPr>
              <a:r>
                <a:rPr lang="en-US" sz="2200" b="1">
                  <a:solidFill>
                    <a:srgbClr val="F0877A"/>
                  </a:solidFill>
                  <a:latin typeface="Calibri (MS) Bold"/>
                  <a:ea typeface="Calibri (MS) Bold"/>
                  <a:cs typeface="Calibri (MS) Bold"/>
                  <a:sym typeface="Calibri (MS) Bold"/>
                </a:rPr>
                <a:t>Inteligencia Artificial</a:t>
              </a:r>
            </a:p>
          </p:txBody>
        </p:sp>
      </p:grpSp>
      <p:sp>
        <p:nvSpPr>
          <p:cNvPr id="79" name="TextBox 79"/>
          <p:cNvSpPr txBox="1"/>
          <p:nvPr/>
        </p:nvSpPr>
        <p:spPr>
          <a:xfrm>
            <a:off x="10003536" y="8319135"/>
            <a:ext cx="7315200" cy="1047750"/>
          </a:xfrm>
          <a:prstGeom prst="rect">
            <a:avLst/>
          </a:prstGeom>
        </p:spPr>
        <p:txBody>
          <a:bodyPr lIns="0" tIns="0" rIns="0" bIns="0" rtlCol="0" anchor="t">
            <a:spAutoFit/>
          </a:bodyPr>
          <a:lstStyle/>
          <a:p>
            <a:pPr algn="l">
              <a:lnSpc>
                <a:spcPts val="2639"/>
              </a:lnSpc>
            </a:pPr>
            <a:r>
              <a:rPr lang="en-US" sz="2199">
                <a:solidFill>
                  <a:srgbClr val="FFFFFF"/>
                </a:solidFill>
                <a:latin typeface="Calibri (MS)"/>
                <a:ea typeface="Calibri (MS)"/>
                <a:cs typeface="Calibri (MS)"/>
                <a:sym typeface="Calibri (MS)"/>
              </a:rPr>
              <a:t>Backpropagation ajusta los pesos de redes neuronales aplicando la regla de la cadena para minimizar el error de predicción iterativamente.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E2235"/>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16891" y="16891"/>
              <a:ext cx="24383999" cy="1755648"/>
            </a:xfrm>
            <a:custGeom>
              <a:avLst/>
              <a:gdLst/>
              <a:ahLst/>
              <a:cxnLst/>
              <a:rect l="l" t="t" r="r" b="b"/>
              <a:pathLst>
                <a:path w="24383999" h="1755648">
                  <a:moveTo>
                    <a:pt x="0" y="0"/>
                  </a:moveTo>
                  <a:lnTo>
                    <a:pt x="24383999" y="0"/>
                  </a:lnTo>
                  <a:lnTo>
                    <a:pt x="24383999" y="1755648"/>
                  </a:lnTo>
                  <a:lnTo>
                    <a:pt x="0" y="1755648"/>
                  </a:lnTo>
                  <a:close/>
                </a:path>
              </a:pathLst>
            </a:custGeom>
            <a:solidFill>
              <a:srgbClr val="161929"/>
            </a:solidFill>
          </p:spPr>
          <p:txBody>
            <a:bodyPr/>
            <a:lstStyle/>
            <a:p>
              <a:endParaRPr lang="es-GT"/>
            </a:p>
          </p:txBody>
        </p:sp>
        <p:sp>
          <p:nvSpPr>
            <p:cNvPr id="4" name="Freeform 4"/>
            <p:cNvSpPr/>
            <p:nvPr/>
          </p:nvSpPr>
          <p:spPr>
            <a:xfrm>
              <a:off x="0" y="0"/>
              <a:ext cx="24417782" cy="1789430"/>
            </a:xfrm>
            <a:custGeom>
              <a:avLst/>
              <a:gdLst/>
              <a:ahLst/>
              <a:cxnLst/>
              <a:rect l="l" t="t" r="r" b="b"/>
              <a:pathLst>
                <a:path w="24417782" h="1789430">
                  <a:moveTo>
                    <a:pt x="16891" y="0"/>
                  </a:moveTo>
                  <a:lnTo>
                    <a:pt x="24400890" y="0"/>
                  </a:lnTo>
                  <a:cubicBezTo>
                    <a:pt x="24410290" y="0"/>
                    <a:pt x="24417782" y="7620"/>
                    <a:pt x="24417782" y="16891"/>
                  </a:cubicBezTo>
                  <a:lnTo>
                    <a:pt x="24417782" y="1772539"/>
                  </a:lnTo>
                  <a:cubicBezTo>
                    <a:pt x="24417782" y="1781937"/>
                    <a:pt x="24410163" y="1789430"/>
                    <a:pt x="24400890"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24400890" y="1755648"/>
                  </a:lnTo>
                  <a:lnTo>
                    <a:pt x="24400890" y="1772539"/>
                  </a:lnTo>
                  <a:lnTo>
                    <a:pt x="24384000" y="1772539"/>
                  </a:lnTo>
                  <a:lnTo>
                    <a:pt x="24384000" y="16891"/>
                  </a:lnTo>
                  <a:lnTo>
                    <a:pt x="24400890" y="16891"/>
                  </a:lnTo>
                  <a:lnTo>
                    <a:pt x="24400890" y="33909"/>
                  </a:lnTo>
                  <a:lnTo>
                    <a:pt x="16891" y="33909"/>
                  </a:lnTo>
                  <a:close/>
                </a:path>
              </a:pathLst>
            </a:custGeom>
            <a:solidFill>
              <a:srgbClr val="161929"/>
            </a:solidFill>
          </p:spPr>
          <p:txBody>
            <a:bodyPr/>
            <a:lstStyle/>
            <a:p>
              <a:endParaRPr lang="es-GT"/>
            </a:p>
          </p:txBody>
        </p:sp>
      </p:grpSp>
      <p:grpSp>
        <p:nvGrpSpPr>
          <p:cNvPr id="5" name="Group 5"/>
          <p:cNvGrpSpPr/>
          <p:nvPr/>
        </p:nvGrpSpPr>
        <p:grpSpPr>
          <a:xfrm>
            <a:off x="-12697" y="1304039"/>
            <a:ext cx="18313403" cy="98555"/>
            <a:chOff x="0" y="0"/>
            <a:chExt cx="24417871" cy="131407"/>
          </a:xfrm>
        </p:grpSpPr>
        <p:sp>
          <p:nvSpPr>
            <p:cNvPr id="6" name="Freeform 6"/>
            <p:cNvSpPr/>
            <p:nvPr/>
          </p:nvSpPr>
          <p:spPr>
            <a:xfrm>
              <a:off x="16891" y="16891"/>
              <a:ext cx="24383999" cy="97536"/>
            </a:xfrm>
            <a:custGeom>
              <a:avLst/>
              <a:gdLst/>
              <a:ahLst/>
              <a:cxnLst/>
              <a:rect l="l" t="t" r="r" b="b"/>
              <a:pathLst>
                <a:path w="24383999" h="97536">
                  <a:moveTo>
                    <a:pt x="0" y="0"/>
                  </a:moveTo>
                  <a:lnTo>
                    <a:pt x="24383999" y="0"/>
                  </a:lnTo>
                  <a:lnTo>
                    <a:pt x="24383999" y="97536"/>
                  </a:lnTo>
                  <a:lnTo>
                    <a:pt x="0" y="97536"/>
                  </a:lnTo>
                  <a:close/>
                </a:path>
              </a:pathLst>
            </a:custGeom>
            <a:solidFill>
              <a:srgbClr val="5B8CFF"/>
            </a:solidFill>
          </p:spPr>
          <p:txBody>
            <a:bodyPr/>
            <a:lstStyle/>
            <a:p>
              <a:endParaRPr lang="es-GT"/>
            </a:p>
          </p:txBody>
        </p:sp>
        <p:sp>
          <p:nvSpPr>
            <p:cNvPr id="7" name="Freeform 7"/>
            <p:cNvSpPr/>
            <p:nvPr/>
          </p:nvSpPr>
          <p:spPr>
            <a:xfrm>
              <a:off x="0" y="0"/>
              <a:ext cx="24417782" cy="131320"/>
            </a:xfrm>
            <a:custGeom>
              <a:avLst/>
              <a:gdLst/>
              <a:ahLst/>
              <a:cxnLst/>
              <a:rect l="l" t="t" r="r" b="b"/>
              <a:pathLst>
                <a:path w="24417782" h="131320">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5B8CFF"/>
            </a:solidFill>
          </p:spPr>
          <p:txBody>
            <a:bodyPr/>
            <a:lstStyle/>
            <a:p>
              <a:endParaRPr lang="es-GT"/>
            </a:p>
          </p:txBody>
        </p:sp>
      </p:grpSp>
      <p:grpSp>
        <p:nvGrpSpPr>
          <p:cNvPr id="8" name="Group 8"/>
          <p:cNvGrpSpPr/>
          <p:nvPr/>
        </p:nvGrpSpPr>
        <p:grpSpPr>
          <a:xfrm>
            <a:off x="822960" y="0"/>
            <a:ext cx="16642080" cy="1316736"/>
            <a:chOff x="0" y="0"/>
            <a:chExt cx="22189440" cy="1755648"/>
          </a:xfrm>
        </p:grpSpPr>
        <p:sp>
          <p:nvSpPr>
            <p:cNvPr id="9" name="Freeform 9"/>
            <p:cNvSpPr/>
            <p:nvPr/>
          </p:nvSpPr>
          <p:spPr>
            <a:xfrm>
              <a:off x="0" y="0"/>
              <a:ext cx="22189439" cy="1755648"/>
            </a:xfrm>
            <a:custGeom>
              <a:avLst/>
              <a:gdLst/>
              <a:ahLst/>
              <a:cxnLst/>
              <a:rect l="l" t="t" r="r" b="b"/>
              <a:pathLst>
                <a:path w="22189439" h="1755648">
                  <a:moveTo>
                    <a:pt x="0" y="0"/>
                  </a:moveTo>
                  <a:lnTo>
                    <a:pt x="22189439" y="0"/>
                  </a:lnTo>
                  <a:lnTo>
                    <a:pt x="22189439" y="1755648"/>
                  </a:lnTo>
                  <a:lnTo>
                    <a:pt x="0" y="1755648"/>
                  </a:lnTo>
                  <a:close/>
                </a:path>
              </a:pathLst>
            </a:custGeom>
            <a:blipFill>
              <a:blip r:embed="rId3">
                <a:alphaModFix amt="0"/>
              </a:blip>
              <a:stretch>
                <a:fillRect t="-196269" b="-196269"/>
              </a:stretch>
            </a:blipFill>
          </p:spPr>
          <p:txBody>
            <a:bodyPr/>
            <a:lstStyle/>
            <a:p>
              <a:endParaRPr lang="es-GT"/>
            </a:p>
          </p:txBody>
        </p:sp>
        <p:sp>
          <p:nvSpPr>
            <p:cNvPr id="10" name="TextBox 10"/>
            <p:cNvSpPr txBox="1"/>
            <p:nvPr/>
          </p:nvSpPr>
          <p:spPr>
            <a:xfrm>
              <a:off x="0" y="-76200"/>
              <a:ext cx="22189440" cy="1831848"/>
            </a:xfrm>
            <a:prstGeom prst="rect">
              <a:avLst/>
            </a:prstGeom>
          </p:spPr>
          <p:txBody>
            <a:bodyPr lIns="0" tIns="0" rIns="0" bIns="0" rtlCol="0" anchor="ctr"/>
            <a:lstStyle/>
            <a:p>
              <a:pPr algn="l">
                <a:lnSpc>
                  <a:spcPts val="5280"/>
                </a:lnSpc>
              </a:pPr>
              <a:r>
                <a:rPr lang="en-US" sz="4400" b="1">
                  <a:solidFill>
                    <a:srgbClr val="FFFFFF"/>
                  </a:solidFill>
                  <a:latin typeface="Calibri (MS) Bold"/>
                  <a:ea typeface="Calibri (MS) Bold"/>
                  <a:cs typeface="Calibri (MS) Bold"/>
                  <a:sym typeface="Calibri (MS) Bold"/>
                </a:rPr>
                <a:t>El límite de la estructura secuencial pura</a:t>
              </a:r>
            </a:p>
          </p:txBody>
        </p:sp>
      </p:grpSp>
      <p:grpSp>
        <p:nvGrpSpPr>
          <p:cNvPr id="11" name="Group 11"/>
          <p:cNvGrpSpPr/>
          <p:nvPr/>
        </p:nvGrpSpPr>
        <p:grpSpPr>
          <a:xfrm>
            <a:off x="-12697" y="9954263"/>
            <a:ext cx="18313403" cy="345443"/>
            <a:chOff x="0" y="0"/>
            <a:chExt cx="24417871" cy="460591"/>
          </a:xfrm>
        </p:grpSpPr>
        <p:sp>
          <p:nvSpPr>
            <p:cNvPr id="12" name="Freeform 12"/>
            <p:cNvSpPr/>
            <p:nvPr/>
          </p:nvSpPr>
          <p:spPr>
            <a:xfrm>
              <a:off x="16891" y="16891"/>
              <a:ext cx="24383999" cy="426720"/>
            </a:xfrm>
            <a:custGeom>
              <a:avLst/>
              <a:gdLst/>
              <a:ahLst/>
              <a:cxnLst/>
              <a:rect l="l" t="t" r="r" b="b"/>
              <a:pathLst>
                <a:path w="24383999" h="426720">
                  <a:moveTo>
                    <a:pt x="0" y="0"/>
                  </a:moveTo>
                  <a:lnTo>
                    <a:pt x="24383999" y="0"/>
                  </a:lnTo>
                  <a:lnTo>
                    <a:pt x="24383999" y="426720"/>
                  </a:lnTo>
                  <a:lnTo>
                    <a:pt x="0" y="426720"/>
                  </a:lnTo>
                  <a:close/>
                </a:path>
              </a:pathLst>
            </a:custGeom>
            <a:solidFill>
              <a:srgbClr val="12152A"/>
            </a:solidFill>
          </p:spPr>
          <p:txBody>
            <a:bodyPr/>
            <a:lstStyle/>
            <a:p>
              <a:endParaRPr lang="es-GT"/>
            </a:p>
          </p:txBody>
        </p:sp>
        <p:sp>
          <p:nvSpPr>
            <p:cNvPr id="13" name="Freeform 13"/>
            <p:cNvSpPr/>
            <p:nvPr/>
          </p:nvSpPr>
          <p:spPr>
            <a:xfrm>
              <a:off x="0" y="0"/>
              <a:ext cx="24417782" cy="460504"/>
            </a:xfrm>
            <a:custGeom>
              <a:avLst/>
              <a:gdLst/>
              <a:ahLst/>
              <a:cxnLst/>
              <a:rect l="l" t="t" r="r" b="b"/>
              <a:pathLst>
                <a:path w="24417782" h="460504">
                  <a:moveTo>
                    <a:pt x="16891" y="0"/>
                  </a:moveTo>
                  <a:lnTo>
                    <a:pt x="24400890" y="0"/>
                  </a:lnTo>
                  <a:cubicBezTo>
                    <a:pt x="24410290" y="0"/>
                    <a:pt x="24417782" y="7620"/>
                    <a:pt x="24417782" y="16891"/>
                  </a:cubicBezTo>
                  <a:lnTo>
                    <a:pt x="24417782" y="443611"/>
                  </a:lnTo>
                  <a:cubicBezTo>
                    <a:pt x="24417782" y="453009"/>
                    <a:pt x="24410163" y="460502"/>
                    <a:pt x="24400890" y="460502"/>
                  </a:cubicBezTo>
                  <a:lnTo>
                    <a:pt x="16891" y="460502"/>
                  </a:lnTo>
                  <a:cubicBezTo>
                    <a:pt x="7620" y="460629"/>
                    <a:pt x="0" y="453009"/>
                    <a:pt x="0" y="443611"/>
                  </a:cubicBezTo>
                  <a:lnTo>
                    <a:pt x="0" y="16891"/>
                  </a:lnTo>
                  <a:cubicBezTo>
                    <a:pt x="0" y="7620"/>
                    <a:pt x="7620" y="0"/>
                    <a:pt x="16891" y="0"/>
                  </a:cubicBezTo>
                  <a:moveTo>
                    <a:pt x="16891" y="33909"/>
                  </a:moveTo>
                  <a:lnTo>
                    <a:pt x="16891" y="16891"/>
                  </a:lnTo>
                  <a:lnTo>
                    <a:pt x="33909" y="16891"/>
                  </a:lnTo>
                  <a:lnTo>
                    <a:pt x="33909" y="443611"/>
                  </a:lnTo>
                  <a:lnTo>
                    <a:pt x="16891" y="443611"/>
                  </a:lnTo>
                  <a:lnTo>
                    <a:pt x="16891" y="426720"/>
                  </a:lnTo>
                  <a:lnTo>
                    <a:pt x="24400890" y="426720"/>
                  </a:lnTo>
                  <a:lnTo>
                    <a:pt x="24400890" y="443611"/>
                  </a:lnTo>
                  <a:lnTo>
                    <a:pt x="24384000" y="443611"/>
                  </a:lnTo>
                  <a:lnTo>
                    <a:pt x="24384000" y="16891"/>
                  </a:lnTo>
                  <a:lnTo>
                    <a:pt x="24400890" y="16891"/>
                  </a:lnTo>
                  <a:lnTo>
                    <a:pt x="24400890" y="33909"/>
                  </a:lnTo>
                  <a:lnTo>
                    <a:pt x="16891" y="33909"/>
                  </a:lnTo>
                  <a:close/>
                </a:path>
              </a:pathLst>
            </a:custGeom>
            <a:solidFill>
              <a:srgbClr val="12152A"/>
            </a:solidFill>
          </p:spPr>
          <p:txBody>
            <a:bodyPr/>
            <a:lstStyle/>
            <a:p>
              <a:endParaRPr lang="es-GT"/>
            </a:p>
          </p:txBody>
        </p:sp>
      </p:grpSp>
      <p:grpSp>
        <p:nvGrpSpPr>
          <p:cNvPr id="14" name="Group 14"/>
          <p:cNvGrpSpPr/>
          <p:nvPr/>
        </p:nvGrpSpPr>
        <p:grpSpPr>
          <a:xfrm>
            <a:off x="17007840" y="9966960"/>
            <a:ext cx="914400" cy="320040"/>
            <a:chOff x="0" y="0"/>
            <a:chExt cx="1219200" cy="426720"/>
          </a:xfrm>
        </p:grpSpPr>
        <p:sp>
          <p:nvSpPr>
            <p:cNvPr id="15" name="Freeform 15"/>
            <p:cNvSpPr/>
            <p:nvPr/>
          </p:nvSpPr>
          <p:spPr>
            <a:xfrm>
              <a:off x="0" y="0"/>
              <a:ext cx="1219200" cy="426720"/>
            </a:xfrm>
            <a:custGeom>
              <a:avLst/>
              <a:gdLst/>
              <a:ahLst/>
              <a:cxnLst/>
              <a:rect l="l" t="t" r="r" b="b"/>
              <a:pathLst>
                <a:path w="1219200" h="426720">
                  <a:moveTo>
                    <a:pt x="0" y="0"/>
                  </a:moveTo>
                  <a:lnTo>
                    <a:pt x="1219200" y="0"/>
                  </a:lnTo>
                  <a:lnTo>
                    <a:pt x="1219200" y="426720"/>
                  </a:lnTo>
                  <a:lnTo>
                    <a:pt x="0" y="426720"/>
                  </a:lnTo>
                  <a:close/>
                </a:path>
              </a:pathLst>
            </a:custGeom>
            <a:blipFill>
              <a:blip r:embed="rId3">
                <a:alphaModFix amt="0"/>
              </a:blip>
              <a:stretch>
                <a:fillRect t="-5671" b="-5671"/>
              </a:stretch>
            </a:blipFill>
          </p:spPr>
          <p:txBody>
            <a:bodyPr/>
            <a:lstStyle/>
            <a:p>
              <a:endParaRPr lang="es-GT"/>
            </a:p>
          </p:txBody>
        </p:sp>
        <p:sp>
          <p:nvSpPr>
            <p:cNvPr id="16" name="TextBox 16"/>
            <p:cNvSpPr txBox="1"/>
            <p:nvPr/>
          </p:nvSpPr>
          <p:spPr>
            <a:xfrm>
              <a:off x="0" y="-38100"/>
              <a:ext cx="1219200" cy="464820"/>
            </a:xfrm>
            <a:prstGeom prst="rect">
              <a:avLst/>
            </a:prstGeom>
          </p:spPr>
          <p:txBody>
            <a:bodyPr lIns="0" tIns="0" rIns="0" bIns="0" rtlCol="0" anchor="ctr"/>
            <a:lstStyle/>
            <a:p>
              <a:pPr algn="r">
                <a:lnSpc>
                  <a:spcPts val="1800"/>
                </a:lnSpc>
              </a:pPr>
              <a:r>
                <a:rPr lang="en-US" sz="1500">
                  <a:solidFill>
                    <a:srgbClr val="6E7A9F"/>
                  </a:solidFill>
                  <a:latin typeface="Calibri (MS)"/>
                  <a:ea typeface="Calibri (MS)"/>
                  <a:cs typeface="Calibri (MS)"/>
                  <a:sym typeface="Calibri (MS)"/>
                </a:rPr>
                <a:t>27</a:t>
              </a:r>
            </a:p>
          </p:txBody>
        </p:sp>
      </p:grpSp>
      <p:grpSp>
        <p:nvGrpSpPr>
          <p:cNvPr id="17" name="Group 17"/>
          <p:cNvGrpSpPr/>
          <p:nvPr/>
        </p:nvGrpSpPr>
        <p:grpSpPr>
          <a:xfrm>
            <a:off x="731520" y="1554480"/>
            <a:ext cx="16824960" cy="731520"/>
            <a:chOff x="0" y="0"/>
            <a:chExt cx="22433280" cy="975360"/>
          </a:xfrm>
        </p:grpSpPr>
        <p:sp>
          <p:nvSpPr>
            <p:cNvPr id="18" name="Freeform 18"/>
            <p:cNvSpPr/>
            <p:nvPr/>
          </p:nvSpPr>
          <p:spPr>
            <a:xfrm>
              <a:off x="0" y="0"/>
              <a:ext cx="22433280" cy="975360"/>
            </a:xfrm>
            <a:custGeom>
              <a:avLst/>
              <a:gdLst/>
              <a:ahLst/>
              <a:cxnLst/>
              <a:rect l="l" t="t" r="r" b="b"/>
              <a:pathLst>
                <a:path w="22433280" h="975360">
                  <a:moveTo>
                    <a:pt x="0" y="0"/>
                  </a:moveTo>
                  <a:lnTo>
                    <a:pt x="22433280" y="0"/>
                  </a:lnTo>
                  <a:lnTo>
                    <a:pt x="22433280" y="975360"/>
                  </a:lnTo>
                  <a:lnTo>
                    <a:pt x="0" y="975360"/>
                  </a:lnTo>
                  <a:close/>
                </a:path>
              </a:pathLst>
            </a:custGeom>
            <a:blipFill>
              <a:blip r:embed="rId3">
                <a:alphaModFix amt="0"/>
              </a:blip>
              <a:stretch>
                <a:fillRect t="-398155" b="-398155"/>
              </a:stretch>
            </a:blipFill>
          </p:spPr>
          <p:txBody>
            <a:bodyPr/>
            <a:lstStyle/>
            <a:p>
              <a:endParaRPr lang="es-GT"/>
            </a:p>
          </p:txBody>
        </p:sp>
        <p:sp>
          <p:nvSpPr>
            <p:cNvPr id="19" name="TextBox 19"/>
            <p:cNvSpPr txBox="1"/>
            <p:nvPr/>
          </p:nvSpPr>
          <p:spPr>
            <a:xfrm>
              <a:off x="0" y="-47625"/>
              <a:ext cx="22433280" cy="1022985"/>
            </a:xfrm>
            <a:prstGeom prst="rect">
              <a:avLst/>
            </a:prstGeom>
          </p:spPr>
          <p:txBody>
            <a:bodyPr lIns="0" tIns="0" rIns="0" bIns="0" rtlCol="0" anchor="ctr"/>
            <a:lstStyle/>
            <a:p>
              <a:pPr algn="l">
                <a:lnSpc>
                  <a:spcPts val="2520"/>
                </a:lnSpc>
              </a:pPr>
              <a:r>
                <a:rPr lang="en-US" sz="2100">
                  <a:solidFill>
                    <a:srgbClr val="B0B8CC"/>
                  </a:solidFill>
                  <a:latin typeface="Calibri (MS)"/>
                  <a:ea typeface="Calibri (MS)"/>
                  <a:cs typeface="Calibri (MS)"/>
                  <a:sym typeface="Calibri (MS)"/>
                </a:rPr>
                <a:t>La secuencia es el bloque de construcción fundamental de todo algoritmo. Sin embargo, presenta limitaciones concretas cuando el problema escala en complejidad:</a:t>
              </a:r>
            </a:p>
          </p:txBody>
        </p:sp>
      </p:grpSp>
      <p:grpSp>
        <p:nvGrpSpPr>
          <p:cNvPr id="20" name="Group 20"/>
          <p:cNvGrpSpPr/>
          <p:nvPr/>
        </p:nvGrpSpPr>
        <p:grpSpPr>
          <a:xfrm>
            <a:off x="718823" y="2511047"/>
            <a:ext cx="8255003" cy="7249163"/>
            <a:chOff x="0" y="0"/>
            <a:chExt cx="11006671" cy="9665551"/>
          </a:xfrm>
        </p:grpSpPr>
        <p:sp>
          <p:nvSpPr>
            <p:cNvPr id="21" name="Freeform 21"/>
            <p:cNvSpPr/>
            <p:nvPr/>
          </p:nvSpPr>
          <p:spPr>
            <a:xfrm>
              <a:off x="16891" y="16891"/>
              <a:ext cx="10972800" cy="9631681"/>
            </a:xfrm>
            <a:custGeom>
              <a:avLst/>
              <a:gdLst/>
              <a:ahLst/>
              <a:cxnLst/>
              <a:rect l="l" t="t" r="r" b="b"/>
              <a:pathLst>
                <a:path w="10972800" h="9631681">
                  <a:moveTo>
                    <a:pt x="0" y="0"/>
                  </a:moveTo>
                  <a:lnTo>
                    <a:pt x="10972800" y="0"/>
                  </a:lnTo>
                  <a:lnTo>
                    <a:pt x="10972800" y="9631681"/>
                  </a:lnTo>
                  <a:lnTo>
                    <a:pt x="0" y="9631681"/>
                  </a:lnTo>
                  <a:close/>
                </a:path>
              </a:pathLst>
            </a:custGeom>
            <a:solidFill>
              <a:srgbClr val="252B42"/>
            </a:solidFill>
          </p:spPr>
          <p:txBody>
            <a:bodyPr/>
            <a:lstStyle/>
            <a:p>
              <a:endParaRPr lang="es-GT"/>
            </a:p>
          </p:txBody>
        </p:sp>
        <p:sp>
          <p:nvSpPr>
            <p:cNvPr id="22" name="Freeform 22"/>
            <p:cNvSpPr/>
            <p:nvPr/>
          </p:nvSpPr>
          <p:spPr>
            <a:xfrm>
              <a:off x="0" y="0"/>
              <a:ext cx="11006582" cy="9665462"/>
            </a:xfrm>
            <a:custGeom>
              <a:avLst/>
              <a:gdLst/>
              <a:ahLst/>
              <a:cxnLst/>
              <a:rect l="l" t="t" r="r" b="b"/>
              <a:pathLst>
                <a:path w="11006582" h="9665462">
                  <a:moveTo>
                    <a:pt x="16891" y="0"/>
                  </a:moveTo>
                  <a:lnTo>
                    <a:pt x="10989691" y="0"/>
                  </a:lnTo>
                  <a:cubicBezTo>
                    <a:pt x="10999089" y="0"/>
                    <a:pt x="11006582" y="7620"/>
                    <a:pt x="11006582" y="16891"/>
                  </a:cubicBezTo>
                  <a:lnTo>
                    <a:pt x="11006582" y="9648572"/>
                  </a:lnTo>
                  <a:cubicBezTo>
                    <a:pt x="11006582" y="9657969"/>
                    <a:pt x="10998962" y="9665462"/>
                    <a:pt x="10989691" y="9665462"/>
                  </a:cubicBezTo>
                  <a:lnTo>
                    <a:pt x="16891" y="9665462"/>
                  </a:lnTo>
                  <a:cubicBezTo>
                    <a:pt x="7493" y="9665462"/>
                    <a:pt x="0" y="9657842"/>
                    <a:pt x="0" y="9648572"/>
                  </a:cubicBezTo>
                  <a:lnTo>
                    <a:pt x="0" y="16891"/>
                  </a:lnTo>
                  <a:cubicBezTo>
                    <a:pt x="0" y="7620"/>
                    <a:pt x="7620" y="0"/>
                    <a:pt x="16891" y="0"/>
                  </a:cubicBezTo>
                  <a:moveTo>
                    <a:pt x="16891" y="33909"/>
                  </a:moveTo>
                  <a:lnTo>
                    <a:pt x="16891" y="16891"/>
                  </a:lnTo>
                  <a:lnTo>
                    <a:pt x="33909" y="16891"/>
                  </a:lnTo>
                  <a:lnTo>
                    <a:pt x="33909" y="9648572"/>
                  </a:lnTo>
                  <a:lnTo>
                    <a:pt x="16891" y="9648572"/>
                  </a:lnTo>
                  <a:lnTo>
                    <a:pt x="16891" y="9631680"/>
                  </a:lnTo>
                  <a:lnTo>
                    <a:pt x="10989691" y="9631680"/>
                  </a:lnTo>
                  <a:lnTo>
                    <a:pt x="10989691" y="9648572"/>
                  </a:lnTo>
                  <a:lnTo>
                    <a:pt x="10972800" y="9648572"/>
                  </a:lnTo>
                  <a:lnTo>
                    <a:pt x="10972800" y="16891"/>
                  </a:lnTo>
                  <a:lnTo>
                    <a:pt x="10989691" y="16891"/>
                  </a:lnTo>
                  <a:lnTo>
                    <a:pt x="10989691" y="33909"/>
                  </a:lnTo>
                  <a:lnTo>
                    <a:pt x="16891" y="33909"/>
                  </a:lnTo>
                  <a:close/>
                </a:path>
              </a:pathLst>
            </a:custGeom>
            <a:solidFill>
              <a:srgbClr val="F0877A"/>
            </a:solidFill>
          </p:spPr>
          <p:txBody>
            <a:bodyPr/>
            <a:lstStyle/>
            <a:p>
              <a:endParaRPr lang="es-GT"/>
            </a:p>
          </p:txBody>
        </p:sp>
      </p:grpSp>
      <p:grpSp>
        <p:nvGrpSpPr>
          <p:cNvPr id="23" name="Group 23"/>
          <p:cNvGrpSpPr/>
          <p:nvPr/>
        </p:nvGrpSpPr>
        <p:grpSpPr>
          <a:xfrm>
            <a:off x="718823" y="2511047"/>
            <a:ext cx="8255003" cy="848363"/>
            <a:chOff x="0" y="0"/>
            <a:chExt cx="11006671" cy="1131151"/>
          </a:xfrm>
        </p:grpSpPr>
        <p:sp>
          <p:nvSpPr>
            <p:cNvPr id="24" name="Freeform 24"/>
            <p:cNvSpPr/>
            <p:nvPr/>
          </p:nvSpPr>
          <p:spPr>
            <a:xfrm>
              <a:off x="16891" y="16891"/>
              <a:ext cx="10972800" cy="1097280"/>
            </a:xfrm>
            <a:custGeom>
              <a:avLst/>
              <a:gdLst/>
              <a:ahLst/>
              <a:cxnLst/>
              <a:rect l="l" t="t" r="r" b="b"/>
              <a:pathLst>
                <a:path w="10972800" h="1097280">
                  <a:moveTo>
                    <a:pt x="0" y="0"/>
                  </a:moveTo>
                  <a:lnTo>
                    <a:pt x="10972800" y="0"/>
                  </a:lnTo>
                  <a:lnTo>
                    <a:pt x="10972800" y="1097280"/>
                  </a:lnTo>
                  <a:lnTo>
                    <a:pt x="0" y="1097280"/>
                  </a:lnTo>
                  <a:close/>
                </a:path>
              </a:pathLst>
            </a:custGeom>
            <a:solidFill>
              <a:srgbClr val="3A1A1A"/>
            </a:solidFill>
          </p:spPr>
          <p:txBody>
            <a:bodyPr/>
            <a:lstStyle/>
            <a:p>
              <a:endParaRPr lang="es-GT"/>
            </a:p>
          </p:txBody>
        </p:sp>
        <p:sp>
          <p:nvSpPr>
            <p:cNvPr id="25" name="Freeform 25"/>
            <p:cNvSpPr/>
            <p:nvPr/>
          </p:nvSpPr>
          <p:spPr>
            <a:xfrm>
              <a:off x="0" y="0"/>
              <a:ext cx="11006582" cy="1131064"/>
            </a:xfrm>
            <a:custGeom>
              <a:avLst/>
              <a:gdLst/>
              <a:ahLst/>
              <a:cxnLst/>
              <a:rect l="l" t="t" r="r" b="b"/>
              <a:pathLst>
                <a:path w="11006582" h="1131064">
                  <a:moveTo>
                    <a:pt x="16891" y="0"/>
                  </a:moveTo>
                  <a:lnTo>
                    <a:pt x="10989691" y="0"/>
                  </a:lnTo>
                  <a:cubicBezTo>
                    <a:pt x="10999089" y="0"/>
                    <a:pt x="11006582" y="7620"/>
                    <a:pt x="11006582" y="16891"/>
                  </a:cubicBezTo>
                  <a:lnTo>
                    <a:pt x="11006582" y="1114171"/>
                  </a:lnTo>
                  <a:cubicBezTo>
                    <a:pt x="11006582" y="1123569"/>
                    <a:pt x="10998962" y="1131062"/>
                    <a:pt x="1098969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10989691" y="1097280"/>
                  </a:lnTo>
                  <a:lnTo>
                    <a:pt x="10989691" y="1114171"/>
                  </a:lnTo>
                  <a:lnTo>
                    <a:pt x="10972800" y="1114171"/>
                  </a:lnTo>
                  <a:lnTo>
                    <a:pt x="10972800" y="16891"/>
                  </a:lnTo>
                  <a:lnTo>
                    <a:pt x="10989691" y="16891"/>
                  </a:lnTo>
                  <a:lnTo>
                    <a:pt x="10989691" y="33909"/>
                  </a:lnTo>
                  <a:lnTo>
                    <a:pt x="16891" y="33909"/>
                  </a:lnTo>
                  <a:close/>
                </a:path>
              </a:pathLst>
            </a:custGeom>
            <a:solidFill>
              <a:srgbClr val="F0877A"/>
            </a:solidFill>
          </p:spPr>
          <p:txBody>
            <a:bodyPr/>
            <a:lstStyle/>
            <a:p>
              <a:endParaRPr lang="es-GT"/>
            </a:p>
          </p:txBody>
        </p:sp>
      </p:grpSp>
      <p:grpSp>
        <p:nvGrpSpPr>
          <p:cNvPr id="26" name="Group 26"/>
          <p:cNvGrpSpPr/>
          <p:nvPr/>
        </p:nvGrpSpPr>
        <p:grpSpPr>
          <a:xfrm>
            <a:off x="1005840" y="2615184"/>
            <a:ext cx="7680960" cy="585216"/>
            <a:chOff x="0" y="0"/>
            <a:chExt cx="10241280" cy="780288"/>
          </a:xfrm>
        </p:grpSpPr>
        <p:sp>
          <p:nvSpPr>
            <p:cNvPr id="27" name="Freeform 27"/>
            <p:cNvSpPr/>
            <p:nvPr/>
          </p:nvSpPr>
          <p:spPr>
            <a:xfrm>
              <a:off x="0" y="0"/>
              <a:ext cx="10241280" cy="780288"/>
            </a:xfrm>
            <a:custGeom>
              <a:avLst/>
              <a:gdLst/>
              <a:ahLst/>
              <a:cxnLst/>
              <a:rect l="l" t="t" r="r" b="b"/>
              <a:pathLst>
                <a:path w="10241280" h="780288">
                  <a:moveTo>
                    <a:pt x="0" y="0"/>
                  </a:moveTo>
                  <a:lnTo>
                    <a:pt x="10241280" y="0"/>
                  </a:lnTo>
                  <a:lnTo>
                    <a:pt x="10241280" y="780288"/>
                  </a:lnTo>
                  <a:lnTo>
                    <a:pt x="0" y="780288"/>
                  </a:lnTo>
                  <a:close/>
                </a:path>
              </a:pathLst>
            </a:custGeom>
            <a:blipFill>
              <a:blip r:embed="rId3">
                <a:alphaModFix amt="0"/>
              </a:blip>
              <a:stretch>
                <a:fillRect t="-205741" b="-205741"/>
              </a:stretch>
            </a:blipFill>
          </p:spPr>
          <p:txBody>
            <a:bodyPr/>
            <a:lstStyle/>
            <a:p>
              <a:endParaRPr lang="es-GT"/>
            </a:p>
          </p:txBody>
        </p:sp>
        <p:sp>
          <p:nvSpPr>
            <p:cNvPr id="28" name="TextBox 28"/>
            <p:cNvSpPr txBox="1"/>
            <p:nvPr/>
          </p:nvSpPr>
          <p:spPr>
            <a:xfrm>
              <a:off x="0" y="-47625"/>
              <a:ext cx="10241280" cy="827913"/>
            </a:xfrm>
            <a:prstGeom prst="rect">
              <a:avLst/>
            </a:prstGeom>
          </p:spPr>
          <p:txBody>
            <a:bodyPr lIns="0" tIns="0" rIns="0" bIns="0" rtlCol="0" anchor="ctr"/>
            <a:lstStyle/>
            <a:p>
              <a:pPr algn="l">
                <a:lnSpc>
                  <a:spcPts val="2640"/>
                </a:lnSpc>
              </a:pPr>
              <a:r>
                <a:rPr lang="en-US" sz="2200" b="1">
                  <a:solidFill>
                    <a:srgbClr val="F0877A"/>
                  </a:solidFill>
                  <a:latin typeface="Calibri (MS) Bold"/>
                  <a:ea typeface="Calibri (MS) Bold"/>
                  <a:cs typeface="Calibri (MS) Bold"/>
                  <a:sym typeface="Calibri (MS) Bold"/>
                </a:rPr>
                <a:t>Secuencia pura – Problemas</a:t>
              </a:r>
            </a:p>
          </p:txBody>
        </p:sp>
      </p:grpSp>
      <p:grpSp>
        <p:nvGrpSpPr>
          <p:cNvPr id="29" name="Group 29"/>
          <p:cNvGrpSpPr/>
          <p:nvPr/>
        </p:nvGrpSpPr>
        <p:grpSpPr>
          <a:xfrm>
            <a:off x="1060704" y="3566160"/>
            <a:ext cx="7589520" cy="457200"/>
            <a:chOff x="0" y="0"/>
            <a:chExt cx="10119360" cy="609600"/>
          </a:xfrm>
        </p:grpSpPr>
        <p:sp>
          <p:nvSpPr>
            <p:cNvPr id="30" name="Freeform 30"/>
            <p:cNvSpPr/>
            <p:nvPr/>
          </p:nvSpPr>
          <p:spPr>
            <a:xfrm>
              <a:off x="0" y="0"/>
              <a:ext cx="10119360" cy="609600"/>
            </a:xfrm>
            <a:custGeom>
              <a:avLst/>
              <a:gdLst/>
              <a:ahLst/>
              <a:cxnLst/>
              <a:rect l="l" t="t" r="r" b="b"/>
              <a:pathLst>
                <a:path w="10119360" h="609600">
                  <a:moveTo>
                    <a:pt x="0" y="0"/>
                  </a:moveTo>
                  <a:lnTo>
                    <a:pt x="10119360" y="0"/>
                  </a:lnTo>
                  <a:lnTo>
                    <a:pt x="10119360" y="609600"/>
                  </a:lnTo>
                  <a:lnTo>
                    <a:pt x="0" y="609600"/>
                  </a:lnTo>
                  <a:close/>
                </a:path>
              </a:pathLst>
            </a:custGeom>
            <a:blipFill>
              <a:blip r:embed="rId3">
                <a:alphaModFix amt="0"/>
              </a:blip>
              <a:stretch>
                <a:fillRect t="-273451" b="-273451"/>
              </a:stretch>
            </a:blipFill>
          </p:spPr>
          <p:txBody>
            <a:bodyPr/>
            <a:lstStyle/>
            <a:p>
              <a:endParaRPr lang="es-GT"/>
            </a:p>
          </p:txBody>
        </p:sp>
        <p:sp>
          <p:nvSpPr>
            <p:cNvPr id="31" name="TextBox 31"/>
            <p:cNvSpPr txBox="1"/>
            <p:nvPr/>
          </p:nvSpPr>
          <p:spPr>
            <a:xfrm>
              <a:off x="0" y="-47625"/>
              <a:ext cx="10119360" cy="657225"/>
            </a:xfrm>
            <a:prstGeom prst="rect">
              <a:avLst/>
            </a:prstGeom>
          </p:spPr>
          <p:txBody>
            <a:bodyPr lIns="0" tIns="0" rIns="0" bIns="0" rtlCol="0" anchor="ctr"/>
            <a:lstStyle/>
            <a:p>
              <a:pPr algn="l">
                <a:lnSpc>
                  <a:spcPts val="2520"/>
                </a:lnSpc>
              </a:pPr>
              <a:r>
                <a:rPr lang="en-US" sz="2100" b="1">
                  <a:solidFill>
                    <a:srgbClr val="F0877A"/>
                  </a:solidFill>
                  <a:latin typeface="Calibri (MS) Bold"/>
                  <a:ea typeface="Calibri (MS) Bold"/>
                  <a:cs typeface="Calibri (MS) Bold"/>
                  <a:sym typeface="Calibri (MS) Bold"/>
                </a:rPr>
                <a:t>Dificultad de lectura</a:t>
              </a:r>
            </a:p>
          </p:txBody>
        </p:sp>
      </p:grpSp>
      <p:sp>
        <p:nvSpPr>
          <p:cNvPr id="32" name="TextBox 32"/>
          <p:cNvSpPr txBox="1"/>
          <p:nvPr/>
        </p:nvSpPr>
        <p:spPr>
          <a:xfrm>
            <a:off x="1152144" y="4067556"/>
            <a:ext cx="7406640" cy="824484"/>
          </a:xfrm>
          <a:prstGeom prst="rect">
            <a:avLst/>
          </a:prstGeom>
        </p:spPr>
        <p:txBody>
          <a:bodyPr lIns="0" tIns="0" rIns="0" bIns="0" rtlCol="0" anchor="t">
            <a:spAutoFit/>
          </a:bodyPr>
          <a:lstStyle/>
          <a:p>
            <a:pPr algn="l">
              <a:lnSpc>
                <a:spcPts val="2280"/>
              </a:lnSpc>
            </a:pPr>
            <a:r>
              <a:rPr lang="en-US" sz="1900">
                <a:solidFill>
                  <a:srgbClr val="FFFFFF"/>
                </a:solidFill>
                <a:latin typeface="Calibri (MS)"/>
                <a:ea typeface="Calibri (MS)"/>
                <a:cs typeface="Calibri (MS)"/>
                <a:sym typeface="Calibri (MS)"/>
              </a:rPr>
              <a:t>Un algoritmo de 80 pasos en un único bloque obliga a leerlo completo para entender cualquier parte.</a:t>
            </a:r>
          </a:p>
        </p:txBody>
      </p:sp>
      <p:grpSp>
        <p:nvGrpSpPr>
          <p:cNvPr id="33" name="Group 33"/>
          <p:cNvGrpSpPr/>
          <p:nvPr/>
        </p:nvGrpSpPr>
        <p:grpSpPr>
          <a:xfrm>
            <a:off x="1060704" y="5084064"/>
            <a:ext cx="7589520" cy="457200"/>
            <a:chOff x="0" y="0"/>
            <a:chExt cx="10119360" cy="609600"/>
          </a:xfrm>
        </p:grpSpPr>
        <p:sp>
          <p:nvSpPr>
            <p:cNvPr id="34" name="Freeform 34"/>
            <p:cNvSpPr/>
            <p:nvPr/>
          </p:nvSpPr>
          <p:spPr>
            <a:xfrm>
              <a:off x="0" y="0"/>
              <a:ext cx="10119360" cy="609600"/>
            </a:xfrm>
            <a:custGeom>
              <a:avLst/>
              <a:gdLst/>
              <a:ahLst/>
              <a:cxnLst/>
              <a:rect l="l" t="t" r="r" b="b"/>
              <a:pathLst>
                <a:path w="10119360" h="609600">
                  <a:moveTo>
                    <a:pt x="0" y="0"/>
                  </a:moveTo>
                  <a:lnTo>
                    <a:pt x="10119360" y="0"/>
                  </a:lnTo>
                  <a:lnTo>
                    <a:pt x="10119360" y="609600"/>
                  </a:lnTo>
                  <a:lnTo>
                    <a:pt x="0" y="609600"/>
                  </a:lnTo>
                  <a:close/>
                </a:path>
              </a:pathLst>
            </a:custGeom>
            <a:blipFill>
              <a:blip r:embed="rId3">
                <a:alphaModFix amt="0"/>
              </a:blip>
              <a:stretch>
                <a:fillRect t="-273451" b="-273451"/>
              </a:stretch>
            </a:blipFill>
          </p:spPr>
          <p:txBody>
            <a:bodyPr/>
            <a:lstStyle/>
            <a:p>
              <a:endParaRPr lang="es-GT"/>
            </a:p>
          </p:txBody>
        </p:sp>
        <p:sp>
          <p:nvSpPr>
            <p:cNvPr id="35" name="TextBox 35"/>
            <p:cNvSpPr txBox="1"/>
            <p:nvPr/>
          </p:nvSpPr>
          <p:spPr>
            <a:xfrm>
              <a:off x="0" y="-47625"/>
              <a:ext cx="10119360" cy="657225"/>
            </a:xfrm>
            <a:prstGeom prst="rect">
              <a:avLst/>
            </a:prstGeom>
          </p:spPr>
          <p:txBody>
            <a:bodyPr lIns="0" tIns="0" rIns="0" bIns="0" rtlCol="0" anchor="ctr"/>
            <a:lstStyle/>
            <a:p>
              <a:pPr algn="l">
                <a:lnSpc>
                  <a:spcPts val="2520"/>
                </a:lnSpc>
              </a:pPr>
              <a:r>
                <a:rPr lang="en-US" sz="2100" b="1">
                  <a:solidFill>
                    <a:srgbClr val="F0877A"/>
                  </a:solidFill>
                  <a:latin typeface="Calibri (MS) Bold"/>
                  <a:ea typeface="Calibri (MS) Bold"/>
                  <a:cs typeface="Calibri (MS) Bold"/>
                  <a:sym typeface="Calibri (MS) Bold"/>
                </a:rPr>
                <a:t>Duplicación de pasos</a:t>
              </a:r>
            </a:p>
          </p:txBody>
        </p:sp>
      </p:grpSp>
      <p:sp>
        <p:nvSpPr>
          <p:cNvPr id="36" name="TextBox 36"/>
          <p:cNvSpPr txBox="1"/>
          <p:nvPr/>
        </p:nvSpPr>
        <p:spPr>
          <a:xfrm>
            <a:off x="1152144" y="5585460"/>
            <a:ext cx="7406640" cy="824484"/>
          </a:xfrm>
          <a:prstGeom prst="rect">
            <a:avLst/>
          </a:prstGeom>
        </p:spPr>
        <p:txBody>
          <a:bodyPr lIns="0" tIns="0" rIns="0" bIns="0" rtlCol="0" anchor="t">
            <a:spAutoFit/>
          </a:bodyPr>
          <a:lstStyle/>
          <a:p>
            <a:pPr algn="l">
              <a:lnSpc>
                <a:spcPts val="2280"/>
              </a:lnSpc>
            </a:pPr>
            <a:r>
              <a:rPr lang="en-US" sz="1900">
                <a:solidFill>
                  <a:srgbClr val="FFFFFF"/>
                </a:solidFill>
                <a:latin typeface="Calibri (MS)"/>
                <a:ea typeface="Calibri (MS)"/>
                <a:cs typeface="Calibri (MS)"/>
                <a:sym typeface="Calibri (MS)"/>
              </a:rPr>
              <a:t>Si una misma tarea se necesita en 3 puntos distintos, sus instrucciones deben copiarse 3 veces íntegramente.</a:t>
            </a:r>
          </a:p>
        </p:txBody>
      </p:sp>
      <p:grpSp>
        <p:nvGrpSpPr>
          <p:cNvPr id="37" name="Group 37"/>
          <p:cNvGrpSpPr/>
          <p:nvPr/>
        </p:nvGrpSpPr>
        <p:grpSpPr>
          <a:xfrm>
            <a:off x="1060704" y="6601968"/>
            <a:ext cx="7589520" cy="457200"/>
            <a:chOff x="0" y="0"/>
            <a:chExt cx="10119360" cy="609600"/>
          </a:xfrm>
        </p:grpSpPr>
        <p:sp>
          <p:nvSpPr>
            <p:cNvPr id="38" name="Freeform 38"/>
            <p:cNvSpPr/>
            <p:nvPr/>
          </p:nvSpPr>
          <p:spPr>
            <a:xfrm>
              <a:off x="0" y="0"/>
              <a:ext cx="10119360" cy="609600"/>
            </a:xfrm>
            <a:custGeom>
              <a:avLst/>
              <a:gdLst/>
              <a:ahLst/>
              <a:cxnLst/>
              <a:rect l="l" t="t" r="r" b="b"/>
              <a:pathLst>
                <a:path w="10119360" h="609600">
                  <a:moveTo>
                    <a:pt x="0" y="0"/>
                  </a:moveTo>
                  <a:lnTo>
                    <a:pt x="10119360" y="0"/>
                  </a:lnTo>
                  <a:lnTo>
                    <a:pt x="10119360" y="609600"/>
                  </a:lnTo>
                  <a:lnTo>
                    <a:pt x="0" y="609600"/>
                  </a:lnTo>
                  <a:close/>
                </a:path>
              </a:pathLst>
            </a:custGeom>
            <a:blipFill>
              <a:blip r:embed="rId3">
                <a:alphaModFix amt="0"/>
              </a:blip>
              <a:stretch>
                <a:fillRect t="-273451" b="-273451"/>
              </a:stretch>
            </a:blipFill>
          </p:spPr>
          <p:txBody>
            <a:bodyPr/>
            <a:lstStyle/>
            <a:p>
              <a:endParaRPr lang="es-GT"/>
            </a:p>
          </p:txBody>
        </p:sp>
        <p:sp>
          <p:nvSpPr>
            <p:cNvPr id="39" name="TextBox 39"/>
            <p:cNvSpPr txBox="1"/>
            <p:nvPr/>
          </p:nvSpPr>
          <p:spPr>
            <a:xfrm>
              <a:off x="0" y="-47625"/>
              <a:ext cx="10119360" cy="657225"/>
            </a:xfrm>
            <a:prstGeom prst="rect">
              <a:avLst/>
            </a:prstGeom>
          </p:spPr>
          <p:txBody>
            <a:bodyPr lIns="0" tIns="0" rIns="0" bIns="0" rtlCol="0" anchor="ctr"/>
            <a:lstStyle/>
            <a:p>
              <a:pPr algn="l">
                <a:lnSpc>
                  <a:spcPts val="2520"/>
                </a:lnSpc>
              </a:pPr>
              <a:r>
                <a:rPr lang="en-US" sz="2100" b="1">
                  <a:solidFill>
                    <a:srgbClr val="F0877A"/>
                  </a:solidFill>
                  <a:latin typeface="Calibri (MS) Bold"/>
                  <a:ea typeface="Calibri (MS) Bold"/>
                  <a:cs typeface="Calibri (MS) Bold"/>
                  <a:sym typeface="Calibri (MS) Bold"/>
                </a:rPr>
                <a:t>Mantenimiento costoso</a:t>
              </a:r>
            </a:p>
          </p:txBody>
        </p:sp>
      </p:grpSp>
      <p:sp>
        <p:nvSpPr>
          <p:cNvPr id="40" name="TextBox 40"/>
          <p:cNvSpPr txBox="1"/>
          <p:nvPr/>
        </p:nvSpPr>
        <p:spPr>
          <a:xfrm>
            <a:off x="1152144" y="7103364"/>
            <a:ext cx="7406640" cy="824484"/>
          </a:xfrm>
          <a:prstGeom prst="rect">
            <a:avLst/>
          </a:prstGeom>
        </p:spPr>
        <p:txBody>
          <a:bodyPr lIns="0" tIns="0" rIns="0" bIns="0" rtlCol="0" anchor="t">
            <a:spAutoFit/>
          </a:bodyPr>
          <a:lstStyle/>
          <a:p>
            <a:pPr algn="l">
              <a:lnSpc>
                <a:spcPts val="2280"/>
              </a:lnSpc>
            </a:pPr>
            <a:r>
              <a:rPr lang="en-US" sz="1900">
                <a:solidFill>
                  <a:srgbClr val="FFFFFF"/>
                </a:solidFill>
                <a:latin typeface="Calibri (MS)"/>
                <a:ea typeface="Calibri (MS)"/>
                <a:cs typeface="Calibri (MS)"/>
                <a:sym typeface="Calibri (MS)"/>
              </a:rPr>
              <a:t>Corregir un error implica localizarlo y modificarlo en cada lugar donde fue duplicado, con riesgo de inconsistencias.</a:t>
            </a:r>
          </a:p>
        </p:txBody>
      </p:sp>
      <p:grpSp>
        <p:nvGrpSpPr>
          <p:cNvPr id="41" name="Group 41"/>
          <p:cNvGrpSpPr/>
          <p:nvPr/>
        </p:nvGrpSpPr>
        <p:grpSpPr>
          <a:xfrm>
            <a:off x="1060704" y="8119872"/>
            <a:ext cx="7589520" cy="457200"/>
            <a:chOff x="0" y="0"/>
            <a:chExt cx="10119360" cy="609600"/>
          </a:xfrm>
        </p:grpSpPr>
        <p:sp>
          <p:nvSpPr>
            <p:cNvPr id="42" name="Freeform 42"/>
            <p:cNvSpPr/>
            <p:nvPr/>
          </p:nvSpPr>
          <p:spPr>
            <a:xfrm>
              <a:off x="0" y="0"/>
              <a:ext cx="10119360" cy="609600"/>
            </a:xfrm>
            <a:custGeom>
              <a:avLst/>
              <a:gdLst/>
              <a:ahLst/>
              <a:cxnLst/>
              <a:rect l="l" t="t" r="r" b="b"/>
              <a:pathLst>
                <a:path w="10119360" h="609600">
                  <a:moveTo>
                    <a:pt x="0" y="0"/>
                  </a:moveTo>
                  <a:lnTo>
                    <a:pt x="10119360" y="0"/>
                  </a:lnTo>
                  <a:lnTo>
                    <a:pt x="10119360" y="609600"/>
                  </a:lnTo>
                  <a:lnTo>
                    <a:pt x="0" y="609600"/>
                  </a:lnTo>
                  <a:close/>
                </a:path>
              </a:pathLst>
            </a:custGeom>
            <a:blipFill>
              <a:blip r:embed="rId3">
                <a:alphaModFix amt="0"/>
              </a:blip>
              <a:stretch>
                <a:fillRect t="-273451" b="-273451"/>
              </a:stretch>
            </a:blipFill>
          </p:spPr>
          <p:txBody>
            <a:bodyPr/>
            <a:lstStyle/>
            <a:p>
              <a:endParaRPr lang="es-GT"/>
            </a:p>
          </p:txBody>
        </p:sp>
        <p:sp>
          <p:nvSpPr>
            <p:cNvPr id="43" name="TextBox 43"/>
            <p:cNvSpPr txBox="1"/>
            <p:nvPr/>
          </p:nvSpPr>
          <p:spPr>
            <a:xfrm>
              <a:off x="0" y="-47625"/>
              <a:ext cx="10119360" cy="657225"/>
            </a:xfrm>
            <a:prstGeom prst="rect">
              <a:avLst/>
            </a:prstGeom>
          </p:spPr>
          <p:txBody>
            <a:bodyPr lIns="0" tIns="0" rIns="0" bIns="0" rtlCol="0" anchor="ctr"/>
            <a:lstStyle/>
            <a:p>
              <a:pPr algn="l">
                <a:lnSpc>
                  <a:spcPts val="2520"/>
                </a:lnSpc>
              </a:pPr>
              <a:r>
                <a:rPr lang="en-US" sz="2100" b="1">
                  <a:solidFill>
                    <a:srgbClr val="F0877A"/>
                  </a:solidFill>
                  <a:latin typeface="Calibri (MS) Bold"/>
                  <a:ea typeface="Calibri (MS) Bold"/>
                  <a:cs typeface="Calibri (MS) Bold"/>
                  <a:sym typeface="Calibri (MS) Bold"/>
                </a:rPr>
                <a:t>Sin nivel de abstracción</a:t>
              </a:r>
            </a:p>
          </p:txBody>
        </p:sp>
      </p:grpSp>
      <p:sp>
        <p:nvSpPr>
          <p:cNvPr id="44" name="TextBox 44"/>
          <p:cNvSpPr txBox="1"/>
          <p:nvPr/>
        </p:nvSpPr>
        <p:spPr>
          <a:xfrm>
            <a:off x="1152144" y="8621268"/>
            <a:ext cx="7406640" cy="824484"/>
          </a:xfrm>
          <a:prstGeom prst="rect">
            <a:avLst/>
          </a:prstGeom>
        </p:spPr>
        <p:txBody>
          <a:bodyPr lIns="0" tIns="0" rIns="0" bIns="0" rtlCol="0" anchor="t">
            <a:spAutoFit/>
          </a:bodyPr>
          <a:lstStyle/>
          <a:p>
            <a:pPr algn="l">
              <a:lnSpc>
                <a:spcPts val="2280"/>
              </a:lnSpc>
            </a:pPr>
            <a:r>
              <a:rPr lang="en-US" sz="1900">
                <a:solidFill>
                  <a:srgbClr val="FFFFFF"/>
                </a:solidFill>
                <a:latin typeface="Calibri (MS)"/>
                <a:ea typeface="Calibri (MS)"/>
                <a:cs typeface="Calibri (MS)"/>
                <a:sym typeface="Calibri (MS)"/>
              </a:rPr>
              <a:t>El lector no puede distinguir qué es lógica principal y qué es detalle de implementación: todo está al mismo nivel.</a:t>
            </a:r>
          </a:p>
        </p:txBody>
      </p:sp>
      <p:grpSp>
        <p:nvGrpSpPr>
          <p:cNvPr id="45" name="Group 45"/>
          <p:cNvGrpSpPr/>
          <p:nvPr/>
        </p:nvGrpSpPr>
        <p:grpSpPr>
          <a:xfrm>
            <a:off x="9314183" y="2511047"/>
            <a:ext cx="8255003" cy="7249163"/>
            <a:chOff x="0" y="0"/>
            <a:chExt cx="11006671" cy="9665551"/>
          </a:xfrm>
        </p:grpSpPr>
        <p:sp>
          <p:nvSpPr>
            <p:cNvPr id="46" name="Freeform 46"/>
            <p:cNvSpPr/>
            <p:nvPr/>
          </p:nvSpPr>
          <p:spPr>
            <a:xfrm>
              <a:off x="16891" y="16891"/>
              <a:ext cx="10972800" cy="9631681"/>
            </a:xfrm>
            <a:custGeom>
              <a:avLst/>
              <a:gdLst/>
              <a:ahLst/>
              <a:cxnLst/>
              <a:rect l="l" t="t" r="r" b="b"/>
              <a:pathLst>
                <a:path w="10972800" h="9631681">
                  <a:moveTo>
                    <a:pt x="0" y="0"/>
                  </a:moveTo>
                  <a:lnTo>
                    <a:pt x="10972800" y="0"/>
                  </a:lnTo>
                  <a:lnTo>
                    <a:pt x="10972800" y="9631681"/>
                  </a:lnTo>
                  <a:lnTo>
                    <a:pt x="0" y="9631681"/>
                  </a:lnTo>
                  <a:close/>
                </a:path>
              </a:pathLst>
            </a:custGeom>
            <a:solidFill>
              <a:srgbClr val="252B42"/>
            </a:solidFill>
          </p:spPr>
          <p:txBody>
            <a:bodyPr/>
            <a:lstStyle/>
            <a:p>
              <a:endParaRPr lang="es-GT"/>
            </a:p>
          </p:txBody>
        </p:sp>
        <p:sp>
          <p:nvSpPr>
            <p:cNvPr id="47" name="Freeform 47"/>
            <p:cNvSpPr/>
            <p:nvPr/>
          </p:nvSpPr>
          <p:spPr>
            <a:xfrm>
              <a:off x="0" y="0"/>
              <a:ext cx="11006582" cy="9665462"/>
            </a:xfrm>
            <a:custGeom>
              <a:avLst/>
              <a:gdLst/>
              <a:ahLst/>
              <a:cxnLst/>
              <a:rect l="l" t="t" r="r" b="b"/>
              <a:pathLst>
                <a:path w="11006582" h="9665462">
                  <a:moveTo>
                    <a:pt x="16891" y="0"/>
                  </a:moveTo>
                  <a:lnTo>
                    <a:pt x="10989691" y="0"/>
                  </a:lnTo>
                  <a:cubicBezTo>
                    <a:pt x="10999089" y="0"/>
                    <a:pt x="11006582" y="7620"/>
                    <a:pt x="11006582" y="16891"/>
                  </a:cubicBezTo>
                  <a:lnTo>
                    <a:pt x="11006582" y="9648572"/>
                  </a:lnTo>
                  <a:cubicBezTo>
                    <a:pt x="11006582" y="9657969"/>
                    <a:pt x="10998962" y="9665462"/>
                    <a:pt x="10989691" y="9665462"/>
                  </a:cubicBezTo>
                  <a:lnTo>
                    <a:pt x="16891" y="9665462"/>
                  </a:lnTo>
                  <a:cubicBezTo>
                    <a:pt x="7493" y="9665462"/>
                    <a:pt x="0" y="9657842"/>
                    <a:pt x="0" y="9648572"/>
                  </a:cubicBezTo>
                  <a:lnTo>
                    <a:pt x="0" y="16891"/>
                  </a:lnTo>
                  <a:cubicBezTo>
                    <a:pt x="0" y="7620"/>
                    <a:pt x="7620" y="0"/>
                    <a:pt x="16891" y="0"/>
                  </a:cubicBezTo>
                  <a:moveTo>
                    <a:pt x="16891" y="33909"/>
                  </a:moveTo>
                  <a:lnTo>
                    <a:pt x="16891" y="16891"/>
                  </a:lnTo>
                  <a:lnTo>
                    <a:pt x="33909" y="16891"/>
                  </a:lnTo>
                  <a:lnTo>
                    <a:pt x="33909" y="9648572"/>
                  </a:lnTo>
                  <a:lnTo>
                    <a:pt x="16891" y="9648572"/>
                  </a:lnTo>
                  <a:lnTo>
                    <a:pt x="16891" y="9631680"/>
                  </a:lnTo>
                  <a:lnTo>
                    <a:pt x="10989691" y="9631680"/>
                  </a:lnTo>
                  <a:lnTo>
                    <a:pt x="10989691" y="9648572"/>
                  </a:lnTo>
                  <a:lnTo>
                    <a:pt x="10972800" y="9648572"/>
                  </a:lnTo>
                  <a:lnTo>
                    <a:pt x="10972800" y="16891"/>
                  </a:lnTo>
                  <a:lnTo>
                    <a:pt x="10989691" y="16891"/>
                  </a:lnTo>
                  <a:lnTo>
                    <a:pt x="10989691" y="33909"/>
                  </a:lnTo>
                  <a:lnTo>
                    <a:pt x="16891" y="33909"/>
                  </a:lnTo>
                  <a:close/>
                </a:path>
              </a:pathLst>
            </a:custGeom>
            <a:solidFill>
              <a:srgbClr val="7EC8A4"/>
            </a:solidFill>
          </p:spPr>
          <p:txBody>
            <a:bodyPr/>
            <a:lstStyle/>
            <a:p>
              <a:endParaRPr lang="es-GT"/>
            </a:p>
          </p:txBody>
        </p:sp>
      </p:grpSp>
      <p:grpSp>
        <p:nvGrpSpPr>
          <p:cNvPr id="48" name="Group 48"/>
          <p:cNvGrpSpPr/>
          <p:nvPr/>
        </p:nvGrpSpPr>
        <p:grpSpPr>
          <a:xfrm>
            <a:off x="9314183" y="2511047"/>
            <a:ext cx="8255003" cy="848363"/>
            <a:chOff x="0" y="0"/>
            <a:chExt cx="11006671" cy="1131151"/>
          </a:xfrm>
        </p:grpSpPr>
        <p:sp>
          <p:nvSpPr>
            <p:cNvPr id="49" name="Freeform 49"/>
            <p:cNvSpPr/>
            <p:nvPr/>
          </p:nvSpPr>
          <p:spPr>
            <a:xfrm>
              <a:off x="16891" y="16891"/>
              <a:ext cx="10972800" cy="1097280"/>
            </a:xfrm>
            <a:custGeom>
              <a:avLst/>
              <a:gdLst/>
              <a:ahLst/>
              <a:cxnLst/>
              <a:rect l="l" t="t" r="r" b="b"/>
              <a:pathLst>
                <a:path w="10972800" h="1097280">
                  <a:moveTo>
                    <a:pt x="0" y="0"/>
                  </a:moveTo>
                  <a:lnTo>
                    <a:pt x="10972800" y="0"/>
                  </a:lnTo>
                  <a:lnTo>
                    <a:pt x="10972800" y="1097280"/>
                  </a:lnTo>
                  <a:lnTo>
                    <a:pt x="0" y="1097280"/>
                  </a:lnTo>
                  <a:close/>
                </a:path>
              </a:pathLst>
            </a:custGeom>
            <a:solidFill>
              <a:srgbClr val="122A20"/>
            </a:solidFill>
          </p:spPr>
          <p:txBody>
            <a:bodyPr/>
            <a:lstStyle/>
            <a:p>
              <a:endParaRPr lang="es-GT"/>
            </a:p>
          </p:txBody>
        </p:sp>
        <p:sp>
          <p:nvSpPr>
            <p:cNvPr id="50" name="Freeform 50"/>
            <p:cNvSpPr/>
            <p:nvPr/>
          </p:nvSpPr>
          <p:spPr>
            <a:xfrm>
              <a:off x="0" y="0"/>
              <a:ext cx="11006582" cy="1131064"/>
            </a:xfrm>
            <a:custGeom>
              <a:avLst/>
              <a:gdLst/>
              <a:ahLst/>
              <a:cxnLst/>
              <a:rect l="l" t="t" r="r" b="b"/>
              <a:pathLst>
                <a:path w="11006582" h="1131064">
                  <a:moveTo>
                    <a:pt x="16891" y="0"/>
                  </a:moveTo>
                  <a:lnTo>
                    <a:pt x="10989691" y="0"/>
                  </a:lnTo>
                  <a:cubicBezTo>
                    <a:pt x="10999089" y="0"/>
                    <a:pt x="11006582" y="7620"/>
                    <a:pt x="11006582" y="16891"/>
                  </a:cubicBezTo>
                  <a:lnTo>
                    <a:pt x="11006582" y="1114171"/>
                  </a:lnTo>
                  <a:cubicBezTo>
                    <a:pt x="11006582" y="1123569"/>
                    <a:pt x="10998962" y="1131062"/>
                    <a:pt x="1098969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10989691" y="1097280"/>
                  </a:lnTo>
                  <a:lnTo>
                    <a:pt x="10989691" y="1114171"/>
                  </a:lnTo>
                  <a:lnTo>
                    <a:pt x="10972800" y="1114171"/>
                  </a:lnTo>
                  <a:lnTo>
                    <a:pt x="10972800" y="16891"/>
                  </a:lnTo>
                  <a:lnTo>
                    <a:pt x="10989691" y="16891"/>
                  </a:lnTo>
                  <a:lnTo>
                    <a:pt x="10989691" y="33909"/>
                  </a:lnTo>
                  <a:lnTo>
                    <a:pt x="16891" y="33909"/>
                  </a:lnTo>
                  <a:close/>
                </a:path>
              </a:pathLst>
            </a:custGeom>
            <a:solidFill>
              <a:srgbClr val="7EC8A4"/>
            </a:solidFill>
          </p:spPr>
          <p:txBody>
            <a:bodyPr/>
            <a:lstStyle/>
            <a:p>
              <a:endParaRPr lang="es-GT"/>
            </a:p>
          </p:txBody>
        </p:sp>
      </p:grpSp>
      <p:grpSp>
        <p:nvGrpSpPr>
          <p:cNvPr id="51" name="Group 51"/>
          <p:cNvGrpSpPr/>
          <p:nvPr/>
        </p:nvGrpSpPr>
        <p:grpSpPr>
          <a:xfrm>
            <a:off x="9601200" y="2615184"/>
            <a:ext cx="7680960" cy="585216"/>
            <a:chOff x="0" y="0"/>
            <a:chExt cx="10241280" cy="780288"/>
          </a:xfrm>
        </p:grpSpPr>
        <p:sp>
          <p:nvSpPr>
            <p:cNvPr id="52" name="Freeform 52"/>
            <p:cNvSpPr/>
            <p:nvPr/>
          </p:nvSpPr>
          <p:spPr>
            <a:xfrm>
              <a:off x="0" y="0"/>
              <a:ext cx="10241280" cy="780288"/>
            </a:xfrm>
            <a:custGeom>
              <a:avLst/>
              <a:gdLst/>
              <a:ahLst/>
              <a:cxnLst/>
              <a:rect l="l" t="t" r="r" b="b"/>
              <a:pathLst>
                <a:path w="10241280" h="780288">
                  <a:moveTo>
                    <a:pt x="0" y="0"/>
                  </a:moveTo>
                  <a:lnTo>
                    <a:pt x="10241280" y="0"/>
                  </a:lnTo>
                  <a:lnTo>
                    <a:pt x="10241280" y="780288"/>
                  </a:lnTo>
                  <a:lnTo>
                    <a:pt x="0" y="780288"/>
                  </a:lnTo>
                  <a:close/>
                </a:path>
              </a:pathLst>
            </a:custGeom>
            <a:blipFill>
              <a:blip r:embed="rId3">
                <a:alphaModFix amt="0"/>
              </a:blip>
              <a:stretch>
                <a:fillRect t="-205741" b="-205741"/>
              </a:stretch>
            </a:blipFill>
          </p:spPr>
          <p:txBody>
            <a:bodyPr/>
            <a:lstStyle/>
            <a:p>
              <a:endParaRPr lang="es-GT"/>
            </a:p>
          </p:txBody>
        </p:sp>
        <p:sp>
          <p:nvSpPr>
            <p:cNvPr id="53" name="TextBox 53"/>
            <p:cNvSpPr txBox="1"/>
            <p:nvPr/>
          </p:nvSpPr>
          <p:spPr>
            <a:xfrm>
              <a:off x="0" y="-47625"/>
              <a:ext cx="10241280" cy="827913"/>
            </a:xfrm>
            <a:prstGeom prst="rect">
              <a:avLst/>
            </a:prstGeom>
          </p:spPr>
          <p:txBody>
            <a:bodyPr lIns="0" tIns="0" rIns="0" bIns="0" rtlCol="0" anchor="ctr"/>
            <a:lstStyle/>
            <a:p>
              <a:pPr algn="l">
                <a:lnSpc>
                  <a:spcPts val="2640"/>
                </a:lnSpc>
              </a:pPr>
              <a:r>
                <a:rPr lang="en-US" sz="2200" b="1">
                  <a:solidFill>
                    <a:srgbClr val="7EC8A4"/>
                  </a:solidFill>
                  <a:latin typeface="Calibri (MS) Bold"/>
                  <a:ea typeface="Calibri (MS) Bold"/>
                  <a:cs typeface="Calibri (MS) Bold"/>
                  <a:sym typeface="Calibri (MS) Bold"/>
                </a:rPr>
                <a:t>Con subprocesos – Beneficios</a:t>
              </a:r>
            </a:p>
          </p:txBody>
        </p:sp>
      </p:grpSp>
      <p:grpSp>
        <p:nvGrpSpPr>
          <p:cNvPr id="54" name="Group 54"/>
          <p:cNvGrpSpPr/>
          <p:nvPr/>
        </p:nvGrpSpPr>
        <p:grpSpPr>
          <a:xfrm>
            <a:off x="9656064" y="3566160"/>
            <a:ext cx="7589520" cy="457200"/>
            <a:chOff x="0" y="0"/>
            <a:chExt cx="10119360" cy="609600"/>
          </a:xfrm>
        </p:grpSpPr>
        <p:sp>
          <p:nvSpPr>
            <p:cNvPr id="55" name="Freeform 55"/>
            <p:cNvSpPr/>
            <p:nvPr/>
          </p:nvSpPr>
          <p:spPr>
            <a:xfrm>
              <a:off x="0" y="0"/>
              <a:ext cx="10119360" cy="609600"/>
            </a:xfrm>
            <a:custGeom>
              <a:avLst/>
              <a:gdLst/>
              <a:ahLst/>
              <a:cxnLst/>
              <a:rect l="l" t="t" r="r" b="b"/>
              <a:pathLst>
                <a:path w="10119360" h="609600">
                  <a:moveTo>
                    <a:pt x="0" y="0"/>
                  </a:moveTo>
                  <a:lnTo>
                    <a:pt x="10119360" y="0"/>
                  </a:lnTo>
                  <a:lnTo>
                    <a:pt x="10119360" y="609600"/>
                  </a:lnTo>
                  <a:lnTo>
                    <a:pt x="0" y="609600"/>
                  </a:lnTo>
                  <a:close/>
                </a:path>
              </a:pathLst>
            </a:custGeom>
            <a:blipFill>
              <a:blip r:embed="rId3">
                <a:alphaModFix amt="0"/>
              </a:blip>
              <a:stretch>
                <a:fillRect t="-273451" b="-273451"/>
              </a:stretch>
            </a:blipFill>
          </p:spPr>
          <p:txBody>
            <a:bodyPr/>
            <a:lstStyle/>
            <a:p>
              <a:endParaRPr lang="es-GT"/>
            </a:p>
          </p:txBody>
        </p:sp>
        <p:sp>
          <p:nvSpPr>
            <p:cNvPr id="56" name="TextBox 56"/>
            <p:cNvSpPr txBox="1"/>
            <p:nvPr/>
          </p:nvSpPr>
          <p:spPr>
            <a:xfrm>
              <a:off x="0" y="-47625"/>
              <a:ext cx="10119360" cy="657225"/>
            </a:xfrm>
            <a:prstGeom prst="rect">
              <a:avLst/>
            </a:prstGeom>
          </p:spPr>
          <p:txBody>
            <a:bodyPr lIns="0" tIns="0" rIns="0" bIns="0" rtlCol="0" anchor="ctr"/>
            <a:lstStyle/>
            <a:p>
              <a:pPr algn="l">
                <a:lnSpc>
                  <a:spcPts val="2520"/>
                </a:lnSpc>
              </a:pPr>
              <a:r>
                <a:rPr lang="en-US" sz="2100" b="1">
                  <a:solidFill>
                    <a:srgbClr val="7EC8A4"/>
                  </a:solidFill>
                  <a:latin typeface="Calibri (MS) Bold"/>
                  <a:ea typeface="Calibri (MS) Bold"/>
                  <a:cs typeface="Calibri (MS) Bold"/>
                  <a:sym typeface="Calibri (MS) Bold"/>
                </a:rPr>
                <a:t>Algoritmo principal legible</a:t>
              </a:r>
            </a:p>
          </p:txBody>
        </p:sp>
      </p:grpSp>
      <p:sp>
        <p:nvSpPr>
          <p:cNvPr id="57" name="TextBox 57"/>
          <p:cNvSpPr txBox="1"/>
          <p:nvPr/>
        </p:nvSpPr>
        <p:spPr>
          <a:xfrm>
            <a:off x="9747504" y="4067556"/>
            <a:ext cx="7406640" cy="824484"/>
          </a:xfrm>
          <a:prstGeom prst="rect">
            <a:avLst/>
          </a:prstGeom>
        </p:spPr>
        <p:txBody>
          <a:bodyPr lIns="0" tIns="0" rIns="0" bIns="0" rtlCol="0" anchor="t">
            <a:spAutoFit/>
          </a:bodyPr>
          <a:lstStyle/>
          <a:p>
            <a:pPr algn="l">
              <a:lnSpc>
                <a:spcPts val="2280"/>
              </a:lnSpc>
            </a:pPr>
            <a:r>
              <a:rPr lang="en-US" sz="1900">
                <a:solidFill>
                  <a:srgbClr val="FFFFFF"/>
                </a:solidFill>
                <a:latin typeface="Calibri (MS)"/>
                <a:ea typeface="Calibri (MS)"/>
                <a:cs typeface="Calibri (MS)"/>
                <a:sym typeface="Calibri (MS)"/>
              </a:rPr>
              <a:t>El flujo principal describe qué hace la solución a alto nivel, sin mezclarse con los detalles de cada parte.</a:t>
            </a:r>
          </a:p>
        </p:txBody>
      </p:sp>
      <p:grpSp>
        <p:nvGrpSpPr>
          <p:cNvPr id="58" name="Group 58"/>
          <p:cNvGrpSpPr/>
          <p:nvPr/>
        </p:nvGrpSpPr>
        <p:grpSpPr>
          <a:xfrm>
            <a:off x="9656064" y="5084064"/>
            <a:ext cx="7589520" cy="457200"/>
            <a:chOff x="0" y="0"/>
            <a:chExt cx="10119360" cy="609600"/>
          </a:xfrm>
        </p:grpSpPr>
        <p:sp>
          <p:nvSpPr>
            <p:cNvPr id="59" name="Freeform 59"/>
            <p:cNvSpPr/>
            <p:nvPr/>
          </p:nvSpPr>
          <p:spPr>
            <a:xfrm>
              <a:off x="0" y="0"/>
              <a:ext cx="10119360" cy="609600"/>
            </a:xfrm>
            <a:custGeom>
              <a:avLst/>
              <a:gdLst/>
              <a:ahLst/>
              <a:cxnLst/>
              <a:rect l="l" t="t" r="r" b="b"/>
              <a:pathLst>
                <a:path w="10119360" h="609600">
                  <a:moveTo>
                    <a:pt x="0" y="0"/>
                  </a:moveTo>
                  <a:lnTo>
                    <a:pt x="10119360" y="0"/>
                  </a:lnTo>
                  <a:lnTo>
                    <a:pt x="10119360" y="609600"/>
                  </a:lnTo>
                  <a:lnTo>
                    <a:pt x="0" y="609600"/>
                  </a:lnTo>
                  <a:close/>
                </a:path>
              </a:pathLst>
            </a:custGeom>
            <a:blipFill>
              <a:blip r:embed="rId3">
                <a:alphaModFix amt="0"/>
              </a:blip>
              <a:stretch>
                <a:fillRect t="-273451" b="-273451"/>
              </a:stretch>
            </a:blipFill>
          </p:spPr>
          <p:txBody>
            <a:bodyPr/>
            <a:lstStyle/>
            <a:p>
              <a:endParaRPr lang="es-GT"/>
            </a:p>
          </p:txBody>
        </p:sp>
        <p:sp>
          <p:nvSpPr>
            <p:cNvPr id="60" name="TextBox 60"/>
            <p:cNvSpPr txBox="1"/>
            <p:nvPr/>
          </p:nvSpPr>
          <p:spPr>
            <a:xfrm>
              <a:off x="0" y="-47625"/>
              <a:ext cx="10119360" cy="657225"/>
            </a:xfrm>
            <a:prstGeom prst="rect">
              <a:avLst/>
            </a:prstGeom>
          </p:spPr>
          <p:txBody>
            <a:bodyPr lIns="0" tIns="0" rIns="0" bIns="0" rtlCol="0" anchor="ctr"/>
            <a:lstStyle/>
            <a:p>
              <a:pPr algn="l">
                <a:lnSpc>
                  <a:spcPts val="2520"/>
                </a:lnSpc>
              </a:pPr>
              <a:r>
                <a:rPr lang="en-US" sz="2100" b="1">
                  <a:solidFill>
                    <a:srgbClr val="7EC8A4"/>
                  </a:solidFill>
                  <a:latin typeface="Calibri (MS) Bold"/>
                  <a:ea typeface="Calibri (MS) Bold"/>
                  <a:cs typeface="Calibri (MS) Bold"/>
                  <a:sym typeface="Calibri (MS) Bold"/>
                </a:rPr>
                <a:t>Un bloque, múltiples usos</a:t>
              </a:r>
            </a:p>
          </p:txBody>
        </p:sp>
      </p:grpSp>
      <p:sp>
        <p:nvSpPr>
          <p:cNvPr id="61" name="TextBox 61"/>
          <p:cNvSpPr txBox="1"/>
          <p:nvPr/>
        </p:nvSpPr>
        <p:spPr>
          <a:xfrm>
            <a:off x="9747504" y="5585460"/>
            <a:ext cx="7406640" cy="824484"/>
          </a:xfrm>
          <a:prstGeom prst="rect">
            <a:avLst/>
          </a:prstGeom>
        </p:spPr>
        <p:txBody>
          <a:bodyPr lIns="0" tIns="0" rIns="0" bIns="0" rtlCol="0" anchor="t">
            <a:spAutoFit/>
          </a:bodyPr>
          <a:lstStyle/>
          <a:p>
            <a:pPr algn="l">
              <a:lnSpc>
                <a:spcPts val="2280"/>
              </a:lnSpc>
            </a:pPr>
            <a:r>
              <a:rPr lang="en-US" sz="1900">
                <a:solidFill>
                  <a:srgbClr val="FFFFFF"/>
                </a:solidFill>
                <a:latin typeface="Calibri (MS)"/>
                <a:ea typeface="Calibri (MS)"/>
                <a:cs typeface="Calibri (MS)"/>
                <a:sym typeface="Calibri (MS)"/>
              </a:rPr>
              <a:t>Un subproceso se define una vez y puede invocarse tantas veces como sea necesario desde cualquier punto.</a:t>
            </a:r>
          </a:p>
        </p:txBody>
      </p:sp>
      <p:grpSp>
        <p:nvGrpSpPr>
          <p:cNvPr id="62" name="Group 62"/>
          <p:cNvGrpSpPr/>
          <p:nvPr/>
        </p:nvGrpSpPr>
        <p:grpSpPr>
          <a:xfrm>
            <a:off x="9656064" y="6601968"/>
            <a:ext cx="7589520" cy="457200"/>
            <a:chOff x="0" y="0"/>
            <a:chExt cx="10119360" cy="609600"/>
          </a:xfrm>
        </p:grpSpPr>
        <p:sp>
          <p:nvSpPr>
            <p:cNvPr id="63" name="Freeform 63"/>
            <p:cNvSpPr/>
            <p:nvPr/>
          </p:nvSpPr>
          <p:spPr>
            <a:xfrm>
              <a:off x="0" y="0"/>
              <a:ext cx="10119360" cy="609600"/>
            </a:xfrm>
            <a:custGeom>
              <a:avLst/>
              <a:gdLst/>
              <a:ahLst/>
              <a:cxnLst/>
              <a:rect l="l" t="t" r="r" b="b"/>
              <a:pathLst>
                <a:path w="10119360" h="609600">
                  <a:moveTo>
                    <a:pt x="0" y="0"/>
                  </a:moveTo>
                  <a:lnTo>
                    <a:pt x="10119360" y="0"/>
                  </a:lnTo>
                  <a:lnTo>
                    <a:pt x="10119360" y="609600"/>
                  </a:lnTo>
                  <a:lnTo>
                    <a:pt x="0" y="609600"/>
                  </a:lnTo>
                  <a:close/>
                </a:path>
              </a:pathLst>
            </a:custGeom>
            <a:blipFill>
              <a:blip r:embed="rId3">
                <a:alphaModFix amt="0"/>
              </a:blip>
              <a:stretch>
                <a:fillRect t="-273451" b="-273451"/>
              </a:stretch>
            </a:blipFill>
          </p:spPr>
          <p:txBody>
            <a:bodyPr/>
            <a:lstStyle/>
            <a:p>
              <a:endParaRPr lang="es-GT"/>
            </a:p>
          </p:txBody>
        </p:sp>
        <p:sp>
          <p:nvSpPr>
            <p:cNvPr id="64" name="TextBox 64"/>
            <p:cNvSpPr txBox="1"/>
            <p:nvPr/>
          </p:nvSpPr>
          <p:spPr>
            <a:xfrm>
              <a:off x="0" y="-47625"/>
              <a:ext cx="10119360" cy="657225"/>
            </a:xfrm>
            <a:prstGeom prst="rect">
              <a:avLst/>
            </a:prstGeom>
          </p:spPr>
          <p:txBody>
            <a:bodyPr lIns="0" tIns="0" rIns="0" bIns="0" rtlCol="0" anchor="ctr"/>
            <a:lstStyle/>
            <a:p>
              <a:pPr algn="l">
                <a:lnSpc>
                  <a:spcPts val="2520"/>
                </a:lnSpc>
              </a:pPr>
              <a:r>
                <a:rPr lang="en-US" sz="2100" b="1">
                  <a:solidFill>
                    <a:srgbClr val="7EC8A4"/>
                  </a:solidFill>
                  <a:latin typeface="Calibri (MS) Bold"/>
                  <a:ea typeface="Calibri (MS) Bold"/>
                  <a:cs typeface="Calibri (MS) Bold"/>
                  <a:sym typeface="Calibri (MS) Bold"/>
                </a:rPr>
                <a:t>Corrección localizada</a:t>
              </a:r>
            </a:p>
          </p:txBody>
        </p:sp>
      </p:grpSp>
      <p:sp>
        <p:nvSpPr>
          <p:cNvPr id="65" name="TextBox 65"/>
          <p:cNvSpPr txBox="1"/>
          <p:nvPr/>
        </p:nvSpPr>
        <p:spPr>
          <a:xfrm>
            <a:off x="9747504" y="7103364"/>
            <a:ext cx="7406640" cy="824484"/>
          </a:xfrm>
          <a:prstGeom prst="rect">
            <a:avLst/>
          </a:prstGeom>
        </p:spPr>
        <p:txBody>
          <a:bodyPr lIns="0" tIns="0" rIns="0" bIns="0" rtlCol="0" anchor="t">
            <a:spAutoFit/>
          </a:bodyPr>
          <a:lstStyle/>
          <a:p>
            <a:pPr algn="l">
              <a:lnSpc>
                <a:spcPts val="2280"/>
              </a:lnSpc>
            </a:pPr>
            <a:r>
              <a:rPr lang="en-US" sz="1900">
                <a:solidFill>
                  <a:srgbClr val="FFFFFF"/>
                </a:solidFill>
                <a:latin typeface="Calibri (MS)"/>
                <a:ea typeface="Calibri (MS)"/>
                <a:cs typeface="Calibri (MS)"/>
                <a:sym typeface="Calibri (MS)"/>
              </a:rPr>
              <a:t>Modificar o corregir una tarea requiere tocar un único bloque; el cambio se propaga automáticamente a toda invocación.</a:t>
            </a:r>
          </a:p>
        </p:txBody>
      </p:sp>
      <p:grpSp>
        <p:nvGrpSpPr>
          <p:cNvPr id="66" name="Group 66"/>
          <p:cNvGrpSpPr/>
          <p:nvPr/>
        </p:nvGrpSpPr>
        <p:grpSpPr>
          <a:xfrm>
            <a:off x="9656064" y="8119872"/>
            <a:ext cx="7589520" cy="457200"/>
            <a:chOff x="0" y="0"/>
            <a:chExt cx="10119360" cy="609600"/>
          </a:xfrm>
        </p:grpSpPr>
        <p:sp>
          <p:nvSpPr>
            <p:cNvPr id="67" name="Freeform 67"/>
            <p:cNvSpPr/>
            <p:nvPr/>
          </p:nvSpPr>
          <p:spPr>
            <a:xfrm>
              <a:off x="0" y="0"/>
              <a:ext cx="10119360" cy="609600"/>
            </a:xfrm>
            <a:custGeom>
              <a:avLst/>
              <a:gdLst/>
              <a:ahLst/>
              <a:cxnLst/>
              <a:rect l="l" t="t" r="r" b="b"/>
              <a:pathLst>
                <a:path w="10119360" h="609600">
                  <a:moveTo>
                    <a:pt x="0" y="0"/>
                  </a:moveTo>
                  <a:lnTo>
                    <a:pt x="10119360" y="0"/>
                  </a:lnTo>
                  <a:lnTo>
                    <a:pt x="10119360" y="609600"/>
                  </a:lnTo>
                  <a:lnTo>
                    <a:pt x="0" y="609600"/>
                  </a:lnTo>
                  <a:close/>
                </a:path>
              </a:pathLst>
            </a:custGeom>
            <a:blipFill>
              <a:blip r:embed="rId3">
                <a:alphaModFix amt="0"/>
              </a:blip>
              <a:stretch>
                <a:fillRect t="-273451" b="-273451"/>
              </a:stretch>
            </a:blipFill>
          </p:spPr>
          <p:txBody>
            <a:bodyPr/>
            <a:lstStyle/>
            <a:p>
              <a:endParaRPr lang="es-GT"/>
            </a:p>
          </p:txBody>
        </p:sp>
        <p:sp>
          <p:nvSpPr>
            <p:cNvPr id="68" name="TextBox 68"/>
            <p:cNvSpPr txBox="1"/>
            <p:nvPr/>
          </p:nvSpPr>
          <p:spPr>
            <a:xfrm>
              <a:off x="0" y="-47625"/>
              <a:ext cx="10119360" cy="657225"/>
            </a:xfrm>
            <a:prstGeom prst="rect">
              <a:avLst/>
            </a:prstGeom>
          </p:spPr>
          <p:txBody>
            <a:bodyPr lIns="0" tIns="0" rIns="0" bIns="0" rtlCol="0" anchor="ctr"/>
            <a:lstStyle/>
            <a:p>
              <a:pPr algn="l">
                <a:lnSpc>
                  <a:spcPts val="2520"/>
                </a:lnSpc>
              </a:pPr>
              <a:r>
                <a:rPr lang="en-US" sz="2100" b="1">
                  <a:solidFill>
                    <a:srgbClr val="7EC8A4"/>
                  </a:solidFill>
                  <a:latin typeface="Calibri (MS) Bold"/>
                  <a:ea typeface="Calibri (MS) Bold"/>
                  <a:cs typeface="Calibri (MS) Bold"/>
                  <a:sym typeface="Calibri (MS) Bold"/>
                </a:rPr>
                <a:t>Descomposición visible</a:t>
              </a:r>
            </a:p>
          </p:txBody>
        </p:sp>
      </p:grpSp>
      <p:sp>
        <p:nvSpPr>
          <p:cNvPr id="69" name="TextBox 69"/>
          <p:cNvSpPr txBox="1"/>
          <p:nvPr/>
        </p:nvSpPr>
        <p:spPr>
          <a:xfrm>
            <a:off x="9747504" y="8621268"/>
            <a:ext cx="7406640" cy="824484"/>
          </a:xfrm>
          <a:prstGeom prst="rect">
            <a:avLst/>
          </a:prstGeom>
        </p:spPr>
        <p:txBody>
          <a:bodyPr lIns="0" tIns="0" rIns="0" bIns="0" rtlCol="0" anchor="t">
            <a:spAutoFit/>
          </a:bodyPr>
          <a:lstStyle/>
          <a:p>
            <a:pPr algn="l">
              <a:lnSpc>
                <a:spcPts val="2280"/>
              </a:lnSpc>
            </a:pPr>
            <a:r>
              <a:rPr lang="en-US" sz="1900">
                <a:solidFill>
                  <a:srgbClr val="FFFFFF"/>
                </a:solidFill>
                <a:latin typeface="Calibri (MS)"/>
                <a:ea typeface="Calibri (MS)"/>
                <a:cs typeface="Calibri (MS)"/>
                <a:sym typeface="Calibri (MS)"/>
              </a:rPr>
              <a:t>Cada subproceso tiene un nombre que comunica su propósito, haciendo explícita la estructura del problema.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E2235"/>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16891" y="16891"/>
              <a:ext cx="24383999" cy="1755648"/>
            </a:xfrm>
            <a:custGeom>
              <a:avLst/>
              <a:gdLst/>
              <a:ahLst/>
              <a:cxnLst/>
              <a:rect l="l" t="t" r="r" b="b"/>
              <a:pathLst>
                <a:path w="24383999" h="1755648">
                  <a:moveTo>
                    <a:pt x="0" y="0"/>
                  </a:moveTo>
                  <a:lnTo>
                    <a:pt x="24383999" y="0"/>
                  </a:lnTo>
                  <a:lnTo>
                    <a:pt x="24383999" y="1755648"/>
                  </a:lnTo>
                  <a:lnTo>
                    <a:pt x="0" y="1755648"/>
                  </a:lnTo>
                  <a:close/>
                </a:path>
              </a:pathLst>
            </a:custGeom>
            <a:solidFill>
              <a:srgbClr val="161929"/>
            </a:solidFill>
          </p:spPr>
          <p:txBody>
            <a:bodyPr/>
            <a:lstStyle/>
            <a:p>
              <a:endParaRPr lang="es-GT"/>
            </a:p>
          </p:txBody>
        </p:sp>
        <p:sp>
          <p:nvSpPr>
            <p:cNvPr id="4" name="Freeform 4"/>
            <p:cNvSpPr/>
            <p:nvPr/>
          </p:nvSpPr>
          <p:spPr>
            <a:xfrm>
              <a:off x="0" y="0"/>
              <a:ext cx="24417782" cy="1789430"/>
            </a:xfrm>
            <a:custGeom>
              <a:avLst/>
              <a:gdLst/>
              <a:ahLst/>
              <a:cxnLst/>
              <a:rect l="l" t="t" r="r" b="b"/>
              <a:pathLst>
                <a:path w="24417782" h="1789430">
                  <a:moveTo>
                    <a:pt x="16891" y="0"/>
                  </a:moveTo>
                  <a:lnTo>
                    <a:pt x="24400890" y="0"/>
                  </a:lnTo>
                  <a:cubicBezTo>
                    <a:pt x="24410290" y="0"/>
                    <a:pt x="24417782" y="7620"/>
                    <a:pt x="24417782" y="16891"/>
                  </a:cubicBezTo>
                  <a:lnTo>
                    <a:pt x="24417782" y="1772539"/>
                  </a:lnTo>
                  <a:cubicBezTo>
                    <a:pt x="24417782" y="1781937"/>
                    <a:pt x="24410163" y="1789430"/>
                    <a:pt x="24400890"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24400890" y="1755648"/>
                  </a:lnTo>
                  <a:lnTo>
                    <a:pt x="24400890" y="1772539"/>
                  </a:lnTo>
                  <a:lnTo>
                    <a:pt x="24384000" y="1772539"/>
                  </a:lnTo>
                  <a:lnTo>
                    <a:pt x="24384000" y="16891"/>
                  </a:lnTo>
                  <a:lnTo>
                    <a:pt x="24400890" y="16891"/>
                  </a:lnTo>
                  <a:lnTo>
                    <a:pt x="24400890" y="33909"/>
                  </a:lnTo>
                  <a:lnTo>
                    <a:pt x="16891" y="33909"/>
                  </a:lnTo>
                  <a:close/>
                </a:path>
              </a:pathLst>
            </a:custGeom>
            <a:solidFill>
              <a:srgbClr val="161929"/>
            </a:solidFill>
          </p:spPr>
          <p:txBody>
            <a:bodyPr/>
            <a:lstStyle/>
            <a:p>
              <a:endParaRPr lang="es-GT"/>
            </a:p>
          </p:txBody>
        </p:sp>
      </p:grpSp>
      <p:grpSp>
        <p:nvGrpSpPr>
          <p:cNvPr id="5" name="Group 5"/>
          <p:cNvGrpSpPr/>
          <p:nvPr/>
        </p:nvGrpSpPr>
        <p:grpSpPr>
          <a:xfrm>
            <a:off x="-12697" y="1304039"/>
            <a:ext cx="18313403" cy="98555"/>
            <a:chOff x="0" y="0"/>
            <a:chExt cx="24417871" cy="131407"/>
          </a:xfrm>
        </p:grpSpPr>
        <p:sp>
          <p:nvSpPr>
            <p:cNvPr id="6" name="Freeform 6"/>
            <p:cNvSpPr/>
            <p:nvPr/>
          </p:nvSpPr>
          <p:spPr>
            <a:xfrm>
              <a:off x="16891" y="16891"/>
              <a:ext cx="24383999" cy="97536"/>
            </a:xfrm>
            <a:custGeom>
              <a:avLst/>
              <a:gdLst/>
              <a:ahLst/>
              <a:cxnLst/>
              <a:rect l="l" t="t" r="r" b="b"/>
              <a:pathLst>
                <a:path w="24383999" h="97536">
                  <a:moveTo>
                    <a:pt x="0" y="0"/>
                  </a:moveTo>
                  <a:lnTo>
                    <a:pt x="24383999" y="0"/>
                  </a:lnTo>
                  <a:lnTo>
                    <a:pt x="24383999" y="97536"/>
                  </a:lnTo>
                  <a:lnTo>
                    <a:pt x="0" y="97536"/>
                  </a:lnTo>
                  <a:close/>
                </a:path>
              </a:pathLst>
            </a:custGeom>
            <a:solidFill>
              <a:srgbClr val="5B8CFF"/>
            </a:solidFill>
          </p:spPr>
          <p:txBody>
            <a:bodyPr/>
            <a:lstStyle/>
            <a:p>
              <a:endParaRPr lang="es-GT"/>
            </a:p>
          </p:txBody>
        </p:sp>
        <p:sp>
          <p:nvSpPr>
            <p:cNvPr id="7" name="Freeform 7"/>
            <p:cNvSpPr/>
            <p:nvPr/>
          </p:nvSpPr>
          <p:spPr>
            <a:xfrm>
              <a:off x="0" y="0"/>
              <a:ext cx="24417782" cy="131320"/>
            </a:xfrm>
            <a:custGeom>
              <a:avLst/>
              <a:gdLst/>
              <a:ahLst/>
              <a:cxnLst/>
              <a:rect l="l" t="t" r="r" b="b"/>
              <a:pathLst>
                <a:path w="24417782" h="131320">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5B8CFF"/>
            </a:solidFill>
          </p:spPr>
          <p:txBody>
            <a:bodyPr/>
            <a:lstStyle/>
            <a:p>
              <a:endParaRPr lang="es-GT"/>
            </a:p>
          </p:txBody>
        </p:sp>
      </p:grpSp>
      <p:grpSp>
        <p:nvGrpSpPr>
          <p:cNvPr id="8" name="Group 8"/>
          <p:cNvGrpSpPr/>
          <p:nvPr/>
        </p:nvGrpSpPr>
        <p:grpSpPr>
          <a:xfrm>
            <a:off x="822960" y="0"/>
            <a:ext cx="16642080" cy="1316736"/>
            <a:chOff x="0" y="0"/>
            <a:chExt cx="22189440" cy="1755648"/>
          </a:xfrm>
        </p:grpSpPr>
        <p:sp>
          <p:nvSpPr>
            <p:cNvPr id="9" name="Freeform 9"/>
            <p:cNvSpPr/>
            <p:nvPr/>
          </p:nvSpPr>
          <p:spPr>
            <a:xfrm>
              <a:off x="0" y="0"/>
              <a:ext cx="22189439" cy="1755648"/>
            </a:xfrm>
            <a:custGeom>
              <a:avLst/>
              <a:gdLst/>
              <a:ahLst/>
              <a:cxnLst/>
              <a:rect l="l" t="t" r="r" b="b"/>
              <a:pathLst>
                <a:path w="22189439" h="1755648">
                  <a:moveTo>
                    <a:pt x="0" y="0"/>
                  </a:moveTo>
                  <a:lnTo>
                    <a:pt x="22189439" y="0"/>
                  </a:lnTo>
                  <a:lnTo>
                    <a:pt x="22189439" y="1755648"/>
                  </a:lnTo>
                  <a:lnTo>
                    <a:pt x="0" y="1755648"/>
                  </a:lnTo>
                  <a:close/>
                </a:path>
              </a:pathLst>
            </a:custGeom>
            <a:blipFill>
              <a:blip r:embed="rId3">
                <a:alphaModFix amt="0"/>
              </a:blip>
              <a:stretch>
                <a:fillRect t="-196269" b="-196269"/>
              </a:stretch>
            </a:blipFill>
          </p:spPr>
          <p:txBody>
            <a:bodyPr/>
            <a:lstStyle/>
            <a:p>
              <a:endParaRPr lang="es-GT"/>
            </a:p>
          </p:txBody>
        </p:sp>
        <p:sp>
          <p:nvSpPr>
            <p:cNvPr id="10" name="TextBox 10"/>
            <p:cNvSpPr txBox="1"/>
            <p:nvPr/>
          </p:nvSpPr>
          <p:spPr>
            <a:xfrm>
              <a:off x="0" y="-76200"/>
              <a:ext cx="22189440" cy="1831848"/>
            </a:xfrm>
            <a:prstGeom prst="rect">
              <a:avLst/>
            </a:prstGeom>
          </p:spPr>
          <p:txBody>
            <a:bodyPr lIns="0" tIns="0" rIns="0" bIns="0" rtlCol="0" anchor="ctr"/>
            <a:lstStyle/>
            <a:p>
              <a:pPr algn="l">
                <a:lnSpc>
                  <a:spcPts val="5280"/>
                </a:lnSpc>
              </a:pPr>
              <a:r>
                <a:rPr lang="en-US" sz="4400" b="1">
                  <a:solidFill>
                    <a:srgbClr val="FFFFFF"/>
                  </a:solidFill>
                  <a:latin typeface="Calibri (MS) Bold"/>
                  <a:ea typeface="Calibri (MS) Bold"/>
                  <a:cs typeface="Calibri (MS) Bold"/>
                  <a:sym typeface="Calibri (MS) Bold"/>
                </a:rPr>
                <a:t>¿Qué es un subproceso?</a:t>
              </a:r>
            </a:p>
          </p:txBody>
        </p:sp>
      </p:grpSp>
      <p:grpSp>
        <p:nvGrpSpPr>
          <p:cNvPr id="11" name="Group 11"/>
          <p:cNvGrpSpPr/>
          <p:nvPr/>
        </p:nvGrpSpPr>
        <p:grpSpPr>
          <a:xfrm>
            <a:off x="-12697" y="9954263"/>
            <a:ext cx="18313403" cy="345443"/>
            <a:chOff x="0" y="0"/>
            <a:chExt cx="24417871" cy="460591"/>
          </a:xfrm>
        </p:grpSpPr>
        <p:sp>
          <p:nvSpPr>
            <p:cNvPr id="12" name="Freeform 12"/>
            <p:cNvSpPr/>
            <p:nvPr/>
          </p:nvSpPr>
          <p:spPr>
            <a:xfrm>
              <a:off x="16891" y="16891"/>
              <a:ext cx="24383999" cy="426720"/>
            </a:xfrm>
            <a:custGeom>
              <a:avLst/>
              <a:gdLst/>
              <a:ahLst/>
              <a:cxnLst/>
              <a:rect l="l" t="t" r="r" b="b"/>
              <a:pathLst>
                <a:path w="24383999" h="426720">
                  <a:moveTo>
                    <a:pt x="0" y="0"/>
                  </a:moveTo>
                  <a:lnTo>
                    <a:pt x="24383999" y="0"/>
                  </a:lnTo>
                  <a:lnTo>
                    <a:pt x="24383999" y="426720"/>
                  </a:lnTo>
                  <a:lnTo>
                    <a:pt x="0" y="426720"/>
                  </a:lnTo>
                  <a:close/>
                </a:path>
              </a:pathLst>
            </a:custGeom>
            <a:solidFill>
              <a:srgbClr val="12152A"/>
            </a:solidFill>
          </p:spPr>
          <p:txBody>
            <a:bodyPr/>
            <a:lstStyle/>
            <a:p>
              <a:endParaRPr lang="es-GT"/>
            </a:p>
          </p:txBody>
        </p:sp>
        <p:sp>
          <p:nvSpPr>
            <p:cNvPr id="13" name="Freeform 13"/>
            <p:cNvSpPr/>
            <p:nvPr/>
          </p:nvSpPr>
          <p:spPr>
            <a:xfrm>
              <a:off x="0" y="0"/>
              <a:ext cx="24417782" cy="460504"/>
            </a:xfrm>
            <a:custGeom>
              <a:avLst/>
              <a:gdLst/>
              <a:ahLst/>
              <a:cxnLst/>
              <a:rect l="l" t="t" r="r" b="b"/>
              <a:pathLst>
                <a:path w="24417782" h="460504">
                  <a:moveTo>
                    <a:pt x="16891" y="0"/>
                  </a:moveTo>
                  <a:lnTo>
                    <a:pt x="24400890" y="0"/>
                  </a:lnTo>
                  <a:cubicBezTo>
                    <a:pt x="24410290" y="0"/>
                    <a:pt x="24417782" y="7620"/>
                    <a:pt x="24417782" y="16891"/>
                  </a:cubicBezTo>
                  <a:lnTo>
                    <a:pt x="24417782" y="443611"/>
                  </a:lnTo>
                  <a:cubicBezTo>
                    <a:pt x="24417782" y="453009"/>
                    <a:pt x="24410163" y="460502"/>
                    <a:pt x="24400890" y="460502"/>
                  </a:cubicBezTo>
                  <a:lnTo>
                    <a:pt x="16891" y="460502"/>
                  </a:lnTo>
                  <a:cubicBezTo>
                    <a:pt x="7620" y="460629"/>
                    <a:pt x="0" y="453009"/>
                    <a:pt x="0" y="443611"/>
                  </a:cubicBezTo>
                  <a:lnTo>
                    <a:pt x="0" y="16891"/>
                  </a:lnTo>
                  <a:cubicBezTo>
                    <a:pt x="0" y="7620"/>
                    <a:pt x="7620" y="0"/>
                    <a:pt x="16891" y="0"/>
                  </a:cubicBezTo>
                  <a:moveTo>
                    <a:pt x="16891" y="33909"/>
                  </a:moveTo>
                  <a:lnTo>
                    <a:pt x="16891" y="16891"/>
                  </a:lnTo>
                  <a:lnTo>
                    <a:pt x="33909" y="16891"/>
                  </a:lnTo>
                  <a:lnTo>
                    <a:pt x="33909" y="443611"/>
                  </a:lnTo>
                  <a:lnTo>
                    <a:pt x="16891" y="443611"/>
                  </a:lnTo>
                  <a:lnTo>
                    <a:pt x="16891" y="426720"/>
                  </a:lnTo>
                  <a:lnTo>
                    <a:pt x="24400890" y="426720"/>
                  </a:lnTo>
                  <a:lnTo>
                    <a:pt x="24400890" y="443611"/>
                  </a:lnTo>
                  <a:lnTo>
                    <a:pt x="24384000" y="443611"/>
                  </a:lnTo>
                  <a:lnTo>
                    <a:pt x="24384000" y="16891"/>
                  </a:lnTo>
                  <a:lnTo>
                    <a:pt x="24400890" y="16891"/>
                  </a:lnTo>
                  <a:lnTo>
                    <a:pt x="24400890" y="33909"/>
                  </a:lnTo>
                  <a:lnTo>
                    <a:pt x="16891" y="33909"/>
                  </a:lnTo>
                  <a:close/>
                </a:path>
              </a:pathLst>
            </a:custGeom>
            <a:solidFill>
              <a:srgbClr val="12152A"/>
            </a:solidFill>
          </p:spPr>
          <p:txBody>
            <a:bodyPr/>
            <a:lstStyle/>
            <a:p>
              <a:endParaRPr lang="es-GT"/>
            </a:p>
          </p:txBody>
        </p:sp>
      </p:grpSp>
      <p:grpSp>
        <p:nvGrpSpPr>
          <p:cNvPr id="14" name="Group 14"/>
          <p:cNvGrpSpPr/>
          <p:nvPr/>
        </p:nvGrpSpPr>
        <p:grpSpPr>
          <a:xfrm>
            <a:off x="17007840" y="9966960"/>
            <a:ext cx="914400" cy="320040"/>
            <a:chOff x="0" y="0"/>
            <a:chExt cx="1219200" cy="426720"/>
          </a:xfrm>
        </p:grpSpPr>
        <p:sp>
          <p:nvSpPr>
            <p:cNvPr id="15" name="Freeform 15"/>
            <p:cNvSpPr/>
            <p:nvPr/>
          </p:nvSpPr>
          <p:spPr>
            <a:xfrm>
              <a:off x="0" y="0"/>
              <a:ext cx="1219200" cy="426720"/>
            </a:xfrm>
            <a:custGeom>
              <a:avLst/>
              <a:gdLst/>
              <a:ahLst/>
              <a:cxnLst/>
              <a:rect l="l" t="t" r="r" b="b"/>
              <a:pathLst>
                <a:path w="1219200" h="426720">
                  <a:moveTo>
                    <a:pt x="0" y="0"/>
                  </a:moveTo>
                  <a:lnTo>
                    <a:pt x="1219200" y="0"/>
                  </a:lnTo>
                  <a:lnTo>
                    <a:pt x="1219200" y="426720"/>
                  </a:lnTo>
                  <a:lnTo>
                    <a:pt x="0" y="426720"/>
                  </a:lnTo>
                  <a:close/>
                </a:path>
              </a:pathLst>
            </a:custGeom>
            <a:blipFill>
              <a:blip r:embed="rId3">
                <a:alphaModFix amt="0"/>
              </a:blip>
              <a:stretch>
                <a:fillRect t="-5671" b="-5671"/>
              </a:stretch>
            </a:blipFill>
          </p:spPr>
          <p:txBody>
            <a:bodyPr/>
            <a:lstStyle/>
            <a:p>
              <a:endParaRPr lang="es-GT"/>
            </a:p>
          </p:txBody>
        </p:sp>
        <p:sp>
          <p:nvSpPr>
            <p:cNvPr id="16" name="TextBox 16"/>
            <p:cNvSpPr txBox="1"/>
            <p:nvPr/>
          </p:nvSpPr>
          <p:spPr>
            <a:xfrm>
              <a:off x="0" y="-38100"/>
              <a:ext cx="1219200" cy="464820"/>
            </a:xfrm>
            <a:prstGeom prst="rect">
              <a:avLst/>
            </a:prstGeom>
          </p:spPr>
          <p:txBody>
            <a:bodyPr lIns="0" tIns="0" rIns="0" bIns="0" rtlCol="0" anchor="ctr"/>
            <a:lstStyle/>
            <a:p>
              <a:pPr algn="r">
                <a:lnSpc>
                  <a:spcPts val="1800"/>
                </a:lnSpc>
              </a:pPr>
              <a:r>
                <a:rPr lang="en-US" sz="1500">
                  <a:solidFill>
                    <a:srgbClr val="6E7A9F"/>
                  </a:solidFill>
                  <a:latin typeface="Calibri (MS)"/>
                  <a:ea typeface="Calibri (MS)"/>
                  <a:cs typeface="Calibri (MS)"/>
                  <a:sym typeface="Calibri (MS)"/>
                </a:rPr>
                <a:t>28</a:t>
              </a:r>
            </a:p>
          </p:txBody>
        </p:sp>
      </p:grpSp>
      <p:grpSp>
        <p:nvGrpSpPr>
          <p:cNvPr id="17" name="Group 17"/>
          <p:cNvGrpSpPr/>
          <p:nvPr/>
        </p:nvGrpSpPr>
        <p:grpSpPr>
          <a:xfrm>
            <a:off x="718823" y="1596647"/>
            <a:ext cx="16850363" cy="2366267"/>
            <a:chOff x="0" y="0"/>
            <a:chExt cx="22467151" cy="3155023"/>
          </a:xfrm>
        </p:grpSpPr>
        <p:sp>
          <p:nvSpPr>
            <p:cNvPr id="18" name="Freeform 18"/>
            <p:cNvSpPr/>
            <p:nvPr/>
          </p:nvSpPr>
          <p:spPr>
            <a:xfrm>
              <a:off x="16891" y="16891"/>
              <a:ext cx="22433280" cy="3121152"/>
            </a:xfrm>
            <a:custGeom>
              <a:avLst/>
              <a:gdLst/>
              <a:ahLst/>
              <a:cxnLst/>
              <a:rect l="l" t="t" r="r" b="b"/>
              <a:pathLst>
                <a:path w="22433280" h="3121152">
                  <a:moveTo>
                    <a:pt x="0" y="0"/>
                  </a:moveTo>
                  <a:lnTo>
                    <a:pt x="22433280" y="0"/>
                  </a:lnTo>
                  <a:lnTo>
                    <a:pt x="22433280" y="3121152"/>
                  </a:lnTo>
                  <a:lnTo>
                    <a:pt x="0" y="3121152"/>
                  </a:lnTo>
                  <a:close/>
                </a:path>
              </a:pathLst>
            </a:custGeom>
            <a:solidFill>
              <a:srgbClr val="252B42"/>
            </a:solidFill>
          </p:spPr>
          <p:txBody>
            <a:bodyPr/>
            <a:lstStyle/>
            <a:p>
              <a:endParaRPr lang="es-GT"/>
            </a:p>
          </p:txBody>
        </p:sp>
        <p:sp>
          <p:nvSpPr>
            <p:cNvPr id="19" name="Freeform 19"/>
            <p:cNvSpPr/>
            <p:nvPr/>
          </p:nvSpPr>
          <p:spPr>
            <a:xfrm>
              <a:off x="0" y="0"/>
              <a:ext cx="22467063" cy="3154934"/>
            </a:xfrm>
            <a:custGeom>
              <a:avLst/>
              <a:gdLst/>
              <a:ahLst/>
              <a:cxnLst/>
              <a:rect l="l" t="t" r="r" b="b"/>
              <a:pathLst>
                <a:path w="22467063" h="3154934">
                  <a:moveTo>
                    <a:pt x="16891" y="0"/>
                  </a:moveTo>
                  <a:lnTo>
                    <a:pt x="22450171" y="0"/>
                  </a:lnTo>
                  <a:cubicBezTo>
                    <a:pt x="22459569" y="0"/>
                    <a:pt x="22467063" y="7620"/>
                    <a:pt x="22467063" y="16891"/>
                  </a:cubicBezTo>
                  <a:lnTo>
                    <a:pt x="22467063" y="3138043"/>
                  </a:lnTo>
                  <a:cubicBezTo>
                    <a:pt x="22467063" y="3147441"/>
                    <a:pt x="22459443" y="3154934"/>
                    <a:pt x="22450171" y="3154934"/>
                  </a:cubicBezTo>
                  <a:lnTo>
                    <a:pt x="16891" y="3154934"/>
                  </a:lnTo>
                  <a:cubicBezTo>
                    <a:pt x="7493" y="3154934"/>
                    <a:pt x="0" y="3147314"/>
                    <a:pt x="0" y="3138043"/>
                  </a:cubicBezTo>
                  <a:lnTo>
                    <a:pt x="0" y="16891"/>
                  </a:lnTo>
                  <a:cubicBezTo>
                    <a:pt x="0" y="7620"/>
                    <a:pt x="7620" y="0"/>
                    <a:pt x="16891" y="0"/>
                  </a:cubicBezTo>
                  <a:moveTo>
                    <a:pt x="16891" y="33909"/>
                  </a:moveTo>
                  <a:lnTo>
                    <a:pt x="16891" y="16891"/>
                  </a:lnTo>
                  <a:lnTo>
                    <a:pt x="33909" y="16891"/>
                  </a:lnTo>
                  <a:lnTo>
                    <a:pt x="33909" y="3138043"/>
                  </a:lnTo>
                  <a:lnTo>
                    <a:pt x="16891" y="3138043"/>
                  </a:lnTo>
                  <a:lnTo>
                    <a:pt x="16891" y="3121152"/>
                  </a:lnTo>
                  <a:lnTo>
                    <a:pt x="22450171" y="3121152"/>
                  </a:lnTo>
                  <a:lnTo>
                    <a:pt x="22450171" y="3138043"/>
                  </a:lnTo>
                  <a:lnTo>
                    <a:pt x="22433280" y="3138043"/>
                  </a:lnTo>
                  <a:lnTo>
                    <a:pt x="22433280" y="16891"/>
                  </a:lnTo>
                  <a:lnTo>
                    <a:pt x="22450171" y="16891"/>
                  </a:lnTo>
                  <a:lnTo>
                    <a:pt x="22450171" y="33909"/>
                  </a:lnTo>
                  <a:lnTo>
                    <a:pt x="16891" y="33909"/>
                  </a:lnTo>
                  <a:close/>
                </a:path>
              </a:pathLst>
            </a:custGeom>
            <a:solidFill>
              <a:srgbClr val="5EC6E8"/>
            </a:solidFill>
          </p:spPr>
          <p:txBody>
            <a:bodyPr/>
            <a:lstStyle/>
            <a:p>
              <a:endParaRPr lang="es-GT"/>
            </a:p>
          </p:txBody>
        </p:sp>
      </p:grpSp>
      <p:grpSp>
        <p:nvGrpSpPr>
          <p:cNvPr id="20" name="Group 20"/>
          <p:cNvGrpSpPr/>
          <p:nvPr/>
        </p:nvGrpSpPr>
        <p:grpSpPr>
          <a:xfrm>
            <a:off x="718823" y="1596647"/>
            <a:ext cx="16850363" cy="171707"/>
            <a:chOff x="0" y="0"/>
            <a:chExt cx="22467151" cy="228943"/>
          </a:xfrm>
        </p:grpSpPr>
        <p:sp>
          <p:nvSpPr>
            <p:cNvPr id="21" name="Freeform 21"/>
            <p:cNvSpPr/>
            <p:nvPr/>
          </p:nvSpPr>
          <p:spPr>
            <a:xfrm>
              <a:off x="16891" y="16891"/>
              <a:ext cx="22433280" cy="195072"/>
            </a:xfrm>
            <a:custGeom>
              <a:avLst/>
              <a:gdLst/>
              <a:ahLst/>
              <a:cxnLst/>
              <a:rect l="l" t="t" r="r" b="b"/>
              <a:pathLst>
                <a:path w="22433280" h="195072">
                  <a:moveTo>
                    <a:pt x="0" y="0"/>
                  </a:moveTo>
                  <a:lnTo>
                    <a:pt x="22433280" y="0"/>
                  </a:lnTo>
                  <a:lnTo>
                    <a:pt x="22433280" y="195072"/>
                  </a:lnTo>
                  <a:lnTo>
                    <a:pt x="0" y="195072"/>
                  </a:lnTo>
                  <a:close/>
                </a:path>
              </a:pathLst>
            </a:custGeom>
            <a:solidFill>
              <a:srgbClr val="5EC6E8"/>
            </a:solidFill>
          </p:spPr>
          <p:txBody>
            <a:bodyPr/>
            <a:lstStyle/>
            <a:p>
              <a:endParaRPr lang="es-GT"/>
            </a:p>
          </p:txBody>
        </p:sp>
        <p:sp>
          <p:nvSpPr>
            <p:cNvPr id="22" name="Freeform 22"/>
            <p:cNvSpPr/>
            <p:nvPr/>
          </p:nvSpPr>
          <p:spPr>
            <a:xfrm>
              <a:off x="0" y="0"/>
              <a:ext cx="22467063" cy="228856"/>
            </a:xfrm>
            <a:custGeom>
              <a:avLst/>
              <a:gdLst/>
              <a:ahLst/>
              <a:cxnLst/>
              <a:rect l="l" t="t" r="r" b="b"/>
              <a:pathLst>
                <a:path w="22467063" h="228856">
                  <a:moveTo>
                    <a:pt x="16891" y="0"/>
                  </a:moveTo>
                  <a:lnTo>
                    <a:pt x="22450171" y="0"/>
                  </a:lnTo>
                  <a:cubicBezTo>
                    <a:pt x="22459569" y="0"/>
                    <a:pt x="22467063" y="7620"/>
                    <a:pt x="22467063" y="16891"/>
                  </a:cubicBezTo>
                  <a:lnTo>
                    <a:pt x="22467063" y="211963"/>
                  </a:lnTo>
                  <a:cubicBezTo>
                    <a:pt x="22467063" y="221361"/>
                    <a:pt x="22459443" y="228854"/>
                    <a:pt x="22450171"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22450171" y="195072"/>
                  </a:lnTo>
                  <a:lnTo>
                    <a:pt x="22450171" y="211963"/>
                  </a:lnTo>
                  <a:lnTo>
                    <a:pt x="22433280" y="211963"/>
                  </a:lnTo>
                  <a:lnTo>
                    <a:pt x="22433280" y="16891"/>
                  </a:lnTo>
                  <a:lnTo>
                    <a:pt x="22450171" y="16891"/>
                  </a:lnTo>
                  <a:lnTo>
                    <a:pt x="22450171" y="33909"/>
                  </a:lnTo>
                  <a:lnTo>
                    <a:pt x="16891" y="33909"/>
                  </a:lnTo>
                  <a:close/>
                </a:path>
              </a:pathLst>
            </a:custGeom>
            <a:solidFill>
              <a:srgbClr val="5EC6E8"/>
            </a:solidFill>
          </p:spPr>
          <p:txBody>
            <a:bodyPr/>
            <a:lstStyle/>
            <a:p>
              <a:endParaRPr lang="es-GT"/>
            </a:p>
          </p:txBody>
        </p:sp>
      </p:grpSp>
      <p:grpSp>
        <p:nvGrpSpPr>
          <p:cNvPr id="23" name="Group 23"/>
          <p:cNvGrpSpPr/>
          <p:nvPr/>
        </p:nvGrpSpPr>
        <p:grpSpPr>
          <a:xfrm>
            <a:off x="1060704" y="1828800"/>
            <a:ext cx="16184880" cy="1920240"/>
            <a:chOff x="0" y="0"/>
            <a:chExt cx="21579840" cy="2560320"/>
          </a:xfrm>
        </p:grpSpPr>
        <p:sp>
          <p:nvSpPr>
            <p:cNvPr id="24" name="Freeform 24"/>
            <p:cNvSpPr/>
            <p:nvPr/>
          </p:nvSpPr>
          <p:spPr>
            <a:xfrm>
              <a:off x="0" y="0"/>
              <a:ext cx="21579839" cy="2560320"/>
            </a:xfrm>
            <a:custGeom>
              <a:avLst/>
              <a:gdLst/>
              <a:ahLst/>
              <a:cxnLst/>
              <a:rect l="l" t="t" r="r" b="b"/>
              <a:pathLst>
                <a:path w="21579839" h="2560320">
                  <a:moveTo>
                    <a:pt x="0" y="0"/>
                  </a:moveTo>
                  <a:lnTo>
                    <a:pt x="21579839" y="0"/>
                  </a:lnTo>
                  <a:lnTo>
                    <a:pt x="21579839" y="2560320"/>
                  </a:lnTo>
                  <a:lnTo>
                    <a:pt x="0" y="2560320"/>
                  </a:lnTo>
                  <a:close/>
                </a:path>
              </a:pathLst>
            </a:custGeom>
            <a:blipFill>
              <a:blip r:embed="rId3">
                <a:alphaModFix amt="0"/>
              </a:blip>
              <a:stretch>
                <a:fillRect t="-114231" b="-114231"/>
              </a:stretch>
            </a:blipFill>
          </p:spPr>
          <p:txBody>
            <a:bodyPr/>
            <a:lstStyle/>
            <a:p>
              <a:endParaRPr lang="es-GT"/>
            </a:p>
          </p:txBody>
        </p:sp>
        <p:sp>
          <p:nvSpPr>
            <p:cNvPr id="25" name="TextBox 25"/>
            <p:cNvSpPr txBox="1"/>
            <p:nvPr/>
          </p:nvSpPr>
          <p:spPr>
            <a:xfrm>
              <a:off x="0" y="-47625"/>
              <a:ext cx="21579840" cy="2607945"/>
            </a:xfrm>
            <a:prstGeom prst="rect">
              <a:avLst/>
            </a:prstGeom>
          </p:spPr>
          <p:txBody>
            <a:bodyPr lIns="0" tIns="0" rIns="0" bIns="0" rtlCol="0" anchor="ctr"/>
            <a:lstStyle/>
            <a:p>
              <a:pPr algn="l">
                <a:lnSpc>
                  <a:spcPts val="2640"/>
                </a:lnSpc>
              </a:pPr>
              <a:r>
                <a:rPr lang="en-US" sz="2200">
                  <a:solidFill>
                    <a:srgbClr val="FFFFFF"/>
                  </a:solidFill>
                  <a:latin typeface="Calibri (MS)"/>
                  <a:ea typeface="Calibri (MS)"/>
                  <a:cs typeface="Calibri (MS)"/>
                  <a:sym typeface="Calibri (MS)"/>
                </a:rPr>
                <a:t>Un subproceso es un bloque de instrucciones con nombre propio que forma parte de un algoritmo mayor. Puede recibir datos de entrada, ejecutar sus pasos y, opcionalmente, devolver un resultado al punto desde donde fue invocado. Su propósito principal es la descomposición: separar responsabilidades dentro de un algoritmo complejo.</a:t>
              </a:r>
            </a:p>
          </p:txBody>
        </p:sp>
      </p:grpSp>
      <p:grpSp>
        <p:nvGrpSpPr>
          <p:cNvPr id="26" name="Group 26"/>
          <p:cNvGrpSpPr/>
          <p:nvPr/>
        </p:nvGrpSpPr>
        <p:grpSpPr>
          <a:xfrm>
            <a:off x="718823" y="4156967"/>
            <a:ext cx="8163563" cy="5603243"/>
            <a:chOff x="0" y="0"/>
            <a:chExt cx="10884751" cy="7470991"/>
          </a:xfrm>
        </p:grpSpPr>
        <p:sp>
          <p:nvSpPr>
            <p:cNvPr id="27" name="Freeform 27"/>
            <p:cNvSpPr/>
            <p:nvPr/>
          </p:nvSpPr>
          <p:spPr>
            <a:xfrm>
              <a:off x="16891" y="16891"/>
              <a:ext cx="10850881" cy="7437120"/>
            </a:xfrm>
            <a:custGeom>
              <a:avLst/>
              <a:gdLst/>
              <a:ahLst/>
              <a:cxnLst/>
              <a:rect l="l" t="t" r="r" b="b"/>
              <a:pathLst>
                <a:path w="10850881" h="7437120">
                  <a:moveTo>
                    <a:pt x="0" y="0"/>
                  </a:moveTo>
                  <a:lnTo>
                    <a:pt x="10850881" y="0"/>
                  </a:lnTo>
                  <a:lnTo>
                    <a:pt x="10850881" y="7437120"/>
                  </a:lnTo>
                  <a:lnTo>
                    <a:pt x="0" y="7437120"/>
                  </a:lnTo>
                  <a:close/>
                </a:path>
              </a:pathLst>
            </a:custGeom>
            <a:solidFill>
              <a:srgbClr val="1A1F33"/>
            </a:solidFill>
          </p:spPr>
          <p:txBody>
            <a:bodyPr/>
            <a:lstStyle/>
            <a:p>
              <a:endParaRPr lang="es-GT"/>
            </a:p>
          </p:txBody>
        </p:sp>
        <p:sp>
          <p:nvSpPr>
            <p:cNvPr id="28" name="Freeform 28"/>
            <p:cNvSpPr/>
            <p:nvPr/>
          </p:nvSpPr>
          <p:spPr>
            <a:xfrm>
              <a:off x="0" y="0"/>
              <a:ext cx="10884662" cy="7470901"/>
            </a:xfrm>
            <a:custGeom>
              <a:avLst/>
              <a:gdLst/>
              <a:ahLst/>
              <a:cxnLst/>
              <a:rect l="l" t="t" r="r" b="b"/>
              <a:pathLst>
                <a:path w="10884662" h="7470901">
                  <a:moveTo>
                    <a:pt x="16891" y="0"/>
                  </a:moveTo>
                  <a:lnTo>
                    <a:pt x="10867772" y="0"/>
                  </a:lnTo>
                  <a:cubicBezTo>
                    <a:pt x="10877169" y="0"/>
                    <a:pt x="10884662" y="7620"/>
                    <a:pt x="10884662" y="16891"/>
                  </a:cubicBezTo>
                  <a:lnTo>
                    <a:pt x="10884662" y="7454011"/>
                  </a:lnTo>
                  <a:cubicBezTo>
                    <a:pt x="10884662" y="7463409"/>
                    <a:pt x="10877042" y="7470901"/>
                    <a:pt x="10867772" y="7470901"/>
                  </a:cubicBezTo>
                  <a:lnTo>
                    <a:pt x="16891" y="7470901"/>
                  </a:lnTo>
                  <a:cubicBezTo>
                    <a:pt x="7493" y="7470901"/>
                    <a:pt x="0" y="7463282"/>
                    <a:pt x="0" y="7454011"/>
                  </a:cubicBezTo>
                  <a:lnTo>
                    <a:pt x="0" y="16891"/>
                  </a:lnTo>
                  <a:cubicBezTo>
                    <a:pt x="0" y="7620"/>
                    <a:pt x="7620" y="0"/>
                    <a:pt x="16891" y="0"/>
                  </a:cubicBezTo>
                  <a:moveTo>
                    <a:pt x="16891" y="33909"/>
                  </a:moveTo>
                  <a:lnTo>
                    <a:pt x="16891" y="16891"/>
                  </a:lnTo>
                  <a:lnTo>
                    <a:pt x="33909" y="16891"/>
                  </a:lnTo>
                  <a:lnTo>
                    <a:pt x="33909" y="7454011"/>
                  </a:lnTo>
                  <a:lnTo>
                    <a:pt x="16891" y="7454011"/>
                  </a:lnTo>
                  <a:lnTo>
                    <a:pt x="16891" y="7437120"/>
                  </a:lnTo>
                  <a:lnTo>
                    <a:pt x="10867772" y="7437120"/>
                  </a:lnTo>
                  <a:lnTo>
                    <a:pt x="10867772" y="7454011"/>
                  </a:lnTo>
                  <a:lnTo>
                    <a:pt x="10850880" y="7454011"/>
                  </a:lnTo>
                  <a:lnTo>
                    <a:pt x="10850880" y="16891"/>
                  </a:lnTo>
                  <a:lnTo>
                    <a:pt x="10867772" y="16891"/>
                  </a:lnTo>
                  <a:lnTo>
                    <a:pt x="10867772" y="33909"/>
                  </a:lnTo>
                  <a:lnTo>
                    <a:pt x="16891" y="33909"/>
                  </a:lnTo>
                  <a:close/>
                </a:path>
              </a:pathLst>
            </a:custGeom>
            <a:solidFill>
              <a:srgbClr val="3A4160"/>
            </a:solidFill>
          </p:spPr>
          <p:txBody>
            <a:bodyPr/>
            <a:lstStyle/>
            <a:p>
              <a:endParaRPr lang="es-GT"/>
            </a:p>
          </p:txBody>
        </p:sp>
      </p:grpSp>
      <p:grpSp>
        <p:nvGrpSpPr>
          <p:cNvPr id="29" name="Group 29"/>
          <p:cNvGrpSpPr/>
          <p:nvPr/>
        </p:nvGrpSpPr>
        <p:grpSpPr>
          <a:xfrm>
            <a:off x="1005840" y="4315968"/>
            <a:ext cx="7589520" cy="548640"/>
            <a:chOff x="0" y="0"/>
            <a:chExt cx="10119360" cy="731520"/>
          </a:xfrm>
        </p:grpSpPr>
        <p:sp>
          <p:nvSpPr>
            <p:cNvPr id="30" name="Freeform 30"/>
            <p:cNvSpPr/>
            <p:nvPr/>
          </p:nvSpPr>
          <p:spPr>
            <a:xfrm>
              <a:off x="0" y="0"/>
              <a:ext cx="10119360" cy="731520"/>
            </a:xfrm>
            <a:custGeom>
              <a:avLst/>
              <a:gdLst/>
              <a:ahLst/>
              <a:cxnLst/>
              <a:rect l="l" t="t" r="r" b="b"/>
              <a:pathLst>
                <a:path w="10119360" h="731520">
                  <a:moveTo>
                    <a:pt x="0" y="0"/>
                  </a:moveTo>
                  <a:lnTo>
                    <a:pt x="10119360" y="0"/>
                  </a:lnTo>
                  <a:lnTo>
                    <a:pt x="10119360" y="731520"/>
                  </a:lnTo>
                  <a:lnTo>
                    <a:pt x="0" y="731520"/>
                  </a:lnTo>
                  <a:close/>
                </a:path>
              </a:pathLst>
            </a:custGeom>
            <a:blipFill>
              <a:blip r:embed="rId3">
                <a:alphaModFix amt="0"/>
              </a:blip>
              <a:stretch>
                <a:fillRect t="-219543" b="-219543"/>
              </a:stretch>
            </a:blipFill>
          </p:spPr>
          <p:txBody>
            <a:bodyPr/>
            <a:lstStyle/>
            <a:p>
              <a:endParaRPr lang="es-GT"/>
            </a:p>
          </p:txBody>
        </p:sp>
        <p:sp>
          <p:nvSpPr>
            <p:cNvPr id="31" name="TextBox 31"/>
            <p:cNvSpPr txBox="1"/>
            <p:nvPr/>
          </p:nvSpPr>
          <p:spPr>
            <a:xfrm>
              <a:off x="0" y="-38100"/>
              <a:ext cx="10119360" cy="769620"/>
            </a:xfrm>
            <a:prstGeom prst="rect">
              <a:avLst/>
            </a:prstGeom>
          </p:spPr>
          <p:txBody>
            <a:bodyPr lIns="0" tIns="0" rIns="0" bIns="0" rtlCol="0" anchor="ctr"/>
            <a:lstStyle/>
            <a:p>
              <a:pPr algn="l">
                <a:lnSpc>
                  <a:spcPts val="2879"/>
                </a:lnSpc>
              </a:pPr>
              <a:r>
                <a:rPr lang="en-US" sz="2400" b="1">
                  <a:solidFill>
                    <a:srgbClr val="5EC6E8"/>
                  </a:solidFill>
                  <a:latin typeface="Calibri (MS) Bold"/>
                  <a:ea typeface="Calibri (MS) Bold"/>
                  <a:cs typeface="Calibri (MS) Bold"/>
                  <a:sym typeface="Calibri (MS) Bold"/>
                </a:rPr>
                <a:t>Analogía cotidiana</a:t>
              </a:r>
            </a:p>
          </p:txBody>
        </p:sp>
      </p:grpSp>
      <p:sp>
        <p:nvSpPr>
          <p:cNvPr id="32" name="TextBox 32"/>
          <p:cNvSpPr txBox="1"/>
          <p:nvPr/>
        </p:nvSpPr>
        <p:spPr>
          <a:xfrm>
            <a:off x="1097280" y="4972431"/>
            <a:ext cx="7406640" cy="3381375"/>
          </a:xfrm>
          <a:prstGeom prst="rect">
            <a:avLst/>
          </a:prstGeom>
        </p:spPr>
        <p:txBody>
          <a:bodyPr lIns="0" tIns="0" rIns="0" bIns="0" rtlCol="0" anchor="t">
            <a:spAutoFit/>
          </a:bodyPr>
          <a:lstStyle/>
          <a:p>
            <a:pPr algn="l">
              <a:lnSpc>
                <a:spcPts val="2639"/>
              </a:lnSpc>
            </a:pPr>
            <a:r>
              <a:rPr lang="en-US" sz="2199">
                <a:solidFill>
                  <a:srgbClr val="B0B8CC"/>
                </a:solidFill>
                <a:latin typeface="Calibri (MS)"/>
                <a:ea typeface="Calibri (MS)"/>
                <a:cs typeface="Calibri (MS)"/>
                <a:sym typeface="Calibri (MS)"/>
              </a:rPr>
              <a:t>Preparar un almuerzo completo es el algoritmo principal. Dentro de él existen tareas claramente separadas: "Preparar arroz", "Preparar pollo" y "Preparar ensalada".</a:t>
            </a:r>
          </a:p>
          <a:p>
            <a:pPr algn="l">
              <a:lnSpc>
                <a:spcPts val="2639"/>
              </a:lnSpc>
            </a:pPr>
            <a:endParaRPr lang="en-US" sz="2199">
              <a:solidFill>
                <a:srgbClr val="B0B8CC"/>
              </a:solidFill>
              <a:latin typeface="Calibri (MS)"/>
              <a:ea typeface="Calibri (MS)"/>
              <a:cs typeface="Calibri (MS)"/>
              <a:sym typeface="Calibri (MS)"/>
            </a:endParaRPr>
          </a:p>
          <a:p>
            <a:pPr algn="l">
              <a:lnSpc>
                <a:spcPts val="2639"/>
              </a:lnSpc>
            </a:pPr>
            <a:r>
              <a:rPr lang="en-US" sz="2199">
                <a:solidFill>
                  <a:srgbClr val="B0B8CC"/>
                </a:solidFill>
                <a:latin typeface="Calibri (MS)"/>
                <a:ea typeface="Calibri (MS)"/>
                <a:cs typeface="Calibri (MS)"/>
                <a:sym typeface="Calibri (MS)"/>
              </a:rPr>
              <a:t>Cada una tiene sus propios pasos internos, pero el cocinero (algoritmo principal) solo las llama por nombre: no necesita recordar cada detalle al mismo tiempo.</a:t>
            </a:r>
          </a:p>
          <a:p>
            <a:pPr algn="l">
              <a:lnSpc>
                <a:spcPts val="2639"/>
              </a:lnSpc>
            </a:pPr>
            <a:endParaRPr lang="en-US" sz="2199">
              <a:solidFill>
                <a:srgbClr val="B0B8CC"/>
              </a:solidFill>
              <a:latin typeface="Calibri (MS)"/>
              <a:ea typeface="Calibri (MS)"/>
              <a:cs typeface="Calibri (MS)"/>
              <a:sym typeface="Calibri (MS)"/>
            </a:endParaRPr>
          </a:p>
          <a:p>
            <a:pPr algn="l">
              <a:lnSpc>
                <a:spcPts val="2639"/>
              </a:lnSpc>
            </a:pPr>
            <a:r>
              <a:rPr lang="en-US" sz="2199">
                <a:solidFill>
                  <a:srgbClr val="B0B8CC"/>
                </a:solidFill>
                <a:latin typeface="Calibri (MS)"/>
                <a:ea typeface="Calibri (MS)"/>
                <a:cs typeface="Calibri (MS)"/>
                <a:sym typeface="Calibri (MS)"/>
              </a:rPr>
              <a:t>Eso es exactamente un subproceso: una tarea nombrada, encapsulada y reutilizable.</a:t>
            </a:r>
          </a:p>
        </p:txBody>
      </p:sp>
      <p:grpSp>
        <p:nvGrpSpPr>
          <p:cNvPr id="33" name="Group 33"/>
          <p:cNvGrpSpPr/>
          <p:nvPr/>
        </p:nvGrpSpPr>
        <p:grpSpPr>
          <a:xfrm>
            <a:off x="9314183" y="4156967"/>
            <a:ext cx="8255003" cy="5603243"/>
            <a:chOff x="0" y="0"/>
            <a:chExt cx="11006671" cy="7470991"/>
          </a:xfrm>
        </p:grpSpPr>
        <p:sp>
          <p:nvSpPr>
            <p:cNvPr id="34" name="Freeform 34"/>
            <p:cNvSpPr/>
            <p:nvPr/>
          </p:nvSpPr>
          <p:spPr>
            <a:xfrm>
              <a:off x="16891" y="16891"/>
              <a:ext cx="10972800" cy="7437120"/>
            </a:xfrm>
            <a:custGeom>
              <a:avLst/>
              <a:gdLst/>
              <a:ahLst/>
              <a:cxnLst/>
              <a:rect l="l" t="t" r="r" b="b"/>
              <a:pathLst>
                <a:path w="10972800" h="7437120">
                  <a:moveTo>
                    <a:pt x="0" y="0"/>
                  </a:moveTo>
                  <a:lnTo>
                    <a:pt x="10972800" y="0"/>
                  </a:lnTo>
                  <a:lnTo>
                    <a:pt x="10972800" y="7437120"/>
                  </a:lnTo>
                  <a:lnTo>
                    <a:pt x="0" y="7437120"/>
                  </a:lnTo>
                  <a:close/>
                </a:path>
              </a:pathLst>
            </a:custGeom>
            <a:solidFill>
              <a:srgbClr val="1A1F33"/>
            </a:solidFill>
          </p:spPr>
          <p:txBody>
            <a:bodyPr/>
            <a:lstStyle/>
            <a:p>
              <a:endParaRPr lang="es-GT"/>
            </a:p>
          </p:txBody>
        </p:sp>
        <p:sp>
          <p:nvSpPr>
            <p:cNvPr id="35" name="Freeform 35"/>
            <p:cNvSpPr/>
            <p:nvPr/>
          </p:nvSpPr>
          <p:spPr>
            <a:xfrm>
              <a:off x="0" y="0"/>
              <a:ext cx="11006582" cy="7470901"/>
            </a:xfrm>
            <a:custGeom>
              <a:avLst/>
              <a:gdLst/>
              <a:ahLst/>
              <a:cxnLst/>
              <a:rect l="l" t="t" r="r" b="b"/>
              <a:pathLst>
                <a:path w="11006582" h="7470901">
                  <a:moveTo>
                    <a:pt x="16891" y="0"/>
                  </a:moveTo>
                  <a:lnTo>
                    <a:pt x="10989691" y="0"/>
                  </a:lnTo>
                  <a:cubicBezTo>
                    <a:pt x="10999089" y="0"/>
                    <a:pt x="11006582" y="7620"/>
                    <a:pt x="11006582" y="16891"/>
                  </a:cubicBezTo>
                  <a:lnTo>
                    <a:pt x="11006582" y="7454011"/>
                  </a:lnTo>
                  <a:cubicBezTo>
                    <a:pt x="11006582" y="7463409"/>
                    <a:pt x="10998962" y="7470901"/>
                    <a:pt x="10989691" y="7470901"/>
                  </a:cubicBezTo>
                  <a:lnTo>
                    <a:pt x="16891" y="7470901"/>
                  </a:lnTo>
                  <a:cubicBezTo>
                    <a:pt x="7493" y="7470901"/>
                    <a:pt x="0" y="7463282"/>
                    <a:pt x="0" y="7454011"/>
                  </a:cubicBezTo>
                  <a:lnTo>
                    <a:pt x="0" y="16891"/>
                  </a:lnTo>
                  <a:cubicBezTo>
                    <a:pt x="0" y="7620"/>
                    <a:pt x="7620" y="0"/>
                    <a:pt x="16891" y="0"/>
                  </a:cubicBezTo>
                  <a:moveTo>
                    <a:pt x="16891" y="33909"/>
                  </a:moveTo>
                  <a:lnTo>
                    <a:pt x="16891" y="16891"/>
                  </a:lnTo>
                  <a:lnTo>
                    <a:pt x="33909" y="16891"/>
                  </a:lnTo>
                  <a:lnTo>
                    <a:pt x="33909" y="7454011"/>
                  </a:lnTo>
                  <a:lnTo>
                    <a:pt x="16891" y="7454011"/>
                  </a:lnTo>
                  <a:lnTo>
                    <a:pt x="16891" y="7437120"/>
                  </a:lnTo>
                  <a:lnTo>
                    <a:pt x="10989691" y="7437120"/>
                  </a:lnTo>
                  <a:lnTo>
                    <a:pt x="10989691" y="7454011"/>
                  </a:lnTo>
                  <a:lnTo>
                    <a:pt x="10972800" y="7454011"/>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grpSp>
        <p:nvGrpSpPr>
          <p:cNvPr id="36" name="Group 36"/>
          <p:cNvGrpSpPr/>
          <p:nvPr/>
        </p:nvGrpSpPr>
        <p:grpSpPr>
          <a:xfrm>
            <a:off x="9601200" y="4315968"/>
            <a:ext cx="7680960" cy="548640"/>
            <a:chOff x="0" y="0"/>
            <a:chExt cx="10241280" cy="731520"/>
          </a:xfrm>
        </p:grpSpPr>
        <p:sp>
          <p:nvSpPr>
            <p:cNvPr id="37" name="Freeform 37"/>
            <p:cNvSpPr/>
            <p:nvPr/>
          </p:nvSpPr>
          <p:spPr>
            <a:xfrm>
              <a:off x="0" y="0"/>
              <a:ext cx="10241280" cy="731520"/>
            </a:xfrm>
            <a:custGeom>
              <a:avLst/>
              <a:gdLst/>
              <a:ahLst/>
              <a:cxnLst/>
              <a:rect l="l" t="t" r="r" b="b"/>
              <a:pathLst>
                <a:path w="10241280" h="731520">
                  <a:moveTo>
                    <a:pt x="0" y="0"/>
                  </a:moveTo>
                  <a:lnTo>
                    <a:pt x="10241280" y="0"/>
                  </a:lnTo>
                  <a:lnTo>
                    <a:pt x="10241280" y="731520"/>
                  </a:lnTo>
                  <a:lnTo>
                    <a:pt x="0" y="731520"/>
                  </a:lnTo>
                  <a:close/>
                </a:path>
              </a:pathLst>
            </a:custGeom>
            <a:blipFill>
              <a:blip r:embed="rId3">
                <a:alphaModFix amt="0"/>
              </a:blip>
              <a:stretch>
                <a:fillRect t="-222790" b="-222790"/>
              </a:stretch>
            </a:blipFill>
          </p:spPr>
          <p:txBody>
            <a:bodyPr/>
            <a:lstStyle/>
            <a:p>
              <a:endParaRPr lang="es-GT"/>
            </a:p>
          </p:txBody>
        </p:sp>
        <p:sp>
          <p:nvSpPr>
            <p:cNvPr id="38" name="TextBox 38"/>
            <p:cNvSpPr txBox="1"/>
            <p:nvPr/>
          </p:nvSpPr>
          <p:spPr>
            <a:xfrm>
              <a:off x="0" y="-38100"/>
              <a:ext cx="10241280" cy="769620"/>
            </a:xfrm>
            <a:prstGeom prst="rect">
              <a:avLst/>
            </a:prstGeom>
          </p:spPr>
          <p:txBody>
            <a:bodyPr lIns="0" tIns="0" rIns="0" bIns="0" rtlCol="0" anchor="ctr"/>
            <a:lstStyle/>
            <a:p>
              <a:pPr algn="l">
                <a:lnSpc>
                  <a:spcPts val="2879"/>
                </a:lnSpc>
              </a:pPr>
              <a:r>
                <a:rPr lang="en-US" sz="2400" b="1">
                  <a:solidFill>
                    <a:srgbClr val="5EC6E8"/>
                  </a:solidFill>
                  <a:latin typeface="Calibri (MS) Bold"/>
                  <a:ea typeface="Calibri (MS) Bold"/>
                  <a:cs typeface="Calibri (MS) Bold"/>
                  <a:sym typeface="Calibri (MS) Bold"/>
                </a:rPr>
                <a:t>Estructura general en PSeInt</a:t>
              </a:r>
            </a:p>
          </p:txBody>
        </p:sp>
      </p:grpSp>
      <p:grpSp>
        <p:nvGrpSpPr>
          <p:cNvPr id="39" name="Group 39"/>
          <p:cNvGrpSpPr/>
          <p:nvPr/>
        </p:nvGrpSpPr>
        <p:grpSpPr>
          <a:xfrm>
            <a:off x="9588503" y="4961639"/>
            <a:ext cx="7706363" cy="4633979"/>
            <a:chOff x="0" y="0"/>
            <a:chExt cx="10275151" cy="6178639"/>
          </a:xfrm>
        </p:grpSpPr>
        <p:sp>
          <p:nvSpPr>
            <p:cNvPr id="40" name="Freeform 40"/>
            <p:cNvSpPr/>
            <p:nvPr/>
          </p:nvSpPr>
          <p:spPr>
            <a:xfrm>
              <a:off x="16891" y="16891"/>
              <a:ext cx="10241281" cy="6144768"/>
            </a:xfrm>
            <a:custGeom>
              <a:avLst/>
              <a:gdLst/>
              <a:ahLst/>
              <a:cxnLst/>
              <a:rect l="l" t="t" r="r" b="b"/>
              <a:pathLst>
                <a:path w="10241281" h="6144768">
                  <a:moveTo>
                    <a:pt x="0" y="0"/>
                  </a:moveTo>
                  <a:lnTo>
                    <a:pt x="10241281" y="0"/>
                  </a:lnTo>
                  <a:lnTo>
                    <a:pt x="10241281" y="6144768"/>
                  </a:lnTo>
                  <a:lnTo>
                    <a:pt x="0" y="6144768"/>
                  </a:lnTo>
                  <a:close/>
                </a:path>
              </a:pathLst>
            </a:custGeom>
            <a:solidFill>
              <a:srgbClr val="0D1020"/>
            </a:solidFill>
          </p:spPr>
          <p:txBody>
            <a:bodyPr/>
            <a:lstStyle/>
            <a:p>
              <a:endParaRPr lang="es-GT"/>
            </a:p>
          </p:txBody>
        </p:sp>
        <p:sp>
          <p:nvSpPr>
            <p:cNvPr id="41" name="Freeform 41"/>
            <p:cNvSpPr/>
            <p:nvPr/>
          </p:nvSpPr>
          <p:spPr>
            <a:xfrm>
              <a:off x="0" y="0"/>
              <a:ext cx="10275062" cy="6178550"/>
            </a:xfrm>
            <a:custGeom>
              <a:avLst/>
              <a:gdLst/>
              <a:ahLst/>
              <a:cxnLst/>
              <a:rect l="l" t="t" r="r" b="b"/>
              <a:pathLst>
                <a:path w="10275062" h="6178550">
                  <a:moveTo>
                    <a:pt x="16891" y="0"/>
                  </a:moveTo>
                  <a:lnTo>
                    <a:pt x="10258172" y="0"/>
                  </a:lnTo>
                  <a:cubicBezTo>
                    <a:pt x="10267569" y="0"/>
                    <a:pt x="10275062" y="7620"/>
                    <a:pt x="10275062" y="16891"/>
                  </a:cubicBezTo>
                  <a:lnTo>
                    <a:pt x="10275062" y="6161659"/>
                  </a:lnTo>
                  <a:cubicBezTo>
                    <a:pt x="10275062" y="6171057"/>
                    <a:pt x="10267442" y="6178550"/>
                    <a:pt x="10258172" y="6178550"/>
                  </a:cubicBezTo>
                  <a:lnTo>
                    <a:pt x="16891" y="6178550"/>
                  </a:lnTo>
                  <a:cubicBezTo>
                    <a:pt x="7493" y="6178550"/>
                    <a:pt x="0" y="6170930"/>
                    <a:pt x="0" y="6161659"/>
                  </a:cubicBezTo>
                  <a:lnTo>
                    <a:pt x="0" y="16891"/>
                  </a:lnTo>
                  <a:cubicBezTo>
                    <a:pt x="0" y="7620"/>
                    <a:pt x="7620" y="0"/>
                    <a:pt x="16891" y="0"/>
                  </a:cubicBezTo>
                  <a:moveTo>
                    <a:pt x="16891" y="33909"/>
                  </a:moveTo>
                  <a:lnTo>
                    <a:pt x="16891" y="16891"/>
                  </a:lnTo>
                  <a:lnTo>
                    <a:pt x="33909" y="16891"/>
                  </a:lnTo>
                  <a:lnTo>
                    <a:pt x="33909" y="6161659"/>
                  </a:lnTo>
                  <a:lnTo>
                    <a:pt x="16891" y="6161659"/>
                  </a:lnTo>
                  <a:lnTo>
                    <a:pt x="16891" y="6144768"/>
                  </a:lnTo>
                  <a:lnTo>
                    <a:pt x="10258172" y="6144768"/>
                  </a:lnTo>
                  <a:lnTo>
                    <a:pt x="10258172" y="6161659"/>
                  </a:lnTo>
                  <a:lnTo>
                    <a:pt x="10241280" y="6161659"/>
                  </a:lnTo>
                  <a:lnTo>
                    <a:pt x="10241280" y="16891"/>
                  </a:lnTo>
                  <a:lnTo>
                    <a:pt x="10258172" y="16891"/>
                  </a:lnTo>
                  <a:lnTo>
                    <a:pt x="10258172" y="33909"/>
                  </a:lnTo>
                  <a:lnTo>
                    <a:pt x="16891" y="33909"/>
                  </a:lnTo>
                  <a:close/>
                </a:path>
              </a:pathLst>
            </a:custGeom>
            <a:solidFill>
              <a:srgbClr val="3A4160"/>
            </a:solidFill>
          </p:spPr>
          <p:txBody>
            <a:bodyPr/>
            <a:lstStyle/>
            <a:p>
              <a:endParaRPr lang="es-GT"/>
            </a:p>
          </p:txBody>
        </p:sp>
      </p:grpSp>
      <p:sp>
        <p:nvSpPr>
          <p:cNvPr id="42" name="TextBox 42"/>
          <p:cNvSpPr txBox="1"/>
          <p:nvPr/>
        </p:nvSpPr>
        <p:spPr>
          <a:xfrm>
            <a:off x="9875520" y="5118735"/>
            <a:ext cx="7132320" cy="4048125"/>
          </a:xfrm>
          <a:prstGeom prst="rect">
            <a:avLst/>
          </a:prstGeom>
        </p:spPr>
        <p:txBody>
          <a:bodyPr lIns="0" tIns="0" rIns="0" bIns="0" rtlCol="0" anchor="t">
            <a:spAutoFit/>
          </a:bodyPr>
          <a:lstStyle/>
          <a:p>
            <a:pPr algn="l">
              <a:lnSpc>
                <a:spcPts val="2639"/>
              </a:lnSpc>
            </a:pPr>
            <a:r>
              <a:rPr lang="en-US" sz="2199">
                <a:solidFill>
                  <a:srgbClr val="7EC8A4"/>
                </a:solidFill>
                <a:latin typeface="Consolas"/>
                <a:ea typeface="Consolas"/>
                <a:cs typeface="Consolas"/>
                <a:sym typeface="Consolas"/>
              </a:rPr>
              <a:t>Algoritmo Principal</a:t>
            </a:r>
          </a:p>
          <a:p>
            <a:pPr algn="l">
              <a:lnSpc>
                <a:spcPts val="2639"/>
              </a:lnSpc>
            </a:pPr>
            <a:r>
              <a:rPr lang="en-US" sz="2199">
                <a:solidFill>
                  <a:srgbClr val="7EC8A4"/>
                </a:solidFill>
                <a:latin typeface="Consolas"/>
                <a:ea typeface="Consolas"/>
                <a:cs typeface="Consolas"/>
                <a:sym typeface="Consolas"/>
              </a:rPr>
              <a:t>   // Llamada al subproceso</a:t>
            </a:r>
          </a:p>
          <a:p>
            <a:pPr algn="l">
              <a:lnSpc>
                <a:spcPts val="2639"/>
              </a:lnSpc>
            </a:pPr>
            <a:r>
              <a:rPr lang="en-US" sz="2199">
                <a:solidFill>
                  <a:srgbClr val="7EC8A4"/>
                </a:solidFill>
                <a:latin typeface="Consolas"/>
                <a:ea typeface="Consolas"/>
                <a:cs typeface="Consolas"/>
                <a:sym typeface="Consolas"/>
              </a:rPr>
              <a:t>   NombreSubproceso(datos)</a:t>
            </a:r>
          </a:p>
          <a:p>
            <a:pPr algn="l">
              <a:lnSpc>
                <a:spcPts val="2639"/>
              </a:lnSpc>
            </a:pPr>
            <a:r>
              <a:rPr lang="en-US" sz="2199">
                <a:solidFill>
                  <a:srgbClr val="7EC8A4"/>
                </a:solidFill>
                <a:latin typeface="Consolas"/>
                <a:ea typeface="Consolas"/>
                <a:cs typeface="Consolas"/>
                <a:sym typeface="Consolas"/>
              </a:rPr>
              <a:t>   // El flujo continúa aquí</a:t>
            </a:r>
          </a:p>
          <a:p>
            <a:pPr algn="l">
              <a:lnSpc>
                <a:spcPts val="2639"/>
              </a:lnSpc>
            </a:pPr>
            <a:r>
              <a:rPr lang="en-US" sz="2199">
                <a:solidFill>
                  <a:srgbClr val="7EC8A4"/>
                </a:solidFill>
                <a:latin typeface="Consolas"/>
                <a:ea typeface="Consolas"/>
                <a:cs typeface="Consolas"/>
                <a:sym typeface="Consolas"/>
              </a:rPr>
              <a:t>   // cuando el subproceso termina</a:t>
            </a:r>
          </a:p>
          <a:p>
            <a:pPr algn="l">
              <a:lnSpc>
                <a:spcPts val="2639"/>
              </a:lnSpc>
            </a:pPr>
            <a:r>
              <a:rPr lang="en-US" sz="2199">
                <a:solidFill>
                  <a:srgbClr val="7EC8A4"/>
                </a:solidFill>
                <a:latin typeface="Consolas"/>
                <a:ea typeface="Consolas"/>
                <a:cs typeface="Consolas"/>
                <a:sym typeface="Consolas"/>
              </a:rPr>
              <a:t>FinAlgoritmo</a:t>
            </a:r>
          </a:p>
          <a:p>
            <a:pPr algn="l">
              <a:lnSpc>
                <a:spcPts val="2639"/>
              </a:lnSpc>
            </a:pPr>
            <a:endParaRPr lang="en-US" sz="2199">
              <a:solidFill>
                <a:srgbClr val="7EC8A4"/>
              </a:solidFill>
              <a:latin typeface="Consolas"/>
              <a:ea typeface="Consolas"/>
              <a:cs typeface="Consolas"/>
              <a:sym typeface="Consolas"/>
            </a:endParaRPr>
          </a:p>
          <a:p>
            <a:pPr algn="l">
              <a:lnSpc>
                <a:spcPts val="2639"/>
              </a:lnSpc>
            </a:pPr>
            <a:r>
              <a:rPr lang="en-US" sz="2199">
                <a:solidFill>
                  <a:srgbClr val="7EC8A4"/>
                </a:solidFill>
                <a:latin typeface="Consolas"/>
                <a:ea typeface="Consolas"/>
                <a:cs typeface="Consolas"/>
                <a:sym typeface="Consolas"/>
              </a:rPr>
              <a:t>SubProceso NombreSubproceso(datos)</a:t>
            </a:r>
          </a:p>
          <a:p>
            <a:pPr algn="l">
              <a:lnSpc>
                <a:spcPts val="2639"/>
              </a:lnSpc>
            </a:pPr>
            <a:r>
              <a:rPr lang="en-US" sz="2199">
                <a:solidFill>
                  <a:srgbClr val="7EC8A4"/>
                </a:solidFill>
                <a:latin typeface="Consolas"/>
                <a:ea typeface="Consolas"/>
                <a:cs typeface="Consolas"/>
                <a:sym typeface="Consolas"/>
              </a:rPr>
              <a:t>   // Pasos internos del subproceso</a:t>
            </a:r>
          </a:p>
          <a:p>
            <a:pPr algn="l">
              <a:lnSpc>
                <a:spcPts val="2639"/>
              </a:lnSpc>
            </a:pPr>
            <a:r>
              <a:rPr lang="en-US" sz="2199">
                <a:solidFill>
                  <a:srgbClr val="7EC8A4"/>
                </a:solidFill>
                <a:latin typeface="Consolas"/>
                <a:ea typeface="Consolas"/>
                <a:cs typeface="Consolas"/>
                <a:sym typeface="Consolas"/>
              </a:rPr>
              <a:t>   // Solo esta sección conoce</a:t>
            </a:r>
          </a:p>
          <a:p>
            <a:pPr algn="l">
              <a:lnSpc>
                <a:spcPts val="2639"/>
              </a:lnSpc>
            </a:pPr>
            <a:r>
              <a:rPr lang="en-US" sz="2199">
                <a:solidFill>
                  <a:srgbClr val="7EC8A4"/>
                </a:solidFill>
                <a:latin typeface="Consolas"/>
                <a:ea typeface="Consolas"/>
                <a:cs typeface="Consolas"/>
                <a:sym typeface="Consolas"/>
              </a:rPr>
              <a:t>   // el detalle de la tarea</a:t>
            </a:r>
          </a:p>
          <a:p>
            <a:pPr algn="l">
              <a:lnSpc>
                <a:spcPts val="2639"/>
              </a:lnSpc>
            </a:pPr>
            <a:r>
              <a:rPr lang="en-US" sz="2199">
                <a:solidFill>
                  <a:srgbClr val="7EC8A4"/>
                </a:solidFill>
                <a:latin typeface="Consolas"/>
                <a:ea typeface="Consolas"/>
                <a:cs typeface="Consolas"/>
                <a:sym typeface="Consolas"/>
              </a:rPr>
              <a:t>FinSubProceso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E2235"/>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16891" y="16891"/>
              <a:ext cx="24383999" cy="1755648"/>
            </a:xfrm>
            <a:custGeom>
              <a:avLst/>
              <a:gdLst/>
              <a:ahLst/>
              <a:cxnLst/>
              <a:rect l="l" t="t" r="r" b="b"/>
              <a:pathLst>
                <a:path w="24383999" h="1755648">
                  <a:moveTo>
                    <a:pt x="0" y="0"/>
                  </a:moveTo>
                  <a:lnTo>
                    <a:pt x="24383999" y="0"/>
                  </a:lnTo>
                  <a:lnTo>
                    <a:pt x="24383999" y="1755648"/>
                  </a:lnTo>
                  <a:lnTo>
                    <a:pt x="0" y="1755648"/>
                  </a:lnTo>
                  <a:close/>
                </a:path>
              </a:pathLst>
            </a:custGeom>
            <a:solidFill>
              <a:srgbClr val="161929"/>
            </a:solidFill>
          </p:spPr>
          <p:txBody>
            <a:bodyPr/>
            <a:lstStyle/>
            <a:p>
              <a:endParaRPr lang="es-GT"/>
            </a:p>
          </p:txBody>
        </p:sp>
        <p:sp>
          <p:nvSpPr>
            <p:cNvPr id="4" name="Freeform 4"/>
            <p:cNvSpPr/>
            <p:nvPr/>
          </p:nvSpPr>
          <p:spPr>
            <a:xfrm>
              <a:off x="0" y="0"/>
              <a:ext cx="24417782" cy="1789430"/>
            </a:xfrm>
            <a:custGeom>
              <a:avLst/>
              <a:gdLst/>
              <a:ahLst/>
              <a:cxnLst/>
              <a:rect l="l" t="t" r="r" b="b"/>
              <a:pathLst>
                <a:path w="24417782" h="1789430">
                  <a:moveTo>
                    <a:pt x="16891" y="0"/>
                  </a:moveTo>
                  <a:lnTo>
                    <a:pt x="24400890" y="0"/>
                  </a:lnTo>
                  <a:cubicBezTo>
                    <a:pt x="24410290" y="0"/>
                    <a:pt x="24417782" y="7620"/>
                    <a:pt x="24417782" y="16891"/>
                  </a:cubicBezTo>
                  <a:lnTo>
                    <a:pt x="24417782" y="1772539"/>
                  </a:lnTo>
                  <a:cubicBezTo>
                    <a:pt x="24417782" y="1781937"/>
                    <a:pt x="24410163" y="1789430"/>
                    <a:pt x="24400890"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24400890" y="1755648"/>
                  </a:lnTo>
                  <a:lnTo>
                    <a:pt x="24400890" y="1772539"/>
                  </a:lnTo>
                  <a:lnTo>
                    <a:pt x="24384000" y="1772539"/>
                  </a:lnTo>
                  <a:lnTo>
                    <a:pt x="24384000" y="16891"/>
                  </a:lnTo>
                  <a:lnTo>
                    <a:pt x="24400890" y="16891"/>
                  </a:lnTo>
                  <a:lnTo>
                    <a:pt x="24400890" y="33909"/>
                  </a:lnTo>
                  <a:lnTo>
                    <a:pt x="16891" y="33909"/>
                  </a:lnTo>
                  <a:close/>
                </a:path>
              </a:pathLst>
            </a:custGeom>
            <a:solidFill>
              <a:srgbClr val="161929"/>
            </a:solidFill>
          </p:spPr>
          <p:txBody>
            <a:bodyPr/>
            <a:lstStyle/>
            <a:p>
              <a:endParaRPr lang="es-GT"/>
            </a:p>
          </p:txBody>
        </p:sp>
      </p:grpSp>
      <p:grpSp>
        <p:nvGrpSpPr>
          <p:cNvPr id="5" name="Group 5"/>
          <p:cNvGrpSpPr/>
          <p:nvPr/>
        </p:nvGrpSpPr>
        <p:grpSpPr>
          <a:xfrm>
            <a:off x="-12697" y="1304039"/>
            <a:ext cx="18313403" cy="98555"/>
            <a:chOff x="0" y="0"/>
            <a:chExt cx="24417871" cy="131407"/>
          </a:xfrm>
        </p:grpSpPr>
        <p:sp>
          <p:nvSpPr>
            <p:cNvPr id="6" name="Freeform 6"/>
            <p:cNvSpPr/>
            <p:nvPr/>
          </p:nvSpPr>
          <p:spPr>
            <a:xfrm>
              <a:off x="16891" y="16891"/>
              <a:ext cx="24383999" cy="97536"/>
            </a:xfrm>
            <a:custGeom>
              <a:avLst/>
              <a:gdLst/>
              <a:ahLst/>
              <a:cxnLst/>
              <a:rect l="l" t="t" r="r" b="b"/>
              <a:pathLst>
                <a:path w="24383999" h="97536">
                  <a:moveTo>
                    <a:pt x="0" y="0"/>
                  </a:moveTo>
                  <a:lnTo>
                    <a:pt x="24383999" y="0"/>
                  </a:lnTo>
                  <a:lnTo>
                    <a:pt x="24383999" y="97536"/>
                  </a:lnTo>
                  <a:lnTo>
                    <a:pt x="0" y="97536"/>
                  </a:lnTo>
                  <a:close/>
                </a:path>
              </a:pathLst>
            </a:custGeom>
            <a:solidFill>
              <a:srgbClr val="5B8CFF"/>
            </a:solidFill>
          </p:spPr>
          <p:txBody>
            <a:bodyPr/>
            <a:lstStyle/>
            <a:p>
              <a:endParaRPr lang="es-GT"/>
            </a:p>
          </p:txBody>
        </p:sp>
        <p:sp>
          <p:nvSpPr>
            <p:cNvPr id="7" name="Freeform 7"/>
            <p:cNvSpPr/>
            <p:nvPr/>
          </p:nvSpPr>
          <p:spPr>
            <a:xfrm>
              <a:off x="0" y="0"/>
              <a:ext cx="24417782" cy="131320"/>
            </a:xfrm>
            <a:custGeom>
              <a:avLst/>
              <a:gdLst/>
              <a:ahLst/>
              <a:cxnLst/>
              <a:rect l="l" t="t" r="r" b="b"/>
              <a:pathLst>
                <a:path w="24417782" h="131320">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5B8CFF"/>
            </a:solidFill>
          </p:spPr>
          <p:txBody>
            <a:bodyPr/>
            <a:lstStyle/>
            <a:p>
              <a:endParaRPr lang="es-GT"/>
            </a:p>
          </p:txBody>
        </p:sp>
      </p:grpSp>
      <p:grpSp>
        <p:nvGrpSpPr>
          <p:cNvPr id="8" name="Group 8"/>
          <p:cNvGrpSpPr/>
          <p:nvPr/>
        </p:nvGrpSpPr>
        <p:grpSpPr>
          <a:xfrm>
            <a:off x="822960" y="0"/>
            <a:ext cx="16642080" cy="1316736"/>
            <a:chOff x="0" y="0"/>
            <a:chExt cx="22189440" cy="1755648"/>
          </a:xfrm>
        </p:grpSpPr>
        <p:sp>
          <p:nvSpPr>
            <p:cNvPr id="9" name="Freeform 9"/>
            <p:cNvSpPr/>
            <p:nvPr/>
          </p:nvSpPr>
          <p:spPr>
            <a:xfrm>
              <a:off x="0" y="0"/>
              <a:ext cx="22189439" cy="1755648"/>
            </a:xfrm>
            <a:custGeom>
              <a:avLst/>
              <a:gdLst/>
              <a:ahLst/>
              <a:cxnLst/>
              <a:rect l="l" t="t" r="r" b="b"/>
              <a:pathLst>
                <a:path w="22189439" h="1755648">
                  <a:moveTo>
                    <a:pt x="0" y="0"/>
                  </a:moveTo>
                  <a:lnTo>
                    <a:pt x="22189439" y="0"/>
                  </a:lnTo>
                  <a:lnTo>
                    <a:pt x="22189439" y="1755648"/>
                  </a:lnTo>
                  <a:lnTo>
                    <a:pt x="0" y="1755648"/>
                  </a:lnTo>
                  <a:close/>
                </a:path>
              </a:pathLst>
            </a:custGeom>
            <a:blipFill>
              <a:blip r:embed="rId3">
                <a:alphaModFix amt="0"/>
              </a:blip>
              <a:stretch>
                <a:fillRect t="-196269" b="-196269"/>
              </a:stretch>
            </a:blipFill>
          </p:spPr>
          <p:txBody>
            <a:bodyPr/>
            <a:lstStyle/>
            <a:p>
              <a:endParaRPr lang="es-GT"/>
            </a:p>
          </p:txBody>
        </p:sp>
        <p:sp>
          <p:nvSpPr>
            <p:cNvPr id="10" name="TextBox 10"/>
            <p:cNvSpPr txBox="1"/>
            <p:nvPr/>
          </p:nvSpPr>
          <p:spPr>
            <a:xfrm>
              <a:off x="0" y="-76200"/>
              <a:ext cx="22189440" cy="1831848"/>
            </a:xfrm>
            <a:prstGeom prst="rect">
              <a:avLst/>
            </a:prstGeom>
          </p:spPr>
          <p:txBody>
            <a:bodyPr lIns="0" tIns="0" rIns="0" bIns="0" rtlCol="0" anchor="ctr"/>
            <a:lstStyle/>
            <a:p>
              <a:pPr algn="l">
                <a:lnSpc>
                  <a:spcPts val="5280"/>
                </a:lnSpc>
              </a:pPr>
              <a:r>
                <a:rPr lang="en-US" sz="4400" b="1">
                  <a:solidFill>
                    <a:srgbClr val="FFFFFF"/>
                  </a:solidFill>
                  <a:latin typeface="Calibri (MS) Bold"/>
                  <a:ea typeface="Calibri (MS) Bold"/>
                  <a:cs typeface="Calibri (MS) Bold"/>
                  <a:sym typeface="Calibri (MS) Bold"/>
                </a:rPr>
                <a:t>Clasificación de subprocesos en PSeInt</a:t>
              </a:r>
            </a:p>
          </p:txBody>
        </p:sp>
      </p:grpSp>
      <p:grpSp>
        <p:nvGrpSpPr>
          <p:cNvPr id="11" name="Group 11"/>
          <p:cNvGrpSpPr/>
          <p:nvPr/>
        </p:nvGrpSpPr>
        <p:grpSpPr>
          <a:xfrm>
            <a:off x="-12697" y="9954263"/>
            <a:ext cx="18313403" cy="345443"/>
            <a:chOff x="0" y="0"/>
            <a:chExt cx="24417871" cy="460591"/>
          </a:xfrm>
        </p:grpSpPr>
        <p:sp>
          <p:nvSpPr>
            <p:cNvPr id="12" name="Freeform 12"/>
            <p:cNvSpPr/>
            <p:nvPr/>
          </p:nvSpPr>
          <p:spPr>
            <a:xfrm>
              <a:off x="16891" y="16891"/>
              <a:ext cx="24383999" cy="426720"/>
            </a:xfrm>
            <a:custGeom>
              <a:avLst/>
              <a:gdLst/>
              <a:ahLst/>
              <a:cxnLst/>
              <a:rect l="l" t="t" r="r" b="b"/>
              <a:pathLst>
                <a:path w="24383999" h="426720">
                  <a:moveTo>
                    <a:pt x="0" y="0"/>
                  </a:moveTo>
                  <a:lnTo>
                    <a:pt x="24383999" y="0"/>
                  </a:lnTo>
                  <a:lnTo>
                    <a:pt x="24383999" y="426720"/>
                  </a:lnTo>
                  <a:lnTo>
                    <a:pt x="0" y="426720"/>
                  </a:lnTo>
                  <a:close/>
                </a:path>
              </a:pathLst>
            </a:custGeom>
            <a:solidFill>
              <a:srgbClr val="12152A"/>
            </a:solidFill>
          </p:spPr>
          <p:txBody>
            <a:bodyPr/>
            <a:lstStyle/>
            <a:p>
              <a:endParaRPr lang="es-GT"/>
            </a:p>
          </p:txBody>
        </p:sp>
        <p:sp>
          <p:nvSpPr>
            <p:cNvPr id="13" name="Freeform 13"/>
            <p:cNvSpPr/>
            <p:nvPr/>
          </p:nvSpPr>
          <p:spPr>
            <a:xfrm>
              <a:off x="0" y="0"/>
              <a:ext cx="24417782" cy="460504"/>
            </a:xfrm>
            <a:custGeom>
              <a:avLst/>
              <a:gdLst/>
              <a:ahLst/>
              <a:cxnLst/>
              <a:rect l="l" t="t" r="r" b="b"/>
              <a:pathLst>
                <a:path w="24417782" h="460504">
                  <a:moveTo>
                    <a:pt x="16891" y="0"/>
                  </a:moveTo>
                  <a:lnTo>
                    <a:pt x="24400890" y="0"/>
                  </a:lnTo>
                  <a:cubicBezTo>
                    <a:pt x="24410290" y="0"/>
                    <a:pt x="24417782" y="7620"/>
                    <a:pt x="24417782" y="16891"/>
                  </a:cubicBezTo>
                  <a:lnTo>
                    <a:pt x="24417782" y="443611"/>
                  </a:lnTo>
                  <a:cubicBezTo>
                    <a:pt x="24417782" y="453009"/>
                    <a:pt x="24410163" y="460502"/>
                    <a:pt x="24400890" y="460502"/>
                  </a:cubicBezTo>
                  <a:lnTo>
                    <a:pt x="16891" y="460502"/>
                  </a:lnTo>
                  <a:cubicBezTo>
                    <a:pt x="7620" y="460629"/>
                    <a:pt x="0" y="453009"/>
                    <a:pt x="0" y="443611"/>
                  </a:cubicBezTo>
                  <a:lnTo>
                    <a:pt x="0" y="16891"/>
                  </a:lnTo>
                  <a:cubicBezTo>
                    <a:pt x="0" y="7620"/>
                    <a:pt x="7620" y="0"/>
                    <a:pt x="16891" y="0"/>
                  </a:cubicBezTo>
                  <a:moveTo>
                    <a:pt x="16891" y="33909"/>
                  </a:moveTo>
                  <a:lnTo>
                    <a:pt x="16891" y="16891"/>
                  </a:lnTo>
                  <a:lnTo>
                    <a:pt x="33909" y="16891"/>
                  </a:lnTo>
                  <a:lnTo>
                    <a:pt x="33909" y="443611"/>
                  </a:lnTo>
                  <a:lnTo>
                    <a:pt x="16891" y="443611"/>
                  </a:lnTo>
                  <a:lnTo>
                    <a:pt x="16891" y="426720"/>
                  </a:lnTo>
                  <a:lnTo>
                    <a:pt x="24400890" y="426720"/>
                  </a:lnTo>
                  <a:lnTo>
                    <a:pt x="24400890" y="443611"/>
                  </a:lnTo>
                  <a:lnTo>
                    <a:pt x="24384000" y="443611"/>
                  </a:lnTo>
                  <a:lnTo>
                    <a:pt x="24384000" y="16891"/>
                  </a:lnTo>
                  <a:lnTo>
                    <a:pt x="24400890" y="16891"/>
                  </a:lnTo>
                  <a:lnTo>
                    <a:pt x="24400890" y="33909"/>
                  </a:lnTo>
                  <a:lnTo>
                    <a:pt x="16891" y="33909"/>
                  </a:lnTo>
                  <a:close/>
                </a:path>
              </a:pathLst>
            </a:custGeom>
            <a:solidFill>
              <a:srgbClr val="12152A"/>
            </a:solidFill>
          </p:spPr>
          <p:txBody>
            <a:bodyPr/>
            <a:lstStyle/>
            <a:p>
              <a:endParaRPr lang="es-GT"/>
            </a:p>
          </p:txBody>
        </p:sp>
      </p:grpSp>
      <p:grpSp>
        <p:nvGrpSpPr>
          <p:cNvPr id="14" name="Group 14"/>
          <p:cNvGrpSpPr/>
          <p:nvPr/>
        </p:nvGrpSpPr>
        <p:grpSpPr>
          <a:xfrm>
            <a:off x="17007840" y="9966960"/>
            <a:ext cx="914400" cy="320040"/>
            <a:chOff x="0" y="0"/>
            <a:chExt cx="1219200" cy="426720"/>
          </a:xfrm>
        </p:grpSpPr>
        <p:sp>
          <p:nvSpPr>
            <p:cNvPr id="15" name="Freeform 15"/>
            <p:cNvSpPr/>
            <p:nvPr/>
          </p:nvSpPr>
          <p:spPr>
            <a:xfrm>
              <a:off x="0" y="0"/>
              <a:ext cx="1219200" cy="426720"/>
            </a:xfrm>
            <a:custGeom>
              <a:avLst/>
              <a:gdLst/>
              <a:ahLst/>
              <a:cxnLst/>
              <a:rect l="l" t="t" r="r" b="b"/>
              <a:pathLst>
                <a:path w="1219200" h="426720">
                  <a:moveTo>
                    <a:pt x="0" y="0"/>
                  </a:moveTo>
                  <a:lnTo>
                    <a:pt x="1219200" y="0"/>
                  </a:lnTo>
                  <a:lnTo>
                    <a:pt x="1219200" y="426720"/>
                  </a:lnTo>
                  <a:lnTo>
                    <a:pt x="0" y="426720"/>
                  </a:lnTo>
                  <a:close/>
                </a:path>
              </a:pathLst>
            </a:custGeom>
            <a:blipFill>
              <a:blip r:embed="rId3">
                <a:alphaModFix amt="0"/>
              </a:blip>
              <a:stretch>
                <a:fillRect t="-5671" b="-5671"/>
              </a:stretch>
            </a:blipFill>
          </p:spPr>
          <p:txBody>
            <a:bodyPr/>
            <a:lstStyle/>
            <a:p>
              <a:endParaRPr lang="es-GT"/>
            </a:p>
          </p:txBody>
        </p:sp>
        <p:sp>
          <p:nvSpPr>
            <p:cNvPr id="16" name="TextBox 16"/>
            <p:cNvSpPr txBox="1"/>
            <p:nvPr/>
          </p:nvSpPr>
          <p:spPr>
            <a:xfrm>
              <a:off x="0" y="-38100"/>
              <a:ext cx="1219200" cy="464820"/>
            </a:xfrm>
            <a:prstGeom prst="rect">
              <a:avLst/>
            </a:prstGeom>
          </p:spPr>
          <p:txBody>
            <a:bodyPr lIns="0" tIns="0" rIns="0" bIns="0" rtlCol="0" anchor="ctr"/>
            <a:lstStyle/>
            <a:p>
              <a:pPr algn="r">
                <a:lnSpc>
                  <a:spcPts val="1800"/>
                </a:lnSpc>
              </a:pPr>
              <a:r>
                <a:rPr lang="en-US" sz="1500">
                  <a:solidFill>
                    <a:srgbClr val="6E7A9F"/>
                  </a:solidFill>
                  <a:latin typeface="Calibri (MS)"/>
                  <a:ea typeface="Calibri (MS)"/>
                  <a:cs typeface="Calibri (MS)"/>
                  <a:sym typeface="Calibri (MS)"/>
                </a:rPr>
                <a:t>29</a:t>
              </a:r>
            </a:p>
          </p:txBody>
        </p:sp>
      </p:grpSp>
      <p:grpSp>
        <p:nvGrpSpPr>
          <p:cNvPr id="17" name="Group 17"/>
          <p:cNvGrpSpPr/>
          <p:nvPr/>
        </p:nvGrpSpPr>
        <p:grpSpPr>
          <a:xfrm>
            <a:off x="731520" y="1554480"/>
            <a:ext cx="16824960" cy="731520"/>
            <a:chOff x="0" y="0"/>
            <a:chExt cx="22433280" cy="975360"/>
          </a:xfrm>
        </p:grpSpPr>
        <p:sp>
          <p:nvSpPr>
            <p:cNvPr id="18" name="Freeform 18"/>
            <p:cNvSpPr/>
            <p:nvPr/>
          </p:nvSpPr>
          <p:spPr>
            <a:xfrm>
              <a:off x="0" y="0"/>
              <a:ext cx="22433280" cy="975360"/>
            </a:xfrm>
            <a:custGeom>
              <a:avLst/>
              <a:gdLst/>
              <a:ahLst/>
              <a:cxnLst/>
              <a:rect l="l" t="t" r="r" b="b"/>
              <a:pathLst>
                <a:path w="22433280" h="975360">
                  <a:moveTo>
                    <a:pt x="0" y="0"/>
                  </a:moveTo>
                  <a:lnTo>
                    <a:pt x="22433280" y="0"/>
                  </a:lnTo>
                  <a:lnTo>
                    <a:pt x="22433280" y="975360"/>
                  </a:lnTo>
                  <a:lnTo>
                    <a:pt x="0" y="975360"/>
                  </a:lnTo>
                  <a:close/>
                </a:path>
              </a:pathLst>
            </a:custGeom>
            <a:blipFill>
              <a:blip r:embed="rId3">
                <a:alphaModFix amt="0"/>
              </a:blip>
              <a:stretch>
                <a:fillRect t="-398155" b="-398155"/>
              </a:stretch>
            </a:blipFill>
          </p:spPr>
          <p:txBody>
            <a:bodyPr/>
            <a:lstStyle/>
            <a:p>
              <a:endParaRPr lang="es-GT"/>
            </a:p>
          </p:txBody>
        </p:sp>
        <p:sp>
          <p:nvSpPr>
            <p:cNvPr id="19" name="TextBox 19"/>
            <p:cNvSpPr txBox="1"/>
            <p:nvPr/>
          </p:nvSpPr>
          <p:spPr>
            <a:xfrm>
              <a:off x="0" y="-47625"/>
              <a:ext cx="22433280" cy="1022985"/>
            </a:xfrm>
            <a:prstGeom prst="rect">
              <a:avLst/>
            </a:prstGeom>
          </p:spPr>
          <p:txBody>
            <a:bodyPr lIns="0" tIns="0" rIns="0" bIns="0" rtlCol="0" anchor="ctr"/>
            <a:lstStyle/>
            <a:p>
              <a:pPr algn="l">
                <a:lnSpc>
                  <a:spcPts val="2520"/>
                </a:lnSpc>
              </a:pPr>
              <a:r>
                <a:rPr lang="en-US" sz="2100">
                  <a:solidFill>
                    <a:srgbClr val="B0B8CC"/>
                  </a:solidFill>
                  <a:latin typeface="Calibri (MS)"/>
                  <a:ea typeface="Calibri (MS)"/>
                  <a:cs typeface="Calibri (MS)"/>
                  <a:sym typeface="Calibri (MS)"/>
                </a:rPr>
                <a:t>Los subprocesos se clasifican según dos dimensiones independientes: si reciben datos del algoritmo que los invoca, y si devuelven o no un resultado:</a:t>
              </a:r>
            </a:p>
          </p:txBody>
        </p:sp>
      </p:grpSp>
      <p:graphicFrame>
        <p:nvGraphicFramePr>
          <p:cNvPr id="20" name="Table 20"/>
          <p:cNvGraphicFramePr>
            <a:graphicFrameLocks noGrp="1"/>
          </p:cNvGraphicFramePr>
          <p:nvPr/>
        </p:nvGraphicFramePr>
        <p:xfrm>
          <a:off x="731520" y="2523744"/>
          <a:ext cx="16764000" cy="7213600"/>
        </p:xfrm>
        <a:graphic>
          <a:graphicData uri="http://schemas.openxmlformats.org/drawingml/2006/table">
            <a:tbl>
              <a:tblPr/>
              <a:tblGrid>
                <a:gridCol w="3009181">
                  <a:extLst>
                    <a:ext uri="{9D8B030D-6E8A-4147-A177-3AD203B41FA5}">
                      <a16:colId xmlns:a16="http://schemas.microsoft.com/office/drawing/2014/main" val="20000"/>
                    </a:ext>
                  </a:extLst>
                </a:gridCol>
                <a:gridCol w="2014493">
                  <a:extLst>
                    <a:ext uri="{9D8B030D-6E8A-4147-A177-3AD203B41FA5}">
                      <a16:colId xmlns:a16="http://schemas.microsoft.com/office/drawing/2014/main" val="20001"/>
                    </a:ext>
                  </a:extLst>
                </a:gridCol>
                <a:gridCol w="2466624">
                  <a:extLst>
                    <a:ext uri="{9D8B030D-6E8A-4147-A177-3AD203B41FA5}">
                      <a16:colId xmlns:a16="http://schemas.microsoft.com/office/drawing/2014/main" val="20002"/>
                    </a:ext>
                  </a:extLst>
                </a:gridCol>
                <a:gridCol w="4908129">
                  <a:extLst>
                    <a:ext uri="{9D8B030D-6E8A-4147-A177-3AD203B41FA5}">
                      <a16:colId xmlns:a16="http://schemas.microsoft.com/office/drawing/2014/main" val="20003"/>
                    </a:ext>
                  </a:extLst>
                </a:gridCol>
                <a:gridCol w="4365573">
                  <a:extLst>
                    <a:ext uri="{9D8B030D-6E8A-4147-A177-3AD203B41FA5}">
                      <a16:colId xmlns:a16="http://schemas.microsoft.com/office/drawing/2014/main" val="20004"/>
                    </a:ext>
                  </a:extLst>
                </a:gridCol>
              </a:tblGrid>
              <a:tr h="1803400">
                <a:tc>
                  <a:txBody>
                    <a:bodyPr/>
                    <a:lstStyle/>
                    <a:p>
                      <a:pPr algn="l">
                        <a:lnSpc>
                          <a:spcPts val="2640"/>
                        </a:lnSpc>
                        <a:defRPr/>
                      </a:pPr>
                      <a:r>
                        <a:rPr lang="en-US" sz="2200" b="1">
                          <a:solidFill>
                            <a:srgbClr val="FFFFFF"/>
                          </a:solidFill>
                          <a:latin typeface="Calibri (MS) Bold"/>
                          <a:ea typeface="Calibri (MS) Bold"/>
                          <a:cs typeface="Calibri (MS) Bold"/>
                          <a:sym typeface="Calibri (MS) Bold"/>
                        </a:rPr>
                        <a:t>Tipo</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2040"/>
                    </a:solidFill>
                  </a:tcPr>
                </a:tc>
                <a:tc>
                  <a:txBody>
                    <a:bodyPr/>
                    <a:lstStyle/>
                    <a:p>
                      <a:pPr algn="l">
                        <a:lnSpc>
                          <a:spcPts val="2640"/>
                        </a:lnSpc>
                        <a:defRPr/>
                      </a:pPr>
                      <a:r>
                        <a:rPr lang="en-US" sz="2200" b="1">
                          <a:solidFill>
                            <a:srgbClr val="FFFFFF"/>
                          </a:solidFill>
                          <a:latin typeface="Calibri (MS) Bold"/>
                          <a:ea typeface="Calibri (MS) Bold"/>
                          <a:cs typeface="Calibri (MS) Bold"/>
                          <a:sym typeface="Calibri (MS) Bold"/>
                        </a:rPr>
                        <a:t>¿Recibe datos?</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2040"/>
                    </a:solidFill>
                  </a:tcPr>
                </a:tc>
                <a:tc>
                  <a:txBody>
                    <a:bodyPr/>
                    <a:lstStyle/>
                    <a:p>
                      <a:pPr algn="l">
                        <a:lnSpc>
                          <a:spcPts val="2640"/>
                        </a:lnSpc>
                        <a:defRPr/>
                      </a:pPr>
                      <a:r>
                        <a:rPr lang="en-US" sz="2200" b="1">
                          <a:solidFill>
                            <a:srgbClr val="FFFFFF"/>
                          </a:solidFill>
                          <a:latin typeface="Calibri (MS) Bold"/>
                          <a:ea typeface="Calibri (MS) Bold"/>
                          <a:cs typeface="Calibri (MS) Bold"/>
                          <a:sym typeface="Calibri (MS) Bold"/>
                        </a:rPr>
                        <a:t>¿Devuelve resultado?</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2040"/>
                    </a:solidFill>
                  </a:tcPr>
                </a:tc>
                <a:tc>
                  <a:txBody>
                    <a:bodyPr/>
                    <a:lstStyle/>
                    <a:p>
                      <a:pPr algn="l">
                        <a:lnSpc>
                          <a:spcPts val="2640"/>
                        </a:lnSpc>
                        <a:defRPr/>
                      </a:pPr>
                      <a:r>
                        <a:rPr lang="en-US" sz="2200" b="1">
                          <a:solidFill>
                            <a:srgbClr val="FFFFFF"/>
                          </a:solidFill>
                          <a:latin typeface="Calibri (MS) Bold"/>
                          <a:ea typeface="Calibri (MS) Bold"/>
                          <a:cs typeface="Calibri (MS) Bold"/>
                          <a:sym typeface="Calibri (MS) Bold"/>
                        </a:rPr>
                        <a:t>Uso típico</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2040"/>
                    </a:solidFill>
                  </a:tcPr>
                </a:tc>
                <a:tc>
                  <a:txBody>
                    <a:bodyPr/>
                    <a:lstStyle/>
                    <a:p>
                      <a:pPr algn="l">
                        <a:lnSpc>
                          <a:spcPts val="2640"/>
                        </a:lnSpc>
                        <a:defRPr/>
                      </a:pPr>
                      <a:r>
                        <a:rPr lang="en-US" sz="2200" b="1">
                          <a:solidFill>
                            <a:srgbClr val="FFFFFF"/>
                          </a:solidFill>
                          <a:latin typeface="Calibri (MS) Bold"/>
                          <a:ea typeface="Calibri (MS) Bold"/>
                          <a:cs typeface="Calibri (MS) Bold"/>
                          <a:sym typeface="Calibri (MS) Bold"/>
                        </a:rPr>
                        <a:t>Ejemplo en PSeInt</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2040"/>
                    </a:solidFill>
                  </a:tcPr>
                </a:tc>
                <a:extLst>
                  <a:ext uri="{0D108BD9-81ED-4DB2-BD59-A6C34878D82A}">
                    <a16:rowId xmlns:a16="http://schemas.microsoft.com/office/drawing/2014/main" val="10000"/>
                  </a:ext>
                </a:extLst>
              </a:tr>
              <a:tr h="1803400">
                <a:tc>
                  <a:txBody>
                    <a:bodyPr/>
                    <a:lstStyle/>
                    <a:p>
                      <a:pPr algn="l">
                        <a:lnSpc>
                          <a:spcPts val="2520"/>
                        </a:lnSpc>
                        <a:defRPr/>
                      </a:pPr>
                      <a:r>
                        <a:rPr lang="en-US" sz="2100" b="1">
                          <a:solidFill>
                            <a:srgbClr val="5B8CFF"/>
                          </a:solidFill>
                          <a:latin typeface="Calibri (MS) Bold"/>
                          <a:ea typeface="Calibri (MS) Bold"/>
                          <a:cs typeface="Calibri (MS) Bold"/>
                          <a:sym typeface="Calibri (MS) Bold"/>
                        </a:rPr>
                        <a:t>Solo acción</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520"/>
                        </a:lnSpc>
                        <a:defRPr/>
                      </a:pPr>
                      <a:r>
                        <a:rPr lang="en-US" sz="2100">
                          <a:solidFill>
                            <a:srgbClr val="B0B8CC"/>
                          </a:solidFill>
                          <a:latin typeface="Calibri (MS)"/>
                          <a:ea typeface="Calibri (MS)"/>
                          <a:cs typeface="Calibri (MS)"/>
                          <a:sym typeface="Calibri (MS)"/>
                        </a:rPr>
                        <a:t>No</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520"/>
                        </a:lnSpc>
                        <a:defRPr/>
                      </a:pPr>
                      <a:r>
                        <a:rPr lang="en-US" sz="2100">
                          <a:solidFill>
                            <a:srgbClr val="B0B8CC"/>
                          </a:solidFill>
                          <a:latin typeface="Calibri (MS)"/>
                          <a:ea typeface="Calibri (MS)"/>
                          <a:cs typeface="Calibri (MS)"/>
                          <a:sym typeface="Calibri (MS)"/>
                        </a:rPr>
                        <a:t>No</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400"/>
                        </a:lnSpc>
                        <a:defRPr/>
                      </a:pPr>
                      <a:r>
                        <a:rPr lang="en-US" sz="2000">
                          <a:solidFill>
                            <a:srgbClr val="FFFFFF"/>
                          </a:solidFill>
                          <a:latin typeface="Calibri (MS)"/>
                          <a:ea typeface="Calibri (MS)"/>
                          <a:cs typeface="Calibri (MS)"/>
                          <a:sym typeface="Calibri (MS)"/>
                        </a:rPr>
                        <a:t>Mostrar encabezado, imprimir menú, limpiar pantalla.</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039"/>
                        </a:lnSpc>
                        <a:defRPr/>
                      </a:pPr>
                      <a:r>
                        <a:rPr lang="en-US" sz="1700">
                          <a:solidFill>
                            <a:srgbClr val="7EC8A4"/>
                          </a:solidFill>
                          <a:latin typeface="Consolas"/>
                          <a:ea typeface="Consolas"/>
                          <a:cs typeface="Consolas"/>
                          <a:sym typeface="Consolas"/>
                        </a:rPr>
                        <a:t>SubProceso MostrarMenu()</a:t>
                      </a:r>
                      <a:endParaRPr lang="en-US" sz="1100"/>
                    </a:p>
                    <a:p>
                      <a:pPr algn="l">
                        <a:lnSpc>
                          <a:spcPts val="2039"/>
                        </a:lnSpc>
                      </a:pPr>
                      <a:r>
                        <a:rPr lang="en-US" sz="1700">
                          <a:solidFill>
                            <a:srgbClr val="7EC8A4"/>
                          </a:solidFill>
                          <a:latin typeface="Consolas"/>
                          <a:ea typeface="Consolas"/>
                          <a:cs typeface="Consolas"/>
                          <a:sym typeface="Consolas"/>
                        </a:rPr>
                        <a:t>  ...</a:t>
                      </a:r>
                    </a:p>
                    <a:p>
                      <a:pPr algn="l">
                        <a:lnSpc>
                          <a:spcPts val="2039"/>
                        </a:lnSpc>
                      </a:pPr>
                      <a:r>
                        <a:rPr lang="en-US" sz="1700">
                          <a:solidFill>
                            <a:srgbClr val="7EC8A4"/>
                          </a:solidFill>
                          <a:latin typeface="Consolas"/>
                          <a:ea typeface="Consolas"/>
                          <a:cs typeface="Consolas"/>
                          <a:sym typeface="Consolas"/>
                        </a:rPr>
                        <a:t>FinSubProceso</a:t>
                      </a:r>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extLst>
                  <a:ext uri="{0D108BD9-81ED-4DB2-BD59-A6C34878D82A}">
                    <a16:rowId xmlns:a16="http://schemas.microsoft.com/office/drawing/2014/main" val="10001"/>
                  </a:ext>
                </a:extLst>
              </a:tr>
              <a:tr h="1803400">
                <a:tc>
                  <a:txBody>
                    <a:bodyPr/>
                    <a:lstStyle/>
                    <a:p>
                      <a:pPr algn="l">
                        <a:lnSpc>
                          <a:spcPts val="2520"/>
                        </a:lnSpc>
                        <a:defRPr/>
                      </a:pPr>
                      <a:r>
                        <a:rPr lang="en-US" sz="2100" b="1">
                          <a:solidFill>
                            <a:srgbClr val="7EC8A4"/>
                          </a:solidFill>
                          <a:latin typeface="Calibri (MS) Bold"/>
                          <a:ea typeface="Calibri (MS) Bold"/>
                          <a:cs typeface="Calibri (MS) Bold"/>
                          <a:sym typeface="Calibri (MS) Bold"/>
                        </a:rPr>
                        <a:t>Acción con datos</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tc>
                  <a:txBody>
                    <a:bodyPr/>
                    <a:lstStyle/>
                    <a:p>
                      <a:pPr algn="l">
                        <a:lnSpc>
                          <a:spcPts val="2520"/>
                        </a:lnSpc>
                        <a:defRPr/>
                      </a:pPr>
                      <a:r>
                        <a:rPr lang="en-US" sz="2100">
                          <a:solidFill>
                            <a:srgbClr val="7EC8A4"/>
                          </a:solidFill>
                          <a:latin typeface="Calibri (MS)"/>
                          <a:ea typeface="Calibri (MS)"/>
                          <a:cs typeface="Calibri (MS)"/>
                          <a:sym typeface="Calibri (MS)"/>
                        </a:rPr>
                        <a:t>Sí</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tc>
                  <a:txBody>
                    <a:bodyPr/>
                    <a:lstStyle/>
                    <a:p>
                      <a:pPr algn="l">
                        <a:lnSpc>
                          <a:spcPts val="2520"/>
                        </a:lnSpc>
                        <a:defRPr/>
                      </a:pPr>
                      <a:r>
                        <a:rPr lang="en-US" sz="2100">
                          <a:solidFill>
                            <a:srgbClr val="B0B8CC"/>
                          </a:solidFill>
                          <a:latin typeface="Calibri (MS)"/>
                          <a:ea typeface="Calibri (MS)"/>
                          <a:cs typeface="Calibri (MS)"/>
                          <a:sym typeface="Calibri (MS)"/>
                        </a:rPr>
                        <a:t>No</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tc>
                  <a:txBody>
                    <a:bodyPr/>
                    <a:lstStyle/>
                    <a:p>
                      <a:pPr algn="l">
                        <a:lnSpc>
                          <a:spcPts val="2400"/>
                        </a:lnSpc>
                        <a:defRPr/>
                      </a:pPr>
                      <a:r>
                        <a:rPr lang="en-US" sz="2000">
                          <a:solidFill>
                            <a:srgbClr val="FFFFFF"/>
                          </a:solidFill>
                          <a:latin typeface="Calibri (MS)"/>
                          <a:ea typeface="Calibri (MS)"/>
                          <a:cs typeface="Calibri (MS)"/>
                          <a:sym typeface="Calibri (MS)"/>
                        </a:rPr>
                        <a:t>Mostrar datos de un estudiante, registrar un valor, imprimir un reporte.</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tc>
                  <a:txBody>
                    <a:bodyPr/>
                    <a:lstStyle/>
                    <a:p>
                      <a:pPr algn="l">
                        <a:lnSpc>
                          <a:spcPts val="2039"/>
                        </a:lnSpc>
                        <a:defRPr/>
                      </a:pPr>
                      <a:r>
                        <a:rPr lang="en-US" sz="1700">
                          <a:solidFill>
                            <a:srgbClr val="7EC8A4"/>
                          </a:solidFill>
                          <a:latin typeface="Consolas"/>
                          <a:ea typeface="Consolas"/>
                          <a:cs typeface="Consolas"/>
                          <a:sym typeface="Consolas"/>
                        </a:rPr>
                        <a:t>SubProceso Mostrar(nombre, nota)</a:t>
                      </a:r>
                      <a:endParaRPr lang="en-US" sz="1100"/>
                    </a:p>
                    <a:p>
                      <a:pPr algn="l">
                        <a:lnSpc>
                          <a:spcPts val="2039"/>
                        </a:lnSpc>
                      </a:pPr>
                      <a:r>
                        <a:rPr lang="en-US" sz="1700">
                          <a:solidFill>
                            <a:srgbClr val="7EC8A4"/>
                          </a:solidFill>
                          <a:latin typeface="Consolas"/>
                          <a:ea typeface="Consolas"/>
                          <a:cs typeface="Consolas"/>
                          <a:sym typeface="Consolas"/>
                        </a:rPr>
                        <a:t>  ...</a:t>
                      </a:r>
                    </a:p>
                    <a:p>
                      <a:pPr algn="l">
                        <a:lnSpc>
                          <a:spcPts val="2039"/>
                        </a:lnSpc>
                      </a:pPr>
                      <a:r>
                        <a:rPr lang="en-US" sz="1700">
                          <a:solidFill>
                            <a:srgbClr val="7EC8A4"/>
                          </a:solidFill>
                          <a:latin typeface="Consolas"/>
                          <a:ea typeface="Consolas"/>
                          <a:cs typeface="Consolas"/>
                          <a:sym typeface="Consolas"/>
                        </a:rPr>
                        <a:t>FinSubProceso</a:t>
                      </a:r>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1A1F33"/>
                    </a:solidFill>
                  </a:tcPr>
                </a:tc>
                <a:extLst>
                  <a:ext uri="{0D108BD9-81ED-4DB2-BD59-A6C34878D82A}">
                    <a16:rowId xmlns:a16="http://schemas.microsoft.com/office/drawing/2014/main" val="10002"/>
                  </a:ext>
                </a:extLst>
              </a:tr>
              <a:tr h="1803400">
                <a:tc>
                  <a:txBody>
                    <a:bodyPr/>
                    <a:lstStyle/>
                    <a:p>
                      <a:pPr algn="l">
                        <a:lnSpc>
                          <a:spcPts val="2520"/>
                        </a:lnSpc>
                        <a:defRPr/>
                      </a:pPr>
                      <a:r>
                        <a:rPr lang="en-US" sz="2100" b="1">
                          <a:solidFill>
                            <a:srgbClr val="9B7FD4"/>
                          </a:solidFill>
                          <a:latin typeface="Calibri (MS) Bold"/>
                          <a:ea typeface="Calibri (MS) Bold"/>
                          <a:cs typeface="Calibri (MS) Bold"/>
                          <a:sym typeface="Calibri (MS) Bold"/>
                        </a:rPr>
                        <a:t>Calcula un resultado</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520"/>
                        </a:lnSpc>
                        <a:defRPr/>
                      </a:pPr>
                      <a:r>
                        <a:rPr lang="en-US" sz="2100">
                          <a:solidFill>
                            <a:srgbClr val="7EC8A4"/>
                          </a:solidFill>
                          <a:latin typeface="Calibri (MS)"/>
                          <a:ea typeface="Calibri (MS)"/>
                          <a:cs typeface="Calibri (MS)"/>
                          <a:sym typeface="Calibri (MS)"/>
                        </a:rPr>
                        <a:t>Sí</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520"/>
                        </a:lnSpc>
                        <a:defRPr/>
                      </a:pPr>
                      <a:r>
                        <a:rPr lang="en-US" sz="2100">
                          <a:solidFill>
                            <a:srgbClr val="7EC8A4"/>
                          </a:solidFill>
                          <a:latin typeface="Calibri (MS)"/>
                          <a:ea typeface="Calibri (MS)"/>
                          <a:cs typeface="Calibri (MS)"/>
                          <a:sym typeface="Calibri (MS)"/>
                        </a:rPr>
                        <a:t>Sí</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400"/>
                        </a:lnSpc>
                        <a:defRPr/>
                      </a:pPr>
                      <a:r>
                        <a:rPr lang="en-US" sz="2000">
                          <a:solidFill>
                            <a:srgbClr val="FFFFFF"/>
                          </a:solidFill>
                          <a:latin typeface="Calibri (MS)"/>
                          <a:ea typeface="Calibri (MS)"/>
                          <a:cs typeface="Calibri (MS)"/>
                          <a:sym typeface="Calibri (MS)"/>
                        </a:rPr>
                        <a:t>Calcular promedio, determinar máximo, evaluar condición compleja.</a:t>
                      </a:r>
                      <a:endParaRPr lang="en-US" sz="1100"/>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tc>
                  <a:txBody>
                    <a:bodyPr/>
                    <a:lstStyle/>
                    <a:p>
                      <a:pPr algn="l">
                        <a:lnSpc>
                          <a:spcPts val="2039"/>
                        </a:lnSpc>
                        <a:defRPr/>
                      </a:pPr>
                      <a:r>
                        <a:rPr lang="en-US" sz="1700">
                          <a:solidFill>
                            <a:srgbClr val="9B7FD4"/>
                          </a:solidFill>
                          <a:latin typeface="Consolas"/>
                          <a:ea typeface="Consolas"/>
                          <a:cs typeface="Consolas"/>
                          <a:sym typeface="Consolas"/>
                        </a:rPr>
                        <a:t>Funcion r &lt;- Promedio(n1,n2,n3)</a:t>
                      </a:r>
                      <a:endParaRPr lang="en-US" sz="1100"/>
                    </a:p>
                    <a:p>
                      <a:pPr algn="l">
                        <a:lnSpc>
                          <a:spcPts val="2039"/>
                        </a:lnSpc>
                      </a:pPr>
                      <a:r>
                        <a:rPr lang="en-US" sz="1700">
                          <a:solidFill>
                            <a:srgbClr val="9B7FD4"/>
                          </a:solidFill>
                          <a:latin typeface="Consolas"/>
                          <a:ea typeface="Consolas"/>
                          <a:cs typeface="Consolas"/>
                          <a:sym typeface="Consolas"/>
                        </a:rPr>
                        <a:t>  r &lt;- (n1+n2+n3)/3</a:t>
                      </a:r>
                    </a:p>
                    <a:p>
                      <a:pPr algn="l">
                        <a:lnSpc>
                          <a:spcPts val="2039"/>
                        </a:lnSpc>
                      </a:pPr>
                      <a:r>
                        <a:rPr lang="en-US" sz="1700">
                          <a:solidFill>
                            <a:srgbClr val="9B7FD4"/>
                          </a:solidFill>
                          <a:latin typeface="Consolas"/>
                          <a:ea typeface="Consolas"/>
                          <a:cs typeface="Consolas"/>
                          <a:sym typeface="Consolas"/>
                        </a:rPr>
                        <a:t>FinFuncion</a:t>
                      </a:r>
                    </a:p>
                  </a:txBody>
                  <a:tcPr marT="91440" marB="91440" anchor="ctr">
                    <a:lnL w="6350" cap="flat" cmpd="sng" algn="ctr">
                      <a:solidFill>
                        <a:srgbClr val="3A4160"/>
                      </a:solidFill>
                      <a:prstDash val="solid"/>
                      <a:round/>
                      <a:headEnd type="none" w="med" len="med"/>
                      <a:tailEnd type="none" w="med" len="med"/>
                    </a:lnL>
                    <a:lnR w="6350" cap="flat" cmpd="sng" algn="ctr">
                      <a:solidFill>
                        <a:srgbClr val="3A4160"/>
                      </a:solidFill>
                      <a:prstDash val="solid"/>
                      <a:round/>
                      <a:headEnd type="none" w="med" len="med"/>
                      <a:tailEnd type="none" w="med" len="med"/>
                    </a:lnR>
                    <a:lnT w="6350" cap="flat" cmpd="sng" algn="ctr">
                      <a:solidFill>
                        <a:srgbClr val="3A4160"/>
                      </a:solidFill>
                      <a:prstDash val="solid"/>
                      <a:round/>
                      <a:headEnd type="none" w="med" len="med"/>
                      <a:tailEnd type="none" w="med" len="med"/>
                    </a:lnT>
                    <a:lnB w="6350" cap="flat" cmpd="sng" algn="ctr">
                      <a:solidFill>
                        <a:srgbClr val="3A4160"/>
                      </a:solidFill>
                      <a:prstDash val="solid"/>
                      <a:round/>
                      <a:headEnd type="none" w="med" len="med"/>
                      <a:tailEnd type="none" w="med" len="med"/>
                    </a:lnB>
                    <a:solidFill>
                      <a:srgbClr val="252B42"/>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E2235"/>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16891" y="16891"/>
              <a:ext cx="24383999" cy="1755648"/>
            </a:xfrm>
            <a:custGeom>
              <a:avLst/>
              <a:gdLst/>
              <a:ahLst/>
              <a:cxnLst/>
              <a:rect l="l" t="t" r="r" b="b"/>
              <a:pathLst>
                <a:path w="24383999" h="1755648">
                  <a:moveTo>
                    <a:pt x="0" y="0"/>
                  </a:moveTo>
                  <a:lnTo>
                    <a:pt x="24383999" y="0"/>
                  </a:lnTo>
                  <a:lnTo>
                    <a:pt x="24383999" y="1755648"/>
                  </a:lnTo>
                  <a:lnTo>
                    <a:pt x="0" y="1755648"/>
                  </a:lnTo>
                  <a:close/>
                </a:path>
              </a:pathLst>
            </a:custGeom>
            <a:solidFill>
              <a:srgbClr val="161929"/>
            </a:solidFill>
          </p:spPr>
          <p:txBody>
            <a:bodyPr/>
            <a:lstStyle/>
            <a:p>
              <a:endParaRPr lang="es-GT"/>
            </a:p>
          </p:txBody>
        </p:sp>
        <p:sp>
          <p:nvSpPr>
            <p:cNvPr id="4" name="Freeform 4"/>
            <p:cNvSpPr/>
            <p:nvPr/>
          </p:nvSpPr>
          <p:spPr>
            <a:xfrm>
              <a:off x="0" y="0"/>
              <a:ext cx="24417782" cy="1789430"/>
            </a:xfrm>
            <a:custGeom>
              <a:avLst/>
              <a:gdLst/>
              <a:ahLst/>
              <a:cxnLst/>
              <a:rect l="l" t="t" r="r" b="b"/>
              <a:pathLst>
                <a:path w="24417782" h="1789430">
                  <a:moveTo>
                    <a:pt x="16891" y="0"/>
                  </a:moveTo>
                  <a:lnTo>
                    <a:pt x="24400890" y="0"/>
                  </a:lnTo>
                  <a:cubicBezTo>
                    <a:pt x="24410290" y="0"/>
                    <a:pt x="24417782" y="7620"/>
                    <a:pt x="24417782" y="16891"/>
                  </a:cubicBezTo>
                  <a:lnTo>
                    <a:pt x="24417782" y="1772539"/>
                  </a:lnTo>
                  <a:cubicBezTo>
                    <a:pt x="24417782" y="1781937"/>
                    <a:pt x="24410163" y="1789430"/>
                    <a:pt x="24400890"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24400890" y="1755648"/>
                  </a:lnTo>
                  <a:lnTo>
                    <a:pt x="24400890" y="1772539"/>
                  </a:lnTo>
                  <a:lnTo>
                    <a:pt x="24384000" y="1772539"/>
                  </a:lnTo>
                  <a:lnTo>
                    <a:pt x="24384000" y="16891"/>
                  </a:lnTo>
                  <a:lnTo>
                    <a:pt x="24400890" y="16891"/>
                  </a:lnTo>
                  <a:lnTo>
                    <a:pt x="24400890" y="33909"/>
                  </a:lnTo>
                  <a:lnTo>
                    <a:pt x="16891" y="33909"/>
                  </a:lnTo>
                  <a:close/>
                </a:path>
              </a:pathLst>
            </a:custGeom>
            <a:solidFill>
              <a:srgbClr val="161929"/>
            </a:solidFill>
          </p:spPr>
          <p:txBody>
            <a:bodyPr/>
            <a:lstStyle/>
            <a:p>
              <a:endParaRPr lang="es-GT"/>
            </a:p>
          </p:txBody>
        </p:sp>
      </p:grpSp>
      <p:grpSp>
        <p:nvGrpSpPr>
          <p:cNvPr id="5" name="Group 5"/>
          <p:cNvGrpSpPr/>
          <p:nvPr/>
        </p:nvGrpSpPr>
        <p:grpSpPr>
          <a:xfrm>
            <a:off x="-12697" y="1304039"/>
            <a:ext cx="18313403" cy="98555"/>
            <a:chOff x="0" y="0"/>
            <a:chExt cx="24417871" cy="131407"/>
          </a:xfrm>
        </p:grpSpPr>
        <p:sp>
          <p:nvSpPr>
            <p:cNvPr id="6" name="Freeform 6"/>
            <p:cNvSpPr/>
            <p:nvPr/>
          </p:nvSpPr>
          <p:spPr>
            <a:xfrm>
              <a:off x="16891" y="16891"/>
              <a:ext cx="24383999" cy="97536"/>
            </a:xfrm>
            <a:custGeom>
              <a:avLst/>
              <a:gdLst/>
              <a:ahLst/>
              <a:cxnLst/>
              <a:rect l="l" t="t" r="r" b="b"/>
              <a:pathLst>
                <a:path w="24383999" h="97536">
                  <a:moveTo>
                    <a:pt x="0" y="0"/>
                  </a:moveTo>
                  <a:lnTo>
                    <a:pt x="24383999" y="0"/>
                  </a:lnTo>
                  <a:lnTo>
                    <a:pt x="24383999" y="97536"/>
                  </a:lnTo>
                  <a:lnTo>
                    <a:pt x="0" y="97536"/>
                  </a:lnTo>
                  <a:close/>
                </a:path>
              </a:pathLst>
            </a:custGeom>
            <a:solidFill>
              <a:srgbClr val="5B8CFF"/>
            </a:solidFill>
          </p:spPr>
          <p:txBody>
            <a:bodyPr/>
            <a:lstStyle/>
            <a:p>
              <a:endParaRPr lang="es-GT"/>
            </a:p>
          </p:txBody>
        </p:sp>
        <p:sp>
          <p:nvSpPr>
            <p:cNvPr id="7" name="Freeform 7"/>
            <p:cNvSpPr/>
            <p:nvPr/>
          </p:nvSpPr>
          <p:spPr>
            <a:xfrm>
              <a:off x="0" y="0"/>
              <a:ext cx="24417782" cy="131320"/>
            </a:xfrm>
            <a:custGeom>
              <a:avLst/>
              <a:gdLst/>
              <a:ahLst/>
              <a:cxnLst/>
              <a:rect l="l" t="t" r="r" b="b"/>
              <a:pathLst>
                <a:path w="24417782" h="131320">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5B8CFF"/>
            </a:solidFill>
          </p:spPr>
          <p:txBody>
            <a:bodyPr/>
            <a:lstStyle/>
            <a:p>
              <a:endParaRPr lang="es-GT"/>
            </a:p>
          </p:txBody>
        </p:sp>
      </p:grpSp>
      <p:grpSp>
        <p:nvGrpSpPr>
          <p:cNvPr id="8" name="Group 8"/>
          <p:cNvGrpSpPr/>
          <p:nvPr/>
        </p:nvGrpSpPr>
        <p:grpSpPr>
          <a:xfrm>
            <a:off x="822960" y="0"/>
            <a:ext cx="16642080" cy="1316736"/>
            <a:chOff x="0" y="0"/>
            <a:chExt cx="22189440" cy="1755648"/>
          </a:xfrm>
        </p:grpSpPr>
        <p:sp>
          <p:nvSpPr>
            <p:cNvPr id="9" name="Freeform 9"/>
            <p:cNvSpPr/>
            <p:nvPr/>
          </p:nvSpPr>
          <p:spPr>
            <a:xfrm>
              <a:off x="0" y="0"/>
              <a:ext cx="22189439" cy="1755648"/>
            </a:xfrm>
            <a:custGeom>
              <a:avLst/>
              <a:gdLst/>
              <a:ahLst/>
              <a:cxnLst/>
              <a:rect l="l" t="t" r="r" b="b"/>
              <a:pathLst>
                <a:path w="22189439" h="1755648">
                  <a:moveTo>
                    <a:pt x="0" y="0"/>
                  </a:moveTo>
                  <a:lnTo>
                    <a:pt x="22189439" y="0"/>
                  </a:lnTo>
                  <a:lnTo>
                    <a:pt x="22189439" y="1755648"/>
                  </a:lnTo>
                  <a:lnTo>
                    <a:pt x="0" y="1755648"/>
                  </a:lnTo>
                  <a:close/>
                </a:path>
              </a:pathLst>
            </a:custGeom>
            <a:blipFill>
              <a:blip r:embed="rId3">
                <a:alphaModFix amt="0"/>
              </a:blip>
              <a:stretch>
                <a:fillRect t="-196269" b="-196269"/>
              </a:stretch>
            </a:blipFill>
          </p:spPr>
          <p:txBody>
            <a:bodyPr/>
            <a:lstStyle/>
            <a:p>
              <a:endParaRPr lang="es-GT"/>
            </a:p>
          </p:txBody>
        </p:sp>
        <p:sp>
          <p:nvSpPr>
            <p:cNvPr id="10" name="TextBox 10"/>
            <p:cNvSpPr txBox="1"/>
            <p:nvPr/>
          </p:nvSpPr>
          <p:spPr>
            <a:xfrm>
              <a:off x="0" y="-76200"/>
              <a:ext cx="22189440" cy="1831848"/>
            </a:xfrm>
            <a:prstGeom prst="rect">
              <a:avLst/>
            </a:prstGeom>
          </p:spPr>
          <p:txBody>
            <a:bodyPr lIns="0" tIns="0" rIns="0" bIns="0" rtlCol="0" anchor="ctr"/>
            <a:lstStyle/>
            <a:p>
              <a:pPr algn="l">
                <a:lnSpc>
                  <a:spcPts val="5280"/>
                </a:lnSpc>
              </a:pPr>
              <a:r>
                <a:rPr lang="en-US" sz="4400" b="1">
                  <a:solidFill>
                    <a:srgbClr val="FFFFFF"/>
                  </a:solidFill>
                  <a:latin typeface="Calibri (MS) Bold"/>
                  <a:ea typeface="Calibri (MS) Bold"/>
                  <a:cs typeface="Calibri (MS) Bold"/>
                  <a:sym typeface="Calibri (MS) Bold"/>
                </a:rPr>
                <a:t>Subproceso tipo 1 – Solo realiza una acción</a:t>
              </a:r>
            </a:p>
          </p:txBody>
        </p:sp>
      </p:grpSp>
      <p:grpSp>
        <p:nvGrpSpPr>
          <p:cNvPr id="11" name="Group 11"/>
          <p:cNvGrpSpPr/>
          <p:nvPr/>
        </p:nvGrpSpPr>
        <p:grpSpPr>
          <a:xfrm>
            <a:off x="-12697" y="9954263"/>
            <a:ext cx="18313403" cy="345443"/>
            <a:chOff x="0" y="0"/>
            <a:chExt cx="24417871" cy="460591"/>
          </a:xfrm>
        </p:grpSpPr>
        <p:sp>
          <p:nvSpPr>
            <p:cNvPr id="12" name="Freeform 12"/>
            <p:cNvSpPr/>
            <p:nvPr/>
          </p:nvSpPr>
          <p:spPr>
            <a:xfrm>
              <a:off x="16891" y="16891"/>
              <a:ext cx="24383999" cy="426720"/>
            </a:xfrm>
            <a:custGeom>
              <a:avLst/>
              <a:gdLst/>
              <a:ahLst/>
              <a:cxnLst/>
              <a:rect l="l" t="t" r="r" b="b"/>
              <a:pathLst>
                <a:path w="24383999" h="426720">
                  <a:moveTo>
                    <a:pt x="0" y="0"/>
                  </a:moveTo>
                  <a:lnTo>
                    <a:pt x="24383999" y="0"/>
                  </a:lnTo>
                  <a:lnTo>
                    <a:pt x="24383999" y="426720"/>
                  </a:lnTo>
                  <a:lnTo>
                    <a:pt x="0" y="426720"/>
                  </a:lnTo>
                  <a:close/>
                </a:path>
              </a:pathLst>
            </a:custGeom>
            <a:solidFill>
              <a:srgbClr val="12152A"/>
            </a:solidFill>
          </p:spPr>
          <p:txBody>
            <a:bodyPr/>
            <a:lstStyle/>
            <a:p>
              <a:endParaRPr lang="es-GT"/>
            </a:p>
          </p:txBody>
        </p:sp>
        <p:sp>
          <p:nvSpPr>
            <p:cNvPr id="13" name="Freeform 13"/>
            <p:cNvSpPr/>
            <p:nvPr/>
          </p:nvSpPr>
          <p:spPr>
            <a:xfrm>
              <a:off x="0" y="0"/>
              <a:ext cx="24417782" cy="460504"/>
            </a:xfrm>
            <a:custGeom>
              <a:avLst/>
              <a:gdLst/>
              <a:ahLst/>
              <a:cxnLst/>
              <a:rect l="l" t="t" r="r" b="b"/>
              <a:pathLst>
                <a:path w="24417782" h="460504">
                  <a:moveTo>
                    <a:pt x="16891" y="0"/>
                  </a:moveTo>
                  <a:lnTo>
                    <a:pt x="24400890" y="0"/>
                  </a:lnTo>
                  <a:cubicBezTo>
                    <a:pt x="24410290" y="0"/>
                    <a:pt x="24417782" y="7620"/>
                    <a:pt x="24417782" y="16891"/>
                  </a:cubicBezTo>
                  <a:lnTo>
                    <a:pt x="24417782" y="443611"/>
                  </a:lnTo>
                  <a:cubicBezTo>
                    <a:pt x="24417782" y="453009"/>
                    <a:pt x="24410163" y="460502"/>
                    <a:pt x="24400890" y="460502"/>
                  </a:cubicBezTo>
                  <a:lnTo>
                    <a:pt x="16891" y="460502"/>
                  </a:lnTo>
                  <a:cubicBezTo>
                    <a:pt x="7620" y="460629"/>
                    <a:pt x="0" y="453009"/>
                    <a:pt x="0" y="443611"/>
                  </a:cubicBezTo>
                  <a:lnTo>
                    <a:pt x="0" y="16891"/>
                  </a:lnTo>
                  <a:cubicBezTo>
                    <a:pt x="0" y="7620"/>
                    <a:pt x="7620" y="0"/>
                    <a:pt x="16891" y="0"/>
                  </a:cubicBezTo>
                  <a:moveTo>
                    <a:pt x="16891" y="33909"/>
                  </a:moveTo>
                  <a:lnTo>
                    <a:pt x="16891" y="16891"/>
                  </a:lnTo>
                  <a:lnTo>
                    <a:pt x="33909" y="16891"/>
                  </a:lnTo>
                  <a:lnTo>
                    <a:pt x="33909" y="443611"/>
                  </a:lnTo>
                  <a:lnTo>
                    <a:pt x="16891" y="443611"/>
                  </a:lnTo>
                  <a:lnTo>
                    <a:pt x="16891" y="426720"/>
                  </a:lnTo>
                  <a:lnTo>
                    <a:pt x="24400890" y="426720"/>
                  </a:lnTo>
                  <a:lnTo>
                    <a:pt x="24400890" y="443611"/>
                  </a:lnTo>
                  <a:lnTo>
                    <a:pt x="24384000" y="443611"/>
                  </a:lnTo>
                  <a:lnTo>
                    <a:pt x="24384000" y="16891"/>
                  </a:lnTo>
                  <a:lnTo>
                    <a:pt x="24400890" y="16891"/>
                  </a:lnTo>
                  <a:lnTo>
                    <a:pt x="24400890" y="33909"/>
                  </a:lnTo>
                  <a:lnTo>
                    <a:pt x="16891" y="33909"/>
                  </a:lnTo>
                  <a:close/>
                </a:path>
              </a:pathLst>
            </a:custGeom>
            <a:solidFill>
              <a:srgbClr val="12152A"/>
            </a:solidFill>
          </p:spPr>
          <p:txBody>
            <a:bodyPr/>
            <a:lstStyle/>
            <a:p>
              <a:endParaRPr lang="es-GT"/>
            </a:p>
          </p:txBody>
        </p:sp>
      </p:grpSp>
      <p:grpSp>
        <p:nvGrpSpPr>
          <p:cNvPr id="14" name="Group 14"/>
          <p:cNvGrpSpPr/>
          <p:nvPr/>
        </p:nvGrpSpPr>
        <p:grpSpPr>
          <a:xfrm>
            <a:off x="17007840" y="9966960"/>
            <a:ext cx="914400" cy="320040"/>
            <a:chOff x="0" y="0"/>
            <a:chExt cx="1219200" cy="426720"/>
          </a:xfrm>
        </p:grpSpPr>
        <p:sp>
          <p:nvSpPr>
            <p:cNvPr id="15" name="Freeform 15"/>
            <p:cNvSpPr/>
            <p:nvPr/>
          </p:nvSpPr>
          <p:spPr>
            <a:xfrm>
              <a:off x="0" y="0"/>
              <a:ext cx="1219200" cy="426720"/>
            </a:xfrm>
            <a:custGeom>
              <a:avLst/>
              <a:gdLst/>
              <a:ahLst/>
              <a:cxnLst/>
              <a:rect l="l" t="t" r="r" b="b"/>
              <a:pathLst>
                <a:path w="1219200" h="426720">
                  <a:moveTo>
                    <a:pt x="0" y="0"/>
                  </a:moveTo>
                  <a:lnTo>
                    <a:pt x="1219200" y="0"/>
                  </a:lnTo>
                  <a:lnTo>
                    <a:pt x="1219200" y="426720"/>
                  </a:lnTo>
                  <a:lnTo>
                    <a:pt x="0" y="426720"/>
                  </a:lnTo>
                  <a:close/>
                </a:path>
              </a:pathLst>
            </a:custGeom>
            <a:blipFill>
              <a:blip r:embed="rId3">
                <a:alphaModFix amt="0"/>
              </a:blip>
              <a:stretch>
                <a:fillRect t="-5671" b="-5671"/>
              </a:stretch>
            </a:blipFill>
          </p:spPr>
          <p:txBody>
            <a:bodyPr/>
            <a:lstStyle/>
            <a:p>
              <a:endParaRPr lang="es-GT"/>
            </a:p>
          </p:txBody>
        </p:sp>
        <p:sp>
          <p:nvSpPr>
            <p:cNvPr id="16" name="TextBox 16"/>
            <p:cNvSpPr txBox="1"/>
            <p:nvPr/>
          </p:nvSpPr>
          <p:spPr>
            <a:xfrm>
              <a:off x="0" y="-38100"/>
              <a:ext cx="1219200" cy="464820"/>
            </a:xfrm>
            <a:prstGeom prst="rect">
              <a:avLst/>
            </a:prstGeom>
          </p:spPr>
          <p:txBody>
            <a:bodyPr lIns="0" tIns="0" rIns="0" bIns="0" rtlCol="0" anchor="ctr"/>
            <a:lstStyle/>
            <a:p>
              <a:pPr algn="r">
                <a:lnSpc>
                  <a:spcPts val="1800"/>
                </a:lnSpc>
              </a:pPr>
              <a:r>
                <a:rPr lang="en-US" sz="1500">
                  <a:solidFill>
                    <a:srgbClr val="6E7A9F"/>
                  </a:solidFill>
                  <a:latin typeface="Calibri (MS)"/>
                  <a:ea typeface="Calibri (MS)"/>
                  <a:cs typeface="Calibri (MS)"/>
                  <a:sym typeface="Calibri (MS)"/>
                </a:rPr>
                <a:t>30</a:t>
              </a:r>
            </a:p>
          </p:txBody>
        </p:sp>
      </p:grpSp>
      <p:grpSp>
        <p:nvGrpSpPr>
          <p:cNvPr id="17" name="Group 17"/>
          <p:cNvGrpSpPr/>
          <p:nvPr/>
        </p:nvGrpSpPr>
        <p:grpSpPr>
          <a:xfrm>
            <a:off x="731520" y="1554480"/>
            <a:ext cx="16824960" cy="731520"/>
            <a:chOff x="0" y="0"/>
            <a:chExt cx="22433280" cy="975360"/>
          </a:xfrm>
        </p:grpSpPr>
        <p:sp>
          <p:nvSpPr>
            <p:cNvPr id="18" name="Freeform 18"/>
            <p:cNvSpPr/>
            <p:nvPr/>
          </p:nvSpPr>
          <p:spPr>
            <a:xfrm>
              <a:off x="0" y="0"/>
              <a:ext cx="22433280" cy="975360"/>
            </a:xfrm>
            <a:custGeom>
              <a:avLst/>
              <a:gdLst/>
              <a:ahLst/>
              <a:cxnLst/>
              <a:rect l="l" t="t" r="r" b="b"/>
              <a:pathLst>
                <a:path w="22433280" h="975360">
                  <a:moveTo>
                    <a:pt x="0" y="0"/>
                  </a:moveTo>
                  <a:lnTo>
                    <a:pt x="22433280" y="0"/>
                  </a:lnTo>
                  <a:lnTo>
                    <a:pt x="22433280" y="975360"/>
                  </a:lnTo>
                  <a:lnTo>
                    <a:pt x="0" y="975360"/>
                  </a:lnTo>
                  <a:close/>
                </a:path>
              </a:pathLst>
            </a:custGeom>
            <a:blipFill>
              <a:blip r:embed="rId3">
                <a:alphaModFix amt="0"/>
              </a:blip>
              <a:stretch>
                <a:fillRect t="-398155" b="-398155"/>
              </a:stretch>
            </a:blipFill>
          </p:spPr>
          <p:txBody>
            <a:bodyPr/>
            <a:lstStyle/>
            <a:p>
              <a:endParaRPr lang="es-GT"/>
            </a:p>
          </p:txBody>
        </p:sp>
        <p:sp>
          <p:nvSpPr>
            <p:cNvPr id="19" name="TextBox 19"/>
            <p:cNvSpPr txBox="1"/>
            <p:nvPr/>
          </p:nvSpPr>
          <p:spPr>
            <a:xfrm>
              <a:off x="0" y="-47625"/>
              <a:ext cx="22433280" cy="1022985"/>
            </a:xfrm>
            <a:prstGeom prst="rect">
              <a:avLst/>
            </a:prstGeom>
          </p:spPr>
          <p:txBody>
            <a:bodyPr lIns="0" tIns="0" rIns="0" bIns="0" rtlCol="0" anchor="ctr"/>
            <a:lstStyle/>
            <a:p>
              <a:pPr algn="l">
                <a:lnSpc>
                  <a:spcPts val="2520"/>
                </a:lnSpc>
              </a:pPr>
              <a:r>
                <a:rPr lang="en-US" sz="2100">
                  <a:solidFill>
                    <a:srgbClr val="B0B8CC"/>
                  </a:solidFill>
                  <a:latin typeface="Calibri (MS)"/>
                  <a:ea typeface="Calibri (MS)"/>
                  <a:cs typeface="Calibri (MS)"/>
                  <a:sym typeface="Calibri (MS)"/>
                </a:rPr>
                <a:t>El tipo más simple. No necesita información del exterior ni produce un valor de salida. El algoritmo principal lo llama, el subproceso ejecuta su tarea y el control regresa al punto de invocación.</a:t>
              </a:r>
            </a:p>
          </p:txBody>
        </p:sp>
      </p:grpSp>
      <p:grpSp>
        <p:nvGrpSpPr>
          <p:cNvPr id="20" name="Group 20"/>
          <p:cNvGrpSpPr/>
          <p:nvPr/>
        </p:nvGrpSpPr>
        <p:grpSpPr>
          <a:xfrm>
            <a:off x="718823" y="2511047"/>
            <a:ext cx="8255003" cy="7249163"/>
            <a:chOff x="0" y="0"/>
            <a:chExt cx="11006671" cy="9665551"/>
          </a:xfrm>
        </p:grpSpPr>
        <p:sp>
          <p:nvSpPr>
            <p:cNvPr id="21" name="Freeform 21"/>
            <p:cNvSpPr/>
            <p:nvPr/>
          </p:nvSpPr>
          <p:spPr>
            <a:xfrm>
              <a:off x="16891" y="16891"/>
              <a:ext cx="10972800" cy="9631681"/>
            </a:xfrm>
            <a:custGeom>
              <a:avLst/>
              <a:gdLst/>
              <a:ahLst/>
              <a:cxnLst/>
              <a:rect l="l" t="t" r="r" b="b"/>
              <a:pathLst>
                <a:path w="10972800" h="9631681">
                  <a:moveTo>
                    <a:pt x="0" y="0"/>
                  </a:moveTo>
                  <a:lnTo>
                    <a:pt x="10972800" y="0"/>
                  </a:lnTo>
                  <a:lnTo>
                    <a:pt x="10972800" y="9631681"/>
                  </a:lnTo>
                  <a:lnTo>
                    <a:pt x="0" y="9631681"/>
                  </a:lnTo>
                  <a:close/>
                </a:path>
              </a:pathLst>
            </a:custGeom>
            <a:solidFill>
              <a:srgbClr val="0D1020"/>
            </a:solidFill>
          </p:spPr>
          <p:txBody>
            <a:bodyPr/>
            <a:lstStyle/>
            <a:p>
              <a:endParaRPr lang="es-GT"/>
            </a:p>
          </p:txBody>
        </p:sp>
        <p:sp>
          <p:nvSpPr>
            <p:cNvPr id="22" name="Freeform 22"/>
            <p:cNvSpPr/>
            <p:nvPr/>
          </p:nvSpPr>
          <p:spPr>
            <a:xfrm>
              <a:off x="0" y="0"/>
              <a:ext cx="11006582" cy="9665462"/>
            </a:xfrm>
            <a:custGeom>
              <a:avLst/>
              <a:gdLst/>
              <a:ahLst/>
              <a:cxnLst/>
              <a:rect l="l" t="t" r="r" b="b"/>
              <a:pathLst>
                <a:path w="11006582" h="9665462">
                  <a:moveTo>
                    <a:pt x="16891" y="0"/>
                  </a:moveTo>
                  <a:lnTo>
                    <a:pt x="10989691" y="0"/>
                  </a:lnTo>
                  <a:cubicBezTo>
                    <a:pt x="10999089" y="0"/>
                    <a:pt x="11006582" y="7620"/>
                    <a:pt x="11006582" y="16891"/>
                  </a:cubicBezTo>
                  <a:lnTo>
                    <a:pt x="11006582" y="9648572"/>
                  </a:lnTo>
                  <a:cubicBezTo>
                    <a:pt x="11006582" y="9657969"/>
                    <a:pt x="10998962" y="9665462"/>
                    <a:pt x="10989691" y="9665462"/>
                  </a:cubicBezTo>
                  <a:lnTo>
                    <a:pt x="16891" y="9665462"/>
                  </a:lnTo>
                  <a:cubicBezTo>
                    <a:pt x="7493" y="9665462"/>
                    <a:pt x="0" y="9657842"/>
                    <a:pt x="0" y="9648572"/>
                  </a:cubicBezTo>
                  <a:lnTo>
                    <a:pt x="0" y="16891"/>
                  </a:lnTo>
                  <a:cubicBezTo>
                    <a:pt x="0" y="7620"/>
                    <a:pt x="7620" y="0"/>
                    <a:pt x="16891" y="0"/>
                  </a:cubicBezTo>
                  <a:moveTo>
                    <a:pt x="16891" y="33909"/>
                  </a:moveTo>
                  <a:lnTo>
                    <a:pt x="16891" y="16891"/>
                  </a:lnTo>
                  <a:lnTo>
                    <a:pt x="33909" y="16891"/>
                  </a:lnTo>
                  <a:lnTo>
                    <a:pt x="33909" y="9648572"/>
                  </a:lnTo>
                  <a:lnTo>
                    <a:pt x="16891" y="9648572"/>
                  </a:lnTo>
                  <a:lnTo>
                    <a:pt x="16891" y="9631680"/>
                  </a:lnTo>
                  <a:lnTo>
                    <a:pt x="10989691" y="9631680"/>
                  </a:lnTo>
                  <a:lnTo>
                    <a:pt x="10989691" y="9648572"/>
                  </a:lnTo>
                  <a:lnTo>
                    <a:pt x="10972800" y="9648572"/>
                  </a:lnTo>
                  <a:lnTo>
                    <a:pt x="10972800" y="16891"/>
                  </a:lnTo>
                  <a:lnTo>
                    <a:pt x="10989691" y="16891"/>
                  </a:lnTo>
                  <a:lnTo>
                    <a:pt x="10989691" y="33909"/>
                  </a:lnTo>
                  <a:lnTo>
                    <a:pt x="16891" y="33909"/>
                  </a:lnTo>
                  <a:close/>
                </a:path>
              </a:pathLst>
            </a:custGeom>
            <a:solidFill>
              <a:srgbClr val="5B8CFF"/>
            </a:solidFill>
          </p:spPr>
          <p:txBody>
            <a:bodyPr/>
            <a:lstStyle/>
            <a:p>
              <a:endParaRPr lang="es-GT"/>
            </a:p>
          </p:txBody>
        </p:sp>
      </p:grpSp>
      <p:grpSp>
        <p:nvGrpSpPr>
          <p:cNvPr id="23" name="Group 23"/>
          <p:cNvGrpSpPr/>
          <p:nvPr/>
        </p:nvGrpSpPr>
        <p:grpSpPr>
          <a:xfrm>
            <a:off x="1005840" y="2651760"/>
            <a:ext cx="7680960" cy="512064"/>
            <a:chOff x="0" y="0"/>
            <a:chExt cx="10241280" cy="682752"/>
          </a:xfrm>
        </p:grpSpPr>
        <p:sp>
          <p:nvSpPr>
            <p:cNvPr id="24" name="Freeform 24"/>
            <p:cNvSpPr/>
            <p:nvPr/>
          </p:nvSpPr>
          <p:spPr>
            <a:xfrm>
              <a:off x="0" y="0"/>
              <a:ext cx="10241280" cy="682752"/>
            </a:xfrm>
            <a:custGeom>
              <a:avLst/>
              <a:gdLst/>
              <a:ahLst/>
              <a:cxnLst/>
              <a:rect l="l" t="t" r="r" b="b"/>
              <a:pathLst>
                <a:path w="10241280" h="682752">
                  <a:moveTo>
                    <a:pt x="0" y="0"/>
                  </a:moveTo>
                  <a:lnTo>
                    <a:pt x="10241280" y="0"/>
                  </a:lnTo>
                  <a:lnTo>
                    <a:pt x="10241280" y="682752"/>
                  </a:lnTo>
                  <a:lnTo>
                    <a:pt x="0" y="682752"/>
                  </a:lnTo>
                  <a:close/>
                </a:path>
              </a:pathLst>
            </a:custGeom>
            <a:blipFill>
              <a:blip r:embed="rId3">
                <a:alphaModFix amt="0"/>
              </a:blip>
              <a:stretch>
                <a:fillRect t="-242275" b="-242275"/>
              </a:stretch>
            </a:blipFill>
          </p:spPr>
          <p:txBody>
            <a:bodyPr/>
            <a:lstStyle/>
            <a:p>
              <a:endParaRPr lang="es-GT"/>
            </a:p>
          </p:txBody>
        </p:sp>
        <p:sp>
          <p:nvSpPr>
            <p:cNvPr id="25" name="TextBox 25"/>
            <p:cNvSpPr txBox="1"/>
            <p:nvPr/>
          </p:nvSpPr>
          <p:spPr>
            <a:xfrm>
              <a:off x="0" y="-38100"/>
              <a:ext cx="10241280" cy="720852"/>
            </a:xfrm>
            <a:prstGeom prst="rect">
              <a:avLst/>
            </a:prstGeom>
          </p:spPr>
          <p:txBody>
            <a:bodyPr lIns="0" tIns="0" rIns="0" bIns="0" rtlCol="0" anchor="ctr"/>
            <a:lstStyle/>
            <a:p>
              <a:pPr algn="l">
                <a:lnSpc>
                  <a:spcPts val="2280"/>
                </a:lnSpc>
              </a:pPr>
              <a:r>
                <a:rPr lang="en-US" sz="1900" b="1">
                  <a:solidFill>
                    <a:srgbClr val="5B8CFF"/>
                  </a:solidFill>
                  <a:latin typeface="Consolas Bold"/>
                  <a:ea typeface="Consolas Bold"/>
                  <a:cs typeface="Consolas Bold"/>
                  <a:sym typeface="Consolas Bold"/>
                </a:rPr>
                <a:t>Ejemplo: mostrar encabezado del programa</a:t>
              </a:r>
            </a:p>
          </p:txBody>
        </p:sp>
      </p:grpSp>
      <p:grpSp>
        <p:nvGrpSpPr>
          <p:cNvPr id="26" name="Group 26"/>
          <p:cNvGrpSpPr/>
          <p:nvPr/>
        </p:nvGrpSpPr>
        <p:grpSpPr>
          <a:xfrm>
            <a:off x="718823" y="3205991"/>
            <a:ext cx="8255003" cy="61979"/>
            <a:chOff x="0" y="0"/>
            <a:chExt cx="11006671" cy="82639"/>
          </a:xfrm>
        </p:grpSpPr>
        <p:sp>
          <p:nvSpPr>
            <p:cNvPr id="27" name="Freeform 27"/>
            <p:cNvSpPr/>
            <p:nvPr/>
          </p:nvSpPr>
          <p:spPr>
            <a:xfrm>
              <a:off x="16891" y="16891"/>
              <a:ext cx="10972800" cy="48768"/>
            </a:xfrm>
            <a:custGeom>
              <a:avLst/>
              <a:gdLst/>
              <a:ahLst/>
              <a:cxnLst/>
              <a:rect l="l" t="t" r="r" b="b"/>
              <a:pathLst>
                <a:path w="10972800" h="48768">
                  <a:moveTo>
                    <a:pt x="0" y="0"/>
                  </a:moveTo>
                  <a:lnTo>
                    <a:pt x="10972800" y="0"/>
                  </a:lnTo>
                  <a:lnTo>
                    <a:pt x="10972800" y="48768"/>
                  </a:lnTo>
                  <a:lnTo>
                    <a:pt x="0" y="48768"/>
                  </a:lnTo>
                  <a:close/>
                </a:path>
              </a:pathLst>
            </a:custGeom>
            <a:solidFill>
              <a:srgbClr val="3A4160"/>
            </a:solidFill>
          </p:spPr>
          <p:txBody>
            <a:bodyPr/>
            <a:lstStyle/>
            <a:p>
              <a:endParaRPr lang="es-GT"/>
            </a:p>
          </p:txBody>
        </p:sp>
        <p:sp>
          <p:nvSpPr>
            <p:cNvPr id="28" name="Freeform 28"/>
            <p:cNvSpPr/>
            <p:nvPr/>
          </p:nvSpPr>
          <p:spPr>
            <a:xfrm>
              <a:off x="0" y="0"/>
              <a:ext cx="11006582" cy="82552"/>
            </a:xfrm>
            <a:custGeom>
              <a:avLst/>
              <a:gdLst/>
              <a:ahLst/>
              <a:cxnLst/>
              <a:rect l="l" t="t" r="r" b="b"/>
              <a:pathLst>
                <a:path w="11006582" h="82552">
                  <a:moveTo>
                    <a:pt x="16891" y="0"/>
                  </a:moveTo>
                  <a:lnTo>
                    <a:pt x="10989691" y="0"/>
                  </a:lnTo>
                  <a:cubicBezTo>
                    <a:pt x="10999089" y="0"/>
                    <a:pt x="11006582" y="7620"/>
                    <a:pt x="11006582" y="16891"/>
                  </a:cubicBezTo>
                  <a:lnTo>
                    <a:pt x="11006582" y="65659"/>
                  </a:lnTo>
                  <a:cubicBezTo>
                    <a:pt x="11006582" y="75057"/>
                    <a:pt x="10998962" y="82550"/>
                    <a:pt x="10989691" y="82550"/>
                  </a:cubicBezTo>
                  <a:lnTo>
                    <a:pt x="16891" y="82550"/>
                  </a:lnTo>
                  <a:cubicBezTo>
                    <a:pt x="7620" y="82677"/>
                    <a:pt x="0" y="75057"/>
                    <a:pt x="0" y="65659"/>
                  </a:cubicBezTo>
                  <a:lnTo>
                    <a:pt x="0" y="16891"/>
                  </a:lnTo>
                  <a:cubicBezTo>
                    <a:pt x="0" y="7620"/>
                    <a:pt x="7620" y="0"/>
                    <a:pt x="16891" y="0"/>
                  </a:cubicBezTo>
                  <a:moveTo>
                    <a:pt x="16891" y="33909"/>
                  </a:moveTo>
                  <a:lnTo>
                    <a:pt x="16891" y="16891"/>
                  </a:lnTo>
                  <a:lnTo>
                    <a:pt x="33909" y="16891"/>
                  </a:lnTo>
                  <a:lnTo>
                    <a:pt x="33909" y="65659"/>
                  </a:lnTo>
                  <a:lnTo>
                    <a:pt x="16891" y="65659"/>
                  </a:lnTo>
                  <a:lnTo>
                    <a:pt x="16891" y="48768"/>
                  </a:lnTo>
                  <a:lnTo>
                    <a:pt x="10989691" y="48768"/>
                  </a:lnTo>
                  <a:lnTo>
                    <a:pt x="10989691" y="65659"/>
                  </a:lnTo>
                  <a:lnTo>
                    <a:pt x="10972800" y="65659"/>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sp>
        <p:nvSpPr>
          <p:cNvPr id="29" name="TextBox 29"/>
          <p:cNvSpPr txBox="1"/>
          <p:nvPr/>
        </p:nvSpPr>
        <p:spPr>
          <a:xfrm>
            <a:off x="1097280" y="3390900"/>
            <a:ext cx="7498080" cy="6201156"/>
          </a:xfrm>
          <a:prstGeom prst="rect">
            <a:avLst/>
          </a:prstGeom>
        </p:spPr>
        <p:txBody>
          <a:bodyPr lIns="0" tIns="0" rIns="0" bIns="0" rtlCol="0" anchor="t">
            <a:spAutoFit/>
          </a:bodyPr>
          <a:lstStyle/>
          <a:p>
            <a:pPr algn="l">
              <a:lnSpc>
                <a:spcPts val="2039"/>
              </a:lnSpc>
            </a:pPr>
            <a:r>
              <a:rPr lang="en-US" sz="1700">
                <a:solidFill>
                  <a:srgbClr val="7EC8A4"/>
                </a:solidFill>
                <a:latin typeface="Consolas"/>
                <a:ea typeface="Consolas"/>
                <a:cs typeface="Consolas"/>
                <a:sym typeface="Consolas"/>
              </a:rPr>
              <a:t>Algoritmo GestionNotas</a:t>
            </a:r>
          </a:p>
          <a:p>
            <a:pPr algn="l">
              <a:lnSpc>
                <a:spcPts val="2039"/>
              </a:lnSpc>
            </a:pPr>
            <a:r>
              <a:rPr lang="en-US" sz="1700">
                <a:solidFill>
                  <a:srgbClr val="7EC8A4"/>
                </a:solidFill>
                <a:latin typeface="Consolas"/>
                <a:ea typeface="Consolas"/>
                <a:cs typeface="Consolas"/>
                <a:sym typeface="Consolas"/>
              </a:rPr>
              <a:t>   MostrarEncabezado()</a:t>
            </a:r>
          </a:p>
          <a:p>
            <a:pPr algn="l">
              <a:lnSpc>
                <a:spcPts val="2039"/>
              </a:lnSpc>
            </a:pPr>
            <a:r>
              <a:rPr lang="en-US" sz="1700">
                <a:solidFill>
                  <a:srgbClr val="7EC8A4"/>
                </a:solidFill>
                <a:latin typeface="Consolas"/>
                <a:ea typeface="Consolas"/>
                <a:cs typeface="Consolas"/>
                <a:sym typeface="Consolas"/>
              </a:rPr>
              <a:t>   Definir n1, n2, n3 Como Real</a:t>
            </a:r>
          </a:p>
          <a:p>
            <a:pPr algn="l">
              <a:lnSpc>
                <a:spcPts val="2039"/>
              </a:lnSpc>
            </a:pPr>
            <a:r>
              <a:rPr lang="en-US" sz="1700">
                <a:solidFill>
                  <a:srgbClr val="7EC8A4"/>
                </a:solidFill>
                <a:latin typeface="Consolas"/>
                <a:ea typeface="Consolas"/>
                <a:cs typeface="Consolas"/>
                <a:sym typeface="Consolas"/>
              </a:rPr>
              <a:t>   Escribir "Ingrese nota 1: "</a:t>
            </a:r>
          </a:p>
          <a:p>
            <a:pPr algn="l">
              <a:lnSpc>
                <a:spcPts val="2039"/>
              </a:lnSpc>
            </a:pPr>
            <a:r>
              <a:rPr lang="en-US" sz="1700">
                <a:solidFill>
                  <a:srgbClr val="7EC8A4"/>
                </a:solidFill>
                <a:latin typeface="Consolas"/>
                <a:ea typeface="Consolas"/>
                <a:cs typeface="Consolas"/>
                <a:sym typeface="Consolas"/>
              </a:rPr>
              <a:t>   Leer n1</a:t>
            </a:r>
          </a:p>
          <a:p>
            <a:pPr algn="l">
              <a:lnSpc>
                <a:spcPts val="2039"/>
              </a:lnSpc>
            </a:pPr>
            <a:r>
              <a:rPr lang="en-US" sz="1700">
                <a:solidFill>
                  <a:srgbClr val="7EC8A4"/>
                </a:solidFill>
                <a:latin typeface="Consolas"/>
                <a:ea typeface="Consolas"/>
                <a:cs typeface="Consolas"/>
                <a:sym typeface="Consolas"/>
              </a:rPr>
              <a:t>   Escribir "Ingrese nota 2: "</a:t>
            </a:r>
          </a:p>
          <a:p>
            <a:pPr algn="l">
              <a:lnSpc>
                <a:spcPts val="2039"/>
              </a:lnSpc>
            </a:pPr>
            <a:r>
              <a:rPr lang="en-US" sz="1700">
                <a:solidFill>
                  <a:srgbClr val="7EC8A4"/>
                </a:solidFill>
                <a:latin typeface="Consolas"/>
                <a:ea typeface="Consolas"/>
                <a:cs typeface="Consolas"/>
                <a:sym typeface="Consolas"/>
              </a:rPr>
              <a:t>   Leer n2</a:t>
            </a:r>
          </a:p>
          <a:p>
            <a:pPr algn="l">
              <a:lnSpc>
                <a:spcPts val="2039"/>
              </a:lnSpc>
            </a:pPr>
            <a:r>
              <a:rPr lang="en-US" sz="1700">
                <a:solidFill>
                  <a:srgbClr val="7EC8A4"/>
                </a:solidFill>
                <a:latin typeface="Consolas"/>
                <a:ea typeface="Consolas"/>
                <a:cs typeface="Consolas"/>
                <a:sym typeface="Consolas"/>
              </a:rPr>
              <a:t>   Escribir "Ingrese nota 3: "</a:t>
            </a:r>
          </a:p>
          <a:p>
            <a:pPr algn="l">
              <a:lnSpc>
                <a:spcPts val="2039"/>
              </a:lnSpc>
            </a:pPr>
            <a:r>
              <a:rPr lang="en-US" sz="1700">
                <a:solidFill>
                  <a:srgbClr val="7EC8A4"/>
                </a:solidFill>
                <a:latin typeface="Consolas"/>
                <a:ea typeface="Consolas"/>
                <a:cs typeface="Consolas"/>
                <a:sym typeface="Consolas"/>
              </a:rPr>
              <a:t>   Leer n3</a:t>
            </a:r>
          </a:p>
          <a:p>
            <a:pPr algn="l">
              <a:lnSpc>
                <a:spcPts val="2039"/>
              </a:lnSpc>
            </a:pPr>
            <a:r>
              <a:rPr lang="en-US" sz="1700">
                <a:solidFill>
                  <a:srgbClr val="7EC8A4"/>
                </a:solidFill>
                <a:latin typeface="Consolas"/>
                <a:ea typeface="Consolas"/>
                <a:cs typeface="Consolas"/>
                <a:sym typeface="Consolas"/>
              </a:rPr>
              <a:t>   Escribir "Promedio: ", (n1+n2+n3)/3</a:t>
            </a:r>
          </a:p>
          <a:p>
            <a:pPr algn="l">
              <a:lnSpc>
                <a:spcPts val="2039"/>
              </a:lnSpc>
            </a:pPr>
            <a:r>
              <a:rPr lang="en-US" sz="1700">
                <a:solidFill>
                  <a:srgbClr val="7EC8A4"/>
                </a:solidFill>
                <a:latin typeface="Consolas"/>
                <a:ea typeface="Consolas"/>
                <a:cs typeface="Consolas"/>
                <a:sym typeface="Consolas"/>
              </a:rPr>
              <a:t>FinAlgoritmo</a:t>
            </a:r>
          </a:p>
          <a:p>
            <a:pPr algn="l">
              <a:lnSpc>
                <a:spcPts val="2039"/>
              </a:lnSpc>
            </a:pPr>
            <a:endParaRPr lang="en-US" sz="1700">
              <a:solidFill>
                <a:srgbClr val="7EC8A4"/>
              </a:solidFill>
              <a:latin typeface="Consolas"/>
              <a:ea typeface="Consolas"/>
              <a:cs typeface="Consolas"/>
              <a:sym typeface="Consolas"/>
            </a:endParaRPr>
          </a:p>
          <a:p>
            <a:pPr algn="l">
              <a:lnSpc>
                <a:spcPts val="2039"/>
              </a:lnSpc>
            </a:pPr>
            <a:r>
              <a:rPr lang="en-US" sz="1700">
                <a:solidFill>
                  <a:srgbClr val="7EC8A4"/>
                </a:solidFill>
                <a:latin typeface="Consolas"/>
                <a:ea typeface="Consolas"/>
                <a:cs typeface="Consolas"/>
                <a:sym typeface="Consolas"/>
              </a:rPr>
              <a:t>SubProceso MostrarEncabezado()</a:t>
            </a:r>
          </a:p>
          <a:p>
            <a:pPr algn="l">
              <a:lnSpc>
                <a:spcPts val="2039"/>
              </a:lnSpc>
            </a:pPr>
            <a:r>
              <a:rPr lang="en-US" sz="1700">
                <a:solidFill>
                  <a:srgbClr val="7EC8A4"/>
                </a:solidFill>
                <a:latin typeface="Consolas"/>
                <a:ea typeface="Consolas"/>
                <a:cs typeface="Consolas"/>
                <a:sym typeface="Consolas"/>
              </a:rPr>
              <a:t>   Escribir "========================"</a:t>
            </a:r>
          </a:p>
          <a:p>
            <a:pPr algn="l">
              <a:lnSpc>
                <a:spcPts val="2039"/>
              </a:lnSpc>
            </a:pPr>
            <a:r>
              <a:rPr lang="en-US" sz="1700">
                <a:solidFill>
                  <a:srgbClr val="7EC8A4"/>
                </a:solidFill>
                <a:latin typeface="Consolas"/>
                <a:ea typeface="Consolas"/>
                <a:cs typeface="Consolas"/>
                <a:sym typeface="Consolas"/>
              </a:rPr>
              <a:t>   Escribir "   SISTEMA DE NOTAS     "</a:t>
            </a:r>
          </a:p>
          <a:p>
            <a:pPr algn="l">
              <a:lnSpc>
                <a:spcPts val="2039"/>
              </a:lnSpc>
            </a:pPr>
            <a:r>
              <a:rPr lang="en-US" sz="1700">
                <a:solidFill>
                  <a:srgbClr val="7EC8A4"/>
                </a:solidFill>
                <a:latin typeface="Consolas"/>
                <a:ea typeface="Consolas"/>
                <a:cs typeface="Consolas"/>
                <a:sym typeface="Consolas"/>
              </a:rPr>
              <a:t>   Escribir "========================"</a:t>
            </a:r>
          </a:p>
          <a:p>
            <a:pPr algn="l">
              <a:lnSpc>
                <a:spcPts val="2039"/>
              </a:lnSpc>
            </a:pPr>
            <a:r>
              <a:rPr lang="en-US" sz="1700">
                <a:solidFill>
                  <a:srgbClr val="7EC8A4"/>
                </a:solidFill>
                <a:latin typeface="Consolas"/>
                <a:ea typeface="Consolas"/>
                <a:cs typeface="Consolas"/>
                <a:sym typeface="Consolas"/>
              </a:rPr>
              <a:t>FinSubProceso</a:t>
            </a:r>
          </a:p>
        </p:txBody>
      </p:sp>
      <p:grpSp>
        <p:nvGrpSpPr>
          <p:cNvPr id="30" name="Group 30"/>
          <p:cNvGrpSpPr/>
          <p:nvPr/>
        </p:nvGrpSpPr>
        <p:grpSpPr>
          <a:xfrm>
            <a:off x="9314183" y="2511047"/>
            <a:ext cx="8255003" cy="2256539"/>
            <a:chOff x="0" y="0"/>
            <a:chExt cx="11006671" cy="3008719"/>
          </a:xfrm>
        </p:grpSpPr>
        <p:sp>
          <p:nvSpPr>
            <p:cNvPr id="31" name="Freeform 31"/>
            <p:cNvSpPr/>
            <p:nvPr/>
          </p:nvSpPr>
          <p:spPr>
            <a:xfrm>
              <a:off x="16891" y="16891"/>
              <a:ext cx="10972800" cy="2974848"/>
            </a:xfrm>
            <a:custGeom>
              <a:avLst/>
              <a:gdLst/>
              <a:ahLst/>
              <a:cxnLst/>
              <a:rect l="l" t="t" r="r" b="b"/>
              <a:pathLst>
                <a:path w="10972800" h="2974848">
                  <a:moveTo>
                    <a:pt x="0" y="0"/>
                  </a:moveTo>
                  <a:lnTo>
                    <a:pt x="10972800" y="0"/>
                  </a:lnTo>
                  <a:lnTo>
                    <a:pt x="10972800" y="2974848"/>
                  </a:lnTo>
                  <a:lnTo>
                    <a:pt x="0" y="2974848"/>
                  </a:lnTo>
                  <a:close/>
                </a:path>
              </a:pathLst>
            </a:custGeom>
            <a:solidFill>
              <a:srgbClr val="252B42"/>
            </a:solidFill>
          </p:spPr>
          <p:txBody>
            <a:bodyPr/>
            <a:lstStyle/>
            <a:p>
              <a:endParaRPr lang="es-GT"/>
            </a:p>
          </p:txBody>
        </p:sp>
        <p:sp>
          <p:nvSpPr>
            <p:cNvPr id="32" name="Freeform 32"/>
            <p:cNvSpPr/>
            <p:nvPr/>
          </p:nvSpPr>
          <p:spPr>
            <a:xfrm>
              <a:off x="0" y="0"/>
              <a:ext cx="11006582" cy="3008630"/>
            </a:xfrm>
            <a:custGeom>
              <a:avLst/>
              <a:gdLst/>
              <a:ahLst/>
              <a:cxnLst/>
              <a:rect l="l" t="t" r="r" b="b"/>
              <a:pathLst>
                <a:path w="11006582" h="3008630">
                  <a:moveTo>
                    <a:pt x="16891" y="0"/>
                  </a:moveTo>
                  <a:lnTo>
                    <a:pt x="10989691" y="0"/>
                  </a:lnTo>
                  <a:cubicBezTo>
                    <a:pt x="10999089" y="0"/>
                    <a:pt x="11006582" y="7620"/>
                    <a:pt x="11006582" y="16891"/>
                  </a:cubicBezTo>
                  <a:lnTo>
                    <a:pt x="11006582" y="2991739"/>
                  </a:lnTo>
                  <a:cubicBezTo>
                    <a:pt x="11006582" y="3001137"/>
                    <a:pt x="10998962" y="3008630"/>
                    <a:pt x="10989691" y="3008630"/>
                  </a:cubicBezTo>
                  <a:lnTo>
                    <a:pt x="16891" y="3008630"/>
                  </a:lnTo>
                  <a:cubicBezTo>
                    <a:pt x="7493" y="3008630"/>
                    <a:pt x="0" y="3001010"/>
                    <a:pt x="0" y="2991739"/>
                  </a:cubicBezTo>
                  <a:lnTo>
                    <a:pt x="0" y="16891"/>
                  </a:lnTo>
                  <a:cubicBezTo>
                    <a:pt x="0" y="7620"/>
                    <a:pt x="7620" y="0"/>
                    <a:pt x="16891" y="0"/>
                  </a:cubicBezTo>
                  <a:moveTo>
                    <a:pt x="16891" y="33909"/>
                  </a:moveTo>
                  <a:lnTo>
                    <a:pt x="16891" y="16891"/>
                  </a:lnTo>
                  <a:lnTo>
                    <a:pt x="33909" y="16891"/>
                  </a:lnTo>
                  <a:lnTo>
                    <a:pt x="33909" y="2991739"/>
                  </a:lnTo>
                  <a:lnTo>
                    <a:pt x="16891" y="2991739"/>
                  </a:lnTo>
                  <a:lnTo>
                    <a:pt x="16891" y="2974848"/>
                  </a:lnTo>
                  <a:lnTo>
                    <a:pt x="10989691" y="2974848"/>
                  </a:lnTo>
                  <a:lnTo>
                    <a:pt x="10989691" y="2991739"/>
                  </a:lnTo>
                  <a:lnTo>
                    <a:pt x="10972800" y="2991739"/>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grpSp>
        <p:nvGrpSpPr>
          <p:cNvPr id="33" name="Group 33"/>
          <p:cNvGrpSpPr/>
          <p:nvPr/>
        </p:nvGrpSpPr>
        <p:grpSpPr>
          <a:xfrm>
            <a:off x="9601200" y="2651760"/>
            <a:ext cx="7680960" cy="548640"/>
            <a:chOff x="0" y="0"/>
            <a:chExt cx="10241280" cy="731520"/>
          </a:xfrm>
        </p:grpSpPr>
        <p:sp>
          <p:nvSpPr>
            <p:cNvPr id="34" name="Freeform 34"/>
            <p:cNvSpPr/>
            <p:nvPr/>
          </p:nvSpPr>
          <p:spPr>
            <a:xfrm>
              <a:off x="0" y="0"/>
              <a:ext cx="10241280" cy="731520"/>
            </a:xfrm>
            <a:custGeom>
              <a:avLst/>
              <a:gdLst/>
              <a:ahLst/>
              <a:cxnLst/>
              <a:rect l="l" t="t" r="r" b="b"/>
              <a:pathLst>
                <a:path w="10241280" h="731520">
                  <a:moveTo>
                    <a:pt x="0" y="0"/>
                  </a:moveTo>
                  <a:lnTo>
                    <a:pt x="10241280" y="0"/>
                  </a:lnTo>
                  <a:lnTo>
                    <a:pt x="10241280" y="731520"/>
                  </a:lnTo>
                  <a:lnTo>
                    <a:pt x="0" y="731520"/>
                  </a:lnTo>
                  <a:close/>
                </a:path>
              </a:pathLst>
            </a:custGeom>
            <a:blipFill>
              <a:blip r:embed="rId3">
                <a:alphaModFix amt="0"/>
              </a:blip>
              <a:stretch>
                <a:fillRect t="-222790" b="-222790"/>
              </a:stretch>
            </a:blipFill>
          </p:spPr>
          <p:txBody>
            <a:bodyPr/>
            <a:lstStyle/>
            <a:p>
              <a:endParaRPr lang="es-GT"/>
            </a:p>
          </p:txBody>
        </p:sp>
        <p:sp>
          <p:nvSpPr>
            <p:cNvPr id="35" name="TextBox 35"/>
            <p:cNvSpPr txBox="1"/>
            <p:nvPr/>
          </p:nvSpPr>
          <p:spPr>
            <a:xfrm>
              <a:off x="0" y="-47625"/>
              <a:ext cx="10241280" cy="779145"/>
            </a:xfrm>
            <a:prstGeom prst="rect">
              <a:avLst/>
            </a:prstGeom>
          </p:spPr>
          <p:txBody>
            <a:bodyPr lIns="0" tIns="0" rIns="0" bIns="0" rtlCol="0" anchor="ctr"/>
            <a:lstStyle/>
            <a:p>
              <a:pPr algn="l">
                <a:lnSpc>
                  <a:spcPts val="2640"/>
                </a:lnSpc>
              </a:pPr>
              <a:r>
                <a:rPr lang="en-US" sz="2200" b="1">
                  <a:solidFill>
                    <a:srgbClr val="5B8CFF"/>
                  </a:solidFill>
                  <a:latin typeface="Calibri (MS) Bold"/>
                  <a:ea typeface="Calibri (MS) Bold"/>
                  <a:cs typeface="Calibri (MS) Bold"/>
                  <a:sym typeface="Calibri (MS) Bold"/>
                </a:rPr>
                <a:t>¿Qué ocurre al invocar MostrarEncabezado()?</a:t>
              </a:r>
            </a:p>
          </p:txBody>
        </p:sp>
      </p:grpSp>
      <p:sp>
        <p:nvSpPr>
          <p:cNvPr id="36" name="TextBox 36"/>
          <p:cNvSpPr txBox="1"/>
          <p:nvPr/>
        </p:nvSpPr>
        <p:spPr>
          <a:xfrm>
            <a:off x="9692640" y="3336036"/>
            <a:ext cx="7498080" cy="1263396"/>
          </a:xfrm>
          <a:prstGeom prst="rect">
            <a:avLst/>
          </a:prstGeom>
        </p:spPr>
        <p:txBody>
          <a:bodyPr lIns="0" tIns="0" rIns="0" bIns="0" rtlCol="0" anchor="t">
            <a:spAutoFit/>
          </a:bodyPr>
          <a:lstStyle/>
          <a:p>
            <a:pPr algn="l">
              <a:lnSpc>
                <a:spcPts val="2400"/>
              </a:lnSpc>
            </a:pPr>
            <a:r>
              <a:rPr lang="en-US" sz="2000">
                <a:solidFill>
                  <a:srgbClr val="FFFFFF"/>
                </a:solidFill>
                <a:latin typeface="Calibri (MS)"/>
                <a:ea typeface="Calibri (MS)"/>
                <a:cs typeface="Calibri (MS)"/>
                <a:sym typeface="Calibri (MS)"/>
              </a:rPr>
              <a:t>El algoritmo principal pausa su ejecución, transfiere el control al subproceso, este ejecuta sus 3 líneas de salida y devuelve el control a la línea siguiente de donde fue llamado.</a:t>
            </a:r>
          </a:p>
        </p:txBody>
      </p:sp>
      <p:grpSp>
        <p:nvGrpSpPr>
          <p:cNvPr id="37" name="Group 37"/>
          <p:cNvGrpSpPr/>
          <p:nvPr/>
        </p:nvGrpSpPr>
        <p:grpSpPr>
          <a:xfrm>
            <a:off x="9314183" y="5016503"/>
            <a:ext cx="8255003" cy="1397003"/>
            <a:chOff x="0" y="0"/>
            <a:chExt cx="11006671" cy="1862671"/>
          </a:xfrm>
        </p:grpSpPr>
        <p:sp>
          <p:nvSpPr>
            <p:cNvPr id="38" name="Freeform 38"/>
            <p:cNvSpPr/>
            <p:nvPr/>
          </p:nvSpPr>
          <p:spPr>
            <a:xfrm>
              <a:off x="16891" y="16891"/>
              <a:ext cx="10972800" cy="1828800"/>
            </a:xfrm>
            <a:custGeom>
              <a:avLst/>
              <a:gdLst/>
              <a:ahLst/>
              <a:cxnLst/>
              <a:rect l="l" t="t" r="r" b="b"/>
              <a:pathLst>
                <a:path w="10972800" h="1828800">
                  <a:moveTo>
                    <a:pt x="0" y="0"/>
                  </a:moveTo>
                  <a:lnTo>
                    <a:pt x="10972800" y="0"/>
                  </a:lnTo>
                  <a:lnTo>
                    <a:pt x="10972800" y="1828800"/>
                  </a:lnTo>
                  <a:lnTo>
                    <a:pt x="0" y="1828800"/>
                  </a:lnTo>
                  <a:close/>
                </a:path>
              </a:pathLst>
            </a:custGeom>
            <a:solidFill>
              <a:srgbClr val="252B42"/>
            </a:solidFill>
          </p:spPr>
          <p:txBody>
            <a:bodyPr/>
            <a:lstStyle/>
            <a:p>
              <a:endParaRPr lang="es-GT"/>
            </a:p>
          </p:txBody>
        </p:sp>
        <p:sp>
          <p:nvSpPr>
            <p:cNvPr id="39" name="Freeform 39"/>
            <p:cNvSpPr/>
            <p:nvPr/>
          </p:nvSpPr>
          <p:spPr>
            <a:xfrm>
              <a:off x="0" y="0"/>
              <a:ext cx="11006582" cy="1862582"/>
            </a:xfrm>
            <a:custGeom>
              <a:avLst/>
              <a:gdLst/>
              <a:ahLst/>
              <a:cxnLst/>
              <a:rect l="l" t="t" r="r" b="b"/>
              <a:pathLst>
                <a:path w="11006582" h="1862582">
                  <a:moveTo>
                    <a:pt x="16891" y="0"/>
                  </a:moveTo>
                  <a:lnTo>
                    <a:pt x="10989691" y="0"/>
                  </a:lnTo>
                  <a:cubicBezTo>
                    <a:pt x="10999089" y="0"/>
                    <a:pt x="11006582" y="7620"/>
                    <a:pt x="11006582" y="16891"/>
                  </a:cubicBezTo>
                  <a:lnTo>
                    <a:pt x="11006582" y="1845691"/>
                  </a:lnTo>
                  <a:cubicBezTo>
                    <a:pt x="11006582" y="1855089"/>
                    <a:pt x="10998962" y="1862582"/>
                    <a:pt x="10989691"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10989691" y="1828800"/>
                  </a:lnTo>
                  <a:lnTo>
                    <a:pt x="10989691" y="1845691"/>
                  </a:lnTo>
                  <a:lnTo>
                    <a:pt x="10972800" y="1845691"/>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grpSp>
        <p:nvGrpSpPr>
          <p:cNvPr id="40" name="Group 40"/>
          <p:cNvGrpSpPr/>
          <p:nvPr/>
        </p:nvGrpSpPr>
        <p:grpSpPr>
          <a:xfrm>
            <a:off x="9314183" y="5016503"/>
            <a:ext cx="171707" cy="1397003"/>
            <a:chOff x="0" y="0"/>
            <a:chExt cx="228943" cy="1862671"/>
          </a:xfrm>
        </p:grpSpPr>
        <p:sp>
          <p:nvSpPr>
            <p:cNvPr id="41" name="Freeform 41"/>
            <p:cNvSpPr/>
            <p:nvPr/>
          </p:nvSpPr>
          <p:spPr>
            <a:xfrm>
              <a:off x="16891" y="16891"/>
              <a:ext cx="195072" cy="1828800"/>
            </a:xfrm>
            <a:custGeom>
              <a:avLst/>
              <a:gdLst/>
              <a:ahLst/>
              <a:cxnLst/>
              <a:rect l="l" t="t" r="r" b="b"/>
              <a:pathLst>
                <a:path w="195072" h="1828800">
                  <a:moveTo>
                    <a:pt x="0" y="0"/>
                  </a:moveTo>
                  <a:lnTo>
                    <a:pt x="195072" y="0"/>
                  </a:lnTo>
                  <a:lnTo>
                    <a:pt x="195072" y="1828800"/>
                  </a:lnTo>
                  <a:lnTo>
                    <a:pt x="0" y="1828800"/>
                  </a:lnTo>
                  <a:close/>
                </a:path>
              </a:pathLst>
            </a:custGeom>
            <a:solidFill>
              <a:srgbClr val="5B8CFF"/>
            </a:solidFill>
          </p:spPr>
          <p:txBody>
            <a:bodyPr/>
            <a:lstStyle/>
            <a:p>
              <a:endParaRPr lang="es-GT"/>
            </a:p>
          </p:txBody>
        </p:sp>
        <p:sp>
          <p:nvSpPr>
            <p:cNvPr id="42" name="Freeform 42"/>
            <p:cNvSpPr/>
            <p:nvPr/>
          </p:nvSpPr>
          <p:spPr>
            <a:xfrm>
              <a:off x="0" y="0"/>
              <a:ext cx="228854" cy="1862582"/>
            </a:xfrm>
            <a:custGeom>
              <a:avLst/>
              <a:gdLst/>
              <a:ahLst/>
              <a:cxnLst/>
              <a:rect l="l" t="t" r="r" b="b"/>
              <a:pathLst>
                <a:path w="228854" h="1862582">
                  <a:moveTo>
                    <a:pt x="16891" y="0"/>
                  </a:moveTo>
                  <a:lnTo>
                    <a:pt x="211963" y="0"/>
                  </a:lnTo>
                  <a:cubicBezTo>
                    <a:pt x="221361" y="0"/>
                    <a:pt x="228854" y="7620"/>
                    <a:pt x="228854" y="16891"/>
                  </a:cubicBezTo>
                  <a:lnTo>
                    <a:pt x="228854" y="1845691"/>
                  </a:lnTo>
                  <a:cubicBezTo>
                    <a:pt x="228854" y="1855089"/>
                    <a:pt x="221234" y="1862582"/>
                    <a:pt x="211963"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11963" y="1828800"/>
                  </a:lnTo>
                  <a:lnTo>
                    <a:pt x="211963" y="1845691"/>
                  </a:lnTo>
                  <a:lnTo>
                    <a:pt x="195072" y="1845691"/>
                  </a:lnTo>
                  <a:lnTo>
                    <a:pt x="195072" y="16891"/>
                  </a:lnTo>
                  <a:lnTo>
                    <a:pt x="211963" y="16891"/>
                  </a:lnTo>
                  <a:lnTo>
                    <a:pt x="211963" y="33909"/>
                  </a:lnTo>
                  <a:lnTo>
                    <a:pt x="16891" y="33909"/>
                  </a:lnTo>
                  <a:close/>
                </a:path>
              </a:pathLst>
            </a:custGeom>
            <a:solidFill>
              <a:srgbClr val="5B8CFF"/>
            </a:solidFill>
          </p:spPr>
          <p:txBody>
            <a:bodyPr/>
            <a:lstStyle/>
            <a:p>
              <a:endParaRPr lang="es-GT"/>
            </a:p>
          </p:txBody>
        </p:sp>
      </p:grpSp>
      <p:grpSp>
        <p:nvGrpSpPr>
          <p:cNvPr id="43" name="Group 43"/>
          <p:cNvGrpSpPr/>
          <p:nvPr/>
        </p:nvGrpSpPr>
        <p:grpSpPr>
          <a:xfrm>
            <a:off x="9656064" y="5138928"/>
            <a:ext cx="7589520" cy="438912"/>
            <a:chOff x="0" y="0"/>
            <a:chExt cx="10119360" cy="585216"/>
          </a:xfrm>
        </p:grpSpPr>
        <p:sp>
          <p:nvSpPr>
            <p:cNvPr id="44" name="Freeform 44"/>
            <p:cNvSpPr/>
            <p:nvPr/>
          </p:nvSpPr>
          <p:spPr>
            <a:xfrm>
              <a:off x="0" y="0"/>
              <a:ext cx="10119360" cy="585216"/>
            </a:xfrm>
            <a:custGeom>
              <a:avLst/>
              <a:gdLst/>
              <a:ahLst/>
              <a:cxnLst/>
              <a:rect l="l" t="t" r="r" b="b"/>
              <a:pathLst>
                <a:path w="10119360" h="585216">
                  <a:moveTo>
                    <a:pt x="0" y="0"/>
                  </a:moveTo>
                  <a:lnTo>
                    <a:pt x="10119360" y="0"/>
                  </a:lnTo>
                  <a:lnTo>
                    <a:pt x="10119360" y="585216"/>
                  </a:lnTo>
                  <a:lnTo>
                    <a:pt x="0" y="585216"/>
                  </a:lnTo>
                  <a:close/>
                </a:path>
              </a:pathLst>
            </a:custGeom>
            <a:blipFill>
              <a:blip r:embed="rId3">
                <a:alphaModFix amt="0"/>
              </a:blip>
              <a:stretch>
                <a:fillRect t="-286928" b="-286928"/>
              </a:stretch>
            </a:blipFill>
          </p:spPr>
          <p:txBody>
            <a:bodyPr/>
            <a:lstStyle/>
            <a:p>
              <a:endParaRPr lang="es-GT"/>
            </a:p>
          </p:txBody>
        </p:sp>
        <p:sp>
          <p:nvSpPr>
            <p:cNvPr id="45" name="TextBox 45"/>
            <p:cNvSpPr txBox="1"/>
            <p:nvPr/>
          </p:nvSpPr>
          <p:spPr>
            <a:xfrm>
              <a:off x="0" y="-38100"/>
              <a:ext cx="10119360" cy="623316"/>
            </a:xfrm>
            <a:prstGeom prst="rect">
              <a:avLst/>
            </a:prstGeom>
          </p:spPr>
          <p:txBody>
            <a:bodyPr lIns="0" tIns="0" rIns="0" bIns="0" rtlCol="0" anchor="ctr"/>
            <a:lstStyle/>
            <a:p>
              <a:pPr algn="l">
                <a:lnSpc>
                  <a:spcPts val="2400"/>
                </a:lnSpc>
              </a:pPr>
              <a:r>
                <a:rPr lang="en-US" sz="2000" b="1">
                  <a:solidFill>
                    <a:srgbClr val="5B8CFF"/>
                  </a:solidFill>
                  <a:latin typeface="Calibri (MS) Bold"/>
                  <a:ea typeface="Calibri (MS) Bold"/>
                  <a:cs typeface="Calibri (MS) Bold"/>
                  <a:sym typeface="Calibri (MS) Bold"/>
                </a:rPr>
                <a:t>Sin paréntesis de datos</a:t>
              </a:r>
            </a:p>
          </p:txBody>
        </p:sp>
      </p:grpSp>
      <p:sp>
        <p:nvSpPr>
          <p:cNvPr id="46" name="TextBox 46"/>
          <p:cNvSpPr txBox="1"/>
          <p:nvPr/>
        </p:nvSpPr>
        <p:spPr>
          <a:xfrm>
            <a:off x="9747504" y="5640324"/>
            <a:ext cx="7406640" cy="641604"/>
          </a:xfrm>
          <a:prstGeom prst="rect">
            <a:avLst/>
          </a:prstGeom>
        </p:spPr>
        <p:txBody>
          <a:bodyPr lIns="0" tIns="0" rIns="0" bIns="0" rtlCol="0" anchor="t">
            <a:spAutoFit/>
          </a:bodyPr>
          <a:lstStyle/>
          <a:p>
            <a:pPr algn="l">
              <a:lnSpc>
                <a:spcPts val="2160"/>
              </a:lnSpc>
            </a:pPr>
            <a:r>
              <a:rPr lang="en-US" sz="1800">
                <a:solidFill>
                  <a:srgbClr val="FFFFFF"/>
                </a:solidFill>
                <a:latin typeface="Calibri (MS)"/>
                <a:ea typeface="Calibri (MS)"/>
                <a:cs typeface="Calibri (MS)"/>
                <a:sym typeface="Calibri (MS)"/>
              </a:rPr>
              <a:t>Los paréntesis vacíos () indican explícitamente que el subproceso no requiere datos de entrada para operar.</a:t>
            </a:r>
          </a:p>
        </p:txBody>
      </p:sp>
      <p:grpSp>
        <p:nvGrpSpPr>
          <p:cNvPr id="47" name="Group 47"/>
          <p:cNvGrpSpPr/>
          <p:nvPr/>
        </p:nvGrpSpPr>
        <p:grpSpPr>
          <a:xfrm>
            <a:off x="9314183" y="6570983"/>
            <a:ext cx="8255003" cy="1397003"/>
            <a:chOff x="0" y="0"/>
            <a:chExt cx="11006671" cy="1862671"/>
          </a:xfrm>
        </p:grpSpPr>
        <p:sp>
          <p:nvSpPr>
            <p:cNvPr id="48" name="Freeform 48"/>
            <p:cNvSpPr/>
            <p:nvPr/>
          </p:nvSpPr>
          <p:spPr>
            <a:xfrm>
              <a:off x="16891" y="16891"/>
              <a:ext cx="10972800" cy="1828800"/>
            </a:xfrm>
            <a:custGeom>
              <a:avLst/>
              <a:gdLst/>
              <a:ahLst/>
              <a:cxnLst/>
              <a:rect l="l" t="t" r="r" b="b"/>
              <a:pathLst>
                <a:path w="10972800" h="1828800">
                  <a:moveTo>
                    <a:pt x="0" y="0"/>
                  </a:moveTo>
                  <a:lnTo>
                    <a:pt x="10972800" y="0"/>
                  </a:lnTo>
                  <a:lnTo>
                    <a:pt x="10972800" y="1828800"/>
                  </a:lnTo>
                  <a:lnTo>
                    <a:pt x="0" y="1828800"/>
                  </a:lnTo>
                  <a:close/>
                </a:path>
              </a:pathLst>
            </a:custGeom>
            <a:solidFill>
              <a:srgbClr val="252B42"/>
            </a:solidFill>
          </p:spPr>
          <p:txBody>
            <a:bodyPr/>
            <a:lstStyle/>
            <a:p>
              <a:endParaRPr lang="es-GT"/>
            </a:p>
          </p:txBody>
        </p:sp>
        <p:sp>
          <p:nvSpPr>
            <p:cNvPr id="49" name="Freeform 49"/>
            <p:cNvSpPr/>
            <p:nvPr/>
          </p:nvSpPr>
          <p:spPr>
            <a:xfrm>
              <a:off x="0" y="0"/>
              <a:ext cx="11006582" cy="1862582"/>
            </a:xfrm>
            <a:custGeom>
              <a:avLst/>
              <a:gdLst/>
              <a:ahLst/>
              <a:cxnLst/>
              <a:rect l="l" t="t" r="r" b="b"/>
              <a:pathLst>
                <a:path w="11006582" h="1862582">
                  <a:moveTo>
                    <a:pt x="16891" y="0"/>
                  </a:moveTo>
                  <a:lnTo>
                    <a:pt x="10989691" y="0"/>
                  </a:lnTo>
                  <a:cubicBezTo>
                    <a:pt x="10999089" y="0"/>
                    <a:pt x="11006582" y="7620"/>
                    <a:pt x="11006582" y="16891"/>
                  </a:cubicBezTo>
                  <a:lnTo>
                    <a:pt x="11006582" y="1845691"/>
                  </a:lnTo>
                  <a:cubicBezTo>
                    <a:pt x="11006582" y="1855089"/>
                    <a:pt x="10998962" y="1862582"/>
                    <a:pt x="10989691"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10989691" y="1828800"/>
                  </a:lnTo>
                  <a:lnTo>
                    <a:pt x="10989691" y="1845691"/>
                  </a:lnTo>
                  <a:lnTo>
                    <a:pt x="10972800" y="1845691"/>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grpSp>
        <p:nvGrpSpPr>
          <p:cNvPr id="50" name="Group 50"/>
          <p:cNvGrpSpPr/>
          <p:nvPr/>
        </p:nvGrpSpPr>
        <p:grpSpPr>
          <a:xfrm>
            <a:off x="9314183" y="6570983"/>
            <a:ext cx="171707" cy="1397003"/>
            <a:chOff x="0" y="0"/>
            <a:chExt cx="228943" cy="1862671"/>
          </a:xfrm>
        </p:grpSpPr>
        <p:sp>
          <p:nvSpPr>
            <p:cNvPr id="51" name="Freeform 51"/>
            <p:cNvSpPr/>
            <p:nvPr/>
          </p:nvSpPr>
          <p:spPr>
            <a:xfrm>
              <a:off x="16891" y="16891"/>
              <a:ext cx="195072" cy="1828800"/>
            </a:xfrm>
            <a:custGeom>
              <a:avLst/>
              <a:gdLst/>
              <a:ahLst/>
              <a:cxnLst/>
              <a:rect l="l" t="t" r="r" b="b"/>
              <a:pathLst>
                <a:path w="195072" h="1828800">
                  <a:moveTo>
                    <a:pt x="0" y="0"/>
                  </a:moveTo>
                  <a:lnTo>
                    <a:pt x="195072" y="0"/>
                  </a:lnTo>
                  <a:lnTo>
                    <a:pt x="195072" y="1828800"/>
                  </a:lnTo>
                  <a:lnTo>
                    <a:pt x="0" y="1828800"/>
                  </a:lnTo>
                  <a:close/>
                </a:path>
              </a:pathLst>
            </a:custGeom>
            <a:solidFill>
              <a:srgbClr val="5EC6E8"/>
            </a:solidFill>
          </p:spPr>
          <p:txBody>
            <a:bodyPr/>
            <a:lstStyle/>
            <a:p>
              <a:endParaRPr lang="es-GT"/>
            </a:p>
          </p:txBody>
        </p:sp>
        <p:sp>
          <p:nvSpPr>
            <p:cNvPr id="52" name="Freeform 52"/>
            <p:cNvSpPr/>
            <p:nvPr/>
          </p:nvSpPr>
          <p:spPr>
            <a:xfrm>
              <a:off x="0" y="0"/>
              <a:ext cx="228854" cy="1862582"/>
            </a:xfrm>
            <a:custGeom>
              <a:avLst/>
              <a:gdLst/>
              <a:ahLst/>
              <a:cxnLst/>
              <a:rect l="l" t="t" r="r" b="b"/>
              <a:pathLst>
                <a:path w="228854" h="1862582">
                  <a:moveTo>
                    <a:pt x="16891" y="0"/>
                  </a:moveTo>
                  <a:lnTo>
                    <a:pt x="211963" y="0"/>
                  </a:lnTo>
                  <a:cubicBezTo>
                    <a:pt x="221361" y="0"/>
                    <a:pt x="228854" y="7620"/>
                    <a:pt x="228854" y="16891"/>
                  </a:cubicBezTo>
                  <a:lnTo>
                    <a:pt x="228854" y="1845691"/>
                  </a:lnTo>
                  <a:cubicBezTo>
                    <a:pt x="228854" y="1855089"/>
                    <a:pt x="221234" y="1862582"/>
                    <a:pt x="211963"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11963" y="1828800"/>
                  </a:lnTo>
                  <a:lnTo>
                    <a:pt x="211963" y="1845691"/>
                  </a:lnTo>
                  <a:lnTo>
                    <a:pt x="195072" y="1845691"/>
                  </a:lnTo>
                  <a:lnTo>
                    <a:pt x="195072" y="16891"/>
                  </a:lnTo>
                  <a:lnTo>
                    <a:pt x="211963" y="16891"/>
                  </a:lnTo>
                  <a:lnTo>
                    <a:pt x="211963" y="33909"/>
                  </a:lnTo>
                  <a:lnTo>
                    <a:pt x="16891" y="33909"/>
                  </a:lnTo>
                  <a:close/>
                </a:path>
              </a:pathLst>
            </a:custGeom>
            <a:solidFill>
              <a:srgbClr val="5EC6E8"/>
            </a:solidFill>
          </p:spPr>
          <p:txBody>
            <a:bodyPr/>
            <a:lstStyle/>
            <a:p>
              <a:endParaRPr lang="es-GT"/>
            </a:p>
          </p:txBody>
        </p:sp>
      </p:grpSp>
      <p:grpSp>
        <p:nvGrpSpPr>
          <p:cNvPr id="53" name="Group 53"/>
          <p:cNvGrpSpPr/>
          <p:nvPr/>
        </p:nvGrpSpPr>
        <p:grpSpPr>
          <a:xfrm>
            <a:off x="9656064" y="6693408"/>
            <a:ext cx="7589520" cy="438912"/>
            <a:chOff x="0" y="0"/>
            <a:chExt cx="10119360" cy="585216"/>
          </a:xfrm>
        </p:grpSpPr>
        <p:sp>
          <p:nvSpPr>
            <p:cNvPr id="54" name="Freeform 54"/>
            <p:cNvSpPr/>
            <p:nvPr/>
          </p:nvSpPr>
          <p:spPr>
            <a:xfrm>
              <a:off x="0" y="0"/>
              <a:ext cx="10119360" cy="585216"/>
            </a:xfrm>
            <a:custGeom>
              <a:avLst/>
              <a:gdLst/>
              <a:ahLst/>
              <a:cxnLst/>
              <a:rect l="l" t="t" r="r" b="b"/>
              <a:pathLst>
                <a:path w="10119360" h="585216">
                  <a:moveTo>
                    <a:pt x="0" y="0"/>
                  </a:moveTo>
                  <a:lnTo>
                    <a:pt x="10119360" y="0"/>
                  </a:lnTo>
                  <a:lnTo>
                    <a:pt x="10119360" y="585216"/>
                  </a:lnTo>
                  <a:lnTo>
                    <a:pt x="0" y="585216"/>
                  </a:lnTo>
                  <a:close/>
                </a:path>
              </a:pathLst>
            </a:custGeom>
            <a:blipFill>
              <a:blip r:embed="rId3">
                <a:alphaModFix amt="0"/>
              </a:blip>
              <a:stretch>
                <a:fillRect t="-286928" b="-286928"/>
              </a:stretch>
            </a:blipFill>
          </p:spPr>
          <p:txBody>
            <a:bodyPr/>
            <a:lstStyle/>
            <a:p>
              <a:endParaRPr lang="es-GT"/>
            </a:p>
          </p:txBody>
        </p:sp>
        <p:sp>
          <p:nvSpPr>
            <p:cNvPr id="55" name="TextBox 55"/>
            <p:cNvSpPr txBox="1"/>
            <p:nvPr/>
          </p:nvSpPr>
          <p:spPr>
            <a:xfrm>
              <a:off x="0" y="-38100"/>
              <a:ext cx="10119360" cy="623316"/>
            </a:xfrm>
            <a:prstGeom prst="rect">
              <a:avLst/>
            </a:prstGeom>
          </p:spPr>
          <p:txBody>
            <a:bodyPr lIns="0" tIns="0" rIns="0" bIns="0" rtlCol="0" anchor="ctr"/>
            <a:lstStyle/>
            <a:p>
              <a:pPr algn="l">
                <a:lnSpc>
                  <a:spcPts val="2400"/>
                </a:lnSpc>
              </a:pPr>
              <a:r>
                <a:rPr lang="en-US" sz="2000" b="1">
                  <a:solidFill>
                    <a:srgbClr val="5EC6E8"/>
                  </a:solidFill>
                  <a:latin typeface="Calibri (MS) Bold"/>
                  <a:ea typeface="Calibri (MS) Bold"/>
                  <a:cs typeface="Calibri (MS) Bold"/>
                  <a:sym typeface="Calibri (MS) Bold"/>
                </a:rPr>
                <a:t>Sin retorno</a:t>
              </a:r>
            </a:p>
          </p:txBody>
        </p:sp>
      </p:grpSp>
      <p:sp>
        <p:nvSpPr>
          <p:cNvPr id="56" name="TextBox 56"/>
          <p:cNvSpPr txBox="1"/>
          <p:nvPr/>
        </p:nvSpPr>
        <p:spPr>
          <a:xfrm>
            <a:off x="9747504" y="7194804"/>
            <a:ext cx="7406640" cy="641604"/>
          </a:xfrm>
          <a:prstGeom prst="rect">
            <a:avLst/>
          </a:prstGeom>
        </p:spPr>
        <p:txBody>
          <a:bodyPr lIns="0" tIns="0" rIns="0" bIns="0" rtlCol="0" anchor="t">
            <a:spAutoFit/>
          </a:bodyPr>
          <a:lstStyle/>
          <a:p>
            <a:pPr algn="l">
              <a:lnSpc>
                <a:spcPts val="2160"/>
              </a:lnSpc>
            </a:pPr>
            <a:r>
              <a:rPr lang="en-US" sz="1800">
                <a:solidFill>
                  <a:srgbClr val="FFFFFF"/>
                </a:solidFill>
                <a:latin typeface="Calibri (MS)"/>
                <a:ea typeface="Calibri (MS)"/>
                <a:cs typeface="Calibri (MS)"/>
                <a:sym typeface="Calibri (MS)"/>
              </a:rPr>
              <a:t>No hay instrucción retorno. El subproceso cumple su propósito mediante efectos directos (en este caso, salida en pantalla).</a:t>
            </a:r>
          </a:p>
        </p:txBody>
      </p:sp>
      <p:grpSp>
        <p:nvGrpSpPr>
          <p:cNvPr id="57" name="Group 57"/>
          <p:cNvGrpSpPr/>
          <p:nvPr/>
        </p:nvGrpSpPr>
        <p:grpSpPr>
          <a:xfrm>
            <a:off x="9314183" y="8125463"/>
            <a:ext cx="8255003" cy="1397003"/>
            <a:chOff x="0" y="0"/>
            <a:chExt cx="11006671" cy="1862671"/>
          </a:xfrm>
        </p:grpSpPr>
        <p:sp>
          <p:nvSpPr>
            <p:cNvPr id="58" name="Freeform 58"/>
            <p:cNvSpPr/>
            <p:nvPr/>
          </p:nvSpPr>
          <p:spPr>
            <a:xfrm>
              <a:off x="16891" y="16891"/>
              <a:ext cx="10972800" cy="1828800"/>
            </a:xfrm>
            <a:custGeom>
              <a:avLst/>
              <a:gdLst/>
              <a:ahLst/>
              <a:cxnLst/>
              <a:rect l="l" t="t" r="r" b="b"/>
              <a:pathLst>
                <a:path w="10972800" h="1828800">
                  <a:moveTo>
                    <a:pt x="0" y="0"/>
                  </a:moveTo>
                  <a:lnTo>
                    <a:pt x="10972800" y="0"/>
                  </a:lnTo>
                  <a:lnTo>
                    <a:pt x="10972800" y="1828800"/>
                  </a:lnTo>
                  <a:lnTo>
                    <a:pt x="0" y="1828800"/>
                  </a:lnTo>
                  <a:close/>
                </a:path>
              </a:pathLst>
            </a:custGeom>
            <a:solidFill>
              <a:srgbClr val="252B42"/>
            </a:solidFill>
          </p:spPr>
          <p:txBody>
            <a:bodyPr/>
            <a:lstStyle/>
            <a:p>
              <a:endParaRPr lang="es-GT"/>
            </a:p>
          </p:txBody>
        </p:sp>
        <p:sp>
          <p:nvSpPr>
            <p:cNvPr id="59" name="Freeform 59"/>
            <p:cNvSpPr/>
            <p:nvPr/>
          </p:nvSpPr>
          <p:spPr>
            <a:xfrm>
              <a:off x="0" y="0"/>
              <a:ext cx="11006582" cy="1862582"/>
            </a:xfrm>
            <a:custGeom>
              <a:avLst/>
              <a:gdLst/>
              <a:ahLst/>
              <a:cxnLst/>
              <a:rect l="l" t="t" r="r" b="b"/>
              <a:pathLst>
                <a:path w="11006582" h="1862582">
                  <a:moveTo>
                    <a:pt x="16891" y="0"/>
                  </a:moveTo>
                  <a:lnTo>
                    <a:pt x="10989691" y="0"/>
                  </a:lnTo>
                  <a:cubicBezTo>
                    <a:pt x="10999089" y="0"/>
                    <a:pt x="11006582" y="7620"/>
                    <a:pt x="11006582" y="16891"/>
                  </a:cubicBezTo>
                  <a:lnTo>
                    <a:pt x="11006582" y="1845691"/>
                  </a:lnTo>
                  <a:cubicBezTo>
                    <a:pt x="11006582" y="1855089"/>
                    <a:pt x="10998962" y="1862582"/>
                    <a:pt x="10989691"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10989691" y="1828800"/>
                  </a:lnTo>
                  <a:lnTo>
                    <a:pt x="10989691" y="1845691"/>
                  </a:lnTo>
                  <a:lnTo>
                    <a:pt x="10972800" y="1845691"/>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grpSp>
        <p:nvGrpSpPr>
          <p:cNvPr id="60" name="Group 60"/>
          <p:cNvGrpSpPr/>
          <p:nvPr/>
        </p:nvGrpSpPr>
        <p:grpSpPr>
          <a:xfrm>
            <a:off x="9314183" y="8125463"/>
            <a:ext cx="171707" cy="1397003"/>
            <a:chOff x="0" y="0"/>
            <a:chExt cx="228943" cy="1862671"/>
          </a:xfrm>
        </p:grpSpPr>
        <p:sp>
          <p:nvSpPr>
            <p:cNvPr id="61" name="Freeform 61"/>
            <p:cNvSpPr/>
            <p:nvPr/>
          </p:nvSpPr>
          <p:spPr>
            <a:xfrm>
              <a:off x="16891" y="16891"/>
              <a:ext cx="195072" cy="1828800"/>
            </a:xfrm>
            <a:custGeom>
              <a:avLst/>
              <a:gdLst/>
              <a:ahLst/>
              <a:cxnLst/>
              <a:rect l="l" t="t" r="r" b="b"/>
              <a:pathLst>
                <a:path w="195072" h="1828800">
                  <a:moveTo>
                    <a:pt x="0" y="0"/>
                  </a:moveTo>
                  <a:lnTo>
                    <a:pt x="195072" y="0"/>
                  </a:lnTo>
                  <a:lnTo>
                    <a:pt x="195072" y="1828800"/>
                  </a:lnTo>
                  <a:lnTo>
                    <a:pt x="0" y="1828800"/>
                  </a:lnTo>
                  <a:close/>
                </a:path>
              </a:pathLst>
            </a:custGeom>
            <a:solidFill>
              <a:srgbClr val="7EC8A4"/>
            </a:solidFill>
          </p:spPr>
          <p:txBody>
            <a:bodyPr/>
            <a:lstStyle/>
            <a:p>
              <a:endParaRPr lang="es-GT"/>
            </a:p>
          </p:txBody>
        </p:sp>
        <p:sp>
          <p:nvSpPr>
            <p:cNvPr id="62" name="Freeform 62"/>
            <p:cNvSpPr/>
            <p:nvPr/>
          </p:nvSpPr>
          <p:spPr>
            <a:xfrm>
              <a:off x="0" y="0"/>
              <a:ext cx="228854" cy="1862582"/>
            </a:xfrm>
            <a:custGeom>
              <a:avLst/>
              <a:gdLst/>
              <a:ahLst/>
              <a:cxnLst/>
              <a:rect l="l" t="t" r="r" b="b"/>
              <a:pathLst>
                <a:path w="228854" h="1862582">
                  <a:moveTo>
                    <a:pt x="16891" y="0"/>
                  </a:moveTo>
                  <a:lnTo>
                    <a:pt x="211963" y="0"/>
                  </a:lnTo>
                  <a:cubicBezTo>
                    <a:pt x="221361" y="0"/>
                    <a:pt x="228854" y="7620"/>
                    <a:pt x="228854" y="16891"/>
                  </a:cubicBezTo>
                  <a:lnTo>
                    <a:pt x="228854" y="1845691"/>
                  </a:lnTo>
                  <a:cubicBezTo>
                    <a:pt x="228854" y="1855089"/>
                    <a:pt x="221234" y="1862582"/>
                    <a:pt x="211963"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11963" y="1828800"/>
                  </a:lnTo>
                  <a:lnTo>
                    <a:pt x="211963" y="1845691"/>
                  </a:lnTo>
                  <a:lnTo>
                    <a:pt x="195072" y="1845691"/>
                  </a:lnTo>
                  <a:lnTo>
                    <a:pt x="195072" y="16891"/>
                  </a:lnTo>
                  <a:lnTo>
                    <a:pt x="211963" y="16891"/>
                  </a:lnTo>
                  <a:lnTo>
                    <a:pt x="211963" y="33909"/>
                  </a:lnTo>
                  <a:lnTo>
                    <a:pt x="16891" y="33909"/>
                  </a:lnTo>
                  <a:close/>
                </a:path>
              </a:pathLst>
            </a:custGeom>
            <a:solidFill>
              <a:srgbClr val="7EC8A4"/>
            </a:solidFill>
          </p:spPr>
          <p:txBody>
            <a:bodyPr/>
            <a:lstStyle/>
            <a:p>
              <a:endParaRPr lang="es-GT"/>
            </a:p>
          </p:txBody>
        </p:sp>
      </p:grpSp>
      <p:grpSp>
        <p:nvGrpSpPr>
          <p:cNvPr id="63" name="Group 63"/>
          <p:cNvGrpSpPr/>
          <p:nvPr/>
        </p:nvGrpSpPr>
        <p:grpSpPr>
          <a:xfrm>
            <a:off x="9656064" y="8247888"/>
            <a:ext cx="7589520" cy="438912"/>
            <a:chOff x="0" y="0"/>
            <a:chExt cx="10119360" cy="585216"/>
          </a:xfrm>
        </p:grpSpPr>
        <p:sp>
          <p:nvSpPr>
            <p:cNvPr id="64" name="Freeform 64"/>
            <p:cNvSpPr/>
            <p:nvPr/>
          </p:nvSpPr>
          <p:spPr>
            <a:xfrm>
              <a:off x="0" y="0"/>
              <a:ext cx="10119360" cy="585216"/>
            </a:xfrm>
            <a:custGeom>
              <a:avLst/>
              <a:gdLst/>
              <a:ahLst/>
              <a:cxnLst/>
              <a:rect l="l" t="t" r="r" b="b"/>
              <a:pathLst>
                <a:path w="10119360" h="585216">
                  <a:moveTo>
                    <a:pt x="0" y="0"/>
                  </a:moveTo>
                  <a:lnTo>
                    <a:pt x="10119360" y="0"/>
                  </a:lnTo>
                  <a:lnTo>
                    <a:pt x="10119360" y="585216"/>
                  </a:lnTo>
                  <a:lnTo>
                    <a:pt x="0" y="585216"/>
                  </a:lnTo>
                  <a:close/>
                </a:path>
              </a:pathLst>
            </a:custGeom>
            <a:blipFill>
              <a:blip r:embed="rId3">
                <a:alphaModFix amt="0"/>
              </a:blip>
              <a:stretch>
                <a:fillRect t="-286928" b="-286928"/>
              </a:stretch>
            </a:blipFill>
          </p:spPr>
          <p:txBody>
            <a:bodyPr/>
            <a:lstStyle/>
            <a:p>
              <a:endParaRPr lang="es-GT"/>
            </a:p>
          </p:txBody>
        </p:sp>
        <p:sp>
          <p:nvSpPr>
            <p:cNvPr id="65" name="TextBox 65"/>
            <p:cNvSpPr txBox="1"/>
            <p:nvPr/>
          </p:nvSpPr>
          <p:spPr>
            <a:xfrm>
              <a:off x="0" y="-38100"/>
              <a:ext cx="10119360" cy="623316"/>
            </a:xfrm>
            <a:prstGeom prst="rect">
              <a:avLst/>
            </a:prstGeom>
          </p:spPr>
          <p:txBody>
            <a:bodyPr lIns="0" tIns="0" rIns="0" bIns="0" rtlCol="0" anchor="ctr"/>
            <a:lstStyle/>
            <a:p>
              <a:pPr algn="l">
                <a:lnSpc>
                  <a:spcPts val="2400"/>
                </a:lnSpc>
              </a:pPr>
              <a:r>
                <a:rPr lang="en-US" sz="2000" b="1">
                  <a:solidFill>
                    <a:srgbClr val="7EC8A4"/>
                  </a:solidFill>
                  <a:latin typeface="Calibri (MS) Bold"/>
                  <a:ea typeface="Calibri (MS) Bold"/>
                  <a:cs typeface="Calibri (MS) Bold"/>
                  <a:sym typeface="Calibri (MS) Bold"/>
                </a:rPr>
                <a:t>Nombre descriptivo</a:t>
              </a:r>
            </a:p>
          </p:txBody>
        </p:sp>
      </p:grpSp>
      <p:sp>
        <p:nvSpPr>
          <p:cNvPr id="66" name="TextBox 66"/>
          <p:cNvSpPr txBox="1"/>
          <p:nvPr/>
        </p:nvSpPr>
        <p:spPr>
          <a:xfrm>
            <a:off x="9747504" y="8749284"/>
            <a:ext cx="7406640" cy="641604"/>
          </a:xfrm>
          <a:prstGeom prst="rect">
            <a:avLst/>
          </a:prstGeom>
        </p:spPr>
        <p:txBody>
          <a:bodyPr lIns="0" tIns="0" rIns="0" bIns="0" rtlCol="0" anchor="t">
            <a:spAutoFit/>
          </a:bodyPr>
          <a:lstStyle/>
          <a:p>
            <a:pPr algn="l">
              <a:lnSpc>
                <a:spcPts val="2160"/>
              </a:lnSpc>
            </a:pPr>
            <a:r>
              <a:rPr lang="en-US" sz="1800">
                <a:solidFill>
                  <a:srgbClr val="FFFFFF"/>
                </a:solidFill>
                <a:latin typeface="Calibri (MS)"/>
                <a:ea typeface="Calibri (MS)"/>
                <a:cs typeface="Calibri (MS)"/>
                <a:sym typeface="Calibri (MS)"/>
              </a:rPr>
              <a:t>MostrarEncabezado comunica exactamente lo que hace. El algoritmo principal se lee como una lista de intenciones, no de detalles.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E2235"/>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16891" y="16891"/>
              <a:ext cx="24383999" cy="1755648"/>
            </a:xfrm>
            <a:custGeom>
              <a:avLst/>
              <a:gdLst/>
              <a:ahLst/>
              <a:cxnLst/>
              <a:rect l="l" t="t" r="r" b="b"/>
              <a:pathLst>
                <a:path w="24383999" h="1755648">
                  <a:moveTo>
                    <a:pt x="0" y="0"/>
                  </a:moveTo>
                  <a:lnTo>
                    <a:pt x="24383999" y="0"/>
                  </a:lnTo>
                  <a:lnTo>
                    <a:pt x="24383999" y="1755648"/>
                  </a:lnTo>
                  <a:lnTo>
                    <a:pt x="0" y="1755648"/>
                  </a:lnTo>
                  <a:close/>
                </a:path>
              </a:pathLst>
            </a:custGeom>
            <a:solidFill>
              <a:srgbClr val="161929"/>
            </a:solidFill>
          </p:spPr>
          <p:txBody>
            <a:bodyPr/>
            <a:lstStyle/>
            <a:p>
              <a:endParaRPr lang="es-GT"/>
            </a:p>
          </p:txBody>
        </p:sp>
        <p:sp>
          <p:nvSpPr>
            <p:cNvPr id="4" name="Freeform 4"/>
            <p:cNvSpPr/>
            <p:nvPr/>
          </p:nvSpPr>
          <p:spPr>
            <a:xfrm>
              <a:off x="0" y="0"/>
              <a:ext cx="24417782" cy="1789430"/>
            </a:xfrm>
            <a:custGeom>
              <a:avLst/>
              <a:gdLst/>
              <a:ahLst/>
              <a:cxnLst/>
              <a:rect l="l" t="t" r="r" b="b"/>
              <a:pathLst>
                <a:path w="24417782" h="1789430">
                  <a:moveTo>
                    <a:pt x="16891" y="0"/>
                  </a:moveTo>
                  <a:lnTo>
                    <a:pt x="24400890" y="0"/>
                  </a:lnTo>
                  <a:cubicBezTo>
                    <a:pt x="24410290" y="0"/>
                    <a:pt x="24417782" y="7620"/>
                    <a:pt x="24417782" y="16891"/>
                  </a:cubicBezTo>
                  <a:lnTo>
                    <a:pt x="24417782" y="1772539"/>
                  </a:lnTo>
                  <a:cubicBezTo>
                    <a:pt x="24417782" y="1781937"/>
                    <a:pt x="24410163" y="1789430"/>
                    <a:pt x="24400890"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24400890" y="1755648"/>
                  </a:lnTo>
                  <a:lnTo>
                    <a:pt x="24400890" y="1772539"/>
                  </a:lnTo>
                  <a:lnTo>
                    <a:pt x="24384000" y="1772539"/>
                  </a:lnTo>
                  <a:lnTo>
                    <a:pt x="24384000" y="16891"/>
                  </a:lnTo>
                  <a:lnTo>
                    <a:pt x="24400890" y="16891"/>
                  </a:lnTo>
                  <a:lnTo>
                    <a:pt x="24400890" y="33909"/>
                  </a:lnTo>
                  <a:lnTo>
                    <a:pt x="16891" y="33909"/>
                  </a:lnTo>
                  <a:close/>
                </a:path>
              </a:pathLst>
            </a:custGeom>
            <a:solidFill>
              <a:srgbClr val="161929"/>
            </a:solidFill>
          </p:spPr>
          <p:txBody>
            <a:bodyPr/>
            <a:lstStyle/>
            <a:p>
              <a:endParaRPr lang="es-GT"/>
            </a:p>
          </p:txBody>
        </p:sp>
      </p:grpSp>
      <p:grpSp>
        <p:nvGrpSpPr>
          <p:cNvPr id="5" name="Group 5"/>
          <p:cNvGrpSpPr/>
          <p:nvPr/>
        </p:nvGrpSpPr>
        <p:grpSpPr>
          <a:xfrm>
            <a:off x="-12697" y="1304039"/>
            <a:ext cx="18313403" cy="98555"/>
            <a:chOff x="0" y="0"/>
            <a:chExt cx="24417871" cy="131407"/>
          </a:xfrm>
        </p:grpSpPr>
        <p:sp>
          <p:nvSpPr>
            <p:cNvPr id="6" name="Freeform 6"/>
            <p:cNvSpPr/>
            <p:nvPr/>
          </p:nvSpPr>
          <p:spPr>
            <a:xfrm>
              <a:off x="16891" y="16891"/>
              <a:ext cx="24383999" cy="97536"/>
            </a:xfrm>
            <a:custGeom>
              <a:avLst/>
              <a:gdLst/>
              <a:ahLst/>
              <a:cxnLst/>
              <a:rect l="l" t="t" r="r" b="b"/>
              <a:pathLst>
                <a:path w="24383999" h="97536">
                  <a:moveTo>
                    <a:pt x="0" y="0"/>
                  </a:moveTo>
                  <a:lnTo>
                    <a:pt x="24383999" y="0"/>
                  </a:lnTo>
                  <a:lnTo>
                    <a:pt x="24383999" y="97536"/>
                  </a:lnTo>
                  <a:lnTo>
                    <a:pt x="0" y="97536"/>
                  </a:lnTo>
                  <a:close/>
                </a:path>
              </a:pathLst>
            </a:custGeom>
            <a:solidFill>
              <a:srgbClr val="5B8CFF"/>
            </a:solidFill>
          </p:spPr>
          <p:txBody>
            <a:bodyPr/>
            <a:lstStyle/>
            <a:p>
              <a:endParaRPr lang="es-GT"/>
            </a:p>
          </p:txBody>
        </p:sp>
        <p:sp>
          <p:nvSpPr>
            <p:cNvPr id="7" name="Freeform 7"/>
            <p:cNvSpPr/>
            <p:nvPr/>
          </p:nvSpPr>
          <p:spPr>
            <a:xfrm>
              <a:off x="0" y="0"/>
              <a:ext cx="24417782" cy="131320"/>
            </a:xfrm>
            <a:custGeom>
              <a:avLst/>
              <a:gdLst/>
              <a:ahLst/>
              <a:cxnLst/>
              <a:rect l="l" t="t" r="r" b="b"/>
              <a:pathLst>
                <a:path w="24417782" h="131320">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5B8CFF"/>
            </a:solidFill>
          </p:spPr>
          <p:txBody>
            <a:bodyPr/>
            <a:lstStyle/>
            <a:p>
              <a:endParaRPr lang="es-GT"/>
            </a:p>
          </p:txBody>
        </p:sp>
      </p:grpSp>
      <p:grpSp>
        <p:nvGrpSpPr>
          <p:cNvPr id="8" name="Group 8"/>
          <p:cNvGrpSpPr/>
          <p:nvPr/>
        </p:nvGrpSpPr>
        <p:grpSpPr>
          <a:xfrm>
            <a:off x="822960" y="0"/>
            <a:ext cx="16642080" cy="1316736"/>
            <a:chOff x="0" y="0"/>
            <a:chExt cx="22189440" cy="1755648"/>
          </a:xfrm>
        </p:grpSpPr>
        <p:sp>
          <p:nvSpPr>
            <p:cNvPr id="9" name="Freeform 9"/>
            <p:cNvSpPr/>
            <p:nvPr/>
          </p:nvSpPr>
          <p:spPr>
            <a:xfrm>
              <a:off x="0" y="0"/>
              <a:ext cx="22189439" cy="1755648"/>
            </a:xfrm>
            <a:custGeom>
              <a:avLst/>
              <a:gdLst/>
              <a:ahLst/>
              <a:cxnLst/>
              <a:rect l="l" t="t" r="r" b="b"/>
              <a:pathLst>
                <a:path w="22189439" h="1755648">
                  <a:moveTo>
                    <a:pt x="0" y="0"/>
                  </a:moveTo>
                  <a:lnTo>
                    <a:pt x="22189439" y="0"/>
                  </a:lnTo>
                  <a:lnTo>
                    <a:pt x="22189439" y="1755648"/>
                  </a:lnTo>
                  <a:lnTo>
                    <a:pt x="0" y="1755648"/>
                  </a:lnTo>
                  <a:close/>
                </a:path>
              </a:pathLst>
            </a:custGeom>
            <a:blipFill>
              <a:blip r:embed="rId3">
                <a:alphaModFix amt="0"/>
              </a:blip>
              <a:stretch>
                <a:fillRect t="-196269" b="-196269"/>
              </a:stretch>
            </a:blipFill>
          </p:spPr>
          <p:txBody>
            <a:bodyPr/>
            <a:lstStyle/>
            <a:p>
              <a:endParaRPr lang="es-GT"/>
            </a:p>
          </p:txBody>
        </p:sp>
        <p:sp>
          <p:nvSpPr>
            <p:cNvPr id="10" name="TextBox 10"/>
            <p:cNvSpPr txBox="1"/>
            <p:nvPr/>
          </p:nvSpPr>
          <p:spPr>
            <a:xfrm>
              <a:off x="0" y="-76200"/>
              <a:ext cx="22189440" cy="1831848"/>
            </a:xfrm>
            <a:prstGeom prst="rect">
              <a:avLst/>
            </a:prstGeom>
          </p:spPr>
          <p:txBody>
            <a:bodyPr lIns="0" tIns="0" rIns="0" bIns="0" rtlCol="0" anchor="ctr"/>
            <a:lstStyle/>
            <a:p>
              <a:pPr algn="l">
                <a:lnSpc>
                  <a:spcPts val="5280"/>
                </a:lnSpc>
              </a:pPr>
              <a:r>
                <a:rPr lang="en-US" sz="4400" b="1">
                  <a:solidFill>
                    <a:srgbClr val="FFFFFF"/>
                  </a:solidFill>
                  <a:latin typeface="Calibri (MS) Bold"/>
                  <a:ea typeface="Calibri (MS) Bold"/>
                  <a:cs typeface="Calibri (MS) Bold"/>
                  <a:sym typeface="Calibri (MS) Bold"/>
                </a:rPr>
                <a:t>Subproceso tipo 2 – Recibe datos, no devuelve resultado</a:t>
              </a:r>
            </a:p>
          </p:txBody>
        </p:sp>
      </p:grpSp>
      <p:grpSp>
        <p:nvGrpSpPr>
          <p:cNvPr id="11" name="Group 11"/>
          <p:cNvGrpSpPr/>
          <p:nvPr/>
        </p:nvGrpSpPr>
        <p:grpSpPr>
          <a:xfrm>
            <a:off x="-12697" y="9954263"/>
            <a:ext cx="18313403" cy="345443"/>
            <a:chOff x="0" y="0"/>
            <a:chExt cx="24417871" cy="460591"/>
          </a:xfrm>
        </p:grpSpPr>
        <p:sp>
          <p:nvSpPr>
            <p:cNvPr id="12" name="Freeform 12"/>
            <p:cNvSpPr/>
            <p:nvPr/>
          </p:nvSpPr>
          <p:spPr>
            <a:xfrm>
              <a:off x="16891" y="16891"/>
              <a:ext cx="24383999" cy="426720"/>
            </a:xfrm>
            <a:custGeom>
              <a:avLst/>
              <a:gdLst/>
              <a:ahLst/>
              <a:cxnLst/>
              <a:rect l="l" t="t" r="r" b="b"/>
              <a:pathLst>
                <a:path w="24383999" h="426720">
                  <a:moveTo>
                    <a:pt x="0" y="0"/>
                  </a:moveTo>
                  <a:lnTo>
                    <a:pt x="24383999" y="0"/>
                  </a:lnTo>
                  <a:lnTo>
                    <a:pt x="24383999" y="426720"/>
                  </a:lnTo>
                  <a:lnTo>
                    <a:pt x="0" y="426720"/>
                  </a:lnTo>
                  <a:close/>
                </a:path>
              </a:pathLst>
            </a:custGeom>
            <a:solidFill>
              <a:srgbClr val="12152A"/>
            </a:solidFill>
          </p:spPr>
          <p:txBody>
            <a:bodyPr/>
            <a:lstStyle/>
            <a:p>
              <a:endParaRPr lang="es-GT"/>
            </a:p>
          </p:txBody>
        </p:sp>
        <p:sp>
          <p:nvSpPr>
            <p:cNvPr id="13" name="Freeform 13"/>
            <p:cNvSpPr/>
            <p:nvPr/>
          </p:nvSpPr>
          <p:spPr>
            <a:xfrm>
              <a:off x="0" y="0"/>
              <a:ext cx="24417782" cy="460504"/>
            </a:xfrm>
            <a:custGeom>
              <a:avLst/>
              <a:gdLst/>
              <a:ahLst/>
              <a:cxnLst/>
              <a:rect l="l" t="t" r="r" b="b"/>
              <a:pathLst>
                <a:path w="24417782" h="460504">
                  <a:moveTo>
                    <a:pt x="16891" y="0"/>
                  </a:moveTo>
                  <a:lnTo>
                    <a:pt x="24400890" y="0"/>
                  </a:lnTo>
                  <a:cubicBezTo>
                    <a:pt x="24410290" y="0"/>
                    <a:pt x="24417782" y="7620"/>
                    <a:pt x="24417782" y="16891"/>
                  </a:cubicBezTo>
                  <a:lnTo>
                    <a:pt x="24417782" y="443611"/>
                  </a:lnTo>
                  <a:cubicBezTo>
                    <a:pt x="24417782" y="453009"/>
                    <a:pt x="24410163" y="460502"/>
                    <a:pt x="24400890" y="460502"/>
                  </a:cubicBezTo>
                  <a:lnTo>
                    <a:pt x="16891" y="460502"/>
                  </a:lnTo>
                  <a:cubicBezTo>
                    <a:pt x="7620" y="460629"/>
                    <a:pt x="0" y="453009"/>
                    <a:pt x="0" y="443611"/>
                  </a:cubicBezTo>
                  <a:lnTo>
                    <a:pt x="0" y="16891"/>
                  </a:lnTo>
                  <a:cubicBezTo>
                    <a:pt x="0" y="7620"/>
                    <a:pt x="7620" y="0"/>
                    <a:pt x="16891" y="0"/>
                  </a:cubicBezTo>
                  <a:moveTo>
                    <a:pt x="16891" y="33909"/>
                  </a:moveTo>
                  <a:lnTo>
                    <a:pt x="16891" y="16891"/>
                  </a:lnTo>
                  <a:lnTo>
                    <a:pt x="33909" y="16891"/>
                  </a:lnTo>
                  <a:lnTo>
                    <a:pt x="33909" y="443611"/>
                  </a:lnTo>
                  <a:lnTo>
                    <a:pt x="16891" y="443611"/>
                  </a:lnTo>
                  <a:lnTo>
                    <a:pt x="16891" y="426720"/>
                  </a:lnTo>
                  <a:lnTo>
                    <a:pt x="24400890" y="426720"/>
                  </a:lnTo>
                  <a:lnTo>
                    <a:pt x="24400890" y="443611"/>
                  </a:lnTo>
                  <a:lnTo>
                    <a:pt x="24384000" y="443611"/>
                  </a:lnTo>
                  <a:lnTo>
                    <a:pt x="24384000" y="16891"/>
                  </a:lnTo>
                  <a:lnTo>
                    <a:pt x="24400890" y="16891"/>
                  </a:lnTo>
                  <a:lnTo>
                    <a:pt x="24400890" y="33909"/>
                  </a:lnTo>
                  <a:lnTo>
                    <a:pt x="16891" y="33909"/>
                  </a:lnTo>
                  <a:close/>
                </a:path>
              </a:pathLst>
            </a:custGeom>
            <a:solidFill>
              <a:srgbClr val="12152A"/>
            </a:solidFill>
          </p:spPr>
          <p:txBody>
            <a:bodyPr/>
            <a:lstStyle/>
            <a:p>
              <a:endParaRPr lang="es-GT"/>
            </a:p>
          </p:txBody>
        </p:sp>
      </p:grpSp>
      <p:grpSp>
        <p:nvGrpSpPr>
          <p:cNvPr id="14" name="Group 14"/>
          <p:cNvGrpSpPr/>
          <p:nvPr/>
        </p:nvGrpSpPr>
        <p:grpSpPr>
          <a:xfrm>
            <a:off x="17007840" y="9966960"/>
            <a:ext cx="914400" cy="320040"/>
            <a:chOff x="0" y="0"/>
            <a:chExt cx="1219200" cy="426720"/>
          </a:xfrm>
        </p:grpSpPr>
        <p:sp>
          <p:nvSpPr>
            <p:cNvPr id="15" name="Freeform 15"/>
            <p:cNvSpPr/>
            <p:nvPr/>
          </p:nvSpPr>
          <p:spPr>
            <a:xfrm>
              <a:off x="0" y="0"/>
              <a:ext cx="1219200" cy="426720"/>
            </a:xfrm>
            <a:custGeom>
              <a:avLst/>
              <a:gdLst/>
              <a:ahLst/>
              <a:cxnLst/>
              <a:rect l="l" t="t" r="r" b="b"/>
              <a:pathLst>
                <a:path w="1219200" h="426720">
                  <a:moveTo>
                    <a:pt x="0" y="0"/>
                  </a:moveTo>
                  <a:lnTo>
                    <a:pt x="1219200" y="0"/>
                  </a:lnTo>
                  <a:lnTo>
                    <a:pt x="1219200" y="426720"/>
                  </a:lnTo>
                  <a:lnTo>
                    <a:pt x="0" y="426720"/>
                  </a:lnTo>
                  <a:close/>
                </a:path>
              </a:pathLst>
            </a:custGeom>
            <a:blipFill>
              <a:blip r:embed="rId3">
                <a:alphaModFix amt="0"/>
              </a:blip>
              <a:stretch>
                <a:fillRect t="-5671" b="-5671"/>
              </a:stretch>
            </a:blipFill>
          </p:spPr>
          <p:txBody>
            <a:bodyPr/>
            <a:lstStyle/>
            <a:p>
              <a:endParaRPr lang="es-GT"/>
            </a:p>
          </p:txBody>
        </p:sp>
        <p:sp>
          <p:nvSpPr>
            <p:cNvPr id="16" name="TextBox 16"/>
            <p:cNvSpPr txBox="1"/>
            <p:nvPr/>
          </p:nvSpPr>
          <p:spPr>
            <a:xfrm>
              <a:off x="0" y="-38100"/>
              <a:ext cx="1219200" cy="464820"/>
            </a:xfrm>
            <a:prstGeom prst="rect">
              <a:avLst/>
            </a:prstGeom>
          </p:spPr>
          <p:txBody>
            <a:bodyPr lIns="0" tIns="0" rIns="0" bIns="0" rtlCol="0" anchor="ctr"/>
            <a:lstStyle/>
            <a:p>
              <a:pPr algn="r">
                <a:lnSpc>
                  <a:spcPts val="1800"/>
                </a:lnSpc>
              </a:pPr>
              <a:r>
                <a:rPr lang="en-US" sz="1500">
                  <a:solidFill>
                    <a:srgbClr val="6E7A9F"/>
                  </a:solidFill>
                  <a:latin typeface="Calibri (MS)"/>
                  <a:ea typeface="Calibri (MS)"/>
                  <a:cs typeface="Calibri (MS)"/>
                  <a:sym typeface="Calibri (MS)"/>
                </a:rPr>
                <a:t>31</a:t>
              </a:r>
            </a:p>
          </p:txBody>
        </p:sp>
      </p:grpSp>
      <p:grpSp>
        <p:nvGrpSpPr>
          <p:cNvPr id="17" name="Group 17"/>
          <p:cNvGrpSpPr/>
          <p:nvPr/>
        </p:nvGrpSpPr>
        <p:grpSpPr>
          <a:xfrm>
            <a:off x="731520" y="1554480"/>
            <a:ext cx="16824960" cy="731520"/>
            <a:chOff x="0" y="0"/>
            <a:chExt cx="22433280" cy="975360"/>
          </a:xfrm>
        </p:grpSpPr>
        <p:sp>
          <p:nvSpPr>
            <p:cNvPr id="18" name="Freeform 18"/>
            <p:cNvSpPr/>
            <p:nvPr/>
          </p:nvSpPr>
          <p:spPr>
            <a:xfrm>
              <a:off x="0" y="0"/>
              <a:ext cx="22433280" cy="975360"/>
            </a:xfrm>
            <a:custGeom>
              <a:avLst/>
              <a:gdLst/>
              <a:ahLst/>
              <a:cxnLst/>
              <a:rect l="l" t="t" r="r" b="b"/>
              <a:pathLst>
                <a:path w="22433280" h="975360">
                  <a:moveTo>
                    <a:pt x="0" y="0"/>
                  </a:moveTo>
                  <a:lnTo>
                    <a:pt x="22433280" y="0"/>
                  </a:lnTo>
                  <a:lnTo>
                    <a:pt x="22433280" y="975360"/>
                  </a:lnTo>
                  <a:lnTo>
                    <a:pt x="0" y="975360"/>
                  </a:lnTo>
                  <a:close/>
                </a:path>
              </a:pathLst>
            </a:custGeom>
            <a:blipFill>
              <a:blip r:embed="rId3">
                <a:alphaModFix amt="0"/>
              </a:blip>
              <a:stretch>
                <a:fillRect t="-398155" b="-398155"/>
              </a:stretch>
            </a:blipFill>
          </p:spPr>
          <p:txBody>
            <a:bodyPr/>
            <a:lstStyle/>
            <a:p>
              <a:endParaRPr lang="es-GT"/>
            </a:p>
          </p:txBody>
        </p:sp>
        <p:sp>
          <p:nvSpPr>
            <p:cNvPr id="19" name="TextBox 19"/>
            <p:cNvSpPr txBox="1"/>
            <p:nvPr/>
          </p:nvSpPr>
          <p:spPr>
            <a:xfrm>
              <a:off x="0" y="-47625"/>
              <a:ext cx="22433280" cy="1022985"/>
            </a:xfrm>
            <a:prstGeom prst="rect">
              <a:avLst/>
            </a:prstGeom>
          </p:spPr>
          <p:txBody>
            <a:bodyPr lIns="0" tIns="0" rIns="0" bIns="0" rtlCol="0" anchor="ctr"/>
            <a:lstStyle/>
            <a:p>
              <a:pPr algn="l">
                <a:lnSpc>
                  <a:spcPts val="2520"/>
                </a:lnSpc>
              </a:pPr>
              <a:r>
                <a:rPr lang="en-US" sz="2100">
                  <a:solidFill>
                    <a:srgbClr val="B0B8CC"/>
                  </a:solidFill>
                  <a:latin typeface="Calibri (MS)"/>
                  <a:ea typeface="Calibri (MS)"/>
                  <a:cs typeface="Calibri (MS)"/>
                  <a:sym typeface="Calibri (MS)"/>
                </a:rPr>
                <a:t>Cuando el subproceso necesita información del algoritmo que lo invoca, se le pueden pasar datos al momento de la llamada. El subproceso trabaja con esos datos pero no entrega ningún valor de regreso.</a:t>
              </a:r>
            </a:p>
          </p:txBody>
        </p:sp>
      </p:grpSp>
      <p:grpSp>
        <p:nvGrpSpPr>
          <p:cNvPr id="20" name="Group 20"/>
          <p:cNvGrpSpPr/>
          <p:nvPr/>
        </p:nvGrpSpPr>
        <p:grpSpPr>
          <a:xfrm>
            <a:off x="718823" y="2511047"/>
            <a:ext cx="8255003" cy="7249163"/>
            <a:chOff x="0" y="0"/>
            <a:chExt cx="11006671" cy="9665551"/>
          </a:xfrm>
        </p:grpSpPr>
        <p:sp>
          <p:nvSpPr>
            <p:cNvPr id="21" name="Freeform 21"/>
            <p:cNvSpPr/>
            <p:nvPr/>
          </p:nvSpPr>
          <p:spPr>
            <a:xfrm>
              <a:off x="16891" y="16891"/>
              <a:ext cx="10972800" cy="9631681"/>
            </a:xfrm>
            <a:custGeom>
              <a:avLst/>
              <a:gdLst/>
              <a:ahLst/>
              <a:cxnLst/>
              <a:rect l="l" t="t" r="r" b="b"/>
              <a:pathLst>
                <a:path w="10972800" h="9631681">
                  <a:moveTo>
                    <a:pt x="0" y="0"/>
                  </a:moveTo>
                  <a:lnTo>
                    <a:pt x="10972800" y="0"/>
                  </a:lnTo>
                  <a:lnTo>
                    <a:pt x="10972800" y="9631681"/>
                  </a:lnTo>
                  <a:lnTo>
                    <a:pt x="0" y="9631681"/>
                  </a:lnTo>
                  <a:close/>
                </a:path>
              </a:pathLst>
            </a:custGeom>
            <a:solidFill>
              <a:srgbClr val="0D1020"/>
            </a:solidFill>
          </p:spPr>
          <p:txBody>
            <a:bodyPr/>
            <a:lstStyle/>
            <a:p>
              <a:endParaRPr lang="es-GT"/>
            </a:p>
          </p:txBody>
        </p:sp>
        <p:sp>
          <p:nvSpPr>
            <p:cNvPr id="22" name="Freeform 22"/>
            <p:cNvSpPr/>
            <p:nvPr/>
          </p:nvSpPr>
          <p:spPr>
            <a:xfrm>
              <a:off x="0" y="0"/>
              <a:ext cx="11006582" cy="9665462"/>
            </a:xfrm>
            <a:custGeom>
              <a:avLst/>
              <a:gdLst/>
              <a:ahLst/>
              <a:cxnLst/>
              <a:rect l="l" t="t" r="r" b="b"/>
              <a:pathLst>
                <a:path w="11006582" h="9665462">
                  <a:moveTo>
                    <a:pt x="16891" y="0"/>
                  </a:moveTo>
                  <a:lnTo>
                    <a:pt x="10989691" y="0"/>
                  </a:lnTo>
                  <a:cubicBezTo>
                    <a:pt x="10999089" y="0"/>
                    <a:pt x="11006582" y="7620"/>
                    <a:pt x="11006582" y="16891"/>
                  </a:cubicBezTo>
                  <a:lnTo>
                    <a:pt x="11006582" y="9648572"/>
                  </a:lnTo>
                  <a:cubicBezTo>
                    <a:pt x="11006582" y="9657969"/>
                    <a:pt x="10998962" y="9665462"/>
                    <a:pt x="10989691" y="9665462"/>
                  </a:cubicBezTo>
                  <a:lnTo>
                    <a:pt x="16891" y="9665462"/>
                  </a:lnTo>
                  <a:cubicBezTo>
                    <a:pt x="7493" y="9665462"/>
                    <a:pt x="0" y="9657842"/>
                    <a:pt x="0" y="9648572"/>
                  </a:cubicBezTo>
                  <a:lnTo>
                    <a:pt x="0" y="16891"/>
                  </a:lnTo>
                  <a:cubicBezTo>
                    <a:pt x="0" y="7620"/>
                    <a:pt x="7620" y="0"/>
                    <a:pt x="16891" y="0"/>
                  </a:cubicBezTo>
                  <a:moveTo>
                    <a:pt x="16891" y="33909"/>
                  </a:moveTo>
                  <a:lnTo>
                    <a:pt x="16891" y="16891"/>
                  </a:lnTo>
                  <a:lnTo>
                    <a:pt x="33909" y="16891"/>
                  </a:lnTo>
                  <a:lnTo>
                    <a:pt x="33909" y="9648572"/>
                  </a:lnTo>
                  <a:lnTo>
                    <a:pt x="16891" y="9648572"/>
                  </a:lnTo>
                  <a:lnTo>
                    <a:pt x="16891" y="9631680"/>
                  </a:lnTo>
                  <a:lnTo>
                    <a:pt x="10989691" y="9631680"/>
                  </a:lnTo>
                  <a:lnTo>
                    <a:pt x="10989691" y="9648572"/>
                  </a:lnTo>
                  <a:lnTo>
                    <a:pt x="10972800" y="9648572"/>
                  </a:lnTo>
                  <a:lnTo>
                    <a:pt x="10972800" y="16891"/>
                  </a:lnTo>
                  <a:lnTo>
                    <a:pt x="10989691" y="16891"/>
                  </a:lnTo>
                  <a:lnTo>
                    <a:pt x="10989691" y="33909"/>
                  </a:lnTo>
                  <a:lnTo>
                    <a:pt x="16891" y="33909"/>
                  </a:lnTo>
                  <a:close/>
                </a:path>
              </a:pathLst>
            </a:custGeom>
            <a:solidFill>
              <a:srgbClr val="7EC8A4"/>
            </a:solidFill>
          </p:spPr>
          <p:txBody>
            <a:bodyPr/>
            <a:lstStyle/>
            <a:p>
              <a:endParaRPr lang="es-GT"/>
            </a:p>
          </p:txBody>
        </p:sp>
      </p:grpSp>
      <p:grpSp>
        <p:nvGrpSpPr>
          <p:cNvPr id="23" name="Group 23"/>
          <p:cNvGrpSpPr/>
          <p:nvPr/>
        </p:nvGrpSpPr>
        <p:grpSpPr>
          <a:xfrm>
            <a:off x="1005840" y="2651760"/>
            <a:ext cx="7680960" cy="512064"/>
            <a:chOff x="0" y="0"/>
            <a:chExt cx="10241280" cy="682752"/>
          </a:xfrm>
        </p:grpSpPr>
        <p:sp>
          <p:nvSpPr>
            <p:cNvPr id="24" name="Freeform 24"/>
            <p:cNvSpPr/>
            <p:nvPr/>
          </p:nvSpPr>
          <p:spPr>
            <a:xfrm>
              <a:off x="0" y="0"/>
              <a:ext cx="10241280" cy="682752"/>
            </a:xfrm>
            <a:custGeom>
              <a:avLst/>
              <a:gdLst/>
              <a:ahLst/>
              <a:cxnLst/>
              <a:rect l="l" t="t" r="r" b="b"/>
              <a:pathLst>
                <a:path w="10241280" h="682752">
                  <a:moveTo>
                    <a:pt x="0" y="0"/>
                  </a:moveTo>
                  <a:lnTo>
                    <a:pt x="10241280" y="0"/>
                  </a:lnTo>
                  <a:lnTo>
                    <a:pt x="10241280" y="682752"/>
                  </a:lnTo>
                  <a:lnTo>
                    <a:pt x="0" y="682752"/>
                  </a:lnTo>
                  <a:close/>
                </a:path>
              </a:pathLst>
            </a:custGeom>
            <a:blipFill>
              <a:blip r:embed="rId3">
                <a:alphaModFix amt="0"/>
              </a:blip>
              <a:stretch>
                <a:fillRect t="-242275" b="-242275"/>
              </a:stretch>
            </a:blipFill>
          </p:spPr>
          <p:txBody>
            <a:bodyPr/>
            <a:lstStyle/>
            <a:p>
              <a:endParaRPr lang="es-GT"/>
            </a:p>
          </p:txBody>
        </p:sp>
        <p:sp>
          <p:nvSpPr>
            <p:cNvPr id="25" name="TextBox 25"/>
            <p:cNvSpPr txBox="1"/>
            <p:nvPr/>
          </p:nvSpPr>
          <p:spPr>
            <a:xfrm>
              <a:off x="0" y="-38100"/>
              <a:ext cx="10241280" cy="720852"/>
            </a:xfrm>
            <a:prstGeom prst="rect">
              <a:avLst/>
            </a:prstGeom>
          </p:spPr>
          <p:txBody>
            <a:bodyPr lIns="0" tIns="0" rIns="0" bIns="0" rtlCol="0" anchor="ctr"/>
            <a:lstStyle/>
            <a:p>
              <a:pPr algn="l">
                <a:lnSpc>
                  <a:spcPts val="2280"/>
                </a:lnSpc>
              </a:pPr>
              <a:r>
                <a:rPr lang="en-US" sz="1900" b="1">
                  <a:solidFill>
                    <a:srgbClr val="7EC8A4"/>
                  </a:solidFill>
                  <a:latin typeface="Consolas Bold"/>
                  <a:ea typeface="Consolas Bold"/>
                  <a:cs typeface="Consolas Bold"/>
                  <a:sym typeface="Consolas Bold"/>
                </a:rPr>
                <a:t>Ejemplo: mostrar resultado de un estudiante</a:t>
              </a:r>
            </a:p>
          </p:txBody>
        </p:sp>
      </p:grpSp>
      <p:grpSp>
        <p:nvGrpSpPr>
          <p:cNvPr id="26" name="Group 26"/>
          <p:cNvGrpSpPr/>
          <p:nvPr/>
        </p:nvGrpSpPr>
        <p:grpSpPr>
          <a:xfrm>
            <a:off x="718823" y="3205991"/>
            <a:ext cx="8255003" cy="61979"/>
            <a:chOff x="0" y="0"/>
            <a:chExt cx="11006671" cy="82639"/>
          </a:xfrm>
        </p:grpSpPr>
        <p:sp>
          <p:nvSpPr>
            <p:cNvPr id="27" name="Freeform 27"/>
            <p:cNvSpPr/>
            <p:nvPr/>
          </p:nvSpPr>
          <p:spPr>
            <a:xfrm>
              <a:off x="16891" y="16891"/>
              <a:ext cx="10972800" cy="48768"/>
            </a:xfrm>
            <a:custGeom>
              <a:avLst/>
              <a:gdLst/>
              <a:ahLst/>
              <a:cxnLst/>
              <a:rect l="l" t="t" r="r" b="b"/>
              <a:pathLst>
                <a:path w="10972800" h="48768">
                  <a:moveTo>
                    <a:pt x="0" y="0"/>
                  </a:moveTo>
                  <a:lnTo>
                    <a:pt x="10972800" y="0"/>
                  </a:lnTo>
                  <a:lnTo>
                    <a:pt x="10972800" y="48768"/>
                  </a:lnTo>
                  <a:lnTo>
                    <a:pt x="0" y="48768"/>
                  </a:lnTo>
                  <a:close/>
                </a:path>
              </a:pathLst>
            </a:custGeom>
            <a:solidFill>
              <a:srgbClr val="3A4160"/>
            </a:solidFill>
          </p:spPr>
          <p:txBody>
            <a:bodyPr/>
            <a:lstStyle/>
            <a:p>
              <a:endParaRPr lang="es-GT"/>
            </a:p>
          </p:txBody>
        </p:sp>
        <p:sp>
          <p:nvSpPr>
            <p:cNvPr id="28" name="Freeform 28"/>
            <p:cNvSpPr/>
            <p:nvPr/>
          </p:nvSpPr>
          <p:spPr>
            <a:xfrm>
              <a:off x="0" y="0"/>
              <a:ext cx="11006582" cy="82552"/>
            </a:xfrm>
            <a:custGeom>
              <a:avLst/>
              <a:gdLst/>
              <a:ahLst/>
              <a:cxnLst/>
              <a:rect l="l" t="t" r="r" b="b"/>
              <a:pathLst>
                <a:path w="11006582" h="82552">
                  <a:moveTo>
                    <a:pt x="16891" y="0"/>
                  </a:moveTo>
                  <a:lnTo>
                    <a:pt x="10989691" y="0"/>
                  </a:lnTo>
                  <a:cubicBezTo>
                    <a:pt x="10999089" y="0"/>
                    <a:pt x="11006582" y="7620"/>
                    <a:pt x="11006582" y="16891"/>
                  </a:cubicBezTo>
                  <a:lnTo>
                    <a:pt x="11006582" y="65659"/>
                  </a:lnTo>
                  <a:cubicBezTo>
                    <a:pt x="11006582" y="75057"/>
                    <a:pt x="10998962" y="82550"/>
                    <a:pt x="10989691" y="82550"/>
                  </a:cubicBezTo>
                  <a:lnTo>
                    <a:pt x="16891" y="82550"/>
                  </a:lnTo>
                  <a:cubicBezTo>
                    <a:pt x="7620" y="82677"/>
                    <a:pt x="0" y="75057"/>
                    <a:pt x="0" y="65659"/>
                  </a:cubicBezTo>
                  <a:lnTo>
                    <a:pt x="0" y="16891"/>
                  </a:lnTo>
                  <a:cubicBezTo>
                    <a:pt x="0" y="7620"/>
                    <a:pt x="7620" y="0"/>
                    <a:pt x="16891" y="0"/>
                  </a:cubicBezTo>
                  <a:moveTo>
                    <a:pt x="16891" y="33909"/>
                  </a:moveTo>
                  <a:lnTo>
                    <a:pt x="16891" y="16891"/>
                  </a:lnTo>
                  <a:lnTo>
                    <a:pt x="33909" y="16891"/>
                  </a:lnTo>
                  <a:lnTo>
                    <a:pt x="33909" y="65659"/>
                  </a:lnTo>
                  <a:lnTo>
                    <a:pt x="16891" y="65659"/>
                  </a:lnTo>
                  <a:lnTo>
                    <a:pt x="16891" y="48768"/>
                  </a:lnTo>
                  <a:lnTo>
                    <a:pt x="10989691" y="48768"/>
                  </a:lnTo>
                  <a:lnTo>
                    <a:pt x="10989691" y="65659"/>
                  </a:lnTo>
                  <a:lnTo>
                    <a:pt x="10972800" y="65659"/>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sp>
        <p:nvSpPr>
          <p:cNvPr id="29" name="TextBox 29"/>
          <p:cNvSpPr txBox="1"/>
          <p:nvPr/>
        </p:nvSpPr>
        <p:spPr>
          <a:xfrm>
            <a:off x="1097280" y="3390900"/>
            <a:ext cx="7498080" cy="6201156"/>
          </a:xfrm>
          <a:prstGeom prst="rect">
            <a:avLst/>
          </a:prstGeom>
        </p:spPr>
        <p:txBody>
          <a:bodyPr lIns="0" tIns="0" rIns="0" bIns="0" rtlCol="0" anchor="t">
            <a:spAutoFit/>
          </a:bodyPr>
          <a:lstStyle/>
          <a:p>
            <a:pPr algn="l">
              <a:lnSpc>
                <a:spcPts val="1920"/>
              </a:lnSpc>
            </a:pPr>
            <a:r>
              <a:rPr lang="en-US" sz="1600">
                <a:solidFill>
                  <a:srgbClr val="7EC8A4"/>
                </a:solidFill>
                <a:latin typeface="Consolas"/>
                <a:ea typeface="Consolas"/>
                <a:cs typeface="Consolas"/>
                <a:sym typeface="Consolas"/>
              </a:rPr>
              <a:t>Algoritmo ReporteEstudiantes</a:t>
            </a:r>
          </a:p>
          <a:p>
            <a:pPr algn="l">
              <a:lnSpc>
                <a:spcPts val="1920"/>
              </a:lnSpc>
            </a:pPr>
            <a:r>
              <a:rPr lang="en-US" sz="1600">
                <a:solidFill>
                  <a:srgbClr val="7EC8A4"/>
                </a:solidFill>
                <a:latin typeface="Consolas"/>
                <a:ea typeface="Consolas"/>
                <a:cs typeface="Consolas"/>
                <a:sym typeface="Consolas"/>
              </a:rPr>
              <a:t>   Definir nombre Como Cadena</a:t>
            </a:r>
          </a:p>
          <a:p>
            <a:pPr algn="l">
              <a:lnSpc>
                <a:spcPts val="1920"/>
              </a:lnSpc>
            </a:pPr>
            <a:r>
              <a:rPr lang="en-US" sz="1600">
                <a:solidFill>
                  <a:srgbClr val="7EC8A4"/>
                </a:solidFill>
                <a:latin typeface="Consolas"/>
                <a:ea typeface="Consolas"/>
                <a:cs typeface="Consolas"/>
                <a:sym typeface="Consolas"/>
              </a:rPr>
              <a:t>   Definir nota Como Real</a:t>
            </a:r>
          </a:p>
          <a:p>
            <a:pPr algn="l">
              <a:lnSpc>
                <a:spcPts val="1920"/>
              </a:lnSpc>
            </a:pPr>
            <a:endParaRPr lang="en-US" sz="1600">
              <a:solidFill>
                <a:srgbClr val="7EC8A4"/>
              </a:solidFill>
              <a:latin typeface="Consolas"/>
              <a:ea typeface="Consolas"/>
              <a:cs typeface="Consolas"/>
              <a:sym typeface="Consolas"/>
            </a:endParaRPr>
          </a:p>
          <a:p>
            <a:pPr algn="l">
              <a:lnSpc>
                <a:spcPts val="1920"/>
              </a:lnSpc>
            </a:pPr>
            <a:r>
              <a:rPr lang="en-US" sz="1600">
                <a:solidFill>
                  <a:srgbClr val="7EC8A4"/>
                </a:solidFill>
                <a:latin typeface="Consolas"/>
                <a:ea typeface="Consolas"/>
                <a:cs typeface="Consolas"/>
                <a:sym typeface="Consolas"/>
              </a:rPr>
              <a:t>   Escribir "Estudiante 1:"</a:t>
            </a:r>
          </a:p>
          <a:p>
            <a:pPr algn="l">
              <a:lnSpc>
                <a:spcPts val="1920"/>
              </a:lnSpc>
            </a:pPr>
            <a:r>
              <a:rPr lang="en-US" sz="1600">
                <a:solidFill>
                  <a:srgbClr val="7EC8A4"/>
                </a:solidFill>
                <a:latin typeface="Consolas"/>
                <a:ea typeface="Consolas"/>
                <a:cs typeface="Consolas"/>
                <a:sym typeface="Consolas"/>
              </a:rPr>
              <a:t>   Leer nombre, nota</a:t>
            </a:r>
          </a:p>
          <a:p>
            <a:pPr algn="l">
              <a:lnSpc>
                <a:spcPts val="1920"/>
              </a:lnSpc>
            </a:pPr>
            <a:r>
              <a:rPr lang="en-US" sz="1600">
                <a:solidFill>
                  <a:srgbClr val="7EC8A4"/>
                </a:solidFill>
                <a:latin typeface="Consolas"/>
                <a:ea typeface="Consolas"/>
                <a:cs typeface="Consolas"/>
                <a:sym typeface="Consolas"/>
              </a:rPr>
              <a:t>   MostrarResultado(nombre, nota)</a:t>
            </a:r>
          </a:p>
          <a:p>
            <a:pPr algn="l">
              <a:lnSpc>
                <a:spcPts val="1920"/>
              </a:lnSpc>
            </a:pPr>
            <a:endParaRPr lang="en-US" sz="1600">
              <a:solidFill>
                <a:srgbClr val="7EC8A4"/>
              </a:solidFill>
              <a:latin typeface="Consolas"/>
              <a:ea typeface="Consolas"/>
              <a:cs typeface="Consolas"/>
              <a:sym typeface="Consolas"/>
            </a:endParaRPr>
          </a:p>
          <a:p>
            <a:pPr algn="l">
              <a:lnSpc>
                <a:spcPts val="1920"/>
              </a:lnSpc>
            </a:pPr>
            <a:r>
              <a:rPr lang="en-US" sz="1600">
                <a:solidFill>
                  <a:srgbClr val="7EC8A4"/>
                </a:solidFill>
                <a:latin typeface="Consolas"/>
                <a:ea typeface="Consolas"/>
                <a:cs typeface="Consolas"/>
                <a:sym typeface="Consolas"/>
              </a:rPr>
              <a:t>   Escribir "Estudiante 2:"</a:t>
            </a:r>
          </a:p>
          <a:p>
            <a:pPr algn="l">
              <a:lnSpc>
                <a:spcPts val="1920"/>
              </a:lnSpc>
            </a:pPr>
            <a:r>
              <a:rPr lang="en-US" sz="1600">
                <a:solidFill>
                  <a:srgbClr val="7EC8A4"/>
                </a:solidFill>
                <a:latin typeface="Consolas"/>
                <a:ea typeface="Consolas"/>
                <a:cs typeface="Consolas"/>
                <a:sym typeface="Consolas"/>
              </a:rPr>
              <a:t>   Leer nombre, nota</a:t>
            </a:r>
          </a:p>
          <a:p>
            <a:pPr algn="l">
              <a:lnSpc>
                <a:spcPts val="1920"/>
              </a:lnSpc>
            </a:pPr>
            <a:r>
              <a:rPr lang="en-US" sz="1600">
                <a:solidFill>
                  <a:srgbClr val="7EC8A4"/>
                </a:solidFill>
                <a:latin typeface="Consolas"/>
                <a:ea typeface="Consolas"/>
                <a:cs typeface="Consolas"/>
                <a:sym typeface="Consolas"/>
              </a:rPr>
              <a:t>   MostrarResultado(nombre, nota)</a:t>
            </a:r>
          </a:p>
          <a:p>
            <a:pPr algn="l">
              <a:lnSpc>
                <a:spcPts val="1920"/>
              </a:lnSpc>
            </a:pPr>
            <a:endParaRPr lang="en-US" sz="1600">
              <a:solidFill>
                <a:srgbClr val="7EC8A4"/>
              </a:solidFill>
              <a:latin typeface="Consolas"/>
              <a:ea typeface="Consolas"/>
              <a:cs typeface="Consolas"/>
              <a:sym typeface="Consolas"/>
            </a:endParaRPr>
          </a:p>
          <a:p>
            <a:pPr algn="l">
              <a:lnSpc>
                <a:spcPts val="1920"/>
              </a:lnSpc>
            </a:pPr>
            <a:r>
              <a:rPr lang="en-US" sz="1600">
                <a:solidFill>
                  <a:srgbClr val="7EC8A4"/>
                </a:solidFill>
                <a:latin typeface="Consolas"/>
                <a:ea typeface="Consolas"/>
                <a:cs typeface="Consolas"/>
                <a:sym typeface="Consolas"/>
              </a:rPr>
              <a:t>   Escribir "Estudiante 3:"</a:t>
            </a:r>
          </a:p>
          <a:p>
            <a:pPr algn="l">
              <a:lnSpc>
                <a:spcPts val="1920"/>
              </a:lnSpc>
            </a:pPr>
            <a:r>
              <a:rPr lang="en-US" sz="1600">
                <a:solidFill>
                  <a:srgbClr val="7EC8A4"/>
                </a:solidFill>
                <a:latin typeface="Consolas"/>
                <a:ea typeface="Consolas"/>
                <a:cs typeface="Consolas"/>
                <a:sym typeface="Consolas"/>
              </a:rPr>
              <a:t>   Leer nombre, nota</a:t>
            </a:r>
          </a:p>
          <a:p>
            <a:pPr algn="l">
              <a:lnSpc>
                <a:spcPts val="1920"/>
              </a:lnSpc>
            </a:pPr>
            <a:r>
              <a:rPr lang="en-US" sz="1600">
                <a:solidFill>
                  <a:srgbClr val="7EC8A4"/>
                </a:solidFill>
                <a:latin typeface="Consolas"/>
                <a:ea typeface="Consolas"/>
                <a:cs typeface="Consolas"/>
                <a:sym typeface="Consolas"/>
              </a:rPr>
              <a:t>   MostrarResultado(nombre, nota)</a:t>
            </a:r>
          </a:p>
          <a:p>
            <a:pPr algn="l">
              <a:lnSpc>
                <a:spcPts val="1920"/>
              </a:lnSpc>
            </a:pPr>
            <a:r>
              <a:rPr lang="en-US" sz="1600">
                <a:solidFill>
                  <a:srgbClr val="7EC8A4"/>
                </a:solidFill>
                <a:latin typeface="Consolas"/>
                <a:ea typeface="Consolas"/>
                <a:cs typeface="Consolas"/>
                <a:sym typeface="Consolas"/>
              </a:rPr>
              <a:t>FinAlgoritmo</a:t>
            </a:r>
          </a:p>
          <a:p>
            <a:pPr algn="l">
              <a:lnSpc>
                <a:spcPts val="1920"/>
              </a:lnSpc>
            </a:pPr>
            <a:endParaRPr lang="en-US" sz="1600">
              <a:solidFill>
                <a:srgbClr val="7EC8A4"/>
              </a:solidFill>
              <a:latin typeface="Consolas"/>
              <a:ea typeface="Consolas"/>
              <a:cs typeface="Consolas"/>
              <a:sym typeface="Consolas"/>
            </a:endParaRPr>
          </a:p>
          <a:p>
            <a:pPr algn="l">
              <a:lnSpc>
                <a:spcPts val="1920"/>
              </a:lnSpc>
            </a:pPr>
            <a:r>
              <a:rPr lang="en-US" sz="1600">
                <a:solidFill>
                  <a:srgbClr val="7EC8A4"/>
                </a:solidFill>
                <a:latin typeface="Consolas"/>
                <a:ea typeface="Consolas"/>
                <a:cs typeface="Consolas"/>
                <a:sym typeface="Consolas"/>
              </a:rPr>
              <a:t>SubProceso MostrarResultado(nom, cal)</a:t>
            </a:r>
          </a:p>
          <a:p>
            <a:pPr algn="l">
              <a:lnSpc>
                <a:spcPts val="1920"/>
              </a:lnSpc>
            </a:pPr>
            <a:r>
              <a:rPr lang="en-US" sz="1600">
                <a:solidFill>
                  <a:srgbClr val="7EC8A4"/>
                </a:solidFill>
                <a:latin typeface="Consolas"/>
                <a:ea typeface="Consolas"/>
                <a:cs typeface="Consolas"/>
                <a:sym typeface="Consolas"/>
              </a:rPr>
              <a:t>   Escribir "Estudiante: ", nom</a:t>
            </a:r>
          </a:p>
          <a:p>
            <a:pPr algn="l">
              <a:lnSpc>
                <a:spcPts val="1920"/>
              </a:lnSpc>
            </a:pPr>
            <a:r>
              <a:rPr lang="en-US" sz="1600">
                <a:solidFill>
                  <a:srgbClr val="7EC8A4"/>
                </a:solidFill>
                <a:latin typeface="Consolas"/>
                <a:ea typeface="Consolas"/>
                <a:cs typeface="Consolas"/>
                <a:sym typeface="Consolas"/>
              </a:rPr>
              <a:t>   Si cal &gt;= 61 Entonces</a:t>
            </a:r>
          </a:p>
          <a:p>
            <a:pPr algn="l">
              <a:lnSpc>
                <a:spcPts val="1920"/>
              </a:lnSpc>
            </a:pPr>
            <a:r>
              <a:rPr lang="en-US" sz="1600">
                <a:solidFill>
                  <a:srgbClr val="7EC8A4"/>
                </a:solidFill>
                <a:latin typeface="Consolas"/>
                <a:ea typeface="Consolas"/>
                <a:cs typeface="Consolas"/>
                <a:sym typeface="Consolas"/>
              </a:rPr>
              <a:t>      Escribir "Resultado: APRUEBA"</a:t>
            </a:r>
          </a:p>
          <a:p>
            <a:pPr algn="l">
              <a:lnSpc>
                <a:spcPts val="1920"/>
              </a:lnSpc>
            </a:pPr>
            <a:r>
              <a:rPr lang="en-US" sz="1600">
                <a:solidFill>
                  <a:srgbClr val="7EC8A4"/>
                </a:solidFill>
                <a:latin typeface="Consolas"/>
                <a:ea typeface="Consolas"/>
                <a:cs typeface="Consolas"/>
                <a:sym typeface="Consolas"/>
              </a:rPr>
              <a:t>   SiNo</a:t>
            </a:r>
          </a:p>
          <a:p>
            <a:pPr algn="l">
              <a:lnSpc>
                <a:spcPts val="1920"/>
              </a:lnSpc>
            </a:pPr>
            <a:r>
              <a:rPr lang="en-US" sz="1600">
                <a:solidFill>
                  <a:srgbClr val="7EC8A4"/>
                </a:solidFill>
                <a:latin typeface="Consolas"/>
                <a:ea typeface="Consolas"/>
                <a:cs typeface="Consolas"/>
                <a:sym typeface="Consolas"/>
              </a:rPr>
              <a:t>      Escribir "Resultado: REPRUEBA"</a:t>
            </a:r>
          </a:p>
          <a:p>
            <a:pPr algn="l">
              <a:lnSpc>
                <a:spcPts val="1920"/>
              </a:lnSpc>
            </a:pPr>
            <a:r>
              <a:rPr lang="en-US" sz="1600">
                <a:solidFill>
                  <a:srgbClr val="7EC8A4"/>
                </a:solidFill>
                <a:latin typeface="Consolas"/>
                <a:ea typeface="Consolas"/>
                <a:cs typeface="Consolas"/>
                <a:sym typeface="Consolas"/>
              </a:rPr>
              <a:t>   FinSi</a:t>
            </a:r>
          </a:p>
          <a:p>
            <a:pPr algn="l">
              <a:lnSpc>
                <a:spcPts val="1920"/>
              </a:lnSpc>
            </a:pPr>
            <a:r>
              <a:rPr lang="en-US" sz="1600">
                <a:solidFill>
                  <a:srgbClr val="7EC8A4"/>
                </a:solidFill>
                <a:latin typeface="Consolas"/>
                <a:ea typeface="Consolas"/>
                <a:cs typeface="Consolas"/>
                <a:sym typeface="Consolas"/>
              </a:rPr>
              <a:t>   Escribir "Nota: ", cal</a:t>
            </a:r>
          </a:p>
          <a:p>
            <a:pPr algn="l">
              <a:lnSpc>
                <a:spcPts val="1920"/>
              </a:lnSpc>
            </a:pPr>
            <a:r>
              <a:rPr lang="en-US" sz="1600">
                <a:solidFill>
                  <a:srgbClr val="7EC8A4"/>
                </a:solidFill>
                <a:latin typeface="Consolas"/>
                <a:ea typeface="Consolas"/>
                <a:cs typeface="Consolas"/>
                <a:sym typeface="Consolas"/>
              </a:rPr>
              <a:t>FinSubProceso</a:t>
            </a:r>
          </a:p>
        </p:txBody>
      </p:sp>
      <p:grpSp>
        <p:nvGrpSpPr>
          <p:cNvPr id="30" name="Group 30"/>
          <p:cNvGrpSpPr/>
          <p:nvPr/>
        </p:nvGrpSpPr>
        <p:grpSpPr>
          <a:xfrm>
            <a:off x="9314183" y="2511047"/>
            <a:ext cx="8255003" cy="2494283"/>
            <a:chOff x="0" y="0"/>
            <a:chExt cx="11006671" cy="3325711"/>
          </a:xfrm>
        </p:grpSpPr>
        <p:sp>
          <p:nvSpPr>
            <p:cNvPr id="31" name="Freeform 31"/>
            <p:cNvSpPr/>
            <p:nvPr/>
          </p:nvSpPr>
          <p:spPr>
            <a:xfrm>
              <a:off x="16891" y="16891"/>
              <a:ext cx="10972800" cy="3291840"/>
            </a:xfrm>
            <a:custGeom>
              <a:avLst/>
              <a:gdLst/>
              <a:ahLst/>
              <a:cxnLst/>
              <a:rect l="l" t="t" r="r" b="b"/>
              <a:pathLst>
                <a:path w="10972800" h="3291840">
                  <a:moveTo>
                    <a:pt x="0" y="0"/>
                  </a:moveTo>
                  <a:lnTo>
                    <a:pt x="10972800" y="0"/>
                  </a:lnTo>
                  <a:lnTo>
                    <a:pt x="10972800" y="3291840"/>
                  </a:lnTo>
                  <a:lnTo>
                    <a:pt x="0" y="3291840"/>
                  </a:lnTo>
                  <a:close/>
                </a:path>
              </a:pathLst>
            </a:custGeom>
            <a:solidFill>
              <a:srgbClr val="252B42"/>
            </a:solidFill>
          </p:spPr>
          <p:txBody>
            <a:bodyPr/>
            <a:lstStyle/>
            <a:p>
              <a:endParaRPr lang="es-GT"/>
            </a:p>
          </p:txBody>
        </p:sp>
        <p:sp>
          <p:nvSpPr>
            <p:cNvPr id="32" name="Freeform 32"/>
            <p:cNvSpPr/>
            <p:nvPr/>
          </p:nvSpPr>
          <p:spPr>
            <a:xfrm>
              <a:off x="0" y="0"/>
              <a:ext cx="11006582" cy="3325622"/>
            </a:xfrm>
            <a:custGeom>
              <a:avLst/>
              <a:gdLst/>
              <a:ahLst/>
              <a:cxnLst/>
              <a:rect l="l" t="t" r="r" b="b"/>
              <a:pathLst>
                <a:path w="11006582" h="3325622">
                  <a:moveTo>
                    <a:pt x="16891" y="0"/>
                  </a:moveTo>
                  <a:lnTo>
                    <a:pt x="10989691" y="0"/>
                  </a:lnTo>
                  <a:cubicBezTo>
                    <a:pt x="10999089" y="0"/>
                    <a:pt x="11006582" y="7620"/>
                    <a:pt x="11006582" y="16891"/>
                  </a:cubicBezTo>
                  <a:lnTo>
                    <a:pt x="11006582" y="3308731"/>
                  </a:lnTo>
                  <a:cubicBezTo>
                    <a:pt x="11006582" y="3318129"/>
                    <a:pt x="10998962" y="3325622"/>
                    <a:pt x="10989691" y="3325622"/>
                  </a:cubicBezTo>
                  <a:lnTo>
                    <a:pt x="16891" y="3325622"/>
                  </a:lnTo>
                  <a:cubicBezTo>
                    <a:pt x="7493" y="3325622"/>
                    <a:pt x="0" y="3318002"/>
                    <a:pt x="0" y="3308731"/>
                  </a:cubicBezTo>
                  <a:lnTo>
                    <a:pt x="0" y="16891"/>
                  </a:lnTo>
                  <a:cubicBezTo>
                    <a:pt x="0" y="7620"/>
                    <a:pt x="7620" y="0"/>
                    <a:pt x="16891" y="0"/>
                  </a:cubicBezTo>
                  <a:moveTo>
                    <a:pt x="16891" y="33909"/>
                  </a:moveTo>
                  <a:lnTo>
                    <a:pt x="16891" y="16891"/>
                  </a:lnTo>
                  <a:lnTo>
                    <a:pt x="33909" y="16891"/>
                  </a:lnTo>
                  <a:lnTo>
                    <a:pt x="33909" y="3308731"/>
                  </a:lnTo>
                  <a:lnTo>
                    <a:pt x="16891" y="3308731"/>
                  </a:lnTo>
                  <a:lnTo>
                    <a:pt x="16891" y="3291840"/>
                  </a:lnTo>
                  <a:lnTo>
                    <a:pt x="10989691" y="3291840"/>
                  </a:lnTo>
                  <a:lnTo>
                    <a:pt x="10989691" y="3308731"/>
                  </a:lnTo>
                  <a:lnTo>
                    <a:pt x="10972800" y="3308731"/>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grpSp>
        <p:nvGrpSpPr>
          <p:cNvPr id="33" name="Group 33"/>
          <p:cNvGrpSpPr/>
          <p:nvPr/>
        </p:nvGrpSpPr>
        <p:grpSpPr>
          <a:xfrm>
            <a:off x="9601200" y="2651760"/>
            <a:ext cx="7680960" cy="548640"/>
            <a:chOff x="0" y="0"/>
            <a:chExt cx="10241280" cy="731520"/>
          </a:xfrm>
        </p:grpSpPr>
        <p:sp>
          <p:nvSpPr>
            <p:cNvPr id="34" name="Freeform 34"/>
            <p:cNvSpPr/>
            <p:nvPr/>
          </p:nvSpPr>
          <p:spPr>
            <a:xfrm>
              <a:off x="0" y="0"/>
              <a:ext cx="10241280" cy="731520"/>
            </a:xfrm>
            <a:custGeom>
              <a:avLst/>
              <a:gdLst/>
              <a:ahLst/>
              <a:cxnLst/>
              <a:rect l="l" t="t" r="r" b="b"/>
              <a:pathLst>
                <a:path w="10241280" h="731520">
                  <a:moveTo>
                    <a:pt x="0" y="0"/>
                  </a:moveTo>
                  <a:lnTo>
                    <a:pt x="10241280" y="0"/>
                  </a:lnTo>
                  <a:lnTo>
                    <a:pt x="10241280" y="731520"/>
                  </a:lnTo>
                  <a:lnTo>
                    <a:pt x="0" y="731520"/>
                  </a:lnTo>
                  <a:close/>
                </a:path>
              </a:pathLst>
            </a:custGeom>
            <a:blipFill>
              <a:blip r:embed="rId3">
                <a:alphaModFix amt="0"/>
              </a:blip>
              <a:stretch>
                <a:fillRect t="-222790" b="-222790"/>
              </a:stretch>
            </a:blipFill>
          </p:spPr>
          <p:txBody>
            <a:bodyPr/>
            <a:lstStyle/>
            <a:p>
              <a:endParaRPr lang="es-GT"/>
            </a:p>
          </p:txBody>
        </p:sp>
        <p:sp>
          <p:nvSpPr>
            <p:cNvPr id="35" name="TextBox 35"/>
            <p:cNvSpPr txBox="1"/>
            <p:nvPr/>
          </p:nvSpPr>
          <p:spPr>
            <a:xfrm>
              <a:off x="0" y="-47625"/>
              <a:ext cx="10241280" cy="779145"/>
            </a:xfrm>
            <a:prstGeom prst="rect">
              <a:avLst/>
            </a:prstGeom>
          </p:spPr>
          <p:txBody>
            <a:bodyPr lIns="0" tIns="0" rIns="0" bIns="0" rtlCol="0" anchor="ctr"/>
            <a:lstStyle/>
            <a:p>
              <a:pPr algn="l">
                <a:lnSpc>
                  <a:spcPts val="2640"/>
                </a:lnSpc>
              </a:pPr>
              <a:r>
                <a:rPr lang="en-US" sz="2200" b="1">
                  <a:solidFill>
                    <a:srgbClr val="7EC8A4"/>
                  </a:solidFill>
                  <a:latin typeface="Calibri (MS) Bold"/>
                  <a:ea typeface="Calibri (MS) Bold"/>
                  <a:cs typeface="Calibri (MS) Bold"/>
                  <a:sym typeface="Calibri (MS) Bold"/>
                </a:rPr>
                <a:t>¿Qué fluye entre algoritmo y subproceso?</a:t>
              </a:r>
            </a:p>
          </p:txBody>
        </p:sp>
      </p:grpSp>
      <p:sp>
        <p:nvSpPr>
          <p:cNvPr id="36" name="TextBox 36"/>
          <p:cNvSpPr txBox="1"/>
          <p:nvPr/>
        </p:nvSpPr>
        <p:spPr>
          <a:xfrm>
            <a:off x="9692640" y="3336036"/>
            <a:ext cx="7498080" cy="1519428"/>
          </a:xfrm>
          <a:prstGeom prst="rect">
            <a:avLst/>
          </a:prstGeom>
        </p:spPr>
        <p:txBody>
          <a:bodyPr lIns="0" tIns="0" rIns="0" bIns="0" rtlCol="0" anchor="t">
            <a:spAutoFit/>
          </a:bodyPr>
          <a:lstStyle/>
          <a:p>
            <a:pPr algn="l">
              <a:lnSpc>
                <a:spcPts val="2400"/>
              </a:lnSpc>
            </a:pPr>
            <a:r>
              <a:rPr lang="en-US" sz="2000">
                <a:solidFill>
                  <a:srgbClr val="FFFFFF"/>
                </a:solidFill>
                <a:latin typeface="Calibri (MS)"/>
                <a:ea typeface="Calibri (MS)"/>
                <a:cs typeface="Calibri (MS)"/>
                <a:sym typeface="Calibri (MS)"/>
              </a:rPr>
              <a:t>El algoritmo principal pasa nombre y nota al subproceso como si fueran "paquetes de información". El subproceso los recibe con los nombres nom y cal, opera con ellos y, al terminar, devuelve el control. Los valores originales en el algoritmo principal no cambian.</a:t>
            </a:r>
          </a:p>
        </p:txBody>
      </p:sp>
      <p:grpSp>
        <p:nvGrpSpPr>
          <p:cNvPr id="37" name="Group 37"/>
          <p:cNvGrpSpPr/>
          <p:nvPr/>
        </p:nvGrpSpPr>
        <p:grpSpPr>
          <a:xfrm>
            <a:off x="9314183" y="5254247"/>
            <a:ext cx="8255003" cy="1360427"/>
            <a:chOff x="0" y="0"/>
            <a:chExt cx="11006671" cy="1813903"/>
          </a:xfrm>
        </p:grpSpPr>
        <p:sp>
          <p:nvSpPr>
            <p:cNvPr id="38" name="Freeform 38"/>
            <p:cNvSpPr/>
            <p:nvPr/>
          </p:nvSpPr>
          <p:spPr>
            <a:xfrm>
              <a:off x="16891" y="16891"/>
              <a:ext cx="10972800" cy="1780032"/>
            </a:xfrm>
            <a:custGeom>
              <a:avLst/>
              <a:gdLst/>
              <a:ahLst/>
              <a:cxnLst/>
              <a:rect l="l" t="t" r="r" b="b"/>
              <a:pathLst>
                <a:path w="10972800" h="1780032">
                  <a:moveTo>
                    <a:pt x="0" y="0"/>
                  </a:moveTo>
                  <a:lnTo>
                    <a:pt x="10972800" y="0"/>
                  </a:lnTo>
                  <a:lnTo>
                    <a:pt x="10972800" y="1780032"/>
                  </a:lnTo>
                  <a:lnTo>
                    <a:pt x="0" y="1780032"/>
                  </a:lnTo>
                  <a:close/>
                </a:path>
              </a:pathLst>
            </a:custGeom>
            <a:solidFill>
              <a:srgbClr val="252B42"/>
            </a:solidFill>
          </p:spPr>
          <p:txBody>
            <a:bodyPr/>
            <a:lstStyle/>
            <a:p>
              <a:endParaRPr lang="es-GT"/>
            </a:p>
          </p:txBody>
        </p:sp>
        <p:sp>
          <p:nvSpPr>
            <p:cNvPr id="39" name="Freeform 39"/>
            <p:cNvSpPr/>
            <p:nvPr/>
          </p:nvSpPr>
          <p:spPr>
            <a:xfrm>
              <a:off x="0" y="0"/>
              <a:ext cx="11006582" cy="1813814"/>
            </a:xfrm>
            <a:custGeom>
              <a:avLst/>
              <a:gdLst/>
              <a:ahLst/>
              <a:cxnLst/>
              <a:rect l="l" t="t" r="r" b="b"/>
              <a:pathLst>
                <a:path w="11006582" h="1813814">
                  <a:moveTo>
                    <a:pt x="16891" y="0"/>
                  </a:moveTo>
                  <a:lnTo>
                    <a:pt x="10989691" y="0"/>
                  </a:lnTo>
                  <a:cubicBezTo>
                    <a:pt x="10999089" y="0"/>
                    <a:pt x="11006582" y="7620"/>
                    <a:pt x="11006582" y="16891"/>
                  </a:cubicBezTo>
                  <a:lnTo>
                    <a:pt x="11006582" y="1796923"/>
                  </a:lnTo>
                  <a:cubicBezTo>
                    <a:pt x="11006582" y="1806321"/>
                    <a:pt x="10998962" y="1813814"/>
                    <a:pt x="10989691" y="1813814"/>
                  </a:cubicBezTo>
                  <a:lnTo>
                    <a:pt x="16891" y="1813814"/>
                  </a:lnTo>
                  <a:cubicBezTo>
                    <a:pt x="7493" y="1813814"/>
                    <a:pt x="0" y="1806194"/>
                    <a:pt x="0" y="1796923"/>
                  </a:cubicBezTo>
                  <a:lnTo>
                    <a:pt x="0" y="16891"/>
                  </a:lnTo>
                  <a:cubicBezTo>
                    <a:pt x="0" y="7620"/>
                    <a:pt x="7620" y="0"/>
                    <a:pt x="16891" y="0"/>
                  </a:cubicBezTo>
                  <a:moveTo>
                    <a:pt x="16891" y="33909"/>
                  </a:moveTo>
                  <a:lnTo>
                    <a:pt x="16891" y="16891"/>
                  </a:lnTo>
                  <a:lnTo>
                    <a:pt x="33909" y="16891"/>
                  </a:lnTo>
                  <a:lnTo>
                    <a:pt x="33909" y="1796923"/>
                  </a:lnTo>
                  <a:lnTo>
                    <a:pt x="16891" y="1796923"/>
                  </a:lnTo>
                  <a:lnTo>
                    <a:pt x="16891" y="1780032"/>
                  </a:lnTo>
                  <a:lnTo>
                    <a:pt x="10989691" y="1780032"/>
                  </a:lnTo>
                  <a:lnTo>
                    <a:pt x="10989691" y="1796923"/>
                  </a:lnTo>
                  <a:lnTo>
                    <a:pt x="10972800" y="1796923"/>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grpSp>
        <p:nvGrpSpPr>
          <p:cNvPr id="40" name="Group 40"/>
          <p:cNvGrpSpPr/>
          <p:nvPr/>
        </p:nvGrpSpPr>
        <p:grpSpPr>
          <a:xfrm>
            <a:off x="9314183" y="5254247"/>
            <a:ext cx="171707" cy="1360427"/>
            <a:chOff x="0" y="0"/>
            <a:chExt cx="228943" cy="1813903"/>
          </a:xfrm>
        </p:grpSpPr>
        <p:sp>
          <p:nvSpPr>
            <p:cNvPr id="41" name="Freeform 41"/>
            <p:cNvSpPr/>
            <p:nvPr/>
          </p:nvSpPr>
          <p:spPr>
            <a:xfrm>
              <a:off x="16891" y="16891"/>
              <a:ext cx="195072" cy="1780032"/>
            </a:xfrm>
            <a:custGeom>
              <a:avLst/>
              <a:gdLst/>
              <a:ahLst/>
              <a:cxnLst/>
              <a:rect l="l" t="t" r="r" b="b"/>
              <a:pathLst>
                <a:path w="195072" h="1780032">
                  <a:moveTo>
                    <a:pt x="0" y="0"/>
                  </a:moveTo>
                  <a:lnTo>
                    <a:pt x="195072" y="0"/>
                  </a:lnTo>
                  <a:lnTo>
                    <a:pt x="195072" y="1780032"/>
                  </a:lnTo>
                  <a:lnTo>
                    <a:pt x="0" y="1780032"/>
                  </a:lnTo>
                  <a:close/>
                </a:path>
              </a:pathLst>
            </a:custGeom>
            <a:solidFill>
              <a:srgbClr val="7EC8A4"/>
            </a:solidFill>
          </p:spPr>
          <p:txBody>
            <a:bodyPr/>
            <a:lstStyle/>
            <a:p>
              <a:endParaRPr lang="es-GT"/>
            </a:p>
          </p:txBody>
        </p:sp>
        <p:sp>
          <p:nvSpPr>
            <p:cNvPr id="42" name="Freeform 42"/>
            <p:cNvSpPr/>
            <p:nvPr/>
          </p:nvSpPr>
          <p:spPr>
            <a:xfrm>
              <a:off x="0" y="0"/>
              <a:ext cx="228854" cy="1813814"/>
            </a:xfrm>
            <a:custGeom>
              <a:avLst/>
              <a:gdLst/>
              <a:ahLst/>
              <a:cxnLst/>
              <a:rect l="l" t="t" r="r" b="b"/>
              <a:pathLst>
                <a:path w="228854" h="1813814">
                  <a:moveTo>
                    <a:pt x="16891" y="0"/>
                  </a:moveTo>
                  <a:lnTo>
                    <a:pt x="211963" y="0"/>
                  </a:lnTo>
                  <a:cubicBezTo>
                    <a:pt x="221361" y="0"/>
                    <a:pt x="228854" y="7620"/>
                    <a:pt x="228854" y="16891"/>
                  </a:cubicBezTo>
                  <a:lnTo>
                    <a:pt x="228854" y="1796923"/>
                  </a:lnTo>
                  <a:cubicBezTo>
                    <a:pt x="228854" y="1806321"/>
                    <a:pt x="221234" y="1813814"/>
                    <a:pt x="211963" y="1813814"/>
                  </a:cubicBezTo>
                  <a:lnTo>
                    <a:pt x="16891" y="1813814"/>
                  </a:lnTo>
                  <a:cubicBezTo>
                    <a:pt x="7493" y="1813814"/>
                    <a:pt x="0" y="1806194"/>
                    <a:pt x="0" y="1796923"/>
                  </a:cubicBezTo>
                  <a:lnTo>
                    <a:pt x="0" y="16891"/>
                  </a:lnTo>
                  <a:cubicBezTo>
                    <a:pt x="0" y="7620"/>
                    <a:pt x="7620" y="0"/>
                    <a:pt x="16891" y="0"/>
                  </a:cubicBezTo>
                  <a:moveTo>
                    <a:pt x="16891" y="33909"/>
                  </a:moveTo>
                  <a:lnTo>
                    <a:pt x="16891" y="16891"/>
                  </a:lnTo>
                  <a:lnTo>
                    <a:pt x="33909" y="16891"/>
                  </a:lnTo>
                  <a:lnTo>
                    <a:pt x="33909" y="1796923"/>
                  </a:lnTo>
                  <a:lnTo>
                    <a:pt x="16891" y="1796923"/>
                  </a:lnTo>
                  <a:lnTo>
                    <a:pt x="16891" y="1780032"/>
                  </a:lnTo>
                  <a:lnTo>
                    <a:pt x="211963" y="1780032"/>
                  </a:lnTo>
                  <a:lnTo>
                    <a:pt x="211963" y="1796923"/>
                  </a:lnTo>
                  <a:lnTo>
                    <a:pt x="195072" y="1796923"/>
                  </a:lnTo>
                  <a:lnTo>
                    <a:pt x="195072" y="16891"/>
                  </a:lnTo>
                  <a:lnTo>
                    <a:pt x="211963" y="16891"/>
                  </a:lnTo>
                  <a:lnTo>
                    <a:pt x="211963" y="33909"/>
                  </a:lnTo>
                  <a:lnTo>
                    <a:pt x="16891" y="33909"/>
                  </a:lnTo>
                  <a:close/>
                </a:path>
              </a:pathLst>
            </a:custGeom>
            <a:solidFill>
              <a:srgbClr val="7EC8A4"/>
            </a:solidFill>
          </p:spPr>
          <p:txBody>
            <a:bodyPr/>
            <a:lstStyle/>
            <a:p>
              <a:endParaRPr lang="es-GT"/>
            </a:p>
          </p:txBody>
        </p:sp>
      </p:grpSp>
      <p:grpSp>
        <p:nvGrpSpPr>
          <p:cNvPr id="43" name="Group 43"/>
          <p:cNvGrpSpPr/>
          <p:nvPr/>
        </p:nvGrpSpPr>
        <p:grpSpPr>
          <a:xfrm>
            <a:off x="9656064" y="5376672"/>
            <a:ext cx="7589520" cy="438912"/>
            <a:chOff x="0" y="0"/>
            <a:chExt cx="10119360" cy="585216"/>
          </a:xfrm>
        </p:grpSpPr>
        <p:sp>
          <p:nvSpPr>
            <p:cNvPr id="44" name="Freeform 44"/>
            <p:cNvSpPr/>
            <p:nvPr/>
          </p:nvSpPr>
          <p:spPr>
            <a:xfrm>
              <a:off x="0" y="0"/>
              <a:ext cx="10119360" cy="585216"/>
            </a:xfrm>
            <a:custGeom>
              <a:avLst/>
              <a:gdLst/>
              <a:ahLst/>
              <a:cxnLst/>
              <a:rect l="l" t="t" r="r" b="b"/>
              <a:pathLst>
                <a:path w="10119360" h="585216">
                  <a:moveTo>
                    <a:pt x="0" y="0"/>
                  </a:moveTo>
                  <a:lnTo>
                    <a:pt x="10119360" y="0"/>
                  </a:lnTo>
                  <a:lnTo>
                    <a:pt x="10119360" y="585216"/>
                  </a:lnTo>
                  <a:lnTo>
                    <a:pt x="0" y="585216"/>
                  </a:lnTo>
                  <a:close/>
                </a:path>
              </a:pathLst>
            </a:custGeom>
            <a:blipFill>
              <a:blip r:embed="rId3">
                <a:alphaModFix amt="0"/>
              </a:blip>
              <a:stretch>
                <a:fillRect t="-286928" b="-286928"/>
              </a:stretch>
            </a:blipFill>
          </p:spPr>
          <p:txBody>
            <a:bodyPr/>
            <a:lstStyle/>
            <a:p>
              <a:endParaRPr lang="es-GT"/>
            </a:p>
          </p:txBody>
        </p:sp>
        <p:sp>
          <p:nvSpPr>
            <p:cNvPr id="45" name="TextBox 45"/>
            <p:cNvSpPr txBox="1"/>
            <p:nvPr/>
          </p:nvSpPr>
          <p:spPr>
            <a:xfrm>
              <a:off x="0" y="-38100"/>
              <a:ext cx="10119360" cy="623316"/>
            </a:xfrm>
            <a:prstGeom prst="rect">
              <a:avLst/>
            </a:prstGeom>
          </p:spPr>
          <p:txBody>
            <a:bodyPr lIns="0" tIns="0" rIns="0" bIns="0" rtlCol="0" anchor="ctr"/>
            <a:lstStyle/>
            <a:p>
              <a:pPr algn="l">
                <a:lnSpc>
                  <a:spcPts val="2400"/>
                </a:lnSpc>
              </a:pPr>
              <a:r>
                <a:rPr lang="en-US" sz="2000" b="1">
                  <a:solidFill>
                    <a:srgbClr val="7EC8A4"/>
                  </a:solidFill>
                  <a:latin typeface="Calibri (MS) Bold"/>
                  <a:ea typeface="Calibri (MS) Bold"/>
                  <a:cs typeface="Calibri (MS) Bold"/>
                  <a:sym typeface="Calibri (MS) Bold"/>
                </a:rPr>
                <a:t>Datos de entrada declarados</a:t>
              </a:r>
            </a:p>
          </p:txBody>
        </p:sp>
      </p:grpSp>
      <p:sp>
        <p:nvSpPr>
          <p:cNvPr id="46" name="TextBox 46"/>
          <p:cNvSpPr txBox="1"/>
          <p:nvPr/>
        </p:nvSpPr>
        <p:spPr>
          <a:xfrm>
            <a:off x="9747504" y="5878068"/>
            <a:ext cx="7406640" cy="605028"/>
          </a:xfrm>
          <a:prstGeom prst="rect">
            <a:avLst/>
          </a:prstGeom>
        </p:spPr>
        <p:txBody>
          <a:bodyPr lIns="0" tIns="0" rIns="0" bIns="0" rtlCol="0" anchor="t">
            <a:spAutoFit/>
          </a:bodyPr>
          <a:lstStyle/>
          <a:p>
            <a:pPr algn="l">
              <a:lnSpc>
                <a:spcPts val="2112"/>
              </a:lnSpc>
            </a:pPr>
            <a:r>
              <a:rPr lang="en-US" sz="1760">
                <a:solidFill>
                  <a:srgbClr val="FFFFFF"/>
                </a:solidFill>
                <a:latin typeface="Calibri (MS)"/>
                <a:ea typeface="Calibri (MS)"/>
                <a:cs typeface="Calibri (MS)"/>
                <a:sym typeface="Calibri (MS)"/>
              </a:rPr>
              <a:t>Los nombres entre paréntesis en la definición (nom, cal) son los datos que el subproceso espera recibir. Sus nombres internos pueden diferir de los del algoritmo principal.</a:t>
            </a:r>
          </a:p>
        </p:txBody>
      </p:sp>
      <p:grpSp>
        <p:nvGrpSpPr>
          <p:cNvPr id="47" name="Group 47"/>
          <p:cNvGrpSpPr/>
          <p:nvPr/>
        </p:nvGrpSpPr>
        <p:grpSpPr>
          <a:xfrm>
            <a:off x="9314183" y="6772151"/>
            <a:ext cx="8255003" cy="1360427"/>
            <a:chOff x="0" y="0"/>
            <a:chExt cx="11006671" cy="1813903"/>
          </a:xfrm>
        </p:grpSpPr>
        <p:sp>
          <p:nvSpPr>
            <p:cNvPr id="48" name="Freeform 48"/>
            <p:cNvSpPr/>
            <p:nvPr/>
          </p:nvSpPr>
          <p:spPr>
            <a:xfrm>
              <a:off x="16891" y="16891"/>
              <a:ext cx="10972800" cy="1780032"/>
            </a:xfrm>
            <a:custGeom>
              <a:avLst/>
              <a:gdLst/>
              <a:ahLst/>
              <a:cxnLst/>
              <a:rect l="l" t="t" r="r" b="b"/>
              <a:pathLst>
                <a:path w="10972800" h="1780032">
                  <a:moveTo>
                    <a:pt x="0" y="0"/>
                  </a:moveTo>
                  <a:lnTo>
                    <a:pt x="10972800" y="0"/>
                  </a:lnTo>
                  <a:lnTo>
                    <a:pt x="10972800" y="1780032"/>
                  </a:lnTo>
                  <a:lnTo>
                    <a:pt x="0" y="1780032"/>
                  </a:lnTo>
                  <a:close/>
                </a:path>
              </a:pathLst>
            </a:custGeom>
            <a:solidFill>
              <a:srgbClr val="252B42"/>
            </a:solidFill>
          </p:spPr>
          <p:txBody>
            <a:bodyPr/>
            <a:lstStyle/>
            <a:p>
              <a:endParaRPr lang="es-GT"/>
            </a:p>
          </p:txBody>
        </p:sp>
        <p:sp>
          <p:nvSpPr>
            <p:cNvPr id="49" name="Freeform 49"/>
            <p:cNvSpPr/>
            <p:nvPr/>
          </p:nvSpPr>
          <p:spPr>
            <a:xfrm>
              <a:off x="0" y="0"/>
              <a:ext cx="11006582" cy="1813814"/>
            </a:xfrm>
            <a:custGeom>
              <a:avLst/>
              <a:gdLst/>
              <a:ahLst/>
              <a:cxnLst/>
              <a:rect l="l" t="t" r="r" b="b"/>
              <a:pathLst>
                <a:path w="11006582" h="1813814">
                  <a:moveTo>
                    <a:pt x="16891" y="0"/>
                  </a:moveTo>
                  <a:lnTo>
                    <a:pt x="10989691" y="0"/>
                  </a:lnTo>
                  <a:cubicBezTo>
                    <a:pt x="10999089" y="0"/>
                    <a:pt x="11006582" y="7620"/>
                    <a:pt x="11006582" y="16891"/>
                  </a:cubicBezTo>
                  <a:lnTo>
                    <a:pt x="11006582" y="1796923"/>
                  </a:lnTo>
                  <a:cubicBezTo>
                    <a:pt x="11006582" y="1806321"/>
                    <a:pt x="10998962" y="1813814"/>
                    <a:pt x="10989691" y="1813814"/>
                  </a:cubicBezTo>
                  <a:lnTo>
                    <a:pt x="16891" y="1813814"/>
                  </a:lnTo>
                  <a:cubicBezTo>
                    <a:pt x="7493" y="1813814"/>
                    <a:pt x="0" y="1806194"/>
                    <a:pt x="0" y="1796923"/>
                  </a:cubicBezTo>
                  <a:lnTo>
                    <a:pt x="0" y="16891"/>
                  </a:lnTo>
                  <a:cubicBezTo>
                    <a:pt x="0" y="7620"/>
                    <a:pt x="7620" y="0"/>
                    <a:pt x="16891" y="0"/>
                  </a:cubicBezTo>
                  <a:moveTo>
                    <a:pt x="16891" y="33909"/>
                  </a:moveTo>
                  <a:lnTo>
                    <a:pt x="16891" y="16891"/>
                  </a:lnTo>
                  <a:lnTo>
                    <a:pt x="33909" y="16891"/>
                  </a:lnTo>
                  <a:lnTo>
                    <a:pt x="33909" y="1796923"/>
                  </a:lnTo>
                  <a:lnTo>
                    <a:pt x="16891" y="1796923"/>
                  </a:lnTo>
                  <a:lnTo>
                    <a:pt x="16891" y="1780032"/>
                  </a:lnTo>
                  <a:lnTo>
                    <a:pt x="10989691" y="1780032"/>
                  </a:lnTo>
                  <a:lnTo>
                    <a:pt x="10989691" y="1796923"/>
                  </a:lnTo>
                  <a:lnTo>
                    <a:pt x="10972800" y="1796923"/>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grpSp>
        <p:nvGrpSpPr>
          <p:cNvPr id="50" name="Group 50"/>
          <p:cNvGrpSpPr/>
          <p:nvPr/>
        </p:nvGrpSpPr>
        <p:grpSpPr>
          <a:xfrm>
            <a:off x="9314183" y="6772151"/>
            <a:ext cx="171707" cy="1360427"/>
            <a:chOff x="0" y="0"/>
            <a:chExt cx="228943" cy="1813903"/>
          </a:xfrm>
        </p:grpSpPr>
        <p:sp>
          <p:nvSpPr>
            <p:cNvPr id="51" name="Freeform 51"/>
            <p:cNvSpPr/>
            <p:nvPr/>
          </p:nvSpPr>
          <p:spPr>
            <a:xfrm>
              <a:off x="16891" y="16891"/>
              <a:ext cx="195072" cy="1780032"/>
            </a:xfrm>
            <a:custGeom>
              <a:avLst/>
              <a:gdLst/>
              <a:ahLst/>
              <a:cxnLst/>
              <a:rect l="l" t="t" r="r" b="b"/>
              <a:pathLst>
                <a:path w="195072" h="1780032">
                  <a:moveTo>
                    <a:pt x="0" y="0"/>
                  </a:moveTo>
                  <a:lnTo>
                    <a:pt x="195072" y="0"/>
                  </a:lnTo>
                  <a:lnTo>
                    <a:pt x="195072" y="1780032"/>
                  </a:lnTo>
                  <a:lnTo>
                    <a:pt x="0" y="1780032"/>
                  </a:lnTo>
                  <a:close/>
                </a:path>
              </a:pathLst>
            </a:custGeom>
            <a:solidFill>
              <a:srgbClr val="5EC6E8"/>
            </a:solidFill>
          </p:spPr>
          <p:txBody>
            <a:bodyPr/>
            <a:lstStyle/>
            <a:p>
              <a:endParaRPr lang="es-GT"/>
            </a:p>
          </p:txBody>
        </p:sp>
        <p:sp>
          <p:nvSpPr>
            <p:cNvPr id="52" name="Freeform 52"/>
            <p:cNvSpPr/>
            <p:nvPr/>
          </p:nvSpPr>
          <p:spPr>
            <a:xfrm>
              <a:off x="0" y="0"/>
              <a:ext cx="228854" cy="1813814"/>
            </a:xfrm>
            <a:custGeom>
              <a:avLst/>
              <a:gdLst/>
              <a:ahLst/>
              <a:cxnLst/>
              <a:rect l="l" t="t" r="r" b="b"/>
              <a:pathLst>
                <a:path w="228854" h="1813814">
                  <a:moveTo>
                    <a:pt x="16891" y="0"/>
                  </a:moveTo>
                  <a:lnTo>
                    <a:pt x="211963" y="0"/>
                  </a:lnTo>
                  <a:cubicBezTo>
                    <a:pt x="221361" y="0"/>
                    <a:pt x="228854" y="7620"/>
                    <a:pt x="228854" y="16891"/>
                  </a:cubicBezTo>
                  <a:lnTo>
                    <a:pt x="228854" y="1796923"/>
                  </a:lnTo>
                  <a:cubicBezTo>
                    <a:pt x="228854" y="1806321"/>
                    <a:pt x="221234" y="1813814"/>
                    <a:pt x="211963" y="1813814"/>
                  </a:cubicBezTo>
                  <a:lnTo>
                    <a:pt x="16891" y="1813814"/>
                  </a:lnTo>
                  <a:cubicBezTo>
                    <a:pt x="7493" y="1813814"/>
                    <a:pt x="0" y="1806194"/>
                    <a:pt x="0" y="1796923"/>
                  </a:cubicBezTo>
                  <a:lnTo>
                    <a:pt x="0" y="16891"/>
                  </a:lnTo>
                  <a:cubicBezTo>
                    <a:pt x="0" y="7620"/>
                    <a:pt x="7620" y="0"/>
                    <a:pt x="16891" y="0"/>
                  </a:cubicBezTo>
                  <a:moveTo>
                    <a:pt x="16891" y="33909"/>
                  </a:moveTo>
                  <a:lnTo>
                    <a:pt x="16891" y="16891"/>
                  </a:lnTo>
                  <a:lnTo>
                    <a:pt x="33909" y="16891"/>
                  </a:lnTo>
                  <a:lnTo>
                    <a:pt x="33909" y="1796923"/>
                  </a:lnTo>
                  <a:lnTo>
                    <a:pt x="16891" y="1796923"/>
                  </a:lnTo>
                  <a:lnTo>
                    <a:pt x="16891" y="1780032"/>
                  </a:lnTo>
                  <a:lnTo>
                    <a:pt x="211963" y="1780032"/>
                  </a:lnTo>
                  <a:lnTo>
                    <a:pt x="211963" y="1796923"/>
                  </a:lnTo>
                  <a:lnTo>
                    <a:pt x="195072" y="1796923"/>
                  </a:lnTo>
                  <a:lnTo>
                    <a:pt x="195072" y="16891"/>
                  </a:lnTo>
                  <a:lnTo>
                    <a:pt x="211963" y="16891"/>
                  </a:lnTo>
                  <a:lnTo>
                    <a:pt x="211963" y="33909"/>
                  </a:lnTo>
                  <a:lnTo>
                    <a:pt x="16891" y="33909"/>
                  </a:lnTo>
                  <a:close/>
                </a:path>
              </a:pathLst>
            </a:custGeom>
            <a:solidFill>
              <a:srgbClr val="5EC6E8"/>
            </a:solidFill>
          </p:spPr>
          <p:txBody>
            <a:bodyPr/>
            <a:lstStyle/>
            <a:p>
              <a:endParaRPr lang="es-GT"/>
            </a:p>
          </p:txBody>
        </p:sp>
      </p:grpSp>
      <p:grpSp>
        <p:nvGrpSpPr>
          <p:cNvPr id="53" name="Group 53"/>
          <p:cNvGrpSpPr/>
          <p:nvPr/>
        </p:nvGrpSpPr>
        <p:grpSpPr>
          <a:xfrm>
            <a:off x="9656064" y="6894576"/>
            <a:ext cx="7589520" cy="438912"/>
            <a:chOff x="0" y="0"/>
            <a:chExt cx="10119360" cy="585216"/>
          </a:xfrm>
        </p:grpSpPr>
        <p:sp>
          <p:nvSpPr>
            <p:cNvPr id="54" name="Freeform 54"/>
            <p:cNvSpPr/>
            <p:nvPr/>
          </p:nvSpPr>
          <p:spPr>
            <a:xfrm>
              <a:off x="0" y="0"/>
              <a:ext cx="10119360" cy="585216"/>
            </a:xfrm>
            <a:custGeom>
              <a:avLst/>
              <a:gdLst/>
              <a:ahLst/>
              <a:cxnLst/>
              <a:rect l="l" t="t" r="r" b="b"/>
              <a:pathLst>
                <a:path w="10119360" h="585216">
                  <a:moveTo>
                    <a:pt x="0" y="0"/>
                  </a:moveTo>
                  <a:lnTo>
                    <a:pt x="10119360" y="0"/>
                  </a:lnTo>
                  <a:lnTo>
                    <a:pt x="10119360" y="585216"/>
                  </a:lnTo>
                  <a:lnTo>
                    <a:pt x="0" y="585216"/>
                  </a:lnTo>
                  <a:close/>
                </a:path>
              </a:pathLst>
            </a:custGeom>
            <a:blipFill>
              <a:blip r:embed="rId3">
                <a:alphaModFix amt="0"/>
              </a:blip>
              <a:stretch>
                <a:fillRect t="-286928" b="-286928"/>
              </a:stretch>
            </a:blipFill>
          </p:spPr>
          <p:txBody>
            <a:bodyPr/>
            <a:lstStyle/>
            <a:p>
              <a:endParaRPr lang="es-GT"/>
            </a:p>
          </p:txBody>
        </p:sp>
        <p:sp>
          <p:nvSpPr>
            <p:cNvPr id="55" name="TextBox 55"/>
            <p:cNvSpPr txBox="1"/>
            <p:nvPr/>
          </p:nvSpPr>
          <p:spPr>
            <a:xfrm>
              <a:off x="0" y="-38100"/>
              <a:ext cx="10119360" cy="623316"/>
            </a:xfrm>
            <a:prstGeom prst="rect">
              <a:avLst/>
            </a:prstGeom>
          </p:spPr>
          <p:txBody>
            <a:bodyPr lIns="0" tIns="0" rIns="0" bIns="0" rtlCol="0" anchor="ctr"/>
            <a:lstStyle/>
            <a:p>
              <a:pPr algn="l">
                <a:lnSpc>
                  <a:spcPts val="2400"/>
                </a:lnSpc>
              </a:pPr>
              <a:r>
                <a:rPr lang="en-US" sz="2000" b="1">
                  <a:solidFill>
                    <a:srgbClr val="5EC6E8"/>
                  </a:solidFill>
                  <a:latin typeface="Calibri (MS) Bold"/>
                  <a:ea typeface="Calibri (MS) Bold"/>
                  <a:cs typeface="Calibri (MS) Bold"/>
                  <a:sym typeface="Calibri (MS) Bold"/>
                </a:rPr>
                <a:t>Reutilización explícita</a:t>
              </a:r>
            </a:p>
          </p:txBody>
        </p:sp>
      </p:grpSp>
      <p:sp>
        <p:nvSpPr>
          <p:cNvPr id="56" name="TextBox 56"/>
          <p:cNvSpPr txBox="1"/>
          <p:nvPr/>
        </p:nvSpPr>
        <p:spPr>
          <a:xfrm>
            <a:off x="9747504" y="7395972"/>
            <a:ext cx="7406640" cy="605028"/>
          </a:xfrm>
          <a:prstGeom prst="rect">
            <a:avLst/>
          </a:prstGeom>
        </p:spPr>
        <p:txBody>
          <a:bodyPr lIns="0" tIns="0" rIns="0" bIns="0" rtlCol="0" anchor="t">
            <a:spAutoFit/>
          </a:bodyPr>
          <a:lstStyle/>
          <a:p>
            <a:pPr algn="l">
              <a:lnSpc>
                <a:spcPts val="2112"/>
              </a:lnSpc>
            </a:pPr>
            <a:r>
              <a:rPr lang="en-US" sz="1760">
                <a:solidFill>
                  <a:srgbClr val="FFFFFF"/>
                </a:solidFill>
                <a:latin typeface="Calibri (MS)"/>
                <a:ea typeface="Calibri (MS)"/>
                <a:cs typeface="Calibri (MS)"/>
                <a:sym typeface="Calibri (MS)"/>
              </a:rPr>
              <a:t>El bloque MostrarResultado se invoca 3 veces con datos distintos. Sin subprocesos, esas 10 líneas internas se repetirían 3 veces: 30 líneas en total.</a:t>
            </a:r>
          </a:p>
        </p:txBody>
      </p:sp>
      <p:grpSp>
        <p:nvGrpSpPr>
          <p:cNvPr id="57" name="Group 57"/>
          <p:cNvGrpSpPr/>
          <p:nvPr/>
        </p:nvGrpSpPr>
        <p:grpSpPr>
          <a:xfrm>
            <a:off x="9314183" y="8290055"/>
            <a:ext cx="8255003" cy="1360427"/>
            <a:chOff x="0" y="0"/>
            <a:chExt cx="11006671" cy="1813903"/>
          </a:xfrm>
        </p:grpSpPr>
        <p:sp>
          <p:nvSpPr>
            <p:cNvPr id="58" name="Freeform 58"/>
            <p:cNvSpPr/>
            <p:nvPr/>
          </p:nvSpPr>
          <p:spPr>
            <a:xfrm>
              <a:off x="16891" y="16891"/>
              <a:ext cx="10972800" cy="1780032"/>
            </a:xfrm>
            <a:custGeom>
              <a:avLst/>
              <a:gdLst/>
              <a:ahLst/>
              <a:cxnLst/>
              <a:rect l="l" t="t" r="r" b="b"/>
              <a:pathLst>
                <a:path w="10972800" h="1780032">
                  <a:moveTo>
                    <a:pt x="0" y="0"/>
                  </a:moveTo>
                  <a:lnTo>
                    <a:pt x="10972800" y="0"/>
                  </a:lnTo>
                  <a:lnTo>
                    <a:pt x="10972800" y="1780032"/>
                  </a:lnTo>
                  <a:lnTo>
                    <a:pt x="0" y="1780032"/>
                  </a:lnTo>
                  <a:close/>
                </a:path>
              </a:pathLst>
            </a:custGeom>
            <a:solidFill>
              <a:srgbClr val="252B42"/>
            </a:solidFill>
          </p:spPr>
          <p:txBody>
            <a:bodyPr/>
            <a:lstStyle/>
            <a:p>
              <a:endParaRPr lang="es-GT"/>
            </a:p>
          </p:txBody>
        </p:sp>
        <p:sp>
          <p:nvSpPr>
            <p:cNvPr id="59" name="Freeform 59"/>
            <p:cNvSpPr/>
            <p:nvPr/>
          </p:nvSpPr>
          <p:spPr>
            <a:xfrm>
              <a:off x="0" y="0"/>
              <a:ext cx="11006582" cy="1813814"/>
            </a:xfrm>
            <a:custGeom>
              <a:avLst/>
              <a:gdLst/>
              <a:ahLst/>
              <a:cxnLst/>
              <a:rect l="l" t="t" r="r" b="b"/>
              <a:pathLst>
                <a:path w="11006582" h="1813814">
                  <a:moveTo>
                    <a:pt x="16891" y="0"/>
                  </a:moveTo>
                  <a:lnTo>
                    <a:pt x="10989691" y="0"/>
                  </a:lnTo>
                  <a:cubicBezTo>
                    <a:pt x="10999089" y="0"/>
                    <a:pt x="11006582" y="7620"/>
                    <a:pt x="11006582" y="16891"/>
                  </a:cubicBezTo>
                  <a:lnTo>
                    <a:pt x="11006582" y="1796923"/>
                  </a:lnTo>
                  <a:cubicBezTo>
                    <a:pt x="11006582" y="1806321"/>
                    <a:pt x="10998962" y="1813814"/>
                    <a:pt x="10989691" y="1813814"/>
                  </a:cubicBezTo>
                  <a:lnTo>
                    <a:pt x="16891" y="1813814"/>
                  </a:lnTo>
                  <a:cubicBezTo>
                    <a:pt x="7493" y="1813814"/>
                    <a:pt x="0" y="1806194"/>
                    <a:pt x="0" y="1796923"/>
                  </a:cubicBezTo>
                  <a:lnTo>
                    <a:pt x="0" y="16891"/>
                  </a:lnTo>
                  <a:cubicBezTo>
                    <a:pt x="0" y="7620"/>
                    <a:pt x="7620" y="0"/>
                    <a:pt x="16891" y="0"/>
                  </a:cubicBezTo>
                  <a:moveTo>
                    <a:pt x="16891" y="33909"/>
                  </a:moveTo>
                  <a:lnTo>
                    <a:pt x="16891" y="16891"/>
                  </a:lnTo>
                  <a:lnTo>
                    <a:pt x="33909" y="16891"/>
                  </a:lnTo>
                  <a:lnTo>
                    <a:pt x="33909" y="1796923"/>
                  </a:lnTo>
                  <a:lnTo>
                    <a:pt x="16891" y="1796923"/>
                  </a:lnTo>
                  <a:lnTo>
                    <a:pt x="16891" y="1780032"/>
                  </a:lnTo>
                  <a:lnTo>
                    <a:pt x="10989691" y="1780032"/>
                  </a:lnTo>
                  <a:lnTo>
                    <a:pt x="10989691" y="1796923"/>
                  </a:lnTo>
                  <a:lnTo>
                    <a:pt x="10972800" y="1796923"/>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grpSp>
        <p:nvGrpSpPr>
          <p:cNvPr id="60" name="Group 60"/>
          <p:cNvGrpSpPr/>
          <p:nvPr/>
        </p:nvGrpSpPr>
        <p:grpSpPr>
          <a:xfrm>
            <a:off x="9314183" y="8290055"/>
            <a:ext cx="171707" cy="1360427"/>
            <a:chOff x="0" y="0"/>
            <a:chExt cx="228943" cy="1813903"/>
          </a:xfrm>
        </p:grpSpPr>
        <p:sp>
          <p:nvSpPr>
            <p:cNvPr id="61" name="Freeform 61"/>
            <p:cNvSpPr/>
            <p:nvPr/>
          </p:nvSpPr>
          <p:spPr>
            <a:xfrm>
              <a:off x="16891" y="16891"/>
              <a:ext cx="195072" cy="1780032"/>
            </a:xfrm>
            <a:custGeom>
              <a:avLst/>
              <a:gdLst/>
              <a:ahLst/>
              <a:cxnLst/>
              <a:rect l="l" t="t" r="r" b="b"/>
              <a:pathLst>
                <a:path w="195072" h="1780032">
                  <a:moveTo>
                    <a:pt x="0" y="0"/>
                  </a:moveTo>
                  <a:lnTo>
                    <a:pt x="195072" y="0"/>
                  </a:lnTo>
                  <a:lnTo>
                    <a:pt x="195072" y="1780032"/>
                  </a:lnTo>
                  <a:lnTo>
                    <a:pt x="0" y="1780032"/>
                  </a:lnTo>
                  <a:close/>
                </a:path>
              </a:pathLst>
            </a:custGeom>
            <a:solidFill>
              <a:srgbClr val="9B7FD4"/>
            </a:solidFill>
          </p:spPr>
          <p:txBody>
            <a:bodyPr/>
            <a:lstStyle/>
            <a:p>
              <a:endParaRPr lang="es-GT"/>
            </a:p>
          </p:txBody>
        </p:sp>
        <p:sp>
          <p:nvSpPr>
            <p:cNvPr id="62" name="Freeform 62"/>
            <p:cNvSpPr/>
            <p:nvPr/>
          </p:nvSpPr>
          <p:spPr>
            <a:xfrm>
              <a:off x="0" y="0"/>
              <a:ext cx="228854" cy="1813814"/>
            </a:xfrm>
            <a:custGeom>
              <a:avLst/>
              <a:gdLst/>
              <a:ahLst/>
              <a:cxnLst/>
              <a:rect l="l" t="t" r="r" b="b"/>
              <a:pathLst>
                <a:path w="228854" h="1813814">
                  <a:moveTo>
                    <a:pt x="16891" y="0"/>
                  </a:moveTo>
                  <a:lnTo>
                    <a:pt x="211963" y="0"/>
                  </a:lnTo>
                  <a:cubicBezTo>
                    <a:pt x="221361" y="0"/>
                    <a:pt x="228854" y="7620"/>
                    <a:pt x="228854" y="16891"/>
                  </a:cubicBezTo>
                  <a:lnTo>
                    <a:pt x="228854" y="1796923"/>
                  </a:lnTo>
                  <a:cubicBezTo>
                    <a:pt x="228854" y="1806321"/>
                    <a:pt x="221234" y="1813814"/>
                    <a:pt x="211963" y="1813814"/>
                  </a:cubicBezTo>
                  <a:lnTo>
                    <a:pt x="16891" y="1813814"/>
                  </a:lnTo>
                  <a:cubicBezTo>
                    <a:pt x="7493" y="1813814"/>
                    <a:pt x="0" y="1806194"/>
                    <a:pt x="0" y="1796923"/>
                  </a:cubicBezTo>
                  <a:lnTo>
                    <a:pt x="0" y="16891"/>
                  </a:lnTo>
                  <a:cubicBezTo>
                    <a:pt x="0" y="7620"/>
                    <a:pt x="7620" y="0"/>
                    <a:pt x="16891" y="0"/>
                  </a:cubicBezTo>
                  <a:moveTo>
                    <a:pt x="16891" y="33909"/>
                  </a:moveTo>
                  <a:lnTo>
                    <a:pt x="16891" y="16891"/>
                  </a:lnTo>
                  <a:lnTo>
                    <a:pt x="33909" y="16891"/>
                  </a:lnTo>
                  <a:lnTo>
                    <a:pt x="33909" y="1796923"/>
                  </a:lnTo>
                  <a:lnTo>
                    <a:pt x="16891" y="1796923"/>
                  </a:lnTo>
                  <a:lnTo>
                    <a:pt x="16891" y="1780032"/>
                  </a:lnTo>
                  <a:lnTo>
                    <a:pt x="211963" y="1780032"/>
                  </a:lnTo>
                  <a:lnTo>
                    <a:pt x="211963" y="1796923"/>
                  </a:lnTo>
                  <a:lnTo>
                    <a:pt x="195072" y="1796923"/>
                  </a:lnTo>
                  <a:lnTo>
                    <a:pt x="195072" y="16891"/>
                  </a:lnTo>
                  <a:lnTo>
                    <a:pt x="211963" y="16891"/>
                  </a:lnTo>
                  <a:lnTo>
                    <a:pt x="211963" y="33909"/>
                  </a:lnTo>
                  <a:lnTo>
                    <a:pt x="16891" y="33909"/>
                  </a:lnTo>
                  <a:close/>
                </a:path>
              </a:pathLst>
            </a:custGeom>
            <a:solidFill>
              <a:srgbClr val="9B7FD4"/>
            </a:solidFill>
          </p:spPr>
          <p:txBody>
            <a:bodyPr/>
            <a:lstStyle/>
            <a:p>
              <a:endParaRPr lang="es-GT"/>
            </a:p>
          </p:txBody>
        </p:sp>
      </p:grpSp>
      <p:grpSp>
        <p:nvGrpSpPr>
          <p:cNvPr id="63" name="Group 63"/>
          <p:cNvGrpSpPr/>
          <p:nvPr/>
        </p:nvGrpSpPr>
        <p:grpSpPr>
          <a:xfrm>
            <a:off x="9656064" y="8412480"/>
            <a:ext cx="7589520" cy="438912"/>
            <a:chOff x="0" y="0"/>
            <a:chExt cx="10119360" cy="585216"/>
          </a:xfrm>
        </p:grpSpPr>
        <p:sp>
          <p:nvSpPr>
            <p:cNvPr id="64" name="Freeform 64"/>
            <p:cNvSpPr/>
            <p:nvPr/>
          </p:nvSpPr>
          <p:spPr>
            <a:xfrm>
              <a:off x="0" y="0"/>
              <a:ext cx="10119360" cy="585216"/>
            </a:xfrm>
            <a:custGeom>
              <a:avLst/>
              <a:gdLst/>
              <a:ahLst/>
              <a:cxnLst/>
              <a:rect l="l" t="t" r="r" b="b"/>
              <a:pathLst>
                <a:path w="10119360" h="585216">
                  <a:moveTo>
                    <a:pt x="0" y="0"/>
                  </a:moveTo>
                  <a:lnTo>
                    <a:pt x="10119360" y="0"/>
                  </a:lnTo>
                  <a:lnTo>
                    <a:pt x="10119360" y="585216"/>
                  </a:lnTo>
                  <a:lnTo>
                    <a:pt x="0" y="585216"/>
                  </a:lnTo>
                  <a:close/>
                </a:path>
              </a:pathLst>
            </a:custGeom>
            <a:blipFill>
              <a:blip r:embed="rId3">
                <a:alphaModFix amt="0"/>
              </a:blip>
              <a:stretch>
                <a:fillRect t="-286928" b="-286928"/>
              </a:stretch>
            </a:blipFill>
          </p:spPr>
          <p:txBody>
            <a:bodyPr/>
            <a:lstStyle/>
            <a:p>
              <a:endParaRPr lang="es-GT"/>
            </a:p>
          </p:txBody>
        </p:sp>
        <p:sp>
          <p:nvSpPr>
            <p:cNvPr id="65" name="TextBox 65"/>
            <p:cNvSpPr txBox="1"/>
            <p:nvPr/>
          </p:nvSpPr>
          <p:spPr>
            <a:xfrm>
              <a:off x="0" y="-38100"/>
              <a:ext cx="10119360" cy="623316"/>
            </a:xfrm>
            <a:prstGeom prst="rect">
              <a:avLst/>
            </a:prstGeom>
          </p:spPr>
          <p:txBody>
            <a:bodyPr lIns="0" tIns="0" rIns="0" bIns="0" rtlCol="0" anchor="ctr"/>
            <a:lstStyle/>
            <a:p>
              <a:pPr algn="l">
                <a:lnSpc>
                  <a:spcPts val="2400"/>
                </a:lnSpc>
              </a:pPr>
              <a:r>
                <a:rPr lang="en-US" sz="2000" b="1">
                  <a:solidFill>
                    <a:srgbClr val="9B7FD4"/>
                  </a:solidFill>
                  <a:latin typeface="Calibri (MS) Bold"/>
                  <a:ea typeface="Calibri (MS) Bold"/>
                  <a:cs typeface="Calibri (MS) Bold"/>
                  <a:sym typeface="Calibri (MS) Bold"/>
                </a:rPr>
                <a:t>Encapsulamiento de la lógica</a:t>
              </a:r>
            </a:p>
          </p:txBody>
        </p:sp>
      </p:grpSp>
      <p:sp>
        <p:nvSpPr>
          <p:cNvPr id="66" name="TextBox 66"/>
          <p:cNvSpPr txBox="1"/>
          <p:nvPr/>
        </p:nvSpPr>
        <p:spPr>
          <a:xfrm>
            <a:off x="9747504" y="8913876"/>
            <a:ext cx="7406640" cy="605028"/>
          </a:xfrm>
          <a:prstGeom prst="rect">
            <a:avLst/>
          </a:prstGeom>
        </p:spPr>
        <p:txBody>
          <a:bodyPr lIns="0" tIns="0" rIns="0" bIns="0" rtlCol="0" anchor="t">
            <a:spAutoFit/>
          </a:bodyPr>
          <a:lstStyle/>
          <a:p>
            <a:pPr algn="l">
              <a:lnSpc>
                <a:spcPts val="2112"/>
              </a:lnSpc>
            </a:pPr>
            <a:r>
              <a:rPr lang="en-US" sz="1760">
                <a:solidFill>
                  <a:srgbClr val="FFFFFF"/>
                </a:solidFill>
                <a:latin typeface="Calibri (MS)"/>
                <a:ea typeface="Calibri (MS)"/>
                <a:cs typeface="Calibri (MS)"/>
                <a:sym typeface="Calibri (MS)"/>
              </a:rPr>
              <a:t>La regla de aprobación (&gt;= 61) está en un único lugar. Si cambia a &gt;= 65, basta modificarlo en el subproceso y las 3 invocaciones se actualizan.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E2235"/>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16891" y="16891"/>
              <a:ext cx="24383999" cy="1755648"/>
            </a:xfrm>
            <a:custGeom>
              <a:avLst/>
              <a:gdLst/>
              <a:ahLst/>
              <a:cxnLst/>
              <a:rect l="l" t="t" r="r" b="b"/>
              <a:pathLst>
                <a:path w="24383999" h="1755648">
                  <a:moveTo>
                    <a:pt x="0" y="0"/>
                  </a:moveTo>
                  <a:lnTo>
                    <a:pt x="24383999" y="0"/>
                  </a:lnTo>
                  <a:lnTo>
                    <a:pt x="24383999" y="1755648"/>
                  </a:lnTo>
                  <a:lnTo>
                    <a:pt x="0" y="1755648"/>
                  </a:lnTo>
                  <a:close/>
                </a:path>
              </a:pathLst>
            </a:custGeom>
            <a:solidFill>
              <a:srgbClr val="161929"/>
            </a:solidFill>
          </p:spPr>
          <p:txBody>
            <a:bodyPr/>
            <a:lstStyle/>
            <a:p>
              <a:endParaRPr lang="es-GT"/>
            </a:p>
          </p:txBody>
        </p:sp>
        <p:sp>
          <p:nvSpPr>
            <p:cNvPr id="4" name="Freeform 4"/>
            <p:cNvSpPr/>
            <p:nvPr/>
          </p:nvSpPr>
          <p:spPr>
            <a:xfrm>
              <a:off x="0" y="0"/>
              <a:ext cx="24417782" cy="1789430"/>
            </a:xfrm>
            <a:custGeom>
              <a:avLst/>
              <a:gdLst/>
              <a:ahLst/>
              <a:cxnLst/>
              <a:rect l="l" t="t" r="r" b="b"/>
              <a:pathLst>
                <a:path w="24417782" h="1789430">
                  <a:moveTo>
                    <a:pt x="16891" y="0"/>
                  </a:moveTo>
                  <a:lnTo>
                    <a:pt x="24400890" y="0"/>
                  </a:lnTo>
                  <a:cubicBezTo>
                    <a:pt x="24410290" y="0"/>
                    <a:pt x="24417782" y="7620"/>
                    <a:pt x="24417782" y="16891"/>
                  </a:cubicBezTo>
                  <a:lnTo>
                    <a:pt x="24417782" y="1772539"/>
                  </a:lnTo>
                  <a:cubicBezTo>
                    <a:pt x="24417782" y="1781937"/>
                    <a:pt x="24410163" y="1789430"/>
                    <a:pt x="24400890"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24400890" y="1755648"/>
                  </a:lnTo>
                  <a:lnTo>
                    <a:pt x="24400890" y="1772539"/>
                  </a:lnTo>
                  <a:lnTo>
                    <a:pt x="24384000" y="1772539"/>
                  </a:lnTo>
                  <a:lnTo>
                    <a:pt x="24384000" y="16891"/>
                  </a:lnTo>
                  <a:lnTo>
                    <a:pt x="24400890" y="16891"/>
                  </a:lnTo>
                  <a:lnTo>
                    <a:pt x="24400890" y="33909"/>
                  </a:lnTo>
                  <a:lnTo>
                    <a:pt x="16891" y="33909"/>
                  </a:lnTo>
                  <a:close/>
                </a:path>
              </a:pathLst>
            </a:custGeom>
            <a:solidFill>
              <a:srgbClr val="161929"/>
            </a:solidFill>
          </p:spPr>
          <p:txBody>
            <a:bodyPr/>
            <a:lstStyle/>
            <a:p>
              <a:endParaRPr lang="es-GT"/>
            </a:p>
          </p:txBody>
        </p:sp>
      </p:grpSp>
      <p:grpSp>
        <p:nvGrpSpPr>
          <p:cNvPr id="5" name="Group 5"/>
          <p:cNvGrpSpPr/>
          <p:nvPr/>
        </p:nvGrpSpPr>
        <p:grpSpPr>
          <a:xfrm>
            <a:off x="-12697" y="1304039"/>
            <a:ext cx="18313403" cy="98555"/>
            <a:chOff x="0" y="0"/>
            <a:chExt cx="24417871" cy="131407"/>
          </a:xfrm>
        </p:grpSpPr>
        <p:sp>
          <p:nvSpPr>
            <p:cNvPr id="6" name="Freeform 6"/>
            <p:cNvSpPr/>
            <p:nvPr/>
          </p:nvSpPr>
          <p:spPr>
            <a:xfrm>
              <a:off x="16891" y="16891"/>
              <a:ext cx="24383999" cy="97536"/>
            </a:xfrm>
            <a:custGeom>
              <a:avLst/>
              <a:gdLst/>
              <a:ahLst/>
              <a:cxnLst/>
              <a:rect l="l" t="t" r="r" b="b"/>
              <a:pathLst>
                <a:path w="24383999" h="97536">
                  <a:moveTo>
                    <a:pt x="0" y="0"/>
                  </a:moveTo>
                  <a:lnTo>
                    <a:pt x="24383999" y="0"/>
                  </a:lnTo>
                  <a:lnTo>
                    <a:pt x="24383999" y="97536"/>
                  </a:lnTo>
                  <a:lnTo>
                    <a:pt x="0" y="97536"/>
                  </a:lnTo>
                  <a:close/>
                </a:path>
              </a:pathLst>
            </a:custGeom>
            <a:solidFill>
              <a:srgbClr val="5B8CFF"/>
            </a:solidFill>
          </p:spPr>
          <p:txBody>
            <a:bodyPr/>
            <a:lstStyle/>
            <a:p>
              <a:endParaRPr lang="es-GT"/>
            </a:p>
          </p:txBody>
        </p:sp>
        <p:sp>
          <p:nvSpPr>
            <p:cNvPr id="7" name="Freeform 7"/>
            <p:cNvSpPr/>
            <p:nvPr/>
          </p:nvSpPr>
          <p:spPr>
            <a:xfrm>
              <a:off x="0" y="0"/>
              <a:ext cx="24417782" cy="131320"/>
            </a:xfrm>
            <a:custGeom>
              <a:avLst/>
              <a:gdLst/>
              <a:ahLst/>
              <a:cxnLst/>
              <a:rect l="l" t="t" r="r" b="b"/>
              <a:pathLst>
                <a:path w="24417782" h="131320">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5B8CFF"/>
            </a:solidFill>
          </p:spPr>
          <p:txBody>
            <a:bodyPr/>
            <a:lstStyle/>
            <a:p>
              <a:endParaRPr lang="es-GT"/>
            </a:p>
          </p:txBody>
        </p:sp>
      </p:grpSp>
      <p:grpSp>
        <p:nvGrpSpPr>
          <p:cNvPr id="8" name="Group 8"/>
          <p:cNvGrpSpPr/>
          <p:nvPr/>
        </p:nvGrpSpPr>
        <p:grpSpPr>
          <a:xfrm>
            <a:off x="822960" y="0"/>
            <a:ext cx="16642080" cy="1316736"/>
            <a:chOff x="0" y="0"/>
            <a:chExt cx="22189440" cy="1755648"/>
          </a:xfrm>
        </p:grpSpPr>
        <p:sp>
          <p:nvSpPr>
            <p:cNvPr id="9" name="Freeform 9"/>
            <p:cNvSpPr/>
            <p:nvPr/>
          </p:nvSpPr>
          <p:spPr>
            <a:xfrm>
              <a:off x="0" y="0"/>
              <a:ext cx="22189439" cy="1755648"/>
            </a:xfrm>
            <a:custGeom>
              <a:avLst/>
              <a:gdLst/>
              <a:ahLst/>
              <a:cxnLst/>
              <a:rect l="l" t="t" r="r" b="b"/>
              <a:pathLst>
                <a:path w="22189439" h="1755648">
                  <a:moveTo>
                    <a:pt x="0" y="0"/>
                  </a:moveTo>
                  <a:lnTo>
                    <a:pt x="22189439" y="0"/>
                  </a:lnTo>
                  <a:lnTo>
                    <a:pt x="22189439" y="1755648"/>
                  </a:lnTo>
                  <a:lnTo>
                    <a:pt x="0" y="1755648"/>
                  </a:lnTo>
                  <a:close/>
                </a:path>
              </a:pathLst>
            </a:custGeom>
            <a:blipFill>
              <a:blip r:embed="rId3">
                <a:alphaModFix amt="0"/>
              </a:blip>
              <a:stretch>
                <a:fillRect t="-196269" b="-196269"/>
              </a:stretch>
            </a:blipFill>
          </p:spPr>
          <p:txBody>
            <a:bodyPr/>
            <a:lstStyle/>
            <a:p>
              <a:endParaRPr lang="es-GT"/>
            </a:p>
          </p:txBody>
        </p:sp>
        <p:sp>
          <p:nvSpPr>
            <p:cNvPr id="10" name="TextBox 10"/>
            <p:cNvSpPr txBox="1"/>
            <p:nvPr/>
          </p:nvSpPr>
          <p:spPr>
            <a:xfrm>
              <a:off x="0" y="-76200"/>
              <a:ext cx="22189440" cy="1831848"/>
            </a:xfrm>
            <a:prstGeom prst="rect">
              <a:avLst/>
            </a:prstGeom>
          </p:spPr>
          <p:txBody>
            <a:bodyPr lIns="0" tIns="0" rIns="0" bIns="0" rtlCol="0" anchor="ctr"/>
            <a:lstStyle/>
            <a:p>
              <a:pPr algn="l">
                <a:lnSpc>
                  <a:spcPts val="5280"/>
                </a:lnSpc>
              </a:pPr>
              <a:r>
                <a:rPr lang="en-US" sz="4400" b="1">
                  <a:solidFill>
                    <a:srgbClr val="FFFFFF"/>
                  </a:solidFill>
                  <a:latin typeface="Calibri (MS) Bold"/>
                  <a:ea typeface="Calibri (MS) Bold"/>
                  <a:cs typeface="Calibri (MS) Bold"/>
                  <a:sym typeface="Calibri (MS) Bold"/>
                </a:rPr>
                <a:t>Subproceso tipo 3 – Recibe datos y devuelve un resultado</a:t>
              </a:r>
            </a:p>
          </p:txBody>
        </p:sp>
      </p:grpSp>
      <p:grpSp>
        <p:nvGrpSpPr>
          <p:cNvPr id="11" name="Group 11"/>
          <p:cNvGrpSpPr/>
          <p:nvPr/>
        </p:nvGrpSpPr>
        <p:grpSpPr>
          <a:xfrm>
            <a:off x="-12697" y="9954263"/>
            <a:ext cx="18313403" cy="345443"/>
            <a:chOff x="0" y="0"/>
            <a:chExt cx="24417871" cy="460591"/>
          </a:xfrm>
        </p:grpSpPr>
        <p:sp>
          <p:nvSpPr>
            <p:cNvPr id="12" name="Freeform 12"/>
            <p:cNvSpPr/>
            <p:nvPr/>
          </p:nvSpPr>
          <p:spPr>
            <a:xfrm>
              <a:off x="16891" y="16891"/>
              <a:ext cx="24383999" cy="426720"/>
            </a:xfrm>
            <a:custGeom>
              <a:avLst/>
              <a:gdLst/>
              <a:ahLst/>
              <a:cxnLst/>
              <a:rect l="l" t="t" r="r" b="b"/>
              <a:pathLst>
                <a:path w="24383999" h="426720">
                  <a:moveTo>
                    <a:pt x="0" y="0"/>
                  </a:moveTo>
                  <a:lnTo>
                    <a:pt x="24383999" y="0"/>
                  </a:lnTo>
                  <a:lnTo>
                    <a:pt x="24383999" y="426720"/>
                  </a:lnTo>
                  <a:lnTo>
                    <a:pt x="0" y="426720"/>
                  </a:lnTo>
                  <a:close/>
                </a:path>
              </a:pathLst>
            </a:custGeom>
            <a:solidFill>
              <a:srgbClr val="12152A"/>
            </a:solidFill>
          </p:spPr>
          <p:txBody>
            <a:bodyPr/>
            <a:lstStyle/>
            <a:p>
              <a:endParaRPr lang="es-GT"/>
            </a:p>
          </p:txBody>
        </p:sp>
        <p:sp>
          <p:nvSpPr>
            <p:cNvPr id="13" name="Freeform 13"/>
            <p:cNvSpPr/>
            <p:nvPr/>
          </p:nvSpPr>
          <p:spPr>
            <a:xfrm>
              <a:off x="0" y="0"/>
              <a:ext cx="24417782" cy="460504"/>
            </a:xfrm>
            <a:custGeom>
              <a:avLst/>
              <a:gdLst/>
              <a:ahLst/>
              <a:cxnLst/>
              <a:rect l="l" t="t" r="r" b="b"/>
              <a:pathLst>
                <a:path w="24417782" h="460504">
                  <a:moveTo>
                    <a:pt x="16891" y="0"/>
                  </a:moveTo>
                  <a:lnTo>
                    <a:pt x="24400890" y="0"/>
                  </a:lnTo>
                  <a:cubicBezTo>
                    <a:pt x="24410290" y="0"/>
                    <a:pt x="24417782" y="7620"/>
                    <a:pt x="24417782" y="16891"/>
                  </a:cubicBezTo>
                  <a:lnTo>
                    <a:pt x="24417782" y="443611"/>
                  </a:lnTo>
                  <a:cubicBezTo>
                    <a:pt x="24417782" y="453009"/>
                    <a:pt x="24410163" y="460502"/>
                    <a:pt x="24400890" y="460502"/>
                  </a:cubicBezTo>
                  <a:lnTo>
                    <a:pt x="16891" y="460502"/>
                  </a:lnTo>
                  <a:cubicBezTo>
                    <a:pt x="7620" y="460629"/>
                    <a:pt x="0" y="453009"/>
                    <a:pt x="0" y="443611"/>
                  </a:cubicBezTo>
                  <a:lnTo>
                    <a:pt x="0" y="16891"/>
                  </a:lnTo>
                  <a:cubicBezTo>
                    <a:pt x="0" y="7620"/>
                    <a:pt x="7620" y="0"/>
                    <a:pt x="16891" y="0"/>
                  </a:cubicBezTo>
                  <a:moveTo>
                    <a:pt x="16891" y="33909"/>
                  </a:moveTo>
                  <a:lnTo>
                    <a:pt x="16891" y="16891"/>
                  </a:lnTo>
                  <a:lnTo>
                    <a:pt x="33909" y="16891"/>
                  </a:lnTo>
                  <a:lnTo>
                    <a:pt x="33909" y="443611"/>
                  </a:lnTo>
                  <a:lnTo>
                    <a:pt x="16891" y="443611"/>
                  </a:lnTo>
                  <a:lnTo>
                    <a:pt x="16891" y="426720"/>
                  </a:lnTo>
                  <a:lnTo>
                    <a:pt x="24400890" y="426720"/>
                  </a:lnTo>
                  <a:lnTo>
                    <a:pt x="24400890" y="443611"/>
                  </a:lnTo>
                  <a:lnTo>
                    <a:pt x="24384000" y="443611"/>
                  </a:lnTo>
                  <a:lnTo>
                    <a:pt x="24384000" y="16891"/>
                  </a:lnTo>
                  <a:lnTo>
                    <a:pt x="24400890" y="16891"/>
                  </a:lnTo>
                  <a:lnTo>
                    <a:pt x="24400890" y="33909"/>
                  </a:lnTo>
                  <a:lnTo>
                    <a:pt x="16891" y="33909"/>
                  </a:lnTo>
                  <a:close/>
                </a:path>
              </a:pathLst>
            </a:custGeom>
            <a:solidFill>
              <a:srgbClr val="12152A"/>
            </a:solidFill>
          </p:spPr>
          <p:txBody>
            <a:bodyPr/>
            <a:lstStyle/>
            <a:p>
              <a:endParaRPr lang="es-GT"/>
            </a:p>
          </p:txBody>
        </p:sp>
      </p:grpSp>
      <p:grpSp>
        <p:nvGrpSpPr>
          <p:cNvPr id="14" name="Group 14"/>
          <p:cNvGrpSpPr/>
          <p:nvPr/>
        </p:nvGrpSpPr>
        <p:grpSpPr>
          <a:xfrm>
            <a:off x="17007840" y="9966960"/>
            <a:ext cx="914400" cy="320040"/>
            <a:chOff x="0" y="0"/>
            <a:chExt cx="1219200" cy="426720"/>
          </a:xfrm>
        </p:grpSpPr>
        <p:sp>
          <p:nvSpPr>
            <p:cNvPr id="15" name="Freeform 15"/>
            <p:cNvSpPr/>
            <p:nvPr/>
          </p:nvSpPr>
          <p:spPr>
            <a:xfrm>
              <a:off x="0" y="0"/>
              <a:ext cx="1219200" cy="426720"/>
            </a:xfrm>
            <a:custGeom>
              <a:avLst/>
              <a:gdLst/>
              <a:ahLst/>
              <a:cxnLst/>
              <a:rect l="l" t="t" r="r" b="b"/>
              <a:pathLst>
                <a:path w="1219200" h="426720">
                  <a:moveTo>
                    <a:pt x="0" y="0"/>
                  </a:moveTo>
                  <a:lnTo>
                    <a:pt x="1219200" y="0"/>
                  </a:lnTo>
                  <a:lnTo>
                    <a:pt x="1219200" y="426720"/>
                  </a:lnTo>
                  <a:lnTo>
                    <a:pt x="0" y="426720"/>
                  </a:lnTo>
                  <a:close/>
                </a:path>
              </a:pathLst>
            </a:custGeom>
            <a:blipFill>
              <a:blip r:embed="rId3">
                <a:alphaModFix amt="0"/>
              </a:blip>
              <a:stretch>
                <a:fillRect t="-5671" b="-5671"/>
              </a:stretch>
            </a:blipFill>
          </p:spPr>
          <p:txBody>
            <a:bodyPr/>
            <a:lstStyle/>
            <a:p>
              <a:endParaRPr lang="es-GT"/>
            </a:p>
          </p:txBody>
        </p:sp>
        <p:sp>
          <p:nvSpPr>
            <p:cNvPr id="16" name="TextBox 16"/>
            <p:cNvSpPr txBox="1"/>
            <p:nvPr/>
          </p:nvSpPr>
          <p:spPr>
            <a:xfrm>
              <a:off x="0" y="-38100"/>
              <a:ext cx="1219200" cy="464820"/>
            </a:xfrm>
            <a:prstGeom prst="rect">
              <a:avLst/>
            </a:prstGeom>
          </p:spPr>
          <p:txBody>
            <a:bodyPr lIns="0" tIns="0" rIns="0" bIns="0" rtlCol="0" anchor="ctr"/>
            <a:lstStyle/>
            <a:p>
              <a:pPr algn="r">
                <a:lnSpc>
                  <a:spcPts val="1800"/>
                </a:lnSpc>
              </a:pPr>
              <a:r>
                <a:rPr lang="en-US" sz="1500">
                  <a:solidFill>
                    <a:srgbClr val="6E7A9F"/>
                  </a:solidFill>
                  <a:latin typeface="Calibri (MS)"/>
                  <a:ea typeface="Calibri (MS)"/>
                  <a:cs typeface="Calibri (MS)"/>
                  <a:sym typeface="Calibri (MS)"/>
                </a:rPr>
                <a:t>32</a:t>
              </a:r>
            </a:p>
          </p:txBody>
        </p:sp>
      </p:grpSp>
      <p:grpSp>
        <p:nvGrpSpPr>
          <p:cNvPr id="17" name="Group 17"/>
          <p:cNvGrpSpPr/>
          <p:nvPr/>
        </p:nvGrpSpPr>
        <p:grpSpPr>
          <a:xfrm>
            <a:off x="731520" y="1554480"/>
            <a:ext cx="16824960" cy="731520"/>
            <a:chOff x="0" y="0"/>
            <a:chExt cx="22433280" cy="975360"/>
          </a:xfrm>
        </p:grpSpPr>
        <p:sp>
          <p:nvSpPr>
            <p:cNvPr id="18" name="Freeform 18"/>
            <p:cNvSpPr/>
            <p:nvPr/>
          </p:nvSpPr>
          <p:spPr>
            <a:xfrm>
              <a:off x="0" y="0"/>
              <a:ext cx="22433280" cy="975360"/>
            </a:xfrm>
            <a:custGeom>
              <a:avLst/>
              <a:gdLst/>
              <a:ahLst/>
              <a:cxnLst/>
              <a:rect l="l" t="t" r="r" b="b"/>
              <a:pathLst>
                <a:path w="22433280" h="975360">
                  <a:moveTo>
                    <a:pt x="0" y="0"/>
                  </a:moveTo>
                  <a:lnTo>
                    <a:pt x="22433280" y="0"/>
                  </a:lnTo>
                  <a:lnTo>
                    <a:pt x="22433280" y="975360"/>
                  </a:lnTo>
                  <a:lnTo>
                    <a:pt x="0" y="975360"/>
                  </a:lnTo>
                  <a:close/>
                </a:path>
              </a:pathLst>
            </a:custGeom>
            <a:blipFill>
              <a:blip r:embed="rId3">
                <a:alphaModFix amt="0"/>
              </a:blip>
              <a:stretch>
                <a:fillRect t="-398155" b="-398155"/>
              </a:stretch>
            </a:blipFill>
          </p:spPr>
          <p:txBody>
            <a:bodyPr/>
            <a:lstStyle/>
            <a:p>
              <a:endParaRPr lang="es-GT"/>
            </a:p>
          </p:txBody>
        </p:sp>
        <p:sp>
          <p:nvSpPr>
            <p:cNvPr id="19" name="TextBox 19"/>
            <p:cNvSpPr txBox="1"/>
            <p:nvPr/>
          </p:nvSpPr>
          <p:spPr>
            <a:xfrm>
              <a:off x="0" y="-47625"/>
              <a:ext cx="22433280" cy="1022985"/>
            </a:xfrm>
            <a:prstGeom prst="rect">
              <a:avLst/>
            </a:prstGeom>
          </p:spPr>
          <p:txBody>
            <a:bodyPr lIns="0" tIns="0" rIns="0" bIns="0" rtlCol="0" anchor="ctr"/>
            <a:lstStyle/>
            <a:p>
              <a:pPr algn="l">
                <a:lnSpc>
                  <a:spcPts val="2520"/>
                </a:lnSpc>
              </a:pPr>
              <a:r>
                <a:rPr lang="en-US" sz="2100">
                  <a:solidFill>
                    <a:srgbClr val="B0B8CC"/>
                  </a:solidFill>
                  <a:latin typeface="Calibri (MS)"/>
                  <a:ea typeface="Calibri (MS)"/>
                  <a:cs typeface="Calibri (MS)"/>
                  <a:sym typeface="Calibri (MS)"/>
                </a:rPr>
                <a:t>Cuando el algoritmo principal necesita que un subproceso calcule un valor y se lo entregue de vuelta, se utiliza la estructura Funcion ... FinFuncion con la instrucción retorno:</a:t>
              </a:r>
            </a:p>
          </p:txBody>
        </p:sp>
      </p:grpSp>
      <p:grpSp>
        <p:nvGrpSpPr>
          <p:cNvPr id="20" name="Group 20"/>
          <p:cNvGrpSpPr/>
          <p:nvPr/>
        </p:nvGrpSpPr>
        <p:grpSpPr>
          <a:xfrm>
            <a:off x="718823" y="2511047"/>
            <a:ext cx="8255003" cy="7249163"/>
            <a:chOff x="0" y="0"/>
            <a:chExt cx="11006671" cy="9665551"/>
          </a:xfrm>
        </p:grpSpPr>
        <p:sp>
          <p:nvSpPr>
            <p:cNvPr id="21" name="Freeform 21"/>
            <p:cNvSpPr/>
            <p:nvPr/>
          </p:nvSpPr>
          <p:spPr>
            <a:xfrm>
              <a:off x="16891" y="16891"/>
              <a:ext cx="10972800" cy="9631681"/>
            </a:xfrm>
            <a:custGeom>
              <a:avLst/>
              <a:gdLst/>
              <a:ahLst/>
              <a:cxnLst/>
              <a:rect l="l" t="t" r="r" b="b"/>
              <a:pathLst>
                <a:path w="10972800" h="9631681">
                  <a:moveTo>
                    <a:pt x="0" y="0"/>
                  </a:moveTo>
                  <a:lnTo>
                    <a:pt x="10972800" y="0"/>
                  </a:lnTo>
                  <a:lnTo>
                    <a:pt x="10972800" y="9631681"/>
                  </a:lnTo>
                  <a:lnTo>
                    <a:pt x="0" y="9631681"/>
                  </a:lnTo>
                  <a:close/>
                </a:path>
              </a:pathLst>
            </a:custGeom>
            <a:solidFill>
              <a:srgbClr val="0D1020"/>
            </a:solidFill>
          </p:spPr>
          <p:txBody>
            <a:bodyPr/>
            <a:lstStyle/>
            <a:p>
              <a:endParaRPr lang="es-GT"/>
            </a:p>
          </p:txBody>
        </p:sp>
        <p:sp>
          <p:nvSpPr>
            <p:cNvPr id="22" name="Freeform 22"/>
            <p:cNvSpPr/>
            <p:nvPr/>
          </p:nvSpPr>
          <p:spPr>
            <a:xfrm>
              <a:off x="0" y="0"/>
              <a:ext cx="11006582" cy="9665462"/>
            </a:xfrm>
            <a:custGeom>
              <a:avLst/>
              <a:gdLst/>
              <a:ahLst/>
              <a:cxnLst/>
              <a:rect l="l" t="t" r="r" b="b"/>
              <a:pathLst>
                <a:path w="11006582" h="9665462">
                  <a:moveTo>
                    <a:pt x="16891" y="0"/>
                  </a:moveTo>
                  <a:lnTo>
                    <a:pt x="10989691" y="0"/>
                  </a:lnTo>
                  <a:cubicBezTo>
                    <a:pt x="10999089" y="0"/>
                    <a:pt x="11006582" y="7620"/>
                    <a:pt x="11006582" y="16891"/>
                  </a:cubicBezTo>
                  <a:lnTo>
                    <a:pt x="11006582" y="9648572"/>
                  </a:lnTo>
                  <a:cubicBezTo>
                    <a:pt x="11006582" y="9657969"/>
                    <a:pt x="10998962" y="9665462"/>
                    <a:pt x="10989691" y="9665462"/>
                  </a:cubicBezTo>
                  <a:lnTo>
                    <a:pt x="16891" y="9665462"/>
                  </a:lnTo>
                  <a:cubicBezTo>
                    <a:pt x="7493" y="9665462"/>
                    <a:pt x="0" y="9657842"/>
                    <a:pt x="0" y="9648572"/>
                  </a:cubicBezTo>
                  <a:lnTo>
                    <a:pt x="0" y="16891"/>
                  </a:lnTo>
                  <a:cubicBezTo>
                    <a:pt x="0" y="7620"/>
                    <a:pt x="7620" y="0"/>
                    <a:pt x="16891" y="0"/>
                  </a:cubicBezTo>
                  <a:moveTo>
                    <a:pt x="16891" y="33909"/>
                  </a:moveTo>
                  <a:lnTo>
                    <a:pt x="16891" y="16891"/>
                  </a:lnTo>
                  <a:lnTo>
                    <a:pt x="33909" y="16891"/>
                  </a:lnTo>
                  <a:lnTo>
                    <a:pt x="33909" y="9648572"/>
                  </a:lnTo>
                  <a:lnTo>
                    <a:pt x="16891" y="9648572"/>
                  </a:lnTo>
                  <a:lnTo>
                    <a:pt x="16891" y="9631680"/>
                  </a:lnTo>
                  <a:lnTo>
                    <a:pt x="10989691" y="9631680"/>
                  </a:lnTo>
                  <a:lnTo>
                    <a:pt x="10989691" y="9648572"/>
                  </a:lnTo>
                  <a:lnTo>
                    <a:pt x="10972800" y="9648572"/>
                  </a:lnTo>
                  <a:lnTo>
                    <a:pt x="10972800" y="16891"/>
                  </a:lnTo>
                  <a:lnTo>
                    <a:pt x="10989691" y="16891"/>
                  </a:lnTo>
                  <a:lnTo>
                    <a:pt x="10989691" y="33909"/>
                  </a:lnTo>
                  <a:lnTo>
                    <a:pt x="16891" y="33909"/>
                  </a:lnTo>
                  <a:close/>
                </a:path>
              </a:pathLst>
            </a:custGeom>
            <a:solidFill>
              <a:srgbClr val="9B7FD4"/>
            </a:solidFill>
          </p:spPr>
          <p:txBody>
            <a:bodyPr/>
            <a:lstStyle/>
            <a:p>
              <a:endParaRPr lang="es-GT"/>
            </a:p>
          </p:txBody>
        </p:sp>
      </p:grpSp>
      <p:grpSp>
        <p:nvGrpSpPr>
          <p:cNvPr id="23" name="Group 23"/>
          <p:cNvGrpSpPr/>
          <p:nvPr/>
        </p:nvGrpSpPr>
        <p:grpSpPr>
          <a:xfrm>
            <a:off x="1005840" y="2651760"/>
            <a:ext cx="7680960" cy="512064"/>
            <a:chOff x="0" y="0"/>
            <a:chExt cx="10241280" cy="682752"/>
          </a:xfrm>
        </p:grpSpPr>
        <p:sp>
          <p:nvSpPr>
            <p:cNvPr id="24" name="Freeform 24"/>
            <p:cNvSpPr/>
            <p:nvPr/>
          </p:nvSpPr>
          <p:spPr>
            <a:xfrm>
              <a:off x="0" y="0"/>
              <a:ext cx="10241280" cy="682752"/>
            </a:xfrm>
            <a:custGeom>
              <a:avLst/>
              <a:gdLst/>
              <a:ahLst/>
              <a:cxnLst/>
              <a:rect l="l" t="t" r="r" b="b"/>
              <a:pathLst>
                <a:path w="10241280" h="682752">
                  <a:moveTo>
                    <a:pt x="0" y="0"/>
                  </a:moveTo>
                  <a:lnTo>
                    <a:pt x="10241280" y="0"/>
                  </a:lnTo>
                  <a:lnTo>
                    <a:pt x="10241280" y="682752"/>
                  </a:lnTo>
                  <a:lnTo>
                    <a:pt x="0" y="682752"/>
                  </a:lnTo>
                  <a:close/>
                </a:path>
              </a:pathLst>
            </a:custGeom>
            <a:blipFill>
              <a:blip r:embed="rId3">
                <a:alphaModFix amt="0"/>
              </a:blip>
              <a:stretch>
                <a:fillRect t="-242275" b="-242275"/>
              </a:stretch>
            </a:blipFill>
          </p:spPr>
          <p:txBody>
            <a:bodyPr/>
            <a:lstStyle/>
            <a:p>
              <a:endParaRPr lang="es-GT"/>
            </a:p>
          </p:txBody>
        </p:sp>
        <p:sp>
          <p:nvSpPr>
            <p:cNvPr id="25" name="TextBox 25"/>
            <p:cNvSpPr txBox="1"/>
            <p:nvPr/>
          </p:nvSpPr>
          <p:spPr>
            <a:xfrm>
              <a:off x="0" y="-38100"/>
              <a:ext cx="10241280" cy="720852"/>
            </a:xfrm>
            <a:prstGeom prst="rect">
              <a:avLst/>
            </a:prstGeom>
          </p:spPr>
          <p:txBody>
            <a:bodyPr lIns="0" tIns="0" rIns="0" bIns="0" rtlCol="0" anchor="ctr"/>
            <a:lstStyle/>
            <a:p>
              <a:pPr algn="l">
                <a:lnSpc>
                  <a:spcPts val="2280"/>
                </a:lnSpc>
              </a:pPr>
              <a:r>
                <a:rPr lang="en-US" sz="1900" b="1">
                  <a:solidFill>
                    <a:srgbClr val="9B7FD4"/>
                  </a:solidFill>
                  <a:latin typeface="Consolas Bold"/>
                  <a:ea typeface="Consolas Bold"/>
                  <a:cs typeface="Consolas Bold"/>
                  <a:sym typeface="Consolas Bold"/>
                </a:rPr>
                <a:t>Ejemplo: calcular promedio y clasificar</a:t>
              </a:r>
            </a:p>
          </p:txBody>
        </p:sp>
      </p:grpSp>
      <p:grpSp>
        <p:nvGrpSpPr>
          <p:cNvPr id="26" name="Group 26"/>
          <p:cNvGrpSpPr/>
          <p:nvPr/>
        </p:nvGrpSpPr>
        <p:grpSpPr>
          <a:xfrm>
            <a:off x="718823" y="3205991"/>
            <a:ext cx="8255003" cy="61979"/>
            <a:chOff x="0" y="0"/>
            <a:chExt cx="11006671" cy="82639"/>
          </a:xfrm>
        </p:grpSpPr>
        <p:sp>
          <p:nvSpPr>
            <p:cNvPr id="27" name="Freeform 27"/>
            <p:cNvSpPr/>
            <p:nvPr/>
          </p:nvSpPr>
          <p:spPr>
            <a:xfrm>
              <a:off x="16891" y="16891"/>
              <a:ext cx="10972800" cy="48768"/>
            </a:xfrm>
            <a:custGeom>
              <a:avLst/>
              <a:gdLst/>
              <a:ahLst/>
              <a:cxnLst/>
              <a:rect l="l" t="t" r="r" b="b"/>
              <a:pathLst>
                <a:path w="10972800" h="48768">
                  <a:moveTo>
                    <a:pt x="0" y="0"/>
                  </a:moveTo>
                  <a:lnTo>
                    <a:pt x="10972800" y="0"/>
                  </a:lnTo>
                  <a:lnTo>
                    <a:pt x="10972800" y="48768"/>
                  </a:lnTo>
                  <a:lnTo>
                    <a:pt x="0" y="48768"/>
                  </a:lnTo>
                  <a:close/>
                </a:path>
              </a:pathLst>
            </a:custGeom>
            <a:solidFill>
              <a:srgbClr val="3A4160"/>
            </a:solidFill>
          </p:spPr>
          <p:txBody>
            <a:bodyPr/>
            <a:lstStyle/>
            <a:p>
              <a:endParaRPr lang="es-GT"/>
            </a:p>
          </p:txBody>
        </p:sp>
        <p:sp>
          <p:nvSpPr>
            <p:cNvPr id="28" name="Freeform 28"/>
            <p:cNvSpPr/>
            <p:nvPr/>
          </p:nvSpPr>
          <p:spPr>
            <a:xfrm>
              <a:off x="0" y="0"/>
              <a:ext cx="11006582" cy="82552"/>
            </a:xfrm>
            <a:custGeom>
              <a:avLst/>
              <a:gdLst/>
              <a:ahLst/>
              <a:cxnLst/>
              <a:rect l="l" t="t" r="r" b="b"/>
              <a:pathLst>
                <a:path w="11006582" h="82552">
                  <a:moveTo>
                    <a:pt x="16891" y="0"/>
                  </a:moveTo>
                  <a:lnTo>
                    <a:pt x="10989691" y="0"/>
                  </a:lnTo>
                  <a:cubicBezTo>
                    <a:pt x="10999089" y="0"/>
                    <a:pt x="11006582" y="7620"/>
                    <a:pt x="11006582" y="16891"/>
                  </a:cubicBezTo>
                  <a:lnTo>
                    <a:pt x="11006582" y="65659"/>
                  </a:lnTo>
                  <a:cubicBezTo>
                    <a:pt x="11006582" y="75057"/>
                    <a:pt x="10998962" y="82550"/>
                    <a:pt x="10989691" y="82550"/>
                  </a:cubicBezTo>
                  <a:lnTo>
                    <a:pt x="16891" y="82550"/>
                  </a:lnTo>
                  <a:cubicBezTo>
                    <a:pt x="7620" y="82677"/>
                    <a:pt x="0" y="75057"/>
                    <a:pt x="0" y="65659"/>
                  </a:cubicBezTo>
                  <a:lnTo>
                    <a:pt x="0" y="16891"/>
                  </a:lnTo>
                  <a:cubicBezTo>
                    <a:pt x="0" y="7620"/>
                    <a:pt x="7620" y="0"/>
                    <a:pt x="16891" y="0"/>
                  </a:cubicBezTo>
                  <a:moveTo>
                    <a:pt x="16891" y="33909"/>
                  </a:moveTo>
                  <a:lnTo>
                    <a:pt x="16891" y="16891"/>
                  </a:lnTo>
                  <a:lnTo>
                    <a:pt x="33909" y="16891"/>
                  </a:lnTo>
                  <a:lnTo>
                    <a:pt x="33909" y="65659"/>
                  </a:lnTo>
                  <a:lnTo>
                    <a:pt x="16891" y="65659"/>
                  </a:lnTo>
                  <a:lnTo>
                    <a:pt x="16891" y="48768"/>
                  </a:lnTo>
                  <a:lnTo>
                    <a:pt x="10989691" y="48768"/>
                  </a:lnTo>
                  <a:lnTo>
                    <a:pt x="10989691" y="65659"/>
                  </a:lnTo>
                  <a:lnTo>
                    <a:pt x="10972800" y="65659"/>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sp>
        <p:nvSpPr>
          <p:cNvPr id="29" name="TextBox 29"/>
          <p:cNvSpPr txBox="1"/>
          <p:nvPr/>
        </p:nvSpPr>
        <p:spPr>
          <a:xfrm>
            <a:off x="1097280" y="3381375"/>
            <a:ext cx="7498080" cy="5876925"/>
          </a:xfrm>
          <a:prstGeom prst="rect">
            <a:avLst/>
          </a:prstGeom>
        </p:spPr>
        <p:txBody>
          <a:bodyPr lIns="0" tIns="0" rIns="0" bIns="0" rtlCol="0" anchor="t">
            <a:spAutoFit/>
          </a:bodyPr>
          <a:lstStyle/>
          <a:p>
            <a:pPr algn="l">
              <a:lnSpc>
                <a:spcPts val="2759"/>
              </a:lnSpc>
            </a:pPr>
            <a:r>
              <a:rPr lang="en-US" sz="2299">
                <a:solidFill>
                  <a:srgbClr val="C8A8FF"/>
                </a:solidFill>
                <a:latin typeface="Consolas"/>
                <a:ea typeface="Consolas"/>
                <a:cs typeface="Consolas"/>
                <a:sym typeface="Consolas"/>
              </a:rPr>
              <a:t>Algoritmo SistemaNotas</a:t>
            </a:r>
          </a:p>
          <a:p>
            <a:pPr algn="l">
              <a:lnSpc>
                <a:spcPts val="2759"/>
              </a:lnSpc>
            </a:pPr>
            <a:r>
              <a:rPr lang="en-US" sz="2299">
                <a:solidFill>
                  <a:srgbClr val="C8A8FF"/>
                </a:solidFill>
                <a:latin typeface="Consolas"/>
                <a:ea typeface="Consolas"/>
                <a:cs typeface="Consolas"/>
                <a:sym typeface="Consolas"/>
              </a:rPr>
              <a:t>   Definir n1, n2, n3, prom Como Real</a:t>
            </a:r>
          </a:p>
          <a:p>
            <a:pPr algn="l">
              <a:lnSpc>
                <a:spcPts val="2759"/>
              </a:lnSpc>
            </a:pPr>
            <a:r>
              <a:rPr lang="en-US" sz="2299">
                <a:solidFill>
                  <a:srgbClr val="C8A8FF"/>
                </a:solidFill>
                <a:latin typeface="Consolas"/>
                <a:ea typeface="Consolas"/>
                <a:cs typeface="Consolas"/>
                <a:sym typeface="Consolas"/>
              </a:rPr>
              <a:t>   Leer n1, n2, n3</a:t>
            </a:r>
          </a:p>
          <a:p>
            <a:pPr algn="l">
              <a:lnSpc>
                <a:spcPts val="2759"/>
              </a:lnSpc>
            </a:pPr>
            <a:endParaRPr lang="en-US" sz="2299">
              <a:solidFill>
                <a:srgbClr val="C8A8FF"/>
              </a:solidFill>
              <a:latin typeface="Consolas"/>
              <a:ea typeface="Consolas"/>
              <a:cs typeface="Consolas"/>
              <a:sym typeface="Consolas"/>
            </a:endParaRPr>
          </a:p>
          <a:p>
            <a:pPr algn="l">
              <a:lnSpc>
                <a:spcPts val="2759"/>
              </a:lnSpc>
            </a:pPr>
            <a:r>
              <a:rPr lang="en-US" sz="2299">
                <a:solidFill>
                  <a:srgbClr val="C8A8FF"/>
                </a:solidFill>
                <a:latin typeface="Consolas"/>
                <a:ea typeface="Consolas"/>
                <a:cs typeface="Consolas"/>
                <a:sym typeface="Consolas"/>
              </a:rPr>
              <a:t>   prom &lt;- Promedio(n1, n2, n3)</a:t>
            </a:r>
          </a:p>
          <a:p>
            <a:pPr algn="l">
              <a:lnSpc>
                <a:spcPts val="2759"/>
              </a:lnSpc>
            </a:pPr>
            <a:endParaRPr lang="en-US" sz="2299">
              <a:solidFill>
                <a:srgbClr val="C8A8FF"/>
              </a:solidFill>
              <a:latin typeface="Consolas"/>
              <a:ea typeface="Consolas"/>
              <a:cs typeface="Consolas"/>
              <a:sym typeface="Consolas"/>
            </a:endParaRPr>
          </a:p>
          <a:p>
            <a:pPr algn="l">
              <a:lnSpc>
                <a:spcPts val="2759"/>
              </a:lnSpc>
            </a:pPr>
            <a:r>
              <a:rPr lang="en-US" sz="2299">
                <a:solidFill>
                  <a:srgbClr val="C8A8FF"/>
                </a:solidFill>
                <a:latin typeface="Consolas"/>
                <a:ea typeface="Consolas"/>
                <a:cs typeface="Consolas"/>
                <a:sym typeface="Consolas"/>
              </a:rPr>
              <a:t>   Escribir "Promedio: ", prom</a:t>
            </a:r>
          </a:p>
          <a:p>
            <a:pPr algn="l">
              <a:lnSpc>
                <a:spcPts val="2759"/>
              </a:lnSpc>
            </a:pPr>
            <a:r>
              <a:rPr lang="en-US" sz="2299">
                <a:solidFill>
                  <a:srgbClr val="C8A8FF"/>
                </a:solidFill>
                <a:latin typeface="Consolas"/>
                <a:ea typeface="Consolas"/>
                <a:cs typeface="Consolas"/>
                <a:sym typeface="Consolas"/>
              </a:rPr>
              <a:t>   Si prom &gt;= 61 Entonces</a:t>
            </a:r>
          </a:p>
          <a:p>
            <a:pPr algn="l">
              <a:lnSpc>
                <a:spcPts val="2759"/>
              </a:lnSpc>
            </a:pPr>
            <a:r>
              <a:rPr lang="en-US" sz="2299">
                <a:solidFill>
                  <a:srgbClr val="C8A8FF"/>
                </a:solidFill>
                <a:latin typeface="Consolas"/>
                <a:ea typeface="Consolas"/>
                <a:cs typeface="Consolas"/>
                <a:sym typeface="Consolas"/>
              </a:rPr>
              <a:t>      Escribir "APRUEBA"</a:t>
            </a:r>
          </a:p>
          <a:p>
            <a:pPr algn="l">
              <a:lnSpc>
                <a:spcPts val="2759"/>
              </a:lnSpc>
            </a:pPr>
            <a:r>
              <a:rPr lang="en-US" sz="2299">
                <a:solidFill>
                  <a:srgbClr val="C8A8FF"/>
                </a:solidFill>
                <a:latin typeface="Consolas"/>
                <a:ea typeface="Consolas"/>
                <a:cs typeface="Consolas"/>
                <a:sym typeface="Consolas"/>
              </a:rPr>
              <a:t>   SiNo</a:t>
            </a:r>
          </a:p>
          <a:p>
            <a:pPr algn="l">
              <a:lnSpc>
                <a:spcPts val="2759"/>
              </a:lnSpc>
            </a:pPr>
            <a:r>
              <a:rPr lang="en-US" sz="2299">
                <a:solidFill>
                  <a:srgbClr val="C8A8FF"/>
                </a:solidFill>
                <a:latin typeface="Consolas"/>
                <a:ea typeface="Consolas"/>
                <a:cs typeface="Consolas"/>
                <a:sym typeface="Consolas"/>
              </a:rPr>
              <a:t>      Escribir "REPRUEBA"</a:t>
            </a:r>
          </a:p>
          <a:p>
            <a:pPr algn="l">
              <a:lnSpc>
                <a:spcPts val="2759"/>
              </a:lnSpc>
            </a:pPr>
            <a:r>
              <a:rPr lang="en-US" sz="2299">
                <a:solidFill>
                  <a:srgbClr val="C8A8FF"/>
                </a:solidFill>
                <a:latin typeface="Consolas"/>
                <a:ea typeface="Consolas"/>
                <a:cs typeface="Consolas"/>
                <a:sym typeface="Consolas"/>
              </a:rPr>
              <a:t>   FinSi</a:t>
            </a:r>
          </a:p>
          <a:p>
            <a:pPr algn="l">
              <a:lnSpc>
                <a:spcPts val="2759"/>
              </a:lnSpc>
            </a:pPr>
            <a:r>
              <a:rPr lang="en-US" sz="2299">
                <a:solidFill>
                  <a:srgbClr val="C8A8FF"/>
                </a:solidFill>
                <a:latin typeface="Consolas"/>
                <a:ea typeface="Consolas"/>
                <a:cs typeface="Consolas"/>
                <a:sym typeface="Consolas"/>
              </a:rPr>
              <a:t>FinAlgoritmo</a:t>
            </a:r>
          </a:p>
          <a:p>
            <a:pPr algn="l">
              <a:lnSpc>
                <a:spcPts val="2759"/>
              </a:lnSpc>
            </a:pPr>
            <a:endParaRPr lang="en-US" sz="2299">
              <a:solidFill>
                <a:srgbClr val="C8A8FF"/>
              </a:solidFill>
              <a:latin typeface="Consolas"/>
              <a:ea typeface="Consolas"/>
              <a:cs typeface="Consolas"/>
              <a:sym typeface="Consolas"/>
            </a:endParaRPr>
          </a:p>
          <a:p>
            <a:pPr algn="l">
              <a:lnSpc>
                <a:spcPts val="2759"/>
              </a:lnSpc>
            </a:pPr>
            <a:r>
              <a:rPr lang="en-US" sz="2299">
                <a:solidFill>
                  <a:srgbClr val="C8A8FF"/>
                </a:solidFill>
                <a:latin typeface="Consolas"/>
                <a:ea typeface="Consolas"/>
                <a:cs typeface="Consolas"/>
                <a:sym typeface="Consolas"/>
              </a:rPr>
              <a:t>Funcion resultado &lt;- Promedio(a, b, c)</a:t>
            </a:r>
          </a:p>
          <a:p>
            <a:pPr algn="l">
              <a:lnSpc>
                <a:spcPts val="2759"/>
              </a:lnSpc>
            </a:pPr>
            <a:r>
              <a:rPr lang="en-US" sz="2299">
                <a:solidFill>
                  <a:srgbClr val="C8A8FF"/>
                </a:solidFill>
                <a:latin typeface="Consolas"/>
                <a:ea typeface="Consolas"/>
                <a:cs typeface="Consolas"/>
                <a:sym typeface="Consolas"/>
              </a:rPr>
              <a:t>   resultado &lt;- (a + b + c) / 3</a:t>
            </a:r>
          </a:p>
          <a:p>
            <a:pPr algn="l">
              <a:lnSpc>
                <a:spcPts val="2759"/>
              </a:lnSpc>
            </a:pPr>
            <a:r>
              <a:rPr lang="en-US" sz="2299">
                <a:solidFill>
                  <a:srgbClr val="C8A8FF"/>
                </a:solidFill>
                <a:latin typeface="Consolas"/>
                <a:ea typeface="Consolas"/>
                <a:cs typeface="Consolas"/>
                <a:sym typeface="Consolas"/>
              </a:rPr>
              <a:t>FinFuncion</a:t>
            </a:r>
          </a:p>
        </p:txBody>
      </p:sp>
      <p:grpSp>
        <p:nvGrpSpPr>
          <p:cNvPr id="30" name="Group 30"/>
          <p:cNvGrpSpPr/>
          <p:nvPr/>
        </p:nvGrpSpPr>
        <p:grpSpPr>
          <a:xfrm>
            <a:off x="9314183" y="2511047"/>
            <a:ext cx="8255003" cy="2256539"/>
            <a:chOff x="0" y="0"/>
            <a:chExt cx="11006671" cy="3008719"/>
          </a:xfrm>
        </p:grpSpPr>
        <p:sp>
          <p:nvSpPr>
            <p:cNvPr id="31" name="Freeform 31"/>
            <p:cNvSpPr/>
            <p:nvPr/>
          </p:nvSpPr>
          <p:spPr>
            <a:xfrm>
              <a:off x="16891" y="16891"/>
              <a:ext cx="10972800" cy="2974848"/>
            </a:xfrm>
            <a:custGeom>
              <a:avLst/>
              <a:gdLst/>
              <a:ahLst/>
              <a:cxnLst/>
              <a:rect l="l" t="t" r="r" b="b"/>
              <a:pathLst>
                <a:path w="10972800" h="2974848">
                  <a:moveTo>
                    <a:pt x="0" y="0"/>
                  </a:moveTo>
                  <a:lnTo>
                    <a:pt x="10972800" y="0"/>
                  </a:lnTo>
                  <a:lnTo>
                    <a:pt x="10972800" y="2974848"/>
                  </a:lnTo>
                  <a:lnTo>
                    <a:pt x="0" y="2974848"/>
                  </a:lnTo>
                  <a:close/>
                </a:path>
              </a:pathLst>
            </a:custGeom>
            <a:solidFill>
              <a:srgbClr val="252B42"/>
            </a:solidFill>
          </p:spPr>
          <p:txBody>
            <a:bodyPr/>
            <a:lstStyle/>
            <a:p>
              <a:endParaRPr lang="es-GT"/>
            </a:p>
          </p:txBody>
        </p:sp>
        <p:sp>
          <p:nvSpPr>
            <p:cNvPr id="32" name="Freeform 32"/>
            <p:cNvSpPr/>
            <p:nvPr/>
          </p:nvSpPr>
          <p:spPr>
            <a:xfrm>
              <a:off x="0" y="0"/>
              <a:ext cx="11006582" cy="3008630"/>
            </a:xfrm>
            <a:custGeom>
              <a:avLst/>
              <a:gdLst/>
              <a:ahLst/>
              <a:cxnLst/>
              <a:rect l="l" t="t" r="r" b="b"/>
              <a:pathLst>
                <a:path w="11006582" h="3008630">
                  <a:moveTo>
                    <a:pt x="16891" y="0"/>
                  </a:moveTo>
                  <a:lnTo>
                    <a:pt x="10989691" y="0"/>
                  </a:lnTo>
                  <a:cubicBezTo>
                    <a:pt x="10999089" y="0"/>
                    <a:pt x="11006582" y="7620"/>
                    <a:pt x="11006582" y="16891"/>
                  </a:cubicBezTo>
                  <a:lnTo>
                    <a:pt x="11006582" y="2991739"/>
                  </a:lnTo>
                  <a:cubicBezTo>
                    <a:pt x="11006582" y="3001137"/>
                    <a:pt x="10998962" y="3008630"/>
                    <a:pt x="10989691" y="3008630"/>
                  </a:cubicBezTo>
                  <a:lnTo>
                    <a:pt x="16891" y="3008630"/>
                  </a:lnTo>
                  <a:cubicBezTo>
                    <a:pt x="7493" y="3008630"/>
                    <a:pt x="0" y="3001010"/>
                    <a:pt x="0" y="2991739"/>
                  </a:cubicBezTo>
                  <a:lnTo>
                    <a:pt x="0" y="16891"/>
                  </a:lnTo>
                  <a:cubicBezTo>
                    <a:pt x="0" y="7620"/>
                    <a:pt x="7620" y="0"/>
                    <a:pt x="16891" y="0"/>
                  </a:cubicBezTo>
                  <a:moveTo>
                    <a:pt x="16891" y="33909"/>
                  </a:moveTo>
                  <a:lnTo>
                    <a:pt x="16891" y="16891"/>
                  </a:lnTo>
                  <a:lnTo>
                    <a:pt x="33909" y="16891"/>
                  </a:lnTo>
                  <a:lnTo>
                    <a:pt x="33909" y="2991739"/>
                  </a:lnTo>
                  <a:lnTo>
                    <a:pt x="16891" y="2991739"/>
                  </a:lnTo>
                  <a:lnTo>
                    <a:pt x="16891" y="2974848"/>
                  </a:lnTo>
                  <a:lnTo>
                    <a:pt x="10989691" y="2974848"/>
                  </a:lnTo>
                  <a:lnTo>
                    <a:pt x="10989691" y="2991739"/>
                  </a:lnTo>
                  <a:lnTo>
                    <a:pt x="10972800" y="2991739"/>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grpSp>
        <p:nvGrpSpPr>
          <p:cNvPr id="33" name="Group 33"/>
          <p:cNvGrpSpPr/>
          <p:nvPr/>
        </p:nvGrpSpPr>
        <p:grpSpPr>
          <a:xfrm>
            <a:off x="9601200" y="2651760"/>
            <a:ext cx="7680960" cy="548640"/>
            <a:chOff x="0" y="0"/>
            <a:chExt cx="10241280" cy="731520"/>
          </a:xfrm>
        </p:grpSpPr>
        <p:sp>
          <p:nvSpPr>
            <p:cNvPr id="34" name="Freeform 34"/>
            <p:cNvSpPr/>
            <p:nvPr/>
          </p:nvSpPr>
          <p:spPr>
            <a:xfrm>
              <a:off x="0" y="0"/>
              <a:ext cx="10241280" cy="731520"/>
            </a:xfrm>
            <a:custGeom>
              <a:avLst/>
              <a:gdLst/>
              <a:ahLst/>
              <a:cxnLst/>
              <a:rect l="l" t="t" r="r" b="b"/>
              <a:pathLst>
                <a:path w="10241280" h="731520">
                  <a:moveTo>
                    <a:pt x="0" y="0"/>
                  </a:moveTo>
                  <a:lnTo>
                    <a:pt x="10241280" y="0"/>
                  </a:lnTo>
                  <a:lnTo>
                    <a:pt x="10241280" y="731520"/>
                  </a:lnTo>
                  <a:lnTo>
                    <a:pt x="0" y="731520"/>
                  </a:lnTo>
                  <a:close/>
                </a:path>
              </a:pathLst>
            </a:custGeom>
            <a:blipFill>
              <a:blip r:embed="rId3">
                <a:alphaModFix amt="0"/>
              </a:blip>
              <a:stretch>
                <a:fillRect t="-222790" b="-222790"/>
              </a:stretch>
            </a:blipFill>
          </p:spPr>
          <p:txBody>
            <a:bodyPr/>
            <a:lstStyle/>
            <a:p>
              <a:endParaRPr lang="es-GT"/>
            </a:p>
          </p:txBody>
        </p:sp>
        <p:sp>
          <p:nvSpPr>
            <p:cNvPr id="35" name="TextBox 35"/>
            <p:cNvSpPr txBox="1"/>
            <p:nvPr/>
          </p:nvSpPr>
          <p:spPr>
            <a:xfrm>
              <a:off x="0" y="-47625"/>
              <a:ext cx="10241280" cy="779145"/>
            </a:xfrm>
            <a:prstGeom prst="rect">
              <a:avLst/>
            </a:prstGeom>
          </p:spPr>
          <p:txBody>
            <a:bodyPr lIns="0" tIns="0" rIns="0" bIns="0" rtlCol="0" anchor="ctr"/>
            <a:lstStyle/>
            <a:p>
              <a:pPr algn="l">
                <a:lnSpc>
                  <a:spcPts val="2640"/>
                </a:lnSpc>
              </a:pPr>
              <a:r>
                <a:rPr lang="en-US" sz="2200" b="1">
                  <a:solidFill>
                    <a:srgbClr val="9B7FD4"/>
                  </a:solidFill>
                  <a:latin typeface="Calibri (MS) Bold"/>
                  <a:ea typeface="Calibri (MS) Bold"/>
                  <a:cs typeface="Calibri (MS) Bold"/>
                  <a:sym typeface="Calibri (MS) Bold"/>
                </a:rPr>
                <a:t>Diferencia clave respecto a los tipos anteriores</a:t>
              </a:r>
            </a:p>
          </p:txBody>
        </p:sp>
      </p:grpSp>
      <p:sp>
        <p:nvSpPr>
          <p:cNvPr id="36" name="TextBox 36"/>
          <p:cNvSpPr txBox="1"/>
          <p:nvPr/>
        </p:nvSpPr>
        <p:spPr>
          <a:xfrm>
            <a:off x="9692640" y="3336036"/>
            <a:ext cx="7498080" cy="1263396"/>
          </a:xfrm>
          <a:prstGeom prst="rect">
            <a:avLst/>
          </a:prstGeom>
        </p:spPr>
        <p:txBody>
          <a:bodyPr lIns="0" tIns="0" rIns="0" bIns="0" rtlCol="0" anchor="t">
            <a:spAutoFit/>
          </a:bodyPr>
          <a:lstStyle/>
          <a:p>
            <a:pPr algn="l">
              <a:lnSpc>
                <a:spcPts val="2400"/>
              </a:lnSpc>
            </a:pPr>
            <a:r>
              <a:rPr lang="en-US" sz="2000">
                <a:solidFill>
                  <a:srgbClr val="FFFFFF"/>
                </a:solidFill>
                <a:latin typeface="Calibri (MS)"/>
                <a:ea typeface="Calibri (MS)"/>
                <a:cs typeface="Calibri (MS)"/>
                <a:sym typeface="Calibri (MS)"/>
              </a:rPr>
              <a:t>La instrucción resultado &lt;- ... asigna el valor que el subproceso entrega al algoritmo que lo llamó. El algoritmo principal puede usar ese valor directamente: asignarlo a una variable, mostrarlo o evaluarlo en una condición.</a:t>
            </a:r>
          </a:p>
        </p:txBody>
      </p:sp>
      <p:grpSp>
        <p:nvGrpSpPr>
          <p:cNvPr id="37" name="Group 37"/>
          <p:cNvGrpSpPr/>
          <p:nvPr/>
        </p:nvGrpSpPr>
        <p:grpSpPr>
          <a:xfrm>
            <a:off x="9314183" y="5016503"/>
            <a:ext cx="8255003" cy="1397003"/>
            <a:chOff x="0" y="0"/>
            <a:chExt cx="11006671" cy="1862671"/>
          </a:xfrm>
        </p:grpSpPr>
        <p:sp>
          <p:nvSpPr>
            <p:cNvPr id="38" name="Freeform 38"/>
            <p:cNvSpPr/>
            <p:nvPr/>
          </p:nvSpPr>
          <p:spPr>
            <a:xfrm>
              <a:off x="16891" y="16891"/>
              <a:ext cx="10972800" cy="1828800"/>
            </a:xfrm>
            <a:custGeom>
              <a:avLst/>
              <a:gdLst/>
              <a:ahLst/>
              <a:cxnLst/>
              <a:rect l="l" t="t" r="r" b="b"/>
              <a:pathLst>
                <a:path w="10972800" h="1828800">
                  <a:moveTo>
                    <a:pt x="0" y="0"/>
                  </a:moveTo>
                  <a:lnTo>
                    <a:pt x="10972800" y="0"/>
                  </a:lnTo>
                  <a:lnTo>
                    <a:pt x="10972800" y="1828800"/>
                  </a:lnTo>
                  <a:lnTo>
                    <a:pt x="0" y="1828800"/>
                  </a:lnTo>
                  <a:close/>
                </a:path>
              </a:pathLst>
            </a:custGeom>
            <a:solidFill>
              <a:srgbClr val="252B42"/>
            </a:solidFill>
          </p:spPr>
          <p:txBody>
            <a:bodyPr/>
            <a:lstStyle/>
            <a:p>
              <a:endParaRPr lang="es-GT"/>
            </a:p>
          </p:txBody>
        </p:sp>
        <p:sp>
          <p:nvSpPr>
            <p:cNvPr id="39" name="Freeform 39"/>
            <p:cNvSpPr/>
            <p:nvPr/>
          </p:nvSpPr>
          <p:spPr>
            <a:xfrm>
              <a:off x="0" y="0"/>
              <a:ext cx="11006582" cy="1862582"/>
            </a:xfrm>
            <a:custGeom>
              <a:avLst/>
              <a:gdLst/>
              <a:ahLst/>
              <a:cxnLst/>
              <a:rect l="l" t="t" r="r" b="b"/>
              <a:pathLst>
                <a:path w="11006582" h="1862582">
                  <a:moveTo>
                    <a:pt x="16891" y="0"/>
                  </a:moveTo>
                  <a:lnTo>
                    <a:pt x="10989691" y="0"/>
                  </a:lnTo>
                  <a:cubicBezTo>
                    <a:pt x="10999089" y="0"/>
                    <a:pt x="11006582" y="7620"/>
                    <a:pt x="11006582" y="16891"/>
                  </a:cubicBezTo>
                  <a:lnTo>
                    <a:pt x="11006582" y="1845691"/>
                  </a:lnTo>
                  <a:cubicBezTo>
                    <a:pt x="11006582" y="1855089"/>
                    <a:pt x="10998962" y="1862582"/>
                    <a:pt x="10989691"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10989691" y="1828800"/>
                  </a:lnTo>
                  <a:lnTo>
                    <a:pt x="10989691" y="1845691"/>
                  </a:lnTo>
                  <a:lnTo>
                    <a:pt x="10972800" y="1845691"/>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grpSp>
        <p:nvGrpSpPr>
          <p:cNvPr id="40" name="Group 40"/>
          <p:cNvGrpSpPr/>
          <p:nvPr/>
        </p:nvGrpSpPr>
        <p:grpSpPr>
          <a:xfrm>
            <a:off x="9314183" y="5016503"/>
            <a:ext cx="171707" cy="1397003"/>
            <a:chOff x="0" y="0"/>
            <a:chExt cx="228943" cy="1862671"/>
          </a:xfrm>
        </p:grpSpPr>
        <p:sp>
          <p:nvSpPr>
            <p:cNvPr id="41" name="Freeform 41"/>
            <p:cNvSpPr/>
            <p:nvPr/>
          </p:nvSpPr>
          <p:spPr>
            <a:xfrm>
              <a:off x="16891" y="16891"/>
              <a:ext cx="195072" cy="1828800"/>
            </a:xfrm>
            <a:custGeom>
              <a:avLst/>
              <a:gdLst/>
              <a:ahLst/>
              <a:cxnLst/>
              <a:rect l="l" t="t" r="r" b="b"/>
              <a:pathLst>
                <a:path w="195072" h="1828800">
                  <a:moveTo>
                    <a:pt x="0" y="0"/>
                  </a:moveTo>
                  <a:lnTo>
                    <a:pt x="195072" y="0"/>
                  </a:lnTo>
                  <a:lnTo>
                    <a:pt x="195072" y="1828800"/>
                  </a:lnTo>
                  <a:lnTo>
                    <a:pt x="0" y="1828800"/>
                  </a:lnTo>
                  <a:close/>
                </a:path>
              </a:pathLst>
            </a:custGeom>
            <a:solidFill>
              <a:srgbClr val="9B7FD4"/>
            </a:solidFill>
          </p:spPr>
          <p:txBody>
            <a:bodyPr/>
            <a:lstStyle/>
            <a:p>
              <a:endParaRPr lang="es-GT"/>
            </a:p>
          </p:txBody>
        </p:sp>
        <p:sp>
          <p:nvSpPr>
            <p:cNvPr id="42" name="Freeform 42"/>
            <p:cNvSpPr/>
            <p:nvPr/>
          </p:nvSpPr>
          <p:spPr>
            <a:xfrm>
              <a:off x="0" y="0"/>
              <a:ext cx="228854" cy="1862582"/>
            </a:xfrm>
            <a:custGeom>
              <a:avLst/>
              <a:gdLst/>
              <a:ahLst/>
              <a:cxnLst/>
              <a:rect l="l" t="t" r="r" b="b"/>
              <a:pathLst>
                <a:path w="228854" h="1862582">
                  <a:moveTo>
                    <a:pt x="16891" y="0"/>
                  </a:moveTo>
                  <a:lnTo>
                    <a:pt x="211963" y="0"/>
                  </a:lnTo>
                  <a:cubicBezTo>
                    <a:pt x="221361" y="0"/>
                    <a:pt x="228854" y="7620"/>
                    <a:pt x="228854" y="16891"/>
                  </a:cubicBezTo>
                  <a:lnTo>
                    <a:pt x="228854" y="1845691"/>
                  </a:lnTo>
                  <a:cubicBezTo>
                    <a:pt x="228854" y="1855089"/>
                    <a:pt x="221234" y="1862582"/>
                    <a:pt x="211963"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11963" y="1828800"/>
                  </a:lnTo>
                  <a:lnTo>
                    <a:pt x="211963" y="1845691"/>
                  </a:lnTo>
                  <a:lnTo>
                    <a:pt x="195072" y="1845691"/>
                  </a:lnTo>
                  <a:lnTo>
                    <a:pt x="195072" y="16891"/>
                  </a:lnTo>
                  <a:lnTo>
                    <a:pt x="211963" y="16891"/>
                  </a:lnTo>
                  <a:lnTo>
                    <a:pt x="211963" y="33909"/>
                  </a:lnTo>
                  <a:lnTo>
                    <a:pt x="16891" y="33909"/>
                  </a:lnTo>
                  <a:close/>
                </a:path>
              </a:pathLst>
            </a:custGeom>
            <a:solidFill>
              <a:srgbClr val="9B7FD4"/>
            </a:solidFill>
          </p:spPr>
          <p:txBody>
            <a:bodyPr/>
            <a:lstStyle/>
            <a:p>
              <a:endParaRPr lang="es-GT"/>
            </a:p>
          </p:txBody>
        </p:sp>
      </p:grpSp>
      <p:grpSp>
        <p:nvGrpSpPr>
          <p:cNvPr id="43" name="Group 43"/>
          <p:cNvGrpSpPr/>
          <p:nvPr/>
        </p:nvGrpSpPr>
        <p:grpSpPr>
          <a:xfrm>
            <a:off x="9656064" y="5138928"/>
            <a:ext cx="7589520" cy="438912"/>
            <a:chOff x="0" y="0"/>
            <a:chExt cx="10119360" cy="585216"/>
          </a:xfrm>
        </p:grpSpPr>
        <p:sp>
          <p:nvSpPr>
            <p:cNvPr id="44" name="Freeform 44"/>
            <p:cNvSpPr/>
            <p:nvPr/>
          </p:nvSpPr>
          <p:spPr>
            <a:xfrm>
              <a:off x="0" y="0"/>
              <a:ext cx="10119360" cy="585216"/>
            </a:xfrm>
            <a:custGeom>
              <a:avLst/>
              <a:gdLst/>
              <a:ahLst/>
              <a:cxnLst/>
              <a:rect l="l" t="t" r="r" b="b"/>
              <a:pathLst>
                <a:path w="10119360" h="585216">
                  <a:moveTo>
                    <a:pt x="0" y="0"/>
                  </a:moveTo>
                  <a:lnTo>
                    <a:pt x="10119360" y="0"/>
                  </a:lnTo>
                  <a:lnTo>
                    <a:pt x="10119360" y="585216"/>
                  </a:lnTo>
                  <a:lnTo>
                    <a:pt x="0" y="585216"/>
                  </a:lnTo>
                  <a:close/>
                </a:path>
              </a:pathLst>
            </a:custGeom>
            <a:blipFill>
              <a:blip r:embed="rId3">
                <a:alphaModFix amt="0"/>
              </a:blip>
              <a:stretch>
                <a:fillRect t="-286928" b="-286928"/>
              </a:stretch>
            </a:blipFill>
          </p:spPr>
          <p:txBody>
            <a:bodyPr/>
            <a:lstStyle/>
            <a:p>
              <a:endParaRPr lang="es-GT"/>
            </a:p>
          </p:txBody>
        </p:sp>
        <p:sp>
          <p:nvSpPr>
            <p:cNvPr id="45" name="TextBox 45"/>
            <p:cNvSpPr txBox="1"/>
            <p:nvPr/>
          </p:nvSpPr>
          <p:spPr>
            <a:xfrm>
              <a:off x="0" y="-38100"/>
              <a:ext cx="10119360" cy="623316"/>
            </a:xfrm>
            <a:prstGeom prst="rect">
              <a:avLst/>
            </a:prstGeom>
          </p:spPr>
          <p:txBody>
            <a:bodyPr lIns="0" tIns="0" rIns="0" bIns="0" rtlCol="0" anchor="ctr"/>
            <a:lstStyle/>
            <a:p>
              <a:pPr algn="l">
                <a:lnSpc>
                  <a:spcPts val="2400"/>
                </a:lnSpc>
              </a:pPr>
              <a:r>
                <a:rPr lang="en-US" sz="2000" b="1">
                  <a:solidFill>
                    <a:srgbClr val="9B7FD4"/>
                  </a:solidFill>
                  <a:latin typeface="Calibri (MS) Bold"/>
                  <a:ea typeface="Calibri (MS) Bold"/>
                  <a:cs typeface="Calibri (MS) Bold"/>
                  <a:sym typeface="Calibri (MS) Bold"/>
                </a:rPr>
                <a:t>Funcion vs SubProceso</a:t>
              </a:r>
            </a:p>
          </p:txBody>
        </p:sp>
      </p:grpSp>
      <p:sp>
        <p:nvSpPr>
          <p:cNvPr id="46" name="TextBox 46"/>
          <p:cNvSpPr txBox="1"/>
          <p:nvPr/>
        </p:nvSpPr>
        <p:spPr>
          <a:xfrm>
            <a:off x="9747504" y="5640324"/>
            <a:ext cx="7406640" cy="641604"/>
          </a:xfrm>
          <a:prstGeom prst="rect">
            <a:avLst/>
          </a:prstGeom>
        </p:spPr>
        <p:txBody>
          <a:bodyPr lIns="0" tIns="0" rIns="0" bIns="0" rtlCol="0" anchor="t">
            <a:spAutoFit/>
          </a:bodyPr>
          <a:lstStyle/>
          <a:p>
            <a:pPr algn="l">
              <a:lnSpc>
                <a:spcPts val="2160"/>
              </a:lnSpc>
            </a:pPr>
            <a:r>
              <a:rPr lang="en-US" sz="1800">
                <a:solidFill>
                  <a:srgbClr val="FFFFFF"/>
                </a:solidFill>
                <a:latin typeface="Calibri (MS)"/>
                <a:ea typeface="Calibri (MS)"/>
                <a:cs typeface="Calibri (MS)"/>
                <a:sym typeface="Calibri (MS)"/>
              </a:rPr>
              <a:t>En PSeInt, Funcion se usa cuando hay retorno de valor. SubProceso se usa cuando solo se realizan acciones. La diferencia es estructural, no de complejidad.</a:t>
            </a:r>
          </a:p>
        </p:txBody>
      </p:sp>
      <p:grpSp>
        <p:nvGrpSpPr>
          <p:cNvPr id="47" name="Group 47"/>
          <p:cNvGrpSpPr/>
          <p:nvPr/>
        </p:nvGrpSpPr>
        <p:grpSpPr>
          <a:xfrm>
            <a:off x="9314183" y="6570983"/>
            <a:ext cx="8255003" cy="1397003"/>
            <a:chOff x="0" y="0"/>
            <a:chExt cx="11006671" cy="1862671"/>
          </a:xfrm>
        </p:grpSpPr>
        <p:sp>
          <p:nvSpPr>
            <p:cNvPr id="48" name="Freeform 48"/>
            <p:cNvSpPr/>
            <p:nvPr/>
          </p:nvSpPr>
          <p:spPr>
            <a:xfrm>
              <a:off x="16891" y="16891"/>
              <a:ext cx="10972800" cy="1828800"/>
            </a:xfrm>
            <a:custGeom>
              <a:avLst/>
              <a:gdLst/>
              <a:ahLst/>
              <a:cxnLst/>
              <a:rect l="l" t="t" r="r" b="b"/>
              <a:pathLst>
                <a:path w="10972800" h="1828800">
                  <a:moveTo>
                    <a:pt x="0" y="0"/>
                  </a:moveTo>
                  <a:lnTo>
                    <a:pt x="10972800" y="0"/>
                  </a:lnTo>
                  <a:lnTo>
                    <a:pt x="10972800" y="1828800"/>
                  </a:lnTo>
                  <a:lnTo>
                    <a:pt x="0" y="1828800"/>
                  </a:lnTo>
                  <a:close/>
                </a:path>
              </a:pathLst>
            </a:custGeom>
            <a:solidFill>
              <a:srgbClr val="252B42"/>
            </a:solidFill>
          </p:spPr>
          <p:txBody>
            <a:bodyPr/>
            <a:lstStyle/>
            <a:p>
              <a:endParaRPr lang="es-GT"/>
            </a:p>
          </p:txBody>
        </p:sp>
        <p:sp>
          <p:nvSpPr>
            <p:cNvPr id="49" name="Freeform 49"/>
            <p:cNvSpPr/>
            <p:nvPr/>
          </p:nvSpPr>
          <p:spPr>
            <a:xfrm>
              <a:off x="0" y="0"/>
              <a:ext cx="11006582" cy="1862582"/>
            </a:xfrm>
            <a:custGeom>
              <a:avLst/>
              <a:gdLst/>
              <a:ahLst/>
              <a:cxnLst/>
              <a:rect l="l" t="t" r="r" b="b"/>
              <a:pathLst>
                <a:path w="11006582" h="1862582">
                  <a:moveTo>
                    <a:pt x="16891" y="0"/>
                  </a:moveTo>
                  <a:lnTo>
                    <a:pt x="10989691" y="0"/>
                  </a:lnTo>
                  <a:cubicBezTo>
                    <a:pt x="10999089" y="0"/>
                    <a:pt x="11006582" y="7620"/>
                    <a:pt x="11006582" y="16891"/>
                  </a:cubicBezTo>
                  <a:lnTo>
                    <a:pt x="11006582" y="1845691"/>
                  </a:lnTo>
                  <a:cubicBezTo>
                    <a:pt x="11006582" y="1855089"/>
                    <a:pt x="10998962" y="1862582"/>
                    <a:pt x="10989691"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10989691" y="1828800"/>
                  </a:lnTo>
                  <a:lnTo>
                    <a:pt x="10989691" y="1845691"/>
                  </a:lnTo>
                  <a:lnTo>
                    <a:pt x="10972800" y="1845691"/>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grpSp>
        <p:nvGrpSpPr>
          <p:cNvPr id="50" name="Group 50"/>
          <p:cNvGrpSpPr/>
          <p:nvPr/>
        </p:nvGrpSpPr>
        <p:grpSpPr>
          <a:xfrm>
            <a:off x="9314183" y="6570983"/>
            <a:ext cx="171707" cy="1397003"/>
            <a:chOff x="0" y="0"/>
            <a:chExt cx="228943" cy="1862671"/>
          </a:xfrm>
        </p:grpSpPr>
        <p:sp>
          <p:nvSpPr>
            <p:cNvPr id="51" name="Freeform 51"/>
            <p:cNvSpPr/>
            <p:nvPr/>
          </p:nvSpPr>
          <p:spPr>
            <a:xfrm>
              <a:off x="16891" y="16891"/>
              <a:ext cx="195072" cy="1828800"/>
            </a:xfrm>
            <a:custGeom>
              <a:avLst/>
              <a:gdLst/>
              <a:ahLst/>
              <a:cxnLst/>
              <a:rect l="l" t="t" r="r" b="b"/>
              <a:pathLst>
                <a:path w="195072" h="1828800">
                  <a:moveTo>
                    <a:pt x="0" y="0"/>
                  </a:moveTo>
                  <a:lnTo>
                    <a:pt x="195072" y="0"/>
                  </a:lnTo>
                  <a:lnTo>
                    <a:pt x="195072" y="1828800"/>
                  </a:lnTo>
                  <a:lnTo>
                    <a:pt x="0" y="1828800"/>
                  </a:lnTo>
                  <a:close/>
                </a:path>
              </a:pathLst>
            </a:custGeom>
            <a:solidFill>
              <a:srgbClr val="5B8CFF"/>
            </a:solidFill>
          </p:spPr>
          <p:txBody>
            <a:bodyPr/>
            <a:lstStyle/>
            <a:p>
              <a:endParaRPr lang="es-GT"/>
            </a:p>
          </p:txBody>
        </p:sp>
        <p:sp>
          <p:nvSpPr>
            <p:cNvPr id="52" name="Freeform 52"/>
            <p:cNvSpPr/>
            <p:nvPr/>
          </p:nvSpPr>
          <p:spPr>
            <a:xfrm>
              <a:off x="0" y="0"/>
              <a:ext cx="228854" cy="1862582"/>
            </a:xfrm>
            <a:custGeom>
              <a:avLst/>
              <a:gdLst/>
              <a:ahLst/>
              <a:cxnLst/>
              <a:rect l="l" t="t" r="r" b="b"/>
              <a:pathLst>
                <a:path w="228854" h="1862582">
                  <a:moveTo>
                    <a:pt x="16891" y="0"/>
                  </a:moveTo>
                  <a:lnTo>
                    <a:pt x="211963" y="0"/>
                  </a:lnTo>
                  <a:cubicBezTo>
                    <a:pt x="221361" y="0"/>
                    <a:pt x="228854" y="7620"/>
                    <a:pt x="228854" y="16891"/>
                  </a:cubicBezTo>
                  <a:lnTo>
                    <a:pt x="228854" y="1845691"/>
                  </a:lnTo>
                  <a:cubicBezTo>
                    <a:pt x="228854" y="1855089"/>
                    <a:pt x="221234" y="1862582"/>
                    <a:pt x="211963"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11963" y="1828800"/>
                  </a:lnTo>
                  <a:lnTo>
                    <a:pt x="211963" y="1845691"/>
                  </a:lnTo>
                  <a:lnTo>
                    <a:pt x="195072" y="1845691"/>
                  </a:lnTo>
                  <a:lnTo>
                    <a:pt x="195072" y="16891"/>
                  </a:lnTo>
                  <a:lnTo>
                    <a:pt x="211963" y="16891"/>
                  </a:lnTo>
                  <a:lnTo>
                    <a:pt x="211963" y="33909"/>
                  </a:lnTo>
                  <a:lnTo>
                    <a:pt x="16891" y="33909"/>
                  </a:lnTo>
                  <a:close/>
                </a:path>
              </a:pathLst>
            </a:custGeom>
            <a:solidFill>
              <a:srgbClr val="5B8CFF"/>
            </a:solidFill>
          </p:spPr>
          <p:txBody>
            <a:bodyPr/>
            <a:lstStyle/>
            <a:p>
              <a:endParaRPr lang="es-GT"/>
            </a:p>
          </p:txBody>
        </p:sp>
      </p:grpSp>
      <p:grpSp>
        <p:nvGrpSpPr>
          <p:cNvPr id="53" name="Group 53"/>
          <p:cNvGrpSpPr/>
          <p:nvPr/>
        </p:nvGrpSpPr>
        <p:grpSpPr>
          <a:xfrm>
            <a:off x="9656064" y="6693408"/>
            <a:ext cx="7589520" cy="438912"/>
            <a:chOff x="0" y="0"/>
            <a:chExt cx="10119360" cy="585216"/>
          </a:xfrm>
        </p:grpSpPr>
        <p:sp>
          <p:nvSpPr>
            <p:cNvPr id="54" name="Freeform 54"/>
            <p:cNvSpPr/>
            <p:nvPr/>
          </p:nvSpPr>
          <p:spPr>
            <a:xfrm>
              <a:off x="0" y="0"/>
              <a:ext cx="10119360" cy="585216"/>
            </a:xfrm>
            <a:custGeom>
              <a:avLst/>
              <a:gdLst/>
              <a:ahLst/>
              <a:cxnLst/>
              <a:rect l="l" t="t" r="r" b="b"/>
              <a:pathLst>
                <a:path w="10119360" h="585216">
                  <a:moveTo>
                    <a:pt x="0" y="0"/>
                  </a:moveTo>
                  <a:lnTo>
                    <a:pt x="10119360" y="0"/>
                  </a:lnTo>
                  <a:lnTo>
                    <a:pt x="10119360" y="585216"/>
                  </a:lnTo>
                  <a:lnTo>
                    <a:pt x="0" y="585216"/>
                  </a:lnTo>
                  <a:close/>
                </a:path>
              </a:pathLst>
            </a:custGeom>
            <a:blipFill>
              <a:blip r:embed="rId3">
                <a:alphaModFix amt="0"/>
              </a:blip>
              <a:stretch>
                <a:fillRect t="-286928" b="-286928"/>
              </a:stretch>
            </a:blipFill>
          </p:spPr>
          <p:txBody>
            <a:bodyPr/>
            <a:lstStyle/>
            <a:p>
              <a:endParaRPr lang="es-GT"/>
            </a:p>
          </p:txBody>
        </p:sp>
        <p:sp>
          <p:nvSpPr>
            <p:cNvPr id="55" name="TextBox 55"/>
            <p:cNvSpPr txBox="1"/>
            <p:nvPr/>
          </p:nvSpPr>
          <p:spPr>
            <a:xfrm>
              <a:off x="0" y="-38100"/>
              <a:ext cx="10119360" cy="623316"/>
            </a:xfrm>
            <a:prstGeom prst="rect">
              <a:avLst/>
            </a:prstGeom>
          </p:spPr>
          <p:txBody>
            <a:bodyPr lIns="0" tIns="0" rIns="0" bIns="0" rtlCol="0" anchor="ctr"/>
            <a:lstStyle/>
            <a:p>
              <a:pPr algn="l">
                <a:lnSpc>
                  <a:spcPts val="2400"/>
                </a:lnSpc>
              </a:pPr>
              <a:r>
                <a:rPr lang="en-US" sz="2000" b="1">
                  <a:solidFill>
                    <a:srgbClr val="5B8CFF"/>
                  </a:solidFill>
                  <a:latin typeface="Calibri (MS) Bold"/>
                  <a:ea typeface="Calibri (MS) Bold"/>
                  <a:cs typeface="Calibri (MS) Bold"/>
                  <a:sym typeface="Calibri (MS) Bold"/>
                </a:rPr>
                <a:t>La variable de retorno</a:t>
              </a:r>
            </a:p>
          </p:txBody>
        </p:sp>
      </p:grpSp>
      <p:sp>
        <p:nvSpPr>
          <p:cNvPr id="56" name="TextBox 56"/>
          <p:cNvSpPr txBox="1"/>
          <p:nvPr/>
        </p:nvSpPr>
        <p:spPr>
          <a:xfrm>
            <a:off x="9747504" y="7194804"/>
            <a:ext cx="7406640" cy="641604"/>
          </a:xfrm>
          <a:prstGeom prst="rect">
            <a:avLst/>
          </a:prstGeom>
        </p:spPr>
        <p:txBody>
          <a:bodyPr lIns="0" tIns="0" rIns="0" bIns="0" rtlCol="0" anchor="t">
            <a:spAutoFit/>
          </a:bodyPr>
          <a:lstStyle/>
          <a:p>
            <a:pPr algn="l">
              <a:lnSpc>
                <a:spcPts val="2160"/>
              </a:lnSpc>
            </a:pPr>
            <a:r>
              <a:rPr lang="en-US" sz="1800">
                <a:solidFill>
                  <a:srgbClr val="FFFFFF"/>
                </a:solidFill>
                <a:latin typeface="Calibri (MS)"/>
                <a:ea typeface="Calibri (MS)"/>
                <a:cs typeface="Calibri (MS)"/>
                <a:sym typeface="Calibri (MS)"/>
              </a:rPr>
              <a:t>resultado &lt;- es la forma de indicar qué valor se devuelve. El nombre de esa variable puede ser cualquiera; lo importante es que precede al nombre de la función.</a:t>
            </a:r>
          </a:p>
        </p:txBody>
      </p:sp>
      <p:grpSp>
        <p:nvGrpSpPr>
          <p:cNvPr id="57" name="Group 57"/>
          <p:cNvGrpSpPr/>
          <p:nvPr/>
        </p:nvGrpSpPr>
        <p:grpSpPr>
          <a:xfrm>
            <a:off x="9314183" y="8125463"/>
            <a:ext cx="8255003" cy="1397003"/>
            <a:chOff x="0" y="0"/>
            <a:chExt cx="11006671" cy="1862671"/>
          </a:xfrm>
        </p:grpSpPr>
        <p:sp>
          <p:nvSpPr>
            <p:cNvPr id="58" name="Freeform 58"/>
            <p:cNvSpPr/>
            <p:nvPr/>
          </p:nvSpPr>
          <p:spPr>
            <a:xfrm>
              <a:off x="16891" y="16891"/>
              <a:ext cx="10972800" cy="1828800"/>
            </a:xfrm>
            <a:custGeom>
              <a:avLst/>
              <a:gdLst/>
              <a:ahLst/>
              <a:cxnLst/>
              <a:rect l="l" t="t" r="r" b="b"/>
              <a:pathLst>
                <a:path w="10972800" h="1828800">
                  <a:moveTo>
                    <a:pt x="0" y="0"/>
                  </a:moveTo>
                  <a:lnTo>
                    <a:pt x="10972800" y="0"/>
                  </a:lnTo>
                  <a:lnTo>
                    <a:pt x="10972800" y="1828800"/>
                  </a:lnTo>
                  <a:lnTo>
                    <a:pt x="0" y="1828800"/>
                  </a:lnTo>
                  <a:close/>
                </a:path>
              </a:pathLst>
            </a:custGeom>
            <a:solidFill>
              <a:srgbClr val="252B42"/>
            </a:solidFill>
          </p:spPr>
          <p:txBody>
            <a:bodyPr/>
            <a:lstStyle/>
            <a:p>
              <a:endParaRPr lang="es-GT"/>
            </a:p>
          </p:txBody>
        </p:sp>
        <p:sp>
          <p:nvSpPr>
            <p:cNvPr id="59" name="Freeform 59"/>
            <p:cNvSpPr/>
            <p:nvPr/>
          </p:nvSpPr>
          <p:spPr>
            <a:xfrm>
              <a:off x="0" y="0"/>
              <a:ext cx="11006582" cy="1862582"/>
            </a:xfrm>
            <a:custGeom>
              <a:avLst/>
              <a:gdLst/>
              <a:ahLst/>
              <a:cxnLst/>
              <a:rect l="l" t="t" r="r" b="b"/>
              <a:pathLst>
                <a:path w="11006582" h="1862582">
                  <a:moveTo>
                    <a:pt x="16891" y="0"/>
                  </a:moveTo>
                  <a:lnTo>
                    <a:pt x="10989691" y="0"/>
                  </a:lnTo>
                  <a:cubicBezTo>
                    <a:pt x="10999089" y="0"/>
                    <a:pt x="11006582" y="7620"/>
                    <a:pt x="11006582" y="16891"/>
                  </a:cubicBezTo>
                  <a:lnTo>
                    <a:pt x="11006582" y="1845691"/>
                  </a:lnTo>
                  <a:cubicBezTo>
                    <a:pt x="11006582" y="1855089"/>
                    <a:pt x="10998962" y="1862582"/>
                    <a:pt x="10989691"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10989691" y="1828800"/>
                  </a:lnTo>
                  <a:lnTo>
                    <a:pt x="10989691" y="1845691"/>
                  </a:lnTo>
                  <a:lnTo>
                    <a:pt x="10972800" y="1845691"/>
                  </a:lnTo>
                  <a:lnTo>
                    <a:pt x="10972800" y="16891"/>
                  </a:lnTo>
                  <a:lnTo>
                    <a:pt x="10989691" y="16891"/>
                  </a:lnTo>
                  <a:lnTo>
                    <a:pt x="10989691" y="33909"/>
                  </a:lnTo>
                  <a:lnTo>
                    <a:pt x="16891" y="33909"/>
                  </a:lnTo>
                  <a:close/>
                </a:path>
              </a:pathLst>
            </a:custGeom>
            <a:solidFill>
              <a:srgbClr val="3A4160"/>
            </a:solidFill>
          </p:spPr>
          <p:txBody>
            <a:bodyPr/>
            <a:lstStyle/>
            <a:p>
              <a:endParaRPr lang="es-GT"/>
            </a:p>
          </p:txBody>
        </p:sp>
      </p:grpSp>
      <p:grpSp>
        <p:nvGrpSpPr>
          <p:cNvPr id="60" name="Group 60"/>
          <p:cNvGrpSpPr/>
          <p:nvPr/>
        </p:nvGrpSpPr>
        <p:grpSpPr>
          <a:xfrm>
            <a:off x="9314183" y="8125463"/>
            <a:ext cx="171707" cy="1397003"/>
            <a:chOff x="0" y="0"/>
            <a:chExt cx="228943" cy="1862671"/>
          </a:xfrm>
        </p:grpSpPr>
        <p:sp>
          <p:nvSpPr>
            <p:cNvPr id="61" name="Freeform 61"/>
            <p:cNvSpPr/>
            <p:nvPr/>
          </p:nvSpPr>
          <p:spPr>
            <a:xfrm>
              <a:off x="16891" y="16891"/>
              <a:ext cx="195072" cy="1828800"/>
            </a:xfrm>
            <a:custGeom>
              <a:avLst/>
              <a:gdLst/>
              <a:ahLst/>
              <a:cxnLst/>
              <a:rect l="l" t="t" r="r" b="b"/>
              <a:pathLst>
                <a:path w="195072" h="1828800">
                  <a:moveTo>
                    <a:pt x="0" y="0"/>
                  </a:moveTo>
                  <a:lnTo>
                    <a:pt x="195072" y="0"/>
                  </a:lnTo>
                  <a:lnTo>
                    <a:pt x="195072" y="1828800"/>
                  </a:lnTo>
                  <a:lnTo>
                    <a:pt x="0" y="1828800"/>
                  </a:lnTo>
                  <a:close/>
                </a:path>
              </a:pathLst>
            </a:custGeom>
            <a:solidFill>
              <a:srgbClr val="7EC8A4"/>
            </a:solidFill>
          </p:spPr>
          <p:txBody>
            <a:bodyPr/>
            <a:lstStyle/>
            <a:p>
              <a:endParaRPr lang="es-GT"/>
            </a:p>
          </p:txBody>
        </p:sp>
        <p:sp>
          <p:nvSpPr>
            <p:cNvPr id="62" name="Freeform 62"/>
            <p:cNvSpPr/>
            <p:nvPr/>
          </p:nvSpPr>
          <p:spPr>
            <a:xfrm>
              <a:off x="0" y="0"/>
              <a:ext cx="228854" cy="1862582"/>
            </a:xfrm>
            <a:custGeom>
              <a:avLst/>
              <a:gdLst/>
              <a:ahLst/>
              <a:cxnLst/>
              <a:rect l="l" t="t" r="r" b="b"/>
              <a:pathLst>
                <a:path w="228854" h="1862582">
                  <a:moveTo>
                    <a:pt x="16891" y="0"/>
                  </a:moveTo>
                  <a:lnTo>
                    <a:pt x="211963" y="0"/>
                  </a:lnTo>
                  <a:cubicBezTo>
                    <a:pt x="221361" y="0"/>
                    <a:pt x="228854" y="7620"/>
                    <a:pt x="228854" y="16891"/>
                  </a:cubicBezTo>
                  <a:lnTo>
                    <a:pt x="228854" y="1845691"/>
                  </a:lnTo>
                  <a:cubicBezTo>
                    <a:pt x="228854" y="1855089"/>
                    <a:pt x="221234" y="1862582"/>
                    <a:pt x="211963"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11963" y="1828800"/>
                  </a:lnTo>
                  <a:lnTo>
                    <a:pt x="211963" y="1845691"/>
                  </a:lnTo>
                  <a:lnTo>
                    <a:pt x="195072" y="1845691"/>
                  </a:lnTo>
                  <a:lnTo>
                    <a:pt x="195072" y="16891"/>
                  </a:lnTo>
                  <a:lnTo>
                    <a:pt x="211963" y="16891"/>
                  </a:lnTo>
                  <a:lnTo>
                    <a:pt x="211963" y="33909"/>
                  </a:lnTo>
                  <a:lnTo>
                    <a:pt x="16891" y="33909"/>
                  </a:lnTo>
                  <a:close/>
                </a:path>
              </a:pathLst>
            </a:custGeom>
            <a:solidFill>
              <a:srgbClr val="7EC8A4"/>
            </a:solidFill>
          </p:spPr>
          <p:txBody>
            <a:bodyPr/>
            <a:lstStyle/>
            <a:p>
              <a:endParaRPr lang="es-GT"/>
            </a:p>
          </p:txBody>
        </p:sp>
      </p:grpSp>
      <p:grpSp>
        <p:nvGrpSpPr>
          <p:cNvPr id="63" name="Group 63"/>
          <p:cNvGrpSpPr/>
          <p:nvPr/>
        </p:nvGrpSpPr>
        <p:grpSpPr>
          <a:xfrm>
            <a:off x="9656064" y="8247888"/>
            <a:ext cx="7589520" cy="438912"/>
            <a:chOff x="0" y="0"/>
            <a:chExt cx="10119360" cy="585216"/>
          </a:xfrm>
        </p:grpSpPr>
        <p:sp>
          <p:nvSpPr>
            <p:cNvPr id="64" name="Freeform 64"/>
            <p:cNvSpPr/>
            <p:nvPr/>
          </p:nvSpPr>
          <p:spPr>
            <a:xfrm>
              <a:off x="0" y="0"/>
              <a:ext cx="10119360" cy="585216"/>
            </a:xfrm>
            <a:custGeom>
              <a:avLst/>
              <a:gdLst/>
              <a:ahLst/>
              <a:cxnLst/>
              <a:rect l="l" t="t" r="r" b="b"/>
              <a:pathLst>
                <a:path w="10119360" h="585216">
                  <a:moveTo>
                    <a:pt x="0" y="0"/>
                  </a:moveTo>
                  <a:lnTo>
                    <a:pt x="10119360" y="0"/>
                  </a:lnTo>
                  <a:lnTo>
                    <a:pt x="10119360" y="585216"/>
                  </a:lnTo>
                  <a:lnTo>
                    <a:pt x="0" y="585216"/>
                  </a:lnTo>
                  <a:close/>
                </a:path>
              </a:pathLst>
            </a:custGeom>
            <a:blipFill>
              <a:blip r:embed="rId3">
                <a:alphaModFix amt="0"/>
              </a:blip>
              <a:stretch>
                <a:fillRect t="-286928" b="-286928"/>
              </a:stretch>
            </a:blipFill>
          </p:spPr>
          <p:txBody>
            <a:bodyPr/>
            <a:lstStyle/>
            <a:p>
              <a:endParaRPr lang="es-GT"/>
            </a:p>
          </p:txBody>
        </p:sp>
        <p:sp>
          <p:nvSpPr>
            <p:cNvPr id="65" name="TextBox 65"/>
            <p:cNvSpPr txBox="1"/>
            <p:nvPr/>
          </p:nvSpPr>
          <p:spPr>
            <a:xfrm>
              <a:off x="0" y="-38100"/>
              <a:ext cx="10119360" cy="623316"/>
            </a:xfrm>
            <a:prstGeom prst="rect">
              <a:avLst/>
            </a:prstGeom>
          </p:spPr>
          <p:txBody>
            <a:bodyPr lIns="0" tIns="0" rIns="0" bIns="0" rtlCol="0" anchor="ctr"/>
            <a:lstStyle/>
            <a:p>
              <a:pPr algn="l">
                <a:lnSpc>
                  <a:spcPts val="2400"/>
                </a:lnSpc>
              </a:pPr>
              <a:r>
                <a:rPr lang="en-US" sz="2000" b="1">
                  <a:solidFill>
                    <a:srgbClr val="7EC8A4"/>
                  </a:solidFill>
                  <a:latin typeface="Calibri (MS) Bold"/>
                  <a:ea typeface="Calibri (MS) Bold"/>
                  <a:cs typeface="Calibri (MS) Bold"/>
                  <a:sym typeface="Calibri (MS) Bold"/>
                </a:rPr>
                <a:t>El algoritmo usa el resultado</a:t>
              </a:r>
            </a:p>
          </p:txBody>
        </p:sp>
      </p:grpSp>
      <p:sp>
        <p:nvSpPr>
          <p:cNvPr id="66" name="TextBox 66"/>
          <p:cNvSpPr txBox="1"/>
          <p:nvPr/>
        </p:nvSpPr>
        <p:spPr>
          <a:xfrm>
            <a:off x="9747504" y="8749284"/>
            <a:ext cx="7406640" cy="641604"/>
          </a:xfrm>
          <a:prstGeom prst="rect">
            <a:avLst/>
          </a:prstGeom>
        </p:spPr>
        <p:txBody>
          <a:bodyPr lIns="0" tIns="0" rIns="0" bIns="0" rtlCol="0" anchor="t">
            <a:spAutoFit/>
          </a:bodyPr>
          <a:lstStyle/>
          <a:p>
            <a:pPr algn="l">
              <a:lnSpc>
                <a:spcPts val="2160"/>
              </a:lnSpc>
            </a:pPr>
            <a:r>
              <a:rPr lang="en-US" sz="1800">
                <a:solidFill>
                  <a:srgbClr val="FFFFFF"/>
                </a:solidFill>
                <a:latin typeface="Calibri (MS)"/>
                <a:ea typeface="Calibri (MS)"/>
                <a:cs typeface="Calibri (MS)"/>
                <a:sym typeface="Calibri (MS)"/>
              </a:rPr>
              <a:t>prom &lt;- Promedio(n1, n2, n3) captura el valor devuelto. Desde ese momento, prom contiene el promedio calculado y puede usarse en cualquier parte del algoritmo principal.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E2235"/>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16891" y="16891"/>
              <a:ext cx="24383999" cy="1755648"/>
            </a:xfrm>
            <a:custGeom>
              <a:avLst/>
              <a:gdLst/>
              <a:ahLst/>
              <a:cxnLst/>
              <a:rect l="l" t="t" r="r" b="b"/>
              <a:pathLst>
                <a:path w="24383999" h="1755648">
                  <a:moveTo>
                    <a:pt x="0" y="0"/>
                  </a:moveTo>
                  <a:lnTo>
                    <a:pt x="24383999" y="0"/>
                  </a:lnTo>
                  <a:lnTo>
                    <a:pt x="24383999" y="1755648"/>
                  </a:lnTo>
                  <a:lnTo>
                    <a:pt x="0" y="1755648"/>
                  </a:lnTo>
                  <a:close/>
                </a:path>
              </a:pathLst>
            </a:custGeom>
            <a:solidFill>
              <a:srgbClr val="161929"/>
            </a:solidFill>
          </p:spPr>
          <p:txBody>
            <a:bodyPr/>
            <a:lstStyle/>
            <a:p>
              <a:endParaRPr lang="es-GT"/>
            </a:p>
          </p:txBody>
        </p:sp>
        <p:sp>
          <p:nvSpPr>
            <p:cNvPr id="4" name="Freeform 4"/>
            <p:cNvSpPr/>
            <p:nvPr/>
          </p:nvSpPr>
          <p:spPr>
            <a:xfrm>
              <a:off x="0" y="0"/>
              <a:ext cx="24417782" cy="1789430"/>
            </a:xfrm>
            <a:custGeom>
              <a:avLst/>
              <a:gdLst/>
              <a:ahLst/>
              <a:cxnLst/>
              <a:rect l="l" t="t" r="r" b="b"/>
              <a:pathLst>
                <a:path w="24417782" h="1789430">
                  <a:moveTo>
                    <a:pt x="16891" y="0"/>
                  </a:moveTo>
                  <a:lnTo>
                    <a:pt x="24400890" y="0"/>
                  </a:lnTo>
                  <a:cubicBezTo>
                    <a:pt x="24410290" y="0"/>
                    <a:pt x="24417782" y="7620"/>
                    <a:pt x="24417782" y="16891"/>
                  </a:cubicBezTo>
                  <a:lnTo>
                    <a:pt x="24417782" y="1772539"/>
                  </a:lnTo>
                  <a:cubicBezTo>
                    <a:pt x="24417782" y="1781937"/>
                    <a:pt x="24410163" y="1789430"/>
                    <a:pt x="24400890"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24400890" y="1755648"/>
                  </a:lnTo>
                  <a:lnTo>
                    <a:pt x="24400890" y="1772539"/>
                  </a:lnTo>
                  <a:lnTo>
                    <a:pt x="24384000" y="1772539"/>
                  </a:lnTo>
                  <a:lnTo>
                    <a:pt x="24384000" y="16891"/>
                  </a:lnTo>
                  <a:lnTo>
                    <a:pt x="24400890" y="16891"/>
                  </a:lnTo>
                  <a:lnTo>
                    <a:pt x="24400890" y="33909"/>
                  </a:lnTo>
                  <a:lnTo>
                    <a:pt x="16891" y="33909"/>
                  </a:lnTo>
                  <a:close/>
                </a:path>
              </a:pathLst>
            </a:custGeom>
            <a:solidFill>
              <a:srgbClr val="161929"/>
            </a:solidFill>
          </p:spPr>
          <p:txBody>
            <a:bodyPr/>
            <a:lstStyle/>
            <a:p>
              <a:endParaRPr lang="es-GT"/>
            </a:p>
          </p:txBody>
        </p:sp>
      </p:grpSp>
      <p:grpSp>
        <p:nvGrpSpPr>
          <p:cNvPr id="5" name="Group 5"/>
          <p:cNvGrpSpPr/>
          <p:nvPr/>
        </p:nvGrpSpPr>
        <p:grpSpPr>
          <a:xfrm>
            <a:off x="-12697" y="1304039"/>
            <a:ext cx="18313403" cy="98555"/>
            <a:chOff x="0" y="0"/>
            <a:chExt cx="24417871" cy="131407"/>
          </a:xfrm>
        </p:grpSpPr>
        <p:sp>
          <p:nvSpPr>
            <p:cNvPr id="6" name="Freeform 6"/>
            <p:cNvSpPr/>
            <p:nvPr/>
          </p:nvSpPr>
          <p:spPr>
            <a:xfrm>
              <a:off x="16891" y="16891"/>
              <a:ext cx="24383999" cy="97536"/>
            </a:xfrm>
            <a:custGeom>
              <a:avLst/>
              <a:gdLst/>
              <a:ahLst/>
              <a:cxnLst/>
              <a:rect l="l" t="t" r="r" b="b"/>
              <a:pathLst>
                <a:path w="24383999" h="97536">
                  <a:moveTo>
                    <a:pt x="0" y="0"/>
                  </a:moveTo>
                  <a:lnTo>
                    <a:pt x="24383999" y="0"/>
                  </a:lnTo>
                  <a:lnTo>
                    <a:pt x="24383999" y="97536"/>
                  </a:lnTo>
                  <a:lnTo>
                    <a:pt x="0" y="97536"/>
                  </a:lnTo>
                  <a:close/>
                </a:path>
              </a:pathLst>
            </a:custGeom>
            <a:solidFill>
              <a:srgbClr val="5B8CFF"/>
            </a:solidFill>
          </p:spPr>
          <p:txBody>
            <a:bodyPr/>
            <a:lstStyle/>
            <a:p>
              <a:endParaRPr lang="es-GT"/>
            </a:p>
          </p:txBody>
        </p:sp>
        <p:sp>
          <p:nvSpPr>
            <p:cNvPr id="7" name="Freeform 7"/>
            <p:cNvSpPr/>
            <p:nvPr/>
          </p:nvSpPr>
          <p:spPr>
            <a:xfrm>
              <a:off x="0" y="0"/>
              <a:ext cx="24417782" cy="131320"/>
            </a:xfrm>
            <a:custGeom>
              <a:avLst/>
              <a:gdLst/>
              <a:ahLst/>
              <a:cxnLst/>
              <a:rect l="l" t="t" r="r" b="b"/>
              <a:pathLst>
                <a:path w="24417782" h="131320">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5B8CFF"/>
            </a:solidFill>
          </p:spPr>
          <p:txBody>
            <a:bodyPr/>
            <a:lstStyle/>
            <a:p>
              <a:endParaRPr lang="es-GT"/>
            </a:p>
          </p:txBody>
        </p:sp>
      </p:grpSp>
      <p:grpSp>
        <p:nvGrpSpPr>
          <p:cNvPr id="8" name="Group 8"/>
          <p:cNvGrpSpPr/>
          <p:nvPr/>
        </p:nvGrpSpPr>
        <p:grpSpPr>
          <a:xfrm>
            <a:off x="822960" y="0"/>
            <a:ext cx="16642080" cy="1316736"/>
            <a:chOff x="0" y="0"/>
            <a:chExt cx="22189440" cy="1755648"/>
          </a:xfrm>
        </p:grpSpPr>
        <p:sp>
          <p:nvSpPr>
            <p:cNvPr id="9" name="Freeform 9"/>
            <p:cNvSpPr/>
            <p:nvPr/>
          </p:nvSpPr>
          <p:spPr>
            <a:xfrm>
              <a:off x="0" y="0"/>
              <a:ext cx="22189439" cy="1755648"/>
            </a:xfrm>
            <a:custGeom>
              <a:avLst/>
              <a:gdLst/>
              <a:ahLst/>
              <a:cxnLst/>
              <a:rect l="l" t="t" r="r" b="b"/>
              <a:pathLst>
                <a:path w="22189439" h="1755648">
                  <a:moveTo>
                    <a:pt x="0" y="0"/>
                  </a:moveTo>
                  <a:lnTo>
                    <a:pt x="22189439" y="0"/>
                  </a:lnTo>
                  <a:lnTo>
                    <a:pt x="22189439" y="1755648"/>
                  </a:lnTo>
                  <a:lnTo>
                    <a:pt x="0" y="1755648"/>
                  </a:lnTo>
                  <a:close/>
                </a:path>
              </a:pathLst>
            </a:custGeom>
            <a:blipFill>
              <a:blip r:embed="rId3">
                <a:alphaModFix amt="0"/>
              </a:blip>
              <a:stretch>
                <a:fillRect t="-196269" b="-196269"/>
              </a:stretch>
            </a:blipFill>
          </p:spPr>
          <p:txBody>
            <a:bodyPr/>
            <a:lstStyle/>
            <a:p>
              <a:endParaRPr lang="es-GT"/>
            </a:p>
          </p:txBody>
        </p:sp>
        <p:sp>
          <p:nvSpPr>
            <p:cNvPr id="10" name="TextBox 10"/>
            <p:cNvSpPr txBox="1"/>
            <p:nvPr/>
          </p:nvSpPr>
          <p:spPr>
            <a:xfrm>
              <a:off x="0" y="-76200"/>
              <a:ext cx="22189440" cy="1831848"/>
            </a:xfrm>
            <a:prstGeom prst="rect">
              <a:avLst/>
            </a:prstGeom>
          </p:spPr>
          <p:txBody>
            <a:bodyPr lIns="0" tIns="0" rIns="0" bIns="0" rtlCol="0" anchor="ctr"/>
            <a:lstStyle/>
            <a:p>
              <a:pPr algn="l">
                <a:lnSpc>
                  <a:spcPts val="5280"/>
                </a:lnSpc>
              </a:pPr>
              <a:r>
                <a:rPr lang="en-US" sz="4400" b="1">
                  <a:solidFill>
                    <a:srgbClr val="FFFFFF"/>
                  </a:solidFill>
                  <a:latin typeface="Calibri (MS) Bold"/>
                  <a:ea typeface="Calibri (MS) Bold"/>
                  <a:cs typeface="Calibri (MS) Bold"/>
                  <a:sym typeface="Calibri (MS) Bold"/>
                </a:rPr>
                <a:t>Subprocesos – Ejemplo integrado con los tres tipos</a:t>
              </a:r>
            </a:p>
          </p:txBody>
        </p:sp>
      </p:grpSp>
      <p:grpSp>
        <p:nvGrpSpPr>
          <p:cNvPr id="11" name="Group 11"/>
          <p:cNvGrpSpPr/>
          <p:nvPr/>
        </p:nvGrpSpPr>
        <p:grpSpPr>
          <a:xfrm>
            <a:off x="-12697" y="9954263"/>
            <a:ext cx="18313403" cy="345443"/>
            <a:chOff x="0" y="0"/>
            <a:chExt cx="24417871" cy="460591"/>
          </a:xfrm>
        </p:grpSpPr>
        <p:sp>
          <p:nvSpPr>
            <p:cNvPr id="12" name="Freeform 12"/>
            <p:cNvSpPr/>
            <p:nvPr/>
          </p:nvSpPr>
          <p:spPr>
            <a:xfrm>
              <a:off x="16891" y="16891"/>
              <a:ext cx="24383999" cy="426720"/>
            </a:xfrm>
            <a:custGeom>
              <a:avLst/>
              <a:gdLst/>
              <a:ahLst/>
              <a:cxnLst/>
              <a:rect l="l" t="t" r="r" b="b"/>
              <a:pathLst>
                <a:path w="24383999" h="426720">
                  <a:moveTo>
                    <a:pt x="0" y="0"/>
                  </a:moveTo>
                  <a:lnTo>
                    <a:pt x="24383999" y="0"/>
                  </a:lnTo>
                  <a:lnTo>
                    <a:pt x="24383999" y="426720"/>
                  </a:lnTo>
                  <a:lnTo>
                    <a:pt x="0" y="426720"/>
                  </a:lnTo>
                  <a:close/>
                </a:path>
              </a:pathLst>
            </a:custGeom>
            <a:solidFill>
              <a:srgbClr val="12152A"/>
            </a:solidFill>
          </p:spPr>
          <p:txBody>
            <a:bodyPr/>
            <a:lstStyle/>
            <a:p>
              <a:endParaRPr lang="es-GT"/>
            </a:p>
          </p:txBody>
        </p:sp>
        <p:sp>
          <p:nvSpPr>
            <p:cNvPr id="13" name="Freeform 13"/>
            <p:cNvSpPr/>
            <p:nvPr/>
          </p:nvSpPr>
          <p:spPr>
            <a:xfrm>
              <a:off x="0" y="0"/>
              <a:ext cx="24417782" cy="460504"/>
            </a:xfrm>
            <a:custGeom>
              <a:avLst/>
              <a:gdLst/>
              <a:ahLst/>
              <a:cxnLst/>
              <a:rect l="l" t="t" r="r" b="b"/>
              <a:pathLst>
                <a:path w="24417782" h="460504">
                  <a:moveTo>
                    <a:pt x="16891" y="0"/>
                  </a:moveTo>
                  <a:lnTo>
                    <a:pt x="24400890" y="0"/>
                  </a:lnTo>
                  <a:cubicBezTo>
                    <a:pt x="24410290" y="0"/>
                    <a:pt x="24417782" y="7620"/>
                    <a:pt x="24417782" y="16891"/>
                  </a:cubicBezTo>
                  <a:lnTo>
                    <a:pt x="24417782" y="443611"/>
                  </a:lnTo>
                  <a:cubicBezTo>
                    <a:pt x="24417782" y="453009"/>
                    <a:pt x="24410163" y="460502"/>
                    <a:pt x="24400890" y="460502"/>
                  </a:cubicBezTo>
                  <a:lnTo>
                    <a:pt x="16891" y="460502"/>
                  </a:lnTo>
                  <a:cubicBezTo>
                    <a:pt x="7620" y="460629"/>
                    <a:pt x="0" y="453009"/>
                    <a:pt x="0" y="443611"/>
                  </a:cubicBezTo>
                  <a:lnTo>
                    <a:pt x="0" y="16891"/>
                  </a:lnTo>
                  <a:cubicBezTo>
                    <a:pt x="0" y="7620"/>
                    <a:pt x="7620" y="0"/>
                    <a:pt x="16891" y="0"/>
                  </a:cubicBezTo>
                  <a:moveTo>
                    <a:pt x="16891" y="33909"/>
                  </a:moveTo>
                  <a:lnTo>
                    <a:pt x="16891" y="16891"/>
                  </a:lnTo>
                  <a:lnTo>
                    <a:pt x="33909" y="16891"/>
                  </a:lnTo>
                  <a:lnTo>
                    <a:pt x="33909" y="443611"/>
                  </a:lnTo>
                  <a:lnTo>
                    <a:pt x="16891" y="443611"/>
                  </a:lnTo>
                  <a:lnTo>
                    <a:pt x="16891" y="426720"/>
                  </a:lnTo>
                  <a:lnTo>
                    <a:pt x="24400890" y="426720"/>
                  </a:lnTo>
                  <a:lnTo>
                    <a:pt x="24400890" y="443611"/>
                  </a:lnTo>
                  <a:lnTo>
                    <a:pt x="24384000" y="443611"/>
                  </a:lnTo>
                  <a:lnTo>
                    <a:pt x="24384000" y="16891"/>
                  </a:lnTo>
                  <a:lnTo>
                    <a:pt x="24400890" y="16891"/>
                  </a:lnTo>
                  <a:lnTo>
                    <a:pt x="24400890" y="33909"/>
                  </a:lnTo>
                  <a:lnTo>
                    <a:pt x="16891" y="33909"/>
                  </a:lnTo>
                  <a:close/>
                </a:path>
              </a:pathLst>
            </a:custGeom>
            <a:solidFill>
              <a:srgbClr val="12152A"/>
            </a:solidFill>
          </p:spPr>
          <p:txBody>
            <a:bodyPr/>
            <a:lstStyle/>
            <a:p>
              <a:endParaRPr lang="es-GT"/>
            </a:p>
          </p:txBody>
        </p:sp>
      </p:grpSp>
      <p:grpSp>
        <p:nvGrpSpPr>
          <p:cNvPr id="14" name="Group 14"/>
          <p:cNvGrpSpPr/>
          <p:nvPr/>
        </p:nvGrpSpPr>
        <p:grpSpPr>
          <a:xfrm>
            <a:off x="17007840" y="9966960"/>
            <a:ext cx="914400" cy="320040"/>
            <a:chOff x="0" y="0"/>
            <a:chExt cx="1219200" cy="426720"/>
          </a:xfrm>
        </p:grpSpPr>
        <p:sp>
          <p:nvSpPr>
            <p:cNvPr id="15" name="Freeform 15"/>
            <p:cNvSpPr/>
            <p:nvPr/>
          </p:nvSpPr>
          <p:spPr>
            <a:xfrm>
              <a:off x="0" y="0"/>
              <a:ext cx="1219200" cy="426720"/>
            </a:xfrm>
            <a:custGeom>
              <a:avLst/>
              <a:gdLst/>
              <a:ahLst/>
              <a:cxnLst/>
              <a:rect l="l" t="t" r="r" b="b"/>
              <a:pathLst>
                <a:path w="1219200" h="426720">
                  <a:moveTo>
                    <a:pt x="0" y="0"/>
                  </a:moveTo>
                  <a:lnTo>
                    <a:pt x="1219200" y="0"/>
                  </a:lnTo>
                  <a:lnTo>
                    <a:pt x="1219200" y="426720"/>
                  </a:lnTo>
                  <a:lnTo>
                    <a:pt x="0" y="426720"/>
                  </a:lnTo>
                  <a:close/>
                </a:path>
              </a:pathLst>
            </a:custGeom>
            <a:blipFill>
              <a:blip r:embed="rId3">
                <a:alphaModFix amt="0"/>
              </a:blip>
              <a:stretch>
                <a:fillRect t="-5671" b="-5671"/>
              </a:stretch>
            </a:blipFill>
          </p:spPr>
          <p:txBody>
            <a:bodyPr/>
            <a:lstStyle/>
            <a:p>
              <a:endParaRPr lang="es-GT"/>
            </a:p>
          </p:txBody>
        </p:sp>
        <p:sp>
          <p:nvSpPr>
            <p:cNvPr id="16" name="TextBox 16"/>
            <p:cNvSpPr txBox="1"/>
            <p:nvPr/>
          </p:nvSpPr>
          <p:spPr>
            <a:xfrm>
              <a:off x="0" y="-38100"/>
              <a:ext cx="1219200" cy="464820"/>
            </a:xfrm>
            <a:prstGeom prst="rect">
              <a:avLst/>
            </a:prstGeom>
          </p:spPr>
          <p:txBody>
            <a:bodyPr lIns="0" tIns="0" rIns="0" bIns="0" rtlCol="0" anchor="ctr"/>
            <a:lstStyle/>
            <a:p>
              <a:pPr algn="r">
                <a:lnSpc>
                  <a:spcPts val="1800"/>
                </a:lnSpc>
              </a:pPr>
              <a:r>
                <a:rPr lang="en-US" sz="1500">
                  <a:solidFill>
                    <a:srgbClr val="6E7A9F"/>
                  </a:solidFill>
                  <a:latin typeface="Calibri (MS)"/>
                  <a:ea typeface="Calibri (MS)"/>
                  <a:cs typeface="Calibri (MS)"/>
                  <a:sym typeface="Calibri (MS)"/>
                </a:rPr>
                <a:t>33</a:t>
              </a:r>
            </a:p>
          </p:txBody>
        </p:sp>
      </p:grpSp>
      <p:grpSp>
        <p:nvGrpSpPr>
          <p:cNvPr id="17" name="Group 17"/>
          <p:cNvGrpSpPr/>
          <p:nvPr/>
        </p:nvGrpSpPr>
        <p:grpSpPr>
          <a:xfrm>
            <a:off x="731520" y="1554480"/>
            <a:ext cx="16824960" cy="731520"/>
            <a:chOff x="0" y="0"/>
            <a:chExt cx="22433280" cy="975360"/>
          </a:xfrm>
        </p:grpSpPr>
        <p:sp>
          <p:nvSpPr>
            <p:cNvPr id="18" name="Freeform 18"/>
            <p:cNvSpPr/>
            <p:nvPr/>
          </p:nvSpPr>
          <p:spPr>
            <a:xfrm>
              <a:off x="0" y="0"/>
              <a:ext cx="22433280" cy="975360"/>
            </a:xfrm>
            <a:custGeom>
              <a:avLst/>
              <a:gdLst/>
              <a:ahLst/>
              <a:cxnLst/>
              <a:rect l="l" t="t" r="r" b="b"/>
              <a:pathLst>
                <a:path w="22433280" h="975360">
                  <a:moveTo>
                    <a:pt x="0" y="0"/>
                  </a:moveTo>
                  <a:lnTo>
                    <a:pt x="22433280" y="0"/>
                  </a:lnTo>
                  <a:lnTo>
                    <a:pt x="22433280" y="975360"/>
                  </a:lnTo>
                  <a:lnTo>
                    <a:pt x="0" y="975360"/>
                  </a:lnTo>
                  <a:close/>
                </a:path>
              </a:pathLst>
            </a:custGeom>
            <a:blipFill>
              <a:blip r:embed="rId3">
                <a:alphaModFix amt="0"/>
              </a:blip>
              <a:stretch>
                <a:fillRect t="-398155" b="-398155"/>
              </a:stretch>
            </a:blipFill>
          </p:spPr>
          <p:txBody>
            <a:bodyPr/>
            <a:lstStyle/>
            <a:p>
              <a:endParaRPr lang="es-GT"/>
            </a:p>
          </p:txBody>
        </p:sp>
        <p:sp>
          <p:nvSpPr>
            <p:cNvPr id="19" name="TextBox 19"/>
            <p:cNvSpPr txBox="1"/>
            <p:nvPr/>
          </p:nvSpPr>
          <p:spPr>
            <a:xfrm>
              <a:off x="0" y="-47625"/>
              <a:ext cx="22433280" cy="1022985"/>
            </a:xfrm>
            <a:prstGeom prst="rect">
              <a:avLst/>
            </a:prstGeom>
          </p:spPr>
          <p:txBody>
            <a:bodyPr lIns="0" tIns="0" rIns="0" bIns="0" rtlCol="0" anchor="ctr"/>
            <a:lstStyle/>
            <a:p>
              <a:pPr algn="l">
                <a:lnSpc>
                  <a:spcPts val="2520"/>
                </a:lnSpc>
              </a:pPr>
              <a:r>
                <a:rPr lang="en-US" sz="2100">
                  <a:solidFill>
                    <a:srgbClr val="B0B8CC"/>
                  </a:solidFill>
                  <a:latin typeface="Calibri (MS)"/>
                  <a:ea typeface="Calibri (MS)"/>
                  <a:cs typeface="Calibri (MS)"/>
                  <a:sym typeface="Calibri (MS)"/>
                </a:rPr>
                <a:t>El siguiente algoritmo combina los tres tipos de subproceso en un único sistema de gestión de notas. El algoritmo principal opera a nivel de intención; los detalles quedan encapsulados.</a:t>
              </a:r>
            </a:p>
          </p:txBody>
        </p:sp>
      </p:grpSp>
      <p:grpSp>
        <p:nvGrpSpPr>
          <p:cNvPr id="20" name="Group 20"/>
          <p:cNvGrpSpPr/>
          <p:nvPr/>
        </p:nvGrpSpPr>
        <p:grpSpPr>
          <a:xfrm>
            <a:off x="718823" y="2511047"/>
            <a:ext cx="8346443" cy="4231643"/>
            <a:chOff x="0" y="0"/>
            <a:chExt cx="11128591" cy="5642191"/>
          </a:xfrm>
        </p:grpSpPr>
        <p:sp>
          <p:nvSpPr>
            <p:cNvPr id="21" name="Freeform 21"/>
            <p:cNvSpPr/>
            <p:nvPr/>
          </p:nvSpPr>
          <p:spPr>
            <a:xfrm>
              <a:off x="16891" y="16891"/>
              <a:ext cx="11094720" cy="5608320"/>
            </a:xfrm>
            <a:custGeom>
              <a:avLst/>
              <a:gdLst/>
              <a:ahLst/>
              <a:cxnLst/>
              <a:rect l="l" t="t" r="r" b="b"/>
              <a:pathLst>
                <a:path w="11094720" h="5608320">
                  <a:moveTo>
                    <a:pt x="0" y="0"/>
                  </a:moveTo>
                  <a:lnTo>
                    <a:pt x="11094720" y="0"/>
                  </a:lnTo>
                  <a:lnTo>
                    <a:pt x="11094720" y="5608320"/>
                  </a:lnTo>
                  <a:lnTo>
                    <a:pt x="0" y="5608320"/>
                  </a:lnTo>
                  <a:close/>
                </a:path>
              </a:pathLst>
            </a:custGeom>
            <a:solidFill>
              <a:srgbClr val="0D1020"/>
            </a:solidFill>
          </p:spPr>
          <p:txBody>
            <a:bodyPr/>
            <a:lstStyle/>
            <a:p>
              <a:endParaRPr lang="es-GT"/>
            </a:p>
          </p:txBody>
        </p:sp>
        <p:sp>
          <p:nvSpPr>
            <p:cNvPr id="22" name="Freeform 22"/>
            <p:cNvSpPr/>
            <p:nvPr/>
          </p:nvSpPr>
          <p:spPr>
            <a:xfrm>
              <a:off x="0" y="0"/>
              <a:ext cx="11128501" cy="5642102"/>
            </a:xfrm>
            <a:custGeom>
              <a:avLst/>
              <a:gdLst/>
              <a:ahLst/>
              <a:cxnLst/>
              <a:rect l="l" t="t" r="r" b="b"/>
              <a:pathLst>
                <a:path w="11128501" h="5642102">
                  <a:moveTo>
                    <a:pt x="16891" y="0"/>
                  </a:moveTo>
                  <a:lnTo>
                    <a:pt x="11111611" y="0"/>
                  </a:lnTo>
                  <a:cubicBezTo>
                    <a:pt x="11121009" y="0"/>
                    <a:pt x="11128501" y="7620"/>
                    <a:pt x="11128501" y="16891"/>
                  </a:cubicBezTo>
                  <a:lnTo>
                    <a:pt x="11128501" y="5625211"/>
                  </a:lnTo>
                  <a:cubicBezTo>
                    <a:pt x="11128501" y="5634609"/>
                    <a:pt x="11120882" y="5642102"/>
                    <a:pt x="11111611" y="5642102"/>
                  </a:cubicBezTo>
                  <a:lnTo>
                    <a:pt x="16891" y="5642102"/>
                  </a:lnTo>
                  <a:cubicBezTo>
                    <a:pt x="7493" y="5642102"/>
                    <a:pt x="0" y="5634482"/>
                    <a:pt x="0" y="5625211"/>
                  </a:cubicBezTo>
                  <a:lnTo>
                    <a:pt x="0" y="16891"/>
                  </a:lnTo>
                  <a:cubicBezTo>
                    <a:pt x="0" y="7620"/>
                    <a:pt x="7620" y="0"/>
                    <a:pt x="16891" y="0"/>
                  </a:cubicBezTo>
                  <a:moveTo>
                    <a:pt x="16891" y="33909"/>
                  </a:moveTo>
                  <a:lnTo>
                    <a:pt x="16891" y="16891"/>
                  </a:lnTo>
                  <a:lnTo>
                    <a:pt x="33909" y="16891"/>
                  </a:lnTo>
                  <a:lnTo>
                    <a:pt x="33909" y="5625211"/>
                  </a:lnTo>
                  <a:lnTo>
                    <a:pt x="16891" y="5625211"/>
                  </a:lnTo>
                  <a:lnTo>
                    <a:pt x="16891" y="5608320"/>
                  </a:lnTo>
                  <a:lnTo>
                    <a:pt x="11111611" y="5608320"/>
                  </a:lnTo>
                  <a:lnTo>
                    <a:pt x="11111611" y="5625211"/>
                  </a:lnTo>
                  <a:lnTo>
                    <a:pt x="11094720" y="5625211"/>
                  </a:lnTo>
                  <a:lnTo>
                    <a:pt x="11094720" y="16891"/>
                  </a:lnTo>
                  <a:lnTo>
                    <a:pt x="11111611" y="16891"/>
                  </a:lnTo>
                  <a:lnTo>
                    <a:pt x="11111611" y="33909"/>
                  </a:lnTo>
                  <a:lnTo>
                    <a:pt x="16891" y="33909"/>
                  </a:lnTo>
                  <a:close/>
                </a:path>
              </a:pathLst>
            </a:custGeom>
            <a:solidFill>
              <a:srgbClr val="5B8CFF"/>
            </a:solidFill>
          </p:spPr>
          <p:txBody>
            <a:bodyPr/>
            <a:lstStyle/>
            <a:p>
              <a:endParaRPr lang="es-GT"/>
            </a:p>
          </p:txBody>
        </p:sp>
      </p:grpSp>
      <p:grpSp>
        <p:nvGrpSpPr>
          <p:cNvPr id="23" name="Group 23"/>
          <p:cNvGrpSpPr/>
          <p:nvPr/>
        </p:nvGrpSpPr>
        <p:grpSpPr>
          <a:xfrm>
            <a:off x="1005840" y="2596896"/>
            <a:ext cx="7772400" cy="457200"/>
            <a:chOff x="0" y="0"/>
            <a:chExt cx="10363200" cy="609600"/>
          </a:xfrm>
        </p:grpSpPr>
        <p:sp>
          <p:nvSpPr>
            <p:cNvPr id="24" name="Freeform 24"/>
            <p:cNvSpPr/>
            <p:nvPr/>
          </p:nvSpPr>
          <p:spPr>
            <a:xfrm>
              <a:off x="0" y="0"/>
              <a:ext cx="10363200" cy="609600"/>
            </a:xfrm>
            <a:custGeom>
              <a:avLst/>
              <a:gdLst/>
              <a:ahLst/>
              <a:cxnLst/>
              <a:rect l="l" t="t" r="r" b="b"/>
              <a:pathLst>
                <a:path w="10363200" h="609600">
                  <a:moveTo>
                    <a:pt x="0" y="0"/>
                  </a:moveTo>
                  <a:lnTo>
                    <a:pt x="10363200" y="0"/>
                  </a:lnTo>
                  <a:lnTo>
                    <a:pt x="10363200" y="609600"/>
                  </a:lnTo>
                  <a:lnTo>
                    <a:pt x="0" y="609600"/>
                  </a:lnTo>
                  <a:close/>
                </a:path>
              </a:pathLst>
            </a:custGeom>
            <a:blipFill>
              <a:blip r:embed="rId3">
                <a:alphaModFix amt="0"/>
              </a:blip>
              <a:stretch>
                <a:fillRect t="-281245" b="-281245"/>
              </a:stretch>
            </a:blipFill>
          </p:spPr>
          <p:txBody>
            <a:bodyPr/>
            <a:lstStyle/>
            <a:p>
              <a:endParaRPr lang="es-GT"/>
            </a:p>
          </p:txBody>
        </p:sp>
        <p:sp>
          <p:nvSpPr>
            <p:cNvPr id="25" name="TextBox 25"/>
            <p:cNvSpPr txBox="1"/>
            <p:nvPr/>
          </p:nvSpPr>
          <p:spPr>
            <a:xfrm>
              <a:off x="0" y="-38100"/>
              <a:ext cx="10363200" cy="647700"/>
            </a:xfrm>
            <a:prstGeom prst="rect">
              <a:avLst/>
            </a:prstGeom>
          </p:spPr>
          <p:txBody>
            <a:bodyPr lIns="0" tIns="0" rIns="0" bIns="0" rtlCol="0" anchor="ctr"/>
            <a:lstStyle/>
            <a:p>
              <a:pPr algn="l">
                <a:lnSpc>
                  <a:spcPts val="2160"/>
                </a:lnSpc>
              </a:pPr>
              <a:r>
                <a:rPr lang="en-US" sz="1800" b="1">
                  <a:solidFill>
                    <a:srgbClr val="5B8CFF"/>
                  </a:solidFill>
                  <a:latin typeface="Consolas Bold"/>
                  <a:ea typeface="Consolas Bold"/>
                  <a:cs typeface="Consolas Bold"/>
                  <a:sym typeface="Consolas Bold"/>
                </a:rPr>
                <a:t>Algoritmo principal</a:t>
              </a:r>
            </a:p>
          </p:txBody>
        </p:sp>
      </p:grpSp>
      <p:grpSp>
        <p:nvGrpSpPr>
          <p:cNvPr id="26" name="Group 26"/>
          <p:cNvGrpSpPr/>
          <p:nvPr/>
        </p:nvGrpSpPr>
        <p:grpSpPr>
          <a:xfrm>
            <a:off x="718823" y="3096263"/>
            <a:ext cx="8346443" cy="61979"/>
            <a:chOff x="0" y="0"/>
            <a:chExt cx="11128591" cy="82639"/>
          </a:xfrm>
        </p:grpSpPr>
        <p:sp>
          <p:nvSpPr>
            <p:cNvPr id="27" name="Freeform 27"/>
            <p:cNvSpPr/>
            <p:nvPr/>
          </p:nvSpPr>
          <p:spPr>
            <a:xfrm>
              <a:off x="16891" y="16891"/>
              <a:ext cx="11094720" cy="48768"/>
            </a:xfrm>
            <a:custGeom>
              <a:avLst/>
              <a:gdLst/>
              <a:ahLst/>
              <a:cxnLst/>
              <a:rect l="l" t="t" r="r" b="b"/>
              <a:pathLst>
                <a:path w="11094720" h="48768">
                  <a:moveTo>
                    <a:pt x="0" y="0"/>
                  </a:moveTo>
                  <a:lnTo>
                    <a:pt x="11094720" y="0"/>
                  </a:lnTo>
                  <a:lnTo>
                    <a:pt x="11094720" y="48768"/>
                  </a:lnTo>
                  <a:lnTo>
                    <a:pt x="0" y="48768"/>
                  </a:lnTo>
                  <a:close/>
                </a:path>
              </a:pathLst>
            </a:custGeom>
            <a:solidFill>
              <a:srgbClr val="3A4160"/>
            </a:solidFill>
          </p:spPr>
          <p:txBody>
            <a:bodyPr/>
            <a:lstStyle/>
            <a:p>
              <a:endParaRPr lang="es-GT"/>
            </a:p>
          </p:txBody>
        </p:sp>
        <p:sp>
          <p:nvSpPr>
            <p:cNvPr id="28" name="Freeform 28"/>
            <p:cNvSpPr/>
            <p:nvPr/>
          </p:nvSpPr>
          <p:spPr>
            <a:xfrm>
              <a:off x="0" y="0"/>
              <a:ext cx="11128501" cy="82552"/>
            </a:xfrm>
            <a:custGeom>
              <a:avLst/>
              <a:gdLst/>
              <a:ahLst/>
              <a:cxnLst/>
              <a:rect l="l" t="t" r="r" b="b"/>
              <a:pathLst>
                <a:path w="11128501" h="82552">
                  <a:moveTo>
                    <a:pt x="16891" y="0"/>
                  </a:moveTo>
                  <a:lnTo>
                    <a:pt x="11111611" y="0"/>
                  </a:lnTo>
                  <a:cubicBezTo>
                    <a:pt x="11121009" y="0"/>
                    <a:pt x="11128501" y="7620"/>
                    <a:pt x="11128501" y="16891"/>
                  </a:cubicBezTo>
                  <a:lnTo>
                    <a:pt x="11128501" y="65659"/>
                  </a:lnTo>
                  <a:cubicBezTo>
                    <a:pt x="11128501" y="75057"/>
                    <a:pt x="11120882" y="82550"/>
                    <a:pt x="11111611" y="82550"/>
                  </a:cubicBezTo>
                  <a:lnTo>
                    <a:pt x="16891" y="82550"/>
                  </a:lnTo>
                  <a:cubicBezTo>
                    <a:pt x="7620" y="82677"/>
                    <a:pt x="0" y="75057"/>
                    <a:pt x="0" y="65659"/>
                  </a:cubicBezTo>
                  <a:lnTo>
                    <a:pt x="0" y="16891"/>
                  </a:lnTo>
                  <a:cubicBezTo>
                    <a:pt x="0" y="7620"/>
                    <a:pt x="7620" y="0"/>
                    <a:pt x="16891" y="0"/>
                  </a:cubicBezTo>
                  <a:moveTo>
                    <a:pt x="16891" y="33909"/>
                  </a:moveTo>
                  <a:lnTo>
                    <a:pt x="16891" y="16891"/>
                  </a:lnTo>
                  <a:lnTo>
                    <a:pt x="33909" y="16891"/>
                  </a:lnTo>
                  <a:lnTo>
                    <a:pt x="33909" y="65659"/>
                  </a:lnTo>
                  <a:lnTo>
                    <a:pt x="16891" y="65659"/>
                  </a:lnTo>
                  <a:lnTo>
                    <a:pt x="16891" y="48768"/>
                  </a:lnTo>
                  <a:lnTo>
                    <a:pt x="11111611" y="48768"/>
                  </a:lnTo>
                  <a:lnTo>
                    <a:pt x="11111611" y="65659"/>
                  </a:lnTo>
                  <a:lnTo>
                    <a:pt x="11094720" y="65659"/>
                  </a:lnTo>
                  <a:lnTo>
                    <a:pt x="11094720" y="16891"/>
                  </a:lnTo>
                  <a:lnTo>
                    <a:pt x="11111611" y="16891"/>
                  </a:lnTo>
                  <a:lnTo>
                    <a:pt x="11111611" y="33909"/>
                  </a:lnTo>
                  <a:lnTo>
                    <a:pt x="16891" y="33909"/>
                  </a:lnTo>
                  <a:close/>
                </a:path>
              </a:pathLst>
            </a:custGeom>
            <a:solidFill>
              <a:srgbClr val="3A4160"/>
            </a:solidFill>
          </p:spPr>
          <p:txBody>
            <a:bodyPr/>
            <a:lstStyle/>
            <a:p>
              <a:endParaRPr lang="es-GT"/>
            </a:p>
          </p:txBody>
        </p:sp>
      </p:grpSp>
      <p:sp>
        <p:nvSpPr>
          <p:cNvPr id="29" name="TextBox 29"/>
          <p:cNvSpPr txBox="1"/>
          <p:nvPr/>
        </p:nvSpPr>
        <p:spPr>
          <a:xfrm>
            <a:off x="1097280" y="3253359"/>
            <a:ext cx="7589520" cy="2876550"/>
          </a:xfrm>
          <a:prstGeom prst="rect">
            <a:avLst/>
          </a:prstGeom>
        </p:spPr>
        <p:txBody>
          <a:bodyPr lIns="0" tIns="0" rIns="0" bIns="0" rtlCol="0" anchor="t">
            <a:spAutoFit/>
          </a:bodyPr>
          <a:lstStyle/>
          <a:p>
            <a:pPr algn="l">
              <a:lnSpc>
                <a:spcPts val="2519"/>
              </a:lnSpc>
            </a:pPr>
            <a:r>
              <a:rPr lang="en-US" sz="2099">
                <a:solidFill>
                  <a:srgbClr val="FFFFFF"/>
                </a:solidFill>
                <a:latin typeface="Consolas"/>
                <a:ea typeface="Consolas"/>
                <a:cs typeface="Consolas"/>
                <a:sym typeface="Consolas"/>
              </a:rPr>
              <a:t>Algoritmo GestionCompleta</a:t>
            </a:r>
          </a:p>
          <a:p>
            <a:pPr algn="l">
              <a:lnSpc>
                <a:spcPts val="2519"/>
              </a:lnSpc>
            </a:pPr>
            <a:r>
              <a:rPr lang="en-US" sz="2099">
                <a:solidFill>
                  <a:srgbClr val="FFFFFF"/>
                </a:solidFill>
                <a:latin typeface="Consolas"/>
                <a:ea typeface="Consolas"/>
                <a:cs typeface="Consolas"/>
                <a:sym typeface="Consolas"/>
              </a:rPr>
              <a:t>   Definir n1,n2,n3,prom Como Real</a:t>
            </a:r>
          </a:p>
          <a:p>
            <a:pPr algn="l">
              <a:lnSpc>
                <a:spcPts val="2519"/>
              </a:lnSpc>
            </a:pPr>
            <a:r>
              <a:rPr lang="en-US" sz="2099">
                <a:solidFill>
                  <a:srgbClr val="FFFFFF"/>
                </a:solidFill>
                <a:latin typeface="Consolas"/>
                <a:ea typeface="Consolas"/>
                <a:cs typeface="Consolas"/>
                <a:sym typeface="Consolas"/>
              </a:rPr>
              <a:t>   Definir nombre Como Cadena</a:t>
            </a:r>
          </a:p>
          <a:p>
            <a:pPr algn="l">
              <a:lnSpc>
                <a:spcPts val="2519"/>
              </a:lnSpc>
            </a:pPr>
            <a:endParaRPr lang="en-US" sz="2099">
              <a:solidFill>
                <a:srgbClr val="FFFFFF"/>
              </a:solidFill>
              <a:latin typeface="Consolas"/>
              <a:ea typeface="Consolas"/>
              <a:cs typeface="Consolas"/>
              <a:sym typeface="Consolas"/>
            </a:endParaRPr>
          </a:p>
          <a:p>
            <a:pPr algn="l">
              <a:lnSpc>
                <a:spcPts val="2519"/>
              </a:lnSpc>
            </a:pPr>
            <a:r>
              <a:rPr lang="en-US" sz="2099">
                <a:solidFill>
                  <a:srgbClr val="FFFFFF"/>
                </a:solidFill>
                <a:latin typeface="Consolas"/>
                <a:ea typeface="Consolas"/>
                <a:cs typeface="Consolas"/>
                <a:sym typeface="Consolas"/>
              </a:rPr>
              <a:t>   MostrarEncabezado()              // Tipo 1</a:t>
            </a:r>
          </a:p>
          <a:p>
            <a:pPr algn="l">
              <a:lnSpc>
                <a:spcPts val="2519"/>
              </a:lnSpc>
            </a:pPr>
            <a:r>
              <a:rPr lang="en-US" sz="2099">
                <a:solidFill>
                  <a:srgbClr val="FFFFFF"/>
                </a:solidFill>
                <a:latin typeface="Consolas"/>
                <a:ea typeface="Consolas"/>
                <a:cs typeface="Consolas"/>
                <a:sym typeface="Consolas"/>
              </a:rPr>
              <a:t>   Leer nombre, n1, n2, n3</a:t>
            </a:r>
          </a:p>
          <a:p>
            <a:pPr algn="l">
              <a:lnSpc>
                <a:spcPts val="2519"/>
              </a:lnSpc>
            </a:pPr>
            <a:r>
              <a:rPr lang="en-US" sz="2099">
                <a:solidFill>
                  <a:srgbClr val="FFFFFF"/>
                </a:solidFill>
                <a:latin typeface="Consolas"/>
                <a:ea typeface="Consolas"/>
                <a:cs typeface="Consolas"/>
                <a:sym typeface="Consolas"/>
              </a:rPr>
              <a:t>   prom &lt;- Promedio(n1, n2, n3)    // Tipo 3</a:t>
            </a:r>
          </a:p>
          <a:p>
            <a:pPr algn="l">
              <a:lnSpc>
                <a:spcPts val="2519"/>
              </a:lnSpc>
            </a:pPr>
            <a:r>
              <a:rPr lang="en-US" sz="2099">
                <a:solidFill>
                  <a:srgbClr val="FFFFFF"/>
                </a:solidFill>
                <a:latin typeface="Consolas"/>
                <a:ea typeface="Consolas"/>
                <a:cs typeface="Consolas"/>
                <a:sym typeface="Consolas"/>
              </a:rPr>
              <a:t>   MostrarResultado(nombre, prom)  // Tipo 2</a:t>
            </a:r>
          </a:p>
          <a:p>
            <a:pPr algn="l">
              <a:lnSpc>
                <a:spcPts val="2519"/>
              </a:lnSpc>
            </a:pPr>
            <a:r>
              <a:rPr lang="en-US" sz="2099">
                <a:solidFill>
                  <a:srgbClr val="FFFFFF"/>
                </a:solidFill>
                <a:latin typeface="Consolas"/>
                <a:ea typeface="Consolas"/>
                <a:cs typeface="Consolas"/>
                <a:sym typeface="Consolas"/>
              </a:rPr>
              <a:t>FinAlgoritmo</a:t>
            </a:r>
          </a:p>
        </p:txBody>
      </p:sp>
      <p:grpSp>
        <p:nvGrpSpPr>
          <p:cNvPr id="30" name="Group 30"/>
          <p:cNvGrpSpPr/>
          <p:nvPr/>
        </p:nvGrpSpPr>
        <p:grpSpPr>
          <a:xfrm>
            <a:off x="9405623" y="2511047"/>
            <a:ext cx="8163563" cy="2037083"/>
            <a:chOff x="0" y="0"/>
            <a:chExt cx="10884751" cy="2716111"/>
          </a:xfrm>
        </p:grpSpPr>
        <p:sp>
          <p:nvSpPr>
            <p:cNvPr id="31" name="Freeform 31"/>
            <p:cNvSpPr/>
            <p:nvPr/>
          </p:nvSpPr>
          <p:spPr>
            <a:xfrm>
              <a:off x="16891" y="16891"/>
              <a:ext cx="10850881" cy="2682240"/>
            </a:xfrm>
            <a:custGeom>
              <a:avLst/>
              <a:gdLst/>
              <a:ahLst/>
              <a:cxnLst/>
              <a:rect l="l" t="t" r="r" b="b"/>
              <a:pathLst>
                <a:path w="10850881" h="2682240">
                  <a:moveTo>
                    <a:pt x="0" y="0"/>
                  </a:moveTo>
                  <a:lnTo>
                    <a:pt x="10850881" y="0"/>
                  </a:lnTo>
                  <a:lnTo>
                    <a:pt x="10850881" y="2682240"/>
                  </a:lnTo>
                  <a:lnTo>
                    <a:pt x="0" y="2682240"/>
                  </a:lnTo>
                  <a:close/>
                </a:path>
              </a:pathLst>
            </a:custGeom>
            <a:solidFill>
              <a:srgbClr val="0D1020"/>
            </a:solidFill>
          </p:spPr>
          <p:txBody>
            <a:bodyPr/>
            <a:lstStyle/>
            <a:p>
              <a:endParaRPr lang="es-GT"/>
            </a:p>
          </p:txBody>
        </p:sp>
        <p:sp>
          <p:nvSpPr>
            <p:cNvPr id="32" name="Freeform 32"/>
            <p:cNvSpPr/>
            <p:nvPr/>
          </p:nvSpPr>
          <p:spPr>
            <a:xfrm>
              <a:off x="0" y="0"/>
              <a:ext cx="10884662" cy="2716022"/>
            </a:xfrm>
            <a:custGeom>
              <a:avLst/>
              <a:gdLst/>
              <a:ahLst/>
              <a:cxnLst/>
              <a:rect l="l" t="t" r="r" b="b"/>
              <a:pathLst>
                <a:path w="10884662" h="2716022">
                  <a:moveTo>
                    <a:pt x="16891" y="0"/>
                  </a:moveTo>
                  <a:lnTo>
                    <a:pt x="10867772" y="0"/>
                  </a:lnTo>
                  <a:cubicBezTo>
                    <a:pt x="10877169" y="0"/>
                    <a:pt x="10884662" y="7620"/>
                    <a:pt x="10884662" y="16891"/>
                  </a:cubicBezTo>
                  <a:lnTo>
                    <a:pt x="10884662" y="2699131"/>
                  </a:lnTo>
                  <a:cubicBezTo>
                    <a:pt x="10884662" y="2708529"/>
                    <a:pt x="10877042" y="2716022"/>
                    <a:pt x="10867772" y="2716022"/>
                  </a:cubicBezTo>
                  <a:lnTo>
                    <a:pt x="16891" y="2716022"/>
                  </a:lnTo>
                  <a:cubicBezTo>
                    <a:pt x="7493" y="2716022"/>
                    <a:pt x="0" y="2708402"/>
                    <a:pt x="0" y="2699131"/>
                  </a:cubicBezTo>
                  <a:lnTo>
                    <a:pt x="0" y="16891"/>
                  </a:lnTo>
                  <a:cubicBezTo>
                    <a:pt x="0" y="7620"/>
                    <a:pt x="7620" y="0"/>
                    <a:pt x="16891" y="0"/>
                  </a:cubicBezTo>
                  <a:moveTo>
                    <a:pt x="16891" y="33909"/>
                  </a:moveTo>
                  <a:lnTo>
                    <a:pt x="16891" y="16891"/>
                  </a:lnTo>
                  <a:lnTo>
                    <a:pt x="33909" y="16891"/>
                  </a:lnTo>
                  <a:lnTo>
                    <a:pt x="33909" y="2699131"/>
                  </a:lnTo>
                  <a:lnTo>
                    <a:pt x="16891" y="2699131"/>
                  </a:lnTo>
                  <a:lnTo>
                    <a:pt x="16891" y="2682240"/>
                  </a:lnTo>
                  <a:lnTo>
                    <a:pt x="10867772" y="2682240"/>
                  </a:lnTo>
                  <a:lnTo>
                    <a:pt x="10867772" y="2699131"/>
                  </a:lnTo>
                  <a:lnTo>
                    <a:pt x="10850880" y="2699131"/>
                  </a:lnTo>
                  <a:lnTo>
                    <a:pt x="10850880" y="16891"/>
                  </a:lnTo>
                  <a:lnTo>
                    <a:pt x="10867772" y="16891"/>
                  </a:lnTo>
                  <a:lnTo>
                    <a:pt x="10867772" y="33909"/>
                  </a:lnTo>
                  <a:lnTo>
                    <a:pt x="16891" y="33909"/>
                  </a:lnTo>
                  <a:close/>
                </a:path>
              </a:pathLst>
            </a:custGeom>
            <a:solidFill>
              <a:srgbClr val="5B8CFF"/>
            </a:solidFill>
          </p:spPr>
          <p:txBody>
            <a:bodyPr/>
            <a:lstStyle/>
            <a:p>
              <a:endParaRPr lang="es-GT"/>
            </a:p>
          </p:txBody>
        </p:sp>
      </p:grpSp>
      <p:grpSp>
        <p:nvGrpSpPr>
          <p:cNvPr id="33" name="Group 33"/>
          <p:cNvGrpSpPr/>
          <p:nvPr/>
        </p:nvGrpSpPr>
        <p:grpSpPr>
          <a:xfrm>
            <a:off x="9656064" y="2596896"/>
            <a:ext cx="7589520" cy="402336"/>
            <a:chOff x="0" y="0"/>
            <a:chExt cx="10119360" cy="536448"/>
          </a:xfrm>
        </p:grpSpPr>
        <p:sp>
          <p:nvSpPr>
            <p:cNvPr id="34" name="Freeform 34"/>
            <p:cNvSpPr/>
            <p:nvPr/>
          </p:nvSpPr>
          <p:spPr>
            <a:xfrm>
              <a:off x="0" y="0"/>
              <a:ext cx="10119360" cy="536448"/>
            </a:xfrm>
            <a:custGeom>
              <a:avLst/>
              <a:gdLst/>
              <a:ahLst/>
              <a:cxnLst/>
              <a:rect l="l" t="t" r="r" b="b"/>
              <a:pathLst>
                <a:path w="10119360" h="536448">
                  <a:moveTo>
                    <a:pt x="0" y="0"/>
                  </a:moveTo>
                  <a:lnTo>
                    <a:pt x="10119360" y="0"/>
                  </a:lnTo>
                  <a:lnTo>
                    <a:pt x="10119360" y="536448"/>
                  </a:lnTo>
                  <a:lnTo>
                    <a:pt x="0" y="536448"/>
                  </a:lnTo>
                  <a:close/>
                </a:path>
              </a:pathLst>
            </a:custGeom>
            <a:blipFill>
              <a:blip r:embed="rId3">
                <a:alphaModFix amt="0"/>
              </a:blip>
              <a:stretch>
                <a:fillRect t="-317558" b="-317558"/>
              </a:stretch>
            </a:blipFill>
          </p:spPr>
          <p:txBody>
            <a:bodyPr/>
            <a:lstStyle/>
            <a:p>
              <a:endParaRPr lang="es-GT"/>
            </a:p>
          </p:txBody>
        </p:sp>
        <p:sp>
          <p:nvSpPr>
            <p:cNvPr id="35" name="TextBox 35"/>
            <p:cNvSpPr txBox="1"/>
            <p:nvPr/>
          </p:nvSpPr>
          <p:spPr>
            <a:xfrm>
              <a:off x="0" y="-28575"/>
              <a:ext cx="10119360" cy="565023"/>
            </a:xfrm>
            <a:prstGeom prst="rect">
              <a:avLst/>
            </a:prstGeom>
          </p:spPr>
          <p:txBody>
            <a:bodyPr lIns="0" tIns="0" rIns="0" bIns="0" rtlCol="0" anchor="ctr"/>
            <a:lstStyle/>
            <a:p>
              <a:pPr algn="l">
                <a:lnSpc>
                  <a:spcPts val="1871"/>
                </a:lnSpc>
              </a:pPr>
              <a:r>
                <a:rPr lang="en-US" sz="1559" b="1">
                  <a:solidFill>
                    <a:srgbClr val="5B8CFF"/>
                  </a:solidFill>
                  <a:latin typeface="Consolas Bold"/>
                  <a:ea typeface="Consolas Bold"/>
                  <a:cs typeface="Consolas Bold"/>
                  <a:sym typeface="Consolas Bold"/>
                </a:rPr>
                <a:t>SubProceso MostrarEncabezado()  // Tipo 1: sin datos, sin retorno</a:t>
              </a:r>
            </a:p>
          </p:txBody>
        </p:sp>
      </p:grpSp>
      <p:grpSp>
        <p:nvGrpSpPr>
          <p:cNvPr id="36" name="Group 36"/>
          <p:cNvGrpSpPr/>
          <p:nvPr/>
        </p:nvGrpSpPr>
        <p:grpSpPr>
          <a:xfrm>
            <a:off x="9405623" y="3041399"/>
            <a:ext cx="8163563" cy="61979"/>
            <a:chOff x="0" y="0"/>
            <a:chExt cx="10884751" cy="82639"/>
          </a:xfrm>
        </p:grpSpPr>
        <p:sp>
          <p:nvSpPr>
            <p:cNvPr id="37" name="Freeform 37"/>
            <p:cNvSpPr/>
            <p:nvPr/>
          </p:nvSpPr>
          <p:spPr>
            <a:xfrm>
              <a:off x="16891" y="16891"/>
              <a:ext cx="10850881" cy="48768"/>
            </a:xfrm>
            <a:custGeom>
              <a:avLst/>
              <a:gdLst/>
              <a:ahLst/>
              <a:cxnLst/>
              <a:rect l="l" t="t" r="r" b="b"/>
              <a:pathLst>
                <a:path w="10850881" h="48768">
                  <a:moveTo>
                    <a:pt x="0" y="0"/>
                  </a:moveTo>
                  <a:lnTo>
                    <a:pt x="10850881" y="0"/>
                  </a:lnTo>
                  <a:lnTo>
                    <a:pt x="10850881" y="48768"/>
                  </a:lnTo>
                  <a:lnTo>
                    <a:pt x="0" y="48768"/>
                  </a:lnTo>
                  <a:close/>
                </a:path>
              </a:pathLst>
            </a:custGeom>
            <a:solidFill>
              <a:srgbClr val="3A4160"/>
            </a:solidFill>
          </p:spPr>
          <p:txBody>
            <a:bodyPr/>
            <a:lstStyle/>
            <a:p>
              <a:endParaRPr lang="es-GT"/>
            </a:p>
          </p:txBody>
        </p:sp>
        <p:sp>
          <p:nvSpPr>
            <p:cNvPr id="38" name="Freeform 38"/>
            <p:cNvSpPr/>
            <p:nvPr/>
          </p:nvSpPr>
          <p:spPr>
            <a:xfrm>
              <a:off x="0" y="0"/>
              <a:ext cx="10884662" cy="82552"/>
            </a:xfrm>
            <a:custGeom>
              <a:avLst/>
              <a:gdLst/>
              <a:ahLst/>
              <a:cxnLst/>
              <a:rect l="l" t="t" r="r" b="b"/>
              <a:pathLst>
                <a:path w="10884662" h="82552">
                  <a:moveTo>
                    <a:pt x="16891" y="0"/>
                  </a:moveTo>
                  <a:lnTo>
                    <a:pt x="10867772" y="0"/>
                  </a:lnTo>
                  <a:cubicBezTo>
                    <a:pt x="10877169" y="0"/>
                    <a:pt x="10884662" y="7620"/>
                    <a:pt x="10884662" y="16891"/>
                  </a:cubicBezTo>
                  <a:lnTo>
                    <a:pt x="10884662" y="65659"/>
                  </a:lnTo>
                  <a:cubicBezTo>
                    <a:pt x="10884662" y="75057"/>
                    <a:pt x="10877042" y="82550"/>
                    <a:pt x="10867772" y="82550"/>
                  </a:cubicBezTo>
                  <a:lnTo>
                    <a:pt x="16891" y="82550"/>
                  </a:lnTo>
                  <a:cubicBezTo>
                    <a:pt x="7620" y="82677"/>
                    <a:pt x="0" y="75057"/>
                    <a:pt x="0" y="65659"/>
                  </a:cubicBezTo>
                  <a:lnTo>
                    <a:pt x="0" y="16891"/>
                  </a:lnTo>
                  <a:cubicBezTo>
                    <a:pt x="0" y="7620"/>
                    <a:pt x="7620" y="0"/>
                    <a:pt x="16891" y="0"/>
                  </a:cubicBezTo>
                  <a:moveTo>
                    <a:pt x="16891" y="33909"/>
                  </a:moveTo>
                  <a:lnTo>
                    <a:pt x="16891" y="16891"/>
                  </a:lnTo>
                  <a:lnTo>
                    <a:pt x="33909" y="16891"/>
                  </a:lnTo>
                  <a:lnTo>
                    <a:pt x="33909" y="65659"/>
                  </a:lnTo>
                  <a:lnTo>
                    <a:pt x="16891" y="65659"/>
                  </a:lnTo>
                  <a:lnTo>
                    <a:pt x="16891" y="48768"/>
                  </a:lnTo>
                  <a:lnTo>
                    <a:pt x="10867772" y="48768"/>
                  </a:lnTo>
                  <a:lnTo>
                    <a:pt x="10867772" y="65659"/>
                  </a:lnTo>
                  <a:lnTo>
                    <a:pt x="10850880" y="65659"/>
                  </a:lnTo>
                  <a:lnTo>
                    <a:pt x="10850880" y="16891"/>
                  </a:lnTo>
                  <a:lnTo>
                    <a:pt x="10867772" y="16891"/>
                  </a:lnTo>
                  <a:lnTo>
                    <a:pt x="10867772" y="33909"/>
                  </a:lnTo>
                  <a:lnTo>
                    <a:pt x="16891" y="33909"/>
                  </a:lnTo>
                  <a:close/>
                </a:path>
              </a:pathLst>
            </a:custGeom>
            <a:solidFill>
              <a:srgbClr val="3A4160"/>
            </a:solidFill>
          </p:spPr>
          <p:txBody>
            <a:bodyPr/>
            <a:lstStyle/>
            <a:p>
              <a:endParaRPr lang="es-GT"/>
            </a:p>
          </p:txBody>
        </p:sp>
      </p:grpSp>
      <p:sp>
        <p:nvSpPr>
          <p:cNvPr id="39" name="TextBox 39"/>
          <p:cNvSpPr txBox="1"/>
          <p:nvPr/>
        </p:nvSpPr>
        <p:spPr>
          <a:xfrm>
            <a:off x="9747504" y="3198495"/>
            <a:ext cx="7406640" cy="771525"/>
          </a:xfrm>
          <a:prstGeom prst="rect">
            <a:avLst/>
          </a:prstGeom>
        </p:spPr>
        <p:txBody>
          <a:bodyPr lIns="0" tIns="0" rIns="0" bIns="0" rtlCol="0" anchor="t">
            <a:spAutoFit/>
          </a:bodyPr>
          <a:lstStyle/>
          <a:p>
            <a:pPr algn="l">
              <a:lnSpc>
                <a:spcPts val="2879"/>
              </a:lnSpc>
            </a:pPr>
            <a:r>
              <a:rPr lang="en-US" sz="2400">
                <a:solidFill>
                  <a:srgbClr val="5B8CFF"/>
                </a:solidFill>
                <a:latin typeface="Consolas"/>
                <a:ea typeface="Consolas"/>
                <a:cs typeface="Consolas"/>
                <a:sym typeface="Consolas"/>
              </a:rPr>
              <a:t>Escribir "=== SISTEMA DE NOTAS ==="</a:t>
            </a:r>
          </a:p>
          <a:p>
            <a:pPr algn="l">
              <a:lnSpc>
                <a:spcPts val="2879"/>
              </a:lnSpc>
            </a:pPr>
            <a:r>
              <a:rPr lang="en-US" sz="2400">
                <a:solidFill>
                  <a:srgbClr val="5B8CFF"/>
                </a:solidFill>
                <a:latin typeface="Consolas"/>
                <a:ea typeface="Consolas"/>
                <a:cs typeface="Consolas"/>
                <a:sym typeface="Consolas"/>
              </a:rPr>
              <a:t>FinSubProceso</a:t>
            </a:r>
          </a:p>
        </p:txBody>
      </p:sp>
      <p:grpSp>
        <p:nvGrpSpPr>
          <p:cNvPr id="40" name="Group 40"/>
          <p:cNvGrpSpPr/>
          <p:nvPr/>
        </p:nvGrpSpPr>
        <p:grpSpPr>
          <a:xfrm>
            <a:off x="9405623" y="4742183"/>
            <a:ext cx="8163563" cy="2037083"/>
            <a:chOff x="0" y="0"/>
            <a:chExt cx="10884751" cy="2716111"/>
          </a:xfrm>
        </p:grpSpPr>
        <p:sp>
          <p:nvSpPr>
            <p:cNvPr id="41" name="Freeform 41"/>
            <p:cNvSpPr/>
            <p:nvPr/>
          </p:nvSpPr>
          <p:spPr>
            <a:xfrm>
              <a:off x="16891" y="16891"/>
              <a:ext cx="10850881" cy="2682240"/>
            </a:xfrm>
            <a:custGeom>
              <a:avLst/>
              <a:gdLst/>
              <a:ahLst/>
              <a:cxnLst/>
              <a:rect l="l" t="t" r="r" b="b"/>
              <a:pathLst>
                <a:path w="10850881" h="2682240">
                  <a:moveTo>
                    <a:pt x="0" y="0"/>
                  </a:moveTo>
                  <a:lnTo>
                    <a:pt x="10850881" y="0"/>
                  </a:lnTo>
                  <a:lnTo>
                    <a:pt x="10850881" y="2682240"/>
                  </a:lnTo>
                  <a:lnTo>
                    <a:pt x="0" y="2682240"/>
                  </a:lnTo>
                  <a:close/>
                </a:path>
              </a:pathLst>
            </a:custGeom>
            <a:solidFill>
              <a:srgbClr val="0D1020"/>
            </a:solidFill>
          </p:spPr>
          <p:txBody>
            <a:bodyPr/>
            <a:lstStyle/>
            <a:p>
              <a:endParaRPr lang="es-GT"/>
            </a:p>
          </p:txBody>
        </p:sp>
        <p:sp>
          <p:nvSpPr>
            <p:cNvPr id="42" name="Freeform 42"/>
            <p:cNvSpPr/>
            <p:nvPr/>
          </p:nvSpPr>
          <p:spPr>
            <a:xfrm>
              <a:off x="0" y="0"/>
              <a:ext cx="10884662" cy="2716022"/>
            </a:xfrm>
            <a:custGeom>
              <a:avLst/>
              <a:gdLst/>
              <a:ahLst/>
              <a:cxnLst/>
              <a:rect l="l" t="t" r="r" b="b"/>
              <a:pathLst>
                <a:path w="10884662" h="2716022">
                  <a:moveTo>
                    <a:pt x="16891" y="0"/>
                  </a:moveTo>
                  <a:lnTo>
                    <a:pt x="10867772" y="0"/>
                  </a:lnTo>
                  <a:cubicBezTo>
                    <a:pt x="10877169" y="0"/>
                    <a:pt x="10884662" y="7620"/>
                    <a:pt x="10884662" y="16891"/>
                  </a:cubicBezTo>
                  <a:lnTo>
                    <a:pt x="10884662" y="2699131"/>
                  </a:lnTo>
                  <a:cubicBezTo>
                    <a:pt x="10884662" y="2708529"/>
                    <a:pt x="10877042" y="2716022"/>
                    <a:pt x="10867772" y="2716022"/>
                  </a:cubicBezTo>
                  <a:lnTo>
                    <a:pt x="16891" y="2716022"/>
                  </a:lnTo>
                  <a:cubicBezTo>
                    <a:pt x="7493" y="2716022"/>
                    <a:pt x="0" y="2708402"/>
                    <a:pt x="0" y="2699131"/>
                  </a:cubicBezTo>
                  <a:lnTo>
                    <a:pt x="0" y="16891"/>
                  </a:lnTo>
                  <a:cubicBezTo>
                    <a:pt x="0" y="7620"/>
                    <a:pt x="7620" y="0"/>
                    <a:pt x="16891" y="0"/>
                  </a:cubicBezTo>
                  <a:moveTo>
                    <a:pt x="16891" y="33909"/>
                  </a:moveTo>
                  <a:lnTo>
                    <a:pt x="16891" y="16891"/>
                  </a:lnTo>
                  <a:lnTo>
                    <a:pt x="33909" y="16891"/>
                  </a:lnTo>
                  <a:lnTo>
                    <a:pt x="33909" y="2699131"/>
                  </a:lnTo>
                  <a:lnTo>
                    <a:pt x="16891" y="2699131"/>
                  </a:lnTo>
                  <a:lnTo>
                    <a:pt x="16891" y="2682240"/>
                  </a:lnTo>
                  <a:lnTo>
                    <a:pt x="10867772" y="2682240"/>
                  </a:lnTo>
                  <a:lnTo>
                    <a:pt x="10867772" y="2699131"/>
                  </a:lnTo>
                  <a:lnTo>
                    <a:pt x="10850880" y="2699131"/>
                  </a:lnTo>
                  <a:lnTo>
                    <a:pt x="10850880" y="16891"/>
                  </a:lnTo>
                  <a:lnTo>
                    <a:pt x="10867772" y="16891"/>
                  </a:lnTo>
                  <a:lnTo>
                    <a:pt x="10867772" y="33909"/>
                  </a:lnTo>
                  <a:lnTo>
                    <a:pt x="16891" y="33909"/>
                  </a:lnTo>
                  <a:close/>
                </a:path>
              </a:pathLst>
            </a:custGeom>
            <a:solidFill>
              <a:srgbClr val="9B7FD4"/>
            </a:solidFill>
          </p:spPr>
          <p:txBody>
            <a:bodyPr/>
            <a:lstStyle/>
            <a:p>
              <a:endParaRPr lang="es-GT"/>
            </a:p>
          </p:txBody>
        </p:sp>
      </p:grpSp>
      <p:grpSp>
        <p:nvGrpSpPr>
          <p:cNvPr id="43" name="Group 43"/>
          <p:cNvGrpSpPr/>
          <p:nvPr/>
        </p:nvGrpSpPr>
        <p:grpSpPr>
          <a:xfrm>
            <a:off x="9656064" y="4828032"/>
            <a:ext cx="7589520" cy="402336"/>
            <a:chOff x="0" y="0"/>
            <a:chExt cx="10119360" cy="536448"/>
          </a:xfrm>
        </p:grpSpPr>
        <p:sp>
          <p:nvSpPr>
            <p:cNvPr id="44" name="Freeform 44"/>
            <p:cNvSpPr/>
            <p:nvPr/>
          </p:nvSpPr>
          <p:spPr>
            <a:xfrm>
              <a:off x="0" y="0"/>
              <a:ext cx="10119360" cy="536448"/>
            </a:xfrm>
            <a:custGeom>
              <a:avLst/>
              <a:gdLst/>
              <a:ahLst/>
              <a:cxnLst/>
              <a:rect l="l" t="t" r="r" b="b"/>
              <a:pathLst>
                <a:path w="10119360" h="536448">
                  <a:moveTo>
                    <a:pt x="0" y="0"/>
                  </a:moveTo>
                  <a:lnTo>
                    <a:pt x="10119360" y="0"/>
                  </a:lnTo>
                  <a:lnTo>
                    <a:pt x="10119360" y="536448"/>
                  </a:lnTo>
                  <a:lnTo>
                    <a:pt x="0" y="536448"/>
                  </a:lnTo>
                  <a:close/>
                </a:path>
              </a:pathLst>
            </a:custGeom>
            <a:blipFill>
              <a:blip r:embed="rId3">
                <a:alphaModFix amt="0"/>
              </a:blip>
              <a:stretch>
                <a:fillRect t="-317558" b="-317558"/>
              </a:stretch>
            </a:blipFill>
          </p:spPr>
          <p:txBody>
            <a:bodyPr/>
            <a:lstStyle/>
            <a:p>
              <a:endParaRPr lang="es-GT"/>
            </a:p>
          </p:txBody>
        </p:sp>
        <p:sp>
          <p:nvSpPr>
            <p:cNvPr id="45" name="TextBox 45"/>
            <p:cNvSpPr txBox="1"/>
            <p:nvPr/>
          </p:nvSpPr>
          <p:spPr>
            <a:xfrm>
              <a:off x="0" y="-28575"/>
              <a:ext cx="10119360" cy="565023"/>
            </a:xfrm>
            <a:prstGeom prst="rect">
              <a:avLst/>
            </a:prstGeom>
          </p:spPr>
          <p:txBody>
            <a:bodyPr lIns="0" tIns="0" rIns="0" bIns="0" rtlCol="0" anchor="ctr"/>
            <a:lstStyle/>
            <a:p>
              <a:pPr algn="l">
                <a:lnSpc>
                  <a:spcPts val="1871"/>
                </a:lnSpc>
              </a:pPr>
              <a:r>
                <a:rPr lang="en-US" sz="1559" b="1">
                  <a:solidFill>
                    <a:srgbClr val="9B7FD4"/>
                  </a:solidFill>
                  <a:latin typeface="Consolas Bold"/>
                  <a:ea typeface="Consolas Bold"/>
                  <a:cs typeface="Consolas Bold"/>
                  <a:sym typeface="Consolas Bold"/>
                </a:rPr>
                <a:t>Funcion r &lt;- Promedio(a,b,c)     // Tipo 3: con datos y retorno</a:t>
              </a:r>
            </a:p>
          </p:txBody>
        </p:sp>
      </p:grpSp>
      <p:grpSp>
        <p:nvGrpSpPr>
          <p:cNvPr id="46" name="Group 46"/>
          <p:cNvGrpSpPr/>
          <p:nvPr/>
        </p:nvGrpSpPr>
        <p:grpSpPr>
          <a:xfrm>
            <a:off x="9405623" y="5272535"/>
            <a:ext cx="8163563" cy="61979"/>
            <a:chOff x="0" y="0"/>
            <a:chExt cx="10884751" cy="82639"/>
          </a:xfrm>
        </p:grpSpPr>
        <p:sp>
          <p:nvSpPr>
            <p:cNvPr id="47" name="Freeform 47"/>
            <p:cNvSpPr/>
            <p:nvPr/>
          </p:nvSpPr>
          <p:spPr>
            <a:xfrm>
              <a:off x="16891" y="16891"/>
              <a:ext cx="10850881" cy="48768"/>
            </a:xfrm>
            <a:custGeom>
              <a:avLst/>
              <a:gdLst/>
              <a:ahLst/>
              <a:cxnLst/>
              <a:rect l="l" t="t" r="r" b="b"/>
              <a:pathLst>
                <a:path w="10850881" h="48768">
                  <a:moveTo>
                    <a:pt x="0" y="0"/>
                  </a:moveTo>
                  <a:lnTo>
                    <a:pt x="10850881" y="0"/>
                  </a:lnTo>
                  <a:lnTo>
                    <a:pt x="10850881" y="48768"/>
                  </a:lnTo>
                  <a:lnTo>
                    <a:pt x="0" y="48768"/>
                  </a:lnTo>
                  <a:close/>
                </a:path>
              </a:pathLst>
            </a:custGeom>
            <a:solidFill>
              <a:srgbClr val="3A4160"/>
            </a:solidFill>
          </p:spPr>
          <p:txBody>
            <a:bodyPr/>
            <a:lstStyle/>
            <a:p>
              <a:endParaRPr lang="es-GT"/>
            </a:p>
          </p:txBody>
        </p:sp>
        <p:sp>
          <p:nvSpPr>
            <p:cNvPr id="48" name="Freeform 48"/>
            <p:cNvSpPr/>
            <p:nvPr/>
          </p:nvSpPr>
          <p:spPr>
            <a:xfrm>
              <a:off x="0" y="0"/>
              <a:ext cx="10884662" cy="82552"/>
            </a:xfrm>
            <a:custGeom>
              <a:avLst/>
              <a:gdLst/>
              <a:ahLst/>
              <a:cxnLst/>
              <a:rect l="l" t="t" r="r" b="b"/>
              <a:pathLst>
                <a:path w="10884662" h="82552">
                  <a:moveTo>
                    <a:pt x="16891" y="0"/>
                  </a:moveTo>
                  <a:lnTo>
                    <a:pt x="10867772" y="0"/>
                  </a:lnTo>
                  <a:cubicBezTo>
                    <a:pt x="10877169" y="0"/>
                    <a:pt x="10884662" y="7620"/>
                    <a:pt x="10884662" y="16891"/>
                  </a:cubicBezTo>
                  <a:lnTo>
                    <a:pt x="10884662" y="65659"/>
                  </a:lnTo>
                  <a:cubicBezTo>
                    <a:pt x="10884662" y="75057"/>
                    <a:pt x="10877042" y="82550"/>
                    <a:pt x="10867772" y="82550"/>
                  </a:cubicBezTo>
                  <a:lnTo>
                    <a:pt x="16891" y="82550"/>
                  </a:lnTo>
                  <a:cubicBezTo>
                    <a:pt x="7620" y="82677"/>
                    <a:pt x="0" y="75057"/>
                    <a:pt x="0" y="65659"/>
                  </a:cubicBezTo>
                  <a:lnTo>
                    <a:pt x="0" y="16891"/>
                  </a:lnTo>
                  <a:cubicBezTo>
                    <a:pt x="0" y="7620"/>
                    <a:pt x="7620" y="0"/>
                    <a:pt x="16891" y="0"/>
                  </a:cubicBezTo>
                  <a:moveTo>
                    <a:pt x="16891" y="33909"/>
                  </a:moveTo>
                  <a:lnTo>
                    <a:pt x="16891" y="16891"/>
                  </a:lnTo>
                  <a:lnTo>
                    <a:pt x="33909" y="16891"/>
                  </a:lnTo>
                  <a:lnTo>
                    <a:pt x="33909" y="65659"/>
                  </a:lnTo>
                  <a:lnTo>
                    <a:pt x="16891" y="65659"/>
                  </a:lnTo>
                  <a:lnTo>
                    <a:pt x="16891" y="48768"/>
                  </a:lnTo>
                  <a:lnTo>
                    <a:pt x="10867772" y="48768"/>
                  </a:lnTo>
                  <a:lnTo>
                    <a:pt x="10867772" y="65659"/>
                  </a:lnTo>
                  <a:lnTo>
                    <a:pt x="10850880" y="65659"/>
                  </a:lnTo>
                  <a:lnTo>
                    <a:pt x="10850880" y="16891"/>
                  </a:lnTo>
                  <a:lnTo>
                    <a:pt x="10867772" y="16891"/>
                  </a:lnTo>
                  <a:lnTo>
                    <a:pt x="10867772" y="33909"/>
                  </a:lnTo>
                  <a:lnTo>
                    <a:pt x="16891" y="33909"/>
                  </a:lnTo>
                  <a:close/>
                </a:path>
              </a:pathLst>
            </a:custGeom>
            <a:solidFill>
              <a:srgbClr val="3A4160"/>
            </a:solidFill>
          </p:spPr>
          <p:txBody>
            <a:bodyPr/>
            <a:lstStyle/>
            <a:p>
              <a:endParaRPr lang="es-GT"/>
            </a:p>
          </p:txBody>
        </p:sp>
      </p:grpSp>
      <p:sp>
        <p:nvSpPr>
          <p:cNvPr id="49" name="TextBox 49"/>
          <p:cNvSpPr txBox="1"/>
          <p:nvPr/>
        </p:nvSpPr>
        <p:spPr>
          <a:xfrm>
            <a:off x="9747504" y="5429631"/>
            <a:ext cx="7406640" cy="771525"/>
          </a:xfrm>
          <a:prstGeom prst="rect">
            <a:avLst/>
          </a:prstGeom>
        </p:spPr>
        <p:txBody>
          <a:bodyPr lIns="0" tIns="0" rIns="0" bIns="0" rtlCol="0" anchor="t">
            <a:spAutoFit/>
          </a:bodyPr>
          <a:lstStyle/>
          <a:p>
            <a:pPr algn="l">
              <a:lnSpc>
                <a:spcPts val="2879"/>
              </a:lnSpc>
            </a:pPr>
            <a:r>
              <a:rPr lang="en-US" sz="2400">
                <a:solidFill>
                  <a:srgbClr val="C8A8FF"/>
                </a:solidFill>
                <a:latin typeface="Consolas"/>
                <a:ea typeface="Consolas"/>
                <a:cs typeface="Consolas"/>
                <a:sym typeface="Consolas"/>
              </a:rPr>
              <a:t>r &lt;- (a + b + c) / 3</a:t>
            </a:r>
          </a:p>
          <a:p>
            <a:pPr algn="l">
              <a:lnSpc>
                <a:spcPts val="2879"/>
              </a:lnSpc>
            </a:pPr>
            <a:r>
              <a:rPr lang="en-US" sz="2400">
                <a:solidFill>
                  <a:srgbClr val="C8A8FF"/>
                </a:solidFill>
                <a:latin typeface="Consolas"/>
                <a:ea typeface="Consolas"/>
                <a:cs typeface="Consolas"/>
                <a:sym typeface="Consolas"/>
              </a:rPr>
              <a:t>FinFuncion</a:t>
            </a:r>
          </a:p>
        </p:txBody>
      </p:sp>
      <p:grpSp>
        <p:nvGrpSpPr>
          <p:cNvPr id="50" name="Group 50"/>
          <p:cNvGrpSpPr/>
          <p:nvPr/>
        </p:nvGrpSpPr>
        <p:grpSpPr>
          <a:xfrm>
            <a:off x="718823" y="6973319"/>
            <a:ext cx="16850363" cy="2732027"/>
            <a:chOff x="0" y="0"/>
            <a:chExt cx="22467151" cy="3642703"/>
          </a:xfrm>
        </p:grpSpPr>
        <p:sp>
          <p:nvSpPr>
            <p:cNvPr id="51" name="Freeform 51"/>
            <p:cNvSpPr/>
            <p:nvPr/>
          </p:nvSpPr>
          <p:spPr>
            <a:xfrm>
              <a:off x="16891" y="16891"/>
              <a:ext cx="22433280" cy="3608832"/>
            </a:xfrm>
            <a:custGeom>
              <a:avLst/>
              <a:gdLst/>
              <a:ahLst/>
              <a:cxnLst/>
              <a:rect l="l" t="t" r="r" b="b"/>
              <a:pathLst>
                <a:path w="22433280" h="3608832">
                  <a:moveTo>
                    <a:pt x="0" y="0"/>
                  </a:moveTo>
                  <a:lnTo>
                    <a:pt x="22433280" y="0"/>
                  </a:lnTo>
                  <a:lnTo>
                    <a:pt x="22433280" y="3608832"/>
                  </a:lnTo>
                  <a:lnTo>
                    <a:pt x="0" y="3608832"/>
                  </a:lnTo>
                  <a:close/>
                </a:path>
              </a:pathLst>
            </a:custGeom>
            <a:solidFill>
              <a:srgbClr val="0D1020"/>
            </a:solidFill>
          </p:spPr>
          <p:txBody>
            <a:bodyPr/>
            <a:lstStyle/>
            <a:p>
              <a:endParaRPr lang="es-GT"/>
            </a:p>
          </p:txBody>
        </p:sp>
        <p:sp>
          <p:nvSpPr>
            <p:cNvPr id="52" name="Freeform 52"/>
            <p:cNvSpPr/>
            <p:nvPr/>
          </p:nvSpPr>
          <p:spPr>
            <a:xfrm>
              <a:off x="0" y="0"/>
              <a:ext cx="22467063" cy="3642614"/>
            </a:xfrm>
            <a:custGeom>
              <a:avLst/>
              <a:gdLst/>
              <a:ahLst/>
              <a:cxnLst/>
              <a:rect l="l" t="t" r="r" b="b"/>
              <a:pathLst>
                <a:path w="22467063" h="3642614">
                  <a:moveTo>
                    <a:pt x="16891" y="0"/>
                  </a:moveTo>
                  <a:lnTo>
                    <a:pt x="22450171" y="0"/>
                  </a:lnTo>
                  <a:cubicBezTo>
                    <a:pt x="22459569" y="0"/>
                    <a:pt x="22467063" y="7620"/>
                    <a:pt x="22467063" y="16891"/>
                  </a:cubicBezTo>
                  <a:lnTo>
                    <a:pt x="22467063" y="3625723"/>
                  </a:lnTo>
                  <a:cubicBezTo>
                    <a:pt x="22467063" y="3635121"/>
                    <a:pt x="22459443" y="3642614"/>
                    <a:pt x="22450171" y="3642614"/>
                  </a:cubicBezTo>
                  <a:lnTo>
                    <a:pt x="16891" y="3642614"/>
                  </a:lnTo>
                  <a:cubicBezTo>
                    <a:pt x="7493" y="3642614"/>
                    <a:pt x="0" y="3634994"/>
                    <a:pt x="0" y="3625723"/>
                  </a:cubicBezTo>
                  <a:lnTo>
                    <a:pt x="0" y="16891"/>
                  </a:lnTo>
                  <a:cubicBezTo>
                    <a:pt x="0" y="7620"/>
                    <a:pt x="7620" y="0"/>
                    <a:pt x="16891" y="0"/>
                  </a:cubicBezTo>
                  <a:moveTo>
                    <a:pt x="16891" y="33909"/>
                  </a:moveTo>
                  <a:lnTo>
                    <a:pt x="16891" y="16891"/>
                  </a:lnTo>
                  <a:lnTo>
                    <a:pt x="33909" y="16891"/>
                  </a:lnTo>
                  <a:lnTo>
                    <a:pt x="33909" y="3625723"/>
                  </a:lnTo>
                  <a:lnTo>
                    <a:pt x="16891" y="3625723"/>
                  </a:lnTo>
                  <a:lnTo>
                    <a:pt x="16891" y="3608832"/>
                  </a:lnTo>
                  <a:lnTo>
                    <a:pt x="22450171" y="3608832"/>
                  </a:lnTo>
                  <a:lnTo>
                    <a:pt x="22450171" y="3625723"/>
                  </a:lnTo>
                  <a:lnTo>
                    <a:pt x="22433280" y="3625723"/>
                  </a:lnTo>
                  <a:lnTo>
                    <a:pt x="22433280" y="16891"/>
                  </a:lnTo>
                  <a:lnTo>
                    <a:pt x="22450171" y="16891"/>
                  </a:lnTo>
                  <a:lnTo>
                    <a:pt x="22450171" y="33909"/>
                  </a:lnTo>
                  <a:lnTo>
                    <a:pt x="16891" y="33909"/>
                  </a:lnTo>
                  <a:close/>
                </a:path>
              </a:pathLst>
            </a:custGeom>
            <a:solidFill>
              <a:srgbClr val="7EC8A4"/>
            </a:solidFill>
          </p:spPr>
          <p:txBody>
            <a:bodyPr/>
            <a:lstStyle/>
            <a:p>
              <a:endParaRPr lang="es-GT"/>
            </a:p>
          </p:txBody>
        </p:sp>
      </p:grpSp>
      <p:grpSp>
        <p:nvGrpSpPr>
          <p:cNvPr id="53" name="Group 53"/>
          <p:cNvGrpSpPr/>
          <p:nvPr/>
        </p:nvGrpSpPr>
        <p:grpSpPr>
          <a:xfrm>
            <a:off x="1005840" y="7059168"/>
            <a:ext cx="16276320" cy="402336"/>
            <a:chOff x="0" y="0"/>
            <a:chExt cx="21701760" cy="536448"/>
          </a:xfrm>
        </p:grpSpPr>
        <p:sp>
          <p:nvSpPr>
            <p:cNvPr id="54" name="Freeform 54"/>
            <p:cNvSpPr/>
            <p:nvPr/>
          </p:nvSpPr>
          <p:spPr>
            <a:xfrm>
              <a:off x="0" y="0"/>
              <a:ext cx="21701761" cy="536448"/>
            </a:xfrm>
            <a:custGeom>
              <a:avLst/>
              <a:gdLst/>
              <a:ahLst/>
              <a:cxnLst/>
              <a:rect l="l" t="t" r="r" b="b"/>
              <a:pathLst>
                <a:path w="21701761" h="536448">
                  <a:moveTo>
                    <a:pt x="0" y="0"/>
                  </a:moveTo>
                  <a:lnTo>
                    <a:pt x="21701761" y="0"/>
                  </a:lnTo>
                  <a:lnTo>
                    <a:pt x="21701761" y="536448"/>
                  </a:lnTo>
                  <a:lnTo>
                    <a:pt x="0" y="536448"/>
                  </a:lnTo>
                  <a:close/>
                </a:path>
              </a:pathLst>
            </a:custGeom>
            <a:blipFill>
              <a:blip r:embed="rId3">
                <a:alphaModFix amt="0"/>
              </a:blip>
              <a:stretch>
                <a:fillRect t="-738258" b="-738258"/>
              </a:stretch>
            </a:blipFill>
          </p:spPr>
          <p:txBody>
            <a:bodyPr/>
            <a:lstStyle/>
            <a:p>
              <a:endParaRPr lang="es-GT"/>
            </a:p>
          </p:txBody>
        </p:sp>
        <p:sp>
          <p:nvSpPr>
            <p:cNvPr id="55" name="TextBox 55"/>
            <p:cNvSpPr txBox="1"/>
            <p:nvPr/>
          </p:nvSpPr>
          <p:spPr>
            <a:xfrm>
              <a:off x="0" y="-38100"/>
              <a:ext cx="21701760" cy="574548"/>
            </a:xfrm>
            <a:prstGeom prst="rect">
              <a:avLst/>
            </a:prstGeom>
          </p:spPr>
          <p:txBody>
            <a:bodyPr lIns="0" tIns="0" rIns="0" bIns="0" rtlCol="0" anchor="ctr"/>
            <a:lstStyle/>
            <a:p>
              <a:pPr algn="l">
                <a:lnSpc>
                  <a:spcPts val="1920"/>
                </a:lnSpc>
              </a:pPr>
              <a:r>
                <a:rPr lang="en-US" sz="1600" b="1">
                  <a:solidFill>
                    <a:srgbClr val="7EC8A4"/>
                  </a:solidFill>
                  <a:latin typeface="Consolas Bold"/>
                  <a:ea typeface="Consolas Bold"/>
                  <a:cs typeface="Consolas Bold"/>
                  <a:sym typeface="Consolas Bold"/>
                </a:rPr>
                <a:t>SubProceso MostrarResultado(nom, cal)    // Tipo 2: con datos, sin retorno</a:t>
              </a:r>
            </a:p>
          </p:txBody>
        </p:sp>
      </p:grpSp>
      <p:grpSp>
        <p:nvGrpSpPr>
          <p:cNvPr id="56" name="Group 56"/>
          <p:cNvGrpSpPr/>
          <p:nvPr/>
        </p:nvGrpSpPr>
        <p:grpSpPr>
          <a:xfrm>
            <a:off x="718823" y="7503671"/>
            <a:ext cx="16850363" cy="61979"/>
            <a:chOff x="0" y="0"/>
            <a:chExt cx="22467151" cy="82639"/>
          </a:xfrm>
        </p:grpSpPr>
        <p:sp>
          <p:nvSpPr>
            <p:cNvPr id="57" name="Freeform 57"/>
            <p:cNvSpPr/>
            <p:nvPr/>
          </p:nvSpPr>
          <p:spPr>
            <a:xfrm>
              <a:off x="16891" y="16891"/>
              <a:ext cx="22433280" cy="48768"/>
            </a:xfrm>
            <a:custGeom>
              <a:avLst/>
              <a:gdLst/>
              <a:ahLst/>
              <a:cxnLst/>
              <a:rect l="l" t="t" r="r" b="b"/>
              <a:pathLst>
                <a:path w="22433280" h="48768">
                  <a:moveTo>
                    <a:pt x="0" y="0"/>
                  </a:moveTo>
                  <a:lnTo>
                    <a:pt x="22433280" y="0"/>
                  </a:lnTo>
                  <a:lnTo>
                    <a:pt x="22433280" y="48768"/>
                  </a:lnTo>
                  <a:lnTo>
                    <a:pt x="0" y="48768"/>
                  </a:lnTo>
                  <a:close/>
                </a:path>
              </a:pathLst>
            </a:custGeom>
            <a:solidFill>
              <a:srgbClr val="3A4160"/>
            </a:solidFill>
          </p:spPr>
          <p:txBody>
            <a:bodyPr/>
            <a:lstStyle/>
            <a:p>
              <a:endParaRPr lang="es-GT"/>
            </a:p>
          </p:txBody>
        </p:sp>
        <p:sp>
          <p:nvSpPr>
            <p:cNvPr id="58" name="Freeform 58"/>
            <p:cNvSpPr/>
            <p:nvPr/>
          </p:nvSpPr>
          <p:spPr>
            <a:xfrm>
              <a:off x="0" y="0"/>
              <a:ext cx="22467063" cy="82552"/>
            </a:xfrm>
            <a:custGeom>
              <a:avLst/>
              <a:gdLst/>
              <a:ahLst/>
              <a:cxnLst/>
              <a:rect l="l" t="t" r="r" b="b"/>
              <a:pathLst>
                <a:path w="22467063" h="82552">
                  <a:moveTo>
                    <a:pt x="16891" y="0"/>
                  </a:moveTo>
                  <a:lnTo>
                    <a:pt x="22450171" y="0"/>
                  </a:lnTo>
                  <a:cubicBezTo>
                    <a:pt x="22459569" y="0"/>
                    <a:pt x="22467063" y="7620"/>
                    <a:pt x="22467063" y="16891"/>
                  </a:cubicBezTo>
                  <a:lnTo>
                    <a:pt x="22467063" y="65659"/>
                  </a:lnTo>
                  <a:cubicBezTo>
                    <a:pt x="22467063" y="75057"/>
                    <a:pt x="22459443" y="82550"/>
                    <a:pt x="22450171" y="82550"/>
                  </a:cubicBezTo>
                  <a:lnTo>
                    <a:pt x="16891" y="82550"/>
                  </a:lnTo>
                  <a:cubicBezTo>
                    <a:pt x="7620" y="82677"/>
                    <a:pt x="0" y="75057"/>
                    <a:pt x="0" y="65659"/>
                  </a:cubicBezTo>
                  <a:lnTo>
                    <a:pt x="0" y="16891"/>
                  </a:lnTo>
                  <a:cubicBezTo>
                    <a:pt x="0" y="7620"/>
                    <a:pt x="7620" y="0"/>
                    <a:pt x="16891" y="0"/>
                  </a:cubicBezTo>
                  <a:moveTo>
                    <a:pt x="16891" y="33909"/>
                  </a:moveTo>
                  <a:lnTo>
                    <a:pt x="16891" y="16891"/>
                  </a:lnTo>
                  <a:lnTo>
                    <a:pt x="33909" y="16891"/>
                  </a:lnTo>
                  <a:lnTo>
                    <a:pt x="33909" y="65659"/>
                  </a:lnTo>
                  <a:lnTo>
                    <a:pt x="16891" y="65659"/>
                  </a:lnTo>
                  <a:lnTo>
                    <a:pt x="16891" y="48768"/>
                  </a:lnTo>
                  <a:lnTo>
                    <a:pt x="22450171" y="48768"/>
                  </a:lnTo>
                  <a:lnTo>
                    <a:pt x="22450171" y="65659"/>
                  </a:lnTo>
                  <a:lnTo>
                    <a:pt x="22433280" y="65659"/>
                  </a:lnTo>
                  <a:lnTo>
                    <a:pt x="22433280" y="16891"/>
                  </a:lnTo>
                  <a:lnTo>
                    <a:pt x="22450171" y="16891"/>
                  </a:lnTo>
                  <a:lnTo>
                    <a:pt x="22450171" y="33909"/>
                  </a:lnTo>
                  <a:lnTo>
                    <a:pt x="16891" y="33909"/>
                  </a:lnTo>
                  <a:close/>
                </a:path>
              </a:pathLst>
            </a:custGeom>
            <a:solidFill>
              <a:srgbClr val="3A4160"/>
            </a:solidFill>
          </p:spPr>
          <p:txBody>
            <a:bodyPr/>
            <a:lstStyle/>
            <a:p>
              <a:endParaRPr lang="es-GT"/>
            </a:p>
          </p:txBody>
        </p:sp>
      </p:grpSp>
      <p:sp>
        <p:nvSpPr>
          <p:cNvPr id="59" name="TextBox 59"/>
          <p:cNvSpPr txBox="1"/>
          <p:nvPr/>
        </p:nvSpPr>
        <p:spPr>
          <a:xfrm>
            <a:off x="1097280" y="7661529"/>
            <a:ext cx="16276320" cy="1857375"/>
          </a:xfrm>
          <a:prstGeom prst="rect">
            <a:avLst/>
          </a:prstGeom>
        </p:spPr>
        <p:txBody>
          <a:bodyPr lIns="0" tIns="0" rIns="0" bIns="0" rtlCol="0" anchor="t">
            <a:spAutoFit/>
          </a:bodyPr>
          <a:lstStyle/>
          <a:p>
            <a:pPr algn="l">
              <a:lnSpc>
                <a:spcPts val="1967"/>
              </a:lnSpc>
            </a:pPr>
            <a:r>
              <a:rPr lang="en-US" sz="1639">
                <a:solidFill>
                  <a:srgbClr val="7EC8A4"/>
                </a:solidFill>
                <a:latin typeface="Consolas"/>
                <a:ea typeface="Consolas"/>
                <a:cs typeface="Consolas"/>
                <a:sym typeface="Consolas"/>
              </a:rPr>
              <a:t>   Escribir "Estudiante: ", nom</a:t>
            </a:r>
          </a:p>
          <a:p>
            <a:pPr algn="l">
              <a:lnSpc>
                <a:spcPts val="1967"/>
              </a:lnSpc>
            </a:pPr>
            <a:r>
              <a:rPr lang="en-US" sz="1639">
                <a:solidFill>
                  <a:srgbClr val="7EC8A4"/>
                </a:solidFill>
                <a:latin typeface="Consolas"/>
                <a:ea typeface="Consolas"/>
                <a:cs typeface="Consolas"/>
                <a:sym typeface="Consolas"/>
              </a:rPr>
              <a:t>   Si cal &gt;= 61 Entonces</a:t>
            </a:r>
          </a:p>
          <a:p>
            <a:pPr algn="l">
              <a:lnSpc>
                <a:spcPts val="1967"/>
              </a:lnSpc>
            </a:pPr>
            <a:r>
              <a:rPr lang="en-US" sz="1639">
                <a:solidFill>
                  <a:srgbClr val="7EC8A4"/>
                </a:solidFill>
                <a:latin typeface="Consolas"/>
                <a:ea typeface="Consolas"/>
                <a:cs typeface="Consolas"/>
                <a:sym typeface="Consolas"/>
              </a:rPr>
              <a:t>      Escribir nom, " APRUEBA con promedio de ", cal</a:t>
            </a:r>
          </a:p>
          <a:p>
            <a:pPr algn="l">
              <a:lnSpc>
                <a:spcPts val="1967"/>
              </a:lnSpc>
            </a:pPr>
            <a:r>
              <a:rPr lang="en-US" sz="1639">
                <a:solidFill>
                  <a:srgbClr val="7EC8A4"/>
                </a:solidFill>
                <a:latin typeface="Consolas"/>
                <a:ea typeface="Consolas"/>
                <a:cs typeface="Consolas"/>
                <a:sym typeface="Consolas"/>
              </a:rPr>
              <a:t>   SiNo</a:t>
            </a:r>
          </a:p>
          <a:p>
            <a:pPr algn="l">
              <a:lnSpc>
                <a:spcPts val="1967"/>
              </a:lnSpc>
            </a:pPr>
            <a:r>
              <a:rPr lang="en-US" sz="1639">
                <a:solidFill>
                  <a:srgbClr val="7EC8A4"/>
                </a:solidFill>
                <a:latin typeface="Consolas"/>
                <a:ea typeface="Consolas"/>
                <a:cs typeface="Consolas"/>
                <a:sym typeface="Consolas"/>
              </a:rPr>
              <a:t>      Escribir nom, " REPRUEBA con promedio de ", cal</a:t>
            </a:r>
          </a:p>
          <a:p>
            <a:pPr algn="l">
              <a:lnSpc>
                <a:spcPts val="1967"/>
              </a:lnSpc>
            </a:pPr>
            <a:r>
              <a:rPr lang="en-US" sz="1639">
                <a:solidFill>
                  <a:srgbClr val="7EC8A4"/>
                </a:solidFill>
                <a:latin typeface="Consolas"/>
                <a:ea typeface="Consolas"/>
                <a:cs typeface="Consolas"/>
                <a:sym typeface="Consolas"/>
              </a:rPr>
              <a:t>   FinSi</a:t>
            </a:r>
          </a:p>
          <a:p>
            <a:pPr algn="l">
              <a:lnSpc>
                <a:spcPts val="1967"/>
              </a:lnSpc>
            </a:pPr>
            <a:r>
              <a:rPr lang="en-US" sz="1639">
                <a:solidFill>
                  <a:srgbClr val="7EC8A4"/>
                </a:solidFill>
                <a:latin typeface="Consolas"/>
                <a:ea typeface="Consolas"/>
                <a:cs typeface="Consolas"/>
                <a:sym typeface="Consolas"/>
              </a:rPr>
              <a:t>FinSubProceso</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E2235"/>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16891" y="16891"/>
              <a:ext cx="24383999" cy="1755648"/>
            </a:xfrm>
            <a:custGeom>
              <a:avLst/>
              <a:gdLst/>
              <a:ahLst/>
              <a:cxnLst/>
              <a:rect l="l" t="t" r="r" b="b"/>
              <a:pathLst>
                <a:path w="24383999" h="1755648">
                  <a:moveTo>
                    <a:pt x="0" y="0"/>
                  </a:moveTo>
                  <a:lnTo>
                    <a:pt x="24383999" y="0"/>
                  </a:lnTo>
                  <a:lnTo>
                    <a:pt x="24383999" y="1755648"/>
                  </a:lnTo>
                  <a:lnTo>
                    <a:pt x="0" y="1755648"/>
                  </a:lnTo>
                  <a:close/>
                </a:path>
              </a:pathLst>
            </a:custGeom>
            <a:solidFill>
              <a:srgbClr val="161929"/>
            </a:solidFill>
          </p:spPr>
          <p:txBody>
            <a:bodyPr/>
            <a:lstStyle/>
            <a:p>
              <a:endParaRPr lang="es-GT"/>
            </a:p>
          </p:txBody>
        </p:sp>
        <p:sp>
          <p:nvSpPr>
            <p:cNvPr id="4" name="Freeform 4"/>
            <p:cNvSpPr/>
            <p:nvPr/>
          </p:nvSpPr>
          <p:spPr>
            <a:xfrm>
              <a:off x="0" y="0"/>
              <a:ext cx="24417782" cy="1789430"/>
            </a:xfrm>
            <a:custGeom>
              <a:avLst/>
              <a:gdLst/>
              <a:ahLst/>
              <a:cxnLst/>
              <a:rect l="l" t="t" r="r" b="b"/>
              <a:pathLst>
                <a:path w="24417782" h="1789430">
                  <a:moveTo>
                    <a:pt x="16891" y="0"/>
                  </a:moveTo>
                  <a:lnTo>
                    <a:pt x="24400890" y="0"/>
                  </a:lnTo>
                  <a:cubicBezTo>
                    <a:pt x="24410290" y="0"/>
                    <a:pt x="24417782" y="7620"/>
                    <a:pt x="24417782" y="16891"/>
                  </a:cubicBezTo>
                  <a:lnTo>
                    <a:pt x="24417782" y="1772539"/>
                  </a:lnTo>
                  <a:cubicBezTo>
                    <a:pt x="24417782" y="1781937"/>
                    <a:pt x="24410163" y="1789430"/>
                    <a:pt x="24400890"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24400890" y="1755648"/>
                  </a:lnTo>
                  <a:lnTo>
                    <a:pt x="24400890" y="1772539"/>
                  </a:lnTo>
                  <a:lnTo>
                    <a:pt x="24384000" y="1772539"/>
                  </a:lnTo>
                  <a:lnTo>
                    <a:pt x="24384000" y="16891"/>
                  </a:lnTo>
                  <a:lnTo>
                    <a:pt x="24400890" y="16891"/>
                  </a:lnTo>
                  <a:lnTo>
                    <a:pt x="24400890" y="33909"/>
                  </a:lnTo>
                  <a:lnTo>
                    <a:pt x="16891" y="33909"/>
                  </a:lnTo>
                  <a:close/>
                </a:path>
              </a:pathLst>
            </a:custGeom>
            <a:solidFill>
              <a:srgbClr val="161929"/>
            </a:solidFill>
          </p:spPr>
          <p:txBody>
            <a:bodyPr/>
            <a:lstStyle/>
            <a:p>
              <a:endParaRPr lang="es-GT"/>
            </a:p>
          </p:txBody>
        </p:sp>
      </p:grpSp>
      <p:grpSp>
        <p:nvGrpSpPr>
          <p:cNvPr id="5" name="Group 5"/>
          <p:cNvGrpSpPr/>
          <p:nvPr/>
        </p:nvGrpSpPr>
        <p:grpSpPr>
          <a:xfrm>
            <a:off x="-12697" y="1304039"/>
            <a:ext cx="18313403" cy="98555"/>
            <a:chOff x="0" y="0"/>
            <a:chExt cx="24417871" cy="131407"/>
          </a:xfrm>
        </p:grpSpPr>
        <p:sp>
          <p:nvSpPr>
            <p:cNvPr id="6" name="Freeform 6"/>
            <p:cNvSpPr/>
            <p:nvPr/>
          </p:nvSpPr>
          <p:spPr>
            <a:xfrm>
              <a:off x="16891" y="16891"/>
              <a:ext cx="24383999" cy="97536"/>
            </a:xfrm>
            <a:custGeom>
              <a:avLst/>
              <a:gdLst/>
              <a:ahLst/>
              <a:cxnLst/>
              <a:rect l="l" t="t" r="r" b="b"/>
              <a:pathLst>
                <a:path w="24383999" h="97536">
                  <a:moveTo>
                    <a:pt x="0" y="0"/>
                  </a:moveTo>
                  <a:lnTo>
                    <a:pt x="24383999" y="0"/>
                  </a:lnTo>
                  <a:lnTo>
                    <a:pt x="24383999" y="97536"/>
                  </a:lnTo>
                  <a:lnTo>
                    <a:pt x="0" y="97536"/>
                  </a:lnTo>
                  <a:close/>
                </a:path>
              </a:pathLst>
            </a:custGeom>
            <a:solidFill>
              <a:srgbClr val="5B8CFF"/>
            </a:solidFill>
          </p:spPr>
          <p:txBody>
            <a:bodyPr/>
            <a:lstStyle/>
            <a:p>
              <a:endParaRPr lang="es-GT"/>
            </a:p>
          </p:txBody>
        </p:sp>
        <p:sp>
          <p:nvSpPr>
            <p:cNvPr id="7" name="Freeform 7"/>
            <p:cNvSpPr/>
            <p:nvPr/>
          </p:nvSpPr>
          <p:spPr>
            <a:xfrm>
              <a:off x="0" y="0"/>
              <a:ext cx="24417782" cy="131320"/>
            </a:xfrm>
            <a:custGeom>
              <a:avLst/>
              <a:gdLst/>
              <a:ahLst/>
              <a:cxnLst/>
              <a:rect l="l" t="t" r="r" b="b"/>
              <a:pathLst>
                <a:path w="24417782" h="131320">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5B8CFF"/>
            </a:solidFill>
          </p:spPr>
          <p:txBody>
            <a:bodyPr/>
            <a:lstStyle/>
            <a:p>
              <a:endParaRPr lang="es-GT"/>
            </a:p>
          </p:txBody>
        </p:sp>
      </p:grpSp>
      <p:grpSp>
        <p:nvGrpSpPr>
          <p:cNvPr id="8" name="Group 8"/>
          <p:cNvGrpSpPr/>
          <p:nvPr/>
        </p:nvGrpSpPr>
        <p:grpSpPr>
          <a:xfrm>
            <a:off x="822960" y="0"/>
            <a:ext cx="16642080" cy="1316736"/>
            <a:chOff x="0" y="0"/>
            <a:chExt cx="22189440" cy="1755648"/>
          </a:xfrm>
        </p:grpSpPr>
        <p:sp>
          <p:nvSpPr>
            <p:cNvPr id="9" name="Freeform 9"/>
            <p:cNvSpPr/>
            <p:nvPr/>
          </p:nvSpPr>
          <p:spPr>
            <a:xfrm>
              <a:off x="0" y="0"/>
              <a:ext cx="22189439" cy="1755648"/>
            </a:xfrm>
            <a:custGeom>
              <a:avLst/>
              <a:gdLst/>
              <a:ahLst/>
              <a:cxnLst/>
              <a:rect l="l" t="t" r="r" b="b"/>
              <a:pathLst>
                <a:path w="22189439" h="1755648">
                  <a:moveTo>
                    <a:pt x="0" y="0"/>
                  </a:moveTo>
                  <a:lnTo>
                    <a:pt x="22189439" y="0"/>
                  </a:lnTo>
                  <a:lnTo>
                    <a:pt x="22189439" y="1755648"/>
                  </a:lnTo>
                  <a:lnTo>
                    <a:pt x="0" y="1755648"/>
                  </a:lnTo>
                  <a:close/>
                </a:path>
              </a:pathLst>
            </a:custGeom>
            <a:blipFill>
              <a:blip r:embed="rId3">
                <a:alphaModFix amt="0"/>
              </a:blip>
              <a:stretch>
                <a:fillRect t="-196269" b="-196269"/>
              </a:stretch>
            </a:blipFill>
          </p:spPr>
          <p:txBody>
            <a:bodyPr/>
            <a:lstStyle/>
            <a:p>
              <a:endParaRPr lang="es-GT"/>
            </a:p>
          </p:txBody>
        </p:sp>
        <p:sp>
          <p:nvSpPr>
            <p:cNvPr id="10" name="TextBox 10"/>
            <p:cNvSpPr txBox="1"/>
            <p:nvPr/>
          </p:nvSpPr>
          <p:spPr>
            <a:xfrm>
              <a:off x="0" y="-76200"/>
              <a:ext cx="22189440" cy="1831848"/>
            </a:xfrm>
            <a:prstGeom prst="rect">
              <a:avLst/>
            </a:prstGeom>
          </p:spPr>
          <p:txBody>
            <a:bodyPr lIns="0" tIns="0" rIns="0" bIns="0" rtlCol="0" anchor="ctr"/>
            <a:lstStyle/>
            <a:p>
              <a:pPr algn="l">
                <a:lnSpc>
                  <a:spcPts val="5280"/>
                </a:lnSpc>
              </a:pPr>
              <a:r>
                <a:rPr lang="en-US" sz="4400" b="1">
                  <a:solidFill>
                    <a:srgbClr val="FFFFFF"/>
                  </a:solidFill>
                  <a:latin typeface="Calibri (MS) Bold"/>
                  <a:ea typeface="Calibri (MS) Bold"/>
                  <a:cs typeface="Calibri (MS) Bold"/>
                  <a:sym typeface="Calibri (MS) Bold"/>
                </a:rPr>
                <a:t>Secuencial puro vs. diseño modular con subprocesos</a:t>
              </a:r>
            </a:p>
          </p:txBody>
        </p:sp>
      </p:grpSp>
      <p:grpSp>
        <p:nvGrpSpPr>
          <p:cNvPr id="11" name="Group 11"/>
          <p:cNvGrpSpPr/>
          <p:nvPr/>
        </p:nvGrpSpPr>
        <p:grpSpPr>
          <a:xfrm>
            <a:off x="-12697" y="9954263"/>
            <a:ext cx="18313403" cy="345443"/>
            <a:chOff x="0" y="0"/>
            <a:chExt cx="24417871" cy="460591"/>
          </a:xfrm>
        </p:grpSpPr>
        <p:sp>
          <p:nvSpPr>
            <p:cNvPr id="12" name="Freeform 12"/>
            <p:cNvSpPr/>
            <p:nvPr/>
          </p:nvSpPr>
          <p:spPr>
            <a:xfrm>
              <a:off x="16891" y="16891"/>
              <a:ext cx="24383999" cy="426720"/>
            </a:xfrm>
            <a:custGeom>
              <a:avLst/>
              <a:gdLst/>
              <a:ahLst/>
              <a:cxnLst/>
              <a:rect l="l" t="t" r="r" b="b"/>
              <a:pathLst>
                <a:path w="24383999" h="426720">
                  <a:moveTo>
                    <a:pt x="0" y="0"/>
                  </a:moveTo>
                  <a:lnTo>
                    <a:pt x="24383999" y="0"/>
                  </a:lnTo>
                  <a:lnTo>
                    <a:pt x="24383999" y="426720"/>
                  </a:lnTo>
                  <a:lnTo>
                    <a:pt x="0" y="426720"/>
                  </a:lnTo>
                  <a:close/>
                </a:path>
              </a:pathLst>
            </a:custGeom>
            <a:solidFill>
              <a:srgbClr val="12152A"/>
            </a:solidFill>
          </p:spPr>
          <p:txBody>
            <a:bodyPr/>
            <a:lstStyle/>
            <a:p>
              <a:endParaRPr lang="es-GT"/>
            </a:p>
          </p:txBody>
        </p:sp>
        <p:sp>
          <p:nvSpPr>
            <p:cNvPr id="13" name="Freeform 13"/>
            <p:cNvSpPr/>
            <p:nvPr/>
          </p:nvSpPr>
          <p:spPr>
            <a:xfrm>
              <a:off x="0" y="0"/>
              <a:ext cx="24417782" cy="460504"/>
            </a:xfrm>
            <a:custGeom>
              <a:avLst/>
              <a:gdLst/>
              <a:ahLst/>
              <a:cxnLst/>
              <a:rect l="l" t="t" r="r" b="b"/>
              <a:pathLst>
                <a:path w="24417782" h="460504">
                  <a:moveTo>
                    <a:pt x="16891" y="0"/>
                  </a:moveTo>
                  <a:lnTo>
                    <a:pt x="24400890" y="0"/>
                  </a:lnTo>
                  <a:cubicBezTo>
                    <a:pt x="24410290" y="0"/>
                    <a:pt x="24417782" y="7620"/>
                    <a:pt x="24417782" y="16891"/>
                  </a:cubicBezTo>
                  <a:lnTo>
                    <a:pt x="24417782" y="443611"/>
                  </a:lnTo>
                  <a:cubicBezTo>
                    <a:pt x="24417782" y="453009"/>
                    <a:pt x="24410163" y="460502"/>
                    <a:pt x="24400890" y="460502"/>
                  </a:cubicBezTo>
                  <a:lnTo>
                    <a:pt x="16891" y="460502"/>
                  </a:lnTo>
                  <a:cubicBezTo>
                    <a:pt x="7620" y="460629"/>
                    <a:pt x="0" y="453009"/>
                    <a:pt x="0" y="443611"/>
                  </a:cubicBezTo>
                  <a:lnTo>
                    <a:pt x="0" y="16891"/>
                  </a:lnTo>
                  <a:cubicBezTo>
                    <a:pt x="0" y="7620"/>
                    <a:pt x="7620" y="0"/>
                    <a:pt x="16891" y="0"/>
                  </a:cubicBezTo>
                  <a:moveTo>
                    <a:pt x="16891" y="33909"/>
                  </a:moveTo>
                  <a:lnTo>
                    <a:pt x="16891" y="16891"/>
                  </a:lnTo>
                  <a:lnTo>
                    <a:pt x="33909" y="16891"/>
                  </a:lnTo>
                  <a:lnTo>
                    <a:pt x="33909" y="443611"/>
                  </a:lnTo>
                  <a:lnTo>
                    <a:pt x="16891" y="443611"/>
                  </a:lnTo>
                  <a:lnTo>
                    <a:pt x="16891" y="426720"/>
                  </a:lnTo>
                  <a:lnTo>
                    <a:pt x="24400890" y="426720"/>
                  </a:lnTo>
                  <a:lnTo>
                    <a:pt x="24400890" y="443611"/>
                  </a:lnTo>
                  <a:lnTo>
                    <a:pt x="24384000" y="443611"/>
                  </a:lnTo>
                  <a:lnTo>
                    <a:pt x="24384000" y="16891"/>
                  </a:lnTo>
                  <a:lnTo>
                    <a:pt x="24400890" y="16891"/>
                  </a:lnTo>
                  <a:lnTo>
                    <a:pt x="24400890" y="33909"/>
                  </a:lnTo>
                  <a:lnTo>
                    <a:pt x="16891" y="33909"/>
                  </a:lnTo>
                  <a:close/>
                </a:path>
              </a:pathLst>
            </a:custGeom>
            <a:solidFill>
              <a:srgbClr val="12152A"/>
            </a:solidFill>
          </p:spPr>
          <p:txBody>
            <a:bodyPr/>
            <a:lstStyle/>
            <a:p>
              <a:endParaRPr lang="es-GT"/>
            </a:p>
          </p:txBody>
        </p:sp>
      </p:grpSp>
      <p:grpSp>
        <p:nvGrpSpPr>
          <p:cNvPr id="14" name="Group 14"/>
          <p:cNvGrpSpPr/>
          <p:nvPr/>
        </p:nvGrpSpPr>
        <p:grpSpPr>
          <a:xfrm>
            <a:off x="17007840" y="9966960"/>
            <a:ext cx="914400" cy="320040"/>
            <a:chOff x="0" y="0"/>
            <a:chExt cx="1219200" cy="426720"/>
          </a:xfrm>
        </p:grpSpPr>
        <p:sp>
          <p:nvSpPr>
            <p:cNvPr id="15" name="Freeform 15"/>
            <p:cNvSpPr/>
            <p:nvPr/>
          </p:nvSpPr>
          <p:spPr>
            <a:xfrm>
              <a:off x="0" y="0"/>
              <a:ext cx="1219200" cy="426720"/>
            </a:xfrm>
            <a:custGeom>
              <a:avLst/>
              <a:gdLst/>
              <a:ahLst/>
              <a:cxnLst/>
              <a:rect l="l" t="t" r="r" b="b"/>
              <a:pathLst>
                <a:path w="1219200" h="426720">
                  <a:moveTo>
                    <a:pt x="0" y="0"/>
                  </a:moveTo>
                  <a:lnTo>
                    <a:pt x="1219200" y="0"/>
                  </a:lnTo>
                  <a:lnTo>
                    <a:pt x="1219200" y="426720"/>
                  </a:lnTo>
                  <a:lnTo>
                    <a:pt x="0" y="426720"/>
                  </a:lnTo>
                  <a:close/>
                </a:path>
              </a:pathLst>
            </a:custGeom>
            <a:blipFill>
              <a:blip r:embed="rId3">
                <a:alphaModFix amt="0"/>
              </a:blip>
              <a:stretch>
                <a:fillRect t="-5671" b="-5671"/>
              </a:stretch>
            </a:blipFill>
          </p:spPr>
          <p:txBody>
            <a:bodyPr/>
            <a:lstStyle/>
            <a:p>
              <a:endParaRPr lang="es-GT"/>
            </a:p>
          </p:txBody>
        </p:sp>
        <p:sp>
          <p:nvSpPr>
            <p:cNvPr id="16" name="TextBox 16"/>
            <p:cNvSpPr txBox="1"/>
            <p:nvPr/>
          </p:nvSpPr>
          <p:spPr>
            <a:xfrm>
              <a:off x="0" y="-38100"/>
              <a:ext cx="1219200" cy="464820"/>
            </a:xfrm>
            <a:prstGeom prst="rect">
              <a:avLst/>
            </a:prstGeom>
          </p:spPr>
          <p:txBody>
            <a:bodyPr lIns="0" tIns="0" rIns="0" bIns="0" rtlCol="0" anchor="ctr"/>
            <a:lstStyle/>
            <a:p>
              <a:pPr algn="r">
                <a:lnSpc>
                  <a:spcPts val="1800"/>
                </a:lnSpc>
              </a:pPr>
              <a:r>
                <a:rPr lang="en-US" sz="1500">
                  <a:solidFill>
                    <a:srgbClr val="6E7A9F"/>
                  </a:solidFill>
                  <a:latin typeface="Calibri (MS)"/>
                  <a:ea typeface="Calibri (MS)"/>
                  <a:cs typeface="Calibri (MS)"/>
                  <a:sym typeface="Calibri (MS)"/>
                </a:rPr>
                <a:t>34</a:t>
              </a:r>
            </a:p>
          </p:txBody>
        </p:sp>
      </p:grpSp>
      <p:grpSp>
        <p:nvGrpSpPr>
          <p:cNvPr id="17" name="Group 17"/>
          <p:cNvGrpSpPr/>
          <p:nvPr/>
        </p:nvGrpSpPr>
        <p:grpSpPr>
          <a:xfrm>
            <a:off x="731520" y="1554480"/>
            <a:ext cx="16824960" cy="640080"/>
            <a:chOff x="0" y="0"/>
            <a:chExt cx="22433280" cy="853440"/>
          </a:xfrm>
        </p:grpSpPr>
        <p:sp>
          <p:nvSpPr>
            <p:cNvPr id="18" name="Freeform 18"/>
            <p:cNvSpPr/>
            <p:nvPr/>
          </p:nvSpPr>
          <p:spPr>
            <a:xfrm>
              <a:off x="0" y="0"/>
              <a:ext cx="22433280" cy="853440"/>
            </a:xfrm>
            <a:custGeom>
              <a:avLst/>
              <a:gdLst/>
              <a:ahLst/>
              <a:cxnLst/>
              <a:rect l="l" t="t" r="r" b="b"/>
              <a:pathLst>
                <a:path w="22433280" h="853440">
                  <a:moveTo>
                    <a:pt x="0" y="0"/>
                  </a:moveTo>
                  <a:lnTo>
                    <a:pt x="22433280" y="0"/>
                  </a:lnTo>
                  <a:lnTo>
                    <a:pt x="22433280" y="853440"/>
                  </a:lnTo>
                  <a:lnTo>
                    <a:pt x="0" y="853440"/>
                  </a:lnTo>
                  <a:close/>
                </a:path>
              </a:pathLst>
            </a:custGeom>
            <a:blipFill>
              <a:blip r:embed="rId3">
                <a:alphaModFix amt="0"/>
              </a:blip>
              <a:stretch>
                <a:fillRect t="-462178" b="-462178"/>
              </a:stretch>
            </a:blipFill>
          </p:spPr>
          <p:txBody>
            <a:bodyPr/>
            <a:lstStyle/>
            <a:p>
              <a:endParaRPr lang="es-GT"/>
            </a:p>
          </p:txBody>
        </p:sp>
        <p:sp>
          <p:nvSpPr>
            <p:cNvPr id="19" name="TextBox 19"/>
            <p:cNvSpPr txBox="1"/>
            <p:nvPr/>
          </p:nvSpPr>
          <p:spPr>
            <a:xfrm>
              <a:off x="0" y="-47625"/>
              <a:ext cx="22433280" cy="901065"/>
            </a:xfrm>
            <a:prstGeom prst="rect">
              <a:avLst/>
            </a:prstGeom>
          </p:spPr>
          <p:txBody>
            <a:bodyPr lIns="0" tIns="0" rIns="0" bIns="0" rtlCol="0" anchor="ctr"/>
            <a:lstStyle/>
            <a:p>
              <a:pPr algn="l">
                <a:lnSpc>
                  <a:spcPts val="2520"/>
                </a:lnSpc>
              </a:pPr>
              <a:r>
                <a:rPr lang="en-US" sz="2100">
                  <a:solidFill>
                    <a:srgbClr val="B0B8CC"/>
                  </a:solidFill>
                  <a:latin typeface="Calibri (MS)"/>
                  <a:ea typeface="Calibri (MS)"/>
                  <a:cs typeface="Calibri (MS)"/>
                  <a:sym typeface="Calibri (MS)"/>
                </a:rPr>
                <a:t>Mismo problema, dos enfoques. El algoritmo calcula el promedio y muestra el resultado para 3 estudiantes:</a:t>
              </a:r>
            </a:p>
          </p:txBody>
        </p:sp>
      </p:grpSp>
      <p:grpSp>
        <p:nvGrpSpPr>
          <p:cNvPr id="20" name="Group 20"/>
          <p:cNvGrpSpPr/>
          <p:nvPr/>
        </p:nvGrpSpPr>
        <p:grpSpPr>
          <a:xfrm>
            <a:off x="718823" y="2328167"/>
            <a:ext cx="8255003" cy="7523483"/>
            <a:chOff x="0" y="0"/>
            <a:chExt cx="11006671" cy="10031311"/>
          </a:xfrm>
        </p:grpSpPr>
        <p:sp>
          <p:nvSpPr>
            <p:cNvPr id="21" name="Freeform 21"/>
            <p:cNvSpPr/>
            <p:nvPr/>
          </p:nvSpPr>
          <p:spPr>
            <a:xfrm>
              <a:off x="16891" y="16891"/>
              <a:ext cx="10972800" cy="9997440"/>
            </a:xfrm>
            <a:custGeom>
              <a:avLst/>
              <a:gdLst/>
              <a:ahLst/>
              <a:cxnLst/>
              <a:rect l="l" t="t" r="r" b="b"/>
              <a:pathLst>
                <a:path w="10972800" h="9997440">
                  <a:moveTo>
                    <a:pt x="0" y="0"/>
                  </a:moveTo>
                  <a:lnTo>
                    <a:pt x="10972800" y="0"/>
                  </a:lnTo>
                  <a:lnTo>
                    <a:pt x="10972800" y="9997440"/>
                  </a:lnTo>
                  <a:lnTo>
                    <a:pt x="0" y="9997440"/>
                  </a:lnTo>
                  <a:close/>
                </a:path>
              </a:pathLst>
            </a:custGeom>
            <a:solidFill>
              <a:srgbClr val="0D1020"/>
            </a:solidFill>
          </p:spPr>
          <p:txBody>
            <a:bodyPr/>
            <a:lstStyle/>
            <a:p>
              <a:endParaRPr lang="es-GT"/>
            </a:p>
          </p:txBody>
        </p:sp>
        <p:sp>
          <p:nvSpPr>
            <p:cNvPr id="22" name="Freeform 22"/>
            <p:cNvSpPr/>
            <p:nvPr/>
          </p:nvSpPr>
          <p:spPr>
            <a:xfrm>
              <a:off x="0" y="0"/>
              <a:ext cx="11006582" cy="10031222"/>
            </a:xfrm>
            <a:custGeom>
              <a:avLst/>
              <a:gdLst/>
              <a:ahLst/>
              <a:cxnLst/>
              <a:rect l="l" t="t" r="r" b="b"/>
              <a:pathLst>
                <a:path w="11006582" h="10031222">
                  <a:moveTo>
                    <a:pt x="16891" y="0"/>
                  </a:moveTo>
                  <a:lnTo>
                    <a:pt x="10989691" y="0"/>
                  </a:lnTo>
                  <a:cubicBezTo>
                    <a:pt x="10999089" y="0"/>
                    <a:pt x="11006582" y="7620"/>
                    <a:pt x="11006582" y="16891"/>
                  </a:cubicBezTo>
                  <a:lnTo>
                    <a:pt x="11006582" y="10014331"/>
                  </a:lnTo>
                  <a:cubicBezTo>
                    <a:pt x="11006582" y="10023729"/>
                    <a:pt x="10998962" y="10031222"/>
                    <a:pt x="10989691" y="10031222"/>
                  </a:cubicBezTo>
                  <a:lnTo>
                    <a:pt x="16891" y="10031222"/>
                  </a:lnTo>
                  <a:cubicBezTo>
                    <a:pt x="7493" y="10031222"/>
                    <a:pt x="0" y="10023602"/>
                    <a:pt x="0" y="10014331"/>
                  </a:cubicBezTo>
                  <a:lnTo>
                    <a:pt x="0" y="16891"/>
                  </a:lnTo>
                  <a:cubicBezTo>
                    <a:pt x="0" y="7620"/>
                    <a:pt x="7620" y="0"/>
                    <a:pt x="16891" y="0"/>
                  </a:cubicBezTo>
                  <a:moveTo>
                    <a:pt x="16891" y="33909"/>
                  </a:moveTo>
                  <a:lnTo>
                    <a:pt x="16891" y="16891"/>
                  </a:lnTo>
                  <a:lnTo>
                    <a:pt x="33909" y="16891"/>
                  </a:lnTo>
                  <a:lnTo>
                    <a:pt x="33909" y="10014331"/>
                  </a:lnTo>
                  <a:lnTo>
                    <a:pt x="16891" y="10014331"/>
                  </a:lnTo>
                  <a:lnTo>
                    <a:pt x="16891" y="9997440"/>
                  </a:lnTo>
                  <a:lnTo>
                    <a:pt x="10989691" y="9997440"/>
                  </a:lnTo>
                  <a:lnTo>
                    <a:pt x="10989691" y="10014331"/>
                  </a:lnTo>
                  <a:lnTo>
                    <a:pt x="10972800" y="10014331"/>
                  </a:lnTo>
                  <a:lnTo>
                    <a:pt x="10972800" y="16891"/>
                  </a:lnTo>
                  <a:lnTo>
                    <a:pt x="10989691" y="16891"/>
                  </a:lnTo>
                  <a:lnTo>
                    <a:pt x="10989691" y="33909"/>
                  </a:lnTo>
                  <a:lnTo>
                    <a:pt x="16891" y="33909"/>
                  </a:lnTo>
                  <a:close/>
                </a:path>
              </a:pathLst>
            </a:custGeom>
            <a:solidFill>
              <a:srgbClr val="F0877A"/>
            </a:solidFill>
          </p:spPr>
          <p:txBody>
            <a:bodyPr/>
            <a:lstStyle/>
            <a:p>
              <a:endParaRPr lang="es-GT"/>
            </a:p>
          </p:txBody>
        </p:sp>
      </p:grpSp>
      <p:grpSp>
        <p:nvGrpSpPr>
          <p:cNvPr id="23" name="Group 23"/>
          <p:cNvGrpSpPr/>
          <p:nvPr/>
        </p:nvGrpSpPr>
        <p:grpSpPr>
          <a:xfrm>
            <a:off x="718823" y="2328167"/>
            <a:ext cx="8255003" cy="720347"/>
            <a:chOff x="0" y="0"/>
            <a:chExt cx="11006671" cy="960463"/>
          </a:xfrm>
        </p:grpSpPr>
        <p:sp>
          <p:nvSpPr>
            <p:cNvPr id="24" name="Freeform 24"/>
            <p:cNvSpPr/>
            <p:nvPr/>
          </p:nvSpPr>
          <p:spPr>
            <a:xfrm>
              <a:off x="16891" y="16891"/>
              <a:ext cx="10972800" cy="926592"/>
            </a:xfrm>
            <a:custGeom>
              <a:avLst/>
              <a:gdLst/>
              <a:ahLst/>
              <a:cxnLst/>
              <a:rect l="l" t="t" r="r" b="b"/>
              <a:pathLst>
                <a:path w="10972800" h="926592">
                  <a:moveTo>
                    <a:pt x="0" y="0"/>
                  </a:moveTo>
                  <a:lnTo>
                    <a:pt x="10972800" y="0"/>
                  </a:lnTo>
                  <a:lnTo>
                    <a:pt x="10972800" y="926592"/>
                  </a:lnTo>
                  <a:lnTo>
                    <a:pt x="0" y="926592"/>
                  </a:lnTo>
                  <a:close/>
                </a:path>
              </a:pathLst>
            </a:custGeom>
            <a:solidFill>
              <a:srgbClr val="2A1010"/>
            </a:solidFill>
          </p:spPr>
          <p:txBody>
            <a:bodyPr/>
            <a:lstStyle/>
            <a:p>
              <a:endParaRPr lang="es-GT"/>
            </a:p>
          </p:txBody>
        </p:sp>
        <p:sp>
          <p:nvSpPr>
            <p:cNvPr id="25" name="Freeform 25"/>
            <p:cNvSpPr/>
            <p:nvPr/>
          </p:nvSpPr>
          <p:spPr>
            <a:xfrm>
              <a:off x="0" y="0"/>
              <a:ext cx="11006582" cy="960376"/>
            </a:xfrm>
            <a:custGeom>
              <a:avLst/>
              <a:gdLst/>
              <a:ahLst/>
              <a:cxnLst/>
              <a:rect l="l" t="t" r="r" b="b"/>
              <a:pathLst>
                <a:path w="11006582" h="960376">
                  <a:moveTo>
                    <a:pt x="16891" y="0"/>
                  </a:moveTo>
                  <a:lnTo>
                    <a:pt x="10989691" y="0"/>
                  </a:lnTo>
                  <a:cubicBezTo>
                    <a:pt x="10999089" y="0"/>
                    <a:pt x="11006582" y="7620"/>
                    <a:pt x="11006582" y="16891"/>
                  </a:cubicBezTo>
                  <a:lnTo>
                    <a:pt x="11006582" y="943483"/>
                  </a:lnTo>
                  <a:cubicBezTo>
                    <a:pt x="11006582" y="952881"/>
                    <a:pt x="10998962" y="960374"/>
                    <a:pt x="1098969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10989691" y="926592"/>
                  </a:lnTo>
                  <a:lnTo>
                    <a:pt x="10989691" y="943483"/>
                  </a:lnTo>
                  <a:lnTo>
                    <a:pt x="10972800" y="943483"/>
                  </a:lnTo>
                  <a:lnTo>
                    <a:pt x="10972800" y="16891"/>
                  </a:lnTo>
                  <a:lnTo>
                    <a:pt x="10989691" y="16891"/>
                  </a:lnTo>
                  <a:lnTo>
                    <a:pt x="10989691" y="33909"/>
                  </a:lnTo>
                  <a:lnTo>
                    <a:pt x="16891" y="33909"/>
                  </a:lnTo>
                  <a:close/>
                </a:path>
              </a:pathLst>
            </a:custGeom>
            <a:solidFill>
              <a:srgbClr val="F0877A"/>
            </a:solidFill>
          </p:spPr>
          <p:txBody>
            <a:bodyPr/>
            <a:lstStyle/>
            <a:p>
              <a:endParaRPr lang="es-GT"/>
            </a:p>
          </p:txBody>
        </p:sp>
      </p:grpSp>
      <p:grpSp>
        <p:nvGrpSpPr>
          <p:cNvPr id="26" name="Group 26"/>
          <p:cNvGrpSpPr/>
          <p:nvPr/>
        </p:nvGrpSpPr>
        <p:grpSpPr>
          <a:xfrm>
            <a:off x="1005840" y="2395728"/>
            <a:ext cx="7680960" cy="548640"/>
            <a:chOff x="0" y="0"/>
            <a:chExt cx="10241280" cy="731520"/>
          </a:xfrm>
        </p:grpSpPr>
        <p:sp>
          <p:nvSpPr>
            <p:cNvPr id="27" name="Freeform 27"/>
            <p:cNvSpPr/>
            <p:nvPr/>
          </p:nvSpPr>
          <p:spPr>
            <a:xfrm>
              <a:off x="0" y="0"/>
              <a:ext cx="10241280" cy="731520"/>
            </a:xfrm>
            <a:custGeom>
              <a:avLst/>
              <a:gdLst/>
              <a:ahLst/>
              <a:cxnLst/>
              <a:rect l="l" t="t" r="r" b="b"/>
              <a:pathLst>
                <a:path w="10241280" h="731520">
                  <a:moveTo>
                    <a:pt x="0" y="0"/>
                  </a:moveTo>
                  <a:lnTo>
                    <a:pt x="10241280" y="0"/>
                  </a:lnTo>
                  <a:lnTo>
                    <a:pt x="10241280" y="731520"/>
                  </a:lnTo>
                  <a:lnTo>
                    <a:pt x="0" y="731520"/>
                  </a:lnTo>
                  <a:close/>
                </a:path>
              </a:pathLst>
            </a:custGeom>
            <a:blipFill>
              <a:blip r:embed="rId3">
                <a:alphaModFix amt="0"/>
              </a:blip>
              <a:stretch>
                <a:fillRect t="-222790" b="-222790"/>
              </a:stretch>
            </a:blipFill>
          </p:spPr>
          <p:txBody>
            <a:bodyPr/>
            <a:lstStyle/>
            <a:p>
              <a:endParaRPr lang="es-GT"/>
            </a:p>
          </p:txBody>
        </p:sp>
        <p:sp>
          <p:nvSpPr>
            <p:cNvPr id="28" name="TextBox 28"/>
            <p:cNvSpPr txBox="1"/>
            <p:nvPr/>
          </p:nvSpPr>
          <p:spPr>
            <a:xfrm>
              <a:off x="0" y="-38100"/>
              <a:ext cx="10241280" cy="769620"/>
            </a:xfrm>
            <a:prstGeom prst="rect">
              <a:avLst/>
            </a:prstGeom>
          </p:spPr>
          <p:txBody>
            <a:bodyPr lIns="0" tIns="0" rIns="0" bIns="0" rtlCol="0" anchor="ctr"/>
            <a:lstStyle/>
            <a:p>
              <a:pPr algn="l">
                <a:lnSpc>
                  <a:spcPts val="2280"/>
                </a:lnSpc>
              </a:pPr>
              <a:r>
                <a:rPr lang="en-US" sz="1900" b="1">
                  <a:solidFill>
                    <a:srgbClr val="F0877A"/>
                  </a:solidFill>
                  <a:latin typeface="Calibri (MS) Bold"/>
                  <a:ea typeface="Calibri (MS) Bold"/>
                  <a:cs typeface="Calibri (MS) Bold"/>
                  <a:sym typeface="Calibri (MS) Bold"/>
                </a:rPr>
                <a:t>✗  Versión secuencial pura  (36 líneas)</a:t>
              </a:r>
            </a:p>
          </p:txBody>
        </p:sp>
      </p:grpSp>
      <p:sp>
        <p:nvSpPr>
          <p:cNvPr id="29" name="TextBox 29"/>
          <p:cNvSpPr txBox="1"/>
          <p:nvPr/>
        </p:nvSpPr>
        <p:spPr>
          <a:xfrm>
            <a:off x="1097280" y="3162681"/>
            <a:ext cx="7498080" cy="6520815"/>
          </a:xfrm>
          <a:prstGeom prst="rect">
            <a:avLst/>
          </a:prstGeom>
        </p:spPr>
        <p:txBody>
          <a:bodyPr lIns="0" tIns="0" rIns="0" bIns="0" rtlCol="0" anchor="t">
            <a:spAutoFit/>
          </a:bodyPr>
          <a:lstStyle/>
          <a:p>
            <a:pPr algn="l">
              <a:lnSpc>
                <a:spcPts val="1871"/>
              </a:lnSpc>
            </a:pPr>
            <a:r>
              <a:rPr lang="en-US" sz="1559">
                <a:solidFill>
                  <a:srgbClr val="F0A090"/>
                </a:solidFill>
                <a:latin typeface="Consolas"/>
                <a:ea typeface="Consolas"/>
                <a:cs typeface="Consolas"/>
                <a:sym typeface="Consolas"/>
              </a:rPr>
              <a:t>Algoritmo Version_Secuencial</a:t>
            </a:r>
          </a:p>
          <a:p>
            <a:pPr algn="l">
              <a:lnSpc>
                <a:spcPts val="1871"/>
              </a:lnSpc>
            </a:pPr>
            <a:r>
              <a:rPr lang="en-US" sz="1559">
                <a:solidFill>
                  <a:srgbClr val="F0A090"/>
                </a:solidFill>
                <a:latin typeface="Consolas"/>
                <a:ea typeface="Consolas"/>
                <a:cs typeface="Consolas"/>
                <a:sym typeface="Consolas"/>
              </a:rPr>
              <a:t>  Definir n1,n2,n3,prom Como Real</a:t>
            </a:r>
          </a:p>
          <a:p>
            <a:pPr algn="l">
              <a:lnSpc>
                <a:spcPts val="1871"/>
              </a:lnSpc>
            </a:pPr>
            <a:r>
              <a:rPr lang="en-US" sz="1559">
                <a:solidFill>
                  <a:srgbClr val="F0A090"/>
                </a:solidFill>
                <a:latin typeface="Consolas"/>
                <a:ea typeface="Consolas"/>
                <a:cs typeface="Consolas"/>
                <a:sym typeface="Consolas"/>
              </a:rPr>
              <a:t>  Definir nombre Como Cadena</a:t>
            </a:r>
          </a:p>
          <a:p>
            <a:pPr algn="l">
              <a:lnSpc>
                <a:spcPts val="1871"/>
              </a:lnSpc>
            </a:pPr>
            <a:r>
              <a:rPr lang="en-US" sz="1559">
                <a:solidFill>
                  <a:srgbClr val="F0A090"/>
                </a:solidFill>
                <a:latin typeface="Consolas"/>
                <a:ea typeface="Consolas"/>
                <a:cs typeface="Consolas"/>
                <a:sym typeface="Consolas"/>
              </a:rPr>
              <a:t>  // --- Estudiante 1 ---</a:t>
            </a:r>
          </a:p>
          <a:p>
            <a:pPr algn="l">
              <a:lnSpc>
                <a:spcPts val="1871"/>
              </a:lnSpc>
            </a:pPr>
            <a:r>
              <a:rPr lang="en-US" sz="1559">
                <a:solidFill>
                  <a:srgbClr val="F0A090"/>
                </a:solidFill>
                <a:latin typeface="Consolas"/>
                <a:ea typeface="Consolas"/>
                <a:cs typeface="Consolas"/>
                <a:sym typeface="Consolas"/>
              </a:rPr>
              <a:t>  Escribir "=== SISTEMA DE NOTAS ==="</a:t>
            </a:r>
          </a:p>
          <a:p>
            <a:pPr algn="l">
              <a:lnSpc>
                <a:spcPts val="1871"/>
              </a:lnSpc>
            </a:pPr>
            <a:r>
              <a:rPr lang="en-US" sz="1559">
                <a:solidFill>
                  <a:srgbClr val="F0A090"/>
                </a:solidFill>
                <a:latin typeface="Consolas"/>
                <a:ea typeface="Consolas"/>
                <a:cs typeface="Consolas"/>
                <a:sym typeface="Consolas"/>
              </a:rPr>
              <a:t>  Leer nombre, n1, n2, n3</a:t>
            </a:r>
          </a:p>
          <a:p>
            <a:pPr algn="l">
              <a:lnSpc>
                <a:spcPts val="1871"/>
              </a:lnSpc>
            </a:pPr>
            <a:r>
              <a:rPr lang="en-US" sz="1559">
                <a:solidFill>
                  <a:srgbClr val="F0A090"/>
                </a:solidFill>
                <a:latin typeface="Consolas"/>
                <a:ea typeface="Consolas"/>
                <a:cs typeface="Consolas"/>
                <a:sym typeface="Consolas"/>
              </a:rPr>
              <a:t>  prom &lt;- (n1+n2+n3)/3</a:t>
            </a:r>
          </a:p>
          <a:p>
            <a:pPr algn="l">
              <a:lnSpc>
                <a:spcPts val="1871"/>
              </a:lnSpc>
            </a:pPr>
            <a:r>
              <a:rPr lang="en-US" sz="1559">
                <a:solidFill>
                  <a:srgbClr val="F0A090"/>
                </a:solidFill>
                <a:latin typeface="Consolas"/>
                <a:ea typeface="Consolas"/>
                <a:cs typeface="Consolas"/>
                <a:sym typeface="Consolas"/>
              </a:rPr>
              <a:t>  Escribir "Estudiante: ", nombre</a:t>
            </a:r>
          </a:p>
          <a:p>
            <a:pPr algn="l">
              <a:lnSpc>
                <a:spcPts val="1871"/>
              </a:lnSpc>
            </a:pPr>
            <a:r>
              <a:rPr lang="en-US" sz="1559">
                <a:solidFill>
                  <a:srgbClr val="F0A090"/>
                </a:solidFill>
                <a:latin typeface="Consolas"/>
                <a:ea typeface="Consolas"/>
                <a:cs typeface="Consolas"/>
                <a:sym typeface="Consolas"/>
              </a:rPr>
              <a:t>  Si prom&gt;=61 Entonces</a:t>
            </a:r>
          </a:p>
          <a:p>
            <a:pPr algn="l">
              <a:lnSpc>
                <a:spcPts val="1871"/>
              </a:lnSpc>
            </a:pPr>
            <a:r>
              <a:rPr lang="en-US" sz="1559">
                <a:solidFill>
                  <a:srgbClr val="F0A090"/>
                </a:solidFill>
                <a:latin typeface="Consolas"/>
                <a:ea typeface="Consolas"/>
                <a:cs typeface="Consolas"/>
                <a:sym typeface="Consolas"/>
              </a:rPr>
              <a:t>    Escribir nombre," APRUEBA: ",prom</a:t>
            </a:r>
          </a:p>
          <a:p>
            <a:pPr algn="l">
              <a:lnSpc>
                <a:spcPts val="1871"/>
              </a:lnSpc>
            </a:pPr>
            <a:r>
              <a:rPr lang="en-US" sz="1559">
                <a:solidFill>
                  <a:srgbClr val="F0A090"/>
                </a:solidFill>
                <a:latin typeface="Consolas"/>
                <a:ea typeface="Consolas"/>
                <a:cs typeface="Consolas"/>
                <a:sym typeface="Consolas"/>
              </a:rPr>
              <a:t>  SiNo</a:t>
            </a:r>
          </a:p>
          <a:p>
            <a:pPr algn="l">
              <a:lnSpc>
                <a:spcPts val="1871"/>
              </a:lnSpc>
            </a:pPr>
            <a:r>
              <a:rPr lang="en-US" sz="1559">
                <a:solidFill>
                  <a:srgbClr val="F0A090"/>
                </a:solidFill>
                <a:latin typeface="Consolas"/>
                <a:ea typeface="Consolas"/>
                <a:cs typeface="Consolas"/>
                <a:sym typeface="Consolas"/>
              </a:rPr>
              <a:t>    Escribir nombre," REPRUEBA: ",prom</a:t>
            </a:r>
          </a:p>
          <a:p>
            <a:pPr algn="l">
              <a:lnSpc>
                <a:spcPts val="1871"/>
              </a:lnSpc>
            </a:pPr>
            <a:r>
              <a:rPr lang="en-US" sz="1559">
                <a:solidFill>
                  <a:srgbClr val="F0A090"/>
                </a:solidFill>
                <a:latin typeface="Consolas"/>
                <a:ea typeface="Consolas"/>
                <a:cs typeface="Consolas"/>
                <a:sym typeface="Consolas"/>
              </a:rPr>
              <a:t>  FinSi</a:t>
            </a:r>
          </a:p>
          <a:p>
            <a:pPr algn="l">
              <a:lnSpc>
                <a:spcPts val="1871"/>
              </a:lnSpc>
            </a:pPr>
            <a:r>
              <a:rPr lang="en-US" sz="1559">
                <a:solidFill>
                  <a:srgbClr val="F0A090"/>
                </a:solidFill>
                <a:latin typeface="Consolas"/>
                <a:ea typeface="Consolas"/>
                <a:cs typeface="Consolas"/>
                <a:sym typeface="Consolas"/>
              </a:rPr>
              <a:t>  // --- Estudiante 2 (mismo bloque) ---</a:t>
            </a:r>
          </a:p>
          <a:p>
            <a:pPr algn="l">
              <a:lnSpc>
                <a:spcPts val="1871"/>
              </a:lnSpc>
            </a:pPr>
            <a:r>
              <a:rPr lang="en-US" sz="1559">
                <a:solidFill>
                  <a:srgbClr val="F0A090"/>
                </a:solidFill>
                <a:latin typeface="Consolas"/>
                <a:ea typeface="Consolas"/>
                <a:cs typeface="Consolas"/>
                <a:sym typeface="Consolas"/>
              </a:rPr>
              <a:t>  Escribir "=== SISTEMA DE NOTAS ==="</a:t>
            </a:r>
          </a:p>
          <a:p>
            <a:pPr algn="l">
              <a:lnSpc>
                <a:spcPts val="1871"/>
              </a:lnSpc>
            </a:pPr>
            <a:r>
              <a:rPr lang="en-US" sz="1559">
                <a:solidFill>
                  <a:srgbClr val="F0A090"/>
                </a:solidFill>
                <a:latin typeface="Consolas"/>
                <a:ea typeface="Consolas"/>
                <a:cs typeface="Consolas"/>
                <a:sym typeface="Consolas"/>
              </a:rPr>
              <a:t>  Leer nombre, n1, n2, n3</a:t>
            </a:r>
          </a:p>
          <a:p>
            <a:pPr algn="l">
              <a:lnSpc>
                <a:spcPts val="1871"/>
              </a:lnSpc>
            </a:pPr>
            <a:r>
              <a:rPr lang="en-US" sz="1559">
                <a:solidFill>
                  <a:srgbClr val="F0A090"/>
                </a:solidFill>
                <a:latin typeface="Consolas"/>
                <a:ea typeface="Consolas"/>
                <a:cs typeface="Consolas"/>
                <a:sym typeface="Consolas"/>
              </a:rPr>
              <a:t>  prom &lt;- (n1+n2+n3)/3</a:t>
            </a:r>
          </a:p>
          <a:p>
            <a:pPr algn="l">
              <a:lnSpc>
                <a:spcPts val="1871"/>
              </a:lnSpc>
            </a:pPr>
            <a:r>
              <a:rPr lang="en-US" sz="1559">
                <a:solidFill>
                  <a:srgbClr val="F0A090"/>
                </a:solidFill>
                <a:latin typeface="Consolas"/>
                <a:ea typeface="Consolas"/>
                <a:cs typeface="Consolas"/>
                <a:sym typeface="Consolas"/>
              </a:rPr>
              <a:t>  Escribir "Estudiante: ", nombre</a:t>
            </a:r>
          </a:p>
          <a:p>
            <a:pPr algn="l">
              <a:lnSpc>
                <a:spcPts val="1871"/>
              </a:lnSpc>
            </a:pPr>
            <a:r>
              <a:rPr lang="en-US" sz="1559">
                <a:solidFill>
                  <a:srgbClr val="F0A090"/>
                </a:solidFill>
                <a:latin typeface="Consolas"/>
                <a:ea typeface="Consolas"/>
                <a:cs typeface="Consolas"/>
                <a:sym typeface="Consolas"/>
              </a:rPr>
              <a:t>  Si prom&gt;=61 Entonces</a:t>
            </a:r>
          </a:p>
          <a:p>
            <a:pPr algn="l">
              <a:lnSpc>
                <a:spcPts val="1871"/>
              </a:lnSpc>
            </a:pPr>
            <a:r>
              <a:rPr lang="en-US" sz="1559">
                <a:solidFill>
                  <a:srgbClr val="F0A090"/>
                </a:solidFill>
                <a:latin typeface="Consolas"/>
                <a:ea typeface="Consolas"/>
                <a:cs typeface="Consolas"/>
                <a:sym typeface="Consolas"/>
              </a:rPr>
              <a:t>    Escribir nombre," APRUEBA: ",prom</a:t>
            </a:r>
          </a:p>
          <a:p>
            <a:pPr algn="l">
              <a:lnSpc>
                <a:spcPts val="1871"/>
              </a:lnSpc>
            </a:pPr>
            <a:r>
              <a:rPr lang="en-US" sz="1559">
                <a:solidFill>
                  <a:srgbClr val="F0A090"/>
                </a:solidFill>
                <a:latin typeface="Consolas"/>
                <a:ea typeface="Consolas"/>
                <a:cs typeface="Consolas"/>
                <a:sym typeface="Consolas"/>
              </a:rPr>
              <a:t>  SiNo</a:t>
            </a:r>
          </a:p>
          <a:p>
            <a:pPr algn="l">
              <a:lnSpc>
                <a:spcPts val="1871"/>
              </a:lnSpc>
            </a:pPr>
            <a:r>
              <a:rPr lang="en-US" sz="1559">
                <a:solidFill>
                  <a:srgbClr val="F0A090"/>
                </a:solidFill>
                <a:latin typeface="Consolas"/>
                <a:ea typeface="Consolas"/>
                <a:cs typeface="Consolas"/>
                <a:sym typeface="Consolas"/>
              </a:rPr>
              <a:t>    Escribir nombre," REPRUEBA: ",prom</a:t>
            </a:r>
          </a:p>
          <a:p>
            <a:pPr algn="l">
              <a:lnSpc>
                <a:spcPts val="1871"/>
              </a:lnSpc>
            </a:pPr>
            <a:r>
              <a:rPr lang="en-US" sz="1559">
                <a:solidFill>
                  <a:srgbClr val="F0A090"/>
                </a:solidFill>
                <a:latin typeface="Consolas"/>
                <a:ea typeface="Consolas"/>
                <a:cs typeface="Consolas"/>
                <a:sym typeface="Consolas"/>
              </a:rPr>
              <a:t>  FinSi</a:t>
            </a:r>
          </a:p>
          <a:p>
            <a:pPr algn="l">
              <a:lnSpc>
                <a:spcPts val="1871"/>
              </a:lnSpc>
            </a:pPr>
            <a:r>
              <a:rPr lang="en-US" sz="1559">
                <a:solidFill>
                  <a:srgbClr val="F0A090"/>
                </a:solidFill>
                <a:latin typeface="Consolas"/>
                <a:ea typeface="Consolas"/>
                <a:cs typeface="Consolas"/>
                <a:sym typeface="Consolas"/>
              </a:rPr>
              <a:t>  // --- Estudiante 3 (mismo bloque) ---</a:t>
            </a:r>
          </a:p>
          <a:p>
            <a:pPr algn="l">
              <a:lnSpc>
                <a:spcPts val="1871"/>
              </a:lnSpc>
            </a:pPr>
            <a:r>
              <a:rPr lang="en-US" sz="1559">
                <a:solidFill>
                  <a:srgbClr val="F0A090"/>
                </a:solidFill>
                <a:latin typeface="Consolas"/>
                <a:ea typeface="Consolas"/>
                <a:cs typeface="Consolas"/>
                <a:sym typeface="Consolas"/>
              </a:rPr>
              <a:t>  // ... se repite una vez más ...</a:t>
            </a:r>
          </a:p>
          <a:p>
            <a:pPr algn="l">
              <a:lnSpc>
                <a:spcPts val="1871"/>
              </a:lnSpc>
            </a:pPr>
            <a:r>
              <a:rPr lang="en-US" sz="1559">
                <a:solidFill>
                  <a:srgbClr val="F0A090"/>
                </a:solidFill>
                <a:latin typeface="Consolas"/>
                <a:ea typeface="Consolas"/>
                <a:cs typeface="Consolas"/>
                <a:sym typeface="Consolas"/>
              </a:rPr>
              <a:t>FinAlgoritmo</a:t>
            </a:r>
          </a:p>
        </p:txBody>
      </p:sp>
      <p:grpSp>
        <p:nvGrpSpPr>
          <p:cNvPr id="30" name="Group 30"/>
          <p:cNvGrpSpPr/>
          <p:nvPr/>
        </p:nvGrpSpPr>
        <p:grpSpPr>
          <a:xfrm>
            <a:off x="9314183" y="2328167"/>
            <a:ext cx="8255003" cy="7523483"/>
            <a:chOff x="0" y="0"/>
            <a:chExt cx="11006671" cy="10031311"/>
          </a:xfrm>
        </p:grpSpPr>
        <p:sp>
          <p:nvSpPr>
            <p:cNvPr id="31" name="Freeform 31"/>
            <p:cNvSpPr/>
            <p:nvPr/>
          </p:nvSpPr>
          <p:spPr>
            <a:xfrm>
              <a:off x="16891" y="16891"/>
              <a:ext cx="10972800" cy="9997440"/>
            </a:xfrm>
            <a:custGeom>
              <a:avLst/>
              <a:gdLst/>
              <a:ahLst/>
              <a:cxnLst/>
              <a:rect l="l" t="t" r="r" b="b"/>
              <a:pathLst>
                <a:path w="10972800" h="9997440">
                  <a:moveTo>
                    <a:pt x="0" y="0"/>
                  </a:moveTo>
                  <a:lnTo>
                    <a:pt x="10972800" y="0"/>
                  </a:lnTo>
                  <a:lnTo>
                    <a:pt x="10972800" y="9997440"/>
                  </a:lnTo>
                  <a:lnTo>
                    <a:pt x="0" y="9997440"/>
                  </a:lnTo>
                  <a:close/>
                </a:path>
              </a:pathLst>
            </a:custGeom>
            <a:solidFill>
              <a:srgbClr val="0D1020"/>
            </a:solidFill>
          </p:spPr>
          <p:txBody>
            <a:bodyPr/>
            <a:lstStyle/>
            <a:p>
              <a:endParaRPr lang="es-GT"/>
            </a:p>
          </p:txBody>
        </p:sp>
        <p:sp>
          <p:nvSpPr>
            <p:cNvPr id="32" name="Freeform 32"/>
            <p:cNvSpPr/>
            <p:nvPr/>
          </p:nvSpPr>
          <p:spPr>
            <a:xfrm>
              <a:off x="0" y="0"/>
              <a:ext cx="11006582" cy="10031222"/>
            </a:xfrm>
            <a:custGeom>
              <a:avLst/>
              <a:gdLst/>
              <a:ahLst/>
              <a:cxnLst/>
              <a:rect l="l" t="t" r="r" b="b"/>
              <a:pathLst>
                <a:path w="11006582" h="10031222">
                  <a:moveTo>
                    <a:pt x="16891" y="0"/>
                  </a:moveTo>
                  <a:lnTo>
                    <a:pt x="10989691" y="0"/>
                  </a:lnTo>
                  <a:cubicBezTo>
                    <a:pt x="10999089" y="0"/>
                    <a:pt x="11006582" y="7620"/>
                    <a:pt x="11006582" y="16891"/>
                  </a:cubicBezTo>
                  <a:lnTo>
                    <a:pt x="11006582" y="10014331"/>
                  </a:lnTo>
                  <a:cubicBezTo>
                    <a:pt x="11006582" y="10023729"/>
                    <a:pt x="10998962" y="10031222"/>
                    <a:pt x="10989691" y="10031222"/>
                  </a:cubicBezTo>
                  <a:lnTo>
                    <a:pt x="16891" y="10031222"/>
                  </a:lnTo>
                  <a:cubicBezTo>
                    <a:pt x="7493" y="10031222"/>
                    <a:pt x="0" y="10023602"/>
                    <a:pt x="0" y="10014331"/>
                  </a:cubicBezTo>
                  <a:lnTo>
                    <a:pt x="0" y="16891"/>
                  </a:lnTo>
                  <a:cubicBezTo>
                    <a:pt x="0" y="7620"/>
                    <a:pt x="7620" y="0"/>
                    <a:pt x="16891" y="0"/>
                  </a:cubicBezTo>
                  <a:moveTo>
                    <a:pt x="16891" y="33909"/>
                  </a:moveTo>
                  <a:lnTo>
                    <a:pt x="16891" y="16891"/>
                  </a:lnTo>
                  <a:lnTo>
                    <a:pt x="33909" y="16891"/>
                  </a:lnTo>
                  <a:lnTo>
                    <a:pt x="33909" y="10014331"/>
                  </a:lnTo>
                  <a:lnTo>
                    <a:pt x="16891" y="10014331"/>
                  </a:lnTo>
                  <a:lnTo>
                    <a:pt x="16891" y="9997440"/>
                  </a:lnTo>
                  <a:lnTo>
                    <a:pt x="10989691" y="9997440"/>
                  </a:lnTo>
                  <a:lnTo>
                    <a:pt x="10989691" y="10014331"/>
                  </a:lnTo>
                  <a:lnTo>
                    <a:pt x="10972800" y="10014331"/>
                  </a:lnTo>
                  <a:lnTo>
                    <a:pt x="10972800" y="16891"/>
                  </a:lnTo>
                  <a:lnTo>
                    <a:pt x="10989691" y="16891"/>
                  </a:lnTo>
                  <a:lnTo>
                    <a:pt x="10989691" y="33909"/>
                  </a:lnTo>
                  <a:lnTo>
                    <a:pt x="16891" y="33909"/>
                  </a:lnTo>
                  <a:close/>
                </a:path>
              </a:pathLst>
            </a:custGeom>
            <a:solidFill>
              <a:srgbClr val="7EC8A4"/>
            </a:solidFill>
          </p:spPr>
          <p:txBody>
            <a:bodyPr/>
            <a:lstStyle/>
            <a:p>
              <a:endParaRPr lang="es-GT"/>
            </a:p>
          </p:txBody>
        </p:sp>
      </p:grpSp>
      <p:grpSp>
        <p:nvGrpSpPr>
          <p:cNvPr id="33" name="Group 33"/>
          <p:cNvGrpSpPr/>
          <p:nvPr/>
        </p:nvGrpSpPr>
        <p:grpSpPr>
          <a:xfrm>
            <a:off x="9314183" y="2328167"/>
            <a:ext cx="8255003" cy="720347"/>
            <a:chOff x="0" y="0"/>
            <a:chExt cx="11006671" cy="960463"/>
          </a:xfrm>
        </p:grpSpPr>
        <p:sp>
          <p:nvSpPr>
            <p:cNvPr id="34" name="Freeform 34"/>
            <p:cNvSpPr/>
            <p:nvPr/>
          </p:nvSpPr>
          <p:spPr>
            <a:xfrm>
              <a:off x="16891" y="16891"/>
              <a:ext cx="10972800" cy="926592"/>
            </a:xfrm>
            <a:custGeom>
              <a:avLst/>
              <a:gdLst/>
              <a:ahLst/>
              <a:cxnLst/>
              <a:rect l="l" t="t" r="r" b="b"/>
              <a:pathLst>
                <a:path w="10972800" h="926592">
                  <a:moveTo>
                    <a:pt x="0" y="0"/>
                  </a:moveTo>
                  <a:lnTo>
                    <a:pt x="10972800" y="0"/>
                  </a:lnTo>
                  <a:lnTo>
                    <a:pt x="10972800" y="926592"/>
                  </a:lnTo>
                  <a:lnTo>
                    <a:pt x="0" y="926592"/>
                  </a:lnTo>
                  <a:close/>
                </a:path>
              </a:pathLst>
            </a:custGeom>
            <a:solidFill>
              <a:srgbClr val="0A2018"/>
            </a:solidFill>
          </p:spPr>
          <p:txBody>
            <a:bodyPr/>
            <a:lstStyle/>
            <a:p>
              <a:endParaRPr lang="es-GT"/>
            </a:p>
          </p:txBody>
        </p:sp>
        <p:sp>
          <p:nvSpPr>
            <p:cNvPr id="35" name="Freeform 35"/>
            <p:cNvSpPr/>
            <p:nvPr/>
          </p:nvSpPr>
          <p:spPr>
            <a:xfrm>
              <a:off x="0" y="0"/>
              <a:ext cx="11006582" cy="960376"/>
            </a:xfrm>
            <a:custGeom>
              <a:avLst/>
              <a:gdLst/>
              <a:ahLst/>
              <a:cxnLst/>
              <a:rect l="l" t="t" r="r" b="b"/>
              <a:pathLst>
                <a:path w="11006582" h="960376">
                  <a:moveTo>
                    <a:pt x="16891" y="0"/>
                  </a:moveTo>
                  <a:lnTo>
                    <a:pt x="10989691" y="0"/>
                  </a:lnTo>
                  <a:cubicBezTo>
                    <a:pt x="10999089" y="0"/>
                    <a:pt x="11006582" y="7620"/>
                    <a:pt x="11006582" y="16891"/>
                  </a:cubicBezTo>
                  <a:lnTo>
                    <a:pt x="11006582" y="943483"/>
                  </a:lnTo>
                  <a:cubicBezTo>
                    <a:pt x="11006582" y="952881"/>
                    <a:pt x="10998962" y="960374"/>
                    <a:pt x="1098969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10989691" y="926592"/>
                  </a:lnTo>
                  <a:lnTo>
                    <a:pt x="10989691" y="943483"/>
                  </a:lnTo>
                  <a:lnTo>
                    <a:pt x="10972800" y="943483"/>
                  </a:lnTo>
                  <a:lnTo>
                    <a:pt x="10972800" y="16891"/>
                  </a:lnTo>
                  <a:lnTo>
                    <a:pt x="10989691" y="16891"/>
                  </a:lnTo>
                  <a:lnTo>
                    <a:pt x="10989691" y="33909"/>
                  </a:lnTo>
                  <a:lnTo>
                    <a:pt x="16891" y="33909"/>
                  </a:lnTo>
                  <a:close/>
                </a:path>
              </a:pathLst>
            </a:custGeom>
            <a:solidFill>
              <a:srgbClr val="7EC8A4"/>
            </a:solidFill>
          </p:spPr>
          <p:txBody>
            <a:bodyPr/>
            <a:lstStyle/>
            <a:p>
              <a:endParaRPr lang="es-GT"/>
            </a:p>
          </p:txBody>
        </p:sp>
      </p:grpSp>
      <p:grpSp>
        <p:nvGrpSpPr>
          <p:cNvPr id="36" name="Group 36"/>
          <p:cNvGrpSpPr/>
          <p:nvPr/>
        </p:nvGrpSpPr>
        <p:grpSpPr>
          <a:xfrm>
            <a:off x="9601200" y="2395728"/>
            <a:ext cx="7680960" cy="548640"/>
            <a:chOff x="0" y="0"/>
            <a:chExt cx="10241280" cy="731520"/>
          </a:xfrm>
        </p:grpSpPr>
        <p:sp>
          <p:nvSpPr>
            <p:cNvPr id="37" name="Freeform 37"/>
            <p:cNvSpPr/>
            <p:nvPr/>
          </p:nvSpPr>
          <p:spPr>
            <a:xfrm>
              <a:off x="0" y="0"/>
              <a:ext cx="10241280" cy="731520"/>
            </a:xfrm>
            <a:custGeom>
              <a:avLst/>
              <a:gdLst/>
              <a:ahLst/>
              <a:cxnLst/>
              <a:rect l="l" t="t" r="r" b="b"/>
              <a:pathLst>
                <a:path w="10241280" h="731520">
                  <a:moveTo>
                    <a:pt x="0" y="0"/>
                  </a:moveTo>
                  <a:lnTo>
                    <a:pt x="10241280" y="0"/>
                  </a:lnTo>
                  <a:lnTo>
                    <a:pt x="10241280" y="731520"/>
                  </a:lnTo>
                  <a:lnTo>
                    <a:pt x="0" y="731520"/>
                  </a:lnTo>
                  <a:close/>
                </a:path>
              </a:pathLst>
            </a:custGeom>
            <a:blipFill>
              <a:blip r:embed="rId3">
                <a:alphaModFix amt="0"/>
              </a:blip>
              <a:stretch>
                <a:fillRect t="-222790" b="-222790"/>
              </a:stretch>
            </a:blipFill>
          </p:spPr>
          <p:txBody>
            <a:bodyPr/>
            <a:lstStyle/>
            <a:p>
              <a:endParaRPr lang="es-GT"/>
            </a:p>
          </p:txBody>
        </p:sp>
        <p:sp>
          <p:nvSpPr>
            <p:cNvPr id="38" name="TextBox 38"/>
            <p:cNvSpPr txBox="1"/>
            <p:nvPr/>
          </p:nvSpPr>
          <p:spPr>
            <a:xfrm>
              <a:off x="0" y="-38100"/>
              <a:ext cx="10241280" cy="769620"/>
            </a:xfrm>
            <a:prstGeom prst="rect">
              <a:avLst/>
            </a:prstGeom>
          </p:spPr>
          <p:txBody>
            <a:bodyPr lIns="0" tIns="0" rIns="0" bIns="0" rtlCol="0" anchor="ctr"/>
            <a:lstStyle/>
            <a:p>
              <a:pPr algn="l">
                <a:lnSpc>
                  <a:spcPts val="2280"/>
                </a:lnSpc>
              </a:pPr>
              <a:r>
                <a:rPr lang="en-US" sz="1900" b="1">
                  <a:solidFill>
                    <a:srgbClr val="7EC8A4"/>
                  </a:solidFill>
                  <a:latin typeface="Calibri (MS) Bold"/>
                  <a:ea typeface="Calibri (MS) Bold"/>
                  <a:cs typeface="Calibri (MS) Bold"/>
                  <a:sym typeface="Calibri (MS) Bold"/>
                </a:rPr>
                <a:t>✓  Versión modular  (22 líneas)</a:t>
              </a:r>
            </a:p>
          </p:txBody>
        </p:sp>
      </p:grpSp>
      <p:sp>
        <p:nvSpPr>
          <p:cNvPr id="39" name="TextBox 39"/>
          <p:cNvSpPr txBox="1"/>
          <p:nvPr/>
        </p:nvSpPr>
        <p:spPr>
          <a:xfrm>
            <a:off x="9692640" y="3162681"/>
            <a:ext cx="7498080" cy="6520815"/>
          </a:xfrm>
          <a:prstGeom prst="rect">
            <a:avLst/>
          </a:prstGeom>
        </p:spPr>
        <p:txBody>
          <a:bodyPr lIns="0" tIns="0" rIns="0" bIns="0" rtlCol="0" anchor="t">
            <a:spAutoFit/>
          </a:bodyPr>
          <a:lstStyle/>
          <a:p>
            <a:pPr algn="l">
              <a:lnSpc>
                <a:spcPts val="1871"/>
              </a:lnSpc>
            </a:pPr>
            <a:r>
              <a:rPr lang="en-US" sz="1559">
                <a:solidFill>
                  <a:srgbClr val="7EC8A4"/>
                </a:solidFill>
                <a:latin typeface="Consolas"/>
                <a:ea typeface="Consolas"/>
                <a:cs typeface="Consolas"/>
                <a:sym typeface="Consolas"/>
              </a:rPr>
              <a:t>Algoritmo Version_Modular</a:t>
            </a:r>
          </a:p>
          <a:p>
            <a:pPr algn="l">
              <a:lnSpc>
                <a:spcPts val="1871"/>
              </a:lnSpc>
            </a:pPr>
            <a:r>
              <a:rPr lang="en-US" sz="1559">
                <a:solidFill>
                  <a:srgbClr val="7EC8A4"/>
                </a:solidFill>
                <a:latin typeface="Consolas"/>
                <a:ea typeface="Consolas"/>
                <a:cs typeface="Consolas"/>
                <a:sym typeface="Consolas"/>
              </a:rPr>
              <a:t>  Definir n1,n2,n3,p Como Real</a:t>
            </a:r>
          </a:p>
          <a:p>
            <a:pPr algn="l">
              <a:lnSpc>
                <a:spcPts val="1871"/>
              </a:lnSpc>
            </a:pPr>
            <a:r>
              <a:rPr lang="en-US" sz="1559">
                <a:solidFill>
                  <a:srgbClr val="7EC8A4"/>
                </a:solidFill>
                <a:latin typeface="Consolas"/>
                <a:ea typeface="Consolas"/>
                <a:cs typeface="Consolas"/>
                <a:sym typeface="Consolas"/>
              </a:rPr>
              <a:t>  Definir nom Como Cadena</a:t>
            </a:r>
          </a:p>
          <a:p>
            <a:pPr algn="l">
              <a:lnSpc>
                <a:spcPts val="1871"/>
              </a:lnSpc>
            </a:pPr>
            <a:r>
              <a:rPr lang="en-US" sz="1559">
                <a:solidFill>
                  <a:srgbClr val="7EC8A4"/>
                </a:solidFill>
                <a:latin typeface="Consolas"/>
                <a:ea typeface="Consolas"/>
                <a:cs typeface="Consolas"/>
                <a:sym typeface="Consolas"/>
              </a:rPr>
              <a:t>  MostrarEncabezado()</a:t>
            </a:r>
          </a:p>
          <a:p>
            <a:pPr algn="l">
              <a:lnSpc>
                <a:spcPts val="1871"/>
              </a:lnSpc>
            </a:pPr>
            <a:r>
              <a:rPr lang="en-US" sz="1559">
                <a:solidFill>
                  <a:srgbClr val="7EC8A4"/>
                </a:solidFill>
                <a:latin typeface="Consolas"/>
                <a:ea typeface="Consolas"/>
                <a:cs typeface="Consolas"/>
                <a:sym typeface="Consolas"/>
              </a:rPr>
              <a:t>  Leer nom,n1,n2,n3</a:t>
            </a:r>
          </a:p>
          <a:p>
            <a:pPr algn="l">
              <a:lnSpc>
                <a:spcPts val="1871"/>
              </a:lnSpc>
            </a:pPr>
            <a:r>
              <a:rPr lang="en-US" sz="1559">
                <a:solidFill>
                  <a:srgbClr val="7EC8A4"/>
                </a:solidFill>
                <a:latin typeface="Consolas"/>
                <a:ea typeface="Consolas"/>
                <a:cs typeface="Consolas"/>
                <a:sym typeface="Consolas"/>
              </a:rPr>
              <a:t>  MostrarResultado(nom,Promedio(n1,n2,n3))</a:t>
            </a:r>
          </a:p>
          <a:p>
            <a:pPr algn="l">
              <a:lnSpc>
                <a:spcPts val="1871"/>
              </a:lnSpc>
            </a:pPr>
            <a:r>
              <a:rPr lang="en-US" sz="1559">
                <a:solidFill>
                  <a:srgbClr val="7EC8A4"/>
                </a:solidFill>
                <a:latin typeface="Consolas"/>
                <a:ea typeface="Consolas"/>
                <a:cs typeface="Consolas"/>
                <a:sym typeface="Consolas"/>
              </a:rPr>
              <a:t>  Leer nom,n1,n2,n3</a:t>
            </a:r>
          </a:p>
          <a:p>
            <a:pPr algn="l">
              <a:lnSpc>
                <a:spcPts val="1871"/>
              </a:lnSpc>
            </a:pPr>
            <a:r>
              <a:rPr lang="en-US" sz="1559">
                <a:solidFill>
                  <a:srgbClr val="7EC8A4"/>
                </a:solidFill>
                <a:latin typeface="Consolas"/>
                <a:ea typeface="Consolas"/>
                <a:cs typeface="Consolas"/>
                <a:sym typeface="Consolas"/>
              </a:rPr>
              <a:t>  MostrarResultado(nom,Promedio(n1,n2,n3))</a:t>
            </a:r>
          </a:p>
          <a:p>
            <a:pPr algn="l">
              <a:lnSpc>
                <a:spcPts val="1871"/>
              </a:lnSpc>
            </a:pPr>
            <a:r>
              <a:rPr lang="en-US" sz="1559">
                <a:solidFill>
                  <a:srgbClr val="7EC8A4"/>
                </a:solidFill>
                <a:latin typeface="Consolas"/>
                <a:ea typeface="Consolas"/>
                <a:cs typeface="Consolas"/>
                <a:sym typeface="Consolas"/>
              </a:rPr>
              <a:t>  Leer nom,n1,n2,n3</a:t>
            </a:r>
          </a:p>
          <a:p>
            <a:pPr algn="l">
              <a:lnSpc>
                <a:spcPts val="1871"/>
              </a:lnSpc>
            </a:pPr>
            <a:r>
              <a:rPr lang="en-US" sz="1559">
                <a:solidFill>
                  <a:srgbClr val="7EC8A4"/>
                </a:solidFill>
                <a:latin typeface="Consolas"/>
                <a:ea typeface="Consolas"/>
                <a:cs typeface="Consolas"/>
                <a:sym typeface="Consolas"/>
              </a:rPr>
              <a:t>  MostrarResultado(nom,Promedio(n1,n2,n3))</a:t>
            </a:r>
          </a:p>
          <a:p>
            <a:pPr algn="l">
              <a:lnSpc>
                <a:spcPts val="1871"/>
              </a:lnSpc>
            </a:pPr>
            <a:r>
              <a:rPr lang="en-US" sz="1559">
                <a:solidFill>
                  <a:srgbClr val="7EC8A4"/>
                </a:solidFill>
                <a:latin typeface="Consolas"/>
                <a:ea typeface="Consolas"/>
                <a:cs typeface="Consolas"/>
                <a:sym typeface="Consolas"/>
              </a:rPr>
              <a:t>FinAlgoritmo</a:t>
            </a:r>
          </a:p>
          <a:p>
            <a:pPr algn="l">
              <a:lnSpc>
                <a:spcPts val="1871"/>
              </a:lnSpc>
            </a:pPr>
            <a:endParaRPr lang="en-US" sz="1559">
              <a:solidFill>
                <a:srgbClr val="7EC8A4"/>
              </a:solidFill>
              <a:latin typeface="Consolas"/>
              <a:ea typeface="Consolas"/>
              <a:cs typeface="Consolas"/>
              <a:sym typeface="Consolas"/>
            </a:endParaRPr>
          </a:p>
          <a:p>
            <a:pPr algn="l">
              <a:lnSpc>
                <a:spcPts val="1871"/>
              </a:lnSpc>
            </a:pPr>
            <a:r>
              <a:rPr lang="en-US" sz="1559">
                <a:solidFill>
                  <a:srgbClr val="7EC8A4"/>
                </a:solidFill>
                <a:latin typeface="Consolas"/>
                <a:ea typeface="Consolas"/>
                <a:cs typeface="Consolas"/>
                <a:sym typeface="Consolas"/>
              </a:rPr>
              <a:t>SubProceso MostrarEncabezado()</a:t>
            </a:r>
          </a:p>
          <a:p>
            <a:pPr algn="l">
              <a:lnSpc>
                <a:spcPts val="1871"/>
              </a:lnSpc>
            </a:pPr>
            <a:r>
              <a:rPr lang="en-US" sz="1559">
                <a:solidFill>
                  <a:srgbClr val="7EC8A4"/>
                </a:solidFill>
                <a:latin typeface="Consolas"/>
                <a:ea typeface="Consolas"/>
                <a:cs typeface="Consolas"/>
                <a:sym typeface="Consolas"/>
              </a:rPr>
              <a:t>  Escribir "=== SISTEMA DE NOTAS ==="</a:t>
            </a:r>
          </a:p>
          <a:p>
            <a:pPr algn="l">
              <a:lnSpc>
                <a:spcPts val="1871"/>
              </a:lnSpc>
            </a:pPr>
            <a:r>
              <a:rPr lang="en-US" sz="1559">
                <a:solidFill>
                  <a:srgbClr val="7EC8A4"/>
                </a:solidFill>
                <a:latin typeface="Consolas"/>
                <a:ea typeface="Consolas"/>
                <a:cs typeface="Consolas"/>
                <a:sym typeface="Consolas"/>
              </a:rPr>
              <a:t>FinSubProceso</a:t>
            </a:r>
          </a:p>
          <a:p>
            <a:pPr algn="l">
              <a:lnSpc>
                <a:spcPts val="1871"/>
              </a:lnSpc>
            </a:pPr>
            <a:endParaRPr lang="en-US" sz="1559">
              <a:solidFill>
                <a:srgbClr val="7EC8A4"/>
              </a:solidFill>
              <a:latin typeface="Consolas"/>
              <a:ea typeface="Consolas"/>
              <a:cs typeface="Consolas"/>
              <a:sym typeface="Consolas"/>
            </a:endParaRPr>
          </a:p>
          <a:p>
            <a:pPr algn="l">
              <a:lnSpc>
                <a:spcPts val="1871"/>
              </a:lnSpc>
            </a:pPr>
            <a:r>
              <a:rPr lang="en-US" sz="1559">
                <a:solidFill>
                  <a:srgbClr val="7EC8A4"/>
                </a:solidFill>
                <a:latin typeface="Consolas"/>
                <a:ea typeface="Consolas"/>
                <a:cs typeface="Consolas"/>
                <a:sym typeface="Consolas"/>
              </a:rPr>
              <a:t>Funcion r &lt;- Promedio(a,b,c)</a:t>
            </a:r>
          </a:p>
          <a:p>
            <a:pPr algn="l">
              <a:lnSpc>
                <a:spcPts val="1871"/>
              </a:lnSpc>
            </a:pPr>
            <a:r>
              <a:rPr lang="en-US" sz="1559">
                <a:solidFill>
                  <a:srgbClr val="7EC8A4"/>
                </a:solidFill>
                <a:latin typeface="Consolas"/>
                <a:ea typeface="Consolas"/>
                <a:cs typeface="Consolas"/>
                <a:sym typeface="Consolas"/>
              </a:rPr>
              <a:t>  r &lt;- (a+b+c)/3</a:t>
            </a:r>
          </a:p>
          <a:p>
            <a:pPr algn="l">
              <a:lnSpc>
                <a:spcPts val="1871"/>
              </a:lnSpc>
            </a:pPr>
            <a:r>
              <a:rPr lang="en-US" sz="1559">
                <a:solidFill>
                  <a:srgbClr val="7EC8A4"/>
                </a:solidFill>
                <a:latin typeface="Consolas"/>
                <a:ea typeface="Consolas"/>
                <a:cs typeface="Consolas"/>
                <a:sym typeface="Consolas"/>
              </a:rPr>
              <a:t>FinFuncion</a:t>
            </a:r>
          </a:p>
          <a:p>
            <a:pPr algn="l">
              <a:lnSpc>
                <a:spcPts val="1871"/>
              </a:lnSpc>
            </a:pPr>
            <a:endParaRPr lang="en-US" sz="1559">
              <a:solidFill>
                <a:srgbClr val="7EC8A4"/>
              </a:solidFill>
              <a:latin typeface="Consolas"/>
              <a:ea typeface="Consolas"/>
              <a:cs typeface="Consolas"/>
              <a:sym typeface="Consolas"/>
            </a:endParaRPr>
          </a:p>
          <a:p>
            <a:pPr algn="l">
              <a:lnSpc>
                <a:spcPts val="1871"/>
              </a:lnSpc>
            </a:pPr>
            <a:r>
              <a:rPr lang="en-US" sz="1559">
                <a:solidFill>
                  <a:srgbClr val="7EC8A4"/>
                </a:solidFill>
                <a:latin typeface="Consolas"/>
                <a:ea typeface="Consolas"/>
                <a:cs typeface="Consolas"/>
                <a:sym typeface="Consolas"/>
              </a:rPr>
              <a:t>SubProceso MostrarResultado(nom,cal)</a:t>
            </a:r>
          </a:p>
          <a:p>
            <a:pPr algn="l">
              <a:lnSpc>
                <a:spcPts val="1871"/>
              </a:lnSpc>
            </a:pPr>
            <a:r>
              <a:rPr lang="en-US" sz="1559">
                <a:solidFill>
                  <a:srgbClr val="7EC8A4"/>
                </a:solidFill>
                <a:latin typeface="Consolas"/>
                <a:ea typeface="Consolas"/>
                <a:cs typeface="Consolas"/>
                <a:sym typeface="Consolas"/>
              </a:rPr>
              <a:t>  Si cal&gt;=61 Entonces</a:t>
            </a:r>
          </a:p>
          <a:p>
            <a:pPr algn="l">
              <a:lnSpc>
                <a:spcPts val="1871"/>
              </a:lnSpc>
            </a:pPr>
            <a:r>
              <a:rPr lang="en-US" sz="1559">
                <a:solidFill>
                  <a:srgbClr val="7EC8A4"/>
                </a:solidFill>
                <a:latin typeface="Consolas"/>
                <a:ea typeface="Consolas"/>
                <a:cs typeface="Consolas"/>
                <a:sym typeface="Consolas"/>
              </a:rPr>
              <a:t>    Escribir nom," APRUEBA: ",cal</a:t>
            </a:r>
          </a:p>
          <a:p>
            <a:pPr algn="l">
              <a:lnSpc>
                <a:spcPts val="1871"/>
              </a:lnSpc>
            </a:pPr>
            <a:r>
              <a:rPr lang="en-US" sz="1559">
                <a:solidFill>
                  <a:srgbClr val="7EC8A4"/>
                </a:solidFill>
                <a:latin typeface="Consolas"/>
                <a:ea typeface="Consolas"/>
                <a:cs typeface="Consolas"/>
                <a:sym typeface="Consolas"/>
              </a:rPr>
              <a:t>  SiNo</a:t>
            </a:r>
          </a:p>
          <a:p>
            <a:pPr algn="l">
              <a:lnSpc>
                <a:spcPts val="1871"/>
              </a:lnSpc>
            </a:pPr>
            <a:r>
              <a:rPr lang="en-US" sz="1559">
                <a:solidFill>
                  <a:srgbClr val="7EC8A4"/>
                </a:solidFill>
                <a:latin typeface="Consolas"/>
                <a:ea typeface="Consolas"/>
                <a:cs typeface="Consolas"/>
                <a:sym typeface="Consolas"/>
              </a:rPr>
              <a:t>    Escribir nom," REPRUEBA: ",cal</a:t>
            </a:r>
          </a:p>
          <a:p>
            <a:pPr algn="l">
              <a:lnSpc>
                <a:spcPts val="1871"/>
              </a:lnSpc>
            </a:pPr>
            <a:r>
              <a:rPr lang="en-US" sz="1559">
                <a:solidFill>
                  <a:srgbClr val="7EC8A4"/>
                </a:solidFill>
                <a:latin typeface="Consolas"/>
                <a:ea typeface="Consolas"/>
                <a:cs typeface="Consolas"/>
                <a:sym typeface="Consolas"/>
              </a:rPr>
              <a:t>  FinSi</a:t>
            </a:r>
          </a:p>
          <a:p>
            <a:pPr algn="l">
              <a:lnSpc>
                <a:spcPts val="1871"/>
              </a:lnSpc>
            </a:pPr>
            <a:r>
              <a:rPr lang="en-US" sz="1559">
                <a:solidFill>
                  <a:srgbClr val="7EC8A4"/>
                </a:solidFill>
                <a:latin typeface="Consolas"/>
                <a:ea typeface="Consolas"/>
                <a:cs typeface="Consolas"/>
                <a:sym typeface="Consolas"/>
              </a:rPr>
              <a:t>FinSubProceso</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E2235"/>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16891" y="16891"/>
              <a:ext cx="24383999" cy="1755648"/>
            </a:xfrm>
            <a:custGeom>
              <a:avLst/>
              <a:gdLst/>
              <a:ahLst/>
              <a:cxnLst/>
              <a:rect l="l" t="t" r="r" b="b"/>
              <a:pathLst>
                <a:path w="24383999" h="1755648">
                  <a:moveTo>
                    <a:pt x="0" y="0"/>
                  </a:moveTo>
                  <a:lnTo>
                    <a:pt x="24383999" y="0"/>
                  </a:lnTo>
                  <a:lnTo>
                    <a:pt x="24383999" y="1755648"/>
                  </a:lnTo>
                  <a:lnTo>
                    <a:pt x="0" y="1755648"/>
                  </a:lnTo>
                  <a:close/>
                </a:path>
              </a:pathLst>
            </a:custGeom>
            <a:solidFill>
              <a:srgbClr val="161929"/>
            </a:solidFill>
          </p:spPr>
          <p:txBody>
            <a:bodyPr/>
            <a:lstStyle/>
            <a:p>
              <a:endParaRPr lang="es-GT"/>
            </a:p>
          </p:txBody>
        </p:sp>
        <p:sp>
          <p:nvSpPr>
            <p:cNvPr id="4" name="Freeform 4"/>
            <p:cNvSpPr/>
            <p:nvPr/>
          </p:nvSpPr>
          <p:spPr>
            <a:xfrm>
              <a:off x="0" y="0"/>
              <a:ext cx="24417782" cy="1789430"/>
            </a:xfrm>
            <a:custGeom>
              <a:avLst/>
              <a:gdLst/>
              <a:ahLst/>
              <a:cxnLst/>
              <a:rect l="l" t="t" r="r" b="b"/>
              <a:pathLst>
                <a:path w="24417782" h="1789430">
                  <a:moveTo>
                    <a:pt x="16891" y="0"/>
                  </a:moveTo>
                  <a:lnTo>
                    <a:pt x="24400890" y="0"/>
                  </a:lnTo>
                  <a:cubicBezTo>
                    <a:pt x="24410290" y="0"/>
                    <a:pt x="24417782" y="7620"/>
                    <a:pt x="24417782" y="16891"/>
                  </a:cubicBezTo>
                  <a:lnTo>
                    <a:pt x="24417782" y="1772539"/>
                  </a:lnTo>
                  <a:cubicBezTo>
                    <a:pt x="24417782" y="1781937"/>
                    <a:pt x="24410163" y="1789430"/>
                    <a:pt x="24400890"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24400890" y="1755648"/>
                  </a:lnTo>
                  <a:lnTo>
                    <a:pt x="24400890" y="1772539"/>
                  </a:lnTo>
                  <a:lnTo>
                    <a:pt x="24384000" y="1772539"/>
                  </a:lnTo>
                  <a:lnTo>
                    <a:pt x="24384000" y="16891"/>
                  </a:lnTo>
                  <a:lnTo>
                    <a:pt x="24400890" y="16891"/>
                  </a:lnTo>
                  <a:lnTo>
                    <a:pt x="24400890" y="33909"/>
                  </a:lnTo>
                  <a:lnTo>
                    <a:pt x="16891" y="33909"/>
                  </a:lnTo>
                  <a:close/>
                </a:path>
              </a:pathLst>
            </a:custGeom>
            <a:solidFill>
              <a:srgbClr val="161929"/>
            </a:solidFill>
          </p:spPr>
          <p:txBody>
            <a:bodyPr/>
            <a:lstStyle/>
            <a:p>
              <a:endParaRPr lang="es-GT"/>
            </a:p>
          </p:txBody>
        </p:sp>
      </p:grpSp>
      <p:grpSp>
        <p:nvGrpSpPr>
          <p:cNvPr id="5" name="Group 5"/>
          <p:cNvGrpSpPr/>
          <p:nvPr/>
        </p:nvGrpSpPr>
        <p:grpSpPr>
          <a:xfrm>
            <a:off x="-12697" y="1304039"/>
            <a:ext cx="18313403" cy="98555"/>
            <a:chOff x="0" y="0"/>
            <a:chExt cx="24417871" cy="131407"/>
          </a:xfrm>
        </p:grpSpPr>
        <p:sp>
          <p:nvSpPr>
            <p:cNvPr id="6" name="Freeform 6"/>
            <p:cNvSpPr/>
            <p:nvPr/>
          </p:nvSpPr>
          <p:spPr>
            <a:xfrm>
              <a:off x="16891" y="16891"/>
              <a:ext cx="24383999" cy="97536"/>
            </a:xfrm>
            <a:custGeom>
              <a:avLst/>
              <a:gdLst/>
              <a:ahLst/>
              <a:cxnLst/>
              <a:rect l="l" t="t" r="r" b="b"/>
              <a:pathLst>
                <a:path w="24383999" h="97536">
                  <a:moveTo>
                    <a:pt x="0" y="0"/>
                  </a:moveTo>
                  <a:lnTo>
                    <a:pt x="24383999" y="0"/>
                  </a:lnTo>
                  <a:lnTo>
                    <a:pt x="24383999" y="97536"/>
                  </a:lnTo>
                  <a:lnTo>
                    <a:pt x="0" y="97536"/>
                  </a:lnTo>
                  <a:close/>
                </a:path>
              </a:pathLst>
            </a:custGeom>
            <a:solidFill>
              <a:srgbClr val="5B8CFF"/>
            </a:solidFill>
          </p:spPr>
          <p:txBody>
            <a:bodyPr/>
            <a:lstStyle/>
            <a:p>
              <a:endParaRPr lang="es-GT"/>
            </a:p>
          </p:txBody>
        </p:sp>
        <p:sp>
          <p:nvSpPr>
            <p:cNvPr id="7" name="Freeform 7"/>
            <p:cNvSpPr/>
            <p:nvPr/>
          </p:nvSpPr>
          <p:spPr>
            <a:xfrm>
              <a:off x="0" y="0"/>
              <a:ext cx="24417782" cy="131320"/>
            </a:xfrm>
            <a:custGeom>
              <a:avLst/>
              <a:gdLst/>
              <a:ahLst/>
              <a:cxnLst/>
              <a:rect l="l" t="t" r="r" b="b"/>
              <a:pathLst>
                <a:path w="24417782" h="131320">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5B8CFF"/>
            </a:solidFill>
          </p:spPr>
          <p:txBody>
            <a:bodyPr/>
            <a:lstStyle/>
            <a:p>
              <a:endParaRPr lang="es-GT"/>
            </a:p>
          </p:txBody>
        </p:sp>
      </p:grpSp>
      <p:grpSp>
        <p:nvGrpSpPr>
          <p:cNvPr id="8" name="Group 8"/>
          <p:cNvGrpSpPr/>
          <p:nvPr/>
        </p:nvGrpSpPr>
        <p:grpSpPr>
          <a:xfrm>
            <a:off x="822960" y="0"/>
            <a:ext cx="16642080" cy="1316736"/>
            <a:chOff x="0" y="0"/>
            <a:chExt cx="22189440" cy="1755648"/>
          </a:xfrm>
        </p:grpSpPr>
        <p:sp>
          <p:nvSpPr>
            <p:cNvPr id="9" name="Freeform 9"/>
            <p:cNvSpPr/>
            <p:nvPr/>
          </p:nvSpPr>
          <p:spPr>
            <a:xfrm>
              <a:off x="0" y="0"/>
              <a:ext cx="22189439" cy="1755648"/>
            </a:xfrm>
            <a:custGeom>
              <a:avLst/>
              <a:gdLst/>
              <a:ahLst/>
              <a:cxnLst/>
              <a:rect l="l" t="t" r="r" b="b"/>
              <a:pathLst>
                <a:path w="22189439" h="1755648">
                  <a:moveTo>
                    <a:pt x="0" y="0"/>
                  </a:moveTo>
                  <a:lnTo>
                    <a:pt x="22189439" y="0"/>
                  </a:lnTo>
                  <a:lnTo>
                    <a:pt x="22189439" y="1755648"/>
                  </a:lnTo>
                  <a:lnTo>
                    <a:pt x="0" y="1755648"/>
                  </a:lnTo>
                  <a:close/>
                </a:path>
              </a:pathLst>
            </a:custGeom>
            <a:blipFill>
              <a:blip r:embed="rId3">
                <a:alphaModFix amt="0"/>
              </a:blip>
              <a:stretch>
                <a:fillRect t="-196269" b="-196269"/>
              </a:stretch>
            </a:blipFill>
          </p:spPr>
          <p:txBody>
            <a:bodyPr/>
            <a:lstStyle/>
            <a:p>
              <a:endParaRPr lang="es-GT"/>
            </a:p>
          </p:txBody>
        </p:sp>
        <p:sp>
          <p:nvSpPr>
            <p:cNvPr id="10" name="TextBox 10"/>
            <p:cNvSpPr txBox="1"/>
            <p:nvPr/>
          </p:nvSpPr>
          <p:spPr>
            <a:xfrm>
              <a:off x="0" y="-76200"/>
              <a:ext cx="22189440" cy="1831848"/>
            </a:xfrm>
            <a:prstGeom prst="rect">
              <a:avLst/>
            </a:prstGeom>
          </p:spPr>
          <p:txBody>
            <a:bodyPr lIns="0" tIns="0" rIns="0" bIns="0" rtlCol="0" anchor="ctr"/>
            <a:lstStyle/>
            <a:p>
              <a:pPr algn="l">
                <a:lnSpc>
                  <a:spcPts val="5280"/>
                </a:lnSpc>
              </a:pPr>
              <a:r>
                <a:rPr lang="en-US" sz="4400" b="1">
                  <a:solidFill>
                    <a:srgbClr val="FFFFFF"/>
                  </a:solidFill>
                  <a:latin typeface="Calibri (MS) Bold"/>
                  <a:ea typeface="Calibri (MS) Bold"/>
                  <a:cs typeface="Calibri (MS) Bold"/>
                  <a:sym typeface="Calibri (MS) Bold"/>
                </a:rPr>
                <a:t>Conceptos aprendidos</a:t>
              </a:r>
            </a:p>
          </p:txBody>
        </p:sp>
      </p:grpSp>
      <p:grpSp>
        <p:nvGrpSpPr>
          <p:cNvPr id="11" name="Group 11"/>
          <p:cNvGrpSpPr/>
          <p:nvPr/>
        </p:nvGrpSpPr>
        <p:grpSpPr>
          <a:xfrm>
            <a:off x="-12697" y="9954263"/>
            <a:ext cx="18313403" cy="345443"/>
            <a:chOff x="0" y="0"/>
            <a:chExt cx="24417871" cy="460591"/>
          </a:xfrm>
        </p:grpSpPr>
        <p:sp>
          <p:nvSpPr>
            <p:cNvPr id="12" name="Freeform 12"/>
            <p:cNvSpPr/>
            <p:nvPr/>
          </p:nvSpPr>
          <p:spPr>
            <a:xfrm>
              <a:off x="16891" y="16891"/>
              <a:ext cx="24383999" cy="426720"/>
            </a:xfrm>
            <a:custGeom>
              <a:avLst/>
              <a:gdLst/>
              <a:ahLst/>
              <a:cxnLst/>
              <a:rect l="l" t="t" r="r" b="b"/>
              <a:pathLst>
                <a:path w="24383999" h="426720">
                  <a:moveTo>
                    <a:pt x="0" y="0"/>
                  </a:moveTo>
                  <a:lnTo>
                    <a:pt x="24383999" y="0"/>
                  </a:lnTo>
                  <a:lnTo>
                    <a:pt x="24383999" y="426720"/>
                  </a:lnTo>
                  <a:lnTo>
                    <a:pt x="0" y="426720"/>
                  </a:lnTo>
                  <a:close/>
                </a:path>
              </a:pathLst>
            </a:custGeom>
            <a:solidFill>
              <a:srgbClr val="12152A"/>
            </a:solidFill>
          </p:spPr>
          <p:txBody>
            <a:bodyPr/>
            <a:lstStyle/>
            <a:p>
              <a:endParaRPr lang="es-GT"/>
            </a:p>
          </p:txBody>
        </p:sp>
        <p:sp>
          <p:nvSpPr>
            <p:cNvPr id="13" name="Freeform 13"/>
            <p:cNvSpPr/>
            <p:nvPr/>
          </p:nvSpPr>
          <p:spPr>
            <a:xfrm>
              <a:off x="0" y="0"/>
              <a:ext cx="24417782" cy="460504"/>
            </a:xfrm>
            <a:custGeom>
              <a:avLst/>
              <a:gdLst/>
              <a:ahLst/>
              <a:cxnLst/>
              <a:rect l="l" t="t" r="r" b="b"/>
              <a:pathLst>
                <a:path w="24417782" h="460504">
                  <a:moveTo>
                    <a:pt x="16891" y="0"/>
                  </a:moveTo>
                  <a:lnTo>
                    <a:pt x="24400890" y="0"/>
                  </a:lnTo>
                  <a:cubicBezTo>
                    <a:pt x="24410290" y="0"/>
                    <a:pt x="24417782" y="7620"/>
                    <a:pt x="24417782" y="16891"/>
                  </a:cubicBezTo>
                  <a:lnTo>
                    <a:pt x="24417782" y="443611"/>
                  </a:lnTo>
                  <a:cubicBezTo>
                    <a:pt x="24417782" y="453009"/>
                    <a:pt x="24410163" y="460502"/>
                    <a:pt x="24400890" y="460502"/>
                  </a:cubicBezTo>
                  <a:lnTo>
                    <a:pt x="16891" y="460502"/>
                  </a:lnTo>
                  <a:cubicBezTo>
                    <a:pt x="7620" y="460629"/>
                    <a:pt x="0" y="453009"/>
                    <a:pt x="0" y="443611"/>
                  </a:cubicBezTo>
                  <a:lnTo>
                    <a:pt x="0" y="16891"/>
                  </a:lnTo>
                  <a:cubicBezTo>
                    <a:pt x="0" y="7620"/>
                    <a:pt x="7620" y="0"/>
                    <a:pt x="16891" y="0"/>
                  </a:cubicBezTo>
                  <a:moveTo>
                    <a:pt x="16891" y="33909"/>
                  </a:moveTo>
                  <a:lnTo>
                    <a:pt x="16891" y="16891"/>
                  </a:lnTo>
                  <a:lnTo>
                    <a:pt x="33909" y="16891"/>
                  </a:lnTo>
                  <a:lnTo>
                    <a:pt x="33909" y="443611"/>
                  </a:lnTo>
                  <a:lnTo>
                    <a:pt x="16891" y="443611"/>
                  </a:lnTo>
                  <a:lnTo>
                    <a:pt x="16891" y="426720"/>
                  </a:lnTo>
                  <a:lnTo>
                    <a:pt x="24400890" y="426720"/>
                  </a:lnTo>
                  <a:lnTo>
                    <a:pt x="24400890" y="443611"/>
                  </a:lnTo>
                  <a:lnTo>
                    <a:pt x="24384000" y="443611"/>
                  </a:lnTo>
                  <a:lnTo>
                    <a:pt x="24384000" y="16891"/>
                  </a:lnTo>
                  <a:lnTo>
                    <a:pt x="24400890" y="16891"/>
                  </a:lnTo>
                  <a:lnTo>
                    <a:pt x="24400890" y="33909"/>
                  </a:lnTo>
                  <a:lnTo>
                    <a:pt x="16891" y="33909"/>
                  </a:lnTo>
                  <a:close/>
                </a:path>
              </a:pathLst>
            </a:custGeom>
            <a:solidFill>
              <a:srgbClr val="12152A"/>
            </a:solidFill>
          </p:spPr>
          <p:txBody>
            <a:bodyPr/>
            <a:lstStyle/>
            <a:p>
              <a:endParaRPr lang="es-GT"/>
            </a:p>
          </p:txBody>
        </p:sp>
      </p:grpSp>
      <p:grpSp>
        <p:nvGrpSpPr>
          <p:cNvPr id="14" name="Group 14"/>
          <p:cNvGrpSpPr/>
          <p:nvPr/>
        </p:nvGrpSpPr>
        <p:grpSpPr>
          <a:xfrm>
            <a:off x="17007840" y="9966960"/>
            <a:ext cx="914400" cy="320040"/>
            <a:chOff x="0" y="0"/>
            <a:chExt cx="1219200" cy="426720"/>
          </a:xfrm>
        </p:grpSpPr>
        <p:sp>
          <p:nvSpPr>
            <p:cNvPr id="15" name="Freeform 15"/>
            <p:cNvSpPr/>
            <p:nvPr/>
          </p:nvSpPr>
          <p:spPr>
            <a:xfrm>
              <a:off x="0" y="0"/>
              <a:ext cx="1219200" cy="426720"/>
            </a:xfrm>
            <a:custGeom>
              <a:avLst/>
              <a:gdLst/>
              <a:ahLst/>
              <a:cxnLst/>
              <a:rect l="l" t="t" r="r" b="b"/>
              <a:pathLst>
                <a:path w="1219200" h="426720">
                  <a:moveTo>
                    <a:pt x="0" y="0"/>
                  </a:moveTo>
                  <a:lnTo>
                    <a:pt x="1219200" y="0"/>
                  </a:lnTo>
                  <a:lnTo>
                    <a:pt x="1219200" y="426720"/>
                  </a:lnTo>
                  <a:lnTo>
                    <a:pt x="0" y="426720"/>
                  </a:lnTo>
                  <a:close/>
                </a:path>
              </a:pathLst>
            </a:custGeom>
            <a:blipFill>
              <a:blip r:embed="rId3">
                <a:alphaModFix amt="0"/>
              </a:blip>
              <a:stretch>
                <a:fillRect t="-5671" b="-5671"/>
              </a:stretch>
            </a:blipFill>
          </p:spPr>
          <p:txBody>
            <a:bodyPr/>
            <a:lstStyle/>
            <a:p>
              <a:endParaRPr lang="es-GT"/>
            </a:p>
          </p:txBody>
        </p:sp>
        <p:sp>
          <p:nvSpPr>
            <p:cNvPr id="16" name="TextBox 16"/>
            <p:cNvSpPr txBox="1"/>
            <p:nvPr/>
          </p:nvSpPr>
          <p:spPr>
            <a:xfrm>
              <a:off x="0" y="-38100"/>
              <a:ext cx="1219200" cy="464820"/>
            </a:xfrm>
            <a:prstGeom prst="rect">
              <a:avLst/>
            </a:prstGeom>
          </p:spPr>
          <p:txBody>
            <a:bodyPr lIns="0" tIns="0" rIns="0" bIns="0" rtlCol="0" anchor="ctr"/>
            <a:lstStyle/>
            <a:p>
              <a:pPr algn="r">
                <a:lnSpc>
                  <a:spcPts val="1800"/>
                </a:lnSpc>
              </a:pPr>
              <a:r>
                <a:rPr lang="en-US" sz="1500">
                  <a:solidFill>
                    <a:srgbClr val="6E7A9F"/>
                  </a:solidFill>
                  <a:latin typeface="Calibri (MS)"/>
                  <a:ea typeface="Calibri (MS)"/>
                  <a:cs typeface="Calibri (MS)"/>
                  <a:sym typeface="Calibri (MS)"/>
                </a:rPr>
                <a:t>35</a:t>
              </a:r>
            </a:p>
          </p:txBody>
        </p:sp>
      </p:grpSp>
      <p:grpSp>
        <p:nvGrpSpPr>
          <p:cNvPr id="17" name="Group 17"/>
          <p:cNvGrpSpPr/>
          <p:nvPr/>
        </p:nvGrpSpPr>
        <p:grpSpPr>
          <a:xfrm>
            <a:off x="718823" y="1596647"/>
            <a:ext cx="8255003" cy="2494283"/>
            <a:chOff x="0" y="0"/>
            <a:chExt cx="11006671" cy="3325711"/>
          </a:xfrm>
        </p:grpSpPr>
        <p:sp>
          <p:nvSpPr>
            <p:cNvPr id="18" name="Freeform 18"/>
            <p:cNvSpPr/>
            <p:nvPr/>
          </p:nvSpPr>
          <p:spPr>
            <a:xfrm>
              <a:off x="16891" y="16891"/>
              <a:ext cx="10972800" cy="3291840"/>
            </a:xfrm>
            <a:custGeom>
              <a:avLst/>
              <a:gdLst/>
              <a:ahLst/>
              <a:cxnLst/>
              <a:rect l="l" t="t" r="r" b="b"/>
              <a:pathLst>
                <a:path w="10972800" h="3291840">
                  <a:moveTo>
                    <a:pt x="0" y="0"/>
                  </a:moveTo>
                  <a:lnTo>
                    <a:pt x="10972800" y="0"/>
                  </a:lnTo>
                  <a:lnTo>
                    <a:pt x="10972800" y="3291840"/>
                  </a:lnTo>
                  <a:lnTo>
                    <a:pt x="0" y="3291840"/>
                  </a:lnTo>
                  <a:close/>
                </a:path>
              </a:pathLst>
            </a:custGeom>
            <a:solidFill>
              <a:srgbClr val="252B42"/>
            </a:solidFill>
          </p:spPr>
          <p:txBody>
            <a:bodyPr/>
            <a:lstStyle/>
            <a:p>
              <a:endParaRPr lang="es-GT"/>
            </a:p>
          </p:txBody>
        </p:sp>
        <p:sp>
          <p:nvSpPr>
            <p:cNvPr id="19" name="Freeform 19"/>
            <p:cNvSpPr/>
            <p:nvPr/>
          </p:nvSpPr>
          <p:spPr>
            <a:xfrm>
              <a:off x="0" y="0"/>
              <a:ext cx="11006582" cy="3325622"/>
            </a:xfrm>
            <a:custGeom>
              <a:avLst/>
              <a:gdLst/>
              <a:ahLst/>
              <a:cxnLst/>
              <a:rect l="l" t="t" r="r" b="b"/>
              <a:pathLst>
                <a:path w="11006582" h="3325622">
                  <a:moveTo>
                    <a:pt x="16891" y="0"/>
                  </a:moveTo>
                  <a:lnTo>
                    <a:pt x="10989691" y="0"/>
                  </a:lnTo>
                  <a:cubicBezTo>
                    <a:pt x="10999089" y="0"/>
                    <a:pt x="11006582" y="7620"/>
                    <a:pt x="11006582" y="16891"/>
                  </a:cubicBezTo>
                  <a:lnTo>
                    <a:pt x="11006582" y="3308731"/>
                  </a:lnTo>
                  <a:cubicBezTo>
                    <a:pt x="11006582" y="3318129"/>
                    <a:pt x="10998962" y="3325622"/>
                    <a:pt x="10989691" y="3325622"/>
                  </a:cubicBezTo>
                  <a:lnTo>
                    <a:pt x="16891" y="3325622"/>
                  </a:lnTo>
                  <a:cubicBezTo>
                    <a:pt x="7493" y="3325622"/>
                    <a:pt x="0" y="3318002"/>
                    <a:pt x="0" y="3308731"/>
                  </a:cubicBezTo>
                  <a:lnTo>
                    <a:pt x="0" y="16891"/>
                  </a:lnTo>
                  <a:cubicBezTo>
                    <a:pt x="0" y="7620"/>
                    <a:pt x="7620" y="0"/>
                    <a:pt x="16891" y="0"/>
                  </a:cubicBezTo>
                  <a:moveTo>
                    <a:pt x="16891" y="33909"/>
                  </a:moveTo>
                  <a:lnTo>
                    <a:pt x="16891" y="16891"/>
                  </a:lnTo>
                  <a:lnTo>
                    <a:pt x="33909" y="16891"/>
                  </a:lnTo>
                  <a:lnTo>
                    <a:pt x="33909" y="3308731"/>
                  </a:lnTo>
                  <a:lnTo>
                    <a:pt x="16891" y="3308731"/>
                  </a:lnTo>
                  <a:lnTo>
                    <a:pt x="16891" y="3291840"/>
                  </a:lnTo>
                  <a:lnTo>
                    <a:pt x="10989691" y="3291840"/>
                  </a:lnTo>
                  <a:lnTo>
                    <a:pt x="10989691" y="3308731"/>
                  </a:lnTo>
                  <a:lnTo>
                    <a:pt x="10972800" y="3308731"/>
                  </a:lnTo>
                  <a:lnTo>
                    <a:pt x="10972800" y="16891"/>
                  </a:lnTo>
                  <a:lnTo>
                    <a:pt x="10989691" y="16891"/>
                  </a:lnTo>
                  <a:lnTo>
                    <a:pt x="10989691" y="33909"/>
                  </a:lnTo>
                  <a:lnTo>
                    <a:pt x="16891" y="33909"/>
                  </a:lnTo>
                  <a:close/>
                </a:path>
              </a:pathLst>
            </a:custGeom>
            <a:solidFill>
              <a:srgbClr val="5B8CFF"/>
            </a:solidFill>
          </p:spPr>
          <p:txBody>
            <a:bodyPr/>
            <a:lstStyle/>
            <a:p>
              <a:endParaRPr lang="es-GT"/>
            </a:p>
          </p:txBody>
        </p:sp>
      </p:grpSp>
      <p:grpSp>
        <p:nvGrpSpPr>
          <p:cNvPr id="20" name="Group 20"/>
          <p:cNvGrpSpPr/>
          <p:nvPr/>
        </p:nvGrpSpPr>
        <p:grpSpPr>
          <a:xfrm>
            <a:off x="718823" y="1596647"/>
            <a:ext cx="8255003" cy="171707"/>
            <a:chOff x="0" y="0"/>
            <a:chExt cx="11006671" cy="228943"/>
          </a:xfrm>
        </p:grpSpPr>
        <p:sp>
          <p:nvSpPr>
            <p:cNvPr id="21" name="Freeform 21"/>
            <p:cNvSpPr/>
            <p:nvPr/>
          </p:nvSpPr>
          <p:spPr>
            <a:xfrm>
              <a:off x="16891" y="16891"/>
              <a:ext cx="10972800" cy="195072"/>
            </a:xfrm>
            <a:custGeom>
              <a:avLst/>
              <a:gdLst/>
              <a:ahLst/>
              <a:cxnLst/>
              <a:rect l="l" t="t" r="r" b="b"/>
              <a:pathLst>
                <a:path w="10972800" h="195072">
                  <a:moveTo>
                    <a:pt x="0" y="0"/>
                  </a:moveTo>
                  <a:lnTo>
                    <a:pt x="10972800" y="0"/>
                  </a:lnTo>
                  <a:lnTo>
                    <a:pt x="10972800" y="195072"/>
                  </a:lnTo>
                  <a:lnTo>
                    <a:pt x="0" y="195072"/>
                  </a:lnTo>
                  <a:close/>
                </a:path>
              </a:pathLst>
            </a:custGeom>
            <a:solidFill>
              <a:srgbClr val="5B8CFF"/>
            </a:solidFill>
          </p:spPr>
          <p:txBody>
            <a:bodyPr/>
            <a:lstStyle/>
            <a:p>
              <a:endParaRPr lang="es-GT"/>
            </a:p>
          </p:txBody>
        </p:sp>
        <p:sp>
          <p:nvSpPr>
            <p:cNvPr id="22" name="Freeform 22"/>
            <p:cNvSpPr/>
            <p:nvPr/>
          </p:nvSpPr>
          <p:spPr>
            <a:xfrm>
              <a:off x="0" y="0"/>
              <a:ext cx="11006582" cy="228856"/>
            </a:xfrm>
            <a:custGeom>
              <a:avLst/>
              <a:gdLst/>
              <a:ahLst/>
              <a:cxnLst/>
              <a:rect l="l" t="t" r="r" b="b"/>
              <a:pathLst>
                <a:path w="11006582" h="228856">
                  <a:moveTo>
                    <a:pt x="16891" y="0"/>
                  </a:moveTo>
                  <a:lnTo>
                    <a:pt x="10989691" y="0"/>
                  </a:lnTo>
                  <a:cubicBezTo>
                    <a:pt x="10999089" y="0"/>
                    <a:pt x="11006582" y="7620"/>
                    <a:pt x="11006582" y="16891"/>
                  </a:cubicBezTo>
                  <a:lnTo>
                    <a:pt x="11006582" y="211963"/>
                  </a:lnTo>
                  <a:cubicBezTo>
                    <a:pt x="11006582" y="221361"/>
                    <a:pt x="10998962" y="228854"/>
                    <a:pt x="10989691"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10989691" y="195072"/>
                  </a:lnTo>
                  <a:lnTo>
                    <a:pt x="10989691" y="211963"/>
                  </a:lnTo>
                  <a:lnTo>
                    <a:pt x="10972800" y="211963"/>
                  </a:lnTo>
                  <a:lnTo>
                    <a:pt x="10972800" y="16891"/>
                  </a:lnTo>
                  <a:lnTo>
                    <a:pt x="10989691" y="16891"/>
                  </a:lnTo>
                  <a:lnTo>
                    <a:pt x="10989691" y="33909"/>
                  </a:lnTo>
                  <a:lnTo>
                    <a:pt x="16891" y="33909"/>
                  </a:lnTo>
                  <a:close/>
                </a:path>
              </a:pathLst>
            </a:custGeom>
            <a:solidFill>
              <a:srgbClr val="5B8CFF"/>
            </a:solidFill>
          </p:spPr>
          <p:txBody>
            <a:bodyPr/>
            <a:lstStyle/>
            <a:p>
              <a:endParaRPr lang="es-GT"/>
            </a:p>
          </p:txBody>
        </p:sp>
      </p:grpSp>
      <p:grpSp>
        <p:nvGrpSpPr>
          <p:cNvPr id="23" name="Group 23"/>
          <p:cNvGrpSpPr/>
          <p:nvPr/>
        </p:nvGrpSpPr>
        <p:grpSpPr>
          <a:xfrm>
            <a:off x="1005840" y="1865376"/>
            <a:ext cx="7680960" cy="548640"/>
            <a:chOff x="0" y="0"/>
            <a:chExt cx="10241280" cy="731520"/>
          </a:xfrm>
        </p:grpSpPr>
        <p:sp>
          <p:nvSpPr>
            <p:cNvPr id="24" name="Freeform 24"/>
            <p:cNvSpPr/>
            <p:nvPr/>
          </p:nvSpPr>
          <p:spPr>
            <a:xfrm>
              <a:off x="0" y="0"/>
              <a:ext cx="10241280" cy="731520"/>
            </a:xfrm>
            <a:custGeom>
              <a:avLst/>
              <a:gdLst/>
              <a:ahLst/>
              <a:cxnLst/>
              <a:rect l="l" t="t" r="r" b="b"/>
              <a:pathLst>
                <a:path w="10241280" h="731520">
                  <a:moveTo>
                    <a:pt x="0" y="0"/>
                  </a:moveTo>
                  <a:lnTo>
                    <a:pt x="10241280" y="0"/>
                  </a:lnTo>
                  <a:lnTo>
                    <a:pt x="10241280" y="731520"/>
                  </a:lnTo>
                  <a:lnTo>
                    <a:pt x="0" y="731520"/>
                  </a:lnTo>
                  <a:close/>
                </a:path>
              </a:pathLst>
            </a:custGeom>
            <a:blipFill>
              <a:blip r:embed="rId3">
                <a:alphaModFix amt="0"/>
              </a:blip>
              <a:stretch>
                <a:fillRect t="-222790" b="-222790"/>
              </a:stretch>
            </a:blipFill>
          </p:spPr>
          <p:txBody>
            <a:bodyPr/>
            <a:lstStyle/>
            <a:p>
              <a:endParaRPr lang="es-GT"/>
            </a:p>
          </p:txBody>
        </p:sp>
        <p:sp>
          <p:nvSpPr>
            <p:cNvPr id="25" name="TextBox 25"/>
            <p:cNvSpPr txBox="1"/>
            <p:nvPr/>
          </p:nvSpPr>
          <p:spPr>
            <a:xfrm>
              <a:off x="0" y="-38100"/>
              <a:ext cx="10241280" cy="769620"/>
            </a:xfrm>
            <a:prstGeom prst="rect">
              <a:avLst/>
            </a:prstGeom>
          </p:spPr>
          <p:txBody>
            <a:bodyPr lIns="0" tIns="0" rIns="0" bIns="0" rtlCol="0" anchor="ctr"/>
            <a:lstStyle/>
            <a:p>
              <a:pPr algn="l">
                <a:lnSpc>
                  <a:spcPts val="2879"/>
                </a:lnSpc>
              </a:pPr>
              <a:r>
                <a:rPr lang="en-US" sz="2400" b="1">
                  <a:solidFill>
                    <a:srgbClr val="5B8CFF"/>
                  </a:solidFill>
                  <a:latin typeface="Calibri (MS) Bold"/>
                  <a:ea typeface="Calibri (MS) Bold"/>
                  <a:cs typeface="Calibri (MS) Bold"/>
                  <a:sym typeface="Calibri (MS) Bold"/>
                </a:rPr>
                <a:t>Algoritmo</a:t>
              </a:r>
            </a:p>
          </p:txBody>
        </p:sp>
      </p:grpSp>
      <p:sp>
        <p:nvSpPr>
          <p:cNvPr id="26" name="TextBox 26"/>
          <p:cNvSpPr txBox="1"/>
          <p:nvPr/>
        </p:nvSpPr>
        <p:spPr>
          <a:xfrm>
            <a:off x="1097280" y="2521839"/>
            <a:ext cx="7498080" cy="714375"/>
          </a:xfrm>
          <a:prstGeom prst="rect">
            <a:avLst/>
          </a:prstGeom>
        </p:spPr>
        <p:txBody>
          <a:bodyPr lIns="0" tIns="0" rIns="0" bIns="0" rtlCol="0" anchor="t">
            <a:spAutoFit/>
          </a:bodyPr>
          <a:lstStyle/>
          <a:p>
            <a:pPr algn="l">
              <a:lnSpc>
                <a:spcPts val="2639"/>
              </a:lnSpc>
            </a:pPr>
            <a:r>
              <a:rPr lang="en-US" sz="2199">
                <a:solidFill>
                  <a:srgbClr val="FFFFFF"/>
                </a:solidFill>
                <a:latin typeface="Calibri (MS)"/>
                <a:ea typeface="Calibri (MS)"/>
                <a:cs typeface="Calibri (MS)"/>
                <a:sym typeface="Calibri (MS)"/>
              </a:rPr>
              <a:t>Secuencia ordenada, finita y determinística de instrucciones que resuelve un problema dado una entrada definida.</a:t>
            </a:r>
          </a:p>
        </p:txBody>
      </p:sp>
      <p:grpSp>
        <p:nvGrpSpPr>
          <p:cNvPr id="27" name="Group 27"/>
          <p:cNvGrpSpPr/>
          <p:nvPr/>
        </p:nvGrpSpPr>
        <p:grpSpPr>
          <a:xfrm>
            <a:off x="9497063" y="1596647"/>
            <a:ext cx="8255003" cy="2494283"/>
            <a:chOff x="0" y="0"/>
            <a:chExt cx="11006671" cy="3325711"/>
          </a:xfrm>
        </p:grpSpPr>
        <p:sp>
          <p:nvSpPr>
            <p:cNvPr id="28" name="Freeform 28"/>
            <p:cNvSpPr/>
            <p:nvPr/>
          </p:nvSpPr>
          <p:spPr>
            <a:xfrm>
              <a:off x="16891" y="16891"/>
              <a:ext cx="10972800" cy="3291840"/>
            </a:xfrm>
            <a:custGeom>
              <a:avLst/>
              <a:gdLst/>
              <a:ahLst/>
              <a:cxnLst/>
              <a:rect l="l" t="t" r="r" b="b"/>
              <a:pathLst>
                <a:path w="10972800" h="3291840">
                  <a:moveTo>
                    <a:pt x="0" y="0"/>
                  </a:moveTo>
                  <a:lnTo>
                    <a:pt x="10972800" y="0"/>
                  </a:lnTo>
                  <a:lnTo>
                    <a:pt x="10972800" y="3291840"/>
                  </a:lnTo>
                  <a:lnTo>
                    <a:pt x="0" y="3291840"/>
                  </a:lnTo>
                  <a:close/>
                </a:path>
              </a:pathLst>
            </a:custGeom>
            <a:solidFill>
              <a:srgbClr val="252B42"/>
            </a:solidFill>
          </p:spPr>
          <p:txBody>
            <a:bodyPr/>
            <a:lstStyle/>
            <a:p>
              <a:endParaRPr lang="es-GT"/>
            </a:p>
          </p:txBody>
        </p:sp>
        <p:sp>
          <p:nvSpPr>
            <p:cNvPr id="29" name="Freeform 29"/>
            <p:cNvSpPr/>
            <p:nvPr/>
          </p:nvSpPr>
          <p:spPr>
            <a:xfrm>
              <a:off x="0" y="0"/>
              <a:ext cx="11006582" cy="3325622"/>
            </a:xfrm>
            <a:custGeom>
              <a:avLst/>
              <a:gdLst/>
              <a:ahLst/>
              <a:cxnLst/>
              <a:rect l="l" t="t" r="r" b="b"/>
              <a:pathLst>
                <a:path w="11006582" h="3325622">
                  <a:moveTo>
                    <a:pt x="16891" y="0"/>
                  </a:moveTo>
                  <a:lnTo>
                    <a:pt x="10989691" y="0"/>
                  </a:lnTo>
                  <a:cubicBezTo>
                    <a:pt x="10999089" y="0"/>
                    <a:pt x="11006582" y="7620"/>
                    <a:pt x="11006582" y="16891"/>
                  </a:cubicBezTo>
                  <a:lnTo>
                    <a:pt x="11006582" y="3308731"/>
                  </a:lnTo>
                  <a:cubicBezTo>
                    <a:pt x="11006582" y="3318129"/>
                    <a:pt x="10998962" y="3325622"/>
                    <a:pt x="10989691" y="3325622"/>
                  </a:cubicBezTo>
                  <a:lnTo>
                    <a:pt x="16891" y="3325622"/>
                  </a:lnTo>
                  <a:cubicBezTo>
                    <a:pt x="7493" y="3325622"/>
                    <a:pt x="0" y="3318002"/>
                    <a:pt x="0" y="3308731"/>
                  </a:cubicBezTo>
                  <a:lnTo>
                    <a:pt x="0" y="16891"/>
                  </a:lnTo>
                  <a:cubicBezTo>
                    <a:pt x="0" y="7620"/>
                    <a:pt x="7620" y="0"/>
                    <a:pt x="16891" y="0"/>
                  </a:cubicBezTo>
                  <a:moveTo>
                    <a:pt x="16891" y="33909"/>
                  </a:moveTo>
                  <a:lnTo>
                    <a:pt x="16891" y="16891"/>
                  </a:lnTo>
                  <a:lnTo>
                    <a:pt x="33909" y="16891"/>
                  </a:lnTo>
                  <a:lnTo>
                    <a:pt x="33909" y="3308731"/>
                  </a:lnTo>
                  <a:lnTo>
                    <a:pt x="16891" y="3308731"/>
                  </a:lnTo>
                  <a:lnTo>
                    <a:pt x="16891" y="3291840"/>
                  </a:lnTo>
                  <a:lnTo>
                    <a:pt x="10989691" y="3291840"/>
                  </a:lnTo>
                  <a:lnTo>
                    <a:pt x="10989691" y="3308731"/>
                  </a:lnTo>
                  <a:lnTo>
                    <a:pt x="10972800" y="3308731"/>
                  </a:lnTo>
                  <a:lnTo>
                    <a:pt x="10972800" y="16891"/>
                  </a:lnTo>
                  <a:lnTo>
                    <a:pt x="10989691" y="16891"/>
                  </a:lnTo>
                  <a:lnTo>
                    <a:pt x="10989691" y="33909"/>
                  </a:lnTo>
                  <a:lnTo>
                    <a:pt x="16891" y="33909"/>
                  </a:lnTo>
                  <a:close/>
                </a:path>
              </a:pathLst>
            </a:custGeom>
            <a:solidFill>
              <a:srgbClr val="7EC8A4"/>
            </a:solidFill>
          </p:spPr>
          <p:txBody>
            <a:bodyPr/>
            <a:lstStyle/>
            <a:p>
              <a:endParaRPr lang="es-GT"/>
            </a:p>
          </p:txBody>
        </p:sp>
      </p:grpSp>
      <p:grpSp>
        <p:nvGrpSpPr>
          <p:cNvPr id="30" name="Group 30"/>
          <p:cNvGrpSpPr/>
          <p:nvPr/>
        </p:nvGrpSpPr>
        <p:grpSpPr>
          <a:xfrm>
            <a:off x="9497063" y="1596647"/>
            <a:ext cx="8255003" cy="171707"/>
            <a:chOff x="0" y="0"/>
            <a:chExt cx="11006671" cy="228943"/>
          </a:xfrm>
        </p:grpSpPr>
        <p:sp>
          <p:nvSpPr>
            <p:cNvPr id="31" name="Freeform 31"/>
            <p:cNvSpPr/>
            <p:nvPr/>
          </p:nvSpPr>
          <p:spPr>
            <a:xfrm>
              <a:off x="16891" y="16891"/>
              <a:ext cx="10972800" cy="195072"/>
            </a:xfrm>
            <a:custGeom>
              <a:avLst/>
              <a:gdLst/>
              <a:ahLst/>
              <a:cxnLst/>
              <a:rect l="l" t="t" r="r" b="b"/>
              <a:pathLst>
                <a:path w="10972800" h="195072">
                  <a:moveTo>
                    <a:pt x="0" y="0"/>
                  </a:moveTo>
                  <a:lnTo>
                    <a:pt x="10972800" y="0"/>
                  </a:lnTo>
                  <a:lnTo>
                    <a:pt x="10972800" y="195072"/>
                  </a:lnTo>
                  <a:lnTo>
                    <a:pt x="0" y="195072"/>
                  </a:lnTo>
                  <a:close/>
                </a:path>
              </a:pathLst>
            </a:custGeom>
            <a:solidFill>
              <a:srgbClr val="7EC8A4"/>
            </a:solidFill>
          </p:spPr>
          <p:txBody>
            <a:bodyPr/>
            <a:lstStyle/>
            <a:p>
              <a:endParaRPr lang="es-GT"/>
            </a:p>
          </p:txBody>
        </p:sp>
        <p:sp>
          <p:nvSpPr>
            <p:cNvPr id="32" name="Freeform 32"/>
            <p:cNvSpPr/>
            <p:nvPr/>
          </p:nvSpPr>
          <p:spPr>
            <a:xfrm>
              <a:off x="0" y="0"/>
              <a:ext cx="11006582" cy="228856"/>
            </a:xfrm>
            <a:custGeom>
              <a:avLst/>
              <a:gdLst/>
              <a:ahLst/>
              <a:cxnLst/>
              <a:rect l="l" t="t" r="r" b="b"/>
              <a:pathLst>
                <a:path w="11006582" h="228856">
                  <a:moveTo>
                    <a:pt x="16891" y="0"/>
                  </a:moveTo>
                  <a:lnTo>
                    <a:pt x="10989691" y="0"/>
                  </a:lnTo>
                  <a:cubicBezTo>
                    <a:pt x="10999089" y="0"/>
                    <a:pt x="11006582" y="7620"/>
                    <a:pt x="11006582" y="16891"/>
                  </a:cubicBezTo>
                  <a:lnTo>
                    <a:pt x="11006582" y="211963"/>
                  </a:lnTo>
                  <a:cubicBezTo>
                    <a:pt x="11006582" y="221361"/>
                    <a:pt x="10998962" y="228854"/>
                    <a:pt x="10989691"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10989691" y="195072"/>
                  </a:lnTo>
                  <a:lnTo>
                    <a:pt x="10989691" y="211963"/>
                  </a:lnTo>
                  <a:lnTo>
                    <a:pt x="10972800" y="211963"/>
                  </a:lnTo>
                  <a:lnTo>
                    <a:pt x="10972800" y="16891"/>
                  </a:lnTo>
                  <a:lnTo>
                    <a:pt x="10989691" y="16891"/>
                  </a:lnTo>
                  <a:lnTo>
                    <a:pt x="10989691" y="33909"/>
                  </a:lnTo>
                  <a:lnTo>
                    <a:pt x="16891" y="33909"/>
                  </a:lnTo>
                  <a:close/>
                </a:path>
              </a:pathLst>
            </a:custGeom>
            <a:solidFill>
              <a:srgbClr val="7EC8A4"/>
            </a:solidFill>
          </p:spPr>
          <p:txBody>
            <a:bodyPr/>
            <a:lstStyle/>
            <a:p>
              <a:endParaRPr lang="es-GT"/>
            </a:p>
          </p:txBody>
        </p:sp>
      </p:grpSp>
      <p:grpSp>
        <p:nvGrpSpPr>
          <p:cNvPr id="33" name="Group 33"/>
          <p:cNvGrpSpPr/>
          <p:nvPr/>
        </p:nvGrpSpPr>
        <p:grpSpPr>
          <a:xfrm>
            <a:off x="9784080" y="1865376"/>
            <a:ext cx="7680960" cy="548640"/>
            <a:chOff x="0" y="0"/>
            <a:chExt cx="10241280" cy="731520"/>
          </a:xfrm>
        </p:grpSpPr>
        <p:sp>
          <p:nvSpPr>
            <p:cNvPr id="34" name="Freeform 34"/>
            <p:cNvSpPr/>
            <p:nvPr/>
          </p:nvSpPr>
          <p:spPr>
            <a:xfrm>
              <a:off x="0" y="0"/>
              <a:ext cx="10241280" cy="731520"/>
            </a:xfrm>
            <a:custGeom>
              <a:avLst/>
              <a:gdLst/>
              <a:ahLst/>
              <a:cxnLst/>
              <a:rect l="l" t="t" r="r" b="b"/>
              <a:pathLst>
                <a:path w="10241280" h="731520">
                  <a:moveTo>
                    <a:pt x="0" y="0"/>
                  </a:moveTo>
                  <a:lnTo>
                    <a:pt x="10241280" y="0"/>
                  </a:lnTo>
                  <a:lnTo>
                    <a:pt x="10241280" y="731520"/>
                  </a:lnTo>
                  <a:lnTo>
                    <a:pt x="0" y="731520"/>
                  </a:lnTo>
                  <a:close/>
                </a:path>
              </a:pathLst>
            </a:custGeom>
            <a:blipFill>
              <a:blip r:embed="rId3">
                <a:alphaModFix amt="0"/>
              </a:blip>
              <a:stretch>
                <a:fillRect t="-222790" b="-222790"/>
              </a:stretch>
            </a:blipFill>
          </p:spPr>
          <p:txBody>
            <a:bodyPr/>
            <a:lstStyle/>
            <a:p>
              <a:endParaRPr lang="es-GT"/>
            </a:p>
          </p:txBody>
        </p:sp>
        <p:sp>
          <p:nvSpPr>
            <p:cNvPr id="35" name="TextBox 35"/>
            <p:cNvSpPr txBox="1"/>
            <p:nvPr/>
          </p:nvSpPr>
          <p:spPr>
            <a:xfrm>
              <a:off x="0" y="-38100"/>
              <a:ext cx="10241280" cy="769620"/>
            </a:xfrm>
            <a:prstGeom prst="rect">
              <a:avLst/>
            </a:prstGeom>
          </p:spPr>
          <p:txBody>
            <a:bodyPr lIns="0" tIns="0" rIns="0" bIns="0" rtlCol="0" anchor="ctr"/>
            <a:lstStyle/>
            <a:p>
              <a:pPr algn="l">
                <a:lnSpc>
                  <a:spcPts val="2879"/>
                </a:lnSpc>
              </a:pPr>
              <a:r>
                <a:rPr lang="en-US" sz="2400" b="1">
                  <a:solidFill>
                    <a:srgbClr val="7EC8A4"/>
                  </a:solidFill>
                  <a:latin typeface="Calibri (MS) Bold"/>
                  <a:ea typeface="Calibri (MS) Bold"/>
                  <a:cs typeface="Calibri (MS) Bold"/>
                  <a:sym typeface="Calibri (MS) Bold"/>
                </a:rPr>
                <a:t>Propiedades esenciales</a:t>
              </a:r>
            </a:p>
          </p:txBody>
        </p:sp>
      </p:grpSp>
      <p:sp>
        <p:nvSpPr>
          <p:cNvPr id="36" name="TextBox 36"/>
          <p:cNvSpPr txBox="1"/>
          <p:nvPr/>
        </p:nvSpPr>
        <p:spPr>
          <a:xfrm>
            <a:off x="9875520" y="2521839"/>
            <a:ext cx="7498080" cy="714375"/>
          </a:xfrm>
          <a:prstGeom prst="rect">
            <a:avLst/>
          </a:prstGeom>
        </p:spPr>
        <p:txBody>
          <a:bodyPr lIns="0" tIns="0" rIns="0" bIns="0" rtlCol="0" anchor="t">
            <a:spAutoFit/>
          </a:bodyPr>
          <a:lstStyle/>
          <a:p>
            <a:pPr algn="l">
              <a:lnSpc>
                <a:spcPts val="2639"/>
              </a:lnSpc>
            </a:pPr>
            <a:r>
              <a:rPr lang="en-US" sz="2199">
                <a:solidFill>
                  <a:srgbClr val="FFFFFF"/>
                </a:solidFill>
                <a:latin typeface="Calibri (MS)"/>
                <a:ea typeface="Calibri (MS)"/>
                <a:cs typeface="Calibri (MS)"/>
                <a:sym typeface="Calibri (MS)"/>
              </a:rPr>
              <a:t>Precisión, definición (determinismo), finitud, efectividad y al menos una salida. Omitir cualquiera invalida el algoritmo.</a:t>
            </a:r>
          </a:p>
        </p:txBody>
      </p:sp>
      <p:grpSp>
        <p:nvGrpSpPr>
          <p:cNvPr id="37" name="Group 37"/>
          <p:cNvGrpSpPr/>
          <p:nvPr/>
        </p:nvGrpSpPr>
        <p:grpSpPr>
          <a:xfrm>
            <a:off x="718823" y="4376423"/>
            <a:ext cx="8255003" cy="2494283"/>
            <a:chOff x="0" y="0"/>
            <a:chExt cx="11006671" cy="3325711"/>
          </a:xfrm>
        </p:grpSpPr>
        <p:sp>
          <p:nvSpPr>
            <p:cNvPr id="38" name="Freeform 38"/>
            <p:cNvSpPr/>
            <p:nvPr/>
          </p:nvSpPr>
          <p:spPr>
            <a:xfrm>
              <a:off x="16891" y="16891"/>
              <a:ext cx="10972800" cy="3291840"/>
            </a:xfrm>
            <a:custGeom>
              <a:avLst/>
              <a:gdLst/>
              <a:ahLst/>
              <a:cxnLst/>
              <a:rect l="l" t="t" r="r" b="b"/>
              <a:pathLst>
                <a:path w="10972800" h="3291840">
                  <a:moveTo>
                    <a:pt x="0" y="0"/>
                  </a:moveTo>
                  <a:lnTo>
                    <a:pt x="10972800" y="0"/>
                  </a:lnTo>
                  <a:lnTo>
                    <a:pt x="10972800" y="3291840"/>
                  </a:lnTo>
                  <a:lnTo>
                    <a:pt x="0" y="3291840"/>
                  </a:lnTo>
                  <a:close/>
                </a:path>
              </a:pathLst>
            </a:custGeom>
            <a:solidFill>
              <a:srgbClr val="252B42"/>
            </a:solidFill>
          </p:spPr>
          <p:txBody>
            <a:bodyPr/>
            <a:lstStyle/>
            <a:p>
              <a:endParaRPr lang="es-GT"/>
            </a:p>
          </p:txBody>
        </p:sp>
        <p:sp>
          <p:nvSpPr>
            <p:cNvPr id="39" name="Freeform 39"/>
            <p:cNvSpPr/>
            <p:nvPr/>
          </p:nvSpPr>
          <p:spPr>
            <a:xfrm>
              <a:off x="0" y="0"/>
              <a:ext cx="11006582" cy="3325622"/>
            </a:xfrm>
            <a:custGeom>
              <a:avLst/>
              <a:gdLst/>
              <a:ahLst/>
              <a:cxnLst/>
              <a:rect l="l" t="t" r="r" b="b"/>
              <a:pathLst>
                <a:path w="11006582" h="3325622">
                  <a:moveTo>
                    <a:pt x="16891" y="0"/>
                  </a:moveTo>
                  <a:lnTo>
                    <a:pt x="10989691" y="0"/>
                  </a:lnTo>
                  <a:cubicBezTo>
                    <a:pt x="10999089" y="0"/>
                    <a:pt x="11006582" y="7620"/>
                    <a:pt x="11006582" y="16891"/>
                  </a:cubicBezTo>
                  <a:lnTo>
                    <a:pt x="11006582" y="3308731"/>
                  </a:lnTo>
                  <a:cubicBezTo>
                    <a:pt x="11006582" y="3318129"/>
                    <a:pt x="10998962" y="3325622"/>
                    <a:pt x="10989691" y="3325622"/>
                  </a:cubicBezTo>
                  <a:lnTo>
                    <a:pt x="16891" y="3325622"/>
                  </a:lnTo>
                  <a:cubicBezTo>
                    <a:pt x="7493" y="3325622"/>
                    <a:pt x="0" y="3318002"/>
                    <a:pt x="0" y="3308731"/>
                  </a:cubicBezTo>
                  <a:lnTo>
                    <a:pt x="0" y="16891"/>
                  </a:lnTo>
                  <a:cubicBezTo>
                    <a:pt x="0" y="7620"/>
                    <a:pt x="7620" y="0"/>
                    <a:pt x="16891" y="0"/>
                  </a:cubicBezTo>
                  <a:moveTo>
                    <a:pt x="16891" y="33909"/>
                  </a:moveTo>
                  <a:lnTo>
                    <a:pt x="16891" y="16891"/>
                  </a:lnTo>
                  <a:lnTo>
                    <a:pt x="33909" y="16891"/>
                  </a:lnTo>
                  <a:lnTo>
                    <a:pt x="33909" y="3308731"/>
                  </a:lnTo>
                  <a:lnTo>
                    <a:pt x="16891" y="3308731"/>
                  </a:lnTo>
                  <a:lnTo>
                    <a:pt x="16891" y="3291840"/>
                  </a:lnTo>
                  <a:lnTo>
                    <a:pt x="10989691" y="3291840"/>
                  </a:lnTo>
                  <a:lnTo>
                    <a:pt x="10989691" y="3308731"/>
                  </a:lnTo>
                  <a:lnTo>
                    <a:pt x="10972800" y="3308731"/>
                  </a:lnTo>
                  <a:lnTo>
                    <a:pt x="10972800" y="16891"/>
                  </a:lnTo>
                  <a:lnTo>
                    <a:pt x="10989691" y="16891"/>
                  </a:lnTo>
                  <a:lnTo>
                    <a:pt x="10989691" y="33909"/>
                  </a:lnTo>
                  <a:lnTo>
                    <a:pt x="16891" y="33909"/>
                  </a:lnTo>
                  <a:close/>
                </a:path>
              </a:pathLst>
            </a:custGeom>
            <a:solidFill>
              <a:srgbClr val="9B7FD4"/>
            </a:solidFill>
          </p:spPr>
          <p:txBody>
            <a:bodyPr/>
            <a:lstStyle/>
            <a:p>
              <a:endParaRPr lang="es-GT"/>
            </a:p>
          </p:txBody>
        </p:sp>
      </p:grpSp>
      <p:grpSp>
        <p:nvGrpSpPr>
          <p:cNvPr id="40" name="Group 40"/>
          <p:cNvGrpSpPr/>
          <p:nvPr/>
        </p:nvGrpSpPr>
        <p:grpSpPr>
          <a:xfrm>
            <a:off x="718823" y="4376423"/>
            <a:ext cx="8255003" cy="171707"/>
            <a:chOff x="0" y="0"/>
            <a:chExt cx="11006671" cy="228943"/>
          </a:xfrm>
        </p:grpSpPr>
        <p:sp>
          <p:nvSpPr>
            <p:cNvPr id="41" name="Freeform 41"/>
            <p:cNvSpPr/>
            <p:nvPr/>
          </p:nvSpPr>
          <p:spPr>
            <a:xfrm>
              <a:off x="16891" y="16891"/>
              <a:ext cx="10972800" cy="195072"/>
            </a:xfrm>
            <a:custGeom>
              <a:avLst/>
              <a:gdLst/>
              <a:ahLst/>
              <a:cxnLst/>
              <a:rect l="l" t="t" r="r" b="b"/>
              <a:pathLst>
                <a:path w="10972800" h="195072">
                  <a:moveTo>
                    <a:pt x="0" y="0"/>
                  </a:moveTo>
                  <a:lnTo>
                    <a:pt x="10972800" y="0"/>
                  </a:lnTo>
                  <a:lnTo>
                    <a:pt x="10972800" y="195072"/>
                  </a:lnTo>
                  <a:lnTo>
                    <a:pt x="0" y="195072"/>
                  </a:lnTo>
                  <a:close/>
                </a:path>
              </a:pathLst>
            </a:custGeom>
            <a:solidFill>
              <a:srgbClr val="9B7FD4"/>
            </a:solidFill>
          </p:spPr>
          <p:txBody>
            <a:bodyPr/>
            <a:lstStyle/>
            <a:p>
              <a:endParaRPr lang="es-GT"/>
            </a:p>
          </p:txBody>
        </p:sp>
        <p:sp>
          <p:nvSpPr>
            <p:cNvPr id="42" name="Freeform 42"/>
            <p:cNvSpPr/>
            <p:nvPr/>
          </p:nvSpPr>
          <p:spPr>
            <a:xfrm>
              <a:off x="0" y="0"/>
              <a:ext cx="11006582" cy="228856"/>
            </a:xfrm>
            <a:custGeom>
              <a:avLst/>
              <a:gdLst/>
              <a:ahLst/>
              <a:cxnLst/>
              <a:rect l="l" t="t" r="r" b="b"/>
              <a:pathLst>
                <a:path w="11006582" h="228856">
                  <a:moveTo>
                    <a:pt x="16891" y="0"/>
                  </a:moveTo>
                  <a:lnTo>
                    <a:pt x="10989691" y="0"/>
                  </a:lnTo>
                  <a:cubicBezTo>
                    <a:pt x="10999089" y="0"/>
                    <a:pt x="11006582" y="7620"/>
                    <a:pt x="11006582" y="16891"/>
                  </a:cubicBezTo>
                  <a:lnTo>
                    <a:pt x="11006582" y="211963"/>
                  </a:lnTo>
                  <a:cubicBezTo>
                    <a:pt x="11006582" y="221361"/>
                    <a:pt x="10998962" y="228854"/>
                    <a:pt x="10989691"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10989691" y="195072"/>
                  </a:lnTo>
                  <a:lnTo>
                    <a:pt x="10989691" y="211963"/>
                  </a:lnTo>
                  <a:lnTo>
                    <a:pt x="10972800" y="211963"/>
                  </a:lnTo>
                  <a:lnTo>
                    <a:pt x="10972800" y="16891"/>
                  </a:lnTo>
                  <a:lnTo>
                    <a:pt x="10989691" y="16891"/>
                  </a:lnTo>
                  <a:lnTo>
                    <a:pt x="10989691" y="33909"/>
                  </a:lnTo>
                  <a:lnTo>
                    <a:pt x="16891" y="33909"/>
                  </a:lnTo>
                  <a:close/>
                </a:path>
              </a:pathLst>
            </a:custGeom>
            <a:solidFill>
              <a:srgbClr val="9B7FD4"/>
            </a:solidFill>
          </p:spPr>
          <p:txBody>
            <a:bodyPr/>
            <a:lstStyle/>
            <a:p>
              <a:endParaRPr lang="es-GT"/>
            </a:p>
          </p:txBody>
        </p:sp>
      </p:grpSp>
      <p:grpSp>
        <p:nvGrpSpPr>
          <p:cNvPr id="43" name="Group 43"/>
          <p:cNvGrpSpPr/>
          <p:nvPr/>
        </p:nvGrpSpPr>
        <p:grpSpPr>
          <a:xfrm>
            <a:off x="1005840" y="4645152"/>
            <a:ext cx="7680960" cy="548640"/>
            <a:chOff x="0" y="0"/>
            <a:chExt cx="10241280" cy="731520"/>
          </a:xfrm>
        </p:grpSpPr>
        <p:sp>
          <p:nvSpPr>
            <p:cNvPr id="44" name="Freeform 44"/>
            <p:cNvSpPr/>
            <p:nvPr/>
          </p:nvSpPr>
          <p:spPr>
            <a:xfrm>
              <a:off x="0" y="0"/>
              <a:ext cx="10241280" cy="731520"/>
            </a:xfrm>
            <a:custGeom>
              <a:avLst/>
              <a:gdLst/>
              <a:ahLst/>
              <a:cxnLst/>
              <a:rect l="l" t="t" r="r" b="b"/>
              <a:pathLst>
                <a:path w="10241280" h="731520">
                  <a:moveTo>
                    <a:pt x="0" y="0"/>
                  </a:moveTo>
                  <a:lnTo>
                    <a:pt x="10241280" y="0"/>
                  </a:lnTo>
                  <a:lnTo>
                    <a:pt x="10241280" y="731520"/>
                  </a:lnTo>
                  <a:lnTo>
                    <a:pt x="0" y="731520"/>
                  </a:lnTo>
                  <a:close/>
                </a:path>
              </a:pathLst>
            </a:custGeom>
            <a:blipFill>
              <a:blip r:embed="rId3">
                <a:alphaModFix amt="0"/>
              </a:blip>
              <a:stretch>
                <a:fillRect t="-222790" b="-222790"/>
              </a:stretch>
            </a:blipFill>
          </p:spPr>
          <p:txBody>
            <a:bodyPr/>
            <a:lstStyle/>
            <a:p>
              <a:endParaRPr lang="es-GT"/>
            </a:p>
          </p:txBody>
        </p:sp>
        <p:sp>
          <p:nvSpPr>
            <p:cNvPr id="45" name="TextBox 45"/>
            <p:cNvSpPr txBox="1"/>
            <p:nvPr/>
          </p:nvSpPr>
          <p:spPr>
            <a:xfrm>
              <a:off x="0" y="-38100"/>
              <a:ext cx="10241280" cy="769620"/>
            </a:xfrm>
            <a:prstGeom prst="rect">
              <a:avLst/>
            </a:prstGeom>
          </p:spPr>
          <p:txBody>
            <a:bodyPr lIns="0" tIns="0" rIns="0" bIns="0" rtlCol="0" anchor="ctr"/>
            <a:lstStyle/>
            <a:p>
              <a:pPr algn="l">
                <a:lnSpc>
                  <a:spcPts val="2879"/>
                </a:lnSpc>
              </a:pPr>
              <a:r>
                <a:rPr lang="en-US" sz="2400" b="1">
                  <a:solidFill>
                    <a:srgbClr val="9B7FD4"/>
                  </a:solidFill>
                  <a:latin typeface="Calibri (MS) Bold"/>
                  <a:ea typeface="Calibri (MS) Bold"/>
                  <a:cs typeface="Calibri (MS) Bold"/>
                  <a:sym typeface="Calibri (MS) Bold"/>
                </a:rPr>
                <a:t>Tres niveles</a:t>
              </a:r>
            </a:p>
          </p:txBody>
        </p:sp>
      </p:grpSp>
      <p:sp>
        <p:nvSpPr>
          <p:cNvPr id="46" name="TextBox 46"/>
          <p:cNvSpPr txBox="1"/>
          <p:nvPr/>
        </p:nvSpPr>
        <p:spPr>
          <a:xfrm>
            <a:off x="1097280" y="5301615"/>
            <a:ext cx="7498080" cy="714375"/>
          </a:xfrm>
          <a:prstGeom prst="rect">
            <a:avLst/>
          </a:prstGeom>
        </p:spPr>
        <p:txBody>
          <a:bodyPr lIns="0" tIns="0" rIns="0" bIns="0" rtlCol="0" anchor="t">
            <a:spAutoFit/>
          </a:bodyPr>
          <a:lstStyle/>
          <a:p>
            <a:pPr algn="l">
              <a:lnSpc>
                <a:spcPts val="2639"/>
              </a:lnSpc>
            </a:pPr>
            <a:r>
              <a:rPr lang="en-US" sz="2199">
                <a:solidFill>
                  <a:srgbClr val="FFFFFF"/>
                </a:solidFill>
                <a:latin typeface="Calibri (MS)"/>
                <a:ea typeface="Calibri (MS)"/>
                <a:cs typeface="Calibri (MS)"/>
                <a:sym typeface="Calibri (MS)"/>
              </a:rPr>
              <a:t>Natural (legibilidad), gráfico (diagrama de flujo con ISO 5807) y formal (pseudocódigo estructurado / PSeInt).</a:t>
            </a:r>
          </a:p>
        </p:txBody>
      </p:sp>
      <p:grpSp>
        <p:nvGrpSpPr>
          <p:cNvPr id="47" name="Group 47"/>
          <p:cNvGrpSpPr/>
          <p:nvPr/>
        </p:nvGrpSpPr>
        <p:grpSpPr>
          <a:xfrm>
            <a:off x="9497063" y="4376423"/>
            <a:ext cx="8255003" cy="2494283"/>
            <a:chOff x="0" y="0"/>
            <a:chExt cx="11006671" cy="3325711"/>
          </a:xfrm>
        </p:grpSpPr>
        <p:sp>
          <p:nvSpPr>
            <p:cNvPr id="48" name="Freeform 48"/>
            <p:cNvSpPr/>
            <p:nvPr/>
          </p:nvSpPr>
          <p:spPr>
            <a:xfrm>
              <a:off x="16891" y="16891"/>
              <a:ext cx="10972800" cy="3291840"/>
            </a:xfrm>
            <a:custGeom>
              <a:avLst/>
              <a:gdLst/>
              <a:ahLst/>
              <a:cxnLst/>
              <a:rect l="l" t="t" r="r" b="b"/>
              <a:pathLst>
                <a:path w="10972800" h="3291840">
                  <a:moveTo>
                    <a:pt x="0" y="0"/>
                  </a:moveTo>
                  <a:lnTo>
                    <a:pt x="10972800" y="0"/>
                  </a:lnTo>
                  <a:lnTo>
                    <a:pt x="10972800" y="3291840"/>
                  </a:lnTo>
                  <a:lnTo>
                    <a:pt x="0" y="3291840"/>
                  </a:lnTo>
                  <a:close/>
                </a:path>
              </a:pathLst>
            </a:custGeom>
            <a:solidFill>
              <a:srgbClr val="252B42"/>
            </a:solidFill>
          </p:spPr>
          <p:txBody>
            <a:bodyPr/>
            <a:lstStyle/>
            <a:p>
              <a:endParaRPr lang="es-GT"/>
            </a:p>
          </p:txBody>
        </p:sp>
        <p:sp>
          <p:nvSpPr>
            <p:cNvPr id="49" name="Freeform 49"/>
            <p:cNvSpPr/>
            <p:nvPr/>
          </p:nvSpPr>
          <p:spPr>
            <a:xfrm>
              <a:off x="0" y="0"/>
              <a:ext cx="11006582" cy="3325622"/>
            </a:xfrm>
            <a:custGeom>
              <a:avLst/>
              <a:gdLst/>
              <a:ahLst/>
              <a:cxnLst/>
              <a:rect l="l" t="t" r="r" b="b"/>
              <a:pathLst>
                <a:path w="11006582" h="3325622">
                  <a:moveTo>
                    <a:pt x="16891" y="0"/>
                  </a:moveTo>
                  <a:lnTo>
                    <a:pt x="10989691" y="0"/>
                  </a:lnTo>
                  <a:cubicBezTo>
                    <a:pt x="10999089" y="0"/>
                    <a:pt x="11006582" y="7620"/>
                    <a:pt x="11006582" y="16891"/>
                  </a:cubicBezTo>
                  <a:lnTo>
                    <a:pt x="11006582" y="3308731"/>
                  </a:lnTo>
                  <a:cubicBezTo>
                    <a:pt x="11006582" y="3318129"/>
                    <a:pt x="10998962" y="3325622"/>
                    <a:pt x="10989691" y="3325622"/>
                  </a:cubicBezTo>
                  <a:lnTo>
                    <a:pt x="16891" y="3325622"/>
                  </a:lnTo>
                  <a:cubicBezTo>
                    <a:pt x="7493" y="3325622"/>
                    <a:pt x="0" y="3318002"/>
                    <a:pt x="0" y="3308731"/>
                  </a:cubicBezTo>
                  <a:lnTo>
                    <a:pt x="0" y="16891"/>
                  </a:lnTo>
                  <a:cubicBezTo>
                    <a:pt x="0" y="7620"/>
                    <a:pt x="7620" y="0"/>
                    <a:pt x="16891" y="0"/>
                  </a:cubicBezTo>
                  <a:moveTo>
                    <a:pt x="16891" y="33909"/>
                  </a:moveTo>
                  <a:lnTo>
                    <a:pt x="16891" y="16891"/>
                  </a:lnTo>
                  <a:lnTo>
                    <a:pt x="33909" y="16891"/>
                  </a:lnTo>
                  <a:lnTo>
                    <a:pt x="33909" y="3308731"/>
                  </a:lnTo>
                  <a:lnTo>
                    <a:pt x="16891" y="3308731"/>
                  </a:lnTo>
                  <a:lnTo>
                    <a:pt x="16891" y="3291840"/>
                  </a:lnTo>
                  <a:lnTo>
                    <a:pt x="10989691" y="3291840"/>
                  </a:lnTo>
                  <a:lnTo>
                    <a:pt x="10989691" y="3308731"/>
                  </a:lnTo>
                  <a:lnTo>
                    <a:pt x="10972800" y="3308731"/>
                  </a:lnTo>
                  <a:lnTo>
                    <a:pt x="10972800" y="16891"/>
                  </a:lnTo>
                  <a:lnTo>
                    <a:pt x="10989691" y="16891"/>
                  </a:lnTo>
                  <a:lnTo>
                    <a:pt x="10989691" y="33909"/>
                  </a:lnTo>
                  <a:lnTo>
                    <a:pt x="16891" y="33909"/>
                  </a:lnTo>
                  <a:close/>
                </a:path>
              </a:pathLst>
            </a:custGeom>
            <a:solidFill>
              <a:srgbClr val="E8A87C"/>
            </a:solidFill>
          </p:spPr>
          <p:txBody>
            <a:bodyPr/>
            <a:lstStyle/>
            <a:p>
              <a:endParaRPr lang="es-GT"/>
            </a:p>
          </p:txBody>
        </p:sp>
      </p:grpSp>
      <p:grpSp>
        <p:nvGrpSpPr>
          <p:cNvPr id="50" name="Group 50"/>
          <p:cNvGrpSpPr/>
          <p:nvPr/>
        </p:nvGrpSpPr>
        <p:grpSpPr>
          <a:xfrm>
            <a:off x="9497063" y="4376423"/>
            <a:ext cx="8255003" cy="171707"/>
            <a:chOff x="0" y="0"/>
            <a:chExt cx="11006671" cy="228943"/>
          </a:xfrm>
        </p:grpSpPr>
        <p:sp>
          <p:nvSpPr>
            <p:cNvPr id="51" name="Freeform 51"/>
            <p:cNvSpPr/>
            <p:nvPr/>
          </p:nvSpPr>
          <p:spPr>
            <a:xfrm>
              <a:off x="16891" y="16891"/>
              <a:ext cx="10972800" cy="195072"/>
            </a:xfrm>
            <a:custGeom>
              <a:avLst/>
              <a:gdLst/>
              <a:ahLst/>
              <a:cxnLst/>
              <a:rect l="l" t="t" r="r" b="b"/>
              <a:pathLst>
                <a:path w="10972800" h="195072">
                  <a:moveTo>
                    <a:pt x="0" y="0"/>
                  </a:moveTo>
                  <a:lnTo>
                    <a:pt x="10972800" y="0"/>
                  </a:lnTo>
                  <a:lnTo>
                    <a:pt x="10972800" y="195072"/>
                  </a:lnTo>
                  <a:lnTo>
                    <a:pt x="0" y="195072"/>
                  </a:lnTo>
                  <a:close/>
                </a:path>
              </a:pathLst>
            </a:custGeom>
            <a:solidFill>
              <a:srgbClr val="E8A87C"/>
            </a:solidFill>
          </p:spPr>
          <p:txBody>
            <a:bodyPr/>
            <a:lstStyle/>
            <a:p>
              <a:endParaRPr lang="es-GT"/>
            </a:p>
          </p:txBody>
        </p:sp>
        <p:sp>
          <p:nvSpPr>
            <p:cNvPr id="52" name="Freeform 52"/>
            <p:cNvSpPr/>
            <p:nvPr/>
          </p:nvSpPr>
          <p:spPr>
            <a:xfrm>
              <a:off x="0" y="0"/>
              <a:ext cx="11006582" cy="228856"/>
            </a:xfrm>
            <a:custGeom>
              <a:avLst/>
              <a:gdLst/>
              <a:ahLst/>
              <a:cxnLst/>
              <a:rect l="l" t="t" r="r" b="b"/>
              <a:pathLst>
                <a:path w="11006582" h="228856">
                  <a:moveTo>
                    <a:pt x="16891" y="0"/>
                  </a:moveTo>
                  <a:lnTo>
                    <a:pt x="10989691" y="0"/>
                  </a:lnTo>
                  <a:cubicBezTo>
                    <a:pt x="10999089" y="0"/>
                    <a:pt x="11006582" y="7620"/>
                    <a:pt x="11006582" y="16891"/>
                  </a:cubicBezTo>
                  <a:lnTo>
                    <a:pt x="11006582" y="211963"/>
                  </a:lnTo>
                  <a:cubicBezTo>
                    <a:pt x="11006582" y="221361"/>
                    <a:pt x="10998962" y="228854"/>
                    <a:pt x="10989691"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10989691" y="195072"/>
                  </a:lnTo>
                  <a:lnTo>
                    <a:pt x="10989691" y="211963"/>
                  </a:lnTo>
                  <a:lnTo>
                    <a:pt x="10972800" y="211963"/>
                  </a:lnTo>
                  <a:lnTo>
                    <a:pt x="10972800" y="16891"/>
                  </a:lnTo>
                  <a:lnTo>
                    <a:pt x="10989691" y="16891"/>
                  </a:lnTo>
                  <a:lnTo>
                    <a:pt x="10989691" y="33909"/>
                  </a:lnTo>
                  <a:lnTo>
                    <a:pt x="16891" y="33909"/>
                  </a:lnTo>
                  <a:close/>
                </a:path>
              </a:pathLst>
            </a:custGeom>
            <a:solidFill>
              <a:srgbClr val="E8A87C"/>
            </a:solidFill>
          </p:spPr>
          <p:txBody>
            <a:bodyPr/>
            <a:lstStyle/>
            <a:p>
              <a:endParaRPr lang="es-GT"/>
            </a:p>
          </p:txBody>
        </p:sp>
      </p:grpSp>
      <p:grpSp>
        <p:nvGrpSpPr>
          <p:cNvPr id="53" name="Group 53"/>
          <p:cNvGrpSpPr/>
          <p:nvPr/>
        </p:nvGrpSpPr>
        <p:grpSpPr>
          <a:xfrm>
            <a:off x="9784080" y="4645152"/>
            <a:ext cx="7680960" cy="548640"/>
            <a:chOff x="0" y="0"/>
            <a:chExt cx="10241280" cy="731520"/>
          </a:xfrm>
        </p:grpSpPr>
        <p:sp>
          <p:nvSpPr>
            <p:cNvPr id="54" name="Freeform 54"/>
            <p:cNvSpPr/>
            <p:nvPr/>
          </p:nvSpPr>
          <p:spPr>
            <a:xfrm>
              <a:off x="0" y="0"/>
              <a:ext cx="10241280" cy="731520"/>
            </a:xfrm>
            <a:custGeom>
              <a:avLst/>
              <a:gdLst/>
              <a:ahLst/>
              <a:cxnLst/>
              <a:rect l="l" t="t" r="r" b="b"/>
              <a:pathLst>
                <a:path w="10241280" h="731520">
                  <a:moveTo>
                    <a:pt x="0" y="0"/>
                  </a:moveTo>
                  <a:lnTo>
                    <a:pt x="10241280" y="0"/>
                  </a:lnTo>
                  <a:lnTo>
                    <a:pt x="10241280" y="731520"/>
                  </a:lnTo>
                  <a:lnTo>
                    <a:pt x="0" y="731520"/>
                  </a:lnTo>
                  <a:close/>
                </a:path>
              </a:pathLst>
            </a:custGeom>
            <a:blipFill>
              <a:blip r:embed="rId3">
                <a:alphaModFix amt="0"/>
              </a:blip>
              <a:stretch>
                <a:fillRect t="-222790" b="-222790"/>
              </a:stretch>
            </a:blipFill>
          </p:spPr>
          <p:txBody>
            <a:bodyPr/>
            <a:lstStyle/>
            <a:p>
              <a:endParaRPr lang="es-GT"/>
            </a:p>
          </p:txBody>
        </p:sp>
        <p:sp>
          <p:nvSpPr>
            <p:cNvPr id="55" name="TextBox 55"/>
            <p:cNvSpPr txBox="1"/>
            <p:nvPr/>
          </p:nvSpPr>
          <p:spPr>
            <a:xfrm>
              <a:off x="0" y="-38100"/>
              <a:ext cx="10241280" cy="769620"/>
            </a:xfrm>
            <a:prstGeom prst="rect">
              <a:avLst/>
            </a:prstGeom>
          </p:spPr>
          <p:txBody>
            <a:bodyPr lIns="0" tIns="0" rIns="0" bIns="0" rtlCol="0" anchor="ctr"/>
            <a:lstStyle/>
            <a:p>
              <a:pPr algn="l">
                <a:lnSpc>
                  <a:spcPts val="2879"/>
                </a:lnSpc>
              </a:pPr>
              <a:r>
                <a:rPr lang="en-US" sz="2400" b="1">
                  <a:solidFill>
                    <a:srgbClr val="E8A87C"/>
                  </a:solidFill>
                  <a:latin typeface="Calibri (MS) Bold"/>
                  <a:ea typeface="Calibri (MS) Bold"/>
                  <a:cs typeface="Calibri (MS) Bold"/>
                  <a:sym typeface="Calibri (MS) Bold"/>
                </a:rPr>
                <a:t>Pensamiento algorítmico</a:t>
              </a:r>
            </a:p>
          </p:txBody>
        </p:sp>
      </p:grpSp>
      <p:sp>
        <p:nvSpPr>
          <p:cNvPr id="56" name="TextBox 56"/>
          <p:cNvSpPr txBox="1"/>
          <p:nvPr/>
        </p:nvSpPr>
        <p:spPr>
          <a:xfrm>
            <a:off x="9875520" y="5301615"/>
            <a:ext cx="7498080" cy="714375"/>
          </a:xfrm>
          <a:prstGeom prst="rect">
            <a:avLst/>
          </a:prstGeom>
        </p:spPr>
        <p:txBody>
          <a:bodyPr lIns="0" tIns="0" rIns="0" bIns="0" rtlCol="0" anchor="t">
            <a:spAutoFit/>
          </a:bodyPr>
          <a:lstStyle/>
          <a:p>
            <a:pPr algn="l">
              <a:lnSpc>
                <a:spcPts val="2639"/>
              </a:lnSpc>
            </a:pPr>
            <a:r>
              <a:rPr lang="en-US" sz="2199">
                <a:solidFill>
                  <a:srgbClr val="FFFFFF"/>
                </a:solidFill>
                <a:latin typeface="Calibri (MS)"/>
                <a:ea typeface="Calibri (MS)"/>
                <a:cs typeface="Calibri (MS)"/>
                <a:sym typeface="Calibri (MS)"/>
              </a:rPr>
              <a:t>Capacidad de descomponer, reconocer patrones y abstraer información para diseñar soluciones sistemáticas.</a:t>
            </a:r>
          </a:p>
        </p:txBody>
      </p:sp>
      <p:grpSp>
        <p:nvGrpSpPr>
          <p:cNvPr id="57" name="Group 57"/>
          <p:cNvGrpSpPr/>
          <p:nvPr/>
        </p:nvGrpSpPr>
        <p:grpSpPr>
          <a:xfrm>
            <a:off x="718823" y="7156199"/>
            <a:ext cx="8255003" cy="2494283"/>
            <a:chOff x="0" y="0"/>
            <a:chExt cx="11006671" cy="3325711"/>
          </a:xfrm>
        </p:grpSpPr>
        <p:sp>
          <p:nvSpPr>
            <p:cNvPr id="58" name="Freeform 58"/>
            <p:cNvSpPr/>
            <p:nvPr/>
          </p:nvSpPr>
          <p:spPr>
            <a:xfrm>
              <a:off x="16891" y="16891"/>
              <a:ext cx="10972800" cy="3291840"/>
            </a:xfrm>
            <a:custGeom>
              <a:avLst/>
              <a:gdLst/>
              <a:ahLst/>
              <a:cxnLst/>
              <a:rect l="l" t="t" r="r" b="b"/>
              <a:pathLst>
                <a:path w="10972800" h="3291840">
                  <a:moveTo>
                    <a:pt x="0" y="0"/>
                  </a:moveTo>
                  <a:lnTo>
                    <a:pt x="10972800" y="0"/>
                  </a:lnTo>
                  <a:lnTo>
                    <a:pt x="10972800" y="3291840"/>
                  </a:lnTo>
                  <a:lnTo>
                    <a:pt x="0" y="3291840"/>
                  </a:lnTo>
                  <a:close/>
                </a:path>
              </a:pathLst>
            </a:custGeom>
            <a:solidFill>
              <a:srgbClr val="252B42"/>
            </a:solidFill>
          </p:spPr>
          <p:txBody>
            <a:bodyPr/>
            <a:lstStyle/>
            <a:p>
              <a:endParaRPr lang="es-GT"/>
            </a:p>
          </p:txBody>
        </p:sp>
        <p:sp>
          <p:nvSpPr>
            <p:cNvPr id="59" name="Freeform 59"/>
            <p:cNvSpPr/>
            <p:nvPr/>
          </p:nvSpPr>
          <p:spPr>
            <a:xfrm>
              <a:off x="0" y="0"/>
              <a:ext cx="11006582" cy="3325622"/>
            </a:xfrm>
            <a:custGeom>
              <a:avLst/>
              <a:gdLst/>
              <a:ahLst/>
              <a:cxnLst/>
              <a:rect l="l" t="t" r="r" b="b"/>
              <a:pathLst>
                <a:path w="11006582" h="3325622">
                  <a:moveTo>
                    <a:pt x="16891" y="0"/>
                  </a:moveTo>
                  <a:lnTo>
                    <a:pt x="10989691" y="0"/>
                  </a:lnTo>
                  <a:cubicBezTo>
                    <a:pt x="10999089" y="0"/>
                    <a:pt x="11006582" y="7620"/>
                    <a:pt x="11006582" y="16891"/>
                  </a:cubicBezTo>
                  <a:lnTo>
                    <a:pt x="11006582" y="3308731"/>
                  </a:lnTo>
                  <a:cubicBezTo>
                    <a:pt x="11006582" y="3318129"/>
                    <a:pt x="10998962" y="3325622"/>
                    <a:pt x="10989691" y="3325622"/>
                  </a:cubicBezTo>
                  <a:lnTo>
                    <a:pt x="16891" y="3325622"/>
                  </a:lnTo>
                  <a:cubicBezTo>
                    <a:pt x="7493" y="3325622"/>
                    <a:pt x="0" y="3318002"/>
                    <a:pt x="0" y="3308731"/>
                  </a:cubicBezTo>
                  <a:lnTo>
                    <a:pt x="0" y="16891"/>
                  </a:lnTo>
                  <a:cubicBezTo>
                    <a:pt x="0" y="7620"/>
                    <a:pt x="7620" y="0"/>
                    <a:pt x="16891" y="0"/>
                  </a:cubicBezTo>
                  <a:moveTo>
                    <a:pt x="16891" y="33909"/>
                  </a:moveTo>
                  <a:lnTo>
                    <a:pt x="16891" y="16891"/>
                  </a:lnTo>
                  <a:lnTo>
                    <a:pt x="33909" y="16891"/>
                  </a:lnTo>
                  <a:lnTo>
                    <a:pt x="33909" y="3308731"/>
                  </a:lnTo>
                  <a:lnTo>
                    <a:pt x="16891" y="3308731"/>
                  </a:lnTo>
                  <a:lnTo>
                    <a:pt x="16891" y="3291840"/>
                  </a:lnTo>
                  <a:lnTo>
                    <a:pt x="10989691" y="3291840"/>
                  </a:lnTo>
                  <a:lnTo>
                    <a:pt x="10989691" y="3308731"/>
                  </a:lnTo>
                  <a:lnTo>
                    <a:pt x="10972800" y="3308731"/>
                  </a:lnTo>
                  <a:lnTo>
                    <a:pt x="10972800" y="16891"/>
                  </a:lnTo>
                  <a:lnTo>
                    <a:pt x="10989691" y="16891"/>
                  </a:lnTo>
                  <a:lnTo>
                    <a:pt x="10989691" y="33909"/>
                  </a:lnTo>
                  <a:lnTo>
                    <a:pt x="16891" y="33909"/>
                  </a:lnTo>
                  <a:close/>
                </a:path>
              </a:pathLst>
            </a:custGeom>
            <a:solidFill>
              <a:srgbClr val="5EC6E8"/>
            </a:solidFill>
          </p:spPr>
          <p:txBody>
            <a:bodyPr/>
            <a:lstStyle/>
            <a:p>
              <a:endParaRPr lang="es-GT"/>
            </a:p>
          </p:txBody>
        </p:sp>
      </p:grpSp>
      <p:grpSp>
        <p:nvGrpSpPr>
          <p:cNvPr id="60" name="Group 60"/>
          <p:cNvGrpSpPr/>
          <p:nvPr/>
        </p:nvGrpSpPr>
        <p:grpSpPr>
          <a:xfrm>
            <a:off x="718823" y="7156199"/>
            <a:ext cx="8255003" cy="171707"/>
            <a:chOff x="0" y="0"/>
            <a:chExt cx="11006671" cy="228943"/>
          </a:xfrm>
        </p:grpSpPr>
        <p:sp>
          <p:nvSpPr>
            <p:cNvPr id="61" name="Freeform 61"/>
            <p:cNvSpPr/>
            <p:nvPr/>
          </p:nvSpPr>
          <p:spPr>
            <a:xfrm>
              <a:off x="16891" y="16891"/>
              <a:ext cx="10972800" cy="195072"/>
            </a:xfrm>
            <a:custGeom>
              <a:avLst/>
              <a:gdLst/>
              <a:ahLst/>
              <a:cxnLst/>
              <a:rect l="l" t="t" r="r" b="b"/>
              <a:pathLst>
                <a:path w="10972800" h="195072">
                  <a:moveTo>
                    <a:pt x="0" y="0"/>
                  </a:moveTo>
                  <a:lnTo>
                    <a:pt x="10972800" y="0"/>
                  </a:lnTo>
                  <a:lnTo>
                    <a:pt x="10972800" y="195072"/>
                  </a:lnTo>
                  <a:lnTo>
                    <a:pt x="0" y="195072"/>
                  </a:lnTo>
                  <a:close/>
                </a:path>
              </a:pathLst>
            </a:custGeom>
            <a:solidFill>
              <a:srgbClr val="5EC6E8"/>
            </a:solidFill>
          </p:spPr>
          <p:txBody>
            <a:bodyPr/>
            <a:lstStyle/>
            <a:p>
              <a:endParaRPr lang="es-GT"/>
            </a:p>
          </p:txBody>
        </p:sp>
        <p:sp>
          <p:nvSpPr>
            <p:cNvPr id="62" name="Freeform 62"/>
            <p:cNvSpPr/>
            <p:nvPr/>
          </p:nvSpPr>
          <p:spPr>
            <a:xfrm>
              <a:off x="0" y="0"/>
              <a:ext cx="11006582" cy="228856"/>
            </a:xfrm>
            <a:custGeom>
              <a:avLst/>
              <a:gdLst/>
              <a:ahLst/>
              <a:cxnLst/>
              <a:rect l="l" t="t" r="r" b="b"/>
              <a:pathLst>
                <a:path w="11006582" h="228856">
                  <a:moveTo>
                    <a:pt x="16891" y="0"/>
                  </a:moveTo>
                  <a:lnTo>
                    <a:pt x="10989691" y="0"/>
                  </a:lnTo>
                  <a:cubicBezTo>
                    <a:pt x="10999089" y="0"/>
                    <a:pt x="11006582" y="7620"/>
                    <a:pt x="11006582" y="16891"/>
                  </a:cubicBezTo>
                  <a:lnTo>
                    <a:pt x="11006582" y="211963"/>
                  </a:lnTo>
                  <a:cubicBezTo>
                    <a:pt x="11006582" y="221361"/>
                    <a:pt x="10998962" y="228854"/>
                    <a:pt x="10989691"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10989691" y="195072"/>
                  </a:lnTo>
                  <a:lnTo>
                    <a:pt x="10989691" y="211963"/>
                  </a:lnTo>
                  <a:lnTo>
                    <a:pt x="10972800" y="211963"/>
                  </a:lnTo>
                  <a:lnTo>
                    <a:pt x="10972800" y="16891"/>
                  </a:lnTo>
                  <a:lnTo>
                    <a:pt x="10989691" y="16891"/>
                  </a:lnTo>
                  <a:lnTo>
                    <a:pt x="10989691" y="33909"/>
                  </a:lnTo>
                  <a:lnTo>
                    <a:pt x="16891" y="33909"/>
                  </a:lnTo>
                  <a:close/>
                </a:path>
              </a:pathLst>
            </a:custGeom>
            <a:solidFill>
              <a:srgbClr val="5EC6E8"/>
            </a:solidFill>
          </p:spPr>
          <p:txBody>
            <a:bodyPr/>
            <a:lstStyle/>
            <a:p>
              <a:endParaRPr lang="es-GT"/>
            </a:p>
          </p:txBody>
        </p:sp>
      </p:grpSp>
      <p:grpSp>
        <p:nvGrpSpPr>
          <p:cNvPr id="63" name="Group 63"/>
          <p:cNvGrpSpPr/>
          <p:nvPr/>
        </p:nvGrpSpPr>
        <p:grpSpPr>
          <a:xfrm>
            <a:off x="1005840" y="7424928"/>
            <a:ext cx="7680960" cy="548640"/>
            <a:chOff x="0" y="0"/>
            <a:chExt cx="10241280" cy="731520"/>
          </a:xfrm>
        </p:grpSpPr>
        <p:sp>
          <p:nvSpPr>
            <p:cNvPr id="64" name="Freeform 64"/>
            <p:cNvSpPr/>
            <p:nvPr/>
          </p:nvSpPr>
          <p:spPr>
            <a:xfrm>
              <a:off x="0" y="0"/>
              <a:ext cx="10241280" cy="731520"/>
            </a:xfrm>
            <a:custGeom>
              <a:avLst/>
              <a:gdLst/>
              <a:ahLst/>
              <a:cxnLst/>
              <a:rect l="l" t="t" r="r" b="b"/>
              <a:pathLst>
                <a:path w="10241280" h="731520">
                  <a:moveTo>
                    <a:pt x="0" y="0"/>
                  </a:moveTo>
                  <a:lnTo>
                    <a:pt x="10241280" y="0"/>
                  </a:lnTo>
                  <a:lnTo>
                    <a:pt x="10241280" y="731520"/>
                  </a:lnTo>
                  <a:lnTo>
                    <a:pt x="0" y="731520"/>
                  </a:lnTo>
                  <a:close/>
                </a:path>
              </a:pathLst>
            </a:custGeom>
            <a:blipFill>
              <a:blip r:embed="rId3">
                <a:alphaModFix amt="0"/>
              </a:blip>
              <a:stretch>
                <a:fillRect t="-222790" b="-222790"/>
              </a:stretch>
            </a:blipFill>
          </p:spPr>
          <p:txBody>
            <a:bodyPr/>
            <a:lstStyle/>
            <a:p>
              <a:endParaRPr lang="es-GT"/>
            </a:p>
          </p:txBody>
        </p:sp>
        <p:sp>
          <p:nvSpPr>
            <p:cNvPr id="65" name="TextBox 65"/>
            <p:cNvSpPr txBox="1"/>
            <p:nvPr/>
          </p:nvSpPr>
          <p:spPr>
            <a:xfrm>
              <a:off x="0" y="-38100"/>
              <a:ext cx="10241280" cy="769620"/>
            </a:xfrm>
            <a:prstGeom prst="rect">
              <a:avLst/>
            </a:prstGeom>
          </p:spPr>
          <p:txBody>
            <a:bodyPr lIns="0" tIns="0" rIns="0" bIns="0" rtlCol="0" anchor="ctr"/>
            <a:lstStyle/>
            <a:p>
              <a:pPr algn="l">
                <a:lnSpc>
                  <a:spcPts val="2879"/>
                </a:lnSpc>
              </a:pPr>
              <a:r>
                <a:rPr lang="en-US" sz="2400" b="1">
                  <a:solidFill>
                    <a:srgbClr val="5EC6E8"/>
                  </a:solidFill>
                  <a:latin typeface="Calibri (MS) Bold"/>
                  <a:ea typeface="Calibri (MS) Bold"/>
                  <a:cs typeface="Calibri (MS) Bold"/>
                  <a:sym typeface="Calibri (MS) Bold"/>
                </a:rPr>
                <a:t>Subprocesos</a:t>
              </a:r>
            </a:p>
          </p:txBody>
        </p:sp>
      </p:grpSp>
      <p:sp>
        <p:nvSpPr>
          <p:cNvPr id="66" name="TextBox 66"/>
          <p:cNvSpPr txBox="1"/>
          <p:nvPr/>
        </p:nvSpPr>
        <p:spPr>
          <a:xfrm>
            <a:off x="1097280" y="8081391"/>
            <a:ext cx="7498080" cy="1047750"/>
          </a:xfrm>
          <a:prstGeom prst="rect">
            <a:avLst/>
          </a:prstGeom>
        </p:spPr>
        <p:txBody>
          <a:bodyPr lIns="0" tIns="0" rIns="0" bIns="0" rtlCol="0" anchor="t">
            <a:spAutoFit/>
          </a:bodyPr>
          <a:lstStyle/>
          <a:p>
            <a:pPr algn="l">
              <a:lnSpc>
                <a:spcPts val="2639"/>
              </a:lnSpc>
            </a:pPr>
            <a:r>
              <a:rPr lang="en-US" sz="2199">
                <a:solidFill>
                  <a:srgbClr val="FFFFFF"/>
                </a:solidFill>
                <a:latin typeface="Calibri (MS)"/>
                <a:ea typeface="Calibri (MS)"/>
                <a:cs typeface="Calibri (MS)"/>
                <a:sym typeface="Calibri (MS)"/>
              </a:rPr>
              <a:t>Bloques de instrucciones con nombre propio que permiten modularizar un algoritmo. Pueden recibir datos y/o devolver un resultado. Expresan descomposición de forma ejecutable.</a:t>
            </a:r>
          </a:p>
        </p:txBody>
      </p:sp>
      <p:grpSp>
        <p:nvGrpSpPr>
          <p:cNvPr id="67" name="Group 67"/>
          <p:cNvGrpSpPr/>
          <p:nvPr/>
        </p:nvGrpSpPr>
        <p:grpSpPr>
          <a:xfrm>
            <a:off x="9497063" y="7156199"/>
            <a:ext cx="8255003" cy="2494283"/>
            <a:chOff x="0" y="0"/>
            <a:chExt cx="11006671" cy="3325711"/>
          </a:xfrm>
        </p:grpSpPr>
        <p:sp>
          <p:nvSpPr>
            <p:cNvPr id="68" name="Freeform 68"/>
            <p:cNvSpPr/>
            <p:nvPr/>
          </p:nvSpPr>
          <p:spPr>
            <a:xfrm>
              <a:off x="16891" y="16891"/>
              <a:ext cx="10972800" cy="3291840"/>
            </a:xfrm>
            <a:custGeom>
              <a:avLst/>
              <a:gdLst/>
              <a:ahLst/>
              <a:cxnLst/>
              <a:rect l="l" t="t" r="r" b="b"/>
              <a:pathLst>
                <a:path w="10972800" h="3291840">
                  <a:moveTo>
                    <a:pt x="0" y="0"/>
                  </a:moveTo>
                  <a:lnTo>
                    <a:pt x="10972800" y="0"/>
                  </a:lnTo>
                  <a:lnTo>
                    <a:pt x="10972800" y="3291840"/>
                  </a:lnTo>
                  <a:lnTo>
                    <a:pt x="0" y="3291840"/>
                  </a:lnTo>
                  <a:close/>
                </a:path>
              </a:pathLst>
            </a:custGeom>
            <a:solidFill>
              <a:srgbClr val="252B42"/>
            </a:solidFill>
          </p:spPr>
          <p:txBody>
            <a:bodyPr/>
            <a:lstStyle/>
            <a:p>
              <a:endParaRPr lang="es-GT"/>
            </a:p>
          </p:txBody>
        </p:sp>
        <p:sp>
          <p:nvSpPr>
            <p:cNvPr id="69" name="Freeform 69"/>
            <p:cNvSpPr/>
            <p:nvPr/>
          </p:nvSpPr>
          <p:spPr>
            <a:xfrm>
              <a:off x="0" y="0"/>
              <a:ext cx="11006582" cy="3325622"/>
            </a:xfrm>
            <a:custGeom>
              <a:avLst/>
              <a:gdLst/>
              <a:ahLst/>
              <a:cxnLst/>
              <a:rect l="l" t="t" r="r" b="b"/>
              <a:pathLst>
                <a:path w="11006582" h="3325622">
                  <a:moveTo>
                    <a:pt x="16891" y="0"/>
                  </a:moveTo>
                  <a:lnTo>
                    <a:pt x="10989691" y="0"/>
                  </a:lnTo>
                  <a:cubicBezTo>
                    <a:pt x="10999089" y="0"/>
                    <a:pt x="11006582" y="7620"/>
                    <a:pt x="11006582" y="16891"/>
                  </a:cubicBezTo>
                  <a:lnTo>
                    <a:pt x="11006582" y="3308731"/>
                  </a:lnTo>
                  <a:cubicBezTo>
                    <a:pt x="11006582" y="3318129"/>
                    <a:pt x="10998962" y="3325622"/>
                    <a:pt x="10989691" y="3325622"/>
                  </a:cubicBezTo>
                  <a:lnTo>
                    <a:pt x="16891" y="3325622"/>
                  </a:lnTo>
                  <a:cubicBezTo>
                    <a:pt x="7493" y="3325622"/>
                    <a:pt x="0" y="3318002"/>
                    <a:pt x="0" y="3308731"/>
                  </a:cubicBezTo>
                  <a:lnTo>
                    <a:pt x="0" y="16891"/>
                  </a:lnTo>
                  <a:cubicBezTo>
                    <a:pt x="0" y="7620"/>
                    <a:pt x="7620" y="0"/>
                    <a:pt x="16891" y="0"/>
                  </a:cubicBezTo>
                  <a:moveTo>
                    <a:pt x="16891" y="33909"/>
                  </a:moveTo>
                  <a:lnTo>
                    <a:pt x="16891" y="16891"/>
                  </a:lnTo>
                  <a:lnTo>
                    <a:pt x="33909" y="16891"/>
                  </a:lnTo>
                  <a:lnTo>
                    <a:pt x="33909" y="3308731"/>
                  </a:lnTo>
                  <a:lnTo>
                    <a:pt x="16891" y="3308731"/>
                  </a:lnTo>
                  <a:lnTo>
                    <a:pt x="16891" y="3291840"/>
                  </a:lnTo>
                  <a:lnTo>
                    <a:pt x="10989691" y="3291840"/>
                  </a:lnTo>
                  <a:lnTo>
                    <a:pt x="10989691" y="3308731"/>
                  </a:lnTo>
                  <a:lnTo>
                    <a:pt x="10972800" y="3308731"/>
                  </a:lnTo>
                  <a:lnTo>
                    <a:pt x="10972800" y="16891"/>
                  </a:lnTo>
                  <a:lnTo>
                    <a:pt x="10989691" y="16891"/>
                  </a:lnTo>
                  <a:lnTo>
                    <a:pt x="10989691" y="33909"/>
                  </a:lnTo>
                  <a:lnTo>
                    <a:pt x="16891" y="33909"/>
                  </a:lnTo>
                  <a:close/>
                </a:path>
              </a:pathLst>
            </a:custGeom>
            <a:solidFill>
              <a:srgbClr val="F0877A"/>
            </a:solidFill>
          </p:spPr>
          <p:txBody>
            <a:bodyPr/>
            <a:lstStyle/>
            <a:p>
              <a:endParaRPr lang="es-GT"/>
            </a:p>
          </p:txBody>
        </p:sp>
      </p:grpSp>
      <p:grpSp>
        <p:nvGrpSpPr>
          <p:cNvPr id="70" name="Group 70"/>
          <p:cNvGrpSpPr/>
          <p:nvPr/>
        </p:nvGrpSpPr>
        <p:grpSpPr>
          <a:xfrm>
            <a:off x="9497063" y="7156199"/>
            <a:ext cx="8255003" cy="171707"/>
            <a:chOff x="0" y="0"/>
            <a:chExt cx="11006671" cy="228943"/>
          </a:xfrm>
        </p:grpSpPr>
        <p:sp>
          <p:nvSpPr>
            <p:cNvPr id="71" name="Freeform 71"/>
            <p:cNvSpPr/>
            <p:nvPr/>
          </p:nvSpPr>
          <p:spPr>
            <a:xfrm>
              <a:off x="16891" y="16891"/>
              <a:ext cx="10972800" cy="195072"/>
            </a:xfrm>
            <a:custGeom>
              <a:avLst/>
              <a:gdLst/>
              <a:ahLst/>
              <a:cxnLst/>
              <a:rect l="l" t="t" r="r" b="b"/>
              <a:pathLst>
                <a:path w="10972800" h="195072">
                  <a:moveTo>
                    <a:pt x="0" y="0"/>
                  </a:moveTo>
                  <a:lnTo>
                    <a:pt x="10972800" y="0"/>
                  </a:lnTo>
                  <a:lnTo>
                    <a:pt x="10972800" y="195072"/>
                  </a:lnTo>
                  <a:lnTo>
                    <a:pt x="0" y="195072"/>
                  </a:lnTo>
                  <a:close/>
                </a:path>
              </a:pathLst>
            </a:custGeom>
            <a:solidFill>
              <a:srgbClr val="F0877A"/>
            </a:solidFill>
          </p:spPr>
          <p:txBody>
            <a:bodyPr/>
            <a:lstStyle/>
            <a:p>
              <a:endParaRPr lang="es-GT"/>
            </a:p>
          </p:txBody>
        </p:sp>
        <p:sp>
          <p:nvSpPr>
            <p:cNvPr id="72" name="Freeform 72"/>
            <p:cNvSpPr/>
            <p:nvPr/>
          </p:nvSpPr>
          <p:spPr>
            <a:xfrm>
              <a:off x="0" y="0"/>
              <a:ext cx="11006582" cy="228856"/>
            </a:xfrm>
            <a:custGeom>
              <a:avLst/>
              <a:gdLst/>
              <a:ahLst/>
              <a:cxnLst/>
              <a:rect l="l" t="t" r="r" b="b"/>
              <a:pathLst>
                <a:path w="11006582" h="228856">
                  <a:moveTo>
                    <a:pt x="16891" y="0"/>
                  </a:moveTo>
                  <a:lnTo>
                    <a:pt x="10989691" y="0"/>
                  </a:lnTo>
                  <a:cubicBezTo>
                    <a:pt x="10999089" y="0"/>
                    <a:pt x="11006582" y="7620"/>
                    <a:pt x="11006582" y="16891"/>
                  </a:cubicBezTo>
                  <a:lnTo>
                    <a:pt x="11006582" y="211963"/>
                  </a:lnTo>
                  <a:cubicBezTo>
                    <a:pt x="11006582" y="221361"/>
                    <a:pt x="10998962" y="228854"/>
                    <a:pt x="10989691"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10989691" y="195072"/>
                  </a:lnTo>
                  <a:lnTo>
                    <a:pt x="10989691" y="211963"/>
                  </a:lnTo>
                  <a:lnTo>
                    <a:pt x="10972800" y="211963"/>
                  </a:lnTo>
                  <a:lnTo>
                    <a:pt x="10972800" y="16891"/>
                  </a:lnTo>
                  <a:lnTo>
                    <a:pt x="10989691" y="16891"/>
                  </a:lnTo>
                  <a:lnTo>
                    <a:pt x="10989691" y="33909"/>
                  </a:lnTo>
                  <a:lnTo>
                    <a:pt x="16891" y="33909"/>
                  </a:lnTo>
                  <a:close/>
                </a:path>
              </a:pathLst>
            </a:custGeom>
            <a:solidFill>
              <a:srgbClr val="F0877A"/>
            </a:solidFill>
          </p:spPr>
          <p:txBody>
            <a:bodyPr/>
            <a:lstStyle/>
            <a:p>
              <a:endParaRPr lang="es-GT"/>
            </a:p>
          </p:txBody>
        </p:sp>
      </p:grpSp>
      <p:grpSp>
        <p:nvGrpSpPr>
          <p:cNvPr id="73" name="Group 73"/>
          <p:cNvGrpSpPr/>
          <p:nvPr/>
        </p:nvGrpSpPr>
        <p:grpSpPr>
          <a:xfrm>
            <a:off x="9784080" y="7424928"/>
            <a:ext cx="7680960" cy="548640"/>
            <a:chOff x="0" y="0"/>
            <a:chExt cx="10241280" cy="731520"/>
          </a:xfrm>
        </p:grpSpPr>
        <p:sp>
          <p:nvSpPr>
            <p:cNvPr id="74" name="Freeform 74"/>
            <p:cNvSpPr/>
            <p:nvPr/>
          </p:nvSpPr>
          <p:spPr>
            <a:xfrm>
              <a:off x="0" y="0"/>
              <a:ext cx="10241280" cy="731520"/>
            </a:xfrm>
            <a:custGeom>
              <a:avLst/>
              <a:gdLst/>
              <a:ahLst/>
              <a:cxnLst/>
              <a:rect l="l" t="t" r="r" b="b"/>
              <a:pathLst>
                <a:path w="10241280" h="731520">
                  <a:moveTo>
                    <a:pt x="0" y="0"/>
                  </a:moveTo>
                  <a:lnTo>
                    <a:pt x="10241280" y="0"/>
                  </a:lnTo>
                  <a:lnTo>
                    <a:pt x="10241280" y="731520"/>
                  </a:lnTo>
                  <a:lnTo>
                    <a:pt x="0" y="731520"/>
                  </a:lnTo>
                  <a:close/>
                </a:path>
              </a:pathLst>
            </a:custGeom>
            <a:blipFill>
              <a:blip r:embed="rId3">
                <a:alphaModFix amt="0"/>
              </a:blip>
              <a:stretch>
                <a:fillRect t="-222790" b="-222790"/>
              </a:stretch>
            </a:blipFill>
          </p:spPr>
          <p:txBody>
            <a:bodyPr/>
            <a:lstStyle/>
            <a:p>
              <a:endParaRPr lang="es-GT"/>
            </a:p>
          </p:txBody>
        </p:sp>
        <p:sp>
          <p:nvSpPr>
            <p:cNvPr id="75" name="TextBox 75"/>
            <p:cNvSpPr txBox="1"/>
            <p:nvPr/>
          </p:nvSpPr>
          <p:spPr>
            <a:xfrm>
              <a:off x="0" y="-38100"/>
              <a:ext cx="10241280" cy="769620"/>
            </a:xfrm>
            <a:prstGeom prst="rect">
              <a:avLst/>
            </a:prstGeom>
          </p:spPr>
          <p:txBody>
            <a:bodyPr lIns="0" tIns="0" rIns="0" bIns="0" rtlCol="0" anchor="ctr"/>
            <a:lstStyle/>
            <a:p>
              <a:pPr algn="l">
                <a:lnSpc>
                  <a:spcPts val="2879"/>
                </a:lnSpc>
              </a:pPr>
              <a:r>
                <a:rPr lang="en-US" sz="2400" b="1">
                  <a:solidFill>
                    <a:srgbClr val="F0877A"/>
                  </a:solidFill>
                  <a:latin typeface="Calibri (MS) Bold"/>
                  <a:ea typeface="Calibri (MS) Bold"/>
                  <a:cs typeface="Calibri (MS) Bold"/>
                  <a:sym typeface="Calibri (MS) Bold"/>
                </a:rPr>
                <a:t>Estructuras de control</a:t>
              </a:r>
            </a:p>
          </p:txBody>
        </p:sp>
      </p:grpSp>
      <p:sp>
        <p:nvSpPr>
          <p:cNvPr id="76" name="TextBox 76"/>
          <p:cNvSpPr txBox="1"/>
          <p:nvPr/>
        </p:nvSpPr>
        <p:spPr>
          <a:xfrm>
            <a:off x="9875520" y="8081391"/>
            <a:ext cx="7498080" cy="714375"/>
          </a:xfrm>
          <a:prstGeom prst="rect">
            <a:avLst/>
          </a:prstGeom>
        </p:spPr>
        <p:txBody>
          <a:bodyPr lIns="0" tIns="0" rIns="0" bIns="0" rtlCol="0" anchor="t">
            <a:spAutoFit/>
          </a:bodyPr>
          <a:lstStyle/>
          <a:p>
            <a:pPr algn="l">
              <a:lnSpc>
                <a:spcPts val="2639"/>
              </a:lnSpc>
            </a:pPr>
            <a:r>
              <a:rPr lang="en-US" sz="2199">
                <a:solidFill>
                  <a:srgbClr val="FFFFFF"/>
                </a:solidFill>
                <a:latin typeface="Calibri (MS)"/>
                <a:ea typeface="Calibri (MS)"/>
                <a:cs typeface="Calibri (MS)"/>
                <a:sym typeface="Calibri (MS)"/>
              </a:rPr>
              <a:t>Secuencial, condicional (Si/SiNo, Segun) e iterativa (Para, Mientras, Repetir) determinan el flujo de ejecución.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E2235"/>
        </a:solidFill>
        <a:effectLst/>
      </p:bgPr>
    </p:bg>
    <p:spTree>
      <p:nvGrpSpPr>
        <p:cNvPr id="1" name=""/>
        <p:cNvGrpSpPr/>
        <p:nvPr/>
      </p:nvGrpSpPr>
      <p:grpSpPr>
        <a:xfrm>
          <a:off x="0" y="0"/>
          <a:ext cx="0" cy="0"/>
          <a:chOff x="0" y="0"/>
          <a:chExt cx="0" cy="0"/>
        </a:xfrm>
      </p:grpSpPr>
      <p:sp>
        <p:nvSpPr>
          <p:cNvPr id="2" name="TextBox 2"/>
          <p:cNvSpPr txBox="1"/>
          <p:nvPr/>
        </p:nvSpPr>
        <p:spPr>
          <a:xfrm>
            <a:off x="2442794" y="3712365"/>
            <a:ext cx="13402413" cy="3166110"/>
          </a:xfrm>
          <a:prstGeom prst="rect">
            <a:avLst/>
          </a:prstGeom>
        </p:spPr>
        <p:txBody>
          <a:bodyPr lIns="0" tIns="0" rIns="0" bIns="0" rtlCol="0" anchor="t">
            <a:spAutoFit/>
          </a:bodyPr>
          <a:lstStyle/>
          <a:p>
            <a:pPr algn="ctr">
              <a:lnSpc>
                <a:spcPts val="5039"/>
              </a:lnSpc>
              <a:spcBef>
                <a:spcPct val="0"/>
              </a:spcBef>
            </a:pPr>
            <a:r>
              <a:rPr lang="en-US" sz="3599">
                <a:solidFill>
                  <a:srgbClr val="FFFFFF"/>
                </a:solidFill>
                <a:latin typeface="Canva Sans"/>
                <a:ea typeface="Canva Sans"/>
                <a:cs typeface="Canva Sans"/>
                <a:sym typeface="Canva Sans"/>
              </a:rPr>
              <a:t>La responsabilidad permite al estudiante cumplir con todas las actividades y aplicar correctamente los fundamentos de algoritmos, como descomposición, reconocimiento de patrones y abstracción, para analizar y resolver problemas de manera ordenada y completa</a:t>
            </a:r>
          </a:p>
        </p:txBody>
      </p:sp>
      <p:grpSp>
        <p:nvGrpSpPr>
          <p:cNvPr id="3" name="Group 3"/>
          <p:cNvGrpSpPr/>
          <p:nvPr/>
        </p:nvGrpSpPr>
        <p:grpSpPr>
          <a:xfrm>
            <a:off x="914400" y="1618652"/>
            <a:ext cx="16459200" cy="1005840"/>
            <a:chOff x="0" y="0"/>
            <a:chExt cx="21945600" cy="1341120"/>
          </a:xfrm>
        </p:grpSpPr>
        <p:sp>
          <p:nvSpPr>
            <p:cNvPr id="4" name="Freeform 4"/>
            <p:cNvSpPr/>
            <p:nvPr/>
          </p:nvSpPr>
          <p:spPr>
            <a:xfrm>
              <a:off x="0" y="0"/>
              <a:ext cx="21945600" cy="1341120"/>
            </a:xfrm>
            <a:custGeom>
              <a:avLst/>
              <a:gdLst/>
              <a:ahLst/>
              <a:cxnLst/>
              <a:rect l="l" t="t" r="r" b="b"/>
              <a:pathLst>
                <a:path w="21945600" h="1341120">
                  <a:moveTo>
                    <a:pt x="0" y="0"/>
                  </a:moveTo>
                  <a:lnTo>
                    <a:pt x="21945600" y="0"/>
                  </a:lnTo>
                  <a:lnTo>
                    <a:pt x="21945600" y="1341120"/>
                  </a:lnTo>
                  <a:lnTo>
                    <a:pt x="0" y="1341120"/>
                  </a:lnTo>
                  <a:close/>
                </a:path>
              </a:pathLst>
            </a:custGeom>
            <a:blipFill>
              <a:blip r:embed="rId2">
                <a:alphaModFix amt="0"/>
              </a:blip>
              <a:stretch>
                <a:fillRect t="-268846" b="-268846"/>
              </a:stretch>
            </a:blipFill>
          </p:spPr>
          <p:txBody>
            <a:bodyPr/>
            <a:lstStyle/>
            <a:p>
              <a:endParaRPr lang="es-GT"/>
            </a:p>
          </p:txBody>
        </p:sp>
        <p:sp>
          <p:nvSpPr>
            <p:cNvPr id="5" name="TextBox 5"/>
            <p:cNvSpPr txBox="1"/>
            <p:nvPr/>
          </p:nvSpPr>
          <p:spPr>
            <a:xfrm>
              <a:off x="0" y="-85725"/>
              <a:ext cx="21945600" cy="1426845"/>
            </a:xfrm>
            <a:prstGeom prst="rect">
              <a:avLst/>
            </a:prstGeom>
          </p:spPr>
          <p:txBody>
            <a:bodyPr lIns="0" tIns="0" rIns="0" bIns="0" rtlCol="0" anchor="ctr"/>
            <a:lstStyle/>
            <a:p>
              <a:pPr algn="ctr">
                <a:lnSpc>
                  <a:spcPts val="5759"/>
                </a:lnSpc>
              </a:pPr>
              <a:r>
                <a:rPr lang="en-US" sz="4800" b="1">
                  <a:solidFill>
                    <a:srgbClr val="FFFFFF"/>
                  </a:solidFill>
                  <a:latin typeface="Calibri (MS) Bold"/>
                  <a:ea typeface="Calibri (MS) Bold"/>
                  <a:cs typeface="Calibri (MS) Bold"/>
                  <a:sym typeface="Calibri (MS) Bold"/>
                </a:rPr>
                <a:t>Responsabilidad</a:t>
              </a: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E2235"/>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16891" y="16891"/>
              <a:ext cx="24383999" cy="1755648"/>
            </a:xfrm>
            <a:custGeom>
              <a:avLst/>
              <a:gdLst/>
              <a:ahLst/>
              <a:cxnLst/>
              <a:rect l="l" t="t" r="r" b="b"/>
              <a:pathLst>
                <a:path w="24383999" h="1755648">
                  <a:moveTo>
                    <a:pt x="0" y="0"/>
                  </a:moveTo>
                  <a:lnTo>
                    <a:pt x="24383999" y="0"/>
                  </a:lnTo>
                  <a:lnTo>
                    <a:pt x="24383999" y="1755648"/>
                  </a:lnTo>
                  <a:lnTo>
                    <a:pt x="0" y="1755648"/>
                  </a:lnTo>
                  <a:close/>
                </a:path>
              </a:pathLst>
            </a:custGeom>
            <a:solidFill>
              <a:srgbClr val="161929"/>
            </a:solidFill>
          </p:spPr>
          <p:txBody>
            <a:bodyPr/>
            <a:lstStyle/>
            <a:p>
              <a:endParaRPr lang="es-GT"/>
            </a:p>
          </p:txBody>
        </p:sp>
        <p:sp>
          <p:nvSpPr>
            <p:cNvPr id="4" name="Freeform 4"/>
            <p:cNvSpPr/>
            <p:nvPr/>
          </p:nvSpPr>
          <p:spPr>
            <a:xfrm>
              <a:off x="0" y="0"/>
              <a:ext cx="24417782" cy="1789430"/>
            </a:xfrm>
            <a:custGeom>
              <a:avLst/>
              <a:gdLst/>
              <a:ahLst/>
              <a:cxnLst/>
              <a:rect l="l" t="t" r="r" b="b"/>
              <a:pathLst>
                <a:path w="24417782" h="1789430">
                  <a:moveTo>
                    <a:pt x="16891" y="0"/>
                  </a:moveTo>
                  <a:lnTo>
                    <a:pt x="24400890" y="0"/>
                  </a:lnTo>
                  <a:cubicBezTo>
                    <a:pt x="24410290" y="0"/>
                    <a:pt x="24417782" y="7620"/>
                    <a:pt x="24417782" y="16891"/>
                  </a:cubicBezTo>
                  <a:lnTo>
                    <a:pt x="24417782" y="1772539"/>
                  </a:lnTo>
                  <a:cubicBezTo>
                    <a:pt x="24417782" y="1781937"/>
                    <a:pt x="24410163" y="1789430"/>
                    <a:pt x="24400890"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24400890" y="1755648"/>
                  </a:lnTo>
                  <a:lnTo>
                    <a:pt x="24400890" y="1772539"/>
                  </a:lnTo>
                  <a:lnTo>
                    <a:pt x="24384000" y="1772539"/>
                  </a:lnTo>
                  <a:lnTo>
                    <a:pt x="24384000" y="16891"/>
                  </a:lnTo>
                  <a:lnTo>
                    <a:pt x="24400890" y="16891"/>
                  </a:lnTo>
                  <a:lnTo>
                    <a:pt x="24400890" y="33909"/>
                  </a:lnTo>
                  <a:lnTo>
                    <a:pt x="16891" y="33909"/>
                  </a:lnTo>
                  <a:close/>
                </a:path>
              </a:pathLst>
            </a:custGeom>
            <a:solidFill>
              <a:srgbClr val="161929"/>
            </a:solidFill>
          </p:spPr>
          <p:txBody>
            <a:bodyPr/>
            <a:lstStyle/>
            <a:p>
              <a:endParaRPr lang="es-GT"/>
            </a:p>
          </p:txBody>
        </p:sp>
      </p:grpSp>
      <p:grpSp>
        <p:nvGrpSpPr>
          <p:cNvPr id="5" name="Group 5"/>
          <p:cNvGrpSpPr/>
          <p:nvPr/>
        </p:nvGrpSpPr>
        <p:grpSpPr>
          <a:xfrm>
            <a:off x="-12697" y="1304039"/>
            <a:ext cx="18313403" cy="98555"/>
            <a:chOff x="0" y="0"/>
            <a:chExt cx="24417871" cy="131407"/>
          </a:xfrm>
        </p:grpSpPr>
        <p:sp>
          <p:nvSpPr>
            <p:cNvPr id="6" name="Freeform 6"/>
            <p:cNvSpPr/>
            <p:nvPr/>
          </p:nvSpPr>
          <p:spPr>
            <a:xfrm>
              <a:off x="16891" y="16891"/>
              <a:ext cx="24383999" cy="97536"/>
            </a:xfrm>
            <a:custGeom>
              <a:avLst/>
              <a:gdLst/>
              <a:ahLst/>
              <a:cxnLst/>
              <a:rect l="l" t="t" r="r" b="b"/>
              <a:pathLst>
                <a:path w="24383999" h="97536">
                  <a:moveTo>
                    <a:pt x="0" y="0"/>
                  </a:moveTo>
                  <a:lnTo>
                    <a:pt x="24383999" y="0"/>
                  </a:lnTo>
                  <a:lnTo>
                    <a:pt x="24383999" y="97536"/>
                  </a:lnTo>
                  <a:lnTo>
                    <a:pt x="0" y="97536"/>
                  </a:lnTo>
                  <a:close/>
                </a:path>
              </a:pathLst>
            </a:custGeom>
            <a:solidFill>
              <a:srgbClr val="5B8CFF"/>
            </a:solidFill>
          </p:spPr>
          <p:txBody>
            <a:bodyPr/>
            <a:lstStyle/>
            <a:p>
              <a:endParaRPr lang="es-GT"/>
            </a:p>
          </p:txBody>
        </p:sp>
        <p:sp>
          <p:nvSpPr>
            <p:cNvPr id="7" name="Freeform 7"/>
            <p:cNvSpPr/>
            <p:nvPr/>
          </p:nvSpPr>
          <p:spPr>
            <a:xfrm>
              <a:off x="0" y="0"/>
              <a:ext cx="24417782" cy="131320"/>
            </a:xfrm>
            <a:custGeom>
              <a:avLst/>
              <a:gdLst/>
              <a:ahLst/>
              <a:cxnLst/>
              <a:rect l="l" t="t" r="r" b="b"/>
              <a:pathLst>
                <a:path w="24417782" h="131320">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5B8CFF"/>
            </a:solidFill>
          </p:spPr>
          <p:txBody>
            <a:bodyPr/>
            <a:lstStyle/>
            <a:p>
              <a:endParaRPr lang="es-GT"/>
            </a:p>
          </p:txBody>
        </p:sp>
      </p:grpSp>
      <p:grpSp>
        <p:nvGrpSpPr>
          <p:cNvPr id="8" name="Group 8"/>
          <p:cNvGrpSpPr/>
          <p:nvPr/>
        </p:nvGrpSpPr>
        <p:grpSpPr>
          <a:xfrm>
            <a:off x="822960" y="0"/>
            <a:ext cx="16642080" cy="1316736"/>
            <a:chOff x="0" y="0"/>
            <a:chExt cx="22189440" cy="1755648"/>
          </a:xfrm>
        </p:grpSpPr>
        <p:sp>
          <p:nvSpPr>
            <p:cNvPr id="9" name="Freeform 9"/>
            <p:cNvSpPr/>
            <p:nvPr/>
          </p:nvSpPr>
          <p:spPr>
            <a:xfrm>
              <a:off x="0" y="0"/>
              <a:ext cx="22189439" cy="1755648"/>
            </a:xfrm>
            <a:custGeom>
              <a:avLst/>
              <a:gdLst/>
              <a:ahLst/>
              <a:cxnLst/>
              <a:rect l="l" t="t" r="r" b="b"/>
              <a:pathLst>
                <a:path w="22189439" h="1755648">
                  <a:moveTo>
                    <a:pt x="0" y="0"/>
                  </a:moveTo>
                  <a:lnTo>
                    <a:pt x="22189439" y="0"/>
                  </a:lnTo>
                  <a:lnTo>
                    <a:pt x="22189439" y="1755648"/>
                  </a:lnTo>
                  <a:lnTo>
                    <a:pt x="0" y="1755648"/>
                  </a:lnTo>
                  <a:close/>
                </a:path>
              </a:pathLst>
            </a:custGeom>
            <a:blipFill>
              <a:blip r:embed="rId3">
                <a:alphaModFix amt="0"/>
              </a:blip>
              <a:stretch>
                <a:fillRect t="-196269" b="-196269"/>
              </a:stretch>
            </a:blipFill>
          </p:spPr>
          <p:txBody>
            <a:bodyPr/>
            <a:lstStyle/>
            <a:p>
              <a:endParaRPr lang="es-GT"/>
            </a:p>
          </p:txBody>
        </p:sp>
        <p:sp>
          <p:nvSpPr>
            <p:cNvPr id="10" name="TextBox 10"/>
            <p:cNvSpPr txBox="1"/>
            <p:nvPr/>
          </p:nvSpPr>
          <p:spPr>
            <a:xfrm>
              <a:off x="0" y="-76200"/>
              <a:ext cx="22189440" cy="1831848"/>
            </a:xfrm>
            <a:prstGeom prst="rect">
              <a:avLst/>
            </a:prstGeom>
          </p:spPr>
          <p:txBody>
            <a:bodyPr lIns="0" tIns="0" rIns="0" bIns="0" rtlCol="0" anchor="ctr"/>
            <a:lstStyle/>
            <a:p>
              <a:pPr algn="l">
                <a:lnSpc>
                  <a:spcPts val="5280"/>
                </a:lnSpc>
              </a:pPr>
              <a:r>
                <a:rPr lang="en-US" sz="4400" b="1">
                  <a:solidFill>
                    <a:srgbClr val="FFFFFF"/>
                  </a:solidFill>
                  <a:latin typeface="Calibri (MS) Bold"/>
                  <a:ea typeface="Calibri (MS) Bold"/>
                  <a:cs typeface="Calibri (MS) Bold"/>
                  <a:sym typeface="Calibri (MS) Bold"/>
                </a:rPr>
                <a:t>Referencias bibliográficas</a:t>
              </a:r>
            </a:p>
          </p:txBody>
        </p:sp>
      </p:grpSp>
      <p:grpSp>
        <p:nvGrpSpPr>
          <p:cNvPr id="11" name="Group 11"/>
          <p:cNvGrpSpPr/>
          <p:nvPr/>
        </p:nvGrpSpPr>
        <p:grpSpPr>
          <a:xfrm>
            <a:off x="-12697" y="9954263"/>
            <a:ext cx="18313403" cy="345443"/>
            <a:chOff x="0" y="0"/>
            <a:chExt cx="24417871" cy="460591"/>
          </a:xfrm>
        </p:grpSpPr>
        <p:sp>
          <p:nvSpPr>
            <p:cNvPr id="12" name="Freeform 12"/>
            <p:cNvSpPr/>
            <p:nvPr/>
          </p:nvSpPr>
          <p:spPr>
            <a:xfrm>
              <a:off x="16891" y="16891"/>
              <a:ext cx="24383999" cy="426720"/>
            </a:xfrm>
            <a:custGeom>
              <a:avLst/>
              <a:gdLst/>
              <a:ahLst/>
              <a:cxnLst/>
              <a:rect l="l" t="t" r="r" b="b"/>
              <a:pathLst>
                <a:path w="24383999" h="426720">
                  <a:moveTo>
                    <a:pt x="0" y="0"/>
                  </a:moveTo>
                  <a:lnTo>
                    <a:pt x="24383999" y="0"/>
                  </a:lnTo>
                  <a:lnTo>
                    <a:pt x="24383999" y="426720"/>
                  </a:lnTo>
                  <a:lnTo>
                    <a:pt x="0" y="426720"/>
                  </a:lnTo>
                  <a:close/>
                </a:path>
              </a:pathLst>
            </a:custGeom>
            <a:solidFill>
              <a:srgbClr val="12152A"/>
            </a:solidFill>
          </p:spPr>
          <p:txBody>
            <a:bodyPr/>
            <a:lstStyle/>
            <a:p>
              <a:endParaRPr lang="es-GT"/>
            </a:p>
          </p:txBody>
        </p:sp>
        <p:sp>
          <p:nvSpPr>
            <p:cNvPr id="13" name="Freeform 13"/>
            <p:cNvSpPr/>
            <p:nvPr/>
          </p:nvSpPr>
          <p:spPr>
            <a:xfrm>
              <a:off x="0" y="0"/>
              <a:ext cx="24417782" cy="460504"/>
            </a:xfrm>
            <a:custGeom>
              <a:avLst/>
              <a:gdLst/>
              <a:ahLst/>
              <a:cxnLst/>
              <a:rect l="l" t="t" r="r" b="b"/>
              <a:pathLst>
                <a:path w="24417782" h="460504">
                  <a:moveTo>
                    <a:pt x="16891" y="0"/>
                  </a:moveTo>
                  <a:lnTo>
                    <a:pt x="24400890" y="0"/>
                  </a:lnTo>
                  <a:cubicBezTo>
                    <a:pt x="24410290" y="0"/>
                    <a:pt x="24417782" y="7620"/>
                    <a:pt x="24417782" y="16891"/>
                  </a:cubicBezTo>
                  <a:lnTo>
                    <a:pt x="24417782" y="443611"/>
                  </a:lnTo>
                  <a:cubicBezTo>
                    <a:pt x="24417782" y="453009"/>
                    <a:pt x="24410163" y="460502"/>
                    <a:pt x="24400890" y="460502"/>
                  </a:cubicBezTo>
                  <a:lnTo>
                    <a:pt x="16891" y="460502"/>
                  </a:lnTo>
                  <a:cubicBezTo>
                    <a:pt x="7620" y="460629"/>
                    <a:pt x="0" y="453009"/>
                    <a:pt x="0" y="443611"/>
                  </a:cubicBezTo>
                  <a:lnTo>
                    <a:pt x="0" y="16891"/>
                  </a:lnTo>
                  <a:cubicBezTo>
                    <a:pt x="0" y="7620"/>
                    <a:pt x="7620" y="0"/>
                    <a:pt x="16891" y="0"/>
                  </a:cubicBezTo>
                  <a:moveTo>
                    <a:pt x="16891" y="33909"/>
                  </a:moveTo>
                  <a:lnTo>
                    <a:pt x="16891" y="16891"/>
                  </a:lnTo>
                  <a:lnTo>
                    <a:pt x="33909" y="16891"/>
                  </a:lnTo>
                  <a:lnTo>
                    <a:pt x="33909" y="443611"/>
                  </a:lnTo>
                  <a:lnTo>
                    <a:pt x="16891" y="443611"/>
                  </a:lnTo>
                  <a:lnTo>
                    <a:pt x="16891" y="426720"/>
                  </a:lnTo>
                  <a:lnTo>
                    <a:pt x="24400890" y="426720"/>
                  </a:lnTo>
                  <a:lnTo>
                    <a:pt x="24400890" y="443611"/>
                  </a:lnTo>
                  <a:lnTo>
                    <a:pt x="24384000" y="443611"/>
                  </a:lnTo>
                  <a:lnTo>
                    <a:pt x="24384000" y="16891"/>
                  </a:lnTo>
                  <a:lnTo>
                    <a:pt x="24400890" y="16891"/>
                  </a:lnTo>
                  <a:lnTo>
                    <a:pt x="24400890" y="33909"/>
                  </a:lnTo>
                  <a:lnTo>
                    <a:pt x="16891" y="33909"/>
                  </a:lnTo>
                  <a:close/>
                </a:path>
              </a:pathLst>
            </a:custGeom>
            <a:solidFill>
              <a:srgbClr val="12152A"/>
            </a:solidFill>
          </p:spPr>
          <p:txBody>
            <a:bodyPr/>
            <a:lstStyle/>
            <a:p>
              <a:endParaRPr lang="es-GT"/>
            </a:p>
          </p:txBody>
        </p:sp>
      </p:grpSp>
      <p:grpSp>
        <p:nvGrpSpPr>
          <p:cNvPr id="14" name="Group 14"/>
          <p:cNvGrpSpPr/>
          <p:nvPr/>
        </p:nvGrpSpPr>
        <p:grpSpPr>
          <a:xfrm>
            <a:off x="17007840" y="9966960"/>
            <a:ext cx="914400" cy="320040"/>
            <a:chOff x="0" y="0"/>
            <a:chExt cx="1219200" cy="426720"/>
          </a:xfrm>
        </p:grpSpPr>
        <p:sp>
          <p:nvSpPr>
            <p:cNvPr id="15" name="Freeform 15"/>
            <p:cNvSpPr/>
            <p:nvPr/>
          </p:nvSpPr>
          <p:spPr>
            <a:xfrm>
              <a:off x="0" y="0"/>
              <a:ext cx="1219200" cy="426720"/>
            </a:xfrm>
            <a:custGeom>
              <a:avLst/>
              <a:gdLst/>
              <a:ahLst/>
              <a:cxnLst/>
              <a:rect l="l" t="t" r="r" b="b"/>
              <a:pathLst>
                <a:path w="1219200" h="426720">
                  <a:moveTo>
                    <a:pt x="0" y="0"/>
                  </a:moveTo>
                  <a:lnTo>
                    <a:pt x="1219200" y="0"/>
                  </a:lnTo>
                  <a:lnTo>
                    <a:pt x="1219200" y="426720"/>
                  </a:lnTo>
                  <a:lnTo>
                    <a:pt x="0" y="426720"/>
                  </a:lnTo>
                  <a:close/>
                </a:path>
              </a:pathLst>
            </a:custGeom>
            <a:blipFill>
              <a:blip r:embed="rId3">
                <a:alphaModFix amt="0"/>
              </a:blip>
              <a:stretch>
                <a:fillRect t="-5671" b="-5671"/>
              </a:stretch>
            </a:blipFill>
          </p:spPr>
          <p:txBody>
            <a:bodyPr/>
            <a:lstStyle/>
            <a:p>
              <a:endParaRPr lang="es-GT"/>
            </a:p>
          </p:txBody>
        </p:sp>
        <p:sp>
          <p:nvSpPr>
            <p:cNvPr id="16" name="TextBox 16"/>
            <p:cNvSpPr txBox="1"/>
            <p:nvPr/>
          </p:nvSpPr>
          <p:spPr>
            <a:xfrm>
              <a:off x="0" y="-38100"/>
              <a:ext cx="1219200" cy="464820"/>
            </a:xfrm>
            <a:prstGeom prst="rect">
              <a:avLst/>
            </a:prstGeom>
          </p:spPr>
          <p:txBody>
            <a:bodyPr lIns="0" tIns="0" rIns="0" bIns="0" rtlCol="0" anchor="ctr"/>
            <a:lstStyle/>
            <a:p>
              <a:pPr algn="r">
                <a:lnSpc>
                  <a:spcPts val="1800"/>
                </a:lnSpc>
              </a:pPr>
              <a:r>
                <a:rPr lang="en-US" sz="1500">
                  <a:solidFill>
                    <a:srgbClr val="6E7A9F"/>
                  </a:solidFill>
                  <a:latin typeface="Calibri (MS)"/>
                  <a:ea typeface="Calibri (MS)"/>
                  <a:cs typeface="Calibri (MS)"/>
                  <a:sym typeface="Calibri (MS)"/>
                </a:rPr>
                <a:t>37</a:t>
              </a:r>
            </a:p>
          </p:txBody>
        </p:sp>
      </p:grpSp>
      <p:grpSp>
        <p:nvGrpSpPr>
          <p:cNvPr id="17" name="Group 17"/>
          <p:cNvGrpSpPr/>
          <p:nvPr/>
        </p:nvGrpSpPr>
        <p:grpSpPr>
          <a:xfrm>
            <a:off x="718823" y="1724663"/>
            <a:ext cx="16850363" cy="1159259"/>
            <a:chOff x="0" y="0"/>
            <a:chExt cx="22467151" cy="1545679"/>
          </a:xfrm>
        </p:grpSpPr>
        <p:sp>
          <p:nvSpPr>
            <p:cNvPr id="18" name="Freeform 18"/>
            <p:cNvSpPr/>
            <p:nvPr/>
          </p:nvSpPr>
          <p:spPr>
            <a:xfrm>
              <a:off x="16891" y="16891"/>
              <a:ext cx="22433280" cy="1511808"/>
            </a:xfrm>
            <a:custGeom>
              <a:avLst/>
              <a:gdLst/>
              <a:ahLst/>
              <a:cxnLst/>
              <a:rect l="l" t="t" r="r" b="b"/>
              <a:pathLst>
                <a:path w="22433280" h="1511808">
                  <a:moveTo>
                    <a:pt x="0" y="0"/>
                  </a:moveTo>
                  <a:lnTo>
                    <a:pt x="22433280" y="0"/>
                  </a:lnTo>
                  <a:lnTo>
                    <a:pt x="22433280" y="1511808"/>
                  </a:lnTo>
                  <a:lnTo>
                    <a:pt x="0" y="1511808"/>
                  </a:lnTo>
                  <a:close/>
                </a:path>
              </a:pathLst>
            </a:custGeom>
            <a:solidFill>
              <a:srgbClr val="252B42"/>
            </a:solidFill>
          </p:spPr>
          <p:txBody>
            <a:bodyPr/>
            <a:lstStyle/>
            <a:p>
              <a:endParaRPr lang="es-GT"/>
            </a:p>
          </p:txBody>
        </p:sp>
        <p:sp>
          <p:nvSpPr>
            <p:cNvPr id="19" name="Freeform 19"/>
            <p:cNvSpPr/>
            <p:nvPr/>
          </p:nvSpPr>
          <p:spPr>
            <a:xfrm>
              <a:off x="0" y="0"/>
              <a:ext cx="22467063" cy="1545590"/>
            </a:xfrm>
            <a:custGeom>
              <a:avLst/>
              <a:gdLst/>
              <a:ahLst/>
              <a:cxnLst/>
              <a:rect l="l" t="t" r="r" b="b"/>
              <a:pathLst>
                <a:path w="22467063" h="1545590">
                  <a:moveTo>
                    <a:pt x="16891" y="0"/>
                  </a:moveTo>
                  <a:lnTo>
                    <a:pt x="22450171" y="0"/>
                  </a:lnTo>
                  <a:cubicBezTo>
                    <a:pt x="22459569" y="0"/>
                    <a:pt x="22467063" y="7620"/>
                    <a:pt x="22467063" y="16891"/>
                  </a:cubicBezTo>
                  <a:lnTo>
                    <a:pt x="22467063" y="1528699"/>
                  </a:lnTo>
                  <a:cubicBezTo>
                    <a:pt x="22467063" y="1538097"/>
                    <a:pt x="22459443" y="1545590"/>
                    <a:pt x="2245017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22450171" y="1511808"/>
                  </a:lnTo>
                  <a:lnTo>
                    <a:pt x="22450171" y="1528699"/>
                  </a:lnTo>
                  <a:lnTo>
                    <a:pt x="22433280" y="1528699"/>
                  </a:lnTo>
                  <a:lnTo>
                    <a:pt x="22433280" y="16891"/>
                  </a:lnTo>
                  <a:lnTo>
                    <a:pt x="22450171" y="16891"/>
                  </a:lnTo>
                  <a:lnTo>
                    <a:pt x="22450171" y="33909"/>
                  </a:lnTo>
                  <a:lnTo>
                    <a:pt x="16891" y="33909"/>
                  </a:lnTo>
                  <a:close/>
                </a:path>
              </a:pathLst>
            </a:custGeom>
            <a:solidFill>
              <a:srgbClr val="3A4160"/>
            </a:solidFill>
          </p:spPr>
          <p:txBody>
            <a:bodyPr/>
            <a:lstStyle/>
            <a:p>
              <a:endParaRPr lang="es-GT"/>
            </a:p>
          </p:txBody>
        </p:sp>
      </p:grpSp>
      <p:sp>
        <p:nvSpPr>
          <p:cNvPr id="20" name="TextBox 20"/>
          <p:cNvSpPr txBox="1"/>
          <p:nvPr/>
        </p:nvSpPr>
        <p:spPr>
          <a:xfrm>
            <a:off x="1188720" y="1891284"/>
            <a:ext cx="15910560" cy="824484"/>
          </a:xfrm>
          <a:prstGeom prst="rect">
            <a:avLst/>
          </a:prstGeom>
        </p:spPr>
        <p:txBody>
          <a:bodyPr lIns="0" tIns="0" rIns="0" bIns="0" rtlCol="0" anchor="t">
            <a:spAutoFit/>
          </a:bodyPr>
          <a:lstStyle/>
          <a:p>
            <a:pPr algn="l">
              <a:lnSpc>
                <a:spcPts val="2280"/>
              </a:lnSpc>
            </a:pPr>
            <a:r>
              <a:rPr lang="en-US" sz="1900">
                <a:solidFill>
                  <a:srgbClr val="FFFFFF"/>
                </a:solidFill>
                <a:latin typeface="Calibri (MS)"/>
                <a:ea typeface="Calibri (MS)"/>
                <a:cs typeface="Calibri (MS)"/>
                <a:sym typeface="Calibri (MS)"/>
              </a:rPr>
              <a:t>Cormen, T. H., Leiserson, C. E., Rivest, R. L., &amp; Stein, C. (2022). Introduction to Algorithms (4.ª ed.). MIT Press.</a:t>
            </a:r>
          </a:p>
        </p:txBody>
      </p:sp>
      <p:grpSp>
        <p:nvGrpSpPr>
          <p:cNvPr id="21" name="Group 21"/>
          <p:cNvGrpSpPr/>
          <p:nvPr/>
        </p:nvGrpSpPr>
        <p:grpSpPr>
          <a:xfrm>
            <a:off x="1188720" y="2258568"/>
            <a:ext cx="7315200" cy="457200"/>
            <a:chOff x="0" y="0"/>
            <a:chExt cx="9753600" cy="609600"/>
          </a:xfrm>
        </p:grpSpPr>
        <p:sp>
          <p:nvSpPr>
            <p:cNvPr id="22" name="Freeform 22"/>
            <p:cNvSpPr/>
            <p:nvPr/>
          </p:nvSpPr>
          <p:spPr>
            <a:xfrm>
              <a:off x="0" y="0"/>
              <a:ext cx="9753600" cy="609600"/>
            </a:xfrm>
            <a:custGeom>
              <a:avLst/>
              <a:gdLst/>
              <a:ahLst/>
              <a:cxnLst/>
              <a:rect l="l" t="t" r="r" b="b"/>
              <a:pathLst>
                <a:path w="9753600" h="609600">
                  <a:moveTo>
                    <a:pt x="0" y="0"/>
                  </a:moveTo>
                  <a:lnTo>
                    <a:pt x="9753600" y="0"/>
                  </a:lnTo>
                  <a:lnTo>
                    <a:pt x="9753600" y="609600"/>
                  </a:lnTo>
                  <a:lnTo>
                    <a:pt x="0" y="609600"/>
                  </a:lnTo>
                  <a:close/>
                </a:path>
              </a:pathLst>
            </a:custGeom>
            <a:blipFill>
              <a:blip r:embed="rId3">
                <a:alphaModFix amt="0"/>
              </a:blip>
              <a:stretch>
                <a:fillRect t="-261760" b="-261760"/>
              </a:stretch>
            </a:blipFill>
          </p:spPr>
          <p:txBody>
            <a:bodyPr/>
            <a:lstStyle/>
            <a:p>
              <a:endParaRPr lang="es-GT"/>
            </a:p>
          </p:txBody>
        </p:sp>
        <p:sp>
          <p:nvSpPr>
            <p:cNvPr id="23" name="TextBox 23"/>
            <p:cNvSpPr txBox="1"/>
            <p:nvPr/>
          </p:nvSpPr>
          <p:spPr>
            <a:xfrm>
              <a:off x="0" y="-38100"/>
              <a:ext cx="9753600" cy="647700"/>
            </a:xfrm>
            <a:prstGeom prst="rect">
              <a:avLst/>
            </a:prstGeom>
          </p:spPr>
          <p:txBody>
            <a:bodyPr lIns="0" tIns="0" rIns="0" bIns="0" rtlCol="0" anchor="ctr"/>
            <a:lstStyle/>
            <a:p>
              <a:pPr algn="l">
                <a:lnSpc>
                  <a:spcPts val="2280"/>
                </a:lnSpc>
              </a:pPr>
              <a:r>
                <a:rPr lang="en-US" sz="1900" b="1">
                  <a:solidFill>
                    <a:srgbClr val="5B8CFF"/>
                  </a:solidFill>
                  <a:latin typeface="Calibri (MS) Bold"/>
                  <a:ea typeface="Calibri (MS) Bold"/>
                  <a:cs typeface="Calibri (MS) Bold"/>
                  <a:sym typeface="Calibri (MS) Bold"/>
                </a:rPr>
                <a:t>Cormen, T. H., Leiserson, C. E., Rivest, R. L., &amp; Stein, C. (2022).</a:t>
              </a:r>
            </a:p>
          </p:txBody>
        </p:sp>
      </p:grpSp>
      <p:grpSp>
        <p:nvGrpSpPr>
          <p:cNvPr id="24" name="Group 24"/>
          <p:cNvGrpSpPr/>
          <p:nvPr/>
        </p:nvGrpSpPr>
        <p:grpSpPr>
          <a:xfrm>
            <a:off x="718823" y="3041399"/>
            <a:ext cx="16850363" cy="1159259"/>
            <a:chOff x="0" y="0"/>
            <a:chExt cx="22467151" cy="1545679"/>
          </a:xfrm>
        </p:grpSpPr>
        <p:sp>
          <p:nvSpPr>
            <p:cNvPr id="25" name="Freeform 25"/>
            <p:cNvSpPr/>
            <p:nvPr/>
          </p:nvSpPr>
          <p:spPr>
            <a:xfrm>
              <a:off x="16891" y="16891"/>
              <a:ext cx="22433280" cy="1511808"/>
            </a:xfrm>
            <a:custGeom>
              <a:avLst/>
              <a:gdLst/>
              <a:ahLst/>
              <a:cxnLst/>
              <a:rect l="l" t="t" r="r" b="b"/>
              <a:pathLst>
                <a:path w="22433280" h="1511808">
                  <a:moveTo>
                    <a:pt x="0" y="0"/>
                  </a:moveTo>
                  <a:lnTo>
                    <a:pt x="22433280" y="0"/>
                  </a:lnTo>
                  <a:lnTo>
                    <a:pt x="22433280" y="1511808"/>
                  </a:lnTo>
                  <a:lnTo>
                    <a:pt x="0" y="1511808"/>
                  </a:lnTo>
                  <a:close/>
                </a:path>
              </a:pathLst>
            </a:custGeom>
            <a:solidFill>
              <a:srgbClr val="252B42"/>
            </a:solidFill>
          </p:spPr>
          <p:txBody>
            <a:bodyPr/>
            <a:lstStyle/>
            <a:p>
              <a:endParaRPr lang="es-GT"/>
            </a:p>
          </p:txBody>
        </p:sp>
        <p:sp>
          <p:nvSpPr>
            <p:cNvPr id="26" name="Freeform 26"/>
            <p:cNvSpPr/>
            <p:nvPr/>
          </p:nvSpPr>
          <p:spPr>
            <a:xfrm>
              <a:off x="0" y="0"/>
              <a:ext cx="22467063" cy="1545590"/>
            </a:xfrm>
            <a:custGeom>
              <a:avLst/>
              <a:gdLst/>
              <a:ahLst/>
              <a:cxnLst/>
              <a:rect l="l" t="t" r="r" b="b"/>
              <a:pathLst>
                <a:path w="22467063" h="1545590">
                  <a:moveTo>
                    <a:pt x="16891" y="0"/>
                  </a:moveTo>
                  <a:lnTo>
                    <a:pt x="22450171" y="0"/>
                  </a:lnTo>
                  <a:cubicBezTo>
                    <a:pt x="22459569" y="0"/>
                    <a:pt x="22467063" y="7620"/>
                    <a:pt x="22467063" y="16891"/>
                  </a:cubicBezTo>
                  <a:lnTo>
                    <a:pt x="22467063" y="1528699"/>
                  </a:lnTo>
                  <a:cubicBezTo>
                    <a:pt x="22467063" y="1538097"/>
                    <a:pt x="22459443" y="1545590"/>
                    <a:pt x="2245017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22450171" y="1511808"/>
                  </a:lnTo>
                  <a:lnTo>
                    <a:pt x="22450171" y="1528699"/>
                  </a:lnTo>
                  <a:lnTo>
                    <a:pt x="22433280" y="1528699"/>
                  </a:lnTo>
                  <a:lnTo>
                    <a:pt x="22433280" y="16891"/>
                  </a:lnTo>
                  <a:lnTo>
                    <a:pt x="22450171" y="16891"/>
                  </a:lnTo>
                  <a:lnTo>
                    <a:pt x="22450171" y="33909"/>
                  </a:lnTo>
                  <a:lnTo>
                    <a:pt x="16891" y="33909"/>
                  </a:lnTo>
                  <a:close/>
                </a:path>
              </a:pathLst>
            </a:custGeom>
            <a:solidFill>
              <a:srgbClr val="3A4160"/>
            </a:solidFill>
          </p:spPr>
          <p:txBody>
            <a:bodyPr/>
            <a:lstStyle/>
            <a:p>
              <a:endParaRPr lang="es-GT"/>
            </a:p>
          </p:txBody>
        </p:sp>
      </p:grpSp>
      <p:sp>
        <p:nvSpPr>
          <p:cNvPr id="27" name="TextBox 27"/>
          <p:cNvSpPr txBox="1"/>
          <p:nvPr/>
        </p:nvSpPr>
        <p:spPr>
          <a:xfrm>
            <a:off x="1188720" y="3208020"/>
            <a:ext cx="15910560" cy="824484"/>
          </a:xfrm>
          <a:prstGeom prst="rect">
            <a:avLst/>
          </a:prstGeom>
        </p:spPr>
        <p:txBody>
          <a:bodyPr lIns="0" tIns="0" rIns="0" bIns="0" rtlCol="0" anchor="t">
            <a:spAutoFit/>
          </a:bodyPr>
          <a:lstStyle/>
          <a:p>
            <a:pPr algn="l">
              <a:lnSpc>
                <a:spcPts val="2280"/>
              </a:lnSpc>
            </a:pPr>
            <a:r>
              <a:rPr lang="en-US" sz="1900">
                <a:solidFill>
                  <a:srgbClr val="FFFFFF"/>
                </a:solidFill>
                <a:latin typeface="Calibri (MS)"/>
                <a:ea typeface="Calibri (MS)"/>
                <a:cs typeface="Calibri (MS)"/>
                <a:sym typeface="Calibri (MS)"/>
              </a:rPr>
              <a:t>Knuth, D. E. (1997). The Art of Computer Programming, Vol. 1: Fundamental Algorithms (3.ª ed.). Addison-Wesley.</a:t>
            </a:r>
          </a:p>
        </p:txBody>
      </p:sp>
      <p:grpSp>
        <p:nvGrpSpPr>
          <p:cNvPr id="28" name="Group 28"/>
          <p:cNvGrpSpPr/>
          <p:nvPr/>
        </p:nvGrpSpPr>
        <p:grpSpPr>
          <a:xfrm>
            <a:off x="1188720" y="3639312"/>
            <a:ext cx="7315200" cy="457200"/>
            <a:chOff x="0" y="0"/>
            <a:chExt cx="9753600" cy="609600"/>
          </a:xfrm>
        </p:grpSpPr>
        <p:sp>
          <p:nvSpPr>
            <p:cNvPr id="29" name="Freeform 29"/>
            <p:cNvSpPr/>
            <p:nvPr/>
          </p:nvSpPr>
          <p:spPr>
            <a:xfrm>
              <a:off x="0" y="0"/>
              <a:ext cx="9753600" cy="609600"/>
            </a:xfrm>
            <a:custGeom>
              <a:avLst/>
              <a:gdLst/>
              <a:ahLst/>
              <a:cxnLst/>
              <a:rect l="l" t="t" r="r" b="b"/>
              <a:pathLst>
                <a:path w="9753600" h="609600">
                  <a:moveTo>
                    <a:pt x="0" y="0"/>
                  </a:moveTo>
                  <a:lnTo>
                    <a:pt x="9753600" y="0"/>
                  </a:lnTo>
                  <a:lnTo>
                    <a:pt x="9753600" y="609600"/>
                  </a:lnTo>
                  <a:lnTo>
                    <a:pt x="0" y="609600"/>
                  </a:lnTo>
                  <a:close/>
                </a:path>
              </a:pathLst>
            </a:custGeom>
            <a:blipFill>
              <a:blip r:embed="rId3">
                <a:alphaModFix amt="0"/>
              </a:blip>
              <a:stretch>
                <a:fillRect t="-261760" b="-261760"/>
              </a:stretch>
            </a:blipFill>
          </p:spPr>
          <p:txBody>
            <a:bodyPr/>
            <a:lstStyle/>
            <a:p>
              <a:endParaRPr lang="es-GT"/>
            </a:p>
          </p:txBody>
        </p:sp>
        <p:sp>
          <p:nvSpPr>
            <p:cNvPr id="30" name="TextBox 30"/>
            <p:cNvSpPr txBox="1"/>
            <p:nvPr/>
          </p:nvSpPr>
          <p:spPr>
            <a:xfrm>
              <a:off x="0" y="-38100"/>
              <a:ext cx="9753600" cy="647700"/>
            </a:xfrm>
            <a:prstGeom prst="rect">
              <a:avLst/>
            </a:prstGeom>
          </p:spPr>
          <p:txBody>
            <a:bodyPr lIns="0" tIns="0" rIns="0" bIns="0" rtlCol="0" anchor="ctr"/>
            <a:lstStyle/>
            <a:p>
              <a:pPr algn="l">
                <a:lnSpc>
                  <a:spcPts val="2280"/>
                </a:lnSpc>
              </a:pPr>
              <a:r>
                <a:rPr lang="en-US" sz="1900" b="1">
                  <a:solidFill>
                    <a:srgbClr val="5B8CFF"/>
                  </a:solidFill>
                  <a:latin typeface="Calibri (MS) Bold"/>
                  <a:ea typeface="Calibri (MS) Bold"/>
                  <a:cs typeface="Calibri (MS) Bold"/>
                  <a:sym typeface="Calibri (MS) Bold"/>
                </a:rPr>
                <a:t>Knuth, D. E. (1997).</a:t>
              </a:r>
            </a:p>
          </p:txBody>
        </p:sp>
      </p:grpSp>
      <p:grpSp>
        <p:nvGrpSpPr>
          <p:cNvPr id="31" name="Group 31"/>
          <p:cNvGrpSpPr/>
          <p:nvPr/>
        </p:nvGrpSpPr>
        <p:grpSpPr>
          <a:xfrm>
            <a:off x="718823" y="4358135"/>
            <a:ext cx="16850363" cy="1159259"/>
            <a:chOff x="0" y="0"/>
            <a:chExt cx="22467151" cy="1545679"/>
          </a:xfrm>
        </p:grpSpPr>
        <p:sp>
          <p:nvSpPr>
            <p:cNvPr id="32" name="Freeform 32"/>
            <p:cNvSpPr/>
            <p:nvPr/>
          </p:nvSpPr>
          <p:spPr>
            <a:xfrm>
              <a:off x="16891" y="16891"/>
              <a:ext cx="22433280" cy="1511808"/>
            </a:xfrm>
            <a:custGeom>
              <a:avLst/>
              <a:gdLst/>
              <a:ahLst/>
              <a:cxnLst/>
              <a:rect l="l" t="t" r="r" b="b"/>
              <a:pathLst>
                <a:path w="22433280" h="1511808">
                  <a:moveTo>
                    <a:pt x="0" y="0"/>
                  </a:moveTo>
                  <a:lnTo>
                    <a:pt x="22433280" y="0"/>
                  </a:lnTo>
                  <a:lnTo>
                    <a:pt x="22433280" y="1511808"/>
                  </a:lnTo>
                  <a:lnTo>
                    <a:pt x="0" y="1511808"/>
                  </a:lnTo>
                  <a:close/>
                </a:path>
              </a:pathLst>
            </a:custGeom>
            <a:solidFill>
              <a:srgbClr val="252B42"/>
            </a:solidFill>
          </p:spPr>
          <p:txBody>
            <a:bodyPr/>
            <a:lstStyle/>
            <a:p>
              <a:endParaRPr lang="es-GT"/>
            </a:p>
          </p:txBody>
        </p:sp>
        <p:sp>
          <p:nvSpPr>
            <p:cNvPr id="33" name="Freeform 33"/>
            <p:cNvSpPr/>
            <p:nvPr/>
          </p:nvSpPr>
          <p:spPr>
            <a:xfrm>
              <a:off x="0" y="0"/>
              <a:ext cx="22467063" cy="1545590"/>
            </a:xfrm>
            <a:custGeom>
              <a:avLst/>
              <a:gdLst/>
              <a:ahLst/>
              <a:cxnLst/>
              <a:rect l="l" t="t" r="r" b="b"/>
              <a:pathLst>
                <a:path w="22467063" h="1545590">
                  <a:moveTo>
                    <a:pt x="16891" y="0"/>
                  </a:moveTo>
                  <a:lnTo>
                    <a:pt x="22450171" y="0"/>
                  </a:lnTo>
                  <a:cubicBezTo>
                    <a:pt x="22459569" y="0"/>
                    <a:pt x="22467063" y="7620"/>
                    <a:pt x="22467063" y="16891"/>
                  </a:cubicBezTo>
                  <a:lnTo>
                    <a:pt x="22467063" y="1528699"/>
                  </a:lnTo>
                  <a:cubicBezTo>
                    <a:pt x="22467063" y="1538097"/>
                    <a:pt x="22459443" y="1545590"/>
                    <a:pt x="2245017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22450171" y="1511808"/>
                  </a:lnTo>
                  <a:lnTo>
                    <a:pt x="22450171" y="1528699"/>
                  </a:lnTo>
                  <a:lnTo>
                    <a:pt x="22433280" y="1528699"/>
                  </a:lnTo>
                  <a:lnTo>
                    <a:pt x="22433280" y="16891"/>
                  </a:lnTo>
                  <a:lnTo>
                    <a:pt x="22450171" y="16891"/>
                  </a:lnTo>
                  <a:lnTo>
                    <a:pt x="22450171" y="33909"/>
                  </a:lnTo>
                  <a:lnTo>
                    <a:pt x="16891" y="33909"/>
                  </a:lnTo>
                  <a:close/>
                </a:path>
              </a:pathLst>
            </a:custGeom>
            <a:solidFill>
              <a:srgbClr val="3A4160"/>
            </a:solidFill>
          </p:spPr>
          <p:txBody>
            <a:bodyPr/>
            <a:lstStyle/>
            <a:p>
              <a:endParaRPr lang="es-GT"/>
            </a:p>
          </p:txBody>
        </p:sp>
      </p:grpSp>
      <p:sp>
        <p:nvSpPr>
          <p:cNvPr id="34" name="TextBox 34"/>
          <p:cNvSpPr txBox="1"/>
          <p:nvPr/>
        </p:nvSpPr>
        <p:spPr>
          <a:xfrm>
            <a:off x="1188720" y="4524756"/>
            <a:ext cx="15910560" cy="824484"/>
          </a:xfrm>
          <a:prstGeom prst="rect">
            <a:avLst/>
          </a:prstGeom>
        </p:spPr>
        <p:txBody>
          <a:bodyPr lIns="0" tIns="0" rIns="0" bIns="0" rtlCol="0" anchor="t">
            <a:spAutoFit/>
          </a:bodyPr>
          <a:lstStyle/>
          <a:p>
            <a:pPr algn="l">
              <a:lnSpc>
                <a:spcPts val="2280"/>
              </a:lnSpc>
            </a:pPr>
            <a:r>
              <a:rPr lang="en-US" sz="1900">
                <a:solidFill>
                  <a:srgbClr val="FFFFFF"/>
                </a:solidFill>
                <a:latin typeface="Calibri (MS)"/>
                <a:ea typeface="Calibri (MS)"/>
                <a:cs typeface="Calibri (MS)"/>
                <a:sym typeface="Calibri (MS)"/>
              </a:rPr>
              <a:t>Wing, J. M. (2006). "Computational thinking". Communications of the ACM, 49(3), 33–35.</a:t>
            </a:r>
          </a:p>
        </p:txBody>
      </p:sp>
      <p:grpSp>
        <p:nvGrpSpPr>
          <p:cNvPr id="35" name="Group 35"/>
          <p:cNvGrpSpPr/>
          <p:nvPr/>
        </p:nvGrpSpPr>
        <p:grpSpPr>
          <a:xfrm>
            <a:off x="1188720" y="4956048"/>
            <a:ext cx="7315200" cy="457200"/>
            <a:chOff x="0" y="0"/>
            <a:chExt cx="9753600" cy="609600"/>
          </a:xfrm>
        </p:grpSpPr>
        <p:sp>
          <p:nvSpPr>
            <p:cNvPr id="36" name="Freeform 36"/>
            <p:cNvSpPr/>
            <p:nvPr/>
          </p:nvSpPr>
          <p:spPr>
            <a:xfrm>
              <a:off x="0" y="0"/>
              <a:ext cx="9753600" cy="609600"/>
            </a:xfrm>
            <a:custGeom>
              <a:avLst/>
              <a:gdLst/>
              <a:ahLst/>
              <a:cxnLst/>
              <a:rect l="l" t="t" r="r" b="b"/>
              <a:pathLst>
                <a:path w="9753600" h="609600">
                  <a:moveTo>
                    <a:pt x="0" y="0"/>
                  </a:moveTo>
                  <a:lnTo>
                    <a:pt x="9753600" y="0"/>
                  </a:lnTo>
                  <a:lnTo>
                    <a:pt x="9753600" y="609600"/>
                  </a:lnTo>
                  <a:lnTo>
                    <a:pt x="0" y="609600"/>
                  </a:lnTo>
                  <a:close/>
                </a:path>
              </a:pathLst>
            </a:custGeom>
            <a:blipFill>
              <a:blip r:embed="rId3">
                <a:alphaModFix amt="0"/>
              </a:blip>
              <a:stretch>
                <a:fillRect t="-261760" b="-261760"/>
              </a:stretch>
            </a:blipFill>
          </p:spPr>
          <p:txBody>
            <a:bodyPr/>
            <a:lstStyle/>
            <a:p>
              <a:endParaRPr lang="es-GT"/>
            </a:p>
          </p:txBody>
        </p:sp>
        <p:sp>
          <p:nvSpPr>
            <p:cNvPr id="37" name="TextBox 37"/>
            <p:cNvSpPr txBox="1"/>
            <p:nvPr/>
          </p:nvSpPr>
          <p:spPr>
            <a:xfrm>
              <a:off x="0" y="-38100"/>
              <a:ext cx="9753600" cy="647700"/>
            </a:xfrm>
            <a:prstGeom prst="rect">
              <a:avLst/>
            </a:prstGeom>
          </p:spPr>
          <p:txBody>
            <a:bodyPr lIns="0" tIns="0" rIns="0" bIns="0" rtlCol="0" anchor="ctr"/>
            <a:lstStyle/>
            <a:p>
              <a:pPr algn="l">
                <a:lnSpc>
                  <a:spcPts val="2280"/>
                </a:lnSpc>
              </a:pPr>
              <a:r>
                <a:rPr lang="en-US" sz="1900" b="1">
                  <a:solidFill>
                    <a:srgbClr val="5B8CFF"/>
                  </a:solidFill>
                  <a:latin typeface="Calibri (MS) Bold"/>
                  <a:ea typeface="Calibri (MS) Bold"/>
                  <a:cs typeface="Calibri (MS) Bold"/>
                  <a:sym typeface="Calibri (MS) Bold"/>
                </a:rPr>
                <a:t>Wing, J. M. (2006).</a:t>
              </a:r>
            </a:p>
          </p:txBody>
        </p:sp>
      </p:grpSp>
      <p:grpSp>
        <p:nvGrpSpPr>
          <p:cNvPr id="38" name="Group 38"/>
          <p:cNvGrpSpPr/>
          <p:nvPr/>
        </p:nvGrpSpPr>
        <p:grpSpPr>
          <a:xfrm>
            <a:off x="718823" y="5674871"/>
            <a:ext cx="16850363" cy="1387859"/>
            <a:chOff x="0" y="0"/>
            <a:chExt cx="22467151" cy="1850479"/>
          </a:xfrm>
        </p:grpSpPr>
        <p:sp>
          <p:nvSpPr>
            <p:cNvPr id="39" name="Freeform 39"/>
            <p:cNvSpPr/>
            <p:nvPr/>
          </p:nvSpPr>
          <p:spPr>
            <a:xfrm>
              <a:off x="16891" y="20222"/>
              <a:ext cx="22433280" cy="1809929"/>
            </a:xfrm>
            <a:custGeom>
              <a:avLst/>
              <a:gdLst/>
              <a:ahLst/>
              <a:cxnLst/>
              <a:rect l="l" t="t" r="r" b="b"/>
              <a:pathLst>
                <a:path w="22433280" h="1809929">
                  <a:moveTo>
                    <a:pt x="0" y="0"/>
                  </a:moveTo>
                  <a:lnTo>
                    <a:pt x="22433280" y="0"/>
                  </a:lnTo>
                  <a:lnTo>
                    <a:pt x="22433280" y="1809929"/>
                  </a:lnTo>
                  <a:lnTo>
                    <a:pt x="0" y="1809929"/>
                  </a:lnTo>
                  <a:close/>
                </a:path>
              </a:pathLst>
            </a:custGeom>
            <a:solidFill>
              <a:srgbClr val="252B42"/>
            </a:solidFill>
          </p:spPr>
          <p:txBody>
            <a:bodyPr/>
            <a:lstStyle/>
            <a:p>
              <a:endParaRPr lang="es-GT"/>
            </a:p>
          </p:txBody>
        </p:sp>
        <p:sp>
          <p:nvSpPr>
            <p:cNvPr id="40" name="Freeform 40"/>
            <p:cNvSpPr/>
            <p:nvPr/>
          </p:nvSpPr>
          <p:spPr>
            <a:xfrm>
              <a:off x="0" y="0"/>
              <a:ext cx="22467063" cy="1850373"/>
            </a:xfrm>
            <a:custGeom>
              <a:avLst/>
              <a:gdLst/>
              <a:ahLst/>
              <a:cxnLst/>
              <a:rect l="l" t="t" r="r" b="b"/>
              <a:pathLst>
                <a:path w="22467063" h="1850373">
                  <a:moveTo>
                    <a:pt x="16891" y="0"/>
                  </a:moveTo>
                  <a:lnTo>
                    <a:pt x="22450171" y="0"/>
                  </a:lnTo>
                  <a:cubicBezTo>
                    <a:pt x="22459569" y="0"/>
                    <a:pt x="22467063" y="9123"/>
                    <a:pt x="22467063" y="20222"/>
                  </a:cubicBezTo>
                  <a:lnTo>
                    <a:pt x="22467063" y="1830151"/>
                  </a:lnTo>
                  <a:cubicBezTo>
                    <a:pt x="22467063" y="1841402"/>
                    <a:pt x="22459443" y="1850373"/>
                    <a:pt x="22450171" y="1850373"/>
                  </a:cubicBezTo>
                  <a:lnTo>
                    <a:pt x="16891" y="1850373"/>
                  </a:lnTo>
                  <a:cubicBezTo>
                    <a:pt x="7493" y="1850373"/>
                    <a:pt x="0" y="1841250"/>
                    <a:pt x="0" y="1830151"/>
                  </a:cubicBezTo>
                  <a:lnTo>
                    <a:pt x="0" y="20222"/>
                  </a:lnTo>
                  <a:cubicBezTo>
                    <a:pt x="0" y="9123"/>
                    <a:pt x="7620" y="0"/>
                    <a:pt x="16891" y="0"/>
                  </a:cubicBezTo>
                  <a:moveTo>
                    <a:pt x="16891" y="40596"/>
                  </a:moveTo>
                  <a:lnTo>
                    <a:pt x="16891" y="20222"/>
                  </a:lnTo>
                  <a:lnTo>
                    <a:pt x="33909" y="20222"/>
                  </a:lnTo>
                  <a:lnTo>
                    <a:pt x="33909" y="1830151"/>
                  </a:lnTo>
                  <a:lnTo>
                    <a:pt x="16891" y="1830151"/>
                  </a:lnTo>
                  <a:lnTo>
                    <a:pt x="16891" y="1809929"/>
                  </a:lnTo>
                  <a:lnTo>
                    <a:pt x="22450171" y="1809929"/>
                  </a:lnTo>
                  <a:lnTo>
                    <a:pt x="22450171" y="1830151"/>
                  </a:lnTo>
                  <a:lnTo>
                    <a:pt x="22433280" y="1830151"/>
                  </a:lnTo>
                  <a:lnTo>
                    <a:pt x="22433280" y="20222"/>
                  </a:lnTo>
                  <a:lnTo>
                    <a:pt x="22450171" y="20222"/>
                  </a:lnTo>
                  <a:lnTo>
                    <a:pt x="22450171" y="40596"/>
                  </a:lnTo>
                  <a:lnTo>
                    <a:pt x="16891" y="40596"/>
                  </a:lnTo>
                  <a:close/>
                </a:path>
              </a:pathLst>
            </a:custGeom>
            <a:solidFill>
              <a:srgbClr val="3A4160"/>
            </a:solidFill>
          </p:spPr>
          <p:txBody>
            <a:bodyPr/>
            <a:lstStyle/>
            <a:p>
              <a:endParaRPr lang="es-GT"/>
            </a:p>
          </p:txBody>
        </p:sp>
      </p:grpSp>
      <p:sp>
        <p:nvSpPr>
          <p:cNvPr id="41" name="TextBox 41"/>
          <p:cNvSpPr txBox="1"/>
          <p:nvPr/>
        </p:nvSpPr>
        <p:spPr>
          <a:xfrm>
            <a:off x="1188720" y="5841492"/>
            <a:ext cx="15910560" cy="824484"/>
          </a:xfrm>
          <a:prstGeom prst="rect">
            <a:avLst/>
          </a:prstGeom>
        </p:spPr>
        <p:txBody>
          <a:bodyPr lIns="0" tIns="0" rIns="0" bIns="0" rtlCol="0" anchor="t">
            <a:spAutoFit/>
          </a:bodyPr>
          <a:lstStyle/>
          <a:p>
            <a:pPr algn="l">
              <a:lnSpc>
                <a:spcPts val="2280"/>
              </a:lnSpc>
            </a:pPr>
            <a:r>
              <a:rPr lang="en-US" sz="1900">
                <a:solidFill>
                  <a:srgbClr val="FFFFFF"/>
                </a:solidFill>
                <a:latin typeface="Calibri (MS)"/>
                <a:ea typeface="Calibri (MS)"/>
                <a:cs typeface="Calibri (MS)"/>
                <a:sym typeface="Calibri (MS)"/>
              </a:rPr>
              <a:t>ISO/IEC 5807:1985. Information processing — Documentation symbols and conventions for data, program and system flowcharts, program network charts and system resources charts. ISO.</a:t>
            </a:r>
          </a:p>
        </p:txBody>
      </p:sp>
      <p:grpSp>
        <p:nvGrpSpPr>
          <p:cNvPr id="42" name="Group 42"/>
          <p:cNvGrpSpPr/>
          <p:nvPr/>
        </p:nvGrpSpPr>
        <p:grpSpPr>
          <a:xfrm>
            <a:off x="1188720" y="6605530"/>
            <a:ext cx="7315200" cy="457200"/>
            <a:chOff x="0" y="0"/>
            <a:chExt cx="9753600" cy="609600"/>
          </a:xfrm>
        </p:grpSpPr>
        <p:sp>
          <p:nvSpPr>
            <p:cNvPr id="43" name="Freeform 43"/>
            <p:cNvSpPr/>
            <p:nvPr/>
          </p:nvSpPr>
          <p:spPr>
            <a:xfrm>
              <a:off x="0" y="0"/>
              <a:ext cx="9753600" cy="609600"/>
            </a:xfrm>
            <a:custGeom>
              <a:avLst/>
              <a:gdLst/>
              <a:ahLst/>
              <a:cxnLst/>
              <a:rect l="l" t="t" r="r" b="b"/>
              <a:pathLst>
                <a:path w="9753600" h="609600">
                  <a:moveTo>
                    <a:pt x="0" y="0"/>
                  </a:moveTo>
                  <a:lnTo>
                    <a:pt x="9753600" y="0"/>
                  </a:lnTo>
                  <a:lnTo>
                    <a:pt x="9753600" y="609600"/>
                  </a:lnTo>
                  <a:lnTo>
                    <a:pt x="0" y="609600"/>
                  </a:lnTo>
                  <a:close/>
                </a:path>
              </a:pathLst>
            </a:custGeom>
            <a:blipFill>
              <a:blip r:embed="rId3">
                <a:alphaModFix amt="0"/>
              </a:blip>
              <a:stretch>
                <a:fillRect t="-261760" b="-261760"/>
              </a:stretch>
            </a:blipFill>
          </p:spPr>
          <p:txBody>
            <a:bodyPr/>
            <a:lstStyle/>
            <a:p>
              <a:endParaRPr lang="es-GT"/>
            </a:p>
          </p:txBody>
        </p:sp>
        <p:sp>
          <p:nvSpPr>
            <p:cNvPr id="44" name="TextBox 44"/>
            <p:cNvSpPr txBox="1"/>
            <p:nvPr/>
          </p:nvSpPr>
          <p:spPr>
            <a:xfrm>
              <a:off x="0" y="-38100"/>
              <a:ext cx="9753600" cy="647700"/>
            </a:xfrm>
            <a:prstGeom prst="rect">
              <a:avLst/>
            </a:prstGeom>
          </p:spPr>
          <p:txBody>
            <a:bodyPr lIns="0" tIns="0" rIns="0" bIns="0" rtlCol="0" anchor="ctr"/>
            <a:lstStyle/>
            <a:p>
              <a:pPr algn="l">
                <a:lnSpc>
                  <a:spcPts val="2280"/>
                </a:lnSpc>
              </a:pPr>
              <a:r>
                <a:rPr lang="en-US" sz="1900" b="1">
                  <a:solidFill>
                    <a:srgbClr val="5B8CFF"/>
                  </a:solidFill>
                  <a:latin typeface="Calibri (MS) Bold"/>
                  <a:ea typeface="Calibri (MS) Bold"/>
                  <a:cs typeface="Calibri (MS) Bold"/>
                  <a:sym typeface="Calibri (MS) Bold"/>
                </a:rPr>
                <a:t>ISO/IEC 5807:1985.</a:t>
              </a:r>
            </a:p>
          </p:txBody>
        </p:sp>
      </p:grpSp>
      <p:grpSp>
        <p:nvGrpSpPr>
          <p:cNvPr id="45" name="Group 45"/>
          <p:cNvGrpSpPr/>
          <p:nvPr/>
        </p:nvGrpSpPr>
        <p:grpSpPr>
          <a:xfrm>
            <a:off x="718823" y="7062730"/>
            <a:ext cx="16850363" cy="1088136"/>
            <a:chOff x="0" y="0"/>
            <a:chExt cx="22467151" cy="1450848"/>
          </a:xfrm>
        </p:grpSpPr>
        <p:sp>
          <p:nvSpPr>
            <p:cNvPr id="46" name="Freeform 46"/>
            <p:cNvSpPr/>
            <p:nvPr/>
          </p:nvSpPr>
          <p:spPr>
            <a:xfrm>
              <a:off x="16891" y="15855"/>
              <a:ext cx="22433280" cy="1419055"/>
            </a:xfrm>
            <a:custGeom>
              <a:avLst/>
              <a:gdLst/>
              <a:ahLst/>
              <a:cxnLst/>
              <a:rect l="l" t="t" r="r" b="b"/>
              <a:pathLst>
                <a:path w="22433280" h="1419055">
                  <a:moveTo>
                    <a:pt x="0" y="0"/>
                  </a:moveTo>
                  <a:lnTo>
                    <a:pt x="22433280" y="0"/>
                  </a:lnTo>
                  <a:lnTo>
                    <a:pt x="22433280" y="1419055"/>
                  </a:lnTo>
                  <a:lnTo>
                    <a:pt x="0" y="1419055"/>
                  </a:lnTo>
                  <a:close/>
                </a:path>
              </a:pathLst>
            </a:custGeom>
            <a:solidFill>
              <a:srgbClr val="252B42"/>
            </a:solidFill>
          </p:spPr>
          <p:txBody>
            <a:bodyPr/>
            <a:lstStyle/>
            <a:p>
              <a:endParaRPr lang="es-GT"/>
            </a:p>
          </p:txBody>
        </p:sp>
        <p:sp>
          <p:nvSpPr>
            <p:cNvPr id="47" name="Freeform 47"/>
            <p:cNvSpPr/>
            <p:nvPr/>
          </p:nvSpPr>
          <p:spPr>
            <a:xfrm>
              <a:off x="0" y="0"/>
              <a:ext cx="22467063" cy="1450765"/>
            </a:xfrm>
            <a:custGeom>
              <a:avLst/>
              <a:gdLst/>
              <a:ahLst/>
              <a:cxnLst/>
              <a:rect l="l" t="t" r="r" b="b"/>
              <a:pathLst>
                <a:path w="22467063" h="1450765">
                  <a:moveTo>
                    <a:pt x="16891" y="0"/>
                  </a:moveTo>
                  <a:lnTo>
                    <a:pt x="22450171" y="0"/>
                  </a:lnTo>
                  <a:cubicBezTo>
                    <a:pt x="22459569" y="0"/>
                    <a:pt x="22467063" y="7152"/>
                    <a:pt x="22467063" y="15855"/>
                  </a:cubicBezTo>
                  <a:lnTo>
                    <a:pt x="22467063" y="1434910"/>
                  </a:lnTo>
                  <a:cubicBezTo>
                    <a:pt x="22467063" y="1443731"/>
                    <a:pt x="22459443" y="1450765"/>
                    <a:pt x="22450171" y="1450765"/>
                  </a:cubicBezTo>
                  <a:lnTo>
                    <a:pt x="16891" y="1450765"/>
                  </a:lnTo>
                  <a:cubicBezTo>
                    <a:pt x="7493" y="1450765"/>
                    <a:pt x="0" y="1443612"/>
                    <a:pt x="0" y="1434910"/>
                  </a:cubicBezTo>
                  <a:lnTo>
                    <a:pt x="0" y="15855"/>
                  </a:lnTo>
                  <a:cubicBezTo>
                    <a:pt x="0" y="7152"/>
                    <a:pt x="7620" y="0"/>
                    <a:pt x="16891" y="0"/>
                  </a:cubicBezTo>
                  <a:moveTo>
                    <a:pt x="16891" y="31829"/>
                  </a:moveTo>
                  <a:lnTo>
                    <a:pt x="16891" y="15855"/>
                  </a:lnTo>
                  <a:lnTo>
                    <a:pt x="33909" y="15855"/>
                  </a:lnTo>
                  <a:lnTo>
                    <a:pt x="33909" y="1434910"/>
                  </a:lnTo>
                  <a:lnTo>
                    <a:pt x="16891" y="1434910"/>
                  </a:lnTo>
                  <a:lnTo>
                    <a:pt x="16891" y="1419055"/>
                  </a:lnTo>
                  <a:lnTo>
                    <a:pt x="22450171" y="1419055"/>
                  </a:lnTo>
                  <a:lnTo>
                    <a:pt x="22450171" y="1434910"/>
                  </a:lnTo>
                  <a:lnTo>
                    <a:pt x="22433280" y="1434910"/>
                  </a:lnTo>
                  <a:lnTo>
                    <a:pt x="22433280" y="15855"/>
                  </a:lnTo>
                  <a:lnTo>
                    <a:pt x="22450171" y="15855"/>
                  </a:lnTo>
                  <a:lnTo>
                    <a:pt x="22450171" y="31829"/>
                  </a:lnTo>
                  <a:lnTo>
                    <a:pt x="16891" y="31829"/>
                  </a:lnTo>
                  <a:close/>
                </a:path>
              </a:pathLst>
            </a:custGeom>
            <a:solidFill>
              <a:srgbClr val="3A4160"/>
            </a:solidFill>
          </p:spPr>
          <p:txBody>
            <a:bodyPr/>
            <a:lstStyle/>
            <a:p>
              <a:endParaRPr lang="es-GT"/>
            </a:p>
          </p:txBody>
        </p:sp>
      </p:grpSp>
      <p:sp>
        <p:nvSpPr>
          <p:cNvPr id="48" name="TextBox 48"/>
          <p:cNvSpPr txBox="1"/>
          <p:nvPr/>
        </p:nvSpPr>
        <p:spPr>
          <a:xfrm>
            <a:off x="1188720" y="7254245"/>
            <a:ext cx="15910560" cy="824484"/>
          </a:xfrm>
          <a:prstGeom prst="rect">
            <a:avLst/>
          </a:prstGeom>
        </p:spPr>
        <p:txBody>
          <a:bodyPr lIns="0" tIns="0" rIns="0" bIns="0" rtlCol="0" anchor="t">
            <a:spAutoFit/>
          </a:bodyPr>
          <a:lstStyle/>
          <a:p>
            <a:pPr algn="l">
              <a:lnSpc>
                <a:spcPts val="2280"/>
              </a:lnSpc>
            </a:pPr>
            <a:r>
              <a:rPr lang="en-US" sz="1900">
                <a:solidFill>
                  <a:srgbClr val="FFFFFF"/>
                </a:solidFill>
                <a:latin typeface="Calibri (MS)"/>
                <a:ea typeface="Calibri (MS)"/>
                <a:cs typeface="Calibri (MS)"/>
                <a:sym typeface="Calibri (MS)"/>
              </a:rPr>
              <a:t>Wikipedia – Colaboradores. (s.f.). Algoritmo. Recuperado de https://es.wikipedia.org/wiki/Algoritmo</a:t>
            </a:r>
          </a:p>
        </p:txBody>
      </p:sp>
      <p:grpSp>
        <p:nvGrpSpPr>
          <p:cNvPr id="49" name="Group 49"/>
          <p:cNvGrpSpPr/>
          <p:nvPr/>
        </p:nvGrpSpPr>
        <p:grpSpPr>
          <a:xfrm>
            <a:off x="1188720" y="7662805"/>
            <a:ext cx="7315200" cy="457200"/>
            <a:chOff x="0" y="0"/>
            <a:chExt cx="9753600" cy="609600"/>
          </a:xfrm>
        </p:grpSpPr>
        <p:sp>
          <p:nvSpPr>
            <p:cNvPr id="50" name="Freeform 50"/>
            <p:cNvSpPr/>
            <p:nvPr/>
          </p:nvSpPr>
          <p:spPr>
            <a:xfrm>
              <a:off x="0" y="0"/>
              <a:ext cx="9753600" cy="609600"/>
            </a:xfrm>
            <a:custGeom>
              <a:avLst/>
              <a:gdLst/>
              <a:ahLst/>
              <a:cxnLst/>
              <a:rect l="l" t="t" r="r" b="b"/>
              <a:pathLst>
                <a:path w="9753600" h="609600">
                  <a:moveTo>
                    <a:pt x="0" y="0"/>
                  </a:moveTo>
                  <a:lnTo>
                    <a:pt x="9753600" y="0"/>
                  </a:lnTo>
                  <a:lnTo>
                    <a:pt x="9753600" y="609600"/>
                  </a:lnTo>
                  <a:lnTo>
                    <a:pt x="0" y="609600"/>
                  </a:lnTo>
                  <a:close/>
                </a:path>
              </a:pathLst>
            </a:custGeom>
            <a:blipFill>
              <a:blip r:embed="rId3">
                <a:alphaModFix amt="0"/>
              </a:blip>
              <a:stretch>
                <a:fillRect t="-261760" b="-261760"/>
              </a:stretch>
            </a:blipFill>
          </p:spPr>
          <p:txBody>
            <a:bodyPr/>
            <a:lstStyle/>
            <a:p>
              <a:endParaRPr lang="es-GT"/>
            </a:p>
          </p:txBody>
        </p:sp>
        <p:sp>
          <p:nvSpPr>
            <p:cNvPr id="51" name="TextBox 51"/>
            <p:cNvSpPr txBox="1"/>
            <p:nvPr/>
          </p:nvSpPr>
          <p:spPr>
            <a:xfrm>
              <a:off x="0" y="-38100"/>
              <a:ext cx="9753600" cy="647700"/>
            </a:xfrm>
            <a:prstGeom prst="rect">
              <a:avLst/>
            </a:prstGeom>
          </p:spPr>
          <p:txBody>
            <a:bodyPr lIns="0" tIns="0" rIns="0" bIns="0" rtlCol="0" anchor="ctr"/>
            <a:lstStyle/>
            <a:p>
              <a:pPr algn="l">
                <a:lnSpc>
                  <a:spcPts val="2280"/>
                </a:lnSpc>
              </a:pPr>
              <a:r>
                <a:rPr lang="en-US" sz="1900" b="1">
                  <a:solidFill>
                    <a:srgbClr val="5B8CFF"/>
                  </a:solidFill>
                  <a:latin typeface="Calibri (MS) Bold"/>
                  <a:ea typeface="Calibri (MS) Bold"/>
                  <a:cs typeface="Calibri (MS) Bold"/>
                  <a:sym typeface="Calibri (MS) Bold"/>
                </a:rPr>
                <a:t>Wikipedia – Colaboradores. (s.f.).</a:t>
              </a:r>
            </a:p>
          </p:txBody>
        </p:sp>
      </p:grpSp>
      <p:grpSp>
        <p:nvGrpSpPr>
          <p:cNvPr id="52" name="Group 52"/>
          <p:cNvGrpSpPr/>
          <p:nvPr/>
        </p:nvGrpSpPr>
        <p:grpSpPr>
          <a:xfrm>
            <a:off x="718823" y="8308343"/>
            <a:ext cx="16850363" cy="1159259"/>
            <a:chOff x="0" y="0"/>
            <a:chExt cx="22467151" cy="1545679"/>
          </a:xfrm>
        </p:grpSpPr>
        <p:sp>
          <p:nvSpPr>
            <p:cNvPr id="53" name="Freeform 53"/>
            <p:cNvSpPr/>
            <p:nvPr/>
          </p:nvSpPr>
          <p:spPr>
            <a:xfrm>
              <a:off x="16891" y="16891"/>
              <a:ext cx="22433280" cy="1511808"/>
            </a:xfrm>
            <a:custGeom>
              <a:avLst/>
              <a:gdLst/>
              <a:ahLst/>
              <a:cxnLst/>
              <a:rect l="l" t="t" r="r" b="b"/>
              <a:pathLst>
                <a:path w="22433280" h="1511808">
                  <a:moveTo>
                    <a:pt x="0" y="0"/>
                  </a:moveTo>
                  <a:lnTo>
                    <a:pt x="22433280" y="0"/>
                  </a:lnTo>
                  <a:lnTo>
                    <a:pt x="22433280" y="1511808"/>
                  </a:lnTo>
                  <a:lnTo>
                    <a:pt x="0" y="1511808"/>
                  </a:lnTo>
                  <a:close/>
                </a:path>
              </a:pathLst>
            </a:custGeom>
            <a:solidFill>
              <a:srgbClr val="252B42"/>
            </a:solidFill>
          </p:spPr>
          <p:txBody>
            <a:bodyPr/>
            <a:lstStyle/>
            <a:p>
              <a:endParaRPr lang="es-GT"/>
            </a:p>
          </p:txBody>
        </p:sp>
        <p:sp>
          <p:nvSpPr>
            <p:cNvPr id="54" name="Freeform 54"/>
            <p:cNvSpPr/>
            <p:nvPr/>
          </p:nvSpPr>
          <p:spPr>
            <a:xfrm>
              <a:off x="0" y="0"/>
              <a:ext cx="22467063" cy="1545590"/>
            </a:xfrm>
            <a:custGeom>
              <a:avLst/>
              <a:gdLst/>
              <a:ahLst/>
              <a:cxnLst/>
              <a:rect l="l" t="t" r="r" b="b"/>
              <a:pathLst>
                <a:path w="22467063" h="1545590">
                  <a:moveTo>
                    <a:pt x="16891" y="0"/>
                  </a:moveTo>
                  <a:lnTo>
                    <a:pt x="22450171" y="0"/>
                  </a:lnTo>
                  <a:cubicBezTo>
                    <a:pt x="22459569" y="0"/>
                    <a:pt x="22467063" y="7620"/>
                    <a:pt x="22467063" y="16891"/>
                  </a:cubicBezTo>
                  <a:lnTo>
                    <a:pt x="22467063" y="1528699"/>
                  </a:lnTo>
                  <a:cubicBezTo>
                    <a:pt x="22467063" y="1538097"/>
                    <a:pt x="22459443" y="1545590"/>
                    <a:pt x="2245017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22450171" y="1511808"/>
                  </a:lnTo>
                  <a:lnTo>
                    <a:pt x="22450171" y="1528699"/>
                  </a:lnTo>
                  <a:lnTo>
                    <a:pt x="22433280" y="1528699"/>
                  </a:lnTo>
                  <a:lnTo>
                    <a:pt x="22433280" y="16891"/>
                  </a:lnTo>
                  <a:lnTo>
                    <a:pt x="22450171" y="16891"/>
                  </a:lnTo>
                  <a:lnTo>
                    <a:pt x="22450171" y="33909"/>
                  </a:lnTo>
                  <a:lnTo>
                    <a:pt x="16891" y="33909"/>
                  </a:lnTo>
                  <a:close/>
                </a:path>
              </a:pathLst>
            </a:custGeom>
            <a:solidFill>
              <a:srgbClr val="3A4160"/>
            </a:solidFill>
          </p:spPr>
          <p:txBody>
            <a:bodyPr/>
            <a:lstStyle/>
            <a:p>
              <a:endParaRPr lang="es-GT"/>
            </a:p>
          </p:txBody>
        </p:sp>
      </p:grpSp>
      <p:sp>
        <p:nvSpPr>
          <p:cNvPr id="55" name="TextBox 55"/>
          <p:cNvSpPr txBox="1"/>
          <p:nvPr/>
        </p:nvSpPr>
        <p:spPr>
          <a:xfrm>
            <a:off x="1188720" y="8474964"/>
            <a:ext cx="15910560" cy="824484"/>
          </a:xfrm>
          <a:prstGeom prst="rect">
            <a:avLst/>
          </a:prstGeom>
        </p:spPr>
        <p:txBody>
          <a:bodyPr lIns="0" tIns="0" rIns="0" bIns="0" rtlCol="0" anchor="t">
            <a:spAutoFit/>
          </a:bodyPr>
          <a:lstStyle/>
          <a:p>
            <a:pPr algn="l">
              <a:lnSpc>
                <a:spcPts val="2280"/>
              </a:lnSpc>
            </a:pPr>
            <a:r>
              <a:rPr lang="en-US" sz="1900">
                <a:solidFill>
                  <a:srgbClr val="FFFFFF"/>
                </a:solidFill>
                <a:latin typeface="Calibri (MS)"/>
                <a:ea typeface="Calibri (MS)"/>
                <a:cs typeface="Calibri (MS)"/>
                <a:sym typeface="Calibri (MS)"/>
              </a:rPr>
              <a:t>CS Unplugged. (s.f.). Pensamiento computacional. Recuperado de https://csunplugged.org/es/topics/computational-thinking/</a:t>
            </a:r>
          </a:p>
        </p:txBody>
      </p:sp>
      <p:grpSp>
        <p:nvGrpSpPr>
          <p:cNvPr id="56" name="Group 56"/>
          <p:cNvGrpSpPr/>
          <p:nvPr/>
        </p:nvGrpSpPr>
        <p:grpSpPr>
          <a:xfrm>
            <a:off x="1188720" y="9070848"/>
            <a:ext cx="7315200" cy="457200"/>
            <a:chOff x="0" y="0"/>
            <a:chExt cx="9753600" cy="609600"/>
          </a:xfrm>
        </p:grpSpPr>
        <p:sp>
          <p:nvSpPr>
            <p:cNvPr id="57" name="Freeform 57"/>
            <p:cNvSpPr/>
            <p:nvPr/>
          </p:nvSpPr>
          <p:spPr>
            <a:xfrm>
              <a:off x="0" y="0"/>
              <a:ext cx="9753600" cy="609600"/>
            </a:xfrm>
            <a:custGeom>
              <a:avLst/>
              <a:gdLst/>
              <a:ahLst/>
              <a:cxnLst/>
              <a:rect l="l" t="t" r="r" b="b"/>
              <a:pathLst>
                <a:path w="9753600" h="609600">
                  <a:moveTo>
                    <a:pt x="0" y="0"/>
                  </a:moveTo>
                  <a:lnTo>
                    <a:pt x="9753600" y="0"/>
                  </a:lnTo>
                  <a:lnTo>
                    <a:pt x="9753600" y="609600"/>
                  </a:lnTo>
                  <a:lnTo>
                    <a:pt x="0" y="609600"/>
                  </a:lnTo>
                  <a:close/>
                </a:path>
              </a:pathLst>
            </a:custGeom>
            <a:blipFill>
              <a:blip r:embed="rId3">
                <a:alphaModFix amt="0"/>
              </a:blip>
              <a:stretch>
                <a:fillRect t="-261760" b="-261760"/>
              </a:stretch>
            </a:blipFill>
          </p:spPr>
          <p:txBody>
            <a:bodyPr/>
            <a:lstStyle/>
            <a:p>
              <a:endParaRPr lang="es-GT"/>
            </a:p>
          </p:txBody>
        </p:sp>
        <p:sp>
          <p:nvSpPr>
            <p:cNvPr id="58" name="TextBox 58"/>
            <p:cNvSpPr txBox="1"/>
            <p:nvPr/>
          </p:nvSpPr>
          <p:spPr>
            <a:xfrm>
              <a:off x="0" y="-38100"/>
              <a:ext cx="9753600" cy="647700"/>
            </a:xfrm>
            <a:prstGeom prst="rect">
              <a:avLst/>
            </a:prstGeom>
          </p:spPr>
          <p:txBody>
            <a:bodyPr lIns="0" tIns="0" rIns="0" bIns="0" rtlCol="0" anchor="ctr"/>
            <a:lstStyle/>
            <a:p>
              <a:pPr algn="l">
                <a:lnSpc>
                  <a:spcPts val="2280"/>
                </a:lnSpc>
              </a:pPr>
              <a:r>
                <a:rPr lang="en-US" sz="1900" b="1">
                  <a:solidFill>
                    <a:srgbClr val="5B8CFF"/>
                  </a:solidFill>
                  <a:latin typeface="Calibri (MS) Bold"/>
                  <a:ea typeface="Calibri (MS) Bold"/>
                  <a:cs typeface="Calibri (MS) Bold"/>
                  <a:sym typeface="Calibri (MS) Bold"/>
                </a:rPr>
                <a:t>CS Unplugged. (s.f.).</a:t>
              </a: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E2235"/>
        </a:solidFill>
        <a:effectLst/>
      </p:bgPr>
    </p:bg>
    <p:spTree>
      <p:nvGrpSpPr>
        <p:cNvPr id="1" name=""/>
        <p:cNvGrpSpPr/>
        <p:nvPr/>
      </p:nvGrpSpPr>
      <p:grpSpPr>
        <a:xfrm>
          <a:off x="0" y="0"/>
          <a:ext cx="0" cy="0"/>
          <a:chOff x="0" y="0"/>
          <a:chExt cx="0" cy="0"/>
        </a:xfrm>
      </p:grpSpPr>
      <p:sp>
        <p:nvSpPr>
          <p:cNvPr id="2" name="Freeform 2"/>
          <p:cNvSpPr/>
          <p:nvPr/>
        </p:nvSpPr>
        <p:spPr>
          <a:xfrm>
            <a:off x="8094951" y="1664842"/>
            <a:ext cx="2098097" cy="2831413"/>
          </a:xfrm>
          <a:custGeom>
            <a:avLst/>
            <a:gdLst/>
            <a:ahLst/>
            <a:cxnLst/>
            <a:rect l="l" t="t" r="r" b="b"/>
            <a:pathLst>
              <a:path w="2098097" h="2831413">
                <a:moveTo>
                  <a:pt x="0" y="0"/>
                </a:moveTo>
                <a:lnTo>
                  <a:pt x="2098098" y="0"/>
                </a:lnTo>
                <a:lnTo>
                  <a:pt x="2098098" y="2831412"/>
                </a:lnTo>
                <a:lnTo>
                  <a:pt x="0" y="2831412"/>
                </a:lnTo>
                <a:lnTo>
                  <a:pt x="0" y="0"/>
                </a:lnTo>
                <a:close/>
              </a:path>
            </a:pathLst>
          </a:custGeom>
          <a:blipFill>
            <a:blip r:embed="rId2"/>
            <a:stretch>
              <a:fillRect/>
            </a:stretch>
          </a:blipFill>
        </p:spPr>
        <p:txBody>
          <a:bodyPr/>
          <a:lstStyle/>
          <a:p>
            <a:endParaRPr lang="es-GT"/>
          </a:p>
        </p:txBody>
      </p:sp>
      <p:sp>
        <p:nvSpPr>
          <p:cNvPr id="3" name="TextBox 3"/>
          <p:cNvSpPr txBox="1"/>
          <p:nvPr/>
        </p:nvSpPr>
        <p:spPr>
          <a:xfrm>
            <a:off x="3689524" y="5010150"/>
            <a:ext cx="10908953" cy="1226820"/>
          </a:xfrm>
          <a:prstGeom prst="rect">
            <a:avLst/>
          </a:prstGeom>
        </p:spPr>
        <p:txBody>
          <a:bodyPr lIns="0" tIns="0" rIns="0" bIns="0" rtlCol="0" anchor="t">
            <a:spAutoFit/>
          </a:bodyPr>
          <a:lstStyle/>
          <a:p>
            <a:pPr algn="ctr">
              <a:lnSpc>
                <a:spcPts val="10080"/>
              </a:lnSpc>
              <a:spcBef>
                <a:spcPct val="0"/>
              </a:spcBef>
            </a:pPr>
            <a:r>
              <a:rPr lang="en-US" sz="7200">
                <a:solidFill>
                  <a:srgbClr val="FFFFFF"/>
                </a:solidFill>
                <a:latin typeface="Canva Sans"/>
                <a:ea typeface="Canva Sans"/>
                <a:cs typeface="Canva Sans"/>
                <a:sym typeface="Canva Sans"/>
              </a:rPr>
              <a:t>¡Gracias por su atención!</a:t>
            </a:r>
          </a:p>
        </p:txBody>
      </p:sp>
      <p:sp>
        <p:nvSpPr>
          <p:cNvPr id="4" name="TextBox 4"/>
          <p:cNvSpPr txBox="1"/>
          <p:nvPr/>
        </p:nvSpPr>
        <p:spPr>
          <a:xfrm>
            <a:off x="1169667" y="7004386"/>
            <a:ext cx="15948666" cy="1251585"/>
          </a:xfrm>
          <a:prstGeom prst="rect">
            <a:avLst/>
          </a:prstGeom>
        </p:spPr>
        <p:txBody>
          <a:bodyPr lIns="0" tIns="0" rIns="0" bIns="0" rtlCol="0" anchor="t">
            <a:spAutoFit/>
          </a:bodyPr>
          <a:lstStyle/>
          <a:p>
            <a:pPr algn="ctr">
              <a:lnSpc>
                <a:spcPts val="5040"/>
              </a:lnSpc>
              <a:spcBef>
                <a:spcPct val="0"/>
              </a:spcBef>
            </a:pPr>
            <a:r>
              <a:rPr lang="en-US" sz="3600">
                <a:solidFill>
                  <a:srgbClr val="FFFFFF"/>
                </a:solidFill>
                <a:latin typeface="Canva Sans"/>
                <a:ea typeface="Canva Sans"/>
                <a:cs typeface="Canva Sans"/>
                <a:sym typeface="Canva Sans"/>
              </a:rPr>
              <a:t>RECUERDA QUE TENEMOS NUESTRO FORO SEMANAL DONDE PUEDES CONSULTAR CUALQUIER DUDA QUE TE SURJA EN LA SEMANA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4633</Words>
  <Application>Microsoft Office PowerPoint</Application>
  <PresentationFormat>Personalizado</PresentationFormat>
  <Paragraphs>706</Paragraphs>
  <Slides>31</Slides>
  <Notes>25</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31</vt:i4>
      </vt:variant>
    </vt:vector>
  </HeadingPairs>
  <TitlesOfParts>
    <vt:vector size="41" baseType="lpstr">
      <vt:lpstr>Open Sans Bold</vt:lpstr>
      <vt:lpstr>Calibri</vt:lpstr>
      <vt:lpstr>Canva Sans</vt:lpstr>
      <vt:lpstr>Open Sans</vt:lpstr>
      <vt:lpstr>Calibri (MS)</vt:lpstr>
      <vt:lpstr>Arial</vt:lpstr>
      <vt:lpstr>Calibri (MS) Bold</vt:lpstr>
      <vt:lpstr>Consolas</vt:lpstr>
      <vt:lpstr>Consolas Bold</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Semana7_Algoritmos_v2  -  Reparado.pptx</dc:title>
  <cp:lastModifiedBy>Fernando Guzman</cp:lastModifiedBy>
  <cp:revision>2</cp:revision>
  <dcterms:created xsi:type="dcterms:W3CDTF">2006-08-16T00:00:00Z</dcterms:created>
  <dcterms:modified xsi:type="dcterms:W3CDTF">2026-05-08T06:00:13Z</dcterms:modified>
  <dc:identifier>DAHEjNSR_s8</dc:identifier>
</cp:coreProperties>
</file>