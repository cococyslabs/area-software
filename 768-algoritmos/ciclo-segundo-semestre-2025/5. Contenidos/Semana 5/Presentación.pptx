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8288000" cy="10287000"/>
  <p:notesSz cx="6858000" cy="9144000"/>
  <p:embeddedFontLst>
    <p:embeddedFont>
      <p:font typeface="Calibri (MS)" panose="020B0604020202020204" charset="0"/>
      <p:regular r:id="rId38"/>
    </p:embeddedFont>
    <p:embeddedFont>
      <p:font typeface="Impact" panose="020B0806030902050204" pitchFamily="34" charset="0"/>
      <p:regular r:id="rId39"/>
    </p:embeddedFont>
    <p:embeddedFont>
      <p:font typeface="Open Sans" panose="020B0606030504020204" pitchFamily="34" charset="0"/>
      <p:regular r:id="rId40"/>
    </p:embeddedFont>
    <p:embeddedFont>
      <p:font typeface="Open Sans Bold" panose="020B0806030504020204" charset="0"/>
      <p:regular r:id="rId41"/>
    </p:embeddedFont>
    <p:embeddedFont>
      <p:font typeface="Roboto" panose="02000000000000000000" pitchFamily="2" charset="0"/>
      <p:regular r:id="rId42"/>
    </p:embeddedFont>
    <p:embeddedFont>
      <p:font typeface="Roboto Bold" panose="020B0604020202020204" charset="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8" d="100"/>
          <a:sy n="58" d="100"/>
        </p:scale>
        <p:origin x="51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pSCpcFegSVA&amp;list=PLNgaBT67nukSaEQL8JNksizGqOIYnanPT&amp;index=4"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aws.amazon.com/es/getting-started/cloud-essentials/"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hyperlink" Target="https://www.ionos.es/digitalguide/servidores/know-how/ascii-american-standard-code-for-information-interchange/" TargetMode="External"/><Relationship Id="rId4" Type="http://schemas.openxmlformats.org/officeDocument/2006/relationships/hyperlink" Target="https://www.oposicionesguardiacivilweb.com/wp-content/uploads/2019/04/TEMA-24-INFORMATICA-TEOR%C3%8DA-C%C3%93DIGO-BINARIO.pdf"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s-GT"/>
            </a:p>
          </p:txBody>
        </p:sp>
      </p:grpSp>
      <p:sp>
        <p:nvSpPr>
          <p:cNvPr id="4" name="TextBox 4"/>
          <p:cNvSpPr txBox="1"/>
          <p:nvPr/>
        </p:nvSpPr>
        <p:spPr>
          <a:xfrm>
            <a:off x="13705650" y="1894770"/>
            <a:ext cx="4232152" cy="697615"/>
          </a:xfrm>
          <a:prstGeom prst="rect">
            <a:avLst/>
          </a:prstGeom>
        </p:spPr>
        <p:txBody>
          <a:bodyPr lIns="0" tIns="0" rIns="0" bIns="0" rtlCol="0" anchor="t">
            <a:spAutoFit/>
          </a:bodyPr>
          <a:lstStyle/>
          <a:p>
            <a:pPr algn="ctr">
              <a:lnSpc>
                <a:spcPts val="5710"/>
              </a:lnSpc>
            </a:pPr>
            <a:r>
              <a:rPr lang="en-US" sz="3399">
                <a:solidFill>
                  <a:srgbClr val="000000"/>
                </a:solidFill>
                <a:latin typeface="Arial"/>
                <a:ea typeface="Arial"/>
                <a:cs typeface="Arial"/>
                <a:sym typeface="Arial"/>
              </a:rPr>
              <a:t>Sábado - xx/0x/2026</a:t>
            </a:r>
          </a:p>
        </p:txBody>
      </p:sp>
      <p:sp>
        <p:nvSpPr>
          <p:cNvPr id="5" name="TextBox 5"/>
          <p:cNvSpPr txBox="1"/>
          <p:nvPr/>
        </p:nvSpPr>
        <p:spPr>
          <a:xfrm>
            <a:off x="14444015" y="2647007"/>
            <a:ext cx="2866130" cy="697615"/>
          </a:xfrm>
          <a:prstGeom prst="rect">
            <a:avLst/>
          </a:prstGeom>
        </p:spPr>
        <p:txBody>
          <a:bodyPr lIns="0" tIns="0" rIns="0" bIns="0" rtlCol="0" anchor="t">
            <a:spAutoFit/>
          </a:bodyPr>
          <a:lstStyle/>
          <a:p>
            <a:pPr algn="ctr">
              <a:lnSpc>
                <a:spcPts val="5710"/>
              </a:lnSpc>
            </a:pPr>
            <a:r>
              <a:rPr lang="en-US" sz="3399">
                <a:solidFill>
                  <a:srgbClr val="000000"/>
                </a:solidFill>
                <a:latin typeface="Arial"/>
                <a:ea typeface="Arial"/>
                <a:cs typeface="Arial"/>
                <a:sym typeface="Arial"/>
              </a:rPr>
              <a:t>10:30 horas</a:t>
            </a:r>
          </a:p>
        </p:txBody>
      </p:sp>
      <p:sp>
        <p:nvSpPr>
          <p:cNvPr id="6" name="TextBox 6"/>
          <p:cNvSpPr txBox="1"/>
          <p:nvPr/>
        </p:nvSpPr>
        <p:spPr>
          <a:xfrm>
            <a:off x="1134439" y="4933950"/>
            <a:ext cx="16019122" cy="936119"/>
          </a:xfrm>
          <a:prstGeom prst="rect">
            <a:avLst/>
          </a:prstGeom>
        </p:spPr>
        <p:txBody>
          <a:bodyPr lIns="0" tIns="0" rIns="0" bIns="0" rtlCol="0" anchor="t">
            <a:spAutoFit/>
          </a:bodyPr>
          <a:lstStyle/>
          <a:p>
            <a:pPr algn="ctr">
              <a:lnSpc>
                <a:spcPts val="8062"/>
              </a:lnSpc>
            </a:pPr>
            <a:r>
              <a:rPr lang="en-US" sz="4798" b="1">
                <a:solidFill>
                  <a:srgbClr val="393E46"/>
                </a:solidFill>
                <a:latin typeface="Open Sans Bold"/>
                <a:ea typeface="Open Sans Bold"/>
                <a:cs typeface="Open Sans Bold"/>
                <a:sym typeface="Open Sans Bold"/>
              </a:rPr>
              <a:t>Introducción a los Algoritmos y Flujos de Datos Sec X</a:t>
            </a:r>
          </a:p>
        </p:txBody>
      </p:sp>
      <p:sp>
        <p:nvSpPr>
          <p:cNvPr id="7" name="TextBox 7"/>
          <p:cNvSpPr txBox="1"/>
          <p:nvPr/>
        </p:nvSpPr>
        <p:spPr>
          <a:xfrm>
            <a:off x="6595649" y="5778986"/>
            <a:ext cx="5096701" cy="776816"/>
          </a:xfrm>
          <a:prstGeom prst="rect">
            <a:avLst/>
          </a:prstGeom>
        </p:spPr>
        <p:txBody>
          <a:bodyPr lIns="0" tIns="0" rIns="0" bIns="0" rtlCol="0" anchor="t">
            <a:spAutoFit/>
          </a:bodyPr>
          <a:lstStyle/>
          <a:p>
            <a:pPr algn="ctr">
              <a:lnSpc>
                <a:spcPts val="6718"/>
              </a:lnSpc>
            </a:pPr>
            <a:r>
              <a:rPr lang="en-US" sz="3999" dirty="0">
                <a:solidFill>
                  <a:srgbClr val="000000"/>
                </a:solidFill>
                <a:latin typeface="Open Sans"/>
                <a:ea typeface="Open Sans"/>
                <a:cs typeface="Open Sans"/>
                <a:sym typeface="Open Sans"/>
              </a:rPr>
              <a:t>Nombre </a:t>
            </a:r>
            <a:r>
              <a:rPr lang="en-US" sz="3999">
                <a:solidFill>
                  <a:srgbClr val="000000"/>
                </a:solidFill>
                <a:latin typeface="Open Sans"/>
                <a:ea typeface="Open Sans"/>
                <a:cs typeface="Open Sans"/>
                <a:sym typeface="Open Sans"/>
              </a:rPr>
              <a:t>del tutor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05045" y="2954074"/>
            <a:ext cx="8277901" cy="2975029"/>
          </a:xfrm>
          <a:prstGeom prst="rect">
            <a:avLst/>
          </a:prstGeom>
        </p:spPr>
        <p:txBody>
          <a:bodyPr lIns="0" tIns="0" rIns="0" bIns="0" rtlCol="0" anchor="t">
            <a:spAutoFit/>
          </a:bodyPr>
          <a:lstStyle/>
          <a:p>
            <a:pPr algn="ctr">
              <a:lnSpc>
                <a:spcPts val="11926"/>
              </a:lnSpc>
            </a:pPr>
            <a:r>
              <a:rPr lang="en-US" sz="7098">
                <a:solidFill>
                  <a:srgbClr val="000000"/>
                </a:solidFill>
                <a:latin typeface="Arial"/>
                <a:ea typeface="Arial"/>
                <a:cs typeface="Arial"/>
                <a:sym typeface="Arial"/>
              </a:rPr>
              <a:t>Codificación de la información</a:t>
            </a:r>
          </a:p>
        </p:txBody>
      </p:sp>
      <p:sp>
        <p:nvSpPr>
          <p:cNvPr id="3" name="TextBox 3"/>
          <p:cNvSpPr txBox="1"/>
          <p:nvPr/>
        </p:nvSpPr>
        <p:spPr>
          <a:xfrm>
            <a:off x="1028700" y="6779362"/>
            <a:ext cx="9764468" cy="761362"/>
          </a:xfrm>
          <a:prstGeom prst="rect">
            <a:avLst/>
          </a:prstGeom>
        </p:spPr>
        <p:txBody>
          <a:bodyPr lIns="0" tIns="0" rIns="0" bIns="0" rtlCol="0" anchor="t">
            <a:spAutoFit/>
          </a:bodyPr>
          <a:lstStyle/>
          <a:p>
            <a:pPr algn="l">
              <a:lnSpc>
                <a:spcPts val="5710"/>
              </a:lnSpc>
            </a:pPr>
            <a:r>
              <a:rPr lang="en-US" sz="3399">
                <a:solidFill>
                  <a:srgbClr val="000000"/>
                </a:solidFill>
                <a:latin typeface="Arial"/>
                <a:ea typeface="Arial"/>
                <a:cs typeface="Arial"/>
                <a:sym typeface="Arial"/>
              </a:rPr>
              <a:t>Introducción a los Algoritmos y Flujos de Datos</a:t>
            </a:r>
          </a:p>
        </p:txBody>
      </p:sp>
      <p:sp>
        <p:nvSpPr>
          <p:cNvPr id="4" name="TextBox 4"/>
          <p:cNvSpPr txBox="1"/>
          <p:nvPr/>
        </p:nvSpPr>
        <p:spPr>
          <a:xfrm>
            <a:off x="1028700" y="7834189"/>
            <a:ext cx="5401123" cy="444503"/>
          </a:xfrm>
          <a:prstGeom prst="rect">
            <a:avLst/>
          </a:prstGeom>
        </p:spPr>
        <p:txBody>
          <a:bodyPr lIns="0" tIns="0" rIns="0" bIns="0" rtlCol="0" anchor="t">
            <a:spAutoFit/>
          </a:bodyPr>
          <a:lstStyle/>
          <a:p>
            <a:pPr algn="l">
              <a:lnSpc>
                <a:spcPts val="3360"/>
              </a:lnSpc>
            </a:pPr>
            <a:r>
              <a:rPr lang="en-US" sz="2000">
                <a:solidFill>
                  <a:srgbClr val="000000"/>
                </a:solidFill>
                <a:latin typeface="Arial"/>
                <a:ea typeface="Arial"/>
                <a:cs typeface="Arial"/>
                <a:sym typeface="Arial"/>
              </a:rPr>
              <a:t>Escuela de Ingeniería de Ciencias y Sistemas</a:t>
            </a:r>
          </a:p>
        </p:txBody>
      </p:sp>
      <p:sp>
        <p:nvSpPr>
          <p:cNvPr id="5" name="TextBox 5"/>
          <p:cNvSpPr txBox="1"/>
          <p:nvPr/>
        </p:nvSpPr>
        <p:spPr>
          <a:xfrm>
            <a:off x="1028700" y="8326317"/>
            <a:ext cx="2755849" cy="444503"/>
          </a:xfrm>
          <a:prstGeom prst="rect">
            <a:avLst/>
          </a:prstGeom>
        </p:spPr>
        <p:txBody>
          <a:bodyPr lIns="0" tIns="0" rIns="0" bIns="0" rtlCol="0" anchor="t">
            <a:spAutoFit/>
          </a:bodyPr>
          <a:lstStyle/>
          <a:p>
            <a:pPr algn="l">
              <a:lnSpc>
                <a:spcPts val="3360"/>
              </a:lnSpc>
            </a:pPr>
            <a:r>
              <a:rPr lang="en-US" sz="2000">
                <a:solidFill>
                  <a:srgbClr val="000000"/>
                </a:solidFill>
                <a:latin typeface="Arial"/>
                <a:ea typeface="Arial"/>
                <a:cs typeface="Arial"/>
                <a:sym typeface="Arial"/>
              </a:rPr>
              <a:t>Facultad de Ingeniería </a:t>
            </a:r>
          </a:p>
        </p:txBody>
      </p:sp>
      <p:sp>
        <p:nvSpPr>
          <p:cNvPr id="6" name="TextBox 6"/>
          <p:cNvSpPr txBox="1"/>
          <p:nvPr/>
        </p:nvSpPr>
        <p:spPr>
          <a:xfrm>
            <a:off x="1028700" y="8813797"/>
            <a:ext cx="4956724" cy="444503"/>
          </a:xfrm>
          <a:prstGeom prst="rect">
            <a:avLst/>
          </a:prstGeom>
        </p:spPr>
        <p:txBody>
          <a:bodyPr lIns="0" tIns="0" rIns="0" bIns="0" rtlCol="0" anchor="t">
            <a:spAutoFit/>
          </a:bodyPr>
          <a:lstStyle/>
          <a:p>
            <a:pPr algn="l">
              <a:lnSpc>
                <a:spcPts val="3360"/>
              </a:lnSpc>
            </a:pPr>
            <a:r>
              <a:rPr lang="en-US" sz="2000">
                <a:solidFill>
                  <a:srgbClr val="000000"/>
                </a:solidFill>
                <a:latin typeface="Arial"/>
                <a:ea typeface="Arial"/>
                <a:cs typeface="Arial"/>
                <a:sym typeface="Arial"/>
              </a:rPr>
              <a:t>Universidad de San Carlos de Guatemala</a:t>
            </a:r>
          </a:p>
        </p:txBody>
      </p:sp>
      <p:grpSp>
        <p:nvGrpSpPr>
          <p:cNvPr id="7" name="Group 7"/>
          <p:cNvGrpSpPr/>
          <p:nvPr/>
        </p:nvGrpSpPr>
        <p:grpSpPr>
          <a:xfrm>
            <a:off x="6229882" y="714213"/>
            <a:ext cx="11029418" cy="1576035"/>
            <a:chOff x="0" y="0"/>
            <a:chExt cx="14705891" cy="2101380"/>
          </a:xfrm>
        </p:grpSpPr>
        <p:sp>
          <p:nvSpPr>
            <p:cNvPr id="8" name="Freeform 8"/>
            <p:cNvSpPr/>
            <p:nvPr/>
          </p:nvSpPr>
          <p:spPr>
            <a:xfrm>
              <a:off x="0" y="0"/>
              <a:ext cx="14705665" cy="2101342"/>
            </a:xfrm>
            <a:custGeom>
              <a:avLst/>
              <a:gdLst/>
              <a:ahLst/>
              <a:cxnLst/>
              <a:rect l="l" t="t" r="r" b="b"/>
              <a:pathLst>
                <a:path w="14705665" h="2101342">
                  <a:moveTo>
                    <a:pt x="0" y="0"/>
                  </a:moveTo>
                  <a:lnTo>
                    <a:pt x="14705665" y="0"/>
                  </a:lnTo>
                  <a:lnTo>
                    <a:pt x="14705665" y="2101342"/>
                  </a:lnTo>
                  <a:lnTo>
                    <a:pt x="0" y="2101342"/>
                  </a:lnTo>
                  <a:lnTo>
                    <a:pt x="0" y="0"/>
                  </a:lnTo>
                  <a:close/>
                </a:path>
              </a:pathLst>
            </a:custGeom>
            <a:blipFill>
              <a:blip r:embed="rId3"/>
              <a:stretch>
                <a:fillRect l="-82" r="-83" b="-1"/>
              </a:stretch>
            </a:blipFill>
          </p:spPr>
          <p:txBody>
            <a:bodyPr/>
            <a:lstStyle/>
            <a:p>
              <a:endParaRPr lang="es-GT"/>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08660"/>
            <a:ext cx="2566387" cy="1257938"/>
          </a:xfrm>
          <a:prstGeom prst="rect">
            <a:avLst/>
          </a:prstGeom>
        </p:spPr>
        <p:txBody>
          <a:bodyPr lIns="0" tIns="0" rIns="0" bIns="0" rtlCol="0" anchor="t">
            <a:spAutoFit/>
          </a:bodyPr>
          <a:lstStyle/>
          <a:p>
            <a:pPr algn="l">
              <a:lnSpc>
                <a:spcPts val="9407"/>
              </a:lnSpc>
            </a:pPr>
            <a:r>
              <a:rPr lang="en-US" sz="5599">
                <a:solidFill>
                  <a:srgbClr val="000000"/>
                </a:solidFill>
                <a:latin typeface="Arial"/>
                <a:ea typeface="Arial"/>
                <a:cs typeface="Arial"/>
                <a:sym typeface="Arial"/>
              </a:rPr>
              <a:t>Agenda</a:t>
            </a:r>
          </a:p>
        </p:txBody>
      </p:sp>
      <p:sp>
        <p:nvSpPr>
          <p:cNvPr id="3" name="TextBox 3"/>
          <p:cNvSpPr txBox="1"/>
          <p:nvPr/>
        </p:nvSpPr>
        <p:spPr>
          <a:xfrm>
            <a:off x="14117241" y="708660"/>
            <a:ext cx="3142059" cy="1257938"/>
          </a:xfrm>
          <a:prstGeom prst="rect">
            <a:avLst/>
          </a:prstGeom>
        </p:spPr>
        <p:txBody>
          <a:bodyPr lIns="0" tIns="0" rIns="0" bIns="0" rtlCol="0" anchor="t">
            <a:spAutoFit/>
          </a:bodyPr>
          <a:lstStyle/>
          <a:p>
            <a:pPr algn="r">
              <a:lnSpc>
                <a:spcPts val="9407"/>
              </a:lnSpc>
            </a:pPr>
            <a:r>
              <a:rPr lang="en-US" sz="5599">
                <a:solidFill>
                  <a:srgbClr val="000000"/>
                </a:solidFill>
                <a:latin typeface="Arial"/>
                <a:ea typeface="Arial"/>
                <a:cs typeface="Arial"/>
                <a:sym typeface="Arial"/>
              </a:rPr>
              <a:t>Recursos</a:t>
            </a:r>
          </a:p>
        </p:txBody>
      </p:sp>
      <p:sp>
        <p:nvSpPr>
          <p:cNvPr id="4" name="TextBox 4"/>
          <p:cNvSpPr txBox="1"/>
          <p:nvPr/>
        </p:nvSpPr>
        <p:spPr>
          <a:xfrm>
            <a:off x="2311898" y="5066214"/>
            <a:ext cx="6832102" cy="697615"/>
          </a:xfrm>
          <a:prstGeom prst="rect">
            <a:avLst/>
          </a:prstGeom>
        </p:spPr>
        <p:txBody>
          <a:bodyPr lIns="0" tIns="0" rIns="0" bIns="0" rtlCol="0" anchor="t">
            <a:spAutoFit/>
          </a:bodyPr>
          <a:lstStyle/>
          <a:p>
            <a:pPr algn="l">
              <a:lnSpc>
                <a:spcPts val="5710"/>
              </a:lnSpc>
            </a:pPr>
            <a:r>
              <a:rPr lang="en-US" sz="3399">
                <a:solidFill>
                  <a:srgbClr val="000000"/>
                </a:solidFill>
                <a:latin typeface="Arial"/>
                <a:ea typeface="Arial"/>
                <a:cs typeface="Arial"/>
                <a:sym typeface="Arial"/>
              </a:rPr>
              <a:t>Conceptos básicos sobre la nube</a:t>
            </a:r>
          </a:p>
        </p:txBody>
      </p:sp>
      <p:sp>
        <p:nvSpPr>
          <p:cNvPr id="5" name="TextBox 5"/>
          <p:cNvSpPr txBox="1"/>
          <p:nvPr/>
        </p:nvSpPr>
        <p:spPr>
          <a:xfrm>
            <a:off x="2311898" y="6208328"/>
            <a:ext cx="6636447" cy="697615"/>
          </a:xfrm>
          <a:prstGeom prst="rect">
            <a:avLst/>
          </a:prstGeom>
        </p:spPr>
        <p:txBody>
          <a:bodyPr lIns="0" tIns="0" rIns="0" bIns="0" rtlCol="0" anchor="t">
            <a:spAutoFit/>
          </a:bodyPr>
          <a:lstStyle/>
          <a:p>
            <a:pPr algn="l">
              <a:lnSpc>
                <a:spcPts val="5710"/>
              </a:lnSpc>
            </a:pPr>
            <a:r>
              <a:rPr lang="en-US" sz="3399">
                <a:solidFill>
                  <a:srgbClr val="000000"/>
                </a:solidFill>
                <a:latin typeface="Arial"/>
                <a:ea typeface="Arial"/>
                <a:cs typeface="Arial"/>
                <a:sym typeface="Arial"/>
              </a:rPr>
              <a:t>Sistemas de numeración</a:t>
            </a:r>
          </a:p>
        </p:txBody>
      </p:sp>
      <p:sp>
        <p:nvSpPr>
          <p:cNvPr id="6" name="TextBox 6"/>
          <p:cNvSpPr txBox="1"/>
          <p:nvPr/>
        </p:nvSpPr>
        <p:spPr>
          <a:xfrm>
            <a:off x="2311898" y="7348509"/>
            <a:ext cx="6636447" cy="697615"/>
          </a:xfrm>
          <a:prstGeom prst="rect">
            <a:avLst/>
          </a:prstGeom>
        </p:spPr>
        <p:txBody>
          <a:bodyPr lIns="0" tIns="0" rIns="0" bIns="0" rtlCol="0" anchor="t">
            <a:spAutoFit/>
          </a:bodyPr>
          <a:lstStyle/>
          <a:p>
            <a:pPr algn="l">
              <a:lnSpc>
                <a:spcPts val="5710"/>
              </a:lnSpc>
            </a:pPr>
            <a:r>
              <a:rPr lang="en-US" sz="3399">
                <a:solidFill>
                  <a:srgbClr val="000000"/>
                </a:solidFill>
                <a:latin typeface="Arial"/>
                <a:ea typeface="Arial"/>
                <a:cs typeface="Arial"/>
                <a:sym typeface="Arial"/>
              </a:rPr>
              <a:t>Codificación de la información</a:t>
            </a:r>
          </a:p>
        </p:txBody>
      </p:sp>
      <p:sp>
        <p:nvSpPr>
          <p:cNvPr id="7" name="TextBox 7"/>
          <p:cNvSpPr txBox="1"/>
          <p:nvPr/>
        </p:nvSpPr>
        <p:spPr>
          <a:xfrm>
            <a:off x="2311898" y="8488699"/>
            <a:ext cx="6832102" cy="697615"/>
          </a:xfrm>
          <a:prstGeom prst="rect">
            <a:avLst/>
          </a:prstGeom>
        </p:spPr>
        <p:txBody>
          <a:bodyPr lIns="0" tIns="0" rIns="0" bIns="0" rtlCol="0" anchor="t">
            <a:spAutoFit/>
          </a:bodyPr>
          <a:lstStyle/>
          <a:p>
            <a:pPr algn="l">
              <a:lnSpc>
                <a:spcPts val="5710"/>
              </a:lnSpc>
            </a:pPr>
            <a:r>
              <a:rPr lang="en-US" sz="3399">
                <a:solidFill>
                  <a:srgbClr val="000000"/>
                </a:solidFill>
                <a:latin typeface="Arial"/>
                <a:ea typeface="Arial"/>
                <a:cs typeface="Arial"/>
                <a:sym typeface="Arial"/>
              </a:rPr>
              <a:t>Asignación Proyecto 1</a:t>
            </a:r>
          </a:p>
        </p:txBody>
      </p:sp>
      <p:sp>
        <p:nvSpPr>
          <p:cNvPr id="8" name="TextBox 8"/>
          <p:cNvSpPr txBox="1"/>
          <p:nvPr/>
        </p:nvSpPr>
        <p:spPr>
          <a:xfrm>
            <a:off x="14624447" y="4083834"/>
            <a:ext cx="2193131" cy="697615"/>
          </a:xfrm>
          <a:prstGeom prst="rect">
            <a:avLst/>
          </a:prstGeom>
        </p:spPr>
        <p:txBody>
          <a:bodyPr lIns="0" tIns="0" rIns="0" bIns="0" rtlCol="0" anchor="t">
            <a:spAutoFit/>
          </a:bodyPr>
          <a:lstStyle/>
          <a:p>
            <a:pPr algn="r">
              <a:lnSpc>
                <a:spcPts val="5710"/>
              </a:lnSpc>
            </a:pPr>
            <a:r>
              <a:rPr lang="en-US" sz="3399" u="sng">
                <a:solidFill>
                  <a:srgbClr val="000000"/>
                </a:solidFill>
                <a:latin typeface="Arial"/>
                <a:ea typeface="Arial"/>
                <a:cs typeface="Arial"/>
                <a:sym typeface="Arial"/>
                <a:hlinkClick r:id="rId3" tooltip="https://www.youtube.com/watch?v=pSCpcFegSVA&amp;list=PLNgaBT67nukSaEQL8JNksizGqOIYnanPT&amp;index=4"/>
              </a:rPr>
              <a:t>Vídeo aquí</a:t>
            </a:r>
          </a:p>
        </p:txBody>
      </p:sp>
      <p:sp>
        <p:nvSpPr>
          <p:cNvPr id="9" name="Freeform 9"/>
          <p:cNvSpPr/>
          <p:nvPr/>
        </p:nvSpPr>
        <p:spPr>
          <a:xfrm rot="-2700000">
            <a:off x="1740055" y="2938358"/>
            <a:ext cx="1143682" cy="1158425"/>
          </a:xfrm>
          <a:custGeom>
            <a:avLst/>
            <a:gdLst/>
            <a:ahLst/>
            <a:cxnLst/>
            <a:rect l="l" t="t" r="r" b="b"/>
            <a:pathLst>
              <a:path w="1143682" h="1158425">
                <a:moveTo>
                  <a:pt x="0" y="0"/>
                </a:moveTo>
                <a:lnTo>
                  <a:pt x="1143682" y="0"/>
                </a:lnTo>
                <a:lnTo>
                  <a:pt x="1143682" y="1158425"/>
                </a:lnTo>
                <a:lnTo>
                  <a:pt x="0" y="115842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0" name="Freeform 10"/>
          <p:cNvSpPr/>
          <p:nvPr/>
        </p:nvSpPr>
        <p:spPr>
          <a:xfrm>
            <a:off x="1028700" y="5143500"/>
            <a:ext cx="785011" cy="854434"/>
          </a:xfrm>
          <a:custGeom>
            <a:avLst/>
            <a:gdLst/>
            <a:ahLst/>
            <a:cxnLst/>
            <a:rect l="l" t="t" r="r" b="b"/>
            <a:pathLst>
              <a:path w="785011" h="854434">
                <a:moveTo>
                  <a:pt x="0" y="0"/>
                </a:moveTo>
                <a:lnTo>
                  <a:pt x="785011" y="0"/>
                </a:lnTo>
                <a:lnTo>
                  <a:pt x="785011" y="854434"/>
                </a:lnTo>
                <a:lnTo>
                  <a:pt x="0" y="85443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GT"/>
          </a:p>
        </p:txBody>
      </p:sp>
      <p:sp>
        <p:nvSpPr>
          <p:cNvPr id="11" name="Freeform 11"/>
          <p:cNvSpPr/>
          <p:nvPr/>
        </p:nvSpPr>
        <p:spPr>
          <a:xfrm>
            <a:off x="1028700" y="6285618"/>
            <a:ext cx="785011" cy="854434"/>
          </a:xfrm>
          <a:custGeom>
            <a:avLst/>
            <a:gdLst/>
            <a:ahLst/>
            <a:cxnLst/>
            <a:rect l="l" t="t" r="r" b="b"/>
            <a:pathLst>
              <a:path w="785011" h="854434">
                <a:moveTo>
                  <a:pt x="0" y="0"/>
                </a:moveTo>
                <a:lnTo>
                  <a:pt x="785011" y="0"/>
                </a:lnTo>
                <a:lnTo>
                  <a:pt x="785011" y="854435"/>
                </a:lnTo>
                <a:lnTo>
                  <a:pt x="0" y="8544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GT"/>
          </a:p>
        </p:txBody>
      </p:sp>
      <p:sp>
        <p:nvSpPr>
          <p:cNvPr id="12" name="Freeform 12"/>
          <p:cNvSpPr/>
          <p:nvPr/>
        </p:nvSpPr>
        <p:spPr>
          <a:xfrm>
            <a:off x="1028700" y="7425803"/>
            <a:ext cx="785011" cy="854434"/>
          </a:xfrm>
          <a:custGeom>
            <a:avLst/>
            <a:gdLst/>
            <a:ahLst/>
            <a:cxnLst/>
            <a:rect l="l" t="t" r="r" b="b"/>
            <a:pathLst>
              <a:path w="785011" h="854434">
                <a:moveTo>
                  <a:pt x="0" y="0"/>
                </a:moveTo>
                <a:lnTo>
                  <a:pt x="785011" y="0"/>
                </a:lnTo>
                <a:lnTo>
                  <a:pt x="785011" y="854434"/>
                </a:lnTo>
                <a:lnTo>
                  <a:pt x="0" y="85443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GT"/>
          </a:p>
        </p:txBody>
      </p:sp>
      <p:sp>
        <p:nvSpPr>
          <p:cNvPr id="13" name="Freeform 13"/>
          <p:cNvSpPr/>
          <p:nvPr/>
        </p:nvSpPr>
        <p:spPr>
          <a:xfrm>
            <a:off x="1028700" y="8565987"/>
            <a:ext cx="785011" cy="854434"/>
          </a:xfrm>
          <a:custGeom>
            <a:avLst/>
            <a:gdLst/>
            <a:ahLst/>
            <a:cxnLst/>
            <a:rect l="l" t="t" r="r" b="b"/>
            <a:pathLst>
              <a:path w="785011" h="854434">
                <a:moveTo>
                  <a:pt x="0" y="0"/>
                </a:moveTo>
                <a:lnTo>
                  <a:pt x="785011" y="0"/>
                </a:lnTo>
                <a:lnTo>
                  <a:pt x="785011" y="854434"/>
                </a:lnTo>
                <a:lnTo>
                  <a:pt x="0" y="85443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GT"/>
          </a:p>
        </p:txBody>
      </p:sp>
      <p:sp>
        <p:nvSpPr>
          <p:cNvPr id="14" name="TextBox 14"/>
          <p:cNvSpPr txBox="1"/>
          <p:nvPr/>
        </p:nvSpPr>
        <p:spPr>
          <a:xfrm>
            <a:off x="3125814" y="3078276"/>
            <a:ext cx="6329846" cy="697615"/>
          </a:xfrm>
          <a:prstGeom prst="rect">
            <a:avLst/>
          </a:prstGeom>
        </p:spPr>
        <p:txBody>
          <a:bodyPr lIns="0" tIns="0" rIns="0" bIns="0" rtlCol="0" anchor="t">
            <a:spAutoFit/>
          </a:bodyPr>
          <a:lstStyle/>
          <a:p>
            <a:pPr algn="l">
              <a:lnSpc>
                <a:spcPts val="5710"/>
              </a:lnSpc>
            </a:pPr>
            <a:r>
              <a:rPr lang="en-US" sz="3399">
                <a:solidFill>
                  <a:srgbClr val="000000"/>
                </a:solidFill>
                <a:latin typeface="Arial"/>
                <a:ea typeface="Arial"/>
                <a:cs typeface="Arial"/>
                <a:sym typeface="Arial"/>
              </a:rPr>
              <a:t>¿Dudas?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542925"/>
            <a:ext cx="6533569" cy="1447038"/>
          </a:xfrm>
          <a:prstGeom prst="rect">
            <a:avLst/>
          </a:prstGeom>
        </p:spPr>
        <p:txBody>
          <a:bodyPr lIns="0" tIns="0" rIns="0" bIns="0" rtlCol="0" anchor="t">
            <a:spAutoFit/>
          </a:bodyPr>
          <a:lstStyle/>
          <a:p>
            <a:pPr algn="l">
              <a:lnSpc>
                <a:spcPts val="12096"/>
              </a:lnSpc>
            </a:pPr>
            <a:r>
              <a:rPr lang="en-US" sz="7200">
                <a:solidFill>
                  <a:srgbClr val="000000"/>
                </a:solidFill>
                <a:latin typeface="Arial"/>
                <a:ea typeface="Arial"/>
                <a:cs typeface="Arial"/>
                <a:sym typeface="Arial"/>
              </a:rPr>
              <a:t>Competencias</a:t>
            </a:r>
          </a:p>
        </p:txBody>
      </p:sp>
      <p:sp>
        <p:nvSpPr>
          <p:cNvPr id="3" name="TextBox 3"/>
          <p:cNvSpPr txBox="1"/>
          <p:nvPr/>
        </p:nvSpPr>
        <p:spPr>
          <a:xfrm>
            <a:off x="1351067" y="2890256"/>
            <a:ext cx="15585867" cy="5443688"/>
          </a:xfrm>
          <a:prstGeom prst="rect">
            <a:avLst/>
          </a:prstGeom>
        </p:spPr>
        <p:txBody>
          <a:bodyPr lIns="0" tIns="0" rIns="0" bIns="0" rtlCol="0" anchor="t">
            <a:spAutoFit/>
          </a:bodyPr>
          <a:lstStyle/>
          <a:p>
            <a:pPr algn="ctr">
              <a:lnSpc>
                <a:spcPts val="7219"/>
              </a:lnSpc>
            </a:pPr>
            <a:r>
              <a:rPr lang="en-US" sz="4300">
                <a:solidFill>
                  <a:srgbClr val="000000"/>
                </a:solidFill>
                <a:latin typeface="Arial"/>
                <a:ea typeface="Arial"/>
                <a:cs typeface="Arial"/>
                <a:sym typeface="Arial"/>
              </a:rPr>
              <a:t>Identifica los sistemas de codificación y representación de la información (decimal, binario, octal, hexadecimal, ASCII, UNICODE, etc.) mediante ejercicios de conversión y análisis de datos para comprender la forma en que se representan los datos en una computadora</a:t>
            </a:r>
          </a:p>
          <a:p>
            <a:pPr algn="ctr">
              <a:lnSpc>
                <a:spcPts val="7222"/>
              </a:lnSpc>
            </a:pPr>
            <a:endParaRPr lang="en-US" sz="43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960249" y="614096"/>
            <a:ext cx="9242098" cy="2303402"/>
            <a:chOff x="0" y="0"/>
            <a:chExt cx="12322797" cy="3071203"/>
          </a:xfrm>
        </p:grpSpPr>
        <p:sp>
          <p:nvSpPr>
            <p:cNvPr id="3" name="Freeform 3"/>
            <p:cNvSpPr/>
            <p:nvPr/>
          </p:nvSpPr>
          <p:spPr>
            <a:xfrm>
              <a:off x="0" y="0"/>
              <a:ext cx="12322800" cy="3071200"/>
            </a:xfrm>
            <a:custGeom>
              <a:avLst/>
              <a:gdLst/>
              <a:ahLst/>
              <a:cxnLst/>
              <a:rect l="l" t="t" r="r" b="b"/>
              <a:pathLst>
                <a:path w="12322800" h="3071200">
                  <a:moveTo>
                    <a:pt x="0" y="0"/>
                  </a:moveTo>
                  <a:lnTo>
                    <a:pt x="12322800" y="0"/>
                  </a:lnTo>
                  <a:lnTo>
                    <a:pt x="12322800" y="3071200"/>
                  </a:lnTo>
                  <a:lnTo>
                    <a:pt x="0" y="3071200"/>
                  </a:lnTo>
                  <a:close/>
                </a:path>
              </a:pathLst>
            </a:custGeom>
            <a:blipFill>
              <a:blip r:embed="rId3">
                <a:alphaModFix amt="0"/>
              </a:blip>
              <a:stretch>
                <a:fillRect t="-28181" b="-28181"/>
              </a:stretch>
            </a:blipFill>
          </p:spPr>
          <p:txBody>
            <a:bodyPr/>
            <a:lstStyle/>
            <a:p>
              <a:endParaRPr lang="es-GT"/>
            </a:p>
          </p:txBody>
        </p:sp>
        <p:sp>
          <p:nvSpPr>
            <p:cNvPr id="4" name="TextBox 4"/>
            <p:cNvSpPr txBox="1"/>
            <p:nvPr/>
          </p:nvSpPr>
          <p:spPr>
            <a:xfrm>
              <a:off x="0" y="-114300"/>
              <a:ext cx="12322797" cy="3185503"/>
            </a:xfrm>
            <a:prstGeom prst="rect">
              <a:avLst/>
            </a:prstGeom>
          </p:spPr>
          <p:txBody>
            <a:bodyPr lIns="0" tIns="0" rIns="0" bIns="0" rtlCol="0" anchor="ctr"/>
            <a:lstStyle/>
            <a:p>
              <a:pPr algn="ctr">
                <a:lnSpc>
                  <a:spcPts val="6719"/>
                </a:lnSpc>
              </a:pPr>
              <a:r>
                <a:rPr lang="en-US" sz="5599">
                  <a:solidFill>
                    <a:srgbClr val="000000"/>
                  </a:solidFill>
                  <a:latin typeface="Calibri (MS)"/>
                  <a:ea typeface="Calibri (MS)"/>
                  <a:cs typeface="Calibri (MS)"/>
                  <a:sym typeface="Calibri (MS)"/>
                </a:rPr>
                <a:t>Conceptos básicos de la Nube</a:t>
              </a:r>
            </a:p>
            <a:p>
              <a:pPr algn="ctr">
                <a:lnSpc>
                  <a:spcPts val="5280"/>
                </a:lnSpc>
              </a:pPr>
              <a:endParaRPr lang="en-US" sz="5599">
                <a:solidFill>
                  <a:srgbClr val="000000"/>
                </a:solidFill>
                <a:latin typeface="Calibri (MS)"/>
                <a:ea typeface="Calibri (MS)"/>
                <a:cs typeface="Calibri (MS)"/>
                <a:sym typeface="Calibri (MS)"/>
              </a:endParaRPr>
            </a:p>
          </p:txBody>
        </p:sp>
      </p:grpSp>
      <p:sp>
        <p:nvSpPr>
          <p:cNvPr id="5" name="TextBox 5"/>
          <p:cNvSpPr txBox="1"/>
          <p:nvPr/>
        </p:nvSpPr>
        <p:spPr>
          <a:xfrm>
            <a:off x="790351" y="2348905"/>
            <a:ext cx="16707298" cy="6276974"/>
          </a:xfrm>
          <a:prstGeom prst="rect">
            <a:avLst/>
          </a:prstGeom>
        </p:spPr>
        <p:txBody>
          <a:bodyPr lIns="0" tIns="0" rIns="0" bIns="0" rtlCol="0" anchor="t">
            <a:spAutoFit/>
          </a:bodyPr>
          <a:lstStyle/>
          <a:p>
            <a:pPr algn="just">
              <a:lnSpc>
                <a:spcPts val="4500"/>
              </a:lnSpc>
            </a:pPr>
            <a:r>
              <a:rPr lang="en-US" sz="3000" spc="6">
                <a:solidFill>
                  <a:srgbClr val="000000"/>
                </a:solidFill>
                <a:latin typeface="Arial"/>
                <a:ea typeface="Arial"/>
                <a:cs typeface="Arial"/>
                <a:sym typeface="Arial"/>
              </a:rPr>
              <a:t>La computación en la nube, o Cloud Computing, es un modelo de prestación de servicios informáticos que permite acceder a recursos tecnológicos como servidores, almacenamiento, bases de datos, redes, software y análisis, a través de Internet y bajo demanda. En lugar de mantener infraestructuras físicas locales, las organizaciones pueden utilizar estos recursos alojados en centros de datos de terceros, conocidos como proveedores de servicios en la nube (como Amazon Web Services, Microsoft Azure o Google Cloud Platform).</a:t>
            </a:r>
          </a:p>
          <a:p>
            <a:pPr algn="just">
              <a:lnSpc>
                <a:spcPts val="4500"/>
              </a:lnSpc>
            </a:pPr>
            <a:endParaRPr lang="en-US" sz="3000" spc="6">
              <a:solidFill>
                <a:srgbClr val="000000"/>
              </a:solidFill>
              <a:latin typeface="Arial"/>
              <a:ea typeface="Arial"/>
              <a:cs typeface="Arial"/>
              <a:sym typeface="Arial"/>
            </a:endParaRPr>
          </a:p>
          <a:p>
            <a:pPr algn="just">
              <a:lnSpc>
                <a:spcPts val="4500"/>
              </a:lnSpc>
            </a:pPr>
            <a:r>
              <a:rPr lang="en-US" sz="3000" spc="6">
                <a:solidFill>
                  <a:srgbClr val="000000"/>
                </a:solidFill>
                <a:latin typeface="Arial"/>
                <a:ea typeface="Arial"/>
                <a:cs typeface="Arial"/>
                <a:sym typeface="Arial"/>
              </a:rPr>
              <a:t>Este modelo ofrece escalabilidad, flexibilidad, alta disponibilidad, reducción de costos y mantenimiento simplificado, ya que los usuarios solo pagan por lo que utilizan. Además, favorece la innovación al permitir implementar nuevas aplicaciones y servicios con rapidez y sin grandes inversiones iniciales.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53113" y="846468"/>
            <a:ext cx="10381774" cy="1014660"/>
            <a:chOff x="0" y="0"/>
            <a:chExt cx="13842365" cy="1352879"/>
          </a:xfrm>
        </p:grpSpPr>
        <p:sp>
          <p:nvSpPr>
            <p:cNvPr id="3" name="Freeform 3"/>
            <p:cNvSpPr/>
            <p:nvPr/>
          </p:nvSpPr>
          <p:spPr>
            <a:xfrm>
              <a:off x="0" y="0"/>
              <a:ext cx="13842367" cy="1352878"/>
            </a:xfrm>
            <a:custGeom>
              <a:avLst/>
              <a:gdLst/>
              <a:ahLst/>
              <a:cxnLst/>
              <a:rect l="l" t="t" r="r" b="b"/>
              <a:pathLst>
                <a:path w="13842367" h="1352878">
                  <a:moveTo>
                    <a:pt x="0" y="0"/>
                  </a:moveTo>
                  <a:lnTo>
                    <a:pt x="13842367" y="0"/>
                  </a:lnTo>
                  <a:lnTo>
                    <a:pt x="13842367" y="1352878"/>
                  </a:lnTo>
                  <a:lnTo>
                    <a:pt x="0" y="1352878"/>
                  </a:lnTo>
                  <a:close/>
                </a:path>
              </a:pathLst>
            </a:custGeom>
            <a:blipFill>
              <a:blip r:embed="rId3">
                <a:alphaModFix amt="0"/>
              </a:blip>
              <a:stretch>
                <a:fillRect t="-63974" r="10977" b="-190987"/>
              </a:stretch>
            </a:blipFill>
          </p:spPr>
          <p:txBody>
            <a:bodyPr/>
            <a:lstStyle/>
            <a:p>
              <a:endParaRPr lang="es-GT"/>
            </a:p>
          </p:txBody>
        </p:sp>
        <p:sp>
          <p:nvSpPr>
            <p:cNvPr id="4" name="TextBox 4"/>
            <p:cNvSpPr txBox="1"/>
            <p:nvPr/>
          </p:nvSpPr>
          <p:spPr>
            <a:xfrm>
              <a:off x="0" y="0"/>
              <a:ext cx="13842365" cy="1352879"/>
            </a:xfrm>
            <a:prstGeom prst="rect">
              <a:avLst/>
            </a:prstGeom>
          </p:spPr>
          <p:txBody>
            <a:bodyPr lIns="0" tIns="0" rIns="0" bIns="0" rtlCol="0" anchor="ctr"/>
            <a:lstStyle/>
            <a:p>
              <a:pPr algn="ctr">
                <a:lnSpc>
                  <a:spcPts val="4800"/>
                </a:lnSpc>
              </a:pPr>
              <a:r>
                <a:rPr lang="en-US" sz="4800">
                  <a:solidFill>
                    <a:srgbClr val="000000"/>
                  </a:solidFill>
                  <a:latin typeface="Calibri (MS)"/>
                  <a:ea typeface="Calibri (MS)"/>
                  <a:cs typeface="Calibri (MS)"/>
                  <a:sym typeface="Calibri (MS)"/>
                </a:rPr>
                <a:t>Modelos de servicios en la nube</a:t>
              </a:r>
            </a:p>
          </p:txBody>
        </p:sp>
      </p:grpSp>
      <p:sp>
        <p:nvSpPr>
          <p:cNvPr id="5" name="TextBox 5"/>
          <p:cNvSpPr txBox="1"/>
          <p:nvPr/>
        </p:nvSpPr>
        <p:spPr>
          <a:xfrm>
            <a:off x="1028700" y="1990228"/>
            <a:ext cx="15899837" cy="2863215"/>
          </a:xfrm>
          <a:prstGeom prst="rect">
            <a:avLst/>
          </a:prstGeom>
        </p:spPr>
        <p:txBody>
          <a:bodyPr lIns="0" tIns="0" rIns="0" bIns="0" rtlCol="0" anchor="t">
            <a:spAutoFit/>
          </a:bodyPr>
          <a:lstStyle/>
          <a:p>
            <a:pPr algn="l">
              <a:lnSpc>
                <a:spcPts val="4500"/>
              </a:lnSpc>
            </a:pPr>
            <a:r>
              <a:rPr lang="en-US" sz="3600" b="1">
                <a:solidFill>
                  <a:srgbClr val="000000"/>
                </a:solidFill>
                <a:latin typeface="Roboto Bold"/>
                <a:ea typeface="Roboto Bold"/>
                <a:cs typeface="Roboto Bold"/>
                <a:sym typeface="Roboto Bold"/>
              </a:rPr>
              <a:t>IaaS (Infrastructure as a Service):</a:t>
            </a:r>
          </a:p>
          <a:p>
            <a:pPr algn="l">
              <a:lnSpc>
                <a:spcPts val="4500"/>
              </a:lnSpc>
            </a:pPr>
            <a:r>
              <a:rPr lang="en-US" sz="3600">
                <a:solidFill>
                  <a:srgbClr val="000000"/>
                </a:solidFill>
                <a:latin typeface="Roboto"/>
                <a:ea typeface="Roboto"/>
                <a:cs typeface="Roboto"/>
                <a:sym typeface="Roboto"/>
              </a:rPr>
              <a:t>Proporciona recursos de infraestructura como máquinas virtuales, redes, almacenamiento y servidores. El usuario tiene control sobre el sistema operativo y las aplicaciones.</a:t>
            </a:r>
          </a:p>
          <a:p>
            <a:pPr algn="l">
              <a:lnSpc>
                <a:spcPts val="4500"/>
              </a:lnSpc>
            </a:pPr>
            <a:r>
              <a:rPr lang="en-US" sz="3600">
                <a:solidFill>
                  <a:srgbClr val="000000"/>
                </a:solidFill>
                <a:latin typeface="Roboto"/>
                <a:ea typeface="Roboto"/>
                <a:cs typeface="Roboto"/>
                <a:sym typeface="Roboto"/>
              </a:rPr>
              <a:t>Ejemplo: Amazon EC2, Google Compute Engine.</a:t>
            </a:r>
          </a:p>
        </p:txBody>
      </p:sp>
      <p:grpSp>
        <p:nvGrpSpPr>
          <p:cNvPr id="6" name="Group 6"/>
          <p:cNvGrpSpPr/>
          <p:nvPr/>
        </p:nvGrpSpPr>
        <p:grpSpPr>
          <a:xfrm>
            <a:off x="5167251" y="5713238"/>
            <a:ext cx="7953499" cy="3976754"/>
            <a:chOff x="0" y="0"/>
            <a:chExt cx="10604665" cy="5302339"/>
          </a:xfrm>
        </p:grpSpPr>
        <p:sp>
          <p:nvSpPr>
            <p:cNvPr id="7" name="Freeform 7"/>
            <p:cNvSpPr/>
            <p:nvPr/>
          </p:nvSpPr>
          <p:spPr>
            <a:xfrm>
              <a:off x="0" y="0"/>
              <a:ext cx="10604627" cy="5302377"/>
            </a:xfrm>
            <a:custGeom>
              <a:avLst/>
              <a:gdLst/>
              <a:ahLst/>
              <a:cxnLst/>
              <a:rect l="l" t="t" r="r" b="b"/>
              <a:pathLst>
                <a:path w="10604627" h="5302377">
                  <a:moveTo>
                    <a:pt x="0" y="0"/>
                  </a:moveTo>
                  <a:lnTo>
                    <a:pt x="10604627" y="0"/>
                  </a:lnTo>
                  <a:lnTo>
                    <a:pt x="10604627" y="5302377"/>
                  </a:lnTo>
                  <a:lnTo>
                    <a:pt x="0" y="5302377"/>
                  </a:lnTo>
                  <a:lnTo>
                    <a:pt x="0" y="0"/>
                  </a:lnTo>
                  <a:close/>
                </a:path>
              </a:pathLst>
            </a:custGeom>
            <a:blipFill>
              <a:blip r:embed="rId4"/>
              <a:stretch>
                <a:fillRect/>
              </a:stretch>
            </a:blipFill>
          </p:spPr>
          <p:txBody>
            <a:bodyPr/>
            <a:lstStyle/>
            <a:p>
              <a:endParaRPr lang="es-GT"/>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22951" y="868708"/>
            <a:ext cx="9242098" cy="1010469"/>
            <a:chOff x="0" y="0"/>
            <a:chExt cx="12322797" cy="1347291"/>
          </a:xfrm>
        </p:grpSpPr>
        <p:sp>
          <p:nvSpPr>
            <p:cNvPr id="3" name="Freeform 3"/>
            <p:cNvSpPr/>
            <p:nvPr/>
          </p:nvSpPr>
          <p:spPr>
            <a:xfrm>
              <a:off x="0" y="0"/>
              <a:ext cx="12322800" cy="1347290"/>
            </a:xfrm>
            <a:custGeom>
              <a:avLst/>
              <a:gdLst/>
              <a:ahLst/>
              <a:cxnLst/>
              <a:rect l="l" t="t" r="r" b="b"/>
              <a:pathLst>
                <a:path w="12322800" h="1347290">
                  <a:moveTo>
                    <a:pt x="0" y="0"/>
                  </a:moveTo>
                  <a:lnTo>
                    <a:pt x="12322800" y="0"/>
                  </a:lnTo>
                  <a:lnTo>
                    <a:pt x="12322800" y="1347290"/>
                  </a:lnTo>
                  <a:lnTo>
                    <a:pt x="0" y="1347290"/>
                  </a:lnTo>
                  <a:close/>
                </a:path>
              </a:pathLst>
            </a:custGeom>
            <a:blipFill>
              <a:blip r:embed="rId3">
                <a:alphaModFix amt="0"/>
              </a:blip>
              <a:stretch>
                <a:fillRect t="-64240" b="-192194"/>
              </a:stretch>
            </a:blipFill>
          </p:spPr>
          <p:txBody>
            <a:bodyPr/>
            <a:lstStyle/>
            <a:p>
              <a:endParaRPr lang="es-GT"/>
            </a:p>
          </p:txBody>
        </p:sp>
        <p:sp>
          <p:nvSpPr>
            <p:cNvPr id="4" name="TextBox 4"/>
            <p:cNvSpPr txBox="1"/>
            <p:nvPr/>
          </p:nvSpPr>
          <p:spPr>
            <a:xfrm>
              <a:off x="0" y="-114300"/>
              <a:ext cx="12322797" cy="1461591"/>
            </a:xfrm>
            <a:prstGeom prst="rect">
              <a:avLst/>
            </a:prstGeom>
          </p:spPr>
          <p:txBody>
            <a:bodyPr lIns="0" tIns="0" rIns="0" bIns="0" rtlCol="0" anchor="ctr"/>
            <a:lstStyle/>
            <a:p>
              <a:pPr algn="ctr">
                <a:lnSpc>
                  <a:spcPts val="6048"/>
                </a:lnSpc>
              </a:pPr>
              <a:r>
                <a:rPr lang="en-US" sz="5040">
                  <a:solidFill>
                    <a:srgbClr val="000000"/>
                  </a:solidFill>
                  <a:latin typeface="Calibri (MS)"/>
                  <a:ea typeface="Calibri (MS)"/>
                  <a:cs typeface="Calibri (MS)"/>
                  <a:sym typeface="Calibri (MS)"/>
                </a:rPr>
                <a:t>Modelos de servicios en la nube</a:t>
              </a:r>
            </a:p>
          </p:txBody>
        </p:sp>
      </p:grpSp>
      <p:sp>
        <p:nvSpPr>
          <p:cNvPr id="5" name="TextBox 5"/>
          <p:cNvSpPr txBox="1"/>
          <p:nvPr/>
        </p:nvSpPr>
        <p:spPr>
          <a:xfrm>
            <a:off x="1028700" y="2245156"/>
            <a:ext cx="15777562" cy="2291715"/>
          </a:xfrm>
          <a:prstGeom prst="rect">
            <a:avLst/>
          </a:prstGeom>
        </p:spPr>
        <p:txBody>
          <a:bodyPr lIns="0" tIns="0" rIns="0" bIns="0" rtlCol="0" anchor="t">
            <a:spAutoFit/>
          </a:bodyPr>
          <a:lstStyle/>
          <a:p>
            <a:pPr algn="l">
              <a:lnSpc>
                <a:spcPts val="4500"/>
              </a:lnSpc>
            </a:pPr>
            <a:r>
              <a:rPr lang="en-US" sz="3600" b="1">
                <a:solidFill>
                  <a:srgbClr val="000000"/>
                </a:solidFill>
                <a:latin typeface="Roboto Bold"/>
                <a:ea typeface="Roboto Bold"/>
                <a:cs typeface="Roboto Bold"/>
                <a:sym typeface="Roboto Bold"/>
              </a:rPr>
              <a:t>PaaS (Platform as a Service):</a:t>
            </a:r>
          </a:p>
          <a:p>
            <a:pPr algn="l">
              <a:lnSpc>
                <a:spcPts val="4500"/>
              </a:lnSpc>
            </a:pPr>
            <a:r>
              <a:rPr lang="en-US" sz="3600">
                <a:solidFill>
                  <a:srgbClr val="000000"/>
                </a:solidFill>
                <a:latin typeface="Roboto"/>
                <a:ea typeface="Roboto"/>
                <a:cs typeface="Roboto"/>
                <a:sym typeface="Roboto"/>
              </a:rPr>
              <a:t>Ofrece un entorno listo para desarrollar, probar y desplegar aplicaciones sin preocuparse por la infraestructura subyacente.</a:t>
            </a:r>
          </a:p>
          <a:p>
            <a:pPr algn="l">
              <a:lnSpc>
                <a:spcPts val="4500"/>
              </a:lnSpc>
            </a:pPr>
            <a:r>
              <a:rPr lang="en-US" sz="3600">
                <a:solidFill>
                  <a:srgbClr val="000000"/>
                </a:solidFill>
                <a:latin typeface="Roboto"/>
                <a:ea typeface="Roboto"/>
                <a:cs typeface="Roboto"/>
                <a:sym typeface="Roboto"/>
              </a:rPr>
              <a:t>Ejemplo: Heroku, Google App Engine, Microsoft Azure App Services.</a:t>
            </a:r>
          </a:p>
        </p:txBody>
      </p:sp>
      <p:grpSp>
        <p:nvGrpSpPr>
          <p:cNvPr id="6" name="Group 6"/>
          <p:cNvGrpSpPr/>
          <p:nvPr/>
        </p:nvGrpSpPr>
        <p:grpSpPr>
          <a:xfrm>
            <a:off x="5518028" y="5179076"/>
            <a:ext cx="7251944" cy="4079224"/>
            <a:chOff x="0" y="0"/>
            <a:chExt cx="9669259" cy="5438966"/>
          </a:xfrm>
        </p:grpSpPr>
        <p:sp>
          <p:nvSpPr>
            <p:cNvPr id="7" name="Freeform 7"/>
            <p:cNvSpPr/>
            <p:nvPr/>
          </p:nvSpPr>
          <p:spPr>
            <a:xfrm>
              <a:off x="0" y="0"/>
              <a:ext cx="9669272" cy="5439029"/>
            </a:xfrm>
            <a:custGeom>
              <a:avLst/>
              <a:gdLst/>
              <a:ahLst/>
              <a:cxnLst/>
              <a:rect l="l" t="t" r="r" b="b"/>
              <a:pathLst>
                <a:path w="9669272" h="5439029">
                  <a:moveTo>
                    <a:pt x="0" y="0"/>
                  </a:moveTo>
                  <a:lnTo>
                    <a:pt x="9669272" y="0"/>
                  </a:lnTo>
                  <a:lnTo>
                    <a:pt x="9669272" y="5439029"/>
                  </a:lnTo>
                  <a:lnTo>
                    <a:pt x="0" y="5439029"/>
                  </a:lnTo>
                  <a:lnTo>
                    <a:pt x="0" y="0"/>
                  </a:lnTo>
                  <a:close/>
                </a:path>
              </a:pathLst>
            </a:custGeom>
            <a:blipFill>
              <a:blip r:embed="rId4"/>
              <a:stretch>
                <a:fillRect b="1"/>
              </a:stretch>
            </a:blipFill>
          </p:spPr>
          <p:txBody>
            <a:bodyPr/>
            <a:lstStyle/>
            <a:p>
              <a:endParaRPr lang="es-GT"/>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20438" y="908734"/>
            <a:ext cx="9242098" cy="1010469"/>
            <a:chOff x="0" y="0"/>
            <a:chExt cx="12322797" cy="1347291"/>
          </a:xfrm>
        </p:grpSpPr>
        <p:sp>
          <p:nvSpPr>
            <p:cNvPr id="3" name="Freeform 3"/>
            <p:cNvSpPr/>
            <p:nvPr/>
          </p:nvSpPr>
          <p:spPr>
            <a:xfrm>
              <a:off x="0" y="0"/>
              <a:ext cx="12322800" cy="1347290"/>
            </a:xfrm>
            <a:custGeom>
              <a:avLst/>
              <a:gdLst/>
              <a:ahLst/>
              <a:cxnLst/>
              <a:rect l="l" t="t" r="r" b="b"/>
              <a:pathLst>
                <a:path w="12322800" h="1347290">
                  <a:moveTo>
                    <a:pt x="0" y="0"/>
                  </a:moveTo>
                  <a:lnTo>
                    <a:pt x="12322800" y="0"/>
                  </a:lnTo>
                  <a:lnTo>
                    <a:pt x="12322800" y="1347290"/>
                  </a:lnTo>
                  <a:lnTo>
                    <a:pt x="0" y="1347290"/>
                  </a:lnTo>
                  <a:close/>
                </a:path>
              </a:pathLst>
            </a:custGeom>
            <a:blipFill>
              <a:blip r:embed="rId3">
                <a:alphaModFix amt="0"/>
              </a:blip>
              <a:stretch>
                <a:fillRect t="-64240" b="-192194"/>
              </a:stretch>
            </a:blipFill>
          </p:spPr>
          <p:txBody>
            <a:bodyPr/>
            <a:lstStyle/>
            <a:p>
              <a:endParaRPr lang="es-GT"/>
            </a:p>
          </p:txBody>
        </p:sp>
        <p:sp>
          <p:nvSpPr>
            <p:cNvPr id="4" name="TextBox 4"/>
            <p:cNvSpPr txBox="1"/>
            <p:nvPr/>
          </p:nvSpPr>
          <p:spPr>
            <a:xfrm>
              <a:off x="0" y="-114300"/>
              <a:ext cx="12322797" cy="1461591"/>
            </a:xfrm>
            <a:prstGeom prst="rect">
              <a:avLst/>
            </a:prstGeom>
          </p:spPr>
          <p:txBody>
            <a:bodyPr lIns="0" tIns="0" rIns="0" bIns="0" rtlCol="0" anchor="ctr"/>
            <a:lstStyle/>
            <a:p>
              <a:pPr algn="ctr">
                <a:lnSpc>
                  <a:spcPts val="6048"/>
                </a:lnSpc>
              </a:pPr>
              <a:r>
                <a:rPr lang="en-US" sz="5040">
                  <a:solidFill>
                    <a:srgbClr val="000000"/>
                  </a:solidFill>
                  <a:latin typeface="Calibri (MS)"/>
                  <a:ea typeface="Calibri (MS)"/>
                  <a:cs typeface="Calibri (MS)"/>
                  <a:sym typeface="Calibri (MS)"/>
                </a:rPr>
                <a:t>Modelos de servicios en la nube</a:t>
              </a:r>
            </a:p>
          </p:txBody>
        </p:sp>
      </p:grpSp>
      <p:sp>
        <p:nvSpPr>
          <p:cNvPr id="5" name="TextBox 5"/>
          <p:cNvSpPr txBox="1"/>
          <p:nvPr/>
        </p:nvSpPr>
        <p:spPr>
          <a:xfrm>
            <a:off x="1028700" y="2110194"/>
            <a:ext cx="15942515" cy="2863215"/>
          </a:xfrm>
          <a:prstGeom prst="rect">
            <a:avLst/>
          </a:prstGeom>
        </p:spPr>
        <p:txBody>
          <a:bodyPr lIns="0" tIns="0" rIns="0" bIns="0" rtlCol="0" anchor="t">
            <a:spAutoFit/>
          </a:bodyPr>
          <a:lstStyle/>
          <a:p>
            <a:pPr algn="l">
              <a:lnSpc>
                <a:spcPts val="4500"/>
              </a:lnSpc>
            </a:pPr>
            <a:r>
              <a:rPr lang="en-US" sz="3600" b="1">
                <a:solidFill>
                  <a:srgbClr val="000000"/>
                </a:solidFill>
                <a:latin typeface="Roboto Bold"/>
                <a:ea typeface="Roboto Bold"/>
                <a:cs typeface="Roboto Bold"/>
                <a:sym typeface="Roboto Bold"/>
              </a:rPr>
              <a:t>SaaS (Software as a Service):</a:t>
            </a:r>
          </a:p>
          <a:p>
            <a:pPr algn="l">
              <a:lnSpc>
                <a:spcPts val="4500"/>
              </a:lnSpc>
            </a:pPr>
            <a:r>
              <a:rPr lang="en-US" sz="3600">
                <a:solidFill>
                  <a:srgbClr val="000000"/>
                </a:solidFill>
                <a:latin typeface="Roboto"/>
                <a:ea typeface="Roboto"/>
                <a:cs typeface="Roboto"/>
                <a:sym typeface="Roboto"/>
              </a:rPr>
              <a:t>Brinda acceso a software a través de internet, sin necesidad de instalación local. El proveedor se encarga del mantenimiento, seguridad y actualizaciones.</a:t>
            </a:r>
          </a:p>
          <a:p>
            <a:pPr algn="l">
              <a:lnSpc>
                <a:spcPts val="4500"/>
              </a:lnSpc>
            </a:pPr>
            <a:r>
              <a:rPr lang="en-US" sz="3600">
                <a:solidFill>
                  <a:srgbClr val="000000"/>
                </a:solidFill>
                <a:latin typeface="Roboto"/>
                <a:ea typeface="Roboto"/>
                <a:cs typeface="Roboto"/>
                <a:sym typeface="Roboto"/>
              </a:rPr>
              <a:t>Ejemplo: Gmail, Google Drive, Salesforce, Microsoft 365.</a:t>
            </a:r>
          </a:p>
        </p:txBody>
      </p:sp>
      <p:grpSp>
        <p:nvGrpSpPr>
          <p:cNvPr id="6" name="Group 6"/>
          <p:cNvGrpSpPr/>
          <p:nvPr/>
        </p:nvGrpSpPr>
        <p:grpSpPr>
          <a:xfrm>
            <a:off x="5954801" y="4913976"/>
            <a:ext cx="6773370" cy="4226576"/>
            <a:chOff x="0" y="0"/>
            <a:chExt cx="9031160" cy="5635434"/>
          </a:xfrm>
        </p:grpSpPr>
        <p:sp>
          <p:nvSpPr>
            <p:cNvPr id="7" name="Freeform 7"/>
            <p:cNvSpPr/>
            <p:nvPr/>
          </p:nvSpPr>
          <p:spPr>
            <a:xfrm>
              <a:off x="0" y="0"/>
              <a:ext cx="9031224" cy="5635371"/>
            </a:xfrm>
            <a:custGeom>
              <a:avLst/>
              <a:gdLst/>
              <a:ahLst/>
              <a:cxnLst/>
              <a:rect l="l" t="t" r="r" b="b"/>
              <a:pathLst>
                <a:path w="9031224" h="5635371">
                  <a:moveTo>
                    <a:pt x="0" y="0"/>
                  </a:moveTo>
                  <a:lnTo>
                    <a:pt x="9031224" y="0"/>
                  </a:lnTo>
                  <a:lnTo>
                    <a:pt x="9031224" y="5635371"/>
                  </a:lnTo>
                  <a:lnTo>
                    <a:pt x="0" y="5635371"/>
                  </a:lnTo>
                  <a:lnTo>
                    <a:pt x="0" y="0"/>
                  </a:lnTo>
                  <a:close/>
                </a:path>
              </a:pathLst>
            </a:custGeom>
            <a:blipFill>
              <a:blip r:embed="rId4"/>
              <a:stretch>
                <a:fillRect b="-1"/>
              </a:stretch>
            </a:blipFill>
          </p:spPr>
          <p:txBody>
            <a:bodyPr/>
            <a:lstStyle/>
            <a:p>
              <a:endParaRPr lang="es-GT"/>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960249" y="614096"/>
            <a:ext cx="9242098" cy="2303402"/>
            <a:chOff x="0" y="0"/>
            <a:chExt cx="12322797" cy="3071203"/>
          </a:xfrm>
        </p:grpSpPr>
        <p:sp>
          <p:nvSpPr>
            <p:cNvPr id="3" name="Freeform 3"/>
            <p:cNvSpPr/>
            <p:nvPr/>
          </p:nvSpPr>
          <p:spPr>
            <a:xfrm>
              <a:off x="0" y="0"/>
              <a:ext cx="12322800" cy="3071200"/>
            </a:xfrm>
            <a:custGeom>
              <a:avLst/>
              <a:gdLst/>
              <a:ahLst/>
              <a:cxnLst/>
              <a:rect l="l" t="t" r="r" b="b"/>
              <a:pathLst>
                <a:path w="12322800" h="3071200">
                  <a:moveTo>
                    <a:pt x="0" y="0"/>
                  </a:moveTo>
                  <a:lnTo>
                    <a:pt x="12322800" y="0"/>
                  </a:lnTo>
                  <a:lnTo>
                    <a:pt x="12322800" y="3071200"/>
                  </a:lnTo>
                  <a:lnTo>
                    <a:pt x="0" y="3071200"/>
                  </a:lnTo>
                  <a:close/>
                </a:path>
              </a:pathLst>
            </a:custGeom>
            <a:blipFill>
              <a:blip r:embed="rId3">
                <a:alphaModFix amt="0"/>
              </a:blip>
              <a:stretch>
                <a:fillRect t="-28181" b="-28181"/>
              </a:stretch>
            </a:blipFill>
          </p:spPr>
          <p:txBody>
            <a:bodyPr/>
            <a:lstStyle/>
            <a:p>
              <a:endParaRPr lang="es-GT"/>
            </a:p>
          </p:txBody>
        </p:sp>
        <p:sp>
          <p:nvSpPr>
            <p:cNvPr id="4" name="TextBox 4"/>
            <p:cNvSpPr txBox="1"/>
            <p:nvPr/>
          </p:nvSpPr>
          <p:spPr>
            <a:xfrm>
              <a:off x="0" y="-114300"/>
              <a:ext cx="12322797" cy="3185503"/>
            </a:xfrm>
            <a:prstGeom prst="rect">
              <a:avLst/>
            </a:prstGeom>
          </p:spPr>
          <p:txBody>
            <a:bodyPr lIns="0" tIns="0" rIns="0" bIns="0" rtlCol="0" anchor="ctr"/>
            <a:lstStyle/>
            <a:p>
              <a:pPr algn="ctr">
                <a:lnSpc>
                  <a:spcPts val="6047"/>
                </a:lnSpc>
              </a:pPr>
              <a:r>
                <a:rPr lang="en-US" sz="5039">
                  <a:solidFill>
                    <a:srgbClr val="000000"/>
                  </a:solidFill>
                  <a:latin typeface="Calibri (MS)"/>
                  <a:ea typeface="Calibri (MS)"/>
                  <a:cs typeface="Calibri (MS)"/>
                  <a:sym typeface="Calibri (MS)"/>
                </a:rPr>
                <a:t>Modelos de Despliegue en la Nube</a:t>
              </a:r>
            </a:p>
            <a:p>
              <a:pPr algn="ctr">
                <a:lnSpc>
                  <a:spcPts val="4751"/>
                </a:lnSpc>
              </a:pPr>
              <a:endParaRPr lang="en-US" sz="5039">
                <a:solidFill>
                  <a:srgbClr val="000000"/>
                </a:solidFill>
                <a:latin typeface="Calibri (MS)"/>
                <a:ea typeface="Calibri (MS)"/>
                <a:cs typeface="Calibri (MS)"/>
                <a:sym typeface="Calibri (MS)"/>
              </a:endParaRPr>
            </a:p>
          </p:txBody>
        </p:sp>
      </p:grpSp>
      <p:sp>
        <p:nvSpPr>
          <p:cNvPr id="5" name="TextBox 5"/>
          <p:cNvSpPr txBox="1"/>
          <p:nvPr/>
        </p:nvSpPr>
        <p:spPr>
          <a:xfrm>
            <a:off x="1110901" y="1756272"/>
            <a:ext cx="7585072" cy="7878445"/>
          </a:xfrm>
          <a:prstGeom prst="rect">
            <a:avLst/>
          </a:prstGeom>
        </p:spPr>
        <p:txBody>
          <a:bodyPr lIns="0" tIns="0" rIns="0" bIns="0" rtlCol="0" anchor="t">
            <a:spAutoFit/>
          </a:bodyPr>
          <a:lstStyle/>
          <a:p>
            <a:pPr algn="l">
              <a:lnSpc>
                <a:spcPts val="3499"/>
              </a:lnSpc>
            </a:pPr>
            <a:r>
              <a:rPr lang="en-US" sz="2799" b="1">
                <a:solidFill>
                  <a:srgbClr val="000000"/>
                </a:solidFill>
                <a:latin typeface="Open Sans Bold"/>
                <a:ea typeface="Open Sans Bold"/>
                <a:cs typeface="Open Sans Bold"/>
                <a:sym typeface="Open Sans Bold"/>
              </a:rPr>
              <a:t>Nube Pública:</a:t>
            </a:r>
          </a:p>
          <a:p>
            <a:pPr algn="l">
              <a:lnSpc>
                <a:spcPts val="3499"/>
              </a:lnSpc>
            </a:pPr>
            <a:r>
              <a:rPr lang="en-US" sz="2799">
                <a:solidFill>
                  <a:srgbClr val="000000"/>
                </a:solidFill>
                <a:latin typeface="Open Sans"/>
                <a:ea typeface="Open Sans"/>
                <a:cs typeface="Open Sans"/>
                <a:sym typeface="Open Sans"/>
              </a:rPr>
              <a:t>Los recursos son propiedad de un proveedor externo y compartidos entre múltiples usuarios. Es el modelo más común y económico.</a:t>
            </a:r>
          </a:p>
          <a:p>
            <a:pPr algn="l">
              <a:lnSpc>
                <a:spcPts val="3499"/>
              </a:lnSpc>
            </a:pPr>
            <a:r>
              <a:rPr lang="en-US" sz="2799">
                <a:solidFill>
                  <a:srgbClr val="000000"/>
                </a:solidFill>
                <a:latin typeface="Open Sans"/>
                <a:ea typeface="Open Sans"/>
                <a:cs typeface="Open Sans"/>
                <a:sym typeface="Open Sans"/>
              </a:rPr>
              <a:t>Ejemplo: AWS, Azure, GCP.</a:t>
            </a:r>
          </a:p>
          <a:p>
            <a:pPr algn="l">
              <a:lnSpc>
                <a:spcPts val="3499"/>
              </a:lnSpc>
            </a:pPr>
            <a:endParaRPr lang="en-US" sz="2799">
              <a:solidFill>
                <a:srgbClr val="000000"/>
              </a:solidFill>
              <a:latin typeface="Open Sans"/>
              <a:ea typeface="Open Sans"/>
              <a:cs typeface="Open Sans"/>
              <a:sym typeface="Open Sans"/>
            </a:endParaRPr>
          </a:p>
          <a:p>
            <a:pPr algn="l">
              <a:lnSpc>
                <a:spcPts val="3499"/>
              </a:lnSpc>
            </a:pPr>
            <a:r>
              <a:rPr lang="en-US" sz="2799" b="1">
                <a:solidFill>
                  <a:srgbClr val="000000"/>
                </a:solidFill>
                <a:latin typeface="Open Sans Bold"/>
                <a:ea typeface="Open Sans Bold"/>
                <a:cs typeface="Open Sans Bold"/>
                <a:sym typeface="Open Sans Bold"/>
              </a:rPr>
              <a:t>Nube Privada:</a:t>
            </a:r>
          </a:p>
          <a:p>
            <a:pPr algn="l">
              <a:lnSpc>
                <a:spcPts val="3499"/>
              </a:lnSpc>
            </a:pPr>
            <a:r>
              <a:rPr lang="en-US" sz="2799">
                <a:solidFill>
                  <a:srgbClr val="000000"/>
                </a:solidFill>
                <a:latin typeface="Open Sans"/>
                <a:ea typeface="Open Sans"/>
                <a:cs typeface="Open Sans"/>
                <a:sym typeface="Open Sans"/>
              </a:rPr>
              <a:t>Infraestructura exclusiva para una sola organización, ya sea alojada localmente o en un proveedor externo. Brinda mayor control y seguridad.</a:t>
            </a:r>
          </a:p>
          <a:p>
            <a:pPr algn="l">
              <a:lnSpc>
                <a:spcPts val="3499"/>
              </a:lnSpc>
            </a:pPr>
            <a:endParaRPr lang="en-US" sz="2799">
              <a:solidFill>
                <a:srgbClr val="000000"/>
              </a:solidFill>
              <a:latin typeface="Open Sans"/>
              <a:ea typeface="Open Sans"/>
              <a:cs typeface="Open Sans"/>
              <a:sym typeface="Open Sans"/>
            </a:endParaRPr>
          </a:p>
          <a:p>
            <a:pPr algn="l">
              <a:lnSpc>
                <a:spcPts val="3499"/>
              </a:lnSpc>
            </a:pPr>
            <a:r>
              <a:rPr lang="en-US" sz="2799" b="1">
                <a:solidFill>
                  <a:srgbClr val="000000"/>
                </a:solidFill>
                <a:latin typeface="Open Sans Bold"/>
                <a:ea typeface="Open Sans Bold"/>
                <a:cs typeface="Open Sans Bold"/>
                <a:sym typeface="Open Sans Bold"/>
              </a:rPr>
              <a:t>Nube Híbrida:</a:t>
            </a:r>
          </a:p>
          <a:p>
            <a:pPr algn="l">
              <a:lnSpc>
                <a:spcPts val="3499"/>
              </a:lnSpc>
            </a:pPr>
            <a:r>
              <a:rPr lang="en-US" sz="2799">
                <a:solidFill>
                  <a:srgbClr val="000000"/>
                </a:solidFill>
                <a:latin typeface="Open Sans"/>
                <a:ea typeface="Open Sans"/>
                <a:cs typeface="Open Sans"/>
                <a:sym typeface="Open Sans"/>
              </a:rPr>
              <a:t>Combina nubes públicas y privadas, permitiendo mover cargas de trabajo entre ambas según convenga. Ofrece flexibilidad y equilibrio entre costos y seguridad.</a:t>
            </a:r>
          </a:p>
        </p:txBody>
      </p:sp>
      <p:grpSp>
        <p:nvGrpSpPr>
          <p:cNvPr id="6" name="Group 6"/>
          <p:cNvGrpSpPr/>
          <p:nvPr/>
        </p:nvGrpSpPr>
        <p:grpSpPr>
          <a:xfrm>
            <a:off x="9144000" y="3337379"/>
            <a:ext cx="8369196" cy="4521822"/>
            <a:chOff x="0" y="0"/>
            <a:chExt cx="11158929" cy="6029096"/>
          </a:xfrm>
        </p:grpSpPr>
        <p:sp>
          <p:nvSpPr>
            <p:cNvPr id="7" name="Freeform 7"/>
            <p:cNvSpPr/>
            <p:nvPr/>
          </p:nvSpPr>
          <p:spPr>
            <a:xfrm>
              <a:off x="0" y="0"/>
              <a:ext cx="11158929" cy="6029071"/>
            </a:xfrm>
            <a:custGeom>
              <a:avLst/>
              <a:gdLst/>
              <a:ahLst/>
              <a:cxnLst/>
              <a:rect l="l" t="t" r="r" b="b"/>
              <a:pathLst>
                <a:path w="11158929" h="6029071">
                  <a:moveTo>
                    <a:pt x="0" y="0"/>
                  </a:moveTo>
                  <a:lnTo>
                    <a:pt x="11158929" y="0"/>
                  </a:lnTo>
                  <a:lnTo>
                    <a:pt x="11158929" y="6029071"/>
                  </a:lnTo>
                  <a:lnTo>
                    <a:pt x="0" y="6029071"/>
                  </a:lnTo>
                  <a:lnTo>
                    <a:pt x="0" y="0"/>
                  </a:lnTo>
                  <a:close/>
                </a:path>
              </a:pathLst>
            </a:custGeom>
            <a:blipFill>
              <a:blip r:embed="rId4"/>
              <a:stretch>
                <a:fillRect l="-10859" t="-6052" r="-8232" b="-24285"/>
              </a:stretch>
            </a:blipFill>
          </p:spPr>
          <p:txBody>
            <a:bodyPr/>
            <a:lstStyle/>
            <a:p>
              <a:endParaRPr lang="es-GT"/>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524402" y="794045"/>
            <a:ext cx="12470997" cy="997483"/>
            <a:chOff x="0" y="0"/>
            <a:chExt cx="16627996" cy="1329977"/>
          </a:xfrm>
        </p:grpSpPr>
        <p:sp>
          <p:nvSpPr>
            <p:cNvPr id="3" name="Freeform 3"/>
            <p:cNvSpPr/>
            <p:nvPr/>
          </p:nvSpPr>
          <p:spPr>
            <a:xfrm>
              <a:off x="0" y="0"/>
              <a:ext cx="16628001" cy="1329976"/>
            </a:xfrm>
            <a:custGeom>
              <a:avLst/>
              <a:gdLst/>
              <a:ahLst/>
              <a:cxnLst/>
              <a:rect l="l" t="t" r="r" b="b"/>
              <a:pathLst>
                <a:path w="16628001" h="1329976">
                  <a:moveTo>
                    <a:pt x="0" y="0"/>
                  </a:moveTo>
                  <a:lnTo>
                    <a:pt x="16628001" y="0"/>
                  </a:lnTo>
                  <a:lnTo>
                    <a:pt x="16628001" y="1329976"/>
                  </a:lnTo>
                  <a:lnTo>
                    <a:pt x="0" y="1329976"/>
                  </a:lnTo>
                  <a:close/>
                </a:path>
              </a:pathLst>
            </a:custGeom>
            <a:blipFill>
              <a:blip r:embed="rId3">
                <a:alphaModFix amt="0"/>
              </a:blip>
              <a:stretch>
                <a:fillRect t="-128150" b="-259072"/>
              </a:stretch>
            </a:blipFill>
          </p:spPr>
          <p:txBody>
            <a:bodyPr/>
            <a:lstStyle/>
            <a:p>
              <a:endParaRPr lang="es-GT"/>
            </a:p>
          </p:txBody>
        </p:sp>
        <p:sp>
          <p:nvSpPr>
            <p:cNvPr id="4" name="TextBox 4"/>
            <p:cNvSpPr txBox="1"/>
            <p:nvPr/>
          </p:nvSpPr>
          <p:spPr>
            <a:xfrm>
              <a:off x="0" y="-104775"/>
              <a:ext cx="16627996" cy="1434752"/>
            </a:xfrm>
            <a:prstGeom prst="rect">
              <a:avLst/>
            </a:prstGeom>
          </p:spPr>
          <p:txBody>
            <a:bodyPr lIns="0" tIns="0" rIns="0" bIns="0" rtlCol="0" anchor="ctr"/>
            <a:lstStyle/>
            <a:p>
              <a:pPr algn="ctr">
                <a:lnSpc>
                  <a:spcPts val="5963"/>
                </a:lnSpc>
              </a:pPr>
              <a:r>
                <a:rPr lang="en-US" sz="4969">
                  <a:solidFill>
                    <a:srgbClr val="000000"/>
                  </a:solidFill>
                  <a:latin typeface="Calibri (MS)"/>
                  <a:ea typeface="Calibri (MS)"/>
                  <a:cs typeface="Calibri (MS)"/>
                  <a:sym typeface="Calibri (MS)"/>
                </a:rPr>
                <a:t>Sistema Decimal y Binario</a:t>
              </a:r>
            </a:p>
          </p:txBody>
        </p:sp>
      </p:grpSp>
      <p:sp>
        <p:nvSpPr>
          <p:cNvPr id="5" name="TextBox 5"/>
          <p:cNvSpPr txBox="1"/>
          <p:nvPr/>
        </p:nvSpPr>
        <p:spPr>
          <a:xfrm>
            <a:off x="1028700" y="2163128"/>
            <a:ext cx="8475198" cy="7095172"/>
          </a:xfrm>
          <a:prstGeom prst="rect">
            <a:avLst/>
          </a:prstGeom>
        </p:spPr>
        <p:txBody>
          <a:bodyPr lIns="0" tIns="0" rIns="0" bIns="0" rtlCol="0" anchor="t">
            <a:spAutoFit/>
          </a:bodyPr>
          <a:lstStyle/>
          <a:p>
            <a:pPr algn="just">
              <a:lnSpc>
                <a:spcPts val="3277"/>
              </a:lnSpc>
            </a:pPr>
            <a:r>
              <a:rPr lang="en-US" sz="2850">
                <a:solidFill>
                  <a:srgbClr val="000000"/>
                </a:solidFill>
                <a:latin typeface="Roboto"/>
                <a:ea typeface="Roboto"/>
                <a:cs typeface="Roboto"/>
                <a:sym typeface="Roboto"/>
              </a:rPr>
              <a:t>Los sistemas de numeración son conjuntos de símbolos y reglas para representar números.</a:t>
            </a:r>
          </a:p>
          <a:p>
            <a:pPr algn="just">
              <a:lnSpc>
                <a:spcPts val="3679"/>
              </a:lnSpc>
            </a:pPr>
            <a:endParaRPr lang="en-US" sz="2850">
              <a:solidFill>
                <a:srgbClr val="000000"/>
              </a:solidFill>
              <a:latin typeface="Roboto"/>
              <a:ea typeface="Roboto"/>
              <a:cs typeface="Roboto"/>
              <a:sym typeface="Roboto"/>
            </a:endParaRPr>
          </a:p>
          <a:p>
            <a:pPr marL="391478" lvl="1" indent="-195739" algn="just">
              <a:lnSpc>
                <a:spcPts val="3277"/>
              </a:lnSpc>
              <a:buFont typeface="Arial"/>
              <a:buChar char="•"/>
            </a:pPr>
            <a:r>
              <a:rPr lang="en-US" sz="2850">
                <a:solidFill>
                  <a:srgbClr val="000000"/>
                </a:solidFill>
                <a:latin typeface="Roboto"/>
                <a:ea typeface="Roboto"/>
                <a:cs typeface="Roboto"/>
                <a:sym typeface="Roboto"/>
              </a:rPr>
              <a:t>Decimal: El sistema decimal es el sistema numérico más utilizado en la vida cotidiana. Está basado en diez símbolos (0 al 9), y cada dígito tiene un valor posicional según potencias de 10.</a:t>
            </a:r>
          </a:p>
          <a:p>
            <a:pPr marL="391478" lvl="1" indent="-195739" algn="just">
              <a:lnSpc>
                <a:spcPts val="3277"/>
              </a:lnSpc>
            </a:pPr>
            <a:r>
              <a:rPr lang="en-US" sz="2850">
                <a:solidFill>
                  <a:srgbClr val="000000"/>
                </a:solidFill>
                <a:latin typeface="Roboto"/>
                <a:ea typeface="Roboto"/>
                <a:cs typeface="Roboto"/>
                <a:sym typeface="Roboto"/>
              </a:rPr>
              <a:t>Es el sistema natural para los humanos, ya que está ligado a nuestro sistema de conteo histórico</a:t>
            </a:r>
          </a:p>
          <a:p>
            <a:pPr marL="439554" lvl="1" indent="-219777" algn="just">
              <a:lnSpc>
                <a:spcPts val="3679"/>
              </a:lnSpc>
            </a:pPr>
            <a:endParaRPr lang="en-US" sz="2850">
              <a:solidFill>
                <a:srgbClr val="000000"/>
              </a:solidFill>
              <a:latin typeface="Roboto"/>
              <a:ea typeface="Roboto"/>
              <a:cs typeface="Roboto"/>
              <a:sym typeface="Roboto"/>
            </a:endParaRPr>
          </a:p>
          <a:p>
            <a:pPr marL="391478" lvl="1" indent="-195739" algn="just">
              <a:lnSpc>
                <a:spcPts val="3277"/>
              </a:lnSpc>
              <a:buFont typeface="Arial"/>
              <a:buChar char="•"/>
            </a:pPr>
            <a:r>
              <a:rPr lang="en-US" sz="2850">
                <a:solidFill>
                  <a:srgbClr val="000000"/>
                </a:solidFill>
                <a:latin typeface="Roboto"/>
                <a:ea typeface="Roboto"/>
                <a:cs typeface="Roboto"/>
                <a:sym typeface="Roboto"/>
              </a:rPr>
              <a:t>Binario:El sistema binario es la base fundamental de la informática y electrónica digital. Utiliza solo dos dígitos: 0 y 1, que representan los estados apagado/encendido o falso/verdadero.</a:t>
            </a:r>
          </a:p>
          <a:p>
            <a:pPr marL="391478" lvl="1" indent="-195739" algn="just">
              <a:lnSpc>
                <a:spcPts val="3277"/>
              </a:lnSpc>
            </a:pPr>
            <a:r>
              <a:rPr lang="en-US" sz="2850">
                <a:solidFill>
                  <a:srgbClr val="000000"/>
                </a:solidFill>
                <a:latin typeface="Roboto"/>
                <a:ea typeface="Roboto"/>
                <a:cs typeface="Roboto"/>
                <a:sym typeface="Roboto"/>
              </a:rPr>
              <a:t>Cada posición representa una potencia de 2, y cualquier número decimal puede ser convertido a binario.</a:t>
            </a:r>
          </a:p>
        </p:txBody>
      </p:sp>
      <p:grpSp>
        <p:nvGrpSpPr>
          <p:cNvPr id="6" name="Group 6"/>
          <p:cNvGrpSpPr/>
          <p:nvPr/>
        </p:nvGrpSpPr>
        <p:grpSpPr>
          <a:xfrm>
            <a:off x="9759901" y="3196140"/>
            <a:ext cx="7749839" cy="5029147"/>
            <a:chOff x="0" y="0"/>
            <a:chExt cx="10709529" cy="6949796"/>
          </a:xfrm>
        </p:grpSpPr>
        <p:sp>
          <p:nvSpPr>
            <p:cNvPr id="7" name="Freeform 7"/>
            <p:cNvSpPr/>
            <p:nvPr/>
          </p:nvSpPr>
          <p:spPr>
            <a:xfrm>
              <a:off x="0" y="0"/>
              <a:ext cx="10709529" cy="6949821"/>
            </a:xfrm>
            <a:custGeom>
              <a:avLst/>
              <a:gdLst/>
              <a:ahLst/>
              <a:cxnLst/>
              <a:rect l="l" t="t" r="r" b="b"/>
              <a:pathLst>
                <a:path w="10709529" h="6949821">
                  <a:moveTo>
                    <a:pt x="0" y="0"/>
                  </a:moveTo>
                  <a:lnTo>
                    <a:pt x="10709529" y="0"/>
                  </a:lnTo>
                  <a:lnTo>
                    <a:pt x="10709529" y="6949821"/>
                  </a:lnTo>
                  <a:lnTo>
                    <a:pt x="0" y="6949821"/>
                  </a:lnTo>
                  <a:lnTo>
                    <a:pt x="0" y="0"/>
                  </a:lnTo>
                  <a:close/>
                </a:path>
              </a:pathLst>
            </a:custGeom>
            <a:blipFill>
              <a:blip r:embed="rId4"/>
              <a:stretch>
                <a:fillRect l="-4255" r="-11192"/>
              </a:stretch>
            </a:blipFill>
          </p:spPr>
          <p:txBody>
            <a:bodyPr/>
            <a:lstStyle/>
            <a:p>
              <a:endParaRPr lang="es-GT"/>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36773" y="473485"/>
            <a:ext cx="12470997" cy="1110431"/>
            <a:chOff x="0" y="0"/>
            <a:chExt cx="16627996" cy="1480575"/>
          </a:xfrm>
        </p:grpSpPr>
        <p:sp>
          <p:nvSpPr>
            <p:cNvPr id="3" name="Freeform 3"/>
            <p:cNvSpPr/>
            <p:nvPr/>
          </p:nvSpPr>
          <p:spPr>
            <a:xfrm>
              <a:off x="0" y="0"/>
              <a:ext cx="16628001" cy="1480573"/>
            </a:xfrm>
            <a:custGeom>
              <a:avLst/>
              <a:gdLst/>
              <a:ahLst/>
              <a:cxnLst/>
              <a:rect l="l" t="t" r="r" b="b"/>
              <a:pathLst>
                <a:path w="16628001" h="1480573">
                  <a:moveTo>
                    <a:pt x="0" y="0"/>
                  </a:moveTo>
                  <a:lnTo>
                    <a:pt x="16628001" y="0"/>
                  </a:lnTo>
                  <a:lnTo>
                    <a:pt x="16628001" y="1480573"/>
                  </a:lnTo>
                  <a:lnTo>
                    <a:pt x="0" y="1480573"/>
                  </a:lnTo>
                  <a:close/>
                </a:path>
              </a:pathLst>
            </a:custGeom>
            <a:blipFill>
              <a:blip r:embed="rId3">
                <a:alphaModFix amt="0"/>
              </a:blip>
              <a:stretch>
                <a:fillRect t="-115115" b="-222548"/>
              </a:stretch>
            </a:blipFill>
          </p:spPr>
          <p:txBody>
            <a:bodyPr/>
            <a:lstStyle/>
            <a:p>
              <a:endParaRPr lang="es-GT"/>
            </a:p>
          </p:txBody>
        </p:sp>
        <p:sp>
          <p:nvSpPr>
            <p:cNvPr id="4" name="TextBox 4"/>
            <p:cNvSpPr txBox="1"/>
            <p:nvPr/>
          </p:nvSpPr>
          <p:spPr>
            <a:xfrm>
              <a:off x="0" y="-123825"/>
              <a:ext cx="16627996" cy="1604400"/>
            </a:xfrm>
            <a:prstGeom prst="rect">
              <a:avLst/>
            </a:prstGeom>
          </p:spPr>
          <p:txBody>
            <a:bodyPr lIns="0" tIns="0" rIns="0" bIns="0" rtlCol="0" anchor="ctr"/>
            <a:lstStyle/>
            <a:p>
              <a:pPr algn="ctr">
                <a:lnSpc>
                  <a:spcPts val="6626"/>
                </a:lnSpc>
              </a:pPr>
              <a:r>
                <a:rPr lang="en-US" sz="5522">
                  <a:solidFill>
                    <a:srgbClr val="000000"/>
                  </a:solidFill>
                  <a:latin typeface="Calibri (MS)"/>
                  <a:ea typeface="Calibri (MS)"/>
                  <a:cs typeface="Calibri (MS)"/>
                  <a:sym typeface="Calibri (MS)"/>
                </a:rPr>
                <a:t>Sistema Octal y Hexadecimal</a:t>
              </a:r>
            </a:p>
          </p:txBody>
        </p:sp>
      </p:grpSp>
      <p:grpSp>
        <p:nvGrpSpPr>
          <p:cNvPr id="5" name="Group 5"/>
          <p:cNvGrpSpPr/>
          <p:nvPr/>
        </p:nvGrpSpPr>
        <p:grpSpPr>
          <a:xfrm>
            <a:off x="10172271" y="3827844"/>
            <a:ext cx="7251125" cy="3414903"/>
            <a:chOff x="0" y="0"/>
            <a:chExt cx="9668167" cy="4553204"/>
          </a:xfrm>
        </p:grpSpPr>
        <p:sp>
          <p:nvSpPr>
            <p:cNvPr id="6" name="Freeform 6"/>
            <p:cNvSpPr/>
            <p:nvPr/>
          </p:nvSpPr>
          <p:spPr>
            <a:xfrm>
              <a:off x="0" y="0"/>
              <a:ext cx="9668129" cy="4553204"/>
            </a:xfrm>
            <a:custGeom>
              <a:avLst/>
              <a:gdLst/>
              <a:ahLst/>
              <a:cxnLst/>
              <a:rect l="l" t="t" r="r" b="b"/>
              <a:pathLst>
                <a:path w="9668129" h="4553204">
                  <a:moveTo>
                    <a:pt x="0" y="0"/>
                  </a:moveTo>
                  <a:lnTo>
                    <a:pt x="9668129" y="0"/>
                  </a:lnTo>
                  <a:lnTo>
                    <a:pt x="9668129" y="4553204"/>
                  </a:lnTo>
                  <a:lnTo>
                    <a:pt x="0" y="4553204"/>
                  </a:lnTo>
                  <a:lnTo>
                    <a:pt x="0" y="0"/>
                  </a:lnTo>
                  <a:close/>
                </a:path>
              </a:pathLst>
            </a:custGeom>
            <a:blipFill>
              <a:blip r:embed="rId4"/>
              <a:stretch>
                <a:fillRect/>
              </a:stretch>
            </a:blipFill>
          </p:spPr>
          <p:txBody>
            <a:bodyPr/>
            <a:lstStyle/>
            <a:p>
              <a:endParaRPr lang="es-GT"/>
            </a:p>
          </p:txBody>
        </p:sp>
      </p:grpSp>
      <p:sp>
        <p:nvSpPr>
          <p:cNvPr id="7" name="TextBox 7"/>
          <p:cNvSpPr txBox="1"/>
          <p:nvPr/>
        </p:nvSpPr>
        <p:spPr>
          <a:xfrm>
            <a:off x="1028700" y="1793240"/>
            <a:ext cx="8886334" cy="7465060"/>
          </a:xfrm>
          <a:prstGeom prst="rect">
            <a:avLst/>
          </a:prstGeom>
        </p:spPr>
        <p:txBody>
          <a:bodyPr lIns="0" tIns="0" rIns="0" bIns="0" rtlCol="0" anchor="t">
            <a:spAutoFit/>
          </a:bodyPr>
          <a:lstStyle/>
          <a:p>
            <a:pPr algn="just">
              <a:lnSpc>
                <a:spcPts val="4250"/>
              </a:lnSpc>
            </a:pPr>
            <a:r>
              <a:rPr lang="en-US" sz="3400">
                <a:solidFill>
                  <a:srgbClr val="000000"/>
                </a:solidFill>
                <a:latin typeface="Open Sans"/>
                <a:ea typeface="Open Sans"/>
                <a:cs typeface="Open Sans"/>
                <a:sym typeface="Open Sans"/>
              </a:rPr>
              <a:t>Octal: Base 8, El sistema octal utiliza ocho símbolos (0 al 7) y es útil como una forma más compacta de representar valores binarios, ya que cada dígito octal equivale a 3 bits binarios. Fue usado ampliamente en sistemas antiguos y programación de bajo nivel.</a:t>
            </a:r>
          </a:p>
          <a:p>
            <a:pPr marL="396872" lvl="1" indent="-198436" algn="just">
              <a:lnSpc>
                <a:spcPts val="4250"/>
              </a:lnSpc>
            </a:pPr>
            <a:endParaRPr lang="en-US" sz="3400">
              <a:solidFill>
                <a:srgbClr val="000000"/>
              </a:solidFill>
              <a:latin typeface="Open Sans"/>
              <a:ea typeface="Open Sans"/>
              <a:cs typeface="Open Sans"/>
              <a:sym typeface="Open Sans"/>
            </a:endParaRPr>
          </a:p>
          <a:p>
            <a:pPr algn="just">
              <a:lnSpc>
                <a:spcPts val="4250"/>
              </a:lnSpc>
            </a:pPr>
            <a:r>
              <a:rPr lang="en-US" sz="3400">
                <a:solidFill>
                  <a:srgbClr val="000000"/>
                </a:solidFill>
                <a:latin typeface="Open Sans"/>
                <a:ea typeface="Open Sans"/>
                <a:cs typeface="Open Sans"/>
                <a:sym typeface="Open Sans"/>
              </a:rPr>
              <a:t>Hexadecimal: El sistema hexadecimal usa dieciséis símbolos (0-9 y A-F), donde A=10, B=11, ..., F=15. Es ampliamente utilizado en programación y electrónica digital porque cada dígito hexadecimal representa 4 bits (un nibble).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08502" y="1028700"/>
            <a:ext cx="12470997" cy="2303400"/>
            <a:chOff x="0" y="0"/>
            <a:chExt cx="16627996" cy="3071200"/>
          </a:xfrm>
        </p:grpSpPr>
        <p:sp>
          <p:nvSpPr>
            <p:cNvPr id="3" name="Freeform 3"/>
            <p:cNvSpPr/>
            <p:nvPr/>
          </p:nvSpPr>
          <p:spPr>
            <a:xfrm>
              <a:off x="0" y="0"/>
              <a:ext cx="16628001" cy="3071197"/>
            </a:xfrm>
            <a:custGeom>
              <a:avLst/>
              <a:gdLst/>
              <a:ahLst/>
              <a:cxnLst/>
              <a:rect l="l" t="t" r="r" b="b"/>
              <a:pathLst>
                <a:path w="16628001" h="3071197">
                  <a:moveTo>
                    <a:pt x="0" y="0"/>
                  </a:moveTo>
                  <a:lnTo>
                    <a:pt x="16628001" y="0"/>
                  </a:lnTo>
                  <a:lnTo>
                    <a:pt x="16628001" y="3071197"/>
                  </a:lnTo>
                  <a:lnTo>
                    <a:pt x="0" y="3071197"/>
                  </a:lnTo>
                  <a:close/>
                </a:path>
              </a:pathLst>
            </a:custGeom>
            <a:blipFill>
              <a:blip r:embed="rId3">
                <a:alphaModFix amt="0"/>
              </a:blip>
              <a:stretch>
                <a:fillRect t="-55495" b="-55495"/>
              </a:stretch>
            </a:blipFill>
          </p:spPr>
          <p:txBody>
            <a:bodyPr/>
            <a:lstStyle/>
            <a:p>
              <a:endParaRPr lang="es-GT"/>
            </a:p>
          </p:txBody>
        </p:sp>
        <p:sp>
          <p:nvSpPr>
            <p:cNvPr id="4" name="TextBox 4"/>
            <p:cNvSpPr txBox="1"/>
            <p:nvPr/>
          </p:nvSpPr>
          <p:spPr>
            <a:xfrm>
              <a:off x="0" y="-85725"/>
              <a:ext cx="16627996" cy="3156925"/>
            </a:xfrm>
            <a:prstGeom prst="rect">
              <a:avLst/>
            </a:prstGeom>
          </p:spPr>
          <p:txBody>
            <a:bodyPr lIns="0" tIns="0" rIns="0" bIns="0" rtlCol="0" anchor="ctr"/>
            <a:lstStyle/>
            <a:p>
              <a:pPr algn="ctr">
                <a:lnSpc>
                  <a:spcPts val="5040"/>
                </a:lnSpc>
              </a:pPr>
              <a:r>
                <a:rPr lang="en-US" sz="4200">
                  <a:solidFill>
                    <a:srgbClr val="000000"/>
                  </a:solidFill>
                  <a:latin typeface="Calibri (MS)"/>
                  <a:ea typeface="Calibri (MS)"/>
                  <a:cs typeface="Calibri (MS)"/>
                  <a:sym typeface="Calibri (MS)"/>
                </a:rPr>
                <a:t>Codificación de la información: </a:t>
              </a:r>
            </a:p>
            <a:p>
              <a:pPr algn="ctr">
                <a:lnSpc>
                  <a:spcPts val="5040"/>
                </a:lnSpc>
              </a:pPr>
              <a:r>
                <a:rPr lang="en-US" sz="4200">
                  <a:solidFill>
                    <a:srgbClr val="000000"/>
                  </a:solidFill>
                  <a:latin typeface="Calibri (MS)"/>
                  <a:ea typeface="Calibri (MS)"/>
                  <a:cs typeface="Calibri (MS)"/>
                  <a:sym typeface="Calibri (MS)"/>
                </a:rPr>
                <a:t>Codificación ASCII, EBCDIC, </a:t>
              </a:r>
            </a:p>
            <a:p>
              <a:pPr algn="ctr">
                <a:lnSpc>
                  <a:spcPts val="5040"/>
                </a:lnSpc>
              </a:pPr>
              <a:r>
                <a:rPr lang="en-US" sz="4200">
                  <a:solidFill>
                    <a:srgbClr val="000000"/>
                  </a:solidFill>
                  <a:latin typeface="Calibri (MS)"/>
                  <a:ea typeface="Calibri (MS)"/>
                  <a:cs typeface="Calibri (MS)"/>
                  <a:sym typeface="Calibri (MS)"/>
                </a:rPr>
                <a:t>UNICODE, ISO-8859</a:t>
              </a:r>
            </a:p>
          </p:txBody>
        </p:sp>
      </p:grpSp>
      <p:sp>
        <p:nvSpPr>
          <p:cNvPr id="5" name="TextBox 5"/>
          <p:cNvSpPr txBox="1"/>
          <p:nvPr/>
        </p:nvSpPr>
        <p:spPr>
          <a:xfrm>
            <a:off x="1028700" y="3688028"/>
            <a:ext cx="16230600" cy="4659630"/>
          </a:xfrm>
          <a:prstGeom prst="rect">
            <a:avLst/>
          </a:prstGeom>
        </p:spPr>
        <p:txBody>
          <a:bodyPr lIns="0" tIns="0" rIns="0" bIns="0" rtlCol="0" anchor="t">
            <a:spAutoFit/>
          </a:bodyPr>
          <a:lstStyle/>
          <a:p>
            <a:pPr algn="just">
              <a:lnSpc>
                <a:spcPts val="5250"/>
              </a:lnSpc>
            </a:pPr>
            <a:r>
              <a:rPr lang="en-US" sz="4200">
                <a:solidFill>
                  <a:srgbClr val="000000"/>
                </a:solidFill>
                <a:latin typeface="Open Sans"/>
                <a:ea typeface="Open Sans"/>
                <a:cs typeface="Open Sans"/>
                <a:sym typeface="Open Sans"/>
              </a:rPr>
              <a:t>La codificación de caracteres es el proceso mediante el cual los símbolos (letras, números, signos) son representados en forma digital para ser almacenados y procesados por computadoras. Cada carácter es asociado a un número (código) que la máquina interpreta como una secuencia binaria. Existen distintos estándares de codificación, cada uno con diferentes capacidades y compatibilidades.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524402" y="614096"/>
            <a:ext cx="12470997" cy="2303402"/>
            <a:chOff x="0" y="0"/>
            <a:chExt cx="16627996" cy="3071203"/>
          </a:xfrm>
        </p:grpSpPr>
        <p:sp>
          <p:nvSpPr>
            <p:cNvPr id="3" name="Freeform 3"/>
            <p:cNvSpPr/>
            <p:nvPr/>
          </p:nvSpPr>
          <p:spPr>
            <a:xfrm>
              <a:off x="0" y="0"/>
              <a:ext cx="16628001" cy="3071200"/>
            </a:xfrm>
            <a:custGeom>
              <a:avLst/>
              <a:gdLst/>
              <a:ahLst/>
              <a:cxnLst/>
              <a:rect l="l" t="t" r="r" b="b"/>
              <a:pathLst>
                <a:path w="16628001" h="3071200">
                  <a:moveTo>
                    <a:pt x="0" y="0"/>
                  </a:moveTo>
                  <a:lnTo>
                    <a:pt x="16628001" y="0"/>
                  </a:lnTo>
                  <a:lnTo>
                    <a:pt x="16628001" y="3071200"/>
                  </a:lnTo>
                  <a:lnTo>
                    <a:pt x="0" y="3071200"/>
                  </a:lnTo>
                  <a:close/>
                </a:path>
              </a:pathLst>
            </a:custGeom>
            <a:blipFill>
              <a:blip r:embed="rId3">
                <a:alphaModFix amt="0"/>
              </a:blip>
              <a:stretch>
                <a:fillRect t="-55495" b="-55495"/>
              </a:stretch>
            </a:blipFill>
          </p:spPr>
          <p:txBody>
            <a:bodyPr/>
            <a:lstStyle/>
            <a:p>
              <a:endParaRPr lang="es-GT"/>
            </a:p>
          </p:txBody>
        </p:sp>
        <p:sp>
          <p:nvSpPr>
            <p:cNvPr id="4" name="TextBox 4"/>
            <p:cNvSpPr txBox="1"/>
            <p:nvPr/>
          </p:nvSpPr>
          <p:spPr>
            <a:xfrm>
              <a:off x="0" y="-95250"/>
              <a:ext cx="16627996" cy="3166453"/>
            </a:xfrm>
            <a:prstGeom prst="rect">
              <a:avLst/>
            </a:prstGeom>
          </p:spPr>
          <p:txBody>
            <a:bodyPr lIns="0" tIns="0" rIns="0" bIns="0" rtlCol="0" anchor="ctr"/>
            <a:lstStyle/>
            <a:p>
              <a:pPr algn="ctr">
                <a:lnSpc>
                  <a:spcPts val="5692"/>
                </a:lnSpc>
              </a:pPr>
              <a:r>
                <a:rPr lang="en-US" sz="4744">
                  <a:solidFill>
                    <a:srgbClr val="000000"/>
                  </a:solidFill>
                  <a:latin typeface="Calibri (MS)"/>
                  <a:ea typeface="Calibri (MS)"/>
                  <a:cs typeface="Calibri (MS)"/>
                  <a:sym typeface="Calibri (MS)"/>
                </a:rPr>
                <a:t>Codificación de la información: </a:t>
              </a:r>
            </a:p>
            <a:p>
              <a:pPr algn="ctr">
                <a:lnSpc>
                  <a:spcPts val="5692"/>
                </a:lnSpc>
              </a:pPr>
              <a:r>
                <a:rPr lang="en-US" sz="4744">
                  <a:solidFill>
                    <a:srgbClr val="000000"/>
                  </a:solidFill>
                  <a:latin typeface="Calibri (MS)"/>
                  <a:ea typeface="Calibri (MS)"/>
                  <a:cs typeface="Calibri (MS)"/>
                  <a:sym typeface="Calibri (MS)"/>
                </a:rPr>
                <a:t>Codificación ASCII, EBCDIC, </a:t>
              </a:r>
            </a:p>
            <a:p>
              <a:pPr algn="ctr">
                <a:lnSpc>
                  <a:spcPts val="5692"/>
                </a:lnSpc>
              </a:pPr>
              <a:r>
                <a:rPr lang="en-US" sz="4744">
                  <a:solidFill>
                    <a:srgbClr val="000000"/>
                  </a:solidFill>
                  <a:latin typeface="Calibri (MS)"/>
                  <a:ea typeface="Calibri (MS)"/>
                  <a:cs typeface="Calibri (MS)"/>
                  <a:sym typeface="Calibri (MS)"/>
                </a:rPr>
                <a:t>UNICODE, ISO-8859</a:t>
              </a:r>
            </a:p>
          </p:txBody>
        </p:sp>
      </p:grpSp>
      <p:sp>
        <p:nvSpPr>
          <p:cNvPr id="5" name="TextBox 5"/>
          <p:cNvSpPr txBox="1"/>
          <p:nvPr/>
        </p:nvSpPr>
        <p:spPr>
          <a:xfrm>
            <a:off x="1028700" y="3265170"/>
            <a:ext cx="16230600" cy="5993130"/>
          </a:xfrm>
          <a:prstGeom prst="rect">
            <a:avLst/>
          </a:prstGeom>
        </p:spPr>
        <p:txBody>
          <a:bodyPr lIns="0" tIns="0" rIns="0" bIns="0" rtlCol="0" anchor="t">
            <a:spAutoFit/>
          </a:bodyPr>
          <a:lstStyle/>
          <a:p>
            <a:pPr algn="l">
              <a:lnSpc>
                <a:spcPts val="5250"/>
              </a:lnSpc>
            </a:pPr>
            <a:r>
              <a:rPr lang="en-US" sz="4200" b="1">
                <a:solidFill>
                  <a:srgbClr val="000000"/>
                </a:solidFill>
                <a:latin typeface="Open Sans Bold"/>
                <a:ea typeface="Open Sans Bold"/>
                <a:cs typeface="Open Sans Bold"/>
                <a:sym typeface="Open Sans Bold"/>
              </a:rPr>
              <a:t>ASCII (American Standard Code for Information Interchange)</a:t>
            </a:r>
          </a:p>
          <a:p>
            <a:pPr algn="l">
              <a:lnSpc>
                <a:spcPts val="5250"/>
              </a:lnSpc>
            </a:pPr>
            <a:r>
              <a:rPr lang="en-US" sz="4200">
                <a:solidFill>
                  <a:srgbClr val="000000"/>
                </a:solidFill>
                <a:latin typeface="Open Sans"/>
                <a:ea typeface="Open Sans"/>
                <a:cs typeface="Open Sans"/>
                <a:sym typeface="Open Sans"/>
              </a:rPr>
              <a:t>El código ASCII es uno de los sistemas de codificación más antiguos y ampliamente utilizados. Usa 7 bits para representar 128 caracteres, incluyendo letras en mayúsculas y minúsculas del alfabeto inglés, dígitos, signos de puntuación y caracteres de control como salto de línea o tabulación. Aunque limitado a caracteres básicos en inglés, ASCII fue el punto de partida para muchas otras codificaciones y aún se utiliza en sistemas modernos como base de compatibilidad.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524402" y="614096"/>
            <a:ext cx="12470997" cy="2303402"/>
            <a:chOff x="0" y="0"/>
            <a:chExt cx="16627996" cy="3071203"/>
          </a:xfrm>
        </p:grpSpPr>
        <p:sp>
          <p:nvSpPr>
            <p:cNvPr id="3" name="Freeform 3"/>
            <p:cNvSpPr/>
            <p:nvPr/>
          </p:nvSpPr>
          <p:spPr>
            <a:xfrm>
              <a:off x="0" y="0"/>
              <a:ext cx="16628001" cy="3071200"/>
            </a:xfrm>
            <a:custGeom>
              <a:avLst/>
              <a:gdLst/>
              <a:ahLst/>
              <a:cxnLst/>
              <a:rect l="l" t="t" r="r" b="b"/>
              <a:pathLst>
                <a:path w="16628001" h="3071200">
                  <a:moveTo>
                    <a:pt x="0" y="0"/>
                  </a:moveTo>
                  <a:lnTo>
                    <a:pt x="16628001" y="0"/>
                  </a:lnTo>
                  <a:lnTo>
                    <a:pt x="16628001" y="3071200"/>
                  </a:lnTo>
                  <a:lnTo>
                    <a:pt x="0" y="3071200"/>
                  </a:lnTo>
                  <a:close/>
                </a:path>
              </a:pathLst>
            </a:custGeom>
            <a:blipFill>
              <a:blip r:embed="rId3">
                <a:alphaModFix amt="0"/>
              </a:blip>
              <a:stretch>
                <a:fillRect t="-55495" b="-55495"/>
              </a:stretch>
            </a:blipFill>
          </p:spPr>
          <p:txBody>
            <a:bodyPr/>
            <a:lstStyle/>
            <a:p>
              <a:endParaRPr lang="es-GT"/>
            </a:p>
          </p:txBody>
        </p:sp>
        <p:sp>
          <p:nvSpPr>
            <p:cNvPr id="4" name="TextBox 4"/>
            <p:cNvSpPr txBox="1"/>
            <p:nvPr/>
          </p:nvSpPr>
          <p:spPr>
            <a:xfrm>
              <a:off x="0" y="-95250"/>
              <a:ext cx="16627996" cy="3166453"/>
            </a:xfrm>
            <a:prstGeom prst="rect">
              <a:avLst/>
            </a:prstGeom>
          </p:spPr>
          <p:txBody>
            <a:bodyPr lIns="0" tIns="0" rIns="0" bIns="0" rtlCol="0" anchor="ctr"/>
            <a:lstStyle/>
            <a:p>
              <a:pPr algn="ctr">
                <a:lnSpc>
                  <a:spcPts val="5692"/>
                </a:lnSpc>
              </a:pPr>
              <a:r>
                <a:rPr lang="en-US" sz="4744">
                  <a:solidFill>
                    <a:srgbClr val="000000"/>
                  </a:solidFill>
                  <a:latin typeface="Calibri (MS)"/>
                  <a:ea typeface="Calibri (MS)"/>
                  <a:cs typeface="Calibri (MS)"/>
                  <a:sym typeface="Calibri (MS)"/>
                </a:rPr>
                <a:t>Codificación de la información: </a:t>
              </a:r>
            </a:p>
            <a:p>
              <a:pPr algn="ctr">
                <a:lnSpc>
                  <a:spcPts val="5692"/>
                </a:lnSpc>
              </a:pPr>
              <a:r>
                <a:rPr lang="en-US" sz="4744">
                  <a:solidFill>
                    <a:srgbClr val="000000"/>
                  </a:solidFill>
                  <a:latin typeface="Calibri (MS)"/>
                  <a:ea typeface="Calibri (MS)"/>
                  <a:cs typeface="Calibri (MS)"/>
                  <a:sym typeface="Calibri (MS)"/>
                </a:rPr>
                <a:t>Codificación ASCII, EBCDIC, </a:t>
              </a:r>
            </a:p>
            <a:p>
              <a:pPr algn="ctr">
                <a:lnSpc>
                  <a:spcPts val="5692"/>
                </a:lnSpc>
              </a:pPr>
              <a:r>
                <a:rPr lang="en-US" sz="4744">
                  <a:solidFill>
                    <a:srgbClr val="000000"/>
                  </a:solidFill>
                  <a:latin typeface="Calibri (MS)"/>
                  <a:ea typeface="Calibri (MS)"/>
                  <a:cs typeface="Calibri (MS)"/>
                  <a:sym typeface="Calibri (MS)"/>
                </a:rPr>
                <a:t>UNICODE, ISO-8859</a:t>
              </a:r>
            </a:p>
          </p:txBody>
        </p:sp>
      </p:grpSp>
      <p:sp>
        <p:nvSpPr>
          <p:cNvPr id="5" name="TextBox 5"/>
          <p:cNvSpPr txBox="1"/>
          <p:nvPr/>
        </p:nvSpPr>
        <p:spPr>
          <a:xfrm>
            <a:off x="1028700" y="3463311"/>
            <a:ext cx="16230600" cy="5411603"/>
          </a:xfrm>
          <a:prstGeom prst="rect">
            <a:avLst/>
          </a:prstGeom>
        </p:spPr>
        <p:txBody>
          <a:bodyPr lIns="0" tIns="0" rIns="0" bIns="0" rtlCol="0" anchor="t">
            <a:spAutoFit/>
          </a:bodyPr>
          <a:lstStyle/>
          <a:p>
            <a:pPr algn="just">
              <a:lnSpc>
                <a:spcPts val="5348"/>
              </a:lnSpc>
            </a:pPr>
            <a:r>
              <a:rPr lang="en-US" sz="4278" b="1">
                <a:solidFill>
                  <a:srgbClr val="000000"/>
                </a:solidFill>
                <a:latin typeface="Roboto Bold"/>
                <a:ea typeface="Roboto Bold"/>
                <a:cs typeface="Roboto Bold"/>
                <a:sym typeface="Roboto Bold"/>
              </a:rPr>
              <a:t>EBCDIC (Extended Binary Coded Decimal Interchange Code)</a:t>
            </a:r>
          </a:p>
          <a:p>
            <a:pPr algn="just">
              <a:lnSpc>
                <a:spcPts val="5348"/>
              </a:lnSpc>
            </a:pPr>
            <a:r>
              <a:rPr lang="en-US" sz="4278">
                <a:solidFill>
                  <a:srgbClr val="000000"/>
                </a:solidFill>
                <a:latin typeface="Roboto"/>
                <a:ea typeface="Roboto"/>
                <a:cs typeface="Roboto"/>
                <a:sym typeface="Roboto"/>
              </a:rPr>
              <a:t>EBCDIC es una codificación desarrollada por IBM en los años 60 para sus mainframes. Utiliza 8 bits y puede representar 256 caracteres, pero su distribución binaria es distinta a ASCII, lo que lo hace incompatible con sistemas modernos basados en ASCII/Unicode. Fue ampliamente utilizado en entornos empresariales antiguos, aunque hoy en día ha sido casi completamente reemplazado.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524402" y="614096"/>
            <a:ext cx="12470997" cy="2303402"/>
            <a:chOff x="0" y="0"/>
            <a:chExt cx="16627996" cy="3071203"/>
          </a:xfrm>
        </p:grpSpPr>
        <p:sp>
          <p:nvSpPr>
            <p:cNvPr id="3" name="Freeform 3"/>
            <p:cNvSpPr/>
            <p:nvPr/>
          </p:nvSpPr>
          <p:spPr>
            <a:xfrm>
              <a:off x="0" y="0"/>
              <a:ext cx="16628001" cy="3071200"/>
            </a:xfrm>
            <a:custGeom>
              <a:avLst/>
              <a:gdLst/>
              <a:ahLst/>
              <a:cxnLst/>
              <a:rect l="l" t="t" r="r" b="b"/>
              <a:pathLst>
                <a:path w="16628001" h="3071200">
                  <a:moveTo>
                    <a:pt x="0" y="0"/>
                  </a:moveTo>
                  <a:lnTo>
                    <a:pt x="16628001" y="0"/>
                  </a:lnTo>
                  <a:lnTo>
                    <a:pt x="16628001" y="3071200"/>
                  </a:lnTo>
                  <a:lnTo>
                    <a:pt x="0" y="3071200"/>
                  </a:lnTo>
                  <a:close/>
                </a:path>
              </a:pathLst>
            </a:custGeom>
            <a:blipFill>
              <a:blip r:embed="rId3">
                <a:alphaModFix amt="0"/>
              </a:blip>
              <a:stretch>
                <a:fillRect t="-55495" b="-55495"/>
              </a:stretch>
            </a:blipFill>
          </p:spPr>
          <p:txBody>
            <a:bodyPr/>
            <a:lstStyle/>
            <a:p>
              <a:endParaRPr lang="es-GT"/>
            </a:p>
          </p:txBody>
        </p:sp>
        <p:sp>
          <p:nvSpPr>
            <p:cNvPr id="4" name="TextBox 4"/>
            <p:cNvSpPr txBox="1"/>
            <p:nvPr/>
          </p:nvSpPr>
          <p:spPr>
            <a:xfrm>
              <a:off x="0" y="-95250"/>
              <a:ext cx="16627996" cy="3166453"/>
            </a:xfrm>
            <a:prstGeom prst="rect">
              <a:avLst/>
            </a:prstGeom>
          </p:spPr>
          <p:txBody>
            <a:bodyPr lIns="0" tIns="0" rIns="0" bIns="0" rtlCol="0" anchor="ctr"/>
            <a:lstStyle/>
            <a:p>
              <a:pPr algn="ctr">
                <a:lnSpc>
                  <a:spcPts val="5692"/>
                </a:lnSpc>
              </a:pPr>
              <a:r>
                <a:rPr lang="en-US" sz="4744">
                  <a:solidFill>
                    <a:srgbClr val="000000"/>
                  </a:solidFill>
                  <a:latin typeface="Calibri (MS)"/>
                  <a:ea typeface="Calibri (MS)"/>
                  <a:cs typeface="Calibri (MS)"/>
                  <a:sym typeface="Calibri (MS)"/>
                </a:rPr>
                <a:t>Codificación de la información: </a:t>
              </a:r>
            </a:p>
            <a:p>
              <a:pPr algn="ctr">
                <a:lnSpc>
                  <a:spcPts val="5692"/>
                </a:lnSpc>
              </a:pPr>
              <a:r>
                <a:rPr lang="en-US" sz="4744">
                  <a:solidFill>
                    <a:srgbClr val="000000"/>
                  </a:solidFill>
                  <a:latin typeface="Calibri (MS)"/>
                  <a:ea typeface="Calibri (MS)"/>
                  <a:cs typeface="Calibri (MS)"/>
                  <a:sym typeface="Calibri (MS)"/>
                </a:rPr>
                <a:t>Codificación ASCII, EBCDIC, </a:t>
              </a:r>
            </a:p>
            <a:p>
              <a:pPr algn="ctr">
                <a:lnSpc>
                  <a:spcPts val="5692"/>
                </a:lnSpc>
              </a:pPr>
              <a:r>
                <a:rPr lang="en-US" sz="4744">
                  <a:solidFill>
                    <a:srgbClr val="000000"/>
                  </a:solidFill>
                  <a:latin typeface="Calibri (MS)"/>
                  <a:ea typeface="Calibri (MS)"/>
                  <a:cs typeface="Calibri (MS)"/>
                  <a:sym typeface="Calibri (MS)"/>
                </a:rPr>
                <a:t>UNICODE, ISO-8859</a:t>
              </a:r>
            </a:p>
          </p:txBody>
        </p:sp>
      </p:grpSp>
      <p:sp>
        <p:nvSpPr>
          <p:cNvPr id="5" name="TextBox 5"/>
          <p:cNvSpPr txBox="1"/>
          <p:nvPr/>
        </p:nvSpPr>
        <p:spPr>
          <a:xfrm>
            <a:off x="1028700" y="3201670"/>
            <a:ext cx="16230600" cy="6056630"/>
          </a:xfrm>
          <a:prstGeom prst="rect">
            <a:avLst/>
          </a:prstGeom>
        </p:spPr>
        <p:txBody>
          <a:bodyPr lIns="0" tIns="0" rIns="0" bIns="0" rtlCol="0" anchor="t">
            <a:spAutoFit/>
          </a:bodyPr>
          <a:lstStyle/>
          <a:p>
            <a:pPr algn="l">
              <a:lnSpc>
                <a:spcPts val="4000"/>
              </a:lnSpc>
            </a:pPr>
            <a:r>
              <a:rPr lang="en-US" sz="3200" b="1">
                <a:solidFill>
                  <a:srgbClr val="000000"/>
                </a:solidFill>
                <a:latin typeface="Open Sans Bold"/>
                <a:ea typeface="Open Sans Bold"/>
                <a:cs typeface="Open Sans Bold"/>
                <a:sym typeface="Open Sans Bold"/>
              </a:rPr>
              <a:t>UNICODE</a:t>
            </a:r>
          </a:p>
          <a:p>
            <a:pPr algn="l">
              <a:lnSpc>
                <a:spcPts val="4000"/>
              </a:lnSpc>
            </a:pPr>
            <a:r>
              <a:rPr lang="en-US" sz="3200">
                <a:solidFill>
                  <a:srgbClr val="000000"/>
                </a:solidFill>
                <a:latin typeface="Open Sans"/>
                <a:ea typeface="Open Sans"/>
                <a:cs typeface="Open Sans"/>
                <a:sym typeface="Open Sans"/>
              </a:rPr>
              <a:t>Unicode es el estándar de codificación de caracteres más completo y universal. Fue diseñado para representar todos los caracteres de todos los idiomas del mundo, incluyendo alfabetos latinos, chinos, árabes, emojis y símbolos técnicos. Unicode asigna a cada carácter un número único, llamado código de punto, y define varias formas de codificación como UTF-8, UTF-16 y UTF-32.</a:t>
            </a:r>
          </a:p>
          <a:p>
            <a:pPr algn="l">
              <a:lnSpc>
                <a:spcPts val="4000"/>
              </a:lnSpc>
            </a:pPr>
            <a:endParaRPr lang="en-US" sz="3200">
              <a:solidFill>
                <a:srgbClr val="000000"/>
              </a:solidFill>
              <a:latin typeface="Open Sans"/>
              <a:ea typeface="Open Sans"/>
              <a:cs typeface="Open Sans"/>
              <a:sym typeface="Open Sans"/>
            </a:endParaRPr>
          </a:p>
          <a:p>
            <a:pPr algn="l">
              <a:lnSpc>
                <a:spcPts val="4000"/>
              </a:lnSpc>
            </a:pPr>
            <a:r>
              <a:rPr lang="en-US" sz="3200">
                <a:solidFill>
                  <a:srgbClr val="000000"/>
                </a:solidFill>
                <a:latin typeface="Open Sans"/>
                <a:ea typeface="Open Sans"/>
                <a:cs typeface="Open Sans"/>
                <a:sym typeface="Open Sans"/>
              </a:rPr>
              <a:t>UTF-8 es la forma más común y eficiente, compatible con ASCII y ampliamente usada en internet.</a:t>
            </a:r>
          </a:p>
          <a:p>
            <a:pPr algn="l">
              <a:lnSpc>
                <a:spcPts val="4000"/>
              </a:lnSpc>
            </a:pPr>
            <a:endParaRPr lang="en-US" sz="3200">
              <a:solidFill>
                <a:srgbClr val="000000"/>
              </a:solidFill>
              <a:latin typeface="Open Sans"/>
              <a:ea typeface="Open Sans"/>
              <a:cs typeface="Open Sans"/>
              <a:sym typeface="Open Sans"/>
            </a:endParaRPr>
          </a:p>
          <a:p>
            <a:pPr algn="l">
              <a:lnSpc>
                <a:spcPts val="4000"/>
              </a:lnSpc>
            </a:pPr>
            <a:r>
              <a:rPr lang="en-US" sz="3200">
                <a:solidFill>
                  <a:srgbClr val="000000"/>
                </a:solidFill>
                <a:latin typeface="Open Sans"/>
                <a:ea typeface="Open Sans"/>
                <a:cs typeface="Open Sans"/>
                <a:sym typeface="Open Sans"/>
              </a:rPr>
              <a:t>Unicode puede representar más de 1 millón de caracteres diferentes, lo que lo convierte en el estándar dominante a nivel global.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524402" y="614096"/>
            <a:ext cx="12470997" cy="2303402"/>
            <a:chOff x="0" y="0"/>
            <a:chExt cx="16627996" cy="3071203"/>
          </a:xfrm>
        </p:grpSpPr>
        <p:sp>
          <p:nvSpPr>
            <p:cNvPr id="3" name="Freeform 3"/>
            <p:cNvSpPr/>
            <p:nvPr/>
          </p:nvSpPr>
          <p:spPr>
            <a:xfrm>
              <a:off x="0" y="0"/>
              <a:ext cx="16628001" cy="3071200"/>
            </a:xfrm>
            <a:custGeom>
              <a:avLst/>
              <a:gdLst/>
              <a:ahLst/>
              <a:cxnLst/>
              <a:rect l="l" t="t" r="r" b="b"/>
              <a:pathLst>
                <a:path w="16628001" h="3071200">
                  <a:moveTo>
                    <a:pt x="0" y="0"/>
                  </a:moveTo>
                  <a:lnTo>
                    <a:pt x="16628001" y="0"/>
                  </a:lnTo>
                  <a:lnTo>
                    <a:pt x="16628001" y="3071200"/>
                  </a:lnTo>
                  <a:lnTo>
                    <a:pt x="0" y="3071200"/>
                  </a:lnTo>
                  <a:close/>
                </a:path>
              </a:pathLst>
            </a:custGeom>
            <a:blipFill>
              <a:blip r:embed="rId3">
                <a:alphaModFix amt="0"/>
              </a:blip>
              <a:stretch>
                <a:fillRect t="-55495" b="-55495"/>
              </a:stretch>
            </a:blipFill>
          </p:spPr>
          <p:txBody>
            <a:bodyPr/>
            <a:lstStyle/>
            <a:p>
              <a:endParaRPr lang="es-GT"/>
            </a:p>
          </p:txBody>
        </p:sp>
        <p:sp>
          <p:nvSpPr>
            <p:cNvPr id="4" name="TextBox 4"/>
            <p:cNvSpPr txBox="1"/>
            <p:nvPr/>
          </p:nvSpPr>
          <p:spPr>
            <a:xfrm>
              <a:off x="0" y="-95250"/>
              <a:ext cx="16627996" cy="3166453"/>
            </a:xfrm>
            <a:prstGeom prst="rect">
              <a:avLst/>
            </a:prstGeom>
          </p:spPr>
          <p:txBody>
            <a:bodyPr lIns="0" tIns="0" rIns="0" bIns="0" rtlCol="0" anchor="ctr"/>
            <a:lstStyle/>
            <a:p>
              <a:pPr algn="ctr">
                <a:lnSpc>
                  <a:spcPts val="5692"/>
                </a:lnSpc>
              </a:pPr>
              <a:r>
                <a:rPr lang="en-US" sz="4744">
                  <a:solidFill>
                    <a:srgbClr val="000000"/>
                  </a:solidFill>
                  <a:latin typeface="Calibri (MS)"/>
                  <a:ea typeface="Calibri (MS)"/>
                  <a:cs typeface="Calibri (MS)"/>
                  <a:sym typeface="Calibri (MS)"/>
                </a:rPr>
                <a:t>Codificación de la información: </a:t>
              </a:r>
            </a:p>
            <a:p>
              <a:pPr algn="ctr">
                <a:lnSpc>
                  <a:spcPts val="5692"/>
                </a:lnSpc>
              </a:pPr>
              <a:r>
                <a:rPr lang="en-US" sz="4744">
                  <a:solidFill>
                    <a:srgbClr val="000000"/>
                  </a:solidFill>
                  <a:latin typeface="Calibri (MS)"/>
                  <a:ea typeface="Calibri (MS)"/>
                  <a:cs typeface="Calibri (MS)"/>
                  <a:sym typeface="Calibri (MS)"/>
                </a:rPr>
                <a:t>Codificación ASCII, EBCDIC, </a:t>
              </a:r>
            </a:p>
            <a:p>
              <a:pPr algn="ctr">
                <a:lnSpc>
                  <a:spcPts val="5692"/>
                </a:lnSpc>
              </a:pPr>
              <a:r>
                <a:rPr lang="en-US" sz="4744">
                  <a:solidFill>
                    <a:srgbClr val="000000"/>
                  </a:solidFill>
                  <a:latin typeface="Calibri (MS)"/>
                  <a:ea typeface="Calibri (MS)"/>
                  <a:cs typeface="Calibri (MS)"/>
                  <a:sym typeface="Calibri (MS)"/>
                </a:rPr>
                <a:t>UNICODE, ISO-8859</a:t>
              </a:r>
            </a:p>
          </p:txBody>
        </p:sp>
      </p:grpSp>
      <p:sp>
        <p:nvSpPr>
          <p:cNvPr id="5" name="TextBox 5"/>
          <p:cNvSpPr txBox="1"/>
          <p:nvPr/>
        </p:nvSpPr>
        <p:spPr>
          <a:xfrm>
            <a:off x="1028700" y="3547110"/>
            <a:ext cx="16230600" cy="5711190"/>
          </a:xfrm>
          <a:prstGeom prst="rect">
            <a:avLst/>
          </a:prstGeom>
        </p:spPr>
        <p:txBody>
          <a:bodyPr lIns="0" tIns="0" rIns="0" bIns="0" rtlCol="0" anchor="t">
            <a:spAutoFit/>
          </a:bodyPr>
          <a:lstStyle/>
          <a:p>
            <a:pPr algn="just">
              <a:lnSpc>
                <a:spcPts val="4500"/>
              </a:lnSpc>
            </a:pPr>
            <a:r>
              <a:rPr lang="en-US" sz="3600" b="1">
                <a:solidFill>
                  <a:srgbClr val="000000"/>
                </a:solidFill>
                <a:latin typeface="Open Sans Bold"/>
                <a:ea typeface="Open Sans Bold"/>
                <a:cs typeface="Open Sans Bold"/>
                <a:sym typeface="Open Sans Bold"/>
              </a:rPr>
              <a:t>SO-8859 (Latin Alphabet Series)</a:t>
            </a:r>
          </a:p>
          <a:p>
            <a:pPr algn="just">
              <a:lnSpc>
                <a:spcPts val="4500"/>
              </a:lnSpc>
            </a:pPr>
            <a:r>
              <a:rPr lang="en-US" sz="3600">
                <a:solidFill>
                  <a:srgbClr val="000000"/>
                </a:solidFill>
                <a:latin typeface="Open Sans"/>
                <a:ea typeface="Open Sans"/>
                <a:cs typeface="Open Sans"/>
                <a:sym typeface="Open Sans"/>
              </a:rPr>
              <a:t>ISO-8859 es una familia de codificaciones de 8 bits desarrolladas por la ISO para representar caracteres en diferentes alfabetos europeos. Cada variante cubre un conjunto regional específico. Por ejemplo:</a:t>
            </a:r>
          </a:p>
          <a:p>
            <a:pPr algn="just">
              <a:lnSpc>
                <a:spcPts val="4500"/>
              </a:lnSpc>
            </a:pPr>
            <a:endParaRPr lang="en-US" sz="3600">
              <a:solidFill>
                <a:srgbClr val="000000"/>
              </a:solidFill>
              <a:latin typeface="Open Sans"/>
              <a:ea typeface="Open Sans"/>
              <a:cs typeface="Open Sans"/>
              <a:sym typeface="Open Sans"/>
            </a:endParaRPr>
          </a:p>
          <a:p>
            <a:pPr algn="just">
              <a:lnSpc>
                <a:spcPts val="4500"/>
              </a:lnSpc>
            </a:pPr>
            <a:r>
              <a:rPr lang="en-US" sz="3600" b="1">
                <a:solidFill>
                  <a:srgbClr val="000000"/>
                </a:solidFill>
                <a:latin typeface="Open Sans Bold"/>
                <a:ea typeface="Open Sans Bold"/>
                <a:cs typeface="Open Sans Bold"/>
                <a:sym typeface="Open Sans Bold"/>
              </a:rPr>
              <a:t>ISO-8859-1: </a:t>
            </a:r>
            <a:r>
              <a:rPr lang="en-US" sz="3600">
                <a:solidFill>
                  <a:srgbClr val="000000"/>
                </a:solidFill>
                <a:latin typeface="Open Sans"/>
                <a:ea typeface="Open Sans"/>
                <a:cs typeface="Open Sans"/>
                <a:sym typeface="Open Sans"/>
              </a:rPr>
              <a:t>También conocido como Latin-1, cubre idiomas como inglés, francés, alemán, español y portugués.</a:t>
            </a:r>
          </a:p>
          <a:p>
            <a:pPr algn="just">
              <a:lnSpc>
                <a:spcPts val="4500"/>
              </a:lnSpc>
            </a:pPr>
            <a:endParaRPr lang="en-US" sz="3600">
              <a:solidFill>
                <a:srgbClr val="000000"/>
              </a:solidFill>
              <a:latin typeface="Open Sans"/>
              <a:ea typeface="Open Sans"/>
              <a:cs typeface="Open Sans"/>
              <a:sym typeface="Open Sans"/>
            </a:endParaRPr>
          </a:p>
          <a:p>
            <a:pPr algn="just">
              <a:lnSpc>
                <a:spcPts val="4500"/>
              </a:lnSpc>
            </a:pPr>
            <a:r>
              <a:rPr lang="en-US" sz="3600" b="1">
                <a:solidFill>
                  <a:srgbClr val="000000"/>
                </a:solidFill>
                <a:latin typeface="Open Sans Bold"/>
                <a:ea typeface="Open Sans Bold"/>
                <a:cs typeface="Open Sans Bold"/>
                <a:sym typeface="Open Sans Bold"/>
              </a:rPr>
              <a:t>ISO-8859-15:</a:t>
            </a:r>
            <a:r>
              <a:rPr lang="en-US" sz="3600">
                <a:solidFill>
                  <a:srgbClr val="000000"/>
                </a:solidFill>
                <a:latin typeface="Open Sans"/>
                <a:ea typeface="Open Sans"/>
                <a:cs typeface="Open Sans"/>
                <a:sym typeface="Open Sans"/>
              </a:rPr>
              <a:t> Incluye el símbolo del euro (€) y otros caracteres actualizados para Europa occidental.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683126" y="745820"/>
            <a:ext cx="14220901" cy="883667"/>
            <a:chOff x="0" y="0"/>
            <a:chExt cx="18961202" cy="1178223"/>
          </a:xfrm>
        </p:grpSpPr>
        <p:sp>
          <p:nvSpPr>
            <p:cNvPr id="3" name="Freeform 3"/>
            <p:cNvSpPr/>
            <p:nvPr/>
          </p:nvSpPr>
          <p:spPr>
            <a:xfrm>
              <a:off x="0" y="0"/>
              <a:ext cx="18961201" cy="1178222"/>
            </a:xfrm>
            <a:custGeom>
              <a:avLst/>
              <a:gdLst/>
              <a:ahLst/>
              <a:cxnLst/>
              <a:rect l="l" t="t" r="r" b="b"/>
              <a:pathLst>
                <a:path w="18961201" h="1178222">
                  <a:moveTo>
                    <a:pt x="0" y="0"/>
                  </a:moveTo>
                  <a:lnTo>
                    <a:pt x="18961201" y="0"/>
                  </a:lnTo>
                  <a:lnTo>
                    <a:pt x="18961201" y="1178222"/>
                  </a:lnTo>
                  <a:lnTo>
                    <a:pt x="0" y="1178222"/>
                  </a:lnTo>
                  <a:close/>
                </a:path>
              </a:pathLst>
            </a:custGeom>
            <a:blipFill>
              <a:blip r:embed="rId3">
                <a:alphaModFix amt="0"/>
              </a:blip>
              <a:stretch>
                <a:fillRect t="-200691" b="-326456"/>
              </a:stretch>
            </a:blipFill>
          </p:spPr>
          <p:txBody>
            <a:bodyPr/>
            <a:lstStyle/>
            <a:p>
              <a:endParaRPr lang="es-GT"/>
            </a:p>
          </p:txBody>
        </p:sp>
        <p:sp>
          <p:nvSpPr>
            <p:cNvPr id="4" name="TextBox 4"/>
            <p:cNvSpPr txBox="1"/>
            <p:nvPr/>
          </p:nvSpPr>
          <p:spPr>
            <a:xfrm>
              <a:off x="0" y="-76200"/>
              <a:ext cx="18961202" cy="1254423"/>
            </a:xfrm>
            <a:prstGeom prst="rect">
              <a:avLst/>
            </a:prstGeom>
          </p:spPr>
          <p:txBody>
            <a:bodyPr lIns="0" tIns="0" rIns="0" bIns="0" rtlCol="0" anchor="ctr"/>
            <a:lstStyle/>
            <a:p>
              <a:pPr algn="ctr">
                <a:lnSpc>
                  <a:spcPts val="5280"/>
                </a:lnSpc>
              </a:pPr>
              <a:r>
                <a:rPr lang="en-US" sz="4400">
                  <a:solidFill>
                    <a:srgbClr val="000000"/>
                  </a:solidFill>
                  <a:latin typeface="Calibri (MS)"/>
                  <a:ea typeface="Calibri (MS)"/>
                  <a:cs typeface="Calibri (MS)"/>
                  <a:sym typeface="Calibri (MS)"/>
                </a:rPr>
                <a:t>Tipos de datos primitivos</a:t>
              </a:r>
            </a:p>
          </p:txBody>
        </p:sp>
      </p:grpSp>
      <p:sp>
        <p:nvSpPr>
          <p:cNvPr id="5" name="Freeform 5"/>
          <p:cNvSpPr/>
          <p:nvPr/>
        </p:nvSpPr>
        <p:spPr>
          <a:xfrm>
            <a:off x="10260917" y="2691698"/>
            <a:ext cx="6643110" cy="4903605"/>
          </a:xfrm>
          <a:custGeom>
            <a:avLst/>
            <a:gdLst/>
            <a:ahLst/>
            <a:cxnLst/>
            <a:rect l="l" t="t" r="r" b="b"/>
            <a:pathLst>
              <a:path w="6643110" h="4903605">
                <a:moveTo>
                  <a:pt x="0" y="0"/>
                </a:moveTo>
                <a:lnTo>
                  <a:pt x="6643110" y="0"/>
                </a:lnTo>
                <a:lnTo>
                  <a:pt x="6643110" y="4903604"/>
                </a:lnTo>
                <a:lnTo>
                  <a:pt x="0" y="4903604"/>
                </a:lnTo>
                <a:lnTo>
                  <a:pt x="0" y="0"/>
                </a:lnTo>
                <a:close/>
              </a:path>
            </a:pathLst>
          </a:custGeom>
          <a:blipFill>
            <a:blip r:embed="rId4"/>
            <a:stretch>
              <a:fillRect l="-8997" t="-1162" r="-7798" b="-2279"/>
            </a:stretch>
          </a:blipFill>
        </p:spPr>
        <p:txBody>
          <a:bodyPr/>
          <a:lstStyle/>
          <a:p>
            <a:endParaRPr lang="es-GT"/>
          </a:p>
        </p:txBody>
      </p:sp>
      <p:sp>
        <p:nvSpPr>
          <p:cNvPr id="6" name="TextBox 6"/>
          <p:cNvSpPr txBox="1"/>
          <p:nvPr/>
        </p:nvSpPr>
        <p:spPr>
          <a:xfrm>
            <a:off x="1028700" y="2282823"/>
            <a:ext cx="8992629" cy="6799326"/>
          </a:xfrm>
          <a:prstGeom prst="rect">
            <a:avLst/>
          </a:prstGeom>
        </p:spPr>
        <p:txBody>
          <a:bodyPr lIns="0" tIns="0" rIns="0" bIns="0" rtlCol="0" anchor="t">
            <a:spAutoFit/>
          </a:bodyPr>
          <a:lstStyle/>
          <a:p>
            <a:pPr algn="just">
              <a:lnSpc>
                <a:spcPts val="2592"/>
              </a:lnSpc>
            </a:pPr>
            <a:r>
              <a:rPr lang="en-US" sz="2400">
                <a:solidFill>
                  <a:srgbClr val="000000"/>
                </a:solidFill>
                <a:latin typeface="Open Sans"/>
                <a:ea typeface="Open Sans"/>
                <a:cs typeface="Open Sans"/>
                <a:sym typeface="Open Sans"/>
              </a:rPr>
              <a:t>Los tipos de datos primitivos son las unidades básicas de información que se usan en la programación y en el manejo de datos digitales. Son indivisibles y representan valores simples que los lenguajes de programación utilizan para construir datos más complejos.</a:t>
            </a:r>
          </a:p>
          <a:p>
            <a:pPr algn="just">
              <a:lnSpc>
                <a:spcPts val="2592"/>
              </a:lnSpc>
            </a:pPr>
            <a:endParaRPr lang="en-US" sz="2400">
              <a:solidFill>
                <a:srgbClr val="000000"/>
              </a:solidFill>
              <a:latin typeface="Open Sans"/>
              <a:ea typeface="Open Sans"/>
              <a:cs typeface="Open Sans"/>
              <a:sym typeface="Open Sans"/>
            </a:endParaRPr>
          </a:p>
          <a:p>
            <a:pPr algn="just">
              <a:lnSpc>
                <a:spcPts val="2592"/>
              </a:lnSpc>
            </a:pPr>
            <a:r>
              <a:rPr lang="en-US" sz="2400">
                <a:solidFill>
                  <a:srgbClr val="000000"/>
                </a:solidFill>
                <a:latin typeface="Open Sans"/>
                <a:ea typeface="Open Sans"/>
                <a:cs typeface="Open Sans"/>
                <a:sym typeface="Open Sans"/>
              </a:rPr>
              <a:t>Principales tipos de datos primitivos:</a:t>
            </a:r>
          </a:p>
          <a:p>
            <a:pPr algn="just">
              <a:lnSpc>
                <a:spcPts val="2592"/>
              </a:lnSpc>
            </a:pPr>
            <a:endParaRPr lang="en-US" sz="2400">
              <a:solidFill>
                <a:srgbClr val="000000"/>
              </a:solidFill>
              <a:latin typeface="Open Sans"/>
              <a:ea typeface="Open Sans"/>
              <a:cs typeface="Open Sans"/>
              <a:sym typeface="Open Sans"/>
            </a:endParaRPr>
          </a:p>
          <a:p>
            <a:pPr algn="just">
              <a:lnSpc>
                <a:spcPts val="2592"/>
              </a:lnSpc>
            </a:pPr>
            <a:r>
              <a:rPr lang="en-US" sz="2400" b="1">
                <a:solidFill>
                  <a:srgbClr val="000000"/>
                </a:solidFill>
                <a:latin typeface="Open Sans Bold"/>
                <a:ea typeface="Open Sans Bold"/>
                <a:cs typeface="Open Sans Bold"/>
                <a:sym typeface="Open Sans Bold"/>
              </a:rPr>
              <a:t>Enteros (int): </a:t>
            </a:r>
            <a:r>
              <a:rPr lang="en-US" sz="2400">
                <a:solidFill>
                  <a:srgbClr val="000000"/>
                </a:solidFill>
                <a:latin typeface="Open Sans"/>
                <a:ea typeface="Open Sans"/>
                <a:cs typeface="Open Sans"/>
                <a:sym typeface="Open Sans"/>
              </a:rPr>
              <a:t>Números sin parte decimal, tanto positivos como negativos. Ejemplo: -3, 0, 15.</a:t>
            </a:r>
          </a:p>
          <a:p>
            <a:pPr algn="just">
              <a:lnSpc>
                <a:spcPts val="2592"/>
              </a:lnSpc>
            </a:pPr>
            <a:endParaRPr lang="en-US" sz="2400">
              <a:solidFill>
                <a:srgbClr val="000000"/>
              </a:solidFill>
              <a:latin typeface="Open Sans"/>
              <a:ea typeface="Open Sans"/>
              <a:cs typeface="Open Sans"/>
              <a:sym typeface="Open Sans"/>
            </a:endParaRPr>
          </a:p>
          <a:p>
            <a:pPr algn="just">
              <a:lnSpc>
                <a:spcPts val="2592"/>
              </a:lnSpc>
            </a:pPr>
            <a:r>
              <a:rPr lang="en-US" sz="2400" b="1">
                <a:solidFill>
                  <a:srgbClr val="000000"/>
                </a:solidFill>
                <a:latin typeface="Open Sans Bold"/>
                <a:ea typeface="Open Sans Bold"/>
                <a:cs typeface="Open Sans Bold"/>
                <a:sym typeface="Open Sans Bold"/>
              </a:rPr>
              <a:t>Números de coma flotante (float, double):</a:t>
            </a:r>
            <a:r>
              <a:rPr lang="en-US" sz="2400">
                <a:solidFill>
                  <a:srgbClr val="000000"/>
                </a:solidFill>
                <a:latin typeface="Open Sans"/>
                <a:ea typeface="Open Sans"/>
                <a:cs typeface="Open Sans"/>
                <a:sym typeface="Open Sans"/>
              </a:rPr>
              <a:t> Números con parte decimal, usados para valores más precisos. Ejemplo: 3.14, -0.001.</a:t>
            </a:r>
          </a:p>
          <a:p>
            <a:pPr algn="just">
              <a:lnSpc>
                <a:spcPts val="2592"/>
              </a:lnSpc>
            </a:pPr>
            <a:endParaRPr lang="en-US" sz="2400">
              <a:solidFill>
                <a:srgbClr val="000000"/>
              </a:solidFill>
              <a:latin typeface="Open Sans"/>
              <a:ea typeface="Open Sans"/>
              <a:cs typeface="Open Sans"/>
              <a:sym typeface="Open Sans"/>
            </a:endParaRPr>
          </a:p>
          <a:p>
            <a:pPr algn="just">
              <a:lnSpc>
                <a:spcPts val="2592"/>
              </a:lnSpc>
            </a:pPr>
            <a:r>
              <a:rPr lang="en-US" sz="2400" b="1">
                <a:solidFill>
                  <a:srgbClr val="000000"/>
                </a:solidFill>
                <a:latin typeface="Open Sans Bold"/>
                <a:ea typeface="Open Sans Bold"/>
                <a:cs typeface="Open Sans Bold"/>
                <a:sym typeface="Open Sans Bold"/>
              </a:rPr>
              <a:t>Booleanos (bool):</a:t>
            </a:r>
            <a:r>
              <a:rPr lang="en-US" sz="2400">
                <a:solidFill>
                  <a:srgbClr val="000000"/>
                </a:solidFill>
                <a:latin typeface="Open Sans"/>
                <a:ea typeface="Open Sans"/>
                <a:cs typeface="Open Sans"/>
                <a:sym typeface="Open Sans"/>
              </a:rPr>
              <a:t> Valores lógicos que pueden ser solo true o false. Se usan para decisiones y condiciones.</a:t>
            </a:r>
          </a:p>
          <a:p>
            <a:pPr algn="just">
              <a:lnSpc>
                <a:spcPts val="2592"/>
              </a:lnSpc>
            </a:pPr>
            <a:endParaRPr lang="en-US" sz="2400">
              <a:solidFill>
                <a:srgbClr val="000000"/>
              </a:solidFill>
              <a:latin typeface="Open Sans"/>
              <a:ea typeface="Open Sans"/>
              <a:cs typeface="Open Sans"/>
              <a:sym typeface="Open Sans"/>
            </a:endParaRPr>
          </a:p>
          <a:p>
            <a:pPr algn="just">
              <a:lnSpc>
                <a:spcPts val="2592"/>
              </a:lnSpc>
            </a:pPr>
            <a:r>
              <a:rPr lang="en-US" sz="2400" b="1">
                <a:solidFill>
                  <a:srgbClr val="000000"/>
                </a:solidFill>
                <a:latin typeface="Open Sans Bold"/>
                <a:ea typeface="Open Sans Bold"/>
                <a:cs typeface="Open Sans Bold"/>
                <a:sym typeface="Open Sans Bold"/>
              </a:rPr>
              <a:t>Caracteres (char): </a:t>
            </a:r>
            <a:r>
              <a:rPr lang="en-US" sz="2400">
                <a:solidFill>
                  <a:srgbClr val="000000"/>
                </a:solidFill>
                <a:latin typeface="Open Sans"/>
                <a:ea typeface="Open Sans"/>
                <a:cs typeface="Open Sans"/>
                <a:sym typeface="Open Sans"/>
              </a:rPr>
              <a:t>Representan un solo símbolo o letra, almacenados generalmente en formatos Unicode para soportar múltiples idiomas.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74886" y="444818"/>
            <a:ext cx="13991101" cy="1148248"/>
          </a:xfrm>
          <a:prstGeom prst="rect">
            <a:avLst/>
          </a:prstGeom>
        </p:spPr>
        <p:txBody>
          <a:bodyPr lIns="0" tIns="0" rIns="0" bIns="0" rtlCol="0" anchor="t">
            <a:spAutoFit/>
          </a:bodyPr>
          <a:lstStyle/>
          <a:p>
            <a:pPr algn="just">
              <a:lnSpc>
                <a:spcPts val="8267"/>
              </a:lnSpc>
            </a:pPr>
            <a:r>
              <a:rPr lang="en-US" sz="6098">
                <a:solidFill>
                  <a:srgbClr val="000000"/>
                </a:solidFill>
                <a:latin typeface="Impact"/>
                <a:ea typeface="Impact"/>
                <a:cs typeface="Impact"/>
                <a:sym typeface="Impact"/>
              </a:rPr>
              <a:t>EJEMPLOS</a:t>
            </a:r>
          </a:p>
        </p:txBody>
      </p:sp>
      <p:grpSp>
        <p:nvGrpSpPr>
          <p:cNvPr id="3" name="Group 3"/>
          <p:cNvGrpSpPr/>
          <p:nvPr/>
        </p:nvGrpSpPr>
        <p:grpSpPr>
          <a:xfrm>
            <a:off x="2383117" y="1733883"/>
            <a:ext cx="4970450" cy="3553725"/>
            <a:chOff x="0" y="0"/>
            <a:chExt cx="6627266" cy="4738300"/>
          </a:xfrm>
        </p:grpSpPr>
        <p:sp>
          <p:nvSpPr>
            <p:cNvPr id="4" name="Freeform 4"/>
            <p:cNvSpPr/>
            <p:nvPr/>
          </p:nvSpPr>
          <p:spPr>
            <a:xfrm>
              <a:off x="6350" y="6350"/>
              <a:ext cx="6614541" cy="4725549"/>
            </a:xfrm>
            <a:custGeom>
              <a:avLst/>
              <a:gdLst/>
              <a:ahLst/>
              <a:cxnLst/>
              <a:rect l="l" t="t" r="r" b="b"/>
              <a:pathLst>
                <a:path w="6614541" h="4725549">
                  <a:moveTo>
                    <a:pt x="0" y="0"/>
                  </a:moveTo>
                  <a:lnTo>
                    <a:pt x="6614541" y="0"/>
                  </a:lnTo>
                  <a:lnTo>
                    <a:pt x="6614541" y="3780541"/>
                  </a:lnTo>
                  <a:lnTo>
                    <a:pt x="3307334" y="4725549"/>
                  </a:lnTo>
                  <a:lnTo>
                    <a:pt x="0" y="3780541"/>
                  </a:lnTo>
                  <a:close/>
                </a:path>
              </a:pathLst>
            </a:custGeom>
            <a:solidFill>
              <a:srgbClr val="E0E0E0"/>
            </a:solidFill>
          </p:spPr>
          <p:txBody>
            <a:bodyPr/>
            <a:lstStyle/>
            <a:p>
              <a:endParaRPr lang="es-GT"/>
            </a:p>
          </p:txBody>
        </p:sp>
        <p:sp>
          <p:nvSpPr>
            <p:cNvPr id="5" name="Freeform 5"/>
            <p:cNvSpPr/>
            <p:nvPr/>
          </p:nvSpPr>
          <p:spPr>
            <a:xfrm>
              <a:off x="0" y="0"/>
              <a:ext cx="6627241" cy="4738408"/>
            </a:xfrm>
            <a:custGeom>
              <a:avLst/>
              <a:gdLst/>
              <a:ahLst/>
              <a:cxnLst/>
              <a:rect l="l" t="t" r="r" b="b"/>
              <a:pathLst>
                <a:path w="6627241" h="4738408">
                  <a:moveTo>
                    <a:pt x="6350" y="0"/>
                  </a:moveTo>
                  <a:lnTo>
                    <a:pt x="6620891" y="0"/>
                  </a:lnTo>
                  <a:cubicBezTo>
                    <a:pt x="6624448" y="0"/>
                    <a:pt x="6627241" y="2794"/>
                    <a:pt x="6627241" y="6350"/>
                  </a:cubicBezTo>
                  <a:lnTo>
                    <a:pt x="6627241" y="3786891"/>
                  </a:lnTo>
                  <a:cubicBezTo>
                    <a:pt x="6627241" y="3789685"/>
                    <a:pt x="6625336" y="3792225"/>
                    <a:pt x="6622669" y="3792987"/>
                  </a:cubicBezTo>
                  <a:lnTo>
                    <a:pt x="3315335" y="4738122"/>
                  </a:lnTo>
                  <a:cubicBezTo>
                    <a:pt x="3314192" y="4738503"/>
                    <a:pt x="3313049" y="4738503"/>
                    <a:pt x="3311906" y="4738122"/>
                  </a:cubicBezTo>
                  <a:lnTo>
                    <a:pt x="4572" y="3792987"/>
                  </a:lnTo>
                  <a:cubicBezTo>
                    <a:pt x="1905" y="3792225"/>
                    <a:pt x="0" y="3789685"/>
                    <a:pt x="0" y="3786891"/>
                  </a:cubicBezTo>
                  <a:lnTo>
                    <a:pt x="0" y="6350"/>
                  </a:lnTo>
                  <a:cubicBezTo>
                    <a:pt x="0" y="2794"/>
                    <a:pt x="2794" y="0"/>
                    <a:pt x="6350" y="0"/>
                  </a:cubicBezTo>
                  <a:moveTo>
                    <a:pt x="6350" y="12700"/>
                  </a:moveTo>
                  <a:lnTo>
                    <a:pt x="6350" y="6350"/>
                  </a:lnTo>
                  <a:lnTo>
                    <a:pt x="12700" y="6350"/>
                  </a:lnTo>
                  <a:lnTo>
                    <a:pt x="12700" y="3786891"/>
                  </a:lnTo>
                  <a:lnTo>
                    <a:pt x="6350" y="3786891"/>
                  </a:lnTo>
                  <a:lnTo>
                    <a:pt x="8128" y="3780795"/>
                  </a:lnTo>
                  <a:lnTo>
                    <a:pt x="3315462" y="4725930"/>
                  </a:lnTo>
                  <a:lnTo>
                    <a:pt x="3313684" y="4732026"/>
                  </a:lnTo>
                  <a:lnTo>
                    <a:pt x="3311906" y="4725930"/>
                  </a:lnTo>
                  <a:lnTo>
                    <a:pt x="6619240" y="3780795"/>
                  </a:lnTo>
                  <a:lnTo>
                    <a:pt x="6621018" y="3786891"/>
                  </a:lnTo>
                  <a:lnTo>
                    <a:pt x="6614668" y="3786891"/>
                  </a:lnTo>
                  <a:lnTo>
                    <a:pt x="6614668" y="6350"/>
                  </a:lnTo>
                  <a:lnTo>
                    <a:pt x="6621018" y="6350"/>
                  </a:lnTo>
                  <a:lnTo>
                    <a:pt x="6621018" y="12700"/>
                  </a:lnTo>
                  <a:lnTo>
                    <a:pt x="6350" y="12700"/>
                  </a:lnTo>
                  <a:close/>
                </a:path>
              </a:pathLst>
            </a:custGeom>
            <a:solidFill>
              <a:srgbClr val="1F497D"/>
            </a:solidFill>
          </p:spPr>
          <p:txBody>
            <a:bodyPr/>
            <a:lstStyle/>
            <a:p>
              <a:endParaRPr lang="es-GT"/>
            </a:p>
          </p:txBody>
        </p:sp>
        <p:sp>
          <p:nvSpPr>
            <p:cNvPr id="6" name="TextBox 6"/>
            <p:cNvSpPr txBox="1"/>
            <p:nvPr/>
          </p:nvSpPr>
          <p:spPr>
            <a:xfrm>
              <a:off x="0" y="-57150"/>
              <a:ext cx="6627266" cy="4795450"/>
            </a:xfrm>
            <a:prstGeom prst="rect">
              <a:avLst/>
            </a:prstGeom>
          </p:spPr>
          <p:txBody>
            <a:bodyPr lIns="50800" tIns="50800" rIns="50800" bIns="50800" rtlCol="0" anchor="ctr"/>
            <a:lstStyle/>
            <a:p>
              <a:pPr algn="ctr">
                <a:lnSpc>
                  <a:spcPts val="3311"/>
                </a:lnSpc>
              </a:pPr>
              <a:r>
                <a:rPr lang="en-US" sz="2400">
                  <a:solidFill>
                    <a:srgbClr val="000000"/>
                  </a:solidFill>
                  <a:latin typeface="Roboto"/>
                  <a:ea typeface="Roboto"/>
                  <a:cs typeface="Roboto"/>
                  <a:sym typeface="Roboto"/>
                </a:rPr>
                <a:t>Un video grabado con un smartphone se codifica en formato H.264 para que ocupe menos espacio y pueda ser compartido fácilmente por redes sociales sin perder calidad visible.</a:t>
              </a:r>
            </a:p>
            <a:p>
              <a:pPr algn="ctr">
                <a:lnSpc>
                  <a:spcPts val="1679"/>
                </a:lnSpc>
              </a:pPr>
              <a:endParaRPr lang="en-US" sz="2400">
                <a:solidFill>
                  <a:srgbClr val="000000"/>
                </a:solidFill>
                <a:latin typeface="Roboto"/>
                <a:ea typeface="Roboto"/>
                <a:cs typeface="Roboto"/>
                <a:sym typeface="Roboto"/>
              </a:endParaRPr>
            </a:p>
          </p:txBody>
        </p:sp>
      </p:grpSp>
      <p:grpSp>
        <p:nvGrpSpPr>
          <p:cNvPr id="7" name="Group 7"/>
          <p:cNvGrpSpPr/>
          <p:nvPr/>
        </p:nvGrpSpPr>
        <p:grpSpPr>
          <a:xfrm>
            <a:off x="8061817" y="4936588"/>
            <a:ext cx="8683723" cy="4294727"/>
            <a:chOff x="0" y="0"/>
            <a:chExt cx="11578298" cy="5726303"/>
          </a:xfrm>
        </p:grpSpPr>
        <p:sp>
          <p:nvSpPr>
            <p:cNvPr id="8" name="Freeform 8"/>
            <p:cNvSpPr/>
            <p:nvPr/>
          </p:nvSpPr>
          <p:spPr>
            <a:xfrm>
              <a:off x="6350" y="6350"/>
              <a:ext cx="11565636" cy="5713603"/>
            </a:xfrm>
            <a:custGeom>
              <a:avLst/>
              <a:gdLst/>
              <a:ahLst/>
              <a:cxnLst/>
              <a:rect l="l" t="t" r="r" b="b"/>
              <a:pathLst>
                <a:path w="11565636" h="5713603">
                  <a:moveTo>
                    <a:pt x="0" y="2856738"/>
                  </a:moveTo>
                  <a:cubicBezTo>
                    <a:pt x="0" y="1279017"/>
                    <a:pt x="2589022" y="0"/>
                    <a:pt x="5782818" y="0"/>
                  </a:cubicBezTo>
                  <a:cubicBezTo>
                    <a:pt x="8976614" y="0"/>
                    <a:pt x="11565636" y="1279017"/>
                    <a:pt x="11565636" y="2856738"/>
                  </a:cubicBezTo>
                  <a:cubicBezTo>
                    <a:pt x="11565636" y="4434459"/>
                    <a:pt x="8976614" y="5713603"/>
                    <a:pt x="5782818" y="5713603"/>
                  </a:cubicBezTo>
                  <a:cubicBezTo>
                    <a:pt x="2589022" y="5713603"/>
                    <a:pt x="0" y="4434586"/>
                    <a:pt x="0" y="2856738"/>
                  </a:cubicBezTo>
                  <a:close/>
                </a:path>
              </a:pathLst>
            </a:custGeom>
            <a:solidFill>
              <a:srgbClr val="E0E0E0"/>
            </a:solidFill>
          </p:spPr>
          <p:txBody>
            <a:bodyPr/>
            <a:lstStyle/>
            <a:p>
              <a:endParaRPr lang="es-GT"/>
            </a:p>
          </p:txBody>
        </p:sp>
        <p:sp>
          <p:nvSpPr>
            <p:cNvPr id="9" name="Freeform 9"/>
            <p:cNvSpPr/>
            <p:nvPr/>
          </p:nvSpPr>
          <p:spPr>
            <a:xfrm>
              <a:off x="0" y="0"/>
              <a:ext cx="11578336" cy="5726176"/>
            </a:xfrm>
            <a:custGeom>
              <a:avLst/>
              <a:gdLst/>
              <a:ahLst/>
              <a:cxnLst/>
              <a:rect l="l" t="t" r="r" b="b"/>
              <a:pathLst>
                <a:path w="11578336" h="5726176">
                  <a:moveTo>
                    <a:pt x="0" y="2863088"/>
                  </a:moveTo>
                  <a:cubicBezTo>
                    <a:pt x="0" y="1278636"/>
                    <a:pt x="2596388" y="0"/>
                    <a:pt x="5789168" y="0"/>
                  </a:cubicBezTo>
                  <a:cubicBezTo>
                    <a:pt x="8981948" y="0"/>
                    <a:pt x="11578336" y="1278636"/>
                    <a:pt x="11578336" y="2863088"/>
                  </a:cubicBezTo>
                  <a:lnTo>
                    <a:pt x="11571986" y="2863088"/>
                  </a:lnTo>
                  <a:lnTo>
                    <a:pt x="11578336" y="2863088"/>
                  </a:lnTo>
                  <a:cubicBezTo>
                    <a:pt x="11578336" y="4447540"/>
                    <a:pt x="8981948" y="5726176"/>
                    <a:pt x="5789168" y="5726176"/>
                  </a:cubicBezTo>
                  <a:lnTo>
                    <a:pt x="5789168" y="5719826"/>
                  </a:lnTo>
                  <a:lnTo>
                    <a:pt x="5789168" y="5726176"/>
                  </a:lnTo>
                  <a:cubicBezTo>
                    <a:pt x="2596388" y="5726303"/>
                    <a:pt x="0" y="4447667"/>
                    <a:pt x="0" y="2863088"/>
                  </a:cubicBezTo>
                  <a:lnTo>
                    <a:pt x="6350" y="2863088"/>
                  </a:lnTo>
                  <a:lnTo>
                    <a:pt x="12700" y="2863088"/>
                  </a:lnTo>
                  <a:lnTo>
                    <a:pt x="6350" y="2863088"/>
                  </a:lnTo>
                  <a:lnTo>
                    <a:pt x="0" y="2863088"/>
                  </a:lnTo>
                  <a:moveTo>
                    <a:pt x="12700" y="2863088"/>
                  </a:moveTo>
                  <a:cubicBezTo>
                    <a:pt x="12700" y="2866644"/>
                    <a:pt x="9906" y="2869438"/>
                    <a:pt x="6350" y="2869438"/>
                  </a:cubicBezTo>
                  <a:cubicBezTo>
                    <a:pt x="2794" y="2869438"/>
                    <a:pt x="0" y="2866644"/>
                    <a:pt x="0" y="2863088"/>
                  </a:cubicBezTo>
                  <a:cubicBezTo>
                    <a:pt x="0" y="2859532"/>
                    <a:pt x="2794" y="2856738"/>
                    <a:pt x="6350" y="2856738"/>
                  </a:cubicBezTo>
                  <a:cubicBezTo>
                    <a:pt x="9906" y="2856738"/>
                    <a:pt x="12700" y="2859532"/>
                    <a:pt x="12700" y="2863088"/>
                  </a:cubicBezTo>
                  <a:cubicBezTo>
                    <a:pt x="12700" y="4434078"/>
                    <a:pt x="2594483" y="5713476"/>
                    <a:pt x="5789168" y="5713476"/>
                  </a:cubicBezTo>
                  <a:cubicBezTo>
                    <a:pt x="8983853" y="5713476"/>
                    <a:pt x="11565636" y="4434205"/>
                    <a:pt x="11565636" y="2863088"/>
                  </a:cubicBezTo>
                  <a:cubicBezTo>
                    <a:pt x="11565636" y="1291971"/>
                    <a:pt x="8983853" y="12700"/>
                    <a:pt x="5789168" y="12700"/>
                  </a:cubicBezTo>
                  <a:lnTo>
                    <a:pt x="5789168" y="6350"/>
                  </a:lnTo>
                  <a:lnTo>
                    <a:pt x="5789168" y="12700"/>
                  </a:lnTo>
                  <a:cubicBezTo>
                    <a:pt x="2594483" y="12700"/>
                    <a:pt x="12700" y="1292098"/>
                    <a:pt x="12700" y="2863088"/>
                  </a:cubicBezTo>
                  <a:close/>
                </a:path>
              </a:pathLst>
            </a:custGeom>
            <a:solidFill>
              <a:srgbClr val="1F497D"/>
            </a:solidFill>
          </p:spPr>
          <p:txBody>
            <a:bodyPr/>
            <a:lstStyle/>
            <a:p>
              <a:endParaRPr lang="es-GT"/>
            </a:p>
          </p:txBody>
        </p:sp>
        <p:sp>
          <p:nvSpPr>
            <p:cNvPr id="10" name="TextBox 10"/>
            <p:cNvSpPr txBox="1"/>
            <p:nvPr/>
          </p:nvSpPr>
          <p:spPr>
            <a:xfrm>
              <a:off x="0" y="-66675"/>
              <a:ext cx="11578298" cy="5792978"/>
            </a:xfrm>
            <a:prstGeom prst="rect">
              <a:avLst/>
            </a:prstGeom>
          </p:spPr>
          <p:txBody>
            <a:bodyPr lIns="50800" tIns="50800" rIns="50800" bIns="50800" rtlCol="0" anchor="ctr"/>
            <a:lstStyle/>
            <a:p>
              <a:pPr algn="ctr">
                <a:lnSpc>
                  <a:spcPts val="4277"/>
                </a:lnSpc>
              </a:pPr>
              <a:r>
                <a:rPr lang="en-US" sz="3099">
                  <a:solidFill>
                    <a:srgbClr val="000000"/>
                  </a:solidFill>
                  <a:latin typeface="Roboto"/>
                  <a:ea typeface="Roboto"/>
                  <a:cs typeface="Roboto"/>
                  <a:sym typeface="Roboto"/>
                </a:rPr>
                <a:t>Una empresa utiliza servicios de almacenamiento en la nube para guardar copias de seguridad de sus datos y acceder a ellos desde cualquier lugar y dispositivo</a:t>
              </a:r>
            </a:p>
          </p:txBody>
        </p:sp>
      </p:grpSp>
      <p:grpSp>
        <p:nvGrpSpPr>
          <p:cNvPr id="11" name="Group 11"/>
          <p:cNvGrpSpPr/>
          <p:nvPr/>
        </p:nvGrpSpPr>
        <p:grpSpPr>
          <a:xfrm>
            <a:off x="1370133" y="5677767"/>
            <a:ext cx="6169123" cy="3854025"/>
            <a:chOff x="0" y="0"/>
            <a:chExt cx="8225498" cy="5138699"/>
          </a:xfrm>
        </p:grpSpPr>
        <p:sp>
          <p:nvSpPr>
            <p:cNvPr id="12" name="Freeform 12"/>
            <p:cNvSpPr/>
            <p:nvPr/>
          </p:nvSpPr>
          <p:spPr>
            <a:xfrm>
              <a:off x="6350" y="6350"/>
              <a:ext cx="8212710" cy="5125974"/>
            </a:xfrm>
            <a:custGeom>
              <a:avLst/>
              <a:gdLst/>
              <a:ahLst/>
              <a:cxnLst/>
              <a:rect l="l" t="t" r="r" b="b"/>
              <a:pathLst>
                <a:path w="8212710" h="5125974">
                  <a:moveTo>
                    <a:pt x="0" y="854329"/>
                  </a:moveTo>
                  <a:cubicBezTo>
                    <a:pt x="0" y="382524"/>
                    <a:pt x="382905" y="0"/>
                    <a:pt x="855091" y="0"/>
                  </a:cubicBezTo>
                  <a:lnTo>
                    <a:pt x="7357618" y="0"/>
                  </a:lnTo>
                  <a:cubicBezTo>
                    <a:pt x="7829931" y="0"/>
                    <a:pt x="8212710" y="382524"/>
                    <a:pt x="8212710" y="854329"/>
                  </a:cubicBezTo>
                  <a:lnTo>
                    <a:pt x="8212710" y="4271645"/>
                  </a:lnTo>
                  <a:cubicBezTo>
                    <a:pt x="8212710" y="4743450"/>
                    <a:pt x="7829804" y="5125974"/>
                    <a:pt x="7357618" y="5125974"/>
                  </a:cubicBezTo>
                  <a:lnTo>
                    <a:pt x="855091" y="5125974"/>
                  </a:lnTo>
                  <a:cubicBezTo>
                    <a:pt x="382905" y="5125974"/>
                    <a:pt x="0" y="4743450"/>
                    <a:pt x="0" y="4271645"/>
                  </a:cubicBezTo>
                  <a:close/>
                </a:path>
              </a:pathLst>
            </a:custGeom>
            <a:solidFill>
              <a:srgbClr val="E0E0E0"/>
            </a:solidFill>
          </p:spPr>
          <p:txBody>
            <a:bodyPr/>
            <a:lstStyle/>
            <a:p>
              <a:endParaRPr lang="es-GT"/>
            </a:p>
          </p:txBody>
        </p:sp>
        <p:sp>
          <p:nvSpPr>
            <p:cNvPr id="13" name="Freeform 13"/>
            <p:cNvSpPr/>
            <p:nvPr/>
          </p:nvSpPr>
          <p:spPr>
            <a:xfrm>
              <a:off x="0" y="0"/>
              <a:ext cx="8225410" cy="5138674"/>
            </a:xfrm>
            <a:custGeom>
              <a:avLst/>
              <a:gdLst/>
              <a:ahLst/>
              <a:cxnLst/>
              <a:rect l="l" t="t" r="r" b="b"/>
              <a:pathLst>
                <a:path w="8225410" h="5138674">
                  <a:moveTo>
                    <a:pt x="0" y="860679"/>
                  </a:moveTo>
                  <a:cubicBezTo>
                    <a:pt x="0" y="385318"/>
                    <a:pt x="385699" y="0"/>
                    <a:pt x="861441" y="0"/>
                  </a:cubicBezTo>
                  <a:lnTo>
                    <a:pt x="7363968" y="0"/>
                  </a:lnTo>
                  <a:lnTo>
                    <a:pt x="7363968" y="6350"/>
                  </a:lnTo>
                  <a:lnTo>
                    <a:pt x="7363968" y="0"/>
                  </a:lnTo>
                  <a:cubicBezTo>
                    <a:pt x="7839711" y="0"/>
                    <a:pt x="8225410" y="385318"/>
                    <a:pt x="8225410" y="860679"/>
                  </a:cubicBezTo>
                  <a:lnTo>
                    <a:pt x="8219060" y="860679"/>
                  </a:lnTo>
                  <a:lnTo>
                    <a:pt x="8225410" y="860679"/>
                  </a:lnTo>
                  <a:lnTo>
                    <a:pt x="8225410" y="4277995"/>
                  </a:lnTo>
                  <a:lnTo>
                    <a:pt x="8219060" y="4277995"/>
                  </a:lnTo>
                  <a:lnTo>
                    <a:pt x="8225410" y="4277995"/>
                  </a:lnTo>
                  <a:cubicBezTo>
                    <a:pt x="8225410" y="4753356"/>
                    <a:pt x="7839711" y="5138674"/>
                    <a:pt x="7363968" y="5138674"/>
                  </a:cubicBezTo>
                  <a:lnTo>
                    <a:pt x="7363968" y="5132324"/>
                  </a:lnTo>
                  <a:lnTo>
                    <a:pt x="7363968" y="5138674"/>
                  </a:lnTo>
                  <a:lnTo>
                    <a:pt x="861441" y="5138674"/>
                  </a:lnTo>
                  <a:lnTo>
                    <a:pt x="861441" y="5132324"/>
                  </a:lnTo>
                  <a:lnTo>
                    <a:pt x="861441" y="5138674"/>
                  </a:lnTo>
                  <a:cubicBezTo>
                    <a:pt x="385699" y="5138674"/>
                    <a:pt x="0" y="4753356"/>
                    <a:pt x="0" y="4277995"/>
                  </a:cubicBezTo>
                  <a:lnTo>
                    <a:pt x="0" y="860679"/>
                  </a:lnTo>
                  <a:lnTo>
                    <a:pt x="6350" y="860679"/>
                  </a:lnTo>
                  <a:lnTo>
                    <a:pt x="0" y="860679"/>
                  </a:lnTo>
                  <a:moveTo>
                    <a:pt x="12700" y="860679"/>
                  </a:moveTo>
                  <a:lnTo>
                    <a:pt x="12700" y="4277995"/>
                  </a:lnTo>
                  <a:lnTo>
                    <a:pt x="6350" y="4277995"/>
                  </a:lnTo>
                  <a:lnTo>
                    <a:pt x="12700" y="4277995"/>
                  </a:lnTo>
                  <a:cubicBezTo>
                    <a:pt x="12700" y="4746371"/>
                    <a:pt x="392684" y="5125974"/>
                    <a:pt x="861441" y="5125974"/>
                  </a:cubicBezTo>
                  <a:lnTo>
                    <a:pt x="7363968" y="5125974"/>
                  </a:lnTo>
                  <a:cubicBezTo>
                    <a:pt x="7832725" y="5125974"/>
                    <a:pt x="8212710" y="4746371"/>
                    <a:pt x="8212710" y="4277995"/>
                  </a:cubicBezTo>
                  <a:lnTo>
                    <a:pt x="8212710" y="860679"/>
                  </a:lnTo>
                  <a:cubicBezTo>
                    <a:pt x="8212836" y="392303"/>
                    <a:pt x="7832852" y="12700"/>
                    <a:pt x="7363968" y="12700"/>
                  </a:cubicBezTo>
                  <a:lnTo>
                    <a:pt x="861441" y="12700"/>
                  </a:lnTo>
                  <a:lnTo>
                    <a:pt x="861441" y="6350"/>
                  </a:lnTo>
                  <a:lnTo>
                    <a:pt x="861441" y="12700"/>
                  </a:lnTo>
                  <a:cubicBezTo>
                    <a:pt x="392684" y="12700"/>
                    <a:pt x="12700" y="392303"/>
                    <a:pt x="12700" y="860679"/>
                  </a:cubicBezTo>
                  <a:close/>
                </a:path>
              </a:pathLst>
            </a:custGeom>
            <a:solidFill>
              <a:srgbClr val="1F497D"/>
            </a:solidFill>
          </p:spPr>
          <p:txBody>
            <a:bodyPr/>
            <a:lstStyle/>
            <a:p>
              <a:endParaRPr lang="es-GT"/>
            </a:p>
          </p:txBody>
        </p:sp>
        <p:sp>
          <p:nvSpPr>
            <p:cNvPr id="14" name="TextBox 14"/>
            <p:cNvSpPr txBox="1"/>
            <p:nvPr/>
          </p:nvSpPr>
          <p:spPr>
            <a:xfrm>
              <a:off x="0" y="-9525"/>
              <a:ext cx="8225498" cy="5148224"/>
            </a:xfrm>
            <a:prstGeom prst="rect">
              <a:avLst/>
            </a:prstGeom>
          </p:spPr>
          <p:txBody>
            <a:bodyPr lIns="50800" tIns="50800" rIns="50800" bIns="50800" rtlCol="0" anchor="ctr"/>
            <a:lstStyle/>
            <a:p>
              <a:pPr algn="ctr">
                <a:lnSpc>
                  <a:spcPts val="3479"/>
                </a:lnSpc>
              </a:pPr>
              <a:r>
                <a:rPr lang="en-US" sz="2900">
                  <a:solidFill>
                    <a:srgbClr val="000000"/>
                  </a:solidFill>
                  <a:latin typeface="Roboto"/>
                  <a:ea typeface="Roboto"/>
                  <a:cs typeface="Roboto"/>
                  <a:sym typeface="Roboto"/>
                </a:rPr>
                <a:t>En una aplicación bancaria, el campo "saldo" sería un número decimal (float o double), el campo "activo" sería booleano (true si la cuenta está activa, false si no), y el campo "nombre del cliente" se almacenaría como una cadena de caracteres (string, que es un tipo compuesto).</a:t>
              </a:r>
            </a:p>
          </p:txBody>
        </p:sp>
      </p:grpSp>
      <p:grpSp>
        <p:nvGrpSpPr>
          <p:cNvPr id="15" name="Group 15"/>
          <p:cNvGrpSpPr/>
          <p:nvPr/>
        </p:nvGrpSpPr>
        <p:grpSpPr>
          <a:xfrm>
            <a:off x="8691210" y="1733883"/>
            <a:ext cx="7212749" cy="2785075"/>
            <a:chOff x="0" y="0"/>
            <a:chExt cx="9616999" cy="3713433"/>
          </a:xfrm>
        </p:grpSpPr>
        <p:sp>
          <p:nvSpPr>
            <p:cNvPr id="16" name="Freeform 16"/>
            <p:cNvSpPr/>
            <p:nvPr/>
          </p:nvSpPr>
          <p:spPr>
            <a:xfrm>
              <a:off x="6350" y="6350"/>
              <a:ext cx="9604375" cy="3700784"/>
            </a:xfrm>
            <a:custGeom>
              <a:avLst/>
              <a:gdLst/>
              <a:ahLst/>
              <a:cxnLst/>
              <a:rect l="l" t="t" r="r" b="b"/>
              <a:pathLst>
                <a:path w="9604375" h="3700784">
                  <a:moveTo>
                    <a:pt x="0" y="3700784"/>
                  </a:moveTo>
                  <a:lnTo>
                    <a:pt x="1920875" y="0"/>
                  </a:lnTo>
                  <a:lnTo>
                    <a:pt x="9604375" y="0"/>
                  </a:lnTo>
                  <a:lnTo>
                    <a:pt x="7683500" y="3700784"/>
                  </a:lnTo>
                  <a:close/>
                </a:path>
              </a:pathLst>
            </a:custGeom>
            <a:solidFill>
              <a:srgbClr val="E0E0E0"/>
            </a:solidFill>
          </p:spPr>
          <p:txBody>
            <a:bodyPr/>
            <a:lstStyle/>
            <a:p>
              <a:endParaRPr lang="es-GT"/>
            </a:p>
          </p:txBody>
        </p:sp>
        <p:sp>
          <p:nvSpPr>
            <p:cNvPr id="17" name="Freeform 17"/>
            <p:cNvSpPr/>
            <p:nvPr/>
          </p:nvSpPr>
          <p:spPr>
            <a:xfrm>
              <a:off x="-54" y="0"/>
              <a:ext cx="9617183" cy="3713484"/>
            </a:xfrm>
            <a:custGeom>
              <a:avLst/>
              <a:gdLst/>
              <a:ahLst/>
              <a:cxnLst/>
              <a:rect l="l" t="t" r="r" b="b"/>
              <a:pathLst>
                <a:path w="9617183" h="3713484">
                  <a:moveTo>
                    <a:pt x="816" y="3704213"/>
                  </a:moveTo>
                  <a:lnTo>
                    <a:pt x="1921691" y="3429"/>
                  </a:lnTo>
                  <a:cubicBezTo>
                    <a:pt x="1922834" y="1270"/>
                    <a:pt x="1924993" y="0"/>
                    <a:pt x="1927279" y="0"/>
                  </a:cubicBezTo>
                  <a:lnTo>
                    <a:pt x="9610779" y="0"/>
                  </a:lnTo>
                  <a:cubicBezTo>
                    <a:pt x="9612938" y="0"/>
                    <a:pt x="9615097" y="1143"/>
                    <a:pt x="9616240" y="3048"/>
                  </a:cubicBezTo>
                  <a:cubicBezTo>
                    <a:pt x="9617383" y="4953"/>
                    <a:pt x="9617510" y="7239"/>
                    <a:pt x="9616494" y="9271"/>
                  </a:cubicBezTo>
                  <a:lnTo>
                    <a:pt x="7695492" y="3710055"/>
                  </a:lnTo>
                  <a:cubicBezTo>
                    <a:pt x="7694349" y="3712214"/>
                    <a:pt x="7692190" y="3713484"/>
                    <a:pt x="7689904" y="3713484"/>
                  </a:cubicBezTo>
                  <a:lnTo>
                    <a:pt x="6404" y="3713484"/>
                  </a:lnTo>
                  <a:cubicBezTo>
                    <a:pt x="4245" y="3713484"/>
                    <a:pt x="2086" y="3712341"/>
                    <a:pt x="943" y="3710436"/>
                  </a:cubicBezTo>
                  <a:cubicBezTo>
                    <a:pt x="-200" y="3708531"/>
                    <a:pt x="-327" y="3706245"/>
                    <a:pt x="689" y="3704213"/>
                  </a:cubicBezTo>
                  <a:moveTo>
                    <a:pt x="11992" y="3710055"/>
                  </a:moveTo>
                  <a:lnTo>
                    <a:pt x="6404" y="3707134"/>
                  </a:lnTo>
                  <a:lnTo>
                    <a:pt x="6404" y="3700784"/>
                  </a:lnTo>
                  <a:lnTo>
                    <a:pt x="7689904" y="3700784"/>
                  </a:lnTo>
                  <a:lnTo>
                    <a:pt x="7689904" y="3707134"/>
                  </a:lnTo>
                  <a:lnTo>
                    <a:pt x="7684316" y="3704213"/>
                  </a:lnTo>
                  <a:lnTo>
                    <a:pt x="9605064" y="3429"/>
                  </a:lnTo>
                  <a:lnTo>
                    <a:pt x="9610652" y="6350"/>
                  </a:lnTo>
                  <a:lnTo>
                    <a:pt x="9610652" y="12700"/>
                  </a:lnTo>
                  <a:lnTo>
                    <a:pt x="1927152" y="12700"/>
                  </a:lnTo>
                  <a:lnTo>
                    <a:pt x="1927152" y="6350"/>
                  </a:lnTo>
                  <a:lnTo>
                    <a:pt x="1932740" y="9271"/>
                  </a:lnTo>
                  <a:lnTo>
                    <a:pt x="11992" y="3710055"/>
                  </a:lnTo>
                  <a:close/>
                </a:path>
              </a:pathLst>
            </a:custGeom>
            <a:solidFill>
              <a:srgbClr val="1F497D"/>
            </a:solidFill>
          </p:spPr>
          <p:txBody>
            <a:bodyPr/>
            <a:lstStyle/>
            <a:p>
              <a:endParaRPr lang="es-GT"/>
            </a:p>
          </p:txBody>
        </p:sp>
        <p:sp>
          <p:nvSpPr>
            <p:cNvPr id="18" name="TextBox 18"/>
            <p:cNvSpPr txBox="1"/>
            <p:nvPr/>
          </p:nvSpPr>
          <p:spPr>
            <a:xfrm>
              <a:off x="0" y="-9525"/>
              <a:ext cx="9616999" cy="3722958"/>
            </a:xfrm>
            <a:prstGeom prst="rect">
              <a:avLst/>
            </a:prstGeom>
          </p:spPr>
          <p:txBody>
            <a:bodyPr lIns="50800" tIns="50800" rIns="50800" bIns="50800" rtlCol="0" anchor="ctr"/>
            <a:lstStyle/>
            <a:p>
              <a:pPr algn="ctr">
                <a:lnSpc>
                  <a:spcPts val="2520"/>
                </a:lnSpc>
              </a:pPr>
              <a:r>
                <a:rPr lang="en-US" sz="2100">
                  <a:solidFill>
                    <a:srgbClr val="000000"/>
                  </a:solidFill>
                  <a:latin typeface="Roboto"/>
                  <a:ea typeface="Roboto"/>
                  <a:cs typeface="Roboto"/>
                  <a:sym typeface="Roboto"/>
                </a:rPr>
                <a:t>El símbolo "ñ" está representado en ISO-8859-1 </a:t>
              </a:r>
            </a:p>
            <a:p>
              <a:pPr algn="ctr">
                <a:lnSpc>
                  <a:spcPts val="2520"/>
                </a:lnSpc>
              </a:pPr>
              <a:r>
                <a:rPr lang="en-US" sz="2100">
                  <a:solidFill>
                    <a:srgbClr val="000000"/>
                  </a:solidFill>
                  <a:latin typeface="Roboto"/>
                  <a:ea typeface="Roboto"/>
                  <a:cs typeface="Roboto"/>
                  <a:sym typeface="Roboto"/>
                </a:rPr>
                <a:t>pero no en ASCII estándar, lo que permite escribir correctamente en español en sistemas compatibles</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507390" y="762000"/>
            <a:ext cx="13503297" cy="1300124"/>
          </a:xfrm>
          <a:prstGeom prst="rect">
            <a:avLst/>
          </a:prstGeom>
        </p:spPr>
        <p:txBody>
          <a:bodyPr lIns="0" tIns="0" rIns="0" bIns="0" rtlCol="0" anchor="t">
            <a:spAutoFit/>
          </a:bodyPr>
          <a:lstStyle/>
          <a:p>
            <a:pPr algn="ctr">
              <a:lnSpc>
                <a:spcPts val="9356"/>
              </a:lnSpc>
            </a:pPr>
            <a:r>
              <a:rPr lang="en-US" sz="6900">
                <a:solidFill>
                  <a:srgbClr val="000000"/>
                </a:solidFill>
                <a:latin typeface="Impact"/>
                <a:ea typeface="Impact"/>
                <a:cs typeface="Impact"/>
                <a:sym typeface="Impact"/>
              </a:rPr>
              <a:t>CONCEPTOS CLAVE APRENDIDOS </a:t>
            </a:r>
          </a:p>
        </p:txBody>
      </p:sp>
      <p:grpSp>
        <p:nvGrpSpPr>
          <p:cNvPr id="3" name="Group 3"/>
          <p:cNvGrpSpPr/>
          <p:nvPr/>
        </p:nvGrpSpPr>
        <p:grpSpPr>
          <a:xfrm>
            <a:off x="12390358" y="6476038"/>
            <a:ext cx="5044726" cy="2684621"/>
            <a:chOff x="0" y="0"/>
            <a:chExt cx="6726301" cy="3579495"/>
          </a:xfrm>
        </p:grpSpPr>
        <p:sp>
          <p:nvSpPr>
            <p:cNvPr id="4" name="Freeform 4"/>
            <p:cNvSpPr/>
            <p:nvPr/>
          </p:nvSpPr>
          <p:spPr>
            <a:xfrm>
              <a:off x="6350" y="6350"/>
              <a:ext cx="6713601" cy="4012692"/>
            </a:xfrm>
            <a:custGeom>
              <a:avLst/>
              <a:gdLst/>
              <a:ahLst/>
              <a:cxnLst/>
              <a:rect l="l" t="t" r="r" b="b"/>
              <a:pathLst>
                <a:path w="6713601" h="4012692">
                  <a:moveTo>
                    <a:pt x="0" y="0"/>
                  </a:moveTo>
                  <a:lnTo>
                    <a:pt x="1118870" y="0"/>
                  </a:lnTo>
                  <a:lnTo>
                    <a:pt x="2797302" y="0"/>
                  </a:lnTo>
                  <a:lnTo>
                    <a:pt x="6713601" y="0"/>
                  </a:lnTo>
                  <a:lnTo>
                    <a:pt x="6713601" y="2080641"/>
                  </a:lnTo>
                  <a:lnTo>
                    <a:pt x="6713601" y="2972308"/>
                  </a:lnTo>
                  <a:lnTo>
                    <a:pt x="6713601" y="3566795"/>
                  </a:lnTo>
                  <a:lnTo>
                    <a:pt x="2797302" y="3566795"/>
                  </a:lnTo>
                  <a:lnTo>
                    <a:pt x="1958086" y="4012692"/>
                  </a:lnTo>
                  <a:lnTo>
                    <a:pt x="1118870" y="3566795"/>
                  </a:lnTo>
                  <a:lnTo>
                    <a:pt x="0" y="3566795"/>
                  </a:lnTo>
                  <a:lnTo>
                    <a:pt x="0" y="2972308"/>
                  </a:lnTo>
                  <a:lnTo>
                    <a:pt x="0" y="2080641"/>
                  </a:lnTo>
                  <a:close/>
                </a:path>
              </a:pathLst>
            </a:custGeom>
            <a:solidFill>
              <a:srgbClr val="E0E0E0"/>
            </a:solidFill>
          </p:spPr>
          <p:txBody>
            <a:bodyPr/>
            <a:lstStyle/>
            <a:p>
              <a:endParaRPr lang="es-GT"/>
            </a:p>
          </p:txBody>
        </p:sp>
        <p:sp>
          <p:nvSpPr>
            <p:cNvPr id="5" name="Freeform 5"/>
            <p:cNvSpPr/>
            <p:nvPr/>
          </p:nvSpPr>
          <p:spPr>
            <a:xfrm>
              <a:off x="0" y="0"/>
              <a:ext cx="6726301" cy="4025392"/>
            </a:xfrm>
            <a:custGeom>
              <a:avLst/>
              <a:gdLst/>
              <a:ahLst/>
              <a:cxnLst/>
              <a:rect l="l" t="t" r="r" b="b"/>
              <a:pathLst>
                <a:path w="6726301" h="4025392">
                  <a:moveTo>
                    <a:pt x="6350" y="0"/>
                  </a:moveTo>
                  <a:lnTo>
                    <a:pt x="1125220" y="0"/>
                  </a:lnTo>
                  <a:lnTo>
                    <a:pt x="1125220" y="6350"/>
                  </a:lnTo>
                  <a:lnTo>
                    <a:pt x="1125220" y="0"/>
                  </a:lnTo>
                  <a:lnTo>
                    <a:pt x="2803652" y="0"/>
                  </a:lnTo>
                  <a:lnTo>
                    <a:pt x="2803652" y="6350"/>
                  </a:lnTo>
                  <a:lnTo>
                    <a:pt x="2803652" y="0"/>
                  </a:lnTo>
                  <a:lnTo>
                    <a:pt x="6719951" y="0"/>
                  </a:lnTo>
                  <a:cubicBezTo>
                    <a:pt x="6723507" y="0"/>
                    <a:pt x="6726301" y="2794"/>
                    <a:pt x="6726301" y="6350"/>
                  </a:cubicBezTo>
                  <a:lnTo>
                    <a:pt x="6726301" y="2086991"/>
                  </a:lnTo>
                  <a:lnTo>
                    <a:pt x="6719951" y="2086991"/>
                  </a:lnTo>
                  <a:lnTo>
                    <a:pt x="6726301" y="2086991"/>
                  </a:lnTo>
                  <a:lnTo>
                    <a:pt x="6726301" y="2978658"/>
                  </a:lnTo>
                  <a:lnTo>
                    <a:pt x="6719951" y="2978658"/>
                  </a:lnTo>
                  <a:lnTo>
                    <a:pt x="6726301" y="2978658"/>
                  </a:lnTo>
                  <a:lnTo>
                    <a:pt x="6726301" y="3573145"/>
                  </a:lnTo>
                  <a:cubicBezTo>
                    <a:pt x="6726301" y="3576701"/>
                    <a:pt x="6723507" y="3579495"/>
                    <a:pt x="6719951" y="3579495"/>
                  </a:cubicBezTo>
                  <a:lnTo>
                    <a:pt x="2803652" y="3579495"/>
                  </a:lnTo>
                  <a:lnTo>
                    <a:pt x="2803652" y="3573145"/>
                  </a:lnTo>
                  <a:lnTo>
                    <a:pt x="2806573" y="3578733"/>
                  </a:lnTo>
                  <a:lnTo>
                    <a:pt x="1967357" y="4024630"/>
                  </a:lnTo>
                  <a:cubicBezTo>
                    <a:pt x="1965452" y="4025646"/>
                    <a:pt x="1963293" y="4025646"/>
                    <a:pt x="1961388" y="4024630"/>
                  </a:cubicBezTo>
                  <a:lnTo>
                    <a:pt x="1122299" y="3578733"/>
                  </a:lnTo>
                  <a:lnTo>
                    <a:pt x="1125220" y="3573145"/>
                  </a:lnTo>
                  <a:lnTo>
                    <a:pt x="1125220" y="3579495"/>
                  </a:lnTo>
                  <a:lnTo>
                    <a:pt x="6350" y="3579495"/>
                  </a:lnTo>
                  <a:cubicBezTo>
                    <a:pt x="2794" y="3579495"/>
                    <a:pt x="0" y="3576701"/>
                    <a:pt x="0" y="3573145"/>
                  </a:cubicBezTo>
                  <a:lnTo>
                    <a:pt x="0" y="2978658"/>
                  </a:lnTo>
                  <a:lnTo>
                    <a:pt x="6350" y="2978658"/>
                  </a:lnTo>
                  <a:lnTo>
                    <a:pt x="0" y="2978658"/>
                  </a:lnTo>
                  <a:lnTo>
                    <a:pt x="0" y="2086991"/>
                  </a:lnTo>
                  <a:lnTo>
                    <a:pt x="6350" y="2086991"/>
                  </a:lnTo>
                  <a:lnTo>
                    <a:pt x="0" y="2086991"/>
                  </a:lnTo>
                  <a:lnTo>
                    <a:pt x="0" y="6350"/>
                  </a:lnTo>
                  <a:cubicBezTo>
                    <a:pt x="0" y="2794"/>
                    <a:pt x="2794" y="0"/>
                    <a:pt x="6350" y="0"/>
                  </a:cubicBezTo>
                  <a:moveTo>
                    <a:pt x="6350" y="12700"/>
                  </a:moveTo>
                  <a:lnTo>
                    <a:pt x="6350" y="6350"/>
                  </a:lnTo>
                  <a:lnTo>
                    <a:pt x="12700" y="6350"/>
                  </a:lnTo>
                  <a:lnTo>
                    <a:pt x="12700" y="2086991"/>
                  </a:lnTo>
                  <a:lnTo>
                    <a:pt x="12700" y="2978658"/>
                  </a:lnTo>
                  <a:lnTo>
                    <a:pt x="12700" y="3573145"/>
                  </a:lnTo>
                  <a:lnTo>
                    <a:pt x="6350" y="3573145"/>
                  </a:lnTo>
                  <a:lnTo>
                    <a:pt x="6350" y="3566795"/>
                  </a:lnTo>
                  <a:lnTo>
                    <a:pt x="1125220" y="3566795"/>
                  </a:lnTo>
                  <a:cubicBezTo>
                    <a:pt x="1126236" y="3566795"/>
                    <a:pt x="1127252" y="3567049"/>
                    <a:pt x="1128141" y="3567557"/>
                  </a:cubicBezTo>
                  <a:lnTo>
                    <a:pt x="1967357" y="4013454"/>
                  </a:lnTo>
                  <a:lnTo>
                    <a:pt x="1964436" y="4019042"/>
                  </a:lnTo>
                  <a:lnTo>
                    <a:pt x="1961515" y="4013454"/>
                  </a:lnTo>
                  <a:lnTo>
                    <a:pt x="2800731" y="3567557"/>
                  </a:lnTo>
                  <a:cubicBezTo>
                    <a:pt x="2801620" y="3567049"/>
                    <a:pt x="2802636" y="3566795"/>
                    <a:pt x="2803652" y="3566795"/>
                  </a:cubicBezTo>
                  <a:lnTo>
                    <a:pt x="6719951" y="3566795"/>
                  </a:lnTo>
                  <a:lnTo>
                    <a:pt x="6719951" y="3573145"/>
                  </a:lnTo>
                  <a:lnTo>
                    <a:pt x="6713601" y="3573145"/>
                  </a:lnTo>
                  <a:lnTo>
                    <a:pt x="6713601" y="2978658"/>
                  </a:lnTo>
                  <a:lnTo>
                    <a:pt x="6713601" y="2086991"/>
                  </a:lnTo>
                  <a:lnTo>
                    <a:pt x="6713601" y="6350"/>
                  </a:lnTo>
                  <a:lnTo>
                    <a:pt x="6719951" y="6350"/>
                  </a:lnTo>
                  <a:lnTo>
                    <a:pt x="6719951" y="12700"/>
                  </a:lnTo>
                  <a:lnTo>
                    <a:pt x="2803652" y="12700"/>
                  </a:lnTo>
                  <a:lnTo>
                    <a:pt x="1125220" y="12700"/>
                  </a:lnTo>
                  <a:lnTo>
                    <a:pt x="6350" y="12700"/>
                  </a:lnTo>
                  <a:close/>
                </a:path>
              </a:pathLst>
            </a:custGeom>
            <a:solidFill>
              <a:srgbClr val="1F497D"/>
            </a:solidFill>
          </p:spPr>
          <p:txBody>
            <a:bodyPr/>
            <a:lstStyle/>
            <a:p>
              <a:endParaRPr lang="es-GT"/>
            </a:p>
          </p:txBody>
        </p:sp>
        <p:sp>
          <p:nvSpPr>
            <p:cNvPr id="6" name="TextBox 6"/>
            <p:cNvSpPr txBox="1"/>
            <p:nvPr/>
          </p:nvSpPr>
          <p:spPr>
            <a:xfrm>
              <a:off x="0" y="-19050"/>
              <a:ext cx="6726301" cy="3598545"/>
            </a:xfrm>
            <a:prstGeom prst="rect">
              <a:avLst/>
            </a:prstGeom>
          </p:spPr>
          <p:txBody>
            <a:bodyPr lIns="50800" tIns="50800" rIns="50800" bIns="50800" rtlCol="0" anchor="ctr"/>
            <a:lstStyle/>
            <a:p>
              <a:pPr algn="ctr">
                <a:lnSpc>
                  <a:spcPts val="3600"/>
                </a:lnSpc>
              </a:pPr>
              <a:r>
                <a:rPr lang="en-US" sz="3000">
                  <a:solidFill>
                    <a:srgbClr val="000000"/>
                  </a:solidFill>
                  <a:latin typeface="Roboto"/>
                  <a:ea typeface="Roboto"/>
                  <a:cs typeface="Roboto"/>
                  <a:sym typeface="Roboto"/>
                </a:rPr>
                <a:t>La nube nos ofrece  Escalabilidad y disponibilidad global.</a:t>
              </a:r>
            </a:p>
          </p:txBody>
        </p:sp>
      </p:grpSp>
      <p:grpSp>
        <p:nvGrpSpPr>
          <p:cNvPr id="7" name="Group 7"/>
          <p:cNvGrpSpPr/>
          <p:nvPr/>
        </p:nvGrpSpPr>
        <p:grpSpPr>
          <a:xfrm>
            <a:off x="625688" y="5644658"/>
            <a:ext cx="5636028" cy="3515925"/>
            <a:chOff x="0" y="0"/>
            <a:chExt cx="7514704" cy="4687900"/>
          </a:xfrm>
        </p:grpSpPr>
        <p:sp>
          <p:nvSpPr>
            <p:cNvPr id="8" name="Freeform 8"/>
            <p:cNvSpPr/>
            <p:nvPr/>
          </p:nvSpPr>
          <p:spPr>
            <a:xfrm>
              <a:off x="6350" y="6350"/>
              <a:ext cx="7502017" cy="5259578"/>
            </a:xfrm>
            <a:custGeom>
              <a:avLst/>
              <a:gdLst/>
              <a:ahLst/>
              <a:cxnLst/>
              <a:rect l="l" t="t" r="r" b="b"/>
              <a:pathLst>
                <a:path w="7502017" h="5259578">
                  <a:moveTo>
                    <a:pt x="0" y="0"/>
                  </a:moveTo>
                  <a:lnTo>
                    <a:pt x="1250315" y="0"/>
                  </a:lnTo>
                  <a:lnTo>
                    <a:pt x="3125851" y="0"/>
                  </a:lnTo>
                  <a:lnTo>
                    <a:pt x="7502017" y="0"/>
                  </a:lnTo>
                  <a:lnTo>
                    <a:pt x="7502017" y="2727198"/>
                  </a:lnTo>
                  <a:lnTo>
                    <a:pt x="7502017" y="3895979"/>
                  </a:lnTo>
                  <a:lnTo>
                    <a:pt x="7502017" y="4675124"/>
                  </a:lnTo>
                  <a:lnTo>
                    <a:pt x="3125851" y="4675124"/>
                  </a:lnTo>
                  <a:lnTo>
                    <a:pt x="2188083" y="5259578"/>
                  </a:lnTo>
                  <a:lnTo>
                    <a:pt x="1250315" y="4675124"/>
                  </a:lnTo>
                  <a:lnTo>
                    <a:pt x="0" y="4675124"/>
                  </a:lnTo>
                  <a:lnTo>
                    <a:pt x="0" y="3895979"/>
                  </a:lnTo>
                  <a:lnTo>
                    <a:pt x="0" y="2727198"/>
                  </a:lnTo>
                  <a:close/>
                </a:path>
              </a:pathLst>
            </a:custGeom>
            <a:solidFill>
              <a:srgbClr val="E0E0E0"/>
            </a:solidFill>
          </p:spPr>
          <p:txBody>
            <a:bodyPr/>
            <a:lstStyle/>
            <a:p>
              <a:endParaRPr lang="es-GT"/>
            </a:p>
          </p:txBody>
        </p:sp>
        <p:sp>
          <p:nvSpPr>
            <p:cNvPr id="9" name="Freeform 9"/>
            <p:cNvSpPr/>
            <p:nvPr/>
          </p:nvSpPr>
          <p:spPr>
            <a:xfrm>
              <a:off x="0" y="0"/>
              <a:ext cx="7514717" cy="5272215"/>
            </a:xfrm>
            <a:custGeom>
              <a:avLst/>
              <a:gdLst/>
              <a:ahLst/>
              <a:cxnLst/>
              <a:rect l="l" t="t" r="r" b="b"/>
              <a:pathLst>
                <a:path w="7514717" h="5272215">
                  <a:moveTo>
                    <a:pt x="6350" y="0"/>
                  </a:moveTo>
                  <a:lnTo>
                    <a:pt x="1256665" y="0"/>
                  </a:lnTo>
                  <a:lnTo>
                    <a:pt x="1256665" y="6350"/>
                  </a:lnTo>
                  <a:lnTo>
                    <a:pt x="1256665" y="0"/>
                  </a:lnTo>
                  <a:lnTo>
                    <a:pt x="3132201" y="0"/>
                  </a:lnTo>
                  <a:lnTo>
                    <a:pt x="3132201" y="6350"/>
                  </a:lnTo>
                  <a:lnTo>
                    <a:pt x="3132201" y="0"/>
                  </a:lnTo>
                  <a:lnTo>
                    <a:pt x="7508367" y="0"/>
                  </a:lnTo>
                  <a:cubicBezTo>
                    <a:pt x="7511924" y="0"/>
                    <a:pt x="7514717" y="2794"/>
                    <a:pt x="7514717" y="6350"/>
                  </a:cubicBezTo>
                  <a:lnTo>
                    <a:pt x="7514717" y="2733548"/>
                  </a:lnTo>
                  <a:lnTo>
                    <a:pt x="7508367" y="2733548"/>
                  </a:lnTo>
                  <a:lnTo>
                    <a:pt x="7514717" y="2733548"/>
                  </a:lnTo>
                  <a:lnTo>
                    <a:pt x="7514717" y="3902329"/>
                  </a:lnTo>
                  <a:lnTo>
                    <a:pt x="7508367" y="3902329"/>
                  </a:lnTo>
                  <a:lnTo>
                    <a:pt x="7514717" y="3902329"/>
                  </a:lnTo>
                  <a:lnTo>
                    <a:pt x="7514717" y="4681474"/>
                  </a:lnTo>
                  <a:cubicBezTo>
                    <a:pt x="7514717" y="4685030"/>
                    <a:pt x="7511924" y="4687824"/>
                    <a:pt x="7508367" y="4687824"/>
                  </a:cubicBezTo>
                  <a:lnTo>
                    <a:pt x="3132201" y="4687824"/>
                  </a:lnTo>
                  <a:lnTo>
                    <a:pt x="3132201" y="4681474"/>
                  </a:lnTo>
                  <a:lnTo>
                    <a:pt x="3135503" y="4686808"/>
                  </a:lnTo>
                  <a:lnTo>
                    <a:pt x="2197735" y="5271262"/>
                  </a:lnTo>
                  <a:cubicBezTo>
                    <a:pt x="2195703" y="5272532"/>
                    <a:pt x="2193036" y="5272532"/>
                    <a:pt x="2191004" y="5271262"/>
                  </a:cubicBezTo>
                  <a:lnTo>
                    <a:pt x="1253363" y="4686935"/>
                  </a:lnTo>
                  <a:lnTo>
                    <a:pt x="1256665" y="4681601"/>
                  </a:lnTo>
                  <a:lnTo>
                    <a:pt x="1256665" y="4687951"/>
                  </a:lnTo>
                  <a:lnTo>
                    <a:pt x="6350" y="4687951"/>
                  </a:lnTo>
                  <a:cubicBezTo>
                    <a:pt x="2794" y="4687951"/>
                    <a:pt x="0" y="4685157"/>
                    <a:pt x="0" y="4681601"/>
                  </a:cubicBezTo>
                  <a:lnTo>
                    <a:pt x="0" y="3902329"/>
                  </a:lnTo>
                  <a:lnTo>
                    <a:pt x="6350" y="3902329"/>
                  </a:lnTo>
                  <a:lnTo>
                    <a:pt x="0" y="3902329"/>
                  </a:lnTo>
                  <a:lnTo>
                    <a:pt x="0" y="2733548"/>
                  </a:lnTo>
                  <a:lnTo>
                    <a:pt x="6350" y="2733548"/>
                  </a:lnTo>
                  <a:lnTo>
                    <a:pt x="0" y="2733548"/>
                  </a:lnTo>
                  <a:lnTo>
                    <a:pt x="0" y="6350"/>
                  </a:lnTo>
                  <a:cubicBezTo>
                    <a:pt x="0" y="2794"/>
                    <a:pt x="2794" y="0"/>
                    <a:pt x="6350" y="0"/>
                  </a:cubicBezTo>
                  <a:moveTo>
                    <a:pt x="6350" y="12700"/>
                  </a:moveTo>
                  <a:lnTo>
                    <a:pt x="6350" y="6350"/>
                  </a:lnTo>
                  <a:lnTo>
                    <a:pt x="12700" y="6350"/>
                  </a:lnTo>
                  <a:lnTo>
                    <a:pt x="12700" y="2733548"/>
                  </a:lnTo>
                  <a:lnTo>
                    <a:pt x="12700" y="3902329"/>
                  </a:lnTo>
                  <a:lnTo>
                    <a:pt x="12700" y="4681474"/>
                  </a:lnTo>
                  <a:lnTo>
                    <a:pt x="6350" y="4681474"/>
                  </a:lnTo>
                  <a:lnTo>
                    <a:pt x="6350" y="4675124"/>
                  </a:lnTo>
                  <a:lnTo>
                    <a:pt x="1256665" y="4675124"/>
                  </a:lnTo>
                  <a:cubicBezTo>
                    <a:pt x="1257808" y="4675124"/>
                    <a:pt x="1259078" y="4675505"/>
                    <a:pt x="1259967" y="4676140"/>
                  </a:cubicBezTo>
                  <a:lnTo>
                    <a:pt x="2197735" y="5260594"/>
                  </a:lnTo>
                  <a:lnTo>
                    <a:pt x="2194433" y="5265928"/>
                  </a:lnTo>
                  <a:lnTo>
                    <a:pt x="2191131" y="5260594"/>
                  </a:lnTo>
                  <a:lnTo>
                    <a:pt x="3128899" y="4676140"/>
                  </a:lnTo>
                  <a:cubicBezTo>
                    <a:pt x="3129915" y="4675505"/>
                    <a:pt x="3131058" y="4675124"/>
                    <a:pt x="3132201" y="4675124"/>
                  </a:cubicBezTo>
                  <a:lnTo>
                    <a:pt x="7508367" y="4675124"/>
                  </a:lnTo>
                  <a:lnTo>
                    <a:pt x="7508367" y="4681474"/>
                  </a:lnTo>
                  <a:lnTo>
                    <a:pt x="7502017" y="4681474"/>
                  </a:lnTo>
                  <a:lnTo>
                    <a:pt x="7502017" y="3902329"/>
                  </a:lnTo>
                  <a:lnTo>
                    <a:pt x="7502017" y="2733548"/>
                  </a:lnTo>
                  <a:lnTo>
                    <a:pt x="7502017" y="6350"/>
                  </a:lnTo>
                  <a:lnTo>
                    <a:pt x="7508367" y="6350"/>
                  </a:lnTo>
                  <a:lnTo>
                    <a:pt x="7508367" y="12700"/>
                  </a:lnTo>
                  <a:lnTo>
                    <a:pt x="3132201" y="12700"/>
                  </a:lnTo>
                  <a:lnTo>
                    <a:pt x="1256665" y="12700"/>
                  </a:lnTo>
                  <a:lnTo>
                    <a:pt x="6350" y="12700"/>
                  </a:lnTo>
                  <a:close/>
                </a:path>
              </a:pathLst>
            </a:custGeom>
            <a:solidFill>
              <a:srgbClr val="1F497D"/>
            </a:solidFill>
          </p:spPr>
          <p:txBody>
            <a:bodyPr/>
            <a:lstStyle/>
            <a:p>
              <a:endParaRPr lang="es-GT"/>
            </a:p>
          </p:txBody>
        </p:sp>
        <p:sp>
          <p:nvSpPr>
            <p:cNvPr id="10" name="TextBox 10"/>
            <p:cNvSpPr txBox="1"/>
            <p:nvPr/>
          </p:nvSpPr>
          <p:spPr>
            <a:xfrm>
              <a:off x="0" y="-66675"/>
              <a:ext cx="7514704" cy="4754575"/>
            </a:xfrm>
            <a:prstGeom prst="rect">
              <a:avLst/>
            </a:prstGeom>
          </p:spPr>
          <p:txBody>
            <a:bodyPr lIns="50800" tIns="50800" rIns="50800" bIns="50800" rtlCol="0" anchor="ctr"/>
            <a:lstStyle/>
            <a:p>
              <a:pPr algn="l">
                <a:lnSpc>
                  <a:spcPts val="3863"/>
                </a:lnSpc>
              </a:pPr>
              <a:r>
                <a:rPr lang="en-US" sz="2799">
                  <a:solidFill>
                    <a:srgbClr val="000000"/>
                  </a:solidFill>
                  <a:latin typeface="Roboto"/>
                  <a:ea typeface="Roboto"/>
                  <a:cs typeface="Roboto"/>
                  <a:sym typeface="Roboto"/>
                </a:rPr>
                <a:t>Los tipos de datos primitivos Estos tipos permiten que los programas manejen datos de forma eficiente y clara, facilitando operaciones aritméticas, lógicas y de manipulación de texto.</a:t>
              </a:r>
            </a:p>
          </p:txBody>
        </p:sp>
      </p:grpSp>
      <p:grpSp>
        <p:nvGrpSpPr>
          <p:cNvPr id="11" name="Group 11"/>
          <p:cNvGrpSpPr/>
          <p:nvPr/>
        </p:nvGrpSpPr>
        <p:grpSpPr>
          <a:xfrm>
            <a:off x="10994241" y="2162823"/>
            <a:ext cx="6282223" cy="2250824"/>
            <a:chOff x="0" y="0"/>
            <a:chExt cx="8376298" cy="3001099"/>
          </a:xfrm>
        </p:grpSpPr>
        <p:sp>
          <p:nvSpPr>
            <p:cNvPr id="12" name="Freeform 12"/>
            <p:cNvSpPr/>
            <p:nvPr/>
          </p:nvSpPr>
          <p:spPr>
            <a:xfrm>
              <a:off x="6350" y="6350"/>
              <a:ext cx="8363585" cy="3361944"/>
            </a:xfrm>
            <a:custGeom>
              <a:avLst/>
              <a:gdLst/>
              <a:ahLst/>
              <a:cxnLst/>
              <a:rect l="l" t="t" r="r" b="b"/>
              <a:pathLst>
                <a:path w="8363585" h="3361944">
                  <a:moveTo>
                    <a:pt x="0" y="0"/>
                  </a:moveTo>
                  <a:lnTo>
                    <a:pt x="1393952" y="0"/>
                  </a:lnTo>
                  <a:lnTo>
                    <a:pt x="3484880" y="0"/>
                  </a:lnTo>
                  <a:lnTo>
                    <a:pt x="8363585" y="0"/>
                  </a:lnTo>
                  <a:lnTo>
                    <a:pt x="8363585" y="1743202"/>
                  </a:lnTo>
                  <a:lnTo>
                    <a:pt x="8363585" y="2490343"/>
                  </a:lnTo>
                  <a:lnTo>
                    <a:pt x="8363585" y="2988437"/>
                  </a:lnTo>
                  <a:lnTo>
                    <a:pt x="3484880" y="2988437"/>
                  </a:lnTo>
                  <a:lnTo>
                    <a:pt x="2439416" y="3361944"/>
                  </a:lnTo>
                  <a:lnTo>
                    <a:pt x="1393952" y="2988437"/>
                  </a:lnTo>
                  <a:lnTo>
                    <a:pt x="0" y="2988437"/>
                  </a:lnTo>
                  <a:lnTo>
                    <a:pt x="0" y="2490343"/>
                  </a:lnTo>
                  <a:lnTo>
                    <a:pt x="0" y="1743202"/>
                  </a:lnTo>
                  <a:close/>
                </a:path>
              </a:pathLst>
            </a:custGeom>
            <a:solidFill>
              <a:srgbClr val="E0E0E0"/>
            </a:solidFill>
          </p:spPr>
          <p:txBody>
            <a:bodyPr/>
            <a:lstStyle/>
            <a:p>
              <a:endParaRPr lang="es-GT"/>
            </a:p>
          </p:txBody>
        </p:sp>
        <p:sp>
          <p:nvSpPr>
            <p:cNvPr id="13" name="Freeform 13"/>
            <p:cNvSpPr/>
            <p:nvPr/>
          </p:nvSpPr>
          <p:spPr>
            <a:xfrm>
              <a:off x="0" y="0"/>
              <a:ext cx="8376285" cy="3374644"/>
            </a:xfrm>
            <a:custGeom>
              <a:avLst/>
              <a:gdLst/>
              <a:ahLst/>
              <a:cxnLst/>
              <a:rect l="l" t="t" r="r" b="b"/>
              <a:pathLst>
                <a:path w="8376285" h="3374644">
                  <a:moveTo>
                    <a:pt x="6350" y="0"/>
                  </a:moveTo>
                  <a:lnTo>
                    <a:pt x="1400302" y="0"/>
                  </a:lnTo>
                  <a:lnTo>
                    <a:pt x="1400302" y="6350"/>
                  </a:lnTo>
                  <a:lnTo>
                    <a:pt x="1400302" y="0"/>
                  </a:lnTo>
                  <a:lnTo>
                    <a:pt x="3491230" y="0"/>
                  </a:lnTo>
                  <a:lnTo>
                    <a:pt x="3491230" y="6350"/>
                  </a:lnTo>
                  <a:lnTo>
                    <a:pt x="3491230" y="0"/>
                  </a:lnTo>
                  <a:lnTo>
                    <a:pt x="8369935" y="0"/>
                  </a:lnTo>
                  <a:cubicBezTo>
                    <a:pt x="8373491" y="0"/>
                    <a:pt x="8376285" y="2794"/>
                    <a:pt x="8376285" y="6350"/>
                  </a:cubicBezTo>
                  <a:lnTo>
                    <a:pt x="8376285" y="1749552"/>
                  </a:lnTo>
                  <a:lnTo>
                    <a:pt x="8369935" y="1749552"/>
                  </a:lnTo>
                  <a:lnTo>
                    <a:pt x="8376285" y="1749552"/>
                  </a:lnTo>
                  <a:lnTo>
                    <a:pt x="8376285" y="2496693"/>
                  </a:lnTo>
                  <a:lnTo>
                    <a:pt x="8369935" y="2496693"/>
                  </a:lnTo>
                  <a:lnTo>
                    <a:pt x="8376285" y="2496693"/>
                  </a:lnTo>
                  <a:lnTo>
                    <a:pt x="8376285" y="2994787"/>
                  </a:lnTo>
                  <a:cubicBezTo>
                    <a:pt x="8376285" y="2998343"/>
                    <a:pt x="8373491" y="3001137"/>
                    <a:pt x="8369935" y="3001137"/>
                  </a:cubicBezTo>
                  <a:lnTo>
                    <a:pt x="3491230" y="3001137"/>
                  </a:lnTo>
                  <a:lnTo>
                    <a:pt x="3491230" y="2994787"/>
                  </a:lnTo>
                  <a:lnTo>
                    <a:pt x="3493389" y="3000756"/>
                  </a:lnTo>
                  <a:lnTo>
                    <a:pt x="2447925" y="3374263"/>
                  </a:lnTo>
                  <a:cubicBezTo>
                    <a:pt x="2446528" y="3374771"/>
                    <a:pt x="2445004" y="3374771"/>
                    <a:pt x="2443607" y="3374263"/>
                  </a:cubicBezTo>
                  <a:lnTo>
                    <a:pt x="1398143" y="3000756"/>
                  </a:lnTo>
                  <a:lnTo>
                    <a:pt x="1400302" y="2994787"/>
                  </a:lnTo>
                  <a:lnTo>
                    <a:pt x="1400302" y="3001137"/>
                  </a:lnTo>
                  <a:lnTo>
                    <a:pt x="6350" y="3001137"/>
                  </a:lnTo>
                  <a:cubicBezTo>
                    <a:pt x="2794" y="3001137"/>
                    <a:pt x="0" y="2998343"/>
                    <a:pt x="0" y="2994787"/>
                  </a:cubicBezTo>
                  <a:lnTo>
                    <a:pt x="0" y="2496693"/>
                  </a:lnTo>
                  <a:lnTo>
                    <a:pt x="6350" y="2496693"/>
                  </a:lnTo>
                  <a:lnTo>
                    <a:pt x="0" y="2496693"/>
                  </a:lnTo>
                  <a:lnTo>
                    <a:pt x="0" y="1749552"/>
                  </a:lnTo>
                  <a:lnTo>
                    <a:pt x="6350" y="1749552"/>
                  </a:lnTo>
                  <a:lnTo>
                    <a:pt x="0" y="1749552"/>
                  </a:lnTo>
                  <a:lnTo>
                    <a:pt x="0" y="6350"/>
                  </a:lnTo>
                  <a:cubicBezTo>
                    <a:pt x="0" y="2794"/>
                    <a:pt x="2794" y="0"/>
                    <a:pt x="6350" y="0"/>
                  </a:cubicBezTo>
                  <a:moveTo>
                    <a:pt x="6350" y="12700"/>
                  </a:moveTo>
                  <a:lnTo>
                    <a:pt x="6350" y="6350"/>
                  </a:lnTo>
                  <a:lnTo>
                    <a:pt x="12700" y="6350"/>
                  </a:lnTo>
                  <a:lnTo>
                    <a:pt x="12700" y="1749552"/>
                  </a:lnTo>
                  <a:lnTo>
                    <a:pt x="12700" y="2496693"/>
                  </a:lnTo>
                  <a:lnTo>
                    <a:pt x="12700" y="2994787"/>
                  </a:lnTo>
                  <a:lnTo>
                    <a:pt x="6350" y="2994787"/>
                  </a:lnTo>
                  <a:lnTo>
                    <a:pt x="6350" y="2988437"/>
                  </a:lnTo>
                  <a:lnTo>
                    <a:pt x="1400302" y="2988437"/>
                  </a:lnTo>
                  <a:cubicBezTo>
                    <a:pt x="1401064" y="2988437"/>
                    <a:pt x="1401699" y="2988564"/>
                    <a:pt x="1402461" y="2988818"/>
                  </a:cubicBezTo>
                  <a:lnTo>
                    <a:pt x="2447925" y="3362325"/>
                  </a:lnTo>
                  <a:lnTo>
                    <a:pt x="2445766" y="3368294"/>
                  </a:lnTo>
                  <a:lnTo>
                    <a:pt x="2443607" y="3362325"/>
                  </a:lnTo>
                  <a:lnTo>
                    <a:pt x="3489071" y="2988818"/>
                  </a:lnTo>
                  <a:cubicBezTo>
                    <a:pt x="3489706" y="2988564"/>
                    <a:pt x="3490468" y="2988437"/>
                    <a:pt x="3491230" y="2988437"/>
                  </a:cubicBezTo>
                  <a:lnTo>
                    <a:pt x="8369935" y="2988437"/>
                  </a:lnTo>
                  <a:lnTo>
                    <a:pt x="8369935" y="2994787"/>
                  </a:lnTo>
                  <a:lnTo>
                    <a:pt x="8363585" y="2994787"/>
                  </a:lnTo>
                  <a:lnTo>
                    <a:pt x="8363585" y="2496693"/>
                  </a:lnTo>
                  <a:lnTo>
                    <a:pt x="8363585" y="1749552"/>
                  </a:lnTo>
                  <a:lnTo>
                    <a:pt x="8363585" y="6350"/>
                  </a:lnTo>
                  <a:lnTo>
                    <a:pt x="8369935" y="6350"/>
                  </a:lnTo>
                  <a:lnTo>
                    <a:pt x="8369935" y="12700"/>
                  </a:lnTo>
                  <a:lnTo>
                    <a:pt x="3491230" y="12700"/>
                  </a:lnTo>
                  <a:lnTo>
                    <a:pt x="1400302" y="12700"/>
                  </a:lnTo>
                  <a:lnTo>
                    <a:pt x="6350" y="12700"/>
                  </a:lnTo>
                  <a:close/>
                </a:path>
              </a:pathLst>
            </a:custGeom>
            <a:solidFill>
              <a:srgbClr val="1F497D"/>
            </a:solidFill>
          </p:spPr>
          <p:txBody>
            <a:bodyPr/>
            <a:lstStyle/>
            <a:p>
              <a:endParaRPr lang="es-GT"/>
            </a:p>
          </p:txBody>
        </p:sp>
        <p:sp>
          <p:nvSpPr>
            <p:cNvPr id="14" name="TextBox 14"/>
            <p:cNvSpPr txBox="1"/>
            <p:nvPr/>
          </p:nvSpPr>
          <p:spPr>
            <a:xfrm>
              <a:off x="0" y="-19050"/>
              <a:ext cx="8376298" cy="3020149"/>
            </a:xfrm>
            <a:prstGeom prst="rect">
              <a:avLst/>
            </a:prstGeom>
          </p:spPr>
          <p:txBody>
            <a:bodyPr lIns="50800" tIns="50800" rIns="50800" bIns="50800" rtlCol="0" anchor="ctr"/>
            <a:lstStyle/>
            <a:p>
              <a:pPr algn="ctr">
                <a:lnSpc>
                  <a:spcPts val="3359"/>
                </a:lnSpc>
              </a:pPr>
              <a:r>
                <a:rPr lang="en-US" sz="2799">
                  <a:solidFill>
                    <a:srgbClr val="000000"/>
                  </a:solidFill>
                  <a:latin typeface="Roboto"/>
                  <a:ea typeface="Roboto"/>
                  <a:cs typeface="Roboto"/>
                  <a:sym typeface="Roboto"/>
                </a:rPr>
                <a:t>Los sitemas decimales, binarios, octal, hexadecimal facilitan la representación y manipulación de datos en computadoras.</a:t>
              </a:r>
            </a:p>
          </p:txBody>
        </p:sp>
      </p:grpSp>
      <p:grpSp>
        <p:nvGrpSpPr>
          <p:cNvPr id="15" name="Group 15"/>
          <p:cNvGrpSpPr/>
          <p:nvPr/>
        </p:nvGrpSpPr>
        <p:grpSpPr>
          <a:xfrm>
            <a:off x="7028936" y="4905337"/>
            <a:ext cx="5168322" cy="2684621"/>
            <a:chOff x="0" y="0"/>
            <a:chExt cx="6891096" cy="3579495"/>
          </a:xfrm>
        </p:grpSpPr>
        <p:sp>
          <p:nvSpPr>
            <p:cNvPr id="16" name="Freeform 16"/>
            <p:cNvSpPr/>
            <p:nvPr/>
          </p:nvSpPr>
          <p:spPr>
            <a:xfrm>
              <a:off x="6350" y="6350"/>
              <a:ext cx="6878447" cy="4012692"/>
            </a:xfrm>
            <a:custGeom>
              <a:avLst/>
              <a:gdLst/>
              <a:ahLst/>
              <a:cxnLst/>
              <a:rect l="l" t="t" r="r" b="b"/>
              <a:pathLst>
                <a:path w="6878447" h="4012692">
                  <a:moveTo>
                    <a:pt x="0" y="0"/>
                  </a:moveTo>
                  <a:lnTo>
                    <a:pt x="1146429" y="0"/>
                  </a:lnTo>
                  <a:lnTo>
                    <a:pt x="2866009" y="0"/>
                  </a:lnTo>
                  <a:lnTo>
                    <a:pt x="6878447" y="0"/>
                  </a:lnTo>
                  <a:lnTo>
                    <a:pt x="6878447" y="2080641"/>
                  </a:lnTo>
                  <a:lnTo>
                    <a:pt x="6878447" y="2972308"/>
                  </a:lnTo>
                  <a:lnTo>
                    <a:pt x="6878447" y="3566795"/>
                  </a:lnTo>
                  <a:lnTo>
                    <a:pt x="2866009" y="3566795"/>
                  </a:lnTo>
                  <a:lnTo>
                    <a:pt x="2006219" y="4012692"/>
                  </a:lnTo>
                  <a:lnTo>
                    <a:pt x="1146429" y="3566795"/>
                  </a:lnTo>
                  <a:lnTo>
                    <a:pt x="0" y="3566795"/>
                  </a:lnTo>
                  <a:lnTo>
                    <a:pt x="0" y="2972308"/>
                  </a:lnTo>
                  <a:lnTo>
                    <a:pt x="0" y="2080641"/>
                  </a:lnTo>
                  <a:close/>
                </a:path>
              </a:pathLst>
            </a:custGeom>
            <a:solidFill>
              <a:srgbClr val="E0E0E0"/>
            </a:solidFill>
          </p:spPr>
          <p:txBody>
            <a:bodyPr/>
            <a:lstStyle/>
            <a:p>
              <a:endParaRPr lang="es-GT"/>
            </a:p>
          </p:txBody>
        </p:sp>
        <p:sp>
          <p:nvSpPr>
            <p:cNvPr id="17" name="Freeform 17"/>
            <p:cNvSpPr/>
            <p:nvPr/>
          </p:nvSpPr>
          <p:spPr>
            <a:xfrm>
              <a:off x="0" y="0"/>
              <a:ext cx="6891147" cy="4025297"/>
            </a:xfrm>
            <a:custGeom>
              <a:avLst/>
              <a:gdLst/>
              <a:ahLst/>
              <a:cxnLst/>
              <a:rect l="l" t="t" r="r" b="b"/>
              <a:pathLst>
                <a:path w="6891147" h="4025297">
                  <a:moveTo>
                    <a:pt x="6350" y="0"/>
                  </a:moveTo>
                  <a:lnTo>
                    <a:pt x="1152779" y="0"/>
                  </a:lnTo>
                  <a:lnTo>
                    <a:pt x="1152779" y="6350"/>
                  </a:lnTo>
                  <a:lnTo>
                    <a:pt x="1152779" y="0"/>
                  </a:lnTo>
                  <a:lnTo>
                    <a:pt x="2872359" y="0"/>
                  </a:lnTo>
                  <a:lnTo>
                    <a:pt x="2872359" y="6350"/>
                  </a:lnTo>
                  <a:lnTo>
                    <a:pt x="2872359" y="0"/>
                  </a:lnTo>
                  <a:lnTo>
                    <a:pt x="6884797" y="0"/>
                  </a:lnTo>
                  <a:cubicBezTo>
                    <a:pt x="6888353" y="0"/>
                    <a:pt x="6891147" y="2794"/>
                    <a:pt x="6891147" y="6350"/>
                  </a:cubicBezTo>
                  <a:lnTo>
                    <a:pt x="6891147" y="2086991"/>
                  </a:lnTo>
                  <a:lnTo>
                    <a:pt x="6884797" y="2086991"/>
                  </a:lnTo>
                  <a:lnTo>
                    <a:pt x="6891147" y="2086991"/>
                  </a:lnTo>
                  <a:lnTo>
                    <a:pt x="6891147" y="2978658"/>
                  </a:lnTo>
                  <a:lnTo>
                    <a:pt x="6884797" y="2978658"/>
                  </a:lnTo>
                  <a:lnTo>
                    <a:pt x="6891147" y="2978658"/>
                  </a:lnTo>
                  <a:lnTo>
                    <a:pt x="6891147" y="3573145"/>
                  </a:lnTo>
                  <a:cubicBezTo>
                    <a:pt x="6891147" y="3576701"/>
                    <a:pt x="6888353" y="3579495"/>
                    <a:pt x="6884797" y="3579495"/>
                  </a:cubicBezTo>
                  <a:lnTo>
                    <a:pt x="2872359" y="3579495"/>
                  </a:lnTo>
                  <a:lnTo>
                    <a:pt x="2872359" y="3573145"/>
                  </a:lnTo>
                  <a:lnTo>
                    <a:pt x="2875280" y="3578733"/>
                  </a:lnTo>
                  <a:lnTo>
                    <a:pt x="2015490" y="4024630"/>
                  </a:lnTo>
                  <a:cubicBezTo>
                    <a:pt x="2013712" y="4025519"/>
                    <a:pt x="2011426" y="4025519"/>
                    <a:pt x="2009648" y="4024630"/>
                  </a:cubicBezTo>
                  <a:lnTo>
                    <a:pt x="1149858" y="3578733"/>
                  </a:lnTo>
                  <a:lnTo>
                    <a:pt x="1152779" y="3573145"/>
                  </a:lnTo>
                  <a:lnTo>
                    <a:pt x="1152779" y="3579495"/>
                  </a:lnTo>
                  <a:lnTo>
                    <a:pt x="6350" y="3579495"/>
                  </a:lnTo>
                  <a:cubicBezTo>
                    <a:pt x="2794" y="3579495"/>
                    <a:pt x="0" y="3576701"/>
                    <a:pt x="0" y="3573145"/>
                  </a:cubicBezTo>
                  <a:lnTo>
                    <a:pt x="0" y="2978658"/>
                  </a:lnTo>
                  <a:lnTo>
                    <a:pt x="6350" y="2978658"/>
                  </a:lnTo>
                  <a:lnTo>
                    <a:pt x="0" y="2978658"/>
                  </a:lnTo>
                  <a:lnTo>
                    <a:pt x="0" y="2086991"/>
                  </a:lnTo>
                  <a:lnTo>
                    <a:pt x="6350" y="2086991"/>
                  </a:lnTo>
                  <a:lnTo>
                    <a:pt x="0" y="2086991"/>
                  </a:lnTo>
                  <a:lnTo>
                    <a:pt x="0" y="6350"/>
                  </a:lnTo>
                  <a:cubicBezTo>
                    <a:pt x="0" y="2794"/>
                    <a:pt x="2794" y="0"/>
                    <a:pt x="6350" y="0"/>
                  </a:cubicBezTo>
                  <a:moveTo>
                    <a:pt x="6350" y="12700"/>
                  </a:moveTo>
                  <a:lnTo>
                    <a:pt x="6350" y="6350"/>
                  </a:lnTo>
                  <a:lnTo>
                    <a:pt x="12700" y="6350"/>
                  </a:lnTo>
                  <a:lnTo>
                    <a:pt x="12700" y="2086991"/>
                  </a:lnTo>
                  <a:lnTo>
                    <a:pt x="12700" y="2978658"/>
                  </a:lnTo>
                  <a:lnTo>
                    <a:pt x="12700" y="3573145"/>
                  </a:lnTo>
                  <a:lnTo>
                    <a:pt x="6350" y="3573145"/>
                  </a:lnTo>
                  <a:lnTo>
                    <a:pt x="6350" y="3566795"/>
                  </a:lnTo>
                  <a:lnTo>
                    <a:pt x="1152779" y="3566795"/>
                  </a:lnTo>
                  <a:cubicBezTo>
                    <a:pt x="1153795" y="3566795"/>
                    <a:pt x="1154811" y="3567049"/>
                    <a:pt x="1155700" y="3567557"/>
                  </a:cubicBezTo>
                  <a:lnTo>
                    <a:pt x="2015490" y="4013454"/>
                  </a:lnTo>
                  <a:lnTo>
                    <a:pt x="2012569" y="4019042"/>
                  </a:lnTo>
                  <a:lnTo>
                    <a:pt x="2009648" y="4013454"/>
                  </a:lnTo>
                  <a:lnTo>
                    <a:pt x="2869438" y="3567557"/>
                  </a:lnTo>
                  <a:cubicBezTo>
                    <a:pt x="2870327" y="3567049"/>
                    <a:pt x="2871343" y="3566795"/>
                    <a:pt x="2872359" y="3566795"/>
                  </a:cubicBezTo>
                  <a:lnTo>
                    <a:pt x="6884797" y="3566795"/>
                  </a:lnTo>
                  <a:lnTo>
                    <a:pt x="6884797" y="3573145"/>
                  </a:lnTo>
                  <a:lnTo>
                    <a:pt x="6878447" y="3573145"/>
                  </a:lnTo>
                  <a:lnTo>
                    <a:pt x="6878447" y="2978658"/>
                  </a:lnTo>
                  <a:lnTo>
                    <a:pt x="6878447" y="2086991"/>
                  </a:lnTo>
                  <a:lnTo>
                    <a:pt x="6878447" y="6350"/>
                  </a:lnTo>
                  <a:lnTo>
                    <a:pt x="6884797" y="6350"/>
                  </a:lnTo>
                  <a:lnTo>
                    <a:pt x="6884797" y="12700"/>
                  </a:lnTo>
                  <a:lnTo>
                    <a:pt x="2872359" y="12700"/>
                  </a:lnTo>
                  <a:lnTo>
                    <a:pt x="1152779" y="12700"/>
                  </a:lnTo>
                  <a:lnTo>
                    <a:pt x="6350" y="12700"/>
                  </a:lnTo>
                  <a:close/>
                </a:path>
              </a:pathLst>
            </a:custGeom>
            <a:solidFill>
              <a:srgbClr val="1F497D"/>
            </a:solidFill>
          </p:spPr>
          <p:txBody>
            <a:bodyPr/>
            <a:lstStyle/>
            <a:p>
              <a:endParaRPr lang="es-GT"/>
            </a:p>
          </p:txBody>
        </p:sp>
        <p:sp>
          <p:nvSpPr>
            <p:cNvPr id="18" name="TextBox 18"/>
            <p:cNvSpPr txBox="1"/>
            <p:nvPr/>
          </p:nvSpPr>
          <p:spPr>
            <a:xfrm>
              <a:off x="0" y="-28575"/>
              <a:ext cx="6891096" cy="3608070"/>
            </a:xfrm>
            <a:prstGeom prst="rect">
              <a:avLst/>
            </a:prstGeom>
          </p:spPr>
          <p:txBody>
            <a:bodyPr lIns="50800" tIns="50800" rIns="50800" bIns="50800" rtlCol="0" anchor="ctr"/>
            <a:lstStyle/>
            <a:p>
              <a:pPr algn="l">
                <a:lnSpc>
                  <a:spcPts val="1655"/>
                </a:lnSpc>
              </a:pPr>
              <a:r>
                <a:rPr lang="en-US" sz="1200">
                  <a:solidFill>
                    <a:srgbClr val="000000"/>
                  </a:solidFill>
                  <a:latin typeface="Roboto"/>
                  <a:ea typeface="Roboto"/>
                  <a:cs typeface="Roboto"/>
                  <a:sym typeface="Roboto"/>
                </a:rPr>
                <a:t> </a:t>
              </a:r>
            </a:p>
            <a:p>
              <a:pPr algn="l">
                <a:lnSpc>
                  <a:spcPts val="1931"/>
                </a:lnSpc>
              </a:pPr>
              <a:endParaRPr lang="en-US" sz="1200">
                <a:solidFill>
                  <a:srgbClr val="000000"/>
                </a:solidFill>
                <a:latin typeface="Roboto"/>
                <a:ea typeface="Roboto"/>
                <a:cs typeface="Roboto"/>
                <a:sym typeface="Roboto"/>
              </a:endParaRPr>
            </a:p>
            <a:p>
              <a:pPr algn="l">
                <a:lnSpc>
                  <a:spcPts val="4554"/>
                </a:lnSpc>
              </a:pPr>
              <a:r>
                <a:rPr lang="en-US" sz="3300">
                  <a:solidFill>
                    <a:srgbClr val="000000"/>
                  </a:solidFill>
                  <a:latin typeface="Roboto"/>
                  <a:ea typeface="Roboto"/>
                  <a:cs typeface="Roboto"/>
                  <a:sym typeface="Roboto"/>
                </a:rPr>
                <a:t>La codificación de caracteres permite la comunicación global y el procesamiento multilingüe</a:t>
              </a:r>
            </a:p>
            <a:p>
              <a:pPr algn="l">
                <a:lnSpc>
                  <a:spcPts val="1931"/>
                </a:lnSpc>
              </a:pPr>
              <a:endParaRPr lang="en-US" sz="3300">
                <a:solidFill>
                  <a:srgbClr val="000000"/>
                </a:solidFill>
                <a:latin typeface="Roboto"/>
                <a:ea typeface="Roboto"/>
                <a:cs typeface="Roboto"/>
                <a:sym typeface="Roboto"/>
              </a:endParaRPr>
            </a:p>
            <a:p>
              <a:pPr algn="ctr">
                <a:lnSpc>
                  <a:spcPts val="1679"/>
                </a:lnSpc>
              </a:pPr>
              <a:endParaRPr lang="en-US" sz="3300">
                <a:solidFill>
                  <a:srgbClr val="000000"/>
                </a:solidFill>
                <a:latin typeface="Roboto"/>
                <a:ea typeface="Roboto"/>
                <a:cs typeface="Roboto"/>
                <a:sym typeface="Roboto"/>
              </a:endParaRPr>
            </a:p>
          </p:txBody>
        </p:sp>
      </p:grpSp>
      <p:grpSp>
        <p:nvGrpSpPr>
          <p:cNvPr id="19" name="Group 19"/>
          <p:cNvGrpSpPr/>
          <p:nvPr/>
        </p:nvGrpSpPr>
        <p:grpSpPr>
          <a:xfrm>
            <a:off x="891035" y="2086689"/>
            <a:ext cx="6470923" cy="2684621"/>
            <a:chOff x="0" y="0"/>
            <a:chExt cx="8627897" cy="3579495"/>
          </a:xfrm>
        </p:grpSpPr>
        <p:sp>
          <p:nvSpPr>
            <p:cNvPr id="20" name="Freeform 20"/>
            <p:cNvSpPr/>
            <p:nvPr/>
          </p:nvSpPr>
          <p:spPr>
            <a:xfrm>
              <a:off x="6350" y="6350"/>
              <a:ext cx="8615172" cy="4012692"/>
            </a:xfrm>
            <a:custGeom>
              <a:avLst/>
              <a:gdLst/>
              <a:ahLst/>
              <a:cxnLst/>
              <a:rect l="l" t="t" r="r" b="b"/>
              <a:pathLst>
                <a:path w="8615172" h="4012692">
                  <a:moveTo>
                    <a:pt x="0" y="0"/>
                  </a:moveTo>
                  <a:lnTo>
                    <a:pt x="1435862" y="0"/>
                  </a:lnTo>
                  <a:lnTo>
                    <a:pt x="3589655" y="0"/>
                  </a:lnTo>
                  <a:lnTo>
                    <a:pt x="8615172" y="0"/>
                  </a:lnTo>
                  <a:lnTo>
                    <a:pt x="8615172" y="2080641"/>
                  </a:lnTo>
                  <a:lnTo>
                    <a:pt x="8615172" y="2972308"/>
                  </a:lnTo>
                  <a:lnTo>
                    <a:pt x="8615172" y="3566795"/>
                  </a:lnTo>
                  <a:lnTo>
                    <a:pt x="3589655" y="3566795"/>
                  </a:lnTo>
                  <a:lnTo>
                    <a:pt x="2512822" y="4012692"/>
                  </a:lnTo>
                  <a:lnTo>
                    <a:pt x="1435862" y="3566795"/>
                  </a:lnTo>
                  <a:lnTo>
                    <a:pt x="0" y="3566795"/>
                  </a:lnTo>
                  <a:lnTo>
                    <a:pt x="0" y="2972308"/>
                  </a:lnTo>
                  <a:lnTo>
                    <a:pt x="0" y="2080641"/>
                  </a:lnTo>
                  <a:close/>
                </a:path>
              </a:pathLst>
            </a:custGeom>
            <a:solidFill>
              <a:srgbClr val="E0E0E0"/>
            </a:solidFill>
          </p:spPr>
          <p:txBody>
            <a:bodyPr/>
            <a:lstStyle/>
            <a:p>
              <a:endParaRPr lang="es-GT"/>
            </a:p>
          </p:txBody>
        </p:sp>
        <p:sp>
          <p:nvSpPr>
            <p:cNvPr id="21" name="Freeform 21"/>
            <p:cNvSpPr/>
            <p:nvPr/>
          </p:nvSpPr>
          <p:spPr>
            <a:xfrm>
              <a:off x="0" y="0"/>
              <a:ext cx="8627872" cy="4025360"/>
            </a:xfrm>
            <a:custGeom>
              <a:avLst/>
              <a:gdLst/>
              <a:ahLst/>
              <a:cxnLst/>
              <a:rect l="l" t="t" r="r" b="b"/>
              <a:pathLst>
                <a:path w="8627872" h="4025360">
                  <a:moveTo>
                    <a:pt x="6350" y="0"/>
                  </a:moveTo>
                  <a:lnTo>
                    <a:pt x="1442212" y="0"/>
                  </a:lnTo>
                  <a:lnTo>
                    <a:pt x="1442212" y="6350"/>
                  </a:lnTo>
                  <a:lnTo>
                    <a:pt x="1442212" y="0"/>
                  </a:lnTo>
                  <a:lnTo>
                    <a:pt x="3596005" y="0"/>
                  </a:lnTo>
                  <a:lnTo>
                    <a:pt x="3596005" y="6350"/>
                  </a:lnTo>
                  <a:lnTo>
                    <a:pt x="3596005" y="0"/>
                  </a:lnTo>
                  <a:lnTo>
                    <a:pt x="8621522" y="0"/>
                  </a:lnTo>
                  <a:cubicBezTo>
                    <a:pt x="8625078" y="0"/>
                    <a:pt x="8627872" y="2794"/>
                    <a:pt x="8627872" y="6350"/>
                  </a:cubicBezTo>
                  <a:lnTo>
                    <a:pt x="8627872" y="2086991"/>
                  </a:lnTo>
                  <a:lnTo>
                    <a:pt x="8621522" y="2086991"/>
                  </a:lnTo>
                  <a:lnTo>
                    <a:pt x="8627872" y="2086991"/>
                  </a:lnTo>
                  <a:lnTo>
                    <a:pt x="8627872" y="2978658"/>
                  </a:lnTo>
                  <a:lnTo>
                    <a:pt x="8621522" y="2978658"/>
                  </a:lnTo>
                  <a:lnTo>
                    <a:pt x="8627872" y="2978658"/>
                  </a:lnTo>
                  <a:lnTo>
                    <a:pt x="8627872" y="3573145"/>
                  </a:lnTo>
                  <a:cubicBezTo>
                    <a:pt x="8627872" y="3576701"/>
                    <a:pt x="8625078" y="3579495"/>
                    <a:pt x="8621522" y="3579495"/>
                  </a:cubicBezTo>
                  <a:lnTo>
                    <a:pt x="3596005" y="3579495"/>
                  </a:lnTo>
                  <a:lnTo>
                    <a:pt x="3596005" y="3573145"/>
                  </a:lnTo>
                  <a:lnTo>
                    <a:pt x="3598418" y="3578987"/>
                  </a:lnTo>
                  <a:lnTo>
                    <a:pt x="2521585" y="4024884"/>
                  </a:lnTo>
                  <a:cubicBezTo>
                    <a:pt x="2520061" y="4025519"/>
                    <a:pt x="2518283" y="4025519"/>
                    <a:pt x="2516759" y="4024884"/>
                  </a:cubicBezTo>
                  <a:lnTo>
                    <a:pt x="1439799" y="3578987"/>
                  </a:lnTo>
                  <a:lnTo>
                    <a:pt x="1442212" y="3573145"/>
                  </a:lnTo>
                  <a:lnTo>
                    <a:pt x="1442212" y="3579495"/>
                  </a:lnTo>
                  <a:lnTo>
                    <a:pt x="6350" y="3579495"/>
                  </a:lnTo>
                  <a:cubicBezTo>
                    <a:pt x="2794" y="3579495"/>
                    <a:pt x="0" y="3576701"/>
                    <a:pt x="0" y="3573145"/>
                  </a:cubicBezTo>
                  <a:lnTo>
                    <a:pt x="0" y="2978658"/>
                  </a:lnTo>
                  <a:lnTo>
                    <a:pt x="6350" y="2978658"/>
                  </a:lnTo>
                  <a:lnTo>
                    <a:pt x="0" y="2978658"/>
                  </a:lnTo>
                  <a:lnTo>
                    <a:pt x="0" y="2086991"/>
                  </a:lnTo>
                  <a:lnTo>
                    <a:pt x="6350" y="2086991"/>
                  </a:lnTo>
                  <a:lnTo>
                    <a:pt x="0" y="2086991"/>
                  </a:lnTo>
                  <a:lnTo>
                    <a:pt x="0" y="6350"/>
                  </a:lnTo>
                  <a:cubicBezTo>
                    <a:pt x="0" y="2794"/>
                    <a:pt x="2794" y="0"/>
                    <a:pt x="6350" y="0"/>
                  </a:cubicBezTo>
                  <a:moveTo>
                    <a:pt x="6350" y="12700"/>
                  </a:moveTo>
                  <a:lnTo>
                    <a:pt x="6350" y="6350"/>
                  </a:lnTo>
                  <a:lnTo>
                    <a:pt x="12700" y="6350"/>
                  </a:lnTo>
                  <a:lnTo>
                    <a:pt x="12700" y="2086991"/>
                  </a:lnTo>
                  <a:lnTo>
                    <a:pt x="12700" y="2978658"/>
                  </a:lnTo>
                  <a:lnTo>
                    <a:pt x="12700" y="3573145"/>
                  </a:lnTo>
                  <a:lnTo>
                    <a:pt x="6350" y="3573145"/>
                  </a:lnTo>
                  <a:lnTo>
                    <a:pt x="6350" y="3566795"/>
                  </a:lnTo>
                  <a:lnTo>
                    <a:pt x="1442212" y="3566795"/>
                  </a:lnTo>
                  <a:cubicBezTo>
                    <a:pt x="1443101" y="3566795"/>
                    <a:pt x="1443863" y="3566922"/>
                    <a:pt x="1444625" y="3567303"/>
                  </a:cubicBezTo>
                  <a:lnTo>
                    <a:pt x="2521585" y="4013200"/>
                  </a:lnTo>
                  <a:lnTo>
                    <a:pt x="2519172" y="4019042"/>
                  </a:lnTo>
                  <a:lnTo>
                    <a:pt x="2516759" y="4013200"/>
                  </a:lnTo>
                  <a:lnTo>
                    <a:pt x="3593592" y="3567303"/>
                  </a:lnTo>
                  <a:cubicBezTo>
                    <a:pt x="3594354" y="3566922"/>
                    <a:pt x="3595243" y="3566795"/>
                    <a:pt x="3596005" y="3566795"/>
                  </a:cubicBezTo>
                  <a:lnTo>
                    <a:pt x="8621522" y="3566795"/>
                  </a:lnTo>
                  <a:lnTo>
                    <a:pt x="8621522" y="3573145"/>
                  </a:lnTo>
                  <a:lnTo>
                    <a:pt x="8615172" y="3573145"/>
                  </a:lnTo>
                  <a:lnTo>
                    <a:pt x="8615172" y="2978658"/>
                  </a:lnTo>
                  <a:lnTo>
                    <a:pt x="8615172" y="2086991"/>
                  </a:lnTo>
                  <a:lnTo>
                    <a:pt x="8615172" y="6350"/>
                  </a:lnTo>
                  <a:lnTo>
                    <a:pt x="8621522" y="6350"/>
                  </a:lnTo>
                  <a:lnTo>
                    <a:pt x="8621522" y="12700"/>
                  </a:lnTo>
                  <a:lnTo>
                    <a:pt x="3596005" y="12700"/>
                  </a:lnTo>
                  <a:lnTo>
                    <a:pt x="1442212" y="12700"/>
                  </a:lnTo>
                  <a:lnTo>
                    <a:pt x="6350" y="12700"/>
                  </a:lnTo>
                  <a:close/>
                </a:path>
              </a:pathLst>
            </a:custGeom>
            <a:solidFill>
              <a:srgbClr val="1F497D"/>
            </a:solidFill>
          </p:spPr>
          <p:txBody>
            <a:bodyPr/>
            <a:lstStyle/>
            <a:p>
              <a:endParaRPr lang="es-GT"/>
            </a:p>
          </p:txBody>
        </p:sp>
        <p:sp>
          <p:nvSpPr>
            <p:cNvPr id="22" name="TextBox 22"/>
            <p:cNvSpPr txBox="1"/>
            <p:nvPr/>
          </p:nvSpPr>
          <p:spPr>
            <a:xfrm>
              <a:off x="0" y="-19050"/>
              <a:ext cx="8627897" cy="3598545"/>
            </a:xfrm>
            <a:prstGeom prst="rect">
              <a:avLst/>
            </a:prstGeom>
          </p:spPr>
          <p:txBody>
            <a:bodyPr lIns="50800" tIns="50800" rIns="50800" bIns="50800" rtlCol="0" anchor="ctr"/>
            <a:lstStyle/>
            <a:p>
              <a:pPr algn="ctr">
                <a:lnSpc>
                  <a:spcPts val="3359"/>
                </a:lnSpc>
              </a:pPr>
              <a:r>
                <a:rPr lang="en-US" sz="2799">
                  <a:solidFill>
                    <a:srgbClr val="000000"/>
                  </a:solidFill>
                  <a:latin typeface="Roboto"/>
                  <a:ea typeface="Roboto"/>
                  <a:cs typeface="Roboto"/>
                  <a:sym typeface="Roboto"/>
                </a:rPr>
                <a:t>La codificación y compresión multimedia permiten almacenar grandes cantidades de datos audiovisuales, transmitirlos por internet y reproducirlos en dispositivos con recursos limitados.</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407360" y="762000"/>
            <a:ext cx="9703356" cy="1282522"/>
          </a:xfrm>
          <a:prstGeom prst="rect">
            <a:avLst/>
          </a:prstGeom>
        </p:spPr>
        <p:txBody>
          <a:bodyPr lIns="0" tIns="0" rIns="0" bIns="0" rtlCol="0" anchor="t">
            <a:spAutoFit/>
          </a:bodyPr>
          <a:lstStyle/>
          <a:p>
            <a:pPr algn="ctr">
              <a:lnSpc>
                <a:spcPts val="9356"/>
              </a:lnSpc>
            </a:pPr>
            <a:r>
              <a:rPr lang="en-US" sz="6900">
                <a:solidFill>
                  <a:srgbClr val="000000"/>
                </a:solidFill>
                <a:latin typeface="Impact"/>
                <a:ea typeface="Impact"/>
                <a:cs typeface="Impact"/>
                <a:sym typeface="Impact"/>
              </a:rPr>
              <a:t>Responsabilidad e Innovación</a:t>
            </a:r>
          </a:p>
        </p:txBody>
      </p:sp>
      <p:grpSp>
        <p:nvGrpSpPr>
          <p:cNvPr id="3" name="Group 3"/>
          <p:cNvGrpSpPr/>
          <p:nvPr/>
        </p:nvGrpSpPr>
        <p:grpSpPr>
          <a:xfrm>
            <a:off x="8691210" y="5311388"/>
            <a:ext cx="7877327" cy="3175121"/>
            <a:chOff x="0" y="0"/>
            <a:chExt cx="10503103" cy="4233494"/>
          </a:xfrm>
        </p:grpSpPr>
        <p:sp>
          <p:nvSpPr>
            <p:cNvPr id="4" name="Freeform 4"/>
            <p:cNvSpPr/>
            <p:nvPr/>
          </p:nvSpPr>
          <p:spPr>
            <a:xfrm>
              <a:off x="6350" y="6350"/>
              <a:ext cx="10490454" cy="4748403"/>
            </a:xfrm>
            <a:custGeom>
              <a:avLst/>
              <a:gdLst/>
              <a:ahLst/>
              <a:cxnLst/>
              <a:rect l="l" t="t" r="r" b="b"/>
              <a:pathLst>
                <a:path w="10490454" h="4748403">
                  <a:moveTo>
                    <a:pt x="0" y="0"/>
                  </a:moveTo>
                  <a:lnTo>
                    <a:pt x="1748409" y="0"/>
                  </a:lnTo>
                  <a:lnTo>
                    <a:pt x="4370959" y="0"/>
                  </a:lnTo>
                  <a:lnTo>
                    <a:pt x="10490454" y="0"/>
                  </a:lnTo>
                  <a:lnTo>
                    <a:pt x="10490454" y="2462149"/>
                  </a:lnTo>
                  <a:lnTo>
                    <a:pt x="10490454" y="3517392"/>
                  </a:lnTo>
                  <a:lnTo>
                    <a:pt x="10490454" y="4220845"/>
                  </a:lnTo>
                  <a:lnTo>
                    <a:pt x="4370959" y="4220845"/>
                  </a:lnTo>
                  <a:lnTo>
                    <a:pt x="3059684" y="4748403"/>
                  </a:lnTo>
                  <a:lnTo>
                    <a:pt x="1748409" y="4220845"/>
                  </a:lnTo>
                  <a:lnTo>
                    <a:pt x="0" y="4220845"/>
                  </a:lnTo>
                  <a:lnTo>
                    <a:pt x="0" y="3517392"/>
                  </a:lnTo>
                  <a:lnTo>
                    <a:pt x="0" y="2462149"/>
                  </a:lnTo>
                  <a:close/>
                </a:path>
              </a:pathLst>
            </a:custGeom>
            <a:solidFill>
              <a:srgbClr val="E0E0E0"/>
            </a:solidFill>
          </p:spPr>
          <p:txBody>
            <a:bodyPr/>
            <a:lstStyle/>
            <a:p>
              <a:endParaRPr lang="es-GT"/>
            </a:p>
          </p:txBody>
        </p:sp>
        <p:sp>
          <p:nvSpPr>
            <p:cNvPr id="5" name="Freeform 5"/>
            <p:cNvSpPr/>
            <p:nvPr/>
          </p:nvSpPr>
          <p:spPr>
            <a:xfrm>
              <a:off x="0" y="0"/>
              <a:ext cx="10503154" cy="4761071"/>
            </a:xfrm>
            <a:custGeom>
              <a:avLst/>
              <a:gdLst/>
              <a:ahLst/>
              <a:cxnLst/>
              <a:rect l="l" t="t" r="r" b="b"/>
              <a:pathLst>
                <a:path w="10503154" h="4761071">
                  <a:moveTo>
                    <a:pt x="6350" y="0"/>
                  </a:moveTo>
                  <a:lnTo>
                    <a:pt x="1754759" y="0"/>
                  </a:lnTo>
                  <a:lnTo>
                    <a:pt x="1754759" y="6350"/>
                  </a:lnTo>
                  <a:lnTo>
                    <a:pt x="1754759" y="0"/>
                  </a:lnTo>
                  <a:lnTo>
                    <a:pt x="4377309" y="0"/>
                  </a:lnTo>
                  <a:lnTo>
                    <a:pt x="4377309" y="6350"/>
                  </a:lnTo>
                  <a:lnTo>
                    <a:pt x="4377309" y="0"/>
                  </a:lnTo>
                  <a:lnTo>
                    <a:pt x="10496804" y="0"/>
                  </a:lnTo>
                  <a:cubicBezTo>
                    <a:pt x="10500361" y="0"/>
                    <a:pt x="10503154" y="2794"/>
                    <a:pt x="10503154" y="6350"/>
                  </a:cubicBezTo>
                  <a:lnTo>
                    <a:pt x="10503154" y="2468499"/>
                  </a:lnTo>
                  <a:lnTo>
                    <a:pt x="10496804" y="2468499"/>
                  </a:lnTo>
                  <a:lnTo>
                    <a:pt x="10503154" y="2468499"/>
                  </a:lnTo>
                  <a:lnTo>
                    <a:pt x="10503154" y="3523742"/>
                  </a:lnTo>
                  <a:lnTo>
                    <a:pt x="10496804" y="3523742"/>
                  </a:lnTo>
                  <a:lnTo>
                    <a:pt x="10503154" y="3523742"/>
                  </a:lnTo>
                  <a:lnTo>
                    <a:pt x="10503154" y="4227195"/>
                  </a:lnTo>
                  <a:cubicBezTo>
                    <a:pt x="10503154" y="4230751"/>
                    <a:pt x="10500361" y="4233545"/>
                    <a:pt x="10496804" y="4233545"/>
                  </a:cubicBezTo>
                  <a:lnTo>
                    <a:pt x="4377309" y="4233545"/>
                  </a:lnTo>
                  <a:lnTo>
                    <a:pt x="4377309" y="4227195"/>
                  </a:lnTo>
                  <a:lnTo>
                    <a:pt x="4379722" y="4233037"/>
                  </a:lnTo>
                  <a:lnTo>
                    <a:pt x="3068447" y="4760595"/>
                  </a:lnTo>
                  <a:cubicBezTo>
                    <a:pt x="3066923" y="4761230"/>
                    <a:pt x="3065272" y="4761230"/>
                    <a:pt x="3063748" y="4760595"/>
                  </a:cubicBezTo>
                  <a:lnTo>
                    <a:pt x="1752346" y="4233037"/>
                  </a:lnTo>
                  <a:lnTo>
                    <a:pt x="1754759" y="4227195"/>
                  </a:lnTo>
                  <a:lnTo>
                    <a:pt x="1754759" y="4233545"/>
                  </a:lnTo>
                  <a:lnTo>
                    <a:pt x="6350" y="4233545"/>
                  </a:lnTo>
                  <a:cubicBezTo>
                    <a:pt x="2794" y="4233545"/>
                    <a:pt x="0" y="4230751"/>
                    <a:pt x="0" y="4227195"/>
                  </a:cubicBezTo>
                  <a:lnTo>
                    <a:pt x="0" y="3523742"/>
                  </a:lnTo>
                  <a:lnTo>
                    <a:pt x="6350" y="3523742"/>
                  </a:lnTo>
                  <a:lnTo>
                    <a:pt x="0" y="3523742"/>
                  </a:lnTo>
                  <a:lnTo>
                    <a:pt x="0" y="2468499"/>
                  </a:lnTo>
                  <a:lnTo>
                    <a:pt x="6350" y="2468499"/>
                  </a:lnTo>
                  <a:lnTo>
                    <a:pt x="0" y="2468499"/>
                  </a:lnTo>
                  <a:lnTo>
                    <a:pt x="0" y="6350"/>
                  </a:lnTo>
                  <a:cubicBezTo>
                    <a:pt x="0" y="2794"/>
                    <a:pt x="2794" y="0"/>
                    <a:pt x="6350" y="0"/>
                  </a:cubicBezTo>
                  <a:moveTo>
                    <a:pt x="6350" y="12700"/>
                  </a:moveTo>
                  <a:lnTo>
                    <a:pt x="6350" y="6350"/>
                  </a:lnTo>
                  <a:lnTo>
                    <a:pt x="12700" y="6350"/>
                  </a:lnTo>
                  <a:lnTo>
                    <a:pt x="12700" y="2468499"/>
                  </a:lnTo>
                  <a:lnTo>
                    <a:pt x="12700" y="3523742"/>
                  </a:lnTo>
                  <a:lnTo>
                    <a:pt x="12700" y="4227195"/>
                  </a:lnTo>
                  <a:lnTo>
                    <a:pt x="6350" y="4227195"/>
                  </a:lnTo>
                  <a:lnTo>
                    <a:pt x="6350" y="4220845"/>
                  </a:lnTo>
                  <a:lnTo>
                    <a:pt x="1754759" y="4220845"/>
                  </a:lnTo>
                  <a:cubicBezTo>
                    <a:pt x="1755521" y="4220845"/>
                    <a:pt x="1756410" y="4220972"/>
                    <a:pt x="1757172" y="4221353"/>
                  </a:cubicBezTo>
                  <a:lnTo>
                    <a:pt x="3068447" y="4748911"/>
                  </a:lnTo>
                  <a:lnTo>
                    <a:pt x="3066034" y="4754753"/>
                  </a:lnTo>
                  <a:lnTo>
                    <a:pt x="3063621" y="4748911"/>
                  </a:lnTo>
                  <a:lnTo>
                    <a:pt x="4374896" y="4221353"/>
                  </a:lnTo>
                  <a:cubicBezTo>
                    <a:pt x="4375658" y="4221099"/>
                    <a:pt x="4376420" y="4220845"/>
                    <a:pt x="4377309" y="4220845"/>
                  </a:cubicBezTo>
                  <a:lnTo>
                    <a:pt x="10496804" y="4220845"/>
                  </a:lnTo>
                  <a:lnTo>
                    <a:pt x="10496804" y="4227195"/>
                  </a:lnTo>
                  <a:lnTo>
                    <a:pt x="10490454" y="4227195"/>
                  </a:lnTo>
                  <a:lnTo>
                    <a:pt x="10490454" y="3523742"/>
                  </a:lnTo>
                  <a:lnTo>
                    <a:pt x="10490454" y="2468499"/>
                  </a:lnTo>
                  <a:lnTo>
                    <a:pt x="10490454" y="6350"/>
                  </a:lnTo>
                  <a:lnTo>
                    <a:pt x="10496804" y="6350"/>
                  </a:lnTo>
                  <a:lnTo>
                    <a:pt x="10496804" y="12700"/>
                  </a:lnTo>
                  <a:lnTo>
                    <a:pt x="4377309" y="12700"/>
                  </a:lnTo>
                  <a:lnTo>
                    <a:pt x="1754759" y="12700"/>
                  </a:lnTo>
                  <a:lnTo>
                    <a:pt x="6350" y="12700"/>
                  </a:lnTo>
                  <a:close/>
                </a:path>
              </a:pathLst>
            </a:custGeom>
            <a:solidFill>
              <a:srgbClr val="1F497D"/>
            </a:solidFill>
          </p:spPr>
          <p:txBody>
            <a:bodyPr/>
            <a:lstStyle/>
            <a:p>
              <a:endParaRPr lang="es-GT"/>
            </a:p>
          </p:txBody>
        </p:sp>
        <p:sp>
          <p:nvSpPr>
            <p:cNvPr id="6" name="TextBox 6"/>
            <p:cNvSpPr txBox="1"/>
            <p:nvPr/>
          </p:nvSpPr>
          <p:spPr>
            <a:xfrm>
              <a:off x="0" y="-57150"/>
              <a:ext cx="10503103" cy="4290644"/>
            </a:xfrm>
            <a:prstGeom prst="rect">
              <a:avLst/>
            </a:prstGeom>
          </p:spPr>
          <p:txBody>
            <a:bodyPr lIns="50800" tIns="50800" rIns="50800" bIns="50800" rtlCol="0" anchor="ctr"/>
            <a:lstStyle/>
            <a:p>
              <a:pPr algn="l">
                <a:lnSpc>
                  <a:spcPts val="3726"/>
                </a:lnSpc>
              </a:pPr>
              <a:r>
                <a:rPr lang="en-US" sz="2700" u="sng">
                  <a:solidFill>
                    <a:srgbClr val="000000"/>
                  </a:solidFill>
                  <a:latin typeface="Roboto"/>
                  <a:ea typeface="Roboto"/>
                  <a:cs typeface="Roboto"/>
                  <a:sym typeface="Roboto"/>
                </a:rPr>
                <a:t>Innovación:</a:t>
              </a:r>
              <a:r>
                <a:rPr lang="en-US" sz="2700">
                  <a:solidFill>
                    <a:srgbClr val="000000"/>
                  </a:solidFill>
                  <a:latin typeface="Roboto"/>
                  <a:ea typeface="Roboto"/>
                  <a:cs typeface="Roboto"/>
                  <a:sym typeface="Roboto"/>
                </a:rPr>
                <a:t> Búsqueda constante de soluciones y mejoras en los procesos tecnológicos.</a:t>
              </a:r>
            </a:p>
            <a:p>
              <a:pPr algn="l">
                <a:lnSpc>
                  <a:spcPts val="1931"/>
                </a:lnSpc>
              </a:pPr>
              <a:endParaRPr lang="en-US" sz="2700">
                <a:solidFill>
                  <a:srgbClr val="000000"/>
                </a:solidFill>
                <a:latin typeface="Roboto"/>
                <a:ea typeface="Roboto"/>
                <a:cs typeface="Roboto"/>
                <a:sym typeface="Roboto"/>
              </a:endParaRPr>
            </a:p>
            <a:p>
              <a:pPr algn="ctr">
                <a:lnSpc>
                  <a:spcPts val="1679"/>
                </a:lnSpc>
              </a:pPr>
              <a:endParaRPr lang="en-US" sz="2700">
                <a:solidFill>
                  <a:srgbClr val="000000"/>
                </a:solidFill>
                <a:latin typeface="Roboto"/>
                <a:ea typeface="Roboto"/>
                <a:cs typeface="Roboto"/>
                <a:sym typeface="Roboto"/>
              </a:endParaRPr>
            </a:p>
          </p:txBody>
        </p:sp>
      </p:grpSp>
      <p:grpSp>
        <p:nvGrpSpPr>
          <p:cNvPr id="7" name="Group 7"/>
          <p:cNvGrpSpPr/>
          <p:nvPr/>
        </p:nvGrpSpPr>
        <p:grpSpPr>
          <a:xfrm>
            <a:off x="1467688" y="2415035"/>
            <a:ext cx="6918227" cy="2684621"/>
            <a:chOff x="0" y="0"/>
            <a:chExt cx="9224302" cy="3579495"/>
          </a:xfrm>
        </p:grpSpPr>
        <p:sp>
          <p:nvSpPr>
            <p:cNvPr id="8" name="Freeform 8"/>
            <p:cNvSpPr/>
            <p:nvPr/>
          </p:nvSpPr>
          <p:spPr>
            <a:xfrm>
              <a:off x="6350" y="6350"/>
              <a:ext cx="9211564" cy="4012692"/>
            </a:xfrm>
            <a:custGeom>
              <a:avLst/>
              <a:gdLst/>
              <a:ahLst/>
              <a:cxnLst/>
              <a:rect l="l" t="t" r="r" b="b"/>
              <a:pathLst>
                <a:path w="9211564" h="4012692">
                  <a:moveTo>
                    <a:pt x="0" y="0"/>
                  </a:moveTo>
                  <a:lnTo>
                    <a:pt x="1535303" y="0"/>
                  </a:lnTo>
                  <a:lnTo>
                    <a:pt x="3838194" y="0"/>
                  </a:lnTo>
                  <a:lnTo>
                    <a:pt x="9211564" y="0"/>
                  </a:lnTo>
                  <a:lnTo>
                    <a:pt x="9211564" y="2080641"/>
                  </a:lnTo>
                  <a:lnTo>
                    <a:pt x="9211564" y="2972308"/>
                  </a:lnTo>
                  <a:lnTo>
                    <a:pt x="9211564" y="3566795"/>
                  </a:lnTo>
                  <a:lnTo>
                    <a:pt x="3838194" y="3566795"/>
                  </a:lnTo>
                  <a:lnTo>
                    <a:pt x="2686812" y="4012692"/>
                  </a:lnTo>
                  <a:lnTo>
                    <a:pt x="1535303" y="3566795"/>
                  </a:lnTo>
                  <a:lnTo>
                    <a:pt x="0" y="3566795"/>
                  </a:lnTo>
                  <a:lnTo>
                    <a:pt x="0" y="2972308"/>
                  </a:lnTo>
                  <a:lnTo>
                    <a:pt x="0" y="2080641"/>
                  </a:lnTo>
                  <a:close/>
                </a:path>
              </a:pathLst>
            </a:custGeom>
            <a:solidFill>
              <a:srgbClr val="E0E0E0"/>
            </a:solidFill>
          </p:spPr>
          <p:txBody>
            <a:bodyPr/>
            <a:lstStyle/>
            <a:p>
              <a:endParaRPr lang="es-GT"/>
            </a:p>
          </p:txBody>
        </p:sp>
        <p:sp>
          <p:nvSpPr>
            <p:cNvPr id="9" name="Freeform 9"/>
            <p:cNvSpPr/>
            <p:nvPr/>
          </p:nvSpPr>
          <p:spPr>
            <a:xfrm>
              <a:off x="0" y="0"/>
              <a:ext cx="9224264" cy="4025392"/>
            </a:xfrm>
            <a:custGeom>
              <a:avLst/>
              <a:gdLst/>
              <a:ahLst/>
              <a:cxnLst/>
              <a:rect l="l" t="t" r="r" b="b"/>
              <a:pathLst>
                <a:path w="9224264" h="4025392">
                  <a:moveTo>
                    <a:pt x="6350" y="0"/>
                  </a:moveTo>
                  <a:lnTo>
                    <a:pt x="1541653" y="0"/>
                  </a:lnTo>
                  <a:lnTo>
                    <a:pt x="1541653" y="6350"/>
                  </a:lnTo>
                  <a:lnTo>
                    <a:pt x="1541653" y="0"/>
                  </a:lnTo>
                  <a:lnTo>
                    <a:pt x="3844544" y="0"/>
                  </a:lnTo>
                  <a:lnTo>
                    <a:pt x="3844544" y="6350"/>
                  </a:lnTo>
                  <a:lnTo>
                    <a:pt x="3844544" y="0"/>
                  </a:lnTo>
                  <a:lnTo>
                    <a:pt x="9217914" y="0"/>
                  </a:lnTo>
                  <a:cubicBezTo>
                    <a:pt x="9221470" y="0"/>
                    <a:pt x="9224264" y="2794"/>
                    <a:pt x="9224264" y="6350"/>
                  </a:cubicBezTo>
                  <a:lnTo>
                    <a:pt x="9224264" y="2086991"/>
                  </a:lnTo>
                  <a:lnTo>
                    <a:pt x="9217914" y="2086991"/>
                  </a:lnTo>
                  <a:lnTo>
                    <a:pt x="9224264" y="2086991"/>
                  </a:lnTo>
                  <a:lnTo>
                    <a:pt x="9224264" y="2978658"/>
                  </a:lnTo>
                  <a:lnTo>
                    <a:pt x="9217914" y="2978658"/>
                  </a:lnTo>
                  <a:lnTo>
                    <a:pt x="9224264" y="2978658"/>
                  </a:lnTo>
                  <a:lnTo>
                    <a:pt x="9224264" y="3573145"/>
                  </a:lnTo>
                  <a:cubicBezTo>
                    <a:pt x="9224264" y="3576701"/>
                    <a:pt x="9221470" y="3579495"/>
                    <a:pt x="9217914" y="3579495"/>
                  </a:cubicBezTo>
                  <a:lnTo>
                    <a:pt x="3844544" y="3579495"/>
                  </a:lnTo>
                  <a:lnTo>
                    <a:pt x="3844544" y="3573145"/>
                  </a:lnTo>
                  <a:lnTo>
                    <a:pt x="3846830" y="3579114"/>
                  </a:lnTo>
                  <a:lnTo>
                    <a:pt x="2695448" y="4025011"/>
                  </a:lnTo>
                  <a:cubicBezTo>
                    <a:pt x="2693924" y="4025519"/>
                    <a:pt x="2692400" y="4025519"/>
                    <a:pt x="2690876" y="4025011"/>
                  </a:cubicBezTo>
                  <a:lnTo>
                    <a:pt x="1539367" y="3579114"/>
                  </a:lnTo>
                  <a:lnTo>
                    <a:pt x="1541653" y="3573145"/>
                  </a:lnTo>
                  <a:lnTo>
                    <a:pt x="1541653" y="3579495"/>
                  </a:lnTo>
                  <a:lnTo>
                    <a:pt x="6350" y="3579495"/>
                  </a:lnTo>
                  <a:cubicBezTo>
                    <a:pt x="2794" y="3579495"/>
                    <a:pt x="0" y="3576701"/>
                    <a:pt x="0" y="3573145"/>
                  </a:cubicBezTo>
                  <a:lnTo>
                    <a:pt x="0" y="2978658"/>
                  </a:lnTo>
                  <a:lnTo>
                    <a:pt x="6350" y="2978658"/>
                  </a:lnTo>
                  <a:lnTo>
                    <a:pt x="0" y="2978658"/>
                  </a:lnTo>
                  <a:lnTo>
                    <a:pt x="0" y="2086991"/>
                  </a:lnTo>
                  <a:lnTo>
                    <a:pt x="6350" y="2086991"/>
                  </a:lnTo>
                  <a:lnTo>
                    <a:pt x="0" y="2086991"/>
                  </a:lnTo>
                  <a:lnTo>
                    <a:pt x="0" y="6350"/>
                  </a:lnTo>
                  <a:cubicBezTo>
                    <a:pt x="0" y="2794"/>
                    <a:pt x="2794" y="0"/>
                    <a:pt x="6350" y="0"/>
                  </a:cubicBezTo>
                  <a:moveTo>
                    <a:pt x="6350" y="12700"/>
                  </a:moveTo>
                  <a:lnTo>
                    <a:pt x="6350" y="6350"/>
                  </a:lnTo>
                  <a:lnTo>
                    <a:pt x="12700" y="6350"/>
                  </a:lnTo>
                  <a:lnTo>
                    <a:pt x="12700" y="2086991"/>
                  </a:lnTo>
                  <a:lnTo>
                    <a:pt x="12700" y="2978658"/>
                  </a:lnTo>
                  <a:lnTo>
                    <a:pt x="12700" y="3573145"/>
                  </a:lnTo>
                  <a:lnTo>
                    <a:pt x="6350" y="3573145"/>
                  </a:lnTo>
                  <a:lnTo>
                    <a:pt x="6350" y="3566795"/>
                  </a:lnTo>
                  <a:lnTo>
                    <a:pt x="1541653" y="3566795"/>
                  </a:lnTo>
                  <a:cubicBezTo>
                    <a:pt x="1542415" y="3566795"/>
                    <a:pt x="1543177" y="3566922"/>
                    <a:pt x="1543939" y="3567176"/>
                  </a:cubicBezTo>
                  <a:lnTo>
                    <a:pt x="2695448" y="4013073"/>
                  </a:lnTo>
                  <a:lnTo>
                    <a:pt x="2693162" y="4019042"/>
                  </a:lnTo>
                  <a:lnTo>
                    <a:pt x="2690876" y="4013073"/>
                  </a:lnTo>
                  <a:lnTo>
                    <a:pt x="3842258" y="3567176"/>
                  </a:lnTo>
                  <a:cubicBezTo>
                    <a:pt x="3843020" y="3566922"/>
                    <a:pt x="3843782" y="3566795"/>
                    <a:pt x="3844544" y="3566795"/>
                  </a:cubicBezTo>
                  <a:lnTo>
                    <a:pt x="9217914" y="3566795"/>
                  </a:lnTo>
                  <a:lnTo>
                    <a:pt x="9217914" y="3573145"/>
                  </a:lnTo>
                  <a:lnTo>
                    <a:pt x="9211564" y="3573145"/>
                  </a:lnTo>
                  <a:lnTo>
                    <a:pt x="9211564" y="2978658"/>
                  </a:lnTo>
                  <a:lnTo>
                    <a:pt x="9211564" y="2086991"/>
                  </a:lnTo>
                  <a:lnTo>
                    <a:pt x="9211564" y="6350"/>
                  </a:lnTo>
                  <a:lnTo>
                    <a:pt x="9217914" y="6350"/>
                  </a:lnTo>
                  <a:lnTo>
                    <a:pt x="9217914" y="12700"/>
                  </a:lnTo>
                  <a:lnTo>
                    <a:pt x="3844544" y="12700"/>
                  </a:lnTo>
                  <a:lnTo>
                    <a:pt x="1541653" y="12700"/>
                  </a:lnTo>
                  <a:lnTo>
                    <a:pt x="6350" y="12700"/>
                  </a:lnTo>
                  <a:close/>
                </a:path>
              </a:pathLst>
            </a:custGeom>
            <a:solidFill>
              <a:srgbClr val="1F497D"/>
            </a:solidFill>
          </p:spPr>
          <p:txBody>
            <a:bodyPr/>
            <a:lstStyle/>
            <a:p>
              <a:endParaRPr lang="es-GT"/>
            </a:p>
          </p:txBody>
        </p:sp>
        <p:sp>
          <p:nvSpPr>
            <p:cNvPr id="10" name="TextBox 10"/>
            <p:cNvSpPr txBox="1"/>
            <p:nvPr/>
          </p:nvSpPr>
          <p:spPr>
            <a:xfrm>
              <a:off x="0" y="-47625"/>
              <a:ext cx="9224302" cy="3627120"/>
            </a:xfrm>
            <a:prstGeom prst="rect">
              <a:avLst/>
            </a:prstGeom>
          </p:spPr>
          <p:txBody>
            <a:bodyPr lIns="50800" tIns="50800" rIns="50800" bIns="50800" rtlCol="0" anchor="ctr"/>
            <a:lstStyle/>
            <a:p>
              <a:pPr algn="l">
                <a:lnSpc>
                  <a:spcPts val="1931"/>
                </a:lnSpc>
              </a:pPr>
              <a:endParaRPr/>
            </a:p>
            <a:p>
              <a:pPr algn="l">
                <a:lnSpc>
                  <a:spcPts val="3726"/>
                </a:lnSpc>
              </a:pPr>
              <a:r>
                <a:rPr lang="en-US" sz="2700" u="sng">
                  <a:solidFill>
                    <a:srgbClr val="000000"/>
                  </a:solidFill>
                  <a:latin typeface="Roboto"/>
                  <a:ea typeface="Roboto"/>
                  <a:cs typeface="Roboto"/>
                  <a:sym typeface="Roboto"/>
                </a:rPr>
                <a:t>Responsabilidad: </a:t>
              </a:r>
              <a:r>
                <a:rPr lang="en-US" sz="2700">
                  <a:solidFill>
                    <a:srgbClr val="000000"/>
                  </a:solidFill>
                  <a:latin typeface="Roboto"/>
                  <a:ea typeface="Roboto"/>
                  <a:cs typeface="Roboto"/>
                  <a:sym typeface="Roboto"/>
                </a:rPr>
                <a:t>Uso ético y seguro de la tecnología y protección de la informacón.</a:t>
              </a:r>
            </a:p>
            <a:p>
              <a:pPr algn="l">
                <a:lnSpc>
                  <a:spcPts val="1931"/>
                </a:lnSpc>
              </a:pPr>
              <a:endParaRPr lang="en-US" sz="2700">
                <a:solidFill>
                  <a:srgbClr val="000000"/>
                </a:solidFill>
                <a:latin typeface="Roboto"/>
                <a:ea typeface="Roboto"/>
                <a:cs typeface="Roboto"/>
                <a:sym typeface="Roboto"/>
              </a:endParaRPr>
            </a:p>
            <a:p>
              <a:pPr algn="ctr">
                <a:lnSpc>
                  <a:spcPts val="1679"/>
                </a:lnSpc>
              </a:pPr>
              <a:endParaRPr lang="en-US" sz="2700">
                <a:solidFill>
                  <a:srgbClr val="000000"/>
                </a:solidFill>
                <a:latin typeface="Roboto"/>
                <a:ea typeface="Roboto"/>
                <a:cs typeface="Roboto"/>
                <a:sym typeface="Roboto"/>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507390" y="762000"/>
            <a:ext cx="13503297" cy="1300124"/>
          </a:xfrm>
          <a:prstGeom prst="rect">
            <a:avLst/>
          </a:prstGeom>
        </p:spPr>
        <p:txBody>
          <a:bodyPr lIns="0" tIns="0" rIns="0" bIns="0" rtlCol="0" anchor="t">
            <a:spAutoFit/>
          </a:bodyPr>
          <a:lstStyle/>
          <a:p>
            <a:pPr algn="ctr">
              <a:lnSpc>
                <a:spcPts val="9356"/>
              </a:lnSpc>
            </a:pPr>
            <a:r>
              <a:rPr lang="en-US" sz="6900">
                <a:solidFill>
                  <a:srgbClr val="000000"/>
                </a:solidFill>
                <a:latin typeface="Impact"/>
                <a:ea typeface="Impact"/>
                <a:cs typeface="Impact"/>
                <a:sym typeface="Impact"/>
              </a:rPr>
              <a:t>REFERENCIAS </a:t>
            </a:r>
          </a:p>
        </p:txBody>
      </p:sp>
      <p:sp>
        <p:nvSpPr>
          <p:cNvPr id="3" name="TextBox 3"/>
          <p:cNvSpPr txBox="1"/>
          <p:nvPr/>
        </p:nvSpPr>
        <p:spPr>
          <a:xfrm>
            <a:off x="1168203" y="2701728"/>
            <a:ext cx="15951603" cy="4318920"/>
          </a:xfrm>
          <a:prstGeom prst="rect">
            <a:avLst/>
          </a:prstGeom>
        </p:spPr>
        <p:txBody>
          <a:bodyPr lIns="0" tIns="0" rIns="0" bIns="0" rtlCol="0" anchor="t">
            <a:spAutoFit/>
          </a:bodyPr>
          <a:lstStyle/>
          <a:p>
            <a:pPr marL="680301" lvl="1" indent="-340150" algn="l">
              <a:lnSpc>
                <a:spcPts val="5294"/>
              </a:lnSpc>
              <a:buAutoNum type="arabicPeriod"/>
            </a:pPr>
            <a:r>
              <a:rPr lang="en-US" sz="3151" u="sng">
                <a:solidFill>
                  <a:srgbClr val="000000"/>
                </a:solidFill>
                <a:latin typeface="Arial"/>
                <a:ea typeface="Arial"/>
                <a:cs typeface="Arial"/>
                <a:sym typeface="Arial"/>
                <a:hlinkClick r:id="rId3" tooltip="https://aws.amazon.com/es/getting-started/cloud-essentials/"/>
              </a:rPr>
              <a:t>https://aws.amazon.com/es/getting-started/cloud-essentials/</a:t>
            </a:r>
          </a:p>
          <a:p>
            <a:pPr marL="680301" lvl="1" indent="-340150" algn="l">
              <a:lnSpc>
                <a:spcPts val="5294"/>
              </a:lnSpc>
              <a:buAutoNum type="arabicPeriod"/>
            </a:pPr>
            <a:r>
              <a:rPr lang="en-US" sz="3151" u="sng">
                <a:solidFill>
                  <a:srgbClr val="000000"/>
                </a:solidFill>
                <a:latin typeface="Arial"/>
                <a:ea typeface="Arial"/>
                <a:cs typeface="Arial"/>
                <a:sym typeface="Arial"/>
                <a:hlinkClick r:id="rId4" tooltip="https://www.oposicionesguardiacivilweb.com/wp-content/uploads/2019/04/TEMA-24-INFORMATICA-TEOR%C3%8DA-C%C3%93DIGO-BINARIO.pdf"/>
              </a:rPr>
              <a:t>https://www.oposicionesguardiacivilweb.com/wp-content/uploads/2019/04/TEMA-24-INFORMATICA-TEOR%C3%8DA-C%C3%93DIGO-BINARIO.pdf</a:t>
            </a:r>
          </a:p>
          <a:p>
            <a:pPr marL="680301" lvl="1" indent="-340150" algn="l">
              <a:lnSpc>
                <a:spcPts val="5294"/>
              </a:lnSpc>
              <a:buAutoNum type="arabicPeriod"/>
            </a:pPr>
            <a:r>
              <a:rPr lang="en-US" sz="3151" u="sng">
                <a:solidFill>
                  <a:srgbClr val="000000"/>
                </a:solidFill>
                <a:latin typeface="Arial"/>
                <a:ea typeface="Arial"/>
                <a:cs typeface="Arial"/>
                <a:sym typeface="Arial"/>
                <a:hlinkClick r:id="rId5" tooltip="https://www.ionos.es/digitalguide/servidores/know-how/ascii-american-standard-code-for-information-interchange/"/>
              </a:rPr>
              <a:t>https://www.ionos.es/digitalguide/servidores/know-how/ascii-american-standard-code-for-information-interchange/</a:t>
            </a:r>
          </a:p>
          <a:p>
            <a:pPr marL="680301" lvl="1" indent="-340150" algn="l">
              <a:lnSpc>
                <a:spcPts val="5294"/>
              </a:lnSpc>
              <a:buAutoNum type="arabicPeriod"/>
            </a:pPr>
            <a:r>
              <a:rPr lang="en-US" sz="3151">
                <a:solidFill>
                  <a:srgbClr val="000000"/>
                </a:solidFill>
                <a:latin typeface="Arial"/>
                <a:ea typeface="Arial"/>
                <a:cs typeface="Arial"/>
                <a:sym typeface="Arial"/>
              </a:rPr>
              <a:t>https://aprendeconalf.es/docencia/python/manual/tipos-datos-simples/</a:t>
            </a:r>
          </a:p>
          <a:p>
            <a:pPr marL="302260" lvl="1" indent="-151130" algn="l">
              <a:lnSpc>
                <a:spcPts val="2352"/>
              </a:lnSpc>
              <a:buAutoNum type="arabicPeriod"/>
            </a:pPr>
            <a:endParaRPr lang="en-US" sz="3151">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90903" y="676275"/>
            <a:ext cx="7906193" cy="1446917"/>
          </a:xfrm>
          <a:prstGeom prst="rect">
            <a:avLst/>
          </a:prstGeom>
        </p:spPr>
        <p:txBody>
          <a:bodyPr lIns="0" tIns="0" rIns="0" bIns="0" rtlCol="0" anchor="t">
            <a:spAutoFit/>
          </a:bodyPr>
          <a:lstStyle/>
          <a:p>
            <a:pPr algn="ctr">
              <a:lnSpc>
                <a:spcPts val="12096"/>
              </a:lnSpc>
            </a:pPr>
            <a:r>
              <a:rPr lang="en-US" sz="7200">
                <a:solidFill>
                  <a:srgbClr val="000000"/>
                </a:solidFill>
                <a:latin typeface="Arial"/>
                <a:ea typeface="Arial"/>
                <a:cs typeface="Arial"/>
                <a:sym typeface="Arial"/>
              </a:rPr>
              <a:t>Ejemplo práctico</a:t>
            </a:r>
          </a:p>
        </p:txBody>
      </p:sp>
      <p:sp>
        <p:nvSpPr>
          <p:cNvPr id="3" name="TextBox 3"/>
          <p:cNvSpPr txBox="1"/>
          <p:nvPr/>
        </p:nvSpPr>
        <p:spPr>
          <a:xfrm>
            <a:off x="1028700" y="2442326"/>
            <a:ext cx="4709517" cy="833247"/>
          </a:xfrm>
          <a:prstGeom prst="rect">
            <a:avLst/>
          </a:prstGeom>
        </p:spPr>
        <p:txBody>
          <a:bodyPr lIns="0" tIns="0" rIns="0" bIns="0" rtlCol="0" anchor="t">
            <a:spAutoFit/>
          </a:bodyPr>
          <a:lstStyle/>
          <a:p>
            <a:pPr algn="l">
              <a:lnSpc>
                <a:spcPts val="6623"/>
              </a:lnSpc>
              <a:spcBef>
                <a:spcPct val="0"/>
              </a:spcBef>
            </a:pPr>
            <a:r>
              <a:rPr lang="en-US" sz="4800">
                <a:solidFill>
                  <a:srgbClr val="000000"/>
                </a:solidFill>
                <a:latin typeface="Arial"/>
                <a:ea typeface="Arial"/>
                <a:cs typeface="Arial"/>
                <a:sym typeface="Arial"/>
              </a:rPr>
              <a:t>Decimal a binario</a:t>
            </a:r>
          </a:p>
        </p:txBody>
      </p:sp>
      <p:sp>
        <p:nvSpPr>
          <p:cNvPr id="4" name="TextBox 4"/>
          <p:cNvSpPr txBox="1"/>
          <p:nvPr/>
        </p:nvSpPr>
        <p:spPr>
          <a:xfrm>
            <a:off x="5373370" y="4660501"/>
            <a:ext cx="6363771" cy="986409"/>
          </a:xfrm>
          <a:prstGeom prst="rect">
            <a:avLst/>
          </a:prstGeom>
        </p:spPr>
        <p:txBody>
          <a:bodyPr lIns="0" tIns="0" rIns="0" bIns="0" rtlCol="0" anchor="t">
            <a:spAutoFit/>
          </a:bodyPr>
          <a:lstStyle/>
          <a:p>
            <a:pPr algn="l">
              <a:lnSpc>
                <a:spcPts val="7728"/>
              </a:lnSpc>
              <a:spcBef>
                <a:spcPct val="0"/>
              </a:spcBef>
            </a:pPr>
            <a:r>
              <a:rPr lang="en-US" sz="5600">
                <a:solidFill>
                  <a:srgbClr val="000000"/>
                </a:solidFill>
                <a:latin typeface="Arial"/>
                <a:ea typeface="Arial"/>
                <a:cs typeface="Arial"/>
                <a:sym typeface="Arial"/>
              </a:rPr>
              <a:t>Numero decimal: 25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90903" y="676275"/>
            <a:ext cx="7906193" cy="1446917"/>
          </a:xfrm>
          <a:prstGeom prst="rect">
            <a:avLst/>
          </a:prstGeom>
        </p:spPr>
        <p:txBody>
          <a:bodyPr lIns="0" tIns="0" rIns="0" bIns="0" rtlCol="0" anchor="t">
            <a:spAutoFit/>
          </a:bodyPr>
          <a:lstStyle/>
          <a:p>
            <a:pPr algn="ctr">
              <a:lnSpc>
                <a:spcPts val="12096"/>
              </a:lnSpc>
            </a:pPr>
            <a:r>
              <a:rPr lang="en-US" sz="7200">
                <a:solidFill>
                  <a:srgbClr val="000000"/>
                </a:solidFill>
                <a:latin typeface="Arial"/>
                <a:ea typeface="Arial"/>
                <a:cs typeface="Arial"/>
                <a:sym typeface="Arial"/>
              </a:rPr>
              <a:t>Ejemplo práctico</a:t>
            </a:r>
          </a:p>
        </p:txBody>
      </p:sp>
      <p:sp>
        <p:nvSpPr>
          <p:cNvPr id="3" name="TextBox 3"/>
          <p:cNvSpPr txBox="1"/>
          <p:nvPr/>
        </p:nvSpPr>
        <p:spPr>
          <a:xfrm>
            <a:off x="1028700" y="2418616"/>
            <a:ext cx="4709517" cy="833247"/>
          </a:xfrm>
          <a:prstGeom prst="rect">
            <a:avLst/>
          </a:prstGeom>
        </p:spPr>
        <p:txBody>
          <a:bodyPr lIns="0" tIns="0" rIns="0" bIns="0" rtlCol="0" anchor="t">
            <a:spAutoFit/>
          </a:bodyPr>
          <a:lstStyle/>
          <a:p>
            <a:pPr algn="l">
              <a:lnSpc>
                <a:spcPts val="6623"/>
              </a:lnSpc>
              <a:spcBef>
                <a:spcPct val="0"/>
              </a:spcBef>
            </a:pPr>
            <a:r>
              <a:rPr lang="en-US" sz="4800">
                <a:solidFill>
                  <a:srgbClr val="000000"/>
                </a:solidFill>
                <a:latin typeface="Arial"/>
                <a:ea typeface="Arial"/>
                <a:cs typeface="Arial"/>
                <a:sym typeface="Arial"/>
              </a:rPr>
              <a:t>Decimal a binario</a:t>
            </a:r>
          </a:p>
        </p:txBody>
      </p:sp>
      <p:sp>
        <p:nvSpPr>
          <p:cNvPr id="4" name="TextBox 4"/>
          <p:cNvSpPr txBox="1"/>
          <p:nvPr/>
        </p:nvSpPr>
        <p:spPr>
          <a:xfrm>
            <a:off x="5373370" y="4660501"/>
            <a:ext cx="6363771" cy="986409"/>
          </a:xfrm>
          <a:prstGeom prst="rect">
            <a:avLst/>
          </a:prstGeom>
        </p:spPr>
        <p:txBody>
          <a:bodyPr lIns="0" tIns="0" rIns="0" bIns="0" rtlCol="0" anchor="t">
            <a:spAutoFit/>
          </a:bodyPr>
          <a:lstStyle/>
          <a:p>
            <a:pPr algn="l">
              <a:lnSpc>
                <a:spcPts val="7728"/>
              </a:lnSpc>
              <a:spcBef>
                <a:spcPct val="0"/>
              </a:spcBef>
            </a:pPr>
            <a:r>
              <a:rPr lang="en-US" sz="5600">
                <a:solidFill>
                  <a:srgbClr val="000000"/>
                </a:solidFill>
                <a:latin typeface="Arial"/>
                <a:ea typeface="Arial"/>
                <a:cs typeface="Arial"/>
                <a:sym typeface="Arial"/>
              </a:rPr>
              <a:t>Numero decimal: 25</a:t>
            </a:r>
          </a:p>
        </p:txBody>
      </p:sp>
      <p:grpSp>
        <p:nvGrpSpPr>
          <p:cNvPr id="5" name="Group 5"/>
          <p:cNvGrpSpPr/>
          <p:nvPr/>
        </p:nvGrpSpPr>
        <p:grpSpPr>
          <a:xfrm>
            <a:off x="13694097" y="3251863"/>
            <a:ext cx="3042325" cy="1313222"/>
            <a:chOff x="0" y="0"/>
            <a:chExt cx="801271" cy="345869"/>
          </a:xfrm>
        </p:grpSpPr>
        <p:sp>
          <p:nvSpPr>
            <p:cNvPr id="6" name="Freeform 6"/>
            <p:cNvSpPr/>
            <p:nvPr/>
          </p:nvSpPr>
          <p:spPr>
            <a:xfrm>
              <a:off x="0" y="0"/>
              <a:ext cx="801271" cy="345869"/>
            </a:xfrm>
            <a:custGeom>
              <a:avLst/>
              <a:gdLst/>
              <a:ahLst/>
              <a:cxnLst/>
              <a:rect l="l" t="t" r="r" b="b"/>
              <a:pathLst>
                <a:path w="801271" h="345869">
                  <a:moveTo>
                    <a:pt x="43261" y="0"/>
                  </a:moveTo>
                  <a:lnTo>
                    <a:pt x="758010" y="0"/>
                  </a:lnTo>
                  <a:cubicBezTo>
                    <a:pt x="781902" y="0"/>
                    <a:pt x="801271" y="19368"/>
                    <a:pt x="801271" y="43261"/>
                  </a:cubicBezTo>
                  <a:lnTo>
                    <a:pt x="801271" y="302609"/>
                  </a:lnTo>
                  <a:cubicBezTo>
                    <a:pt x="801271" y="314082"/>
                    <a:pt x="796713" y="325086"/>
                    <a:pt x="788600" y="333199"/>
                  </a:cubicBezTo>
                  <a:cubicBezTo>
                    <a:pt x="780487" y="341311"/>
                    <a:pt x="769484" y="345869"/>
                    <a:pt x="758010" y="345869"/>
                  </a:cubicBezTo>
                  <a:lnTo>
                    <a:pt x="43261" y="345869"/>
                  </a:lnTo>
                  <a:cubicBezTo>
                    <a:pt x="31787" y="345869"/>
                    <a:pt x="20784" y="341311"/>
                    <a:pt x="12671" y="333199"/>
                  </a:cubicBezTo>
                  <a:cubicBezTo>
                    <a:pt x="4558" y="325086"/>
                    <a:pt x="0" y="314082"/>
                    <a:pt x="0" y="302609"/>
                  </a:cubicBezTo>
                  <a:lnTo>
                    <a:pt x="0" y="43261"/>
                  </a:lnTo>
                  <a:cubicBezTo>
                    <a:pt x="0" y="19368"/>
                    <a:pt x="19368" y="0"/>
                    <a:pt x="43261" y="0"/>
                  </a:cubicBezTo>
                  <a:close/>
                </a:path>
              </a:pathLst>
            </a:custGeom>
            <a:solidFill>
              <a:srgbClr val="E5CBCB">
                <a:alpha val="55686"/>
              </a:srgbClr>
            </a:solidFill>
          </p:spPr>
          <p:txBody>
            <a:bodyPr/>
            <a:lstStyle/>
            <a:p>
              <a:endParaRPr lang="es-GT"/>
            </a:p>
          </p:txBody>
        </p:sp>
        <p:sp>
          <p:nvSpPr>
            <p:cNvPr id="7" name="TextBox 7"/>
            <p:cNvSpPr txBox="1"/>
            <p:nvPr/>
          </p:nvSpPr>
          <p:spPr>
            <a:xfrm>
              <a:off x="0" y="-47625"/>
              <a:ext cx="801271" cy="393494"/>
            </a:xfrm>
            <a:prstGeom prst="rect">
              <a:avLst/>
            </a:prstGeom>
          </p:spPr>
          <p:txBody>
            <a:bodyPr lIns="50800" tIns="50800" rIns="50800" bIns="50800" rtlCol="0" anchor="ctr"/>
            <a:lstStyle/>
            <a:p>
              <a:pPr algn="ctr">
                <a:lnSpc>
                  <a:spcPts val="1932"/>
                </a:lnSpc>
              </a:pPr>
              <a:endParaRPr/>
            </a:p>
          </p:txBody>
        </p:sp>
      </p:grpSp>
      <p:sp>
        <p:nvSpPr>
          <p:cNvPr id="8" name="TextBox 8"/>
          <p:cNvSpPr txBox="1"/>
          <p:nvPr/>
        </p:nvSpPr>
        <p:spPr>
          <a:xfrm>
            <a:off x="14223193" y="3549572"/>
            <a:ext cx="1677710"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Base 10</a:t>
            </a:r>
          </a:p>
        </p:txBody>
      </p:sp>
      <p:sp>
        <p:nvSpPr>
          <p:cNvPr id="9" name="Freeform 9"/>
          <p:cNvSpPr/>
          <p:nvPr/>
        </p:nvSpPr>
        <p:spPr>
          <a:xfrm>
            <a:off x="12238762" y="4565085"/>
            <a:ext cx="2976497" cy="636245"/>
          </a:xfrm>
          <a:custGeom>
            <a:avLst/>
            <a:gdLst/>
            <a:ahLst/>
            <a:cxnLst/>
            <a:rect l="l" t="t" r="r" b="b"/>
            <a:pathLst>
              <a:path w="2976497" h="636245">
                <a:moveTo>
                  <a:pt x="0" y="636245"/>
                </a:moveTo>
                <a:lnTo>
                  <a:pt x="2747897" y="636245"/>
                </a:lnTo>
                <a:cubicBezTo>
                  <a:pt x="2874150" y="636245"/>
                  <a:pt x="2976497" y="533898"/>
                  <a:pt x="2976497" y="407645"/>
                </a:cubicBezTo>
                <a:lnTo>
                  <a:pt x="2976497" y="0"/>
                </a:lnTo>
              </a:path>
            </a:pathLst>
          </a:custGeom>
          <a:ln w="38100" cap="flat">
            <a:solidFill>
              <a:srgbClr val="000000"/>
            </a:solidFill>
            <a:prstDash val="solid"/>
            <a:headEnd type="triangle" w="lg" len="med"/>
            <a:tailEnd type="none" w="sm" len="sm"/>
          </a:ln>
        </p:spPr>
        <p:txBody>
          <a:bodyPr/>
          <a:lstStyle/>
          <a:p>
            <a:endParaRPr lang="es-G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90903" y="676275"/>
            <a:ext cx="7906193" cy="1446917"/>
          </a:xfrm>
          <a:prstGeom prst="rect">
            <a:avLst/>
          </a:prstGeom>
        </p:spPr>
        <p:txBody>
          <a:bodyPr lIns="0" tIns="0" rIns="0" bIns="0" rtlCol="0" anchor="t">
            <a:spAutoFit/>
          </a:bodyPr>
          <a:lstStyle/>
          <a:p>
            <a:pPr algn="ctr">
              <a:lnSpc>
                <a:spcPts val="12096"/>
              </a:lnSpc>
            </a:pPr>
            <a:r>
              <a:rPr lang="en-US" sz="7200">
                <a:solidFill>
                  <a:srgbClr val="000000"/>
                </a:solidFill>
                <a:latin typeface="Arial"/>
                <a:ea typeface="Arial"/>
                <a:cs typeface="Arial"/>
                <a:sym typeface="Arial"/>
              </a:rPr>
              <a:t>Ejemplo práctico</a:t>
            </a:r>
          </a:p>
        </p:txBody>
      </p:sp>
      <p:sp>
        <p:nvSpPr>
          <p:cNvPr id="3" name="TextBox 3"/>
          <p:cNvSpPr txBox="1"/>
          <p:nvPr/>
        </p:nvSpPr>
        <p:spPr>
          <a:xfrm>
            <a:off x="1028700" y="2418616"/>
            <a:ext cx="4709517" cy="833247"/>
          </a:xfrm>
          <a:prstGeom prst="rect">
            <a:avLst/>
          </a:prstGeom>
        </p:spPr>
        <p:txBody>
          <a:bodyPr lIns="0" tIns="0" rIns="0" bIns="0" rtlCol="0" anchor="t">
            <a:spAutoFit/>
          </a:bodyPr>
          <a:lstStyle/>
          <a:p>
            <a:pPr algn="l">
              <a:lnSpc>
                <a:spcPts val="6623"/>
              </a:lnSpc>
              <a:spcBef>
                <a:spcPct val="0"/>
              </a:spcBef>
            </a:pPr>
            <a:r>
              <a:rPr lang="en-US" sz="4800">
                <a:solidFill>
                  <a:srgbClr val="000000"/>
                </a:solidFill>
                <a:latin typeface="Arial"/>
                <a:ea typeface="Arial"/>
                <a:cs typeface="Arial"/>
                <a:sym typeface="Arial"/>
              </a:rPr>
              <a:t>Decimal a binario</a:t>
            </a:r>
          </a:p>
        </p:txBody>
      </p:sp>
      <p:sp>
        <p:nvSpPr>
          <p:cNvPr id="4" name="TextBox 4"/>
          <p:cNvSpPr txBox="1"/>
          <p:nvPr/>
        </p:nvSpPr>
        <p:spPr>
          <a:xfrm>
            <a:off x="5373370" y="4660501"/>
            <a:ext cx="6363771" cy="986409"/>
          </a:xfrm>
          <a:prstGeom prst="rect">
            <a:avLst/>
          </a:prstGeom>
        </p:spPr>
        <p:txBody>
          <a:bodyPr lIns="0" tIns="0" rIns="0" bIns="0" rtlCol="0" anchor="t">
            <a:spAutoFit/>
          </a:bodyPr>
          <a:lstStyle/>
          <a:p>
            <a:pPr algn="l">
              <a:lnSpc>
                <a:spcPts val="7728"/>
              </a:lnSpc>
              <a:spcBef>
                <a:spcPct val="0"/>
              </a:spcBef>
            </a:pPr>
            <a:r>
              <a:rPr lang="en-US" sz="5600">
                <a:solidFill>
                  <a:srgbClr val="000000"/>
                </a:solidFill>
                <a:latin typeface="Arial"/>
                <a:ea typeface="Arial"/>
                <a:cs typeface="Arial"/>
                <a:sym typeface="Arial"/>
              </a:rPr>
              <a:t>Numero decimal: 25</a:t>
            </a:r>
          </a:p>
        </p:txBody>
      </p:sp>
      <p:grpSp>
        <p:nvGrpSpPr>
          <p:cNvPr id="5" name="Group 5"/>
          <p:cNvGrpSpPr/>
          <p:nvPr/>
        </p:nvGrpSpPr>
        <p:grpSpPr>
          <a:xfrm>
            <a:off x="13694097" y="3251863"/>
            <a:ext cx="3042325" cy="1313222"/>
            <a:chOff x="0" y="0"/>
            <a:chExt cx="801271" cy="345869"/>
          </a:xfrm>
        </p:grpSpPr>
        <p:sp>
          <p:nvSpPr>
            <p:cNvPr id="6" name="Freeform 6"/>
            <p:cNvSpPr/>
            <p:nvPr/>
          </p:nvSpPr>
          <p:spPr>
            <a:xfrm>
              <a:off x="0" y="0"/>
              <a:ext cx="801271" cy="345869"/>
            </a:xfrm>
            <a:custGeom>
              <a:avLst/>
              <a:gdLst/>
              <a:ahLst/>
              <a:cxnLst/>
              <a:rect l="l" t="t" r="r" b="b"/>
              <a:pathLst>
                <a:path w="801271" h="345869">
                  <a:moveTo>
                    <a:pt x="43261" y="0"/>
                  </a:moveTo>
                  <a:lnTo>
                    <a:pt x="758010" y="0"/>
                  </a:lnTo>
                  <a:cubicBezTo>
                    <a:pt x="781902" y="0"/>
                    <a:pt x="801271" y="19368"/>
                    <a:pt x="801271" y="43261"/>
                  </a:cubicBezTo>
                  <a:lnTo>
                    <a:pt x="801271" y="302609"/>
                  </a:lnTo>
                  <a:cubicBezTo>
                    <a:pt x="801271" y="314082"/>
                    <a:pt x="796713" y="325086"/>
                    <a:pt x="788600" y="333199"/>
                  </a:cubicBezTo>
                  <a:cubicBezTo>
                    <a:pt x="780487" y="341311"/>
                    <a:pt x="769484" y="345869"/>
                    <a:pt x="758010" y="345869"/>
                  </a:cubicBezTo>
                  <a:lnTo>
                    <a:pt x="43261" y="345869"/>
                  </a:lnTo>
                  <a:cubicBezTo>
                    <a:pt x="31787" y="345869"/>
                    <a:pt x="20784" y="341311"/>
                    <a:pt x="12671" y="333199"/>
                  </a:cubicBezTo>
                  <a:cubicBezTo>
                    <a:pt x="4558" y="325086"/>
                    <a:pt x="0" y="314082"/>
                    <a:pt x="0" y="302609"/>
                  </a:cubicBezTo>
                  <a:lnTo>
                    <a:pt x="0" y="43261"/>
                  </a:lnTo>
                  <a:cubicBezTo>
                    <a:pt x="0" y="19368"/>
                    <a:pt x="19368" y="0"/>
                    <a:pt x="43261" y="0"/>
                  </a:cubicBezTo>
                  <a:close/>
                </a:path>
              </a:pathLst>
            </a:custGeom>
            <a:solidFill>
              <a:srgbClr val="E5CBCB">
                <a:alpha val="55686"/>
              </a:srgbClr>
            </a:solidFill>
          </p:spPr>
          <p:txBody>
            <a:bodyPr/>
            <a:lstStyle/>
            <a:p>
              <a:endParaRPr lang="es-GT"/>
            </a:p>
          </p:txBody>
        </p:sp>
        <p:sp>
          <p:nvSpPr>
            <p:cNvPr id="7" name="TextBox 7"/>
            <p:cNvSpPr txBox="1"/>
            <p:nvPr/>
          </p:nvSpPr>
          <p:spPr>
            <a:xfrm>
              <a:off x="0" y="-47625"/>
              <a:ext cx="801271" cy="393494"/>
            </a:xfrm>
            <a:prstGeom prst="rect">
              <a:avLst/>
            </a:prstGeom>
          </p:spPr>
          <p:txBody>
            <a:bodyPr lIns="50800" tIns="50800" rIns="50800" bIns="50800" rtlCol="0" anchor="ctr"/>
            <a:lstStyle/>
            <a:p>
              <a:pPr algn="ctr">
                <a:lnSpc>
                  <a:spcPts val="1932"/>
                </a:lnSpc>
              </a:pPr>
              <a:endParaRPr/>
            </a:p>
          </p:txBody>
        </p:sp>
      </p:grpSp>
      <p:sp>
        <p:nvSpPr>
          <p:cNvPr id="8" name="TextBox 8"/>
          <p:cNvSpPr txBox="1"/>
          <p:nvPr/>
        </p:nvSpPr>
        <p:spPr>
          <a:xfrm>
            <a:off x="14223193" y="3549572"/>
            <a:ext cx="1677710"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Base 10</a:t>
            </a:r>
          </a:p>
        </p:txBody>
      </p:sp>
      <p:sp>
        <p:nvSpPr>
          <p:cNvPr id="9" name="Freeform 9"/>
          <p:cNvSpPr/>
          <p:nvPr/>
        </p:nvSpPr>
        <p:spPr>
          <a:xfrm>
            <a:off x="12238762" y="4565085"/>
            <a:ext cx="2976497" cy="636245"/>
          </a:xfrm>
          <a:custGeom>
            <a:avLst/>
            <a:gdLst/>
            <a:ahLst/>
            <a:cxnLst/>
            <a:rect l="l" t="t" r="r" b="b"/>
            <a:pathLst>
              <a:path w="2976497" h="636245">
                <a:moveTo>
                  <a:pt x="0" y="636245"/>
                </a:moveTo>
                <a:lnTo>
                  <a:pt x="2747897" y="636245"/>
                </a:lnTo>
                <a:cubicBezTo>
                  <a:pt x="2874150" y="636245"/>
                  <a:pt x="2976497" y="533898"/>
                  <a:pt x="2976497" y="407645"/>
                </a:cubicBezTo>
                <a:lnTo>
                  <a:pt x="2976497" y="0"/>
                </a:lnTo>
              </a:path>
            </a:pathLst>
          </a:custGeom>
          <a:ln w="38100" cap="flat">
            <a:solidFill>
              <a:srgbClr val="000000"/>
            </a:solidFill>
            <a:prstDash val="solid"/>
            <a:headEnd type="triangle" w="lg" len="med"/>
            <a:tailEnd type="none" w="sm" len="sm"/>
          </a:ln>
        </p:spPr>
        <p:txBody>
          <a:bodyPr/>
          <a:lstStyle/>
          <a:p>
            <a:endParaRPr lang="es-GT"/>
          </a:p>
        </p:txBody>
      </p:sp>
      <p:grpSp>
        <p:nvGrpSpPr>
          <p:cNvPr id="10" name="Group 10"/>
          <p:cNvGrpSpPr/>
          <p:nvPr/>
        </p:nvGrpSpPr>
        <p:grpSpPr>
          <a:xfrm>
            <a:off x="8000959" y="7141445"/>
            <a:ext cx="9258341" cy="2116855"/>
            <a:chOff x="0" y="0"/>
            <a:chExt cx="2438411" cy="557526"/>
          </a:xfrm>
        </p:grpSpPr>
        <p:sp>
          <p:nvSpPr>
            <p:cNvPr id="11" name="Freeform 11"/>
            <p:cNvSpPr/>
            <p:nvPr/>
          </p:nvSpPr>
          <p:spPr>
            <a:xfrm>
              <a:off x="0" y="0"/>
              <a:ext cx="2438411" cy="557526"/>
            </a:xfrm>
            <a:custGeom>
              <a:avLst/>
              <a:gdLst/>
              <a:ahLst/>
              <a:cxnLst/>
              <a:rect l="l" t="t" r="r" b="b"/>
              <a:pathLst>
                <a:path w="2438411" h="557526">
                  <a:moveTo>
                    <a:pt x="14216" y="0"/>
                  </a:moveTo>
                  <a:lnTo>
                    <a:pt x="2424195" y="0"/>
                  </a:lnTo>
                  <a:cubicBezTo>
                    <a:pt x="2432046" y="0"/>
                    <a:pt x="2438411" y="6365"/>
                    <a:pt x="2438411" y="14216"/>
                  </a:cubicBezTo>
                  <a:lnTo>
                    <a:pt x="2438411" y="543310"/>
                  </a:lnTo>
                  <a:cubicBezTo>
                    <a:pt x="2438411" y="547080"/>
                    <a:pt x="2436913" y="550696"/>
                    <a:pt x="2434247" y="553362"/>
                  </a:cubicBezTo>
                  <a:cubicBezTo>
                    <a:pt x="2431581" y="556028"/>
                    <a:pt x="2427966" y="557526"/>
                    <a:pt x="2424195" y="557526"/>
                  </a:cubicBezTo>
                  <a:lnTo>
                    <a:pt x="14216" y="557526"/>
                  </a:lnTo>
                  <a:cubicBezTo>
                    <a:pt x="6365" y="557526"/>
                    <a:pt x="0" y="551161"/>
                    <a:pt x="0" y="543310"/>
                  </a:cubicBezTo>
                  <a:lnTo>
                    <a:pt x="0" y="14216"/>
                  </a:lnTo>
                  <a:cubicBezTo>
                    <a:pt x="0" y="10445"/>
                    <a:pt x="1498" y="6830"/>
                    <a:pt x="4164" y="4164"/>
                  </a:cubicBezTo>
                  <a:cubicBezTo>
                    <a:pt x="6830" y="1498"/>
                    <a:pt x="10445" y="0"/>
                    <a:pt x="14216" y="0"/>
                  </a:cubicBezTo>
                  <a:close/>
                </a:path>
              </a:pathLst>
            </a:custGeom>
            <a:solidFill>
              <a:srgbClr val="CCC074">
                <a:alpha val="54902"/>
              </a:srgbClr>
            </a:solidFill>
          </p:spPr>
          <p:txBody>
            <a:bodyPr/>
            <a:lstStyle/>
            <a:p>
              <a:endParaRPr lang="es-GT"/>
            </a:p>
          </p:txBody>
        </p:sp>
        <p:sp>
          <p:nvSpPr>
            <p:cNvPr id="12" name="TextBox 12"/>
            <p:cNvSpPr txBox="1"/>
            <p:nvPr/>
          </p:nvSpPr>
          <p:spPr>
            <a:xfrm>
              <a:off x="0" y="-47625"/>
              <a:ext cx="2438411" cy="605151"/>
            </a:xfrm>
            <a:prstGeom prst="rect">
              <a:avLst/>
            </a:prstGeom>
          </p:spPr>
          <p:txBody>
            <a:bodyPr lIns="50800" tIns="50800" rIns="50800" bIns="50800" rtlCol="0" anchor="ctr"/>
            <a:lstStyle/>
            <a:p>
              <a:pPr algn="ctr">
                <a:lnSpc>
                  <a:spcPts val="1932"/>
                </a:lnSpc>
              </a:pPr>
              <a:endParaRPr/>
            </a:p>
          </p:txBody>
        </p:sp>
      </p:grpSp>
      <p:sp>
        <p:nvSpPr>
          <p:cNvPr id="13" name="AutoShape 13"/>
          <p:cNvSpPr/>
          <p:nvPr/>
        </p:nvSpPr>
        <p:spPr>
          <a:xfrm flipH="1" flipV="1">
            <a:off x="15900903" y="4565085"/>
            <a:ext cx="0" cy="2576360"/>
          </a:xfrm>
          <a:prstGeom prst="line">
            <a:avLst/>
          </a:prstGeom>
          <a:ln w="38100" cap="flat">
            <a:solidFill>
              <a:srgbClr val="000000"/>
            </a:solidFill>
            <a:prstDash val="solid"/>
            <a:headEnd type="triangle" w="lg" len="med"/>
            <a:tailEnd type="none" w="sm" len="sm"/>
          </a:ln>
        </p:spPr>
        <p:txBody>
          <a:bodyPr/>
          <a:lstStyle/>
          <a:p>
            <a:endParaRPr lang="es-GT"/>
          </a:p>
        </p:txBody>
      </p:sp>
      <p:sp>
        <p:nvSpPr>
          <p:cNvPr id="14" name="TextBox 14"/>
          <p:cNvSpPr txBox="1"/>
          <p:nvPr/>
        </p:nvSpPr>
        <p:spPr>
          <a:xfrm>
            <a:off x="8414491" y="7684370"/>
            <a:ext cx="8431277" cy="1045845"/>
          </a:xfrm>
          <a:prstGeom prst="rect">
            <a:avLst/>
          </a:prstGeom>
        </p:spPr>
        <p:txBody>
          <a:bodyPr lIns="0" tIns="0" rIns="0" bIns="0" rtlCol="0" anchor="t">
            <a:spAutoFit/>
          </a:bodyPr>
          <a:lstStyle/>
          <a:p>
            <a:pPr algn="l">
              <a:lnSpc>
                <a:spcPts val="4140"/>
              </a:lnSpc>
              <a:spcBef>
                <a:spcPct val="0"/>
              </a:spcBef>
            </a:pPr>
            <a:r>
              <a:rPr lang="en-US" sz="3000">
                <a:solidFill>
                  <a:srgbClr val="000000"/>
                </a:solidFill>
                <a:latin typeface="Arial"/>
                <a:ea typeface="Arial"/>
                <a:cs typeface="Arial"/>
                <a:sym typeface="Arial"/>
              </a:rPr>
              <a:t>Los numeros decimales se representan mediante 10 simbolos que son: 0, 1, 2, 3, 4, 5, 6, 7, 8, 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90903" y="676275"/>
            <a:ext cx="7906193" cy="1446917"/>
          </a:xfrm>
          <a:prstGeom prst="rect">
            <a:avLst/>
          </a:prstGeom>
        </p:spPr>
        <p:txBody>
          <a:bodyPr lIns="0" tIns="0" rIns="0" bIns="0" rtlCol="0" anchor="t">
            <a:spAutoFit/>
          </a:bodyPr>
          <a:lstStyle/>
          <a:p>
            <a:pPr algn="ctr">
              <a:lnSpc>
                <a:spcPts val="12096"/>
              </a:lnSpc>
            </a:pPr>
            <a:r>
              <a:rPr lang="en-US" sz="7200">
                <a:solidFill>
                  <a:srgbClr val="000000"/>
                </a:solidFill>
                <a:latin typeface="Arial"/>
                <a:ea typeface="Arial"/>
                <a:cs typeface="Arial"/>
                <a:sym typeface="Arial"/>
              </a:rPr>
              <a:t>Ejemplo práctico</a:t>
            </a:r>
          </a:p>
        </p:txBody>
      </p:sp>
      <p:sp>
        <p:nvSpPr>
          <p:cNvPr id="3" name="TextBox 3"/>
          <p:cNvSpPr txBox="1"/>
          <p:nvPr/>
        </p:nvSpPr>
        <p:spPr>
          <a:xfrm>
            <a:off x="1641547" y="3272224"/>
            <a:ext cx="4709517" cy="833247"/>
          </a:xfrm>
          <a:prstGeom prst="rect">
            <a:avLst/>
          </a:prstGeom>
        </p:spPr>
        <p:txBody>
          <a:bodyPr lIns="0" tIns="0" rIns="0" bIns="0" rtlCol="0" anchor="t">
            <a:spAutoFit/>
          </a:bodyPr>
          <a:lstStyle/>
          <a:p>
            <a:pPr algn="l">
              <a:lnSpc>
                <a:spcPts val="6623"/>
              </a:lnSpc>
              <a:spcBef>
                <a:spcPct val="0"/>
              </a:spcBef>
            </a:pPr>
            <a:r>
              <a:rPr lang="en-US" sz="4800">
                <a:solidFill>
                  <a:srgbClr val="000000"/>
                </a:solidFill>
                <a:latin typeface="Arial"/>
                <a:ea typeface="Arial"/>
                <a:cs typeface="Arial"/>
                <a:sym typeface="Arial"/>
              </a:rPr>
              <a:t>Decimal a binario</a:t>
            </a:r>
          </a:p>
        </p:txBody>
      </p:sp>
      <p:sp>
        <p:nvSpPr>
          <p:cNvPr id="4" name="TextBox 4"/>
          <p:cNvSpPr txBox="1"/>
          <p:nvPr/>
        </p:nvSpPr>
        <p:spPr>
          <a:xfrm>
            <a:off x="5896248" y="7877946"/>
            <a:ext cx="6363771" cy="986409"/>
          </a:xfrm>
          <a:prstGeom prst="rect">
            <a:avLst/>
          </a:prstGeom>
        </p:spPr>
        <p:txBody>
          <a:bodyPr lIns="0" tIns="0" rIns="0" bIns="0" rtlCol="0" anchor="t">
            <a:spAutoFit/>
          </a:bodyPr>
          <a:lstStyle/>
          <a:p>
            <a:pPr algn="l">
              <a:lnSpc>
                <a:spcPts val="7728"/>
              </a:lnSpc>
              <a:spcBef>
                <a:spcPct val="0"/>
              </a:spcBef>
            </a:pPr>
            <a:r>
              <a:rPr lang="en-US" sz="5600">
                <a:solidFill>
                  <a:srgbClr val="000000"/>
                </a:solidFill>
                <a:latin typeface="Arial"/>
                <a:ea typeface="Arial"/>
                <a:cs typeface="Arial"/>
                <a:sym typeface="Arial"/>
              </a:rPr>
              <a:t>Numero decimal: 25</a:t>
            </a:r>
          </a:p>
        </p:txBody>
      </p:sp>
      <p:grpSp>
        <p:nvGrpSpPr>
          <p:cNvPr id="5" name="Group 5"/>
          <p:cNvGrpSpPr/>
          <p:nvPr/>
        </p:nvGrpSpPr>
        <p:grpSpPr>
          <a:xfrm>
            <a:off x="14216975" y="6469308"/>
            <a:ext cx="3042325" cy="1313222"/>
            <a:chOff x="0" y="0"/>
            <a:chExt cx="801271" cy="345869"/>
          </a:xfrm>
        </p:grpSpPr>
        <p:sp>
          <p:nvSpPr>
            <p:cNvPr id="6" name="Freeform 6"/>
            <p:cNvSpPr/>
            <p:nvPr/>
          </p:nvSpPr>
          <p:spPr>
            <a:xfrm>
              <a:off x="0" y="0"/>
              <a:ext cx="801271" cy="345869"/>
            </a:xfrm>
            <a:custGeom>
              <a:avLst/>
              <a:gdLst/>
              <a:ahLst/>
              <a:cxnLst/>
              <a:rect l="l" t="t" r="r" b="b"/>
              <a:pathLst>
                <a:path w="801271" h="345869">
                  <a:moveTo>
                    <a:pt x="43261" y="0"/>
                  </a:moveTo>
                  <a:lnTo>
                    <a:pt x="758010" y="0"/>
                  </a:lnTo>
                  <a:cubicBezTo>
                    <a:pt x="781902" y="0"/>
                    <a:pt x="801271" y="19368"/>
                    <a:pt x="801271" y="43261"/>
                  </a:cubicBezTo>
                  <a:lnTo>
                    <a:pt x="801271" y="302609"/>
                  </a:lnTo>
                  <a:cubicBezTo>
                    <a:pt x="801271" y="314082"/>
                    <a:pt x="796713" y="325086"/>
                    <a:pt x="788600" y="333199"/>
                  </a:cubicBezTo>
                  <a:cubicBezTo>
                    <a:pt x="780487" y="341311"/>
                    <a:pt x="769484" y="345869"/>
                    <a:pt x="758010" y="345869"/>
                  </a:cubicBezTo>
                  <a:lnTo>
                    <a:pt x="43261" y="345869"/>
                  </a:lnTo>
                  <a:cubicBezTo>
                    <a:pt x="31787" y="345869"/>
                    <a:pt x="20784" y="341311"/>
                    <a:pt x="12671" y="333199"/>
                  </a:cubicBezTo>
                  <a:cubicBezTo>
                    <a:pt x="4558" y="325086"/>
                    <a:pt x="0" y="314082"/>
                    <a:pt x="0" y="302609"/>
                  </a:cubicBezTo>
                  <a:lnTo>
                    <a:pt x="0" y="43261"/>
                  </a:lnTo>
                  <a:cubicBezTo>
                    <a:pt x="0" y="19368"/>
                    <a:pt x="19368" y="0"/>
                    <a:pt x="43261" y="0"/>
                  </a:cubicBezTo>
                  <a:close/>
                </a:path>
              </a:pathLst>
            </a:custGeom>
            <a:solidFill>
              <a:srgbClr val="E5CBCB">
                <a:alpha val="55686"/>
              </a:srgbClr>
            </a:solidFill>
          </p:spPr>
          <p:txBody>
            <a:bodyPr/>
            <a:lstStyle/>
            <a:p>
              <a:endParaRPr lang="es-GT"/>
            </a:p>
          </p:txBody>
        </p:sp>
        <p:sp>
          <p:nvSpPr>
            <p:cNvPr id="7" name="TextBox 7"/>
            <p:cNvSpPr txBox="1"/>
            <p:nvPr/>
          </p:nvSpPr>
          <p:spPr>
            <a:xfrm>
              <a:off x="0" y="-47625"/>
              <a:ext cx="801271" cy="393494"/>
            </a:xfrm>
            <a:prstGeom prst="rect">
              <a:avLst/>
            </a:prstGeom>
          </p:spPr>
          <p:txBody>
            <a:bodyPr lIns="50800" tIns="50800" rIns="50800" bIns="50800" rtlCol="0" anchor="ctr"/>
            <a:lstStyle/>
            <a:p>
              <a:pPr algn="ctr">
                <a:lnSpc>
                  <a:spcPts val="1932"/>
                </a:lnSpc>
              </a:pPr>
              <a:endParaRPr/>
            </a:p>
          </p:txBody>
        </p:sp>
      </p:grpSp>
      <p:sp>
        <p:nvSpPr>
          <p:cNvPr id="8" name="TextBox 8"/>
          <p:cNvSpPr txBox="1"/>
          <p:nvPr/>
        </p:nvSpPr>
        <p:spPr>
          <a:xfrm>
            <a:off x="14746071" y="6767017"/>
            <a:ext cx="1677710"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Base 10</a:t>
            </a:r>
          </a:p>
        </p:txBody>
      </p:sp>
      <p:sp>
        <p:nvSpPr>
          <p:cNvPr id="9" name="Freeform 9"/>
          <p:cNvSpPr/>
          <p:nvPr/>
        </p:nvSpPr>
        <p:spPr>
          <a:xfrm>
            <a:off x="12761640" y="7782530"/>
            <a:ext cx="2976497" cy="636246"/>
          </a:xfrm>
          <a:custGeom>
            <a:avLst/>
            <a:gdLst/>
            <a:ahLst/>
            <a:cxnLst/>
            <a:rect l="l" t="t" r="r" b="b"/>
            <a:pathLst>
              <a:path w="2976497" h="636246">
                <a:moveTo>
                  <a:pt x="0" y="636245"/>
                </a:moveTo>
                <a:lnTo>
                  <a:pt x="2747897" y="636245"/>
                </a:lnTo>
                <a:cubicBezTo>
                  <a:pt x="2874150" y="636245"/>
                  <a:pt x="2976497" y="533897"/>
                  <a:pt x="2976497" y="407645"/>
                </a:cubicBezTo>
                <a:lnTo>
                  <a:pt x="2976497" y="0"/>
                </a:lnTo>
              </a:path>
            </a:pathLst>
          </a:custGeom>
          <a:ln w="38100" cap="flat">
            <a:solidFill>
              <a:srgbClr val="000000"/>
            </a:solidFill>
            <a:prstDash val="solid"/>
            <a:headEnd type="triangle" w="lg" len="med"/>
            <a:tailEnd type="none" w="sm" len="sm"/>
          </a:ln>
        </p:spPr>
        <p:txBody>
          <a:bodyPr/>
          <a:lstStyle/>
          <a:p>
            <a:endParaRPr lang="es-GT"/>
          </a:p>
        </p:txBody>
      </p:sp>
      <p:grpSp>
        <p:nvGrpSpPr>
          <p:cNvPr id="10" name="Group 10"/>
          <p:cNvGrpSpPr/>
          <p:nvPr/>
        </p:nvGrpSpPr>
        <p:grpSpPr>
          <a:xfrm>
            <a:off x="8038698" y="3160419"/>
            <a:ext cx="3086100" cy="1161632"/>
            <a:chOff x="0" y="0"/>
            <a:chExt cx="812800" cy="305944"/>
          </a:xfrm>
        </p:grpSpPr>
        <p:sp>
          <p:nvSpPr>
            <p:cNvPr id="11" name="Freeform 11"/>
            <p:cNvSpPr/>
            <p:nvPr/>
          </p:nvSpPr>
          <p:spPr>
            <a:xfrm>
              <a:off x="0" y="0"/>
              <a:ext cx="812800" cy="305944"/>
            </a:xfrm>
            <a:custGeom>
              <a:avLst/>
              <a:gdLst/>
              <a:ahLst/>
              <a:cxnLst/>
              <a:rect l="l" t="t" r="r" b="b"/>
              <a:pathLst>
                <a:path w="812800" h="305944">
                  <a:moveTo>
                    <a:pt x="42647" y="0"/>
                  </a:moveTo>
                  <a:lnTo>
                    <a:pt x="770153" y="0"/>
                  </a:lnTo>
                  <a:cubicBezTo>
                    <a:pt x="781464" y="0"/>
                    <a:pt x="792311" y="4493"/>
                    <a:pt x="800309" y="12491"/>
                  </a:cubicBezTo>
                  <a:cubicBezTo>
                    <a:pt x="808307" y="20489"/>
                    <a:pt x="812800" y="31336"/>
                    <a:pt x="812800" y="42647"/>
                  </a:cubicBezTo>
                  <a:lnTo>
                    <a:pt x="812800" y="263297"/>
                  </a:lnTo>
                  <a:cubicBezTo>
                    <a:pt x="812800" y="274608"/>
                    <a:pt x="808307" y="285455"/>
                    <a:pt x="800309" y="293453"/>
                  </a:cubicBezTo>
                  <a:cubicBezTo>
                    <a:pt x="792311" y="301451"/>
                    <a:pt x="781464" y="305944"/>
                    <a:pt x="770153" y="305944"/>
                  </a:cubicBezTo>
                  <a:lnTo>
                    <a:pt x="42647" y="305944"/>
                  </a:lnTo>
                  <a:cubicBezTo>
                    <a:pt x="31336" y="305944"/>
                    <a:pt x="20489" y="301451"/>
                    <a:pt x="12491" y="293453"/>
                  </a:cubicBezTo>
                  <a:cubicBezTo>
                    <a:pt x="4493" y="285455"/>
                    <a:pt x="0" y="274608"/>
                    <a:pt x="0" y="263297"/>
                  </a:cubicBezTo>
                  <a:lnTo>
                    <a:pt x="0" y="42647"/>
                  </a:lnTo>
                  <a:cubicBezTo>
                    <a:pt x="0" y="31336"/>
                    <a:pt x="4493" y="20489"/>
                    <a:pt x="12491" y="12491"/>
                  </a:cubicBezTo>
                  <a:cubicBezTo>
                    <a:pt x="20489" y="4493"/>
                    <a:pt x="31336" y="0"/>
                    <a:pt x="42647" y="0"/>
                  </a:cubicBezTo>
                  <a:close/>
                </a:path>
              </a:pathLst>
            </a:custGeom>
            <a:solidFill>
              <a:srgbClr val="6395BE">
                <a:alpha val="71765"/>
              </a:srgbClr>
            </a:solidFill>
          </p:spPr>
          <p:txBody>
            <a:bodyPr/>
            <a:lstStyle/>
            <a:p>
              <a:endParaRPr lang="es-GT"/>
            </a:p>
          </p:txBody>
        </p:sp>
        <p:sp>
          <p:nvSpPr>
            <p:cNvPr id="12" name="TextBox 12"/>
            <p:cNvSpPr txBox="1"/>
            <p:nvPr/>
          </p:nvSpPr>
          <p:spPr>
            <a:xfrm>
              <a:off x="0" y="-47625"/>
              <a:ext cx="812800" cy="353569"/>
            </a:xfrm>
            <a:prstGeom prst="rect">
              <a:avLst/>
            </a:prstGeom>
          </p:spPr>
          <p:txBody>
            <a:bodyPr lIns="50800" tIns="50800" rIns="50800" bIns="50800" rtlCol="0" anchor="ctr"/>
            <a:lstStyle/>
            <a:p>
              <a:pPr algn="ctr">
                <a:lnSpc>
                  <a:spcPts val="1932"/>
                </a:lnSpc>
              </a:pPr>
              <a:endParaRPr/>
            </a:p>
          </p:txBody>
        </p:sp>
      </p:grpSp>
      <p:sp>
        <p:nvSpPr>
          <p:cNvPr id="13" name="TextBox 13"/>
          <p:cNvSpPr txBox="1"/>
          <p:nvPr/>
        </p:nvSpPr>
        <p:spPr>
          <a:xfrm>
            <a:off x="8870052" y="3382333"/>
            <a:ext cx="1423392"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Base 2</a:t>
            </a:r>
          </a:p>
        </p:txBody>
      </p:sp>
      <p:sp>
        <p:nvSpPr>
          <p:cNvPr id="14" name="AutoShape 14"/>
          <p:cNvSpPr/>
          <p:nvPr/>
        </p:nvSpPr>
        <p:spPr>
          <a:xfrm>
            <a:off x="6701262" y="3741235"/>
            <a:ext cx="1337436" cy="0"/>
          </a:xfrm>
          <a:prstGeom prst="line">
            <a:avLst/>
          </a:prstGeom>
          <a:ln w="38100" cap="flat">
            <a:solidFill>
              <a:srgbClr val="000000"/>
            </a:solidFill>
            <a:prstDash val="solid"/>
            <a:headEnd type="triangle" w="lg" len="med"/>
            <a:tailEnd type="none" w="sm" len="sm"/>
          </a:ln>
        </p:spPr>
        <p:txBody>
          <a:bodyPr/>
          <a:lstStyle/>
          <a:p>
            <a:endParaRPr lang="es-GT"/>
          </a:p>
        </p:txBody>
      </p:sp>
      <p:grpSp>
        <p:nvGrpSpPr>
          <p:cNvPr id="15" name="Group 15"/>
          <p:cNvGrpSpPr/>
          <p:nvPr/>
        </p:nvGrpSpPr>
        <p:grpSpPr>
          <a:xfrm>
            <a:off x="1641547" y="5143500"/>
            <a:ext cx="8743899" cy="1709242"/>
            <a:chOff x="0" y="0"/>
            <a:chExt cx="2302920" cy="450171"/>
          </a:xfrm>
        </p:grpSpPr>
        <p:sp>
          <p:nvSpPr>
            <p:cNvPr id="16" name="Freeform 16"/>
            <p:cNvSpPr/>
            <p:nvPr/>
          </p:nvSpPr>
          <p:spPr>
            <a:xfrm>
              <a:off x="0" y="0"/>
              <a:ext cx="2302920" cy="450171"/>
            </a:xfrm>
            <a:custGeom>
              <a:avLst/>
              <a:gdLst/>
              <a:ahLst/>
              <a:cxnLst/>
              <a:rect l="l" t="t" r="r" b="b"/>
              <a:pathLst>
                <a:path w="2302920" h="450171">
                  <a:moveTo>
                    <a:pt x="15052" y="0"/>
                  </a:moveTo>
                  <a:lnTo>
                    <a:pt x="2287868" y="0"/>
                  </a:lnTo>
                  <a:cubicBezTo>
                    <a:pt x="2291860" y="0"/>
                    <a:pt x="2295689" y="1586"/>
                    <a:pt x="2298511" y="4409"/>
                  </a:cubicBezTo>
                  <a:cubicBezTo>
                    <a:pt x="2301334" y="7231"/>
                    <a:pt x="2302920" y="11060"/>
                    <a:pt x="2302920" y="15052"/>
                  </a:cubicBezTo>
                  <a:lnTo>
                    <a:pt x="2302920" y="435119"/>
                  </a:lnTo>
                  <a:cubicBezTo>
                    <a:pt x="2302920" y="443432"/>
                    <a:pt x="2296181" y="450171"/>
                    <a:pt x="2287868" y="450171"/>
                  </a:cubicBezTo>
                  <a:lnTo>
                    <a:pt x="15052" y="450171"/>
                  </a:lnTo>
                  <a:cubicBezTo>
                    <a:pt x="11060" y="450171"/>
                    <a:pt x="7231" y="448585"/>
                    <a:pt x="4409" y="445762"/>
                  </a:cubicBezTo>
                  <a:cubicBezTo>
                    <a:pt x="1586" y="442939"/>
                    <a:pt x="0" y="439111"/>
                    <a:pt x="0" y="435119"/>
                  </a:cubicBezTo>
                  <a:lnTo>
                    <a:pt x="0" y="15052"/>
                  </a:lnTo>
                  <a:cubicBezTo>
                    <a:pt x="0" y="11060"/>
                    <a:pt x="1586" y="7231"/>
                    <a:pt x="4409" y="4409"/>
                  </a:cubicBezTo>
                  <a:cubicBezTo>
                    <a:pt x="7231" y="1586"/>
                    <a:pt x="11060" y="0"/>
                    <a:pt x="15052" y="0"/>
                  </a:cubicBezTo>
                  <a:close/>
                </a:path>
              </a:pathLst>
            </a:custGeom>
            <a:solidFill>
              <a:srgbClr val="FF3333">
                <a:alpha val="37647"/>
              </a:srgbClr>
            </a:solidFill>
          </p:spPr>
          <p:txBody>
            <a:bodyPr/>
            <a:lstStyle/>
            <a:p>
              <a:endParaRPr lang="es-GT"/>
            </a:p>
          </p:txBody>
        </p:sp>
        <p:sp>
          <p:nvSpPr>
            <p:cNvPr id="17" name="TextBox 17"/>
            <p:cNvSpPr txBox="1"/>
            <p:nvPr/>
          </p:nvSpPr>
          <p:spPr>
            <a:xfrm>
              <a:off x="0" y="-47625"/>
              <a:ext cx="2302920" cy="497796"/>
            </a:xfrm>
            <a:prstGeom prst="rect">
              <a:avLst/>
            </a:prstGeom>
          </p:spPr>
          <p:txBody>
            <a:bodyPr lIns="50800" tIns="50800" rIns="50800" bIns="50800" rtlCol="0" anchor="ctr"/>
            <a:lstStyle/>
            <a:p>
              <a:pPr algn="ctr">
                <a:lnSpc>
                  <a:spcPts val="1932"/>
                </a:lnSpc>
              </a:pPr>
              <a:endParaRPr/>
            </a:p>
          </p:txBody>
        </p:sp>
      </p:grpSp>
      <p:sp>
        <p:nvSpPr>
          <p:cNvPr id="18" name="TextBox 18"/>
          <p:cNvSpPr txBox="1"/>
          <p:nvPr/>
        </p:nvSpPr>
        <p:spPr>
          <a:xfrm>
            <a:off x="2116587" y="5441861"/>
            <a:ext cx="7793817" cy="1045845"/>
          </a:xfrm>
          <a:prstGeom prst="rect">
            <a:avLst/>
          </a:prstGeom>
        </p:spPr>
        <p:txBody>
          <a:bodyPr lIns="0" tIns="0" rIns="0" bIns="0" rtlCol="0" anchor="t">
            <a:spAutoFit/>
          </a:bodyPr>
          <a:lstStyle/>
          <a:p>
            <a:pPr algn="l">
              <a:lnSpc>
                <a:spcPts val="4140"/>
              </a:lnSpc>
              <a:spcBef>
                <a:spcPct val="0"/>
              </a:spcBef>
            </a:pPr>
            <a:r>
              <a:rPr lang="en-US" sz="3000">
                <a:solidFill>
                  <a:srgbClr val="000000"/>
                </a:solidFill>
                <a:latin typeface="Arial"/>
                <a:ea typeface="Arial"/>
                <a:cs typeface="Arial"/>
                <a:sym typeface="Arial"/>
              </a:rPr>
              <a:t>Los numeros binarios se representan solamente mediante 2 simbolos que son 0 y 1</a:t>
            </a:r>
          </a:p>
        </p:txBody>
      </p:sp>
      <p:sp>
        <p:nvSpPr>
          <p:cNvPr id="19" name="Freeform 19"/>
          <p:cNvSpPr/>
          <p:nvPr/>
        </p:nvSpPr>
        <p:spPr>
          <a:xfrm>
            <a:off x="10332707" y="3741235"/>
            <a:ext cx="2428934" cy="2511124"/>
          </a:xfrm>
          <a:custGeom>
            <a:avLst/>
            <a:gdLst/>
            <a:ahLst/>
            <a:cxnLst/>
            <a:rect l="l" t="t" r="r" b="b"/>
            <a:pathLst>
              <a:path w="2428934" h="2511124">
                <a:moveTo>
                  <a:pt x="818144" y="0"/>
                </a:moveTo>
                <a:lnTo>
                  <a:pt x="2200333" y="0"/>
                </a:lnTo>
                <a:cubicBezTo>
                  <a:pt x="2326585" y="0"/>
                  <a:pt x="2428933" y="102347"/>
                  <a:pt x="2428933" y="228600"/>
                </a:cubicBezTo>
                <a:lnTo>
                  <a:pt x="2428933" y="2282524"/>
                </a:lnTo>
                <a:cubicBezTo>
                  <a:pt x="2428933" y="2408776"/>
                  <a:pt x="2326585" y="2511124"/>
                  <a:pt x="2200333" y="2511124"/>
                </a:cubicBezTo>
                <a:lnTo>
                  <a:pt x="0" y="2511124"/>
                </a:lnTo>
              </a:path>
            </a:pathLst>
          </a:custGeom>
          <a:ln w="38100" cap="flat">
            <a:solidFill>
              <a:srgbClr val="000000"/>
            </a:solidFill>
            <a:prstDash val="solid"/>
            <a:headEnd type="none" w="sm" len="sm"/>
            <a:tailEnd type="triangle" w="lg" len="med"/>
          </a:ln>
        </p:spPr>
        <p:txBody>
          <a:bodyPr/>
          <a:lstStyle/>
          <a:p>
            <a:endParaRPr lang="es-G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90903" y="676275"/>
            <a:ext cx="7906193" cy="1446917"/>
          </a:xfrm>
          <a:prstGeom prst="rect">
            <a:avLst/>
          </a:prstGeom>
        </p:spPr>
        <p:txBody>
          <a:bodyPr lIns="0" tIns="0" rIns="0" bIns="0" rtlCol="0" anchor="t">
            <a:spAutoFit/>
          </a:bodyPr>
          <a:lstStyle/>
          <a:p>
            <a:pPr algn="ctr">
              <a:lnSpc>
                <a:spcPts val="12096"/>
              </a:lnSpc>
            </a:pPr>
            <a:r>
              <a:rPr lang="en-US" sz="7200">
                <a:solidFill>
                  <a:srgbClr val="000000"/>
                </a:solidFill>
                <a:latin typeface="Arial"/>
                <a:ea typeface="Arial"/>
                <a:cs typeface="Arial"/>
                <a:sym typeface="Arial"/>
              </a:rPr>
              <a:t>Ejemplo práctico</a:t>
            </a:r>
          </a:p>
        </p:txBody>
      </p:sp>
      <p:sp>
        <p:nvSpPr>
          <p:cNvPr id="3" name="TextBox 3"/>
          <p:cNvSpPr txBox="1"/>
          <p:nvPr/>
        </p:nvSpPr>
        <p:spPr>
          <a:xfrm>
            <a:off x="1641547" y="3272224"/>
            <a:ext cx="4709517" cy="833247"/>
          </a:xfrm>
          <a:prstGeom prst="rect">
            <a:avLst/>
          </a:prstGeom>
        </p:spPr>
        <p:txBody>
          <a:bodyPr lIns="0" tIns="0" rIns="0" bIns="0" rtlCol="0" anchor="t">
            <a:spAutoFit/>
          </a:bodyPr>
          <a:lstStyle/>
          <a:p>
            <a:pPr algn="l">
              <a:lnSpc>
                <a:spcPts val="6623"/>
              </a:lnSpc>
              <a:spcBef>
                <a:spcPct val="0"/>
              </a:spcBef>
            </a:pPr>
            <a:r>
              <a:rPr lang="en-US" sz="4800">
                <a:solidFill>
                  <a:srgbClr val="000000"/>
                </a:solidFill>
                <a:latin typeface="Arial"/>
                <a:ea typeface="Arial"/>
                <a:cs typeface="Arial"/>
                <a:sym typeface="Arial"/>
              </a:rPr>
              <a:t>Decimal a binario</a:t>
            </a:r>
          </a:p>
        </p:txBody>
      </p:sp>
      <p:sp>
        <p:nvSpPr>
          <p:cNvPr id="4" name="TextBox 4"/>
          <p:cNvSpPr txBox="1"/>
          <p:nvPr/>
        </p:nvSpPr>
        <p:spPr>
          <a:xfrm>
            <a:off x="5504694" y="5514109"/>
            <a:ext cx="6363771" cy="986409"/>
          </a:xfrm>
          <a:prstGeom prst="rect">
            <a:avLst/>
          </a:prstGeom>
        </p:spPr>
        <p:txBody>
          <a:bodyPr lIns="0" tIns="0" rIns="0" bIns="0" rtlCol="0" anchor="t">
            <a:spAutoFit/>
          </a:bodyPr>
          <a:lstStyle/>
          <a:p>
            <a:pPr algn="l">
              <a:lnSpc>
                <a:spcPts val="7728"/>
              </a:lnSpc>
              <a:spcBef>
                <a:spcPct val="0"/>
              </a:spcBef>
            </a:pPr>
            <a:r>
              <a:rPr lang="en-US" sz="5600">
                <a:solidFill>
                  <a:srgbClr val="000000"/>
                </a:solidFill>
                <a:latin typeface="Arial"/>
                <a:ea typeface="Arial"/>
                <a:cs typeface="Arial"/>
                <a:sym typeface="Arial"/>
              </a:rPr>
              <a:t>Numero decimal: 25</a:t>
            </a:r>
          </a:p>
        </p:txBody>
      </p:sp>
      <p:grpSp>
        <p:nvGrpSpPr>
          <p:cNvPr id="5" name="Group 5"/>
          <p:cNvGrpSpPr/>
          <p:nvPr/>
        </p:nvGrpSpPr>
        <p:grpSpPr>
          <a:xfrm>
            <a:off x="13825421" y="4105471"/>
            <a:ext cx="3042325" cy="1313222"/>
            <a:chOff x="0" y="0"/>
            <a:chExt cx="801271" cy="345869"/>
          </a:xfrm>
        </p:grpSpPr>
        <p:sp>
          <p:nvSpPr>
            <p:cNvPr id="6" name="Freeform 6"/>
            <p:cNvSpPr/>
            <p:nvPr/>
          </p:nvSpPr>
          <p:spPr>
            <a:xfrm>
              <a:off x="0" y="0"/>
              <a:ext cx="801271" cy="345869"/>
            </a:xfrm>
            <a:custGeom>
              <a:avLst/>
              <a:gdLst/>
              <a:ahLst/>
              <a:cxnLst/>
              <a:rect l="l" t="t" r="r" b="b"/>
              <a:pathLst>
                <a:path w="801271" h="345869">
                  <a:moveTo>
                    <a:pt x="43261" y="0"/>
                  </a:moveTo>
                  <a:lnTo>
                    <a:pt x="758010" y="0"/>
                  </a:lnTo>
                  <a:cubicBezTo>
                    <a:pt x="781902" y="0"/>
                    <a:pt x="801271" y="19368"/>
                    <a:pt x="801271" y="43261"/>
                  </a:cubicBezTo>
                  <a:lnTo>
                    <a:pt x="801271" y="302609"/>
                  </a:lnTo>
                  <a:cubicBezTo>
                    <a:pt x="801271" y="314082"/>
                    <a:pt x="796713" y="325086"/>
                    <a:pt x="788600" y="333199"/>
                  </a:cubicBezTo>
                  <a:cubicBezTo>
                    <a:pt x="780487" y="341311"/>
                    <a:pt x="769484" y="345869"/>
                    <a:pt x="758010" y="345869"/>
                  </a:cubicBezTo>
                  <a:lnTo>
                    <a:pt x="43261" y="345869"/>
                  </a:lnTo>
                  <a:cubicBezTo>
                    <a:pt x="31787" y="345869"/>
                    <a:pt x="20784" y="341311"/>
                    <a:pt x="12671" y="333199"/>
                  </a:cubicBezTo>
                  <a:cubicBezTo>
                    <a:pt x="4558" y="325086"/>
                    <a:pt x="0" y="314082"/>
                    <a:pt x="0" y="302609"/>
                  </a:cubicBezTo>
                  <a:lnTo>
                    <a:pt x="0" y="43261"/>
                  </a:lnTo>
                  <a:cubicBezTo>
                    <a:pt x="0" y="19368"/>
                    <a:pt x="19368" y="0"/>
                    <a:pt x="43261" y="0"/>
                  </a:cubicBezTo>
                  <a:close/>
                </a:path>
              </a:pathLst>
            </a:custGeom>
            <a:solidFill>
              <a:srgbClr val="E5CBCB">
                <a:alpha val="55686"/>
              </a:srgbClr>
            </a:solidFill>
          </p:spPr>
          <p:txBody>
            <a:bodyPr/>
            <a:lstStyle/>
            <a:p>
              <a:endParaRPr lang="es-GT"/>
            </a:p>
          </p:txBody>
        </p:sp>
        <p:sp>
          <p:nvSpPr>
            <p:cNvPr id="7" name="TextBox 7"/>
            <p:cNvSpPr txBox="1"/>
            <p:nvPr/>
          </p:nvSpPr>
          <p:spPr>
            <a:xfrm>
              <a:off x="0" y="-47625"/>
              <a:ext cx="801271" cy="393494"/>
            </a:xfrm>
            <a:prstGeom prst="rect">
              <a:avLst/>
            </a:prstGeom>
          </p:spPr>
          <p:txBody>
            <a:bodyPr lIns="50800" tIns="50800" rIns="50800" bIns="50800" rtlCol="0" anchor="ctr"/>
            <a:lstStyle/>
            <a:p>
              <a:pPr algn="ctr">
                <a:lnSpc>
                  <a:spcPts val="1932"/>
                </a:lnSpc>
              </a:pPr>
              <a:endParaRPr/>
            </a:p>
          </p:txBody>
        </p:sp>
      </p:grpSp>
      <p:sp>
        <p:nvSpPr>
          <p:cNvPr id="8" name="TextBox 8"/>
          <p:cNvSpPr txBox="1"/>
          <p:nvPr/>
        </p:nvSpPr>
        <p:spPr>
          <a:xfrm>
            <a:off x="14354517" y="4403180"/>
            <a:ext cx="1677710"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Base 10</a:t>
            </a:r>
          </a:p>
        </p:txBody>
      </p:sp>
      <p:sp>
        <p:nvSpPr>
          <p:cNvPr id="9" name="Freeform 9"/>
          <p:cNvSpPr/>
          <p:nvPr/>
        </p:nvSpPr>
        <p:spPr>
          <a:xfrm>
            <a:off x="12370087" y="5418693"/>
            <a:ext cx="2976497" cy="636245"/>
          </a:xfrm>
          <a:custGeom>
            <a:avLst/>
            <a:gdLst/>
            <a:ahLst/>
            <a:cxnLst/>
            <a:rect l="l" t="t" r="r" b="b"/>
            <a:pathLst>
              <a:path w="2976497" h="636245">
                <a:moveTo>
                  <a:pt x="0" y="636245"/>
                </a:moveTo>
                <a:lnTo>
                  <a:pt x="2747897" y="636245"/>
                </a:lnTo>
                <a:cubicBezTo>
                  <a:pt x="2874150" y="636245"/>
                  <a:pt x="2976497" y="533898"/>
                  <a:pt x="2976497" y="407645"/>
                </a:cubicBezTo>
                <a:lnTo>
                  <a:pt x="2976497" y="0"/>
                </a:lnTo>
              </a:path>
            </a:pathLst>
          </a:custGeom>
          <a:ln w="38100" cap="flat">
            <a:solidFill>
              <a:srgbClr val="000000"/>
            </a:solidFill>
            <a:prstDash val="solid"/>
            <a:headEnd type="triangle" w="lg" len="med"/>
            <a:tailEnd type="none" w="sm" len="sm"/>
          </a:ln>
        </p:spPr>
        <p:txBody>
          <a:bodyPr/>
          <a:lstStyle/>
          <a:p>
            <a:endParaRPr lang="es-GT"/>
          </a:p>
        </p:txBody>
      </p:sp>
      <p:grpSp>
        <p:nvGrpSpPr>
          <p:cNvPr id="10" name="Group 10"/>
          <p:cNvGrpSpPr/>
          <p:nvPr/>
        </p:nvGrpSpPr>
        <p:grpSpPr>
          <a:xfrm>
            <a:off x="8038698" y="3160419"/>
            <a:ext cx="3086100" cy="1161632"/>
            <a:chOff x="0" y="0"/>
            <a:chExt cx="812800" cy="305944"/>
          </a:xfrm>
        </p:grpSpPr>
        <p:sp>
          <p:nvSpPr>
            <p:cNvPr id="11" name="Freeform 11"/>
            <p:cNvSpPr/>
            <p:nvPr/>
          </p:nvSpPr>
          <p:spPr>
            <a:xfrm>
              <a:off x="0" y="0"/>
              <a:ext cx="812800" cy="305944"/>
            </a:xfrm>
            <a:custGeom>
              <a:avLst/>
              <a:gdLst/>
              <a:ahLst/>
              <a:cxnLst/>
              <a:rect l="l" t="t" r="r" b="b"/>
              <a:pathLst>
                <a:path w="812800" h="305944">
                  <a:moveTo>
                    <a:pt x="42647" y="0"/>
                  </a:moveTo>
                  <a:lnTo>
                    <a:pt x="770153" y="0"/>
                  </a:lnTo>
                  <a:cubicBezTo>
                    <a:pt x="781464" y="0"/>
                    <a:pt x="792311" y="4493"/>
                    <a:pt x="800309" y="12491"/>
                  </a:cubicBezTo>
                  <a:cubicBezTo>
                    <a:pt x="808307" y="20489"/>
                    <a:pt x="812800" y="31336"/>
                    <a:pt x="812800" y="42647"/>
                  </a:cubicBezTo>
                  <a:lnTo>
                    <a:pt x="812800" y="263297"/>
                  </a:lnTo>
                  <a:cubicBezTo>
                    <a:pt x="812800" y="274608"/>
                    <a:pt x="808307" y="285455"/>
                    <a:pt x="800309" y="293453"/>
                  </a:cubicBezTo>
                  <a:cubicBezTo>
                    <a:pt x="792311" y="301451"/>
                    <a:pt x="781464" y="305944"/>
                    <a:pt x="770153" y="305944"/>
                  </a:cubicBezTo>
                  <a:lnTo>
                    <a:pt x="42647" y="305944"/>
                  </a:lnTo>
                  <a:cubicBezTo>
                    <a:pt x="31336" y="305944"/>
                    <a:pt x="20489" y="301451"/>
                    <a:pt x="12491" y="293453"/>
                  </a:cubicBezTo>
                  <a:cubicBezTo>
                    <a:pt x="4493" y="285455"/>
                    <a:pt x="0" y="274608"/>
                    <a:pt x="0" y="263297"/>
                  </a:cubicBezTo>
                  <a:lnTo>
                    <a:pt x="0" y="42647"/>
                  </a:lnTo>
                  <a:cubicBezTo>
                    <a:pt x="0" y="31336"/>
                    <a:pt x="4493" y="20489"/>
                    <a:pt x="12491" y="12491"/>
                  </a:cubicBezTo>
                  <a:cubicBezTo>
                    <a:pt x="20489" y="4493"/>
                    <a:pt x="31336" y="0"/>
                    <a:pt x="42647" y="0"/>
                  </a:cubicBezTo>
                  <a:close/>
                </a:path>
              </a:pathLst>
            </a:custGeom>
            <a:solidFill>
              <a:srgbClr val="6395BE">
                <a:alpha val="71765"/>
              </a:srgbClr>
            </a:solidFill>
          </p:spPr>
          <p:txBody>
            <a:bodyPr/>
            <a:lstStyle/>
            <a:p>
              <a:endParaRPr lang="es-GT"/>
            </a:p>
          </p:txBody>
        </p:sp>
        <p:sp>
          <p:nvSpPr>
            <p:cNvPr id="12" name="TextBox 12"/>
            <p:cNvSpPr txBox="1"/>
            <p:nvPr/>
          </p:nvSpPr>
          <p:spPr>
            <a:xfrm>
              <a:off x="0" y="-47625"/>
              <a:ext cx="812800" cy="353569"/>
            </a:xfrm>
            <a:prstGeom prst="rect">
              <a:avLst/>
            </a:prstGeom>
          </p:spPr>
          <p:txBody>
            <a:bodyPr lIns="50800" tIns="50800" rIns="50800" bIns="50800" rtlCol="0" anchor="ctr"/>
            <a:lstStyle/>
            <a:p>
              <a:pPr algn="ctr">
                <a:lnSpc>
                  <a:spcPts val="1932"/>
                </a:lnSpc>
              </a:pPr>
              <a:endParaRPr/>
            </a:p>
          </p:txBody>
        </p:sp>
      </p:grpSp>
      <p:sp>
        <p:nvSpPr>
          <p:cNvPr id="13" name="TextBox 13"/>
          <p:cNvSpPr txBox="1"/>
          <p:nvPr/>
        </p:nvSpPr>
        <p:spPr>
          <a:xfrm>
            <a:off x="8870052" y="3382333"/>
            <a:ext cx="1423392"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Base 2</a:t>
            </a:r>
          </a:p>
        </p:txBody>
      </p:sp>
      <p:sp>
        <p:nvSpPr>
          <p:cNvPr id="14" name="AutoShape 14"/>
          <p:cNvSpPr/>
          <p:nvPr/>
        </p:nvSpPr>
        <p:spPr>
          <a:xfrm>
            <a:off x="6701262" y="3741235"/>
            <a:ext cx="1337436" cy="0"/>
          </a:xfrm>
          <a:prstGeom prst="line">
            <a:avLst/>
          </a:prstGeom>
          <a:ln w="38100" cap="flat">
            <a:solidFill>
              <a:srgbClr val="000000"/>
            </a:solidFill>
            <a:prstDash val="solid"/>
            <a:headEnd type="triangle" w="lg" len="med"/>
            <a:tailEnd type="none" w="sm" len="sm"/>
          </a:ln>
        </p:spPr>
        <p:txBody>
          <a:bodyPr/>
          <a:lstStyle/>
          <a:p>
            <a:endParaRPr lang="es-GT"/>
          </a:p>
        </p:txBody>
      </p:sp>
      <p:grpSp>
        <p:nvGrpSpPr>
          <p:cNvPr id="15" name="Group 15"/>
          <p:cNvGrpSpPr/>
          <p:nvPr/>
        </p:nvGrpSpPr>
        <p:grpSpPr>
          <a:xfrm>
            <a:off x="2720064" y="7627083"/>
            <a:ext cx="12847871" cy="1631217"/>
            <a:chOff x="0" y="0"/>
            <a:chExt cx="3383802" cy="429621"/>
          </a:xfrm>
        </p:grpSpPr>
        <p:sp>
          <p:nvSpPr>
            <p:cNvPr id="16" name="Freeform 16"/>
            <p:cNvSpPr/>
            <p:nvPr/>
          </p:nvSpPr>
          <p:spPr>
            <a:xfrm>
              <a:off x="0" y="0"/>
              <a:ext cx="3383802" cy="429621"/>
            </a:xfrm>
            <a:custGeom>
              <a:avLst/>
              <a:gdLst/>
              <a:ahLst/>
              <a:cxnLst/>
              <a:rect l="l" t="t" r="r" b="b"/>
              <a:pathLst>
                <a:path w="3383802" h="429621">
                  <a:moveTo>
                    <a:pt x="10244" y="0"/>
                  </a:moveTo>
                  <a:lnTo>
                    <a:pt x="3373558" y="0"/>
                  </a:lnTo>
                  <a:cubicBezTo>
                    <a:pt x="3376275" y="0"/>
                    <a:pt x="3378880" y="1079"/>
                    <a:pt x="3380801" y="3000"/>
                  </a:cubicBezTo>
                  <a:cubicBezTo>
                    <a:pt x="3382722" y="4921"/>
                    <a:pt x="3383802" y="7527"/>
                    <a:pt x="3383802" y="10244"/>
                  </a:cubicBezTo>
                  <a:lnTo>
                    <a:pt x="3383802" y="419377"/>
                  </a:lnTo>
                  <a:cubicBezTo>
                    <a:pt x="3383802" y="425035"/>
                    <a:pt x="3379215" y="429621"/>
                    <a:pt x="3373558" y="429621"/>
                  </a:cubicBezTo>
                  <a:lnTo>
                    <a:pt x="10244" y="429621"/>
                  </a:lnTo>
                  <a:cubicBezTo>
                    <a:pt x="7527" y="429621"/>
                    <a:pt x="4921" y="428542"/>
                    <a:pt x="3000" y="426621"/>
                  </a:cubicBezTo>
                  <a:cubicBezTo>
                    <a:pt x="1079" y="424699"/>
                    <a:pt x="0" y="422094"/>
                    <a:pt x="0" y="419377"/>
                  </a:cubicBezTo>
                  <a:lnTo>
                    <a:pt x="0" y="10244"/>
                  </a:lnTo>
                  <a:cubicBezTo>
                    <a:pt x="0" y="7527"/>
                    <a:pt x="1079" y="4921"/>
                    <a:pt x="3000" y="3000"/>
                  </a:cubicBezTo>
                  <a:cubicBezTo>
                    <a:pt x="4921" y="1079"/>
                    <a:pt x="7527" y="0"/>
                    <a:pt x="10244" y="0"/>
                  </a:cubicBezTo>
                  <a:close/>
                </a:path>
              </a:pathLst>
            </a:custGeom>
            <a:solidFill>
              <a:srgbClr val="CCC074">
                <a:alpha val="46667"/>
              </a:srgbClr>
            </a:solidFill>
          </p:spPr>
          <p:txBody>
            <a:bodyPr/>
            <a:lstStyle/>
            <a:p>
              <a:endParaRPr lang="es-GT"/>
            </a:p>
          </p:txBody>
        </p:sp>
        <p:sp>
          <p:nvSpPr>
            <p:cNvPr id="17" name="TextBox 17"/>
            <p:cNvSpPr txBox="1"/>
            <p:nvPr/>
          </p:nvSpPr>
          <p:spPr>
            <a:xfrm>
              <a:off x="0" y="-47625"/>
              <a:ext cx="3383802" cy="477246"/>
            </a:xfrm>
            <a:prstGeom prst="rect">
              <a:avLst/>
            </a:prstGeom>
          </p:spPr>
          <p:txBody>
            <a:bodyPr lIns="50800" tIns="50800" rIns="50800" bIns="50800" rtlCol="0" anchor="ctr"/>
            <a:lstStyle/>
            <a:p>
              <a:pPr algn="ctr">
                <a:lnSpc>
                  <a:spcPts val="1932"/>
                </a:lnSpc>
              </a:pPr>
              <a:endParaRPr/>
            </a:p>
          </p:txBody>
        </p:sp>
      </p:grpSp>
      <p:sp>
        <p:nvSpPr>
          <p:cNvPr id="18" name="TextBox 18"/>
          <p:cNvSpPr txBox="1"/>
          <p:nvPr/>
        </p:nvSpPr>
        <p:spPr>
          <a:xfrm>
            <a:off x="3047993" y="7821141"/>
            <a:ext cx="12189133" cy="126072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Dividir entre 2 hasta llegar a 1, si se tiene un decimal se elimina y se coloca el entero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90903" y="676275"/>
            <a:ext cx="7906193" cy="1446917"/>
          </a:xfrm>
          <a:prstGeom prst="rect">
            <a:avLst/>
          </a:prstGeom>
        </p:spPr>
        <p:txBody>
          <a:bodyPr lIns="0" tIns="0" rIns="0" bIns="0" rtlCol="0" anchor="t">
            <a:spAutoFit/>
          </a:bodyPr>
          <a:lstStyle/>
          <a:p>
            <a:pPr algn="ctr">
              <a:lnSpc>
                <a:spcPts val="12096"/>
              </a:lnSpc>
            </a:pPr>
            <a:r>
              <a:rPr lang="en-US" sz="7200">
                <a:solidFill>
                  <a:srgbClr val="000000"/>
                </a:solidFill>
                <a:latin typeface="Arial"/>
                <a:ea typeface="Arial"/>
                <a:cs typeface="Arial"/>
                <a:sym typeface="Arial"/>
              </a:rPr>
              <a:t>Ejemplo práctico</a:t>
            </a:r>
          </a:p>
        </p:txBody>
      </p:sp>
      <p:sp>
        <p:nvSpPr>
          <p:cNvPr id="3" name="TextBox 3"/>
          <p:cNvSpPr txBox="1"/>
          <p:nvPr/>
        </p:nvSpPr>
        <p:spPr>
          <a:xfrm>
            <a:off x="1641547" y="3272224"/>
            <a:ext cx="4709517" cy="833247"/>
          </a:xfrm>
          <a:prstGeom prst="rect">
            <a:avLst/>
          </a:prstGeom>
        </p:spPr>
        <p:txBody>
          <a:bodyPr lIns="0" tIns="0" rIns="0" bIns="0" rtlCol="0" anchor="t">
            <a:spAutoFit/>
          </a:bodyPr>
          <a:lstStyle/>
          <a:p>
            <a:pPr algn="l">
              <a:lnSpc>
                <a:spcPts val="6623"/>
              </a:lnSpc>
              <a:spcBef>
                <a:spcPct val="0"/>
              </a:spcBef>
            </a:pPr>
            <a:r>
              <a:rPr lang="en-US" sz="4800">
                <a:solidFill>
                  <a:srgbClr val="000000"/>
                </a:solidFill>
                <a:latin typeface="Arial"/>
                <a:ea typeface="Arial"/>
                <a:cs typeface="Arial"/>
                <a:sym typeface="Arial"/>
              </a:rPr>
              <a:t>Decimal a binario</a:t>
            </a:r>
          </a:p>
        </p:txBody>
      </p:sp>
      <p:sp>
        <p:nvSpPr>
          <p:cNvPr id="4" name="TextBox 4"/>
          <p:cNvSpPr txBox="1"/>
          <p:nvPr/>
        </p:nvSpPr>
        <p:spPr>
          <a:xfrm>
            <a:off x="12486203" y="3336803"/>
            <a:ext cx="4773097" cy="723138"/>
          </a:xfrm>
          <a:prstGeom prst="rect">
            <a:avLst/>
          </a:prstGeom>
        </p:spPr>
        <p:txBody>
          <a:bodyPr lIns="0" tIns="0" rIns="0" bIns="0" rtlCol="0" anchor="t">
            <a:spAutoFit/>
          </a:bodyPr>
          <a:lstStyle/>
          <a:p>
            <a:pPr algn="l">
              <a:lnSpc>
                <a:spcPts val="5795"/>
              </a:lnSpc>
              <a:spcBef>
                <a:spcPct val="0"/>
              </a:spcBef>
            </a:pPr>
            <a:r>
              <a:rPr lang="en-US" sz="4200">
                <a:solidFill>
                  <a:srgbClr val="000000"/>
                </a:solidFill>
                <a:latin typeface="Arial"/>
                <a:ea typeface="Arial"/>
                <a:cs typeface="Arial"/>
                <a:sym typeface="Arial"/>
              </a:rPr>
              <a:t>Numero decimal: 25</a:t>
            </a:r>
          </a:p>
        </p:txBody>
      </p:sp>
      <p:grpSp>
        <p:nvGrpSpPr>
          <p:cNvPr id="5" name="Group 5"/>
          <p:cNvGrpSpPr/>
          <p:nvPr/>
        </p:nvGrpSpPr>
        <p:grpSpPr>
          <a:xfrm>
            <a:off x="2448345" y="5669194"/>
            <a:ext cx="2232492" cy="1838519"/>
            <a:chOff x="0" y="0"/>
            <a:chExt cx="587981" cy="484219"/>
          </a:xfrm>
        </p:grpSpPr>
        <p:sp>
          <p:nvSpPr>
            <p:cNvPr id="6" name="Freeform 6"/>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7" name="TextBox 7"/>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8" name="Group 8"/>
          <p:cNvGrpSpPr/>
          <p:nvPr/>
        </p:nvGrpSpPr>
        <p:grpSpPr>
          <a:xfrm>
            <a:off x="4680837" y="5669194"/>
            <a:ext cx="2232492" cy="1838519"/>
            <a:chOff x="0" y="0"/>
            <a:chExt cx="587981" cy="484219"/>
          </a:xfrm>
        </p:grpSpPr>
        <p:sp>
          <p:nvSpPr>
            <p:cNvPr id="9" name="Freeform 9"/>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10" name="TextBox 10"/>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1" name="Group 11"/>
          <p:cNvGrpSpPr/>
          <p:nvPr/>
        </p:nvGrpSpPr>
        <p:grpSpPr>
          <a:xfrm>
            <a:off x="6913329" y="5669194"/>
            <a:ext cx="2232492" cy="1838519"/>
            <a:chOff x="0" y="0"/>
            <a:chExt cx="587981" cy="484219"/>
          </a:xfrm>
        </p:grpSpPr>
        <p:sp>
          <p:nvSpPr>
            <p:cNvPr id="12" name="Freeform 12"/>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13" name="TextBox 13"/>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4" name="Group 14"/>
          <p:cNvGrpSpPr/>
          <p:nvPr/>
        </p:nvGrpSpPr>
        <p:grpSpPr>
          <a:xfrm>
            <a:off x="9145821" y="5661764"/>
            <a:ext cx="2232492" cy="1838519"/>
            <a:chOff x="0" y="0"/>
            <a:chExt cx="587981" cy="484219"/>
          </a:xfrm>
        </p:grpSpPr>
        <p:sp>
          <p:nvSpPr>
            <p:cNvPr id="15" name="Freeform 15"/>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16" name="TextBox 16"/>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7" name="Group 17"/>
          <p:cNvGrpSpPr/>
          <p:nvPr/>
        </p:nvGrpSpPr>
        <p:grpSpPr>
          <a:xfrm>
            <a:off x="11374671" y="5669194"/>
            <a:ext cx="2232492" cy="1838519"/>
            <a:chOff x="0" y="0"/>
            <a:chExt cx="587981" cy="484219"/>
          </a:xfrm>
        </p:grpSpPr>
        <p:sp>
          <p:nvSpPr>
            <p:cNvPr id="18" name="Freeform 18"/>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19" name="TextBox 19"/>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20" name="Group 20"/>
          <p:cNvGrpSpPr/>
          <p:nvPr/>
        </p:nvGrpSpPr>
        <p:grpSpPr>
          <a:xfrm>
            <a:off x="13607163" y="5669194"/>
            <a:ext cx="2232492" cy="1838519"/>
            <a:chOff x="0" y="0"/>
            <a:chExt cx="587981" cy="484219"/>
          </a:xfrm>
        </p:grpSpPr>
        <p:sp>
          <p:nvSpPr>
            <p:cNvPr id="21" name="Freeform 21"/>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22" name="TextBox 22"/>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sp>
        <p:nvSpPr>
          <p:cNvPr id="23" name="TextBox 23"/>
          <p:cNvSpPr txBox="1"/>
          <p:nvPr/>
        </p:nvSpPr>
        <p:spPr>
          <a:xfrm>
            <a:off x="3310273" y="6229552"/>
            <a:ext cx="508635"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25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90903" y="676275"/>
            <a:ext cx="7906193" cy="1446917"/>
          </a:xfrm>
          <a:prstGeom prst="rect">
            <a:avLst/>
          </a:prstGeom>
        </p:spPr>
        <p:txBody>
          <a:bodyPr lIns="0" tIns="0" rIns="0" bIns="0" rtlCol="0" anchor="t">
            <a:spAutoFit/>
          </a:bodyPr>
          <a:lstStyle/>
          <a:p>
            <a:pPr algn="ctr">
              <a:lnSpc>
                <a:spcPts val="12096"/>
              </a:lnSpc>
            </a:pPr>
            <a:r>
              <a:rPr lang="en-US" sz="7200">
                <a:solidFill>
                  <a:srgbClr val="000000"/>
                </a:solidFill>
                <a:latin typeface="Arial"/>
                <a:ea typeface="Arial"/>
                <a:cs typeface="Arial"/>
                <a:sym typeface="Arial"/>
              </a:rPr>
              <a:t>Ejemplo práctico</a:t>
            </a:r>
          </a:p>
        </p:txBody>
      </p:sp>
      <p:sp>
        <p:nvSpPr>
          <p:cNvPr id="3" name="TextBox 3"/>
          <p:cNvSpPr txBox="1"/>
          <p:nvPr/>
        </p:nvSpPr>
        <p:spPr>
          <a:xfrm>
            <a:off x="1641547" y="3272224"/>
            <a:ext cx="4709517" cy="833247"/>
          </a:xfrm>
          <a:prstGeom prst="rect">
            <a:avLst/>
          </a:prstGeom>
        </p:spPr>
        <p:txBody>
          <a:bodyPr lIns="0" tIns="0" rIns="0" bIns="0" rtlCol="0" anchor="t">
            <a:spAutoFit/>
          </a:bodyPr>
          <a:lstStyle/>
          <a:p>
            <a:pPr algn="l">
              <a:lnSpc>
                <a:spcPts val="6623"/>
              </a:lnSpc>
              <a:spcBef>
                <a:spcPct val="0"/>
              </a:spcBef>
            </a:pPr>
            <a:r>
              <a:rPr lang="en-US" sz="4800">
                <a:solidFill>
                  <a:srgbClr val="000000"/>
                </a:solidFill>
                <a:latin typeface="Arial"/>
                <a:ea typeface="Arial"/>
                <a:cs typeface="Arial"/>
                <a:sym typeface="Arial"/>
              </a:rPr>
              <a:t>Decimal a binario</a:t>
            </a:r>
          </a:p>
        </p:txBody>
      </p:sp>
      <p:sp>
        <p:nvSpPr>
          <p:cNvPr id="4" name="TextBox 4"/>
          <p:cNvSpPr txBox="1"/>
          <p:nvPr/>
        </p:nvSpPr>
        <p:spPr>
          <a:xfrm>
            <a:off x="12486203" y="3336803"/>
            <a:ext cx="4773097" cy="723138"/>
          </a:xfrm>
          <a:prstGeom prst="rect">
            <a:avLst/>
          </a:prstGeom>
        </p:spPr>
        <p:txBody>
          <a:bodyPr lIns="0" tIns="0" rIns="0" bIns="0" rtlCol="0" anchor="t">
            <a:spAutoFit/>
          </a:bodyPr>
          <a:lstStyle/>
          <a:p>
            <a:pPr algn="l">
              <a:lnSpc>
                <a:spcPts val="5795"/>
              </a:lnSpc>
              <a:spcBef>
                <a:spcPct val="0"/>
              </a:spcBef>
            </a:pPr>
            <a:r>
              <a:rPr lang="en-US" sz="4200">
                <a:solidFill>
                  <a:srgbClr val="000000"/>
                </a:solidFill>
                <a:latin typeface="Arial"/>
                <a:ea typeface="Arial"/>
                <a:cs typeface="Arial"/>
                <a:sym typeface="Arial"/>
              </a:rPr>
              <a:t>Numero decimal: 25</a:t>
            </a:r>
          </a:p>
        </p:txBody>
      </p:sp>
      <p:grpSp>
        <p:nvGrpSpPr>
          <p:cNvPr id="5" name="Group 5"/>
          <p:cNvGrpSpPr/>
          <p:nvPr/>
        </p:nvGrpSpPr>
        <p:grpSpPr>
          <a:xfrm>
            <a:off x="2448345" y="5669194"/>
            <a:ext cx="2232492" cy="1838519"/>
            <a:chOff x="0" y="0"/>
            <a:chExt cx="587981" cy="484219"/>
          </a:xfrm>
        </p:grpSpPr>
        <p:sp>
          <p:nvSpPr>
            <p:cNvPr id="6" name="Freeform 6"/>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7" name="TextBox 7"/>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8" name="Group 8"/>
          <p:cNvGrpSpPr/>
          <p:nvPr/>
        </p:nvGrpSpPr>
        <p:grpSpPr>
          <a:xfrm>
            <a:off x="4680837" y="5669194"/>
            <a:ext cx="2232492" cy="1838519"/>
            <a:chOff x="0" y="0"/>
            <a:chExt cx="587981" cy="484219"/>
          </a:xfrm>
        </p:grpSpPr>
        <p:sp>
          <p:nvSpPr>
            <p:cNvPr id="9" name="Freeform 9"/>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10" name="TextBox 10"/>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1" name="Group 11"/>
          <p:cNvGrpSpPr/>
          <p:nvPr/>
        </p:nvGrpSpPr>
        <p:grpSpPr>
          <a:xfrm>
            <a:off x="6913329" y="5669194"/>
            <a:ext cx="2232492" cy="1838519"/>
            <a:chOff x="0" y="0"/>
            <a:chExt cx="587981" cy="484219"/>
          </a:xfrm>
        </p:grpSpPr>
        <p:sp>
          <p:nvSpPr>
            <p:cNvPr id="12" name="Freeform 12"/>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13" name="TextBox 13"/>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4" name="Group 14"/>
          <p:cNvGrpSpPr/>
          <p:nvPr/>
        </p:nvGrpSpPr>
        <p:grpSpPr>
          <a:xfrm>
            <a:off x="9145821" y="5661764"/>
            <a:ext cx="2232492" cy="1838519"/>
            <a:chOff x="0" y="0"/>
            <a:chExt cx="587981" cy="484219"/>
          </a:xfrm>
        </p:grpSpPr>
        <p:sp>
          <p:nvSpPr>
            <p:cNvPr id="15" name="Freeform 15"/>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16" name="TextBox 16"/>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7" name="Group 17"/>
          <p:cNvGrpSpPr/>
          <p:nvPr/>
        </p:nvGrpSpPr>
        <p:grpSpPr>
          <a:xfrm>
            <a:off x="11374671" y="5669194"/>
            <a:ext cx="2232492" cy="1838519"/>
            <a:chOff x="0" y="0"/>
            <a:chExt cx="587981" cy="484219"/>
          </a:xfrm>
        </p:grpSpPr>
        <p:sp>
          <p:nvSpPr>
            <p:cNvPr id="18" name="Freeform 18"/>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19" name="TextBox 19"/>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20" name="Group 20"/>
          <p:cNvGrpSpPr/>
          <p:nvPr/>
        </p:nvGrpSpPr>
        <p:grpSpPr>
          <a:xfrm>
            <a:off x="13607163" y="5669194"/>
            <a:ext cx="2232492" cy="1838519"/>
            <a:chOff x="0" y="0"/>
            <a:chExt cx="587981" cy="484219"/>
          </a:xfrm>
        </p:grpSpPr>
        <p:sp>
          <p:nvSpPr>
            <p:cNvPr id="21" name="Freeform 21"/>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22" name="TextBox 22"/>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sp>
        <p:nvSpPr>
          <p:cNvPr id="23" name="TextBox 23"/>
          <p:cNvSpPr txBox="1"/>
          <p:nvPr/>
        </p:nvSpPr>
        <p:spPr>
          <a:xfrm>
            <a:off x="3310273" y="6229552"/>
            <a:ext cx="508635"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25</a:t>
            </a:r>
          </a:p>
        </p:txBody>
      </p:sp>
      <p:sp>
        <p:nvSpPr>
          <p:cNvPr id="24" name="TextBox 24"/>
          <p:cNvSpPr txBox="1"/>
          <p:nvPr/>
        </p:nvSpPr>
        <p:spPr>
          <a:xfrm>
            <a:off x="5542765" y="6229552"/>
            <a:ext cx="508635"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12</a:t>
            </a:r>
          </a:p>
        </p:txBody>
      </p:sp>
      <p:grpSp>
        <p:nvGrpSpPr>
          <p:cNvPr id="25" name="Group 25"/>
          <p:cNvGrpSpPr/>
          <p:nvPr/>
        </p:nvGrpSpPr>
        <p:grpSpPr>
          <a:xfrm>
            <a:off x="4254033" y="4405820"/>
            <a:ext cx="3086100" cy="963024"/>
            <a:chOff x="0" y="0"/>
            <a:chExt cx="812800" cy="253636"/>
          </a:xfrm>
        </p:grpSpPr>
        <p:sp>
          <p:nvSpPr>
            <p:cNvPr id="26" name="Freeform 26"/>
            <p:cNvSpPr/>
            <p:nvPr/>
          </p:nvSpPr>
          <p:spPr>
            <a:xfrm>
              <a:off x="0" y="0"/>
              <a:ext cx="812800" cy="253636"/>
            </a:xfrm>
            <a:custGeom>
              <a:avLst/>
              <a:gdLst/>
              <a:ahLst/>
              <a:cxnLst/>
              <a:rect l="l" t="t" r="r" b="b"/>
              <a:pathLst>
                <a:path w="812800" h="253636">
                  <a:moveTo>
                    <a:pt x="42647" y="0"/>
                  </a:moveTo>
                  <a:lnTo>
                    <a:pt x="770153" y="0"/>
                  </a:lnTo>
                  <a:cubicBezTo>
                    <a:pt x="781464" y="0"/>
                    <a:pt x="792311" y="4493"/>
                    <a:pt x="800309" y="12491"/>
                  </a:cubicBezTo>
                  <a:cubicBezTo>
                    <a:pt x="808307" y="20489"/>
                    <a:pt x="812800" y="31336"/>
                    <a:pt x="812800" y="42647"/>
                  </a:cubicBezTo>
                  <a:lnTo>
                    <a:pt x="812800" y="210989"/>
                  </a:lnTo>
                  <a:cubicBezTo>
                    <a:pt x="812800" y="234542"/>
                    <a:pt x="793706" y="253636"/>
                    <a:pt x="770153" y="253636"/>
                  </a:cubicBezTo>
                  <a:lnTo>
                    <a:pt x="42647" y="253636"/>
                  </a:lnTo>
                  <a:cubicBezTo>
                    <a:pt x="31336" y="253636"/>
                    <a:pt x="20489" y="249143"/>
                    <a:pt x="12491" y="241145"/>
                  </a:cubicBezTo>
                  <a:cubicBezTo>
                    <a:pt x="4493" y="233147"/>
                    <a:pt x="0" y="222300"/>
                    <a:pt x="0" y="210989"/>
                  </a:cubicBezTo>
                  <a:lnTo>
                    <a:pt x="0" y="42647"/>
                  </a:lnTo>
                  <a:cubicBezTo>
                    <a:pt x="0" y="31336"/>
                    <a:pt x="4493" y="20489"/>
                    <a:pt x="12491" y="12491"/>
                  </a:cubicBezTo>
                  <a:cubicBezTo>
                    <a:pt x="20489" y="4493"/>
                    <a:pt x="31336" y="0"/>
                    <a:pt x="42647" y="0"/>
                  </a:cubicBezTo>
                  <a:close/>
                </a:path>
              </a:pathLst>
            </a:custGeom>
            <a:solidFill>
              <a:srgbClr val="FF3333">
                <a:alpha val="42745"/>
              </a:srgbClr>
            </a:solidFill>
          </p:spPr>
          <p:txBody>
            <a:bodyPr/>
            <a:lstStyle/>
            <a:p>
              <a:endParaRPr lang="es-GT"/>
            </a:p>
          </p:txBody>
        </p:sp>
        <p:sp>
          <p:nvSpPr>
            <p:cNvPr id="27" name="TextBox 27"/>
            <p:cNvSpPr txBox="1"/>
            <p:nvPr/>
          </p:nvSpPr>
          <p:spPr>
            <a:xfrm>
              <a:off x="0" y="-47625"/>
              <a:ext cx="812800" cy="301261"/>
            </a:xfrm>
            <a:prstGeom prst="rect">
              <a:avLst/>
            </a:prstGeom>
          </p:spPr>
          <p:txBody>
            <a:bodyPr lIns="50800" tIns="50800" rIns="50800" bIns="50800" rtlCol="0" anchor="ctr"/>
            <a:lstStyle/>
            <a:p>
              <a:pPr algn="ctr">
                <a:lnSpc>
                  <a:spcPts val="1932"/>
                </a:lnSpc>
              </a:pPr>
              <a:endParaRPr/>
            </a:p>
          </p:txBody>
        </p:sp>
      </p:grpSp>
      <p:sp>
        <p:nvSpPr>
          <p:cNvPr id="28" name="TextBox 28"/>
          <p:cNvSpPr txBox="1"/>
          <p:nvPr/>
        </p:nvSpPr>
        <p:spPr>
          <a:xfrm>
            <a:off x="5352146" y="4528430"/>
            <a:ext cx="889873"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12.5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90903" y="676275"/>
            <a:ext cx="7906193" cy="1446917"/>
          </a:xfrm>
          <a:prstGeom prst="rect">
            <a:avLst/>
          </a:prstGeom>
        </p:spPr>
        <p:txBody>
          <a:bodyPr lIns="0" tIns="0" rIns="0" bIns="0" rtlCol="0" anchor="t">
            <a:spAutoFit/>
          </a:bodyPr>
          <a:lstStyle/>
          <a:p>
            <a:pPr algn="ctr">
              <a:lnSpc>
                <a:spcPts val="12096"/>
              </a:lnSpc>
            </a:pPr>
            <a:r>
              <a:rPr lang="en-US" sz="7200">
                <a:solidFill>
                  <a:srgbClr val="000000"/>
                </a:solidFill>
                <a:latin typeface="Arial"/>
                <a:ea typeface="Arial"/>
                <a:cs typeface="Arial"/>
                <a:sym typeface="Arial"/>
              </a:rPr>
              <a:t>Ejemplo práctico</a:t>
            </a:r>
          </a:p>
        </p:txBody>
      </p:sp>
      <p:sp>
        <p:nvSpPr>
          <p:cNvPr id="3" name="TextBox 3"/>
          <p:cNvSpPr txBox="1"/>
          <p:nvPr/>
        </p:nvSpPr>
        <p:spPr>
          <a:xfrm>
            <a:off x="1641547" y="3272224"/>
            <a:ext cx="4709517" cy="833247"/>
          </a:xfrm>
          <a:prstGeom prst="rect">
            <a:avLst/>
          </a:prstGeom>
        </p:spPr>
        <p:txBody>
          <a:bodyPr lIns="0" tIns="0" rIns="0" bIns="0" rtlCol="0" anchor="t">
            <a:spAutoFit/>
          </a:bodyPr>
          <a:lstStyle/>
          <a:p>
            <a:pPr algn="l">
              <a:lnSpc>
                <a:spcPts val="6623"/>
              </a:lnSpc>
              <a:spcBef>
                <a:spcPct val="0"/>
              </a:spcBef>
            </a:pPr>
            <a:r>
              <a:rPr lang="en-US" sz="4800">
                <a:solidFill>
                  <a:srgbClr val="000000"/>
                </a:solidFill>
                <a:latin typeface="Arial"/>
                <a:ea typeface="Arial"/>
                <a:cs typeface="Arial"/>
                <a:sym typeface="Arial"/>
              </a:rPr>
              <a:t>Decimal a binario</a:t>
            </a:r>
          </a:p>
        </p:txBody>
      </p:sp>
      <p:sp>
        <p:nvSpPr>
          <p:cNvPr id="4" name="TextBox 4"/>
          <p:cNvSpPr txBox="1"/>
          <p:nvPr/>
        </p:nvSpPr>
        <p:spPr>
          <a:xfrm>
            <a:off x="12486203" y="3336803"/>
            <a:ext cx="4773097" cy="723138"/>
          </a:xfrm>
          <a:prstGeom prst="rect">
            <a:avLst/>
          </a:prstGeom>
        </p:spPr>
        <p:txBody>
          <a:bodyPr lIns="0" tIns="0" rIns="0" bIns="0" rtlCol="0" anchor="t">
            <a:spAutoFit/>
          </a:bodyPr>
          <a:lstStyle/>
          <a:p>
            <a:pPr algn="l">
              <a:lnSpc>
                <a:spcPts val="5795"/>
              </a:lnSpc>
              <a:spcBef>
                <a:spcPct val="0"/>
              </a:spcBef>
            </a:pPr>
            <a:r>
              <a:rPr lang="en-US" sz="4200">
                <a:solidFill>
                  <a:srgbClr val="000000"/>
                </a:solidFill>
                <a:latin typeface="Arial"/>
                <a:ea typeface="Arial"/>
                <a:cs typeface="Arial"/>
                <a:sym typeface="Arial"/>
              </a:rPr>
              <a:t>Numero decimal: 25</a:t>
            </a:r>
          </a:p>
        </p:txBody>
      </p:sp>
      <p:grpSp>
        <p:nvGrpSpPr>
          <p:cNvPr id="5" name="Group 5"/>
          <p:cNvGrpSpPr/>
          <p:nvPr/>
        </p:nvGrpSpPr>
        <p:grpSpPr>
          <a:xfrm>
            <a:off x="2448345" y="5669194"/>
            <a:ext cx="2232492" cy="1838519"/>
            <a:chOff x="0" y="0"/>
            <a:chExt cx="587981" cy="484219"/>
          </a:xfrm>
        </p:grpSpPr>
        <p:sp>
          <p:nvSpPr>
            <p:cNvPr id="6" name="Freeform 6"/>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7" name="TextBox 7"/>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8" name="Group 8"/>
          <p:cNvGrpSpPr/>
          <p:nvPr/>
        </p:nvGrpSpPr>
        <p:grpSpPr>
          <a:xfrm>
            <a:off x="4680837" y="5669194"/>
            <a:ext cx="2232492" cy="1838519"/>
            <a:chOff x="0" y="0"/>
            <a:chExt cx="587981" cy="484219"/>
          </a:xfrm>
        </p:grpSpPr>
        <p:sp>
          <p:nvSpPr>
            <p:cNvPr id="9" name="Freeform 9"/>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10" name="TextBox 10"/>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1" name="Group 11"/>
          <p:cNvGrpSpPr/>
          <p:nvPr/>
        </p:nvGrpSpPr>
        <p:grpSpPr>
          <a:xfrm>
            <a:off x="6913329" y="5669194"/>
            <a:ext cx="2232492" cy="1838519"/>
            <a:chOff x="0" y="0"/>
            <a:chExt cx="587981" cy="484219"/>
          </a:xfrm>
        </p:grpSpPr>
        <p:sp>
          <p:nvSpPr>
            <p:cNvPr id="12" name="Freeform 12"/>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13" name="TextBox 13"/>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4" name="Group 14"/>
          <p:cNvGrpSpPr/>
          <p:nvPr/>
        </p:nvGrpSpPr>
        <p:grpSpPr>
          <a:xfrm>
            <a:off x="9145821" y="5661764"/>
            <a:ext cx="2232492" cy="1838519"/>
            <a:chOff x="0" y="0"/>
            <a:chExt cx="587981" cy="484219"/>
          </a:xfrm>
        </p:grpSpPr>
        <p:sp>
          <p:nvSpPr>
            <p:cNvPr id="15" name="Freeform 15"/>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16" name="TextBox 16"/>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7" name="Group 17"/>
          <p:cNvGrpSpPr/>
          <p:nvPr/>
        </p:nvGrpSpPr>
        <p:grpSpPr>
          <a:xfrm>
            <a:off x="11374671" y="5669194"/>
            <a:ext cx="2232492" cy="1838519"/>
            <a:chOff x="0" y="0"/>
            <a:chExt cx="587981" cy="484219"/>
          </a:xfrm>
        </p:grpSpPr>
        <p:sp>
          <p:nvSpPr>
            <p:cNvPr id="18" name="Freeform 18"/>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19" name="TextBox 19"/>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20" name="Group 20"/>
          <p:cNvGrpSpPr/>
          <p:nvPr/>
        </p:nvGrpSpPr>
        <p:grpSpPr>
          <a:xfrm>
            <a:off x="13607163" y="5669194"/>
            <a:ext cx="2232492" cy="1838519"/>
            <a:chOff x="0" y="0"/>
            <a:chExt cx="587981" cy="484219"/>
          </a:xfrm>
        </p:grpSpPr>
        <p:sp>
          <p:nvSpPr>
            <p:cNvPr id="21" name="Freeform 21"/>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22" name="TextBox 22"/>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sp>
        <p:nvSpPr>
          <p:cNvPr id="23" name="TextBox 23"/>
          <p:cNvSpPr txBox="1"/>
          <p:nvPr/>
        </p:nvSpPr>
        <p:spPr>
          <a:xfrm>
            <a:off x="3310273" y="6229552"/>
            <a:ext cx="508635"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25</a:t>
            </a:r>
          </a:p>
        </p:txBody>
      </p:sp>
      <p:sp>
        <p:nvSpPr>
          <p:cNvPr id="24" name="TextBox 24"/>
          <p:cNvSpPr txBox="1"/>
          <p:nvPr/>
        </p:nvSpPr>
        <p:spPr>
          <a:xfrm>
            <a:off x="5542765" y="6229552"/>
            <a:ext cx="508635"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12</a:t>
            </a:r>
          </a:p>
        </p:txBody>
      </p:sp>
      <p:sp>
        <p:nvSpPr>
          <p:cNvPr id="25" name="TextBox 25"/>
          <p:cNvSpPr txBox="1"/>
          <p:nvPr/>
        </p:nvSpPr>
        <p:spPr>
          <a:xfrm>
            <a:off x="7775257" y="6229552"/>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90903" y="676275"/>
            <a:ext cx="7906193" cy="1446917"/>
          </a:xfrm>
          <a:prstGeom prst="rect">
            <a:avLst/>
          </a:prstGeom>
        </p:spPr>
        <p:txBody>
          <a:bodyPr lIns="0" tIns="0" rIns="0" bIns="0" rtlCol="0" anchor="t">
            <a:spAutoFit/>
          </a:bodyPr>
          <a:lstStyle/>
          <a:p>
            <a:pPr algn="ctr">
              <a:lnSpc>
                <a:spcPts val="12096"/>
              </a:lnSpc>
            </a:pPr>
            <a:r>
              <a:rPr lang="en-US" sz="7200">
                <a:solidFill>
                  <a:srgbClr val="000000"/>
                </a:solidFill>
                <a:latin typeface="Arial"/>
                <a:ea typeface="Arial"/>
                <a:cs typeface="Arial"/>
                <a:sym typeface="Arial"/>
              </a:rPr>
              <a:t>Ejemplo práctico</a:t>
            </a:r>
          </a:p>
        </p:txBody>
      </p:sp>
      <p:sp>
        <p:nvSpPr>
          <p:cNvPr id="3" name="TextBox 3"/>
          <p:cNvSpPr txBox="1"/>
          <p:nvPr/>
        </p:nvSpPr>
        <p:spPr>
          <a:xfrm>
            <a:off x="1641547" y="3272224"/>
            <a:ext cx="4709517" cy="833247"/>
          </a:xfrm>
          <a:prstGeom prst="rect">
            <a:avLst/>
          </a:prstGeom>
        </p:spPr>
        <p:txBody>
          <a:bodyPr lIns="0" tIns="0" rIns="0" bIns="0" rtlCol="0" anchor="t">
            <a:spAutoFit/>
          </a:bodyPr>
          <a:lstStyle/>
          <a:p>
            <a:pPr algn="l">
              <a:lnSpc>
                <a:spcPts val="6623"/>
              </a:lnSpc>
              <a:spcBef>
                <a:spcPct val="0"/>
              </a:spcBef>
            </a:pPr>
            <a:r>
              <a:rPr lang="en-US" sz="4800">
                <a:solidFill>
                  <a:srgbClr val="000000"/>
                </a:solidFill>
                <a:latin typeface="Arial"/>
                <a:ea typeface="Arial"/>
                <a:cs typeface="Arial"/>
                <a:sym typeface="Arial"/>
              </a:rPr>
              <a:t>Decimal a binario</a:t>
            </a:r>
          </a:p>
        </p:txBody>
      </p:sp>
      <p:sp>
        <p:nvSpPr>
          <p:cNvPr id="4" name="TextBox 4"/>
          <p:cNvSpPr txBox="1"/>
          <p:nvPr/>
        </p:nvSpPr>
        <p:spPr>
          <a:xfrm>
            <a:off x="12486203" y="3336803"/>
            <a:ext cx="4773097" cy="723138"/>
          </a:xfrm>
          <a:prstGeom prst="rect">
            <a:avLst/>
          </a:prstGeom>
        </p:spPr>
        <p:txBody>
          <a:bodyPr lIns="0" tIns="0" rIns="0" bIns="0" rtlCol="0" anchor="t">
            <a:spAutoFit/>
          </a:bodyPr>
          <a:lstStyle/>
          <a:p>
            <a:pPr algn="l">
              <a:lnSpc>
                <a:spcPts val="5795"/>
              </a:lnSpc>
              <a:spcBef>
                <a:spcPct val="0"/>
              </a:spcBef>
            </a:pPr>
            <a:r>
              <a:rPr lang="en-US" sz="4200">
                <a:solidFill>
                  <a:srgbClr val="000000"/>
                </a:solidFill>
                <a:latin typeface="Arial"/>
                <a:ea typeface="Arial"/>
                <a:cs typeface="Arial"/>
                <a:sym typeface="Arial"/>
              </a:rPr>
              <a:t>Numero decimal: 25</a:t>
            </a:r>
          </a:p>
        </p:txBody>
      </p:sp>
      <p:grpSp>
        <p:nvGrpSpPr>
          <p:cNvPr id="5" name="Group 5"/>
          <p:cNvGrpSpPr/>
          <p:nvPr/>
        </p:nvGrpSpPr>
        <p:grpSpPr>
          <a:xfrm>
            <a:off x="2448345" y="5669194"/>
            <a:ext cx="2232492" cy="1838519"/>
            <a:chOff x="0" y="0"/>
            <a:chExt cx="587981" cy="484219"/>
          </a:xfrm>
        </p:grpSpPr>
        <p:sp>
          <p:nvSpPr>
            <p:cNvPr id="6" name="Freeform 6"/>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7" name="TextBox 7"/>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8" name="Group 8"/>
          <p:cNvGrpSpPr/>
          <p:nvPr/>
        </p:nvGrpSpPr>
        <p:grpSpPr>
          <a:xfrm>
            <a:off x="4680837" y="5669194"/>
            <a:ext cx="2232492" cy="1838519"/>
            <a:chOff x="0" y="0"/>
            <a:chExt cx="587981" cy="484219"/>
          </a:xfrm>
        </p:grpSpPr>
        <p:sp>
          <p:nvSpPr>
            <p:cNvPr id="9" name="Freeform 9"/>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10" name="TextBox 10"/>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1" name="Group 11"/>
          <p:cNvGrpSpPr/>
          <p:nvPr/>
        </p:nvGrpSpPr>
        <p:grpSpPr>
          <a:xfrm>
            <a:off x="6913329" y="5669194"/>
            <a:ext cx="2232492" cy="1838519"/>
            <a:chOff x="0" y="0"/>
            <a:chExt cx="587981" cy="484219"/>
          </a:xfrm>
        </p:grpSpPr>
        <p:sp>
          <p:nvSpPr>
            <p:cNvPr id="12" name="Freeform 12"/>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13" name="TextBox 13"/>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4" name="Group 14"/>
          <p:cNvGrpSpPr/>
          <p:nvPr/>
        </p:nvGrpSpPr>
        <p:grpSpPr>
          <a:xfrm>
            <a:off x="9145821" y="5661764"/>
            <a:ext cx="2232492" cy="1838519"/>
            <a:chOff x="0" y="0"/>
            <a:chExt cx="587981" cy="484219"/>
          </a:xfrm>
        </p:grpSpPr>
        <p:sp>
          <p:nvSpPr>
            <p:cNvPr id="15" name="Freeform 15"/>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16" name="TextBox 16"/>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7" name="Group 17"/>
          <p:cNvGrpSpPr/>
          <p:nvPr/>
        </p:nvGrpSpPr>
        <p:grpSpPr>
          <a:xfrm>
            <a:off x="11374671" y="5669194"/>
            <a:ext cx="2232492" cy="1838519"/>
            <a:chOff x="0" y="0"/>
            <a:chExt cx="587981" cy="484219"/>
          </a:xfrm>
        </p:grpSpPr>
        <p:sp>
          <p:nvSpPr>
            <p:cNvPr id="18" name="Freeform 18"/>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19" name="TextBox 19"/>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20" name="Group 20"/>
          <p:cNvGrpSpPr/>
          <p:nvPr/>
        </p:nvGrpSpPr>
        <p:grpSpPr>
          <a:xfrm>
            <a:off x="13607163" y="5669194"/>
            <a:ext cx="2232492" cy="1838519"/>
            <a:chOff x="0" y="0"/>
            <a:chExt cx="587981" cy="484219"/>
          </a:xfrm>
        </p:grpSpPr>
        <p:sp>
          <p:nvSpPr>
            <p:cNvPr id="21" name="Freeform 21"/>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22" name="TextBox 22"/>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sp>
        <p:nvSpPr>
          <p:cNvPr id="23" name="TextBox 23"/>
          <p:cNvSpPr txBox="1"/>
          <p:nvPr/>
        </p:nvSpPr>
        <p:spPr>
          <a:xfrm>
            <a:off x="3310273" y="6229552"/>
            <a:ext cx="508635"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25</a:t>
            </a:r>
          </a:p>
        </p:txBody>
      </p:sp>
      <p:sp>
        <p:nvSpPr>
          <p:cNvPr id="24" name="TextBox 24"/>
          <p:cNvSpPr txBox="1"/>
          <p:nvPr/>
        </p:nvSpPr>
        <p:spPr>
          <a:xfrm>
            <a:off x="5542765" y="6229552"/>
            <a:ext cx="508635"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12</a:t>
            </a:r>
          </a:p>
        </p:txBody>
      </p:sp>
      <p:sp>
        <p:nvSpPr>
          <p:cNvPr id="25" name="TextBox 25"/>
          <p:cNvSpPr txBox="1"/>
          <p:nvPr/>
        </p:nvSpPr>
        <p:spPr>
          <a:xfrm>
            <a:off x="7775257" y="6229552"/>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6</a:t>
            </a:r>
          </a:p>
        </p:txBody>
      </p:sp>
      <p:sp>
        <p:nvSpPr>
          <p:cNvPr id="26" name="TextBox 26"/>
          <p:cNvSpPr txBox="1"/>
          <p:nvPr/>
        </p:nvSpPr>
        <p:spPr>
          <a:xfrm>
            <a:off x="10134908" y="6222122"/>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3</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90903" y="676275"/>
            <a:ext cx="7906193" cy="1446917"/>
          </a:xfrm>
          <a:prstGeom prst="rect">
            <a:avLst/>
          </a:prstGeom>
        </p:spPr>
        <p:txBody>
          <a:bodyPr lIns="0" tIns="0" rIns="0" bIns="0" rtlCol="0" anchor="t">
            <a:spAutoFit/>
          </a:bodyPr>
          <a:lstStyle/>
          <a:p>
            <a:pPr algn="ctr">
              <a:lnSpc>
                <a:spcPts val="12096"/>
              </a:lnSpc>
            </a:pPr>
            <a:r>
              <a:rPr lang="en-US" sz="7200">
                <a:solidFill>
                  <a:srgbClr val="000000"/>
                </a:solidFill>
                <a:latin typeface="Arial"/>
                <a:ea typeface="Arial"/>
                <a:cs typeface="Arial"/>
                <a:sym typeface="Arial"/>
              </a:rPr>
              <a:t>Ejemplo práctico</a:t>
            </a:r>
          </a:p>
        </p:txBody>
      </p:sp>
      <p:sp>
        <p:nvSpPr>
          <p:cNvPr id="3" name="TextBox 3"/>
          <p:cNvSpPr txBox="1"/>
          <p:nvPr/>
        </p:nvSpPr>
        <p:spPr>
          <a:xfrm>
            <a:off x="1641547" y="3272224"/>
            <a:ext cx="4709517" cy="833247"/>
          </a:xfrm>
          <a:prstGeom prst="rect">
            <a:avLst/>
          </a:prstGeom>
        </p:spPr>
        <p:txBody>
          <a:bodyPr lIns="0" tIns="0" rIns="0" bIns="0" rtlCol="0" anchor="t">
            <a:spAutoFit/>
          </a:bodyPr>
          <a:lstStyle/>
          <a:p>
            <a:pPr algn="l">
              <a:lnSpc>
                <a:spcPts val="6623"/>
              </a:lnSpc>
              <a:spcBef>
                <a:spcPct val="0"/>
              </a:spcBef>
            </a:pPr>
            <a:r>
              <a:rPr lang="en-US" sz="4800">
                <a:solidFill>
                  <a:srgbClr val="000000"/>
                </a:solidFill>
                <a:latin typeface="Arial"/>
                <a:ea typeface="Arial"/>
                <a:cs typeface="Arial"/>
                <a:sym typeface="Arial"/>
              </a:rPr>
              <a:t>Decimal a binario</a:t>
            </a:r>
          </a:p>
        </p:txBody>
      </p:sp>
      <p:sp>
        <p:nvSpPr>
          <p:cNvPr id="4" name="TextBox 4"/>
          <p:cNvSpPr txBox="1"/>
          <p:nvPr/>
        </p:nvSpPr>
        <p:spPr>
          <a:xfrm>
            <a:off x="12486203" y="3336803"/>
            <a:ext cx="4773097" cy="723138"/>
          </a:xfrm>
          <a:prstGeom prst="rect">
            <a:avLst/>
          </a:prstGeom>
        </p:spPr>
        <p:txBody>
          <a:bodyPr lIns="0" tIns="0" rIns="0" bIns="0" rtlCol="0" anchor="t">
            <a:spAutoFit/>
          </a:bodyPr>
          <a:lstStyle/>
          <a:p>
            <a:pPr algn="l">
              <a:lnSpc>
                <a:spcPts val="5795"/>
              </a:lnSpc>
              <a:spcBef>
                <a:spcPct val="0"/>
              </a:spcBef>
            </a:pPr>
            <a:r>
              <a:rPr lang="en-US" sz="4200">
                <a:solidFill>
                  <a:srgbClr val="000000"/>
                </a:solidFill>
                <a:latin typeface="Arial"/>
                <a:ea typeface="Arial"/>
                <a:cs typeface="Arial"/>
                <a:sym typeface="Arial"/>
              </a:rPr>
              <a:t>Numero decimal: 25</a:t>
            </a:r>
          </a:p>
        </p:txBody>
      </p:sp>
      <p:grpSp>
        <p:nvGrpSpPr>
          <p:cNvPr id="5" name="Group 5"/>
          <p:cNvGrpSpPr/>
          <p:nvPr/>
        </p:nvGrpSpPr>
        <p:grpSpPr>
          <a:xfrm>
            <a:off x="3564591" y="5408300"/>
            <a:ext cx="2232492" cy="1838519"/>
            <a:chOff x="0" y="0"/>
            <a:chExt cx="587981" cy="484219"/>
          </a:xfrm>
        </p:grpSpPr>
        <p:sp>
          <p:nvSpPr>
            <p:cNvPr id="6" name="Freeform 6"/>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7" name="TextBox 7"/>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8" name="Group 8"/>
          <p:cNvGrpSpPr/>
          <p:nvPr/>
        </p:nvGrpSpPr>
        <p:grpSpPr>
          <a:xfrm>
            <a:off x="5797083" y="5408300"/>
            <a:ext cx="2232492" cy="1838519"/>
            <a:chOff x="0" y="0"/>
            <a:chExt cx="587981" cy="484219"/>
          </a:xfrm>
        </p:grpSpPr>
        <p:sp>
          <p:nvSpPr>
            <p:cNvPr id="9" name="Freeform 9"/>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10" name="TextBox 10"/>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1" name="Group 11"/>
          <p:cNvGrpSpPr/>
          <p:nvPr/>
        </p:nvGrpSpPr>
        <p:grpSpPr>
          <a:xfrm>
            <a:off x="8029575" y="5408300"/>
            <a:ext cx="2232492" cy="1838519"/>
            <a:chOff x="0" y="0"/>
            <a:chExt cx="587981" cy="484219"/>
          </a:xfrm>
        </p:grpSpPr>
        <p:sp>
          <p:nvSpPr>
            <p:cNvPr id="12" name="Freeform 12"/>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13" name="TextBox 13"/>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4" name="Group 14"/>
          <p:cNvGrpSpPr/>
          <p:nvPr/>
        </p:nvGrpSpPr>
        <p:grpSpPr>
          <a:xfrm>
            <a:off x="10262067" y="5400871"/>
            <a:ext cx="2232492" cy="1838519"/>
            <a:chOff x="0" y="0"/>
            <a:chExt cx="587981" cy="484219"/>
          </a:xfrm>
        </p:grpSpPr>
        <p:sp>
          <p:nvSpPr>
            <p:cNvPr id="15" name="Freeform 15"/>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16" name="TextBox 16"/>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7" name="Group 17"/>
          <p:cNvGrpSpPr/>
          <p:nvPr/>
        </p:nvGrpSpPr>
        <p:grpSpPr>
          <a:xfrm>
            <a:off x="12490917" y="5408300"/>
            <a:ext cx="2232492" cy="1838519"/>
            <a:chOff x="0" y="0"/>
            <a:chExt cx="587981" cy="484219"/>
          </a:xfrm>
        </p:grpSpPr>
        <p:sp>
          <p:nvSpPr>
            <p:cNvPr id="18" name="Freeform 18"/>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19" name="TextBox 19"/>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sp>
        <p:nvSpPr>
          <p:cNvPr id="20" name="TextBox 20"/>
          <p:cNvSpPr txBox="1"/>
          <p:nvPr/>
        </p:nvSpPr>
        <p:spPr>
          <a:xfrm>
            <a:off x="4426519" y="5968658"/>
            <a:ext cx="508635"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25</a:t>
            </a:r>
          </a:p>
        </p:txBody>
      </p:sp>
      <p:sp>
        <p:nvSpPr>
          <p:cNvPr id="21" name="TextBox 21"/>
          <p:cNvSpPr txBox="1"/>
          <p:nvPr/>
        </p:nvSpPr>
        <p:spPr>
          <a:xfrm>
            <a:off x="6659011" y="5968658"/>
            <a:ext cx="508635"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12</a:t>
            </a:r>
          </a:p>
        </p:txBody>
      </p:sp>
      <p:sp>
        <p:nvSpPr>
          <p:cNvPr id="22" name="TextBox 22"/>
          <p:cNvSpPr txBox="1"/>
          <p:nvPr/>
        </p:nvSpPr>
        <p:spPr>
          <a:xfrm>
            <a:off x="8891504" y="5968658"/>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6</a:t>
            </a:r>
          </a:p>
        </p:txBody>
      </p:sp>
      <p:sp>
        <p:nvSpPr>
          <p:cNvPr id="23" name="TextBox 23"/>
          <p:cNvSpPr txBox="1"/>
          <p:nvPr/>
        </p:nvSpPr>
        <p:spPr>
          <a:xfrm>
            <a:off x="11251155" y="5961228"/>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3</a:t>
            </a:r>
          </a:p>
        </p:txBody>
      </p:sp>
      <p:sp>
        <p:nvSpPr>
          <p:cNvPr id="24" name="TextBox 24"/>
          <p:cNvSpPr txBox="1"/>
          <p:nvPr/>
        </p:nvSpPr>
        <p:spPr>
          <a:xfrm>
            <a:off x="13348132" y="5968658"/>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90903" y="676275"/>
            <a:ext cx="7906193" cy="1446917"/>
          </a:xfrm>
          <a:prstGeom prst="rect">
            <a:avLst/>
          </a:prstGeom>
        </p:spPr>
        <p:txBody>
          <a:bodyPr lIns="0" tIns="0" rIns="0" bIns="0" rtlCol="0" anchor="t">
            <a:spAutoFit/>
          </a:bodyPr>
          <a:lstStyle/>
          <a:p>
            <a:pPr algn="ctr">
              <a:lnSpc>
                <a:spcPts val="12096"/>
              </a:lnSpc>
            </a:pPr>
            <a:r>
              <a:rPr lang="en-US" sz="7200">
                <a:solidFill>
                  <a:srgbClr val="000000"/>
                </a:solidFill>
                <a:latin typeface="Arial"/>
                <a:ea typeface="Arial"/>
                <a:cs typeface="Arial"/>
                <a:sym typeface="Arial"/>
              </a:rPr>
              <a:t>Ejemplo práctico</a:t>
            </a:r>
          </a:p>
        </p:txBody>
      </p:sp>
      <p:sp>
        <p:nvSpPr>
          <p:cNvPr id="3" name="TextBox 3"/>
          <p:cNvSpPr txBox="1"/>
          <p:nvPr/>
        </p:nvSpPr>
        <p:spPr>
          <a:xfrm>
            <a:off x="1641547" y="3272224"/>
            <a:ext cx="4709517" cy="833247"/>
          </a:xfrm>
          <a:prstGeom prst="rect">
            <a:avLst/>
          </a:prstGeom>
        </p:spPr>
        <p:txBody>
          <a:bodyPr lIns="0" tIns="0" rIns="0" bIns="0" rtlCol="0" anchor="t">
            <a:spAutoFit/>
          </a:bodyPr>
          <a:lstStyle/>
          <a:p>
            <a:pPr algn="l">
              <a:lnSpc>
                <a:spcPts val="6623"/>
              </a:lnSpc>
              <a:spcBef>
                <a:spcPct val="0"/>
              </a:spcBef>
            </a:pPr>
            <a:r>
              <a:rPr lang="en-US" sz="4800">
                <a:solidFill>
                  <a:srgbClr val="000000"/>
                </a:solidFill>
                <a:latin typeface="Arial"/>
                <a:ea typeface="Arial"/>
                <a:cs typeface="Arial"/>
                <a:sym typeface="Arial"/>
              </a:rPr>
              <a:t>Decimal a binario</a:t>
            </a:r>
          </a:p>
        </p:txBody>
      </p:sp>
      <p:sp>
        <p:nvSpPr>
          <p:cNvPr id="4" name="TextBox 4"/>
          <p:cNvSpPr txBox="1"/>
          <p:nvPr/>
        </p:nvSpPr>
        <p:spPr>
          <a:xfrm>
            <a:off x="12486203" y="3336803"/>
            <a:ext cx="4773097" cy="723138"/>
          </a:xfrm>
          <a:prstGeom prst="rect">
            <a:avLst/>
          </a:prstGeom>
        </p:spPr>
        <p:txBody>
          <a:bodyPr lIns="0" tIns="0" rIns="0" bIns="0" rtlCol="0" anchor="t">
            <a:spAutoFit/>
          </a:bodyPr>
          <a:lstStyle/>
          <a:p>
            <a:pPr algn="l">
              <a:lnSpc>
                <a:spcPts val="5795"/>
              </a:lnSpc>
              <a:spcBef>
                <a:spcPct val="0"/>
              </a:spcBef>
            </a:pPr>
            <a:r>
              <a:rPr lang="en-US" sz="4200">
                <a:solidFill>
                  <a:srgbClr val="000000"/>
                </a:solidFill>
                <a:latin typeface="Arial"/>
                <a:ea typeface="Arial"/>
                <a:cs typeface="Arial"/>
                <a:sym typeface="Arial"/>
              </a:rPr>
              <a:t>Numero decimal: 25</a:t>
            </a:r>
          </a:p>
        </p:txBody>
      </p:sp>
      <p:grpSp>
        <p:nvGrpSpPr>
          <p:cNvPr id="5" name="Group 5"/>
          <p:cNvGrpSpPr/>
          <p:nvPr/>
        </p:nvGrpSpPr>
        <p:grpSpPr>
          <a:xfrm>
            <a:off x="3563680" y="4598467"/>
            <a:ext cx="2232492" cy="1838519"/>
            <a:chOff x="0" y="0"/>
            <a:chExt cx="587981" cy="484219"/>
          </a:xfrm>
        </p:grpSpPr>
        <p:sp>
          <p:nvSpPr>
            <p:cNvPr id="6" name="Freeform 6"/>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7" name="TextBox 7"/>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8" name="Group 8"/>
          <p:cNvGrpSpPr/>
          <p:nvPr/>
        </p:nvGrpSpPr>
        <p:grpSpPr>
          <a:xfrm>
            <a:off x="5796172" y="4598467"/>
            <a:ext cx="2232492" cy="1838519"/>
            <a:chOff x="0" y="0"/>
            <a:chExt cx="587981" cy="484219"/>
          </a:xfrm>
        </p:grpSpPr>
        <p:sp>
          <p:nvSpPr>
            <p:cNvPr id="9" name="Freeform 9"/>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10" name="TextBox 10"/>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1" name="Group 11"/>
          <p:cNvGrpSpPr/>
          <p:nvPr/>
        </p:nvGrpSpPr>
        <p:grpSpPr>
          <a:xfrm>
            <a:off x="8028664" y="4598467"/>
            <a:ext cx="2232492" cy="1838519"/>
            <a:chOff x="0" y="0"/>
            <a:chExt cx="587981" cy="484219"/>
          </a:xfrm>
        </p:grpSpPr>
        <p:sp>
          <p:nvSpPr>
            <p:cNvPr id="12" name="Freeform 12"/>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13" name="TextBox 13"/>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4" name="Group 14"/>
          <p:cNvGrpSpPr/>
          <p:nvPr/>
        </p:nvGrpSpPr>
        <p:grpSpPr>
          <a:xfrm>
            <a:off x="10261157" y="4591038"/>
            <a:ext cx="2232492" cy="1838519"/>
            <a:chOff x="0" y="0"/>
            <a:chExt cx="587981" cy="484219"/>
          </a:xfrm>
        </p:grpSpPr>
        <p:sp>
          <p:nvSpPr>
            <p:cNvPr id="15" name="Freeform 15"/>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16" name="TextBox 16"/>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7" name="Group 17"/>
          <p:cNvGrpSpPr/>
          <p:nvPr/>
        </p:nvGrpSpPr>
        <p:grpSpPr>
          <a:xfrm>
            <a:off x="12490007" y="4598467"/>
            <a:ext cx="2232492" cy="1838519"/>
            <a:chOff x="0" y="0"/>
            <a:chExt cx="587981" cy="484219"/>
          </a:xfrm>
        </p:grpSpPr>
        <p:sp>
          <p:nvSpPr>
            <p:cNvPr id="18" name="Freeform 18"/>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19" name="TextBox 19"/>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sp>
        <p:nvSpPr>
          <p:cNvPr id="20" name="TextBox 20"/>
          <p:cNvSpPr txBox="1"/>
          <p:nvPr/>
        </p:nvSpPr>
        <p:spPr>
          <a:xfrm>
            <a:off x="4425609" y="5158825"/>
            <a:ext cx="508635"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25</a:t>
            </a:r>
          </a:p>
        </p:txBody>
      </p:sp>
      <p:sp>
        <p:nvSpPr>
          <p:cNvPr id="21" name="TextBox 21"/>
          <p:cNvSpPr txBox="1"/>
          <p:nvPr/>
        </p:nvSpPr>
        <p:spPr>
          <a:xfrm>
            <a:off x="6658101" y="5158825"/>
            <a:ext cx="508635"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12</a:t>
            </a:r>
          </a:p>
        </p:txBody>
      </p:sp>
      <p:sp>
        <p:nvSpPr>
          <p:cNvPr id="22" name="TextBox 22"/>
          <p:cNvSpPr txBox="1"/>
          <p:nvPr/>
        </p:nvSpPr>
        <p:spPr>
          <a:xfrm>
            <a:off x="8890593" y="5158825"/>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6</a:t>
            </a:r>
          </a:p>
        </p:txBody>
      </p:sp>
      <p:sp>
        <p:nvSpPr>
          <p:cNvPr id="23" name="TextBox 23"/>
          <p:cNvSpPr txBox="1"/>
          <p:nvPr/>
        </p:nvSpPr>
        <p:spPr>
          <a:xfrm>
            <a:off x="11250244" y="5151395"/>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3</a:t>
            </a:r>
          </a:p>
        </p:txBody>
      </p:sp>
      <p:sp>
        <p:nvSpPr>
          <p:cNvPr id="24" name="TextBox 24"/>
          <p:cNvSpPr txBox="1"/>
          <p:nvPr/>
        </p:nvSpPr>
        <p:spPr>
          <a:xfrm>
            <a:off x="13347221" y="5158825"/>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1</a:t>
            </a:r>
          </a:p>
        </p:txBody>
      </p:sp>
      <p:grpSp>
        <p:nvGrpSpPr>
          <p:cNvPr id="25" name="Group 25"/>
          <p:cNvGrpSpPr/>
          <p:nvPr/>
        </p:nvGrpSpPr>
        <p:grpSpPr>
          <a:xfrm>
            <a:off x="1028700" y="8536037"/>
            <a:ext cx="7135265" cy="722263"/>
            <a:chOff x="0" y="0"/>
            <a:chExt cx="1879247" cy="190226"/>
          </a:xfrm>
        </p:grpSpPr>
        <p:sp>
          <p:nvSpPr>
            <p:cNvPr id="26" name="Freeform 26"/>
            <p:cNvSpPr/>
            <p:nvPr/>
          </p:nvSpPr>
          <p:spPr>
            <a:xfrm>
              <a:off x="0" y="0"/>
              <a:ext cx="1879247" cy="190226"/>
            </a:xfrm>
            <a:custGeom>
              <a:avLst/>
              <a:gdLst/>
              <a:ahLst/>
              <a:cxnLst/>
              <a:rect l="l" t="t" r="r" b="b"/>
              <a:pathLst>
                <a:path w="1879247" h="190226">
                  <a:moveTo>
                    <a:pt x="0" y="0"/>
                  </a:moveTo>
                  <a:lnTo>
                    <a:pt x="1879247" y="0"/>
                  </a:lnTo>
                  <a:lnTo>
                    <a:pt x="1879247" y="190226"/>
                  </a:lnTo>
                  <a:lnTo>
                    <a:pt x="0" y="190226"/>
                  </a:lnTo>
                  <a:close/>
                </a:path>
              </a:pathLst>
            </a:custGeom>
            <a:solidFill>
              <a:srgbClr val="FF3333">
                <a:alpha val="69804"/>
              </a:srgbClr>
            </a:solidFill>
          </p:spPr>
          <p:txBody>
            <a:bodyPr/>
            <a:lstStyle/>
            <a:p>
              <a:endParaRPr lang="es-GT"/>
            </a:p>
          </p:txBody>
        </p:sp>
        <p:sp>
          <p:nvSpPr>
            <p:cNvPr id="27" name="TextBox 27"/>
            <p:cNvSpPr txBox="1"/>
            <p:nvPr/>
          </p:nvSpPr>
          <p:spPr>
            <a:xfrm>
              <a:off x="0" y="-47625"/>
              <a:ext cx="1879247" cy="237851"/>
            </a:xfrm>
            <a:prstGeom prst="rect">
              <a:avLst/>
            </a:prstGeom>
          </p:spPr>
          <p:txBody>
            <a:bodyPr lIns="50800" tIns="50800" rIns="50800" bIns="50800" rtlCol="0" anchor="ctr"/>
            <a:lstStyle/>
            <a:p>
              <a:pPr algn="ctr">
                <a:lnSpc>
                  <a:spcPts val="1932"/>
                </a:lnSpc>
              </a:pPr>
              <a:endParaRPr/>
            </a:p>
          </p:txBody>
        </p:sp>
      </p:grpSp>
      <p:grpSp>
        <p:nvGrpSpPr>
          <p:cNvPr id="28" name="Group 28"/>
          <p:cNvGrpSpPr/>
          <p:nvPr/>
        </p:nvGrpSpPr>
        <p:grpSpPr>
          <a:xfrm>
            <a:off x="10480030" y="8536037"/>
            <a:ext cx="6779270" cy="722263"/>
            <a:chOff x="0" y="0"/>
            <a:chExt cx="1785487" cy="190226"/>
          </a:xfrm>
        </p:grpSpPr>
        <p:sp>
          <p:nvSpPr>
            <p:cNvPr id="29" name="Freeform 29"/>
            <p:cNvSpPr/>
            <p:nvPr/>
          </p:nvSpPr>
          <p:spPr>
            <a:xfrm>
              <a:off x="0" y="0"/>
              <a:ext cx="1785487" cy="190226"/>
            </a:xfrm>
            <a:custGeom>
              <a:avLst/>
              <a:gdLst/>
              <a:ahLst/>
              <a:cxnLst/>
              <a:rect l="l" t="t" r="r" b="b"/>
              <a:pathLst>
                <a:path w="1785487" h="190226">
                  <a:moveTo>
                    <a:pt x="0" y="0"/>
                  </a:moveTo>
                  <a:lnTo>
                    <a:pt x="1785487" y="0"/>
                  </a:lnTo>
                  <a:lnTo>
                    <a:pt x="1785487" y="190226"/>
                  </a:lnTo>
                  <a:lnTo>
                    <a:pt x="0" y="190226"/>
                  </a:lnTo>
                  <a:close/>
                </a:path>
              </a:pathLst>
            </a:custGeom>
            <a:solidFill>
              <a:srgbClr val="0099FF">
                <a:alpha val="69804"/>
              </a:srgbClr>
            </a:solidFill>
          </p:spPr>
          <p:txBody>
            <a:bodyPr/>
            <a:lstStyle/>
            <a:p>
              <a:endParaRPr lang="es-GT"/>
            </a:p>
          </p:txBody>
        </p:sp>
        <p:sp>
          <p:nvSpPr>
            <p:cNvPr id="30" name="TextBox 30"/>
            <p:cNvSpPr txBox="1"/>
            <p:nvPr/>
          </p:nvSpPr>
          <p:spPr>
            <a:xfrm>
              <a:off x="0" y="-47625"/>
              <a:ext cx="1785487" cy="237851"/>
            </a:xfrm>
            <a:prstGeom prst="rect">
              <a:avLst/>
            </a:prstGeom>
          </p:spPr>
          <p:txBody>
            <a:bodyPr lIns="50800" tIns="50800" rIns="50800" bIns="50800" rtlCol="0" anchor="ctr"/>
            <a:lstStyle/>
            <a:p>
              <a:pPr algn="ctr">
                <a:lnSpc>
                  <a:spcPts val="1932"/>
                </a:lnSpc>
              </a:pPr>
              <a:endParaRPr/>
            </a:p>
          </p:txBody>
        </p:sp>
      </p:grpSp>
      <p:sp>
        <p:nvSpPr>
          <p:cNvPr id="31" name="TextBox 31"/>
          <p:cNvSpPr txBox="1"/>
          <p:nvPr/>
        </p:nvSpPr>
        <p:spPr>
          <a:xfrm>
            <a:off x="1387229" y="8538267"/>
            <a:ext cx="64290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Si el numero es impar colocar 1</a:t>
            </a:r>
          </a:p>
        </p:txBody>
      </p:sp>
      <p:sp>
        <p:nvSpPr>
          <p:cNvPr id="32" name="TextBox 32"/>
          <p:cNvSpPr txBox="1"/>
          <p:nvPr/>
        </p:nvSpPr>
        <p:spPr>
          <a:xfrm>
            <a:off x="10896377" y="8538267"/>
            <a:ext cx="5946577"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Si el numero es par colocar 0</a:t>
            </a:r>
          </a:p>
        </p:txBody>
      </p:sp>
      <p:grpSp>
        <p:nvGrpSpPr>
          <p:cNvPr id="33" name="Group 33"/>
          <p:cNvGrpSpPr/>
          <p:nvPr/>
        </p:nvGrpSpPr>
        <p:grpSpPr>
          <a:xfrm>
            <a:off x="3563680" y="6436986"/>
            <a:ext cx="2232492" cy="1838519"/>
            <a:chOff x="0" y="0"/>
            <a:chExt cx="587981" cy="484219"/>
          </a:xfrm>
        </p:grpSpPr>
        <p:sp>
          <p:nvSpPr>
            <p:cNvPr id="34" name="Freeform 34"/>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35" name="TextBox 35"/>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36" name="Group 36"/>
          <p:cNvGrpSpPr/>
          <p:nvPr/>
        </p:nvGrpSpPr>
        <p:grpSpPr>
          <a:xfrm>
            <a:off x="5796172" y="6436986"/>
            <a:ext cx="2232492" cy="1838519"/>
            <a:chOff x="0" y="0"/>
            <a:chExt cx="587981" cy="484219"/>
          </a:xfrm>
        </p:grpSpPr>
        <p:sp>
          <p:nvSpPr>
            <p:cNvPr id="37" name="Freeform 37"/>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38" name="TextBox 38"/>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39" name="Group 39"/>
          <p:cNvGrpSpPr/>
          <p:nvPr/>
        </p:nvGrpSpPr>
        <p:grpSpPr>
          <a:xfrm>
            <a:off x="8028664" y="6436986"/>
            <a:ext cx="2232492" cy="1838519"/>
            <a:chOff x="0" y="0"/>
            <a:chExt cx="587981" cy="484219"/>
          </a:xfrm>
        </p:grpSpPr>
        <p:sp>
          <p:nvSpPr>
            <p:cNvPr id="40" name="Freeform 40"/>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41" name="TextBox 41"/>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42" name="Group 42"/>
          <p:cNvGrpSpPr/>
          <p:nvPr/>
        </p:nvGrpSpPr>
        <p:grpSpPr>
          <a:xfrm>
            <a:off x="10261157" y="6429557"/>
            <a:ext cx="2232492" cy="1838519"/>
            <a:chOff x="0" y="0"/>
            <a:chExt cx="587981" cy="484219"/>
          </a:xfrm>
        </p:grpSpPr>
        <p:sp>
          <p:nvSpPr>
            <p:cNvPr id="43" name="Freeform 43"/>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44" name="TextBox 44"/>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45" name="Group 45"/>
          <p:cNvGrpSpPr/>
          <p:nvPr/>
        </p:nvGrpSpPr>
        <p:grpSpPr>
          <a:xfrm>
            <a:off x="12490007" y="6436986"/>
            <a:ext cx="2232492" cy="1838519"/>
            <a:chOff x="0" y="0"/>
            <a:chExt cx="587981" cy="484219"/>
          </a:xfrm>
        </p:grpSpPr>
        <p:sp>
          <p:nvSpPr>
            <p:cNvPr id="46" name="Freeform 46"/>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47" name="TextBox 47"/>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sp>
        <p:nvSpPr>
          <p:cNvPr id="48" name="TextBox 48"/>
          <p:cNvSpPr txBox="1"/>
          <p:nvPr/>
        </p:nvSpPr>
        <p:spPr>
          <a:xfrm>
            <a:off x="4552767" y="6997344"/>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1</a:t>
            </a:r>
          </a:p>
        </p:txBody>
      </p:sp>
      <p:sp>
        <p:nvSpPr>
          <p:cNvPr id="49" name="TextBox 49"/>
          <p:cNvSpPr txBox="1"/>
          <p:nvPr/>
        </p:nvSpPr>
        <p:spPr>
          <a:xfrm>
            <a:off x="6783439" y="6989915"/>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0</a:t>
            </a:r>
          </a:p>
        </p:txBody>
      </p:sp>
      <p:sp>
        <p:nvSpPr>
          <p:cNvPr id="50" name="TextBox 50"/>
          <p:cNvSpPr txBox="1"/>
          <p:nvPr/>
        </p:nvSpPr>
        <p:spPr>
          <a:xfrm>
            <a:off x="9015020" y="6989915"/>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0</a:t>
            </a:r>
          </a:p>
        </p:txBody>
      </p:sp>
      <p:sp>
        <p:nvSpPr>
          <p:cNvPr id="51" name="TextBox 51"/>
          <p:cNvSpPr txBox="1"/>
          <p:nvPr/>
        </p:nvSpPr>
        <p:spPr>
          <a:xfrm>
            <a:off x="11248423" y="6989915"/>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1</a:t>
            </a:r>
          </a:p>
        </p:txBody>
      </p:sp>
      <p:sp>
        <p:nvSpPr>
          <p:cNvPr id="52" name="TextBox 52"/>
          <p:cNvSpPr txBox="1"/>
          <p:nvPr/>
        </p:nvSpPr>
        <p:spPr>
          <a:xfrm>
            <a:off x="13345400" y="6997344"/>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90903" y="676275"/>
            <a:ext cx="7906193" cy="1446917"/>
          </a:xfrm>
          <a:prstGeom prst="rect">
            <a:avLst/>
          </a:prstGeom>
        </p:spPr>
        <p:txBody>
          <a:bodyPr lIns="0" tIns="0" rIns="0" bIns="0" rtlCol="0" anchor="t">
            <a:spAutoFit/>
          </a:bodyPr>
          <a:lstStyle/>
          <a:p>
            <a:pPr algn="ctr">
              <a:lnSpc>
                <a:spcPts val="12096"/>
              </a:lnSpc>
            </a:pPr>
            <a:r>
              <a:rPr lang="en-US" sz="7200">
                <a:solidFill>
                  <a:srgbClr val="000000"/>
                </a:solidFill>
                <a:latin typeface="Arial"/>
                <a:ea typeface="Arial"/>
                <a:cs typeface="Arial"/>
                <a:sym typeface="Arial"/>
              </a:rPr>
              <a:t>Ejemplo práctico</a:t>
            </a:r>
          </a:p>
        </p:txBody>
      </p:sp>
      <p:sp>
        <p:nvSpPr>
          <p:cNvPr id="3" name="TextBox 3"/>
          <p:cNvSpPr txBox="1"/>
          <p:nvPr/>
        </p:nvSpPr>
        <p:spPr>
          <a:xfrm>
            <a:off x="1641547" y="3272224"/>
            <a:ext cx="4709517" cy="833247"/>
          </a:xfrm>
          <a:prstGeom prst="rect">
            <a:avLst/>
          </a:prstGeom>
        </p:spPr>
        <p:txBody>
          <a:bodyPr lIns="0" tIns="0" rIns="0" bIns="0" rtlCol="0" anchor="t">
            <a:spAutoFit/>
          </a:bodyPr>
          <a:lstStyle/>
          <a:p>
            <a:pPr algn="l">
              <a:lnSpc>
                <a:spcPts val="6623"/>
              </a:lnSpc>
              <a:spcBef>
                <a:spcPct val="0"/>
              </a:spcBef>
            </a:pPr>
            <a:r>
              <a:rPr lang="en-US" sz="4800">
                <a:solidFill>
                  <a:srgbClr val="000000"/>
                </a:solidFill>
                <a:latin typeface="Arial"/>
                <a:ea typeface="Arial"/>
                <a:cs typeface="Arial"/>
                <a:sym typeface="Arial"/>
              </a:rPr>
              <a:t>Decimal a binario</a:t>
            </a:r>
          </a:p>
        </p:txBody>
      </p:sp>
      <p:sp>
        <p:nvSpPr>
          <p:cNvPr id="4" name="TextBox 4"/>
          <p:cNvSpPr txBox="1"/>
          <p:nvPr/>
        </p:nvSpPr>
        <p:spPr>
          <a:xfrm>
            <a:off x="12486203" y="3336803"/>
            <a:ext cx="4773097" cy="723138"/>
          </a:xfrm>
          <a:prstGeom prst="rect">
            <a:avLst/>
          </a:prstGeom>
        </p:spPr>
        <p:txBody>
          <a:bodyPr lIns="0" tIns="0" rIns="0" bIns="0" rtlCol="0" anchor="t">
            <a:spAutoFit/>
          </a:bodyPr>
          <a:lstStyle/>
          <a:p>
            <a:pPr algn="l">
              <a:lnSpc>
                <a:spcPts val="5795"/>
              </a:lnSpc>
              <a:spcBef>
                <a:spcPct val="0"/>
              </a:spcBef>
            </a:pPr>
            <a:r>
              <a:rPr lang="en-US" sz="4200">
                <a:solidFill>
                  <a:srgbClr val="000000"/>
                </a:solidFill>
                <a:latin typeface="Arial"/>
                <a:ea typeface="Arial"/>
                <a:cs typeface="Arial"/>
                <a:sym typeface="Arial"/>
              </a:rPr>
              <a:t>Numero decimal: 25</a:t>
            </a:r>
          </a:p>
        </p:txBody>
      </p:sp>
      <p:grpSp>
        <p:nvGrpSpPr>
          <p:cNvPr id="5" name="Group 5"/>
          <p:cNvGrpSpPr/>
          <p:nvPr/>
        </p:nvGrpSpPr>
        <p:grpSpPr>
          <a:xfrm>
            <a:off x="2930767" y="5408300"/>
            <a:ext cx="2232492" cy="1838519"/>
            <a:chOff x="0" y="0"/>
            <a:chExt cx="587981" cy="484219"/>
          </a:xfrm>
        </p:grpSpPr>
        <p:sp>
          <p:nvSpPr>
            <p:cNvPr id="6" name="Freeform 6"/>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7" name="TextBox 7"/>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8" name="Group 8"/>
          <p:cNvGrpSpPr/>
          <p:nvPr/>
        </p:nvGrpSpPr>
        <p:grpSpPr>
          <a:xfrm>
            <a:off x="5163259" y="5408300"/>
            <a:ext cx="2232492" cy="1838519"/>
            <a:chOff x="0" y="0"/>
            <a:chExt cx="587981" cy="484219"/>
          </a:xfrm>
        </p:grpSpPr>
        <p:sp>
          <p:nvSpPr>
            <p:cNvPr id="9" name="Freeform 9"/>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10" name="TextBox 10"/>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1" name="Group 11"/>
          <p:cNvGrpSpPr/>
          <p:nvPr/>
        </p:nvGrpSpPr>
        <p:grpSpPr>
          <a:xfrm>
            <a:off x="7395752" y="5408300"/>
            <a:ext cx="2232492" cy="1838519"/>
            <a:chOff x="0" y="0"/>
            <a:chExt cx="587981" cy="484219"/>
          </a:xfrm>
        </p:grpSpPr>
        <p:sp>
          <p:nvSpPr>
            <p:cNvPr id="12" name="Freeform 12"/>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13" name="TextBox 13"/>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4" name="Group 14"/>
          <p:cNvGrpSpPr/>
          <p:nvPr/>
        </p:nvGrpSpPr>
        <p:grpSpPr>
          <a:xfrm>
            <a:off x="9628244" y="5400871"/>
            <a:ext cx="2232492" cy="1838519"/>
            <a:chOff x="0" y="0"/>
            <a:chExt cx="587981" cy="484219"/>
          </a:xfrm>
        </p:grpSpPr>
        <p:sp>
          <p:nvSpPr>
            <p:cNvPr id="15" name="Freeform 15"/>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1F497D">
                <a:alpha val="28627"/>
              </a:srgbClr>
            </a:solidFill>
          </p:spPr>
          <p:txBody>
            <a:bodyPr/>
            <a:lstStyle/>
            <a:p>
              <a:endParaRPr lang="es-GT"/>
            </a:p>
          </p:txBody>
        </p:sp>
        <p:sp>
          <p:nvSpPr>
            <p:cNvPr id="16" name="TextBox 16"/>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17" name="Group 17"/>
          <p:cNvGrpSpPr/>
          <p:nvPr/>
        </p:nvGrpSpPr>
        <p:grpSpPr>
          <a:xfrm>
            <a:off x="11857094" y="5408300"/>
            <a:ext cx="2232492" cy="1838519"/>
            <a:chOff x="0" y="0"/>
            <a:chExt cx="587981" cy="484219"/>
          </a:xfrm>
        </p:grpSpPr>
        <p:sp>
          <p:nvSpPr>
            <p:cNvPr id="18" name="Freeform 18"/>
            <p:cNvSpPr/>
            <p:nvPr/>
          </p:nvSpPr>
          <p:spPr>
            <a:xfrm>
              <a:off x="0" y="0"/>
              <a:ext cx="587982" cy="484219"/>
            </a:xfrm>
            <a:custGeom>
              <a:avLst/>
              <a:gdLst/>
              <a:ahLst/>
              <a:cxnLst/>
              <a:rect l="l" t="t" r="r" b="b"/>
              <a:pathLst>
                <a:path w="587982" h="484219">
                  <a:moveTo>
                    <a:pt x="0" y="0"/>
                  </a:moveTo>
                  <a:lnTo>
                    <a:pt x="587982" y="0"/>
                  </a:lnTo>
                  <a:lnTo>
                    <a:pt x="587982" y="484219"/>
                  </a:lnTo>
                  <a:lnTo>
                    <a:pt x="0" y="484219"/>
                  </a:lnTo>
                  <a:close/>
                </a:path>
              </a:pathLst>
            </a:custGeom>
            <a:solidFill>
              <a:srgbClr val="393E46">
                <a:alpha val="28627"/>
              </a:srgbClr>
            </a:solidFill>
          </p:spPr>
          <p:txBody>
            <a:bodyPr/>
            <a:lstStyle/>
            <a:p>
              <a:endParaRPr lang="es-GT"/>
            </a:p>
          </p:txBody>
        </p:sp>
        <p:sp>
          <p:nvSpPr>
            <p:cNvPr id="19" name="TextBox 19"/>
            <p:cNvSpPr txBox="1"/>
            <p:nvPr/>
          </p:nvSpPr>
          <p:spPr>
            <a:xfrm>
              <a:off x="0" y="-47625"/>
              <a:ext cx="587981" cy="531844"/>
            </a:xfrm>
            <a:prstGeom prst="rect">
              <a:avLst/>
            </a:prstGeom>
          </p:spPr>
          <p:txBody>
            <a:bodyPr lIns="50800" tIns="50800" rIns="50800" bIns="50800" rtlCol="0" anchor="ctr"/>
            <a:lstStyle/>
            <a:p>
              <a:pPr algn="ctr">
                <a:lnSpc>
                  <a:spcPts val="1932"/>
                </a:lnSpc>
              </a:pPr>
              <a:endParaRPr/>
            </a:p>
          </p:txBody>
        </p:sp>
      </p:grpSp>
      <p:grpSp>
        <p:nvGrpSpPr>
          <p:cNvPr id="20" name="Group 20"/>
          <p:cNvGrpSpPr/>
          <p:nvPr/>
        </p:nvGrpSpPr>
        <p:grpSpPr>
          <a:xfrm>
            <a:off x="10414368" y="7379125"/>
            <a:ext cx="6844932" cy="1510209"/>
            <a:chOff x="0" y="0"/>
            <a:chExt cx="1802780" cy="397750"/>
          </a:xfrm>
        </p:grpSpPr>
        <p:sp>
          <p:nvSpPr>
            <p:cNvPr id="21" name="Freeform 21"/>
            <p:cNvSpPr/>
            <p:nvPr/>
          </p:nvSpPr>
          <p:spPr>
            <a:xfrm>
              <a:off x="0" y="0"/>
              <a:ext cx="1802780" cy="397750"/>
            </a:xfrm>
            <a:custGeom>
              <a:avLst/>
              <a:gdLst/>
              <a:ahLst/>
              <a:cxnLst/>
              <a:rect l="l" t="t" r="r" b="b"/>
              <a:pathLst>
                <a:path w="1802780" h="397750">
                  <a:moveTo>
                    <a:pt x="0" y="0"/>
                  </a:moveTo>
                  <a:lnTo>
                    <a:pt x="1802780" y="0"/>
                  </a:lnTo>
                  <a:lnTo>
                    <a:pt x="1802780" y="397750"/>
                  </a:lnTo>
                  <a:lnTo>
                    <a:pt x="0" y="397750"/>
                  </a:lnTo>
                  <a:close/>
                </a:path>
              </a:pathLst>
            </a:custGeom>
            <a:solidFill>
              <a:srgbClr val="0099FF">
                <a:alpha val="69804"/>
              </a:srgbClr>
            </a:solidFill>
          </p:spPr>
          <p:txBody>
            <a:bodyPr/>
            <a:lstStyle/>
            <a:p>
              <a:endParaRPr lang="es-GT"/>
            </a:p>
          </p:txBody>
        </p:sp>
        <p:sp>
          <p:nvSpPr>
            <p:cNvPr id="22" name="TextBox 22"/>
            <p:cNvSpPr txBox="1"/>
            <p:nvPr/>
          </p:nvSpPr>
          <p:spPr>
            <a:xfrm>
              <a:off x="0" y="-47625"/>
              <a:ext cx="1802780" cy="445375"/>
            </a:xfrm>
            <a:prstGeom prst="rect">
              <a:avLst/>
            </a:prstGeom>
          </p:spPr>
          <p:txBody>
            <a:bodyPr lIns="50800" tIns="50800" rIns="50800" bIns="50800" rtlCol="0" anchor="ctr"/>
            <a:lstStyle/>
            <a:p>
              <a:pPr algn="ctr">
                <a:lnSpc>
                  <a:spcPts val="1932"/>
                </a:lnSpc>
              </a:pPr>
              <a:endParaRPr/>
            </a:p>
          </p:txBody>
        </p:sp>
      </p:grpSp>
      <p:sp>
        <p:nvSpPr>
          <p:cNvPr id="23" name="TextBox 23"/>
          <p:cNvSpPr txBox="1"/>
          <p:nvPr/>
        </p:nvSpPr>
        <p:spPr>
          <a:xfrm>
            <a:off x="10869827" y="7461003"/>
            <a:ext cx="6153487" cy="126072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Luego de colocar los 0s o 1s se lee de derecha a izquierda</a:t>
            </a:r>
          </a:p>
        </p:txBody>
      </p:sp>
      <p:sp>
        <p:nvSpPr>
          <p:cNvPr id="24" name="TextBox 24"/>
          <p:cNvSpPr txBox="1"/>
          <p:nvPr/>
        </p:nvSpPr>
        <p:spPr>
          <a:xfrm>
            <a:off x="3919854" y="5968658"/>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1</a:t>
            </a:r>
          </a:p>
        </p:txBody>
      </p:sp>
      <p:sp>
        <p:nvSpPr>
          <p:cNvPr id="25" name="TextBox 25"/>
          <p:cNvSpPr txBox="1"/>
          <p:nvPr/>
        </p:nvSpPr>
        <p:spPr>
          <a:xfrm>
            <a:off x="6150526" y="5961228"/>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0</a:t>
            </a:r>
          </a:p>
        </p:txBody>
      </p:sp>
      <p:sp>
        <p:nvSpPr>
          <p:cNvPr id="26" name="TextBox 26"/>
          <p:cNvSpPr txBox="1"/>
          <p:nvPr/>
        </p:nvSpPr>
        <p:spPr>
          <a:xfrm>
            <a:off x="8382107" y="5961228"/>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0</a:t>
            </a:r>
          </a:p>
        </p:txBody>
      </p:sp>
      <p:sp>
        <p:nvSpPr>
          <p:cNvPr id="27" name="TextBox 27"/>
          <p:cNvSpPr txBox="1"/>
          <p:nvPr/>
        </p:nvSpPr>
        <p:spPr>
          <a:xfrm>
            <a:off x="10615510" y="5961228"/>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1</a:t>
            </a:r>
          </a:p>
        </p:txBody>
      </p:sp>
      <p:sp>
        <p:nvSpPr>
          <p:cNvPr id="28" name="TextBox 28"/>
          <p:cNvSpPr txBox="1"/>
          <p:nvPr/>
        </p:nvSpPr>
        <p:spPr>
          <a:xfrm>
            <a:off x="12712487" y="5968658"/>
            <a:ext cx="254318" cy="632079"/>
          </a:xfrm>
          <a:prstGeom prst="rect">
            <a:avLst/>
          </a:prstGeom>
        </p:spPr>
        <p:txBody>
          <a:bodyPr lIns="0" tIns="0" rIns="0" bIns="0" rtlCol="0" anchor="t">
            <a:spAutoFit/>
          </a:bodyPr>
          <a:lstStyle/>
          <a:p>
            <a:pPr algn="l">
              <a:lnSpc>
                <a:spcPts val="4967"/>
              </a:lnSpc>
              <a:spcBef>
                <a:spcPct val="0"/>
              </a:spcBef>
            </a:pPr>
            <a:r>
              <a:rPr lang="en-US" sz="3600">
                <a:solidFill>
                  <a:srgbClr val="000000"/>
                </a:solidFill>
                <a:latin typeface="Arial"/>
                <a:ea typeface="Arial"/>
                <a:cs typeface="Arial"/>
                <a:sym typeface="Arial"/>
              </a:rPr>
              <a:t>1</a:t>
            </a:r>
          </a:p>
        </p:txBody>
      </p:sp>
      <p:sp>
        <p:nvSpPr>
          <p:cNvPr id="29" name="AutoShape 29"/>
          <p:cNvSpPr/>
          <p:nvPr/>
        </p:nvSpPr>
        <p:spPr>
          <a:xfrm>
            <a:off x="2930767" y="8134230"/>
            <a:ext cx="7483601" cy="0"/>
          </a:xfrm>
          <a:prstGeom prst="line">
            <a:avLst/>
          </a:prstGeom>
          <a:ln w="104775" cap="flat">
            <a:solidFill>
              <a:srgbClr val="000000"/>
            </a:solidFill>
            <a:prstDash val="solid"/>
            <a:headEnd type="triangle" w="lg" len="med"/>
            <a:tailEnd type="none" w="sm" len="sm"/>
          </a:ln>
        </p:spPr>
        <p:txBody>
          <a:bodyPr/>
          <a:lstStyle/>
          <a:p>
            <a:endParaRPr lang="es-GT"/>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12791" y="676275"/>
            <a:ext cx="7906193" cy="1446917"/>
          </a:xfrm>
          <a:prstGeom prst="rect">
            <a:avLst/>
          </a:prstGeom>
        </p:spPr>
        <p:txBody>
          <a:bodyPr lIns="0" tIns="0" rIns="0" bIns="0" rtlCol="0" anchor="t">
            <a:spAutoFit/>
          </a:bodyPr>
          <a:lstStyle/>
          <a:p>
            <a:pPr algn="ctr">
              <a:lnSpc>
                <a:spcPts val="12096"/>
              </a:lnSpc>
            </a:pPr>
            <a:r>
              <a:rPr lang="en-US" sz="7200">
                <a:solidFill>
                  <a:srgbClr val="000000"/>
                </a:solidFill>
                <a:latin typeface="Arial"/>
                <a:ea typeface="Arial"/>
                <a:cs typeface="Arial"/>
                <a:sym typeface="Arial"/>
              </a:rPr>
              <a:t>Ejemplo práctico</a:t>
            </a:r>
          </a:p>
        </p:txBody>
      </p:sp>
      <p:sp>
        <p:nvSpPr>
          <p:cNvPr id="3" name="TextBox 3"/>
          <p:cNvSpPr txBox="1"/>
          <p:nvPr/>
        </p:nvSpPr>
        <p:spPr>
          <a:xfrm>
            <a:off x="1028700" y="3272224"/>
            <a:ext cx="4709517" cy="833247"/>
          </a:xfrm>
          <a:prstGeom prst="rect">
            <a:avLst/>
          </a:prstGeom>
        </p:spPr>
        <p:txBody>
          <a:bodyPr lIns="0" tIns="0" rIns="0" bIns="0" rtlCol="0" anchor="t">
            <a:spAutoFit/>
          </a:bodyPr>
          <a:lstStyle/>
          <a:p>
            <a:pPr algn="l">
              <a:lnSpc>
                <a:spcPts val="6623"/>
              </a:lnSpc>
              <a:spcBef>
                <a:spcPct val="0"/>
              </a:spcBef>
            </a:pPr>
            <a:r>
              <a:rPr lang="en-US" sz="4800">
                <a:solidFill>
                  <a:srgbClr val="000000"/>
                </a:solidFill>
                <a:latin typeface="Arial"/>
                <a:ea typeface="Arial"/>
                <a:cs typeface="Arial"/>
                <a:sym typeface="Arial"/>
              </a:rPr>
              <a:t>Decimal a binario</a:t>
            </a:r>
          </a:p>
        </p:txBody>
      </p:sp>
      <p:sp>
        <p:nvSpPr>
          <p:cNvPr id="4" name="TextBox 4"/>
          <p:cNvSpPr txBox="1"/>
          <p:nvPr/>
        </p:nvSpPr>
        <p:spPr>
          <a:xfrm>
            <a:off x="12486203" y="3336803"/>
            <a:ext cx="4773097" cy="723138"/>
          </a:xfrm>
          <a:prstGeom prst="rect">
            <a:avLst/>
          </a:prstGeom>
        </p:spPr>
        <p:txBody>
          <a:bodyPr lIns="0" tIns="0" rIns="0" bIns="0" rtlCol="0" anchor="t">
            <a:spAutoFit/>
          </a:bodyPr>
          <a:lstStyle/>
          <a:p>
            <a:pPr algn="l">
              <a:lnSpc>
                <a:spcPts val="5795"/>
              </a:lnSpc>
              <a:spcBef>
                <a:spcPct val="0"/>
              </a:spcBef>
            </a:pPr>
            <a:r>
              <a:rPr lang="en-US" sz="4200">
                <a:solidFill>
                  <a:srgbClr val="000000"/>
                </a:solidFill>
                <a:latin typeface="Arial"/>
                <a:ea typeface="Arial"/>
                <a:cs typeface="Arial"/>
                <a:sym typeface="Arial"/>
              </a:rPr>
              <a:t>Numero decimal: 25</a:t>
            </a:r>
          </a:p>
        </p:txBody>
      </p:sp>
      <p:grpSp>
        <p:nvGrpSpPr>
          <p:cNvPr id="5" name="Group 5"/>
          <p:cNvGrpSpPr/>
          <p:nvPr/>
        </p:nvGrpSpPr>
        <p:grpSpPr>
          <a:xfrm>
            <a:off x="3343855" y="5362771"/>
            <a:ext cx="11600291" cy="1006799"/>
            <a:chOff x="0" y="0"/>
            <a:chExt cx="3055221" cy="265165"/>
          </a:xfrm>
        </p:grpSpPr>
        <p:sp>
          <p:nvSpPr>
            <p:cNvPr id="6" name="Freeform 6"/>
            <p:cNvSpPr/>
            <p:nvPr/>
          </p:nvSpPr>
          <p:spPr>
            <a:xfrm>
              <a:off x="0" y="0"/>
              <a:ext cx="3055221" cy="265165"/>
            </a:xfrm>
            <a:custGeom>
              <a:avLst/>
              <a:gdLst/>
              <a:ahLst/>
              <a:cxnLst/>
              <a:rect l="l" t="t" r="r" b="b"/>
              <a:pathLst>
                <a:path w="3055221" h="265165">
                  <a:moveTo>
                    <a:pt x="0" y="0"/>
                  </a:moveTo>
                  <a:lnTo>
                    <a:pt x="3055221" y="0"/>
                  </a:lnTo>
                  <a:lnTo>
                    <a:pt x="3055221" y="265165"/>
                  </a:lnTo>
                  <a:lnTo>
                    <a:pt x="0" y="265165"/>
                  </a:lnTo>
                  <a:close/>
                </a:path>
              </a:pathLst>
            </a:custGeom>
            <a:solidFill>
              <a:srgbClr val="FF3333">
                <a:alpha val="69804"/>
              </a:srgbClr>
            </a:solidFill>
          </p:spPr>
          <p:txBody>
            <a:bodyPr/>
            <a:lstStyle/>
            <a:p>
              <a:endParaRPr lang="es-GT"/>
            </a:p>
          </p:txBody>
        </p:sp>
        <p:sp>
          <p:nvSpPr>
            <p:cNvPr id="7" name="TextBox 7"/>
            <p:cNvSpPr txBox="1"/>
            <p:nvPr/>
          </p:nvSpPr>
          <p:spPr>
            <a:xfrm>
              <a:off x="0" y="-47625"/>
              <a:ext cx="3055221" cy="312790"/>
            </a:xfrm>
            <a:prstGeom prst="rect">
              <a:avLst/>
            </a:prstGeom>
          </p:spPr>
          <p:txBody>
            <a:bodyPr lIns="50800" tIns="50800" rIns="50800" bIns="50800" rtlCol="0" anchor="ctr"/>
            <a:lstStyle/>
            <a:p>
              <a:pPr algn="ctr">
                <a:lnSpc>
                  <a:spcPts val="1932"/>
                </a:lnSpc>
              </a:pPr>
              <a:endParaRPr/>
            </a:p>
          </p:txBody>
        </p:sp>
      </p:grpSp>
      <p:sp>
        <p:nvSpPr>
          <p:cNvPr id="8" name="TextBox 8"/>
          <p:cNvSpPr txBox="1"/>
          <p:nvPr/>
        </p:nvSpPr>
        <p:spPr>
          <a:xfrm>
            <a:off x="3752433" y="5385157"/>
            <a:ext cx="10783134" cy="857250"/>
          </a:xfrm>
          <a:prstGeom prst="rect">
            <a:avLst/>
          </a:prstGeom>
        </p:spPr>
        <p:txBody>
          <a:bodyPr lIns="0" tIns="0" rIns="0" bIns="0" rtlCol="0" anchor="t">
            <a:spAutoFit/>
          </a:bodyPr>
          <a:lstStyle/>
          <a:p>
            <a:pPr algn="l">
              <a:lnSpc>
                <a:spcPts val="6899"/>
              </a:lnSpc>
              <a:spcBef>
                <a:spcPct val="0"/>
              </a:spcBef>
            </a:pPr>
            <a:r>
              <a:rPr lang="en-US" sz="4999">
                <a:solidFill>
                  <a:srgbClr val="000000"/>
                </a:solidFill>
                <a:latin typeface="Arial"/>
                <a:ea typeface="Arial"/>
                <a:cs typeface="Arial"/>
                <a:sym typeface="Arial"/>
              </a:rPr>
              <a:t>Numero decimal 25 = 1 1 0 0 1 binario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094955" y="1664846"/>
            <a:ext cx="2098100" cy="2831411"/>
            <a:chOff x="0" y="0"/>
            <a:chExt cx="2797467" cy="3775215"/>
          </a:xfrm>
        </p:grpSpPr>
        <p:sp>
          <p:nvSpPr>
            <p:cNvPr id="3" name="Freeform 3"/>
            <p:cNvSpPr/>
            <p:nvPr/>
          </p:nvSpPr>
          <p:spPr>
            <a:xfrm>
              <a:off x="0" y="0"/>
              <a:ext cx="2797429" cy="3775202"/>
            </a:xfrm>
            <a:custGeom>
              <a:avLst/>
              <a:gdLst/>
              <a:ahLst/>
              <a:cxnLst/>
              <a:rect l="l" t="t" r="r" b="b"/>
              <a:pathLst>
                <a:path w="2797429" h="3775202">
                  <a:moveTo>
                    <a:pt x="0" y="0"/>
                  </a:moveTo>
                  <a:lnTo>
                    <a:pt x="2797429" y="0"/>
                  </a:lnTo>
                  <a:lnTo>
                    <a:pt x="2797429" y="3775202"/>
                  </a:lnTo>
                  <a:lnTo>
                    <a:pt x="0" y="3775202"/>
                  </a:lnTo>
                  <a:lnTo>
                    <a:pt x="0" y="0"/>
                  </a:lnTo>
                  <a:close/>
                </a:path>
              </a:pathLst>
            </a:custGeom>
            <a:blipFill>
              <a:blip r:embed="rId3"/>
              <a:stretch>
                <a:fillRect r="-1"/>
              </a:stretch>
            </a:blipFill>
          </p:spPr>
          <p:txBody>
            <a:bodyPr/>
            <a:lstStyle/>
            <a:p>
              <a:endParaRPr lang="es-GT"/>
            </a:p>
          </p:txBody>
        </p:sp>
      </p:grpSp>
      <p:sp>
        <p:nvSpPr>
          <p:cNvPr id="4" name="TextBox 4"/>
          <p:cNvSpPr txBox="1"/>
          <p:nvPr/>
        </p:nvSpPr>
        <p:spPr>
          <a:xfrm>
            <a:off x="3689528" y="4657725"/>
            <a:ext cx="10908954" cy="1579245"/>
          </a:xfrm>
          <a:prstGeom prst="rect">
            <a:avLst/>
          </a:prstGeom>
        </p:spPr>
        <p:txBody>
          <a:bodyPr lIns="0" tIns="0" rIns="0" bIns="0" rtlCol="0" anchor="t">
            <a:spAutoFit/>
          </a:bodyPr>
          <a:lstStyle/>
          <a:p>
            <a:pPr algn="ctr">
              <a:lnSpc>
                <a:spcPts val="12096"/>
              </a:lnSpc>
            </a:pPr>
            <a:r>
              <a:rPr lang="en-US" sz="7200">
                <a:solidFill>
                  <a:srgbClr val="000000"/>
                </a:solidFill>
                <a:latin typeface="Arial"/>
                <a:ea typeface="Arial"/>
                <a:cs typeface="Arial"/>
                <a:sym typeface="Arial"/>
              </a:rPr>
              <a:t>¡Gracias por su atención!</a:t>
            </a:r>
          </a:p>
        </p:txBody>
      </p:sp>
      <p:sp>
        <p:nvSpPr>
          <p:cNvPr id="5" name="TextBox 5"/>
          <p:cNvSpPr txBox="1"/>
          <p:nvPr/>
        </p:nvSpPr>
        <p:spPr>
          <a:xfrm>
            <a:off x="1169670" y="6813890"/>
            <a:ext cx="15948670" cy="1442085"/>
          </a:xfrm>
          <a:prstGeom prst="rect">
            <a:avLst/>
          </a:prstGeom>
        </p:spPr>
        <p:txBody>
          <a:bodyPr lIns="0" tIns="0" rIns="0" bIns="0" rtlCol="0" anchor="t">
            <a:spAutoFit/>
          </a:bodyPr>
          <a:lstStyle/>
          <a:p>
            <a:pPr algn="ctr">
              <a:lnSpc>
                <a:spcPts val="6048"/>
              </a:lnSpc>
            </a:pPr>
            <a:r>
              <a:rPr lang="en-US" sz="3600">
                <a:solidFill>
                  <a:srgbClr val="000000"/>
                </a:solidFill>
                <a:latin typeface="Arial"/>
                <a:ea typeface="Arial"/>
                <a:cs typeface="Arial"/>
                <a:sym typeface="Arial"/>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2046</Words>
  <Application>Microsoft Office PowerPoint</Application>
  <PresentationFormat>Personalizado</PresentationFormat>
  <Paragraphs>279</Paragraphs>
  <Slides>35</Slides>
  <Notes>35</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35</vt:i4>
      </vt:variant>
    </vt:vector>
  </HeadingPairs>
  <TitlesOfParts>
    <vt:vector size="44" baseType="lpstr">
      <vt:lpstr>Calibri</vt:lpstr>
      <vt:lpstr>Open Sans Bold</vt:lpstr>
      <vt:lpstr>Arial</vt:lpstr>
      <vt:lpstr>Roboto</vt:lpstr>
      <vt:lpstr>Open Sans</vt:lpstr>
      <vt:lpstr>Roboto Bold</vt:lpstr>
      <vt:lpstr>Calibri (MS)</vt:lpstr>
      <vt:lpstr>Impact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 4 - Presentacion.pptx</dc:title>
  <cp:lastModifiedBy>Fernando Guzman</cp:lastModifiedBy>
  <cp:revision>2</cp:revision>
  <dcterms:created xsi:type="dcterms:W3CDTF">2006-08-16T00:00:00Z</dcterms:created>
  <dcterms:modified xsi:type="dcterms:W3CDTF">2026-05-08T05:59:36Z</dcterms:modified>
  <dc:identifier>DAHCkj8t6dc</dc:identifier>
</cp:coreProperties>
</file>