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Arial Bold" panose="020B0604020202020204" charset="0"/>
      <p:regular r:id="rId25"/>
    </p:embeddedFont>
    <p:embeddedFont>
      <p:font typeface="Calibri (MS)" panose="020B0604020202020204" charset="0"/>
      <p:regular r:id="rId26"/>
    </p:embeddedFont>
    <p:embeddedFont>
      <p:font typeface="Open Sans" panose="020B0606030504020204" pitchFamily="34" charset="0"/>
      <p:regular r:id="rId27"/>
    </p:embeddedFont>
    <p:embeddedFont>
      <p:font typeface="Open Sans Bold" panose="020B0806030504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_WI8Uvgn-I&amp;list=PLNgaBT67nukSaEQL8JNksizGqOIYnanPT&amp;index=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733759" y="1917037"/>
            <a:ext cx="4286641" cy="69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0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Sábado - xx/0x/2026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44015" y="2647007"/>
            <a:ext cx="2866130" cy="69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0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10:30 horas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06890" y="4803238"/>
            <a:ext cx="15674221" cy="936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62"/>
              </a:lnSpc>
            </a:pPr>
            <a:r>
              <a:rPr lang="en-US" sz="4798" b="1">
                <a:solidFill>
                  <a:srgbClr val="393E4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 a los Algoritmos y Flujo de Datos Sec 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33139" y="5853965"/>
            <a:ext cx="5021722" cy="794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8"/>
              </a:lnSpc>
            </a:pPr>
            <a:r>
              <a:rPr lang="en-US" sz="39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</a:t>
            </a: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 tutor</a:t>
            </a:r>
            <a:endParaRPr lang="en-US" sz="39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29882" y="714213"/>
            <a:ext cx="11029418" cy="1576035"/>
            <a:chOff x="0" y="0"/>
            <a:chExt cx="14705891" cy="21013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05665" cy="2101342"/>
            </a:xfrm>
            <a:custGeom>
              <a:avLst/>
              <a:gdLst/>
              <a:ahLst/>
              <a:cxnLst/>
              <a:rect l="l" t="t" r="r" b="b"/>
              <a:pathLst>
                <a:path w="14705665" h="2101342">
                  <a:moveTo>
                    <a:pt x="0" y="0"/>
                  </a:moveTo>
                  <a:lnTo>
                    <a:pt x="14705665" y="0"/>
                  </a:lnTo>
                  <a:lnTo>
                    <a:pt x="14705665" y="2101342"/>
                  </a:lnTo>
                  <a:lnTo>
                    <a:pt x="0" y="2101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2" r="-83" b="-1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129305" y="2318823"/>
            <a:ext cx="12029399" cy="331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40"/>
              </a:lnSpc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y organización VNA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779362"/>
            <a:ext cx="9764468" cy="69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0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Introducción a los Algoritmos y Flujo de Datos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834189"/>
            <a:ext cx="5401123" cy="444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326317"/>
            <a:ext cx="2755849" cy="444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Facultad de Ingeniería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813797"/>
            <a:ext cx="4956724" cy="444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8660"/>
            <a:ext cx="2566387" cy="125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07"/>
              </a:lnSpc>
            </a:pPr>
            <a:r>
              <a:rPr lang="en-US" sz="5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117241" y="708660"/>
            <a:ext cx="3142059" cy="125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407"/>
              </a:lnSpc>
            </a:pPr>
            <a:r>
              <a:rPr lang="en-US" sz="5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11898" y="5066214"/>
            <a:ext cx="4354293" cy="69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0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de sistema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11898" y="6208328"/>
            <a:ext cx="4821888" cy="69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0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de aplicación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11898" y="7348509"/>
            <a:ext cx="5512149" cy="69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0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de programación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11898" y="8488699"/>
            <a:ext cx="9720510" cy="69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0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Aplicaciones de Control de Calidad y Seguridad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24447" y="4083834"/>
            <a:ext cx="2193131" cy="69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10"/>
              </a:lnSpc>
            </a:pPr>
            <a:r>
              <a:rPr lang="en-US" sz="3399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 tooltip="https://www.youtube.com/watch?v=__WI8Uvgn-I&amp;list=PLNgaBT67nukSaEQL8JNksizGqOIYnanPT&amp;index=3"/>
              </a:rPr>
              <a:t>Vídeo aquí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5143500"/>
            <a:ext cx="785011" cy="854434"/>
          </a:xfrm>
          <a:custGeom>
            <a:avLst/>
            <a:gdLst/>
            <a:ahLst/>
            <a:cxnLst/>
            <a:rect l="l" t="t" r="r" b="b"/>
            <a:pathLst>
              <a:path w="785011" h="854434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0" name="Freeform 10"/>
          <p:cNvSpPr/>
          <p:nvPr/>
        </p:nvSpPr>
        <p:spPr>
          <a:xfrm>
            <a:off x="1028700" y="6285618"/>
            <a:ext cx="785011" cy="854434"/>
          </a:xfrm>
          <a:custGeom>
            <a:avLst/>
            <a:gdLst/>
            <a:ahLst/>
            <a:cxnLst/>
            <a:rect l="l" t="t" r="r" b="b"/>
            <a:pathLst>
              <a:path w="785011" h="854434">
                <a:moveTo>
                  <a:pt x="0" y="0"/>
                </a:moveTo>
                <a:lnTo>
                  <a:pt x="785011" y="0"/>
                </a:lnTo>
                <a:lnTo>
                  <a:pt x="785011" y="854435"/>
                </a:lnTo>
                <a:lnTo>
                  <a:pt x="0" y="854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1" name="Freeform 11"/>
          <p:cNvSpPr/>
          <p:nvPr/>
        </p:nvSpPr>
        <p:spPr>
          <a:xfrm>
            <a:off x="1028700" y="7425803"/>
            <a:ext cx="785011" cy="854434"/>
          </a:xfrm>
          <a:custGeom>
            <a:avLst/>
            <a:gdLst/>
            <a:ahLst/>
            <a:cxnLst/>
            <a:rect l="l" t="t" r="r" b="b"/>
            <a:pathLst>
              <a:path w="785011" h="854434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2" name="Freeform 12"/>
          <p:cNvSpPr/>
          <p:nvPr/>
        </p:nvSpPr>
        <p:spPr>
          <a:xfrm>
            <a:off x="1028700" y="8565987"/>
            <a:ext cx="785011" cy="854434"/>
          </a:xfrm>
          <a:custGeom>
            <a:avLst/>
            <a:gdLst/>
            <a:ahLst/>
            <a:cxnLst/>
            <a:rect l="l" t="t" r="r" b="b"/>
            <a:pathLst>
              <a:path w="785011" h="854434">
                <a:moveTo>
                  <a:pt x="0" y="0"/>
                </a:moveTo>
                <a:lnTo>
                  <a:pt x="785011" y="0"/>
                </a:lnTo>
                <a:lnTo>
                  <a:pt x="785011" y="854434"/>
                </a:lnTo>
                <a:lnTo>
                  <a:pt x="0" y="854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Freeform 13"/>
          <p:cNvSpPr/>
          <p:nvPr/>
        </p:nvSpPr>
        <p:spPr>
          <a:xfrm rot="-2700000">
            <a:off x="1740055" y="2938358"/>
            <a:ext cx="1143682" cy="1158425"/>
          </a:xfrm>
          <a:custGeom>
            <a:avLst/>
            <a:gdLst/>
            <a:ahLst/>
            <a:cxnLst/>
            <a:rect l="l" t="t" r="r" b="b"/>
            <a:pathLst>
              <a:path w="1143682" h="1158425">
                <a:moveTo>
                  <a:pt x="0" y="0"/>
                </a:moveTo>
                <a:lnTo>
                  <a:pt x="1143682" y="0"/>
                </a:lnTo>
                <a:lnTo>
                  <a:pt x="1143682" y="1158425"/>
                </a:lnTo>
                <a:lnTo>
                  <a:pt x="0" y="11584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TextBox 14"/>
          <p:cNvSpPr txBox="1"/>
          <p:nvPr/>
        </p:nvSpPr>
        <p:spPr>
          <a:xfrm>
            <a:off x="3342387" y="3078276"/>
            <a:ext cx="5801613" cy="69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0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42925"/>
            <a:ext cx="6533569" cy="157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6"/>
              </a:lnSpc>
            </a:pPr>
            <a:r>
              <a:rPr lang="en-US" sz="7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93836" y="2635273"/>
            <a:ext cx="15300328" cy="606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59"/>
              </a:lnSpc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Analiza el funcionamiento de la arquitectura Von Neumann mediante el estudio del ciclo de instrucción (fetch-decode-execute) y los componentes de la unidad de control y la ALU para comprender cómo se procesa la información en un sistema computacional</a:t>
            </a:r>
          </a:p>
          <a:p>
            <a:pPr algn="l">
              <a:lnSpc>
                <a:spcPts val="8062"/>
              </a:lnSpc>
            </a:pPr>
            <a:endParaRPr lang="en-US" sz="4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5054" y="2245376"/>
            <a:ext cx="15597902" cy="262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7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el conjunto de programas que permite el funcionamiento del hardware y sirve de base para que el resto del software pueda ejecutarse. Su objetivo principal es gestionar los recursos del sistema y facilitar la interacción entre el usuario y la máquina.</a:t>
            </a:r>
          </a:p>
          <a:p>
            <a:pPr algn="l">
              <a:lnSpc>
                <a:spcPts val="2907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74886" y="540068"/>
            <a:ext cx="13991101" cy="96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92"/>
              </a:lnSpc>
            </a:pPr>
            <a:r>
              <a:rPr lang="en-US" sz="5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 de Sistema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761100" y="4987252"/>
            <a:ext cx="8572500" cy="4524375"/>
            <a:chOff x="0" y="0"/>
            <a:chExt cx="11430000" cy="6032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0000" cy="6032500"/>
            </a:xfrm>
            <a:custGeom>
              <a:avLst/>
              <a:gdLst/>
              <a:ahLst/>
              <a:cxnLst/>
              <a:rect l="l" t="t" r="r" b="b"/>
              <a:pathLst>
                <a:path w="11430000" h="6032500">
                  <a:moveTo>
                    <a:pt x="0" y="0"/>
                  </a:moveTo>
                  <a:lnTo>
                    <a:pt x="11430000" y="0"/>
                  </a:lnTo>
                  <a:lnTo>
                    <a:pt x="11430000" y="6032500"/>
                  </a:lnTo>
                  <a:lnTo>
                    <a:pt x="0" y="603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7074" y="865051"/>
            <a:ext cx="8153552" cy="599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sz="3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Sistemas Operativos: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9551" y="2636225"/>
            <a:ext cx="7996352" cy="537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la interfaz entre el usuario y el hardware. Controlan los dispositivos físicos y permiten ejecutar aplicaciones. Ejemplos: Windows, Linux, macOS, Android.</a:t>
            </a:r>
          </a:p>
          <a:p>
            <a:pPr algn="l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2905" lvl="1" indent="-191452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Funciones: administración de procesos, memoria, dispositivos de entrada/salida, sistema de archivos.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43027" y="865051"/>
            <a:ext cx="8153552" cy="599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sz="3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Hipervisores: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97425" y="2164404"/>
            <a:ext cx="7493251" cy="644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que permite ejecutar múltiples sistemas operativos como máquinas virtuales en un solo equipo físico.</a:t>
            </a:r>
          </a:p>
          <a:p>
            <a:pPr algn="just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Tipos:</a:t>
            </a:r>
          </a:p>
          <a:p>
            <a:pPr algn="just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2905" lvl="1" indent="-191452" algn="just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Tipo 1: Se ejecuta directamente sobre el hardware (Ej. VMware ESXi, Microsoft Hyper-V).</a:t>
            </a:r>
          </a:p>
          <a:p>
            <a:pPr marL="198543" lvl="1" indent="-99272" algn="just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2905" lvl="1" indent="-191452" algn="just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 2: Se ejecuta sobre un sistema operativo (Ej. VirtualBox, VMware Workstation).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8026" y="949900"/>
            <a:ext cx="11456851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Utilitarios (Utilities)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8026" y="2164404"/>
            <a:ext cx="13847855" cy="202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Programas diseñados para realizar tareas específicas de mantenimiento y diagnóstico del sistema, como análisis de disco, antivirus, compresores de archivos, herramientas de copia de seguridad, etc.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572476" y="3896020"/>
            <a:ext cx="9698946" cy="4849473"/>
            <a:chOff x="0" y="0"/>
            <a:chExt cx="12931927" cy="64659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31902" cy="6465951"/>
            </a:xfrm>
            <a:custGeom>
              <a:avLst/>
              <a:gdLst/>
              <a:ahLst/>
              <a:cxnLst/>
              <a:rect l="l" t="t" r="r" b="b"/>
              <a:pathLst>
                <a:path w="12931902" h="6465951">
                  <a:moveTo>
                    <a:pt x="0" y="0"/>
                  </a:moveTo>
                  <a:lnTo>
                    <a:pt x="12931902" y="0"/>
                  </a:lnTo>
                  <a:lnTo>
                    <a:pt x="12931902" y="6465951"/>
                  </a:lnTo>
                  <a:lnTo>
                    <a:pt x="0" y="6465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1547" y="698221"/>
            <a:ext cx="11797132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 de Aplicación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22474" y="2406372"/>
            <a:ext cx="15043052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programas diseñados para realizar tareas específicas que permiten al usuario interactuar con el sistema y resolver problemas concretos, generalmente de tipo personal, profesional o empresarial.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2474" y="4542673"/>
            <a:ext cx="8216551" cy="60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ERP ERP (Enterprise Resource Planning)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2474" y="5496329"/>
            <a:ext cx="14932952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que integran todos los procesos de una empresa (finanzas, recursos humanos, </a:t>
            </a:r>
          </a:p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producción, logística, etc.) en una única plataforma.</a:t>
            </a:r>
          </a:p>
          <a:p>
            <a:pPr algn="just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Ejemplos: SAP, Oracle ERP, Microsoft Dynamics.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7174" y="1006602"/>
            <a:ext cx="8924554" cy="77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CRM (Customer Relationship Management)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48171" y="1514199"/>
            <a:ext cx="14791649" cy="2117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Aplicaciones para gestionar relaciones con clientes, seguimiento de ventas, marketing, soporte al cliente.</a:t>
            </a:r>
          </a:p>
          <a:p>
            <a:pPr marL="516255" lvl="1" indent="-258128" algn="l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Ejemplos: Salesforce, HubSpot, Zoho CRM.</a:t>
            </a:r>
          </a:p>
          <a:p>
            <a:pPr marL="267688" lvl="1" indent="-133844" algn="l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17174" y="3785797"/>
            <a:ext cx="8924554" cy="77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WMS (Warehouse Management System)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48171" y="4413675"/>
            <a:ext cx="14587052" cy="1440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para controlar operaciones en almacenes, como inventarios, entradas/salidas de productos, logística interna.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48171" y="6008551"/>
            <a:ext cx="8924554" cy="77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 Ofimático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48171" y="6588804"/>
            <a:ext cx="14587052" cy="1488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Programas de productividad personal y empresarial como procesadores de texto, hojas de cálculo, presentaciones y gestores de correo.</a:t>
            </a:r>
          </a:p>
          <a:p>
            <a:pPr marL="484505" lvl="1" indent="-242252" algn="l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Ejemplos: Microsoft Office (Word, Excel, PowerPoint), Google Workspace, LibreOffice.</a:t>
            </a:r>
          </a:p>
          <a:p>
            <a:pPr marL="251225" lvl="1" indent="-125612" algn="l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5049" y="2223109"/>
            <a:ext cx="15597902" cy="179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7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Herramientas que permiten a los desarrolladores escribir, depurar y mantener el software. Este tipo de software se usa para crear otros programas.</a:t>
            </a:r>
          </a:p>
          <a:p>
            <a:pPr algn="l">
              <a:lnSpc>
                <a:spcPts val="2907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914400"/>
            <a:ext cx="9010531" cy="96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92"/>
              </a:lnSpc>
            </a:pPr>
            <a:r>
              <a:rPr lang="en-US" sz="5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 de Programación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000500" y="4284021"/>
            <a:ext cx="10287000" cy="5381625"/>
            <a:chOff x="0" y="0"/>
            <a:chExt cx="13716000" cy="7175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716000" cy="7175500"/>
            </a:xfrm>
            <a:custGeom>
              <a:avLst/>
              <a:gdLst/>
              <a:ahLst/>
              <a:cxnLst/>
              <a:rect l="l" t="t" r="r" b="b"/>
              <a:pathLst>
                <a:path w="13716000" h="7175500">
                  <a:moveTo>
                    <a:pt x="0" y="0"/>
                  </a:moveTo>
                  <a:lnTo>
                    <a:pt x="13716000" y="0"/>
                  </a:lnTo>
                  <a:lnTo>
                    <a:pt x="13716000" y="7175500"/>
                  </a:lnTo>
                  <a:lnTo>
                    <a:pt x="0" y="717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5405" y="1116721"/>
            <a:ext cx="6030154" cy="6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Lenguajes de Programación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34052" y="1747599"/>
            <a:ext cx="7839151" cy="331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Conjuntos de reglas y sintaxis usados para escribir programas.</a:t>
            </a:r>
          </a:p>
          <a:p>
            <a:pPr algn="l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2905" lvl="1" indent="-191452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Ejemplos: Python (scripting y automatización), Java (aplicaciones empresariales), C++ (software de alto rendimiento), JavaScript (web).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95347" y="1116721"/>
            <a:ext cx="6030154" cy="6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Clasificación de Lenguajes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33578" y="1802178"/>
            <a:ext cx="8232153" cy="6883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2905" lvl="1" indent="-191452" algn="l">
              <a:lnSpc>
                <a:spcPts val="3726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Lenguajes de bajo nivel: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Más cercanos al hardware, como el lenguaje ensamblador.</a:t>
            </a:r>
          </a:p>
          <a:p>
            <a:pPr marL="382905" lvl="1" indent="-191452" algn="l">
              <a:lnSpc>
                <a:spcPts val="3726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2905" lvl="1" indent="-191452" algn="l">
              <a:lnSpc>
                <a:spcPts val="3726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Lenguajes de alto nivel: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Más cercanos al lenguaje humano, más fáciles de aprender (Python, Java).</a:t>
            </a:r>
          </a:p>
          <a:p>
            <a:pPr marL="382905" lvl="1" indent="-191452" algn="l">
              <a:lnSpc>
                <a:spcPts val="3726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2905" lvl="1" indent="-191452" algn="l">
              <a:lnSpc>
                <a:spcPts val="3726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Lenguajes compilados: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Necesitan ser traducidos antes de ejecutarse (C, C++).</a:t>
            </a:r>
          </a:p>
          <a:p>
            <a:pPr marL="382905" lvl="1" indent="-191452" algn="l">
              <a:lnSpc>
                <a:spcPts val="3726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2905" lvl="1" indent="-191452" algn="l">
              <a:lnSpc>
                <a:spcPts val="3726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Lenguajes interpretados: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ejecutan línea por línea (Python, JavaScript).</a:t>
            </a:r>
          </a:p>
          <a:p>
            <a:pPr marL="382905" lvl="1" indent="-191452" algn="l">
              <a:lnSpc>
                <a:spcPts val="3726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8543" lvl="1" indent="-99272" algn="l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080421" y="4823736"/>
            <a:ext cx="8184204" cy="4555865"/>
            <a:chOff x="0" y="0"/>
            <a:chExt cx="10912272" cy="60744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12221" cy="6074537"/>
            </a:xfrm>
            <a:custGeom>
              <a:avLst/>
              <a:gdLst/>
              <a:ahLst/>
              <a:cxnLst/>
              <a:rect l="l" t="t" r="r" b="b"/>
              <a:pathLst>
                <a:path w="10912221" h="6074537">
                  <a:moveTo>
                    <a:pt x="0" y="0"/>
                  </a:moveTo>
                  <a:lnTo>
                    <a:pt x="10912221" y="0"/>
                  </a:lnTo>
                  <a:lnTo>
                    <a:pt x="10912221" y="6074537"/>
                  </a:lnTo>
                  <a:lnTo>
                    <a:pt x="0" y="6074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18909" y="2488049"/>
            <a:ext cx="15597902" cy="206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7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Programas diseñados para garantizar que los productos de software cumplan con estándares de calidad y normas de seguridad. Ayudan a prevenir errores, vulnerabilidades y asegurar la fiabilidad del sistema.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14400"/>
            <a:ext cx="16178321" cy="948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57"/>
              </a:lnSpc>
            </a:pPr>
            <a:r>
              <a:rPr lang="en-US" sz="5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Aplicaciones de Control de Calidad y Seguridad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850549" y="4798524"/>
            <a:ext cx="8744198" cy="4628274"/>
            <a:chOff x="0" y="0"/>
            <a:chExt cx="11658930" cy="61710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8981" cy="6171057"/>
            </a:xfrm>
            <a:custGeom>
              <a:avLst/>
              <a:gdLst/>
              <a:ahLst/>
              <a:cxnLst/>
              <a:rect l="l" t="t" r="r" b="b"/>
              <a:pathLst>
                <a:path w="11658981" h="6171057">
                  <a:moveTo>
                    <a:pt x="0" y="0"/>
                  </a:moveTo>
                  <a:lnTo>
                    <a:pt x="11658981" y="0"/>
                  </a:lnTo>
                  <a:lnTo>
                    <a:pt x="11658981" y="6171057"/>
                  </a:lnTo>
                  <a:lnTo>
                    <a:pt x="0" y="6171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8526" y="1242546"/>
            <a:ext cx="5872953" cy="94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Normativas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38526" y="1953254"/>
            <a:ext cx="6470552" cy="415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Reglas o guías establecidas por organizaciones para asegurar la calidad del software y la protección de datos.</a:t>
            </a:r>
          </a:p>
          <a:p>
            <a:pPr algn="l">
              <a:lnSpc>
                <a:spcPts val="1679"/>
              </a:lnSpc>
            </a:pPr>
            <a:endParaRPr lang="en-US" sz="3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11480" lvl="1" indent="-20574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Ejemplos: ISO 9001 (gestión de calidad), ISO/IEC 25010 (calidad del software).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92672" y="1426397"/>
            <a:ext cx="5872953" cy="94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Estándares Internacionales: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52246" y="2048504"/>
            <a:ext cx="8331746" cy="784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Documentos acordados globalmente que aseguran la interoperabilidad, seguridad y calidad del software.</a:t>
            </a:r>
          </a:p>
          <a:p>
            <a:pPr algn="l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Ejemplos:</a:t>
            </a:r>
          </a:p>
          <a:p>
            <a:pPr algn="l">
              <a:lnSpc>
                <a:spcPts val="4416"/>
              </a:lnSpc>
            </a:pPr>
            <a:endParaRPr lang="en-US" sz="3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11480" lvl="1" indent="-205740" algn="l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ISO/IEC 27001: Gestión de la seguridad de la información.</a:t>
            </a:r>
          </a:p>
          <a:p>
            <a:pPr marL="411480" lvl="1" indent="-205740" algn="l">
              <a:lnSpc>
                <a:spcPts val="4416"/>
              </a:lnSpc>
            </a:pPr>
            <a:endParaRPr lang="en-US" sz="3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11480" lvl="1" indent="-205740" algn="l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OWASP Top 10: Principales vulnerabilidades de seguridad en aplicaciones web.</a:t>
            </a:r>
          </a:p>
          <a:p>
            <a:pPr marL="411480" lvl="1" indent="-205740" algn="l">
              <a:lnSpc>
                <a:spcPts val="4416"/>
              </a:lnSpc>
            </a:pPr>
            <a:endParaRPr lang="en-US" sz="3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11480" lvl="1" indent="-205740" algn="l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IEEE 829: Estándar para documentación de pruebas.</a:t>
            </a:r>
          </a:p>
          <a:p>
            <a:pPr marL="180022" lvl="1" indent="-90011" algn="l">
              <a:lnSpc>
                <a:spcPts val="1679"/>
              </a:lnSpc>
            </a:pPr>
            <a:endParaRPr lang="en-US" sz="3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951711" y="6197279"/>
            <a:ext cx="5046564" cy="3784930"/>
            <a:chOff x="0" y="0"/>
            <a:chExt cx="6728752" cy="50465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28714" cy="5046599"/>
            </a:xfrm>
            <a:custGeom>
              <a:avLst/>
              <a:gdLst/>
              <a:ahLst/>
              <a:cxnLst/>
              <a:rect l="l" t="t" r="r" b="b"/>
              <a:pathLst>
                <a:path w="6728714" h="5046599">
                  <a:moveTo>
                    <a:pt x="0" y="0"/>
                  </a:moveTo>
                  <a:lnTo>
                    <a:pt x="6728714" y="0"/>
                  </a:lnTo>
                  <a:lnTo>
                    <a:pt x="6728714" y="5046599"/>
                  </a:lnTo>
                  <a:lnTo>
                    <a:pt x="0" y="5046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4251" y="669226"/>
            <a:ext cx="5527053" cy="96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92"/>
              </a:lnSpc>
            </a:pPr>
            <a:r>
              <a:rPr lang="en-US" sz="5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Firmware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12700" y="2211572"/>
            <a:ext cx="15011552" cy="147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tipo de software especializado que está embebido directamente en el hardware. Controla funciones básicas y críticas del dispositivo, como el arranque, la comunicación con otros dispositivos y el control de sensores.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702159" y="3775100"/>
            <a:ext cx="8883672" cy="5694426"/>
            <a:chOff x="0" y="0"/>
            <a:chExt cx="11844896" cy="75925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844909" cy="7592568"/>
            </a:xfrm>
            <a:custGeom>
              <a:avLst/>
              <a:gdLst/>
              <a:ahLst/>
              <a:cxnLst/>
              <a:rect l="l" t="t" r="r" b="b"/>
              <a:pathLst>
                <a:path w="11844909" h="7592568">
                  <a:moveTo>
                    <a:pt x="0" y="0"/>
                  </a:moveTo>
                  <a:lnTo>
                    <a:pt x="11844909" y="0"/>
                  </a:lnTo>
                  <a:lnTo>
                    <a:pt x="11844909" y="7592568"/>
                  </a:lnTo>
                  <a:lnTo>
                    <a:pt x="0" y="7592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2999" y="1824552"/>
            <a:ext cx="14681549" cy="457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Programación a Bajo Nivel:</a:t>
            </a:r>
          </a:p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escribe en lenguajes como ensamblador o C. El firmware suele estar almacenado en memoria no volátil (ROM, EEPROM, Flash).</a:t>
            </a:r>
          </a:p>
          <a:p>
            <a:pPr algn="just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Control del Hardware:</a:t>
            </a:r>
          </a:p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el intermediario entre los componentes físicos y los sistemas operativos.</a:t>
            </a:r>
          </a:p>
          <a:p>
            <a:pPr algn="just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2905" lvl="1" indent="-191452" algn="just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Ejemplos: BIOS en computadoras, firmware de routers, impresoras, microcontroladores.</a:t>
            </a:r>
          </a:p>
          <a:p>
            <a:pPr marL="198543" lvl="1" indent="-99272" algn="just">
              <a:lnSpc>
                <a:spcPts val="1679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813" lvl="1" indent="-226907" algn="just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Importancia:</a:t>
            </a:r>
          </a:p>
          <a:p>
            <a:pPr marL="382905" lvl="1" indent="-191452"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actualización del firmware puede mejorar el rendimiento, corregir errores o agregar nuevas funciones al hardware.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3940"/>
            <a:ext cx="16230600" cy="824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Analogía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 computadora como una ciudad inteligente, imaginar que una computadora es una ciudad automatizada:</a:t>
            </a:r>
          </a:p>
          <a:p>
            <a:pPr algn="l">
              <a:lnSpc>
                <a:spcPts val="336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5040"/>
              </a:lnSpc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Firmware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Reglamento interno de la ciudad</a:t>
            </a:r>
          </a:p>
          <a:p>
            <a:pPr algn="l">
              <a:lnSpc>
                <a:spcPts val="336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firmware sería como las leyes básicas y permanentes que la ciudad trae desde su construcción.</a:t>
            </a:r>
          </a:p>
          <a:p>
            <a:pPr marL="647700" lvl="1" indent="-323850" algn="l">
              <a:lnSpc>
                <a:spcPts val="50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Están escritas en piedra (memoria no volátil: ROM, Flash, EEPROM).</a:t>
            </a:r>
          </a:p>
          <a:p>
            <a:pPr marL="647700" lvl="1" indent="-323850" algn="l">
              <a:lnSpc>
                <a:spcPts val="50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Definen cómo deben comportarse los sistemas desde que todo se enciende.</a:t>
            </a:r>
          </a:p>
          <a:p>
            <a:pPr marL="647700" lvl="1" indent="-323850" algn="l">
              <a:lnSpc>
                <a:spcPts val="50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el BIOS sería como el reglamento que dice cómo arrancan los servicios de la ciudad cada mañana.</a:t>
            </a:r>
          </a:p>
          <a:p>
            <a:pPr algn="l">
              <a:lnSpc>
                <a:spcPts val="336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504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actualizamos el firmware = es como actualizar el reglamento municipal para mejorar el tráfico, corregir errores o permitir nuevos servicios.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57250"/>
            <a:ext cx="16230600" cy="8415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Programación de bajo nivel </a:t>
            </a: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Ingenieros de infraestructura</a:t>
            </a:r>
          </a:p>
          <a:p>
            <a:pPr algn="l">
              <a:lnSpc>
                <a:spcPts val="5376"/>
              </a:lnSpc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lenguajes como C o ensamblador son los ingenieros que trabajan directamente con cables, tuberías y semáforos.</a:t>
            </a:r>
          </a:p>
          <a:p>
            <a:pPr algn="l">
              <a:lnSpc>
                <a:spcPts val="3360"/>
              </a:lnSpc>
            </a:pPr>
            <a:endParaRPr lang="en-US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5376"/>
              </a:lnSpc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diseñan carteles bonitos ni apps, sino que controlan directamente la maquinaria física.</a:t>
            </a:r>
          </a:p>
          <a:p>
            <a:pPr algn="l">
              <a:lnSpc>
                <a:spcPts val="3360"/>
              </a:lnSpc>
            </a:pPr>
            <a:endParaRPr lang="en-US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5376"/>
              </a:lnSpc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Control del hardware</a:t>
            </a: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Centro de control de tráfico</a:t>
            </a:r>
          </a:p>
          <a:p>
            <a:pPr algn="l">
              <a:lnSpc>
                <a:spcPts val="5376"/>
              </a:lnSpc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el intermediario entre:</a:t>
            </a:r>
          </a:p>
          <a:p>
            <a:pPr algn="l">
              <a:lnSpc>
                <a:spcPts val="3360"/>
              </a:lnSpc>
            </a:pPr>
            <a:endParaRPr lang="en-US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0881" lvl="1" indent="-345440" algn="l">
              <a:lnSpc>
                <a:spcPts val="537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ciudadanos (software, aplicaciones)</a:t>
            </a:r>
          </a:p>
          <a:p>
            <a:pPr marL="690881" lvl="1" indent="-345440" algn="l">
              <a:lnSpc>
                <a:spcPts val="537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infraestructura real (hardware)</a:t>
            </a:r>
          </a:p>
          <a:p>
            <a:pPr algn="l">
              <a:lnSpc>
                <a:spcPts val="3360"/>
              </a:lnSpc>
            </a:pPr>
            <a:endParaRPr lang="en-US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5376"/>
              </a:lnSpc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una app quiere usar el teclado o la impresora, es como un ciudadano solicitando usar una calle o servicio: el centro de control decide cómo y cuándo.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2767881"/>
          <a:ext cx="16230600" cy="4343400"/>
        </p:xfrm>
        <a:graphic>
          <a:graphicData uri="http://schemas.openxmlformats.org/drawingml/2006/table">
            <a:tbl>
              <a:tblPr/>
              <a:tblGrid>
                <a:gridCol w="4042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9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585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Bus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Analogia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Función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Bus de datos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Camiones con paquetes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Transporta información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Bus de dirección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GPS y direcciones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 a dónde va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Bus de control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Señales de tránsito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Coordina cuándo y cómo se mueve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28700" y="857250"/>
            <a:ext cx="16230600" cy="1328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Buses (datos, dirección y control) </a:t>
            </a: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Carreteras de la ciudad</a:t>
            </a:r>
          </a:p>
          <a:p>
            <a:pPr algn="just">
              <a:lnSpc>
                <a:spcPts val="5374"/>
              </a:lnSpc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buses son las carreteras internas por donde circula la información: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0384" y="7616723"/>
            <a:ext cx="7387233" cy="164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carreteras → nada se comunica.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señales → caos.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direcciones → nadie sabe a dónde 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02740" y="914400"/>
            <a:ext cx="9682520" cy="96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93"/>
              </a:lnSpc>
            </a:pPr>
            <a:r>
              <a:rPr lang="en-US" sz="5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Conceptos clave aprendidos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956717"/>
            <a:ext cx="6590700" cy="2784000"/>
            <a:chOff x="0" y="0"/>
            <a:chExt cx="8787600" cy="3712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787638" cy="3711962"/>
            </a:xfrm>
            <a:custGeom>
              <a:avLst/>
              <a:gdLst/>
              <a:ahLst/>
              <a:cxnLst/>
              <a:rect l="l" t="t" r="r" b="b"/>
              <a:pathLst>
                <a:path w="8787638" h="3711962">
                  <a:moveTo>
                    <a:pt x="0" y="0"/>
                  </a:moveTo>
                  <a:lnTo>
                    <a:pt x="8787638" y="0"/>
                  </a:lnTo>
                  <a:lnTo>
                    <a:pt x="8787638" y="3711962"/>
                  </a:lnTo>
                  <a:lnTo>
                    <a:pt x="0" y="3711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787600" cy="37691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just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Software de Sistema: Esencial para gestionar el hardware; incluye sistemas operativos, hipervisores y utilitarios. Permite la comunicación entre el usuario y la máquina.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82274" y="2899567"/>
            <a:ext cx="6777026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 de Aplicación: Diseñado para tareas específicas del usuario, como ERP, CRM, WMS y software ofimático (Word, Excel, etc.).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36724" y="6134608"/>
            <a:ext cx="6014552" cy="276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 de Programación: Herramientas como lenguajes, IDEs, compiladores e intérpretes, usadas por los desarrolladores para crear software.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23221" y="1223038"/>
            <a:ext cx="3604141" cy="117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6"/>
              </a:lnSpc>
            </a:pPr>
            <a:r>
              <a:rPr lang="en-US" sz="6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78090" y="3380775"/>
            <a:ext cx="14894404" cy="336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94"/>
              </a:lnSpc>
            </a:pPr>
            <a:r>
              <a:rPr lang="en-US" sz="31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precisión profesional es la capacidad de actuar con exactitud, claridad y responsabilidad al aplicar conocimientos técnicos. En el campo de la informática y la ingeniería en sistemas, implica realizar tareas de programación, configuración de sistemas, implementación de software y documentación técnica con un alto nivel de detalle y sin margen para errores innecesarios.					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21014" y="866775"/>
            <a:ext cx="6476048" cy="117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6"/>
              </a:lnSpc>
            </a:pPr>
            <a:r>
              <a:rPr lang="en-US" sz="6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84405" y="3085776"/>
            <a:ext cx="9632252" cy="4341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1480" lvl="1" indent="-205740" algn="l">
              <a:lnSpc>
                <a:spcPts val="3840"/>
              </a:lnSpc>
              <a:buAutoNum type="arabicPeriod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Silberschatz, A., Galvin, P. B., &amp; Gagne, G. (2020). Operating System Concepts. Wiley.</a:t>
            </a:r>
          </a:p>
          <a:p>
            <a:pPr marL="180022" lvl="1" indent="-90011" algn="l">
              <a:lnSpc>
                <a:spcPts val="1679"/>
              </a:lnSpc>
            </a:pPr>
            <a:endParaRPr lang="en-US" sz="3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11480" lvl="1" indent="-205740" algn="l">
              <a:lnSpc>
                <a:spcPts val="3840"/>
              </a:lnSpc>
              <a:buAutoNum type="arabicPeriod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Sommerville, I. (2011). Ingeniería de Software. Pearson Educación.</a:t>
            </a:r>
          </a:p>
          <a:p>
            <a:pPr marL="180022" lvl="1" indent="-90011" algn="l">
              <a:lnSpc>
                <a:spcPts val="1679"/>
              </a:lnSpc>
            </a:pPr>
            <a:endParaRPr lang="en-US" sz="3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11480" lvl="1" indent="-205740" algn="l">
              <a:lnSpc>
                <a:spcPts val="3840"/>
              </a:lnSpc>
              <a:buAutoNum type="arabicPeriod"/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ISO/IEC 25010, ISO/IEC 27001 – Estándares internacionales de calidad y seguridad de software.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4955" y="1664846"/>
            <a:ext cx="2098100" cy="2831411"/>
            <a:chOff x="0" y="0"/>
            <a:chExt cx="2797467" cy="3775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7429" cy="3775202"/>
            </a:xfrm>
            <a:custGeom>
              <a:avLst/>
              <a:gdLst/>
              <a:ahLst/>
              <a:cxnLst/>
              <a:rect l="l" t="t" r="r" b="b"/>
              <a:pathLst>
                <a:path w="2797429" h="3775202">
                  <a:moveTo>
                    <a:pt x="0" y="0"/>
                  </a:moveTo>
                  <a:lnTo>
                    <a:pt x="2797429" y="0"/>
                  </a:lnTo>
                  <a:lnTo>
                    <a:pt x="2797429" y="3775202"/>
                  </a:lnTo>
                  <a:lnTo>
                    <a:pt x="0" y="377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89528" y="4657725"/>
            <a:ext cx="10908954" cy="157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96"/>
              </a:lnSpc>
            </a:pPr>
            <a:r>
              <a:rPr lang="en-US" sz="7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9670" y="6813890"/>
            <a:ext cx="15948670" cy="1442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1419</Words>
  <Application>Microsoft Office PowerPoint</Application>
  <PresentationFormat>Personalizado</PresentationFormat>
  <Paragraphs>188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Calibri</vt:lpstr>
      <vt:lpstr>Arial</vt:lpstr>
      <vt:lpstr>Arial Bold</vt:lpstr>
      <vt:lpstr>Open Sans Bold</vt:lpstr>
      <vt:lpstr>Open Sans</vt:lpstr>
      <vt:lpstr>Calibri (MS)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3 - Presentacion.pptx</dc:title>
  <cp:lastModifiedBy>Fernando Guzman</cp:lastModifiedBy>
  <cp:revision>2</cp:revision>
  <dcterms:created xsi:type="dcterms:W3CDTF">2006-08-16T00:00:00Z</dcterms:created>
  <dcterms:modified xsi:type="dcterms:W3CDTF">2026-05-08T05:59:22Z</dcterms:modified>
  <dc:identifier>DAHB4KS_7m4</dc:identifier>
</cp:coreProperties>
</file>