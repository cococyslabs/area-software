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8288000" cy="10287000"/>
  <p:notesSz cx="6858000" cy="9144000"/>
  <p:embeddedFontLst>
    <p:embeddedFont>
      <p:font typeface="Canva Sans" charset="1" panose="020B0503030501040103"/>
      <p:regular r:id="rId41"/>
    </p:embeddedFont>
    <p:embeddedFont>
      <p:font typeface="Open Sans Bold" charset="1" panose="00000000000000000000"/>
      <p:regular r:id="rId42"/>
    </p:embeddedFont>
    <p:embeddedFont>
      <p:font typeface="Open Sans" charset="1" panose="00000000000000000000"/>
      <p:regular r:id="rId43"/>
    </p:embeddedFont>
    <p:embeddedFont>
      <p:font typeface="Canva Sans Bold" charset="1" panose="020B0803030501040103"/>
      <p:regular r:id="rId44"/>
    </p:embeddedFont>
    <p:embeddedFont>
      <p:font typeface="Roboto Mono" charset="1" panose="0000000000000000000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740657" y="2075748"/>
            <a:ext cx="427285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Sábado - xx/0x/2026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45308" y="2827978"/>
            <a:ext cx="246355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10:30 horas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6597" y="5057775"/>
            <a:ext cx="15594806" cy="8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393E4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Introducción a los Algoritmos y Flujo de Datos Sec 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75512" y="5939495"/>
            <a:ext cx="413697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75853" y="488854"/>
            <a:ext cx="3106051" cy="1576032"/>
          </a:xfrm>
          <a:custGeom>
            <a:avLst/>
            <a:gdLst/>
            <a:ahLst/>
            <a:cxnLst/>
            <a:rect r="r" b="b" t="t" l="l"/>
            <a:pathLst>
              <a:path h="1576032" w="3106051">
                <a:moveTo>
                  <a:pt x="0" y="0"/>
                </a:moveTo>
                <a:lnTo>
                  <a:pt x="3106051" y="0"/>
                </a:lnTo>
                <a:lnTo>
                  <a:pt x="3106051" y="1576031"/>
                </a:lnTo>
                <a:lnTo>
                  <a:pt x="0" y="15760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5677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93515" y="3855673"/>
            <a:ext cx="16100971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Ad</a:t>
            </a:r>
            <a:r>
              <a:rPr lang="en-US" sz="5600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ministración y representación de Algoritmos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960333"/>
            <a:ext cx="976446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Introducción a los Algoritmos y Flujos de Datos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929441"/>
            <a:ext cx="5401121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Escuela de Ingeniería de Ciencias y Sistemas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421565"/>
            <a:ext cx="2755850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Facultad de Ingeniería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909051"/>
            <a:ext cx="4956721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Universidad de San Carlos de Guatemala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740055" y="2938358"/>
            <a:ext cx="1143682" cy="1158425"/>
          </a:xfrm>
          <a:custGeom>
            <a:avLst/>
            <a:gdLst/>
            <a:ahLst/>
            <a:cxnLst/>
            <a:rect r="r" b="b" t="t" l="l"/>
            <a:pathLst>
              <a:path h="1158425" w="1143682">
                <a:moveTo>
                  <a:pt x="0" y="0"/>
                </a:moveTo>
                <a:lnTo>
                  <a:pt x="1143682" y="0"/>
                </a:lnTo>
                <a:lnTo>
                  <a:pt x="1143682" y="1158425"/>
                </a:lnTo>
                <a:lnTo>
                  <a:pt x="0" y="1158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143500"/>
            <a:ext cx="785011" cy="854434"/>
          </a:xfrm>
          <a:custGeom>
            <a:avLst/>
            <a:gdLst/>
            <a:ahLst/>
            <a:cxnLst/>
            <a:rect r="r" b="b" t="t" l="l"/>
            <a:pathLst>
              <a:path h="854434" w="785011">
                <a:moveTo>
                  <a:pt x="0" y="0"/>
                </a:moveTo>
                <a:lnTo>
                  <a:pt x="785011" y="0"/>
                </a:lnTo>
                <a:lnTo>
                  <a:pt x="785011" y="854434"/>
                </a:lnTo>
                <a:lnTo>
                  <a:pt x="0" y="854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03935"/>
            <a:ext cx="2566392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Agenda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17241" y="1003935"/>
            <a:ext cx="3142059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Recursos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6285618"/>
            <a:ext cx="785011" cy="854434"/>
          </a:xfrm>
          <a:custGeom>
            <a:avLst/>
            <a:gdLst/>
            <a:ahLst/>
            <a:cxnLst/>
            <a:rect r="r" b="b" t="t" l="l"/>
            <a:pathLst>
              <a:path h="854434" w="785011">
                <a:moveTo>
                  <a:pt x="0" y="0"/>
                </a:moveTo>
                <a:lnTo>
                  <a:pt x="785011" y="0"/>
                </a:lnTo>
                <a:lnTo>
                  <a:pt x="785011" y="854435"/>
                </a:lnTo>
                <a:lnTo>
                  <a:pt x="0" y="8544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7425803"/>
            <a:ext cx="785011" cy="854434"/>
          </a:xfrm>
          <a:custGeom>
            <a:avLst/>
            <a:gdLst/>
            <a:ahLst/>
            <a:cxnLst/>
            <a:rect r="r" b="b" t="t" l="l"/>
            <a:pathLst>
              <a:path h="854434" w="785011">
                <a:moveTo>
                  <a:pt x="0" y="0"/>
                </a:moveTo>
                <a:lnTo>
                  <a:pt x="785011" y="0"/>
                </a:lnTo>
                <a:lnTo>
                  <a:pt x="785011" y="854434"/>
                </a:lnTo>
                <a:lnTo>
                  <a:pt x="0" y="854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565987"/>
            <a:ext cx="785011" cy="854434"/>
          </a:xfrm>
          <a:custGeom>
            <a:avLst/>
            <a:gdLst/>
            <a:ahLst/>
            <a:cxnLst/>
            <a:rect r="r" b="b" t="t" l="l"/>
            <a:pathLst>
              <a:path h="854434" w="785011">
                <a:moveTo>
                  <a:pt x="0" y="0"/>
                </a:moveTo>
                <a:lnTo>
                  <a:pt x="785011" y="0"/>
                </a:lnTo>
                <a:lnTo>
                  <a:pt x="785011" y="854434"/>
                </a:lnTo>
                <a:lnTo>
                  <a:pt x="0" y="854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11896" y="5247185"/>
            <a:ext cx="527863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Manipulación de cadenas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11896" y="6389303"/>
            <a:ext cx="738023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Herramientas de diagramas de flujo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11896" y="7529487"/>
            <a:ext cx="294873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Pseudocodigo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11896" y="8669671"/>
            <a:ext cx="332630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Caso de estudio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69010" y="2820318"/>
            <a:ext cx="176554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¿Dudas?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6533572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Competencias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828097"/>
            <a:ext cx="16230600" cy="377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Representa algoritmos y flujos de datos mediante pseudocódigo y diagramas de flujo para documentar, comunicar y validar la lógica de solución propuesta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09181" y="3125539"/>
            <a:ext cx="6050119" cy="3547460"/>
          </a:xfrm>
          <a:custGeom>
            <a:avLst/>
            <a:gdLst/>
            <a:ahLst/>
            <a:cxnLst/>
            <a:rect r="r" b="b" t="t" l="l"/>
            <a:pathLst>
              <a:path h="3547460" w="6050119">
                <a:moveTo>
                  <a:pt x="0" y="0"/>
                </a:moveTo>
                <a:lnTo>
                  <a:pt x="6050119" y="0"/>
                </a:lnTo>
                <a:lnTo>
                  <a:pt x="6050119" y="3547460"/>
                </a:lnTo>
                <a:lnTo>
                  <a:pt x="0" y="3547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15792" y="952500"/>
            <a:ext cx="96564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Definición de Manipulación de Cadenas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89139"/>
            <a:ext cx="9951188" cy="456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¿Qué es?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 ma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nipulación de cadenas se refiere a las técnicas utilizadas para modificar, ajustar y manejar secuencias de caracteres. Estas operaciones son esenciales para el tratamiento de datos textuales en aplicaciones de software.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Características principale</a:t>
            </a: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Inmutables (cada cambio crea una nueva cadena)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Operaciones básicas (ofrecen funciones comunes)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Manipulación basada en índice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438390"/>
            <a:ext cx="16230600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Ideal para</a:t>
            </a: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Procesamiento de datos, ej: limpiar, transf</a:t>
            </a: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ormar o validar información (formularios, archivos, etc.)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Validaciones, ej: correos electrónicos, contraseñas, formatos específicos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Análisis de texto, ej: contar palabras, buscar coincidencias, interpretar comandos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48956" y="2418808"/>
            <a:ext cx="6910344" cy="5449384"/>
          </a:xfrm>
          <a:custGeom>
            <a:avLst/>
            <a:gdLst/>
            <a:ahLst/>
            <a:cxnLst/>
            <a:rect r="r" b="b" t="t" l="l"/>
            <a:pathLst>
              <a:path h="5449384" w="6910344">
                <a:moveTo>
                  <a:pt x="0" y="0"/>
                </a:moveTo>
                <a:lnTo>
                  <a:pt x="6910344" y="0"/>
                </a:lnTo>
                <a:lnTo>
                  <a:pt x="6910344" y="5449384"/>
                </a:lnTo>
                <a:lnTo>
                  <a:pt x="0" y="5449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614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02015" y="952500"/>
            <a:ext cx="628397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Manipulación de Cadenas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519170"/>
            <a:ext cx="8115300" cy="31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Operaciones comunes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Las operaciones comunes en la ma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nipulación de cadenas incluyen: concatenar, dividir, buscar y reemplazar. Estas técnicas permiten construir, modificar y consultar se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encia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 de texto de m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anera eficiente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23380" y="2351202"/>
            <a:ext cx="7035920" cy="5584597"/>
          </a:xfrm>
          <a:custGeom>
            <a:avLst/>
            <a:gdLst/>
            <a:ahLst/>
            <a:cxnLst/>
            <a:rect r="r" b="b" t="t" l="l"/>
            <a:pathLst>
              <a:path h="5584597" w="7035920">
                <a:moveTo>
                  <a:pt x="0" y="0"/>
                </a:moveTo>
                <a:lnTo>
                  <a:pt x="7035920" y="0"/>
                </a:lnTo>
                <a:lnTo>
                  <a:pt x="7035920" y="5584596"/>
                </a:lnTo>
                <a:lnTo>
                  <a:pt x="0" y="5584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389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02015" y="952500"/>
            <a:ext cx="628397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Manipulación de Cadenas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519170"/>
            <a:ext cx="8115300" cy="31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Ventajas de las cadenas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Las cadenas son útiles para procesar datos como nombres, correos y textos completos. La correcta ma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nipulación de cadenas permite organizar y presentar información de manera coher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 y comp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rensible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92042" y="2352038"/>
            <a:ext cx="6767258" cy="5582925"/>
          </a:xfrm>
          <a:custGeom>
            <a:avLst/>
            <a:gdLst/>
            <a:ahLst/>
            <a:cxnLst/>
            <a:rect r="r" b="b" t="t" l="l"/>
            <a:pathLst>
              <a:path h="5582925" w="6767258">
                <a:moveTo>
                  <a:pt x="0" y="0"/>
                </a:moveTo>
                <a:lnTo>
                  <a:pt x="6767258" y="0"/>
                </a:lnTo>
                <a:lnTo>
                  <a:pt x="6767258" y="5582924"/>
                </a:lnTo>
                <a:lnTo>
                  <a:pt x="0" y="5582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" t="-11099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02015" y="952500"/>
            <a:ext cx="628397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Manipulación de Cadenas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519170"/>
            <a:ext cx="8115300" cy="31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Desventajas de las cadenas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Aunque útiles, 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las cadenas pueden consumir mucha memoria si no se manejan adecuadamente. Un mal uso de las operaciones de cadena puede llevar a inefi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ciencia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 en el rendimiento de l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aplicación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73226" y="952500"/>
            <a:ext cx="12141547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Herramientas de Representación de Algoritmos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53940"/>
            <a:ext cx="16230600" cy="493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</a:t>
            </a: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Son métodos visuales o textuales que permiten describir paso a paso cómo funciona un algoritmo. Facilitan su comprensión, análisis, diseño y comunicación antes de programarlo.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Características principales</a:t>
            </a:r>
          </a:p>
          <a:p>
            <a:pPr algn="l" marL="604523" indent="-302261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Claridad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permiten ver la lógica sin necesidad de código real.</a:t>
            </a:r>
          </a:p>
          <a:p>
            <a:pPr algn="l" marL="604523" indent="-302261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Estandarización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muchas usan símbolos o reglas comunes (diagramas, pseudocódigo).</a:t>
            </a:r>
          </a:p>
          <a:p>
            <a:pPr algn="l" marL="604523" indent="-302261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Prevención de errores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ayudan a identificar fallos antes de implementar.</a:t>
            </a:r>
          </a:p>
          <a:p>
            <a:pPr algn="l" marL="604523" indent="-302261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Comunicación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permiten que personas con distinto nivel técnico entiendan el proceso.</a:t>
            </a:r>
          </a:p>
          <a:p>
            <a:pPr algn="l" marL="604523" indent="-302261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Versatilidad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pueden aplicarse a algoritmos simples o complejos.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6912" y="3470004"/>
            <a:ext cx="7567543" cy="4365242"/>
          </a:xfrm>
          <a:custGeom>
            <a:avLst/>
            <a:gdLst/>
            <a:ahLst/>
            <a:cxnLst/>
            <a:rect r="r" b="b" t="t" l="l"/>
            <a:pathLst>
              <a:path h="4365242" w="7567543">
                <a:moveTo>
                  <a:pt x="0" y="0"/>
                </a:moveTo>
                <a:lnTo>
                  <a:pt x="7567543" y="0"/>
                </a:lnTo>
                <a:lnTo>
                  <a:pt x="7567543" y="4365242"/>
                </a:lnTo>
                <a:lnTo>
                  <a:pt x="0" y="4365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73226" y="952500"/>
            <a:ext cx="12141547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Herramientas de Representación de Algoritmos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56696"/>
            <a:ext cx="8115300" cy="593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Principales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herramientas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Diagramas de flujo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Representación gráfica con símbolos que muestran el flujo del proceso paso a paso.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Uso: visualizar decisiones, ciclos, cálculos, entradas y salidas.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Pseudocódigo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Descripción estructurada, parecida al lenguaje natural, que representa la lógica de un algoritmo sin sintaxis de un lenguaje real.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73226" y="952500"/>
            <a:ext cx="12141547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Herramientas de Representación de Algoritmos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69112"/>
            <a:ext cx="9888440" cy="543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Lenguajes de m</a:t>
            </a: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odelado (UML)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Diagramas orientados a sistemas y software que permiten describir procesos, secuencias y actividades.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Tablas de decisión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Estructuras en forma de tabla que muestran condiciones y acciones posibles.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Diagramas de Nassi–Shneiderman (estructurados)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Representan la lógica de forma estructurada por bloques, útiles para ver ciclos y decisiones.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9568834" y="2947909"/>
          <a:ext cx="7315200" cy="2352675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7842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Condicion ( n &gt; 0 )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42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Verdadero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Mostrar “Positivo”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42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Falso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Mostrar “Negativo”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3073226" y="952500"/>
            <a:ext cx="12141547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Herramientas de Representación de Algoritmos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21457"/>
            <a:ext cx="7614603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Ejemp</a:t>
            </a: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 1: 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Herramienta – Diagrama de flujo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Problema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determinar si un número es positivo o negativo.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Representación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(símbolos → inicio → leer número → decisión → mensaje → fin).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98600" y="2121457"/>
            <a:ext cx="485566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Ejemplo 3: 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Tabla de decisión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24582" y="7039081"/>
            <a:ext cx="482283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Ejemp</a:t>
            </a: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 2:  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Pseudocódigo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064480" y="6195934"/>
            <a:ext cx="5838384" cy="3329674"/>
          </a:xfrm>
          <a:custGeom>
            <a:avLst/>
            <a:gdLst/>
            <a:ahLst/>
            <a:cxnLst/>
            <a:rect r="r" b="b" t="t" l="l"/>
            <a:pathLst>
              <a:path h="3329674" w="5838384">
                <a:moveTo>
                  <a:pt x="0" y="0"/>
                </a:moveTo>
                <a:lnTo>
                  <a:pt x="5838383" y="0"/>
                </a:lnTo>
                <a:lnTo>
                  <a:pt x="5838383" y="3329674"/>
                </a:lnTo>
                <a:lnTo>
                  <a:pt x="0" y="3329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455" r="0" b="-6455"/>
            </a:stretch>
          </a:blipFill>
          <a:ln w="38100" cap="rnd">
            <a:solidFill>
              <a:srgbClr val="B0B0B0"/>
            </a:solidFill>
            <a:prstDash val="solid"/>
            <a:round/>
          </a:ln>
        </p:spPr>
      </p:sp>
      <p:sp>
        <p:nvSpPr>
          <p:cNvPr name="AutoShape 8" id="8"/>
          <p:cNvSpPr/>
          <p:nvPr/>
        </p:nvSpPr>
        <p:spPr>
          <a:xfrm>
            <a:off x="2300780" y="5885260"/>
            <a:ext cx="13973578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08279" y="952500"/>
            <a:ext cx="4871442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Diagramas de Flujo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35315"/>
            <a:ext cx="16230600" cy="642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 diagrama de flujo es una representación gráfica de un algoritmo mediante símbolos estandarizados que muestran instrucciones, decisiones, ciclos y el flujo de ejecución paso a paso.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Características principales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  <a:p>
            <a:pPr algn="l" marL="604523" indent="-302261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Uso de símbolos estandarizados: óvalos (inicio/fin), rectángulos (proceso), rombos (decisión), paralelogramos (entrada/salida), flechas (flujo).</a:t>
            </a:r>
          </a:p>
          <a:p>
            <a:pPr algn="l" marL="604523" indent="-302261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Lectu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ra secuencial: normalmente de arriba hacia abajo o de izquierda a derecha.</a:t>
            </a:r>
          </a:p>
          <a:p>
            <a:pPr algn="l" marL="604523" indent="-302261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Claridad visual: permite entender la lógica sin conocer programación.</a:t>
            </a:r>
          </a:p>
          <a:p>
            <a:pPr algn="l" marL="604523" indent="-302261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Facilita depuración: ayuda a detectar fallos o pasos redundantes.</a:t>
            </a:r>
          </a:p>
          <a:p>
            <a:pPr algn="l" marL="604523" indent="-302261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Aplicable a cualqui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 tipo de problema: desde procesos administrativos hasta algoritmos de software.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932326"/>
            <a:ext cx="10253138" cy="592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Son representaciones gráficas de l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os pasos de un algoritmo.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Cada forma o símbolo tiene un significado: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Óvalo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inicio o fin.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Rectángulo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proceso o instrucción.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Rombo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decisión (condicional).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Flechas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flujo de control.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Paralelogramo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representa una entrada/salida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Flujo descendente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va de arriba hacia abajo (típico en procesos secuenciales).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Flujo ascendente o cíclico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usado para representar bucles.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111574" y="4015324"/>
            <a:ext cx="6147726" cy="3820783"/>
          </a:xfrm>
          <a:custGeom>
            <a:avLst/>
            <a:gdLst/>
            <a:ahLst/>
            <a:cxnLst/>
            <a:rect r="r" b="b" t="t" l="l"/>
            <a:pathLst>
              <a:path h="3820783" w="6147726">
                <a:moveTo>
                  <a:pt x="0" y="0"/>
                </a:moveTo>
                <a:lnTo>
                  <a:pt x="6147726" y="0"/>
                </a:lnTo>
                <a:lnTo>
                  <a:pt x="6147726" y="3820784"/>
                </a:lnTo>
                <a:lnTo>
                  <a:pt x="0" y="382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08279" y="952500"/>
            <a:ext cx="4871442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Diagramas de Flujo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08279" y="952500"/>
            <a:ext cx="4871442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Diagramas de Flujo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4224" y="2735082"/>
            <a:ext cx="935399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Ejemplo práctico: Verificar si un número es par o impar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93581" y="3872703"/>
            <a:ext cx="6700837" cy="493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Inici</a:t>
            </a:r>
            <a:r>
              <a:rPr lang="en-US" sz="27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o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2799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↓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Leer número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2799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↓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C1FF72"/>
                </a:solidFill>
                <a:latin typeface="Roboto Mono"/>
                <a:ea typeface="Roboto Mono"/>
                <a:cs typeface="Roboto Mono"/>
                <a:sym typeface="Roboto Mono"/>
              </a:rPr>
              <a:t>¿</a:t>
            </a:r>
            <a:r>
              <a:rPr lang="en-US" sz="27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número </a:t>
            </a:r>
            <a:r>
              <a:rPr lang="en-US" sz="2799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Roboto Mono"/>
                <a:ea typeface="Roboto Mono"/>
                <a:cs typeface="Roboto Mono"/>
                <a:sym typeface="Roboto Mono"/>
              </a:rPr>
              <a:t>MOD </a:t>
            </a:r>
            <a:r>
              <a:rPr lang="en-US" sz="2799">
                <a:solidFill>
                  <a:srgbClr val="FF3333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US" sz="27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US" sz="2799">
                <a:solidFill>
                  <a:srgbClr val="FF3333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US" sz="2799">
                <a:solidFill>
                  <a:srgbClr val="C1FF72"/>
                </a:solidFill>
                <a:latin typeface="Roboto Mono"/>
                <a:ea typeface="Roboto Mono"/>
                <a:cs typeface="Roboto Mono"/>
                <a:sym typeface="Roboto Mono"/>
              </a:rPr>
              <a:t>?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799">
                <a:solidFill>
                  <a:srgbClr val="CAB180"/>
                </a:solidFill>
                <a:latin typeface="Roboto Mono"/>
                <a:ea typeface="Roboto Mono"/>
                <a:cs typeface="Roboto Mono"/>
                <a:sym typeface="Roboto Mono"/>
              </a:rPr>
              <a:t>├─</a:t>
            </a:r>
            <a:r>
              <a:rPr lang="en-US" sz="27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Sí → Mostrar </a:t>
            </a:r>
            <a:r>
              <a:rPr lang="en-US" sz="2799">
                <a:solidFill>
                  <a:srgbClr val="00BF63"/>
                </a:solidFill>
                <a:latin typeface="Roboto Mono"/>
                <a:ea typeface="Roboto Mono"/>
                <a:cs typeface="Roboto Mono"/>
                <a:sym typeface="Roboto Mono"/>
              </a:rPr>
              <a:t>"Par"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799">
                <a:solidFill>
                  <a:srgbClr val="CAB180"/>
                </a:solidFill>
                <a:latin typeface="Roboto Mono"/>
                <a:ea typeface="Roboto Mono"/>
                <a:cs typeface="Roboto Mono"/>
                <a:sym typeface="Roboto Mono"/>
              </a:rPr>
              <a:t>└─</a:t>
            </a:r>
            <a:r>
              <a:rPr lang="en-US" sz="27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No → Mostrar </a:t>
            </a:r>
            <a:r>
              <a:rPr lang="en-US" sz="2799">
                <a:solidFill>
                  <a:srgbClr val="00BF63"/>
                </a:solidFill>
                <a:latin typeface="Roboto Mono"/>
                <a:ea typeface="Roboto Mono"/>
                <a:cs typeface="Roboto Mono"/>
                <a:sym typeface="Roboto Mono"/>
              </a:rPr>
              <a:t>"Impar"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2799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↓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Fin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38070"/>
            <a:ext cx="11127186" cy="692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Cas</a:t>
            </a: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de estudio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Proceso administrativo - Validación de un pago.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Pasos representados en el diagrama: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Inicio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Recibir datos de pago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Validar si el monto coincide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Validar si el método es válido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 ambas validaciones son correctas → aprobar pago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 alguna falla → rechazar pago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Resultado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El diagrama permite visualizar claramente las decisiones y simplificar el proceso antes de programarlo o automatizarlo.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748436" y="2395220"/>
            <a:ext cx="4510864" cy="6595306"/>
          </a:xfrm>
          <a:custGeom>
            <a:avLst/>
            <a:gdLst/>
            <a:ahLst/>
            <a:cxnLst/>
            <a:rect r="r" b="b" t="t" l="l"/>
            <a:pathLst>
              <a:path h="6595306" w="4510864">
                <a:moveTo>
                  <a:pt x="0" y="0"/>
                </a:moveTo>
                <a:lnTo>
                  <a:pt x="4510864" y="0"/>
                </a:lnTo>
                <a:lnTo>
                  <a:pt x="4510864" y="6595306"/>
                </a:lnTo>
                <a:lnTo>
                  <a:pt x="0" y="6595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25" t="-1849" r="-27429" b="-160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08279" y="952500"/>
            <a:ext cx="4871442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Diagramas de Flujo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22939" y="952500"/>
            <a:ext cx="3642122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Pseudocódigo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09190"/>
            <a:ext cx="16230600" cy="684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Características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 pseudocódigo es una forma de describir algoritmos usando lenguaje natural estructurado, sin reglas estrictas de un lenguaje de programación. Sus características principales son: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Características principales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Sencillo y legible</a:t>
            </a: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usa palabras comunes como leer, mostrar, si, mientras, lo que facilita su comprensión para cualquier persona.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Estructurado</a:t>
            </a: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sigue la lógica de programación (secuencias, decisiones, ciclos), per</a:t>
            </a: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sin sintaxis rígida.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ndependiente del lenguaje</a:t>
            </a: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no pertenece a ningún lenguaje real (Python, Java, C, etc.), por lo que puede adaptarse a cualquiera.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Facilita el diseño del algoritmo</a:t>
            </a: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sirve como borrador antes de escribir código real.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Enfocado en la lógica, no en la sintaxis</a:t>
            </a: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permite concentrarse en el qué hace el algoritmo más que en cómo lo escribe un lenguaje.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Flexible</a:t>
            </a: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admite diferentes estilos mientras la lógica siga siendo clara y ordenada.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22939" y="952500"/>
            <a:ext cx="3642122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Pseudocódigo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34707"/>
            <a:ext cx="1051991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Ejemplo: Determinar si una persona es mayor de edad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69044" y="4125051"/>
            <a:ext cx="8693372" cy="442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Leer </a:t>
            </a:r>
            <a:r>
              <a:rPr lang="en-US" sz="4199">
                <a:solidFill>
                  <a:srgbClr val="0099FF"/>
                </a:solidFill>
                <a:latin typeface="Roboto Mono"/>
                <a:ea typeface="Roboto Mono"/>
                <a:cs typeface="Roboto Mono"/>
                <a:sym typeface="Roboto Mono"/>
              </a:rPr>
              <a:t>edad</a:t>
            </a:r>
          </a:p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EEA525"/>
                </a:solidFill>
                <a:latin typeface="Roboto Mono"/>
                <a:ea typeface="Roboto Mono"/>
                <a:cs typeface="Roboto Mono"/>
                <a:sym typeface="Roboto Mono"/>
              </a:rPr>
              <a:t>Si</a:t>
            </a:r>
            <a:r>
              <a:rPr lang="en-US" sz="4199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4199">
                <a:solidFill>
                  <a:srgbClr val="0099FF"/>
                </a:solidFill>
                <a:latin typeface="Roboto Mono"/>
                <a:ea typeface="Roboto Mono"/>
                <a:cs typeface="Roboto Mono"/>
                <a:sym typeface="Roboto Mono"/>
              </a:rPr>
              <a:t>edad </a:t>
            </a:r>
            <a:r>
              <a:rPr lang="en-US" sz="4199">
                <a:solidFill>
                  <a:srgbClr val="FF3333"/>
                </a:solidFill>
                <a:latin typeface="Roboto Mono"/>
                <a:ea typeface="Roboto Mono"/>
                <a:cs typeface="Roboto Mono"/>
                <a:sym typeface="Roboto Mono"/>
              </a:rPr>
              <a:t>&gt;= 18</a:t>
            </a:r>
            <a:r>
              <a:rPr lang="en-US" sz="4199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4199">
                <a:solidFill>
                  <a:srgbClr val="FF66C4"/>
                </a:solidFill>
                <a:latin typeface="Roboto Mono"/>
                <a:ea typeface="Roboto Mono"/>
                <a:cs typeface="Roboto Mono"/>
                <a:sym typeface="Roboto Mono"/>
              </a:rPr>
              <a:t>ent</a:t>
            </a:r>
            <a:r>
              <a:rPr lang="en-US" sz="4199">
                <a:solidFill>
                  <a:srgbClr val="FF66C4"/>
                </a:solidFill>
                <a:latin typeface="Roboto Mono"/>
                <a:ea typeface="Roboto Mono"/>
                <a:cs typeface="Roboto Mono"/>
                <a:sym typeface="Roboto Mono"/>
              </a:rPr>
              <a:t>onces</a:t>
            </a:r>
          </a:p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Mostrar </a:t>
            </a:r>
            <a:r>
              <a:rPr lang="en-US" sz="4199">
                <a:solidFill>
                  <a:srgbClr val="00BF63"/>
                </a:solidFill>
                <a:latin typeface="Roboto Mono"/>
                <a:ea typeface="Roboto Mono"/>
                <a:cs typeface="Roboto Mono"/>
                <a:sym typeface="Roboto Mono"/>
              </a:rPr>
              <a:t>"Mayor de edad"</a:t>
            </a:r>
          </a:p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EEA525"/>
                </a:solidFill>
                <a:latin typeface="Roboto Mono"/>
                <a:ea typeface="Roboto Mono"/>
                <a:cs typeface="Roboto Mono"/>
                <a:sym typeface="Roboto Mono"/>
              </a:rPr>
              <a:t>Sino</a:t>
            </a:r>
          </a:p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B0B0B0"/>
                </a:solidFill>
                <a:latin typeface="Roboto Mono"/>
                <a:ea typeface="Roboto Mono"/>
                <a:cs typeface="Roboto Mono"/>
                <a:sym typeface="Roboto Mono"/>
              </a:rPr>
              <a:t>    Mostrar </a:t>
            </a:r>
            <a:r>
              <a:rPr lang="en-US" sz="4199">
                <a:solidFill>
                  <a:srgbClr val="00BF63"/>
                </a:solidFill>
                <a:latin typeface="Roboto Mono"/>
                <a:ea typeface="Roboto Mono"/>
                <a:cs typeface="Roboto Mono"/>
                <a:sym typeface="Roboto Mono"/>
              </a:rPr>
              <a:t>"Menor de edad"</a:t>
            </a:r>
          </a:p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EEA525"/>
                </a:solidFill>
                <a:latin typeface="Roboto Mono"/>
                <a:ea typeface="Roboto Mono"/>
                <a:cs typeface="Roboto Mono"/>
                <a:sym typeface="Roboto Mono"/>
              </a:rPr>
              <a:t>FinSi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98648" y="2564175"/>
            <a:ext cx="3929712" cy="5947672"/>
          </a:xfrm>
          <a:custGeom>
            <a:avLst/>
            <a:gdLst/>
            <a:ahLst/>
            <a:cxnLst/>
            <a:rect r="r" b="b" t="t" l="l"/>
            <a:pathLst>
              <a:path h="5947672" w="3929712">
                <a:moveTo>
                  <a:pt x="0" y="0"/>
                </a:moveTo>
                <a:lnTo>
                  <a:pt x="3929712" y="0"/>
                </a:lnTo>
                <a:lnTo>
                  <a:pt x="3929712" y="5947672"/>
                </a:lnTo>
                <a:lnTo>
                  <a:pt x="0" y="594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658" t="-4461" r="-30108" b="-241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22939" y="952500"/>
            <a:ext cx="3642122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Pseudocódigo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88360"/>
            <a:ext cx="10838238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Estructura y C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omponentes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 pseudocódigo se organiza siguiendo una estructura lógica que facilita entender el algoritmo de principio a fin.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Esta estructura imita la organización de los lenguajes de programación, pero con un lenguaje más simple.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Inicio y Fin: Delimitan el comienzo y el cierre del algoritmo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68303" y="2052159"/>
            <a:ext cx="3747640" cy="6182682"/>
          </a:xfrm>
          <a:custGeom>
            <a:avLst/>
            <a:gdLst/>
            <a:ahLst/>
            <a:cxnLst/>
            <a:rect r="r" b="b" t="t" l="l"/>
            <a:pathLst>
              <a:path h="6182682" w="3747640">
                <a:moveTo>
                  <a:pt x="0" y="0"/>
                </a:moveTo>
                <a:lnTo>
                  <a:pt x="3747640" y="0"/>
                </a:lnTo>
                <a:lnTo>
                  <a:pt x="3747640" y="6182682"/>
                </a:lnTo>
                <a:lnTo>
                  <a:pt x="0" y="6182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054" t="0" r="-31570" b="-28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22939" y="952500"/>
            <a:ext cx="3642122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Pseudocódigo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11642"/>
            <a:ext cx="11192370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2. Entradas (lectura de datos)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 los valores que el usuario o el sistema debe proporcionar para que el algoritmo funcione.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Palabras comunes: Leer, Input, Ingresar.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Ejemplo: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Leer número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64256" y="5381863"/>
            <a:ext cx="3444187" cy="3876437"/>
          </a:xfrm>
          <a:custGeom>
            <a:avLst/>
            <a:gdLst/>
            <a:ahLst/>
            <a:cxnLst/>
            <a:rect r="r" b="b" t="t" l="l"/>
            <a:pathLst>
              <a:path h="3876437" w="3444187">
                <a:moveTo>
                  <a:pt x="0" y="0"/>
                </a:moveTo>
                <a:lnTo>
                  <a:pt x="3444188" y="0"/>
                </a:lnTo>
                <a:lnTo>
                  <a:pt x="3444188" y="3876437"/>
                </a:lnTo>
                <a:lnTo>
                  <a:pt x="0" y="38764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214" t="-3400" r="-11118" b="-706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08830" y="5327262"/>
            <a:ext cx="3985640" cy="3985640"/>
          </a:xfrm>
          <a:custGeom>
            <a:avLst/>
            <a:gdLst/>
            <a:ahLst/>
            <a:cxnLst/>
            <a:rect r="r" b="b" t="t" l="l"/>
            <a:pathLst>
              <a:path h="3985640" w="3985640">
                <a:moveTo>
                  <a:pt x="0" y="0"/>
                </a:moveTo>
                <a:lnTo>
                  <a:pt x="3985640" y="0"/>
                </a:lnTo>
                <a:lnTo>
                  <a:pt x="3985640" y="3985639"/>
                </a:lnTo>
                <a:lnTo>
                  <a:pt x="0" y="3985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22939" y="952500"/>
            <a:ext cx="3642122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Pseudocódigo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98528"/>
            <a:ext cx="8115300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3. Proces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os (instrucciones)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Son las operaciones o pasos que realiza el algoritmo: cálculos, asignaciones, transformaciones.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2598528"/>
            <a:ext cx="8115300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4. Decisi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ones (condiciones)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Permiten tomar distintos caminos según una condición.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Palabras clave: Si, Sino, FinSi.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58457" y="2253080"/>
            <a:ext cx="4294384" cy="7005220"/>
          </a:xfrm>
          <a:custGeom>
            <a:avLst/>
            <a:gdLst/>
            <a:ahLst/>
            <a:cxnLst/>
            <a:rect r="r" b="b" t="t" l="l"/>
            <a:pathLst>
              <a:path h="7005220" w="4294384">
                <a:moveTo>
                  <a:pt x="0" y="0"/>
                </a:moveTo>
                <a:lnTo>
                  <a:pt x="4294385" y="0"/>
                </a:lnTo>
                <a:lnTo>
                  <a:pt x="4294385" y="7005220"/>
                </a:lnTo>
                <a:lnTo>
                  <a:pt x="0" y="7005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85" t="0" r="-3113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22939" y="952500"/>
            <a:ext cx="3642122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Pseudocódigo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98528"/>
            <a:ext cx="8115300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5. Repetici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ones (ciclos)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Permiten repetir instrucciones hasta que se cumpla una condición.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Palabras clave: Mientras, Repetir, Para.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698540"/>
            <a:ext cx="8115300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6. Salidas (resultados)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 los datos que se muestran como resultado de ejecutar el algoritmo.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Palabras comunes: Mostrar, Output, Imprimir.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56551" y="2442794"/>
            <a:ext cx="6129743" cy="6129743"/>
          </a:xfrm>
          <a:custGeom>
            <a:avLst/>
            <a:gdLst/>
            <a:ahLst/>
            <a:cxnLst/>
            <a:rect r="r" b="b" t="t" l="l"/>
            <a:pathLst>
              <a:path h="6129743" w="6129743">
                <a:moveTo>
                  <a:pt x="0" y="0"/>
                </a:moveTo>
                <a:lnTo>
                  <a:pt x="6129743" y="0"/>
                </a:lnTo>
                <a:lnTo>
                  <a:pt x="6129743" y="6129743"/>
                </a:lnTo>
                <a:lnTo>
                  <a:pt x="0" y="6129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57" t="-12202" r="-11170" b="-1102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22939" y="952500"/>
            <a:ext cx="3642122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Pseudocódigo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235779"/>
            <a:ext cx="9032695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Ventajas y Desventajas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 pseud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ocódigo es una herramienta muy utilizada en la planificación de algoritmos. Aunque es flexible y fácil de entender, también presenta limitaciones importantes.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22939" y="952500"/>
            <a:ext cx="3642122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Pseudocódigo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86808"/>
            <a:ext cx="16230600" cy="493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Ventajas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Fácil de c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omprender: usa lenguaje cercano al natural, ideal para estudiantes y equipos multidisciplinarios.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depende de un lenguaje de programación: la lógica puede convertirse después a cualquier lenguaje (Python, C, Java, etc.).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Ayuda a planificar antes de programar: permite visualizar la solución sin preocuparse por sintaxis.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Facilita detectar errores lógicos: revisar la idea antes de escribir código reduce fallos.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Permite documentar procedimientos: sirve como guía para mantener o actualizar sistemas.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Estructurado: refleja decisiones, ciclos y procesos de forma ordenada.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22939" y="952500"/>
            <a:ext cx="3642122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Pseudocódigo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93060"/>
            <a:ext cx="16230600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Desventajas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se puede ejecutar: es solo una descripción, no un programa real.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Ambigüedad: al no tener reglas estrictas, diferentes personas pueden escribirlo de maneras distintas.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detecta errores de sintaxis o ejecución: esos problemas solo se identifican al convertirlo a código real.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Puede volverse extenso: en algoritmos complejos, el pseudocódigo puede ser demasiado largo para algunos equipos.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Depende de la claridad del autor: si no se redacta bien, puede generar confusiones.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22939" y="952500"/>
            <a:ext cx="3642122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Pseudocódigo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72466"/>
            <a:ext cx="11627215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Software de Pseudocódig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(SW de pseudocódigo)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 software de pseudocódigo incluye programas y plataformas diseñadas para crear, visualizar, ejecutar parcialmente o validar la lógica de algoritmos escritos en pseudocódigo. No todos permiten ejecución real, pero sí ayudan a practicar la lógica estructurada.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73272" y="6300470"/>
            <a:ext cx="10786028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Concepto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Son herramientas que permiten escribir alg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oritmos en un formato parecido al pseudocódigo, facilitando el aprendizaje, la documentación y, en algunos casos, la simulación del flujo lógico sin usar un lenguaje de programación formal.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46543" y="3713091"/>
            <a:ext cx="6712757" cy="4227338"/>
          </a:xfrm>
          <a:custGeom>
            <a:avLst/>
            <a:gdLst/>
            <a:ahLst/>
            <a:cxnLst/>
            <a:rect r="r" b="b" t="t" l="l"/>
            <a:pathLst>
              <a:path h="4227338" w="6712757">
                <a:moveTo>
                  <a:pt x="0" y="0"/>
                </a:moveTo>
                <a:lnTo>
                  <a:pt x="6712757" y="0"/>
                </a:lnTo>
                <a:lnTo>
                  <a:pt x="6712757" y="4227338"/>
                </a:lnTo>
                <a:lnTo>
                  <a:pt x="0" y="4227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770" t="-58927" r="-15816" b="-516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22939" y="952500"/>
            <a:ext cx="3642122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Pseudocódigo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38070"/>
            <a:ext cx="9245111" cy="692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Características c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omunes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Interfaz simple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enfocada en la lógica, no en la sintaxis.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Simulación o ejecución parcial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algunos permiten correr el algoritmo paso a paso.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Resaltado de estructura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facilitan distinguir entradas, ciclos, decisiones y procesos.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Orientado a estudiantes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muchas herramientas están diseñadas para enseñanza.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Soporte para diagramas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en ciertos programas puedes alternar entre pseudocódigo y diagramas de flujo.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Depuración conceptual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se pueden identificar errores lógicos fácilmente.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89771" y="3841624"/>
            <a:ext cx="6469529" cy="4715741"/>
          </a:xfrm>
          <a:custGeom>
            <a:avLst/>
            <a:gdLst/>
            <a:ahLst/>
            <a:cxnLst/>
            <a:rect r="r" b="b" t="t" l="l"/>
            <a:pathLst>
              <a:path h="4715741" w="6469529">
                <a:moveTo>
                  <a:pt x="0" y="0"/>
                </a:moveTo>
                <a:lnTo>
                  <a:pt x="6469529" y="0"/>
                </a:lnTo>
                <a:lnTo>
                  <a:pt x="6469529" y="4715740"/>
                </a:lnTo>
                <a:lnTo>
                  <a:pt x="0" y="4715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46" t="-36978" r="-14150" b="-3615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81451" y="952500"/>
            <a:ext cx="792509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PSeInt (Pseudocode Interpreter)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09190"/>
            <a:ext cx="9951188" cy="684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¿Qué es?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 entorno educativo diseñado para escribir pseudocódigo usando una sintaxis simple y en español. Es uno de los más usados en cursos de introducción a algoritmos.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Características principale</a:t>
            </a: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Sintaxis clara basada en estructuras clásicas (SI, MIENTRAS, PARA).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Mue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stra errores comunes de lógica.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Permite ejecutar el pseudocódigo paso a paso.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Genera diagramas de flujo automáticamente.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Ideal para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Estudiantes que están empezando y necesitan visualizar y entender la lógica sin distraerse con sintaxis formal.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79888" y="3258250"/>
            <a:ext cx="6279412" cy="4506156"/>
          </a:xfrm>
          <a:custGeom>
            <a:avLst/>
            <a:gdLst/>
            <a:ahLst/>
            <a:cxnLst/>
            <a:rect r="r" b="b" t="t" l="l"/>
            <a:pathLst>
              <a:path h="4506156" w="6279412">
                <a:moveTo>
                  <a:pt x="0" y="0"/>
                </a:moveTo>
                <a:lnTo>
                  <a:pt x="6279412" y="0"/>
                </a:lnTo>
                <a:lnTo>
                  <a:pt x="6279412" y="4506156"/>
                </a:lnTo>
                <a:lnTo>
                  <a:pt x="0" y="45061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596" t="-32148" r="-18597" b="-6182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31150" y="952500"/>
            <a:ext cx="202570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RAPTOR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09190"/>
            <a:ext cx="9951188" cy="639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¿Qué es?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 software basado en diagramas de flujo. En lugar de escribir pseudocódigo, construyes el algoritmo moviendo bloques y conectándolos.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Características principale</a:t>
            </a: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iseño gráfico del algoritmo (flowchart).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Ejecución animada paso a paso.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ntrol claro del flujo lógico.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Ideal para: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Personas que comprenden mejor mediante esquemas visuales y diagramas.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34272" y="2606654"/>
            <a:ext cx="5825028" cy="5981056"/>
          </a:xfrm>
          <a:custGeom>
            <a:avLst/>
            <a:gdLst/>
            <a:ahLst/>
            <a:cxnLst/>
            <a:rect r="r" b="b" t="t" l="l"/>
            <a:pathLst>
              <a:path h="5981056" w="5825028">
                <a:moveTo>
                  <a:pt x="0" y="0"/>
                </a:moveTo>
                <a:lnTo>
                  <a:pt x="5825028" y="0"/>
                </a:lnTo>
                <a:lnTo>
                  <a:pt x="5825028" y="5981056"/>
                </a:lnTo>
                <a:lnTo>
                  <a:pt x="0" y="5981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976" t="-34560" r="-43065" b="-4760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08615" y="952500"/>
            <a:ext cx="307077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Flowgorithm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09190"/>
            <a:ext cx="9951188" cy="593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¿Qué es?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Una alternativa moderna a Raptor, también basada en diagramas de flujo, pero con más opciones visuales y mejor interfaz.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Características principale</a:t>
            </a: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orta a varios lenguajes (C++, Python, Java, JavaScript).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Fá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cil de leer incluso para principiantes.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Permi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 probar y validar el algoritmo visualmente.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Ideal para: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studiantes que luego desean convertir sus diagramas en código real.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46920" y="2162319"/>
            <a:ext cx="5178583" cy="6028401"/>
          </a:xfrm>
          <a:custGeom>
            <a:avLst/>
            <a:gdLst/>
            <a:ahLst/>
            <a:cxnLst/>
            <a:rect r="r" b="b" t="t" l="l"/>
            <a:pathLst>
              <a:path h="6028401" w="5178583">
                <a:moveTo>
                  <a:pt x="0" y="0"/>
                </a:moveTo>
                <a:lnTo>
                  <a:pt x="5178582" y="0"/>
                </a:lnTo>
                <a:lnTo>
                  <a:pt x="5178582" y="6028402"/>
                </a:lnTo>
                <a:lnTo>
                  <a:pt x="0" y="6028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920" t="-42506" r="-57938" b="-420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01558" y="952500"/>
            <a:ext cx="288488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Visual Logic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09190"/>
            <a:ext cx="9951188" cy="547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¿Qué es?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 programa educativo que combina pseudocódigo y diagramas de flujo simples.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Características principale</a:t>
            </a: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Muy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ligero y f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á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cil de usar.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Diagramas minimalistas.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Ejecución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paso a paso con entrada de datos.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Ideal para: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ursos de nivel básico que requieren una herramienta rápida y poco compleja.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5954" y="952500"/>
            <a:ext cx="731609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Conceptos clave aprendidos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76270"/>
            <a:ext cx="10833422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 representación de alg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oritmos es un proceso clave en la ingeniería de software y en el aprendizaje de la programación, pues permite transformar ideas abstractas en procedimientos claros, comprensibles y ejecutables.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89324" y="6657975"/>
            <a:ext cx="10969976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Explorar diversas herramientas com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diagramas de flujo, pseudocódigo y lenguajes de modelado, destacando su utilidad,  permiten organizar la lógica, evitar errores y mejorar la comunicación entre desarrolladores y estudiantes. 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034" y="952500"/>
            <a:ext cx="445993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Nombre del valor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4850" y="3231902"/>
            <a:ext cx="15238301" cy="442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 </a:t>
            </a: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orden es fundamental en la representación de algoritmos, pues garantiza secuencias claras y precisas. Se refleja en el uso de herramientas y diagramas de flujo, que requieren lógica bien organizada. Asimismo, el pseudocódigo demanda estructuras definidas para diseñar soluciones correctas y comprensibles.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38083" y="952500"/>
            <a:ext cx="30118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Referencias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9546" y="2427596"/>
            <a:ext cx="15368909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IEEE C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omputer Society. Standards for Software and System Design Documentation.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Pressman, R. (2014). Ingeniería del Software: Un enfoque práctico.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PSeInt: herramienta educativa para pseudocódigo → Documentación oficial.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Flowgorithm: documentación y tutoriales.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UML 2.0 Specification – Object Management Group (OMG).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Forouzan, B. Foundations of Computer Science.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Sitios educativos: Programiz, W3Schools, Khan Academy (secciones de algoritmos y diseño).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94951" y="1664842"/>
            <a:ext cx="2098097" cy="2831413"/>
          </a:xfrm>
          <a:custGeom>
            <a:avLst/>
            <a:gdLst/>
            <a:ahLst/>
            <a:cxnLst/>
            <a:rect r="r" b="b" t="t" l="l"/>
            <a:pathLst>
              <a:path h="2831413" w="2098097">
                <a:moveTo>
                  <a:pt x="0" y="0"/>
                </a:moveTo>
                <a:lnTo>
                  <a:pt x="2098098" y="0"/>
                </a:lnTo>
                <a:lnTo>
                  <a:pt x="2098098" y="2831412"/>
                </a:lnTo>
                <a:lnTo>
                  <a:pt x="0" y="28314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89524" y="5010150"/>
            <a:ext cx="1090895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¡Gracias por su atención!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9667" y="7004386"/>
            <a:ext cx="15948666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RECUERDA QUE TENEMOS NUESTRO FORO SEMANAL DONDE PUEDES CONSULTAR</a:t>
            </a:r>
            <a:r>
              <a:rPr lang="en-US" sz="3600">
                <a:solidFill>
                  <a:srgbClr val="E0E0E0"/>
                </a:solidFill>
                <a:latin typeface="Canva Sans"/>
                <a:ea typeface="Canva Sans"/>
                <a:cs typeface="Canva Sans"/>
                <a:sym typeface="Canva Sans"/>
              </a:rPr>
              <a:t>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DAG4pM_fAtU</dc:identifier>
  <dcterms:modified xsi:type="dcterms:W3CDTF">2011-08-01T06:04:30Z</dcterms:modified>
  <cp:revision>1</cp:revision>
  <dc:title>Semana 11</dc:title>
</cp:coreProperties>
</file>