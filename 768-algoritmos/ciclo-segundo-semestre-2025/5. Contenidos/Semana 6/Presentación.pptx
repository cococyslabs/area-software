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Canva Sans" panose="020B0604020202020204" charset="0"/>
      <p:regular r:id="rId33"/>
    </p:embeddedFont>
    <p:embeddedFont>
      <p:font typeface="Canva Sans Bold" panose="020B0604020202020204" charset="0"/>
      <p:regular r:id="rId34"/>
    </p:embeddedFont>
    <p:embeddedFont>
      <p:font typeface="Canva Sans Italics" panose="020B0604020202020204" charset="0"/>
      <p:regular r:id="rId35"/>
    </p:embeddedFont>
    <p:embeddedFont>
      <p:font typeface="Open Sans" panose="020B0606030504020204" pitchFamily="34" charset="0"/>
      <p:regular r:id="rId36"/>
    </p:embeddedFont>
    <p:embeddedFont>
      <p:font typeface="Open Sans Bold" panose="020B0806030504020204" charset="0"/>
      <p:regular r:id="rId37"/>
    </p:embeddedFont>
    <p:embeddedFont>
      <p:font typeface="Roboto Mono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aCCwQTr4x8U&amp;list=PLNgaBT67nukSaEQL8JNksizGqOIYnanPT&amp;index=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s.khanacademy.org/computing" TargetMode="External"/><Relationship Id="rId2" Type="http://schemas.openxmlformats.org/officeDocument/2006/relationships/hyperlink" Target="https://cs50.harvard.edu/x/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41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866491" y="2085273"/>
            <a:ext cx="402118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Sábado - xx/0x/2026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45383" y="2827978"/>
            <a:ext cx="24634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10:30 horas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0984" y="5057775"/>
            <a:ext cx="15806083" cy="81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393E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los Algoritmos y Flujo de Datos Sec 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5850" y="5999478"/>
            <a:ext cx="463635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lang="en-US" sz="39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75853" y="488854"/>
            <a:ext cx="3106051" cy="1576032"/>
          </a:xfrm>
          <a:custGeom>
            <a:avLst/>
            <a:gdLst/>
            <a:ahLst/>
            <a:cxnLst/>
            <a:rect l="l" t="t" r="r" b="b"/>
            <a:pathLst>
              <a:path w="3106051" h="1576032">
                <a:moveTo>
                  <a:pt x="0" y="0"/>
                </a:moveTo>
                <a:lnTo>
                  <a:pt x="3106051" y="0"/>
                </a:lnTo>
                <a:lnTo>
                  <a:pt x="3106051" y="1576031"/>
                </a:lnTo>
                <a:lnTo>
                  <a:pt x="0" y="157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677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3629174" y="3846148"/>
            <a:ext cx="11029652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Fundamentos de Algoritmos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960333"/>
            <a:ext cx="976446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Introducción a los Algoritmos y Flujos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929441"/>
            <a:ext cx="5401121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Escuela de Ingeniería de Ciencias y Sistemas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421565"/>
            <a:ext cx="275585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Facultad de Ingeniería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909051"/>
            <a:ext cx="4956721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740055" y="2938358"/>
            <a:ext cx="1143682" cy="1158425"/>
          </a:xfrm>
          <a:custGeom>
            <a:avLst/>
            <a:gdLst/>
            <a:ahLst/>
            <a:cxnLst/>
            <a:rect l="l" t="t" r="r" b="b"/>
            <a:pathLst>
              <a:path w="1143682" h="1158425">
                <a:moveTo>
                  <a:pt x="0" y="0"/>
                </a:moveTo>
                <a:lnTo>
                  <a:pt x="1143682" y="0"/>
                </a:lnTo>
                <a:lnTo>
                  <a:pt x="1143682" y="1158425"/>
                </a:lnTo>
                <a:lnTo>
                  <a:pt x="0" y="1158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028700" y="5143500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1028700" y="1003935"/>
            <a:ext cx="2566392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17241" y="1003935"/>
            <a:ext cx="3142059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Recursos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6285618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5"/>
                </a:lnTo>
                <a:lnTo>
                  <a:pt x="0" y="854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7" name="Freeform 7"/>
          <p:cNvSpPr/>
          <p:nvPr/>
        </p:nvSpPr>
        <p:spPr>
          <a:xfrm>
            <a:off x="1028700" y="7425803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Freeform 8"/>
          <p:cNvSpPr/>
          <p:nvPr/>
        </p:nvSpPr>
        <p:spPr>
          <a:xfrm>
            <a:off x="1028700" y="8565987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9" name="TextBox 9"/>
          <p:cNvSpPr txBox="1"/>
          <p:nvPr/>
        </p:nvSpPr>
        <p:spPr>
          <a:xfrm>
            <a:off x="2311896" y="5247185"/>
            <a:ext cx="593157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Pensamiento computacional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1896" y="6389303"/>
            <a:ext cx="820376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Pilares del pensamiento computacional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1896" y="7529487"/>
            <a:ext cx="52287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 computacional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1896" y="8669671"/>
            <a:ext cx="649974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24447" y="4264813"/>
            <a:ext cx="219313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youtube.com/watch?v=aCCwQTr4x8U&amp;list=PLNgaBT67nukSaEQL8JNksizGqOIYnanPT&amp;index=5"/>
              </a:rPr>
              <a:t>Vídeo aquí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12135" y="3194038"/>
            <a:ext cx="176554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¿Dudas?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6533572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Competencias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0574" y="3192618"/>
            <a:ext cx="14846852" cy="420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Analiza problemas computacionales sencillos mediante técnicas de descomposición, abstracción y reconocimiento de patrones para formular su estructura y determinar posibles soluciones algorítmicas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74163" y="3778721"/>
            <a:ext cx="6266228" cy="5082832"/>
          </a:xfrm>
          <a:custGeom>
            <a:avLst/>
            <a:gdLst/>
            <a:ahLst/>
            <a:cxnLst/>
            <a:rect l="l" t="t" r="r" b="b"/>
            <a:pathLst>
              <a:path w="6266228" h="5082832">
                <a:moveTo>
                  <a:pt x="0" y="0"/>
                </a:moveTo>
                <a:lnTo>
                  <a:pt x="6266229" y="0"/>
                </a:lnTo>
                <a:lnTo>
                  <a:pt x="6266229" y="5082832"/>
                </a:lnTo>
                <a:lnTo>
                  <a:pt x="0" y="508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325" r="-1447" b="-13742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6083424" y="952500"/>
            <a:ext cx="612115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¿Qué es un Algoritmo?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10673"/>
            <a:ext cx="162306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 Formal: Un algoritmo es una secuencia finita, ordenada y no ambigua de instrucciones que resuelve un problema específico o realiza una tarea determinada.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10007"/>
            <a:ext cx="8115300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Propiedades Esenciales: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Finitud: Debe terminar después de un número limitado de pasos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 precisa: Cada paso debe estar claramente especificado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Entrada: Cero o más datos de entrada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Salida: Al menos un resultado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Efectividad: Cada operación debe ser ejecutable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7225" y="3954052"/>
            <a:ext cx="9853549" cy="2685556"/>
          </a:xfrm>
          <a:custGeom>
            <a:avLst/>
            <a:gdLst/>
            <a:ahLst/>
            <a:cxnLst/>
            <a:rect l="l" t="t" r="r" b="b"/>
            <a:pathLst>
              <a:path w="9853549" h="2685556">
                <a:moveTo>
                  <a:pt x="0" y="0"/>
                </a:moveTo>
                <a:lnTo>
                  <a:pt x="9853550" y="0"/>
                </a:lnTo>
                <a:lnTo>
                  <a:pt x="9853550" y="2685556"/>
                </a:lnTo>
                <a:lnTo>
                  <a:pt x="0" y="2685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751" b="-132157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5107409" y="952500"/>
            <a:ext cx="807318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Pensamiento Computacional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10673"/>
            <a:ext cx="162306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Definición: El pensamiento computacional es un enfoque para resolver problemas basado en conceptos fundamentales de la informática, aplicable a cualquier dominio.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268258"/>
            <a:ext cx="13997895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Importancia: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Desarrolla habilidades de resolución sistemática de problemas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Aplicable más allá de la programación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 para el diseño de software eficiente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20815" y="3122930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9275" t="-38018" r="-30030" b="-21287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649590" y="873125"/>
            <a:ext cx="698882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Pilares Fundamentales del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pensamiento computacional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05945" y="2457451"/>
            <a:ext cx="7953355" cy="310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DESCOMPOSICIÓN</a:t>
            </a:r>
          </a:p>
          <a:p>
            <a:pPr algn="r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Dividir un problema complejo en </a:t>
            </a:r>
          </a:p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sub-problemas más simples y manejables</a:t>
            </a: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Reducir la complejidad </a:t>
            </a:r>
          </a:p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cognitiva</a:t>
            </a: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Cada sub-problema </a:t>
            </a:r>
          </a:p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puede resolverse independientemente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932930"/>
            <a:ext cx="8115300" cy="232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DE ALGORITMOS</a:t>
            </a:r>
          </a:p>
          <a:p>
            <a:pPr algn="just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Desarrollar instrucciones paso a 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paso para resolver el problema</a:t>
            </a:r>
          </a:p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Crear una solución ejecutable</a:t>
            </a:r>
          </a:p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Transformar el análisis en acción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5945" y="6151880"/>
            <a:ext cx="7953355" cy="310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RECONOCIMIENTO DE PATRONES</a:t>
            </a:r>
          </a:p>
          <a:p>
            <a:pPr algn="r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Identificar similitudes, </a:t>
            </a:r>
          </a:p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regularidades y tendencias entre diferentes </a:t>
            </a:r>
          </a:p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problemas</a:t>
            </a: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Reutilizar soluciones probadas</a:t>
            </a:r>
          </a:p>
          <a:p>
            <a:pPr algn="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Si el problema A es similar al problema B resuelto, adaptar la solución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457451"/>
            <a:ext cx="7925906" cy="349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ABSTRACCIÓN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Filtrar y enfocarse solo en la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información relevante, omitiendo detalles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innecesarios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Simplificar la representación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 problema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Crear modelos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generalizables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65521" y="7318215"/>
            <a:ext cx="6342091" cy="571554"/>
          </a:xfrm>
          <a:custGeom>
            <a:avLst/>
            <a:gdLst/>
            <a:ahLst/>
            <a:cxnLst/>
            <a:rect l="l" t="t" r="r" b="b"/>
            <a:pathLst>
              <a:path w="6342091" h="571554">
                <a:moveTo>
                  <a:pt x="0" y="0"/>
                </a:moveTo>
                <a:lnTo>
                  <a:pt x="6342091" y="0"/>
                </a:lnTo>
                <a:lnTo>
                  <a:pt x="6342091" y="571554"/>
                </a:lnTo>
                <a:lnTo>
                  <a:pt x="0" y="571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3023" r="-234" b="-50920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4164806" y="952500"/>
            <a:ext cx="9958388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Descomposición - Divide y Vencerás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10673"/>
            <a:ext cx="16230600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Principio Fundamental: "Un problema complejo es simplemente una colección de problemas simples organizados"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Técnica: Dividir un problema en sub-problemas más pequeños hasta que cada parte sea lo suficientemente simple para resolverse directamente.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17025"/>
            <a:ext cx="719316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Ejemplo Aplicado: Sistema de Inscripción Escolar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0 (Problema completo):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454" y="3573951"/>
            <a:ext cx="5734949" cy="2221995"/>
          </a:xfrm>
          <a:custGeom>
            <a:avLst/>
            <a:gdLst/>
            <a:ahLst/>
            <a:cxnLst/>
            <a:rect l="l" t="t" r="r" b="b"/>
            <a:pathLst>
              <a:path w="5734949" h="2221995">
                <a:moveTo>
                  <a:pt x="0" y="0"/>
                </a:moveTo>
                <a:lnTo>
                  <a:pt x="5734949" y="0"/>
                </a:lnTo>
                <a:lnTo>
                  <a:pt x="5734949" y="2221994"/>
                </a:lnTo>
                <a:lnTo>
                  <a:pt x="0" y="2221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45" t="-98662" b="-87429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0385086" y="3544760"/>
            <a:ext cx="6736039" cy="2280375"/>
          </a:xfrm>
          <a:custGeom>
            <a:avLst/>
            <a:gdLst/>
            <a:ahLst/>
            <a:cxnLst/>
            <a:rect l="l" t="t" r="r" b="b"/>
            <a:pathLst>
              <a:path w="6736039" h="2280375">
                <a:moveTo>
                  <a:pt x="0" y="0"/>
                </a:moveTo>
                <a:lnTo>
                  <a:pt x="6736039" y="0"/>
                </a:lnTo>
                <a:lnTo>
                  <a:pt x="6736039" y="2280376"/>
                </a:lnTo>
                <a:lnTo>
                  <a:pt x="0" y="2280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6785744" y="952500"/>
            <a:ext cx="471651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Descomposición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8416" y="2245945"/>
            <a:ext cx="515302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1 (Descomposición principal):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60864" y="2245945"/>
            <a:ext cx="5184483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2 (Descomposición detallada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ejemplo de "Validar datos"):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554742"/>
            <a:ext cx="12102852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 Técnicas: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Modularidad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Cada módulo puede desarrollarse independientemente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Reutilización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Los módulos pueden usarse en otros contextos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Mantenimiento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Errores se localizan fácilmente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Trabajo en equipo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Diferentes personas pueden trabajar en diferentes módulos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Pruebas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Cada componente puede probarse por separado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8791" y="4797332"/>
            <a:ext cx="8960509" cy="2744156"/>
          </a:xfrm>
          <a:custGeom>
            <a:avLst/>
            <a:gdLst/>
            <a:ahLst/>
            <a:cxnLst/>
            <a:rect l="l" t="t" r="r" b="b"/>
            <a:pathLst>
              <a:path w="8960509" h="2744156">
                <a:moveTo>
                  <a:pt x="0" y="0"/>
                </a:moveTo>
                <a:lnTo>
                  <a:pt x="8960509" y="0"/>
                </a:lnTo>
                <a:lnTo>
                  <a:pt x="8960509" y="2744156"/>
                </a:lnTo>
                <a:lnTo>
                  <a:pt x="0" y="274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631156" y="952500"/>
            <a:ext cx="15025688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Reconocimiento de Patrones - Reutilización Inteligente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10673"/>
            <a:ext cx="16230600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Concepto Central: Identificar características comunes entre problemas para aplicar soluciones conocidas o adaptarlas a nuevos contextos.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Patrones: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586" y="5652523"/>
            <a:ext cx="7155205" cy="9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Patrones de Estructura: Problemas 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 comparten organización similar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474607"/>
            <a:ext cx="8115300" cy="2504020"/>
          </a:xfrm>
          <a:custGeom>
            <a:avLst/>
            <a:gdLst/>
            <a:ahLst/>
            <a:cxnLst/>
            <a:rect l="l" t="t" r="r" b="b"/>
            <a:pathLst>
              <a:path w="8115300" h="2504020">
                <a:moveTo>
                  <a:pt x="0" y="0"/>
                </a:moveTo>
                <a:lnTo>
                  <a:pt x="8115300" y="0"/>
                </a:lnTo>
                <a:lnTo>
                  <a:pt x="8115300" y="2504019"/>
                </a:lnTo>
                <a:lnTo>
                  <a:pt x="0" y="2504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028700" y="5447082"/>
            <a:ext cx="8115300" cy="3895344"/>
          </a:xfrm>
          <a:custGeom>
            <a:avLst/>
            <a:gdLst/>
            <a:ahLst/>
            <a:cxnLst/>
            <a:rect l="l" t="t" r="r" b="b"/>
            <a:pathLst>
              <a:path w="8115300" h="3895344">
                <a:moveTo>
                  <a:pt x="0" y="0"/>
                </a:moveTo>
                <a:lnTo>
                  <a:pt x="8115300" y="0"/>
                </a:lnTo>
                <a:lnTo>
                  <a:pt x="8115300" y="3895344"/>
                </a:lnTo>
                <a:lnTo>
                  <a:pt x="0" y="3895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184725" y="952500"/>
            <a:ext cx="7918549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Reconocimiento de Patrones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0485" y="3209729"/>
            <a:ext cx="7155205" cy="9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Patrones de Secuencia: Problemas con orden predecible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24047" y="6877866"/>
            <a:ext cx="7155205" cy="9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Patrones de Comportamiento: Problemas con lógica similar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189810"/>
            <a:ext cx="16230600" cy="47722"/>
            <a:chOff x="0" y="0"/>
            <a:chExt cx="4274726" cy="12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12569"/>
            </a:xfrm>
            <a:custGeom>
              <a:avLst/>
              <a:gdLst/>
              <a:ahLst/>
              <a:cxnLst/>
              <a:rect l="l" t="t" r="r" b="b"/>
              <a:pathLst>
                <a:path w="4274726" h="12569">
                  <a:moveTo>
                    <a:pt x="0" y="0"/>
                  </a:moveTo>
                  <a:lnTo>
                    <a:pt x="4274726" y="0"/>
                  </a:lnTo>
                  <a:lnTo>
                    <a:pt x="4274726" y="12569"/>
                  </a:lnTo>
                  <a:lnTo>
                    <a:pt x="0" y="12569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50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36858" y="4040854"/>
            <a:ext cx="8341866" cy="3744005"/>
          </a:xfrm>
          <a:custGeom>
            <a:avLst/>
            <a:gdLst/>
            <a:ahLst/>
            <a:cxnLst/>
            <a:rect l="l" t="t" r="r" b="b"/>
            <a:pathLst>
              <a:path w="8341866" h="3744005">
                <a:moveTo>
                  <a:pt x="0" y="0"/>
                </a:moveTo>
                <a:lnTo>
                  <a:pt x="8341866" y="0"/>
                </a:lnTo>
                <a:lnTo>
                  <a:pt x="8341866" y="3744005"/>
                </a:lnTo>
                <a:lnTo>
                  <a:pt x="0" y="3744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59" t="-58886" r="-1602" b="-81212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5184725" y="952500"/>
            <a:ext cx="7918549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Reconocimiento de Patrones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61986"/>
            <a:ext cx="8308158" cy="626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Beneficios: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Eficiencia: No reinventar la rueda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Confiabilidad: Usar soluciones probadas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Rapidez: Desarrollo más ágil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Aprendizaje: Construir sobre conocimiento previo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Ejercicio Mental: Qué patrón común encuentras entre: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Ordenar cartas por número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Ordenar archivos por fecha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Ordenar estudiantes por apellido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73343" y="3249202"/>
            <a:ext cx="3440190" cy="5924577"/>
          </a:xfrm>
          <a:custGeom>
            <a:avLst/>
            <a:gdLst/>
            <a:ahLst/>
            <a:cxnLst/>
            <a:rect l="l" t="t" r="r" b="b"/>
            <a:pathLst>
              <a:path w="3440190" h="5924577">
                <a:moveTo>
                  <a:pt x="0" y="0"/>
                </a:moveTo>
                <a:lnTo>
                  <a:pt x="3440190" y="0"/>
                </a:lnTo>
                <a:lnTo>
                  <a:pt x="3440190" y="5924577"/>
                </a:lnTo>
                <a:lnTo>
                  <a:pt x="0" y="5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57" t="-116" r="-42860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4137868" y="952500"/>
            <a:ext cx="10012263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Abstracción - Enfoque en lo Esencial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10673"/>
            <a:ext cx="16230600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 Técnica: Proceso de simplificación que oculta los detalles de implementación y resalta solo las características esenciales relevantes para el problema actual.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5748" y="6154341"/>
            <a:ext cx="7407622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Criterios para Buena Abstracción: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Interfaz clara y simple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Oculta complejidad innecesaria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Mantiene funcionalidad completa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Permite cambios internos sin afectar el uso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103080" y="3358030"/>
            <a:ext cx="4375774" cy="2418162"/>
            <a:chOff x="0" y="0"/>
            <a:chExt cx="1152467" cy="6368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2467" cy="636882"/>
            </a:xfrm>
            <a:custGeom>
              <a:avLst/>
              <a:gdLst/>
              <a:ahLst/>
              <a:cxnLst/>
              <a:rect l="l" t="t" r="r" b="b"/>
              <a:pathLst>
                <a:path w="1152467" h="636882">
                  <a:moveTo>
                    <a:pt x="1152467" y="318441"/>
                  </a:moveTo>
                  <a:lnTo>
                    <a:pt x="746067" y="0"/>
                  </a:lnTo>
                  <a:lnTo>
                    <a:pt x="746067" y="203200"/>
                  </a:lnTo>
                  <a:lnTo>
                    <a:pt x="0" y="203200"/>
                  </a:lnTo>
                  <a:lnTo>
                    <a:pt x="0" y="433682"/>
                  </a:lnTo>
                  <a:lnTo>
                    <a:pt x="746067" y="433682"/>
                  </a:lnTo>
                  <a:lnTo>
                    <a:pt x="746067" y="636882"/>
                  </a:lnTo>
                  <a:lnTo>
                    <a:pt x="1152467" y="318441"/>
                  </a:lnTo>
                  <a:close/>
                </a:path>
              </a:pathLst>
            </a:custGeom>
            <a:solidFill>
              <a:srgbClr val="393E46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46050"/>
              <a:ext cx="1050867" cy="287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Niveles de abstracción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30894" y="2396382"/>
            <a:ext cx="4033857" cy="6653884"/>
          </a:xfrm>
          <a:custGeom>
            <a:avLst/>
            <a:gdLst/>
            <a:ahLst/>
            <a:cxnLst/>
            <a:rect l="l" t="t" r="r" b="b"/>
            <a:pathLst>
              <a:path w="4033857" h="6653884">
                <a:moveTo>
                  <a:pt x="0" y="0"/>
                </a:moveTo>
                <a:lnTo>
                  <a:pt x="4033856" y="0"/>
                </a:lnTo>
                <a:lnTo>
                  <a:pt x="4033856" y="6653883"/>
                </a:lnTo>
                <a:lnTo>
                  <a:pt x="0" y="6653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51" r="-30499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2576593" y="5316172"/>
            <a:ext cx="5994573" cy="2787477"/>
          </a:xfrm>
          <a:custGeom>
            <a:avLst/>
            <a:gdLst/>
            <a:ahLst/>
            <a:cxnLst/>
            <a:rect l="l" t="t" r="r" b="b"/>
            <a:pathLst>
              <a:path w="5994573" h="2787477">
                <a:moveTo>
                  <a:pt x="0" y="0"/>
                </a:moveTo>
                <a:lnTo>
                  <a:pt x="5994573" y="0"/>
                </a:lnTo>
                <a:lnTo>
                  <a:pt x="5994573" y="2787477"/>
                </a:lnTo>
                <a:lnTo>
                  <a:pt x="0" y="278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6257106" y="952500"/>
            <a:ext cx="577378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Abstracción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72044"/>
            <a:ext cx="9090359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Abstracción de Datos: Definir QUÉ datos necesito, no CÓMO se almacenan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43310" y="2026014"/>
            <a:ext cx="4700594" cy="6927807"/>
          </a:xfrm>
          <a:custGeom>
            <a:avLst/>
            <a:gdLst/>
            <a:ahLst/>
            <a:cxnLst/>
            <a:rect l="l" t="t" r="r" b="b"/>
            <a:pathLst>
              <a:path w="4700594" h="6927807">
                <a:moveTo>
                  <a:pt x="0" y="0"/>
                </a:moveTo>
                <a:lnTo>
                  <a:pt x="4700594" y="0"/>
                </a:lnTo>
                <a:lnTo>
                  <a:pt x="4700594" y="6927808"/>
                </a:lnTo>
                <a:lnTo>
                  <a:pt x="0" y="6927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344648" y="5143500"/>
            <a:ext cx="9824917" cy="2129406"/>
          </a:xfrm>
          <a:custGeom>
            <a:avLst/>
            <a:gdLst/>
            <a:ahLst/>
            <a:cxnLst/>
            <a:rect l="l" t="t" r="r" b="b"/>
            <a:pathLst>
              <a:path w="9824917" h="2129406">
                <a:moveTo>
                  <a:pt x="0" y="0"/>
                </a:moveTo>
                <a:lnTo>
                  <a:pt x="9824917" y="0"/>
                </a:lnTo>
                <a:lnTo>
                  <a:pt x="9824917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6257106" y="952500"/>
            <a:ext cx="577378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Abstracción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72044"/>
            <a:ext cx="9090359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Abstracción Procedimental: Definir QUÉ hace una operación, no CÓMO la hace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97610" y="2226719"/>
            <a:ext cx="6161690" cy="6126680"/>
          </a:xfrm>
          <a:custGeom>
            <a:avLst/>
            <a:gdLst/>
            <a:ahLst/>
            <a:cxnLst/>
            <a:rect l="l" t="t" r="r" b="b"/>
            <a:pathLst>
              <a:path w="6161690" h="6126680">
                <a:moveTo>
                  <a:pt x="0" y="0"/>
                </a:moveTo>
                <a:lnTo>
                  <a:pt x="6161690" y="0"/>
                </a:lnTo>
                <a:lnTo>
                  <a:pt x="6161690" y="6126681"/>
                </a:lnTo>
                <a:lnTo>
                  <a:pt x="0" y="6126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4" t="-11568" r="-11122" b="-813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2737881" y="4487242"/>
            <a:ext cx="5671997" cy="3653741"/>
          </a:xfrm>
          <a:custGeom>
            <a:avLst/>
            <a:gdLst/>
            <a:ahLst/>
            <a:cxnLst/>
            <a:rect l="l" t="t" r="r" b="b"/>
            <a:pathLst>
              <a:path w="5671997" h="3653741">
                <a:moveTo>
                  <a:pt x="0" y="0"/>
                </a:moveTo>
                <a:lnTo>
                  <a:pt x="5671997" y="0"/>
                </a:lnTo>
                <a:lnTo>
                  <a:pt x="5671997" y="3653741"/>
                </a:lnTo>
                <a:lnTo>
                  <a:pt x="0" y="3653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6257106" y="952500"/>
            <a:ext cx="577378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Abstracción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24478"/>
            <a:ext cx="9090359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Abstracción de Control: Estructuras de control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 alto nivel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93953" y="952500"/>
            <a:ext cx="7900095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Problemas Computacionales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55039"/>
            <a:ext cx="16230600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 problema es una situación o pregunta que requiere una solución mediante un proceso lógico o computacional, todo problema computacional bien definido debe especificar claramente: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510720"/>
            <a:ext cx="8244616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ENTRADA (Input):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Descripción de los datos que recibe el algoritmo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 de datos (enteros, cadenas, etc.)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Restricciones o validaciones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74709" y="3510720"/>
            <a:ext cx="6484591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SALIDA (Output):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Descripción del resultado esperado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Formato de los datos de salida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Relación entre entrada y salida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5294" y="5561674"/>
            <a:ext cx="4776043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RESTRICCIONES: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Limitaciones del problema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Valores válidos/inválidos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Casos especiales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98903" y="8809990"/>
            <a:ext cx="105603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Un algoritmo mal planteado parte de un problema mal definido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2132" y="5169219"/>
            <a:ext cx="6356958" cy="3125562"/>
          </a:xfrm>
          <a:custGeom>
            <a:avLst/>
            <a:gdLst/>
            <a:ahLst/>
            <a:cxnLst/>
            <a:rect l="l" t="t" r="r" b="b"/>
            <a:pathLst>
              <a:path w="6356958" h="3125562">
                <a:moveTo>
                  <a:pt x="0" y="0"/>
                </a:moveTo>
                <a:lnTo>
                  <a:pt x="6356958" y="0"/>
                </a:lnTo>
                <a:lnTo>
                  <a:pt x="6356958" y="3125562"/>
                </a:lnTo>
                <a:lnTo>
                  <a:pt x="0" y="312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509" b="-78876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3068229" y="4205700"/>
            <a:ext cx="4251448" cy="5052600"/>
          </a:xfrm>
          <a:custGeom>
            <a:avLst/>
            <a:gdLst/>
            <a:ahLst/>
            <a:cxnLst/>
            <a:rect l="l" t="t" r="r" b="b"/>
            <a:pathLst>
              <a:path w="4251448" h="5052600">
                <a:moveTo>
                  <a:pt x="0" y="0"/>
                </a:moveTo>
                <a:lnTo>
                  <a:pt x="4251448" y="0"/>
                </a:lnTo>
                <a:lnTo>
                  <a:pt x="4251448" y="5052600"/>
                </a:lnTo>
                <a:lnTo>
                  <a:pt x="0" y="5052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193953" y="952500"/>
            <a:ext cx="7900095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Problemas Computacionales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1077"/>
            <a:ext cx="3891855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Instancias del Problema: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76263"/>
            <a:ext cx="927645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 instancia es un caso específico con valores concretos: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71921" y="4953579"/>
            <a:ext cx="6775375" cy="1911003"/>
          </a:xfrm>
          <a:custGeom>
            <a:avLst/>
            <a:gdLst/>
            <a:ahLst/>
            <a:cxnLst/>
            <a:rect l="l" t="t" r="r" b="b"/>
            <a:pathLst>
              <a:path w="6775375" h="1911003">
                <a:moveTo>
                  <a:pt x="0" y="0"/>
                </a:moveTo>
                <a:lnTo>
                  <a:pt x="6775375" y="0"/>
                </a:lnTo>
                <a:lnTo>
                  <a:pt x="6775375" y="1911003"/>
                </a:lnTo>
                <a:lnTo>
                  <a:pt x="0" y="191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21" t="-211919" r="-5121" b="-111916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981643" y="4706880"/>
            <a:ext cx="6592200" cy="2404402"/>
          </a:xfrm>
          <a:custGeom>
            <a:avLst/>
            <a:gdLst/>
            <a:ahLst/>
            <a:cxnLst/>
            <a:rect l="l" t="t" r="r" b="b"/>
            <a:pathLst>
              <a:path w="6592200" h="2404402">
                <a:moveTo>
                  <a:pt x="0" y="0"/>
                </a:moveTo>
                <a:lnTo>
                  <a:pt x="6592200" y="0"/>
                </a:lnTo>
                <a:lnTo>
                  <a:pt x="6592200" y="2404401"/>
                </a:lnTo>
                <a:lnTo>
                  <a:pt x="0" y="2404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193953" y="952500"/>
            <a:ext cx="7900095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Problemas Computacionales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1077"/>
            <a:ext cx="31225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soluciones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76263"/>
            <a:ext cx="849808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Solución Particular: Resuelve una instancia específica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29936" y="3986428"/>
            <a:ext cx="7529364" cy="3611802"/>
          </a:xfrm>
          <a:custGeom>
            <a:avLst/>
            <a:gdLst/>
            <a:ahLst/>
            <a:cxnLst/>
            <a:rect l="l" t="t" r="r" b="b"/>
            <a:pathLst>
              <a:path w="7529364" h="3611802">
                <a:moveTo>
                  <a:pt x="0" y="0"/>
                </a:moveTo>
                <a:lnTo>
                  <a:pt x="7529364" y="0"/>
                </a:lnTo>
                <a:lnTo>
                  <a:pt x="7529364" y="3611802"/>
                </a:lnTo>
                <a:lnTo>
                  <a:pt x="0" y="361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67" t="-69784" r="-1771" b="-51896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597249" y="4723660"/>
            <a:ext cx="7193408" cy="2137339"/>
          </a:xfrm>
          <a:custGeom>
            <a:avLst/>
            <a:gdLst/>
            <a:ahLst/>
            <a:cxnLst/>
            <a:rect l="l" t="t" r="r" b="b"/>
            <a:pathLst>
              <a:path w="7193408" h="2137339">
                <a:moveTo>
                  <a:pt x="0" y="0"/>
                </a:moveTo>
                <a:lnTo>
                  <a:pt x="7193408" y="0"/>
                </a:lnTo>
                <a:lnTo>
                  <a:pt x="7193408" y="2137339"/>
                </a:lnTo>
                <a:lnTo>
                  <a:pt x="0" y="213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193953" y="952500"/>
            <a:ext cx="7900095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Problemas Computacionales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1077"/>
            <a:ext cx="31225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Tipos de soluciones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61588"/>
            <a:ext cx="890751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Solución General: Resuelve todas las instancias posibles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798380"/>
            <a:ext cx="1203379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 algoritmo será el conjunto de pasos que permiten llegar a esa respuesta.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144000" y="3887538"/>
            <a:ext cx="0" cy="4522402"/>
          </a:xfrm>
          <a:prstGeom prst="line">
            <a:avLst/>
          </a:prstGeom>
          <a:ln w="38100" cap="flat">
            <a:solidFill>
              <a:srgbClr val="B0B0B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135687" y="5968483"/>
            <a:ext cx="7347075" cy="1990532"/>
          </a:xfrm>
          <a:custGeom>
            <a:avLst/>
            <a:gdLst/>
            <a:ahLst/>
            <a:cxnLst/>
            <a:rect l="l" t="t" r="r" b="b"/>
            <a:pathLst>
              <a:path w="7347075" h="1990532">
                <a:moveTo>
                  <a:pt x="0" y="0"/>
                </a:moveTo>
                <a:lnTo>
                  <a:pt x="7347075" y="0"/>
                </a:lnTo>
                <a:lnTo>
                  <a:pt x="7347075" y="1990532"/>
                </a:lnTo>
                <a:lnTo>
                  <a:pt x="0" y="1990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4" name="Freeform 4"/>
          <p:cNvSpPr/>
          <p:nvPr/>
        </p:nvSpPr>
        <p:spPr>
          <a:xfrm>
            <a:off x="9871366" y="5968483"/>
            <a:ext cx="7143963" cy="2051763"/>
          </a:xfrm>
          <a:custGeom>
            <a:avLst/>
            <a:gdLst/>
            <a:ahLst/>
            <a:cxnLst/>
            <a:rect l="l" t="t" r="r" b="b"/>
            <a:pathLst>
              <a:path w="7143963" h="2051763">
                <a:moveTo>
                  <a:pt x="0" y="0"/>
                </a:moveTo>
                <a:lnTo>
                  <a:pt x="7143962" y="0"/>
                </a:lnTo>
                <a:lnTo>
                  <a:pt x="7143962" y="2051763"/>
                </a:lnTo>
                <a:lnTo>
                  <a:pt x="0" y="2051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4844653" y="952500"/>
            <a:ext cx="8598694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14875"/>
            <a:ext cx="16230600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 bien definido. Para poder diseñar un algoritmo, el problema debe cumplir ciertas características: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0663" y="3387015"/>
            <a:ext cx="7577122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/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tener un estado inicial y un resultado esperado.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86925" y="3780790"/>
            <a:ext cx="7577122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endParaRPr/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ser comprensible y concreto.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23602" y="8809990"/>
            <a:ext cx="128407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 el problema esta mal formulado. el algoritmo puede ser confuso o ineficiente.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44653" y="952500"/>
            <a:ext cx="8598694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57637"/>
            <a:ext cx="4869255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tener datos de entrada y producir datos de salida.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2815" y="2858098"/>
            <a:ext cx="488732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ser resoluble en un número finito de pasos.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16668" y="2857637"/>
            <a:ext cx="452559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poder expresarse de forma lógica.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08575" y="8371840"/>
            <a:ext cx="546541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Debe tener una condición de salida clara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6051688" y="2755724"/>
            <a:ext cx="0" cy="5988861"/>
          </a:xfrm>
          <a:prstGeom prst="line">
            <a:avLst/>
          </a:prstGeom>
          <a:ln w="38100" cap="flat">
            <a:solidFill>
              <a:srgbClr val="B0B0B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8" name="AutoShape 8"/>
          <p:cNvSpPr/>
          <p:nvPr/>
        </p:nvSpPr>
        <p:spPr>
          <a:xfrm flipV="1">
            <a:off x="10994665" y="2755724"/>
            <a:ext cx="0" cy="5988861"/>
          </a:xfrm>
          <a:prstGeom prst="line">
            <a:avLst/>
          </a:prstGeom>
          <a:ln w="38100" cap="flat">
            <a:solidFill>
              <a:srgbClr val="B0B0B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9" name="Freeform 9"/>
          <p:cNvSpPr/>
          <p:nvPr/>
        </p:nvSpPr>
        <p:spPr>
          <a:xfrm>
            <a:off x="6390058" y="4497033"/>
            <a:ext cx="4378816" cy="3486448"/>
          </a:xfrm>
          <a:custGeom>
            <a:avLst/>
            <a:gdLst/>
            <a:ahLst/>
            <a:cxnLst/>
            <a:rect l="l" t="t" r="r" b="b"/>
            <a:pathLst>
              <a:path w="4378816" h="3486448">
                <a:moveTo>
                  <a:pt x="0" y="0"/>
                </a:moveTo>
                <a:lnTo>
                  <a:pt x="4378816" y="0"/>
                </a:lnTo>
                <a:lnTo>
                  <a:pt x="4378816" y="3486448"/>
                </a:lnTo>
                <a:lnTo>
                  <a:pt x="0" y="3486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04" r="-10658" b="-4351"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10" name="Freeform 10"/>
          <p:cNvSpPr/>
          <p:nvPr/>
        </p:nvSpPr>
        <p:spPr>
          <a:xfrm>
            <a:off x="1028700" y="4497033"/>
            <a:ext cx="4869255" cy="3643774"/>
          </a:xfrm>
          <a:custGeom>
            <a:avLst/>
            <a:gdLst/>
            <a:ahLst/>
            <a:cxnLst/>
            <a:rect l="l" t="t" r="r" b="b"/>
            <a:pathLst>
              <a:path w="4869255" h="3643774">
                <a:moveTo>
                  <a:pt x="0" y="0"/>
                </a:moveTo>
                <a:lnTo>
                  <a:pt x="4869255" y="0"/>
                </a:lnTo>
                <a:lnTo>
                  <a:pt x="4869255" y="3643774"/>
                </a:lnTo>
                <a:lnTo>
                  <a:pt x="0" y="364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7" r="-5987"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>
          <a:xfrm>
            <a:off x="11223265" y="4497033"/>
            <a:ext cx="6036035" cy="3183865"/>
          </a:xfrm>
          <a:custGeom>
            <a:avLst/>
            <a:gdLst/>
            <a:ahLst/>
            <a:cxnLst/>
            <a:rect l="l" t="t" r="r" b="b"/>
            <a:pathLst>
              <a:path w="6036035" h="3183865">
                <a:moveTo>
                  <a:pt x="0" y="0"/>
                </a:moveTo>
                <a:lnTo>
                  <a:pt x="6036035" y="0"/>
                </a:lnTo>
                <a:lnTo>
                  <a:pt x="6036035" y="3183866"/>
                </a:lnTo>
                <a:lnTo>
                  <a:pt x="0" y="3183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26" r="-7942" b="-10720"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0811" y="5143500"/>
            <a:ext cx="7225071" cy="3431680"/>
          </a:xfrm>
          <a:custGeom>
            <a:avLst/>
            <a:gdLst/>
            <a:ahLst/>
            <a:cxnLst/>
            <a:rect l="l" t="t" r="r" b="b"/>
            <a:pathLst>
              <a:path w="7225071" h="3431680">
                <a:moveTo>
                  <a:pt x="0" y="0"/>
                </a:moveTo>
                <a:lnTo>
                  <a:pt x="7225071" y="0"/>
                </a:lnTo>
                <a:lnTo>
                  <a:pt x="7225071" y="3431680"/>
                </a:lnTo>
                <a:lnTo>
                  <a:pt x="0" y="343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009" b="-57530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4844653" y="952500"/>
            <a:ext cx="8598694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54396"/>
            <a:ext cx="16230600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problema al algoritmo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 vez identificado el problema y sus características, se pasa a analizarlo y descomponerlo en partes pequeñas (lo que llamamos análisis del problema).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64302"/>
            <a:ext cx="8115300" cy="374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 ejemplo, si el problema es “Calcular el promedio de tres números”: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Entradas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tres números.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Proceso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sumar y dividir entre 3.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Salida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promedio.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Esto luego se puede traducir en un algoritmo, pseudocódigo o diagrama de flujo.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4003" y="4426026"/>
            <a:ext cx="5780773" cy="4723071"/>
          </a:xfrm>
          <a:custGeom>
            <a:avLst/>
            <a:gdLst/>
            <a:ahLst/>
            <a:cxnLst/>
            <a:rect l="l" t="t" r="r" b="b"/>
            <a:pathLst>
              <a:path w="5780773" h="4723071">
                <a:moveTo>
                  <a:pt x="0" y="0"/>
                </a:moveTo>
                <a:lnTo>
                  <a:pt x="5780772" y="0"/>
                </a:lnTo>
                <a:lnTo>
                  <a:pt x="5780772" y="4723071"/>
                </a:lnTo>
                <a:lnTo>
                  <a:pt x="0" y="4723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3" t="-26177" r="-6293" b="-8415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4844653" y="952500"/>
            <a:ext cx="8598694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de un Problema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9736" y="2316639"/>
            <a:ext cx="16230600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Importancia de definir bien el problema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 problema mal definido lleva a soluciones ineficientes o erróneas. Por eso, antes de programar, se debe entender completamente qué se necesita resolver.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9736" y="4537122"/>
            <a:ext cx="9032695" cy="44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cotidiano: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 alguien dice “quiero llegar más rápido al trabajo”, eso es ambiguo.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Pero si dice “quiero una ruta que evite el tráfico y reduzca el tiempo en 10 minutos”, entonces sí puede diseñarse un algoritmo, como el que usan los mapas de navegación.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2458" y="2851301"/>
            <a:ext cx="3426911" cy="4580359"/>
          </a:xfrm>
          <a:custGeom>
            <a:avLst/>
            <a:gdLst/>
            <a:ahLst/>
            <a:cxnLst/>
            <a:rect l="l" t="t" r="r" b="b"/>
            <a:pathLst>
              <a:path w="3426911" h="4580359">
                <a:moveTo>
                  <a:pt x="0" y="0"/>
                </a:moveTo>
                <a:lnTo>
                  <a:pt x="3426911" y="0"/>
                </a:lnTo>
                <a:lnTo>
                  <a:pt x="3426911" y="4580360"/>
                </a:lnTo>
                <a:lnTo>
                  <a:pt x="0" y="4580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09" t="-42917" r="-119723" b="-11719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5699369" y="2851301"/>
            <a:ext cx="3716141" cy="4584398"/>
          </a:xfrm>
          <a:custGeom>
            <a:avLst/>
            <a:gdLst/>
            <a:ahLst/>
            <a:cxnLst/>
            <a:rect l="l" t="t" r="r" b="b"/>
            <a:pathLst>
              <a:path w="3716141" h="4584398">
                <a:moveTo>
                  <a:pt x="0" y="0"/>
                </a:moveTo>
                <a:lnTo>
                  <a:pt x="3716141" y="0"/>
                </a:lnTo>
                <a:lnTo>
                  <a:pt x="3716141" y="4584398"/>
                </a:lnTo>
                <a:lnTo>
                  <a:pt x="0" y="458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125" t="-50283" r="-11721" b="-13666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Freeform 4"/>
          <p:cNvSpPr/>
          <p:nvPr/>
        </p:nvSpPr>
        <p:spPr>
          <a:xfrm>
            <a:off x="9415510" y="2851301"/>
            <a:ext cx="3349486" cy="4584398"/>
          </a:xfrm>
          <a:custGeom>
            <a:avLst/>
            <a:gdLst/>
            <a:ahLst/>
            <a:cxnLst/>
            <a:rect l="l" t="t" r="r" b="b"/>
            <a:pathLst>
              <a:path w="3349486" h="4584398">
                <a:moveTo>
                  <a:pt x="0" y="0"/>
                </a:moveTo>
                <a:lnTo>
                  <a:pt x="3349486" y="0"/>
                </a:lnTo>
                <a:lnTo>
                  <a:pt x="3349486" y="4584398"/>
                </a:lnTo>
                <a:lnTo>
                  <a:pt x="0" y="458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67" t="-152041" r="-130666" b="-1897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Freeform 5"/>
          <p:cNvSpPr/>
          <p:nvPr/>
        </p:nvSpPr>
        <p:spPr>
          <a:xfrm>
            <a:off x="12764996" y="2851301"/>
            <a:ext cx="3250546" cy="4584398"/>
          </a:xfrm>
          <a:custGeom>
            <a:avLst/>
            <a:gdLst/>
            <a:ahLst/>
            <a:cxnLst/>
            <a:rect l="l" t="t" r="r" b="b"/>
            <a:pathLst>
              <a:path w="3250546" h="4584398">
                <a:moveTo>
                  <a:pt x="0" y="0"/>
                </a:moveTo>
                <a:lnTo>
                  <a:pt x="3250546" y="0"/>
                </a:lnTo>
                <a:lnTo>
                  <a:pt x="3250546" y="4584398"/>
                </a:lnTo>
                <a:lnTo>
                  <a:pt x="0" y="458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675" t="-119950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5921648" y="962025"/>
            <a:ext cx="6444704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Conceptos clave aprendidos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94449" y="1635268"/>
            <a:ext cx="8299103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Nombre del valor - Responsabilidad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42794" y="3712365"/>
            <a:ext cx="13402413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responsabilidad permite al estudiante cumplir con todas las actividades y aplicar correctamente los fundamentos de algoritmos, como descomposición, reconocimiento de patrones y abstracción, para analizar y resolver problemas de manera ordenada y completa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5038" y="962025"/>
            <a:ext cx="24379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0772" y="2128764"/>
            <a:ext cx="15601465" cy="543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Libro: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Joyanes Aguilar, L. (2019). Fundamentos de programación (6.ª ed.). McGraw-Hill Interamericana.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Curso en línea: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Harvard University. (2025). CS50x: Introduction to Computer Science [Curso en línea]. edX.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Disponible en: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cs50.harvard.edu/x/"/>
              </a:rPr>
              <a:t>https://cs50.harvard.edu/x/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  <a:hlinkClick r:id="rId2" tooltip="https://cs50.harvard.edu/x/"/>
            </a:endParaRPr>
          </a:p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Curso interactivo: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Khan Academy. (s.f.). Introducción a la programación y algoritmos [Curso en línea].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Disponible en: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es.khanacademy.org/computing"/>
              </a:rPr>
              <a:t>https://es.khanacademy.org/computing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1249" y="4883498"/>
            <a:ext cx="3803893" cy="3782566"/>
          </a:xfrm>
          <a:custGeom>
            <a:avLst/>
            <a:gdLst/>
            <a:ahLst/>
            <a:cxnLst/>
            <a:rect l="l" t="t" r="r" b="b"/>
            <a:pathLst>
              <a:path w="3803893" h="3782566">
                <a:moveTo>
                  <a:pt x="0" y="0"/>
                </a:moveTo>
                <a:lnTo>
                  <a:pt x="3803893" y="0"/>
                </a:lnTo>
                <a:lnTo>
                  <a:pt x="3803893" y="3782566"/>
                </a:lnTo>
                <a:lnTo>
                  <a:pt x="0" y="3782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53197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5621565" y="884996"/>
            <a:ext cx="7044870" cy="801123"/>
          </a:xfrm>
          <a:custGeom>
            <a:avLst/>
            <a:gdLst/>
            <a:ahLst/>
            <a:cxnLst/>
            <a:rect l="l" t="t" r="r" b="b"/>
            <a:pathLst>
              <a:path w="7044870" h="801123">
                <a:moveTo>
                  <a:pt x="0" y="0"/>
                </a:moveTo>
                <a:lnTo>
                  <a:pt x="7044870" y="0"/>
                </a:lnTo>
                <a:lnTo>
                  <a:pt x="7044870" y="801123"/>
                </a:lnTo>
                <a:lnTo>
                  <a:pt x="0" y="801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2585" b="-71386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7350621" y="962025"/>
            <a:ext cx="35867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práctico</a:t>
            </a:r>
          </a:p>
        </p:txBody>
      </p:sp>
      <p:sp>
        <p:nvSpPr>
          <p:cNvPr id="5" name="Freeform 5"/>
          <p:cNvSpPr/>
          <p:nvPr/>
        </p:nvSpPr>
        <p:spPr>
          <a:xfrm>
            <a:off x="954820" y="2172422"/>
            <a:ext cx="4936752" cy="813806"/>
          </a:xfrm>
          <a:custGeom>
            <a:avLst/>
            <a:gdLst/>
            <a:ahLst/>
            <a:cxnLst/>
            <a:rect l="l" t="t" r="r" b="b"/>
            <a:pathLst>
              <a:path w="4936752" h="813806">
                <a:moveTo>
                  <a:pt x="0" y="0"/>
                </a:moveTo>
                <a:lnTo>
                  <a:pt x="4936752" y="0"/>
                </a:lnTo>
                <a:lnTo>
                  <a:pt x="4936752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1244" b="-456155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1028700" y="2255793"/>
            <a:ext cx="478899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Gestión de estudiantes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85261" y="2819710"/>
            <a:ext cx="411747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 del problema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377913"/>
            <a:ext cx="16230600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“Queremos crear un algoritmo que permita registrar estudiantes en un sistema. Cada estudiante tiene nombre, edad y nota final. El sistema debe mostrar si el estudiante aprueba o no (nota ≥ 60) 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77738" y="5350223"/>
            <a:ext cx="170884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Instancia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96763" y="6017818"/>
            <a:ext cx="2070795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Nombre: Ana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Edad: 17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Nota: 85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5068" y="7551978"/>
            <a:ext cx="3234184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Solución esperada: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“Ana aprobó el curso”</a:t>
            </a:r>
          </a:p>
        </p:txBody>
      </p:sp>
      <p:sp>
        <p:nvSpPr>
          <p:cNvPr id="12" name="Freeform 12"/>
          <p:cNvSpPr/>
          <p:nvPr/>
        </p:nvSpPr>
        <p:spPr>
          <a:xfrm>
            <a:off x="6786826" y="5004879"/>
            <a:ext cx="10603087" cy="4476945"/>
          </a:xfrm>
          <a:custGeom>
            <a:avLst/>
            <a:gdLst/>
            <a:ahLst/>
            <a:cxnLst/>
            <a:rect l="l" t="t" r="r" b="b"/>
            <a:pathLst>
              <a:path w="10603087" h="4476945">
                <a:moveTo>
                  <a:pt x="0" y="0"/>
                </a:moveTo>
                <a:lnTo>
                  <a:pt x="10603088" y="0"/>
                </a:lnTo>
                <a:lnTo>
                  <a:pt x="10603088" y="4476945"/>
                </a:lnTo>
                <a:lnTo>
                  <a:pt x="0" y="4476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3729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7111954" y="5350223"/>
            <a:ext cx="309294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Descomposición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1954" y="6017818"/>
            <a:ext cx="777716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Dividimos el problema en tareas más pequeñas: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73868" y="8442961"/>
            <a:ext cx="4885432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Esto hace el problema más fácil  </a:t>
            </a:r>
          </a:p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 diseñar y mantener.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11954" y="6615988"/>
            <a:ext cx="4536132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l">
              <a:lnSpc>
                <a:spcPts val="3640"/>
              </a:lnSpc>
              <a:buAutoNum type="arabicPeriod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Agregar estudiante.</a:t>
            </a:r>
          </a:p>
          <a:p>
            <a:pPr marL="561344" lvl="1" indent="-280672" algn="l">
              <a:lnSpc>
                <a:spcPts val="3640"/>
              </a:lnSpc>
              <a:buAutoNum type="arabicPeriod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Validar datos ingresados.</a:t>
            </a:r>
          </a:p>
          <a:p>
            <a:pPr marL="561344" lvl="1" indent="-280672" algn="l">
              <a:lnSpc>
                <a:spcPts val="3640"/>
              </a:lnSpc>
              <a:buAutoNum type="arabicPeriod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Calcular si aprueba.</a:t>
            </a:r>
          </a:p>
          <a:p>
            <a:pPr marL="561344" lvl="1" indent="-280672" algn="l">
              <a:lnSpc>
                <a:spcPts val="3640"/>
              </a:lnSpc>
              <a:buAutoNum type="arabicPeriod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Mostrar resultados.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1565" y="884996"/>
            <a:ext cx="7044870" cy="801123"/>
          </a:xfrm>
          <a:custGeom>
            <a:avLst/>
            <a:gdLst/>
            <a:ahLst/>
            <a:cxnLst/>
            <a:rect l="l" t="t" r="r" b="b"/>
            <a:pathLst>
              <a:path w="7044870" h="801123">
                <a:moveTo>
                  <a:pt x="0" y="0"/>
                </a:moveTo>
                <a:lnTo>
                  <a:pt x="7044870" y="0"/>
                </a:lnTo>
                <a:lnTo>
                  <a:pt x="7044870" y="801123"/>
                </a:lnTo>
                <a:lnTo>
                  <a:pt x="0" y="801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42585" b="-71386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7350621" y="962025"/>
            <a:ext cx="35867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práctico</a:t>
            </a:r>
          </a:p>
        </p:txBody>
      </p:sp>
      <p:sp>
        <p:nvSpPr>
          <p:cNvPr id="4" name="Freeform 4"/>
          <p:cNvSpPr/>
          <p:nvPr/>
        </p:nvSpPr>
        <p:spPr>
          <a:xfrm>
            <a:off x="10365515" y="3641432"/>
            <a:ext cx="6893785" cy="5358934"/>
          </a:xfrm>
          <a:custGeom>
            <a:avLst/>
            <a:gdLst/>
            <a:ahLst/>
            <a:cxnLst/>
            <a:rect l="l" t="t" r="r" b="b"/>
            <a:pathLst>
              <a:path w="6893785" h="5358934">
                <a:moveTo>
                  <a:pt x="0" y="0"/>
                </a:moveTo>
                <a:lnTo>
                  <a:pt x="6893785" y="0"/>
                </a:lnTo>
                <a:lnTo>
                  <a:pt x="6893785" y="5358933"/>
                </a:lnTo>
                <a:lnTo>
                  <a:pt x="0" y="5358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806" t="-28427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10614181" y="3958355"/>
            <a:ext cx="22453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43108" y="4763800"/>
            <a:ext cx="6396453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Nos enfocamos solo en los datos necesarios: nombre, edad y nota.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necesitamos dirección, correo, ni teléfono, porque no afectan el resultado del algoritmo.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14181" y="7789205"/>
            <a:ext cx="6396453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Así simplificamos la solución sin perder funcionalidad.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2414017"/>
            <a:ext cx="8350594" cy="5369543"/>
          </a:xfrm>
          <a:custGeom>
            <a:avLst/>
            <a:gdLst/>
            <a:ahLst/>
            <a:cxnLst/>
            <a:rect l="l" t="t" r="r" b="b"/>
            <a:pathLst>
              <a:path w="8350594" h="5369543">
                <a:moveTo>
                  <a:pt x="0" y="0"/>
                </a:moveTo>
                <a:lnTo>
                  <a:pt x="8350594" y="0"/>
                </a:lnTo>
                <a:lnTo>
                  <a:pt x="8350594" y="5369543"/>
                </a:lnTo>
                <a:lnTo>
                  <a:pt x="0" y="536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6693" r="-89034" b="-2412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9" name="TextBox 9"/>
          <p:cNvSpPr txBox="1"/>
          <p:nvPr/>
        </p:nvSpPr>
        <p:spPr>
          <a:xfrm>
            <a:off x="1150703" y="2668325"/>
            <a:ext cx="536034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Reconocimiento de patrones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3828" y="3426957"/>
            <a:ext cx="8018446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Vemos que “validar datos” o “mostrar resultados” son tareas comunes en otros sistemas (como “gestión de empleados” o “registro de productos”).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2468" y="5689433"/>
            <a:ext cx="7596039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Podemos reutilizar la misma lógica o estructura: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Validar campos vacíos.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Verificar si los valores son válidos.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Mostrar mensajes según condiciones.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1565" y="884996"/>
            <a:ext cx="7044870" cy="801123"/>
          </a:xfrm>
          <a:custGeom>
            <a:avLst/>
            <a:gdLst/>
            <a:ahLst/>
            <a:cxnLst/>
            <a:rect l="l" t="t" r="r" b="b"/>
            <a:pathLst>
              <a:path w="7044870" h="801123">
                <a:moveTo>
                  <a:pt x="0" y="0"/>
                </a:moveTo>
                <a:lnTo>
                  <a:pt x="7044870" y="0"/>
                </a:lnTo>
                <a:lnTo>
                  <a:pt x="7044870" y="801123"/>
                </a:lnTo>
                <a:lnTo>
                  <a:pt x="0" y="801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42585" b="-713868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7350621" y="962025"/>
            <a:ext cx="35867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práctico</a:t>
            </a:r>
          </a:p>
        </p:txBody>
      </p:sp>
      <p:sp>
        <p:nvSpPr>
          <p:cNvPr id="4" name="Freeform 4"/>
          <p:cNvSpPr/>
          <p:nvPr/>
        </p:nvSpPr>
        <p:spPr>
          <a:xfrm>
            <a:off x="10365515" y="2973836"/>
            <a:ext cx="6893785" cy="6026529"/>
          </a:xfrm>
          <a:custGeom>
            <a:avLst/>
            <a:gdLst/>
            <a:ahLst/>
            <a:cxnLst/>
            <a:rect l="l" t="t" r="r" b="b"/>
            <a:pathLst>
              <a:path w="6893785" h="6026529">
                <a:moveTo>
                  <a:pt x="0" y="0"/>
                </a:moveTo>
                <a:lnTo>
                  <a:pt x="6893785" y="0"/>
                </a:lnTo>
                <a:lnTo>
                  <a:pt x="6893785" y="6026529"/>
                </a:lnTo>
                <a:lnTo>
                  <a:pt x="0" y="6026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806" t="-1420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Freeform 5"/>
          <p:cNvSpPr/>
          <p:nvPr/>
        </p:nvSpPr>
        <p:spPr>
          <a:xfrm>
            <a:off x="10693570" y="3981977"/>
            <a:ext cx="6237675" cy="4636297"/>
          </a:xfrm>
          <a:custGeom>
            <a:avLst/>
            <a:gdLst/>
            <a:ahLst/>
            <a:cxnLst/>
            <a:rect l="l" t="t" r="r" b="b"/>
            <a:pathLst>
              <a:path w="6237675" h="4636297">
                <a:moveTo>
                  <a:pt x="0" y="0"/>
                </a:moveTo>
                <a:lnTo>
                  <a:pt x="6237675" y="0"/>
                </a:lnTo>
                <a:lnTo>
                  <a:pt x="6237675" y="4636297"/>
                </a:lnTo>
                <a:lnTo>
                  <a:pt x="0" y="4636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961" t="-12169" r="-18196" b="-4116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10743108" y="3290760"/>
            <a:ext cx="405407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Visualización del flujo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11425" y="3999521"/>
            <a:ext cx="6001965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Inicio</a:t>
            </a: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↓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Leer nombre, edad, nota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↓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¿nota ≥ 60?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├─ Sí → Mostrar "Aprobó"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└─ No → Mostrar "Reprobó"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↓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Fin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2414017"/>
            <a:ext cx="8289904" cy="4095042"/>
          </a:xfrm>
          <a:custGeom>
            <a:avLst/>
            <a:gdLst/>
            <a:ahLst/>
            <a:cxnLst/>
            <a:rect l="l" t="t" r="r" b="b"/>
            <a:pathLst>
              <a:path w="8289904" h="4095042">
                <a:moveTo>
                  <a:pt x="0" y="0"/>
                </a:moveTo>
                <a:lnTo>
                  <a:pt x="8289904" y="0"/>
                </a:lnTo>
                <a:lnTo>
                  <a:pt x="8289904" y="4095042"/>
                </a:lnTo>
                <a:lnTo>
                  <a:pt x="0" y="4095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7450" r="-90418" b="-6276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9" name="TextBox 9"/>
          <p:cNvSpPr txBox="1"/>
          <p:nvPr/>
        </p:nvSpPr>
        <p:spPr>
          <a:xfrm>
            <a:off x="1150703" y="2459486"/>
            <a:ext cx="53604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del problema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3828" y="3108616"/>
            <a:ext cx="7790172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Tiene entrada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nombre, edad, nota.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Tiene salida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mensaje “</a:t>
            </a: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Aprobado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 o “</a:t>
            </a: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Reprobado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”.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finito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el algoritmo termina al mostrar el resultado.</a:t>
            </a:r>
          </a:p>
          <a:p>
            <a:pPr marL="561344" lvl="1" indent="-280672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lógico y claro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usa decisiones simples (Si-entonces).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85661"/>
            <a:ext cx="8289904" cy="207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En la gestión de estudiantes aplicamos los fundamentos de algoritmos: definimos el problema, lo descomponemos, reconocemos patrones, abstraemos lo esencial y verificamos que cumpla las características para una solución funcional.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4951" y="1664842"/>
            <a:ext cx="2098097" cy="2831413"/>
          </a:xfrm>
          <a:custGeom>
            <a:avLst/>
            <a:gdLst/>
            <a:ahLst/>
            <a:cxnLst/>
            <a:rect l="l" t="t" r="r" b="b"/>
            <a:pathLst>
              <a:path w="2098097" h="2831413">
                <a:moveTo>
                  <a:pt x="0" y="0"/>
                </a:moveTo>
                <a:lnTo>
                  <a:pt x="2098098" y="0"/>
                </a:lnTo>
                <a:lnTo>
                  <a:pt x="2098098" y="2831412"/>
                </a:lnTo>
                <a:lnTo>
                  <a:pt x="0" y="283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3689524" y="5010150"/>
            <a:ext cx="1090895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¡Gracias por su atención!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9667" y="7004386"/>
            <a:ext cx="15948666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Microsoft Office PowerPoint</Application>
  <PresentationFormat>Personalizado</PresentationFormat>
  <Paragraphs>251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0" baseType="lpstr">
      <vt:lpstr>Canva Sans Italics</vt:lpstr>
      <vt:lpstr>Calibri</vt:lpstr>
      <vt:lpstr>Canva Sans Bold</vt:lpstr>
      <vt:lpstr>Arial</vt:lpstr>
      <vt:lpstr>Open Sans</vt:lpstr>
      <vt:lpstr>Canva Sans</vt:lpstr>
      <vt:lpstr>Roboto Mono Bold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5 blanco</dc:title>
  <cp:lastModifiedBy>Fernando Guzman</cp:lastModifiedBy>
  <cp:revision>2</cp:revision>
  <dcterms:created xsi:type="dcterms:W3CDTF">2006-08-16T00:00:00Z</dcterms:created>
  <dcterms:modified xsi:type="dcterms:W3CDTF">2026-05-08T05:59:50Z</dcterms:modified>
  <dc:identifier>DAHDOL0lZwo</dc:identifier>
</cp:coreProperties>
</file>