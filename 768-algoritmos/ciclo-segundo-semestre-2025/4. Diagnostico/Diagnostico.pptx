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Open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W16+X8Ex40IcHQZ/SiG16J12u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C65D84-0392-4FFC-A3C3-6228D02B5747}">
  <a:tblStyle styleId="{0BC65D84-0392-4FFC-A3C3-6228D02B57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a219079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ba219079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a2190799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ba21907992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a2190799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a21907992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21907992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ba21907992_0_1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21907992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ba21907992_0_1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21907992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ba21907992_0_1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21907992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ba21907992_0_1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a21907992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ba21907992_0_1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a21907992_0_1141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g3ba21907992_0_1141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g3ba21907992_0_114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a21907992_0_114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g3ba21907992_0_114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a21907992_0_114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g3ba21907992_0_114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g3ba21907992_0_114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a21907992_0_115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g3ba21907992_0_1152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g3ba21907992_0_1152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g3ba21907992_0_11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a21907992_0_115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g3ba21907992_0_115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a21907992_0_1160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g3ba21907992_0_1160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g3ba21907992_0_116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a21907992_0_1164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g3ba21907992_0_116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a21907992_0_116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ba21907992_0_116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g3ba21907992_0_116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g3ba21907992_0_116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g3ba21907992_0_11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a21907992_0_1173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g3ba21907992_0_117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a21907992_0_1176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g3ba21907992_0_1176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g3ba21907992_0_117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a21907992_0_11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a21907992_0_113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ba21907992_0_113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ba21907992_0_113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a21907992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g3ba21907992_0_0"/>
          <p:cNvSpPr txBox="1"/>
          <p:nvPr/>
        </p:nvSpPr>
        <p:spPr>
          <a:xfrm>
            <a:off x="14691222" y="2075748"/>
            <a:ext cx="237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 y Fecha</a:t>
            </a:r>
            <a:endParaRPr/>
          </a:p>
        </p:txBody>
      </p:sp>
      <p:sp>
        <p:nvSpPr>
          <p:cNvPr id="56" name="Google Shape;56;g3ba21907992_0_0"/>
          <p:cNvSpPr txBox="1"/>
          <p:nvPr/>
        </p:nvSpPr>
        <p:spPr>
          <a:xfrm>
            <a:off x="14444018" y="2827978"/>
            <a:ext cx="286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 de inicio</a:t>
            </a:r>
            <a:endParaRPr/>
          </a:p>
        </p:txBody>
      </p:sp>
      <p:sp>
        <p:nvSpPr>
          <p:cNvPr id="57" name="Google Shape;57;g3ba21907992_0_0"/>
          <p:cNvSpPr txBox="1"/>
          <p:nvPr/>
        </p:nvSpPr>
        <p:spPr>
          <a:xfrm>
            <a:off x="2034183" y="5057775"/>
            <a:ext cx="142197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99" u="none" cap="none" strike="noStrike">
                <a:solidFill>
                  <a:srgbClr val="393E46"/>
                </a:solidFill>
                <a:latin typeface="Open Sans"/>
                <a:ea typeface="Open Sans"/>
                <a:cs typeface="Open Sans"/>
                <a:sym typeface="Open Sans"/>
              </a:rPr>
              <a:t>Introducción a los Algoritmos y Flujos de Datos</a:t>
            </a:r>
            <a:endParaRPr/>
          </a:p>
        </p:txBody>
      </p:sp>
      <p:sp>
        <p:nvSpPr>
          <p:cNvPr id="58" name="Google Shape;58;g3ba21907992_0_0"/>
          <p:cNvSpPr txBox="1"/>
          <p:nvPr/>
        </p:nvSpPr>
        <p:spPr>
          <a:xfrm>
            <a:off x="7075512" y="5939495"/>
            <a:ext cx="413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21907992_0_83"/>
          <p:cNvSpPr/>
          <p:nvPr/>
        </p:nvSpPr>
        <p:spPr>
          <a:xfrm>
            <a:off x="14575853" y="488854"/>
            <a:ext cx="3106051" cy="1576032"/>
          </a:xfrm>
          <a:custGeom>
            <a:rect b="b" l="l" r="r" t="t"/>
            <a:pathLst>
              <a:path extrusionOk="0" h="1576032" w="3106051">
                <a:moveTo>
                  <a:pt x="0" y="0"/>
                </a:moveTo>
                <a:lnTo>
                  <a:pt x="3106051" y="0"/>
                </a:lnTo>
                <a:lnTo>
                  <a:pt x="3106051" y="1576031"/>
                </a:lnTo>
                <a:lnTo>
                  <a:pt x="0" y="1576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5669" r="0" t="0"/>
            </a:stretch>
          </a:blipFill>
          <a:ln>
            <a:noFill/>
          </a:ln>
        </p:spPr>
      </p:sp>
      <p:sp>
        <p:nvSpPr>
          <p:cNvPr id="64" name="Google Shape;64;g3ba21907992_0_83"/>
          <p:cNvSpPr txBox="1"/>
          <p:nvPr/>
        </p:nvSpPr>
        <p:spPr>
          <a:xfrm>
            <a:off x="2800350" y="3846148"/>
            <a:ext cx="1268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dk1"/>
                </a:solidFill>
              </a:rPr>
              <a:t>Sesion Diagnostico </a:t>
            </a:r>
            <a:endParaRPr b="1" sz="7200">
              <a:solidFill>
                <a:schemeClr val="dk1"/>
              </a:solidFill>
            </a:endParaRPr>
          </a:p>
        </p:txBody>
      </p:sp>
      <p:sp>
        <p:nvSpPr>
          <p:cNvPr id="65" name="Google Shape;65;g3ba21907992_0_83"/>
          <p:cNvSpPr txBox="1"/>
          <p:nvPr/>
        </p:nvSpPr>
        <p:spPr>
          <a:xfrm>
            <a:off x="1028700" y="6960325"/>
            <a:ext cx="14294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 los Algoritmos y Flujos de Datos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6" name="Google Shape;66;g3ba21907992_0_83"/>
          <p:cNvSpPr txBox="1"/>
          <p:nvPr/>
        </p:nvSpPr>
        <p:spPr>
          <a:xfrm>
            <a:off x="1028700" y="7929450"/>
            <a:ext cx="77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7" name="Google Shape;67;g3ba21907992_0_83"/>
          <p:cNvSpPr txBox="1"/>
          <p:nvPr/>
        </p:nvSpPr>
        <p:spPr>
          <a:xfrm>
            <a:off x="1028700" y="8421575"/>
            <a:ext cx="717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Facultad de Ingeniería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8" name="Google Shape;68;g3ba21907992_0_83"/>
          <p:cNvSpPr txBox="1"/>
          <p:nvPr/>
        </p:nvSpPr>
        <p:spPr>
          <a:xfrm>
            <a:off x="1028700" y="8909050"/>
            <a:ext cx="89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a21907992_0_167"/>
          <p:cNvSpPr txBox="1"/>
          <p:nvPr/>
        </p:nvSpPr>
        <p:spPr>
          <a:xfrm>
            <a:off x="2389346" y="904875"/>
            <a:ext cx="4490100" cy="9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4" name="Google Shape;74;g3ba21907992_0_167"/>
          <p:cNvSpPr txBox="1"/>
          <p:nvPr/>
        </p:nvSpPr>
        <p:spPr>
          <a:xfrm>
            <a:off x="12769177" y="904875"/>
            <a:ext cx="4490100" cy="9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Recursos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5" name="Google Shape;75;g3ba21907992_0_167"/>
          <p:cNvSpPr txBox="1"/>
          <p:nvPr/>
        </p:nvSpPr>
        <p:spPr>
          <a:xfrm>
            <a:off x="2311902" y="5247175"/>
            <a:ext cx="64566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99">
                <a:solidFill>
                  <a:schemeClr val="dk1"/>
                </a:solidFill>
              </a:rPr>
              <a:t>Presentación de estudiantes</a:t>
            </a:r>
            <a:endParaRPr sz="3399">
              <a:solidFill>
                <a:schemeClr val="dk1"/>
              </a:solidFill>
            </a:endParaRPr>
          </a:p>
        </p:txBody>
      </p:sp>
      <p:sp>
        <p:nvSpPr>
          <p:cNvPr id="76" name="Google Shape;76;g3ba21907992_0_167"/>
          <p:cNvSpPr txBox="1"/>
          <p:nvPr/>
        </p:nvSpPr>
        <p:spPr>
          <a:xfrm>
            <a:off x="2311901" y="6389300"/>
            <a:ext cx="80496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>
                <a:solidFill>
                  <a:schemeClr val="dk1"/>
                </a:solidFill>
              </a:rPr>
              <a:t>Presentación del programa del laboratorio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g3ba21907992_0_167"/>
          <p:cNvSpPr txBox="1"/>
          <p:nvPr/>
        </p:nvSpPr>
        <p:spPr>
          <a:xfrm>
            <a:off x="2311896" y="7529487"/>
            <a:ext cx="88344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99">
                <a:solidFill>
                  <a:schemeClr val="dk1"/>
                </a:solidFill>
              </a:rPr>
              <a:t>Evaluación de Conocimientos</a:t>
            </a:r>
            <a:endParaRPr sz="3399">
              <a:solidFill>
                <a:schemeClr val="dk1"/>
              </a:solidFill>
            </a:endParaRPr>
          </a:p>
        </p:txBody>
      </p:sp>
      <p:sp>
        <p:nvSpPr>
          <p:cNvPr id="78" name="Google Shape;78;g3ba21907992_0_167"/>
          <p:cNvSpPr txBox="1"/>
          <p:nvPr/>
        </p:nvSpPr>
        <p:spPr>
          <a:xfrm>
            <a:off x="2311896" y="8669671"/>
            <a:ext cx="63327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99">
                <a:solidFill>
                  <a:schemeClr val="dk1"/>
                </a:solidFill>
              </a:rPr>
              <a:t>Despedida</a:t>
            </a:r>
            <a:endParaRPr sz="3399">
              <a:solidFill>
                <a:schemeClr val="dk1"/>
              </a:solidFill>
            </a:endParaRPr>
          </a:p>
        </p:txBody>
      </p:sp>
      <p:sp>
        <p:nvSpPr>
          <p:cNvPr id="79" name="Google Shape;79;g3ba21907992_0_167"/>
          <p:cNvSpPr txBox="1"/>
          <p:nvPr/>
        </p:nvSpPr>
        <p:spPr>
          <a:xfrm>
            <a:off x="12068400" y="3738750"/>
            <a:ext cx="4703700" cy="125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>
                <a:solidFill>
                  <a:schemeClr val="dk1"/>
                </a:solidFill>
              </a:rPr>
              <a:t>Link formulario asignación DTT aqui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g3ba21907992_0_167"/>
          <p:cNvSpPr txBox="1"/>
          <p:nvPr/>
        </p:nvSpPr>
        <p:spPr>
          <a:xfrm>
            <a:off x="14381697" y="6132445"/>
            <a:ext cx="23904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Quizziz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g3ba21907992_0_167"/>
          <p:cNvSpPr txBox="1"/>
          <p:nvPr/>
        </p:nvSpPr>
        <p:spPr>
          <a:xfrm>
            <a:off x="2311903" y="2962925"/>
            <a:ext cx="79359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99">
                <a:solidFill>
                  <a:schemeClr val="dk1"/>
                </a:solidFill>
              </a:rPr>
              <a:t>Presentación Auxiliar de curso</a:t>
            </a:r>
            <a:endParaRPr sz="3399">
              <a:solidFill>
                <a:schemeClr val="dk1"/>
              </a:solidFill>
            </a:endParaRPr>
          </a:p>
        </p:txBody>
      </p:sp>
      <p:sp>
        <p:nvSpPr>
          <p:cNvPr id="82" name="Google Shape;82;g3ba21907992_0_167"/>
          <p:cNvSpPr txBox="1"/>
          <p:nvPr/>
        </p:nvSpPr>
        <p:spPr>
          <a:xfrm>
            <a:off x="2311896" y="4105041"/>
            <a:ext cx="65742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399">
                <a:solidFill>
                  <a:schemeClr val="dk1"/>
                </a:solidFill>
              </a:rPr>
              <a:t>Formulario de asignación DTT</a:t>
            </a:r>
            <a:endParaRPr sz="3399">
              <a:solidFill>
                <a:schemeClr val="dk1"/>
              </a:solidFill>
            </a:endParaRPr>
          </a:p>
        </p:txBody>
      </p:sp>
      <p:pic>
        <p:nvPicPr>
          <p:cNvPr id="83" name="Google Shape;83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3939438"/>
            <a:ext cx="700154" cy="8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2797313"/>
            <a:ext cx="700154" cy="8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6223688"/>
            <a:ext cx="700154" cy="8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5081563"/>
            <a:ext cx="700154" cy="8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8507938"/>
            <a:ext cx="700154" cy="8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ba2190799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076" y="7365813"/>
            <a:ext cx="700154" cy="8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1374889" y="432506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-.-.-.-.-.-.-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374889" y="654364"/>
            <a:ext cx="13991100" cy="26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</a:rPr>
              <a:t>BIENVENIDA Y PRESENTACIÓN</a:t>
            </a:r>
            <a:endParaRPr b="1" sz="61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</a:rPr>
              <a:t>¿QUIÉN SOY?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21907992_0_1232"/>
          <p:cNvSpPr txBox="1"/>
          <p:nvPr/>
        </p:nvSpPr>
        <p:spPr>
          <a:xfrm>
            <a:off x="1374889" y="30278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.-.-.-.-.-.-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ba21907992_0_1232"/>
          <p:cNvSpPr txBox="1"/>
          <p:nvPr/>
        </p:nvSpPr>
        <p:spPr>
          <a:xfrm>
            <a:off x="1374889" y="654364"/>
            <a:ext cx="13991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</a:rPr>
              <a:t>DATOS DE CONTACTO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a21907992_0_1237"/>
          <p:cNvSpPr txBox="1"/>
          <p:nvPr/>
        </p:nvSpPr>
        <p:spPr>
          <a:xfrm>
            <a:off x="1374889" y="30278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-.-.-.-.-.-.-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ba21907992_0_1237"/>
          <p:cNvSpPr txBox="1"/>
          <p:nvPr/>
        </p:nvSpPr>
        <p:spPr>
          <a:xfrm>
            <a:off x="1374889" y="654364"/>
            <a:ext cx="13991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</a:rPr>
              <a:t>FORMULARIO ASIGNACIÓN DTT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21907992_0_1242"/>
          <p:cNvSpPr txBox="1"/>
          <p:nvPr/>
        </p:nvSpPr>
        <p:spPr>
          <a:xfrm>
            <a:off x="1374889" y="45299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-.-.-.-.-.-.-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ba21907992_0_1242"/>
          <p:cNvSpPr txBox="1"/>
          <p:nvPr/>
        </p:nvSpPr>
        <p:spPr>
          <a:xfrm>
            <a:off x="1374889" y="654364"/>
            <a:ext cx="13991100" cy="28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</a:rPr>
              <a:t>PRESENTACIÓN DE ESTUDIANTES</a:t>
            </a:r>
            <a:endParaRPr b="1" sz="6100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dk1"/>
                </a:solidFill>
              </a:rPr>
              <a:t>¿Qué esperan del curso?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21907992_0_1247"/>
          <p:cNvSpPr txBox="1"/>
          <p:nvPr/>
        </p:nvSpPr>
        <p:spPr>
          <a:xfrm>
            <a:off x="1374889" y="56678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-.-.-.-.-.-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ba21907992_0_1247"/>
          <p:cNvSpPr txBox="1"/>
          <p:nvPr/>
        </p:nvSpPr>
        <p:spPr>
          <a:xfrm>
            <a:off x="1374889" y="654364"/>
            <a:ext cx="13991100" cy="4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</a:rPr>
              <a:t>PRESENTACIÓN DE PROGRAMA DE LABORATORIO</a:t>
            </a:r>
            <a:endParaRPr b="1" sz="5000">
              <a:solidFill>
                <a:srgbClr val="131416"/>
              </a:solidFill>
            </a:endParaRPr>
          </a:p>
          <a:p>
            <a:pPr indent="0" lvl="0" marL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000">
              <a:solidFill>
                <a:srgbClr val="131416"/>
              </a:solidFill>
            </a:endParaRPr>
          </a:p>
          <a:p>
            <a:pPr indent="-450850" lvl="0" marL="45720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Competencias y objetivos del curso</a:t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Temarios y Contenidos Principales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a21907992_0_1252"/>
          <p:cNvSpPr txBox="1"/>
          <p:nvPr/>
        </p:nvSpPr>
        <p:spPr>
          <a:xfrm>
            <a:off x="1374889" y="302781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kahoot.it o quizizz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ba21907992_0_1252"/>
          <p:cNvSpPr txBox="1"/>
          <p:nvPr/>
        </p:nvSpPr>
        <p:spPr>
          <a:xfrm>
            <a:off x="1374889" y="654364"/>
            <a:ext cx="1399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1" lang="en-US" sz="5600">
                <a:solidFill>
                  <a:srgbClr val="131416"/>
                </a:solidFill>
              </a:rPr>
              <a:t>EVALUACIÓN DE CONOCIMIENTOS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{0BC65D84-0392-4FFC-A3C3-6228D02B5747}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1" name="Google Shape;131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{0BC65D84-0392-4FFC-A3C3-6228D02B5747}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Google Shape;134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