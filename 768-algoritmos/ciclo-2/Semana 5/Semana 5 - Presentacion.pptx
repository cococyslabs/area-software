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0287000" cx="18288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Lobster"/>
      <p:regular r:id="rId29"/>
    </p:embeddedFont>
    <p:embeddedFont>
      <p:font typeface="Pacifico"/>
      <p:regular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j0f2kkwQ6k3OD66beTU57KKKa78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COCOCYS ECYS"/>
  <p:cmAuthor clrIdx="1" id="1" initials="" lastIdx="1" name="Computación COCOCY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obs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regular.fntdata"/><Relationship Id="rId30" Type="http://schemas.openxmlformats.org/officeDocument/2006/relationships/font" Target="fonts/Pacifico-regular.fntdata"/><Relationship Id="rId11" Type="http://schemas.openxmlformats.org/officeDocument/2006/relationships/slide" Target="slides/slide5.xml"/><Relationship Id="rId33" Type="http://schemas.openxmlformats.org/officeDocument/2006/relationships/font" Target="fonts/OpenSans-italic.fntdata"/><Relationship Id="rId10" Type="http://schemas.openxmlformats.org/officeDocument/2006/relationships/slide" Target="slides/slide4.xml"/><Relationship Id="rId32" Type="http://schemas.openxmlformats.org/officeDocument/2006/relationships/font" Target="fonts/OpenSans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23T12:17:15.729">
    <p:pos x="6000" y="0"/>
    <p:text>Porfi agrega imagenes para una mejor comprension de los conceptos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kCBNiOE"/>
      </p:ext>
    </p:extLst>
  </p:cm>
  <p:cm authorId="0" idx="2" dt="2025-05-23T05:44:43.461">
    <p:pos x="6000" y="100"/>
    <p:text>Hola, gracias por avanzar en ese sentido favor agregar algunas imagenes a la presentacion ya que tiene unicamente texto.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j_65YG4"/>
      </p:ext>
    </p:extLst>
  </p:cm>
  <p:cm authorId="1" idx="1" dt="2025-05-23T05:44:43.461">
    <p:pos x="6000" y="100"/>
    <p:text>por nada, ya le he agregado algunas imágenes</p:text>
    <p:extLst>
      <p:ext uri="{C676402C-5697-4E1C-873F-D02D1690AC5C}">
        <p15:threadingInfo timeZoneBias="0">
          <p15:parentCm authorId="0" idx="2"/>
        </p15:threadingInfo>
      </p:ext>
      <p:ext uri="http://customooxmlschemas.google.com/">
        <go:slidesCustomData xmlns:go="http://customooxmlschemas.google.com/" commentPostId="AAABkBpuf8g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c59309f3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5c59309f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c59309f30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c59309f3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c59309f30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5c59309f3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c59309f30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5c59309f3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c59309f30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5c59309f30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c59309f30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c59309f3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c59309f30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5c59309f3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5c59309f3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5c59309f30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5c4bec6024_0_698"/>
          <p:cNvSpPr/>
          <p:nvPr/>
        </p:nvSpPr>
        <p:spPr>
          <a:xfrm flipH="1">
            <a:off x="9514200" y="4618800"/>
            <a:ext cx="8773800" cy="5668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g35c4bec6024_0_698"/>
          <p:cNvGrpSpPr/>
          <p:nvPr/>
        </p:nvGrpSpPr>
        <p:grpSpPr>
          <a:xfrm>
            <a:off x="11188382" y="7922230"/>
            <a:ext cx="5820286" cy="2364680"/>
            <a:chOff x="6917201" y="0"/>
            <a:chExt cx="2227776" cy="863400"/>
          </a:xfrm>
        </p:grpSpPr>
        <p:sp>
          <p:nvSpPr>
            <p:cNvPr id="12" name="Google Shape;12;g35c4bec6024_0_69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5c4bec6024_0_69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35c4bec6024_0_69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5;g35c4bec6024_0_698"/>
          <p:cNvGrpSpPr/>
          <p:nvPr/>
        </p:nvGrpSpPr>
        <p:grpSpPr>
          <a:xfrm>
            <a:off x="398298" y="4"/>
            <a:ext cx="5590825" cy="2166616"/>
            <a:chOff x="6917201" y="0"/>
            <a:chExt cx="2227776" cy="863400"/>
          </a:xfrm>
        </p:grpSpPr>
        <p:sp>
          <p:nvSpPr>
            <p:cNvPr id="16" name="Google Shape;16;g35c4bec6024_0_69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35c4bec6024_0_69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35c4bec6024_0_69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" name="Google Shape;19;g35c4bec6024_0_698"/>
          <p:cNvSpPr txBox="1"/>
          <p:nvPr>
            <p:ph type="title"/>
          </p:nvPr>
        </p:nvSpPr>
        <p:spPr>
          <a:xfrm>
            <a:off x="3777368" y="3492200"/>
            <a:ext cx="10755000" cy="3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g35c4bec6024_0_698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5c4bec6024_0_738"/>
          <p:cNvSpPr/>
          <p:nvPr/>
        </p:nvSpPr>
        <p:spPr>
          <a:xfrm>
            <a:off x="0" y="5646288"/>
            <a:ext cx="14738400" cy="46338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35c4bec6024_0_738"/>
          <p:cNvSpPr/>
          <p:nvPr/>
        </p:nvSpPr>
        <p:spPr>
          <a:xfrm flipH="1">
            <a:off x="7166420" y="3108226"/>
            <a:ext cx="11121000" cy="717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g35c4bec6024_0_738"/>
          <p:cNvGrpSpPr/>
          <p:nvPr/>
        </p:nvGrpSpPr>
        <p:grpSpPr>
          <a:xfrm>
            <a:off x="511982" y="-236"/>
            <a:ext cx="4502694" cy="2086816"/>
            <a:chOff x="3961956" y="4383950"/>
            <a:chExt cx="1160548" cy="548700"/>
          </a:xfrm>
        </p:grpSpPr>
        <p:sp>
          <p:nvSpPr>
            <p:cNvPr id="25" name="Google Shape;25;g35c4bec6024_0_73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g35c4bec6024_0_73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g35c4bec6024_0_73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g35c4bec6024_0_738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" name="Google Shape;29;g35c4bec6024_0_738"/>
          <p:cNvGrpSpPr/>
          <p:nvPr/>
        </p:nvGrpSpPr>
        <p:grpSpPr>
          <a:xfrm>
            <a:off x="69869" y="9044251"/>
            <a:ext cx="3186611" cy="1234144"/>
            <a:chOff x="6917201" y="0"/>
            <a:chExt cx="2227776" cy="863400"/>
          </a:xfrm>
        </p:grpSpPr>
        <p:sp>
          <p:nvSpPr>
            <p:cNvPr id="30" name="Google Shape;30;g35c4bec6024_0_73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35c4bec6024_0_73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5c4bec6024_0_73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oogle Shape;33;g35c4bec6024_0_738"/>
          <p:cNvGrpSpPr/>
          <p:nvPr/>
        </p:nvGrpSpPr>
        <p:grpSpPr>
          <a:xfrm>
            <a:off x="11772706" y="2486"/>
            <a:ext cx="6514907" cy="2523027"/>
            <a:chOff x="6917201" y="0"/>
            <a:chExt cx="2227776" cy="863400"/>
          </a:xfrm>
        </p:grpSpPr>
        <p:sp>
          <p:nvSpPr>
            <p:cNvPr id="34" name="Google Shape;34;g35c4bec6024_0_73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35c4bec6024_0_73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35c4bec6024_0_73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g35c4bec6024_0_738"/>
          <p:cNvSpPr txBox="1"/>
          <p:nvPr>
            <p:ph type="title"/>
          </p:nvPr>
        </p:nvSpPr>
        <p:spPr>
          <a:xfrm>
            <a:off x="2787858" y="2602292"/>
            <a:ext cx="12733800" cy="50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g35c4bec6024_0_738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5c4bec6024_0_670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5c4bec6024_0_670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5c4bec6024_0_670"/>
          <p:cNvSpPr/>
          <p:nvPr/>
        </p:nvSpPr>
        <p:spPr>
          <a:xfrm rot="10800000">
            <a:off x="10117809" y="0"/>
            <a:ext cx="8170200" cy="4105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5c4bec6024_0_670"/>
          <p:cNvSpPr/>
          <p:nvPr/>
        </p:nvSpPr>
        <p:spPr>
          <a:xfrm>
            <a:off x="4065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g35c4bec6024_0_670"/>
          <p:cNvGrpSpPr/>
          <p:nvPr/>
        </p:nvGrpSpPr>
        <p:grpSpPr>
          <a:xfrm>
            <a:off x="510401" y="1185"/>
            <a:ext cx="4500726" cy="2088600"/>
            <a:chOff x="255200" y="592"/>
            <a:chExt cx="2250363" cy="1044300"/>
          </a:xfrm>
        </p:grpSpPr>
        <p:sp>
          <p:nvSpPr>
            <p:cNvPr id="45" name="Google Shape;45;g35c4bec6024_0_670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g35c4bec6024_0_670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35c4bec6024_0_670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48;g35c4bec6024_0_670"/>
          <p:cNvGrpSpPr/>
          <p:nvPr/>
        </p:nvGrpSpPr>
        <p:grpSpPr>
          <a:xfrm>
            <a:off x="1810790" y="1185"/>
            <a:ext cx="4500726" cy="2088600"/>
            <a:chOff x="905395" y="592"/>
            <a:chExt cx="2250363" cy="1044300"/>
          </a:xfrm>
        </p:grpSpPr>
        <p:sp>
          <p:nvSpPr>
            <p:cNvPr id="49" name="Google Shape;49;g35c4bec6024_0_670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g35c4bec6024_0_670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35c4bec6024_0_670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" name="Google Shape;52;g35c4bec6024_0_670"/>
          <p:cNvGrpSpPr/>
          <p:nvPr/>
        </p:nvGrpSpPr>
        <p:grpSpPr>
          <a:xfrm>
            <a:off x="14114936" y="10177"/>
            <a:ext cx="3702563" cy="1504215"/>
            <a:chOff x="6917201" y="0"/>
            <a:chExt cx="2227776" cy="863400"/>
          </a:xfrm>
        </p:grpSpPr>
        <p:sp>
          <p:nvSpPr>
            <p:cNvPr id="53" name="Google Shape;53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56;g35c4bec6024_0_670"/>
          <p:cNvGrpSpPr/>
          <p:nvPr/>
        </p:nvGrpSpPr>
        <p:grpSpPr>
          <a:xfrm>
            <a:off x="13106063" y="8435703"/>
            <a:ext cx="4778133" cy="1851475"/>
            <a:chOff x="6917201" y="0"/>
            <a:chExt cx="2227776" cy="863400"/>
          </a:xfrm>
        </p:grpSpPr>
        <p:sp>
          <p:nvSpPr>
            <p:cNvPr id="57" name="Google Shape;57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" name="Google Shape;60;g35c4bec6024_0_670"/>
          <p:cNvGrpSpPr/>
          <p:nvPr/>
        </p:nvGrpSpPr>
        <p:grpSpPr>
          <a:xfrm>
            <a:off x="398298" y="8111304"/>
            <a:ext cx="5590825" cy="2166616"/>
            <a:chOff x="6917201" y="0"/>
            <a:chExt cx="2227776" cy="863400"/>
          </a:xfrm>
        </p:grpSpPr>
        <p:sp>
          <p:nvSpPr>
            <p:cNvPr id="61" name="Google Shape;61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g35c4bec6024_0_670"/>
          <p:cNvSpPr txBox="1"/>
          <p:nvPr>
            <p:ph type="ctrTitle"/>
          </p:nvPr>
        </p:nvSpPr>
        <p:spPr>
          <a:xfrm>
            <a:off x="3717406" y="3645666"/>
            <a:ext cx="107226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9pPr>
          </a:lstStyle>
          <a:p/>
        </p:txBody>
      </p:sp>
      <p:sp>
        <p:nvSpPr>
          <p:cNvPr id="65" name="Google Shape;65;g35c4bec6024_0_670"/>
          <p:cNvSpPr txBox="1"/>
          <p:nvPr>
            <p:ph idx="1" type="subTitle"/>
          </p:nvPr>
        </p:nvSpPr>
        <p:spPr>
          <a:xfrm>
            <a:off x="3717400" y="6826316"/>
            <a:ext cx="107226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g35c4bec6024_0_67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c4bec6024_0_731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5c4bec6024_0_731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5c4bec6024_0_731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5c4bec6024_0_731"/>
          <p:cNvSpPr txBox="1"/>
          <p:nvPr>
            <p:ph type="title"/>
          </p:nvPr>
        </p:nvSpPr>
        <p:spPr>
          <a:xfrm>
            <a:off x="1638300" y="1691200"/>
            <a:ext cx="74184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72" name="Google Shape;72;g35c4bec6024_0_731"/>
          <p:cNvSpPr txBox="1"/>
          <p:nvPr>
            <p:ph idx="1" type="body"/>
          </p:nvPr>
        </p:nvSpPr>
        <p:spPr>
          <a:xfrm>
            <a:off x="1661400" y="4638100"/>
            <a:ext cx="7418400" cy="4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73" name="Google Shape;73;g35c4bec6024_0_731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c4bec6024_0_764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5c4bec6024_0_764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5c4bec6024_0_764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5c4bec6024_0_764"/>
          <p:cNvSpPr txBox="1"/>
          <p:nvPr>
            <p:ph idx="1" type="body"/>
          </p:nvPr>
        </p:nvSpPr>
        <p:spPr>
          <a:xfrm>
            <a:off x="656050" y="8327000"/>
            <a:ext cx="148302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/>
        </p:txBody>
      </p:sp>
      <p:sp>
        <p:nvSpPr>
          <p:cNvPr id="79" name="Google Shape;79;g35c4bec6024_0_764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c4bec6024_0_770"/>
          <p:cNvSpPr/>
          <p:nvPr/>
        </p:nvSpPr>
        <p:spPr>
          <a:xfrm flipH="1">
            <a:off x="11138400" y="5668150"/>
            <a:ext cx="7149600" cy="461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g35c4bec6024_0_770"/>
          <p:cNvGrpSpPr/>
          <p:nvPr/>
        </p:nvGrpSpPr>
        <p:grpSpPr>
          <a:xfrm>
            <a:off x="11918444" y="8239152"/>
            <a:ext cx="5041902" cy="2048330"/>
            <a:chOff x="6917201" y="0"/>
            <a:chExt cx="2227776" cy="863400"/>
          </a:xfrm>
        </p:grpSpPr>
        <p:sp>
          <p:nvSpPr>
            <p:cNvPr id="83" name="Google Shape;83;g35c4bec6024_0_7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35c4bec6024_0_7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35c4bec6024_0_7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g35c4bec6024_0_770"/>
          <p:cNvGrpSpPr/>
          <p:nvPr/>
        </p:nvGrpSpPr>
        <p:grpSpPr>
          <a:xfrm>
            <a:off x="398298" y="4"/>
            <a:ext cx="5590825" cy="2166616"/>
            <a:chOff x="6917201" y="0"/>
            <a:chExt cx="2227776" cy="863400"/>
          </a:xfrm>
        </p:grpSpPr>
        <p:sp>
          <p:nvSpPr>
            <p:cNvPr id="87" name="Google Shape;87;g35c4bec6024_0_7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g35c4bec6024_0_7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g35c4bec6024_0_7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g35c4bec6024_0_770"/>
          <p:cNvSpPr txBox="1"/>
          <p:nvPr>
            <p:ph hasCustomPrompt="1" type="title"/>
          </p:nvPr>
        </p:nvSpPr>
        <p:spPr>
          <a:xfrm>
            <a:off x="2771700" y="2767700"/>
            <a:ext cx="12744600" cy="27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1" name="Google Shape;91;g35c4bec6024_0_770"/>
          <p:cNvSpPr txBox="1"/>
          <p:nvPr>
            <p:ph idx="1" type="body"/>
          </p:nvPr>
        </p:nvSpPr>
        <p:spPr>
          <a:xfrm>
            <a:off x="2771700" y="5727700"/>
            <a:ext cx="127446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2" name="Google Shape;92;g35c4bec6024_0_77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c4bec6024_0_710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5c4bec6024_0_710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5c4bec6024_0_710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5c4bec6024_0_710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8" name="Google Shape;98;g35c4bec6024_0_710"/>
          <p:cNvSpPr txBox="1"/>
          <p:nvPr>
            <p:ph idx="1" type="body"/>
          </p:nvPr>
        </p:nvSpPr>
        <p:spPr>
          <a:xfrm>
            <a:off x="1638300" y="3981450"/>
            <a:ext cx="150114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9" name="Google Shape;99;g35c4bec6024_0_71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c4bec6024_0_717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5c4bec6024_0_717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5c4bec6024_0_717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5c4bec6024_0_717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5" name="Google Shape;105;g35c4bec6024_0_717"/>
          <p:cNvSpPr txBox="1"/>
          <p:nvPr>
            <p:ph idx="1" type="body"/>
          </p:nvPr>
        </p:nvSpPr>
        <p:spPr>
          <a:xfrm>
            <a:off x="163830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6" name="Google Shape;106;g35c4bec6024_0_717"/>
          <p:cNvSpPr txBox="1"/>
          <p:nvPr>
            <p:ph idx="2" type="body"/>
          </p:nvPr>
        </p:nvSpPr>
        <p:spPr>
          <a:xfrm>
            <a:off x="927735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7" name="Google Shape;107;g35c4bec6024_0_717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c4bec6024_0_725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5c4bec6024_0_725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5c4bec6024_0_725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5c4bec6024_0_725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3" name="Google Shape;113;g35c4bec6024_0_725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c4bec6024_0_756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5c4bec6024_0_756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5c4bec6024_0_756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5c4bec6024_0_756"/>
          <p:cNvSpPr txBox="1"/>
          <p:nvPr>
            <p:ph type="title"/>
          </p:nvPr>
        </p:nvSpPr>
        <p:spPr>
          <a:xfrm>
            <a:off x="1638300" y="1691200"/>
            <a:ext cx="128484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9" name="Google Shape;119;g35c4bec6024_0_756"/>
          <p:cNvSpPr txBox="1"/>
          <p:nvPr>
            <p:ph idx="1" type="subTitle"/>
          </p:nvPr>
        </p:nvSpPr>
        <p:spPr>
          <a:xfrm>
            <a:off x="1638300" y="3101400"/>
            <a:ext cx="117198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g35c4bec6024_0_756"/>
          <p:cNvSpPr txBox="1"/>
          <p:nvPr>
            <p:ph idx="2" type="body"/>
          </p:nvPr>
        </p:nvSpPr>
        <p:spPr>
          <a:xfrm>
            <a:off x="1638300" y="4934100"/>
            <a:ext cx="117198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21" name="Google Shape;121;g35c4bec6024_0_756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c4bec6024_0_783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5c4bec6024_0_66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g35c4bec6024_0_666"/>
          <p:cNvSpPr txBox="1"/>
          <p:nvPr>
            <p:ph idx="1" type="body"/>
          </p:nvPr>
        </p:nvSpPr>
        <p:spPr>
          <a:xfrm>
            <a:off x="623400" y="2304950"/>
            <a:ext cx="17041200" cy="6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Char char="●"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83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83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83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83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83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5c4bec6024_0_666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educo.org/blog/como-aplicar-el-pensamiento-computacional-aula" TargetMode="External"/><Relationship Id="rId4" Type="http://schemas.openxmlformats.org/officeDocument/2006/relationships/hyperlink" Target="https://descargas.intef.es/recursos_educativos/ODES_SGOA/Primaria/Descifrando_el_codigo_con_Ada/abstraccin.html" TargetMode="External"/><Relationship Id="rId5" Type="http://schemas.openxmlformats.org/officeDocument/2006/relationships/hyperlink" Target="https://es.wikipedia.org/wiki/Pensamiento_computacional" TargetMode="External"/><Relationship Id="rId6" Type="http://schemas.openxmlformats.org/officeDocument/2006/relationships/hyperlink" Target="https://www.gurisesunidos.org.uy/wp-content/uploads/2017/11/PensamientoComputacional.pdf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"/>
          <p:cNvSpPr txBox="1"/>
          <p:nvPr/>
        </p:nvSpPr>
        <p:spPr>
          <a:xfrm>
            <a:off x="1063303" y="6994239"/>
            <a:ext cx="5717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ALGORITMOS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956505" y="3444149"/>
            <a:ext cx="123750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Fundamentos de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063303" y="8745251"/>
            <a:ext cx="69813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1028700" y="9210675"/>
            <a:ext cx="6667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228600" y="9588254"/>
            <a:ext cx="8115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2"/>
          <p:cNvGrpSpPr/>
          <p:nvPr/>
        </p:nvGrpSpPr>
        <p:grpSpPr>
          <a:xfrm>
            <a:off x="176625" y="4596678"/>
            <a:ext cx="7339115" cy="845568"/>
            <a:chOff x="0" y="-43758"/>
            <a:chExt cx="1964221" cy="360000"/>
          </a:xfrm>
        </p:grpSpPr>
        <p:sp>
          <p:nvSpPr>
            <p:cNvPr id="139" name="Google Shape;13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0" name="Google Shape;140;p2"/>
            <p:cNvSpPr txBox="1"/>
            <p:nvPr/>
          </p:nvSpPr>
          <p:spPr>
            <a:xfrm>
              <a:off x="0" y="-43758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Algoritmos</a:t>
              </a: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De</a:t>
              </a:r>
              <a:r>
                <a:rPr lang="en-US" sz="2799"/>
                <a:t>scomposición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2"/>
          <p:cNvSpPr/>
          <p:nvPr/>
        </p:nvSpPr>
        <p:spPr>
          <a:xfrm>
            <a:off x="1866989" y="3303305"/>
            <a:ext cx="4115190" cy="1267162"/>
          </a:xfrm>
          <a:custGeom>
            <a:rect b="b" l="l" r="r" t="t"/>
            <a:pathLst>
              <a:path extrusionOk="0" h="333738" w="1083836">
                <a:moveTo>
                  <a:pt x="880636" y="0"/>
                </a:moveTo>
                <a:lnTo>
                  <a:pt x="0" y="0"/>
                </a:lnTo>
                <a:lnTo>
                  <a:pt x="0" y="333738"/>
                </a:lnTo>
                <a:lnTo>
                  <a:pt x="880636" y="333738"/>
                </a:lnTo>
                <a:lnTo>
                  <a:pt x="1083836" y="166869"/>
                </a:lnTo>
                <a:lnTo>
                  <a:pt x="8806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3" name="Google Shape;143;p2"/>
          <p:cNvSpPr txBox="1"/>
          <p:nvPr/>
        </p:nvSpPr>
        <p:spPr>
          <a:xfrm>
            <a:off x="592749" y="161205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grpSp>
        <p:nvGrpSpPr>
          <p:cNvPr id="144" name="Google Shape;144;p2"/>
          <p:cNvGrpSpPr/>
          <p:nvPr/>
        </p:nvGrpSpPr>
        <p:grpSpPr>
          <a:xfrm>
            <a:off x="176625" y="5549376"/>
            <a:ext cx="7339115" cy="845568"/>
            <a:chOff x="0" y="-31464"/>
            <a:chExt cx="1964221" cy="360000"/>
          </a:xfrm>
        </p:grpSpPr>
        <p:sp>
          <p:nvSpPr>
            <p:cNvPr id="145" name="Google Shape;14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6" name="Google Shape;146;p2"/>
            <p:cNvSpPr txBox="1"/>
            <p:nvPr/>
          </p:nvSpPr>
          <p:spPr>
            <a:xfrm>
              <a:off x="73241" y="-31464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199"/>
                <a:t>Algoritmos</a:t>
              </a: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lang="en-US" sz="2199"/>
                <a:t>Reconocimiento de patrones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" name="Google Shape;147;p2"/>
          <p:cNvGrpSpPr/>
          <p:nvPr/>
        </p:nvGrpSpPr>
        <p:grpSpPr>
          <a:xfrm>
            <a:off x="-128175" y="6502072"/>
            <a:ext cx="7643915" cy="845568"/>
            <a:chOff x="-81576" y="-43758"/>
            <a:chExt cx="2045797" cy="360000"/>
          </a:xfrm>
        </p:grpSpPr>
        <p:sp>
          <p:nvSpPr>
            <p:cNvPr id="148" name="Google Shape;14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9" name="Google Shape;149;p2"/>
            <p:cNvSpPr txBox="1"/>
            <p:nvPr/>
          </p:nvSpPr>
          <p:spPr>
            <a:xfrm>
              <a:off x="-81576" y="-43758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Algoritmos: Abstracción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" name="Google Shape;150;p2"/>
          <p:cNvSpPr txBox="1"/>
          <p:nvPr/>
        </p:nvSpPr>
        <p:spPr>
          <a:xfrm>
            <a:off x="10247578" y="26330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51" name="Google Shape;151;p2"/>
          <p:cNvGrpSpPr/>
          <p:nvPr/>
        </p:nvGrpSpPr>
        <p:grpSpPr>
          <a:xfrm>
            <a:off x="11779155" y="5047755"/>
            <a:ext cx="5353682" cy="1701155"/>
            <a:chOff x="0" y="-114300"/>
            <a:chExt cx="1410014" cy="448038"/>
          </a:xfrm>
        </p:grpSpPr>
        <p:sp>
          <p:nvSpPr>
            <p:cNvPr id="152" name="Google Shape;152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3" name="Google Shape;153;p2"/>
            <p:cNvSpPr txBox="1"/>
            <p:nvPr/>
          </p:nvSpPr>
          <p:spPr>
            <a:xfrm>
              <a:off x="0" y="-114300"/>
              <a:ext cx="1295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2"/>
          <p:cNvGrpSpPr/>
          <p:nvPr/>
        </p:nvGrpSpPr>
        <p:grpSpPr>
          <a:xfrm>
            <a:off x="176625" y="7381303"/>
            <a:ext cx="7356155" cy="845568"/>
            <a:chOff x="0" y="-62640"/>
            <a:chExt cx="1968782" cy="360000"/>
          </a:xfrm>
        </p:grpSpPr>
        <p:sp>
          <p:nvSpPr>
            <p:cNvPr id="155" name="Google Shape;15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6" name="Google Shape;156;p2"/>
            <p:cNvSpPr txBox="1"/>
            <p:nvPr/>
          </p:nvSpPr>
          <p:spPr>
            <a:xfrm>
              <a:off x="118982" y="-6264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399"/>
                <a:t>Algoritmos: Definición de un problema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2"/>
          <p:cNvGrpSpPr/>
          <p:nvPr/>
        </p:nvGrpSpPr>
        <p:grpSpPr>
          <a:xfrm>
            <a:off x="176625" y="8483000"/>
            <a:ext cx="7722088" cy="845568"/>
            <a:chOff x="0" y="-46365"/>
            <a:chExt cx="2066719" cy="360000"/>
          </a:xfrm>
        </p:grpSpPr>
        <p:sp>
          <p:nvSpPr>
            <p:cNvPr id="158" name="Google Shape;15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9" name="Google Shape;159;p2"/>
            <p:cNvSpPr txBox="1"/>
            <p:nvPr/>
          </p:nvSpPr>
          <p:spPr>
            <a:xfrm>
              <a:off x="102619" y="-46365"/>
              <a:ext cx="19641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199"/>
                <a:t>Algoritmos: Características de un problema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/>
        </p:nvSpPr>
        <p:spPr>
          <a:xfrm>
            <a:off x="1492889" y="2011539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2054850" y="3157975"/>
            <a:ext cx="14178300" cy="6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4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evalúa  la formulación y estructuración de problemas computacionales mediante técnicas de descomposición, abstracción y reconocimiento de patrones, considerando sus características, contexto y tipo, con el propósito de optimizar su representación y resolución en entornos algorítmicos.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c59309f30_0_0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Descomposición</a:t>
            </a:r>
            <a:endParaRPr/>
          </a:p>
        </p:txBody>
      </p:sp>
      <p:sp>
        <p:nvSpPr>
          <p:cNvPr id="175" name="Google Shape;175;g35c59309f30_0_0"/>
          <p:cNvSpPr txBox="1"/>
          <p:nvPr/>
        </p:nvSpPr>
        <p:spPr>
          <a:xfrm>
            <a:off x="1454000" y="2706750"/>
            <a:ext cx="13536900" cy="1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¿Qué es la descomposición?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Es el proceso de dividir un problema complejo en partes más pequeñas y manejables llamadas subproblemas. Cada subproblema puede ser resuelto de forma independiente o reutilizado en otros contextos.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5c59309f30_0_0"/>
          <p:cNvSpPr txBox="1"/>
          <p:nvPr/>
        </p:nvSpPr>
        <p:spPr>
          <a:xfrm>
            <a:off x="1454000" y="4917350"/>
            <a:ext cx="9659700" cy="3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Importancia en el desarrollo de algoritmos: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Permite abordar gradualmente problemas complejos.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Facilita la detección de errores, al poder aislar partes del código.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Mejora la reutilización de código al identificar tareas comunes.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Es la base para la modularidad y el diseño estructurado en la programación.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g35c59309f3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43725" y="5318500"/>
            <a:ext cx="3773325" cy="269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c59309f30_0_157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Descomposición</a:t>
            </a:r>
            <a:endParaRPr/>
          </a:p>
        </p:txBody>
      </p:sp>
      <p:sp>
        <p:nvSpPr>
          <p:cNvPr id="183" name="Google Shape;183;g35c59309f30_0_157"/>
          <p:cNvSpPr txBox="1"/>
          <p:nvPr/>
        </p:nvSpPr>
        <p:spPr>
          <a:xfrm>
            <a:off x="1719750" y="3486600"/>
            <a:ext cx="14848500" cy="3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Etapas de una buena descomposición: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Identificar la tarea principal.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Analizar las entradas, procesos y salidas necesarias.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Separar cada subproceso en una función o procedimiento.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Establecer relaciones o secuencias entre subprocesos.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Verificar que los subprocesos cubren todo el problema original.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c59309f30_0_151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Descomposición</a:t>
            </a:r>
            <a:r>
              <a:rPr lang="en-US"/>
              <a:t> - Ejemplo</a:t>
            </a:r>
            <a:endParaRPr/>
          </a:p>
        </p:txBody>
      </p:sp>
      <p:sp>
        <p:nvSpPr>
          <p:cNvPr id="189" name="Google Shape;189;g35c59309f30_0_151"/>
          <p:cNvSpPr txBox="1"/>
          <p:nvPr/>
        </p:nvSpPr>
        <p:spPr>
          <a:xfrm>
            <a:off x="1454000" y="2706750"/>
            <a:ext cx="13536900" cy="1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47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Ejemplo: Procesar la nómina de una empresa.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5c59309f30_0_151"/>
          <p:cNvSpPr txBox="1"/>
          <p:nvPr/>
        </p:nvSpPr>
        <p:spPr>
          <a:xfrm>
            <a:off x="1454000" y="3918125"/>
            <a:ext cx="14848500" cy="3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32500" lnSpcReduction="10000"/>
          </a:bodyPr>
          <a:lstStyle/>
          <a:p>
            <a:pPr indent="-442564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Leer los datos de empleados.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44256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Calcular salario base.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44256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Calcular deducciones e impuestos.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44256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Generar resumen de pago.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44256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Guardar los resultados.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c59309f30_0_133"/>
          <p:cNvSpPr txBox="1"/>
          <p:nvPr>
            <p:ph type="ctrTitle"/>
          </p:nvPr>
        </p:nvSpPr>
        <p:spPr>
          <a:xfrm>
            <a:off x="1113150" y="933750"/>
            <a:ext cx="16061700" cy="17730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Reconocimiento de patrones</a:t>
            </a:r>
            <a:endParaRPr/>
          </a:p>
        </p:txBody>
      </p:sp>
      <p:sp>
        <p:nvSpPr>
          <p:cNvPr id="196" name="Google Shape;196;g35c59309f30_0_133"/>
          <p:cNvSpPr txBox="1"/>
          <p:nvPr/>
        </p:nvSpPr>
        <p:spPr>
          <a:xfrm>
            <a:off x="1454000" y="2706750"/>
            <a:ext cx="15720900" cy="19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Es la capacidad de observar y detectar similitudes, estructuras repetitivas o regularidades dentro de un conjunto de datos o procesos. En el pensamiento algorítmico, permite reutilizar soluciones conocidas en nuevas situaciones.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5c59309f30_0_133"/>
          <p:cNvSpPr txBox="1"/>
          <p:nvPr/>
        </p:nvSpPr>
        <p:spPr>
          <a:xfrm>
            <a:off x="1454000" y="4327350"/>
            <a:ext cx="9462600" cy="3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Tipos de patrones comunes en algoritmos:</a:t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-37838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Numéricos: progresiones aritméticas o geométricas.</a:t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-3783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Textuales: secuencias de caracteres o validaciones de formatos.</a:t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-3783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Comportamiento: acciones que se repiten bajo ciertas condiciones.</a:t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-3783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Lógicos: estructuras como bucles y condicionales.</a:t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g35c59309f30_0_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8550" y="4267775"/>
            <a:ext cx="5177525" cy="343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c59309f30_0_163"/>
          <p:cNvSpPr txBox="1"/>
          <p:nvPr>
            <p:ph type="ctrTitle"/>
          </p:nvPr>
        </p:nvSpPr>
        <p:spPr>
          <a:xfrm>
            <a:off x="1113150" y="933750"/>
            <a:ext cx="16061700" cy="17730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6640"/>
              <a:t>Reconocimiento de patrones </a:t>
            </a:r>
            <a:r>
              <a:rPr lang="en-US" sz="6640"/>
              <a:t>- Ejemplo</a:t>
            </a:r>
            <a:endParaRPr sz="6640"/>
          </a:p>
        </p:txBody>
      </p:sp>
      <p:sp>
        <p:nvSpPr>
          <p:cNvPr id="204" name="Google Shape;204;g35c59309f30_0_163"/>
          <p:cNvSpPr txBox="1"/>
          <p:nvPr/>
        </p:nvSpPr>
        <p:spPr>
          <a:xfrm>
            <a:off x="1719750" y="2706750"/>
            <a:ext cx="14848500" cy="3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550">
                <a:latin typeface="Roboto"/>
                <a:ea typeface="Roboto"/>
                <a:cs typeface="Roboto"/>
                <a:sym typeface="Roboto"/>
              </a:rPr>
              <a:t>Ejemplo:</a:t>
            </a: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 Secuencia numérica: 2, 4, 6, 8, 10, ...</a:t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-3905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50"/>
              <a:buChar char="●"/>
            </a:pPr>
            <a:r>
              <a:rPr b="1" lang="en-US" sz="2550">
                <a:latin typeface="Roboto"/>
                <a:ea typeface="Roboto"/>
                <a:cs typeface="Roboto"/>
                <a:sym typeface="Roboto"/>
              </a:rPr>
              <a:t>Patrón identificado:</a:t>
            </a: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 Incremento de 2 unidades.</a:t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-3905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50"/>
              <a:buChar char="●"/>
            </a:pPr>
            <a:r>
              <a:rPr b="1" lang="en-US" sz="2550">
                <a:latin typeface="Roboto"/>
                <a:ea typeface="Roboto"/>
                <a:cs typeface="Roboto"/>
                <a:sym typeface="Roboto"/>
              </a:rPr>
              <a:t>Aplicación:</a:t>
            </a: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 Crear un algoritmo que genere números pares.</a:t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550">
                <a:latin typeface="Roboto"/>
                <a:ea typeface="Roboto"/>
                <a:cs typeface="Roboto"/>
                <a:sym typeface="Roboto"/>
              </a:rPr>
              <a:t>Otro ejemplo:</a:t>
            </a: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 Validación de contraseñas</a:t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-3905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50"/>
              <a:buChar char="●"/>
            </a:pPr>
            <a:r>
              <a:rPr b="1" lang="en-US" sz="2550">
                <a:latin typeface="Roboto"/>
                <a:ea typeface="Roboto"/>
                <a:cs typeface="Roboto"/>
                <a:sym typeface="Roboto"/>
              </a:rPr>
              <a:t>Patrones comunes:</a:t>
            </a: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 Longitud mínima, inclusión de caracteres especiales, combinación de letras y números.</a:t>
            </a:r>
            <a:br>
              <a:rPr lang="en-US" sz="2550">
                <a:latin typeface="Roboto"/>
                <a:ea typeface="Roboto"/>
                <a:cs typeface="Roboto"/>
                <a:sym typeface="Roboto"/>
              </a:rPr>
            </a:b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-3905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50"/>
              <a:buChar char="●"/>
            </a:pPr>
            <a:r>
              <a:rPr b="1" lang="en-US" sz="2550">
                <a:latin typeface="Roboto"/>
                <a:ea typeface="Roboto"/>
                <a:cs typeface="Roboto"/>
                <a:sym typeface="Roboto"/>
              </a:rPr>
              <a:t>Aplicación:</a:t>
            </a: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 Implementar funciones que verifiquen estos patrones en las contraseñas ingresadas por los usuarios.</a:t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rgbClr val="AF7B5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c59309f30_0_139"/>
          <p:cNvSpPr txBox="1"/>
          <p:nvPr>
            <p:ph type="ctrTitle"/>
          </p:nvPr>
        </p:nvSpPr>
        <p:spPr>
          <a:xfrm>
            <a:off x="1113150" y="933750"/>
            <a:ext cx="16061700" cy="17730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Abstracción</a:t>
            </a:r>
            <a:endParaRPr/>
          </a:p>
        </p:txBody>
      </p:sp>
      <p:sp>
        <p:nvSpPr>
          <p:cNvPr id="210" name="Google Shape;210;g35c59309f30_0_139"/>
          <p:cNvSpPr txBox="1"/>
          <p:nvPr/>
        </p:nvSpPr>
        <p:spPr>
          <a:xfrm>
            <a:off x="1454000" y="2706750"/>
            <a:ext cx="15720900" cy="19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Es el proceso mental mediante el cual se identifican los elementos relevantes de un problema, ignorando los detalles irrelevantes o secundarios para enfocarse en lo esencial.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5c59309f30_0_139"/>
          <p:cNvSpPr txBox="1"/>
          <p:nvPr/>
        </p:nvSpPr>
        <p:spPr>
          <a:xfrm>
            <a:off x="1454000" y="3978775"/>
            <a:ext cx="7356000" cy="3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Niveles de abstracción</a:t>
            </a: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:</a:t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-37838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Conceptual: definición del problema sin entrar en detalles técnicos.</a:t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-3783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Lógico: estructuración del problema en algoritmos/pasos secuenciales</a:t>
            </a: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.</a:t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-3783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Físico: implementación específica en un lenguaje de programación.</a:t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g35c59309f30_0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2650" y="3978775"/>
            <a:ext cx="7606500" cy="48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c59309f30_0_145"/>
          <p:cNvSpPr txBox="1"/>
          <p:nvPr>
            <p:ph type="ctrTitle"/>
          </p:nvPr>
        </p:nvSpPr>
        <p:spPr>
          <a:xfrm>
            <a:off x="1113150" y="933750"/>
            <a:ext cx="16061700" cy="17730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Definición y características de un problema computacional</a:t>
            </a:r>
            <a:endParaRPr/>
          </a:p>
        </p:txBody>
      </p:sp>
      <p:sp>
        <p:nvSpPr>
          <p:cNvPr id="218" name="Google Shape;218;g35c59309f30_0_145"/>
          <p:cNvSpPr txBox="1"/>
          <p:nvPr/>
        </p:nvSpPr>
        <p:spPr>
          <a:xfrm>
            <a:off x="1454000" y="2706750"/>
            <a:ext cx="15720900" cy="19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Es una situación que puede resolverse mediante un conjunto finito de pasos lógicos, ejecutables por una máquina. Requiere entradas conocidas, un proceso definido y una salida esperada.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5c59309f30_0_145"/>
          <p:cNvSpPr txBox="1"/>
          <p:nvPr/>
        </p:nvSpPr>
        <p:spPr>
          <a:xfrm>
            <a:off x="1454000" y="3978775"/>
            <a:ext cx="14848500" cy="3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Componentes</a:t>
            </a: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 principales</a:t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-390525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550"/>
              <a:buFont typeface="Roboto"/>
              <a:buChar char="●"/>
            </a:pP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Entrada: datos o condiciones iniciales.</a:t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-3905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50"/>
              <a:buFont typeface="Roboto"/>
              <a:buChar char="●"/>
            </a:pP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Proceso: operaciones o reglas que transforman la entrada.</a:t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-3905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50"/>
              <a:buFont typeface="Roboto"/>
              <a:buChar char="●"/>
            </a:pPr>
            <a:r>
              <a:rPr lang="en-US" sz="2550">
                <a:latin typeface="Roboto"/>
                <a:ea typeface="Roboto"/>
                <a:cs typeface="Roboto"/>
                <a:sym typeface="Roboto"/>
              </a:rPr>
              <a:t>Salida: resultado esperado del procesamiento.</a:t>
            </a:r>
            <a:endParaRPr sz="2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c59309f30_1_0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5" name="Google Shape;225;g35c59309f30_1_0"/>
          <p:cNvSpPr/>
          <p:nvPr/>
        </p:nvSpPr>
        <p:spPr>
          <a:xfrm>
            <a:off x="2054400" y="2208400"/>
            <a:ext cx="50352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>
                <a:latin typeface="Roboto"/>
                <a:ea typeface="Roboto"/>
                <a:cs typeface="Roboto"/>
                <a:sym typeface="Roboto"/>
              </a:rPr>
              <a:t>Descomposición es el proceso de dividir un problema complejo en partes más pequeñas y manejables llamadas subproblemas.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5c59309f30_1_0"/>
          <p:cNvSpPr/>
          <p:nvPr/>
        </p:nvSpPr>
        <p:spPr>
          <a:xfrm>
            <a:off x="11040375" y="2208400"/>
            <a:ext cx="50352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>
                <a:latin typeface="Roboto"/>
                <a:ea typeface="Roboto"/>
                <a:cs typeface="Roboto"/>
                <a:sym typeface="Roboto"/>
              </a:rPr>
              <a:t>Abstracción es el proceso mental mediante el cual se identifican los elementos relevantes de un problema</a:t>
            </a:r>
            <a:endParaRPr sz="2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5c59309f30_1_0"/>
          <p:cNvSpPr/>
          <p:nvPr/>
        </p:nvSpPr>
        <p:spPr>
          <a:xfrm>
            <a:off x="1341300" y="6080500"/>
            <a:ext cx="64614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Niveles de abstracción: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Conceptual: definición del problema sin entrar en detalles técnicos.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Lógico: estructuración del problema en algoritmos/pasos secuenciales.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Físico: implementación específica en un lenguaje de programación.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g35c59309f30_1_0"/>
          <p:cNvSpPr/>
          <p:nvPr/>
        </p:nvSpPr>
        <p:spPr>
          <a:xfrm>
            <a:off x="10516875" y="5757850"/>
            <a:ext cx="6082200" cy="33204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>
                <a:latin typeface="Roboto"/>
                <a:ea typeface="Roboto"/>
                <a:cs typeface="Roboto"/>
                <a:sym typeface="Roboto"/>
              </a:rPr>
              <a:t>Reconocimiento de patrones es la capacidad de observar y detectar similitudes, estructuras repetitivas o regularidades dentro de un conjunto de datos o procesos.</a:t>
            </a:r>
            <a:endParaRPr sz="2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Valores y actitudes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8695975" y="5316150"/>
            <a:ext cx="7867800" cy="31656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Colaboración</a:t>
            </a:r>
            <a:r>
              <a:rPr b="0" i="0" lang="en-US" sz="2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La evolución de la computación ha sido posible gracias al trabajo en equipo de científicos, ingenieros y usuarios.</a:t>
            </a:r>
            <a:endParaRPr b="0" i="0" sz="2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1472450" y="2419800"/>
            <a:ext cx="69087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u="sng">
                <a:latin typeface="Roboto"/>
                <a:ea typeface="Roboto"/>
                <a:cs typeface="Roboto"/>
                <a:sym typeface="Roboto"/>
              </a:rPr>
              <a:t>Pensamiento crítico</a:t>
            </a:r>
            <a:r>
              <a:rPr b="0" i="0" lang="en-US" sz="2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2700">
                <a:latin typeface="Roboto"/>
                <a:ea typeface="Roboto"/>
                <a:cs typeface="Roboto"/>
                <a:sym typeface="Roboto"/>
              </a:rPr>
              <a:t>Analizar y evaluar diferentes enfoques para resolver problemas de manera eficiente.</a:t>
            </a:r>
            <a:endParaRPr b="0" i="0" sz="2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1025000" y="2718725"/>
            <a:ext cx="15951600" cy="52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8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-"/>
            </a:pPr>
            <a:r>
              <a:rPr lang="en-US" sz="3151" u="sng">
                <a:solidFill>
                  <a:schemeClr val="hlink"/>
                </a:solidFill>
                <a:hlinkClick r:id="rId3"/>
              </a:rPr>
              <a:t>https://www.educo.org/blog/como-aplicar-el-pensamiento-computacional-aula</a:t>
            </a:r>
            <a:b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3151" u="sng">
                <a:solidFill>
                  <a:schemeClr val="hlink"/>
                </a:solidFill>
                <a:hlinkClick r:id="rId4"/>
              </a:rPr>
              <a:t>https://descargas.intef.es/recursos_educativos/ODES_SGOA/Primaria/Descifrando_el_codigo_con_Ada/abstraccin.html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8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SzPts val="3151"/>
              <a:buChar char="-"/>
            </a:pPr>
            <a:r>
              <a:rPr lang="en-US" sz="3151" u="sng">
                <a:solidFill>
                  <a:schemeClr val="hlink"/>
                </a:solidFill>
                <a:hlinkClick r:id="rId5"/>
              </a:rPr>
              <a:t>https://es.wikipedia.org/wiki/Pensamiento_computacional</a:t>
            </a:r>
            <a:r>
              <a:rPr lang="en-US" sz="3151">
                <a:solidFill>
                  <a:srgbClr val="131416"/>
                </a:solidFill>
              </a:rPr>
              <a:t> 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-"/>
            </a:pPr>
            <a:r>
              <a:rPr lang="en-US" sz="3151" u="sng">
                <a:solidFill>
                  <a:schemeClr val="hlink"/>
                </a:solidFill>
                <a:hlinkClick r:id="rId6"/>
              </a:rPr>
              <a:t>https://www.gurisesunidos.org.uy/wp-content/uploads/2017/11/PensamientoComputacional.pdf</a:t>
            </a:r>
            <a:r>
              <a:rPr lang="en-US" sz="3151">
                <a:solidFill>
                  <a:srgbClr val="131416"/>
                </a:solidFill>
              </a:rPr>
              <a:t> 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7" name="Google Shape;247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