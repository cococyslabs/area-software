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10287000" cx="18288000"/>
  <p:notesSz cx="6858000" cy="9144000"/>
  <p:embeddedFontLst>
    <p:embeddedFont>
      <p:font typeface="Roboto"/>
      <p:regular r:id="rId21"/>
      <p:bold r:id="rId22"/>
      <p:italic r:id="rId23"/>
      <p:boldItalic r:id="rId24"/>
    </p:embeddedFont>
    <p:embeddedFont>
      <p:font typeface="Nunito"/>
      <p:regular r:id="rId25"/>
      <p:bold r:id="rId26"/>
      <p:italic r:id="rId27"/>
      <p:boldItalic r:id="rId28"/>
    </p:embeddedFont>
    <p:embeddedFont>
      <p:font typeface="Lobster"/>
      <p:regular r:id="rId29"/>
    </p:embeddedFont>
    <p:embeddedFont>
      <p:font typeface="Pacifico"/>
      <p:regular r:id="rId30"/>
    </p:embeddedFont>
    <p:embeddedFont>
      <p:font typeface="Open Sans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5" roundtripDataSignature="AMtx7miEEL9Ydtot9WKK6hPNWQ+LTyFZUQ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1" name="COCOCYS ECYS"/>
  <p:cmAuthor clrIdx="1" id="1" initials="" lastIdx="1" name="Computación COCOCYS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Roboto-bold.fntdata"/><Relationship Id="rId21" Type="http://schemas.openxmlformats.org/officeDocument/2006/relationships/font" Target="fonts/Roboto-regular.fntdata"/><Relationship Id="rId24" Type="http://schemas.openxmlformats.org/officeDocument/2006/relationships/font" Target="fonts/Roboto-boldItalic.fntdata"/><Relationship Id="rId23" Type="http://schemas.openxmlformats.org/officeDocument/2006/relationships/font" Target="fonts/Roboto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commentAuthors" Target="commentAuthors.xml"/><Relationship Id="rId9" Type="http://schemas.openxmlformats.org/officeDocument/2006/relationships/slide" Target="slides/slide3.xml"/><Relationship Id="rId26" Type="http://schemas.openxmlformats.org/officeDocument/2006/relationships/font" Target="fonts/Nunito-bold.fntdata"/><Relationship Id="rId25" Type="http://schemas.openxmlformats.org/officeDocument/2006/relationships/font" Target="fonts/Nunito-regular.fntdata"/><Relationship Id="rId28" Type="http://schemas.openxmlformats.org/officeDocument/2006/relationships/font" Target="fonts/Nunito-boldItalic.fntdata"/><Relationship Id="rId27" Type="http://schemas.openxmlformats.org/officeDocument/2006/relationships/font" Target="fonts/Nunito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Lobster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OpenSans-regular.fntdata"/><Relationship Id="rId30" Type="http://schemas.openxmlformats.org/officeDocument/2006/relationships/font" Target="fonts/Pacifico-regular.fntdata"/><Relationship Id="rId11" Type="http://schemas.openxmlformats.org/officeDocument/2006/relationships/slide" Target="slides/slide5.xml"/><Relationship Id="rId33" Type="http://schemas.openxmlformats.org/officeDocument/2006/relationships/font" Target="fonts/OpenSans-italic.fntdata"/><Relationship Id="rId10" Type="http://schemas.openxmlformats.org/officeDocument/2006/relationships/slide" Target="slides/slide4.xml"/><Relationship Id="rId32" Type="http://schemas.openxmlformats.org/officeDocument/2006/relationships/font" Target="fonts/OpenSans-bold.fntdata"/><Relationship Id="rId13" Type="http://schemas.openxmlformats.org/officeDocument/2006/relationships/slide" Target="slides/slide7.xml"/><Relationship Id="rId35" Type="http://customschemas.google.com/relationships/presentationmetadata" Target="metadata"/><Relationship Id="rId12" Type="http://schemas.openxmlformats.org/officeDocument/2006/relationships/slide" Target="slides/slide6.xml"/><Relationship Id="rId34" Type="http://schemas.openxmlformats.org/officeDocument/2006/relationships/font" Target="fonts/OpenSans-boldItalic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5-05-23T05:44:43.461">
    <p:pos x="6000" y="0"/>
    <p:text>Hola, gracias por avanzar en ese sentido favor agregar algunas imagenes a la presentacion ya que tiene unicamente texto.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j_65YG4"/>
      </p:ext>
    </p:extLst>
  </p:cm>
  <p:cm authorId="1" idx="1" dt="2025-05-23T05:44:43.461">
    <p:pos x="6000" y="0"/>
    <p:text>por nada, ya le he agregado algunas imágenes</p:text>
    <p:extLst>
      <p:ext uri="{C676402C-5697-4E1C-873F-D02D1690AC5C}">
        <p15:threadingInfo timeZoneBias="0">
          <p15:parentCm authorId="0" idx="1"/>
        </p15:threadingInfo>
      </p:ext>
      <p:ext uri="http://customooxmlschemas.google.com/">
        <go:slidesCustomData xmlns:go="http://customooxmlschemas.google.com/" commentPostId="AAABkBpuf8g"/>
      </p:ext>
    </p:extLs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6" name="Google Shape;126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6" name="Google Shape;13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6" name="Google Shape;16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5cca7a0e8c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5cca7a0e8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5cca7a0e8c_0_1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5cca7a0e8c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5cca7a0e8c_0_1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5cca7a0e8c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5cca7a0e8c_0_1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5cca7a0e8c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5cca7a0e8c_0_14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5cca7a0e8c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5cca7a0e8c_0_14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5cca7a0e8c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5cca7a0e8c_0_15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5cca7a0e8c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5cca7a0e8c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7" name="Google Shape;217;g35cca7a0e8c_0_15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7" name="Google Shape;22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4" name="Google Shape;23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0" name="Google Shape;24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5c4bec6024_0_698"/>
          <p:cNvSpPr/>
          <p:nvPr/>
        </p:nvSpPr>
        <p:spPr>
          <a:xfrm flipH="1">
            <a:off x="9514200" y="4618800"/>
            <a:ext cx="8773800" cy="56682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" name="Google Shape;11;g35c4bec6024_0_698"/>
          <p:cNvGrpSpPr/>
          <p:nvPr/>
        </p:nvGrpSpPr>
        <p:grpSpPr>
          <a:xfrm>
            <a:off x="11188382" y="7922230"/>
            <a:ext cx="5820286" cy="2364680"/>
            <a:chOff x="6917201" y="0"/>
            <a:chExt cx="2227776" cy="863400"/>
          </a:xfrm>
        </p:grpSpPr>
        <p:sp>
          <p:nvSpPr>
            <p:cNvPr id="12" name="Google Shape;12;g35c4bec6024_0_69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g35c4bec6024_0_69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4;g35c4bec6024_0_69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" name="Google Shape;15;g35c4bec6024_0_698"/>
          <p:cNvGrpSpPr/>
          <p:nvPr/>
        </p:nvGrpSpPr>
        <p:grpSpPr>
          <a:xfrm>
            <a:off x="398298" y="4"/>
            <a:ext cx="5590825" cy="2166616"/>
            <a:chOff x="6917201" y="0"/>
            <a:chExt cx="2227776" cy="863400"/>
          </a:xfrm>
        </p:grpSpPr>
        <p:sp>
          <p:nvSpPr>
            <p:cNvPr id="16" name="Google Shape;16;g35c4bec6024_0_69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7;g35c4bec6024_0_69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8;g35c4bec6024_0_69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" name="Google Shape;19;g35c4bec6024_0_698"/>
          <p:cNvSpPr txBox="1"/>
          <p:nvPr>
            <p:ph type="title"/>
          </p:nvPr>
        </p:nvSpPr>
        <p:spPr>
          <a:xfrm>
            <a:off x="3777368" y="3492200"/>
            <a:ext cx="10755000" cy="329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400"/>
              <a:buNone/>
              <a:defRPr sz="64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400"/>
              <a:buNone/>
              <a:defRPr sz="64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400"/>
              <a:buNone/>
              <a:defRPr sz="64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400"/>
              <a:buNone/>
              <a:defRPr sz="64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400"/>
              <a:buNone/>
              <a:defRPr sz="64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400"/>
              <a:buNone/>
              <a:defRPr sz="64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400"/>
              <a:buNone/>
              <a:defRPr sz="64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400"/>
              <a:buNone/>
              <a:defRPr sz="64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400"/>
              <a:buNone/>
              <a:defRPr sz="6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" name="Google Shape;20;g35c4bec6024_0_698"/>
          <p:cNvSpPr txBox="1"/>
          <p:nvPr>
            <p:ph idx="12" type="sldNum"/>
          </p:nvPr>
        </p:nvSpPr>
        <p:spPr>
          <a:xfrm>
            <a:off x="16781467" y="9087337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1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g35c4bec6024_0_738"/>
          <p:cNvSpPr/>
          <p:nvPr/>
        </p:nvSpPr>
        <p:spPr>
          <a:xfrm>
            <a:off x="0" y="5646288"/>
            <a:ext cx="14738400" cy="46338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g35c4bec6024_0_738"/>
          <p:cNvSpPr/>
          <p:nvPr/>
        </p:nvSpPr>
        <p:spPr>
          <a:xfrm flipH="1">
            <a:off x="7166420" y="3108226"/>
            <a:ext cx="11121000" cy="717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" name="Google Shape;24;g35c4bec6024_0_738"/>
          <p:cNvGrpSpPr/>
          <p:nvPr/>
        </p:nvGrpSpPr>
        <p:grpSpPr>
          <a:xfrm>
            <a:off x="511982" y="-236"/>
            <a:ext cx="4502694" cy="2086816"/>
            <a:chOff x="3961956" y="4383950"/>
            <a:chExt cx="1160548" cy="548700"/>
          </a:xfrm>
        </p:grpSpPr>
        <p:sp>
          <p:nvSpPr>
            <p:cNvPr id="25" name="Google Shape;25;g35c4bec6024_0_73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26;g35c4bec6024_0_73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g35c4bec6024_0_73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8" name="Google Shape;28;g35c4bec6024_0_738"/>
          <p:cNvSpPr/>
          <p:nvPr/>
        </p:nvSpPr>
        <p:spPr>
          <a:xfrm>
            <a:off x="406450" y="412500"/>
            <a:ext cx="17475000" cy="9462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9" name="Google Shape;29;g35c4bec6024_0_738"/>
          <p:cNvGrpSpPr/>
          <p:nvPr/>
        </p:nvGrpSpPr>
        <p:grpSpPr>
          <a:xfrm>
            <a:off x="69869" y="9044251"/>
            <a:ext cx="3186611" cy="1234144"/>
            <a:chOff x="6917201" y="0"/>
            <a:chExt cx="2227776" cy="863400"/>
          </a:xfrm>
        </p:grpSpPr>
        <p:sp>
          <p:nvSpPr>
            <p:cNvPr id="30" name="Google Shape;30;g35c4bec6024_0_73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31;g35c4bec6024_0_73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32;g35c4bec6024_0_73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3" name="Google Shape;33;g35c4bec6024_0_738"/>
          <p:cNvGrpSpPr/>
          <p:nvPr/>
        </p:nvGrpSpPr>
        <p:grpSpPr>
          <a:xfrm>
            <a:off x="11772706" y="2486"/>
            <a:ext cx="6514907" cy="2523027"/>
            <a:chOff x="6917201" y="0"/>
            <a:chExt cx="2227776" cy="863400"/>
          </a:xfrm>
        </p:grpSpPr>
        <p:sp>
          <p:nvSpPr>
            <p:cNvPr id="34" name="Google Shape;34;g35c4bec6024_0_73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35;g35c4bec6024_0_73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" name="Google Shape;36;g35c4bec6024_0_73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7" name="Google Shape;37;g35c4bec6024_0_738"/>
          <p:cNvSpPr txBox="1"/>
          <p:nvPr>
            <p:ph type="title"/>
          </p:nvPr>
        </p:nvSpPr>
        <p:spPr>
          <a:xfrm>
            <a:off x="2787858" y="2602292"/>
            <a:ext cx="12733800" cy="50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/>
        </p:txBody>
      </p:sp>
      <p:sp>
        <p:nvSpPr>
          <p:cNvPr id="38" name="Google Shape;38;g35c4bec6024_0_738"/>
          <p:cNvSpPr txBox="1"/>
          <p:nvPr>
            <p:ph idx="12" type="sldNum"/>
          </p:nvPr>
        </p:nvSpPr>
        <p:spPr>
          <a:xfrm>
            <a:off x="16781467" y="9087337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6"/>
        </a:solid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35c4bec6024_0_670"/>
          <p:cNvSpPr/>
          <p:nvPr/>
        </p:nvSpPr>
        <p:spPr>
          <a:xfrm>
            <a:off x="61" y="5649000"/>
            <a:ext cx="14740800" cy="4638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g35c4bec6024_0_670"/>
          <p:cNvSpPr/>
          <p:nvPr/>
        </p:nvSpPr>
        <p:spPr>
          <a:xfrm flipH="1">
            <a:off x="7165200" y="3101400"/>
            <a:ext cx="11122800" cy="71856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g35c4bec6024_0_670"/>
          <p:cNvSpPr/>
          <p:nvPr/>
        </p:nvSpPr>
        <p:spPr>
          <a:xfrm rot="10800000">
            <a:off x="10117809" y="0"/>
            <a:ext cx="8170200" cy="41052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g35c4bec6024_0_670"/>
          <p:cNvSpPr/>
          <p:nvPr/>
        </p:nvSpPr>
        <p:spPr>
          <a:xfrm>
            <a:off x="406550" y="412500"/>
            <a:ext cx="17475000" cy="9462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4" name="Google Shape;44;g35c4bec6024_0_670"/>
          <p:cNvGrpSpPr/>
          <p:nvPr/>
        </p:nvGrpSpPr>
        <p:grpSpPr>
          <a:xfrm>
            <a:off x="510401" y="1185"/>
            <a:ext cx="4500726" cy="2088600"/>
            <a:chOff x="255200" y="592"/>
            <a:chExt cx="2250363" cy="1044300"/>
          </a:xfrm>
        </p:grpSpPr>
        <p:sp>
          <p:nvSpPr>
            <p:cNvPr id="45" name="Google Shape;45;g35c4bec6024_0_670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" name="Google Shape;46;g35c4bec6024_0_670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" name="Google Shape;47;g35c4bec6024_0_670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8" name="Google Shape;48;g35c4bec6024_0_670"/>
          <p:cNvGrpSpPr/>
          <p:nvPr/>
        </p:nvGrpSpPr>
        <p:grpSpPr>
          <a:xfrm>
            <a:off x="1810790" y="1185"/>
            <a:ext cx="4500726" cy="2088600"/>
            <a:chOff x="905395" y="592"/>
            <a:chExt cx="2250363" cy="1044300"/>
          </a:xfrm>
        </p:grpSpPr>
        <p:sp>
          <p:nvSpPr>
            <p:cNvPr id="49" name="Google Shape;49;g35c4bec6024_0_670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" name="Google Shape;50;g35c4bec6024_0_670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g35c4bec6024_0_670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2" name="Google Shape;52;g35c4bec6024_0_670"/>
          <p:cNvGrpSpPr/>
          <p:nvPr/>
        </p:nvGrpSpPr>
        <p:grpSpPr>
          <a:xfrm>
            <a:off x="14114936" y="10177"/>
            <a:ext cx="3702563" cy="1504215"/>
            <a:chOff x="6917201" y="0"/>
            <a:chExt cx="2227776" cy="863400"/>
          </a:xfrm>
        </p:grpSpPr>
        <p:sp>
          <p:nvSpPr>
            <p:cNvPr id="53" name="Google Shape;53;g35c4bec6024_0_670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" name="Google Shape;54;g35c4bec6024_0_670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" name="Google Shape;55;g35c4bec6024_0_670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6" name="Google Shape;56;g35c4bec6024_0_670"/>
          <p:cNvGrpSpPr/>
          <p:nvPr/>
        </p:nvGrpSpPr>
        <p:grpSpPr>
          <a:xfrm>
            <a:off x="13106063" y="8435703"/>
            <a:ext cx="4778133" cy="1851475"/>
            <a:chOff x="6917201" y="0"/>
            <a:chExt cx="2227776" cy="863400"/>
          </a:xfrm>
        </p:grpSpPr>
        <p:sp>
          <p:nvSpPr>
            <p:cNvPr id="57" name="Google Shape;57;g35c4bec6024_0_670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g35c4bec6024_0_670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" name="Google Shape;59;g35c4bec6024_0_670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0" name="Google Shape;60;g35c4bec6024_0_670"/>
          <p:cNvGrpSpPr/>
          <p:nvPr/>
        </p:nvGrpSpPr>
        <p:grpSpPr>
          <a:xfrm>
            <a:off x="398298" y="8111304"/>
            <a:ext cx="5590825" cy="2166616"/>
            <a:chOff x="6917201" y="0"/>
            <a:chExt cx="2227776" cy="863400"/>
          </a:xfrm>
        </p:grpSpPr>
        <p:sp>
          <p:nvSpPr>
            <p:cNvPr id="61" name="Google Shape;61;g35c4bec6024_0_670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" name="Google Shape;62;g35c4bec6024_0_670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" name="Google Shape;63;g35c4bec6024_0_670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4" name="Google Shape;64;g35c4bec6024_0_670"/>
          <p:cNvSpPr txBox="1"/>
          <p:nvPr>
            <p:ph type="ctrTitle"/>
          </p:nvPr>
        </p:nvSpPr>
        <p:spPr>
          <a:xfrm>
            <a:off x="3717406" y="3645666"/>
            <a:ext cx="10722600" cy="289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600"/>
              <a:buNone/>
              <a:defRPr sz="7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600"/>
              <a:buNone/>
              <a:defRPr sz="7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600"/>
              <a:buNone/>
              <a:defRPr sz="7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600"/>
              <a:buNone/>
              <a:defRPr sz="7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600"/>
              <a:buNone/>
              <a:defRPr sz="7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600"/>
              <a:buNone/>
              <a:defRPr sz="7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600"/>
              <a:buNone/>
              <a:defRPr sz="7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600"/>
              <a:buNone/>
              <a:defRPr sz="7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600"/>
              <a:buNone/>
              <a:defRPr sz="7600"/>
            </a:lvl9pPr>
          </a:lstStyle>
          <a:p/>
        </p:txBody>
      </p:sp>
      <p:sp>
        <p:nvSpPr>
          <p:cNvPr id="65" name="Google Shape;65;g35c4bec6024_0_670"/>
          <p:cNvSpPr txBox="1"/>
          <p:nvPr>
            <p:ph idx="1" type="subTitle"/>
          </p:nvPr>
        </p:nvSpPr>
        <p:spPr>
          <a:xfrm>
            <a:off x="3717400" y="6826316"/>
            <a:ext cx="10722600" cy="10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6" name="Google Shape;66;g35c4bec6024_0_670"/>
          <p:cNvSpPr txBox="1"/>
          <p:nvPr>
            <p:ph idx="12" type="sldNum"/>
          </p:nvPr>
        </p:nvSpPr>
        <p:spPr>
          <a:xfrm>
            <a:off x="16781467" y="9087337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accent1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5c4bec6024_0_764"/>
          <p:cNvSpPr/>
          <p:nvPr/>
        </p:nvSpPr>
        <p:spPr>
          <a:xfrm>
            <a:off x="61" y="5649000"/>
            <a:ext cx="14740800" cy="4638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g35c4bec6024_0_764"/>
          <p:cNvSpPr/>
          <p:nvPr/>
        </p:nvSpPr>
        <p:spPr>
          <a:xfrm flipH="1">
            <a:off x="7165200" y="3101400"/>
            <a:ext cx="11122800" cy="7185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g35c4bec6024_0_764"/>
          <p:cNvSpPr/>
          <p:nvPr/>
        </p:nvSpPr>
        <p:spPr>
          <a:xfrm>
            <a:off x="406450" y="412500"/>
            <a:ext cx="17475000" cy="9462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g35c4bec6024_0_764"/>
          <p:cNvSpPr txBox="1"/>
          <p:nvPr>
            <p:ph idx="1" type="body"/>
          </p:nvPr>
        </p:nvSpPr>
        <p:spPr>
          <a:xfrm>
            <a:off x="656050" y="8327000"/>
            <a:ext cx="14830200" cy="1210200"/>
          </a:xfrm>
          <a:prstGeom prst="rect">
            <a:avLst/>
          </a:prstGeom>
          <a:noFill/>
          <a:ln>
            <a:noFill/>
          </a:ln>
        </p:spPr>
        <p:txBody>
          <a:bodyPr anchorCtr="0" anchor="b" bIns="182850" lIns="182850" spcFirstLastPara="1" rIns="182850" wrap="square" tIns="18285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</a:lstStyle>
          <a:p/>
        </p:txBody>
      </p:sp>
      <p:sp>
        <p:nvSpPr>
          <p:cNvPr id="72" name="Google Shape;72;g35c4bec6024_0_764"/>
          <p:cNvSpPr txBox="1"/>
          <p:nvPr>
            <p:ph idx="12" type="sldNum"/>
          </p:nvPr>
        </p:nvSpPr>
        <p:spPr>
          <a:xfrm>
            <a:off x="16781467" y="9087337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5c4bec6024_0_770"/>
          <p:cNvSpPr/>
          <p:nvPr/>
        </p:nvSpPr>
        <p:spPr>
          <a:xfrm flipH="1">
            <a:off x="11138400" y="5668150"/>
            <a:ext cx="7149600" cy="46188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5" name="Google Shape;75;g35c4bec6024_0_770"/>
          <p:cNvGrpSpPr/>
          <p:nvPr/>
        </p:nvGrpSpPr>
        <p:grpSpPr>
          <a:xfrm>
            <a:off x="11918444" y="8239152"/>
            <a:ext cx="5041902" cy="2048330"/>
            <a:chOff x="6917201" y="0"/>
            <a:chExt cx="2227776" cy="863400"/>
          </a:xfrm>
        </p:grpSpPr>
        <p:sp>
          <p:nvSpPr>
            <p:cNvPr id="76" name="Google Shape;76;g35c4bec6024_0_770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" name="Google Shape;77;g35c4bec6024_0_770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g35c4bec6024_0_770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9" name="Google Shape;79;g35c4bec6024_0_770"/>
          <p:cNvGrpSpPr/>
          <p:nvPr/>
        </p:nvGrpSpPr>
        <p:grpSpPr>
          <a:xfrm>
            <a:off x="398298" y="4"/>
            <a:ext cx="5590825" cy="2166616"/>
            <a:chOff x="6917201" y="0"/>
            <a:chExt cx="2227776" cy="863400"/>
          </a:xfrm>
        </p:grpSpPr>
        <p:sp>
          <p:nvSpPr>
            <p:cNvPr id="80" name="Google Shape;80;g35c4bec6024_0_770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81;g35c4bec6024_0_770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g35c4bec6024_0_770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3" name="Google Shape;83;g35c4bec6024_0_770"/>
          <p:cNvSpPr txBox="1"/>
          <p:nvPr>
            <p:ph hasCustomPrompt="1" type="title"/>
          </p:nvPr>
        </p:nvSpPr>
        <p:spPr>
          <a:xfrm>
            <a:off x="2771700" y="2767700"/>
            <a:ext cx="12744600" cy="275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200"/>
              <a:buNone/>
              <a:defRPr sz="172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200"/>
              <a:buNone/>
              <a:defRPr sz="172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200"/>
              <a:buNone/>
              <a:defRPr sz="172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200"/>
              <a:buNone/>
              <a:defRPr sz="172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200"/>
              <a:buNone/>
              <a:defRPr sz="172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200"/>
              <a:buNone/>
              <a:defRPr sz="172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200"/>
              <a:buNone/>
              <a:defRPr sz="172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200"/>
              <a:buNone/>
              <a:defRPr sz="172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200"/>
              <a:buNone/>
              <a:defRPr sz="172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4" name="Google Shape;84;g35c4bec6024_0_770"/>
          <p:cNvSpPr txBox="1"/>
          <p:nvPr>
            <p:ph idx="1" type="body"/>
          </p:nvPr>
        </p:nvSpPr>
        <p:spPr>
          <a:xfrm>
            <a:off x="2771700" y="5727700"/>
            <a:ext cx="12744600" cy="12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3937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●"/>
              <a:defRPr/>
            </a:lvl1pPr>
            <a:lvl2pPr indent="-3683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indent="-3683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indent="-3683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indent="-3683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indent="-3683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indent="-3683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indent="-3683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indent="-3683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/>
        </p:txBody>
      </p:sp>
      <p:sp>
        <p:nvSpPr>
          <p:cNvPr id="85" name="Google Shape;85;g35c4bec6024_0_770"/>
          <p:cNvSpPr txBox="1"/>
          <p:nvPr>
            <p:ph idx="12" type="sldNum"/>
          </p:nvPr>
        </p:nvSpPr>
        <p:spPr>
          <a:xfrm>
            <a:off x="16781467" y="9087337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accent3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5c4bec6024_0_731"/>
          <p:cNvSpPr/>
          <p:nvPr/>
        </p:nvSpPr>
        <p:spPr>
          <a:xfrm flipH="1">
            <a:off x="7165200" y="3101400"/>
            <a:ext cx="11122800" cy="71856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g35c4bec6024_0_731"/>
          <p:cNvSpPr/>
          <p:nvPr/>
        </p:nvSpPr>
        <p:spPr>
          <a:xfrm>
            <a:off x="61" y="5649000"/>
            <a:ext cx="14740800" cy="4638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g35c4bec6024_0_731"/>
          <p:cNvSpPr/>
          <p:nvPr/>
        </p:nvSpPr>
        <p:spPr>
          <a:xfrm>
            <a:off x="406450" y="412500"/>
            <a:ext cx="17475000" cy="9462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g35c4bec6024_0_731"/>
          <p:cNvSpPr txBox="1"/>
          <p:nvPr>
            <p:ph type="title"/>
          </p:nvPr>
        </p:nvSpPr>
        <p:spPr>
          <a:xfrm>
            <a:off x="1638300" y="1691200"/>
            <a:ext cx="7418400" cy="27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91" name="Google Shape;91;g35c4bec6024_0_731"/>
          <p:cNvSpPr txBox="1"/>
          <p:nvPr>
            <p:ph idx="1" type="body"/>
          </p:nvPr>
        </p:nvSpPr>
        <p:spPr>
          <a:xfrm>
            <a:off x="1661400" y="4638100"/>
            <a:ext cx="7418400" cy="4239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3937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●"/>
              <a:defRPr/>
            </a:lvl1pPr>
            <a:lvl2pPr indent="-3683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indent="-3683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indent="-3683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indent="-3683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indent="-3683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indent="-3683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indent="-3683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indent="-3683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/>
        </p:txBody>
      </p:sp>
      <p:sp>
        <p:nvSpPr>
          <p:cNvPr id="92" name="Google Shape;92;g35c4bec6024_0_731"/>
          <p:cNvSpPr txBox="1"/>
          <p:nvPr>
            <p:ph idx="12" type="sldNum"/>
          </p:nvPr>
        </p:nvSpPr>
        <p:spPr>
          <a:xfrm>
            <a:off x="16781467" y="9087337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dk2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5c4bec6024_0_710"/>
          <p:cNvSpPr/>
          <p:nvPr/>
        </p:nvSpPr>
        <p:spPr>
          <a:xfrm flipH="1">
            <a:off x="7165200" y="3101400"/>
            <a:ext cx="11122800" cy="71856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g35c4bec6024_0_710"/>
          <p:cNvSpPr/>
          <p:nvPr/>
        </p:nvSpPr>
        <p:spPr>
          <a:xfrm>
            <a:off x="61" y="5649000"/>
            <a:ext cx="14740800" cy="4638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g35c4bec6024_0_710"/>
          <p:cNvSpPr/>
          <p:nvPr/>
        </p:nvSpPr>
        <p:spPr>
          <a:xfrm>
            <a:off x="406450" y="412500"/>
            <a:ext cx="17475000" cy="9462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g35c4bec6024_0_710"/>
          <p:cNvSpPr txBox="1"/>
          <p:nvPr>
            <p:ph type="title"/>
          </p:nvPr>
        </p:nvSpPr>
        <p:spPr>
          <a:xfrm>
            <a:off x="1638300" y="1691200"/>
            <a:ext cx="15011400" cy="19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98" name="Google Shape;98;g35c4bec6024_0_710"/>
          <p:cNvSpPr txBox="1"/>
          <p:nvPr>
            <p:ph idx="1" type="body"/>
          </p:nvPr>
        </p:nvSpPr>
        <p:spPr>
          <a:xfrm>
            <a:off x="1638300" y="3981450"/>
            <a:ext cx="15011400" cy="48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3937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●"/>
              <a:defRPr/>
            </a:lvl1pPr>
            <a:lvl2pPr indent="-3683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indent="-3683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indent="-3683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indent="-3683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indent="-3683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indent="-3683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indent="-3683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indent="-3683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/>
        </p:txBody>
      </p:sp>
      <p:sp>
        <p:nvSpPr>
          <p:cNvPr id="99" name="Google Shape;99;g35c4bec6024_0_710"/>
          <p:cNvSpPr txBox="1"/>
          <p:nvPr>
            <p:ph idx="12" type="sldNum"/>
          </p:nvPr>
        </p:nvSpPr>
        <p:spPr>
          <a:xfrm>
            <a:off x="16781467" y="9087337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dk2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5c4bec6024_0_717"/>
          <p:cNvSpPr/>
          <p:nvPr/>
        </p:nvSpPr>
        <p:spPr>
          <a:xfrm flipH="1">
            <a:off x="7165200" y="3101400"/>
            <a:ext cx="11122800" cy="71856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g35c4bec6024_0_717"/>
          <p:cNvSpPr/>
          <p:nvPr/>
        </p:nvSpPr>
        <p:spPr>
          <a:xfrm>
            <a:off x="61" y="5649000"/>
            <a:ext cx="14740800" cy="4638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g35c4bec6024_0_717"/>
          <p:cNvSpPr/>
          <p:nvPr/>
        </p:nvSpPr>
        <p:spPr>
          <a:xfrm>
            <a:off x="406450" y="412500"/>
            <a:ext cx="17475000" cy="9462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g35c4bec6024_0_717"/>
          <p:cNvSpPr txBox="1"/>
          <p:nvPr>
            <p:ph type="title"/>
          </p:nvPr>
        </p:nvSpPr>
        <p:spPr>
          <a:xfrm>
            <a:off x="1638300" y="1691200"/>
            <a:ext cx="15011400" cy="19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105" name="Google Shape;105;g35c4bec6024_0_717"/>
          <p:cNvSpPr txBox="1"/>
          <p:nvPr>
            <p:ph idx="1" type="body"/>
          </p:nvPr>
        </p:nvSpPr>
        <p:spPr>
          <a:xfrm>
            <a:off x="1638300" y="3981450"/>
            <a:ext cx="7372200" cy="48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3937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●"/>
              <a:defRPr/>
            </a:lvl1pPr>
            <a:lvl2pPr indent="-3683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indent="-3683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indent="-3683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indent="-3683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indent="-3683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indent="-3683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indent="-3683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indent="-3683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/>
        </p:txBody>
      </p:sp>
      <p:sp>
        <p:nvSpPr>
          <p:cNvPr id="106" name="Google Shape;106;g35c4bec6024_0_717"/>
          <p:cNvSpPr txBox="1"/>
          <p:nvPr>
            <p:ph idx="2" type="body"/>
          </p:nvPr>
        </p:nvSpPr>
        <p:spPr>
          <a:xfrm>
            <a:off x="9277350" y="3981450"/>
            <a:ext cx="7372200" cy="48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3937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●"/>
              <a:defRPr/>
            </a:lvl1pPr>
            <a:lvl2pPr indent="-3683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indent="-3683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indent="-3683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indent="-3683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indent="-3683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indent="-3683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indent="-3683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indent="-3683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/>
        </p:txBody>
      </p:sp>
      <p:sp>
        <p:nvSpPr>
          <p:cNvPr id="107" name="Google Shape;107;g35c4bec6024_0_717"/>
          <p:cNvSpPr txBox="1"/>
          <p:nvPr>
            <p:ph idx="12" type="sldNum"/>
          </p:nvPr>
        </p:nvSpPr>
        <p:spPr>
          <a:xfrm>
            <a:off x="16781467" y="9087337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dk2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5c4bec6024_0_725"/>
          <p:cNvSpPr/>
          <p:nvPr/>
        </p:nvSpPr>
        <p:spPr>
          <a:xfrm flipH="1">
            <a:off x="7165200" y="3101400"/>
            <a:ext cx="11122800" cy="71856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g35c4bec6024_0_725"/>
          <p:cNvSpPr/>
          <p:nvPr/>
        </p:nvSpPr>
        <p:spPr>
          <a:xfrm>
            <a:off x="61" y="5649000"/>
            <a:ext cx="14740800" cy="4638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g35c4bec6024_0_725"/>
          <p:cNvSpPr/>
          <p:nvPr/>
        </p:nvSpPr>
        <p:spPr>
          <a:xfrm>
            <a:off x="406450" y="412500"/>
            <a:ext cx="17475000" cy="9462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g35c4bec6024_0_725"/>
          <p:cNvSpPr txBox="1"/>
          <p:nvPr>
            <p:ph type="title"/>
          </p:nvPr>
        </p:nvSpPr>
        <p:spPr>
          <a:xfrm>
            <a:off x="1638300" y="1691200"/>
            <a:ext cx="15011400" cy="19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113" name="Google Shape;113;g35c4bec6024_0_725"/>
          <p:cNvSpPr txBox="1"/>
          <p:nvPr>
            <p:ph idx="12" type="sldNum"/>
          </p:nvPr>
        </p:nvSpPr>
        <p:spPr>
          <a:xfrm>
            <a:off x="16781467" y="9087337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2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5c4bec6024_0_756"/>
          <p:cNvSpPr/>
          <p:nvPr/>
        </p:nvSpPr>
        <p:spPr>
          <a:xfrm flipH="1">
            <a:off x="7165200" y="3101400"/>
            <a:ext cx="11122800" cy="71856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g35c4bec6024_0_756"/>
          <p:cNvSpPr/>
          <p:nvPr/>
        </p:nvSpPr>
        <p:spPr>
          <a:xfrm>
            <a:off x="61" y="5649000"/>
            <a:ext cx="14740800" cy="4638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g35c4bec6024_0_756"/>
          <p:cNvSpPr/>
          <p:nvPr/>
        </p:nvSpPr>
        <p:spPr>
          <a:xfrm>
            <a:off x="406450" y="412500"/>
            <a:ext cx="17475000" cy="9462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g35c4bec6024_0_756"/>
          <p:cNvSpPr txBox="1"/>
          <p:nvPr>
            <p:ph type="title"/>
          </p:nvPr>
        </p:nvSpPr>
        <p:spPr>
          <a:xfrm>
            <a:off x="1638300" y="1691200"/>
            <a:ext cx="12848400" cy="14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119" name="Google Shape;119;g35c4bec6024_0_756"/>
          <p:cNvSpPr txBox="1"/>
          <p:nvPr>
            <p:ph idx="1" type="subTitle"/>
          </p:nvPr>
        </p:nvSpPr>
        <p:spPr>
          <a:xfrm>
            <a:off x="1638300" y="3101400"/>
            <a:ext cx="117198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0" name="Google Shape;120;g35c4bec6024_0_756"/>
          <p:cNvSpPr txBox="1"/>
          <p:nvPr>
            <p:ph idx="2" type="body"/>
          </p:nvPr>
        </p:nvSpPr>
        <p:spPr>
          <a:xfrm>
            <a:off x="1638300" y="4934100"/>
            <a:ext cx="11719800" cy="41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3937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●"/>
              <a:defRPr/>
            </a:lvl1pPr>
            <a:lvl2pPr indent="-3683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indent="-3683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indent="-3683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indent="-3683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indent="-3683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indent="-3683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indent="-3683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indent="-3683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/>
        </p:txBody>
      </p:sp>
      <p:sp>
        <p:nvSpPr>
          <p:cNvPr id="121" name="Google Shape;121;g35c4bec6024_0_756"/>
          <p:cNvSpPr txBox="1"/>
          <p:nvPr>
            <p:ph idx="12" type="sldNum"/>
          </p:nvPr>
        </p:nvSpPr>
        <p:spPr>
          <a:xfrm>
            <a:off x="16781467" y="9087337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5c4bec6024_0_783"/>
          <p:cNvSpPr txBox="1"/>
          <p:nvPr>
            <p:ph idx="12" type="sldNum"/>
          </p:nvPr>
        </p:nvSpPr>
        <p:spPr>
          <a:xfrm>
            <a:off x="16781467" y="9087337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hift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5c4bec6024_0_666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Font typeface="Nunito"/>
              <a:buNone/>
              <a:defRPr b="0" i="0" sz="56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Font typeface="Nunito"/>
              <a:buNone/>
              <a:defRPr b="0" i="0" sz="56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Font typeface="Nunito"/>
              <a:buNone/>
              <a:defRPr b="0" i="0" sz="56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Font typeface="Nunito"/>
              <a:buNone/>
              <a:defRPr b="0" i="0" sz="56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Font typeface="Nunito"/>
              <a:buNone/>
              <a:defRPr b="0" i="0" sz="56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Font typeface="Nunito"/>
              <a:buNone/>
              <a:defRPr b="0" i="0" sz="56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Font typeface="Nunito"/>
              <a:buNone/>
              <a:defRPr b="0" i="0" sz="56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Font typeface="Nunito"/>
              <a:buNone/>
              <a:defRPr b="0" i="0" sz="56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Font typeface="Nunito"/>
              <a:buNone/>
              <a:defRPr b="0" i="0" sz="56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" name="Google Shape;7;g35c4bec6024_0_666"/>
          <p:cNvSpPr txBox="1"/>
          <p:nvPr>
            <p:ph idx="1" type="body"/>
          </p:nvPr>
        </p:nvSpPr>
        <p:spPr>
          <a:xfrm>
            <a:off x="623400" y="2304950"/>
            <a:ext cx="17041200" cy="67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3937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Calibri"/>
              <a:buChar char="●"/>
              <a:defRPr b="0" i="0" sz="26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83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Calibri"/>
              <a:buChar char="○"/>
              <a:defRPr b="0" i="0" sz="2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683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Calibri"/>
              <a:buChar char="■"/>
              <a:defRPr b="0" i="0" sz="2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683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Calibri"/>
              <a:buChar char="●"/>
              <a:defRPr b="0" i="0" sz="2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683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Calibri"/>
              <a:buChar char="○"/>
              <a:defRPr b="0" i="0" sz="2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683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Calibri"/>
              <a:buChar char="■"/>
              <a:defRPr b="0" i="0" sz="2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683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Calibri"/>
              <a:buChar char="●"/>
              <a:defRPr b="0" i="0" sz="2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683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Calibri"/>
              <a:buChar char="○"/>
              <a:defRPr b="0" i="0" sz="2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683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Calibri"/>
              <a:buChar char="■"/>
              <a:defRPr b="0" i="0" sz="2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g35c4bec6024_0_666"/>
          <p:cNvSpPr txBox="1"/>
          <p:nvPr>
            <p:ph idx="12" type="sldNum"/>
          </p:nvPr>
        </p:nvSpPr>
        <p:spPr>
          <a:xfrm>
            <a:off x="16781467" y="9087337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comments" Target="../comments/comment1.xml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www.ferrovial.com/es/stem/algoritmos/" TargetMode="External"/><Relationship Id="rId4" Type="http://schemas.openxmlformats.org/officeDocument/2006/relationships/hyperlink" Target="https://profile.es/blog/que-es-un-algoritmo-informatico/" TargetMode="External"/><Relationship Id="rId5" Type="http://schemas.openxmlformats.org/officeDocument/2006/relationships/hyperlink" Target="https://www.freecodecamp.org/espanol/news/significado-del-algoritmo-divide-y-venceras/" TargetMode="External"/><Relationship Id="rId6" Type="http://schemas.openxmlformats.org/officeDocument/2006/relationships/hyperlink" Target="https://es.khanacademy.org/computing/computer-science/algorithms/merge-sort/a/divide-and-conquer-algorithms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"/>
          <p:cNvSpPr/>
          <p:nvPr/>
        </p:nvSpPr>
        <p:spPr>
          <a:xfrm>
            <a:off x="12541309" y="0"/>
            <a:ext cx="5746691" cy="1711780"/>
          </a:xfrm>
          <a:custGeom>
            <a:rect b="b" l="l" r="r" t="t"/>
            <a:pathLst>
              <a:path extrusionOk="0" h="1711780" w="5746691">
                <a:moveTo>
                  <a:pt x="0" y="0"/>
                </a:moveTo>
                <a:lnTo>
                  <a:pt x="5746691" y="0"/>
                </a:lnTo>
                <a:lnTo>
                  <a:pt x="5746691" y="1711780"/>
                </a:lnTo>
                <a:lnTo>
                  <a:pt x="0" y="17117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9" name="Google Shape;129;p1"/>
          <p:cNvSpPr txBox="1"/>
          <p:nvPr/>
        </p:nvSpPr>
        <p:spPr>
          <a:xfrm>
            <a:off x="1063303" y="6994239"/>
            <a:ext cx="57174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ALGORITMOS</a:t>
            </a:r>
            <a:endParaRPr b="1" i="0" sz="5000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0" name="Google Shape;130;p1"/>
          <p:cNvSpPr txBox="1"/>
          <p:nvPr/>
        </p:nvSpPr>
        <p:spPr>
          <a:xfrm>
            <a:off x="2956505" y="3444149"/>
            <a:ext cx="12375000" cy="33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00"/>
              <a:buFont typeface="Arial"/>
              <a:buNone/>
            </a:pPr>
            <a:r>
              <a:rPr b="1" i="0" lang="en-US" sz="92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Fundamentos de algoritmos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1"/>
          <p:cNvSpPr txBox="1"/>
          <p:nvPr/>
        </p:nvSpPr>
        <p:spPr>
          <a:xfrm>
            <a:off x="1063303" y="8745251"/>
            <a:ext cx="6981300" cy="42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Escuela de Ingenieria de Ciencias Y Sistemas</a:t>
            </a:r>
            <a:endParaRPr b="1" i="0" sz="2499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2" name="Google Shape;132;p1"/>
          <p:cNvSpPr txBox="1"/>
          <p:nvPr/>
        </p:nvSpPr>
        <p:spPr>
          <a:xfrm>
            <a:off x="1028700" y="9210675"/>
            <a:ext cx="6667500" cy="42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Facultad de Ingenieria</a:t>
            </a:r>
            <a:endParaRPr b="1" i="0" sz="2499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3" name="Google Shape;133;p1"/>
          <p:cNvSpPr txBox="1"/>
          <p:nvPr/>
        </p:nvSpPr>
        <p:spPr>
          <a:xfrm>
            <a:off x="228600" y="9588254"/>
            <a:ext cx="8115300" cy="4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Universidad de San Carlos de Guatemala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8" name="Google Shape;138;p2"/>
          <p:cNvGrpSpPr/>
          <p:nvPr/>
        </p:nvGrpSpPr>
        <p:grpSpPr>
          <a:xfrm>
            <a:off x="176625" y="4596678"/>
            <a:ext cx="7521192" cy="845568"/>
            <a:chOff x="0" y="-43758"/>
            <a:chExt cx="2012952" cy="360000"/>
          </a:xfrm>
        </p:grpSpPr>
        <p:sp>
          <p:nvSpPr>
            <p:cNvPr id="139" name="Google Shape;139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140" name="Google Shape;140;p2"/>
            <p:cNvSpPr txBox="1"/>
            <p:nvPr/>
          </p:nvSpPr>
          <p:spPr>
            <a:xfrm>
              <a:off x="163152" y="-43758"/>
              <a:ext cx="18498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lang="en-US" sz="2799"/>
                <a:t>Tipos de problemas en </a:t>
              </a:r>
              <a:r>
                <a:rPr lang="en-US" sz="2799"/>
                <a:t>computación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1" name="Google Shape;141;p2"/>
          <p:cNvSpPr/>
          <p:nvPr/>
        </p:nvSpPr>
        <p:spPr>
          <a:xfrm>
            <a:off x="878654" y="4740441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2" name="Google Shape;142;p2"/>
          <p:cNvSpPr/>
          <p:nvPr/>
        </p:nvSpPr>
        <p:spPr>
          <a:xfrm>
            <a:off x="1790789" y="3303305"/>
            <a:ext cx="4115867" cy="1267370"/>
          </a:xfrm>
          <a:custGeom>
            <a:rect b="b" l="l" r="r" t="t"/>
            <a:pathLst>
              <a:path extrusionOk="0" h="333738" w="1083836">
                <a:moveTo>
                  <a:pt x="880636" y="0"/>
                </a:moveTo>
                <a:lnTo>
                  <a:pt x="0" y="0"/>
                </a:lnTo>
                <a:lnTo>
                  <a:pt x="0" y="333738"/>
                </a:lnTo>
                <a:lnTo>
                  <a:pt x="880636" y="333738"/>
                </a:lnTo>
                <a:lnTo>
                  <a:pt x="1083836" y="166869"/>
                </a:lnTo>
                <a:lnTo>
                  <a:pt x="880636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43" name="Google Shape;143;p2"/>
          <p:cNvSpPr txBox="1"/>
          <p:nvPr/>
        </p:nvSpPr>
        <p:spPr>
          <a:xfrm>
            <a:off x="592749" y="1612050"/>
            <a:ext cx="77103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0"/>
              <a:buFont typeface="Arial"/>
              <a:buNone/>
            </a:pPr>
            <a:r>
              <a:rPr b="0" i="0" lang="en-US" sz="15000" u="none" cap="none" strike="noStrike">
                <a:solidFill>
                  <a:srgbClr val="131416"/>
                </a:solidFill>
                <a:latin typeface="Pacifico"/>
                <a:ea typeface="Pacifico"/>
                <a:cs typeface="Pacifico"/>
                <a:sym typeface="Pacifico"/>
              </a:rPr>
              <a:t>Agenda</a:t>
            </a:r>
            <a:endParaRPr b="0" i="0" sz="1400" u="none" cap="none" strike="noStrike">
              <a:solidFill>
                <a:srgbClr val="000000"/>
              </a:solidFill>
              <a:latin typeface="Pacifico"/>
              <a:ea typeface="Pacifico"/>
              <a:cs typeface="Pacifico"/>
              <a:sym typeface="Pacifico"/>
            </a:endParaRPr>
          </a:p>
        </p:txBody>
      </p:sp>
      <p:sp>
        <p:nvSpPr>
          <p:cNvPr id="144" name="Google Shape;144;p2"/>
          <p:cNvSpPr txBox="1"/>
          <p:nvPr/>
        </p:nvSpPr>
        <p:spPr>
          <a:xfrm>
            <a:off x="10247578" y="2633067"/>
            <a:ext cx="84168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0"/>
              <a:buFont typeface="Arial"/>
              <a:buNone/>
            </a:pPr>
            <a:r>
              <a:rPr b="0" i="0" lang="en-US" sz="15000" u="none" cap="none" strike="noStrike">
                <a:solidFill>
                  <a:srgbClr val="131416"/>
                </a:solidFill>
                <a:latin typeface="Lobster"/>
                <a:ea typeface="Lobster"/>
                <a:cs typeface="Lobster"/>
                <a:sym typeface="Lobster"/>
              </a:rPr>
              <a:t>Recursos</a:t>
            </a:r>
            <a:endParaRPr b="0" i="0" sz="1400" u="none" cap="none" strike="noStrike">
              <a:solidFill>
                <a:srgbClr val="000000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  <p:grpSp>
        <p:nvGrpSpPr>
          <p:cNvPr id="145" name="Google Shape;145;p2"/>
          <p:cNvGrpSpPr/>
          <p:nvPr/>
        </p:nvGrpSpPr>
        <p:grpSpPr>
          <a:xfrm>
            <a:off x="11779155" y="5047755"/>
            <a:ext cx="5353682" cy="1701155"/>
            <a:chOff x="0" y="-114300"/>
            <a:chExt cx="1410014" cy="448038"/>
          </a:xfrm>
        </p:grpSpPr>
        <p:sp>
          <p:nvSpPr>
            <p:cNvPr id="146" name="Google Shape;146;p2"/>
            <p:cNvSpPr/>
            <p:nvPr/>
          </p:nvSpPr>
          <p:spPr>
            <a:xfrm>
              <a:off x="0" y="0"/>
              <a:ext cx="1410014" cy="333738"/>
            </a:xfrm>
            <a:custGeom>
              <a:rect b="b" l="l" r="r" t="t"/>
              <a:pathLst>
                <a:path extrusionOk="0" h="333738" w="1410014">
                  <a:moveTo>
                    <a:pt x="1206814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1206814" y="333738"/>
                  </a:lnTo>
                  <a:lnTo>
                    <a:pt x="1410014" y="166869"/>
                  </a:lnTo>
                  <a:lnTo>
                    <a:pt x="1206814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147" name="Google Shape;147;p2"/>
            <p:cNvSpPr txBox="1"/>
            <p:nvPr/>
          </p:nvSpPr>
          <p:spPr>
            <a:xfrm>
              <a:off x="0" y="-114300"/>
              <a:ext cx="1295714" cy="4480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499"/>
                <a:buFont typeface="Arial"/>
                <a:buNone/>
              </a:pPr>
              <a:r>
                <a:rPr b="0" i="0" lang="en-US" sz="44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Link de Quizziz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8" name="Google Shape;148;p2"/>
          <p:cNvGrpSpPr/>
          <p:nvPr/>
        </p:nvGrpSpPr>
        <p:grpSpPr>
          <a:xfrm>
            <a:off x="176625" y="5549376"/>
            <a:ext cx="7356150" cy="845568"/>
            <a:chOff x="0" y="-31464"/>
            <a:chExt cx="1968780" cy="360000"/>
          </a:xfrm>
        </p:grpSpPr>
        <p:sp>
          <p:nvSpPr>
            <p:cNvPr id="149" name="Google Shape;149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150" name="Google Shape;150;p2"/>
            <p:cNvSpPr txBox="1"/>
            <p:nvPr/>
          </p:nvSpPr>
          <p:spPr>
            <a:xfrm>
              <a:off x="118980" y="-31464"/>
              <a:ext cx="18498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lang="en-US" sz="2199"/>
                <a:t>Concepto de descomposición de problemas</a:t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1" name="Google Shape;151;p2"/>
          <p:cNvGrpSpPr/>
          <p:nvPr/>
        </p:nvGrpSpPr>
        <p:grpSpPr>
          <a:xfrm>
            <a:off x="81250" y="6541535"/>
            <a:ext cx="7434490" cy="845568"/>
            <a:chOff x="-25526" y="-26957"/>
            <a:chExt cx="1989747" cy="360000"/>
          </a:xfrm>
        </p:grpSpPr>
        <p:sp>
          <p:nvSpPr>
            <p:cNvPr id="152" name="Google Shape;152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153" name="Google Shape;153;p2"/>
            <p:cNvSpPr txBox="1"/>
            <p:nvPr/>
          </p:nvSpPr>
          <p:spPr>
            <a:xfrm>
              <a:off x="-25526" y="-26957"/>
              <a:ext cx="18498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lang="en-US" sz="2799"/>
                <a:t>Técnicas de segmentación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4" name="Google Shape;154;p2"/>
          <p:cNvGrpSpPr/>
          <p:nvPr/>
        </p:nvGrpSpPr>
        <p:grpSpPr>
          <a:xfrm>
            <a:off x="87789" y="7457503"/>
            <a:ext cx="7427949" cy="845568"/>
            <a:chOff x="-23776" y="-30198"/>
            <a:chExt cx="1987997" cy="360000"/>
          </a:xfrm>
        </p:grpSpPr>
        <p:sp>
          <p:nvSpPr>
            <p:cNvPr id="155" name="Google Shape;155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434343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156" name="Google Shape;156;p2"/>
            <p:cNvSpPr txBox="1"/>
            <p:nvPr/>
          </p:nvSpPr>
          <p:spPr>
            <a:xfrm>
              <a:off x="-23776" y="-30198"/>
              <a:ext cx="18498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lang="en-US" sz="2399"/>
                <a:t>Identificación de subproblemas</a:t>
              </a:r>
              <a:endPara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7" name="Google Shape;157;p2"/>
          <p:cNvGrpSpPr/>
          <p:nvPr/>
        </p:nvGrpSpPr>
        <p:grpSpPr>
          <a:xfrm>
            <a:off x="176625" y="8483000"/>
            <a:ext cx="7722088" cy="845568"/>
            <a:chOff x="0" y="-46365"/>
            <a:chExt cx="2066719" cy="360000"/>
          </a:xfrm>
        </p:grpSpPr>
        <p:sp>
          <p:nvSpPr>
            <p:cNvPr id="158" name="Google Shape;158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159" name="Google Shape;159;p2"/>
            <p:cNvSpPr txBox="1"/>
            <p:nvPr/>
          </p:nvSpPr>
          <p:spPr>
            <a:xfrm>
              <a:off x="102619" y="-46365"/>
              <a:ext cx="19641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lang="en-US" sz="2199"/>
                <a:t>Representación estructurada del problema</a:t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0" name="Google Shape;160;p2"/>
          <p:cNvSpPr/>
          <p:nvPr/>
        </p:nvSpPr>
        <p:spPr>
          <a:xfrm>
            <a:off x="878654" y="5623280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1" name="Google Shape;161;p2"/>
          <p:cNvSpPr/>
          <p:nvPr/>
        </p:nvSpPr>
        <p:spPr>
          <a:xfrm>
            <a:off x="878654" y="6604853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2" name="Google Shape;162;p2"/>
          <p:cNvSpPr/>
          <p:nvPr/>
        </p:nvSpPr>
        <p:spPr>
          <a:xfrm>
            <a:off x="878654" y="7604635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3" name="Google Shape;163;p2"/>
          <p:cNvSpPr/>
          <p:nvPr/>
        </p:nvSpPr>
        <p:spPr>
          <a:xfrm>
            <a:off x="878654" y="8605540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5"/>
                </a:lnTo>
                <a:lnTo>
                  <a:pt x="0" y="5500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"/>
          <p:cNvSpPr txBox="1"/>
          <p:nvPr/>
        </p:nvSpPr>
        <p:spPr>
          <a:xfrm>
            <a:off x="1492889" y="2011539"/>
            <a:ext cx="13991100" cy="9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COMPETENCIA(S) QUE DESARROLLAREMOS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69" name="Google Shape;169;p3"/>
          <p:cNvSpPr txBox="1"/>
          <p:nvPr/>
        </p:nvSpPr>
        <p:spPr>
          <a:xfrm>
            <a:off x="2054850" y="3157975"/>
            <a:ext cx="14178300" cy="6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99"/>
              <a:buFont typeface="Arial"/>
              <a:buNone/>
            </a:pPr>
            <a:r>
              <a:rPr b="1" i="0" lang="en-US" sz="43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evalúa  la formulación y estructuración de problemas computacionales mediante técnicas de descomposición, abstracción y reconocimiento de patrones, considerando sus características, contexto y tipo, con el propósito de optimizar su representación y resolución en entornos algorítmicos.</a:t>
            </a:r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5cca7a0e8c_0_0"/>
          <p:cNvSpPr txBox="1"/>
          <p:nvPr>
            <p:ph type="ctrTitle"/>
          </p:nvPr>
        </p:nvSpPr>
        <p:spPr>
          <a:xfrm>
            <a:off x="2908499" y="532800"/>
            <a:ext cx="12471000" cy="2896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Tipos de Problemas en Computación</a:t>
            </a:r>
            <a:endParaRPr/>
          </a:p>
        </p:txBody>
      </p:sp>
      <p:sp>
        <p:nvSpPr>
          <p:cNvPr id="175" name="Google Shape;175;g35cca7a0e8c_0_0"/>
          <p:cNvSpPr txBox="1"/>
          <p:nvPr/>
        </p:nvSpPr>
        <p:spPr>
          <a:xfrm>
            <a:off x="1897500" y="2990100"/>
            <a:ext cx="13536900" cy="48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 fontScale="250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0367">
                <a:latin typeface="Roboto"/>
                <a:ea typeface="Roboto"/>
                <a:cs typeface="Roboto"/>
                <a:sym typeface="Roboto"/>
              </a:rPr>
              <a:t>Clasificación de problemas computacionales:</a:t>
            </a:r>
            <a:endParaRPr sz="10367">
              <a:latin typeface="Roboto"/>
              <a:ea typeface="Roboto"/>
              <a:cs typeface="Roboto"/>
              <a:sym typeface="Roboto"/>
            </a:endParaRPr>
          </a:p>
          <a:p>
            <a:pPr indent="-393188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ct val="100000"/>
              <a:buFont typeface="Roboto"/>
              <a:buChar char="●"/>
            </a:pPr>
            <a:r>
              <a:rPr lang="en-US" sz="10367">
                <a:latin typeface="Roboto"/>
                <a:ea typeface="Roboto"/>
                <a:cs typeface="Roboto"/>
                <a:sym typeface="Roboto"/>
              </a:rPr>
              <a:t>Determinísticos: Los resultados son predecibles y siempre los mismos para entradas idénticas.</a:t>
            </a:r>
            <a:endParaRPr sz="10367">
              <a:latin typeface="Roboto"/>
              <a:ea typeface="Roboto"/>
              <a:cs typeface="Roboto"/>
              <a:sym typeface="Roboto"/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0367">
                <a:latin typeface="Roboto"/>
                <a:ea typeface="Roboto"/>
                <a:cs typeface="Roboto"/>
                <a:sym typeface="Roboto"/>
              </a:rPr>
              <a:t>Ejemplo: Calcular el área de un círculo dado su radio.</a:t>
            </a:r>
            <a:endParaRPr sz="10367">
              <a:latin typeface="Roboto"/>
              <a:ea typeface="Roboto"/>
              <a:cs typeface="Roboto"/>
              <a:sym typeface="Roboto"/>
            </a:endParaRPr>
          </a:p>
          <a:p>
            <a:pPr indent="-393188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ct val="100000"/>
              <a:buFont typeface="Roboto"/>
              <a:buChar char="●"/>
            </a:pPr>
            <a:r>
              <a:rPr lang="en-US" sz="10367">
                <a:latin typeface="Roboto"/>
                <a:ea typeface="Roboto"/>
                <a:cs typeface="Roboto"/>
                <a:sym typeface="Roboto"/>
              </a:rPr>
              <a:t>Probabilísticos: Incorporan incertidumbre; los resultados pueden variar incluso con las mismas entradas.</a:t>
            </a:r>
            <a:endParaRPr sz="10367">
              <a:latin typeface="Roboto"/>
              <a:ea typeface="Roboto"/>
              <a:cs typeface="Roboto"/>
              <a:sym typeface="Roboto"/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0367">
                <a:latin typeface="Roboto"/>
                <a:ea typeface="Roboto"/>
                <a:cs typeface="Roboto"/>
                <a:sym typeface="Roboto"/>
              </a:rPr>
              <a:t>Ejemplo: Simulaciones de pronósticos meteorológicos.</a:t>
            </a:r>
            <a:endParaRPr sz="10367">
              <a:latin typeface="Roboto"/>
              <a:ea typeface="Roboto"/>
              <a:cs typeface="Roboto"/>
              <a:sym typeface="Roboto"/>
            </a:endParaRPr>
          </a:p>
          <a:p>
            <a:pPr indent="-393188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ct val="100000"/>
              <a:buFont typeface="Roboto"/>
              <a:buChar char="●"/>
            </a:pPr>
            <a:r>
              <a:rPr lang="en-US" sz="10367">
                <a:latin typeface="Roboto"/>
                <a:ea typeface="Roboto"/>
                <a:cs typeface="Roboto"/>
                <a:sym typeface="Roboto"/>
              </a:rPr>
              <a:t>Secuenciales: Requieren que las instrucciones se ejecuten en un orden específico.</a:t>
            </a:r>
            <a:endParaRPr sz="10367">
              <a:latin typeface="Roboto"/>
              <a:ea typeface="Roboto"/>
              <a:cs typeface="Roboto"/>
              <a:sym typeface="Roboto"/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0367">
                <a:latin typeface="Roboto"/>
                <a:ea typeface="Roboto"/>
                <a:cs typeface="Roboto"/>
                <a:sym typeface="Roboto"/>
              </a:rPr>
              <a:t>Ejemplo: Recetas de cocina paso a paso.</a:t>
            </a:r>
            <a:endParaRPr sz="10367"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0367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rgbClr val="AF7B5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5cca7a0e8c_0_125"/>
          <p:cNvSpPr txBox="1"/>
          <p:nvPr>
            <p:ph type="ctrTitle"/>
          </p:nvPr>
        </p:nvSpPr>
        <p:spPr>
          <a:xfrm>
            <a:off x="2908499" y="532800"/>
            <a:ext cx="12471000" cy="2896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Tipos de Problemas en Computación</a:t>
            </a:r>
            <a:endParaRPr/>
          </a:p>
        </p:txBody>
      </p:sp>
      <p:sp>
        <p:nvSpPr>
          <p:cNvPr id="181" name="Google Shape;181;g35cca7a0e8c_0_125"/>
          <p:cNvSpPr txBox="1"/>
          <p:nvPr/>
        </p:nvSpPr>
        <p:spPr>
          <a:xfrm>
            <a:off x="1897500" y="2990100"/>
            <a:ext cx="13536900" cy="48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 fontScale="25000" lnSpcReduction="10000"/>
          </a:bodyPr>
          <a:lstStyle/>
          <a:p>
            <a:pPr indent="-393188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ct val="100000"/>
              <a:buFont typeface="Roboto"/>
              <a:buChar char="●"/>
            </a:pPr>
            <a:r>
              <a:rPr lang="en-US" sz="10367">
                <a:latin typeface="Roboto"/>
                <a:ea typeface="Roboto"/>
                <a:cs typeface="Roboto"/>
                <a:sym typeface="Roboto"/>
              </a:rPr>
              <a:t>Condicionales: La ejecución de ciertas instrucciones depende de condiciones específicas.</a:t>
            </a:r>
            <a:endParaRPr sz="10367">
              <a:latin typeface="Roboto"/>
              <a:ea typeface="Roboto"/>
              <a:cs typeface="Roboto"/>
              <a:sym typeface="Roboto"/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0367">
                <a:latin typeface="Roboto"/>
                <a:ea typeface="Roboto"/>
                <a:cs typeface="Roboto"/>
                <a:sym typeface="Roboto"/>
              </a:rPr>
              <a:t>Ejemplo: Sistemas de control de acceso que permiten o deniegan la entrada según credenciales</a:t>
            </a:r>
            <a:endParaRPr sz="10367">
              <a:latin typeface="Roboto"/>
              <a:ea typeface="Roboto"/>
              <a:cs typeface="Roboto"/>
              <a:sym typeface="Roboto"/>
            </a:endParaRPr>
          </a:p>
          <a:p>
            <a:pPr indent="-393188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ct val="100000"/>
              <a:buFont typeface="Roboto"/>
              <a:buChar char="●"/>
            </a:pPr>
            <a:r>
              <a:rPr lang="en-US" sz="10367">
                <a:latin typeface="Roboto"/>
                <a:ea typeface="Roboto"/>
                <a:cs typeface="Roboto"/>
                <a:sym typeface="Roboto"/>
              </a:rPr>
              <a:t>Cíclicos: Involucran la repetición de un conjunto de instrucciones hasta que se cumple una condición.</a:t>
            </a:r>
            <a:endParaRPr sz="10367">
              <a:latin typeface="Roboto"/>
              <a:ea typeface="Roboto"/>
              <a:cs typeface="Roboto"/>
              <a:sym typeface="Roboto"/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0367">
                <a:latin typeface="Roboto"/>
                <a:ea typeface="Roboto"/>
                <a:cs typeface="Roboto"/>
                <a:sym typeface="Roboto"/>
              </a:rPr>
              <a:t>Ejemplo: Procesos de monitoreo continuo en sistemas de seguridad.</a:t>
            </a:r>
            <a:endParaRPr sz="10367">
              <a:latin typeface="Roboto"/>
              <a:ea typeface="Roboto"/>
              <a:cs typeface="Roboto"/>
              <a:sym typeface="Roboto"/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0367"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0367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rgbClr val="AF7B5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2" name="Google Shape;182;g35cca7a0e8c_0_1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72725" y="6490050"/>
            <a:ext cx="5799401" cy="3102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5cca7a0e8c_0_130"/>
          <p:cNvSpPr txBox="1"/>
          <p:nvPr>
            <p:ph type="ctrTitle"/>
          </p:nvPr>
        </p:nvSpPr>
        <p:spPr>
          <a:xfrm>
            <a:off x="2908499" y="532800"/>
            <a:ext cx="12471000" cy="2896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Concepto de Descomposición de Problemas</a:t>
            </a:r>
            <a:endParaRPr/>
          </a:p>
        </p:txBody>
      </p:sp>
      <p:sp>
        <p:nvSpPr>
          <p:cNvPr id="188" name="Google Shape;188;g35cca7a0e8c_0_130"/>
          <p:cNvSpPr txBox="1"/>
          <p:nvPr/>
        </p:nvSpPr>
        <p:spPr>
          <a:xfrm>
            <a:off x="1109025" y="2977775"/>
            <a:ext cx="13536900" cy="48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 fontScale="25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0367">
                <a:latin typeface="Roboto"/>
                <a:ea typeface="Roboto"/>
                <a:cs typeface="Roboto"/>
                <a:sym typeface="Roboto"/>
              </a:rPr>
              <a:t>La descomposición es una técnica de análisis que consiste en dividir un problema complejo en partes más pequeñas, que pueden ser comprendidas y resueltas de manera independiente.</a:t>
            </a:r>
            <a:endParaRPr sz="10367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0367">
                <a:latin typeface="Roboto"/>
                <a:ea typeface="Roboto"/>
                <a:cs typeface="Roboto"/>
                <a:sym typeface="Roboto"/>
              </a:rPr>
              <a:t>Ventajas de descomponer problemas</a:t>
            </a:r>
            <a:endParaRPr sz="10367">
              <a:latin typeface="Roboto"/>
              <a:ea typeface="Roboto"/>
              <a:cs typeface="Roboto"/>
              <a:sym typeface="Roboto"/>
            </a:endParaRPr>
          </a:p>
          <a:p>
            <a:pPr indent="-393188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ct val="100000"/>
              <a:buFont typeface="Roboto"/>
              <a:buChar char="●"/>
            </a:pPr>
            <a:r>
              <a:rPr lang="en-US" sz="10367">
                <a:latin typeface="Roboto"/>
                <a:ea typeface="Roboto"/>
                <a:cs typeface="Roboto"/>
                <a:sym typeface="Roboto"/>
              </a:rPr>
              <a:t>Permite abordar un problema paso a paso.</a:t>
            </a:r>
            <a:endParaRPr sz="10367">
              <a:latin typeface="Roboto"/>
              <a:ea typeface="Roboto"/>
              <a:cs typeface="Roboto"/>
              <a:sym typeface="Roboto"/>
            </a:endParaRPr>
          </a:p>
          <a:p>
            <a:pPr indent="-393188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Roboto"/>
              <a:buChar char="●"/>
            </a:pPr>
            <a:r>
              <a:rPr lang="en-US" sz="10367">
                <a:latin typeface="Roboto"/>
                <a:ea typeface="Roboto"/>
                <a:cs typeface="Roboto"/>
                <a:sym typeface="Roboto"/>
              </a:rPr>
              <a:t>Facilita el diseño de funciones o módulos reutilizables.</a:t>
            </a:r>
            <a:endParaRPr sz="10367">
              <a:latin typeface="Roboto"/>
              <a:ea typeface="Roboto"/>
              <a:cs typeface="Roboto"/>
              <a:sym typeface="Roboto"/>
            </a:endParaRPr>
          </a:p>
          <a:p>
            <a:pPr indent="-393188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Roboto"/>
              <a:buChar char="●"/>
            </a:pPr>
            <a:r>
              <a:rPr lang="en-US" sz="10367">
                <a:latin typeface="Roboto"/>
                <a:ea typeface="Roboto"/>
                <a:cs typeface="Roboto"/>
                <a:sym typeface="Roboto"/>
              </a:rPr>
              <a:t>Mejora el mantenimiento y depuración del código.</a:t>
            </a:r>
            <a:endParaRPr sz="10367">
              <a:latin typeface="Roboto"/>
              <a:ea typeface="Roboto"/>
              <a:cs typeface="Roboto"/>
              <a:sym typeface="Roboto"/>
            </a:endParaRPr>
          </a:p>
          <a:p>
            <a:pPr indent="-393188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Roboto"/>
              <a:buChar char="●"/>
            </a:pPr>
            <a:r>
              <a:rPr lang="en-US" sz="10367">
                <a:latin typeface="Roboto"/>
                <a:ea typeface="Roboto"/>
                <a:cs typeface="Roboto"/>
                <a:sym typeface="Roboto"/>
              </a:rPr>
              <a:t>Favorece el trabajo colaborativo en equipos.</a:t>
            </a:r>
            <a:endParaRPr sz="10367"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0367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rgbClr val="AF7B5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9" name="Google Shape;189;g35cca7a0e8c_0_1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99300" y="4406974"/>
            <a:ext cx="7573451" cy="4569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5cca7a0e8c_0_136"/>
          <p:cNvSpPr txBox="1"/>
          <p:nvPr>
            <p:ph type="ctrTitle"/>
          </p:nvPr>
        </p:nvSpPr>
        <p:spPr>
          <a:xfrm>
            <a:off x="2908499" y="532800"/>
            <a:ext cx="12471000" cy="2896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Identificación de Subproblemas</a:t>
            </a:r>
            <a:endParaRPr/>
          </a:p>
        </p:txBody>
      </p:sp>
      <p:sp>
        <p:nvSpPr>
          <p:cNvPr id="195" name="Google Shape;195;g35cca7a0e8c_0_136"/>
          <p:cNvSpPr txBox="1"/>
          <p:nvPr/>
        </p:nvSpPr>
        <p:spPr>
          <a:xfrm>
            <a:off x="1109025" y="2977775"/>
            <a:ext cx="13536900" cy="48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 fontScale="32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367">
                <a:latin typeface="Roboto"/>
                <a:ea typeface="Roboto"/>
                <a:cs typeface="Roboto"/>
                <a:sym typeface="Roboto"/>
              </a:rPr>
              <a:t>Es el proceso de detectar tareas específicas dentro de un problema general que pueden resolverse de manera independiente o secuencial.</a:t>
            </a:r>
            <a:endParaRPr sz="10367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367">
                <a:latin typeface="Roboto"/>
                <a:ea typeface="Roboto"/>
                <a:cs typeface="Roboto"/>
                <a:sym typeface="Roboto"/>
              </a:rPr>
              <a:t>¿Por qué es útil?</a:t>
            </a:r>
            <a:endParaRPr b="1" sz="10367">
              <a:latin typeface="Roboto"/>
              <a:ea typeface="Roboto"/>
              <a:cs typeface="Roboto"/>
              <a:sym typeface="Roboto"/>
            </a:endParaRPr>
          </a:p>
          <a:p>
            <a:pPr indent="-442564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Roboto"/>
              <a:buChar char="●"/>
            </a:pPr>
            <a:r>
              <a:rPr lang="en-US" sz="10367">
                <a:latin typeface="Roboto"/>
                <a:ea typeface="Roboto"/>
                <a:cs typeface="Roboto"/>
                <a:sym typeface="Roboto"/>
              </a:rPr>
              <a:t>Permite aplicar soluciones ya conocidas.</a:t>
            </a:r>
            <a:endParaRPr sz="10367">
              <a:latin typeface="Roboto"/>
              <a:ea typeface="Roboto"/>
              <a:cs typeface="Roboto"/>
              <a:sym typeface="Roboto"/>
            </a:endParaRPr>
          </a:p>
          <a:p>
            <a:pPr indent="-442564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Roboto"/>
              <a:buChar char="●"/>
            </a:pPr>
            <a:r>
              <a:rPr lang="en-US" sz="10367">
                <a:latin typeface="Roboto"/>
                <a:ea typeface="Roboto"/>
                <a:cs typeface="Roboto"/>
                <a:sym typeface="Roboto"/>
              </a:rPr>
              <a:t>Ayuda a distribuir el trabajo entre miembros de un equipo.</a:t>
            </a:r>
            <a:endParaRPr sz="10367">
              <a:latin typeface="Roboto"/>
              <a:ea typeface="Roboto"/>
              <a:cs typeface="Roboto"/>
              <a:sym typeface="Roboto"/>
            </a:endParaRPr>
          </a:p>
          <a:p>
            <a:pPr indent="-442564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Roboto"/>
              <a:buChar char="●"/>
            </a:pPr>
            <a:r>
              <a:rPr lang="en-US" sz="10367">
                <a:latin typeface="Roboto"/>
                <a:ea typeface="Roboto"/>
                <a:cs typeface="Roboto"/>
                <a:sym typeface="Roboto"/>
              </a:rPr>
              <a:t>Facilita la detección de dependencias lógicas y funcionales.</a:t>
            </a:r>
            <a:endParaRPr sz="10367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5cca7a0e8c_0_141"/>
          <p:cNvSpPr txBox="1"/>
          <p:nvPr>
            <p:ph type="ctrTitle"/>
          </p:nvPr>
        </p:nvSpPr>
        <p:spPr>
          <a:xfrm>
            <a:off x="2908499" y="532800"/>
            <a:ext cx="12471000" cy="2896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Método que se sugiere para identificar subproblemas</a:t>
            </a:r>
            <a:endParaRPr/>
          </a:p>
        </p:txBody>
      </p:sp>
      <p:sp>
        <p:nvSpPr>
          <p:cNvPr id="201" name="Google Shape;201;g35cca7a0e8c_0_141"/>
          <p:cNvSpPr txBox="1"/>
          <p:nvPr/>
        </p:nvSpPr>
        <p:spPr>
          <a:xfrm>
            <a:off x="981600" y="3429000"/>
            <a:ext cx="16324800" cy="31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 fontScale="40000" lnSpcReduction="20000"/>
          </a:bodyPr>
          <a:lstStyle/>
          <a:p>
            <a:pPr indent="-491941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Roboto"/>
              <a:buAutoNum type="arabicPeriod"/>
            </a:pPr>
            <a:r>
              <a:rPr lang="en-US" sz="10367">
                <a:latin typeface="Roboto"/>
                <a:ea typeface="Roboto"/>
                <a:cs typeface="Roboto"/>
                <a:sym typeface="Roboto"/>
              </a:rPr>
              <a:t>Redactar el problema de forma narrativa.</a:t>
            </a:r>
            <a:endParaRPr sz="10367">
              <a:latin typeface="Roboto"/>
              <a:ea typeface="Roboto"/>
              <a:cs typeface="Roboto"/>
              <a:sym typeface="Roboto"/>
            </a:endParaRPr>
          </a:p>
          <a:p>
            <a:pPr indent="-491941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Roboto"/>
              <a:buAutoNum type="arabicPeriod"/>
            </a:pPr>
            <a:r>
              <a:rPr lang="en-US" sz="10367">
                <a:latin typeface="Roboto"/>
                <a:ea typeface="Roboto"/>
                <a:cs typeface="Roboto"/>
                <a:sym typeface="Roboto"/>
              </a:rPr>
              <a:t>Extraer verbos clave que representen acciones.</a:t>
            </a:r>
            <a:endParaRPr sz="10367">
              <a:latin typeface="Roboto"/>
              <a:ea typeface="Roboto"/>
              <a:cs typeface="Roboto"/>
              <a:sym typeface="Roboto"/>
            </a:endParaRPr>
          </a:p>
          <a:p>
            <a:pPr indent="-491941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Roboto"/>
              <a:buAutoNum type="arabicPeriod"/>
            </a:pPr>
            <a:r>
              <a:rPr lang="en-US" sz="10367">
                <a:latin typeface="Roboto"/>
                <a:ea typeface="Roboto"/>
                <a:cs typeface="Roboto"/>
                <a:sym typeface="Roboto"/>
              </a:rPr>
              <a:t>Transformar cada verbo en un subproblema.</a:t>
            </a:r>
            <a:endParaRPr sz="10367">
              <a:latin typeface="Roboto"/>
              <a:ea typeface="Roboto"/>
              <a:cs typeface="Roboto"/>
              <a:sym typeface="Roboto"/>
            </a:endParaRPr>
          </a:p>
          <a:p>
            <a:pPr indent="-491941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Roboto"/>
              <a:buAutoNum type="arabicPeriod"/>
            </a:pPr>
            <a:r>
              <a:rPr lang="en-US" sz="10367">
                <a:latin typeface="Roboto"/>
                <a:ea typeface="Roboto"/>
                <a:cs typeface="Roboto"/>
                <a:sym typeface="Roboto"/>
              </a:rPr>
              <a:t>Evaluar qué subproblemas se pueden resolver antes que otros (dependencias).</a:t>
            </a:r>
            <a:endParaRPr sz="10367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5cca7a0e8c_0_146"/>
          <p:cNvSpPr txBox="1"/>
          <p:nvPr>
            <p:ph type="ctrTitle"/>
          </p:nvPr>
        </p:nvSpPr>
        <p:spPr>
          <a:xfrm>
            <a:off x="2908499" y="532800"/>
            <a:ext cx="12471000" cy="2896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Representación Estructurada del Problema</a:t>
            </a:r>
            <a:endParaRPr/>
          </a:p>
        </p:txBody>
      </p:sp>
      <p:sp>
        <p:nvSpPr>
          <p:cNvPr id="207" name="Google Shape;207;g35cca7a0e8c_0_146"/>
          <p:cNvSpPr txBox="1"/>
          <p:nvPr/>
        </p:nvSpPr>
        <p:spPr>
          <a:xfrm>
            <a:off x="981600" y="3429000"/>
            <a:ext cx="15454200" cy="1637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 fontScale="32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367">
                <a:latin typeface="Roboto"/>
                <a:ea typeface="Roboto"/>
                <a:cs typeface="Roboto"/>
                <a:sym typeface="Roboto"/>
              </a:rPr>
              <a:t>Consiste en representar un problema de manera visual o simbólica para facilitar su comprensión, análisis y posterior codificación.</a:t>
            </a:r>
            <a:endParaRPr sz="10367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08" name="Google Shape;208;g35cca7a0e8c_0_1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24600" y="5129525"/>
            <a:ext cx="5528400" cy="414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5cca7a0e8c_0_151"/>
          <p:cNvSpPr txBox="1"/>
          <p:nvPr>
            <p:ph type="ctrTitle"/>
          </p:nvPr>
        </p:nvSpPr>
        <p:spPr>
          <a:xfrm>
            <a:off x="1487250" y="1037900"/>
            <a:ext cx="15313500" cy="2896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Herramientas comunes para representar problemas de forma estructurada</a:t>
            </a:r>
            <a:endParaRPr/>
          </a:p>
        </p:txBody>
      </p:sp>
      <p:sp>
        <p:nvSpPr>
          <p:cNvPr id="214" name="Google Shape;214;g35cca7a0e8c_0_151"/>
          <p:cNvSpPr txBox="1"/>
          <p:nvPr/>
        </p:nvSpPr>
        <p:spPr>
          <a:xfrm>
            <a:off x="1215700" y="4205150"/>
            <a:ext cx="13470900" cy="33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 fontScale="25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367">
                <a:latin typeface="Roboto"/>
                <a:ea typeface="Roboto"/>
                <a:cs typeface="Roboto"/>
                <a:sym typeface="Roboto"/>
              </a:rPr>
              <a:t>Diagrama de flujo:</a:t>
            </a:r>
            <a:endParaRPr b="1" sz="10367">
              <a:latin typeface="Roboto"/>
              <a:ea typeface="Roboto"/>
              <a:cs typeface="Roboto"/>
              <a:sym typeface="Roboto"/>
            </a:endParaRPr>
          </a:p>
          <a:p>
            <a:pPr indent="-393188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Roboto"/>
              <a:buChar char="●"/>
            </a:pPr>
            <a:r>
              <a:rPr lang="en-US" sz="10367">
                <a:latin typeface="Roboto"/>
                <a:ea typeface="Roboto"/>
                <a:cs typeface="Roboto"/>
                <a:sym typeface="Roboto"/>
              </a:rPr>
              <a:t>Muestra secuencia de acciones y decisiones.</a:t>
            </a:r>
            <a:endParaRPr sz="10367">
              <a:latin typeface="Roboto"/>
              <a:ea typeface="Roboto"/>
              <a:cs typeface="Roboto"/>
              <a:sym typeface="Roboto"/>
            </a:endParaRPr>
          </a:p>
          <a:p>
            <a:pPr indent="-393188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Roboto"/>
              <a:buChar char="●"/>
            </a:pPr>
            <a:r>
              <a:rPr lang="en-US" sz="10367">
                <a:latin typeface="Roboto"/>
                <a:ea typeface="Roboto"/>
                <a:cs typeface="Roboto"/>
                <a:sym typeface="Roboto"/>
              </a:rPr>
              <a:t>Ideal para procesos secuenciales y condicionales.</a:t>
            </a:r>
            <a:endParaRPr sz="10367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367">
                <a:latin typeface="Roboto"/>
                <a:ea typeface="Roboto"/>
                <a:cs typeface="Roboto"/>
                <a:sym typeface="Roboto"/>
              </a:rPr>
              <a:t>Pseudocódigo</a:t>
            </a:r>
            <a:endParaRPr b="1" sz="10367">
              <a:latin typeface="Roboto"/>
              <a:ea typeface="Roboto"/>
              <a:cs typeface="Roboto"/>
              <a:sym typeface="Roboto"/>
            </a:endParaRPr>
          </a:p>
          <a:p>
            <a:pPr indent="-393188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Roboto"/>
              <a:buChar char="●"/>
            </a:pPr>
            <a:r>
              <a:rPr lang="en-US" sz="10367">
                <a:latin typeface="Roboto"/>
                <a:ea typeface="Roboto"/>
                <a:cs typeface="Roboto"/>
                <a:sym typeface="Roboto"/>
              </a:rPr>
              <a:t>Permite escribir la lógica de forma cercana al lenguaje humano.</a:t>
            </a:r>
            <a:endParaRPr sz="10367">
              <a:latin typeface="Roboto"/>
              <a:ea typeface="Roboto"/>
              <a:cs typeface="Roboto"/>
              <a:sym typeface="Roboto"/>
            </a:endParaRPr>
          </a:p>
          <a:p>
            <a:pPr indent="-393188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Roboto"/>
              <a:buChar char="●"/>
            </a:pPr>
            <a:r>
              <a:rPr lang="en-US" sz="10367">
                <a:latin typeface="Roboto"/>
                <a:ea typeface="Roboto"/>
                <a:cs typeface="Roboto"/>
                <a:sym typeface="Roboto"/>
              </a:rPr>
              <a:t>En PSeInt se puede usar para prototipar soluciones.</a:t>
            </a:r>
            <a:endParaRPr sz="10367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367">
                <a:latin typeface="Roboto"/>
                <a:ea typeface="Roboto"/>
                <a:cs typeface="Roboto"/>
                <a:sym typeface="Roboto"/>
              </a:rPr>
              <a:t>Tablas de verdad o tablas de decisión</a:t>
            </a:r>
            <a:endParaRPr b="1" sz="10367">
              <a:latin typeface="Roboto"/>
              <a:ea typeface="Roboto"/>
              <a:cs typeface="Roboto"/>
              <a:sym typeface="Roboto"/>
            </a:endParaRPr>
          </a:p>
          <a:p>
            <a:pPr indent="-393188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Roboto"/>
              <a:buChar char="●"/>
            </a:pPr>
            <a:r>
              <a:rPr lang="en-US" sz="10367">
                <a:latin typeface="Roboto"/>
                <a:ea typeface="Roboto"/>
                <a:cs typeface="Roboto"/>
                <a:sym typeface="Roboto"/>
              </a:rPr>
              <a:t>Útiles para representar reglas lógicas complejas</a:t>
            </a:r>
            <a:endParaRPr sz="10367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5cca7a0e8c_0_158"/>
          <p:cNvSpPr txBox="1"/>
          <p:nvPr/>
        </p:nvSpPr>
        <p:spPr>
          <a:xfrm>
            <a:off x="2507390" y="1000125"/>
            <a:ext cx="135033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rPr b="0" i="0" lang="en-US" sz="6900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CONCEPTOS CLAVE APRENDIDOS 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20" name="Google Shape;220;g35cca7a0e8c_0_158"/>
          <p:cNvSpPr/>
          <p:nvPr/>
        </p:nvSpPr>
        <p:spPr>
          <a:xfrm>
            <a:off x="710300" y="2365750"/>
            <a:ext cx="5035200" cy="2675100"/>
          </a:xfrm>
          <a:prstGeom prst="wedgeRectCallout">
            <a:avLst>
              <a:gd fmla="val -20833" name="adj1"/>
              <a:gd fmla="val 625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>
                <a:latin typeface="Roboto"/>
                <a:ea typeface="Roboto"/>
                <a:cs typeface="Roboto"/>
                <a:sym typeface="Roboto"/>
              </a:rPr>
              <a:t>La descomposición permite dividir problemas complejos en partes manejables. Cada subproblema puede analizarse y resolverse por separado, lo cual mejora la organización y claridad de las soluciones.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g35cca7a0e8c_0_158"/>
          <p:cNvSpPr/>
          <p:nvPr/>
        </p:nvSpPr>
        <p:spPr>
          <a:xfrm>
            <a:off x="12352350" y="2208400"/>
            <a:ext cx="5035200" cy="2675100"/>
          </a:xfrm>
          <a:prstGeom prst="wedgeRectCallout">
            <a:avLst>
              <a:gd fmla="val -20833" name="adj1"/>
              <a:gd fmla="val 625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>
                <a:latin typeface="Roboto"/>
                <a:ea typeface="Roboto"/>
                <a:cs typeface="Roboto"/>
                <a:sym typeface="Roboto"/>
              </a:rPr>
              <a:t>El reconocimiento de patrones permite identificar estructuras repetitivas o similares en datos o procesos, lo que facilita la aplicación de soluciones conocidas y mejora la eficiencia de los algoritmos.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g35cca7a0e8c_0_158"/>
          <p:cNvSpPr/>
          <p:nvPr/>
        </p:nvSpPr>
        <p:spPr>
          <a:xfrm>
            <a:off x="972625" y="6765600"/>
            <a:ext cx="5035200" cy="2675100"/>
          </a:xfrm>
          <a:prstGeom prst="wedgeRectCallout">
            <a:avLst>
              <a:gd fmla="val -20833" name="adj1"/>
              <a:gd fmla="val 625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>
                <a:latin typeface="Roboto"/>
                <a:ea typeface="Roboto"/>
                <a:cs typeface="Roboto"/>
                <a:sym typeface="Roboto"/>
              </a:rPr>
              <a:t>La abstracción ayuda a centrarse en lo esencial del problema, ignorando detalles irrelevantes. Esto permite simplificar la lógica y construir modelos generales y reutilizables.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3" name="Google Shape;223;g35cca7a0e8c_0_158"/>
          <p:cNvSpPr/>
          <p:nvPr/>
        </p:nvSpPr>
        <p:spPr>
          <a:xfrm>
            <a:off x="12225450" y="6716400"/>
            <a:ext cx="5289000" cy="2773500"/>
          </a:xfrm>
          <a:prstGeom prst="wedgeRectCallout">
            <a:avLst>
              <a:gd fmla="val -20833" name="adj1"/>
              <a:gd fmla="val 625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>
                <a:latin typeface="Roboto"/>
                <a:ea typeface="Roboto"/>
                <a:cs typeface="Roboto"/>
                <a:sym typeface="Roboto"/>
              </a:rPr>
              <a:t>La representación estructurada del problema, ya sea mediante diagramas de flujo, pseudocódigo o diagramas Nassi-Shneiderman, permite visualizar la solución antes de codificarla, facilitando su validación y comunicación.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4" name="Google Shape;224;g35cca7a0e8c_0_158"/>
          <p:cNvSpPr/>
          <p:nvPr/>
        </p:nvSpPr>
        <p:spPr>
          <a:xfrm>
            <a:off x="6007825" y="3346850"/>
            <a:ext cx="6082200" cy="3320400"/>
          </a:xfrm>
          <a:prstGeom prst="wedgeRectCallout">
            <a:avLst>
              <a:gd fmla="val -20833" name="adj1"/>
              <a:gd fmla="val 625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>
                <a:latin typeface="Roboto"/>
                <a:ea typeface="Roboto"/>
                <a:cs typeface="Roboto"/>
                <a:sym typeface="Roboto"/>
              </a:rPr>
              <a:t>Los tipos de problemas computacionales pueden ser determinísticos, probabilísticos, secuenciales, condicionales o cíclicos. Esta clasificación ayuda a seleccionar las estructuras y estrategias de resolución más adecuadas en cada caso.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7"/>
          <p:cNvSpPr txBox="1"/>
          <p:nvPr/>
        </p:nvSpPr>
        <p:spPr>
          <a:xfrm>
            <a:off x="2507390" y="1000125"/>
            <a:ext cx="135033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rPr lang="en-US" sz="6900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Valores y actitudes</a:t>
            </a:r>
            <a:endParaRPr sz="6900">
              <a:solidFill>
                <a:srgbClr val="131416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30" name="Google Shape;230;p7"/>
          <p:cNvSpPr/>
          <p:nvPr/>
        </p:nvSpPr>
        <p:spPr>
          <a:xfrm>
            <a:off x="8695975" y="5316150"/>
            <a:ext cx="7867800" cy="3165600"/>
          </a:xfrm>
          <a:prstGeom prst="wedgeRectCallout">
            <a:avLst>
              <a:gd fmla="val -20833" name="adj1"/>
              <a:gd fmla="val 625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US" sz="2300">
                <a:latin typeface="Calibri"/>
                <a:ea typeface="Calibri"/>
                <a:cs typeface="Calibri"/>
                <a:sym typeface="Calibri"/>
              </a:rPr>
              <a:t>Responsabilidad en la resolución de problemas: </a:t>
            </a:r>
            <a:r>
              <a:rPr lang="en-US" sz="2300">
                <a:latin typeface="Calibri"/>
                <a:ea typeface="Calibri"/>
                <a:cs typeface="Calibri"/>
                <a:sym typeface="Calibri"/>
              </a:rPr>
              <a:t>Asumir un compromiso ético y técnico con el diseño de soluciones correctas, claras y funcionales, validando cada etapa del proceso algorítmico y considerando sus consecuencias.</a:t>
            </a:r>
            <a:endParaRPr i="0" sz="2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7"/>
          <p:cNvSpPr/>
          <p:nvPr/>
        </p:nvSpPr>
        <p:spPr>
          <a:xfrm>
            <a:off x="1472450" y="2419800"/>
            <a:ext cx="6908700" cy="2675100"/>
          </a:xfrm>
          <a:prstGeom prst="wedgeRectCallout">
            <a:avLst>
              <a:gd fmla="val -20833" name="adj1"/>
              <a:gd fmla="val 625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US" sz="2300">
                <a:latin typeface="Calibri"/>
                <a:ea typeface="Calibri"/>
                <a:cs typeface="Calibri"/>
                <a:sym typeface="Calibri"/>
              </a:rPr>
              <a:t>Análisis crítico: </a:t>
            </a:r>
            <a:r>
              <a:rPr lang="en-US" sz="2300">
                <a:latin typeface="Calibri"/>
                <a:ea typeface="Calibri"/>
                <a:cs typeface="Calibri"/>
                <a:sym typeface="Calibri"/>
              </a:rPr>
              <a:t>La capacidad de analizar un problema desde diferentes perspectivas, evaluando su estructura, lógica y posibles soluciones antes de escribir una línea de código.</a:t>
            </a:r>
            <a:endParaRPr i="0" sz="2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8"/>
          <p:cNvSpPr txBox="1"/>
          <p:nvPr/>
        </p:nvSpPr>
        <p:spPr>
          <a:xfrm>
            <a:off x="2507390" y="1000125"/>
            <a:ext cx="135033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rPr b="0" i="0" lang="en-US" sz="6900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REFERENCIAS 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37" name="Google Shape;237;p8"/>
          <p:cNvSpPr txBox="1"/>
          <p:nvPr/>
        </p:nvSpPr>
        <p:spPr>
          <a:xfrm>
            <a:off x="1025000" y="2718725"/>
            <a:ext cx="15951600" cy="52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28687" lvl="0" marL="45720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Char char="-"/>
            </a:pPr>
            <a:r>
              <a:rPr lang="en-US" sz="3151" u="sng">
                <a:solidFill>
                  <a:schemeClr val="hlink"/>
                </a:solidFill>
                <a:hlinkClick r:id="rId3"/>
              </a:rPr>
              <a:t>https://www.ferrovial.com/es/stem/algoritmos/</a:t>
            </a:r>
            <a:r>
              <a:rPr lang="en-US" sz="3151">
                <a:solidFill>
                  <a:srgbClr val="131416"/>
                </a:solidFill>
              </a:rPr>
              <a:t> </a:t>
            </a:r>
            <a:br>
              <a:rPr b="0" i="0" lang="en-US" sz="3151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3151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lang="en-US" sz="3151" u="sng">
                <a:solidFill>
                  <a:schemeClr val="hlink"/>
                </a:solidFill>
                <a:hlinkClick r:id="rId4"/>
              </a:rPr>
              <a:t>https://profile.es/blog/que-es-un-algoritmo-informatico/</a:t>
            </a:r>
            <a:r>
              <a:rPr lang="en-US" sz="3151" u="none">
                <a:solidFill>
                  <a:srgbClr val="131416"/>
                </a:solidFill>
              </a:rPr>
              <a:t> </a:t>
            </a:r>
            <a:endParaRPr b="0" i="0" sz="3151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28687" lvl="0" marL="45720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Char char="-"/>
            </a:pPr>
            <a:r>
              <a:rPr lang="en-US" sz="3151" u="sng">
                <a:solidFill>
                  <a:schemeClr val="hlink"/>
                </a:solidFill>
                <a:hlinkClick r:id="rId5"/>
              </a:rPr>
              <a:t>https://www.freecodecamp.org/espanol/news/significado-del-algoritmo-divide-y-venceras/</a:t>
            </a:r>
            <a:r>
              <a:rPr lang="en-US" sz="3151">
                <a:solidFill>
                  <a:srgbClr val="131416"/>
                </a:solidFill>
              </a:rPr>
              <a:t> </a:t>
            </a:r>
            <a:endParaRPr b="0" i="0" sz="3151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28687" lvl="0" marL="45720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151"/>
              <a:buFont typeface="Arial"/>
              <a:buChar char="-"/>
            </a:pPr>
            <a:r>
              <a:rPr lang="en-US" sz="3151" u="sng">
                <a:solidFill>
                  <a:schemeClr val="hlink"/>
                </a:solidFill>
                <a:hlinkClick r:id="rId6"/>
              </a:rPr>
              <a:t>https://es.khanacademy.org/computing/computer-science/algorithms/merge-sort/a/divide-and-conquer-algorithms</a:t>
            </a:r>
            <a:r>
              <a:rPr lang="en-US" sz="3151">
                <a:solidFill>
                  <a:srgbClr val="131416"/>
                </a:solidFill>
              </a:rPr>
              <a:t> </a:t>
            </a:r>
            <a:endParaRPr b="0" i="0" sz="3151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None/>
            </a:pPr>
            <a:r>
              <a:t/>
            </a:r>
            <a:endParaRPr b="0" i="0" sz="3151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None/>
            </a:pPr>
            <a:r>
              <a:t/>
            </a:r>
            <a:endParaRPr b="0" i="0" sz="3151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9"/>
          <p:cNvSpPr txBox="1"/>
          <p:nvPr/>
        </p:nvSpPr>
        <p:spPr>
          <a:xfrm>
            <a:off x="4437795" y="3389104"/>
            <a:ext cx="8658900" cy="19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9"/>
              <a:buFont typeface="Arial"/>
              <a:buNone/>
            </a:pPr>
            <a:r>
              <a:rPr b="0" i="0" lang="en-US" sz="6099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¡GRACIAS POR SU  ATENCIÓN!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9"/>
              <a:buFont typeface="Arial"/>
              <a:buNone/>
            </a:pPr>
            <a:r>
              <a:t/>
            </a:r>
            <a:endParaRPr b="0" i="0" sz="6099" u="none" cap="none" strike="noStrike">
              <a:solidFill>
                <a:srgbClr val="131416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43" name="Google Shape;243;p9"/>
          <p:cNvSpPr txBox="1"/>
          <p:nvPr/>
        </p:nvSpPr>
        <p:spPr>
          <a:xfrm>
            <a:off x="5414714" y="5958103"/>
            <a:ext cx="6704991" cy="898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0" i="0" lang="en-US" sz="5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DUDAS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9"/>
          <p:cNvSpPr/>
          <p:nvPr/>
        </p:nvSpPr>
        <p:spPr>
          <a:xfrm>
            <a:off x="13963751" y="1028700"/>
            <a:ext cx="2757268" cy="3770970"/>
          </a:xfrm>
          <a:custGeom>
            <a:rect b="b" l="l" r="r" t="t"/>
            <a:pathLst>
              <a:path extrusionOk="0" h="3770970" w="2757268">
                <a:moveTo>
                  <a:pt x="0" y="0"/>
                </a:moveTo>
                <a:lnTo>
                  <a:pt x="2757268" y="0"/>
                </a:lnTo>
                <a:lnTo>
                  <a:pt x="2757268" y="3770970"/>
                </a:lnTo>
                <a:lnTo>
                  <a:pt x="0" y="3770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5" name="Google Shape;245;p9"/>
          <p:cNvSpPr txBox="1"/>
          <p:nvPr/>
        </p:nvSpPr>
        <p:spPr>
          <a:xfrm>
            <a:off x="2411098" y="7899735"/>
            <a:ext cx="13465804" cy="7194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RECUERDA QUE TENEMOS NUESTRO FORO SEMANAL DONDE PUEDES CONSULTAR CUALQUIER DUDA QUE TE SURJA EN LA SEMANA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