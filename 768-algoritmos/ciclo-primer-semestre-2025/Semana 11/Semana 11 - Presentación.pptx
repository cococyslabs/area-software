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Lobster"/>
      <p:regular r:id="rId28"/>
    </p:embeddedFont>
    <p:embeddedFont>
      <p:font typeface="Pacifico"/>
      <p:regular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vB91cihYobZF1RnZv3YIQyMfF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Nunit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Lobster-regular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acific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59309f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5c59309f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c59309f30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5c59309f3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c59309f30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5c59309f3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c59309f30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5c59309f3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c59309f30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5c59309f3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c59309f30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5c59309f3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c59309f30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5c59309f3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c59309f3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5c59309f3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c4bec6024_0_698"/>
          <p:cNvSpPr/>
          <p:nvPr/>
        </p:nvSpPr>
        <p:spPr>
          <a:xfrm flipH="1">
            <a:off x="9514200" y="4618800"/>
            <a:ext cx="8773800" cy="5668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35c4bec6024_0_698"/>
          <p:cNvGrpSpPr/>
          <p:nvPr/>
        </p:nvGrpSpPr>
        <p:grpSpPr>
          <a:xfrm>
            <a:off x="11188382" y="7922230"/>
            <a:ext cx="5820286" cy="2364680"/>
            <a:chOff x="6917201" y="0"/>
            <a:chExt cx="2227776" cy="863400"/>
          </a:xfrm>
        </p:grpSpPr>
        <p:sp>
          <p:nvSpPr>
            <p:cNvPr id="12" name="Google Shape;12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5;g35c4bec6024_0_698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16" name="Google Shape;16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g35c4bec6024_0_698"/>
          <p:cNvSpPr txBox="1"/>
          <p:nvPr>
            <p:ph type="title"/>
          </p:nvPr>
        </p:nvSpPr>
        <p:spPr>
          <a:xfrm>
            <a:off x="3777368" y="3492200"/>
            <a:ext cx="107550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g35c4bec6024_0_69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c4bec6024_0_738"/>
          <p:cNvSpPr/>
          <p:nvPr/>
        </p:nvSpPr>
        <p:spPr>
          <a:xfrm>
            <a:off x="0" y="5646288"/>
            <a:ext cx="14738400" cy="46338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5c4bec6024_0_738"/>
          <p:cNvSpPr/>
          <p:nvPr/>
        </p:nvSpPr>
        <p:spPr>
          <a:xfrm flipH="1">
            <a:off x="7166420" y="3108226"/>
            <a:ext cx="11121000" cy="717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g35c4bec6024_0_738"/>
          <p:cNvGrpSpPr/>
          <p:nvPr/>
        </p:nvGrpSpPr>
        <p:grpSpPr>
          <a:xfrm>
            <a:off x="511982" y="-236"/>
            <a:ext cx="4502694" cy="2086816"/>
            <a:chOff x="3961956" y="4383950"/>
            <a:chExt cx="1160548" cy="548700"/>
          </a:xfrm>
        </p:grpSpPr>
        <p:sp>
          <p:nvSpPr>
            <p:cNvPr id="25" name="Google Shape;25;g35c4bec6024_0_73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5c4bec6024_0_73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5c4bec6024_0_73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g35c4bec6024_0_738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g35c4bec6024_0_738"/>
          <p:cNvGrpSpPr/>
          <p:nvPr/>
        </p:nvGrpSpPr>
        <p:grpSpPr>
          <a:xfrm>
            <a:off x="69869" y="9044251"/>
            <a:ext cx="3186611" cy="1234144"/>
            <a:chOff x="6917201" y="0"/>
            <a:chExt cx="2227776" cy="863400"/>
          </a:xfrm>
        </p:grpSpPr>
        <p:sp>
          <p:nvSpPr>
            <p:cNvPr id="30" name="Google Shape;30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g35c4bec6024_0_738"/>
          <p:cNvGrpSpPr/>
          <p:nvPr/>
        </p:nvGrpSpPr>
        <p:grpSpPr>
          <a:xfrm>
            <a:off x="11772706" y="2486"/>
            <a:ext cx="6514907" cy="2523027"/>
            <a:chOff x="6917201" y="0"/>
            <a:chExt cx="2227776" cy="863400"/>
          </a:xfrm>
        </p:grpSpPr>
        <p:sp>
          <p:nvSpPr>
            <p:cNvPr id="34" name="Google Shape;34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g35c4bec6024_0_738"/>
          <p:cNvSpPr txBox="1"/>
          <p:nvPr>
            <p:ph type="title"/>
          </p:nvPr>
        </p:nvSpPr>
        <p:spPr>
          <a:xfrm>
            <a:off x="2787858" y="2602292"/>
            <a:ext cx="127338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5c4bec6024_0_73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c4bec6024_0_67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5c4bec6024_0_67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5c4bec6024_0_670"/>
          <p:cNvSpPr/>
          <p:nvPr/>
        </p:nvSpPr>
        <p:spPr>
          <a:xfrm rot="10800000">
            <a:off x="10117809" y="0"/>
            <a:ext cx="8170200" cy="4105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5c4bec6024_0_670"/>
          <p:cNvSpPr/>
          <p:nvPr/>
        </p:nvSpPr>
        <p:spPr>
          <a:xfrm>
            <a:off x="4065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g35c4bec6024_0_670"/>
          <p:cNvGrpSpPr/>
          <p:nvPr/>
        </p:nvGrpSpPr>
        <p:grpSpPr>
          <a:xfrm>
            <a:off x="510401" y="1185"/>
            <a:ext cx="4500726" cy="2088600"/>
            <a:chOff x="255200" y="592"/>
            <a:chExt cx="2250363" cy="1044300"/>
          </a:xfrm>
        </p:grpSpPr>
        <p:sp>
          <p:nvSpPr>
            <p:cNvPr id="45" name="Google Shape;45;g35c4bec6024_0_670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5c4bec6024_0_670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5c4bec6024_0_670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g35c4bec6024_0_670"/>
          <p:cNvGrpSpPr/>
          <p:nvPr/>
        </p:nvGrpSpPr>
        <p:grpSpPr>
          <a:xfrm>
            <a:off x="1810790" y="1185"/>
            <a:ext cx="4500726" cy="2088600"/>
            <a:chOff x="905395" y="592"/>
            <a:chExt cx="2250363" cy="1044300"/>
          </a:xfrm>
        </p:grpSpPr>
        <p:sp>
          <p:nvSpPr>
            <p:cNvPr id="49" name="Google Shape;49;g35c4bec6024_0_670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5c4bec6024_0_670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5c4bec6024_0_670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g35c4bec6024_0_670"/>
          <p:cNvGrpSpPr/>
          <p:nvPr/>
        </p:nvGrpSpPr>
        <p:grpSpPr>
          <a:xfrm>
            <a:off x="14114936" y="10177"/>
            <a:ext cx="3702563" cy="1504215"/>
            <a:chOff x="6917201" y="0"/>
            <a:chExt cx="2227776" cy="863400"/>
          </a:xfrm>
        </p:grpSpPr>
        <p:sp>
          <p:nvSpPr>
            <p:cNvPr id="53" name="Google Shape;53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g35c4bec6024_0_670"/>
          <p:cNvGrpSpPr/>
          <p:nvPr/>
        </p:nvGrpSpPr>
        <p:grpSpPr>
          <a:xfrm>
            <a:off x="13106063" y="8435703"/>
            <a:ext cx="4778133" cy="1851475"/>
            <a:chOff x="6917201" y="0"/>
            <a:chExt cx="2227776" cy="863400"/>
          </a:xfrm>
        </p:grpSpPr>
        <p:sp>
          <p:nvSpPr>
            <p:cNvPr id="57" name="Google Shape;57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g35c4bec6024_0_670"/>
          <p:cNvGrpSpPr/>
          <p:nvPr/>
        </p:nvGrpSpPr>
        <p:grpSpPr>
          <a:xfrm>
            <a:off x="398298" y="8111304"/>
            <a:ext cx="5590825" cy="2166616"/>
            <a:chOff x="6917201" y="0"/>
            <a:chExt cx="2227776" cy="863400"/>
          </a:xfrm>
        </p:grpSpPr>
        <p:sp>
          <p:nvSpPr>
            <p:cNvPr id="61" name="Google Shape;61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35c4bec6024_0_670"/>
          <p:cNvSpPr txBox="1"/>
          <p:nvPr>
            <p:ph type="ctrTitle"/>
          </p:nvPr>
        </p:nvSpPr>
        <p:spPr>
          <a:xfrm>
            <a:off x="3717406" y="3645666"/>
            <a:ext cx="107226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65" name="Google Shape;65;g35c4bec6024_0_670"/>
          <p:cNvSpPr txBox="1"/>
          <p:nvPr>
            <p:ph idx="1" type="subTitle"/>
          </p:nvPr>
        </p:nvSpPr>
        <p:spPr>
          <a:xfrm>
            <a:off x="3717400" y="6826316"/>
            <a:ext cx="107226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g35c4bec6024_0_6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c4bec6024_0_764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5c4bec6024_0_764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5c4bec6024_0_764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5c4bec6024_0_764"/>
          <p:cNvSpPr txBox="1"/>
          <p:nvPr>
            <p:ph idx="1" type="body"/>
          </p:nvPr>
        </p:nvSpPr>
        <p:spPr>
          <a:xfrm>
            <a:off x="656050" y="8327000"/>
            <a:ext cx="148302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72" name="Google Shape;72;g35c4bec6024_0_764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c4bec6024_0_770"/>
          <p:cNvSpPr/>
          <p:nvPr/>
        </p:nvSpPr>
        <p:spPr>
          <a:xfrm flipH="1">
            <a:off x="11138400" y="5668150"/>
            <a:ext cx="7149600" cy="461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g35c4bec6024_0_770"/>
          <p:cNvGrpSpPr/>
          <p:nvPr/>
        </p:nvGrpSpPr>
        <p:grpSpPr>
          <a:xfrm>
            <a:off x="11918444" y="8239152"/>
            <a:ext cx="5041902" cy="2048330"/>
            <a:chOff x="6917201" y="0"/>
            <a:chExt cx="2227776" cy="863400"/>
          </a:xfrm>
        </p:grpSpPr>
        <p:sp>
          <p:nvSpPr>
            <p:cNvPr id="76" name="Google Shape;76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g35c4bec6024_0_770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80" name="Google Shape;80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g35c4bec6024_0_770"/>
          <p:cNvSpPr txBox="1"/>
          <p:nvPr>
            <p:ph hasCustomPrompt="1" type="title"/>
          </p:nvPr>
        </p:nvSpPr>
        <p:spPr>
          <a:xfrm>
            <a:off x="2771700" y="2767700"/>
            <a:ext cx="12744600" cy="27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g35c4bec6024_0_770"/>
          <p:cNvSpPr txBox="1"/>
          <p:nvPr>
            <p:ph idx="1" type="body"/>
          </p:nvPr>
        </p:nvSpPr>
        <p:spPr>
          <a:xfrm>
            <a:off x="2771700" y="5727700"/>
            <a:ext cx="127446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85" name="Google Shape;85;g35c4bec6024_0_7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c4bec6024_0_731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5c4bec6024_0_731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5c4bec6024_0_731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5c4bec6024_0_731"/>
          <p:cNvSpPr txBox="1"/>
          <p:nvPr>
            <p:ph type="title"/>
          </p:nvPr>
        </p:nvSpPr>
        <p:spPr>
          <a:xfrm>
            <a:off x="1638300" y="1691200"/>
            <a:ext cx="741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1" name="Google Shape;91;g35c4bec6024_0_731"/>
          <p:cNvSpPr txBox="1"/>
          <p:nvPr>
            <p:ph idx="1" type="body"/>
          </p:nvPr>
        </p:nvSpPr>
        <p:spPr>
          <a:xfrm>
            <a:off x="1661400" y="4638100"/>
            <a:ext cx="7418400" cy="4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2" name="Google Shape;92;g35c4bec6024_0_731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4bec6024_0_71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5c4bec6024_0_71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5c4bec6024_0_710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5c4bec6024_0_710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8" name="Google Shape;98;g35c4bec6024_0_710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9" name="Google Shape;99;g35c4bec6024_0_71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c4bec6024_0_717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5c4bec6024_0_717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5c4bec6024_0_717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c4bec6024_0_717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5" name="Google Shape;105;g35c4bec6024_0_717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6" name="Google Shape;106;g35c4bec6024_0_717"/>
          <p:cNvSpPr txBox="1"/>
          <p:nvPr>
            <p:ph idx="2" type="body"/>
          </p:nvPr>
        </p:nvSpPr>
        <p:spPr>
          <a:xfrm>
            <a:off x="927735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7" name="Google Shape;107;g35c4bec6024_0_71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c4bec6024_0_725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5c4bec6024_0_725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5c4bec6024_0_725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5c4bec6024_0_725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3" name="Google Shape;113;g35c4bec6024_0_72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c4bec6024_0_756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c4bec6024_0_756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5c4bec6024_0_756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c4bec6024_0_756"/>
          <p:cNvSpPr txBox="1"/>
          <p:nvPr>
            <p:ph type="title"/>
          </p:nvPr>
        </p:nvSpPr>
        <p:spPr>
          <a:xfrm>
            <a:off x="1638300" y="1691200"/>
            <a:ext cx="128484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9" name="Google Shape;119;g35c4bec6024_0_756"/>
          <p:cNvSpPr txBox="1"/>
          <p:nvPr>
            <p:ph idx="1" type="subTitle"/>
          </p:nvPr>
        </p:nvSpPr>
        <p:spPr>
          <a:xfrm>
            <a:off x="1638300" y="3101400"/>
            <a:ext cx="117198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g35c4bec6024_0_756"/>
          <p:cNvSpPr txBox="1"/>
          <p:nvPr>
            <p:ph idx="2" type="body"/>
          </p:nvPr>
        </p:nvSpPr>
        <p:spPr>
          <a:xfrm>
            <a:off x="1638300" y="4934100"/>
            <a:ext cx="11719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1" name="Google Shape;121;g35c4bec6024_0_75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c4bec6024_0_783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c4bec6024_0_66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5c4bec6024_0_666"/>
          <p:cNvSpPr txBox="1"/>
          <p:nvPr>
            <p:ph idx="1" type="body"/>
          </p:nvPr>
        </p:nvSpPr>
        <p:spPr>
          <a:xfrm>
            <a:off x="623400" y="2304950"/>
            <a:ext cx="17041200" cy="6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5c4bec6024_0_66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educo.org/blog/como-aplicar-el-pensamiento-computacional-aula" TargetMode="External"/><Relationship Id="rId4" Type="http://schemas.openxmlformats.org/officeDocument/2006/relationships/hyperlink" Target="https://descargas.intef.es/recursos_educativos/ODES_SGOA/Primaria/Descifrando_el_codigo_con_Ada/abstraccin.html" TargetMode="External"/><Relationship Id="rId5" Type="http://schemas.openxmlformats.org/officeDocument/2006/relationships/hyperlink" Target="https://es.wikipedia.org/wiki/Pensamiento_computacional" TargetMode="External"/><Relationship Id="rId6" Type="http://schemas.openxmlformats.org/officeDocument/2006/relationships/hyperlink" Target="https://www.gurisesunidos.org.uy/wp-content/uploads/2017/11/PensamientoComputacional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"/>
          <p:cNvSpPr txBox="1"/>
          <p:nvPr/>
        </p:nvSpPr>
        <p:spPr>
          <a:xfrm>
            <a:off x="1063303" y="6994239"/>
            <a:ext cx="571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ALGORITMOS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956505" y="3444149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Fundamentos de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063303" y="8745251"/>
            <a:ext cx="6981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028700" y="9210675"/>
            <a:ext cx="666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28600" y="9588254"/>
            <a:ext cx="8115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"/>
          <p:cNvGrpSpPr/>
          <p:nvPr/>
        </p:nvGrpSpPr>
        <p:grpSpPr>
          <a:xfrm>
            <a:off x="176625" y="4596678"/>
            <a:ext cx="7339115" cy="845568"/>
            <a:chOff x="0" y="-43758"/>
            <a:chExt cx="1964221" cy="3600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0" name="Google Shape;140;p2"/>
            <p:cNvSpPr txBox="1"/>
            <p:nvPr/>
          </p:nvSpPr>
          <p:spPr>
            <a:xfrm>
              <a:off x="0" y="-4375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Algoritmos: Descomposición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1866989" y="3303305"/>
            <a:ext cx="4115190" cy="1267162"/>
          </a:xfrm>
          <a:custGeom>
            <a:rect b="b" l="l" r="r" t="t"/>
            <a:pathLst>
              <a:path extrusionOk="0" h="333738" w="1083836">
                <a:moveTo>
                  <a:pt x="880636" y="0"/>
                </a:moveTo>
                <a:lnTo>
                  <a:pt x="0" y="0"/>
                </a:lnTo>
                <a:lnTo>
                  <a:pt x="0" y="333738"/>
                </a:lnTo>
                <a:lnTo>
                  <a:pt x="880636" y="333738"/>
                </a:lnTo>
                <a:lnTo>
                  <a:pt x="1083836" y="166869"/>
                </a:lnTo>
                <a:lnTo>
                  <a:pt x="8806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Google Shape;143;p2"/>
          <p:cNvSpPr txBox="1"/>
          <p:nvPr/>
        </p:nvSpPr>
        <p:spPr>
          <a:xfrm>
            <a:off x="592749" y="161205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10247578" y="26330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45" name="Google Shape;145;p2"/>
          <p:cNvGrpSpPr/>
          <p:nvPr/>
        </p:nvGrpSpPr>
        <p:grpSpPr>
          <a:xfrm>
            <a:off x="11779155" y="5047755"/>
            <a:ext cx="5353682" cy="1701155"/>
            <a:chOff x="0" y="-114300"/>
            <a:chExt cx="1410014" cy="448038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76625" y="5549376"/>
            <a:ext cx="7339115" cy="845568"/>
            <a:chOff x="0" y="-31464"/>
            <a:chExt cx="1964221" cy="360000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73241" y="-3146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Algoritmos: Reconocimiento de patrones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-128175" y="6502072"/>
            <a:ext cx="7643915" cy="845568"/>
            <a:chOff x="-81576" y="-43758"/>
            <a:chExt cx="2045797" cy="360000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3" name="Google Shape;153;p2"/>
            <p:cNvSpPr txBox="1"/>
            <p:nvPr/>
          </p:nvSpPr>
          <p:spPr>
            <a:xfrm>
              <a:off x="-81576" y="-4375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Algoritmos: Abstracción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176625" y="7381303"/>
            <a:ext cx="7356155" cy="845568"/>
            <a:chOff x="0" y="-62640"/>
            <a:chExt cx="1968782" cy="36000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6" name="Google Shape;156;p2"/>
            <p:cNvSpPr txBox="1"/>
            <p:nvPr/>
          </p:nvSpPr>
          <p:spPr>
            <a:xfrm>
              <a:off x="118982" y="-6264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Algoritmos: Definición de un problema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176625" y="8483000"/>
            <a:ext cx="7722088" cy="845568"/>
            <a:chOff x="0" y="-46365"/>
            <a:chExt cx="2066719" cy="360000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9" name="Google Shape;159;p2"/>
            <p:cNvSpPr txBox="1"/>
            <p:nvPr/>
          </p:nvSpPr>
          <p:spPr>
            <a:xfrm>
              <a:off x="102619" y="-46365"/>
              <a:ext cx="1964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Algoritmos: Características de un problema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1492889" y="20115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2054850" y="3157975"/>
            <a:ext cx="14178300" cy="6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4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evalúa  la formulación y estructuración de problemas computacionales mediante técnicas de descomposición, abstracción y reconocimiento de patrones, considerando sus características, contexto y tipo, con el propósito de optimizar su representación y resolución en entornos algorítmicos.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59309f30_0_0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Descomposición</a:t>
            </a:r>
            <a:endParaRPr/>
          </a:p>
        </p:txBody>
      </p:sp>
      <p:sp>
        <p:nvSpPr>
          <p:cNvPr id="175" name="Google Shape;175;g35c59309f30_0_0"/>
          <p:cNvSpPr txBox="1"/>
          <p:nvPr/>
        </p:nvSpPr>
        <p:spPr>
          <a:xfrm>
            <a:off x="1454000" y="2706750"/>
            <a:ext cx="13536900" cy="1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es la descomposición?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el proceso de dividir un problema complejo en partes más pequeñas y manejables llamadas subproblemas. Cada subproblema puede ser resuelto de forma independiente o reutilizado en otros contextos.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5c59309f30_0_0"/>
          <p:cNvSpPr txBox="1"/>
          <p:nvPr/>
        </p:nvSpPr>
        <p:spPr>
          <a:xfrm>
            <a:off x="1454000" y="4917350"/>
            <a:ext cx="96597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Importancia en el desarrollo de algoritmos: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Permite abordar gradualmente problemas complejos.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Facilita la detección de errores, al poder aislar partes del código.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Mejora la reutilización de código al identificar tareas comunes.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la base para la modularidad y el diseño estructurado en la programación.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5c59309f3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3725" y="5318500"/>
            <a:ext cx="3773325" cy="26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c59309f30_0_157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Descomposición</a:t>
            </a:r>
            <a:endParaRPr/>
          </a:p>
        </p:txBody>
      </p:sp>
      <p:sp>
        <p:nvSpPr>
          <p:cNvPr id="183" name="Google Shape;183;g35c59309f30_0_157"/>
          <p:cNvSpPr txBox="1"/>
          <p:nvPr/>
        </p:nvSpPr>
        <p:spPr>
          <a:xfrm>
            <a:off x="1719750" y="3486600"/>
            <a:ext cx="148485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Etapas de una buena descomposición: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Identificar la tarea principal.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Analizar las entradas, procesos y salidas necesarias.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Separar cada subproceso en una función o procedimiento.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Establecer relaciones o secuencias entre subprocesos.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23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Verificar que los subprocesos cubren todo el problema original.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c59309f30_0_151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Descomposición - Ejemplo</a:t>
            </a:r>
            <a:endParaRPr/>
          </a:p>
        </p:txBody>
      </p:sp>
      <p:sp>
        <p:nvSpPr>
          <p:cNvPr id="189" name="Google Shape;189;g35c59309f30_0_151"/>
          <p:cNvSpPr txBox="1"/>
          <p:nvPr/>
        </p:nvSpPr>
        <p:spPr>
          <a:xfrm>
            <a:off x="1454000" y="2706750"/>
            <a:ext cx="13536900" cy="1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47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Ejemplo: Procesar la nómina de una empresa.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5c59309f30_0_151"/>
          <p:cNvSpPr txBox="1"/>
          <p:nvPr/>
        </p:nvSpPr>
        <p:spPr>
          <a:xfrm>
            <a:off x="1454000" y="3918125"/>
            <a:ext cx="148485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 lnSpcReduction="10000"/>
          </a:bodyPr>
          <a:lstStyle/>
          <a:p>
            <a:pPr indent="-442581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Leer los datos de empleados.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4258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Calcular salario base.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4258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Calcular deducciones e impuestos.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4258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Generar resumen de pago.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4258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Guardar los resultados.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c59309f30_0_133"/>
          <p:cNvSpPr txBox="1"/>
          <p:nvPr>
            <p:ph type="ctrTitle"/>
          </p:nvPr>
        </p:nvSpPr>
        <p:spPr>
          <a:xfrm>
            <a:off x="1113150" y="933750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Reconocimiento de patrones</a:t>
            </a:r>
            <a:endParaRPr/>
          </a:p>
        </p:txBody>
      </p:sp>
      <p:sp>
        <p:nvSpPr>
          <p:cNvPr id="196" name="Google Shape;196;g35c59309f30_0_133"/>
          <p:cNvSpPr txBox="1"/>
          <p:nvPr/>
        </p:nvSpPr>
        <p:spPr>
          <a:xfrm>
            <a:off x="1454000" y="2706750"/>
            <a:ext cx="157209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la capacidad de observar y detectar similitudes, estructuras repetitivas o regularidades dentro de un conjunto de datos o procesos. En el pensamiento algorítmico, permite reutilizar soluciones conocidas en nuevas situaciones.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5c59309f30_0_133"/>
          <p:cNvSpPr txBox="1"/>
          <p:nvPr/>
        </p:nvSpPr>
        <p:spPr>
          <a:xfrm>
            <a:off x="1454000" y="4327350"/>
            <a:ext cx="94626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2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Tipos de patrones comunes en algoritmos: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8427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Numéricos: progresiones aritméticas o geométricas.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84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Textuales: secuencias de caracteres o validaciones de formatos.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84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Comportamiento: acciones que se repiten bajo ciertas condiciones.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84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Lógicos: estructuras como bucles y condicionales.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35c59309f30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8550" y="4267775"/>
            <a:ext cx="5177525" cy="34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c59309f30_0_163"/>
          <p:cNvSpPr txBox="1"/>
          <p:nvPr>
            <p:ph type="ctrTitle"/>
          </p:nvPr>
        </p:nvSpPr>
        <p:spPr>
          <a:xfrm>
            <a:off x="1113150" y="933750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6640"/>
              <a:t>Reconocimiento de patrones - Ejemplo</a:t>
            </a:r>
            <a:endParaRPr sz="6640"/>
          </a:p>
        </p:txBody>
      </p:sp>
      <p:sp>
        <p:nvSpPr>
          <p:cNvPr id="204" name="Google Shape;204;g35c59309f30_0_163"/>
          <p:cNvSpPr txBox="1"/>
          <p:nvPr/>
        </p:nvSpPr>
        <p:spPr>
          <a:xfrm>
            <a:off x="1719750" y="2706750"/>
            <a:ext cx="148485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Ejemplo:</a:t>
            </a: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Secuencia numérica: 2, 4, 6, 8, 10, ...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Char char="●"/>
            </a:pPr>
            <a:r>
              <a:rPr b="1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Patrón identificado:</a:t>
            </a: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Incremento de 2 unidades.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Char char="●"/>
            </a:pPr>
            <a:r>
              <a:rPr b="1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Aplicación:</a:t>
            </a: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Crear un algoritmo que genere números pares.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Otro ejemplo:</a:t>
            </a: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Validación de contraseñas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Char char="●"/>
            </a:pPr>
            <a:r>
              <a:rPr b="1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Patrones comunes:</a:t>
            </a: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Longitud mínima, inclusión de caracteres especiales, combinación de letras y números.</a:t>
            </a:r>
            <a:b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Char char="●"/>
            </a:pPr>
            <a:r>
              <a:rPr b="1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Aplicación:</a:t>
            </a: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Implementar funciones que verifiquen estos patrones en las contraseñas ingresadas por los usuarios.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rgbClr val="AF7B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c59309f30_0_139"/>
          <p:cNvSpPr txBox="1"/>
          <p:nvPr>
            <p:ph type="ctrTitle"/>
          </p:nvPr>
        </p:nvSpPr>
        <p:spPr>
          <a:xfrm>
            <a:off x="1113150" y="933750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Abstracción</a:t>
            </a:r>
            <a:endParaRPr/>
          </a:p>
        </p:txBody>
      </p:sp>
      <p:sp>
        <p:nvSpPr>
          <p:cNvPr id="210" name="Google Shape;210;g35c59309f30_0_139"/>
          <p:cNvSpPr txBox="1"/>
          <p:nvPr/>
        </p:nvSpPr>
        <p:spPr>
          <a:xfrm>
            <a:off x="1454000" y="2706750"/>
            <a:ext cx="157209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el proceso mental mediante el cual se identifican los elementos relevantes de un problema, ignorando los detalles irrelevantes o secundarios para enfocarse en lo esencial.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5c59309f30_0_139"/>
          <p:cNvSpPr txBox="1"/>
          <p:nvPr/>
        </p:nvSpPr>
        <p:spPr>
          <a:xfrm>
            <a:off x="1454000" y="3978775"/>
            <a:ext cx="73560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Niveles de abstracción: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8427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Conceptual: definición del problema sin entrar en detalles técnicos.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84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Lógico: estructuración del problema en algoritmos/pasos secuenciales.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84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Físico: implementación específica en un lenguaje de programación.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g35c59309f30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2650" y="3978775"/>
            <a:ext cx="7606500" cy="48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c59309f30_0_145"/>
          <p:cNvSpPr txBox="1"/>
          <p:nvPr>
            <p:ph type="ctrTitle"/>
          </p:nvPr>
        </p:nvSpPr>
        <p:spPr>
          <a:xfrm>
            <a:off x="1113150" y="933750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Definición y características de un problema computacional</a:t>
            </a:r>
            <a:endParaRPr/>
          </a:p>
        </p:txBody>
      </p:sp>
      <p:sp>
        <p:nvSpPr>
          <p:cNvPr id="218" name="Google Shape;218;g35c59309f30_0_145"/>
          <p:cNvSpPr txBox="1"/>
          <p:nvPr/>
        </p:nvSpPr>
        <p:spPr>
          <a:xfrm>
            <a:off x="1454000" y="2706750"/>
            <a:ext cx="157209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103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una situación que puede resolverse mediante un conjunto finito de pasos lógicos, ejecutables por una máquina. Requiere entradas conocidas, un proceso definido y una salida esperada.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5c59309f30_0_145"/>
          <p:cNvSpPr txBox="1"/>
          <p:nvPr/>
        </p:nvSpPr>
        <p:spPr>
          <a:xfrm>
            <a:off x="1454000" y="3978775"/>
            <a:ext cx="148485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Componentes principales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Entrada: datos o condiciones iniciales.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Proceso: operaciones o reglas que transforman la entrada.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05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Roboto"/>
              <a:buChar char="●"/>
            </a:pPr>
            <a:r>
              <a:rPr b="0" i="0" lang="en-US" sz="2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Salida: resultado esperado del procesamiento.</a:t>
            </a:r>
            <a:endParaRPr b="0" i="0" sz="255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c59309f30_1_0"/>
          <p:cNvSpPr txBox="1"/>
          <p:nvPr/>
        </p:nvSpPr>
        <p:spPr>
          <a:xfrm>
            <a:off x="2066650" y="370150"/>
            <a:ext cx="15376500" cy="9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4250">
                <a:solidFill>
                  <a:srgbClr val="333333"/>
                </a:solidFill>
                <a:highlight>
                  <a:srgbClr val="FFFFFF"/>
                </a:highlight>
              </a:rPr>
              <a:t>CONCEPTOS CLAVE APRENDIDOS</a:t>
            </a:r>
            <a:endParaRPr b="1" sz="4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67EEA"/>
                </a:solidFill>
                <a:highlight>
                  <a:srgbClr val="FFFFFF"/>
                </a:highlight>
              </a:rPr>
              <a:t>🏢 Arreglos Multidimensionales</a:t>
            </a:r>
            <a:endParaRPr b="1" sz="165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Estructuras que organizan datos en múltiples dimensiones (filas y columnas en matrices), ideales para datos tabulares.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67EEA"/>
                </a:solidFill>
                <a:highlight>
                  <a:srgbClr val="FFFFFF"/>
                </a:highlight>
              </a:rPr>
              <a:t>🔢 Indexación</a:t>
            </a:r>
            <a:endParaRPr b="1" sz="165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Sistema de acceso a elementos usando índices numéricos, generalmente iniciando desde 0 (cero-indexado).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67EEA"/>
                </a:solidFill>
                <a:highlight>
                  <a:srgbClr val="FFFFFF"/>
                </a:highlight>
              </a:rPr>
              <a:t>🔄 Recorrido de Arreglos</a:t>
            </a:r>
            <a:endParaRPr b="1" sz="165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Técnicas usando estructuras cíclicas (FOR, WHILE) para procesar todos los elementos de un arreglo sistemáticamente.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67EEA"/>
                </a:solidFill>
                <a:highlight>
                  <a:srgbClr val="FFFFFF"/>
                </a:highlight>
              </a:rPr>
              <a:t>📝 Pseudocódigo</a:t>
            </a:r>
            <a:endParaRPr b="1" sz="165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Lenguaje intermedio que combina lenguaje natural con estructuras de programación para diseñar algoritmos.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67EEA"/>
                </a:solidFill>
                <a:highlight>
                  <a:srgbClr val="FFFFFF"/>
                </a:highlight>
              </a:rPr>
              <a:t>📊 Diagramas de Flujo</a:t>
            </a:r>
            <a:endParaRPr b="1" sz="165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Representación gráfica usando símbolos estándar que muestra el flujo de control y decisiones en algoritmos 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67EEA"/>
                </a:solidFill>
                <a:highlight>
                  <a:srgbClr val="FFFFFF"/>
                </a:highlight>
              </a:rPr>
              <a:t>⚡ Eficiencia de Acceso</a:t>
            </a:r>
            <a:endParaRPr b="1" sz="165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Los arreglos permiten acceso directo O(1) a cualquier elemento, lo que los hace muy eficientes para consultas.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67EEA"/>
                </a:solidFill>
                <a:highlight>
                  <a:srgbClr val="FFFFFF"/>
                </a:highlight>
              </a:rPr>
              <a:t>🎯 Aplicabilidad</a:t>
            </a:r>
            <a:endParaRPr b="1" sz="165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00000"/>
              </a:lnSpc>
              <a:spcBef>
                <a:spcPts val="3400"/>
              </a:spcBef>
              <a:spcAft>
                <a:spcPts val="230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Los arreglos son fundamentales en programación: desde simples listas hasta complejas estructuras de datos multidimensionales.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695975" y="5316150"/>
            <a:ext cx="7867800" cy="3165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Colaboración</a:t>
            </a:r>
            <a:r>
              <a:rPr b="0" i="0" lang="en-US" sz="2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La evolución de la computación ha sido posible gracias al trabajo en equipo de científicos, ingenieros y usuarios.</a:t>
            </a:r>
            <a:endParaRPr b="0" i="0" sz="2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472450" y="2419800"/>
            <a:ext cx="69087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Pensamiento crítico</a:t>
            </a:r>
            <a:r>
              <a:rPr b="0" i="0" lang="en-US" sz="2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Analizar y evaluar diferentes enfoques para resolver problemas de manera eficiente.</a:t>
            </a:r>
            <a:endParaRPr b="0" i="0" sz="2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1025000" y="2718725"/>
            <a:ext cx="159516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https://www.educo.org/blog/como-aplicar-el-pensamiento-computacional-aula</a:t>
            </a:r>
            <a:b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https://descargas.intef.es/recursos_educativos/ODES_SGOA/Primaria/Descifrando_el_codigo_con_Ada/abstraccin.html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https://es.wikipedia.org/wiki/Pensamiento_computacional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-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https://www.gurisesunidos.org.uy/wp-content/uploads/2017/11/PensamientoComputacional.pdf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