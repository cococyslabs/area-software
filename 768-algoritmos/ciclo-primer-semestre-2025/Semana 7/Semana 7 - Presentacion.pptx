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Lobster"/>
      <p:regular r:id="rId26"/>
    </p:embeddedFont>
    <p:embeddedFont>
      <p:font typeface="Pacifico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g7Y9Ji42wLarN9tIBRHDdi2y7u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  <p:cmAuthor clrIdx="1" id="1" initials="" lastIdx="1" name="Computación COCO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Lobster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OpenSans-regular.fntdata"/><Relationship Id="rId27" Type="http://schemas.openxmlformats.org/officeDocument/2006/relationships/font" Target="fonts/Pacific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3T05:44:43.461">
    <p:pos x="6000" y="0"/>
    <p:text>Hola, gracias por avanzar en ese sentido favor agregar algunas imagenes a la presentacion ya que tiene unicamente texto.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_65YG4"/>
      </p:ext>
    </p:extLst>
  </p:cm>
  <p:cm authorId="1" idx="1" dt="2025-05-23T05:44:43.461">
    <p:pos x="6000" y="0"/>
    <p:text>por nada, ya le he agregado algunas imágenes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kBpuf8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620360a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c620360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c620360a0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c620360a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c620360a0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c620360a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c620360a0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c620360a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cca7a0e8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5cca7a0e8c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c4bec6024_0_698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5c4bec6024_0_698"/>
          <p:cNvGrpSpPr/>
          <p:nvPr/>
        </p:nvGrpSpPr>
        <p:grpSpPr>
          <a:xfrm>
            <a:off x="11188382" y="7922230"/>
            <a:ext cx="5820286" cy="2364680"/>
            <a:chOff x="6917201" y="0"/>
            <a:chExt cx="2227776" cy="863400"/>
          </a:xfrm>
        </p:grpSpPr>
        <p:sp>
          <p:nvSpPr>
            <p:cNvPr id="12" name="Google Shape;12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g35c4bec6024_0_698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16" name="Google Shape;16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g35c4bec6024_0_698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g35c4bec6024_0_69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c4bec6024_0_738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5c4bec6024_0_738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g35c4bec6024_0_738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25" name="Google Shape;25;g35c4bec6024_0_73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5c4bec6024_0_73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5c4bec6024_0_73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5c4bec6024_0_7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g35c4bec6024_0_738"/>
          <p:cNvGrpSpPr/>
          <p:nvPr/>
        </p:nvGrpSpPr>
        <p:grpSpPr>
          <a:xfrm>
            <a:off x="69869" y="9044251"/>
            <a:ext cx="3186611" cy="1234144"/>
            <a:chOff x="6917201" y="0"/>
            <a:chExt cx="2227776" cy="863400"/>
          </a:xfrm>
        </p:grpSpPr>
        <p:sp>
          <p:nvSpPr>
            <p:cNvPr id="30" name="Google Shape;30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g35c4bec6024_0_738"/>
          <p:cNvGrpSpPr/>
          <p:nvPr/>
        </p:nvGrpSpPr>
        <p:grpSpPr>
          <a:xfrm>
            <a:off x="11772706" y="2486"/>
            <a:ext cx="6514907" cy="2523027"/>
            <a:chOff x="6917201" y="0"/>
            <a:chExt cx="2227776" cy="863400"/>
          </a:xfrm>
        </p:grpSpPr>
        <p:sp>
          <p:nvSpPr>
            <p:cNvPr id="34" name="Google Shape;34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5c4bec6024_0_738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5c4bec6024_0_7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c4bec6024_0_67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5c4bec6024_0_67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5c4bec6024_0_670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5c4bec6024_0_670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g35c4bec6024_0_670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45" name="Google Shape;45;g35c4bec6024_0_67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5c4bec6024_0_67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5c4bec6024_0_67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g35c4bec6024_0_670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49" name="Google Shape;49;g35c4bec6024_0_67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5c4bec6024_0_67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5c4bec6024_0_67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g35c4bec6024_0_670"/>
          <p:cNvGrpSpPr/>
          <p:nvPr/>
        </p:nvGrpSpPr>
        <p:grpSpPr>
          <a:xfrm>
            <a:off x="14114936" y="10177"/>
            <a:ext cx="3702563" cy="1504215"/>
            <a:chOff x="6917201" y="0"/>
            <a:chExt cx="2227776" cy="863400"/>
          </a:xfrm>
        </p:grpSpPr>
        <p:sp>
          <p:nvSpPr>
            <p:cNvPr id="53" name="Google Shape;53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g35c4bec6024_0_670"/>
          <p:cNvGrpSpPr/>
          <p:nvPr/>
        </p:nvGrpSpPr>
        <p:grpSpPr>
          <a:xfrm>
            <a:off x="13106063" y="8435703"/>
            <a:ext cx="4778133" cy="1851475"/>
            <a:chOff x="6917201" y="0"/>
            <a:chExt cx="2227776" cy="863400"/>
          </a:xfrm>
        </p:grpSpPr>
        <p:sp>
          <p:nvSpPr>
            <p:cNvPr id="57" name="Google Shape;57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g35c4bec6024_0_670"/>
          <p:cNvGrpSpPr/>
          <p:nvPr/>
        </p:nvGrpSpPr>
        <p:grpSpPr>
          <a:xfrm>
            <a:off x="398298" y="8111304"/>
            <a:ext cx="5590825" cy="2166616"/>
            <a:chOff x="6917201" y="0"/>
            <a:chExt cx="2227776" cy="863400"/>
          </a:xfrm>
        </p:grpSpPr>
        <p:sp>
          <p:nvSpPr>
            <p:cNvPr id="61" name="Google Shape;61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35c4bec6024_0_670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65" name="Google Shape;65;g35c4bec6024_0_670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g35c4bec6024_0_6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c4bec6024_0_76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5c4bec6024_0_76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5c4bec6024_0_76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5c4bec6024_0_76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2" name="Google Shape;72;g35c4bec6024_0_76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c4bec6024_0_770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g35c4bec6024_0_770"/>
          <p:cNvGrpSpPr/>
          <p:nvPr/>
        </p:nvGrpSpPr>
        <p:grpSpPr>
          <a:xfrm>
            <a:off x="11918444" y="8239152"/>
            <a:ext cx="5041902" cy="2048330"/>
            <a:chOff x="6917201" y="0"/>
            <a:chExt cx="2227776" cy="863400"/>
          </a:xfrm>
        </p:grpSpPr>
        <p:sp>
          <p:nvSpPr>
            <p:cNvPr id="76" name="Google Shape;76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g35c4bec6024_0_770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80" name="Google Shape;80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g35c4bec6024_0_770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g35c4bec6024_0_770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85" name="Google Shape;85;g35c4bec6024_0_7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c4bec6024_0_731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c4bec6024_0_731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c4bec6024_0_731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5c4bec6024_0_731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1" name="Google Shape;91;g35c4bec6024_0_731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2" name="Google Shape;92;g35c4bec6024_0_73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4bec6024_0_71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5c4bec6024_0_71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c4bec6024_0_71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5c4bec6024_0_710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g35c4bec6024_0_710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9" name="Google Shape;99;g35c4bec6024_0_71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c4bec6024_0_717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5c4bec6024_0_717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c4bec6024_0_71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c4bec6024_0_71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" name="Google Shape;105;g35c4bec6024_0_717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6" name="Google Shape;106;g35c4bec6024_0_717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7" name="Google Shape;107;g35c4bec6024_0_71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c4bec6024_0_72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5c4bec6024_0_72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5c4bec6024_0_72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5c4bec6024_0_72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3" name="Google Shape;113;g35c4bec6024_0_7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c4bec6024_0_75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c4bec6024_0_75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c4bec6024_0_75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c4bec6024_0_756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9" name="Google Shape;119;g35c4bec6024_0_756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g35c4bec6024_0_756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g35c4bec6024_0_75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4bec6024_0_78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c4bec6024_0_66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5c4bec6024_0_666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5c4bec6024_0_66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s.wikipedia.org/wiki/Algoritmo" TargetMode="External"/><Relationship Id="rId4" Type="http://schemas.openxmlformats.org/officeDocument/2006/relationships/hyperlink" Target="https://csunplugged.org/es/topics/computational-thinkin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63303" y="6994239"/>
            <a:ext cx="57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956505" y="3444149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28700" y="9210675"/>
            <a:ext cx="666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28600" y="9588254"/>
            <a:ext cx="8115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"/>
          <p:cNvGrpSpPr/>
          <p:nvPr/>
        </p:nvGrpSpPr>
        <p:grpSpPr>
          <a:xfrm>
            <a:off x="176625" y="4637238"/>
            <a:ext cx="7339114" cy="845568"/>
            <a:chOff x="0" y="-26490"/>
            <a:chExt cx="1964221" cy="3600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351702" y="-26490"/>
              <a:ext cx="1517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Definición de algoritmo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790789" y="3303305"/>
            <a:ext cx="4115867" cy="1267370"/>
          </a:xfrm>
          <a:custGeom>
            <a:rect b="b" l="l" r="r" t="t"/>
            <a:pathLst>
              <a:path extrusionOk="0" h="333738" w="1083836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592749" y="16120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0247578" y="26330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45" name="Google Shape;145;p2"/>
          <p:cNvGrpSpPr/>
          <p:nvPr/>
        </p:nvGrpSpPr>
        <p:grpSpPr>
          <a:xfrm>
            <a:off x="11779155" y="5047755"/>
            <a:ext cx="5353682" cy="1701155"/>
            <a:chOff x="0" y="-114300"/>
            <a:chExt cx="1410014" cy="448038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76625" y="5549375"/>
            <a:ext cx="7339116" cy="845568"/>
            <a:chOff x="0" y="-31464"/>
            <a:chExt cx="1964221" cy="360000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375870" y="-31464"/>
              <a:ext cx="1287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599"/>
                <a:t>Uso de algoritmos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176625" y="6541525"/>
            <a:ext cx="7339115" cy="845568"/>
            <a:chOff x="0" y="-26961"/>
            <a:chExt cx="1964221" cy="36000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332278" y="-26961"/>
              <a:ext cx="1491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1699"/>
                <a:t>Características de los algoritmos (secuencial, finito, denifido)</a:t>
              </a:r>
              <a:endParaRPr b="0" i="0" sz="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76626" y="7438850"/>
            <a:ext cx="7339115" cy="845568"/>
            <a:chOff x="0" y="-38140"/>
            <a:chExt cx="1964221" cy="3600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348195" y="-38140"/>
              <a:ext cx="1315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399"/>
                <a:t>Niveles de algoritmo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176625" y="8483000"/>
            <a:ext cx="7339115" cy="845568"/>
            <a:chOff x="0" y="-46365"/>
            <a:chExt cx="1964221" cy="3600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9" name="Google Shape;159;p2"/>
            <p:cNvSpPr txBox="1"/>
            <p:nvPr/>
          </p:nvSpPr>
          <p:spPr>
            <a:xfrm>
              <a:off x="347346" y="-46365"/>
              <a:ext cx="1271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1599"/>
                <a:t>Pensamiento Algorítmico para la Resolución de Problemas Complejos</a:t>
              </a:r>
              <a:endParaRPr b="0" i="0" sz="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1492889" y="2011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054850" y="3157975"/>
            <a:ext cx="14178300" cy="6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  algoritmos utilizando instrucciones, estructuras condicionales, tipos de datos y palabras reservadas, aplicando principios del pensamiento algorítmico para la resolución eficiente de problemas complejos, con base en los niveles y características fundamentales de los algoritmos.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620360a0_0_1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Definición de algoritmo</a:t>
            </a:r>
            <a:endParaRPr/>
          </a:p>
        </p:txBody>
      </p:sp>
      <p:sp>
        <p:nvSpPr>
          <p:cNvPr id="175" name="Google Shape;175;g35c620360a0_0_1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Un algoritmo es un conjunto ordenado y finito de instrucciones o pasos que, al ser ejecutados, permiten resolver un problema o realizar una tarea específica. 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Características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clave: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Ordenado: Las instrucciones deben seguir una secuencia lógica.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Finito: Debe tener un número limitado de pasos.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Determinístico: Para una misma entrada, siempre produce la misma salida.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5c620360a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9450" y="6230125"/>
            <a:ext cx="4896001" cy="3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c620360a0_0_126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¿Para qué se utilizan los algoritmos?</a:t>
            </a:r>
            <a:endParaRPr/>
          </a:p>
        </p:txBody>
      </p:sp>
      <p:sp>
        <p:nvSpPr>
          <p:cNvPr id="182" name="Google Shape;182;g35c620360a0_0_126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En el área de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informática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se utilizan para los siguiente: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Resolución de problemas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: Permiten encontrar soluciones eficientes a problemas complejos.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Automatización de tareas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: Facilitan la ejecución automática de procesos repetitivos.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Procesamiento de datos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: Organizan y analizan grandes volúmenes de información.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nteligencia Artificial: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Son la base para el aprendizaje automático y la toma de decisiones autónoma.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c620360a0_0_132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Características de los algoritmos</a:t>
            </a:r>
            <a:endParaRPr/>
          </a:p>
        </p:txBody>
      </p:sp>
      <p:sp>
        <p:nvSpPr>
          <p:cNvPr id="188" name="Google Shape;188;g35c620360a0_0_132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En el área de informática se utilizan para los siguiente: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Precisión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Cada paso debe estar claramente definido y ser inequívoco.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Definición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El algoritmo debe producir el mismo resultado al recibir la misma entrada, independientemente de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cuántas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veces se ejecute.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Finitud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El algoritmo debe concluir después de un número determinado de pasos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35c620360a0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850" y="5598075"/>
            <a:ext cx="5638201" cy="422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c620360a0_0_137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un algoritmo</a:t>
            </a:r>
            <a:endParaRPr/>
          </a:p>
        </p:txBody>
      </p:sp>
      <p:sp>
        <p:nvSpPr>
          <p:cNvPr id="195" name="Google Shape;195;g35c620360a0_0_137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continuación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se presenta un algoritmo de validación de usuario en lenguaje natural: 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Solicitar al usuario el nombre de usuario y contraseña.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Verificar si el nombre de usuario existe en la base de datos.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Si existe, comparar la contraseña ingresada con la almacenada.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Si la contraseña coincide, permitir el acceso.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Si no coincide o el usuario no existe, mostrar un mensaje de error.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Procesamiento de datos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: Organizan y analizan grandes volúmenes de información.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nteligencia Artificial: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Son la base para el aprendizaje automático y la toma de decisiones autónoma.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ca7a0e8c_0_15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1" name="Google Shape;201;g35cca7a0e8c_0_158"/>
          <p:cNvSpPr/>
          <p:nvPr/>
        </p:nvSpPr>
        <p:spPr>
          <a:xfrm>
            <a:off x="710300" y="236575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Un algoritmo es una secuencia ordenada y finita de pasos que permite resolver un problema de forma sistemática. Es la base de cualquier programa o sistema computacional.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5cca7a0e8c_0_158"/>
          <p:cNvSpPr/>
          <p:nvPr/>
        </p:nvSpPr>
        <p:spPr>
          <a:xfrm>
            <a:off x="12352350" y="22084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Todo algoritmo debe ser: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Secuencial (tiene un orden claro),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Finito (termina en algún punto),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Definido (cada paso es preciso y no ambiguo).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5cca7a0e8c_0_158"/>
          <p:cNvSpPr/>
          <p:nvPr/>
        </p:nvSpPr>
        <p:spPr>
          <a:xfrm>
            <a:off x="6007825" y="3346850"/>
            <a:ext cx="6082200" cy="3320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Los algoritmos se utilizan para resolver problemas, automatizar tareas, procesar información, tomar decisiones lógicas y estructurar soluciones en casi todos los ámbitos de la informática.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actitudes</a:t>
            </a:r>
            <a:endParaRPr sz="69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695975" y="5316150"/>
            <a:ext cx="7867800" cy="3165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Claridad y precisión al comunicar ideas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Diseñar un algoritmo exige que cada paso esté claramente definido. Esta actitud fomenta la comunicación efectiva y estructurada, tanto en pseudocódigo como en el trabajo en equipo dentro de entornos de desarrollo.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472450" y="2419800"/>
            <a:ext cx="69087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Perseverancia en la resolución de problemas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Aplicar algoritmos no siempre lleva a una solución inmediata. Es fundamental mantener la constancia, probar diferentes enfoques y ajustar los pasos del algoritmo hasta lograr un resultado correcto.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1025000" y="2718725"/>
            <a:ext cx="15951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3"/>
              </a:rPr>
              <a:t>https://es.wikipedia.org/wiki/Algoritmo</a:t>
            </a:r>
            <a:r>
              <a:rPr lang="en-US" sz="3151">
                <a:solidFill>
                  <a:srgbClr val="131416"/>
                </a:solidFill>
              </a:rPr>
              <a:t>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3151" u="sng">
                <a:solidFill>
                  <a:schemeClr val="hlink"/>
                </a:solidFill>
                <a:hlinkClick r:id="rId4"/>
              </a:rPr>
              <a:t>https://csunplugged.org/es/topics/computational-thinking/</a:t>
            </a:r>
            <a:r>
              <a:rPr lang="en-US" sz="3151" u="none">
                <a:solidFill>
                  <a:srgbClr val="131416"/>
                </a:solidFill>
              </a:rPr>
              <a:t>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