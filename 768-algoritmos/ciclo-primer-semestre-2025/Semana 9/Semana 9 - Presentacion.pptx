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Nunito"/>
      <p:regular r:id="rId27"/>
      <p:bold r:id="rId28"/>
      <p:italic r:id="rId29"/>
      <p:boldItalic r:id="rId30"/>
    </p:embeddedFont>
    <p:embeddedFont>
      <p:font typeface="Lobster"/>
      <p:regular r:id="rId31"/>
    </p:embeddedFont>
    <p:embeddedFont>
      <p:font typeface="Pacifico"/>
      <p:regular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iwQzcP/W/8R+qDmbe7AtYAL+cP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obster-regular.fntdata"/><Relationship Id="rId3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33" Type="http://schemas.openxmlformats.org/officeDocument/2006/relationships/font" Target="fonts/OpenSans-regular.fntdata"/><Relationship Id="rId10" Type="http://schemas.openxmlformats.org/officeDocument/2006/relationships/slide" Target="slides/slide5.xml"/><Relationship Id="rId32" Type="http://schemas.openxmlformats.org/officeDocument/2006/relationships/font" Target="fonts/Pacifico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-italic.fntdata"/><Relationship Id="rId12" Type="http://schemas.openxmlformats.org/officeDocument/2006/relationships/slide" Target="slides/slide7.xml"/><Relationship Id="rId34" Type="http://schemas.openxmlformats.org/officeDocument/2006/relationships/font" Target="fonts/OpenSans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c59309f3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5c59309f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c59309f30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5c59309f3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c59309f30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5c59309f3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c59309f30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5c59309f3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c59309f30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5c59309f30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c59309f30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5c59309f3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c59309f30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5c59309f3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c59309f3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5c59309f30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c6407c718_1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5c6407c718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c6407c718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5c6407c718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5c6407c718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5c6407c71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5c4bec6024_0_698"/>
          <p:cNvSpPr/>
          <p:nvPr/>
        </p:nvSpPr>
        <p:spPr>
          <a:xfrm flipH="1">
            <a:off x="9514200" y="4618800"/>
            <a:ext cx="8773800" cy="5668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g35c4bec6024_0_698"/>
          <p:cNvGrpSpPr/>
          <p:nvPr/>
        </p:nvGrpSpPr>
        <p:grpSpPr>
          <a:xfrm>
            <a:off x="11188382" y="7922230"/>
            <a:ext cx="5820286" cy="2364680"/>
            <a:chOff x="6917201" y="0"/>
            <a:chExt cx="2227776" cy="863400"/>
          </a:xfrm>
        </p:grpSpPr>
        <p:sp>
          <p:nvSpPr>
            <p:cNvPr id="12" name="Google Shape;12;g35c4bec6024_0_69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5c4bec6024_0_69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5c4bec6024_0_69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5;g35c4bec6024_0_698"/>
          <p:cNvGrpSpPr/>
          <p:nvPr/>
        </p:nvGrpSpPr>
        <p:grpSpPr>
          <a:xfrm>
            <a:off x="398298" y="4"/>
            <a:ext cx="5590825" cy="2166616"/>
            <a:chOff x="6917201" y="0"/>
            <a:chExt cx="2227776" cy="863400"/>
          </a:xfrm>
        </p:grpSpPr>
        <p:sp>
          <p:nvSpPr>
            <p:cNvPr id="16" name="Google Shape;16;g35c4bec6024_0_69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35c4bec6024_0_69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5c4bec6024_0_69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" name="Google Shape;19;g35c4bec6024_0_698"/>
          <p:cNvSpPr txBox="1"/>
          <p:nvPr>
            <p:ph type="title"/>
          </p:nvPr>
        </p:nvSpPr>
        <p:spPr>
          <a:xfrm>
            <a:off x="3777368" y="3492200"/>
            <a:ext cx="10755000" cy="3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g35c4bec6024_0_698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5c4bec6024_0_738"/>
          <p:cNvSpPr/>
          <p:nvPr/>
        </p:nvSpPr>
        <p:spPr>
          <a:xfrm>
            <a:off x="0" y="5646288"/>
            <a:ext cx="14738400" cy="46338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35c4bec6024_0_738"/>
          <p:cNvSpPr/>
          <p:nvPr/>
        </p:nvSpPr>
        <p:spPr>
          <a:xfrm flipH="1">
            <a:off x="7166420" y="3108226"/>
            <a:ext cx="11121000" cy="717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g35c4bec6024_0_738"/>
          <p:cNvGrpSpPr/>
          <p:nvPr/>
        </p:nvGrpSpPr>
        <p:grpSpPr>
          <a:xfrm>
            <a:off x="511982" y="-236"/>
            <a:ext cx="4502694" cy="2086816"/>
            <a:chOff x="3961956" y="4383950"/>
            <a:chExt cx="1160548" cy="548700"/>
          </a:xfrm>
        </p:grpSpPr>
        <p:sp>
          <p:nvSpPr>
            <p:cNvPr id="25" name="Google Shape;25;g35c4bec6024_0_73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g35c4bec6024_0_73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g35c4bec6024_0_73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g35c4bec6024_0_738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" name="Google Shape;29;g35c4bec6024_0_738"/>
          <p:cNvGrpSpPr/>
          <p:nvPr/>
        </p:nvGrpSpPr>
        <p:grpSpPr>
          <a:xfrm>
            <a:off x="69869" y="9044251"/>
            <a:ext cx="3186611" cy="1234144"/>
            <a:chOff x="6917201" y="0"/>
            <a:chExt cx="2227776" cy="863400"/>
          </a:xfrm>
        </p:grpSpPr>
        <p:sp>
          <p:nvSpPr>
            <p:cNvPr id="30" name="Google Shape;30;g35c4bec6024_0_73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5c4bec6024_0_73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5c4bec6024_0_73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33;g35c4bec6024_0_738"/>
          <p:cNvGrpSpPr/>
          <p:nvPr/>
        </p:nvGrpSpPr>
        <p:grpSpPr>
          <a:xfrm>
            <a:off x="11772706" y="2486"/>
            <a:ext cx="6514907" cy="2523027"/>
            <a:chOff x="6917201" y="0"/>
            <a:chExt cx="2227776" cy="863400"/>
          </a:xfrm>
        </p:grpSpPr>
        <p:sp>
          <p:nvSpPr>
            <p:cNvPr id="34" name="Google Shape;34;g35c4bec6024_0_73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5c4bec6024_0_73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35c4bec6024_0_73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g35c4bec6024_0_738"/>
          <p:cNvSpPr txBox="1"/>
          <p:nvPr>
            <p:ph type="title"/>
          </p:nvPr>
        </p:nvSpPr>
        <p:spPr>
          <a:xfrm>
            <a:off x="2787858" y="2602292"/>
            <a:ext cx="127338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35c4bec6024_0_738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5c4bec6024_0_670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5c4bec6024_0_670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5c4bec6024_0_670"/>
          <p:cNvSpPr/>
          <p:nvPr/>
        </p:nvSpPr>
        <p:spPr>
          <a:xfrm rot="10800000">
            <a:off x="10117809" y="0"/>
            <a:ext cx="8170200" cy="4105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5c4bec6024_0_670"/>
          <p:cNvSpPr/>
          <p:nvPr/>
        </p:nvSpPr>
        <p:spPr>
          <a:xfrm>
            <a:off x="4065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g35c4bec6024_0_670"/>
          <p:cNvGrpSpPr/>
          <p:nvPr/>
        </p:nvGrpSpPr>
        <p:grpSpPr>
          <a:xfrm>
            <a:off x="510401" y="1185"/>
            <a:ext cx="4500726" cy="2088600"/>
            <a:chOff x="255200" y="592"/>
            <a:chExt cx="2250363" cy="1044300"/>
          </a:xfrm>
        </p:grpSpPr>
        <p:sp>
          <p:nvSpPr>
            <p:cNvPr id="45" name="Google Shape;45;g35c4bec6024_0_670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35c4bec6024_0_670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35c4bec6024_0_670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48;g35c4bec6024_0_670"/>
          <p:cNvGrpSpPr/>
          <p:nvPr/>
        </p:nvGrpSpPr>
        <p:grpSpPr>
          <a:xfrm>
            <a:off x="1810790" y="1185"/>
            <a:ext cx="4500726" cy="2088600"/>
            <a:chOff x="905395" y="592"/>
            <a:chExt cx="2250363" cy="1044300"/>
          </a:xfrm>
        </p:grpSpPr>
        <p:sp>
          <p:nvSpPr>
            <p:cNvPr id="49" name="Google Shape;49;g35c4bec6024_0_670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35c4bec6024_0_670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35c4bec6024_0_670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oogle Shape;52;g35c4bec6024_0_670"/>
          <p:cNvGrpSpPr/>
          <p:nvPr/>
        </p:nvGrpSpPr>
        <p:grpSpPr>
          <a:xfrm>
            <a:off x="14114936" y="10177"/>
            <a:ext cx="3702563" cy="1504215"/>
            <a:chOff x="6917201" y="0"/>
            <a:chExt cx="2227776" cy="863400"/>
          </a:xfrm>
        </p:grpSpPr>
        <p:sp>
          <p:nvSpPr>
            <p:cNvPr id="53" name="Google Shape;53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56;g35c4bec6024_0_670"/>
          <p:cNvGrpSpPr/>
          <p:nvPr/>
        </p:nvGrpSpPr>
        <p:grpSpPr>
          <a:xfrm>
            <a:off x="13106063" y="8435703"/>
            <a:ext cx="4778133" cy="1851475"/>
            <a:chOff x="6917201" y="0"/>
            <a:chExt cx="2227776" cy="863400"/>
          </a:xfrm>
        </p:grpSpPr>
        <p:sp>
          <p:nvSpPr>
            <p:cNvPr id="57" name="Google Shape;57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60;g35c4bec6024_0_670"/>
          <p:cNvGrpSpPr/>
          <p:nvPr/>
        </p:nvGrpSpPr>
        <p:grpSpPr>
          <a:xfrm>
            <a:off x="398298" y="8111304"/>
            <a:ext cx="5590825" cy="2166616"/>
            <a:chOff x="6917201" y="0"/>
            <a:chExt cx="2227776" cy="863400"/>
          </a:xfrm>
        </p:grpSpPr>
        <p:sp>
          <p:nvSpPr>
            <p:cNvPr id="61" name="Google Shape;61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g35c4bec6024_0_670"/>
          <p:cNvSpPr txBox="1"/>
          <p:nvPr>
            <p:ph type="ctrTitle"/>
          </p:nvPr>
        </p:nvSpPr>
        <p:spPr>
          <a:xfrm>
            <a:off x="3717406" y="3645666"/>
            <a:ext cx="107226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9pPr>
          </a:lstStyle>
          <a:p/>
        </p:txBody>
      </p:sp>
      <p:sp>
        <p:nvSpPr>
          <p:cNvPr id="65" name="Google Shape;65;g35c4bec6024_0_670"/>
          <p:cNvSpPr txBox="1"/>
          <p:nvPr>
            <p:ph idx="1" type="subTitle"/>
          </p:nvPr>
        </p:nvSpPr>
        <p:spPr>
          <a:xfrm>
            <a:off x="3717400" y="6826316"/>
            <a:ext cx="107226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g35c4bec6024_0_67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c4bec6024_0_764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5c4bec6024_0_764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5c4bec6024_0_764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5c4bec6024_0_764"/>
          <p:cNvSpPr txBox="1"/>
          <p:nvPr>
            <p:ph idx="1" type="body"/>
          </p:nvPr>
        </p:nvSpPr>
        <p:spPr>
          <a:xfrm>
            <a:off x="656050" y="8327000"/>
            <a:ext cx="148302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72" name="Google Shape;72;g35c4bec6024_0_764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c4bec6024_0_770"/>
          <p:cNvSpPr/>
          <p:nvPr/>
        </p:nvSpPr>
        <p:spPr>
          <a:xfrm flipH="1">
            <a:off x="11138400" y="5668150"/>
            <a:ext cx="7149600" cy="461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" name="Google Shape;75;g35c4bec6024_0_770"/>
          <p:cNvGrpSpPr/>
          <p:nvPr/>
        </p:nvGrpSpPr>
        <p:grpSpPr>
          <a:xfrm>
            <a:off x="11918444" y="8239152"/>
            <a:ext cx="5041902" cy="2048330"/>
            <a:chOff x="6917201" y="0"/>
            <a:chExt cx="2227776" cy="863400"/>
          </a:xfrm>
        </p:grpSpPr>
        <p:sp>
          <p:nvSpPr>
            <p:cNvPr id="76" name="Google Shape;76;g35c4bec6024_0_7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35c4bec6024_0_7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35c4bec6024_0_7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g35c4bec6024_0_770"/>
          <p:cNvGrpSpPr/>
          <p:nvPr/>
        </p:nvGrpSpPr>
        <p:grpSpPr>
          <a:xfrm>
            <a:off x="398298" y="4"/>
            <a:ext cx="5590825" cy="2166616"/>
            <a:chOff x="6917201" y="0"/>
            <a:chExt cx="2227776" cy="863400"/>
          </a:xfrm>
        </p:grpSpPr>
        <p:sp>
          <p:nvSpPr>
            <p:cNvPr id="80" name="Google Shape;80;g35c4bec6024_0_7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35c4bec6024_0_7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5c4bec6024_0_7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g35c4bec6024_0_770"/>
          <p:cNvSpPr txBox="1"/>
          <p:nvPr>
            <p:ph hasCustomPrompt="1" type="title"/>
          </p:nvPr>
        </p:nvSpPr>
        <p:spPr>
          <a:xfrm>
            <a:off x="2771700" y="2767700"/>
            <a:ext cx="12744600" cy="27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g35c4bec6024_0_770"/>
          <p:cNvSpPr txBox="1"/>
          <p:nvPr>
            <p:ph idx="1" type="body"/>
          </p:nvPr>
        </p:nvSpPr>
        <p:spPr>
          <a:xfrm>
            <a:off x="2771700" y="5727700"/>
            <a:ext cx="127446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85" name="Google Shape;85;g35c4bec6024_0_77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c4bec6024_0_731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5c4bec6024_0_731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5c4bec6024_0_731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5c4bec6024_0_731"/>
          <p:cNvSpPr txBox="1"/>
          <p:nvPr>
            <p:ph type="title"/>
          </p:nvPr>
        </p:nvSpPr>
        <p:spPr>
          <a:xfrm>
            <a:off x="1638300" y="1691200"/>
            <a:ext cx="74184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1" name="Google Shape;91;g35c4bec6024_0_731"/>
          <p:cNvSpPr txBox="1"/>
          <p:nvPr>
            <p:ph idx="1" type="body"/>
          </p:nvPr>
        </p:nvSpPr>
        <p:spPr>
          <a:xfrm>
            <a:off x="1661400" y="4638100"/>
            <a:ext cx="7418400" cy="4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2" name="Google Shape;92;g35c4bec6024_0_731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c4bec6024_0_710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5c4bec6024_0_710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5c4bec6024_0_710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5c4bec6024_0_710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8" name="Google Shape;98;g35c4bec6024_0_710"/>
          <p:cNvSpPr txBox="1"/>
          <p:nvPr>
            <p:ph idx="1" type="body"/>
          </p:nvPr>
        </p:nvSpPr>
        <p:spPr>
          <a:xfrm>
            <a:off x="1638300" y="3981450"/>
            <a:ext cx="150114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9" name="Google Shape;99;g35c4bec6024_0_71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c4bec6024_0_717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5c4bec6024_0_717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5c4bec6024_0_717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5c4bec6024_0_717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5" name="Google Shape;105;g35c4bec6024_0_717"/>
          <p:cNvSpPr txBox="1"/>
          <p:nvPr>
            <p:ph idx="1" type="body"/>
          </p:nvPr>
        </p:nvSpPr>
        <p:spPr>
          <a:xfrm>
            <a:off x="163830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6" name="Google Shape;106;g35c4bec6024_0_717"/>
          <p:cNvSpPr txBox="1"/>
          <p:nvPr>
            <p:ph idx="2" type="body"/>
          </p:nvPr>
        </p:nvSpPr>
        <p:spPr>
          <a:xfrm>
            <a:off x="927735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7" name="Google Shape;107;g35c4bec6024_0_717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c4bec6024_0_725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5c4bec6024_0_725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5c4bec6024_0_725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5c4bec6024_0_725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3" name="Google Shape;113;g35c4bec6024_0_725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c4bec6024_0_756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5c4bec6024_0_756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5c4bec6024_0_756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5c4bec6024_0_756"/>
          <p:cNvSpPr txBox="1"/>
          <p:nvPr>
            <p:ph type="title"/>
          </p:nvPr>
        </p:nvSpPr>
        <p:spPr>
          <a:xfrm>
            <a:off x="1638300" y="1691200"/>
            <a:ext cx="128484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9" name="Google Shape;119;g35c4bec6024_0_756"/>
          <p:cNvSpPr txBox="1"/>
          <p:nvPr>
            <p:ph idx="1" type="subTitle"/>
          </p:nvPr>
        </p:nvSpPr>
        <p:spPr>
          <a:xfrm>
            <a:off x="1638300" y="3101400"/>
            <a:ext cx="117198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g35c4bec6024_0_756"/>
          <p:cNvSpPr txBox="1"/>
          <p:nvPr>
            <p:ph idx="2" type="body"/>
          </p:nvPr>
        </p:nvSpPr>
        <p:spPr>
          <a:xfrm>
            <a:off x="1638300" y="4934100"/>
            <a:ext cx="117198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21" name="Google Shape;121;g35c4bec6024_0_75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c4bec6024_0_783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5c4bec6024_0_66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g35c4bec6024_0_666"/>
          <p:cNvSpPr txBox="1"/>
          <p:nvPr>
            <p:ph idx="1" type="body"/>
          </p:nvPr>
        </p:nvSpPr>
        <p:spPr>
          <a:xfrm>
            <a:off x="623400" y="2304950"/>
            <a:ext cx="17041200" cy="6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Char char="●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3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3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3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3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3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5c4bec6024_0_66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educo.org/blog/como-aplicar-el-pensamiento-computacional-aula" TargetMode="External"/><Relationship Id="rId4" Type="http://schemas.openxmlformats.org/officeDocument/2006/relationships/hyperlink" Target="https://descargas.intef.es/recursos_educativos/ODES_SGOA/Primaria/Descifrando_el_codigo_con_Ada/abstraccin.html" TargetMode="External"/><Relationship Id="rId5" Type="http://schemas.openxmlformats.org/officeDocument/2006/relationships/hyperlink" Target="https://es.wikipedia.org/wiki/Pensamiento_computacional" TargetMode="External"/><Relationship Id="rId6" Type="http://schemas.openxmlformats.org/officeDocument/2006/relationships/hyperlink" Target="https://www.gurisesunidos.org.uy/wp-content/uploads/2017/11/PensamientoComputacional.pdf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"/>
          <p:cNvSpPr txBox="1"/>
          <p:nvPr/>
        </p:nvSpPr>
        <p:spPr>
          <a:xfrm>
            <a:off x="1028703" y="7749964"/>
            <a:ext cx="5717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ALGORITMOS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1835300" y="1828725"/>
            <a:ext cx="13496100" cy="53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Elementos de un Algoritmo y Estructuras de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063303" y="8745251"/>
            <a:ext cx="69813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1028700" y="9210675"/>
            <a:ext cx="6667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228600" y="9588254"/>
            <a:ext cx="8115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2"/>
          <p:cNvGrpSpPr/>
          <p:nvPr/>
        </p:nvGrpSpPr>
        <p:grpSpPr>
          <a:xfrm>
            <a:off x="176625" y="4596675"/>
            <a:ext cx="7339115" cy="845568"/>
            <a:chOff x="0" y="-43759"/>
            <a:chExt cx="1964221" cy="360000"/>
          </a:xfrm>
        </p:grpSpPr>
        <p:sp>
          <p:nvSpPr>
            <p:cNvPr id="139" name="Google Shape;13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0" name="Google Shape;140;p2"/>
            <p:cNvSpPr txBox="1"/>
            <p:nvPr/>
          </p:nvSpPr>
          <p:spPr>
            <a:xfrm>
              <a:off x="0" y="-43759"/>
              <a:ext cx="1905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Elementos de un Algoritmo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2"/>
          <p:cNvSpPr/>
          <p:nvPr/>
        </p:nvSpPr>
        <p:spPr>
          <a:xfrm>
            <a:off x="1866989" y="3303305"/>
            <a:ext cx="4115190" cy="1267162"/>
          </a:xfrm>
          <a:custGeom>
            <a:rect b="b" l="l" r="r" t="t"/>
            <a:pathLst>
              <a:path extrusionOk="0" h="333738" w="1083836">
                <a:moveTo>
                  <a:pt x="880636" y="0"/>
                </a:moveTo>
                <a:lnTo>
                  <a:pt x="0" y="0"/>
                </a:lnTo>
                <a:lnTo>
                  <a:pt x="0" y="333738"/>
                </a:lnTo>
                <a:lnTo>
                  <a:pt x="880636" y="333738"/>
                </a:lnTo>
                <a:lnTo>
                  <a:pt x="1083836" y="166869"/>
                </a:lnTo>
                <a:lnTo>
                  <a:pt x="8806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3" name="Google Shape;143;p2"/>
          <p:cNvSpPr txBox="1"/>
          <p:nvPr/>
        </p:nvSpPr>
        <p:spPr>
          <a:xfrm>
            <a:off x="592749" y="161205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10247578" y="26330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45" name="Google Shape;145;p2"/>
          <p:cNvGrpSpPr/>
          <p:nvPr/>
        </p:nvGrpSpPr>
        <p:grpSpPr>
          <a:xfrm>
            <a:off x="11779155" y="5047755"/>
            <a:ext cx="5353682" cy="1701155"/>
            <a:chOff x="0" y="-114300"/>
            <a:chExt cx="1410014" cy="448038"/>
          </a:xfrm>
        </p:grpSpPr>
        <p:sp>
          <p:nvSpPr>
            <p:cNvPr id="146" name="Google Shape;146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7" name="Google Shape;147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2"/>
          <p:cNvGrpSpPr/>
          <p:nvPr/>
        </p:nvGrpSpPr>
        <p:grpSpPr>
          <a:xfrm>
            <a:off x="176625" y="5549376"/>
            <a:ext cx="7339115" cy="845568"/>
            <a:chOff x="0" y="-31464"/>
            <a:chExt cx="1964221" cy="360000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73241" y="-31464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199"/>
                <a:t>Estructuras Secuenciales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2"/>
          <p:cNvGrpSpPr/>
          <p:nvPr/>
        </p:nvGrpSpPr>
        <p:grpSpPr>
          <a:xfrm>
            <a:off x="-128175" y="6502072"/>
            <a:ext cx="7643915" cy="845568"/>
            <a:chOff x="-81576" y="-43758"/>
            <a:chExt cx="2045797" cy="360000"/>
          </a:xfrm>
        </p:grpSpPr>
        <p:sp>
          <p:nvSpPr>
            <p:cNvPr id="152" name="Google Shape;15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3" name="Google Shape;153;p2"/>
            <p:cNvSpPr txBox="1"/>
            <p:nvPr/>
          </p:nvSpPr>
          <p:spPr>
            <a:xfrm>
              <a:off x="-81576" y="-43758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Estructuras Cíclicas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2"/>
          <p:cNvGrpSpPr/>
          <p:nvPr/>
        </p:nvGrpSpPr>
        <p:grpSpPr>
          <a:xfrm>
            <a:off x="176625" y="7381303"/>
            <a:ext cx="7356155" cy="845568"/>
            <a:chOff x="0" y="-62640"/>
            <a:chExt cx="1968782" cy="360000"/>
          </a:xfrm>
        </p:grpSpPr>
        <p:sp>
          <p:nvSpPr>
            <p:cNvPr id="155" name="Google Shape;15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6" name="Google Shape;156;p2"/>
            <p:cNvSpPr txBox="1"/>
            <p:nvPr/>
          </p:nvSpPr>
          <p:spPr>
            <a:xfrm>
              <a:off x="118982" y="-6264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399"/>
                <a:t>Manipulación de Cadenas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2"/>
          <p:cNvGrpSpPr/>
          <p:nvPr/>
        </p:nvGrpSpPr>
        <p:grpSpPr>
          <a:xfrm>
            <a:off x="176625" y="8483000"/>
            <a:ext cx="7722088" cy="845568"/>
            <a:chOff x="0" y="-46365"/>
            <a:chExt cx="2066719" cy="360000"/>
          </a:xfrm>
        </p:grpSpPr>
        <p:sp>
          <p:nvSpPr>
            <p:cNvPr id="158" name="Google Shape;15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9" name="Google Shape;159;p2"/>
            <p:cNvSpPr txBox="1"/>
            <p:nvPr/>
          </p:nvSpPr>
          <p:spPr>
            <a:xfrm>
              <a:off x="102619" y="-46365"/>
              <a:ext cx="1964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199"/>
                <a:t>Software de Pseudocódigo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/>
        </p:nvSpPr>
        <p:spPr>
          <a:xfrm>
            <a:off x="1492889" y="201153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1492900" y="2950250"/>
            <a:ext cx="11755200" cy="25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Diseña algoritmos utilizando instrucciones, estructuras condicionales, tipos de datos y palabras reservadas, aplicando principios del pensamiento algorítmico para la resolución eficiente de problemas complejos, con base en los niveles y características fundamentales de los algoritmos.</a:t>
            </a:r>
            <a:endParaRPr b="1" sz="24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4289300" y="5396600"/>
            <a:ext cx="12812700" cy="29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28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Desarrolla sistemas de codificación de información mediante la conversión entre sistemas numéricos y la aplicación de estándares de codificación, considerando tipos de datos primitivos para garantizar la representación eficiente y precisa de la información en sistemas computacionales.</a:t>
            </a:r>
            <a:endParaRPr b="1" sz="28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c59309f30_0_0"/>
          <p:cNvSpPr txBox="1"/>
          <p:nvPr>
            <p:ph type="ctrTitle"/>
          </p:nvPr>
        </p:nvSpPr>
        <p:spPr>
          <a:xfrm>
            <a:off x="3249324" y="672225"/>
            <a:ext cx="124710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</a:pPr>
            <a:r>
              <a:rPr lang="en-US"/>
              <a:t>Elementos de un Algoritmo</a:t>
            </a:r>
            <a:endParaRPr/>
          </a:p>
        </p:txBody>
      </p:sp>
      <p:sp>
        <p:nvSpPr>
          <p:cNvPr id="176" name="Google Shape;176;g35c59309f30_0_0"/>
          <p:cNvSpPr txBox="1"/>
          <p:nvPr/>
        </p:nvSpPr>
        <p:spPr>
          <a:xfrm>
            <a:off x="1454000" y="2706750"/>
            <a:ext cx="10599300" cy="53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32500"/>
          </a:bodyPr>
          <a:lstStyle/>
          <a:p>
            <a:pPr indent="-442608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Todo algoritmo consta de tres elementos esenciales: Entradas, que son los datos iniciales; Procesamiento, que se refiere a las operaciones o decisiones tomadas; y Salidas, que son los resultados obtenidos tras la ejecución del algoritmo. Las decisiones y ciclos también son fundamentales.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c59309f30_0_157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</a:pPr>
            <a:r>
              <a:rPr lang="en-US"/>
              <a:t>Estructuras Secuenciales</a:t>
            </a:r>
            <a:endParaRPr/>
          </a:p>
        </p:txBody>
      </p:sp>
      <p:sp>
        <p:nvSpPr>
          <p:cNvPr id="182" name="Google Shape;182;g35c59309f30_0_157"/>
          <p:cNvSpPr txBox="1"/>
          <p:nvPr/>
        </p:nvSpPr>
        <p:spPr>
          <a:xfrm>
            <a:off x="1719750" y="3486600"/>
            <a:ext cx="7513800" cy="3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/>
          </a:bodyPr>
          <a:lstStyle/>
          <a:p>
            <a:pPr indent="-39323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Las estructuras secuenciales ejecutan instrucciones en orden, una tras otra, sin condiciones ni repeticiones. Un ejemplo cotidiano es seguir una receta de cocina paso a paso, donde cada instrucción necesita ser realizada en secuencia para obtener el resultado final.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c59309f30_0_151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</a:pPr>
            <a:r>
              <a:rPr lang="en-US"/>
              <a:t>Estructuras Cíclicas</a:t>
            </a:r>
            <a:endParaRPr/>
          </a:p>
        </p:txBody>
      </p:sp>
      <p:sp>
        <p:nvSpPr>
          <p:cNvPr id="188" name="Google Shape;188;g35c59309f30_0_151"/>
          <p:cNvSpPr txBox="1"/>
          <p:nvPr/>
        </p:nvSpPr>
        <p:spPr>
          <a:xfrm>
            <a:off x="1345550" y="3174475"/>
            <a:ext cx="91893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32500" lnSpcReduction="10000"/>
          </a:bodyPr>
          <a:lstStyle/>
          <a:p>
            <a:pPr indent="-44258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Las estructuras cíclicas permiten repetir instrucciones mientras se cumpla una condición. Existen varios tipos, como 'mientras' (while), 'para' (for) y 'repetir hasta' (do-while), que son útiles para automatizar tareas repetitivas, ahorrando tiempo y esfuerzo en procesos.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c59309f30_0_133"/>
          <p:cNvSpPr txBox="1"/>
          <p:nvPr>
            <p:ph type="ctrTitle"/>
          </p:nvPr>
        </p:nvSpPr>
        <p:spPr>
          <a:xfrm>
            <a:off x="1113150" y="4063225"/>
            <a:ext cx="160617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</a:pPr>
            <a:r>
              <a:rPr lang="en-US"/>
              <a:t>Reconocimiento de patrones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c59309f30_0_163"/>
          <p:cNvSpPr txBox="1"/>
          <p:nvPr>
            <p:ph type="ctrTitle"/>
          </p:nvPr>
        </p:nvSpPr>
        <p:spPr>
          <a:xfrm>
            <a:off x="1113150" y="1801325"/>
            <a:ext cx="160617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6640"/>
              <a:t>Definición de Manipulación de Cadenas</a:t>
            </a:r>
            <a:endParaRPr sz="6640"/>
          </a:p>
        </p:txBody>
      </p:sp>
      <p:sp>
        <p:nvSpPr>
          <p:cNvPr id="199" name="Google Shape;199;g35c59309f30_0_163"/>
          <p:cNvSpPr txBox="1"/>
          <p:nvPr/>
        </p:nvSpPr>
        <p:spPr>
          <a:xfrm>
            <a:off x="7080125" y="3775725"/>
            <a:ext cx="10302300" cy="40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lang="en-US" sz="3250">
                <a:latin typeface="Roboto"/>
                <a:ea typeface="Roboto"/>
                <a:cs typeface="Roboto"/>
                <a:sym typeface="Roboto"/>
              </a:rPr>
              <a:t>La manipulación de cadenas se refiere a las técnicas utilizadas para modificar, ajustar y manejar secuencias de caracteres. Estas operaciones son esenciales para el tratamiento de datos textuales en aplicaciones de software.</a:t>
            </a:r>
            <a:endParaRPr b="0" i="0" sz="3250" u="none" cap="none" strike="noStrike">
              <a:solidFill>
                <a:srgbClr val="AF7B5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5c59309f30_0_139"/>
          <p:cNvSpPr txBox="1"/>
          <p:nvPr>
            <p:ph type="ctrTitle"/>
          </p:nvPr>
        </p:nvSpPr>
        <p:spPr>
          <a:xfrm>
            <a:off x="1113150" y="933750"/>
            <a:ext cx="160617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</a:pPr>
            <a:r>
              <a:rPr lang="en-US"/>
              <a:t>Operaciones Comunes</a:t>
            </a:r>
            <a:endParaRPr/>
          </a:p>
        </p:txBody>
      </p:sp>
      <p:sp>
        <p:nvSpPr>
          <p:cNvPr id="205" name="Google Shape;205;g35c59309f30_0_139"/>
          <p:cNvSpPr txBox="1"/>
          <p:nvPr/>
        </p:nvSpPr>
        <p:spPr>
          <a:xfrm>
            <a:off x="1454000" y="2706750"/>
            <a:ext cx="6834600" cy="46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325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Las operaciones comunes en la manipulación de cadenas incluyen: concatenar, dividir, buscar y reemplazar. Estas técnicas permiten construir, modificar y consultar secuencias de texto de manera eficiente.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c59309f30_0_145"/>
          <p:cNvSpPr txBox="1"/>
          <p:nvPr>
            <p:ph type="ctrTitle"/>
          </p:nvPr>
        </p:nvSpPr>
        <p:spPr>
          <a:xfrm>
            <a:off x="1113150" y="1181650"/>
            <a:ext cx="160617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44"/>
              <a:buNone/>
            </a:pPr>
            <a:r>
              <a:rPr lang="en-US"/>
              <a:t>Ventajas de las Cadenas</a:t>
            </a:r>
            <a:endParaRPr/>
          </a:p>
        </p:txBody>
      </p:sp>
      <p:sp>
        <p:nvSpPr>
          <p:cNvPr id="211" name="Google Shape;211;g35c59309f30_0_145"/>
          <p:cNvSpPr txBox="1"/>
          <p:nvPr/>
        </p:nvSpPr>
        <p:spPr>
          <a:xfrm>
            <a:off x="1190625" y="3233475"/>
            <a:ext cx="7887900" cy="4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325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Las cadenas son útiles para procesar datos como nombres, correos y textos completos. La correcta manipulación de cadenas permite organizar y presentar información de manera coherente y comprensible.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c59309f30_1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Desventajas de las Cadenas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7" name="Google Shape;217;g35c59309f30_1_0"/>
          <p:cNvSpPr/>
          <p:nvPr/>
        </p:nvSpPr>
        <p:spPr>
          <a:xfrm>
            <a:off x="1481175" y="2769600"/>
            <a:ext cx="7380600" cy="47478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latin typeface="Roboto"/>
                <a:ea typeface="Roboto"/>
                <a:cs typeface="Roboto"/>
                <a:sym typeface="Roboto"/>
              </a:rPr>
              <a:t>Aunque útiles, las cadenas pueden consumir mucha memoria si no se manejan adecuadamente. Un mal uso de las operaciones de cadena puede llevar a ineficiencias en el rendimiento de la aplicación.</a:t>
            </a:r>
            <a:endParaRPr b="0" i="0" sz="2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Software para Pseudocódigo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1472450" y="2419800"/>
            <a:ext cx="7884900" cy="46914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latin typeface="Roboto"/>
                <a:ea typeface="Roboto"/>
                <a:cs typeface="Roboto"/>
                <a:sym typeface="Roboto"/>
              </a:rPr>
              <a:t>Existen herramientas diseñadas para escribir algoritmos sin necesidad de un lenguaje de programación específico, lo cual es ideal para principiantes. Estas herramientas permiten entender la lógica de forma sencilla y visual.</a:t>
            </a:r>
            <a:endParaRPr b="0" i="0" sz="2700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c6407c718_1_32"/>
          <p:cNvSpPr txBox="1"/>
          <p:nvPr>
            <p:ph type="ctrTitle"/>
          </p:nvPr>
        </p:nvSpPr>
        <p:spPr>
          <a:xfrm>
            <a:off x="1113150" y="1181650"/>
            <a:ext cx="160617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44"/>
              <a:buNone/>
            </a:pPr>
            <a:r>
              <a:rPr lang="en-US"/>
              <a:t>Ejemplos de Herramientas</a:t>
            </a:r>
            <a:endParaRPr/>
          </a:p>
        </p:txBody>
      </p:sp>
      <p:sp>
        <p:nvSpPr>
          <p:cNvPr id="229" name="Google Shape;229;g35c6407c718_1_32"/>
          <p:cNvSpPr txBox="1"/>
          <p:nvPr/>
        </p:nvSpPr>
        <p:spPr>
          <a:xfrm>
            <a:off x="1190625" y="3233475"/>
            <a:ext cx="7887900" cy="4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325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Herramientas como PSeInt, Visualg y Raptor permiten crear diagramas de flujo y textos de pseudocódigo, haciendo el proceso más accesible. Estas aplicaciones son eficientes para el aprendizaje y la enseñanza.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c6407c718_1_39"/>
          <p:cNvSpPr txBox="1"/>
          <p:nvPr>
            <p:ph type="ctrTitle"/>
          </p:nvPr>
        </p:nvSpPr>
        <p:spPr>
          <a:xfrm>
            <a:off x="1113150" y="1181650"/>
            <a:ext cx="160617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44"/>
              <a:buNone/>
            </a:pPr>
            <a:r>
              <a:rPr lang="en-US"/>
              <a:t>Resumen de Contenido</a:t>
            </a:r>
            <a:endParaRPr/>
          </a:p>
        </p:txBody>
      </p:sp>
      <p:sp>
        <p:nvSpPr>
          <p:cNvPr id="235" name="Google Shape;235;g35c6407c718_1_39"/>
          <p:cNvSpPr txBox="1"/>
          <p:nvPr/>
        </p:nvSpPr>
        <p:spPr>
          <a:xfrm>
            <a:off x="1190625" y="3233475"/>
            <a:ext cx="7887900" cy="4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3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Los algoritmos combinan estructuras secuenciales y cíclicas, junto con la manipulación de cadenas para procesar datos. Las herramientas de pseudocódigo son fundamentales para diseñar y entender algoritmos antes de la implementación final.</a:t>
            </a:r>
            <a:endParaRPr b="0" i="0" sz="1036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5c6407c718_0_10"/>
          <p:cNvSpPr txBox="1"/>
          <p:nvPr/>
        </p:nvSpPr>
        <p:spPr>
          <a:xfrm>
            <a:off x="940775" y="1465175"/>
            <a:ext cx="16594800" cy="6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US" sz="4250">
                <a:solidFill>
                  <a:srgbClr val="333333"/>
                </a:solidFill>
                <a:highlight>
                  <a:srgbClr val="FFFFFF"/>
                </a:highlight>
              </a:rPr>
              <a:t>CONCEPTOS CLAVE APRENDIDOS</a:t>
            </a:r>
            <a:endParaRPr b="1" sz="42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67EEA"/>
                </a:solidFill>
                <a:highlight>
                  <a:srgbClr val="FFFFFF"/>
                </a:highlight>
              </a:rPr>
              <a:t>🎯 Precisión</a:t>
            </a:r>
            <a:endParaRPr b="1" sz="1100">
              <a:solidFill>
                <a:srgbClr val="667EEA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Los algoritmos deben ser exactos y no ambiguos en cada paso.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67EEA"/>
                </a:solidFill>
                <a:highlight>
                  <a:srgbClr val="FFFFFF"/>
                </a:highlight>
              </a:rPr>
              <a:t>🔄 Finitud</a:t>
            </a:r>
            <a:endParaRPr b="1" sz="1100">
              <a:solidFill>
                <a:srgbClr val="667EEA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Todo algoritmo debe terminar después de un número finito de pasos.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67EEA"/>
                </a:solidFill>
                <a:highlight>
                  <a:srgbClr val="FFFFFF"/>
                </a:highlight>
              </a:rPr>
              <a:t>📥 Entrada y Salida</a:t>
            </a:r>
            <a:endParaRPr b="1" sz="1100">
              <a:solidFill>
                <a:srgbClr val="667EEA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Los algoritmos procesan datos de entrada para generar resultados específicos.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67EEA"/>
                </a:solidFill>
                <a:highlight>
                  <a:srgbClr val="FFFFFF"/>
                </a:highlight>
              </a:rPr>
              <a:t>🔀 Estructuras de Control</a:t>
            </a:r>
            <a:endParaRPr b="1" sz="1100">
              <a:solidFill>
                <a:srgbClr val="667EEA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Secuenciales (paso a paso), condicionales (decisiones), cíclicas (repetición).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67EEA"/>
                </a:solidFill>
                <a:highlight>
                  <a:srgbClr val="FFFFFF"/>
                </a:highlight>
              </a:rPr>
              <a:t>🔤 Manipulación de Cadenas</a:t>
            </a:r>
            <a:endParaRPr b="1" sz="1100">
              <a:solidFill>
                <a:srgbClr val="667EEA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Operaciones como concatenación, búsqueda, extracción de subcadenas.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67EEA"/>
                </a:solidFill>
                <a:highlight>
                  <a:srgbClr val="FFFFFF"/>
                </a:highlight>
              </a:rPr>
              <a:t>⚡ Eficiencia</a:t>
            </a:r>
            <a:endParaRPr b="1" sz="1100">
              <a:solidFill>
                <a:srgbClr val="667EEA"/>
              </a:solidFill>
              <a:highlight>
                <a:srgbClr val="FFFFFF"/>
              </a:highlight>
            </a:endParaRPr>
          </a:p>
          <a:p>
            <a:pPr indent="0" lvl="0" marL="241300" marR="241300" rtl="0" algn="ctr">
              <a:lnSpc>
                <a:spcPct val="115000"/>
              </a:lnSpc>
              <a:spcBef>
                <a:spcPts val="2300"/>
              </a:spcBef>
              <a:spcAft>
                <a:spcPts val="2300"/>
              </a:spcAft>
              <a:buNone/>
            </a:pPr>
            <a:r>
              <a:rPr lang="en-US" sz="1100">
                <a:solidFill>
                  <a:srgbClr val="333333"/>
                </a:solidFill>
                <a:highlight>
                  <a:srgbClr val="FFFFFF"/>
                </a:highlight>
              </a:rPr>
              <a:t>Los algoritmos deben optimizar tiempo y recursos computacionales.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1025000" y="2718725"/>
            <a:ext cx="15951600" cy="52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-"/>
            </a:pPr>
            <a:r>
              <a:rPr b="0" i="0" lang="en-US" sz="3151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https://www.educo.org/blog/como-aplicar-el-pensamiento-computacional-aula</a:t>
            </a:r>
            <a:b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-US" sz="3151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https://descargas.intef.es/recursos_educativos/ODES_SGOA/Primaria/Descifrando_el_codigo_con_Ada/abstraccin.html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-"/>
            </a:pPr>
            <a:r>
              <a:rPr b="0" i="0" lang="en-US" sz="3151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https://es.wikipedia.org/wiki/Pensamiento_computacional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-"/>
            </a:pPr>
            <a:r>
              <a:rPr b="0" i="0" lang="en-US" sz="3151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https://www.gurisesunidos.org.uy/wp-content/uploads/2017/11/PensamientoComputacional.pdf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