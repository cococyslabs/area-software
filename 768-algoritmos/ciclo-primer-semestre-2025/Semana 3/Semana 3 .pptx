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Lobster"/>
      <p:regular r:id="rId24"/>
    </p:embeddedFont>
    <p:embeddedFont>
      <p:font typeface="Pacifico"/>
      <p:regular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huYuC/pkldcUMtrauBqjglAKi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obs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Pacifico-regular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30f92339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630f9233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30f923390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630f9233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30f92339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630f9233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30f923390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630f92339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30f92339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630f923390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30f923390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630f92339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30f92339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630f923390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30f923390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630f92339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30f923390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630f92339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30f923390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630f92339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297" y="6855000"/>
            <a:ext cx="1161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los algoritmos y flujo de datos 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813075" y="2246050"/>
            <a:ext cx="12484500" cy="5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y organización VNA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t/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381125" y="3429000"/>
            <a:ext cx="6311602" cy="845568"/>
            <a:chOff x="-1" y="-76201"/>
            <a:chExt cx="2135400" cy="36000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-1" y="-76201"/>
              <a:ext cx="2135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Software de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1083154" y="364896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9736200" y="4141912"/>
            <a:ext cx="7282974" cy="4024925"/>
            <a:chOff x="-535121" y="0"/>
            <a:chExt cx="1945135" cy="342477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-535121" y="77277"/>
              <a:ext cx="19284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3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https://drive.google.com/file/d/17E9tjvg_ySjHO5ApW0AQHUFWAtVFvPle/view?usp=sharing</a:t>
              </a:r>
              <a:endParaRPr b="0" i="0" sz="3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381125" y="4352825"/>
            <a:ext cx="6311249" cy="845568"/>
            <a:chOff x="0" y="-76201"/>
            <a:chExt cx="2420700" cy="36000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76201"/>
              <a:ext cx="2420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Software de Aplicación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381126" y="5334400"/>
            <a:ext cx="5665372" cy="845568"/>
            <a:chOff x="0" y="-76199"/>
            <a:chExt cx="2027474" cy="3600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413474" y="-76199"/>
              <a:ext cx="1614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Software de Programación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381126" y="6257975"/>
            <a:ext cx="5882451" cy="845568"/>
            <a:chOff x="0" y="-76201"/>
            <a:chExt cx="2039473" cy="3600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400573" y="-76201"/>
              <a:ext cx="1638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Aplicaciones de control de calidad y seguridad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381119" y="7321440"/>
            <a:ext cx="4613562" cy="845387"/>
            <a:chOff x="0" y="-76200"/>
            <a:chExt cx="1964221" cy="359923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Firmware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1083154" y="453180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2"/>
          <p:cNvSpPr/>
          <p:nvPr/>
        </p:nvSpPr>
        <p:spPr>
          <a:xfrm>
            <a:off x="1083154" y="551337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>
            <a:off x="1083154" y="651316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1083154" y="751406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 txBox="1"/>
          <p:nvPr/>
        </p:nvSpPr>
        <p:spPr>
          <a:xfrm>
            <a:off x="7087316" y="6295138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0373400" y="4499050"/>
            <a:ext cx="631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de la semana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2380289" y="72618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3439044" y="3061350"/>
            <a:ext cx="11409900" cy="4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4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 la arquitectura y organización de una computadora mediante el estudio de sus componentes de hardware para comprender el funcionamiento integral de un sistema.</a:t>
            </a:r>
            <a:endParaRPr b="0" i="0" sz="35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/>
        </p:nvSpPr>
        <p:spPr>
          <a:xfrm>
            <a:off x="1345053" y="2493025"/>
            <a:ext cx="155979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conjunto de programas que permite el funcionamiento del hardware y sirve de base para que el resto del software pueda ejecutarse. Su objetivo principal es gestionar los recursos del sistema y facilitar la interacción entre el usuario y la máquina.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374889" y="654364"/>
            <a:ext cx="13991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Software de Sistema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4141311" y="6442453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1100" y="4987250"/>
            <a:ext cx="8572500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30f923390_0_9"/>
          <p:cNvSpPr txBox="1"/>
          <p:nvPr/>
        </p:nvSpPr>
        <p:spPr>
          <a:xfrm>
            <a:off x="1415650" y="802200"/>
            <a:ext cx="8336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Operativos:</a:t>
            </a:r>
            <a:endParaRPr b="1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30f923390_0_9"/>
          <p:cNvSpPr txBox="1"/>
          <p:nvPr/>
        </p:nvSpPr>
        <p:spPr>
          <a:xfrm>
            <a:off x="1038125" y="2563850"/>
            <a:ext cx="8179200" cy="55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la interfaz entre el usuario y el hardware. Controlan los dispositivos físicos y permiten ejecutar aplicaciones. Ejemplos: Windows, Linux, macOS, Android.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Funciones: administración de procesos, memoria, dispositivos de entrada/salida, sistema de archivos.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630f923390_0_9"/>
          <p:cNvSpPr txBox="1"/>
          <p:nvPr/>
        </p:nvSpPr>
        <p:spPr>
          <a:xfrm>
            <a:off x="9951600" y="802200"/>
            <a:ext cx="8336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Hipervisores:</a:t>
            </a:r>
            <a:endParaRPr b="1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30f923390_0_9"/>
          <p:cNvSpPr txBox="1"/>
          <p:nvPr/>
        </p:nvSpPr>
        <p:spPr>
          <a:xfrm>
            <a:off x="9406000" y="2092025"/>
            <a:ext cx="7676100" cy="6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que permite ejecutar múltiples sistemas operativos como máquinas virtuales en un solo equipo físico.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Tipos: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Tipo 1: Se ejecuta directamente sobre el hardware (Ej. VMware ESXi, Microsoft Hyper-V).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2: Se ejecuta sobre un sistema operativo (Ej. VirtualBox, VMware Workstation).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30f923390_0_19"/>
          <p:cNvSpPr txBox="1"/>
          <p:nvPr/>
        </p:nvSpPr>
        <p:spPr>
          <a:xfrm>
            <a:off x="2406600" y="896575"/>
            <a:ext cx="11639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Utilitarios (Utilities)</a:t>
            </a:r>
            <a:endParaRPr b="1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630f923390_0_19"/>
          <p:cNvSpPr txBox="1"/>
          <p:nvPr/>
        </p:nvSpPr>
        <p:spPr>
          <a:xfrm>
            <a:off x="2406600" y="2092025"/>
            <a:ext cx="14030700" cy="21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Programas diseñados para realizar tareas específicas de mantenimiento y diagnóstico del sistema, como análisis de disco, antivirus, compresores de archivos, herramientas de copia de seguridad, etc.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630f923390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475" y="3896025"/>
            <a:ext cx="9698950" cy="48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30f923390_0_27"/>
          <p:cNvSpPr txBox="1"/>
          <p:nvPr/>
        </p:nvSpPr>
        <p:spPr>
          <a:xfrm>
            <a:off x="1620125" y="644900"/>
            <a:ext cx="96420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DE APLICACIÓN</a:t>
            </a:r>
            <a:endParaRPr b="1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630f923390_0_27"/>
          <p:cNvSpPr txBox="1"/>
          <p:nvPr/>
        </p:nvSpPr>
        <p:spPr>
          <a:xfrm>
            <a:off x="1730225" y="1918975"/>
            <a:ext cx="152259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programas diseñados para realizar tareas específicas que permiten al usuario interactuar con el sistema y resolver problemas concretos, generalmente de tipo personal, profesional o empresarial.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630f923390_0_27"/>
          <p:cNvSpPr txBox="1"/>
          <p:nvPr/>
        </p:nvSpPr>
        <p:spPr>
          <a:xfrm>
            <a:off x="1840350" y="4404100"/>
            <a:ext cx="83994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ERP ERP (Enterprise Resource Planning)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630f923390_0_27"/>
          <p:cNvSpPr txBox="1"/>
          <p:nvPr/>
        </p:nvSpPr>
        <p:spPr>
          <a:xfrm>
            <a:off x="1840350" y="5379425"/>
            <a:ext cx="15115800" cy="27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que integran todos los procesos de una empresa (finanzas, recursos humanos, 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producción, logística, etc.) en una única plataforma.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Ejemplos: SAP, Oracle ERP, Microsoft Dynamics.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30f923390_0_34"/>
          <p:cNvSpPr txBox="1"/>
          <p:nvPr/>
        </p:nvSpPr>
        <p:spPr>
          <a:xfrm>
            <a:off x="1525750" y="943750"/>
            <a:ext cx="9107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 (Customer Relationship Management)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630f923390_0_34"/>
          <p:cNvSpPr txBox="1"/>
          <p:nvPr/>
        </p:nvSpPr>
        <p:spPr>
          <a:xfrm>
            <a:off x="1656750" y="1489450"/>
            <a:ext cx="14974500" cy="2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Aplicaciones para gestionar relaciones con clientes, seguimiento de ventas, marketing, soporte al cliente.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 Salesforce, HubSpot, Zoho CRM.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630f923390_0_34"/>
          <p:cNvSpPr txBox="1"/>
          <p:nvPr/>
        </p:nvSpPr>
        <p:spPr>
          <a:xfrm>
            <a:off x="1525750" y="3722950"/>
            <a:ext cx="9107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WMS (Warehouse Management System)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30f923390_0_34"/>
          <p:cNvSpPr txBox="1"/>
          <p:nvPr/>
        </p:nvSpPr>
        <p:spPr>
          <a:xfrm>
            <a:off x="1656750" y="4341300"/>
            <a:ext cx="14769900" cy="16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para controlar operaciones en almacenes, como inventarios, entradas/salidas de productos, logística interna.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30f923390_0_34"/>
          <p:cNvSpPr txBox="1"/>
          <p:nvPr/>
        </p:nvSpPr>
        <p:spPr>
          <a:xfrm>
            <a:off x="1656750" y="5945700"/>
            <a:ext cx="9107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Ofimático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630f923390_0_34"/>
          <p:cNvSpPr txBox="1"/>
          <p:nvPr/>
        </p:nvSpPr>
        <p:spPr>
          <a:xfrm>
            <a:off x="1656750" y="6564050"/>
            <a:ext cx="14769900" cy="16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Programas de productividad personal y empresarial como procesadores de texto, hojas de cálculo, presentaciones y gestores de correo.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 Microsoft Office (Word, Excel, PowerPoint), Google Workspace, LibreOffice.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30f923390_0_51"/>
          <p:cNvSpPr txBox="1"/>
          <p:nvPr/>
        </p:nvSpPr>
        <p:spPr>
          <a:xfrm>
            <a:off x="1345053" y="2493025"/>
            <a:ext cx="155979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que permiten a los desarrolladores escribir, depurar y mantener el software. Este tipo de software se usa para crear otros programas.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630f923390_0_51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Software de Programación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4" name="Google Shape;174;g3630f923390_0_51"/>
          <p:cNvSpPr txBox="1"/>
          <p:nvPr/>
        </p:nvSpPr>
        <p:spPr>
          <a:xfrm>
            <a:off x="14141311" y="6442453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g3630f923390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0" y="4284025"/>
            <a:ext cx="10287000" cy="53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30f923390_0_48"/>
          <p:cNvSpPr txBox="1"/>
          <p:nvPr/>
        </p:nvSpPr>
        <p:spPr>
          <a:xfrm>
            <a:off x="1163975" y="1053875"/>
            <a:ext cx="62130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de Programación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630f923390_0_48"/>
          <p:cNvSpPr txBox="1"/>
          <p:nvPr/>
        </p:nvSpPr>
        <p:spPr>
          <a:xfrm>
            <a:off x="1242625" y="1675225"/>
            <a:ext cx="8022000" cy="3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Conjuntos de reglas y sintaxis usados para escribir programas.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Ejemplos: Python (scripting y automatización), Java (aplicaciones empresariales), C++ (software de alto rendimiento), JavaScript (web).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30f923390_0_48"/>
          <p:cNvSpPr txBox="1"/>
          <p:nvPr/>
        </p:nvSpPr>
        <p:spPr>
          <a:xfrm>
            <a:off x="10003925" y="1053875"/>
            <a:ext cx="62130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Clasificación de Lenguajes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630f923390_0_48"/>
          <p:cNvSpPr txBox="1"/>
          <p:nvPr/>
        </p:nvSpPr>
        <p:spPr>
          <a:xfrm>
            <a:off x="9642150" y="1777425"/>
            <a:ext cx="8415000" cy="6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de bajo nivel: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Más cercanos al hardware, como el lenguaje ensamblador.</a:t>
            </a:r>
            <a:b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de alto nivel: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Más cercanos al lenguaje humano, más fáciles de aprender (Python, Java).</a:t>
            </a:r>
            <a:b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compilados: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Necesitan ser traducidos antes de ejecutarse (C, C++).</a:t>
            </a:r>
            <a:b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interpretados: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ejecutan línea por línea (Python, JavaScript).</a:t>
            </a:r>
            <a:b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630f923390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425" y="4823732"/>
            <a:ext cx="8184201" cy="4555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30f923390_0_69"/>
          <p:cNvSpPr txBox="1"/>
          <p:nvPr/>
        </p:nvSpPr>
        <p:spPr>
          <a:xfrm>
            <a:off x="1345053" y="2980625"/>
            <a:ext cx="155979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Programas diseñados para garantizar que los productos de software cumplan con estándares de calidad y normas de seguridad. Ayudan a prevenir errores, vulnerabilidades y asegurar la fiabilidad del sistema.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630f923390_0_69"/>
          <p:cNvSpPr txBox="1"/>
          <p:nvPr/>
        </p:nvSpPr>
        <p:spPr>
          <a:xfrm>
            <a:off x="1374889" y="654364"/>
            <a:ext cx="139911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de Control de Calidad y Seguridad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1" name="Google Shape;191;g3630f923390_0_69"/>
          <p:cNvSpPr txBox="1"/>
          <p:nvPr/>
        </p:nvSpPr>
        <p:spPr>
          <a:xfrm>
            <a:off x="14141311" y="6442453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630f923390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550" y="4798525"/>
            <a:ext cx="8744197" cy="462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30f923390_0_79"/>
          <p:cNvSpPr txBox="1"/>
          <p:nvPr/>
        </p:nvSpPr>
        <p:spPr>
          <a:xfrm>
            <a:off x="1447100" y="1179700"/>
            <a:ext cx="60558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Normativas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630f923390_0_79"/>
          <p:cNvSpPr txBox="1"/>
          <p:nvPr/>
        </p:nvSpPr>
        <p:spPr>
          <a:xfrm>
            <a:off x="1447100" y="1918975"/>
            <a:ext cx="6653400" cy="42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 o guías establecidas por organizaciones para asegurar la calidad del software y la protección de datos.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Ejemplos: ISO 9001 (gestión de calidad), ISO/IEC 25010 (calidad del software).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630f923390_0_79"/>
          <p:cNvSpPr txBox="1"/>
          <p:nvPr/>
        </p:nvSpPr>
        <p:spPr>
          <a:xfrm>
            <a:off x="9401250" y="1363550"/>
            <a:ext cx="60558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Estándares Internacionales: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30f923390_0_79"/>
          <p:cNvSpPr txBox="1"/>
          <p:nvPr/>
        </p:nvSpPr>
        <p:spPr>
          <a:xfrm>
            <a:off x="8960825" y="2071375"/>
            <a:ext cx="8514600" cy="7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Documentos acordados globalmente que aseguran la interoperabilidad, seguridad y calidad del software.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ISO/IEC 27001: Gestión de la seguridad de la información.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OWASP Top 10: Principales vulnerabilidades de seguridad en aplicaciones web.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829: Estándar para documentación de pruebas.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630f923390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1713" y="6197275"/>
            <a:ext cx="5046568" cy="378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30f923390_0_89"/>
          <p:cNvSpPr txBox="1"/>
          <p:nvPr/>
        </p:nvSpPr>
        <p:spPr>
          <a:xfrm>
            <a:off x="1462825" y="692100"/>
            <a:ext cx="57099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Firmware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30f923390_0_89"/>
          <p:cNvSpPr txBox="1"/>
          <p:nvPr/>
        </p:nvSpPr>
        <p:spPr>
          <a:xfrm>
            <a:off x="1321275" y="2139200"/>
            <a:ext cx="15194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tipo de software especializado que está embebido directamente en el hardware. Controla funciones básicas y críticas del dispositivo, como el arranque, la comunicación con otros dispositivos y el control de sensores.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630f923390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163" y="3775100"/>
            <a:ext cx="8883675" cy="569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30f923390_0_96"/>
          <p:cNvSpPr txBox="1"/>
          <p:nvPr/>
        </p:nvSpPr>
        <p:spPr>
          <a:xfrm>
            <a:off x="1651575" y="1761700"/>
            <a:ext cx="14864400" cy="6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Programación a Bajo Nivel: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escribe en lenguajes como ensamblador o C. El firmware suele estar almacenado en memoria no volátil (ROM, EEPROM, Flash).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del Hardware: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intermediario entre los componentes físicos y los sistemas operativos.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 BIOS en computadoras, firmware de routers, impresoras, microcontroladores.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actualización del firmware puede mejorar el rendimiento, corregir errores o agregar nuevas funciones al hardware.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1588650" y="2422325"/>
            <a:ext cx="6590700" cy="27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 Sistema: Esencial para gestionar el hardware; incluye sistemas operativos, hipervisores y utilitarios. Permite la comunicación entre el usuario y la máquina.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8887100" y="2406575"/>
            <a:ext cx="80064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 Aplicación: Diseñado para tareas específicas del usuario, como ERP, CRM, WMS y software ofimático (Word, Excel, etc.).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6338925" y="6055800"/>
            <a:ext cx="61974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 Programación: Herramientas como lenguajes, IDEs, compiladores e intérpretes, usadas por los desarrolladores para crear software.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1478093" y="3542700"/>
            <a:ext cx="14894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precisión profesional es la capacidad de actuar con exactitud, claridad y responsabilidad al aplicar conocimientos técnicos. En el campo de la informática y la ingeniería en sistemas, implica realizar tareas de programación, configuración de sistemas, implementación de software y documentación técnica con un alto nivel de detalle y sin margen para errores innecesarios.		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4252781" y="6573512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4592975" y="3051500"/>
            <a:ext cx="9815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Silberschatz, A., Galvin, P. B., &amp; Gagne, G. (2020). Operating System Concepts. Wiley.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Sommerville, I. (2011). Ingeniería de Software. Pearson Educación.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ISO/IEC 25010, ISO/IEC 27001 – Estándares internacionales de calidad y seguridad de software.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