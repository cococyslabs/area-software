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10287000" cx="18288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Nunito"/>
      <p:regular r:id="rId24"/>
      <p:bold r:id="rId25"/>
      <p:italic r:id="rId26"/>
      <p:boldItalic r:id="rId27"/>
    </p:embeddedFont>
    <p:embeddedFont>
      <p:font typeface="Lobster"/>
      <p:regular r:id="rId28"/>
    </p:embeddedFont>
    <p:embeddedFont>
      <p:font typeface="Pacifico"/>
      <p:regular r:id="rId29"/>
    </p:embeddedFont>
    <p:embeddedFont>
      <p:font typeface="Open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g8tlY2P5EFEgwO8gO+P8r+/dwCt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COCOCYS ECYS"/>
  <p:cmAuthor clrIdx="1" id="1" initials="" lastIdx="1" name="Computación COCOCY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Nunito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font" Target="fonts/Nunito-italic.fntdata"/><Relationship Id="rId25" Type="http://schemas.openxmlformats.org/officeDocument/2006/relationships/font" Target="fonts/Nunito-bold.fntdata"/><Relationship Id="rId28" Type="http://schemas.openxmlformats.org/officeDocument/2006/relationships/font" Target="fonts/Lobster-regular.fntdata"/><Relationship Id="rId27" Type="http://schemas.openxmlformats.org/officeDocument/2006/relationships/font" Target="fonts/Nuni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acific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bold.fntdata"/><Relationship Id="rId30" Type="http://schemas.openxmlformats.org/officeDocument/2006/relationships/font" Target="fonts/OpenSans-regular.fntdata"/><Relationship Id="rId11" Type="http://schemas.openxmlformats.org/officeDocument/2006/relationships/slide" Target="slides/slide5.xml"/><Relationship Id="rId33" Type="http://schemas.openxmlformats.org/officeDocument/2006/relationships/font" Target="fonts/OpenSans-boldItalic.fntdata"/><Relationship Id="rId10" Type="http://schemas.openxmlformats.org/officeDocument/2006/relationships/slide" Target="slides/slide4.xml"/><Relationship Id="rId32" Type="http://schemas.openxmlformats.org/officeDocument/2006/relationships/font" Target="fonts/OpenSa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5-23T05:44:43.461">
    <p:pos x="6000" y="0"/>
    <p:text>Hola, gracias por avanzar en ese sentido favor agregar algunas imagenes a la presentacion ya que tiene unicamente texto.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j_65YG4"/>
      </p:ext>
    </p:extLst>
  </p:cm>
  <p:cm authorId="1" idx="1" dt="2025-05-23T05:44:43.461">
    <p:pos x="6000" y="0"/>
    <p:text>por nada, ya le he agregado algunas imágenes</p:text>
    <p:extLst>
      <p:ext uri="{C676402C-5697-4E1C-873F-D02D1690AC5C}">
        <p15:threadingInfo timeZoneBias="0">
          <p15:parentCm authorId="0" idx="1"/>
        </p15:threadingInfo>
      </p:ext>
      <p:ext uri="http://customooxmlschemas.google.com/">
        <go:slidesCustomData xmlns:go="http://customooxmlschemas.google.com/" commentPostId="AAABkBpuf8g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5c4bec6024_1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5c4bec6024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5c4bec6024_1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5c4bec6024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5c4bec6024_1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5c4bec6024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5c4bec6024_1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5c4bec6024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5c4bec6024_1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5c4bec6024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5c4bec6024_0_670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g35c4bec6024_0_670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g35c4bec6024_0_670"/>
          <p:cNvSpPr/>
          <p:nvPr/>
        </p:nvSpPr>
        <p:spPr>
          <a:xfrm rot="10800000">
            <a:off x="10117809" y="0"/>
            <a:ext cx="8170200" cy="41052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g35c4bec6024_0_670"/>
          <p:cNvSpPr/>
          <p:nvPr/>
        </p:nvSpPr>
        <p:spPr>
          <a:xfrm>
            <a:off x="4065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g35c4bec6024_0_670"/>
          <p:cNvGrpSpPr/>
          <p:nvPr/>
        </p:nvGrpSpPr>
        <p:grpSpPr>
          <a:xfrm>
            <a:off x="510401" y="1185"/>
            <a:ext cx="4500726" cy="2088600"/>
            <a:chOff x="255200" y="592"/>
            <a:chExt cx="2250363" cy="1044300"/>
          </a:xfrm>
        </p:grpSpPr>
        <p:sp>
          <p:nvSpPr>
            <p:cNvPr id="15" name="Google Shape;15;g35c4bec6024_0_670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g35c4bec6024_0_670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g35c4bec6024_0_670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g35c4bec6024_0_670"/>
          <p:cNvGrpSpPr/>
          <p:nvPr/>
        </p:nvGrpSpPr>
        <p:grpSpPr>
          <a:xfrm>
            <a:off x="1810790" y="1185"/>
            <a:ext cx="4500726" cy="2088600"/>
            <a:chOff x="905395" y="592"/>
            <a:chExt cx="2250363" cy="1044300"/>
          </a:xfrm>
        </p:grpSpPr>
        <p:sp>
          <p:nvSpPr>
            <p:cNvPr id="19" name="Google Shape;19;g35c4bec6024_0_670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g35c4bec6024_0_670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g35c4bec6024_0_670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g35c4bec6024_0_670"/>
          <p:cNvGrpSpPr/>
          <p:nvPr/>
        </p:nvGrpSpPr>
        <p:grpSpPr>
          <a:xfrm>
            <a:off x="14114936" y="10177"/>
            <a:ext cx="3702565" cy="1504215"/>
            <a:chOff x="6917201" y="0"/>
            <a:chExt cx="2227777" cy="863400"/>
          </a:xfrm>
        </p:grpSpPr>
        <p:sp>
          <p:nvSpPr>
            <p:cNvPr id="23" name="Google Shape;23;g35c4bec6024_0_67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g35c4bec6024_0_67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g35c4bec6024_0_67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g35c4bec6024_0_670"/>
          <p:cNvGrpSpPr/>
          <p:nvPr/>
        </p:nvGrpSpPr>
        <p:grpSpPr>
          <a:xfrm>
            <a:off x="13106063" y="8435703"/>
            <a:ext cx="4778135" cy="1851475"/>
            <a:chOff x="6917201" y="0"/>
            <a:chExt cx="2227777" cy="863400"/>
          </a:xfrm>
        </p:grpSpPr>
        <p:sp>
          <p:nvSpPr>
            <p:cNvPr id="27" name="Google Shape;27;g35c4bec6024_0_67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g35c4bec6024_0_67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g35c4bec6024_0_67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g35c4bec6024_0_670"/>
          <p:cNvGrpSpPr/>
          <p:nvPr/>
        </p:nvGrpSpPr>
        <p:grpSpPr>
          <a:xfrm>
            <a:off x="398298" y="8111304"/>
            <a:ext cx="5590828" cy="2166616"/>
            <a:chOff x="6917201" y="0"/>
            <a:chExt cx="2227777" cy="863400"/>
          </a:xfrm>
        </p:grpSpPr>
        <p:sp>
          <p:nvSpPr>
            <p:cNvPr id="31" name="Google Shape;31;g35c4bec6024_0_67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g35c4bec6024_0_67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g35c4bec6024_0_67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g35c4bec6024_0_670"/>
          <p:cNvSpPr txBox="1"/>
          <p:nvPr>
            <p:ph type="ctrTitle"/>
          </p:nvPr>
        </p:nvSpPr>
        <p:spPr>
          <a:xfrm>
            <a:off x="3717406" y="3645666"/>
            <a:ext cx="10722600" cy="2896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1pPr>
            <a:lvl2pPr lvl="1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2pPr>
            <a:lvl3pPr lvl="2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3pPr>
            <a:lvl4pPr lvl="3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4pPr>
            <a:lvl5pPr lvl="4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5pPr>
            <a:lvl6pPr lvl="5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6pPr>
            <a:lvl7pPr lvl="6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7pPr>
            <a:lvl8pPr lvl="7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8pPr>
            <a:lvl9pPr lvl="8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9pPr>
          </a:lstStyle>
          <a:p/>
        </p:txBody>
      </p:sp>
      <p:sp>
        <p:nvSpPr>
          <p:cNvPr id="35" name="Google Shape;35;g35c4bec6024_0_670"/>
          <p:cNvSpPr txBox="1"/>
          <p:nvPr>
            <p:ph idx="1" type="subTitle"/>
          </p:nvPr>
        </p:nvSpPr>
        <p:spPr>
          <a:xfrm>
            <a:off x="3717400" y="6826316"/>
            <a:ext cx="10722600" cy="104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g35c4bec6024_0_670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5c4bec6024_0_698"/>
          <p:cNvSpPr/>
          <p:nvPr/>
        </p:nvSpPr>
        <p:spPr>
          <a:xfrm flipH="1">
            <a:off x="9514200" y="4618800"/>
            <a:ext cx="8773800" cy="5668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g35c4bec6024_0_698"/>
          <p:cNvGrpSpPr/>
          <p:nvPr/>
        </p:nvGrpSpPr>
        <p:grpSpPr>
          <a:xfrm>
            <a:off x="11188382" y="7922230"/>
            <a:ext cx="5820289" cy="2364680"/>
            <a:chOff x="6917201" y="0"/>
            <a:chExt cx="2227777" cy="863400"/>
          </a:xfrm>
        </p:grpSpPr>
        <p:sp>
          <p:nvSpPr>
            <p:cNvPr id="40" name="Google Shape;40;g35c4bec6024_0_69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g35c4bec6024_0_69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g35c4bec6024_0_69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g35c4bec6024_0_698"/>
          <p:cNvGrpSpPr/>
          <p:nvPr/>
        </p:nvGrpSpPr>
        <p:grpSpPr>
          <a:xfrm>
            <a:off x="398298" y="4"/>
            <a:ext cx="5590828" cy="2166616"/>
            <a:chOff x="6917201" y="0"/>
            <a:chExt cx="2227777" cy="863400"/>
          </a:xfrm>
        </p:grpSpPr>
        <p:sp>
          <p:nvSpPr>
            <p:cNvPr id="44" name="Google Shape;44;g35c4bec6024_0_69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g35c4bec6024_0_69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g35c4bec6024_0_69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g35c4bec6024_0_698"/>
          <p:cNvSpPr txBox="1"/>
          <p:nvPr>
            <p:ph type="title"/>
          </p:nvPr>
        </p:nvSpPr>
        <p:spPr>
          <a:xfrm>
            <a:off x="3777368" y="3492200"/>
            <a:ext cx="10755000" cy="3292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g35c4bec6024_0_698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5c4bec6024_0_710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5c4bec6024_0_710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5c4bec6024_0_710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g35c4bec6024_0_710"/>
          <p:cNvSpPr txBox="1"/>
          <p:nvPr>
            <p:ph type="title"/>
          </p:nvPr>
        </p:nvSpPr>
        <p:spPr>
          <a:xfrm>
            <a:off x="1638300" y="1691200"/>
            <a:ext cx="15011400" cy="1909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54" name="Google Shape;54;g35c4bec6024_0_710"/>
          <p:cNvSpPr txBox="1"/>
          <p:nvPr>
            <p:ph idx="1" type="body"/>
          </p:nvPr>
        </p:nvSpPr>
        <p:spPr>
          <a:xfrm>
            <a:off x="1638300" y="3981450"/>
            <a:ext cx="15011400" cy="4896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55" name="Google Shape;55;g35c4bec6024_0_710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c4bec6024_0_717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5c4bec6024_0_717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5c4bec6024_0_717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g35c4bec6024_0_717"/>
          <p:cNvSpPr txBox="1"/>
          <p:nvPr>
            <p:ph type="title"/>
          </p:nvPr>
        </p:nvSpPr>
        <p:spPr>
          <a:xfrm>
            <a:off x="1638300" y="1691200"/>
            <a:ext cx="15011400" cy="1909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61" name="Google Shape;61;g35c4bec6024_0_717"/>
          <p:cNvSpPr txBox="1"/>
          <p:nvPr>
            <p:ph idx="1" type="body"/>
          </p:nvPr>
        </p:nvSpPr>
        <p:spPr>
          <a:xfrm>
            <a:off x="1638300" y="3981450"/>
            <a:ext cx="7372200" cy="4896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62" name="Google Shape;62;g35c4bec6024_0_717"/>
          <p:cNvSpPr txBox="1"/>
          <p:nvPr>
            <p:ph idx="2" type="body"/>
          </p:nvPr>
        </p:nvSpPr>
        <p:spPr>
          <a:xfrm>
            <a:off x="9277350" y="3981450"/>
            <a:ext cx="7372200" cy="4896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63" name="Google Shape;63;g35c4bec6024_0_717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5c4bec6024_0_725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5c4bec6024_0_725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5c4bec6024_0_725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5c4bec6024_0_725"/>
          <p:cNvSpPr txBox="1"/>
          <p:nvPr>
            <p:ph type="title"/>
          </p:nvPr>
        </p:nvSpPr>
        <p:spPr>
          <a:xfrm>
            <a:off x="1638300" y="1691200"/>
            <a:ext cx="15011400" cy="1909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69" name="Google Shape;69;g35c4bec6024_0_725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c4bec6024_0_731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5c4bec6024_0_731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5c4bec6024_0_731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5c4bec6024_0_731"/>
          <p:cNvSpPr txBox="1"/>
          <p:nvPr>
            <p:ph type="title"/>
          </p:nvPr>
        </p:nvSpPr>
        <p:spPr>
          <a:xfrm>
            <a:off x="1638300" y="1691200"/>
            <a:ext cx="7418400" cy="2766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75" name="Google Shape;75;g35c4bec6024_0_731"/>
          <p:cNvSpPr txBox="1"/>
          <p:nvPr>
            <p:ph idx="1" type="body"/>
          </p:nvPr>
        </p:nvSpPr>
        <p:spPr>
          <a:xfrm>
            <a:off x="1661400" y="4638100"/>
            <a:ext cx="7418400" cy="4239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76" name="Google Shape;76;g35c4bec6024_0_731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c4bec6024_0_738"/>
          <p:cNvSpPr/>
          <p:nvPr/>
        </p:nvSpPr>
        <p:spPr>
          <a:xfrm>
            <a:off x="0" y="5646288"/>
            <a:ext cx="14738400" cy="46338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5c4bec6024_0_738"/>
          <p:cNvSpPr/>
          <p:nvPr/>
        </p:nvSpPr>
        <p:spPr>
          <a:xfrm flipH="1">
            <a:off x="7166420" y="3108226"/>
            <a:ext cx="11121000" cy="717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g35c4bec6024_0_738"/>
          <p:cNvGrpSpPr/>
          <p:nvPr/>
        </p:nvGrpSpPr>
        <p:grpSpPr>
          <a:xfrm>
            <a:off x="511982" y="-236"/>
            <a:ext cx="4502694" cy="2086816"/>
            <a:chOff x="3961956" y="4383950"/>
            <a:chExt cx="1160548" cy="548700"/>
          </a:xfrm>
        </p:grpSpPr>
        <p:sp>
          <p:nvSpPr>
            <p:cNvPr id="81" name="Google Shape;81;g35c4bec6024_0_73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g35c4bec6024_0_73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g35c4bec6024_0_73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g35c4bec6024_0_738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g35c4bec6024_0_738"/>
          <p:cNvGrpSpPr/>
          <p:nvPr/>
        </p:nvGrpSpPr>
        <p:grpSpPr>
          <a:xfrm>
            <a:off x="69869" y="9044251"/>
            <a:ext cx="3186612" cy="1234144"/>
            <a:chOff x="6917201" y="0"/>
            <a:chExt cx="2227777" cy="863400"/>
          </a:xfrm>
        </p:grpSpPr>
        <p:sp>
          <p:nvSpPr>
            <p:cNvPr id="86" name="Google Shape;86;g35c4bec6024_0_73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g35c4bec6024_0_73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g35c4bec6024_0_73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g35c4bec6024_0_738"/>
          <p:cNvGrpSpPr/>
          <p:nvPr/>
        </p:nvGrpSpPr>
        <p:grpSpPr>
          <a:xfrm>
            <a:off x="11772706" y="2486"/>
            <a:ext cx="6514910" cy="2523027"/>
            <a:chOff x="6917201" y="0"/>
            <a:chExt cx="2227777" cy="863400"/>
          </a:xfrm>
        </p:grpSpPr>
        <p:sp>
          <p:nvSpPr>
            <p:cNvPr id="90" name="Google Shape;90;g35c4bec6024_0_73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g35c4bec6024_0_73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g35c4bec6024_0_73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g35c4bec6024_0_738"/>
          <p:cNvSpPr txBox="1"/>
          <p:nvPr>
            <p:ph type="title"/>
          </p:nvPr>
        </p:nvSpPr>
        <p:spPr>
          <a:xfrm>
            <a:off x="2787858" y="2602292"/>
            <a:ext cx="12733800" cy="50784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94" name="Google Shape;94;g35c4bec6024_0_738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c4bec6024_0_756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5c4bec6024_0_756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5c4bec6024_0_756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5c4bec6024_0_756"/>
          <p:cNvSpPr txBox="1"/>
          <p:nvPr>
            <p:ph type="title"/>
          </p:nvPr>
        </p:nvSpPr>
        <p:spPr>
          <a:xfrm>
            <a:off x="1638300" y="1691200"/>
            <a:ext cx="12848400" cy="1410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00" name="Google Shape;100;g35c4bec6024_0_756"/>
          <p:cNvSpPr txBox="1"/>
          <p:nvPr>
            <p:ph idx="1" type="subTitle"/>
          </p:nvPr>
        </p:nvSpPr>
        <p:spPr>
          <a:xfrm>
            <a:off x="1638300" y="3101400"/>
            <a:ext cx="11719800" cy="787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g35c4bec6024_0_756"/>
          <p:cNvSpPr txBox="1"/>
          <p:nvPr>
            <p:ph idx="2" type="body"/>
          </p:nvPr>
        </p:nvSpPr>
        <p:spPr>
          <a:xfrm>
            <a:off x="1638300" y="4934100"/>
            <a:ext cx="11719800" cy="4191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02" name="Google Shape;102;g35c4bec6024_0_756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c4bec6024_0_764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5c4bec6024_0_764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5c4bec6024_0_764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5c4bec6024_0_764"/>
          <p:cNvSpPr txBox="1"/>
          <p:nvPr>
            <p:ph idx="1" type="body"/>
          </p:nvPr>
        </p:nvSpPr>
        <p:spPr>
          <a:xfrm>
            <a:off x="656050" y="8327000"/>
            <a:ext cx="14830200" cy="1210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</a:lstStyle>
          <a:p/>
        </p:txBody>
      </p:sp>
      <p:sp>
        <p:nvSpPr>
          <p:cNvPr id="108" name="Google Shape;108;g35c4bec6024_0_764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c4bec6024_0_770"/>
          <p:cNvSpPr/>
          <p:nvPr/>
        </p:nvSpPr>
        <p:spPr>
          <a:xfrm flipH="1">
            <a:off x="11138400" y="5668150"/>
            <a:ext cx="7149600" cy="46188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g35c4bec6024_0_770"/>
          <p:cNvGrpSpPr/>
          <p:nvPr/>
        </p:nvGrpSpPr>
        <p:grpSpPr>
          <a:xfrm>
            <a:off x="11918444" y="8239152"/>
            <a:ext cx="5041904" cy="2048330"/>
            <a:chOff x="6917201" y="0"/>
            <a:chExt cx="2227777" cy="863400"/>
          </a:xfrm>
        </p:grpSpPr>
        <p:sp>
          <p:nvSpPr>
            <p:cNvPr id="112" name="Google Shape;112;g35c4bec6024_0_77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g35c4bec6024_0_77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g35c4bec6024_0_77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g35c4bec6024_0_770"/>
          <p:cNvGrpSpPr/>
          <p:nvPr/>
        </p:nvGrpSpPr>
        <p:grpSpPr>
          <a:xfrm>
            <a:off x="398298" y="4"/>
            <a:ext cx="5590828" cy="2166616"/>
            <a:chOff x="6917201" y="0"/>
            <a:chExt cx="2227777" cy="863400"/>
          </a:xfrm>
        </p:grpSpPr>
        <p:sp>
          <p:nvSpPr>
            <p:cNvPr id="116" name="Google Shape;116;g35c4bec6024_0_77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g35c4bec6024_0_77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g35c4bec6024_0_77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g35c4bec6024_0_770"/>
          <p:cNvSpPr txBox="1"/>
          <p:nvPr>
            <p:ph hasCustomPrompt="1" type="title"/>
          </p:nvPr>
        </p:nvSpPr>
        <p:spPr>
          <a:xfrm>
            <a:off x="2771700" y="2767700"/>
            <a:ext cx="12744600" cy="27594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g35c4bec6024_0_770"/>
          <p:cNvSpPr txBox="1"/>
          <p:nvPr>
            <p:ph idx="1" type="body"/>
          </p:nvPr>
        </p:nvSpPr>
        <p:spPr>
          <a:xfrm>
            <a:off x="2771700" y="5727700"/>
            <a:ext cx="12744600" cy="128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ctr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21" name="Google Shape;121;g35c4bec6024_0_770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c4bec6024_0_783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5c4bec6024_0_66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sz="56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sz="56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sz="56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sz="56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sz="56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sz="56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sz="56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sz="56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sz="56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g35c4bec6024_0_666"/>
          <p:cNvSpPr txBox="1"/>
          <p:nvPr>
            <p:ph idx="1" type="body"/>
          </p:nvPr>
        </p:nvSpPr>
        <p:spPr>
          <a:xfrm>
            <a:off x="623400" y="2304950"/>
            <a:ext cx="17041200" cy="67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Char char="●"/>
              <a:defRPr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○"/>
              <a:defRPr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683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■"/>
              <a:defRPr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83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●"/>
              <a:defRPr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83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○"/>
              <a:defRPr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83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■"/>
              <a:defRPr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83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●"/>
              <a:defRPr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83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○"/>
              <a:defRPr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83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■"/>
              <a:defRPr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5c4bec6024_0_666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2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2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2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2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2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2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2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2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ebac.mx/blog/que-es-la-computacion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hpe.com/lamerica/es/what-is/compute.html" TargetMode="External"/><Relationship Id="rId4" Type="http://schemas.openxmlformats.org/officeDocument/2006/relationships/hyperlink" Target="https://ebac.mx/blog/que-es-la-computacion" TargetMode="External"/><Relationship Id="rId5" Type="http://schemas.openxmlformats.org/officeDocument/2006/relationships/hyperlink" Target="https://www.nutshellapp.com/publicsummaries/la-evoluci%C3%B3n-de-la-computaci%C3%B3n:-desde-el-%C3%A1baco-hasta-la-tecnolog%C3%ADa-moderna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1"/>
          <p:cNvSpPr txBox="1"/>
          <p:nvPr/>
        </p:nvSpPr>
        <p:spPr>
          <a:xfrm>
            <a:off x="1063303" y="6994239"/>
            <a:ext cx="5717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ALGORITMOS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2687405" y="3915649"/>
            <a:ext cx="12375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lang="en-US" sz="92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LA COMPUTADORA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1063303" y="8745251"/>
            <a:ext cx="69813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1028700" y="9210675"/>
            <a:ext cx="6667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1"/>
          <p:cNvSpPr txBox="1"/>
          <p:nvPr/>
        </p:nvSpPr>
        <p:spPr>
          <a:xfrm>
            <a:off x="228600" y="9588254"/>
            <a:ext cx="81153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2"/>
          <p:cNvGrpSpPr/>
          <p:nvPr/>
        </p:nvGrpSpPr>
        <p:grpSpPr>
          <a:xfrm>
            <a:off x="176625" y="4520478"/>
            <a:ext cx="7339115" cy="845568"/>
            <a:chOff x="0" y="-76200"/>
            <a:chExt cx="1964221" cy="360000"/>
          </a:xfrm>
        </p:grpSpPr>
        <p:sp>
          <p:nvSpPr>
            <p:cNvPr id="139" name="Google Shape;13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40" name="Google Shape;140;p2"/>
            <p:cNvSpPr txBox="1"/>
            <p:nvPr/>
          </p:nvSpPr>
          <p:spPr>
            <a:xfrm>
              <a:off x="0" y="-76200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La Computa</a:t>
              </a:r>
              <a:r>
                <a:rPr lang="en-US" sz="2799"/>
                <a:t>dora</a:t>
              </a:r>
              <a:r>
                <a:rPr lang="en-US" sz="2799"/>
                <a:t>: Definicion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" name="Google Shape;141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2"/>
          <p:cNvSpPr/>
          <p:nvPr/>
        </p:nvSpPr>
        <p:spPr>
          <a:xfrm>
            <a:off x="1866989" y="3303305"/>
            <a:ext cx="4115190" cy="1267162"/>
          </a:xfrm>
          <a:custGeom>
            <a:rect b="b" l="l" r="r" t="t"/>
            <a:pathLst>
              <a:path extrusionOk="0" h="333738" w="1083836">
                <a:moveTo>
                  <a:pt x="880636" y="0"/>
                </a:moveTo>
                <a:lnTo>
                  <a:pt x="0" y="0"/>
                </a:lnTo>
                <a:lnTo>
                  <a:pt x="0" y="333738"/>
                </a:lnTo>
                <a:lnTo>
                  <a:pt x="880636" y="333738"/>
                </a:lnTo>
                <a:lnTo>
                  <a:pt x="1083836" y="166869"/>
                </a:lnTo>
                <a:lnTo>
                  <a:pt x="88063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3" name="Google Shape;143;p2"/>
          <p:cNvSpPr txBox="1"/>
          <p:nvPr/>
        </p:nvSpPr>
        <p:spPr>
          <a:xfrm>
            <a:off x="592749" y="1612050"/>
            <a:ext cx="77103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44" name="Google Shape;144;p2"/>
          <p:cNvSpPr txBox="1"/>
          <p:nvPr/>
        </p:nvSpPr>
        <p:spPr>
          <a:xfrm>
            <a:off x="10247578" y="26330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45" name="Google Shape;145;p2"/>
          <p:cNvGrpSpPr/>
          <p:nvPr/>
        </p:nvGrpSpPr>
        <p:grpSpPr>
          <a:xfrm>
            <a:off x="11779155" y="5047755"/>
            <a:ext cx="5353682" cy="1701155"/>
            <a:chOff x="0" y="-114300"/>
            <a:chExt cx="1410014" cy="448038"/>
          </a:xfrm>
        </p:grpSpPr>
        <p:sp>
          <p:nvSpPr>
            <p:cNvPr id="146" name="Google Shape;146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47" name="Google Shape;147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</a:t>
              </a:r>
              <a:r>
                <a:rPr lang="en-US" sz="4499"/>
                <a:t>Quizizz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" name="Google Shape;148;p2"/>
          <p:cNvGrpSpPr/>
          <p:nvPr/>
        </p:nvGrpSpPr>
        <p:grpSpPr>
          <a:xfrm>
            <a:off x="176625" y="5444303"/>
            <a:ext cx="7221262" cy="845568"/>
            <a:chOff x="0" y="-76200"/>
            <a:chExt cx="1964221" cy="360000"/>
          </a:xfrm>
        </p:grpSpPr>
        <p:sp>
          <p:nvSpPr>
            <p:cNvPr id="149" name="Google Shape;14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50" name="Google Shape;150;p2"/>
            <p:cNvSpPr txBox="1"/>
            <p:nvPr/>
          </p:nvSpPr>
          <p:spPr>
            <a:xfrm>
              <a:off x="0" y="-76200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La </a:t>
              </a:r>
              <a:r>
                <a:rPr lang="en-US" sz="2799"/>
                <a:t>Computadora</a:t>
              </a:r>
              <a:r>
                <a:rPr lang="en-US" sz="2799"/>
                <a:t>: Evolucion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" name="Google Shape;151;p2"/>
          <p:cNvGrpSpPr/>
          <p:nvPr/>
        </p:nvGrpSpPr>
        <p:grpSpPr>
          <a:xfrm>
            <a:off x="176625" y="6425872"/>
            <a:ext cx="7339115" cy="845387"/>
            <a:chOff x="0" y="-76200"/>
            <a:chExt cx="1964221" cy="359923"/>
          </a:xfrm>
        </p:grpSpPr>
        <p:sp>
          <p:nvSpPr>
            <p:cNvPr id="152" name="Google Shape;152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53" name="Google Shape;153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Ciclo Fetch-decode-execute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" name="Google Shape;154;p2"/>
          <p:cNvGrpSpPr/>
          <p:nvPr/>
        </p:nvGrpSpPr>
        <p:grpSpPr>
          <a:xfrm>
            <a:off x="176625" y="7349453"/>
            <a:ext cx="9129110" cy="845387"/>
            <a:chOff x="0" y="-76200"/>
            <a:chExt cx="1964221" cy="359923"/>
          </a:xfrm>
        </p:grpSpPr>
        <p:sp>
          <p:nvSpPr>
            <p:cNvPr id="155" name="Google Shape;15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56" name="Google Shape;156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Componentes de la Unidad de control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" name="Google Shape;157;p2"/>
          <p:cNvGrpSpPr/>
          <p:nvPr/>
        </p:nvGrpSpPr>
        <p:grpSpPr>
          <a:xfrm>
            <a:off x="176625" y="8412922"/>
            <a:ext cx="4034706" cy="845387"/>
            <a:chOff x="0" y="-76200"/>
            <a:chExt cx="1964221" cy="359923"/>
          </a:xfrm>
        </p:grpSpPr>
        <p:sp>
          <p:nvSpPr>
            <p:cNvPr id="158" name="Google Shape;158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59" name="Google Shape;159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ALU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" name="Google Shape;160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"/>
          <p:cNvSpPr txBox="1"/>
          <p:nvPr/>
        </p:nvSpPr>
        <p:spPr>
          <a:xfrm>
            <a:off x="1492889" y="2011539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69" name="Google Shape;169;p3"/>
          <p:cNvSpPr txBox="1"/>
          <p:nvPr/>
        </p:nvSpPr>
        <p:spPr>
          <a:xfrm>
            <a:off x="2972225" y="3429000"/>
            <a:ext cx="11801400" cy="44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lang="en-US" sz="43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Analiza la </a:t>
            </a:r>
            <a:r>
              <a:rPr b="1" lang="en-US" sz="43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arquitectura</a:t>
            </a:r>
            <a:r>
              <a:rPr b="1" lang="en-US" sz="43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y </a:t>
            </a:r>
            <a:r>
              <a:rPr b="1" lang="en-US" sz="43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organización</a:t>
            </a:r>
            <a:r>
              <a:rPr b="1" lang="en-US" sz="43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una computadora mediante el estudio de sus componentes de hardware para comprender el funcionamiento integral de un sistema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5c4bec6024_1_8"/>
          <p:cNvSpPr txBox="1"/>
          <p:nvPr>
            <p:ph type="ctrTitle"/>
          </p:nvPr>
        </p:nvSpPr>
        <p:spPr>
          <a:xfrm>
            <a:off x="3590624" y="532800"/>
            <a:ext cx="12471000" cy="2896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Computadora: Definicion</a:t>
            </a:r>
            <a:endParaRPr/>
          </a:p>
        </p:txBody>
      </p:sp>
      <p:sp>
        <p:nvSpPr>
          <p:cNvPr id="175" name="Google Shape;175;g35c4bec6024_1_8"/>
          <p:cNvSpPr txBox="1"/>
          <p:nvPr>
            <p:ph idx="1" type="subTitle"/>
          </p:nvPr>
        </p:nvSpPr>
        <p:spPr>
          <a:xfrm>
            <a:off x="2283825" y="3128524"/>
            <a:ext cx="14122500" cy="4468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 fontScale="32500" lnSpcReduction="10000"/>
          </a:bodyPr>
          <a:lstStyle/>
          <a:p>
            <a:pPr indent="-442564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lang="en-US" sz="1036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 computación es la ciencia que produce, desarrolla y estudia sistemas informáticos, enfocándose tanto en el hardware (componentes físicos como CPUs, memorias, dispositivos de entrada/salida) como en el software (programas y aplicaciones)</a:t>
            </a:r>
            <a:r>
              <a:rPr lang="en-US" sz="10367">
                <a:solidFill>
                  <a:schemeClr val="hlink"/>
                </a:solidFill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7</a:t>
            </a:r>
            <a:r>
              <a:rPr lang="en-US" sz="1036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367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4256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lang="en-US" sz="1036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Permite organizar, procesar y recuperar información, facilitando el acceso y la gestión de datos para resolver problemas y automatizar tareas</a:t>
            </a:r>
            <a:endParaRPr sz="10367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5c4bec6024_1_14"/>
          <p:cNvSpPr txBox="1"/>
          <p:nvPr>
            <p:ph type="ctrTitle"/>
          </p:nvPr>
        </p:nvSpPr>
        <p:spPr>
          <a:xfrm>
            <a:off x="2519850" y="655950"/>
            <a:ext cx="14220900" cy="2896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Evolución</a:t>
            </a:r>
            <a:r>
              <a:rPr lang="en-US"/>
              <a:t> de la Computadora</a:t>
            </a:r>
            <a:endParaRPr/>
          </a:p>
        </p:txBody>
      </p:sp>
      <p:sp>
        <p:nvSpPr>
          <p:cNvPr id="181" name="Google Shape;181;g35c4bec6024_1_14"/>
          <p:cNvSpPr txBox="1"/>
          <p:nvPr>
            <p:ph idx="1" type="subTitle"/>
          </p:nvPr>
        </p:nvSpPr>
        <p:spPr>
          <a:xfrm>
            <a:off x="1516725" y="2640050"/>
            <a:ext cx="14535600" cy="5841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-417864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981"/>
              <a:buFont typeface="Roboto"/>
              <a:buChar char="●"/>
            </a:pPr>
            <a:r>
              <a:rPr lang="en-US" sz="298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 computación ha evolucionado desde herramientas simples como el ábaco (300 a.C.), pasando por calculadoras mecánicas como la Pascalina (siglo XVII), hasta llegar a computadoras electrónicas modernas</a:t>
            </a:r>
            <a:r>
              <a:rPr lang="en-US" sz="298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298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1786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81"/>
              <a:buFont typeface="Roboto"/>
              <a:buChar char="●"/>
            </a:pPr>
            <a:r>
              <a:rPr lang="en-US" sz="298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Charles Babbage diseñó la primera computadora programable (máquina analítica) en el siglo XIX, y Alan Turing sentó las bases teóricas de la computación moderna en el siglo XX</a:t>
            </a:r>
            <a:r>
              <a:rPr lang="en-US" sz="298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298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1786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81"/>
              <a:buFont typeface="Roboto"/>
              <a:buChar char="●"/>
            </a:pPr>
            <a:r>
              <a:rPr lang="en-US" sz="298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El desarrollo de computadoras personales y software por figuras como Steve Jobs y Bill Gates revolucionó la informática y la hizo accesible a millones de personas</a:t>
            </a:r>
            <a:endParaRPr sz="298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g35c4bec6024_1_14"/>
          <p:cNvPicPr preferRelativeResize="0"/>
          <p:nvPr/>
        </p:nvPicPr>
        <p:blipFill rotWithShape="1">
          <a:blip r:embed="rId3">
            <a:alphaModFix/>
          </a:blip>
          <a:srcRect b="39286" l="0" r="0" t="19641"/>
          <a:stretch/>
        </p:blipFill>
        <p:spPr>
          <a:xfrm>
            <a:off x="1330250" y="7675350"/>
            <a:ext cx="7169025" cy="178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g35c4bec6024_1_14"/>
          <p:cNvPicPr preferRelativeResize="0"/>
          <p:nvPr/>
        </p:nvPicPr>
        <p:blipFill rotWithShape="1">
          <a:blip r:embed="rId3">
            <a:alphaModFix/>
          </a:blip>
          <a:srcRect b="0" l="0" r="0" t="58013"/>
          <a:stretch/>
        </p:blipFill>
        <p:spPr>
          <a:xfrm>
            <a:off x="9030350" y="7675350"/>
            <a:ext cx="7021975" cy="178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5c4bec6024_1_24"/>
          <p:cNvSpPr txBox="1"/>
          <p:nvPr>
            <p:ph type="ctrTitle"/>
          </p:nvPr>
        </p:nvSpPr>
        <p:spPr>
          <a:xfrm>
            <a:off x="2657525" y="636275"/>
            <a:ext cx="14496300" cy="2896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Ciclo Fetch-Decode-Execute</a:t>
            </a:r>
            <a:endParaRPr/>
          </a:p>
        </p:txBody>
      </p:sp>
      <p:sp>
        <p:nvSpPr>
          <p:cNvPr id="189" name="Google Shape;189;g35c4bec6024_1_24"/>
          <p:cNvSpPr txBox="1"/>
          <p:nvPr>
            <p:ph idx="1" type="subTitle"/>
          </p:nvPr>
        </p:nvSpPr>
        <p:spPr>
          <a:xfrm>
            <a:off x="513600" y="2281675"/>
            <a:ext cx="15302700" cy="51729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 el proceso básico mediante el cual el CPU ejecuta instrucciones de un programa</a:t>
            </a:r>
            <a:r>
              <a:rPr lang="en-US" sz="33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33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381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Roboto"/>
              <a:buChar char="●"/>
            </a:pPr>
            <a:r>
              <a:rPr lang="en-US" sz="3300" u="sng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Fetch</a:t>
            </a: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El CPU obtiene la instrucción de la memoria.</a:t>
            </a:r>
            <a:endParaRPr sz="33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38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Roboto"/>
              <a:buChar char="●"/>
            </a:pPr>
            <a:r>
              <a:rPr lang="en-US" sz="3300" u="sng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Decode</a:t>
            </a: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La instrucción se interpreta para saber qué acción realizar.</a:t>
            </a:r>
            <a:endParaRPr sz="33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38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Roboto"/>
              <a:buChar char="●"/>
            </a:pPr>
            <a:r>
              <a:rPr lang="en-US" sz="3300" u="sng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Execute</a:t>
            </a: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Se lleva a cabo la acción indicada (por ejemplo, una suma o mover datos).</a:t>
            </a:r>
            <a:endParaRPr sz="33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Este ciclo se repite constantemente mientras la computadora está encendida y ejecutando programas</a:t>
            </a:r>
            <a:r>
              <a:rPr lang="en-US" sz="33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33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4700"/>
          </a:p>
        </p:txBody>
      </p:sp>
      <p:pic>
        <p:nvPicPr>
          <p:cNvPr id="190" name="Google Shape;190;g35c4bec6024_1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90300" y="2578975"/>
            <a:ext cx="3788975" cy="289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g35c4bec6024_1_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31650" y="6534550"/>
            <a:ext cx="3788975" cy="3535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c4bec6024_1_19"/>
          <p:cNvSpPr txBox="1"/>
          <p:nvPr>
            <p:ph type="ctrTitle"/>
          </p:nvPr>
        </p:nvSpPr>
        <p:spPr>
          <a:xfrm>
            <a:off x="1300350" y="119725"/>
            <a:ext cx="16010700" cy="2896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Componentes de la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Unidad de Control</a:t>
            </a:r>
            <a:endParaRPr/>
          </a:p>
        </p:txBody>
      </p:sp>
      <p:sp>
        <p:nvSpPr>
          <p:cNvPr id="197" name="Google Shape;197;g35c4bec6024_1_19"/>
          <p:cNvSpPr txBox="1"/>
          <p:nvPr>
            <p:ph idx="1" type="subTitle"/>
          </p:nvPr>
        </p:nvSpPr>
        <p:spPr>
          <a:xfrm>
            <a:off x="552900" y="2777750"/>
            <a:ext cx="10818000" cy="59991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 unidad de control es el componente del CPU que dirige y coordina todas las operaciones internas, enviando señales de control a otros componentes (memoria, ALU, dispositivos de entrada/salida) sus principales componentes incluyen:</a:t>
            </a:r>
            <a:endParaRPr sz="2808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6915" lvl="1" marL="9144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808"/>
              <a:buFont typeface="Roboto"/>
              <a:buChar char="●"/>
            </a:pPr>
            <a:r>
              <a:rPr lang="en-US" sz="280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Registro de instrucciones (almacena la instrucción actual).</a:t>
            </a:r>
            <a:endParaRPr sz="2808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691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8"/>
              <a:buFont typeface="Roboto"/>
              <a:buChar char="●"/>
            </a:pPr>
            <a:r>
              <a:rPr lang="en-US" sz="280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Unidad de temporización (sincroniza las operaciones).</a:t>
            </a:r>
            <a:endParaRPr sz="2808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691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8"/>
              <a:buFont typeface="Roboto"/>
              <a:buChar char="●"/>
            </a:pPr>
            <a:r>
              <a:rPr lang="en-US" sz="280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Decodificador de instrucciones (interpreta las instrucciones).</a:t>
            </a:r>
            <a:endParaRPr sz="2808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691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8"/>
              <a:buFont typeface="Roboto"/>
              <a:buChar char="●"/>
            </a:pPr>
            <a:r>
              <a:rPr lang="en-US" sz="280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Señales de control (dirigen el flujo de datos y operaciones dentro del CPU)</a:t>
            </a:r>
            <a:endParaRPr/>
          </a:p>
        </p:txBody>
      </p:sp>
      <p:pic>
        <p:nvPicPr>
          <p:cNvPr id="198" name="Google Shape;198;g35c4bec6024_1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24550" y="3320300"/>
            <a:ext cx="6773450" cy="49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c4bec6024_1_29"/>
          <p:cNvSpPr txBox="1"/>
          <p:nvPr>
            <p:ph type="ctrTitle"/>
          </p:nvPr>
        </p:nvSpPr>
        <p:spPr>
          <a:xfrm>
            <a:off x="4051775" y="515800"/>
            <a:ext cx="10722600" cy="15807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ALU</a:t>
            </a:r>
            <a:endParaRPr/>
          </a:p>
        </p:txBody>
      </p:sp>
      <p:sp>
        <p:nvSpPr>
          <p:cNvPr id="204" name="Google Shape;204;g35c4bec6024_1_29"/>
          <p:cNvSpPr txBox="1"/>
          <p:nvPr>
            <p:ph idx="1" type="subTitle"/>
          </p:nvPr>
        </p:nvSpPr>
        <p:spPr>
          <a:xfrm>
            <a:off x="474225" y="1908000"/>
            <a:ext cx="10267500" cy="6471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 lnSpcReduction="10000"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 ALU es un circuito digital dentro del CPU encargado de realizar operaciones aritméticas (suma, resta, multiplicación, división) y lógicas (AND, OR, NOT)</a:t>
            </a:r>
            <a:r>
              <a:rPr lang="en-US" sz="3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3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 fundamental para el procesamiento de datos y la ejecución de instrucciones matemáticas y de comparación.</a:t>
            </a:r>
            <a:endParaRPr sz="3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Los procesadores modernos pueden tener múltiples ALU para aumentar la velocidad y capacidad de procesamiento</a:t>
            </a:r>
            <a:endParaRPr/>
          </a:p>
        </p:txBody>
      </p:sp>
      <p:pic>
        <p:nvPicPr>
          <p:cNvPr id="205" name="Google Shape;205;g35c4bec6024_1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71175" y="2331925"/>
            <a:ext cx="7434125" cy="562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1" name="Google Shape;211;p5"/>
          <p:cNvSpPr txBox="1"/>
          <p:nvPr/>
        </p:nvSpPr>
        <p:spPr>
          <a:xfrm>
            <a:off x="1313550" y="2155800"/>
            <a:ext cx="15660900" cy="59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75"/>
              <a:buFont typeface="Arial"/>
              <a:buNone/>
            </a:pPr>
            <a:r>
              <a:rPr lang="en-US" sz="3575">
                <a:solidFill>
                  <a:srgbClr val="131416"/>
                </a:solidFill>
              </a:rPr>
              <a:t>El teléfono inteligente actual es resultado de siglos de avances, integrando capacidades de cálculo, comunicación y almacenamiento en un solo dispositivo,lo cual es un claro ejemplo de la </a:t>
            </a:r>
            <a:r>
              <a:rPr lang="en-US" sz="3575">
                <a:solidFill>
                  <a:srgbClr val="131416"/>
                </a:solidFill>
              </a:rPr>
              <a:t>evolución</a:t>
            </a:r>
            <a:r>
              <a:rPr lang="en-US" sz="3575">
                <a:solidFill>
                  <a:srgbClr val="131416"/>
                </a:solidFill>
              </a:rPr>
              <a:t> de la </a:t>
            </a:r>
            <a:r>
              <a:rPr lang="en-US" sz="3575">
                <a:solidFill>
                  <a:srgbClr val="131416"/>
                </a:solidFill>
              </a:rPr>
              <a:t>computación</a:t>
            </a:r>
            <a:endParaRPr sz="3575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75"/>
              <a:buFont typeface="Arial"/>
              <a:buNone/>
            </a:pPr>
            <a:r>
              <a:t/>
            </a:r>
            <a:endParaRPr sz="3575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75"/>
              <a:buFont typeface="Arial"/>
              <a:buNone/>
            </a:pPr>
            <a:r>
              <a:rPr lang="en-US" sz="3575">
                <a:solidFill>
                  <a:srgbClr val="131416"/>
                </a:solidFill>
              </a:rPr>
              <a:t>Al presionar una tecla en un procesador de texto, el CPU sigue el Ciclo Fetch-Decode-Execute para mostrar el carácter en pantalla.</a:t>
            </a:r>
            <a:br>
              <a:rPr lang="en-US" sz="3575">
                <a:solidFill>
                  <a:srgbClr val="131416"/>
                </a:solidFill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710300" y="2365750"/>
            <a:ext cx="5035200" cy="26751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000">
                <a:latin typeface="Roboto"/>
                <a:ea typeface="Roboto"/>
                <a:cs typeface="Roboto"/>
                <a:sym typeface="Roboto"/>
              </a:rPr>
              <a:t>La computadora Involucra tanto la parte física (hardware) como lógica (software) de los sistemas.</a:t>
            </a:r>
            <a:endParaRPr sz="3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12352350" y="2208400"/>
            <a:ext cx="5035200" cy="26751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000">
                <a:latin typeface="Roboto"/>
                <a:ea typeface="Roboto"/>
                <a:cs typeface="Roboto"/>
                <a:sym typeface="Roboto"/>
              </a:rPr>
              <a:t>La computación ha pasado de ser mecánica a electrónica y digital.</a:t>
            </a:r>
            <a:endParaRPr sz="3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972625" y="6765600"/>
            <a:ext cx="5035200" cy="26751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>
                <a:latin typeface="Roboto"/>
                <a:ea typeface="Roboto"/>
                <a:cs typeface="Roboto"/>
                <a:sym typeface="Roboto"/>
              </a:rPr>
              <a:t>El ciclo Fetch-Decode-Execute es el corazón del funcionamiento de cualquier procesador.</a:t>
            </a:r>
            <a:endParaRPr sz="2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11282375" y="6883625"/>
            <a:ext cx="6461400" cy="26751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100">
                <a:latin typeface="Roboto"/>
                <a:ea typeface="Roboto"/>
                <a:cs typeface="Roboto"/>
                <a:sym typeface="Roboto"/>
              </a:rPr>
              <a:t>La unidad de control es esencial para la coordinación y ejecución ordenada de instrucciones.</a:t>
            </a:r>
            <a:endParaRPr sz="3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6007825" y="3346850"/>
            <a:ext cx="6082200" cy="33204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200">
                <a:latin typeface="Roboto"/>
                <a:ea typeface="Roboto"/>
                <a:cs typeface="Roboto"/>
                <a:sym typeface="Roboto"/>
              </a:rPr>
              <a:t>La ALU ejecuta las operaciones matemáticas y lógicas básicas necesarias para cualquier programa.</a:t>
            </a:r>
            <a:endParaRPr sz="32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RESPONSABILIDAD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4057200" y="2673525"/>
            <a:ext cx="10403700" cy="55977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000">
                <a:latin typeface="Roboto"/>
                <a:ea typeface="Roboto"/>
                <a:cs typeface="Roboto"/>
                <a:sym typeface="Roboto"/>
              </a:rPr>
              <a:t>Responsabilidad significa asumir con compromiso el aprendizaje y uso de la tecnología. Implica estudiar con seriedad, aplicar los conocimientos con precisión y actuar de forma ética en cada decisión técnica.</a:t>
            </a:r>
            <a:endParaRPr sz="30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33" name="Google Shape;233;p8"/>
          <p:cNvSpPr txBox="1"/>
          <p:nvPr/>
        </p:nvSpPr>
        <p:spPr>
          <a:xfrm>
            <a:off x="1970675" y="2062125"/>
            <a:ext cx="15951600" cy="79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8688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SzPts val="3151"/>
              <a:buChar char="-"/>
            </a:pPr>
            <a:r>
              <a:rPr lang="en-US" sz="3151" u="sng">
                <a:solidFill>
                  <a:schemeClr val="hlink"/>
                </a:solidFill>
                <a:hlinkClick r:id="rId3"/>
              </a:rPr>
              <a:t>https://www.hpe.com/lamerica/es/what-is/compute.html</a:t>
            </a:r>
            <a:endParaRPr sz="3151">
              <a:solidFill>
                <a:srgbClr val="131416"/>
              </a:solidFill>
            </a:endParaRPr>
          </a:p>
          <a:p>
            <a:pPr indent="0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51">
              <a:solidFill>
                <a:srgbClr val="131416"/>
              </a:solidFill>
            </a:endParaRPr>
          </a:p>
          <a:p>
            <a:pPr indent="-428688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SzPts val="3151"/>
              <a:buChar char="-"/>
            </a:pPr>
            <a:r>
              <a:rPr lang="en-US" sz="3151" u="sng">
                <a:solidFill>
                  <a:schemeClr val="hlink"/>
                </a:solidFill>
                <a:hlinkClick r:id="rId4"/>
              </a:rPr>
              <a:t>https://ebac.mx/blog/que-es-la-computacion</a:t>
            </a:r>
            <a:endParaRPr sz="3151">
              <a:solidFill>
                <a:srgbClr val="131416"/>
              </a:solidFill>
            </a:endParaRPr>
          </a:p>
          <a:p>
            <a:pPr indent="0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51">
              <a:solidFill>
                <a:srgbClr val="131416"/>
              </a:solidFill>
            </a:endParaRPr>
          </a:p>
          <a:p>
            <a:pPr indent="-428688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SzPts val="3151"/>
              <a:buChar char="-"/>
            </a:pPr>
            <a:r>
              <a:rPr lang="en-US" sz="3151" u="sng">
                <a:solidFill>
                  <a:schemeClr val="hlink"/>
                </a:solidFill>
                <a:hlinkClick r:id="rId5"/>
              </a:rPr>
              <a:t>https://www.nutshellapp.com/publicsummaries/la-evoluci%C3%B3n-de-la-computaci%C3%B3n:-desde-el-%C3%A1baco-hasta-la-tecnolog%C3%ADa-moderna</a:t>
            </a:r>
            <a:endParaRPr sz="3151">
              <a:solidFill>
                <a:srgbClr val="131416"/>
              </a:solidFill>
            </a:endParaRPr>
          </a:p>
          <a:p>
            <a:pPr indent="0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51">
              <a:solidFill>
                <a:srgbClr val="131416"/>
              </a:solidFill>
            </a:endParaRPr>
          </a:p>
          <a:p>
            <a:pPr indent="-428688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-"/>
            </a:pPr>
            <a:r>
              <a:rPr lang="en-US" sz="3151">
                <a:solidFill>
                  <a:srgbClr val="131416"/>
                </a:solidFill>
              </a:rPr>
              <a:t>https://view.genially.com/6414107648f21b00178d0f21/presentation-el-ciclo-fetch-decode-execute</a:t>
            </a: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51">
              <a:solidFill>
                <a:srgbClr val="131416"/>
              </a:solidFill>
            </a:endParaRPr>
          </a:p>
          <a:p>
            <a:pPr indent="-428688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-"/>
            </a:pPr>
            <a:r>
              <a:rPr lang="en-US" sz="3151">
                <a:solidFill>
                  <a:srgbClr val="131416"/>
                </a:solidFill>
              </a:rPr>
              <a:t>https://electrositio.com/que-es-la-unidad-de-control-componentes-y-su-diseno/</a:t>
            </a:r>
            <a:endParaRPr sz="3151">
              <a:solidFill>
                <a:srgbClr val="131416"/>
              </a:solidFill>
            </a:endParaRPr>
          </a:p>
          <a:p>
            <a:pPr indent="0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51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39" name="Google Shape;239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1" name="Google Shape;241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