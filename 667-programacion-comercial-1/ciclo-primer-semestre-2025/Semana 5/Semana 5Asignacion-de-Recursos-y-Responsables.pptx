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8229600" cx="14630400"/>
  <p:notesSz cx="8229600" cy="14630400"/>
  <p:embeddedFontLst>
    <p:embeddedFont>
      <p:font typeface="Roboto"/>
      <p:regular r:id="rId14"/>
      <p:bold r:id="rId15"/>
      <p:italic r:id="rId16"/>
      <p:boldItalic r:id="rId17"/>
    </p:embeddedFont>
    <p:embeddedFont>
      <p:font typeface="IBM Plex Sans Medium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2" roundtripDataSignature="AMtx7mhtsf7e0rvvcRC2KpZ1mgdHsvxg6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BMPlexSansMedium-italic.fntdata"/><Relationship Id="rId11" Type="http://schemas.openxmlformats.org/officeDocument/2006/relationships/slide" Target="slides/slide7.xml"/><Relationship Id="rId22" Type="http://customschemas.google.com/relationships/presentationmetadata" Target="metadata"/><Relationship Id="rId10" Type="http://schemas.openxmlformats.org/officeDocument/2006/relationships/slide" Target="slides/slide6.xml"/><Relationship Id="rId21" Type="http://schemas.openxmlformats.org/officeDocument/2006/relationships/font" Target="fonts/IBMPlexSansMedium-bold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Roboto-bold.fntdata"/><Relationship Id="rId14" Type="http://schemas.openxmlformats.org/officeDocument/2006/relationships/font" Target="fonts/Roboto-regular.fntdata"/><Relationship Id="rId17" Type="http://schemas.openxmlformats.org/officeDocument/2006/relationships/font" Target="fonts/Roboto-boldItalic.fntdata"/><Relationship Id="rId16" Type="http://schemas.openxmlformats.org/officeDocument/2006/relationships/font" Target="fonts/Roboto-italic.fntdata"/><Relationship Id="rId5" Type="http://schemas.openxmlformats.org/officeDocument/2006/relationships/slide" Target="slides/slide1.xml"/><Relationship Id="rId19" Type="http://schemas.openxmlformats.org/officeDocument/2006/relationships/font" Target="fonts/IBMPlexSansMedium-bold.fntdata"/><Relationship Id="rId6" Type="http://schemas.openxmlformats.org/officeDocument/2006/relationships/slide" Target="slides/slide2.xml"/><Relationship Id="rId18" Type="http://schemas.openxmlformats.org/officeDocument/2006/relationships/font" Target="fonts/IBMPlexSansMedium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" name="Google Shape;49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5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5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5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5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5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5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11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1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" name="Google Shape;21;p13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" name="Google Shape;25;p14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1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" name="Google Shape;29;p15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1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" name="Google Shape;33;p16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1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" name="Google Shape;37;p17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1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" name="Google Shape;41;p18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1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" name="Google Shape;45;p19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9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7.png"/><Relationship Id="rId7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5.png"/><Relationship Id="rId4" Type="http://schemas.openxmlformats.org/officeDocument/2006/relationships/image" Target="../media/image3.png"/><Relationship Id="rId5" Type="http://schemas.openxmlformats.org/officeDocument/2006/relationships/image" Target="../media/image2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png"/><Relationship Id="rId4" Type="http://schemas.openxmlformats.org/officeDocument/2006/relationships/image" Target="../media/image26.png"/><Relationship Id="rId5" Type="http://schemas.openxmlformats.org/officeDocument/2006/relationships/image" Target="../media/image22.png"/><Relationship Id="rId6" Type="http://schemas.openxmlformats.org/officeDocument/2006/relationships/image" Target="../media/image2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2" name="Google Shape;5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1"/>
          <p:cNvSpPr/>
          <p:nvPr/>
        </p:nvSpPr>
        <p:spPr>
          <a:xfrm>
            <a:off x="6350437" y="2135148"/>
            <a:ext cx="7416000" cy="31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626"/>
              </a:lnSpc>
              <a:spcBef>
                <a:spcPts val="0"/>
              </a:spcBef>
              <a:spcAft>
                <a:spcPts val="0"/>
              </a:spcAft>
              <a:buClr>
                <a:srgbClr val="F3F3F2"/>
              </a:buClr>
              <a:buSzPts val="6700"/>
              <a:buFont typeface="IBM Plex Sans Medium"/>
              <a:buNone/>
            </a:pPr>
            <a:r>
              <a:rPr b="0" i="0" lang="en-US" sz="6700" u="none" cap="none" strike="noStrike">
                <a:solidFill>
                  <a:srgbClr val="F3F3F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Asignación de Recursos y Responsables</a:t>
            </a:r>
            <a:endParaRPr b="0" i="0" sz="6700" u="none" cap="none" strike="noStrike"/>
          </a:p>
        </p:txBody>
      </p:sp>
      <p:sp>
        <p:nvSpPr>
          <p:cNvPr id="54" name="Google Shape;54;p1"/>
          <p:cNvSpPr/>
          <p:nvPr/>
        </p:nvSpPr>
        <p:spPr>
          <a:xfrm>
            <a:off x="6350437" y="5699403"/>
            <a:ext cx="7415927" cy="395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1900"/>
              <a:buFont typeface="Roboto"/>
              <a:buNone/>
            </a:pPr>
            <a:r>
              <a:rPr b="0" i="0" lang="en-US" sz="1900" u="none" cap="none" strike="noStrike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Optimización de proyectos mediante gestión eficaz de recursos.</a:t>
            </a:r>
            <a:endParaRPr b="0" i="0" sz="1900" u="none" cap="none" strike="noStrik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0" name="Google Shape;6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2"/>
          <p:cNvSpPr/>
          <p:nvPr/>
        </p:nvSpPr>
        <p:spPr>
          <a:xfrm>
            <a:off x="6350437" y="1289685"/>
            <a:ext cx="61722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42"/>
              </a:lnSpc>
              <a:spcBef>
                <a:spcPts val="0"/>
              </a:spcBef>
              <a:spcAft>
                <a:spcPts val="0"/>
              </a:spcAft>
              <a:buClr>
                <a:srgbClr val="F3F3F2"/>
              </a:buClr>
              <a:buSzPts val="4850"/>
              <a:buFont typeface="IBM Plex Sans Medium"/>
              <a:buNone/>
            </a:pPr>
            <a:r>
              <a:rPr b="0" i="0" lang="en-US" sz="4850" u="none" cap="none" strike="noStrike">
                <a:solidFill>
                  <a:srgbClr val="F3F3F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Introducción</a:t>
            </a:r>
            <a:endParaRPr b="0" i="0" sz="4850" u="none" cap="none" strike="noStrike"/>
          </a:p>
        </p:txBody>
      </p:sp>
      <p:sp>
        <p:nvSpPr>
          <p:cNvPr id="62" name="Google Shape;62;p2"/>
          <p:cNvSpPr/>
          <p:nvPr/>
        </p:nvSpPr>
        <p:spPr>
          <a:xfrm>
            <a:off x="6350437" y="2709148"/>
            <a:ext cx="555427" cy="555427"/>
          </a:xfrm>
          <a:prstGeom prst="roundRect">
            <a:avLst>
              <a:gd fmla="val 6668" name="adj"/>
            </a:avLst>
          </a:prstGeom>
          <a:solidFill>
            <a:srgbClr val="484B5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2"/>
          <p:cNvSpPr/>
          <p:nvPr/>
        </p:nvSpPr>
        <p:spPr>
          <a:xfrm>
            <a:off x="6517005" y="2801660"/>
            <a:ext cx="222171" cy="3702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2900"/>
              <a:buFont typeface="IBM Plex Sans Medium"/>
              <a:buNone/>
            </a:pPr>
            <a:r>
              <a:rPr b="0" i="0" lang="en-US" sz="2900" u="none" cap="none" strike="noStrike">
                <a:solidFill>
                  <a:srgbClr val="D4D4D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1</a:t>
            </a:r>
            <a:endParaRPr b="0" i="0" sz="2900" u="none" cap="none" strike="noStrike"/>
          </a:p>
        </p:txBody>
      </p:sp>
      <p:sp>
        <p:nvSpPr>
          <p:cNvPr id="64" name="Google Shape;64;p2"/>
          <p:cNvSpPr/>
          <p:nvPr/>
        </p:nvSpPr>
        <p:spPr>
          <a:xfrm>
            <a:off x="7152680" y="2709148"/>
            <a:ext cx="3086100" cy="3857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2400"/>
              <a:buFont typeface="IBM Plex Sans Medium"/>
              <a:buNone/>
            </a:pPr>
            <a:r>
              <a:rPr b="0" i="0" lang="en-US" sz="2400" u="none" cap="none" strike="noStrike">
                <a:solidFill>
                  <a:srgbClr val="D4D4D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Importancia</a:t>
            </a:r>
            <a:endParaRPr b="0" i="0" sz="2400" u="none" cap="none" strike="noStrike"/>
          </a:p>
        </p:txBody>
      </p:sp>
      <p:sp>
        <p:nvSpPr>
          <p:cNvPr id="65" name="Google Shape;65;p2"/>
          <p:cNvSpPr/>
          <p:nvPr/>
        </p:nvSpPr>
        <p:spPr>
          <a:xfrm>
            <a:off x="7152680" y="3243024"/>
            <a:ext cx="6613684" cy="395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1900"/>
              <a:buFont typeface="Roboto"/>
              <a:buNone/>
            </a:pPr>
            <a:r>
              <a:rPr b="0" i="0" lang="en-US" sz="1900" u="none" cap="none" strike="noStrike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Asignación adecuada: clave para eficiencia y éxito.</a:t>
            </a:r>
            <a:endParaRPr b="0" i="0" sz="1900" u="none" cap="none" strike="noStrike"/>
          </a:p>
        </p:txBody>
      </p:sp>
      <p:sp>
        <p:nvSpPr>
          <p:cNvPr id="66" name="Google Shape;66;p2"/>
          <p:cNvSpPr/>
          <p:nvPr/>
        </p:nvSpPr>
        <p:spPr>
          <a:xfrm>
            <a:off x="6350437" y="4162544"/>
            <a:ext cx="555427" cy="555427"/>
          </a:xfrm>
          <a:prstGeom prst="roundRect">
            <a:avLst>
              <a:gd fmla="val 6668" name="adj"/>
            </a:avLst>
          </a:prstGeom>
          <a:solidFill>
            <a:srgbClr val="484B5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2"/>
          <p:cNvSpPr/>
          <p:nvPr/>
        </p:nvSpPr>
        <p:spPr>
          <a:xfrm>
            <a:off x="6517005" y="4255056"/>
            <a:ext cx="222171" cy="3702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2900"/>
              <a:buFont typeface="IBM Plex Sans Medium"/>
              <a:buNone/>
            </a:pPr>
            <a:r>
              <a:rPr b="0" i="0" lang="en-US" sz="2900" u="none" cap="none" strike="noStrike">
                <a:solidFill>
                  <a:srgbClr val="D4D4D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2</a:t>
            </a:r>
            <a:endParaRPr b="0" i="0" sz="2900" u="none" cap="none" strike="noStrike"/>
          </a:p>
        </p:txBody>
      </p:sp>
      <p:sp>
        <p:nvSpPr>
          <p:cNvPr id="68" name="Google Shape;68;p2"/>
          <p:cNvSpPr/>
          <p:nvPr/>
        </p:nvSpPr>
        <p:spPr>
          <a:xfrm>
            <a:off x="7152680" y="4162544"/>
            <a:ext cx="3086100" cy="3857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2400"/>
              <a:buFont typeface="IBM Plex Sans Medium"/>
              <a:buNone/>
            </a:pPr>
            <a:r>
              <a:rPr b="0" i="0" lang="en-US" sz="2400" u="none" cap="none" strike="noStrike">
                <a:solidFill>
                  <a:srgbClr val="D4D4D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Contribución</a:t>
            </a:r>
            <a:endParaRPr b="0" i="0" sz="2400" u="none" cap="none" strike="noStrike"/>
          </a:p>
        </p:txBody>
      </p:sp>
      <p:sp>
        <p:nvSpPr>
          <p:cNvPr id="69" name="Google Shape;69;p2"/>
          <p:cNvSpPr/>
          <p:nvPr/>
        </p:nvSpPr>
        <p:spPr>
          <a:xfrm>
            <a:off x="7152680" y="4696420"/>
            <a:ext cx="6613684" cy="395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1900"/>
              <a:buFont typeface="Roboto"/>
              <a:buNone/>
            </a:pPr>
            <a:r>
              <a:rPr b="0" i="0" lang="en-US" sz="1900" u="none" cap="none" strike="noStrike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Mejora efectividad y resultados del proyecto.</a:t>
            </a:r>
            <a:endParaRPr b="0" i="0" sz="1900" u="none" cap="none" strike="noStrike"/>
          </a:p>
        </p:txBody>
      </p:sp>
      <p:sp>
        <p:nvSpPr>
          <p:cNvPr id="70" name="Google Shape;70;p2"/>
          <p:cNvSpPr/>
          <p:nvPr/>
        </p:nvSpPr>
        <p:spPr>
          <a:xfrm>
            <a:off x="6350437" y="5615940"/>
            <a:ext cx="555427" cy="555427"/>
          </a:xfrm>
          <a:prstGeom prst="roundRect">
            <a:avLst>
              <a:gd fmla="val 6668" name="adj"/>
            </a:avLst>
          </a:prstGeom>
          <a:solidFill>
            <a:srgbClr val="484B5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2"/>
          <p:cNvSpPr/>
          <p:nvPr/>
        </p:nvSpPr>
        <p:spPr>
          <a:xfrm>
            <a:off x="6517005" y="5708452"/>
            <a:ext cx="222171" cy="3702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2900"/>
              <a:buFont typeface="IBM Plex Sans Medium"/>
              <a:buNone/>
            </a:pPr>
            <a:r>
              <a:rPr b="0" i="0" lang="en-US" sz="2900" u="none" cap="none" strike="noStrike">
                <a:solidFill>
                  <a:srgbClr val="D4D4D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3</a:t>
            </a:r>
            <a:endParaRPr b="0" i="0" sz="2900" u="none" cap="none" strike="noStrike"/>
          </a:p>
        </p:txBody>
      </p:sp>
      <p:sp>
        <p:nvSpPr>
          <p:cNvPr id="72" name="Google Shape;72;p2"/>
          <p:cNvSpPr/>
          <p:nvPr/>
        </p:nvSpPr>
        <p:spPr>
          <a:xfrm>
            <a:off x="7152680" y="5615940"/>
            <a:ext cx="3086100" cy="3857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2400"/>
              <a:buFont typeface="IBM Plex Sans Medium"/>
              <a:buNone/>
            </a:pPr>
            <a:r>
              <a:rPr b="0" i="0" lang="en-US" sz="2400" u="none" cap="none" strike="noStrike">
                <a:solidFill>
                  <a:srgbClr val="D4D4D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Objetivo</a:t>
            </a:r>
            <a:endParaRPr b="0" i="0" sz="2400" u="none" cap="none" strike="noStrike"/>
          </a:p>
        </p:txBody>
      </p:sp>
      <p:sp>
        <p:nvSpPr>
          <p:cNvPr id="73" name="Google Shape;73;p2"/>
          <p:cNvSpPr/>
          <p:nvPr/>
        </p:nvSpPr>
        <p:spPr>
          <a:xfrm>
            <a:off x="7152680" y="6149816"/>
            <a:ext cx="6613684" cy="7900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1900"/>
              <a:buFont typeface="Roboto"/>
              <a:buNone/>
            </a:pPr>
            <a:r>
              <a:rPr b="0" i="0" lang="en-US" sz="1900" u="none" cap="none" strike="noStrike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Comprender asignación efectiva de recursos y responsables.</a:t>
            </a:r>
            <a:endParaRPr b="0" i="0" sz="1900" u="none" cap="none" strike="noStrik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9" name="Google Shape;7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30553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3"/>
          <p:cNvSpPr/>
          <p:nvPr/>
        </p:nvSpPr>
        <p:spPr>
          <a:xfrm>
            <a:off x="597932" y="469821"/>
            <a:ext cx="4465201" cy="5339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73"/>
              </a:lnSpc>
              <a:spcBef>
                <a:spcPts val="0"/>
              </a:spcBef>
              <a:spcAft>
                <a:spcPts val="0"/>
              </a:spcAft>
              <a:buClr>
                <a:srgbClr val="F3F3F2"/>
              </a:buClr>
              <a:buSzPts val="3350"/>
              <a:buFont typeface="IBM Plex Sans Medium"/>
              <a:buNone/>
            </a:pPr>
            <a:r>
              <a:rPr b="0" i="0" lang="en-US" sz="3350" u="none" cap="none" strike="noStrike">
                <a:solidFill>
                  <a:srgbClr val="F3F3F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Definición de Recursos</a:t>
            </a:r>
            <a:endParaRPr b="0" i="0" sz="3350" u="none" cap="none" strike="noStrike"/>
          </a:p>
        </p:txBody>
      </p:sp>
      <p:pic>
        <p:nvPicPr>
          <p:cNvPr descr="preencoded.png" id="81" name="Google Shape;81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7932" y="1260038"/>
            <a:ext cx="427077" cy="427077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3"/>
          <p:cNvSpPr/>
          <p:nvPr/>
        </p:nvSpPr>
        <p:spPr>
          <a:xfrm>
            <a:off x="597932" y="1857970"/>
            <a:ext cx="2135624" cy="2669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1650"/>
              <a:buFont typeface="IBM Plex Sans Medium"/>
              <a:buNone/>
            </a:pPr>
            <a:r>
              <a:rPr b="0" i="0" lang="en-US" sz="1650" u="none" cap="none" strike="noStrike">
                <a:solidFill>
                  <a:srgbClr val="D4D4D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Humanos</a:t>
            </a:r>
            <a:endParaRPr b="0" i="0" sz="1650" u="none" cap="none" strike="noStrike"/>
          </a:p>
        </p:txBody>
      </p:sp>
      <p:sp>
        <p:nvSpPr>
          <p:cNvPr id="83" name="Google Shape;83;p3"/>
          <p:cNvSpPr/>
          <p:nvPr/>
        </p:nvSpPr>
        <p:spPr>
          <a:xfrm>
            <a:off x="597932" y="2227421"/>
            <a:ext cx="7948136" cy="273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5384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1300"/>
              <a:buFont typeface="Roboto"/>
              <a:buNone/>
            </a:pPr>
            <a:r>
              <a:rPr b="0" i="0" lang="en-US" sz="1300" u="none" cap="none" strike="noStrike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Personal y habilidades necesarias para el proyecto.</a:t>
            </a:r>
            <a:endParaRPr b="0" i="0" sz="1300" u="none" cap="none" strike="noStrike"/>
          </a:p>
        </p:txBody>
      </p:sp>
      <p:pic>
        <p:nvPicPr>
          <p:cNvPr descr="preencoded.png" id="84" name="Google Shape;84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7932" y="3013353"/>
            <a:ext cx="427077" cy="427077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3"/>
          <p:cNvSpPr/>
          <p:nvPr/>
        </p:nvSpPr>
        <p:spPr>
          <a:xfrm>
            <a:off x="597932" y="3611285"/>
            <a:ext cx="2135624" cy="2669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1650"/>
              <a:buFont typeface="IBM Plex Sans Medium"/>
              <a:buNone/>
            </a:pPr>
            <a:r>
              <a:rPr b="0" i="0" lang="en-US" sz="1650" u="none" cap="none" strike="noStrike">
                <a:solidFill>
                  <a:srgbClr val="D4D4D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Financieros</a:t>
            </a:r>
            <a:endParaRPr b="0" i="0" sz="1650" u="none" cap="none" strike="noStrike"/>
          </a:p>
        </p:txBody>
      </p:sp>
      <p:sp>
        <p:nvSpPr>
          <p:cNvPr id="86" name="Google Shape;86;p3"/>
          <p:cNvSpPr/>
          <p:nvPr/>
        </p:nvSpPr>
        <p:spPr>
          <a:xfrm>
            <a:off x="597932" y="3980736"/>
            <a:ext cx="7948136" cy="273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5384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1300"/>
              <a:buFont typeface="Roboto"/>
              <a:buNone/>
            </a:pPr>
            <a:r>
              <a:rPr b="0" i="0" lang="en-US" sz="1300" u="none" cap="none" strike="noStrike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Presupuesto disponible para la ejecución.</a:t>
            </a:r>
            <a:endParaRPr b="0" i="0" sz="1300" u="none" cap="none" strike="noStrike"/>
          </a:p>
        </p:txBody>
      </p:sp>
      <p:pic>
        <p:nvPicPr>
          <p:cNvPr descr="preencoded.png" id="87" name="Google Shape;87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97932" y="4766667"/>
            <a:ext cx="427077" cy="427077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3"/>
          <p:cNvSpPr/>
          <p:nvPr/>
        </p:nvSpPr>
        <p:spPr>
          <a:xfrm>
            <a:off x="597932" y="5364599"/>
            <a:ext cx="2135624" cy="2669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1650"/>
              <a:buFont typeface="IBM Plex Sans Medium"/>
              <a:buNone/>
            </a:pPr>
            <a:r>
              <a:rPr b="0" i="0" lang="en-US" sz="1650" u="none" cap="none" strike="noStrike">
                <a:solidFill>
                  <a:srgbClr val="D4D4D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Materiales</a:t>
            </a:r>
            <a:endParaRPr b="0" i="0" sz="1650" u="none" cap="none" strike="noStrike"/>
          </a:p>
        </p:txBody>
      </p:sp>
      <p:sp>
        <p:nvSpPr>
          <p:cNvPr id="89" name="Google Shape;89;p3"/>
          <p:cNvSpPr/>
          <p:nvPr/>
        </p:nvSpPr>
        <p:spPr>
          <a:xfrm>
            <a:off x="597932" y="5734050"/>
            <a:ext cx="7948136" cy="273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5384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1300"/>
              <a:buFont typeface="Roboto"/>
              <a:buNone/>
            </a:pPr>
            <a:r>
              <a:rPr b="0" i="0" lang="en-US" sz="1300" u="none" cap="none" strike="noStrike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Herramientas y equipos requeridos.</a:t>
            </a:r>
            <a:endParaRPr b="0" i="0" sz="1300" u="none" cap="none" strike="noStrike"/>
          </a:p>
        </p:txBody>
      </p:sp>
      <p:pic>
        <p:nvPicPr>
          <p:cNvPr descr="preencoded.png" id="90" name="Google Shape;90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97932" y="6519982"/>
            <a:ext cx="427077" cy="427077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3"/>
          <p:cNvSpPr/>
          <p:nvPr/>
        </p:nvSpPr>
        <p:spPr>
          <a:xfrm>
            <a:off x="597932" y="7117913"/>
            <a:ext cx="2135624" cy="2669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1650"/>
              <a:buFont typeface="IBM Plex Sans Medium"/>
              <a:buNone/>
            </a:pPr>
            <a:r>
              <a:rPr b="0" i="0" lang="en-US" sz="1650" u="none" cap="none" strike="noStrike">
                <a:solidFill>
                  <a:srgbClr val="D4D4D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Temporales</a:t>
            </a:r>
            <a:endParaRPr b="0" i="0" sz="1650" u="none" cap="none" strike="noStrike"/>
          </a:p>
        </p:txBody>
      </p:sp>
      <p:sp>
        <p:nvSpPr>
          <p:cNvPr id="92" name="Google Shape;92;p3"/>
          <p:cNvSpPr/>
          <p:nvPr/>
        </p:nvSpPr>
        <p:spPr>
          <a:xfrm>
            <a:off x="597932" y="7487364"/>
            <a:ext cx="7948136" cy="273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5384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1300"/>
              <a:buFont typeface="Roboto"/>
              <a:buNone/>
            </a:pPr>
            <a:r>
              <a:rPr b="0" i="0" lang="en-US" sz="1300" u="none" cap="none" strike="noStrike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Tiempo asignado para completar el proyecto.</a:t>
            </a:r>
            <a:endParaRPr b="0" i="0" sz="1300" u="none" cap="none" strike="noStrik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"/>
          <p:cNvSpPr/>
          <p:nvPr/>
        </p:nvSpPr>
        <p:spPr>
          <a:xfrm>
            <a:off x="864037" y="2598063"/>
            <a:ext cx="10202108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42"/>
              </a:lnSpc>
              <a:spcBef>
                <a:spcPts val="0"/>
              </a:spcBef>
              <a:spcAft>
                <a:spcPts val="0"/>
              </a:spcAft>
              <a:buClr>
                <a:srgbClr val="F3F3F2"/>
              </a:buClr>
              <a:buSzPts val="4850"/>
              <a:buFont typeface="IBM Plex Sans Medium"/>
              <a:buNone/>
            </a:pPr>
            <a:r>
              <a:rPr b="0" i="0" lang="en-US" sz="4850" u="none" cap="none" strike="noStrike">
                <a:solidFill>
                  <a:srgbClr val="F3F3F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Por Qué es Crucial Asignar Recursos</a:t>
            </a:r>
            <a:endParaRPr b="0" i="0" sz="4850" u="none" cap="none" strike="noStrike"/>
          </a:p>
        </p:txBody>
      </p:sp>
      <p:sp>
        <p:nvSpPr>
          <p:cNvPr id="99" name="Google Shape;99;p4"/>
          <p:cNvSpPr/>
          <p:nvPr/>
        </p:nvSpPr>
        <p:spPr>
          <a:xfrm>
            <a:off x="864037" y="3986689"/>
            <a:ext cx="3086100" cy="3857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3F3F2"/>
              </a:buClr>
              <a:buSzPts val="2400"/>
              <a:buFont typeface="IBM Plex Sans Medium"/>
              <a:buNone/>
            </a:pPr>
            <a:r>
              <a:rPr b="0" i="0" lang="en-US" sz="2400" u="none" cap="none" strike="noStrike">
                <a:solidFill>
                  <a:srgbClr val="F3F3F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Optimización</a:t>
            </a:r>
            <a:endParaRPr b="0" i="0" sz="2400" u="none" cap="none" strike="noStrike"/>
          </a:p>
        </p:txBody>
      </p:sp>
      <p:sp>
        <p:nvSpPr>
          <p:cNvPr id="100" name="Google Shape;100;p4"/>
          <p:cNvSpPr/>
          <p:nvPr/>
        </p:nvSpPr>
        <p:spPr>
          <a:xfrm>
            <a:off x="864037" y="4619268"/>
            <a:ext cx="3898821" cy="7900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1900"/>
              <a:buFont typeface="Roboto"/>
              <a:buNone/>
            </a:pPr>
            <a:r>
              <a:rPr b="0" i="0" lang="en-US" sz="1900" u="none" cap="none" strike="noStrike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Uso eficiente de recursos disponibles.</a:t>
            </a:r>
            <a:endParaRPr b="0" i="0" sz="1900" u="none" cap="none" strike="noStrike"/>
          </a:p>
        </p:txBody>
      </p:sp>
      <p:sp>
        <p:nvSpPr>
          <p:cNvPr id="101" name="Google Shape;101;p4"/>
          <p:cNvSpPr/>
          <p:nvPr/>
        </p:nvSpPr>
        <p:spPr>
          <a:xfrm>
            <a:off x="5372695" y="3986689"/>
            <a:ext cx="3086100" cy="3857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3F3F2"/>
              </a:buClr>
              <a:buSzPts val="2400"/>
              <a:buFont typeface="IBM Plex Sans Medium"/>
              <a:buNone/>
            </a:pPr>
            <a:r>
              <a:rPr b="0" i="0" lang="en-US" sz="2400" u="none" cap="none" strike="noStrike">
                <a:solidFill>
                  <a:srgbClr val="F3F3F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Responsabilidad</a:t>
            </a:r>
            <a:endParaRPr b="0" i="0" sz="2400" u="none" cap="none" strike="noStrike"/>
          </a:p>
        </p:txBody>
      </p:sp>
      <p:sp>
        <p:nvSpPr>
          <p:cNvPr id="102" name="Google Shape;102;p4"/>
          <p:cNvSpPr/>
          <p:nvPr/>
        </p:nvSpPr>
        <p:spPr>
          <a:xfrm>
            <a:off x="5372695" y="4619268"/>
            <a:ext cx="3898821" cy="7900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1900"/>
              <a:buFont typeface="Roboto"/>
              <a:buNone/>
            </a:pPr>
            <a:r>
              <a:rPr b="0" i="0" lang="en-US" sz="1900" u="none" cap="none" strike="noStrike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Claridad en tareas de cada miembro.</a:t>
            </a:r>
            <a:endParaRPr b="0" i="0" sz="1900" u="none" cap="none" strike="noStrike"/>
          </a:p>
        </p:txBody>
      </p:sp>
      <p:sp>
        <p:nvSpPr>
          <p:cNvPr id="103" name="Google Shape;103;p4"/>
          <p:cNvSpPr/>
          <p:nvPr/>
        </p:nvSpPr>
        <p:spPr>
          <a:xfrm>
            <a:off x="9881354" y="3986689"/>
            <a:ext cx="3086100" cy="3857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3F3F2"/>
              </a:buClr>
              <a:buSzPts val="2400"/>
              <a:buFont typeface="IBM Plex Sans Medium"/>
              <a:buNone/>
            </a:pPr>
            <a:r>
              <a:rPr b="0" i="0" lang="en-US" sz="2400" u="none" cap="none" strike="noStrike">
                <a:solidFill>
                  <a:srgbClr val="F3F3F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Reducción de Riesgos</a:t>
            </a:r>
            <a:endParaRPr b="0" i="0" sz="2400" u="none" cap="none" strike="noStrike"/>
          </a:p>
        </p:txBody>
      </p:sp>
      <p:sp>
        <p:nvSpPr>
          <p:cNvPr id="104" name="Google Shape;104;p4"/>
          <p:cNvSpPr/>
          <p:nvPr/>
        </p:nvSpPr>
        <p:spPr>
          <a:xfrm>
            <a:off x="9881354" y="4619268"/>
            <a:ext cx="3898821" cy="7900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1900"/>
              <a:buFont typeface="Roboto"/>
              <a:buNone/>
            </a:pPr>
            <a:r>
              <a:rPr b="0" i="0" lang="en-US" sz="1900" u="none" cap="none" strike="noStrike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Previene sobrecarga y cuellos de botella.</a:t>
            </a:r>
            <a:endParaRPr b="0" i="0" sz="1900" u="none" cap="none" strike="noStrik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0" name="Google Shape;11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5"/>
          <p:cNvSpPr/>
          <p:nvPr/>
        </p:nvSpPr>
        <p:spPr>
          <a:xfrm>
            <a:off x="732592" y="577810"/>
            <a:ext cx="7678817" cy="13080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09"/>
              </a:lnSpc>
              <a:spcBef>
                <a:spcPts val="0"/>
              </a:spcBef>
              <a:spcAft>
                <a:spcPts val="0"/>
              </a:spcAft>
              <a:buClr>
                <a:srgbClr val="F3F3F2"/>
              </a:buClr>
              <a:buSzPts val="4100"/>
              <a:buFont typeface="IBM Plex Sans Medium"/>
              <a:buNone/>
            </a:pPr>
            <a:r>
              <a:rPr b="0" i="0" lang="en-US" sz="4100" u="none" cap="none" strike="noStrike">
                <a:solidFill>
                  <a:srgbClr val="F3F3F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Pasos en el Proceso de Asignación</a:t>
            </a:r>
            <a:endParaRPr b="0" i="0" sz="4100" u="none" cap="none" strike="noStrike"/>
          </a:p>
        </p:txBody>
      </p:sp>
      <p:sp>
        <p:nvSpPr>
          <p:cNvPr id="112" name="Google Shape;112;p5"/>
          <p:cNvSpPr/>
          <p:nvPr/>
        </p:nvSpPr>
        <p:spPr>
          <a:xfrm>
            <a:off x="1035129" y="2199799"/>
            <a:ext cx="22860" cy="5451872"/>
          </a:xfrm>
          <a:prstGeom prst="roundRect">
            <a:avLst>
              <a:gd fmla="val 137359" name="adj"/>
            </a:avLst>
          </a:prstGeom>
          <a:solidFill>
            <a:srgbClr val="6164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5"/>
          <p:cNvSpPr/>
          <p:nvPr/>
        </p:nvSpPr>
        <p:spPr>
          <a:xfrm>
            <a:off x="1259145" y="2659142"/>
            <a:ext cx="732592" cy="22860"/>
          </a:xfrm>
          <a:prstGeom prst="roundRect">
            <a:avLst>
              <a:gd fmla="val 137359" name="adj"/>
            </a:avLst>
          </a:prstGeom>
          <a:solidFill>
            <a:srgbClr val="6164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5"/>
          <p:cNvSpPr/>
          <p:nvPr/>
        </p:nvSpPr>
        <p:spPr>
          <a:xfrm>
            <a:off x="811113" y="2435185"/>
            <a:ext cx="470892" cy="470892"/>
          </a:xfrm>
          <a:prstGeom prst="roundRect">
            <a:avLst>
              <a:gd fmla="val 6668" name="adj"/>
            </a:avLst>
          </a:prstGeom>
          <a:solidFill>
            <a:srgbClr val="484B5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5"/>
          <p:cNvSpPr/>
          <p:nvPr/>
        </p:nvSpPr>
        <p:spPr>
          <a:xfrm>
            <a:off x="952321" y="2513648"/>
            <a:ext cx="188357" cy="3139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2450"/>
              <a:buFont typeface="IBM Plex Sans Medium"/>
              <a:buNone/>
            </a:pPr>
            <a:r>
              <a:rPr b="0" i="0" lang="en-US" sz="2450" u="none" cap="none" strike="noStrike">
                <a:solidFill>
                  <a:srgbClr val="D4D4D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1</a:t>
            </a:r>
            <a:endParaRPr b="0" i="0" sz="2450" u="none" cap="none" strike="noStrike"/>
          </a:p>
        </p:txBody>
      </p:sp>
      <p:sp>
        <p:nvSpPr>
          <p:cNvPr id="116" name="Google Shape;116;p5"/>
          <p:cNvSpPr/>
          <p:nvPr/>
        </p:nvSpPr>
        <p:spPr>
          <a:xfrm>
            <a:off x="2197894" y="2409111"/>
            <a:ext cx="3622953" cy="3270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2050"/>
              <a:buFont typeface="IBM Plex Sans Medium"/>
              <a:buNone/>
            </a:pPr>
            <a:r>
              <a:rPr b="0" i="0" lang="en-US" sz="2050" u="none" cap="none" strike="noStrike">
                <a:solidFill>
                  <a:srgbClr val="D4D4D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Identificación de Necesidades</a:t>
            </a:r>
            <a:endParaRPr b="0" i="0" sz="2050" u="none" cap="none" strike="noStrike"/>
          </a:p>
        </p:txBody>
      </p:sp>
      <p:sp>
        <p:nvSpPr>
          <p:cNvPr id="117" name="Google Shape;117;p5"/>
          <p:cNvSpPr/>
          <p:nvPr/>
        </p:nvSpPr>
        <p:spPr>
          <a:xfrm>
            <a:off x="2197894" y="2861667"/>
            <a:ext cx="6213515" cy="3348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1600"/>
              <a:buFont typeface="Roboto"/>
              <a:buNone/>
            </a:pPr>
            <a:r>
              <a:rPr b="0" i="0" lang="en-US" sz="1600" u="none" cap="none" strike="noStrike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Evaluar requerimientos del proyecto.</a:t>
            </a:r>
            <a:endParaRPr b="0" i="0" sz="1600" u="none" cap="none" strike="noStrike"/>
          </a:p>
        </p:txBody>
      </p:sp>
      <p:sp>
        <p:nvSpPr>
          <p:cNvPr id="118" name="Google Shape;118;p5"/>
          <p:cNvSpPr/>
          <p:nvPr/>
        </p:nvSpPr>
        <p:spPr>
          <a:xfrm>
            <a:off x="1259145" y="4074438"/>
            <a:ext cx="732592" cy="22860"/>
          </a:xfrm>
          <a:prstGeom prst="roundRect">
            <a:avLst>
              <a:gd fmla="val 137359" name="adj"/>
            </a:avLst>
          </a:prstGeom>
          <a:solidFill>
            <a:srgbClr val="6164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5"/>
          <p:cNvSpPr/>
          <p:nvPr/>
        </p:nvSpPr>
        <p:spPr>
          <a:xfrm>
            <a:off x="811113" y="3850481"/>
            <a:ext cx="470892" cy="470892"/>
          </a:xfrm>
          <a:prstGeom prst="roundRect">
            <a:avLst>
              <a:gd fmla="val 6668" name="adj"/>
            </a:avLst>
          </a:prstGeom>
          <a:solidFill>
            <a:srgbClr val="484B5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5"/>
          <p:cNvSpPr/>
          <p:nvPr/>
        </p:nvSpPr>
        <p:spPr>
          <a:xfrm>
            <a:off x="952321" y="3928943"/>
            <a:ext cx="188357" cy="3139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2450"/>
              <a:buFont typeface="IBM Plex Sans Medium"/>
              <a:buNone/>
            </a:pPr>
            <a:r>
              <a:rPr b="0" i="0" lang="en-US" sz="2450" u="none" cap="none" strike="noStrike">
                <a:solidFill>
                  <a:srgbClr val="D4D4D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2</a:t>
            </a:r>
            <a:endParaRPr b="0" i="0" sz="2450" u="none" cap="none" strike="noStrike"/>
          </a:p>
        </p:txBody>
      </p:sp>
      <p:sp>
        <p:nvSpPr>
          <p:cNvPr id="121" name="Google Shape;121;p5"/>
          <p:cNvSpPr/>
          <p:nvPr/>
        </p:nvSpPr>
        <p:spPr>
          <a:xfrm>
            <a:off x="2197894" y="3824407"/>
            <a:ext cx="2830116" cy="3270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2050"/>
              <a:buFont typeface="IBM Plex Sans Medium"/>
              <a:buNone/>
            </a:pPr>
            <a:r>
              <a:rPr b="0" i="0" lang="en-US" sz="2050" u="none" cap="none" strike="noStrike">
                <a:solidFill>
                  <a:srgbClr val="D4D4D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Evaluación de Recursos</a:t>
            </a:r>
            <a:endParaRPr b="0" i="0" sz="2050" u="none" cap="none" strike="noStrike"/>
          </a:p>
        </p:txBody>
      </p:sp>
      <p:sp>
        <p:nvSpPr>
          <p:cNvPr id="122" name="Google Shape;122;p5"/>
          <p:cNvSpPr/>
          <p:nvPr/>
        </p:nvSpPr>
        <p:spPr>
          <a:xfrm>
            <a:off x="2197894" y="4276963"/>
            <a:ext cx="6213515" cy="3348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1600"/>
              <a:buFont typeface="Roboto"/>
              <a:buNone/>
            </a:pPr>
            <a:r>
              <a:rPr b="0" i="0" lang="en-US" sz="1600" u="none" cap="none" strike="noStrike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Revisar disponibilidad y capacidad.</a:t>
            </a:r>
            <a:endParaRPr b="0" i="0" sz="1600" u="none" cap="none" strike="noStrike"/>
          </a:p>
        </p:txBody>
      </p:sp>
      <p:sp>
        <p:nvSpPr>
          <p:cNvPr id="123" name="Google Shape;123;p5"/>
          <p:cNvSpPr/>
          <p:nvPr/>
        </p:nvSpPr>
        <p:spPr>
          <a:xfrm>
            <a:off x="1259145" y="5489734"/>
            <a:ext cx="732592" cy="22860"/>
          </a:xfrm>
          <a:prstGeom prst="roundRect">
            <a:avLst>
              <a:gd fmla="val 137359" name="adj"/>
            </a:avLst>
          </a:prstGeom>
          <a:solidFill>
            <a:srgbClr val="6164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5"/>
          <p:cNvSpPr/>
          <p:nvPr/>
        </p:nvSpPr>
        <p:spPr>
          <a:xfrm>
            <a:off x="811113" y="5265777"/>
            <a:ext cx="470892" cy="470892"/>
          </a:xfrm>
          <a:prstGeom prst="roundRect">
            <a:avLst>
              <a:gd fmla="val 6668" name="adj"/>
            </a:avLst>
          </a:prstGeom>
          <a:solidFill>
            <a:srgbClr val="484B5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5"/>
          <p:cNvSpPr/>
          <p:nvPr/>
        </p:nvSpPr>
        <p:spPr>
          <a:xfrm>
            <a:off x="952321" y="5344239"/>
            <a:ext cx="188357" cy="3139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2450"/>
              <a:buFont typeface="IBM Plex Sans Medium"/>
              <a:buNone/>
            </a:pPr>
            <a:r>
              <a:rPr b="0" i="0" lang="en-US" sz="2450" u="none" cap="none" strike="noStrike">
                <a:solidFill>
                  <a:srgbClr val="D4D4D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3</a:t>
            </a:r>
            <a:endParaRPr b="0" i="0" sz="2450" u="none" cap="none" strike="noStrike"/>
          </a:p>
        </p:txBody>
      </p:sp>
      <p:sp>
        <p:nvSpPr>
          <p:cNvPr id="126" name="Google Shape;126;p5"/>
          <p:cNvSpPr/>
          <p:nvPr/>
        </p:nvSpPr>
        <p:spPr>
          <a:xfrm>
            <a:off x="2197894" y="5239703"/>
            <a:ext cx="3998357" cy="3270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2050"/>
              <a:buFont typeface="IBM Plex Sans Medium"/>
              <a:buNone/>
            </a:pPr>
            <a:r>
              <a:rPr b="0" i="0" lang="en-US" sz="2050" u="none" cap="none" strike="noStrike">
                <a:solidFill>
                  <a:srgbClr val="D4D4D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Asignación de Responsabilidades</a:t>
            </a:r>
            <a:endParaRPr b="0" i="0" sz="2050" u="none" cap="none" strike="noStrike"/>
          </a:p>
        </p:txBody>
      </p:sp>
      <p:sp>
        <p:nvSpPr>
          <p:cNvPr id="127" name="Google Shape;127;p5"/>
          <p:cNvSpPr/>
          <p:nvPr/>
        </p:nvSpPr>
        <p:spPr>
          <a:xfrm>
            <a:off x="2197894" y="5692259"/>
            <a:ext cx="6213515" cy="3348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1600"/>
              <a:buFont typeface="Roboto"/>
              <a:buNone/>
            </a:pPr>
            <a:r>
              <a:rPr b="0" i="0" lang="en-US" sz="1600" u="none" cap="none" strike="noStrike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Designar tareas específicas al equipo.</a:t>
            </a:r>
            <a:endParaRPr b="0" i="0" sz="1600" u="none" cap="none" strike="noStrike"/>
          </a:p>
        </p:txBody>
      </p:sp>
      <p:sp>
        <p:nvSpPr>
          <p:cNvPr id="128" name="Google Shape;128;p5"/>
          <p:cNvSpPr/>
          <p:nvPr/>
        </p:nvSpPr>
        <p:spPr>
          <a:xfrm>
            <a:off x="1259145" y="6905030"/>
            <a:ext cx="732592" cy="22860"/>
          </a:xfrm>
          <a:prstGeom prst="roundRect">
            <a:avLst>
              <a:gd fmla="val 137359" name="adj"/>
            </a:avLst>
          </a:prstGeom>
          <a:solidFill>
            <a:srgbClr val="6164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"/>
          <p:cNvSpPr/>
          <p:nvPr/>
        </p:nvSpPr>
        <p:spPr>
          <a:xfrm>
            <a:off x="811113" y="6681073"/>
            <a:ext cx="470892" cy="470892"/>
          </a:xfrm>
          <a:prstGeom prst="roundRect">
            <a:avLst>
              <a:gd fmla="val 6668" name="adj"/>
            </a:avLst>
          </a:prstGeom>
          <a:solidFill>
            <a:srgbClr val="484B5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5"/>
          <p:cNvSpPr/>
          <p:nvPr/>
        </p:nvSpPr>
        <p:spPr>
          <a:xfrm>
            <a:off x="952321" y="6759535"/>
            <a:ext cx="188357" cy="3139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2450"/>
              <a:buFont typeface="IBM Plex Sans Medium"/>
              <a:buNone/>
            </a:pPr>
            <a:r>
              <a:rPr b="0" i="0" lang="en-US" sz="2450" u="none" cap="none" strike="noStrike">
                <a:solidFill>
                  <a:srgbClr val="D4D4D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4</a:t>
            </a:r>
            <a:endParaRPr b="0" i="0" sz="2450" u="none" cap="none" strike="noStrike"/>
          </a:p>
        </p:txBody>
      </p:sp>
      <p:sp>
        <p:nvSpPr>
          <p:cNvPr id="131" name="Google Shape;131;p5"/>
          <p:cNvSpPr/>
          <p:nvPr/>
        </p:nvSpPr>
        <p:spPr>
          <a:xfrm>
            <a:off x="2197894" y="6654998"/>
            <a:ext cx="2616637" cy="3270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2050"/>
              <a:buFont typeface="IBM Plex Sans Medium"/>
              <a:buNone/>
            </a:pPr>
            <a:r>
              <a:rPr b="0" i="0" lang="en-US" sz="2050" u="none" cap="none" strike="noStrike">
                <a:solidFill>
                  <a:srgbClr val="D4D4D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Seguimiento y Ajuste</a:t>
            </a:r>
            <a:endParaRPr b="0" i="0" sz="2050" u="none" cap="none" strike="noStrike"/>
          </a:p>
        </p:txBody>
      </p:sp>
      <p:sp>
        <p:nvSpPr>
          <p:cNvPr id="132" name="Google Shape;132;p5"/>
          <p:cNvSpPr/>
          <p:nvPr/>
        </p:nvSpPr>
        <p:spPr>
          <a:xfrm>
            <a:off x="2197894" y="7107555"/>
            <a:ext cx="6213515" cy="3348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1600"/>
              <a:buFont typeface="Roboto"/>
              <a:buNone/>
            </a:pPr>
            <a:r>
              <a:rPr b="0" i="0" lang="en-US" sz="1600" u="none" cap="none" strike="noStrike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Monitorear y adaptar según sea necesario.</a:t>
            </a:r>
            <a:endParaRPr b="0" i="0" sz="1600" u="none" cap="none" strike="noStrike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38" name="Google Shape;13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6"/>
          <p:cNvSpPr/>
          <p:nvPr/>
        </p:nvSpPr>
        <p:spPr>
          <a:xfrm>
            <a:off x="6350437" y="1163241"/>
            <a:ext cx="61722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42"/>
              </a:lnSpc>
              <a:spcBef>
                <a:spcPts val="0"/>
              </a:spcBef>
              <a:spcAft>
                <a:spcPts val="0"/>
              </a:spcAft>
              <a:buClr>
                <a:srgbClr val="F3F3F2"/>
              </a:buClr>
              <a:buSzPts val="4850"/>
              <a:buFont typeface="IBM Plex Sans Medium"/>
              <a:buNone/>
            </a:pPr>
            <a:r>
              <a:rPr b="0" i="0" lang="en-US" sz="4850" u="none" cap="none" strike="noStrike">
                <a:solidFill>
                  <a:srgbClr val="F3F3F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Herramientas Útiles</a:t>
            </a:r>
            <a:endParaRPr b="0" i="0" sz="4850" u="none" cap="none" strike="noStrike"/>
          </a:p>
        </p:txBody>
      </p:sp>
      <p:sp>
        <p:nvSpPr>
          <p:cNvPr id="140" name="Google Shape;140;p6"/>
          <p:cNvSpPr/>
          <p:nvPr/>
        </p:nvSpPr>
        <p:spPr>
          <a:xfrm>
            <a:off x="6350437" y="2305050"/>
            <a:ext cx="7415927" cy="1422559"/>
          </a:xfrm>
          <a:prstGeom prst="roundRect">
            <a:avLst>
              <a:gd fmla="val 2603" name="adj"/>
            </a:avLst>
          </a:prstGeom>
          <a:solidFill>
            <a:srgbClr val="484B5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6"/>
          <p:cNvSpPr/>
          <p:nvPr/>
        </p:nvSpPr>
        <p:spPr>
          <a:xfrm>
            <a:off x="6597253" y="2551867"/>
            <a:ext cx="3086100" cy="3857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2400"/>
              <a:buFont typeface="IBM Plex Sans Medium"/>
              <a:buNone/>
            </a:pPr>
            <a:r>
              <a:rPr b="0" i="0" lang="en-US" sz="2400" u="none" cap="none" strike="noStrike">
                <a:solidFill>
                  <a:srgbClr val="D4D4D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Software de Gestión</a:t>
            </a:r>
            <a:endParaRPr b="0" i="0" sz="2400" u="none" cap="none" strike="noStrike"/>
          </a:p>
        </p:txBody>
      </p:sp>
      <p:sp>
        <p:nvSpPr>
          <p:cNvPr id="142" name="Google Shape;142;p6"/>
          <p:cNvSpPr/>
          <p:nvPr/>
        </p:nvSpPr>
        <p:spPr>
          <a:xfrm>
            <a:off x="6597253" y="3085743"/>
            <a:ext cx="6922294" cy="395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1900"/>
              <a:buFont typeface="Roboto"/>
              <a:buNone/>
            </a:pPr>
            <a:r>
              <a:rPr b="0" i="0" lang="en-US" sz="1900" u="none" cap="none" strike="noStrike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Trello, Asana, Microsoft Project para tareas.</a:t>
            </a:r>
            <a:endParaRPr b="0" i="0" sz="1900" u="none" cap="none" strike="noStrike"/>
          </a:p>
        </p:txBody>
      </p:sp>
      <p:sp>
        <p:nvSpPr>
          <p:cNvPr id="143" name="Google Shape;143;p6"/>
          <p:cNvSpPr/>
          <p:nvPr/>
        </p:nvSpPr>
        <p:spPr>
          <a:xfrm>
            <a:off x="6350437" y="3974425"/>
            <a:ext cx="7415927" cy="1422559"/>
          </a:xfrm>
          <a:prstGeom prst="roundRect">
            <a:avLst>
              <a:gd fmla="val 2603" name="adj"/>
            </a:avLst>
          </a:prstGeom>
          <a:solidFill>
            <a:srgbClr val="484B5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6"/>
          <p:cNvSpPr/>
          <p:nvPr/>
        </p:nvSpPr>
        <p:spPr>
          <a:xfrm>
            <a:off x="6597253" y="4221242"/>
            <a:ext cx="3256836" cy="3857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2400"/>
              <a:buFont typeface="IBM Plex Sans Medium"/>
              <a:buNone/>
            </a:pPr>
            <a:r>
              <a:rPr b="0" i="0" lang="en-US" sz="2400" u="none" cap="none" strike="noStrike">
                <a:solidFill>
                  <a:srgbClr val="D4D4D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Matrices de Asignación</a:t>
            </a:r>
            <a:endParaRPr b="0" i="0" sz="2400" u="none" cap="none" strike="noStrike"/>
          </a:p>
        </p:txBody>
      </p:sp>
      <p:sp>
        <p:nvSpPr>
          <p:cNvPr id="145" name="Google Shape;145;p6"/>
          <p:cNvSpPr/>
          <p:nvPr/>
        </p:nvSpPr>
        <p:spPr>
          <a:xfrm>
            <a:off x="6597253" y="4755118"/>
            <a:ext cx="6922294" cy="395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1900"/>
              <a:buFont typeface="Roboto"/>
              <a:buNone/>
            </a:pPr>
            <a:r>
              <a:rPr b="0" i="0" lang="en-US" sz="1900" u="none" cap="none" strike="noStrike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Visualizar responsabilidades del equipo.</a:t>
            </a:r>
            <a:endParaRPr b="0" i="0" sz="1900" u="none" cap="none" strike="noStrike"/>
          </a:p>
        </p:txBody>
      </p:sp>
      <p:sp>
        <p:nvSpPr>
          <p:cNvPr id="146" name="Google Shape;146;p6"/>
          <p:cNvSpPr/>
          <p:nvPr/>
        </p:nvSpPr>
        <p:spPr>
          <a:xfrm>
            <a:off x="6350437" y="5643801"/>
            <a:ext cx="7415927" cy="1422559"/>
          </a:xfrm>
          <a:prstGeom prst="roundRect">
            <a:avLst>
              <a:gd fmla="val 2603" name="adj"/>
            </a:avLst>
          </a:prstGeom>
          <a:solidFill>
            <a:srgbClr val="484B5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6"/>
          <p:cNvSpPr/>
          <p:nvPr/>
        </p:nvSpPr>
        <p:spPr>
          <a:xfrm>
            <a:off x="6597253" y="5890617"/>
            <a:ext cx="3086100" cy="3857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2400"/>
              <a:buFont typeface="IBM Plex Sans Medium"/>
              <a:buNone/>
            </a:pPr>
            <a:r>
              <a:rPr b="0" i="0" lang="en-US" sz="2400" u="none" cap="none" strike="noStrike">
                <a:solidFill>
                  <a:srgbClr val="D4D4D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Tableros Kanban</a:t>
            </a:r>
            <a:endParaRPr b="0" i="0" sz="2400" u="none" cap="none" strike="noStrike"/>
          </a:p>
        </p:txBody>
      </p:sp>
      <p:sp>
        <p:nvSpPr>
          <p:cNvPr id="148" name="Google Shape;148;p6"/>
          <p:cNvSpPr/>
          <p:nvPr/>
        </p:nvSpPr>
        <p:spPr>
          <a:xfrm>
            <a:off x="6597253" y="6424493"/>
            <a:ext cx="6922294" cy="395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1900"/>
              <a:buFont typeface="Roboto"/>
              <a:buNone/>
            </a:pPr>
            <a:r>
              <a:rPr b="0" i="0" lang="en-US" sz="1900" u="none" cap="none" strike="noStrike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Gestión visual de tareas en tiempo real.</a:t>
            </a:r>
            <a:endParaRPr b="0" i="0" sz="1900" u="none" cap="none" strike="noStrike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"/>
          <p:cNvSpPr/>
          <p:nvPr/>
        </p:nvSpPr>
        <p:spPr>
          <a:xfrm>
            <a:off x="864037" y="1413153"/>
            <a:ext cx="61722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42"/>
              </a:lnSpc>
              <a:spcBef>
                <a:spcPts val="0"/>
              </a:spcBef>
              <a:spcAft>
                <a:spcPts val="0"/>
              </a:spcAft>
              <a:buClr>
                <a:srgbClr val="F3F3F2"/>
              </a:buClr>
              <a:buSzPts val="4850"/>
              <a:buFont typeface="IBM Plex Sans Medium"/>
              <a:buNone/>
            </a:pPr>
            <a:r>
              <a:rPr b="0" i="0" lang="en-US" sz="4850" u="none" cap="none" strike="noStrike">
                <a:solidFill>
                  <a:srgbClr val="F3F3F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Mejores Prácticas</a:t>
            </a:r>
            <a:endParaRPr b="0" i="0" sz="4850" u="none" cap="none" strike="noStrike"/>
          </a:p>
        </p:txBody>
      </p:sp>
      <p:pic>
        <p:nvPicPr>
          <p:cNvPr descr="preencoded.png" id="155" name="Google Shape;15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4037" y="2678430"/>
            <a:ext cx="4053840" cy="2505432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7"/>
          <p:cNvSpPr/>
          <p:nvPr/>
        </p:nvSpPr>
        <p:spPr>
          <a:xfrm>
            <a:off x="864037" y="5492472"/>
            <a:ext cx="3086100" cy="3857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2400"/>
              <a:buFont typeface="IBM Plex Sans Medium"/>
              <a:buNone/>
            </a:pPr>
            <a:r>
              <a:rPr b="0" i="0" lang="en-US" sz="2400" u="none" cap="none" strike="noStrike">
                <a:solidFill>
                  <a:srgbClr val="D4D4D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Claridad en Roles</a:t>
            </a:r>
            <a:endParaRPr b="0" i="0" sz="2400" u="none" cap="none" strike="noStrike"/>
          </a:p>
        </p:txBody>
      </p:sp>
      <p:sp>
        <p:nvSpPr>
          <p:cNvPr id="157" name="Google Shape;157;p7"/>
          <p:cNvSpPr/>
          <p:nvPr/>
        </p:nvSpPr>
        <p:spPr>
          <a:xfrm>
            <a:off x="864037" y="6026348"/>
            <a:ext cx="4053840" cy="7900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1900"/>
              <a:buFont typeface="Roboto"/>
              <a:buNone/>
            </a:pPr>
            <a:r>
              <a:rPr b="0" i="0" lang="en-US" sz="1900" u="none" cap="none" strike="noStrike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Definir expectativas para cada miembro.</a:t>
            </a:r>
            <a:endParaRPr b="0" i="0" sz="1900" u="none" cap="none" strike="noStrike"/>
          </a:p>
        </p:txBody>
      </p:sp>
      <p:pic>
        <p:nvPicPr>
          <p:cNvPr descr="preencoded.png" id="158" name="Google Shape;158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88161" y="2678430"/>
            <a:ext cx="4053959" cy="2505432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7"/>
          <p:cNvSpPr/>
          <p:nvPr/>
        </p:nvSpPr>
        <p:spPr>
          <a:xfrm>
            <a:off x="5288161" y="5492472"/>
            <a:ext cx="3115508" cy="3857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2400"/>
              <a:buFont typeface="IBM Plex Sans Medium"/>
              <a:buNone/>
            </a:pPr>
            <a:r>
              <a:rPr b="0" i="0" lang="en-US" sz="2400" u="none" cap="none" strike="noStrike">
                <a:solidFill>
                  <a:srgbClr val="D4D4D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Comunicación Abierta</a:t>
            </a:r>
            <a:endParaRPr b="0" i="0" sz="2400" u="none" cap="none" strike="noStrike"/>
          </a:p>
        </p:txBody>
      </p:sp>
      <p:sp>
        <p:nvSpPr>
          <p:cNvPr id="160" name="Google Shape;160;p7"/>
          <p:cNvSpPr/>
          <p:nvPr/>
        </p:nvSpPr>
        <p:spPr>
          <a:xfrm>
            <a:off x="5288161" y="6026348"/>
            <a:ext cx="4053959" cy="7900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1900"/>
              <a:buFont typeface="Roboto"/>
              <a:buNone/>
            </a:pPr>
            <a:r>
              <a:rPr b="0" i="0" lang="en-US" sz="1900" u="none" cap="none" strike="noStrike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Fomentar diálogo constante en el equipo.</a:t>
            </a:r>
            <a:endParaRPr b="0" i="0" sz="1900" u="none" cap="none" strike="noStrike"/>
          </a:p>
        </p:txBody>
      </p:sp>
      <p:pic>
        <p:nvPicPr>
          <p:cNvPr descr="preencoded.png" id="161" name="Google Shape;161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712404" y="2678430"/>
            <a:ext cx="4053840" cy="250543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7"/>
          <p:cNvSpPr/>
          <p:nvPr/>
        </p:nvSpPr>
        <p:spPr>
          <a:xfrm>
            <a:off x="9712404" y="5492472"/>
            <a:ext cx="3143250" cy="3857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2400"/>
              <a:buFont typeface="IBM Plex Sans Medium"/>
              <a:buNone/>
            </a:pPr>
            <a:r>
              <a:rPr b="0" i="0" lang="en-US" sz="2400" u="none" cap="none" strike="noStrike">
                <a:solidFill>
                  <a:srgbClr val="D4D4D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Flexibilidad y Revisión</a:t>
            </a:r>
            <a:endParaRPr b="0" i="0" sz="2400" u="none" cap="none" strike="noStrike"/>
          </a:p>
        </p:txBody>
      </p:sp>
      <p:sp>
        <p:nvSpPr>
          <p:cNvPr id="163" name="Google Shape;163;p7"/>
          <p:cNvSpPr/>
          <p:nvPr/>
        </p:nvSpPr>
        <p:spPr>
          <a:xfrm>
            <a:off x="9712404" y="6026348"/>
            <a:ext cx="4053840" cy="7900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1900"/>
              <a:buFont typeface="Roboto"/>
              <a:buNone/>
            </a:pPr>
            <a:r>
              <a:rPr b="0" i="0" lang="en-US" sz="1900" u="none" cap="none" strike="noStrike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Ajustar recursos y evaluar regularmente.</a:t>
            </a:r>
            <a:endParaRPr b="0" i="0" sz="1900" u="none" cap="none" strike="noStrike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9" name="Google Shape;16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8"/>
          <p:cNvSpPr/>
          <p:nvPr/>
        </p:nvSpPr>
        <p:spPr>
          <a:xfrm>
            <a:off x="843677" y="664488"/>
            <a:ext cx="6027063" cy="7533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31"/>
              </a:lnSpc>
              <a:spcBef>
                <a:spcPts val="0"/>
              </a:spcBef>
              <a:spcAft>
                <a:spcPts val="0"/>
              </a:spcAft>
              <a:buClr>
                <a:srgbClr val="F3F3F2"/>
              </a:buClr>
              <a:buSzPts val="4700"/>
              <a:buFont typeface="IBM Plex Sans Medium"/>
              <a:buNone/>
            </a:pPr>
            <a:r>
              <a:rPr b="0" i="0" lang="en-US" sz="4700" u="none" cap="none" strike="noStrike">
                <a:solidFill>
                  <a:srgbClr val="F3F3F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Conclusiones</a:t>
            </a:r>
            <a:endParaRPr b="0" i="0" sz="4700" u="none" cap="none" strike="noStrike"/>
          </a:p>
        </p:txBody>
      </p:sp>
      <p:pic>
        <p:nvPicPr>
          <p:cNvPr descr="preencoded.png" id="171" name="Google Shape;171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3677" y="1779389"/>
            <a:ext cx="1205389" cy="1928574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8"/>
          <p:cNvSpPr/>
          <p:nvPr/>
        </p:nvSpPr>
        <p:spPr>
          <a:xfrm>
            <a:off x="2410658" y="2020372"/>
            <a:ext cx="3013472" cy="376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31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2350"/>
              <a:buFont typeface="IBM Plex Sans Medium"/>
              <a:buNone/>
            </a:pPr>
            <a:r>
              <a:rPr b="0" i="0" lang="en-US" sz="2350" u="none" cap="none" strike="noStrike">
                <a:solidFill>
                  <a:srgbClr val="D4D4D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Asignación Efectiva</a:t>
            </a:r>
            <a:endParaRPr b="0" i="0" sz="2350" u="none" cap="none" strike="noStrike"/>
          </a:p>
        </p:txBody>
      </p:sp>
      <p:sp>
        <p:nvSpPr>
          <p:cNvPr id="173" name="Google Shape;173;p8"/>
          <p:cNvSpPr/>
          <p:nvPr/>
        </p:nvSpPr>
        <p:spPr>
          <a:xfrm>
            <a:off x="2410658" y="2541508"/>
            <a:ext cx="5889665" cy="3857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1850"/>
              <a:buFont typeface="Roboto"/>
              <a:buNone/>
            </a:pPr>
            <a:r>
              <a:rPr b="0" i="0" lang="en-US" sz="1850" u="none" cap="none" strike="noStrike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Clave para el éxito del proyecto.</a:t>
            </a:r>
            <a:endParaRPr b="0" i="0" sz="1850" u="none" cap="none" strike="noStrike"/>
          </a:p>
        </p:txBody>
      </p:sp>
      <p:pic>
        <p:nvPicPr>
          <p:cNvPr descr="preencoded.png" id="174" name="Google Shape;174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3677" y="3707963"/>
            <a:ext cx="1205389" cy="1928574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8"/>
          <p:cNvSpPr/>
          <p:nvPr/>
        </p:nvSpPr>
        <p:spPr>
          <a:xfrm>
            <a:off x="2410658" y="3948946"/>
            <a:ext cx="3013472" cy="376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31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2350"/>
              <a:buFont typeface="IBM Plex Sans Medium"/>
              <a:buNone/>
            </a:pPr>
            <a:r>
              <a:rPr b="0" i="0" lang="en-US" sz="2350" u="none" cap="none" strike="noStrike">
                <a:solidFill>
                  <a:srgbClr val="D4D4D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Enfoque Organizado</a:t>
            </a:r>
            <a:endParaRPr b="0" i="0" sz="2350" u="none" cap="none" strike="noStrike"/>
          </a:p>
        </p:txBody>
      </p:sp>
      <p:sp>
        <p:nvSpPr>
          <p:cNvPr id="176" name="Google Shape;176;p8"/>
          <p:cNvSpPr/>
          <p:nvPr/>
        </p:nvSpPr>
        <p:spPr>
          <a:xfrm>
            <a:off x="2410658" y="4470082"/>
            <a:ext cx="5889665" cy="3857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1850"/>
              <a:buFont typeface="Roboto"/>
              <a:buNone/>
            </a:pPr>
            <a:r>
              <a:rPr b="0" i="0" lang="en-US" sz="1850" u="none" cap="none" strike="noStrike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Optimiza recursos y clarifica roles.</a:t>
            </a:r>
            <a:endParaRPr b="0" i="0" sz="1850" u="none" cap="none" strike="noStrike"/>
          </a:p>
        </p:txBody>
      </p:sp>
      <p:pic>
        <p:nvPicPr>
          <p:cNvPr descr="preencoded.png" id="177" name="Google Shape;177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43677" y="5636538"/>
            <a:ext cx="1205389" cy="1928574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8"/>
          <p:cNvSpPr/>
          <p:nvPr/>
        </p:nvSpPr>
        <p:spPr>
          <a:xfrm>
            <a:off x="2410658" y="5877520"/>
            <a:ext cx="3013472" cy="376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31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2350"/>
              <a:buFont typeface="IBM Plex Sans Medium"/>
              <a:buNone/>
            </a:pPr>
            <a:r>
              <a:rPr b="0" i="0" lang="en-US" sz="2350" u="none" cap="none" strike="noStrike">
                <a:solidFill>
                  <a:srgbClr val="D4D4D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Mejores Prácticas</a:t>
            </a:r>
            <a:endParaRPr b="0" i="0" sz="2350" u="none" cap="none" strike="noStrike"/>
          </a:p>
        </p:txBody>
      </p:sp>
      <p:sp>
        <p:nvSpPr>
          <p:cNvPr id="179" name="Google Shape;179;p8"/>
          <p:cNvSpPr/>
          <p:nvPr/>
        </p:nvSpPr>
        <p:spPr>
          <a:xfrm>
            <a:off x="2410658" y="6398657"/>
            <a:ext cx="5889665" cy="3857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1850"/>
              <a:buFont typeface="Roboto"/>
              <a:buNone/>
            </a:pPr>
            <a:r>
              <a:rPr b="0" i="0" lang="en-US" sz="1850" u="none" cap="none" strike="noStrike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Aseguran gestión de proyectos eficiente.</a:t>
            </a:r>
            <a:endParaRPr b="0" i="0" sz="1850" u="none" cap="none" strike="noStrike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85" name="Google Shape;18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9"/>
          <p:cNvSpPr/>
          <p:nvPr/>
        </p:nvSpPr>
        <p:spPr>
          <a:xfrm>
            <a:off x="6350437" y="2271355"/>
            <a:ext cx="6217325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42"/>
              </a:lnSpc>
              <a:spcBef>
                <a:spcPts val="0"/>
              </a:spcBef>
              <a:spcAft>
                <a:spcPts val="0"/>
              </a:spcAft>
              <a:buClr>
                <a:srgbClr val="F3F3F2"/>
              </a:buClr>
              <a:buSzPts val="4850"/>
              <a:buFont typeface="IBM Plex Sans Medium"/>
              <a:buNone/>
            </a:pPr>
            <a:r>
              <a:rPr b="0" i="0" lang="en-US" sz="4850" u="none" cap="none" strike="noStrike">
                <a:solidFill>
                  <a:srgbClr val="F3F3F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Preguntas y Discusión</a:t>
            </a:r>
            <a:endParaRPr b="0" i="0" sz="4850" u="none" cap="none" strike="noStrike"/>
          </a:p>
        </p:txBody>
      </p:sp>
      <p:sp>
        <p:nvSpPr>
          <p:cNvPr id="187" name="Google Shape;187;p9"/>
          <p:cNvSpPr/>
          <p:nvPr/>
        </p:nvSpPr>
        <p:spPr>
          <a:xfrm>
            <a:off x="6350437" y="3413165"/>
            <a:ext cx="7415927" cy="2545080"/>
          </a:xfrm>
          <a:prstGeom prst="roundRect">
            <a:avLst>
              <a:gd fmla="val 1455" name="adj"/>
            </a:avLst>
          </a:prstGeom>
          <a:noFill/>
          <a:ln cap="flat" cmpd="sng" w="15225">
            <a:solidFill>
              <a:srgbClr val="FFFFFF">
                <a:alpha val="2392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9"/>
          <p:cNvSpPr/>
          <p:nvPr/>
        </p:nvSpPr>
        <p:spPr>
          <a:xfrm>
            <a:off x="6365677" y="3428405"/>
            <a:ext cx="7385447" cy="706517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9"/>
          <p:cNvSpPr/>
          <p:nvPr/>
        </p:nvSpPr>
        <p:spPr>
          <a:xfrm>
            <a:off x="6612493" y="3584138"/>
            <a:ext cx="3195280" cy="395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1900"/>
              <a:buFont typeface="Roboto"/>
              <a:buNone/>
            </a:pPr>
            <a:r>
              <a:rPr b="0" i="0" lang="en-US" sz="1900" u="none" cap="none" strike="noStrike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Preguntas del Público</a:t>
            </a:r>
            <a:endParaRPr b="0" i="0" sz="1900" u="none" cap="none" strike="noStrike"/>
          </a:p>
        </p:txBody>
      </p:sp>
      <p:sp>
        <p:nvSpPr>
          <p:cNvPr id="190" name="Google Shape;190;p9"/>
          <p:cNvSpPr/>
          <p:nvPr/>
        </p:nvSpPr>
        <p:spPr>
          <a:xfrm>
            <a:off x="10309027" y="3584138"/>
            <a:ext cx="3195280" cy="395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1900"/>
              <a:buFont typeface="Roboto"/>
              <a:buNone/>
            </a:pPr>
            <a:r>
              <a:rPr b="0" i="0" lang="en-US" sz="1900" u="none" cap="none" strike="noStrike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Experiencias Previas</a:t>
            </a:r>
            <a:endParaRPr b="0" i="0" sz="1900" u="none" cap="none" strike="noStrike"/>
          </a:p>
        </p:txBody>
      </p:sp>
      <p:sp>
        <p:nvSpPr>
          <p:cNvPr id="191" name="Google Shape;191;p9"/>
          <p:cNvSpPr/>
          <p:nvPr/>
        </p:nvSpPr>
        <p:spPr>
          <a:xfrm>
            <a:off x="6365677" y="4134922"/>
            <a:ext cx="7385447" cy="1101566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9"/>
          <p:cNvSpPr/>
          <p:nvPr/>
        </p:nvSpPr>
        <p:spPr>
          <a:xfrm>
            <a:off x="6612493" y="4290655"/>
            <a:ext cx="3195280" cy="7900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1900"/>
              <a:buFont typeface="Roboto"/>
              <a:buNone/>
            </a:pPr>
            <a:r>
              <a:rPr b="0" i="0" lang="en-US" sz="1900" u="none" cap="none" strike="noStrike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Dudas sobre implementación</a:t>
            </a:r>
            <a:endParaRPr b="0" i="0" sz="1900" u="none" cap="none" strike="noStrike"/>
          </a:p>
        </p:txBody>
      </p:sp>
      <p:sp>
        <p:nvSpPr>
          <p:cNvPr id="193" name="Google Shape;193;p9"/>
          <p:cNvSpPr/>
          <p:nvPr/>
        </p:nvSpPr>
        <p:spPr>
          <a:xfrm>
            <a:off x="10309027" y="4290655"/>
            <a:ext cx="3195280" cy="395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1900"/>
              <a:buFont typeface="Roboto"/>
              <a:buNone/>
            </a:pPr>
            <a:r>
              <a:rPr b="0" i="0" lang="en-US" sz="1900" u="none" cap="none" strike="noStrike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Casos de éxito</a:t>
            </a:r>
            <a:endParaRPr b="0" i="0" sz="1900" u="none" cap="none" strike="noStrike"/>
          </a:p>
        </p:txBody>
      </p:sp>
      <p:sp>
        <p:nvSpPr>
          <p:cNvPr id="194" name="Google Shape;194;p9"/>
          <p:cNvSpPr/>
          <p:nvPr/>
        </p:nvSpPr>
        <p:spPr>
          <a:xfrm>
            <a:off x="6365677" y="5236488"/>
            <a:ext cx="7385447" cy="706517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9"/>
          <p:cNvSpPr/>
          <p:nvPr/>
        </p:nvSpPr>
        <p:spPr>
          <a:xfrm>
            <a:off x="6612493" y="5392222"/>
            <a:ext cx="3195280" cy="395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1900"/>
              <a:buFont typeface="Roboto"/>
              <a:buNone/>
            </a:pPr>
            <a:r>
              <a:rPr b="0" i="0" lang="en-US" sz="1900" u="none" cap="none" strike="noStrike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Desafíos comunes</a:t>
            </a:r>
            <a:endParaRPr b="0" i="0" sz="1900" u="none" cap="none" strike="noStrike"/>
          </a:p>
        </p:txBody>
      </p:sp>
      <p:sp>
        <p:nvSpPr>
          <p:cNvPr id="196" name="Google Shape;196;p9"/>
          <p:cNvSpPr/>
          <p:nvPr/>
        </p:nvSpPr>
        <p:spPr>
          <a:xfrm>
            <a:off x="10309027" y="5392222"/>
            <a:ext cx="3195280" cy="395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1900"/>
              <a:buFont typeface="Roboto"/>
              <a:buNone/>
            </a:pPr>
            <a:r>
              <a:rPr b="0" i="0" lang="en-US" sz="1900" u="none" cap="none" strike="noStrike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Lecciones aprendidas</a:t>
            </a:r>
            <a:endParaRPr b="0" i="0" sz="1900" u="none" cap="none" strike="noStrik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2024-11-04T04:59:38Z</dcterms:created>
  <dc:creator>PptxGenJS</dc:creator>
</cp:coreProperties>
</file>