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8229600" cx="14630400"/>
  <p:notesSz cx="8229600" cy="14630400"/>
  <p:embeddedFontLst>
    <p:embeddedFont>
      <p:font typeface="Quattrocento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VnuM6dt5UmCEo52fN5U01wEn/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Quattrocento-bold.fntdata"/><Relationship Id="rId14" Type="http://schemas.openxmlformats.org/officeDocument/2006/relationships/font" Target="fonts/Quattrocento-regular.fntdata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9.png"/><Relationship Id="rId6" Type="http://schemas.openxmlformats.org/officeDocument/2006/relationships/image" Target="../media/image19.png"/><Relationship Id="rId7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26.png"/><Relationship Id="rId7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2" name="Google Shape;5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"/>
          <p:cNvSpPr/>
          <p:nvPr/>
        </p:nvSpPr>
        <p:spPr>
          <a:xfrm>
            <a:off x="864037" y="1676757"/>
            <a:ext cx="7415927" cy="3006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03"/>
              </a:lnSpc>
              <a:spcBef>
                <a:spcPts val="0"/>
              </a:spcBef>
              <a:spcAft>
                <a:spcPts val="0"/>
              </a:spcAft>
              <a:buClr>
                <a:srgbClr val="FFD9BE"/>
              </a:buClr>
              <a:buSzPts val="6300"/>
              <a:buFont typeface="Quattrocento"/>
              <a:buNone/>
            </a:pPr>
            <a:r>
              <a:rPr b="0" i="0" lang="en-US" sz="6300" u="none" cap="none" strike="noStrike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Estimación de Tiempos y Costos del Proyecto</a:t>
            </a:r>
            <a:endParaRPr b="0" i="0" sz="6300" u="none" cap="none" strike="noStrike"/>
          </a:p>
        </p:txBody>
      </p:sp>
      <p:sp>
        <p:nvSpPr>
          <p:cNvPr id="54" name="Google Shape;54;p1"/>
          <p:cNvSpPr/>
          <p:nvPr/>
        </p:nvSpPr>
        <p:spPr>
          <a:xfrm>
            <a:off x="864037" y="5053132"/>
            <a:ext cx="7415927" cy="790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900"/>
              <a:buFont typeface="Quattrocento"/>
              <a:buNone/>
            </a:pPr>
            <a:r>
              <a:rPr b="0" i="0" lang="en-US" sz="19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Presentación sobre métodos y herramientas para estimaciones precisas.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0" name="Google Shape;6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2"/>
          <p:cNvSpPr/>
          <p:nvPr/>
        </p:nvSpPr>
        <p:spPr>
          <a:xfrm>
            <a:off x="864037" y="1346359"/>
            <a:ext cx="5809059" cy="7260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74"/>
              </a:lnSpc>
              <a:spcBef>
                <a:spcPts val="0"/>
              </a:spcBef>
              <a:spcAft>
                <a:spcPts val="0"/>
              </a:spcAft>
              <a:buClr>
                <a:srgbClr val="FFD9BE"/>
              </a:buClr>
              <a:buSzPts val="4550"/>
              <a:buFont typeface="Quattrocento"/>
              <a:buNone/>
            </a:pPr>
            <a:r>
              <a:rPr b="0" i="0" lang="en-US" sz="4550" u="none" cap="none" strike="noStrike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Introducción</a:t>
            </a:r>
            <a:endParaRPr b="0" i="0" sz="4550" u="none" cap="none" strike="noStrike"/>
          </a:p>
        </p:txBody>
      </p:sp>
      <p:sp>
        <p:nvSpPr>
          <p:cNvPr id="62" name="Google Shape;62;p2"/>
          <p:cNvSpPr/>
          <p:nvPr/>
        </p:nvSpPr>
        <p:spPr>
          <a:xfrm>
            <a:off x="864037" y="2720340"/>
            <a:ext cx="555427" cy="555427"/>
          </a:xfrm>
          <a:prstGeom prst="roundRect">
            <a:avLst>
              <a:gd fmla="val 6668" name="adj"/>
            </a:avLst>
          </a:prstGeom>
          <a:solidFill>
            <a:srgbClr val="3152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1080016" y="2823805"/>
            <a:ext cx="123468" cy="348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700"/>
              <a:buFont typeface="Quattrocento"/>
              <a:buNone/>
            </a:pPr>
            <a:r>
              <a:rPr b="0" i="0" lang="en-US" sz="27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1</a:t>
            </a:r>
            <a:endParaRPr b="0" i="0" sz="2700" u="none" cap="none" strike="noStrike"/>
          </a:p>
        </p:txBody>
      </p:sp>
      <p:sp>
        <p:nvSpPr>
          <p:cNvPr id="64" name="Google Shape;64;p2"/>
          <p:cNvSpPr/>
          <p:nvPr/>
        </p:nvSpPr>
        <p:spPr>
          <a:xfrm>
            <a:off x="1666280" y="2720340"/>
            <a:ext cx="2904530" cy="363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250"/>
              <a:buFont typeface="Quattrocento"/>
              <a:buNone/>
            </a:pPr>
            <a:r>
              <a:rPr b="0" i="0" lang="en-US" sz="22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Importancia</a:t>
            </a:r>
            <a:endParaRPr b="0" i="0" sz="2250" u="none" cap="none" strike="noStrike"/>
          </a:p>
        </p:txBody>
      </p:sp>
      <p:sp>
        <p:nvSpPr>
          <p:cNvPr id="65" name="Google Shape;65;p2"/>
          <p:cNvSpPr/>
          <p:nvPr/>
        </p:nvSpPr>
        <p:spPr>
          <a:xfrm>
            <a:off x="1666280" y="3231594"/>
            <a:ext cx="6613684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900"/>
              <a:buFont typeface="Quattrocento"/>
              <a:buNone/>
            </a:pPr>
            <a:r>
              <a:rPr b="0" i="0" lang="en-US" sz="19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Estimación precisa crucial para gestión de proyectos.</a:t>
            </a:r>
            <a:endParaRPr b="0" i="0" sz="1900" u="none" cap="none" strike="noStrike"/>
          </a:p>
        </p:txBody>
      </p:sp>
      <p:sp>
        <p:nvSpPr>
          <p:cNvPr id="66" name="Google Shape;66;p2"/>
          <p:cNvSpPr/>
          <p:nvPr/>
        </p:nvSpPr>
        <p:spPr>
          <a:xfrm>
            <a:off x="864037" y="4151114"/>
            <a:ext cx="555427" cy="555427"/>
          </a:xfrm>
          <a:prstGeom prst="roundRect">
            <a:avLst>
              <a:gd fmla="val 6668" name="adj"/>
            </a:avLst>
          </a:prstGeom>
          <a:solidFill>
            <a:srgbClr val="3152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1048345" y="4254579"/>
            <a:ext cx="186809" cy="348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700"/>
              <a:buFont typeface="Quattrocento"/>
              <a:buNone/>
            </a:pPr>
            <a:r>
              <a:rPr b="0" i="0" lang="en-US" sz="27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2</a:t>
            </a:r>
            <a:endParaRPr b="0" i="0" sz="2700" u="none" cap="none" strike="noStrike"/>
          </a:p>
        </p:txBody>
      </p:sp>
      <p:sp>
        <p:nvSpPr>
          <p:cNvPr id="68" name="Google Shape;68;p2"/>
          <p:cNvSpPr/>
          <p:nvPr/>
        </p:nvSpPr>
        <p:spPr>
          <a:xfrm>
            <a:off x="1666280" y="4151114"/>
            <a:ext cx="2904530" cy="363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250"/>
              <a:buFont typeface="Quattrocento"/>
              <a:buNone/>
            </a:pPr>
            <a:r>
              <a:rPr b="0" i="0" lang="en-US" sz="22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Beneficios</a:t>
            </a:r>
            <a:endParaRPr b="0" i="0" sz="2250" u="none" cap="none" strike="noStrike"/>
          </a:p>
        </p:txBody>
      </p:sp>
      <p:sp>
        <p:nvSpPr>
          <p:cNvPr id="69" name="Google Shape;69;p2"/>
          <p:cNvSpPr/>
          <p:nvPr/>
        </p:nvSpPr>
        <p:spPr>
          <a:xfrm>
            <a:off x="1666280" y="4662368"/>
            <a:ext cx="6613684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900"/>
              <a:buFont typeface="Quattrocento"/>
              <a:buNone/>
            </a:pPr>
            <a:r>
              <a:rPr b="0" i="0" lang="en-US" sz="19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Facilita planificación, ejecución y control del proyecto.</a:t>
            </a:r>
            <a:endParaRPr b="0" i="0" sz="1900" u="none" cap="none" strike="noStrike"/>
          </a:p>
        </p:txBody>
      </p:sp>
      <p:sp>
        <p:nvSpPr>
          <p:cNvPr id="70" name="Google Shape;70;p2"/>
          <p:cNvSpPr/>
          <p:nvPr/>
        </p:nvSpPr>
        <p:spPr>
          <a:xfrm>
            <a:off x="864037" y="5581888"/>
            <a:ext cx="555427" cy="555427"/>
          </a:xfrm>
          <a:prstGeom prst="roundRect">
            <a:avLst>
              <a:gd fmla="val 6668" name="adj"/>
            </a:avLst>
          </a:prstGeom>
          <a:solidFill>
            <a:srgbClr val="3152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1046917" y="5685353"/>
            <a:ext cx="189667" cy="348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700"/>
              <a:buFont typeface="Quattrocento"/>
              <a:buNone/>
            </a:pPr>
            <a:r>
              <a:rPr b="0" i="0" lang="en-US" sz="27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3</a:t>
            </a:r>
            <a:endParaRPr b="0" i="0" sz="2700" u="none" cap="none" strike="noStrike"/>
          </a:p>
        </p:txBody>
      </p:sp>
      <p:sp>
        <p:nvSpPr>
          <p:cNvPr id="72" name="Google Shape;72;p2"/>
          <p:cNvSpPr/>
          <p:nvPr/>
        </p:nvSpPr>
        <p:spPr>
          <a:xfrm>
            <a:off x="1666280" y="5581888"/>
            <a:ext cx="2904530" cy="363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250"/>
              <a:buFont typeface="Quattrocento"/>
              <a:buNone/>
            </a:pPr>
            <a:r>
              <a:rPr b="0" i="0" lang="en-US" sz="22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Objetivo</a:t>
            </a:r>
            <a:endParaRPr b="0" i="0" sz="2250" u="none" cap="none" strike="noStrike"/>
          </a:p>
        </p:txBody>
      </p:sp>
      <p:sp>
        <p:nvSpPr>
          <p:cNvPr id="73" name="Google Shape;73;p2"/>
          <p:cNvSpPr/>
          <p:nvPr/>
        </p:nvSpPr>
        <p:spPr>
          <a:xfrm>
            <a:off x="1666280" y="6093142"/>
            <a:ext cx="6613684" cy="790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900"/>
              <a:buFont typeface="Quattrocento"/>
              <a:buNone/>
            </a:pPr>
            <a:r>
              <a:rPr b="0" i="0" lang="en-US" sz="19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Comprender métodos y herramientas para estimar tiempos y costos.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9" name="Google Shape;7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0" y="0"/>
            <a:ext cx="36576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"/>
          <p:cNvSpPr/>
          <p:nvPr/>
        </p:nvSpPr>
        <p:spPr>
          <a:xfrm>
            <a:off x="864037" y="1030962"/>
            <a:ext cx="7653099" cy="7260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74"/>
              </a:lnSpc>
              <a:spcBef>
                <a:spcPts val="0"/>
              </a:spcBef>
              <a:spcAft>
                <a:spcPts val="0"/>
              </a:spcAft>
              <a:buClr>
                <a:srgbClr val="FFD9BE"/>
              </a:buClr>
              <a:buSzPts val="4550"/>
              <a:buFont typeface="Quattrocento"/>
              <a:buNone/>
            </a:pPr>
            <a:r>
              <a:rPr b="0" i="0" lang="en-US" sz="4550" u="none" cap="none" strike="noStrike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Importancia de la Estimación</a:t>
            </a:r>
            <a:endParaRPr b="0" i="0" sz="4550" u="none" cap="none" strike="noStrike"/>
          </a:p>
        </p:txBody>
      </p:sp>
      <p:pic>
        <p:nvPicPr>
          <p:cNvPr descr="preencoded.png" id="81" name="Google Shape;8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4037" y="2127290"/>
            <a:ext cx="617220" cy="61722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"/>
          <p:cNvSpPr/>
          <p:nvPr/>
        </p:nvSpPr>
        <p:spPr>
          <a:xfrm>
            <a:off x="864037" y="2991326"/>
            <a:ext cx="2904530" cy="363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250"/>
              <a:buFont typeface="Quattrocento"/>
              <a:buNone/>
            </a:pPr>
            <a:r>
              <a:rPr b="0" i="0" lang="en-US" sz="22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Planificación Efectiva</a:t>
            </a:r>
            <a:endParaRPr b="0" i="0" sz="2250" u="none" cap="none" strike="noStrike"/>
          </a:p>
        </p:txBody>
      </p:sp>
      <p:sp>
        <p:nvSpPr>
          <p:cNvPr id="83" name="Google Shape;83;p3"/>
          <p:cNvSpPr/>
          <p:nvPr/>
        </p:nvSpPr>
        <p:spPr>
          <a:xfrm>
            <a:off x="864037" y="3502581"/>
            <a:ext cx="4437221" cy="790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900"/>
              <a:buFont typeface="Quattrocento"/>
              <a:buNone/>
            </a:pPr>
            <a:r>
              <a:rPr b="0" i="0" lang="en-US" sz="19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Establece cronogramas realistas y asigna recursos.</a:t>
            </a:r>
            <a:endParaRPr b="0" i="0" sz="1900" u="none" cap="none" strike="noStrike"/>
          </a:p>
        </p:txBody>
      </p:sp>
      <p:pic>
        <p:nvPicPr>
          <p:cNvPr descr="preencoded.png" id="84" name="Google Shape;8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71542" y="2127290"/>
            <a:ext cx="617220" cy="61722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3"/>
          <p:cNvSpPr/>
          <p:nvPr/>
        </p:nvSpPr>
        <p:spPr>
          <a:xfrm>
            <a:off x="5671542" y="2991326"/>
            <a:ext cx="2904530" cy="363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250"/>
              <a:buFont typeface="Quattrocento"/>
              <a:buNone/>
            </a:pPr>
            <a:r>
              <a:rPr b="0" i="0" lang="en-US" sz="22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Control Financiero</a:t>
            </a:r>
            <a:endParaRPr b="0" i="0" sz="2250" u="none" cap="none" strike="noStrike"/>
          </a:p>
        </p:txBody>
      </p:sp>
      <p:sp>
        <p:nvSpPr>
          <p:cNvPr id="86" name="Google Shape;86;p3"/>
          <p:cNvSpPr/>
          <p:nvPr/>
        </p:nvSpPr>
        <p:spPr>
          <a:xfrm>
            <a:off x="5671542" y="3502581"/>
            <a:ext cx="4437221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900"/>
              <a:buFont typeface="Quattrocento"/>
              <a:buNone/>
            </a:pPr>
            <a:r>
              <a:rPr b="0" i="0" lang="en-US" sz="19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Prevé presupuesto y controla costos.</a:t>
            </a:r>
            <a:endParaRPr b="0" i="0" sz="1900" u="none" cap="none" strike="noStrike"/>
          </a:p>
        </p:txBody>
      </p:sp>
      <p:pic>
        <p:nvPicPr>
          <p:cNvPr descr="preencoded.png" id="87" name="Google Shape;87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4037" y="5033248"/>
            <a:ext cx="617220" cy="61722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3"/>
          <p:cNvSpPr/>
          <p:nvPr/>
        </p:nvSpPr>
        <p:spPr>
          <a:xfrm>
            <a:off x="864037" y="5897285"/>
            <a:ext cx="2904530" cy="363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250"/>
              <a:buFont typeface="Quattrocento"/>
              <a:buNone/>
            </a:pPr>
            <a:r>
              <a:rPr b="0" i="0" lang="en-US" sz="22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Gestión de Riesgos</a:t>
            </a:r>
            <a:endParaRPr b="0" i="0" sz="2250" u="none" cap="none" strike="noStrike"/>
          </a:p>
        </p:txBody>
      </p:sp>
      <p:sp>
        <p:nvSpPr>
          <p:cNvPr id="89" name="Google Shape;89;p3"/>
          <p:cNvSpPr/>
          <p:nvPr/>
        </p:nvSpPr>
        <p:spPr>
          <a:xfrm>
            <a:off x="864037" y="6408539"/>
            <a:ext cx="4437221" cy="790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900"/>
              <a:buFont typeface="Quattrocento"/>
              <a:buNone/>
            </a:pPr>
            <a:r>
              <a:rPr b="0" i="0" lang="en-US" sz="19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Identifica desviaciones y permite decisiones informadas.</a:t>
            </a:r>
            <a:endParaRPr b="0" i="0" sz="1900" u="none" cap="none" strike="noStrike"/>
          </a:p>
        </p:txBody>
      </p:sp>
      <p:pic>
        <p:nvPicPr>
          <p:cNvPr descr="preencoded.png" id="90" name="Google Shape;90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71542" y="5033248"/>
            <a:ext cx="617220" cy="61722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3"/>
          <p:cNvSpPr/>
          <p:nvPr/>
        </p:nvSpPr>
        <p:spPr>
          <a:xfrm>
            <a:off x="5671542" y="5897285"/>
            <a:ext cx="2904530" cy="363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250"/>
              <a:buFont typeface="Quattrocento"/>
              <a:buNone/>
            </a:pPr>
            <a:r>
              <a:rPr b="0" i="0" lang="en-US" sz="22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Expectativas Claras</a:t>
            </a:r>
            <a:endParaRPr b="0" i="0" sz="2250" u="none" cap="none" strike="noStrike"/>
          </a:p>
        </p:txBody>
      </p:sp>
      <p:sp>
        <p:nvSpPr>
          <p:cNvPr id="92" name="Google Shape;92;p3"/>
          <p:cNvSpPr/>
          <p:nvPr/>
        </p:nvSpPr>
        <p:spPr>
          <a:xfrm>
            <a:off x="5671542" y="6408539"/>
            <a:ext cx="4437221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900"/>
              <a:buFont typeface="Quattrocento"/>
              <a:buNone/>
            </a:pPr>
            <a:r>
              <a:rPr b="0" i="0" lang="en-US" sz="19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Comunica plazos y costos a interesados.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8" name="Google Shape;9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4"/>
          <p:cNvSpPr/>
          <p:nvPr/>
        </p:nvSpPr>
        <p:spPr>
          <a:xfrm>
            <a:off x="717113" y="728186"/>
            <a:ext cx="7709773" cy="1205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FFD9BE"/>
              </a:buClr>
              <a:buSzPts val="3750"/>
              <a:buFont typeface="Quattrocento"/>
              <a:buNone/>
            </a:pPr>
            <a:r>
              <a:rPr b="0" i="0" lang="en-US" sz="3750" u="none" cap="none" strike="noStrike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Métodos de Estimación de Tiempos</a:t>
            </a:r>
            <a:endParaRPr b="0" i="0" sz="3750" u="none" cap="none" strike="noStrike"/>
          </a:p>
        </p:txBody>
      </p:sp>
      <p:sp>
        <p:nvSpPr>
          <p:cNvPr id="100" name="Google Shape;100;p4"/>
          <p:cNvSpPr/>
          <p:nvPr/>
        </p:nvSpPr>
        <p:spPr>
          <a:xfrm>
            <a:off x="1012984" y="2240637"/>
            <a:ext cx="22860" cy="5260658"/>
          </a:xfrm>
          <a:prstGeom prst="roundRect">
            <a:avLst>
              <a:gd fmla="val 134442" name="adj"/>
            </a:avLst>
          </a:prstGeom>
          <a:solidFill>
            <a:srgbClr val="4A6B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1231999" y="2689979"/>
            <a:ext cx="717113" cy="22860"/>
          </a:xfrm>
          <a:prstGeom prst="roundRect">
            <a:avLst>
              <a:gd fmla="val 134442" name="adj"/>
            </a:avLst>
          </a:prstGeom>
          <a:solidFill>
            <a:srgbClr val="4A6B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793968" y="2471023"/>
            <a:ext cx="460891" cy="460891"/>
          </a:xfrm>
          <a:prstGeom prst="roundRect">
            <a:avLst>
              <a:gd fmla="val 6668" name="adj"/>
            </a:avLst>
          </a:prstGeom>
          <a:solidFill>
            <a:srgbClr val="3152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973157" y="2556867"/>
            <a:ext cx="102394" cy="2892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250"/>
              <a:buFont typeface="Quattrocento"/>
              <a:buNone/>
            </a:pPr>
            <a:r>
              <a:rPr b="0" i="0" lang="en-US" sz="22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1</a:t>
            </a:r>
            <a:endParaRPr b="0" i="0" sz="2250" u="none" cap="none" strike="noStrike"/>
          </a:p>
        </p:txBody>
      </p:sp>
      <p:sp>
        <p:nvSpPr>
          <p:cNvPr id="104" name="Google Shape;104;p4"/>
          <p:cNvSpPr/>
          <p:nvPr/>
        </p:nvSpPr>
        <p:spPr>
          <a:xfrm>
            <a:off x="2151221" y="2445425"/>
            <a:ext cx="2633067" cy="301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850"/>
              <a:buFont typeface="Quattrocento"/>
              <a:buNone/>
            </a:pPr>
            <a:r>
              <a:rPr b="0" i="0" lang="en-US" sz="18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Estimación por Analogía</a:t>
            </a:r>
            <a:endParaRPr b="0" i="0" sz="1850" u="none" cap="none" strike="noStrike"/>
          </a:p>
        </p:txBody>
      </p:sp>
      <p:sp>
        <p:nvSpPr>
          <p:cNvPr id="105" name="Google Shape;105;p4"/>
          <p:cNvSpPr/>
          <p:nvPr/>
        </p:nvSpPr>
        <p:spPr>
          <a:xfrm>
            <a:off x="2151221" y="2869644"/>
            <a:ext cx="6275665" cy="327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600"/>
              <a:buFont typeface="Quattrocento"/>
              <a:buNone/>
            </a:pPr>
            <a:r>
              <a:rPr b="0" i="0" lang="en-US" sz="16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Basada en datos históricos de proyectos similares.</a:t>
            </a:r>
            <a:endParaRPr b="0" i="0" sz="1600" u="none" cap="none" strike="noStrike"/>
          </a:p>
        </p:txBody>
      </p:sp>
      <p:sp>
        <p:nvSpPr>
          <p:cNvPr id="106" name="Google Shape;106;p4"/>
          <p:cNvSpPr/>
          <p:nvPr/>
        </p:nvSpPr>
        <p:spPr>
          <a:xfrm>
            <a:off x="1231999" y="4056340"/>
            <a:ext cx="717113" cy="22860"/>
          </a:xfrm>
          <a:prstGeom prst="roundRect">
            <a:avLst>
              <a:gd fmla="val 134442" name="adj"/>
            </a:avLst>
          </a:prstGeom>
          <a:solidFill>
            <a:srgbClr val="4A6B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793968" y="3837384"/>
            <a:ext cx="460891" cy="460891"/>
          </a:xfrm>
          <a:prstGeom prst="roundRect">
            <a:avLst>
              <a:gd fmla="val 6668" name="adj"/>
            </a:avLst>
          </a:prstGeom>
          <a:solidFill>
            <a:srgbClr val="3152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946845" y="3923228"/>
            <a:ext cx="155019" cy="2892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250"/>
              <a:buFont typeface="Quattrocento"/>
              <a:buNone/>
            </a:pPr>
            <a:r>
              <a:rPr b="0" i="0" lang="en-US" sz="22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2</a:t>
            </a:r>
            <a:endParaRPr b="0" i="0" sz="2250" u="none" cap="none" strike="noStrike"/>
          </a:p>
        </p:txBody>
      </p:sp>
      <p:sp>
        <p:nvSpPr>
          <p:cNvPr id="109" name="Google Shape;109;p4"/>
          <p:cNvSpPr/>
          <p:nvPr/>
        </p:nvSpPr>
        <p:spPr>
          <a:xfrm>
            <a:off x="2151221" y="3811786"/>
            <a:ext cx="2566035" cy="301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850"/>
              <a:buFont typeface="Quattrocento"/>
              <a:buNone/>
            </a:pPr>
            <a:r>
              <a:rPr b="0" i="0" lang="en-US" sz="18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Estimación Paramétrica</a:t>
            </a:r>
            <a:endParaRPr b="0" i="0" sz="1850" u="none" cap="none" strike="noStrike"/>
          </a:p>
        </p:txBody>
      </p:sp>
      <p:sp>
        <p:nvSpPr>
          <p:cNvPr id="110" name="Google Shape;110;p4"/>
          <p:cNvSpPr/>
          <p:nvPr/>
        </p:nvSpPr>
        <p:spPr>
          <a:xfrm>
            <a:off x="2151221" y="4236006"/>
            <a:ext cx="6275665" cy="327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600"/>
              <a:buFont typeface="Quattrocento"/>
              <a:buNone/>
            </a:pPr>
            <a:r>
              <a:rPr b="0" i="0" lang="en-US" sz="16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Usa fórmulas para calcular tiempos.</a:t>
            </a:r>
            <a:endParaRPr b="0" i="0" sz="1600" u="none" cap="none" strike="noStrike"/>
          </a:p>
        </p:txBody>
      </p:sp>
      <p:sp>
        <p:nvSpPr>
          <p:cNvPr id="111" name="Google Shape;111;p4"/>
          <p:cNvSpPr/>
          <p:nvPr/>
        </p:nvSpPr>
        <p:spPr>
          <a:xfrm>
            <a:off x="1231999" y="5422702"/>
            <a:ext cx="717113" cy="22860"/>
          </a:xfrm>
          <a:prstGeom prst="roundRect">
            <a:avLst>
              <a:gd fmla="val 134442" name="adj"/>
            </a:avLst>
          </a:prstGeom>
          <a:solidFill>
            <a:srgbClr val="4A6B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793968" y="5203746"/>
            <a:ext cx="460891" cy="460891"/>
          </a:xfrm>
          <a:prstGeom prst="roundRect">
            <a:avLst>
              <a:gd fmla="val 6668" name="adj"/>
            </a:avLst>
          </a:prstGeom>
          <a:solidFill>
            <a:srgbClr val="3152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945654" y="5289590"/>
            <a:ext cx="157401" cy="2892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250"/>
              <a:buFont typeface="Quattrocento"/>
              <a:buNone/>
            </a:pPr>
            <a:r>
              <a:rPr b="0" i="0" lang="en-US" sz="22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3</a:t>
            </a:r>
            <a:endParaRPr b="0" i="0" sz="2250" u="none" cap="none" strike="noStrike"/>
          </a:p>
        </p:txBody>
      </p:sp>
      <p:sp>
        <p:nvSpPr>
          <p:cNvPr id="114" name="Google Shape;114;p4"/>
          <p:cNvSpPr/>
          <p:nvPr/>
        </p:nvSpPr>
        <p:spPr>
          <a:xfrm>
            <a:off x="2151221" y="5178147"/>
            <a:ext cx="2954060" cy="301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850"/>
              <a:buFont typeface="Quattrocento"/>
              <a:buNone/>
            </a:pPr>
            <a:r>
              <a:rPr b="0" i="0" lang="en-US" sz="18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Estimación por Tres Puntos</a:t>
            </a:r>
            <a:endParaRPr b="0" i="0" sz="1850" u="none" cap="none" strike="noStrike"/>
          </a:p>
        </p:txBody>
      </p:sp>
      <p:sp>
        <p:nvSpPr>
          <p:cNvPr id="115" name="Google Shape;115;p4"/>
          <p:cNvSpPr/>
          <p:nvPr/>
        </p:nvSpPr>
        <p:spPr>
          <a:xfrm>
            <a:off x="2151221" y="5602367"/>
            <a:ext cx="6275665" cy="327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600"/>
              <a:buFont typeface="Quattrocento"/>
              <a:buNone/>
            </a:pPr>
            <a:r>
              <a:rPr b="0" i="0" lang="en-US" sz="16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Combina estimaciones optimistas, pesimistas y más probables.</a:t>
            </a:r>
            <a:endParaRPr b="0" i="0" sz="1600" u="none" cap="none" strike="noStrike"/>
          </a:p>
        </p:txBody>
      </p:sp>
      <p:sp>
        <p:nvSpPr>
          <p:cNvPr id="116" name="Google Shape;116;p4"/>
          <p:cNvSpPr/>
          <p:nvPr/>
        </p:nvSpPr>
        <p:spPr>
          <a:xfrm>
            <a:off x="1231999" y="6789063"/>
            <a:ext cx="717113" cy="22860"/>
          </a:xfrm>
          <a:prstGeom prst="roundRect">
            <a:avLst>
              <a:gd fmla="val 134442" name="adj"/>
            </a:avLst>
          </a:prstGeom>
          <a:solidFill>
            <a:srgbClr val="4A6B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793968" y="6570107"/>
            <a:ext cx="460891" cy="460891"/>
          </a:xfrm>
          <a:prstGeom prst="roundRect">
            <a:avLst>
              <a:gd fmla="val 6668" name="adj"/>
            </a:avLst>
          </a:prstGeom>
          <a:solidFill>
            <a:srgbClr val="3152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950893" y="6655951"/>
            <a:ext cx="146923" cy="2892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250"/>
              <a:buFont typeface="Quattrocento"/>
              <a:buNone/>
            </a:pPr>
            <a:r>
              <a:rPr b="0" i="0" lang="en-US" sz="22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4</a:t>
            </a:r>
            <a:endParaRPr b="0" i="0" sz="2250" u="none" cap="none" strike="noStrike"/>
          </a:p>
        </p:txBody>
      </p:sp>
      <p:sp>
        <p:nvSpPr>
          <p:cNvPr id="119" name="Google Shape;119;p4"/>
          <p:cNvSpPr/>
          <p:nvPr/>
        </p:nvSpPr>
        <p:spPr>
          <a:xfrm>
            <a:off x="2151221" y="6544508"/>
            <a:ext cx="2895957" cy="301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850"/>
              <a:buFont typeface="Quattrocento"/>
              <a:buNone/>
            </a:pPr>
            <a:r>
              <a:rPr b="0" i="0" lang="en-US" sz="18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Descomposición de Tareas</a:t>
            </a:r>
            <a:endParaRPr b="0" i="0" sz="1850" u="none" cap="none" strike="noStrike"/>
          </a:p>
        </p:txBody>
      </p:sp>
      <p:sp>
        <p:nvSpPr>
          <p:cNvPr id="120" name="Google Shape;120;p4"/>
          <p:cNvSpPr/>
          <p:nvPr/>
        </p:nvSpPr>
        <p:spPr>
          <a:xfrm>
            <a:off x="2151221" y="6968728"/>
            <a:ext cx="6275665" cy="327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600"/>
              <a:buFont typeface="Quattrocento"/>
              <a:buNone/>
            </a:pPr>
            <a:r>
              <a:rPr b="0" i="0" lang="en-US" sz="16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Divide tareas en actividades más pequeñas.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/>
          <p:nvPr/>
        </p:nvSpPr>
        <p:spPr>
          <a:xfrm>
            <a:off x="968693" y="2632115"/>
            <a:ext cx="8810030" cy="7260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74"/>
              </a:lnSpc>
              <a:spcBef>
                <a:spcPts val="0"/>
              </a:spcBef>
              <a:spcAft>
                <a:spcPts val="0"/>
              </a:spcAft>
              <a:buClr>
                <a:srgbClr val="FFD9BE"/>
              </a:buClr>
              <a:buSzPts val="4550"/>
              <a:buFont typeface="Quattrocento"/>
              <a:buNone/>
            </a:pPr>
            <a:r>
              <a:rPr b="0" i="0" lang="en-US" sz="4550" u="none" cap="none" strike="noStrike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Métodos de Estimación de Costos</a:t>
            </a:r>
            <a:endParaRPr b="0" i="0" sz="4550" u="none" cap="none" strike="noStrike"/>
          </a:p>
        </p:txBody>
      </p:sp>
      <p:sp>
        <p:nvSpPr>
          <p:cNvPr id="127" name="Google Shape;127;p5"/>
          <p:cNvSpPr/>
          <p:nvPr/>
        </p:nvSpPr>
        <p:spPr>
          <a:xfrm>
            <a:off x="968693" y="3975259"/>
            <a:ext cx="3172897" cy="363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FFD9BE"/>
              </a:buClr>
              <a:buSzPts val="2250"/>
              <a:buFont typeface="Quattrocento"/>
              <a:buNone/>
            </a:pPr>
            <a:r>
              <a:rPr b="0" i="0" lang="en-US" sz="2250" u="none" cap="none" strike="noStrike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Estimación por Analogía</a:t>
            </a:r>
            <a:endParaRPr b="0" i="0" sz="2250" u="none" cap="none" strike="noStrike"/>
          </a:p>
        </p:txBody>
      </p:sp>
      <p:sp>
        <p:nvSpPr>
          <p:cNvPr id="128" name="Google Shape;128;p5"/>
          <p:cNvSpPr/>
          <p:nvPr/>
        </p:nvSpPr>
        <p:spPr>
          <a:xfrm>
            <a:off x="968693" y="4585216"/>
            <a:ext cx="3828931" cy="790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900"/>
              <a:buFont typeface="Quattrocento"/>
              <a:buNone/>
            </a:pPr>
            <a:r>
              <a:rPr b="0" i="0" lang="en-US" sz="19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Basada en proyectos anteriores similares.</a:t>
            </a:r>
            <a:endParaRPr b="0" i="0" sz="1900" u="none" cap="none" strike="noStrike"/>
          </a:p>
        </p:txBody>
      </p:sp>
      <p:sp>
        <p:nvSpPr>
          <p:cNvPr id="129" name="Google Shape;129;p5"/>
          <p:cNvSpPr/>
          <p:nvPr/>
        </p:nvSpPr>
        <p:spPr>
          <a:xfrm>
            <a:off x="5407462" y="3975259"/>
            <a:ext cx="2904530" cy="363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FFD9BE"/>
              </a:buClr>
              <a:buSzPts val="2250"/>
              <a:buFont typeface="Quattrocento"/>
              <a:buNone/>
            </a:pPr>
            <a:r>
              <a:rPr b="0" i="0" lang="en-US" sz="2250" u="none" cap="none" strike="noStrike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Estimación Detallada</a:t>
            </a:r>
            <a:endParaRPr b="0" i="0" sz="2250" u="none" cap="none" strike="noStrike"/>
          </a:p>
        </p:txBody>
      </p:sp>
      <p:sp>
        <p:nvSpPr>
          <p:cNvPr id="130" name="Google Shape;130;p5"/>
          <p:cNvSpPr/>
          <p:nvPr/>
        </p:nvSpPr>
        <p:spPr>
          <a:xfrm>
            <a:off x="5407462" y="4585216"/>
            <a:ext cx="3828931" cy="790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900"/>
              <a:buFont typeface="Quattrocento"/>
              <a:buNone/>
            </a:pPr>
            <a:r>
              <a:rPr b="0" i="0" lang="en-US" sz="19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Descompone costos de cada tarea o actividad.</a:t>
            </a:r>
            <a:endParaRPr b="0" i="0" sz="1900" u="none" cap="none" strike="noStrike"/>
          </a:p>
        </p:txBody>
      </p:sp>
      <p:sp>
        <p:nvSpPr>
          <p:cNvPr id="131" name="Google Shape;131;p5"/>
          <p:cNvSpPr/>
          <p:nvPr/>
        </p:nvSpPr>
        <p:spPr>
          <a:xfrm>
            <a:off x="9846231" y="3975259"/>
            <a:ext cx="2904530" cy="363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FFD9BE"/>
              </a:buClr>
              <a:buSzPts val="2250"/>
              <a:buFont typeface="Quattrocento"/>
              <a:buNone/>
            </a:pPr>
            <a:r>
              <a:rPr b="0" i="0" lang="en-US" sz="2250" u="none" cap="none" strike="noStrike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Valores Ganados</a:t>
            </a:r>
            <a:endParaRPr b="0" i="0" sz="2250" u="none" cap="none" strike="noStrike"/>
          </a:p>
        </p:txBody>
      </p:sp>
      <p:sp>
        <p:nvSpPr>
          <p:cNvPr id="132" name="Google Shape;132;p5"/>
          <p:cNvSpPr/>
          <p:nvPr/>
        </p:nvSpPr>
        <p:spPr>
          <a:xfrm>
            <a:off x="9846231" y="4585216"/>
            <a:ext cx="3828931" cy="790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900"/>
              <a:buFont typeface="Quattrocento"/>
              <a:buNone/>
            </a:pPr>
            <a:r>
              <a:rPr b="0" i="0" lang="en-US" sz="19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Mide rendimiento para predecir costos futuros.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8" name="Google Shape;13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/>
          <p:nvPr/>
        </p:nvSpPr>
        <p:spPr>
          <a:xfrm>
            <a:off x="766167" y="818198"/>
            <a:ext cx="6582132" cy="643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91"/>
              </a:lnSpc>
              <a:spcBef>
                <a:spcPts val="0"/>
              </a:spcBef>
              <a:spcAft>
                <a:spcPts val="0"/>
              </a:spcAft>
              <a:buClr>
                <a:srgbClr val="FFD9BE"/>
              </a:buClr>
              <a:buSzPts val="4050"/>
              <a:buFont typeface="Quattrocento"/>
              <a:buNone/>
            </a:pPr>
            <a:r>
              <a:rPr b="0" i="0" lang="en-US" sz="4050" u="none" cap="none" strike="noStrike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Herramientas de Estimación</a:t>
            </a:r>
            <a:endParaRPr b="0" i="0" sz="4050" u="none" cap="none" strike="noStrike"/>
          </a:p>
        </p:txBody>
      </p:sp>
      <p:sp>
        <p:nvSpPr>
          <p:cNvPr id="140" name="Google Shape;140;p6"/>
          <p:cNvSpPr/>
          <p:nvPr/>
        </p:nvSpPr>
        <p:spPr>
          <a:xfrm>
            <a:off x="766167" y="1790462"/>
            <a:ext cx="7611666" cy="1241108"/>
          </a:xfrm>
          <a:prstGeom prst="roundRect">
            <a:avLst>
              <a:gd fmla="val 2646" name="adj"/>
            </a:avLst>
          </a:prstGeom>
          <a:solidFill>
            <a:srgbClr val="3152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985004" y="2009299"/>
            <a:ext cx="2575560" cy="321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000"/>
              <a:buFont typeface="Quattrocento"/>
              <a:buNone/>
            </a:pPr>
            <a:r>
              <a:rPr b="0" i="0" lang="en-US" sz="20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Software de Gestión</a:t>
            </a:r>
            <a:endParaRPr b="0" i="0" sz="2000" u="none" cap="none" strike="noStrike"/>
          </a:p>
        </p:txBody>
      </p:sp>
      <p:sp>
        <p:nvSpPr>
          <p:cNvPr id="142" name="Google Shape;142;p6"/>
          <p:cNvSpPr/>
          <p:nvPr/>
        </p:nvSpPr>
        <p:spPr>
          <a:xfrm>
            <a:off x="985004" y="2462451"/>
            <a:ext cx="7173992" cy="3502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700"/>
              <a:buFont typeface="Quattrocento"/>
              <a:buNone/>
            </a:pPr>
            <a:r>
              <a:rPr b="0" i="0" lang="en-US" sz="17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Microsoft Project o Primavera para planificación y seguimiento.</a:t>
            </a:r>
            <a:endParaRPr b="0" i="0" sz="1700" u="none" cap="none" strike="noStrike"/>
          </a:p>
        </p:txBody>
      </p:sp>
      <p:sp>
        <p:nvSpPr>
          <p:cNvPr id="143" name="Google Shape;143;p6"/>
          <p:cNvSpPr/>
          <p:nvPr/>
        </p:nvSpPr>
        <p:spPr>
          <a:xfrm>
            <a:off x="766167" y="3250406"/>
            <a:ext cx="7611666" cy="1241108"/>
          </a:xfrm>
          <a:prstGeom prst="roundRect">
            <a:avLst>
              <a:gd fmla="val 2646" name="adj"/>
            </a:avLst>
          </a:prstGeom>
          <a:solidFill>
            <a:srgbClr val="3152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985004" y="3469243"/>
            <a:ext cx="2575560" cy="321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000"/>
              <a:buFont typeface="Quattrocento"/>
              <a:buNone/>
            </a:pPr>
            <a:r>
              <a:rPr b="0" i="0" lang="en-US" sz="20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Hojas de Cálculo</a:t>
            </a:r>
            <a:endParaRPr b="0" i="0" sz="2000" u="none" cap="none" strike="noStrike"/>
          </a:p>
        </p:txBody>
      </p:sp>
      <p:sp>
        <p:nvSpPr>
          <p:cNvPr id="145" name="Google Shape;145;p6"/>
          <p:cNvSpPr/>
          <p:nvPr/>
        </p:nvSpPr>
        <p:spPr>
          <a:xfrm>
            <a:off x="985004" y="3922395"/>
            <a:ext cx="7173992" cy="3502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700"/>
              <a:buFont typeface="Quattrocento"/>
              <a:buNone/>
            </a:pPr>
            <a:r>
              <a:rPr b="0" i="0" lang="en-US" sz="17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Excel para crear modelos de estimación personalizados.</a:t>
            </a:r>
            <a:endParaRPr b="0" i="0" sz="1700" u="none" cap="none" strike="noStrike"/>
          </a:p>
        </p:txBody>
      </p:sp>
      <p:sp>
        <p:nvSpPr>
          <p:cNvPr id="146" name="Google Shape;146;p6"/>
          <p:cNvSpPr/>
          <p:nvPr/>
        </p:nvSpPr>
        <p:spPr>
          <a:xfrm>
            <a:off x="766167" y="4710351"/>
            <a:ext cx="7611666" cy="1241108"/>
          </a:xfrm>
          <a:prstGeom prst="roundRect">
            <a:avLst>
              <a:gd fmla="val 2646" name="adj"/>
            </a:avLst>
          </a:prstGeom>
          <a:solidFill>
            <a:srgbClr val="3152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985004" y="4929188"/>
            <a:ext cx="2731175" cy="321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000"/>
              <a:buFont typeface="Quattrocento"/>
              <a:buNone/>
            </a:pPr>
            <a:r>
              <a:rPr b="0" i="0" lang="en-US" sz="20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Plantillas de Estimación</a:t>
            </a:r>
            <a:endParaRPr b="0" i="0" sz="2000" u="none" cap="none" strike="noStrike"/>
          </a:p>
        </p:txBody>
      </p:sp>
      <p:sp>
        <p:nvSpPr>
          <p:cNvPr id="148" name="Google Shape;148;p6"/>
          <p:cNvSpPr/>
          <p:nvPr/>
        </p:nvSpPr>
        <p:spPr>
          <a:xfrm>
            <a:off x="985004" y="5382339"/>
            <a:ext cx="7173992" cy="3502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700"/>
              <a:buFont typeface="Quattrocento"/>
              <a:buNone/>
            </a:pPr>
            <a:r>
              <a:rPr b="0" i="0" lang="en-US" sz="17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Estructuras predefinidas para facilitar la estimación.</a:t>
            </a:r>
            <a:endParaRPr b="0" i="0" sz="1700" u="none" cap="none" strike="noStrike"/>
          </a:p>
        </p:txBody>
      </p:sp>
      <p:sp>
        <p:nvSpPr>
          <p:cNvPr id="149" name="Google Shape;149;p6"/>
          <p:cNvSpPr/>
          <p:nvPr/>
        </p:nvSpPr>
        <p:spPr>
          <a:xfrm>
            <a:off x="766167" y="6170295"/>
            <a:ext cx="7611666" cy="1241108"/>
          </a:xfrm>
          <a:prstGeom prst="roundRect">
            <a:avLst>
              <a:gd fmla="val 2646" name="adj"/>
            </a:avLst>
          </a:prstGeom>
          <a:solidFill>
            <a:srgbClr val="3152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985004" y="6389132"/>
            <a:ext cx="2575560" cy="321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000"/>
              <a:buFont typeface="Quattrocento"/>
              <a:buNone/>
            </a:pPr>
            <a:r>
              <a:rPr b="0" i="0" lang="en-US" sz="20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Análisis de Riesgos</a:t>
            </a:r>
            <a:endParaRPr b="0" i="0" sz="2000" u="none" cap="none" strike="noStrike"/>
          </a:p>
        </p:txBody>
      </p:sp>
      <p:sp>
        <p:nvSpPr>
          <p:cNvPr id="151" name="Google Shape;151;p6"/>
          <p:cNvSpPr/>
          <p:nvPr/>
        </p:nvSpPr>
        <p:spPr>
          <a:xfrm>
            <a:off x="985004" y="6842284"/>
            <a:ext cx="7173992" cy="3502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700"/>
              <a:buFont typeface="Quattrocento"/>
              <a:buNone/>
            </a:pPr>
            <a:r>
              <a:rPr b="0" i="0" lang="en-US" sz="17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Análisis de Monte Carlo para prever incertidumbres.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7" name="Google Shape;15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7"/>
          <p:cNvSpPr/>
          <p:nvPr/>
        </p:nvSpPr>
        <p:spPr>
          <a:xfrm>
            <a:off x="6173033" y="539948"/>
            <a:ext cx="4616410" cy="576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D9BE"/>
              </a:buClr>
              <a:buSzPts val="3600"/>
              <a:buFont typeface="Quattrocento"/>
              <a:buNone/>
            </a:pPr>
            <a:r>
              <a:rPr b="0" i="0" lang="en-US" sz="3600" u="none" cap="none" strike="noStrike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Mejores Prácticas</a:t>
            </a:r>
            <a:endParaRPr b="0" i="0" sz="3600" u="none" cap="none" strike="noStrike"/>
          </a:p>
        </p:txBody>
      </p:sp>
      <p:pic>
        <p:nvPicPr>
          <p:cNvPr descr="preencoded.png" id="159" name="Google Shape;15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3033" y="1411129"/>
            <a:ext cx="980956" cy="1569601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7"/>
          <p:cNvSpPr/>
          <p:nvPr/>
        </p:nvSpPr>
        <p:spPr>
          <a:xfrm>
            <a:off x="7448193" y="1607225"/>
            <a:ext cx="2308146" cy="288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800"/>
              <a:buFont typeface="Quattrocento"/>
              <a:buNone/>
            </a:pPr>
            <a:r>
              <a:rPr b="0" i="0" lang="en-US" sz="18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Involucrar al Equipo</a:t>
            </a:r>
            <a:endParaRPr b="0" i="0" sz="1800" u="none" cap="none" strike="noStrike"/>
          </a:p>
        </p:txBody>
      </p:sp>
      <p:sp>
        <p:nvSpPr>
          <p:cNvPr id="161" name="Google Shape;161;p7"/>
          <p:cNvSpPr/>
          <p:nvPr/>
        </p:nvSpPr>
        <p:spPr>
          <a:xfrm>
            <a:off x="7448193" y="2013347"/>
            <a:ext cx="6495574" cy="31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500"/>
              <a:buFont typeface="Quattrocento"/>
              <a:buNone/>
            </a:pPr>
            <a:r>
              <a:rPr b="0" i="0" lang="en-US" sz="15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Incluir a todos los miembros en el proceso.</a:t>
            </a:r>
            <a:endParaRPr b="0" i="0" sz="1500" u="none" cap="none" strike="noStrike"/>
          </a:p>
        </p:txBody>
      </p:sp>
      <p:pic>
        <p:nvPicPr>
          <p:cNvPr descr="preencoded.png" id="162" name="Google Shape;16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73033" y="2980730"/>
            <a:ext cx="980956" cy="156960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7"/>
          <p:cNvSpPr/>
          <p:nvPr/>
        </p:nvSpPr>
        <p:spPr>
          <a:xfrm>
            <a:off x="7448193" y="3176826"/>
            <a:ext cx="2308146" cy="288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800"/>
              <a:buFont typeface="Quattrocento"/>
              <a:buNone/>
            </a:pPr>
            <a:r>
              <a:rPr b="0" i="0" lang="en-US" sz="18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Revisar y Ajustar</a:t>
            </a:r>
            <a:endParaRPr b="0" i="0" sz="1800" u="none" cap="none" strike="noStrike"/>
          </a:p>
        </p:txBody>
      </p:sp>
      <p:sp>
        <p:nvSpPr>
          <p:cNvPr id="164" name="Google Shape;164;p7"/>
          <p:cNvSpPr/>
          <p:nvPr/>
        </p:nvSpPr>
        <p:spPr>
          <a:xfrm>
            <a:off x="7448193" y="3582948"/>
            <a:ext cx="6495574" cy="31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500"/>
              <a:buFont typeface="Quattrocento"/>
              <a:buNone/>
            </a:pPr>
            <a:r>
              <a:rPr b="0" i="0" lang="en-US" sz="15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Realizar revisiones periódicas de las estimaciones.</a:t>
            </a:r>
            <a:endParaRPr b="0" i="0" sz="1500" u="none" cap="none" strike="noStrike"/>
          </a:p>
        </p:txBody>
      </p:sp>
      <p:pic>
        <p:nvPicPr>
          <p:cNvPr descr="preencoded.png" id="165" name="Google Shape;165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73033" y="4550331"/>
            <a:ext cx="980956" cy="1569601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7"/>
          <p:cNvSpPr/>
          <p:nvPr/>
        </p:nvSpPr>
        <p:spPr>
          <a:xfrm>
            <a:off x="7448193" y="4746427"/>
            <a:ext cx="2308146" cy="288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800"/>
              <a:buFont typeface="Quattrocento"/>
              <a:buNone/>
            </a:pPr>
            <a:r>
              <a:rPr b="0" i="0" lang="en-US" sz="18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Usar Datos Históricos</a:t>
            </a:r>
            <a:endParaRPr b="0" i="0" sz="1800" u="none" cap="none" strike="noStrike"/>
          </a:p>
        </p:txBody>
      </p:sp>
      <p:sp>
        <p:nvSpPr>
          <p:cNvPr id="167" name="Google Shape;167;p7"/>
          <p:cNvSpPr/>
          <p:nvPr/>
        </p:nvSpPr>
        <p:spPr>
          <a:xfrm>
            <a:off x="7448193" y="5152549"/>
            <a:ext cx="6495574" cy="31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500"/>
              <a:buFont typeface="Quattrocento"/>
              <a:buNone/>
            </a:pPr>
            <a:r>
              <a:rPr b="0" i="0" lang="en-US" sz="15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Aprender de proyectos anteriores para mejorar precisión.</a:t>
            </a:r>
            <a:endParaRPr b="0" i="0" sz="1500" u="none" cap="none" strike="noStrike"/>
          </a:p>
        </p:txBody>
      </p:sp>
      <p:pic>
        <p:nvPicPr>
          <p:cNvPr descr="preencoded.png" id="168" name="Google Shape;168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73033" y="6119932"/>
            <a:ext cx="980956" cy="156960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7"/>
          <p:cNvSpPr/>
          <p:nvPr/>
        </p:nvSpPr>
        <p:spPr>
          <a:xfrm>
            <a:off x="7448193" y="6316028"/>
            <a:ext cx="2573536" cy="288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800"/>
              <a:buFont typeface="Quattrocento"/>
              <a:buNone/>
            </a:pPr>
            <a:r>
              <a:rPr b="0" i="0" lang="en-US" sz="18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Documentar Asunciones</a:t>
            </a:r>
            <a:endParaRPr b="0" i="0" sz="1800" u="none" cap="none" strike="noStrike"/>
          </a:p>
        </p:txBody>
      </p:sp>
      <p:sp>
        <p:nvSpPr>
          <p:cNvPr id="170" name="Google Shape;170;p7"/>
          <p:cNvSpPr/>
          <p:nvPr/>
        </p:nvSpPr>
        <p:spPr>
          <a:xfrm>
            <a:off x="7448193" y="6722150"/>
            <a:ext cx="6495574" cy="31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500"/>
              <a:buFont typeface="Quattrocento"/>
              <a:buNone/>
            </a:pPr>
            <a:r>
              <a:rPr b="0" i="0" lang="en-US" sz="15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Mantener registro de suposiciones para futuras referencias.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6" name="Google Shape;17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8"/>
          <p:cNvSpPr/>
          <p:nvPr/>
        </p:nvSpPr>
        <p:spPr>
          <a:xfrm>
            <a:off x="864037" y="1148834"/>
            <a:ext cx="5809059" cy="7260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74"/>
              </a:lnSpc>
              <a:spcBef>
                <a:spcPts val="0"/>
              </a:spcBef>
              <a:spcAft>
                <a:spcPts val="0"/>
              </a:spcAft>
              <a:buClr>
                <a:srgbClr val="FFD9BE"/>
              </a:buClr>
              <a:buSzPts val="4550"/>
              <a:buFont typeface="Quattrocento"/>
              <a:buNone/>
            </a:pPr>
            <a:r>
              <a:rPr b="0" i="0" lang="en-US" sz="4550" u="none" cap="none" strike="noStrike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Conclusiones</a:t>
            </a:r>
            <a:endParaRPr b="0" i="0" sz="4550" u="none" cap="none" strike="noStrike"/>
          </a:p>
        </p:txBody>
      </p:sp>
      <p:sp>
        <p:nvSpPr>
          <p:cNvPr id="178" name="Google Shape;178;p8"/>
          <p:cNvSpPr/>
          <p:nvPr/>
        </p:nvSpPr>
        <p:spPr>
          <a:xfrm>
            <a:off x="864037" y="2522815"/>
            <a:ext cx="555427" cy="555427"/>
          </a:xfrm>
          <a:prstGeom prst="roundRect">
            <a:avLst>
              <a:gd fmla="val 6668" name="adj"/>
            </a:avLst>
          </a:prstGeom>
          <a:solidFill>
            <a:srgbClr val="3152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1080016" y="2626281"/>
            <a:ext cx="123468" cy="348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700"/>
              <a:buFont typeface="Quattrocento"/>
              <a:buNone/>
            </a:pPr>
            <a:r>
              <a:rPr b="0" i="0" lang="en-US" sz="27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1</a:t>
            </a:r>
            <a:endParaRPr b="0" i="0" sz="2700" u="none" cap="none" strike="noStrike"/>
          </a:p>
        </p:txBody>
      </p:sp>
      <p:sp>
        <p:nvSpPr>
          <p:cNvPr id="180" name="Google Shape;180;p8"/>
          <p:cNvSpPr/>
          <p:nvPr/>
        </p:nvSpPr>
        <p:spPr>
          <a:xfrm>
            <a:off x="1666280" y="2522815"/>
            <a:ext cx="2904530" cy="363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250"/>
              <a:buFont typeface="Quattrocento"/>
              <a:buNone/>
            </a:pPr>
            <a:r>
              <a:rPr b="0" i="0" lang="en-US" sz="22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Importancia</a:t>
            </a:r>
            <a:endParaRPr b="0" i="0" sz="2250" u="none" cap="none" strike="noStrike"/>
          </a:p>
        </p:txBody>
      </p:sp>
      <p:sp>
        <p:nvSpPr>
          <p:cNvPr id="181" name="Google Shape;181;p8"/>
          <p:cNvSpPr/>
          <p:nvPr/>
        </p:nvSpPr>
        <p:spPr>
          <a:xfrm>
            <a:off x="1666280" y="3034070"/>
            <a:ext cx="6613684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900"/>
              <a:buFont typeface="Quattrocento"/>
              <a:buNone/>
            </a:pPr>
            <a:r>
              <a:rPr b="0" i="0" lang="en-US" sz="19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Estimación precisa crucial para éxito del proyecto.</a:t>
            </a:r>
            <a:endParaRPr b="0" i="0" sz="1900" u="none" cap="none" strike="noStrike"/>
          </a:p>
        </p:txBody>
      </p:sp>
      <p:sp>
        <p:nvSpPr>
          <p:cNvPr id="182" name="Google Shape;182;p8"/>
          <p:cNvSpPr/>
          <p:nvPr/>
        </p:nvSpPr>
        <p:spPr>
          <a:xfrm>
            <a:off x="864037" y="3953589"/>
            <a:ext cx="555427" cy="555427"/>
          </a:xfrm>
          <a:prstGeom prst="roundRect">
            <a:avLst>
              <a:gd fmla="val 6668" name="adj"/>
            </a:avLst>
          </a:prstGeom>
          <a:solidFill>
            <a:srgbClr val="3152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1048345" y="4057055"/>
            <a:ext cx="186809" cy="348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700"/>
              <a:buFont typeface="Quattrocento"/>
              <a:buNone/>
            </a:pPr>
            <a:r>
              <a:rPr b="0" i="0" lang="en-US" sz="27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2</a:t>
            </a:r>
            <a:endParaRPr b="0" i="0" sz="2700" u="none" cap="none" strike="noStrike"/>
          </a:p>
        </p:txBody>
      </p:sp>
      <p:sp>
        <p:nvSpPr>
          <p:cNvPr id="184" name="Google Shape;184;p8"/>
          <p:cNvSpPr/>
          <p:nvPr/>
        </p:nvSpPr>
        <p:spPr>
          <a:xfrm>
            <a:off x="1666280" y="3953589"/>
            <a:ext cx="3206829" cy="363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250"/>
              <a:buFont typeface="Quattrocento"/>
              <a:buNone/>
            </a:pPr>
            <a:r>
              <a:rPr b="0" i="0" lang="en-US" sz="22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Métodos y Herramientas</a:t>
            </a:r>
            <a:endParaRPr b="0" i="0" sz="2250" u="none" cap="none" strike="noStrike"/>
          </a:p>
        </p:txBody>
      </p:sp>
      <p:sp>
        <p:nvSpPr>
          <p:cNvPr id="185" name="Google Shape;185;p8"/>
          <p:cNvSpPr/>
          <p:nvPr/>
        </p:nvSpPr>
        <p:spPr>
          <a:xfrm>
            <a:off x="1666280" y="4464844"/>
            <a:ext cx="6613684" cy="790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900"/>
              <a:buFont typeface="Quattrocento"/>
              <a:buNone/>
            </a:pPr>
            <a:r>
              <a:rPr b="0" i="0" lang="en-US" sz="19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Emplear adecuadamente mejora exactitud de estimaciones.</a:t>
            </a:r>
            <a:endParaRPr b="0" i="0" sz="1900" u="none" cap="none" strike="noStrike"/>
          </a:p>
        </p:txBody>
      </p:sp>
      <p:sp>
        <p:nvSpPr>
          <p:cNvPr id="186" name="Google Shape;186;p8"/>
          <p:cNvSpPr/>
          <p:nvPr/>
        </p:nvSpPr>
        <p:spPr>
          <a:xfrm>
            <a:off x="864037" y="5779413"/>
            <a:ext cx="555427" cy="555427"/>
          </a:xfrm>
          <a:prstGeom prst="roundRect">
            <a:avLst>
              <a:gd fmla="val 6668" name="adj"/>
            </a:avLst>
          </a:prstGeom>
          <a:solidFill>
            <a:srgbClr val="3152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1046917" y="5882878"/>
            <a:ext cx="189667" cy="348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700"/>
              <a:buFont typeface="Quattrocento"/>
              <a:buNone/>
            </a:pPr>
            <a:r>
              <a:rPr b="0" i="0" lang="en-US" sz="27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3</a:t>
            </a:r>
            <a:endParaRPr b="0" i="0" sz="2700" u="none" cap="none" strike="noStrike"/>
          </a:p>
        </p:txBody>
      </p:sp>
      <p:sp>
        <p:nvSpPr>
          <p:cNvPr id="188" name="Google Shape;188;p8"/>
          <p:cNvSpPr/>
          <p:nvPr/>
        </p:nvSpPr>
        <p:spPr>
          <a:xfrm>
            <a:off x="1666280" y="5779413"/>
            <a:ext cx="2904530" cy="363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250"/>
              <a:buFont typeface="Quattrocento"/>
              <a:buNone/>
            </a:pPr>
            <a:r>
              <a:rPr b="0" i="0" lang="en-US" sz="22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Mejores Prácticas</a:t>
            </a:r>
            <a:endParaRPr b="0" i="0" sz="2250" u="none" cap="none" strike="noStrike"/>
          </a:p>
        </p:txBody>
      </p:sp>
      <p:sp>
        <p:nvSpPr>
          <p:cNvPr id="189" name="Google Shape;189;p8"/>
          <p:cNvSpPr/>
          <p:nvPr/>
        </p:nvSpPr>
        <p:spPr>
          <a:xfrm>
            <a:off x="1666280" y="6290667"/>
            <a:ext cx="6613684" cy="790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900"/>
              <a:buFont typeface="Quattrocento"/>
              <a:buNone/>
            </a:pPr>
            <a:r>
              <a:rPr b="0" i="0" lang="en-US" sz="19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Aseguran gestión eficiente y control adecuado del proyecto.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"/>
          <p:cNvSpPr/>
          <p:nvPr/>
        </p:nvSpPr>
        <p:spPr>
          <a:xfrm>
            <a:off x="968693" y="795933"/>
            <a:ext cx="5809059" cy="7260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74"/>
              </a:lnSpc>
              <a:spcBef>
                <a:spcPts val="0"/>
              </a:spcBef>
              <a:spcAft>
                <a:spcPts val="0"/>
              </a:spcAft>
              <a:buClr>
                <a:srgbClr val="FFD9BE"/>
              </a:buClr>
              <a:buSzPts val="4550"/>
              <a:buFont typeface="Quattrocento"/>
              <a:buNone/>
            </a:pPr>
            <a:r>
              <a:rPr b="0" i="0" lang="en-US" sz="4550" u="none" cap="none" strike="noStrike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Preguntas y Discusión</a:t>
            </a:r>
            <a:endParaRPr b="0" i="0" sz="4550" u="none" cap="none" strike="noStrike"/>
          </a:p>
        </p:txBody>
      </p:sp>
      <p:pic>
        <p:nvPicPr>
          <p:cNvPr descr="preencoded.png" id="196" name="Google Shape;19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8693" y="2015728"/>
            <a:ext cx="6161246" cy="3807857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9"/>
          <p:cNvSpPr/>
          <p:nvPr/>
        </p:nvSpPr>
        <p:spPr>
          <a:xfrm>
            <a:off x="968693" y="6132195"/>
            <a:ext cx="2904530" cy="363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250"/>
              <a:buFont typeface="Quattrocento"/>
              <a:buNone/>
            </a:pPr>
            <a:r>
              <a:rPr b="0" i="0" lang="en-US" sz="22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Preguntas</a:t>
            </a:r>
            <a:endParaRPr b="0" i="0" sz="2250" u="none" cap="none" strike="noStrike"/>
          </a:p>
        </p:txBody>
      </p:sp>
      <p:sp>
        <p:nvSpPr>
          <p:cNvPr id="198" name="Google Shape;198;p9"/>
          <p:cNvSpPr/>
          <p:nvPr/>
        </p:nvSpPr>
        <p:spPr>
          <a:xfrm>
            <a:off x="968693" y="6643449"/>
            <a:ext cx="6161246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900"/>
              <a:buFont typeface="Quattrocento"/>
              <a:buNone/>
            </a:pPr>
            <a:r>
              <a:rPr b="0" i="0" lang="en-US" sz="19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Espacio para preguntas del público.</a:t>
            </a:r>
            <a:endParaRPr b="0" i="0" sz="1900" u="none" cap="none" strike="noStrike"/>
          </a:p>
        </p:txBody>
      </p:sp>
      <p:pic>
        <p:nvPicPr>
          <p:cNvPr descr="preencoded.png" id="199" name="Google Shape;19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0223" y="2015728"/>
            <a:ext cx="6161365" cy="3807976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9"/>
          <p:cNvSpPr/>
          <p:nvPr/>
        </p:nvSpPr>
        <p:spPr>
          <a:xfrm>
            <a:off x="7500223" y="6132314"/>
            <a:ext cx="2904530" cy="363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250"/>
              <a:buFont typeface="Quattrocento"/>
              <a:buNone/>
            </a:pPr>
            <a:r>
              <a:rPr b="0" i="0" lang="en-US" sz="225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Discusión</a:t>
            </a:r>
            <a:endParaRPr b="0" i="0" sz="2250" u="none" cap="none" strike="noStrike"/>
          </a:p>
        </p:txBody>
      </p:sp>
      <p:sp>
        <p:nvSpPr>
          <p:cNvPr id="201" name="Google Shape;201;p9"/>
          <p:cNvSpPr/>
          <p:nvPr/>
        </p:nvSpPr>
        <p:spPr>
          <a:xfrm>
            <a:off x="7500223" y="6643568"/>
            <a:ext cx="6161365" cy="790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1900"/>
              <a:buFont typeface="Quattrocento"/>
              <a:buNone/>
            </a:pPr>
            <a:r>
              <a:rPr b="0" i="0" lang="en-US" sz="19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Compartir experiencias previas en estimación de proyectos.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2024-11-04T05:04:29Z</dcterms:created>
  <dc:creator>PptxGenJS</dc:creator>
</cp:coreProperties>
</file>