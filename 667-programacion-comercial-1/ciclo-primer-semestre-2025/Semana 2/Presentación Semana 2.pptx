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10287000" cx="18288000"/>
  <p:notesSz cx="6858000" cy="9144000"/>
  <p:embeddedFontLst>
    <p:embeddedFont>
      <p:font typeface="Lobster"/>
      <p:regular r:id="rId30"/>
    </p:embeddedFont>
    <p:embeddedFont>
      <p:font typeface="Pacifico"/>
      <p:regular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gVp3bNnAc/GEsnqeIyswGO5+Pd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acifico-regular.fntdata"/><Relationship Id="rId30" Type="http://schemas.openxmlformats.org/officeDocument/2006/relationships/font" Target="fonts/Lobster-regular.fntdata"/><Relationship Id="rId11" Type="http://schemas.openxmlformats.org/officeDocument/2006/relationships/slide" Target="slides/slide6.xml"/><Relationship Id="rId33" Type="http://schemas.openxmlformats.org/officeDocument/2006/relationships/font" Target="fonts/OpenSans-bold.fntdata"/><Relationship Id="rId10" Type="http://schemas.openxmlformats.org/officeDocument/2006/relationships/slide" Target="slides/slide5.xml"/><Relationship Id="rId32" Type="http://schemas.openxmlformats.org/officeDocument/2006/relationships/font" Target="fonts/OpenSans-regular.fntdata"/><Relationship Id="rId13" Type="http://schemas.openxmlformats.org/officeDocument/2006/relationships/slide" Target="slides/slide8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34" Type="http://schemas.openxmlformats.org/officeDocument/2006/relationships/font" Target="fonts/OpenSans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f60101c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5f60101cb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0a6c6b91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60a6c6b91b_1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f60101cb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g35f60101cbc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0a6c6b91b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60a6c6b91b_1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0a6c6b91b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g360a6c6b91b_1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f60101cb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5f60101cbc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f60101cb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5f60101cbc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0a6c6b91b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60a6c6b91b_1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5f60101cb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5f60101cbc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0a6c6b91b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g360a6c6b91b_1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0a6c6b91b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g360a6c6b91b_1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60a6c6b91b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360a6c6b91b_1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5f60101cb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35f60101cbc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0a6c6b91b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g360a6c6b91b_1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mailto:3017081180101@ingenieria.usac.edu.gt" TargetMode="External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952500" y="6801952"/>
            <a:ext cx="6667499" cy="2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Programación Comercial I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687405" y="3915649"/>
            <a:ext cx="12375000" cy="1982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Microsoft Access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26189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63303" y="9189100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28599" y="9632950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2"/>
          <p:cNvGrpSpPr/>
          <p:nvPr/>
        </p:nvGrpSpPr>
        <p:grpSpPr>
          <a:xfrm>
            <a:off x="1105325" y="4490001"/>
            <a:ext cx="6574276" cy="876104"/>
            <a:chOff x="-3" y="-89279"/>
            <a:chExt cx="2799000" cy="373002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6" name="Google Shape;96;p2"/>
            <p:cNvSpPr txBox="1"/>
            <p:nvPr/>
          </p:nvSpPr>
          <p:spPr>
            <a:xfrm>
              <a:off x="-3" y="-89279"/>
              <a:ext cx="2799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USOS DE LAS BASES DE DATOS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8" name="Google Shape;98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0" name="Google Shape;100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04" name="Google Shape;104;p2"/>
          <p:cNvGrpSpPr/>
          <p:nvPr/>
        </p:nvGrpSpPr>
        <p:grpSpPr>
          <a:xfrm>
            <a:off x="9183187" y="2816582"/>
            <a:ext cx="8535943" cy="1701145"/>
            <a:chOff x="-673348" y="-109573"/>
            <a:chExt cx="2248150" cy="448038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6" name="Google Shape;106;p2"/>
            <p:cNvSpPr txBox="1"/>
            <p:nvPr/>
          </p:nvSpPr>
          <p:spPr>
            <a:xfrm>
              <a:off x="-673348" y="-109573"/>
              <a:ext cx="2248150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https://youtu.be/6S8A-1jBD5Y</a:t>
              </a:r>
              <a:endPara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10095577" y="4238590"/>
            <a:ext cx="7707085" cy="1809819"/>
            <a:chOff x="-155233" y="-142922"/>
            <a:chExt cx="1565247" cy="476660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9" name="Google Shape;109;p2"/>
            <p:cNvSpPr txBox="1"/>
            <p:nvPr/>
          </p:nvSpPr>
          <p:spPr>
            <a:xfrm>
              <a:off x="-155233" y="-142922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https://create.kahoot.it/share/clase1/c4d6763b-d318-4750-8a78-d0732f4c0dcc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oogle Shape;110;p2"/>
          <p:cNvGrpSpPr/>
          <p:nvPr/>
        </p:nvGrpSpPr>
        <p:grpSpPr>
          <a:xfrm>
            <a:off x="1405646" y="5501767"/>
            <a:ext cx="7007952" cy="870160"/>
            <a:chOff x="0" y="-86748"/>
            <a:chExt cx="1964221" cy="370471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0" y="-86748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  QUÉ ES MICROSOFT ACCESS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2"/>
          <p:cNvGrpSpPr/>
          <p:nvPr/>
        </p:nvGrpSpPr>
        <p:grpSpPr>
          <a:xfrm>
            <a:off x="176619" y="6448425"/>
            <a:ext cx="10108935" cy="845566"/>
            <a:chOff x="0" y="-21101"/>
            <a:chExt cx="4225130" cy="360000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5" name="Google Shape;115;p2"/>
            <p:cNvSpPr txBox="1"/>
            <p:nvPr/>
          </p:nvSpPr>
          <p:spPr>
            <a:xfrm>
              <a:off x="371930" y="-21101"/>
              <a:ext cx="38532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  ELEMENTOS BÁSICOS DE MICROSOFT ACCESS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2"/>
          <p:cNvGrpSpPr/>
          <p:nvPr/>
        </p:nvGrpSpPr>
        <p:grpSpPr>
          <a:xfrm>
            <a:off x="176619" y="7456989"/>
            <a:ext cx="6574232" cy="845385"/>
            <a:chOff x="0" y="-30418"/>
            <a:chExt cx="2329958" cy="359923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8" name="Google Shape;118;p2"/>
            <p:cNvSpPr txBox="1"/>
            <p:nvPr/>
          </p:nvSpPr>
          <p:spPr>
            <a:xfrm>
              <a:off x="480037" y="-30418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 TABLAS Y TIPOS DE DATOS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176619" y="8412915"/>
            <a:ext cx="10717804" cy="845385"/>
            <a:chOff x="0" y="-76200"/>
            <a:chExt cx="1964221" cy="359923"/>
          </a:xfrm>
        </p:grpSpPr>
        <p:sp>
          <p:nvSpPr>
            <p:cNvPr id="120" name="Google Shape;12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1" name="Google Shape;121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               CONSULTAS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/>
          <p:nvPr/>
        </p:nvSpPr>
        <p:spPr>
          <a:xfrm>
            <a:off x="2415014" y="2176489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2113927" y="3989475"/>
            <a:ext cx="13543800" cy="41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51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Diseña Bases de datos estructuradas utilizando buenas prácticas para implementar soluciones de almacenamiento escalables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f60101cbc_0_0"/>
          <p:cNvSpPr txBox="1"/>
          <p:nvPr/>
        </p:nvSpPr>
        <p:spPr>
          <a:xfrm>
            <a:off x="5365470" y="1478875"/>
            <a:ext cx="80358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Medios de Comunicación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7" name="Google Shape;137;g35f60101cbc_0_0"/>
          <p:cNvSpPr txBox="1"/>
          <p:nvPr/>
        </p:nvSpPr>
        <p:spPr>
          <a:xfrm>
            <a:off x="1333701" y="4383138"/>
            <a:ext cx="11247900" cy="1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26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UEDI (Medio Oficial)</a:t>
            </a:r>
            <a:endParaRPr b="1" i="0" sz="26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26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GMAIL: </a:t>
            </a:r>
            <a:r>
              <a:rPr b="1" i="0" lang="en-US" sz="26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3017081180101@ingenieria.usac.edu.gt</a:t>
            </a:r>
            <a:endParaRPr b="1" i="0" sz="26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26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Asunto Correo: [PC1]Asunto Ejemplo: [PC1]Duda nota HT1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g35f60101cbc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57400" y="3692059"/>
            <a:ext cx="3242925" cy="259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5f60101cbc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6200" y="7111021"/>
            <a:ext cx="3481775" cy="13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"/>
          <p:cNvSpPr txBox="1"/>
          <p:nvPr/>
        </p:nvSpPr>
        <p:spPr>
          <a:xfrm>
            <a:off x="1374889" y="2126480"/>
            <a:ext cx="16050900" cy="50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3200"/>
              <a:t>Usos de las bases de datos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/>
              <a:t>4</a:t>
            </a:r>
            <a:r>
              <a:rPr lang="en-US" sz="2800"/>
              <a:t>.</a:t>
            </a:r>
            <a:r>
              <a:rPr b="1" lang="en-US" sz="2800"/>
              <a:t>Salud</a:t>
            </a:r>
            <a:r>
              <a:rPr lang="en-US" sz="2800"/>
              <a:t>: o Almacenamiento de registros médicos y tratamientos. o Gestión de citas y horarios. o Seguimiento de inventarios de medicamentos y suministros médicos. </a:t>
            </a:r>
            <a:endParaRPr sz="2800"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/>
              <a:t>5.</a:t>
            </a:r>
            <a:r>
              <a:rPr b="1" lang="en-US" sz="2800"/>
              <a:t>Gobierno y Servicios Públicos</a:t>
            </a:r>
            <a:r>
              <a:rPr lang="en-US" sz="2800"/>
              <a:t>: o Gestión de registros de ciudadanos y servicios. o Seguimiento de impuestos y finanzas. o Administración de datos de infraestructuras y recursos públicos. 6.</a:t>
            </a:r>
            <a:r>
              <a:rPr b="1" lang="en-US" sz="2800"/>
              <a:t>Investigación y Ciencia:</a:t>
            </a:r>
            <a:r>
              <a:rPr lang="en-US" sz="2800"/>
              <a:t> o Almacenamiento de datos experimentales y resultados. o Gestión de bibliografías y referencias. o Seguimiento de proyectos y colaboraciones.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/>
        </p:nvSpPr>
        <p:spPr>
          <a:xfrm>
            <a:off x="1298789" y="2126480"/>
            <a:ext cx="16050900" cy="5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600"/>
              <a:t>Microsoft Access</a:t>
            </a:r>
            <a:endParaRPr i="0" sz="20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/>
              <a:t>Microsoft Access es un sistema de gestión de bases de datos (DBMS) desarrollado por Microsoft. Forma parte del paquete de aplicaciones de Microsoft Office, y combina el motor de base de datos relacional Microsoft Jet Database Engine con una interfaz gráfica de usuario y herramientas de desarrollo de software. Access es conocido por su facilidad de uso, lo que permite a usuarios y desarrolladores crear bases de datos y aplicaciones de bases de datos sin necesidad de conocimientos avanzados en programación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/>
        </p:nvSpPr>
        <p:spPr>
          <a:xfrm>
            <a:off x="1374889" y="2126480"/>
            <a:ext cx="16050900" cy="46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600"/>
              <a:t>Elementos Básicos en Access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/>
              <a:t>•Tablas </a:t>
            </a:r>
            <a:endParaRPr sz="2800"/>
          </a:p>
          <a:p>
            <a:pPr indent="0" lvl="0" marL="22860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/>
              <a:t>•Consultas </a:t>
            </a:r>
            <a:endParaRPr sz="2800"/>
          </a:p>
          <a:p>
            <a:pPr indent="0" lvl="0" marL="22860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/>
              <a:t>•Formularios </a:t>
            </a:r>
            <a:endParaRPr sz="2800"/>
          </a:p>
          <a:p>
            <a:pPr indent="0" lvl="0" marL="22860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/>
              <a:t>•Informes </a:t>
            </a:r>
            <a:endParaRPr sz="2800"/>
          </a:p>
          <a:p>
            <a:pPr indent="0" lvl="0" marL="22860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/>
              <a:t>•Macros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pic>
        <p:nvPicPr>
          <p:cNvPr id="156" name="Google Shape;15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5075" y="3244761"/>
            <a:ext cx="3379550" cy="339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g360a6c6b91b_1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5049" y="3738150"/>
            <a:ext cx="11167875" cy="31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60a6c6b91b_1_5"/>
          <p:cNvSpPr txBox="1"/>
          <p:nvPr/>
        </p:nvSpPr>
        <p:spPr>
          <a:xfrm>
            <a:off x="1679850" y="1928050"/>
            <a:ext cx="149283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chemeClr val="dk1"/>
                </a:solidFill>
              </a:rPr>
              <a:t>Elementos Básicos en Access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f60101cbc_0_9"/>
          <p:cNvSpPr txBox="1"/>
          <p:nvPr/>
        </p:nvSpPr>
        <p:spPr>
          <a:xfrm>
            <a:off x="1463689" y="1428805"/>
            <a:ext cx="16050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600"/>
              <a:t>Tablas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5f60101cbc_0_9"/>
          <p:cNvSpPr txBox="1"/>
          <p:nvPr/>
        </p:nvSpPr>
        <p:spPr>
          <a:xfrm>
            <a:off x="3962500" y="2453900"/>
            <a:ext cx="10729800" cy="21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 Las tablas constituyen el fundamento de una base de datos en Access, siendo el lugar donde se organiza la información.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169" name="Google Shape;169;g35f60101cbc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188" y="3940075"/>
            <a:ext cx="7210425" cy="416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0a6c6b91b_1_22"/>
          <p:cNvSpPr txBox="1"/>
          <p:nvPr/>
        </p:nvSpPr>
        <p:spPr>
          <a:xfrm>
            <a:off x="1463689" y="1428805"/>
            <a:ext cx="16050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600"/>
              <a:t>Tablas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60a6c6b91b_1_22"/>
          <p:cNvSpPr txBox="1"/>
          <p:nvPr/>
        </p:nvSpPr>
        <p:spPr>
          <a:xfrm>
            <a:off x="3962500" y="2453900"/>
            <a:ext cx="10729800" cy="21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 Las tablas constituyen el fundamento de una base de datos en Access, siendo el lugar donde se organiza la información.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0a6c6b91b_1_28"/>
          <p:cNvSpPr txBox="1"/>
          <p:nvPr/>
        </p:nvSpPr>
        <p:spPr>
          <a:xfrm>
            <a:off x="1730067" y="4789500"/>
            <a:ext cx="3913200" cy="19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600"/>
              <a:t>Tipos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g360a6c6b91b_1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6600" y="853125"/>
            <a:ext cx="10686024" cy="858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f60101cbc_0_27"/>
          <p:cNvSpPr txBox="1"/>
          <p:nvPr/>
        </p:nvSpPr>
        <p:spPr>
          <a:xfrm>
            <a:off x="1666639" y="1555680"/>
            <a:ext cx="16050900" cy="3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600"/>
              <a:t>Consultas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/>
              <a:t> Las consultas en Microsoft Access son herramientas poderosas que permiten a los usuarios buscar, filtrar, actualizar y manipular datos almacenados en las tablas de una base de datos. Las consultas pueden ser diseñadas utilizando el Generador de Consultas, que proporciona una interfaz gráfica intuitiva, o mediante la escritura de sentencias SQL (Structured Query Language)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g35f60101cbc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9500" y="1209225"/>
            <a:ext cx="13241024" cy="710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0a6c6b91b_1_37"/>
          <p:cNvSpPr txBox="1"/>
          <p:nvPr/>
        </p:nvSpPr>
        <p:spPr>
          <a:xfrm>
            <a:off x="1666639" y="1555680"/>
            <a:ext cx="16050900" cy="5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600"/>
              <a:t> ¿CÚAL ES EL FIN DE UNA CONSULTA?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Recuperar datos específicos: Seleccionar solo los datos que cumplen ciertos criterios. </a:t>
            </a:r>
            <a:endParaRPr sz="2800"/>
          </a:p>
          <a:p>
            <a:pPr indent="-4064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Calcular valores: Realizar operaciones aritméticas en los datos. </a:t>
            </a:r>
            <a:endParaRPr sz="2800"/>
          </a:p>
          <a:p>
            <a:pPr indent="-4064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Actualizar registros: Cambiar los datos existentes en una tabla. </a:t>
            </a:r>
            <a:endParaRPr sz="2800"/>
          </a:p>
          <a:p>
            <a:pPr indent="-4064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Agregar o eliminar datos: Insertar nuevos registros o eliminar registros existentes. </a:t>
            </a:r>
            <a:endParaRPr sz="2800"/>
          </a:p>
          <a:p>
            <a:pPr indent="-4064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Combinar datos de múltiples tablas: Relacionar datos de varias tablas para obtener una vista combinada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f60101cbc_0_39"/>
          <p:cNvSpPr txBox="1"/>
          <p:nvPr/>
        </p:nvSpPr>
        <p:spPr>
          <a:xfrm>
            <a:off x="1666639" y="1555680"/>
            <a:ext cx="16050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600"/>
              <a:t>Tipos de Consultas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5f60101cbc_0_39"/>
          <p:cNvSpPr txBox="1"/>
          <p:nvPr/>
        </p:nvSpPr>
        <p:spPr>
          <a:xfrm>
            <a:off x="2270675" y="3269013"/>
            <a:ext cx="6099900" cy="43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CONSULTAS DE SELECCIÓN </a:t>
            </a:r>
            <a:r>
              <a:rPr lang="en-US" sz="2800">
                <a:solidFill>
                  <a:schemeClr val="dk1"/>
                </a:solidFill>
              </a:rPr>
              <a:t>Las consultas de selección son las más comunes y se utilizan para ver datos en una hoja de datos. Permiten seleccionar campos específicos de una o más tabla</a:t>
            </a:r>
            <a:endParaRPr/>
          </a:p>
        </p:txBody>
      </p:sp>
      <p:pic>
        <p:nvPicPr>
          <p:cNvPr id="203" name="Google Shape;203;g35f60101cbc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4400" y="2776175"/>
            <a:ext cx="4652300" cy="473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60a6c6b91b_1_50"/>
          <p:cNvSpPr txBox="1"/>
          <p:nvPr/>
        </p:nvSpPr>
        <p:spPr>
          <a:xfrm>
            <a:off x="1666639" y="1555680"/>
            <a:ext cx="16050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600"/>
              <a:t>Tipos de Consultas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60a6c6b91b_1_50"/>
          <p:cNvSpPr txBox="1"/>
          <p:nvPr/>
        </p:nvSpPr>
        <p:spPr>
          <a:xfrm>
            <a:off x="2270675" y="3269013"/>
            <a:ext cx="6099900" cy="28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CONSULTAS DE ACCIÓN</a:t>
            </a:r>
            <a:r>
              <a:rPr lang="en-US" sz="2800">
                <a:solidFill>
                  <a:schemeClr val="dk1"/>
                </a:solidFill>
              </a:rPr>
              <a:t> Las consultas de acción realizan cambios en los datos, ya sea añadiendo, eliminando actualizando registros</a:t>
            </a:r>
            <a:endParaRPr/>
          </a:p>
        </p:txBody>
      </p:sp>
      <p:pic>
        <p:nvPicPr>
          <p:cNvPr id="210" name="Google Shape;210;g360a6c6b91b_1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96425" y="3037630"/>
            <a:ext cx="3267075" cy="30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0a6c6b91b_1_58"/>
          <p:cNvSpPr txBox="1"/>
          <p:nvPr/>
        </p:nvSpPr>
        <p:spPr>
          <a:xfrm>
            <a:off x="1666639" y="1555680"/>
            <a:ext cx="16050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600"/>
              <a:t>Tipos de Consultas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60a6c6b91b_1_58"/>
          <p:cNvSpPr txBox="1"/>
          <p:nvPr/>
        </p:nvSpPr>
        <p:spPr>
          <a:xfrm>
            <a:off x="2270675" y="3269025"/>
            <a:ext cx="7317600" cy="43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CONSULTAS DE PARÁMETROS </a:t>
            </a:r>
            <a:r>
              <a:rPr lang="en-US" sz="2800">
                <a:solidFill>
                  <a:schemeClr val="dk1"/>
                </a:solidFill>
              </a:rPr>
              <a:t>Las consultas de parámetros son un tipo especial de consulta de selección que solicita al usuario que proporcione uno o más valores de criterio cuando se ejecuta la consulta</a:t>
            </a:r>
            <a:endParaRPr/>
          </a:p>
        </p:txBody>
      </p:sp>
      <p:pic>
        <p:nvPicPr>
          <p:cNvPr id="217" name="Google Shape;217;g360a6c6b91b_1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91125" y="3643318"/>
            <a:ext cx="3267075" cy="30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0a6c6b91b_1_64"/>
          <p:cNvSpPr txBox="1"/>
          <p:nvPr/>
        </p:nvSpPr>
        <p:spPr>
          <a:xfrm>
            <a:off x="1666639" y="1555680"/>
            <a:ext cx="16050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600"/>
              <a:t>Formularios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60a6c6b91b_1_64"/>
          <p:cNvSpPr txBox="1"/>
          <p:nvPr/>
        </p:nvSpPr>
        <p:spPr>
          <a:xfrm>
            <a:off x="2968325" y="3066075"/>
            <a:ext cx="132918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En palabras simples son pantallas especialmente diseñadas que funcionan como un puente entre el usuario y la información guardada en la base de datos. Es como tener una ventana fácil de usar donde el usuario puede ver y modificar tu información, en lugar de trabajar directamente con las tablas que pueden ser más complicadas y confusas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g35f60101cbc_0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3963" y="1450538"/>
            <a:ext cx="13253724" cy="73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60a6c6b91b_1_77"/>
          <p:cNvSpPr txBox="1"/>
          <p:nvPr/>
        </p:nvSpPr>
        <p:spPr>
          <a:xfrm>
            <a:off x="1666639" y="1555680"/>
            <a:ext cx="16050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600"/>
              <a:t>Ventajas de usar formularios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60a6c6b91b_1_77"/>
          <p:cNvSpPr txBox="1"/>
          <p:nvPr/>
        </p:nvSpPr>
        <p:spPr>
          <a:xfrm>
            <a:off x="2968325" y="3066075"/>
            <a:ext cx="13291800" cy="43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 Ventajas de usar formularios: </a:t>
            </a:r>
            <a:endParaRPr b="1"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▪ Hacen más intuitivo el manejo de la base de datos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▪ Reducen errores en la entrada de datos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▪ Permiten organizar la información de manera más clara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▪ Pueden incluir cálculos automáticos y validaciones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▪ Facilitan el trabajo a usuarios sin conocimientos técnicos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2086050" y="2744625"/>
            <a:ext cx="14346000" cy="60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Consulta de Selección</a:t>
            </a:r>
            <a:br>
              <a:rPr b="1" lang="en-US" sz="2400">
                <a:solidFill>
                  <a:schemeClr val="dk1"/>
                </a:solidFill>
              </a:rPr>
            </a:br>
            <a:r>
              <a:rPr lang="en-US" sz="2400">
                <a:solidFill>
                  <a:schemeClr val="dk1"/>
                </a:solidFill>
              </a:rPr>
              <a:t> Permite extraer y mostrar registros de una o varias tablas aplicando criterios específicos (por ejemplo, filtrar estudiantes mayores de 25 años).</a:t>
            </a:r>
            <a:br>
              <a:rPr lang="en-US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Consulta de Parámetros</a:t>
            </a:r>
            <a:br>
              <a:rPr b="1" lang="en-US" sz="2400">
                <a:solidFill>
                  <a:schemeClr val="dk1"/>
                </a:solidFill>
              </a:rPr>
            </a:br>
            <a:r>
              <a:rPr lang="en-US" sz="2400">
                <a:solidFill>
                  <a:schemeClr val="dk1"/>
                </a:solidFill>
              </a:rPr>
              <a:t> Variante de la consulta de selección que, al ejecutarse, solicita al usuario ingresar uno o más valores (por ejemplo, “Introduzca el apellido”) para filtrar la información en tiempo real.</a:t>
            </a:r>
            <a:br>
              <a:rPr lang="en-US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Formulario</a:t>
            </a:r>
            <a:br>
              <a:rPr b="1" lang="en-US" sz="2400">
                <a:solidFill>
                  <a:schemeClr val="dk1"/>
                </a:solidFill>
              </a:rPr>
            </a:br>
            <a:r>
              <a:rPr lang="en-US" sz="2400">
                <a:solidFill>
                  <a:schemeClr val="dk1"/>
                </a:solidFill>
              </a:rPr>
              <a:t> Interfaz gráfica que facilita la captura, visualización y edición de registros sin necesidad de trabajar directamente en la hoja de datos, reduciendo errores y agilizando la interacción con la base de datos.</a:t>
            </a:r>
            <a:endParaRPr sz="24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"/>
          <p:cNvSpPr txBox="1"/>
          <p:nvPr/>
        </p:nvSpPr>
        <p:spPr>
          <a:xfrm>
            <a:off x="2392340" y="151507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NOMBRE DEL VALOR Y/O ACTITUD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3456851" y="4341675"/>
            <a:ext cx="13281000" cy="1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Integridad</a:t>
            </a:r>
            <a:endParaRPr b="1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Asegurar que los datos almacenados sean completos, veraces y consistentes.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"/>
          <p:cNvSpPr txBox="1"/>
          <p:nvPr/>
        </p:nvSpPr>
        <p:spPr>
          <a:xfrm>
            <a:off x="2392340" y="1415400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2139626" y="3535475"/>
            <a:ext cx="14755200" cy="3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Bibliografía</a:t>
            </a:r>
            <a:endParaRPr b="1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https://uedi.ingenieria.usac.edu.gt/campus/course/view.php?id=1462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Laudon, K. C., &amp; Laudon, J. P. (2016). Sistemas de información gerencial (14 ed.). Pearson Educación. Daniel Cohen, Enrique Asín Lares. Tecnologías de la Información, Estrategias y transformación en los negocios. McGraw Hill. Sexta Edición.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8" name="Google Shape;258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