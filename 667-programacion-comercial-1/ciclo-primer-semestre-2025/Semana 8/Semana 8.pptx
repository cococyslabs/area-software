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Lobster"/>
      <p:regular r:id="rId19"/>
    </p:embeddedFont>
    <p:embeddedFont>
      <p:font typeface="Pacifico"/>
      <p:regular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g+Ny38++IEqHGG3m+5JDadfL8B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acifico-regular.fntdata"/><Relationship Id="rId22" Type="http://schemas.openxmlformats.org/officeDocument/2006/relationships/font" Target="fonts/OpenSans-bold.fntdata"/><Relationship Id="rId21" Type="http://schemas.openxmlformats.org/officeDocument/2006/relationships/font" Target="fonts/OpenSans-regular.fntdata"/><Relationship Id="rId24" Type="http://schemas.openxmlformats.org/officeDocument/2006/relationships/font" Target="fonts/OpenSans-boldItalic.fntdata"/><Relationship Id="rId23"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Lobster-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0a610ef1a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360a610ef1a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60a610ef1a_2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g360a610ef1a_2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60a610ef1a_2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g360a610ef1a_2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0a610ef1a_2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360a610ef1a_2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youtu.be/FgdSOlTE1d4?si=cWAF4MJJcmLUcZZR" TargetMode="External"/><Relationship Id="rId6" Type="http://schemas.openxmlformats.org/officeDocument/2006/relationships/hyperlink" Target="https://kahoot.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ebac.mx/blog/que-es-el-analisis-de-datos" TargetMode="External"/><Relationship Id="rId4" Type="http://schemas.openxmlformats.org/officeDocument/2006/relationships/hyperlink" Target="https://learn.microsoft.com/es-es/power-bi/fundamentals/power-bi-overview" TargetMode="External"/><Relationship Id="rId5" Type="http://schemas.openxmlformats.org/officeDocument/2006/relationships/hyperlink" Target="https://www.microsoft.com/es-es/power-platform/products/power-bi"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28703" y="653638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lang="en-US" sz="5000">
                <a:solidFill>
                  <a:srgbClr val="131416"/>
                </a:solidFill>
                <a:latin typeface="Open Sans"/>
                <a:ea typeface="Open Sans"/>
                <a:cs typeface="Open Sans"/>
                <a:sym typeface="Open Sans"/>
              </a:rPr>
              <a:t>Programación Comercial 1</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87405" y="39156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3. Power BI</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90" name="Google Shape;90;p1"/>
          <p:cNvSpPr txBox="1"/>
          <p:nvPr/>
        </p:nvSpPr>
        <p:spPr>
          <a:xfrm>
            <a:off x="12979082" y="7426039"/>
            <a:ext cx="3284700" cy="2154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grpSp>
        <p:nvGrpSpPr>
          <p:cNvPr id="95" name="Google Shape;95;p2"/>
          <p:cNvGrpSpPr/>
          <p:nvPr/>
        </p:nvGrpSpPr>
        <p:grpSpPr>
          <a:xfrm>
            <a:off x="7" y="4206075"/>
            <a:ext cx="9632736" cy="845568"/>
            <a:chOff x="0" y="-76201"/>
            <a:chExt cx="1964221" cy="360000"/>
          </a:xfrm>
        </p:grpSpPr>
        <p:sp>
          <p:nvSpPr>
            <p:cNvPr id="96" name="Google Shape;96;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97" name="Google Shape;97;p2"/>
            <p:cNvSpPr txBox="1"/>
            <p:nvPr/>
          </p:nvSpPr>
          <p:spPr>
            <a:xfrm>
              <a:off x="261999" y="-76201"/>
              <a:ext cx="15879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1. Introducción al análisis de datos y Power BI</a:t>
              </a:r>
              <a:endParaRPr b="0" i="0" sz="1400" u="none" cap="none" strike="noStrike">
                <a:solidFill>
                  <a:srgbClr val="000000"/>
                </a:solidFill>
                <a:latin typeface="Arial"/>
                <a:ea typeface="Arial"/>
                <a:cs typeface="Arial"/>
                <a:sym typeface="Arial"/>
              </a:endParaRPr>
            </a:p>
          </p:txBody>
        </p:sp>
      </p:grpSp>
      <p:sp>
        <p:nvSpPr>
          <p:cNvPr id="98" name="Google Shape;98;p2"/>
          <p:cNvSpPr/>
          <p:nvPr/>
        </p:nvSpPr>
        <p:spPr>
          <a:xfrm>
            <a:off x="702029" y="44260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9" name="Google Shape;99;p2"/>
          <p:cNvGrpSpPr/>
          <p:nvPr/>
        </p:nvGrpSpPr>
        <p:grpSpPr>
          <a:xfrm>
            <a:off x="1690364" y="2699581"/>
            <a:ext cx="4115217" cy="1556494"/>
            <a:chOff x="0" y="-76200"/>
            <a:chExt cx="1083836" cy="409938"/>
          </a:xfrm>
        </p:grpSpPr>
        <p:sp>
          <p:nvSpPr>
            <p:cNvPr id="100" name="Google Shape;100;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1" name="Google Shape;101;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02" name="Google Shape;102;p2"/>
          <p:cNvSpPr/>
          <p:nvPr/>
        </p:nvSpPr>
        <p:spPr>
          <a:xfrm>
            <a:off x="475129" y="31153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103" name="Google Shape;103;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04" name="Google Shape;104;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05" name="Google Shape;105;p2"/>
          <p:cNvGrpSpPr/>
          <p:nvPr/>
        </p:nvGrpSpPr>
        <p:grpSpPr>
          <a:xfrm>
            <a:off x="10392649" y="3515788"/>
            <a:ext cx="7521788" cy="1779462"/>
            <a:chOff x="-495932" y="84963"/>
            <a:chExt cx="1981034" cy="468662"/>
          </a:xfrm>
        </p:grpSpPr>
        <p:sp>
          <p:nvSpPr>
            <p:cNvPr id="106" name="Google Shape;106;p2"/>
            <p:cNvSpPr/>
            <p:nvPr/>
          </p:nvSpPr>
          <p:spPr>
            <a:xfrm>
              <a:off x="75088" y="219887"/>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07" name="Google Shape;107;p2"/>
            <p:cNvSpPr txBox="1"/>
            <p:nvPr/>
          </p:nvSpPr>
          <p:spPr>
            <a:xfrm>
              <a:off x="-495932" y="84963"/>
              <a:ext cx="1791600" cy="447900"/>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lang="en-US" sz="2499" u="sng">
                  <a:solidFill>
                    <a:schemeClr val="hlink"/>
                  </a:solidFill>
                  <a:hlinkClick r:id="rId5"/>
                </a:rPr>
                <a:t>https://youtu.be/FgdSOlTE1d4?si=cWAF4MJJcmLUcZZR</a:t>
              </a:r>
              <a:endParaRPr sz="2499"/>
            </a:p>
            <a:p>
              <a:pPr indent="0" lvl="0" marL="0" marR="0" rtl="0" algn="ctr">
                <a:lnSpc>
                  <a:spcPct val="148010"/>
                </a:lnSpc>
                <a:spcBef>
                  <a:spcPts val="0"/>
                </a:spcBef>
                <a:spcAft>
                  <a:spcPts val="0"/>
                </a:spcAft>
                <a:buClr>
                  <a:srgbClr val="000000"/>
                </a:buClr>
                <a:buSzPts val="4499"/>
                <a:buFont typeface="Arial"/>
                <a:buNone/>
              </a:pPr>
              <a:r>
                <a:rPr lang="en-US" sz="2499" u="sng">
                  <a:solidFill>
                    <a:schemeClr val="hlink"/>
                  </a:solidFill>
                  <a:hlinkClick r:id="rId6"/>
                </a:rPr>
                <a:t>https://kahoot.com/</a:t>
              </a:r>
              <a:endParaRPr sz="2499"/>
            </a:p>
            <a:p>
              <a:pPr indent="0" lvl="0" marL="0" marR="0" rtl="0" algn="ctr">
                <a:lnSpc>
                  <a:spcPct val="148010"/>
                </a:lnSpc>
                <a:spcBef>
                  <a:spcPts val="0"/>
                </a:spcBef>
                <a:spcAft>
                  <a:spcPts val="0"/>
                </a:spcAft>
                <a:buClr>
                  <a:srgbClr val="000000"/>
                </a:buClr>
                <a:buSzPts val="4499"/>
                <a:buFont typeface="Arial"/>
                <a:buNone/>
              </a:pPr>
              <a:r>
                <a:t/>
              </a:r>
              <a:endParaRPr sz="2499"/>
            </a:p>
          </p:txBody>
        </p:sp>
      </p:grpSp>
      <p:grpSp>
        <p:nvGrpSpPr>
          <p:cNvPr id="108" name="Google Shape;108;p2"/>
          <p:cNvGrpSpPr/>
          <p:nvPr/>
        </p:nvGrpSpPr>
        <p:grpSpPr>
          <a:xfrm>
            <a:off x="1555125" y="5129900"/>
            <a:ext cx="7365035" cy="845568"/>
            <a:chOff x="-71045" y="-76201"/>
            <a:chExt cx="3868800" cy="360000"/>
          </a:xfrm>
        </p:grpSpPr>
        <p:sp>
          <p:nvSpPr>
            <p:cNvPr id="109" name="Google Shape;10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0" name="Google Shape;110;p2"/>
            <p:cNvSpPr txBox="1"/>
            <p:nvPr/>
          </p:nvSpPr>
          <p:spPr>
            <a:xfrm>
              <a:off x="-71045" y="-76201"/>
              <a:ext cx="3868800" cy="36000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Clr>
                  <a:srgbClr val="000000"/>
                </a:buClr>
                <a:buSzPts val="2799"/>
                <a:buFont typeface="Arial"/>
                <a:buNone/>
              </a:pPr>
              <a:r>
                <a:rPr lang="en-US" sz="2799"/>
                <a:t>2. ¿Qué es el análisis de datos?</a:t>
              </a:r>
              <a:endParaRPr b="0" i="0" sz="1400" u="none" cap="none" strike="noStrike">
                <a:solidFill>
                  <a:srgbClr val="000000"/>
                </a:solidFill>
                <a:latin typeface="Arial"/>
                <a:ea typeface="Arial"/>
                <a:cs typeface="Arial"/>
                <a:sym typeface="Arial"/>
              </a:endParaRPr>
            </a:p>
          </p:txBody>
        </p:sp>
      </p:grpSp>
      <p:grpSp>
        <p:nvGrpSpPr>
          <p:cNvPr id="111" name="Google Shape;111;p2"/>
          <p:cNvGrpSpPr/>
          <p:nvPr/>
        </p:nvGrpSpPr>
        <p:grpSpPr>
          <a:xfrm>
            <a:off x="1460076" y="7035050"/>
            <a:ext cx="7056071" cy="845568"/>
            <a:chOff x="0" y="-76204"/>
            <a:chExt cx="1964221" cy="360000"/>
          </a:xfrm>
        </p:grpSpPr>
        <p:sp>
          <p:nvSpPr>
            <p:cNvPr id="112" name="Google Shape;11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3" name="Google Shape;113;p2"/>
            <p:cNvSpPr txBox="1"/>
            <p:nvPr/>
          </p:nvSpPr>
          <p:spPr>
            <a:xfrm>
              <a:off x="26459" y="-76204"/>
              <a:ext cx="1823100" cy="36000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Clr>
                  <a:srgbClr val="000000"/>
                </a:buClr>
                <a:buSzPts val="2799"/>
                <a:buFont typeface="Arial"/>
                <a:buNone/>
              </a:pPr>
              <a:r>
                <a:rPr lang="en-US" sz="2799"/>
                <a:t>4. ¿Qué es Power BI?</a:t>
              </a:r>
              <a:endParaRPr b="0" i="0" sz="1400" u="none" cap="none" strike="noStrike">
                <a:solidFill>
                  <a:srgbClr val="000000"/>
                </a:solidFill>
                <a:latin typeface="Arial"/>
                <a:ea typeface="Arial"/>
                <a:cs typeface="Arial"/>
                <a:sym typeface="Arial"/>
              </a:endParaRPr>
            </a:p>
          </p:txBody>
        </p:sp>
      </p:grpSp>
      <p:grpSp>
        <p:nvGrpSpPr>
          <p:cNvPr id="114" name="Google Shape;114;p2"/>
          <p:cNvGrpSpPr/>
          <p:nvPr/>
        </p:nvGrpSpPr>
        <p:grpSpPr>
          <a:xfrm>
            <a:off x="1690372" y="8098522"/>
            <a:ext cx="6289632" cy="845387"/>
            <a:chOff x="0" y="-76200"/>
            <a:chExt cx="1964221" cy="359923"/>
          </a:xfrm>
        </p:grpSpPr>
        <p:sp>
          <p:nvSpPr>
            <p:cNvPr id="115" name="Google Shape;11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6" name="Google Shape;11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Clr>
                  <a:srgbClr val="000000"/>
                </a:buClr>
                <a:buSzPts val="2799"/>
                <a:buFont typeface="Arial"/>
                <a:buNone/>
              </a:pPr>
              <a:r>
                <a:rPr lang="en-US" sz="2799"/>
                <a:t>5. Conclusión y dudas</a:t>
              </a:r>
              <a:endParaRPr b="0" i="0" sz="1400" u="none" cap="none" strike="noStrike">
                <a:solidFill>
                  <a:srgbClr val="000000"/>
                </a:solidFill>
                <a:latin typeface="Arial"/>
                <a:ea typeface="Arial"/>
                <a:cs typeface="Arial"/>
                <a:sym typeface="Arial"/>
              </a:endParaRPr>
            </a:p>
          </p:txBody>
        </p:sp>
      </p:grpSp>
      <p:grpSp>
        <p:nvGrpSpPr>
          <p:cNvPr id="117" name="Google Shape;117;p2"/>
          <p:cNvGrpSpPr/>
          <p:nvPr/>
        </p:nvGrpSpPr>
        <p:grpSpPr>
          <a:xfrm>
            <a:off x="1460074" y="6111475"/>
            <a:ext cx="8932585" cy="845568"/>
            <a:chOff x="0" y="-76200"/>
            <a:chExt cx="4424700" cy="360000"/>
          </a:xfrm>
        </p:grpSpPr>
        <p:sp>
          <p:nvSpPr>
            <p:cNvPr id="118" name="Google Shape;11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9" name="Google Shape;119;p2"/>
            <p:cNvSpPr txBox="1"/>
            <p:nvPr/>
          </p:nvSpPr>
          <p:spPr>
            <a:xfrm>
              <a:off x="0" y="-76200"/>
              <a:ext cx="4424700" cy="36000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Clr>
                  <a:srgbClr val="000000"/>
                </a:buClr>
                <a:buSzPts val="2799"/>
                <a:buFont typeface="Arial"/>
                <a:buNone/>
              </a:pPr>
              <a:r>
                <a:rPr lang="en-US" sz="2799"/>
                <a:t>3. Conceptos básicos: datos, información y conocimiento</a:t>
              </a:r>
              <a:endParaRPr b="0" i="0" sz="1400" u="none" cap="none" strike="noStrike">
                <a:solidFill>
                  <a:srgbClr val="000000"/>
                </a:solidFill>
                <a:latin typeface="Arial"/>
                <a:ea typeface="Arial"/>
                <a:cs typeface="Arial"/>
                <a:sym typeface="Arial"/>
              </a:endParaRPr>
            </a:p>
          </p:txBody>
        </p:sp>
      </p:grpSp>
      <p:sp>
        <p:nvSpPr>
          <p:cNvPr id="120" name="Google Shape;120;p2"/>
          <p:cNvSpPr/>
          <p:nvPr/>
        </p:nvSpPr>
        <p:spPr>
          <a:xfrm>
            <a:off x="702029" y="53088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1" name="Google Shape;121;p2"/>
          <p:cNvSpPr/>
          <p:nvPr/>
        </p:nvSpPr>
        <p:spPr>
          <a:xfrm>
            <a:off x="702029" y="62904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2" name="Google Shape;122;p2"/>
          <p:cNvSpPr/>
          <p:nvPr/>
        </p:nvSpPr>
        <p:spPr>
          <a:xfrm>
            <a:off x="702029" y="72902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3" name="Google Shape;123;p2"/>
          <p:cNvSpPr/>
          <p:nvPr/>
        </p:nvSpPr>
        <p:spPr>
          <a:xfrm>
            <a:off x="702029" y="82911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29" name="Google Shape;129;p3"/>
          <p:cNvSpPr txBox="1"/>
          <p:nvPr/>
        </p:nvSpPr>
        <p:spPr>
          <a:xfrm>
            <a:off x="1374888" y="4391025"/>
            <a:ext cx="16077600" cy="41616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5199">
                <a:solidFill>
                  <a:srgbClr val="131416"/>
                </a:solidFill>
                <a:latin typeface="Open Sans"/>
                <a:ea typeface="Open Sans"/>
                <a:cs typeface="Open Sans"/>
                <a:sym typeface="Open Sans"/>
              </a:rPr>
              <a:t>Refinar conceptos básicos de estadística mediante softwares especializados en análisis de datos para su visualización y mejora en la toma de decisiones.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1184839" y="2315091"/>
            <a:ext cx="12625500" cy="6042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1" lang="en-US" sz="3925">
                <a:solidFill>
                  <a:srgbClr val="131416"/>
                </a:solidFill>
              </a:rPr>
              <a:t>Introducción al análisis de datos y Power BI</a:t>
            </a:r>
            <a:endParaRPr b="1" i="0" sz="1400" u="none" cap="none" strike="noStrike">
              <a:solidFill>
                <a:srgbClr val="000000"/>
              </a:solidFill>
            </a:endParaRPr>
          </a:p>
        </p:txBody>
      </p:sp>
      <p:sp>
        <p:nvSpPr>
          <p:cNvPr id="135" name="Google Shape;135;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CONTENIDO</a:t>
            </a:r>
            <a:endParaRPr b="0" i="0" sz="1400" u="none" cap="none" strike="noStrike">
              <a:solidFill>
                <a:srgbClr val="000000"/>
              </a:solidFill>
              <a:latin typeface="Impact"/>
              <a:ea typeface="Impact"/>
              <a:cs typeface="Impact"/>
              <a:sym typeface="Impact"/>
            </a:endParaRPr>
          </a:p>
        </p:txBody>
      </p:sp>
      <p:sp>
        <p:nvSpPr>
          <p:cNvPr id="136" name="Google Shape;136;p4"/>
          <p:cNvSpPr txBox="1"/>
          <p:nvPr/>
        </p:nvSpPr>
        <p:spPr>
          <a:xfrm>
            <a:off x="1374900" y="3641325"/>
            <a:ext cx="120693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t>El análisis de datos es el proceso de examinar, limpiar y transformar datos para obtener información útil.</a:t>
            </a:r>
            <a:br>
              <a:rPr lang="en-US" sz="3000"/>
            </a:br>
            <a:endParaRPr sz="3000"/>
          </a:p>
          <a:p>
            <a:pPr indent="0" lvl="0" marL="0" rtl="0" algn="l">
              <a:spcBef>
                <a:spcPts val="0"/>
              </a:spcBef>
              <a:spcAft>
                <a:spcPts val="0"/>
              </a:spcAft>
              <a:buNone/>
            </a:pPr>
            <a:r>
              <a:rPr lang="en-US" sz="3000"/>
              <a:t>Power BI es una herramienta de Microsoft para crear visualizaciones interactivas que facilitan la toma de decisiones.</a:t>
            </a:r>
            <a:endParaRPr sz="3000"/>
          </a:p>
        </p:txBody>
      </p:sp>
      <p:pic>
        <p:nvPicPr>
          <p:cNvPr id="137" name="Google Shape;137;p4"/>
          <p:cNvPicPr preferRelativeResize="0"/>
          <p:nvPr/>
        </p:nvPicPr>
        <p:blipFill>
          <a:blip r:embed="rId3">
            <a:alphaModFix/>
          </a:blip>
          <a:stretch>
            <a:fillRect/>
          </a:stretch>
        </p:blipFill>
        <p:spPr>
          <a:xfrm>
            <a:off x="12197450" y="6025975"/>
            <a:ext cx="5400687" cy="38472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60a610ef1a_2_5"/>
          <p:cNvSpPr txBox="1"/>
          <p:nvPr/>
        </p:nvSpPr>
        <p:spPr>
          <a:xfrm>
            <a:off x="1184839" y="2315091"/>
            <a:ext cx="12625500" cy="6042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1" lang="en-US" sz="3925">
                <a:solidFill>
                  <a:srgbClr val="131416"/>
                </a:solidFill>
              </a:rPr>
              <a:t> ¿Qué es el análisis de datos?</a:t>
            </a:r>
            <a:endParaRPr b="1" i="0" sz="1400" u="none" cap="none" strike="noStrike">
              <a:solidFill>
                <a:srgbClr val="000000"/>
              </a:solidFill>
            </a:endParaRPr>
          </a:p>
        </p:txBody>
      </p:sp>
      <p:sp>
        <p:nvSpPr>
          <p:cNvPr id="143" name="Google Shape;143;g360a610ef1a_2_5"/>
          <p:cNvSpPr txBox="1"/>
          <p:nvPr/>
        </p:nvSpPr>
        <p:spPr>
          <a:xfrm>
            <a:off x="1374889" y="654364"/>
            <a:ext cx="13991100" cy="2154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t/>
            </a:r>
            <a:endParaRPr b="0" i="0" sz="1400" u="none" cap="none" strike="noStrike">
              <a:solidFill>
                <a:srgbClr val="000000"/>
              </a:solidFill>
              <a:latin typeface="Impact"/>
              <a:ea typeface="Impact"/>
              <a:cs typeface="Impact"/>
              <a:sym typeface="Impact"/>
            </a:endParaRPr>
          </a:p>
        </p:txBody>
      </p:sp>
      <p:sp>
        <p:nvSpPr>
          <p:cNvPr id="144" name="Google Shape;144;g360a610ef1a_2_5"/>
          <p:cNvSpPr txBox="1"/>
          <p:nvPr/>
        </p:nvSpPr>
        <p:spPr>
          <a:xfrm>
            <a:off x="1374900" y="3641325"/>
            <a:ext cx="120693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t>Extraer insights valiosos a partir de datos crudos.</a:t>
            </a:r>
            <a:br>
              <a:rPr lang="en-US" sz="3000"/>
            </a:br>
            <a:endParaRPr sz="3000"/>
          </a:p>
          <a:p>
            <a:pPr indent="0" lvl="0" marL="0" rtl="0" algn="l">
              <a:spcBef>
                <a:spcPts val="0"/>
              </a:spcBef>
              <a:spcAft>
                <a:spcPts val="0"/>
              </a:spcAft>
              <a:buNone/>
            </a:pPr>
            <a:r>
              <a:rPr lang="en-US" sz="3000"/>
              <a:t>Permite entender comportamientos, tendencias y apoyar decisiones estratégicas.</a:t>
            </a:r>
            <a:endParaRPr sz="3000"/>
          </a:p>
          <a:p>
            <a:pPr indent="0" lvl="0" marL="0" rtl="0" algn="l">
              <a:spcBef>
                <a:spcPts val="0"/>
              </a:spcBef>
              <a:spcAft>
                <a:spcPts val="0"/>
              </a:spcAft>
              <a:buNone/>
            </a:pPr>
            <a:r>
              <a:t/>
            </a:r>
            <a:endParaRPr sz="3000"/>
          </a:p>
        </p:txBody>
      </p:sp>
      <p:pic>
        <p:nvPicPr>
          <p:cNvPr id="145" name="Google Shape;145;g360a610ef1a_2_5"/>
          <p:cNvPicPr preferRelativeResize="0"/>
          <p:nvPr/>
        </p:nvPicPr>
        <p:blipFill>
          <a:blip r:embed="rId3">
            <a:alphaModFix/>
          </a:blip>
          <a:stretch>
            <a:fillRect/>
          </a:stretch>
        </p:blipFill>
        <p:spPr>
          <a:xfrm>
            <a:off x="12241150" y="6134925"/>
            <a:ext cx="6046862" cy="38472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60a610ef1a_2_15"/>
          <p:cNvSpPr txBox="1"/>
          <p:nvPr/>
        </p:nvSpPr>
        <p:spPr>
          <a:xfrm>
            <a:off x="1096789" y="1317266"/>
            <a:ext cx="12625500" cy="16497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1" lang="en-US" sz="3925">
                <a:solidFill>
                  <a:srgbClr val="131416"/>
                </a:solidFill>
              </a:rPr>
              <a:t>Conceptos básicos: datos, información y conocimiento</a:t>
            </a:r>
            <a:endParaRPr b="1" i="0" sz="1400" u="none" cap="none" strike="noStrike">
              <a:solidFill>
                <a:srgbClr val="000000"/>
              </a:solidFill>
            </a:endParaRPr>
          </a:p>
        </p:txBody>
      </p:sp>
      <p:sp>
        <p:nvSpPr>
          <p:cNvPr id="151" name="Google Shape;151;g360a610ef1a_2_15"/>
          <p:cNvSpPr txBox="1"/>
          <p:nvPr/>
        </p:nvSpPr>
        <p:spPr>
          <a:xfrm>
            <a:off x="1374889" y="654364"/>
            <a:ext cx="13991100" cy="2154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t/>
            </a:r>
            <a:endParaRPr b="0" i="0" sz="1400" u="none" cap="none" strike="noStrike">
              <a:solidFill>
                <a:srgbClr val="000000"/>
              </a:solidFill>
              <a:latin typeface="Impact"/>
              <a:ea typeface="Impact"/>
              <a:cs typeface="Impact"/>
              <a:sym typeface="Impact"/>
            </a:endParaRPr>
          </a:p>
        </p:txBody>
      </p:sp>
      <p:sp>
        <p:nvSpPr>
          <p:cNvPr id="152" name="Google Shape;152;g360a610ef1a_2_15"/>
          <p:cNvSpPr txBox="1"/>
          <p:nvPr/>
        </p:nvSpPr>
        <p:spPr>
          <a:xfrm>
            <a:off x="1374900" y="3641325"/>
            <a:ext cx="120693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t>Datos: hechos sin procesar (números, registros).</a:t>
            </a:r>
            <a:endParaRPr sz="3000"/>
          </a:p>
          <a:p>
            <a:pPr indent="0" lvl="0" marL="0" rtl="0" algn="l">
              <a:spcBef>
                <a:spcPts val="0"/>
              </a:spcBef>
              <a:spcAft>
                <a:spcPts val="0"/>
              </a:spcAft>
              <a:buNone/>
            </a:pPr>
            <a:r>
              <a:t/>
            </a:r>
            <a:endParaRPr sz="3000"/>
          </a:p>
          <a:p>
            <a:pPr indent="0" lvl="0" marL="0" rtl="0" algn="l">
              <a:spcBef>
                <a:spcPts val="0"/>
              </a:spcBef>
              <a:spcAft>
                <a:spcPts val="0"/>
              </a:spcAft>
              <a:buNone/>
            </a:pPr>
            <a:r>
              <a:rPr lang="en-US" sz="3000"/>
              <a:t>Información: datos organizados con contexto.</a:t>
            </a:r>
            <a:endParaRPr sz="3000"/>
          </a:p>
          <a:p>
            <a:pPr indent="0" lvl="0" marL="0" rtl="0" algn="l">
              <a:spcBef>
                <a:spcPts val="0"/>
              </a:spcBef>
              <a:spcAft>
                <a:spcPts val="0"/>
              </a:spcAft>
              <a:buNone/>
            </a:pPr>
            <a:r>
              <a:t/>
            </a:r>
            <a:endParaRPr sz="3000"/>
          </a:p>
          <a:p>
            <a:pPr indent="0" lvl="0" marL="0" rtl="0" algn="l">
              <a:spcBef>
                <a:spcPts val="0"/>
              </a:spcBef>
              <a:spcAft>
                <a:spcPts val="0"/>
              </a:spcAft>
              <a:buNone/>
            </a:pPr>
            <a:r>
              <a:rPr lang="en-US" sz="3000"/>
              <a:t>Conocimiento: interpretación y aplicación de la información.</a:t>
            </a:r>
            <a:endParaRPr sz="3000"/>
          </a:p>
          <a:p>
            <a:pPr indent="0" lvl="0" marL="0" rtl="0" algn="l">
              <a:spcBef>
                <a:spcPts val="0"/>
              </a:spcBef>
              <a:spcAft>
                <a:spcPts val="0"/>
              </a:spcAft>
              <a:buNone/>
            </a:pPr>
            <a:r>
              <a:t/>
            </a:r>
            <a:endParaRPr sz="3000"/>
          </a:p>
          <a:p>
            <a:pPr indent="0" lvl="0" marL="0" rtl="0" algn="l">
              <a:spcBef>
                <a:spcPts val="0"/>
              </a:spcBef>
              <a:spcAft>
                <a:spcPts val="0"/>
              </a:spcAft>
              <a:buNone/>
            </a:pPr>
            <a:r>
              <a:t/>
            </a:r>
            <a:endParaRPr sz="3000"/>
          </a:p>
        </p:txBody>
      </p:sp>
      <p:pic>
        <p:nvPicPr>
          <p:cNvPr id="153" name="Google Shape;153;g360a610ef1a_2_15"/>
          <p:cNvPicPr preferRelativeResize="0"/>
          <p:nvPr/>
        </p:nvPicPr>
        <p:blipFill>
          <a:blip r:embed="rId3">
            <a:alphaModFix/>
          </a:blip>
          <a:stretch>
            <a:fillRect/>
          </a:stretch>
        </p:blipFill>
        <p:spPr>
          <a:xfrm>
            <a:off x="11804925" y="5345301"/>
            <a:ext cx="5950575" cy="4637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60a610ef1a_2_25"/>
          <p:cNvSpPr txBox="1"/>
          <p:nvPr/>
        </p:nvSpPr>
        <p:spPr>
          <a:xfrm>
            <a:off x="1096789" y="1317266"/>
            <a:ext cx="12625500" cy="16497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1" lang="en-US" sz="3925">
                <a:solidFill>
                  <a:srgbClr val="131416"/>
                </a:solidFill>
              </a:rPr>
              <a:t>Introducción a Power BI</a:t>
            </a:r>
            <a:endParaRPr b="1" sz="3925">
              <a:solidFill>
                <a:srgbClr val="131416"/>
              </a:solidFill>
            </a:endParaRPr>
          </a:p>
          <a:p>
            <a:pPr indent="0" lvl="0" marL="0" marR="0" rtl="0" algn="l">
              <a:lnSpc>
                <a:spcPct val="173070"/>
              </a:lnSpc>
              <a:spcBef>
                <a:spcPts val="0"/>
              </a:spcBef>
              <a:spcAft>
                <a:spcPts val="0"/>
              </a:spcAft>
              <a:buClr>
                <a:srgbClr val="000000"/>
              </a:buClr>
              <a:buSzPts val="3925"/>
              <a:buFont typeface="Arial"/>
              <a:buNone/>
            </a:pPr>
            <a:r>
              <a:t/>
            </a:r>
            <a:endParaRPr b="1" sz="3925">
              <a:solidFill>
                <a:srgbClr val="131416"/>
              </a:solidFill>
            </a:endParaRPr>
          </a:p>
        </p:txBody>
      </p:sp>
      <p:sp>
        <p:nvSpPr>
          <p:cNvPr id="159" name="Google Shape;159;g360a610ef1a_2_25"/>
          <p:cNvSpPr txBox="1"/>
          <p:nvPr/>
        </p:nvSpPr>
        <p:spPr>
          <a:xfrm>
            <a:off x="1374889" y="654364"/>
            <a:ext cx="13991100" cy="2154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t/>
            </a:r>
            <a:endParaRPr b="0" i="0" sz="1400" u="none" cap="none" strike="noStrike">
              <a:solidFill>
                <a:srgbClr val="000000"/>
              </a:solidFill>
              <a:latin typeface="Impact"/>
              <a:ea typeface="Impact"/>
              <a:cs typeface="Impact"/>
              <a:sym typeface="Impact"/>
            </a:endParaRPr>
          </a:p>
        </p:txBody>
      </p:sp>
      <p:sp>
        <p:nvSpPr>
          <p:cNvPr id="160" name="Google Shape;160;g360a610ef1a_2_25"/>
          <p:cNvSpPr txBox="1"/>
          <p:nvPr/>
        </p:nvSpPr>
        <p:spPr>
          <a:xfrm>
            <a:off x="1374900" y="3641325"/>
            <a:ext cx="120693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t>Plataforma para transformar datos en visualizaciones interactivas.</a:t>
            </a:r>
            <a:br>
              <a:rPr lang="en-US" sz="3000"/>
            </a:br>
            <a:endParaRPr sz="3000"/>
          </a:p>
          <a:p>
            <a:pPr indent="0" lvl="0" marL="0" rtl="0" algn="l">
              <a:spcBef>
                <a:spcPts val="0"/>
              </a:spcBef>
              <a:spcAft>
                <a:spcPts val="0"/>
              </a:spcAft>
              <a:buNone/>
            </a:pPr>
            <a:r>
              <a:rPr lang="en-US" sz="3000"/>
              <a:t>Facilita compartir informes y tomar decisiones informadas.</a:t>
            </a:r>
            <a:endParaRPr sz="3000"/>
          </a:p>
          <a:p>
            <a:pPr indent="0" lvl="0" marL="0" rtl="0" algn="l">
              <a:spcBef>
                <a:spcPts val="0"/>
              </a:spcBef>
              <a:spcAft>
                <a:spcPts val="0"/>
              </a:spcAft>
              <a:buNone/>
            </a:pPr>
            <a:r>
              <a:t/>
            </a:r>
            <a:endParaRPr sz="3000"/>
          </a:p>
        </p:txBody>
      </p:sp>
      <p:pic>
        <p:nvPicPr>
          <p:cNvPr id="161" name="Google Shape;161;g360a610ef1a_2_25"/>
          <p:cNvPicPr preferRelativeResize="0"/>
          <p:nvPr/>
        </p:nvPicPr>
        <p:blipFill>
          <a:blip r:embed="rId3">
            <a:alphaModFix/>
          </a:blip>
          <a:stretch>
            <a:fillRect/>
          </a:stretch>
        </p:blipFill>
        <p:spPr>
          <a:xfrm>
            <a:off x="10225600" y="5493025"/>
            <a:ext cx="7688213" cy="4308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60a610ef1a_2_35"/>
          <p:cNvSpPr txBox="1"/>
          <p:nvPr/>
        </p:nvSpPr>
        <p:spPr>
          <a:xfrm>
            <a:off x="1096789" y="1317266"/>
            <a:ext cx="12625500" cy="6042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1" lang="en-US" sz="3925">
                <a:solidFill>
                  <a:srgbClr val="131416"/>
                </a:solidFill>
              </a:rPr>
              <a:t>Elementos principales de Power BI</a:t>
            </a:r>
            <a:endParaRPr b="1" sz="3925">
              <a:solidFill>
                <a:srgbClr val="131416"/>
              </a:solidFill>
            </a:endParaRPr>
          </a:p>
        </p:txBody>
      </p:sp>
      <p:sp>
        <p:nvSpPr>
          <p:cNvPr id="167" name="Google Shape;167;g360a610ef1a_2_35"/>
          <p:cNvSpPr txBox="1"/>
          <p:nvPr/>
        </p:nvSpPr>
        <p:spPr>
          <a:xfrm>
            <a:off x="1374889" y="654364"/>
            <a:ext cx="13991100" cy="2154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t/>
            </a:r>
            <a:endParaRPr b="0" i="0" sz="1400" u="none" cap="none" strike="noStrike">
              <a:solidFill>
                <a:srgbClr val="000000"/>
              </a:solidFill>
              <a:latin typeface="Impact"/>
              <a:ea typeface="Impact"/>
              <a:cs typeface="Impact"/>
              <a:sym typeface="Impact"/>
            </a:endParaRPr>
          </a:p>
        </p:txBody>
      </p:sp>
      <p:sp>
        <p:nvSpPr>
          <p:cNvPr id="168" name="Google Shape;168;g360a610ef1a_2_35"/>
          <p:cNvSpPr txBox="1"/>
          <p:nvPr/>
        </p:nvSpPr>
        <p:spPr>
          <a:xfrm>
            <a:off x="1374900" y="3641325"/>
            <a:ext cx="120693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t>Power BI Desktop: herramienta para crear informes.</a:t>
            </a:r>
            <a:endParaRPr sz="3000"/>
          </a:p>
          <a:p>
            <a:pPr indent="0" lvl="0" marL="0" rtl="0" algn="l">
              <a:spcBef>
                <a:spcPts val="0"/>
              </a:spcBef>
              <a:spcAft>
                <a:spcPts val="0"/>
              </a:spcAft>
              <a:buNone/>
            </a:pPr>
            <a:r>
              <a:t/>
            </a:r>
            <a:endParaRPr sz="3000"/>
          </a:p>
          <a:p>
            <a:pPr indent="0" lvl="0" marL="0" rtl="0" algn="l">
              <a:spcBef>
                <a:spcPts val="0"/>
              </a:spcBef>
              <a:spcAft>
                <a:spcPts val="0"/>
              </a:spcAft>
              <a:buNone/>
            </a:pPr>
            <a:r>
              <a:rPr lang="en-US" sz="3000"/>
              <a:t>Power BI Service: plataforma en la nube para compartir y colaborar.</a:t>
            </a:r>
            <a:endParaRPr sz="3000"/>
          </a:p>
          <a:p>
            <a:pPr indent="0" lvl="0" marL="0" rtl="0" algn="l">
              <a:spcBef>
                <a:spcPts val="0"/>
              </a:spcBef>
              <a:spcAft>
                <a:spcPts val="0"/>
              </a:spcAft>
              <a:buNone/>
            </a:pPr>
            <a:r>
              <a:t/>
            </a:r>
            <a:endParaRPr sz="3000"/>
          </a:p>
          <a:p>
            <a:pPr indent="0" lvl="0" marL="0" rtl="0" algn="l">
              <a:spcBef>
                <a:spcPts val="0"/>
              </a:spcBef>
              <a:spcAft>
                <a:spcPts val="0"/>
              </a:spcAft>
              <a:buNone/>
            </a:pPr>
            <a:r>
              <a:rPr lang="en-US" sz="3000"/>
              <a:t>Power BI Mobile: acceso a informes desde dispositivos móviles.</a:t>
            </a:r>
            <a:endParaRPr sz="3000"/>
          </a:p>
        </p:txBody>
      </p:sp>
      <p:pic>
        <p:nvPicPr>
          <p:cNvPr id="169" name="Google Shape;169;g360a610ef1a_2_35"/>
          <p:cNvPicPr preferRelativeResize="0"/>
          <p:nvPr/>
        </p:nvPicPr>
        <p:blipFill>
          <a:blip r:embed="rId3">
            <a:alphaModFix/>
          </a:blip>
          <a:stretch>
            <a:fillRect/>
          </a:stretch>
        </p:blipFill>
        <p:spPr>
          <a:xfrm>
            <a:off x="14154175" y="5193575"/>
            <a:ext cx="4133825" cy="4478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APLICACIONES POR MEDIO DE EJEMPLOS</a:t>
            </a:r>
            <a:endParaRPr b="0" i="0" sz="1400" u="none" cap="none" strike="noStrike">
              <a:solidFill>
                <a:srgbClr val="000000"/>
              </a:solidFill>
              <a:latin typeface="Impact"/>
              <a:ea typeface="Impact"/>
              <a:cs typeface="Impact"/>
              <a:sym typeface="Impact"/>
            </a:endParaRPr>
          </a:p>
        </p:txBody>
      </p:sp>
      <p:sp>
        <p:nvSpPr>
          <p:cNvPr id="175" name="Google Shape;175;p5"/>
          <p:cNvSpPr txBox="1"/>
          <p:nvPr/>
        </p:nvSpPr>
        <p:spPr>
          <a:xfrm>
            <a:off x="1374889" y="3056735"/>
            <a:ext cx="14365800" cy="3528300"/>
          </a:xfrm>
          <a:prstGeom prst="rect">
            <a:avLst/>
          </a:prstGeom>
          <a:noFill/>
          <a:ln>
            <a:noFill/>
          </a:ln>
        </p:spPr>
        <p:txBody>
          <a:bodyPr anchorCtr="0" anchor="t" bIns="0" lIns="0" spcFirstLastPara="1" rIns="0" wrap="square" tIns="0">
            <a:spAutoFit/>
          </a:bodyPr>
          <a:lstStyle/>
          <a:p>
            <a:pPr indent="0" lvl="0" marL="0" rtl="0" algn="l">
              <a:lnSpc>
                <a:spcPct val="173034"/>
              </a:lnSpc>
              <a:spcBef>
                <a:spcPts val="0"/>
              </a:spcBef>
              <a:spcAft>
                <a:spcPts val="0"/>
              </a:spcAft>
              <a:buClr>
                <a:schemeClr val="dk1"/>
              </a:buClr>
              <a:buSzPts val="1100"/>
              <a:buFont typeface="Arial"/>
              <a:buNone/>
            </a:pPr>
            <a:r>
              <a:rPr lang="en-US" sz="2375">
                <a:solidFill>
                  <a:srgbClr val="131416"/>
                </a:solidFill>
              </a:rPr>
              <a:t>Ejercicio Business Intelligence (BI)</a:t>
            </a:r>
            <a:endParaRPr sz="2375">
              <a:solidFill>
                <a:srgbClr val="131416"/>
              </a:solidFill>
            </a:endParaRPr>
          </a:p>
          <a:p>
            <a:pPr indent="0" lvl="0" marL="0" rtl="0" algn="l">
              <a:lnSpc>
                <a:spcPct val="173034"/>
              </a:lnSpc>
              <a:spcBef>
                <a:spcPts val="0"/>
              </a:spcBef>
              <a:spcAft>
                <a:spcPts val="0"/>
              </a:spcAft>
              <a:buClr>
                <a:schemeClr val="dk1"/>
              </a:buClr>
              <a:buSzPts val="1100"/>
              <a:buFont typeface="Arial"/>
              <a:buNone/>
            </a:pPr>
            <a:r>
              <a:t/>
            </a:r>
            <a:endParaRPr sz="2375">
              <a:solidFill>
                <a:srgbClr val="131416"/>
              </a:solidFill>
            </a:endParaRPr>
          </a:p>
          <a:p>
            <a:pPr indent="0" lvl="0" marL="0" rtl="0" algn="l">
              <a:lnSpc>
                <a:spcPct val="173034"/>
              </a:lnSpc>
              <a:spcBef>
                <a:spcPts val="0"/>
              </a:spcBef>
              <a:spcAft>
                <a:spcPts val="0"/>
              </a:spcAft>
              <a:buClr>
                <a:schemeClr val="dk1"/>
              </a:buClr>
              <a:buSzPts val="1100"/>
              <a:buFont typeface="Arial"/>
              <a:buNone/>
            </a:pPr>
            <a:r>
              <a:rPr lang="en-US" sz="2375">
                <a:solidFill>
                  <a:srgbClr val="131416"/>
                </a:solidFill>
              </a:rPr>
              <a:t>Imagina que trabajas para una empresa minorista de ropa llamada ModaGlobal. Tu tarea es realizar un análisis básico de BI utilizando los datos disponibles para responder algunas preguntas estratégicas. Los datos de ventas y clientes están almacenados en dos tablas de la base de datos:</a:t>
            </a:r>
            <a:endParaRPr sz="2375">
              <a:solidFill>
                <a:srgbClr val="131416"/>
              </a:solidFill>
            </a:endParaRPr>
          </a:p>
          <a:p>
            <a:pPr indent="0" lvl="0" marL="0" marR="0" rtl="0" algn="l">
              <a:lnSpc>
                <a:spcPct val="173034"/>
              </a:lnSpc>
              <a:spcBef>
                <a:spcPts val="0"/>
              </a:spcBef>
              <a:spcAft>
                <a:spcPts val="0"/>
              </a:spcAft>
              <a:buClr>
                <a:srgbClr val="000000"/>
              </a:buClr>
              <a:buSzPts val="3575"/>
              <a:buFont typeface="Arial"/>
              <a:buNone/>
            </a:pPr>
            <a:r>
              <a:t/>
            </a:r>
            <a:endParaRPr sz="2375">
              <a:solidFill>
                <a:srgbClr val="131416"/>
              </a:solidFill>
            </a:endParaRPr>
          </a:p>
        </p:txBody>
      </p:sp>
      <p:pic>
        <p:nvPicPr>
          <p:cNvPr id="176" name="Google Shape;176;p5"/>
          <p:cNvPicPr preferRelativeResize="0"/>
          <p:nvPr/>
        </p:nvPicPr>
        <p:blipFill>
          <a:blip r:embed="rId3">
            <a:alphaModFix/>
          </a:blip>
          <a:stretch>
            <a:fillRect/>
          </a:stretch>
        </p:blipFill>
        <p:spPr>
          <a:xfrm>
            <a:off x="6258075" y="6293725"/>
            <a:ext cx="4857750" cy="2971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182" name="Google Shape;182;p6"/>
          <p:cNvSpPr txBox="1"/>
          <p:nvPr/>
        </p:nvSpPr>
        <p:spPr>
          <a:xfrm>
            <a:off x="4154996" y="3860825"/>
            <a:ext cx="8968800" cy="4559700"/>
          </a:xfrm>
          <a:prstGeom prst="rect">
            <a:avLst/>
          </a:prstGeom>
          <a:noFill/>
          <a:ln>
            <a:noFill/>
          </a:ln>
        </p:spPr>
        <p:txBody>
          <a:bodyPr anchorCtr="0" anchor="t" bIns="0" lIns="0" spcFirstLastPara="1" rIns="0" wrap="square" tIns="0">
            <a:spAutoFit/>
          </a:bodyPr>
          <a:lstStyle/>
          <a:p>
            <a:pPr indent="-428688" lvl="0" marL="457200" rtl="0" algn="just">
              <a:lnSpc>
                <a:spcPct val="140019"/>
              </a:lnSpc>
              <a:spcBef>
                <a:spcPts val="0"/>
              </a:spcBef>
              <a:spcAft>
                <a:spcPts val="0"/>
              </a:spcAft>
              <a:buClr>
                <a:srgbClr val="131416"/>
              </a:buClr>
              <a:buSzPts val="3151"/>
              <a:buChar char="●"/>
            </a:pPr>
            <a:r>
              <a:rPr lang="en-US" sz="3151">
                <a:solidFill>
                  <a:srgbClr val="131416"/>
                </a:solidFill>
              </a:rPr>
              <a:t>"Diferencia entre datos, información y conocimiento"</a:t>
            </a:r>
            <a:endParaRPr sz="3151">
              <a:solidFill>
                <a:srgbClr val="131416"/>
              </a:solidFill>
            </a:endParaRPr>
          </a:p>
          <a:p>
            <a:pPr indent="-428688" lvl="0" marL="457200" rtl="0" algn="just">
              <a:lnSpc>
                <a:spcPct val="140019"/>
              </a:lnSpc>
              <a:spcBef>
                <a:spcPts val="0"/>
              </a:spcBef>
              <a:spcAft>
                <a:spcPts val="0"/>
              </a:spcAft>
              <a:buClr>
                <a:srgbClr val="131416"/>
              </a:buClr>
              <a:buSzPts val="3151"/>
              <a:buChar char="●"/>
            </a:pPr>
            <a:r>
              <a:rPr lang="en-US" sz="3151">
                <a:solidFill>
                  <a:srgbClr val="131416"/>
                </a:solidFill>
              </a:rPr>
              <a:t> </a:t>
            </a:r>
            <a:r>
              <a:rPr lang="en-US" sz="3151">
                <a:solidFill>
                  <a:srgbClr val="131416"/>
                </a:solidFill>
              </a:rPr>
              <a:t>"Tipos de análisis y sus aplicaciones"</a:t>
            </a:r>
            <a:endParaRPr sz="3151">
              <a:solidFill>
                <a:srgbClr val="131416"/>
              </a:solidFill>
            </a:endParaRPr>
          </a:p>
          <a:p>
            <a:pPr indent="-428688" lvl="0" marL="457200" rtl="0" algn="just">
              <a:lnSpc>
                <a:spcPct val="140019"/>
              </a:lnSpc>
              <a:spcBef>
                <a:spcPts val="0"/>
              </a:spcBef>
              <a:spcAft>
                <a:spcPts val="0"/>
              </a:spcAft>
              <a:buClr>
                <a:srgbClr val="131416"/>
              </a:buClr>
              <a:buSzPts val="3151"/>
              <a:buChar char="●"/>
            </a:pPr>
            <a:r>
              <a:rPr lang="en-US" sz="3151">
                <a:solidFill>
                  <a:srgbClr val="131416"/>
                </a:solidFill>
              </a:rPr>
              <a:t> "Componentes de Power BI"</a:t>
            </a:r>
            <a:endParaRPr sz="3151">
              <a:solidFill>
                <a:srgbClr val="131416"/>
              </a:solidFill>
            </a:endParaRPr>
          </a:p>
          <a:p>
            <a:pPr indent="-428688" lvl="0" marL="457200" rtl="0" algn="just">
              <a:lnSpc>
                <a:spcPct val="140019"/>
              </a:lnSpc>
              <a:spcBef>
                <a:spcPts val="0"/>
              </a:spcBef>
              <a:spcAft>
                <a:spcPts val="0"/>
              </a:spcAft>
              <a:buClr>
                <a:srgbClr val="131416"/>
              </a:buClr>
              <a:buSzPts val="3151"/>
              <a:buChar char="●"/>
            </a:pPr>
            <a:r>
              <a:rPr lang="en-US" sz="3151">
                <a:solidFill>
                  <a:srgbClr val="131416"/>
                </a:solidFill>
              </a:rPr>
              <a:t>“Flujo de trabajo: importar, transformar</a:t>
            </a:r>
            <a:r>
              <a:rPr lang="en-US" sz="3151">
                <a:solidFill>
                  <a:srgbClr val="131416"/>
                </a:solidFill>
              </a:rPr>
              <a:t>, </a:t>
            </a:r>
            <a:r>
              <a:rPr lang="en-US" sz="3151">
                <a:solidFill>
                  <a:srgbClr val="131416"/>
                </a:solidFill>
              </a:rPr>
              <a:t>visualizar"</a:t>
            </a:r>
            <a:endParaRPr sz="3151">
              <a:solidFill>
                <a:srgbClr val="131416"/>
              </a:solidFill>
            </a:endParaRPr>
          </a:p>
          <a:p>
            <a:pPr indent="0" lvl="0" marL="0" marR="0" rtl="0" algn="ctr">
              <a:lnSpc>
                <a:spcPct val="140019"/>
              </a:lnSpc>
              <a:spcBef>
                <a:spcPts val="0"/>
              </a:spcBef>
              <a:spcAft>
                <a:spcPts val="0"/>
              </a:spcAft>
              <a:buClr>
                <a:srgbClr val="000000"/>
              </a:buClr>
              <a:buSzPts val="3151"/>
              <a:buFont typeface="Arial"/>
              <a:buNone/>
            </a:pPr>
            <a:r>
              <a:t/>
            </a:r>
            <a:endParaRPr sz="3151">
              <a:solidFill>
                <a:srgbClr val="13141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7"/>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NOMBRE DEL VALOR Y/O ACTITUD</a:t>
            </a:r>
            <a:endParaRPr b="0" i="0" sz="1400" u="none" cap="none" strike="noStrike">
              <a:solidFill>
                <a:srgbClr val="000000"/>
              </a:solidFill>
              <a:latin typeface="Impact"/>
              <a:ea typeface="Impact"/>
              <a:cs typeface="Impact"/>
              <a:sym typeface="Impact"/>
            </a:endParaRPr>
          </a:p>
        </p:txBody>
      </p:sp>
      <p:sp>
        <p:nvSpPr>
          <p:cNvPr id="188" name="Google Shape;188;p7"/>
          <p:cNvSpPr txBox="1"/>
          <p:nvPr/>
        </p:nvSpPr>
        <p:spPr>
          <a:xfrm>
            <a:off x="3514646" y="5081874"/>
            <a:ext cx="11258700" cy="2522400"/>
          </a:xfrm>
          <a:prstGeom prst="rect">
            <a:avLst/>
          </a:prstGeom>
          <a:noFill/>
          <a:ln>
            <a:noFill/>
          </a:ln>
        </p:spPr>
        <p:txBody>
          <a:bodyPr anchorCtr="0" anchor="t" bIns="0" lIns="0" spcFirstLastPara="1" rIns="0" wrap="square" tIns="0">
            <a:spAutoFit/>
          </a:bodyPr>
          <a:lstStyle/>
          <a:p>
            <a:pPr indent="0" lvl="0" marL="0" rtl="0" algn="ctr">
              <a:lnSpc>
                <a:spcPct val="140019"/>
              </a:lnSpc>
              <a:spcBef>
                <a:spcPts val="0"/>
              </a:spcBef>
              <a:spcAft>
                <a:spcPts val="0"/>
              </a:spcAft>
              <a:buClr>
                <a:schemeClr val="dk1"/>
              </a:buClr>
              <a:buSzPts val="3151"/>
              <a:buFont typeface="Arial"/>
              <a:buNone/>
            </a:pPr>
            <a:r>
              <a:rPr lang="en-US" sz="3151">
                <a:solidFill>
                  <a:srgbClr val="131416"/>
                </a:solidFill>
              </a:rPr>
              <a:t>• Respeto: fomentar debates constructivos </a:t>
            </a:r>
            <a:endParaRPr sz="3151">
              <a:solidFill>
                <a:srgbClr val="131416"/>
              </a:solidFill>
            </a:endParaRPr>
          </a:p>
          <a:p>
            <a:pPr indent="0" lvl="0" marL="0" rtl="0" algn="ctr">
              <a:lnSpc>
                <a:spcPct val="140019"/>
              </a:lnSpc>
              <a:spcBef>
                <a:spcPts val="0"/>
              </a:spcBef>
              <a:spcAft>
                <a:spcPts val="0"/>
              </a:spcAft>
              <a:buClr>
                <a:schemeClr val="dk1"/>
              </a:buClr>
              <a:buSzPts val="3151"/>
              <a:buFont typeface="Arial"/>
              <a:buNone/>
            </a:pPr>
            <a:r>
              <a:rPr lang="en-US" sz="3151">
                <a:solidFill>
                  <a:srgbClr val="131416"/>
                </a:solidFill>
              </a:rPr>
              <a:t>• Compromiso: entrega de actividades en tiempo </a:t>
            </a:r>
            <a:endParaRPr sz="3151">
              <a:solidFill>
                <a:srgbClr val="131416"/>
              </a:solidFill>
            </a:endParaRPr>
          </a:p>
          <a:p>
            <a:pPr indent="0" lvl="0" marL="0" rtl="0" algn="ctr">
              <a:lnSpc>
                <a:spcPct val="140019"/>
              </a:lnSpc>
              <a:spcBef>
                <a:spcPts val="0"/>
              </a:spcBef>
              <a:spcAft>
                <a:spcPts val="0"/>
              </a:spcAft>
              <a:buClr>
                <a:schemeClr val="dk1"/>
              </a:buClr>
              <a:buSzPts val="3151"/>
              <a:buFont typeface="Arial"/>
              <a:buNone/>
            </a:pPr>
            <a:r>
              <a:rPr lang="en-US" sz="3151">
                <a:solidFill>
                  <a:srgbClr val="131416"/>
                </a:solidFill>
              </a:rPr>
              <a:t>• Responsabilidad: manejo ético y preciso de datos</a:t>
            </a:r>
            <a:endParaRPr>
              <a:solidFill>
                <a:schemeClr val="dk1"/>
              </a:solidFill>
            </a:endParaRPr>
          </a:p>
          <a:p>
            <a:pPr indent="0" lvl="0" marL="0" marR="0" rtl="0" algn="ctr">
              <a:lnSpc>
                <a:spcPct val="140019"/>
              </a:lnSpc>
              <a:spcBef>
                <a:spcPts val="0"/>
              </a:spcBef>
              <a:spcAft>
                <a:spcPts val="0"/>
              </a:spcAft>
              <a:buClr>
                <a:srgbClr val="000000"/>
              </a:buClr>
              <a:buSzPts val="3151"/>
              <a:buFont typeface="Arial"/>
              <a:buNone/>
            </a:pPr>
            <a:r>
              <a:t/>
            </a:r>
            <a:endParaRPr sz="3151">
              <a:solidFill>
                <a:srgbClr val="13141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194" name="Google Shape;194;p8"/>
          <p:cNvSpPr txBox="1"/>
          <p:nvPr/>
        </p:nvSpPr>
        <p:spPr>
          <a:xfrm>
            <a:off x="2135601" y="4280600"/>
            <a:ext cx="14872800" cy="2522400"/>
          </a:xfrm>
          <a:prstGeom prst="rect">
            <a:avLst/>
          </a:prstGeom>
          <a:noFill/>
          <a:ln>
            <a:noFill/>
          </a:ln>
        </p:spPr>
        <p:txBody>
          <a:bodyPr anchorCtr="0" anchor="t" bIns="0" lIns="0" spcFirstLastPara="1" rIns="0" wrap="square" tIns="0">
            <a:spAutoFit/>
          </a:bodyPr>
          <a:lstStyle/>
          <a:p>
            <a:pPr indent="-428688" lvl="0" marL="457200" marR="0" rtl="0" algn="ctr">
              <a:lnSpc>
                <a:spcPct val="140019"/>
              </a:lnSpc>
              <a:spcBef>
                <a:spcPts val="0"/>
              </a:spcBef>
              <a:spcAft>
                <a:spcPts val="0"/>
              </a:spcAft>
              <a:buSzPts val="3151"/>
              <a:buChar char="●"/>
            </a:pPr>
            <a:r>
              <a:rPr lang="en-US" sz="3151" u="sng">
                <a:solidFill>
                  <a:schemeClr val="hlink"/>
                </a:solidFill>
                <a:hlinkClick r:id="rId3"/>
              </a:rPr>
              <a:t>https://ebac.mx/blog/que-es-el-analisis-de-datos</a:t>
            </a:r>
            <a:endParaRPr sz="3151">
              <a:solidFill>
                <a:srgbClr val="131416"/>
              </a:solidFill>
            </a:endParaRPr>
          </a:p>
          <a:p>
            <a:pPr indent="-428688" lvl="0" marL="457200" marR="0" rtl="0" algn="ctr">
              <a:lnSpc>
                <a:spcPct val="140019"/>
              </a:lnSpc>
              <a:spcBef>
                <a:spcPts val="0"/>
              </a:spcBef>
              <a:spcAft>
                <a:spcPts val="0"/>
              </a:spcAft>
              <a:buSzPts val="3151"/>
              <a:buChar char="●"/>
            </a:pPr>
            <a:r>
              <a:rPr lang="en-US" sz="3151" u="sng">
                <a:solidFill>
                  <a:schemeClr val="hlink"/>
                </a:solidFill>
                <a:hlinkClick r:id="rId4"/>
              </a:rPr>
              <a:t>https://learn.microsoft.com/es-es/power-bi/fundamentals/power-bi-overview</a:t>
            </a:r>
            <a:endParaRPr sz="3151">
              <a:solidFill>
                <a:srgbClr val="131416"/>
              </a:solidFill>
            </a:endParaRPr>
          </a:p>
          <a:p>
            <a:pPr indent="-428688" lvl="0" marL="457200" marR="0" rtl="0" algn="ctr">
              <a:lnSpc>
                <a:spcPct val="140019"/>
              </a:lnSpc>
              <a:spcBef>
                <a:spcPts val="0"/>
              </a:spcBef>
              <a:spcAft>
                <a:spcPts val="0"/>
              </a:spcAft>
              <a:buSzPts val="3151"/>
              <a:buChar char="●"/>
            </a:pPr>
            <a:r>
              <a:rPr lang="en-US" sz="3151" u="sng">
                <a:solidFill>
                  <a:schemeClr val="hlink"/>
                </a:solidFill>
                <a:hlinkClick r:id="rId5"/>
              </a:rPr>
              <a:t>https://www.microsoft.com/es-es/power-platform/products/power-bi</a:t>
            </a:r>
            <a:endParaRPr sz="3151">
              <a:solidFill>
                <a:srgbClr val="131416"/>
              </a:solidFill>
            </a:endParaRPr>
          </a:p>
          <a:p>
            <a:pPr indent="0" lvl="0" marL="457200" marR="0" rtl="0" algn="ctr">
              <a:lnSpc>
                <a:spcPct val="140019"/>
              </a:lnSpc>
              <a:spcBef>
                <a:spcPts val="0"/>
              </a:spcBef>
              <a:spcAft>
                <a:spcPts val="0"/>
              </a:spcAft>
              <a:buNone/>
            </a:pPr>
            <a:r>
              <a:t/>
            </a:r>
            <a:endParaRPr sz="3151">
              <a:solidFill>
                <a:srgbClr val="131416"/>
              </a:solidFill>
            </a:endParaRPr>
          </a:p>
        </p:txBody>
      </p:sp>
      <p:sp>
        <p:nvSpPr>
          <p:cNvPr id="195" name="Google Shape;195;p8"/>
          <p:cNvSpPr txBox="1"/>
          <p:nvPr/>
        </p:nvSpPr>
        <p:spPr>
          <a:xfrm>
            <a:off x="15234657" y="6780527"/>
            <a:ext cx="3238200" cy="2154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01" name="Google Shape;201;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02" name="Google Shape;202;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03" name="Google Shape;203;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