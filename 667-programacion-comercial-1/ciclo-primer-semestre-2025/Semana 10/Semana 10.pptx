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Lobster"/>
      <p:regular r:id="rId19"/>
    </p:embeddedFont>
    <p:embeddedFont>
      <p:font typeface="Pacifico"/>
      <p:regular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DhGJNtS/l6Xn8KAvj8nPSAHoL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9CC263-AB56-4ECD-BED4-0CF7FDC64415}">
  <a:tblStyle styleId="{E69CC263-AB56-4ECD-BED4-0CF7FDC644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cifico-regular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obs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e11cf0aa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8e11cf0a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0a610ef1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60a610ef1a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0a610ef1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60a610ef1a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e11cf0aa2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38e11cf0aa2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38e11cf0aa2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bac.mx/blog/que-es-el-analisis-de-datos" TargetMode="External"/><Relationship Id="rId4" Type="http://schemas.openxmlformats.org/officeDocument/2006/relationships/hyperlink" Target="https://learn.microsoft.com/es-es/power-bi/fundamentals/power-bi-overview" TargetMode="External"/><Relationship Id="rId5" Type="http://schemas.openxmlformats.org/officeDocument/2006/relationships/hyperlink" Target="https://www.microsoft.com/es-es/power-platform/products/power-bi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8e11cf0aa2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8e11cf0aa2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{E69CC263-AB56-4ECD-BED4-0CF7FDC64415}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Viernes 1</a:t>
                      </a:r>
                      <a:r>
                        <a:rPr lang="en-US" sz="2800"/>
                        <a:t>7</a:t>
                      </a:r>
                      <a:r>
                        <a:rPr lang="en-US" sz="2800" u="none" cap="none" strike="noStrike"/>
                        <a:t>/10/2025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12:20 pm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8e11cf0aa2_0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Comercial 1 P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8e11cf0aa2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Aux: Andrés Alejandro Agosto Méndez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1028703" y="653638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3. 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2979082" y="7426039"/>
            <a:ext cx="328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8819" y="4270200"/>
            <a:ext cx="9632736" cy="845568"/>
            <a:chOff x="0" y="-76201"/>
            <a:chExt cx="1964221" cy="3600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261999" y="-76201"/>
              <a:ext cx="1587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lang="en-US" sz="2799"/>
                <a:t>Creación de gráficos y reportes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702029" y="44260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690364" y="2699581"/>
            <a:ext cx="4115217" cy="155649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75129" y="31153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0392649" y="3515788"/>
            <a:ext cx="7521788" cy="1779462"/>
            <a:chOff x="-495932" y="84963"/>
            <a:chExt cx="1981034" cy="468662"/>
          </a:xfrm>
        </p:grpSpPr>
        <p:sp>
          <p:nvSpPr>
            <p:cNvPr id="118" name="Google Shape;118;p2"/>
            <p:cNvSpPr/>
            <p:nvPr/>
          </p:nvSpPr>
          <p:spPr>
            <a:xfrm>
              <a:off x="75088" y="219887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-495932" y="84963"/>
              <a:ext cx="17916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t/>
              </a:r>
              <a:endParaRPr b="0" i="0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555125" y="5129900"/>
            <a:ext cx="7365035" cy="845568"/>
            <a:chOff x="-71045" y="-76201"/>
            <a:chExt cx="3868800" cy="3600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-71045" y="-76201"/>
              <a:ext cx="3868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 </a:t>
              </a:r>
              <a:r>
                <a:rPr lang="en-US" sz="2799"/>
                <a:t>Elaboración de gráficos básicos</a:t>
              </a:r>
              <a:br>
                <a:rPr lang="en-US" sz="2799"/>
              </a:b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 sz="2799"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460076" y="7035050"/>
            <a:ext cx="7056071" cy="845568"/>
            <a:chOff x="0" y="-76204"/>
            <a:chExt cx="1964221" cy="3600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26459" y="-76204"/>
              <a:ext cx="1823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 </a:t>
              </a:r>
              <a:r>
                <a:rPr lang="en-US" sz="2799"/>
                <a:t>Uso de slicers, tarjetas de KPIs y combinaciones de gráficos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690372" y="8098522"/>
            <a:ext cx="6289632" cy="845387"/>
            <a:chOff x="0" y="-76200"/>
            <a:chExt cx="1964221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5. Conclusión y 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460074" y="6111475"/>
            <a:ext cx="8932585" cy="845568"/>
            <a:chOff x="0" y="-76200"/>
            <a:chExt cx="4424700" cy="36000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4424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 </a:t>
              </a:r>
              <a:r>
                <a:rPr lang="en-US" sz="2799"/>
                <a:t>Gráficos avanzados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"/>
          <p:cNvSpPr/>
          <p:nvPr/>
        </p:nvSpPr>
        <p:spPr>
          <a:xfrm>
            <a:off x="702029" y="53088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2"/>
          <p:cNvSpPr/>
          <p:nvPr/>
        </p:nvSpPr>
        <p:spPr>
          <a:xfrm>
            <a:off x="702029" y="62904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702029" y="72902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702029" y="82911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105188" y="3084350"/>
            <a:ext cx="16077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la eficacia de informes en Power BI usando visualizaciones interactivas y paneles según KPIs del negocio.</a:t>
            </a:r>
            <a:br>
              <a:rPr b="1" lang="en-US" sz="36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36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Refinar conceptos básicos de estadística mediante software especializado para análisis y visualización.</a:t>
            </a:r>
            <a:endParaRPr b="1" sz="36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1" sz="36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1184839" y="2315091"/>
            <a:ext cx="1262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184850" y="1930800"/>
            <a:ext cx="120693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Los gráficos de barras permiten comparar categorías mediante la altura o longitud de barras, facilitando la identificación de diferencias cuantitativas.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Los gráficos de líneas representan la evolución de datos a lo largo del tiempo, ideales para detectar tendencias y patrones temporales.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Los gráficos de área combinan características de líneas y barras, destacando volúmenes acumulados y cambios en variables continuas.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450" y="6025975"/>
            <a:ext cx="5400687" cy="38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0a610ef1a_2_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5" name="Google Shape;155;g360a610ef1a_2_5"/>
          <p:cNvSpPr txBox="1"/>
          <p:nvPr/>
        </p:nvSpPr>
        <p:spPr>
          <a:xfrm>
            <a:off x="1137325" y="1101150"/>
            <a:ext cx="12069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Los gráficos circulares muestran proporciones relativas dentro de un todo, útiles para analizar distribuciones porcentuales.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La personalización incluye la selección y aplicación de paletas de colores que mejoran la legibilidad y el impacto visual.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Las etiquetas agregan detalles numéricos o descriptivos a los datos visualizados, mientras que las leyendas facilitan la interpretación de símbolos y colores en el gráfico.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</p:txBody>
      </p:sp>
      <p:pic>
        <p:nvPicPr>
          <p:cNvPr id="156" name="Google Shape;156;g360a610ef1a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1150" y="6134925"/>
            <a:ext cx="6046862" cy="384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0a610ef1a_2_15"/>
          <p:cNvSpPr txBox="1"/>
          <p:nvPr/>
        </p:nvSpPr>
        <p:spPr>
          <a:xfrm>
            <a:off x="1096789" y="1317266"/>
            <a:ext cx="1262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60a610ef1a_2_1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3" name="Google Shape;163;g360a610ef1a_2_15"/>
          <p:cNvSpPr txBox="1"/>
          <p:nvPr/>
        </p:nvSpPr>
        <p:spPr>
          <a:xfrm>
            <a:off x="567150" y="507200"/>
            <a:ext cx="120693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Los gráficos avanzados permiten combinaciones, como gráficos de barras apiladas con líneas superpuestas, para mostrar múltiples variables simultáneamente.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Los slicers son filtros visuales que permiten segmentar datos en tiempo real según diferentes criterios, facilitando análisis dinámicos.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Las tarjetas KPI muestran indicadores clave con valores resumidos, apoyando la toma rápida de decisiones.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El marketplace de Power BI ofrece visualizaciones personalizadas adicionales que amplían las opciones para representar datos complejos o específicos.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64" name="Google Shape;164;g360a610ef1a_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8449" y="6096200"/>
            <a:ext cx="6739201" cy="37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374889" y="3056735"/>
            <a:ext cx="14365800" cy="30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75">
                <a:solidFill>
                  <a:srgbClr val="131416"/>
                </a:solidFill>
              </a:rPr>
              <a:t>Creación guiada de distintos tipos de gráficos usando un conjunto de datos de ejemplo.</a:t>
            </a:r>
            <a:br>
              <a:rPr lang="en-US" sz="2375">
                <a:solidFill>
                  <a:srgbClr val="131416"/>
                </a:solidFill>
              </a:rPr>
            </a:br>
            <a:endParaRPr sz="2375">
              <a:solidFill>
                <a:srgbClr val="13141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75">
                <a:solidFill>
                  <a:srgbClr val="131416"/>
                </a:solidFill>
              </a:rPr>
              <a:t>Personalización visual para mejorar la interpretación y claridad de los reportes.</a:t>
            </a:r>
            <a:br>
              <a:rPr lang="en-US" sz="2375">
                <a:solidFill>
                  <a:srgbClr val="131416"/>
                </a:solidFill>
              </a:rPr>
            </a:br>
            <a:endParaRPr sz="2375">
              <a:solidFill>
                <a:srgbClr val="13141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75">
                <a:solidFill>
                  <a:srgbClr val="131416"/>
                </a:solidFill>
              </a:rPr>
              <a:t>Diseño de un panel sencillo con filtros y KPIs que facilite la toma de decisiones.</a:t>
            </a:r>
            <a:br>
              <a:rPr lang="en-US" sz="2375">
                <a:solidFill>
                  <a:srgbClr val="131416"/>
                </a:solidFill>
              </a:rPr>
            </a:br>
            <a:endParaRPr sz="237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sz="2375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1256600" y="3884575"/>
            <a:ext cx="15109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Técnicas para elaborar y combinar diferentes tipos de gráficos en Power BI.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Importancia de la personalización para una comunicación visual efectiva.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Utilización de filtros y KPIs para dashboards interactivos y dinámicos.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Valor agregado del marketplace para ampliar las capacidades visuales.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3514646" y="5081874"/>
            <a:ext cx="11258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Compromiso: Participar activamente y practicar la creación y personalización de gráficos.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Responsabilidad: Aplicar buenas prácticas para diseñar visualizaciones claras y útiles.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Respeto: Compartir ideas y apoyar a compañeros durante las actividades prácticas.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2135601" y="4280600"/>
            <a:ext cx="148728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https://ebac.mx/blog/que-es-el-analisis-de-datos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https://learn.microsoft.com/es-es/power-bi/fundamentals/power-bi-overview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●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https://www.microsoft.com/es-es/power-platform/products/power-bi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52346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