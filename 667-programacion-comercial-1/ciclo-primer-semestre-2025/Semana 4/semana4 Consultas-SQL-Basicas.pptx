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Nunito SemiBold"/>
      <p:regular r:id="rId13"/>
      <p:bold r:id="rId14"/>
      <p:italic r:id="rId15"/>
      <p:boldItalic r:id="rId16"/>
    </p:embeddedFont>
    <p:embeddedFont>
      <p:font typeface="PT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absFBKYPQT0oXic3H+lMpEZZu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NunitoSemiBold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SemiBold-italic.fntdata"/><Relationship Id="rId14" Type="http://schemas.openxmlformats.org/officeDocument/2006/relationships/font" Target="fonts/NunitoSemiBold-bold.fntdata"/><Relationship Id="rId17" Type="http://schemas.openxmlformats.org/officeDocument/2006/relationships/font" Target="fonts/PTSans-regular.fntdata"/><Relationship Id="rId16" Type="http://schemas.openxmlformats.org/officeDocument/2006/relationships/font" Target="fonts/NunitoSemiBold-boldItalic.fntdata"/><Relationship Id="rId5" Type="http://schemas.openxmlformats.org/officeDocument/2006/relationships/slide" Target="slides/slide1.xml"/><Relationship Id="rId19" Type="http://schemas.openxmlformats.org/officeDocument/2006/relationships/font" Target="fonts/PTSans-italic.fntdata"/><Relationship Id="rId6" Type="http://schemas.openxmlformats.org/officeDocument/2006/relationships/slide" Target="slides/slide2.xml"/><Relationship Id="rId18" Type="http://schemas.openxmlformats.org/officeDocument/2006/relationships/font" Target="fonts/PT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6324124" y="2197656"/>
            <a:ext cx="7468553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09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6100"/>
              <a:buFont typeface="Nunito SemiBold"/>
              <a:buNone/>
            </a:pPr>
            <a:r>
              <a:rPr b="1" i="0" lang="en-US" sz="61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Consultas SQL Básicas</a:t>
            </a:r>
            <a:endParaRPr b="0" i="0" sz="610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6324124" y="4499729"/>
            <a:ext cx="746855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Exploraremos las consultas SQL más fundamentales que permiten a los usuarios interactuar con bases de datos de manera eficiente. Desde la selección y filtrado de datos hasta el agrupamiento y unión de tablas, estas herramientas son esenciales para obtener información valiosa.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837724" y="2294215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 SemiBold"/>
              <a:buNone/>
            </a:pPr>
            <a:r>
              <a:rPr b="1" i="0" lang="en-US" sz="44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Selección de Datos</a:t>
            </a:r>
            <a:endParaRPr b="0" i="0" sz="44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837724" y="359652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SELECT</a:t>
            </a:r>
            <a:endParaRPr b="0" i="0" sz="220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837724" y="4187785"/>
            <a:ext cx="3928586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La cláusula SELECT permite especificar qué columnas de una tabla se deben incluir en los resultados de la consulta.</a:t>
            </a:r>
            <a:endParaRPr b="0" i="0" sz="1850" u="none" cap="none" strike="noStrike"/>
          </a:p>
        </p:txBody>
      </p:sp>
      <p:sp>
        <p:nvSpPr>
          <p:cNvPr id="59" name="Google Shape;59;p2"/>
          <p:cNvSpPr/>
          <p:nvPr/>
        </p:nvSpPr>
        <p:spPr>
          <a:xfrm>
            <a:off x="5357813" y="359652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FROM</a:t>
            </a:r>
            <a:endParaRPr b="0" i="0" sz="220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5357813" y="4187785"/>
            <a:ext cx="3928586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La cláusula FROM indica la tabla o tablas de las que se van a extraer los datos.</a:t>
            </a:r>
            <a:endParaRPr b="0" i="0" sz="18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9877901" y="359652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WHERE</a:t>
            </a:r>
            <a:endParaRPr b="0" i="0" sz="22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9877901" y="4187785"/>
            <a:ext cx="3928586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La cláusula WHERE se utiliza para filtrar los registros que cumplen con determinadas condiciones.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/>
          <p:nvPr/>
        </p:nvSpPr>
        <p:spPr>
          <a:xfrm>
            <a:off x="6324124" y="1549837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 SemiBold"/>
              <a:buNone/>
            </a:pPr>
            <a:r>
              <a:rPr b="1" i="0" lang="en-US" sz="44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Filtrado de Datos</a:t>
            </a:r>
            <a:endParaRPr b="0" i="0" sz="4400" u="none" cap="none" strike="noStrike"/>
          </a:p>
        </p:txBody>
      </p:sp>
      <p:sp>
        <p:nvSpPr>
          <p:cNvPr id="70" name="Google Shape;70;p3"/>
          <p:cNvSpPr/>
          <p:nvPr/>
        </p:nvSpPr>
        <p:spPr>
          <a:xfrm>
            <a:off x="6324124" y="2882027"/>
            <a:ext cx="538520" cy="538520"/>
          </a:xfrm>
          <a:prstGeom prst="roundRect">
            <a:avLst>
              <a:gd fmla="val 66677" name="adj"/>
            </a:avLst>
          </a:prstGeom>
          <a:solidFill>
            <a:srgbClr val="F3F3FF"/>
          </a:solidFill>
          <a:ln cap="flat" cmpd="sng" w="22850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92002" y="2982277"/>
            <a:ext cx="202763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650"/>
              <a:buFont typeface="Nunito SemiBold"/>
              <a:buNone/>
            </a:pPr>
            <a:r>
              <a:rPr b="1" i="0" lang="en-US" sz="26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1</a:t>
            </a:r>
            <a:endParaRPr b="0" i="0" sz="2650" u="none" cap="none" strike="noStrike"/>
          </a:p>
        </p:txBody>
      </p:sp>
      <p:sp>
        <p:nvSpPr>
          <p:cNvPr id="72" name="Google Shape;72;p3"/>
          <p:cNvSpPr/>
          <p:nvPr/>
        </p:nvSpPr>
        <p:spPr>
          <a:xfrm>
            <a:off x="7101959" y="2882027"/>
            <a:ext cx="283678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Operadores de Comparación</a:t>
            </a:r>
            <a:endParaRPr b="0" i="0" sz="220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7101959" y="3729514"/>
            <a:ext cx="283678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Utiliza operadores como =, &gt;, &lt;, &gt;=, &lt;=, &lt;&gt; para aplicar filtros a los datos.</a:t>
            </a:r>
            <a:endParaRPr b="0" i="0" sz="1850" u="none" cap="none" strike="noStrike"/>
          </a:p>
        </p:txBody>
      </p:sp>
      <p:sp>
        <p:nvSpPr>
          <p:cNvPr id="74" name="Google Shape;74;p3"/>
          <p:cNvSpPr/>
          <p:nvPr/>
        </p:nvSpPr>
        <p:spPr>
          <a:xfrm>
            <a:off x="10178058" y="2882027"/>
            <a:ext cx="538520" cy="538520"/>
          </a:xfrm>
          <a:prstGeom prst="roundRect">
            <a:avLst>
              <a:gd fmla="val 66677" name="adj"/>
            </a:avLst>
          </a:prstGeom>
          <a:solidFill>
            <a:srgbClr val="F3F3FF"/>
          </a:solidFill>
          <a:ln cap="flat" cmpd="sng" w="22850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10345936" y="2982277"/>
            <a:ext cx="202763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650"/>
              <a:buFont typeface="Nunito SemiBold"/>
              <a:buNone/>
            </a:pPr>
            <a:r>
              <a:rPr b="1" i="0" lang="en-US" sz="26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2</a:t>
            </a:r>
            <a:endParaRPr b="0" i="0" sz="2650" u="none" cap="none" strike="noStrike"/>
          </a:p>
        </p:txBody>
      </p:sp>
      <p:sp>
        <p:nvSpPr>
          <p:cNvPr id="76" name="Google Shape;76;p3"/>
          <p:cNvSpPr/>
          <p:nvPr/>
        </p:nvSpPr>
        <p:spPr>
          <a:xfrm>
            <a:off x="10955893" y="2882027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Operadores Lógicos</a:t>
            </a:r>
            <a:endParaRPr b="0" i="0" sz="22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10955893" y="3377565"/>
            <a:ext cx="283678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Combina múltiples condiciones usando AND, OR y NOT para refinar tus búsquedas.</a:t>
            </a:r>
            <a:endParaRPr b="0" i="0" sz="185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6324124" y="5418177"/>
            <a:ext cx="538520" cy="538520"/>
          </a:xfrm>
          <a:prstGeom prst="roundRect">
            <a:avLst>
              <a:gd fmla="val 66677" name="adj"/>
            </a:avLst>
          </a:prstGeom>
          <a:solidFill>
            <a:srgbClr val="F3F3FF"/>
          </a:solidFill>
          <a:ln cap="flat" cmpd="sng" w="22850">
            <a:solidFill>
              <a:srgbClr val="DA33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492002" y="5518428"/>
            <a:ext cx="202763" cy="337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650"/>
              <a:buFont typeface="Nunito SemiBold"/>
              <a:buNone/>
            </a:pPr>
            <a:r>
              <a:rPr b="1" i="0" lang="en-US" sz="26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3</a:t>
            </a:r>
            <a:endParaRPr b="0" i="0" sz="265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7101959" y="5220177"/>
            <a:ext cx="28890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Patrones de Búsqueda</a:t>
            </a:r>
            <a:endParaRPr b="0" i="0" sz="220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7101959" y="5913715"/>
            <a:ext cx="6690717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Emplea comodines como % y _ en la cláusula WHERE para hacer búsquedas más flexibles.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914518" y="608212"/>
            <a:ext cx="6966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100"/>
              <a:buFont typeface="Nunito SemiBold"/>
              <a:buNone/>
            </a:pPr>
            <a:r>
              <a:rPr b="1" i="0" lang="en-US" sz="41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Ordenamiento de Resultados</a:t>
            </a:r>
            <a:endParaRPr b="0" i="0" sz="4100" u="none" cap="none" strike="noStrike"/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693" y="2484350"/>
            <a:ext cx="1115258" cy="178450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2230517" y="2156341"/>
            <a:ext cx="2624257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050"/>
              <a:buFont typeface="Nunito SemiBold"/>
              <a:buNone/>
            </a:pPr>
            <a:r>
              <a:rPr b="1" i="0" lang="en-US" sz="20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ORDER BY</a:t>
            </a:r>
            <a:endParaRPr b="0" i="0" sz="2050" u="none" cap="none" strike="noStrike"/>
          </a:p>
        </p:txBody>
      </p:sp>
      <p:sp>
        <p:nvSpPr>
          <p:cNvPr id="91" name="Google Shape;91;p4"/>
          <p:cNvSpPr/>
          <p:nvPr/>
        </p:nvSpPr>
        <p:spPr>
          <a:xfrm>
            <a:off x="2230517" y="2618184"/>
            <a:ext cx="6132790" cy="713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0"/>
              <a:buFont typeface="PT Sans"/>
              <a:buNone/>
            </a:pPr>
            <a:r>
              <a:rPr b="0" i="0" lang="en-US" sz="17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Ordena los resultados de la consulta en orden ascendente o descendente por una o más columnas.</a:t>
            </a:r>
            <a:endParaRPr b="0" i="0" sz="1750" u="none" cap="none" strike="noStrike"/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693" y="3867396"/>
            <a:ext cx="1115258" cy="178450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2230517" y="3940850"/>
            <a:ext cx="2624257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050"/>
              <a:buFont typeface="Nunito SemiBold"/>
              <a:buNone/>
            </a:pPr>
            <a:r>
              <a:rPr b="1" i="0" lang="en-US" sz="20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ASC / DESC</a:t>
            </a:r>
            <a:endParaRPr b="0" i="0" sz="20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2230517" y="4402693"/>
            <a:ext cx="6132790" cy="713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0"/>
              <a:buFont typeface="PT Sans"/>
              <a:buNone/>
            </a:pPr>
            <a:r>
              <a:rPr b="0" i="0" lang="en-US" sz="17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Indica si el ordenamiento debe ser ascendente (ASC) o descendente (DESC).</a:t>
            </a:r>
            <a:endParaRPr b="0" i="0" sz="1750" u="none" cap="none" strike="noStrike"/>
          </a:p>
        </p:txBody>
      </p:sp>
      <p:pic>
        <p:nvPicPr>
          <p:cNvPr descr="preencoded.png" id="95" name="Google Shape;9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518" y="5651929"/>
            <a:ext cx="1115258" cy="178450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2230517" y="5725358"/>
            <a:ext cx="2624257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050"/>
              <a:buFont typeface="Nunito SemiBold"/>
              <a:buNone/>
            </a:pPr>
            <a:r>
              <a:rPr b="1" i="0" lang="en-US" sz="20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Múltiples Columnas</a:t>
            </a:r>
            <a:endParaRPr b="0" i="0" sz="20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2230517" y="6187202"/>
            <a:ext cx="6132790" cy="713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750"/>
              <a:buFont typeface="PT Sans"/>
              <a:buNone/>
            </a:pPr>
            <a:r>
              <a:rPr b="0" i="0" lang="en-US" sz="17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Puedes ordenar por varias columnas para obtener un orden más específico.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5258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714732" y="3150870"/>
            <a:ext cx="6384846" cy="60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750"/>
              <a:buFont typeface="Nunito SemiBold"/>
              <a:buNone/>
            </a:pPr>
            <a:r>
              <a:rPr b="1" i="0" lang="en-US" sz="37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Agrupamiento de Resultados</a:t>
            </a:r>
            <a:endParaRPr b="0" i="0" sz="3750" u="none" cap="none" strike="noStrike"/>
          </a:p>
        </p:txBody>
      </p:sp>
      <p:sp>
        <p:nvSpPr>
          <p:cNvPr id="105" name="Google Shape;105;p5"/>
          <p:cNvSpPr/>
          <p:nvPr/>
        </p:nvSpPr>
        <p:spPr>
          <a:xfrm>
            <a:off x="7303770" y="4057769"/>
            <a:ext cx="22860" cy="3573542"/>
          </a:xfrm>
          <a:prstGeom prst="roundRect">
            <a:avLst>
              <a:gd fmla="val 1339968" name="adj"/>
            </a:avLst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393597" y="4505682"/>
            <a:ext cx="714732" cy="22860"/>
          </a:xfrm>
          <a:prstGeom prst="roundRect">
            <a:avLst>
              <a:gd fmla="val 1339968" name="adj"/>
            </a:avLst>
          </a:prstGeom>
          <a:solidFill>
            <a:srgbClr val="2D4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7085469" y="4287441"/>
            <a:ext cx="459462" cy="459462"/>
          </a:xfrm>
          <a:prstGeom prst="roundRect">
            <a:avLst>
              <a:gd fmla="val 66669" name="adj"/>
            </a:avLst>
          </a:prstGeom>
          <a:solidFill>
            <a:srgbClr val="F3F3FF"/>
          </a:solidFill>
          <a:ln cap="flat" cmpd="sng" w="22850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228701" y="4373047"/>
            <a:ext cx="172998" cy="28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50"/>
              <a:buFont typeface="Nunito SemiBold"/>
              <a:buNone/>
            </a:pPr>
            <a:r>
              <a:rPr b="1" i="0" lang="en-US" sz="22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1</a:t>
            </a:r>
            <a:endParaRPr b="0" i="0" sz="2250" u="none" cap="none" strike="noStrike"/>
          </a:p>
        </p:txBody>
      </p:sp>
      <p:sp>
        <p:nvSpPr>
          <p:cNvPr id="109" name="Google Shape;109;p5"/>
          <p:cNvSpPr/>
          <p:nvPr/>
        </p:nvSpPr>
        <p:spPr>
          <a:xfrm>
            <a:off x="3789640" y="4261961"/>
            <a:ext cx="2402443" cy="3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Nunito SemiBold"/>
              <a:buNone/>
            </a:pPr>
            <a:r>
              <a:rPr b="1" i="0" lang="en-US" sz="18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GROUP BY</a:t>
            </a:r>
            <a:endParaRPr b="0" i="0" sz="1850" u="none" cap="none" strike="noStrike"/>
          </a:p>
        </p:txBody>
      </p:sp>
      <p:sp>
        <p:nvSpPr>
          <p:cNvPr id="110" name="Google Shape;110;p5"/>
          <p:cNvSpPr/>
          <p:nvPr/>
        </p:nvSpPr>
        <p:spPr>
          <a:xfrm>
            <a:off x="714732" y="4684752"/>
            <a:ext cx="5477351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00"/>
              <a:buFont typeface="PT Sans"/>
              <a:buNone/>
            </a:pPr>
            <a:r>
              <a:rPr b="0" i="0" lang="en-US" sz="16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Agrupa los resultados de la consulta por una o más columnas, lo que permite aplicar funciones de agregación a cada grupo.</a:t>
            </a:r>
            <a:endParaRPr b="0" i="0" sz="1600" u="none" cap="none" strike="noStrike"/>
          </a:p>
        </p:txBody>
      </p:sp>
      <p:sp>
        <p:nvSpPr>
          <p:cNvPr id="111" name="Google Shape;111;p5"/>
          <p:cNvSpPr/>
          <p:nvPr/>
        </p:nvSpPr>
        <p:spPr>
          <a:xfrm>
            <a:off x="7522071" y="5526643"/>
            <a:ext cx="714732" cy="22860"/>
          </a:xfrm>
          <a:prstGeom prst="roundRect">
            <a:avLst>
              <a:gd fmla="val 1339968" name="adj"/>
            </a:avLst>
          </a:prstGeom>
          <a:solidFill>
            <a:srgbClr val="018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085469" y="5308402"/>
            <a:ext cx="459462" cy="459462"/>
          </a:xfrm>
          <a:prstGeom prst="roundRect">
            <a:avLst>
              <a:gd fmla="val 66669" name="adj"/>
            </a:avLst>
          </a:prstGeom>
          <a:solidFill>
            <a:srgbClr val="F3F3FF"/>
          </a:solidFill>
          <a:ln cap="flat" cmpd="sng" w="22850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7228701" y="5394008"/>
            <a:ext cx="172998" cy="28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50"/>
              <a:buFont typeface="Nunito SemiBold"/>
              <a:buNone/>
            </a:pPr>
            <a:r>
              <a:rPr b="1" i="0" lang="en-US" sz="22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2</a:t>
            </a:r>
            <a:endParaRPr b="0" i="0" sz="225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8438317" y="5282922"/>
            <a:ext cx="2743795" cy="3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Nunito SemiBold"/>
              <a:buNone/>
            </a:pPr>
            <a:r>
              <a:rPr b="1" i="0" lang="en-US" sz="18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Funciones de Agregación</a:t>
            </a:r>
            <a:endParaRPr b="0" i="0" sz="18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8438317" y="5705713"/>
            <a:ext cx="5477351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00"/>
              <a:buFont typeface="PT Sans"/>
              <a:buNone/>
            </a:pPr>
            <a:r>
              <a:rPr b="0" i="0" lang="en-US" sz="16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Incluye SUM, AVG, COUNT, MIN y MAX para calcular valores resumen para cada grupo.</a:t>
            </a:r>
            <a:endParaRPr b="0" i="0" sz="160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6393597" y="6445567"/>
            <a:ext cx="714732" cy="22860"/>
          </a:xfrm>
          <a:prstGeom prst="roundRect">
            <a:avLst>
              <a:gd fmla="val 1339968" name="adj"/>
            </a:avLst>
          </a:prstGeom>
          <a:solidFill>
            <a:srgbClr val="DA3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7085469" y="6227326"/>
            <a:ext cx="459462" cy="459462"/>
          </a:xfrm>
          <a:prstGeom prst="roundRect">
            <a:avLst>
              <a:gd fmla="val 66669" name="adj"/>
            </a:avLst>
          </a:prstGeom>
          <a:solidFill>
            <a:srgbClr val="F3F3FF"/>
          </a:solidFill>
          <a:ln cap="flat" cmpd="sng" w="22850">
            <a:solidFill>
              <a:srgbClr val="DA33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228701" y="6312932"/>
            <a:ext cx="172998" cy="28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50"/>
              <a:buFont typeface="Nunito SemiBold"/>
              <a:buNone/>
            </a:pPr>
            <a:r>
              <a:rPr b="1" i="0" lang="en-US" sz="22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3</a:t>
            </a:r>
            <a:endParaRPr b="0" i="0" sz="225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3789640" y="6201847"/>
            <a:ext cx="2402443" cy="3002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Nunito SemiBold"/>
              <a:buNone/>
            </a:pPr>
            <a:r>
              <a:rPr b="1" i="0" lang="en-US" sz="18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HAVING</a:t>
            </a:r>
            <a:endParaRPr b="0" i="0" sz="185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714732" y="6624638"/>
            <a:ext cx="5477351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600"/>
              <a:buFont typeface="PT Sans"/>
              <a:buNone/>
            </a:pPr>
            <a:r>
              <a:rPr b="0" i="0" lang="en-US" sz="16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Filtra los grupos de resultados en función de condiciones en las funciones de agregación.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837724" y="735687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 SemiBold"/>
              <a:buNone/>
            </a:pPr>
            <a:r>
              <a:rPr b="1" i="0" lang="en-US" sz="44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Unión de Tablas</a:t>
            </a:r>
            <a:endParaRPr b="0" i="0" sz="440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837724" y="1798677"/>
            <a:ext cx="3614618" cy="2551986"/>
          </a:xfrm>
          <a:prstGeom prst="roundRect">
            <a:avLst>
              <a:gd fmla="val 14070" name="adj"/>
            </a:avLst>
          </a:prstGeom>
          <a:solidFill>
            <a:srgbClr val="F3F3FF"/>
          </a:solidFill>
          <a:ln cap="flat" cmpd="sng" w="22850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99899" y="206085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JOIN</a:t>
            </a:r>
            <a:endParaRPr b="0" i="0" sz="22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1099899" y="2556391"/>
            <a:ext cx="3090267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Combina filas de dos o más tablas en función de una columna relacionada entre ellas.</a:t>
            </a:r>
            <a:endParaRPr b="0" i="0" sz="185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4691658" y="1798677"/>
            <a:ext cx="3614618" cy="2551986"/>
          </a:xfrm>
          <a:prstGeom prst="roundRect">
            <a:avLst>
              <a:gd fmla="val 14070" name="adj"/>
            </a:avLst>
          </a:prstGeom>
          <a:solidFill>
            <a:srgbClr val="F3F3FF"/>
          </a:solidFill>
          <a:ln cap="flat" cmpd="sng" w="22850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953833" y="2060853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Tipos de Unión</a:t>
            </a:r>
            <a:endParaRPr b="0" i="0" sz="22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4953833" y="2556391"/>
            <a:ext cx="3090267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INNER, OUTER, LEFT, RIGHT y FULL son algunos de los tipos de JOIN más utilizados.</a:t>
            </a:r>
            <a:endParaRPr b="0" i="0" sz="185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837724" y="4589978"/>
            <a:ext cx="3614618" cy="2903934"/>
          </a:xfrm>
          <a:prstGeom prst="roundRect">
            <a:avLst>
              <a:gd fmla="val 12365" name="adj"/>
            </a:avLst>
          </a:prstGeom>
          <a:solidFill>
            <a:srgbClr val="F3F3FF"/>
          </a:solidFill>
          <a:ln cap="flat" cmpd="sng" w="22850">
            <a:solidFill>
              <a:srgbClr val="DA33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99899" y="485215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ON / WHERE</a:t>
            </a:r>
            <a:endParaRPr b="0" i="0" sz="22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1099899" y="5347692"/>
            <a:ext cx="3090267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Especifica las condiciones de unión entre las tablas en la cláusula ON o en la cláusula WHERE.</a:t>
            </a:r>
            <a:endParaRPr b="0" i="0" sz="1850" u="none" cap="none" strike="noStrike"/>
          </a:p>
        </p:txBody>
      </p:sp>
      <p:sp>
        <p:nvSpPr>
          <p:cNvPr id="137" name="Google Shape;137;p6"/>
          <p:cNvSpPr/>
          <p:nvPr/>
        </p:nvSpPr>
        <p:spPr>
          <a:xfrm>
            <a:off x="4691658" y="4589978"/>
            <a:ext cx="3614618" cy="2903934"/>
          </a:xfrm>
          <a:prstGeom prst="roundRect">
            <a:avLst>
              <a:gd fmla="val 12365" name="adj"/>
            </a:avLst>
          </a:prstGeom>
          <a:solidFill>
            <a:srgbClr val="F3F3FF"/>
          </a:solidFill>
          <a:ln cap="flat" cmpd="sng" w="22850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953833" y="4852154"/>
            <a:ext cx="3090267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Unión de Múltiples Tablas</a:t>
            </a:r>
            <a:endParaRPr b="0" i="0" sz="220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4953833" y="5699641"/>
            <a:ext cx="3090267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Puedes combinar más de dos tablas en una sola consulta para obtener datos más completos.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6324124" y="1124903"/>
            <a:ext cx="6434257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 SemiBold"/>
              <a:buNone/>
            </a:pPr>
            <a:r>
              <a:rPr b="1" i="0" lang="en-US" sz="44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Funciones de Agregación</a:t>
            </a:r>
            <a:endParaRPr b="0" i="0" sz="4400" u="none" cap="none" strike="noStrike"/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5724" y="2786293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6324124" y="302561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SUM</a:t>
            </a:r>
            <a:endParaRPr b="0" i="0" sz="220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6324124" y="3521154"/>
            <a:ext cx="3554730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Calcula la suma de los valores de una columna.</a:t>
            </a:r>
            <a:endParaRPr b="0" i="0" sz="1850" u="none" cap="none" strike="noStrike"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37827" y="2187893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0237827" y="3025616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AVG</a:t>
            </a:r>
            <a:endParaRPr b="0" i="0" sz="22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10237827" y="3521154"/>
            <a:ext cx="3554849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Calcula el promedio de los valores de una columna.</a:t>
            </a:r>
            <a:endParaRPr b="0" i="0" sz="1850" u="none" cap="none" strike="noStrike"/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4124" y="5005268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6324124" y="584299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COUNT</a:t>
            </a:r>
            <a:endParaRPr b="0" i="0" sz="220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6324124" y="6338530"/>
            <a:ext cx="3554730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Cuenta el número de filas que cumplen una condición.</a:t>
            </a:r>
            <a:endParaRPr b="0" i="0" sz="1850" u="none" cap="none" strike="noStrike"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37827" y="5005268"/>
            <a:ext cx="598408" cy="59840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10237827" y="5842992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200"/>
              <a:buFont typeface="Nunito SemiBold"/>
              <a:buNone/>
            </a:pPr>
            <a:r>
              <a:rPr b="1" i="0" lang="en-US" sz="2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MIN</a:t>
            </a:r>
            <a:endParaRPr b="0" i="0" sz="220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10237827" y="6338530"/>
            <a:ext cx="3554849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Devuelve el valor mínimo de una columna.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324124" y="1102323"/>
            <a:ext cx="63075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4400"/>
              <a:buFont typeface="Nunito SemiBold"/>
              <a:buNone/>
            </a:pPr>
            <a:r>
              <a:rPr b="1" i="0" lang="en-US" sz="44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Conclusiones y Recursos</a:t>
            </a:r>
            <a:endParaRPr b="0" i="0" sz="4400" u="none" cap="none" strike="noStrike"/>
          </a:p>
        </p:txBody>
      </p:sp>
      <p:sp>
        <p:nvSpPr>
          <p:cNvPr id="166" name="Google Shape;166;p8"/>
          <p:cNvSpPr/>
          <p:nvPr/>
        </p:nvSpPr>
        <p:spPr>
          <a:xfrm>
            <a:off x="6324124" y="2612588"/>
            <a:ext cx="7468553" cy="4067294"/>
          </a:xfrm>
          <a:prstGeom prst="roundRect">
            <a:avLst>
              <a:gd fmla="val 882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331744" y="2620208"/>
            <a:ext cx="7453312" cy="183451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571059" y="2771418"/>
            <a:ext cx="3244215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Estas consultas SQL básicas constituyen herramientas fundamentales para trabajar con bases de datos.</a:t>
            </a:r>
            <a:endParaRPr b="0" i="0" sz="185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10301526" y="2771418"/>
            <a:ext cx="3244215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Proporcionan la capacidad de seleccionar, filtrar, ordenar, agrupar y combinar datos de manera eficiente.</a:t>
            </a:r>
            <a:endParaRPr b="0" i="0" sz="185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6331744" y="4454723"/>
            <a:ext cx="7453312" cy="221753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571059" y="4605933"/>
            <a:ext cx="3244215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Continúa aprendiendo y profundizando en SQL a través de recursos en línea, libros y cursos especializados.</a:t>
            </a:r>
            <a:endParaRPr b="0" i="0" sz="185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10301526" y="4605933"/>
            <a:ext cx="3244215" cy="1915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850"/>
              <a:buFont typeface="PT Sans"/>
              <a:buNone/>
            </a:pPr>
            <a:r>
              <a:rPr b="0" i="0" lang="en-US" sz="1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Dominar estas habilidades te permitirá extraer información valiosa y tomar decisiones informadas a partir de tus datos.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2024-11-04T01:18:15Z</dcterms:created>
  <dc:creator>PptxGenJS</dc:creator>
</cp:coreProperties>
</file>