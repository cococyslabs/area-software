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4630400" cy="8229600"/>
  <p:notesSz cx="8229600" cy="14630400"/>
  <p:embeddedFontLst>
    <p:embeddedFont>
      <p:font typeface="Roboto Medium"/>
      <p:regular r:id="rId14"/>
    </p:embeddedFont>
    <p:embeddedFont>
      <p:font typeface="Roboto Medium"/>
      <p:regular r:id="rId15"/>
    </p:embeddedFont>
    <p:embeddedFont>
      <p:font typeface="Roboto Medium"/>
      <p:regular r:id="rId16"/>
    </p:embeddedFont>
    <p:embeddedFont>
      <p:font typeface="Roboto Medium"/>
      <p:regular r:id="rId17"/>
    </p:embeddedFont>
    <p:embeddedFont>
      <p:font typeface="Roboto"/>
      <p:regular r:id="rId18"/>
    </p:embeddedFont>
    <p:embeddedFont>
      <p:font typeface="Roboto"/>
      <p:regular r:id="rId19"/>
    </p:embeddedFont>
    <p:embeddedFont>
      <p:font typeface="Roboto"/>
      <p:regular r:id="rId20"/>
    </p:embeddedFont>
    <p:embeddedFont>
      <p:font typeface="Roboto"/>
      <p:regular r:id="rId2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font" Target="fonts/font1.fntdata"/><Relationship Id="rId15" Type="http://schemas.openxmlformats.org/officeDocument/2006/relationships/font" Target="fonts/font2.fntdata"/><Relationship Id="rId16" Type="http://schemas.openxmlformats.org/officeDocument/2006/relationships/font" Target="fonts/font3.fntdata"/><Relationship Id="rId17" Type="http://schemas.openxmlformats.org/officeDocument/2006/relationships/font" Target="fonts/font4.fntdata"/><Relationship Id="rId18" Type="http://schemas.openxmlformats.org/officeDocument/2006/relationships/font" Target="fonts/font5.fntdata"/><Relationship Id="rId19" Type="http://schemas.openxmlformats.org/officeDocument/2006/relationships/font" Target="fonts/font6.fntdata"/><Relationship Id="rId20" Type="http://schemas.openxmlformats.org/officeDocument/2006/relationships/font" Target="fonts/font7.fntdata"/><Relationship Id="rId21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8.xml"/><Relationship Id="rId6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71998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Gestión de Recursos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768923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gestión eficiente de recursos es fundamental para el éxito de cualquier proyecto. Esto implica la definición, asignación y seguimiento de los recursos humanos, materiales y financieros de manera estratégica.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5129689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410" y="5137309"/>
            <a:ext cx="347663" cy="3476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70040" y="5112782"/>
            <a:ext cx="3652480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CFD0D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por Programacion Comercial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824038"/>
            <a:ext cx="584418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Definición de Recursos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3128129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38662" y="3213140"/>
            <a:ext cx="193358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7017306" y="31281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Recursos Humanos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017306" y="3618548"/>
            <a:ext cx="2927747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Personal con habilidades y experiencia necesarias para completar las tareas del proyecto.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10171867" y="3128129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330339" y="3213140"/>
            <a:ext cx="193358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10908983" y="31281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Recursos Materiales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0908983" y="3618548"/>
            <a:ext cx="2927747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Equipos, herramientas, instalaciones y suministros requeridos para realizar el trabajo.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6280190" y="555212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38662" y="5637133"/>
            <a:ext cx="193358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7017306" y="555212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Recursos Financieros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017306" y="6042541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Presupuesto disponible para cubrir los costos del proyecto.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39960"/>
            <a:ext cx="847844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Asignación Eficiente de Recursos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8157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Planificación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396859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Identificar y asignar los recursos requeridos para cada tarea del proyecto.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2928" y="38157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Herramientas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32928" y="4396859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Utilizar software como Microsoft Project para gestionar la asignación de recursos.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872067" y="38157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Optimización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2067" y="4396859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Ajustar la asignación de recursos para equilibrar la carga de trabajo y evitar sobreutilización.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858679"/>
            <a:ext cx="647235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Seguimiento de Recursos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1118711" y="1907619"/>
            <a:ext cx="30480" cy="5463183"/>
          </a:xfrm>
          <a:prstGeom prst="roundRect">
            <a:avLst>
              <a:gd name="adj" fmla="val 312558"/>
            </a:avLst>
          </a:prstGeom>
          <a:solidFill>
            <a:srgbClr val="313E80"/>
          </a:solidFill>
          <a:ln/>
        </p:spPr>
      </p:sp>
      <p:sp>
        <p:nvSpPr>
          <p:cNvPr id="5" name="Shape 2"/>
          <p:cNvSpPr/>
          <p:nvPr/>
        </p:nvSpPr>
        <p:spPr>
          <a:xfrm>
            <a:off x="1358622" y="2402681"/>
            <a:ext cx="793790" cy="30480"/>
          </a:xfrm>
          <a:prstGeom prst="roundRect">
            <a:avLst>
              <a:gd name="adj" fmla="val 312558"/>
            </a:avLst>
          </a:prstGeom>
          <a:solidFill>
            <a:srgbClr val="313E80"/>
          </a:solidFill>
          <a:ln/>
        </p:spPr>
      </p:sp>
      <p:sp>
        <p:nvSpPr>
          <p:cNvPr id="6" name="Shape 3"/>
          <p:cNvSpPr/>
          <p:nvPr/>
        </p:nvSpPr>
        <p:spPr>
          <a:xfrm>
            <a:off x="878800" y="2162770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37272" y="2247781"/>
            <a:ext cx="193358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1</a:t>
            </a:r>
            <a:endParaRPr lang="en-US" sz="2650" dirty="0"/>
          </a:p>
        </p:txBody>
      </p:sp>
      <p:sp>
        <p:nvSpPr>
          <p:cNvPr id="8" name="Text 5"/>
          <p:cNvSpPr/>
          <p:nvPr/>
        </p:nvSpPr>
        <p:spPr>
          <a:xfrm>
            <a:off x="2381488" y="21344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Disponibilidad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2381488" y="2624852"/>
            <a:ext cx="596872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Monitorear la disponibilidad de los recursos a lo largo del proyecto.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1358622" y="4299347"/>
            <a:ext cx="793790" cy="30480"/>
          </a:xfrm>
          <a:prstGeom prst="roundRect">
            <a:avLst>
              <a:gd name="adj" fmla="val 312558"/>
            </a:avLst>
          </a:prstGeom>
          <a:solidFill>
            <a:srgbClr val="313E80"/>
          </a:solidFill>
          <a:ln/>
        </p:spPr>
      </p:sp>
      <p:sp>
        <p:nvSpPr>
          <p:cNvPr id="11" name="Shape 8"/>
          <p:cNvSpPr/>
          <p:nvPr/>
        </p:nvSpPr>
        <p:spPr>
          <a:xfrm>
            <a:off x="878800" y="4059436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37272" y="4144447"/>
            <a:ext cx="193358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2</a:t>
            </a:r>
            <a:endParaRPr lang="en-US" sz="2650" dirty="0"/>
          </a:p>
        </p:txBody>
      </p:sp>
      <p:sp>
        <p:nvSpPr>
          <p:cNvPr id="13" name="Text 10"/>
          <p:cNvSpPr/>
          <p:nvPr/>
        </p:nvSpPr>
        <p:spPr>
          <a:xfrm>
            <a:off x="2381488" y="40310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Uso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2381488" y="4521517"/>
            <a:ext cx="596872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Realizar un seguimiento del consumo y utilización de los recursos asignados.</a:t>
            </a:r>
            <a:endParaRPr lang="en-US" sz="1750" dirty="0"/>
          </a:p>
        </p:txBody>
      </p:sp>
      <p:sp>
        <p:nvSpPr>
          <p:cNvPr id="15" name="Shape 12"/>
          <p:cNvSpPr/>
          <p:nvPr/>
        </p:nvSpPr>
        <p:spPr>
          <a:xfrm>
            <a:off x="1358622" y="6196013"/>
            <a:ext cx="793790" cy="30480"/>
          </a:xfrm>
          <a:prstGeom prst="roundRect">
            <a:avLst>
              <a:gd name="adj" fmla="val 312558"/>
            </a:avLst>
          </a:prstGeom>
          <a:solidFill>
            <a:srgbClr val="313E80"/>
          </a:solidFill>
          <a:ln/>
        </p:spPr>
      </p:sp>
      <p:sp>
        <p:nvSpPr>
          <p:cNvPr id="16" name="Shape 13"/>
          <p:cNvSpPr/>
          <p:nvPr/>
        </p:nvSpPr>
        <p:spPr>
          <a:xfrm>
            <a:off x="878800" y="5956102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37272" y="6041112"/>
            <a:ext cx="193358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3</a:t>
            </a:r>
            <a:endParaRPr lang="en-US" sz="2650" dirty="0"/>
          </a:p>
        </p:txBody>
      </p:sp>
      <p:sp>
        <p:nvSpPr>
          <p:cNvPr id="18" name="Text 15"/>
          <p:cNvSpPr/>
          <p:nvPr/>
        </p:nvSpPr>
        <p:spPr>
          <a:xfrm>
            <a:off x="2381488" y="59277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Ajustes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2381488" y="6418183"/>
            <a:ext cx="596872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Identificar y corregir cualquier sobreasignación o subasignación de recursos.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610320"/>
            <a:ext cx="679465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Monitoreo del Cronograma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659261"/>
            <a:ext cx="3664863" cy="2047994"/>
          </a:xfrm>
          <a:prstGeom prst="roundRect">
            <a:avLst>
              <a:gd name="adj" fmla="val 4652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14624" y="289369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Avance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14624" y="3384113"/>
            <a:ext cx="319599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Monitorear el progreso de las tareas y el cumplimiento de los hitos establecidos.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71867" y="2659261"/>
            <a:ext cx="3664863" cy="2047994"/>
          </a:xfrm>
          <a:prstGeom prst="roundRect">
            <a:avLst>
              <a:gd name="adj" fmla="val 4652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406301" y="289369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Retrasos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406301" y="3384113"/>
            <a:ext cx="319599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Identificar y analizar las causas de cualquier retraso en el cronograma.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4934069"/>
            <a:ext cx="7556421" cy="1685092"/>
          </a:xfrm>
          <a:prstGeom prst="roundRect">
            <a:avLst>
              <a:gd name="adj" fmla="val 5654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14624" y="51685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Ajustes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14624" y="5658922"/>
            <a:ext cx="70875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Realizar los ajustes necesarios en la asignación de recursos para mantener el proyecto en curso.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86856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Análisis de Impacto</a:t>
            </a:r>
            <a:endParaRPr lang="en-US" sz="4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1917502"/>
            <a:ext cx="1134070" cy="181451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268022" y="214431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Cambios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2268022" y="2634734"/>
            <a:ext cx="608218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Evaluar el impacto que los cambios pueden tener en la asignación de recursos.</a:t>
            </a:r>
            <a:endParaRPr lang="en-US" sz="17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732014"/>
            <a:ext cx="1134070" cy="181451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268022" y="395882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Escenarios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2268022" y="4449247"/>
            <a:ext cx="608218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Simular diferentes escenarios para determinar la mejor manera de adaptar los recursos.</a:t>
            </a:r>
            <a:endParaRPr lang="en-US" sz="17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5546527"/>
            <a:ext cx="1134070" cy="181451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268022" y="577334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Optimización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2268022" y="6263759"/>
            <a:ext cx="608218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Ajustar la asignación de recursos para minimizar el impacto de los cambios.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43387" y="516969"/>
            <a:ext cx="4692848" cy="586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Conclusiones</a:t>
            </a:r>
            <a:endParaRPr lang="en-US" sz="36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3387" y="1385054"/>
            <a:ext cx="469225" cy="4692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143387" y="2041922"/>
            <a:ext cx="2346365" cy="293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Planificación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6143387" y="2447687"/>
            <a:ext cx="7830026" cy="300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Definir y asignar los recursos de manera estratégica.</a:t>
            </a:r>
            <a:endParaRPr lang="en-US" sz="14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3387" y="3311128"/>
            <a:ext cx="469225" cy="46922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143387" y="3967996"/>
            <a:ext cx="2346365" cy="293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Seguimiento</a:t>
            </a:r>
            <a:endParaRPr lang="en-US" sz="1800" dirty="0"/>
          </a:p>
        </p:txBody>
      </p:sp>
      <p:sp>
        <p:nvSpPr>
          <p:cNvPr id="9" name="Text 4"/>
          <p:cNvSpPr/>
          <p:nvPr/>
        </p:nvSpPr>
        <p:spPr>
          <a:xfrm>
            <a:off x="6143387" y="4373761"/>
            <a:ext cx="7830026" cy="300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Monitorear la disponibilidad y uso de los recursos.</a:t>
            </a:r>
            <a:endParaRPr lang="en-US" sz="14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3387" y="5237202"/>
            <a:ext cx="469225" cy="46922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143387" y="5894070"/>
            <a:ext cx="2346365" cy="293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Ajustes</a:t>
            </a:r>
            <a:endParaRPr lang="en-US" sz="1800" dirty="0"/>
          </a:p>
        </p:txBody>
      </p:sp>
      <p:sp>
        <p:nvSpPr>
          <p:cNvPr id="12" name="Text 6"/>
          <p:cNvSpPr/>
          <p:nvPr/>
        </p:nvSpPr>
        <p:spPr>
          <a:xfrm>
            <a:off x="6143387" y="6299835"/>
            <a:ext cx="7830026" cy="300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Adaptar la asignación de recursos ante cambios o retrasos.</a:t>
            </a:r>
            <a:endParaRPr lang="en-US" sz="1450" dirty="0"/>
          </a:p>
        </p:txBody>
      </p:sp>
      <p:sp>
        <p:nvSpPr>
          <p:cNvPr id="13" name="Text 7"/>
          <p:cNvSpPr/>
          <p:nvPr/>
        </p:nvSpPr>
        <p:spPr>
          <a:xfrm>
            <a:off x="6143387" y="6811328"/>
            <a:ext cx="7830026" cy="901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gestión eficiente de recursos es crucial para el éxito de cualquier proyecto. Mediante una planificación estratégica, un seguimiento continuo y ajustes oportunos, se puede optimizar el uso de recursos y maximizar los resultados.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2024-11-04T02:41:59Z</dcterms:created>
  <dcterms:modified xsi:type="dcterms:W3CDTF">2024-11-04T02:41:59Z</dcterms:modified>
</cp:coreProperties>
</file>