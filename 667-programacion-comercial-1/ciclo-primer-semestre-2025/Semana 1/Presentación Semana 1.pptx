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10287000" cx="18288000"/>
  <p:notesSz cx="6858000" cy="9144000"/>
  <p:embeddedFontLst>
    <p:embeddedFont>
      <p:font typeface="Lobster"/>
      <p:regular r:id="rId24"/>
    </p:embeddedFont>
    <p:embeddedFont>
      <p:font typeface="Pacifico"/>
      <p:regular r:id="rId25"/>
    </p:embeddedFont>
    <p:embeddedFont>
      <p:font typeface="Open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0" roundtripDataSignature="AMtx7mjuTNjMq5vh1vVRALpXIQjKNKwS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Lobster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regular.fntdata"/><Relationship Id="rId25" Type="http://schemas.openxmlformats.org/officeDocument/2006/relationships/font" Target="fonts/Pacifico-regular.fntdata"/><Relationship Id="rId28" Type="http://schemas.openxmlformats.org/officeDocument/2006/relationships/font" Target="fonts/OpenSans-italic.fntdata"/><Relationship Id="rId27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" name="Google Shape;6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5f60101cb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g35f60101cbc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5f60101cb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g35f60101cbc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5f60101cb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35f60101cbc_0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5f60101cb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g35f60101cbc_0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5f60101cbc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g35f60101cbc_0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5f60101cbc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g35f60101cbc_0_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5f60101cbc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g35f60101cbc_0_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7181bd78c9_0_627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11" name="Google Shape;11;g37181bd78c9_0_627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2" name="Google Shape;12;g37181bd78c9_0_62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7181bd78c9_0_631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5" name="Google Shape;15;g37181bd78c9_0_63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7181bd78c9_0_63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8" name="Google Shape;18;g37181bd78c9_0_634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9" name="Google Shape;19;g37181bd78c9_0_63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7181bd78c9_0_638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2" name="Google Shape;22;g37181bd78c9_0_638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3" name="Google Shape;23;g37181bd78c9_0_638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4" name="Google Shape;24;g37181bd78c9_0_63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7181bd78c9_0_643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7" name="Google Shape;27;g37181bd78c9_0_64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7181bd78c9_0_646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g37181bd78c9_0_646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1" name="Google Shape;31;g37181bd78c9_0_64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7181bd78c9_0_650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4" name="Google Shape;34;g37181bd78c9_0_65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7181bd78c9_0_653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37181bd78c9_0_653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38" name="Google Shape;38;g37181bd78c9_0_653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g37181bd78c9_0_653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0" name="Google Shape;40;g37181bd78c9_0_65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7181bd78c9_0_659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43" name="Google Shape;43;g37181bd78c9_0_65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7181bd78c9_0_662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46" name="Google Shape;46;g37181bd78c9_0_662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7" name="Google Shape;47;g37181bd78c9_0_66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7181bd78c9_0_66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7181bd78c9_0_623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g37181bd78c9_0_623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●"/>
              <a:defRPr sz="3600">
                <a:solidFill>
                  <a:schemeClr val="dk2"/>
                </a:solidFill>
              </a:defRPr>
            </a:lvl1pPr>
            <a:lvl2pPr indent="-406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indent="-406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indent="-406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indent="-406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indent="-406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indent="-406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indent="-406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indent="-406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g37181bd78c9_0_62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r">
              <a:buNone/>
              <a:defRPr sz="2000">
                <a:solidFill>
                  <a:schemeClr val="dk2"/>
                </a:solidFill>
              </a:defRPr>
            </a:lvl1pPr>
            <a:lvl2pPr lvl="1" algn="r">
              <a:buNone/>
              <a:defRPr sz="2000">
                <a:solidFill>
                  <a:schemeClr val="dk2"/>
                </a:solidFill>
              </a:defRPr>
            </a:lvl2pPr>
            <a:lvl3pPr lvl="2" algn="r">
              <a:buNone/>
              <a:defRPr sz="2000">
                <a:solidFill>
                  <a:schemeClr val="dk2"/>
                </a:solidFill>
              </a:defRPr>
            </a:lvl3pPr>
            <a:lvl4pPr lvl="3" algn="r">
              <a:buNone/>
              <a:defRPr sz="2000">
                <a:solidFill>
                  <a:schemeClr val="dk2"/>
                </a:solidFill>
              </a:defRPr>
            </a:lvl4pPr>
            <a:lvl5pPr lvl="4" algn="r">
              <a:buNone/>
              <a:defRPr sz="2000">
                <a:solidFill>
                  <a:schemeClr val="dk2"/>
                </a:solidFill>
              </a:defRPr>
            </a:lvl5pPr>
            <a:lvl6pPr lvl="5" algn="r">
              <a:buNone/>
              <a:defRPr sz="2000">
                <a:solidFill>
                  <a:schemeClr val="dk2"/>
                </a:solidFill>
              </a:defRPr>
            </a:lvl6pPr>
            <a:lvl7pPr lvl="6" algn="r">
              <a:buNone/>
              <a:defRPr sz="2000">
                <a:solidFill>
                  <a:schemeClr val="dk2"/>
                </a:solidFill>
              </a:defRPr>
            </a:lvl7pPr>
            <a:lvl8pPr lvl="7" algn="r">
              <a:buNone/>
              <a:defRPr sz="2000">
                <a:solidFill>
                  <a:schemeClr val="dk2"/>
                </a:solidFill>
              </a:defRPr>
            </a:lvl8pPr>
            <a:lvl9pPr lvl="8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hyperlink" Target="mailto:3017081180101@ingenieria.usac.edu.gt" TargetMode="External"/><Relationship Id="rId4" Type="http://schemas.openxmlformats.org/officeDocument/2006/relationships/hyperlink" Target="mailto:3017081180101@ingenieria.usac.edu.gt" TargetMode="External"/><Relationship Id="rId5" Type="http://schemas.openxmlformats.org/officeDocument/2006/relationships/image" Target="../media/image9.png"/><Relationship Id="rId6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" name="Google Shape;55;p1"/>
          <p:cNvSpPr txBox="1"/>
          <p:nvPr/>
        </p:nvSpPr>
        <p:spPr>
          <a:xfrm>
            <a:off x="952500" y="6801952"/>
            <a:ext cx="6667499" cy="21544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Programación Comercial I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2687405" y="3915649"/>
            <a:ext cx="12375000" cy="1982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Microsoft Access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1063303" y="8726189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1063303" y="9189100"/>
            <a:ext cx="666750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" name="Google Shape;59;p1"/>
          <p:cNvSpPr txBox="1"/>
          <p:nvPr/>
        </p:nvSpPr>
        <p:spPr>
          <a:xfrm>
            <a:off x="228599" y="9632950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2"/>
          <p:cNvGrpSpPr/>
          <p:nvPr/>
        </p:nvGrpSpPr>
        <p:grpSpPr>
          <a:xfrm>
            <a:off x="1105333" y="4490010"/>
            <a:ext cx="5791857" cy="876095"/>
            <a:chOff x="0" y="-89275"/>
            <a:chExt cx="2465885" cy="372998"/>
          </a:xfrm>
        </p:grpSpPr>
        <p:sp>
          <p:nvSpPr>
            <p:cNvPr id="65" name="Google Shape;65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6" name="Google Shape;66;p2"/>
            <p:cNvSpPr txBox="1"/>
            <p:nvPr/>
          </p:nvSpPr>
          <p:spPr>
            <a:xfrm>
              <a:off x="0" y="-89275"/>
              <a:ext cx="2465885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INTRODUCCIÓN AL CURSO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" name="Google Shape;67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8" name="Google Shape;68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69" name="Google Shape;69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0" name="Google Shape;70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" name="Google Shape;71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2" name="Google Shape;72;p2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73" name="Google Shape;73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74" name="Google Shape;74;p2"/>
          <p:cNvGrpSpPr/>
          <p:nvPr/>
        </p:nvGrpSpPr>
        <p:grpSpPr>
          <a:xfrm>
            <a:off x="9183187" y="2816582"/>
            <a:ext cx="8535943" cy="1701145"/>
            <a:chOff x="-673348" y="-109573"/>
            <a:chExt cx="2248150" cy="448038"/>
          </a:xfrm>
        </p:grpSpPr>
        <p:sp>
          <p:nvSpPr>
            <p:cNvPr id="75" name="Google Shape;75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6" name="Google Shape;76;p2"/>
            <p:cNvSpPr txBox="1"/>
            <p:nvPr/>
          </p:nvSpPr>
          <p:spPr>
            <a:xfrm>
              <a:off x="-673348" y="-109573"/>
              <a:ext cx="2248150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t/>
              </a:r>
              <a:endPara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" name="Google Shape;77;p2"/>
          <p:cNvGrpSpPr/>
          <p:nvPr/>
        </p:nvGrpSpPr>
        <p:grpSpPr>
          <a:xfrm>
            <a:off x="10095577" y="4238590"/>
            <a:ext cx="7707085" cy="1809819"/>
            <a:chOff x="-155233" y="-142922"/>
            <a:chExt cx="1565247" cy="476660"/>
          </a:xfrm>
        </p:grpSpPr>
        <p:sp>
          <p:nvSpPr>
            <p:cNvPr id="78" name="Google Shape;78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9" name="Google Shape;79;p2"/>
            <p:cNvSpPr txBox="1"/>
            <p:nvPr/>
          </p:nvSpPr>
          <p:spPr>
            <a:xfrm>
              <a:off x="-155233" y="-142922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" name="Google Shape;80;p2"/>
          <p:cNvGrpSpPr/>
          <p:nvPr/>
        </p:nvGrpSpPr>
        <p:grpSpPr>
          <a:xfrm>
            <a:off x="1405646" y="5501767"/>
            <a:ext cx="7007952" cy="870160"/>
            <a:chOff x="0" y="-86748"/>
            <a:chExt cx="1964221" cy="370471"/>
          </a:xfrm>
        </p:grpSpPr>
        <p:sp>
          <p:nvSpPr>
            <p:cNvPr id="81" name="Google Shape;81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2" name="Google Shape;82;p2"/>
            <p:cNvSpPr txBox="1"/>
            <p:nvPr/>
          </p:nvSpPr>
          <p:spPr>
            <a:xfrm>
              <a:off x="0" y="-86748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LECTURA PROGRAMA DEL CURSO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" name="Google Shape;83;p2"/>
          <p:cNvGrpSpPr/>
          <p:nvPr/>
        </p:nvGrpSpPr>
        <p:grpSpPr>
          <a:xfrm>
            <a:off x="176619" y="6448420"/>
            <a:ext cx="9224751" cy="845385"/>
            <a:chOff x="0" y="-21103"/>
            <a:chExt cx="3855577" cy="359923"/>
          </a:xfrm>
        </p:grpSpPr>
        <p:sp>
          <p:nvSpPr>
            <p:cNvPr id="84" name="Google Shape;84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5" name="Google Shape;85;p2"/>
            <p:cNvSpPr txBox="1"/>
            <p:nvPr/>
          </p:nvSpPr>
          <p:spPr>
            <a:xfrm>
              <a:off x="371935" y="-21103"/>
              <a:ext cx="3483642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BASES DE DATOS CONCEPTOS BÁSICOS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" name="Google Shape;86;p2"/>
          <p:cNvGrpSpPr/>
          <p:nvPr/>
        </p:nvGrpSpPr>
        <p:grpSpPr>
          <a:xfrm>
            <a:off x="176619" y="7456989"/>
            <a:ext cx="6574232" cy="845385"/>
            <a:chOff x="0" y="-30418"/>
            <a:chExt cx="2329958" cy="359923"/>
          </a:xfrm>
        </p:grpSpPr>
        <p:sp>
          <p:nvSpPr>
            <p:cNvPr id="87" name="Google Shape;87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8" name="Google Shape;88;p2"/>
            <p:cNvSpPr txBox="1"/>
            <p:nvPr/>
          </p:nvSpPr>
          <p:spPr>
            <a:xfrm>
              <a:off x="480037" y="-30418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TIPOS DE BASES DE DATOS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" name="Google Shape;89;p2"/>
          <p:cNvGrpSpPr/>
          <p:nvPr/>
        </p:nvGrpSpPr>
        <p:grpSpPr>
          <a:xfrm>
            <a:off x="176619" y="8412915"/>
            <a:ext cx="10717804" cy="845385"/>
            <a:chOff x="0" y="-76200"/>
            <a:chExt cx="1964221" cy="359923"/>
          </a:xfrm>
        </p:grpSpPr>
        <p:sp>
          <p:nvSpPr>
            <p:cNvPr id="90" name="Google Shape;90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1" name="Google Shape;91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IMPORTANCIA DE LAS BASES DE DATOS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" name="Google Shape;92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2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2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1374905" y="3022088"/>
            <a:ext cx="16245600" cy="30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lang="en-US" sz="51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Diseña Bases de datos estructuradas utilizando buenas prácticas para implementar soluciones de almacenamiento escalables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f60101cbc_0_0"/>
          <p:cNvSpPr txBox="1"/>
          <p:nvPr/>
        </p:nvSpPr>
        <p:spPr>
          <a:xfrm>
            <a:off x="5365470" y="1478875"/>
            <a:ext cx="80358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Medios de Comunicación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07" name="Google Shape;107;g35f60101cbc_0_0"/>
          <p:cNvSpPr txBox="1"/>
          <p:nvPr/>
        </p:nvSpPr>
        <p:spPr>
          <a:xfrm>
            <a:off x="1333701" y="4383138"/>
            <a:ext cx="11247900" cy="1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lang="en-US" sz="26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UEDI (Medio Oficial)</a:t>
            </a:r>
            <a:endParaRPr b="1" sz="26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lang="en-US" sz="26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GMAIL: </a:t>
            </a:r>
            <a:r>
              <a:rPr b="1" lang="en-US" sz="26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3017081180101</a:t>
            </a:r>
            <a:r>
              <a:rPr b="1" lang="en-US" sz="26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rPr>
              <a:t>@ingenieria.usac.edu.gt</a:t>
            </a:r>
            <a:endParaRPr b="1" sz="26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lang="en-US" sz="26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Asunto Correo: [PC1]Asunto Ejemplo: [PC1]Duda nota HT1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g35f60101cbc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357400" y="3692059"/>
            <a:ext cx="3242925" cy="259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g35f60101cbc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256200" y="7111021"/>
            <a:ext cx="3481775" cy="135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/>
        </p:nvSpPr>
        <p:spPr>
          <a:xfrm>
            <a:off x="1374889" y="2126480"/>
            <a:ext cx="16050900" cy="3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BASES DE DATOS </a:t>
            </a:r>
            <a:endParaRPr sz="1800"/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 base de datos es un sistema organizado para almacenar, gestionar y acceder a datos de forma eficiente. Tomemos de ejemplo a una base de datos como un archivo digital que puede guardar información de manera estructurada, similar a cómo una biblioteca guarda libros. En una base de datos, los datos se organizan en tablas, que son como hojas de cálculo con filas y columna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CONTENIDO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26833" y="6185943"/>
            <a:ext cx="4838700" cy="290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/>
        </p:nvSpPr>
        <p:spPr>
          <a:xfrm>
            <a:off x="1374889" y="2126480"/>
            <a:ext cx="16050900" cy="3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Filas y Columnas</a:t>
            </a:r>
            <a:endParaRPr sz="2000"/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Filas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Cada fila en una tabla representa un registro único, como un estudiante en una clase.</a:t>
            </a:r>
            <a:endParaRPr/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Columnas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Cada columna contiene un tipo específico de información sobre los registros, como el nombre del estudiante, su edad o su dirección</a:t>
            </a:r>
            <a:endParaRPr/>
          </a:p>
        </p:txBody>
      </p:sp>
      <p:pic>
        <p:nvPicPr>
          <p:cNvPr id="122" name="Google Shape;12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09614" y="5607820"/>
            <a:ext cx="5524500" cy="2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/>
        </p:nvSpPr>
        <p:spPr>
          <a:xfrm>
            <a:off x="1374889" y="2126480"/>
            <a:ext cx="16050900" cy="61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Tipos de Bases de Datos</a:t>
            </a:r>
            <a:endParaRPr sz="2000"/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Relacional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Una base de datos relacional es un tipo de base de datos que organiza la información en tablas interconectadas. Cada tabla contiene filas y columnas, y las relaciones entre las tablas se definen mediante claves primarias y foráneas.</a:t>
            </a:r>
            <a:endParaRPr/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Relacional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Una base de datos no relacional, también conocida como NoSQL, almacena datos de manera diferente a las bases de datos relacionales. En lugar de usar tablas, estas bases de datos pueden usar otros modelos de almacenamiento, como documentos, grafos, columnas o pares clave-valor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5f60101cbc_0_9"/>
          <p:cNvSpPr txBox="1"/>
          <p:nvPr/>
        </p:nvSpPr>
        <p:spPr>
          <a:xfrm>
            <a:off x="1374889" y="1758630"/>
            <a:ext cx="16050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Tipos de Bases de Datos</a:t>
            </a:r>
            <a:endParaRPr/>
          </a:p>
        </p:txBody>
      </p:sp>
      <p:pic>
        <p:nvPicPr>
          <p:cNvPr id="133" name="Google Shape;133;g35f60101cbc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67100" y="3785980"/>
            <a:ext cx="7210425" cy="461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g35f60101cbc_0_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0800" y="3061155"/>
            <a:ext cx="6734175" cy="596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5f60101cbc_0_27"/>
          <p:cNvSpPr txBox="1"/>
          <p:nvPr/>
        </p:nvSpPr>
        <p:spPr>
          <a:xfrm>
            <a:off x="1666639" y="1555680"/>
            <a:ext cx="16050900" cy="6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600"/>
              <a:t>Componentes Bases de Datos Relacionales</a:t>
            </a:r>
            <a:endParaRPr sz="2000"/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/>
              <a:t>TABLA</a:t>
            </a:r>
            <a:r>
              <a:rPr lang="en-US" sz="2800"/>
              <a:t>: Una tabla es como una hoja de cálculo donde cada fila representa un registro y cada columna representa un tipo de dato</a:t>
            </a:r>
            <a:r>
              <a:rPr lang="en-US" sz="2800"/>
              <a:t>.</a:t>
            </a:r>
            <a:endParaRPr sz="2800"/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/>
              <a:t>FILA</a:t>
            </a:r>
            <a:r>
              <a:rPr lang="en-US" sz="2800"/>
              <a:t>: Cada fila en una tabla representa un registro único.</a:t>
            </a:r>
            <a:endParaRPr sz="2800"/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/>
              <a:t>COLUMN</a:t>
            </a:r>
            <a:r>
              <a:rPr lang="en-US" sz="2800"/>
              <a:t>: Cada columna contiene un tipo específico de información sobre la entidad en cuestión.</a:t>
            </a:r>
            <a:endParaRPr sz="2800"/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/>
              <a:t>LLAVE PRIMARIA:</a:t>
            </a:r>
            <a:r>
              <a:rPr lang="en-US" sz="2800"/>
              <a:t> Es un identificador único para cada fila en una tabla, como el número de identificación de estudiante.</a:t>
            </a:r>
            <a:endParaRPr sz="2800"/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/>
              <a:t>LLAVE FORANEA: </a:t>
            </a:r>
            <a:r>
              <a:rPr lang="en-US" sz="2800"/>
              <a:t>Es un campo en una tabla que se refiere a la clave primaria de otra tabla, creando una conexión entre las tablas.</a:t>
            </a:r>
            <a:endParaRPr sz="2800"/>
          </a:p>
        </p:txBody>
      </p:sp>
      <p:sp>
        <p:nvSpPr>
          <p:cNvPr id="140" name="Google Shape;140;g35f60101cbc_0_27"/>
          <p:cNvSpPr/>
          <p:nvPr/>
        </p:nvSpPr>
        <p:spPr>
          <a:xfrm>
            <a:off x="912050" y="2747425"/>
            <a:ext cx="646800" cy="634200"/>
          </a:xfrm>
          <a:prstGeom prst="ellipse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5f60101cbc_0_27"/>
          <p:cNvSpPr/>
          <p:nvPr/>
        </p:nvSpPr>
        <p:spPr>
          <a:xfrm>
            <a:off x="912050" y="4066825"/>
            <a:ext cx="646800" cy="634200"/>
          </a:xfrm>
          <a:prstGeom prst="ellipse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5f60101cbc_0_27"/>
          <p:cNvSpPr/>
          <p:nvPr/>
        </p:nvSpPr>
        <p:spPr>
          <a:xfrm>
            <a:off x="912050" y="4899400"/>
            <a:ext cx="646800" cy="634200"/>
          </a:xfrm>
          <a:prstGeom prst="ellipse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5f60101cbc_0_27"/>
          <p:cNvSpPr/>
          <p:nvPr/>
        </p:nvSpPr>
        <p:spPr>
          <a:xfrm>
            <a:off x="912050" y="5622600"/>
            <a:ext cx="646800" cy="634200"/>
          </a:xfrm>
          <a:prstGeom prst="ellipse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35f60101cbc_0_27"/>
          <p:cNvSpPr/>
          <p:nvPr/>
        </p:nvSpPr>
        <p:spPr>
          <a:xfrm>
            <a:off x="912050" y="7051375"/>
            <a:ext cx="646800" cy="634200"/>
          </a:xfrm>
          <a:prstGeom prst="ellipse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5f60101cbc_0_15"/>
          <p:cNvSpPr txBox="1"/>
          <p:nvPr/>
        </p:nvSpPr>
        <p:spPr>
          <a:xfrm>
            <a:off x="1118550" y="2202578"/>
            <a:ext cx="16050900" cy="16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600"/>
              <a:t>Componentes Bases de Datos Relacionales</a:t>
            </a:r>
            <a:endParaRPr sz="2000"/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sz="2800"/>
          </a:p>
        </p:txBody>
      </p:sp>
      <p:pic>
        <p:nvPicPr>
          <p:cNvPr id="150" name="Google Shape;150;g35f60101cbc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5050" y="4011253"/>
            <a:ext cx="14716125" cy="307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5f60101cbc_0_39"/>
          <p:cNvSpPr txBox="1"/>
          <p:nvPr/>
        </p:nvSpPr>
        <p:spPr>
          <a:xfrm>
            <a:off x="1666639" y="1555680"/>
            <a:ext cx="16050900" cy="6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600"/>
              <a:t>Componentes Bases de Datos NO Relacionales</a:t>
            </a:r>
            <a:endParaRPr sz="2000"/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/>
              <a:t>DOCUMENTOS: </a:t>
            </a:r>
            <a:r>
              <a:rPr lang="en-US" sz="2800"/>
              <a:t>Almacenan datos en diferentes estructuras permitiendo almacenar datos complejos en un solo lugar.</a:t>
            </a:r>
            <a:endParaRPr sz="2800"/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/>
              <a:t>GRAFOS: </a:t>
            </a:r>
            <a:r>
              <a:rPr lang="en-US" sz="2800"/>
              <a:t>Usan nodos y aristas para representar datos y sus relaciones, útil para datos altamente interconectados como redes sociales.</a:t>
            </a:r>
            <a:endParaRPr sz="2800"/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/>
              <a:t>COLUMN: </a:t>
            </a:r>
            <a:r>
              <a:rPr lang="en-US" sz="2800"/>
              <a:t>Almacenan datos en columnas en lugar de filas, ideal para análisis de grandes volúmenes de datos.</a:t>
            </a:r>
            <a:endParaRPr sz="2800"/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/>
              <a:t>PARES CLAVE-VALOR: </a:t>
            </a:r>
            <a:r>
              <a:rPr lang="en-US" sz="2800"/>
              <a:t>Almacenan datos como pares de clave y valor, similar a un diccionario, lo que permite un acceso rápido a los datos.</a:t>
            </a:r>
            <a:endParaRPr sz="2800"/>
          </a:p>
        </p:txBody>
      </p:sp>
      <p:sp>
        <p:nvSpPr>
          <p:cNvPr id="156" name="Google Shape;156;g35f60101cbc_0_39"/>
          <p:cNvSpPr/>
          <p:nvPr/>
        </p:nvSpPr>
        <p:spPr>
          <a:xfrm>
            <a:off x="912050" y="2747425"/>
            <a:ext cx="646800" cy="634200"/>
          </a:xfrm>
          <a:prstGeom prst="ellipse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5f60101cbc_0_39"/>
          <p:cNvSpPr/>
          <p:nvPr/>
        </p:nvSpPr>
        <p:spPr>
          <a:xfrm>
            <a:off x="912050" y="4066825"/>
            <a:ext cx="646800" cy="634200"/>
          </a:xfrm>
          <a:prstGeom prst="ellipse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5f60101cbc_0_39"/>
          <p:cNvSpPr/>
          <p:nvPr/>
        </p:nvSpPr>
        <p:spPr>
          <a:xfrm>
            <a:off x="912050" y="5622600"/>
            <a:ext cx="646800" cy="634200"/>
          </a:xfrm>
          <a:prstGeom prst="ellipse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5f60101cbc_0_39"/>
          <p:cNvSpPr/>
          <p:nvPr/>
        </p:nvSpPr>
        <p:spPr>
          <a:xfrm>
            <a:off x="912050" y="7051375"/>
            <a:ext cx="646800" cy="634200"/>
          </a:xfrm>
          <a:prstGeom prst="ellipse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5f60101cbc_0_52"/>
          <p:cNvSpPr txBox="1"/>
          <p:nvPr/>
        </p:nvSpPr>
        <p:spPr>
          <a:xfrm>
            <a:off x="1118550" y="2202578"/>
            <a:ext cx="16050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4600"/>
              <a:t>RELACIONALES VS NO RELACIONALES</a:t>
            </a:r>
            <a:endParaRPr sz="2800"/>
          </a:p>
        </p:txBody>
      </p:sp>
      <p:pic>
        <p:nvPicPr>
          <p:cNvPr id="165" name="Google Shape;165;g35f60101cbc_0_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1825" y="3253253"/>
            <a:ext cx="14811375" cy="511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5f60101cbc_0_59"/>
          <p:cNvSpPr txBox="1"/>
          <p:nvPr/>
        </p:nvSpPr>
        <p:spPr>
          <a:xfrm>
            <a:off x="1118539" y="655080"/>
            <a:ext cx="16050900" cy="9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600"/>
              <a:t> Importancia de las Bases de Datos</a:t>
            </a:r>
            <a:endParaRPr sz="2000"/>
          </a:p>
          <a:p>
            <a:pPr indent="-406400" lvl="0" marL="45720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b="1" lang="en-US" sz="2800"/>
              <a:t>Organización de la Información:</a:t>
            </a:r>
            <a:r>
              <a:rPr lang="en-US" sz="2800"/>
              <a:t> Las bases de datos permiten organizar grandes cantidades de información de manera estructurada, facilitando su acceso y gestión. </a:t>
            </a:r>
            <a:endParaRPr sz="2800"/>
          </a:p>
          <a:p>
            <a:pPr indent="-406400" lvl="0" marL="45720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b="1" lang="en-US" sz="2800"/>
              <a:t>Eficiencia y Rapidez: </a:t>
            </a:r>
            <a:r>
              <a:rPr lang="en-US" sz="2800"/>
              <a:t>Permiten realizar operaciones de búsqueda, inserción, actualización y eliminación de datos de manera rápida y eficiente, lo que ahorra tiempo y recursos. </a:t>
            </a:r>
            <a:endParaRPr sz="2800"/>
          </a:p>
          <a:p>
            <a:pPr indent="-406400" lvl="0" marL="45720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b="1" lang="en-US" sz="2800"/>
              <a:t>Seguridad:</a:t>
            </a:r>
            <a:r>
              <a:rPr lang="en-US" sz="2800"/>
              <a:t> Ofrecen mecanismos para proteger la información contra accesos no autorizados, pérdidas y corrupción de datos, garantizando la integridad y confidencialidad de la información. </a:t>
            </a:r>
            <a:endParaRPr sz="2800"/>
          </a:p>
          <a:p>
            <a:pPr indent="-406400" lvl="0" marL="45720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b="1" lang="en-US" sz="2800"/>
              <a:t>Reducción de Redundancia:</a:t>
            </a:r>
            <a:r>
              <a:rPr lang="en-US" sz="2800"/>
              <a:t> Ayudan a evitar la duplicación de datos mediante la normalización, lo que reduce el espacio de almacenamiento necesario y mejora la consistencia de la información. </a:t>
            </a:r>
            <a:endParaRPr sz="2800"/>
          </a:p>
          <a:p>
            <a:pPr indent="-406400" lvl="0" marL="45720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b="1" lang="en-US" sz="2800"/>
              <a:t>Escalabilidad:</a:t>
            </a:r>
            <a:r>
              <a:rPr lang="en-US" sz="2800"/>
              <a:t> Las bases de datos están diseñadas para crecer junto con la cantidad de datos, permitiendo la escalabilidad y adaptación a mayores volúmenes de información sin pérdida de rendimiento</a:t>
            </a:r>
            <a:endParaRPr sz="2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"/>
          <p:cNvSpPr txBox="1"/>
          <p:nvPr/>
        </p:nvSpPr>
        <p:spPr>
          <a:xfrm>
            <a:off x="2554539" y="1174439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APLICACIONES POR MEDIO DE EJEMPLOS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76" name="Google Shape;176;p5"/>
          <p:cNvSpPr txBox="1"/>
          <p:nvPr/>
        </p:nvSpPr>
        <p:spPr>
          <a:xfrm>
            <a:off x="1961089" y="3067210"/>
            <a:ext cx="14365800" cy="54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75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</a:rPr>
              <a:t>1. Crear un nuevo archivo de Access</a:t>
            </a:r>
            <a:endParaRPr b="1" sz="2400">
              <a:solidFill>
                <a:schemeClr val="dk1"/>
              </a:solidFill>
            </a:endParaRPr>
          </a:p>
          <a:p>
            <a:pPr indent="-361950" lvl="0" marL="45720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Abre Microsoft Access.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Selecciona “Base de datos en blanco”.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Elige un nombre (por ejemplo, EjemploClase1.accdb) y haz clic en “Crear”.</a:t>
            </a:r>
            <a:endParaRPr sz="21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75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2. Diseñar la tabla “Clientes”</a:t>
            </a:r>
            <a:endParaRPr b="1" sz="2300">
              <a:solidFill>
                <a:schemeClr val="dk1"/>
              </a:solidFill>
            </a:endParaRPr>
          </a:p>
          <a:p>
            <a:pPr indent="-361950" lvl="0" marL="45720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Por defecto, Access crea una tabla vacía llamada “Tabla1” en vista Hoja de datos. Cierra esa vista (solo cerra la pestaña).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En la cinta de opciones</a:t>
            </a:r>
            <a:r>
              <a:rPr lang="en-US" sz="2100">
                <a:solidFill>
                  <a:schemeClr val="dk1"/>
                </a:solidFill>
              </a:rPr>
              <a:t>,</a:t>
            </a:r>
            <a:r>
              <a:rPr lang="en-US" sz="2100">
                <a:solidFill>
                  <a:schemeClr val="dk1"/>
                </a:solidFill>
              </a:rPr>
              <a:t> ve a la pestaña “Crear” y haz clic en “Vista Diseño” (dentro del grupo “Tablas”).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Cuando te pida el nombre, escribe Clientes y presiona Enter.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2" name="Google Shape;182;p6"/>
          <p:cNvSpPr txBox="1"/>
          <p:nvPr/>
        </p:nvSpPr>
        <p:spPr>
          <a:xfrm>
            <a:off x="2086050" y="2744625"/>
            <a:ext cx="14346000" cy="52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8688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●"/>
            </a:pPr>
            <a:r>
              <a:rPr b="1" lang="en-US" sz="3151">
                <a:solidFill>
                  <a:srgbClr val="131416"/>
                </a:solidFill>
              </a:rPr>
              <a:t>Base de datos: </a:t>
            </a:r>
            <a:r>
              <a:rPr lang="en-US" sz="3151">
                <a:solidFill>
                  <a:srgbClr val="131416"/>
                </a:solidFill>
              </a:rPr>
              <a:t>Conjunto organizado de datos estructurados que permite almacenar, gestionar y acceder a la información de forma eficiente.</a:t>
            </a:r>
            <a:endParaRPr sz="3151">
              <a:solidFill>
                <a:srgbClr val="131416"/>
              </a:solidFill>
            </a:endParaRPr>
          </a:p>
          <a:p>
            <a:pPr indent="-428688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●"/>
            </a:pPr>
            <a:r>
              <a:rPr b="1" lang="en-US" sz="3151">
                <a:solidFill>
                  <a:srgbClr val="131416"/>
                </a:solidFill>
              </a:rPr>
              <a:t>Tabla:</a:t>
            </a:r>
            <a:r>
              <a:rPr lang="en-US" sz="3151">
                <a:solidFill>
                  <a:srgbClr val="131416"/>
                </a:solidFill>
              </a:rPr>
              <a:t> Estructura dentro de la base de datos que organiza los datos en filas (registros) y columnas (campos), sirviendo como unidad principal de almacenamiento.</a:t>
            </a:r>
            <a:endParaRPr sz="3151">
              <a:solidFill>
                <a:srgbClr val="131416"/>
              </a:solidFill>
            </a:endParaRPr>
          </a:p>
          <a:p>
            <a:pPr indent="-428688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●"/>
            </a:pPr>
            <a:r>
              <a:rPr b="1" lang="en-US" sz="3151">
                <a:solidFill>
                  <a:srgbClr val="131416"/>
                </a:solidFill>
              </a:rPr>
              <a:t>Clave primaria:</a:t>
            </a:r>
            <a:r>
              <a:rPr lang="en-US" sz="3151">
                <a:solidFill>
                  <a:srgbClr val="131416"/>
                </a:solidFill>
              </a:rPr>
              <a:t> Campo (o conjunto de campos) dentro de una tabla que identifica de manera única cada registro, evitando duplicados y facilitando las relaciones con otras tablas.</a:t>
            </a:r>
            <a:endParaRPr sz="3151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"/>
          <p:cNvSpPr txBox="1"/>
          <p:nvPr/>
        </p:nvSpPr>
        <p:spPr>
          <a:xfrm>
            <a:off x="2392340" y="151507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NOMBRE DEL VALOR Y/O ACTITUD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8" name="Google Shape;188;p7"/>
          <p:cNvSpPr txBox="1"/>
          <p:nvPr/>
        </p:nvSpPr>
        <p:spPr>
          <a:xfrm>
            <a:off x="3456851" y="4341675"/>
            <a:ext cx="13281000" cy="18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lang="en-US" sz="3151">
                <a:solidFill>
                  <a:srgbClr val="131416"/>
                </a:solidFill>
              </a:rPr>
              <a:t>Integridad</a:t>
            </a:r>
            <a:endParaRPr b="1" sz="3151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lang="en-US" sz="3151">
                <a:solidFill>
                  <a:srgbClr val="131416"/>
                </a:solidFill>
              </a:rPr>
              <a:t>Asegurar que los datos almacenados sean completos, veraces y consistentes.</a:t>
            </a:r>
            <a:endParaRPr sz="3151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 txBox="1"/>
          <p:nvPr/>
        </p:nvSpPr>
        <p:spPr>
          <a:xfrm>
            <a:off x="2392340" y="1415400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4" name="Google Shape;194;p8"/>
          <p:cNvSpPr txBox="1"/>
          <p:nvPr/>
        </p:nvSpPr>
        <p:spPr>
          <a:xfrm>
            <a:off x="2139626" y="3535475"/>
            <a:ext cx="14755200" cy="38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lang="en-US" sz="3151">
                <a:solidFill>
                  <a:srgbClr val="131416"/>
                </a:solidFill>
              </a:rPr>
              <a:t>Bibliografía</a:t>
            </a:r>
            <a:endParaRPr b="1" sz="3151">
              <a:solidFill>
                <a:srgbClr val="131416"/>
              </a:solidFill>
            </a:endParaRPr>
          </a:p>
          <a:p>
            <a:pPr indent="-428688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●"/>
            </a:pPr>
            <a:r>
              <a:rPr lang="en-US" sz="3151">
                <a:solidFill>
                  <a:srgbClr val="131416"/>
                </a:solidFill>
              </a:rPr>
              <a:t>https://uedi.ingenieria.usac.edu.gt/campus/course/view.php?id=1462</a:t>
            </a:r>
            <a:endParaRPr sz="3151">
              <a:solidFill>
                <a:srgbClr val="131416"/>
              </a:solidFill>
            </a:endParaRPr>
          </a:p>
          <a:p>
            <a:pPr indent="-428688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●"/>
            </a:pPr>
            <a:r>
              <a:rPr lang="en-US" sz="3151">
                <a:solidFill>
                  <a:srgbClr val="131416"/>
                </a:solidFill>
              </a:rPr>
              <a:t>Laudon, K. C., &amp; Laudon, J. P. (2016). Sistemas de información gerencial (14 ed.). Pearson Educación. Daniel Cohen, Enrique Asín Lares. Tecnologías de la Información, Estrategias y transformación en los negocios. McGraw Hill. Sexta Edición.</a:t>
            </a:r>
            <a:endParaRPr sz="3151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"/>
          <p:cNvSpPr txBox="1"/>
          <p:nvPr/>
        </p:nvSpPr>
        <p:spPr>
          <a:xfrm>
            <a:off x="4437795" y="338910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00" name="Google Shape;200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2" name="Google Shape;202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