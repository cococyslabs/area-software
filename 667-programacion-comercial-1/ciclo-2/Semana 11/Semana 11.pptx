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Lobster"/>
      <p:regular r:id="rId17"/>
    </p:embeddedFont>
    <p:embeddedFont>
      <p:font typeface="Pacifico"/>
      <p:regular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38DQn8ljpbzcKzVsUFJN2HUkn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obst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Pacific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0a610ef1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60a610ef1a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0a610ef1a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60a610ef1a_2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ebac.mx/blog/que-es-el-analisis-de-datos" TargetMode="External"/><Relationship Id="rId4" Type="http://schemas.openxmlformats.org/officeDocument/2006/relationships/hyperlink" Target="https://learn.microsoft.com/es-es/power-bi/fundamentals/power-bi-overview" TargetMode="External"/><Relationship Id="rId5" Type="http://schemas.openxmlformats.org/officeDocument/2006/relationships/hyperlink" Target="https://www.microsoft.com/es-es/power-platform/products/power-bi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28703" y="653638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Programación Comercial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87405" y="39156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3. Power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2979082" y="7426039"/>
            <a:ext cx="328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"/>
          <p:cNvGrpSpPr/>
          <p:nvPr/>
        </p:nvGrpSpPr>
        <p:grpSpPr>
          <a:xfrm>
            <a:off x="7" y="4206075"/>
            <a:ext cx="9632736" cy="845568"/>
            <a:chOff x="0" y="-76201"/>
            <a:chExt cx="1964221" cy="360000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7" name="Google Shape;97;p2"/>
            <p:cNvSpPr txBox="1"/>
            <p:nvPr/>
          </p:nvSpPr>
          <p:spPr>
            <a:xfrm>
              <a:off x="261999" y="-76201"/>
              <a:ext cx="17022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 </a:t>
              </a:r>
              <a:r>
                <a:rPr lang="en-US" sz="2799"/>
                <a:t>Dashboards e integración con Microsoft Access</a:t>
              </a:r>
              <a:endParaRPr b="0" i="0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2"/>
          <p:cNvSpPr/>
          <p:nvPr/>
        </p:nvSpPr>
        <p:spPr>
          <a:xfrm>
            <a:off x="702029" y="44260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9" name="Google Shape;99;p2"/>
          <p:cNvGrpSpPr/>
          <p:nvPr/>
        </p:nvGrpSpPr>
        <p:grpSpPr>
          <a:xfrm>
            <a:off x="1690364" y="2699581"/>
            <a:ext cx="4115217" cy="1556494"/>
            <a:chOff x="0" y="-76200"/>
            <a:chExt cx="1083836" cy="409938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2"/>
          <p:cNvSpPr/>
          <p:nvPr/>
        </p:nvSpPr>
        <p:spPr>
          <a:xfrm>
            <a:off x="475129" y="31153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5" name="Google Shape;105;p2"/>
          <p:cNvGrpSpPr/>
          <p:nvPr/>
        </p:nvGrpSpPr>
        <p:grpSpPr>
          <a:xfrm>
            <a:off x="1555125" y="5129900"/>
            <a:ext cx="7365035" cy="845568"/>
            <a:chOff x="-71045" y="-76201"/>
            <a:chExt cx="3868800" cy="360000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7" name="Google Shape;107;p2"/>
            <p:cNvSpPr txBox="1"/>
            <p:nvPr/>
          </p:nvSpPr>
          <p:spPr>
            <a:xfrm>
              <a:off x="-71045" y="-76201"/>
              <a:ext cx="3868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2. ¿</a:t>
              </a:r>
              <a:r>
                <a:rPr lang="en-US" sz="2799"/>
                <a:t>Creación de dashboards en Power BI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1460075" y="7035051"/>
            <a:ext cx="8416883" cy="845568"/>
            <a:chOff x="0" y="-76204"/>
            <a:chExt cx="1964221" cy="360000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26459" y="-76204"/>
              <a:ext cx="1823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4. </a:t>
              </a:r>
              <a:r>
                <a:rPr lang="en-US" sz="2799"/>
                <a:t>Establecimiento de relaciones y modelado de datos en Power BI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1690372" y="8098522"/>
            <a:ext cx="6289632" cy="845387"/>
            <a:chOff x="0" y="-76200"/>
            <a:chExt cx="1964221" cy="359923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5. Conclusión y dudas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1334025" y="6053717"/>
            <a:ext cx="8932584" cy="58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sz="2799"/>
              <a:t>Diseño efectivo y mejores prácticas para dashboards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702029" y="53088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2"/>
          <p:cNvSpPr/>
          <p:nvPr/>
        </p:nvSpPr>
        <p:spPr>
          <a:xfrm>
            <a:off x="702029" y="62904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2"/>
          <p:cNvSpPr/>
          <p:nvPr/>
        </p:nvSpPr>
        <p:spPr>
          <a:xfrm>
            <a:off x="702029" y="72902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2"/>
          <p:cNvSpPr/>
          <p:nvPr/>
        </p:nvSpPr>
        <p:spPr>
          <a:xfrm>
            <a:off x="702029" y="82911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1208588" y="3630800"/>
            <a:ext cx="16077600" cy="51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Evaluar la eficacia de informes en Power BI utilizando visualizaciones y KPIs.</a:t>
            </a:r>
            <a:br>
              <a:rPr b="1" lang="en-US" sz="30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1" sz="30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Integrar bases de datos de Microsoft Access en Power BI para análisis y visualización.</a:t>
            </a:r>
            <a:br>
              <a:rPr b="1" lang="en-US" sz="30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1" sz="30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Aplicar comandos básicos y consultas en Access para la gestión eficiente de datos.</a:t>
            </a:r>
            <a:endParaRPr b="1" sz="30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t/>
            </a:r>
            <a:endParaRPr b="1" sz="30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1184839" y="2315091"/>
            <a:ext cx="1262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1374889" y="6781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1374900" y="3641325"/>
            <a:ext cx="12069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/>
              <a:t>Dashboards en Power BI: Conceptos básicos, estructura y elementos clave para la visualización interactiva de datos.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/>
              <a:t>Conexión con Microsoft Access: Métodos para conectar Power BI a bases de datos Access (*.accdb o *.mdb), permitiendo importar y actualizar datos.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/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7450" y="6025975"/>
            <a:ext cx="5400687" cy="384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0a610ef1a_2_5"/>
          <p:cNvSpPr txBox="1"/>
          <p:nvPr/>
        </p:nvSpPr>
        <p:spPr>
          <a:xfrm>
            <a:off x="1184839" y="2315091"/>
            <a:ext cx="1262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60a610ef1a_2_5"/>
          <p:cNvSpPr txBox="1"/>
          <p:nvPr/>
        </p:nvSpPr>
        <p:spPr>
          <a:xfrm>
            <a:off x="1374889" y="654364"/>
            <a:ext cx="139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9" name="Google Shape;139;g360a610ef1a_2_5"/>
          <p:cNvSpPr txBox="1"/>
          <p:nvPr/>
        </p:nvSpPr>
        <p:spPr>
          <a:xfrm>
            <a:off x="1184850" y="1788225"/>
            <a:ext cx="12069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/>
              <a:t>Importación y modelado de datos: Cómo cargar tablas, establecer relaciones entre ellas, y crear modelos de datos coherentes dentro de Power BI.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/>
              <a:t>Diseño efectivo de dashboards: Principios de usabilidad, claridad visual y selección adecuada de gráficos para facilitar la interpretación.</a:t>
            </a:r>
            <a:endParaRPr sz="3000"/>
          </a:p>
        </p:txBody>
      </p:sp>
      <p:pic>
        <p:nvPicPr>
          <p:cNvPr id="140" name="Google Shape;140;g360a610ef1a_2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1150" y="6134925"/>
            <a:ext cx="6046862" cy="384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0a610ef1a_2_35"/>
          <p:cNvSpPr txBox="1"/>
          <p:nvPr/>
        </p:nvSpPr>
        <p:spPr>
          <a:xfrm>
            <a:off x="1096789" y="1317266"/>
            <a:ext cx="12625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1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60a610ef1a_2_35"/>
          <p:cNvSpPr txBox="1"/>
          <p:nvPr/>
        </p:nvSpPr>
        <p:spPr>
          <a:xfrm>
            <a:off x="1374889" y="654364"/>
            <a:ext cx="139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7" name="Google Shape;147;g360a610ef1a_2_35"/>
          <p:cNvSpPr txBox="1"/>
          <p:nvPr/>
        </p:nvSpPr>
        <p:spPr>
          <a:xfrm>
            <a:off x="1374900" y="3641325"/>
            <a:ext cx="12069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/>
              <a:t>Consultas y manipulación en Access: Uso de comandos básicos para crear consultas que optimicen la información a importar.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/>
              <a:t>Actualización de datos conectados: Configuración de la actualización automática o manual para mantener los dashboards sincronizados con las fuentes.</a:t>
            </a:r>
            <a:endParaRPr sz="3000"/>
          </a:p>
        </p:txBody>
      </p:sp>
      <p:pic>
        <p:nvPicPr>
          <p:cNvPr id="148" name="Google Shape;148;g360a610ef1a_2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54175" y="5193575"/>
            <a:ext cx="4133825" cy="44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1374889" y="4007035"/>
            <a:ext cx="1436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5">
                <a:solidFill>
                  <a:srgbClr val="131416"/>
                </a:solidFill>
              </a:rPr>
              <a:t>EJEMPLO PRÁCTICO SOBRE LOS DASHBOARDS EN POWER BI</a:t>
            </a:r>
            <a:endParaRPr sz="2375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4154996" y="3860825"/>
            <a:ext cx="8968800" cy="5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Conexión a una base de datos Access con tablas de ejemplo (ventas, clientes, productos).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Creación de un dashboard interactivo con indicadores clave para monitorear el desempeño.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Diseño del modelo de datos estableciendo relaciones entre tablas.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NOMBRE DEL VALOR Y/O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2968221" y="3632674"/>
            <a:ext cx="11258700" cy="5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Responsabilidad: Manejar los datos con precisión y asegurar la integridad durante la integración.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Compromiso: Participar activamente en las prácticas y comprensión de las herramientas.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Respeto: Colaborar en equipo y compartir conocimientos para enriquecer el aprendizaje.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2135601" y="4280600"/>
            <a:ext cx="148728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●"/>
            </a:pP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https://ebac.mx/blog/que-es-el-analisis-de-datos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8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●"/>
            </a:pP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https://learn.microsoft.com/es-es/power-bi/fundamentals/power-bi-overview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8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●"/>
            </a:pP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https://www.microsoft.com/es-es/power-platform/products/power-bi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15234657" y="6780527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5414714" y="5958103"/>
            <a:ext cx="67050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9"/>
          <p:cNvSpPr txBox="1"/>
          <p:nvPr/>
        </p:nvSpPr>
        <p:spPr>
          <a:xfrm>
            <a:off x="2411098" y="7899735"/>
            <a:ext cx="134658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