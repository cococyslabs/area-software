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10287000" cx="18288000"/>
  <p:notesSz cx="6858000" cy="9144000"/>
  <p:embeddedFontLst>
    <p:embeddedFont>
      <p:font typeface="Lobster"/>
      <p:regular r:id="rId17"/>
    </p:embeddedFont>
    <p:embeddedFont>
      <p:font typeface="Pacifico"/>
      <p:regular r:id="rId18"/>
    </p:embeddedFont>
    <p:embeddedFont>
      <p:font typeface="Open Sans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3" roundtripDataSignature="AMtx7mgO+9xohksdSBH4bbYkf92PKc+Mw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penSans-bold.fntdata"/><Relationship Id="rId11" Type="http://schemas.openxmlformats.org/officeDocument/2006/relationships/slide" Target="slides/slide6.xml"/><Relationship Id="rId22" Type="http://schemas.openxmlformats.org/officeDocument/2006/relationships/font" Target="fonts/OpenSans-boldItalic.fntdata"/><Relationship Id="rId10" Type="http://schemas.openxmlformats.org/officeDocument/2006/relationships/slide" Target="slides/slide5.xml"/><Relationship Id="rId21" Type="http://schemas.openxmlformats.org/officeDocument/2006/relationships/font" Target="fonts/OpenSans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customschemas.google.com/relationships/presentationmetadata" Target="meta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Lobster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OpenSans-regular.fntdata"/><Relationship Id="rId6" Type="http://schemas.openxmlformats.org/officeDocument/2006/relationships/slide" Target="slides/slide1.xml"/><Relationship Id="rId18" Type="http://schemas.openxmlformats.org/officeDocument/2006/relationships/font" Target="fonts/Pacifico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6" name="Google Shape;12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2" name="Google Shape;13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60a610ef1a_2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0" name="Google Shape;140;g360a610ef1a_2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60a610ef1a_2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8" name="Google Shape;148;g360a610ef1a_2_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6" name="Google Shape;15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2" name="Google Shape;16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8" name="Google Shape;16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4" name="Google Shape;17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1" name="Google Shape;181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8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8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8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9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9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9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0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1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1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12541309" y="0"/>
            <a:ext cx="5746691" cy="1711780"/>
          </a:xfrm>
          <a:custGeom>
            <a:rect b="b" l="l" r="r" t="t"/>
            <a:pathLst>
              <a:path extrusionOk="0" h="1711780" w="5746691">
                <a:moveTo>
                  <a:pt x="0" y="0"/>
                </a:moveTo>
                <a:lnTo>
                  <a:pt x="5746691" y="0"/>
                </a:lnTo>
                <a:lnTo>
                  <a:pt x="5746691" y="1711780"/>
                </a:lnTo>
                <a:lnTo>
                  <a:pt x="0" y="17117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5" name="Google Shape;85;p1"/>
          <p:cNvSpPr txBox="1"/>
          <p:nvPr/>
        </p:nvSpPr>
        <p:spPr>
          <a:xfrm>
            <a:off x="1028703" y="6536389"/>
            <a:ext cx="57174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i="0" lang="en-US" sz="50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Programación Comercial 1</a:t>
            </a:r>
            <a:endParaRPr b="1" i="0" sz="5000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2687405" y="3915649"/>
            <a:ext cx="123750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00"/>
              <a:buFont typeface="Arial"/>
              <a:buNone/>
            </a:pPr>
            <a:r>
              <a:rPr b="1" i="0" lang="en-US" sz="92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3. Power BI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1063303" y="8745251"/>
            <a:ext cx="6981379" cy="422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Escuela de Ingenieria de Ciencias Y Sistemas</a:t>
            </a:r>
            <a:endParaRPr b="1" i="0" sz="2499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1028700" y="9210675"/>
            <a:ext cx="6667500" cy="422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Facultad de Ingenieria</a:t>
            </a:r>
            <a:endParaRPr b="1" i="0" sz="2499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228600" y="9588254"/>
            <a:ext cx="8115300" cy="4193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Universidad de San Carlos de Guatemala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"/>
          <p:cNvSpPr txBox="1"/>
          <p:nvPr/>
        </p:nvSpPr>
        <p:spPr>
          <a:xfrm>
            <a:off x="12979082" y="7426039"/>
            <a:ext cx="3284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" name="Google Shape;95;p2"/>
          <p:cNvGrpSpPr/>
          <p:nvPr/>
        </p:nvGrpSpPr>
        <p:grpSpPr>
          <a:xfrm>
            <a:off x="7" y="4206075"/>
            <a:ext cx="9632736" cy="845568"/>
            <a:chOff x="0" y="-76201"/>
            <a:chExt cx="1964221" cy="360000"/>
          </a:xfrm>
        </p:grpSpPr>
        <p:sp>
          <p:nvSpPr>
            <p:cNvPr id="96" name="Google Shape;96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97" name="Google Shape;97;p2"/>
            <p:cNvSpPr txBox="1"/>
            <p:nvPr/>
          </p:nvSpPr>
          <p:spPr>
            <a:xfrm>
              <a:off x="261999" y="-76201"/>
              <a:ext cx="15879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0" i="0" lang="en-US" sz="26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1. </a:t>
              </a:r>
              <a:r>
                <a:rPr lang="en-US" sz="2699"/>
                <a:t>Instalación y exploración de Power BI Desktop</a:t>
              </a:r>
              <a:endParaRPr b="0" i="0" sz="20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8" name="Google Shape;98;p2"/>
          <p:cNvSpPr/>
          <p:nvPr/>
        </p:nvSpPr>
        <p:spPr>
          <a:xfrm>
            <a:off x="702029" y="4426041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99" name="Google Shape;99;p2"/>
          <p:cNvGrpSpPr/>
          <p:nvPr/>
        </p:nvGrpSpPr>
        <p:grpSpPr>
          <a:xfrm>
            <a:off x="1690364" y="2699581"/>
            <a:ext cx="4115217" cy="1556494"/>
            <a:chOff x="0" y="-76200"/>
            <a:chExt cx="1083836" cy="409938"/>
          </a:xfrm>
        </p:grpSpPr>
        <p:sp>
          <p:nvSpPr>
            <p:cNvPr id="100" name="Google Shape;100;p2"/>
            <p:cNvSpPr/>
            <p:nvPr/>
          </p:nvSpPr>
          <p:spPr>
            <a:xfrm>
              <a:off x="0" y="0"/>
              <a:ext cx="1083836" cy="333738"/>
            </a:xfrm>
            <a:custGeom>
              <a:rect b="b" l="l" r="r" t="t"/>
              <a:pathLst>
                <a:path extrusionOk="0" h="333738" w="1083836">
                  <a:moveTo>
                    <a:pt x="880636" y="0"/>
                  </a:moveTo>
                  <a:lnTo>
                    <a:pt x="0" y="0"/>
                  </a:lnTo>
                  <a:lnTo>
                    <a:pt x="0" y="333738"/>
                  </a:lnTo>
                  <a:lnTo>
                    <a:pt x="880636" y="333738"/>
                  </a:lnTo>
                  <a:lnTo>
                    <a:pt x="1083836" y="166869"/>
                  </a:lnTo>
                  <a:lnTo>
                    <a:pt x="8806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01" name="Google Shape;101;p2"/>
            <p:cNvSpPr txBox="1"/>
            <p:nvPr/>
          </p:nvSpPr>
          <p:spPr>
            <a:xfrm>
              <a:off x="0" y="-76200"/>
              <a:ext cx="969536" cy="4099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RECORDATORIOS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2" name="Google Shape;102;p2"/>
          <p:cNvSpPr/>
          <p:nvPr/>
        </p:nvSpPr>
        <p:spPr>
          <a:xfrm>
            <a:off x="475129" y="3115335"/>
            <a:ext cx="753892" cy="872928"/>
          </a:xfrm>
          <a:custGeom>
            <a:rect b="b" l="l" r="r" t="t"/>
            <a:pathLst>
              <a:path extrusionOk="0" h="872928" w="753892">
                <a:moveTo>
                  <a:pt x="0" y="0"/>
                </a:moveTo>
                <a:lnTo>
                  <a:pt x="753892" y="0"/>
                </a:lnTo>
                <a:lnTo>
                  <a:pt x="753892" y="872927"/>
                </a:lnTo>
                <a:lnTo>
                  <a:pt x="0" y="8729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3" name="Google Shape;103;p2"/>
          <p:cNvSpPr txBox="1"/>
          <p:nvPr/>
        </p:nvSpPr>
        <p:spPr>
          <a:xfrm>
            <a:off x="651749" y="490900"/>
            <a:ext cx="7710301" cy="2308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0"/>
              <a:buFont typeface="Arial"/>
              <a:buNone/>
            </a:pPr>
            <a:r>
              <a:rPr b="0" i="0" lang="en-US" sz="15000" u="none" cap="none" strike="noStrike">
                <a:solidFill>
                  <a:srgbClr val="131416"/>
                </a:solidFill>
                <a:latin typeface="Pacifico"/>
                <a:ea typeface="Pacifico"/>
                <a:cs typeface="Pacifico"/>
                <a:sym typeface="Pacifico"/>
              </a:rPr>
              <a:t>Agenda</a:t>
            </a:r>
            <a:endParaRPr b="0" i="0" sz="1400" u="none" cap="none" strike="noStrike">
              <a:solidFill>
                <a:srgbClr val="000000"/>
              </a:solidFill>
              <a:latin typeface="Pacifico"/>
              <a:ea typeface="Pacifico"/>
              <a:cs typeface="Pacifico"/>
              <a:sym typeface="Pacifico"/>
            </a:endParaRPr>
          </a:p>
        </p:txBody>
      </p:sp>
      <p:sp>
        <p:nvSpPr>
          <p:cNvPr id="104" name="Google Shape;104;p2"/>
          <p:cNvSpPr txBox="1"/>
          <p:nvPr/>
        </p:nvSpPr>
        <p:spPr>
          <a:xfrm>
            <a:off x="10105990" y="390767"/>
            <a:ext cx="8416800" cy="23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0"/>
              <a:buFont typeface="Arial"/>
              <a:buNone/>
            </a:pPr>
            <a:r>
              <a:rPr b="0" i="0" lang="en-US" sz="15000" u="none" cap="none" strike="noStrike">
                <a:solidFill>
                  <a:srgbClr val="131416"/>
                </a:solidFill>
                <a:latin typeface="Lobster"/>
                <a:ea typeface="Lobster"/>
                <a:cs typeface="Lobster"/>
                <a:sym typeface="Lobster"/>
              </a:rPr>
              <a:t>Recursos</a:t>
            </a:r>
            <a:endParaRPr b="0" i="0" sz="1400" u="none" cap="none" strike="noStrike">
              <a:solidFill>
                <a:srgbClr val="000000"/>
              </a:solidFill>
              <a:latin typeface="Lobster"/>
              <a:ea typeface="Lobster"/>
              <a:cs typeface="Lobster"/>
              <a:sym typeface="Lobster"/>
            </a:endParaRPr>
          </a:p>
        </p:txBody>
      </p:sp>
      <p:grpSp>
        <p:nvGrpSpPr>
          <p:cNvPr id="105" name="Google Shape;105;p2"/>
          <p:cNvGrpSpPr/>
          <p:nvPr/>
        </p:nvGrpSpPr>
        <p:grpSpPr>
          <a:xfrm>
            <a:off x="10392649" y="3515788"/>
            <a:ext cx="7521788" cy="1779462"/>
            <a:chOff x="-495932" y="84963"/>
            <a:chExt cx="1981034" cy="468662"/>
          </a:xfrm>
        </p:grpSpPr>
        <p:sp>
          <p:nvSpPr>
            <p:cNvPr id="106" name="Google Shape;106;p2"/>
            <p:cNvSpPr/>
            <p:nvPr/>
          </p:nvSpPr>
          <p:spPr>
            <a:xfrm>
              <a:off x="75088" y="219887"/>
              <a:ext cx="1410014" cy="333738"/>
            </a:xfrm>
            <a:custGeom>
              <a:rect b="b" l="l" r="r" t="t"/>
              <a:pathLst>
                <a:path extrusionOk="0" h="333738" w="1410014">
                  <a:moveTo>
                    <a:pt x="1206814" y="0"/>
                  </a:moveTo>
                  <a:lnTo>
                    <a:pt x="0" y="0"/>
                  </a:lnTo>
                  <a:lnTo>
                    <a:pt x="0" y="333738"/>
                  </a:lnTo>
                  <a:lnTo>
                    <a:pt x="1206814" y="333738"/>
                  </a:lnTo>
                  <a:lnTo>
                    <a:pt x="1410014" y="166869"/>
                  </a:lnTo>
                  <a:lnTo>
                    <a:pt x="120681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07" name="Google Shape;107;p2"/>
            <p:cNvSpPr txBox="1"/>
            <p:nvPr/>
          </p:nvSpPr>
          <p:spPr>
            <a:xfrm>
              <a:off x="-495932" y="84963"/>
              <a:ext cx="1791600" cy="4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499"/>
                <a:buFont typeface="Arial"/>
                <a:buNone/>
              </a:pPr>
              <a:r>
                <a:t/>
              </a:r>
              <a:endParaRPr b="0" i="0" sz="24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8" name="Google Shape;108;p2"/>
          <p:cNvGrpSpPr/>
          <p:nvPr/>
        </p:nvGrpSpPr>
        <p:grpSpPr>
          <a:xfrm>
            <a:off x="1555125" y="5129900"/>
            <a:ext cx="7365035" cy="845568"/>
            <a:chOff x="-71045" y="-76201"/>
            <a:chExt cx="3868800" cy="360000"/>
          </a:xfrm>
        </p:grpSpPr>
        <p:sp>
          <p:nvSpPr>
            <p:cNvPr id="109" name="Google Shape;109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10" name="Google Shape;110;p2"/>
            <p:cNvSpPr txBox="1"/>
            <p:nvPr/>
          </p:nvSpPr>
          <p:spPr>
            <a:xfrm>
              <a:off x="-71045" y="-76201"/>
              <a:ext cx="38688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2. </a:t>
              </a:r>
              <a:r>
                <a:rPr lang="en-US" sz="2799"/>
                <a:t>Configuración inicial y primeros pasos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1" name="Google Shape;111;p2"/>
          <p:cNvGrpSpPr/>
          <p:nvPr/>
        </p:nvGrpSpPr>
        <p:grpSpPr>
          <a:xfrm>
            <a:off x="1460076" y="7035050"/>
            <a:ext cx="7056071" cy="845568"/>
            <a:chOff x="0" y="-76204"/>
            <a:chExt cx="1964221" cy="360000"/>
          </a:xfrm>
        </p:grpSpPr>
        <p:sp>
          <p:nvSpPr>
            <p:cNvPr id="112" name="Google Shape;112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13" name="Google Shape;113;p2"/>
            <p:cNvSpPr txBox="1"/>
            <p:nvPr/>
          </p:nvSpPr>
          <p:spPr>
            <a:xfrm>
              <a:off x="26459" y="-76204"/>
              <a:ext cx="18231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4. </a:t>
              </a:r>
              <a:r>
                <a:rPr lang="en-US" sz="2799"/>
                <a:t>Herramientas y paneles principales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4" name="Google Shape;114;p2"/>
          <p:cNvGrpSpPr/>
          <p:nvPr/>
        </p:nvGrpSpPr>
        <p:grpSpPr>
          <a:xfrm>
            <a:off x="1690372" y="8098522"/>
            <a:ext cx="6289632" cy="845387"/>
            <a:chOff x="0" y="-76200"/>
            <a:chExt cx="1964221" cy="359923"/>
          </a:xfrm>
        </p:grpSpPr>
        <p:sp>
          <p:nvSpPr>
            <p:cNvPr id="115" name="Google Shape;115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16" name="Google Shape;116;p2"/>
            <p:cNvSpPr txBox="1"/>
            <p:nvPr/>
          </p:nvSpPr>
          <p:spPr>
            <a:xfrm>
              <a:off x="0" y="-76200"/>
              <a:ext cx="1849921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5. Conclusión y dudas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7" name="Google Shape;117;p2"/>
          <p:cNvGrpSpPr/>
          <p:nvPr/>
        </p:nvGrpSpPr>
        <p:grpSpPr>
          <a:xfrm>
            <a:off x="1460074" y="6111475"/>
            <a:ext cx="8932585" cy="845568"/>
            <a:chOff x="0" y="-76200"/>
            <a:chExt cx="4424700" cy="360000"/>
          </a:xfrm>
        </p:grpSpPr>
        <p:sp>
          <p:nvSpPr>
            <p:cNvPr id="118" name="Google Shape;118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19" name="Google Shape;119;p2"/>
            <p:cNvSpPr txBox="1"/>
            <p:nvPr/>
          </p:nvSpPr>
          <p:spPr>
            <a:xfrm>
              <a:off x="0" y="-76200"/>
              <a:ext cx="44247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3. </a:t>
              </a:r>
              <a:r>
                <a:rPr lang="en-US" sz="2799"/>
                <a:t>Conociendo la interfaz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0" name="Google Shape;120;p2"/>
          <p:cNvSpPr/>
          <p:nvPr/>
        </p:nvSpPr>
        <p:spPr>
          <a:xfrm>
            <a:off x="702029" y="5308880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1" name="Google Shape;121;p2"/>
          <p:cNvSpPr/>
          <p:nvPr/>
        </p:nvSpPr>
        <p:spPr>
          <a:xfrm>
            <a:off x="702029" y="6290453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2" name="Google Shape;122;p2"/>
          <p:cNvSpPr/>
          <p:nvPr/>
        </p:nvSpPr>
        <p:spPr>
          <a:xfrm>
            <a:off x="702029" y="7290235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3" name="Google Shape;123;p2"/>
          <p:cNvSpPr/>
          <p:nvPr/>
        </p:nvSpPr>
        <p:spPr>
          <a:xfrm>
            <a:off x="702029" y="8291140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5"/>
                </a:lnTo>
                <a:lnTo>
                  <a:pt x="0" y="5500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"/>
          <p:cNvSpPr txBox="1"/>
          <p:nvPr/>
        </p:nvSpPr>
        <p:spPr>
          <a:xfrm>
            <a:off x="1374889" y="654364"/>
            <a:ext cx="13991100" cy="9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b="0" i="0" lang="en-US" sz="6098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COMPETENCIA(S) QUE DESARROLLAREMOS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29" name="Google Shape;129;p3"/>
          <p:cNvSpPr txBox="1"/>
          <p:nvPr/>
        </p:nvSpPr>
        <p:spPr>
          <a:xfrm>
            <a:off x="1374888" y="4391025"/>
            <a:ext cx="16077600" cy="41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99"/>
              <a:buFont typeface="Arial"/>
              <a:buNone/>
            </a:pPr>
            <a:r>
              <a:rPr b="1" lang="en-US" sz="5199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Evaluar la eficacia de informes en Power BI mediante visualizaciones interactivas y paneles, aplicando KPIs para la toma de decisiones en un contexto de negocio.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4"/>
          <p:cNvSpPr txBox="1"/>
          <p:nvPr/>
        </p:nvSpPr>
        <p:spPr>
          <a:xfrm>
            <a:off x="1184839" y="2315091"/>
            <a:ext cx="12625500" cy="6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25"/>
              <a:buFont typeface="Arial"/>
              <a:buNone/>
            </a:pPr>
            <a:r>
              <a:rPr b="1" lang="en-US" sz="3925">
                <a:solidFill>
                  <a:srgbClr val="131416"/>
                </a:solidFill>
              </a:rPr>
              <a:t>Instalación y primeros pasos en Power BI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4"/>
          <p:cNvSpPr txBox="1"/>
          <p:nvPr/>
        </p:nvSpPr>
        <p:spPr>
          <a:xfrm>
            <a:off x="1374889" y="654364"/>
            <a:ext cx="13991100" cy="9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b="0" i="0" lang="en-US" sz="6098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CONTENIDO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36" name="Google Shape;136;p4"/>
          <p:cNvSpPr txBox="1"/>
          <p:nvPr/>
        </p:nvSpPr>
        <p:spPr>
          <a:xfrm>
            <a:off x="1374900" y="3641325"/>
            <a:ext cx="12069300" cy="48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/>
              <a:t>La instalación de Power BI Desktop requiere un sistema Windows 10 o superior, con espacio en disco y memoria suficiente para un rendimiento óptimo.</a:t>
            </a:r>
            <a:br>
              <a:rPr lang="en-US" sz="3000"/>
            </a:br>
            <a:endParaRPr sz="3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/>
              <a:t>El proceso de descarga se realiza desde la página oficial de Microsoft, asegurando siempre la versión más actualizada y segura.</a:t>
            </a:r>
            <a:br>
              <a:rPr lang="en-US" sz="3000"/>
            </a:br>
            <a:endParaRPr sz="3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/>
              <a:t>La configuración inicial incluye la creación o uso de una cuenta Microsoft para sincronización y uso colaborativo.</a:t>
            </a:r>
            <a:endParaRPr sz="3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sz="3000"/>
          </a:p>
        </p:txBody>
      </p:sp>
      <p:pic>
        <p:nvPicPr>
          <p:cNvPr id="137" name="Google Shape;13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197450" y="6025975"/>
            <a:ext cx="5400687" cy="38472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60a610ef1a_2_5"/>
          <p:cNvSpPr txBox="1"/>
          <p:nvPr/>
        </p:nvSpPr>
        <p:spPr>
          <a:xfrm>
            <a:off x="1184839" y="2315091"/>
            <a:ext cx="12625500" cy="26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25"/>
              <a:buFont typeface="Arial"/>
              <a:buNone/>
            </a:pPr>
            <a:r>
              <a:rPr b="1" lang="en-US" sz="3925">
                <a:solidFill>
                  <a:srgbClr val="131416"/>
                </a:solidFill>
              </a:rPr>
              <a:t>Exploración de la interfaz</a:t>
            </a:r>
            <a:endParaRPr b="1" sz="3925">
              <a:solidFill>
                <a:srgbClr val="131416"/>
              </a:solidFill>
            </a:endParaRPr>
          </a:p>
          <a:p>
            <a:pPr indent="0" lvl="0" marL="0" marR="0" rtl="0" algn="l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25"/>
              <a:buFont typeface="Arial"/>
              <a:buNone/>
            </a:pPr>
            <a:r>
              <a:t/>
            </a:r>
            <a:endParaRPr b="1" sz="3925">
              <a:solidFill>
                <a:srgbClr val="131416"/>
              </a:solidFill>
            </a:endParaRPr>
          </a:p>
          <a:p>
            <a:pPr indent="0" lvl="0" marL="0" marR="0" rtl="0" algn="l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25"/>
              <a:buFont typeface="Arial"/>
              <a:buNone/>
            </a:pPr>
            <a:r>
              <a:t/>
            </a:r>
            <a:endParaRPr b="1" sz="3925">
              <a:solidFill>
                <a:srgbClr val="131416"/>
              </a:solidFill>
            </a:endParaRPr>
          </a:p>
        </p:txBody>
      </p:sp>
      <p:sp>
        <p:nvSpPr>
          <p:cNvPr id="143" name="Google Shape;143;g360a610ef1a_2_5"/>
          <p:cNvSpPr txBox="1"/>
          <p:nvPr/>
        </p:nvSpPr>
        <p:spPr>
          <a:xfrm>
            <a:off x="1374889" y="654364"/>
            <a:ext cx="13991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44" name="Google Shape;144;g360a610ef1a_2_5"/>
          <p:cNvSpPr txBox="1"/>
          <p:nvPr/>
        </p:nvSpPr>
        <p:spPr>
          <a:xfrm>
            <a:off x="1374900" y="2989250"/>
            <a:ext cx="13447200" cy="75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/>
              <a:t>Power BI Desktop presenta tres áreas de trabajo principales:</a:t>
            </a:r>
            <a:br>
              <a:rPr lang="en-US" sz="3000"/>
            </a:br>
            <a:endParaRPr sz="3000"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3000"/>
              <a:t>Informe: lugar para diseñar visualizaciones y dashboards.</a:t>
            </a:r>
            <a:br>
              <a:rPr lang="en-US" sz="3000"/>
            </a:br>
            <a:endParaRPr sz="30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3000"/>
              <a:t>Datos: vista y edición de tablas importadas.</a:t>
            </a:r>
            <a:br>
              <a:rPr lang="en-US" sz="3000"/>
            </a:br>
            <a:endParaRPr sz="30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3000"/>
              <a:t>Modelo: gestión de relaciones entre tablas.</a:t>
            </a:r>
            <a:br>
              <a:rPr lang="en-US" sz="3000"/>
            </a:br>
            <a:endParaRPr sz="30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/>
              <a:t>Los paneles Visualizaciones, Campos y Filtros permiten personalizar y controlar la presentación de los datos.</a:t>
            </a:r>
            <a:br>
              <a:rPr lang="en-US" sz="3000"/>
            </a:br>
            <a:endParaRPr sz="3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/>
              <a:t>Familiarizarse con la interfaz es clave para una experiencia productiva y eficiente en la creación de reportes.</a:t>
            </a:r>
            <a:endParaRPr sz="3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sz="3000"/>
          </a:p>
        </p:txBody>
      </p:sp>
      <p:pic>
        <p:nvPicPr>
          <p:cNvPr id="145" name="Google Shape;145;g360a610ef1a_2_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241150" y="3219863"/>
            <a:ext cx="6046862" cy="38472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60a610ef1a_2_15"/>
          <p:cNvSpPr txBox="1"/>
          <p:nvPr/>
        </p:nvSpPr>
        <p:spPr>
          <a:xfrm>
            <a:off x="1096789" y="1317266"/>
            <a:ext cx="12625500" cy="6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25"/>
              <a:buFont typeface="Arial"/>
              <a:buNone/>
            </a:pPr>
            <a:r>
              <a:rPr b="1" lang="en-US" sz="3925">
                <a:solidFill>
                  <a:srgbClr val="131416"/>
                </a:solidFill>
              </a:rPr>
              <a:t>Carga y manipulación de datos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g360a610ef1a_2_15"/>
          <p:cNvSpPr txBox="1"/>
          <p:nvPr/>
        </p:nvSpPr>
        <p:spPr>
          <a:xfrm>
            <a:off x="1374889" y="654364"/>
            <a:ext cx="13991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52" name="Google Shape;152;g360a610ef1a_2_15"/>
          <p:cNvSpPr txBox="1"/>
          <p:nvPr/>
        </p:nvSpPr>
        <p:spPr>
          <a:xfrm>
            <a:off x="1653000" y="2973150"/>
            <a:ext cx="12069300" cy="434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/>
              <a:t>Se puede importar datos desde múltiples fuentes: Excel, CSV, bases de datos, servicios en la nube, entre otros.</a:t>
            </a:r>
            <a:br>
              <a:rPr lang="en-US" sz="3000"/>
            </a:br>
            <a:endParaRPr sz="3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/>
              <a:t>Tras la importación, Power BI ofrece herramientas para limpiar, transformar y preparar los datos antes del análisis.</a:t>
            </a:r>
            <a:br>
              <a:rPr lang="en-US" sz="3000"/>
            </a:br>
            <a:endParaRPr sz="3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/>
              <a:t>Crear visualizaciones básicas con datos de ejemplo ayuda a entender el flujo de trabajo y preparar reportes útiles para el negocio.</a:t>
            </a:r>
            <a:endParaRPr sz="3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sz="3000"/>
          </a:p>
        </p:txBody>
      </p:sp>
      <p:pic>
        <p:nvPicPr>
          <p:cNvPr id="153" name="Google Shape;153;g360a610ef1a_2_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937396" y="6832675"/>
            <a:ext cx="4976424" cy="278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5"/>
          <p:cNvSpPr txBox="1"/>
          <p:nvPr/>
        </p:nvSpPr>
        <p:spPr>
          <a:xfrm>
            <a:off x="1374889" y="654364"/>
            <a:ext cx="13991100" cy="9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b="0" i="0" lang="en-US" sz="6098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APLICACIONES POR MEDIO DE EJEMPLOS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59" name="Google Shape;159;p5"/>
          <p:cNvSpPr txBox="1"/>
          <p:nvPr/>
        </p:nvSpPr>
        <p:spPr>
          <a:xfrm>
            <a:off x="1374889" y="3056735"/>
            <a:ext cx="14365800" cy="99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303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375">
                <a:solidFill>
                  <a:srgbClr val="131416"/>
                </a:solidFill>
              </a:rPr>
              <a:t>CONOCIENDO LA INTERFAZ DE POWER BI</a:t>
            </a:r>
            <a:endParaRPr b="0" i="0" sz="2375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7303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75"/>
              <a:buFont typeface="Arial"/>
              <a:buNone/>
            </a:pPr>
            <a:r>
              <a:t/>
            </a:r>
            <a:endParaRPr b="0" i="0" sz="2375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6"/>
          <p:cNvSpPr txBox="1"/>
          <p:nvPr/>
        </p:nvSpPr>
        <p:spPr>
          <a:xfrm>
            <a:off x="2507390" y="1000125"/>
            <a:ext cx="135033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0"/>
              <a:buFont typeface="Arial"/>
              <a:buNone/>
            </a:pPr>
            <a:r>
              <a:rPr b="0" i="0" lang="en-US" sz="6900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CONCEPTOS CLAVE APRENDIDOS 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65" name="Google Shape;165;p6"/>
          <p:cNvSpPr txBox="1"/>
          <p:nvPr/>
        </p:nvSpPr>
        <p:spPr>
          <a:xfrm>
            <a:off x="4154996" y="3860825"/>
            <a:ext cx="8968800" cy="591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28688" lvl="0" marL="45720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151"/>
              <a:buChar char="●"/>
            </a:pPr>
            <a:r>
              <a:rPr lang="en-US" sz="3151">
                <a:solidFill>
                  <a:srgbClr val="131416"/>
                </a:solidFill>
              </a:rPr>
              <a:t>Pasos esenciales para instalar y configurar Power BI Desktop</a:t>
            </a:r>
            <a:endParaRPr sz="3151">
              <a:solidFill>
                <a:srgbClr val="131416"/>
              </a:solidFill>
            </a:endParaRPr>
          </a:p>
          <a:p>
            <a:pPr indent="-428688" lvl="0" marL="45720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151"/>
              <a:buChar char="●"/>
            </a:pPr>
            <a:r>
              <a:rPr lang="en-US" sz="3151">
                <a:solidFill>
                  <a:srgbClr val="131416"/>
                </a:solidFill>
              </a:rPr>
              <a:t>Reconocimiento de las áreas y herramientas dentro de la interfaz</a:t>
            </a:r>
            <a:endParaRPr sz="3151">
              <a:solidFill>
                <a:srgbClr val="131416"/>
              </a:solidFill>
            </a:endParaRPr>
          </a:p>
          <a:p>
            <a:pPr indent="-428688" lvl="0" marL="45720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151"/>
              <a:buChar char="●"/>
            </a:pPr>
            <a:r>
              <a:rPr lang="en-US" sz="3151">
                <a:solidFill>
                  <a:srgbClr val="131416"/>
                </a:solidFill>
              </a:rPr>
              <a:t>Carga y manipulación básica de datos en Power BI</a:t>
            </a:r>
            <a:endParaRPr sz="3151">
              <a:solidFill>
                <a:srgbClr val="131416"/>
              </a:solidFill>
            </a:endParaRPr>
          </a:p>
          <a:p>
            <a:pPr indent="-428688" lvl="0" marL="45720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151"/>
              <a:buChar char="●"/>
            </a:pPr>
            <a:r>
              <a:rPr lang="en-US" sz="3151">
                <a:solidFill>
                  <a:srgbClr val="131416"/>
                </a:solidFill>
              </a:rPr>
              <a:t>Importancia de diseñar informes claros y orientados a objetivos de negocio</a:t>
            </a:r>
            <a:endParaRPr sz="3151">
              <a:solidFill>
                <a:srgbClr val="131416"/>
              </a:solidFill>
            </a:endParaRPr>
          </a:p>
          <a:p>
            <a:pPr indent="0" lvl="0" marL="0" marR="0" rtl="0" algn="just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1"/>
              <a:buFont typeface="Arial"/>
              <a:buNone/>
            </a:pPr>
            <a:r>
              <a:t/>
            </a:r>
            <a:endParaRPr sz="3151">
              <a:solidFill>
                <a:srgbClr val="131416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7"/>
          <p:cNvSpPr txBox="1"/>
          <p:nvPr/>
        </p:nvSpPr>
        <p:spPr>
          <a:xfrm>
            <a:off x="2507390" y="1000125"/>
            <a:ext cx="135033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0"/>
              <a:buFont typeface="Arial"/>
              <a:buNone/>
            </a:pPr>
            <a:r>
              <a:rPr b="0" i="0" lang="en-US" sz="6900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NOMBRE DEL VALOR Y/O ACTITUD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71" name="Google Shape;171;p7"/>
          <p:cNvSpPr txBox="1"/>
          <p:nvPr/>
        </p:nvSpPr>
        <p:spPr>
          <a:xfrm>
            <a:off x="3016501" y="4036550"/>
            <a:ext cx="12994200" cy="32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</a:rPr>
              <a:t>Responsabilidad: Seguir procedimientos de instalación y configuración con cuidado.</a:t>
            </a:r>
            <a:br>
              <a:rPr lang="en-US" sz="2400">
                <a:solidFill>
                  <a:schemeClr val="dk1"/>
                </a:solidFill>
              </a:rPr>
            </a:br>
            <a:endParaRPr sz="24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</a:rPr>
              <a:t>Compromiso: Participar activamente en la práctica y aplicar los conocimientos.</a:t>
            </a:r>
            <a:br>
              <a:rPr lang="en-US" sz="2400">
                <a:solidFill>
                  <a:schemeClr val="dk1"/>
                </a:solidFill>
              </a:rPr>
            </a:br>
            <a:endParaRPr sz="24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</a:rPr>
              <a:t>Respeto: Colaborar y apoyar a compañeros durante las actividades grupales y consultas.</a:t>
            </a:r>
            <a:endParaRPr sz="24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1"/>
              <a:buFont typeface="Arial"/>
              <a:buNone/>
            </a:pPr>
            <a:r>
              <a:t/>
            </a:r>
            <a:endParaRPr sz="4451">
              <a:solidFill>
                <a:srgbClr val="131416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8"/>
          <p:cNvSpPr txBox="1"/>
          <p:nvPr/>
        </p:nvSpPr>
        <p:spPr>
          <a:xfrm>
            <a:off x="2507390" y="1000125"/>
            <a:ext cx="135033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0"/>
              <a:buFont typeface="Arial"/>
              <a:buNone/>
            </a:pPr>
            <a:r>
              <a:rPr b="0" i="0" lang="en-US" sz="6900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REFERENCIAS 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77" name="Google Shape;177;p8"/>
          <p:cNvSpPr txBox="1"/>
          <p:nvPr/>
        </p:nvSpPr>
        <p:spPr>
          <a:xfrm>
            <a:off x="2135601" y="4280600"/>
            <a:ext cx="14872800" cy="4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457200" marR="0" rtl="0" algn="ct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1"/>
              <a:buFont typeface="Arial"/>
              <a:buNone/>
            </a:pPr>
            <a:r>
              <a:rPr lang="en-US" sz="3151">
                <a:solidFill>
                  <a:srgbClr val="131416"/>
                </a:solidFill>
              </a:rPr>
              <a:t>Microsoft Docs: https://docs.microsoft.com/es-es/power-bi/</a:t>
            </a:r>
            <a:endParaRPr b="0" i="0" sz="3151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8"/>
          <p:cNvSpPr txBox="1"/>
          <p:nvPr/>
        </p:nvSpPr>
        <p:spPr>
          <a:xfrm>
            <a:off x="15234657" y="6780527"/>
            <a:ext cx="3238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14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9"/>
          <p:cNvSpPr txBox="1"/>
          <p:nvPr/>
        </p:nvSpPr>
        <p:spPr>
          <a:xfrm>
            <a:off x="4437795" y="3389104"/>
            <a:ext cx="8658900" cy="191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9"/>
              <a:buFont typeface="Arial"/>
              <a:buNone/>
            </a:pPr>
            <a:r>
              <a:rPr b="0" i="0" lang="en-US" sz="6099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¡GRACIAS POR SU  ATENCIÓN!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  <a:p>
            <a:pPr indent="0" lvl="0" marL="0" marR="0" rtl="0" algn="just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9"/>
              <a:buFont typeface="Arial"/>
              <a:buNone/>
            </a:pPr>
            <a:r>
              <a:t/>
            </a:r>
            <a:endParaRPr b="0" i="0" sz="6099" u="none" cap="none" strike="noStrike">
              <a:solidFill>
                <a:srgbClr val="131416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84" name="Google Shape;184;p9"/>
          <p:cNvSpPr txBox="1"/>
          <p:nvPr/>
        </p:nvSpPr>
        <p:spPr>
          <a:xfrm>
            <a:off x="5414714" y="5958103"/>
            <a:ext cx="6704991" cy="898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0" i="0" lang="en-US" sz="50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DUDAS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9"/>
          <p:cNvSpPr/>
          <p:nvPr/>
        </p:nvSpPr>
        <p:spPr>
          <a:xfrm>
            <a:off x="13963751" y="1028700"/>
            <a:ext cx="2757268" cy="3770970"/>
          </a:xfrm>
          <a:custGeom>
            <a:rect b="b" l="l" r="r" t="t"/>
            <a:pathLst>
              <a:path extrusionOk="0" h="3770970" w="2757268">
                <a:moveTo>
                  <a:pt x="0" y="0"/>
                </a:moveTo>
                <a:lnTo>
                  <a:pt x="2757268" y="0"/>
                </a:lnTo>
                <a:lnTo>
                  <a:pt x="2757268" y="3770970"/>
                </a:lnTo>
                <a:lnTo>
                  <a:pt x="0" y="37709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6" name="Google Shape;186;p9"/>
          <p:cNvSpPr txBox="1"/>
          <p:nvPr/>
        </p:nvSpPr>
        <p:spPr>
          <a:xfrm>
            <a:off x="2411098" y="7899735"/>
            <a:ext cx="13465804" cy="7194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RECUERDA QUE TENEMOS NUESTRO FORO SEMANAL DONDE PUEDES CONSULTAR CUALQUIER DUDA QUE TE SURJA EN LA SEMANA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