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MuseoModerno Medium" panose="020B0604020202020204" charset="0"/>
      <p:regular r:id="rId12"/>
    </p:embeddedFont>
    <p:embeddedFont>
      <p:font typeface="Source Sans Pro" panose="020B0503030403020204" pitchFamily="34" charset="0"/>
      <p:regular r:id="rId13"/>
      <p:bold r:id="rId14"/>
    </p:embeddedFont>
  </p:embeddedFontLst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9363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5101" y="1130141"/>
            <a:ext cx="7533799" cy="3968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7800"/>
              </a:lnSpc>
              <a:buNone/>
            </a:pPr>
            <a:r>
              <a:rPr lang="en-US" sz="62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Diseño de Reportes y Análisis Visuales para la Toma de Decisiones</a:t>
            </a:r>
            <a:endParaRPr lang="en-US" sz="6200" dirty="0"/>
          </a:p>
        </p:txBody>
      </p:sp>
      <p:sp>
        <p:nvSpPr>
          <p:cNvPr id="4" name="Text 1"/>
          <p:cNvSpPr/>
          <p:nvPr/>
        </p:nvSpPr>
        <p:spPr>
          <a:xfrm>
            <a:off x="805101" y="5443299"/>
            <a:ext cx="7533799" cy="368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8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Exploraremos el diseño de reportes y análisis visuales.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05101" y="6070044"/>
            <a:ext cx="7533799" cy="368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8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Objetivo: crear reportes claros, directos y accionables.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805101" y="6714053"/>
            <a:ext cx="368022" cy="368022"/>
          </a:xfrm>
          <a:prstGeom prst="roundRect">
            <a:avLst>
              <a:gd name="adj" fmla="val 24843856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1101447"/>
            <a:ext cx="7415927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6050"/>
              </a:lnSpc>
              <a:buNone/>
            </a:pPr>
            <a:r>
              <a:rPr lang="en-US" sz="48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Importancia de los Reportes Visuales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864037" y="3292435"/>
            <a:ext cx="555427" cy="555427"/>
          </a:xfrm>
          <a:prstGeom prst="roundRect">
            <a:avLst>
              <a:gd name="adj" fmla="val 6668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5" name="Text 2"/>
          <p:cNvSpPr/>
          <p:nvPr/>
        </p:nvSpPr>
        <p:spPr>
          <a:xfrm>
            <a:off x="1054894" y="3384947"/>
            <a:ext cx="173712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1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1666280" y="3292435"/>
            <a:ext cx="3102173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Comprensión Rápida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666280" y="3826312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Facilitan entendimiento de datos complejos.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64037" y="4745831"/>
            <a:ext cx="555427" cy="555427"/>
          </a:xfrm>
          <a:prstGeom prst="roundRect">
            <a:avLst>
              <a:gd name="adj" fmla="val 6668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9" name="Text 6"/>
          <p:cNvSpPr/>
          <p:nvPr/>
        </p:nvSpPr>
        <p:spPr>
          <a:xfrm>
            <a:off x="1038701" y="4838343"/>
            <a:ext cx="205978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2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1666280" y="4745831"/>
            <a:ext cx="3906441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Identificación de Patrones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666280" y="5279708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Ayudan a reconocer tendencias importantes.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864037" y="6199227"/>
            <a:ext cx="555427" cy="555427"/>
          </a:xfrm>
          <a:prstGeom prst="roundRect">
            <a:avLst>
              <a:gd name="adj" fmla="val 6668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3" name="Text 10"/>
          <p:cNvSpPr/>
          <p:nvPr/>
        </p:nvSpPr>
        <p:spPr>
          <a:xfrm>
            <a:off x="1037630" y="6291739"/>
            <a:ext cx="208121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3</a:t>
            </a:r>
            <a:endParaRPr lang="en-US" sz="2900" dirty="0"/>
          </a:p>
        </p:txBody>
      </p:sp>
      <p:sp>
        <p:nvSpPr>
          <p:cNvPr id="14" name="Text 11"/>
          <p:cNvSpPr/>
          <p:nvPr/>
        </p:nvSpPr>
        <p:spPr>
          <a:xfrm>
            <a:off x="1666280" y="6199227"/>
            <a:ext cx="3181231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Mejora de Decisiones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666280" y="6733103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Permiten respuestas oportunas y decisiones informadas.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212300"/>
            <a:ext cx="12902327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6050"/>
              </a:lnSpc>
              <a:buNone/>
            </a:pPr>
            <a:r>
              <a:rPr lang="en-US" sz="48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Elementos Clave de un Buen Reporte Visual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4037" y="4372451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Claridad y Enfoque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4037" y="5005030"/>
            <a:ext cx="389882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Información presentada de manera concisa y directa.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372695" y="4372451"/>
            <a:ext cx="3292554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Contexto y Relevancia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72695" y="5005030"/>
            <a:ext cx="389882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Datos pertinentes para la audiencia específica.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881354" y="4372451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Accionabilidad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881354" y="5005030"/>
            <a:ext cx="389882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Facilita interpretación para tomar decisiones inmediatas.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17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84451" y="469940"/>
            <a:ext cx="6958013" cy="533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200"/>
              </a:lnSpc>
              <a:buNone/>
            </a:pPr>
            <a:r>
              <a:rPr lang="en-US" sz="33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Selección del Tipo de Visualización</a:t>
            </a:r>
            <a:endParaRPr lang="en-US" sz="33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4451" y="1260277"/>
            <a:ext cx="427196" cy="42719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84451" y="1858328"/>
            <a:ext cx="2136100" cy="266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Comparaciones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6084451" y="2227778"/>
            <a:ext cx="7947898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Gráficos de barras y columnas.</a:t>
            </a:r>
            <a:endParaRPr lang="en-US" sz="1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4451" y="3013829"/>
            <a:ext cx="427196" cy="42719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084451" y="3611880"/>
            <a:ext cx="2394823" cy="266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Tendencias Temporales</a:t>
            </a:r>
            <a:endParaRPr lang="en-US" sz="1650" dirty="0"/>
          </a:p>
        </p:txBody>
      </p:sp>
      <p:sp>
        <p:nvSpPr>
          <p:cNvPr id="9" name="Text 4"/>
          <p:cNvSpPr/>
          <p:nvPr/>
        </p:nvSpPr>
        <p:spPr>
          <a:xfrm>
            <a:off x="6084451" y="3981331"/>
            <a:ext cx="7947898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Gráficos de líneas.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4451" y="4767382"/>
            <a:ext cx="427196" cy="42719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84451" y="5365432"/>
            <a:ext cx="2136100" cy="266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Detalles Numéricos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6084451" y="5734883"/>
            <a:ext cx="7947898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Tablas para información específica.</a:t>
            </a:r>
            <a:endParaRPr lang="en-US" sz="13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4451" y="6520934"/>
            <a:ext cx="427196" cy="42719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084451" y="7118985"/>
            <a:ext cx="2136100" cy="266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Correlaciones</a:t>
            </a:r>
            <a:endParaRPr lang="en-US" sz="1650" dirty="0"/>
          </a:p>
        </p:txBody>
      </p:sp>
      <p:sp>
        <p:nvSpPr>
          <p:cNvPr id="15" name="Text 8"/>
          <p:cNvSpPr/>
          <p:nvPr/>
        </p:nvSpPr>
        <p:spPr>
          <a:xfrm>
            <a:off x="6084451" y="7488436"/>
            <a:ext cx="7947898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Gráficos de dispersión.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079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9711" y="607576"/>
            <a:ext cx="7597378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3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Diseño Enfocado en la Toma de Decisiones</a:t>
            </a:r>
            <a:endParaRPr lang="en-US" sz="4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711" y="2320052"/>
            <a:ext cx="1104781" cy="17677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95843" y="2540913"/>
            <a:ext cx="2762131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Destacar KPIs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7695843" y="3018711"/>
            <a:ext cx="6161246" cy="353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Resaltar indicadores clave de rendimiento.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9711" y="4087773"/>
            <a:ext cx="1104781" cy="176772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95843" y="4308634"/>
            <a:ext cx="2762131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Jerarquía Visual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7695843" y="4786432"/>
            <a:ext cx="6161246" cy="353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Usar colores para resaltar información importante.</a:t>
            </a:r>
            <a:endParaRPr lang="en-US" sz="1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9711" y="5855494"/>
            <a:ext cx="1104781" cy="176772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95843" y="6076355"/>
            <a:ext cx="3854529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Insights y Recomendaciones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7695843" y="6554153"/>
            <a:ext cx="6161246" cy="353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Enfatizar conclusiones y acciones sugeridas.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927021"/>
            <a:ext cx="8283773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6050"/>
              </a:lnSpc>
              <a:buNone/>
            </a:pPr>
            <a:r>
              <a:rPr lang="en-US" sz="48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Ejemplo de Reporte Efectivo</a:t>
            </a:r>
            <a:endParaRPr lang="en-US" sz="4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37" y="2192298"/>
            <a:ext cx="6266021" cy="38726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4037" y="6373535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Antes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64037" y="6907411"/>
            <a:ext cx="626602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Reporte complejo con exceso de información.</a:t>
            </a:r>
            <a:endParaRPr lang="en-US" sz="1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0342" y="2192298"/>
            <a:ext cx="6266021" cy="387262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00342" y="6373535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Después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7500342" y="6907411"/>
            <a:ext cx="626602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Reporte simplificado con datos esenciales destacados.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2592" y="577810"/>
            <a:ext cx="7678817" cy="1308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150"/>
              </a:lnSpc>
              <a:buNone/>
            </a:pPr>
            <a:r>
              <a:rPr lang="en-US" sz="41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Buenas Prácticas en Diseño de Reportes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732592" y="2199799"/>
            <a:ext cx="7678817" cy="1205984"/>
          </a:xfrm>
          <a:prstGeom prst="roundRect">
            <a:avLst>
              <a:gd name="adj" fmla="val 2604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5" name="Text 2"/>
          <p:cNvSpPr/>
          <p:nvPr/>
        </p:nvSpPr>
        <p:spPr>
          <a:xfrm>
            <a:off x="941903" y="2409111"/>
            <a:ext cx="2616637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20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Evitar Decoración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941903" y="2861667"/>
            <a:ext cx="7260193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 usar gráficos innecesarios o decorativos.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2592" y="3615095"/>
            <a:ext cx="7678817" cy="1205984"/>
          </a:xfrm>
          <a:prstGeom prst="roundRect">
            <a:avLst>
              <a:gd name="adj" fmla="val 2604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8" name="Text 5"/>
          <p:cNvSpPr/>
          <p:nvPr/>
        </p:nvSpPr>
        <p:spPr>
          <a:xfrm>
            <a:off x="941903" y="3824407"/>
            <a:ext cx="3097649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20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Uso Estratégico del Color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941903" y="4276963"/>
            <a:ext cx="7260193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Colores para destacar sin saturar.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32592" y="5030391"/>
            <a:ext cx="7678817" cy="1205984"/>
          </a:xfrm>
          <a:prstGeom prst="roundRect">
            <a:avLst>
              <a:gd name="adj" fmla="val 2604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1" name="Text 8"/>
          <p:cNvSpPr/>
          <p:nvPr/>
        </p:nvSpPr>
        <p:spPr>
          <a:xfrm>
            <a:off x="941903" y="5239703"/>
            <a:ext cx="2616637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20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Consistencia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941903" y="5692259"/>
            <a:ext cx="7260193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Mantener diseño coherente en todo el reporte.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32592" y="6445687"/>
            <a:ext cx="7678817" cy="1205984"/>
          </a:xfrm>
          <a:prstGeom prst="roundRect">
            <a:avLst>
              <a:gd name="adj" fmla="val 2604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4" name="Text 11"/>
          <p:cNvSpPr/>
          <p:nvPr/>
        </p:nvSpPr>
        <p:spPr>
          <a:xfrm>
            <a:off x="941903" y="6654998"/>
            <a:ext cx="2616637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20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Contexto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941903" y="7107555"/>
            <a:ext cx="7260193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Incluir anotaciones explicativas para mejor comprensión.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1688068"/>
            <a:ext cx="7415927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6050"/>
              </a:lnSpc>
              <a:buNone/>
            </a:pPr>
            <a:r>
              <a:rPr lang="en-US" sz="48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Evaluación de Eficacia del Reporte Visual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864037" y="3601403"/>
            <a:ext cx="7415927" cy="2940129"/>
          </a:xfrm>
          <a:prstGeom prst="roundRect">
            <a:avLst>
              <a:gd name="adj" fmla="val 1260"/>
            </a:avLst>
          </a:prstGeom>
          <a:noFill/>
          <a:ln w="1524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Shape 2"/>
          <p:cNvSpPr/>
          <p:nvPr/>
        </p:nvSpPr>
        <p:spPr>
          <a:xfrm>
            <a:off x="879277" y="3616643"/>
            <a:ext cx="7385447" cy="70651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6" name="Text 3"/>
          <p:cNvSpPr/>
          <p:nvPr/>
        </p:nvSpPr>
        <p:spPr>
          <a:xfrm>
            <a:off x="1126093" y="3772376"/>
            <a:ext cx="319528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Claridad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822627" y="3772376"/>
            <a:ext cx="319528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¿Es fácil de entender?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79277" y="4323159"/>
            <a:ext cx="7385447" cy="110156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9" name="Text 6"/>
          <p:cNvSpPr/>
          <p:nvPr/>
        </p:nvSpPr>
        <p:spPr>
          <a:xfrm>
            <a:off x="1126093" y="4478893"/>
            <a:ext cx="319528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Relevancia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4822627" y="4478893"/>
            <a:ext cx="319528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¿Muestra información importante?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879277" y="5424726"/>
            <a:ext cx="7385447" cy="110156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2" name="Text 9"/>
          <p:cNvSpPr/>
          <p:nvPr/>
        </p:nvSpPr>
        <p:spPr>
          <a:xfrm>
            <a:off x="1126093" y="5580459"/>
            <a:ext cx="319528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Acción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4822627" y="5580459"/>
            <a:ext cx="319528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¿Permite tomar decisiones basadas en datos?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7958" y="994529"/>
            <a:ext cx="7528084" cy="1442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650"/>
              </a:lnSpc>
              <a:buNone/>
            </a:pPr>
            <a:r>
              <a:rPr lang="en-US" sz="45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Conclusión y Recomendaciones Finales</a:t>
            </a:r>
            <a:endParaRPr lang="en-US" sz="4500" dirty="0"/>
          </a:p>
        </p:txBody>
      </p:sp>
      <p:sp>
        <p:nvSpPr>
          <p:cNvPr id="4" name="Shape 1"/>
          <p:cNvSpPr/>
          <p:nvPr/>
        </p:nvSpPr>
        <p:spPr>
          <a:xfrm>
            <a:off x="1138952" y="2783324"/>
            <a:ext cx="30480" cy="4451628"/>
          </a:xfrm>
          <a:prstGeom prst="roundRect">
            <a:avLst>
              <a:gd name="adj" fmla="val 113610"/>
            </a:avLst>
          </a:prstGeom>
          <a:solidFill>
            <a:srgbClr val="D9D4C9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5" name="Shape 2"/>
          <p:cNvSpPr/>
          <p:nvPr/>
        </p:nvSpPr>
        <p:spPr>
          <a:xfrm>
            <a:off x="1383387" y="3287435"/>
            <a:ext cx="807958" cy="30480"/>
          </a:xfrm>
          <a:prstGeom prst="roundRect">
            <a:avLst>
              <a:gd name="adj" fmla="val 113610"/>
            </a:avLst>
          </a:prstGeom>
          <a:solidFill>
            <a:srgbClr val="D9D4C9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6" name="Shape 3"/>
          <p:cNvSpPr/>
          <p:nvPr/>
        </p:nvSpPr>
        <p:spPr>
          <a:xfrm>
            <a:off x="894517" y="3042999"/>
            <a:ext cx="519351" cy="519351"/>
          </a:xfrm>
          <a:prstGeom prst="roundRect">
            <a:avLst>
              <a:gd name="adj" fmla="val 6668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7" name="Text 4"/>
          <p:cNvSpPr/>
          <p:nvPr/>
        </p:nvSpPr>
        <p:spPr>
          <a:xfrm>
            <a:off x="1072991" y="3129558"/>
            <a:ext cx="162401" cy="34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7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1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2423874" y="3014067"/>
            <a:ext cx="2885599" cy="360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Resumen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2423874" y="3513296"/>
            <a:ext cx="5912168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Recapitulación de mejores prácticas discutidas.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383387" y="4848225"/>
            <a:ext cx="807958" cy="30480"/>
          </a:xfrm>
          <a:prstGeom prst="roundRect">
            <a:avLst>
              <a:gd name="adj" fmla="val 113610"/>
            </a:avLst>
          </a:prstGeom>
          <a:solidFill>
            <a:srgbClr val="D9D4C9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1" name="Shape 8"/>
          <p:cNvSpPr/>
          <p:nvPr/>
        </p:nvSpPr>
        <p:spPr>
          <a:xfrm>
            <a:off x="894517" y="4603790"/>
            <a:ext cx="519351" cy="519351"/>
          </a:xfrm>
          <a:prstGeom prst="roundRect">
            <a:avLst>
              <a:gd name="adj" fmla="val 6668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2" name="Text 9"/>
          <p:cNvSpPr/>
          <p:nvPr/>
        </p:nvSpPr>
        <p:spPr>
          <a:xfrm>
            <a:off x="1057870" y="4690348"/>
            <a:ext cx="192524" cy="34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7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2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2423874" y="4574858"/>
            <a:ext cx="2885599" cy="360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Importancia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2423874" y="5074087"/>
            <a:ext cx="5912168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Enfatizar diseño centrado en la decisión.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383387" y="6409015"/>
            <a:ext cx="807958" cy="30480"/>
          </a:xfrm>
          <a:prstGeom prst="roundRect">
            <a:avLst>
              <a:gd name="adj" fmla="val 113610"/>
            </a:avLst>
          </a:prstGeom>
          <a:solidFill>
            <a:srgbClr val="D9D4C9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6" name="Shape 13"/>
          <p:cNvSpPr/>
          <p:nvPr/>
        </p:nvSpPr>
        <p:spPr>
          <a:xfrm>
            <a:off x="894517" y="6164580"/>
            <a:ext cx="519351" cy="519351"/>
          </a:xfrm>
          <a:prstGeom prst="roundRect">
            <a:avLst>
              <a:gd name="adj" fmla="val 6668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7" name="Text 14"/>
          <p:cNvSpPr/>
          <p:nvPr/>
        </p:nvSpPr>
        <p:spPr>
          <a:xfrm>
            <a:off x="1056799" y="6251138"/>
            <a:ext cx="194667" cy="34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7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3</a:t>
            </a:r>
            <a:endParaRPr lang="en-US" sz="2700" dirty="0"/>
          </a:p>
        </p:txBody>
      </p:sp>
      <p:sp>
        <p:nvSpPr>
          <p:cNvPr id="18" name="Text 15"/>
          <p:cNvSpPr/>
          <p:nvPr/>
        </p:nvSpPr>
        <p:spPr>
          <a:xfrm>
            <a:off x="2423874" y="6135648"/>
            <a:ext cx="2885599" cy="360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Implementación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2423874" y="6634877"/>
            <a:ext cx="5912168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Invitación a aplicar principios en reportes propios.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294</Words>
  <Application>Microsoft Office PowerPoint</Application>
  <PresentationFormat>Personalizado</PresentationFormat>
  <Paragraphs>76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Source Sans Pro</vt:lpstr>
      <vt:lpstr>Arial</vt:lpstr>
      <vt:lpstr>MuseoModerno Medium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Luis B</cp:lastModifiedBy>
  <cp:revision>2</cp:revision>
  <dcterms:created xsi:type="dcterms:W3CDTF">2024-11-04T02:17:38Z</dcterms:created>
  <dcterms:modified xsi:type="dcterms:W3CDTF">2024-11-04T02:52:33Z</dcterms:modified>
</cp:coreProperties>
</file>