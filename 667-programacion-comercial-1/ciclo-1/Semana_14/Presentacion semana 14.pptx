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Roboto Medium"/>
      <p:regular r:id="rId15"/>
    </p:embeddedFont>
    <p:embeddedFont>
      <p:font typeface="Roboto Medium"/>
      <p:regular r:id="rId16"/>
    </p:embeddedFont>
    <p:embeddedFont>
      <p:font typeface="Roboto Medium"/>
      <p:regular r:id="rId17"/>
    </p:embeddedFont>
    <p:embeddedFont>
      <p:font typeface="Roboto Medium"/>
      <p:regular r:id="rId18"/>
    </p:embeddedFont>
    <p:embeddedFont>
      <p:font typeface="Roboto"/>
      <p:regular r:id="rId19"/>
    </p:embeddedFont>
    <p:embeddedFont>
      <p:font typeface="Roboto"/>
      <p:regular r:id="rId20"/>
    </p:embeddedFont>
    <p:embeddedFont>
      <p:font typeface="Roboto"/>
      <p:regular r:id="rId21"/>
    </p:embeddedFont>
    <p:embeddedFont>
      <p:font typeface="Roboto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Relationship Id="rId21" Type="http://schemas.openxmlformats.org/officeDocument/2006/relationships/font" Target="fonts/font7.fntdata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914644"/>
            <a:ext cx="755642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Cierre y Evaluación del Proyecto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793790" y="4211241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cierre y la evaluación de un proyecto son etapas cruciales para asegurar el éxito y aprender lecciones valiosas para futuros proyectos. Este proceso permite analizar el desempeño, medir el cumplimiento de objetivos y reconocer el esfuerzo del equipo.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5934908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410" y="5942528"/>
            <a:ext cx="347663" cy="3476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70040" y="5918002"/>
            <a:ext cx="3652480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por Programacion Comercial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58509"/>
            <a:ext cx="1002542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Evaluación del desempeño del proyecto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Indicadores Clave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21540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Revisar métricas como presupuesto, cronograma, calidad, satisfacción del cliente y otros KPIs importantes para medir el desempeño general.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Análisis de Datos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215408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Recopilar y analizar datos relevantes para identificar áreas de mejora y oportunidades de optimización.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Lecciones Aprendidas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215408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Documentar las experiencias y aprendizajes obtenidos durante el proyecto para aplicarlos en el futuro.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909298"/>
            <a:ext cx="1139023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Evaluación del cumplimiento de los objetivos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521339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52262" y="5298400"/>
            <a:ext cx="193358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52133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Objetivos Claros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5703808"/>
            <a:ext cx="345924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Verificar que los objetivos del proyecto fueron definidos de manera precisa y medible.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521339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75434" y="5298400"/>
            <a:ext cx="193358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954078" y="52133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Análisis de Logros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954078" y="5703808"/>
            <a:ext cx="345924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Evaluar en qué medida se alcanzaron los objetivos planteados y documentar los resultados.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9640133" y="521339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98606" y="5298400"/>
            <a:ext cx="193358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0377249" y="5213390"/>
            <a:ext cx="321647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Identificación de Brechas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0377249" y="5703808"/>
            <a:ext cx="345924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Reconocer áreas donde no se cumplieron las metas y analizar las razones para mejoras futuras.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1163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Análisis del desempeño del equipo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469356"/>
            <a:ext cx="3664863" cy="2410897"/>
          </a:xfrm>
          <a:prstGeom prst="roundRect">
            <a:avLst>
              <a:gd name="adj" fmla="val 3952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4" y="2703790"/>
            <a:ext cx="290536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Comunicación Efectiva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3194209"/>
            <a:ext cx="31959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Evaluar la calidad de la comunicación entre los miembros del equipo y con las partes interesadas.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467" y="2469356"/>
            <a:ext cx="3664863" cy="2410897"/>
          </a:xfrm>
          <a:prstGeom prst="roundRect">
            <a:avLst>
              <a:gd name="adj" fmla="val 3952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19901" y="27037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Trabajo en Equipo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19901" y="3194209"/>
            <a:ext cx="31959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Analizar la dinámica grupal, la colaboración y la capacidad de resolver problemas en conjunto.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107067"/>
            <a:ext cx="3664863" cy="2410897"/>
          </a:xfrm>
          <a:prstGeom prst="roundRect">
            <a:avLst>
              <a:gd name="adj" fmla="val 3952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8224" y="53415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Desarrollo Profesional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8224" y="5831919"/>
            <a:ext cx="31959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Identificar oportunidades de crecimiento y capacitación para fortalecer las habilidades del equipo.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4685467" y="5107067"/>
            <a:ext cx="3664863" cy="2410897"/>
          </a:xfrm>
          <a:prstGeom prst="roundRect">
            <a:avLst>
              <a:gd name="adj" fmla="val 3952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19901" y="53415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Motivación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919901" y="5831919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Evaluar el nivel de compromiso, entusiasmo y satisfacción de los miembros del equipo.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92762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Informe final del proyecto en Microsoft Project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685342"/>
            <a:ext cx="7556421" cy="2616518"/>
          </a:xfrm>
          <a:prstGeom prst="roundRect">
            <a:avLst>
              <a:gd name="adj" fmla="val 3641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01410" y="3692962"/>
            <a:ext cx="75411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028224" y="3836670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Presupuesto Final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02624" y="3836670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$120,000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801410" y="4343281"/>
            <a:ext cx="75411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028224" y="4486989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Duración Total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4802624" y="4486989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 meses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801410" y="4993600"/>
            <a:ext cx="75411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028224" y="5137309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Tareas Completadas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4802624" y="5137309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98%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801410" y="5643920"/>
            <a:ext cx="75411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1028224" y="5787628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Satisfacción del Cliente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4802624" y="5787628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Excelente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3073" y="608290"/>
            <a:ext cx="7597854" cy="1380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Lecciones aprendidas y mejoras para el futuro</a:t>
            </a:r>
            <a:endParaRPr lang="en-US" sz="43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073" y="2319933"/>
            <a:ext cx="1104424" cy="176712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08728" y="2540794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Gestión de Recursos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2208728" y="3018353"/>
            <a:ext cx="6162199" cy="70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Mejorar la planificación y asignación de recursos humanos y materiales.</a:t>
            </a:r>
            <a:endParaRPr lang="en-US" sz="17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073" y="4087058"/>
            <a:ext cx="1104424" cy="176712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208728" y="4307919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Comunicación</a:t>
            </a:r>
            <a:endParaRPr lang="en-US" sz="2150" dirty="0"/>
          </a:p>
        </p:txBody>
      </p:sp>
      <p:sp>
        <p:nvSpPr>
          <p:cNvPr id="9" name="Text 4"/>
          <p:cNvSpPr/>
          <p:nvPr/>
        </p:nvSpPr>
        <p:spPr>
          <a:xfrm>
            <a:off x="2208728" y="4785479"/>
            <a:ext cx="6162199" cy="70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Fortalecer los canales de comunicación entre el equipo y las partes interesadas.</a:t>
            </a:r>
            <a:endParaRPr lang="en-US" sz="17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073" y="5854184"/>
            <a:ext cx="1104424" cy="176712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208728" y="6075045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Gestión de Riesgos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2208728" y="6552605"/>
            <a:ext cx="6162199" cy="70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Implementar un proceso más robusto de identificación y mitigación de riesgos.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2711" y="722352"/>
            <a:ext cx="7318058" cy="654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150"/>
              </a:lnSpc>
              <a:buNone/>
            </a:pPr>
            <a:r>
              <a:rPr lang="en-US" sz="41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Reconocimiento y cierre formal</a:t>
            </a:r>
            <a:endParaRPr lang="en-US" sz="41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711" y="1690568"/>
            <a:ext cx="523399" cy="52339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2711" y="2423279"/>
            <a:ext cx="2616994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Reconocimiento</a:t>
            </a:r>
            <a:endParaRPr lang="en-US" sz="2050" dirty="0"/>
          </a:p>
        </p:txBody>
      </p:sp>
      <p:sp>
        <p:nvSpPr>
          <p:cNvPr id="6" name="Text 2"/>
          <p:cNvSpPr/>
          <p:nvPr/>
        </p:nvSpPr>
        <p:spPr>
          <a:xfrm>
            <a:off x="732711" y="2875955"/>
            <a:ext cx="7678579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Celebrar los logros del equipo y reconocer su esfuerzo y dedicación.</a:t>
            </a:r>
            <a:endParaRPr lang="en-US" sz="16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11" y="3838813"/>
            <a:ext cx="523399" cy="52339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2711" y="4571524"/>
            <a:ext cx="2616994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Cierre Formal</a:t>
            </a:r>
            <a:endParaRPr lang="en-US" sz="2050" dirty="0"/>
          </a:p>
        </p:txBody>
      </p:sp>
      <p:sp>
        <p:nvSpPr>
          <p:cNvPr id="9" name="Text 4"/>
          <p:cNvSpPr/>
          <p:nvPr/>
        </p:nvSpPr>
        <p:spPr>
          <a:xfrm>
            <a:off x="732711" y="5024199"/>
            <a:ext cx="7678579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Realizar una reunión de cierre para formalizar la finalización del proyecto.</a:t>
            </a:r>
            <a:endParaRPr lang="en-US" sz="16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711" y="5987058"/>
            <a:ext cx="523399" cy="52339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32711" y="6719768"/>
            <a:ext cx="2616994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Próximos Pasos</a:t>
            </a:r>
            <a:endParaRPr lang="en-US" sz="2050" dirty="0"/>
          </a:p>
        </p:txBody>
      </p:sp>
      <p:sp>
        <p:nvSpPr>
          <p:cNvPr id="12" name="Text 6"/>
          <p:cNvSpPr/>
          <p:nvPr/>
        </p:nvSpPr>
        <p:spPr>
          <a:xfrm>
            <a:off x="732711" y="7172444"/>
            <a:ext cx="7678579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Definir las siguientes acciones a seguir y mantener la continuidad.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5242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6755" y="3080147"/>
            <a:ext cx="7127557" cy="631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950"/>
              </a:lnSpc>
              <a:buNone/>
            </a:pPr>
            <a:r>
              <a:rPr lang="en-US" sz="39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Próximos pasos y conclusiones</a:t>
            </a:r>
            <a:endParaRPr lang="en-US" sz="3950" dirty="0"/>
          </a:p>
        </p:txBody>
      </p:sp>
      <p:sp>
        <p:nvSpPr>
          <p:cNvPr id="4" name="Shape 1"/>
          <p:cNvSpPr/>
          <p:nvPr/>
        </p:nvSpPr>
        <p:spPr>
          <a:xfrm>
            <a:off x="706755" y="6005393"/>
            <a:ext cx="13216890" cy="22860"/>
          </a:xfrm>
          <a:prstGeom prst="roundRect">
            <a:avLst>
              <a:gd name="adj" fmla="val 371025"/>
            </a:avLst>
          </a:prstGeom>
          <a:solidFill>
            <a:srgbClr val="313E80"/>
          </a:solidFill>
          <a:ln/>
        </p:spPr>
      </p:sp>
      <p:sp>
        <p:nvSpPr>
          <p:cNvPr id="5" name="Shape 2"/>
          <p:cNvSpPr/>
          <p:nvPr/>
        </p:nvSpPr>
        <p:spPr>
          <a:xfrm>
            <a:off x="3949065" y="5298638"/>
            <a:ext cx="22860" cy="706755"/>
          </a:xfrm>
          <a:prstGeom prst="roundRect">
            <a:avLst>
              <a:gd name="adj" fmla="val 371025"/>
            </a:avLst>
          </a:prstGeom>
          <a:solidFill>
            <a:srgbClr val="313E80"/>
          </a:solidFill>
          <a:ln/>
        </p:spPr>
      </p:sp>
      <p:sp>
        <p:nvSpPr>
          <p:cNvPr id="6" name="Shape 3"/>
          <p:cNvSpPr/>
          <p:nvPr/>
        </p:nvSpPr>
        <p:spPr>
          <a:xfrm>
            <a:off x="3733324" y="5778222"/>
            <a:ext cx="454343" cy="454343"/>
          </a:xfrm>
          <a:prstGeom prst="roundRect">
            <a:avLst>
              <a:gd name="adj" fmla="val 18668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74413" y="5853946"/>
            <a:ext cx="172164" cy="302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</a:t>
            </a:r>
            <a:endParaRPr lang="en-US" sz="2350" dirty="0"/>
          </a:p>
        </p:txBody>
      </p:sp>
      <p:sp>
        <p:nvSpPr>
          <p:cNvPr id="8" name="Text 5"/>
          <p:cNvSpPr/>
          <p:nvPr/>
        </p:nvSpPr>
        <p:spPr>
          <a:xfrm>
            <a:off x="2698313" y="4337090"/>
            <a:ext cx="2524244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Aplicar Lecciones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908685" y="4773692"/>
            <a:ext cx="6103620" cy="323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Implementar las mejoras identificadas en futuros proyectos.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7303770" y="6005393"/>
            <a:ext cx="22860" cy="706755"/>
          </a:xfrm>
          <a:prstGeom prst="roundRect">
            <a:avLst>
              <a:gd name="adj" fmla="val 371025"/>
            </a:avLst>
          </a:prstGeom>
          <a:solidFill>
            <a:srgbClr val="313E80"/>
          </a:solidFill>
          <a:ln/>
        </p:spPr>
      </p:sp>
      <p:sp>
        <p:nvSpPr>
          <p:cNvPr id="11" name="Shape 8"/>
          <p:cNvSpPr/>
          <p:nvPr/>
        </p:nvSpPr>
        <p:spPr>
          <a:xfrm>
            <a:off x="7088029" y="5778222"/>
            <a:ext cx="454343" cy="454343"/>
          </a:xfrm>
          <a:prstGeom prst="roundRect">
            <a:avLst>
              <a:gd name="adj" fmla="val 18668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29118" y="5853946"/>
            <a:ext cx="172164" cy="302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</a:t>
            </a:r>
            <a:endParaRPr lang="en-US" sz="2350" dirty="0"/>
          </a:p>
        </p:txBody>
      </p:sp>
      <p:sp>
        <p:nvSpPr>
          <p:cNvPr id="13" name="Text 10"/>
          <p:cNvSpPr/>
          <p:nvPr/>
        </p:nvSpPr>
        <p:spPr>
          <a:xfrm>
            <a:off x="6053018" y="6914078"/>
            <a:ext cx="2524244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Seguimiento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4263390" y="7350681"/>
            <a:ext cx="6103620" cy="323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Monitorear el impacto y los resultados a largo plazo del proyecto.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10658475" y="5298638"/>
            <a:ext cx="22860" cy="706755"/>
          </a:xfrm>
          <a:prstGeom prst="roundRect">
            <a:avLst>
              <a:gd name="adj" fmla="val 371025"/>
            </a:avLst>
          </a:prstGeom>
          <a:solidFill>
            <a:srgbClr val="313E80"/>
          </a:solidFill>
          <a:ln/>
        </p:spPr>
      </p:sp>
      <p:sp>
        <p:nvSpPr>
          <p:cNvPr id="16" name="Shape 13"/>
          <p:cNvSpPr/>
          <p:nvPr/>
        </p:nvSpPr>
        <p:spPr>
          <a:xfrm>
            <a:off x="10442734" y="5778222"/>
            <a:ext cx="454343" cy="454343"/>
          </a:xfrm>
          <a:prstGeom prst="roundRect">
            <a:avLst>
              <a:gd name="adj" fmla="val 18668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583823" y="5853946"/>
            <a:ext cx="172164" cy="302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3</a:t>
            </a:r>
            <a:endParaRPr lang="en-US" sz="2350" dirty="0"/>
          </a:p>
        </p:txBody>
      </p:sp>
      <p:sp>
        <p:nvSpPr>
          <p:cNvPr id="18" name="Text 15"/>
          <p:cNvSpPr/>
          <p:nvPr/>
        </p:nvSpPr>
        <p:spPr>
          <a:xfrm>
            <a:off x="9381887" y="4014073"/>
            <a:ext cx="2576036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Nuevas Oportunidades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7618095" y="4450675"/>
            <a:ext cx="6103620" cy="646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Identificar posibles proyectos o iniciativas relacionadas que puedan surgir.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2024-11-04T02:46:25Z</dcterms:created>
  <dcterms:modified xsi:type="dcterms:W3CDTF">2024-11-04T02:46:25Z</dcterms:modified>
</cp:coreProperties>
</file>