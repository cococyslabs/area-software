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4630400" cy="8229600"/>
  <p:notesSz cx="8229600" cy="14630400"/>
  <p:embeddedFontLst>
    <p:embeddedFont>
      <p:font typeface="Inconsolata"/>
      <p:regular r:id="rId15"/>
    </p:embeddedFont>
    <p:embeddedFont>
      <p:font typeface="Inconsolata"/>
      <p:regular r:id="rId16"/>
    </p:embeddedFont>
    <p:embeddedFont>
      <p:font typeface="Fira Sans"/>
      <p:regular r:id="rId17"/>
    </p:embeddedFont>
    <p:embeddedFont>
      <p:font typeface="Fira Sans"/>
      <p:regular r:id="rId18"/>
    </p:embeddedFont>
    <p:embeddedFont>
      <p:font typeface="Fira Sans"/>
      <p:regular r:id="rId19"/>
    </p:embeddedFont>
    <p:embeddedFont>
      <p:font typeface="Fira Sans"/>
      <p:regular r:id="rId20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font" Target="fonts/font1.fntdata"/><Relationship Id="rId16" Type="http://schemas.openxmlformats.org/officeDocument/2006/relationships/font" Target="fonts/font2.fntdata"/><Relationship Id="rId17" Type="http://schemas.openxmlformats.org/officeDocument/2006/relationships/font" Target="fonts/font3.fntdata"/><Relationship Id="rId18" Type="http://schemas.openxmlformats.org/officeDocument/2006/relationships/font" Target="fonts/font4.fntdata"/><Relationship Id="rId19" Type="http://schemas.openxmlformats.org/officeDocument/2006/relationships/font" Target="fonts/font5.fntdata"/><Relationship Id="rId20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0C1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41631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0C1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41631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0C1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41631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0C1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41631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0C1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41631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0C1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41631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0C1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41631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0C1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41631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7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8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773311"/>
            <a:ext cx="7556421" cy="4891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7700"/>
              </a:lnSpc>
              <a:buNone/>
            </a:pPr>
            <a:r>
              <a:rPr lang="en-US" sz="6150" b="1" dirty="0">
                <a:solidFill>
                  <a:srgbClr val="F94CAF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Indicadores clave de desempeño (KPIs) y métricas relevantes en Power BI</a:t>
            </a:r>
            <a:endParaRPr lang="en-US" sz="6150" dirty="0"/>
          </a:p>
        </p:txBody>
      </p:sp>
      <p:sp>
        <p:nvSpPr>
          <p:cNvPr id="4" name="Text 1"/>
          <p:cNvSpPr/>
          <p:nvPr/>
        </p:nvSpPr>
        <p:spPr>
          <a:xfrm>
            <a:off x="793790" y="6004560"/>
            <a:ext cx="7556421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Los KPIs y las métricas son herramientas fundamentales para medir el rendimiento y el progreso de un negocio. Power BI ofrece funcionalidades avanzadas para recopilar, analizar y visualizar estos datos clave de manera efectiva.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111091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F94CAF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¿Qué son los KPIs y por qué son importantes?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6280190" y="3123962"/>
            <a:ext cx="510302" cy="510302"/>
          </a:xfrm>
          <a:prstGeom prst="roundRect">
            <a:avLst>
              <a:gd name="adj" fmla="val 6667"/>
            </a:avLst>
          </a:prstGeom>
          <a:solidFill>
            <a:srgbClr val="433550"/>
          </a:solidFill>
          <a:ln/>
        </p:spPr>
      </p:sp>
      <p:sp>
        <p:nvSpPr>
          <p:cNvPr id="5" name="Text 2"/>
          <p:cNvSpPr/>
          <p:nvPr/>
        </p:nvSpPr>
        <p:spPr>
          <a:xfrm>
            <a:off x="6450211" y="3208973"/>
            <a:ext cx="170140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1</a:t>
            </a:r>
            <a:endParaRPr lang="en-US" sz="2650" dirty="0"/>
          </a:p>
        </p:txBody>
      </p:sp>
      <p:sp>
        <p:nvSpPr>
          <p:cNvPr id="6" name="Text 3"/>
          <p:cNvSpPr/>
          <p:nvPr/>
        </p:nvSpPr>
        <p:spPr>
          <a:xfrm>
            <a:off x="7017306" y="312396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Definición de KPIs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7017306" y="3614380"/>
            <a:ext cx="2927747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Los KPIs son indicadores cuantificables que miden el rendimiento de un negocio en áreas clave.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10171867" y="3123962"/>
            <a:ext cx="510302" cy="510302"/>
          </a:xfrm>
          <a:prstGeom prst="roundRect">
            <a:avLst>
              <a:gd name="adj" fmla="val 6667"/>
            </a:avLst>
          </a:prstGeom>
          <a:solidFill>
            <a:srgbClr val="433550"/>
          </a:solidFill>
          <a:ln/>
        </p:spPr>
      </p:sp>
      <p:sp>
        <p:nvSpPr>
          <p:cNvPr id="9" name="Text 6"/>
          <p:cNvSpPr/>
          <p:nvPr/>
        </p:nvSpPr>
        <p:spPr>
          <a:xfrm>
            <a:off x="10341888" y="3208973"/>
            <a:ext cx="170140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2</a:t>
            </a:r>
            <a:endParaRPr lang="en-US" sz="2650" dirty="0"/>
          </a:p>
        </p:txBody>
      </p:sp>
      <p:sp>
        <p:nvSpPr>
          <p:cNvPr id="10" name="Text 7"/>
          <p:cNvSpPr/>
          <p:nvPr/>
        </p:nvSpPr>
        <p:spPr>
          <a:xfrm>
            <a:off x="10908983" y="3123962"/>
            <a:ext cx="2927747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Importancia de los KPIs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10908983" y="3968710"/>
            <a:ext cx="2927747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Permiten evaluar el progreso hacia objetivos estratégicos y tomar decisiones informadas.</a:t>
            </a:r>
            <a:endParaRPr lang="en-US" sz="1750" dirty="0"/>
          </a:p>
        </p:txBody>
      </p:sp>
      <p:sp>
        <p:nvSpPr>
          <p:cNvPr id="12" name="Shape 9"/>
          <p:cNvSpPr/>
          <p:nvPr/>
        </p:nvSpPr>
        <p:spPr>
          <a:xfrm>
            <a:off x="6280190" y="5902285"/>
            <a:ext cx="510302" cy="510302"/>
          </a:xfrm>
          <a:prstGeom prst="roundRect">
            <a:avLst>
              <a:gd name="adj" fmla="val 6667"/>
            </a:avLst>
          </a:prstGeom>
          <a:solidFill>
            <a:srgbClr val="433550"/>
          </a:solidFill>
          <a:ln/>
        </p:spPr>
      </p:sp>
      <p:sp>
        <p:nvSpPr>
          <p:cNvPr id="13" name="Text 10"/>
          <p:cNvSpPr/>
          <p:nvPr/>
        </p:nvSpPr>
        <p:spPr>
          <a:xfrm>
            <a:off x="6450211" y="5987296"/>
            <a:ext cx="170140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3</a:t>
            </a:r>
            <a:endParaRPr lang="en-US" sz="2650" dirty="0"/>
          </a:p>
        </p:txBody>
      </p:sp>
      <p:sp>
        <p:nvSpPr>
          <p:cNvPr id="14" name="Text 11"/>
          <p:cNvSpPr/>
          <p:nvPr/>
        </p:nvSpPr>
        <p:spPr>
          <a:xfrm>
            <a:off x="7017306" y="5902285"/>
            <a:ext cx="311717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Beneficios de los KPIs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7017306" y="6392704"/>
            <a:ext cx="681930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Mejoran la toma de decisiones, la optimización de procesos y el rendimiento general.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721412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F94CAF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Tipos de KPIs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99716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94CAF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Financieros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4578310"/>
            <a:ext cx="397811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Métricas como ingresos, margen de beneficio, flujo de caja, etc.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5332928" y="399716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94CAF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Marketing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332928" y="4578310"/>
            <a:ext cx="397811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Indicadores como tasa de clics, adquisición de clientes, retención, etc.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9872067" y="399716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94CAF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Otros KPIs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872067" y="4578310"/>
            <a:ext cx="397811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Productividad, satisfacción del cliente, métricas de RRHH, etc.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311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58044" y="606266"/>
            <a:ext cx="7600712" cy="13780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400"/>
              </a:lnSpc>
              <a:buNone/>
            </a:pPr>
            <a:r>
              <a:rPr lang="en-US" sz="4300" b="1" dirty="0">
                <a:solidFill>
                  <a:srgbClr val="F94CAF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Identificar los KPIs clave para su negocio</a:t>
            </a:r>
            <a:endParaRPr lang="en-US" sz="4300" dirty="0"/>
          </a:p>
        </p:txBody>
      </p:sp>
      <p:sp>
        <p:nvSpPr>
          <p:cNvPr id="4" name="Shape 1"/>
          <p:cNvSpPr/>
          <p:nvPr/>
        </p:nvSpPr>
        <p:spPr>
          <a:xfrm>
            <a:off x="6573441" y="2314932"/>
            <a:ext cx="30480" cy="5309949"/>
          </a:xfrm>
          <a:prstGeom prst="roundRect">
            <a:avLst>
              <a:gd name="adj" fmla="val 108513"/>
            </a:avLst>
          </a:prstGeom>
          <a:solidFill>
            <a:srgbClr val="5C4E69"/>
          </a:solidFill>
          <a:ln/>
        </p:spPr>
      </p:sp>
      <p:sp>
        <p:nvSpPr>
          <p:cNvPr id="5" name="Shape 2"/>
          <p:cNvSpPr/>
          <p:nvPr/>
        </p:nvSpPr>
        <p:spPr>
          <a:xfrm>
            <a:off x="6806208" y="2795707"/>
            <a:ext cx="771644" cy="30480"/>
          </a:xfrm>
          <a:prstGeom prst="roundRect">
            <a:avLst>
              <a:gd name="adj" fmla="val 108513"/>
            </a:avLst>
          </a:prstGeom>
          <a:solidFill>
            <a:srgbClr val="5C4E69"/>
          </a:solidFill>
          <a:ln/>
        </p:spPr>
      </p:sp>
      <p:sp>
        <p:nvSpPr>
          <p:cNvPr id="6" name="Shape 3"/>
          <p:cNvSpPr/>
          <p:nvPr/>
        </p:nvSpPr>
        <p:spPr>
          <a:xfrm>
            <a:off x="6340673" y="2562939"/>
            <a:ext cx="496014" cy="496014"/>
          </a:xfrm>
          <a:prstGeom prst="roundRect">
            <a:avLst>
              <a:gd name="adj" fmla="val 6668"/>
            </a:avLst>
          </a:prstGeom>
          <a:solidFill>
            <a:srgbClr val="433550"/>
          </a:solidFill>
          <a:ln/>
        </p:spPr>
      </p:sp>
      <p:sp>
        <p:nvSpPr>
          <p:cNvPr id="7" name="Text 4"/>
          <p:cNvSpPr/>
          <p:nvPr/>
        </p:nvSpPr>
        <p:spPr>
          <a:xfrm>
            <a:off x="6505932" y="2645569"/>
            <a:ext cx="165378" cy="3307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00"/>
              </a:lnSpc>
              <a:buNone/>
            </a:pPr>
            <a:r>
              <a:rPr lang="en-US" sz="260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1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7801332" y="2535317"/>
            <a:ext cx="2892862" cy="3444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Alinear con objetivos</a:t>
            </a:r>
            <a:endParaRPr lang="en-US" sz="2150" dirty="0"/>
          </a:p>
        </p:txBody>
      </p:sp>
      <p:sp>
        <p:nvSpPr>
          <p:cNvPr id="9" name="Text 6"/>
          <p:cNvSpPr/>
          <p:nvPr/>
        </p:nvSpPr>
        <p:spPr>
          <a:xfrm>
            <a:off x="7801332" y="3012043"/>
            <a:ext cx="6057424" cy="7055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0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Identificar KPIs que se alineen con los objetivos estratégicos del negocio.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6806208" y="4639151"/>
            <a:ext cx="771644" cy="30480"/>
          </a:xfrm>
          <a:prstGeom prst="roundRect">
            <a:avLst>
              <a:gd name="adj" fmla="val 108513"/>
            </a:avLst>
          </a:prstGeom>
          <a:solidFill>
            <a:srgbClr val="5C4E69"/>
          </a:solidFill>
          <a:ln/>
        </p:spPr>
      </p:sp>
      <p:sp>
        <p:nvSpPr>
          <p:cNvPr id="11" name="Shape 8"/>
          <p:cNvSpPr/>
          <p:nvPr/>
        </p:nvSpPr>
        <p:spPr>
          <a:xfrm>
            <a:off x="6340673" y="4406384"/>
            <a:ext cx="496014" cy="496014"/>
          </a:xfrm>
          <a:prstGeom prst="roundRect">
            <a:avLst>
              <a:gd name="adj" fmla="val 6668"/>
            </a:avLst>
          </a:prstGeom>
          <a:solidFill>
            <a:srgbClr val="433550"/>
          </a:solidFill>
          <a:ln/>
        </p:spPr>
      </p:sp>
      <p:sp>
        <p:nvSpPr>
          <p:cNvPr id="12" name="Text 9"/>
          <p:cNvSpPr/>
          <p:nvPr/>
        </p:nvSpPr>
        <p:spPr>
          <a:xfrm>
            <a:off x="6505932" y="4489013"/>
            <a:ext cx="165378" cy="3307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00"/>
              </a:lnSpc>
              <a:buNone/>
            </a:pPr>
            <a:r>
              <a:rPr lang="en-US" sz="260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2</a:t>
            </a:r>
            <a:endParaRPr lang="en-US" sz="2600" dirty="0"/>
          </a:p>
        </p:txBody>
      </p:sp>
      <p:sp>
        <p:nvSpPr>
          <p:cNvPr id="13" name="Text 10"/>
          <p:cNvSpPr/>
          <p:nvPr/>
        </p:nvSpPr>
        <p:spPr>
          <a:xfrm>
            <a:off x="7801332" y="4378762"/>
            <a:ext cx="3994904" cy="3444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Considerar partes interesadas</a:t>
            </a:r>
            <a:endParaRPr lang="en-US" sz="2150" dirty="0"/>
          </a:p>
        </p:txBody>
      </p:sp>
      <p:sp>
        <p:nvSpPr>
          <p:cNvPr id="14" name="Text 11"/>
          <p:cNvSpPr/>
          <p:nvPr/>
        </p:nvSpPr>
        <p:spPr>
          <a:xfrm>
            <a:off x="7801332" y="4855488"/>
            <a:ext cx="6057424" cy="7055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0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Tener en cuenta las necesidades y expectativas de clientes, empleados y socios.</a:t>
            </a:r>
            <a:endParaRPr lang="en-US" sz="1700" dirty="0"/>
          </a:p>
        </p:txBody>
      </p:sp>
      <p:sp>
        <p:nvSpPr>
          <p:cNvPr id="15" name="Shape 12"/>
          <p:cNvSpPr/>
          <p:nvPr/>
        </p:nvSpPr>
        <p:spPr>
          <a:xfrm>
            <a:off x="6806208" y="6482596"/>
            <a:ext cx="771644" cy="30480"/>
          </a:xfrm>
          <a:prstGeom prst="roundRect">
            <a:avLst>
              <a:gd name="adj" fmla="val 108513"/>
            </a:avLst>
          </a:prstGeom>
          <a:solidFill>
            <a:srgbClr val="5C4E69"/>
          </a:solidFill>
          <a:ln/>
        </p:spPr>
      </p:sp>
      <p:sp>
        <p:nvSpPr>
          <p:cNvPr id="16" name="Shape 13"/>
          <p:cNvSpPr/>
          <p:nvPr/>
        </p:nvSpPr>
        <p:spPr>
          <a:xfrm>
            <a:off x="6340673" y="6249829"/>
            <a:ext cx="496014" cy="496014"/>
          </a:xfrm>
          <a:prstGeom prst="roundRect">
            <a:avLst>
              <a:gd name="adj" fmla="val 6668"/>
            </a:avLst>
          </a:prstGeom>
          <a:solidFill>
            <a:srgbClr val="433550"/>
          </a:solidFill>
          <a:ln/>
        </p:spPr>
      </p:sp>
      <p:sp>
        <p:nvSpPr>
          <p:cNvPr id="17" name="Text 14"/>
          <p:cNvSpPr/>
          <p:nvPr/>
        </p:nvSpPr>
        <p:spPr>
          <a:xfrm>
            <a:off x="6505932" y="6332458"/>
            <a:ext cx="165378" cy="3307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00"/>
              </a:lnSpc>
              <a:buNone/>
            </a:pPr>
            <a:r>
              <a:rPr lang="en-US" sz="260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3</a:t>
            </a:r>
            <a:endParaRPr lang="en-US" sz="2600" dirty="0"/>
          </a:p>
        </p:txBody>
      </p:sp>
      <p:sp>
        <p:nvSpPr>
          <p:cNvPr id="18" name="Text 15"/>
          <p:cNvSpPr/>
          <p:nvPr/>
        </p:nvSpPr>
        <p:spPr>
          <a:xfrm>
            <a:off x="7801332" y="6222206"/>
            <a:ext cx="3168372" cy="3444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Priorizar y seleccionar</a:t>
            </a:r>
            <a:endParaRPr lang="en-US" sz="2150" dirty="0"/>
          </a:p>
        </p:txBody>
      </p:sp>
      <p:sp>
        <p:nvSpPr>
          <p:cNvPr id="19" name="Text 16"/>
          <p:cNvSpPr/>
          <p:nvPr/>
        </p:nvSpPr>
        <p:spPr>
          <a:xfrm>
            <a:off x="7801332" y="6698933"/>
            <a:ext cx="6057424" cy="7055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0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Elegir los KPIs más relevantes y con mayor impacto en el rendimiento.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82241" y="1138357"/>
            <a:ext cx="7579519" cy="1396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450"/>
              </a:lnSpc>
              <a:buNone/>
            </a:pPr>
            <a:r>
              <a:rPr lang="en-US" sz="4350" b="1" dirty="0">
                <a:solidFill>
                  <a:srgbClr val="F94CAF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Recolección y visualización de datos en Power BI</a:t>
            </a:r>
            <a:endParaRPr lang="en-US" sz="4350" dirty="0"/>
          </a:p>
        </p:txBody>
      </p:sp>
      <p:sp>
        <p:nvSpPr>
          <p:cNvPr id="4" name="Shape 1"/>
          <p:cNvSpPr/>
          <p:nvPr/>
        </p:nvSpPr>
        <p:spPr>
          <a:xfrm>
            <a:off x="782241" y="2870359"/>
            <a:ext cx="3678079" cy="1994535"/>
          </a:xfrm>
          <a:prstGeom prst="roundRect">
            <a:avLst>
              <a:gd name="adj" fmla="val 1681"/>
            </a:avLst>
          </a:prstGeom>
          <a:solidFill>
            <a:srgbClr val="433550"/>
          </a:solidFill>
          <a:ln/>
        </p:spPr>
      </p:sp>
      <p:sp>
        <p:nvSpPr>
          <p:cNvPr id="5" name="Text 2"/>
          <p:cNvSpPr/>
          <p:nvPr/>
        </p:nvSpPr>
        <p:spPr>
          <a:xfrm>
            <a:off x="1005721" y="3093839"/>
            <a:ext cx="3231118" cy="6984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Conectar fuentes de datos</a:t>
            </a:r>
            <a:endParaRPr lang="en-US" sz="2150" dirty="0"/>
          </a:p>
        </p:txBody>
      </p:sp>
      <p:sp>
        <p:nvSpPr>
          <p:cNvPr id="6" name="Text 3"/>
          <p:cNvSpPr/>
          <p:nvPr/>
        </p:nvSpPr>
        <p:spPr>
          <a:xfrm>
            <a:off x="1005721" y="3926324"/>
            <a:ext cx="3231118" cy="7150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Integrar diferentes sistemas y bases de datos en Power BI.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4683800" y="2870359"/>
            <a:ext cx="3678079" cy="1994535"/>
          </a:xfrm>
          <a:prstGeom prst="roundRect">
            <a:avLst>
              <a:gd name="adj" fmla="val 1681"/>
            </a:avLst>
          </a:prstGeom>
          <a:solidFill>
            <a:srgbClr val="433550"/>
          </a:solidFill>
          <a:ln/>
        </p:spPr>
      </p:sp>
      <p:sp>
        <p:nvSpPr>
          <p:cNvPr id="8" name="Text 5"/>
          <p:cNvSpPr/>
          <p:nvPr/>
        </p:nvSpPr>
        <p:spPr>
          <a:xfrm>
            <a:off x="4907280" y="3093839"/>
            <a:ext cx="2932867" cy="3492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Modelar y transformar</a:t>
            </a:r>
            <a:endParaRPr lang="en-US" sz="2150" dirty="0"/>
          </a:p>
        </p:txBody>
      </p:sp>
      <p:sp>
        <p:nvSpPr>
          <p:cNvPr id="9" name="Text 6"/>
          <p:cNvSpPr/>
          <p:nvPr/>
        </p:nvSpPr>
        <p:spPr>
          <a:xfrm>
            <a:off x="4907280" y="3577114"/>
            <a:ext cx="3231118" cy="7150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Limpiar, enriquecer y preparar los datos para su análisis.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782241" y="5088374"/>
            <a:ext cx="3678079" cy="2002869"/>
          </a:xfrm>
          <a:prstGeom prst="roundRect">
            <a:avLst>
              <a:gd name="adj" fmla="val 1674"/>
            </a:avLst>
          </a:prstGeom>
          <a:solidFill>
            <a:srgbClr val="433550"/>
          </a:solidFill>
          <a:ln/>
        </p:spPr>
      </p:sp>
      <p:sp>
        <p:nvSpPr>
          <p:cNvPr id="11" name="Text 8"/>
          <p:cNvSpPr/>
          <p:nvPr/>
        </p:nvSpPr>
        <p:spPr>
          <a:xfrm>
            <a:off x="1005721" y="5311854"/>
            <a:ext cx="3231118" cy="6984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Visualizar y personalizar</a:t>
            </a:r>
            <a:endParaRPr lang="en-US" sz="2150" dirty="0"/>
          </a:p>
        </p:txBody>
      </p:sp>
      <p:sp>
        <p:nvSpPr>
          <p:cNvPr id="12" name="Text 9"/>
          <p:cNvSpPr/>
          <p:nvPr/>
        </p:nvSpPr>
        <p:spPr>
          <a:xfrm>
            <a:off x="1005721" y="6144339"/>
            <a:ext cx="3231118" cy="7150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Crear paneles y reportes interactivos con gráficos y KPIs.</a:t>
            </a:r>
            <a:endParaRPr lang="en-US" sz="1750" dirty="0"/>
          </a:p>
        </p:txBody>
      </p:sp>
      <p:sp>
        <p:nvSpPr>
          <p:cNvPr id="13" name="Shape 10"/>
          <p:cNvSpPr/>
          <p:nvPr/>
        </p:nvSpPr>
        <p:spPr>
          <a:xfrm>
            <a:off x="4683800" y="5088374"/>
            <a:ext cx="3678079" cy="2002869"/>
          </a:xfrm>
          <a:prstGeom prst="roundRect">
            <a:avLst>
              <a:gd name="adj" fmla="val 1674"/>
            </a:avLst>
          </a:prstGeom>
          <a:solidFill>
            <a:srgbClr val="433550"/>
          </a:solidFill>
          <a:ln/>
        </p:spPr>
      </p:sp>
      <p:sp>
        <p:nvSpPr>
          <p:cNvPr id="14" name="Text 11"/>
          <p:cNvSpPr/>
          <p:nvPr/>
        </p:nvSpPr>
        <p:spPr>
          <a:xfrm>
            <a:off x="4907280" y="5311854"/>
            <a:ext cx="2793921" cy="3492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Compartir y publicar</a:t>
            </a:r>
            <a:endParaRPr lang="en-US" sz="2150" dirty="0"/>
          </a:p>
        </p:txBody>
      </p:sp>
      <p:sp>
        <p:nvSpPr>
          <p:cNvPr id="15" name="Text 12"/>
          <p:cNvSpPr/>
          <p:nvPr/>
        </p:nvSpPr>
        <p:spPr>
          <a:xfrm>
            <a:off x="4907280" y="5795129"/>
            <a:ext cx="3231118" cy="10726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Distribuir los insights a los usuarios clave de manera segura.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3162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62926" y="610195"/>
            <a:ext cx="7590949" cy="20799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450"/>
              </a:lnSpc>
              <a:buNone/>
            </a:pPr>
            <a:r>
              <a:rPr lang="en-US" sz="4350" b="1" dirty="0">
                <a:solidFill>
                  <a:srgbClr val="F94CAF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Métricas relevantes y paneles de control personalizados</a:t>
            </a:r>
            <a:endParaRPr lang="en-US" sz="43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2926" y="3022878"/>
            <a:ext cx="554712" cy="554712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262926" y="3799403"/>
            <a:ext cx="2773680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Ingresos</a:t>
            </a:r>
            <a:endParaRPr lang="en-US" sz="2150" dirty="0"/>
          </a:p>
        </p:txBody>
      </p:sp>
      <p:sp>
        <p:nvSpPr>
          <p:cNvPr id="6" name="Text 2"/>
          <p:cNvSpPr/>
          <p:nvPr/>
        </p:nvSpPr>
        <p:spPr>
          <a:xfrm>
            <a:off x="6262926" y="4279225"/>
            <a:ext cx="3629025" cy="7100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0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Monitorear el rendimiento financiero.</a:t>
            </a:r>
            <a:endParaRPr lang="en-US" sz="17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24730" y="3022878"/>
            <a:ext cx="554712" cy="554712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0224730" y="3799403"/>
            <a:ext cx="2773680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Ventas</a:t>
            </a:r>
            <a:endParaRPr lang="en-US" sz="2150" dirty="0"/>
          </a:p>
        </p:txBody>
      </p:sp>
      <p:sp>
        <p:nvSpPr>
          <p:cNvPr id="9" name="Text 4"/>
          <p:cNvSpPr/>
          <p:nvPr/>
        </p:nvSpPr>
        <p:spPr>
          <a:xfrm>
            <a:off x="10224730" y="4279225"/>
            <a:ext cx="3629144" cy="3550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0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Seguir la evolución de las ventas.</a:t>
            </a:r>
            <a:endParaRPr lang="en-US" sz="17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2926" y="5654993"/>
            <a:ext cx="554712" cy="554712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262926" y="6431518"/>
            <a:ext cx="2773680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Marketing</a:t>
            </a:r>
            <a:endParaRPr lang="en-US" sz="2150" dirty="0"/>
          </a:p>
        </p:txBody>
      </p:sp>
      <p:sp>
        <p:nvSpPr>
          <p:cNvPr id="12" name="Text 6"/>
          <p:cNvSpPr/>
          <p:nvPr/>
        </p:nvSpPr>
        <p:spPr>
          <a:xfrm>
            <a:off x="6262926" y="6911340"/>
            <a:ext cx="3629025" cy="7100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0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Analizar la efectividad de las campañas.</a:t>
            </a:r>
            <a:endParaRPr lang="en-US" sz="170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24730" y="5654993"/>
            <a:ext cx="554712" cy="554712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10224730" y="6431518"/>
            <a:ext cx="2773680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Clientes</a:t>
            </a:r>
            <a:endParaRPr lang="en-US" sz="2150" dirty="0"/>
          </a:p>
        </p:txBody>
      </p:sp>
      <p:sp>
        <p:nvSpPr>
          <p:cNvPr id="15" name="Text 8"/>
          <p:cNvSpPr/>
          <p:nvPr/>
        </p:nvSpPr>
        <p:spPr>
          <a:xfrm>
            <a:off x="10224730" y="6911340"/>
            <a:ext cx="3629144" cy="7100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0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Monitorear la satisfacción y retención.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59473" y="608290"/>
            <a:ext cx="7597854" cy="1380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400"/>
              </a:lnSpc>
              <a:buNone/>
            </a:pPr>
            <a:r>
              <a:rPr lang="en-US" sz="4300" b="1" dirty="0">
                <a:solidFill>
                  <a:srgbClr val="F94CAF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Monitoreo y optimización de los KPIs</a:t>
            </a:r>
            <a:endParaRPr lang="en-US" sz="430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9473" y="2319933"/>
            <a:ext cx="1104424" cy="1767126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695128" y="2540794"/>
            <a:ext cx="2761178" cy="3450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Establecer metas</a:t>
            </a:r>
            <a:endParaRPr lang="en-US" sz="2150" dirty="0"/>
          </a:p>
        </p:txBody>
      </p:sp>
      <p:sp>
        <p:nvSpPr>
          <p:cNvPr id="6" name="Text 2"/>
          <p:cNvSpPr/>
          <p:nvPr/>
        </p:nvSpPr>
        <p:spPr>
          <a:xfrm>
            <a:off x="7695128" y="3018353"/>
            <a:ext cx="6162199" cy="3533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0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Definir objetivos de rendimiento medibles.</a:t>
            </a:r>
            <a:endParaRPr lang="en-US" sz="17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9473" y="4087058"/>
            <a:ext cx="1104424" cy="1767126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695128" y="4307919"/>
            <a:ext cx="2897862" cy="3450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Monitorear resultados</a:t>
            </a:r>
            <a:endParaRPr lang="en-US" sz="2150" dirty="0"/>
          </a:p>
        </p:txBody>
      </p:sp>
      <p:sp>
        <p:nvSpPr>
          <p:cNvPr id="9" name="Text 4"/>
          <p:cNvSpPr/>
          <p:nvPr/>
        </p:nvSpPr>
        <p:spPr>
          <a:xfrm>
            <a:off x="7695128" y="4785479"/>
            <a:ext cx="6162199" cy="3533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0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Hacer un seguimiento continuo de los KPIs clave.</a:t>
            </a:r>
            <a:endParaRPr lang="en-US" sz="17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9473" y="5854184"/>
            <a:ext cx="1104424" cy="1767126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695128" y="6075045"/>
            <a:ext cx="2761178" cy="3450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Analizar y optimizar</a:t>
            </a:r>
            <a:endParaRPr lang="en-US" sz="2150" dirty="0"/>
          </a:p>
        </p:txBody>
      </p:sp>
      <p:sp>
        <p:nvSpPr>
          <p:cNvPr id="12" name="Text 6"/>
          <p:cNvSpPr/>
          <p:nvPr/>
        </p:nvSpPr>
        <p:spPr>
          <a:xfrm>
            <a:off x="7695128" y="6552605"/>
            <a:ext cx="6162199" cy="3533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0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Identificar áreas de mejora y ajustar estrategias.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28352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4463534"/>
            <a:ext cx="822114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F94CAF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Conclusiones y próximos pasos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5512475"/>
            <a:ext cx="130428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Los KPIs y las métricas son esenciales para medir y optimizar el rendimiento del negocio. Power BI ofrece herramientas poderosas para recopilar, analizar y visualizar estos datos clave. El siguiente paso es implementar un enfoque estratégico para identificar, monitorear y mejorar continuamente los KPIs clave.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2024-11-04T01:45:09Z</dcterms:created>
  <dcterms:modified xsi:type="dcterms:W3CDTF">2024-11-04T01:45:09Z</dcterms:modified>
</cp:coreProperties>
</file>