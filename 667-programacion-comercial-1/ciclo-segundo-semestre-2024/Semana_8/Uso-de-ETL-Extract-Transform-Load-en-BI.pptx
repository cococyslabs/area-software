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Merriweather"/>
      <p:regular r:id="rId15"/>
    </p:embeddedFont>
    <p:embeddedFont>
      <p:font typeface="Merriweather"/>
      <p:regular r:id="rId16"/>
    </p:embeddedFont>
    <p:embeddedFont>
      <p:font typeface="Merriweather"/>
      <p:regular r:id="rId17"/>
    </p:embeddedFont>
    <p:embeddedFont>
      <p:font typeface="Merriweather"/>
      <p:regular r:id="rId18"/>
    </p:embeddedFont>
    <p:embeddedFont>
      <p:font typeface="Merriweather"/>
      <p:regular r:id="rId19"/>
    </p:embeddedFont>
    <p:embeddedFont>
      <p:font typeface="Merriweather"/>
      <p:regular r:id="rId20"/>
    </p:embeddedFont>
    <p:embeddedFont>
      <p:font typeface="Merriweather"/>
      <p:regular r:id="rId21"/>
    </p:embeddedFont>
    <p:embeddedFont>
      <p:font typeface="Merriweather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26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1297" y="668774"/>
            <a:ext cx="7441406" cy="419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250"/>
              </a:lnSpc>
              <a:buNone/>
            </a:pPr>
            <a:r>
              <a:rPr lang="en-US" sz="6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Uso de ETL (Extract, Transform, Load) en BI</a:t>
            </a:r>
            <a:endParaRPr lang="en-US" sz="6600" dirty="0"/>
          </a:p>
        </p:txBody>
      </p:sp>
      <p:sp>
        <p:nvSpPr>
          <p:cNvPr id="4" name="Text 1"/>
          <p:cNvSpPr/>
          <p:nvPr/>
        </p:nvSpPr>
        <p:spPr>
          <a:xfrm>
            <a:off x="851297" y="5229344"/>
            <a:ext cx="7441406" cy="233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ETL (Extracción, Transformación y Carga) es un proceso fundamental en Business Intelligence (BI) que garantiza la calidad y coherencia de los datos utilizados para la toma de decisiones. Este enfoque integral permite extraer, transformar y cargar información de diversas fuentes en un almacén de datos centralizado.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5106" y="677466"/>
            <a:ext cx="6036588" cy="754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900"/>
              </a:lnSpc>
              <a:buNone/>
            </a:pPr>
            <a:r>
              <a:rPr lang="en-US" sz="4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¿Qué es ETL?</a:t>
            </a:r>
            <a:endParaRPr lang="en-US" sz="4750" dirty="0"/>
          </a:p>
        </p:txBody>
      </p:sp>
      <p:sp>
        <p:nvSpPr>
          <p:cNvPr id="4" name="Shape 1"/>
          <p:cNvSpPr/>
          <p:nvPr/>
        </p:nvSpPr>
        <p:spPr>
          <a:xfrm>
            <a:off x="845106" y="1794153"/>
            <a:ext cx="3606165" cy="3337560"/>
          </a:xfrm>
          <a:prstGeom prst="roundRect">
            <a:avLst>
              <a:gd name="adj" fmla="val 303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4184" y="2043232"/>
            <a:ext cx="3018234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Extracción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1094184" y="2565202"/>
            <a:ext cx="3108008" cy="1931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Recopilación de datos de múltiples fuentes, como bases de datos, archivos planos y sistemas empresariales.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4692729" y="1794153"/>
            <a:ext cx="3606165" cy="3337560"/>
          </a:xfrm>
          <a:prstGeom prst="roundRect">
            <a:avLst>
              <a:gd name="adj" fmla="val 303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41808" y="2043232"/>
            <a:ext cx="3018234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Transformación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4941808" y="2565202"/>
            <a:ext cx="3108008" cy="2317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Limpieza, enriquecimiento y normalización de los datos para adaptarlos a los requisitos del almacén de datos.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45106" y="5373172"/>
            <a:ext cx="7453789" cy="2178844"/>
          </a:xfrm>
          <a:prstGeom prst="roundRect">
            <a:avLst>
              <a:gd name="adj" fmla="val 4655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4184" y="5622250"/>
            <a:ext cx="3018234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Carga</a:t>
            </a:r>
            <a:endParaRPr lang="en-US" sz="2350" dirty="0"/>
          </a:p>
        </p:txBody>
      </p:sp>
      <p:sp>
        <p:nvSpPr>
          <p:cNvPr id="12" name="Text 9"/>
          <p:cNvSpPr/>
          <p:nvPr/>
        </p:nvSpPr>
        <p:spPr>
          <a:xfrm>
            <a:off x="1094184" y="6144220"/>
            <a:ext cx="6955631" cy="1158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Transferencia de los datos transformados a un almacén de datos centralizado, como un Data Warehouse o un Data Lake.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818203"/>
            <a:ext cx="129028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Importancia de ETL en Business Intelligence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397775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Calidad de los Datos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4610100"/>
            <a:ext cx="3898940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ETL garantiza que los datos utilizados para análisis y toma de decisiones sean precisos, coherentes y relevantes.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576" y="397775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Eficiencia Operativa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72576" y="4610100"/>
            <a:ext cx="3898940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Automatiza y simplifica el proceso de integración de datos, reduciendo la carga de trabajo manual.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977759"/>
            <a:ext cx="3207425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Visibilidad y Agilidad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881354" y="4610100"/>
            <a:ext cx="3898940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Permite a las empresas acceder a información unificada y actualizada, lo que mejora la toma de decisiones.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2232" y="875705"/>
            <a:ext cx="7719536" cy="1271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Proceso de ETL: extracción, transformación y carga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1005959" y="2452688"/>
            <a:ext cx="22860" cy="4901089"/>
          </a:xfrm>
          <a:prstGeom prst="roundRect">
            <a:avLst>
              <a:gd name="adj" fmla="val 373893"/>
            </a:avLst>
          </a:prstGeom>
          <a:solidFill>
            <a:srgbClr val="194A99"/>
          </a:solidFill>
          <a:ln/>
        </p:spPr>
      </p:sp>
      <p:sp>
        <p:nvSpPr>
          <p:cNvPr id="5" name="Shape 2"/>
          <p:cNvSpPr/>
          <p:nvPr/>
        </p:nvSpPr>
        <p:spPr>
          <a:xfrm>
            <a:off x="1223427" y="2898934"/>
            <a:ext cx="712232" cy="22860"/>
          </a:xfrm>
          <a:prstGeom prst="roundRect">
            <a:avLst>
              <a:gd name="adj" fmla="val 373893"/>
            </a:avLst>
          </a:prstGeom>
          <a:solidFill>
            <a:srgbClr val="194A99"/>
          </a:solidFill>
          <a:ln/>
        </p:spPr>
      </p:sp>
      <p:sp>
        <p:nvSpPr>
          <p:cNvPr id="6" name="Shape 3"/>
          <p:cNvSpPr/>
          <p:nvPr/>
        </p:nvSpPr>
        <p:spPr>
          <a:xfrm>
            <a:off x="788491" y="2681526"/>
            <a:ext cx="457795" cy="457795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0178" y="2757726"/>
            <a:ext cx="134303" cy="305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136577" y="2656165"/>
            <a:ext cx="2543770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Extracción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136577" y="3096220"/>
            <a:ext cx="6295192" cy="651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Recopilación de datos de múltiples fuentes, como bases de datos, archivos planos y sistemas empresariales.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223427" y="4600456"/>
            <a:ext cx="712232" cy="22860"/>
          </a:xfrm>
          <a:prstGeom prst="roundRect">
            <a:avLst>
              <a:gd name="adj" fmla="val 373893"/>
            </a:avLst>
          </a:prstGeom>
          <a:solidFill>
            <a:srgbClr val="194A99"/>
          </a:solidFill>
          <a:ln/>
        </p:spPr>
      </p:sp>
      <p:sp>
        <p:nvSpPr>
          <p:cNvPr id="11" name="Shape 8"/>
          <p:cNvSpPr/>
          <p:nvPr/>
        </p:nvSpPr>
        <p:spPr>
          <a:xfrm>
            <a:off x="788491" y="4383048"/>
            <a:ext cx="457795" cy="457795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26128" y="4459248"/>
            <a:ext cx="182523" cy="305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2136577" y="4357688"/>
            <a:ext cx="2543770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Transformación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136577" y="4797743"/>
            <a:ext cx="6295192" cy="651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Limpieza, enriquecimiento y normalización de los datos para adaptarlos a los requisitos del almacén de datos.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223427" y="6301978"/>
            <a:ext cx="712232" cy="22860"/>
          </a:xfrm>
          <a:prstGeom prst="roundRect">
            <a:avLst>
              <a:gd name="adj" fmla="val 373893"/>
            </a:avLst>
          </a:prstGeom>
          <a:solidFill>
            <a:srgbClr val="194A99"/>
          </a:solidFill>
          <a:ln/>
        </p:spPr>
      </p:sp>
      <p:sp>
        <p:nvSpPr>
          <p:cNvPr id="16" name="Shape 13"/>
          <p:cNvSpPr/>
          <p:nvPr/>
        </p:nvSpPr>
        <p:spPr>
          <a:xfrm>
            <a:off x="788491" y="6084570"/>
            <a:ext cx="457795" cy="457795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31843" y="6160770"/>
            <a:ext cx="170974" cy="305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2136577" y="6059210"/>
            <a:ext cx="2543770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Carga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2136577" y="6499265"/>
            <a:ext cx="6295192" cy="651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Transferencia de los datos transformados a un almacén de datos centralizado, como un Data Warehouse o un Data Lake.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13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9863" y="636270"/>
            <a:ext cx="7524274" cy="1446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50"/>
              </a:lnSpc>
              <a:buNone/>
            </a:pPr>
            <a:r>
              <a:rPr lang="en-US" sz="45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Herramientas comunes para ETL en BI</a:t>
            </a:r>
            <a:endParaRPr lang="en-US" sz="45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63" y="2429470"/>
            <a:ext cx="578406" cy="57840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09863" y="3239214"/>
            <a:ext cx="2892504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Bases de Datos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809863" y="3739515"/>
            <a:ext cx="3588544" cy="740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Fuentes de datos como SQL Server, Oracle, MySQL, etc.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474" y="2429470"/>
            <a:ext cx="578406" cy="57840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45474" y="3239214"/>
            <a:ext cx="2892504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Archivos</a:t>
            </a:r>
            <a:endParaRPr lang="en-US" sz="2250" dirty="0"/>
          </a:p>
        </p:txBody>
      </p:sp>
      <p:sp>
        <p:nvSpPr>
          <p:cNvPr id="9" name="Text 4"/>
          <p:cNvSpPr/>
          <p:nvPr/>
        </p:nvSpPr>
        <p:spPr>
          <a:xfrm>
            <a:off x="4745474" y="3739515"/>
            <a:ext cx="3588663" cy="740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Formatos como CSV, Excel, XML, JSON, etc.</a:t>
            </a:r>
            <a:endParaRPr lang="en-US" sz="18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63" y="5174218"/>
            <a:ext cx="578406" cy="57840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9863" y="5983962"/>
            <a:ext cx="2892504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Nubes</a:t>
            </a:r>
            <a:endParaRPr lang="en-US" sz="2250" dirty="0"/>
          </a:p>
        </p:txBody>
      </p:sp>
      <p:sp>
        <p:nvSpPr>
          <p:cNvPr id="12" name="Text 6"/>
          <p:cNvSpPr/>
          <p:nvPr/>
        </p:nvSpPr>
        <p:spPr>
          <a:xfrm>
            <a:off x="809863" y="6484263"/>
            <a:ext cx="3588544" cy="1110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Servicios en la nube como Amazon S3, Google Cloud Storage, etc.</a:t>
            </a:r>
            <a:endParaRPr lang="en-US" sz="18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474" y="5174218"/>
            <a:ext cx="578406" cy="57840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45474" y="5983962"/>
            <a:ext cx="2892504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Herramientas ETL</a:t>
            </a:r>
            <a:endParaRPr lang="en-US" sz="2250" dirty="0"/>
          </a:p>
        </p:txBody>
      </p:sp>
      <p:sp>
        <p:nvSpPr>
          <p:cNvPr id="15" name="Text 8"/>
          <p:cNvSpPr/>
          <p:nvPr/>
        </p:nvSpPr>
        <p:spPr>
          <a:xfrm>
            <a:off x="4745474" y="6484263"/>
            <a:ext cx="3588663" cy="1110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Soluciones como Talend, Informatica, SSIS, Pentaho, etc.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9712" y="1146572"/>
            <a:ext cx="7577376" cy="1398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Beneficios del uso de ETL en BI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269712" y="3132892"/>
            <a:ext cx="503515" cy="503515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47592" y="3216712"/>
            <a:ext cx="147757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996946" y="3132892"/>
            <a:ext cx="2797731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Calidad de Datos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996946" y="3616762"/>
            <a:ext cx="2949654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Mejora la precisión, integridad y coherencia de los datos.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0319" y="3132892"/>
            <a:ext cx="503515" cy="503515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21647" y="3216712"/>
            <a:ext cx="20073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0897552" y="3132892"/>
            <a:ext cx="2797731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Eficiencia Operativa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897552" y="3616762"/>
            <a:ext cx="2949654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Automatiza y escaliza el proceso de integración de datos.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69712" y="5166598"/>
            <a:ext cx="503515" cy="503515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27470" y="5250418"/>
            <a:ext cx="18800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996946" y="5166598"/>
            <a:ext cx="2797731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Toma de Decisiones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996946" y="5650468"/>
            <a:ext cx="2949654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Proporciona información unificada y actualizada para una mejor toma de decisiones.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10170319" y="5166598"/>
            <a:ext cx="503515" cy="503515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313908" y="5250418"/>
            <a:ext cx="216218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10897552" y="5166598"/>
            <a:ext cx="2949654" cy="69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Cumplimiento Normativo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0897552" y="6000155"/>
            <a:ext cx="2949654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Ayuda a cumplir con los requisitos de seguridad y privacidad de los datos.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303" y="879515"/>
            <a:ext cx="7717393" cy="1273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Desafíos y consideraciones en la implementación de ETL</a:t>
            </a:r>
            <a:endParaRPr lang="en-US" sz="4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03" y="2458641"/>
            <a:ext cx="1018937" cy="16304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37874" y="2662357"/>
            <a:ext cx="2723078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Complejidad de Datos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2037874" y="3103126"/>
            <a:ext cx="6392823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Gestionar la diversidad de fuentes, formatos y estructuras de datos.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03" y="4089083"/>
            <a:ext cx="1018937" cy="16304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37874" y="4292798"/>
            <a:ext cx="254746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Escalabilidad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2037874" y="4733568"/>
            <a:ext cx="6392823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Garantizar que el proceso ETL pueda manejar volúmenes de datos en crecimiento.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303" y="5719524"/>
            <a:ext cx="1018937" cy="16304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37874" y="5923240"/>
            <a:ext cx="2861310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Seguridad y Privacidad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2037874" y="6364010"/>
            <a:ext cx="6392823" cy="326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Proteger la confidencialidad e integridad de los datos sensibles.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4972" y="1119902"/>
            <a:ext cx="7694057" cy="1294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Mejores prácticas y estrategias para ETL efectivo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724972" y="2725222"/>
            <a:ext cx="7694057" cy="4384358"/>
          </a:xfrm>
          <a:prstGeom prst="roundRect">
            <a:avLst>
              <a:gd name="adj" fmla="val 198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2592" y="2732842"/>
            <a:ext cx="7678817" cy="125801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39641" y="2864644"/>
            <a:ext cx="3421499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Diseño modular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82860" y="2864644"/>
            <a:ext cx="3421499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Dividir el proceso ETL en componentes reutilizables y mantenibles.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2592" y="3990856"/>
            <a:ext cx="7678817" cy="9265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39641" y="4122658"/>
            <a:ext cx="3421499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Validación de datos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782860" y="4122658"/>
            <a:ext cx="3421499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Implementar controles de calidad y pruebas exhaustivas.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2592" y="4917400"/>
            <a:ext cx="7678817" cy="125801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939641" y="5049203"/>
            <a:ext cx="3421499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Monitoreo y Alertas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782860" y="5049203"/>
            <a:ext cx="3421499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Supervisar el rendimiento y recibir notificaciones sobre errores o problemas.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32592" y="6175415"/>
            <a:ext cx="7678817" cy="9265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939641" y="6307217"/>
            <a:ext cx="3421499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Documentación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782860" y="6307217"/>
            <a:ext cx="3421499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Mantener una documentación clara y detallada del proceso ETL.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2024-11-04T02:10:27Z</dcterms:created>
  <dcterms:modified xsi:type="dcterms:W3CDTF">2024-11-04T02:10:27Z</dcterms:modified>
</cp:coreProperties>
</file>