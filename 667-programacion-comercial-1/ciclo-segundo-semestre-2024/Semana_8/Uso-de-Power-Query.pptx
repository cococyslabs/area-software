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embeddedFontLst>
    <p:embeddedFont>
      <p:font typeface="Petrona"/>
      <p:regular r:id="rId15"/>
    </p:embeddedFont>
    <p:embeddedFont>
      <p:font typeface="Petrona"/>
      <p:regular r:id="rId16"/>
    </p:embeddedFont>
    <p:embeddedFont>
      <p:font typeface="Petrona"/>
      <p:regular r:id="rId17"/>
    </p:embeddedFont>
    <p:embeddedFont>
      <p:font typeface="Petrona"/>
      <p:regular r:id="rId18"/>
    </p:embeddedFont>
    <p:embeddedFont>
      <p:font typeface="Inter"/>
      <p:regular r:id="rId19"/>
    </p:embeddedFont>
    <p:embeddedFont>
      <p:font typeface="Inter"/>
      <p:regular r:id="rId20"/>
    </p:embeddedFont>
    <p:embeddedFont>
      <p:font typeface="Inter"/>
      <p:regular r:id="rId21"/>
    </p:embeddedFont>
    <p:embeddedFont>
      <p:font typeface="Inter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Relationship Id="rId21" Type="http://schemas.openxmlformats.org/officeDocument/2006/relationships/font" Target="fonts/font7.fntdata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705338"/>
            <a:ext cx="7556421" cy="1027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8050"/>
              </a:lnSpc>
              <a:buNone/>
            </a:pPr>
            <a:r>
              <a:rPr lang="en-US" sz="6450" b="1" spc="-129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Uso de Power Query</a:t>
            </a:r>
            <a:endParaRPr lang="en-US" sz="6450" dirty="0"/>
          </a:p>
        </p:txBody>
      </p:sp>
      <p:sp>
        <p:nvSpPr>
          <p:cNvPr id="4" name="Text 1"/>
          <p:cNvSpPr/>
          <p:nvPr/>
        </p:nvSpPr>
        <p:spPr>
          <a:xfrm>
            <a:off x="6280190" y="4072533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Query es una poderosa herramienta de Microsoft que permite extraer, transformar y cargar datos de múltiples fuentes. Su uso estratégico puede mejorar significativamente la eficiencia y la calidad de los análisis de datos en tu organización.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058228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850"/>
              </a:lnSpc>
              <a:buNone/>
            </a:pPr>
            <a:r>
              <a:rPr lang="en-US" sz="4650" b="1" spc="-94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¿Qué es Power Query?</a:t>
            </a:r>
            <a:endParaRPr lang="en-US" sz="4650" dirty="0"/>
          </a:p>
        </p:txBody>
      </p:sp>
      <p:sp>
        <p:nvSpPr>
          <p:cNvPr id="4" name="Shape 1"/>
          <p:cNvSpPr/>
          <p:nvPr/>
        </p:nvSpPr>
        <p:spPr>
          <a:xfrm>
            <a:off x="793790" y="239780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76074" y="2474238"/>
            <a:ext cx="145733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b="1" spc="-56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530906" y="2397800"/>
            <a:ext cx="292774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300" b="1" spc="-47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Extracción de Datos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1530906" y="2905958"/>
            <a:ext cx="2927747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Query facilita la conexión con una amplia variedad de orígenes de datos, desde bases de datos hasta archivos de texto.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685467" y="239780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42867" y="2474238"/>
            <a:ext cx="195382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b="1" spc="-56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5422583" y="2397800"/>
            <a:ext cx="2927747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300" b="1" spc="-47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Transformación de Datos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5422583" y="3278029"/>
            <a:ext cx="2927747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Permite aplicar potentes funciones de limpieza, manipulación y enriquecimiento de datos de manera sencilla e intuitiva.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93790" y="593740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51428" y="6013847"/>
            <a:ext cx="195024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b="1" spc="-56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1530906" y="593740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300" b="1" spc="-47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Automatización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1530906" y="6445567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consultas creadas pueden ser reutilizadas y programadas para actualizar los datos de manera regular.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13290"/>
            <a:ext cx="8948738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850"/>
              </a:lnSpc>
              <a:buNone/>
            </a:pPr>
            <a:r>
              <a:rPr lang="en-US" sz="4650" b="1" spc="-94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Beneficios de utilizar Power Query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382452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300" b="1" spc="-47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Eficiencia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93790" y="4423410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 significativamente el tiempo dedicado a tareas manuales de extracción y transformación de datos.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82452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300" b="1" spc="-47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Calidad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332928" y="4423410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Mejora la calidad de los datos al aplicar reglas de transformación de manera consistente.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82452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300" b="1" spc="-47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Flexibilidad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9872067" y="4423410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Permite adaptar fácilmente las consultas a medida que cambian las necesidades de los usuarios.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32485"/>
            <a:ext cx="7556421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850"/>
              </a:lnSpc>
              <a:buNone/>
            </a:pPr>
            <a:r>
              <a:rPr lang="en-US" sz="4650" b="1" spc="-94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Fuentes de datos compatibles</a:t>
            </a:r>
            <a:endParaRPr lang="en-US" sz="46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190" y="2661166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80190" y="345495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spc="-47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Bases de Datos</a:t>
            </a:r>
            <a:endParaRPr lang="en-US" sz="2300" dirty="0"/>
          </a:p>
        </p:txBody>
      </p:sp>
      <p:sp>
        <p:nvSpPr>
          <p:cNvPr id="6" name="Text 2"/>
          <p:cNvSpPr/>
          <p:nvPr/>
        </p:nvSpPr>
        <p:spPr>
          <a:xfrm>
            <a:off x="6280190" y="3963114"/>
            <a:ext cx="36080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Server, Oracle, MySQL, PostgreSQL, entre otros.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8421" y="2661166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228421" y="345495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spc="-47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Hojas de Cálculo</a:t>
            </a:r>
            <a:endParaRPr lang="en-US" sz="2300" dirty="0"/>
          </a:p>
        </p:txBody>
      </p:sp>
      <p:sp>
        <p:nvSpPr>
          <p:cNvPr id="9" name="Text 4"/>
          <p:cNvSpPr/>
          <p:nvPr/>
        </p:nvSpPr>
        <p:spPr>
          <a:xfrm>
            <a:off x="10228421" y="3963114"/>
            <a:ext cx="36081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Excel, Google Sheets, OpenOffice Calc.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5369362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280190" y="616315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spc="-47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Servicios Web</a:t>
            </a:r>
            <a:endParaRPr lang="en-US" sz="2300" dirty="0"/>
          </a:p>
        </p:txBody>
      </p:sp>
      <p:sp>
        <p:nvSpPr>
          <p:cNvPr id="12" name="Text 6"/>
          <p:cNvSpPr/>
          <p:nvPr/>
        </p:nvSpPr>
        <p:spPr>
          <a:xfrm>
            <a:off x="6280190" y="6671310"/>
            <a:ext cx="36080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APIs, archivos CSV, XML, JSON, HTML.</a:t>
            </a:r>
            <a:endParaRPr lang="en-US" sz="17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8421" y="5369362"/>
            <a:ext cx="566976" cy="56697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228421" y="616315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spc="-47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Orígenes en la Nube</a:t>
            </a:r>
            <a:endParaRPr lang="en-US" sz="2300" dirty="0"/>
          </a:p>
        </p:txBody>
      </p:sp>
      <p:sp>
        <p:nvSpPr>
          <p:cNvPr id="15" name="Text 8"/>
          <p:cNvSpPr/>
          <p:nvPr/>
        </p:nvSpPr>
        <p:spPr>
          <a:xfrm>
            <a:off x="10228421" y="6671310"/>
            <a:ext cx="36081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SharePoint, Azure Blob Storage, Dynamics 365.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14388"/>
            <a:ext cx="6562725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850"/>
              </a:lnSpc>
              <a:buNone/>
            </a:pPr>
            <a:r>
              <a:rPr lang="en-US" sz="4650" b="1" spc="-94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Transformación de datos</a:t>
            </a:r>
            <a:endParaRPr lang="en-US" sz="4650" dirty="0"/>
          </a:p>
        </p:txBody>
      </p:sp>
      <p:sp>
        <p:nvSpPr>
          <p:cNvPr id="4" name="Shape 1"/>
          <p:cNvSpPr/>
          <p:nvPr/>
        </p:nvSpPr>
        <p:spPr>
          <a:xfrm>
            <a:off x="6605111" y="1898809"/>
            <a:ext cx="30480" cy="5516404"/>
          </a:xfrm>
          <a:prstGeom prst="roundRect">
            <a:avLst>
              <a:gd name="adj" fmla="val 312558"/>
            </a:avLst>
          </a:prstGeom>
          <a:solidFill>
            <a:srgbClr val="48367C"/>
          </a:solidFill>
          <a:ln/>
        </p:spPr>
      </p:sp>
      <p:sp>
        <p:nvSpPr>
          <p:cNvPr id="5" name="Shape 2"/>
          <p:cNvSpPr/>
          <p:nvPr/>
        </p:nvSpPr>
        <p:spPr>
          <a:xfrm>
            <a:off x="6845022" y="2393871"/>
            <a:ext cx="793790" cy="30480"/>
          </a:xfrm>
          <a:prstGeom prst="roundRect">
            <a:avLst>
              <a:gd name="adj" fmla="val 312558"/>
            </a:avLst>
          </a:prstGeom>
          <a:solidFill>
            <a:srgbClr val="48367C"/>
          </a:solidFill>
          <a:ln/>
        </p:spPr>
      </p:sp>
      <p:sp>
        <p:nvSpPr>
          <p:cNvPr id="6" name="Shape 3"/>
          <p:cNvSpPr/>
          <p:nvPr/>
        </p:nvSpPr>
        <p:spPr>
          <a:xfrm>
            <a:off x="6365200" y="215396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47485" y="2230398"/>
            <a:ext cx="145733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b="1" spc="-56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7867888" y="212562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spc="-47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Limpieza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7867888" y="2633782"/>
            <a:ext cx="596872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Eliminación de datos duplicados, manejo de valores nulos, ajuste de formatos.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845022" y="4308277"/>
            <a:ext cx="793790" cy="30480"/>
          </a:xfrm>
          <a:prstGeom prst="roundRect">
            <a:avLst>
              <a:gd name="adj" fmla="val 312558"/>
            </a:avLst>
          </a:prstGeom>
          <a:solidFill>
            <a:srgbClr val="48367C"/>
          </a:solidFill>
          <a:ln/>
        </p:spPr>
      </p:sp>
      <p:sp>
        <p:nvSpPr>
          <p:cNvPr id="11" name="Shape 8"/>
          <p:cNvSpPr/>
          <p:nvPr/>
        </p:nvSpPr>
        <p:spPr>
          <a:xfrm>
            <a:off x="6365200" y="406836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22601" y="4144804"/>
            <a:ext cx="195382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b="1" spc="-56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7867888" y="404002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spc="-47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Enriquecimiento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7867888" y="4548187"/>
            <a:ext cx="596872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Incorporación de datos adicionales, cálculo de nuevas métricas, aplicación de funciones.</a:t>
            </a:r>
            <a:endParaRPr lang="en-US" sz="1750" dirty="0"/>
          </a:p>
        </p:txBody>
      </p:sp>
      <p:sp>
        <p:nvSpPr>
          <p:cNvPr id="15" name="Shape 12"/>
          <p:cNvSpPr/>
          <p:nvPr/>
        </p:nvSpPr>
        <p:spPr>
          <a:xfrm>
            <a:off x="6845022" y="6222683"/>
            <a:ext cx="793790" cy="30480"/>
          </a:xfrm>
          <a:prstGeom prst="roundRect">
            <a:avLst>
              <a:gd name="adj" fmla="val 312558"/>
            </a:avLst>
          </a:prstGeom>
          <a:solidFill>
            <a:srgbClr val="48367C"/>
          </a:solidFill>
          <a:ln/>
        </p:spPr>
      </p:sp>
      <p:sp>
        <p:nvSpPr>
          <p:cNvPr id="16" name="Shape 13"/>
          <p:cNvSpPr/>
          <p:nvPr/>
        </p:nvSpPr>
        <p:spPr>
          <a:xfrm>
            <a:off x="6365200" y="598277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22839" y="6059210"/>
            <a:ext cx="195024" cy="357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b="1" spc="-56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7867888" y="595443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spc="-47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Combinación</a:t>
            </a:r>
            <a:endParaRPr lang="en-US" sz="2300" dirty="0"/>
          </a:p>
        </p:txBody>
      </p:sp>
      <p:sp>
        <p:nvSpPr>
          <p:cNvPr id="19" name="Text 16"/>
          <p:cNvSpPr/>
          <p:nvPr/>
        </p:nvSpPr>
        <p:spPr>
          <a:xfrm>
            <a:off x="7867888" y="6462593"/>
            <a:ext cx="596872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Fusión de múltiples fuentes de datos, unión de tablas, concatenación de archivos.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49035"/>
            <a:ext cx="6521648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850"/>
              </a:lnSpc>
              <a:buNone/>
            </a:pPr>
            <a:r>
              <a:rPr lang="en-US" sz="4650" b="1" spc="-94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Publicación de consultas</a:t>
            </a:r>
            <a:endParaRPr lang="en-US" sz="4650" dirty="0"/>
          </a:p>
        </p:txBody>
      </p:sp>
      <p:sp>
        <p:nvSpPr>
          <p:cNvPr id="4" name="Shape 1"/>
          <p:cNvSpPr/>
          <p:nvPr/>
        </p:nvSpPr>
        <p:spPr>
          <a:xfrm>
            <a:off x="6280190" y="1933456"/>
            <a:ext cx="3664863" cy="2791539"/>
          </a:xfrm>
          <a:prstGeom prst="roundRect">
            <a:avLst>
              <a:gd name="adj" fmla="val 3413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14624" y="216789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300" b="1" spc="-47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Informes Dinámicos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6514624" y="2676049"/>
            <a:ext cx="319599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consultas de Power Query pueden integrarse en informes de Power BI y Excel para mantener los datos actualizados.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867" y="1933456"/>
            <a:ext cx="3664863" cy="2791539"/>
          </a:xfrm>
          <a:prstGeom prst="roundRect">
            <a:avLst>
              <a:gd name="adj" fmla="val 3413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06301" y="216789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300" b="1" spc="-47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Servicios de Datos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10406301" y="2676049"/>
            <a:ext cx="319599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consultas pueden exponerse como servicios de datos reutilizables por otros usuarios o aplicaciones.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4951809"/>
            <a:ext cx="3664863" cy="2428637"/>
          </a:xfrm>
          <a:prstGeom prst="roundRect">
            <a:avLst>
              <a:gd name="adj" fmla="val 3923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14624" y="518624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300" b="1" spc="-47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Automatización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6514624" y="5694402"/>
            <a:ext cx="319599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consultas pueden programarse para actualizar los datos de forma recurrente sin intervención manual.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10171867" y="4951809"/>
            <a:ext cx="3664863" cy="2428637"/>
          </a:xfrm>
          <a:prstGeom prst="roundRect">
            <a:avLst>
              <a:gd name="adj" fmla="val 3923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406301" y="518624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300" b="1" spc="-47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Colaboración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10406301" y="5694402"/>
            <a:ext cx="319599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consultas pueden compartirse y reutilizarse entre miembros de un equipo o departamento.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8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53282" y="602456"/>
            <a:ext cx="7610237" cy="1437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650"/>
              </a:lnSpc>
              <a:buNone/>
            </a:pPr>
            <a:r>
              <a:rPr lang="en-US" sz="4500" b="1" spc="-91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Programación avanzada con Power Query</a:t>
            </a:r>
            <a:endParaRPr lang="en-US" sz="45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3282" y="2368868"/>
            <a:ext cx="1095494" cy="17528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77388" y="2587943"/>
            <a:ext cx="3271838" cy="359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b="1" spc="-45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Funciones Personalizadas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7677388" y="3078718"/>
            <a:ext cx="618613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spc="-35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Creación de funciones reutilizables para automatizar tareas complejas.</a:t>
            </a:r>
            <a:endParaRPr lang="en-US" sz="17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282" y="4121706"/>
            <a:ext cx="1095494" cy="175283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77388" y="4340781"/>
            <a:ext cx="2910483" cy="359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b="1" spc="-45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Condicionales y Bucles</a:t>
            </a:r>
            <a:endParaRPr lang="en-US" sz="2250" dirty="0"/>
          </a:p>
        </p:txBody>
      </p:sp>
      <p:sp>
        <p:nvSpPr>
          <p:cNvPr id="9" name="Text 4"/>
          <p:cNvSpPr/>
          <p:nvPr/>
        </p:nvSpPr>
        <p:spPr>
          <a:xfrm>
            <a:off x="7677388" y="4831556"/>
            <a:ext cx="618613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spc="-35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Aplicación de lógica avanzada para transformar datos de manera dinámica.</a:t>
            </a:r>
            <a:endParaRPr lang="en-US" sz="17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3282" y="5874544"/>
            <a:ext cx="1095494" cy="175283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77388" y="6093619"/>
            <a:ext cx="3278505" cy="359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b="1" spc="-45" kern="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Parámetros y Argumentos</a:t>
            </a:r>
            <a:endParaRPr lang="en-US" sz="2250" dirty="0"/>
          </a:p>
        </p:txBody>
      </p:sp>
      <p:sp>
        <p:nvSpPr>
          <p:cNvPr id="12" name="Text 6"/>
          <p:cNvSpPr/>
          <p:nvPr/>
        </p:nvSpPr>
        <p:spPr>
          <a:xfrm>
            <a:off x="7677388" y="6584394"/>
            <a:ext cx="618613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spc="-35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Consultas flexibles que pueden adaptarse a diferentes necesidades de los usuarios.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9020" y="737116"/>
            <a:ext cx="7685961" cy="1367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350"/>
              </a:lnSpc>
              <a:buNone/>
            </a:pPr>
            <a:r>
              <a:rPr lang="en-US" sz="4300" b="1" spc="-86" kern="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Ejemplos prácticos y casos de uso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729020" y="2416612"/>
            <a:ext cx="7685961" cy="5075873"/>
          </a:xfrm>
          <a:prstGeom prst="roundRect">
            <a:avLst>
              <a:gd name="adj" fmla="val 1724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36640" y="2424232"/>
            <a:ext cx="7670721" cy="126515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944880" y="2556748"/>
            <a:ext cx="341507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spc="-33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Consolidación de ventas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784050" y="2556748"/>
            <a:ext cx="3415070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spc="-33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Combinar datos de múltiples sistemas de ventas en un único informe unificado.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36640" y="3689390"/>
            <a:ext cx="7670721" cy="126515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944880" y="3821906"/>
            <a:ext cx="341507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spc="-33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Análisis de redes sociales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784050" y="3821906"/>
            <a:ext cx="3415070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spc="-33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Extraer y transformar datos de plataformas de redes sociales para su análisis.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36640" y="4954548"/>
            <a:ext cx="7670721" cy="126515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944880" y="5087064"/>
            <a:ext cx="341507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spc="-33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Presupuestos y forecasting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784050" y="5087064"/>
            <a:ext cx="3415070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spc="-33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Integrar datos de diferentes fuentes para crear modelos de presupuestos y proyecciones.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36640" y="6219706"/>
            <a:ext cx="7670721" cy="126515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944880" y="6352223"/>
            <a:ext cx="341507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spc="-33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Seguimiento de KPIs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784050" y="6352223"/>
            <a:ext cx="3415070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spc="-33" kern="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Automatizar la actualización de indicadores clave de rendimiento a partir de múltiples orígenes.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2024-11-04T02:11:48Z</dcterms:created>
  <dcterms:modified xsi:type="dcterms:W3CDTF">2024-11-04T02:11:48Z</dcterms:modified>
</cp:coreProperties>
</file>