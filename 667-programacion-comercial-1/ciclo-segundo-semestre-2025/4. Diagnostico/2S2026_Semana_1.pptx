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Libre Franklin"/>
      <p:bold r:id="rId22"/>
      <p:boldItalic r:id="rId23"/>
    </p:embeddedFont>
    <p:embeddedFont>
      <p:font typeface="Lobster"/>
      <p:regular r:id="rId24"/>
    </p:embeddedFont>
    <p:embeddedFont>
      <p:font typeface="Pacifico"/>
      <p:regular r:id="rId25"/>
    </p:embeddedFont>
    <p:embeddedFont>
      <p:font typeface="Libre Franklin Medium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K1ZDI0DYcGaB2lYKQXmHtdXXm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1B33AA-A847-440D-A6BE-0D07F440960D}">
  <a:tblStyle styleId="{F21B33AA-A847-440D-A6BE-0D07F44096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F699D2F-BC3F-4DD3-B7C2-C30ACDD032D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ibreFranklin-bold.fntdata"/><Relationship Id="rId21" Type="http://schemas.openxmlformats.org/officeDocument/2006/relationships/slide" Target="slides/slide15.xml"/><Relationship Id="rId24" Type="http://schemas.openxmlformats.org/officeDocument/2006/relationships/font" Target="fonts/Lobster-regular.fntdata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ibreFranklinMedium-regular.fntdata"/><Relationship Id="rId25" Type="http://schemas.openxmlformats.org/officeDocument/2006/relationships/font" Target="fonts/Pacifico-regular.fntdata"/><Relationship Id="rId28" Type="http://schemas.openxmlformats.org/officeDocument/2006/relationships/font" Target="fonts/LibreFranklinMedium-italic.fntdata"/><Relationship Id="rId27" Type="http://schemas.openxmlformats.org/officeDocument/2006/relationships/font" Target="fonts/LibreFranklin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Franklin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fc17623ee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9fc17623e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60101c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5f60101cb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c17623ee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9fc17623ee_0_6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2d408c6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32d408c6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fc17623ee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9fc17623ee_0_5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fc17623ee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fc17623e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fc17623e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9fc17623e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181bd78c9_0_6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7181bd78c9_0_62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3" name="Google Shape;13;g37181bd78c9_0_62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4" name="Google Shape;14;g37181bd78c9_0_6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7181bd78c9_0_631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7" name="Google Shape;17;g37181bd78c9_0_63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7181bd78c9_0_63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0" name="Google Shape;20;g37181bd78c9_0_63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1" name="Google Shape;21;g37181bd78c9_0_63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7181bd78c9_0_63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4" name="Google Shape;24;g37181bd78c9_0_638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5" name="Google Shape;25;g37181bd78c9_0_638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g37181bd78c9_0_63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7181bd78c9_0_64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g37181bd78c9_0_64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181bd78c9_0_646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37181bd78c9_0_646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3" name="Google Shape;33;g37181bd78c9_0_64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181bd78c9_0_650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6" name="Google Shape;36;g37181bd78c9_0_65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181bd78c9_0_65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7181bd78c9_0_65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0" name="Google Shape;40;g37181bd78c9_0_65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g37181bd78c9_0_65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2" name="Google Shape;42;g37181bd78c9_0_65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181bd78c9_0_659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5" name="Google Shape;45;g37181bd78c9_0_6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7181bd78c9_0_66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8" name="Google Shape;48;g37181bd78c9_0_66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9" name="Google Shape;49;g37181bd78c9_0_66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d408c6d_7_0)">
  <p:cSld name="Generated (g3e32d408c6d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181bd78c9_0_6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7181bd78c9_0_6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7181bd78c9_0_6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9fc17623ee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56302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g39fc17623ee_0_91"/>
          <p:cNvGraphicFramePr/>
          <p:nvPr/>
        </p:nvGraphicFramePr>
        <p:xfrm>
          <a:off x="10185725" y="233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{F21B33AA-A847-440D-A6BE-0D07F440960D}</a:tableStyleId>
              </a:tblPr>
              <a:tblGrid>
                <a:gridCol w="3038475"/>
                <a:gridCol w="4343400"/>
              </a:tblGrid>
              <a:tr h="800100"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Día, Fecha:</a:t>
                      </a:r>
                      <a:endParaRPr b="1"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t/>
                      </a:r>
                      <a:endParaRPr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Hora de inicio:</a:t>
                      </a:r>
                      <a:endParaRPr b="1"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12:20</a:t>
                      </a:r>
                      <a:endParaRPr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" name="Google Shape;57;g39fc17623ee_0_91"/>
          <p:cNvSpPr txBox="1"/>
          <p:nvPr/>
        </p:nvSpPr>
        <p:spPr>
          <a:xfrm>
            <a:off x="3623750" y="4666350"/>
            <a:ext cx="11008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Programación Comercial 1 [A]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9fc17623ee_0_91"/>
          <p:cNvSpPr txBox="1"/>
          <p:nvPr/>
        </p:nvSpPr>
        <p:spPr>
          <a:xfrm>
            <a:off x="3623750" y="5707950"/>
            <a:ext cx="8712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[Tutor]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952500" y="6801952"/>
            <a:ext cx="6667499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 Comercial I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Sesión </a:t>
            </a: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063303" y="8726189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063303" y="9189100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228599" y="9632950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2"/>
          <p:cNvGrpSpPr/>
          <p:nvPr/>
        </p:nvGrpSpPr>
        <p:grpSpPr>
          <a:xfrm>
            <a:off x="1105333" y="4490010"/>
            <a:ext cx="5791857" cy="876095"/>
            <a:chOff x="0" y="-89275"/>
            <a:chExt cx="2465885" cy="372998"/>
          </a:xfrm>
        </p:grpSpPr>
        <p:sp>
          <p:nvSpPr>
            <p:cNvPr id="74" name="Google Shape;7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0" y="-89275"/>
              <a:ext cx="2465885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78" name="Google Shape;7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9183187" y="2816582"/>
            <a:ext cx="8535943" cy="1701145"/>
            <a:chOff x="-673348" y="-109573"/>
            <a:chExt cx="2248150" cy="448038"/>
          </a:xfrm>
        </p:grpSpPr>
        <p:sp>
          <p:nvSpPr>
            <p:cNvPr id="84" name="Google Shape;8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 txBox="1"/>
            <p:nvPr/>
          </p:nvSpPr>
          <p:spPr>
            <a:xfrm>
              <a:off x="-673348" y="-109573"/>
              <a:ext cx="2248150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10095577" y="4238590"/>
            <a:ext cx="7707085" cy="1809819"/>
            <a:chOff x="-155233" y="-142922"/>
            <a:chExt cx="1565247" cy="476660"/>
          </a:xfrm>
        </p:grpSpPr>
        <p:sp>
          <p:nvSpPr>
            <p:cNvPr id="87" name="Google Shape;8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-155233" y="-142922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1405646" y="5501767"/>
            <a:ext cx="7007952" cy="870160"/>
            <a:chOff x="0" y="-86748"/>
            <a:chExt cx="1964221" cy="370471"/>
          </a:xfrm>
        </p:grpSpPr>
        <p:sp>
          <p:nvSpPr>
            <p:cNvPr id="90" name="Google Shape;9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 txBox="1"/>
            <p:nvPr/>
          </p:nvSpPr>
          <p:spPr>
            <a:xfrm>
              <a:off x="0" y="-8674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PROGRAMA DEL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176619" y="6437042"/>
            <a:ext cx="9850076" cy="845385"/>
            <a:chOff x="0" y="-25947"/>
            <a:chExt cx="4116938" cy="35992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633296" y="-25947"/>
              <a:ext cx="3483642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ACTIVIDAD DE CLASE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691801" y="7303217"/>
            <a:ext cx="8334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TAREA DE FORTALECIMIENTO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878654" y="745087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374905" y="3022088"/>
            <a:ext cx="162456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Manejar e Interpretar adecuadamente datos masivos, sean estos estructurados o no estructurados, facilitando su visualización e interpretación  de forma eficaz en apoyo a la toma de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4337966" y="395245"/>
            <a:ext cx="9612067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3435763" y="4156571"/>
            <a:ext cx="1139742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4046211" y="6100636"/>
            <a:ext cx="3428436" cy="3505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2090111" y="224262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6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60101cbc_0_0"/>
          <p:cNvSpPr txBox="1"/>
          <p:nvPr/>
        </p:nvSpPr>
        <p:spPr>
          <a:xfrm>
            <a:off x="5365470" y="1478875"/>
            <a:ext cx="8035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Medios de Comunicación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9" name="Google Shape;119;g35f60101cbc_0_0"/>
          <p:cNvSpPr txBox="1"/>
          <p:nvPr/>
        </p:nvSpPr>
        <p:spPr>
          <a:xfrm>
            <a:off x="1333701" y="4383138"/>
            <a:ext cx="11247900" cy="297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6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UEDI Foros (Medio Oficial)</a:t>
            </a:r>
            <a:endParaRPr b="1" i="0" sz="6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GMAIL unicamente si no este disponible Uedi: </a:t>
            </a:r>
            <a:endParaRPr b="1" i="0" sz="26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 Correo: [PC1]Asunto Ejemplo: [PC1]Duda nota HT1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2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1763670630308@ingenieria.usac.edu.gt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5f60101cb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7400" y="3692059"/>
            <a:ext cx="3242925" cy="25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5f60101cb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56200" y="7111021"/>
            <a:ext cx="3481775" cy="13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1374889" y="2126480"/>
            <a:ext cx="160509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Seleccionar 5 estudiantes de manera aleatoria a través de</a:t>
            </a:r>
            <a:endParaRPr b="1" i="0" sz="4000" u="none" cap="none" strike="noStrike">
              <a:solidFill>
                <a:srgbClr val="13141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sorteo para que se presenten ante la clase.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ESTUDIANTES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22050" y="4820773"/>
            <a:ext cx="4647350" cy="498806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1319175" y="1593075"/>
            <a:ext cx="602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313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c17623ee_0_643"/>
          <p:cNvSpPr txBox="1"/>
          <p:nvPr/>
        </p:nvSpPr>
        <p:spPr>
          <a:xfrm>
            <a:off x="1489064" y="2976330"/>
            <a:ext cx="16050900" cy="2609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https://create.kahoot.it/share/clase-3/e74bb4d2-77f2-41fe-a1d8-af8f6341b452</a:t>
            </a:r>
            <a:r>
              <a:rPr b="1" i="0" lang="en-US" sz="4000" u="none" cap="none" strike="noStrike">
                <a:solidFill>
                  <a:srgbClr val="13141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9fc17623ee_0_643"/>
          <p:cNvSpPr txBox="1"/>
          <p:nvPr/>
        </p:nvSpPr>
        <p:spPr>
          <a:xfrm>
            <a:off x="1489064" y="15042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EVALUACIÓN CONOCIMIENTOS PREVIOS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g39fc17623ee_0_643"/>
          <p:cNvSpPr txBox="1"/>
          <p:nvPr/>
        </p:nvSpPr>
        <p:spPr>
          <a:xfrm>
            <a:off x="1433350" y="2442925"/>
            <a:ext cx="602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313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9fc17623ee_0_6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125" y="5885805"/>
            <a:ext cx="366712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2392340" y="151507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PROGRAMA DEL CURSO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5094575" y="3134900"/>
            <a:ext cx="8515800" cy="5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600" u="none" cap="none" strike="noStrike">
                <a:solidFill>
                  <a:srgbClr val="FF313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 b="1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8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50">
                <a:solidFill>
                  <a:srgbClr val="131416"/>
                </a:solidFill>
                <a:highlight>
                  <a:srgbClr val="FFFFFF"/>
                </a:highlight>
              </a:rPr>
              <a:t>Se </a:t>
            </a:r>
            <a:r>
              <a:rPr lang="en-US" sz="3950">
                <a:solidFill>
                  <a:srgbClr val="131416"/>
                </a:solidFill>
                <a:highlight>
                  <a:srgbClr val="FFFFFF"/>
                </a:highlight>
              </a:rPr>
              <a:t>dará</a:t>
            </a:r>
            <a:r>
              <a:rPr lang="en-US" sz="3950">
                <a:solidFill>
                  <a:srgbClr val="131416"/>
                </a:solidFill>
                <a:highlight>
                  <a:srgbClr val="FFFFFF"/>
                </a:highlight>
              </a:rPr>
              <a:t> lectura del programa del curso donde se </a:t>
            </a:r>
            <a:r>
              <a:rPr lang="en-US" sz="3950">
                <a:solidFill>
                  <a:srgbClr val="131416"/>
                </a:solidFill>
                <a:highlight>
                  <a:srgbClr val="FFFFFF"/>
                </a:highlight>
              </a:rPr>
              <a:t>verán</a:t>
            </a:r>
            <a:r>
              <a:rPr lang="en-US" sz="3950">
                <a:solidFill>
                  <a:srgbClr val="131416"/>
                </a:solidFill>
                <a:highlight>
                  <a:srgbClr val="FFFFFF"/>
                </a:highlight>
              </a:rPr>
              <a:t> las c</a:t>
            </a:r>
            <a:r>
              <a:rPr b="0" i="0" lang="en-US" sz="3950" u="none" cap="none" strike="noStrike">
                <a:solidFill>
                  <a:srgbClr val="13141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ompetencias y objetivos del curso</a:t>
            </a:r>
            <a:endParaRPr b="0" i="0" sz="3950" u="none" cap="none" strike="noStrike">
              <a:solidFill>
                <a:srgbClr val="13141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8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950" u="none" cap="none" strike="noStrike">
                <a:solidFill>
                  <a:srgbClr val="13141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 b="0" i="0" sz="3950" u="none" cap="none" strike="noStrike">
              <a:solidFill>
                <a:srgbClr val="13141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95400"/>
            <a:ext cx="4882025" cy="41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10363" y="5595400"/>
            <a:ext cx="4033463" cy="39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4362580" y="947933"/>
            <a:ext cx="80358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Normas en Clase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519083" y="2211636"/>
            <a:ext cx="12447639" cy="8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Respeto a sus compañeros, al docente y a ustedes mismos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Prestar atención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Asistencia, para tener derecho a la nota debe cumplir con el 80% de asistencia según las normas estipuladas por la facultad. La asistencia será tomada por actividades dentro del horario que se imparte el curso.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NO SE ACEPTAN NINGUNA ACTIVIDAD TARDE	, bajo ninguna circunstancia.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COPIAS TOTALES O PARCIALES  será reportado a escuela en donde seguirá el proceso de penalización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Comportarse de manera profesional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32d408c6d_0_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32d408c6d_0_70"/>
          <p:cNvSpPr/>
          <p:nvPr/>
        </p:nvSpPr>
        <p:spPr>
          <a:xfrm>
            <a:off x="0" y="0"/>
            <a:ext cx="18288000" cy="1428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32d408c6d_0_70"/>
          <p:cNvSpPr txBox="1"/>
          <p:nvPr/>
        </p:nvSpPr>
        <p:spPr>
          <a:xfrm>
            <a:off x="762000" y="285750"/>
            <a:ext cx="1676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5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Tarea #0 — Estructuras de Datos</a:t>
            </a:r>
            <a:endParaRPr sz="52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9" name="Google Shape;159;g3e32d408c6d_0_70"/>
          <p:cNvSpPr txBox="1"/>
          <p:nvPr/>
        </p:nvSpPr>
        <p:spPr>
          <a:xfrm>
            <a:off x="762000" y="1333500"/>
            <a:ext cx="1676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Laboratorio - Programación Comercial 1 | USAC - Facultad de Ingeniería | 2do Semestre 2026</a:t>
            </a:r>
            <a:endParaRPr sz="20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32d408c6d_0_70"/>
          <p:cNvSpPr/>
          <p:nvPr/>
        </p:nvSpPr>
        <p:spPr>
          <a:xfrm>
            <a:off x="762000" y="2000250"/>
            <a:ext cx="4286400" cy="1428900"/>
          </a:xfrm>
          <a:prstGeom prst="roundRect">
            <a:avLst>
              <a:gd fmla="val 1000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32d408c6d_0_70"/>
          <p:cNvSpPr txBox="1"/>
          <p:nvPr/>
        </p:nvSpPr>
        <p:spPr>
          <a:xfrm>
            <a:off x="952500" y="2095500"/>
            <a:ext cx="3905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Ponderación: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2.5 pts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Tiempo estimado: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2 hrs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2" name="Google Shape;162;g3e32d408c6d_0_70"/>
          <p:cNvSpPr/>
          <p:nvPr/>
        </p:nvSpPr>
        <p:spPr>
          <a:xfrm>
            <a:off x="5238750" y="2000250"/>
            <a:ext cx="12287400" cy="1428900"/>
          </a:xfrm>
          <a:prstGeom prst="roundRect">
            <a:avLst>
              <a:gd fmla="val 10000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32d408c6d_0_70"/>
          <p:cNvSpPr txBox="1"/>
          <p:nvPr/>
        </p:nvSpPr>
        <p:spPr>
          <a:xfrm>
            <a:off x="5524500" y="2095500"/>
            <a:ext cx="11715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OBJETIVO: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El estudiante investigará y organizará información sobre tipos de datos en programación, elaborando una tabla comparativa que muestre sus diferencias y aplicaciones.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4" name="Google Shape;164;g3e32d408c6d_0_70"/>
          <p:cNvSpPr txBox="1"/>
          <p:nvPr/>
        </p:nvSpPr>
        <p:spPr>
          <a:xfrm>
            <a:off x="762000" y="3714750"/>
            <a:ext cx="9525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endParaRPr b="1" sz="24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ibre Franklin"/>
              <a:buChar char="●"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Investigación: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Tipos de datos primitivos y compuestos (entero, flotante, carácter, cadena, booleano, listas, arreglos, estructuras).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ibre Franklin"/>
              <a:buChar char="●"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Implementación: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Tabla comparativa con nombre, descripción, ejemplo, ventajas/desventajas y aplicación.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457200" rtl="0" algn="l">
              <a:spcBef>
                <a:spcPts val="900"/>
              </a:spcBef>
              <a:spcAft>
                <a:spcPts val="900"/>
              </a:spcAft>
              <a:buClr>
                <a:srgbClr val="333333"/>
              </a:buClr>
              <a:buSzPts val="1800"/>
              <a:buFont typeface="Libre Franklin"/>
              <a:buChar char="●"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Reporte: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Generar un PDF con la tabla comparativa, ordenado y claro.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5" name="Google Shape;165;g3e32d408c6d_0_70"/>
          <p:cNvSpPr txBox="1"/>
          <p:nvPr/>
        </p:nvSpPr>
        <p:spPr>
          <a:xfrm>
            <a:off x="762000" y="6667500"/>
            <a:ext cx="9525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</a:t>
            </a:r>
            <a:endParaRPr b="1" sz="24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Archivo PDF subido a UEDI</a:t>
            </a:r>
            <a:b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Nombre: </a:t>
            </a: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PC1_T0_CARNET.pdf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g3e32d408c6d_0_70"/>
          <p:cNvSpPr/>
          <p:nvPr/>
        </p:nvSpPr>
        <p:spPr>
          <a:xfrm>
            <a:off x="10953750" y="3714750"/>
            <a:ext cx="6572400" cy="47625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" name="Google Shape;167;g3e32d408c6d_0_70"/>
          <p:cNvGraphicFramePr/>
          <p:nvPr/>
        </p:nvGraphicFramePr>
        <p:xfrm>
          <a:off x="1123950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{1F699D2F-BC3F-4DD3-B7C2-C30ACDD032D6}</a:tableStyleId>
              </a:tblPr>
              <a:tblGrid>
                <a:gridCol w="3000375"/>
                <a:gridCol w="3000375"/>
              </a:tblGrid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Criterio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Punteo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Investigación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Implementación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Reporte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Presentación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Total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2.50 pts</a:t>
                      </a:r>
                      <a:endParaRPr/>
                    </a:p>
                  </a:txBody>
                  <a:tcPr marT="95250" marB="95250" marR="95250" marL="952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/>
        </p:nvSpPr>
        <p:spPr>
          <a:xfrm>
            <a:off x="4362580" y="947933"/>
            <a:ext cx="8035800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Asignación Dtt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1519083" y="2211636"/>
            <a:ext cx="12447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Libre Franklin Medium"/>
                <a:ea typeface="Libre Franklin Medium"/>
                <a:cs typeface="Libre Franklin Medium"/>
                <a:sym typeface="Libre Franklin Medium"/>
              </a:rPr>
              <a:t>[link de form]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fc17623ee_0_541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9" name="Google Shape;179;g39fc17623ee_0_541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9fc17623ee_0_541"/>
          <p:cNvSpPr txBox="1"/>
          <p:nvPr/>
        </p:nvSpPr>
        <p:spPr>
          <a:xfrm>
            <a:off x="2063501" y="4361450"/>
            <a:ext cx="147552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 b="1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https://uedi.ingenieria.usac.edu.gt/campus/course/view.php?id=1462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Laudon, K. C., &amp; Laudon, J. P. (2016). Sistemas de información gerencial (14 ed.). Pearson Educación. Daniel Cohen, Enrique Asín Lares. Tecnologías de la Información, Estrategias y transformación en los negocios. McGraw Hill. Sexta Edición.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c17623ee_0_11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9fc17623ee_0_11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fc17623ee_0_195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2" name="Google Shape;192;g39fc17623ee_0_195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fc17623ee_0_195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