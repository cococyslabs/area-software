
<file path=[Content_Types].xml><?xml version="1.0" encoding="utf-8"?>
<Types xmlns="http://schemas.openxmlformats.org/package/2006/content-types">
  <Default ContentType="image/jpeg" Extension="jpg"/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y="10287000" cx="18288000"/>
  <p:notesSz cx="6858000" cy="9144000"/>
  <p:embeddedFontLst>
    <p:embeddedFont>
      <p:font typeface="Proxima Nova"/>
      <p:regular r:id="rId26"/>
      <p:bold r:id="rId27"/>
      <p:italic r:id="rId28"/>
      <p:boldItalic r:id="rId29"/>
    </p:embeddedFont>
    <p:embeddedFont>
      <p:font typeface="Tahoma"/>
      <p:regular r:id="rId30"/>
      <p:bold r:id="rId31"/>
    </p:embeddedFont>
    <p:embeddedFont>
      <p:font typeface="Open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6" roundtripDataSignature="AMtx7mjsoEcuBHEogcCfOkbpIXvzkOND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0A708F3-6135-4671-AB1A-3DA50B6B67C3}">
  <a:tblStyle styleId="{10A708F3-6135-4671-AB1A-3DA50B6B67C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ProximaNova-regular.fntdata"/><Relationship Id="rId25" Type="http://schemas.openxmlformats.org/officeDocument/2006/relationships/slide" Target="slides/slide18.xml"/><Relationship Id="rId28" Type="http://schemas.openxmlformats.org/officeDocument/2006/relationships/font" Target="fonts/ProximaNova-italic.fntdata"/><Relationship Id="rId27" Type="http://schemas.openxmlformats.org/officeDocument/2006/relationships/font" Target="fonts/ProximaNova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ProximaNova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Tahoma-bold.fntdata"/><Relationship Id="rId30" Type="http://schemas.openxmlformats.org/officeDocument/2006/relationships/font" Target="fonts/Tahoma-regular.fntdata"/><Relationship Id="rId11" Type="http://schemas.openxmlformats.org/officeDocument/2006/relationships/slide" Target="slides/slide4.xml"/><Relationship Id="rId33" Type="http://schemas.openxmlformats.org/officeDocument/2006/relationships/font" Target="fonts/OpenSans-bold.fntdata"/><Relationship Id="rId10" Type="http://schemas.openxmlformats.org/officeDocument/2006/relationships/slide" Target="slides/slide3.xml"/><Relationship Id="rId32" Type="http://schemas.openxmlformats.org/officeDocument/2006/relationships/font" Target="fonts/OpenSans-regular.fntdata"/><Relationship Id="rId13" Type="http://schemas.openxmlformats.org/officeDocument/2006/relationships/slide" Target="slides/slide6.xml"/><Relationship Id="rId35" Type="http://schemas.openxmlformats.org/officeDocument/2006/relationships/font" Target="fonts/OpenSans-boldItalic.fntdata"/><Relationship Id="rId12" Type="http://schemas.openxmlformats.org/officeDocument/2006/relationships/slide" Target="slides/slide5.xml"/><Relationship Id="rId34" Type="http://schemas.openxmlformats.org/officeDocument/2006/relationships/font" Target="fonts/OpenSans-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36" Type="http://customschemas.google.com/relationships/presentationmetadata" Target="meta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7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e32cacf2e8_22_1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3e32cacf2e8_22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e32cacf2e8_0_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3e32cacf2e8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p28:notes"/>
          <p:cNvSpPr/>
          <p:nvPr>
            <p:ph idx="2" type="sldImg"/>
          </p:nvPr>
        </p:nvSpPr>
        <p:spPr>
          <a:xfrm>
            <a:off x="5715000" y="771525"/>
            <a:ext cx="6859588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9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p29:notes"/>
          <p:cNvSpPr/>
          <p:nvPr>
            <p:ph idx="2" type="sldImg"/>
          </p:nvPr>
        </p:nvSpPr>
        <p:spPr>
          <a:xfrm>
            <a:off x="5715000" y="771525"/>
            <a:ext cx="6859588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8" name="Google Shape;248;p8:notes"/>
          <p:cNvSpPr/>
          <p:nvPr>
            <p:ph idx="2" type="sldImg"/>
          </p:nvPr>
        </p:nvSpPr>
        <p:spPr>
          <a:xfrm>
            <a:off x="5715000" y="771525"/>
            <a:ext cx="6859588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0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9" name="Google Shape;259;p30:notes"/>
          <p:cNvSpPr/>
          <p:nvPr>
            <p:ph idx="2" type="sldImg"/>
          </p:nvPr>
        </p:nvSpPr>
        <p:spPr>
          <a:xfrm>
            <a:off x="5715000" y="771525"/>
            <a:ext cx="6859588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0" name="Google Shape;270;p31:notes"/>
          <p:cNvSpPr/>
          <p:nvPr>
            <p:ph idx="2" type="sldImg"/>
          </p:nvPr>
        </p:nvSpPr>
        <p:spPr>
          <a:xfrm>
            <a:off x="5715000" y="771525"/>
            <a:ext cx="6859588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1" name="Google Shape;281;p33:notes"/>
          <p:cNvSpPr/>
          <p:nvPr>
            <p:ph idx="2" type="sldImg"/>
          </p:nvPr>
        </p:nvSpPr>
        <p:spPr>
          <a:xfrm>
            <a:off x="5715000" y="771525"/>
            <a:ext cx="6859588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e32cacf2e8_22_7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2" name="Google Shape;292;g3e32cacf2e8_22_7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9" name="Google Shape;29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e32cacf2e8_22_6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g3e32cacf2e8_22_6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e32cacf2e8_22_3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g3e32cacf2e8_22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e32cacf2e8_22_5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g3e32cacf2e8_22_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3" name="Google Shape;35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4" name="Google Shape;24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5" name="Google Shape;2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32cacf2e8_7_0)">
  <p:cSld name="Generated (g3e32cacf2e8_7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D">
  <p:cSld name="TITLE_AND_BODY_2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32cacf2e8_22_697"/>
          <p:cNvSpPr/>
          <p:nvPr>
            <p:ph idx="2" type="pic"/>
          </p:nvPr>
        </p:nvSpPr>
        <p:spPr>
          <a:xfrm>
            <a:off x="592598" y="632700"/>
            <a:ext cx="9021600" cy="90216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87" name="Google Shape;87;g3e32cacf2e8_22_697"/>
          <p:cNvSpPr txBox="1"/>
          <p:nvPr>
            <p:ph type="title"/>
          </p:nvPr>
        </p:nvSpPr>
        <p:spPr>
          <a:xfrm>
            <a:off x="10303850" y="579050"/>
            <a:ext cx="7096200" cy="218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88" name="Google Shape;88;g3e32cacf2e8_22_697"/>
          <p:cNvSpPr txBox="1"/>
          <p:nvPr>
            <p:ph idx="1" type="body"/>
          </p:nvPr>
        </p:nvSpPr>
        <p:spPr>
          <a:xfrm>
            <a:off x="10303850" y="3131342"/>
            <a:ext cx="7096200" cy="657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320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320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320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320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3200"/>
              </a:spcBef>
              <a:spcAft>
                <a:spcPts val="3200"/>
              </a:spcAft>
              <a:buSzPts val="28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76">
          <p15:clr>
            <a:srgbClr val="E46962"/>
          </p15:clr>
        </p15:guide>
        <p15:guide id="2" orient="horz" pos="576">
          <p15:clr>
            <a:srgbClr val="E46962"/>
          </p15:clr>
        </p15:guide>
        <p15:guide id="3" orient="horz" pos="5760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" name="Google Shape;90;g3e32cacf2e8_22_701"/>
          <p:cNvCxnSpPr/>
          <p:nvPr/>
        </p:nvCxnSpPr>
        <p:spPr>
          <a:xfrm>
            <a:off x="0" y="5996300"/>
            <a:ext cx="18288000" cy="0"/>
          </a:xfrm>
          <a:prstGeom prst="straightConnector1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" name="Google Shape;91;g3e32cacf2e8_22_701"/>
          <p:cNvSpPr txBox="1"/>
          <p:nvPr>
            <p:ph type="ctrTitle"/>
          </p:nvPr>
        </p:nvSpPr>
        <p:spPr>
          <a:xfrm>
            <a:off x="1020900" y="2514600"/>
            <a:ext cx="16246200" cy="31770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g3e32cacf2e8_22_701"/>
          <p:cNvSpPr txBox="1"/>
          <p:nvPr>
            <p:ph idx="1" type="subTitle"/>
          </p:nvPr>
        </p:nvSpPr>
        <p:spPr>
          <a:xfrm>
            <a:off x="1020900" y="6364625"/>
            <a:ext cx="16246200" cy="12600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g3e32cacf2e8_22_70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" name="Google Shape;95;g3e32cacf2e8_22_706"/>
          <p:cNvCxnSpPr/>
          <p:nvPr/>
        </p:nvCxnSpPr>
        <p:spPr>
          <a:xfrm>
            <a:off x="0" y="5996300"/>
            <a:ext cx="18288000" cy="0"/>
          </a:xfrm>
          <a:prstGeom prst="straightConnector1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g3e32cacf2e8_22_706"/>
          <p:cNvSpPr txBox="1"/>
          <p:nvPr>
            <p:ph type="title"/>
          </p:nvPr>
        </p:nvSpPr>
        <p:spPr>
          <a:xfrm>
            <a:off x="1020900" y="4114800"/>
            <a:ext cx="16246200" cy="15576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7" name="Google Shape;97;g3e32cacf2e8_22_70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32cacf2e8_22_710"/>
          <p:cNvSpPr/>
          <p:nvPr/>
        </p:nvSpPr>
        <p:spPr>
          <a:xfrm>
            <a:off x="0" y="10091400"/>
            <a:ext cx="18288000" cy="19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e32cacf2e8_22_710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01" name="Google Shape;101;g3e32cacf2e8_22_710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320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320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320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320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3200"/>
              </a:spcBef>
              <a:spcAft>
                <a:spcPts val="320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02" name="Google Shape;102;g3e32cacf2e8_22_71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32cacf2e8_22_715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05" name="Google Shape;105;g3e32cacf2e8_22_715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320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320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320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320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3200"/>
              </a:spcBef>
              <a:spcAft>
                <a:spcPts val="320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106" name="Google Shape;106;g3e32cacf2e8_22_715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320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320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320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320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3200"/>
              </a:spcBef>
              <a:spcAft>
                <a:spcPts val="320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107" name="Google Shape;107;g3e32cacf2e8_22_71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32cacf2e8_22_720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10" name="Google Shape;110;g3e32cacf2e8_22_72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32cacf2e8_22_723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3" name="Google Shape;113;g3e32cacf2e8_22_723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320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320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320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320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3200"/>
              </a:spcBef>
              <a:spcAft>
                <a:spcPts val="320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114" name="Google Shape;114;g3e32cacf2e8_22_72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32cacf2e8_22_727"/>
          <p:cNvSpPr txBox="1"/>
          <p:nvPr>
            <p:ph type="title"/>
          </p:nvPr>
        </p:nvSpPr>
        <p:spPr>
          <a:xfrm>
            <a:off x="980500" y="1052700"/>
            <a:ext cx="11595000" cy="8181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117" name="Google Shape;117;g3e32cacf2e8_22_72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32cacf2e8_22_730"/>
          <p:cNvSpPr/>
          <p:nvPr/>
        </p:nvSpPr>
        <p:spPr>
          <a:xfrm>
            <a:off x="9144000" y="150"/>
            <a:ext cx="9144000" cy="10287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" name="Google Shape;120;g3e32cacf2e8_22_730"/>
          <p:cNvCxnSpPr/>
          <p:nvPr/>
        </p:nvCxnSpPr>
        <p:spPr>
          <a:xfrm>
            <a:off x="10059350" y="8991000"/>
            <a:ext cx="936600" cy="0"/>
          </a:xfrm>
          <a:prstGeom prst="straightConnector1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g3e32cacf2e8_22_730"/>
          <p:cNvSpPr txBox="1"/>
          <p:nvPr>
            <p:ph type="title"/>
          </p:nvPr>
        </p:nvSpPr>
        <p:spPr>
          <a:xfrm>
            <a:off x="531000" y="2411650"/>
            <a:ext cx="8090400" cy="30192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122" name="Google Shape;122;g3e32cacf2e8_22_730"/>
          <p:cNvSpPr txBox="1"/>
          <p:nvPr>
            <p:ph idx="1" type="subTitle"/>
          </p:nvPr>
        </p:nvSpPr>
        <p:spPr>
          <a:xfrm>
            <a:off x="531000" y="5538002"/>
            <a:ext cx="8090400" cy="26910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3" name="Google Shape;123;g3e32cacf2e8_22_730"/>
          <p:cNvSpPr txBox="1"/>
          <p:nvPr>
            <p:ph idx="2" type="body"/>
          </p:nvPr>
        </p:nvSpPr>
        <p:spPr>
          <a:xfrm>
            <a:off x="9879000" y="1448400"/>
            <a:ext cx="7674000" cy="739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Char char="●"/>
              <a:defRPr>
                <a:solidFill>
                  <a:schemeClr val="lt1"/>
                </a:solidFill>
              </a:defRPr>
            </a:lvl1pPr>
            <a:lvl2pPr indent="-406400" lvl="1" marL="914400">
              <a:spcBef>
                <a:spcPts val="320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>
                <a:solidFill>
                  <a:schemeClr val="lt1"/>
                </a:solidFill>
              </a:defRPr>
            </a:lvl2pPr>
            <a:lvl3pPr indent="-406400" lvl="2" marL="1371600">
              <a:spcBef>
                <a:spcPts val="320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>
                <a:solidFill>
                  <a:schemeClr val="lt1"/>
                </a:solidFill>
              </a:defRPr>
            </a:lvl3pPr>
            <a:lvl4pPr indent="-406400" lvl="3" marL="1828800">
              <a:spcBef>
                <a:spcPts val="320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>
                <a:solidFill>
                  <a:schemeClr val="lt1"/>
                </a:solidFill>
              </a:defRPr>
            </a:lvl4pPr>
            <a:lvl5pPr indent="-406400" lvl="4" marL="2286000">
              <a:spcBef>
                <a:spcPts val="320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>
                <a:solidFill>
                  <a:schemeClr val="lt1"/>
                </a:solidFill>
              </a:defRPr>
            </a:lvl5pPr>
            <a:lvl6pPr indent="-406400" lvl="5" marL="2743200">
              <a:spcBef>
                <a:spcPts val="320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>
                <a:solidFill>
                  <a:schemeClr val="lt1"/>
                </a:solidFill>
              </a:defRPr>
            </a:lvl6pPr>
            <a:lvl7pPr indent="-406400" lvl="6" marL="3200400">
              <a:spcBef>
                <a:spcPts val="320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>
                <a:solidFill>
                  <a:schemeClr val="lt1"/>
                </a:solidFill>
              </a:defRPr>
            </a:lvl7pPr>
            <a:lvl8pPr indent="-406400" lvl="7" marL="3657600">
              <a:spcBef>
                <a:spcPts val="320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>
                <a:solidFill>
                  <a:schemeClr val="lt1"/>
                </a:solidFill>
              </a:defRPr>
            </a:lvl8pPr>
            <a:lvl9pPr indent="-406400" lvl="8" marL="4114800">
              <a:spcBef>
                <a:spcPts val="3200"/>
              </a:spcBef>
              <a:spcAft>
                <a:spcPts val="3200"/>
              </a:spcAft>
              <a:buClr>
                <a:schemeClr val="lt1"/>
              </a:buClr>
              <a:buSzPts val="2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4" name="Google Shape;124;g3e32cacf2e8_22_73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32cacf2e8_22_737"/>
          <p:cNvSpPr txBox="1"/>
          <p:nvPr>
            <p:ph idx="1" type="body"/>
          </p:nvPr>
        </p:nvSpPr>
        <p:spPr>
          <a:xfrm>
            <a:off x="623400" y="8473650"/>
            <a:ext cx="11997600" cy="1197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</a:lstStyle>
          <a:p/>
        </p:txBody>
      </p:sp>
      <p:sp>
        <p:nvSpPr>
          <p:cNvPr id="127" name="Google Shape;127;g3e32cacf2e8_22_73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32cacf2e8_22_740"/>
          <p:cNvSpPr/>
          <p:nvPr/>
        </p:nvSpPr>
        <p:spPr>
          <a:xfrm>
            <a:off x="0" y="10091400"/>
            <a:ext cx="18288000" cy="19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e32cacf2e8_22_740"/>
          <p:cNvSpPr txBox="1"/>
          <p:nvPr>
            <p:ph hasCustomPrompt="1" type="title"/>
          </p:nvPr>
        </p:nvSpPr>
        <p:spPr>
          <a:xfrm>
            <a:off x="623400" y="1982950"/>
            <a:ext cx="17041200" cy="38358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0"/>
              <a:buNone/>
              <a:defRPr b="1" sz="2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0"/>
              <a:buNone/>
              <a:defRPr b="1" sz="2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0"/>
              <a:buNone/>
              <a:defRPr b="1" sz="2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0"/>
              <a:buNone/>
              <a:defRPr b="1" sz="2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0"/>
              <a:buNone/>
              <a:defRPr b="1" sz="2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0"/>
              <a:buNone/>
              <a:defRPr b="1" sz="2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0"/>
              <a:buNone/>
              <a:defRPr b="1" sz="2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0"/>
              <a:buNone/>
              <a:defRPr b="1" sz="2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0"/>
              <a:buNone/>
              <a:defRPr b="1" sz="28000"/>
            </a:lvl9pPr>
          </a:lstStyle>
          <a:p>
            <a:r>
              <a:t>xx%</a:t>
            </a:r>
          </a:p>
        </p:txBody>
      </p:sp>
      <p:sp>
        <p:nvSpPr>
          <p:cNvPr id="131" name="Google Shape;131;g3e32cacf2e8_22_740"/>
          <p:cNvSpPr txBox="1"/>
          <p:nvPr>
            <p:ph idx="1" type="body"/>
          </p:nvPr>
        </p:nvSpPr>
        <p:spPr>
          <a:xfrm>
            <a:off x="623400" y="6142600"/>
            <a:ext cx="17041200" cy="1803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57200" lvl="0" marL="4572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spcBef>
                <a:spcPts val="320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spcBef>
                <a:spcPts val="320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spcBef>
                <a:spcPts val="320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spcBef>
                <a:spcPts val="320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spcBef>
                <a:spcPts val="3200"/>
              </a:spcBef>
              <a:spcAft>
                <a:spcPts val="320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32" name="Google Shape;132;g3e32cacf2e8_22_74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32cacf2e8_22_74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32cacf2e8_22_693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Proxima Nova"/>
              <a:buNone/>
              <a:defRPr sz="5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Proxima Nova"/>
              <a:buNone/>
              <a:defRPr sz="5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Proxima Nova"/>
              <a:buNone/>
              <a:defRPr sz="5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Proxima Nova"/>
              <a:buNone/>
              <a:defRPr sz="5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Proxima Nova"/>
              <a:buNone/>
              <a:defRPr sz="5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Proxima Nova"/>
              <a:buNone/>
              <a:defRPr sz="5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Proxima Nova"/>
              <a:buNone/>
              <a:defRPr sz="5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Proxima Nova"/>
              <a:buNone/>
              <a:defRPr sz="5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Proxima Nova"/>
              <a:buNone/>
              <a:defRPr sz="5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3" name="Google Shape;83;g3e32cacf2e8_22_693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57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Proxima Nova"/>
              <a:buChar char="●"/>
              <a:defRPr sz="3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406400" lvl="1" marL="9144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Proxima Nova"/>
              <a:buChar char="○"/>
              <a:defRPr sz="2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406400" lvl="2" marL="13716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Proxima Nova"/>
              <a:buChar char="■"/>
              <a:defRPr sz="2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406400" lvl="3" marL="18288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Proxima Nova"/>
              <a:buChar char="●"/>
              <a:defRPr sz="2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406400" lvl="4" marL="22860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Proxima Nova"/>
              <a:buChar char="○"/>
              <a:defRPr sz="2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406400" lvl="5" marL="27432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Proxima Nova"/>
              <a:buChar char="■"/>
              <a:defRPr sz="2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406400" lvl="6" marL="32004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Proxima Nova"/>
              <a:buChar char="●"/>
              <a:defRPr sz="2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406400" lvl="7" marL="36576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Proxima Nova"/>
              <a:buChar char="○"/>
              <a:defRPr sz="2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406400" lvl="8" marL="4114800">
              <a:lnSpc>
                <a:spcPct val="115000"/>
              </a:lnSpc>
              <a:spcBef>
                <a:spcPts val="3200"/>
              </a:spcBef>
              <a:spcAft>
                <a:spcPts val="3200"/>
              </a:spcAft>
              <a:buClr>
                <a:schemeClr val="accent3"/>
              </a:buClr>
              <a:buSzPts val="2800"/>
              <a:buFont typeface="Proxima Nova"/>
              <a:buChar char="■"/>
              <a:defRPr sz="2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4" name="Google Shape;84;g3e32cacf2e8_22_69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 algn="r">
              <a:buNone/>
              <a:defRPr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vmlDrawing" Target="../drawings/vmlDrawing1.vml"/><Relationship Id="rId4" Type="http://schemas.openxmlformats.org/officeDocument/2006/relationships/image" Target="../media/image15.png"/><Relationship Id="rId5" Type="http://schemas.openxmlformats.org/officeDocument/2006/relationships/image" Target="../media/image11.png"/><Relationship Id="rId6" Type="http://schemas.openxmlformats.org/officeDocument/2006/relationships/oleObject" Target="../embeddings/oleObject1.bin"/><Relationship Id="rId7" Type="http://schemas.openxmlformats.org/officeDocument/2006/relationships/oleObject" Target="../embeddings/oleObject1.bin"/><Relationship Id="rId8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2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jpg"/><Relationship Id="rId4" Type="http://schemas.openxmlformats.org/officeDocument/2006/relationships/image" Target="../media/image22.png"/><Relationship Id="rId5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3.jpg"/><Relationship Id="rId4" Type="http://schemas.openxmlformats.org/officeDocument/2006/relationships/image" Target="../media/image3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4.png"/><Relationship Id="rId4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/>
          <p:nvPr/>
        </p:nvSpPr>
        <p:spPr>
          <a:xfrm>
            <a:off x="1969850" y="3030151"/>
            <a:ext cx="15055872" cy="3260981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1" name="Google Shape;141;p1"/>
          <p:cNvGraphicFramePr/>
          <p:nvPr/>
        </p:nvGraphicFramePr>
        <p:xfrm>
          <a:off x="10670025" y="1766775"/>
          <a:ext cx="9524676" cy="1881100"/>
        </p:xfrm>
        <a:graphic>
          <a:graphicData uri="http://schemas.openxmlformats.org/presentationml/2006/ole">
            <mc:AlternateContent>
              <mc:Choice Requires="v">
                <p:oleObj r:id="rId6" imgH="1881100" imgW="9524676" progId="Excel.Sheet.12" spid="_x0000_s1">
                  <p:embed/>
                </p:oleObj>
              </mc:Choice>
              <mc:Fallback>
                <p:oleObj r:id="rId7" imgH="1881100" imgW="9524676" progId="Excel.Sheet.12">
                  <p:embed/>
                  <p:pic>
                    <p:nvPicPr>
                      <p:cNvPr id="141" name="Google Shape;141;p1"/>
                      <p:cNvPicPr preferRelativeResize="0"/>
                      <p:nvPr/>
                    </p:nvPicPr>
                    <p:blipFill rotWithShape="1">
                      <a:blip r:embed="rId8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0670025" y="1766775"/>
                        <a:ext cx="9524676" cy="18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2" name="Google Shape;142;p1"/>
          <p:cNvSpPr txBox="1"/>
          <p:nvPr/>
        </p:nvSpPr>
        <p:spPr>
          <a:xfrm>
            <a:off x="5792614" y="6291132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348639" y="9201150"/>
            <a:ext cx="8386287" cy="13529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rPr b="1" i="0" lang="en-US" sz="314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NOMBRE DEL TUTOR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t/>
            </a:r>
            <a:endParaRPr b="1" i="0" sz="314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4" name="Google Shape;144;p1"/>
          <p:cNvSpPr txBox="1"/>
          <p:nvPr/>
        </p:nvSpPr>
        <p:spPr>
          <a:xfrm>
            <a:off x="2904236" y="3801950"/>
            <a:ext cx="131871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Programación Comercial 1 [Sec.]</a:t>
            </a:r>
            <a:endParaRPr b="1" i="0" sz="4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/>
          <p:nvPr/>
        </p:nvSpPr>
        <p:spPr>
          <a:xfrm>
            <a:off x="0" y="0"/>
            <a:ext cx="18288000" cy="10401300"/>
          </a:xfrm>
          <a:custGeom>
            <a:rect b="b" l="l" r="r" t="t"/>
            <a:pathLst>
              <a:path extrusionOk="0" h="10401300" w="1828800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"/>
          <p:cNvSpPr txBox="1"/>
          <p:nvPr/>
        </p:nvSpPr>
        <p:spPr>
          <a:xfrm>
            <a:off x="1780674" y="2935368"/>
            <a:ext cx="16050125" cy="3791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UNIDAD 1: Base de datos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t/>
            </a:r>
            <a:endParaRPr b="1" i="0" sz="87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1" name="Google Shape;151;p2"/>
          <p:cNvSpPr txBox="1"/>
          <p:nvPr/>
        </p:nvSpPr>
        <p:spPr>
          <a:xfrm>
            <a:off x="3441032" y="4831079"/>
            <a:ext cx="10924673" cy="4653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Introducción a las bases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t/>
            </a:r>
            <a:endParaRPr b="1" i="0" sz="7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"/>
          <p:cNvSpPr/>
          <p:nvPr/>
        </p:nvSpPr>
        <p:spPr>
          <a:xfrm>
            <a:off x="4016947" y="3558803"/>
            <a:ext cx="9896507" cy="5913163"/>
          </a:xfrm>
          <a:custGeom>
            <a:rect b="b" l="l" r="r" t="t"/>
            <a:pathLst>
              <a:path extrusionOk="0" h="5913163" w="9896507">
                <a:moveTo>
                  <a:pt x="0" y="0"/>
                </a:moveTo>
                <a:lnTo>
                  <a:pt x="9896507" y="0"/>
                </a:lnTo>
                <a:lnTo>
                  <a:pt x="9896507" y="5913163"/>
                </a:lnTo>
                <a:lnTo>
                  <a:pt x="0" y="59131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3493371" y="-625307"/>
            <a:ext cx="11301259" cy="5127946"/>
          </a:xfrm>
          <a:custGeom>
            <a:rect b="b" l="l" r="r" t="t"/>
            <a:pathLst>
              <a:path extrusionOk="0" h="5127946" w="11301259">
                <a:moveTo>
                  <a:pt x="0" y="0"/>
                </a:moveTo>
                <a:lnTo>
                  <a:pt x="11301258" y="0"/>
                </a:lnTo>
                <a:lnTo>
                  <a:pt x="11301258" y="5127946"/>
                </a:lnTo>
                <a:lnTo>
                  <a:pt x="0" y="51279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8" name="Google Shape;158;p4"/>
          <p:cNvGrpSpPr/>
          <p:nvPr/>
        </p:nvGrpSpPr>
        <p:grpSpPr>
          <a:xfrm>
            <a:off x="4348823" y="6135326"/>
            <a:ext cx="8175988" cy="845385"/>
            <a:chOff x="2503928" y="4210433"/>
            <a:chExt cx="8175988" cy="845385"/>
          </a:xfrm>
        </p:grpSpPr>
        <p:sp>
          <p:nvSpPr>
            <p:cNvPr id="159" name="Google Shape;159;p4"/>
            <p:cNvSpPr/>
            <p:nvPr/>
          </p:nvSpPr>
          <p:spPr>
            <a:xfrm>
              <a:off x="2503928" y="4380362"/>
              <a:ext cx="453358" cy="550094"/>
            </a:xfrm>
            <a:custGeom>
              <a:rect b="b" l="l" r="r" t="t"/>
              <a:pathLst>
                <a:path extrusionOk="0" h="550094" w="453358">
                  <a:moveTo>
                    <a:pt x="0" y="0"/>
                  </a:moveTo>
                  <a:lnTo>
                    <a:pt x="453359" y="0"/>
                  </a:lnTo>
                  <a:lnTo>
                    <a:pt x="453359" y="550094"/>
                  </a:lnTo>
                  <a:lnTo>
                    <a:pt x="0" y="55009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4"/>
            <p:cNvSpPr txBox="1"/>
            <p:nvPr/>
          </p:nvSpPr>
          <p:spPr>
            <a:xfrm>
              <a:off x="3284241" y="4210433"/>
              <a:ext cx="7395675" cy="8453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BASES DE DATOS CONCEPTOS BÁSICOS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1" name="Google Shape;161;p4"/>
          <p:cNvGrpSpPr/>
          <p:nvPr/>
        </p:nvGrpSpPr>
        <p:grpSpPr>
          <a:xfrm>
            <a:off x="4348823" y="6902726"/>
            <a:ext cx="8175988" cy="845385"/>
            <a:chOff x="2503928" y="4210433"/>
            <a:chExt cx="8175988" cy="845385"/>
          </a:xfrm>
        </p:grpSpPr>
        <p:sp>
          <p:nvSpPr>
            <p:cNvPr id="162" name="Google Shape;162;p4"/>
            <p:cNvSpPr/>
            <p:nvPr/>
          </p:nvSpPr>
          <p:spPr>
            <a:xfrm>
              <a:off x="2503928" y="4380362"/>
              <a:ext cx="453358" cy="550094"/>
            </a:xfrm>
            <a:custGeom>
              <a:rect b="b" l="l" r="r" t="t"/>
              <a:pathLst>
                <a:path extrusionOk="0" h="550094" w="453358">
                  <a:moveTo>
                    <a:pt x="0" y="0"/>
                  </a:moveTo>
                  <a:lnTo>
                    <a:pt x="453359" y="0"/>
                  </a:lnTo>
                  <a:lnTo>
                    <a:pt x="453359" y="550094"/>
                  </a:lnTo>
                  <a:lnTo>
                    <a:pt x="0" y="55009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4"/>
            <p:cNvSpPr txBox="1"/>
            <p:nvPr/>
          </p:nvSpPr>
          <p:spPr>
            <a:xfrm>
              <a:off x="3284241" y="4210433"/>
              <a:ext cx="7395675" cy="8453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TIPOS DE BASES DE DATOS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4" name="Google Shape;164;p4"/>
          <p:cNvGrpSpPr/>
          <p:nvPr/>
        </p:nvGrpSpPr>
        <p:grpSpPr>
          <a:xfrm>
            <a:off x="4362831" y="7641326"/>
            <a:ext cx="8175988" cy="845385"/>
            <a:chOff x="2503928" y="4210433"/>
            <a:chExt cx="8175988" cy="845385"/>
          </a:xfrm>
        </p:grpSpPr>
        <p:sp>
          <p:nvSpPr>
            <p:cNvPr id="165" name="Google Shape;165;p4"/>
            <p:cNvSpPr/>
            <p:nvPr/>
          </p:nvSpPr>
          <p:spPr>
            <a:xfrm>
              <a:off x="2503928" y="4380362"/>
              <a:ext cx="453358" cy="550094"/>
            </a:xfrm>
            <a:custGeom>
              <a:rect b="b" l="l" r="r" t="t"/>
              <a:pathLst>
                <a:path extrusionOk="0" h="550094" w="453358">
                  <a:moveTo>
                    <a:pt x="0" y="0"/>
                  </a:moveTo>
                  <a:lnTo>
                    <a:pt x="453359" y="0"/>
                  </a:lnTo>
                  <a:lnTo>
                    <a:pt x="453359" y="550094"/>
                  </a:lnTo>
                  <a:lnTo>
                    <a:pt x="0" y="55009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4"/>
            <p:cNvSpPr txBox="1"/>
            <p:nvPr/>
          </p:nvSpPr>
          <p:spPr>
            <a:xfrm>
              <a:off x="3284241" y="4210433"/>
              <a:ext cx="7395675" cy="8453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IMPORTANCIA DE LAS BASES DE DATOS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7" name="Google Shape;167;p4"/>
          <p:cNvGrpSpPr/>
          <p:nvPr/>
        </p:nvGrpSpPr>
        <p:grpSpPr>
          <a:xfrm>
            <a:off x="4374546" y="5143500"/>
            <a:ext cx="9879136" cy="845385"/>
            <a:chOff x="2503928" y="4210433"/>
            <a:chExt cx="8075579" cy="845385"/>
          </a:xfrm>
        </p:grpSpPr>
        <p:sp>
          <p:nvSpPr>
            <p:cNvPr id="168" name="Google Shape;168;p4"/>
            <p:cNvSpPr/>
            <p:nvPr/>
          </p:nvSpPr>
          <p:spPr>
            <a:xfrm>
              <a:off x="2503928" y="4380362"/>
              <a:ext cx="349565" cy="550094"/>
            </a:xfrm>
            <a:custGeom>
              <a:rect b="b" l="l" r="r" t="t"/>
              <a:pathLst>
                <a:path extrusionOk="0" h="550094" w="453358">
                  <a:moveTo>
                    <a:pt x="0" y="0"/>
                  </a:moveTo>
                  <a:lnTo>
                    <a:pt x="453359" y="0"/>
                  </a:lnTo>
                  <a:lnTo>
                    <a:pt x="453359" y="550094"/>
                  </a:lnTo>
                  <a:lnTo>
                    <a:pt x="0" y="55009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4"/>
            <p:cNvSpPr txBox="1"/>
            <p:nvPr/>
          </p:nvSpPr>
          <p:spPr>
            <a:xfrm>
              <a:off x="3183832" y="4210433"/>
              <a:ext cx="7395675" cy="8453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VIDEO DEL DÍA: https://youtu.be/iap_Kct8pus?si=6WhUg2V09kGfVYVz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32cacf2e8_22_11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e32cacf2e8_22_114"/>
          <p:cNvSpPr/>
          <p:nvPr/>
        </p:nvSpPr>
        <p:spPr>
          <a:xfrm>
            <a:off x="0" y="0"/>
            <a:ext cx="238200" cy="1028700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6" name="Google Shape;176;g3e32cacf2e8_22_114"/>
          <p:cNvGrpSpPr/>
          <p:nvPr/>
        </p:nvGrpSpPr>
        <p:grpSpPr>
          <a:xfrm>
            <a:off x="1143000" y="762000"/>
            <a:ext cx="9525000" cy="1714500"/>
            <a:chOff x="0" y="0"/>
            <a:chExt cx="9525000" cy="1714500"/>
          </a:xfrm>
        </p:grpSpPr>
        <p:sp>
          <p:nvSpPr>
            <p:cNvPr id="177" name="Google Shape;177;g3e32cacf2e8_22_114"/>
            <p:cNvSpPr txBox="1"/>
            <p:nvPr/>
          </p:nvSpPr>
          <p:spPr>
            <a:xfrm>
              <a:off x="0" y="0"/>
              <a:ext cx="762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718096"/>
                  </a:solidFill>
                  <a:latin typeface="Open Sans"/>
                  <a:ea typeface="Open Sans"/>
                  <a:cs typeface="Open Sans"/>
                  <a:sym typeface="Open Sans"/>
                </a:rPr>
                <a:t>Análisis y síntesis</a:t>
              </a:r>
              <a:endParaRPr b="0" sz="2400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8" name="Google Shape;178;g3e32cacf2e8_22_114"/>
            <p:cNvSpPr txBox="1"/>
            <p:nvPr/>
          </p:nvSpPr>
          <p:spPr>
            <a:xfrm>
              <a:off x="0" y="571500"/>
              <a:ext cx="9525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400">
                  <a:solidFill>
                    <a:srgbClr val="2C5282"/>
                  </a:solidFill>
                  <a:latin typeface="Open Sans"/>
                  <a:ea typeface="Open Sans"/>
                  <a:cs typeface="Open Sans"/>
                  <a:sym typeface="Open Sans"/>
                </a:rPr>
                <a:t>CONCEPTOS CLAVE</a:t>
              </a:r>
              <a:endParaRPr b="1" sz="5400">
                <a:solidFill>
                  <a:srgbClr val="2C5282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79" name="Google Shape;179;g3e32cacf2e8_22_114"/>
          <p:cNvGrpSpPr/>
          <p:nvPr/>
        </p:nvGrpSpPr>
        <p:grpSpPr>
          <a:xfrm>
            <a:off x="1143000" y="2667000"/>
            <a:ext cx="7810500" cy="1714500"/>
            <a:chOff x="0" y="0"/>
            <a:chExt cx="7810500" cy="1714500"/>
          </a:xfrm>
        </p:grpSpPr>
        <p:pic>
          <p:nvPicPr>
            <p:cNvPr id="180" name="Google Shape;180;g3e32cacf2e8_22_1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7810500" cy="1714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" name="Google Shape;181;g3e32cacf2e8_22_114"/>
            <p:cNvSpPr txBox="1"/>
            <p:nvPr/>
          </p:nvSpPr>
          <p:spPr>
            <a:xfrm>
              <a:off x="285750" y="190500"/>
              <a:ext cx="7239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1A365D"/>
                  </a:solidFill>
                  <a:latin typeface="Open Sans"/>
                  <a:ea typeface="Open Sans"/>
                  <a:cs typeface="Open Sans"/>
                  <a:sym typeface="Open Sans"/>
                </a:rPr>
                <a:t>Base de datos:</a:t>
              </a:r>
              <a:r>
                <a:rPr b="0" lang="en-US" sz="180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 Sistema organizado para almacenar, gestionar y acceder a datos de forma eficiente, usando tablas con filas y columnas.</a:t>
              </a:r>
              <a:endParaRPr b="0" sz="180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2" name="Google Shape;182;g3e32cacf2e8_22_114"/>
          <p:cNvGrpSpPr/>
          <p:nvPr/>
        </p:nvGrpSpPr>
        <p:grpSpPr>
          <a:xfrm>
            <a:off x="9334500" y="2667000"/>
            <a:ext cx="7810500" cy="1714500"/>
            <a:chOff x="0" y="0"/>
            <a:chExt cx="7810500" cy="1714500"/>
          </a:xfrm>
        </p:grpSpPr>
        <p:pic>
          <p:nvPicPr>
            <p:cNvPr id="183" name="Google Shape;183;g3e32cacf2e8_22_1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7810500" cy="1714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" name="Google Shape;184;g3e32cacf2e8_22_114"/>
            <p:cNvSpPr txBox="1"/>
            <p:nvPr/>
          </p:nvSpPr>
          <p:spPr>
            <a:xfrm>
              <a:off x="285750" y="190500"/>
              <a:ext cx="7239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1A365D"/>
                  </a:solidFill>
                  <a:latin typeface="Open Sans"/>
                  <a:ea typeface="Open Sans"/>
                  <a:cs typeface="Open Sans"/>
                  <a:sym typeface="Open Sans"/>
                </a:rPr>
                <a:t>Relacional (SQL):</a:t>
              </a:r>
              <a:r>
                <a:rPr b="0" lang="en-US" sz="180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 Organiza información en tablas interconectadas mediante claves primarias y foráneas.</a:t>
              </a:r>
              <a:endParaRPr b="0" sz="180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5" name="Google Shape;185;g3e32cacf2e8_22_114"/>
          <p:cNvGrpSpPr/>
          <p:nvPr/>
        </p:nvGrpSpPr>
        <p:grpSpPr>
          <a:xfrm>
            <a:off x="1143000" y="4572000"/>
            <a:ext cx="7810500" cy="1714500"/>
            <a:chOff x="0" y="0"/>
            <a:chExt cx="7810500" cy="1714500"/>
          </a:xfrm>
        </p:grpSpPr>
        <p:pic>
          <p:nvPicPr>
            <p:cNvPr id="186" name="Google Shape;186;g3e32cacf2e8_22_1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7810500" cy="1714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" name="Google Shape;187;g3e32cacf2e8_22_114"/>
            <p:cNvSpPr txBox="1"/>
            <p:nvPr/>
          </p:nvSpPr>
          <p:spPr>
            <a:xfrm>
              <a:off x="285750" y="190500"/>
              <a:ext cx="7239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1A365D"/>
                  </a:solidFill>
                  <a:latin typeface="Open Sans"/>
                  <a:ea typeface="Open Sans"/>
                  <a:cs typeface="Open Sans"/>
                  <a:sym typeface="Open Sans"/>
                </a:rPr>
                <a:t>No relacional (NoSQL):</a:t>
              </a:r>
              <a:r>
                <a:rPr b="0" lang="en-US" sz="180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 Almacena datos usando modelos alternativos como documentos, grafos, columnas o pares clave-valor.</a:t>
              </a:r>
              <a:endParaRPr b="0" sz="180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8" name="Google Shape;188;g3e32cacf2e8_22_114"/>
          <p:cNvGrpSpPr/>
          <p:nvPr/>
        </p:nvGrpSpPr>
        <p:grpSpPr>
          <a:xfrm>
            <a:off x="9334500" y="4572000"/>
            <a:ext cx="7810500" cy="1714500"/>
            <a:chOff x="0" y="0"/>
            <a:chExt cx="7810500" cy="1714500"/>
          </a:xfrm>
        </p:grpSpPr>
        <p:pic>
          <p:nvPicPr>
            <p:cNvPr id="189" name="Google Shape;189;g3e32cacf2e8_22_1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7810500" cy="1714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" name="Google Shape;190;g3e32cacf2e8_22_114"/>
            <p:cNvSpPr txBox="1"/>
            <p:nvPr/>
          </p:nvSpPr>
          <p:spPr>
            <a:xfrm>
              <a:off x="285750" y="190500"/>
              <a:ext cx="7239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1A365D"/>
                  </a:solidFill>
                  <a:latin typeface="Open Sans"/>
                  <a:ea typeface="Open Sans"/>
                  <a:cs typeface="Open Sans"/>
                  <a:sym typeface="Open Sans"/>
                </a:rPr>
                <a:t>Llaves:</a:t>
              </a:r>
              <a:r>
                <a:rPr b="0" lang="en-US" sz="180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lang="en-US" sz="180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Primaria:</a:t>
              </a:r>
              <a:r>
                <a:rPr b="0" lang="en-US" sz="180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 Identificador único por fila. </a:t>
              </a:r>
              <a:r>
                <a:rPr b="1" lang="en-US" sz="180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Foránea:</a:t>
              </a:r>
              <a:r>
                <a:rPr b="0" lang="en-US" sz="180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 Conecta una tabla con otra.</a:t>
              </a:r>
              <a:endParaRPr b="0" sz="180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1" name="Google Shape;191;g3e32cacf2e8_22_114"/>
          <p:cNvGrpSpPr/>
          <p:nvPr/>
        </p:nvGrpSpPr>
        <p:grpSpPr>
          <a:xfrm>
            <a:off x="1143000" y="6667500"/>
            <a:ext cx="16002000" cy="2476500"/>
            <a:chOff x="0" y="0"/>
            <a:chExt cx="16002000" cy="2476500"/>
          </a:xfrm>
        </p:grpSpPr>
        <p:sp>
          <p:nvSpPr>
            <p:cNvPr id="192" name="Google Shape;192;g3e32cacf2e8_22_114"/>
            <p:cNvSpPr/>
            <p:nvPr/>
          </p:nvSpPr>
          <p:spPr>
            <a:xfrm>
              <a:off x="0" y="0"/>
              <a:ext cx="16002000" cy="2476500"/>
            </a:xfrm>
            <a:prstGeom prst="roundRect">
              <a:avLst>
                <a:gd fmla="val 7692" name="adj"/>
              </a:avLst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g3e32cacf2e8_22_114"/>
            <p:cNvSpPr txBox="1"/>
            <p:nvPr/>
          </p:nvSpPr>
          <p:spPr>
            <a:xfrm>
              <a:off x="381000" y="285750"/>
              <a:ext cx="15240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2D3748"/>
                  </a:solidFill>
                  <a:latin typeface="Open Sans"/>
                  <a:ea typeface="Open Sans"/>
                  <a:cs typeface="Open Sans"/>
                  <a:sym typeface="Open Sans"/>
                </a:rPr>
                <a:t>Componentes del modelo</a:t>
              </a:r>
              <a:endParaRPr b="1" sz="2000">
                <a:solidFill>
                  <a:srgbClr val="2D3748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194" name="Google Shape;194;g3e32cacf2e8_22_114"/>
            <p:cNvGrpSpPr/>
            <p:nvPr/>
          </p:nvGrpSpPr>
          <p:grpSpPr>
            <a:xfrm>
              <a:off x="381000" y="1047750"/>
              <a:ext cx="2667000" cy="952500"/>
              <a:chOff x="0" y="0"/>
              <a:chExt cx="2667000" cy="952500"/>
            </a:xfrm>
          </p:grpSpPr>
          <p:pic>
            <p:nvPicPr>
              <p:cNvPr id="195" name="Google Shape;195;g3e32cacf2e8_22_11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0" y="0"/>
                <a:ext cx="2667000" cy="952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6" name="Google Shape;196;g3e32cacf2e8_22_114"/>
              <p:cNvSpPr txBox="1"/>
              <p:nvPr/>
            </p:nvSpPr>
            <p:spPr>
              <a:xfrm>
                <a:off x="0" y="0"/>
                <a:ext cx="26670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Tabla</a:t>
                </a:r>
                <a:endParaRPr b="1" sz="16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97" name="Google Shape;197;g3e32cacf2e8_22_114"/>
            <p:cNvGrpSpPr/>
            <p:nvPr/>
          </p:nvGrpSpPr>
          <p:grpSpPr>
            <a:xfrm>
              <a:off x="3429000" y="1047750"/>
              <a:ext cx="2667000" cy="952500"/>
              <a:chOff x="0" y="0"/>
              <a:chExt cx="2667000" cy="952500"/>
            </a:xfrm>
          </p:grpSpPr>
          <p:pic>
            <p:nvPicPr>
              <p:cNvPr id="198" name="Google Shape;198;g3e32cacf2e8_22_11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0" y="0"/>
                <a:ext cx="2667000" cy="952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9" name="Google Shape;199;g3e32cacf2e8_22_114"/>
              <p:cNvSpPr txBox="1"/>
              <p:nvPr/>
            </p:nvSpPr>
            <p:spPr>
              <a:xfrm>
                <a:off x="0" y="0"/>
                <a:ext cx="26670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Fila</a:t>
                </a:r>
                <a:endParaRPr b="1" sz="16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200" name="Google Shape;200;g3e32cacf2e8_22_114"/>
            <p:cNvGrpSpPr/>
            <p:nvPr/>
          </p:nvGrpSpPr>
          <p:grpSpPr>
            <a:xfrm>
              <a:off x="6477000" y="1047750"/>
              <a:ext cx="3048000" cy="952500"/>
              <a:chOff x="0" y="0"/>
              <a:chExt cx="3048000" cy="952500"/>
            </a:xfrm>
          </p:grpSpPr>
          <p:pic>
            <p:nvPicPr>
              <p:cNvPr id="201" name="Google Shape;201;g3e32cacf2e8_22_114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0" y="0"/>
                <a:ext cx="3048000" cy="952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2" name="Google Shape;202;g3e32cacf2e8_22_114"/>
              <p:cNvSpPr txBox="1"/>
              <p:nvPr/>
            </p:nvSpPr>
            <p:spPr>
              <a:xfrm>
                <a:off x="0" y="0"/>
                <a:ext cx="30480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Columna</a:t>
                </a:r>
                <a:endParaRPr b="1" sz="16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203" name="Google Shape;203;g3e32cacf2e8_22_114"/>
            <p:cNvGrpSpPr/>
            <p:nvPr/>
          </p:nvGrpSpPr>
          <p:grpSpPr>
            <a:xfrm>
              <a:off x="9906000" y="1047750"/>
              <a:ext cx="2857500" cy="952500"/>
              <a:chOff x="0" y="0"/>
              <a:chExt cx="2857500" cy="952500"/>
            </a:xfrm>
          </p:grpSpPr>
          <p:pic>
            <p:nvPicPr>
              <p:cNvPr id="204" name="Google Shape;204;g3e32cacf2e8_22_114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0" y="0"/>
                <a:ext cx="2857500" cy="952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5" name="Google Shape;205;g3e32cacf2e8_22_114"/>
              <p:cNvSpPr txBox="1"/>
              <p:nvPr/>
            </p:nvSpPr>
            <p:spPr>
              <a:xfrm>
                <a:off x="0" y="0"/>
                <a:ext cx="28575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Llave Primaria</a:t>
                </a:r>
                <a:endParaRPr b="1" sz="16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206" name="Google Shape;206;g3e32cacf2e8_22_114"/>
            <p:cNvGrpSpPr/>
            <p:nvPr/>
          </p:nvGrpSpPr>
          <p:grpSpPr>
            <a:xfrm>
              <a:off x="13144500" y="1047750"/>
              <a:ext cx="2476500" cy="952500"/>
              <a:chOff x="0" y="0"/>
              <a:chExt cx="2476500" cy="952500"/>
            </a:xfrm>
          </p:grpSpPr>
          <p:pic>
            <p:nvPicPr>
              <p:cNvPr id="207" name="Google Shape;207;g3e32cacf2e8_22_114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0" y="0"/>
                <a:ext cx="2476500" cy="952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8" name="Google Shape;208;g3e32cacf2e8_22_114"/>
              <p:cNvSpPr txBox="1"/>
              <p:nvPr/>
            </p:nvSpPr>
            <p:spPr>
              <a:xfrm>
                <a:off x="0" y="0"/>
                <a:ext cx="24765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Llave Foránea</a:t>
                </a:r>
                <a:endParaRPr b="1" sz="16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e32cacf2e8_0_8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e32cacf2e8_0_89"/>
          <p:cNvSpPr/>
          <p:nvPr/>
        </p:nvSpPr>
        <p:spPr>
          <a:xfrm>
            <a:off x="0" y="0"/>
            <a:ext cx="190500" cy="1028700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5" name="Google Shape;215;g3e32cacf2e8_0_89"/>
          <p:cNvGrpSpPr/>
          <p:nvPr/>
        </p:nvGrpSpPr>
        <p:grpSpPr>
          <a:xfrm>
            <a:off x="952500" y="1428750"/>
            <a:ext cx="11430000" cy="8382000"/>
            <a:chOff x="0" y="0"/>
            <a:chExt cx="11430000" cy="8382000"/>
          </a:xfrm>
        </p:grpSpPr>
        <p:sp>
          <p:nvSpPr>
            <p:cNvPr id="216" name="Google Shape;216;g3e32cacf2e8_0_89"/>
            <p:cNvSpPr txBox="1"/>
            <p:nvPr/>
          </p:nvSpPr>
          <p:spPr>
            <a:xfrm>
              <a:off x="0" y="0"/>
              <a:ext cx="9525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800">
                  <a:solidFill>
                    <a:srgbClr val="2C5282"/>
                  </a:solidFill>
                  <a:latin typeface="Open Sans"/>
                  <a:ea typeface="Open Sans"/>
                  <a:cs typeface="Open Sans"/>
                  <a:sym typeface="Open Sans"/>
                </a:rPr>
                <a:t>VALOR DE LA SEMANA</a:t>
              </a:r>
              <a:endParaRPr b="1" sz="4800">
                <a:solidFill>
                  <a:srgbClr val="2C5282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7" name="Google Shape;217;g3e32cacf2e8_0_89"/>
            <p:cNvSpPr txBox="1"/>
            <p:nvPr/>
          </p:nvSpPr>
          <p:spPr>
            <a:xfrm>
              <a:off x="0" y="1714500"/>
              <a:ext cx="114300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0">
                  <a:solidFill>
                    <a:srgbClr val="1A365D"/>
                  </a:solidFill>
                  <a:latin typeface="Open Sans"/>
                  <a:ea typeface="Open Sans"/>
                  <a:cs typeface="Open Sans"/>
                  <a:sym typeface="Open Sans"/>
                </a:rPr>
                <a:t>Compromiso</a:t>
              </a:r>
              <a:endParaRPr b="1" sz="11000">
                <a:solidFill>
                  <a:srgbClr val="1A365D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218" name="Google Shape;218;g3e32cacf2e8_0_8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4572000"/>
              <a:ext cx="9525000" cy="381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9" name="Google Shape;219;g3e32cacf2e8_0_89"/>
            <p:cNvSpPr txBox="1"/>
            <p:nvPr/>
          </p:nvSpPr>
          <p:spPr>
            <a:xfrm>
              <a:off x="476250" y="5048250"/>
              <a:ext cx="85725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72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El compromiso es fundamental esta semana porque nos permite transformar nuestras intenciones en acciones concretas. En el contexto de las bases de datos, implica la responsabilidad de diseñar estructuras íntegras y escalables, asegurando que la información sea un activo confiable para la toma de decisiones.</a:t>
              </a:r>
              <a:endParaRPr b="0" sz="272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A high-quality, professional photograph representing dedication and teamwork in a modern engineering environment. A person focused on a complex task with digital blueprints in the background. Minimalist and clean aesthetic." id="220" name="Google Shape;220;g3e32cacf2e8_0_89"/>
          <p:cNvSpPr/>
          <p:nvPr>
            <p:ph idx="2" type="pic"/>
          </p:nvPr>
        </p:nvSpPr>
        <p:spPr>
          <a:xfrm>
            <a:off x="11620500" y="1714500"/>
            <a:ext cx="6667500" cy="8572500"/>
          </a:xfrm>
          <a:prstGeom prst="roundRect">
            <a:avLst>
              <a:gd fmla="val 5714" name="adj"/>
            </a:avLst>
          </a:prstGeom>
          <a:noFill/>
          <a:ln>
            <a:noFill/>
          </a:ln>
        </p:spPr>
      </p:sp>
      <p:pic>
        <p:nvPicPr>
          <p:cNvPr id="221" name="Google Shape;221;g3e32cacf2e8_0_89"/>
          <p:cNvPicPr preferRelativeResize="0"/>
          <p:nvPr/>
        </p:nvPicPr>
        <p:blipFill rotWithShape="1">
          <a:blip r:embed="rId4">
            <a:alphaModFix/>
          </a:blip>
          <a:srcRect b="0" l="0" r="0" t="2047"/>
          <a:stretch/>
        </p:blipFill>
        <p:spPr>
          <a:xfrm>
            <a:off x="13391700" y="4308800"/>
            <a:ext cx="3125100" cy="33839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"/>
          <p:cNvSpPr/>
          <p:nvPr/>
        </p:nvSpPr>
        <p:spPr>
          <a:xfrm>
            <a:off x="0" y="-160020"/>
            <a:ext cx="18288000" cy="10447020"/>
          </a:xfrm>
          <a:custGeom>
            <a:rect b="b" l="l" r="r" t="t"/>
            <a:pathLst>
              <a:path extrusionOk="0" h="10447020" w="18288000">
                <a:moveTo>
                  <a:pt x="0" y="0"/>
                </a:moveTo>
                <a:lnTo>
                  <a:pt x="18288000" y="0"/>
                </a:lnTo>
                <a:lnTo>
                  <a:pt x="18288000" y="10447020"/>
                </a:lnTo>
                <a:lnTo>
                  <a:pt x="0" y="104470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5"/>
          <p:cNvSpPr txBox="1"/>
          <p:nvPr/>
        </p:nvSpPr>
        <p:spPr>
          <a:xfrm>
            <a:off x="3791583" y="2553528"/>
            <a:ext cx="13533890" cy="51799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685800" lvl="0" marL="68580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Char char="•"/>
            </a:pPr>
            <a:r>
              <a:rPr b="1" i="0" lang="en-US" sz="4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Diseñar </a:t>
            </a:r>
            <a:r>
              <a:rPr b="0" i="0" lang="en-US" sz="4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esquemas de bases de datos relacionales que cumplan con normas de normalización</a:t>
            </a: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685800" lvl="0" marL="68580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Char char="•"/>
            </a:pPr>
            <a:r>
              <a:rPr b="1" i="0" lang="en-US" sz="4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Implementar </a:t>
            </a:r>
            <a:r>
              <a:rPr b="0" i="0" lang="en-US" sz="4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tablas y relaciones en MICROSOFT SQL SERVER aplicando buenas prácticas.</a:t>
            </a:r>
            <a:endParaRPr/>
          </a:p>
          <a:p>
            <a:pPr indent="-685800" lvl="0" marL="68580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Char char="•"/>
            </a:pPr>
            <a:r>
              <a:rPr b="1" i="0" lang="en-US" sz="4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Optimizar </a:t>
            </a:r>
            <a:r>
              <a:rPr b="0" i="0" lang="en-US" sz="4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consultas SQL para garantizar rendimiento y escalabilidad </a:t>
            </a:r>
            <a:endParaRPr b="1" i="0" sz="4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68040" y="6968672"/>
            <a:ext cx="7162799" cy="2762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9600" y="3574785"/>
            <a:ext cx="5276849" cy="3133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8"/>
          <p:cNvSpPr txBox="1"/>
          <p:nvPr>
            <p:ph type="title"/>
          </p:nvPr>
        </p:nvSpPr>
        <p:spPr>
          <a:xfrm>
            <a:off x="2607525" y="-198250"/>
            <a:ext cx="11795700" cy="18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387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¿QUÉ ES UNA BASE DE DATOS?</a:t>
            </a:r>
            <a:endParaRPr/>
          </a:p>
        </p:txBody>
      </p:sp>
      <p:sp>
        <p:nvSpPr>
          <p:cNvPr id="235" name="Google Shape;235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just">
              <a:lnSpc>
                <a:spcPct val="1155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Una base de datos es un sistema organizado para almacenar, gestionar y acceder a datos de forma eficiente. Tomemos de ejemplo a una base de datos como un archivo digital que puede guardar información de manera estructurada, similar a cómo una biblioteca guarda libros. En una base de datos, los datos se organizan en tablas, que son como hojas de cálculo con filas y columnas.</a:t>
            </a:r>
            <a:endParaRPr/>
          </a:p>
          <a:p>
            <a:pPr indent="0" lvl="0" marL="544830" marR="5080" rtl="0" algn="just">
              <a:lnSpc>
                <a:spcPct val="1155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Filas: Cada fila en una tabla representa un registro único, como un estudiante en una clase.</a:t>
            </a:r>
            <a:endParaRPr/>
          </a:p>
          <a:p>
            <a:pPr indent="0" lvl="0" marL="544830" marR="5080" rtl="0" algn="just">
              <a:lnSpc>
                <a:spcPct val="115500"/>
              </a:lnSpc>
              <a:spcBef>
                <a:spcPts val="5"/>
              </a:spcBef>
              <a:spcAft>
                <a:spcPts val="0"/>
              </a:spcAft>
              <a:buSzPts val="1800"/>
              <a:buNone/>
            </a:pPr>
            <a:r>
              <a:rPr lang="en-US"/>
              <a:t>Columnas:  Cada  columna  contiene  un  tipo  específico  de información  sobre  los  registros,  como  el  nombre  del estudiante, su edad o su dirección.</a:t>
            </a:r>
            <a:endParaRPr/>
          </a:p>
        </p:txBody>
      </p:sp>
      <p:pic>
        <p:nvPicPr>
          <p:cNvPr id="236" name="Google Shape;236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76503" y="6259287"/>
            <a:ext cx="110135" cy="110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76503" y="7122012"/>
            <a:ext cx="110135" cy="110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9"/>
          <p:cNvSpPr txBox="1"/>
          <p:nvPr>
            <p:ph type="title"/>
          </p:nvPr>
        </p:nvSpPr>
        <p:spPr>
          <a:xfrm>
            <a:off x="1276824" y="33825"/>
            <a:ext cx="133551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60675">
            <a:spAutoFit/>
          </a:bodyPr>
          <a:lstStyle/>
          <a:p>
            <a:pPr indent="0" lvl="0" marL="2172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TIPOS DE BASES DE DATOS</a:t>
            </a:r>
            <a:endParaRPr/>
          </a:p>
        </p:txBody>
      </p:sp>
      <p:sp>
        <p:nvSpPr>
          <p:cNvPr id="243" name="Google Shape;243;p29"/>
          <p:cNvSpPr txBox="1"/>
          <p:nvPr/>
        </p:nvSpPr>
        <p:spPr>
          <a:xfrm>
            <a:off x="5155458" y="7598064"/>
            <a:ext cx="9107170" cy="21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5080" rtl="0" algn="just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0"/>
              <a:buFont typeface="Arial"/>
              <a:buNone/>
            </a:pPr>
            <a:r>
              <a:rPr b="0" i="0" lang="en-US" sz="23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Una  base  de  datos  no  relacional,  también  conocida  como NoSQL, almacena datos de manera diferente a las bases de datos relacionales. En lugar de usar tablas, estas bases de datos pueden  usar  otros  modelos  de  almacenamiento,  como documentos, grafos, columnas o pares clave-valor.</a:t>
            </a:r>
            <a:endParaRPr/>
          </a:p>
        </p:txBody>
      </p:sp>
      <p:sp>
        <p:nvSpPr>
          <p:cNvPr id="244" name="Google Shape;244;p29"/>
          <p:cNvSpPr txBox="1"/>
          <p:nvPr/>
        </p:nvSpPr>
        <p:spPr>
          <a:xfrm>
            <a:off x="4413605" y="2708541"/>
            <a:ext cx="9107170" cy="279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35369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b="0" i="0" lang="en-US" sz="405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RELACIONALES/SQL</a:t>
            </a:r>
            <a:endParaRPr/>
          </a:p>
          <a:p>
            <a:pPr indent="0" lvl="0" marL="12700" marR="5080" rtl="0" algn="just">
              <a:lnSpc>
                <a:spcPct val="117000"/>
              </a:lnSpc>
              <a:spcBef>
                <a:spcPts val="3779"/>
              </a:spcBef>
              <a:spcAft>
                <a:spcPts val="0"/>
              </a:spcAft>
              <a:buClr>
                <a:srgbClr val="000000"/>
              </a:buClr>
              <a:buSzPts val="2350"/>
              <a:buFont typeface="Arial"/>
              <a:buNone/>
            </a:pPr>
            <a:r>
              <a:rPr b="0" i="0" lang="en-US" sz="23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Una base de datos relacional es un tipo de base de datos que organiza la información en tablas interconectadas. Cada tabla contiene filas y columnas, y las relaciones entre las tablas se definen mediante claves primarias y foráneas.</a:t>
            </a:r>
            <a:endParaRPr/>
          </a:p>
        </p:txBody>
      </p:sp>
      <p:sp>
        <p:nvSpPr>
          <p:cNvPr id="245" name="Google Shape;245;p29"/>
          <p:cNvSpPr txBox="1"/>
          <p:nvPr/>
        </p:nvSpPr>
        <p:spPr>
          <a:xfrm>
            <a:off x="5571300" y="6374975"/>
            <a:ext cx="70191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b="0" i="0" lang="en-US" sz="405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NO RELACIONALES/NOSQL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8"/>
          <p:cNvSpPr txBox="1"/>
          <p:nvPr>
            <p:ph type="title"/>
          </p:nvPr>
        </p:nvSpPr>
        <p:spPr>
          <a:xfrm>
            <a:off x="2777400" y="813725"/>
            <a:ext cx="12733200" cy="15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6050">
            <a:spAutoFit/>
          </a:bodyPr>
          <a:lstStyle/>
          <a:p>
            <a:pPr indent="-3220720" lvl="0" marL="5481955" marR="5080" rtl="0" algn="l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/>
              <a:t>COMPONENTES DE UNA BASE DE DATOS RELACIONAL</a:t>
            </a:r>
            <a:endParaRPr/>
          </a:p>
        </p:txBody>
      </p:sp>
      <p:sp>
        <p:nvSpPr>
          <p:cNvPr id="251" name="Google Shape;251;p8"/>
          <p:cNvSpPr txBox="1"/>
          <p:nvPr/>
        </p:nvSpPr>
        <p:spPr>
          <a:xfrm>
            <a:off x="750627" y="5143499"/>
            <a:ext cx="6776663" cy="32492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194925">
            <a:spAutoFit/>
          </a:bodyPr>
          <a:lstStyle/>
          <a:p>
            <a:pPr indent="159385" lvl="0" marL="1594485" marR="848360" rtl="0" algn="just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Una tabla es como una hoja de cálculo donde cada fila representa un registro y cada columna representa un tipo de dato.</a:t>
            </a:r>
            <a:endParaRPr/>
          </a:p>
        </p:txBody>
      </p:sp>
      <p:sp>
        <p:nvSpPr>
          <p:cNvPr id="252" name="Google Shape;252;p8"/>
          <p:cNvSpPr txBox="1"/>
          <p:nvPr/>
        </p:nvSpPr>
        <p:spPr>
          <a:xfrm>
            <a:off x="9198040" y="4077918"/>
            <a:ext cx="5610860" cy="17567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241300">
            <a:spAutoFit/>
          </a:bodyPr>
          <a:lstStyle/>
          <a:p>
            <a:pPr indent="0" lvl="0" marL="988694" marR="810895" rtl="0" algn="just">
              <a:lnSpc>
                <a:spcPct val="115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Cada fila en una tabla representa un registro único.</a:t>
            </a:r>
            <a:endParaRPr/>
          </a:p>
        </p:txBody>
      </p:sp>
      <p:sp>
        <p:nvSpPr>
          <p:cNvPr id="253" name="Google Shape;253;p8"/>
          <p:cNvSpPr txBox="1"/>
          <p:nvPr/>
        </p:nvSpPr>
        <p:spPr>
          <a:xfrm>
            <a:off x="9198041" y="7530114"/>
            <a:ext cx="5559578" cy="16274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100325">
            <a:spAutoFit/>
          </a:bodyPr>
          <a:lstStyle/>
          <a:p>
            <a:pPr indent="0" lvl="0" marL="53975" marR="213359" rtl="0" algn="just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Cada  columna  contiene  un tipo      específico      de información sobre la entidad en cuestión.</a:t>
            </a:r>
            <a:endParaRPr/>
          </a:p>
        </p:txBody>
      </p:sp>
      <p:sp>
        <p:nvSpPr>
          <p:cNvPr id="254" name="Google Shape;254;p8"/>
          <p:cNvSpPr txBox="1"/>
          <p:nvPr/>
        </p:nvSpPr>
        <p:spPr>
          <a:xfrm>
            <a:off x="2471396" y="4133700"/>
            <a:ext cx="1733700" cy="6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TABLA</a:t>
            </a:r>
            <a:endParaRPr/>
          </a:p>
        </p:txBody>
      </p:sp>
      <p:sp>
        <p:nvSpPr>
          <p:cNvPr id="255" name="Google Shape;255;p8"/>
          <p:cNvSpPr txBox="1"/>
          <p:nvPr/>
        </p:nvSpPr>
        <p:spPr>
          <a:xfrm>
            <a:off x="11020852" y="3325525"/>
            <a:ext cx="1386000" cy="6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FILA</a:t>
            </a:r>
            <a:endParaRPr/>
          </a:p>
        </p:txBody>
      </p:sp>
      <p:sp>
        <p:nvSpPr>
          <p:cNvPr id="256" name="Google Shape;256;p8"/>
          <p:cNvSpPr txBox="1"/>
          <p:nvPr/>
        </p:nvSpPr>
        <p:spPr>
          <a:xfrm>
            <a:off x="10448255" y="6514525"/>
            <a:ext cx="2693400" cy="6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COLUMNA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0"/>
          <p:cNvSpPr/>
          <p:nvPr/>
        </p:nvSpPr>
        <p:spPr>
          <a:xfrm>
            <a:off x="2430212" y="4134794"/>
            <a:ext cx="4904740" cy="3028950"/>
          </a:xfrm>
          <a:custGeom>
            <a:rect b="b" l="l" r="r" t="t"/>
            <a:pathLst>
              <a:path extrusionOk="0" h="3028950" w="4904740">
                <a:moveTo>
                  <a:pt x="4904536" y="3028736"/>
                </a:moveTo>
                <a:lnTo>
                  <a:pt x="0" y="3028736"/>
                </a:lnTo>
                <a:lnTo>
                  <a:pt x="0" y="0"/>
                </a:lnTo>
                <a:lnTo>
                  <a:pt x="4904536" y="0"/>
                </a:lnTo>
                <a:lnTo>
                  <a:pt x="4904536" y="30287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30"/>
          <p:cNvSpPr/>
          <p:nvPr/>
        </p:nvSpPr>
        <p:spPr>
          <a:xfrm>
            <a:off x="8998183" y="4134794"/>
            <a:ext cx="5351145" cy="3178810"/>
          </a:xfrm>
          <a:custGeom>
            <a:rect b="b" l="l" r="r" t="t"/>
            <a:pathLst>
              <a:path extrusionOk="0" h="3178809" w="5351144">
                <a:moveTo>
                  <a:pt x="5350927" y="3178276"/>
                </a:moveTo>
                <a:lnTo>
                  <a:pt x="0" y="3178276"/>
                </a:lnTo>
                <a:lnTo>
                  <a:pt x="0" y="0"/>
                </a:lnTo>
                <a:lnTo>
                  <a:pt x="5350927" y="0"/>
                </a:lnTo>
                <a:lnTo>
                  <a:pt x="5350927" y="317827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3" name="Google Shape;26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1756" y="7713146"/>
            <a:ext cx="10467959" cy="2228849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0"/>
          <p:cNvSpPr txBox="1"/>
          <p:nvPr>
            <p:ph type="title"/>
          </p:nvPr>
        </p:nvSpPr>
        <p:spPr>
          <a:xfrm>
            <a:off x="2895348" y="817069"/>
            <a:ext cx="11795700" cy="18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6050">
            <a:spAutoFit/>
          </a:bodyPr>
          <a:lstStyle/>
          <a:p>
            <a:pPr indent="0" lvl="0" marL="0" marR="5080" rtl="0" algn="ctr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800"/>
              <a:t>COMPONENTES DE UNA BASE DE DATOS RELACIONAL</a:t>
            </a:r>
            <a:endParaRPr/>
          </a:p>
        </p:txBody>
      </p:sp>
      <p:sp>
        <p:nvSpPr>
          <p:cNvPr id="265" name="Google Shape;265;p30"/>
          <p:cNvSpPr txBox="1"/>
          <p:nvPr/>
        </p:nvSpPr>
        <p:spPr>
          <a:xfrm>
            <a:off x="2636980" y="4462301"/>
            <a:ext cx="4504055" cy="2549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5080" rtl="0" algn="just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Es  un  identificador  único para  cada  fila  en  una tabla, como el número de identificación    de    un estudiante.</a:t>
            </a:r>
            <a:endParaRPr/>
          </a:p>
        </p:txBody>
      </p:sp>
      <p:sp>
        <p:nvSpPr>
          <p:cNvPr id="266" name="Google Shape;266;p30"/>
          <p:cNvSpPr txBox="1"/>
          <p:nvPr/>
        </p:nvSpPr>
        <p:spPr>
          <a:xfrm>
            <a:off x="9144000" y="4496168"/>
            <a:ext cx="5076190" cy="3065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5080" rtl="0" algn="just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Es un	campo en una tabla que se refiere a la clave primaria	de otra tabla, creando	una conexión entre las tablas.</a:t>
            </a:r>
            <a:endParaRPr/>
          </a:p>
          <a:p>
            <a:pPr indent="0" lvl="0" marL="0" marR="5080" rtl="0" algn="just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5080" rtl="0" algn="just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t/>
            </a:r>
            <a:endParaRPr b="0" i="0" sz="28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7" name="Google Shape;267;p30"/>
          <p:cNvSpPr txBox="1"/>
          <p:nvPr/>
        </p:nvSpPr>
        <p:spPr>
          <a:xfrm>
            <a:off x="3181062" y="3226615"/>
            <a:ext cx="12191981" cy="6604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LLAVE PRIMARIA	           LLAVE FORANEA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type="title"/>
          </p:nvPr>
        </p:nvSpPr>
        <p:spPr>
          <a:xfrm>
            <a:off x="3063725" y="389175"/>
            <a:ext cx="12666300" cy="8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5750"/>
              <a:t>BASES DE DATOS NO RELACIONALES</a:t>
            </a:r>
            <a:endParaRPr/>
          </a:p>
        </p:txBody>
      </p:sp>
      <p:sp>
        <p:nvSpPr>
          <p:cNvPr id="273" name="Google Shape;273;p31"/>
          <p:cNvSpPr txBox="1"/>
          <p:nvPr/>
        </p:nvSpPr>
        <p:spPr>
          <a:xfrm>
            <a:off x="9589983" y="3410925"/>
            <a:ext cx="5135880" cy="27508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20950">
            <a:spAutoFit/>
          </a:bodyPr>
          <a:lstStyle/>
          <a:p>
            <a:pPr indent="0" lvl="0" marL="374015" marR="366395" rtl="0" algn="ctr">
              <a:lnSpc>
                <a:spcPct val="115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0"/>
              <a:buFont typeface="Arial"/>
              <a:buNone/>
            </a:pPr>
            <a:r>
              <a:rPr b="0" i="0" lang="en-US" sz="27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Usan nodos y aristas para representar datos y sus relaciones, útil para datos altamente interconectados como redes sociales.</a:t>
            </a:r>
            <a:endParaRPr/>
          </a:p>
        </p:txBody>
      </p:sp>
      <p:sp>
        <p:nvSpPr>
          <p:cNvPr id="274" name="Google Shape;274;p31"/>
          <p:cNvSpPr txBox="1"/>
          <p:nvPr/>
        </p:nvSpPr>
        <p:spPr>
          <a:xfrm>
            <a:off x="10596649" y="2437000"/>
            <a:ext cx="2023500" cy="6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GRAFOS</a:t>
            </a:r>
            <a:endParaRPr/>
          </a:p>
        </p:txBody>
      </p:sp>
      <p:sp>
        <p:nvSpPr>
          <p:cNvPr id="275" name="Google Shape;275;p31"/>
          <p:cNvSpPr txBox="1"/>
          <p:nvPr/>
        </p:nvSpPr>
        <p:spPr>
          <a:xfrm>
            <a:off x="2323965" y="7613294"/>
            <a:ext cx="5664200" cy="2197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249550">
            <a:spAutoFit/>
          </a:bodyPr>
          <a:lstStyle/>
          <a:p>
            <a:pPr indent="0" lvl="0" marL="647700" marR="523240" rtl="0" algn="ctr">
              <a:lnSpc>
                <a:spcPct val="115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Almacenan datos en columnas en lugar de filas, ideal para análisis de grandes volúmenes de datos.</a:t>
            </a:r>
            <a:endParaRPr/>
          </a:p>
        </p:txBody>
      </p:sp>
      <p:sp>
        <p:nvSpPr>
          <p:cNvPr id="276" name="Google Shape;276;p31"/>
          <p:cNvSpPr txBox="1"/>
          <p:nvPr/>
        </p:nvSpPr>
        <p:spPr>
          <a:xfrm>
            <a:off x="3263199" y="2444524"/>
            <a:ext cx="3996054" cy="4990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6959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DOCUMENTOS</a:t>
            </a:r>
            <a:endParaRPr/>
          </a:p>
          <a:p>
            <a:pPr indent="0" lvl="0" marL="12700" marR="5080" rtl="0" algn="ctr">
              <a:lnSpc>
                <a:spcPct val="115100"/>
              </a:lnSpc>
              <a:spcBef>
                <a:spcPts val="2675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Almacenan datos en diferentes	estructuras permitiendo almacenar datos complejos en un solo lugar.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195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t/>
            </a:r>
            <a:endParaRPr b="0" i="0" sz="28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746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COLUMNAS</a:t>
            </a:r>
            <a:endParaRPr/>
          </a:p>
        </p:txBody>
      </p:sp>
      <p:sp>
        <p:nvSpPr>
          <p:cNvPr id="277" name="Google Shape;277;p31"/>
          <p:cNvSpPr txBox="1"/>
          <p:nvPr/>
        </p:nvSpPr>
        <p:spPr>
          <a:xfrm>
            <a:off x="9183593" y="7762280"/>
            <a:ext cx="5610860" cy="20726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100950">
            <a:spAutoFit/>
          </a:bodyPr>
          <a:lstStyle/>
          <a:p>
            <a:pPr indent="0" lvl="0" marL="611505" marR="503555" rtl="0" algn="ctr">
              <a:lnSpc>
                <a:spcPct val="115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Almacenan datos como pares de clave y valor, similar a un diccionario, lo que permite un acceso rápido a los datos.</a:t>
            </a:r>
            <a:endParaRPr/>
          </a:p>
        </p:txBody>
      </p:sp>
      <p:sp>
        <p:nvSpPr>
          <p:cNvPr id="278" name="Google Shape;278;p31"/>
          <p:cNvSpPr txBox="1"/>
          <p:nvPr/>
        </p:nvSpPr>
        <p:spPr>
          <a:xfrm>
            <a:off x="9664934" y="6774572"/>
            <a:ext cx="4985978" cy="6604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PARES CLAVE-VALOR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3"/>
          <p:cNvSpPr txBox="1"/>
          <p:nvPr>
            <p:ph type="title"/>
          </p:nvPr>
        </p:nvSpPr>
        <p:spPr>
          <a:xfrm>
            <a:off x="2073719" y="898279"/>
            <a:ext cx="14140562" cy="985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554728" lvl="0" marL="5027930" marR="5080" rtl="0" algn="l">
              <a:lnSpc>
                <a:spcPct val="1165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5400"/>
              <a:t>IMPORTANCIA DE LAS BASES DE DATOS</a:t>
            </a:r>
            <a:endParaRPr/>
          </a:p>
        </p:txBody>
      </p:sp>
      <p:pic>
        <p:nvPicPr>
          <p:cNvPr id="284" name="Google Shape;28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1946" y="2949198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1946" y="3977899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1946" y="5006599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1946" y="6549649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1946" y="8092699"/>
            <a:ext cx="12382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3"/>
          <p:cNvSpPr txBox="1"/>
          <p:nvPr/>
        </p:nvSpPr>
        <p:spPr>
          <a:xfrm>
            <a:off x="1410893" y="2676771"/>
            <a:ext cx="15201265" cy="60111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63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Organización de la Información: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Las bases de datos permiten organizar grandes cantidades de información de manera estructurada, facilitando su acceso y gestión. </a:t>
            </a:r>
            <a:endParaRPr/>
          </a:p>
          <a:p>
            <a:pPr indent="0" lvl="0" marL="12700" marR="5080" rtl="0" algn="l">
              <a:lnSpc>
                <a:spcPct val="1163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5080" rtl="0" algn="l">
              <a:lnSpc>
                <a:spcPct val="1163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Eficiencia y Rapidez: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Permiten realizar operaciones de búsqueda, inserción, actualización y eliminación de datos de manera rápida y eficiente, lo que ahorra tiempo y recursos.</a:t>
            </a:r>
            <a:endParaRPr/>
          </a:p>
          <a:p>
            <a:pPr indent="0" lvl="0" marL="12700" marR="5080" rtl="0" algn="l">
              <a:lnSpc>
                <a:spcPct val="1163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1394460" rtl="0" algn="l">
              <a:lnSpc>
                <a:spcPct val="1163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Seguridad: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Ofrecen mecanismos para proteger la información contra accesos no autorizados, pérdidas y corrupción de datos, garantizando la integridad y confidencialidad de la información.</a:t>
            </a:r>
            <a:endParaRPr/>
          </a:p>
          <a:p>
            <a:pPr indent="0" lvl="0" marL="12700" marR="1394460" rtl="0" algn="l">
              <a:lnSpc>
                <a:spcPct val="1163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1170305" rtl="0" algn="l">
              <a:lnSpc>
                <a:spcPct val="1163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Reducción de Redundancia: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Ayudan a evitar la duplicación de datos mediante la normalización, lo que reduce el espacio de almacenamiento necesario y mejora la consistencia de la información.</a:t>
            </a:r>
            <a:endParaRPr/>
          </a:p>
          <a:p>
            <a:pPr indent="0" lvl="0" marL="12700" marR="1170305" rtl="0" algn="l">
              <a:lnSpc>
                <a:spcPct val="1163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347345" rtl="0" algn="just">
              <a:lnSpc>
                <a:spcPct val="1163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Escalabilidad: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Las bases de datos están diseñadas para crecer junto con la cantidad de datos, permitiendo la escalabilidad y adaptación a mayores volúmenes de información sin pérdida de rendimiento.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e32cacf2e8_22_748"/>
          <p:cNvSpPr txBox="1"/>
          <p:nvPr>
            <p:ph idx="4294967295" type="title"/>
          </p:nvPr>
        </p:nvSpPr>
        <p:spPr>
          <a:xfrm>
            <a:off x="2073719" y="898279"/>
            <a:ext cx="141405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554727" lvl="0" marL="5027930" marR="5080" rtl="0" algn="l">
              <a:lnSpc>
                <a:spcPct val="1165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5400"/>
              <a:t>Ejemplo </a:t>
            </a:r>
            <a:r>
              <a:rPr lang="en-US" sz="5400"/>
              <a:t>Práctico</a:t>
            </a:r>
            <a:endParaRPr/>
          </a:p>
        </p:txBody>
      </p:sp>
      <p:sp>
        <p:nvSpPr>
          <p:cNvPr id="295" name="Google Shape;295;g3e32cacf2e8_22_748"/>
          <p:cNvSpPr txBox="1"/>
          <p:nvPr/>
        </p:nvSpPr>
        <p:spPr>
          <a:xfrm>
            <a:off x="3263202" y="2444525"/>
            <a:ext cx="11098200" cy="13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746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4200">
                <a:latin typeface="Trebuchet MS"/>
                <a:ea typeface="Trebuchet MS"/>
                <a:cs typeface="Trebuchet MS"/>
                <a:sym typeface="Trebuchet MS"/>
              </a:rPr>
              <a:t>A Continuación</a:t>
            </a:r>
            <a:r>
              <a:rPr lang="en-US" sz="4200">
                <a:latin typeface="Trebuchet MS"/>
                <a:ea typeface="Trebuchet MS"/>
                <a:cs typeface="Trebuchet MS"/>
                <a:sym typeface="Trebuchet MS"/>
              </a:rPr>
              <a:t> se </a:t>
            </a:r>
            <a:r>
              <a:rPr lang="en-US" sz="4200">
                <a:latin typeface="Trebuchet MS"/>
                <a:ea typeface="Trebuchet MS"/>
                <a:cs typeface="Trebuchet MS"/>
                <a:sym typeface="Trebuchet MS"/>
              </a:rPr>
              <a:t>realizará</a:t>
            </a:r>
            <a:r>
              <a:rPr lang="en-US" sz="4200">
                <a:latin typeface="Trebuchet MS"/>
                <a:ea typeface="Trebuchet MS"/>
                <a:cs typeface="Trebuchet MS"/>
                <a:sym typeface="Trebuchet MS"/>
              </a:rPr>
              <a:t> un Ejemplo </a:t>
            </a:r>
            <a:r>
              <a:rPr lang="en-US" sz="4200">
                <a:latin typeface="Trebuchet MS"/>
                <a:ea typeface="Trebuchet MS"/>
                <a:cs typeface="Trebuchet MS"/>
                <a:sym typeface="Trebuchet MS"/>
              </a:rPr>
              <a:t>práctico</a:t>
            </a:r>
            <a:endParaRPr/>
          </a:p>
        </p:txBody>
      </p:sp>
      <p:pic>
        <p:nvPicPr>
          <p:cNvPr id="296" name="Google Shape;296;g3e32cacf2e8_22_748" title="Gemini_Generated_Image_k3gbyrk3gbyrk3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8575" y="4780725"/>
            <a:ext cx="7000174" cy="4361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4"/>
          <p:cNvSpPr/>
          <p:nvPr/>
        </p:nvSpPr>
        <p:spPr>
          <a:xfrm>
            <a:off x="3861682" y="595298"/>
            <a:ext cx="10564636" cy="8663002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g3e32cacf2e8_22_683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2" y="0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07" name="Google Shape;307;g3e32cacf2e8_22_683"/>
          <p:cNvGraphicFramePr/>
          <p:nvPr/>
        </p:nvGraphicFramePr>
        <p:xfrm>
          <a:off x="16900" y="150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{10A708F3-6135-4671-AB1A-3DA50B6B67C3}</a:tableStyleId>
              </a:tblPr>
              <a:tblGrid>
                <a:gridCol w="5533100"/>
                <a:gridCol w="4926650"/>
              </a:tblGrid>
              <a:tr h="6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Nombre de la actividad: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/>
                        <a:t>Ejercicio Demostrativo</a:t>
                      </a:r>
                      <a:endParaRPr sz="2800" u="none" cap="none" strike="noStrike"/>
                    </a:p>
                  </a:txBody>
                  <a:tcPr marT="182850" marB="182850" marR="182850" marL="182850"/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Cantidad de participantes: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/>
                </a:tc>
              </a:tr>
              <a:tr h="6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Doy fe que esta actividad está planificada en dtt (Sí/No):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/>
                        <a:t>Si</a:t>
                      </a:r>
                      <a:endParaRPr sz="2800" u="none" cap="none" strike="noStrike"/>
                    </a:p>
                  </a:txBody>
                  <a:tcPr marT="182850" marB="182850" marR="182850" marL="182850"/>
                </a:tc>
              </a:tr>
            </a:tbl>
          </a:graphicData>
        </a:graphic>
      </p:graphicFrame>
      <p:sp>
        <p:nvSpPr>
          <p:cNvPr id="308" name="Google Shape;308;g3e32cacf2e8_22_683"/>
          <p:cNvSpPr txBox="1"/>
          <p:nvPr/>
        </p:nvSpPr>
        <p:spPr>
          <a:xfrm>
            <a:off x="0" y="4281900"/>
            <a:ext cx="18037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Participantes: llenar las siguientes cajas de texto (tomar información del chat del meet)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9" name="Google Shape;309;g3e32cacf2e8_22_683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{10A708F3-6135-4671-AB1A-3DA50B6B67C3}</a:tableStyleId>
              </a:tblPr>
              <a:tblGrid>
                <a:gridCol w="3036400"/>
                <a:gridCol w="4344750"/>
              </a:tblGrid>
              <a:tr h="6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/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fin: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/>
                </a:tc>
              </a:tr>
              <a:tr h="6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Duración (min):</a:t>
                      </a:r>
                      <a:endParaRPr b="1" sz="1000" u="none" cap="none" strike="noStrike"/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/>
                        <a:t>30 </a:t>
                      </a:r>
                      <a:r>
                        <a:rPr lang="en-US" sz="2800"/>
                        <a:t>min</a:t>
                      </a:r>
                      <a:endParaRPr sz="2800" u="none" cap="none" strike="noStrike"/>
                    </a:p>
                  </a:txBody>
                  <a:tcPr marT="182850" marB="182850" marR="182850" marL="182850"/>
                </a:tc>
              </a:tr>
            </a:tbl>
          </a:graphicData>
        </a:graphic>
      </p:graphicFrame>
      <p:sp>
        <p:nvSpPr>
          <p:cNvPr id="310" name="Google Shape;310;g3e32cacf2e8_22_683"/>
          <p:cNvSpPr txBox="1"/>
          <p:nvPr/>
        </p:nvSpPr>
        <p:spPr>
          <a:xfrm>
            <a:off x="6261600" y="4955800"/>
            <a:ext cx="6167400" cy="5110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g3e32cacf2e8_22_683"/>
          <p:cNvSpPr txBox="1"/>
          <p:nvPr/>
        </p:nvSpPr>
        <p:spPr>
          <a:xfrm>
            <a:off x="12506300" y="4955800"/>
            <a:ext cx="5764800" cy="5110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g3e32cacf2e8_22_683"/>
          <p:cNvSpPr txBox="1"/>
          <p:nvPr/>
        </p:nvSpPr>
        <p:spPr>
          <a:xfrm>
            <a:off x="16900" y="4955800"/>
            <a:ext cx="6167400" cy="5110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e32cacf2e8_22_32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e32cacf2e8_22_320"/>
          <p:cNvSpPr/>
          <p:nvPr/>
        </p:nvSpPr>
        <p:spPr>
          <a:xfrm>
            <a:off x="1428750" y="2286000"/>
            <a:ext cx="15430500" cy="19200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e32cacf2e8_22_320"/>
          <p:cNvSpPr txBox="1"/>
          <p:nvPr/>
        </p:nvSpPr>
        <p:spPr>
          <a:xfrm>
            <a:off x="1428750" y="762000"/>
            <a:ext cx="154305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REFERENCIAS</a:t>
            </a:r>
            <a:endParaRPr b="0" sz="5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0" name="Google Shape;320;g3e32cacf2e8_22_320"/>
          <p:cNvGrpSpPr/>
          <p:nvPr/>
        </p:nvGrpSpPr>
        <p:grpSpPr>
          <a:xfrm>
            <a:off x="1428750" y="2952750"/>
            <a:ext cx="15430650" cy="952500"/>
            <a:chOff x="1428750" y="2952750"/>
            <a:chExt cx="15430650" cy="952500"/>
          </a:xfrm>
        </p:grpSpPr>
        <p:sp>
          <p:nvSpPr>
            <p:cNvPr id="321" name="Google Shape;321;g3e32cacf2e8_22_320"/>
            <p:cNvSpPr/>
            <p:nvPr/>
          </p:nvSpPr>
          <p:spPr>
            <a:xfrm>
              <a:off x="1428750" y="3048000"/>
              <a:ext cx="381000" cy="381000"/>
            </a:xfrm>
            <a:prstGeom prst="roundRect">
              <a:avLst>
                <a:gd fmla="val 10000" name="adj"/>
              </a:avLst>
            </a:prstGeom>
            <a:solidFill>
              <a:srgbClr val="005A9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g3e32cacf2e8_22_320"/>
            <p:cNvSpPr txBox="1"/>
            <p:nvPr/>
          </p:nvSpPr>
          <p:spPr>
            <a:xfrm>
              <a:off x="2095500" y="2952750"/>
              <a:ext cx="14763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333333"/>
                  </a:solidFill>
                  <a:latin typeface="Tahoma"/>
                  <a:ea typeface="Tahoma"/>
                  <a:cs typeface="Tahoma"/>
                  <a:sym typeface="Tahoma"/>
                </a:rPr>
                <a:t>Material de clase Semana 2 — Programación Comercial 1, 2S2026, ECYS-FIUSAC-USAC</a:t>
              </a:r>
              <a:endParaRPr b="0" sz="2800">
                <a:solidFill>
                  <a:srgbClr val="333333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323" name="Google Shape;323;g3e32cacf2e8_22_320"/>
          <p:cNvGrpSpPr/>
          <p:nvPr/>
        </p:nvGrpSpPr>
        <p:grpSpPr>
          <a:xfrm>
            <a:off x="1428750" y="4381500"/>
            <a:ext cx="15430650" cy="952500"/>
            <a:chOff x="1428750" y="4381500"/>
            <a:chExt cx="15430650" cy="952500"/>
          </a:xfrm>
        </p:grpSpPr>
        <p:sp>
          <p:nvSpPr>
            <p:cNvPr id="324" name="Google Shape;324;g3e32cacf2e8_22_320"/>
            <p:cNvSpPr/>
            <p:nvPr/>
          </p:nvSpPr>
          <p:spPr>
            <a:xfrm>
              <a:off x="1428750" y="4476750"/>
              <a:ext cx="381000" cy="381000"/>
            </a:xfrm>
            <a:prstGeom prst="roundRect">
              <a:avLst>
                <a:gd fmla="val 10000" name="adj"/>
              </a:avLst>
            </a:prstGeom>
            <a:solidFill>
              <a:srgbClr val="005A9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g3e32cacf2e8_22_320"/>
            <p:cNvSpPr txBox="1"/>
            <p:nvPr/>
          </p:nvSpPr>
          <p:spPr>
            <a:xfrm>
              <a:off x="2095500" y="4381500"/>
              <a:ext cx="14763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333333"/>
                  </a:solidFill>
                  <a:latin typeface="Tahoma"/>
                  <a:ea typeface="Tahoma"/>
                  <a:cs typeface="Tahoma"/>
                  <a:sym typeface="Tahoma"/>
                </a:rPr>
                <a:t>Video de apoyo: https://youtu.be/iap_Kct8pus?si=6WhUg2V09kGfVYVz</a:t>
              </a:r>
              <a:endParaRPr b="0" sz="2800">
                <a:solidFill>
                  <a:srgbClr val="333333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326" name="Google Shape;326;g3e32cacf2e8_22_320"/>
          <p:cNvGrpSpPr/>
          <p:nvPr/>
        </p:nvGrpSpPr>
        <p:grpSpPr>
          <a:xfrm>
            <a:off x="1428750" y="5810250"/>
            <a:ext cx="15430650" cy="952500"/>
            <a:chOff x="1428750" y="5810250"/>
            <a:chExt cx="15430650" cy="952500"/>
          </a:xfrm>
        </p:grpSpPr>
        <p:sp>
          <p:nvSpPr>
            <p:cNvPr id="327" name="Google Shape;327;g3e32cacf2e8_22_320"/>
            <p:cNvSpPr/>
            <p:nvPr/>
          </p:nvSpPr>
          <p:spPr>
            <a:xfrm>
              <a:off x="1428750" y="5905500"/>
              <a:ext cx="381000" cy="381000"/>
            </a:xfrm>
            <a:prstGeom prst="roundRect">
              <a:avLst>
                <a:gd fmla="val 10000" name="adj"/>
              </a:avLst>
            </a:prstGeom>
            <a:solidFill>
              <a:srgbClr val="005A9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g3e32cacf2e8_22_320"/>
            <p:cNvSpPr txBox="1"/>
            <p:nvPr/>
          </p:nvSpPr>
          <p:spPr>
            <a:xfrm>
              <a:off x="2095500" y="5810250"/>
              <a:ext cx="14763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333333"/>
                  </a:solidFill>
                  <a:latin typeface="Tahoma"/>
                  <a:ea typeface="Tahoma"/>
                  <a:cs typeface="Tahoma"/>
                  <a:sym typeface="Tahoma"/>
                </a:rPr>
                <a:t>Documentación oficial Microsoft SQL Server</a:t>
              </a:r>
              <a:endParaRPr b="0" sz="2800">
                <a:solidFill>
                  <a:srgbClr val="333333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descr="A clean, minimalist 3D isometric icon of a library or a set of organized digital documents, representing reference materials. High quality, professional presentation style." id="329" name="Google Shape;329;g3e32cacf2e8_22_3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49250" y="7429500"/>
            <a:ext cx="3810000" cy="21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g3e32cacf2e8_22_3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73700" y="6762750"/>
            <a:ext cx="1733550" cy="278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g3e32cacf2e8_22_5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g3e32cacf2e8_22_513"/>
          <p:cNvSpPr/>
          <p:nvPr/>
        </p:nvSpPr>
        <p:spPr>
          <a:xfrm>
            <a:off x="1428750" y="2286000"/>
            <a:ext cx="15430500" cy="19200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e32cacf2e8_22_513"/>
          <p:cNvSpPr txBox="1"/>
          <p:nvPr/>
        </p:nvSpPr>
        <p:spPr>
          <a:xfrm>
            <a:off x="1428750" y="762000"/>
            <a:ext cx="154305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RECURSOS</a:t>
            </a:r>
            <a:endParaRPr b="0" sz="5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8" name="Google Shape;338;g3e32cacf2e8_22_513"/>
          <p:cNvGrpSpPr/>
          <p:nvPr/>
        </p:nvGrpSpPr>
        <p:grpSpPr>
          <a:xfrm>
            <a:off x="1428750" y="2952750"/>
            <a:ext cx="15430650" cy="571500"/>
            <a:chOff x="1428750" y="2952750"/>
            <a:chExt cx="15430650" cy="571500"/>
          </a:xfrm>
        </p:grpSpPr>
        <p:sp>
          <p:nvSpPr>
            <p:cNvPr id="339" name="Google Shape;339;g3e32cacf2e8_22_513"/>
            <p:cNvSpPr/>
            <p:nvPr/>
          </p:nvSpPr>
          <p:spPr>
            <a:xfrm>
              <a:off x="1428750" y="3048000"/>
              <a:ext cx="381000" cy="381000"/>
            </a:xfrm>
            <a:prstGeom prst="roundRect">
              <a:avLst>
                <a:gd fmla="val 10000" name="adj"/>
              </a:avLst>
            </a:prstGeom>
            <a:solidFill>
              <a:srgbClr val="005A9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g3e32cacf2e8_22_513"/>
            <p:cNvSpPr txBox="1"/>
            <p:nvPr/>
          </p:nvSpPr>
          <p:spPr>
            <a:xfrm>
              <a:off x="2095500" y="2952750"/>
              <a:ext cx="14763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333333"/>
                  </a:solidFill>
                  <a:latin typeface="Tahoma"/>
                  <a:ea typeface="Tahoma"/>
                  <a:cs typeface="Tahoma"/>
                  <a:sym typeface="Tahoma"/>
                </a:rPr>
                <a:t>Microsoft SQL Server</a:t>
              </a:r>
              <a:endParaRPr b="0" sz="2800">
                <a:solidFill>
                  <a:srgbClr val="333333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341" name="Google Shape;341;g3e32cacf2e8_22_513"/>
          <p:cNvGrpSpPr/>
          <p:nvPr/>
        </p:nvGrpSpPr>
        <p:grpSpPr>
          <a:xfrm>
            <a:off x="1428750" y="3905250"/>
            <a:ext cx="15430650" cy="571500"/>
            <a:chOff x="1428750" y="3905250"/>
            <a:chExt cx="15430650" cy="571500"/>
          </a:xfrm>
        </p:grpSpPr>
        <p:sp>
          <p:nvSpPr>
            <p:cNvPr id="342" name="Google Shape;342;g3e32cacf2e8_22_513"/>
            <p:cNvSpPr/>
            <p:nvPr/>
          </p:nvSpPr>
          <p:spPr>
            <a:xfrm>
              <a:off x="1428750" y="4000500"/>
              <a:ext cx="381000" cy="381000"/>
            </a:xfrm>
            <a:prstGeom prst="roundRect">
              <a:avLst>
                <a:gd fmla="val 10000" name="adj"/>
              </a:avLst>
            </a:prstGeom>
            <a:solidFill>
              <a:srgbClr val="005A9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g3e32cacf2e8_22_513"/>
            <p:cNvSpPr txBox="1"/>
            <p:nvPr/>
          </p:nvSpPr>
          <p:spPr>
            <a:xfrm>
              <a:off x="2095500" y="3905250"/>
              <a:ext cx="14763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333333"/>
                  </a:solidFill>
                  <a:latin typeface="Tahoma"/>
                  <a:ea typeface="Tahoma"/>
                  <a:cs typeface="Tahoma"/>
                  <a:sym typeface="Tahoma"/>
                </a:rPr>
                <a:t>Plataforma UEDI (entrega de tareas)</a:t>
              </a:r>
              <a:endParaRPr b="0" sz="2800">
                <a:solidFill>
                  <a:srgbClr val="333333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344" name="Google Shape;344;g3e32cacf2e8_22_513"/>
          <p:cNvGrpSpPr/>
          <p:nvPr/>
        </p:nvGrpSpPr>
        <p:grpSpPr>
          <a:xfrm>
            <a:off x="1428750" y="4857750"/>
            <a:ext cx="15430650" cy="571500"/>
            <a:chOff x="1428750" y="4857750"/>
            <a:chExt cx="15430650" cy="571500"/>
          </a:xfrm>
        </p:grpSpPr>
        <p:sp>
          <p:nvSpPr>
            <p:cNvPr id="345" name="Google Shape;345;g3e32cacf2e8_22_513"/>
            <p:cNvSpPr/>
            <p:nvPr/>
          </p:nvSpPr>
          <p:spPr>
            <a:xfrm>
              <a:off x="1428750" y="4953000"/>
              <a:ext cx="381000" cy="381000"/>
            </a:xfrm>
            <a:prstGeom prst="roundRect">
              <a:avLst>
                <a:gd fmla="val 10000" name="adj"/>
              </a:avLst>
            </a:prstGeom>
            <a:solidFill>
              <a:srgbClr val="005A9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g3e32cacf2e8_22_513"/>
            <p:cNvSpPr txBox="1"/>
            <p:nvPr/>
          </p:nvSpPr>
          <p:spPr>
            <a:xfrm>
              <a:off x="2095500" y="4857750"/>
              <a:ext cx="14763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333333"/>
                  </a:solidFill>
                  <a:latin typeface="Tahoma"/>
                  <a:ea typeface="Tahoma"/>
                  <a:cs typeface="Tahoma"/>
                  <a:sym typeface="Tahoma"/>
                </a:rPr>
                <a:t>Video YouTube enlazado en la agenda</a:t>
              </a:r>
              <a:endParaRPr b="0" sz="2800">
                <a:solidFill>
                  <a:srgbClr val="333333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347" name="Google Shape;347;g3e32cacf2e8_22_513"/>
          <p:cNvGrpSpPr/>
          <p:nvPr/>
        </p:nvGrpSpPr>
        <p:grpSpPr>
          <a:xfrm>
            <a:off x="1428750" y="5810250"/>
            <a:ext cx="15430650" cy="571500"/>
            <a:chOff x="1428750" y="5810250"/>
            <a:chExt cx="15430650" cy="571500"/>
          </a:xfrm>
        </p:grpSpPr>
        <p:sp>
          <p:nvSpPr>
            <p:cNvPr id="348" name="Google Shape;348;g3e32cacf2e8_22_513"/>
            <p:cNvSpPr/>
            <p:nvPr/>
          </p:nvSpPr>
          <p:spPr>
            <a:xfrm>
              <a:off x="1428750" y="5905500"/>
              <a:ext cx="381000" cy="381000"/>
            </a:xfrm>
            <a:prstGeom prst="roundRect">
              <a:avLst>
                <a:gd fmla="val 10000" name="adj"/>
              </a:avLst>
            </a:prstGeom>
            <a:solidFill>
              <a:srgbClr val="005A9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g3e32cacf2e8_22_513"/>
            <p:cNvSpPr txBox="1"/>
            <p:nvPr/>
          </p:nvSpPr>
          <p:spPr>
            <a:xfrm>
              <a:off x="2095500" y="5810250"/>
              <a:ext cx="14763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333333"/>
                  </a:solidFill>
                  <a:latin typeface="Tahoma"/>
                  <a:ea typeface="Tahoma"/>
                  <a:cs typeface="Tahoma"/>
                  <a:sym typeface="Tahoma"/>
                </a:rPr>
                <a:t>Logos institucionales: ECYS, FIUSAC, USAC, DITT, Cococys</a:t>
              </a:r>
              <a:endParaRPr b="0" sz="2800">
                <a:solidFill>
                  <a:srgbClr val="333333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350" name="Google Shape;350;g3e32cacf2e8_22_513" title="Gemini_Generated_Image_k3gbyrk3gbyrk3gb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87825" y="2962775"/>
            <a:ext cx="7000174" cy="4361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5"/>
          <p:cNvSpPr/>
          <p:nvPr/>
        </p:nvSpPr>
        <p:spPr>
          <a:xfrm>
            <a:off x="814445" y="0"/>
            <a:ext cx="16659109" cy="10287000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