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57" r:id="rId3"/>
    <p:sldId id="259" r:id="rId4"/>
    <p:sldId id="304" r:id="rId5"/>
    <p:sldId id="286" r:id="rId6"/>
    <p:sldId id="287" r:id="rId7"/>
    <p:sldId id="288" r:id="rId8"/>
    <p:sldId id="289" r:id="rId9"/>
    <p:sldId id="260" r:id="rId10"/>
    <p:sldId id="261" r:id="rId11"/>
    <p:sldId id="262" r:id="rId12"/>
    <p:sldId id="263" r:id="rId13"/>
    <p:sldId id="264" r:id="rId14"/>
    <p:sldId id="265" r:id="rId15"/>
    <p:sldId id="266" r:id="rId16"/>
    <p:sldId id="267" r:id="rId17"/>
    <p:sldId id="268" r:id="rId18"/>
    <p:sldId id="305" r:id="rId19"/>
    <p:sldId id="306"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307" r:id="rId34"/>
    <p:sldId id="269" r:id="rId35"/>
    <p:sldId id="270" r:id="rId36"/>
  </p:sldIdLst>
  <p:sldSz cx="18288000" cy="10287000"/>
  <p:notesSz cx="6858000" cy="9144000"/>
  <p:embeddedFontLst>
    <p:embeddedFont>
      <p:font typeface="Open Sans" panose="020B0606030504020204" pitchFamily="34" charset="0"/>
      <p:regular r:id="rId38"/>
      <p:bold r:id="rId39"/>
      <p:italic r:id="rId40"/>
      <p:boldItalic r:id="rId41"/>
    </p:embeddedFont>
    <p:embeddedFont>
      <p:font typeface="Tahoma" panose="020B0604030504040204" pitchFamily="34" charset="0"/>
      <p:regular r:id="rId42"/>
      <p:bold r:id="rId43"/>
    </p:embeddedFont>
    <p:embeddedFont>
      <p:font typeface="Trebuchet MS" panose="020B060302020202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5uyU4M8NqpuQa0XNrGDtHby9g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2" d="100"/>
          <a:sy n="32" d="100"/>
        </p:scale>
        <p:origin x="53" y="70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1792288" y="612775"/>
            <a:ext cx="5486400" cy="4114800"/>
          </a:xfrm>
          <a:prstGeom prst="rect">
            <a:avLst/>
          </a:prstGeom>
          <a:noFill/>
          <a:ln>
            <a:noFill/>
          </a:ln>
        </p:spPr>
        <p:txBody>
          <a:bodyPr/>
          <a:lstStyle/>
          <a:p>
            <a:endParaRPr lang="es-GT"/>
          </a:p>
        </p:txBody>
      </p:sp>
      <p:sp>
        <p:nvSpPr>
          <p:cNvPr id="64" name="Google Shape;64;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cSld name="1_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7000"/>
          </a:xfrm>
          <a:prstGeom prst="rect">
            <a:avLst/>
          </a:prstGeom>
        </p:spPr>
      </p:pic>
      <p:sp>
        <p:nvSpPr>
          <p:cNvPr id="17" name="bg object 17"/>
          <p:cNvSpPr/>
          <p:nvPr/>
        </p:nvSpPr>
        <p:spPr>
          <a:xfrm>
            <a:off x="16494525" y="8207944"/>
            <a:ext cx="1793875" cy="2079625"/>
          </a:xfrm>
          <a:custGeom>
            <a:avLst/>
            <a:gdLst/>
            <a:ahLst/>
            <a:cxnLst/>
            <a:rect l="l" t="t" r="r" b="b"/>
            <a:pathLst>
              <a:path w="1793875" h="2079625">
                <a:moveTo>
                  <a:pt x="1793474" y="0"/>
                </a:moveTo>
                <a:lnTo>
                  <a:pt x="1793474" y="2079055"/>
                </a:lnTo>
                <a:lnTo>
                  <a:pt x="285210" y="2079055"/>
                </a:lnTo>
                <a:lnTo>
                  <a:pt x="0" y="1793844"/>
                </a:lnTo>
                <a:lnTo>
                  <a:pt x="1793474" y="0"/>
                </a:lnTo>
                <a:close/>
              </a:path>
            </a:pathLst>
          </a:custGeom>
          <a:solidFill>
            <a:srgbClr val="40785E"/>
          </a:solidFill>
        </p:spPr>
        <p:txBody>
          <a:bodyPr wrap="square" lIns="0" tIns="0" rIns="0" bIns="0" rtlCol="0"/>
          <a:lstStyle/>
          <a:p>
            <a:endParaRPr/>
          </a:p>
        </p:txBody>
      </p:sp>
      <p:sp>
        <p:nvSpPr>
          <p:cNvPr id="18" name="bg object 18"/>
          <p:cNvSpPr/>
          <p:nvPr/>
        </p:nvSpPr>
        <p:spPr>
          <a:xfrm>
            <a:off x="14935176" y="8933065"/>
            <a:ext cx="1557020" cy="1354455"/>
          </a:xfrm>
          <a:custGeom>
            <a:avLst/>
            <a:gdLst/>
            <a:ahLst/>
            <a:cxnLst/>
            <a:rect l="l" t="t" r="r" b="b"/>
            <a:pathLst>
              <a:path w="1557019" h="1354454">
                <a:moveTo>
                  <a:pt x="1556645" y="777983"/>
                </a:moveTo>
                <a:lnTo>
                  <a:pt x="980694" y="1353934"/>
                </a:lnTo>
                <a:lnTo>
                  <a:pt x="575625" y="1353934"/>
                </a:lnTo>
                <a:lnTo>
                  <a:pt x="0" y="777983"/>
                </a:lnTo>
                <a:lnTo>
                  <a:pt x="777983" y="0"/>
                </a:lnTo>
                <a:lnTo>
                  <a:pt x="1556645" y="777983"/>
                </a:lnTo>
                <a:close/>
              </a:path>
            </a:pathLst>
          </a:custGeom>
          <a:solidFill>
            <a:srgbClr val="40785E">
              <a:alpha val="71998"/>
            </a:srgbClr>
          </a:solidFill>
        </p:spPr>
        <p:txBody>
          <a:bodyPr wrap="square" lIns="0" tIns="0" rIns="0" bIns="0" rtlCol="0"/>
          <a:lstStyle/>
          <a:p>
            <a:endParaRPr/>
          </a:p>
        </p:txBody>
      </p:sp>
      <p:sp>
        <p:nvSpPr>
          <p:cNvPr id="19" name="bg object 19"/>
          <p:cNvSpPr/>
          <p:nvPr/>
        </p:nvSpPr>
        <p:spPr>
          <a:xfrm>
            <a:off x="15373045" y="9048949"/>
            <a:ext cx="2475865" cy="1238250"/>
          </a:xfrm>
          <a:custGeom>
            <a:avLst/>
            <a:gdLst/>
            <a:ahLst/>
            <a:cxnLst/>
            <a:rect l="l" t="t" r="r" b="b"/>
            <a:pathLst>
              <a:path w="2475865" h="1238250">
                <a:moveTo>
                  <a:pt x="2475421" y="1238049"/>
                </a:moveTo>
                <a:lnTo>
                  <a:pt x="0" y="1238049"/>
                </a:lnTo>
                <a:lnTo>
                  <a:pt x="1237372" y="0"/>
                </a:lnTo>
                <a:lnTo>
                  <a:pt x="2475421" y="1238049"/>
                </a:lnTo>
                <a:close/>
              </a:path>
            </a:pathLst>
          </a:custGeom>
          <a:solidFill>
            <a:srgbClr val="BE120A">
              <a:alpha val="71998"/>
            </a:srgbClr>
          </a:solidFill>
        </p:spPr>
        <p:txBody>
          <a:bodyPr wrap="square" lIns="0" tIns="0" rIns="0" bIns="0" rtlCol="0"/>
          <a:lstStyle/>
          <a:p>
            <a:endParaRPr/>
          </a:p>
        </p:txBody>
      </p:sp>
      <p:sp>
        <p:nvSpPr>
          <p:cNvPr id="20" name="bg object 20"/>
          <p:cNvSpPr/>
          <p:nvPr/>
        </p:nvSpPr>
        <p:spPr>
          <a:xfrm>
            <a:off x="16038451" y="5185819"/>
            <a:ext cx="2249805" cy="4498340"/>
          </a:xfrm>
          <a:custGeom>
            <a:avLst/>
            <a:gdLst/>
            <a:ahLst/>
            <a:cxnLst/>
            <a:rect l="l" t="t" r="r" b="b"/>
            <a:pathLst>
              <a:path w="2249805" h="4498340">
                <a:moveTo>
                  <a:pt x="2249547" y="0"/>
                </a:moveTo>
                <a:lnTo>
                  <a:pt x="2249547" y="4497786"/>
                </a:lnTo>
                <a:lnTo>
                  <a:pt x="0" y="2248893"/>
                </a:lnTo>
                <a:lnTo>
                  <a:pt x="2249547" y="0"/>
                </a:lnTo>
                <a:close/>
              </a:path>
            </a:pathLst>
          </a:custGeom>
          <a:solidFill>
            <a:srgbClr val="004653">
              <a:alpha val="71998"/>
            </a:srgbClr>
          </a:solidFill>
        </p:spPr>
        <p:txBody>
          <a:bodyPr wrap="square" lIns="0" tIns="0" rIns="0" bIns="0" rtlCol="0"/>
          <a:lstStyle/>
          <a:p>
            <a:endParaRPr/>
          </a:p>
        </p:txBody>
      </p:sp>
      <p:sp>
        <p:nvSpPr>
          <p:cNvPr id="21" name="bg object 21"/>
          <p:cNvSpPr/>
          <p:nvPr/>
        </p:nvSpPr>
        <p:spPr>
          <a:xfrm>
            <a:off x="18210427" y="7601107"/>
            <a:ext cx="78105" cy="155575"/>
          </a:xfrm>
          <a:custGeom>
            <a:avLst/>
            <a:gdLst/>
            <a:ahLst/>
            <a:cxnLst/>
            <a:rect l="l" t="t" r="r" b="b"/>
            <a:pathLst>
              <a:path w="78105" h="155575">
                <a:moveTo>
                  <a:pt x="77572" y="0"/>
                </a:moveTo>
                <a:lnTo>
                  <a:pt x="77572" y="155145"/>
                </a:lnTo>
                <a:lnTo>
                  <a:pt x="0" y="77572"/>
                </a:lnTo>
                <a:lnTo>
                  <a:pt x="77572" y="0"/>
                </a:lnTo>
                <a:close/>
              </a:path>
            </a:pathLst>
          </a:custGeom>
          <a:solidFill>
            <a:srgbClr val="004AAC">
              <a:alpha val="71998"/>
            </a:srgbClr>
          </a:solidFill>
        </p:spPr>
        <p:txBody>
          <a:bodyPr wrap="square" lIns="0" tIns="0" rIns="0" bIns="0" rtlCol="0"/>
          <a:lstStyle/>
          <a:p>
            <a:endParaRPr/>
          </a:p>
        </p:txBody>
      </p:sp>
      <p:sp>
        <p:nvSpPr>
          <p:cNvPr id="22" name="bg object 22"/>
          <p:cNvSpPr/>
          <p:nvPr/>
        </p:nvSpPr>
        <p:spPr>
          <a:xfrm>
            <a:off x="0" y="0"/>
            <a:ext cx="1185545" cy="1186180"/>
          </a:xfrm>
          <a:custGeom>
            <a:avLst/>
            <a:gdLst/>
            <a:ahLst/>
            <a:cxnLst/>
            <a:rect l="l" t="t" r="r" b="b"/>
            <a:pathLst>
              <a:path w="1185545" h="1186180">
                <a:moveTo>
                  <a:pt x="0" y="1185897"/>
                </a:moveTo>
                <a:lnTo>
                  <a:pt x="0" y="0"/>
                </a:lnTo>
                <a:lnTo>
                  <a:pt x="1185493" y="0"/>
                </a:lnTo>
                <a:lnTo>
                  <a:pt x="0" y="1185897"/>
                </a:lnTo>
                <a:close/>
              </a:path>
            </a:pathLst>
          </a:custGeom>
          <a:solidFill>
            <a:srgbClr val="40785E"/>
          </a:solidFill>
        </p:spPr>
        <p:txBody>
          <a:bodyPr wrap="square" lIns="0" tIns="0" rIns="0" bIns="0" rtlCol="0"/>
          <a:lstStyle/>
          <a:p>
            <a:endParaRPr/>
          </a:p>
        </p:txBody>
      </p:sp>
      <p:sp>
        <p:nvSpPr>
          <p:cNvPr id="23" name="bg object 23"/>
          <p:cNvSpPr/>
          <p:nvPr/>
        </p:nvSpPr>
        <p:spPr>
          <a:xfrm>
            <a:off x="2230847" y="0"/>
            <a:ext cx="805180" cy="402590"/>
          </a:xfrm>
          <a:custGeom>
            <a:avLst/>
            <a:gdLst/>
            <a:ahLst/>
            <a:cxnLst/>
            <a:rect l="l" t="t" r="r" b="b"/>
            <a:pathLst>
              <a:path w="805180" h="402590">
                <a:moveTo>
                  <a:pt x="0" y="0"/>
                </a:moveTo>
                <a:lnTo>
                  <a:pt x="804728" y="0"/>
                </a:lnTo>
                <a:lnTo>
                  <a:pt x="402703" y="402025"/>
                </a:lnTo>
                <a:lnTo>
                  <a:pt x="0" y="0"/>
                </a:lnTo>
                <a:close/>
              </a:path>
            </a:pathLst>
          </a:custGeom>
          <a:solidFill>
            <a:srgbClr val="40785E">
              <a:alpha val="71998"/>
            </a:srgbClr>
          </a:solidFill>
        </p:spPr>
        <p:txBody>
          <a:bodyPr wrap="square" lIns="0" tIns="0" rIns="0" bIns="0" rtlCol="0"/>
          <a:lstStyle/>
          <a:p>
            <a:endParaRPr/>
          </a:p>
        </p:txBody>
      </p:sp>
      <p:sp>
        <p:nvSpPr>
          <p:cNvPr id="24" name="bg object 24"/>
          <p:cNvSpPr/>
          <p:nvPr/>
        </p:nvSpPr>
        <p:spPr>
          <a:xfrm>
            <a:off x="1450153" y="0"/>
            <a:ext cx="572135" cy="286385"/>
          </a:xfrm>
          <a:custGeom>
            <a:avLst/>
            <a:gdLst/>
            <a:ahLst/>
            <a:cxnLst/>
            <a:rect l="l" t="t" r="r" b="b"/>
            <a:pathLst>
              <a:path w="572135" h="286385">
                <a:moveTo>
                  <a:pt x="0" y="0"/>
                </a:moveTo>
                <a:lnTo>
                  <a:pt x="572029" y="0"/>
                </a:lnTo>
                <a:lnTo>
                  <a:pt x="286141" y="286141"/>
                </a:lnTo>
                <a:lnTo>
                  <a:pt x="0" y="0"/>
                </a:lnTo>
                <a:close/>
              </a:path>
            </a:pathLst>
          </a:custGeom>
          <a:solidFill>
            <a:srgbClr val="BE120A">
              <a:alpha val="71998"/>
            </a:srgbClr>
          </a:solidFill>
        </p:spPr>
        <p:txBody>
          <a:bodyPr wrap="square" lIns="0" tIns="0" rIns="0" bIns="0" rtlCol="0"/>
          <a:lstStyle/>
          <a:p>
            <a:endParaRPr/>
          </a:p>
        </p:txBody>
      </p:sp>
      <p:sp>
        <p:nvSpPr>
          <p:cNvPr id="25" name="bg object 25"/>
          <p:cNvSpPr/>
          <p:nvPr/>
        </p:nvSpPr>
        <p:spPr>
          <a:xfrm>
            <a:off x="0" y="0"/>
            <a:ext cx="2308860" cy="4187825"/>
          </a:xfrm>
          <a:custGeom>
            <a:avLst/>
            <a:gdLst/>
            <a:ahLst/>
            <a:cxnLst/>
            <a:rect l="l" t="t" r="r" b="b"/>
            <a:pathLst>
              <a:path w="2308860" h="4187825">
                <a:moveTo>
                  <a:pt x="0" y="4168543"/>
                </a:moveTo>
                <a:lnTo>
                  <a:pt x="0" y="0"/>
                </a:lnTo>
                <a:lnTo>
                  <a:pt x="407423" y="0"/>
                </a:lnTo>
                <a:lnTo>
                  <a:pt x="2308261" y="1900389"/>
                </a:lnTo>
                <a:lnTo>
                  <a:pt x="20662" y="4187311"/>
                </a:lnTo>
                <a:lnTo>
                  <a:pt x="18768" y="4187311"/>
                </a:lnTo>
                <a:lnTo>
                  <a:pt x="0" y="4168543"/>
                </a:lnTo>
                <a:close/>
              </a:path>
            </a:pathLst>
          </a:custGeom>
          <a:solidFill>
            <a:srgbClr val="004653">
              <a:alpha val="71998"/>
            </a:srgbClr>
          </a:solidFill>
        </p:spPr>
        <p:txBody>
          <a:bodyPr wrap="square" lIns="0" tIns="0" rIns="0" bIns="0" rtlCol="0"/>
          <a:lstStyle/>
          <a:p>
            <a:endParaRPr/>
          </a:p>
        </p:txBody>
      </p:sp>
      <p:sp>
        <p:nvSpPr>
          <p:cNvPr id="26" name="bg object 26"/>
          <p:cNvSpPr/>
          <p:nvPr/>
        </p:nvSpPr>
        <p:spPr>
          <a:xfrm>
            <a:off x="0" y="1520144"/>
            <a:ext cx="136525" cy="273050"/>
          </a:xfrm>
          <a:custGeom>
            <a:avLst/>
            <a:gdLst/>
            <a:ahLst/>
            <a:cxnLst/>
            <a:rect l="l" t="t" r="r" b="b"/>
            <a:pathLst>
              <a:path w="136525" h="273050">
                <a:moveTo>
                  <a:pt x="0" y="272554"/>
                </a:moveTo>
                <a:lnTo>
                  <a:pt x="0" y="0"/>
                </a:lnTo>
                <a:lnTo>
                  <a:pt x="136277" y="136277"/>
                </a:lnTo>
                <a:lnTo>
                  <a:pt x="0" y="272554"/>
                </a:lnTo>
                <a:close/>
              </a:path>
            </a:pathLst>
          </a:custGeom>
          <a:solidFill>
            <a:srgbClr val="004AAC">
              <a:alpha val="71998"/>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5450" b="0"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784443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cSld name="1_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7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461286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0" i="0">
                <a:solidFill>
                  <a:schemeClr val="tx1"/>
                </a:solidFill>
                <a:latin typeface="Arial" panose="020B0604020202020204" pitchFamily="34" charset="0"/>
                <a:cs typeface="Arial" panose="020B0604020202020204" pitchFamily="34" charset="0"/>
              </a:defRPr>
            </a:lvl1pPr>
          </a:lstStyle>
          <a:p>
            <a:endParaRPr dirty="0"/>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799371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0" i="0">
                <a:solidFill>
                  <a:schemeClr val="tx1"/>
                </a:solidFill>
                <a:latin typeface="Arial" panose="020B0604020202020204" pitchFamily="34" charset="0"/>
                <a:cs typeface="Arial" panose="020B0604020202020204" pitchFamily="34" charset="0"/>
              </a:defRPr>
            </a:lvl1pPr>
          </a:lstStyle>
          <a:p>
            <a:endParaRPr dirty="0"/>
          </a:p>
        </p:txBody>
      </p:sp>
      <p:sp>
        <p:nvSpPr>
          <p:cNvPr id="3" name="Holder 3"/>
          <p:cNvSpPr>
            <a:spLocks noGrp="1"/>
          </p:cNvSpPr>
          <p:nvPr>
            <p:ph type="body" idx="1"/>
          </p:nvPr>
        </p:nvSpPr>
        <p:spPr/>
        <p:txBody>
          <a:bodyPr lIns="0" tIns="0" rIns="0" bIns="0"/>
          <a:lstStyle>
            <a:lvl1pPr>
              <a:defRPr sz="285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954491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620032" y="1262497"/>
            <a:ext cx="9047935" cy="856614"/>
          </a:xfrm>
          <a:prstGeom prst="rect">
            <a:avLst/>
          </a:prstGeom>
        </p:spPr>
        <p:txBody>
          <a:bodyPr wrap="square" lIns="0" tIns="0" rIns="0" bIns="0">
            <a:spAutoFit/>
          </a:bodyPr>
          <a:lstStyle>
            <a:lvl1pPr>
              <a:defRPr sz="5450" b="0" i="0">
                <a:solidFill>
                  <a:schemeClr val="tx1"/>
                </a:solidFill>
                <a:latin typeface="Arial" panose="020B0604020202020204" pitchFamily="34" charset="0"/>
                <a:cs typeface="Arial" panose="020B0604020202020204" pitchFamily="34" charset="0"/>
              </a:defRPr>
            </a:lvl1pPr>
          </a:lstStyle>
          <a:p>
            <a:endParaRPr dirty="0"/>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85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280016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 id="2147483658" r:id="rId7"/>
    <p:sldLayoutId id="2147483659" r:id="rId8"/>
    <p:sldLayoutId id="2147483663" r:id="rId9"/>
    <p:sldLayoutId id="2147483666" r:id="rId10"/>
    <p:sldLayoutId id="2147483667" r:id="rId11"/>
    <p:sldLayoutId id="2147483668" r:id="rId12"/>
    <p:sldLayoutId id="214748366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oleObject" Target="../embeddings/oleObject1.bin"/><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a:stretch>
          </a:blipFill>
          <a:ln>
            <a:noFill/>
          </a:ln>
        </p:spPr>
        <p:txBody>
          <a:bodyPr/>
          <a:lstStyle/>
          <a:p>
            <a:endParaRPr lang="es-GT"/>
          </a:p>
        </p:txBody>
      </p:sp>
      <p:sp>
        <p:nvSpPr>
          <p:cNvPr id="85" name="Google Shape;85;p1"/>
          <p:cNvSpPr/>
          <p:nvPr/>
        </p:nvSpPr>
        <p:spPr>
          <a:xfrm>
            <a:off x="1969850" y="3030151"/>
            <a:ext cx="15055872" cy="3260981"/>
          </a:xfrm>
          <a:custGeom>
            <a:avLst/>
            <a:gdLst/>
            <a:ahLst/>
            <a:cxnLst/>
            <a:rect l="l" t="t" r="r" b="b"/>
            <a:pathLst>
              <a:path w="9002016" h="1811656" extrusionOk="0">
                <a:moveTo>
                  <a:pt x="0" y="0"/>
                </a:moveTo>
                <a:lnTo>
                  <a:pt x="9002016" y="0"/>
                </a:lnTo>
                <a:lnTo>
                  <a:pt x="9002016" y="1811656"/>
                </a:lnTo>
                <a:lnTo>
                  <a:pt x="0" y="1811656"/>
                </a:lnTo>
                <a:lnTo>
                  <a:pt x="0" y="0"/>
                </a:lnTo>
                <a:close/>
              </a:path>
            </a:pathLst>
          </a:custGeom>
          <a:blipFill rotWithShape="1">
            <a:blip r:embed="rId4">
              <a:alphaModFix/>
            </a:blip>
            <a:stretch>
              <a:fillRect/>
            </a:stretch>
          </a:blipFill>
          <a:ln>
            <a:noFill/>
          </a:ln>
        </p:spPr>
        <p:txBody>
          <a:bodyPr/>
          <a:lstStyle/>
          <a:p>
            <a:endParaRPr lang="es-GT"/>
          </a:p>
        </p:txBody>
      </p:sp>
      <p:graphicFrame>
        <p:nvGraphicFramePr>
          <p:cNvPr id="86" name="Google Shape;86;p1"/>
          <p:cNvGraphicFramePr/>
          <p:nvPr/>
        </p:nvGraphicFramePr>
        <p:xfrm>
          <a:off x="10670025" y="1766775"/>
          <a:ext cx="9524676" cy="1881100"/>
        </p:xfrm>
        <a:graphic>
          <a:graphicData uri="http://schemas.openxmlformats.org/presentationml/2006/ole">
            <mc:AlternateContent xmlns:mc="http://schemas.openxmlformats.org/markup-compatibility/2006">
              <mc:Choice xmlns:v="urn:schemas-microsoft-com:vml" Requires="v">
                <p:oleObj r:id="rId5" imgW="9524676" imgH="1881100" progId="Excel.Sheet.12">
                  <p:embed/>
                </p:oleObj>
              </mc:Choice>
              <mc:Fallback>
                <p:oleObj r:id="rId5" imgW="9524676" imgH="1881100" progId="Excel.Sheet.12">
                  <p:embed/>
                  <p:pic>
                    <p:nvPicPr>
                      <p:cNvPr id="86" name="Google Shape;86;p1"/>
                      <p:cNvPicPr preferRelativeResize="0"/>
                      <p:nvPr/>
                    </p:nvPicPr>
                    <p:blipFill rotWithShape="1">
                      <a:blip r:embed="rId6">
                        <a:alphaModFix/>
                      </a:blip>
                      <a:srcRect/>
                      <a:stretch/>
                    </p:blipFill>
                    <p:spPr>
                      <a:xfrm>
                        <a:off x="10670025" y="1766775"/>
                        <a:ext cx="9524676" cy="1881100"/>
                      </a:xfrm>
                      <a:prstGeom prst="rect">
                        <a:avLst/>
                      </a:prstGeom>
                      <a:noFill/>
                      <a:ln>
                        <a:noFill/>
                      </a:ln>
                    </p:spPr>
                  </p:pic>
                </p:oleObj>
              </mc:Fallback>
            </mc:AlternateContent>
          </a:graphicData>
        </a:graphic>
      </p:graphicFrame>
      <p:sp>
        <p:nvSpPr>
          <p:cNvPr id="87" name="Google Shape;87;p1"/>
          <p:cNvSpPr txBox="1"/>
          <p:nvPr/>
        </p:nvSpPr>
        <p:spPr>
          <a:xfrm>
            <a:off x="5792614" y="6291132"/>
            <a:ext cx="6702900" cy="886500"/>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i="0" u="none" strike="noStrike" cap="none" dirty="0">
                <a:solidFill>
                  <a:srgbClr val="000000"/>
                </a:solidFill>
                <a:latin typeface="Open Sans"/>
                <a:ea typeface="Open Sans"/>
                <a:cs typeface="Open Sans"/>
                <a:sym typeface="Open Sans"/>
              </a:rPr>
              <a:t>Escuela de Ingeniería de </a:t>
            </a:r>
            <a:r>
              <a:rPr lang="en-US" sz="2400" b="1" i="0" u="none" strike="noStrike" cap="none" dirty="0" err="1">
                <a:solidFill>
                  <a:srgbClr val="000000"/>
                </a:solidFill>
                <a:latin typeface="Open Sans"/>
                <a:ea typeface="Open Sans"/>
                <a:cs typeface="Open Sans"/>
                <a:sym typeface="Open Sans"/>
              </a:rPr>
              <a:t>Ciencias</a:t>
            </a:r>
            <a:r>
              <a:rPr lang="en-US" sz="2400" b="1" i="0" u="none" strike="noStrike" cap="none" dirty="0">
                <a:solidFill>
                  <a:srgbClr val="000000"/>
                </a:solidFill>
                <a:latin typeface="Open Sans"/>
                <a:ea typeface="Open Sans"/>
                <a:cs typeface="Open Sans"/>
                <a:sym typeface="Open Sans"/>
              </a:rPr>
              <a:t> Y Sistemas</a:t>
            </a:r>
            <a:endParaRPr dirty="0"/>
          </a:p>
          <a:p>
            <a:pPr marL="0" marR="0" lvl="0" indent="0" algn="ctr" rtl="0">
              <a:lnSpc>
                <a:spcPct val="139958"/>
              </a:lnSpc>
              <a:spcBef>
                <a:spcPts val="0"/>
              </a:spcBef>
              <a:spcAft>
                <a:spcPts val="0"/>
              </a:spcAft>
              <a:buNone/>
            </a:pPr>
            <a:endParaRPr sz="2400" b="1" i="0" u="none" strike="noStrike" cap="none" dirty="0">
              <a:solidFill>
                <a:srgbClr val="000000"/>
              </a:solidFill>
              <a:latin typeface="Open Sans"/>
              <a:ea typeface="Open Sans"/>
              <a:cs typeface="Open Sans"/>
              <a:sym typeface="Open Sans"/>
            </a:endParaRPr>
          </a:p>
        </p:txBody>
      </p:sp>
      <p:sp>
        <p:nvSpPr>
          <p:cNvPr id="88" name="Google Shape;88;p1"/>
          <p:cNvSpPr txBox="1"/>
          <p:nvPr/>
        </p:nvSpPr>
        <p:spPr>
          <a:xfrm>
            <a:off x="348639" y="9201150"/>
            <a:ext cx="8386287" cy="135293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140" b="1" i="0" u="none" strike="noStrike" cap="none" dirty="0">
                <a:solidFill>
                  <a:srgbClr val="000000"/>
                </a:solidFill>
                <a:latin typeface="Open Sans"/>
                <a:ea typeface="Open Sans"/>
                <a:cs typeface="Open Sans"/>
                <a:sym typeface="Open Sans"/>
              </a:rPr>
              <a:t>NOMBRE DEL TUTOR</a:t>
            </a:r>
            <a:endParaRPr dirty="0"/>
          </a:p>
          <a:p>
            <a:pPr marL="0" marR="0" lvl="0" indent="0" algn="ctr" rtl="0">
              <a:lnSpc>
                <a:spcPct val="140000"/>
              </a:lnSpc>
              <a:spcBef>
                <a:spcPts val="0"/>
              </a:spcBef>
              <a:spcAft>
                <a:spcPts val="0"/>
              </a:spcAft>
              <a:buNone/>
            </a:pPr>
            <a:endParaRPr sz="3140" b="1" i="0" u="none" strike="noStrike" cap="none" dirty="0">
              <a:solidFill>
                <a:srgbClr val="000000"/>
              </a:solidFill>
              <a:latin typeface="Open Sans"/>
              <a:ea typeface="Open Sans"/>
              <a:cs typeface="Open Sans"/>
              <a:sym typeface="Open Sans"/>
            </a:endParaRPr>
          </a:p>
        </p:txBody>
      </p:sp>
      <p:sp>
        <p:nvSpPr>
          <p:cNvPr id="89" name="Google Shape;89;p1"/>
          <p:cNvSpPr txBox="1"/>
          <p:nvPr/>
        </p:nvSpPr>
        <p:spPr>
          <a:xfrm>
            <a:off x="2904236" y="3801950"/>
            <a:ext cx="13187100"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kumimoji="0" lang="es-GT" sz="5000" b="0" i="0" u="none" strike="noStrike" kern="0" cap="none" spc="0" normalizeH="0" baseline="0" noProof="0" dirty="0">
                <a:ln>
                  <a:noFill/>
                </a:ln>
                <a:solidFill>
                  <a:srgbClr val="000000"/>
                </a:solidFill>
                <a:effectLst/>
                <a:uLnTx/>
                <a:uFillTx/>
                <a:latin typeface="Arial"/>
                <a:ea typeface="Arial"/>
                <a:cs typeface="Arial"/>
                <a:sym typeface="Arial"/>
              </a:rPr>
              <a:t>Programación Comercial 1 [Sec.]</a:t>
            </a:r>
            <a:endParaRPr sz="4200" b="1" i="0" u="none" strike="noStrike" cap="none" dirty="0">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p:nvPr/>
        </p:nvSpPr>
        <p:spPr>
          <a:xfrm>
            <a:off x="0" y="0"/>
            <a:ext cx="18288000" cy="10401300"/>
          </a:xfrm>
          <a:custGeom>
            <a:avLst/>
            <a:gdLst/>
            <a:ahLst/>
            <a:cxnLst/>
            <a:rect l="l" t="t" r="r" b="b"/>
            <a:pathLst>
              <a:path w="18288000" h="10401300" extrusionOk="0">
                <a:moveTo>
                  <a:pt x="0" y="0"/>
                </a:moveTo>
                <a:lnTo>
                  <a:pt x="18288000" y="0"/>
                </a:lnTo>
                <a:lnTo>
                  <a:pt x="18288000" y="10401300"/>
                </a:lnTo>
                <a:lnTo>
                  <a:pt x="0" y="10401300"/>
                </a:lnTo>
                <a:lnTo>
                  <a:pt x="0" y="0"/>
                </a:lnTo>
                <a:close/>
              </a:path>
            </a:pathLst>
          </a:custGeom>
          <a:blipFill rotWithShape="1">
            <a:blip r:embed="rId3">
              <a:alphaModFix/>
            </a:blip>
            <a:stretch>
              <a:fillRect/>
            </a:stretch>
          </a:blipFill>
          <a:ln>
            <a:noFill/>
          </a:ln>
        </p:spPr>
        <p:txBody>
          <a:bodyPr/>
          <a:lstStyle/>
          <a:p>
            <a:endParaRPr lang="es-GT"/>
          </a:p>
        </p:txBody>
      </p:sp>
      <p:sp>
        <p:nvSpPr>
          <p:cNvPr id="95" name="Google Shape;95;p2"/>
          <p:cNvSpPr txBox="1"/>
          <p:nvPr/>
        </p:nvSpPr>
        <p:spPr>
          <a:xfrm>
            <a:off x="1780674" y="2935368"/>
            <a:ext cx="16050125" cy="3791423"/>
          </a:xfrm>
          <a:prstGeom prst="rect">
            <a:avLst/>
          </a:prstGeom>
          <a:noFill/>
          <a:ln>
            <a:noFill/>
          </a:ln>
        </p:spPr>
        <p:txBody>
          <a:bodyPr spcFirstLastPara="1" wrap="square" lIns="0" tIns="0" rIns="0" bIns="0" anchor="t" anchorCtr="0">
            <a:spAutoFit/>
          </a:bodyPr>
          <a:lstStyle/>
          <a:p>
            <a:pPr lvl="0" algn="ctr">
              <a:lnSpc>
                <a:spcPct val="140004"/>
              </a:lnSpc>
            </a:pPr>
            <a:r>
              <a:rPr lang="en-US" sz="8799" b="1" i="0" u="none" strike="noStrike" cap="none" dirty="0">
                <a:solidFill>
                  <a:srgbClr val="000000"/>
                </a:solidFill>
                <a:latin typeface="Open Sans"/>
                <a:ea typeface="Open Sans"/>
                <a:cs typeface="Open Sans"/>
                <a:sym typeface="Open Sans"/>
              </a:rPr>
              <a:t>UNIDAD 2:</a:t>
            </a:r>
            <a:r>
              <a:rPr lang="en-US" sz="8799" b="1" dirty="0">
                <a:latin typeface="Open Sans"/>
                <a:ea typeface="Open Sans"/>
                <a:cs typeface="Open Sans"/>
                <a:sym typeface="Open Sans"/>
              </a:rPr>
              <a:t> Microsoft Project </a:t>
            </a:r>
            <a:endParaRPr dirty="0"/>
          </a:p>
          <a:p>
            <a:pPr marL="0" marR="0" lvl="0" indent="0" algn="ctr" rtl="0">
              <a:lnSpc>
                <a:spcPct val="140004"/>
              </a:lnSpc>
              <a:spcBef>
                <a:spcPts val="0"/>
              </a:spcBef>
              <a:spcAft>
                <a:spcPts val="0"/>
              </a:spcAft>
              <a:buNone/>
            </a:pPr>
            <a:endParaRPr sz="8799" b="1" i="0" u="none" strike="noStrike" cap="none" dirty="0">
              <a:solidFill>
                <a:srgbClr val="000000"/>
              </a:solidFill>
              <a:latin typeface="Open Sans"/>
              <a:ea typeface="Open Sans"/>
              <a:cs typeface="Open Sans"/>
              <a:sym typeface="Open Sans"/>
            </a:endParaRPr>
          </a:p>
        </p:txBody>
      </p:sp>
      <p:sp>
        <p:nvSpPr>
          <p:cNvPr id="96" name="Google Shape;96;p2"/>
          <p:cNvSpPr txBox="1"/>
          <p:nvPr/>
        </p:nvSpPr>
        <p:spPr>
          <a:xfrm>
            <a:off x="3441032" y="4831079"/>
            <a:ext cx="10924673" cy="3102388"/>
          </a:xfrm>
          <a:prstGeom prst="rect">
            <a:avLst/>
          </a:prstGeom>
          <a:noFill/>
          <a:ln>
            <a:noFill/>
          </a:ln>
        </p:spPr>
        <p:txBody>
          <a:bodyPr spcFirstLastPara="1" wrap="square" lIns="0" tIns="0" rIns="0" bIns="0" anchor="t" anchorCtr="0">
            <a:spAutoFit/>
          </a:bodyPr>
          <a:lstStyle/>
          <a:p>
            <a:pPr lvl="0" algn="ctr">
              <a:lnSpc>
                <a:spcPct val="140000"/>
              </a:lnSpc>
            </a:pPr>
            <a:r>
              <a:rPr lang="es-GT" sz="7200" b="1" dirty="0">
                <a:latin typeface="Open Sans"/>
                <a:ea typeface="Open Sans"/>
                <a:cs typeface="Open Sans"/>
                <a:sym typeface="Open Sans"/>
              </a:rPr>
              <a:t>Planificación de Tareas</a:t>
            </a:r>
            <a:endParaRPr dirty="0"/>
          </a:p>
          <a:p>
            <a:pPr marL="0" marR="0" lvl="0" indent="0" algn="ctr" rtl="0">
              <a:lnSpc>
                <a:spcPct val="140000"/>
              </a:lnSpc>
              <a:spcBef>
                <a:spcPts val="0"/>
              </a:spcBef>
              <a:spcAft>
                <a:spcPts val="0"/>
              </a:spcAft>
              <a:buNone/>
            </a:pPr>
            <a:endParaRPr sz="7200" b="1" i="0" u="none" strike="noStrike" cap="none" dirty="0">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p:nvPr/>
        </p:nvSpPr>
        <p:spPr>
          <a:xfrm>
            <a:off x="4016947" y="3558803"/>
            <a:ext cx="9896507" cy="5913163"/>
          </a:xfrm>
          <a:custGeom>
            <a:avLst/>
            <a:gdLst/>
            <a:ahLst/>
            <a:cxnLst/>
            <a:rect l="l" t="t" r="r" b="b"/>
            <a:pathLst>
              <a:path w="9896507" h="5913163" extrusionOk="0">
                <a:moveTo>
                  <a:pt x="0" y="0"/>
                </a:moveTo>
                <a:lnTo>
                  <a:pt x="9896507" y="0"/>
                </a:lnTo>
                <a:lnTo>
                  <a:pt x="9896507" y="5913163"/>
                </a:lnTo>
                <a:lnTo>
                  <a:pt x="0" y="5913163"/>
                </a:lnTo>
                <a:lnTo>
                  <a:pt x="0" y="0"/>
                </a:lnTo>
                <a:close/>
              </a:path>
            </a:pathLst>
          </a:custGeom>
          <a:blipFill rotWithShape="1">
            <a:blip r:embed="rId3">
              <a:alphaModFix/>
            </a:blip>
            <a:stretch>
              <a:fillRect/>
            </a:stretch>
          </a:blipFill>
          <a:ln>
            <a:noFill/>
          </a:ln>
        </p:spPr>
        <p:txBody>
          <a:bodyPr/>
          <a:lstStyle/>
          <a:p>
            <a:endParaRPr lang="es-GT" dirty="0"/>
          </a:p>
        </p:txBody>
      </p:sp>
      <p:sp>
        <p:nvSpPr>
          <p:cNvPr id="120" name="Google Shape;120;p4"/>
          <p:cNvSpPr/>
          <p:nvPr/>
        </p:nvSpPr>
        <p:spPr>
          <a:xfrm>
            <a:off x="3493371" y="-625307"/>
            <a:ext cx="11301259" cy="5127946"/>
          </a:xfrm>
          <a:custGeom>
            <a:avLst/>
            <a:gdLst/>
            <a:ahLst/>
            <a:cxnLst/>
            <a:rect l="l" t="t" r="r" b="b"/>
            <a:pathLst>
              <a:path w="11301259" h="5127946" extrusionOk="0">
                <a:moveTo>
                  <a:pt x="0" y="0"/>
                </a:moveTo>
                <a:lnTo>
                  <a:pt x="11301258" y="0"/>
                </a:lnTo>
                <a:lnTo>
                  <a:pt x="11301258" y="5127946"/>
                </a:lnTo>
                <a:lnTo>
                  <a:pt x="0" y="5127946"/>
                </a:lnTo>
                <a:lnTo>
                  <a:pt x="0" y="0"/>
                </a:lnTo>
                <a:close/>
              </a:path>
            </a:pathLst>
          </a:custGeom>
          <a:blipFill rotWithShape="1">
            <a:blip r:embed="rId4">
              <a:alphaModFix/>
            </a:blip>
            <a:stretch>
              <a:fillRect/>
            </a:stretch>
          </a:blipFill>
          <a:ln>
            <a:noFill/>
          </a:ln>
        </p:spPr>
        <p:txBody>
          <a:bodyPr/>
          <a:lstStyle/>
          <a:p>
            <a:endParaRPr lang="es-GT"/>
          </a:p>
        </p:txBody>
      </p:sp>
      <p:sp>
        <p:nvSpPr>
          <p:cNvPr id="3" name="Google Shape;67;p2">
            <a:extLst>
              <a:ext uri="{FF2B5EF4-FFF2-40B4-BE49-F238E27FC236}">
                <a16:creationId xmlns:a16="http://schemas.microsoft.com/office/drawing/2014/main" id="{84EADFC3-AB96-F70E-B567-C6441731FFA2}"/>
              </a:ext>
            </a:extLst>
          </p:cNvPr>
          <p:cNvSpPr txBox="1"/>
          <p:nvPr/>
        </p:nvSpPr>
        <p:spPr>
          <a:xfrm>
            <a:off x="5216756" y="4249317"/>
            <a:ext cx="11390820" cy="4752583"/>
          </a:xfrm>
          <a:prstGeom prst="rect">
            <a:avLst/>
          </a:prstGeom>
          <a:noFill/>
          <a:ln>
            <a:noFill/>
          </a:ln>
        </p:spPr>
        <p:txBody>
          <a:bodyPr spcFirstLastPara="1" wrap="square" lIns="0" tIns="12700" rIns="0" bIns="0" anchor="t" anchorCtr="0">
            <a:spAutoFit/>
          </a:bodyPr>
          <a:lstStyle/>
          <a:p>
            <a:r>
              <a:rPr lang="es-ES" sz="2800" dirty="0"/>
              <a:t>Introducción a Microsoft Project.</a:t>
            </a:r>
          </a:p>
          <a:p>
            <a:endParaRPr lang="es-ES" sz="2800" dirty="0"/>
          </a:p>
          <a:p>
            <a:r>
              <a:rPr lang="es-ES" sz="2800" dirty="0"/>
              <a:t>Creación de un proyecto nuevo.</a:t>
            </a:r>
          </a:p>
          <a:p>
            <a:endParaRPr lang="es-ES" sz="2800" dirty="0"/>
          </a:p>
          <a:p>
            <a:r>
              <a:rPr lang="es-ES" sz="2800" dirty="0"/>
              <a:t>Definición de tareas y duraciones.</a:t>
            </a:r>
          </a:p>
          <a:p>
            <a:endParaRPr lang="es-ES" sz="2800" dirty="0"/>
          </a:p>
          <a:p>
            <a:r>
              <a:rPr lang="es-ES" sz="2800" dirty="0"/>
              <a:t>Relaciones entre tareas: CC, CF, FC y FF.</a:t>
            </a:r>
          </a:p>
          <a:p>
            <a:endParaRPr lang="es-ES" sz="2800" dirty="0"/>
          </a:p>
          <a:p>
            <a:r>
              <a:rPr lang="es-ES" sz="2800" dirty="0"/>
              <a:t>Uso de tareas resumen, hitos y EDT.</a:t>
            </a:r>
          </a:p>
          <a:p>
            <a:endParaRPr lang="es-ES" sz="2800" dirty="0"/>
          </a:p>
          <a:p>
            <a:r>
              <a:rPr lang="es-ES" sz="2800" dirty="0"/>
              <a:t>Configuración de calendarios del proyecto.</a:t>
            </a:r>
            <a:endParaRPr lang="es-GT" sz="2800" noProof="1">
              <a:latin typeface="Arial"/>
              <a:ea typeface="Arial"/>
              <a:cs typeface="Arial"/>
              <a:sym typeface="Arial"/>
            </a:endParaRPr>
          </a:p>
        </p:txBody>
      </p:sp>
      <p:pic>
        <p:nvPicPr>
          <p:cNvPr id="4" name="Google Shape;72;p2">
            <a:extLst>
              <a:ext uri="{FF2B5EF4-FFF2-40B4-BE49-F238E27FC236}">
                <a16:creationId xmlns:a16="http://schemas.microsoft.com/office/drawing/2014/main" id="{672E0483-9485-1FE4-1359-D9DB1F5BCFF7}"/>
              </a:ext>
            </a:extLst>
          </p:cNvPr>
          <p:cNvPicPr preferRelativeResize="0"/>
          <p:nvPr/>
        </p:nvPicPr>
        <p:blipFill rotWithShape="1">
          <a:blip r:embed="rId5">
            <a:alphaModFix/>
          </a:blip>
          <a:srcRect/>
          <a:stretch/>
        </p:blipFill>
        <p:spPr>
          <a:xfrm>
            <a:off x="4776969" y="4249317"/>
            <a:ext cx="355998" cy="405713"/>
          </a:xfrm>
          <a:prstGeom prst="rect">
            <a:avLst/>
          </a:prstGeom>
          <a:noFill/>
          <a:ln>
            <a:noFill/>
          </a:ln>
        </p:spPr>
      </p:pic>
      <p:pic>
        <p:nvPicPr>
          <p:cNvPr id="8" name="Google Shape;72;p2">
            <a:extLst>
              <a:ext uri="{FF2B5EF4-FFF2-40B4-BE49-F238E27FC236}">
                <a16:creationId xmlns:a16="http://schemas.microsoft.com/office/drawing/2014/main" id="{B7F6D6C0-9B55-54C3-EA51-772A846E89D2}"/>
              </a:ext>
            </a:extLst>
          </p:cNvPr>
          <p:cNvPicPr preferRelativeResize="0"/>
          <p:nvPr/>
        </p:nvPicPr>
        <p:blipFill rotWithShape="1">
          <a:blip r:embed="rId5">
            <a:alphaModFix/>
          </a:blip>
          <a:srcRect/>
          <a:stretch/>
        </p:blipFill>
        <p:spPr>
          <a:xfrm>
            <a:off x="4776969" y="5143500"/>
            <a:ext cx="355998" cy="405713"/>
          </a:xfrm>
          <a:prstGeom prst="rect">
            <a:avLst/>
          </a:prstGeom>
          <a:noFill/>
          <a:ln>
            <a:noFill/>
          </a:ln>
        </p:spPr>
      </p:pic>
      <p:pic>
        <p:nvPicPr>
          <p:cNvPr id="9" name="Google Shape;72;p2">
            <a:extLst>
              <a:ext uri="{FF2B5EF4-FFF2-40B4-BE49-F238E27FC236}">
                <a16:creationId xmlns:a16="http://schemas.microsoft.com/office/drawing/2014/main" id="{76A05B96-8543-2842-B93E-92D07360ED55}"/>
              </a:ext>
            </a:extLst>
          </p:cNvPr>
          <p:cNvPicPr preferRelativeResize="0"/>
          <p:nvPr/>
        </p:nvPicPr>
        <p:blipFill rotWithShape="1">
          <a:blip r:embed="rId5">
            <a:alphaModFix/>
          </a:blip>
          <a:srcRect/>
          <a:stretch/>
        </p:blipFill>
        <p:spPr>
          <a:xfrm>
            <a:off x="4741306" y="6841052"/>
            <a:ext cx="355998" cy="405713"/>
          </a:xfrm>
          <a:prstGeom prst="rect">
            <a:avLst/>
          </a:prstGeom>
          <a:noFill/>
          <a:ln>
            <a:noFill/>
          </a:ln>
        </p:spPr>
      </p:pic>
      <p:pic>
        <p:nvPicPr>
          <p:cNvPr id="10" name="Google Shape;72;p2">
            <a:extLst>
              <a:ext uri="{FF2B5EF4-FFF2-40B4-BE49-F238E27FC236}">
                <a16:creationId xmlns:a16="http://schemas.microsoft.com/office/drawing/2014/main" id="{61EC5130-1A89-E21E-EDE5-CF39F0D91B3E}"/>
              </a:ext>
            </a:extLst>
          </p:cNvPr>
          <p:cNvPicPr preferRelativeResize="0"/>
          <p:nvPr/>
        </p:nvPicPr>
        <p:blipFill rotWithShape="1">
          <a:blip r:embed="rId5">
            <a:alphaModFix/>
          </a:blip>
          <a:srcRect/>
          <a:stretch/>
        </p:blipFill>
        <p:spPr>
          <a:xfrm>
            <a:off x="4776969" y="7629989"/>
            <a:ext cx="355998" cy="405713"/>
          </a:xfrm>
          <a:prstGeom prst="rect">
            <a:avLst/>
          </a:prstGeom>
          <a:noFill/>
          <a:ln>
            <a:noFill/>
          </a:ln>
        </p:spPr>
      </p:pic>
      <p:pic>
        <p:nvPicPr>
          <p:cNvPr id="11" name="Google Shape;72;p2">
            <a:extLst>
              <a:ext uri="{FF2B5EF4-FFF2-40B4-BE49-F238E27FC236}">
                <a16:creationId xmlns:a16="http://schemas.microsoft.com/office/drawing/2014/main" id="{941F1F5A-37E4-A697-6290-834ABD5927FF}"/>
              </a:ext>
            </a:extLst>
          </p:cNvPr>
          <p:cNvPicPr preferRelativeResize="0"/>
          <p:nvPr/>
        </p:nvPicPr>
        <p:blipFill rotWithShape="1">
          <a:blip r:embed="rId5">
            <a:alphaModFix/>
          </a:blip>
          <a:srcRect/>
          <a:stretch/>
        </p:blipFill>
        <p:spPr>
          <a:xfrm>
            <a:off x="4776969" y="8491978"/>
            <a:ext cx="355998" cy="405713"/>
          </a:xfrm>
          <a:prstGeom prst="rect">
            <a:avLst/>
          </a:prstGeom>
          <a:noFill/>
          <a:ln>
            <a:noFill/>
          </a:ln>
        </p:spPr>
      </p:pic>
      <p:pic>
        <p:nvPicPr>
          <p:cNvPr id="12" name="Google Shape;72;p2">
            <a:extLst>
              <a:ext uri="{FF2B5EF4-FFF2-40B4-BE49-F238E27FC236}">
                <a16:creationId xmlns:a16="http://schemas.microsoft.com/office/drawing/2014/main" id="{3B75C814-E895-4F04-28CB-D5B7660FCDC8}"/>
              </a:ext>
            </a:extLst>
          </p:cNvPr>
          <p:cNvPicPr preferRelativeResize="0"/>
          <p:nvPr/>
        </p:nvPicPr>
        <p:blipFill rotWithShape="1">
          <a:blip r:embed="rId5">
            <a:alphaModFix/>
          </a:blip>
          <a:srcRect/>
          <a:stretch/>
        </p:blipFill>
        <p:spPr>
          <a:xfrm>
            <a:off x="4741306" y="5944150"/>
            <a:ext cx="355998" cy="4057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A6D7F-EFD3-5BFE-89BD-96FDE00C8A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18616C8-B9C9-A881-73BD-E374A5A6568D}"/>
              </a:ext>
            </a:extLst>
          </p:cNvPr>
          <p:cNvSpPr txBox="1">
            <a:spLocks noGrp="1"/>
          </p:cNvSpPr>
          <p:nvPr>
            <p:ph type="title" idx="4294967295"/>
          </p:nvPr>
        </p:nvSpPr>
        <p:spPr>
          <a:xfrm>
            <a:off x="5878513" y="2165350"/>
            <a:ext cx="12409487" cy="4900613"/>
          </a:xfrm>
          <a:prstGeom prst="rect">
            <a:avLst/>
          </a:prstGeom>
        </p:spPr>
        <p:txBody>
          <a:bodyPr vert="horz" wrap="square" lIns="0" tIns="11430" rIns="0" bIns="0" rtlCol="0">
            <a:spAutoFit/>
          </a:bodyPr>
          <a:lstStyle/>
          <a:p>
            <a:pPr marL="989965" marR="5080" indent="-977900">
              <a:lnSpc>
                <a:spcPct val="116399"/>
              </a:lnSpc>
              <a:spcBef>
                <a:spcPts val="90"/>
              </a:spcBef>
            </a:pPr>
            <a:r>
              <a:rPr sz="14300" dirty="0"/>
              <a:t>MICROSOFT </a:t>
            </a:r>
            <a:r>
              <a:rPr lang="es-ES" sz="14300" dirty="0"/>
              <a:t>          </a:t>
            </a:r>
            <a:r>
              <a:rPr sz="14300" dirty="0"/>
              <a:t>PROJECT</a:t>
            </a:r>
          </a:p>
        </p:txBody>
      </p:sp>
    </p:spTree>
    <p:extLst>
      <p:ext uri="{BB962C8B-B14F-4D97-AF65-F5344CB8AC3E}">
        <p14:creationId xmlns:p14="http://schemas.microsoft.com/office/powerpoint/2010/main" val="3856405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01D26-5523-6197-456C-8DF030322DF0}"/>
              </a:ext>
            </a:extLst>
          </p:cNvPr>
          <p:cNvSpPr>
            <a:spLocks noGrp="1"/>
          </p:cNvSpPr>
          <p:nvPr>
            <p:ph type="title"/>
          </p:nvPr>
        </p:nvSpPr>
        <p:spPr>
          <a:xfrm>
            <a:off x="4724400" y="1131570"/>
            <a:ext cx="10386912" cy="856614"/>
          </a:xfrm>
        </p:spPr>
        <p:txBody>
          <a:bodyPr wrap="square" lIns="0" tIns="0" rIns="0" bIns="0">
            <a:normAutofit/>
          </a:bodyPr>
          <a:lstStyle/>
          <a:p>
            <a:r>
              <a:rPr lang="es-GT" b="0" i="0" dirty="0">
                <a:ea typeface="+mj-ea"/>
              </a:rPr>
              <a:t>Crear un Proyecto Nuevo</a:t>
            </a:r>
          </a:p>
        </p:txBody>
      </p:sp>
      <p:sp>
        <p:nvSpPr>
          <p:cNvPr id="3" name="CuadroTexto 2">
            <a:extLst>
              <a:ext uri="{FF2B5EF4-FFF2-40B4-BE49-F238E27FC236}">
                <a16:creationId xmlns:a16="http://schemas.microsoft.com/office/drawing/2014/main" id="{0975E90E-72B0-ECE6-7CF4-AC7D72485C0C}"/>
              </a:ext>
            </a:extLst>
          </p:cNvPr>
          <p:cNvSpPr txBox="1"/>
          <p:nvPr/>
        </p:nvSpPr>
        <p:spPr>
          <a:xfrm>
            <a:off x="914400" y="2366010"/>
            <a:ext cx="7467600" cy="6789420"/>
          </a:xfrm>
          <a:prstGeom prst="rect">
            <a:avLst/>
          </a:prstGeom>
        </p:spPr>
        <p:txBody>
          <a:bodyPr wrap="square" lIns="0" tIns="0" rIns="0" bIns="0" rtlCol="0">
            <a:normAutofit/>
          </a:bodyPr>
          <a:lstStyle/>
          <a:p>
            <a:pPr algn="just">
              <a:spcAft>
                <a:spcPts val="600"/>
              </a:spcAft>
            </a:pPr>
            <a:r>
              <a:rPr lang="es-GT" sz="4000" b="0" i="0" noProof="0" dirty="0">
                <a:solidFill>
                  <a:schemeClr val="tx1"/>
                </a:solidFill>
                <a:latin typeface="Tahoma"/>
                <a:ea typeface="+mn-ea"/>
                <a:cs typeface="Tahoma"/>
              </a:rPr>
              <a:t>Una vez instalado MS Project, para crear un proyecto debemos de acceder y seleccionar el menú de la parte superior izquierda denominado </a:t>
            </a:r>
            <a:r>
              <a:rPr lang="es-GT" sz="4000" b="1" i="0" noProof="0" dirty="0">
                <a:solidFill>
                  <a:schemeClr val="tx1"/>
                </a:solidFill>
                <a:latin typeface="Tahoma"/>
                <a:ea typeface="+mn-ea"/>
                <a:cs typeface="Tahoma"/>
              </a:rPr>
              <a:t>“Archivo”, </a:t>
            </a:r>
            <a:r>
              <a:rPr lang="es-GT" sz="4000" b="0" i="0" noProof="0" dirty="0">
                <a:solidFill>
                  <a:schemeClr val="tx1"/>
                </a:solidFill>
                <a:latin typeface="Tahoma"/>
                <a:ea typeface="+mn-ea"/>
                <a:cs typeface="Tahoma"/>
              </a:rPr>
              <a:t>y en las opciones de la parte izquierda seleccionar </a:t>
            </a:r>
            <a:r>
              <a:rPr lang="es-GT" sz="4000" b="1" i="0" noProof="0" dirty="0">
                <a:solidFill>
                  <a:schemeClr val="tx1"/>
                </a:solidFill>
                <a:latin typeface="Tahoma"/>
                <a:ea typeface="+mn-ea"/>
                <a:cs typeface="Tahoma"/>
              </a:rPr>
              <a:t>“Nuevo” </a:t>
            </a:r>
            <a:r>
              <a:rPr lang="es-GT" sz="4000" b="0" i="0" noProof="0" dirty="0">
                <a:solidFill>
                  <a:schemeClr val="tx1"/>
                </a:solidFill>
                <a:latin typeface="Tahoma"/>
                <a:ea typeface="+mn-ea"/>
                <a:cs typeface="Tahoma"/>
              </a:rPr>
              <a:t>y dar </a:t>
            </a:r>
            <a:r>
              <a:rPr lang="es-GT" sz="4000" b="0" i="0" noProof="0" dirty="0" err="1">
                <a:solidFill>
                  <a:schemeClr val="tx1"/>
                </a:solidFill>
                <a:latin typeface="Tahoma"/>
                <a:ea typeface="+mn-ea"/>
                <a:cs typeface="Tahoma"/>
              </a:rPr>
              <a:t>click</a:t>
            </a:r>
            <a:r>
              <a:rPr lang="es-GT" sz="4000" b="0" i="0" noProof="0" dirty="0">
                <a:solidFill>
                  <a:schemeClr val="tx1"/>
                </a:solidFill>
                <a:latin typeface="Tahoma"/>
                <a:ea typeface="+mn-ea"/>
                <a:cs typeface="Tahoma"/>
              </a:rPr>
              <a:t> en la opción </a:t>
            </a:r>
            <a:r>
              <a:rPr lang="es-GT" sz="4000" b="1" i="0" noProof="0" dirty="0">
                <a:solidFill>
                  <a:schemeClr val="tx1"/>
                </a:solidFill>
                <a:latin typeface="Tahoma"/>
                <a:ea typeface="+mn-ea"/>
                <a:cs typeface="Tahoma"/>
              </a:rPr>
              <a:t>“Proyecto en blanco”</a:t>
            </a:r>
          </a:p>
        </p:txBody>
      </p:sp>
      <p:pic>
        <p:nvPicPr>
          <p:cNvPr id="7" name="Imagen 6" descr="Interfaz de usuario gráfica, Aplicación, Word&#10;&#10;El contenido generado por IA puede ser incorrecto.">
            <a:extLst>
              <a:ext uri="{FF2B5EF4-FFF2-40B4-BE49-F238E27FC236}">
                <a16:creationId xmlns:a16="http://schemas.microsoft.com/office/drawing/2014/main" id="{241AE75E-263C-C690-2770-96B134A8F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1600" y="2476500"/>
            <a:ext cx="8896807" cy="5594638"/>
          </a:xfrm>
          <a:prstGeom prst="rect">
            <a:avLst/>
          </a:prstGeom>
        </p:spPr>
      </p:pic>
    </p:spTree>
    <p:extLst>
      <p:ext uri="{BB962C8B-B14F-4D97-AF65-F5344CB8AC3E}">
        <p14:creationId xmlns:p14="http://schemas.microsoft.com/office/powerpoint/2010/main" val="3089856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1EDFBF6-214B-7DE1-007F-298880832871}"/>
              </a:ext>
            </a:extLst>
          </p:cNvPr>
          <p:cNvSpPr>
            <a:spLocks noGrp="1"/>
          </p:cNvSpPr>
          <p:nvPr>
            <p:ph sz="half" idx="2"/>
          </p:nvPr>
        </p:nvSpPr>
        <p:spPr>
          <a:xfrm>
            <a:off x="914400" y="2366010"/>
            <a:ext cx="7955280" cy="6789420"/>
          </a:xfrm>
        </p:spPr>
        <p:txBody>
          <a:bodyPr wrap="square">
            <a:normAutofit/>
          </a:bodyPr>
          <a:lstStyle/>
          <a:p>
            <a:pPr algn="just">
              <a:lnSpc>
                <a:spcPct val="90000"/>
              </a:lnSpc>
              <a:spcAft>
                <a:spcPts val="600"/>
              </a:spcAft>
            </a:pPr>
            <a:r>
              <a:rPr lang="es-GT" sz="2400" dirty="0"/>
              <a:t>Al crear el documento lo primero que apreciamos es que dicho documento se encuentra dividido en dos regiones. En la región de la izquierda se puede observar una tabla al más puro estilo del Excel, en la que se muestra la planificación del proyecto dividido en fases y estas a sus vez en tareas (y </a:t>
            </a:r>
            <a:r>
              <a:rPr lang="es-GT" sz="2400" dirty="0" err="1"/>
              <a:t>sub-tareas</a:t>
            </a:r>
            <a:r>
              <a:rPr lang="es-GT" sz="2400" dirty="0"/>
              <a:t> si fuese necesario) especificando la duración tanto en número de días como en periodo implicado. En la región de la derecha se aprecia un gráfico que comprende la misma información de manera más visual para facilitar la detección de anomalías y seguimiento de la planificación.</a:t>
            </a:r>
          </a:p>
        </p:txBody>
      </p:sp>
      <p:pic>
        <p:nvPicPr>
          <p:cNvPr id="1026" name="Picture 2" descr="Qué es Microsoft Project y para qué sirve?">
            <a:extLst>
              <a:ext uri="{FF2B5EF4-FFF2-40B4-BE49-F238E27FC236}">
                <a16:creationId xmlns:a16="http://schemas.microsoft.com/office/drawing/2014/main" id="{EBABD894-43BB-5DE7-EA79-C62C52013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90" r="25457" b="2"/>
          <a:stretch/>
        </p:blipFill>
        <p:spPr bwMode="auto">
          <a:xfrm>
            <a:off x="9418320" y="2366010"/>
            <a:ext cx="7955280" cy="6789420"/>
          </a:xfrm>
          <a:prstGeom prst="rect">
            <a:avLst/>
          </a:prstGeom>
          <a:solidFill>
            <a:srgbClr val="FFFFFF"/>
          </a:solidFill>
        </p:spPr>
      </p:pic>
    </p:spTree>
    <p:extLst>
      <p:ext uri="{BB962C8B-B14F-4D97-AF65-F5344CB8AC3E}">
        <p14:creationId xmlns:p14="http://schemas.microsoft.com/office/powerpoint/2010/main" val="1369155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F62F4BF-00B5-3DD4-D8B5-7224DACFE1DA}"/>
              </a:ext>
            </a:extLst>
          </p:cNvPr>
          <p:cNvSpPr>
            <a:spLocks noGrp="1"/>
          </p:cNvSpPr>
          <p:nvPr>
            <p:ph sz="half" idx="2"/>
          </p:nvPr>
        </p:nvSpPr>
        <p:spPr>
          <a:xfrm>
            <a:off x="914400" y="2366010"/>
            <a:ext cx="7955280" cy="6789420"/>
          </a:xfrm>
        </p:spPr>
        <p:txBody>
          <a:bodyPr wrap="square">
            <a:normAutofit/>
          </a:bodyPr>
          <a:lstStyle/>
          <a:p>
            <a:pPr algn="just">
              <a:spcAft>
                <a:spcPts val="600"/>
              </a:spcAft>
            </a:pPr>
            <a:r>
              <a:rPr lang="es-GT" dirty="0"/>
              <a:t>Una vez creado se puede definir para el proyecto algunas propiedades, seleccionando en el menú “Proyecto” y en la parte izquierda de la barra de herramientas “Información”</a:t>
            </a:r>
          </a:p>
        </p:txBody>
      </p:sp>
      <p:pic>
        <p:nvPicPr>
          <p:cNvPr id="6" name="Marcador de contenido 5" descr="Interfaz de usuario gráfica, Aplicación&#10;&#10;El contenido generado por IA puede ser incorrecto.">
            <a:extLst>
              <a:ext uri="{FF2B5EF4-FFF2-40B4-BE49-F238E27FC236}">
                <a16:creationId xmlns:a16="http://schemas.microsoft.com/office/drawing/2014/main" id="{C260E691-6318-E3D0-A15D-5D955D464A2F}"/>
              </a:ext>
            </a:extLst>
          </p:cNvPr>
          <p:cNvPicPr>
            <a:picLocks noGrp="1" noChangeAspect="1"/>
          </p:cNvPicPr>
          <p:nvPr>
            <p:ph sz="half" idx="3"/>
          </p:nvPr>
        </p:nvPicPr>
        <p:blipFill>
          <a:blip r:embed="rId2">
            <a:extLst>
              <a:ext uri="{28A0092B-C50C-407E-A947-70E740481C1C}">
                <a14:useLocalDpi xmlns:a14="http://schemas.microsoft.com/office/drawing/2010/main" val="0"/>
              </a:ext>
            </a:extLst>
          </a:blip>
          <a:stretch>
            <a:fillRect/>
          </a:stretch>
        </p:blipFill>
        <p:spPr>
          <a:xfrm>
            <a:off x="762000" y="4457700"/>
            <a:ext cx="7955280" cy="1750162"/>
          </a:xfrm>
          <a:noFill/>
        </p:spPr>
      </p:pic>
      <p:pic>
        <p:nvPicPr>
          <p:cNvPr id="8" name="Imagen 7">
            <a:extLst>
              <a:ext uri="{FF2B5EF4-FFF2-40B4-BE49-F238E27FC236}">
                <a16:creationId xmlns:a16="http://schemas.microsoft.com/office/drawing/2014/main" id="{C952DCD2-6165-F4EB-62DC-5602AC589B0D}"/>
              </a:ext>
            </a:extLst>
          </p:cNvPr>
          <p:cNvPicPr>
            <a:picLocks noChangeAspect="1"/>
          </p:cNvPicPr>
          <p:nvPr/>
        </p:nvPicPr>
        <p:blipFill>
          <a:blip r:embed="rId3"/>
          <a:stretch>
            <a:fillRect/>
          </a:stretch>
        </p:blipFill>
        <p:spPr>
          <a:xfrm>
            <a:off x="9705833" y="3655978"/>
            <a:ext cx="7696200" cy="5146348"/>
          </a:xfrm>
          <a:prstGeom prst="rect">
            <a:avLst/>
          </a:prstGeom>
        </p:spPr>
      </p:pic>
      <p:sp>
        <p:nvSpPr>
          <p:cNvPr id="9" name="CuadroTexto 8">
            <a:extLst>
              <a:ext uri="{FF2B5EF4-FFF2-40B4-BE49-F238E27FC236}">
                <a16:creationId xmlns:a16="http://schemas.microsoft.com/office/drawing/2014/main" id="{DF11633E-6325-DE44-9CB4-5107656967A0}"/>
              </a:ext>
            </a:extLst>
          </p:cNvPr>
          <p:cNvSpPr txBox="1"/>
          <p:nvPr/>
        </p:nvSpPr>
        <p:spPr>
          <a:xfrm>
            <a:off x="9829800" y="2247900"/>
            <a:ext cx="7667767" cy="1408078"/>
          </a:xfrm>
          <a:prstGeom prst="rect">
            <a:avLst/>
          </a:prstGeom>
          <a:noFill/>
        </p:spPr>
        <p:txBody>
          <a:bodyPr wrap="square" rtlCol="0">
            <a:spAutoFit/>
          </a:bodyPr>
          <a:lstStyle/>
          <a:p>
            <a:r>
              <a:rPr lang="es-GT" sz="2850" dirty="0"/>
              <a:t>Para que se defina entre otros: La Fecha de comienzo o fin del proyecto, el calendario, la prioridad, </a:t>
            </a:r>
            <a:r>
              <a:rPr lang="es-GT" sz="2850" dirty="0" err="1"/>
              <a:t>etc</a:t>
            </a:r>
            <a:endParaRPr lang="es-GT" sz="2850" dirty="0"/>
          </a:p>
        </p:txBody>
      </p:sp>
    </p:spTree>
    <p:extLst>
      <p:ext uri="{BB962C8B-B14F-4D97-AF65-F5344CB8AC3E}">
        <p14:creationId xmlns:p14="http://schemas.microsoft.com/office/powerpoint/2010/main" val="271523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0E4A16-6EA4-F547-ED53-6F7B8548F253}"/>
              </a:ext>
            </a:extLst>
          </p:cNvPr>
          <p:cNvSpPr>
            <a:spLocks noGrp="1"/>
          </p:cNvSpPr>
          <p:nvPr>
            <p:ph type="title"/>
          </p:nvPr>
        </p:nvSpPr>
        <p:spPr>
          <a:xfrm>
            <a:off x="3493589" y="1104900"/>
            <a:ext cx="10386912" cy="856614"/>
          </a:xfrm>
        </p:spPr>
        <p:txBody>
          <a:bodyPr/>
          <a:lstStyle/>
          <a:p>
            <a:r>
              <a:rPr lang="es-GT" dirty="0"/>
              <a:t>Partes Básicas de MS Project</a:t>
            </a:r>
          </a:p>
        </p:txBody>
      </p:sp>
      <p:pic>
        <p:nvPicPr>
          <p:cNvPr id="6" name="Imagen 5">
            <a:extLst>
              <a:ext uri="{FF2B5EF4-FFF2-40B4-BE49-F238E27FC236}">
                <a16:creationId xmlns:a16="http://schemas.microsoft.com/office/drawing/2014/main" id="{1495B91D-4371-678A-DCAA-89A11FBC7200}"/>
              </a:ext>
            </a:extLst>
          </p:cNvPr>
          <p:cNvPicPr>
            <a:picLocks noChangeAspect="1"/>
          </p:cNvPicPr>
          <p:nvPr/>
        </p:nvPicPr>
        <p:blipFill>
          <a:blip r:embed="rId2"/>
          <a:stretch>
            <a:fillRect/>
          </a:stretch>
        </p:blipFill>
        <p:spPr>
          <a:xfrm>
            <a:off x="5029200" y="2247900"/>
            <a:ext cx="7315691" cy="7595561"/>
          </a:xfrm>
          <a:prstGeom prst="rect">
            <a:avLst/>
          </a:prstGeom>
        </p:spPr>
      </p:pic>
    </p:spTree>
    <p:extLst>
      <p:ext uri="{BB962C8B-B14F-4D97-AF65-F5344CB8AC3E}">
        <p14:creationId xmlns:p14="http://schemas.microsoft.com/office/powerpoint/2010/main" val="2708695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990843" y="1460631"/>
            <a:ext cx="5772149" cy="5743547"/>
          </a:xfrm>
          <a:prstGeom prst="rect">
            <a:avLst/>
          </a:prstGeom>
        </p:spPr>
      </p:pic>
      <p:sp>
        <p:nvSpPr>
          <p:cNvPr id="3" name="object 3"/>
          <p:cNvSpPr txBox="1">
            <a:spLocks noGrp="1"/>
          </p:cNvSpPr>
          <p:nvPr>
            <p:ph type="title" idx="4294967295"/>
          </p:nvPr>
        </p:nvSpPr>
        <p:spPr>
          <a:xfrm>
            <a:off x="0" y="3098800"/>
            <a:ext cx="8475663" cy="2468563"/>
          </a:xfrm>
          <a:prstGeom prst="rect">
            <a:avLst/>
          </a:prstGeom>
        </p:spPr>
        <p:txBody>
          <a:bodyPr vert="horz" wrap="square" lIns="0" tIns="13970" rIns="0" bIns="0" rtlCol="0">
            <a:spAutoFit/>
          </a:bodyPr>
          <a:lstStyle/>
          <a:p>
            <a:pPr marL="12700">
              <a:lnSpc>
                <a:spcPct val="100000"/>
              </a:lnSpc>
              <a:spcBef>
                <a:spcPts val="110"/>
              </a:spcBef>
            </a:pPr>
            <a:r>
              <a:rPr sz="15950" dirty="0"/>
              <a:t>TAREAS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16000" y="3440428"/>
            <a:ext cx="8783320" cy="2711450"/>
          </a:xfrm>
          <a:prstGeom prst="rect">
            <a:avLst/>
          </a:prstGeom>
        </p:spPr>
        <p:txBody>
          <a:bodyPr vert="horz" wrap="square" lIns="0" tIns="12065" rIns="0" bIns="0" rtlCol="0">
            <a:spAutoFit/>
          </a:bodyPr>
          <a:lstStyle/>
          <a:p>
            <a:pPr marL="12700" marR="5080" algn="just">
              <a:lnSpc>
                <a:spcPct val="115199"/>
              </a:lnSpc>
              <a:spcBef>
                <a:spcPts val="95"/>
              </a:spcBef>
            </a:pPr>
            <a:r>
              <a:rPr sz="2550" spc="65" dirty="0">
                <a:latin typeface="Tahoma"/>
                <a:cs typeface="Tahoma"/>
              </a:rPr>
              <a:t>Las</a:t>
            </a:r>
            <a:r>
              <a:rPr sz="2550" spc="430" dirty="0">
                <a:latin typeface="Tahoma"/>
                <a:cs typeface="Tahoma"/>
              </a:rPr>
              <a:t>  </a:t>
            </a:r>
            <a:r>
              <a:rPr sz="2550" spc="75" dirty="0">
                <a:latin typeface="Tahoma"/>
                <a:cs typeface="Tahoma"/>
              </a:rPr>
              <a:t>tareas</a:t>
            </a:r>
            <a:r>
              <a:rPr sz="2550" spc="425" dirty="0">
                <a:latin typeface="Tahoma"/>
                <a:cs typeface="Tahoma"/>
              </a:rPr>
              <a:t>  </a:t>
            </a:r>
            <a:r>
              <a:rPr sz="2550" spc="120" dirty="0">
                <a:latin typeface="Tahoma"/>
                <a:cs typeface="Tahoma"/>
              </a:rPr>
              <a:t>son</a:t>
            </a:r>
            <a:r>
              <a:rPr sz="2550" spc="430" dirty="0">
                <a:latin typeface="Tahoma"/>
                <a:cs typeface="Tahoma"/>
              </a:rPr>
              <a:t>  </a:t>
            </a:r>
            <a:r>
              <a:rPr sz="2550" spc="90" dirty="0">
                <a:latin typeface="Tahoma"/>
                <a:cs typeface="Tahoma"/>
              </a:rPr>
              <a:t>los</a:t>
            </a:r>
            <a:r>
              <a:rPr sz="2550" spc="430" dirty="0">
                <a:latin typeface="Tahoma"/>
                <a:cs typeface="Tahoma"/>
              </a:rPr>
              <a:t>  </a:t>
            </a:r>
            <a:r>
              <a:rPr sz="2550" spc="105" dirty="0">
                <a:latin typeface="Tahoma"/>
                <a:cs typeface="Tahoma"/>
              </a:rPr>
              <a:t>elementos</a:t>
            </a:r>
            <a:r>
              <a:rPr sz="2550" spc="425" dirty="0">
                <a:latin typeface="Tahoma"/>
                <a:cs typeface="Tahoma"/>
              </a:rPr>
              <a:t>  </a:t>
            </a:r>
            <a:r>
              <a:rPr sz="2550" spc="100" dirty="0">
                <a:latin typeface="Tahoma"/>
                <a:cs typeface="Tahoma"/>
              </a:rPr>
              <a:t>fundamentales</a:t>
            </a:r>
            <a:r>
              <a:rPr sz="2550" spc="430" dirty="0">
                <a:latin typeface="Tahoma"/>
                <a:cs typeface="Tahoma"/>
              </a:rPr>
              <a:t>  </a:t>
            </a:r>
            <a:r>
              <a:rPr sz="2550" spc="100" dirty="0">
                <a:latin typeface="Tahoma"/>
                <a:cs typeface="Tahoma"/>
              </a:rPr>
              <a:t>que </a:t>
            </a:r>
            <a:r>
              <a:rPr sz="2550" spc="130" dirty="0">
                <a:latin typeface="Tahoma"/>
                <a:cs typeface="Tahoma"/>
              </a:rPr>
              <a:t>componen</a:t>
            </a:r>
            <a:r>
              <a:rPr sz="2550" spc="300" dirty="0">
                <a:latin typeface="Tahoma"/>
                <a:cs typeface="Tahoma"/>
              </a:rPr>
              <a:t>  </a:t>
            </a:r>
            <a:r>
              <a:rPr sz="2550" spc="140" dirty="0">
                <a:latin typeface="Tahoma"/>
                <a:cs typeface="Tahoma"/>
              </a:rPr>
              <a:t>un</a:t>
            </a:r>
            <a:r>
              <a:rPr sz="2550" spc="295" dirty="0">
                <a:latin typeface="Tahoma"/>
                <a:cs typeface="Tahoma"/>
              </a:rPr>
              <a:t>  </a:t>
            </a:r>
            <a:r>
              <a:rPr sz="2550" spc="90" dirty="0">
                <a:latin typeface="Tahoma"/>
                <a:cs typeface="Tahoma"/>
              </a:rPr>
              <a:t>proyecto</a:t>
            </a:r>
            <a:r>
              <a:rPr sz="2550" spc="300" dirty="0">
                <a:latin typeface="Tahoma"/>
                <a:cs typeface="Tahoma"/>
              </a:rPr>
              <a:t>  </a:t>
            </a:r>
            <a:r>
              <a:rPr sz="2550" dirty="0">
                <a:latin typeface="Tahoma"/>
                <a:cs typeface="Tahoma"/>
              </a:rPr>
              <a:t>y</a:t>
            </a:r>
            <a:r>
              <a:rPr sz="2550" spc="300" dirty="0">
                <a:latin typeface="Tahoma"/>
                <a:cs typeface="Tahoma"/>
              </a:rPr>
              <a:t>  </a:t>
            </a:r>
            <a:r>
              <a:rPr sz="2550" spc="100" dirty="0">
                <a:latin typeface="Tahoma"/>
                <a:cs typeface="Tahoma"/>
              </a:rPr>
              <a:t>representan</a:t>
            </a:r>
            <a:r>
              <a:rPr sz="2550" spc="300" dirty="0">
                <a:latin typeface="Tahoma"/>
                <a:cs typeface="Tahoma"/>
              </a:rPr>
              <a:t>  </a:t>
            </a:r>
            <a:r>
              <a:rPr sz="2550" spc="65" dirty="0">
                <a:latin typeface="Tahoma"/>
                <a:cs typeface="Tahoma"/>
              </a:rPr>
              <a:t>las</a:t>
            </a:r>
            <a:r>
              <a:rPr sz="2550" spc="295" dirty="0">
                <a:latin typeface="Tahoma"/>
                <a:cs typeface="Tahoma"/>
              </a:rPr>
              <a:t>  </a:t>
            </a:r>
            <a:r>
              <a:rPr sz="2550" spc="65" dirty="0">
                <a:latin typeface="Tahoma"/>
                <a:cs typeface="Tahoma"/>
              </a:rPr>
              <a:t>distintas </a:t>
            </a:r>
            <a:r>
              <a:rPr sz="2550" spc="70" dirty="0">
                <a:latin typeface="Tahoma"/>
                <a:cs typeface="Tahoma"/>
              </a:rPr>
              <a:t>actividades</a:t>
            </a:r>
            <a:r>
              <a:rPr sz="2550" spc="254" dirty="0">
                <a:latin typeface="Tahoma"/>
                <a:cs typeface="Tahoma"/>
              </a:rPr>
              <a:t> </a:t>
            </a:r>
            <a:r>
              <a:rPr sz="2550" spc="125" dirty="0">
                <a:latin typeface="Tahoma"/>
                <a:cs typeface="Tahoma"/>
              </a:rPr>
              <a:t>que</a:t>
            </a:r>
            <a:r>
              <a:rPr sz="2550" spc="250" dirty="0">
                <a:latin typeface="Tahoma"/>
                <a:cs typeface="Tahoma"/>
              </a:rPr>
              <a:t> </a:t>
            </a:r>
            <a:r>
              <a:rPr sz="2550" spc="120" dirty="0">
                <a:latin typeface="Tahoma"/>
                <a:cs typeface="Tahoma"/>
              </a:rPr>
              <a:t>deben</a:t>
            </a:r>
            <a:r>
              <a:rPr sz="2550" spc="254" dirty="0">
                <a:latin typeface="Tahoma"/>
                <a:cs typeface="Tahoma"/>
              </a:rPr>
              <a:t> </a:t>
            </a:r>
            <a:r>
              <a:rPr sz="2550" spc="65" dirty="0">
                <a:latin typeface="Tahoma"/>
                <a:cs typeface="Tahoma"/>
              </a:rPr>
              <a:t>llevarse</a:t>
            </a:r>
            <a:r>
              <a:rPr sz="2550" spc="254" dirty="0">
                <a:latin typeface="Tahoma"/>
                <a:cs typeface="Tahoma"/>
              </a:rPr>
              <a:t> </a:t>
            </a:r>
            <a:r>
              <a:rPr sz="2550" spc="80" dirty="0">
                <a:latin typeface="Tahoma"/>
                <a:cs typeface="Tahoma"/>
              </a:rPr>
              <a:t>a</a:t>
            </a:r>
            <a:r>
              <a:rPr sz="2550" spc="250" dirty="0">
                <a:latin typeface="Tahoma"/>
                <a:cs typeface="Tahoma"/>
              </a:rPr>
              <a:t> </a:t>
            </a:r>
            <a:r>
              <a:rPr sz="2550" spc="100" dirty="0">
                <a:latin typeface="Tahoma"/>
                <a:cs typeface="Tahoma"/>
              </a:rPr>
              <a:t>cabo</a:t>
            </a:r>
            <a:r>
              <a:rPr sz="2550" spc="254" dirty="0">
                <a:latin typeface="Tahoma"/>
                <a:cs typeface="Tahoma"/>
              </a:rPr>
              <a:t> </a:t>
            </a:r>
            <a:r>
              <a:rPr sz="2550" spc="100" dirty="0">
                <a:latin typeface="Tahoma"/>
                <a:cs typeface="Tahoma"/>
              </a:rPr>
              <a:t>para</a:t>
            </a:r>
            <a:r>
              <a:rPr sz="2550" spc="254" dirty="0">
                <a:latin typeface="Tahoma"/>
                <a:cs typeface="Tahoma"/>
              </a:rPr>
              <a:t> </a:t>
            </a:r>
            <a:r>
              <a:rPr sz="2550" spc="75" dirty="0">
                <a:latin typeface="Tahoma"/>
                <a:cs typeface="Tahoma"/>
              </a:rPr>
              <a:t>alcanzar</a:t>
            </a:r>
            <a:r>
              <a:rPr sz="2550" spc="250" dirty="0">
                <a:latin typeface="Tahoma"/>
                <a:cs typeface="Tahoma"/>
              </a:rPr>
              <a:t> </a:t>
            </a:r>
            <a:r>
              <a:rPr sz="2550" spc="65" dirty="0">
                <a:latin typeface="Tahoma"/>
                <a:cs typeface="Tahoma"/>
              </a:rPr>
              <a:t>los </a:t>
            </a:r>
            <a:r>
              <a:rPr sz="2550" spc="70" dirty="0">
                <a:latin typeface="Tahoma"/>
                <a:cs typeface="Tahoma"/>
              </a:rPr>
              <a:t>objetivos</a:t>
            </a:r>
            <a:r>
              <a:rPr sz="2550" spc="305" dirty="0">
                <a:latin typeface="Tahoma"/>
                <a:cs typeface="Tahoma"/>
              </a:rPr>
              <a:t>  </a:t>
            </a:r>
            <a:r>
              <a:rPr sz="2550" spc="95" dirty="0">
                <a:latin typeface="Tahoma"/>
                <a:cs typeface="Tahoma"/>
              </a:rPr>
              <a:t>del</a:t>
            </a:r>
            <a:r>
              <a:rPr sz="2550" spc="315" dirty="0">
                <a:latin typeface="Tahoma"/>
                <a:cs typeface="Tahoma"/>
              </a:rPr>
              <a:t>  </a:t>
            </a:r>
            <a:r>
              <a:rPr sz="2550" spc="65" dirty="0">
                <a:latin typeface="Tahoma"/>
                <a:cs typeface="Tahoma"/>
              </a:rPr>
              <a:t>proyecto.</a:t>
            </a:r>
            <a:r>
              <a:rPr sz="2550" spc="315" dirty="0">
                <a:latin typeface="Tahoma"/>
                <a:cs typeface="Tahoma"/>
              </a:rPr>
              <a:t>  </a:t>
            </a:r>
            <a:r>
              <a:rPr sz="2550" spc="90" dirty="0">
                <a:latin typeface="Tahoma"/>
                <a:cs typeface="Tahoma"/>
              </a:rPr>
              <a:t>Cada</a:t>
            </a:r>
            <a:r>
              <a:rPr sz="2550" spc="315" dirty="0">
                <a:latin typeface="Tahoma"/>
                <a:cs typeface="Tahoma"/>
              </a:rPr>
              <a:t>  </a:t>
            </a:r>
            <a:r>
              <a:rPr sz="2550" spc="75" dirty="0">
                <a:latin typeface="Tahoma"/>
                <a:cs typeface="Tahoma"/>
              </a:rPr>
              <a:t>tarea</a:t>
            </a:r>
            <a:r>
              <a:rPr sz="2550" spc="315" dirty="0">
                <a:latin typeface="Tahoma"/>
                <a:cs typeface="Tahoma"/>
              </a:rPr>
              <a:t>  </a:t>
            </a:r>
            <a:r>
              <a:rPr sz="2550" spc="80" dirty="0">
                <a:latin typeface="Tahoma"/>
                <a:cs typeface="Tahoma"/>
              </a:rPr>
              <a:t>es</a:t>
            </a:r>
            <a:r>
              <a:rPr sz="2550" spc="320" dirty="0">
                <a:latin typeface="Tahoma"/>
                <a:cs typeface="Tahoma"/>
              </a:rPr>
              <a:t>  </a:t>
            </a:r>
            <a:r>
              <a:rPr sz="2550" spc="114" dirty="0">
                <a:latin typeface="Tahoma"/>
                <a:cs typeface="Tahoma"/>
              </a:rPr>
              <a:t>una</a:t>
            </a:r>
            <a:r>
              <a:rPr sz="2550" spc="315" dirty="0">
                <a:latin typeface="Tahoma"/>
                <a:cs typeface="Tahoma"/>
              </a:rPr>
              <a:t>  </a:t>
            </a:r>
            <a:r>
              <a:rPr sz="2550" spc="105" dirty="0">
                <a:latin typeface="Tahoma"/>
                <a:cs typeface="Tahoma"/>
              </a:rPr>
              <a:t>unidad </a:t>
            </a:r>
            <a:r>
              <a:rPr sz="2550" spc="85" dirty="0">
                <a:latin typeface="Tahoma"/>
                <a:cs typeface="Tahoma"/>
              </a:rPr>
              <a:t>individual</a:t>
            </a:r>
            <a:r>
              <a:rPr sz="2550" spc="385" dirty="0">
                <a:latin typeface="Tahoma"/>
                <a:cs typeface="Tahoma"/>
              </a:rPr>
              <a:t> </a:t>
            </a:r>
            <a:r>
              <a:rPr sz="2550" spc="120" dirty="0">
                <a:latin typeface="Tahoma"/>
                <a:cs typeface="Tahoma"/>
              </a:rPr>
              <a:t>de</a:t>
            </a:r>
            <a:r>
              <a:rPr sz="2550" spc="400" dirty="0">
                <a:latin typeface="Tahoma"/>
                <a:cs typeface="Tahoma"/>
              </a:rPr>
              <a:t> </a:t>
            </a:r>
            <a:r>
              <a:rPr sz="2550" spc="75" dirty="0">
                <a:latin typeface="Tahoma"/>
                <a:cs typeface="Tahoma"/>
              </a:rPr>
              <a:t>trabajo</a:t>
            </a:r>
            <a:r>
              <a:rPr sz="2550" spc="395" dirty="0">
                <a:latin typeface="Tahoma"/>
                <a:cs typeface="Tahoma"/>
              </a:rPr>
              <a:t> </a:t>
            </a:r>
            <a:r>
              <a:rPr sz="2550" spc="105" dirty="0">
                <a:latin typeface="Tahoma"/>
                <a:cs typeface="Tahoma"/>
              </a:rPr>
              <a:t>con</a:t>
            </a:r>
            <a:r>
              <a:rPr sz="2550" spc="395" dirty="0">
                <a:latin typeface="Tahoma"/>
                <a:cs typeface="Tahoma"/>
              </a:rPr>
              <a:t> </a:t>
            </a:r>
            <a:r>
              <a:rPr sz="2550" spc="114" dirty="0">
                <a:latin typeface="Tahoma"/>
                <a:cs typeface="Tahoma"/>
              </a:rPr>
              <a:t>una</a:t>
            </a:r>
            <a:r>
              <a:rPr sz="2550" spc="400" dirty="0">
                <a:latin typeface="Tahoma"/>
                <a:cs typeface="Tahoma"/>
              </a:rPr>
              <a:t> </a:t>
            </a:r>
            <a:r>
              <a:rPr sz="2550" spc="105" dirty="0">
                <a:latin typeface="Tahoma"/>
                <a:cs typeface="Tahoma"/>
              </a:rPr>
              <a:t>duración</a:t>
            </a:r>
            <a:r>
              <a:rPr sz="2550" spc="395" dirty="0">
                <a:latin typeface="Tahoma"/>
                <a:cs typeface="Tahoma"/>
              </a:rPr>
              <a:t> </a:t>
            </a:r>
            <a:r>
              <a:rPr sz="2550" spc="95" dirty="0">
                <a:latin typeface="Tahoma"/>
                <a:cs typeface="Tahoma"/>
              </a:rPr>
              <a:t>estimada</a:t>
            </a:r>
            <a:r>
              <a:rPr sz="2550" spc="400" dirty="0">
                <a:latin typeface="Tahoma"/>
                <a:cs typeface="Tahoma"/>
              </a:rPr>
              <a:t> </a:t>
            </a:r>
            <a:r>
              <a:rPr sz="2550" dirty="0">
                <a:latin typeface="Tahoma"/>
                <a:cs typeface="Tahoma"/>
              </a:rPr>
              <a:t>y</a:t>
            </a:r>
            <a:r>
              <a:rPr sz="2550" spc="395" dirty="0">
                <a:latin typeface="Tahoma"/>
                <a:cs typeface="Tahoma"/>
              </a:rPr>
              <a:t> </a:t>
            </a:r>
            <a:r>
              <a:rPr sz="2550" spc="90" dirty="0">
                <a:latin typeface="Tahoma"/>
                <a:cs typeface="Tahoma"/>
              </a:rPr>
              <a:t>una </a:t>
            </a:r>
            <a:r>
              <a:rPr sz="2550" spc="75" dirty="0">
                <a:latin typeface="Tahoma"/>
                <a:cs typeface="Tahoma"/>
              </a:rPr>
              <a:t>fecha</a:t>
            </a:r>
            <a:r>
              <a:rPr sz="2550" spc="-130" dirty="0">
                <a:latin typeface="Tahoma"/>
                <a:cs typeface="Tahoma"/>
              </a:rPr>
              <a:t> </a:t>
            </a:r>
            <a:r>
              <a:rPr sz="2550" spc="120" dirty="0">
                <a:latin typeface="Tahoma"/>
                <a:cs typeface="Tahoma"/>
              </a:rPr>
              <a:t>de</a:t>
            </a:r>
            <a:r>
              <a:rPr sz="2550" spc="-125" dirty="0">
                <a:latin typeface="Tahoma"/>
                <a:cs typeface="Tahoma"/>
              </a:rPr>
              <a:t> </a:t>
            </a:r>
            <a:r>
              <a:rPr sz="2550" spc="80" dirty="0">
                <a:latin typeface="Tahoma"/>
                <a:cs typeface="Tahoma"/>
              </a:rPr>
              <a:t>inicio</a:t>
            </a:r>
            <a:r>
              <a:rPr sz="2550" spc="-125" dirty="0">
                <a:latin typeface="Tahoma"/>
                <a:cs typeface="Tahoma"/>
              </a:rPr>
              <a:t> </a:t>
            </a:r>
            <a:r>
              <a:rPr sz="2550" dirty="0">
                <a:latin typeface="Tahoma"/>
                <a:cs typeface="Tahoma"/>
              </a:rPr>
              <a:t>y</a:t>
            </a:r>
            <a:r>
              <a:rPr sz="2550" spc="-130" dirty="0">
                <a:latin typeface="Tahoma"/>
                <a:cs typeface="Tahoma"/>
              </a:rPr>
              <a:t> </a:t>
            </a:r>
            <a:r>
              <a:rPr sz="2550" spc="75" dirty="0">
                <a:latin typeface="Tahoma"/>
                <a:cs typeface="Tahoma"/>
              </a:rPr>
              <a:t>finalización</a:t>
            </a:r>
            <a:r>
              <a:rPr sz="2550" spc="-125" dirty="0">
                <a:latin typeface="Tahoma"/>
                <a:cs typeface="Tahoma"/>
              </a:rPr>
              <a:t> </a:t>
            </a:r>
            <a:r>
              <a:rPr sz="2550" spc="55" dirty="0">
                <a:latin typeface="Tahoma"/>
                <a:cs typeface="Tahoma"/>
              </a:rPr>
              <a:t>asociadas.</a:t>
            </a:r>
            <a:endParaRPr sz="2550">
              <a:latin typeface="Tahoma"/>
              <a:cs typeface="Tahoma"/>
            </a:endParaRPr>
          </a:p>
        </p:txBody>
      </p:sp>
      <p:pic>
        <p:nvPicPr>
          <p:cNvPr id="3" name="object 3"/>
          <p:cNvPicPr/>
          <p:nvPr/>
        </p:nvPicPr>
        <p:blipFill>
          <a:blip r:embed="rId2" cstate="print"/>
          <a:stretch>
            <a:fillRect/>
          </a:stretch>
        </p:blipFill>
        <p:spPr>
          <a:xfrm>
            <a:off x="11220876" y="1"/>
            <a:ext cx="7067123" cy="10286997"/>
          </a:xfrm>
          <a:prstGeom prst="rect">
            <a:avLst/>
          </a:prstGeom>
        </p:spPr>
      </p:pic>
      <p:sp>
        <p:nvSpPr>
          <p:cNvPr id="9" name="object 9"/>
          <p:cNvSpPr txBox="1">
            <a:spLocks noGrp="1"/>
          </p:cNvSpPr>
          <p:nvPr>
            <p:ph type="title"/>
          </p:nvPr>
        </p:nvSpPr>
        <p:spPr>
          <a:xfrm>
            <a:off x="3917475" y="1866900"/>
            <a:ext cx="2980369" cy="851515"/>
          </a:xfrm>
          <a:prstGeom prst="rect">
            <a:avLst/>
          </a:prstGeom>
        </p:spPr>
        <p:txBody>
          <a:bodyPr vert="horz" wrap="square" lIns="0" tIns="12700" rIns="0" bIns="0" rtlCol="0">
            <a:spAutoFit/>
          </a:bodyPr>
          <a:lstStyle/>
          <a:p>
            <a:pPr marL="12700">
              <a:lnSpc>
                <a:spcPct val="100000"/>
              </a:lnSpc>
              <a:spcBef>
                <a:spcPts val="100"/>
              </a:spcBef>
            </a:pPr>
            <a:r>
              <a:rPr dirty="0"/>
              <a:t>TAREAS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16000" y="3440428"/>
            <a:ext cx="8783320" cy="1816100"/>
          </a:xfrm>
          <a:prstGeom prst="rect">
            <a:avLst/>
          </a:prstGeom>
        </p:spPr>
        <p:txBody>
          <a:bodyPr vert="horz" wrap="square" lIns="0" tIns="12065" rIns="0" bIns="0" rtlCol="0">
            <a:spAutoFit/>
          </a:bodyPr>
          <a:lstStyle/>
          <a:p>
            <a:pPr marL="12700" marR="5080" algn="just">
              <a:lnSpc>
                <a:spcPct val="115199"/>
              </a:lnSpc>
              <a:spcBef>
                <a:spcPts val="95"/>
              </a:spcBef>
            </a:pPr>
            <a:r>
              <a:rPr sz="2550" spc="65" dirty="0">
                <a:latin typeface="Tahoma"/>
                <a:cs typeface="Tahoma"/>
              </a:rPr>
              <a:t>Las</a:t>
            </a:r>
            <a:r>
              <a:rPr sz="2550" spc="-95" dirty="0">
                <a:latin typeface="Tahoma"/>
                <a:cs typeface="Tahoma"/>
              </a:rPr>
              <a:t> </a:t>
            </a:r>
            <a:r>
              <a:rPr sz="2550" spc="75" dirty="0">
                <a:latin typeface="Tahoma"/>
                <a:cs typeface="Tahoma"/>
              </a:rPr>
              <a:t>tareas</a:t>
            </a:r>
            <a:r>
              <a:rPr sz="2550" spc="-95" dirty="0">
                <a:latin typeface="Tahoma"/>
                <a:cs typeface="Tahoma"/>
              </a:rPr>
              <a:t> </a:t>
            </a:r>
            <a:r>
              <a:rPr sz="2550" spc="125" dirty="0">
                <a:latin typeface="Tahoma"/>
                <a:cs typeface="Tahoma"/>
              </a:rPr>
              <a:t>pueden</a:t>
            </a:r>
            <a:r>
              <a:rPr sz="2550" spc="-95" dirty="0">
                <a:latin typeface="Tahoma"/>
                <a:cs typeface="Tahoma"/>
              </a:rPr>
              <a:t> </a:t>
            </a:r>
            <a:r>
              <a:rPr sz="2550" spc="65" dirty="0">
                <a:latin typeface="Tahoma"/>
                <a:cs typeface="Tahoma"/>
              </a:rPr>
              <a:t>variar</a:t>
            </a:r>
            <a:r>
              <a:rPr sz="2550" spc="-95" dirty="0">
                <a:latin typeface="Tahoma"/>
                <a:cs typeface="Tahoma"/>
              </a:rPr>
              <a:t> </a:t>
            </a:r>
            <a:r>
              <a:rPr sz="2550" spc="114" dirty="0">
                <a:latin typeface="Tahoma"/>
                <a:cs typeface="Tahoma"/>
              </a:rPr>
              <a:t>en</a:t>
            </a:r>
            <a:r>
              <a:rPr sz="2550" spc="-95" dirty="0">
                <a:latin typeface="Tahoma"/>
                <a:cs typeface="Tahoma"/>
              </a:rPr>
              <a:t> </a:t>
            </a:r>
            <a:r>
              <a:rPr sz="2550" spc="114" dirty="0">
                <a:latin typeface="Tahoma"/>
                <a:cs typeface="Tahoma"/>
              </a:rPr>
              <a:t>tamaño</a:t>
            </a:r>
            <a:r>
              <a:rPr sz="2550" spc="-95" dirty="0">
                <a:latin typeface="Tahoma"/>
                <a:cs typeface="Tahoma"/>
              </a:rPr>
              <a:t> </a:t>
            </a:r>
            <a:r>
              <a:rPr sz="2550" dirty="0">
                <a:latin typeface="Tahoma"/>
                <a:cs typeface="Tahoma"/>
              </a:rPr>
              <a:t>y</a:t>
            </a:r>
            <a:r>
              <a:rPr sz="2550" spc="-95" dirty="0">
                <a:latin typeface="Tahoma"/>
                <a:cs typeface="Tahoma"/>
              </a:rPr>
              <a:t> </a:t>
            </a:r>
            <a:r>
              <a:rPr sz="2550" spc="70" dirty="0">
                <a:latin typeface="Tahoma"/>
                <a:cs typeface="Tahoma"/>
              </a:rPr>
              <a:t>complejidad,</a:t>
            </a:r>
            <a:r>
              <a:rPr sz="2550" spc="-95" dirty="0">
                <a:latin typeface="Tahoma"/>
                <a:cs typeface="Tahoma"/>
              </a:rPr>
              <a:t> </a:t>
            </a:r>
            <a:r>
              <a:rPr sz="2550" spc="100" dirty="0">
                <a:latin typeface="Tahoma"/>
                <a:cs typeface="Tahoma"/>
              </a:rPr>
              <a:t>desde simples</a:t>
            </a:r>
            <a:r>
              <a:rPr sz="2550" spc="635" dirty="0">
                <a:latin typeface="Tahoma"/>
                <a:cs typeface="Tahoma"/>
              </a:rPr>
              <a:t> </a:t>
            </a:r>
            <a:r>
              <a:rPr sz="2550" spc="80" dirty="0">
                <a:latin typeface="Tahoma"/>
                <a:cs typeface="Tahoma"/>
              </a:rPr>
              <a:t>acciones</a:t>
            </a:r>
            <a:r>
              <a:rPr sz="2550" spc="630" dirty="0">
                <a:latin typeface="Tahoma"/>
                <a:cs typeface="Tahoma"/>
              </a:rPr>
              <a:t> </a:t>
            </a:r>
            <a:r>
              <a:rPr sz="2550" spc="125" dirty="0">
                <a:latin typeface="Tahoma"/>
                <a:cs typeface="Tahoma"/>
              </a:rPr>
              <a:t>que</a:t>
            </a:r>
            <a:r>
              <a:rPr sz="2550" spc="-85" dirty="0">
                <a:latin typeface="Tahoma"/>
                <a:cs typeface="Tahoma"/>
              </a:rPr>
              <a:t>  </a:t>
            </a:r>
            <a:r>
              <a:rPr sz="2550" spc="125" dirty="0">
                <a:latin typeface="Tahoma"/>
                <a:cs typeface="Tahoma"/>
              </a:rPr>
              <a:t>toman</a:t>
            </a:r>
            <a:r>
              <a:rPr sz="2550" spc="-85" dirty="0">
                <a:latin typeface="Tahoma"/>
                <a:cs typeface="Tahoma"/>
              </a:rPr>
              <a:t>  </a:t>
            </a:r>
            <a:r>
              <a:rPr sz="2550" spc="105" dirty="0">
                <a:latin typeface="Tahoma"/>
                <a:cs typeface="Tahoma"/>
              </a:rPr>
              <a:t>solo</a:t>
            </a:r>
            <a:r>
              <a:rPr sz="2550" spc="-80" dirty="0">
                <a:latin typeface="Tahoma"/>
                <a:cs typeface="Tahoma"/>
              </a:rPr>
              <a:t>  </a:t>
            </a:r>
            <a:r>
              <a:rPr sz="2550" spc="125" dirty="0">
                <a:latin typeface="Tahoma"/>
                <a:cs typeface="Tahoma"/>
              </a:rPr>
              <a:t>unos</a:t>
            </a:r>
            <a:r>
              <a:rPr sz="2550" spc="-85" dirty="0">
                <a:latin typeface="Tahoma"/>
                <a:cs typeface="Tahoma"/>
              </a:rPr>
              <a:t>  </a:t>
            </a:r>
            <a:r>
              <a:rPr sz="2550" spc="114" dirty="0">
                <a:latin typeface="Tahoma"/>
                <a:cs typeface="Tahoma"/>
              </a:rPr>
              <a:t>minutos</a:t>
            </a:r>
            <a:r>
              <a:rPr sz="2550" spc="-85" dirty="0">
                <a:latin typeface="Tahoma"/>
                <a:cs typeface="Tahoma"/>
              </a:rPr>
              <a:t>  </a:t>
            </a:r>
            <a:r>
              <a:rPr sz="2550" spc="60" dirty="0">
                <a:latin typeface="Tahoma"/>
                <a:cs typeface="Tahoma"/>
              </a:rPr>
              <a:t>hasta </a:t>
            </a:r>
            <a:r>
              <a:rPr sz="2550" spc="70" dirty="0">
                <a:latin typeface="Tahoma"/>
                <a:cs typeface="Tahoma"/>
              </a:rPr>
              <a:t>actividades</a:t>
            </a:r>
            <a:r>
              <a:rPr sz="2550" spc="254" dirty="0">
                <a:latin typeface="Tahoma"/>
                <a:cs typeface="Tahoma"/>
              </a:rPr>
              <a:t> </a:t>
            </a:r>
            <a:r>
              <a:rPr sz="2550" spc="125" dirty="0">
                <a:latin typeface="Tahoma"/>
                <a:cs typeface="Tahoma"/>
              </a:rPr>
              <a:t>más</a:t>
            </a:r>
            <a:r>
              <a:rPr sz="2550" spc="265" dirty="0">
                <a:latin typeface="Tahoma"/>
                <a:cs typeface="Tahoma"/>
              </a:rPr>
              <a:t> </a:t>
            </a:r>
            <a:r>
              <a:rPr sz="2550" spc="85" dirty="0">
                <a:latin typeface="Tahoma"/>
                <a:cs typeface="Tahoma"/>
              </a:rPr>
              <a:t>grandes</a:t>
            </a:r>
            <a:r>
              <a:rPr sz="2550" spc="265" dirty="0">
                <a:latin typeface="Tahoma"/>
                <a:cs typeface="Tahoma"/>
              </a:rPr>
              <a:t> </a:t>
            </a:r>
            <a:r>
              <a:rPr sz="2550" dirty="0">
                <a:latin typeface="Tahoma"/>
                <a:cs typeface="Tahoma"/>
              </a:rPr>
              <a:t>y</a:t>
            </a:r>
            <a:r>
              <a:rPr sz="2550" spc="265" dirty="0">
                <a:latin typeface="Tahoma"/>
                <a:cs typeface="Tahoma"/>
              </a:rPr>
              <a:t> </a:t>
            </a:r>
            <a:r>
              <a:rPr sz="2550" spc="85" dirty="0">
                <a:latin typeface="Tahoma"/>
                <a:cs typeface="Tahoma"/>
              </a:rPr>
              <a:t>complejas</a:t>
            </a:r>
            <a:r>
              <a:rPr sz="2550" spc="265" dirty="0">
                <a:latin typeface="Tahoma"/>
                <a:cs typeface="Tahoma"/>
              </a:rPr>
              <a:t> </a:t>
            </a:r>
            <a:r>
              <a:rPr sz="2550" spc="125" dirty="0">
                <a:latin typeface="Tahoma"/>
                <a:cs typeface="Tahoma"/>
              </a:rPr>
              <a:t>que</a:t>
            </a:r>
            <a:r>
              <a:rPr sz="2550" spc="265" dirty="0">
                <a:latin typeface="Tahoma"/>
                <a:cs typeface="Tahoma"/>
              </a:rPr>
              <a:t> </a:t>
            </a:r>
            <a:r>
              <a:rPr sz="2550" spc="125" dirty="0">
                <a:latin typeface="Tahoma"/>
                <a:cs typeface="Tahoma"/>
              </a:rPr>
              <a:t>pueden</a:t>
            </a:r>
            <a:r>
              <a:rPr sz="2550" spc="265" dirty="0">
                <a:latin typeface="Tahoma"/>
                <a:cs typeface="Tahoma"/>
              </a:rPr>
              <a:t> </a:t>
            </a:r>
            <a:r>
              <a:rPr sz="2550" spc="50" dirty="0">
                <a:latin typeface="Tahoma"/>
                <a:cs typeface="Tahoma"/>
              </a:rPr>
              <a:t>llevar </a:t>
            </a:r>
            <a:r>
              <a:rPr sz="2550" dirty="0">
                <a:latin typeface="Tahoma"/>
                <a:cs typeface="Tahoma"/>
              </a:rPr>
              <a:t>días,</a:t>
            </a:r>
            <a:r>
              <a:rPr sz="2550" spc="-95" dirty="0">
                <a:latin typeface="Tahoma"/>
                <a:cs typeface="Tahoma"/>
              </a:rPr>
              <a:t> </a:t>
            </a:r>
            <a:r>
              <a:rPr sz="2550" spc="105" dirty="0">
                <a:latin typeface="Tahoma"/>
                <a:cs typeface="Tahoma"/>
              </a:rPr>
              <a:t>semanas</a:t>
            </a:r>
            <a:r>
              <a:rPr sz="2550" spc="-95" dirty="0">
                <a:latin typeface="Tahoma"/>
                <a:cs typeface="Tahoma"/>
              </a:rPr>
              <a:t> </a:t>
            </a:r>
            <a:r>
              <a:rPr sz="2550" spc="150" dirty="0">
                <a:latin typeface="Tahoma"/>
                <a:cs typeface="Tahoma"/>
              </a:rPr>
              <a:t>o</a:t>
            </a:r>
            <a:r>
              <a:rPr sz="2550" spc="-90" dirty="0">
                <a:latin typeface="Tahoma"/>
                <a:cs typeface="Tahoma"/>
              </a:rPr>
              <a:t> </a:t>
            </a:r>
            <a:r>
              <a:rPr sz="2550" spc="90" dirty="0">
                <a:latin typeface="Tahoma"/>
                <a:cs typeface="Tahoma"/>
              </a:rPr>
              <a:t>incluso</a:t>
            </a:r>
            <a:r>
              <a:rPr sz="2550" spc="-95" dirty="0">
                <a:latin typeface="Tahoma"/>
                <a:cs typeface="Tahoma"/>
              </a:rPr>
              <a:t> </a:t>
            </a:r>
            <a:r>
              <a:rPr sz="2550" spc="110" dirty="0">
                <a:latin typeface="Tahoma"/>
                <a:cs typeface="Tahoma"/>
              </a:rPr>
              <a:t>meses</a:t>
            </a:r>
            <a:r>
              <a:rPr sz="2550" spc="-95" dirty="0">
                <a:latin typeface="Tahoma"/>
                <a:cs typeface="Tahoma"/>
              </a:rPr>
              <a:t> </a:t>
            </a:r>
            <a:r>
              <a:rPr sz="2550" spc="114" dirty="0">
                <a:latin typeface="Tahoma"/>
                <a:cs typeface="Tahoma"/>
              </a:rPr>
              <a:t>en</a:t>
            </a:r>
            <a:r>
              <a:rPr sz="2550" spc="-90" dirty="0">
                <a:latin typeface="Tahoma"/>
                <a:cs typeface="Tahoma"/>
              </a:rPr>
              <a:t> </a:t>
            </a:r>
            <a:r>
              <a:rPr sz="2550" spc="70" dirty="0">
                <a:latin typeface="Tahoma"/>
                <a:cs typeface="Tahoma"/>
              </a:rPr>
              <a:t>completarse.</a:t>
            </a:r>
            <a:endParaRPr sz="2550">
              <a:latin typeface="Tahoma"/>
              <a:cs typeface="Tahoma"/>
            </a:endParaRPr>
          </a:p>
        </p:txBody>
      </p:sp>
      <p:pic>
        <p:nvPicPr>
          <p:cNvPr id="8" name="object 8"/>
          <p:cNvPicPr/>
          <p:nvPr/>
        </p:nvPicPr>
        <p:blipFill>
          <a:blip r:embed="rId2" cstate="print"/>
          <a:stretch>
            <a:fillRect/>
          </a:stretch>
        </p:blipFill>
        <p:spPr>
          <a:xfrm>
            <a:off x="11720017" y="1677469"/>
            <a:ext cx="5781659" cy="5781687"/>
          </a:xfrm>
          <a:prstGeom prst="rect">
            <a:avLst/>
          </a:prstGeom>
        </p:spPr>
      </p:pic>
      <p:sp>
        <p:nvSpPr>
          <p:cNvPr id="9" name="object 9"/>
          <p:cNvSpPr txBox="1">
            <a:spLocks noGrp="1"/>
          </p:cNvSpPr>
          <p:nvPr>
            <p:ph type="title"/>
          </p:nvPr>
        </p:nvSpPr>
        <p:spPr>
          <a:xfrm>
            <a:off x="3803175" y="2095500"/>
            <a:ext cx="3208969" cy="856615"/>
          </a:xfrm>
          <a:prstGeom prst="rect">
            <a:avLst/>
          </a:prstGeom>
        </p:spPr>
        <p:txBody>
          <a:bodyPr vert="horz" wrap="square" lIns="0" tIns="12700" rIns="0" bIns="0" rtlCol="0">
            <a:spAutoFit/>
          </a:bodyPr>
          <a:lstStyle/>
          <a:p>
            <a:pPr marL="12700">
              <a:lnSpc>
                <a:spcPct val="100000"/>
              </a:lnSpc>
              <a:spcBef>
                <a:spcPts val="100"/>
              </a:spcBef>
            </a:pPr>
            <a:r>
              <a:rPr dirty="0"/>
              <a:t>TAREAS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2340929"/>
            <a:ext cx="12280057" cy="851515"/>
          </a:xfrm>
          <a:prstGeom prst="rect">
            <a:avLst/>
          </a:prstGeom>
        </p:spPr>
        <p:txBody>
          <a:bodyPr vert="horz" wrap="square" lIns="0" tIns="12700" rIns="0" bIns="0" rtlCol="0">
            <a:spAutoFit/>
          </a:bodyPr>
          <a:lstStyle/>
          <a:p>
            <a:pPr marL="1995170">
              <a:lnSpc>
                <a:spcPct val="100000"/>
              </a:lnSpc>
              <a:spcBef>
                <a:spcPts val="100"/>
              </a:spcBef>
            </a:pPr>
            <a:r>
              <a:rPr dirty="0"/>
              <a:t>RELACIONES ENTRE TAREAS</a:t>
            </a:r>
          </a:p>
        </p:txBody>
      </p:sp>
      <p:sp>
        <p:nvSpPr>
          <p:cNvPr id="3" name="object 3"/>
          <p:cNvSpPr txBox="1"/>
          <p:nvPr/>
        </p:nvSpPr>
        <p:spPr>
          <a:xfrm>
            <a:off x="3438550" y="3727275"/>
            <a:ext cx="11410950" cy="4568825"/>
          </a:xfrm>
          <a:prstGeom prst="rect">
            <a:avLst/>
          </a:prstGeom>
        </p:spPr>
        <p:txBody>
          <a:bodyPr vert="horz" wrap="square" lIns="0" tIns="12700" rIns="0" bIns="0" rtlCol="0">
            <a:spAutoFit/>
          </a:bodyPr>
          <a:lstStyle/>
          <a:p>
            <a:pPr marL="12700" marR="5080" algn="just">
              <a:lnSpc>
                <a:spcPct val="116199"/>
              </a:lnSpc>
              <a:spcBef>
                <a:spcPts val="100"/>
              </a:spcBef>
            </a:pPr>
            <a:r>
              <a:rPr sz="2850" spc="80" dirty="0">
                <a:latin typeface="Tahoma"/>
                <a:cs typeface="Tahoma"/>
              </a:rPr>
              <a:t>Las</a:t>
            </a:r>
            <a:r>
              <a:rPr sz="2850" spc="305" dirty="0">
                <a:latin typeface="Tahoma"/>
                <a:cs typeface="Tahoma"/>
              </a:rPr>
              <a:t>  </a:t>
            </a:r>
            <a:r>
              <a:rPr sz="2850" spc="95" dirty="0">
                <a:latin typeface="Tahoma"/>
                <a:cs typeface="Tahoma"/>
              </a:rPr>
              <a:t>relaciones</a:t>
            </a:r>
            <a:r>
              <a:rPr sz="2850" spc="300" dirty="0">
                <a:latin typeface="Tahoma"/>
                <a:cs typeface="Tahoma"/>
              </a:rPr>
              <a:t>  </a:t>
            </a:r>
            <a:r>
              <a:rPr sz="2850" spc="100" dirty="0">
                <a:latin typeface="Tahoma"/>
                <a:cs typeface="Tahoma"/>
              </a:rPr>
              <a:t>entre</a:t>
            </a:r>
            <a:r>
              <a:rPr sz="2850" spc="305" dirty="0">
                <a:latin typeface="Tahoma"/>
                <a:cs typeface="Tahoma"/>
              </a:rPr>
              <a:t>  </a:t>
            </a:r>
            <a:r>
              <a:rPr sz="2850" spc="85" dirty="0">
                <a:latin typeface="Tahoma"/>
                <a:cs typeface="Tahoma"/>
              </a:rPr>
              <a:t>tareas</a:t>
            </a:r>
            <a:r>
              <a:rPr sz="2850" spc="300" dirty="0">
                <a:latin typeface="Tahoma"/>
                <a:cs typeface="Tahoma"/>
              </a:rPr>
              <a:t>  </a:t>
            </a:r>
            <a:r>
              <a:rPr sz="2850" spc="135" dirty="0">
                <a:latin typeface="Tahoma"/>
                <a:cs typeface="Tahoma"/>
              </a:rPr>
              <a:t>son</a:t>
            </a:r>
            <a:r>
              <a:rPr sz="2850" spc="305" dirty="0">
                <a:latin typeface="Tahoma"/>
                <a:cs typeface="Tahoma"/>
              </a:rPr>
              <a:t>  </a:t>
            </a:r>
            <a:r>
              <a:rPr sz="2850" spc="105" dirty="0">
                <a:latin typeface="Tahoma"/>
                <a:cs typeface="Tahoma"/>
              </a:rPr>
              <a:t>conexiones</a:t>
            </a:r>
            <a:r>
              <a:rPr sz="2850" spc="300" dirty="0">
                <a:latin typeface="Tahoma"/>
                <a:cs typeface="Tahoma"/>
              </a:rPr>
              <a:t>  </a:t>
            </a:r>
            <a:r>
              <a:rPr sz="2850" spc="65" dirty="0">
                <a:latin typeface="Tahoma"/>
                <a:cs typeface="Tahoma"/>
              </a:rPr>
              <a:t>lógicas</a:t>
            </a:r>
            <a:r>
              <a:rPr sz="2850" spc="305" dirty="0">
                <a:latin typeface="Tahoma"/>
                <a:cs typeface="Tahoma"/>
              </a:rPr>
              <a:t>  </a:t>
            </a:r>
            <a:r>
              <a:rPr sz="2850" spc="135" dirty="0">
                <a:latin typeface="Tahoma"/>
                <a:cs typeface="Tahoma"/>
              </a:rPr>
              <a:t>que</a:t>
            </a:r>
            <a:r>
              <a:rPr sz="2850" spc="300" dirty="0">
                <a:latin typeface="Tahoma"/>
                <a:cs typeface="Tahoma"/>
              </a:rPr>
              <a:t>  </a:t>
            </a:r>
            <a:r>
              <a:rPr sz="2850" spc="60" dirty="0">
                <a:latin typeface="Tahoma"/>
                <a:cs typeface="Tahoma"/>
              </a:rPr>
              <a:t>se </a:t>
            </a:r>
            <a:r>
              <a:rPr sz="2850" spc="90" dirty="0">
                <a:latin typeface="Tahoma"/>
                <a:cs typeface="Tahoma"/>
              </a:rPr>
              <a:t>establecen</a:t>
            </a:r>
            <a:r>
              <a:rPr sz="2850" spc="130" dirty="0">
                <a:latin typeface="Tahoma"/>
                <a:cs typeface="Tahoma"/>
              </a:rPr>
              <a:t> </a:t>
            </a:r>
            <a:r>
              <a:rPr sz="2850" spc="100" dirty="0">
                <a:latin typeface="Tahoma"/>
                <a:cs typeface="Tahoma"/>
              </a:rPr>
              <a:t>entre</a:t>
            </a:r>
            <a:r>
              <a:rPr sz="2850" spc="125" dirty="0">
                <a:latin typeface="Tahoma"/>
                <a:cs typeface="Tahoma"/>
              </a:rPr>
              <a:t> </a:t>
            </a:r>
            <a:r>
              <a:rPr sz="2850" spc="80" dirty="0">
                <a:latin typeface="Tahoma"/>
                <a:cs typeface="Tahoma"/>
              </a:rPr>
              <a:t>las</a:t>
            </a:r>
            <a:r>
              <a:rPr sz="2850" spc="130" dirty="0">
                <a:latin typeface="Tahoma"/>
                <a:cs typeface="Tahoma"/>
              </a:rPr>
              <a:t> </a:t>
            </a:r>
            <a:r>
              <a:rPr sz="2850" spc="95" dirty="0">
                <a:latin typeface="Tahoma"/>
                <a:cs typeface="Tahoma"/>
              </a:rPr>
              <a:t>diferentes</a:t>
            </a:r>
            <a:r>
              <a:rPr sz="2850" spc="130" dirty="0">
                <a:latin typeface="Tahoma"/>
                <a:cs typeface="Tahoma"/>
              </a:rPr>
              <a:t> </a:t>
            </a:r>
            <a:r>
              <a:rPr sz="2850" spc="85" dirty="0">
                <a:latin typeface="Tahoma"/>
                <a:cs typeface="Tahoma"/>
              </a:rPr>
              <a:t>tareas</a:t>
            </a:r>
            <a:r>
              <a:rPr sz="2850" spc="130" dirty="0">
                <a:latin typeface="Tahoma"/>
                <a:cs typeface="Tahoma"/>
              </a:rPr>
              <a:t> </a:t>
            </a:r>
            <a:r>
              <a:rPr sz="2850" spc="125" dirty="0">
                <a:latin typeface="Tahoma"/>
                <a:cs typeface="Tahoma"/>
              </a:rPr>
              <a:t>de </a:t>
            </a:r>
            <a:r>
              <a:rPr sz="2850" spc="155" dirty="0">
                <a:latin typeface="Tahoma"/>
                <a:cs typeface="Tahoma"/>
              </a:rPr>
              <a:t>un</a:t>
            </a:r>
            <a:r>
              <a:rPr sz="2850" spc="125" dirty="0">
                <a:latin typeface="Tahoma"/>
                <a:cs typeface="Tahoma"/>
              </a:rPr>
              <a:t> </a:t>
            </a:r>
            <a:r>
              <a:rPr sz="2850" spc="100" dirty="0">
                <a:latin typeface="Tahoma"/>
                <a:cs typeface="Tahoma"/>
              </a:rPr>
              <a:t>proyecto</a:t>
            </a:r>
            <a:r>
              <a:rPr sz="2850" spc="135" dirty="0">
                <a:latin typeface="Tahoma"/>
                <a:cs typeface="Tahoma"/>
              </a:rPr>
              <a:t> </a:t>
            </a:r>
            <a:r>
              <a:rPr sz="2850" spc="114" dirty="0">
                <a:latin typeface="Tahoma"/>
                <a:cs typeface="Tahoma"/>
              </a:rPr>
              <a:t>para</a:t>
            </a:r>
            <a:r>
              <a:rPr sz="2850" spc="125" dirty="0">
                <a:latin typeface="Tahoma"/>
                <a:cs typeface="Tahoma"/>
              </a:rPr>
              <a:t> </a:t>
            </a:r>
            <a:r>
              <a:rPr sz="2850" spc="90" dirty="0">
                <a:latin typeface="Tahoma"/>
                <a:cs typeface="Tahoma"/>
              </a:rPr>
              <a:t>definir </a:t>
            </a:r>
            <a:r>
              <a:rPr sz="2850" spc="120" dirty="0">
                <a:latin typeface="Tahoma"/>
                <a:cs typeface="Tahoma"/>
              </a:rPr>
              <a:t>su</a:t>
            </a:r>
            <a:r>
              <a:rPr sz="2850" spc="125" dirty="0">
                <a:latin typeface="Tahoma"/>
                <a:cs typeface="Tahoma"/>
              </a:rPr>
              <a:t> </a:t>
            </a:r>
            <a:r>
              <a:rPr sz="2850" spc="85" dirty="0">
                <a:latin typeface="Tahoma"/>
                <a:cs typeface="Tahoma"/>
              </a:rPr>
              <a:t>secuencia</a:t>
            </a:r>
            <a:r>
              <a:rPr sz="2850" spc="135" dirty="0">
                <a:latin typeface="Tahoma"/>
                <a:cs typeface="Tahoma"/>
              </a:rPr>
              <a:t> </a:t>
            </a:r>
            <a:r>
              <a:rPr sz="2850" dirty="0">
                <a:latin typeface="Tahoma"/>
                <a:cs typeface="Tahoma"/>
              </a:rPr>
              <a:t>y</a:t>
            </a:r>
            <a:r>
              <a:rPr sz="2850" spc="130" dirty="0">
                <a:latin typeface="Tahoma"/>
                <a:cs typeface="Tahoma"/>
              </a:rPr>
              <a:t> </a:t>
            </a:r>
            <a:r>
              <a:rPr sz="2850" spc="95" dirty="0">
                <a:latin typeface="Tahoma"/>
                <a:cs typeface="Tahoma"/>
              </a:rPr>
              <a:t>dependencia.</a:t>
            </a:r>
            <a:r>
              <a:rPr sz="2850" spc="135" dirty="0">
                <a:latin typeface="Tahoma"/>
                <a:cs typeface="Tahoma"/>
              </a:rPr>
              <a:t> </a:t>
            </a:r>
            <a:r>
              <a:rPr sz="2850" spc="55" dirty="0">
                <a:latin typeface="Tahoma"/>
                <a:cs typeface="Tahoma"/>
              </a:rPr>
              <a:t>Estas</a:t>
            </a:r>
            <a:r>
              <a:rPr sz="2850" spc="135" dirty="0">
                <a:latin typeface="Tahoma"/>
                <a:cs typeface="Tahoma"/>
              </a:rPr>
              <a:t> </a:t>
            </a:r>
            <a:r>
              <a:rPr sz="2850" spc="95" dirty="0">
                <a:latin typeface="Tahoma"/>
                <a:cs typeface="Tahoma"/>
              </a:rPr>
              <a:t>relaciones</a:t>
            </a:r>
            <a:r>
              <a:rPr sz="2850" spc="135" dirty="0">
                <a:latin typeface="Tahoma"/>
                <a:cs typeface="Tahoma"/>
              </a:rPr>
              <a:t> </a:t>
            </a:r>
            <a:r>
              <a:rPr sz="2850" spc="110" dirty="0">
                <a:latin typeface="Tahoma"/>
                <a:cs typeface="Tahoma"/>
              </a:rPr>
              <a:t>ayudan</a:t>
            </a:r>
            <a:r>
              <a:rPr sz="2850" spc="135" dirty="0">
                <a:latin typeface="Tahoma"/>
                <a:cs typeface="Tahoma"/>
              </a:rPr>
              <a:t> </a:t>
            </a:r>
            <a:r>
              <a:rPr sz="2850" spc="90" dirty="0">
                <a:latin typeface="Tahoma"/>
                <a:cs typeface="Tahoma"/>
              </a:rPr>
              <a:t>a</a:t>
            </a:r>
            <a:r>
              <a:rPr sz="2850" spc="135" dirty="0">
                <a:latin typeface="Tahoma"/>
                <a:cs typeface="Tahoma"/>
              </a:rPr>
              <a:t> </a:t>
            </a:r>
            <a:r>
              <a:rPr sz="2850" spc="75" dirty="0">
                <a:latin typeface="Tahoma"/>
                <a:cs typeface="Tahoma"/>
              </a:rPr>
              <a:t>establecer la</a:t>
            </a:r>
            <a:r>
              <a:rPr sz="2850" spc="204" dirty="0">
                <a:latin typeface="Tahoma"/>
                <a:cs typeface="Tahoma"/>
              </a:rPr>
              <a:t> </a:t>
            </a:r>
            <a:r>
              <a:rPr sz="2850" spc="65" dirty="0">
                <a:latin typeface="Tahoma"/>
                <a:cs typeface="Tahoma"/>
              </a:rPr>
              <a:t>lógica</a:t>
            </a:r>
            <a:r>
              <a:rPr sz="2850" spc="204" dirty="0">
                <a:latin typeface="Tahoma"/>
                <a:cs typeface="Tahoma"/>
              </a:rPr>
              <a:t> </a:t>
            </a:r>
            <a:r>
              <a:rPr sz="2850" spc="125" dirty="0">
                <a:latin typeface="Tahoma"/>
                <a:cs typeface="Tahoma"/>
              </a:rPr>
              <a:t>de</a:t>
            </a:r>
            <a:r>
              <a:rPr sz="2850" spc="210" dirty="0">
                <a:latin typeface="Tahoma"/>
                <a:cs typeface="Tahoma"/>
              </a:rPr>
              <a:t> </a:t>
            </a:r>
            <a:r>
              <a:rPr sz="2850" spc="155" dirty="0">
                <a:latin typeface="Tahoma"/>
                <a:cs typeface="Tahoma"/>
              </a:rPr>
              <a:t>cómo</a:t>
            </a:r>
            <a:r>
              <a:rPr sz="2850" spc="204" dirty="0">
                <a:latin typeface="Tahoma"/>
                <a:cs typeface="Tahoma"/>
              </a:rPr>
              <a:t> </a:t>
            </a:r>
            <a:r>
              <a:rPr sz="2850" spc="80" dirty="0">
                <a:latin typeface="Tahoma"/>
                <a:cs typeface="Tahoma"/>
              </a:rPr>
              <a:t>las</a:t>
            </a:r>
            <a:r>
              <a:rPr sz="2850" spc="204" dirty="0">
                <a:latin typeface="Tahoma"/>
                <a:cs typeface="Tahoma"/>
              </a:rPr>
              <a:t> </a:t>
            </a:r>
            <a:r>
              <a:rPr sz="2850" spc="85" dirty="0">
                <a:latin typeface="Tahoma"/>
                <a:cs typeface="Tahoma"/>
              </a:rPr>
              <a:t>tareas</a:t>
            </a:r>
            <a:r>
              <a:rPr sz="2850" spc="204" dirty="0">
                <a:latin typeface="Tahoma"/>
                <a:cs typeface="Tahoma"/>
              </a:rPr>
              <a:t> </a:t>
            </a:r>
            <a:r>
              <a:rPr sz="2850" spc="85" dirty="0">
                <a:latin typeface="Tahoma"/>
                <a:cs typeface="Tahoma"/>
              </a:rPr>
              <a:t>se</a:t>
            </a:r>
            <a:r>
              <a:rPr sz="2850" spc="204" dirty="0">
                <a:latin typeface="Tahoma"/>
                <a:cs typeface="Tahoma"/>
              </a:rPr>
              <a:t> </a:t>
            </a:r>
            <a:r>
              <a:rPr sz="2850" spc="95" dirty="0">
                <a:latin typeface="Tahoma"/>
                <a:cs typeface="Tahoma"/>
              </a:rPr>
              <a:t>conectan</a:t>
            </a:r>
            <a:r>
              <a:rPr sz="2850" spc="210" dirty="0">
                <a:latin typeface="Tahoma"/>
                <a:cs typeface="Tahoma"/>
              </a:rPr>
              <a:t> </a:t>
            </a:r>
            <a:r>
              <a:rPr sz="2850" spc="100" dirty="0">
                <a:latin typeface="Tahoma"/>
                <a:cs typeface="Tahoma"/>
              </a:rPr>
              <a:t>entre</a:t>
            </a:r>
            <a:r>
              <a:rPr sz="2850" spc="204" dirty="0">
                <a:latin typeface="Tahoma"/>
                <a:cs typeface="Tahoma"/>
              </a:rPr>
              <a:t> </a:t>
            </a:r>
            <a:r>
              <a:rPr sz="2850" spc="75" dirty="0">
                <a:latin typeface="Tahoma"/>
                <a:cs typeface="Tahoma"/>
              </a:rPr>
              <a:t>sí</a:t>
            </a:r>
            <a:r>
              <a:rPr sz="2850" spc="204" dirty="0">
                <a:latin typeface="Tahoma"/>
                <a:cs typeface="Tahoma"/>
              </a:rPr>
              <a:t> </a:t>
            </a:r>
            <a:r>
              <a:rPr sz="2850" dirty="0">
                <a:latin typeface="Tahoma"/>
                <a:cs typeface="Tahoma"/>
              </a:rPr>
              <a:t>y</a:t>
            </a:r>
            <a:r>
              <a:rPr sz="2850" spc="204" dirty="0">
                <a:latin typeface="Tahoma"/>
                <a:cs typeface="Tahoma"/>
              </a:rPr>
              <a:t> </a:t>
            </a:r>
            <a:r>
              <a:rPr sz="2850" spc="120" dirty="0">
                <a:latin typeface="Tahoma"/>
                <a:cs typeface="Tahoma"/>
              </a:rPr>
              <a:t>determinan</a:t>
            </a:r>
            <a:r>
              <a:rPr sz="2850" spc="204" dirty="0">
                <a:latin typeface="Tahoma"/>
                <a:cs typeface="Tahoma"/>
              </a:rPr>
              <a:t> </a:t>
            </a:r>
            <a:r>
              <a:rPr sz="2850" spc="50" dirty="0">
                <a:latin typeface="Tahoma"/>
                <a:cs typeface="Tahoma"/>
              </a:rPr>
              <a:t>el </a:t>
            </a:r>
            <a:r>
              <a:rPr sz="2850" spc="140" dirty="0">
                <a:latin typeface="Tahoma"/>
                <a:cs typeface="Tahoma"/>
              </a:rPr>
              <a:t>orden</a:t>
            </a:r>
            <a:r>
              <a:rPr sz="2850" spc="-114" dirty="0">
                <a:latin typeface="Tahoma"/>
                <a:cs typeface="Tahoma"/>
              </a:rPr>
              <a:t> </a:t>
            </a:r>
            <a:r>
              <a:rPr sz="2850" spc="120" dirty="0">
                <a:latin typeface="Tahoma"/>
                <a:cs typeface="Tahoma"/>
              </a:rPr>
              <a:t>en</a:t>
            </a:r>
            <a:r>
              <a:rPr sz="2850" spc="-114" dirty="0">
                <a:latin typeface="Tahoma"/>
                <a:cs typeface="Tahoma"/>
              </a:rPr>
              <a:t> </a:t>
            </a:r>
            <a:r>
              <a:rPr sz="2850" spc="75" dirty="0">
                <a:latin typeface="Tahoma"/>
                <a:cs typeface="Tahoma"/>
              </a:rPr>
              <a:t>el</a:t>
            </a:r>
            <a:r>
              <a:rPr sz="2850" spc="-110" dirty="0">
                <a:latin typeface="Tahoma"/>
                <a:cs typeface="Tahoma"/>
              </a:rPr>
              <a:t> </a:t>
            </a:r>
            <a:r>
              <a:rPr sz="2850" spc="135" dirty="0">
                <a:latin typeface="Tahoma"/>
                <a:cs typeface="Tahoma"/>
              </a:rPr>
              <a:t>que</a:t>
            </a:r>
            <a:r>
              <a:rPr sz="2850" spc="-114" dirty="0">
                <a:latin typeface="Tahoma"/>
                <a:cs typeface="Tahoma"/>
              </a:rPr>
              <a:t> </a:t>
            </a:r>
            <a:r>
              <a:rPr sz="2850" spc="130" dirty="0">
                <a:latin typeface="Tahoma"/>
                <a:cs typeface="Tahoma"/>
              </a:rPr>
              <a:t>deben</a:t>
            </a:r>
            <a:r>
              <a:rPr sz="2850" spc="-114" dirty="0">
                <a:latin typeface="Tahoma"/>
                <a:cs typeface="Tahoma"/>
              </a:rPr>
              <a:t> </a:t>
            </a:r>
            <a:r>
              <a:rPr sz="2850" spc="85" dirty="0">
                <a:latin typeface="Tahoma"/>
                <a:cs typeface="Tahoma"/>
              </a:rPr>
              <a:t>realizarse</a:t>
            </a:r>
            <a:r>
              <a:rPr sz="2850" spc="-110" dirty="0">
                <a:latin typeface="Tahoma"/>
                <a:cs typeface="Tahoma"/>
              </a:rPr>
              <a:t> </a:t>
            </a:r>
            <a:r>
              <a:rPr sz="2850" spc="114" dirty="0">
                <a:latin typeface="Tahoma"/>
                <a:cs typeface="Tahoma"/>
              </a:rPr>
              <a:t>para</a:t>
            </a:r>
            <a:r>
              <a:rPr sz="2850" spc="-114" dirty="0">
                <a:latin typeface="Tahoma"/>
                <a:cs typeface="Tahoma"/>
              </a:rPr>
              <a:t> </a:t>
            </a:r>
            <a:r>
              <a:rPr sz="2850" spc="125" dirty="0">
                <a:latin typeface="Tahoma"/>
                <a:cs typeface="Tahoma"/>
              </a:rPr>
              <a:t>cumplir</a:t>
            </a:r>
            <a:r>
              <a:rPr sz="2850" spc="-114" dirty="0">
                <a:latin typeface="Tahoma"/>
                <a:cs typeface="Tahoma"/>
              </a:rPr>
              <a:t> </a:t>
            </a:r>
            <a:r>
              <a:rPr sz="2850" spc="114" dirty="0">
                <a:latin typeface="Tahoma"/>
                <a:cs typeface="Tahoma"/>
              </a:rPr>
              <a:t>con</a:t>
            </a:r>
            <a:r>
              <a:rPr sz="2850" spc="-110" dirty="0">
                <a:latin typeface="Tahoma"/>
                <a:cs typeface="Tahoma"/>
              </a:rPr>
              <a:t> </a:t>
            </a:r>
            <a:r>
              <a:rPr sz="2850" spc="105" dirty="0">
                <a:latin typeface="Tahoma"/>
                <a:cs typeface="Tahoma"/>
              </a:rPr>
              <a:t>los</a:t>
            </a:r>
            <a:r>
              <a:rPr sz="2850" spc="-114" dirty="0">
                <a:latin typeface="Tahoma"/>
                <a:cs typeface="Tahoma"/>
              </a:rPr>
              <a:t> </a:t>
            </a:r>
            <a:r>
              <a:rPr sz="2850" spc="75" dirty="0">
                <a:latin typeface="Tahoma"/>
                <a:cs typeface="Tahoma"/>
              </a:rPr>
              <a:t>objetivos</a:t>
            </a:r>
            <a:r>
              <a:rPr sz="2850" spc="-114" dirty="0">
                <a:latin typeface="Tahoma"/>
                <a:cs typeface="Tahoma"/>
              </a:rPr>
              <a:t> </a:t>
            </a:r>
            <a:r>
              <a:rPr sz="2850" spc="80" dirty="0">
                <a:latin typeface="Tahoma"/>
                <a:cs typeface="Tahoma"/>
              </a:rPr>
              <a:t>del </a:t>
            </a:r>
            <a:r>
              <a:rPr sz="2850" spc="75" dirty="0">
                <a:latin typeface="Tahoma"/>
                <a:cs typeface="Tahoma"/>
              </a:rPr>
              <a:t>proyecto.</a:t>
            </a:r>
            <a:r>
              <a:rPr sz="2850" spc="409" dirty="0">
                <a:latin typeface="Tahoma"/>
                <a:cs typeface="Tahoma"/>
              </a:rPr>
              <a:t> </a:t>
            </a:r>
            <a:r>
              <a:rPr sz="2850" spc="75" dirty="0">
                <a:latin typeface="Tahoma"/>
                <a:cs typeface="Tahoma"/>
              </a:rPr>
              <a:t>Al</a:t>
            </a:r>
            <a:r>
              <a:rPr sz="2850" spc="415" dirty="0">
                <a:latin typeface="Tahoma"/>
                <a:cs typeface="Tahoma"/>
              </a:rPr>
              <a:t> </a:t>
            </a:r>
            <a:r>
              <a:rPr sz="2850" spc="85" dirty="0">
                <a:latin typeface="Tahoma"/>
                <a:cs typeface="Tahoma"/>
              </a:rPr>
              <a:t>establecer</a:t>
            </a:r>
            <a:r>
              <a:rPr sz="2850" spc="420" dirty="0">
                <a:latin typeface="Tahoma"/>
                <a:cs typeface="Tahoma"/>
              </a:rPr>
              <a:t> </a:t>
            </a:r>
            <a:r>
              <a:rPr sz="2850" spc="95" dirty="0">
                <a:latin typeface="Tahoma"/>
                <a:cs typeface="Tahoma"/>
              </a:rPr>
              <a:t>relaciones</a:t>
            </a:r>
            <a:r>
              <a:rPr sz="2850" spc="415" dirty="0">
                <a:latin typeface="Tahoma"/>
                <a:cs typeface="Tahoma"/>
              </a:rPr>
              <a:t> </a:t>
            </a:r>
            <a:r>
              <a:rPr sz="2850" spc="100" dirty="0">
                <a:latin typeface="Tahoma"/>
                <a:cs typeface="Tahoma"/>
              </a:rPr>
              <a:t>entre</a:t>
            </a:r>
            <a:r>
              <a:rPr sz="2850" spc="420" dirty="0">
                <a:latin typeface="Tahoma"/>
                <a:cs typeface="Tahoma"/>
              </a:rPr>
              <a:t> </a:t>
            </a:r>
            <a:r>
              <a:rPr sz="2850" spc="50" dirty="0">
                <a:latin typeface="Tahoma"/>
                <a:cs typeface="Tahoma"/>
              </a:rPr>
              <a:t>tareas,</a:t>
            </a:r>
            <a:r>
              <a:rPr sz="2850" spc="415" dirty="0">
                <a:latin typeface="Tahoma"/>
                <a:cs typeface="Tahoma"/>
              </a:rPr>
              <a:t> </a:t>
            </a:r>
            <a:r>
              <a:rPr sz="2850" spc="120" dirty="0">
                <a:latin typeface="Tahoma"/>
                <a:cs typeface="Tahoma"/>
              </a:rPr>
              <a:t>Microsoft</a:t>
            </a:r>
            <a:r>
              <a:rPr sz="2850" spc="420" dirty="0">
                <a:latin typeface="Tahoma"/>
                <a:cs typeface="Tahoma"/>
              </a:rPr>
              <a:t> </a:t>
            </a:r>
            <a:r>
              <a:rPr sz="2850" spc="60" dirty="0">
                <a:latin typeface="Tahoma"/>
                <a:cs typeface="Tahoma"/>
              </a:rPr>
              <a:t>Project </a:t>
            </a:r>
            <a:r>
              <a:rPr sz="2850" spc="130" dirty="0">
                <a:latin typeface="Tahoma"/>
                <a:cs typeface="Tahoma"/>
              </a:rPr>
              <a:t>puede </a:t>
            </a:r>
            <a:r>
              <a:rPr sz="2850" spc="80" dirty="0">
                <a:latin typeface="Tahoma"/>
                <a:cs typeface="Tahoma"/>
              </a:rPr>
              <a:t>calcular</a:t>
            </a:r>
            <a:r>
              <a:rPr sz="2850" spc="140" dirty="0">
                <a:latin typeface="Tahoma"/>
                <a:cs typeface="Tahoma"/>
              </a:rPr>
              <a:t> </a:t>
            </a:r>
            <a:r>
              <a:rPr sz="2850" spc="110" dirty="0">
                <a:latin typeface="Tahoma"/>
                <a:cs typeface="Tahoma"/>
              </a:rPr>
              <a:t>automáticamente</a:t>
            </a:r>
            <a:r>
              <a:rPr sz="2850" spc="140" dirty="0">
                <a:latin typeface="Tahoma"/>
                <a:cs typeface="Tahoma"/>
              </a:rPr>
              <a:t> </a:t>
            </a:r>
            <a:r>
              <a:rPr sz="2850" spc="80" dirty="0">
                <a:latin typeface="Tahoma"/>
                <a:cs typeface="Tahoma"/>
              </a:rPr>
              <a:t>las</a:t>
            </a:r>
            <a:r>
              <a:rPr sz="2850" spc="140" dirty="0">
                <a:latin typeface="Tahoma"/>
                <a:cs typeface="Tahoma"/>
              </a:rPr>
              <a:t> </a:t>
            </a:r>
            <a:r>
              <a:rPr sz="2850" spc="80" dirty="0">
                <a:latin typeface="Tahoma"/>
                <a:cs typeface="Tahoma"/>
              </a:rPr>
              <a:t>fechas</a:t>
            </a:r>
            <a:r>
              <a:rPr sz="2850" spc="140" dirty="0">
                <a:latin typeface="Tahoma"/>
                <a:cs typeface="Tahoma"/>
              </a:rPr>
              <a:t> </a:t>
            </a:r>
            <a:r>
              <a:rPr sz="2850" spc="125" dirty="0">
                <a:latin typeface="Tahoma"/>
                <a:cs typeface="Tahoma"/>
              </a:rPr>
              <a:t>de</a:t>
            </a:r>
            <a:r>
              <a:rPr sz="2850" spc="140" dirty="0">
                <a:latin typeface="Tahoma"/>
                <a:cs typeface="Tahoma"/>
              </a:rPr>
              <a:t> </a:t>
            </a:r>
            <a:r>
              <a:rPr sz="2850" spc="90" dirty="0">
                <a:latin typeface="Tahoma"/>
                <a:cs typeface="Tahoma"/>
              </a:rPr>
              <a:t>inicio</a:t>
            </a:r>
            <a:r>
              <a:rPr sz="2850" spc="140" dirty="0">
                <a:latin typeface="Tahoma"/>
                <a:cs typeface="Tahoma"/>
              </a:rPr>
              <a:t> </a:t>
            </a:r>
            <a:r>
              <a:rPr sz="2850" dirty="0">
                <a:latin typeface="Tahoma"/>
                <a:cs typeface="Tahoma"/>
              </a:rPr>
              <a:t>y</a:t>
            </a:r>
            <a:r>
              <a:rPr sz="2850" spc="140" dirty="0">
                <a:latin typeface="Tahoma"/>
                <a:cs typeface="Tahoma"/>
              </a:rPr>
              <a:t> </a:t>
            </a:r>
            <a:r>
              <a:rPr sz="2850" spc="75" dirty="0">
                <a:latin typeface="Tahoma"/>
                <a:cs typeface="Tahoma"/>
              </a:rPr>
              <a:t>finalización </a:t>
            </a:r>
            <a:r>
              <a:rPr sz="2850" spc="125" dirty="0">
                <a:latin typeface="Tahoma"/>
                <a:cs typeface="Tahoma"/>
              </a:rPr>
              <a:t>de</a:t>
            </a:r>
            <a:r>
              <a:rPr sz="2850" spc="195" dirty="0">
                <a:latin typeface="Tahoma"/>
                <a:cs typeface="Tahoma"/>
              </a:rPr>
              <a:t> </a:t>
            </a:r>
            <a:r>
              <a:rPr sz="2850" spc="90" dirty="0">
                <a:latin typeface="Tahoma"/>
                <a:cs typeface="Tahoma"/>
              </a:rPr>
              <a:t>cada</a:t>
            </a:r>
            <a:r>
              <a:rPr sz="2850" spc="200" dirty="0">
                <a:latin typeface="Tahoma"/>
                <a:cs typeface="Tahoma"/>
              </a:rPr>
              <a:t> </a:t>
            </a:r>
            <a:r>
              <a:rPr sz="2850" spc="85" dirty="0">
                <a:latin typeface="Tahoma"/>
                <a:cs typeface="Tahoma"/>
              </a:rPr>
              <a:t>tarea</a:t>
            </a:r>
            <a:r>
              <a:rPr sz="2850" spc="204" dirty="0">
                <a:latin typeface="Tahoma"/>
                <a:cs typeface="Tahoma"/>
              </a:rPr>
              <a:t> </a:t>
            </a:r>
            <a:r>
              <a:rPr sz="2850" spc="120" dirty="0">
                <a:latin typeface="Tahoma"/>
                <a:cs typeface="Tahoma"/>
              </a:rPr>
              <a:t>en</a:t>
            </a:r>
            <a:r>
              <a:rPr sz="2850" spc="204" dirty="0">
                <a:latin typeface="Tahoma"/>
                <a:cs typeface="Tahoma"/>
              </a:rPr>
              <a:t> </a:t>
            </a:r>
            <a:r>
              <a:rPr sz="2850" spc="110" dirty="0">
                <a:latin typeface="Tahoma"/>
                <a:cs typeface="Tahoma"/>
              </a:rPr>
              <a:t>función</a:t>
            </a:r>
            <a:r>
              <a:rPr sz="2850" spc="200" dirty="0">
                <a:latin typeface="Tahoma"/>
                <a:cs typeface="Tahoma"/>
              </a:rPr>
              <a:t> </a:t>
            </a:r>
            <a:r>
              <a:rPr sz="2850" spc="125" dirty="0">
                <a:latin typeface="Tahoma"/>
                <a:cs typeface="Tahoma"/>
              </a:rPr>
              <a:t>de</a:t>
            </a:r>
            <a:r>
              <a:rPr sz="2850" spc="204" dirty="0">
                <a:latin typeface="Tahoma"/>
                <a:cs typeface="Tahoma"/>
              </a:rPr>
              <a:t> </a:t>
            </a:r>
            <a:r>
              <a:rPr sz="2850" spc="80" dirty="0">
                <a:latin typeface="Tahoma"/>
                <a:cs typeface="Tahoma"/>
              </a:rPr>
              <a:t>las</a:t>
            </a:r>
            <a:r>
              <a:rPr sz="2850" spc="204" dirty="0">
                <a:latin typeface="Tahoma"/>
                <a:cs typeface="Tahoma"/>
              </a:rPr>
              <a:t> </a:t>
            </a:r>
            <a:r>
              <a:rPr sz="2850" spc="90" dirty="0">
                <a:latin typeface="Tahoma"/>
                <a:cs typeface="Tahoma"/>
              </a:rPr>
              <a:t>restricciones</a:t>
            </a:r>
            <a:r>
              <a:rPr sz="2850" spc="200" dirty="0">
                <a:latin typeface="Tahoma"/>
                <a:cs typeface="Tahoma"/>
              </a:rPr>
              <a:t> </a:t>
            </a:r>
            <a:r>
              <a:rPr sz="2850" dirty="0">
                <a:latin typeface="Tahoma"/>
                <a:cs typeface="Tahoma"/>
              </a:rPr>
              <a:t>y</a:t>
            </a:r>
            <a:r>
              <a:rPr sz="2850" spc="204" dirty="0">
                <a:latin typeface="Tahoma"/>
                <a:cs typeface="Tahoma"/>
              </a:rPr>
              <a:t> </a:t>
            </a:r>
            <a:r>
              <a:rPr sz="2850" spc="75" dirty="0">
                <a:latin typeface="Tahoma"/>
                <a:cs typeface="Tahoma"/>
              </a:rPr>
              <a:t>la</a:t>
            </a:r>
            <a:r>
              <a:rPr sz="2850" spc="200" dirty="0">
                <a:latin typeface="Tahoma"/>
                <a:cs typeface="Tahoma"/>
              </a:rPr>
              <a:t> </a:t>
            </a:r>
            <a:r>
              <a:rPr sz="2850" spc="120" dirty="0">
                <a:latin typeface="Tahoma"/>
                <a:cs typeface="Tahoma"/>
              </a:rPr>
              <a:t>duración</a:t>
            </a:r>
            <a:r>
              <a:rPr sz="2850" spc="204" dirty="0">
                <a:latin typeface="Tahoma"/>
                <a:cs typeface="Tahoma"/>
              </a:rPr>
              <a:t> </a:t>
            </a:r>
            <a:r>
              <a:rPr sz="2850" spc="125" dirty="0">
                <a:latin typeface="Tahoma"/>
                <a:cs typeface="Tahoma"/>
              </a:rPr>
              <a:t>de</a:t>
            </a:r>
            <a:r>
              <a:rPr sz="2850" spc="204" dirty="0">
                <a:latin typeface="Tahoma"/>
                <a:cs typeface="Tahoma"/>
              </a:rPr>
              <a:t> </a:t>
            </a:r>
            <a:r>
              <a:rPr sz="2850" spc="55" dirty="0">
                <a:latin typeface="Tahoma"/>
                <a:cs typeface="Tahoma"/>
              </a:rPr>
              <a:t>las </a:t>
            </a:r>
            <a:r>
              <a:rPr sz="2850" spc="85" dirty="0">
                <a:latin typeface="Tahoma"/>
                <a:cs typeface="Tahoma"/>
              </a:rPr>
              <a:t>tareas</a:t>
            </a:r>
            <a:r>
              <a:rPr sz="2850" spc="-140" dirty="0">
                <a:latin typeface="Tahoma"/>
                <a:cs typeface="Tahoma"/>
              </a:rPr>
              <a:t> </a:t>
            </a:r>
            <a:r>
              <a:rPr sz="2850" spc="60" dirty="0">
                <a:latin typeface="Tahoma"/>
                <a:cs typeface="Tahoma"/>
              </a:rPr>
              <a:t>vinculadas.</a:t>
            </a:r>
            <a:endParaRPr sz="2850">
              <a:latin typeface="Tahoma"/>
              <a:cs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16000" y="3440428"/>
            <a:ext cx="8783320" cy="3159125"/>
          </a:xfrm>
          <a:prstGeom prst="rect">
            <a:avLst/>
          </a:prstGeom>
        </p:spPr>
        <p:txBody>
          <a:bodyPr vert="horz" wrap="square" lIns="0" tIns="12065" rIns="0" bIns="0" rtlCol="0">
            <a:spAutoFit/>
          </a:bodyPr>
          <a:lstStyle/>
          <a:p>
            <a:pPr marL="12700" marR="5080" algn="just">
              <a:lnSpc>
                <a:spcPct val="115199"/>
              </a:lnSpc>
              <a:spcBef>
                <a:spcPts val="95"/>
              </a:spcBef>
            </a:pPr>
            <a:r>
              <a:rPr sz="2550" spc="60" dirty="0">
                <a:latin typeface="Tahoma"/>
                <a:cs typeface="Tahoma"/>
              </a:rPr>
              <a:t>En</a:t>
            </a:r>
            <a:r>
              <a:rPr sz="2550" spc="580" dirty="0">
                <a:latin typeface="Tahoma"/>
                <a:cs typeface="Tahoma"/>
              </a:rPr>
              <a:t>  </a:t>
            </a:r>
            <a:r>
              <a:rPr sz="2550" spc="105" dirty="0">
                <a:latin typeface="Tahoma"/>
                <a:cs typeface="Tahoma"/>
              </a:rPr>
              <a:t>Microsoft</a:t>
            </a:r>
            <a:r>
              <a:rPr sz="2550" spc="580" dirty="0">
                <a:latin typeface="Tahoma"/>
                <a:cs typeface="Tahoma"/>
              </a:rPr>
              <a:t>  </a:t>
            </a:r>
            <a:r>
              <a:rPr sz="2550" dirty="0">
                <a:latin typeface="Tahoma"/>
                <a:cs typeface="Tahoma"/>
              </a:rPr>
              <a:t>Project,</a:t>
            </a:r>
            <a:r>
              <a:rPr sz="2550" spc="585" dirty="0">
                <a:latin typeface="Tahoma"/>
                <a:cs typeface="Tahoma"/>
              </a:rPr>
              <a:t>  </a:t>
            </a:r>
            <a:r>
              <a:rPr sz="2550" spc="80" dirty="0">
                <a:latin typeface="Tahoma"/>
                <a:cs typeface="Tahoma"/>
              </a:rPr>
              <a:t>existen</a:t>
            </a:r>
            <a:r>
              <a:rPr sz="2550" spc="580" dirty="0">
                <a:latin typeface="Tahoma"/>
                <a:cs typeface="Tahoma"/>
              </a:rPr>
              <a:t>  </a:t>
            </a:r>
            <a:r>
              <a:rPr sz="2550" spc="85" dirty="0">
                <a:latin typeface="Tahoma"/>
                <a:cs typeface="Tahoma"/>
              </a:rPr>
              <a:t>diferentes</a:t>
            </a:r>
            <a:r>
              <a:rPr sz="2550" spc="580" dirty="0">
                <a:latin typeface="Tahoma"/>
                <a:cs typeface="Tahoma"/>
              </a:rPr>
              <a:t>  </a:t>
            </a:r>
            <a:r>
              <a:rPr sz="2550" spc="95" dirty="0">
                <a:latin typeface="Tahoma"/>
                <a:cs typeface="Tahoma"/>
              </a:rPr>
              <a:t>tipos</a:t>
            </a:r>
            <a:r>
              <a:rPr sz="2550" spc="580" dirty="0">
                <a:latin typeface="Tahoma"/>
                <a:cs typeface="Tahoma"/>
              </a:rPr>
              <a:t>  </a:t>
            </a:r>
            <a:r>
              <a:rPr sz="2550" spc="95" dirty="0">
                <a:latin typeface="Tahoma"/>
                <a:cs typeface="Tahoma"/>
              </a:rPr>
              <a:t>de </a:t>
            </a:r>
            <a:r>
              <a:rPr sz="2550" spc="100" dirty="0">
                <a:latin typeface="Tahoma"/>
                <a:cs typeface="Tahoma"/>
              </a:rPr>
              <a:t>duraciones</a:t>
            </a:r>
            <a:r>
              <a:rPr sz="2550" spc="-125" dirty="0">
                <a:latin typeface="Tahoma"/>
                <a:cs typeface="Tahoma"/>
              </a:rPr>
              <a:t> </a:t>
            </a:r>
            <a:r>
              <a:rPr sz="2550" spc="125" dirty="0">
                <a:latin typeface="Tahoma"/>
                <a:cs typeface="Tahoma"/>
              </a:rPr>
              <a:t>que</a:t>
            </a:r>
            <a:r>
              <a:rPr sz="2550" spc="-120" dirty="0">
                <a:latin typeface="Tahoma"/>
                <a:cs typeface="Tahoma"/>
              </a:rPr>
              <a:t> </a:t>
            </a:r>
            <a:r>
              <a:rPr sz="2550" spc="114" dirty="0">
                <a:latin typeface="Tahoma"/>
                <a:cs typeface="Tahoma"/>
              </a:rPr>
              <a:t>puedes</a:t>
            </a:r>
            <a:r>
              <a:rPr sz="2550" spc="-120" dirty="0">
                <a:latin typeface="Tahoma"/>
                <a:cs typeface="Tahoma"/>
              </a:rPr>
              <a:t> </a:t>
            </a:r>
            <a:r>
              <a:rPr sz="2550" spc="70" dirty="0">
                <a:latin typeface="Tahoma"/>
                <a:cs typeface="Tahoma"/>
              </a:rPr>
              <a:t>utilizar</a:t>
            </a:r>
            <a:r>
              <a:rPr sz="2550" spc="-125" dirty="0">
                <a:latin typeface="Tahoma"/>
                <a:cs typeface="Tahoma"/>
              </a:rPr>
              <a:t> </a:t>
            </a:r>
            <a:r>
              <a:rPr sz="2550" spc="100" dirty="0">
                <a:latin typeface="Tahoma"/>
                <a:cs typeface="Tahoma"/>
              </a:rPr>
              <a:t>para</a:t>
            </a:r>
            <a:r>
              <a:rPr sz="2550" spc="-120" dirty="0">
                <a:latin typeface="Tahoma"/>
                <a:cs typeface="Tahoma"/>
              </a:rPr>
              <a:t> </a:t>
            </a:r>
            <a:r>
              <a:rPr sz="2550" spc="90" dirty="0">
                <a:latin typeface="Tahoma"/>
                <a:cs typeface="Tahoma"/>
              </a:rPr>
              <a:t>definir</a:t>
            </a:r>
            <a:r>
              <a:rPr sz="2550" spc="-120" dirty="0">
                <a:latin typeface="Tahoma"/>
                <a:cs typeface="Tahoma"/>
              </a:rPr>
              <a:t> </a:t>
            </a:r>
            <a:r>
              <a:rPr sz="2550" spc="65" dirty="0">
                <a:latin typeface="Tahoma"/>
                <a:cs typeface="Tahoma"/>
              </a:rPr>
              <a:t>la</a:t>
            </a:r>
            <a:r>
              <a:rPr sz="2550" spc="-120" dirty="0">
                <a:latin typeface="Tahoma"/>
                <a:cs typeface="Tahoma"/>
              </a:rPr>
              <a:t> </a:t>
            </a:r>
            <a:r>
              <a:rPr sz="2550" spc="105" dirty="0">
                <a:latin typeface="Tahoma"/>
                <a:cs typeface="Tahoma"/>
              </a:rPr>
              <a:t>duración</a:t>
            </a:r>
            <a:r>
              <a:rPr sz="2550" spc="-125" dirty="0">
                <a:latin typeface="Tahoma"/>
                <a:cs typeface="Tahoma"/>
              </a:rPr>
              <a:t> </a:t>
            </a:r>
            <a:r>
              <a:rPr sz="2550" spc="95" dirty="0">
                <a:latin typeface="Tahoma"/>
                <a:cs typeface="Tahoma"/>
              </a:rPr>
              <a:t>de </a:t>
            </a:r>
            <a:r>
              <a:rPr sz="2550" spc="65" dirty="0">
                <a:latin typeface="Tahoma"/>
                <a:cs typeface="Tahoma"/>
              </a:rPr>
              <a:t>las</a:t>
            </a:r>
            <a:r>
              <a:rPr sz="2550" spc="55" dirty="0">
                <a:latin typeface="Tahoma"/>
                <a:cs typeface="Tahoma"/>
              </a:rPr>
              <a:t> </a:t>
            </a:r>
            <a:r>
              <a:rPr sz="2550" spc="75" dirty="0">
                <a:latin typeface="Tahoma"/>
                <a:cs typeface="Tahoma"/>
              </a:rPr>
              <a:t>tareas</a:t>
            </a:r>
            <a:r>
              <a:rPr sz="2550" spc="60" dirty="0">
                <a:latin typeface="Tahoma"/>
                <a:cs typeface="Tahoma"/>
              </a:rPr>
              <a:t> </a:t>
            </a:r>
            <a:r>
              <a:rPr sz="2550" spc="114" dirty="0">
                <a:latin typeface="Tahoma"/>
                <a:cs typeface="Tahoma"/>
              </a:rPr>
              <a:t>en</a:t>
            </a:r>
            <a:r>
              <a:rPr sz="2550" spc="55" dirty="0">
                <a:latin typeface="Tahoma"/>
                <a:cs typeface="Tahoma"/>
              </a:rPr>
              <a:t> </a:t>
            </a:r>
            <a:r>
              <a:rPr sz="2550" spc="90" dirty="0">
                <a:latin typeface="Tahoma"/>
                <a:cs typeface="Tahoma"/>
              </a:rPr>
              <a:t>tu</a:t>
            </a:r>
            <a:r>
              <a:rPr sz="2550" spc="60" dirty="0">
                <a:latin typeface="Tahoma"/>
                <a:cs typeface="Tahoma"/>
              </a:rPr>
              <a:t> </a:t>
            </a:r>
            <a:r>
              <a:rPr sz="2550" spc="65" dirty="0">
                <a:latin typeface="Tahoma"/>
                <a:cs typeface="Tahoma"/>
              </a:rPr>
              <a:t>proyecto.</a:t>
            </a:r>
            <a:r>
              <a:rPr sz="2550" spc="55" dirty="0">
                <a:latin typeface="Tahoma"/>
                <a:cs typeface="Tahoma"/>
              </a:rPr>
              <a:t> </a:t>
            </a:r>
            <a:r>
              <a:rPr sz="2550" spc="90" dirty="0">
                <a:latin typeface="Tahoma"/>
                <a:cs typeface="Tahoma"/>
              </a:rPr>
              <a:t>Cada</a:t>
            </a:r>
            <a:r>
              <a:rPr sz="2550" spc="60" dirty="0">
                <a:latin typeface="Tahoma"/>
                <a:cs typeface="Tahoma"/>
              </a:rPr>
              <a:t> </a:t>
            </a:r>
            <a:r>
              <a:rPr sz="2550" spc="100" dirty="0">
                <a:latin typeface="Tahoma"/>
                <a:cs typeface="Tahoma"/>
              </a:rPr>
              <a:t>tipo</a:t>
            </a:r>
            <a:r>
              <a:rPr sz="2550" spc="60" dirty="0">
                <a:latin typeface="Tahoma"/>
                <a:cs typeface="Tahoma"/>
              </a:rPr>
              <a:t> </a:t>
            </a:r>
            <a:r>
              <a:rPr sz="2550" spc="120" dirty="0">
                <a:latin typeface="Tahoma"/>
                <a:cs typeface="Tahoma"/>
              </a:rPr>
              <a:t>de</a:t>
            </a:r>
            <a:r>
              <a:rPr sz="2550" spc="55" dirty="0">
                <a:latin typeface="Tahoma"/>
                <a:cs typeface="Tahoma"/>
              </a:rPr>
              <a:t> </a:t>
            </a:r>
            <a:r>
              <a:rPr sz="2550" spc="105" dirty="0">
                <a:latin typeface="Tahoma"/>
                <a:cs typeface="Tahoma"/>
              </a:rPr>
              <a:t>duración</a:t>
            </a:r>
            <a:r>
              <a:rPr sz="2550" spc="60" dirty="0">
                <a:latin typeface="Tahoma"/>
                <a:cs typeface="Tahoma"/>
              </a:rPr>
              <a:t> </a:t>
            </a:r>
            <a:r>
              <a:rPr sz="2550" spc="80" dirty="0">
                <a:latin typeface="Tahoma"/>
                <a:cs typeface="Tahoma"/>
              </a:rPr>
              <a:t>tiene</a:t>
            </a:r>
            <a:r>
              <a:rPr sz="2550" spc="55" dirty="0">
                <a:latin typeface="Tahoma"/>
                <a:cs typeface="Tahoma"/>
              </a:rPr>
              <a:t> </a:t>
            </a:r>
            <a:r>
              <a:rPr sz="2550" spc="80" dirty="0">
                <a:latin typeface="Tahoma"/>
                <a:cs typeface="Tahoma"/>
              </a:rPr>
              <a:t>su </a:t>
            </a:r>
            <a:r>
              <a:rPr sz="2550" spc="125" dirty="0">
                <a:latin typeface="Tahoma"/>
                <a:cs typeface="Tahoma"/>
              </a:rPr>
              <a:t>propio</a:t>
            </a:r>
            <a:r>
              <a:rPr sz="2550" spc="250" dirty="0">
                <a:latin typeface="Tahoma"/>
                <a:cs typeface="Tahoma"/>
              </a:rPr>
              <a:t> </a:t>
            </a:r>
            <a:r>
              <a:rPr sz="2550" spc="110" dirty="0">
                <a:latin typeface="Tahoma"/>
                <a:cs typeface="Tahoma"/>
              </a:rPr>
              <a:t>propósito</a:t>
            </a:r>
            <a:r>
              <a:rPr sz="2550" spc="254" dirty="0">
                <a:latin typeface="Tahoma"/>
                <a:cs typeface="Tahoma"/>
              </a:rPr>
              <a:t> </a:t>
            </a:r>
            <a:r>
              <a:rPr sz="2550" dirty="0">
                <a:latin typeface="Tahoma"/>
                <a:cs typeface="Tahoma"/>
              </a:rPr>
              <a:t>y</a:t>
            </a:r>
            <a:r>
              <a:rPr sz="2550" spc="260" dirty="0">
                <a:latin typeface="Tahoma"/>
                <a:cs typeface="Tahoma"/>
              </a:rPr>
              <a:t> </a:t>
            </a:r>
            <a:r>
              <a:rPr sz="2550" spc="120" dirty="0">
                <a:latin typeface="Tahoma"/>
                <a:cs typeface="Tahoma"/>
              </a:rPr>
              <a:t>forma</a:t>
            </a:r>
            <a:r>
              <a:rPr sz="2550" spc="260" dirty="0">
                <a:latin typeface="Tahoma"/>
                <a:cs typeface="Tahoma"/>
              </a:rPr>
              <a:t> </a:t>
            </a:r>
            <a:r>
              <a:rPr sz="2550" spc="120" dirty="0">
                <a:latin typeface="Tahoma"/>
                <a:cs typeface="Tahoma"/>
              </a:rPr>
              <a:t>de</a:t>
            </a:r>
            <a:r>
              <a:rPr sz="2550" spc="260" dirty="0">
                <a:latin typeface="Tahoma"/>
                <a:cs typeface="Tahoma"/>
              </a:rPr>
              <a:t> </a:t>
            </a:r>
            <a:r>
              <a:rPr sz="2550" spc="95" dirty="0">
                <a:latin typeface="Tahoma"/>
                <a:cs typeface="Tahoma"/>
              </a:rPr>
              <a:t>representar</a:t>
            </a:r>
            <a:r>
              <a:rPr sz="2550" spc="254" dirty="0">
                <a:latin typeface="Tahoma"/>
                <a:cs typeface="Tahoma"/>
              </a:rPr>
              <a:t> </a:t>
            </a:r>
            <a:r>
              <a:rPr sz="2550" spc="65" dirty="0">
                <a:latin typeface="Tahoma"/>
                <a:cs typeface="Tahoma"/>
              </a:rPr>
              <a:t>la</a:t>
            </a:r>
            <a:r>
              <a:rPr sz="2550" spc="260" dirty="0">
                <a:latin typeface="Tahoma"/>
                <a:cs typeface="Tahoma"/>
              </a:rPr>
              <a:t> </a:t>
            </a:r>
            <a:r>
              <a:rPr sz="2550" spc="90" dirty="0">
                <a:latin typeface="Tahoma"/>
                <a:cs typeface="Tahoma"/>
              </a:rPr>
              <a:t>cantidad</a:t>
            </a:r>
            <a:r>
              <a:rPr sz="2550" spc="260" dirty="0">
                <a:latin typeface="Tahoma"/>
                <a:cs typeface="Tahoma"/>
              </a:rPr>
              <a:t> </a:t>
            </a:r>
            <a:r>
              <a:rPr sz="2550" spc="95" dirty="0">
                <a:latin typeface="Tahoma"/>
                <a:cs typeface="Tahoma"/>
              </a:rPr>
              <a:t>de </a:t>
            </a:r>
            <a:r>
              <a:rPr sz="2550" spc="120" dirty="0">
                <a:latin typeface="Tahoma"/>
                <a:cs typeface="Tahoma"/>
              </a:rPr>
              <a:t>tiempo</a:t>
            </a:r>
            <a:r>
              <a:rPr sz="2550" spc="210" dirty="0">
                <a:latin typeface="Tahoma"/>
                <a:cs typeface="Tahoma"/>
              </a:rPr>
              <a:t> </a:t>
            </a:r>
            <a:r>
              <a:rPr sz="2550" spc="125" dirty="0">
                <a:latin typeface="Tahoma"/>
                <a:cs typeface="Tahoma"/>
              </a:rPr>
              <a:t>que</a:t>
            </a:r>
            <a:r>
              <a:rPr sz="2550" spc="204" dirty="0">
                <a:latin typeface="Tahoma"/>
                <a:cs typeface="Tahoma"/>
              </a:rPr>
              <a:t> </a:t>
            </a:r>
            <a:r>
              <a:rPr sz="2550" spc="60" dirty="0">
                <a:latin typeface="Tahoma"/>
                <a:cs typeface="Tahoma"/>
              </a:rPr>
              <a:t>llevará</a:t>
            </a:r>
            <a:r>
              <a:rPr sz="2550" spc="210" dirty="0">
                <a:latin typeface="Tahoma"/>
                <a:cs typeface="Tahoma"/>
              </a:rPr>
              <a:t> </a:t>
            </a:r>
            <a:r>
              <a:rPr sz="2550" spc="100" dirty="0">
                <a:latin typeface="Tahoma"/>
                <a:cs typeface="Tahoma"/>
              </a:rPr>
              <a:t>completar</a:t>
            </a:r>
            <a:r>
              <a:rPr sz="2550" spc="210" dirty="0">
                <a:latin typeface="Tahoma"/>
                <a:cs typeface="Tahoma"/>
              </a:rPr>
              <a:t> </a:t>
            </a:r>
            <a:r>
              <a:rPr sz="2550" spc="114" dirty="0">
                <a:latin typeface="Tahoma"/>
                <a:cs typeface="Tahoma"/>
              </a:rPr>
              <a:t>una</a:t>
            </a:r>
            <a:r>
              <a:rPr sz="2550" spc="210" dirty="0">
                <a:latin typeface="Tahoma"/>
                <a:cs typeface="Tahoma"/>
              </a:rPr>
              <a:t> </a:t>
            </a:r>
            <a:r>
              <a:rPr sz="2550" dirty="0">
                <a:latin typeface="Tahoma"/>
                <a:cs typeface="Tahoma"/>
              </a:rPr>
              <a:t>tarea.</a:t>
            </a:r>
            <a:r>
              <a:rPr sz="2550" spc="204" dirty="0">
                <a:latin typeface="Tahoma"/>
                <a:cs typeface="Tahoma"/>
              </a:rPr>
              <a:t> </a:t>
            </a:r>
            <a:r>
              <a:rPr sz="2550" spc="90" dirty="0">
                <a:latin typeface="Tahoma"/>
                <a:cs typeface="Tahoma"/>
              </a:rPr>
              <a:t>A</a:t>
            </a:r>
            <a:r>
              <a:rPr sz="2550" spc="210" dirty="0">
                <a:latin typeface="Tahoma"/>
                <a:cs typeface="Tahoma"/>
              </a:rPr>
              <a:t> </a:t>
            </a:r>
            <a:r>
              <a:rPr sz="2550" spc="65" dirty="0">
                <a:latin typeface="Tahoma"/>
                <a:cs typeface="Tahoma"/>
              </a:rPr>
              <a:t>continuación, </a:t>
            </a:r>
            <a:r>
              <a:rPr sz="2550" spc="80" dirty="0">
                <a:latin typeface="Tahoma"/>
                <a:cs typeface="Tahoma"/>
              </a:rPr>
              <a:t>se</a:t>
            </a:r>
            <a:r>
              <a:rPr sz="2550" spc="405" dirty="0">
                <a:latin typeface="Tahoma"/>
                <a:cs typeface="Tahoma"/>
              </a:rPr>
              <a:t> </a:t>
            </a:r>
            <a:r>
              <a:rPr sz="2550" spc="100" dirty="0">
                <a:latin typeface="Tahoma"/>
                <a:cs typeface="Tahoma"/>
              </a:rPr>
              <a:t>presentan</a:t>
            </a:r>
            <a:r>
              <a:rPr sz="2550" spc="409" dirty="0">
                <a:latin typeface="Tahoma"/>
                <a:cs typeface="Tahoma"/>
              </a:rPr>
              <a:t> </a:t>
            </a:r>
            <a:r>
              <a:rPr sz="2550" spc="90" dirty="0">
                <a:latin typeface="Tahoma"/>
                <a:cs typeface="Tahoma"/>
              </a:rPr>
              <a:t>los</a:t>
            </a:r>
            <a:r>
              <a:rPr sz="2550" spc="415" dirty="0">
                <a:latin typeface="Tahoma"/>
                <a:cs typeface="Tahoma"/>
              </a:rPr>
              <a:t> </a:t>
            </a:r>
            <a:r>
              <a:rPr sz="2550" spc="95" dirty="0">
                <a:latin typeface="Tahoma"/>
                <a:cs typeface="Tahoma"/>
              </a:rPr>
              <a:t>tipos</a:t>
            </a:r>
            <a:r>
              <a:rPr sz="2550" spc="409" dirty="0">
                <a:latin typeface="Tahoma"/>
                <a:cs typeface="Tahoma"/>
              </a:rPr>
              <a:t> </a:t>
            </a:r>
            <a:r>
              <a:rPr sz="2550" spc="120" dirty="0">
                <a:latin typeface="Tahoma"/>
                <a:cs typeface="Tahoma"/>
              </a:rPr>
              <a:t>de</a:t>
            </a:r>
            <a:r>
              <a:rPr sz="2550" spc="415" dirty="0">
                <a:latin typeface="Tahoma"/>
                <a:cs typeface="Tahoma"/>
              </a:rPr>
              <a:t> </a:t>
            </a:r>
            <a:r>
              <a:rPr sz="2550" spc="100" dirty="0">
                <a:latin typeface="Tahoma"/>
                <a:cs typeface="Tahoma"/>
              </a:rPr>
              <a:t>duraciones</a:t>
            </a:r>
            <a:r>
              <a:rPr sz="2550" spc="409" dirty="0">
                <a:latin typeface="Tahoma"/>
                <a:cs typeface="Tahoma"/>
              </a:rPr>
              <a:t> </a:t>
            </a:r>
            <a:r>
              <a:rPr sz="2550" spc="125" dirty="0">
                <a:latin typeface="Tahoma"/>
                <a:cs typeface="Tahoma"/>
              </a:rPr>
              <a:t>más</a:t>
            </a:r>
            <a:r>
              <a:rPr sz="2550" spc="415" dirty="0">
                <a:latin typeface="Tahoma"/>
                <a:cs typeface="Tahoma"/>
              </a:rPr>
              <a:t> </a:t>
            </a:r>
            <a:r>
              <a:rPr sz="2550" spc="120" dirty="0">
                <a:latin typeface="Tahoma"/>
                <a:cs typeface="Tahoma"/>
              </a:rPr>
              <a:t>comunes</a:t>
            </a:r>
            <a:r>
              <a:rPr sz="2550" spc="415" dirty="0">
                <a:latin typeface="Tahoma"/>
                <a:cs typeface="Tahoma"/>
              </a:rPr>
              <a:t> </a:t>
            </a:r>
            <a:r>
              <a:rPr sz="2550" spc="90" dirty="0">
                <a:latin typeface="Tahoma"/>
                <a:cs typeface="Tahoma"/>
              </a:rPr>
              <a:t>en </a:t>
            </a:r>
            <a:r>
              <a:rPr sz="2550" spc="150" dirty="0">
                <a:latin typeface="Tahoma"/>
                <a:cs typeface="Tahoma"/>
              </a:rPr>
              <a:t>MS</a:t>
            </a:r>
            <a:r>
              <a:rPr sz="2550" spc="-135" dirty="0">
                <a:latin typeface="Tahoma"/>
                <a:cs typeface="Tahoma"/>
              </a:rPr>
              <a:t> </a:t>
            </a:r>
            <a:r>
              <a:rPr sz="2550" spc="-10" dirty="0">
                <a:latin typeface="Tahoma"/>
                <a:cs typeface="Tahoma"/>
              </a:rPr>
              <a:t>Project</a:t>
            </a:r>
            <a:endParaRPr sz="2550" dirty="0">
              <a:latin typeface="Tahoma"/>
              <a:cs typeface="Tahoma"/>
            </a:endParaRPr>
          </a:p>
        </p:txBody>
      </p:sp>
      <p:pic>
        <p:nvPicPr>
          <p:cNvPr id="8" name="object 8"/>
          <p:cNvPicPr/>
          <p:nvPr/>
        </p:nvPicPr>
        <p:blipFill>
          <a:blip r:embed="rId2" cstate="print"/>
          <a:stretch>
            <a:fillRect/>
          </a:stretch>
        </p:blipFill>
        <p:spPr>
          <a:xfrm>
            <a:off x="11077620" y="2619402"/>
            <a:ext cx="6753209" cy="5505437"/>
          </a:xfrm>
          <a:prstGeom prst="rect">
            <a:avLst/>
          </a:prstGeom>
        </p:spPr>
      </p:pic>
      <p:sp>
        <p:nvSpPr>
          <p:cNvPr id="9" name="object 9"/>
          <p:cNvSpPr txBox="1">
            <a:spLocks noGrp="1"/>
          </p:cNvSpPr>
          <p:nvPr>
            <p:ph type="title"/>
          </p:nvPr>
        </p:nvSpPr>
        <p:spPr>
          <a:xfrm>
            <a:off x="2590800" y="1314762"/>
            <a:ext cx="6124113" cy="1690206"/>
          </a:xfrm>
          <a:prstGeom prst="rect">
            <a:avLst/>
          </a:prstGeom>
        </p:spPr>
        <p:txBody>
          <a:bodyPr vert="horz" wrap="square" lIns="0" tIns="12700" rIns="0" bIns="0" rtlCol="0">
            <a:spAutoFit/>
          </a:bodyPr>
          <a:lstStyle/>
          <a:p>
            <a:pPr marL="12700" algn="ctr">
              <a:lnSpc>
                <a:spcPct val="100000"/>
              </a:lnSpc>
              <a:spcBef>
                <a:spcPts val="100"/>
              </a:spcBef>
            </a:pPr>
            <a:r>
              <a:rPr dirty="0"/>
              <a:t>DURACIONES DE ACTIVIDADES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5138" y="2340929"/>
            <a:ext cx="12356257" cy="851515"/>
          </a:xfrm>
          <a:prstGeom prst="rect">
            <a:avLst/>
          </a:prstGeom>
        </p:spPr>
        <p:txBody>
          <a:bodyPr vert="horz" wrap="square" lIns="0" tIns="12700" rIns="0" bIns="0" rtlCol="0">
            <a:spAutoFit/>
          </a:bodyPr>
          <a:lstStyle/>
          <a:p>
            <a:pPr marL="1995170">
              <a:lnSpc>
                <a:spcPct val="100000"/>
              </a:lnSpc>
              <a:spcBef>
                <a:spcPts val="100"/>
              </a:spcBef>
            </a:pPr>
            <a:r>
              <a:rPr dirty="0"/>
              <a:t>RELACIONES ENTRE TAREAS</a:t>
            </a:r>
          </a:p>
        </p:txBody>
      </p:sp>
      <p:pic>
        <p:nvPicPr>
          <p:cNvPr id="3" name="object 3"/>
          <p:cNvPicPr/>
          <p:nvPr/>
        </p:nvPicPr>
        <p:blipFill>
          <a:blip r:embed="rId2" cstate="print"/>
          <a:stretch>
            <a:fillRect/>
          </a:stretch>
        </p:blipFill>
        <p:spPr>
          <a:xfrm>
            <a:off x="3756050" y="5000838"/>
            <a:ext cx="123825" cy="123825"/>
          </a:xfrm>
          <a:prstGeom prst="rect">
            <a:avLst/>
          </a:prstGeom>
        </p:spPr>
      </p:pic>
      <p:pic>
        <p:nvPicPr>
          <p:cNvPr id="4" name="object 4"/>
          <p:cNvPicPr/>
          <p:nvPr/>
        </p:nvPicPr>
        <p:blipFill>
          <a:blip r:embed="rId2" cstate="print"/>
          <a:stretch>
            <a:fillRect/>
          </a:stretch>
        </p:blipFill>
        <p:spPr>
          <a:xfrm>
            <a:off x="3756050" y="5505663"/>
            <a:ext cx="123825" cy="123825"/>
          </a:xfrm>
          <a:prstGeom prst="rect">
            <a:avLst/>
          </a:prstGeom>
        </p:spPr>
      </p:pic>
      <p:pic>
        <p:nvPicPr>
          <p:cNvPr id="5" name="object 5"/>
          <p:cNvPicPr/>
          <p:nvPr/>
        </p:nvPicPr>
        <p:blipFill>
          <a:blip r:embed="rId2" cstate="print"/>
          <a:stretch>
            <a:fillRect/>
          </a:stretch>
        </p:blipFill>
        <p:spPr>
          <a:xfrm>
            <a:off x="3756050" y="6010488"/>
            <a:ext cx="123825" cy="123825"/>
          </a:xfrm>
          <a:prstGeom prst="rect">
            <a:avLst/>
          </a:prstGeom>
        </p:spPr>
      </p:pic>
      <p:pic>
        <p:nvPicPr>
          <p:cNvPr id="6" name="object 6"/>
          <p:cNvPicPr/>
          <p:nvPr/>
        </p:nvPicPr>
        <p:blipFill>
          <a:blip r:embed="rId2" cstate="print"/>
          <a:stretch>
            <a:fillRect/>
          </a:stretch>
        </p:blipFill>
        <p:spPr>
          <a:xfrm>
            <a:off x="3756050" y="6515313"/>
            <a:ext cx="123825" cy="123825"/>
          </a:xfrm>
          <a:prstGeom prst="rect">
            <a:avLst/>
          </a:prstGeom>
        </p:spPr>
      </p:pic>
      <p:sp>
        <p:nvSpPr>
          <p:cNvPr id="7" name="object 7"/>
          <p:cNvSpPr txBox="1"/>
          <p:nvPr/>
        </p:nvSpPr>
        <p:spPr>
          <a:xfrm>
            <a:off x="3438550" y="3727275"/>
            <a:ext cx="11410950" cy="3054350"/>
          </a:xfrm>
          <a:prstGeom prst="rect">
            <a:avLst/>
          </a:prstGeom>
        </p:spPr>
        <p:txBody>
          <a:bodyPr vert="horz" wrap="square" lIns="0" tIns="12700" rIns="0" bIns="0" rtlCol="0">
            <a:spAutoFit/>
          </a:bodyPr>
          <a:lstStyle/>
          <a:p>
            <a:pPr marL="12700" marR="5080">
              <a:lnSpc>
                <a:spcPct val="116199"/>
              </a:lnSpc>
              <a:spcBef>
                <a:spcPts val="100"/>
              </a:spcBef>
            </a:pPr>
            <a:r>
              <a:rPr sz="2850" spc="85" dirty="0">
                <a:latin typeface="Tahoma"/>
                <a:cs typeface="Tahoma"/>
              </a:rPr>
              <a:t>Algunas</a:t>
            </a:r>
            <a:r>
              <a:rPr sz="2850" spc="265" dirty="0">
                <a:latin typeface="Tahoma"/>
                <a:cs typeface="Tahoma"/>
              </a:rPr>
              <a:t> </a:t>
            </a:r>
            <a:r>
              <a:rPr sz="2850" spc="125" dirty="0">
                <a:latin typeface="Tahoma"/>
                <a:cs typeface="Tahoma"/>
              </a:rPr>
              <a:t>de</a:t>
            </a:r>
            <a:r>
              <a:rPr sz="2850" spc="260" dirty="0">
                <a:latin typeface="Tahoma"/>
                <a:cs typeface="Tahoma"/>
              </a:rPr>
              <a:t> </a:t>
            </a:r>
            <a:r>
              <a:rPr sz="2850" spc="80" dirty="0">
                <a:latin typeface="Tahoma"/>
                <a:cs typeface="Tahoma"/>
              </a:rPr>
              <a:t>las</a:t>
            </a:r>
            <a:r>
              <a:rPr sz="2850" spc="260" dirty="0">
                <a:latin typeface="Tahoma"/>
                <a:cs typeface="Tahoma"/>
              </a:rPr>
              <a:t> </a:t>
            </a:r>
            <a:r>
              <a:rPr sz="2850" spc="95" dirty="0">
                <a:latin typeface="Tahoma"/>
                <a:cs typeface="Tahoma"/>
              </a:rPr>
              <a:t>relaciones</a:t>
            </a:r>
            <a:r>
              <a:rPr sz="2850" spc="265" dirty="0">
                <a:latin typeface="Tahoma"/>
                <a:cs typeface="Tahoma"/>
              </a:rPr>
              <a:t> </a:t>
            </a:r>
            <a:r>
              <a:rPr sz="2850" spc="125" dirty="0">
                <a:latin typeface="Tahoma"/>
                <a:cs typeface="Tahoma"/>
              </a:rPr>
              <a:t>de</a:t>
            </a:r>
            <a:r>
              <a:rPr sz="2850" spc="260" dirty="0">
                <a:latin typeface="Tahoma"/>
                <a:cs typeface="Tahoma"/>
              </a:rPr>
              <a:t> </a:t>
            </a:r>
            <a:r>
              <a:rPr sz="2850" spc="85" dirty="0">
                <a:latin typeface="Tahoma"/>
                <a:cs typeface="Tahoma"/>
              </a:rPr>
              <a:t>tareas</a:t>
            </a:r>
            <a:r>
              <a:rPr sz="2850" spc="265" dirty="0">
                <a:latin typeface="Tahoma"/>
                <a:cs typeface="Tahoma"/>
              </a:rPr>
              <a:t> </a:t>
            </a:r>
            <a:r>
              <a:rPr sz="2850" spc="140" dirty="0">
                <a:latin typeface="Tahoma"/>
                <a:cs typeface="Tahoma"/>
              </a:rPr>
              <a:t>más</a:t>
            </a:r>
            <a:r>
              <a:rPr sz="2850" spc="260" dirty="0">
                <a:latin typeface="Tahoma"/>
                <a:cs typeface="Tahoma"/>
              </a:rPr>
              <a:t> </a:t>
            </a:r>
            <a:r>
              <a:rPr sz="2850" spc="130" dirty="0">
                <a:latin typeface="Tahoma"/>
                <a:cs typeface="Tahoma"/>
              </a:rPr>
              <a:t>comunes</a:t>
            </a:r>
            <a:r>
              <a:rPr sz="2850" spc="265" dirty="0">
                <a:latin typeface="Tahoma"/>
                <a:cs typeface="Tahoma"/>
              </a:rPr>
              <a:t> </a:t>
            </a:r>
            <a:r>
              <a:rPr sz="2850" spc="114" dirty="0">
                <a:latin typeface="Tahoma"/>
                <a:cs typeface="Tahoma"/>
              </a:rPr>
              <a:t>disponibles</a:t>
            </a:r>
            <a:r>
              <a:rPr sz="2850" spc="260" dirty="0">
                <a:latin typeface="Tahoma"/>
                <a:cs typeface="Tahoma"/>
              </a:rPr>
              <a:t> </a:t>
            </a:r>
            <a:r>
              <a:rPr sz="2850" spc="95" dirty="0">
                <a:latin typeface="Tahoma"/>
                <a:cs typeface="Tahoma"/>
              </a:rPr>
              <a:t>en </a:t>
            </a:r>
            <a:r>
              <a:rPr sz="2850" spc="120" dirty="0">
                <a:latin typeface="Tahoma"/>
                <a:cs typeface="Tahoma"/>
              </a:rPr>
              <a:t>Microsoft</a:t>
            </a:r>
            <a:r>
              <a:rPr sz="2850" spc="-110" dirty="0">
                <a:latin typeface="Tahoma"/>
                <a:cs typeface="Tahoma"/>
              </a:rPr>
              <a:t> </a:t>
            </a:r>
            <a:r>
              <a:rPr sz="2850" spc="-10" dirty="0">
                <a:latin typeface="Tahoma"/>
                <a:cs typeface="Tahoma"/>
              </a:rPr>
              <a:t>Project:</a:t>
            </a:r>
            <a:endParaRPr sz="2850">
              <a:latin typeface="Tahoma"/>
              <a:cs typeface="Tahoma"/>
            </a:endParaRPr>
          </a:p>
          <a:p>
            <a:pPr marL="629920" marR="4497705">
              <a:lnSpc>
                <a:spcPct val="116199"/>
              </a:lnSpc>
            </a:pPr>
            <a:r>
              <a:rPr sz="2850" spc="60" dirty="0">
                <a:latin typeface="Tahoma"/>
                <a:cs typeface="Tahoma"/>
              </a:rPr>
              <a:t>Tareas</a:t>
            </a:r>
            <a:r>
              <a:rPr sz="2850" spc="-135" dirty="0">
                <a:latin typeface="Tahoma"/>
                <a:cs typeface="Tahoma"/>
              </a:rPr>
              <a:t> </a:t>
            </a:r>
            <a:r>
              <a:rPr sz="2850" spc="125" dirty="0">
                <a:latin typeface="Tahoma"/>
                <a:cs typeface="Tahoma"/>
              </a:rPr>
              <a:t>de</a:t>
            </a:r>
            <a:r>
              <a:rPr sz="2850" spc="-130" dirty="0">
                <a:latin typeface="Tahoma"/>
                <a:cs typeface="Tahoma"/>
              </a:rPr>
              <a:t> </a:t>
            </a:r>
            <a:r>
              <a:rPr sz="2850" spc="120" dirty="0">
                <a:latin typeface="Tahoma"/>
                <a:cs typeface="Tahoma"/>
              </a:rPr>
              <a:t>comienzo</a:t>
            </a:r>
            <a:r>
              <a:rPr sz="2850" spc="-130" dirty="0">
                <a:latin typeface="Tahoma"/>
                <a:cs typeface="Tahoma"/>
              </a:rPr>
              <a:t> </a:t>
            </a:r>
            <a:r>
              <a:rPr sz="2850" spc="90" dirty="0">
                <a:latin typeface="Tahoma"/>
                <a:cs typeface="Tahoma"/>
              </a:rPr>
              <a:t>a</a:t>
            </a:r>
            <a:r>
              <a:rPr sz="2850" spc="-130" dirty="0">
                <a:latin typeface="Tahoma"/>
                <a:cs typeface="Tahoma"/>
              </a:rPr>
              <a:t> </a:t>
            </a:r>
            <a:r>
              <a:rPr sz="2850" spc="120" dirty="0">
                <a:latin typeface="Tahoma"/>
                <a:cs typeface="Tahoma"/>
              </a:rPr>
              <a:t>comienzo</a:t>
            </a:r>
            <a:r>
              <a:rPr sz="2850" spc="-130" dirty="0">
                <a:latin typeface="Tahoma"/>
                <a:cs typeface="Tahoma"/>
              </a:rPr>
              <a:t> </a:t>
            </a:r>
            <a:r>
              <a:rPr sz="2850" spc="-35" dirty="0">
                <a:latin typeface="Tahoma"/>
                <a:cs typeface="Tahoma"/>
              </a:rPr>
              <a:t>(CC). </a:t>
            </a:r>
            <a:r>
              <a:rPr sz="2850" spc="60" dirty="0">
                <a:latin typeface="Tahoma"/>
                <a:cs typeface="Tahoma"/>
              </a:rPr>
              <a:t>Tareas</a:t>
            </a:r>
            <a:r>
              <a:rPr sz="2850" spc="-140" dirty="0">
                <a:latin typeface="Tahoma"/>
                <a:cs typeface="Tahoma"/>
              </a:rPr>
              <a:t> </a:t>
            </a:r>
            <a:r>
              <a:rPr sz="2850" spc="125" dirty="0">
                <a:latin typeface="Tahoma"/>
                <a:cs typeface="Tahoma"/>
              </a:rPr>
              <a:t>de</a:t>
            </a:r>
            <a:r>
              <a:rPr sz="2850" spc="-135" dirty="0">
                <a:latin typeface="Tahoma"/>
                <a:cs typeface="Tahoma"/>
              </a:rPr>
              <a:t> </a:t>
            </a:r>
            <a:r>
              <a:rPr sz="2850" spc="120" dirty="0">
                <a:latin typeface="Tahoma"/>
                <a:cs typeface="Tahoma"/>
              </a:rPr>
              <a:t>comienzo</a:t>
            </a:r>
            <a:r>
              <a:rPr sz="2850" spc="-135" dirty="0">
                <a:latin typeface="Tahoma"/>
                <a:cs typeface="Tahoma"/>
              </a:rPr>
              <a:t> </a:t>
            </a:r>
            <a:r>
              <a:rPr sz="2850" spc="90" dirty="0">
                <a:latin typeface="Tahoma"/>
                <a:cs typeface="Tahoma"/>
              </a:rPr>
              <a:t>a</a:t>
            </a:r>
            <a:r>
              <a:rPr sz="2850" spc="-135" dirty="0">
                <a:latin typeface="Tahoma"/>
                <a:cs typeface="Tahoma"/>
              </a:rPr>
              <a:t> </a:t>
            </a:r>
            <a:r>
              <a:rPr sz="2850" spc="90" dirty="0">
                <a:latin typeface="Tahoma"/>
                <a:cs typeface="Tahoma"/>
              </a:rPr>
              <a:t>fin</a:t>
            </a:r>
            <a:r>
              <a:rPr sz="2850" spc="-140" dirty="0">
                <a:latin typeface="Tahoma"/>
                <a:cs typeface="Tahoma"/>
              </a:rPr>
              <a:t> </a:t>
            </a:r>
            <a:r>
              <a:rPr sz="2850" spc="-10" dirty="0">
                <a:latin typeface="Tahoma"/>
                <a:cs typeface="Tahoma"/>
              </a:rPr>
              <a:t>(CF).</a:t>
            </a:r>
            <a:endParaRPr sz="2850">
              <a:latin typeface="Tahoma"/>
              <a:cs typeface="Tahoma"/>
            </a:endParaRPr>
          </a:p>
          <a:p>
            <a:pPr marL="629920" marR="5739130">
              <a:lnSpc>
                <a:spcPct val="116199"/>
              </a:lnSpc>
            </a:pPr>
            <a:r>
              <a:rPr sz="2850" spc="60" dirty="0">
                <a:latin typeface="Tahoma"/>
                <a:cs typeface="Tahoma"/>
              </a:rPr>
              <a:t>Tareas</a:t>
            </a:r>
            <a:r>
              <a:rPr sz="2850" spc="-140" dirty="0">
                <a:latin typeface="Tahoma"/>
                <a:cs typeface="Tahoma"/>
              </a:rPr>
              <a:t> </a:t>
            </a:r>
            <a:r>
              <a:rPr sz="2850" spc="125" dirty="0">
                <a:latin typeface="Tahoma"/>
                <a:cs typeface="Tahoma"/>
              </a:rPr>
              <a:t>de</a:t>
            </a:r>
            <a:r>
              <a:rPr sz="2850" spc="-135" dirty="0">
                <a:latin typeface="Tahoma"/>
                <a:cs typeface="Tahoma"/>
              </a:rPr>
              <a:t> </a:t>
            </a:r>
            <a:r>
              <a:rPr sz="2850" spc="90" dirty="0">
                <a:latin typeface="Tahoma"/>
                <a:cs typeface="Tahoma"/>
              </a:rPr>
              <a:t>fin</a:t>
            </a:r>
            <a:r>
              <a:rPr sz="2850" spc="-135" dirty="0">
                <a:latin typeface="Tahoma"/>
                <a:cs typeface="Tahoma"/>
              </a:rPr>
              <a:t> </a:t>
            </a:r>
            <a:r>
              <a:rPr sz="2850" spc="90" dirty="0">
                <a:latin typeface="Tahoma"/>
                <a:cs typeface="Tahoma"/>
              </a:rPr>
              <a:t>a</a:t>
            </a:r>
            <a:r>
              <a:rPr sz="2850" spc="-135" dirty="0">
                <a:latin typeface="Tahoma"/>
                <a:cs typeface="Tahoma"/>
              </a:rPr>
              <a:t> </a:t>
            </a:r>
            <a:r>
              <a:rPr sz="2850" spc="120" dirty="0">
                <a:latin typeface="Tahoma"/>
                <a:cs typeface="Tahoma"/>
              </a:rPr>
              <a:t>comienzo</a:t>
            </a:r>
            <a:r>
              <a:rPr sz="2850" spc="-140" dirty="0">
                <a:latin typeface="Tahoma"/>
                <a:cs typeface="Tahoma"/>
              </a:rPr>
              <a:t> </a:t>
            </a:r>
            <a:r>
              <a:rPr sz="2850" spc="-70" dirty="0">
                <a:latin typeface="Tahoma"/>
                <a:cs typeface="Tahoma"/>
              </a:rPr>
              <a:t>(FC). </a:t>
            </a:r>
            <a:r>
              <a:rPr sz="2850" spc="60" dirty="0">
                <a:latin typeface="Tahoma"/>
                <a:cs typeface="Tahoma"/>
              </a:rPr>
              <a:t>Tareas</a:t>
            </a:r>
            <a:r>
              <a:rPr sz="2850" spc="-145" dirty="0">
                <a:latin typeface="Tahoma"/>
                <a:cs typeface="Tahoma"/>
              </a:rPr>
              <a:t> </a:t>
            </a:r>
            <a:r>
              <a:rPr sz="2850" spc="125" dirty="0">
                <a:latin typeface="Tahoma"/>
                <a:cs typeface="Tahoma"/>
              </a:rPr>
              <a:t>de</a:t>
            </a:r>
            <a:r>
              <a:rPr sz="2850" spc="-140" dirty="0">
                <a:latin typeface="Tahoma"/>
                <a:cs typeface="Tahoma"/>
              </a:rPr>
              <a:t> </a:t>
            </a:r>
            <a:r>
              <a:rPr sz="2850" spc="90" dirty="0">
                <a:latin typeface="Tahoma"/>
                <a:cs typeface="Tahoma"/>
              </a:rPr>
              <a:t>fin</a:t>
            </a:r>
            <a:r>
              <a:rPr sz="2850" spc="-140" dirty="0">
                <a:latin typeface="Tahoma"/>
                <a:cs typeface="Tahoma"/>
              </a:rPr>
              <a:t> </a:t>
            </a:r>
            <a:r>
              <a:rPr sz="2850" spc="90" dirty="0">
                <a:latin typeface="Tahoma"/>
                <a:cs typeface="Tahoma"/>
              </a:rPr>
              <a:t>a</a:t>
            </a:r>
            <a:r>
              <a:rPr sz="2850" spc="-145" dirty="0">
                <a:latin typeface="Tahoma"/>
                <a:cs typeface="Tahoma"/>
              </a:rPr>
              <a:t> </a:t>
            </a:r>
            <a:r>
              <a:rPr sz="2850" spc="90" dirty="0">
                <a:latin typeface="Tahoma"/>
                <a:cs typeface="Tahoma"/>
              </a:rPr>
              <a:t>fin</a:t>
            </a:r>
            <a:r>
              <a:rPr sz="2850" spc="-140" dirty="0">
                <a:latin typeface="Tahoma"/>
                <a:cs typeface="Tahoma"/>
              </a:rPr>
              <a:t> </a:t>
            </a:r>
            <a:r>
              <a:rPr sz="2850" spc="-10" dirty="0">
                <a:latin typeface="Tahoma"/>
                <a:cs typeface="Tahoma"/>
              </a:rPr>
              <a:t>(FF).</a:t>
            </a:r>
            <a:endParaRPr sz="2850">
              <a:latin typeface="Tahoma"/>
              <a:cs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413685" y="960872"/>
            <a:ext cx="13460629" cy="1690206"/>
          </a:xfrm>
          <a:prstGeom prst="rect">
            <a:avLst/>
          </a:prstGeom>
        </p:spPr>
        <p:txBody>
          <a:bodyPr vert="horz" wrap="square" lIns="0" tIns="12700" rIns="0" bIns="0" rtlCol="0">
            <a:spAutoFit/>
          </a:bodyPr>
          <a:lstStyle/>
          <a:p>
            <a:pPr marL="12700" algn="ctr">
              <a:lnSpc>
                <a:spcPct val="100000"/>
              </a:lnSpc>
              <a:spcBef>
                <a:spcPts val="100"/>
              </a:spcBef>
            </a:pPr>
            <a:r>
              <a:rPr dirty="0"/>
              <a:t>TAREAS DE COMIENZO A COMIENZO (CC</a:t>
            </a:r>
            <a:r>
              <a:rPr lang="es-ES" dirty="0"/>
              <a:t>)</a:t>
            </a:r>
            <a:endParaRPr dirty="0"/>
          </a:p>
        </p:txBody>
      </p:sp>
      <p:pic>
        <p:nvPicPr>
          <p:cNvPr id="3" name="object 3"/>
          <p:cNvPicPr/>
          <p:nvPr/>
        </p:nvPicPr>
        <p:blipFill>
          <a:blip r:embed="rId2" cstate="print"/>
          <a:stretch>
            <a:fillRect/>
          </a:stretch>
        </p:blipFill>
        <p:spPr>
          <a:xfrm>
            <a:off x="3411717" y="3216371"/>
            <a:ext cx="123825" cy="123825"/>
          </a:xfrm>
          <a:prstGeom prst="rect">
            <a:avLst/>
          </a:prstGeom>
        </p:spPr>
      </p:pic>
      <p:sp>
        <p:nvSpPr>
          <p:cNvPr id="4" name="object 4"/>
          <p:cNvSpPr txBox="1"/>
          <p:nvPr/>
        </p:nvSpPr>
        <p:spPr>
          <a:xfrm>
            <a:off x="4068400" y="2930275"/>
            <a:ext cx="10793730" cy="1539875"/>
          </a:xfrm>
          <a:prstGeom prst="rect">
            <a:avLst/>
          </a:prstGeom>
        </p:spPr>
        <p:txBody>
          <a:bodyPr vert="horz" wrap="square" lIns="0" tIns="12700" rIns="0" bIns="0" rtlCol="0">
            <a:spAutoFit/>
          </a:bodyPr>
          <a:lstStyle/>
          <a:p>
            <a:pPr marL="12700" marR="5080" algn="just">
              <a:lnSpc>
                <a:spcPct val="116199"/>
              </a:lnSpc>
              <a:spcBef>
                <a:spcPts val="100"/>
              </a:spcBef>
            </a:pPr>
            <a:r>
              <a:rPr sz="2850" spc="75" dirty="0">
                <a:latin typeface="Tahoma"/>
                <a:cs typeface="Tahoma"/>
              </a:rPr>
              <a:t>La</a:t>
            </a:r>
            <a:r>
              <a:rPr sz="2850" spc="-5" dirty="0">
                <a:latin typeface="Tahoma"/>
                <a:cs typeface="Tahoma"/>
              </a:rPr>
              <a:t>  </a:t>
            </a:r>
            <a:r>
              <a:rPr sz="2850" spc="85" dirty="0">
                <a:latin typeface="Tahoma"/>
                <a:cs typeface="Tahoma"/>
              </a:rPr>
              <a:t>tarea</a:t>
            </a:r>
            <a:r>
              <a:rPr sz="2850" dirty="0">
                <a:latin typeface="Tahoma"/>
                <a:cs typeface="Tahoma"/>
              </a:rPr>
              <a:t>  </a:t>
            </a:r>
            <a:r>
              <a:rPr sz="2850" spc="100" dirty="0">
                <a:latin typeface="Tahoma"/>
                <a:cs typeface="Tahoma"/>
              </a:rPr>
              <a:t>sucesora</a:t>
            </a:r>
            <a:r>
              <a:rPr sz="2850" dirty="0">
                <a:latin typeface="Tahoma"/>
                <a:cs typeface="Tahoma"/>
              </a:rPr>
              <a:t>  </a:t>
            </a:r>
            <a:r>
              <a:rPr sz="2850" spc="160" dirty="0">
                <a:latin typeface="Tahoma"/>
                <a:cs typeface="Tahoma"/>
              </a:rPr>
              <a:t>no</a:t>
            </a:r>
            <a:r>
              <a:rPr sz="2850" dirty="0">
                <a:latin typeface="Tahoma"/>
                <a:cs typeface="Tahoma"/>
              </a:rPr>
              <a:t>  </a:t>
            </a:r>
            <a:r>
              <a:rPr sz="2850" spc="130" dirty="0">
                <a:latin typeface="Tahoma"/>
                <a:cs typeface="Tahoma"/>
              </a:rPr>
              <a:t>puede</a:t>
            </a:r>
            <a:r>
              <a:rPr sz="2850" dirty="0">
                <a:latin typeface="Tahoma"/>
                <a:cs typeface="Tahoma"/>
              </a:rPr>
              <a:t>  </a:t>
            </a:r>
            <a:r>
              <a:rPr sz="2850" spc="120" dirty="0">
                <a:latin typeface="Tahoma"/>
                <a:cs typeface="Tahoma"/>
              </a:rPr>
              <a:t>comenzar</a:t>
            </a:r>
            <a:r>
              <a:rPr sz="2850" dirty="0">
                <a:latin typeface="Tahoma"/>
                <a:cs typeface="Tahoma"/>
              </a:rPr>
              <a:t>  </a:t>
            </a:r>
            <a:r>
              <a:rPr sz="2850" spc="90" dirty="0">
                <a:latin typeface="Tahoma"/>
                <a:cs typeface="Tahoma"/>
              </a:rPr>
              <a:t>hasta</a:t>
            </a:r>
            <a:r>
              <a:rPr sz="2850" dirty="0">
                <a:latin typeface="Tahoma"/>
                <a:cs typeface="Tahoma"/>
              </a:rPr>
              <a:t>  </a:t>
            </a:r>
            <a:r>
              <a:rPr sz="2850" spc="135" dirty="0">
                <a:latin typeface="Tahoma"/>
                <a:cs typeface="Tahoma"/>
              </a:rPr>
              <a:t>que</a:t>
            </a:r>
            <a:r>
              <a:rPr sz="2850" dirty="0">
                <a:latin typeface="Tahoma"/>
                <a:cs typeface="Tahoma"/>
              </a:rPr>
              <a:t>  </a:t>
            </a:r>
            <a:r>
              <a:rPr sz="2850" spc="75" dirty="0">
                <a:latin typeface="Tahoma"/>
                <a:cs typeface="Tahoma"/>
              </a:rPr>
              <a:t>la</a:t>
            </a:r>
            <a:r>
              <a:rPr sz="2850" dirty="0">
                <a:latin typeface="Tahoma"/>
                <a:cs typeface="Tahoma"/>
              </a:rPr>
              <a:t>  </a:t>
            </a:r>
            <a:r>
              <a:rPr sz="2850" spc="75" dirty="0">
                <a:latin typeface="Tahoma"/>
                <a:cs typeface="Tahoma"/>
              </a:rPr>
              <a:t>tarea </a:t>
            </a:r>
            <a:r>
              <a:rPr sz="2850" spc="110" dirty="0">
                <a:latin typeface="Tahoma"/>
                <a:cs typeface="Tahoma"/>
              </a:rPr>
              <a:t>predecesora</a:t>
            </a:r>
            <a:r>
              <a:rPr sz="2850" spc="480" dirty="0">
                <a:latin typeface="Tahoma"/>
                <a:cs typeface="Tahoma"/>
              </a:rPr>
              <a:t> </a:t>
            </a:r>
            <a:r>
              <a:rPr sz="2850" spc="80" dirty="0">
                <a:latin typeface="Tahoma"/>
                <a:cs typeface="Tahoma"/>
              </a:rPr>
              <a:t>haya</a:t>
            </a:r>
            <a:r>
              <a:rPr sz="2850" spc="480" dirty="0">
                <a:latin typeface="Tahoma"/>
                <a:cs typeface="Tahoma"/>
              </a:rPr>
              <a:t> </a:t>
            </a:r>
            <a:r>
              <a:rPr sz="2850" spc="105" dirty="0">
                <a:latin typeface="Tahoma"/>
                <a:cs typeface="Tahoma"/>
              </a:rPr>
              <a:t>comenzado.</a:t>
            </a:r>
            <a:r>
              <a:rPr sz="2850" spc="480" dirty="0">
                <a:latin typeface="Tahoma"/>
                <a:cs typeface="Tahoma"/>
              </a:rPr>
              <a:t> </a:t>
            </a:r>
            <a:r>
              <a:rPr sz="2850" spc="135" dirty="0">
                <a:latin typeface="Tahoma"/>
                <a:cs typeface="Tahoma"/>
              </a:rPr>
              <a:t>Ambas</a:t>
            </a:r>
            <a:r>
              <a:rPr sz="2850" spc="475" dirty="0">
                <a:latin typeface="Tahoma"/>
                <a:cs typeface="Tahoma"/>
              </a:rPr>
              <a:t> </a:t>
            </a:r>
            <a:r>
              <a:rPr sz="2850" spc="85" dirty="0">
                <a:latin typeface="Tahoma"/>
                <a:cs typeface="Tahoma"/>
              </a:rPr>
              <a:t>tareas</a:t>
            </a:r>
            <a:r>
              <a:rPr sz="2850" spc="480" dirty="0">
                <a:latin typeface="Tahoma"/>
                <a:cs typeface="Tahoma"/>
              </a:rPr>
              <a:t> </a:t>
            </a:r>
            <a:r>
              <a:rPr sz="2850" spc="130" dirty="0">
                <a:latin typeface="Tahoma"/>
                <a:cs typeface="Tahoma"/>
              </a:rPr>
              <a:t>deben</a:t>
            </a:r>
            <a:r>
              <a:rPr sz="2850" spc="480" dirty="0">
                <a:latin typeface="Tahoma"/>
                <a:cs typeface="Tahoma"/>
              </a:rPr>
              <a:t> </a:t>
            </a:r>
            <a:r>
              <a:rPr sz="2850" spc="85" dirty="0">
                <a:latin typeface="Tahoma"/>
                <a:cs typeface="Tahoma"/>
              </a:rPr>
              <a:t>coincidir </a:t>
            </a:r>
            <a:r>
              <a:rPr sz="2850" spc="120" dirty="0">
                <a:latin typeface="Tahoma"/>
                <a:cs typeface="Tahoma"/>
              </a:rPr>
              <a:t>en</a:t>
            </a:r>
            <a:r>
              <a:rPr sz="2850" spc="-145" dirty="0">
                <a:latin typeface="Tahoma"/>
                <a:cs typeface="Tahoma"/>
              </a:rPr>
              <a:t> </a:t>
            </a:r>
            <a:r>
              <a:rPr sz="2850" spc="120" dirty="0">
                <a:latin typeface="Tahoma"/>
                <a:cs typeface="Tahoma"/>
              </a:rPr>
              <a:t>su</a:t>
            </a:r>
            <a:r>
              <a:rPr sz="2850" spc="-145" dirty="0">
                <a:latin typeface="Tahoma"/>
                <a:cs typeface="Tahoma"/>
              </a:rPr>
              <a:t> </a:t>
            </a:r>
            <a:r>
              <a:rPr sz="2850" spc="80" dirty="0">
                <a:latin typeface="Tahoma"/>
                <a:cs typeface="Tahoma"/>
              </a:rPr>
              <a:t>fecha</a:t>
            </a:r>
            <a:r>
              <a:rPr sz="2850" spc="-140" dirty="0">
                <a:latin typeface="Tahoma"/>
                <a:cs typeface="Tahoma"/>
              </a:rPr>
              <a:t> </a:t>
            </a:r>
            <a:r>
              <a:rPr sz="2850" spc="125" dirty="0">
                <a:latin typeface="Tahoma"/>
                <a:cs typeface="Tahoma"/>
              </a:rPr>
              <a:t>de</a:t>
            </a:r>
            <a:r>
              <a:rPr sz="2850" spc="-145" dirty="0">
                <a:latin typeface="Tahoma"/>
                <a:cs typeface="Tahoma"/>
              </a:rPr>
              <a:t> </a:t>
            </a:r>
            <a:r>
              <a:rPr sz="2850" spc="50" dirty="0">
                <a:latin typeface="Tahoma"/>
                <a:cs typeface="Tahoma"/>
              </a:rPr>
              <a:t>inicio.</a:t>
            </a:r>
            <a:endParaRPr sz="2850" dirty="0">
              <a:latin typeface="Tahoma"/>
              <a:cs typeface="Tahoma"/>
            </a:endParaRPr>
          </a:p>
        </p:txBody>
      </p:sp>
      <p:pic>
        <p:nvPicPr>
          <p:cNvPr id="16" name="object 16"/>
          <p:cNvPicPr/>
          <p:nvPr/>
        </p:nvPicPr>
        <p:blipFill>
          <a:blip r:embed="rId3" cstate="print"/>
          <a:stretch>
            <a:fillRect/>
          </a:stretch>
        </p:blipFill>
        <p:spPr>
          <a:xfrm>
            <a:off x="6248400" y="5143500"/>
            <a:ext cx="7115189" cy="39909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899927" y="1068895"/>
            <a:ext cx="11892567" cy="1690206"/>
          </a:xfrm>
          <a:prstGeom prst="rect">
            <a:avLst/>
          </a:prstGeom>
        </p:spPr>
        <p:txBody>
          <a:bodyPr vert="horz" wrap="square" lIns="0" tIns="12700" rIns="0" bIns="0" rtlCol="0">
            <a:spAutoFit/>
          </a:bodyPr>
          <a:lstStyle/>
          <a:p>
            <a:pPr marL="825500" algn="ctr">
              <a:lnSpc>
                <a:spcPct val="100000"/>
              </a:lnSpc>
              <a:spcBef>
                <a:spcPts val="100"/>
              </a:spcBef>
            </a:pPr>
            <a:r>
              <a:rPr dirty="0"/>
              <a:t>TAREAS DE COMIENZO A FIN (CF</a:t>
            </a:r>
            <a:r>
              <a:rPr lang="es-ES" dirty="0"/>
              <a:t>)</a:t>
            </a:r>
            <a:endParaRPr dirty="0"/>
          </a:p>
        </p:txBody>
      </p:sp>
      <p:pic>
        <p:nvPicPr>
          <p:cNvPr id="3" name="object 3"/>
          <p:cNvPicPr/>
          <p:nvPr/>
        </p:nvPicPr>
        <p:blipFill>
          <a:blip r:embed="rId2" cstate="print"/>
          <a:stretch>
            <a:fillRect/>
          </a:stretch>
        </p:blipFill>
        <p:spPr>
          <a:xfrm>
            <a:off x="3464765" y="3239494"/>
            <a:ext cx="123825" cy="123825"/>
          </a:xfrm>
          <a:prstGeom prst="rect">
            <a:avLst/>
          </a:prstGeom>
        </p:spPr>
      </p:pic>
      <p:sp>
        <p:nvSpPr>
          <p:cNvPr id="4" name="object 4"/>
          <p:cNvSpPr txBox="1"/>
          <p:nvPr/>
        </p:nvSpPr>
        <p:spPr>
          <a:xfrm>
            <a:off x="3717881" y="3084838"/>
            <a:ext cx="10793730" cy="1539875"/>
          </a:xfrm>
          <a:prstGeom prst="rect">
            <a:avLst/>
          </a:prstGeom>
        </p:spPr>
        <p:txBody>
          <a:bodyPr vert="horz" wrap="square" lIns="0" tIns="12700" rIns="0" bIns="0" rtlCol="0">
            <a:spAutoFit/>
          </a:bodyPr>
          <a:lstStyle/>
          <a:p>
            <a:pPr marL="12700" marR="5080" algn="just">
              <a:lnSpc>
                <a:spcPct val="116199"/>
              </a:lnSpc>
              <a:spcBef>
                <a:spcPts val="100"/>
              </a:spcBef>
            </a:pPr>
            <a:r>
              <a:rPr sz="2850" spc="75" dirty="0">
                <a:latin typeface="Tahoma"/>
                <a:cs typeface="Tahoma"/>
              </a:rPr>
              <a:t>La</a:t>
            </a:r>
            <a:r>
              <a:rPr sz="2850" spc="135" dirty="0">
                <a:latin typeface="Tahoma"/>
                <a:cs typeface="Tahoma"/>
              </a:rPr>
              <a:t>  </a:t>
            </a:r>
            <a:r>
              <a:rPr sz="2850" spc="85" dirty="0">
                <a:latin typeface="Tahoma"/>
                <a:cs typeface="Tahoma"/>
              </a:rPr>
              <a:t>tarea</a:t>
            </a:r>
            <a:r>
              <a:rPr sz="2850" spc="150" dirty="0">
                <a:latin typeface="Tahoma"/>
                <a:cs typeface="Tahoma"/>
              </a:rPr>
              <a:t>  </a:t>
            </a:r>
            <a:r>
              <a:rPr sz="2850" spc="100" dirty="0">
                <a:latin typeface="Tahoma"/>
                <a:cs typeface="Tahoma"/>
              </a:rPr>
              <a:t>sucesora</a:t>
            </a:r>
            <a:r>
              <a:rPr sz="2850" spc="140" dirty="0">
                <a:latin typeface="Tahoma"/>
                <a:cs typeface="Tahoma"/>
              </a:rPr>
              <a:t>  </a:t>
            </a:r>
            <a:r>
              <a:rPr sz="2850" spc="160" dirty="0">
                <a:latin typeface="Tahoma"/>
                <a:cs typeface="Tahoma"/>
              </a:rPr>
              <a:t>no</a:t>
            </a:r>
            <a:r>
              <a:rPr sz="2850" spc="150" dirty="0">
                <a:latin typeface="Tahoma"/>
                <a:cs typeface="Tahoma"/>
              </a:rPr>
              <a:t>  </a:t>
            </a:r>
            <a:r>
              <a:rPr sz="2850" spc="130" dirty="0">
                <a:latin typeface="Tahoma"/>
                <a:cs typeface="Tahoma"/>
              </a:rPr>
              <a:t>puede</a:t>
            </a:r>
            <a:r>
              <a:rPr sz="2850" spc="145" dirty="0">
                <a:latin typeface="Tahoma"/>
                <a:cs typeface="Tahoma"/>
              </a:rPr>
              <a:t>  </a:t>
            </a:r>
            <a:r>
              <a:rPr sz="2850" spc="80" dirty="0">
                <a:latin typeface="Tahoma"/>
                <a:cs typeface="Tahoma"/>
              </a:rPr>
              <a:t>finalizar</a:t>
            </a:r>
            <a:r>
              <a:rPr sz="2850" spc="150" dirty="0">
                <a:latin typeface="Tahoma"/>
                <a:cs typeface="Tahoma"/>
              </a:rPr>
              <a:t>  </a:t>
            </a:r>
            <a:r>
              <a:rPr sz="2850" spc="90" dirty="0">
                <a:latin typeface="Tahoma"/>
                <a:cs typeface="Tahoma"/>
              </a:rPr>
              <a:t>hasta</a:t>
            </a:r>
            <a:r>
              <a:rPr sz="2850" spc="145" dirty="0">
                <a:latin typeface="Tahoma"/>
                <a:cs typeface="Tahoma"/>
              </a:rPr>
              <a:t>  </a:t>
            </a:r>
            <a:r>
              <a:rPr sz="2850" spc="135" dirty="0">
                <a:latin typeface="Tahoma"/>
                <a:cs typeface="Tahoma"/>
              </a:rPr>
              <a:t>que</a:t>
            </a:r>
            <a:r>
              <a:rPr sz="2850" spc="145" dirty="0">
                <a:latin typeface="Tahoma"/>
                <a:cs typeface="Tahoma"/>
              </a:rPr>
              <a:t>  </a:t>
            </a:r>
            <a:r>
              <a:rPr sz="2850" spc="75" dirty="0">
                <a:latin typeface="Tahoma"/>
                <a:cs typeface="Tahoma"/>
              </a:rPr>
              <a:t>la</a:t>
            </a:r>
            <a:r>
              <a:rPr sz="2850" spc="150" dirty="0">
                <a:latin typeface="Tahoma"/>
                <a:cs typeface="Tahoma"/>
              </a:rPr>
              <a:t>  </a:t>
            </a:r>
            <a:r>
              <a:rPr sz="2850" spc="75" dirty="0">
                <a:latin typeface="Tahoma"/>
                <a:cs typeface="Tahoma"/>
              </a:rPr>
              <a:t>tarea </a:t>
            </a:r>
            <a:r>
              <a:rPr sz="2850" spc="110" dirty="0">
                <a:latin typeface="Tahoma"/>
                <a:cs typeface="Tahoma"/>
              </a:rPr>
              <a:t>predecesora</a:t>
            </a:r>
            <a:r>
              <a:rPr sz="2850" spc="170" dirty="0">
                <a:latin typeface="Tahoma"/>
                <a:cs typeface="Tahoma"/>
              </a:rPr>
              <a:t> </a:t>
            </a:r>
            <a:r>
              <a:rPr sz="2850" spc="80" dirty="0">
                <a:latin typeface="Tahoma"/>
                <a:cs typeface="Tahoma"/>
              </a:rPr>
              <a:t>haya</a:t>
            </a:r>
            <a:r>
              <a:rPr sz="2850" spc="175" dirty="0">
                <a:latin typeface="Tahoma"/>
                <a:cs typeface="Tahoma"/>
              </a:rPr>
              <a:t> </a:t>
            </a:r>
            <a:r>
              <a:rPr sz="2850" spc="105" dirty="0">
                <a:latin typeface="Tahoma"/>
                <a:cs typeface="Tahoma"/>
              </a:rPr>
              <a:t>comenzado.</a:t>
            </a:r>
            <a:r>
              <a:rPr sz="2850" spc="170" dirty="0">
                <a:latin typeface="Tahoma"/>
                <a:cs typeface="Tahoma"/>
              </a:rPr>
              <a:t> </a:t>
            </a:r>
            <a:r>
              <a:rPr sz="2850" spc="75" dirty="0">
                <a:latin typeface="Tahoma"/>
                <a:cs typeface="Tahoma"/>
              </a:rPr>
              <a:t>La</a:t>
            </a:r>
            <a:r>
              <a:rPr sz="2850" spc="175" dirty="0">
                <a:latin typeface="Tahoma"/>
                <a:cs typeface="Tahoma"/>
              </a:rPr>
              <a:t> </a:t>
            </a:r>
            <a:r>
              <a:rPr sz="2850" spc="85" dirty="0">
                <a:latin typeface="Tahoma"/>
                <a:cs typeface="Tahoma"/>
              </a:rPr>
              <a:t>tarea</a:t>
            </a:r>
            <a:r>
              <a:rPr sz="2850" spc="170" dirty="0">
                <a:latin typeface="Tahoma"/>
                <a:cs typeface="Tahoma"/>
              </a:rPr>
              <a:t> </a:t>
            </a:r>
            <a:r>
              <a:rPr sz="2850" spc="100" dirty="0">
                <a:latin typeface="Tahoma"/>
                <a:cs typeface="Tahoma"/>
              </a:rPr>
              <a:t>sucesora</a:t>
            </a:r>
            <a:r>
              <a:rPr sz="2850" spc="170" dirty="0">
                <a:latin typeface="Tahoma"/>
                <a:cs typeface="Tahoma"/>
              </a:rPr>
              <a:t> </a:t>
            </a:r>
            <a:r>
              <a:rPr sz="2850" spc="75" dirty="0">
                <a:latin typeface="Tahoma"/>
                <a:cs typeface="Tahoma"/>
              </a:rPr>
              <a:t>finaliza</a:t>
            </a:r>
            <a:r>
              <a:rPr sz="2850" spc="175" dirty="0">
                <a:latin typeface="Tahoma"/>
                <a:cs typeface="Tahoma"/>
              </a:rPr>
              <a:t> </a:t>
            </a:r>
            <a:r>
              <a:rPr sz="2850" spc="120" dirty="0">
                <a:latin typeface="Tahoma"/>
                <a:cs typeface="Tahoma"/>
              </a:rPr>
              <a:t>en</a:t>
            </a:r>
            <a:r>
              <a:rPr sz="2850" spc="170" dirty="0">
                <a:latin typeface="Tahoma"/>
                <a:cs typeface="Tahoma"/>
              </a:rPr>
              <a:t> </a:t>
            </a:r>
            <a:r>
              <a:rPr sz="2850" spc="50" dirty="0">
                <a:latin typeface="Tahoma"/>
                <a:cs typeface="Tahoma"/>
              </a:rPr>
              <a:t>la </a:t>
            </a:r>
            <a:r>
              <a:rPr sz="2850" spc="80" dirty="0">
                <a:latin typeface="Tahoma"/>
                <a:cs typeface="Tahoma"/>
              </a:rPr>
              <a:t>fecha</a:t>
            </a:r>
            <a:r>
              <a:rPr sz="2850" spc="-140" dirty="0">
                <a:latin typeface="Tahoma"/>
                <a:cs typeface="Tahoma"/>
              </a:rPr>
              <a:t> </a:t>
            </a:r>
            <a:r>
              <a:rPr sz="2850" spc="125" dirty="0">
                <a:latin typeface="Tahoma"/>
                <a:cs typeface="Tahoma"/>
              </a:rPr>
              <a:t>de</a:t>
            </a:r>
            <a:r>
              <a:rPr sz="2850" spc="-140" dirty="0">
                <a:latin typeface="Tahoma"/>
                <a:cs typeface="Tahoma"/>
              </a:rPr>
              <a:t> </a:t>
            </a:r>
            <a:r>
              <a:rPr sz="2850" spc="90" dirty="0">
                <a:latin typeface="Tahoma"/>
                <a:cs typeface="Tahoma"/>
              </a:rPr>
              <a:t>inicio</a:t>
            </a:r>
            <a:r>
              <a:rPr sz="2850" spc="-140" dirty="0">
                <a:latin typeface="Tahoma"/>
                <a:cs typeface="Tahoma"/>
              </a:rPr>
              <a:t> </a:t>
            </a:r>
            <a:r>
              <a:rPr sz="2850" spc="125" dirty="0">
                <a:latin typeface="Tahoma"/>
                <a:cs typeface="Tahoma"/>
              </a:rPr>
              <a:t>de</a:t>
            </a:r>
            <a:r>
              <a:rPr sz="2850" spc="-135" dirty="0">
                <a:latin typeface="Tahoma"/>
                <a:cs typeface="Tahoma"/>
              </a:rPr>
              <a:t> </a:t>
            </a:r>
            <a:r>
              <a:rPr sz="2850" spc="75" dirty="0">
                <a:latin typeface="Tahoma"/>
                <a:cs typeface="Tahoma"/>
              </a:rPr>
              <a:t>la</a:t>
            </a:r>
            <a:r>
              <a:rPr sz="2850" spc="-140" dirty="0">
                <a:latin typeface="Tahoma"/>
                <a:cs typeface="Tahoma"/>
              </a:rPr>
              <a:t> </a:t>
            </a:r>
            <a:r>
              <a:rPr sz="2850" spc="85" dirty="0">
                <a:latin typeface="Tahoma"/>
                <a:cs typeface="Tahoma"/>
              </a:rPr>
              <a:t>tarea</a:t>
            </a:r>
            <a:r>
              <a:rPr sz="2850" spc="-140" dirty="0">
                <a:latin typeface="Tahoma"/>
                <a:cs typeface="Tahoma"/>
              </a:rPr>
              <a:t> </a:t>
            </a:r>
            <a:r>
              <a:rPr sz="2850" spc="80" dirty="0">
                <a:latin typeface="Tahoma"/>
                <a:cs typeface="Tahoma"/>
              </a:rPr>
              <a:t>predecesora.</a:t>
            </a:r>
            <a:endParaRPr sz="2850" dirty="0">
              <a:latin typeface="Tahoma"/>
              <a:cs typeface="Tahoma"/>
            </a:endParaRPr>
          </a:p>
        </p:txBody>
      </p:sp>
      <p:pic>
        <p:nvPicPr>
          <p:cNvPr id="16" name="object 16"/>
          <p:cNvPicPr/>
          <p:nvPr/>
        </p:nvPicPr>
        <p:blipFill>
          <a:blip r:embed="rId3" cstate="print"/>
          <a:stretch>
            <a:fillRect/>
          </a:stretch>
        </p:blipFill>
        <p:spPr>
          <a:xfrm>
            <a:off x="3966977" y="5510541"/>
            <a:ext cx="10858499" cy="339089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628054" y="1262252"/>
            <a:ext cx="12143968" cy="1690206"/>
          </a:xfrm>
          <a:prstGeom prst="rect">
            <a:avLst/>
          </a:prstGeom>
        </p:spPr>
        <p:txBody>
          <a:bodyPr vert="horz" wrap="square" lIns="0" tIns="12700" rIns="0" bIns="0" rtlCol="0">
            <a:spAutoFit/>
          </a:bodyPr>
          <a:lstStyle/>
          <a:p>
            <a:pPr marL="774700" algn="ctr">
              <a:lnSpc>
                <a:spcPct val="100000"/>
              </a:lnSpc>
              <a:spcBef>
                <a:spcPts val="100"/>
              </a:spcBef>
            </a:pPr>
            <a:r>
              <a:rPr dirty="0"/>
              <a:t>TAREAS DE FIN A COMIENZO (FC</a:t>
            </a:r>
            <a:r>
              <a:rPr lang="es-ES" dirty="0"/>
              <a:t>)</a:t>
            </a:r>
            <a:endParaRPr dirty="0"/>
          </a:p>
        </p:txBody>
      </p:sp>
      <p:pic>
        <p:nvPicPr>
          <p:cNvPr id="3" name="object 3"/>
          <p:cNvPicPr/>
          <p:nvPr/>
        </p:nvPicPr>
        <p:blipFill>
          <a:blip r:embed="rId2" cstate="print"/>
          <a:stretch>
            <a:fillRect/>
          </a:stretch>
        </p:blipFill>
        <p:spPr>
          <a:xfrm>
            <a:off x="3411717" y="3216371"/>
            <a:ext cx="123825" cy="123825"/>
          </a:xfrm>
          <a:prstGeom prst="rect">
            <a:avLst/>
          </a:prstGeom>
        </p:spPr>
      </p:pic>
      <p:sp>
        <p:nvSpPr>
          <p:cNvPr id="4" name="object 4"/>
          <p:cNvSpPr txBox="1"/>
          <p:nvPr/>
        </p:nvSpPr>
        <p:spPr>
          <a:xfrm>
            <a:off x="3711556" y="2952458"/>
            <a:ext cx="10793730" cy="1539875"/>
          </a:xfrm>
          <a:prstGeom prst="rect">
            <a:avLst/>
          </a:prstGeom>
        </p:spPr>
        <p:txBody>
          <a:bodyPr vert="horz" wrap="square" lIns="0" tIns="12700" rIns="0" bIns="0" rtlCol="0">
            <a:spAutoFit/>
          </a:bodyPr>
          <a:lstStyle/>
          <a:p>
            <a:pPr marL="12700" marR="5080" algn="just">
              <a:lnSpc>
                <a:spcPct val="116199"/>
              </a:lnSpc>
              <a:spcBef>
                <a:spcPts val="100"/>
              </a:spcBef>
            </a:pPr>
            <a:r>
              <a:rPr sz="2850" spc="75" dirty="0">
                <a:latin typeface="Tahoma"/>
                <a:cs typeface="Tahoma"/>
              </a:rPr>
              <a:t>La</a:t>
            </a:r>
            <a:r>
              <a:rPr sz="2850" spc="-5" dirty="0">
                <a:latin typeface="Tahoma"/>
                <a:cs typeface="Tahoma"/>
              </a:rPr>
              <a:t>  </a:t>
            </a:r>
            <a:r>
              <a:rPr sz="2850" spc="85" dirty="0">
                <a:latin typeface="Tahoma"/>
                <a:cs typeface="Tahoma"/>
              </a:rPr>
              <a:t>tarea</a:t>
            </a:r>
            <a:r>
              <a:rPr sz="2850" dirty="0">
                <a:latin typeface="Tahoma"/>
                <a:cs typeface="Tahoma"/>
              </a:rPr>
              <a:t>  </a:t>
            </a:r>
            <a:r>
              <a:rPr sz="2850" spc="100" dirty="0">
                <a:latin typeface="Tahoma"/>
                <a:cs typeface="Tahoma"/>
              </a:rPr>
              <a:t>sucesora</a:t>
            </a:r>
            <a:r>
              <a:rPr sz="2850" dirty="0">
                <a:latin typeface="Tahoma"/>
                <a:cs typeface="Tahoma"/>
              </a:rPr>
              <a:t>  </a:t>
            </a:r>
            <a:r>
              <a:rPr sz="2850" spc="160" dirty="0">
                <a:latin typeface="Tahoma"/>
                <a:cs typeface="Tahoma"/>
              </a:rPr>
              <a:t>no</a:t>
            </a:r>
            <a:r>
              <a:rPr sz="2850" dirty="0">
                <a:latin typeface="Tahoma"/>
                <a:cs typeface="Tahoma"/>
              </a:rPr>
              <a:t>  </a:t>
            </a:r>
            <a:r>
              <a:rPr sz="2850" spc="130" dirty="0">
                <a:latin typeface="Tahoma"/>
                <a:cs typeface="Tahoma"/>
              </a:rPr>
              <a:t>puede</a:t>
            </a:r>
            <a:r>
              <a:rPr sz="2850" dirty="0">
                <a:latin typeface="Tahoma"/>
                <a:cs typeface="Tahoma"/>
              </a:rPr>
              <a:t>  </a:t>
            </a:r>
            <a:r>
              <a:rPr sz="2850" spc="120" dirty="0">
                <a:latin typeface="Tahoma"/>
                <a:cs typeface="Tahoma"/>
              </a:rPr>
              <a:t>comenzar</a:t>
            </a:r>
            <a:r>
              <a:rPr sz="2850" dirty="0">
                <a:latin typeface="Tahoma"/>
                <a:cs typeface="Tahoma"/>
              </a:rPr>
              <a:t>  </a:t>
            </a:r>
            <a:r>
              <a:rPr sz="2850" spc="90" dirty="0">
                <a:latin typeface="Tahoma"/>
                <a:cs typeface="Tahoma"/>
              </a:rPr>
              <a:t>hasta</a:t>
            </a:r>
            <a:r>
              <a:rPr sz="2850" dirty="0">
                <a:latin typeface="Tahoma"/>
                <a:cs typeface="Tahoma"/>
              </a:rPr>
              <a:t>  </a:t>
            </a:r>
            <a:r>
              <a:rPr sz="2850" spc="135" dirty="0">
                <a:latin typeface="Tahoma"/>
                <a:cs typeface="Tahoma"/>
              </a:rPr>
              <a:t>que</a:t>
            </a:r>
            <a:r>
              <a:rPr sz="2850" dirty="0">
                <a:latin typeface="Tahoma"/>
                <a:cs typeface="Tahoma"/>
              </a:rPr>
              <a:t>  </a:t>
            </a:r>
            <a:r>
              <a:rPr sz="2850" spc="75" dirty="0">
                <a:latin typeface="Tahoma"/>
                <a:cs typeface="Tahoma"/>
              </a:rPr>
              <a:t>la</a:t>
            </a:r>
            <a:r>
              <a:rPr sz="2850" dirty="0">
                <a:latin typeface="Tahoma"/>
                <a:cs typeface="Tahoma"/>
              </a:rPr>
              <a:t>  </a:t>
            </a:r>
            <a:r>
              <a:rPr sz="2850" spc="75" dirty="0">
                <a:latin typeface="Tahoma"/>
                <a:cs typeface="Tahoma"/>
              </a:rPr>
              <a:t>tarea </a:t>
            </a:r>
            <a:r>
              <a:rPr sz="2850" spc="110" dirty="0">
                <a:latin typeface="Tahoma"/>
                <a:cs typeface="Tahoma"/>
              </a:rPr>
              <a:t>predecesora</a:t>
            </a:r>
            <a:r>
              <a:rPr sz="2850" spc="80" dirty="0">
                <a:latin typeface="Tahoma"/>
                <a:cs typeface="Tahoma"/>
              </a:rPr>
              <a:t> haya</a:t>
            </a:r>
            <a:r>
              <a:rPr sz="2850" spc="85" dirty="0">
                <a:latin typeface="Tahoma"/>
                <a:cs typeface="Tahoma"/>
              </a:rPr>
              <a:t> </a:t>
            </a:r>
            <a:r>
              <a:rPr sz="2850" spc="75" dirty="0">
                <a:latin typeface="Tahoma"/>
                <a:cs typeface="Tahoma"/>
              </a:rPr>
              <a:t>finalizado.</a:t>
            </a:r>
            <a:r>
              <a:rPr sz="2850" spc="85" dirty="0">
                <a:latin typeface="Tahoma"/>
                <a:cs typeface="Tahoma"/>
              </a:rPr>
              <a:t> </a:t>
            </a:r>
            <a:r>
              <a:rPr sz="2850" spc="75" dirty="0">
                <a:latin typeface="Tahoma"/>
                <a:cs typeface="Tahoma"/>
              </a:rPr>
              <a:t>La</a:t>
            </a:r>
            <a:r>
              <a:rPr sz="2850" spc="80" dirty="0">
                <a:latin typeface="Tahoma"/>
                <a:cs typeface="Tahoma"/>
              </a:rPr>
              <a:t> </a:t>
            </a:r>
            <a:r>
              <a:rPr sz="2850" spc="85" dirty="0">
                <a:latin typeface="Tahoma"/>
                <a:cs typeface="Tahoma"/>
              </a:rPr>
              <a:t>tarea </a:t>
            </a:r>
            <a:r>
              <a:rPr sz="2850" spc="100" dirty="0">
                <a:latin typeface="Tahoma"/>
                <a:cs typeface="Tahoma"/>
              </a:rPr>
              <a:t>sucesora</a:t>
            </a:r>
            <a:r>
              <a:rPr sz="2850" spc="85" dirty="0">
                <a:latin typeface="Tahoma"/>
                <a:cs typeface="Tahoma"/>
              </a:rPr>
              <a:t> </a:t>
            </a:r>
            <a:r>
              <a:rPr sz="2850" spc="110" dirty="0">
                <a:latin typeface="Tahoma"/>
                <a:cs typeface="Tahoma"/>
              </a:rPr>
              <a:t>comienza</a:t>
            </a:r>
            <a:r>
              <a:rPr sz="2850" spc="80" dirty="0">
                <a:latin typeface="Tahoma"/>
                <a:cs typeface="Tahoma"/>
              </a:rPr>
              <a:t> </a:t>
            </a:r>
            <a:r>
              <a:rPr sz="2850" spc="120" dirty="0">
                <a:latin typeface="Tahoma"/>
                <a:cs typeface="Tahoma"/>
              </a:rPr>
              <a:t>en</a:t>
            </a:r>
            <a:r>
              <a:rPr sz="2850" spc="85" dirty="0">
                <a:latin typeface="Tahoma"/>
                <a:cs typeface="Tahoma"/>
              </a:rPr>
              <a:t> </a:t>
            </a:r>
            <a:r>
              <a:rPr sz="2850" spc="50" dirty="0">
                <a:latin typeface="Tahoma"/>
                <a:cs typeface="Tahoma"/>
              </a:rPr>
              <a:t>la </a:t>
            </a:r>
            <a:r>
              <a:rPr sz="2850" spc="80" dirty="0">
                <a:latin typeface="Tahoma"/>
                <a:cs typeface="Tahoma"/>
              </a:rPr>
              <a:t>fecha</a:t>
            </a:r>
            <a:r>
              <a:rPr sz="2850" spc="-140" dirty="0">
                <a:latin typeface="Tahoma"/>
                <a:cs typeface="Tahoma"/>
              </a:rPr>
              <a:t> </a:t>
            </a:r>
            <a:r>
              <a:rPr sz="2850" spc="125" dirty="0">
                <a:latin typeface="Tahoma"/>
                <a:cs typeface="Tahoma"/>
              </a:rPr>
              <a:t>de</a:t>
            </a:r>
            <a:r>
              <a:rPr sz="2850" spc="-135" dirty="0">
                <a:latin typeface="Tahoma"/>
                <a:cs typeface="Tahoma"/>
              </a:rPr>
              <a:t> </a:t>
            </a:r>
            <a:r>
              <a:rPr sz="2850" spc="85" dirty="0">
                <a:latin typeface="Tahoma"/>
                <a:cs typeface="Tahoma"/>
              </a:rPr>
              <a:t>finalización</a:t>
            </a:r>
            <a:r>
              <a:rPr sz="2850" spc="-135" dirty="0">
                <a:latin typeface="Tahoma"/>
                <a:cs typeface="Tahoma"/>
              </a:rPr>
              <a:t> </a:t>
            </a:r>
            <a:r>
              <a:rPr sz="2850" spc="125" dirty="0">
                <a:latin typeface="Tahoma"/>
                <a:cs typeface="Tahoma"/>
              </a:rPr>
              <a:t>de</a:t>
            </a:r>
            <a:r>
              <a:rPr sz="2850" spc="-135" dirty="0">
                <a:latin typeface="Tahoma"/>
                <a:cs typeface="Tahoma"/>
              </a:rPr>
              <a:t> </a:t>
            </a:r>
            <a:r>
              <a:rPr sz="2850" spc="75" dirty="0">
                <a:latin typeface="Tahoma"/>
                <a:cs typeface="Tahoma"/>
              </a:rPr>
              <a:t>la</a:t>
            </a:r>
            <a:r>
              <a:rPr sz="2850" spc="-135" dirty="0">
                <a:latin typeface="Tahoma"/>
                <a:cs typeface="Tahoma"/>
              </a:rPr>
              <a:t> </a:t>
            </a:r>
            <a:r>
              <a:rPr sz="2850" spc="85" dirty="0">
                <a:latin typeface="Tahoma"/>
                <a:cs typeface="Tahoma"/>
              </a:rPr>
              <a:t>tarea</a:t>
            </a:r>
            <a:r>
              <a:rPr sz="2850" spc="-135" dirty="0">
                <a:latin typeface="Tahoma"/>
                <a:cs typeface="Tahoma"/>
              </a:rPr>
              <a:t> </a:t>
            </a:r>
            <a:r>
              <a:rPr sz="2850" spc="80" dirty="0">
                <a:latin typeface="Tahoma"/>
                <a:cs typeface="Tahoma"/>
              </a:rPr>
              <a:t>predecesora.</a:t>
            </a:r>
            <a:endParaRPr sz="2850" dirty="0">
              <a:latin typeface="Tahoma"/>
              <a:cs typeface="Tahoma"/>
            </a:endParaRPr>
          </a:p>
        </p:txBody>
      </p:sp>
      <p:pic>
        <p:nvPicPr>
          <p:cNvPr id="16" name="object 16"/>
          <p:cNvPicPr/>
          <p:nvPr/>
        </p:nvPicPr>
        <p:blipFill>
          <a:blip r:embed="rId3" cstate="print"/>
          <a:stretch>
            <a:fillRect/>
          </a:stretch>
        </p:blipFill>
        <p:spPr>
          <a:xfrm>
            <a:off x="3955968" y="5624138"/>
            <a:ext cx="10372709" cy="35337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6613" y="971002"/>
            <a:ext cx="9047935" cy="1690206"/>
          </a:xfrm>
          <a:prstGeom prst="rect">
            <a:avLst/>
          </a:prstGeom>
        </p:spPr>
        <p:txBody>
          <a:bodyPr vert="horz" wrap="square" lIns="0" tIns="12700" rIns="0" bIns="0" rtlCol="0">
            <a:spAutoFit/>
          </a:bodyPr>
          <a:lstStyle/>
          <a:p>
            <a:pPr marL="1587500" algn="ctr">
              <a:lnSpc>
                <a:spcPct val="100000"/>
              </a:lnSpc>
              <a:spcBef>
                <a:spcPts val="100"/>
              </a:spcBef>
            </a:pPr>
            <a:r>
              <a:rPr dirty="0"/>
              <a:t>TAREAS DE FIN A FIN (FF</a:t>
            </a:r>
            <a:r>
              <a:rPr lang="es-GT" dirty="0"/>
              <a:t>)</a:t>
            </a:r>
            <a:endParaRPr dirty="0"/>
          </a:p>
        </p:txBody>
      </p:sp>
      <p:pic>
        <p:nvPicPr>
          <p:cNvPr id="3" name="object 3"/>
          <p:cNvPicPr/>
          <p:nvPr/>
        </p:nvPicPr>
        <p:blipFill>
          <a:blip r:embed="rId2" cstate="print"/>
          <a:stretch>
            <a:fillRect/>
          </a:stretch>
        </p:blipFill>
        <p:spPr>
          <a:xfrm>
            <a:off x="3411717" y="3216371"/>
            <a:ext cx="123825" cy="123825"/>
          </a:xfrm>
          <a:prstGeom prst="rect">
            <a:avLst/>
          </a:prstGeom>
        </p:spPr>
      </p:pic>
      <p:sp>
        <p:nvSpPr>
          <p:cNvPr id="4" name="object 4"/>
          <p:cNvSpPr txBox="1"/>
          <p:nvPr/>
        </p:nvSpPr>
        <p:spPr>
          <a:xfrm>
            <a:off x="3711556" y="2952458"/>
            <a:ext cx="10793730" cy="1539875"/>
          </a:xfrm>
          <a:prstGeom prst="rect">
            <a:avLst/>
          </a:prstGeom>
        </p:spPr>
        <p:txBody>
          <a:bodyPr vert="horz" wrap="square" lIns="0" tIns="12700" rIns="0" bIns="0" rtlCol="0">
            <a:spAutoFit/>
          </a:bodyPr>
          <a:lstStyle/>
          <a:p>
            <a:pPr marL="12700" marR="5080" algn="just">
              <a:lnSpc>
                <a:spcPct val="116199"/>
              </a:lnSpc>
              <a:spcBef>
                <a:spcPts val="100"/>
              </a:spcBef>
            </a:pPr>
            <a:r>
              <a:rPr sz="2850" spc="75" dirty="0">
                <a:latin typeface="Tahoma"/>
                <a:cs typeface="Tahoma"/>
              </a:rPr>
              <a:t>La</a:t>
            </a:r>
            <a:r>
              <a:rPr sz="2850" spc="135" dirty="0">
                <a:latin typeface="Tahoma"/>
                <a:cs typeface="Tahoma"/>
              </a:rPr>
              <a:t>  </a:t>
            </a:r>
            <a:r>
              <a:rPr sz="2850" spc="85" dirty="0">
                <a:latin typeface="Tahoma"/>
                <a:cs typeface="Tahoma"/>
              </a:rPr>
              <a:t>tarea</a:t>
            </a:r>
            <a:r>
              <a:rPr sz="2850" spc="150" dirty="0">
                <a:latin typeface="Tahoma"/>
                <a:cs typeface="Tahoma"/>
              </a:rPr>
              <a:t>  </a:t>
            </a:r>
            <a:r>
              <a:rPr sz="2850" spc="100" dirty="0">
                <a:latin typeface="Tahoma"/>
                <a:cs typeface="Tahoma"/>
              </a:rPr>
              <a:t>sucesora</a:t>
            </a:r>
            <a:r>
              <a:rPr sz="2850" spc="140" dirty="0">
                <a:latin typeface="Tahoma"/>
                <a:cs typeface="Tahoma"/>
              </a:rPr>
              <a:t>  </a:t>
            </a:r>
            <a:r>
              <a:rPr sz="2850" spc="160" dirty="0">
                <a:latin typeface="Tahoma"/>
                <a:cs typeface="Tahoma"/>
              </a:rPr>
              <a:t>no</a:t>
            </a:r>
            <a:r>
              <a:rPr sz="2850" spc="150" dirty="0">
                <a:latin typeface="Tahoma"/>
                <a:cs typeface="Tahoma"/>
              </a:rPr>
              <a:t>  </a:t>
            </a:r>
            <a:r>
              <a:rPr sz="2850" spc="130" dirty="0">
                <a:latin typeface="Tahoma"/>
                <a:cs typeface="Tahoma"/>
              </a:rPr>
              <a:t>puede</a:t>
            </a:r>
            <a:r>
              <a:rPr sz="2850" spc="145" dirty="0">
                <a:latin typeface="Tahoma"/>
                <a:cs typeface="Tahoma"/>
              </a:rPr>
              <a:t>  </a:t>
            </a:r>
            <a:r>
              <a:rPr sz="2850" spc="80" dirty="0">
                <a:latin typeface="Tahoma"/>
                <a:cs typeface="Tahoma"/>
              </a:rPr>
              <a:t>finalizar</a:t>
            </a:r>
            <a:r>
              <a:rPr sz="2850" spc="150" dirty="0">
                <a:latin typeface="Tahoma"/>
                <a:cs typeface="Tahoma"/>
              </a:rPr>
              <a:t>  </a:t>
            </a:r>
            <a:r>
              <a:rPr sz="2850" spc="90" dirty="0">
                <a:latin typeface="Tahoma"/>
                <a:cs typeface="Tahoma"/>
              </a:rPr>
              <a:t>hasta</a:t>
            </a:r>
            <a:r>
              <a:rPr sz="2850" spc="145" dirty="0">
                <a:latin typeface="Tahoma"/>
                <a:cs typeface="Tahoma"/>
              </a:rPr>
              <a:t>  </a:t>
            </a:r>
            <a:r>
              <a:rPr sz="2850" spc="135" dirty="0">
                <a:latin typeface="Tahoma"/>
                <a:cs typeface="Tahoma"/>
              </a:rPr>
              <a:t>que</a:t>
            </a:r>
            <a:r>
              <a:rPr sz="2850" spc="145" dirty="0">
                <a:latin typeface="Tahoma"/>
                <a:cs typeface="Tahoma"/>
              </a:rPr>
              <a:t>  </a:t>
            </a:r>
            <a:r>
              <a:rPr sz="2850" spc="75" dirty="0">
                <a:latin typeface="Tahoma"/>
                <a:cs typeface="Tahoma"/>
              </a:rPr>
              <a:t>la</a:t>
            </a:r>
            <a:r>
              <a:rPr sz="2850" spc="150" dirty="0">
                <a:latin typeface="Tahoma"/>
                <a:cs typeface="Tahoma"/>
              </a:rPr>
              <a:t>  </a:t>
            </a:r>
            <a:r>
              <a:rPr sz="2850" spc="75" dirty="0">
                <a:latin typeface="Tahoma"/>
                <a:cs typeface="Tahoma"/>
              </a:rPr>
              <a:t>tarea </a:t>
            </a:r>
            <a:r>
              <a:rPr sz="2850" spc="110" dirty="0">
                <a:latin typeface="Tahoma"/>
                <a:cs typeface="Tahoma"/>
              </a:rPr>
              <a:t>predecesora</a:t>
            </a:r>
            <a:r>
              <a:rPr sz="2850" spc="190" dirty="0">
                <a:latin typeface="Tahoma"/>
                <a:cs typeface="Tahoma"/>
              </a:rPr>
              <a:t> </a:t>
            </a:r>
            <a:r>
              <a:rPr sz="2850" spc="80" dirty="0">
                <a:latin typeface="Tahoma"/>
                <a:cs typeface="Tahoma"/>
              </a:rPr>
              <a:t>haya</a:t>
            </a:r>
            <a:r>
              <a:rPr sz="2850" spc="190" dirty="0">
                <a:latin typeface="Tahoma"/>
                <a:cs typeface="Tahoma"/>
              </a:rPr>
              <a:t> </a:t>
            </a:r>
            <a:r>
              <a:rPr sz="2850" spc="75" dirty="0">
                <a:latin typeface="Tahoma"/>
                <a:cs typeface="Tahoma"/>
              </a:rPr>
              <a:t>finalizado.</a:t>
            </a:r>
            <a:r>
              <a:rPr sz="2850" spc="190" dirty="0">
                <a:latin typeface="Tahoma"/>
                <a:cs typeface="Tahoma"/>
              </a:rPr>
              <a:t> </a:t>
            </a:r>
            <a:r>
              <a:rPr sz="2850" spc="135" dirty="0">
                <a:latin typeface="Tahoma"/>
                <a:cs typeface="Tahoma"/>
              </a:rPr>
              <a:t>Ambas</a:t>
            </a:r>
            <a:r>
              <a:rPr sz="2850" spc="190" dirty="0">
                <a:latin typeface="Tahoma"/>
                <a:cs typeface="Tahoma"/>
              </a:rPr>
              <a:t> </a:t>
            </a:r>
            <a:r>
              <a:rPr sz="2850" spc="85" dirty="0">
                <a:latin typeface="Tahoma"/>
                <a:cs typeface="Tahoma"/>
              </a:rPr>
              <a:t>tareas</a:t>
            </a:r>
            <a:r>
              <a:rPr sz="2850" spc="185" dirty="0">
                <a:latin typeface="Tahoma"/>
                <a:cs typeface="Tahoma"/>
              </a:rPr>
              <a:t> </a:t>
            </a:r>
            <a:r>
              <a:rPr sz="2850" spc="130" dirty="0">
                <a:latin typeface="Tahoma"/>
                <a:cs typeface="Tahoma"/>
              </a:rPr>
              <a:t>deben</a:t>
            </a:r>
            <a:r>
              <a:rPr sz="2850" spc="190" dirty="0">
                <a:latin typeface="Tahoma"/>
                <a:cs typeface="Tahoma"/>
              </a:rPr>
              <a:t> </a:t>
            </a:r>
            <a:r>
              <a:rPr sz="2850" spc="95" dirty="0">
                <a:latin typeface="Tahoma"/>
                <a:cs typeface="Tahoma"/>
              </a:rPr>
              <a:t>coincidir</a:t>
            </a:r>
            <a:r>
              <a:rPr sz="2850" spc="190" dirty="0">
                <a:latin typeface="Tahoma"/>
                <a:cs typeface="Tahoma"/>
              </a:rPr>
              <a:t> </a:t>
            </a:r>
            <a:r>
              <a:rPr sz="2850" spc="95" dirty="0">
                <a:latin typeface="Tahoma"/>
                <a:cs typeface="Tahoma"/>
              </a:rPr>
              <a:t>en </a:t>
            </a:r>
            <a:r>
              <a:rPr sz="2850" spc="120" dirty="0">
                <a:latin typeface="Tahoma"/>
                <a:cs typeface="Tahoma"/>
              </a:rPr>
              <a:t>su</a:t>
            </a:r>
            <a:r>
              <a:rPr sz="2850" spc="-145" dirty="0">
                <a:latin typeface="Tahoma"/>
                <a:cs typeface="Tahoma"/>
              </a:rPr>
              <a:t> </a:t>
            </a:r>
            <a:r>
              <a:rPr sz="2850" spc="80" dirty="0">
                <a:latin typeface="Tahoma"/>
                <a:cs typeface="Tahoma"/>
              </a:rPr>
              <a:t>fecha</a:t>
            </a:r>
            <a:r>
              <a:rPr sz="2850" spc="-140" dirty="0">
                <a:latin typeface="Tahoma"/>
                <a:cs typeface="Tahoma"/>
              </a:rPr>
              <a:t> </a:t>
            </a:r>
            <a:r>
              <a:rPr sz="2850" spc="125" dirty="0">
                <a:latin typeface="Tahoma"/>
                <a:cs typeface="Tahoma"/>
              </a:rPr>
              <a:t>de</a:t>
            </a:r>
            <a:r>
              <a:rPr sz="2850" spc="-145" dirty="0">
                <a:latin typeface="Tahoma"/>
                <a:cs typeface="Tahoma"/>
              </a:rPr>
              <a:t> </a:t>
            </a:r>
            <a:r>
              <a:rPr sz="2850" spc="60" dirty="0">
                <a:latin typeface="Tahoma"/>
                <a:cs typeface="Tahoma"/>
              </a:rPr>
              <a:t>finalización.</a:t>
            </a:r>
            <a:endParaRPr sz="2850">
              <a:latin typeface="Tahoma"/>
              <a:cs typeface="Tahoma"/>
            </a:endParaRPr>
          </a:p>
        </p:txBody>
      </p:sp>
      <p:pic>
        <p:nvPicPr>
          <p:cNvPr id="16" name="object 16"/>
          <p:cNvPicPr/>
          <p:nvPr/>
        </p:nvPicPr>
        <p:blipFill>
          <a:blip r:embed="rId3" cstate="print"/>
          <a:stretch>
            <a:fillRect/>
          </a:stretch>
        </p:blipFill>
        <p:spPr>
          <a:xfrm>
            <a:off x="3893405" y="5219700"/>
            <a:ext cx="11096609" cy="371474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0" y="1656669"/>
            <a:ext cx="10386912" cy="1690206"/>
          </a:xfrm>
          <a:prstGeom prst="rect">
            <a:avLst/>
          </a:prstGeom>
        </p:spPr>
        <p:txBody>
          <a:bodyPr vert="horz" wrap="square" lIns="0" tIns="12700" rIns="0" bIns="0" rtlCol="0">
            <a:spAutoFit/>
          </a:bodyPr>
          <a:lstStyle/>
          <a:p>
            <a:pPr marL="1545590" algn="ctr">
              <a:lnSpc>
                <a:spcPct val="100000"/>
              </a:lnSpc>
              <a:spcBef>
                <a:spcPts val="100"/>
              </a:spcBef>
            </a:pPr>
            <a:r>
              <a:rPr dirty="0"/>
              <a:t>¿QUÉ ES UNA TAREA RESUMEN?</a:t>
            </a:r>
          </a:p>
        </p:txBody>
      </p:sp>
      <p:sp>
        <p:nvSpPr>
          <p:cNvPr id="15" name="object 15"/>
          <p:cNvSpPr txBox="1">
            <a:spLocks noGrp="1"/>
          </p:cNvSpPr>
          <p:nvPr>
            <p:ph type="body" idx="1"/>
          </p:nvPr>
        </p:nvSpPr>
        <p:spPr>
          <a:xfrm>
            <a:off x="1612232" y="4104368"/>
            <a:ext cx="15713242" cy="2569293"/>
          </a:xfrm>
          <a:prstGeom prst="rect">
            <a:avLst/>
          </a:prstGeom>
        </p:spPr>
        <p:txBody>
          <a:bodyPr vert="horz" wrap="square" lIns="0" tIns="12700" rIns="0" bIns="0" rtlCol="0">
            <a:spAutoFit/>
          </a:bodyPr>
          <a:lstStyle/>
          <a:p>
            <a:pPr marL="12700" marR="5080" algn="just">
              <a:lnSpc>
                <a:spcPct val="116199"/>
              </a:lnSpc>
              <a:spcBef>
                <a:spcPts val="100"/>
              </a:spcBef>
            </a:pPr>
            <a:r>
              <a:rPr dirty="0"/>
              <a:t>Es</a:t>
            </a:r>
            <a:r>
              <a:rPr spc="459" dirty="0"/>
              <a:t> </a:t>
            </a:r>
            <a:r>
              <a:rPr spc="130" dirty="0"/>
              <a:t>una</a:t>
            </a:r>
            <a:r>
              <a:rPr spc="459" dirty="0"/>
              <a:t> </a:t>
            </a:r>
            <a:r>
              <a:rPr spc="85" dirty="0"/>
              <a:t>tarea</a:t>
            </a:r>
            <a:r>
              <a:rPr spc="459" dirty="0"/>
              <a:t> </a:t>
            </a:r>
            <a:r>
              <a:rPr spc="85" dirty="0"/>
              <a:t>especial</a:t>
            </a:r>
            <a:r>
              <a:rPr spc="459" dirty="0"/>
              <a:t> </a:t>
            </a:r>
            <a:r>
              <a:rPr spc="120" dirty="0"/>
              <a:t>en</a:t>
            </a:r>
            <a:r>
              <a:rPr spc="465" dirty="0"/>
              <a:t> </a:t>
            </a:r>
            <a:r>
              <a:rPr spc="75" dirty="0"/>
              <a:t>la</a:t>
            </a:r>
            <a:r>
              <a:rPr spc="459" dirty="0"/>
              <a:t> </a:t>
            </a:r>
            <a:r>
              <a:rPr spc="80" dirty="0"/>
              <a:t>gestión</a:t>
            </a:r>
            <a:r>
              <a:rPr spc="459" dirty="0"/>
              <a:t> </a:t>
            </a:r>
            <a:r>
              <a:rPr spc="125" dirty="0"/>
              <a:t>de</a:t>
            </a:r>
            <a:r>
              <a:rPr spc="459" dirty="0"/>
              <a:t> </a:t>
            </a:r>
            <a:r>
              <a:rPr spc="95" dirty="0"/>
              <a:t>proyectos</a:t>
            </a:r>
            <a:r>
              <a:rPr spc="459" dirty="0"/>
              <a:t> </a:t>
            </a:r>
            <a:r>
              <a:rPr spc="120" dirty="0"/>
              <a:t>en</a:t>
            </a:r>
            <a:r>
              <a:rPr spc="459" dirty="0"/>
              <a:t> </a:t>
            </a:r>
            <a:r>
              <a:rPr spc="55" dirty="0"/>
              <a:t>general.</a:t>
            </a:r>
            <a:r>
              <a:rPr spc="459" dirty="0"/>
              <a:t> </a:t>
            </a:r>
            <a:r>
              <a:rPr spc="-25" dirty="0"/>
              <a:t>Se </a:t>
            </a:r>
            <a:r>
              <a:rPr spc="75" dirty="0"/>
              <a:t>utiliza</a:t>
            </a:r>
            <a:r>
              <a:rPr spc="145" dirty="0"/>
              <a:t> </a:t>
            </a:r>
            <a:r>
              <a:rPr spc="114" dirty="0"/>
              <a:t>para</a:t>
            </a:r>
            <a:r>
              <a:rPr spc="155" dirty="0"/>
              <a:t> </a:t>
            </a:r>
            <a:r>
              <a:rPr spc="100" dirty="0"/>
              <a:t>agrupar</a:t>
            </a:r>
            <a:r>
              <a:rPr spc="155" dirty="0"/>
              <a:t> </a:t>
            </a:r>
            <a:r>
              <a:rPr dirty="0"/>
              <a:t>y</a:t>
            </a:r>
            <a:r>
              <a:rPr spc="155" dirty="0"/>
              <a:t> </a:t>
            </a:r>
            <a:r>
              <a:rPr spc="125" dirty="0"/>
              <a:t>resumir</a:t>
            </a:r>
            <a:r>
              <a:rPr spc="155" dirty="0"/>
              <a:t> un</a:t>
            </a:r>
            <a:r>
              <a:rPr spc="160" dirty="0"/>
              <a:t> </a:t>
            </a:r>
            <a:r>
              <a:rPr spc="95" dirty="0"/>
              <a:t>conjunto</a:t>
            </a:r>
            <a:r>
              <a:rPr spc="155" dirty="0"/>
              <a:t> </a:t>
            </a:r>
            <a:r>
              <a:rPr spc="125" dirty="0"/>
              <a:t>de</a:t>
            </a:r>
            <a:r>
              <a:rPr spc="155" dirty="0"/>
              <a:t> </a:t>
            </a:r>
            <a:r>
              <a:rPr spc="85" dirty="0"/>
              <a:t>tareas</a:t>
            </a:r>
            <a:r>
              <a:rPr spc="155" dirty="0"/>
              <a:t> </a:t>
            </a:r>
            <a:r>
              <a:rPr spc="90" dirty="0"/>
              <a:t>relacionadas </a:t>
            </a:r>
            <a:r>
              <a:rPr spc="135" dirty="0"/>
              <a:t>que</a:t>
            </a:r>
            <a:r>
              <a:rPr spc="-95" dirty="0"/>
              <a:t> </a:t>
            </a:r>
            <a:r>
              <a:rPr spc="140" dirty="0"/>
              <a:t>forman</a:t>
            </a:r>
            <a:r>
              <a:rPr spc="-90" dirty="0"/>
              <a:t> </a:t>
            </a:r>
            <a:r>
              <a:rPr spc="100" dirty="0"/>
              <a:t>parte</a:t>
            </a:r>
            <a:r>
              <a:rPr spc="-90" dirty="0"/>
              <a:t> </a:t>
            </a:r>
            <a:r>
              <a:rPr spc="125" dirty="0"/>
              <a:t>de</a:t>
            </a:r>
            <a:r>
              <a:rPr spc="-90" dirty="0"/>
              <a:t> </a:t>
            </a:r>
            <a:r>
              <a:rPr spc="130" dirty="0"/>
              <a:t>una</a:t>
            </a:r>
            <a:r>
              <a:rPr spc="-95" dirty="0"/>
              <a:t> </a:t>
            </a:r>
            <a:r>
              <a:rPr spc="75" dirty="0"/>
              <a:t>fase</a:t>
            </a:r>
            <a:r>
              <a:rPr spc="-90" dirty="0"/>
              <a:t> </a:t>
            </a:r>
            <a:r>
              <a:rPr spc="170" dirty="0"/>
              <a:t>o</a:t>
            </a:r>
            <a:r>
              <a:rPr spc="-90" dirty="0"/>
              <a:t> </a:t>
            </a:r>
            <a:r>
              <a:rPr spc="95" dirty="0"/>
              <a:t>etapa</a:t>
            </a:r>
            <a:r>
              <a:rPr spc="-90" dirty="0"/>
              <a:t> </a:t>
            </a:r>
            <a:r>
              <a:rPr spc="105" dirty="0"/>
              <a:t>del</a:t>
            </a:r>
            <a:r>
              <a:rPr spc="-90" dirty="0"/>
              <a:t> </a:t>
            </a:r>
            <a:r>
              <a:rPr spc="100" dirty="0"/>
              <a:t>proyecto</a:t>
            </a:r>
            <a:r>
              <a:rPr spc="-95" dirty="0"/>
              <a:t> </a:t>
            </a:r>
            <a:r>
              <a:rPr spc="140" dirty="0"/>
              <a:t>más</a:t>
            </a:r>
            <a:r>
              <a:rPr spc="-90" dirty="0"/>
              <a:t> </a:t>
            </a:r>
            <a:r>
              <a:rPr spc="70" dirty="0"/>
              <a:t>grande.</a:t>
            </a:r>
            <a:r>
              <a:rPr spc="-90" dirty="0"/>
              <a:t> </a:t>
            </a:r>
            <a:r>
              <a:rPr spc="50" dirty="0"/>
              <a:t>La </a:t>
            </a:r>
            <a:r>
              <a:rPr spc="85" dirty="0"/>
              <a:t>tarea</a:t>
            </a:r>
            <a:r>
              <a:rPr spc="575" dirty="0"/>
              <a:t> </a:t>
            </a:r>
            <a:r>
              <a:rPr spc="135" dirty="0"/>
              <a:t>resumen</a:t>
            </a:r>
            <a:r>
              <a:rPr spc="590" dirty="0"/>
              <a:t> </a:t>
            </a:r>
            <a:r>
              <a:rPr spc="160" dirty="0"/>
              <a:t>no</a:t>
            </a:r>
            <a:r>
              <a:rPr spc="585" dirty="0"/>
              <a:t> </a:t>
            </a:r>
            <a:r>
              <a:rPr spc="105" dirty="0"/>
              <a:t>representa</a:t>
            </a:r>
            <a:r>
              <a:rPr spc="590" dirty="0"/>
              <a:t> </a:t>
            </a:r>
            <a:r>
              <a:rPr spc="130" dirty="0"/>
              <a:t>una</a:t>
            </a:r>
            <a:r>
              <a:rPr spc="585" dirty="0"/>
              <a:t> </a:t>
            </a:r>
            <a:r>
              <a:rPr spc="80" dirty="0"/>
              <a:t>actividad</a:t>
            </a:r>
            <a:r>
              <a:rPr spc="590" dirty="0"/>
              <a:t> </a:t>
            </a:r>
            <a:r>
              <a:rPr spc="90" dirty="0"/>
              <a:t>real</a:t>
            </a:r>
            <a:r>
              <a:rPr spc="585" dirty="0"/>
              <a:t> </a:t>
            </a:r>
            <a:r>
              <a:rPr spc="135" dirty="0"/>
              <a:t>que</a:t>
            </a:r>
            <a:r>
              <a:rPr spc="590" dirty="0"/>
              <a:t> </a:t>
            </a:r>
            <a:r>
              <a:rPr spc="85" dirty="0"/>
              <a:t>se</a:t>
            </a:r>
            <a:r>
              <a:rPr spc="585" dirty="0"/>
              <a:t> </a:t>
            </a:r>
            <a:r>
              <a:rPr spc="60" dirty="0"/>
              <a:t>lleve</a:t>
            </a:r>
            <a:r>
              <a:rPr spc="590" dirty="0"/>
              <a:t> </a:t>
            </a:r>
            <a:r>
              <a:rPr spc="40" dirty="0"/>
              <a:t>a </a:t>
            </a:r>
            <a:r>
              <a:rPr spc="55" dirty="0"/>
              <a:t>cabo,</a:t>
            </a:r>
            <a:r>
              <a:rPr spc="114" dirty="0"/>
              <a:t>  sino  </a:t>
            </a:r>
            <a:r>
              <a:rPr spc="135" dirty="0"/>
              <a:t>que</a:t>
            </a:r>
            <a:r>
              <a:rPr spc="114" dirty="0"/>
              <a:t>  </a:t>
            </a:r>
            <a:r>
              <a:rPr spc="80" dirty="0"/>
              <a:t>actúa</a:t>
            </a:r>
            <a:r>
              <a:rPr spc="114" dirty="0"/>
              <a:t>  </a:t>
            </a:r>
            <a:r>
              <a:rPr spc="155" dirty="0"/>
              <a:t>como</a:t>
            </a:r>
            <a:r>
              <a:rPr spc="120" dirty="0"/>
              <a:t>  </a:t>
            </a:r>
            <a:r>
              <a:rPr spc="155" dirty="0"/>
              <a:t>un</a:t>
            </a:r>
            <a:r>
              <a:rPr spc="114" dirty="0"/>
              <a:t>  contenedor</a:t>
            </a:r>
            <a:r>
              <a:rPr spc="120" dirty="0"/>
              <a:t>  </a:t>
            </a:r>
            <a:r>
              <a:rPr spc="114" dirty="0"/>
              <a:t>para</a:t>
            </a:r>
            <a:r>
              <a:rPr spc="110" dirty="0"/>
              <a:t>  </a:t>
            </a:r>
            <a:r>
              <a:rPr spc="85" dirty="0"/>
              <a:t>tareas</a:t>
            </a:r>
            <a:r>
              <a:rPr spc="120" dirty="0"/>
              <a:t>  </a:t>
            </a:r>
            <a:r>
              <a:rPr spc="114" dirty="0"/>
              <a:t>más </a:t>
            </a:r>
            <a:r>
              <a:rPr spc="95" dirty="0"/>
              <a:t>detalladas</a:t>
            </a:r>
            <a:r>
              <a:rPr spc="-55" dirty="0"/>
              <a:t>  </a:t>
            </a:r>
            <a:r>
              <a:rPr dirty="0"/>
              <a:t>y</a:t>
            </a:r>
            <a:r>
              <a:rPr spc="-50" dirty="0"/>
              <a:t>  </a:t>
            </a:r>
            <a:r>
              <a:rPr spc="85" dirty="0"/>
              <a:t>se</a:t>
            </a:r>
            <a:r>
              <a:rPr spc="-55" dirty="0"/>
              <a:t>  </a:t>
            </a:r>
            <a:r>
              <a:rPr spc="75" dirty="0"/>
              <a:t>utiliza</a:t>
            </a:r>
            <a:r>
              <a:rPr spc="-50" dirty="0"/>
              <a:t>  </a:t>
            </a:r>
            <a:r>
              <a:rPr spc="114" dirty="0"/>
              <a:t>para</a:t>
            </a:r>
            <a:r>
              <a:rPr spc="-50" dirty="0"/>
              <a:t>  </a:t>
            </a:r>
            <a:r>
              <a:rPr spc="95" dirty="0"/>
              <a:t>organizar</a:t>
            </a:r>
            <a:r>
              <a:rPr spc="-55" dirty="0"/>
              <a:t>  </a:t>
            </a:r>
            <a:r>
              <a:rPr dirty="0"/>
              <a:t>y</a:t>
            </a:r>
            <a:r>
              <a:rPr spc="-50" dirty="0"/>
              <a:t>  </a:t>
            </a:r>
            <a:r>
              <a:rPr spc="75" dirty="0"/>
              <a:t>visualizar</a:t>
            </a:r>
            <a:r>
              <a:rPr spc="-55" dirty="0"/>
              <a:t>  </a:t>
            </a:r>
            <a:r>
              <a:rPr spc="75" dirty="0"/>
              <a:t>la</a:t>
            </a:r>
            <a:r>
              <a:rPr spc="-50" dirty="0"/>
              <a:t>  </a:t>
            </a:r>
            <a:r>
              <a:rPr spc="85" dirty="0"/>
              <a:t>estructura jerárquica</a:t>
            </a:r>
            <a:r>
              <a:rPr spc="-145" dirty="0"/>
              <a:t> </a:t>
            </a:r>
            <a:r>
              <a:rPr spc="105" dirty="0"/>
              <a:t>del</a:t>
            </a:r>
            <a:r>
              <a:rPr spc="-145" dirty="0"/>
              <a:t> </a:t>
            </a:r>
            <a:r>
              <a:rPr spc="65" dirty="0"/>
              <a:t>proyecto.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2421" y="2099717"/>
            <a:ext cx="10386912" cy="856614"/>
          </a:xfrm>
          <a:prstGeom prst="rect">
            <a:avLst/>
          </a:prstGeom>
        </p:spPr>
        <p:txBody>
          <a:bodyPr vert="horz" wrap="square" lIns="0" tIns="12700" rIns="0" bIns="0" rtlCol="0">
            <a:spAutoFit/>
          </a:bodyPr>
          <a:lstStyle/>
          <a:p>
            <a:pPr marL="3122930">
              <a:lnSpc>
                <a:spcPct val="100000"/>
              </a:lnSpc>
              <a:spcBef>
                <a:spcPts val="100"/>
              </a:spcBef>
            </a:pPr>
            <a:r>
              <a:rPr dirty="0"/>
              <a:t>¿QUE ES UN HITO?</a:t>
            </a:r>
          </a:p>
        </p:txBody>
      </p:sp>
      <p:sp>
        <p:nvSpPr>
          <p:cNvPr id="15" name="object 15"/>
          <p:cNvSpPr txBox="1">
            <a:spLocks noGrp="1"/>
          </p:cNvSpPr>
          <p:nvPr>
            <p:ph type="body" idx="1"/>
          </p:nvPr>
        </p:nvSpPr>
        <p:spPr>
          <a:xfrm>
            <a:off x="3810000" y="3500267"/>
            <a:ext cx="11410950" cy="3559175"/>
          </a:xfrm>
          <a:prstGeom prst="rect">
            <a:avLst/>
          </a:prstGeom>
        </p:spPr>
        <p:txBody>
          <a:bodyPr vert="horz" wrap="square" lIns="0" tIns="12700" rIns="0" bIns="0" rtlCol="0">
            <a:spAutoFit/>
          </a:bodyPr>
          <a:lstStyle/>
          <a:p>
            <a:pPr marL="12700" marR="5080" algn="just">
              <a:lnSpc>
                <a:spcPct val="116199"/>
              </a:lnSpc>
              <a:spcBef>
                <a:spcPts val="100"/>
              </a:spcBef>
            </a:pPr>
            <a:r>
              <a:rPr spc="180" dirty="0"/>
              <a:t>Un</a:t>
            </a:r>
            <a:r>
              <a:rPr spc="220" dirty="0"/>
              <a:t>  </a:t>
            </a:r>
            <a:r>
              <a:rPr spc="110" dirty="0"/>
              <a:t>hito</a:t>
            </a:r>
            <a:r>
              <a:rPr spc="220" dirty="0"/>
              <a:t>  </a:t>
            </a:r>
            <a:r>
              <a:rPr spc="120" dirty="0"/>
              <a:t>en</a:t>
            </a:r>
            <a:r>
              <a:rPr spc="225" dirty="0"/>
              <a:t>  </a:t>
            </a:r>
            <a:r>
              <a:rPr spc="75" dirty="0"/>
              <a:t>la</a:t>
            </a:r>
            <a:r>
              <a:rPr spc="220" dirty="0"/>
              <a:t>  </a:t>
            </a:r>
            <a:r>
              <a:rPr spc="80" dirty="0"/>
              <a:t>gestión</a:t>
            </a:r>
            <a:r>
              <a:rPr spc="220" dirty="0"/>
              <a:t>  </a:t>
            </a:r>
            <a:r>
              <a:rPr spc="125" dirty="0"/>
              <a:t>de</a:t>
            </a:r>
            <a:r>
              <a:rPr spc="220" dirty="0"/>
              <a:t>  </a:t>
            </a:r>
            <a:r>
              <a:rPr spc="95" dirty="0"/>
              <a:t>proyectos</a:t>
            </a:r>
            <a:r>
              <a:rPr spc="220" dirty="0"/>
              <a:t>  </a:t>
            </a:r>
            <a:r>
              <a:rPr spc="85" dirty="0"/>
              <a:t>es</a:t>
            </a:r>
            <a:r>
              <a:rPr spc="225" dirty="0"/>
              <a:t>  </a:t>
            </a:r>
            <a:r>
              <a:rPr spc="155" dirty="0"/>
              <a:t>un</a:t>
            </a:r>
            <a:r>
              <a:rPr spc="220" dirty="0"/>
              <a:t>  </a:t>
            </a:r>
            <a:r>
              <a:rPr spc="90" dirty="0"/>
              <a:t>evento</a:t>
            </a:r>
            <a:r>
              <a:rPr spc="220" dirty="0"/>
              <a:t>  </a:t>
            </a:r>
            <a:r>
              <a:rPr spc="170" dirty="0"/>
              <a:t>o</a:t>
            </a:r>
            <a:r>
              <a:rPr spc="220" dirty="0"/>
              <a:t>  </a:t>
            </a:r>
            <a:r>
              <a:rPr spc="90" dirty="0"/>
              <a:t>logro </a:t>
            </a:r>
            <a:r>
              <a:rPr spc="65" dirty="0"/>
              <a:t>significativo</a:t>
            </a:r>
            <a:r>
              <a:rPr spc="-95" dirty="0"/>
              <a:t> </a:t>
            </a:r>
            <a:r>
              <a:rPr spc="135" dirty="0"/>
              <a:t>que</a:t>
            </a:r>
            <a:r>
              <a:rPr spc="-90" dirty="0"/>
              <a:t> </a:t>
            </a:r>
            <a:r>
              <a:rPr spc="114" dirty="0"/>
              <a:t>marca</a:t>
            </a:r>
            <a:r>
              <a:rPr spc="-90" dirty="0"/>
              <a:t> </a:t>
            </a:r>
            <a:r>
              <a:rPr spc="155" dirty="0"/>
              <a:t>un</a:t>
            </a:r>
            <a:r>
              <a:rPr spc="-90" dirty="0"/>
              <a:t> </a:t>
            </a:r>
            <a:r>
              <a:rPr spc="135" dirty="0"/>
              <a:t>punto</a:t>
            </a:r>
            <a:r>
              <a:rPr spc="-90" dirty="0"/>
              <a:t> </a:t>
            </a:r>
            <a:r>
              <a:rPr spc="50" dirty="0"/>
              <a:t>clave</a:t>
            </a:r>
            <a:r>
              <a:rPr spc="-90" dirty="0"/>
              <a:t> </a:t>
            </a:r>
            <a:r>
              <a:rPr spc="120" dirty="0"/>
              <a:t>en</a:t>
            </a:r>
            <a:r>
              <a:rPr spc="-90" dirty="0"/>
              <a:t> </a:t>
            </a:r>
            <a:r>
              <a:rPr spc="75" dirty="0"/>
              <a:t>el</a:t>
            </a:r>
            <a:r>
              <a:rPr spc="-90" dirty="0"/>
              <a:t> </a:t>
            </a:r>
            <a:r>
              <a:rPr spc="110" dirty="0"/>
              <a:t>progreso</a:t>
            </a:r>
            <a:r>
              <a:rPr spc="-90" dirty="0"/>
              <a:t> </a:t>
            </a:r>
            <a:r>
              <a:rPr spc="105" dirty="0"/>
              <a:t>del</a:t>
            </a:r>
            <a:r>
              <a:rPr spc="-90" dirty="0"/>
              <a:t> </a:t>
            </a:r>
            <a:r>
              <a:rPr spc="65" dirty="0"/>
              <a:t>proyecto. </a:t>
            </a:r>
            <a:r>
              <a:rPr dirty="0"/>
              <a:t>Es</a:t>
            </a:r>
            <a:r>
              <a:rPr spc="350" dirty="0"/>
              <a:t> </a:t>
            </a:r>
            <a:r>
              <a:rPr spc="155" dirty="0"/>
              <a:t>un</a:t>
            </a:r>
            <a:r>
              <a:rPr spc="360" dirty="0"/>
              <a:t> </a:t>
            </a:r>
            <a:r>
              <a:rPr spc="114" dirty="0"/>
              <a:t>elemento</a:t>
            </a:r>
            <a:r>
              <a:rPr spc="365" dirty="0"/>
              <a:t> </a:t>
            </a:r>
            <a:r>
              <a:rPr spc="120" dirty="0"/>
              <a:t>importante</a:t>
            </a:r>
            <a:r>
              <a:rPr spc="360" dirty="0"/>
              <a:t> </a:t>
            </a:r>
            <a:r>
              <a:rPr spc="120" dirty="0"/>
              <a:t>en</a:t>
            </a:r>
            <a:r>
              <a:rPr spc="360" dirty="0"/>
              <a:t> </a:t>
            </a:r>
            <a:r>
              <a:rPr spc="75" dirty="0"/>
              <a:t>la</a:t>
            </a:r>
            <a:r>
              <a:rPr spc="360" dirty="0"/>
              <a:t> </a:t>
            </a:r>
            <a:r>
              <a:rPr spc="90" dirty="0"/>
              <a:t>planificación</a:t>
            </a:r>
            <a:r>
              <a:rPr spc="360" dirty="0"/>
              <a:t> </a:t>
            </a:r>
            <a:r>
              <a:rPr dirty="0"/>
              <a:t>y</a:t>
            </a:r>
            <a:r>
              <a:rPr spc="365" dirty="0"/>
              <a:t> </a:t>
            </a:r>
            <a:r>
              <a:rPr spc="100" dirty="0"/>
              <a:t>seguimiento</a:t>
            </a:r>
            <a:r>
              <a:rPr spc="360" dirty="0"/>
              <a:t> </a:t>
            </a:r>
            <a:r>
              <a:rPr spc="80" dirty="0"/>
              <a:t>del </a:t>
            </a:r>
            <a:r>
              <a:rPr spc="70" dirty="0"/>
              <a:t>proyecto,</a:t>
            </a:r>
            <a:r>
              <a:rPr spc="305" dirty="0"/>
              <a:t> </a:t>
            </a:r>
            <a:r>
              <a:rPr dirty="0"/>
              <a:t>ya</a:t>
            </a:r>
            <a:r>
              <a:rPr spc="310" dirty="0"/>
              <a:t> </a:t>
            </a:r>
            <a:r>
              <a:rPr spc="135" dirty="0"/>
              <a:t>que</a:t>
            </a:r>
            <a:r>
              <a:rPr spc="305" dirty="0"/>
              <a:t> </a:t>
            </a:r>
            <a:r>
              <a:rPr spc="105" dirty="0"/>
              <a:t>representa</a:t>
            </a:r>
            <a:r>
              <a:rPr spc="305" dirty="0"/>
              <a:t> </a:t>
            </a:r>
            <a:r>
              <a:rPr spc="155" dirty="0"/>
              <a:t>un</a:t>
            </a:r>
            <a:r>
              <a:rPr spc="310" dirty="0"/>
              <a:t> </a:t>
            </a:r>
            <a:r>
              <a:rPr spc="110" dirty="0"/>
              <a:t>resultado</a:t>
            </a:r>
            <a:r>
              <a:rPr spc="305" dirty="0"/>
              <a:t> </a:t>
            </a:r>
            <a:r>
              <a:rPr spc="100" dirty="0"/>
              <a:t>alcanzado</a:t>
            </a:r>
            <a:r>
              <a:rPr spc="305" dirty="0"/>
              <a:t> </a:t>
            </a:r>
            <a:r>
              <a:rPr spc="170" dirty="0"/>
              <a:t>o</a:t>
            </a:r>
            <a:r>
              <a:rPr spc="310" dirty="0"/>
              <a:t> </a:t>
            </a:r>
            <a:r>
              <a:rPr spc="130" dirty="0"/>
              <a:t>una</a:t>
            </a:r>
            <a:r>
              <a:rPr spc="305" dirty="0"/>
              <a:t> </a:t>
            </a:r>
            <a:r>
              <a:rPr spc="60" dirty="0"/>
              <a:t>fecha </a:t>
            </a:r>
            <a:r>
              <a:rPr spc="50" dirty="0"/>
              <a:t>clave</a:t>
            </a:r>
            <a:r>
              <a:rPr spc="434" dirty="0"/>
              <a:t> </a:t>
            </a:r>
            <a:r>
              <a:rPr spc="135" dirty="0"/>
              <a:t>que</a:t>
            </a:r>
            <a:r>
              <a:rPr spc="434" dirty="0"/>
              <a:t> </a:t>
            </a:r>
            <a:r>
              <a:rPr spc="85" dirty="0"/>
              <a:t>tiene</a:t>
            </a:r>
            <a:r>
              <a:rPr spc="434" dirty="0"/>
              <a:t> </a:t>
            </a:r>
            <a:r>
              <a:rPr spc="155" dirty="0"/>
              <a:t>un</a:t>
            </a:r>
            <a:r>
              <a:rPr spc="434" dirty="0"/>
              <a:t> </a:t>
            </a:r>
            <a:r>
              <a:rPr spc="80" dirty="0"/>
              <a:t>significado</a:t>
            </a:r>
            <a:r>
              <a:rPr spc="434" dirty="0"/>
              <a:t> </a:t>
            </a:r>
            <a:r>
              <a:rPr spc="85" dirty="0"/>
              <a:t>especial</a:t>
            </a:r>
            <a:r>
              <a:rPr spc="434" dirty="0"/>
              <a:t> </a:t>
            </a:r>
            <a:r>
              <a:rPr spc="114" dirty="0"/>
              <a:t>para</a:t>
            </a:r>
            <a:r>
              <a:rPr spc="434" dirty="0"/>
              <a:t> </a:t>
            </a:r>
            <a:r>
              <a:rPr spc="75" dirty="0"/>
              <a:t>el</a:t>
            </a:r>
            <a:r>
              <a:rPr spc="434" dirty="0"/>
              <a:t> </a:t>
            </a:r>
            <a:r>
              <a:rPr spc="75" dirty="0"/>
              <a:t>proyecto.</a:t>
            </a:r>
            <a:r>
              <a:rPr spc="434" dirty="0"/>
              <a:t> </a:t>
            </a:r>
            <a:r>
              <a:rPr spc="50" dirty="0"/>
              <a:t>Este</a:t>
            </a:r>
            <a:r>
              <a:rPr spc="434" dirty="0"/>
              <a:t> </a:t>
            </a:r>
            <a:r>
              <a:rPr spc="60" dirty="0"/>
              <a:t>se </a:t>
            </a:r>
            <a:r>
              <a:rPr spc="105" dirty="0"/>
              <a:t>representa</a:t>
            </a:r>
            <a:r>
              <a:rPr spc="445" dirty="0"/>
              <a:t> </a:t>
            </a:r>
            <a:r>
              <a:rPr spc="114" dirty="0"/>
              <a:t>con</a:t>
            </a:r>
            <a:r>
              <a:rPr spc="450" dirty="0"/>
              <a:t> </a:t>
            </a:r>
            <a:r>
              <a:rPr spc="130" dirty="0"/>
              <a:t>una</a:t>
            </a:r>
            <a:r>
              <a:rPr spc="445" dirty="0"/>
              <a:t> </a:t>
            </a:r>
            <a:r>
              <a:rPr spc="85" dirty="0"/>
              <a:t>tarea</a:t>
            </a:r>
            <a:r>
              <a:rPr spc="445" dirty="0"/>
              <a:t> </a:t>
            </a:r>
            <a:r>
              <a:rPr spc="114" dirty="0"/>
              <a:t>ordinaria</a:t>
            </a:r>
            <a:r>
              <a:rPr spc="450" dirty="0"/>
              <a:t> </a:t>
            </a:r>
            <a:r>
              <a:rPr spc="135" dirty="0"/>
              <a:t>pero</a:t>
            </a:r>
            <a:r>
              <a:rPr spc="445" dirty="0"/>
              <a:t> </a:t>
            </a:r>
            <a:r>
              <a:rPr spc="85" dirty="0"/>
              <a:t>tiene</a:t>
            </a:r>
            <a:r>
              <a:rPr spc="445" dirty="0"/>
              <a:t> </a:t>
            </a:r>
            <a:r>
              <a:rPr spc="120" dirty="0"/>
              <a:t>duración</a:t>
            </a:r>
            <a:r>
              <a:rPr spc="450" dirty="0"/>
              <a:t> </a:t>
            </a:r>
            <a:r>
              <a:rPr spc="125" dirty="0"/>
              <a:t>de</a:t>
            </a:r>
            <a:r>
              <a:rPr spc="445" dirty="0"/>
              <a:t> </a:t>
            </a:r>
            <a:r>
              <a:rPr spc="80" dirty="0"/>
              <a:t>cero </a:t>
            </a:r>
            <a:r>
              <a:rPr spc="50" dirty="0"/>
              <a:t>días.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ject 14"/>
          <p:cNvPicPr/>
          <p:nvPr/>
        </p:nvPicPr>
        <p:blipFill>
          <a:blip r:embed="rId2" cstate="print"/>
          <a:stretch>
            <a:fillRect/>
          </a:stretch>
        </p:blipFill>
        <p:spPr>
          <a:xfrm>
            <a:off x="11447952" y="3110392"/>
            <a:ext cx="4762499" cy="4762499"/>
          </a:xfrm>
          <a:prstGeom prst="rect">
            <a:avLst/>
          </a:prstGeom>
        </p:spPr>
      </p:pic>
      <p:sp>
        <p:nvSpPr>
          <p:cNvPr id="15" name="object 15"/>
          <p:cNvSpPr txBox="1">
            <a:spLocks noGrp="1"/>
          </p:cNvSpPr>
          <p:nvPr>
            <p:ph type="title"/>
          </p:nvPr>
        </p:nvSpPr>
        <p:spPr>
          <a:xfrm>
            <a:off x="2940678" y="1185783"/>
            <a:ext cx="14259884" cy="1690206"/>
          </a:xfrm>
          <a:prstGeom prst="rect">
            <a:avLst/>
          </a:prstGeom>
        </p:spPr>
        <p:txBody>
          <a:bodyPr vert="horz" wrap="square" lIns="0" tIns="12700" rIns="0" bIns="0" rtlCol="0">
            <a:spAutoFit/>
          </a:bodyPr>
          <a:lstStyle/>
          <a:p>
            <a:pPr marL="12700" algn="ctr">
              <a:lnSpc>
                <a:spcPct val="100000"/>
              </a:lnSpc>
              <a:spcBef>
                <a:spcPts val="100"/>
              </a:spcBef>
            </a:pPr>
            <a:r>
              <a:rPr dirty="0"/>
              <a:t>ESTRUCTURA DE DESGLOSE DE TAREAS (EDT</a:t>
            </a:r>
            <a:r>
              <a:rPr lang="es-ES" dirty="0"/>
              <a:t>)</a:t>
            </a:r>
            <a:endParaRPr dirty="0"/>
          </a:p>
        </p:txBody>
      </p:sp>
      <p:sp>
        <p:nvSpPr>
          <p:cNvPr id="16" name="object 16"/>
          <p:cNvSpPr txBox="1"/>
          <p:nvPr/>
        </p:nvSpPr>
        <p:spPr>
          <a:xfrm>
            <a:off x="2896390" y="3498005"/>
            <a:ext cx="7174230" cy="4064000"/>
          </a:xfrm>
          <a:prstGeom prst="rect">
            <a:avLst/>
          </a:prstGeom>
        </p:spPr>
        <p:txBody>
          <a:bodyPr vert="horz" wrap="square" lIns="0" tIns="12700" rIns="0" bIns="0" rtlCol="0">
            <a:spAutoFit/>
          </a:bodyPr>
          <a:lstStyle/>
          <a:p>
            <a:pPr marL="12700" marR="5080" algn="just">
              <a:lnSpc>
                <a:spcPct val="116199"/>
              </a:lnSpc>
              <a:spcBef>
                <a:spcPts val="100"/>
              </a:spcBef>
            </a:pPr>
            <a:r>
              <a:rPr sz="2850" spc="75" dirty="0">
                <a:latin typeface="Tahoma"/>
                <a:cs typeface="Tahoma"/>
              </a:rPr>
              <a:t>La</a:t>
            </a:r>
            <a:r>
              <a:rPr sz="2850" spc="570" dirty="0">
                <a:latin typeface="Tahoma"/>
                <a:cs typeface="Tahoma"/>
              </a:rPr>
              <a:t> </a:t>
            </a:r>
            <a:r>
              <a:rPr sz="2850" spc="85" dirty="0">
                <a:latin typeface="Tahoma"/>
                <a:cs typeface="Tahoma"/>
              </a:rPr>
              <a:t>Estructura</a:t>
            </a:r>
            <a:r>
              <a:rPr sz="2850" spc="580" dirty="0">
                <a:latin typeface="Tahoma"/>
                <a:cs typeface="Tahoma"/>
              </a:rPr>
              <a:t> </a:t>
            </a:r>
            <a:r>
              <a:rPr sz="2850" spc="125" dirty="0">
                <a:latin typeface="Tahoma"/>
                <a:cs typeface="Tahoma"/>
              </a:rPr>
              <a:t>de</a:t>
            </a:r>
            <a:r>
              <a:rPr sz="2850" spc="580" dirty="0">
                <a:latin typeface="Tahoma"/>
                <a:cs typeface="Tahoma"/>
              </a:rPr>
              <a:t> </a:t>
            </a:r>
            <a:r>
              <a:rPr sz="2850" spc="85" dirty="0">
                <a:latin typeface="Tahoma"/>
                <a:cs typeface="Tahoma"/>
              </a:rPr>
              <a:t>Desglose</a:t>
            </a:r>
            <a:r>
              <a:rPr sz="2850" spc="580" dirty="0">
                <a:latin typeface="Tahoma"/>
                <a:cs typeface="Tahoma"/>
              </a:rPr>
              <a:t> </a:t>
            </a:r>
            <a:r>
              <a:rPr sz="2850" spc="125" dirty="0">
                <a:latin typeface="Tahoma"/>
                <a:cs typeface="Tahoma"/>
              </a:rPr>
              <a:t>de</a:t>
            </a:r>
            <a:r>
              <a:rPr sz="2850" spc="580" dirty="0">
                <a:latin typeface="Tahoma"/>
                <a:cs typeface="Tahoma"/>
              </a:rPr>
              <a:t> </a:t>
            </a:r>
            <a:r>
              <a:rPr sz="2850" spc="60" dirty="0">
                <a:latin typeface="Tahoma"/>
                <a:cs typeface="Tahoma"/>
              </a:rPr>
              <a:t>Tareas</a:t>
            </a:r>
            <a:r>
              <a:rPr sz="2850" spc="580" dirty="0">
                <a:latin typeface="Tahoma"/>
                <a:cs typeface="Tahoma"/>
              </a:rPr>
              <a:t> </a:t>
            </a:r>
            <a:r>
              <a:rPr sz="2850" spc="60" dirty="0">
                <a:latin typeface="Tahoma"/>
                <a:cs typeface="Tahoma"/>
              </a:rPr>
              <a:t>es </a:t>
            </a:r>
            <a:r>
              <a:rPr sz="2850" spc="130" dirty="0">
                <a:latin typeface="Tahoma"/>
                <a:cs typeface="Tahoma"/>
              </a:rPr>
              <a:t>una</a:t>
            </a:r>
            <a:r>
              <a:rPr sz="2850" spc="580" dirty="0">
                <a:latin typeface="Tahoma"/>
                <a:cs typeface="Tahoma"/>
              </a:rPr>
              <a:t>  </a:t>
            </a:r>
            <a:r>
              <a:rPr sz="2850" spc="114" dirty="0">
                <a:latin typeface="Tahoma"/>
                <a:cs typeface="Tahoma"/>
              </a:rPr>
              <a:t>herramienta</a:t>
            </a:r>
            <a:r>
              <a:rPr sz="2850" spc="585" dirty="0">
                <a:latin typeface="Tahoma"/>
                <a:cs typeface="Tahoma"/>
              </a:rPr>
              <a:t>  </a:t>
            </a:r>
            <a:r>
              <a:rPr sz="2850" spc="114" dirty="0">
                <a:latin typeface="Tahoma"/>
                <a:cs typeface="Tahoma"/>
              </a:rPr>
              <a:t>fundamental</a:t>
            </a:r>
            <a:r>
              <a:rPr sz="2850" spc="580" dirty="0">
                <a:latin typeface="Tahoma"/>
                <a:cs typeface="Tahoma"/>
              </a:rPr>
              <a:t>  </a:t>
            </a:r>
            <a:r>
              <a:rPr sz="2850" spc="120" dirty="0">
                <a:latin typeface="Tahoma"/>
                <a:cs typeface="Tahoma"/>
              </a:rPr>
              <a:t>en</a:t>
            </a:r>
            <a:r>
              <a:rPr sz="2850" spc="580" dirty="0">
                <a:latin typeface="Tahoma"/>
                <a:cs typeface="Tahoma"/>
              </a:rPr>
              <a:t>  </a:t>
            </a:r>
            <a:r>
              <a:rPr sz="2850" spc="50" dirty="0">
                <a:latin typeface="Tahoma"/>
                <a:cs typeface="Tahoma"/>
              </a:rPr>
              <a:t>la </a:t>
            </a:r>
            <a:r>
              <a:rPr sz="2850" spc="80" dirty="0">
                <a:latin typeface="Tahoma"/>
                <a:cs typeface="Tahoma"/>
              </a:rPr>
              <a:t>gestión</a:t>
            </a:r>
            <a:r>
              <a:rPr sz="2850" spc="459" dirty="0">
                <a:latin typeface="Tahoma"/>
                <a:cs typeface="Tahoma"/>
              </a:rPr>
              <a:t> </a:t>
            </a:r>
            <a:r>
              <a:rPr sz="2850" spc="125" dirty="0">
                <a:latin typeface="Tahoma"/>
                <a:cs typeface="Tahoma"/>
              </a:rPr>
              <a:t>de</a:t>
            </a:r>
            <a:r>
              <a:rPr sz="2850" spc="459" dirty="0">
                <a:latin typeface="Tahoma"/>
                <a:cs typeface="Tahoma"/>
              </a:rPr>
              <a:t> </a:t>
            </a:r>
            <a:r>
              <a:rPr sz="2850" spc="95" dirty="0">
                <a:latin typeface="Tahoma"/>
                <a:cs typeface="Tahoma"/>
              </a:rPr>
              <a:t>proyectos</a:t>
            </a:r>
            <a:r>
              <a:rPr sz="2850" spc="459" dirty="0">
                <a:latin typeface="Tahoma"/>
                <a:cs typeface="Tahoma"/>
              </a:rPr>
              <a:t> </a:t>
            </a:r>
            <a:r>
              <a:rPr sz="2850" spc="135" dirty="0">
                <a:latin typeface="Tahoma"/>
                <a:cs typeface="Tahoma"/>
              </a:rPr>
              <a:t>que</a:t>
            </a:r>
            <a:r>
              <a:rPr sz="2850" spc="459" dirty="0">
                <a:latin typeface="Tahoma"/>
                <a:cs typeface="Tahoma"/>
              </a:rPr>
              <a:t> </a:t>
            </a:r>
            <a:r>
              <a:rPr sz="2850" spc="85" dirty="0">
                <a:latin typeface="Tahoma"/>
                <a:cs typeface="Tahoma"/>
              </a:rPr>
              <a:t>se</a:t>
            </a:r>
            <a:r>
              <a:rPr sz="2850" spc="459" dirty="0">
                <a:latin typeface="Tahoma"/>
                <a:cs typeface="Tahoma"/>
              </a:rPr>
              <a:t> </a:t>
            </a:r>
            <a:r>
              <a:rPr sz="2850" spc="75" dirty="0">
                <a:latin typeface="Tahoma"/>
                <a:cs typeface="Tahoma"/>
              </a:rPr>
              <a:t>utiliza</a:t>
            </a:r>
            <a:r>
              <a:rPr sz="2850" spc="459" dirty="0">
                <a:latin typeface="Tahoma"/>
                <a:cs typeface="Tahoma"/>
              </a:rPr>
              <a:t> </a:t>
            </a:r>
            <a:r>
              <a:rPr sz="2850" spc="95" dirty="0">
                <a:latin typeface="Tahoma"/>
                <a:cs typeface="Tahoma"/>
              </a:rPr>
              <a:t>para </a:t>
            </a:r>
            <a:r>
              <a:rPr sz="2850" spc="90" dirty="0">
                <a:latin typeface="Tahoma"/>
                <a:cs typeface="Tahoma"/>
              </a:rPr>
              <a:t>dividir</a:t>
            </a:r>
            <a:r>
              <a:rPr sz="2850" spc="204" dirty="0">
                <a:latin typeface="Tahoma"/>
                <a:cs typeface="Tahoma"/>
              </a:rPr>
              <a:t>   </a:t>
            </a:r>
            <a:r>
              <a:rPr sz="2850" spc="75" dirty="0">
                <a:latin typeface="Tahoma"/>
                <a:cs typeface="Tahoma"/>
              </a:rPr>
              <a:t>el</a:t>
            </a:r>
            <a:r>
              <a:rPr sz="2850" spc="204" dirty="0">
                <a:latin typeface="Tahoma"/>
                <a:cs typeface="Tahoma"/>
              </a:rPr>
              <a:t>   </a:t>
            </a:r>
            <a:r>
              <a:rPr sz="2850" spc="100" dirty="0">
                <a:latin typeface="Tahoma"/>
                <a:cs typeface="Tahoma"/>
              </a:rPr>
              <a:t>proyecto</a:t>
            </a:r>
            <a:r>
              <a:rPr sz="2850" spc="210" dirty="0">
                <a:latin typeface="Tahoma"/>
                <a:cs typeface="Tahoma"/>
              </a:rPr>
              <a:t>   </a:t>
            </a:r>
            <a:r>
              <a:rPr sz="2850" spc="120" dirty="0">
                <a:latin typeface="Tahoma"/>
                <a:cs typeface="Tahoma"/>
              </a:rPr>
              <a:t>en</a:t>
            </a:r>
            <a:r>
              <a:rPr sz="2850" spc="204" dirty="0">
                <a:latin typeface="Tahoma"/>
                <a:cs typeface="Tahoma"/>
              </a:rPr>
              <a:t>   </a:t>
            </a:r>
            <a:r>
              <a:rPr sz="2850" spc="100" dirty="0">
                <a:latin typeface="Tahoma"/>
                <a:cs typeface="Tahoma"/>
              </a:rPr>
              <a:t>partes</a:t>
            </a:r>
            <a:r>
              <a:rPr sz="2850" spc="204" dirty="0">
                <a:latin typeface="Tahoma"/>
                <a:cs typeface="Tahoma"/>
              </a:rPr>
              <a:t>   </a:t>
            </a:r>
            <a:r>
              <a:rPr sz="2850" spc="114" dirty="0">
                <a:latin typeface="Tahoma"/>
                <a:cs typeface="Tahoma"/>
              </a:rPr>
              <a:t>más </a:t>
            </a:r>
            <a:r>
              <a:rPr sz="2850" spc="120" dirty="0">
                <a:latin typeface="Tahoma"/>
                <a:cs typeface="Tahoma"/>
              </a:rPr>
              <a:t>pequeñas</a:t>
            </a:r>
            <a:r>
              <a:rPr sz="2850" spc="114" dirty="0">
                <a:latin typeface="Tahoma"/>
                <a:cs typeface="Tahoma"/>
              </a:rPr>
              <a:t>  </a:t>
            </a:r>
            <a:r>
              <a:rPr sz="2850" dirty="0">
                <a:latin typeface="Tahoma"/>
                <a:cs typeface="Tahoma"/>
              </a:rPr>
              <a:t>y</a:t>
            </a:r>
            <a:r>
              <a:rPr sz="2850" spc="120" dirty="0">
                <a:latin typeface="Tahoma"/>
                <a:cs typeface="Tahoma"/>
              </a:rPr>
              <a:t>  </a:t>
            </a:r>
            <a:r>
              <a:rPr sz="2850" spc="80" dirty="0">
                <a:latin typeface="Tahoma"/>
                <a:cs typeface="Tahoma"/>
              </a:rPr>
              <a:t>manejables.</a:t>
            </a:r>
            <a:r>
              <a:rPr sz="2850" spc="120" dirty="0">
                <a:latin typeface="Tahoma"/>
                <a:cs typeface="Tahoma"/>
              </a:rPr>
              <a:t>  </a:t>
            </a:r>
            <a:r>
              <a:rPr sz="2850" spc="90" dirty="0">
                <a:latin typeface="Tahoma"/>
                <a:cs typeface="Tahoma"/>
              </a:rPr>
              <a:t>Representa</a:t>
            </a:r>
            <a:r>
              <a:rPr sz="2850" spc="114" dirty="0">
                <a:latin typeface="Tahoma"/>
                <a:cs typeface="Tahoma"/>
              </a:rPr>
              <a:t>  </a:t>
            </a:r>
            <a:r>
              <a:rPr sz="2850" spc="50" dirty="0">
                <a:latin typeface="Tahoma"/>
                <a:cs typeface="Tahoma"/>
              </a:rPr>
              <a:t>la </a:t>
            </a:r>
            <a:r>
              <a:rPr sz="2850" spc="120" dirty="0">
                <a:latin typeface="Tahoma"/>
                <a:cs typeface="Tahoma"/>
              </a:rPr>
              <a:t>descomposición</a:t>
            </a:r>
            <a:r>
              <a:rPr sz="2850" spc="-45" dirty="0">
                <a:latin typeface="Tahoma"/>
                <a:cs typeface="Tahoma"/>
              </a:rPr>
              <a:t>  </a:t>
            </a:r>
            <a:r>
              <a:rPr sz="2850" spc="85" dirty="0">
                <a:latin typeface="Tahoma"/>
                <a:cs typeface="Tahoma"/>
              </a:rPr>
              <a:t>jerárquica</a:t>
            </a:r>
            <a:r>
              <a:rPr sz="2850" spc="-40" dirty="0">
                <a:latin typeface="Tahoma"/>
                <a:cs typeface="Tahoma"/>
              </a:rPr>
              <a:t>  </a:t>
            </a:r>
            <a:r>
              <a:rPr sz="2850" spc="125" dirty="0">
                <a:latin typeface="Tahoma"/>
                <a:cs typeface="Tahoma"/>
              </a:rPr>
              <a:t>de</a:t>
            </a:r>
            <a:r>
              <a:rPr sz="2850" spc="-40" dirty="0">
                <a:latin typeface="Tahoma"/>
                <a:cs typeface="Tahoma"/>
              </a:rPr>
              <a:t>  </a:t>
            </a:r>
            <a:r>
              <a:rPr sz="2850" spc="110" dirty="0">
                <a:latin typeface="Tahoma"/>
                <a:cs typeface="Tahoma"/>
              </a:rPr>
              <a:t>todas</a:t>
            </a:r>
            <a:r>
              <a:rPr sz="2850" spc="-40" dirty="0">
                <a:latin typeface="Tahoma"/>
                <a:cs typeface="Tahoma"/>
              </a:rPr>
              <a:t>  </a:t>
            </a:r>
            <a:r>
              <a:rPr sz="2850" spc="55" dirty="0">
                <a:latin typeface="Tahoma"/>
                <a:cs typeface="Tahoma"/>
              </a:rPr>
              <a:t>las </a:t>
            </a:r>
            <a:r>
              <a:rPr sz="2850" spc="85" dirty="0">
                <a:latin typeface="Tahoma"/>
                <a:cs typeface="Tahoma"/>
              </a:rPr>
              <a:t>tareas</a:t>
            </a:r>
            <a:r>
              <a:rPr sz="2850" spc="-55" dirty="0">
                <a:latin typeface="Tahoma"/>
                <a:cs typeface="Tahoma"/>
              </a:rPr>
              <a:t>  </a:t>
            </a:r>
            <a:r>
              <a:rPr sz="2850" spc="135" dirty="0">
                <a:latin typeface="Tahoma"/>
                <a:cs typeface="Tahoma"/>
              </a:rPr>
              <a:t>que</a:t>
            </a:r>
            <a:r>
              <a:rPr sz="2850" spc="-50" dirty="0">
                <a:latin typeface="Tahoma"/>
                <a:cs typeface="Tahoma"/>
              </a:rPr>
              <a:t>  </a:t>
            </a:r>
            <a:r>
              <a:rPr sz="2850" spc="130" dirty="0">
                <a:latin typeface="Tahoma"/>
                <a:cs typeface="Tahoma"/>
              </a:rPr>
              <a:t>deben</a:t>
            </a:r>
            <a:r>
              <a:rPr sz="2850" spc="-50" dirty="0">
                <a:latin typeface="Tahoma"/>
                <a:cs typeface="Tahoma"/>
              </a:rPr>
              <a:t>  </a:t>
            </a:r>
            <a:r>
              <a:rPr sz="2850" spc="75" dirty="0">
                <a:latin typeface="Tahoma"/>
                <a:cs typeface="Tahoma"/>
              </a:rPr>
              <a:t>llevarse</a:t>
            </a:r>
            <a:r>
              <a:rPr sz="2850" spc="-55" dirty="0">
                <a:latin typeface="Tahoma"/>
                <a:cs typeface="Tahoma"/>
              </a:rPr>
              <a:t>  </a:t>
            </a:r>
            <a:r>
              <a:rPr sz="2850" spc="90" dirty="0">
                <a:latin typeface="Tahoma"/>
                <a:cs typeface="Tahoma"/>
              </a:rPr>
              <a:t>a</a:t>
            </a:r>
            <a:r>
              <a:rPr sz="2850" spc="-50" dirty="0">
                <a:latin typeface="Tahoma"/>
                <a:cs typeface="Tahoma"/>
              </a:rPr>
              <a:t>  </a:t>
            </a:r>
            <a:r>
              <a:rPr sz="2850" spc="110" dirty="0">
                <a:latin typeface="Tahoma"/>
                <a:cs typeface="Tahoma"/>
              </a:rPr>
              <a:t>cabo</a:t>
            </a:r>
            <a:r>
              <a:rPr sz="2850" spc="-50" dirty="0">
                <a:latin typeface="Tahoma"/>
                <a:cs typeface="Tahoma"/>
              </a:rPr>
              <a:t>  </a:t>
            </a:r>
            <a:r>
              <a:rPr sz="2850" spc="95" dirty="0">
                <a:latin typeface="Tahoma"/>
                <a:cs typeface="Tahoma"/>
              </a:rPr>
              <a:t>para </a:t>
            </a:r>
            <a:r>
              <a:rPr sz="2850" spc="114" dirty="0">
                <a:latin typeface="Tahoma"/>
                <a:cs typeface="Tahoma"/>
              </a:rPr>
              <a:t>completar</a:t>
            </a:r>
            <a:r>
              <a:rPr sz="2850" spc="-145" dirty="0">
                <a:latin typeface="Tahoma"/>
                <a:cs typeface="Tahoma"/>
              </a:rPr>
              <a:t> </a:t>
            </a:r>
            <a:r>
              <a:rPr sz="2850" spc="75" dirty="0">
                <a:latin typeface="Tahoma"/>
                <a:cs typeface="Tahoma"/>
              </a:rPr>
              <a:t>el</a:t>
            </a:r>
            <a:r>
              <a:rPr sz="2850" spc="-140" dirty="0">
                <a:latin typeface="Tahoma"/>
                <a:cs typeface="Tahoma"/>
              </a:rPr>
              <a:t> </a:t>
            </a:r>
            <a:r>
              <a:rPr sz="2850" spc="65" dirty="0">
                <a:latin typeface="Tahoma"/>
                <a:cs typeface="Tahoma"/>
              </a:rPr>
              <a:t>proyecto.</a:t>
            </a:r>
            <a:endParaRPr sz="2850">
              <a:latin typeface="Tahoma"/>
              <a:cs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049111" y="2252665"/>
            <a:ext cx="5781689" cy="5781669"/>
          </a:xfrm>
          <a:prstGeom prst="rect">
            <a:avLst/>
          </a:prstGeom>
        </p:spPr>
      </p:pic>
      <p:sp>
        <p:nvSpPr>
          <p:cNvPr id="3" name="object 3"/>
          <p:cNvSpPr txBox="1">
            <a:spLocks noGrp="1"/>
          </p:cNvSpPr>
          <p:nvPr>
            <p:ph type="title" idx="4294967295"/>
          </p:nvPr>
        </p:nvSpPr>
        <p:spPr>
          <a:xfrm>
            <a:off x="0" y="4213225"/>
            <a:ext cx="11134725" cy="1860550"/>
          </a:xfrm>
          <a:prstGeom prst="rect">
            <a:avLst/>
          </a:prstGeom>
        </p:spPr>
        <p:txBody>
          <a:bodyPr vert="horz" wrap="square" lIns="0" tIns="13970" rIns="0" bIns="0" rtlCol="0">
            <a:spAutoFit/>
          </a:bodyPr>
          <a:lstStyle/>
          <a:p>
            <a:pPr marL="12700">
              <a:lnSpc>
                <a:spcPct val="100000"/>
              </a:lnSpc>
              <a:spcBef>
                <a:spcPts val="110"/>
              </a:spcBef>
            </a:pPr>
            <a:r>
              <a:rPr sz="12000" dirty="0"/>
              <a:t>CALENDARIOS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7563" y="2203784"/>
            <a:ext cx="10386912" cy="856614"/>
          </a:xfrm>
          <a:prstGeom prst="rect">
            <a:avLst/>
          </a:prstGeom>
        </p:spPr>
        <p:txBody>
          <a:bodyPr vert="horz" wrap="square" lIns="0" tIns="12700" rIns="0" bIns="0" rtlCol="0">
            <a:spAutoFit/>
          </a:bodyPr>
          <a:lstStyle/>
          <a:p>
            <a:pPr marL="3585210">
              <a:lnSpc>
                <a:spcPct val="100000"/>
              </a:lnSpc>
              <a:spcBef>
                <a:spcPts val="100"/>
              </a:spcBef>
            </a:pPr>
            <a:r>
              <a:rPr dirty="0"/>
              <a:t>CALENDARIOS</a:t>
            </a:r>
          </a:p>
        </p:txBody>
      </p:sp>
      <p:sp>
        <p:nvSpPr>
          <p:cNvPr id="15" name="object 15"/>
          <p:cNvSpPr txBox="1">
            <a:spLocks noGrp="1"/>
          </p:cNvSpPr>
          <p:nvPr>
            <p:ph type="body" idx="1"/>
          </p:nvPr>
        </p:nvSpPr>
        <p:spPr>
          <a:xfrm>
            <a:off x="1491916" y="4511842"/>
            <a:ext cx="15304168" cy="2060564"/>
          </a:xfrm>
          <a:prstGeom prst="rect">
            <a:avLst/>
          </a:prstGeom>
        </p:spPr>
        <p:txBody>
          <a:bodyPr vert="horz" wrap="square" lIns="0" tIns="12700" rIns="0" bIns="0" rtlCol="0">
            <a:spAutoFit/>
          </a:bodyPr>
          <a:lstStyle/>
          <a:p>
            <a:pPr marL="12700" marR="5080" algn="just">
              <a:lnSpc>
                <a:spcPct val="116199"/>
              </a:lnSpc>
              <a:spcBef>
                <a:spcPts val="100"/>
              </a:spcBef>
            </a:pPr>
            <a:r>
              <a:rPr dirty="0"/>
              <a:t>Es</a:t>
            </a:r>
            <a:r>
              <a:rPr spc="370" dirty="0"/>
              <a:t> </a:t>
            </a:r>
            <a:r>
              <a:rPr spc="130" dirty="0"/>
              <a:t>una</a:t>
            </a:r>
            <a:r>
              <a:rPr spc="375" dirty="0"/>
              <a:t> </a:t>
            </a:r>
            <a:r>
              <a:rPr spc="114" dirty="0"/>
              <a:t>herramienta</a:t>
            </a:r>
            <a:r>
              <a:rPr spc="370" dirty="0"/>
              <a:t> </a:t>
            </a:r>
            <a:r>
              <a:rPr spc="135" dirty="0"/>
              <a:t>que</a:t>
            </a:r>
            <a:r>
              <a:rPr spc="375" dirty="0"/>
              <a:t> </a:t>
            </a:r>
            <a:r>
              <a:rPr spc="120" dirty="0"/>
              <a:t>permite</a:t>
            </a:r>
            <a:r>
              <a:rPr spc="370" dirty="0"/>
              <a:t> </a:t>
            </a:r>
            <a:r>
              <a:rPr spc="100" dirty="0"/>
              <a:t>definir</a:t>
            </a:r>
            <a:r>
              <a:rPr spc="370" dirty="0"/>
              <a:t> </a:t>
            </a:r>
            <a:r>
              <a:rPr spc="105" dirty="0"/>
              <a:t>los</a:t>
            </a:r>
            <a:r>
              <a:rPr spc="375" dirty="0"/>
              <a:t> </a:t>
            </a:r>
            <a:r>
              <a:rPr spc="100" dirty="0"/>
              <a:t>días</a:t>
            </a:r>
            <a:r>
              <a:rPr spc="370" dirty="0"/>
              <a:t> </a:t>
            </a:r>
            <a:r>
              <a:rPr spc="110" dirty="0"/>
              <a:t>laborables</a:t>
            </a:r>
            <a:r>
              <a:rPr spc="375" dirty="0"/>
              <a:t> </a:t>
            </a:r>
            <a:r>
              <a:rPr dirty="0"/>
              <a:t>y</a:t>
            </a:r>
            <a:r>
              <a:rPr spc="370" dirty="0"/>
              <a:t> </a:t>
            </a:r>
            <a:r>
              <a:rPr spc="135" dirty="0"/>
              <a:t>no </a:t>
            </a:r>
            <a:r>
              <a:rPr spc="85" dirty="0"/>
              <a:t>laborables,</a:t>
            </a:r>
            <a:r>
              <a:rPr spc="660" dirty="0"/>
              <a:t> </a:t>
            </a:r>
            <a:r>
              <a:rPr spc="80" dirty="0"/>
              <a:t>así</a:t>
            </a:r>
            <a:r>
              <a:rPr spc="670" dirty="0"/>
              <a:t> </a:t>
            </a:r>
            <a:r>
              <a:rPr spc="155" dirty="0"/>
              <a:t>como</a:t>
            </a:r>
            <a:r>
              <a:rPr spc="665" dirty="0"/>
              <a:t> </a:t>
            </a:r>
            <a:r>
              <a:rPr spc="80" dirty="0"/>
              <a:t>las</a:t>
            </a:r>
            <a:r>
              <a:rPr spc="670" dirty="0"/>
              <a:t> </a:t>
            </a:r>
            <a:r>
              <a:rPr spc="120" dirty="0"/>
              <a:t>horas</a:t>
            </a:r>
            <a:r>
              <a:rPr spc="670" dirty="0"/>
              <a:t> </a:t>
            </a:r>
            <a:r>
              <a:rPr spc="125" dirty="0"/>
              <a:t>de</a:t>
            </a:r>
            <a:r>
              <a:rPr spc="670" dirty="0"/>
              <a:t> </a:t>
            </a:r>
            <a:r>
              <a:rPr spc="85" dirty="0"/>
              <a:t>trabajo</a:t>
            </a:r>
            <a:r>
              <a:rPr spc="665" dirty="0"/>
              <a:t> </a:t>
            </a:r>
            <a:r>
              <a:rPr spc="120" dirty="0"/>
              <a:t>en</a:t>
            </a:r>
            <a:r>
              <a:rPr spc="670" dirty="0"/>
              <a:t> </a:t>
            </a:r>
            <a:r>
              <a:rPr spc="155" dirty="0"/>
              <a:t>un</a:t>
            </a:r>
            <a:r>
              <a:rPr spc="670" dirty="0"/>
              <a:t> </a:t>
            </a:r>
            <a:r>
              <a:rPr spc="75" dirty="0"/>
              <a:t>proyecto.</a:t>
            </a:r>
            <a:r>
              <a:rPr spc="670" dirty="0"/>
              <a:t> </a:t>
            </a:r>
            <a:r>
              <a:rPr spc="80" dirty="0"/>
              <a:t>Los </a:t>
            </a:r>
            <a:r>
              <a:rPr spc="100" dirty="0"/>
              <a:t>calendarios</a:t>
            </a:r>
            <a:r>
              <a:rPr spc="505" dirty="0"/>
              <a:t> </a:t>
            </a:r>
            <a:r>
              <a:rPr spc="135" dirty="0"/>
              <a:t>son</a:t>
            </a:r>
            <a:r>
              <a:rPr spc="509" dirty="0"/>
              <a:t> </a:t>
            </a:r>
            <a:r>
              <a:rPr spc="110" dirty="0"/>
              <a:t>fundamentales</a:t>
            </a:r>
            <a:r>
              <a:rPr spc="505" dirty="0"/>
              <a:t> </a:t>
            </a:r>
            <a:r>
              <a:rPr spc="114" dirty="0"/>
              <a:t>para</a:t>
            </a:r>
            <a:r>
              <a:rPr spc="509" dirty="0"/>
              <a:t> </a:t>
            </a:r>
            <a:r>
              <a:rPr spc="85" dirty="0"/>
              <a:t>establecer</a:t>
            </a:r>
            <a:r>
              <a:rPr spc="505" dirty="0"/>
              <a:t> </a:t>
            </a:r>
            <a:r>
              <a:rPr spc="75" dirty="0"/>
              <a:t>la</a:t>
            </a:r>
            <a:r>
              <a:rPr spc="505" dirty="0"/>
              <a:t> </a:t>
            </a:r>
            <a:r>
              <a:rPr spc="105" dirty="0"/>
              <a:t>disponibilidad </a:t>
            </a:r>
            <a:r>
              <a:rPr spc="125" dirty="0"/>
              <a:t>de</a:t>
            </a:r>
            <a:r>
              <a:rPr spc="60" dirty="0"/>
              <a:t> </a:t>
            </a:r>
            <a:r>
              <a:rPr spc="105" dirty="0"/>
              <a:t>los</a:t>
            </a:r>
            <a:r>
              <a:rPr spc="65" dirty="0"/>
              <a:t> </a:t>
            </a:r>
            <a:r>
              <a:rPr spc="105" dirty="0"/>
              <a:t>recursos</a:t>
            </a:r>
            <a:r>
              <a:rPr spc="60" dirty="0"/>
              <a:t> </a:t>
            </a:r>
            <a:r>
              <a:rPr dirty="0"/>
              <a:t>y</a:t>
            </a:r>
            <a:r>
              <a:rPr spc="65" dirty="0"/>
              <a:t> </a:t>
            </a:r>
            <a:r>
              <a:rPr spc="120" dirty="0"/>
              <a:t>determinar</a:t>
            </a:r>
            <a:r>
              <a:rPr spc="60" dirty="0"/>
              <a:t> </a:t>
            </a:r>
            <a:r>
              <a:rPr spc="125" dirty="0"/>
              <a:t>cuándo</a:t>
            </a:r>
            <a:r>
              <a:rPr spc="65" dirty="0"/>
              <a:t> </a:t>
            </a:r>
            <a:r>
              <a:rPr spc="85" dirty="0"/>
              <a:t>se</a:t>
            </a:r>
            <a:r>
              <a:rPr spc="65" dirty="0"/>
              <a:t> </a:t>
            </a:r>
            <a:r>
              <a:rPr spc="135" dirty="0"/>
              <a:t>pueden</a:t>
            </a:r>
            <a:r>
              <a:rPr spc="60" dirty="0"/>
              <a:t> </a:t>
            </a:r>
            <a:r>
              <a:rPr spc="85" dirty="0"/>
              <a:t>realizar</a:t>
            </a:r>
            <a:r>
              <a:rPr spc="65" dirty="0"/>
              <a:t> </a:t>
            </a:r>
            <a:r>
              <a:rPr spc="80" dirty="0"/>
              <a:t>las</a:t>
            </a:r>
            <a:r>
              <a:rPr spc="60" dirty="0"/>
              <a:t> </a:t>
            </a:r>
            <a:r>
              <a:rPr spc="75" dirty="0"/>
              <a:t>tareas </a:t>
            </a:r>
            <a:r>
              <a:rPr spc="105" dirty="0"/>
              <a:t>del</a:t>
            </a:r>
            <a:r>
              <a:rPr spc="-145" dirty="0"/>
              <a:t> </a:t>
            </a:r>
            <a:r>
              <a:rPr spc="65" dirty="0"/>
              <a:t>proyecto.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ject 14"/>
          <p:cNvPicPr/>
          <p:nvPr/>
        </p:nvPicPr>
        <p:blipFill>
          <a:blip r:embed="rId2" cstate="print"/>
          <a:stretch>
            <a:fillRect/>
          </a:stretch>
        </p:blipFill>
        <p:spPr>
          <a:xfrm>
            <a:off x="10890625" y="1965020"/>
            <a:ext cx="5476859" cy="6353184"/>
          </a:xfrm>
          <a:prstGeom prst="rect">
            <a:avLst/>
          </a:prstGeom>
        </p:spPr>
      </p:pic>
      <p:sp>
        <p:nvSpPr>
          <p:cNvPr id="15" name="object 15"/>
          <p:cNvSpPr txBox="1">
            <a:spLocks noGrp="1"/>
          </p:cNvSpPr>
          <p:nvPr>
            <p:ph type="title"/>
          </p:nvPr>
        </p:nvSpPr>
        <p:spPr>
          <a:xfrm>
            <a:off x="3341676" y="2486979"/>
            <a:ext cx="5163068" cy="851515"/>
          </a:xfrm>
          <a:prstGeom prst="rect">
            <a:avLst/>
          </a:prstGeom>
        </p:spPr>
        <p:txBody>
          <a:bodyPr vert="horz" wrap="square" lIns="0" tIns="12700" rIns="0" bIns="0" rtlCol="0">
            <a:spAutoFit/>
          </a:bodyPr>
          <a:lstStyle/>
          <a:p>
            <a:pPr marL="12700">
              <a:lnSpc>
                <a:spcPct val="100000"/>
              </a:lnSpc>
              <a:spcBef>
                <a:spcPts val="100"/>
              </a:spcBef>
            </a:pPr>
            <a:r>
              <a:rPr dirty="0"/>
              <a:t>CALENDARIOS</a:t>
            </a:r>
          </a:p>
        </p:txBody>
      </p:sp>
      <p:sp>
        <p:nvSpPr>
          <p:cNvPr id="16" name="object 16"/>
          <p:cNvSpPr txBox="1"/>
          <p:nvPr/>
        </p:nvSpPr>
        <p:spPr>
          <a:xfrm>
            <a:off x="1973193" y="4160480"/>
            <a:ext cx="7900034" cy="461645"/>
          </a:xfrm>
          <a:prstGeom prst="rect">
            <a:avLst/>
          </a:prstGeom>
        </p:spPr>
        <p:txBody>
          <a:bodyPr vert="horz" wrap="square" lIns="0" tIns="13970" rIns="0" bIns="0" rtlCol="0">
            <a:spAutoFit/>
          </a:bodyPr>
          <a:lstStyle/>
          <a:p>
            <a:pPr marL="12700">
              <a:lnSpc>
                <a:spcPct val="100000"/>
              </a:lnSpc>
              <a:spcBef>
                <a:spcPts val="110"/>
              </a:spcBef>
              <a:tabLst>
                <a:tab pos="711200" algn="l"/>
                <a:tab pos="1431290" algn="l"/>
                <a:tab pos="3291204" algn="l"/>
                <a:tab pos="4863465" algn="l"/>
                <a:tab pos="6165215" algn="l"/>
              </a:tabLst>
            </a:pPr>
            <a:r>
              <a:rPr sz="2850" spc="40" dirty="0">
                <a:latin typeface="Tahoma"/>
                <a:cs typeface="Tahoma"/>
              </a:rPr>
              <a:t>En</a:t>
            </a:r>
            <a:r>
              <a:rPr sz="2850" dirty="0">
                <a:latin typeface="Tahoma"/>
                <a:cs typeface="Tahoma"/>
              </a:rPr>
              <a:t>	</a:t>
            </a:r>
            <a:r>
              <a:rPr sz="2850" spc="130" dirty="0">
                <a:latin typeface="Tahoma"/>
                <a:cs typeface="Tahoma"/>
              </a:rPr>
              <a:t>un</a:t>
            </a:r>
            <a:r>
              <a:rPr sz="2850" dirty="0">
                <a:latin typeface="Tahoma"/>
                <a:cs typeface="Tahoma"/>
              </a:rPr>
              <a:t>	</a:t>
            </a:r>
            <a:r>
              <a:rPr sz="2850" spc="60" dirty="0">
                <a:latin typeface="Tahoma"/>
                <a:cs typeface="Tahoma"/>
              </a:rPr>
              <a:t>proyecto,</a:t>
            </a:r>
            <a:r>
              <a:rPr sz="2850" dirty="0">
                <a:latin typeface="Tahoma"/>
                <a:cs typeface="Tahoma"/>
              </a:rPr>
              <a:t>	</a:t>
            </a:r>
            <a:r>
              <a:rPr sz="2850" spc="125" dirty="0">
                <a:latin typeface="Tahoma"/>
                <a:cs typeface="Tahoma"/>
              </a:rPr>
              <a:t>pueden</a:t>
            </a:r>
            <a:r>
              <a:rPr sz="2850" dirty="0">
                <a:latin typeface="Tahoma"/>
                <a:cs typeface="Tahoma"/>
              </a:rPr>
              <a:t>	</a:t>
            </a:r>
            <a:r>
              <a:rPr sz="2850" spc="70" dirty="0">
                <a:latin typeface="Tahoma"/>
                <a:cs typeface="Tahoma"/>
              </a:rPr>
              <a:t>existir</a:t>
            </a:r>
            <a:r>
              <a:rPr sz="2850" dirty="0">
                <a:latin typeface="Tahoma"/>
                <a:cs typeface="Tahoma"/>
              </a:rPr>
              <a:t>	</a:t>
            </a:r>
            <a:r>
              <a:rPr sz="2850" spc="85" dirty="0">
                <a:latin typeface="Tahoma"/>
                <a:cs typeface="Tahoma"/>
              </a:rPr>
              <a:t>diferentes</a:t>
            </a:r>
            <a:endParaRPr sz="2850" dirty="0">
              <a:latin typeface="Tahoma"/>
              <a:cs typeface="Tahoma"/>
            </a:endParaRPr>
          </a:p>
        </p:txBody>
      </p:sp>
      <p:sp>
        <p:nvSpPr>
          <p:cNvPr id="17" name="object 17"/>
          <p:cNvSpPr txBox="1"/>
          <p:nvPr/>
        </p:nvSpPr>
        <p:spPr>
          <a:xfrm>
            <a:off x="8664257" y="4665305"/>
            <a:ext cx="1208405" cy="461645"/>
          </a:xfrm>
          <a:prstGeom prst="rect">
            <a:avLst/>
          </a:prstGeom>
        </p:spPr>
        <p:txBody>
          <a:bodyPr vert="horz" wrap="square" lIns="0" tIns="13970" rIns="0" bIns="0" rtlCol="0">
            <a:spAutoFit/>
          </a:bodyPr>
          <a:lstStyle/>
          <a:p>
            <a:pPr marL="12700">
              <a:lnSpc>
                <a:spcPct val="100000"/>
              </a:lnSpc>
              <a:spcBef>
                <a:spcPts val="110"/>
              </a:spcBef>
            </a:pPr>
            <a:r>
              <a:rPr sz="2850" spc="60" dirty="0">
                <a:latin typeface="Tahoma"/>
                <a:cs typeface="Tahoma"/>
              </a:rPr>
              <a:t>Project</a:t>
            </a:r>
            <a:endParaRPr sz="2850">
              <a:latin typeface="Tahoma"/>
              <a:cs typeface="Tahoma"/>
            </a:endParaRPr>
          </a:p>
        </p:txBody>
      </p:sp>
      <p:pic>
        <p:nvPicPr>
          <p:cNvPr id="18" name="object 18"/>
          <p:cNvPicPr/>
          <p:nvPr/>
        </p:nvPicPr>
        <p:blipFill>
          <a:blip r:embed="rId3" cstate="print"/>
          <a:stretch>
            <a:fillRect/>
          </a:stretch>
        </p:blipFill>
        <p:spPr>
          <a:xfrm>
            <a:off x="2290693" y="5869868"/>
            <a:ext cx="123825" cy="123825"/>
          </a:xfrm>
          <a:prstGeom prst="rect">
            <a:avLst/>
          </a:prstGeom>
        </p:spPr>
      </p:pic>
      <p:pic>
        <p:nvPicPr>
          <p:cNvPr id="19" name="object 19"/>
          <p:cNvPicPr/>
          <p:nvPr/>
        </p:nvPicPr>
        <p:blipFill>
          <a:blip r:embed="rId3" cstate="print"/>
          <a:stretch>
            <a:fillRect/>
          </a:stretch>
        </p:blipFill>
        <p:spPr>
          <a:xfrm>
            <a:off x="2290693" y="6374693"/>
            <a:ext cx="123825" cy="123825"/>
          </a:xfrm>
          <a:prstGeom prst="rect">
            <a:avLst/>
          </a:prstGeom>
        </p:spPr>
      </p:pic>
      <p:pic>
        <p:nvPicPr>
          <p:cNvPr id="20" name="object 20"/>
          <p:cNvPicPr/>
          <p:nvPr/>
        </p:nvPicPr>
        <p:blipFill>
          <a:blip r:embed="rId3" cstate="print"/>
          <a:stretch>
            <a:fillRect/>
          </a:stretch>
        </p:blipFill>
        <p:spPr>
          <a:xfrm>
            <a:off x="2290693" y="6879518"/>
            <a:ext cx="123825" cy="123825"/>
          </a:xfrm>
          <a:prstGeom prst="rect">
            <a:avLst/>
          </a:prstGeom>
        </p:spPr>
      </p:pic>
      <p:sp>
        <p:nvSpPr>
          <p:cNvPr id="21" name="object 21"/>
          <p:cNvSpPr txBox="1"/>
          <p:nvPr/>
        </p:nvSpPr>
        <p:spPr>
          <a:xfrm>
            <a:off x="1973193" y="4596306"/>
            <a:ext cx="6396355" cy="2549525"/>
          </a:xfrm>
          <a:prstGeom prst="rect">
            <a:avLst/>
          </a:prstGeom>
        </p:spPr>
        <p:txBody>
          <a:bodyPr vert="horz" wrap="square" lIns="0" tIns="12700" rIns="0" bIns="0" rtlCol="0">
            <a:spAutoFit/>
          </a:bodyPr>
          <a:lstStyle/>
          <a:p>
            <a:pPr marL="12700" marR="5080">
              <a:lnSpc>
                <a:spcPct val="116199"/>
              </a:lnSpc>
              <a:spcBef>
                <a:spcPts val="100"/>
              </a:spcBef>
              <a:tabLst>
                <a:tab pos="1168400" algn="l"/>
                <a:tab pos="1915160" algn="l"/>
                <a:tab pos="4274820" algn="l"/>
                <a:tab pos="4779010" algn="l"/>
              </a:tabLst>
            </a:pPr>
            <a:r>
              <a:rPr sz="2850" spc="95" dirty="0">
                <a:latin typeface="Tahoma"/>
                <a:cs typeface="Tahoma"/>
              </a:rPr>
              <a:t>tipos</a:t>
            </a:r>
            <a:r>
              <a:rPr sz="2850" dirty="0">
                <a:latin typeface="Tahoma"/>
                <a:cs typeface="Tahoma"/>
              </a:rPr>
              <a:t>	</a:t>
            </a:r>
            <a:r>
              <a:rPr sz="2850" spc="100" dirty="0">
                <a:latin typeface="Tahoma"/>
                <a:cs typeface="Tahoma"/>
              </a:rPr>
              <a:t>de</a:t>
            </a:r>
            <a:r>
              <a:rPr sz="2850" dirty="0">
                <a:latin typeface="Tahoma"/>
                <a:cs typeface="Tahoma"/>
              </a:rPr>
              <a:t>	</a:t>
            </a:r>
            <a:r>
              <a:rPr sz="2850" spc="65" dirty="0">
                <a:latin typeface="Tahoma"/>
                <a:cs typeface="Tahoma"/>
              </a:rPr>
              <a:t>calendarios,</a:t>
            </a:r>
            <a:r>
              <a:rPr sz="2850" dirty="0">
                <a:latin typeface="Tahoma"/>
                <a:cs typeface="Tahoma"/>
              </a:rPr>
              <a:t>	</a:t>
            </a:r>
            <a:r>
              <a:rPr sz="2850" spc="-50" dirty="0">
                <a:latin typeface="Tahoma"/>
                <a:cs typeface="Tahoma"/>
              </a:rPr>
              <a:t>y</a:t>
            </a:r>
            <a:r>
              <a:rPr sz="2850" dirty="0">
                <a:latin typeface="Tahoma"/>
                <a:cs typeface="Tahoma"/>
              </a:rPr>
              <a:t>	</a:t>
            </a:r>
            <a:r>
              <a:rPr sz="2850" spc="110" dirty="0">
                <a:latin typeface="Tahoma"/>
                <a:cs typeface="Tahoma"/>
              </a:rPr>
              <a:t>Microsoft </a:t>
            </a:r>
            <a:r>
              <a:rPr sz="2850" spc="90" dirty="0">
                <a:latin typeface="Tahoma"/>
                <a:cs typeface="Tahoma"/>
              </a:rPr>
              <a:t>ofrece</a:t>
            </a:r>
            <a:r>
              <a:rPr sz="2850" spc="-135" dirty="0">
                <a:latin typeface="Tahoma"/>
                <a:cs typeface="Tahoma"/>
              </a:rPr>
              <a:t> </a:t>
            </a:r>
            <a:r>
              <a:rPr sz="2850" spc="100" dirty="0">
                <a:latin typeface="Tahoma"/>
                <a:cs typeface="Tahoma"/>
              </a:rPr>
              <a:t>cuatro</a:t>
            </a:r>
            <a:r>
              <a:rPr sz="2850" spc="-130" dirty="0">
                <a:latin typeface="Tahoma"/>
                <a:cs typeface="Tahoma"/>
              </a:rPr>
              <a:t> </a:t>
            </a:r>
            <a:r>
              <a:rPr sz="2850" spc="105" dirty="0">
                <a:latin typeface="Tahoma"/>
                <a:cs typeface="Tahoma"/>
              </a:rPr>
              <a:t>tipos</a:t>
            </a:r>
            <a:r>
              <a:rPr sz="2850" spc="-135" dirty="0">
                <a:latin typeface="Tahoma"/>
                <a:cs typeface="Tahoma"/>
              </a:rPr>
              <a:t> </a:t>
            </a:r>
            <a:r>
              <a:rPr sz="2850" spc="90" dirty="0">
                <a:latin typeface="Tahoma"/>
                <a:cs typeface="Tahoma"/>
              </a:rPr>
              <a:t>principales</a:t>
            </a:r>
            <a:endParaRPr sz="2850" dirty="0">
              <a:latin typeface="Tahoma"/>
              <a:cs typeface="Tahoma"/>
            </a:endParaRPr>
          </a:p>
          <a:p>
            <a:pPr marL="629920" marR="1847850">
              <a:lnSpc>
                <a:spcPct val="116199"/>
              </a:lnSpc>
            </a:pPr>
            <a:r>
              <a:rPr sz="2850" spc="105" dirty="0">
                <a:latin typeface="Tahoma"/>
                <a:cs typeface="Tahoma"/>
              </a:rPr>
              <a:t>Calendarios</a:t>
            </a:r>
            <a:r>
              <a:rPr sz="2850" spc="-135" dirty="0">
                <a:latin typeface="Tahoma"/>
                <a:cs typeface="Tahoma"/>
              </a:rPr>
              <a:t> </a:t>
            </a:r>
            <a:r>
              <a:rPr sz="2850" spc="85" dirty="0">
                <a:latin typeface="Tahoma"/>
                <a:cs typeface="Tahoma"/>
              </a:rPr>
              <a:t>base </a:t>
            </a:r>
            <a:r>
              <a:rPr sz="2850" spc="105" dirty="0">
                <a:latin typeface="Tahoma"/>
                <a:cs typeface="Tahoma"/>
              </a:rPr>
              <a:t>Calendario</a:t>
            </a:r>
            <a:r>
              <a:rPr sz="2850" spc="-130" dirty="0">
                <a:latin typeface="Tahoma"/>
                <a:cs typeface="Tahoma"/>
              </a:rPr>
              <a:t> </a:t>
            </a:r>
            <a:r>
              <a:rPr sz="2850" spc="125" dirty="0">
                <a:latin typeface="Tahoma"/>
                <a:cs typeface="Tahoma"/>
              </a:rPr>
              <a:t>de</a:t>
            </a:r>
            <a:r>
              <a:rPr sz="2850" spc="-125" dirty="0">
                <a:latin typeface="Tahoma"/>
                <a:cs typeface="Tahoma"/>
              </a:rPr>
              <a:t> </a:t>
            </a:r>
            <a:r>
              <a:rPr sz="2850" spc="95" dirty="0">
                <a:latin typeface="Tahoma"/>
                <a:cs typeface="Tahoma"/>
              </a:rPr>
              <a:t>recursos </a:t>
            </a:r>
            <a:r>
              <a:rPr sz="2850" spc="105" dirty="0">
                <a:latin typeface="Tahoma"/>
                <a:cs typeface="Tahoma"/>
              </a:rPr>
              <a:t>Calendario</a:t>
            </a:r>
            <a:r>
              <a:rPr sz="2850" spc="-130" dirty="0">
                <a:latin typeface="Tahoma"/>
                <a:cs typeface="Tahoma"/>
              </a:rPr>
              <a:t> </a:t>
            </a:r>
            <a:r>
              <a:rPr sz="2850" spc="125" dirty="0">
                <a:latin typeface="Tahoma"/>
                <a:cs typeface="Tahoma"/>
              </a:rPr>
              <a:t>de</a:t>
            </a:r>
            <a:r>
              <a:rPr sz="2850" spc="-125" dirty="0">
                <a:latin typeface="Tahoma"/>
                <a:cs typeface="Tahoma"/>
              </a:rPr>
              <a:t> </a:t>
            </a:r>
            <a:r>
              <a:rPr sz="2850" spc="75" dirty="0">
                <a:latin typeface="Tahoma"/>
                <a:cs typeface="Tahoma"/>
              </a:rPr>
              <a:t>tarea</a:t>
            </a:r>
            <a:endParaRPr sz="2850" dirty="0">
              <a:latin typeface="Tahoma"/>
              <a:cs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1665605"/>
            <a:ext cx="10386912" cy="856614"/>
          </a:xfrm>
          <a:prstGeom prst="rect">
            <a:avLst/>
          </a:prstGeom>
        </p:spPr>
        <p:txBody>
          <a:bodyPr vert="horz" wrap="square" lIns="0" tIns="12700" rIns="0" bIns="0" rtlCol="0">
            <a:spAutoFit/>
          </a:bodyPr>
          <a:lstStyle/>
          <a:p>
            <a:pPr marL="2878455">
              <a:lnSpc>
                <a:spcPct val="100000"/>
              </a:lnSpc>
              <a:spcBef>
                <a:spcPts val="100"/>
              </a:spcBef>
            </a:pPr>
            <a:r>
              <a:rPr dirty="0"/>
              <a:t>CALENDARIOS BASE</a:t>
            </a:r>
          </a:p>
        </p:txBody>
      </p:sp>
      <p:pic>
        <p:nvPicPr>
          <p:cNvPr id="15" name="object 15"/>
          <p:cNvPicPr/>
          <p:nvPr/>
        </p:nvPicPr>
        <p:blipFill>
          <a:blip r:embed="rId2" cstate="print"/>
          <a:stretch>
            <a:fillRect/>
          </a:stretch>
        </p:blipFill>
        <p:spPr>
          <a:xfrm>
            <a:off x="3721516" y="7784027"/>
            <a:ext cx="123825" cy="123825"/>
          </a:xfrm>
          <a:prstGeom prst="rect">
            <a:avLst/>
          </a:prstGeom>
        </p:spPr>
      </p:pic>
      <p:pic>
        <p:nvPicPr>
          <p:cNvPr id="16" name="object 16"/>
          <p:cNvPicPr/>
          <p:nvPr/>
        </p:nvPicPr>
        <p:blipFill>
          <a:blip r:embed="rId2" cstate="print"/>
          <a:stretch>
            <a:fillRect/>
          </a:stretch>
        </p:blipFill>
        <p:spPr>
          <a:xfrm>
            <a:off x="3721516" y="8288852"/>
            <a:ext cx="123825" cy="123825"/>
          </a:xfrm>
          <a:prstGeom prst="rect">
            <a:avLst/>
          </a:prstGeom>
        </p:spPr>
      </p:pic>
      <p:pic>
        <p:nvPicPr>
          <p:cNvPr id="17" name="object 17"/>
          <p:cNvPicPr/>
          <p:nvPr/>
        </p:nvPicPr>
        <p:blipFill>
          <a:blip r:embed="rId2" cstate="print"/>
          <a:stretch>
            <a:fillRect/>
          </a:stretch>
        </p:blipFill>
        <p:spPr>
          <a:xfrm>
            <a:off x="3721516" y="8793677"/>
            <a:ext cx="123825" cy="123825"/>
          </a:xfrm>
          <a:prstGeom prst="rect">
            <a:avLst/>
          </a:prstGeom>
        </p:spPr>
      </p:pic>
      <p:sp>
        <p:nvSpPr>
          <p:cNvPr id="18" name="object 18"/>
          <p:cNvSpPr txBox="1"/>
          <p:nvPr/>
        </p:nvSpPr>
        <p:spPr>
          <a:xfrm>
            <a:off x="3404016" y="3481515"/>
            <a:ext cx="11410950" cy="5578475"/>
          </a:xfrm>
          <a:prstGeom prst="rect">
            <a:avLst/>
          </a:prstGeom>
        </p:spPr>
        <p:txBody>
          <a:bodyPr vert="horz" wrap="square" lIns="0" tIns="12700" rIns="0" bIns="0" rtlCol="0">
            <a:spAutoFit/>
          </a:bodyPr>
          <a:lstStyle/>
          <a:p>
            <a:pPr marL="12700" marR="5080" algn="just">
              <a:lnSpc>
                <a:spcPct val="116199"/>
              </a:lnSpc>
              <a:spcBef>
                <a:spcPts val="100"/>
              </a:spcBef>
            </a:pPr>
            <a:r>
              <a:rPr sz="2850" spc="100" dirty="0">
                <a:latin typeface="Tahoma"/>
                <a:cs typeface="Tahoma"/>
              </a:rPr>
              <a:t>Definen</a:t>
            </a:r>
            <a:r>
              <a:rPr sz="2850" spc="130" dirty="0">
                <a:latin typeface="Tahoma"/>
                <a:cs typeface="Tahoma"/>
              </a:rPr>
              <a:t> </a:t>
            </a:r>
            <a:r>
              <a:rPr sz="2850" spc="75" dirty="0">
                <a:latin typeface="Tahoma"/>
                <a:cs typeface="Tahoma"/>
              </a:rPr>
              <a:t>el</a:t>
            </a:r>
            <a:r>
              <a:rPr sz="2850" spc="145" dirty="0">
                <a:latin typeface="Tahoma"/>
                <a:cs typeface="Tahoma"/>
              </a:rPr>
              <a:t> </a:t>
            </a:r>
            <a:r>
              <a:rPr sz="2850" spc="125" dirty="0">
                <a:latin typeface="Tahoma"/>
                <a:cs typeface="Tahoma"/>
              </a:rPr>
              <a:t>horario</a:t>
            </a:r>
            <a:r>
              <a:rPr sz="2850" spc="140" dirty="0">
                <a:latin typeface="Tahoma"/>
                <a:cs typeface="Tahoma"/>
              </a:rPr>
              <a:t> </a:t>
            </a:r>
            <a:r>
              <a:rPr sz="2850" spc="105" dirty="0">
                <a:latin typeface="Tahoma"/>
                <a:cs typeface="Tahoma"/>
              </a:rPr>
              <a:t>estándar</a:t>
            </a:r>
            <a:r>
              <a:rPr sz="2850" spc="145" dirty="0">
                <a:latin typeface="Tahoma"/>
                <a:cs typeface="Tahoma"/>
              </a:rPr>
              <a:t> </a:t>
            </a:r>
            <a:r>
              <a:rPr sz="2850" spc="110" dirty="0">
                <a:latin typeface="Tahoma"/>
                <a:cs typeface="Tahoma"/>
              </a:rPr>
              <a:t>laborable</a:t>
            </a:r>
            <a:r>
              <a:rPr sz="2850" spc="140" dirty="0">
                <a:latin typeface="Tahoma"/>
                <a:cs typeface="Tahoma"/>
              </a:rPr>
              <a:t> </a:t>
            </a:r>
            <a:r>
              <a:rPr sz="2850" dirty="0">
                <a:latin typeface="Tahoma"/>
                <a:cs typeface="Tahoma"/>
              </a:rPr>
              <a:t>y</a:t>
            </a:r>
            <a:r>
              <a:rPr sz="2850" spc="140" dirty="0">
                <a:latin typeface="Tahoma"/>
                <a:cs typeface="Tahoma"/>
              </a:rPr>
              <a:t> </a:t>
            </a:r>
            <a:r>
              <a:rPr sz="2850" spc="160" dirty="0">
                <a:latin typeface="Tahoma"/>
                <a:cs typeface="Tahoma"/>
              </a:rPr>
              <a:t>no</a:t>
            </a:r>
            <a:r>
              <a:rPr sz="2850" spc="145" dirty="0">
                <a:latin typeface="Tahoma"/>
                <a:cs typeface="Tahoma"/>
              </a:rPr>
              <a:t> </a:t>
            </a:r>
            <a:r>
              <a:rPr sz="2850" spc="110" dirty="0">
                <a:latin typeface="Tahoma"/>
                <a:cs typeface="Tahoma"/>
              </a:rPr>
              <a:t>laborable</a:t>
            </a:r>
            <a:r>
              <a:rPr sz="2850" spc="145" dirty="0">
                <a:latin typeface="Tahoma"/>
                <a:cs typeface="Tahoma"/>
              </a:rPr>
              <a:t> </a:t>
            </a:r>
            <a:r>
              <a:rPr sz="2850" spc="125" dirty="0">
                <a:latin typeface="Tahoma"/>
                <a:cs typeface="Tahoma"/>
              </a:rPr>
              <a:t>de</a:t>
            </a:r>
            <a:r>
              <a:rPr sz="2850" spc="140" dirty="0">
                <a:latin typeface="Tahoma"/>
                <a:cs typeface="Tahoma"/>
              </a:rPr>
              <a:t> </a:t>
            </a:r>
            <a:r>
              <a:rPr sz="2850" spc="125" dirty="0">
                <a:latin typeface="Tahoma"/>
                <a:cs typeface="Tahoma"/>
              </a:rPr>
              <a:t>todos</a:t>
            </a:r>
            <a:r>
              <a:rPr sz="2850" spc="145" dirty="0">
                <a:latin typeface="Tahoma"/>
                <a:cs typeface="Tahoma"/>
              </a:rPr>
              <a:t> </a:t>
            </a:r>
            <a:r>
              <a:rPr sz="2850" spc="80" dirty="0">
                <a:latin typeface="Tahoma"/>
                <a:cs typeface="Tahoma"/>
              </a:rPr>
              <a:t>los </a:t>
            </a:r>
            <a:r>
              <a:rPr sz="2850" spc="95" dirty="0">
                <a:latin typeface="Tahoma"/>
                <a:cs typeface="Tahoma"/>
              </a:rPr>
              <a:t>proyectos</a:t>
            </a:r>
            <a:r>
              <a:rPr sz="2850" spc="-80" dirty="0">
                <a:latin typeface="Tahoma"/>
                <a:cs typeface="Tahoma"/>
              </a:rPr>
              <a:t> </a:t>
            </a:r>
            <a:r>
              <a:rPr sz="2850" spc="125" dirty="0">
                <a:latin typeface="Tahoma"/>
                <a:cs typeface="Tahoma"/>
              </a:rPr>
              <a:t>de</a:t>
            </a:r>
            <a:r>
              <a:rPr sz="2850" spc="-80" dirty="0">
                <a:latin typeface="Tahoma"/>
                <a:cs typeface="Tahoma"/>
              </a:rPr>
              <a:t> </a:t>
            </a:r>
            <a:r>
              <a:rPr sz="2850" spc="75" dirty="0">
                <a:latin typeface="Tahoma"/>
                <a:cs typeface="Tahoma"/>
              </a:rPr>
              <a:t>la</a:t>
            </a:r>
            <a:r>
              <a:rPr sz="2850" spc="-75" dirty="0">
                <a:latin typeface="Tahoma"/>
                <a:cs typeface="Tahoma"/>
              </a:rPr>
              <a:t> </a:t>
            </a:r>
            <a:r>
              <a:rPr sz="2850" spc="75" dirty="0">
                <a:latin typeface="Tahoma"/>
                <a:cs typeface="Tahoma"/>
              </a:rPr>
              <a:t>organización.</a:t>
            </a:r>
            <a:r>
              <a:rPr sz="2850" spc="-80" dirty="0">
                <a:latin typeface="Tahoma"/>
                <a:cs typeface="Tahoma"/>
              </a:rPr>
              <a:t> </a:t>
            </a:r>
            <a:r>
              <a:rPr sz="2850" spc="70" dirty="0">
                <a:latin typeface="Tahoma"/>
                <a:cs typeface="Tahoma"/>
              </a:rPr>
              <a:t>Especifican</a:t>
            </a:r>
            <a:r>
              <a:rPr sz="2850" spc="-75" dirty="0">
                <a:latin typeface="Tahoma"/>
                <a:cs typeface="Tahoma"/>
              </a:rPr>
              <a:t> </a:t>
            </a:r>
            <a:r>
              <a:rPr sz="2850" spc="75" dirty="0">
                <a:latin typeface="Tahoma"/>
                <a:cs typeface="Tahoma"/>
              </a:rPr>
              <a:t>el</a:t>
            </a:r>
            <a:r>
              <a:rPr sz="2850" spc="-80" dirty="0">
                <a:latin typeface="Tahoma"/>
                <a:cs typeface="Tahoma"/>
              </a:rPr>
              <a:t> </a:t>
            </a:r>
            <a:r>
              <a:rPr sz="2850" spc="125" dirty="0">
                <a:latin typeface="Tahoma"/>
                <a:cs typeface="Tahoma"/>
              </a:rPr>
              <a:t>horario</a:t>
            </a:r>
            <a:r>
              <a:rPr sz="2850" spc="-75" dirty="0">
                <a:latin typeface="Tahoma"/>
                <a:cs typeface="Tahoma"/>
              </a:rPr>
              <a:t> </a:t>
            </a:r>
            <a:r>
              <a:rPr sz="2850" spc="110" dirty="0">
                <a:latin typeface="Tahoma"/>
                <a:cs typeface="Tahoma"/>
              </a:rPr>
              <a:t>laboral</a:t>
            </a:r>
            <a:r>
              <a:rPr sz="2850" spc="-80" dirty="0">
                <a:latin typeface="Tahoma"/>
                <a:cs typeface="Tahoma"/>
              </a:rPr>
              <a:t> </a:t>
            </a:r>
            <a:r>
              <a:rPr sz="2850" spc="125" dirty="0">
                <a:latin typeface="Tahoma"/>
                <a:cs typeface="Tahoma"/>
              </a:rPr>
              <a:t>de</a:t>
            </a:r>
            <a:r>
              <a:rPr sz="2850" spc="-80" dirty="0">
                <a:latin typeface="Tahoma"/>
                <a:cs typeface="Tahoma"/>
              </a:rPr>
              <a:t> </a:t>
            </a:r>
            <a:r>
              <a:rPr sz="2850" spc="70" dirty="0">
                <a:latin typeface="Tahoma"/>
                <a:cs typeface="Tahoma"/>
              </a:rPr>
              <a:t>cada </a:t>
            </a:r>
            <a:r>
              <a:rPr sz="2850" dirty="0">
                <a:latin typeface="Tahoma"/>
                <a:cs typeface="Tahoma"/>
              </a:rPr>
              <a:t>dia,</a:t>
            </a:r>
            <a:r>
              <a:rPr sz="2850" spc="-125" dirty="0">
                <a:latin typeface="Tahoma"/>
                <a:cs typeface="Tahoma"/>
              </a:rPr>
              <a:t> </a:t>
            </a:r>
            <a:r>
              <a:rPr sz="2850" spc="105" dirty="0">
                <a:latin typeface="Tahoma"/>
                <a:cs typeface="Tahoma"/>
              </a:rPr>
              <a:t>los</a:t>
            </a:r>
            <a:r>
              <a:rPr sz="2850" spc="-125" dirty="0">
                <a:latin typeface="Tahoma"/>
                <a:cs typeface="Tahoma"/>
              </a:rPr>
              <a:t> </a:t>
            </a:r>
            <a:r>
              <a:rPr sz="2850" spc="100" dirty="0">
                <a:latin typeface="Tahoma"/>
                <a:cs typeface="Tahoma"/>
              </a:rPr>
              <a:t>días</a:t>
            </a:r>
            <a:r>
              <a:rPr sz="2850" spc="-120" dirty="0">
                <a:latin typeface="Tahoma"/>
                <a:cs typeface="Tahoma"/>
              </a:rPr>
              <a:t> </a:t>
            </a:r>
            <a:r>
              <a:rPr sz="2850" spc="100" dirty="0">
                <a:latin typeface="Tahoma"/>
                <a:cs typeface="Tahoma"/>
              </a:rPr>
              <a:t>laborales</a:t>
            </a:r>
            <a:r>
              <a:rPr sz="2850" spc="-125" dirty="0">
                <a:latin typeface="Tahoma"/>
                <a:cs typeface="Tahoma"/>
              </a:rPr>
              <a:t> </a:t>
            </a:r>
            <a:r>
              <a:rPr sz="2850" spc="125" dirty="0">
                <a:latin typeface="Tahoma"/>
                <a:cs typeface="Tahoma"/>
              </a:rPr>
              <a:t>de</a:t>
            </a:r>
            <a:r>
              <a:rPr sz="2850" spc="-125" dirty="0">
                <a:latin typeface="Tahoma"/>
                <a:cs typeface="Tahoma"/>
              </a:rPr>
              <a:t> </a:t>
            </a:r>
            <a:r>
              <a:rPr sz="2850" spc="75" dirty="0">
                <a:latin typeface="Tahoma"/>
                <a:cs typeface="Tahoma"/>
              </a:rPr>
              <a:t>la</a:t>
            </a:r>
            <a:r>
              <a:rPr sz="2850" spc="-120" dirty="0">
                <a:latin typeface="Tahoma"/>
                <a:cs typeface="Tahoma"/>
              </a:rPr>
              <a:t> </a:t>
            </a:r>
            <a:r>
              <a:rPr sz="2850" spc="125" dirty="0">
                <a:latin typeface="Tahoma"/>
                <a:cs typeface="Tahoma"/>
              </a:rPr>
              <a:t>semana</a:t>
            </a:r>
            <a:r>
              <a:rPr sz="2850" spc="-125" dirty="0">
                <a:latin typeface="Tahoma"/>
                <a:cs typeface="Tahoma"/>
              </a:rPr>
              <a:t> </a:t>
            </a:r>
            <a:r>
              <a:rPr sz="2850" dirty="0">
                <a:latin typeface="Tahoma"/>
                <a:cs typeface="Tahoma"/>
              </a:rPr>
              <a:t>y</a:t>
            </a:r>
            <a:r>
              <a:rPr sz="2850" spc="-125" dirty="0">
                <a:latin typeface="Tahoma"/>
                <a:cs typeface="Tahoma"/>
              </a:rPr>
              <a:t> </a:t>
            </a:r>
            <a:r>
              <a:rPr sz="2850" spc="80" dirty="0">
                <a:latin typeface="Tahoma"/>
                <a:cs typeface="Tahoma"/>
              </a:rPr>
              <a:t>las</a:t>
            </a:r>
            <a:r>
              <a:rPr sz="2850" spc="-120" dirty="0">
                <a:latin typeface="Tahoma"/>
                <a:cs typeface="Tahoma"/>
              </a:rPr>
              <a:t> </a:t>
            </a:r>
            <a:r>
              <a:rPr sz="2850" spc="95" dirty="0">
                <a:latin typeface="Tahoma"/>
                <a:cs typeface="Tahoma"/>
              </a:rPr>
              <a:t>excepciones</a:t>
            </a:r>
            <a:r>
              <a:rPr sz="2850" spc="-125" dirty="0">
                <a:latin typeface="Tahoma"/>
                <a:cs typeface="Tahoma"/>
              </a:rPr>
              <a:t> </a:t>
            </a:r>
            <a:r>
              <a:rPr sz="2850" spc="155" dirty="0">
                <a:latin typeface="Tahoma"/>
                <a:cs typeface="Tahoma"/>
              </a:rPr>
              <a:t>como</a:t>
            </a:r>
            <a:r>
              <a:rPr sz="2850" spc="-125" dirty="0">
                <a:latin typeface="Tahoma"/>
                <a:cs typeface="Tahoma"/>
              </a:rPr>
              <a:t> </a:t>
            </a:r>
            <a:r>
              <a:rPr sz="2850" spc="105" dirty="0">
                <a:latin typeface="Tahoma"/>
                <a:cs typeface="Tahoma"/>
              </a:rPr>
              <a:t>los</a:t>
            </a:r>
            <a:r>
              <a:rPr sz="2850" spc="-120" dirty="0">
                <a:latin typeface="Tahoma"/>
                <a:cs typeface="Tahoma"/>
              </a:rPr>
              <a:t> </a:t>
            </a:r>
            <a:r>
              <a:rPr sz="2850" spc="80" dirty="0">
                <a:latin typeface="Tahoma"/>
                <a:cs typeface="Tahoma"/>
              </a:rPr>
              <a:t>días </a:t>
            </a:r>
            <a:r>
              <a:rPr sz="2850" spc="70" dirty="0">
                <a:latin typeface="Tahoma"/>
                <a:cs typeface="Tahoma"/>
              </a:rPr>
              <a:t>festivos</a:t>
            </a:r>
            <a:r>
              <a:rPr sz="2850" spc="-140" dirty="0">
                <a:latin typeface="Tahoma"/>
                <a:cs typeface="Tahoma"/>
              </a:rPr>
              <a:t> </a:t>
            </a:r>
            <a:r>
              <a:rPr sz="2850" spc="125" dirty="0">
                <a:latin typeface="Tahoma"/>
                <a:cs typeface="Tahoma"/>
              </a:rPr>
              <a:t>de</a:t>
            </a:r>
            <a:r>
              <a:rPr sz="2850" spc="-135" dirty="0">
                <a:latin typeface="Tahoma"/>
                <a:cs typeface="Tahoma"/>
              </a:rPr>
              <a:t> </a:t>
            </a:r>
            <a:r>
              <a:rPr sz="2850" spc="75" dirty="0">
                <a:latin typeface="Tahoma"/>
                <a:cs typeface="Tahoma"/>
              </a:rPr>
              <a:t>la</a:t>
            </a:r>
            <a:r>
              <a:rPr sz="2850" spc="-135" dirty="0">
                <a:latin typeface="Tahoma"/>
                <a:cs typeface="Tahoma"/>
              </a:rPr>
              <a:t> </a:t>
            </a:r>
            <a:r>
              <a:rPr sz="2850" spc="85" dirty="0">
                <a:latin typeface="Tahoma"/>
                <a:cs typeface="Tahoma"/>
              </a:rPr>
              <a:t>empresa.</a:t>
            </a:r>
            <a:endParaRPr sz="2850">
              <a:latin typeface="Tahoma"/>
              <a:cs typeface="Tahoma"/>
            </a:endParaRPr>
          </a:p>
          <a:p>
            <a:pPr>
              <a:lnSpc>
                <a:spcPct val="100000"/>
              </a:lnSpc>
              <a:spcBef>
                <a:spcPts val="530"/>
              </a:spcBef>
            </a:pPr>
            <a:endParaRPr sz="2850">
              <a:latin typeface="Tahoma"/>
              <a:cs typeface="Tahoma"/>
            </a:endParaRPr>
          </a:p>
          <a:p>
            <a:pPr marL="12700" marR="5080" algn="just">
              <a:lnSpc>
                <a:spcPct val="116199"/>
              </a:lnSpc>
              <a:spcBef>
                <a:spcPts val="5"/>
              </a:spcBef>
            </a:pPr>
            <a:r>
              <a:rPr sz="2850" spc="65" dirty="0">
                <a:latin typeface="Tahoma"/>
                <a:cs typeface="Tahoma"/>
              </a:rPr>
              <a:t>En</a:t>
            </a:r>
            <a:r>
              <a:rPr sz="2850" spc="-40" dirty="0">
                <a:latin typeface="Tahoma"/>
                <a:cs typeface="Tahoma"/>
              </a:rPr>
              <a:t>  </a:t>
            </a:r>
            <a:r>
              <a:rPr sz="2850" spc="75" dirty="0">
                <a:latin typeface="Tahoma"/>
                <a:cs typeface="Tahoma"/>
              </a:rPr>
              <a:t>project</a:t>
            </a:r>
            <a:r>
              <a:rPr sz="2850" spc="-35" dirty="0">
                <a:latin typeface="Tahoma"/>
                <a:cs typeface="Tahoma"/>
              </a:rPr>
              <a:t>  </a:t>
            </a:r>
            <a:r>
              <a:rPr sz="2850" spc="85" dirty="0">
                <a:latin typeface="Tahoma"/>
                <a:cs typeface="Tahoma"/>
              </a:rPr>
              <a:t>se</a:t>
            </a:r>
            <a:r>
              <a:rPr sz="2850" spc="-35" dirty="0">
                <a:latin typeface="Tahoma"/>
                <a:cs typeface="Tahoma"/>
              </a:rPr>
              <a:t>  </a:t>
            </a:r>
            <a:r>
              <a:rPr sz="2850" spc="105" dirty="0">
                <a:latin typeface="Tahoma"/>
                <a:cs typeface="Tahoma"/>
              </a:rPr>
              <a:t>manejan</a:t>
            </a:r>
            <a:r>
              <a:rPr sz="2850" spc="-40" dirty="0">
                <a:latin typeface="Tahoma"/>
                <a:cs typeface="Tahoma"/>
              </a:rPr>
              <a:t>  </a:t>
            </a:r>
            <a:r>
              <a:rPr sz="2850" spc="125" dirty="0">
                <a:latin typeface="Tahoma"/>
                <a:cs typeface="Tahoma"/>
              </a:rPr>
              <a:t>de</a:t>
            </a:r>
            <a:r>
              <a:rPr sz="2850" spc="-35" dirty="0">
                <a:latin typeface="Tahoma"/>
                <a:cs typeface="Tahoma"/>
              </a:rPr>
              <a:t>  </a:t>
            </a:r>
            <a:r>
              <a:rPr sz="2850" spc="130" dirty="0">
                <a:latin typeface="Tahoma"/>
                <a:cs typeface="Tahoma"/>
              </a:rPr>
              <a:t>manera</a:t>
            </a:r>
            <a:r>
              <a:rPr sz="2850" spc="-35" dirty="0">
                <a:latin typeface="Tahoma"/>
                <a:cs typeface="Tahoma"/>
              </a:rPr>
              <a:t>  </a:t>
            </a:r>
            <a:r>
              <a:rPr sz="2850" spc="120" dirty="0">
                <a:latin typeface="Tahoma"/>
                <a:cs typeface="Tahoma"/>
              </a:rPr>
              <a:t>predeterminada</a:t>
            </a:r>
            <a:r>
              <a:rPr sz="2850" spc="-35" dirty="0">
                <a:latin typeface="Tahoma"/>
                <a:cs typeface="Tahoma"/>
              </a:rPr>
              <a:t>  </a:t>
            </a:r>
            <a:r>
              <a:rPr sz="2850" spc="75" dirty="0">
                <a:latin typeface="Tahoma"/>
                <a:cs typeface="Tahoma"/>
              </a:rPr>
              <a:t>3</a:t>
            </a:r>
            <a:r>
              <a:rPr sz="2850" spc="-40" dirty="0">
                <a:latin typeface="Tahoma"/>
                <a:cs typeface="Tahoma"/>
              </a:rPr>
              <a:t>  </a:t>
            </a:r>
            <a:r>
              <a:rPr sz="2850" spc="105" dirty="0">
                <a:latin typeface="Tahoma"/>
                <a:cs typeface="Tahoma"/>
              </a:rPr>
              <a:t>tipos</a:t>
            </a:r>
            <a:r>
              <a:rPr sz="2850" spc="-35" dirty="0">
                <a:latin typeface="Tahoma"/>
                <a:cs typeface="Tahoma"/>
              </a:rPr>
              <a:t>  </a:t>
            </a:r>
            <a:r>
              <a:rPr sz="2850" spc="100" dirty="0">
                <a:latin typeface="Tahoma"/>
                <a:cs typeface="Tahoma"/>
              </a:rPr>
              <a:t>de calendarios</a:t>
            </a:r>
            <a:r>
              <a:rPr sz="2850" spc="-125" dirty="0">
                <a:latin typeface="Tahoma"/>
                <a:cs typeface="Tahoma"/>
              </a:rPr>
              <a:t> </a:t>
            </a:r>
            <a:r>
              <a:rPr sz="2850" spc="-20" dirty="0">
                <a:latin typeface="Tahoma"/>
                <a:cs typeface="Tahoma"/>
              </a:rPr>
              <a:t>base:</a:t>
            </a:r>
            <a:endParaRPr sz="2850">
              <a:latin typeface="Tahoma"/>
              <a:cs typeface="Tahoma"/>
            </a:endParaRPr>
          </a:p>
          <a:p>
            <a:pPr>
              <a:lnSpc>
                <a:spcPct val="100000"/>
              </a:lnSpc>
              <a:spcBef>
                <a:spcPts val="535"/>
              </a:spcBef>
            </a:pPr>
            <a:endParaRPr sz="2850">
              <a:latin typeface="Tahoma"/>
              <a:cs typeface="Tahoma"/>
            </a:endParaRPr>
          </a:p>
          <a:p>
            <a:pPr marL="629920" marR="9272905">
              <a:lnSpc>
                <a:spcPct val="116199"/>
              </a:lnSpc>
            </a:pPr>
            <a:r>
              <a:rPr sz="2850" spc="80" dirty="0">
                <a:latin typeface="Tahoma"/>
                <a:cs typeface="Tahoma"/>
              </a:rPr>
              <a:t>Estándar </a:t>
            </a:r>
            <a:r>
              <a:rPr sz="2850" spc="75" dirty="0">
                <a:latin typeface="Tahoma"/>
                <a:cs typeface="Tahoma"/>
              </a:rPr>
              <a:t>24</a:t>
            </a:r>
            <a:r>
              <a:rPr sz="2850" spc="-150" dirty="0">
                <a:latin typeface="Tahoma"/>
                <a:cs typeface="Tahoma"/>
              </a:rPr>
              <a:t> </a:t>
            </a:r>
            <a:r>
              <a:rPr sz="2850" spc="110" dirty="0">
                <a:latin typeface="Tahoma"/>
                <a:cs typeface="Tahoma"/>
              </a:rPr>
              <a:t>horas</a:t>
            </a:r>
            <a:endParaRPr sz="2850">
              <a:latin typeface="Tahoma"/>
              <a:cs typeface="Tahoma"/>
            </a:endParaRPr>
          </a:p>
          <a:p>
            <a:pPr marL="629920">
              <a:lnSpc>
                <a:spcPct val="100000"/>
              </a:lnSpc>
              <a:spcBef>
                <a:spcPts val="555"/>
              </a:spcBef>
            </a:pPr>
            <a:r>
              <a:rPr sz="2850" spc="100" dirty="0">
                <a:latin typeface="Tahoma"/>
                <a:cs typeface="Tahoma"/>
              </a:rPr>
              <a:t>Turno</a:t>
            </a:r>
            <a:r>
              <a:rPr sz="2850" spc="-140" dirty="0">
                <a:latin typeface="Tahoma"/>
                <a:cs typeface="Tahoma"/>
              </a:rPr>
              <a:t> </a:t>
            </a:r>
            <a:r>
              <a:rPr sz="2850" spc="125" dirty="0">
                <a:latin typeface="Tahoma"/>
                <a:cs typeface="Tahoma"/>
              </a:rPr>
              <a:t>de</a:t>
            </a:r>
            <a:r>
              <a:rPr sz="2850" spc="-135" dirty="0">
                <a:latin typeface="Tahoma"/>
                <a:cs typeface="Tahoma"/>
              </a:rPr>
              <a:t> </a:t>
            </a:r>
            <a:r>
              <a:rPr sz="2850" spc="95" dirty="0">
                <a:latin typeface="Tahoma"/>
                <a:cs typeface="Tahoma"/>
              </a:rPr>
              <a:t>noche</a:t>
            </a:r>
            <a:endParaRPr sz="2850">
              <a:latin typeface="Tahoma"/>
              <a:cs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ject 14"/>
          <p:cNvPicPr/>
          <p:nvPr/>
        </p:nvPicPr>
        <p:blipFill>
          <a:blip r:embed="rId2" cstate="print"/>
          <a:stretch>
            <a:fillRect/>
          </a:stretch>
        </p:blipFill>
        <p:spPr>
          <a:xfrm>
            <a:off x="10139007" y="1594318"/>
            <a:ext cx="6353189" cy="6353187"/>
          </a:xfrm>
          <a:prstGeom prst="rect">
            <a:avLst/>
          </a:prstGeom>
        </p:spPr>
      </p:pic>
      <p:sp>
        <p:nvSpPr>
          <p:cNvPr id="15" name="object 15"/>
          <p:cNvSpPr txBox="1">
            <a:spLocks noGrp="1"/>
          </p:cNvSpPr>
          <p:nvPr>
            <p:ph type="title"/>
          </p:nvPr>
        </p:nvSpPr>
        <p:spPr>
          <a:xfrm>
            <a:off x="-4549" y="2525238"/>
            <a:ext cx="10451257" cy="1690206"/>
          </a:xfrm>
          <a:prstGeom prst="rect">
            <a:avLst/>
          </a:prstGeom>
        </p:spPr>
        <p:txBody>
          <a:bodyPr vert="horz" wrap="square" lIns="0" tIns="12700" rIns="0" bIns="0" rtlCol="0">
            <a:spAutoFit/>
          </a:bodyPr>
          <a:lstStyle/>
          <a:p>
            <a:pPr marL="1737995" algn="ctr">
              <a:lnSpc>
                <a:spcPct val="100000"/>
              </a:lnSpc>
              <a:spcBef>
                <a:spcPts val="100"/>
              </a:spcBef>
            </a:pPr>
            <a:r>
              <a:rPr dirty="0"/>
              <a:t>CALENDARIO BASE: ESTÁNDAR</a:t>
            </a:r>
          </a:p>
        </p:txBody>
      </p:sp>
      <p:pic>
        <p:nvPicPr>
          <p:cNvPr id="16" name="object 16"/>
          <p:cNvPicPr/>
          <p:nvPr/>
        </p:nvPicPr>
        <p:blipFill>
          <a:blip r:embed="rId3" cstate="print"/>
          <a:stretch>
            <a:fillRect/>
          </a:stretch>
        </p:blipFill>
        <p:spPr>
          <a:xfrm>
            <a:off x="2548347" y="5975475"/>
            <a:ext cx="123825" cy="123825"/>
          </a:xfrm>
          <a:prstGeom prst="rect">
            <a:avLst/>
          </a:prstGeom>
        </p:spPr>
      </p:pic>
      <p:pic>
        <p:nvPicPr>
          <p:cNvPr id="17" name="object 17"/>
          <p:cNvPicPr/>
          <p:nvPr/>
        </p:nvPicPr>
        <p:blipFill>
          <a:blip r:embed="rId3" cstate="print"/>
          <a:stretch>
            <a:fillRect/>
          </a:stretch>
        </p:blipFill>
        <p:spPr>
          <a:xfrm>
            <a:off x="2548347" y="6480300"/>
            <a:ext cx="123825" cy="123825"/>
          </a:xfrm>
          <a:prstGeom prst="rect">
            <a:avLst/>
          </a:prstGeom>
        </p:spPr>
      </p:pic>
      <p:pic>
        <p:nvPicPr>
          <p:cNvPr id="18" name="object 18"/>
          <p:cNvPicPr/>
          <p:nvPr/>
        </p:nvPicPr>
        <p:blipFill>
          <a:blip r:embed="rId3" cstate="print"/>
          <a:stretch>
            <a:fillRect/>
          </a:stretch>
        </p:blipFill>
        <p:spPr>
          <a:xfrm>
            <a:off x="2548347" y="6985125"/>
            <a:ext cx="123825" cy="123825"/>
          </a:xfrm>
          <a:prstGeom prst="rect">
            <a:avLst/>
          </a:prstGeom>
        </p:spPr>
      </p:pic>
      <p:sp>
        <p:nvSpPr>
          <p:cNvPr id="19" name="object 19"/>
          <p:cNvSpPr txBox="1"/>
          <p:nvPr/>
        </p:nvSpPr>
        <p:spPr>
          <a:xfrm>
            <a:off x="2230847" y="4770912"/>
            <a:ext cx="7355840" cy="2985770"/>
          </a:xfrm>
          <a:prstGeom prst="rect">
            <a:avLst/>
          </a:prstGeom>
        </p:spPr>
        <p:txBody>
          <a:bodyPr vert="horz" wrap="square" lIns="0" tIns="13970" rIns="0" bIns="0" rtlCol="0">
            <a:spAutoFit/>
          </a:bodyPr>
          <a:lstStyle/>
          <a:p>
            <a:pPr marL="12700">
              <a:lnSpc>
                <a:spcPct val="100000"/>
              </a:lnSpc>
              <a:spcBef>
                <a:spcPts val="110"/>
              </a:spcBef>
            </a:pPr>
            <a:r>
              <a:rPr sz="2850" spc="50" dirty="0">
                <a:latin typeface="Tahoma"/>
                <a:cs typeface="Tahoma"/>
              </a:rPr>
              <a:t>Está</a:t>
            </a:r>
            <a:r>
              <a:rPr sz="2850" spc="-145" dirty="0">
                <a:latin typeface="Tahoma"/>
                <a:cs typeface="Tahoma"/>
              </a:rPr>
              <a:t> </a:t>
            </a:r>
            <a:r>
              <a:rPr sz="2850" spc="114" dirty="0">
                <a:latin typeface="Tahoma"/>
                <a:cs typeface="Tahoma"/>
              </a:rPr>
              <a:t>definido</a:t>
            </a:r>
            <a:r>
              <a:rPr sz="2850" spc="-145" dirty="0">
                <a:latin typeface="Tahoma"/>
                <a:cs typeface="Tahoma"/>
              </a:rPr>
              <a:t> </a:t>
            </a:r>
            <a:r>
              <a:rPr sz="2850" spc="155" dirty="0">
                <a:latin typeface="Tahoma"/>
                <a:cs typeface="Tahoma"/>
              </a:rPr>
              <a:t>por</a:t>
            </a:r>
            <a:r>
              <a:rPr sz="2850" spc="-140" dirty="0">
                <a:latin typeface="Tahoma"/>
                <a:cs typeface="Tahoma"/>
              </a:rPr>
              <a:t> </a:t>
            </a:r>
            <a:r>
              <a:rPr sz="2850" spc="125" dirty="0">
                <a:latin typeface="Tahoma"/>
                <a:cs typeface="Tahoma"/>
              </a:rPr>
              <a:t>de</a:t>
            </a:r>
            <a:r>
              <a:rPr sz="2850" spc="-145" dirty="0">
                <a:latin typeface="Tahoma"/>
                <a:cs typeface="Tahoma"/>
              </a:rPr>
              <a:t> </a:t>
            </a:r>
            <a:r>
              <a:rPr sz="2850" spc="75" dirty="0">
                <a:latin typeface="Tahoma"/>
                <a:cs typeface="Tahoma"/>
              </a:rPr>
              <a:t>la</a:t>
            </a:r>
            <a:r>
              <a:rPr sz="2850" spc="-145" dirty="0">
                <a:latin typeface="Tahoma"/>
                <a:cs typeface="Tahoma"/>
              </a:rPr>
              <a:t> </a:t>
            </a:r>
            <a:r>
              <a:rPr sz="2850" spc="80" dirty="0">
                <a:latin typeface="Tahoma"/>
                <a:cs typeface="Tahoma"/>
              </a:rPr>
              <a:t>siguiente</a:t>
            </a:r>
            <a:r>
              <a:rPr sz="2850" spc="-140" dirty="0">
                <a:latin typeface="Tahoma"/>
                <a:cs typeface="Tahoma"/>
              </a:rPr>
              <a:t> </a:t>
            </a:r>
            <a:r>
              <a:rPr sz="2850" spc="60" dirty="0">
                <a:latin typeface="Tahoma"/>
                <a:cs typeface="Tahoma"/>
              </a:rPr>
              <a:t>forma:</a:t>
            </a:r>
            <a:endParaRPr sz="2850" dirty="0">
              <a:latin typeface="Tahoma"/>
              <a:cs typeface="Tahoma"/>
            </a:endParaRPr>
          </a:p>
          <a:p>
            <a:pPr>
              <a:lnSpc>
                <a:spcPct val="100000"/>
              </a:lnSpc>
              <a:spcBef>
                <a:spcPts val="535"/>
              </a:spcBef>
            </a:pPr>
            <a:endParaRPr sz="2850" dirty="0">
              <a:latin typeface="Tahoma"/>
              <a:cs typeface="Tahoma"/>
            </a:endParaRPr>
          </a:p>
          <a:p>
            <a:pPr marL="629920" marR="793115">
              <a:lnSpc>
                <a:spcPct val="116199"/>
              </a:lnSpc>
            </a:pPr>
            <a:r>
              <a:rPr sz="2850" spc="105" dirty="0">
                <a:latin typeface="Tahoma"/>
                <a:cs typeface="Tahoma"/>
              </a:rPr>
              <a:t>Semana</a:t>
            </a:r>
            <a:r>
              <a:rPr sz="2850" spc="-140" dirty="0">
                <a:latin typeface="Tahoma"/>
                <a:cs typeface="Tahoma"/>
              </a:rPr>
              <a:t> </a:t>
            </a:r>
            <a:r>
              <a:rPr sz="2850" spc="60" dirty="0">
                <a:latin typeface="Tahoma"/>
                <a:cs typeface="Tahoma"/>
              </a:rPr>
              <a:t>laboral:</a:t>
            </a:r>
            <a:r>
              <a:rPr sz="2850" spc="-140" dirty="0">
                <a:latin typeface="Tahoma"/>
                <a:cs typeface="Tahoma"/>
              </a:rPr>
              <a:t> </a:t>
            </a:r>
            <a:r>
              <a:rPr sz="2850" spc="110" dirty="0">
                <a:latin typeface="Tahoma"/>
                <a:cs typeface="Tahoma"/>
              </a:rPr>
              <a:t>De</a:t>
            </a:r>
            <a:r>
              <a:rPr sz="2850" spc="-135" dirty="0">
                <a:latin typeface="Tahoma"/>
                <a:cs typeface="Tahoma"/>
              </a:rPr>
              <a:t> </a:t>
            </a:r>
            <a:r>
              <a:rPr sz="2850" spc="105" dirty="0">
                <a:latin typeface="Tahoma"/>
                <a:cs typeface="Tahoma"/>
              </a:rPr>
              <a:t>lunes</a:t>
            </a:r>
            <a:r>
              <a:rPr sz="2850" spc="-140" dirty="0">
                <a:latin typeface="Tahoma"/>
                <a:cs typeface="Tahoma"/>
              </a:rPr>
              <a:t> </a:t>
            </a:r>
            <a:r>
              <a:rPr sz="2850" spc="90" dirty="0">
                <a:latin typeface="Tahoma"/>
                <a:cs typeface="Tahoma"/>
              </a:rPr>
              <a:t>a</a:t>
            </a:r>
            <a:r>
              <a:rPr sz="2850" spc="-135" dirty="0">
                <a:latin typeface="Tahoma"/>
                <a:cs typeface="Tahoma"/>
              </a:rPr>
              <a:t> </a:t>
            </a:r>
            <a:r>
              <a:rPr sz="2850" spc="75" dirty="0">
                <a:latin typeface="Tahoma"/>
                <a:cs typeface="Tahoma"/>
              </a:rPr>
              <a:t>viernes </a:t>
            </a:r>
            <a:r>
              <a:rPr sz="2850" spc="110" dirty="0">
                <a:latin typeface="Tahoma"/>
                <a:cs typeface="Tahoma"/>
              </a:rPr>
              <a:t>De</a:t>
            </a:r>
            <a:r>
              <a:rPr sz="2850" spc="-165" dirty="0">
                <a:latin typeface="Tahoma"/>
                <a:cs typeface="Tahoma"/>
              </a:rPr>
              <a:t> </a:t>
            </a:r>
            <a:r>
              <a:rPr sz="2850" dirty="0">
                <a:latin typeface="Tahoma"/>
                <a:cs typeface="Tahoma"/>
              </a:rPr>
              <a:t>8:00</a:t>
            </a:r>
            <a:r>
              <a:rPr sz="2850" spc="-160" dirty="0">
                <a:latin typeface="Tahoma"/>
                <a:cs typeface="Tahoma"/>
              </a:rPr>
              <a:t> </a:t>
            </a:r>
            <a:r>
              <a:rPr sz="2850" spc="90" dirty="0">
                <a:latin typeface="Tahoma"/>
                <a:cs typeface="Tahoma"/>
              </a:rPr>
              <a:t>a</a:t>
            </a:r>
            <a:r>
              <a:rPr sz="2850" spc="-160" dirty="0">
                <a:latin typeface="Tahoma"/>
                <a:cs typeface="Tahoma"/>
              </a:rPr>
              <a:t> </a:t>
            </a:r>
            <a:r>
              <a:rPr sz="2850" spc="-20" dirty="0">
                <a:latin typeface="Tahoma"/>
                <a:cs typeface="Tahoma"/>
              </a:rPr>
              <a:t>17:00</a:t>
            </a:r>
            <a:endParaRPr sz="2850" dirty="0">
              <a:latin typeface="Tahoma"/>
              <a:cs typeface="Tahoma"/>
            </a:endParaRPr>
          </a:p>
          <a:p>
            <a:pPr marL="629920" marR="5080">
              <a:lnSpc>
                <a:spcPct val="116199"/>
              </a:lnSpc>
              <a:tabLst>
                <a:tab pos="1504950" algn="l"/>
                <a:tab pos="2355850" algn="l"/>
                <a:tab pos="3352165" algn="l"/>
                <a:tab pos="3997960" algn="l"/>
                <a:tab pos="5379720" algn="l"/>
                <a:tab pos="6009640" algn="l"/>
                <a:tab pos="7140575" algn="l"/>
              </a:tabLst>
            </a:pPr>
            <a:r>
              <a:rPr sz="2850" spc="110" dirty="0">
                <a:latin typeface="Tahoma"/>
                <a:cs typeface="Tahoma"/>
              </a:rPr>
              <a:t>Con</a:t>
            </a:r>
            <a:r>
              <a:rPr sz="2850" dirty="0">
                <a:latin typeface="Tahoma"/>
                <a:cs typeface="Tahoma"/>
              </a:rPr>
              <a:t>	</a:t>
            </a:r>
            <a:r>
              <a:rPr sz="2850" spc="105" dirty="0">
                <a:latin typeface="Tahoma"/>
                <a:cs typeface="Tahoma"/>
              </a:rPr>
              <a:t>una</a:t>
            </a:r>
            <a:r>
              <a:rPr sz="2850" dirty="0">
                <a:latin typeface="Tahoma"/>
                <a:cs typeface="Tahoma"/>
              </a:rPr>
              <a:t>	</a:t>
            </a:r>
            <a:r>
              <a:rPr sz="2850" spc="110" dirty="0">
                <a:latin typeface="Tahoma"/>
                <a:cs typeface="Tahoma"/>
              </a:rPr>
              <a:t>hora</a:t>
            </a:r>
            <a:r>
              <a:rPr sz="2850" dirty="0">
                <a:latin typeface="Tahoma"/>
                <a:cs typeface="Tahoma"/>
              </a:rPr>
              <a:t>	</a:t>
            </a:r>
            <a:r>
              <a:rPr sz="2850" spc="135" dirty="0">
                <a:latin typeface="Tahoma"/>
                <a:cs typeface="Tahoma"/>
              </a:rPr>
              <a:t>no</a:t>
            </a:r>
            <a:r>
              <a:rPr sz="2850" dirty="0">
                <a:latin typeface="Tahoma"/>
                <a:cs typeface="Tahoma"/>
              </a:rPr>
              <a:t>	</a:t>
            </a:r>
            <a:r>
              <a:rPr sz="2850" spc="100" dirty="0">
                <a:latin typeface="Tahoma"/>
                <a:cs typeface="Tahoma"/>
              </a:rPr>
              <a:t>laboral</a:t>
            </a:r>
            <a:r>
              <a:rPr sz="2850" dirty="0">
                <a:latin typeface="Tahoma"/>
                <a:cs typeface="Tahoma"/>
              </a:rPr>
              <a:t>	</a:t>
            </a:r>
            <a:r>
              <a:rPr sz="2850" spc="100" dirty="0">
                <a:latin typeface="Tahoma"/>
                <a:cs typeface="Tahoma"/>
              </a:rPr>
              <a:t>de</a:t>
            </a:r>
            <a:r>
              <a:rPr sz="2850" dirty="0">
                <a:latin typeface="Tahoma"/>
                <a:cs typeface="Tahoma"/>
              </a:rPr>
              <a:t>	</a:t>
            </a:r>
            <a:r>
              <a:rPr sz="2850" spc="-10" dirty="0">
                <a:latin typeface="Tahoma"/>
                <a:cs typeface="Tahoma"/>
              </a:rPr>
              <a:t>12:00</a:t>
            </a:r>
            <a:r>
              <a:rPr sz="2850" dirty="0">
                <a:latin typeface="Tahoma"/>
                <a:cs typeface="Tahoma"/>
              </a:rPr>
              <a:t>	</a:t>
            </a:r>
            <a:r>
              <a:rPr sz="2850" spc="40" dirty="0">
                <a:latin typeface="Tahoma"/>
                <a:cs typeface="Tahoma"/>
              </a:rPr>
              <a:t>a </a:t>
            </a:r>
            <a:r>
              <a:rPr sz="2850" spc="-10" dirty="0">
                <a:latin typeface="Tahoma"/>
                <a:cs typeface="Tahoma"/>
              </a:rPr>
              <a:t>13:00</a:t>
            </a:r>
            <a:endParaRPr sz="2850" dirty="0">
              <a:latin typeface="Tahoma"/>
              <a:cs typeface="Tahom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ject 14"/>
          <p:cNvPicPr/>
          <p:nvPr/>
        </p:nvPicPr>
        <p:blipFill>
          <a:blip r:embed="rId2" cstate="print"/>
          <a:stretch>
            <a:fillRect/>
          </a:stretch>
        </p:blipFill>
        <p:spPr>
          <a:xfrm>
            <a:off x="10829287" y="1335725"/>
            <a:ext cx="5781689" cy="5781659"/>
          </a:xfrm>
          <a:prstGeom prst="rect">
            <a:avLst/>
          </a:prstGeom>
        </p:spPr>
      </p:pic>
      <p:sp>
        <p:nvSpPr>
          <p:cNvPr id="15" name="object 15"/>
          <p:cNvSpPr txBox="1">
            <a:spLocks noGrp="1"/>
          </p:cNvSpPr>
          <p:nvPr>
            <p:ph type="title"/>
          </p:nvPr>
        </p:nvSpPr>
        <p:spPr>
          <a:xfrm>
            <a:off x="914400" y="2070597"/>
            <a:ext cx="9155857" cy="1690206"/>
          </a:xfrm>
          <a:prstGeom prst="rect">
            <a:avLst/>
          </a:prstGeom>
        </p:spPr>
        <p:txBody>
          <a:bodyPr vert="horz" wrap="square" lIns="0" tIns="12700" rIns="0" bIns="0" rtlCol="0">
            <a:spAutoFit/>
          </a:bodyPr>
          <a:lstStyle/>
          <a:p>
            <a:pPr marL="1811655" algn="ctr">
              <a:lnSpc>
                <a:spcPct val="100000"/>
              </a:lnSpc>
              <a:spcBef>
                <a:spcPts val="100"/>
              </a:spcBef>
            </a:pPr>
            <a:r>
              <a:rPr dirty="0"/>
              <a:t>CALENDARIO BASE: 24 HORAS</a:t>
            </a:r>
          </a:p>
        </p:txBody>
      </p:sp>
      <p:pic>
        <p:nvPicPr>
          <p:cNvPr id="16" name="object 16"/>
          <p:cNvPicPr/>
          <p:nvPr/>
        </p:nvPicPr>
        <p:blipFill>
          <a:blip r:embed="rId3" cstate="print"/>
          <a:stretch>
            <a:fillRect/>
          </a:stretch>
        </p:blipFill>
        <p:spPr>
          <a:xfrm>
            <a:off x="3277129" y="5349103"/>
            <a:ext cx="123825" cy="123825"/>
          </a:xfrm>
          <a:prstGeom prst="rect">
            <a:avLst/>
          </a:prstGeom>
        </p:spPr>
      </p:pic>
      <p:pic>
        <p:nvPicPr>
          <p:cNvPr id="17" name="object 17"/>
          <p:cNvPicPr/>
          <p:nvPr/>
        </p:nvPicPr>
        <p:blipFill>
          <a:blip r:embed="rId3" cstate="print"/>
          <a:stretch>
            <a:fillRect/>
          </a:stretch>
        </p:blipFill>
        <p:spPr>
          <a:xfrm>
            <a:off x="3277129" y="5853928"/>
            <a:ext cx="123825" cy="123825"/>
          </a:xfrm>
          <a:prstGeom prst="rect">
            <a:avLst/>
          </a:prstGeom>
        </p:spPr>
      </p:pic>
      <p:pic>
        <p:nvPicPr>
          <p:cNvPr id="18" name="object 18"/>
          <p:cNvPicPr/>
          <p:nvPr/>
        </p:nvPicPr>
        <p:blipFill>
          <a:blip r:embed="rId3" cstate="print"/>
          <a:stretch>
            <a:fillRect/>
          </a:stretch>
        </p:blipFill>
        <p:spPr>
          <a:xfrm>
            <a:off x="3277129" y="6358753"/>
            <a:ext cx="123825" cy="123825"/>
          </a:xfrm>
          <a:prstGeom prst="rect">
            <a:avLst/>
          </a:prstGeom>
        </p:spPr>
      </p:pic>
      <p:sp>
        <p:nvSpPr>
          <p:cNvPr id="19" name="object 19"/>
          <p:cNvSpPr txBox="1"/>
          <p:nvPr/>
        </p:nvSpPr>
        <p:spPr>
          <a:xfrm>
            <a:off x="3036027" y="4187825"/>
            <a:ext cx="6854190" cy="2480945"/>
          </a:xfrm>
          <a:prstGeom prst="rect">
            <a:avLst/>
          </a:prstGeom>
        </p:spPr>
        <p:txBody>
          <a:bodyPr vert="horz" wrap="square" lIns="0" tIns="13970" rIns="0" bIns="0" rtlCol="0">
            <a:spAutoFit/>
          </a:bodyPr>
          <a:lstStyle/>
          <a:p>
            <a:pPr marL="12700">
              <a:lnSpc>
                <a:spcPct val="100000"/>
              </a:lnSpc>
              <a:spcBef>
                <a:spcPts val="110"/>
              </a:spcBef>
            </a:pPr>
            <a:r>
              <a:rPr sz="2850" spc="50" dirty="0">
                <a:latin typeface="Tahoma"/>
                <a:cs typeface="Tahoma"/>
              </a:rPr>
              <a:t>Está</a:t>
            </a:r>
            <a:r>
              <a:rPr sz="2850" spc="-145" dirty="0">
                <a:latin typeface="Tahoma"/>
                <a:cs typeface="Tahoma"/>
              </a:rPr>
              <a:t> </a:t>
            </a:r>
            <a:r>
              <a:rPr sz="2850" spc="114" dirty="0">
                <a:latin typeface="Tahoma"/>
                <a:cs typeface="Tahoma"/>
              </a:rPr>
              <a:t>definido</a:t>
            </a:r>
            <a:r>
              <a:rPr sz="2850" spc="-145" dirty="0">
                <a:latin typeface="Tahoma"/>
                <a:cs typeface="Tahoma"/>
              </a:rPr>
              <a:t> </a:t>
            </a:r>
            <a:r>
              <a:rPr sz="2850" spc="155" dirty="0">
                <a:latin typeface="Tahoma"/>
                <a:cs typeface="Tahoma"/>
              </a:rPr>
              <a:t>por</a:t>
            </a:r>
            <a:r>
              <a:rPr sz="2850" spc="-140" dirty="0">
                <a:latin typeface="Tahoma"/>
                <a:cs typeface="Tahoma"/>
              </a:rPr>
              <a:t> </a:t>
            </a:r>
            <a:r>
              <a:rPr sz="2850" spc="125" dirty="0">
                <a:latin typeface="Tahoma"/>
                <a:cs typeface="Tahoma"/>
              </a:rPr>
              <a:t>de</a:t>
            </a:r>
            <a:r>
              <a:rPr sz="2850" spc="-145" dirty="0">
                <a:latin typeface="Tahoma"/>
                <a:cs typeface="Tahoma"/>
              </a:rPr>
              <a:t> </a:t>
            </a:r>
            <a:r>
              <a:rPr sz="2850" spc="75" dirty="0">
                <a:latin typeface="Tahoma"/>
                <a:cs typeface="Tahoma"/>
              </a:rPr>
              <a:t>la</a:t>
            </a:r>
            <a:r>
              <a:rPr sz="2850" spc="-145" dirty="0">
                <a:latin typeface="Tahoma"/>
                <a:cs typeface="Tahoma"/>
              </a:rPr>
              <a:t> </a:t>
            </a:r>
            <a:r>
              <a:rPr sz="2850" spc="80" dirty="0">
                <a:latin typeface="Tahoma"/>
                <a:cs typeface="Tahoma"/>
              </a:rPr>
              <a:t>siguiente</a:t>
            </a:r>
            <a:r>
              <a:rPr sz="2850" spc="-140" dirty="0">
                <a:latin typeface="Tahoma"/>
                <a:cs typeface="Tahoma"/>
              </a:rPr>
              <a:t> </a:t>
            </a:r>
            <a:r>
              <a:rPr sz="2850" spc="60" dirty="0">
                <a:latin typeface="Tahoma"/>
                <a:cs typeface="Tahoma"/>
              </a:rPr>
              <a:t>forma:</a:t>
            </a:r>
            <a:endParaRPr sz="2850" dirty="0">
              <a:latin typeface="Tahoma"/>
              <a:cs typeface="Tahoma"/>
            </a:endParaRPr>
          </a:p>
          <a:p>
            <a:pPr>
              <a:lnSpc>
                <a:spcPct val="100000"/>
              </a:lnSpc>
              <a:spcBef>
                <a:spcPts val="535"/>
              </a:spcBef>
            </a:pPr>
            <a:endParaRPr sz="2850" dirty="0">
              <a:latin typeface="Tahoma"/>
              <a:cs typeface="Tahoma"/>
            </a:endParaRPr>
          </a:p>
          <a:p>
            <a:pPr marL="629920" marR="5080">
              <a:lnSpc>
                <a:spcPct val="116199"/>
              </a:lnSpc>
            </a:pPr>
            <a:r>
              <a:rPr sz="2850" spc="105" dirty="0">
                <a:latin typeface="Tahoma"/>
                <a:cs typeface="Tahoma"/>
              </a:rPr>
              <a:t>Semana</a:t>
            </a:r>
            <a:r>
              <a:rPr sz="2850" spc="-140" dirty="0">
                <a:latin typeface="Tahoma"/>
                <a:cs typeface="Tahoma"/>
              </a:rPr>
              <a:t> </a:t>
            </a:r>
            <a:r>
              <a:rPr sz="2850" spc="60" dirty="0">
                <a:latin typeface="Tahoma"/>
                <a:cs typeface="Tahoma"/>
              </a:rPr>
              <a:t>laboral:</a:t>
            </a:r>
            <a:r>
              <a:rPr sz="2850" spc="-140" dirty="0">
                <a:latin typeface="Tahoma"/>
                <a:cs typeface="Tahoma"/>
              </a:rPr>
              <a:t> </a:t>
            </a:r>
            <a:r>
              <a:rPr sz="2850" spc="110" dirty="0">
                <a:latin typeface="Tahoma"/>
                <a:cs typeface="Tahoma"/>
              </a:rPr>
              <a:t>De</a:t>
            </a:r>
            <a:r>
              <a:rPr sz="2850" spc="-135" dirty="0">
                <a:latin typeface="Tahoma"/>
                <a:cs typeface="Tahoma"/>
              </a:rPr>
              <a:t> </a:t>
            </a:r>
            <a:r>
              <a:rPr sz="2850" spc="105" dirty="0">
                <a:latin typeface="Tahoma"/>
                <a:cs typeface="Tahoma"/>
              </a:rPr>
              <a:t>lunes</a:t>
            </a:r>
            <a:r>
              <a:rPr sz="2850" spc="-140" dirty="0">
                <a:latin typeface="Tahoma"/>
                <a:cs typeface="Tahoma"/>
              </a:rPr>
              <a:t> </a:t>
            </a:r>
            <a:r>
              <a:rPr sz="2850" spc="90" dirty="0">
                <a:latin typeface="Tahoma"/>
                <a:cs typeface="Tahoma"/>
              </a:rPr>
              <a:t>a</a:t>
            </a:r>
            <a:r>
              <a:rPr sz="2850" spc="-135" dirty="0">
                <a:latin typeface="Tahoma"/>
                <a:cs typeface="Tahoma"/>
              </a:rPr>
              <a:t> </a:t>
            </a:r>
            <a:r>
              <a:rPr sz="2850" spc="125" dirty="0">
                <a:latin typeface="Tahoma"/>
                <a:cs typeface="Tahoma"/>
              </a:rPr>
              <a:t>domingo </a:t>
            </a:r>
            <a:r>
              <a:rPr sz="2850" spc="100" dirty="0">
                <a:latin typeface="Tahoma"/>
                <a:cs typeface="Tahoma"/>
              </a:rPr>
              <a:t>Turno</a:t>
            </a:r>
            <a:r>
              <a:rPr sz="2850" spc="-145" dirty="0">
                <a:latin typeface="Tahoma"/>
                <a:cs typeface="Tahoma"/>
              </a:rPr>
              <a:t> </a:t>
            </a:r>
            <a:r>
              <a:rPr sz="2850" spc="125" dirty="0">
                <a:latin typeface="Tahoma"/>
                <a:cs typeface="Tahoma"/>
              </a:rPr>
              <a:t>de</a:t>
            </a:r>
            <a:r>
              <a:rPr sz="2850" spc="-140" dirty="0">
                <a:latin typeface="Tahoma"/>
                <a:cs typeface="Tahoma"/>
              </a:rPr>
              <a:t> </a:t>
            </a:r>
            <a:r>
              <a:rPr sz="2850" spc="75" dirty="0">
                <a:latin typeface="Tahoma"/>
                <a:cs typeface="Tahoma"/>
              </a:rPr>
              <a:t>24</a:t>
            </a:r>
            <a:r>
              <a:rPr sz="2850" spc="-140" dirty="0">
                <a:latin typeface="Tahoma"/>
                <a:cs typeface="Tahoma"/>
              </a:rPr>
              <a:t> </a:t>
            </a:r>
            <a:r>
              <a:rPr sz="2850" spc="75" dirty="0">
                <a:latin typeface="Tahoma"/>
                <a:cs typeface="Tahoma"/>
              </a:rPr>
              <a:t>horas.</a:t>
            </a:r>
            <a:endParaRPr sz="2850" dirty="0">
              <a:latin typeface="Tahoma"/>
              <a:cs typeface="Tahoma"/>
            </a:endParaRPr>
          </a:p>
          <a:p>
            <a:pPr marL="629920">
              <a:lnSpc>
                <a:spcPct val="100000"/>
              </a:lnSpc>
              <a:spcBef>
                <a:spcPts val="555"/>
              </a:spcBef>
            </a:pPr>
            <a:r>
              <a:rPr sz="2850" spc="204" dirty="0">
                <a:latin typeface="Tahoma"/>
                <a:cs typeface="Tahoma"/>
              </a:rPr>
              <a:t>No</a:t>
            </a:r>
            <a:r>
              <a:rPr sz="2850" spc="-145" dirty="0">
                <a:latin typeface="Tahoma"/>
                <a:cs typeface="Tahoma"/>
              </a:rPr>
              <a:t> </a:t>
            </a:r>
            <a:r>
              <a:rPr sz="2850" spc="80" dirty="0">
                <a:latin typeface="Tahoma"/>
                <a:cs typeface="Tahoma"/>
              </a:rPr>
              <a:t>hay</a:t>
            </a:r>
            <a:r>
              <a:rPr sz="2850" spc="-140" dirty="0">
                <a:latin typeface="Tahoma"/>
                <a:cs typeface="Tahoma"/>
              </a:rPr>
              <a:t> </a:t>
            </a:r>
            <a:r>
              <a:rPr sz="2850" spc="70" dirty="0">
                <a:latin typeface="Tahoma"/>
                <a:cs typeface="Tahoma"/>
              </a:rPr>
              <a:t>descanso.</a:t>
            </a:r>
            <a:endParaRPr sz="2850" dirty="0">
              <a:latin typeface="Tahoma"/>
              <a:cs typeface="Tahom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ject 14"/>
          <p:cNvPicPr/>
          <p:nvPr/>
        </p:nvPicPr>
        <p:blipFill>
          <a:blip r:embed="rId2" cstate="print"/>
          <a:stretch>
            <a:fillRect/>
          </a:stretch>
        </p:blipFill>
        <p:spPr>
          <a:xfrm>
            <a:off x="9931997" y="1883042"/>
            <a:ext cx="5781689" cy="5781659"/>
          </a:xfrm>
          <a:prstGeom prst="rect">
            <a:avLst/>
          </a:prstGeom>
        </p:spPr>
      </p:pic>
      <p:sp>
        <p:nvSpPr>
          <p:cNvPr id="15" name="object 15"/>
          <p:cNvSpPr txBox="1">
            <a:spLocks noGrp="1"/>
          </p:cNvSpPr>
          <p:nvPr>
            <p:ph type="title"/>
          </p:nvPr>
        </p:nvSpPr>
        <p:spPr>
          <a:xfrm>
            <a:off x="1732808" y="2497619"/>
            <a:ext cx="6893604" cy="1690206"/>
          </a:xfrm>
          <a:prstGeom prst="rect">
            <a:avLst/>
          </a:prstGeom>
        </p:spPr>
        <p:txBody>
          <a:bodyPr vert="horz" wrap="square" lIns="0" tIns="12700" rIns="0" bIns="0" rtlCol="0">
            <a:spAutoFit/>
          </a:bodyPr>
          <a:lstStyle/>
          <a:p>
            <a:pPr marL="12700">
              <a:lnSpc>
                <a:spcPct val="100000"/>
              </a:lnSpc>
              <a:spcBef>
                <a:spcPts val="100"/>
              </a:spcBef>
            </a:pPr>
            <a:r>
              <a:rPr dirty="0"/>
              <a:t>CALENDARIO BASE: TURNO DE NOCHE</a:t>
            </a:r>
          </a:p>
        </p:txBody>
      </p:sp>
      <p:pic>
        <p:nvPicPr>
          <p:cNvPr id="16" name="object 16"/>
          <p:cNvPicPr/>
          <p:nvPr/>
        </p:nvPicPr>
        <p:blipFill>
          <a:blip r:embed="rId3" cstate="print"/>
          <a:stretch>
            <a:fillRect/>
          </a:stretch>
        </p:blipFill>
        <p:spPr>
          <a:xfrm>
            <a:off x="2013914" y="5883494"/>
            <a:ext cx="123825" cy="123825"/>
          </a:xfrm>
          <a:prstGeom prst="rect">
            <a:avLst/>
          </a:prstGeom>
        </p:spPr>
      </p:pic>
      <p:pic>
        <p:nvPicPr>
          <p:cNvPr id="17" name="object 17"/>
          <p:cNvPicPr/>
          <p:nvPr/>
        </p:nvPicPr>
        <p:blipFill>
          <a:blip r:embed="rId3" cstate="print"/>
          <a:stretch>
            <a:fillRect/>
          </a:stretch>
        </p:blipFill>
        <p:spPr>
          <a:xfrm>
            <a:off x="2013914" y="6893144"/>
            <a:ext cx="123825" cy="123825"/>
          </a:xfrm>
          <a:prstGeom prst="rect">
            <a:avLst/>
          </a:prstGeom>
        </p:spPr>
      </p:pic>
      <p:pic>
        <p:nvPicPr>
          <p:cNvPr id="18" name="object 18"/>
          <p:cNvPicPr/>
          <p:nvPr/>
        </p:nvPicPr>
        <p:blipFill>
          <a:blip r:embed="rId3" cstate="print"/>
          <a:stretch>
            <a:fillRect/>
          </a:stretch>
        </p:blipFill>
        <p:spPr>
          <a:xfrm>
            <a:off x="2013914" y="7397969"/>
            <a:ext cx="123825" cy="123825"/>
          </a:xfrm>
          <a:prstGeom prst="rect">
            <a:avLst/>
          </a:prstGeom>
        </p:spPr>
      </p:pic>
      <p:sp>
        <p:nvSpPr>
          <p:cNvPr id="19" name="object 19"/>
          <p:cNvSpPr txBox="1"/>
          <p:nvPr/>
        </p:nvSpPr>
        <p:spPr>
          <a:xfrm>
            <a:off x="1696414" y="4678931"/>
            <a:ext cx="7355840" cy="2985770"/>
          </a:xfrm>
          <a:prstGeom prst="rect">
            <a:avLst/>
          </a:prstGeom>
        </p:spPr>
        <p:txBody>
          <a:bodyPr vert="horz" wrap="square" lIns="0" tIns="13970" rIns="0" bIns="0" rtlCol="0">
            <a:spAutoFit/>
          </a:bodyPr>
          <a:lstStyle/>
          <a:p>
            <a:pPr marL="12700">
              <a:lnSpc>
                <a:spcPct val="100000"/>
              </a:lnSpc>
              <a:spcBef>
                <a:spcPts val="110"/>
              </a:spcBef>
            </a:pPr>
            <a:r>
              <a:rPr sz="2850" spc="50" dirty="0">
                <a:latin typeface="Tahoma"/>
                <a:cs typeface="Tahoma"/>
              </a:rPr>
              <a:t>Está</a:t>
            </a:r>
            <a:r>
              <a:rPr sz="2850" spc="-145" dirty="0">
                <a:latin typeface="Tahoma"/>
                <a:cs typeface="Tahoma"/>
              </a:rPr>
              <a:t> </a:t>
            </a:r>
            <a:r>
              <a:rPr sz="2850" spc="114" dirty="0">
                <a:latin typeface="Tahoma"/>
                <a:cs typeface="Tahoma"/>
              </a:rPr>
              <a:t>definido</a:t>
            </a:r>
            <a:r>
              <a:rPr sz="2850" spc="-145" dirty="0">
                <a:latin typeface="Tahoma"/>
                <a:cs typeface="Tahoma"/>
              </a:rPr>
              <a:t> </a:t>
            </a:r>
            <a:r>
              <a:rPr sz="2850" spc="155" dirty="0">
                <a:latin typeface="Tahoma"/>
                <a:cs typeface="Tahoma"/>
              </a:rPr>
              <a:t>por</a:t>
            </a:r>
            <a:r>
              <a:rPr sz="2850" spc="-140" dirty="0">
                <a:latin typeface="Tahoma"/>
                <a:cs typeface="Tahoma"/>
              </a:rPr>
              <a:t> </a:t>
            </a:r>
            <a:r>
              <a:rPr sz="2850" spc="125" dirty="0">
                <a:latin typeface="Tahoma"/>
                <a:cs typeface="Tahoma"/>
              </a:rPr>
              <a:t>de</a:t>
            </a:r>
            <a:r>
              <a:rPr sz="2850" spc="-145" dirty="0">
                <a:latin typeface="Tahoma"/>
                <a:cs typeface="Tahoma"/>
              </a:rPr>
              <a:t> </a:t>
            </a:r>
            <a:r>
              <a:rPr sz="2850" spc="75" dirty="0">
                <a:latin typeface="Tahoma"/>
                <a:cs typeface="Tahoma"/>
              </a:rPr>
              <a:t>la</a:t>
            </a:r>
            <a:r>
              <a:rPr sz="2850" spc="-145" dirty="0">
                <a:latin typeface="Tahoma"/>
                <a:cs typeface="Tahoma"/>
              </a:rPr>
              <a:t> </a:t>
            </a:r>
            <a:r>
              <a:rPr sz="2850" spc="80" dirty="0">
                <a:latin typeface="Tahoma"/>
                <a:cs typeface="Tahoma"/>
              </a:rPr>
              <a:t>siguiente</a:t>
            </a:r>
            <a:r>
              <a:rPr sz="2850" spc="-140" dirty="0">
                <a:latin typeface="Tahoma"/>
                <a:cs typeface="Tahoma"/>
              </a:rPr>
              <a:t> </a:t>
            </a:r>
            <a:r>
              <a:rPr sz="2850" spc="60" dirty="0">
                <a:latin typeface="Tahoma"/>
                <a:cs typeface="Tahoma"/>
              </a:rPr>
              <a:t>forma:</a:t>
            </a:r>
            <a:endParaRPr sz="2850" dirty="0">
              <a:latin typeface="Tahoma"/>
              <a:cs typeface="Tahoma"/>
            </a:endParaRPr>
          </a:p>
          <a:p>
            <a:pPr>
              <a:lnSpc>
                <a:spcPct val="100000"/>
              </a:lnSpc>
              <a:spcBef>
                <a:spcPts val="535"/>
              </a:spcBef>
            </a:pPr>
            <a:endParaRPr sz="2850" dirty="0">
              <a:latin typeface="Tahoma"/>
              <a:cs typeface="Tahoma"/>
            </a:endParaRPr>
          </a:p>
          <a:p>
            <a:pPr marL="629920" marR="5080">
              <a:lnSpc>
                <a:spcPct val="116199"/>
              </a:lnSpc>
            </a:pPr>
            <a:r>
              <a:rPr sz="2850" spc="105" dirty="0">
                <a:latin typeface="Tahoma"/>
                <a:cs typeface="Tahoma"/>
              </a:rPr>
              <a:t>Semana </a:t>
            </a:r>
            <a:r>
              <a:rPr sz="2850" spc="60" dirty="0">
                <a:latin typeface="Tahoma"/>
                <a:cs typeface="Tahoma"/>
              </a:rPr>
              <a:t>laboral:</a:t>
            </a:r>
            <a:r>
              <a:rPr sz="2850" spc="120" dirty="0">
                <a:latin typeface="Tahoma"/>
                <a:cs typeface="Tahoma"/>
              </a:rPr>
              <a:t> </a:t>
            </a:r>
            <a:r>
              <a:rPr sz="2850" spc="110" dirty="0">
                <a:latin typeface="Tahoma"/>
                <a:cs typeface="Tahoma"/>
              </a:rPr>
              <a:t>De</a:t>
            </a:r>
            <a:r>
              <a:rPr sz="2850" spc="114" dirty="0">
                <a:latin typeface="Tahoma"/>
                <a:cs typeface="Tahoma"/>
              </a:rPr>
              <a:t> </a:t>
            </a:r>
            <a:r>
              <a:rPr sz="2850" spc="105" dirty="0">
                <a:latin typeface="Tahoma"/>
                <a:cs typeface="Tahoma"/>
              </a:rPr>
              <a:t>lunes</a:t>
            </a:r>
            <a:r>
              <a:rPr sz="2850" spc="114" dirty="0">
                <a:latin typeface="Tahoma"/>
                <a:cs typeface="Tahoma"/>
              </a:rPr>
              <a:t> </a:t>
            </a:r>
            <a:r>
              <a:rPr sz="2850" spc="155" dirty="0">
                <a:latin typeface="Tahoma"/>
                <a:cs typeface="Tahoma"/>
              </a:rPr>
              <a:t>por</a:t>
            </a:r>
            <a:r>
              <a:rPr sz="2850" spc="114" dirty="0">
                <a:latin typeface="Tahoma"/>
                <a:cs typeface="Tahoma"/>
              </a:rPr>
              <a:t> </a:t>
            </a:r>
            <a:r>
              <a:rPr sz="2850" spc="75" dirty="0">
                <a:latin typeface="Tahoma"/>
                <a:cs typeface="Tahoma"/>
              </a:rPr>
              <a:t>la</a:t>
            </a:r>
            <a:r>
              <a:rPr sz="2850" spc="120" dirty="0">
                <a:latin typeface="Tahoma"/>
                <a:cs typeface="Tahoma"/>
              </a:rPr>
              <a:t> </a:t>
            </a:r>
            <a:r>
              <a:rPr sz="2850" spc="95" dirty="0">
                <a:latin typeface="Tahoma"/>
                <a:cs typeface="Tahoma"/>
              </a:rPr>
              <a:t>noche </a:t>
            </a:r>
            <a:r>
              <a:rPr sz="2850" spc="90" dirty="0">
                <a:latin typeface="Tahoma"/>
                <a:cs typeface="Tahoma"/>
              </a:rPr>
              <a:t>a</a:t>
            </a:r>
            <a:r>
              <a:rPr sz="2850" spc="-150" dirty="0">
                <a:latin typeface="Tahoma"/>
                <a:cs typeface="Tahoma"/>
              </a:rPr>
              <a:t> </a:t>
            </a:r>
            <a:r>
              <a:rPr sz="2850" spc="125" dirty="0">
                <a:latin typeface="Tahoma"/>
                <a:cs typeface="Tahoma"/>
              </a:rPr>
              <a:t>sabado</a:t>
            </a:r>
            <a:r>
              <a:rPr sz="2850" spc="-145" dirty="0">
                <a:latin typeface="Tahoma"/>
                <a:cs typeface="Tahoma"/>
              </a:rPr>
              <a:t> </a:t>
            </a:r>
            <a:r>
              <a:rPr sz="2850" spc="155" dirty="0">
                <a:latin typeface="Tahoma"/>
                <a:cs typeface="Tahoma"/>
              </a:rPr>
              <a:t>por</a:t>
            </a:r>
            <a:r>
              <a:rPr sz="2850" spc="-145" dirty="0">
                <a:latin typeface="Tahoma"/>
                <a:cs typeface="Tahoma"/>
              </a:rPr>
              <a:t> </a:t>
            </a:r>
            <a:r>
              <a:rPr sz="2850" spc="75" dirty="0">
                <a:latin typeface="Tahoma"/>
                <a:cs typeface="Tahoma"/>
              </a:rPr>
              <a:t>la</a:t>
            </a:r>
            <a:r>
              <a:rPr sz="2850" spc="-145" dirty="0">
                <a:latin typeface="Tahoma"/>
                <a:cs typeface="Tahoma"/>
              </a:rPr>
              <a:t> </a:t>
            </a:r>
            <a:r>
              <a:rPr sz="2850" spc="90" dirty="0">
                <a:latin typeface="Tahoma"/>
                <a:cs typeface="Tahoma"/>
              </a:rPr>
              <a:t>mañana.</a:t>
            </a:r>
            <a:endParaRPr sz="2850" dirty="0">
              <a:latin typeface="Tahoma"/>
              <a:cs typeface="Tahoma"/>
            </a:endParaRPr>
          </a:p>
          <a:p>
            <a:pPr marL="723900">
              <a:lnSpc>
                <a:spcPct val="100000"/>
              </a:lnSpc>
              <a:spcBef>
                <a:spcPts val="555"/>
              </a:spcBef>
            </a:pPr>
            <a:r>
              <a:rPr sz="2850" spc="100" dirty="0">
                <a:latin typeface="Tahoma"/>
                <a:cs typeface="Tahoma"/>
              </a:rPr>
              <a:t>Turno</a:t>
            </a:r>
            <a:r>
              <a:rPr sz="2850" spc="-135" dirty="0">
                <a:latin typeface="Tahoma"/>
                <a:cs typeface="Tahoma"/>
              </a:rPr>
              <a:t> </a:t>
            </a:r>
            <a:r>
              <a:rPr sz="2850" spc="125" dirty="0">
                <a:latin typeface="Tahoma"/>
                <a:cs typeface="Tahoma"/>
              </a:rPr>
              <a:t>de</a:t>
            </a:r>
            <a:r>
              <a:rPr sz="2850" spc="-135" dirty="0">
                <a:latin typeface="Tahoma"/>
                <a:cs typeface="Tahoma"/>
              </a:rPr>
              <a:t> </a:t>
            </a:r>
            <a:r>
              <a:rPr sz="2850" dirty="0">
                <a:latin typeface="Tahoma"/>
                <a:cs typeface="Tahoma"/>
              </a:rPr>
              <a:t>23:00</a:t>
            </a:r>
            <a:r>
              <a:rPr sz="2850" spc="-135" dirty="0">
                <a:latin typeface="Tahoma"/>
                <a:cs typeface="Tahoma"/>
              </a:rPr>
              <a:t> </a:t>
            </a:r>
            <a:r>
              <a:rPr sz="2850" spc="90" dirty="0">
                <a:latin typeface="Tahoma"/>
                <a:cs typeface="Tahoma"/>
              </a:rPr>
              <a:t>a</a:t>
            </a:r>
            <a:r>
              <a:rPr sz="2850" spc="-135" dirty="0">
                <a:latin typeface="Tahoma"/>
                <a:cs typeface="Tahoma"/>
              </a:rPr>
              <a:t> </a:t>
            </a:r>
            <a:r>
              <a:rPr sz="2850" spc="-10" dirty="0">
                <a:latin typeface="Tahoma"/>
                <a:cs typeface="Tahoma"/>
              </a:rPr>
              <a:t>8:00.</a:t>
            </a:r>
            <a:endParaRPr sz="2850" dirty="0">
              <a:latin typeface="Tahoma"/>
              <a:cs typeface="Tahoma"/>
            </a:endParaRPr>
          </a:p>
          <a:p>
            <a:pPr marL="723900">
              <a:lnSpc>
                <a:spcPct val="100000"/>
              </a:lnSpc>
              <a:spcBef>
                <a:spcPts val="555"/>
              </a:spcBef>
            </a:pPr>
            <a:r>
              <a:rPr sz="2850" spc="135" dirty="0">
                <a:latin typeface="Tahoma"/>
                <a:cs typeface="Tahoma"/>
              </a:rPr>
              <a:t>Hora</a:t>
            </a:r>
            <a:r>
              <a:rPr sz="2850" spc="-150" dirty="0">
                <a:latin typeface="Tahoma"/>
                <a:cs typeface="Tahoma"/>
              </a:rPr>
              <a:t> </a:t>
            </a:r>
            <a:r>
              <a:rPr sz="2850" spc="160" dirty="0">
                <a:latin typeface="Tahoma"/>
                <a:cs typeface="Tahoma"/>
              </a:rPr>
              <a:t>no</a:t>
            </a:r>
            <a:r>
              <a:rPr sz="2850" spc="-145" dirty="0">
                <a:latin typeface="Tahoma"/>
                <a:cs typeface="Tahoma"/>
              </a:rPr>
              <a:t> </a:t>
            </a:r>
            <a:r>
              <a:rPr sz="2850" spc="60" dirty="0">
                <a:latin typeface="Tahoma"/>
                <a:cs typeface="Tahoma"/>
              </a:rPr>
              <a:t>laboral:</a:t>
            </a:r>
            <a:r>
              <a:rPr sz="2850" spc="-150" dirty="0">
                <a:latin typeface="Tahoma"/>
                <a:cs typeface="Tahoma"/>
              </a:rPr>
              <a:t> </a:t>
            </a:r>
            <a:r>
              <a:rPr sz="2850" spc="80" dirty="0">
                <a:latin typeface="Tahoma"/>
                <a:cs typeface="Tahoma"/>
              </a:rPr>
              <a:t>Entre</a:t>
            </a:r>
            <a:r>
              <a:rPr sz="2850" spc="-145" dirty="0">
                <a:latin typeface="Tahoma"/>
                <a:cs typeface="Tahoma"/>
              </a:rPr>
              <a:t> </a:t>
            </a:r>
            <a:r>
              <a:rPr sz="2850" dirty="0">
                <a:latin typeface="Tahoma"/>
                <a:cs typeface="Tahoma"/>
              </a:rPr>
              <a:t>3:00</a:t>
            </a:r>
            <a:r>
              <a:rPr sz="2850" spc="-150" dirty="0">
                <a:latin typeface="Tahoma"/>
                <a:cs typeface="Tahoma"/>
              </a:rPr>
              <a:t> </a:t>
            </a:r>
            <a:r>
              <a:rPr sz="2850" spc="90" dirty="0">
                <a:latin typeface="Tahoma"/>
                <a:cs typeface="Tahoma"/>
              </a:rPr>
              <a:t>a</a:t>
            </a:r>
            <a:r>
              <a:rPr sz="2850" spc="-145" dirty="0">
                <a:latin typeface="Tahoma"/>
                <a:cs typeface="Tahoma"/>
              </a:rPr>
              <a:t> </a:t>
            </a:r>
            <a:r>
              <a:rPr sz="2850" spc="-10" dirty="0">
                <a:latin typeface="Tahoma"/>
                <a:cs typeface="Tahoma"/>
              </a:rPr>
              <a:t>4:00.</a:t>
            </a:r>
            <a:endParaRPr sz="2850" dirty="0">
              <a:latin typeface="Tahoma"/>
              <a:cs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ject 14"/>
          <p:cNvPicPr/>
          <p:nvPr/>
        </p:nvPicPr>
        <p:blipFill>
          <a:blip r:embed="rId2" cstate="print"/>
          <a:stretch>
            <a:fillRect/>
          </a:stretch>
        </p:blipFill>
        <p:spPr>
          <a:xfrm>
            <a:off x="10396025" y="1656669"/>
            <a:ext cx="5781689" cy="5781668"/>
          </a:xfrm>
          <a:prstGeom prst="rect">
            <a:avLst/>
          </a:prstGeom>
        </p:spPr>
      </p:pic>
      <p:sp>
        <p:nvSpPr>
          <p:cNvPr id="15" name="object 15"/>
          <p:cNvSpPr txBox="1">
            <a:spLocks noGrp="1"/>
          </p:cNvSpPr>
          <p:nvPr>
            <p:ph type="title"/>
          </p:nvPr>
        </p:nvSpPr>
        <p:spPr>
          <a:xfrm>
            <a:off x="2633437" y="1864433"/>
            <a:ext cx="6271260" cy="1690206"/>
          </a:xfrm>
          <a:prstGeom prst="rect">
            <a:avLst/>
          </a:prstGeom>
        </p:spPr>
        <p:txBody>
          <a:bodyPr vert="horz" wrap="square" lIns="0" tIns="12700" rIns="0" bIns="0" rtlCol="0">
            <a:spAutoFit/>
          </a:bodyPr>
          <a:lstStyle/>
          <a:p>
            <a:pPr marL="12700" algn="ctr">
              <a:lnSpc>
                <a:spcPct val="100000"/>
              </a:lnSpc>
              <a:spcBef>
                <a:spcPts val="100"/>
              </a:spcBef>
            </a:pPr>
            <a:r>
              <a:rPr dirty="0"/>
              <a:t>CALENDARIO DE RECURSOS</a:t>
            </a:r>
          </a:p>
        </p:txBody>
      </p:sp>
      <p:pic>
        <p:nvPicPr>
          <p:cNvPr id="16" name="object 16"/>
          <p:cNvPicPr/>
          <p:nvPr/>
        </p:nvPicPr>
        <p:blipFill>
          <a:blip r:embed="rId3" cstate="print"/>
          <a:stretch>
            <a:fillRect/>
          </a:stretch>
        </p:blipFill>
        <p:spPr>
          <a:xfrm>
            <a:off x="2254291" y="3976222"/>
            <a:ext cx="123825" cy="123825"/>
          </a:xfrm>
          <a:prstGeom prst="rect">
            <a:avLst/>
          </a:prstGeom>
        </p:spPr>
      </p:pic>
      <p:sp>
        <p:nvSpPr>
          <p:cNvPr id="17" name="object 17"/>
          <p:cNvSpPr txBox="1"/>
          <p:nvPr/>
        </p:nvSpPr>
        <p:spPr>
          <a:xfrm>
            <a:off x="2554130" y="3712310"/>
            <a:ext cx="6738620" cy="4064000"/>
          </a:xfrm>
          <a:prstGeom prst="rect">
            <a:avLst/>
          </a:prstGeom>
        </p:spPr>
        <p:txBody>
          <a:bodyPr vert="horz" wrap="square" lIns="0" tIns="12700" rIns="0" bIns="0" rtlCol="0">
            <a:spAutoFit/>
          </a:bodyPr>
          <a:lstStyle/>
          <a:p>
            <a:pPr marL="12700" marR="5080" algn="just">
              <a:lnSpc>
                <a:spcPct val="116199"/>
              </a:lnSpc>
              <a:spcBef>
                <a:spcPts val="100"/>
              </a:spcBef>
            </a:pPr>
            <a:r>
              <a:rPr sz="2850" spc="105" dirty="0">
                <a:latin typeface="Tahoma"/>
                <a:cs typeface="Tahoma"/>
              </a:rPr>
              <a:t>Cada</a:t>
            </a:r>
            <a:r>
              <a:rPr sz="2850" spc="665" dirty="0">
                <a:latin typeface="Tahoma"/>
                <a:cs typeface="Tahoma"/>
              </a:rPr>
              <a:t> </a:t>
            </a:r>
            <a:r>
              <a:rPr sz="2850" spc="110" dirty="0">
                <a:latin typeface="Tahoma"/>
                <a:cs typeface="Tahoma"/>
              </a:rPr>
              <a:t>recurso</a:t>
            </a:r>
            <a:r>
              <a:rPr sz="2850" spc="670" dirty="0">
                <a:latin typeface="Tahoma"/>
                <a:cs typeface="Tahoma"/>
              </a:rPr>
              <a:t> </a:t>
            </a:r>
            <a:r>
              <a:rPr sz="2850" spc="70" dirty="0">
                <a:latin typeface="Tahoma"/>
                <a:cs typeface="Tahoma"/>
              </a:rPr>
              <a:t>(como</a:t>
            </a:r>
            <a:r>
              <a:rPr sz="2850" spc="665" dirty="0">
                <a:latin typeface="Tahoma"/>
                <a:cs typeface="Tahoma"/>
              </a:rPr>
              <a:t> </a:t>
            </a:r>
            <a:r>
              <a:rPr sz="2850" spc="155" dirty="0">
                <a:latin typeface="Tahoma"/>
                <a:cs typeface="Tahoma"/>
              </a:rPr>
              <a:t>un</a:t>
            </a:r>
            <a:r>
              <a:rPr sz="2850" spc="665" dirty="0">
                <a:latin typeface="Tahoma"/>
                <a:cs typeface="Tahoma"/>
              </a:rPr>
              <a:t> </a:t>
            </a:r>
            <a:r>
              <a:rPr sz="2850" spc="160" dirty="0">
                <a:latin typeface="Tahoma"/>
                <a:cs typeface="Tahoma"/>
              </a:rPr>
              <a:t>miembro</a:t>
            </a:r>
            <a:r>
              <a:rPr sz="2850" spc="665" dirty="0">
                <a:latin typeface="Tahoma"/>
                <a:cs typeface="Tahoma"/>
              </a:rPr>
              <a:t> </a:t>
            </a:r>
            <a:r>
              <a:rPr sz="2850" spc="80" dirty="0">
                <a:latin typeface="Tahoma"/>
                <a:cs typeface="Tahoma"/>
              </a:rPr>
              <a:t>del </a:t>
            </a:r>
            <a:r>
              <a:rPr sz="2850" spc="90" dirty="0">
                <a:latin typeface="Tahoma"/>
                <a:cs typeface="Tahoma"/>
              </a:rPr>
              <a:t>equipo,</a:t>
            </a:r>
            <a:r>
              <a:rPr sz="2850" spc="-30" dirty="0">
                <a:latin typeface="Tahoma"/>
                <a:cs typeface="Tahoma"/>
              </a:rPr>
              <a:t> </a:t>
            </a:r>
            <a:r>
              <a:rPr sz="2850" spc="135" dirty="0">
                <a:latin typeface="Tahoma"/>
                <a:cs typeface="Tahoma"/>
              </a:rPr>
              <a:t>equipo</a:t>
            </a:r>
            <a:r>
              <a:rPr sz="2850" spc="-25" dirty="0">
                <a:latin typeface="Tahoma"/>
                <a:cs typeface="Tahoma"/>
              </a:rPr>
              <a:t> </a:t>
            </a:r>
            <a:r>
              <a:rPr sz="2850" spc="170" dirty="0">
                <a:latin typeface="Tahoma"/>
                <a:cs typeface="Tahoma"/>
              </a:rPr>
              <a:t>o</a:t>
            </a:r>
            <a:r>
              <a:rPr sz="2850" spc="-25" dirty="0">
                <a:latin typeface="Tahoma"/>
                <a:cs typeface="Tahoma"/>
              </a:rPr>
              <a:t> </a:t>
            </a:r>
            <a:r>
              <a:rPr sz="2850" spc="60" dirty="0">
                <a:latin typeface="Tahoma"/>
                <a:cs typeface="Tahoma"/>
              </a:rPr>
              <a:t>material)</a:t>
            </a:r>
            <a:r>
              <a:rPr sz="2850" spc="-30" dirty="0">
                <a:latin typeface="Tahoma"/>
                <a:cs typeface="Tahoma"/>
              </a:rPr>
              <a:t> </a:t>
            </a:r>
            <a:r>
              <a:rPr sz="2850" spc="130" dirty="0">
                <a:latin typeface="Tahoma"/>
                <a:cs typeface="Tahoma"/>
              </a:rPr>
              <a:t>puede</a:t>
            </a:r>
            <a:r>
              <a:rPr sz="2850" spc="-25" dirty="0">
                <a:latin typeface="Tahoma"/>
                <a:cs typeface="Tahoma"/>
              </a:rPr>
              <a:t> </a:t>
            </a:r>
            <a:r>
              <a:rPr sz="2850" spc="90" dirty="0">
                <a:latin typeface="Tahoma"/>
                <a:cs typeface="Tahoma"/>
              </a:rPr>
              <a:t>tener </a:t>
            </a:r>
            <a:r>
              <a:rPr sz="2850" spc="120" dirty="0">
                <a:latin typeface="Tahoma"/>
                <a:cs typeface="Tahoma"/>
              </a:rPr>
              <a:t>su</a:t>
            </a:r>
            <a:r>
              <a:rPr sz="2850" spc="130" dirty="0">
                <a:latin typeface="Tahoma"/>
                <a:cs typeface="Tahoma"/>
              </a:rPr>
              <a:t>  </a:t>
            </a:r>
            <a:r>
              <a:rPr sz="2850" spc="140" dirty="0">
                <a:latin typeface="Tahoma"/>
                <a:cs typeface="Tahoma"/>
              </a:rPr>
              <a:t>propio  </a:t>
            </a:r>
            <a:r>
              <a:rPr sz="2850" spc="100" dirty="0">
                <a:latin typeface="Tahoma"/>
                <a:cs typeface="Tahoma"/>
              </a:rPr>
              <a:t>calendario</a:t>
            </a:r>
            <a:r>
              <a:rPr sz="2850" spc="140" dirty="0">
                <a:latin typeface="Tahoma"/>
                <a:cs typeface="Tahoma"/>
              </a:rPr>
              <a:t>  </a:t>
            </a:r>
            <a:r>
              <a:rPr sz="2850" spc="135" dirty="0">
                <a:latin typeface="Tahoma"/>
                <a:cs typeface="Tahoma"/>
              </a:rPr>
              <a:t>que</a:t>
            </a:r>
            <a:r>
              <a:rPr sz="2850" spc="145" dirty="0">
                <a:latin typeface="Tahoma"/>
                <a:cs typeface="Tahoma"/>
              </a:rPr>
              <a:t>  </a:t>
            </a:r>
            <a:r>
              <a:rPr sz="2850" spc="100" dirty="0">
                <a:latin typeface="Tahoma"/>
                <a:cs typeface="Tahoma"/>
              </a:rPr>
              <a:t>define</a:t>
            </a:r>
            <a:r>
              <a:rPr sz="2850" spc="140" dirty="0">
                <a:latin typeface="Tahoma"/>
                <a:cs typeface="Tahoma"/>
              </a:rPr>
              <a:t>  </a:t>
            </a:r>
            <a:r>
              <a:rPr sz="2850" spc="95" dirty="0">
                <a:latin typeface="Tahoma"/>
                <a:cs typeface="Tahoma"/>
              </a:rPr>
              <a:t>su </a:t>
            </a:r>
            <a:r>
              <a:rPr sz="2850" spc="100" dirty="0">
                <a:latin typeface="Tahoma"/>
                <a:cs typeface="Tahoma"/>
              </a:rPr>
              <a:t>disponibilidad.</a:t>
            </a:r>
            <a:r>
              <a:rPr sz="2850" spc="225" dirty="0">
                <a:latin typeface="Tahoma"/>
                <a:cs typeface="Tahoma"/>
              </a:rPr>
              <a:t>  </a:t>
            </a:r>
            <a:r>
              <a:rPr sz="2850" spc="145" dirty="0">
                <a:latin typeface="Tahoma"/>
                <a:cs typeface="Tahoma"/>
              </a:rPr>
              <a:t>Por</a:t>
            </a:r>
            <a:r>
              <a:rPr sz="2850" spc="235" dirty="0">
                <a:latin typeface="Tahoma"/>
                <a:cs typeface="Tahoma"/>
              </a:rPr>
              <a:t>  </a:t>
            </a:r>
            <a:r>
              <a:rPr sz="2850" spc="70" dirty="0">
                <a:latin typeface="Tahoma"/>
                <a:cs typeface="Tahoma"/>
              </a:rPr>
              <a:t>ejemplo,</a:t>
            </a:r>
            <a:r>
              <a:rPr sz="2850" spc="235" dirty="0">
                <a:latin typeface="Tahoma"/>
                <a:cs typeface="Tahoma"/>
              </a:rPr>
              <a:t>  </a:t>
            </a:r>
            <a:r>
              <a:rPr sz="2850" spc="85" dirty="0">
                <a:latin typeface="Tahoma"/>
                <a:cs typeface="Tahoma"/>
              </a:rPr>
              <a:t>algunos </a:t>
            </a:r>
            <a:r>
              <a:rPr sz="2850" spc="105" dirty="0">
                <a:latin typeface="Tahoma"/>
                <a:cs typeface="Tahoma"/>
              </a:rPr>
              <a:t>recursos</a:t>
            </a:r>
            <a:r>
              <a:rPr sz="2850" spc="285" dirty="0">
                <a:latin typeface="Tahoma"/>
                <a:cs typeface="Tahoma"/>
              </a:rPr>
              <a:t>  </a:t>
            </a:r>
            <a:r>
              <a:rPr sz="2850" spc="135" dirty="0">
                <a:latin typeface="Tahoma"/>
                <a:cs typeface="Tahoma"/>
              </a:rPr>
              <a:t>pueden</a:t>
            </a:r>
            <a:r>
              <a:rPr sz="2850" spc="295" dirty="0">
                <a:latin typeface="Tahoma"/>
                <a:cs typeface="Tahoma"/>
              </a:rPr>
              <a:t>  </a:t>
            </a:r>
            <a:r>
              <a:rPr sz="2850" spc="80" dirty="0">
                <a:latin typeface="Tahoma"/>
                <a:cs typeface="Tahoma"/>
              </a:rPr>
              <a:t>trabajar</a:t>
            </a:r>
            <a:r>
              <a:rPr sz="2850" spc="295" dirty="0">
                <a:latin typeface="Tahoma"/>
                <a:cs typeface="Tahoma"/>
              </a:rPr>
              <a:t>  </a:t>
            </a:r>
            <a:r>
              <a:rPr sz="2850" spc="90" dirty="0">
                <a:latin typeface="Tahoma"/>
                <a:cs typeface="Tahoma"/>
              </a:rPr>
              <a:t>a</a:t>
            </a:r>
            <a:r>
              <a:rPr sz="2850" spc="295" dirty="0">
                <a:latin typeface="Tahoma"/>
                <a:cs typeface="Tahoma"/>
              </a:rPr>
              <a:t>  </a:t>
            </a:r>
            <a:r>
              <a:rPr sz="2850" spc="120" dirty="0">
                <a:latin typeface="Tahoma"/>
                <a:cs typeface="Tahoma"/>
              </a:rPr>
              <a:t>tiempo </a:t>
            </a:r>
            <a:r>
              <a:rPr sz="2850" spc="125" dirty="0">
                <a:latin typeface="Tahoma"/>
                <a:cs typeface="Tahoma"/>
              </a:rPr>
              <a:t>completo</a:t>
            </a:r>
            <a:r>
              <a:rPr sz="2850" spc="305" dirty="0">
                <a:latin typeface="Tahoma"/>
                <a:cs typeface="Tahoma"/>
              </a:rPr>
              <a:t> </a:t>
            </a:r>
            <a:r>
              <a:rPr sz="2850" spc="125" dirty="0">
                <a:latin typeface="Tahoma"/>
                <a:cs typeface="Tahoma"/>
              </a:rPr>
              <a:t>de</a:t>
            </a:r>
            <a:r>
              <a:rPr sz="2850" spc="300" dirty="0">
                <a:latin typeface="Tahoma"/>
                <a:cs typeface="Tahoma"/>
              </a:rPr>
              <a:t> </a:t>
            </a:r>
            <a:r>
              <a:rPr sz="2850" spc="105" dirty="0">
                <a:latin typeface="Tahoma"/>
                <a:cs typeface="Tahoma"/>
              </a:rPr>
              <a:t>lunes</a:t>
            </a:r>
            <a:r>
              <a:rPr sz="2850" spc="305" dirty="0">
                <a:latin typeface="Tahoma"/>
                <a:cs typeface="Tahoma"/>
              </a:rPr>
              <a:t> </a:t>
            </a:r>
            <a:r>
              <a:rPr sz="2850" spc="90" dirty="0">
                <a:latin typeface="Tahoma"/>
                <a:cs typeface="Tahoma"/>
              </a:rPr>
              <a:t>a</a:t>
            </a:r>
            <a:r>
              <a:rPr sz="2850" spc="300" dirty="0">
                <a:latin typeface="Tahoma"/>
                <a:cs typeface="Tahoma"/>
              </a:rPr>
              <a:t> </a:t>
            </a:r>
            <a:r>
              <a:rPr sz="2850" spc="50" dirty="0">
                <a:latin typeface="Tahoma"/>
                <a:cs typeface="Tahoma"/>
              </a:rPr>
              <a:t>viernes,</a:t>
            </a:r>
            <a:r>
              <a:rPr sz="2850" spc="305" dirty="0">
                <a:latin typeface="Tahoma"/>
                <a:cs typeface="Tahoma"/>
              </a:rPr>
              <a:t> </a:t>
            </a:r>
            <a:r>
              <a:rPr sz="2850" spc="100" dirty="0">
                <a:latin typeface="Tahoma"/>
                <a:cs typeface="Tahoma"/>
              </a:rPr>
              <a:t>mientras </a:t>
            </a:r>
            <a:r>
              <a:rPr sz="2850" spc="135" dirty="0">
                <a:latin typeface="Tahoma"/>
                <a:cs typeface="Tahoma"/>
              </a:rPr>
              <a:t>que</a:t>
            </a:r>
            <a:r>
              <a:rPr sz="2850" spc="415" dirty="0">
                <a:latin typeface="Tahoma"/>
                <a:cs typeface="Tahoma"/>
              </a:rPr>
              <a:t> </a:t>
            </a:r>
            <a:r>
              <a:rPr sz="2850" spc="120" dirty="0">
                <a:latin typeface="Tahoma"/>
                <a:cs typeface="Tahoma"/>
              </a:rPr>
              <a:t>otros</a:t>
            </a:r>
            <a:r>
              <a:rPr sz="2850" spc="425" dirty="0">
                <a:latin typeface="Tahoma"/>
                <a:cs typeface="Tahoma"/>
              </a:rPr>
              <a:t> </a:t>
            </a:r>
            <a:r>
              <a:rPr sz="2850" spc="135" dirty="0">
                <a:latin typeface="Tahoma"/>
                <a:cs typeface="Tahoma"/>
              </a:rPr>
              <a:t>pueden</a:t>
            </a:r>
            <a:r>
              <a:rPr sz="2850" spc="425" dirty="0">
                <a:latin typeface="Tahoma"/>
                <a:cs typeface="Tahoma"/>
              </a:rPr>
              <a:t> </a:t>
            </a:r>
            <a:r>
              <a:rPr sz="2850" spc="100" dirty="0">
                <a:latin typeface="Tahoma"/>
                <a:cs typeface="Tahoma"/>
              </a:rPr>
              <a:t>tener</a:t>
            </a:r>
            <a:r>
              <a:rPr sz="2850" spc="425" dirty="0">
                <a:latin typeface="Tahoma"/>
                <a:cs typeface="Tahoma"/>
              </a:rPr>
              <a:t> </a:t>
            </a:r>
            <a:r>
              <a:rPr sz="2850" spc="120" dirty="0">
                <a:latin typeface="Tahoma"/>
                <a:cs typeface="Tahoma"/>
              </a:rPr>
              <a:t>horarios</a:t>
            </a:r>
            <a:r>
              <a:rPr sz="2850" spc="425" dirty="0">
                <a:latin typeface="Tahoma"/>
                <a:cs typeface="Tahoma"/>
              </a:rPr>
              <a:t> </a:t>
            </a:r>
            <a:r>
              <a:rPr sz="2850" spc="114" dirty="0">
                <a:latin typeface="Tahoma"/>
                <a:cs typeface="Tahoma"/>
              </a:rPr>
              <a:t>más </a:t>
            </a:r>
            <a:r>
              <a:rPr sz="2850" spc="50" dirty="0">
                <a:latin typeface="Tahoma"/>
                <a:cs typeface="Tahoma"/>
              </a:rPr>
              <a:t>flexibles.</a:t>
            </a:r>
            <a:endParaRPr sz="2850">
              <a:latin typeface="Tahoma"/>
              <a:cs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object 14"/>
          <p:cNvPicPr/>
          <p:nvPr/>
        </p:nvPicPr>
        <p:blipFill>
          <a:blip r:embed="rId2" cstate="print"/>
          <a:stretch>
            <a:fillRect/>
          </a:stretch>
        </p:blipFill>
        <p:spPr>
          <a:xfrm>
            <a:off x="9924058" y="1335722"/>
            <a:ext cx="5781689" cy="5781662"/>
          </a:xfrm>
          <a:prstGeom prst="rect">
            <a:avLst/>
          </a:prstGeom>
        </p:spPr>
      </p:pic>
      <p:sp>
        <p:nvSpPr>
          <p:cNvPr id="15" name="object 15"/>
          <p:cNvSpPr txBox="1">
            <a:spLocks noGrp="1"/>
          </p:cNvSpPr>
          <p:nvPr>
            <p:ph type="title"/>
          </p:nvPr>
        </p:nvSpPr>
        <p:spPr>
          <a:xfrm>
            <a:off x="2743200" y="1793194"/>
            <a:ext cx="5555615" cy="1690206"/>
          </a:xfrm>
          <a:prstGeom prst="rect">
            <a:avLst/>
          </a:prstGeom>
        </p:spPr>
        <p:txBody>
          <a:bodyPr vert="horz" wrap="square" lIns="0" tIns="12700" rIns="0" bIns="0" rtlCol="0">
            <a:spAutoFit/>
          </a:bodyPr>
          <a:lstStyle/>
          <a:p>
            <a:pPr marL="12700" algn="ctr">
              <a:lnSpc>
                <a:spcPct val="100000"/>
              </a:lnSpc>
              <a:spcBef>
                <a:spcPts val="100"/>
              </a:spcBef>
            </a:pPr>
            <a:r>
              <a:rPr dirty="0"/>
              <a:t>CALENDARIO DE TAREAS</a:t>
            </a:r>
          </a:p>
        </p:txBody>
      </p:sp>
      <p:pic>
        <p:nvPicPr>
          <p:cNvPr id="16" name="object 16"/>
          <p:cNvPicPr/>
          <p:nvPr/>
        </p:nvPicPr>
        <p:blipFill>
          <a:blip r:embed="rId3" cstate="print"/>
          <a:stretch>
            <a:fillRect/>
          </a:stretch>
        </p:blipFill>
        <p:spPr>
          <a:xfrm>
            <a:off x="2254291" y="3976222"/>
            <a:ext cx="123825" cy="123825"/>
          </a:xfrm>
          <a:prstGeom prst="rect">
            <a:avLst/>
          </a:prstGeom>
        </p:spPr>
      </p:pic>
      <p:sp>
        <p:nvSpPr>
          <p:cNvPr id="17" name="object 17"/>
          <p:cNvSpPr txBox="1"/>
          <p:nvPr/>
        </p:nvSpPr>
        <p:spPr>
          <a:xfrm>
            <a:off x="2554130" y="3712310"/>
            <a:ext cx="6738620" cy="3054350"/>
          </a:xfrm>
          <a:prstGeom prst="rect">
            <a:avLst/>
          </a:prstGeom>
        </p:spPr>
        <p:txBody>
          <a:bodyPr vert="horz" wrap="square" lIns="0" tIns="12700" rIns="0" bIns="0" rtlCol="0">
            <a:spAutoFit/>
          </a:bodyPr>
          <a:lstStyle/>
          <a:p>
            <a:pPr marL="12700" marR="5080" algn="just">
              <a:lnSpc>
                <a:spcPct val="116199"/>
              </a:lnSpc>
              <a:spcBef>
                <a:spcPts val="100"/>
              </a:spcBef>
            </a:pPr>
            <a:r>
              <a:rPr sz="2850" spc="85" dirty="0">
                <a:latin typeface="Tahoma"/>
                <a:cs typeface="Tahoma"/>
              </a:rPr>
              <a:t>A</a:t>
            </a:r>
            <a:r>
              <a:rPr sz="2850" spc="-40" dirty="0">
                <a:latin typeface="Tahoma"/>
                <a:cs typeface="Tahoma"/>
              </a:rPr>
              <a:t> </a:t>
            </a:r>
            <a:r>
              <a:rPr sz="2850" dirty="0">
                <a:latin typeface="Tahoma"/>
                <a:cs typeface="Tahoma"/>
              </a:rPr>
              <a:t>veces,</a:t>
            </a:r>
            <a:r>
              <a:rPr sz="2850" spc="-35" dirty="0">
                <a:latin typeface="Tahoma"/>
                <a:cs typeface="Tahoma"/>
              </a:rPr>
              <a:t> </a:t>
            </a:r>
            <a:r>
              <a:rPr sz="2850" spc="75" dirty="0">
                <a:latin typeface="Tahoma"/>
                <a:cs typeface="Tahoma"/>
              </a:rPr>
              <a:t>ciertas</a:t>
            </a:r>
            <a:r>
              <a:rPr sz="2850" spc="-40" dirty="0">
                <a:latin typeface="Tahoma"/>
                <a:cs typeface="Tahoma"/>
              </a:rPr>
              <a:t> </a:t>
            </a:r>
            <a:r>
              <a:rPr sz="2850" spc="85" dirty="0">
                <a:latin typeface="Tahoma"/>
                <a:cs typeface="Tahoma"/>
              </a:rPr>
              <a:t>tareas</a:t>
            </a:r>
            <a:r>
              <a:rPr sz="2850" spc="-35" dirty="0">
                <a:latin typeface="Tahoma"/>
                <a:cs typeface="Tahoma"/>
              </a:rPr>
              <a:t> </a:t>
            </a:r>
            <a:r>
              <a:rPr sz="2850" spc="135" dirty="0">
                <a:latin typeface="Tahoma"/>
                <a:cs typeface="Tahoma"/>
              </a:rPr>
              <a:t>pueden</a:t>
            </a:r>
            <a:r>
              <a:rPr sz="2850" spc="-35" dirty="0">
                <a:latin typeface="Tahoma"/>
                <a:cs typeface="Tahoma"/>
              </a:rPr>
              <a:t> </a:t>
            </a:r>
            <a:r>
              <a:rPr sz="2850" spc="100" dirty="0">
                <a:latin typeface="Tahoma"/>
                <a:cs typeface="Tahoma"/>
              </a:rPr>
              <a:t>tener</a:t>
            </a:r>
            <a:r>
              <a:rPr sz="2850" spc="-40" dirty="0">
                <a:latin typeface="Tahoma"/>
                <a:cs typeface="Tahoma"/>
              </a:rPr>
              <a:t> </a:t>
            </a:r>
            <a:r>
              <a:rPr sz="2850" spc="130" dirty="0">
                <a:latin typeface="Tahoma"/>
                <a:cs typeface="Tahoma"/>
              </a:rPr>
              <a:t>un </a:t>
            </a:r>
            <a:r>
              <a:rPr sz="2850" spc="100" dirty="0">
                <a:latin typeface="Tahoma"/>
                <a:cs typeface="Tahoma"/>
              </a:rPr>
              <a:t>calendario</a:t>
            </a:r>
            <a:r>
              <a:rPr sz="2850" spc="680" dirty="0">
                <a:latin typeface="Tahoma"/>
                <a:cs typeface="Tahoma"/>
              </a:rPr>
              <a:t>  </a:t>
            </a:r>
            <a:r>
              <a:rPr sz="2850" spc="80" dirty="0">
                <a:latin typeface="Tahoma"/>
                <a:cs typeface="Tahoma"/>
              </a:rPr>
              <a:t>específico</a:t>
            </a:r>
            <a:r>
              <a:rPr sz="2850" spc="690" dirty="0">
                <a:latin typeface="Tahoma"/>
                <a:cs typeface="Tahoma"/>
              </a:rPr>
              <a:t>  </a:t>
            </a:r>
            <a:r>
              <a:rPr sz="2850" spc="95" dirty="0">
                <a:latin typeface="Tahoma"/>
                <a:cs typeface="Tahoma"/>
              </a:rPr>
              <a:t>diferente</a:t>
            </a:r>
            <a:r>
              <a:rPr sz="2850" spc="690" dirty="0">
                <a:latin typeface="Tahoma"/>
                <a:cs typeface="Tahoma"/>
              </a:rPr>
              <a:t>  </a:t>
            </a:r>
            <a:r>
              <a:rPr sz="2850" spc="80" dirty="0">
                <a:latin typeface="Tahoma"/>
                <a:cs typeface="Tahoma"/>
              </a:rPr>
              <a:t>del </a:t>
            </a:r>
            <a:r>
              <a:rPr sz="2850" spc="100" dirty="0">
                <a:latin typeface="Tahoma"/>
                <a:cs typeface="Tahoma"/>
              </a:rPr>
              <a:t>calendario</a:t>
            </a:r>
            <a:r>
              <a:rPr sz="2850" spc="40" dirty="0">
                <a:latin typeface="Tahoma"/>
                <a:cs typeface="Tahoma"/>
              </a:rPr>
              <a:t>  </a:t>
            </a:r>
            <a:r>
              <a:rPr sz="2850" spc="105" dirty="0">
                <a:latin typeface="Tahoma"/>
                <a:cs typeface="Tahoma"/>
              </a:rPr>
              <a:t>del</a:t>
            </a:r>
            <a:r>
              <a:rPr sz="2850" spc="55" dirty="0">
                <a:latin typeface="Tahoma"/>
                <a:cs typeface="Tahoma"/>
              </a:rPr>
              <a:t>  </a:t>
            </a:r>
            <a:r>
              <a:rPr sz="2850" spc="75" dirty="0">
                <a:latin typeface="Tahoma"/>
                <a:cs typeface="Tahoma"/>
              </a:rPr>
              <a:t>proyecto.</a:t>
            </a:r>
            <a:r>
              <a:rPr sz="2850" spc="50" dirty="0">
                <a:latin typeface="Tahoma"/>
                <a:cs typeface="Tahoma"/>
              </a:rPr>
              <a:t>  </a:t>
            </a:r>
            <a:r>
              <a:rPr sz="2850" spc="70" dirty="0">
                <a:latin typeface="Tahoma"/>
                <a:cs typeface="Tahoma"/>
              </a:rPr>
              <a:t>Esto</a:t>
            </a:r>
            <a:r>
              <a:rPr sz="2850" spc="55" dirty="0">
                <a:latin typeface="Tahoma"/>
                <a:cs typeface="Tahoma"/>
              </a:rPr>
              <a:t>  </a:t>
            </a:r>
            <a:r>
              <a:rPr sz="2850" spc="85" dirty="0">
                <a:latin typeface="Tahoma"/>
                <a:cs typeface="Tahoma"/>
              </a:rPr>
              <a:t>es</a:t>
            </a:r>
            <a:r>
              <a:rPr sz="2850" spc="55" dirty="0">
                <a:latin typeface="Tahoma"/>
                <a:cs typeface="Tahoma"/>
              </a:rPr>
              <a:t>  </a:t>
            </a:r>
            <a:r>
              <a:rPr sz="2850" spc="65" dirty="0">
                <a:latin typeface="Tahoma"/>
                <a:cs typeface="Tahoma"/>
              </a:rPr>
              <a:t>útil </a:t>
            </a:r>
            <a:r>
              <a:rPr sz="2850" spc="125" dirty="0">
                <a:latin typeface="Tahoma"/>
                <a:cs typeface="Tahoma"/>
              </a:rPr>
              <a:t>cuando</a:t>
            </a:r>
            <a:r>
              <a:rPr sz="2850" spc="700" dirty="0">
                <a:latin typeface="Tahoma"/>
                <a:cs typeface="Tahoma"/>
              </a:rPr>
              <a:t> </a:t>
            </a:r>
            <a:r>
              <a:rPr sz="2850" spc="130" dirty="0">
                <a:latin typeface="Tahoma"/>
                <a:cs typeface="Tahoma"/>
              </a:rPr>
              <a:t>una</a:t>
            </a:r>
            <a:r>
              <a:rPr sz="2850" spc="700" dirty="0">
                <a:latin typeface="Tahoma"/>
                <a:cs typeface="Tahoma"/>
              </a:rPr>
              <a:t> </a:t>
            </a:r>
            <a:r>
              <a:rPr sz="2850" spc="85" dirty="0">
                <a:latin typeface="Tahoma"/>
                <a:cs typeface="Tahoma"/>
              </a:rPr>
              <a:t>tarea</a:t>
            </a:r>
            <a:r>
              <a:rPr sz="2850" spc="700" dirty="0">
                <a:latin typeface="Tahoma"/>
                <a:cs typeface="Tahoma"/>
              </a:rPr>
              <a:t> </a:t>
            </a:r>
            <a:r>
              <a:rPr sz="2850" spc="125" dirty="0">
                <a:latin typeface="Tahoma"/>
                <a:cs typeface="Tahoma"/>
              </a:rPr>
              <a:t>debe</a:t>
            </a:r>
            <a:r>
              <a:rPr sz="2850" spc="700" dirty="0">
                <a:latin typeface="Tahoma"/>
                <a:cs typeface="Tahoma"/>
              </a:rPr>
              <a:t> </a:t>
            </a:r>
            <a:r>
              <a:rPr sz="2850" spc="85" dirty="0">
                <a:latin typeface="Tahoma"/>
                <a:cs typeface="Tahoma"/>
              </a:rPr>
              <a:t>realizarse</a:t>
            </a:r>
            <a:r>
              <a:rPr sz="2850" spc="700" dirty="0">
                <a:latin typeface="Tahoma"/>
                <a:cs typeface="Tahoma"/>
              </a:rPr>
              <a:t> </a:t>
            </a:r>
            <a:r>
              <a:rPr sz="2850" spc="95" dirty="0">
                <a:latin typeface="Tahoma"/>
                <a:cs typeface="Tahoma"/>
              </a:rPr>
              <a:t>en </a:t>
            </a:r>
            <a:r>
              <a:rPr sz="2850" spc="120" dirty="0">
                <a:latin typeface="Tahoma"/>
                <a:cs typeface="Tahoma"/>
              </a:rPr>
              <a:t>horarios</a:t>
            </a:r>
            <a:r>
              <a:rPr sz="2850" spc="545" dirty="0">
                <a:latin typeface="Tahoma"/>
                <a:cs typeface="Tahoma"/>
              </a:rPr>
              <a:t>   </a:t>
            </a:r>
            <a:r>
              <a:rPr sz="2850" spc="95" dirty="0">
                <a:latin typeface="Tahoma"/>
                <a:cs typeface="Tahoma"/>
              </a:rPr>
              <a:t>diferentes</a:t>
            </a:r>
            <a:r>
              <a:rPr sz="2850" spc="550" dirty="0">
                <a:latin typeface="Tahoma"/>
                <a:cs typeface="Tahoma"/>
              </a:rPr>
              <a:t>   </a:t>
            </a:r>
            <a:r>
              <a:rPr sz="2850" spc="90" dirty="0">
                <a:latin typeface="Tahoma"/>
                <a:cs typeface="Tahoma"/>
              </a:rPr>
              <a:t>a</a:t>
            </a:r>
            <a:r>
              <a:rPr sz="2850" spc="545" dirty="0">
                <a:latin typeface="Tahoma"/>
                <a:cs typeface="Tahoma"/>
              </a:rPr>
              <a:t>   </a:t>
            </a:r>
            <a:r>
              <a:rPr sz="2850" spc="105" dirty="0">
                <a:latin typeface="Tahoma"/>
                <a:cs typeface="Tahoma"/>
              </a:rPr>
              <a:t>los</a:t>
            </a:r>
            <a:r>
              <a:rPr sz="2850" spc="545" dirty="0">
                <a:latin typeface="Tahoma"/>
                <a:cs typeface="Tahoma"/>
              </a:rPr>
              <a:t>   </a:t>
            </a:r>
            <a:r>
              <a:rPr sz="2850" spc="80" dirty="0">
                <a:latin typeface="Tahoma"/>
                <a:cs typeface="Tahoma"/>
              </a:rPr>
              <a:t>días </a:t>
            </a:r>
            <a:r>
              <a:rPr sz="2850" spc="110" dirty="0">
                <a:latin typeface="Tahoma"/>
                <a:cs typeface="Tahoma"/>
              </a:rPr>
              <a:t>laborables</a:t>
            </a:r>
            <a:r>
              <a:rPr sz="2850" spc="-145" dirty="0">
                <a:latin typeface="Tahoma"/>
                <a:cs typeface="Tahoma"/>
              </a:rPr>
              <a:t> </a:t>
            </a:r>
            <a:r>
              <a:rPr sz="2850" spc="95" dirty="0">
                <a:latin typeface="Tahoma"/>
                <a:cs typeface="Tahoma"/>
              </a:rPr>
              <a:t>estándar</a:t>
            </a:r>
            <a:endParaRPr sz="2850">
              <a:latin typeface="Tahoma"/>
              <a:cs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title"/>
          </p:nvPr>
        </p:nvSpPr>
        <p:spPr>
          <a:xfrm>
            <a:off x="5096113" y="1520144"/>
            <a:ext cx="7466330" cy="1690206"/>
          </a:xfrm>
          <a:prstGeom prst="rect">
            <a:avLst/>
          </a:prstGeom>
        </p:spPr>
        <p:txBody>
          <a:bodyPr vert="horz" wrap="square" lIns="0" tIns="12700" rIns="0" bIns="0" rtlCol="0">
            <a:spAutoFit/>
          </a:bodyPr>
          <a:lstStyle/>
          <a:p>
            <a:pPr marL="12700" algn="ctr">
              <a:lnSpc>
                <a:spcPct val="100000"/>
              </a:lnSpc>
              <a:spcBef>
                <a:spcPts val="100"/>
              </a:spcBef>
            </a:pPr>
            <a:r>
              <a:rPr dirty="0"/>
              <a:t>CALENDARIOS PERSONALIZADOS</a:t>
            </a:r>
          </a:p>
        </p:txBody>
      </p:sp>
      <p:pic>
        <p:nvPicPr>
          <p:cNvPr id="15" name="object 15"/>
          <p:cNvPicPr/>
          <p:nvPr/>
        </p:nvPicPr>
        <p:blipFill>
          <a:blip r:embed="rId2" cstate="print"/>
          <a:stretch>
            <a:fillRect/>
          </a:stretch>
        </p:blipFill>
        <p:spPr>
          <a:xfrm>
            <a:off x="2765346" y="6970516"/>
            <a:ext cx="123825" cy="123825"/>
          </a:xfrm>
          <a:prstGeom prst="rect">
            <a:avLst/>
          </a:prstGeom>
        </p:spPr>
      </p:pic>
      <p:pic>
        <p:nvPicPr>
          <p:cNvPr id="16" name="object 16"/>
          <p:cNvPicPr/>
          <p:nvPr/>
        </p:nvPicPr>
        <p:blipFill>
          <a:blip r:embed="rId2" cstate="print"/>
          <a:stretch>
            <a:fillRect/>
          </a:stretch>
        </p:blipFill>
        <p:spPr>
          <a:xfrm>
            <a:off x="2765346" y="7475341"/>
            <a:ext cx="123825" cy="123825"/>
          </a:xfrm>
          <a:prstGeom prst="rect">
            <a:avLst/>
          </a:prstGeom>
        </p:spPr>
      </p:pic>
      <p:pic>
        <p:nvPicPr>
          <p:cNvPr id="17" name="object 17"/>
          <p:cNvPicPr/>
          <p:nvPr/>
        </p:nvPicPr>
        <p:blipFill>
          <a:blip r:embed="rId3" cstate="print"/>
          <a:stretch>
            <a:fillRect/>
          </a:stretch>
        </p:blipFill>
        <p:spPr>
          <a:xfrm>
            <a:off x="2765346" y="7980166"/>
            <a:ext cx="123825" cy="123825"/>
          </a:xfrm>
          <a:prstGeom prst="rect">
            <a:avLst/>
          </a:prstGeom>
        </p:spPr>
      </p:pic>
      <p:pic>
        <p:nvPicPr>
          <p:cNvPr id="18" name="object 18"/>
          <p:cNvPicPr/>
          <p:nvPr/>
        </p:nvPicPr>
        <p:blipFill>
          <a:blip r:embed="rId3" cstate="print"/>
          <a:stretch>
            <a:fillRect/>
          </a:stretch>
        </p:blipFill>
        <p:spPr>
          <a:xfrm>
            <a:off x="2765346" y="8484991"/>
            <a:ext cx="123825" cy="123825"/>
          </a:xfrm>
          <a:prstGeom prst="rect">
            <a:avLst/>
          </a:prstGeom>
        </p:spPr>
      </p:pic>
      <p:pic>
        <p:nvPicPr>
          <p:cNvPr id="19" name="object 19"/>
          <p:cNvPicPr/>
          <p:nvPr/>
        </p:nvPicPr>
        <p:blipFill>
          <a:blip r:embed="rId3" cstate="print"/>
          <a:stretch>
            <a:fillRect/>
          </a:stretch>
        </p:blipFill>
        <p:spPr>
          <a:xfrm>
            <a:off x="2765346" y="8989816"/>
            <a:ext cx="123825" cy="123825"/>
          </a:xfrm>
          <a:prstGeom prst="rect">
            <a:avLst/>
          </a:prstGeom>
        </p:spPr>
      </p:pic>
      <p:sp>
        <p:nvSpPr>
          <p:cNvPr id="20" name="object 20"/>
          <p:cNvSpPr txBox="1"/>
          <p:nvPr/>
        </p:nvSpPr>
        <p:spPr>
          <a:xfrm>
            <a:off x="2447846" y="3677654"/>
            <a:ext cx="12762865" cy="5578475"/>
          </a:xfrm>
          <a:prstGeom prst="rect">
            <a:avLst/>
          </a:prstGeom>
        </p:spPr>
        <p:txBody>
          <a:bodyPr vert="horz" wrap="square" lIns="0" tIns="12700" rIns="0" bIns="0" rtlCol="0">
            <a:spAutoFit/>
          </a:bodyPr>
          <a:lstStyle/>
          <a:p>
            <a:pPr marL="12700" marR="5080" algn="just">
              <a:lnSpc>
                <a:spcPct val="116199"/>
              </a:lnSpc>
              <a:spcBef>
                <a:spcPts val="100"/>
              </a:spcBef>
            </a:pPr>
            <a:r>
              <a:rPr sz="2850" spc="70" dirty="0">
                <a:latin typeface="Tahoma"/>
                <a:cs typeface="Tahoma"/>
              </a:rPr>
              <a:t>Estos</a:t>
            </a:r>
            <a:r>
              <a:rPr sz="2850" spc="625" dirty="0">
                <a:latin typeface="Tahoma"/>
                <a:cs typeface="Tahoma"/>
              </a:rPr>
              <a:t>  </a:t>
            </a:r>
            <a:r>
              <a:rPr sz="2850" spc="100" dirty="0">
                <a:latin typeface="Tahoma"/>
                <a:cs typeface="Tahoma"/>
              </a:rPr>
              <a:t>calendarios</a:t>
            </a:r>
            <a:r>
              <a:rPr sz="2850" spc="635" dirty="0">
                <a:latin typeface="Tahoma"/>
                <a:cs typeface="Tahoma"/>
              </a:rPr>
              <a:t>  </a:t>
            </a:r>
            <a:r>
              <a:rPr sz="2850" spc="110" dirty="0">
                <a:latin typeface="Tahoma"/>
                <a:cs typeface="Tahoma"/>
              </a:rPr>
              <a:t>personalizados</a:t>
            </a:r>
            <a:r>
              <a:rPr sz="2850" spc="635" dirty="0">
                <a:latin typeface="Tahoma"/>
                <a:cs typeface="Tahoma"/>
              </a:rPr>
              <a:t>  </a:t>
            </a:r>
            <a:r>
              <a:rPr sz="2850" spc="135" dirty="0">
                <a:latin typeface="Tahoma"/>
                <a:cs typeface="Tahoma"/>
              </a:rPr>
              <a:t>son</a:t>
            </a:r>
            <a:r>
              <a:rPr sz="2850" spc="635" dirty="0">
                <a:latin typeface="Tahoma"/>
                <a:cs typeface="Tahoma"/>
              </a:rPr>
              <a:t>  </a:t>
            </a:r>
            <a:r>
              <a:rPr sz="2850" spc="95" dirty="0">
                <a:latin typeface="Tahoma"/>
                <a:cs typeface="Tahoma"/>
              </a:rPr>
              <a:t>utilizados</a:t>
            </a:r>
            <a:r>
              <a:rPr sz="2850" spc="635" dirty="0">
                <a:latin typeface="Tahoma"/>
                <a:cs typeface="Tahoma"/>
              </a:rPr>
              <a:t>  </a:t>
            </a:r>
            <a:r>
              <a:rPr sz="2850" spc="114" dirty="0">
                <a:latin typeface="Tahoma"/>
                <a:cs typeface="Tahoma"/>
              </a:rPr>
              <a:t>para</a:t>
            </a:r>
            <a:r>
              <a:rPr sz="2850" spc="635" dirty="0">
                <a:latin typeface="Tahoma"/>
                <a:cs typeface="Tahoma"/>
              </a:rPr>
              <a:t>  </a:t>
            </a:r>
            <a:r>
              <a:rPr sz="2850" spc="110" dirty="0">
                <a:latin typeface="Tahoma"/>
                <a:cs typeface="Tahoma"/>
              </a:rPr>
              <a:t>adaptar</a:t>
            </a:r>
            <a:r>
              <a:rPr sz="2850" spc="635" dirty="0">
                <a:latin typeface="Tahoma"/>
                <a:cs typeface="Tahoma"/>
              </a:rPr>
              <a:t>  </a:t>
            </a:r>
            <a:r>
              <a:rPr sz="2850" spc="50" dirty="0">
                <a:latin typeface="Tahoma"/>
                <a:cs typeface="Tahoma"/>
              </a:rPr>
              <a:t>la </a:t>
            </a:r>
            <a:r>
              <a:rPr sz="2850" spc="114" dirty="0">
                <a:latin typeface="Tahoma"/>
                <a:cs typeface="Tahoma"/>
              </a:rPr>
              <a:t>programación</a:t>
            </a:r>
            <a:r>
              <a:rPr sz="2850" dirty="0">
                <a:latin typeface="Tahoma"/>
                <a:cs typeface="Tahoma"/>
              </a:rPr>
              <a:t> y</a:t>
            </a:r>
            <a:r>
              <a:rPr sz="2850" spc="5" dirty="0">
                <a:latin typeface="Tahoma"/>
                <a:cs typeface="Tahoma"/>
              </a:rPr>
              <a:t> </a:t>
            </a:r>
            <a:r>
              <a:rPr sz="2850" spc="75" dirty="0">
                <a:latin typeface="Tahoma"/>
                <a:cs typeface="Tahoma"/>
              </a:rPr>
              <a:t>la</a:t>
            </a:r>
            <a:r>
              <a:rPr sz="2850" dirty="0">
                <a:latin typeface="Tahoma"/>
                <a:cs typeface="Tahoma"/>
              </a:rPr>
              <a:t> </a:t>
            </a:r>
            <a:r>
              <a:rPr sz="2850" spc="114" dirty="0">
                <a:latin typeface="Tahoma"/>
                <a:cs typeface="Tahoma"/>
              </a:rPr>
              <a:t>disponibilidad</a:t>
            </a:r>
            <a:r>
              <a:rPr sz="2850" spc="5" dirty="0">
                <a:latin typeface="Tahoma"/>
                <a:cs typeface="Tahoma"/>
              </a:rPr>
              <a:t> </a:t>
            </a:r>
            <a:r>
              <a:rPr sz="2850" spc="125" dirty="0">
                <a:latin typeface="Tahoma"/>
                <a:cs typeface="Tahoma"/>
              </a:rPr>
              <a:t>de</a:t>
            </a:r>
            <a:r>
              <a:rPr sz="2850" spc="5" dirty="0">
                <a:latin typeface="Tahoma"/>
                <a:cs typeface="Tahoma"/>
              </a:rPr>
              <a:t> </a:t>
            </a:r>
            <a:r>
              <a:rPr sz="2850" spc="105" dirty="0">
                <a:latin typeface="Tahoma"/>
                <a:cs typeface="Tahoma"/>
              </a:rPr>
              <a:t>recursos</a:t>
            </a:r>
            <a:r>
              <a:rPr sz="2850" dirty="0">
                <a:latin typeface="Tahoma"/>
                <a:cs typeface="Tahoma"/>
              </a:rPr>
              <a:t> </a:t>
            </a:r>
            <a:r>
              <a:rPr sz="2850" spc="90" dirty="0">
                <a:latin typeface="Tahoma"/>
                <a:cs typeface="Tahoma"/>
              </a:rPr>
              <a:t>a</a:t>
            </a:r>
            <a:r>
              <a:rPr sz="2850" spc="5" dirty="0">
                <a:latin typeface="Tahoma"/>
                <a:cs typeface="Tahoma"/>
              </a:rPr>
              <a:t> </a:t>
            </a:r>
            <a:r>
              <a:rPr sz="2850" spc="80" dirty="0">
                <a:latin typeface="Tahoma"/>
                <a:cs typeface="Tahoma"/>
              </a:rPr>
              <a:t>las</a:t>
            </a:r>
            <a:r>
              <a:rPr sz="2850" dirty="0">
                <a:latin typeface="Tahoma"/>
                <a:cs typeface="Tahoma"/>
              </a:rPr>
              <a:t> </a:t>
            </a:r>
            <a:r>
              <a:rPr sz="2850" spc="100" dirty="0">
                <a:latin typeface="Tahoma"/>
                <a:cs typeface="Tahoma"/>
              </a:rPr>
              <a:t>necesidades</a:t>
            </a:r>
            <a:r>
              <a:rPr sz="2850" spc="5" dirty="0">
                <a:latin typeface="Tahoma"/>
                <a:cs typeface="Tahoma"/>
              </a:rPr>
              <a:t> </a:t>
            </a:r>
            <a:r>
              <a:rPr sz="2850" spc="65" dirty="0">
                <a:latin typeface="Tahoma"/>
                <a:cs typeface="Tahoma"/>
              </a:rPr>
              <a:t>específicas </a:t>
            </a:r>
            <a:r>
              <a:rPr sz="2850" spc="125" dirty="0">
                <a:latin typeface="Tahoma"/>
                <a:cs typeface="Tahoma"/>
              </a:rPr>
              <a:t>de</a:t>
            </a:r>
            <a:r>
              <a:rPr sz="2850" spc="180" dirty="0">
                <a:latin typeface="Tahoma"/>
                <a:cs typeface="Tahoma"/>
              </a:rPr>
              <a:t>  </a:t>
            </a:r>
            <a:r>
              <a:rPr sz="2850" spc="155" dirty="0">
                <a:latin typeface="Tahoma"/>
                <a:cs typeface="Tahoma"/>
              </a:rPr>
              <a:t>un</a:t>
            </a:r>
            <a:r>
              <a:rPr sz="2850" spc="185" dirty="0">
                <a:latin typeface="Tahoma"/>
                <a:cs typeface="Tahoma"/>
              </a:rPr>
              <a:t>  </a:t>
            </a:r>
            <a:r>
              <a:rPr sz="2850" spc="75" dirty="0">
                <a:latin typeface="Tahoma"/>
                <a:cs typeface="Tahoma"/>
              </a:rPr>
              <a:t>proyecto.</a:t>
            </a:r>
            <a:r>
              <a:rPr sz="2850" spc="190" dirty="0">
                <a:latin typeface="Tahoma"/>
                <a:cs typeface="Tahoma"/>
              </a:rPr>
              <a:t>  </a:t>
            </a:r>
            <a:r>
              <a:rPr sz="2850" spc="105" dirty="0">
                <a:latin typeface="Tahoma"/>
                <a:cs typeface="Tahoma"/>
              </a:rPr>
              <a:t>Los</a:t>
            </a:r>
            <a:r>
              <a:rPr sz="2850" spc="185" dirty="0">
                <a:latin typeface="Tahoma"/>
                <a:cs typeface="Tahoma"/>
              </a:rPr>
              <a:t>  </a:t>
            </a:r>
            <a:r>
              <a:rPr sz="2850" spc="100" dirty="0">
                <a:latin typeface="Tahoma"/>
                <a:cs typeface="Tahoma"/>
              </a:rPr>
              <a:t>calendarios</a:t>
            </a:r>
            <a:r>
              <a:rPr sz="2850" spc="190" dirty="0">
                <a:latin typeface="Tahoma"/>
                <a:cs typeface="Tahoma"/>
              </a:rPr>
              <a:t>  </a:t>
            </a:r>
            <a:r>
              <a:rPr sz="2850" spc="110" dirty="0">
                <a:latin typeface="Tahoma"/>
                <a:cs typeface="Tahoma"/>
              </a:rPr>
              <a:t>personalizados</a:t>
            </a:r>
            <a:r>
              <a:rPr sz="2850" spc="185" dirty="0">
                <a:latin typeface="Tahoma"/>
                <a:cs typeface="Tahoma"/>
              </a:rPr>
              <a:t>  </a:t>
            </a:r>
            <a:r>
              <a:rPr sz="2850" spc="70" dirty="0">
                <a:latin typeface="Tahoma"/>
                <a:cs typeface="Tahoma"/>
              </a:rPr>
              <a:t>te</a:t>
            </a:r>
            <a:r>
              <a:rPr sz="2850" spc="190" dirty="0">
                <a:latin typeface="Tahoma"/>
                <a:cs typeface="Tahoma"/>
              </a:rPr>
              <a:t>  </a:t>
            </a:r>
            <a:r>
              <a:rPr sz="2850" spc="125" dirty="0">
                <a:latin typeface="Tahoma"/>
                <a:cs typeface="Tahoma"/>
              </a:rPr>
              <a:t>permiten</a:t>
            </a:r>
            <a:r>
              <a:rPr sz="2850" spc="190" dirty="0">
                <a:latin typeface="Tahoma"/>
                <a:cs typeface="Tahoma"/>
              </a:rPr>
              <a:t>  </a:t>
            </a:r>
            <a:r>
              <a:rPr sz="2850" spc="90" dirty="0">
                <a:latin typeface="Tahoma"/>
                <a:cs typeface="Tahoma"/>
              </a:rPr>
              <a:t>definir </a:t>
            </a:r>
            <a:r>
              <a:rPr sz="2850" spc="120" dirty="0">
                <a:latin typeface="Tahoma"/>
                <a:cs typeface="Tahoma"/>
              </a:rPr>
              <a:t>horarios</a:t>
            </a:r>
            <a:r>
              <a:rPr sz="2850" spc="254" dirty="0">
                <a:latin typeface="Tahoma"/>
                <a:cs typeface="Tahoma"/>
              </a:rPr>
              <a:t>  </a:t>
            </a:r>
            <a:r>
              <a:rPr sz="2850" spc="110" dirty="0">
                <a:latin typeface="Tahoma"/>
                <a:cs typeface="Tahoma"/>
              </a:rPr>
              <a:t>únicos</a:t>
            </a:r>
            <a:r>
              <a:rPr sz="2850" spc="270" dirty="0">
                <a:latin typeface="Tahoma"/>
                <a:cs typeface="Tahoma"/>
              </a:rPr>
              <a:t>  </a:t>
            </a:r>
            <a:r>
              <a:rPr sz="2850" spc="114" dirty="0">
                <a:latin typeface="Tahoma"/>
                <a:cs typeface="Tahoma"/>
              </a:rPr>
              <a:t>para</a:t>
            </a:r>
            <a:r>
              <a:rPr sz="2850" spc="265" dirty="0">
                <a:latin typeface="Tahoma"/>
                <a:cs typeface="Tahoma"/>
              </a:rPr>
              <a:t>  </a:t>
            </a:r>
            <a:r>
              <a:rPr sz="2850" spc="75" dirty="0">
                <a:latin typeface="Tahoma"/>
                <a:cs typeface="Tahoma"/>
              </a:rPr>
              <a:t>el</a:t>
            </a:r>
            <a:r>
              <a:rPr sz="2850" spc="270" dirty="0">
                <a:latin typeface="Tahoma"/>
                <a:cs typeface="Tahoma"/>
              </a:rPr>
              <a:t>  </a:t>
            </a:r>
            <a:r>
              <a:rPr sz="2850" spc="100" dirty="0">
                <a:latin typeface="Tahoma"/>
                <a:cs typeface="Tahoma"/>
              </a:rPr>
              <a:t>proyecto</a:t>
            </a:r>
            <a:r>
              <a:rPr sz="2850" spc="265" dirty="0">
                <a:latin typeface="Tahoma"/>
                <a:cs typeface="Tahoma"/>
              </a:rPr>
              <a:t>  </a:t>
            </a:r>
            <a:r>
              <a:rPr sz="2850" dirty="0">
                <a:latin typeface="Tahoma"/>
                <a:cs typeface="Tahoma"/>
              </a:rPr>
              <a:t>y</a:t>
            </a:r>
            <a:r>
              <a:rPr sz="2850" spc="270" dirty="0">
                <a:latin typeface="Tahoma"/>
                <a:cs typeface="Tahoma"/>
              </a:rPr>
              <a:t>  </a:t>
            </a:r>
            <a:r>
              <a:rPr sz="2850" spc="105" dirty="0">
                <a:latin typeface="Tahoma"/>
                <a:cs typeface="Tahoma"/>
              </a:rPr>
              <a:t>sus</a:t>
            </a:r>
            <a:r>
              <a:rPr sz="2850" spc="265" dirty="0">
                <a:latin typeface="Tahoma"/>
                <a:cs typeface="Tahoma"/>
              </a:rPr>
              <a:t>  </a:t>
            </a:r>
            <a:r>
              <a:rPr sz="2850" spc="75" dirty="0">
                <a:latin typeface="Tahoma"/>
                <a:cs typeface="Tahoma"/>
              </a:rPr>
              <a:t>recursos,</a:t>
            </a:r>
            <a:r>
              <a:rPr sz="2850" spc="270" dirty="0">
                <a:latin typeface="Tahoma"/>
                <a:cs typeface="Tahoma"/>
              </a:rPr>
              <a:t>  </a:t>
            </a:r>
            <a:r>
              <a:rPr sz="2850" spc="95" dirty="0">
                <a:latin typeface="Tahoma"/>
                <a:cs typeface="Tahoma"/>
              </a:rPr>
              <a:t>diferentes</a:t>
            </a:r>
            <a:r>
              <a:rPr sz="2850" spc="265" dirty="0">
                <a:latin typeface="Tahoma"/>
                <a:cs typeface="Tahoma"/>
              </a:rPr>
              <a:t>  </a:t>
            </a:r>
            <a:r>
              <a:rPr sz="2850" spc="90" dirty="0">
                <a:latin typeface="Tahoma"/>
                <a:cs typeface="Tahoma"/>
              </a:rPr>
              <a:t>a</a:t>
            </a:r>
            <a:r>
              <a:rPr sz="2850" spc="270" dirty="0">
                <a:latin typeface="Tahoma"/>
                <a:cs typeface="Tahoma"/>
              </a:rPr>
              <a:t>  </a:t>
            </a:r>
            <a:r>
              <a:rPr sz="2850" spc="80" dirty="0">
                <a:latin typeface="Tahoma"/>
                <a:cs typeface="Tahoma"/>
              </a:rPr>
              <a:t>los </a:t>
            </a:r>
            <a:r>
              <a:rPr sz="2850" spc="100" dirty="0">
                <a:latin typeface="Tahoma"/>
                <a:cs typeface="Tahoma"/>
              </a:rPr>
              <a:t>calendarios</a:t>
            </a:r>
            <a:r>
              <a:rPr sz="2850" spc="-130" dirty="0">
                <a:latin typeface="Tahoma"/>
                <a:cs typeface="Tahoma"/>
              </a:rPr>
              <a:t> </a:t>
            </a:r>
            <a:r>
              <a:rPr sz="2850" spc="110" dirty="0">
                <a:latin typeface="Tahoma"/>
                <a:cs typeface="Tahoma"/>
              </a:rPr>
              <a:t>predeterminados.</a:t>
            </a:r>
            <a:r>
              <a:rPr sz="2850" spc="-125" dirty="0">
                <a:latin typeface="Tahoma"/>
                <a:cs typeface="Tahoma"/>
              </a:rPr>
              <a:t> </a:t>
            </a:r>
            <a:r>
              <a:rPr sz="2850" spc="70" dirty="0">
                <a:latin typeface="Tahoma"/>
                <a:cs typeface="Tahoma"/>
              </a:rPr>
              <a:t>Estos</a:t>
            </a:r>
            <a:r>
              <a:rPr sz="2850" spc="-130" dirty="0">
                <a:latin typeface="Tahoma"/>
                <a:cs typeface="Tahoma"/>
              </a:rPr>
              <a:t> </a:t>
            </a:r>
            <a:r>
              <a:rPr sz="2850" spc="100" dirty="0">
                <a:latin typeface="Tahoma"/>
                <a:cs typeface="Tahoma"/>
              </a:rPr>
              <a:t>calendarios</a:t>
            </a:r>
            <a:r>
              <a:rPr sz="2850" spc="-125" dirty="0">
                <a:latin typeface="Tahoma"/>
                <a:cs typeface="Tahoma"/>
              </a:rPr>
              <a:t> </a:t>
            </a:r>
            <a:r>
              <a:rPr sz="2850" spc="70" dirty="0">
                <a:latin typeface="Tahoma"/>
                <a:cs typeface="Tahoma"/>
              </a:rPr>
              <a:t>permiten:</a:t>
            </a:r>
            <a:endParaRPr sz="2850" dirty="0">
              <a:latin typeface="Tahoma"/>
              <a:cs typeface="Tahoma"/>
            </a:endParaRPr>
          </a:p>
          <a:p>
            <a:pPr>
              <a:lnSpc>
                <a:spcPct val="100000"/>
              </a:lnSpc>
              <a:spcBef>
                <a:spcPts val="530"/>
              </a:spcBef>
            </a:pPr>
            <a:endParaRPr sz="2850" dirty="0">
              <a:latin typeface="Tahoma"/>
              <a:cs typeface="Tahoma"/>
            </a:endParaRPr>
          </a:p>
          <a:p>
            <a:pPr marL="723900" marR="7113905" indent="-94615">
              <a:lnSpc>
                <a:spcPct val="116199"/>
              </a:lnSpc>
              <a:spcBef>
                <a:spcPts val="5"/>
              </a:spcBef>
            </a:pPr>
            <a:r>
              <a:rPr sz="2850" spc="75" dirty="0">
                <a:latin typeface="Tahoma"/>
                <a:cs typeface="Tahoma"/>
              </a:rPr>
              <a:t>Establecer</a:t>
            </a:r>
            <a:r>
              <a:rPr sz="2850" spc="-135" dirty="0">
                <a:latin typeface="Tahoma"/>
                <a:cs typeface="Tahoma"/>
              </a:rPr>
              <a:t> </a:t>
            </a:r>
            <a:r>
              <a:rPr sz="2850" spc="100" dirty="0">
                <a:latin typeface="Tahoma"/>
                <a:cs typeface="Tahoma"/>
              </a:rPr>
              <a:t>días</a:t>
            </a:r>
            <a:r>
              <a:rPr sz="2850" spc="-135" dirty="0">
                <a:latin typeface="Tahoma"/>
                <a:cs typeface="Tahoma"/>
              </a:rPr>
              <a:t> </a:t>
            </a:r>
            <a:r>
              <a:rPr sz="2850" spc="90" dirty="0">
                <a:latin typeface="Tahoma"/>
                <a:cs typeface="Tahoma"/>
              </a:rPr>
              <a:t>laborales </a:t>
            </a:r>
            <a:r>
              <a:rPr sz="2850" spc="75" dirty="0">
                <a:latin typeface="Tahoma"/>
                <a:cs typeface="Tahoma"/>
              </a:rPr>
              <a:t>Establecer</a:t>
            </a:r>
            <a:r>
              <a:rPr sz="2850" spc="-130" dirty="0">
                <a:latin typeface="Tahoma"/>
                <a:cs typeface="Tahoma"/>
              </a:rPr>
              <a:t> </a:t>
            </a:r>
            <a:r>
              <a:rPr sz="2850" spc="120" dirty="0">
                <a:latin typeface="Tahoma"/>
                <a:cs typeface="Tahoma"/>
              </a:rPr>
              <a:t>horarios</a:t>
            </a:r>
            <a:r>
              <a:rPr sz="2850" spc="-130" dirty="0">
                <a:latin typeface="Tahoma"/>
                <a:cs typeface="Tahoma"/>
              </a:rPr>
              <a:t> </a:t>
            </a:r>
            <a:r>
              <a:rPr sz="2850" spc="90" dirty="0">
                <a:latin typeface="Tahoma"/>
                <a:cs typeface="Tahoma"/>
              </a:rPr>
              <a:t>laborales </a:t>
            </a:r>
            <a:r>
              <a:rPr sz="2850" spc="75" dirty="0">
                <a:latin typeface="Tahoma"/>
                <a:cs typeface="Tahoma"/>
              </a:rPr>
              <a:t>Establecer</a:t>
            </a:r>
            <a:r>
              <a:rPr sz="2850" spc="-140" dirty="0">
                <a:latin typeface="Tahoma"/>
                <a:cs typeface="Tahoma"/>
              </a:rPr>
              <a:t> </a:t>
            </a:r>
            <a:r>
              <a:rPr sz="2850" spc="100" dirty="0">
                <a:latin typeface="Tahoma"/>
                <a:cs typeface="Tahoma"/>
              </a:rPr>
              <a:t>dias</a:t>
            </a:r>
            <a:r>
              <a:rPr sz="2850" spc="-135" dirty="0">
                <a:latin typeface="Tahoma"/>
                <a:cs typeface="Tahoma"/>
              </a:rPr>
              <a:t> </a:t>
            </a:r>
            <a:r>
              <a:rPr sz="2850" spc="125" dirty="0">
                <a:latin typeface="Tahoma"/>
                <a:cs typeface="Tahoma"/>
              </a:rPr>
              <a:t>de</a:t>
            </a:r>
            <a:r>
              <a:rPr sz="2850" spc="-140" dirty="0">
                <a:latin typeface="Tahoma"/>
                <a:cs typeface="Tahoma"/>
              </a:rPr>
              <a:t> </a:t>
            </a:r>
            <a:r>
              <a:rPr sz="2850" spc="95" dirty="0">
                <a:latin typeface="Tahoma"/>
                <a:cs typeface="Tahoma"/>
              </a:rPr>
              <a:t>asueto</a:t>
            </a:r>
            <a:endParaRPr sz="2850" dirty="0">
              <a:latin typeface="Tahoma"/>
              <a:cs typeface="Tahoma"/>
            </a:endParaRPr>
          </a:p>
          <a:p>
            <a:pPr marL="629920" marR="6320155" indent="93980">
              <a:lnSpc>
                <a:spcPct val="116199"/>
              </a:lnSpc>
            </a:pPr>
            <a:r>
              <a:rPr sz="2850" spc="90" dirty="0">
                <a:latin typeface="Tahoma"/>
                <a:cs typeface="Tahoma"/>
              </a:rPr>
              <a:t>Asociar</a:t>
            </a:r>
            <a:r>
              <a:rPr sz="2850" spc="-140" dirty="0">
                <a:latin typeface="Tahoma"/>
                <a:cs typeface="Tahoma"/>
              </a:rPr>
              <a:t> </a:t>
            </a:r>
            <a:r>
              <a:rPr sz="2850" spc="100" dirty="0">
                <a:latin typeface="Tahoma"/>
                <a:cs typeface="Tahoma"/>
              </a:rPr>
              <a:t>calendarios</a:t>
            </a:r>
            <a:r>
              <a:rPr sz="2850" spc="-140" dirty="0">
                <a:latin typeface="Tahoma"/>
                <a:cs typeface="Tahoma"/>
              </a:rPr>
              <a:t> </a:t>
            </a:r>
            <a:r>
              <a:rPr sz="2850" spc="90" dirty="0">
                <a:latin typeface="Tahoma"/>
                <a:cs typeface="Tahoma"/>
              </a:rPr>
              <a:t>a</a:t>
            </a:r>
            <a:r>
              <a:rPr sz="2850" spc="-135" dirty="0">
                <a:latin typeface="Tahoma"/>
                <a:cs typeface="Tahoma"/>
              </a:rPr>
              <a:t> </a:t>
            </a:r>
            <a:r>
              <a:rPr sz="2850" spc="155" dirty="0">
                <a:latin typeface="Tahoma"/>
                <a:cs typeface="Tahoma"/>
              </a:rPr>
              <a:t>un</a:t>
            </a:r>
            <a:r>
              <a:rPr sz="2850" spc="-140" dirty="0">
                <a:latin typeface="Tahoma"/>
                <a:cs typeface="Tahoma"/>
              </a:rPr>
              <a:t> </a:t>
            </a:r>
            <a:r>
              <a:rPr sz="2850" spc="90" dirty="0">
                <a:latin typeface="Tahoma"/>
                <a:cs typeface="Tahoma"/>
              </a:rPr>
              <a:t>proyecto </a:t>
            </a:r>
            <a:r>
              <a:rPr sz="2850" spc="130" dirty="0">
                <a:latin typeface="Tahoma"/>
                <a:cs typeface="Tahoma"/>
              </a:rPr>
              <a:t>Guardar</a:t>
            </a:r>
            <a:r>
              <a:rPr sz="2850" spc="-135" dirty="0">
                <a:latin typeface="Tahoma"/>
                <a:cs typeface="Tahoma"/>
              </a:rPr>
              <a:t> </a:t>
            </a:r>
            <a:r>
              <a:rPr sz="2850" spc="100" dirty="0">
                <a:latin typeface="Tahoma"/>
                <a:cs typeface="Tahoma"/>
              </a:rPr>
              <a:t>calendario</a:t>
            </a:r>
            <a:r>
              <a:rPr sz="2850" spc="-130" dirty="0">
                <a:latin typeface="Tahoma"/>
                <a:cs typeface="Tahoma"/>
              </a:rPr>
              <a:t> </a:t>
            </a:r>
            <a:r>
              <a:rPr sz="2850" spc="120" dirty="0">
                <a:latin typeface="Tahoma"/>
                <a:cs typeface="Tahoma"/>
              </a:rPr>
              <a:t>en</a:t>
            </a:r>
            <a:r>
              <a:rPr sz="2850" spc="-130" dirty="0">
                <a:latin typeface="Tahoma"/>
                <a:cs typeface="Tahoma"/>
              </a:rPr>
              <a:t> </a:t>
            </a:r>
            <a:r>
              <a:rPr sz="2850" spc="80" dirty="0">
                <a:latin typeface="Tahoma"/>
                <a:cs typeface="Tahoma"/>
              </a:rPr>
              <a:t>plantilla</a:t>
            </a:r>
            <a:endParaRPr sz="2850" dirty="0">
              <a:latin typeface="Tahoma"/>
              <a:cs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2413000"/>
            <a:ext cx="11817350" cy="5461000"/>
          </a:xfrm>
          <a:prstGeom prst="rect">
            <a:avLst/>
          </a:prstGeom>
        </p:spPr>
        <p:txBody>
          <a:bodyPr vert="horz" wrap="square" lIns="0" tIns="11430" rIns="0" bIns="0" rtlCol="0">
            <a:spAutoFit/>
          </a:bodyPr>
          <a:lstStyle/>
          <a:p>
            <a:pPr marL="12700" marR="5080" indent="218440" algn="ctr">
              <a:lnSpc>
                <a:spcPct val="116399"/>
              </a:lnSpc>
              <a:spcBef>
                <a:spcPts val="90"/>
              </a:spcBef>
            </a:pPr>
            <a:r>
              <a:rPr sz="15950" dirty="0"/>
              <a:t>EJEMPLO PRACTICO</a:t>
            </a:r>
          </a:p>
        </p:txBody>
      </p:sp>
      <p:pic>
        <p:nvPicPr>
          <p:cNvPr id="3" name="object 3"/>
          <p:cNvPicPr/>
          <p:nvPr/>
        </p:nvPicPr>
        <p:blipFill>
          <a:blip r:embed="rId2" cstate="print"/>
          <a:stretch>
            <a:fillRect/>
          </a:stretch>
        </p:blipFill>
        <p:spPr>
          <a:xfrm>
            <a:off x="14930018" y="0"/>
            <a:ext cx="2724149" cy="272414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DBE4CA-74F1-35E3-F599-439CB9A75366}"/>
              </a:ext>
            </a:extLst>
          </p:cNvPr>
          <p:cNvSpPr>
            <a:spLocks noGrp="1"/>
          </p:cNvSpPr>
          <p:nvPr>
            <p:ph type="title" idx="4294967295"/>
          </p:nvPr>
        </p:nvSpPr>
        <p:spPr>
          <a:xfrm>
            <a:off x="0" y="274638"/>
            <a:ext cx="8229600" cy="1143000"/>
          </a:xfrm>
        </p:spPr>
        <p:txBody>
          <a:bodyPr/>
          <a:lstStyle/>
          <a:p>
            <a:r>
              <a:rPr lang="es-GT" dirty="0"/>
              <a:t>Ejercicio</a:t>
            </a:r>
          </a:p>
        </p:txBody>
      </p:sp>
      <p:pic>
        <p:nvPicPr>
          <p:cNvPr id="4" name="Imagen 3">
            <a:extLst>
              <a:ext uri="{FF2B5EF4-FFF2-40B4-BE49-F238E27FC236}">
                <a16:creationId xmlns:a16="http://schemas.microsoft.com/office/drawing/2014/main" id="{0DAB85F6-DF1F-F74C-4613-4213DD3BE6E9}"/>
              </a:ext>
            </a:extLst>
          </p:cNvPr>
          <p:cNvPicPr>
            <a:picLocks noChangeAspect="1"/>
          </p:cNvPicPr>
          <p:nvPr/>
        </p:nvPicPr>
        <p:blipFill>
          <a:blip r:embed="rId2"/>
          <a:stretch>
            <a:fillRect/>
          </a:stretch>
        </p:blipFill>
        <p:spPr>
          <a:xfrm>
            <a:off x="4800600" y="2324100"/>
            <a:ext cx="7896881" cy="7584530"/>
          </a:xfrm>
          <a:prstGeom prst="rect">
            <a:avLst/>
          </a:prstGeom>
        </p:spPr>
      </p:pic>
      <p:sp>
        <p:nvSpPr>
          <p:cNvPr id="3" name="CuadroTexto 2">
            <a:extLst>
              <a:ext uri="{FF2B5EF4-FFF2-40B4-BE49-F238E27FC236}">
                <a16:creationId xmlns:a16="http://schemas.microsoft.com/office/drawing/2014/main" id="{D1866B95-7068-C0EC-E7CF-A5DD9E4C8990}"/>
              </a:ext>
            </a:extLst>
          </p:cNvPr>
          <p:cNvSpPr txBox="1"/>
          <p:nvPr/>
        </p:nvSpPr>
        <p:spPr>
          <a:xfrm>
            <a:off x="10923814" y="2640568"/>
            <a:ext cx="1420586" cy="369332"/>
          </a:xfrm>
          <a:prstGeom prst="rect">
            <a:avLst/>
          </a:prstGeom>
          <a:solidFill>
            <a:schemeClr val="bg1"/>
          </a:solidFill>
        </p:spPr>
        <p:txBody>
          <a:bodyPr wrap="square" rtlCol="0">
            <a:spAutoFit/>
          </a:bodyPr>
          <a:lstStyle/>
          <a:p>
            <a:r>
              <a:rPr lang="es-ES" dirty="0"/>
              <a:t>19/09/2025</a:t>
            </a:r>
            <a:endParaRPr lang="es-MX" dirty="0"/>
          </a:p>
        </p:txBody>
      </p:sp>
    </p:spTree>
    <p:extLst>
      <p:ext uri="{BB962C8B-B14F-4D97-AF65-F5344CB8AC3E}">
        <p14:creationId xmlns:p14="http://schemas.microsoft.com/office/powerpoint/2010/main" val="661395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4"/>
          <p:cNvSpPr/>
          <p:nvPr/>
        </p:nvSpPr>
        <p:spPr>
          <a:xfrm>
            <a:off x="3861682" y="595298"/>
            <a:ext cx="10564636" cy="8663002"/>
          </a:xfrm>
          <a:custGeom>
            <a:avLst/>
            <a:gdLst/>
            <a:ahLst/>
            <a:cxnLst/>
            <a:rect l="l" t="t" r="r" b="b"/>
            <a:pathLst>
              <a:path w="10564636" h="8663002" extrusionOk="0">
                <a:moveTo>
                  <a:pt x="0" y="0"/>
                </a:moveTo>
                <a:lnTo>
                  <a:pt x="10564636" y="0"/>
                </a:lnTo>
                <a:lnTo>
                  <a:pt x="10564636" y="8663002"/>
                </a:lnTo>
                <a:lnTo>
                  <a:pt x="0" y="8663002"/>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5"/>
          <p:cNvSpPr/>
          <p:nvPr/>
        </p:nvSpPr>
        <p:spPr>
          <a:xfrm>
            <a:off x="814445" y="0"/>
            <a:ext cx="16659109" cy="10287000"/>
          </a:xfrm>
          <a:custGeom>
            <a:avLst/>
            <a:gdLst/>
            <a:ahLst/>
            <a:cxnLst/>
            <a:rect l="l" t="t" r="r" b="b"/>
            <a:pathLst>
              <a:path w="16659109" h="10287000" extrusionOk="0">
                <a:moveTo>
                  <a:pt x="0" y="0"/>
                </a:moveTo>
                <a:lnTo>
                  <a:pt x="16659110" y="0"/>
                </a:lnTo>
                <a:lnTo>
                  <a:pt x="16659110" y="10287000"/>
                </a:lnTo>
                <a:lnTo>
                  <a:pt x="0" y="10287000"/>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1337</Words>
  <Application>Microsoft Office PowerPoint</Application>
  <PresentationFormat>Personalizado</PresentationFormat>
  <Paragraphs>93</Paragraphs>
  <Slides>35</Slides>
  <Notes>5</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35</vt:i4>
      </vt:variant>
    </vt:vector>
  </HeadingPairs>
  <TitlesOfParts>
    <vt:vector size="42" baseType="lpstr">
      <vt:lpstr>Open Sans</vt:lpstr>
      <vt:lpstr>Tahoma</vt:lpstr>
      <vt:lpstr>Arial</vt:lpstr>
      <vt:lpstr>Trebuchet MS</vt:lpstr>
      <vt:lpstr>Calibri</vt:lpstr>
      <vt:lpstr>Office Theme</vt:lpstr>
      <vt:lpstr>Microsoft Excel Worksheet</vt:lpstr>
      <vt:lpstr>Presentación de PowerPoint</vt:lpstr>
      <vt:lpstr>Presentación de PowerPoint</vt:lpstr>
      <vt:lpstr>Presentación de PowerPoint</vt:lpstr>
      <vt:lpstr>MICROSOFT           PROJECT</vt:lpstr>
      <vt:lpstr>Crear un Proyecto Nuevo</vt:lpstr>
      <vt:lpstr>Presentación de PowerPoint</vt:lpstr>
      <vt:lpstr>Presentación de PowerPoint</vt:lpstr>
      <vt:lpstr>Partes Básicas de MS Project</vt:lpstr>
      <vt:lpstr>TAREAS</vt:lpstr>
      <vt:lpstr>TAREAS</vt:lpstr>
      <vt:lpstr>TAREAS</vt:lpstr>
      <vt:lpstr>RELACIONES ENTRE TAREAS</vt:lpstr>
      <vt:lpstr>DURACIONES DE ACTIVIDADES</vt:lpstr>
      <vt:lpstr>RELACIONES ENTRE TAREAS</vt:lpstr>
      <vt:lpstr>TAREAS DE COMIENZO A COMIENZO (CC)</vt:lpstr>
      <vt:lpstr>TAREAS DE COMIENZO A FIN (CF)</vt:lpstr>
      <vt:lpstr>TAREAS DE FIN A COMIENZO (FC)</vt:lpstr>
      <vt:lpstr>TAREAS DE FIN A FIN (FF)</vt:lpstr>
      <vt:lpstr>¿QUÉ ES UNA TAREA RESUMEN?</vt:lpstr>
      <vt:lpstr>¿QUE ES UN HITO?</vt:lpstr>
      <vt:lpstr>ESTRUCTURA DE DESGLOSE DE TAREAS (EDT)</vt:lpstr>
      <vt:lpstr>CALENDARIOS</vt:lpstr>
      <vt:lpstr>CALENDARIOS</vt:lpstr>
      <vt:lpstr>CALENDARIOS</vt:lpstr>
      <vt:lpstr>CALENDARIOS BASE</vt:lpstr>
      <vt:lpstr>CALENDARIO BASE: ESTÁNDAR</vt:lpstr>
      <vt:lpstr>CALENDARIO BASE: 24 HORAS</vt:lpstr>
      <vt:lpstr>CALENDARIO BASE: TURNO DE NOCHE</vt:lpstr>
      <vt:lpstr>CALENDARIO DE RECURSOS</vt:lpstr>
      <vt:lpstr>CALENDARIO DE TAREAS</vt:lpstr>
      <vt:lpstr>CALENDARIOS PERSONALIZADOS</vt:lpstr>
      <vt:lpstr>EJEMPLO PRACTICO</vt:lpstr>
      <vt:lpstr>Ejercicio</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Oscar Eduardo Morales Girón</cp:lastModifiedBy>
  <cp:revision>13</cp:revision>
  <dcterms:created xsi:type="dcterms:W3CDTF">2006-08-16T00:00:00Z</dcterms:created>
  <dcterms:modified xsi:type="dcterms:W3CDTF">2026-05-10T07:08:56Z</dcterms:modified>
</cp:coreProperties>
</file>