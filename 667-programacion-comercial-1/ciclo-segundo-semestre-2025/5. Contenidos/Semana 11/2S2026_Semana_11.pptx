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10287000" cx="18288000"/>
  <p:notesSz cx="6858000" cy="9144000"/>
  <p:embeddedFontLs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joS1ToB31N6FeBjkCXQu1b4W3P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7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1" name="Google Shape;441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3" name="Google Shape;503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5" name="Google Shape;565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4" name="Google Shape;584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1" name="Google Shape;601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4" name="Google Shape;614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0" name="Google Shape;63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5" name="Google Shape;63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4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6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" name="Google Shape;22;p4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6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" name="Google Shape;26;p5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6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5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6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5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6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5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6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5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6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5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6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5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6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5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6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1" name="Google Shape;71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3" name="Google Shape;7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9" name="Google Shape;79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7" name="Google Shape;8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 showMasterSp="0" type="obj">
  <p:cSld name="OBJECT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8"/>
          <p:cNvSpPr/>
          <p:nvPr/>
        </p:nvSpPr>
        <p:spPr>
          <a:xfrm>
            <a:off x="16494525" y="8207944"/>
            <a:ext cx="1793875" cy="2079625"/>
          </a:xfrm>
          <a:custGeom>
            <a:rect b="b" l="l" r="r" t="t"/>
            <a:pathLst>
              <a:path extrusionOk="0" h="2079625" w="1793875">
                <a:moveTo>
                  <a:pt x="1793474" y="0"/>
                </a:moveTo>
                <a:lnTo>
                  <a:pt x="1793474" y="2079055"/>
                </a:lnTo>
                <a:lnTo>
                  <a:pt x="285210" y="2079055"/>
                </a:lnTo>
                <a:lnTo>
                  <a:pt x="0" y="1793844"/>
                </a:lnTo>
                <a:lnTo>
                  <a:pt x="1793474" y="0"/>
                </a:lnTo>
                <a:close/>
              </a:path>
            </a:pathLst>
          </a:custGeom>
          <a:solidFill>
            <a:srgbClr val="40785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8"/>
          <p:cNvSpPr/>
          <p:nvPr/>
        </p:nvSpPr>
        <p:spPr>
          <a:xfrm>
            <a:off x="14935176" y="8933065"/>
            <a:ext cx="1557020" cy="1354455"/>
          </a:xfrm>
          <a:custGeom>
            <a:rect b="b" l="l" r="r" t="t"/>
            <a:pathLst>
              <a:path extrusionOk="0" h="1354454" w="1557019">
                <a:moveTo>
                  <a:pt x="1556645" y="777983"/>
                </a:moveTo>
                <a:lnTo>
                  <a:pt x="980694" y="1353934"/>
                </a:lnTo>
                <a:lnTo>
                  <a:pt x="575625" y="1353934"/>
                </a:lnTo>
                <a:lnTo>
                  <a:pt x="0" y="777983"/>
                </a:lnTo>
                <a:lnTo>
                  <a:pt x="777983" y="0"/>
                </a:lnTo>
                <a:lnTo>
                  <a:pt x="1556645" y="777983"/>
                </a:lnTo>
                <a:close/>
              </a:path>
            </a:pathLst>
          </a:custGeom>
          <a:solidFill>
            <a:srgbClr val="40785E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8"/>
          <p:cNvSpPr/>
          <p:nvPr/>
        </p:nvSpPr>
        <p:spPr>
          <a:xfrm>
            <a:off x="15373045" y="9048949"/>
            <a:ext cx="2475865" cy="1238250"/>
          </a:xfrm>
          <a:custGeom>
            <a:rect b="b" l="l" r="r" t="t"/>
            <a:pathLst>
              <a:path extrusionOk="0" h="1238250" w="2475865">
                <a:moveTo>
                  <a:pt x="2475421" y="1238049"/>
                </a:moveTo>
                <a:lnTo>
                  <a:pt x="0" y="1238049"/>
                </a:lnTo>
                <a:lnTo>
                  <a:pt x="1237372" y="0"/>
                </a:lnTo>
                <a:lnTo>
                  <a:pt x="2475421" y="1238049"/>
                </a:lnTo>
                <a:close/>
              </a:path>
            </a:pathLst>
          </a:custGeom>
          <a:solidFill>
            <a:srgbClr val="BE120A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8"/>
          <p:cNvSpPr/>
          <p:nvPr/>
        </p:nvSpPr>
        <p:spPr>
          <a:xfrm>
            <a:off x="16038451" y="5185819"/>
            <a:ext cx="2249805" cy="4498340"/>
          </a:xfrm>
          <a:custGeom>
            <a:rect b="b" l="l" r="r" t="t"/>
            <a:pathLst>
              <a:path extrusionOk="0" h="4498340" w="2249805">
                <a:moveTo>
                  <a:pt x="2249547" y="0"/>
                </a:moveTo>
                <a:lnTo>
                  <a:pt x="2249547" y="4497786"/>
                </a:lnTo>
                <a:lnTo>
                  <a:pt x="0" y="2248893"/>
                </a:lnTo>
                <a:lnTo>
                  <a:pt x="2249547" y="0"/>
                </a:lnTo>
                <a:close/>
              </a:path>
            </a:pathLst>
          </a:custGeom>
          <a:solidFill>
            <a:srgbClr val="004653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8"/>
          <p:cNvSpPr/>
          <p:nvPr/>
        </p:nvSpPr>
        <p:spPr>
          <a:xfrm>
            <a:off x="18210427" y="7601107"/>
            <a:ext cx="78105" cy="155575"/>
          </a:xfrm>
          <a:custGeom>
            <a:rect b="b" l="l" r="r" t="t"/>
            <a:pathLst>
              <a:path extrusionOk="0" h="155575" w="78105">
                <a:moveTo>
                  <a:pt x="77572" y="0"/>
                </a:moveTo>
                <a:lnTo>
                  <a:pt x="77572" y="155145"/>
                </a:lnTo>
                <a:lnTo>
                  <a:pt x="0" y="77572"/>
                </a:lnTo>
                <a:lnTo>
                  <a:pt x="77572" y="0"/>
                </a:lnTo>
                <a:close/>
              </a:path>
            </a:pathLst>
          </a:custGeom>
          <a:solidFill>
            <a:srgbClr val="004AAC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8"/>
          <p:cNvSpPr/>
          <p:nvPr/>
        </p:nvSpPr>
        <p:spPr>
          <a:xfrm>
            <a:off x="0" y="0"/>
            <a:ext cx="1185545" cy="1186180"/>
          </a:xfrm>
          <a:custGeom>
            <a:rect b="b" l="l" r="r" t="t"/>
            <a:pathLst>
              <a:path extrusionOk="0" h="1186180" w="1185545">
                <a:moveTo>
                  <a:pt x="0" y="1185897"/>
                </a:moveTo>
                <a:lnTo>
                  <a:pt x="0" y="0"/>
                </a:lnTo>
                <a:lnTo>
                  <a:pt x="1185493" y="0"/>
                </a:lnTo>
                <a:lnTo>
                  <a:pt x="0" y="1185897"/>
                </a:lnTo>
                <a:close/>
              </a:path>
            </a:pathLst>
          </a:custGeom>
          <a:solidFill>
            <a:srgbClr val="40785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8"/>
          <p:cNvSpPr/>
          <p:nvPr/>
        </p:nvSpPr>
        <p:spPr>
          <a:xfrm>
            <a:off x="2230847" y="0"/>
            <a:ext cx="805180" cy="402590"/>
          </a:xfrm>
          <a:custGeom>
            <a:rect b="b" l="l" r="r" t="t"/>
            <a:pathLst>
              <a:path extrusionOk="0" h="402590" w="805180">
                <a:moveTo>
                  <a:pt x="0" y="0"/>
                </a:moveTo>
                <a:lnTo>
                  <a:pt x="804728" y="0"/>
                </a:lnTo>
                <a:lnTo>
                  <a:pt x="402703" y="402025"/>
                </a:lnTo>
                <a:lnTo>
                  <a:pt x="0" y="0"/>
                </a:lnTo>
                <a:close/>
              </a:path>
            </a:pathLst>
          </a:custGeom>
          <a:solidFill>
            <a:srgbClr val="40785E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8"/>
          <p:cNvSpPr/>
          <p:nvPr/>
        </p:nvSpPr>
        <p:spPr>
          <a:xfrm>
            <a:off x="1450153" y="0"/>
            <a:ext cx="572135" cy="286385"/>
          </a:xfrm>
          <a:custGeom>
            <a:rect b="b" l="l" r="r" t="t"/>
            <a:pathLst>
              <a:path extrusionOk="0" h="286385" w="572135">
                <a:moveTo>
                  <a:pt x="0" y="0"/>
                </a:moveTo>
                <a:lnTo>
                  <a:pt x="572029" y="0"/>
                </a:lnTo>
                <a:lnTo>
                  <a:pt x="286141" y="286141"/>
                </a:lnTo>
                <a:lnTo>
                  <a:pt x="0" y="0"/>
                </a:lnTo>
                <a:close/>
              </a:path>
            </a:pathLst>
          </a:custGeom>
          <a:solidFill>
            <a:srgbClr val="BE120A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8"/>
          <p:cNvSpPr/>
          <p:nvPr/>
        </p:nvSpPr>
        <p:spPr>
          <a:xfrm>
            <a:off x="0" y="0"/>
            <a:ext cx="2308860" cy="4187825"/>
          </a:xfrm>
          <a:custGeom>
            <a:rect b="b" l="l" r="r" t="t"/>
            <a:pathLst>
              <a:path extrusionOk="0" h="4187825" w="2308860">
                <a:moveTo>
                  <a:pt x="0" y="4168543"/>
                </a:moveTo>
                <a:lnTo>
                  <a:pt x="0" y="0"/>
                </a:lnTo>
                <a:lnTo>
                  <a:pt x="407423" y="0"/>
                </a:lnTo>
                <a:lnTo>
                  <a:pt x="2308261" y="1900389"/>
                </a:lnTo>
                <a:lnTo>
                  <a:pt x="20662" y="4187311"/>
                </a:lnTo>
                <a:lnTo>
                  <a:pt x="18768" y="4187311"/>
                </a:lnTo>
                <a:lnTo>
                  <a:pt x="0" y="4168543"/>
                </a:lnTo>
                <a:close/>
              </a:path>
            </a:pathLst>
          </a:custGeom>
          <a:solidFill>
            <a:srgbClr val="004653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8"/>
          <p:cNvSpPr/>
          <p:nvPr/>
        </p:nvSpPr>
        <p:spPr>
          <a:xfrm>
            <a:off x="0" y="1520144"/>
            <a:ext cx="136525" cy="273050"/>
          </a:xfrm>
          <a:custGeom>
            <a:rect b="b" l="l" r="r" t="t"/>
            <a:pathLst>
              <a:path extrusionOk="0" h="273050" w="136525">
                <a:moveTo>
                  <a:pt x="0" y="272554"/>
                </a:moveTo>
                <a:lnTo>
                  <a:pt x="0" y="0"/>
                </a:lnTo>
                <a:lnTo>
                  <a:pt x="136277" y="136277"/>
                </a:lnTo>
                <a:lnTo>
                  <a:pt x="0" y="272554"/>
                </a:lnTo>
                <a:close/>
              </a:path>
            </a:pathLst>
          </a:custGeom>
          <a:solidFill>
            <a:srgbClr val="004AAC">
              <a:alpha val="7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0" i="0" sz="54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Relationship Id="rId5" Type="http://schemas.openxmlformats.org/officeDocument/2006/relationships/image" Target="../media/image44.png"/><Relationship Id="rId6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4" name="Google Shape;124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>
              <mc:Choice Requires="v">
                <p:oleObj r:id="rId6" imgH="1881100" imgW="9524676" progId="Excel.Sheet.12" spid="_x0000_s1">
                  <p:embed/>
                </p:oleObj>
              </mc:Choice>
              <mc:Fallback>
                <p:oleObj r:id="rId7" imgH="1881100" imgW="9524676" progId="Excel.Sheet.12">
                  <p:embed/>
                  <p:pic>
                    <p:nvPicPr>
                      <p:cNvPr id="124" name="Google Shape;124;p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" name="Google Shape;125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348639" y="9201150"/>
            <a:ext cx="8386287" cy="1352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2904236" y="3801950"/>
            <a:ext cx="131871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Programación Comercial 1 [Sec.]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118937" y="3921957"/>
            <a:ext cx="16050125" cy="3791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Clase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/>
          <p:nvPr/>
        </p:nvSpPr>
        <p:spPr>
          <a:xfrm>
            <a:off x="3637749" y="3558803"/>
            <a:ext cx="10420084" cy="6266567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639241" y="3780125"/>
            <a:ext cx="11390820" cy="6045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Repaso general de SQL Server / Access.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Conceptos clave: tablas, consultas, formularios e informes.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Resumen de Microsoft Project.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Tareas, recursos, calendarios y seguimiento del proyecto.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Introducción y repaso de Power BI.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Conexión, transformación y visualización de datos.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DAX, publicación de informes y cierre del curso.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0095" y="3742320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0095" y="4657299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0095" y="5551482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0095" y="6363614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0095" y="7257797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0095" y="8172070"/>
            <a:ext cx="355998" cy="405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0095" y="9066253"/>
            <a:ext cx="355998" cy="405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3" name="Google Shape;1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8"/>
          <p:cNvSpPr/>
          <p:nvPr/>
        </p:nvSpPr>
        <p:spPr>
          <a:xfrm>
            <a:off x="987773" y="777181"/>
            <a:ext cx="9454455" cy="1763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1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Breve resumen de SQL Server</a:t>
            </a:r>
            <a:endParaRPr b="0" i="0" sz="55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8"/>
          <p:cNvSpPr/>
          <p:nvPr/>
        </p:nvSpPr>
        <p:spPr>
          <a:xfrm>
            <a:off x="987773" y="2964359"/>
            <a:ext cx="9454455" cy="27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SQL SERVERes un sistema de gestión de bases de datos que permite almacenar, administrar y analizar información de forma estructurada. Su fácil integración con otras herramientas de Microsoft Office lo hace ideal para usuarios que buscan soluciones rápidas y eficientes sin necesidad de contar con profundos conocimientos técnicos.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8"/>
          <p:cNvSpPr/>
          <p:nvPr/>
        </p:nvSpPr>
        <p:spPr>
          <a:xfrm>
            <a:off x="987773" y="5990185"/>
            <a:ext cx="9454455" cy="27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Access se diferencia de otros DBMS como SQL Server o MySQL por su enfoque en bases de datos más pequeñas y fáciles de crear, con interfaces amigables para usuarios no desarrolladores. Desde su lanzamiento en 1992, ha evolucionado para incluir una mayor compatibilidad con bases de datos relacionales y capacidad para automatización mediante macros.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8"/>
          <p:cNvSpPr/>
          <p:nvPr/>
        </p:nvSpPr>
        <p:spPr>
          <a:xfrm>
            <a:off x="1134965" y="9201894"/>
            <a:ext cx="157014" cy="121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4D4D51"/>
                </a:solidFill>
                <a:latin typeface="Arial"/>
                <a:ea typeface="Arial"/>
                <a:cs typeface="Arial"/>
                <a:sym typeface="Arial"/>
              </a:rPr>
              <a:t>LG</a:t>
            </a:r>
            <a:endParaRPr b="0" i="0" sz="93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3" name="Google Shape;1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"/>
          <p:cNvSpPr/>
          <p:nvPr/>
        </p:nvSpPr>
        <p:spPr>
          <a:xfrm>
            <a:off x="992239" y="903239"/>
            <a:ext cx="9170195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Conceptos Clave de Access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992239" y="2214414"/>
            <a:ext cx="4581080" cy="4798368"/>
          </a:xfrm>
          <a:prstGeom prst="roundRect">
            <a:avLst>
              <a:gd fmla="val 557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1275757" y="2497932"/>
            <a:ext cx="4014044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Bases de datos relacionales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1275757" y="3553867"/>
            <a:ext cx="4014044" cy="272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Access organiza información en tablas formadas por campos (columnas) y registros (filas), facilitando el almacenamiento estructurado y eficiente.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5856835" y="2214414"/>
            <a:ext cx="4581080" cy="4798368"/>
          </a:xfrm>
          <a:prstGeom prst="roundRect">
            <a:avLst>
              <a:gd fmla="val 557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6140353" y="2497932"/>
            <a:ext cx="4014044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Claves primarias y externas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6140353" y="3553866"/>
            <a:ext cx="4014044" cy="3175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Las claves primarias identifican registros únicos en una tabla, mientras que las claves externas establecen relaciones entre diferentes tablas para mantener la coherencia.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992238" y="7296299"/>
            <a:ext cx="9445527" cy="2087315"/>
          </a:xfrm>
          <a:prstGeom prst="roundRect">
            <a:avLst>
              <a:gd fmla="val 1222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1275755" y="7579817"/>
            <a:ext cx="3887838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Normalización de datos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1275756" y="8192841"/>
            <a:ext cx="8878491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Proceso que elimina redundancias y asegura la integridad de los datos, ayudando a evitar inconsistencias dentro de la base.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/>
          <p:nvPr/>
        </p:nvSpPr>
        <p:spPr>
          <a:xfrm>
            <a:off x="992239" y="2721325"/>
            <a:ext cx="12130535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Componentes Principales de Access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9"/>
          <p:cNvSpPr/>
          <p:nvPr/>
        </p:nvSpPr>
        <p:spPr>
          <a:xfrm>
            <a:off x="992238" y="4316017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Tablas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9"/>
          <p:cNvSpPr/>
          <p:nvPr/>
        </p:nvSpPr>
        <p:spPr>
          <a:xfrm>
            <a:off x="992238" y="5042447"/>
            <a:ext cx="355699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Almacenan los datos de forma ordenada, siendo la estructura fundamental de cualquier base de datos.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5250509" y="4316017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Consultas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5250509" y="5042447"/>
            <a:ext cx="355699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Permiten extraer, filtrar y manipular datos para obtener información específica.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9508778" y="4316017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Formularios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9508778" y="5042447"/>
            <a:ext cx="355699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Interfaces visuales para facilitar la entrada y visualización de datos por parte del usuario.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9"/>
          <p:cNvSpPr/>
          <p:nvPr/>
        </p:nvSpPr>
        <p:spPr>
          <a:xfrm>
            <a:off x="13767048" y="4316017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Informes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9"/>
          <p:cNvSpPr/>
          <p:nvPr/>
        </p:nvSpPr>
        <p:spPr>
          <a:xfrm>
            <a:off x="13767048" y="5042447"/>
            <a:ext cx="3556992" cy="2268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Herramientas para presentar datos de forma organizada y comprensible para análisis y toma de decisiones.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4" name="Google Shape;1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"/>
          <p:cNvSpPr/>
          <p:nvPr/>
        </p:nvSpPr>
        <p:spPr>
          <a:xfrm>
            <a:off x="992238" y="1339155"/>
            <a:ext cx="9445527" cy="1771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Creación de una Base de Datos en Access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992238" y="3536306"/>
            <a:ext cx="212526" cy="1520279"/>
          </a:xfrm>
          <a:prstGeom prst="roundRect">
            <a:avLst>
              <a:gd fmla="val 120071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629968" y="3536306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1629967" y="4149329"/>
            <a:ext cx="8807798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Definir objetivos claros y diseñar la estructura necesaria para almacenar la información eficazmente.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1417440" y="5340104"/>
            <a:ext cx="212526" cy="1520279"/>
          </a:xfrm>
          <a:prstGeom prst="roundRect">
            <a:avLst>
              <a:gd fmla="val 120071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2055168" y="5340103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Diseño de tablas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2055169" y="5953125"/>
            <a:ext cx="838259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Seleccionar campos relevantes, establecer tipos de datos adecuados y definir claves primarias para garantizar unicidad.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1842791" y="7143901"/>
            <a:ext cx="212526" cy="1520279"/>
          </a:xfrm>
          <a:prstGeom prst="roundRect">
            <a:avLst>
              <a:gd fmla="val 120071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2480519" y="7143899"/>
            <a:ext cx="4989165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Establecimiento de relaciones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2480519" y="7756923"/>
            <a:ext cx="7957245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Conectar las tablas mediante claves externas que permiten consultas integradas y previenen inconsistencias.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0" name="Google Shape;2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/>
          <p:nvPr/>
        </p:nvSpPr>
        <p:spPr>
          <a:xfrm>
            <a:off x="7850238" y="1015008"/>
            <a:ext cx="9445527" cy="1771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Consultas en Access: Extracción de Información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7850238" y="3212157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771633" y="3309493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Tipos de consultas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8771633" y="3922515"/>
            <a:ext cx="3624263" cy="2268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Incluyen selección para ver datos, actualización para modificar, y eliminación para borrar registros específicos.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2750254" y="3212157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3671650" y="3309492"/>
            <a:ext cx="3624263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Criterios de búsqueda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3671650" y="4365428"/>
            <a:ext cx="3624263" cy="2268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Permiten filtrar datos con condiciones precisas como fechas, valores o texto, simplificando el acceso a información relevante.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850238" y="7200603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771633" y="7297937"/>
            <a:ext cx="4389387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Consultas con parámetros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8771634" y="7910959"/>
            <a:ext cx="8524131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Ofrecen flexibilidad al pedir al usuario introducir valores que varían, facilitando el reutilizo de consultas para diferentes necesidades.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7" name="Google Shape;2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6"/>
          <p:cNvSpPr/>
          <p:nvPr/>
        </p:nvSpPr>
        <p:spPr>
          <a:xfrm>
            <a:off x="934345" y="1161308"/>
            <a:ext cx="9561314" cy="166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Formularios en Access: Interfaz de Usuario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9" name="Google Shape;2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343" y="3230316"/>
            <a:ext cx="1334840" cy="1965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6"/>
          <p:cNvSpPr/>
          <p:nvPr/>
        </p:nvSpPr>
        <p:spPr>
          <a:xfrm>
            <a:off x="2669531" y="3497165"/>
            <a:ext cx="3433019" cy="417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5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Diseño de formularios</a:t>
            </a:r>
            <a:endParaRPr b="0" i="0" sz="26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2669531" y="4074320"/>
            <a:ext cx="7826127" cy="854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63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Incluye controles, etiquetas y botones que facilitan la interacción y garantizan la usabilidad.</a:t>
            </a:r>
            <a:endParaRPr b="0" i="0" sz="20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2" name="Google Shape;23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4343" y="5195442"/>
            <a:ext cx="1334840" cy="1965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"/>
          <p:cNvSpPr/>
          <p:nvPr/>
        </p:nvSpPr>
        <p:spPr>
          <a:xfrm>
            <a:off x="2669531" y="5462291"/>
            <a:ext cx="5104955" cy="417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5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Formularios continuos vs. únicos</a:t>
            </a:r>
            <a:endParaRPr b="0" i="0" sz="26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2669531" y="6039446"/>
            <a:ext cx="7826127" cy="854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63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Los continuos muestran varios registros a la vez, mientras que los únicos se enfocan en uno solo para edición detallada.</a:t>
            </a:r>
            <a:endParaRPr b="0" i="0" sz="20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5" name="Google Shape;23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4343" y="7160568"/>
            <a:ext cx="1334840" cy="1965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6"/>
          <p:cNvSpPr/>
          <p:nvPr/>
        </p:nvSpPr>
        <p:spPr>
          <a:xfrm>
            <a:off x="2669531" y="7427417"/>
            <a:ext cx="3337025" cy="417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5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Validación de datos</a:t>
            </a:r>
            <a:endParaRPr b="0" i="0" sz="26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2669531" y="8004573"/>
            <a:ext cx="7826127" cy="854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63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Se asegura que la información ingresada cumpla con reglas específicas, mejorando la calidad y evitando errores.</a:t>
            </a:r>
            <a:endParaRPr b="0" i="0" sz="20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/>
          <p:nvPr/>
        </p:nvSpPr>
        <p:spPr>
          <a:xfrm>
            <a:off x="992238" y="1215182"/>
            <a:ext cx="14306997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Informes en Access: Presentación de Datos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4" name="Google Shape;2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2936" y="2668192"/>
            <a:ext cx="2690069" cy="208731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7"/>
          <p:cNvSpPr/>
          <p:nvPr/>
        </p:nvSpPr>
        <p:spPr>
          <a:xfrm>
            <a:off x="4868615" y="3733206"/>
            <a:ext cx="398711" cy="498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5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1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696522" y="3178523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Informes tabulares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696523" y="3791546"/>
            <a:ext cx="8967788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Muestran datos en filas y columnas para facilitar la revisión detallada.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483847" y="4771877"/>
            <a:ext cx="10741076" cy="19050"/>
          </a:xfrm>
          <a:prstGeom prst="roundRect">
            <a:avLst>
              <a:gd fmla="val 1339536" name="adj"/>
            </a:avLst>
          </a:prstGeom>
          <a:solidFill>
            <a:srgbClr val="B4CC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9" name="Google Shape;24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7977" y="4826348"/>
            <a:ext cx="5380137" cy="208731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7"/>
          <p:cNvSpPr/>
          <p:nvPr/>
        </p:nvSpPr>
        <p:spPr>
          <a:xfrm>
            <a:off x="4868615" y="5620793"/>
            <a:ext cx="398711" cy="498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5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1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8041631" y="5109866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Informes de resumen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8041631" y="5722889"/>
            <a:ext cx="8970615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Agrupan y condensan información para resaltar tendencias importantes.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7828956" y="6930033"/>
            <a:ext cx="9395967" cy="19050"/>
          </a:xfrm>
          <a:prstGeom prst="roundRect">
            <a:avLst>
              <a:gd fmla="val 1339536" name="adj"/>
            </a:avLst>
          </a:prstGeom>
          <a:solidFill>
            <a:srgbClr val="B4CC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4" name="Google Shape;25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2868" y="6984505"/>
            <a:ext cx="8070206" cy="208731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/>
          <p:nvPr/>
        </p:nvSpPr>
        <p:spPr>
          <a:xfrm>
            <a:off x="4868467" y="7778949"/>
            <a:ext cx="398711" cy="498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5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1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9386591" y="7268023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Informes gráficos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9386591" y="7881045"/>
            <a:ext cx="7625655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Usan visualizaciones como gráficos para comunicar datos de forma intuitiva y atractiva.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/>
          <p:nvPr/>
        </p:nvSpPr>
        <p:spPr>
          <a:xfrm>
            <a:off x="992239" y="3174952"/>
            <a:ext cx="14415344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Aplicaciones Prácticas de Microsoft Access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992239" y="4769645"/>
            <a:ext cx="3546128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Gestión de inventario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992239" y="5496074"/>
            <a:ext cx="4972646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Control de productos, seguimiento de cantidades y automatización de reposiciones.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666161" y="4769645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Gestión de clientes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666161" y="5496074"/>
            <a:ext cx="4972646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Organización de datos de contacto, historial de compras y segmentación para marketing.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2340085" y="4769645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Gestión de proyectos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12340084" y="5496074"/>
            <a:ext cx="4972646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Seguimiento de tareas, asignación de recursos y monitoreo de plazos para mejorar la productividad.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"/>
          <p:cNvSpPr/>
          <p:nvPr/>
        </p:nvSpPr>
        <p:spPr>
          <a:xfrm>
            <a:off x="927795" y="728962"/>
            <a:ext cx="10583913" cy="828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87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Ventajas y Limitaciones de Access</a:t>
            </a:r>
            <a:endParaRPr b="0" i="0" sz="5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8" name="Google Shape;2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4219" y="4979642"/>
            <a:ext cx="9859416" cy="985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8051" y="7780958"/>
            <a:ext cx="447378" cy="559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0" name="Google Shape;28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4219" y="4979642"/>
            <a:ext cx="9859416" cy="985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1" name="Google Shape;28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20088" y="5932364"/>
            <a:ext cx="447378" cy="559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2" name="Google Shape;28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4219" y="4979642"/>
            <a:ext cx="9859416" cy="98594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121976" y="7780958"/>
            <a:ext cx="447378" cy="55914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0"/>
          <p:cNvSpPr/>
          <p:nvPr/>
        </p:nvSpPr>
        <p:spPr>
          <a:xfrm>
            <a:off x="1876872" y="3897660"/>
            <a:ext cx="3313956" cy="414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 b="0" i="0" sz="2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397350" y="4470798"/>
            <a:ext cx="4273004" cy="424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0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3"/>
              <a:buFont typeface="Arial"/>
              <a:buChar char="•"/>
            </a:pPr>
            <a:r>
              <a:rPr b="0" i="0" lang="en-US" sz="2063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Fácil uso para principiantes</a:t>
            </a:r>
            <a:endParaRPr b="0" i="0" sz="20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397350" y="4987530"/>
            <a:ext cx="4273004" cy="424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0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3"/>
              <a:buFont typeface="Arial"/>
              <a:buChar char="•"/>
            </a:pPr>
            <a:r>
              <a:rPr b="0" i="0" lang="en-US" sz="2063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Bajo costo de implementación</a:t>
            </a:r>
            <a:endParaRPr b="0" i="0" sz="20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397350" y="5504259"/>
            <a:ext cx="4273004" cy="424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0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3"/>
              <a:buFont typeface="Arial"/>
              <a:buChar char="•"/>
            </a:pPr>
            <a:r>
              <a:rPr b="0" i="0" lang="en-US" sz="2063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Desarrollo rápido de soluciones</a:t>
            </a:r>
            <a:endParaRPr b="0" i="0" sz="20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7486949" y="2087613"/>
            <a:ext cx="3313956" cy="414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Limitaciones</a:t>
            </a:r>
            <a:endParaRPr b="0" i="0" sz="2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537723" y="2660750"/>
            <a:ext cx="5212407" cy="848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0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3"/>
              <a:buFont typeface="Arial"/>
              <a:buChar char="•"/>
            </a:pPr>
            <a:r>
              <a:rPr b="0" i="0" lang="en-US" sz="2063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Baja escalabilidad para grandes volúmenes</a:t>
            </a:r>
            <a:endParaRPr b="0" i="0" sz="20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6537723" y="3601491"/>
            <a:ext cx="5212407" cy="848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0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3"/>
              <a:buFont typeface="Arial"/>
              <a:buChar char="•"/>
            </a:pPr>
            <a:r>
              <a:rPr b="0" i="0" lang="en-US" sz="2063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Rendimiento limitado en sistemas complejos</a:t>
            </a:r>
            <a:endParaRPr b="0" i="0" sz="20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3097025" y="3897660"/>
            <a:ext cx="3313956" cy="414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Alternativas</a:t>
            </a:r>
            <a:endParaRPr b="0" i="0" sz="2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2384882" y="4470798"/>
            <a:ext cx="4738242" cy="424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0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3"/>
              <a:buFont typeface="Arial"/>
              <a:buChar char="•"/>
            </a:pPr>
            <a:r>
              <a:rPr b="0" i="0" lang="en-US" sz="2063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SQL Server para grandes empresas</a:t>
            </a:r>
            <a:endParaRPr b="0" i="0" sz="20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2384882" y="4987530"/>
            <a:ext cx="4738242" cy="424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0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3"/>
              <a:buFont typeface="Arial"/>
              <a:buChar char="•"/>
            </a:pPr>
            <a:r>
              <a:rPr b="0" i="0" lang="en-US" sz="2063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MySQL para sistemas web</a:t>
            </a:r>
            <a:endParaRPr b="0" i="0" sz="20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2384882" y="5504259"/>
            <a:ext cx="4738242" cy="424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05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3"/>
              <a:buFont typeface="Arial"/>
              <a:buChar char="•"/>
            </a:pPr>
            <a:r>
              <a:rPr b="0" i="0" lang="en-US" sz="2063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Oracle para soluciones avanzadas</a:t>
            </a:r>
            <a:endParaRPr b="0" i="0" sz="20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1" name="Google Shape;3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1"/>
          <p:cNvSpPr/>
          <p:nvPr/>
        </p:nvSpPr>
        <p:spPr>
          <a:xfrm>
            <a:off x="7850238" y="2070944"/>
            <a:ext cx="9445527" cy="1771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Conclusión: Access como Herramienta Versátil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7850238" y="4268093"/>
            <a:ext cx="944552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SQL SERVERes una solución poderosa para pequeñas y medianas empresas que necesitan bases de datos personalizadas sin alta complejidad técnica. Su facilidad de uso y rápida implementación permiten gestionar información eficazmente.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7850238" y="6401545"/>
            <a:ext cx="944552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Sin embargo, para proyectos de mayor escala o alta demanda es recomendable considerar opciones más robustas. Access sigue siendo una excelente puerta de entrada al mundo de las bases de datos con potencial de crecimiento gradual.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1" name="Google Shape;3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2"/>
          <p:cNvSpPr/>
          <p:nvPr/>
        </p:nvSpPr>
        <p:spPr>
          <a:xfrm>
            <a:off x="7850238" y="2570709"/>
            <a:ext cx="9445527" cy="1771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Breve resumen de Microsoft Project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7850238" y="4767858"/>
            <a:ext cx="9445527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Microsoft Project facilita la gestión eficaz de proyectos complejos. Ofrece herramientas para planificar, organizar y supervisar tareas.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7850238" y="5994053"/>
            <a:ext cx="9445527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Está disponible en versiones Estándar, Profesional y Online, adaptándose a distintas necesidades.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"/>
          <p:cNvSpPr/>
          <p:nvPr/>
        </p:nvSpPr>
        <p:spPr>
          <a:xfrm>
            <a:off x="992238" y="3401767"/>
            <a:ext cx="7088238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Interfaz de Usuario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992238" y="499645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Cinta de opciones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992239" y="5722889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Acceso rápido a Archivo, Tarea, Recurso, Vista y Formato.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6666161" y="499645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Diagrama de Gantt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6666161" y="5722889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Visualiza tareas y dependencias de forma clara y cronológica.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2340085" y="499645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Vistas adicionales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12340084" y="5722889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Incluye hoja de recursos, calendario y otras para más control.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4" name="Google Shape;33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8288000" cy="372115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0"/>
          <p:cNvSpPr/>
          <p:nvPr/>
        </p:nvSpPr>
        <p:spPr>
          <a:xfrm>
            <a:off x="992239" y="4585546"/>
            <a:ext cx="8152508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Creación de un Proyecto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992238" y="5896719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1098576" y="5949853"/>
            <a:ext cx="425202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2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3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0"/>
          <p:cNvSpPr/>
          <p:nvPr/>
        </p:nvSpPr>
        <p:spPr>
          <a:xfrm>
            <a:off x="1913633" y="5994053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Definir alcance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1913633" y="6607078"/>
            <a:ext cx="7053263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Establecer objetivos y entregables del proyecto.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9321254" y="5896719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9427593" y="5949853"/>
            <a:ext cx="425202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2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3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10242650" y="5994053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Fechas clave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10242650" y="6607078"/>
            <a:ext cx="7053263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Setear fechas de inicio y fin para cada tarea.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992238" y="7627739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1098576" y="7680872"/>
            <a:ext cx="425202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2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3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1913633" y="7725073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Agregar tareas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1913633" y="8338097"/>
            <a:ext cx="7053263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Crear tareas y subtareas para detallada planificación.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9321254" y="7627739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9427593" y="7680872"/>
            <a:ext cx="425202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2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33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10242650" y="7725073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EDT / WBS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10242650" y="8338097"/>
            <a:ext cx="7053263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Organizar las tareas en una estructura jerárquica clara.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/>
          <p:nvPr/>
        </p:nvSpPr>
        <p:spPr>
          <a:xfrm>
            <a:off x="992238" y="2877445"/>
            <a:ext cx="7088238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Gestión de Tareas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992238" y="4472137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Asignación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992239" y="5198567"/>
            <a:ext cx="4972646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Duraciones, dependencias y restricciones configuradas correctamente.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6666161" y="4472137"/>
            <a:ext cx="3844677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Tipos de dependencias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6666161" y="5198567"/>
            <a:ext cx="4972646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Char char="•"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Fin a Inicio (FI)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6666161" y="5751316"/>
            <a:ext cx="4972646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Char char="•"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Inicio a Inicio (II)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6666161" y="6304063"/>
            <a:ext cx="4972646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Char char="•"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Fin a Fin (FF)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6666161" y="6856811"/>
            <a:ext cx="4972646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Char char="•"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Inicio a Fin (IF)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12340085" y="4472137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Hitos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12340084" y="5198567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Puntos de control clave para medir avances importantes.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1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4" name="Google Shape;3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2"/>
          <p:cNvSpPr/>
          <p:nvPr/>
        </p:nvSpPr>
        <p:spPr>
          <a:xfrm>
            <a:off x="7850238" y="2159647"/>
            <a:ext cx="7088238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Gestión de Recursos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2"/>
          <p:cNvSpPr/>
          <p:nvPr/>
        </p:nvSpPr>
        <p:spPr>
          <a:xfrm>
            <a:off x="7850239" y="3470822"/>
            <a:ext cx="4581080" cy="2739182"/>
          </a:xfrm>
          <a:prstGeom prst="roundRect">
            <a:avLst>
              <a:gd fmla="val 9316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8133756" y="3754340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Tipos de recursos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8133757" y="4367363"/>
            <a:ext cx="4014044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Char char="•"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Trabajo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2"/>
          <p:cNvSpPr/>
          <p:nvPr/>
        </p:nvSpPr>
        <p:spPr>
          <a:xfrm>
            <a:off x="8133757" y="4920110"/>
            <a:ext cx="4014044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Char char="•"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Material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8133757" y="5472857"/>
            <a:ext cx="4014044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Char char="•"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Costo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2"/>
          <p:cNvSpPr/>
          <p:nvPr/>
        </p:nvSpPr>
        <p:spPr>
          <a:xfrm>
            <a:off x="12714835" y="3470822"/>
            <a:ext cx="4581080" cy="2739182"/>
          </a:xfrm>
          <a:prstGeom prst="roundRect">
            <a:avLst>
              <a:gd fmla="val 9316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2"/>
          <p:cNvSpPr/>
          <p:nvPr/>
        </p:nvSpPr>
        <p:spPr>
          <a:xfrm>
            <a:off x="12998352" y="3754340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Asignación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12998353" y="4367362"/>
            <a:ext cx="4014044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Vincular recursos a tareas específicas para balancear carga.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2"/>
          <p:cNvSpPr/>
          <p:nvPr/>
        </p:nvSpPr>
        <p:spPr>
          <a:xfrm>
            <a:off x="7850238" y="6493521"/>
            <a:ext cx="9445527" cy="1633686"/>
          </a:xfrm>
          <a:prstGeom prst="roundRect">
            <a:avLst>
              <a:gd fmla="val 1562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2"/>
          <p:cNvSpPr/>
          <p:nvPr/>
        </p:nvSpPr>
        <p:spPr>
          <a:xfrm>
            <a:off x="8133756" y="6777038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Conflictos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2"/>
          <p:cNvSpPr/>
          <p:nvPr/>
        </p:nvSpPr>
        <p:spPr>
          <a:xfrm>
            <a:off x="8133756" y="7390061"/>
            <a:ext cx="8878491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Detectar y resolver sobreasignaciones para evitar retrasos.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2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3" name="Google Shape;39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3"/>
          <p:cNvSpPr/>
          <p:nvPr/>
        </p:nvSpPr>
        <p:spPr>
          <a:xfrm>
            <a:off x="7850238" y="1922264"/>
            <a:ext cx="9445527" cy="1771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Calendarios en Microsoft Project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3"/>
          <p:cNvSpPr/>
          <p:nvPr/>
        </p:nvSpPr>
        <p:spPr>
          <a:xfrm>
            <a:off x="7850238" y="4119414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3"/>
          <p:cNvSpPr/>
          <p:nvPr/>
        </p:nvSpPr>
        <p:spPr>
          <a:xfrm>
            <a:off x="8771633" y="4216748"/>
            <a:ext cx="3624263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Calendario del proyecto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3"/>
          <p:cNvSpPr/>
          <p:nvPr/>
        </p:nvSpPr>
        <p:spPr>
          <a:xfrm>
            <a:off x="8771633" y="5272684"/>
            <a:ext cx="3624263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Define días laborables y jornadas de trabajo estándar.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3"/>
          <p:cNvSpPr/>
          <p:nvPr/>
        </p:nvSpPr>
        <p:spPr>
          <a:xfrm>
            <a:off x="12750254" y="4119414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3"/>
          <p:cNvSpPr/>
          <p:nvPr/>
        </p:nvSpPr>
        <p:spPr>
          <a:xfrm>
            <a:off x="13671650" y="4216748"/>
            <a:ext cx="3624263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Calendarios de recursos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3"/>
          <p:cNvSpPr/>
          <p:nvPr/>
        </p:nvSpPr>
        <p:spPr>
          <a:xfrm>
            <a:off x="13671650" y="5272684"/>
            <a:ext cx="3624263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Asignación específica según disponibilidad del equipo.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3"/>
          <p:cNvSpPr/>
          <p:nvPr/>
        </p:nvSpPr>
        <p:spPr>
          <a:xfrm>
            <a:off x="7850238" y="7200603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3"/>
          <p:cNvSpPr/>
          <p:nvPr/>
        </p:nvSpPr>
        <p:spPr>
          <a:xfrm>
            <a:off x="8771633" y="7297937"/>
            <a:ext cx="4521251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Días festivos y excepciones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3"/>
          <p:cNvSpPr/>
          <p:nvPr/>
        </p:nvSpPr>
        <p:spPr>
          <a:xfrm>
            <a:off x="8771634" y="7910960"/>
            <a:ext cx="8524131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Configura feriados y eventos especiales para evitar conflictos.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3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0" name="Google Shape;41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8288000" cy="2894708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4"/>
          <p:cNvSpPr/>
          <p:nvPr/>
        </p:nvSpPr>
        <p:spPr>
          <a:xfrm>
            <a:off x="771824" y="3365450"/>
            <a:ext cx="6686847" cy="689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13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Seguimiento del Proyecto</a:t>
            </a:r>
            <a:endParaRPr b="0" i="0" sz="431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2" name="Google Shape;41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822" y="4385372"/>
            <a:ext cx="1102668" cy="1323231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4"/>
          <p:cNvSpPr/>
          <p:nvPr/>
        </p:nvSpPr>
        <p:spPr>
          <a:xfrm>
            <a:off x="2205186" y="4605783"/>
            <a:ext cx="2756892" cy="344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6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Línea base</a:t>
            </a:r>
            <a:endParaRPr b="0" i="0" sz="21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2205186" y="5082629"/>
            <a:ext cx="15310992" cy="352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8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Fija referencia inicial para comparaciones de avance.</a:t>
            </a:r>
            <a:endParaRPr b="0" i="0" sz="16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5" name="Google Shape;4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822" y="5708601"/>
            <a:ext cx="1102668" cy="132323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2205186" y="5929016"/>
            <a:ext cx="2756892" cy="344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6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Actualizar progreso</a:t>
            </a:r>
            <a:endParaRPr b="0" i="0" sz="21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2205186" y="6405861"/>
            <a:ext cx="15310992" cy="352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8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Registrar estado real de cada tarea periódicamente.</a:t>
            </a:r>
            <a:endParaRPr b="0" i="0" sz="16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8" name="Google Shape;418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822" y="7031832"/>
            <a:ext cx="1102668" cy="132323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/>
          <p:nvPr/>
        </p:nvSpPr>
        <p:spPr>
          <a:xfrm>
            <a:off x="2205186" y="7252247"/>
            <a:ext cx="2756892" cy="344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6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Comparación</a:t>
            </a:r>
            <a:endParaRPr b="0" i="0" sz="21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2205186" y="7729092"/>
            <a:ext cx="15310992" cy="352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8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Detectar desviaciones entre planificado y real para ajustes.</a:t>
            </a:r>
            <a:endParaRPr b="0" i="0" sz="16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1" name="Google Shape;421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822" y="8355063"/>
            <a:ext cx="1102668" cy="1323231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4"/>
          <p:cNvSpPr/>
          <p:nvPr/>
        </p:nvSpPr>
        <p:spPr>
          <a:xfrm>
            <a:off x="2205186" y="8575476"/>
            <a:ext cx="2945160" cy="344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6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Diagrama seguimiento</a:t>
            </a:r>
            <a:endParaRPr b="0" i="0" sz="21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2205186" y="9052323"/>
            <a:ext cx="15310992" cy="352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88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Visualiza cambios y progreso en tiempo real.</a:t>
            </a:r>
            <a:endParaRPr b="0" i="0" sz="16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4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5"/>
          <p:cNvSpPr/>
          <p:nvPr/>
        </p:nvSpPr>
        <p:spPr>
          <a:xfrm>
            <a:off x="992239" y="3401767"/>
            <a:ext cx="9895136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Informes en Microsoft Project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5"/>
          <p:cNvSpPr/>
          <p:nvPr/>
        </p:nvSpPr>
        <p:spPr>
          <a:xfrm>
            <a:off x="992238" y="4996459"/>
            <a:ext cx="3665487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Informes predefinidos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5"/>
          <p:cNvSpPr/>
          <p:nvPr/>
        </p:nvSpPr>
        <p:spPr>
          <a:xfrm>
            <a:off x="992239" y="5722889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Resúmenes de proyecto, tareas críticas y más.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5"/>
          <p:cNvSpPr/>
          <p:nvPr/>
        </p:nvSpPr>
        <p:spPr>
          <a:xfrm>
            <a:off x="6666161" y="4996459"/>
            <a:ext cx="4073129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Informes personalizados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5"/>
          <p:cNvSpPr/>
          <p:nvPr/>
        </p:nvSpPr>
        <p:spPr>
          <a:xfrm>
            <a:off x="6666161" y="5722889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Crear reportes ajustados a necesidades específicas.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5"/>
          <p:cNvSpPr/>
          <p:nvPr/>
        </p:nvSpPr>
        <p:spPr>
          <a:xfrm>
            <a:off x="12340085" y="499645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Exportación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5"/>
          <p:cNvSpPr/>
          <p:nvPr/>
        </p:nvSpPr>
        <p:spPr>
          <a:xfrm>
            <a:off x="12340084" y="5722889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Soporta PDF, Excel y otros formatos para compartir.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3" name="Google Shape;4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6"/>
          <p:cNvSpPr/>
          <p:nvPr/>
        </p:nvSpPr>
        <p:spPr>
          <a:xfrm>
            <a:off x="7850238" y="2258767"/>
            <a:ext cx="7088238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Consejos y Trucos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6"/>
          <p:cNvSpPr/>
          <p:nvPr/>
        </p:nvSpPr>
        <p:spPr>
          <a:xfrm>
            <a:off x="7850239" y="3569940"/>
            <a:ext cx="4581080" cy="2540943"/>
          </a:xfrm>
          <a:prstGeom prst="roundRect">
            <a:avLst>
              <a:gd fmla="val 10043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6"/>
          <p:cNvSpPr/>
          <p:nvPr/>
        </p:nvSpPr>
        <p:spPr>
          <a:xfrm>
            <a:off x="8133756" y="385345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Plantillas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6"/>
          <p:cNvSpPr/>
          <p:nvPr/>
        </p:nvSpPr>
        <p:spPr>
          <a:xfrm>
            <a:off x="8133757" y="4466482"/>
            <a:ext cx="4014044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Utilizar plantillas para proyectos recurrentes y ahorrar tiempo.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6"/>
          <p:cNvSpPr/>
          <p:nvPr/>
        </p:nvSpPr>
        <p:spPr>
          <a:xfrm>
            <a:off x="12714835" y="3569940"/>
            <a:ext cx="4581080" cy="2540943"/>
          </a:xfrm>
          <a:prstGeom prst="roundRect">
            <a:avLst>
              <a:gd fmla="val 10043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6"/>
          <p:cNvSpPr/>
          <p:nvPr/>
        </p:nvSpPr>
        <p:spPr>
          <a:xfrm>
            <a:off x="12998352" y="385345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Personalización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6"/>
          <p:cNvSpPr/>
          <p:nvPr/>
        </p:nvSpPr>
        <p:spPr>
          <a:xfrm>
            <a:off x="12998353" y="4466481"/>
            <a:ext cx="4014044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Adaptar la vista de Gantt para mayor claridad y eficiencia.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6"/>
          <p:cNvSpPr/>
          <p:nvPr/>
        </p:nvSpPr>
        <p:spPr>
          <a:xfrm>
            <a:off x="7850238" y="6394401"/>
            <a:ext cx="9445527" cy="1633686"/>
          </a:xfrm>
          <a:prstGeom prst="roundRect">
            <a:avLst>
              <a:gd fmla="val 1562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6"/>
          <p:cNvSpPr/>
          <p:nvPr/>
        </p:nvSpPr>
        <p:spPr>
          <a:xfrm>
            <a:off x="8133755" y="6677918"/>
            <a:ext cx="3591818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Colaboración en línea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6"/>
          <p:cNvSpPr/>
          <p:nvPr/>
        </p:nvSpPr>
        <p:spPr>
          <a:xfrm>
            <a:off x="8133756" y="7290943"/>
            <a:ext cx="8878491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Funciones para trabajo conjunto actualizado en tiempo real.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6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0" name="Google Shape;46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7"/>
          <p:cNvSpPr/>
          <p:nvPr/>
        </p:nvSpPr>
        <p:spPr>
          <a:xfrm>
            <a:off x="7850238" y="2462660"/>
            <a:ext cx="7088238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7"/>
          <p:cNvSpPr/>
          <p:nvPr/>
        </p:nvSpPr>
        <p:spPr>
          <a:xfrm>
            <a:off x="7850238" y="3773836"/>
            <a:ext cx="212526" cy="1066652"/>
          </a:xfrm>
          <a:prstGeom prst="roundRect">
            <a:avLst>
              <a:gd fmla="val 120071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7"/>
          <p:cNvSpPr/>
          <p:nvPr/>
        </p:nvSpPr>
        <p:spPr>
          <a:xfrm>
            <a:off x="8487968" y="3773836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Herramienta clave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7"/>
          <p:cNvSpPr/>
          <p:nvPr/>
        </p:nvSpPr>
        <p:spPr>
          <a:xfrm>
            <a:off x="8487967" y="4386859"/>
            <a:ext cx="8807798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Microsoft Project mejora planificación y seguimiento eficaz.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8275440" y="5124005"/>
            <a:ext cx="212526" cy="1066652"/>
          </a:xfrm>
          <a:prstGeom prst="roundRect">
            <a:avLst>
              <a:gd fmla="val 120071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7"/>
          <p:cNvSpPr/>
          <p:nvPr/>
        </p:nvSpPr>
        <p:spPr>
          <a:xfrm>
            <a:off x="8913168" y="5124005"/>
            <a:ext cx="3933528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Mejora la comunicación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7"/>
          <p:cNvSpPr/>
          <p:nvPr/>
        </p:nvSpPr>
        <p:spPr>
          <a:xfrm>
            <a:off x="8913169" y="5737028"/>
            <a:ext cx="8382596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Facilita colaboración clara y reportes detallados.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7"/>
          <p:cNvSpPr/>
          <p:nvPr/>
        </p:nvSpPr>
        <p:spPr>
          <a:xfrm>
            <a:off x="8700791" y="6474173"/>
            <a:ext cx="212526" cy="1066652"/>
          </a:xfrm>
          <a:prstGeom prst="roundRect">
            <a:avLst>
              <a:gd fmla="val 120071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9338520" y="6474173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7"/>
          <p:cNvSpPr/>
          <p:nvPr/>
        </p:nvSpPr>
        <p:spPr>
          <a:xfrm>
            <a:off x="9338519" y="7087196"/>
            <a:ext cx="7957245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Accede a tutoriales, foros y cursos para avanzar más.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7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7" name="Google Shape;47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8"/>
          <p:cNvSpPr/>
          <p:nvPr/>
        </p:nvSpPr>
        <p:spPr>
          <a:xfrm>
            <a:off x="7850239" y="3399980"/>
            <a:ext cx="8010080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Breve resumen Power BI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8"/>
          <p:cNvSpPr/>
          <p:nvPr/>
        </p:nvSpPr>
        <p:spPr>
          <a:xfrm>
            <a:off x="7850238" y="4711154"/>
            <a:ext cx="9445527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Power BI es una herramienta de análisis y visualización de datos. Permite crear reportes interactivos para tomar decisiones inteligentes. Combina visualización, análisis y colaboración en una sola plataforma.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8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6" name="Google Shape;48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9"/>
          <p:cNvSpPr/>
          <p:nvPr/>
        </p:nvSpPr>
        <p:spPr>
          <a:xfrm>
            <a:off x="916187" y="720628"/>
            <a:ext cx="9597629" cy="163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26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Componentes Clave de Power BI</a:t>
            </a:r>
            <a:endParaRPr b="0" i="0" sz="51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9"/>
          <p:cNvSpPr/>
          <p:nvPr/>
        </p:nvSpPr>
        <p:spPr>
          <a:xfrm>
            <a:off x="916187" y="2749154"/>
            <a:ext cx="9597629" cy="1508075"/>
          </a:xfrm>
          <a:prstGeom prst="roundRect">
            <a:avLst>
              <a:gd fmla="val 15622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1177828" y="3010793"/>
            <a:ext cx="3272135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2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Power BI Desktop</a:t>
            </a:r>
            <a:endParaRPr b="0" i="0" sz="2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1177827" y="3576786"/>
            <a:ext cx="9074349" cy="418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Herramienta para crear informes y dashboards desde el computador.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9"/>
          <p:cNvSpPr/>
          <p:nvPr/>
        </p:nvSpPr>
        <p:spPr>
          <a:xfrm>
            <a:off x="916187" y="4518869"/>
            <a:ext cx="9597629" cy="1508075"/>
          </a:xfrm>
          <a:prstGeom prst="roundRect">
            <a:avLst>
              <a:gd fmla="val 15622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9"/>
          <p:cNvSpPr/>
          <p:nvPr/>
        </p:nvSpPr>
        <p:spPr>
          <a:xfrm>
            <a:off x="1177828" y="4780510"/>
            <a:ext cx="3272135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2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Power BI Service</a:t>
            </a:r>
            <a:endParaRPr b="0" i="0" sz="2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9"/>
          <p:cNvSpPr/>
          <p:nvPr/>
        </p:nvSpPr>
        <p:spPr>
          <a:xfrm>
            <a:off x="1177827" y="5346501"/>
            <a:ext cx="9074349" cy="418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Plataforma en la nube para publicar y compartir reportes.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916187" y="6288584"/>
            <a:ext cx="9597629" cy="1508075"/>
          </a:xfrm>
          <a:prstGeom prst="roundRect">
            <a:avLst>
              <a:gd fmla="val 15622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9"/>
          <p:cNvSpPr/>
          <p:nvPr/>
        </p:nvSpPr>
        <p:spPr>
          <a:xfrm>
            <a:off x="1177828" y="6550225"/>
            <a:ext cx="3272135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2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Power BI Mobile</a:t>
            </a:r>
            <a:endParaRPr b="0" i="0" sz="2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9"/>
          <p:cNvSpPr/>
          <p:nvPr/>
        </p:nvSpPr>
        <p:spPr>
          <a:xfrm>
            <a:off x="1177827" y="7116216"/>
            <a:ext cx="9074349" cy="418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Aplicación para consultar informes desde dispositivos móviles.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9"/>
          <p:cNvSpPr/>
          <p:nvPr/>
        </p:nvSpPr>
        <p:spPr>
          <a:xfrm>
            <a:off x="916187" y="8058299"/>
            <a:ext cx="9597629" cy="1508075"/>
          </a:xfrm>
          <a:prstGeom prst="roundRect">
            <a:avLst>
              <a:gd fmla="val 15622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9"/>
          <p:cNvSpPr/>
          <p:nvPr/>
        </p:nvSpPr>
        <p:spPr>
          <a:xfrm>
            <a:off x="1177828" y="8319940"/>
            <a:ext cx="3272135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2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Power BI Embedded</a:t>
            </a:r>
            <a:endParaRPr b="0" i="0" sz="2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1177827" y="8885933"/>
            <a:ext cx="9074349" cy="418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Integración de visualizaciones en aplicaciones personalizadas.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5" name="Google Shape;50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0"/>
          <p:cNvSpPr/>
          <p:nvPr/>
        </p:nvSpPr>
        <p:spPr>
          <a:xfrm>
            <a:off x="7850238" y="2359969"/>
            <a:ext cx="7088238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Conexión a Datos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0"/>
          <p:cNvSpPr/>
          <p:nvPr/>
        </p:nvSpPr>
        <p:spPr>
          <a:xfrm>
            <a:off x="7850238" y="3671144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0"/>
          <p:cNvSpPr/>
          <p:nvPr/>
        </p:nvSpPr>
        <p:spPr>
          <a:xfrm>
            <a:off x="8771633" y="3768478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Fuentes de Datos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0"/>
          <p:cNvSpPr/>
          <p:nvPr/>
        </p:nvSpPr>
        <p:spPr>
          <a:xfrm>
            <a:off x="8771633" y="4381500"/>
            <a:ext cx="3624263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Soporta Excel, bases SQL, servicios Azure y más.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0"/>
          <p:cNvSpPr/>
          <p:nvPr/>
        </p:nvSpPr>
        <p:spPr>
          <a:xfrm>
            <a:off x="12750254" y="3671144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0"/>
          <p:cNvSpPr/>
          <p:nvPr/>
        </p:nvSpPr>
        <p:spPr>
          <a:xfrm>
            <a:off x="13671650" y="3768478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Conectividad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0"/>
          <p:cNvSpPr/>
          <p:nvPr/>
        </p:nvSpPr>
        <p:spPr>
          <a:xfrm>
            <a:off x="13671650" y="4381501"/>
            <a:ext cx="3624263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Más de 120 conectores para vincular datos fácilmente.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0"/>
          <p:cNvSpPr/>
          <p:nvPr/>
        </p:nvSpPr>
        <p:spPr>
          <a:xfrm>
            <a:off x="7850238" y="6309420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0"/>
          <p:cNvSpPr/>
          <p:nvPr/>
        </p:nvSpPr>
        <p:spPr>
          <a:xfrm>
            <a:off x="8771633" y="6406754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Modos de Consulta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0"/>
          <p:cNvSpPr/>
          <p:nvPr/>
        </p:nvSpPr>
        <p:spPr>
          <a:xfrm>
            <a:off x="8771634" y="7019777"/>
            <a:ext cx="8524131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Importación para velocidad, DirectQuery para datos en tiempo real.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0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1"/>
          <p:cNvSpPr/>
          <p:nvPr/>
        </p:nvSpPr>
        <p:spPr>
          <a:xfrm>
            <a:off x="992239" y="2927005"/>
            <a:ext cx="14156681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Transformación de Datos con Power Query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1"/>
          <p:cNvSpPr/>
          <p:nvPr/>
        </p:nvSpPr>
        <p:spPr>
          <a:xfrm>
            <a:off x="992238" y="4521697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Power Query Editor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1"/>
          <p:cNvSpPr/>
          <p:nvPr/>
        </p:nvSpPr>
        <p:spPr>
          <a:xfrm>
            <a:off x="992239" y="5248127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Limpieza, filtrado y modelado de datos eficaz.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1"/>
          <p:cNvSpPr/>
          <p:nvPr/>
        </p:nvSpPr>
        <p:spPr>
          <a:xfrm>
            <a:off x="6666161" y="4521697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Lenguaje M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1"/>
          <p:cNvSpPr/>
          <p:nvPr/>
        </p:nvSpPr>
        <p:spPr>
          <a:xfrm>
            <a:off x="6666161" y="5248127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Automatización avanzada de tareas complejas en transformaciones.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1"/>
          <p:cNvSpPr/>
          <p:nvPr/>
        </p:nvSpPr>
        <p:spPr>
          <a:xfrm>
            <a:off x="12340085" y="4521697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Ejemplos Comunes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1"/>
          <p:cNvSpPr/>
          <p:nvPr/>
        </p:nvSpPr>
        <p:spPr>
          <a:xfrm>
            <a:off x="12340084" y="5248127"/>
            <a:ext cx="4972646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Char char="•"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Eliminar columnas innecesarias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1"/>
          <p:cNvSpPr/>
          <p:nvPr/>
        </p:nvSpPr>
        <p:spPr>
          <a:xfrm>
            <a:off x="12340084" y="5800876"/>
            <a:ext cx="4972646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Char char="•"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Filtrar filas según criterios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1"/>
          <p:cNvSpPr/>
          <p:nvPr/>
        </p:nvSpPr>
        <p:spPr>
          <a:xfrm>
            <a:off x="12340084" y="6353622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Char char="•"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Cambiar tipos de datos para análisis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1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7" name="Google Shape;53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42"/>
          <p:cNvSpPr/>
          <p:nvPr/>
        </p:nvSpPr>
        <p:spPr>
          <a:xfrm>
            <a:off x="992238" y="1743077"/>
            <a:ext cx="7088238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Modelado de Datos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9" name="Google Shape;53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238" y="3054253"/>
            <a:ext cx="1417587" cy="208731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2"/>
          <p:cNvSpPr/>
          <p:nvPr/>
        </p:nvSpPr>
        <p:spPr>
          <a:xfrm>
            <a:off x="2835029" y="3337769"/>
            <a:ext cx="385390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Relaciones entre tablas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2"/>
          <p:cNvSpPr/>
          <p:nvPr/>
        </p:nvSpPr>
        <p:spPr>
          <a:xfrm>
            <a:off x="2835029" y="3950792"/>
            <a:ext cx="7602737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Construcción de modelos eficientes para análisis integrados.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2" name="Google Shape;54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2238" y="5141565"/>
            <a:ext cx="1417587" cy="17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2"/>
          <p:cNvSpPr/>
          <p:nvPr/>
        </p:nvSpPr>
        <p:spPr>
          <a:xfrm>
            <a:off x="2835029" y="5425084"/>
            <a:ext cx="5209431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Medidas y columnas calculadas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2"/>
          <p:cNvSpPr/>
          <p:nvPr/>
        </p:nvSpPr>
        <p:spPr>
          <a:xfrm>
            <a:off x="2835029" y="6038108"/>
            <a:ext cx="7602737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Creación con lenguaje DAX para cálculos personalizados.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5" name="Google Shape;54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2238" y="6842672"/>
            <a:ext cx="1417587" cy="17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2"/>
          <p:cNvSpPr/>
          <p:nvPr/>
        </p:nvSpPr>
        <p:spPr>
          <a:xfrm>
            <a:off x="2835029" y="7126190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Jerarquías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2"/>
          <p:cNvSpPr/>
          <p:nvPr/>
        </p:nvSpPr>
        <p:spPr>
          <a:xfrm>
            <a:off x="2835029" y="7739213"/>
            <a:ext cx="7602737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Organización lógica para facilitar la navegación de datos.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3"/>
          <p:cNvSpPr/>
          <p:nvPr/>
        </p:nvSpPr>
        <p:spPr>
          <a:xfrm>
            <a:off x="992238" y="3180310"/>
            <a:ext cx="7088238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Visualizaciones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3"/>
          <p:cNvSpPr/>
          <p:nvPr/>
        </p:nvSpPr>
        <p:spPr>
          <a:xfrm>
            <a:off x="992238" y="4775002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Tipos de gráficos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3"/>
          <p:cNvSpPr/>
          <p:nvPr/>
        </p:nvSpPr>
        <p:spPr>
          <a:xfrm>
            <a:off x="992239" y="5501432"/>
            <a:ext cx="4972646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Char char="•"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Barras, líneas y circulares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3"/>
          <p:cNvSpPr/>
          <p:nvPr/>
        </p:nvSpPr>
        <p:spPr>
          <a:xfrm>
            <a:off x="992239" y="6054181"/>
            <a:ext cx="4972646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09" lvl="0" marL="428609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7"/>
              <a:buFont typeface="Arial"/>
              <a:buChar char="•"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Mapas geográficos interactivos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3"/>
          <p:cNvSpPr/>
          <p:nvPr/>
        </p:nvSpPr>
        <p:spPr>
          <a:xfrm>
            <a:off x="6666161" y="4775002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Personalización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3"/>
          <p:cNvSpPr/>
          <p:nvPr/>
        </p:nvSpPr>
        <p:spPr>
          <a:xfrm>
            <a:off x="6666161" y="5501432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Colores, etiquetas y formatos según necesidades.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3"/>
          <p:cNvSpPr/>
          <p:nvPr/>
        </p:nvSpPr>
        <p:spPr>
          <a:xfrm>
            <a:off x="12340084" y="4775001"/>
            <a:ext cx="4972646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Visualizaciones personalizadas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3"/>
          <p:cNvSpPr/>
          <p:nvPr/>
        </p:nvSpPr>
        <p:spPr>
          <a:xfrm>
            <a:off x="12340084" y="5944344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Amplía posibilidades con componentes del marketplace.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3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7" name="Google Shape;56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4"/>
          <p:cNvSpPr/>
          <p:nvPr/>
        </p:nvSpPr>
        <p:spPr>
          <a:xfrm>
            <a:off x="992238" y="2370536"/>
            <a:ext cx="9445527" cy="1771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DAX (Data Analysis Expressions)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4"/>
          <p:cNvSpPr/>
          <p:nvPr/>
        </p:nvSpPr>
        <p:spPr>
          <a:xfrm>
            <a:off x="992238" y="4567683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4"/>
          <p:cNvSpPr/>
          <p:nvPr/>
        </p:nvSpPr>
        <p:spPr>
          <a:xfrm>
            <a:off x="1098576" y="4620818"/>
            <a:ext cx="425202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2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3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4"/>
          <p:cNvSpPr/>
          <p:nvPr/>
        </p:nvSpPr>
        <p:spPr>
          <a:xfrm>
            <a:off x="1913633" y="466501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Funciones básicas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4"/>
          <p:cNvSpPr/>
          <p:nvPr/>
        </p:nvSpPr>
        <p:spPr>
          <a:xfrm>
            <a:off x="1913633" y="5278041"/>
            <a:ext cx="3624263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SUM, AVERAGE, COUNT para cálculos simples.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4"/>
          <p:cNvSpPr/>
          <p:nvPr/>
        </p:nvSpPr>
        <p:spPr>
          <a:xfrm>
            <a:off x="5892254" y="4567683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4"/>
          <p:cNvSpPr/>
          <p:nvPr/>
        </p:nvSpPr>
        <p:spPr>
          <a:xfrm>
            <a:off x="5998593" y="4620818"/>
            <a:ext cx="425202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2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3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4"/>
          <p:cNvSpPr/>
          <p:nvPr/>
        </p:nvSpPr>
        <p:spPr>
          <a:xfrm>
            <a:off x="6813650" y="466501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Funciones de filtro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4"/>
          <p:cNvSpPr/>
          <p:nvPr/>
        </p:nvSpPr>
        <p:spPr>
          <a:xfrm>
            <a:off x="6813650" y="5278041"/>
            <a:ext cx="3624263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CALCULATE, FILTER, ALL para análisis avanzados.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4"/>
          <p:cNvSpPr/>
          <p:nvPr/>
        </p:nvSpPr>
        <p:spPr>
          <a:xfrm>
            <a:off x="992238" y="6752333"/>
            <a:ext cx="637878" cy="637878"/>
          </a:xfrm>
          <a:prstGeom prst="roundRect">
            <a:avLst>
              <a:gd fmla="val 40005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4"/>
          <p:cNvSpPr/>
          <p:nvPr/>
        </p:nvSpPr>
        <p:spPr>
          <a:xfrm>
            <a:off x="1098576" y="6805465"/>
            <a:ext cx="425202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12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3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4"/>
          <p:cNvSpPr/>
          <p:nvPr/>
        </p:nvSpPr>
        <p:spPr>
          <a:xfrm>
            <a:off x="1913633" y="6849667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Ejemplos prácticos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4"/>
          <p:cNvSpPr/>
          <p:nvPr/>
        </p:nvSpPr>
        <p:spPr>
          <a:xfrm>
            <a:off x="1913634" y="7462690"/>
            <a:ext cx="8524131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Cálculo de ventas totales y promedio de ganancias.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6" name="Google Shape;58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2009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5"/>
          <p:cNvSpPr/>
          <p:nvPr/>
        </p:nvSpPr>
        <p:spPr>
          <a:xfrm>
            <a:off x="7850238" y="1815854"/>
            <a:ext cx="9445527" cy="1771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Power BI Service: Publicación y Colaboración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5"/>
          <p:cNvSpPr/>
          <p:nvPr/>
        </p:nvSpPr>
        <p:spPr>
          <a:xfrm>
            <a:off x="7850239" y="4013001"/>
            <a:ext cx="4581080" cy="2540943"/>
          </a:xfrm>
          <a:prstGeom prst="roundRect">
            <a:avLst>
              <a:gd fmla="val 10043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5"/>
          <p:cNvSpPr/>
          <p:nvPr/>
        </p:nvSpPr>
        <p:spPr>
          <a:xfrm>
            <a:off x="8133757" y="4296520"/>
            <a:ext cx="3994100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Publicación de informes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5"/>
          <p:cNvSpPr/>
          <p:nvPr/>
        </p:nvSpPr>
        <p:spPr>
          <a:xfrm>
            <a:off x="8133757" y="4909543"/>
            <a:ext cx="4014044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Compartir resultados con colegas y clientes de manera segura.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5"/>
          <p:cNvSpPr/>
          <p:nvPr/>
        </p:nvSpPr>
        <p:spPr>
          <a:xfrm>
            <a:off x="12714835" y="4013001"/>
            <a:ext cx="4581080" cy="2540943"/>
          </a:xfrm>
          <a:prstGeom prst="roundRect">
            <a:avLst>
              <a:gd fmla="val 10043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5"/>
          <p:cNvSpPr/>
          <p:nvPr/>
        </p:nvSpPr>
        <p:spPr>
          <a:xfrm>
            <a:off x="12998352" y="4296520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Dashboards y KPIs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45"/>
          <p:cNvSpPr/>
          <p:nvPr/>
        </p:nvSpPr>
        <p:spPr>
          <a:xfrm>
            <a:off x="12998353" y="4909543"/>
            <a:ext cx="4014044" cy="1360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Visualización clara de indicadores clave en paneles personalizados.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45"/>
          <p:cNvSpPr/>
          <p:nvPr/>
        </p:nvSpPr>
        <p:spPr>
          <a:xfrm>
            <a:off x="7850238" y="6837462"/>
            <a:ext cx="9445527" cy="1633686"/>
          </a:xfrm>
          <a:prstGeom prst="roundRect">
            <a:avLst>
              <a:gd fmla="val 15620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5"/>
          <p:cNvSpPr/>
          <p:nvPr/>
        </p:nvSpPr>
        <p:spPr>
          <a:xfrm>
            <a:off x="8133756" y="712097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5"/>
          <p:cNvSpPr/>
          <p:nvPr/>
        </p:nvSpPr>
        <p:spPr>
          <a:xfrm>
            <a:off x="8133756" y="7734004"/>
            <a:ext cx="8878491" cy="4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Control de acceso detallado para proteger la información.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5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/>
        </p:nvSpPr>
        <p:spPr>
          <a:xfrm>
            <a:off x="992238" y="3401767"/>
            <a:ext cx="7088238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Power BI Mobile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6"/>
          <p:cNvSpPr/>
          <p:nvPr/>
        </p:nvSpPr>
        <p:spPr>
          <a:xfrm>
            <a:off x="992238" y="499645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Acceso universal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6"/>
          <p:cNvSpPr/>
          <p:nvPr/>
        </p:nvSpPr>
        <p:spPr>
          <a:xfrm>
            <a:off x="992239" y="5722889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Visualiza informes y dashboards desde cualquier lugar.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46"/>
          <p:cNvSpPr/>
          <p:nvPr/>
        </p:nvSpPr>
        <p:spPr>
          <a:xfrm>
            <a:off x="6666161" y="499645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Notificaciones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6"/>
          <p:cNvSpPr/>
          <p:nvPr/>
        </p:nvSpPr>
        <p:spPr>
          <a:xfrm>
            <a:off x="6666161" y="5722889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Alertas sobre cambios clave en datos relevantes.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6"/>
          <p:cNvSpPr/>
          <p:nvPr/>
        </p:nvSpPr>
        <p:spPr>
          <a:xfrm>
            <a:off x="12340085" y="499645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Interacción táctil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12340084" y="5722889"/>
            <a:ext cx="4972646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Navegación intuitiva en dispositivos iOS y Android.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6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6" name="Google Shape;61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8288000" cy="3721151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47"/>
          <p:cNvSpPr/>
          <p:nvPr/>
        </p:nvSpPr>
        <p:spPr>
          <a:xfrm>
            <a:off x="992238" y="4720085"/>
            <a:ext cx="10460682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62" u="none" cap="none" strike="noStrike">
                <a:solidFill>
                  <a:srgbClr val="091C53"/>
                </a:solidFill>
                <a:latin typeface="Arial"/>
                <a:ea typeface="Arial"/>
                <a:cs typeface="Arial"/>
                <a:sym typeface="Arial"/>
              </a:rPr>
              <a:t>Conclusiones y Próximos Pasos</a:t>
            </a:r>
            <a:endParaRPr b="0" i="0" sz="55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992239" y="6881813"/>
            <a:ext cx="5150942" cy="283518"/>
          </a:xfrm>
          <a:prstGeom prst="roundRect">
            <a:avLst>
              <a:gd fmla="val 90006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992238" y="7590533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Power BI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7"/>
          <p:cNvSpPr/>
          <p:nvPr/>
        </p:nvSpPr>
        <p:spPr>
          <a:xfrm>
            <a:off x="992239" y="8203556"/>
            <a:ext cx="5150942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Potente herramienta para análisis visual y colaborativo.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7"/>
          <p:cNvSpPr/>
          <p:nvPr/>
        </p:nvSpPr>
        <p:spPr>
          <a:xfrm>
            <a:off x="6568380" y="6456461"/>
            <a:ext cx="5151090" cy="283518"/>
          </a:xfrm>
          <a:prstGeom prst="roundRect">
            <a:avLst>
              <a:gd fmla="val 90006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47"/>
          <p:cNvSpPr/>
          <p:nvPr/>
        </p:nvSpPr>
        <p:spPr>
          <a:xfrm>
            <a:off x="6568380" y="7165183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47"/>
          <p:cNvSpPr/>
          <p:nvPr/>
        </p:nvSpPr>
        <p:spPr>
          <a:xfrm>
            <a:off x="6568380" y="7778204"/>
            <a:ext cx="5151090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Documentación oficial, tutoriales y comunidad activa.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47"/>
          <p:cNvSpPr/>
          <p:nvPr/>
        </p:nvSpPr>
        <p:spPr>
          <a:xfrm>
            <a:off x="12144672" y="6031260"/>
            <a:ext cx="5151090" cy="283518"/>
          </a:xfrm>
          <a:prstGeom prst="roundRect">
            <a:avLst>
              <a:gd fmla="val 90006" name="adj"/>
            </a:avLst>
          </a:prstGeom>
          <a:solidFill>
            <a:srgbClr val="CEE6F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47"/>
          <p:cNvSpPr/>
          <p:nvPr/>
        </p:nvSpPr>
        <p:spPr>
          <a:xfrm>
            <a:off x="12144674" y="6739979"/>
            <a:ext cx="354404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0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Invitación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47"/>
          <p:cNvSpPr/>
          <p:nvPr/>
        </p:nvSpPr>
        <p:spPr>
          <a:xfrm>
            <a:off x="12144672" y="7353003"/>
            <a:ext cx="5151090" cy="907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87" u="none" cap="none" strike="noStrike">
                <a:solidFill>
                  <a:srgbClr val="1E3063"/>
                </a:solidFill>
                <a:latin typeface="Arial"/>
                <a:ea typeface="Arial"/>
                <a:cs typeface="Arial"/>
                <a:sym typeface="Arial"/>
              </a:rPr>
              <a:t>Explora Power BI y descubre su valor para tu trabajo/negocio/empresa.</a:t>
            </a:r>
            <a:endParaRPr b="0" i="0" sz="2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7"/>
          <p:cNvSpPr txBox="1"/>
          <p:nvPr/>
        </p:nvSpPr>
        <p:spPr>
          <a:xfrm>
            <a:off x="15268640" y="9734676"/>
            <a:ext cx="30193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4"/>
          <p:cNvSpPr/>
          <p:nvPr/>
        </p:nvSpPr>
        <p:spPr>
          <a:xfrm>
            <a:off x="3861682" y="571235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