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9" r:id="rId4"/>
    <p:sldId id="300" r:id="rId5"/>
    <p:sldId id="301" r:id="rId6"/>
    <p:sldId id="302" r:id="rId7"/>
    <p:sldId id="305" r:id="rId8"/>
    <p:sldId id="294" r:id="rId9"/>
    <p:sldId id="267" r:id="rId10"/>
    <p:sldId id="293" r:id="rId11"/>
    <p:sldId id="266" r:id="rId12"/>
    <p:sldId id="292" r:id="rId13"/>
    <p:sldId id="268" r:id="rId14"/>
    <p:sldId id="306" r:id="rId15"/>
    <p:sldId id="307" r:id="rId16"/>
    <p:sldId id="273" r:id="rId17"/>
    <p:sldId id="274" r:id="rId18"/>
    <p:sldId id="275" r:id="rId19"/>
    <p:sldId id="276" r:id="rId20"/>
    <p:sldId id="277" r:id="rId21"/>
    <p:sldId id="308" r:id="rId22"/>
    <p:sldId id="309" r:id="rId23"/>
    <p:sldId id="278" r:id="rId24"/>
    <p:sldId id="279" r:id="rId25"/>
    <p:sldId id="280" r:id="rId26"/>
    <p:sldId id="281" r:id="rId27"/>
    <p:sldId id="282" r:id="rId28"/>
    <p:sldId id="283" r:id="rId29"/>
    <p:sldId id="269" r:id="rId30"/>
    <p:sldId id="270" r:id="rId31"/>
  </p:sldIdLst>
  <p:sldSz cx="18288000" cy="10287000"/>
  <p:notesSz cx="6858000" cy="9144000"/>
  <p:embeddedFontLst>
    <p:embeddedFont>
      <p:font typeface="Open Sans" panose="020B0606030504020204" pitchFamily="34" charset="0"/>
      <p:regular r:id="rId33"/>
      <p:bold r:id="rId34"/>
      <p:italic r:id="rId35"/>
      <p:boldItalic r:id="rId36"/>
    </p:embeddedFont>
    <p:embeddedFont>
      <p:font typeface="Trebuchet MS" panose="020B0603020202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9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customschemas.google.com/relationships/presentationmetadata" Target="metadata"/><Relationship Id="rId20" Type="http://schemas.openxmlformats.org/officeDocument/2006/relationships/slide" Target="slides/slide19.xml"/><Relationship Id="rId6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494525" y="8207944"/>
            <a:ext cx="1793875" cy="2079625"/>
          </a:xfrm>
          <a:custGeom>
            <a:avLst/>
            <a:gdLst/>
            <a:ahLst/>
            <a:cxnLst/>
            <a:rect l="l" t="t" r="r" b="b"/>
            <a:pathLst>
              <a:path w="1793875" h="2079625">
                <a:moveTo>
                  <a:pt x="1793474" y="0"/>
                </a:moveTo>
                <a:lnTo>
                  <a:pt x="1793474" y="2079055"/>
                </a:lnTo>
                <a:lnTo>
                  <a:pt x="285210" y="2079055"/>
                </a:lnTo>
                <a:lnTo>
                  <a:pt x="0" y="1793844"/>
                </a:lnTo>
                <a:lnTo>
                  <a:pt x="1793474" y="0"/>
                </a:lnTo>
                <a:close/>
              </a:path>
            </a:pathLst>
          </a:custGeom>
          <a:solidFill>
            <a:srgbClr val="407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935176" y="8933065"/>
            <a:ext cx="1557020" cy="1354455"/>
          </a:xfrm>
          <a:custGeom>
            <a:avLst/>
            <a:gdLst/>
            <a:ahLst/>
            <a:cxnLst/>
            <a:rect l="l" t="t" r="r" b="b"/>
            <a:pathLst>
              <a:path w="1557019" h="1354454">
                <a:moveTo>
                  <a:pt x="1556645" y="777983"/>
                </a:moveTo>
                <a:lnTo>
                  <a:pt x="980694" y="1353934"/>
                </a:lnTo>
                <a:lnTo>
                  <a:pt x="575625" y="1353934"/>
                </a:lnTo>
                <a:lnTo>
                  <a:pt x="0" y="777983"/>
                </a:lnTo>
                <a:lnTo>
                  <a:pt x="777983" y="0"/>
                </a:lnTo>
                <a:lnTo>
                  <a:pt x="1556645" y="777983"/>
                </a:lnTo>
                <a:close/>
              </a:path>
            </a:pathLst>
          </a:custGeom>
          <a:solidFill>
            <a:srgbClr val="40785E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373045" y="9048949"/>
            <a:ext cx="2475865" cy="1238250"/>
          </a:xfrm>
          <a:custGeom>
            <a:avLst/>
            <a:gdLst/>
            <a:ahLst/>
            <a:cxnLst/>
            <a:rect l="l" t="t" r="r" b="b"/>
            <a:pathLst>
              <a:path w="2475865" h="1238250">
                <a:moveTo>
                  <a:pt x="2475421" y="1238049"/>
                </a:moveTo>
                <a:lnTo>
                  <a:pt x="0" y="1238049"/>
                </a:lnTo>
                <a:lnTo>
                  <a:pt x="1237372" y="0"/>
                </a:lnTo>
                <a:lnTo>
                  <a:pt x="2475421" y="1238049"/>
                </a:lnTo>
                <a:close/>
              </a:path>
            </a:pathLst>
          </a:custGeom>
          <a:solidFill>
            <a:srgbClr val="BE120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038451" y="5185819"/>
            <a:ext cx="2249805" cy="4498340"/>
          </a:xfrm>
          <a:custGeom>
            <a:avLst/>
            <a:gdLst/>
            <a:ahLst/>
            <a:cxnLst/>
            <a:rect l="l" t="t" r="r" b="b"/>
            <a:pathLst>
              <a:path w="2249805" h="4498340">
                <a:moveTo>
                  <a:pt x="2249547" y="0"/>
                </a:moveTo>
                <a:lnTo>
                  <a:pt x="2249547" y="4497786"/>
                </a:lnTo>
                <a:lnTo>
                  <a:pt x="0" y="2248893"/>
                </a:lnTo>
                <a:lnTo>
                  <a:pt x="2249547" y="0"/>
                </a:lnTo>
                <a:close/>
              </a:path>
            </a:pathLst>
          </a:custGeom>
          <a:solidFill>
            <a:srgbClr val="004653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8210427" y="7601107"/>
            <a:ext cx="78105" cy="155575"/>
          </a:xfrm>
          <a:custGeom>
            <a:avLst/>
            <a:gdLst/>
            <a:ahLst/>
            <a:cxnLst/>
            <a:rect l="l" t="t" r="r" b="b"/>
            <a:pathLst>
              <a:path w="78105" h="155575">
                <a:moveTo>
                  <a:pt x="77572" y="0"/>
                </a:moveTo>
                <a:lnTo>
                  <a:pt x="77572" y="155145"/>
                </a:lnTo>
                <a:lnTo>
                  <a:pt x="0" y="77572"/>
                </a:lnTo>
                <a:lnTo>
                  <a:pt x="77572" y="0"/>
                </a:lnTo>
                <a:close/>
              </a:path>
            </a:pathLst>
          </a:custGeom>
          <a:solidFill>
            <a:srgbClr val="004AAC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0"/>
            <a:ext cx="1185545" cy="1186180"/>
          </a:xfrm>
          <a:custGeom>
            <a:avLst/>
            <a:gdLst/>
            <a:ahLst/>
            <a:cxnLst/>
            <a:rect l="l" t="t" r="r" b="b"/>
            <a:pathLst>
              <a:path w="1185545" h="1186180">
                <a:moveTo>
                  <a:pt x="0" y="1185897"/>
                </a:moveTo>
                <a:lnTo>
                  <a:pt x="0" y="0"/>
                </a:lnTo>
                <a:lnTo>
                  <a:pt x="1185493" y="0"/>
                </a:lnTo>
                <a:lnTo>
                  <a:pt x="0" y="1185897"/>
                </a:lnTo>
                <a:close/>
              </a:path>
            </a:pathLst>
          </a:custGeom>
          <a:solidFill>
            <a:srgbClr val="4078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230847" y="0"/>
            <a:ext cx="805180" cy="402590"/>
          </a:xfrm>
          <a:custGeom>
            <a:avLst/>
            <a:gdLst/>
            <a:ahLst/>
            <a:cxnLst/>
            <a:rect l="l" t="t" r="r" b="b"/>
            <a:pathLst>
              <a:path w="805180" h="402590">
                <a:moveTo>
                  <a:pt x="0" y="0"/>
                </a:moveTo>
                <a:lnTo>
                  <a:pt x="804728" y="0"/>
                </a:lnTo>
                <a:lnTo>
                  <a:pt x="402703" y="402025"/>
                </a:lnTo>
                <a:lnTo>
                  <a:pt x="0" y="0"/>
                </a:lnTo>
                <a:close/>
              </a:path>
            </a:pathLst>
          </a:custGeom>
          <a:solidFill>
            <a:srgbClr val="40785E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50153" y="0"/>
            <a:ext cx="572135" cy="286385"/>
          </a:xfrm>
          <a:custGeom>
            <a:avLst/>
            <a:gdLst/>
            <a:ahLst/>
            <a:cxnLst/>
            <a:rect l="l" t="t" r="r" b="b"/>
            <a:pathLst>
              <a:path w="572135" h="286385">
                <a:moveTo>
                  <a:pt x="0" y="0"/>
                </a:moveTo>
                <a:lnTo>
                  <a:pt x="572029" y="0"/>
                </a:lnTo>
                <a:lnTo>
                  <a:pt x="286141" y="286141"/>
                </a:lnTo>
                <a:lnTo>
                  <a:pt x="0" y="0"/>
                </a:lnTo>
                <a:close/>
              </a:path>
            </a:pathLst>
          </a:custGeom>
          <a:solidFill>
            <a:srgbClr val="BE120A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0"/>
            <a:ext cx="2308860" cy="4187825"/>
          </a:xfrm>
          <a:custGeom>
            <a:avLst/>
            <a:gdLst/>
            <a:ahLst/>
            <a:cxnLst/>
            <a:rect l="l" t="t" r="r" b="b"/>
            <a:pathLst>
              <a:path w="2308860" h="4187825">
                <a:moveTo>
                  <a:pt x="0" y="4168543"/>
                </a:moveTo>
                <a:lnTo>
                  <a:pt x="0" y="0"/>
                </a:lnTo>
                <a:lnTo>
                  <a:pt x="407423" y="0"/>
                </a:lnTo>
                <a:lnTo>
                  <a:pt x="2308261" y="1900389"/>
                </a:lnTo>
                <a:lnTo>
                  <a:pt x="20662" y="4187311"/>
                </a:lnTo>
                <a:lnTo>
                  <a:pt x="18768" y="4187311"/>
                </a:lnTo>
                <a:lnTo>
                  <a:pt x="0" y="4168543"/>
                </a:lnTo>
                <a:close/>
              </a:path>
            </a:pathLst>
          </a:custGeom>
          <a:solidFill>
            <a:srgbClr val="004653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1520144"/>
            <a:ext cx="136525" cy="273050"/>
          </a:xfrm>
          <a:custGeom>
            <a:avLst/>
            <a:gdLst/>
            <a:ahLst/>
            <a:cxnLst/>
            <a:rect l="l" t="t" r="r" b="b"/>
            <a:pathLst>
              <a:path w="136525" h="273050">
                <a:moveTo>
                  <a:pt x="0" y="272554"/>
                </a:moveTo>
                <a:lnTo>
                  <a:pt x="0" y="0"/>
                </a:lnTo>
                <a:lnTo>
                  <a:pt x="136277" y="136277"/>
                </a:lnTo>
                <a:lnTo>
                  <a:pt x="0" y="272554"/>
                </a:lnTo>
                <a:close/>
              </a:path>
            </a:pathLst>
          </a:custGeom>
          <a:solidFill>
            <a:srgbClr val="004AAC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444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128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56323" y="133260"/>
            <a:ext cx="1847850" cy="10066602"/>
          </a:xfrm>
        </p:spPr>
        <p:txBody>
          <a:bodyPr lIns="0" tIns="0" rIns="0" bIns="0"/>
          <a:lstStyle>
            <a:lvl1pPr>
              <a:defRPr sz="5451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45077" y="2760716"/>
            <a:ext cx="10962641" cy="392415"/>
          </a:xfrm>
        </p:spPr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AFA8-E901-40AA-919D-E809F806AD55}" type="datetimeFigureOut">
              <a:rPr lang="es-PE" smtClean="0"/>
              <a:t>10/05/2026</a:t>
            </a:fld>
            <a:endParaRPr lang="es-PE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B3DBC-2C3B-434E-839E-9A113E4AEB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569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3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s-es/dax/math-and-trig-functions-dax" TargetMode="External"/><Relationship Id="rId13" Type="http://schemas.openxmlformats.org/officeDocument/2006/relationships/hyperlink" Target="https://learn.microsoft.com/es-es/dax/table-manipulation-functions-dax" TargetMode="External"/><Relationship Id="rId3" Type="http://schemas.openxmlformats.org/officeDocument/2006/relationships/hyperlink" Target="https://learn.microsoft.com/es-es/dax/date-and-time-functions-dax" TargetMode="External"/><Relationship Id="rId7" Type="http://schemas.openxmlformats.org/officeDocument/2006/relationships/hyperlink" Target="https://learn.microsoft.com/es-es/dax/logical-functions-dax" TargetMode="External"/><Relationship Id="rId12" Type="http://schemas.openxmlformats.org/officeDocument/2006/relationships/hyperlink" Target="https://learn.microsoft.com/es-es/dax/statistical-functions-dax" TargetMode="External"/><Relationship Id="rId17" Type="http://schemas.openxmlformats.org/officeDocument/2006/relationships/hyperlink" Target="https://learn.microsoft.com/es-es/dax/dax-function-reference" TargetMode="External"/><Relationship Id="rId2" Type="http://schemas.openxmlformats.org/officeDocument/2006/relationships/hyperlink" Target="https://learn.microsoft.com/es-es/dax/aggregation-functions-dax" TargetMode="External"/><Relationship Id="rId16" Type="http://schemas.openxmlformats.org/officeDocument/2006/relationships/hyperlink" Target="https://learn.microsoft.com/es-es/dax/new-dax-functions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earn.microsoft.com/es-es/dax/information-functions-dax" TargetMode="External"/><Relationship Id="rId11" Type="http://schemas.openxmlformats.org/officeDocument/2006/relationships/hyperlink" Target="https://learn.microsoft.com/es-es/dax/relationship-functions-dax" TargetMode="External"/><Relationship Id="rId5" Type="http://schemas.openxmlformats.org/officeDocument/2006/relationships/hyperlink" Target="https://learn.microsoft.com/es-es/dax/financial-functions-dax" TargetMode="External"/><Relationship Id="rId15" Type="http://schemas.openxmlformats.org/officeDocument/2006/relationships/hyperlink" Target="https://learn.microsoft.com/es-es/dax/time-intelligence-functions-dax" TargetMode="External"/><Relationship Id="rId10" Type="http://schemas.openxmlformats.org/officeDocument/2006/relationships/hyperlink" Target="https://learn.microsoft.com/es-es/dax/parent-and-child-functions-dax" TargetMode="External"/><Relationship Id="rId4" Type="http://schemas.openxmlformats.org/officeDocument/2006/relationships/hyperlink" Target="https://learn.microsoft.com/es-es/dax/filter-functions-dax" TargetMode="External"/><Relationship Id="rId9" Type="http://schemas.openxmlformats.org/officeDocument/2006/relationships/hyperlink" Target="https://learn.microsoft.com/es-es/dax/other-functions-dax" TargetMode="External"/><Relationship Id="rId14" Type="http://schemas.openxmlformats.org/officeDocument/2006/relationships/hyperlink" Target="https://learn.microsoft.com/es-es/dax/text-functions-dax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atos.gob.es/es" TargetMode="External"/><Relationship Id="rId3" Type="http://schemas.openxmlformats.org/officeDocument/2006/relationships/hyperlink" Target="https://www.datosabiertos.gob.pe/" TargetMode="External"/><Relationship Id="rId7" Type="http://schemas.openxmlformats.org/officeDocument/2006/relationships/hyperlink" Target="https://dataverse.harvard.edu/" TargetMode="External"/><Relationship Id="rId2" Type="http://schemas.openxmlformats.org/officeDocument/2006/relationships/hyperlink" Target="https://www.flaticon.es/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ata.world/datasets/free" TargetMode="External"/><Relationship Id="rId5" Type="http://schemas.openxmlformats.org/officeDocument/2006/relationships/hyperlink" Target="https://www.rapidtables.com/web/color/RGB_Color.html" TargetMode="External"/><Relationship Id="rId10" Type="http://schemas.openxmlformats.org/officeDocument/2006/relationships/hyperlink" Target="https://www.datos.gov.co/" TargetMode="External"/><Relationship Id="rId4" Type="http://schemas.openxmlformats.org/officeDocument/2006/relationships/hyperlink" Target="https://www.kaggle.com/datasets" TargetMode="External"/><Relationship Id="rId9" Type="http://schemas.openxmlformats.org/officeDocument/2006/relationships/hyperlink" Target="https://datos.gob.mx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avLst/>
            <a:gdLst/>
            <a:ahLst/>
            <a:cxnLst/>
            <a:rect l="l" t="t" r="r" b="b"/>
            <a:pathLst>
              <a:path w="9002016" h="1811656" extrusionOk="0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524676" imgH="1881100" progId="Excel.Sheet.12">
                  <p:embed/>
                </p:oleObj>
              </mc:Choice>
              <mc:Fallback>
                <p:oleObj r:id="rId5" imgW="9524676" imgH="1881100" progId="Excel.Sheet.1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dirty="0"/>
          </a:p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201150"/>
            <a:ext cx="8386287" cy="1352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40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4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s-GT" sz="5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Programación Comercial 1 [Sec.]</a:t>
            </a:r>
            <a:endParaRPr sz="42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avLst/>
            <a:gdLst/>
            <a:ahLst/>
            <a:cxnLst/>
            <a:rect l="l" t="t" r="r" b="b"/>
            <a:pathLst>
              <a:path w="18288000" h="10401300" extrusionOk="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5" name="Google Shape;95;p2"/>
          <p:cNvSpPr txBox="1"/>
          <p:nvPr/>
        </p:nvSpPr>
        <p:spPr>
          <a:xfrm>
            <a:off x="1780674" y="2935368"/>
            <a:ext cx="16050125" cy="3791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4"/>
              </a:lnSpc>
            </a:pPr>
            <a:r>
              <a:rPr lang="en-US" sz="8799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3: </a:t>
            </a:r>
            <a:r>
              <a:rPr lang="en-US" sz="8799" b="1" dirty="0">
                <a:latin typeface="Open Sans"/>
                <a:ea typeface="Open Sans"/>
                <a:cs typeface="Open Sans"/>
                <a:sym typeface="Open Sans"/>
              </a:rPr>
              <a:t>Power BI </a:t>
            </a:r>
            <a:endParaRPr dirty="0"/>
          </a:p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799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2658978" y="5200650"/>
            <a:ext cx="1429351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s-GT" sz="6000" b="1" dirty="0">
                <a:latin typeface="Open Sans"/>
                <a:ea typeface="Open Sans"/>
                <a:cs typeface="Open Sans"/>
                <a:sym typeface="Open Sans"/>
              </a:rPr>
              <a:t>Dax y Diseño</a:t>
            </a:r>
            <a:endParaRPr sz="1100"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 b="1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avLst/>
            <a:gdLst/>
            <a:ahLst/>
            <a:cxnLst/>
            <a:rect l="l" t="t" r="r" b="b"/>
            <a:pathLst>
              <a:path w="9896507" h="5913163" extrusionOk="0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dirty="0"/>
          </a:p>
        </p:txBody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avLst/>
            <a:gdLst/>
            <a:ahLst/>
            <a:cxnLst/>
            <a:rect l="l" t="t" r="r" b="b"/>
            <a:pathLst>
              <a:path w="11301259" h="5127946" extrusionOk="0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" name="Google Shape;67;p2">
            <a:extLst>
              <a:ext uri="{FF2B5EF4-FFF2-40B4-BE49-F238E27FC236}">
                <a16:creationId xmlns:a16="http://schemas.microsoft.com/office/drawing/2014/main" id="{84EADFC3-AB96-F70E-B567-C6441731FFA2}"/>
              </a:ext>
            </a:extLst>
          </p:cNvPr>
          <p:cNvSpPr txBox="1"/>
          <p:nvPr/>
        </p:nvSpPr>
        <p:spPr>
          <a:xfrm>
            <a:off x="5625829" y="5658030"/>
            <a:ext cx="11390820" cy="1736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s-ES" sz="2800" dirty="0"/>
              <a:t>Dax</a:t>
            </a:r>
          </a:p>
          <a:p>
            <a:endParaRPr lang="es-ES" sz="2800" dirty="0"/>
          </a:p>
          <a:p>
            <a:r>
              <a:rPr lang="es-ES" sz="2800" dirty="0" err="1"/>
              <a:t>Dashboard</a:t>
            </a:r>
            <a:endParaRPr lang="es-ES" sz="2800" dirty="0"/>
          </a:p>
          <a:p>
            <a:endParaRPr lang="es-GT" sz="2800" noProof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72;p2">
            <a:extLst>
              <a:ext uri="{FF2B5EF4-FFF2-40B4-BE49-F238E27FC236}">
                <a16:creationId xmlns:a16="http://schemas.microsoft.com/office/drawing/2014/main" id="{672E0483-9485-1FE4-1359-D9DB1F5BCF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6042" y="5658030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2;p2">
            <a:extLst>
              <a:ext uri="{FF2B5EF4-FFF2-40B4-BE49-F238E27FC236}">
                <a16:creationId xmlns:a16="http://schemas.microsoft.com/office/drawing/2014/main" id="{B7F6D6C0-9B55-54C3-EA51-772A846E89D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6042" y="6552213"/>
            <a:ext cx="355998" cy="405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7DD8E-D003-6FE6-43A7-F96AA99B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688A30-3083-235B-104F-B3FA90DAD266}"/>
              </a:ext>
            </a:extLst>
          </p:cNvPr>
          <p:cNvSpPr txBox="1"/>
          <p:nvPr/>
        </p:nvSpPr>
        <p:spPr>
          <a:xfrm>
            <a:off x="2050577" y="3340292"/>
            <a:ext cx="141868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100" b="1" dirty="0"/>
              <a:t>DAX</a:t>
            </a:r>
          </a:p>
          <a:p>
            <a:pPr algn="ctr"/>
            <a:r>
              <a:rPr lang="es-PE" sz="8100" dirty="0">
                <a:solidFill>
                  <a:srgbClr val="202124"/>
                </a:solidFill>
                <a:latin typeface="Arial" panose="020B0604020202020204" pitchFamily="34" charset="0"/>
              </a:rPr>
              <a:t>Data Analysis Expressions</a:t>
            </a:r>
            <a:endParaRPr lang="es-PE" sz="8100" b="1" dirty="0"/>
          </a:p>
        </p:txBody>
      </p:sp>
    </p:spTree>
    <p:extLst>
      <p:ext uri="{BB962C8B-B14F-4D97-AF65-F5344CB8AC3E}">
        <p14:creationId xmlns:p14="http://schemas.microsoft.com/office/powerpoint/2010/main" val="594541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547B8-A19E-AFEE-B65F-E0103A46A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0EF5C734-395A-E354-3023-CB5B91AD4E04}"/>
              </a:ext>
            </a:extLst>
          </p:cNvPr>
          <p:cNvSpPr/>
          <p:nvPr/>
        </p:nvSpPr>
        <p:spPr>
          <a:xfrm>
            <a:off x="0" y="733961"/>
            <a:ext cx="5486400" cy="1102212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5400" b="1" dirty="0">
                <a:latin typeface="Calibri" panose="020F0502020204030204" pitchFamily="34" charset="0"/>
                <a:cs typeface="Calibri" panose="020F0502020204030204" pitchFamily="34" charset="0"/>
              </a:rPr>
              <a:t>¿Qué es DAX?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7671997-6626-7928-C39F-DDA1F08777C2}"/>
              </a:ext>
            </a:extLst>
          </p:cNvPr>
          <p:cNvSpPr txBox="1"/>
          <p:nvPr/>
        </p:nvSpPr>
        <p:spPr>
          <a:xfrm>
            <a:off x="859809" y="2176051"/>
            <a:ext cx="164796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000" dirty="0">
                <a:latin typeface="Calibri" panose="020F0502020204030204" pitchFamily="34" charset="0"/>
                <a:cs typeface="Calibri" panose="020F0502020204030204" pitchFamily="34" charset="0"/>
              </a:rPr>
              <a:t>DAX es un lenguaje de fórmulas utilizado para realizar cálculos avanzados, </a:t>
            </a:r>
            <a:r>
              <a:rPr lang="es-MX" sz="3000" b="1" i="1" dirty="0">
                <a:latin typeface="Calibri" panose="020F0502020204030204" pitchFamily="34" charset="0"/>
                <a:cs typeface="Calibri" panose="020F0502020204030204" pitchFamily="34" charset="0"/>
              </a:rPr>
              <a:t>definir medidas y columnas calculadas</a:t>
            </a:r>
            <a:r>
              <a:rPr lang="es-MX" sz="3000" dirty="0">
                <a:latin typeface="Calibri" panose="020F0502020204030204" pitchFamily="34" charset="0"/>
                <a:cs typeface="Calibri" panose="020F0502020204030204" pitchFamily="34" charset="0"/>
              </a:rPr>
              <a:t>, y realizar análisis de datos en modelos de datos tabulares. Se compone de una amplia gama de funciones y operadores que permiten realizar cálculos complejos y avanzados sobre los datos.</a:t>
            </a:r>
            <a:endParaRPr lang="es-PE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C7339C-421A-8A7A-8355-503F708815D7}"/>
              </a:ext>
            </a:extLst>
          </p:cNvPr>
          <p:cNvSpPr txBox="1"/>
          <p:nvPr/>
        </p:nvSpPr>
        <p:spPr>
          <a:xfrm>
            <a:off x="859809" y="3961606"/>
            <a:ext cx="5424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600" b="1" dirty="0">
                <a:latin typeface="Calibri" panose="020F0502020204030204" pitchFamily="34" charset="0"/>
                <a:cs typeface="Calibri" panose="020F0502020204030204" pitchFamily="34" charset="0"/>
              </a:rPr>
              <a:t>Características principales:</a:t>
            </a:r>
            <a:endParaRPr lang="es-PE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73F8303-8848-0D43-0213-89C5AF05E69C}"/>
              </a:ext>
            </a:extLst>
          </p:cNvPr>
          <p:cNvSpPr txBox="1"/>
          <p:nvPr/>
        </p:nvSpPr>
        <p:spPr>
          <a:xfrm>
            <a:off x="716508" y="4916165"/>
            <a:ext cx="1662297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3000" b="1" dirty="0">
                <a:latin typeface="Calibri" panose="020F0502020204030204" pitchFamily="34" charset="0"/>
                <a:cs typeface="Calibri" panose="020F0502020204030204" pitchFamily="34" charset="0"/>
              </a:rPr>
              <a:t>Expresiones: </a:t>
            </a:r>
            <a:r>
              <a:rPr lang="es-MX" sz="3000" dirty="0">
                <a:latin typeface="Calibri" panose="020F0502020204030204" pitchFamily="34" charset="0"/>
                <a:cs typeface="Calibri" panose="020F0502020204030204" pitchFamily="34" charset="0"/>
              </a:rPr>
              <a:t>DAX permite crear expresiones que realizan cálculos sobre los datos en el modelo tabular.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3000" b="1" dirty="0">
                <a:latin typeface="Calibri" panose="020F0502020204030204" pitchFamily="34" charset="0"/>
                <a:cs typeface="Calibri" panose="020F0502020204030204" pitchFamily="34" charset="0"/>
              </a:rPr>
              <a:t>Funciones: </a:t>
            </a:r>
            <a:r>
              <a:rPr lang="es-MX" sz="3000" dirty="0">
                <a:latin typeface="Calibri" panose="020F0502020204030204" pitchFamily="34" charset="0"/>
                <a:cs typeface="Calibri" panose="020F0502020204030204" pitchFamily="34" charset="0"/>
              </a:rPr>
              <a:t>Proporciona una amplia variedad de funciones predefinidas para realizar cálculos, desde operaciones matemáticas simples hasta análisis estadísticos complejos.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Contexto de filtro: </a:t>
            </a:r>
            <a:r>
              <a:rPr lang="es-MX" sz="3000" dirty="0">
                <a:latin typeface="Calibri" panose="020F0502020204030204" pitchFamily="34" charset="0"/>
                <a:cs typeface="Calibri" panose="020F0502020204030204" pitchFamily="34" charset="0"/>
              </a:rPr>
              <a:t>DAX utiliza el contexto de filtro para evaluar las expresiones en función de las interacciones del usuario y los filtros aplicados en el informe.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3000" b="1" dirty="0">
                <a:latin typeface="Calibri" panose="020F0502020204030204" pitchFamily="34" charset="0"/>
                <a:cs typeface="Calibri" panose="020F0502020204030204" pitchFamily="34" charset="0"/>
              </a:rPr>
              <a:t>Mejoras en el rendimiento: </a:t>
            </a:r>
            <a:r>
              <a:rPr lang="es-MX" sz="3000" dirty="0">
                <a:latin typeface="Calibri" panose="020F0502020204030204" pitchFamily="34" charset="0"/>
                <a:cs typeface="Calibri" panose="020F0502020204030204" pitchFamily="34" charset="0"/>
              </a:rPr>
              <a:t>DAX está diseñado para optimizar el rendimiento de los cálculos en grandes conjuntos de datos, utilizando técnicas de compresión y agregación.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Integración con Power BI : </a:t>
            </a:r>
            <a:r>
              <a:rPr lang="es-MX" sz="3000" dirty="0">
                <a:latin typeface="Calibri" panose="020F0502020204030204" pitchFamily="34" charset="0"/>
                <a:cs typeface="Calibri" panose="020F0502020204030204" pitchFamily="34" charset="0"/>
              </a:rPr>
              <a:t>Está integrado de forma nativa en Power BI Desktop y se utiliza para definir medidas y columnas calculadas en modelos de datos tabulares.</a:t>
            </a:r>
            <a:endParaRPr lang="es-PE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2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485EC-1141-B655-311E-0CFFDE4D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AB0ABE7E-F06D-9B40-2DC4-44424F51C7DC}"/>
              </a:ext>
            </a:extLst>
          </p:cNvPr>
          <p:cNvSpPr/>
          <p:nvPr/>
        </p:nvSpPr>
        <p:spPr>
          <a:xfrm>
            <a:off x="-1" y="733961"/>
            <a:ext cx="10092512" cy="1102212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5400" b="1" dirty="0">
                <a:latin typeface="Calibri" panose="020F0502020204030204" pitchFamily="34" charset="0"/>
                <a:cs typeface="Calibri" panose="020F0502020204030204" pitchFamily="34" charset="0"/>
              </a:rPr>
              <a:t>Medidas vs Columnas calculadas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B8A64A-4FC0-5E02-FD1B-78F11192CC4C}"/>
              </a:ext>
            </a:extLst>
          </p:cNvPr>
          <p:cNvSpPr txBox="1"/>
          <p:nvPr/>
        </p:nvSpPr>
        <p:spPr>
          <a:xfrm>
            <a:off x="11054690" y="2009237"/>
            <a:ext cx="56911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b="1" dirty="0">
                <a:latin typeface="Calibri" panose="020F0502020204030204" pitchFamily="34" charset="0"/>
                <a:cs typeface="Calibri" panose="020F0502020204030204" pitchFamily="34" charset="0"/>
              </a:rPr>
              <a:t>Columnas calculadas</a:t>
            </a:r>
            <a:endParaRPr lang="es-PE" sz="4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50ABCE-F13E-BC1D-826C-F44215895195}"/>
              </a:ext>
            </a:extLst>
          </p:cNvPr>
          <p:cNvSpPr txBox="1"/>
          <p:nvPr/>
        </p:nvSpPr>
        <p:spPr>
          <a:xfrm>
            <a:off x="3019566" y="2009238"/>
            <a:ext cx="37053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b="1" dirty="0">
                <a:latin typeface="Calibri" panose="020F0502020204030204" pitchFamily="34" charset="0"/>
                <a:cs typeface="Calibri" panose="020F0502020204030204" pitchFamily="34" charset="0"/>
              </a:rPr>
              <a:t>Medidas</a:t>
            </a:r>
            <a:endParaRPr lang="es-PE" sz="4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5260E5-9D86-B0A9-30D5-517BC003C835}"/>
              </a:ext>
            </a:extLst>
          </p:cNvPr>
          <p:cNvSpPr txBox="1"/>
          <p:nvPr/>
        </p:nvSpPr>
        <p:spPr>
          <a:xfrm>
            <a:off x="266131" y="2792914"/>
            <a:ext cx="87072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2100" b="1" dirty="0">
                <a:latin typeface="Calibri" panose="020F0502020204030204" pitchFamily="34" charset="0"/>
                <a:cs typeface="Calibri" panose="020F0502020204030204" pitchFamily="34" charset="0"/>
              </a:rPr>
              <a:t>Dinámicas: </a:t>
            </a:r>
            <a:r>
              <a:rPr lang="es-MX" sz="2100" dirty="0">
                <a:latin typeface="Calibri" panose="020F0502020204030204" pitchFamily="34" charset="0"/>
                <a:cs typeface="Calibri" panose="020F0502020204030204" pitchFamily="34" charset="0"/>
              </a:rPr>
              <a:t>Se calculan dinámicamente en función de las interacciones del usuario y las selecciones aplicadas en el informe.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PE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Contexto de filtro:</a:t>
            </a:r>
            <a:r>
              <a:rPr lang="es-MX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Responden a filtros aplicados en el informe, como filtros de página, filtros de reporte y filtros de visualización.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Expresiones DAX:</a:t>
            </a:r>
            <a:r>
              <a:rPr lang="es-MX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 definen utilizando expresiones DAX. 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se almacenan en la tabla:</a:t>
            </a:r>
            <a:r>
              <a:rPr lang="es-MX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 se almacena físicamente en la tabla de datos; en su lugar, se calculan cuando se solicitan en el informe.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PE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Agregaciones:</a:t>
            </a:r>
            <a:r>
              <a:rPr lang="es-PE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 utilizan principalmente para calcular valores agregados como sumas, promedios, máximos, mínimos, conteos, etc.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Utilización en visualizaciones:</a:t>
            </a:r>
            <a:r>
              <a:rPr lang="es-MX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 pueden utilizar en visualizaciones gráficas para mostrar valores calculados dinámicamente.</a:t>
            </a:r>
            <a:endParaRPr lang="es-PE" sz="2100" dirty="0">
              <a:solidFill>
                <a:srgbClr val="0D0D0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just">
              <a:buFont typeface="Wingdings" panose="05000000000000000000" pitchFamily="2" charset="2"/>
              <a:buChar char="ü"/>
            </a:pPr>
            <a:endParaRPr lang="es-MX" sz="2100" dirty="0">
              <a:solidFill>
                <a:srgbClr val="0D0D0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5EB4E13-123C-7D2D-FBF1-35A627F713CE}"/>
              </a:ext>
            </a:extLst>
          </p:cNvPr>
          <p:cNvCxnSpPr>
            <a:cxnSpLocks/>
          </p:cNvCxnSpPr>
          <p:nvPr/>
        </p:nvCxnSpPr>
        <p:spPr>
          <a:xfrm>
            <a:off x="9191771" y="2029709"/>
            <a:ext cx="0" cy="8062811"/>
          </a:xfrm>
          <a:prstGeom prst="line">
            <a:avLst/>
          </a:prstGeom>
          <a:ln w="381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9D4FD87-8FA4-6F36-D211-C876FAD1537D}"/>
              </a:ext>
            </a:extLst>
          </p:cNvPr>
          <p:cNvSpPr txBox="1"/>
          <p:nvPr/>
        </p:nvSpPr>
        <p:spPr>
          <a:xfrm>
            <a:off x="9362371" y="2783623"/>
            <a:ext cx="870726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2100" b="1" dirty="0">
                <a:latin typeface="Calibri" panose="020F0502020204030204" pitchFamily="34" charset="0"/>
                <a:cs typeface="Calibri" panose="020F0502020204030204" pitchFamily="34" charset="0"/>
              </a:rPr>
              <a:t>Estáticas: </a:t>
            </a:r>
            <a:r>
              <a:rPr lang="es-MX" sz="2100" dirty="0">
                <a:latin typeface="Calibri" panose="020F0502020204030204" pitchFamily="34" charset="0"/>
                <a:cs typeface="Calibri" panose="020F0502020204030204" pitchFamily="34" charset="0"/>
              </a:rPr>
              <a:t>Son estáticas y se calculan una vez cuando se crea el modelo de datos o cuando se actualizan los datos.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PE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Contexto de filtro:</a:t>
            </a:r>
            <a:r>
              <a:rPr lang="es-MX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responden a los filtros aplicados en el informe; sus valores se calculan de manera independiente a las interacciones del usuario.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Expresiones DAX:</a:t>
            </a:r>
            <a:r>
              <a:rPr lang="es-MX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 definen utilizando expresiones DAX. 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Almacenadas en la tabla:</a:t>
            </a:r>
            <a:r>
              <a:rPr lang="es-MX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 almacena físicamente en la tabla de datos como una columna adicional con valores calculados.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Cálculos en el nivel de fila: </a:t>
            </a:r>
            <a:r>
              <a:rPr lang="es-MX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 valores basados en datos de una fila específica de una tabla, y estos cálculos se aplican a cada fila individualmente.</a:t>
            </a:r>
          </a:p>
          <a:p>
            <a:pPr marL="514350" indent="-514350" algn="just">
              <a:buFont typeface="Wingdings" panose="05000000000000000000" pitchFamily="2" charset="2"/>
              <a:buChar char="ü"/>
            </a:pPr>
            <a:r>
              <a:rPr lang="es-MX" sz="2100" b="1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Generación de atributos:</a:t>
            </a:r>
            <a:r>
              <a:rPr lang="es-MX" sz="2100" dirty="0">
                <a:solidFill>
                  <a:srgbClr val="0D0D0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Son útiles para crear nuevos atributos en el modelo de datos, así como para realizar cálculos basados en valores estáticos.</a:t>
            </a:r>
            <a:endParaRPr lang="es-MX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12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892E-317F-0081-0305-AF68309C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4AFC1EF6-2222-AB5B-E95E-2B1D20F41253}"/>
              </a:ext>
            </a:extLst>
          </p:cNvPr>
          <p:cNvSpPr/>
          <p:nvPr/>
        </p:nvSpPr>
        <p:spPr>
          <a:xfrm>
            <a:off x="1" y="242636"/>
            <a:ext cx="5097440" cy="96518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4800" b="1" dirty="0">
                <a:latin typeface="Calibri" panose="020F0502020204030204" pitchFamily="34" charset="0"/>
                <a:cs typeface="Calibri" panose="020F0502020204030204" pitchFamily="34" charset="0"/>
              </a:rPr>
              <a:t>Funciones DAX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0F63F53-87FB-1EB3-CD99-D5A0D4BF0E6F}"/>
              </a:ext>
            </a:extLst>
          </p:cNvPr>
          <p:cNvGraphicFramePr>
            <a:graphicFrameLocks noGrp="1"/>
          </p:cNvGraphicFramePr>
          <p:nvPr/>
        </p:nvGraphicFramePr>
        <p:xfrm>
          <a:off x="637750" y="2396236"/>
          <a:ext cx="17012501" cy="7096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3464">
                  <a:extLst>
                    <a:ext uri="{9D8B030D-6E8A-4147-A177-3AD203B41FA5}">
                      <a16:colId xmlns:a16="http://schemas.microsoft.com/office/drawing/2014/main" val="2328087077"/>
                    </a:ext>
                  </a:extLst>
                </a:gridCol>
                <a:gridCol w="12389037">
                  <a:extLst>
                    <a:ext uri="{9D8B030D-6E8A-4147-A177-3AD203B41FA5}">
                      <a16:colId xmlns:a16="http://schemas.microsoft.com/office/drawing/2014/main" val="4244383223"/>
                    </a:ext>
                  </a:extLst>
                </a:gridCol>
              </a:tblGrid>
              <a:tr h="616127">
                <a:tc>
                  <a:txBody>
                    <a:bodyPr/>
                    <a:lstStyle/>
                    <a:p>
                      <a:r>
                        <a:rPr lang="es-PE" sz="27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Tipo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r>
                        <a:rPr lang="es-PE" sz="27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Referencia</a:t>
                      </a:r>
                      <a:endParaRPr lang="es-PE" sz="2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114512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Agregación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  <a:hlinkClick r:id="rId2"/>
                        </a:rPr>
                        <a:t>https://learn.microsoft.com/es-es/dax/aggregation-functions-dax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5643520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Fecha y hora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  <a:hlinkClick r:id="rId3"/>
                        </a:rPr>
                        <a:t>https://learn.microsoft.com/es-es/dax/date-and-time-functions-dax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180007417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Filtro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  <a:hlinkClick r:id="rId4"/>
                        </a:rPr>
                        <a:t>https://learn.microsoft.com/es-es/dax/filter-functions-dax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14045338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Financieras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  <a:hlinkClick r:id="rId5"/>
                        </a:rPr>
                        <a:t>https://learn.microsoft.com/es-es/dax/financial-functions-dax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7518805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Información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  <a:hlinkClick r:id="rId6"/>
                        </a:rPr>
                        <a:t>https://learn.microsoft.com/es-es/dax/information-functions-dax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68227582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Lógicas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  <a:hlinkClick r:id="rId7"/>
                        </a:rPr>
                        <a:t>https://learn.microsoft.com/es-es/dax/logical-functions-dax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85657008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Matemática y trigonométrica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  <a:hlinkClick r:id="rId8"/>
                        </a:rPr>
                        <a:t>https://learn.microsoft.com/es-es/dax/math-and-trig-functions-dax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297360819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Otras funciones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hlinkClick r:id="rId9"/>
                        </a:rPr>
                        <a:t>https://learn.microsoft.com/es-es/dax/other-functions-dax</a:t>
                      </a:r>
                      <a:endParaRPr lang="es-MX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4102522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Primarias y secundarias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hlinkClick r:id="rId10"/>
                        </a:rPr>
                        <a:t>https://learn.microsoft.com/es-es/dax/parent-and-child-functions-dax</a:t>
                      </a:r>
                      <a:endParaRPr lang="es-MX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428635025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Relación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hlinkClick r:id="rId11"/>
                        </a:rPr>
                        <a:t>https://learn.microsoft.com/es-es/dax/relationship-functions-dax</a:t>
                      </a:r>
                      <a:endParaRPr lang="es-MX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372291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Estadísticas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hlinkClick r:id="rId12"/>
                        </a:rPr>
                        <a:t>https://learn.microsoft.com/es-es/dax/statistical-functions-dax</a:t>
                      </a:r>
                      <a:endParaRPr lang="es-MX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406209251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Manipulación de tablas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hlinkClick r:id="rId13"/>
                        </a:rPr>
                        <a:t>https://learn.microsoft.com/es-es/dax/table-manipulation-functions-dax</a:t>
                      </a:r>
                      <a:endParaRPr lang="es-MX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223995496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Texto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  <a:hlinkClick r:id="rId14"/>
                        </a:rPr>
                        <a:t>https://learn.microsoft.com/es-es/dax/text-functions-dax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277197744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P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Inteligencia de tiempos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hlinkClick r:id="rId15"/>
                        </a:rPr>
                        <a:t>https://learn.microsoft.com/es-es/dax/time-intelligence-functions-dax</a:t>
                      </a:r>
                      <a:endParaRPr lang="es-MX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50393346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Nuevas funciones</a:t>
                      </a:r>
                    </a:p>
                  </a:txBody>
                  <a:tcPr marL="14288" marR="14288" marT="14288" marB="0" anchor="ctr"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  <a:hlinkClick r:id="rId16"/>
                        </a:rPr>
                        <a:t>https://learn.microsoft.com/es-es/dax/new-dax-functions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0" anchor="ctr"/>
                </a:tc>
                <a:extLst>
                  <a:ext uri="{0D108BD9-81ED-4DB2-BD59-A6C34878D82A}">
                    <a16:rowId xmlns:a16="http://schemas.microsoft.com/office/drawing/2014/main" val="2449248188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A5382523-CF9C-1916-6D99-77E620ECB170}"/>
              </a:ext>
            </a:extLst>
          </p:cNvPr>
          <p:cNvSpPr txBox="1"/>
          <p:nvPr/>
        </p:nvSpPr>
        <p:spPr>
          <a:xfrm>
            <a:off x="2531634" y="1553485"/>
            <a:ext cx="110137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000" b="1" dirty="0">
                <a:latin typeface="Calibri" panose="020F0502020204030204" pitchFamily="34" charset="0"/>
                <a:cs typeface="Calibri" panose="020F0502020204030204" pitchFamily="34" charset="0"/>
                <a:hlinkClick r:id="rId17"/>
              </a:rPr>
              <a:t>https://learn.microsoft.com/es-es/dax/dax-function-reference</a:t>
            </a:r>
            <a:endParaRPr lang="es-PE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44C7C2-C75B-C17C-AD4F-4677AE4AEFA9}"/>
              </a:ext>
            </a:extLst>
          </p:cNvPr>
          <p:cNvSpPr txBox="1"/>
          <p:nvPr/>
        </p:nvSpPr>
        <p:spPr>
          <a:xfrm>
            <a:off x="637749" y="1553484"/>
            <a:ext cx="18405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000" b="1" dirty="0">
                <a:latin typeface="Calibri" panose="020F0502020204030204" pitchFamily="34" charset="0"/>
                <a:cs typeface="Calibri" panose="020F0502020204030204" pitchFamily="34" charset="0"/>
              </a:rPr>
              <a:t>Microsoft:</a:t>
            </a:r>
          </a:p>
        </p:txBody>
      </p:sp>
    </p:spTree>
    <p:extLst>
      <p:ext uri="{BB962C8B-B14F-4D97-AF65-F5344CB8AC3E}">
        <p14:creationId xmlns:p14="http://schemas.microsoft.com/office/powerpoint/2010/main" val="355584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CA06-81F2-F7E6-C662-0223251B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F59814-E748-38E1-6E3C-7C1F7966A751}"/>
              </a:ext>
            </a:extLst>
          </p:cNvPr>
          <p:cNvSpPr txBox="1"/>
          <p:nvPr/>
        </p:nvSpPr>
        <p:spPr>
          <a:xfrm>
            <a:off x="4824484" y="3237933"/>
            <a:ext cx="863903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100" b="1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60206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24F2880-9DA7-BB54-72E7-B53F0628F1E9}"/>
              </a:ext>
            </a:extLst>
          </p:cNvPr>
          <p:cNvSpPr txBox="1"/>
          <p:nvPr/>
        </p:nvSpPr>
        <p:spPr>
          <a:xfrm>
            <a:off x="11778018" y="4012004"/>
            <a:ext cx="650998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100" b="1" dirty="0">
                <a:latin typeface="Calibri" panose="020F0502020204030204" pitchFamily="34" charset="0"/>
                <a:cs typeface="Calibri" panose="020F0502020204030204" pitchFamily="34" charset="0"/>
              </a:rPr>
              <a:t>Tema: </a:t>
            </a:r>
            <a:r>
              <a:rPr lang="es-PE" sz="2100" dirty="0">
                <a:latin typeface="Calibri" panose="020F0502020204030204" pitchFamily="34" charset="0"/>
                <a:cs typeface="Calibri" panose="020F0502020204030204" pitchFamily="34" charset="0"/>
              </a:rPr>
              <a:t>Innovación</a:t>
            </a:r>
          </a:p>
          <a:p>
            <a:r>
              <a:rPr lang="es-PE" sz="2100" b="1" dirty="0">
                <a:latin typeface="Calibri" panose="020F0502020204030204" pitchFamily="34" charset="0"/>
                <a:cs typeface="Calibri" panose="020F0502020204030204" pitchFamily="34" charset="0"/>
              </a:rPr>
              <a:t>Fondo del lienzo: </a:t>
            </a:r>
            <a:r>
              <a:rPr lang="es-PE" sz="2100" dirty="0">
                <a:latin typeface="Calibri" panose="020F0502020204030204" pitchFamily="34" charset="0"/>
                <a:cs typeface="Calibri" panose="020F0502020204030204" pitchFamily="34" charset="0"/>
              </a:rPr>
              <a:t>#2C0F35</a:t>
            </a:r>
          </a:p>
          <a:p>
            <a:r>
              <a:rPr lang="es-PE" sz="2100" b="1" dirty="0">
                <a:latin typeface="Calibri" panose="020F0502020204030204" pitchFamily="34" charset="0"/>
                <a:cs typeface="Calibri" panose="020F0502020204030204" pitchFamily="34" charset="0"/>
              </a:rPr>
              <a:t>Fondo de objetos visuales: </a:t>
            </a:r>
            <a:r>
              <a:rPr lang="es-PE" sz="2100" dirty="0">
                <a:latin typeface="Calibri" panose="020F0502020204030204" pitchFamily="34" charset="0"/>
                <a:cs typeface="Calibri" panose="020F0502020204030204" pitchFamily="34" charset="0"/>
              </a:rPr>
              <a:t>#741D57</a:t>
            </a:r>
          </a:p>
          <a:p>
            <a:r>
              <a:rPr lang="es-PE" sz="2100" b="1" dirty="0">
                <a:latin typeface="Calibri" panose="020F0502020204030204" pitchFamily="34" charset="0"/>
                <a:cs typeface="Calibri" panose="020F0502020204030204" pitchFamily="34" charset="0"/>
              </a:rPr>
              <a:t>Objeto visual por tipo – </a:t>
            </a:r>
            <a:r>
              <a:rPr lang="es-PE" sz="2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Movie</a:t>
            </a:r>
            <a:r>
              <a:rPr lang="es-PE" sz="2100" b="1" dirty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s-PE" sz="2100" dirty="0">
                <a:latin typeface="Calibri" panose="020F0502020204030204" pitchFamily="34" charset="0"/>
                <a:cs typeface="Calibri" panose="020F0502020204030204" pitchFamily="34" charset="0"/>
              </a:rPr>
              <a:t>#FF719C</a:t>
            </a:r>
          </a:p>
          <a:p>
            <a:r>
              <a:rPr lang="es-PE" sz="2100" b="1" dirty="0">
                <a:latin typeface="Calibri" panose="020F0502020204030204" pitchFamily="34" charset="0"/>
                <a:cs typeface="Calibri" panose="020F0502020204030204" pitchFamily="34" charset="0"/>
              </a:rPr>
              <a:t>Objeto visual por tipo – TV show : </a:t>
            </a:r>
            <a:r>
              <a:rPr lang="es-PE" sz="2100" dirty="0">
                <a:latin typeface="Calibri" panose="020F0502020204030204" pitchFamily="34" charset="0"/>
                <a:cs typeface="Calibri" panose="020F0502020204030204" pitchFamily="34" charset="0"/>
              </a:rPr>
              <a:t>#FFBFCD</a:t>
            </a:r>
          </a:p>
          <a:p>
            <a:r>
              <a:rPr lang="es-PE" sz="2100" b="1" dirty="0">
                <a:latin typeface="Calibri" panose="020F0502020204030204" pitchFamily="34" charset="0"/>
                <a:cs typeface="Calibri" panose="020F0502020204030204" pitchFamily="34" charset="0"/>
              </a:rPr>
              <a:t>Objeto visual por clasificación: </a:t>
            </a:r>
            <a:r>
              <a:rPr lang="es-PE" sz="2100" dirty="0">
                <a:latin typeface="Calibri" panose="020F0502020204030204" pitchFamily="34" charset="0"/>
                <a:cs typeface="Calibri" panose="020F0502020204030204" pitchFamily="34" charset="0"/>
              </a:rPr>
              <a:t>#FFA7AE </a:t>
            </a:r>
          </a:p>
          <a:p>
            <a:r>
              <a:rPr lang="es-PE" sz="2100" b="1" dirty="0">
                <a:latin typeface="Calibri" panose="020F0502020204030204" pitchFamily="34" charset="0"/>
                <a:cs typeface="Calibri" panose="020F0502020204030204" pitchFamily="34" charset="0"/>
              </a:rPr>
              <a:t>Fondo de valor de </a:t>
            </a:r>
            <a:r>
              <a:rPr lang="es-PE" sz="2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segmentador</a:t>
            </a:r>
            <a:r>
              <a:rPr lang="es-PE" sz="21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s-PE" sz="2100" dirty="0">
                <a:latin typeface="Calibri" panose="020F0502020204030204" pitchFamily="34" charset="0"/>
                <a:cs typeface="Calibri" panose="020F0502020204030204" pitchFamily="34" charset="0"/>
              </a:rPr>
              <a:t>#4E1645</a:t>
            </a:r>
          </a:p>
        </p:txBody>
      </p:sp>
      <p:sp>
        <p:nvSpPr>
          <p:cNvPr id="5" name="Flecha: pentágono 4">
            <a:extLst>
              <a:ext uri="{FF2B5EF4-FFF2-40B4-BE49-F238E27FC236}">
                <a16:creationId xmlns:a16="http://schemas.microsoft.com/office/drawing/2014/main" id="{1703B31C-9107-43DF-A961-6FE50C971238}"/>
              </a:ext>
            </a:extLst>
          </p:cNvPr>
          <p:cNvSpPr/>
          <p:nvPr/>
        </p:nvSpPr>
        <p:spPr>
          <a:xfrm>
            <a:off x="0" y="883185"/>
            <a:ext cx="7881582" cy="1102212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5400" b="1" dirty="0">
                <a:latin typeface="Calibri" panose="020F0502020204030204" pitchFamily="34" charset="0"/>
                <a:cs typeface="Calibri" panose="020F0502020204030204" pitchFamily="34" charset="0"/>
              </a:rPr>
              <a:t>Ejemplo </a:t>
            </a:r>
            <a:r>
              <a:rPr lang="es-PE" sz="5400" b="1" dirty="0" err="1">
                <a:latin typeface="Calibri" panose="020F0502020204030204" pitchFamily="34" charset="0"/>
                <a:cs typeface="Calibri" panose="020F0502020204030204" pitchFamily="34" charset="0"/>
              </a:rPr>
              <a:t>Dashboard</a:t>
            </a:r>
            <a:endParaRPr lang="es-PE" sz="5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CD06BF-6BA9-EADC-0804-9849654EC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173" y="2413285"/>
            <a:ext cx="10529247" cy="585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32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40C5-7D7F-32A5-1A4F-71A761FC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EF75FA-F8EB-451D-93C9-E979DB297B73}"/>
              </a:ext>
            </a:extLst>
          </p:cNvPr>
          <p:cNvSpPr txBox="1"/>
          <p:nvPr/>
        </p:nvSpPr>
        <p:spPr>
          <a:xfrm>
            <a:off x="4824484" y="3758505"/>
            <a:ext cx="863903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100" b="1" dirty="0"/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2340255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032F2-3FF8-FE87-76FE-B1A9814E9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5574130D-0889-F8AC-564C-03FA9C6BDE1A}"/>
              </a:ext>
            </a:extLst>
          </p:cNvPr>
          <p:cNvSpPr/>
          <p:nvPr/>
        </p:nvSpPr>
        <p:spPr>
          <a:xfrm>
            <a:off x="0" y="733961"/>
            <a:ext cx="3337560" cy="1102212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5400" b="1" dirty="0">
                <a:latin typeface="Calibri" panose="020F0502020204030204" pitchFamily="34" charset="0"/>
                <a:cs typeface="Calibri" panose="020F0502020204030204" pitchFamily="34" charset="0"/>
              </a:rPr>
              <a:t>Extra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BDA000-1EBA-8B0B-D055-BE615DE223D5}"/>
              </a:ext>
            </a:extLst>
          </p:cNvPr>
          <p:cNvSpPr txBox="1"/>
          <p:nvPr/>
        </p:nvSpPr>
        <p:spPr>
          <a:xfrm>
            <a:off x="1518299" y="7482760"/>
            <a:ext cx="15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Wingdings" panose="05000000000000000000" pitchFamily="2" charset="2"/>
              <a:buChar char="ü"/>
            </a:pP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</a:rPr>
              <a:t>Descargar iconos: </a:t>
            </a: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https://www.flaticon.es/</a:t>
            </a:r>
            <a:endParaRPr lang="es-PE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3BB33F9-D886-93D6-CF36-430205AAABB4}"/>
              </a:ext>
            </a:extLst>
          </p:cNvPr>
          <p:cNvSpPr txBox="1"/>
          <p:nvPr/>
        </p:nvSpPr>
        <p:spPr>
          <a:xfrm>
            <a:off x="1518299" y="4467808"/>
            <a:ext cx="15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Wingdings" panose="05000000000000000000" pitchFamily="2" charset="2"/>
              <a:buChar char="ü"/>
            </a:pP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</a:rPr>
              <a:t>Fuentes de datos libres (IV): </a:t>
            </a:r>
            <a:r>
              <a:rPr lang="es-PE" sz="3600" b="1" dirty="0">
                <a:solidFill>
                  <a:srgbClr val="467886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</a:t>
            </a:r>
            <a:r>
              <a:rPr lang="es-PE" sz="3600" b="1" dirty="0">
                <a:solidFill>
                  <a:srgbClr val="5D767D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datosabiertos.gob</a:t>
            </a:r>
            <a:r>
              <a:rPr lang="es-PE" sz="3600" b="1" dirty="0">
                <a:solidFill>
                  <a:srgbClr val="467886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.pe/</a:t>
            </a:r>
            <a:endParaRPr lang="es-PE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5FBC15C-777C-FF5C-C521-ED39A0EF13D1}"/>
              </a:ext>
            </a:extLst>
          </p:cNvPr>
          <p:cNvSpPr txBox="1"/>
          <p:nvPr/>
        </p:nvSpPr>
        <p:spPr>
          <a:xfrm>
            <a:off x="1518299" y="2960332"/>
            <a:ext cx="15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Wingdings" panose="05000000000000000000" pitchFamily="2" charset="2"/>
              <a:buChar char="ü"/>
            </a:pP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</a:rPr>
              <a:t>Fuentes de datos libres (II): </a:t>
            </a: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https://www.kaggle.com/datasets</a:t>
            </a:r>
            <a:endParaRPr lang="es-PE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6EAED4D-4115-3D56-D8EE-9A5A56A68D64}"/>
              </a:ext>
            </a:extLst>
          </p:cNvPr>
          <p:cNvSpPr txBox="1"/>
          <p:nvPr/>
        </p:nvSpPr>
        <p:spPr>
          <a:xfrm>
            <a:off x="1518297" y="8236499"/>
            <a:ext cx="15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Wingdings" panose="05000000000000000000" pitchFamily="2" charset="2"/>
              <a:buChar char="ü"/>
            </a:pP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</a:rPr>
              <a:t>RGB colores: </a:t>
            </a: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https://www.rapidtables.com/web/color/RGB_Color.html</a:t>
            </a:r>
            <a:endParaRPr lang="es-PE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7295673-C9D9-A37E-38B6-8CAA7C7A3031}"/>
              </a:ext>
            </a:extLst>
          </p:cNvPr>
          <p:cNvSpPr txBox="1"/>
          <p:nvPr/>
        </p:nvSpPr>
        <p:spPr>
          <a:xfrm>
            <a:off x="1518297" y="3714070"/>
            <a:ext cx="15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Wingdings" panose="05000000000000000000" pitchFamily="2" charset="2"/>
              <a:buChar char="ü"/>
            </a:pP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</a:rPr>
              <a:t>Fuentes de datos libres (III): </a:t>
            </a:r>
            <a:r>
              <a:rPr lang="es-PE" sz="3600" b="1" dirty="0">
                <a:solidFill>
                  <a:srgbClr val="5D767D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https://data.world/datasets/free</a:t>
            </a:r>
            <a:r>
              <a:rPr lang="es-PE" sz="3600" b="1" dirty="0">
                <a:solidFill>
                  <a:srgbClr val="5D767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5357BE-4F01-140C-BDDB-522DA144623E}"/>
              </a:ext>
            </a:extLst>
          </p:cNvPr>
          <p:cNvSpPr txBox="1"/>
          <p:nvPr/>
        </p:nvSpPr>
        <p:spPr>
          <a:xfrm>
            <a:off x="1518297" y="2206594"/>
            <a:ext cx="15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Wingdings" panose="05000000000000000000" pitchFamily="2" charset="2"/>
              <a:buChar char="ü"/>
            </a:pP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</a:rPr>
              <a:t>Fuentes de datos libres (I): </a:t>
            </a: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https://dataverse.harvard.edu/</a:t>
            </a:r>
            <a:endParaRPr lang="es-PE" sz="3600" b="1" dirty="0">
              <a:solidFill>
                <a:srgbClr val="5D767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F552E7-7F5E-4848-C6DA-20FB6A699465}"/>
              </a:ext>
            </a:extLst>
          </p:cNvPr>
          <p:cNvSpPr txBox="1"/>
          <p:nvPr/>
        </p:nvSpPr>
        <p:spPr>
          <a:xfrm>
            <a:off x="1518299" y="5221546"/>
            <a:ext cx="15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Wingdings" panose="05000000000000000000" pitchFamily="2" charset="2"/>
              <a:buChar char="ü"/>
            </a:pP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</a:rPr>
              <a:t>Fuentes de datos libres (V): </a:t>
            </a: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https://datos.gob.es/es</a:t>
            </a:r>
            <a:endParaRPr lang="es-PE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D000AE-CAFD-8BD1-F6C8-4AB994B9838E}"/>
              </a:ext>
            </a:extLst>
          </p:cNvPr>
          <p:cNvSpPr txBox="1"/>
          <p:nvPr/>
        </p:nvSpPr>
        <p:spPr>
          <a:xfrm>
            <a:off x="1518299" y="5975284"/>
            <a:ext cx="15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Wingdings" panose="05000000000000000000" pitchFamily="2" charset="2"/>
              <a:buChar char="ü"/>
            </a:pP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</a:rPr>
              <a:t>Fuentes de datos libres (VI): </a:t>
            </a: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https://datos.gob.mx/</a:t>
            </a:r>
            <a:endParaRPr lang="es-PE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97F84ED-BB57-3599-12C2-E26CCB4557EB}"/>
              </a:ext>
            </a:extLst>
          </p:cNvPr>
          <p:cNvSpPr txBox="1"/>
          <p:nvPr/>
        </p:nvSpPr>
        <p:spPr>
          <a:xfrm>
            <a:off x="1518299" y="6729022"/>
            <a:ext cx="151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Wingdings" panose="05000000000000000000" pitchFamily="2" charset="2"/>
              <a:buChar char="ü"/>
            </a:pP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</a:rPr>
              <a:t>Fuentes de datos libres (VII): </a:t>
            </a:r>
            <a:r>
              <a:rPr lang="es-PE" sz="3600" b="1" dirty="0">
                <a:latin typeface="Calibri" panose="020F0502020204030204" pitchFamily="34" charset="0"/>
                <a:cs typeface="Calibri" panose="020F0502020204030204" pitchFamily="34" charset="0"/>
                <a:hlinkClick r:id="rId10"/>
              </a:rPr>
              <a:t>https://www.datos.gov.co/</a:t>
            </a:r>
            <a:endParaRPr lang="es-PE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19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9E4A7-B2AB-5B37-5FA9-0166764C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echa: pentágono 3">
            <a:extLst>
              <a:ext uri="{FF2B5EF4-FFF2-40B4-BE49-F238E27FC236}">
                <a16:creationId xmlns:a16="http://schemas.microsoft.com/office/drawing/2014/main" id="{A6CEE9EB-C6D1-1C32-23CD-24C154BFED5A}"/>
              </a:ext>
            </a:extLst>
          </p:cNvPr>
          <p:cNvSpPr/>
          <p:nvPr/>
        </p:nvSpPr>
        <p:spPr>
          <a:xfrm>
            <a:off x="0" y="733961"/>
            <a:ext cx="3337560" cy="1102212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5400" b="1" dirty="0">
                <a:latin typeface="Calibri" panose="020F0502020204030204" pitchFamily="34" charset="0"/>
                <a:cs typeface="Calibri" panose="020F0502020204030204" pitchFamily="34" charset="0"/>
              </a:rPr>
              <a:t>Extra</a:t>
            </a:r>
          </a:p>
        </p:txBody>
      </p:sp>
      <p:pic>
        <p:nvPicPr>
          <p:cNvPr id="1026" name="Picture 2" descr="Libro Storytelling con Datos. Ejemplos Practicos - 9788441542969 -  Nussbaumer Knaflic, Cole - Librerías Crisol | Librerías Crisol">
            <a:extLst>
              <a:ext uri="{FF2B5EF4-FFF2-40B4-BE49-F238E27FC236}">
                <a16:creationId xmlns:a16="http://schemas.microsoft.com/office/drawing/2014/main" id="{9C4CC780-24B8-3AAB-F165-BBCBE72FEE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5" b="10695"/>
          <a:stretch/>
        </p:blipFill>
        <p:spPr bwMode="auto">
          <a:xfrm>
            <a:off x="13815331" y="3191115"/>
            <a:ext cx="3561266" cy="4590000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D0D6369-61A3-E67F-8271-29898E34E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465" y="3191115"/>
            <a:ext cx="3563625" cy="4590000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FEBAF60-6740-0E60-A6AC-91ABF748F0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9569344" y="3191115"/>
            <a:ext cx="3566861" cy="4590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D7FF194-BD4F-AF4D-0882-924ED4146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6217" y="3180812"/>
            <a:ext cx="3564000" cy="4610609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2798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3397362-42D4-A628-BB43-742D87414590}"/>
              </a:ext>
            </a:extLst>
          </p:cNvPr>
          <p:cNvSpPr txBox="1"/>
          <p:nvPr/>
        </p:nvSpPr>
        <p:spPr>
          <a:xfrm>
            <a:off x="3125338" y="3758505"/>
            <a:ext cx="1203732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8100" b="1" dirty="0">
                <a:latin typeface="Calibri" panose="020F0502020204030204" pitchFamily="34" charset="0"/>
                <a:cs typeface="Calibri" panose="020F0502020204030204" pitchFamily="34" charset="0"/>
              </a:rPr>
              <a:t>Fondos de lienzo</a:t>
            </a:r>
          </a:p>
        </p:txBody>
      </p:sp>
    </p:spTree>
    <p:extLst>
      <p:ext uri="{BB962C8B-B14F-4D97-AF65-F5344CB8AC3E}">
        <p14:creationId xmlns:p14="http://schemas.microsoft.com/office/powerpoint/2010/main" val="642125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81303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97051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8709" y="368709"/>
            <a:ext cx="17580078" cy="95569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ectangle 4"/>
          <p:cNvSpPr/>
          <p:nvPr/>
        </p:nvSpPr>
        <p:spPr>
          <a:xfrm>
            <a:off x="840659" y="796414"/>
            <a:ext cx="16636181" cy="11798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6" name="Rectangle 5"/>
          <p:cNvSpPr/>
          <p:nvPr/>
        </p:nvSpPr>
        <p:spPr>
          <a:xfrm>
            <a:off x="840659" y="2249130"/>
            <a:ext cx="8067368" cy="34732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ectangle 6"/>
          <p:cNvSpPr/>
          <p:nvPr/>
        </p:nvSpPr>
        <p:spPr>
          <a:xfrm>
            <a:off x="9409472" y="2249130"/>
            <a:ext cx="8067368" cy="34732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ectangle 7"/>
          <p:cNvSpPr/>
          <p:nvPr/>
        </p:nvSpPr>
        <p:spPr>
          <a:xfrm>
            <a:off x="840658" y="6087398"/>
            <a:ext cx="8067368" cy="34732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ectangle 8"/>
          <p:cNvSpPr/>
          <p:nvPr/>
        </p:nvSpPr>
        <p:spPr>
          <a:xfrm>
            <a:off x="9409472" y="6087398"/>
            <a:ext cx="8067368" cy="34732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094767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8709" y="368709"/>
            <a:ext cx="17580078" cy="95569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ectangle 4"/>
          <p:cNvSpPr/>
          <p:nvPr/>
        </p:nvSpPr>
        <p:spPr>
          <a:xfrm>
            <a:off x="840659" y="796414"/>
            <a:ext cx="16636181" cy="11798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6" name="Rectangle 5"/>
          <p:cNvSpPr/>
          <p:nvPr/>
        </p:nvSpPr>
        <p:spPr>
          <a:xfrm>
            <a:off x="840659" y="2249129"/>
            <a:ext cx="8067368" cy="73115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ectangle 6"/>
          <p:cNvSpPr/>
          <p:nvPr/>
        </p:nvSpPr>
        <p:spPr>
          <a:xfrm>
            <a:off x="9409472" y="2249130"/>
            <a:ext cx="8067368" cy="73115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376613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7703" y="1150375"/>
            <a:ext cx="4461390" cy="174031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ectangle 4"/>
          <p:cNvSpPr/>
          <p:nvPr/>
        </p:nvSpPr>
        <p:spPr>
          <a:xfrm>
            <a:off x="427703" y="3193025"/>
            <a:ext cx="4461390" cy="174031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6" name="Rectangle 5"/>
          <p:cNvSpPr/>
          <p:nvPr/>
        </p:nvSpPr>
        <p:spPr>
          <a:xfrm>
            <a:off x="427702" y="5235675"/>
            <a:ext cx="4461392" cy="47194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ectangle 6"/>
          <p:cNvSpPr/>
          <p:nvPr/>
        </p:nvSpPr>
        <p:spPr>
          <a:xfrm>
            <a:off x="5191433" y="5235675"/>
            <a:ext cx="8096865" cy="47194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ectangle 7"/>
          <p:cNvSpPr/>
          <p:nvPr/>
        </p:nvSpPr>
        <p:spPr>
          <a:xfrm>
            <a:off x="13590638" y="5235675"/>
            <a:ext cx="4343402" cy="47194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ectangle 8"/>
          <p:cNvSpPr/>
          <p:nvPr/>
        </p:nvSpPr>
        <p:spPr>
          <a:xfrm>
            <a:off x="5191433" y="1150374"/>
            <a:ext cx="8096865" cy="37829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0" name="Rectangle 9"/>
          <p:cNvSpPr/>
          <p:nvPr/>
        </p:nvSpPr>
        <p:spPr>
          <a:xfrm>
            <a:off x="13590638" y="1150374"/>
            <a:ext cx="4343402" cy="378296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593438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41148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471950" y="516194"/>
            <a:ext cx="17358852" cy="9320981"/>
          </a:xfrm>
          <a:prstGeom prst="roundRect">
            <a:avLst>
              <a:gd name="adj" fmla="val 178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ounded Rectangle 6"/>
          <p:cNvSpPr/>
          <p:nvPr/>
        </p:nvSpPr>
        <p:spPr>
          <a:xfrm>
            <a:off x="907027" y="1504334"/>
            <a:ext cx="5213555" cy="3447437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ounded Rectangle 7"/>
          <p:cNvSpPr/>
          <p:nvPr/>
        </p:nvSpPr>
        <p:spPr>
          <a:xfrm>
            <a:off x="6522475" y="1504333"/>
            <a:ext cx="5213555" cy="3447437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ounded Rectangle 8"/>
          <p:cNvSpPr/>
          <p:nvPr/>
        </p:nvSpPr>
        <p:spPr>
          <a:xfrm>
            <a:off x="12137924" y="1504334"/>
            <a:ext cx="5213555" cy="3447437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0" name="Rounded Rectangle 9"/>
          <p:cNvSpPr/>
          <p:nvPr/>
        </p:nvSpPr>
        <p:spPr>
          <a:xfrm>
            <a:off x="907026" y="5265174"/>
            <a:ext cx="8001000" cy="3976533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1" name="Rounded Rectangle 10"/>
          <p:cNvSpPr/>
          <p:nvPr/>
        </p:nvSpPr>
        <p:spPr>
          <a:xfrm>
            <a:off x="9343103" y="5265174"/>
            <a:ext cx="8008376" cy="3976533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276986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41148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471950" y="516194"/>
            <a:ext cx="17358852" cy="9320981"/>
          </a:xfrm>
          <a:prstGeom prst="roundRect">
            <a:avLst>
              <a:gd name="adj" fmla="val 178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ounded Rectangle 6"/>
          <p:cNvSpPr/>
          <p:nvPr/>
        </p:nvSpPr>
        <p:spPr>
          <a:xfrm>
            <a:off x="907027" y="2344189"/>
            <a:ext cx="5213555" cy="1909313"/>
          </a:xfrm>
          <a:prstGeom prst="roundRect">
            <a:avLst>
              <a:gd name="adj" fmla="val 0"/>
            </a:avLst>
          </a:prstGeom>
          <a:solidFill>
            <a:srgbClr val="4780FF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ounded Rectangle 7"/>
          <p:cNvSpPr/>
          <p:nvPr/>
        </p:nvSpPr>
        <p:spPr>
          <a:xfrm>
            <a:off x="6522475" y="2344188"/>
            <a:ext cx="5213555" cy="1909311"/>
          </a:xfrm>
          <a:prstGeom prst="roundRect">
            <a:avLst>
              <a:gd name="adj" fmla="val 0"/>
            </a:avLst>
          </a:prstGeom>
          <a:solidFill>
            <a:srgbClr val="FF646C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ounded Rectangle 8"/>
          <p:cNvSpPr/>
          <p:nvPr/>
        </p:nvSpPr>
        <p:spPr>
          <a:xfrm>
            <a:off x="12137924" y="2344189"/>
            <a:ext cx="5213555" cy="1909313"/>
          </a:xfrm>
          <a:prstGeom prst="roundRect">
            <a:avLst>
              <a:gd name="adj" fmla="val 0"/>
            </a:avLst>
          </a:prstGeom>
          <a:solidFill>
            <a:srgbClr val="FBAD4B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0" name="Rounded Rectangle 9"/>
          <p:cNvSpPr/>
          <p:nvPr/>
        </p:nvSpPr>
        <p:spPr>
          <a:xfrm>
            <a:off x="907026" y="4630994"/>
            <a:ext cx="16444452" cy="46107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702822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" y="-1231491"/>
            <a:ext cx="23287703" cy="11518491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471950" y="516194"/>
            <a:ext cx="17358852" cy="9320981"/>
          </a:xfrm>
          <a:prstGeom prst="roundRect">
            <a:avLst>
              <a:gd name="adj" fmla="val 1787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ounded Rectangle 6"/>
          <p:cNvSpPr/>
          <p:nvPr/>
        </p:nvSpPr>
        <p:spPr>
          <a:xfrm>
            <a:off x="907027" y="2344189"/>
            <a:ext cx="5213555" cy="19093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780FF">
                  <a:shade val="30000"/>
                  <a:satMod val="115000"/>
                </a:srgbClr>
              </a:gs>
              <a:gs pos="50000">
                <a:srgbClr val="4780FF">
                  <a:shade val="67500"/>
                  <a:satMod val="115000"/>
                </a:srgbClr>
              </a:gs>
              <a:gs pos="100000">
                <a:srgbClr val="4780FF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ounded Rectangle 7"/>
          <p:cNvSpPr/>
          <p:nvPr/>
        </p:nvSpPr>
        <p:spPr>
          <a:xfrm>
            <a:off x="6522475" y="2344188"/>
            <a:ext cx="5213555" cy="190931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ounded Rectangle 8"/>
          <p:cNvSpPr/>
          <p:nvPr/>
        </p:nvSpPr>
        <p:spPr>
          <a:xfrm>
            <a:off x="12137924" y="2344189"/>
            <a:ext cx="5213555" cy="19093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0" name="Rounded Rectangle 9"/>
          <p:cNvSpPr/>
          <p:nvPr/>
        </p:nvSpPr>
        <p:spPr>
          <a:xfrm>
            <a:off x="907026" y="4630994"/>
            <a:ext cx="16444452" cy="46107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942645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" y="-1231491"/>
            <a:ext cx="23287703" cy="11518491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471950" y="1710813"/>
            <a:ext cx="17358852" cy="8126361"/>
          </a:xfrm>
          <a:prstGeom prst="roundRect">
            <a:avLst>
              <a:gd name="adj" fmla="val 1787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ounded Rectangle 6"/>
          <p:cNvSpPr/>
          <p:nvPr/>
        </p:nvSpPr>
        <p:spPr>
          <a:xfrm>
            <a:off x="907027" y="2344189"/>
            <a:ext cx="5213555" cy="19093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780FF">
                  <a:shade val="30000"/>
                  <a:satMod val="115000"/>
                </a:srgbClr>
              </a:gs>
              <a:gs pos="50000">
                <a:srgbClr val="4780FF">
                  <a:shade val="67500"/>
                  <a:satMod val="115000"/>
                </a:srgbClr>
              </a:gs>
              <a:gs pos="100000">
                <a:srgbClr val="4780FF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ounded Rectangle 7"/>
          <p:cNvSpPr/>
          <p:nvPr/>
        </p:nvSpPr>
        <p:spPr>
          <a:xfrm>
            <a:off x="6522475" y="2344188"/>
            <a:ext cx="5213555" cy="190931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ounded Rectangle 8"/>
          <p:cNvSpPr/>
          <p:nvPr/>
        </p:nvSpPr>
        <p:spPr>
          <a:xfrm>
            <a:off x="12137924" y="2344189"/>
            <a:ext cx="5213555" cy="19093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0" name="Rounded Rectangle 9"/>
          <p:cNvSpPr/>
          <p:nvPr/>
        </p:nvSpPr>
        <p:spPr>
          <a:xfrm>
            <a:off x="907026" y="4630994"/>
            <a:ext cx="16444452" cy="46107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676914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9644380">
            <a:off x="-5120442" y="-3035052"/>
            <a:ext cx="27156567" cy="17069448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471950" y="1710813"/>
            <a:ext cx="17358852" cy="8126361"/>
          </a:xfrm>
          <a:prstGeom prst="roundRect">
            <a:avLst>
              <a:gd name="adj" fmla="val 1787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ounded Rectangle 6"/>
          <p:cNvSpPr/>
          <p:nvPr/>
        </p:nvSpPr>
        <p:spPr>
          <a:xfrm>
            <a:off x="907027" y="2344189"/>
            <a:ext cx="5213555" cy="19093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780FF">
                  <a:shade val="30000"/>
                  <a:satMod val="115000"/>
                </a:srgbClr>
              </a:gs>
              <a:gs pos="50000">
                <a:srgbClr val="4780FF">
                  <a:shade val="67500"/>
                  <a:satMod val="115000"/>
                </a:srgbClr>
              </a:gs>
              <a:gs pos="100000">
                <a:srgbClr val="4780FF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ounded Rectangle 7"/>
          <p:cNvSpPr/>
          <p:nvPr/>
        </p:nvSpPr>
        <p:spPr>
          <a:xfrm>
            <a:off x="6522475" y="2344188"/>
            <a:ext cx="5213555" cy="190931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ounded Rectangle 8"/>
          <p:cNvSpPr/>
          <p:nvPr/>
        </p:nvSpPr>
        <p:spPr>
          <a:xfrm>
            <a:off x="12137924" y="2344189"/>
            <a:ext cx="5213555" cy="19093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0" name="Rounded Rectangle 9"/>
          <p:cNvSpPr/>
          <p:nvPr/>
        </p:nvSpPr>
        <p:spPr>
          <a:xfrm>
            <a:off x="907026" y="4630994"/>
            <a:ext cx="16444452" cy="46107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472428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9644380">
            <a:off x="-5120442" y="-3035052"/>
            <a:ext cx="27156567" cy="17069448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2" name="Right Triangle 11"/>
          <p:cNvSpPr/>
          <p:nvPr/>
        </p:nvSpPr>
        <p:spPr>
          <a:xfrm rot="10602810">
            <a:off x="-4198308" y="-6595311"/>
            <a:ext cx="27156567" cy="17069448"/>
          </a:xfrm>
          <a:prstGeom prst="rtTriangle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1" name="Right Triangle 10"/>
          <p:cNvSpPr/>
          <p:nvPr/>
        </p:nvSpPr>
        <p:spPr>
          <a:xfrm rot="10800000">
            <a:off x="-4426908" y="-6823911"/>
            <a:ext cx="27156567" cy="17069448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471950" y="1710813"/>
            <a:ext cx="17358852" cy="8126361"/>
          </a:xfrm>
          <a:prstGeom prst="roundRect">
            <a:avLst>
              <a:gd name="adj" fmla="val 1787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7" name="Rounded Rectangle 6"/>
          <p:cNvSpPr/>
          <p:nvPr/>
        </p:nvSpPr>
        <p:spPr>
          <a:xfrm>
            <a:off x="907027" y="2344189"/>
            <a:ext cx="5213555" cy="19093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780FF">
                  <a:shade val="30000"/>
                  <a:satMod val="115000"/>
                </a:srgbClr>
              </a:gs>
              <a:gs pos="50000">
                <a:srgbClr val="4780FF">
                  <a:shade val="67500"/>
                  <a:satMod val="115000"/>
                </a:srgbClr>
              </a:gs>
              <a:gs pos="100000">
                <a:srgbClr val="4780FF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ounded Rectangle 7"/>
          <p:cNvSpPr/>
          <p:nvPr/>
        </p:nvSpPr>
        <p:spPr>
          <a:xfrm>
            <a:off x="6522475" y="2344188"/>
            <a:ext cx="5213555" cy="190931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ounded Rectangle 8"/>
          <p:cNvSpPr/>
          <p:nvPr/>
        </p:nvSpPr>
        <p:spPr>
          <a:xfrm>
            <a:off x="12137924" y="2344189"/>
            <a:ext cx="5213555" cy="19093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0" name="Rounded Rectangle 9"/>
          <p:cNvSpPr/>
          <p:nvPr/>
        </p:nvSpPr>
        <p:spPr>
          <a:xfrm>
            <a:off x="907026" y="4630994"/>
            <a:ext cx="16444452" cy="46107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734860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3819833" cy="10287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3583858" y="516194"/>
            <a:ext cx="14350181" cy="9320981"/>
          </a:xfrm>
          <a:prstGeom prst="roundRect">
            <a:avLst>
              <a:gd name="adj" fmla="val 178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536020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3819833" cy="10287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3583858" y="516194"/>
            <a:ext cx="14350181" cy="9320981"/>
          </a:xfrm>
          <a:prstGeom prst="roundRect">
            <a:avLst>
              <a:gd name="adj" fmla="val 178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2" name="Rounded Rectangle 11"/>
          <p:cNvSpPr/>
          <p:nvPr/>
        </p:nvSpPr>
        <p:spPr>
          <a:xfrm>
            <a:off x="4021750" y="6692948"/>
            <a:ext cx="4200341" cy="2545236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3" name="Rounded Rectangle 12"/>
          <p:cNvSpPr/>
          <p:nvPr/>
        </p:nvSpPr>
        <p:spPr>
          <a:xfrm>
            <a:off x="8655023" y="6692948"/>
            <a:ext cx="4200341" cy="2545236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4" name="Rounded Rectangle 13"/>
          <p:cNvSpPr/>
          <p:nvPr/>
        </p:nvSpPr>
        <p:spPr>
          <a:xfrm>
            <a:off x="13288297" y="6692948"/>
            <a:ext cx="4200341" cy="2545236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5" name="Rounded Rectangle 14"/>
          <p:cNvSpPr/>
          <p:nvPr/>
        </p:nvSpPr>
        <p:spPr>
          <a:xfrm>
            <a:off x="4021749" y="3354650"/>
            <a:ext cx="6446067" cy="2935868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6" name="Rounded Rectangle 15"/>
          <p:cNvSpPr/>
          <p:nvPr/>
        </p:nvSpPr>
        <p:spPr>
          <a:xfrm>
            <a:off x="10910455" y="3354650"/>
            <a:ext cx="6578183" cy="2935868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508829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3819833" cy="10287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3583858" y="516194"/>
            <a:ext cx="14350181" cy="9320981"/>
          </a:xfrm>
          <a:prstGeom prst="roundRect">
            <a:avLst>
              <a:gd name="adj" fmla="val 1787"/>
            </a:avLst>
          </a:prstGeom>
          <a:gradFill>
            <a:gsLst>
              <a:gs pos="54000">
                <a:srgbClr val="F4F9F1"/>
              </a:gs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2" name="Rounded Rectangle 11"/>
          <p:cNvSpPr/>
          <p:nvPr/>
        </p:nvSpPr>
        <p:spPr>
          <a:xfrm>
            <a:off x="4021750" y="7713404"/>
            <a:ext cx="4200341" cy="1799304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3" name="Rounded Rectangle 12"/>
          <p:cNvSpPr/>
          <p:nvPr/>
        </p:nvSpPr>
        <p:spPr>
          <a:xfrm>
            <a:off x="8655023" y="7713404"/>
            <a:ext cx="4200341" cy="1799304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4" name="Rounded Rectangle 13"/>
          <p:cNvSpPr/>
          <p:nvPr/>
        </p:nvSpPr>
        <p:spPr>
          <a:xfrm>
            <a:off x="13288297" y="7713404"/>
            <a:ext cx="4200341" cy="1799304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5" name="Rounded Rectangle 14"/>
          <p:cNvSpPr/>
          <p:nvPr/>
        </p:nvSpPr>
        <p:spPr>
          <a:xfrm>
            <a:off x="4021749" y="5711983"/>
            <a:ext cx="6446067" cy="1676954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6" name="Rounded Rectangle 15"/>
          <p:cNvSpPr/>
          <p:nvPr/>
        </p:nvSpPr>
        <p:spPr>
          <a:xfrm>
            <a:off x="10910455" y="3632598"/>
            <a:ext cx="6578183" cy="3756339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0" name="Rounded Rectangle 9"/>
          <p:cNvSpPr/>
          <p:nvPr/>
        </p:nvSpPr>
        <p:spPr>
          <a:xfrm>
            <a:off x="4018986" y="3632599"/>
            <a:ext cx="6446067" cy="1676954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11" name="Rounded Rectangle 10"/>
          <p:cNvSpPr/>
          <p:nvPr/>
        </p:nvSpPr>
        <p:spPr>
          <a:xfrm>
            <a:off x="4018987" y="841424"/>
            <a:ext cx="13469651" cy="2462216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152239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87794" y="5722375"/>
            <a:ext cx="6740012" cy="3864077"/>
          </a:xfrm>
          <a:prstGeom prst="roundRect">
            <a:avLst/>
          </a:prstGeom>
          <a:gradFill>
            <a:gsLst>
              <a:gs pos="100000">
                <a:srgbClr val="4E2955"/>
              </a:gs>
              <a:gs pos="0">
                <a:srgbClr val="73418F"/>
              </a:gs>
            </a:gsLst>
            <a:lin ang="8100000" scaled="0"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9512711" y="5722373"/>
            <a:ext cx="6806381" cy="3864077"/>
          </a:xfrm>
          <a:prstGeom prst="roundRect">
            <a:avLst/>
          </a:prstGeom>
          <a:gradFill>
            <a:gsLst>
              <a:gs pos="100000">
                <a:srgbClr val="4E2955"/>
              </a:gs>
              <a:gs pos="0">
                <a:srgbClr val="73418F"/>
              </a:gs>
            </a:gsLst>
            <a:lin ang="2700000" scaled="0"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6" name="Rounded Rectangle 5"/>
          <p:cNvSpPr/>
          <p:nvPr/>
        </p:nvSpPr>
        <p:spPr>
          <a:xfrm>
            <a:off x="1887796" y="1312606"/>
            <a:ext cx="4232786" cy="3864077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27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ounded Rectangle 7"/>
          <p:cNvSpPr/>
          <p:nvPr/>
        </p:nvSpPr>
        <p:spPr>
          <a:xfrm>
            <a:off x="6987050" y="1312606"/>
            <a:ext cx="4232786" cy="3864077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2700000" scaled="1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ounded Rectangle 8"/>
          <p:cNvSpPr/>
          <p:nvPr/>
        </p:nvSpPr>
        <p:spPr>
          <a:xfrm>
            <a:off x="12086306" y="1312606"/>
            <a:ext cx="4232786" cy="3864077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81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272508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87794" y="1297859"/>
            <a:ext cx="6740012" cy="3864077"/>
          </a:xfrm>
          <a:prstGeom prst="roundRect">
            <a:avLst/>
          </a:prstGeom>
          <a:gradFill>
            <a:gsLst>
              <a:gs pos="0">
                <a:srgbClr val="4E2955"/>
              </a:gs>
              <a:gs pos="100000">
                <a:srgbClr val="73418F"/>
              </a:gs>
            </a:gsLst>
            <a:lin ang="2700000" scaled="0"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5" name="Rounded Rectangle 4"/>
          <p:cNvSpPr/>
          <p:nvPr/>
        </p:nvSpPr>
        <p:spPr>
          <a:xfrm>
            <a:off x="9512711" y="1297858"/>
            <a:ext cx="6806381" cy="3864077"/>
          </a:xfrm>
          <a:prstGeom prst="roundRect">
            <a:avLst/>
          </a:prstGeom>
          <a:gradFill>
            <a:gsLst>
              <a:gs pos="0">
                <a:srgbClr val="4E2955"/>
              </a:gs>
              <a:gs pos="100000">
                <a:srgbClr val="73418F"/>
              </a:gs>
            </a:gsLst>
            <a:lin ang="8100000" scaled="0"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6" name="Rounded Rectangle 5"/>
          <p:cNvSpPr/>
          <p:nvPr/>
        </p:nvSpPr>
        <p:spPr>
          <a:xfrm>
            <a:off x="1887794" y="5722373"/>
            <a:ext cx="4232786" cy="3864077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162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8" name="Rounded Rectangle 7"/>
          <p:cNvSpPr/>
          <p:nvPr/>
        </p:nvSpPr>
        <p:spPr>
          <a:xfrm>
            <a:off x="6987049" y="5722373"/>
            <a:ext cx="4232786" cy="3864077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162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9" name="Rounded Rectangle 8"/>
          <p:cNvSpPr/>
          <p:nvPr/>
        </p:nvSpPr>
        <p:spPr>
          <a:xfrm>
            <a:off x="12086305" y="5722373"/>
            <a:ext cx="4232786" cy="3864077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162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631390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71235"/>
            <a:ext cx="10564636" cy="8663002"/>
          </a:xfrm>
          <a:custGeom>
            <a:avLst/>
            <a:gdLst/>
            <a:ahLst/>
            <a:cxnLst/>
            <a:rect l="l" t="t" r="r" b="b"/>
            <a:pathLst>
              <a:path w="10564636" h="8663002" extrusionOk="0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avLst/>
            <a:gdLst/>
            <a:ahLst/>
            <a:cxnLst/>
            <a:rect l="l" t="t" r="r" b="b"/>
            <a:pathLst>
              <a:path w="16659109" h="10287000" extrusionOk="0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921</Words>
  <Application>Microsoft Office PowerPoint</Application>
  <PresentationFormat>Personalizado</PresentationFormat>
  <Paragraphs>90</Paragraphs>
  <Slides>30</Slides>
  <Notes>5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7" baseType="lpstr">
      <vt:lpstr>Calibri</vt:lpstr>
      <vt:lpstr>Wingdings</vt:lpstr>
      <vt:lpstr>Open Sans</vt:lpstr>
      <vt:lpstr>Arial</vt:lpstr>
      <vt:lpstr>Trebuchet MS</vt:lpstr>
      <vt:lpstr>Office Theme</vt:lpstr>
      <vt:lpstr>Microsoft Excel 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Oscar Eduardo Morales Girón</cp:lastModifiedBy>
  <cp:revision>19</cp:revision>
  <dcterms:created xsi:type="dcterms:W3CDTF">2006-08-16T00:00:00Z</dcterms:created>
  <dcterms:modified xsi:type="dcterms:W3CDTF">2026-05-10T07:29:15Z</dcterms:modified>
</cp:coreProperties>
</file>