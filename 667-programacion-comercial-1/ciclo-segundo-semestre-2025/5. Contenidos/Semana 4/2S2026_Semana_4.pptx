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y="10287000" cx="18288000"/>
  <p:notesSz cx="6858000" cy="9144000"/>
  <p:embeddedFontLst>
    <p:embeddedFont>
      <p:font typeface="Tahoma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+JSmZPAgGtg9s8eDdhuWYTPNx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EBB3F-79B4-47FB-9532-ED6D81196A60}">
  <a:tblStyle styleId="{77DEBB3F-79B4-47FB-9532-ED6D81196A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Tahoma-regular.fntdata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Tahoma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3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2.xml"/><Relationship Id="rId32" Type="http://schemas.openxmlformats.org/officeDocument/2006/relationships/font" Target="fonts/OpenSans-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customschemas.google.com/relationships/presentationmetadata" Target="meta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31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32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32f33a4f2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e32f33a4f2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32f33a4f2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e32f33a4f2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32f33a4f2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e32f33a4f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32f33a4f2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e32f33a4f2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5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b="0" i="0" sz="2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2836123" y="33819"/>
            <a:ext cx="11795758" cy="2471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1016000" y="3023539"/>
            <a:ext cx="9417050" cy="520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showMasterSp="0">
  <p:cSld name="1_Title Only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5"/>
          <p:cNvSpPr/>
          <p:nvPr/>
        </p:nvSpPr>
        <p:spPr>
          <a:xfrm>
            <a:off x="16494525" y="8207944"/>
            <a:ext cx="1793875" cy="2079625"/>
          </a:xfrm>
          <a:custGeom>
            <a:rect b="b" l="l" r="r" t="t"/>
            <a:pathLst>
              <a:path extrusionOk="0" h="2079625" w="179387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5"/>
          <p:cNvSpPr/>
          <p:nvPr/>
        </p:nvSpPr>
        <p:spPr>
          <a:xfrm>
            <a:off x="14935176" y="8933065"/>
            <a:ext cx="1557020" cy="1354455"/>
          </a:xfrm>
          <a:custGeom>
            <a:rect b="b" l="l" r="r" t="t"/>
            <a:pathLst>
              <a:path extrusionOk="0" h="1354454" w="1557019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5"/>
          <p:cNvSpPr/>
          <p:nvPr/>
        </p:nvSpPr>
        <p:spPr>
          <a:xfrm>
            <a:off x="15373045" y="9048949"/>
            <a:ext cx="2475865" cy="1238250"/>
          </a:xfrm>
          <a:custGeom>
            <a:rect b="b" l="l" r="r" t="t"/>
            <a:pathLst>
              <a:path extrusionOk="0" h="1238250" w="2475865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5"/>
          <p:cNvSpPr/>
          <p:nvPr/>
        </p:nvSpPr>
        <p:spPr>
          <a:xfrm>
            <a:off x="16038451" y="5185819"/>
            <a:ext cx="2249805" cy="4498340"/>
          </a:xfrm>
          <a:custGeom>
            <a:rect b="b" l="l" r="r" t="t"/>
            <a:pathLst>
              <a:path extrusionOk="0" h="4498340" w="2249805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5"/>
          <p:cNvSpPr/>
          <p:nvPr/>
        </p:nvSpPr>
        <p:spPr>
          <a:xfrm>
            <a:off x="18210427" y="7601107"/>
            <a:ext cx="78105" cy="155575"/>
          </a:xfrm>
          <a:custGeom>
            <a:rect b="b" l="l" r="r" t="t"/>
            <a:pathLst>
              <a:path extrusionOk="0" h="155575" w="7810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5"/>
          <p:cNvSpPr/>
          <p:nvPr/>
        </p:nvSpPr>
        <p:spPr>
          <a:xfrm>
            <a:off x="0" y="0"/>
            <a:ext cx="1185545" cy="1186180"/>
          </a:xfrm>
          <a:custGeom>
            <a:rect b="b" l="l" r="r" t="t"/>
            <a:pathLst>
              <a:path extrusionOk="0" h="1186180" w="1185545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5"/>
          <p:cNvSpPr/>
          <p:nvPr/>
        </p:nvSpPr>
        <p:spPr>
          <a:xfrm>
            <a:off x="2230847" y="0"/>
            <a:ext cx="805180" cy="402590"/>
          </a:xfrm>
          <a:custGeom>
            <a:rect b="b" l="l" r="r" t="t"/>
            <a:pathLst>
              <a:path extrusionOk="0" h="402590" w="80518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5"/>
          <p:cNvSpPr/>
          <p:nvPr/>
        </p:nvSpPr>
        <p:spPr>
          <a:xfrm>
            <a:off x="1450153" y="0"/>
            <a:ext cx="572135" cy="286385"/>
          </a:xfrm>
          <a:custGeom>
            <a:rect b="b" l="l" r="r" t="t"/>
            <a:pathLst>
              <a:path extrusionOk="0" h="286385" w="57213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5"/>
          <p:cNvSpPr/>
          <p:nvPr/>
        </p:nvSpPr>
        <p:spPr>
          <a:xfrm>
            <a:off x="0" y="0"/>
            <a:ext cx="2308860" cy="4187825"/>
          </a:xfrm>
          <a:custGeom>
            <a:rect b="b" l="l" r="r" t="t"/>
            <a:pathLst>
              <a:path extrusionOk="0" h="4187825" w="2308860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5"/>
          <p:cNvSpPr/>
          <p:nvPr/>
        </p:nvSpPr>
        <p:spPr>
          <a:xfrm>
            <a:off x="0" y="1520144"/>
            <a:ext cx="136525" cy="273050"/>
          </a:xfrm>
          <a:custGeom>
            <a:rect b="b" l="l" r="r" t="t"/>
            <a:pathLst>
              <a:path extrusionOk="0" h="273050" w="136525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5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2f33a4f2_0_717"/>
          <p:cNvSpPr/>
          <p:nvPr/>
        </p:nvSpPr>
        <p:spPr>
          <a:xfrm>
            <a:off x="0" y="10091400"/>
            <a:ext cx="18288000" cy="1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32f33a4f2_0_71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e32f33a4f2_0_71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94" name="Google Shape;94;g3e32f33a4f2_0_7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2f33a4f2_0_4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e32f33a4f2_0_4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32f33a4f2_0_4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32f33a4f2_0_4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5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32f33a4f2_0_4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b="0" i="0" sz="2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08" name="Google Shape;108;g3e32f33a4f2_0_4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e32f33a4f2_0_4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32f33a4f2_0_4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2f33a4f2_0_419"/>
          <p:cNvSpPr txBox="1"/>
          <p:nvPr>
            <p:ph type="title"/>
          </p:nvPr>
        </p:nvSpPr>
        <p:spPr>
          <a:xfrm>
            <a:off x="2836123" y="33819"/>
            <a:ext cx="11795700" cy="2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e32f33a4f2_0_419"/>
          <p:cNvSpPr txBox="1"/>
          <p:nvPr>
            <p:ph idx="1" type="body"/>
          </p:nvPr>
        </p:nvSpPr>
        <p:spPr>
          <a:xfrm>
            <a:off x="1016000" y="3023539"/>
            <a:ext cx="941700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32f33a4f2_0_419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32f33a4f2_0_419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e32f33a4f2_0_419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2f33a4f2_0_42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32f33a4f2_0_4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g3e32f33a4f2_0_4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e32f33a4f2_0_4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32f33a4f2_0_4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32f33a4f2_0_43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e32f33a4f2_0_43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g3e32f33a4f2_0_4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32f33a4f2_0_4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32f33a4f2_0_4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32f33a4f2_0_4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32f33a4f2_0_43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g3e32f33a4f2_0_43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3" name="Google Shape;133;g3e32f33a4f2_0_43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g3e32f33a4f2_0_43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5" name="Google Shape;135;g3e32f33a4f2_0_4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e32f33a4f2_0_4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e32f33a4f2_0_4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2f33a4f2_0_44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e32f33a4f2_0_44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g3e32f33a4f2_0_44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g3e32f33a4f2_0_44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e32f33a4f2_0_44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e32f33a4f2_0_44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32f33a4f2_0_45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32f33a4f2_0_4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g3e32f33a4f2_0_45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g3e32f33a4f2_0_45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e32f33a4f2_0_45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e32f33a4f2_0_4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2f33a4f2_0_4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e32f33a4f2_0_460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e32f33a4f2_0_4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e32f33a4f2_0_4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32f33a4f2_0_4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32f33a4f2_0_466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e32f33a4f2_0_466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e32f33a4f2_0_4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e32f33a4f2_0_4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32f33a4f2_0_4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showMasterSp="0">
  <p:cSld name="1_Title Only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e32f33a4f2_0_4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3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32f33a4f2_0_472"/>
          <p:cNvSpPr/>
          <p:nvPr/>
        </p:nvSpPr>
        <p:spPr>
          <a:xfrm>
            <a:off x="16494525" y="8207944"/>
            <a:ext cx="1793875" cy="2079625"/>
          </a:xfrm>
          <a:custGeom>
            <a:rect b="b" l="l" r="r" t="t"/>
            <a:pathLst>
              <a:path extrusionOk="0" h="2079625" w="179387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32f33a4f2_0_472"/>
          <p:cNvSpPr/>
          <p:nvPr/>
        </p:nvSpPr>
        <p:spPr>
          <a:xfrm>
            <a:off x="14935176" y="8933065"/>
            <a:ext cx="1557019" cy="1354454"/>
          </a:xfrm>
          <a:custGeom>
            <a:rect b="b" l="l" r="r" t="t"/>
            <a:pathLst>
              <a:path extrusionOk="0" h="1354454" w="1557019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32f33a4f2_0_472"/>
          <p:cNvSpPr/>
          <p:nvPr/>
        </p:nvSpPr>
        <p:spPr>
          <a:xfrm>
            <a:off x="15373045" y="9048949"/>
            <a:ext cx="2475865" cy="1238250"/>
          </a:xfrm>
          <a:custGeom>
            <a:rect b="b" l="l" r="r" t="t"/>
            <a:pathLst>
              <a:path extrusionOk="0" h="1238250" w="2475865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32f33a4f2_0_472"/>
          <p:cNvSpPr/>
          <p:nvPr/>
        </p:nvSpPr>
        <p:spPr>
          <a:xfrm>
            <a:off x="16038451" y="5185819"/>
            <a:ext cx="2249805" cy="4498340"/>
          </a:xfrm>
          <a:custGeom>
            <a:rect b="b" l="l" r="r" t="t"/>
            <a:pathLst>
              <a:path extrusionOk="0" h="4498340" w="2249805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32f33a4f2_0_472"/>
          <p:cNvSpPr/>
          <p:nvPr/>
        </p:nvSpPr>
        <p:spPr>
          <a:xfrm>
            <a:off x="18210427" y="7601107"/>
            <a:ext cx="78105" cy="155575"/>
          </a:xfrm>
          <a:custGeom>
            <a:rect b="b" l="l" r="r" t="t"/>
            <a:pathLst>
              <a:path extrusionOk="0" h="155575" w="7810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32f33a4f2_0_472"/>
          <p:cNvSpPr/>
          <p:nvPr/>
        </p:nvSpPr>
        <p:spPr>
          <a:xfrm>
            <a:off x="0" y="0"/>
            <a:ext cx="1185545" cy="1186180"/>
          </a:xfrm>
          <a:custGeom>
            <a:rect b="b" l="l" r="r" t="t"/>
            <a:pathLst>
              <a:path extrusionOk="0" h="1186180" w="1185545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32f33a4f2_0_472"/>
          <p:cNvSpPr/>
          <p:nvPr/>
        </p:nvSpPr>
        <p:spPr>
          <a:xfrm>
            <a:off x="2230847" y="0"/>
            <a:ext cx="805180" cy="402590"/>
          </a:xfrm>
          <a:custGeom>
            <a:rect b="b" l="l" r="r" t="t"/>
            <a:pathLst>
              <a:path extrusionOk="0" h="402590" w="80518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32f33a4f2_0_472"/>
          <p:cNvSpPr/>
          <p:nvPr/>
        </p:nvSpPr>
        <p:spPr>
          <a:xfrm>
            <a:off x="1450153" y="0"/>
            <a:ext cx="572135" cy="286385"/>
          </a:xfrm>
          <a:custGeom>
            <a:rect b="b" l="l" r="r" t="t"/>
            <a:pathLst>
              <a:path extrusionOk="0" h="286385" w="57213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32f33a4f2_0_472"/>
          <p:cNvSpPr/>
          <p:nvPr/>
        </p:nvSpPr>
        <p:spPr>
          <a:xfrm>
            <a:off x="0" y="0"/>
            <a:ext cx="2308860" cy="4187825"/>
          </a:xfrm>
          <a:custGeom>
            <a:rect b="b" l="l" r="r" t="t"/>
            <a:pathLst>
              <a:path extrusionOk="0" h="4187825" w="2308860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e32f33a4f2_0_472"/>
          <p:cNvSpPr/>
          <p:nvPr/>
        </p:nvSpPr>
        <p:spPr>
          <a:xfrm>
            <a:off x="0" y="1520144"/>
            <a:ext cx="136525" cy="273050"/>
          </a:xfrm>
          <a:custGeom>
            <a:rect b="b" l="l" r="r" t="t"/>
            <a:pathLst>
              <a:path extrusionOk="0" h="273050" w="136525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32f33a4f2_0_4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5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e32f33a4f2_0_47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e32f33a4f2_0_47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e32f33a4f2_0_4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f33a4f2_7_0)">
  <p:cSld name="Generated (g3e32f33a4f2_7_0)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2f33a4f2_0_5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e32f33a4f2_0_5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e32f33a4f2_0_5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32f33a4f2_0_5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e32f33a4f2_0_58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g3e32f33a4f2_0_5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e32f33a4f2_0_5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e32f33a4f2_0_5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32f33a4f2_0_5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e32f33a4f2_0_59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00" name="Google Shape;200;g3e32f33a4f2_0_593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01" name="Google Shape;201;g3e32f33a4f2_0_5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e32f33a4f2_0_5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32f33a4f2_0_5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32f33a4f2_0_6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e32f33a4f2_0_6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e32f33a4f2_0_6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e32f33a4f2_0_6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32f33a4f2_0_60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e32f33a4f2_0_60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2" name="Google Shape;212;g3e32f33a4f2_0_60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e32f33a4f2_0_60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e32f33a4f2_0_60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32f33a4f2_0_61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e32f33a4f2_0_61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8" name="Google Shape;218;g3e32f33a4f2_0_6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e32f33a4f2_0_6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e32f33a4f2_0_6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2f33a4f2_0_6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e32f33a4f2_0_61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4" name="Google Shape;224;g3e32f33a4f2_0_61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5" name="Google Shape;225;g3e32f33a4f2_0_61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6" name="Google Shape;226;g3e32f33a4f2_0_61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7" name="Google Shape;227;g3e32f33a4f2_0_6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e32f33a4f2_0_6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e32f33a4f2_0_6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32f33a4f2_0_62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e32f33a4f2_0_62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33" name="Google Shape;233;g3e32f33a4f2_0_62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4" name="Google Shape;234;g3e32f33a4f2_0_6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g3e32f33a4f2_0_6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e32f33a4f2_0_6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32f33a4f2_0_63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e32f33a4f2_0_6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g3e32f33a4f2_0_63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41" name="Google Shape;241;g3e32f33a4f2_0_6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g3e32f33a4f2_0_6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e32f33a4f2_0_6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32f33a4f2_0_6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e32f33a4f2_0_640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3e32f33a4f2_0_6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e32f33a4f2_0_6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e32f33a4f2_0_6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32f33a4f2_0_646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e32f33a4f2_0_646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g3e32f33a4f2_0_64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e32f33a4f2_0_64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g3e32f33a4f2_0_64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cacf2e8_7_0)">
  <p:cSld name="Generated (g3e32cacf2e8_7_0)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2f33a4f2_0_4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e32f33a4f2_0_40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e32f33a4f2_0_40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3e32f33a4f2_0_40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3e32f33a4f2_0_40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32f33a4f2_0_5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g3e32f33a4f2_0_5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g3e32f33a4f2_0_5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g3e32f33a4f2_0_5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g3e32f33a4f2_0_5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4.jp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28.jp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263" name="Google Shape;263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" name="Google Shape;264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"/>
          <p:cNvSpPr txBox="1"/>
          <p:nvPr/>
        </p:nvSpPr>
        <p:spPr>
          <a:xfrm>
            <a:off x="1780674" y="2935368"/>
            <a:ext cx="16050125" cy="379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 Base de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"/>
          <p:cNvSpPr txBox="1"/>
          <p:nvPr/>
        </p:nvSpPr>
        <p:spPr>
          <a:xfrm>
            <a:off x="3441032" y="4831079"/>
            <a:ext cx="10924673" cy="465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 a las 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"/>
          <p:cNvSpPr txBox="1"/>
          <p:nvPr/>
        </p:nvSpPr>
        <p:spPr>
          <a:xfrm>
            <a:off x="5216756" y="4249317"/>
            <a:ext cx="11390820" cy="453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USOS DE LAS BASES DE DATOS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ES MICROSOFT SQL SERVER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TABLAS Y TIPOS DE DATOS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DE MODELO ENTIDAD RELACIÓN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COMPONENTES MODELO ENTIDAD 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969" y="4249317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969" y="4873288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969" y="5671411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969" y="6584419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4926" y="7449301"/>
            <a:ext cx="355998" cy="40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"/>
          <p:cNvSpPr/>
          <p:nvPr/>
        </p:nvSpPr>
        <p:spPr>
          <a:xfrm>
            <a:off x="0" y="-16002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3767520" y="4141696"/>
            <a:ext cx="1353389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Modelar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entidades, atributos y relaciones con el método E-R.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"/>
          <p:cNvSpPr txBox="1"/>
          <p:nvPr>
            <p:ph type="title"/>
          </p:nvPr>
        </p:nvSpPr>
        <p:spPr>
          <a:xfrm>
            <a:off x="1599207" y="571566"/>
            <a:ext cx="15288420" cy="1125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41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SzPts val="4400"/>
              <a:buNone/>
            </a:pPr>
            <a:r>
              <a:rPr lang="en-US"/>
              <a:t>1.	COMPONENTES DEL MODELO ENTIDAD-RELACIÓN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2150096" y="2268439"/>
            <a:ext cx="13010515" cy="178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Entidades</a:t>
            </a:r>
            <a:endParaRPr b="1" i="0" sz="255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Las entidades representan objetos o cosas en el mundo real que son distinguibles entre sí. Cada entidad tiene un conjunto de propiedades, conocidas como atributos, que describen sus características.</a:t>
            </a:r>
            <a:endParaRPr b="0" i="0" sz="255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8" name="Google Shape;2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311" y="4433788"/>
            <a:ext cx="6649378" cy="14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"/>
          <p:cNvSpPr txBox="1"/>
          <p:nvPr/>
        </p:nvSpPr>
        <p:spPr>
          <a:xfrm>
            <a:off x="2022287" y="6237945"/>
            <a:ext cx="13138323" cy="20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Atributos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Los atributos definen o identifican las características de entidad (es el contenido de esta entidad). Cada entidad contiene distintos atributos, que dan información sobre esta entidad. Estos atributos pueden ser de distintos tipos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(numéricos, texto, fecha...).</a:t>
            </a:r>
            <a:endParaRPr/>
          </a:p>
        </p:txBody>
      </p:sp>
      <p:pic>
        <p:nvPicPr>
          <p:cNvPr id="300" name="Google Shape;3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97903" y="7462815"/>
            <a:ext cx="2851498" cy="262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type="title"/>
          </p:nvPr>
        </p:nvSpPr>
        <p:spPr>
          <a:xfrm>
            <a:off x="1450153" y="649027"/>
            <a:ext cx="15901926" cy="1125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41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SzPts val="4400"/>
              <a:buNone/>
            </a:pPr>
            <a:r>
              <a:rPr lang="en-US"/>
              <a:t>1.	COMPONENTES DEL MODELO ENTIDAD-RELACIÓN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2150096" y="2268439"/>
            <a:ext cx="13010515" cy="178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Relación</a:t>
            </a:r>
            <a:endParaRPr b="1" i="0" sz="255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 un vínculo que nos permite definir una dependencia entre varias entidades, es decir, nos permite exigir que varias entidades compartan ciertos atributos de forma indispensable. </a:t>
            </a:r>
            <a:endParaRPr b="0" i="0" sz="255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7" name="Google Shape;3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7101" y="4395683"/>
            <a:ext cx="5353797" cy="1495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747" y="3129930"/>
            <a:ext cx="7715249" cy="402909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7"/>
          <p:cNvSpPr txBox="1"/>
          <p:nvPr>
            <p:ph idx="4294967295" type="title"/>
          </p:nvPr>
        </p:nvSpPr>
        <p:spPr>
          <a:xfrm>
            <a:off x="0" y="738034"/>
            <a:ext cx="11795125" cy="835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3975">
            <a:spAutoFit/>
          </a:bodyPr>
          <a:lstStyle/>
          <a:p>
            <a:pPr indent="0" lvl="0" marL="2676525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2   . COMPOSICIÓN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025" y="2505799"/>
            <a:ext cx="11791949" cy="678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>
            <p:ph idx="4294967295" type="title"/>
          </p:nvPr>
        </p:nvSpPr>
        <p:spPr>
          <a:xfrm>
            <a:off x="1944938" y="500927"/>
            <a:ext cx="117951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3975">
            <a:spAutoFit/>
          </a:bodyPr>
          <a:lstStyle/>
          <a:p>
            <a:pPr indent="0" lvl="0" marL="2676525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2. COMPOSICIÓN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>
            <p:ph type="title"/>
          </p:nvPr>
        </p:nvSpPr>
        <p:spPr>
          <a:xfrm>
            <a:off x="2168284" y="322577"/>
            <a:ext cx="11795758" cy="9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3975">
            <a:spAutoFit/>
          </a:bodyPr>
          <a:lstStyle/>
          <a:p>
            <a:pPr indent="0" lvl="0" marL="2564765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3. CARDINALIDAD</a:t>
            </a:r>
            <a:endParaRPr/>
          </a:p>
        </p:txBody>
      </p:sp>
      <p:sp>
        <p:nvSpPr>
          <p:cNvPr id="325" name="Google Shape;325;p10"/>
          <p:cNvSpPr txBox="1"/>
          <p:nvPr>
            <p:ph idx="1" type="body"/>
          </p:nvPr>
        </p:nvSpPr>
        <p:spPr>
          <a:xfrm>
            <a:off x="2168284" y="2372901"/>
            <a:ext cx="13832205" cy="927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" lvl="0" marL="12700" marR="5080" rtl="0" algn="l">
              <a:lnSpc>
                <a:spcPct val="115700"/>
              </a:lnSpc>
              <a:spcBef>
                <a:spcPts val="95"/>
              </a:spcBef>
              <a:spcAft>
                <a:spcPts val="0"/>
              </a:spcAft>
              <a:buSzPts val="32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 cardinalidad define el número de instancias de una entidad que pueden estar asociadas con una instancia de otra entidad en una relación.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2168284" y="3771900"/>
            <a:ext cx="1368131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Uno a uno: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Una entidad se relaciona únicamente con otra y viceversa. Por ejemplo, si tuviésemos una entidad con distintos chasis y otra con matrículas deberíamos de determinar que cada chasis solo puede tener una matrícula (y cada matrícula un chasis, ni más en ningún caso). </a:t>
            </a:r>
            <a:endParaRPr/>
          </a:p>
        </p:txBody>
      </p:sp>
      <p:pic>
        <p:nvPicPr>
          <p:cNvPr id="327" name="Google Shape;3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6057900"/>
            <a:ext cx="6639852" cy="12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type="title"/>
          </p:nvPr>
        </p:nvSpPr>
        <p:spPr>
          <a:xfrm>
            <a:off x="2517419" y="370042"/>
            <a:ext cx="9172777" cy="9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3975">
            <a:spAutoFit/>
          </a:bodyPr>
          <a:lstStyle/>
          <a:p>
            <a:pPr indent="0" lvl="0" marL="2564765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3. CARDINALIDAD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2303342" y="1686431"/>
            <a:ext cx="13681316" cy="8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Uno a varios o varios a uno: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determina que un registro de una entidad puede estar relacionado con varios de otra entidad, pero en esta entidad existir solo una vez. </a:t>
            </a:r>
            <a:endParaRPr/>
          </a:p>
        </p:txBody>
      </p:sp>
      <p:pic>
        <p:nvPicPr>
          <p:cNvPr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542634"/>
            <a:ext cx="5334000" cy="153381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 txBox="1"/>
          <p:nvPr/>
        </p:nvSpPr>
        <p:spPr>
          <a:xfrm>
            <a:off x="2206811" y="5601761"/>
            <a:ext cx="1233936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Varios a varios: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determina que una entidad puede relacionarse con otra con ninguno o varios registros y viceversa. Por ejemplo, en el taller un coche puede ser reparado por varios mecánicos y esos mecánicos pueden reparar varios coches distintos. </a:t>
            </a:r>
            <a:endParaRPr/>
          </a:p>
        </p:txBody>
      </p:sp>
      <p:pic>
        <p:nvPicPr>
          <p:cNvPr id="336" name="Google Shape;3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8860" y="7542221"/>
            <a:ext cx="6535062" cy="1390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finiendo relaciones de uno a muchos | Ingeniería de Sistemas" id="337" name="Google Shape;337;p29"/>
          <p:cNvPicPr preferRelativeResize="0"/>
          <p:nvPr/>
        </p:nvPicPr>
        <p:blipFill rotWithShape="1">
          <a:blip r:embed="rId5">
            <a:alphaModFix/>
          </a:blip>
          <a:srcRect b="21916" l="0" r="0" t="0"/>
          <a:stretch/>
        </p:blipFill>
        <p:spPr>
          <a:xfrm>
            <a:off x="9525000" y="2572379"/>
            <a:ext cx="3886200" cy="141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6056" y="4201889"/>
            <a:ext cx="3815731" cy="138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81370" y="7441958"/>
            <a:ext cx="4805320" cy="1606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>
            <p:ph type="title"/>
          </p:nvPr>
        </p:nvSpPr>
        <p:spPr>
          <a:xfrm>
            <a:off x="3577287" y="507987"/>
            <a:ext cx="11795758" cy="9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3975">
            <a:spAutoFit/>
          </a:bodyPr>
          <a:lstStyle/>
          <a:p>
            <a:pPr indent="0" lvl="0" marL="334137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4. LLAVES</a:t>
            </a:r>
            <a:endParaRPr/>
          </a:p>
        </p:txBody>
      </p:sp>
      <p:sp>
        <p:nvSpPr>
          <p:cNvPr id="345" name="Google Shape;345;p30"/>
          <p:cNvSpPr txBox="1"/>
          <p:nvPr>
            <p:ph idx="1" type="body"/>
          </p:nvPr>
        </p:nvSpPr>
        <p:spPr>
          <a:xfrm>
            <a:off x="1540840" y="1824974"/>
            <a:ext cx="13832205" cy="3461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20320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Llave Primaria (Primary Key)</a:t>
            </a:r>
            <a:endParaRPr/>
          </a:p>
          <a:p>
            <a:pPr indent="-203200" lvl="0" marL="0" marR="5080" rtl="0" algn="l">
              <a:lnSpc>
                <a:spcPct val="1157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Un atributo o conjunto de atributos que identifica de manera única una instancia de una entidad.</a:t>
            </a:r>
            <a:endParaRPr/>
          </a:p>
          <a:p>
            <a:pPr indent="0" lvl="0" marL="0" marR="5080" rtl="0" algn="l">
              <a:lnSpc>
                <a:spcPct val="1157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03200" lvl="0" marL="0" marR="5080" rtl="0" algn="l">
              <a:lnSpc>
                <a:spcPct val="1157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Llave Foránea (Foreign Key)</a:t>
            </a:r>
            <a:endParaRPr/>
          </a:p>
          <a:p>
            <a:pPr indent="-203200" lvl="0" marL="0" marR="5080" rtl="0" algn="l">
              <a:lnSpc>
                <a:spcPct val="1157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Un atributo o conjunto de atributos en una entidad que hace referencia a la llave primaria de otra entidad, estableciendo una relación entre ellas.</a:t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8991600" y="4991100"/>
            <a:ext cx="38862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1239" y="5448300"/>
            <a:ext cx="5715798" cy="3686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/>
        </p:nvSpPr>
        <p:spPr>
          <a:xfrm>
            <a:off x="1724470" y="2202804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2217530" y="4809452"/>
            <a:ext cx="14346000" cy="2671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Relaciones entre tablas</a:t>
            </a:r>
            <a:endParaRPr/>
          </a:p>
          <a:p>
            <a:pPr indent="0" lvl="0" marL="76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Una relación entre tablas es el vínculo lógico que conecta dos o más tablas, generalmente mediante claves (primarias y foráneas), para representar cómo se asocian sus registros y garantizar la coherencia e integridad de los datos.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 txBox="1"/>
          <p:nvPr/>
        </p:nvSpPr>
        <p:spPr>
          <a:xfrm>
            <a:off x="1724470" y="2202804"/>
            <a:ext cx="13503300" cy="239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Trebuchet MS"/>
                <a:ea typeface="Trebuchet MS"/>
                <a:cs typeface="Trebuchet MS"/>
                <a:sym typeface="Trebuchet MS"/>
              </a:rPr>
              <a:t>NOMBRE DEL VALOR Y/O ACTITUD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2217530" y="4809452"/>
            <a:ext cx="1434600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6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Integridad</a:t>
            </a:r>
            <a:endParaRPr/>
          </a:p>
          <a:p>
            <a:pPr indent="0" lvl="0" marL="76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Asegurar que los datos almacenados sean completos, veraces y consistentes gracias a las relaciones implementadas correctamente.</a:t>
            </a:r>
            <a:endParaRPr/>
          </a:p>
          <a:p>
            <a:pPr indent="0" lvl="0" marL="76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3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32f33a4f2_0_571"/>
          <p:cNvSpPr txBox="1"/>
          <p:nvPr>
            <p:ph idx="4294967295" type="title"/>
          </p:nvPr>
        </p:nvSpPr>
        <p:spPr>
          <a:xfrm>
            <a:off x="2073719" y="898279"/>
            <a:ext cx="14140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54727" lvl="0" marL="5027930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/>
              <a:t>Ejemplo Práctico</a:t>
            </a:r>
            <a:endParaRPr/>
          </a:p>
        </p:txBody>
      </p:sp>
      <p:sp>
        <p:nvSpPr>
          <p:cNvPr id="365" name="Google Shape;365;g3e32f33a4f2_0_571"/>
          <p:cNvSpPr txBox="1"/>
          <p:nvPr/>
        </p:nvSpPr>
        <p:spPr>
          <a:xfrm>
            <a:off x="3263202" y="2444525"/>
            <a:ext cx="11098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746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A Continuación se realizará un Ejemplo práctico</a:t>
            </a:r>
            <a:endParaRPr/>
          </a:p>
        </p:txBody>
      </p:sp>
      <p:pic>
        <p:nvPicPr>
          <p:cNvPr id="366" name="Google Shape;366;g3e32f33a4f2_0_571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4000" y="475360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e32f33a4f2_0_65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Google Shape;377;g3e32f33a4f2_0_653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{77DEBB3F-79B4-47FB-9532-ED6D81196A60}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Ejercicio Demostrativo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Si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378" name="Google Shape;378;g3e32f33a4f2_0_653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" name="Google Shape;379;g3e32f33a4f2_0_653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{77DEBB3F-79B4-47FB-9532-ED6D81196A60}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30 min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380" name="Google Shape;380;g3e32f33a4f2_0_653"/>
          <p:cNvSpPr txBox="1"/>
          <p:nvPr/>
        </p:nvSpPr>
        <p:spPr>
          <a:xfrm>
            <a:off x="6261600" y="4955800"/>
            <a:ext cx="61674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e32f33a4f2_0_653"/>
          <p:cNvSpPr txBox="1"/>
          <p:nvPr/>
        </p:nvSpPr>
        <p:spPr>
          <a:xfrm>
            <a:off x="12506300" y="4955800"/>
            <a:ext cx="57648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32f33a4f2_0_653"/>
          <p:cNvSpPr txBox="1"/>
          <p:nvPr/>
        </p:nvSpPr>
        <p:spPr>
          <a:xfrm>
            <a:off x="16900" y="4955800"/>
            <a:ext cx="61674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32f33a4f2_0_107"/>
          <p:cNvSpPr/>
          <p:nvPr/>
        </p:nvSpPr>
        <p:spPr>
          <a:xfrm>
            <a:off x="952500" y="762000"/>
            <a:ext cx="1143000" cy="1143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32f33a4f2_0_107"/>
          <p:cNvSpPr txBox="1"/>
          <p:nvPr/>
        </p:nvSpPr>
        <p:spPr>
          <a:xfrm>
            <a:off x="952500" y="1047750"/>
            <a:ext cx="1638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B2A6B"/>
                </a:solidFill>
                <a:latin typeface="Open Sans"/>
                <a:ea typeface="Open Sans"/>
                <a:cs typeface="Open Sans"/>
                <a:sym typeface="Open Sans"/>
              </a:rPr>
              <a:t>REFERENCIAS</a:t>
            </a:r>
            <a:endParaRPr b="1" sz="5400">
              <a:solidFill>
                <a:srgbClr val="1B2A6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9" name="Google Shape;389;g3e32f33a4f2_0_107"/>
          <p:cNvGrpSpPr/>
          <p:nvPr/>
        </p:nvGrpSpPr>
        <p:grpSpPr>
          <a:xfrm>
            <a:off x="952500" y="2857500"/>
            <a:ext cx="15430500" cy="5715000"/>
            <a:chOff x="952500" y="2857500"/>
            <a:chExt cx="15430500" cy="5715000"/>
          </a:xfrm>
        </p:grpSpPr>
        <p:sp>
          <p:nvSpPr>
            <p:cNvPr id="390" name="Google Shape;390;g3e32f33a4f2_0_107"/>
            <p:cNvSpPr/>
            <p:nvPr/>
          </p:nvSpPr>
          <p:spPr>
            <a:xfrm>
              <a:off x="952500" y="2857500"/>
              <a:ext cx="76200" cy="5715000"/>
            </a:xfrm>
            <a:prstGeom prst="rect">
              <a:avLst/>
            </a:prstGeom>
            <a:solidFill>
              <a:srgbClr val="1B2A6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" name="Google Shape;391;g3e32f33a4f2_0_107"/>
            <p:cNvGrpSpPr/>
            <p:nvPr/>
          </p:nvGrpSpPr>
          <p:grpSpPr>
            <a:xfrm>
              <a:off x="1333500" y="2857500"/>
              <a:ext cx="15049500" cy="952500"/>
              <a:chOff x="0" y="0"/>
              <a:chExt cx="15049500" cy="952500"/>
            </a:xfrm>
          </p:grpSpPr>
          <p:sp>
            <p:nvSpPr>
              <p:cNvPr id="392" name="Google Shape;392;g3e32f33a4f2_0_107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E87722"/>
                    </a:solidFill>
                  </a:rPr>
                  <a:t>1.</a:t>
                </a:r>
                <a:endParaRPr b="1" sz="2800">
                  <a:solidFill>
                    <a:srgbClr val="E87722"/>
                  </a:solidFill>
                </a:endParaRPr>
              </a:p>
            </p:txBody>
          </p:sp>
          <p:sp>
            <p:nvSpPr>
              <p:cNvPr id="393" name="Google Shape;393;g3e32f33a4f2_0_107"/>
              <p:cNvSpPr txBox="1"/>
              <p:nvPr/>
            </p:nvSpPr>
            <p:spPr>
              <a:xfrm>
                <a:off x="762000" y="0"/>
                <a:ext cx="1428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Material de clase Semana 4 — Programación Comercial 1, 2S2026, ECYS-FIUSAC-USAC</a:t>
                </a:r>
                <a:endParaRPr b="0" sz="24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94" name="Google Shape;394;g3e32f33a4f2_0_107"/>
            <p:cNvGrpSpPr/>
            <p:nvPr/>
          </p:nvGrpSpPr>
          <p:grpSpPr>
            <a:xfrm>
              <a:off x="1333500" y="4191000"/>
              <a:ext cx="15049500" cy="952500"/>
              <a:chOff x="0" y="0"/>
              <a:chExt cx="15049500" cy="952500"/>
            </a:xfrm>
          </p:grpSpPr>
          <p:sp>
            <p:nvSpPr>
              <p:cNvPr id="395" name="Google Shape;395;g3e32f33a4f2_0_107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E87722"/>
                    </a:solidFill>
                  </a:rPr>
                  <a:t>2.</a:t>
                </a:r>
                <a:endParaRPr b="1" sz="2800">
                  <a:solidFill>
                    <a:srgbClr val="E87722"/>
                  </a:solidFill>
                </a:endParaRPr>
              </a:p>
            </p:txBody>
          </p:sp>
          <p:sp>
            <p:nvSpPr>
              <p:cNvPr id="396" name="Google Shape;396;g3e32f33a4f2_0_107"/>
              <p:cNvSpPr txBox="1"/>
              <p:nvPr/>
            </p:nvSpPr>
            <p:spPr>
              <a:xfrm>
                <a:off x="762000" y="0"/>
                <a:ext cx="1428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Chen, P. (1976). The Entity-Relationship Model — Toward a Unified View of Data. ACM Transactions on Database Systems.</a:t>
                </a:r>
                <a:endParaRPr b="0" sz="24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97" name="Google Shape;397;g3e32f33a4f2_0_107"/>
            <p:cNvGrpSpPr/>
            <p:nvPr/>
          </p:nvGrpSpPr>
          <p:grpSpPr>
            <a:xfrm>
              <a:off x="1333500" y="5524500"/>
              <a:ext cx="15049500" cy="952500"/>
              <a:chOff x="0" y="0"/>
              <a:chExt cx="15049500" cy="952500"/>
            </a:xfrm>
          </p:grpSpPr>
          <p:sp>
            <p:nvSpPr>
              <p:cNvPr id="398" name="Google Shape;398;g3e32f33a4f2_0_107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E87722"/>
                    </a:solidFill>
                  </a:rPr>
                  <a:t>3.</a:t>
                </a:r>
                <a:endParaRPr b="1" sz="2800">
                  <a:solidFill>
                    <a:srgbClr val="E87722"/>
                  </a:solidFill>
                </a:endParaRPr>
              </a:p>
            </p:txBody>
          </p:sp>
          <p:sp>
            <p:nvSpPr>
              <p:cNvPr id="399" name="Google Shape;399;g3e32f33a4f2_0_107"/>
              <p:cNvSpPr txBox="1"/>
              <p:nvPr/>
            </p:nvSpPr>
            <p:spPr>
              <a:xfrm>
                <a:off x="762000" y="0"/>
                <a:ext cx="1428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Documentación oficial Microsoft SQL Server: </a:t>
                </a:r>
                <a:r>
                  <a:rPr b="0" lang="en-US" sz="2400">
                    <a:solidFill>
                      <a:srgbClr val="1B2A6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https://learn.microsoft.com/es-es/sql/sql-server</a:t>
                </a:r>
                <a:endParaRPr b="0" sz="24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00" name="Google Shape;400;g3e32f33a4f2_0_107"/>
            <p:cNvGrpSpPr/>
            <p:nvPr/>
          </p:nvGrpSpPr>
          <p:grpSpPr>
            <a:xfrm>
              <a:off x="1333500" y="6858000"/>
              <a:ext cx="15049500" cy="952500"/>
              <a:chOff x="0" y="0"/>
              <a:chExt cx="15049500" cy="952500"/>
            </a:xfrm>
          </p:grpSpPr>
          <p:sp>
            <p:nvSpPr>
              <p:cNvPr id="401" name="Google Shape;401;g3e32f33a4f2_0_107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E87722"/>
                    </a:solidFill>
                  </a:rPr>
                  <a:t>4.</a:t>
                </a:r>
                <a:endParaRPr b="1" sz="2800">
                  <a:solidFill>
                    <a:srgbClr val="E87722"/>
                  </a:solidFill>
                </a:endParaRPr>
              </a:p>
            </p:txBody>
          </p:sp>
          <p:sp>
            <p:nvSpPr>
              <p:cNvPr id="402" name="Google Shape;402;g3e32f33a4f2_0_107"/>
              <p:cNvSpPr txBox="1"/>
              <p:nvPr/>
            </p:nvSpPr>
            <p:spPr>
              <a:xfrm>
                <a:off x="762000" y="0"/>
                <a:ext cx="1428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33333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Cardinalidad en bases de datos — GeeksforGeeks: </a:t>
                </a:r>
                <a:r>
                  <a:rPr b="0" lang="en-US" sz="2400">
                    <a:solidFill>
                      <a:srgbClr val="1B2A6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https://www.geeksforgeeks.org/cardinality-in-dbms</a:t>
                </a:r>
                <a:endParaRPr b="0" sz="24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403" name="Google Shape;403;g3e32f33a4f2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0" y="0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e32f33a4f2_0_107"/>
          <p:cNvPicPr preferRelativeResize="0"/>
          <p:nvPr/>
        </p:nvPicPr>
        <p:blipFill rotWithShape="1">
          <a:blip r:embed="rId5">
            <a:alphaModFix/>
          </a:blip>
          <a:srcRect b="14044" l="0" r="0" t="14044"/>
          <a:stretch/>
        </p:blipFill>
        <p:spPr>
          <a:xfrm>
            <a:off x="14478000" y="9048750"/>
            <a:ext cx="2857500" cy="5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32f33a4f2_0_309"/>
          <p:cNvSpPr/>
          <p:nvPr/>
        </p:nvSpPr>
        <p:spPr>
          <a:xfrm>
            <a:off x="952500" y="762000"/>
            <a:ext cx="1143000" cy="1143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32f33a4f2_0_309"/>
          <p:cNvSpPr txBox="1"/>
          <p:nvPr/>
        </p:nvSpPr>
        <p:spPr>
          <a:xfrm>
            <a:off x="952500" y="1047750"/>
            <a:ext cx="1638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B2A6B"/>
                </a:solidFill>
                <a:latin typeface="Open Sans"/>
                <a:ea typeface="Open Sans"/>
                <a:cs typeface="Open Sans"/>
                <a:sym typeface="Open Sans"/>
              </a:rPr>
              <a:t>RECURSOS</a:t>
            </a:r>
            <a:endParaRPr b="1" sz="5400">
              <a:solidFill>
                <a:srgbClr val="1B2A6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g3e32f33a4f2_0_309"/>
          <p:cNvSpPr/>
          <p:nvPr/>
        </p:nvSpPr>
        <p:spPr>
          <a:xfrm>
            <a:off x="952500" y="2857500"/>
            <a:ext cx="76200" cy="5715000"/>
          </a:xfrm>
          <a:prstGeom prst="rect">
            <a:avLst/>
          </a:prstGeom>
          <a:solidFill>
            <a:srgbClr val="1B2A6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e32f33a4f2_0_309"/>
          <p:cNvSpPr txBox="1"/>
          <p:nvPr/>
        </p:nvSpPr>
        <p:spPr>
          <a:xfrm>
            <a:off x="1524000" y="2857500"/>
            <a:ext cx="7620000" cy="6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Open Sans"/>
              <a:buChar char="●"/>
            </a:pPr>
            <a:r>
              <a:rPr b="1" lang="en-US" sz="2400">
                <a:solidFill>
                  <a:srgbClr val="E87722"/>
                </a:solidFill>
                <a:latin typeface="Open Sans"/>
                <a:ea typeface="Open Sans"/>
                <a:cs typeface="Open Sans"/>
                <a:sym typeface="Open Sans"/>
              </a:rPr>
              <a:t>Microsoft SQL Server</a:t>
            </a:r>
            <a:r>
              <a:rPr b="0"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(RDBMS principal del curso)</a:t>
            </a:r>
            <a:endParaRPr b="0" sz="2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Open Sans"/>
              <a:buChar char="●"/>
            </a:pPr>
            <a:r>
              <a:rPr b="0"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SQL Server Management Studio (SSMS)</a:t>
            </a:r>
            <a:endParaRPr b="0" sz="2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Open Sans"/>
              <a:buChar char="●"/>
            </a:pPr>
            <a:r>
              <a:rPr b="0"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Diagramas Entidad-Relación (herramienta de diseño)</a:t>
            </a:r>
            <a:endParaRPr b="0" sz="2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Open Sans"/>
              <a:buChar char="●"/>
            </a:pPr>
            <a:r>
              <a:rPr b="0"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Plataforma UEDI (entrega de actividades)</a:t>
            </a:r>
            <a:endParaRPr b="0" sz="2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1875"/>
              </a:spcAft>
              <a:buClr>
                <a:srgbClr val="333333"/>
              </a:buClr>
              <a:buSzPts val="2400"/>
              <a:buFont typeface="Open Sans"/>
              <a:buChar char="●"/>
            </a:pPr>
            <a:r>
              <a:rPr b="0"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Logos institucionales: ECYS, FIUSAC, USAC, DITT, Cococys</a:t>
            </a:r>
            <a:endParaRPr b="0" sz="24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High-quality 3D render of a modern database server icon or digital technology ecosystem, using dark blue and orange accents on a clean white background. Minimalist and professional." id="413" name="Google Shape;413;g3e32f33a4f2_0_309"/>
          <p:cNvPicPr preferRelativeResize="0"/>
          <p:nvPr/>
        </p:nvPicPr>
        <p:blipFill rotWithShape="1">
          <a:blip r:embed="rId4">
            <a:alphaModFix/>
          </a:blip>
          <a:srcRect b="2381" l="0" r="0" t="2381"/>
          <a:stretch/>
        </p:blipFill>
        <p:spPr>
          <a:xfrm>
            <a:off x="10001250" y="2857500"/>
            <a:ext cx="6667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e32f33a4f2_0_309"/>
          <p:cNvPicPr preferRelativeResize="0"/>
          <p:nvPr/>
        </p:nvPicPr>
        <p:blipFill rotWithShape="1">
          <a:blip r:embed="rId5">
            <a:alphaModFix/>
          </a:blip>
          <a:srcRect b="14654" l="0" r="0" t="14654"/>
          <a:stretch/>
        </p:blipFill>
        <p:spPr>
          <a:xfrm>
            <a:off x="14478000" y="9048750"/>
            <a:ext cx="2857500" cy="5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