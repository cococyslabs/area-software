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9" r:id="rId4"/>
    <p:sldId id="304" r:id="rId5"/>
    <p:sldId id="261" r:id="rId6"/>
    <p:sldId id="262" r:id="rId7"/>
    <p:sldId id="263" r:id="rId8"/>
    <p:sldId id="308" r:id="rId9"/>
    <p:sldId id="264" r:id="rId10"/>
    <p:sldId id="265" r:id="rId11"/>
    <p:sldId id="266" r:id="rId12"/>
    <p:sldId id="267" r:id="rId13"/>
    <p:sldId id="268" r:id="rId14"/>
    <p:sldId id="309" r:id="rId15"/>
    <p:sldId id="31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11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269" r:id="rId47"/>
    <p:sldId id="270" r:id="rId48"/>
  </p:sldIdLst>
  <p:sldSz cx="18288000" cy="10287000"/>
  <p:notesSz cx="6858000" cy="9144000"/>
  <p:embeddedFontLst>
    <p:embeddedFont>
      <p:font typeface="Arial Black" panose="020B0A04020102020204" pitchFamily="34" charset="0"/>
      <p:bold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Trebuchet MS" panose="020B060302020202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494525" y="8207944"/>
            <a:ext cx="1793875" cy="2079625"/>
          </a:xfrm>
          <a:custGeom>
            <a:avLst/>
            <a:gdLst/>
            <a:ahLst/>
            <a:cxnLst/>
            <a:rect l="l" t="t" r="r" b="b"/>
            <a:pathLst>
              <a:path w="1793875" h="2079625">
                <a:moveTo>
                  <a:pt x="1793474" y="0"/>
                </a:moveTo>
                <a:lnTo>
                  <a:pt x="1793474" y="2079055"/>
                </a:lnTo>
                <a:lnTo>
                  <a:pt x="285210" y="2079055"/>
                </a:lnTo>
                <a:lnTo>
                  <a:pt x="0" y="1793844"/>
                </a:lnTo>
                <a:lnTo>
                  <a:pt x="1793474" y="0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935176" y="8933065"/>
            <a:ext cx="1557020" cy="1354455"/>
          </a:xfrm>
          <a:custGeom>
            <a:avLst/>
            <a:gdLst/>
            <a:ahLst/>
            <a:cxnLst/>
            <a:rect l="l" t="t" r="r" b="b"/>
            <a:pathLst>
              <a:path w="1557019" h="1354454">
                <a:moveTo>
                  <a:pt x="1556645" y="777983"/>
                </a:moveTo>
                <a:lnTo>
                  <a:pt x="980694" y="1353934"/>
                </a:lnTo>
                <a:lnTo>
                  <a:pt x="575625" y="1353934"/>
                </a:lnTo>
                <a:lnTo>
                  <a:pt x="0" y="777983"/>
                </a:lnTo>
                <a:lnTo>
                  <a:pt x="777983" y="0"/>
                </a:lnTo>
                <a:lnTo>
                  <a:pt x="1556645" y="777983"/>
                </a:lnTo>
                <a:close/>
              </a:path>
            </a:pathLst>
          </a:custGeom>
          <a:solidFill>
            <a:srgbClr val="40785E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373045" y="9048949"/>
            <a:ext cx="2475865" cy="1238250"/>
          </a:xfrm>
          <a:custGeom>
            <a:avLst/>
            <a:gdLst/>
            <a:ahLst/>
            <a:cxnLst/>
            <a:rect l="l" t="t" r="r" b="b"/>
            <a:pathLst>
              <a:path w="2475865" h="1238250">
                <a:moveTo>
                  <a:pt x="2475421" y="1238049"/>
                </a:moveTo>
                <a:lnTo>
                  <a:pt x="0" y="1238049"/>
                </a:lnTo>
                <a:lnTo>
                  <a:pt x="1237372" y="0"/>
                </a:lnTo>
                <a:lnTo>
                  <a:pt x="2475421" y="1238049"/>
                </a:lnTo>
                <a:close/>
              </a:path>
            </a:pathLst>
          </a:custGeom>
          <a:solidFill>
            <a:srgbClr val="BE120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038451" y="5185819"/>
            <a:ext cx="2249805" cy="4498340"/>
          </a:xfrm>
          <a:custGeom>
            <a:avLst/>
            <a:gdLst/>
            <a:ahLst/>
            <a:cxnLst/>
            <a:rect l="l" t="t" r="r" b="b"/>
            <a:pathLst>
              <a:path w="2249805" h="4498340">
                <a:moveTo>
                  <a:pt x="2249547" y="0"/>
                </a:moveTo>
                <a:lnTo>
                  <a:pt x="2249547" y="4497786"/>
                </a:lnTo>
                <a:lnTo>
                  <a:pt x="0" y="2248893"/>
                </a:lnTo>
                <a:lnTo>
                  <a:pt x="2249547" y="0"/>
                </a:lnTo>
                <a:close/>
              </a:path>
            </a:pathLst>
          </a:custGeom>
          <a:solidFill>
            <a:srgbClr val="004653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8210427" y="7601107"/>
            <a:ext cx="78105" cy="155575"/>
          </a:xfrm>
          <a:custGeom>
            <a:avLst/>
            <a:gdLst/>
            <a:ahLst/>
            <a:cxnLst/>
            <a:rect l="l" t="t" r="r" b="b"/>
            <a:pathLst>
              <a:path w="78105" h="155575">
                <a:moveTo>
                  <a:pt x="77572" y="0"/>
                </a:moveTo>
                <a:lnTo>
                  <a:pt x="77572" y="155145"/>
                </a:lnTo>
                <a:lnTo>
                  <a:pt x="0" y="77572"/>
                </a:lnTo>
                <a:lnTo>
                  <a:pt x="77572" y="0"/>
                </a:lnTo>
                <a:close/>
              </a:path>
            </a:pathLst>
          </a:custGeom>
          <a:solidFill>
            <a:srgbClr val="004AAC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1185545" cy="1186180"/>
          </a:xfrm>
          <a:custGeom>
            <a:avLst/>
            <a:gdLst/>
            <a:ahLst/>
            <a:cxnLst/>
            <a:rect l="l" t="t" r="r" b="b"/>
            <a:pathLst>
              <a:path w="1185545" h="1186180">
                <a:moveTo>
                  <a:pt x="0" y="1185897"/>
                </a:moveTo>
                <a:lnTo>
                  <a:pt x="0" y="0"/>
                </a:lnTo>
                <a:lnTo>
                  <a:pt x="1185493" y="0"/>
                </a:lnTo>
                <a:lnTo>
                  <a:pt x="0" y="1185897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230847" y="0"/>
            <a:ext cx="805180" cy="402590"/>
          </a:xfrm>
          <a:custGeom>
            <a:avLst/>
            <a:gdLst/>
            <a:ahLst/>
            <a:cxnLst/>
            <a:rect l="l" t="t" r="r" b="b"/>
            <a:pathLst>
              <a:path w="805180" h="402590">
                <a:moveTo>
                  <a:pt x="0" y="0"/>
                </a:moveTo>
                <a:lnTo>
                  <a:pt x="804728" y="0"/>
                </a:lnTo>
                <a:lnTo>
                  <a:pt x="402703" y="402025"/>
                </a:lnTo>
                <a:lnTo>
                  <a:pt x="0" y="0"/>
                </a:lnTo>
                <a:close/>
              </a:path>
            </a:pathLst>
          </a:custGeom>
          <a:solidFill>
            <a:srgbClr val="40785E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50153" y="0"/>
            <a:ext cx="572135" cy="286385"/>
          </a:xfrm>
          <a:custGeom>
            <a:avLst/>
            <a:gdLst/>
            <a:ahLst/>
            <a:cxnLst/>
            <a:rect l="l" t="t" r="r" b="b"/>
            <a:pathLst>
              <a:path w="572135" h="286385">
                <a:moveTo>
                  <a:pt x="0" y="0"/>
                </a:moveTo>
                <a:lnTo>
                  <a:pt x="572029" y="0"/>
                </a:lnTo>
                <a:lnTo>
                  <a:pt x="286141" y="286141"/>
                </a:lnTo>
                <a:lnTo>
                  <a:pt x="0" y="0"/>
                </a:lnTo>
                <a:close/>
              </a:path>
            </a:pathLst>
          </a:custGeom>
          <a:solidFill>
            <a:srgbClr val="BE120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2308860" cy="4187825"/>
          </a:xfrm>
          <a:custGeom>
            <a:avLst/>
            <a:gdLst/>
            <a:ahLst/>
            <a:cxnLst/>
            <a:rect l="l" t="t" r="r" b="b"/>
            <a:pathLst>
              <a:path w="2308860" h="4187825">
                <a:moveTo>
                  <a:pt x="0" y="4168543"/>
                </a:moveTo>
                <a:lnTo>
                  <a:pt x="0" y="0"/>
                </a:lnTo>
                <a:lnTo>
                  <a:pt x="407423" y="0"/>
                </a:lnTo>
                <a:lnTo>
                  <a:pt x="2308261" y="1900389"/>
                </a:lnTo>
                <a:lnTo>
                  <a:pt x="20662" y="4187311"/>
                </a:lnTo>
                <a:lnTo>
                  <a:pt x="18768" y="4187311"/>
                </a:lnTo>
                <a:lnTo>
                  <a:pt x="0" y="4168543"/>
                </a:lnTo>
                <a:close/>
              </a:path>
            </a:pathLst>
          </a:custGeom>
          <a:solidFill>
            <a:srgbClr val="004653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1520144"/>
            <a:ext cx="136525" cy="273050"/>
          </a:xfrm>
          <a:custGeom>
            <a:avLst/>
            <a:gdLst/>
            <a:ahLst/>
            <a:cxnLst/>
            <a:rect l="l" t="t" r="r" b="b"/>
            <a:pathLst>
              <a:path w="136525" h="273050">
                <a:moveTo>
                  <a:pt x="0" y="272554"/>
                </a:moveTo>
                <a:lnTo>
                  <a:pt x="0" y="0"/>
                </a:lnTo>
                <a:lnTo>
                  <a:pt x="136277" y="136277"/>
                </a:lnTo>
                <a:lnTo>
                  <a:pt x="0" y="272554"/>
                </a:lnTo>
                <a:close/>
              </a:path>
            </a:pathLst>
          </a:custGeom>
          <a:solidFill>
            <a:srgbClr val="004AAC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44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128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816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06800" y="715584"/>
            <a:ext cx="9891394" cy="856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92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826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3" r:id="rId9"/>
    <p:sldLayoutId id="2147483666" r:id="rId10"/>
    <p:sldLayoutId id="2147483667" r:id="rId11"/>
    <p:sldLayoutId id="214748366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s-es/power-platform/products/power-bi" TargetMode="Externa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avLst/>
            <a:gdLst/>
            <a:ahLst/>
            <a:cxnLst/>
            <a:rect l="l" t="t" r="r" b="b"/>
            <a:pathLst>
              <a:path w="9002016" h="1811656" extrusionOk="0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24676" imgH="1881100" progId="Excel.Sheet.12">
                  <p:embed/>
                </p:oleObj>
              </mc:Choice>
              <mc:Fallback>
                <p:oleObj r:id="rId5" imgW="9524676" imgH="1881100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dirty="0"/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201150"/>
            <a:ext cx="8386287" cy="135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4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s-GT" sz="5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Programación Comercial 1 [Sec.]</a:t>
            </a:r>
            <a:endParaRPr sz="4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401300" extrusionOk="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" name="Google Shape;95;p2"/>
          <p:cNvSpPr txBox="1"/>
          <p:nvPr/>
        </p:nvSpPr>
        <p:spPr>
          <a:xfrm>
            <a:off x="1780674" y="2935368"/>
            <a:ext cx="16050125" cy="5687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4"/>
              </a:lnSpc>
            </a:pPr>
            <a:r>
              <a:rPr lang="en-US" sz="8799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2 - 3:</a:t>
            </a:r>
            <a:r>
              <a:rPr lang="en-US" sz="8799" b="1" dirty="0">
                <a:latin typeface="Open Sans"/>
                <a:ea typeface="Open Sans"/>
                <a:cs typeface="Open Sans"/>
                <a:sym typeface="Open Sans"/>
              </a:rPr>
              <a:t> Microsoft Project - Power BI </a:t>
            </a:r>
            <a:endParaRPr dirty="0"/>
          </a:p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799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997242" y="6926578"/>
            <a:ext cx="1429351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s-GT" sz="6000" b="1" dirty="0">
                <a:latin typeface="Open Sans"/>
                <a:ea typeface="Open Sans"/>
                <a:cs typeface="Open Sans"/>
                <a:sym typeface="Open Sans"/>
              </a:rPr>
              <a:t>Recursos y Análisis de Datos</a:t>
            </a:r>
            <a:endParaRPr sz="1100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avLst/>
            <a:gdLst/>
            <a:ahLst/>
            <a:cxnLst/>
            <a:rect l="l" t="t" r="r" b="b"/>
            <a:pathLst>
              <a:path w="9896507" h="5913163" extrusionOk="0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dirty="0"/>
          </a:p>
        </p:txBody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avLst/>
            <a:gdLst/>
            <a:ahLst/>
            <a:cxnLst/>
            <a:rect l="l" t="t" r="r" b="b"/>
            <a:pathLst>
              <a:path w="11301259" h="5127946" extrusionOk="0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Google Shape;67;p2">
            <a:extLst>
              <a:ext uri="{FF2B5EF4-FFF2-40B4-BE49-F238E27FC236}">
                <a16:creationId xmlns:a16="http://schemas.microsoft.com/office/drawing/2014/main" id="{84EADFC3-AB96-F70E-B567-C6441731FFA2}"/>
              </a:ext>
            </a:extLst>
          </p:cNvPr>
          <p:cNvSpPr txBox="1"/>
          <p:nvPr/>
        </p:nvSpPr>
        <p:spPr>
          <a:xfrm>
            <a:off x="5216756" y="4249317"/>
            <a:ext cx="11390820" cy="518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s-ES" sz="2800" dirty="0"/>
              <a:t>Recursos en Microsoft Project.</a:t>
            </a:r>
          </a:p>
          <a:p>
            <a:endParaRPr lang="es-ES" sz="2800" dirty="0"/>
          </a:p>
          <a:p>
            <a:r>
              <a:rPr lang="es-ES" sz="2800" dirty="0"/>
              <a:t>Tipos de recursos: trabajo, material y costo.</a:t>
            </a:r>
          </a:p>
          <a:p>
            <a:endParaRPr lang="es-ES" sz="2800" dirty="0"/>
          </a:p>
          <a:p>
            <a:r>
              <a:rPr lang="es-ES" sz="2800" dirty="0"/>
              <a:t>Introducción al análisis de datos.</a:t>
            </a:r>
          </a:p>
          <a:p>
            <a:endParaRPr lang="es-ES" sz="2800" dirty="0"/>
          </a:p>
          <a:p>
            <a:r>
              <a:rPr lang="es-ES" sz="2800" dirty="0"/>
              <a:t>Ciclo de vida y tipos de datos.</a:t>
            </a:r>
          </a:p>
          <a:p>
            <a:endParaRPr lang="es-ES" sz="2800" dirty="0"/>
          </a:p>
          <a:p>
            <a:r>
              <a:rPr lang="es-ES" sz="2800" dirty="0"/>
              <a:t>Herramientas de análisis y visualización.</a:t>
            </a:r>
          </a:p>
          <a:p>
            <a:endParaRPr lang="es-ES" sz="2800" dirty="0"/>
          </a:p>
          <a:p>
            <a:r>
              <a:rPr lang="es-ES" sz="2800" dirty="0"/>
              <a:t>Introducción e instalación de Power BI.</a:t>
            </a:r>
          </a:p>
          <a:p>
            <a:endParaRPr lang="es-GT" sz="2800" noProof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72;p2">
            <a:extLst>
              <a:ext uri="{FF2B5EF4-FFF2-40B4-BE49-F238E27FC236}">
                <a16:creationId xmlns:a16="http://schemas.microsoft.com/office/drawing/2014/main" id="{672E0483-9485-1FE4-1359-D9DB1F5BCF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6969" y="4249317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2;p2">
            <a:extLst>
              <a:ext uri="{FF2B5EF4-FFF2-40B4-BE49-F238E27FC236}">
                <a16:creationId xmlns:a16="http://schemas.microsoft.com/office/drawing/2014/main" id="{B7F6D6C0-9B55-54C3-EA51-772A846E89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6969" y="5143500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p2">
            <a:extLst>
              <a:ext uri="{FF2B5EF4-FFF2-40B4-BE49-F238E27FC236}">
                <a16:creationId xmlns:a16="http://schemas.microsoft.com/office/drawing/2014/main" id="{76A05B96-8543-2842-B93E-92D07360ED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1306" y="6841052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2;p2">
            <a:extLst>
              <a:ext uri="{FF2B5EF4-FFF2-40B4-BE49-F238E27FC236}">
                <a16:creationId xmlns:a16="http://schemas.microsoft.com/office/drawing/2014/main" id="{61EC5130-1A89-E21E-EDE5-CF39F0D91B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6969" y="7629989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2;p2">
            <a:extLst>
              <a:ext uri="{FF2B5EF4-FFF2-40B4-BE49-F238E27FC236}">
                <a16:creationId xmlns:a16="http://schemas.microsoft.com/office/drawing/2014/main" id="{941F1F5A-37E4-A697-6290-834ABD5927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6969" y="8491978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2;p2">
            <a:extLst>
              <a:ext uri="{FF2B5EF4-FFF2-40B4-BE49-F238E27FC236}">
                <a16:creationId xmlns:a16="http://schemas.microsoft.com/office/drawing/2014/main" id="{3B75C814-E895-4F04-28CB-D5B7660FCDC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1306" y="5944150"/>
            <a:ext cx="355998" cy="40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6D7F-EFD3-5BFE-89BD-96FDE00C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8616C8-B9C9-A881-73BD-E374A5A656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78513" y="2165350"/>
            <a:ext cx="12409487" cy="49006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9965" marR="5080" indent="-977900">
              <a:lnSpc>
                <a:spcPct val="116399"/>
              </a:lnSpc>
              <a:spcBef>
                <a:spcPts val="90"/>
              </a:spcBef>
            </a:pPr>
            <a:r>
              <a:rPr sz="14300" dirty="0"/>
              <a:t>MICROSOFT </a:t>
            </a:r>
            <a:r>
              <a:rPr lang="es-ES" sz="14300" dirty="0"/>
              <a:t>          </a:t>
            </a:r>
            <a:r>
              <a:rPr sz="14300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385640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906" y="5610605"/>
            <a:ext cx="7362809" cy="41338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05722" y="2980163"/>
            <a:ext cx="13076555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proyectos,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recurso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refiere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cualquier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elemento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necesario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llevar</a:t>
            </a:r>
            <a:r>
              <a:rPr sz="2550" spc="3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40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cabo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40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proyecto.</a:t>
            </a:r>
            <a:r>
              <a:rPr sz="2550" spc="40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recursos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sz="2550" spc="4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2550" spc="40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tipos,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personas,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equipos,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tiempo,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dinero,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materiales,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o cualquier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elemento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necesario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completar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éxito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proyecto.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1D5B4D6-F59D-40D7-C54D-08372145A7BF}"/>
              </a:ext>
            </a:extLst>
          </p:cNvPr>
          <p:cNvSpPr txBox="1"/>
          <p:nvPr/>
        </p:nvSpPr>
        <p:spPr>
          <a:xfrm>
            <a:off x="6144621" y="1313928"/>
            <a:ext cx="59987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0" dirty="0"/>
              <a:t>RECURSOS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9273" y="5721431"/>
            <a:ext cx="6534149" cy="36671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67000" y="2275316"/>
            <a:ext cx="13076555" cy="315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existen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varios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recursos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proyectos,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sin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embargo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ProjectLibre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maneja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unicamente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estos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recursos: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8465" indent="-405765">
              <a:lnSpc>
                <a:spcPct val="100000"/>
              </a:lnSpc>
              <a:spcBef>
                <a:spcPts val="5"/>
              </a:spcBef>
              <a:buFont typeface="Times New Roman"/>
              <a:buChar char="►"/>
              <a:tabLst>
                <a:tab pos="418465" algn="l"/>
              </a:tabLst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Recurso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8465" indent="-405765">
              <a:lnSpc>
                <a:spcPct val="100000"/>
              </a:lnSpc>
              <a:spcBef>
                <a:spcPts val="464"/>
              </a:spcBef>
              <a:buFont typeface="Times New Roman"/>
              <a:buChar char="►"/>
              <a:tabLst>
                <a:tab pos="418465" algn="l"/>
              </a:tabLst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Recurso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8465" indent="-405765">
              <a:lnSpc>
                <a:spcPct val="100000"/>
              </a:lnSpc>
              <a:spcBef>
                <a:spcPts val="464"/>
              </a:spcBef>
              <a:buFont typeface="Times New Roman"/>
              <a:buChar char="►"/>
              <a:tabLst>
                <a:tab pos="418465" algn="l"/>
              </a:tabLst>
            </a:pP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Recurso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Costo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460229-C77D-8EAD-D355-0386B428B517}"/>
              </a:ext>
            </a:extLst>
          </p:cNvPr>
          <p:cNvSpPr txBox="1"/>
          <p:nvPr/>
        </p:nvSpPr>
        <p:spPr>
          <a:xfrm>
            <a:off x="3536229" y="388188"/>
            <a:ext cx="112155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8000" dirty="0"/>
              <a:t>TIPOS DE RECURSOS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0877" y="-1015717"/>
            <a:ext cx="7067123" cy="102869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05000" y="1508565"/>
            <a:ext cx="8660079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GT" noProof="0" dirty="0"/>
              <a:t>RECURSOS DE TRABAJO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05000" y="2869158"/>
            <a:ext cx="8458200" cy="2274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s-GT" sz="2600" spc="-13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lang="es-GT" sz="260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GT" sz="260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miembros</a:t>
            </a:r>
            <a:r>
              <a:rPr lang="es-GT" sz="2600" spc="-13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es-GT" sz="2600" spc="-1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35" noProof="0" dirty="0">
                <a:latin typeface="Arial" panose="020B0604020202020204" pitchFamily="34" charset="0"/>
                <a:cs typeface="Arial" panose="020B0604020202020204" pitchFamily="34" charset="0"/>
              </a:rPr>
              <a:t>equipo, </a:t>
            </a:r>
            <a:r>
              <a:rPr lang="es-GT" sz="2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stakeholders</a:t>
            </a:r>
            <a:r>
              <a:rPr lang="es-GT" sz="2600" spc="-35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GT" sz="2600" spc="-35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cualquier</a:t>
            </a:r>
            <a:r>
              <a:rPr lang="es-GT" sz="2600" spc="-35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persona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GT" sz="2600" spc="615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participe</a:t>
            </a:r>
            <a:r>
              <a:rPr lang="es-GT" sz="2600" spc="620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GT" sz="2600" spc="620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s-GT" sz="2600" spc="620" noProof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GT" sz="2600" spc="-45" noProof="0" dirty="0">
                <a:latin typeface="Arial" panose="020B0604020202020204" pitchFamily="34" charset="0"/>
                <a:cs typeface="Arial" panose="020B0604020202020204" pitchFamily="34" charset="0"/>
              </a:rPr>
              <a:t>proyecto.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Puedes</a:t>
            </a:r>
            <a:r>
              <a:rPr lang="es-GT" sz="260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asignar</a:t>
            </a:r>
            <a:r>
              <a:rPr lang="es-GT" sz="2600" spc="-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lang="es-GT" sz="2600" spc="-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40" noProof="0" dirty="0">
                <a:latin typeface="Arial" panose="020B0604020202020204" pitchFamily="34" charset="0"/>
                <a:cs typeface="Arial" panose="020B0604020202020204" pitchFamily="34" charset="0"/>
              </a:rPr>
              <a:t>específicas</a:t>
            </a:r>
            <a:r>
              <a:rPr lang="es-GT" sz="2600" spc="-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noProof="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individuos</a:t>
            </a:r>
            <a:r>
              <a:rPr lang="es-GT" sz="2600" spc="44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y controlar </a:t>
            </a:r>
            <a:r>
              <a:rPr lang="es-GT" sz="260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su </a:t>
            </a:r>
            <a:r>
              <a:rPr lang="es-GT" sz="2600" spc="-20" noProof="0" dirty="0">
                <a:latin typeface="Arial" panose="020B0604020202020204" pitchFamily="34" charset="0"/>
                <a:cs typeface="Arial" panose="020B0604020202020204" pitchFamily="34" charset="0"/>
              </a:rPr>
              <a:t>disponibilidad,</a:t>
            </a:r>
            <a:r>
              <a:rPr lang="es-GT" sz="2600" spc="43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horas</a:t>
            </a:r>
            <a:r>
              <a:rPr lang="es-GT" sz="2600" spc="434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600" spc="434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lang="es-GT" sz="2600" spc="43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50" noProof="0" dirty="0">
                <a:latin typeface="Arial" panose="020B0604020202020204" pitchFamily="34" charset="0"/>
                <a:cs typeface="Arial" panose="020B0604020202020204" pitchFamily="34" charset="0"/>
              </a:rPr>
              <a:t>y calendario</a:t>
            </a:r>
            <a:r>
              <a:rPr lang="es-GT" sz="260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60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laboral.</a:t>
            </a:r>
            <a:endParaRPr lang="es-GT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3071-EB98-9733-D944-250AC1C2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99178A9-3556-D325-FEA7-CFAEF1622244}"/>
              </a:ext>
            </a:extLst>
          </p:cNvPr>
          <p:cNvGrpSpPr/>
          <p:nvPr/>
        </p:nvGrpSpPr>
        <p:grpSpPr>
          <a:xfrm>
            <a:off x="1" y="8039100"/>
            <a:ext cx="2667000" cy="2247900"/>
            <a:chOff x="0" y="5996024"/>
            <a:chExt cx="5301615" cy="429133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E97EA99-2509-4F16-F100-C2CA3DA8B008}"/>
                </a:ext>
              </a:extLst>
            </p:cNvPr>
            <p:cNvSpPr/>
            <p:nvPr/>
          </p:nvSpPr>
          <p:spPr>
            <a:xfrm>
              <a:off x="0" y="7555381"/>
              <a:ext cx="2767965" cy="2731770"/>
            </a:xfrm>
            <a:custGeom>
              <a:avLst/>
              <a:gdLst/>
              <a:ahLst/>
              <a:cxnLst/>
              <a:rect l="l" t="t" r="r" b="b"/>
              <a:pathLst>
                <a:path w="2767965" h="2731770">
                  <a:moveTo>
                    <a:pt x="2355980" y="2731618"/>
                  </a:moveTo>
                  <a:lnTo>
                    <a:pt x="0" y="2731618"/>
                  </a:lnTo>
                  <a:lnTo>
                    <a:pt x="0" y="447480"/>
                  </a:lnTo>
                  <a:lnTo>
                    <a:pt x="447480" y="0"/>
                  </a:lnTo>
                  <a:lnTo>
                    <a:pt x="2767878" y="2319720"/>
                  </a:lnTo>
                  <a:lnTo>
                    <a:pt x="2355980" y="2731618"/>
                  </a:lnTo>
                  <a:close/>
                </a:path>
              </a:pathLst>
            </a:custGeom>
            <a:solidFill>
              <a:srgbClr val="40785E"/>
            </a:solidFill>
          </p:spPr>
          <p:txBody>
            <a:bodyPr wrap="square" lIns="0" tIns="0" rIns="0" bIns="0" rtlCol="0"/>
            <a:lstStyle/>
            <a:p>
              <a:endParaRPr lang="es-GT" noProof="0"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8398688-D51A-16D2-7D44-9B95FA55E28A}"/>
                </a:ext>
              </a:extLst>
            </p:cNvPr>
            <p:cNvSpPr/>
            <p:nvPr/>
          </p:nvSpPr>
          <p:spPr>
            <a:xfrm>
              <a:off x="0" y="5996024"/>
              <a:ext cx="1516380" cy="1557020"/>
            </a:xfrm>
            <a:custGeom>
              <a:avLst/>
              <a:gdLst/>
              <a:ahLst/>
              <a:cxnLst/>
              <a:rect l="l" t="t" r="r" b="b"/>
              <a:pathLst>
                <a:path w="1516380" h="1557020">
                  <a:moveTo>
                    <a:pt x="738208" y="1556645"/>
                  </a:moveTo>
                  <a:lnTo>
                    <a:pt x="0" y="818437"/>
                  </a:lnTo>
                  <a:lnTo>
                    <a:pt x="0" y="737600"/>
                  </a:lnTo>
                  <a:lnTo>
                    <a:pt x="738208" y="0"/>
                  </a:lnTo>
                  <a:lnTo>
                    <a:pt x="1516191" y="777983"/>
                  </a:lnTo>
                  <a:lnTo>
                    <a:pt x="738208" y="1556645"/>
                  </a:lnTo>
                  <a:close/>
                </a:path>
              </a:pathLst>
            </a:custGeom>
            <a:solidFill>
              <a:srgbClr val="40785E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 lang="es-GT" noProof="0"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56ACFCE-3643-D6EF-9864-60D1D512789B}"/>
                </a:ext>
              </a:extLst>
            </p:cNvPr>
            <p:cNvSpPr/>
            <p:nvPr/>
          </p:nvSpPr>
          <p:spPr>
            <a:xfrm>
              <a:off x="0" y="6271634"/>
              <a:ext cx="1400810" cy="2800350"/>
            </a:xfrm>
            <a:custGeom>
              <a:avLst/>
              <a:gdLst/>
              <a:ahLst/>
              <a:cxnLst/>
              <a:rect l="l" t="t" r="r" b="b"/>
              <a:pathLst>
                <a:path w="1400810" h="2800350">
                  <a:moveTo>
                    <a:pt x="0" y="2799937"/>
                  </a:moveTo>
                  <a:lnTo>
                    <a:pt x="0" y="0"/>
                  </a:lnTo>
                  <a:lnTo>
                    <a:pt x="1400307" y="1399629"/>
                  </a:lnTo>
                  <a:lnTo>
                    <a:pt x="0" y="2799937"/>
                  </a:lnTo>
                  <a:close/>
                </a:path>
              </a:pathLst>
            </a:custGeom>
            <a:solidFill>
              <a:srgbClr val="BE120A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 lang="es-GT" noProof="0" dirty="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AB713B1-7FD8-2FDB-B308-CF4C64CCA6B6}"/>
                </a:ext>
              </a:extLst>
            </p:cNvPr>
            <p:cNvSpPr/>
            <p:nvPr/>
          </p:nvSpPr>
          <p:spPr>
            <a:xfrm>
              <a:off x="726687" y="7099298"/>
              <a:ext cx="4575175" cy="3187700"/>
            </a:xfrm>
            <a:custGeom>
              <a:avLst/>
              <a:gdLst/>
              <a:ahLst/>
              <a:cxnLst/>
              <a:rect l="l" t="t" r="r" b="b"/>
              <a:pathLst>
                <a:path w="4575175" h="3187700">
                  <a:moveTo>
                    <a:pt x="3676582" y="3187701"/>
                  </a:moveTo>
                  <a:lnTo>
                    <a:pt x="899154" y="3187701"/>
                  </a:lnTo>
                  <a:lnTo>
                    <a:pt x="0" y="2288546"/>
                  </a:lnTo>
                  <a:lnTo>
                    <a:pt x="2287868" y="0"/>
                  </a:lnTo>
                  <a:lnTo>
                    <a:pt x="4574790" y="2287599"/>
                  </a:lnTo>
                  <a:lnTo>
                    <a:pt x="4574790" y="2289493"/>
                  </a:lnTo>
                  <a:lnTo>
                    <a:pt x="3676582" y="3187701"/>
                  </a:lnTo>
                  <a:close/>
                </a:path>
              </a:pathLst>
            </a:custGeom>
            <a:solidFill>
              <a:srgbClr val="004653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 lang="es-GT" noProof="0" dirty="0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C4B488E-36B6-4E2A-3F03-4D9FDF67759F}"/>
                </a:ext>
              </a:extLst>
            </p:cNvPr>
            <p:cNvSpPr/>
            <p:nvPr/>
          </p:nvSpPr>
          <p:spPr>
            <a:xfrm>
              <a:off x="1754871" y="9271282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2031433" y="1015716"/>
                  </a:moveTo>
                  <a:lnTo>
                    <a:pt x="0" y="1015716"/>
                  </a:lnTo>
                  <a:lnTo>
                    <a:pt x="1015716" y="0"/>
                  </a:lnTo>
                  <a:lnTo>
                    <a:pt x="2031433" y="1015716"/>
                  </a:lnTo>
                  <a:close/>
                </a:path>
              </a:pathLst>
            </a:custGeom>
            <a:solidFill>
              <a:srgbClr val="004AAC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 lang="es-GT" noProof="0" dirty="0"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A8134123-DBAC-74F1-C6B9-6A50B8760E58}"/>
              </a:ext>
            </a:extLst>
          </p:cNvPr>
          <p:cNvSpPr txBox="1"/>
          <p:nvPr/>
        </p:nvSpPr>
        <p:spPr>
          <a:xfrm>
            <a:off x="2229528" y="1108329"/>
            <a:ext cx="13828944" cy="7075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399"/>
              </a:lnSpc>
              <a:spcBef>
                <a:spcPts val="100"/>
              </a:spcBef>
            </a:pPr>
            <a:r>
              <a:rPr lang="es-GT" sz="8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GT" sz="80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takeholders</a:t>
            </a:r>
            <a:endParaRPr lang="es-GT" sz="8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endParaRPr lang="es-GT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Son quienes </a:t>
            </a:r>
            <a:r>
              <a:rPr lang="es-GT" sz="2800" b="1" dirty="0">
                <a:latin typeface="Arial" panose="020B0604020202020204" pitchFamily="34" charset="0"/>
                <a:cs typeface="Arial" panose="020B0604020202020204" pitchFamily="34" charset="0"/>
              </a:rPr>
              <a:t>influyen</a:t>
            </a: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 en el proyecto o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O quienes </a:t>
            </a:r>
            <a:r>
              <a:rPr lang="es-GT" sz="2800" b="1" dirty="0">
                <a:latin typeface="Arial" panose="020B0604020202020204" pitchFamily="34" charset="0"/>
                <a:cs typeface="Arial" panose="020B0604020202020204" pitchFamily="34" charset="0"/>
              </a:rPr>
              <a:t>reciben el impacto</a:t>
            </a: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 de lo que se haga en él.</a:t>
            </a:r>
          </a:p>
          <a:p>
            <a:endParaRPr lang="es-GT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Se pueden clasificar 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2800" b="1" dirty="0">
                <a:latin typeface="Arial" panose="020B0604020202020204" pitchFamily="34" charset="0"/>
                <a:cs typeface="Arial" panose="020B0604020202020204" pitchFamily="34" charset="0"/>
              </a:rPr>
              <a:t>Internos:</a:t>
            </a: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 empleados, directivos, dueños, accionistas.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2800" b="1" dirty="0">
                <a:latin typeface="Arial" panose="020B0604020202020204" pitchFamily="34" charset="0"/>
                <a:cs typeface="Arial" panose="020B0604020202020204" pitchFamily="34" charset="0"/>
              </a:rPr>
              <a:t>Externos:</a:t>
            </a: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 clientes, proveedores, comunidad, gobierno, inversionistas, competencia.</a:t>
            </a:r>
          </a:p>
          <a:p>
            <a:endParaRPr lang="es-GT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GT" sz="2800" b="1" dirty="0">
                <a:latin typeface="Arial" panose="020B0604020202020204" pitchFamily="34" charset="0"/>
                <a:cs typeface="Arial" panose="020B0604020202020204" pitchFamily="34" charset="0"/>
              </a:rPr>
              <a:t>Ejemplo sencillo:</a:t>
            </a:r>
            <a:b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Si abres </a:t>
            </a:r>
            <a:r>
              <a:rPr lang="es-GT" sz="2800" b="1" dirty="0">
                <a:latin typeface="Arial" panose="020B0604020202020204" pitchFamily="34" charset="0"/>
                <a:cs typeface="Arial" panose="020B0604020202020204" pitchFamily="34" charset="0"/>
              </a:rPr>
              <a:t>comedor El Peregrino</a:t>
            </a: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, los </a:t>
            </a:r>
            <a:r>
              <a:rPr lang="es-GT" sz="2800" dirty="0" err="1">
                <a:latin typeface="Arial" panose="020B0604020202020204" pitchFamily="34" charset="0"/>
                <a:cs typeface="Arial" panose="020B0604020202020204" pitchFamily="34" charset="0"/>
              </a:rPr>
              <a:t>stakeholders</a:t>
            </a:r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 serían:</a:t>
            </a:r>
          </a:p>
          <a:p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Internos: cocineros, meseros, administrador, socios.</a:t>
            </a:r>
          </a:p>
          <a:p>
            <a:r>
              <a:rPr lang="es-GT" sz="2800" dirty="0">
                <a:latin typeface="Arial" panose="020B0604020202020204" pitchFamily="34" charset="0"/>
                <a:cs typeface="Arial" panose="020B0604020202020204" pitchFamily="34" charset="0"/>
              </a:rPr>
              <a:t>Externos: clientes, proveedores de alimentos, autoridades municipales, vecinos</a:t>
            </a:r>
            <a:r>
              <a:rPr lang="es-GT" sz="2800" dirty="0"/>
              <a:t>.</a:t>
            </a:r>
          </a:p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endParaRPr lang="es-GT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88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0876" y="0"/>
            <a:ext cx="7067123" cy="102869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7561" y="856257"/>
            <a:ext cx="4620260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RECURSO MATERIAL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68300" y="3002546"/>
            <a:ext cx="7067124" cy="2274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sz="2600" spc="24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2600" spc="2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600" spc="2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elementos</a:t>
            </a:r>
            <a:r>
              <a:rPr sz="2600" spc="2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spc="-65" dirty="0">
                <a:latin typeface="Arial" panose="020B0604020202020204" pitchFamily="34" charset="0"/>
                <a:cs typeface="Arial" panose="020B0604020202020204" pitchFamily="34" charset="0"/>
              </a:rPr>
              <a:t>físicos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necesarios</a:t>
            </a:r>
            <a:r>
              <a:rPr sz="260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600" spc="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600" spc="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proyecto,</a:t>
            </a:r>
            <a:r>
              <a:rPr sz="2600" spc="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equipos,</a:t>
            </a:r>
            <a:r>
              <a:rPr sz="26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0" dirty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sz="26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6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30" dirty="0">
                <a:latin typeface="Arial" panose="020B0604020202020204" pitchFamily="34" charset="0"/>
                <a:cs typeface="Arial" panose="020B0604020202020204" pitchFamily="34" charset="0"/>
              </a:rPr>
              <a:t>materiales. </a:t>
            </a:r>
            <a:r>
              <a:rPr lang="es-ES" sz="2600" spc="-30" dirty="0">
                <a:latin typeface="Arial" panose="020B0604020202020204" pitchFamily="34" charset="0"/>
                <a:cs typeface="Arial" panose="020B0604020202020204" pitchFamily="34" charset="0"/>
              </a:rPr>
              <a:t>Puedes</a:t>
            </a:r>
            <a:r>
              <a:rPr lang="es-ES" sz="2600" spc="180" dirty="0">
                <a:latin typeface="Arial" panose="020B0604020202020204" pitchFamily="34" charset="0"/>
                <a:cs typeface="Arial" panose="020B0604020202020204" pitchFamily="34" charset="0"/>
              </a:rPr>
              <a:t> asignar cantidades </a:t>
            </a:r>
            <a:r>
              <a:rPr sz="260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recursos</a:t>
            </a:r>
            <a:r>
              <a:rPr lang="es-ES" sz="2600" spc="370" dirty="0">
                <a:latin typeface="Arial" panose="020B0604020202020204" pitchFamily="34" charset="0"/>
                <a:cs typeface="Arial" panose="020B0604020202020204" pitchFamily="34" charset="0"/>
              </a:rPr>
              <a:t> materiales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 tareas 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600" spc="-40" dirty="0">
                <a:latin typeface="Arial" panose="020B0604020202020204" pitchFamily="34" charset="0"/>
                <a:cs typeface="Arial" panose="020B0604020202020204" pitchFamily="34" charset="0"/>
              </a:rPr>
              <a:t>realizar</a:t>
            </a:r>
            <a:r>
              <a:rPr sz="26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seguimiento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uso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disponibilidad.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0876" y="0"/>
            <a:ext cx="7067123" cy="102869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46280" y="831459"/>
            <a:ext cx="3861435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RECURSO COSTO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00518" y="2966290"/>
            <a:ext cx="7267758" cy="2734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sz="2600" spc="3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2600"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600"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recursos</a:t>
            </a:r>
            <a:r>
              <a:rPr sz="2600"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35" dirty="0">
                <a:latin typeface="Arial" panose="020B0604020202020204" pitchFamily="34" charset="0"/>
                <a:cs typeface="Arial" panose="020B0604020202020204" pitchFamily="34" charset="0"/>
              </a:rPr>
              <a:t>financieros </a:t>
            </a:r>
            <a:r>
              <a:rPr sz="2600" spc="-40" dirty="0">
                <a:latin typeface="Arial" panose="020B0604020202020204" pitchFamily="34" charset="0"/>
                <a:cs typeface="Arial" panose="020B0604020202020204" pitchFamily="34" charset="0"/>
              </a:rPr>
              <a:t>asignados</a:t>
            </a:r>
            <a:r>
              <a:rPr sz="2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5" dirty="0">
                <a:latin typeface="Arial" panose="020B0604020202020204" pitchFamily="34" charset="0"/>
                <a:cs typeface="Arial" panose="020B0604020202020204" pitchFamily="34" charset="0"/>
              </a:rPr>
              <a:t>proyecto.</a:t>
            </a:r>
            <a:r>
              <a:rPr sz="2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600" spc="-10" dirty="0">
                <a:latin typeface="Arial" panose="020B0604020202020204" pitchFamily="34" charset="0"/>
                <a:cs typeface="Arial" panose="020B0604020202020204" pitchFamily="34" charset="0"/>
              </a:rPr>
              <a:t>Puedes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definir</a:t>
            </a:r>
            <a:r>
              <a:rPr sz="2600" spc="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600" spc="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costos</a:t>
            </a:r>
            <a:r>
              <a:rPr sz="2600" spc="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asociados</a:t>
            </a:r>
            <a:r>
              <a:rPr lang="es-ES" sz="26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es-ES" sz="2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lang="es-ES" sz="2600" spc="6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tareas</a:t>
            </a:r>
            <a:r>
              <a:rPr sz="2600" spc="6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600" spc="6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actividades,</a:t>
            </a:r>
            <a:r>
              <a:rPr sz="2600" spc="6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es-ES" sz="260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es-ES" sz="2600" spc="4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600" spc="-50" dirty="0"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0" dirty="0">
                <a:latin typeface="Arial" panose="020B0604020202020204" pitchFamily="34" charset="0"/>
                <a:cs typeface="Arial" panose="020B0604020202020204" pitchFamily="34" charset="0"/>
              </a:rPr>
              <a:t>automáticamente</a:t>
            </a:r>
            <a:r>
              <a:rPr sz="26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6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costos</a:t>
            </a:r>
            <a:r>
              <a:rPr sz="26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20" dirty="0">
                <a:latin typeface="Arial" panose="020B0604020202020204" pitchFamily="34" charset="0"/>
                <a:cs typeface="Arial" panose="020B0604020202020204" pitchFamily="34" charset="0"/>
              </a:rPr>
              <a:t>totales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600" spc="18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sz="2600" spc="18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600" spc="18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sz="2600" spc="18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600" spc="18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600" spc="-25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sz="2600" spc="-75" dirty="0">
                <a:latin typeface="Arial" panose="020B0604020202020204" pitchFamily="34" charset="0"/>
                <a:cs typeface="Arial" panose="020B0604020202020204" pitchFamily="34" charset="0"/>
              </a:rPr>
              <a:t>asignaciones</a:t>
            </a:r>
            <a:r>
              <a:rPr sz="260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6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duraciones.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42610" y="2516187"/>
            <a:ext cx="11298238" cy="525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29565" algn="ctr">
              <a:lnSpc>
                <a:spcPct val="116700"/>
              </a:lnSpc>
              <a:spcBef>
                <a:spcPts val="95"/>
              </a:spcBef>
            </a:pPr>
            <a:r>
              <a:rPr sz="10000" dirty="0"/>
              <a:t>INTRODUCCIÓN AL ANALISIS </a:t>
            </a:r>
            <a:br>
              <a:rPr lang="es-ES" sz="10000" dirty="0"/>
            </a:br>
            <a:r>
              <a:rPr sz="10000" dirty="0"/>
              <a:t>DE DATOS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974" y="5372100"/>
            <a:ext cx="6410309" cy="39623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21733" y="868044"/>
            <a:ext cx="12675343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0895">
              <a:lnSpc>
                <a:spcPct val="100000"/>
              </a:lnSpc>
              <a:spcBef>
                <a:spcPts val="100"/>
              </a:spcBef>
            </a:pPr>
            <a:r>
              <a:rPr dirty="0"/>
              <a:t>¿QUÉ ES EL ANÁLISIS DE DATOS?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2333852" y="2698702"/>
            <a:ext cx="13076555" cy="392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dirty="0"/>
              <a:t>El</a:t>
            </a:r>
            <a:r>
              <a:rPr spc="-140" dirty="0"/>
              <a:t> </a:t>
            </a:r>
            <a:r>
              <a:rPr spc="-65" dirty="0"/>
              <a:t>análisis</a:t>
            </a:r>
            <a:r>
              <a:rPr spc="-14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spc="-20" dirty="0"/>
              <a:t>datos</a:t>
            </a:r>
            <a:r>
              <a:rPr spc="-140" dirty="0"/>
              <a:t> </a:t>
            </a:r>
            <a:r>
              <a:rPr dirty="0"/>
              <a:t>se</a:t>
            </a:r>
            <a:r>
              <a:rPr spc="-140" dirty="0"/>
              <a:t> </a:t>
            </a:r>
            <a:r>
              <a:rPr spc="-10" dirty="0"/>
              <a:t>refiere</a:t>
            </a:r>
            <a:r>
              <a:rPr spc="-140" dirty="0"/>
              <a:t> </a:t>
            </a:r>
            <a:r>
              <a:rPr dirty="0"/>
              <a:t>al</a:t>
            </a:r>
            <a:r>
              <a:rPr spc="-135" dirty="0"/>
              <a:t> </a:t>
            </a:r>
            <a:r>
              <a:rPr spc="-30" dirty="0"/>
              <a:t>proceso</a:t>
            </a:r>
            <a:r>
              <a:rPr spc="-140" dirty="0"/>
              <a:t> </a:t>
            </a:r>
            <a:r>
              <a:rPr dirty="0"/>
              <a:t>de</a:t>
            </a:r>
            <a:r>
              <a:rPr spc="-140" dirty="0"/>
              <a:t> </a:t>
            </a:r>
            <a:r>
              <a:rPr spc="-60" dirty="0"/>
              <a:t>inspeccionar,</a:t>
            </a:r>
            <a:r>
              <a:rPr spc="-135" dirty="0"/>
              <a:t> </a:t>
            </a:r>
            <a:r>
              <a:rPr spc="-35" dirty="0"/>
              <a:t>limpiar</a:t>
            </a:r>
            <a:r>
              <a:rPr spc="-140" dirty="0"/>
              <a:t> </a:t>
            </a:r>
            <a:r>
              <a:rPr dirty="0"/>
              <a:t>y</a:t>
            </a:r>
            <a:r>
              <a:rPr spc="-140" dirty="0"/>
              <a:t> </a:t>
            </a:r>
            <a:r>
              <a:rPr spc="-10" dirty="0"/>
              <a:t>modelar</a:t>
            </a:r>
            <a:r>
              <a:rPr spc="-135" dirty="0"/>
              <a:t> </a:t>
            </a:r>
            <a:r>
              <a:rPr spc="-20" dirty="0"/>
              <a:t>datos</a:t>
            </a:r>
            <a:r>
              <a:rPr spc="-140" dirty="0"/>
              <a:t> </a:t>
            </a:r>
            <a:r>
              <a:rPr spc="-25" dirty="0"/>
              <a:t>con </a:t>
            </a:r>
            <a:r>
              <a:rPr dirty="0"/>
              <a:t>el </a:t>
            </a:r>
            <a:r>
              <a:rPr spc="-10" dirty="0"/>
              <a:t>objetivo</a:t>
            </a:r>
            <a:r>
              <a:rPr spc="1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dirty="0"/>
              <a:t>descubrir</a:t>
            </a:r>
            <a:r>
              <a:rPr spc="10" dirty="0"/>
              <a:t> </a:t>
            </a:r>
            <a:r>
              <a:rPr spc="-10" dirty="0"/>
              <a:t>información</a:t>
            </a:r>
            <a:r>
              <a:rPr spc="10" dirty="0"/>
              <a:t> </a:t>
            </a:r>
            <a:r>
              <a:rPr spc="-10" dirty="0"/>
              <a:t>útil,</a:t>
            </a:r>
            <a:r>
              <a:rPr spc="10" dirty="0"/>
              <a:t> </a:t>
            </a:r>
            <a:r>
              <a:rPr dirty="0"/>
              <a:t>llegar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35" dirty="0"/>
              <a:t>conclusiones</a:t>
            </a:r>
            <a:r>
              <a:rPr spc="10" dirty="0"/>
              <a:t> </a:t>
            </a:r>
            <a:r>
              <a:rPr dirty="0"/>
              <a:t>y</a:t>
            </a:r>
            <a:r>
              <a:rPr spc="10" dirty="0"/>
              <a:t> </a:t>
            </a:r>
            <a:r>
              <a:rPr dirty="0"/>
              <a:t>apoyar</a:t>
            </a:r>
            <a:r>
              <a:rPr spc="10" dirty="0"/>
              <a:t> </a:t>
            </a:r>
            <a:r>
              <a:rPr dirty="0"/>
              <a:t>la</a:t>
            </a:r>
            <a:r>
              <a:rPr spc="10" dirty="0"/>
              <a:t> </a:t>
            </a:r>
            <a:r>
              <a:rPr dirty="0"/>
              <a:t>toma</a:t>
            </a:r>
            <a:r>
              <a:rPr spc="10" dirty="0"/>
              <a:t> </a:t>
            </a:r>
            <a:r>
              <a:rPr spc="-35" dirty="0"/>
              <a:t>de </a:t>
            </a:r>
            <a:r>
              <a:rPr spc="-60" dirty="0"/>
              <a:t>decisiones.</a:t>
            </a:r>
            <a:r>
              <a:rPr spc="-114" dirty="0"/>
              <a:t> </a:t>
            </a:r>
            <a:r>
              <a:rPr dirty="0"/>
              <a:t>Es</a:t>
            </a:r>
            <a:r>
              <a:rPr spc="-110" dirty="0"/>
              <a:t> </a:t>
            </a:r>
            <a:r>
              <a:rPr dirty="0"/>
              <a:t>un</a:t>
            </a:r>
            <a:r>
              <a:rPr spc="-110" dirty="0"/>
              <a:t> </a:t>
            </a:r>
            <a:r>
              <a:rPr spc="-20" dirty="0"/>
              <a:t>pilar</a:t>
            </a:r>
            <a:r>
              <a:rPr spc="-110" dirty="0"/>
              <a:t> </a:t>
            </a:r>
            <a:r>
              <a:rPr dirty="0"/>
              <a:t>en</a:t>
            </a:r>
            <a:r>
              <a:rPr spc="-110" dirty="0"/>
              <a:t> </a:t>
            </a:r>
            <a:r>
              <a:rPr dirty="0"/>
              <a:t>la</a:t>
            </a:r>
            <a:r>
              <a:rPr spc="-110" dirty="0"/>
              <a:t> </a:t>
            </a:r>
            <a:r>
              <a:rPr dirty="0"/>
              <a:t>toma</a:t>
            </a:r>
            <a:r>
              <a:rPr spc="-110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50" dirty="0"/>
              <a:t>decisiones</a:t>
            </a:r>
            <a:r>
              <a:rPr spc="-110" dirty="0"/>
              <a:t> </a:t>
            </a:r>
            <a:r>
              <a:rPr dirty="0"/>
              <a:t>en</a:t>
            </a:r>
            <a:r>
              <a:rPr spc="-114" dirty="0"/>
              <a:t> </a:t>
            </a:r>
            <a:r>
              <a:rPr spc="-10" dirty="0"/>
              <a:t>las</a:t>
            </a:r>
            <a:r>
              <a:rPr spc="-110" dirty="0"/>
              <a:t> </a:t>
            </a:r>
            <a:r>
              <a:rPr spc="-10" dirty="0"/>
              <a:t>empresas</a:t>
            </a:r>
            <a:r>
              <a:rPr spc="-110" dirty="0"/>
              <a:t> </a:t>
            </a:r>
            <a:r>
              <a:rPr dirty="0"/>
              <a:t>y</a:t>
            </a:r>
            <a:r>
              <a:rPr spc="-110" dirty="0"/>
              <a:t> </a:t>
            </a:r>
            <a:r>
              <a:rPr spc="-75" dirty="0"/>
              <a:t>organizaciones,</a:t>
            </a:r>
            <a:r>
              <a:rPr spc="-110" dirty="0"/>
              <a:t> </a:t>
            </a:r>
            <a:r>
              <a:rPr spc="-25" dirty="0"/>
              <a:t>ya </a:t>
            </a:r>
            <a:r>
              <a:rPr dirty="0"/>
              <a:t>que</a:t>
            </a:r>
            <a:r>
              <a:rPr spc="250" dirty="0"/>
              <a:t> </a:t>
            </a:r>
            <a:r>
              <a:rPr dirty="0"/>
              <a:t>permite</a:t>
            </a:r>
            <a:r>
              <a:rPr spc="265" dirty="0"/>
              <a:t> </a:t>
            </a:r>
            <a:r>
              <a:rPr dirty="0"/>
              <a:t>identificar</a:t>
            </a:r>
            <a:r>
              <a:rPr spc="260" dirty="0"/>
              <a:t> </a:t>
            </a:r>
            <a:r>
              <a:rPr dirty="0"/>
              <a:t>patrones,</a:t>
            </a:r>
            <a:r>
              <a:rPr spc="260" dirty="0"/>
              <a:t> </a:t>
            </a:r>
            <a:r>
              <a:rPr dirty="0"/>
              <a:t>optimizar</a:t>
            </a:r>
            <a:r>
              <a:rPr spc="265" dirty="0"/>
              <a:t> </a:t>
            </a:r>
            <a:r>
              <a:rPr dirty="0"/>
              <a:t>operaciones</a:t>
            </a:r>
            <a:r>
              <a:rPr spc="260" dirty="0"/>
              <a:t> </a:t>
            </a:r>
            <a:r>
              <a:rPr dirty="0"/>
              <a:t>y</a:t>
            </a:r>
            <a:r>
              <a:rPr spc="260" dirty="0"/>
              <a:t> </a:t>
            </a:r>
            <a:r>
              <a:rPr dirty="0"/>
              <a:t>mejorar</a:t>
            </a:r>
            <a:r>
              <a:rPr spc="260" dirty="0"/>
              <a:t> </a:t>
            </a:r>
            <a:r>
              <a:rPr dirty="0"/>
              <a:t>el</a:t>
            </a:r>
            <a:r>
              <a:rPr spc="265" dirty="0"/>
              <a:t> </a:t>
            </a:r>
            <a:r>
              <a:rPr spc="-10" dirty="0"/>
              <a:t>desempeño general.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49528" y="582458"/>
            <a:ext cx="7188943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0"/>
              </a:spcBef>
            </a:pPr>
            <a:r>
              <a:rPr dirty="0"/>
              <a:t>CICLO DE VIDA DEL ANÁLISIS DE DATOS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7672" y="3771582"/>
            <a:ext cx="114300" cy="1143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7672" y="4666932"/>
            <a:ext cx="114300" cy="1143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7672" y="5114607"/>
            <a:ext cx="114300" cy="114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7672" y="6009957"/>
            <a:ext cx="114300" cy="114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7672" y="6905307"/>
            <a:ext cx="114300" cy="1143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xfrm>
            <a:off x="1437797" y="2652325"/>
            <a:ext cx="13076555" cy="4937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dirty="0"/>
              <a:t>El</a:t>
            </a:r>
            <a:r>
              <a:rPr spc="10" dirty="0"/>
              <a:t> </a:t>
            </a:r>
            <a:r>
              <a:rPr dirty="0"/>
              <a:t>proceso</a:t>
            </a:r>
            <a:r>
              <a:rPr spc="1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spc="-30" dirty="0"/>
              <a:t>análisis</a:t>
            </a:r>
            <a:r>
              <a:rPr spc="10" dirty="0"/>
              <a:t> </a:t>
            </a:r>
            <a:r>
              <a:rPr dirty="0"/>
              <a:t>de</a:t>
            </a:r>
            <a:r>
              <a:rPr spc="5" dirty="0"/>
              <a:t> </a:t>
            </a:r>
            <a:r>
              <a:rPr dirty="0"/>
              <a:t>datos</a:t>
            </a:r>
            <a:r>
              <a:rPr spc="10" dirty="0"/>
              <a:t> </a:t>
            </a:r>
            <a:r>
              <a:rPr spc="-10" dirty="0"/>
              <a:t>generalmente</a:t>
            </a:r>
            <a:r>
              <a:rPr spc="10" dirty="0"/>
              <a:t> </a:t>
            </a:r>
            <a:r>
              <a:rPr spc="-25" dirty="0"/>
              <a:t>sigue</a:t>
            </a:r>
            <a:r>
              <a:rPr spc="10" dirty="0"/>
              <a:t> </a:t>
            </a:r>
            <a:r>
              <a:rPr dirty="0"/>
              <a:t>un</a:t>
            </a:r>
            <a:r>
              <a:rPr spc="10" dirty="0"/>
              <a:t> </a:t>
            </a:r>
            <a:r>
              <a:rPr spc="-20" dirty="0"/>
              <a:t>ciclo</a:t>
            </a:r>
            <a:r>
              <a:rPr spc="1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dirty="0"/>
              <a:t>vida</a:t>
            </a:r>
            <a:r>
              <a:rPr spc="10" dirty="0"/>
              <a:t> </a:t>
            </a:r>
            <a:r>
              <a:rPr dirty="0"/>
              <a:t>que</a:t>
            </a:r>
            <a:r>
              <a:rPr spc="10" dirty="0"/>
              <a:t> </a:t>
            </a:r>
            <a:r>
              <a:rPr spc="-20" dirty="0"/>
              <a:t>incluye</a:t>
            </a:r>
            <a:r>
              <a:rPr spc="5" dirty="0"/>
              <a:t> </a:t>
            </a:r>
            <a:r>
              <a:rPr spc="-25" dirty="0"/>
              <a:t>las </a:t>
            </a:r>
            <a:r>
              <a:rPr spc="-75" dirty="0"/>
              <a:t>siguientes</a:t>
            </a:r>
            <a:r>
              <a:rPr spc="-120" dirty="0"/>
              <a:t> </a:t>
            </a:r>
            <a:r>
              <a:rPr spc="-10" dirty="0"/>
              <a:t>etapas:</a:t>
            </a:r>
          </a:p>
          <a:p>
            <a:pPr marL="565150" marR="5080">
              <a:lnSpc>
                <a:spcPct val="115199"/>
              </a:lnSpc>
            </a:pPr>
            <a:r>
              <a:rPr spc="-35" dirty="0"/>
              <a:t>Recopilación</a:t>
            </a:r>
            <a:r>
              <a:rPr spc="5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spc="-10" dirty="0"/>
              <a:t>datos:</a:t>
            </a:r>
            <a:r>
              <a:rPr spc="10" dirty="0"/>
              <a:t> </a:t>
            </a:r>
            <a:r>
              <a:rPr dirty="0"/>
              <a:t>obtener</a:t>
            </a:r>
            <a:r>
              <a:rPr spc="15" dirty="0"/>
              <a:t> </a:t>
            </a:r>
            <a:r>
              <a:rPr dirty="0"/>
              <a:t>datos</a:t>
            </a:r>
            <a:r>
              <a:rPr spc="15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spc="-10" dirty="0"/>
              <a:t>diversas</a:t>
            </a:r>
            <a:r>
              <a:rPr spc="15" dirty="0"/>
              <a:t> </a:t>
            </a:r>
            <a:r>
              <a:rPr dirty="0"/>
              <a:t>fuentes</a:t>
            </a:r>
            <a:r>
              <a:rPr spc="10" dirty="0"/>
              <a:t> </a:t>
            </a:r>
            <a:r>
              <a:rPr dirty="0"/>
              <a:t>como</a:t>
            </a:r>
            <a:r>
              <a:rPr spc="15" dirty="0"/>
              <a:t> </a:t>
            </a:r>
            <a:r>
              <a:rPr dirty="0"/>
              <a:t>bases</a:t>
            </a:r>
            <a:r>
              <a:rPr spc="15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spc="-10" dirty="0"/>
              <a:t>datos, </a:t>
            </a:r>
            <a:r>
              <a:rPr spc="-65" dirty="0"/>
              <a:t>hojas</a:t>
            </a:r>
            <a:r>
              <a:rPr spc="-125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spc="-85" dirty="0"/>
              <a:t>cálculo,</a:t>
            </a:r>
            <a:r>
              <a:rPr spc="-125" dirty="0"/>
              <a:t> </a:t>
            </a:r>
            <a:r>
              <a:rPr spc="-65" dirty="0"/>
              <a:t>sistemas</a:t>
            </a:r>
            <a:r>
              <a:rPr spc="-120" dirty="0"/>
              <a:t> </a:t>
            </a:r>
            <a:r>
              <a:rPr spc="-50" dirty="0"/>
              <a:t>empresariales,</a:t>
            </a:r>
            <a:r>
              <a:rPr spc="-125" dirty="0"/>
              <a:t> </a:t>
            </a:r>
            <a:r>
              <a:rPr spc="-20" dirty="0"/>
              <a:t>etc.</a:t>
            </a:r>
          </a:p>
          <a:p>
            <a:pPr marL="565150" marR="5080">
              <a:lnSpc>
                <a:spcPct val="115199"/>
              </a:lnSpc>
            </a:pPr>
            <a:r>
              <a:rPr spc="-80" dirty="0"/>
              <a:t>Limpieza</a:t>
            </a:r>
            <a:r>
              <a:rPr spc="-135" dirty="0"/>
              <a:t> </a:t>
            </a:r>
            <a:r>
              <a:rPr dirty="0"/>
              <a:t>de</a:t>
            </a:r>
            <a:r>
              <a:rPr spc="-130" dirty="0"/>
              <a:t> </a:t>
            </a:r>
            <a:r>
              <a:rPr spc="-70" dirty="0"/>
              <a:t>datos:</a:t>
            </a:r>
            <a:r>
              <a:rPr spc="-130" dirty="0"/>
              <a:t> </a:t>
            </a:r>
            <a:r>
              <a:rPr spc="-45" dirty="0"/>
              <a:t>eliminar</a:t>
            </a:r>
            <a:r>
              <a:rPr spc="-130" dirty="0"/>
              <a:t> </a:t>
            </a:r>
            <a:r>
              <a:rPr spc="-45" dirty="0"/>
              <a:t>errores,</a:t>
            </a:r>
            <a:r>
              <a:rPr spc="-130" dirty="0"/>
              <a:t> </a:t>
            </a:r>
            <a:r>
              <a:rPr spc="-60" dirty="0"/>
              <a:t>duplicados</a:t>
            </a:r>
            <a:r>
              <a:rPr spc="-130" dirty="0"/>
              <a:t> </a:t>
            </a:r>
            <a:r>
              <a:rPr dirty="0"/>
              <a:t>y</a:t>
            </a:r>
            <a:r>
              <a:rPr spc="-130" dirty="0"/>
              <a:t> </a:t>
            </a:r>
            <a:r>
              <a:rPr spc="-20" dirty="0"/>
              <a:t>tratar</a:t>
            </a:r>
            <a:r>
              <a:rPr spc="-130" dirty="0"/>
              <a:t> </a:t>
            </a:r>
            <a:r>
              <a:rPr spc="-85" dirty="0"/>
              <a:t>los</a:t>
            </a:r>
            <a:r>
              <a:rPr spc="-130" dirty="0"/>
              <a:t> </a:t>
            </a:r>
            <a:r>
              <a:rPr spc="-50" dirty="0"/>
              <a:t>valores</a:t>
            </a:r>
            <a:r>
              <a:rPr spc="-130" dirty="0"/>
              <a:t> </a:t>
            </a:r>
            <a:r>
              <a:rPr spc="-10" dirty="0"/>
              <a:t>faltantes. </a:t>
            </a:r>
            <a:endParaRPr lang="es-ES" spc="-10" dirty="0"/>
          </a:p>
          <a:p>
            <a:pPr marL="565150" marR="5080">
              <a:lnSpc>
                <a:spcPct val="115199"/>
              </a:lnSpc>
            </a:pPr>
            <a:r>
              <a:rPr spc="-55" dirty="0" err="1"/>
              <a:t>Análisis</a:t>
            </a:r>
            <a:r>
              <a:rPr spc="-55" dirty="0"/>
              <a:t>:</a:t>
            </a:r>
            <a:r>
              <a:rPr spc="110" dirty="0"/>
              <a:t> </a:t>
            </a:r>
            <a:r>
              <a:rPr dirty="0"/>
              <a:t>aplicar</a:t>
            </a:r>
            <a:r>
              <a:rPr spc="105" dirty="0"/>
              <a:t> </a:t>
            </a:r>
            <a:r>
              <a:rPr spc="-10" dirty="0"/>
              <a:t>técnicas</a:t>
            </a:r>
            <a:r>
              <a:rPr spc="110" dirty="0"/>
              <a:t> </a:t>
            </a:r>
            <a:r>
              <a:rPr spc="-35" dirty="0"/>
              <a:t>estadísticas</a:t>
            </a:r>
            <a:r>
              <a:rPr spc="105" dirty="0"/>
              <a:t> </a:t>
            </a:r>
            <a:r>
              <a:rPr dirty="0"/>
              <a:t>y</a:t>
            </a:r>
            <a:r>
              <a:rPr spc="110" dirty="0"/>
              <a:t> </a:t>
            </a:r>
            <a:r>
              <a:rPr dirty="0"/>
              <a:t>herramientas</a:t>
            </a:r>
            <a:r>
              <a:rPr spc="105" dirty="0"/>
              <a:t> </a:t>
            </a:r>
            <a:r>
              <a:rPr dirty="0"/>
              <a:t>para</a:t>
            </a:r>
            <a:r>
              <a:rPr spc="110" dirty="0"/>
              <a:t> </a:t>
            </a:r>
            <a:r>
              <a:rPr dirty="0"/>
              <a:t>encontrar</a:t>
            </a:r>
            <a:r>
              <a:rPr spc="110" dirty="0"/>
              <a:t> </a:t>
            </a:r>
            <a:r>
              <a:rPr dirty="0"/>
              <a:t>patrones</a:t>
            </a:r>
            <a:r>
              <a:rPr spc="105" dirty="0"/>
              <a:t> </a:t>
            </a:r>
            <a:r>
              <a:rPr spc="-50" dirty="0"/>
              <a:t>y </a:t>
            </a:r>
            <a:r>
              <a:rPr spc="-10" dirty="0"/>
              <a:t>tendencias.</a:t>
            </a:r>
          </a:p>
          <a:p>
            <a:pPr marL="565150" marR="5080">
              <a:lnSpc>
                <a:spcPct val="115199"/>
              </a:lnSpc>
            </a:pPr>
            <a:r>
              <a:rPr spc="-70" dirty="0"/>
              <a:t>Visualización:</a:t>
            </a:r>
            <a:r>
              <a:rPr spc="110" dirty="0"/>
              <a:t> </a:t>
            </a:r>
            <a:r>
              <a:rPr dirty="0"/>
              <a:t>representar</a:t>
            </a:r>
            <a:r>
              <a:rPr spc="120" dirty="0"/>
              <a:t> </a:t>
            </a:r>
            <a:r>
              <a:rPr dirty="0"/>
              <a:t>los</a:t>
            </a:r>
            <a:r>
              <a:rPr spc="120" dirty="0"/>
              <a:t> </a:t>
            </a:r>
            <a:r>
              <a:rPr spc="-10" dirty="0"/>
              <a:t>resultados</a:t>
            </a:r>
            <a:r>
              <a:rPr spc="120" dirty="0"/>
              <a:t> </a:t>
            </a:r>
            <a:r>
              <a:rPr dirty="0"/>
              <a:t>del</a:t>
            </a:r>
            <a:r>
              <a:rPr spc="120" dirty="0"/>
              <a:t> </a:t>
            </a:r>
            <a:r>
              <a:rPr spc="-25" dirty="0"/>
              <a:t>análisis</a:t>
            </a:r>
            <a:r>
              <a:rPr spc="120" dirty="0"/>
              <a:t> </a:t>
            </a:r>
            <a:r>
              <a:rPr dirty="0"/>
              <a:t>mediante</a:t>
            </a:r>
            <a:r>
              <a:rPr spc="120" dirty="0"/>
              <a:t> </a:t>
            </a:r>
            <a:r>
              <a:rPr spc="-30" dirty="0"/>
              <a:t>gráficos</a:t>
            </a:r>
            <a:r>
              <a:rPr spc="120" dirty="0"/>
              <a:t> </a:t>
            </a:r>
            <a:r>
              <a:rPr dirty="0"/>
              <a:t>y</a:t>
            </a:r>
            <a:r>
              <a:rPr spc="120" dirty="0"/>
              <a:t> </a:t>
            </a:r>
            <a:r>
              <a:rPr spc="-10" dirty="0"/>
              <a:t>tablas </a:t>
            </a:r>
            <a:r>
              <a:rPr dirty="0"/>
              <a:t>para</a:t>
            </a:r>
            <a:r>
              <a:rPr spc="-135" dirty="0"/>
              <a:t> </a:t>
            </a:r>
            <a:r>
              <a:rPr spc="-70" dirty="0"/>
              <a:t>facilitar</a:t>
            </a:r>
            <a:r>
              <a:rPr spc="-130" dirty="0"/>
              <a:t> </a:t>
            </a:r>
            <a:r>
              <a:rPr spc="-50" dirty="0"/>
              <a:t>la</a:t>
            </a:r>
            <a:r>
              <a:rPr spc="-130" dirty="0"/>
              <a:t> </a:t>
            </a:r>
            <a:r>
              <a:rPr spc="-10" dirty="0"/>
              <a:t>interpretación.</a:t>
            </a:r>
          </a:p>
          <a:p>
            <a:pPr marL="565150" marR="5080">
              <a:lnSpc>
                <a:spcPct val="115199"/>
              </a:lnSpc>
            </a:pPr>
            <a:r>
              <a:rPr dirty="0"/>
              <a:t>Toma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45" dirty="0"/>
              <a:t>decisiones:</a:t>
            </a:r>
            <a:r>
              <a:rPr spc="-70" dirty="0"/>
              <a:t> </a:t>
            </a:r>
            <a:r>
              <a:rPr dirty="0"/>
              <a:t>usar</a:t>
            </a:r>
            <a:r>
              <a:rPr spc="-70" dirty="0"/>
              <a:t> </a:t>
            </a:r>
            <a:r>
              <a:rPr dirty="0"/>
              <a:t>los</a:t>
            </a:r>
            <a:r>
              <a:rPr spc="-70" dirty="0"/>
              <a:t> </a:t>
            </a:r>
            <a:r>
              <a:rPr spc="-65" dirty="0"/>
              <a:t>insights</a:t>
            </a:r>
            <a:r>
              <a:rPr spc="-70" dirty="0"/>
              <a:t> </a:t>
            </a:r>
            <a:r>
              <a:rPr spc="-20" dirty="0"/>
              <a:t>obtenidos</a:t>
            </a:r>
            <a:r>
              <a:rPr spc="-70" dirty="0"/>
              <a:t> </a:t>
            </a:r>
            <a:r>
              <a:rPr dirty="0"/>
              <a:t>para</a:t>
            </a:r>
            <a:r>
              <a:rPr spc="-70" dirty="0"/>
              <a:t> </a:t>
            </a:r>
            <a:r>
              <a:rPr dirty="0"/>
              <a:t>informar</a:t>
            </a:r>
            <a:r>
              <a:rPr spc="-70" dirty="0"/>
              <a:t> </a:t>
            </a:r>
            <a:r>
              <a:rPr dirty="0"/>
              <a:t>las</a:t>
            </a:r>
            <a:r>
              <a:rPr spc="-75" dirty="0"/>
              <a:t> </a:t>
            </a:r>
            <a:r>
              <a:rPr spc="-35" dirty="0"/>
              <a:t>estrategias</a:t>
            </a:r>
            <a:r>
              <a:rPr spc="-70" dirty="0"/>
              <a:t> </a:t>
            </a:r>
            <a:r>
              <a:rPr spc="-25" dirty="0"/>
              <a:t>de </a:t>
            </a:r>
            <a:r>
              <a:rPr spc="-80" dirty="0"/>
              <a:t>negocio</a:t>
            </a:r>
            <a:r>
              <a:rPr spc="-145" dirty="0"/>
              <a:t> </a:t>
            </a:r>
            <a:r>
              <a:rPr dirty="0"/>
              <a:t>o</a:t>
            </a:r>
            <a:r>
              <a:rPr spc="-140" dirty="0"/>
              <a:t> </a:t>
            </a:r>
            <a:r>
              <a:rPr spc="-25" dirty="0"/>
              <a:t>mejorar</a:t>
            </a:r>
            <a:r>
              <a:rPr spc="-145" dirty="0"/>
              <a:t> </a:t>
            </a:r>
            <a:r>
              <a:rPr spc="-10" dirty="0"/>
              <a:t>operaciones.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81400" y="1283214"/>
            <a:ext cx="9093943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2715">
              <a:lnSpc>
                <a:spcPct val="100000"/>
              </a:lnSpc>
              <a:spcBef>
                <a:spcPts val="100"/>
              </a:spcBef>
            </a:pPr>
            <a:r>
              <a:rPr lang="es-GT" noProof="0" dirty="0"/>
              <a:t>TIPOS DE DATOS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66652" y="3036873"/>
            <a:ext cx="12523470" cy="40609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151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s-GT" sz="2550" b="1" noProof="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s-GT" sz="2550" b="1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b="1" spc="-35" noProof="0" dirty="0">
                <a:latin typeface="Arial" panose="020B0604020202020204" pitchFamily="34" charset="0"/>
                <a:cs typeface="Arial" panose="020B0604020202020204" pitchFamily="34" charset="0"/>
              </a:rPr>
              <a:t>Estructurados:</a:t>
            </a:r>
            <a:r>
              <a:rPr lang="es-GT" sz="2550" b="1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55" noProof="0" dirty="0">
                <a:latin typeface="Arial" panose="020B0604020202020204" pitchFamily="34" charset="0"/>
                <a:cs typeface="Arial" panose="020B0604020202020204" pitchFamily="34" charset="0"/>
              </a:rPr>
              <a:t>Organizados</a:t>
            </a:r>
            <a:r>
              <a:rPr lang="es-GT" sz="2550" spc="-8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GT" sz="2550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s-GT" sz="2550" spc="-8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es-GT" sz="2550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30" noProof="0" dirty="0">
                <a:latin typeface="Arial" panose="020B0604020202020204" pitchFamily="34" charset="0"/>
                <a:cs typeface="Arial" panose="020B0604020202020204" pitchFamily="34" charset="0"/>
              </a:rPr>
              <a:t>filas</a:t>
            </a:r>
            <a:r>
              <a:rPr lang="es-GT" sz="2550" spc="-8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GT" sz="2550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45" noProof="0" dirty="0">
                <a:latin typeface="Arial" panose="020B0604020202020204" pitchFamily="34" charset="0"/>
                <a:cs typeface="Arial" panose="020B0604020202020204" pitchFamily="34" charset="0"/>
              </a:rPr>
              <a:t>columnas,</a:t>
            </a:r>
            <a:r>
              <a:rPr lang="es-GT" sz="2550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s-GT" sz="2550" spc="-8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GT" sz="2550" spc="-9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bases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50" noProof="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60" noProof="0" dirty="0">
                <a:latin typeface="Arial" panose="020B0604020202020204" pitchFamily="34" charset="0"/>
                <a:cs typeface="Arial" panose="020B0604020202020204" pitchFamily="34" charset="0"/>
              </a:rPr>
              <a:t>relacionales.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55" noProof="0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55" noProof="0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85" noProof="0" dirty="0">
                <a:latin typeface="Arial" panose="020B0604020202020204" pitchFamily="34" charset="0"/>
                <a:cs typeface="Arial" panose="020B0604020202020204" pitchFamily="34" charset="0"/>
              </a:rPr>
              <a:t>clientes,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65" noProof="0" dirty="0">
                <a:latin typeface="Arial" panose="020B0604020202020204" pitchFamily="34" charset="0"/>
                <a:cs typeface="Arial" panose="020B0604020202020204" pitchFamily="34" charset="0"/>
              </a:rPr>
              <a:t>productos,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ventas.</a:t>
            </a:r>
          </a:p>
          <a:p>
            <a:pPr marL="12700" marR="5080">
              <a:lnSpc>
                <a:spcPct val="115199"/>
              </a:lnSpc>
              <a:spcBef>
                <a:spcPts val="95"/>
              </a:spcBef>
            </a:pPr>
            <a:endParaRPr lang="es-GT" sz="255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5080" indent="-457200">
              <a:lnSpc>
                <a:spcPct val="115199"/>
              </a:lnSpc>
              <a:buFont typeface="Arial" panose="020B0604020202020204" pitchFamily="34" charset="0"/>
              <a:buChar char="•"/>
              <a:tabLst>
                <a:tab pos="1103630" algn="l"/>
                <a:tab pos="1752600" algn="l"/>
                <a:tab pos="4162425" algn="l"/>
                <a:tab pos="6214745" algn="l"/>
                <a:tab pos="7003415" algn="l"/>
                <a:tab pos="7606665" algn="l"/>
                <a:tab pos="8611235" algn="l"/>
                <a:tab pos="9217660" algn="l"/>
                <a:tab pos="10658475" algn="l"/>
              </a:tabLst>
            </a:pPr>
            <a:r>
              <a:rPr lang="es-GT" sz="2550" b="1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Datos </a:t>
            </a:r>
            <a:r>
              <a:rPr lang="es-GT" sz="2550" b="1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s-GT" sz="2550" b="1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Estructurados: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Información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sigue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formato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GT" sz="2550" spc="-50" noProof="0" dirty="0">
                <a:latin typeface="Arial" panose="020B0604020202020204" pitchFamily="34" charset="0"/>
                <a:cs typeface="Arial" panose="020B0604020202020204" pitchFamily="34" charset="0"/>
              </a:rPr>
              <a:t>predefinido. </a:t>
            </a:r>
            <a:r>
              <a:rPr lang="es-GT" sz="2550" spc="-55" noProof="0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40" noProof="0" dirty="0">
                <a:latin typeface="Arial" panose="020B0604020202020204" pitchFamily="34" charset="0"/>
                <a:cs typeface="Arial" panose="020B0604020202020204" pitchFamily="34" charset="0"/>
              </a:rPr>
              <a:t>correos</a:t>
            </a:r>
            <a:r>
              <a:rPr lang="es-GT" sz="2550" spc="-1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70" noProof="0" dirty="0">
                <a:latin typeface="Arial" panose="020B0604020202020204" pitchFamily="34" charset="0"/>
                <a:cs typeface="Arial" panose="020B0604020202020204" pitchFamily="34" charset="0"/>
              </a:rPr>
              <a:t>electrónicos,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80" noProof="0" dirty="0">
                <a:latin typeface="Arial" panose="020B0604020202020204" pitchFamily="34" charset="0"/>
                <a:cs typeface="Arial" panose="020B0604020202020204" pitchFamily="34" charset="0"/>
              </a:rPr>
              <a:t>imágenes,</a:t>
            </a:r>
            <a:r>
              <a:rPr lang="es-GT" sz="2550" spc="-1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75" noProof="0" dirty="0">
                <a:latin typeface="Arial" panose="020B0604020202020204" pitchFamily="34" charset="0"/>
                <a:cs typeface="Arial" panose="020B0604020202020204" pitchFamily="34" charset="0"/>
              </a:rPr>
              <a:t>videos,</a:t>
            </a:r>
            <a:r>
              <a:rPr lang="es-GT" sz="2550" spc="-12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redes</a:t>
            </a:r>
            <a:r>
              <a:rPr lang="es-GT" sz="2550" spc="-12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sociales.</a:t>
            </a:r>
          </a:p>
          <a:p>
            <a:pPr marL="12700" marR="5080">
              <a:lnSpc>
                <a:spcPct val="115199"/>
              </a:lnSpc>
              <a:tabLst>
                <a:tab pos="1103630" algn="l"/>
                <a:tab pos="1752600" algn="l"/>
                <a:tab pos="4162425" algn="l"/>
                <a:tab pos="6214745" algn="l"/>
                <a:tab pos="7003415" algn="l"/>
                <a:tab pos="7606665" algn="l"/>
                <a:tab pos="8611235" algn="l"/>
                <a:tab pos="9217660" algn="l"/>
                <a:tab pos="10658475" algn="l"/>
              </a:tabLst>
            </a:pPr>
            <a:endParaRPr lang="es-GT" sz="255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5080" indent="-457200">
              <a:lnSpc>
                <a:spcPct val="115199"/>
              </a:lnSpc>
              <a:buFont typeface="Arial" panose="020B0604020202020204" pitchFamily="34" charset="0"/>
              <a:buChar char="•"/>
              <a:tabLst>
                <a:tab pos="1141095" algn="l"/>
                <a:tab pos="4438015" algn="l"/>
                <a:tab pos="6244590" algn="l"/>
                <a:tab pos="7900034" algn="l"/>
                <a:tab pos="8341359" algn="l"/>
                <a:tab pos="9504045" algn="l"/>
                <a:tab pos="10330180" algn="l"/>
                <a:tab pos="11008360" algn="l"/>
              </a:tabLst>
            </a:pPr>
            <a:r>
              <a:rPr lang="es-GT" sz="2550" b="1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Datos </a:t>
            </a:r>
            <a:r>
              <a:rPr lang="es-GT" sz="2550" b="1" spc="-160" noProof="0" dirty="0">
                <a:latin typeface="Arial" panose="020B0604020202020204" pitchFamily="34" charset="0"/>
                <a:cs typeface="Arial" panose="020B0604020202020204" pitchFamily="34" charset="0"/>
              </a:rPr>
              <a:t>Semi-</a:t>
            </a:r>
            <a:r>
              <a:rPr lang="es-GT" sz="2550" b="1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 Estructurados :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Contienen etiquetas </a:t>
            </a:r>
            <a:r>
              <a:rPr lang="es-GT" sz="2550" spc="-50" noProof="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claves </a:t>
            </a:r>
            <a:r>
              <a:rPr lang="es-GT" sz="2550" spc="-25" noProof="0" dirty="0">
                <a:latin typeface="Arial" panose="020B0604020202020204" pitchFamily="34" charset="0"/>
                <a:cs typeface="Arial" panose="020B0604020202020204" pitchFamily="34" charset="0"/>
              </a:rPr>
              <a:t>que los organizan </a:t>
            </a:r>
            <a:r>
              <a:rPr lang="es-GT" sz="2550" spc="-50" noProof="0" dirty="0">
                <a:latin typeface="Arial" panose="020B0604020202020204" pitchFamily="34" charset="0"/>
                <a:cs typeface="Arial" panose="020B0604020202020204" pitchFamily="34" charset="0"/>
              </a:rPr>
              <a:t>parcialmente,</a:t>
            </a:r>
            <a:r>
              <a:rPr lang="es-GT" sz="2550" spc="-15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45" noProof="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s-GT" sz="2550" spc="-15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55" noProof="0" dirty="0">
                <a:latin typeface="Arial" panose="020B0604020202020204" pitchFamily="34" charset="0"/>
                <a:cs typeface="Arial" panose="020B0604020202020204" pitchFamily="34" charset="0"/>
              </a:rPr>
              <a:t>archivos</a:t>
            </a:r>
            <a:r>
              <a:rPr lang="es-GT" sz="2550" spc="-15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10" noProof="0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s-GT" sz="2550" spc="-15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noProof="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s-GT" sz="2550" spc="-145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GT" sz="2550" spc="-20" noProof="0" dirty="0">
                <a:latin typeface="Arial" panose="020B0604020202020204" pitchFamily="34" charset="0"/>
                <a:cs typeface="Arial" panose="020B0604020202020204" pitchFamily="34" charset="0"/>
              </a:rPr>
              <a:t>XML.</a:t>
            </a:r>
            <a:endParaRPr lang="es-GT" sz="25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8475" y="1426996"/>
            <a:ext cx="12211049" cy="86648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962899" y="576096"/>
            <a:ext cx="2362200" cy="85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329" y="1847605"/>
            <a:ext cx="10991849" cy="81628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00419" y="276498"/>
            <a:ext cx="1533668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50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206004" y="0"/>
            <a:ext cx="2082164" cy="1921510"/>
          </a:xfrm>
          <a:custGeom>
            <a:avLst/>
            <a:gdLst/>
            <a:ahLst/>
            <a:cxnLst/>
            <a:rect l="l" t="t" r="r" b="b"/>
            <a:pathLst>
              <a:path w="2082165" h="1921510">
                <a:moveTo>
                  <a:pt x="0" y="0"/>
                </a:moveTo>
                <a:lnTo>
                  <a:pt x="2081994" y="0"/>
                </a:lnTo>
                <a:lnTo>
                  <a:pt x="2081994" y="1760333"/>
                </a:lnTo>
                <a:lnTo>
                  <a:pt x="1921386" y="1920941"/>
                </a:lnTo>
                <a:lnTo>
                  <a:pt x="0" y="0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367" y="5265785"/>
            <a:ext cx="6448409" cy="42957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6388" y="4797460"/>
            <a:ext cx="5638799" cy="46386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84712" y="3211921"/>
            <a:ext cx="12690475" cy="1108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Bases</a:t>
            </a:r>
            <a:r>
              <a:rPr sz="31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5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60" dirty="0">
                <a:latin typeface="Arial" panose="020B0604020202020204" pitchFamily="34" charset="0"/>
                <a:cs typeface="Arial" panose="020B0604020202020204" pitchFamily="34" charset="0"/>
              </a:rPr>
              <a:t>relacionales: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60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r>
              <a:rPr sz="31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sz="3150" spc="-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permiten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almacenar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65" dirty="0">
                <a:latin typeface="Arial" panose="020B0604020202020204" pitchFamily="34" charset="0"/>
                <a:cs typeface="Arial" panose="020B0604020202020204" pitchFamily="34" charset="0"/>
              </a:rPr>
              <a:t>gestionar</a:t>
            </a:r>
            <a:r>
              <a:rPr sz="315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5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31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manera estructurada.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8F24ABC-0080-9B47-7C23-5B6F298CFEAD}"/>
              </a:ext>
            </a:extLst>
          </p:cNvPr>
          <p:cNvSpPr txBox="1"/>
          <p:nvPr/>
        </p:nvSpPr>
        <p:spPr>
          <a:xfrm>
            <a:off x="3516498" y="806617"/>
            <a:ext cx="1125500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GT" sz="6000" dirty="0">
                <a:latin typeface="Arial" panose="020B0604020202020204" pitchFamily="34" charset="0"/>
                <a:cs typeface="Arial" panose="020B0604020202020204" pitchFamily="34" charset="0"/>
              </a:rPr>
              <a:t>HERRAMIENTAS COMUNES </a:t>
            </a:r>
          </a:p>
          <a:p>
            <a:r>
              <a:rPr lang="es-GT" sz="6000" dirty="0">
                <a:latin typeface="Arial" panose="020B0604020202020204" pitchFamily="34" charset="0"/>
                <a:cs typeface="Arial" panose="020B0604020202020204" pitchFamily="34" charset="0"/>
              </a:rPr>
              <a:t>PARA EL ANÁLISIS DE DATOS</a:t>
            </a:r>
          </a:p>
          <a:p>
            <a:endParaRPr lang="es-MX" sz="6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276" y="5409712"/>
            <a:ext cx="6143609" cy="35718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7071" y="5604143"/>
            <a:ext cx="5448299" cy="30670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88572" y="5326958"/>
            <a:ext cx="3876689" cy="36575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 idx="4294967295"/>
          </p:nvPr>
        </p:nvSpPr>
        <p:spPr>
          <a:xfrm>
            <a:off x="2953891" y="1615808"/>
            <a:ext cx="12773025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3250" spc="-35" dirty="0"/>
              <a:t>Herramientas</a:t>
            </a:r>
            <a:r>
              <a:rPr sz="3250" spc="-195" dirty="0"/>
              <a:t> </a:t>
            </a:r>
            <a:r>
              <a:rPr sz="3250" dirty="0"/>
              <a:t>de</a:t>
            </a:r>
            <a:r>
              <a:rPr sz="3250" spc="-190" dirty="0"/>
              <a:t> </a:t>
            </a:r>
            <a:r>
              <a:rPr sz="3250" spc="-100" dirty="0"/>
              <a:t>visualización</a:t>
            </a:r>
            <a:r>
              <a:rPr sz="3250" spc="-185" dirty="0"/>
              <a:t> </a:t>
            </a:r>
            <a:r>
              <a:rPr sz="3250" dirty="0"/>
              <a:t>de</a:t>
            </a:r>
            <a:r>
              <a:rPr sz="3250" spc="-185" dirty="0"/>
              <a:t> </a:t>
            </a:r>
            <a:r>
              <a:rPr sz="3250" spc="-85" dirty="0"/>
              <a:t>datos:</a:t>
            </a:r>
            <a:r>
              <a:rPr sz="3250" spc="-185" dirty="0"/>
              <a:t> </a:t>
            </a:r>
            <a:r>
              <a:rPr sz="3250" dirty="0"/>
              <a:t>Power</a:t>
            </a:r>
            <a:r>
              <a:rPr sz="3250" spc="-190" dirty="0"/>
              <a:t> </a:t>
            </a:r>
            <a:r>
              <a:rPr sz="3250" dirty="0"/>
              <a:t>BI,</a:t>
            </a:r>
            <a:r>
              <a:rPr sz="3250" spc="-185" dirty="0"/>
              <a:t> </a:t>
            </a:r>
            <a:r>
              <a:rPr sz="3250" spc="-100" dirty="0"/>
              <a:t>Tableau,</a:t>
            </a:r>
            <a:r>
              <a:rPr sz="3250" spc="-185" dirty="0"/>
              <a:t> </a:t>
            </a:r>
            <a:r>
              <a:rPr sz="3250" dirty="0"/>
              <a:t>y</a:t>
            </a:r>
            <a:r>
              <a:rPr sz="3250" spc="-190" dirty="0"/>
              <a:t> </a:t>
            </a:r>
            <a:r>
              <a:rPr sz="3250" spc="-10" dirty="0"/>
              <a:t>Excel </a:t>
            </a:r>
            <a:r>
              <a:rPr sz="3250" spc="-60" dirty="0"/>
              <a:t>son</a:t>
            </a:r>
            <a:r>
              <a:rPr sz="3250" spc="-200" dirty="0"/>
              <a:t> </a:t>
            </a:r>
            <a:r>
              <a:rPr sz="3250" spc="-40" dirty="0"/>
              <a:t>herramientas</a:t>
            </a:r>
            <a:r>
              <a:rPr sz="3250" spc="-190" dirty="0"/>
              <a:t> </a:t>
            </a:r>
            <a:r>
              <a:rPr sz="3250" spc="-20" dirty="0"/>
              <a:t>que</a:t>
            </a:r>
            <a:r>
              <a:rPr sz="3250" spc="-190" dirty="0"/>
              <a:t> </a:t>
            </a:r>
            <a:r>
              <a:rPr sz="3250" spc="-40" dirty="0"/>
              <a:t>permiten</a:t>
            </a:r>
            <a:r>
              <a:rPr sz="3250" spc="-190" dirty="0"/>
              <a:t> </a:t>
            </a:r>
            <a:r>
              <a:rPr sz="3250" spc="-20" dirty="0"/>
              <a:t>crear</a:t>
            </a:r>
            <a:r>
              <a:rPr sz="3250" spc="-195" dirty="0"/>
              <a:t> </a:t>
            </a:r>
            <a:r>
              <a:rPr sz="3250" spc="-95" dirty="0"/>
              <a:t>visualizaciones</a:t>
            </a:r>
            <a:r>
              <a:rPr sz="3250" spc="-185" dirty="0"/>
              <a:t> </a:t>
            </a:r>
            <a:r>
              <a:rPr sz="3250" spc="-10" dirty="0"/>
              <a:t>interactivas para</a:t>
            </a:r>
            <a:r>
              <a:rPr sz="3250" spc="-204" dirty="0"/>
              <a:t> </a:t>
            </a:r>
            <a:r>
              <a:rPr sz="3250" spc="-35" dirty="0"/>
              <a:t>interpretar</a:t>
            </a:r>
            <a:r>
              <a:rPr sz="3250" spc="-190" dirty="0"/>
              <a:t> </a:t>
            </a:r>
            <a:r>
              <a:rPr sz="3250" spc="-105" dirty="0"/>
              <a:t>los</a:t>
            </a:r>
            <a:r>
              <a:rPr sz="3250" spc="-185" dirty="0"/>
              <a:t> </a:t>
            </a:r>
            <a:r>
              <a:rPr sz="3250" spc="-10" dirty="0"/>
              <a:t>datos.</a:t>
            </a:r>
            <a:endParaRPr sz="3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9269" y="4504486"/>
            <a:ext cx="7658099" cy="43052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108" y="3924300"/>
            <a:ext cx="6591624" cy="450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5" dirty="0">
                <a:latin typeface="Arial" panose="020B0604020202020204" pitchFamily="34" charset="0"/>
                <a:cs typeface="Arial" panose="020B0604020202020204" pitchFamily="34" charset="0"/>
              </a:rPr>
              <a:t>visualización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aplicación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informática</a:t>
            </a:r>
            <a:r>
              <a:rPr sz="2550" spc="5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diseñada</a:t>
            </a:r>
            <a:r>
              <a:rPr sz="2550" spc="5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específicamente</a:t>
            </a:r>
            <a:r>
              <a:rPr sz="2550" spc="5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representar</a:t>
            </a:r>
            <a:r>
              <a:rPr sz="2550" spc="3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36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3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sz="2550" spc="3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sz="2550" spc="3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comprensible.</a:t>
            </a:r>
            <a:r>
              <a:rPr sz="2550" spc="5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2550" spc="56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principal</a:t>
            </a:r>
            <a:r>
              <a:rPr sz="2550" spc="5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sz="2550" spc="5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convertir</a:t>
            </a:r>
            <a:r>
              <a:rPr sz="2550" spc="6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sz="2550" spc="6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6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6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numéricos</a:t>
            </a:r>
            <a:r>
              <a:rPr sz="2550" spc="6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información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compleja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representaciones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visuales,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gráficos,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tablas,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diagramas</a:t>
            </a:r>
            <a:r>
              <a:rPr sz="255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elementos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gráficos,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faciliten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comprensión,</a:t>
            </a:r>
            <a:r>
              <a:rPr sz="2550" spc="3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3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sz="2550" spc="3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3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3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toma</a:t>
            </a:r>
            <a:r>
              <a:rPr sz="2550" spc="3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decisiones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7C26DE5-FAD8-E326-496C-CD5CBD53846A}"/>
              </a:ext>
            </a:extLst>
          </p:cNvPr>
          <p:cNvSpPr txBox="1"/>
          <p:nvPr/>
        </p:nvSpPr>
        <p:spPr>
          <a:xfrm>
            <a:off x="3970887" y="1230494"/>
            <a:ext cx="103462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5500" dirty="0"/>
              <a:t>¿QUÉ ES UN SOFTWARE DE       VISUALIZACIÓN?</a:t>
            </a:r>
            <a:endParaRPr lang="es-MX" sz="5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9625" y="4305300"/>
            <a:ext cx="9048749" cy="50577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93365" y="1216129"/>
            <a:ext cx="13941425" cy="271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programas</a:t>
            </a:r>
            <a:r>
              <a:rPr sz="2550"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permiten</a:t>
            </a:r>
            <a:r>
              <a:rPr sz="2550" spc="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sz="2550" spc="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cargar</a:t>
            </a:r>
            <a:r>
              <a:rPr sz="2550" spc="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desde</a:t>
            </a:r>
            <a:r>
              <a:rPr sz="2550" spc="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diversas</a:t>
            </a:r>
            <a:r>
              <a:rPr sz="2550"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fuentes,</a:t>
            </a:r>
            <a:r>
              <a:rPr sz="2550" spc="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realizar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transformaciones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necesario,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luego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visualizaciones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interactivas</a:t>
            </a:r>
            <a:r>
              <a:rPr sz="255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ayudan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identificar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patrones,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tendencias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relaciones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datos.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Algunos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usos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comunes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visualización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incluyen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6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informes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empresariales,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monitoreo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métricas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clave,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científicos,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presentación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investigación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más.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0468" y="951865"/>
            <a:ext cx="3947063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POWER BI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9686" y="2308992"/>
            <a:ext cx="13014325" cy="22538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55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herramienta</a:t>
            </a:r>
            <a:r>
              <a:rPr sz="255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visualización</a:t>
            </a:r>
            <a:r>
              <a:rPr sz="255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desarrollada</a:t>
            </a:r>
            <a:r>
              <a:rPr sz="2550"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55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Microsoft.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importar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desde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variedad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fuentes,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transformarlos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visualizaciones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interactivas,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gráficos,</a:t>
            </a:r>
            <a:r>
              <a:rPr sz="2550" spc="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dinámicas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paneles</a:t>
            </a:r>
            <a:r>
              <a:rPr sz="25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control.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utiliza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comúnmente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empresariales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informes,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integra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bien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Microsoft,</a:t>
            </a:r>
            <a:r>
              <a:rPr sz="25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sz="2550" spc="-90" dirty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Azure.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3696" y="5686897"/>
            <a:ext cx="6143609" cy="35718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EA190FA8-8EA5-341C-5F6B-30B55CF27A51}"/>
              </a:ext>
            </a:extLst>
          </p:cNvPr>
          <p:cNvSpPr txBox="1"/>
          <p:nvPr/>
        </p:nvSpPr>
        <p:spPr>
          <a:xfrm>
            <a:off x="2924649" y="3594958"/>
            <a:ext cx="1208536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9600" dirty="0"/>
              <a:t>CARACTERISTICAS </a:t>
            </a:r>
          </a:p>
          <a:p>
            <a:pPr algn="ctr"/>
            <a:r>
              <a:rPr lang="es-MX" sz="9600" dirty="0"/>
              <a:t>DE POWER BI</a:t>
            </a:r>
            <a:endParaRPr lang="es-MX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837" y="3138694"/>
            <a:ext cx="13014325" cy="1351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4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conectar</a:t>
            </a:r>
            <a:r>
              <a:rPr sz="2550" spc="4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obtener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4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4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amplia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variedad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4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fuentes,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incluyendo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bases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datos,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servicios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nube,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archivos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85" dirty="0">
                <a:latin typeface="Arial" panose="020B0604020202020204" pitchFamily="34" charset="0"/>
                <a:cs typeface="Arial" panose="020B0604020202020204" pitchFamily="34" charset="0"/>
              </a:rPr>
              <a:t>locales,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servicios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sz="255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más.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facilita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integración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orígenes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único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lugar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su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análisis.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4449" y="4859629"/>
            <a:ext cx="8039099" cy="446717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567FF5C-4B00-3F9B-B030-92CC80126B72}"/>
              </a:ext>
            </a:extLst>
          </p:cNvPr>
          <p:cNvSpPr txBox="1"/>
          <p:nvPr/>
        </p:nvSpPr>
        <p:spPr>
          <a:xfrm>
            <a:off x="4525588" y="960192"/>
            <a:ext cx="923682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GT" sz="5000" dirty="0"/>
              <a:t>CONECTIVIDAD A DIVERSAS </a:t>
            </a:r>
          </a:p>
          <a:p>
            <a:pPr algn="ctr"/>
            <a:r>
              <a:rPr lang="es-GT" sz="5000" dirty="0"/>
              <a:t>FUENTES DE DATOS</a:t>
            </a:r>
            <a:endParaRPr lang="es-MX" sz="5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4600" y="2964724"/>
            <a:ext cx="13014325" cy="1351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herramienta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ofrece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capacidades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transformación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datos,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significa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sz="25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limpiar,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dar</a:t>
            </a:r>
            <a:r>
              <a:rPr sz="25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formato</a:t>
            </a:r>
            <a:r>
              <a:rPr sz="25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remodelar</a:t>
            </a:r>
            <a:r>
              <a:rPr sz="25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según</a:t>
            </a:r>
            <a:r>
              <a:rPr sz="25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sus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necesidades</a:t>
            </a:r>
            <a:r>
              <a:rPr sz="2550" spc="1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visualizaciones.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Utiliza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sz="2550" spc="1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11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estas transformaciones.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3481" y="4775393"/>
            <a:ext cx="4848209" cy="48482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14600" y="1264403"/>
            <a:ext cx="11851283" cy="1240984"/>
          </a:xfrm>
          <a:prstGeom prst="rect">
            <a:avLst/>
          </a:prstGeom>
        </p:spPr>
        <p:txBody>
          <a:bodyPr vert="horz" wrap="square" lIns="0" tIns="398402" rIns="0" bIns="0" rtlCol="0">
            <a:spAutoFit/>
          </a:bodyPr>
          <a:lstStyle/>
          <a:p>
            <a:pPr marL="1233805">
              <a:lnSpc>
                <a:spcPct val="100000"/>
              </a:lnSpc>
              <a:spcBef>
                <a:spcPts val="100"/>
              </a:spcBef>
            </a:pPr>
            <a:r>
              <a:rPr dirty="0"/>
              <a:t>TRANSFORMACIÓN DE DATOS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800" y="2734807"/>
            <a:ext cx="13014325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informes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interactivos</a:t>
            </a:r>
            <a:r>
              <a:rPr sz="25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personalizables.</a:t>
            </a:r>
            <a:r>
              <a:rPr sz="255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Puedes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diseñar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gráficos,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tablas,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mapas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elementos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visuales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presentar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tus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datos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sz="255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efectiva.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Además,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sz="255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informes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incluir</a:t>
            </a:r>
            <a:r>
              <a:rPr sz="255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filtros,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interacciones</a:t>
            </a:r>
            <a:r>
              <a:rPr sz="25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destacar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importantes.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1865" y="4910632"/>
            <a:ext cx="8220059" cy="45529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15608" y="715584"/>
            <a:ext cx="8971280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CREACIÓN DE INFORMES INTERACTIVOS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1546" y="2660904"/>
            <a:ext cx="13014325" cy="1351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combinar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múltiples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visualizaciones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paneles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único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tablero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(dashboard)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obtener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vista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tus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métricas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clave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tiempo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real.</a:t>
            </a:r>
            <a:r>
              <a:rPr sz="255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paneles</a:t>
            </a:r>
            <a:r>
              <a:rPr sz="2550" spc="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altamente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personalizables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compartir</a:t>
            </a:r>
            <a:r>
              <a:rPr sz="2550" spc="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otros usuarios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143499"/>
            <a:ext cx="7820009" cy="44005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5642" y="5143499"/>
            <a:ext cx="7686659" cy="431480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454789" y="715584"/>
            <a:ext cx="8795385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PANELES DE CONTROL (DASHBOARDS</a:t>
            </a:r>
            <a:r>
              <a:rPr lang="es-E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837" y="3014404"/>
            <a:ext cx="13014325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integra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nativa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aplicaciones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Microsoft,</a:t>
            </a:r>
            <a:r>
              <a:rPr sz="2550"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sz="2550" spc="-80" dirty="0">
                <a:latin typeface="Arial" panose="020B0604020202020204" pitchFamily="34" charset="0"/>
                <a:cs typeface="Arial" panose="020B0604020202020204" pitchFamily="34" charset="0"/>
              </a:rPr>
              <a:t>Excel,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Azure,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SharePoint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Teams.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facilita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colaboración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flujo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sz="255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ecosistema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Microsoft.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3468" y="5143499"/>
            <a:ext cx="8315309" cy="416240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EE226F0-08A0-AD09-F62E-DC5A24DBA62E}"/>
              </a:ext>
            </a:extLst>
          </p:cNvPr>
          <p:cNvSpPr txBox="1"/>
          <p:nvPr/>
        </p:nvSpPr>
        <p:spPr>
          <a:xfrm>
            <a:off x="2853772" y="468630"/>
            <a:ext cx="117146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5500" dirty="0">
                <a:latin typeface="Arial" panose="020B0604020202020204" pitchFamily="34" charset="0"/>
                <a:cs typeface="Arial" panose="020B0604020202020204" pitchFamily="34" charset="0"/>
              </a:rPr>
              <a:t>INTEGRACIÓN CON OTRAS HERRAMIENTAS DE MICROSOFT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96346" y="2933700"/>
            <a:ext cx="13014325" cy="1351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compartir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informes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paneles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colegas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colaboradores</a:t>
            </a:r>
            <a:r>
              <a:rPr sz="2550" spc="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organización,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incluso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aquellos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tienen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licencia</a:t>
            </a:r>
            <a:r>
              <a:rPr sz="255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BI.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facilita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colaboración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toma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decisiones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basadas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equipo.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8208" y="4855403"/>
            <a:ext cx="8610599" cy="45815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69247" y="655766"/>
            <a:ext cx="11949506" cy="1889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2080" marR="5080" indent="-2660015">
              <a:lnSpc>
                <a:spcPct val="116599"/>
              </a:lnSpc>
              <a:spcBef>
                <a:spcPts val="100"/>
              </a:spcBef>
            </a:pPr>
            <a:r>
              <a:rPr dirty="0"/>
              <a:t>CAPACIDAD DE COLABORACIÓN Y USO COMPARTIDO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806615"/>
            <a:ext cx="13014325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ofrece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administración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avanzadas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permiten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6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organizaciones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controlar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6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550" spc="6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garantizar</a:t>
            </a:r>
            <a:r>
              <a:rPr sz="2550" spc="6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cumplimiento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políticas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seguridad.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571" y="5143499"/>
            <a:ext cx="4505309" cy="45053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xfrm>
            <a:off x="3906800" y="715584"/>
            <a:ext cx="11099766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SEGURIDAD Y ADMINISTRACIÓN AVANZADAS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806615"/>
            <a:ext cx="13014325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4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incluye</a:t>
            </a:r>
            <a:r>
              <a:rPr sz="2550" spc="4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sz="2550" spc="4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4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  <a:r>
              <a:rPr sz="2550" spc="4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avanzado,</a:t>
            </a:r>
            <a:r>
              <a:rPr sz="2550" spc="4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2550" spc="4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modelado</a:t>
            </a:r>
            <a:r>
              <a:rPr sz="2550" spc="4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4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datos,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5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medidas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personalizadas</a:t>
            </a:r>
            <a:r>
              <a:rPr sz="2550" spc="5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utilizando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sz="2550" spc="5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DAX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(Data</a:t>
            </a:r>
            <a:r>
              <a:rPr sz="2550" spc="5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Analysis </a:t>
            </a:r>
            <a:r>
              <a:rPr sz="2550" spc="-70" dirty="0">
                <a:latin typeface="Arial" panose="020B0604020202020204" pitchFamily="34" charset="0"/>
                <a:cs typeface="Arial" panose="020B0604020202020204" pitchFamily="34" charset="0"/>
              </a:rPr>
              <a:t>Expressions)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capacidad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relaciones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45" dirty="0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5" dirty="0"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sz="25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datos.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667" y="4654417"/>
            <a:ext cx="10677509" cy="519107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xfrm>
            <a:off x="3906800" y="715584"/>
            <a:ext cx="9891394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214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CAPACIDADES DE ANÁLISIS AVANZADO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xfrm>
            <a:off x="3505200" y="2247900"/>
            <a:ext cx="9891394" cy="85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4105" algn="ctr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VERSIONES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AAF8160-ECC4-86EB-3E12-9F7A1C9F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76700"/>
            <a:ext cx="17004498" cy="27816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22F0-CB78-C307-F94F-07253CA4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34E559-70BE-1832-57D1-DC9609EB63C0}"/>
              </a:ext>
            </a:extLst>
          </p:cNvPr>
          <p:cNvSpPr txBox="1"/>
          <p:nvPr/>
        </p:nvSpPr>
        <p:spPr>
          <a:xfrm>
            <a:off x="2345394" y="2346336"/>
            <a:ext cx="13014325" cy="876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75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255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ofrece</a:t>
            </a:r>
            <a:r>
              <a:rPr sz="255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55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versión</a:t>
            </a:r>
            <a:r>
              <a:rPr sz="255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gratuita</a:t>
            </a:r>
            <a:r>
              <a:rPr sz="255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funcionalidades</a:t>
            </a:r>
            <a:r>
              <a:rPr sz="255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0" dirty="0">
                <a:latin typeface="Arial" panose="020B0604020202020204" pitchFamily="34" charset="0"/>
                <a:cs typeface="Arial" panose="020B0604020202020204" pitchFamily="34" charset="0"/>
              </a:rPr>
              <a:t>limitadas</a:t>
            </a:r>
            <a:r>
              <a:rPr sz="255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versiones</a:t>
            </a:r>
            <a:r>
              <a:rPr sz="2550"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pago</a:t>
            </a:r>
            <a:r>
              <a:rPr sz="25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avanzadas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5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capacidades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60" dirty="0">
                <a:latin typeface="Arial" panose="020B0604020202020204" pitchFamily="34" charset="0"/>
                <a:cs typeface="Arial" panose="020B0604020202020204" pitchFamily="34" charset="0"/>
              </a:rPr>
              <a:t>adicionales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0" dirty="0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75" dirty="0">
                <a:latin typeface="Arial" panose="020B0604020202020204" pitchFamily="34" charset="0"/>
                <a:cs typeface="Arial" panose="020B0604020202020204" pitchFamily="34" charset="0"/>
              </a:rPr>
              <a:t>límites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datos.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6192A73D-1465-BD8E-1825-D49EE00C4A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3481" y="3567912"/>
            <a:ext cx="8058149" cy="6048359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1B4B1DCC-4B6E-D5AB-6F19-C282BBF3F89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81400" y="468630"/>
            <a:ext cx="9891394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41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VERSIONES GRATUITAS Y DE PAGO</a:t>
            </a:r>
          </a:p>
        </p:txBody>
      </p:sp>
    </p:spTree>
    <p:extLst>
      <p:ext uri="{BB962C8B-B14F-4D97-AF65-F5344CB8AC3E}">
        <p14:creationId xmlns:p14="http://schemas.microsoft.com/office/powerpoint/2010/main" val="3885251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806615"/>
            <a:ext cx="13014325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95"/>
              </a:spcBef>
            </a:pP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ofrece</a:t>
            </a:r>
            <a:r>
              <a:rPr sz="2550" spc="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35" dirty="0">
                <a:latin typeface="Arial" panose="020B0604020202020204" pitchFamily="34" charset="0"/>
                <a:cs typeface="Arial" panose="020B0604020202020204" pitchFamily="34" charset="0"/>
              </a:rPr>
              <a:t>actualizaciones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frecuentes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550" spc="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BI,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significa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55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25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herramienta</a:t>
            </a:r>
            <a:r>
              <a:rPr sz="2550" spc="4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evolución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mejora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550" spc="4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nuevas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  <a:r>
              <a:rPr sz="2550" spc="4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2550" spc="-40" dirty="0">
                <a:latin typeface="Arial" panose="020B0604020202020204" pitchFamily="34" charset="0"/>
                <a:cs typeface="Arial" panose="020B0604020202020204" pitchFamily="34" charset="0"/>
              </a:rPr>
              <a:t>mejoras</a:t>
            </a:r>
            <a:r>
              <a:rPr sz="255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55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50" spc="-10" dirty="0">
                <a:latin typeface="Arial" panose="020B0604020202020204" pitchFamily="34" charset="0"/>
                <a:cs typeface="Arial" panose="020B0604020202020204" pitchFamily="34" charset="0"/>
              </a:rPr>
              <a:t>rendimiento.</a:t>
            </a:r>
            <a:endParaRPr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3328" y="4910632"/>
            <a:ext cx="8420099" cy="48863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xfrm>
            <a:off x="4038600" y="748613"/>
            <a:ext cx="8071029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24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ACTUALIZACIONES REGULARES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922588"/>
            <a:ext cx="12487275" cy="414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915" marR="5080" indent="-958850" algn="ctr">
              <a:lnSpc>
                <a:spcPct val="116500"/>
              </a:lnSpc>
              <a:spcBef>
                <a:spcPts val="100"/>
              </a:spcBef>
            </a:pPr>
            <a:r>
              <a:rPr sz="12000" dirty="0"/>
              <a:t>INSTALACIÓN POWER BI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622057" y="577735"/>
            <a:ext cx="9043885" cy="990709"/>
          </a:xfrm>
          <a:prstGeom prst="rect">
            <a:avLst/>
          </a:prstGeom>
        </p:spPr>
        <p:txBody>
          <a:bodyPr vert="horz" wrap="square" lIns="0" tIns="150548" rIns="0" bIns="0" rtlCol="0">
            <a:spAutoFit/>
          </a:bodyPr>
          <a:lstStyle/>
          <a:p>
            <a:pPr marL="3491229">
              <a:lnSpc>
                <a:spcPct val="100000"/>
              </a:lnSpc>
              <a:spcBef>
                <a:spcPts val="100"/>
              </a:spcBef>
            </a:pPr>
            <a:r>
              <a:rPr dirty="0"/>
              <a:t>PASO 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45394" y="2856564"/>
            <a:ext cx="14418606" cy="19300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55" dirty="0">
                <a:latin typeface="Arial" panose="020B0604020202020204" pitchFamily="34" charset="0"/>
                <a:cs typeface="Arial" panose="020B0604020202020204" pitchFamily="34" charset="0"/>
              </a:rPr>
              <a:t>Ingresar</a:t>
            </a:r>
            <a:r>
              <a:rPr sz="315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31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85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sz="315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link: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lang="es-ES" sz="3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r>
              <a:rPr lang="es-MX" sz="315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https://www.microsoft.com/es-es/power-platform/products/power-bi</a:t>
            </a:r>
            <a:endParaRPr lang="es-MX"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856564"/>
            <a:ext cx="1125918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60" dirty="0">
                <a:latin typeface="Arial" panose="020B0604020202020204" pitchFamily="34" charset="0"/>
                <a:cs typeface="Arial" panose="020B0604020202020204" pitchFamily="34" charset="0"/>
              </a:rPr>
              <a:t>seleccionamos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60" dirty="0">
                <a:latin typeface="Arial" panose="020B0604020202020204" pitchFamily="34" charset="0"/>
                <a:cs typeface="Arial" panose="020B0604020202020204" pitchFamily="34" charset="0"/>
              </a:rPr>
              <a:t>productos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90" dirty="0">
                <a:latin typeface="Arial" panose="020B0604020202020204" pitchFamily="34" charset="0"/>
                <a:cs typeface="Arial" panose="020B0604020202020204" pitchFamily="34" charset="0"/>
              </a:rPr>
              <a:t>luego</a:t>
            </a:r>
            <a:r>
              <a:rPr sz="31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sz="31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0" dirty="0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sz="31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315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desktop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1802" y="4640122"/>
            <a:ext cx="11296649" cy="38671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6865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540" dirty="0"/>
              <a:t>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856564"/>
            <a:ext cx="1042987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3150" spc="-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75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r>
              <a:rPr sz="31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70" dirty="0">
                <a:latin typeface="Arial" panose="020B0604020202020204" pitchFamily="34" charset="0"/>
                <a:cs typeface="Arial" panose="020B0604020202020204" pitchFamily="34" charset="0"/>
              </a:rPr>
              <a:t>opciones</a:t>
            </a:r>
            <a:r>
              <a:rPr sz="31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65" dirty="0">
                <a:latin typeface="Arial" panose="020B0604020202020204" pitchFamily="34" charset="0"/>
                <a:cs typeface="Arial" panose="020B0604020202020204" pitchFamily="34" charset="0"/>
              </a:rPr>
              <a:t>descargas</a:t>
            </a:r>
            <a:r>
              <a:rPr sz="315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avanzadas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3373" y="3943898"/>
            <a:ext cx="11296649" cy="55816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6229">
              <a:lnSpc>
                <a:spcPct val="100000"/>
              </a:lnSpc>
              <a:spcBef>
                <a:spcPts val="100"/>
              </a:spcBef>
            </a:pPr>
            <a:r>
              <a:rPr spc="-735" dirty="0"/>
              <a:t>PASO</a:t>
            </a:r>
            <a:r>
              <a:rPr spc="-840" dirty="0"/>
              <a:t> </a:t>
            </a:r>
            <a:r>
              <a:rPr spc="-540" dirty="0"/>
              <a:t>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856564"/>
            <a:ext cx="1289685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40" dirty="0">
                <a:latin typeface="Arial" panose="020B0604020202020204" pitchFamily="34" charset="0"/>
                <a:cs typeface="Arial" panose="020B0604020202020204" pitchFamily="34" charset="0"/>
              </a:rPr>
              <a:t>Ubicamos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apartado</a:t>
            </a:r>
            <a:r>
              <a:rPr sz="31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marcamos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español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936" y="5950091"/>
            <a:ext cx="11296649" cy="26384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3054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480" dirty="0"/>
              <a:t>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785660"/>
            <a:ext cx="13014325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95"/>
              </a:spcBef>
            </a:pP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abrira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seleccionar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3150" spc="-100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0" dirty="0"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0" dirty="0">
                <a:latin typeface="Arial" panose="020B0604020202020204" pitchFamily="34" charset="0"/>
                <a:cs typeface="Arial" panose="020B0604020202020204" pitchFamily="34" charset="0"/>
              </a:rPr>
              <a:t>bits</a:t>
            </a: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0" dirty="0">
                <a:latin typeface="Arial" panose="020B0604020202020204" pitchFamily="34" charset="0"/>
                <a:cs typeface="Arial" panose="020B0604020202020204" pitchFamily="34" charset="0"/>
              </a:rPr>
              <a:t>dependiendo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computadora,</a:t>
            </a: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seleccionan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version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31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31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sz="31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256" y="4910632"/>
            <a:ext cx="11296649" cy="44481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4424" y="7135580"/>
            <a:ext cx="5200649" cy="237170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622057" y="577735"/>
            <a:ext cx="9043885" cy="990709"/>
          </a:xfrm>
          <a:prstGeom prst="rect">
            <a:avLst/>
          </a:prstGeom>
        </p:spPr>
        <p:txBody>
          <a:bodyPr vert="horz" wrap="square" lIns="0" tIns="150548" rIns="0" bIns="0" rtlCol="0">
            <a:spAutoFit/>
          </a:bodyPr>
          <a:lstStyle/>
          <a:p>
            <a:pPr marL="341376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570" dirty="0"/>
              <a:t>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550077" y="5603428"/>
            <a:ext cx="45085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2336" y="5570934"/>
            <a:ext cx="2197100" cy="1079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Archivo </a:t>
            </a:r>
            <a:r>
              <a:rPr sz="3150" spc="-60" dirty="0">
                <a:latin typeface="Arial" panose="020B0604020202020204" pitchFamily="34" charset="0"/>
                <a:cs typeface="Arial" panose="020B0604020202020204" pitchFamily="34" charset="0"/>
              </a:rPr>
              <a:t>descargado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394" y="2785660"/>
            <a:ext cx="13014325" cy="1079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abrira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3150" spc="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ventana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sz="3150" spc="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0" dirty="0">
                <a:latin typeface="Arial" panose="020B0604020202020204" pitchFamily="34" charset="0"/>
                <a:cs typeface="Arial" panose="020B0604020202020204" pitchFamily="34" charset="0"/>
              </a:rPr>
              <a:t>seleccionar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idioma</a:t>
            </a:r>
            <a:r>
              <a:rPr sz="315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siguiente.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4287" y="4394270"/>
            <a:ext cx="6905609" cy="54863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22057" y="577735"/>
            <a:ext cx="9043885" cy="990709"/>
          </a:xfrm>
          <a:prstGeom prst="rect">
            <a:avLst/>
          </a:prstGeom>
        </p:spPr>
        <p:txBody>
          <a:bodyPr vert="horz" wrap="square" lIns="0" tIns="150548" rIns="0" bIns="0" rtlCol="0">
            <a:spAutoFit/>
          </a:bodyPr>
          <a:lstStyle/>
          <a:p>
            <a:pPr marL="340614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455" dirty="0"/>
              <a:t>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22075" y="7031871"/>
            <a:ext cx="6050280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95"/>
              </a:spcBef>
            </a:pPr>
            <a:r>
              <a:rPr sz="3150" spc="-90" dirty="0">
                <a:latin typeface="Arial Black"/>
                <a:cs typeface="Arial Black"/>
              </a:rPr>
              <a:t>Nota: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mostrara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ventana emergente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0" dirty="0">
                <a:latin typeface="Arial" panose="020B0604020202020204" pitchFamily="34" charset="0"/>
                <a:cs typeface="Arial" panose="020B0604020202020204" pitchFamily="34" charset="0"/>
              </a:rPr>
              <a:t>opcion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“si”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5" dirty="0">
                <a:latin typeface="Arial" panose="020B0604020202020204" pitchFamily="34" charset="0"/>
                <a:cs typeface="Arial" panose="020B0604020202020204" pitchFamily="34" charset="0"/>
              </a:rPr>
              <a:t>“no”</a:t>
            </a:r>
            <a:r>
              <a:rPr sz="315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debemos</a:t>
            </a:r>
            <a:r>
              <a:rPr sz="31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darle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9282" y="2567400"/>
            <a:ext cx="504761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110" dirty="0">
                <a:latin typeface="Arial" panose="020B0604020202020204" pitchFamily="34" charset="0"/>
                <a:cs typeface="Arial" panose="020B0604020202020204" pitchFamily="34" charset="0"/>
              </a:rPr>
              <a:t>Aca</a:t>
            </a:r>
            <a:r>
              <a:rPr sz="31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presionamos</a:t>
            </a:r>
            <a:r>
              <a:rPr sz="31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50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2220" y="3486881"/>
            <a:ext cx="6877049" cy="54959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5595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520" dirty="0"/>
              <a:t>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5863" y="4380280"/>
            <a:ext cx="6934199" cy="549594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39282" y="2496496"/>
            <a:ext cx="6404610" cy="1079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  <a:tabLst>
                <a:tab pos="2722880" algn="l"/>
                <a:tab pos="3881120" algn="l"/>
                <a:tab pos="6189345" algn="l"/>
              </a:tabLst>
            </a:pP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Aceptamos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terminos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150" spc="-95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sz="3150" spc="-70" dirty="0">
                <a:latin typeface="Arial" panose="020B0604020202020204" pitchFamily="34" charset="0"/>
                <a:cs typeface="Arial" panose="020B0604020202020204" pitchFamily="34" charset="0"/>
              </a:rPr>
              <a:t>condiciones</a:t>
            </a:r>
            <a:r>
              <a:rPr sz="315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2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31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31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369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480" dirty="0"/>
              <a:t>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982" y="4528687"/>
            <a:ext cx="6943709" cy="5486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39282" y="2496496"/>
            <a:ext cx="6404610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100"/>
              </a:lnSpc>
              <a:spcBef>
                <a:spcPts val="95"/>
              </a:spcBef>
            </a:pP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Dejamos</a:t>
            </a:r>
            <a:r>
              <a:rPr sz="31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6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ruta</a:t>
            </a:r>
            <a:r>
              <a:rPr sz="31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5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spc="-55" dirty="0">
                <a:latin typeface="Arial" panose="020B0604020202020204" pitchFamily="34" charset="0"/>
                <a:cs typeface="Arial" panose="020B0604020202020204" pitchFamily="34" charset="0"/>
              </a:rPr>
              <a:t>instalacion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3150" spc="52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defecto</a:t>
            </a:r>
            <a:r>
              <a:rPr sz="3150" spc="52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5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3150" spc="52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sz="3150" spc="5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3690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480" dirty="0"/>
              <a:t>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0681" y="4364735"/>
            <a:ext cx="6962759" cy="5486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26633" y="2620422"/>
            <a:ext cx="13034644" cy="1079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Dejamos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marcada</a:t>
            </a:r>
            <a:r>
              <a:rPr sz="315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opcion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15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icono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escritorio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315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asi</a:t>
            </a:r>
            <a:r>
              <a:rPr sz="315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25" dirty="0">
                <a:latin typeface="Arial" panose="020B0604020202020204" pitchFamily="34" charset="0"/>
                <a:cs typeface="Arial" panose="020B0604020202020204" pitchFamily="34" charset="0"/>
              </a:rPr>
              <a:t>lo </a:t>
            </a:r>
            <a:r>
              <a:rPr sz="3150" spc="-35" dirty="0">
                <a:latin typeface="Arial" panose="020B0604020202020204" pitchFamily="34" charset="0"/>
                <a:cs typeface="Arial" panose="020B0604020202020204" pitchFamily="34" charset="0"/>
              </a:rPr>
              <a:t>deseamos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45" dirty="0">
                <a:latin typeface="Arial" panose="020B0604020202020204" pitchFamily="34" charset="0"/>
                <a:cs typeface="Arial" panose="020B0604020202020204" pitchFamily="34" charset="0"/>
              </a:rPr>
              <a:t>despues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31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150" spc="-10" dirty="0">
                <a:latin typeface="Arial" panose="020B0604020202020204" pitchFamily="34" charset="0"/>
                <a:cs typeface="Arial" panose="020B0604020202020204" pitchFamily="34" charset="0"/>
              </a:rPr>
              <a:t>instalar</a:t>
            </a:r>
            <a:endParaRPr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4154">
              <a:lnSpc>
                <a:spcPct val="100000"/>
              </a:lnSpc>
              <a:spcBef>
                <a:spcPts val="100"/>
              </a:spcBef>
            </a:pPr>
            <a:r>
              <a:rPr dirty="0"/>
              <a:t>PASO</a:t>
            </a:r>
            <a:r>
              <a:rPr spc="-840" dirty="0"/>
              <a:t> </a:t>
            </a:r>
            <a:r>
              <a:rPr spc="-994" dirty="0"/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4557" y="2279355"/>
            <a:ext cx="13877939" cy="7515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0" y="757238"/>
            <a:ext cx="9577388" cy="508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75" dirty="0"/>
              <a:t>Siguiendo</a:t>
            </a:r>
            <a:r>
              <a:rPr sz="3150" spc="-155" dirty="0"/>
              <a:t> </a:t>
            </a:r>
            <a:r>
              <a:rPr sz="3150" spc="-90" dirty="0"/>
              <a:t>los</a:t>
            </a:r>
            <a:r>
              <a:rPr sz="3150" spc="-155" dirty="0"/>
              <a:t> </a:t>
            </a:r>
            <a:r>
              <a:rPr sz="3150" spc="-60" dirty="0"/>
              <a:t>pasos</a:t>
            </a:r>
            <a:r>
              <a:rPr sz="3150" spc="-155" dirty="0"/>
              <a:t> </a:t>
            </a:r>
            <a:r>
              <a:rPr sz="3150" dirty="0"/>
              <a:t>ya</a:t>
            </a:r>
            <a:r>
              <a:rPr sz="3150" spc="-155" dirty="0"/>
              <a:t> </a:t>
            </a:r>
            <a:r>
              <a:rPr sz="3150" spc="-30" dirty="0"/>
              <a:t>tenemos</a:t>
            </a:r>
            <a:r>
              <a:rPr sz="3150" spc="-155" dirty="0"/>
              <a:t> </a:t>
            </a:r>
            <a:r>
              <a:rPr sz="3150" spc="-60" dirty="0"/>
              <a:t>instalado</a:t>
            </a:r>
            <a:r>
              <a:rPr sz="3150" spc="-155" dirty="0"/>
              <a:t> </a:t>
            </a:r>
            <a:r>
              <a:rPr sz="3150" dirty="0"/>
              <a:t>Power</a:t>
            </a:r>
            <a:r>
              <a:rPr sz="3150" spc="-155" dirty="0"/>
              <a:t> </a:t>
            </a:r>
            <a:r>
              <a:rPr sz="3150" spc="60" dirty="0"/>
              <a:t>BI</a:t>
            </a:r>
            <a:endParaRPr sz="3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71235"/>
            <a:ext cx="10564636" cy="8663002"/>
          </a:xfrm>
          <a:custGeom>
            <a:avLst/>
            <a:gdLst/>
            <a:ahLst/>
            <a:cxnLst/>
            <a:rect l="l" t="t" r="r" b="b"/>
            <a:pathLst>
              <a:path w="10564636" h="8663002" extrusionOk="0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avLst/>
            <a:gdLst/>
            <a:ahLst/>
            <a:cxnLst/>
            <a:rect l="l" t="t" r="r" b="b"/>
            <a:pathLst>
              <a:path w="16659109" h="10287000" extrusionOk="0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1539</Words>
  <Application>Microsoft Office PowerPoint</Application>
  <PresentationFormat>Personalizado</PresentationFormat>
  <Paragraphs>122</Paragraphs>
  <Slides>47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5" baseType="lpstr">
      <vt:lpstr>Arial</vt:lpstr>
      <vt:lpstr>Arial Black</vt:lpstr>
      <vt:lpstr>Trebuchet MS</vt:lpstr>
      <vt:lpstr>Times New Roman</vt:lpstr>
      <vt:lpstr>Calibri</vt:lpstr>
      <vt:lpstr>Open Sans</vt:lpstr>
      <vt:lpstr>Office Theme</vt:lpstr>
      <vt:lpstr>Microsoft Excel Worksheet</vt:lpstr>
      <vt:lpstr>Presentación de PowerPoint</vt:lpstr>
      <vt:lpstr>Presentación de PowerPoint</vt:lpstr>
      <vt:lpstr>Presentación de PowerPoint</vt:lpstr>
      <vt:lpstr>MICROSOFT           PROJECT</vt:lpstr>
      <vt:lpstr>Presentación de PowerPoint</vt:lpstr>
      <vt:lpstr>Presentación de PowerPoint</vt:lpstr>
      <vt:lpstr>RECURSOS DE TRABAJO</vt:lpstr>
      <vt:lpstr>Presentación de PowerPoint</vt:lpstr>
      <vt:lpstr>RECURSO MATERIAL</vt:lpstr>
      <vt:lpstr>RECURSO COSTO</vt:lpstr>
      <vt:lpstr>INTRODUCCIÓN AL ANALISIS  DE DATOS</vt:lpstr>
      <vt:lpstr>¿QUÉ ES EL ANÁLISIS DE DATOS?</vt:lpstr>
      <vt:lpstr>CICLO DE VIDA DEL ANÁLISIS DE DATOS</vt:lpstr>
      <vt:lpstr>TIPOS DE DATOS</vt:lpstr>
      <vt:lpstr>JSON</vt:lpstr>
      <vt:lpstr>Presentación de PowerPoint</vt:lpstr>
      <vt:lpstr>Presentación de PowerPoint</vt:lpstr>
      <vt:lpstr>Herramientas de visualización de datos: Power BI, Tableau, y Excel son herramientas que permiten crear visualizaciones interactivas para interpretar los datos.</vt:lpstr>
      <vt:lpstr>Presentación de PowerPoint</vt:lpstr>
      <vt:lpstr>Presentación de PowerPoint</vt:lpstr>
      <vt:lpstr>POWER BI</vt:lpstr>
      <vt:lpstr>Presentación de PowerPoint</vt:lpstr>
      <vt:lpstr>Presentación de PowerPoint</vt:lpstr>
      <vt:lpstr>TRANSFORMACIÓN DE DATOS</vt:lpstr>
      <vt:lpstr>CREACIÓN DE INFORMES INTERACTIVOS</vt:lpstr>
      <vt:lpstr>PANELES DE CONTROL (DASHBOARDS)</vt:lpstr>
      <vt:lpstr>Presentación de PowerPoint</vt:lpstr>
      <vt:lpstr>CAPACIDAD DE COLABORACIÓN Y USO COMPARTIDO</vt:lpstr>
      <vt:lpstr>SEGURIDAD Y ADMINISTRACIÓN AVANZADAS</vt:lpstr>
      <vt:lpstr>CAPACIDADES DE ANÁLISIS AVANZADO</vt:lpstr>
      <vt:lpstr>VERSIONES</vt:lpstr>
      <vt:lpstr>VERSIONES GRATUITAS Y DE PAGO</vt:lpstr>
      <vt:lpstr>ACTUALIZACIONES REGULARES</vt:lpstr>
      <vt:lpstr>INSTALACIÓN POWER BI</vt:lpstr>
      <vt:lpstr>PASO 1</vt:lpstr>
      <vt:lpstr>PASO 2</vt:lpstr>
      <vt:lpstr>PASO 3</vt:lpstr>
      <vt:lpstr>PASO 4</vt:lpstr>
      <vt:lpstr>PASO 5</vt:lpstr>
      <vt:lpstr>PASO 6</vt:lpstr>
      <vt:lpstr>PASO 7</vt:lpstr>
      <vt:lpstr>PASO 8</vt:lpstr>
      <vt:lpstr>PASO 9</vt:lpstr>
      <vt:lpstr>PASO 10</vt:lpstr>
      <vt:lpstr>Siguiendo los pasos ya tenemos instalado Power BI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Oscar Eduardo Morales Girón</cp:lastModifiedBy>
  <cp:revision>16</cp:revision>
  <dcterms:created xsi:type="dcterms:W3CDTF">2006-08-16T00:00:00Z</dcterms:created>
  <dcterms:modified xsi:type="dcterms:W3CDTF">2026-05-10T07:18:08Z</dcterms:modified>
</cp:coreProperties>
</file>