
<file path=[Content_Types].xml><?xml version="1.0" encoding="utf-8"?>
<Types xmlns="http://schemas.openxmlformats.org/package/2006/content-types">
  <Default Extension="bin" ContentType="application/vnd.openxmlformats-officedocument.oleObject"/>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9"/>
  </p:notesMasterIdLst>
  <p:sldIdLst>
    <p:sldId id="256" r:id="rId2"/>
    <p:sldId id="257" r:id="rId3"/>
    <p:sldId id="259" r:id="rId4"/>
    <p:sldId id="271" r:id="rId5"/>
    <p:sldId id="258" r:id="rId6"/>
    <p:sldId id="272" r:id="rId7"/>
    <p:sldId id="263" r:id="rId8"/>
    <p:sldId id="295" r:id="rId9"/>
    <p:sldId id="288" r:id="rId10"/>
    <p:sldId id="286" r:id="rId11"/>
    <p:sldId id="264" r:id="rId12"/>
    <p:sldId id="287" r:id="rId13"/>
    <p:sldId id="289" r:id="rId14"/>
    <p:sldId id="290" r:id="rId15"/>
    <p:sldId id="291" r:id="rId16"/>
    <p:sldId id="269" r:id="rId17"/>
    <p:sldId id="270" r:id="rId18"/>
  </p:sldIdLst>
  <p:sldSz cx="18288000" cy="10287000"/>
  <p:notesSz cx="6858000" cy="9144000"/>
  <p:embeddedFontLst>
    <p:embeddedFont>
      <p:font typeface="Open Sans" panose="020B0606030504020204" pitchFamily="34" charset="0"/>
      <p:regular r:id="rId20"/>
      <p:bold r:id="rId21"/>
      <p:italic r:id="rId22"/>
      <p:boldItalic r:id="rId23"/>
    </p:embeddedFont>
    <p:embeddedFont>
      <p:font typeface="Trebuchet MS" panose="020B0603020202020204" pitchFamily="34" charset="0"/>
      <p:regular r:id="rId24"/>
      <p:bold r:id="rId25"/>
      <p:italic r:id="rId26"/>
      <p:boldItalic r:id="rId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9" roundtripDataSignature="AMtx7mh5uyU4M8NqpuQa0XNrGDtHby9gO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32" d="100"/>
          <a:sy n="32" d="100"/>
        </p:scale>
        <p:origin x="53" y="70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font" Target="fonts/font2.fntdata"/><Relationship Id="rId63"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59" Type="http://customschemas.google.com/relationships/presentationmetadata" Target="meta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61"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notesMaster" Target="notesMasters/notesMaster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font" Target="fonts/font8.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s-GT"/>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GT"/>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2" name="Google Shape;92;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GT"/>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7" name="Google Shape;117;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GT"/>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5" name="Google Shape;225;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GT"/>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0" name="Google Shape;230;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GT"/>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1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1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1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18"/>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18"/>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1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1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1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20"/>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20"/>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2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2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2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2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22"/>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22"/>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22"/>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22"/>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2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2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4"/>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4"/>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24"/>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2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25"/>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25"/>
          <p:cNvSpPr>
            <a:spLocks noGrp="1"/>
          </p:cNvSpPr>
          <p:nvPr>
            <p:ph type="pic" idx="2"/>
          </p:nvPr>
        </p:nvSpPr>
        <p:spPr>
          <a:xfrm>
            <a:off x="1792288" y="612775"/>
            <a:ext cx="5486400" cy="4114800"/>
          </a:xfrm>
          <a:prstGeom prst="rect">
            <a:avLst/>
          </a:prstGeom>
          <a:noFill/>
          <a:ln>
            <a:noFill/>
          </a:ln>
        </p:spPr>
        <p:txBody>
          <a:bodyPr/>
          <a:lstStyle/>
          <a:p>
            <a:endParaRPr lang="es-GT"/>
          </a:p>
        </p:txBody>
      </p:sp>
      <p:sp>
        <p:nvSpPr>
          <p:cNvPr id="64" name="Google Shape;64;p25"/>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2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2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2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2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26"/>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2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2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2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27"/>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27"/>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2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2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2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obj">
  <p:cSld name="1_Title Only">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0"/>
            <a:ext cx="18288000" cy="10287000"/>
          </a:xfrm>
          <a:prstGeom prst="rect">
            <a:avLst/>
          </a:prstGeom>
        </p:spPr>
      </p:pic>
      <p:sp>
        <p:nvSpPr>
          <p:cNvPr id="17" name="bg object 17"/>
          <p:cNvSpPr/>
          <p:nvPr/>
        </p:nvSpPr>
        <p:spPr>
          <a:xfrm>
            <a:off x="16494525" y="8207944"/>
            <a:ext cx="1793875" cy="2079625"/>
          </a:xfrm>
          <a:custGeom>
            <a:avLst/>
            <a:gdLst/>
            <a:ahLst/>
            <a:cxnLst/>
            <a:rect l="l" t="t" r="r" b="b"/>
            <a:pathLst>
              <a:path w="1793875" h="2079625">
                <a:moveTo>
                  <a:pt x="1793474" y="0"/>
                </a:moveTo>
                <a:lnTo>
                  <a:pt x="1793474" y="2079055"/>
                </a:lnTo>
                <a:lnTo>
                  <a:pt x="285210" y="2079055"/>
                </a:lnTo>
                <a:lnTo>
                  <a:pt x="0" y="1793844"/>
                </a:lnTo>
                <a:lnTo>
                  <a:pt x="1793474" y="0"/>
                </a:lnTo>
                <a:close/>
              </a:path>
            </a:pathLst>
          </a:custGeom>
          <a:solidFill>
            <a:srgbClr val="40785E"/>
          </a:solidFill>
        </p:spPr>
        <p:txBody>
          <a:bodyPr wrap="square" lIns="0" tIns="0" rIns="0" bIns="0" rtlCol="0"/>
          <a:lstStyle/>
          <a:p>
            <a:endParaRPr/>
          </a:p>
        </p:txBody>
      </p:sp>
      <p:sp>
        <p:nvSpPr>
          <p:cNvPr id="18" name="bg object 18"/>
          <p:cNvSpPr/>
          <p:nvPr/>
        </p:nvSpPr>
        <p:spPr>
          <a:xfrm>
            <a:off x="14935176" y="8933065"/>
            <a:ext cx="1557020" cy="1354455"/>
          </a:xfrm>
          <a:custGeom>
            <a:avLst/>
            <a:gdLst/>
            <a:ahLst/>
            <a:cxnLst/>
            <a:rect l="l" t="t" r="r" b="b"/>
            <a:pathLst>
              <a:path w="1557019" h="1354454">
                <a:moveTo>
                  <a:pt x="1556645" y="777983"/>
                </a:moveTo>
                <a:lnTo>
                  <a:pt x="980694" y="1353934"/>
                </a:lnTo>
                <a:lnTo>
                  <a:pt x="575625" y="1353934"/>
                </a:lnTo>
                <a:lnTo>
                  <a:pt x="0" y="777983"/>
                </a:lnTo>
                <a:lnTo>
                  <a:pt x="777983" y="0"/>
                </a:lnTo>
                <a:lnTo>
                  <a:pt x="1556645" y="777983"/>
                </a:lnTo>
                <a:close/>
              </a:path>
            </a:pathLst>
          </a:custGeom>
          <a:solidFill>
            <a:srgbClr val="40785E">
              <a:alpha val="71998"/>
            </a:srgbClr>
          </a:solidFill>
        </p:spPr>
        <p:txBody>
          <a:bodyPr wrap="square" lIns="0" tIns="0" rIns="0" bIns="0" rtlCol="0"/>
          <a:lstStyle/>
          <a:p>
            <a:endParaRPr/>
          </a:p>
        </p:txBody>
      </p:sp>
      <p:sp>
        <p:nvSpPr>
          <p:cNvPr id="19" name="bg object 19"/>
          <p:cNvSpPr/>
          <p:nvPr/>
        </p:nvSpPr>
        <p:spPr>
          <a:xfrm>
            <a:off x="15373045" y="9048949"/>
            <a:ext cx="2475865" cy="1238250"/>
          </a:xfrm>
          <a:custGeom>
            <a:avLst/>
            <a:gdLst/>
            <a:ahLst/>
            <a:cxnLst/>
            <a:rect l="l" t="t" r="r" b="b"/>
            <a:pathLst>
              <a:path w="2475865" h="1238250">
                <a:moveTo>
                  <a:pt x="2475421" y="1238049"/>
                </a:moveTo>
                <a:lnTo>
                  <a:pt x="0" y="1238049"/>
                </a:lnTo>
                <a:lnTo>
                  <a:pt x="1237372" y="0"/>
                </a:lnTo>
                <a:lnTo>
                  <a:pt x="2475421" y="1238049"/>
                </a:lnTo>
                <a:close/>
              </a:path>
            </a:pathLst>
          </a:custGeom>
          <a:solidFill>
            <a:srgbClr val="BE120A">
              <a:alpha val="71998"/>
            </a:srgbClr>
          </a:solidFill>
        </p:spPr>
        <p:txBody>
          <a:bodyPr wrap="square" lIns="0" tIns="0" rIns="0" bIns="0" rtlCol="0"/>
          <a:lstStyle/>
          <a:p>
            <a:endParaRPr/>
          </a:p>
        </p:txBody>
      </p:sp>
      <p:sp>
        <p:nvSpPr>
          <p:cNvPr id="20" name="bg object 20"/>
          <p:cNvSpPr/>
          <p:nvPr/>
        </p:nvSpPr>
        <p:spPr>
          <a:xfrm>
            <a:off x="16038451" y="5185819"/>
            <a:ext cx="2249805" cy="4498340"/>
          </a:xfrm>
          <a:custGeom>
            <a:avLst/>
            <a:gdLst/>
            <a:ahLst/>
            <a:cxnLst/>
            <a:rect l="l" t="t" r="r" b="b"/>
            <a:pathLst>
              <a:path w="2249805" h="4498340">
                <a:moveTo>
                  <a:pt x="2249547" y="0"/>
                </a:moveTo>
                <a:lnTo>
                  <a:pt x="2249547" y="4497786"/>
                </a:lnTo>
                <a:lnTo>
                  <a:pt x="0" y="2248893"/>
                </a:lnTo>
                <a:lnTo>
                  <a:pt x="2249547" y="0"/>
                </a:lnTo>
                <a:close/>
              </a:path>
            </a:pathLst>
          </a:custGeom>
          <a:solidFill>
            <a:srgbClr val="004653">
              <a:alpha val="71998"/>
            </a:srgbClr>
          </a:solidFill>
        </p:spPr>
        <p:txBody>
          <a:bodyPr wrap="square" lIns="0" tIns="0" rIns="0" bIns="0" rtlCol="0"/>
          <a:lstStyle/>
          <a:p>
            <a:endParaRPr/>
          </a:p>
        </p:txBody>
      </p:sp>
      <p:sp>
        <p:nvSpPr>
          <p:cNvPr id="21" name="bg object 21"/>
          <p:cNvSpPr/>
          <p:nvPr/>
        </p:nvSpPr>
        <p:spPr>
          <a:xfrm>
            <a:off x="18210427" y="7601107"/>
            <a:ext cx="78105" cy="155575"/>
          </a:xfrm>
          <a:custGeom>
            <a:avLst/>
            <a:gdLst/>
            <a:ahLst/>
            <a:cxnLst/>
            <a:rect l="l" t="t" r="r" b="b"/>
            <a:pathLst>
              <a:path w="78105" h="155575">
                <a:moveTo>
                  <a:pt x="77572" y="0"/>
                </a:moveTo>
                <a:lnTo>
                  <a:pt x="77572" y="155145"/>
                </a:lnTo>
                <a:lnTo>
                  <a:pt x="0" y="77572"/>
                </a:lnTo>
                <a:lnTo>
                  <a:pt x="77572" y="0"/>
                </a:lnTo>
                <a:close/>
              </a:path>
            </a:pathLst>
          </a:custGeom>
          <a:solidFill>
            <a:srgbClr val="004AAC">
              <a:alpha val="71998"/>
            </a:srgbClr>
          </a:solidFill>
        </p:spPr>
        <p:txBody>
          <a:bodyPr wrap="square" lIns="0" tIns="0" rIns="0" bIns="0" rtlCol="0"/>
          <a:lstStyle/>
          <a:p>
            <a:endParaRPr/>
          </a:p>
        </p:txBody>
      </p:sp>
      <p:sp>
        <p:nvSpPr>
          <p:cNvPr id="22" name="bg object 22"/>
          <p:cNvSpPr/>
          <p:nvPr/>
        </p:nvSpPr>
        <p:spPr>
          <a:xfrm>
            <a:off x="0" y="0"/>
            <a:ext cx="1185545" cy="1186180"/>
          </a:xfrm>
          <a:custGeom>
            <a:avLst/>
            <a:gdLst/>
            <a:ahLst/>
            <a:cxnLst/>
            <a:rect l="l" t="t" r="r" b="b"/>
            <a:pathLst>
              <a:path w="1185545" h="1186180">
                <a:moveTo>
                  <a:pt x="0" y="1185897"/>
                </a:moveTo>
                <a:lnTo>
                  <a:pt x="0" y="0"/>
                </a:lnTo>
                <a:lnTo>
                  <a:pt x="1185493" y="0"/>
                </a:lnTo>
                <a:lnTo>
                  <a:pt x="0" y="1185897"/>
                </a:lnTo>
                <a:close/>
              </a:path>
            </a:pathLst>
          </a:custGeom>
          <a:solidFill>
            <a:srgbClr val="40785E"/>
          </a:solidFill>
        </p:spPr>
        <p:txBody>
          <a:bodyPr wrap="square" lIns="0" tIns="0" rIns="0" bIns="0" rtlCol="0"/>
          <a:lstStyle/>
          <a:p>
            <a:endParaRPr/>
          </a:p>
        </p:txBody>
      </p:sp>
      <p:sp>
        <p:nvSpPr>
          <p:cNvPr id="23" name="bg object 23"/>
          <p:cNvSpPr/>
          <p:nvPr/>
        </p:nvSpPr>
        <p:spPr>
          <a:xfrm>
            <a:off x="2230847" y="0"/>
            <a:ext cx="805180" cy="402590"/>
          </a:xfrm>
          <a:custGeom>
            <a:avLst/>
            <a:gdLst/>
            <a:ahLst/>
            <a:cxnLst/>
            <a:rect l="l" t="t" r="r" b="b"/>
            <a:pathLst>
              <a:path w="805180" h="402590">
                <a:moveTo>
                  <a:pt x="0" y="0"/>
                </a:moveTo>
                <a:lnTo>
                  <a:pt x="804728" y="0"/>
                </a:lnTo>
                <a:lnTo>
                  <a:pt x="402703" y="402025"/>
                </a:lnTo>
                <a:lnTo>
                  <a:pt x="0" y="0"/>
                </a:lnTo>
                <a:close/>
              </a:path>
            </a:pathLst>
          </a:custGeom>
          <a:solidFill>
            <a:srgbClr val="40785E">
              <a:alpha val="71998"/>
            </a:srgbClr>
          </a:solidFill>
        </p:spPr>
        <p:txBody>
          <a:bodyPr wrap="square" lIns="0" tIns="0" rIns="0" bIns="0" rtlCol="0"/>
          <a:lstStyle/>
          <a:p>
            <a:endParaRPr/>
          </a:p>
        </p:txBody>
      </p:sp>
      <p:sp>
        <p:nvSpPr>
          <p:cNvPr id="24" name="bg object 24"/>
          <p:cNvSpPr/>
          <p:nvPr/>
        </p:nvSpPr>
        <p:spPr>
          <a:xfrm>
            <a:off x="1450153" y="0"/>
            <a:ext cx="572135" cy="286385"/>
          </a:xfrm>
          <a:custGeom>
            <a:avLst/>
            <a:gdLst/>
            <a:ahLst/>
            <a:cxnLst/>
            <a:rect l="l" t="t" r="r" b="b"/>
            <a:pathLst>
              <a:path w="572135" h="286385">
                <a:moveTo>
                  <a:pt x="0" y="0"/>
                </a:moveTo>
                <a:lnTo>
                  <a:pt x="572029" y="0"/>
                </a:lnTo>
                <a:lnTo>
                  <a:pt x="286141" y="286141"/>
                </a:lnTo>
                <a:lnTo>
                  <a:pt x="0" y="0"/>
                </a:lnTo>
                <a:close/>
              </a:path>
            </a:pathLst>
          </a:custGeom>
          <a:solidFill>
            <a:srgbClr val="BE120A">
              <a:alpha val="71998"/>
            </a:srgbClr>
          </a:solidFill>
        </p:spPr>
        <p:txBody>
          <a:bodyPr wrap="square" lIns="0" tIns="0" rIns="0" bIns="0" rtlCol="0"/>
          <a:lstStyle/>
          <a:p>
            <a:endParaRPr/>
          </a:p>
        </p:txBody>
      </p:sp>
      <p:sp>
        <p:nvSpPr>
          <p:cNvPr id="25" name="bg object 25"/>
          <p:cNvSpPr/>
          <p:nvPr/>
        </p:nvSpPr>
        <p:spPr>
          <a:xfrm>
            <a:off x="0" y="0"/>
            <a:ext cx="2308860" cy="4187825"/>
          </a:xfrm>
          <a:custGeom>
            <a:avLst/>
            <a:gdLst/>
            <a:ahLst/>
            <a:cxnLst/>
            <a:rect l="l" t="t" r="r" b="b"/>
            <a:pathLst>
              <a:path w="2308860" h="4187825">
                <a:moveTo>
                  <a:pt x="0" y="4168543"/>
                </a:moveTo>
                <a:lnTo>
                  <a:pt x="0" y="0"/>
                </a:lnTo>
                <a:lnTo>
                  <a:pt x="407423" y="0"/>
                </a:lnTo>
                <a:lnTo>
                  <a:pt x="2308261" y="1900389"/>
                </a:lnTo>
                <a:lnTo>
                  <a:pt x="20662" y="4187311"/>
                </a:lnTo>
                <a:lnTo>
                  <a:pt x="18768" y="4187311"/>
                </a:lnTo>
                <a:lnTo>
                  <a:pt x="0" y="4168543"/>
                </a:lnTo>
                <a:close/>
              </a:path>
            </a:pathLst>
          </a:custGeom>
          <a:solidFill>
            <a:srgbClr val="004653">
              <a:alpha val="71998"/>
            </a:srgbClr>
          </a:solidFill>
        </p:spPr>
        <p:txBody>
          <a:bodyPr wrap="square" lIns="0" tIns="0" rIns="0" bIns="0" rtlCol="0"/>
          <a:lstStyle/>
          <a:p>
            <a:endParaRPr/>
          </a:p>
        </p:txBody>
      </p:sp>
      <p:sp>
        <p:nvSpPr>
          <p:cNvPr id="26" name="bg object 26"/>
          <p:cNvSpPr/>
          <p:nvPr/>
        </p:nvSpPr>
        <p:spPr>
          <a:xfrm>
            <a:off x="0" y="1520144"/>
            <a:ext cx="136525" cy="273050"/>
          </a:xfrm>
          <a:custGeom>
            <a:avLst/>
            <a:gdLst/>
            <a:ahLst/>
            <a:cxnLst/>
            <a:rect l="l" t="t" r="r" b="b"/>
            <a:pathLst>
              <a:path w="136525" h="273050">
                <a:moveTo>
                  <a:pt x="0" y="272554"/>
                </a:moveTo>
                <a:lnTo>
                  <a:pt x="0" y="0"/>
                </a:lnTo>
                <a:lnTo>
                  <a:pt x="136277" y="136277"/>
                </a:lnTo>
                <a:lnTo>
                  <a:pt x="0" y="272554"/>
                </a:lnTo>
                <a:close/>
              </a:path>
            </a:pathLst>
          </a:custGeom>
          <a:solidFill>
            <a:srgbClr val="004AAC">
              <a:alpha val="71998"/>
            </a:srgbClr>
          </a:solid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5450" b="0" i="0">
                <a:solidFill>
                  <a:schemeClr val="tx1"/>
                </a:solidFill>
                <a:latin typeface="Trebuchet MS"/>
                <a:cs typeface="Trebuchet MS"/>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5/10/2026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extLst>
      <p:ext uri="{BB962C8B-B14F-4D97-AF65-F5344CB8AC3E}">
        <p14:creationId xmlns:p14="http://schemas.microsoft.com/office/powerpoint/2010/main" val="17844433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cSld name="Título y objetos">
    <p:spTree>
      <p:nvGrpSpPr>
        <p:cNvPr id="1" name=""/>
        <p:cNvGrpSpPr/>
        <p:nvPr/>
      </p:nvGrpSpPr>
      <p:grpSpPr>
        <a:xfrm>
          <a:off x="0" y="0"/>
          <a:ext cx="0" cy="0"/>
          <a:chOff x="0" y="0"/>
          <a:chExt cx="0" cy="0"/>
        </a:xfrm>
      </p:grpSpPr>
      <p:sp>
        <p:nvSpPr>
          <p:cNvPr id="2" name="Holder 2"/>
          <p:cNvSpPr>
            <a:spLocks noGrp="1"/>
          </p:cNvSpPr>
          <p:nvPr>
            <p:ph type="title"/>
          </p:nvPr>
        </p:nvSpPr>
        <p:spPr>
          <a:xfrm>
            <a:off x="7956323" y="133260"/>
            <a:ext cx="1847850" cy="10066602"/>
          </a:xfrm>
        </p:spPr>
        <p:txBody>
          <a:bodyPr lIns="0" tIns="0" rIns="0" bIns="0"/>
          <a:lstStyle>
            <a:lvl1pPr>
              <a:defRPr sz="5451" b="0" i="0">
                <a:solidFill>
                  <a:schemeClr val="tx1"/>
                </a:solidFill>
                <a:latin typeface="Arial" panose="020B0604020202020204" pitchFamily="34" charset="0"/>
                <a:cs typeface="Arial" panose="020B0604020202020204" pitchFamily="34" charset="0"/>
              </a:defRPr>
            </a:lvl1pPr>
          </a:lstStyle>
          <a:p>
            <a:r>
              <a:rPr lang="es-ES"/>
              <a:t>Haga clic para modificar el estilo de título del patrón</a:t>
            </a:r>
            <a:endParaRPr dirty="0"/>
          </a:p>
        </p:txBody>
      </p:sp>
      <p:sp>
        <p:nvSpPr>
          <p:cNvPr id="3" name="Holder 3"/>
          <p:cNvSpPr>
            <a:spLocks noGrp="1"/>
          </p:cNvSpPr>
          <p:nvPr>
            <p:ph type="body" idx="1"/>
          </p:nvPr>
        </p:nvSpPr>
        <p:spPr>
          <a:xfrm>
            <a:off x="6645077" y="2760716"/>
            <a:ext cx="10962641" cy="392415"/>
          </a:xfrm>
        </p:spPr>
        <p:txBody>
          <a:bodyPr lIns="0" tIns="0" rIns="0" bIns="0"/>
          <a:lstStyle>
            <a:lvl1pPr>
              <a:defRPr sz="2550" b="0" i="0">
                <a:solidFill>
                  <a:schemeClr val="tx1"/>
                </a:solidFill>
                <a:latin typeface="Arial" panose="020B0604020202020204" pitchFamily="34" charset="0"/>
                <a:cs typeface="Arial" panose="020B0604020202020204" pitchFamily="34" charset="0"/>
              </a:defRPr>
            </a:lvl1pPr>
          </a:lstStyle>
          <a:p>
            <a:pPr lvl="0"/>
            <a:r>
              <a:rPr lang="es-ES"/>
              <a:t>Haga clic para modificar los estilos de texto del patrón</a:t>
            </a: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lang="es-P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477AAFA8-E901-40AA-919D-E809F806AD55}" type="datetimeFigureOut">
              <a:rPr lang="es-PE" smtClean="0"/>
              <a:t>10/05/2026</a:t>
            </a:fld>
            <a:endParaRPr lang="es-PE"/>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8EAB3DBC-2C3B-434E-839E-9A113E4AEB65}" type="slidenum">
              <a:rPr lang="es-PE" smtClean="0"/>
              <a:t>‹Nº›</a:t>
            </a:fld>
            <a:endParaRPr lang="es-PE"/>
          </a:p>
        </p:txBody>
      </p:sp>
    </p:spTree>
    <p:extLst>
      <p:ext uri="{BB962C8B-B14F-4D97-AF65-F5344CB8AC3E}">
        <p14:creationId xmlns:p14="http://schemas.microsoft.com/office/powerpoint/2010/main" val="27456931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6"/>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2" r:id="rId3"/>
    <p:sldLayoutId id="2147483654" r:id="rId4"/>
    <p:sldLayoutId id="2147483656" r:id="rId5"/>
    <p:sldLayoutId id="2147483657" r:id="rId6"/>
    <p:sldLayoutId id="2147483658" r:id="rId7"/>
    <p:sldLayoutId id="2147483659" r:id="rId8"/>
    <p:sldLayoutId id="2147483663" r:id="rId9"/>
    <p:sldLayoutId id="2147483667"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oleObject" Target="../embeddings/oleObject1.bin"/><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svg"/><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11.png"/><Relationship Id="rId1" Type="http://schemas.openxmlformats.org/officeDocument/2006/relationships/slideLayout" Target="../slideLayouts/slideLayout10.xml"/><Relationship Id="rId6" Type="http://schemas.openxmlformats.org/officeDocument/2006/relationships/image" Target="../media/image15.png"/><Relationship Id="rId5" Type="http://schemas.openxmlformats.org/officeDocument/2006/relationships/image" Target="../media/image14.png"/><Relationship Id="rId10" Type="http://schemas.openxmlformats.org/officeDocument/2006/relationships/image" Target="../media/image19.png"/><Relationship Id="rId4" Type="http://schemas.openxmlformats.org/officeDocument/2006/relationships/image" Target="../media/image13.png"/><Relationship Id="rId9" Type="http://schemas.openxmlformats.org/officeDocument/2006/relationships/image" Target="../media/image1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
          <p:cNvSpPr/>
          <p:nvPr/>
        </p:nvSpPr>
        <p:spPr>
          <a:xfrm>
            <a:off x="0" y="0"/>
            <a:ext cx="18288000" cy="10287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a:stretch>
          </a:blipFill>
          <a:ln>
            <a:noFill/>
          </a:ln>
        </p:spPr>
        <p:txBody>
          <a:bodyPr/>
          <a:lstStyle/>
          <a:p>
            <a:endParaRPr lang="es-GT"/>
          </a:p>
        </p:txBody>
      </p:sp>
      <p:sp>
        <p:nvSpPr>
          <p:cNvPr id="85" name="Google Shape;85;p1"/>
          <p:cNvSpPr/>
          <p:nvPr/>
        </p:nvSpPr>
        <p:spPr>
          <a:xfrm>
            <a:off x="1969850" y="3030151"/>
            <a:ext cx="15055872" cy="3260981"/>
          </a:xfrm>
          <a:custGeom>
            <a:avLst/>
            <a:gdLst/>
            <a:ahLst/>
            <a:cxnLst/>
            <a:rect l="l" t="t" r="r" b="b"/>
            <a:pathLst>
              <a:path w="9002016" h="1811656" extrusionOk="0">
                <a:moveTo>
                  <a:pt x="0" y="0"/>
                </a:moveTo>
                <a:lnTo>
                  <a:pt x="9002016" y="0"/>
                </a:lnTo>
                <a:lnTo>
                  <a:pt x="9002016" y="1811656"/>
                </a:lnTo>
                <a:lnTo>
                  <a:pt x="0" y="1811656"/>
                </a:lnTo>
                <a:lnTo>
                  <a:pt x="0" y="0"/>
                </a:lnTo>
                <a:close/>
              </a:path>
            </a:pathLst>
          </a:custGeom>
          <a:blipFill rotWithShape="1">
            <a:blip r:embed="rId4">
              <a:alphaModFix/>
            </a:blip>
            <a:stretch>
              <a:fillRect/>
            </a:stretch>
          </a:blipFill>
          <a:ln>
            <a:noFill/>
          </a:ln>
        </p:spPr>
        <p:txBody>
          <a:bodyPr/>
          <a:lstStyle/>
          <a:p>
            <a:endParaRPr lang="es-GT"/>
          </a:p>
        </p:txBody>
      </p:sp>
      <p:graphicFrame>
        <p:nvGraphicFramePr>
          <p:cNvPr id="86" name="Google Shape;86;p1"/>
          <p:cNvGraphicFramePr/>
          <p:nvPr/>
        </p:nvGraphicFramePr>
        <p:xfrm>
          <a:off x="10670025" y="1766775"/>
          <a:ext cx="9524676" cy="1881100"/>
        </p:xfrm>
        <a:graphic>
          <a:graphicData uri="http://schemas.openxmlformats.org/presentationml/2006/ole">
            <mc:AlternateContent xmlns:mc="http://schemas.openxmlformats.org/markup-compatibility/2006">
              <mc:Choice xmlns:v="urn:schemas-microsoft-com:vml" Requires="v">
                <p:oleObj r:id="rId5" imgW="9524676" imgH="1881100" progId="Excel.Sheet.12">
                  <p:embed/>
                </p:oleObj>
              </mc:Choice>
              <mc:Fallback>
                <p:oleObj r:id="rId5" imgW="9524676" imgH="1881100" progId="Excel.Sheet.12">
                  <p:embed/>
                  <p:pic>
                    <p:nvPicPr>
                      <p:cNvPr id="86" name="Google Shape;86;p1"/>
                      <p:cNvPicPr preferRelativeResize="0"/>
                      <p:nvPr/>
                    </p:nvPicPr>
                    <p:blipFill rotWithShape="1">
                      <a:blip r:embed="rId6">
                        <a:alphaModFix/>
                      </a:blip>
                      <a:srcRect/>
                      <a:stretch/>
                    </p:blipFill>
                    <p:spPr>
                      <a:xfrm>
                        <a:off x="10670025" y="1766775"/>
                        <a:ext cx="9524676" cy="1881100"/>
                      </a:xfrm>
                      <a:prstGeom prst="rect">
                        <a:avLst/>
                      </a:prstGeom>
                      <a:noFill/>
                      <a:ln>
                        <a:noFill/>
                      </a:ln>
                    </p:spPr>
                  </p:pic>
                </p:oleObj>
              </mc:Fallback>
            </mc:AlternateContent>
          </a:graphicData>
        </a:graphic>
      </p:graphicFrame>
      <p:sp>
        <p:nvSpPr>
          <p:cNvPr id="87" name="Google Shape;87;p1"/>
          <p:cNvSpPr txBox="1"/>
          <p:nvPr/>
        </p:nvSpPr>
        <p:spPr>
          <a:xfrm>
            <a:off x="5792614" y="6291132"/>
            <a:ext cx="6702900" cy="886500"/>
          </a:xfrm>
          <a:prstGeom prst="rect">
            <a:avLst/>
          </a:prstGeom>
          <a:noFill/>
          <a:ln>
            <a:noFill/>
          </a:ln>
        </p:spPr>
        <p:txBody>
          <a:bodyPr spcFirstLastPara="1" wrap="square" lIns="0" tIns="0" rIns="0" bIns="0" anchor="t" anchorCtr="0">
            <a:spAutoFit/>
          </a:bodyPr>
          <a:lstStyle/>
          <a:p>
            <a:pPr marL="0" marR="0" lvl="0" indent="0" algn="ctr" rtl="0">
              <a:lnSpc>
                <a:spcPct val="139958"/>
              </a:lnSpc>
              <a:spcBef>
                <a:spcPts val="0"/>
              </a:spcBef>
              <a:spcAft>
                <a:spcPts val="0"/>
              </a:spcAft>
              <a:buNone/>
            </a:pPr>
            <a:r>
              <a:rPr lang="en-US" sz="2400" b="1" i="0" u="none" strike="noStrike" cap="none" dirty="0">
                <a:solidFill>
                  <a:srgbClr val="000000"/>
                </a:solidFill>
                <a:latin typeface="Open Sans"/>
                <a:ea typeface="Open Sans"/>
                <a:cs typeface="Open Sans"/>
                <a:sym typeface="Open Sans"/>
              </a:rPr>
              <a:t>Escuela de Ingeniería de </a:t>
            </a:r>
            <a:r>
              <a:rPr lang="en-US" sz="2400" b="1" i="0" u="none" strike="noStrike" cap="none" dirty="0" err="1">
                <a:solidFill>
                  <a:srgbClr val="000000"/>
                </a:solidFill>
                <a:latin typeface="Open Sans"/>
                <a:ea typeface="Open Sans"/>
                <a:cs typeface="Open Sans"/>
                <a:sym typeface="Open Sans"/>
              </a:rPr>
              <a:t>Ciencias</a:t>
            </a:r>
            <a:r>
              <a:rPr lang="en-US" sz="2400" b="1" i="0" u="none" strike="noStrike" cap="none" dirty="0">
                <a:solidFill>
                  <a:srgbClr val="000000"/>
                </a:solidFill>
                <a:latin typeface="Open Sans"/>
                <a:ea typeface="Open Sans"/>
                <a:cs typeface="Open Sans"/>
                <a:sym typeface="Open Sans"/>
              </a:rPr>
              <a:t> Y Sistemas</a:t>
            </a:r>
            <a:endParaRPr dirty="0"/>
          </a:p>
          <a:p>
            <a:pPr marL="0" marR="0" lvl="0" indent="0" algn="ctr" rtl="0">
              <a:lnSpc>
                <a:spcPct val="139958"/>
              </a:lnSpc>
              <a:spcBef>
                <a:spcPts val="0"/>
              </a:spcBef>
              <a:spcAft>
                <a:spcPts val="0"/>
              </a:spcAft>
              <a:buNone/>
            </a:pPr>
            <a:endParaRPr sz="2400" b="1" i="0" u="none" strike="noStrike" cap="none" dirty="0">
              <a:solidFill>
                <a:srgbClr val="000000"/>
              </a:solidFill>
              <a:latin typeface="Open Sans"/>
              <a:ea typeface="Open Sans"/>
              <a:cs typeface="Open Sans"/>
              <a:sym typeface="Open Sans"/>
            </a:endParaRPr>
          </a:p>
        </p:txBody>
      </p:sp>
      <p:sp>
        <p:nvSpPr>
          <p:cNvPr id="88" name="Google Shape;88;p1"/>
          <p:cNvSpPr txBox="1"/>
          <p:nvPr/>
        </p:nvSpPr>
        <p:spPr>
          <a:xfrm>
            <a:off x="348639" y="9201150"/>
            <a:ext cx="8386287" cy="1352934"/>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3140" b="1" i="0" u="none" strike="noStrike" cap="none" dirty="0">
                <a:solidFill>
                  <a:srgbClr val="000000"/>
                </a:solidFill>
                <a:latin typeface="Open Sans"/>
                <a:ea typeface="Open Sans"/>
                <a:cs typeface="Open Sans"/>
                <a:sym typeface="Open Sans"/>
              </a:rPr>
              <a:t>NOMBRE DEL TUTOR</a:t>
            </a:r>
            <a:endParaRPr dirty="0"/>
          </a:p>
          <a:p>
            <a:pPr marL="0" marR="0" lvl="0" indent="0" algn="ctr" rtl="0">
              <a:lnSpc>
                <a:spcPct val="140000"/>
              </a:lnSpc>
              <a:spcBef>
                <a:spcPts val="0"/>
              </a:spcBef>
              <a:spcAft>
                <a:spcPts val="0"/>
              </a:spcAft>
              <a:buNone/>
            </a:pPr>
            <a:endParaRPr sz="3140" b="1" i="0" u="none" strike="noStrike" cap="none" dirty="0">
              <a:solidFill>
                <a:srgbClr val="000000"/>
              </a:solidFill>
              <a:latin typeface="Open Sans"/>
              <a:ea typeface="Open Sans"/>
              <a:cs typeface="Open Sans"/>
              <a:sym typeface="Open Sans"/>
            </a:endParaRPr>
          </a:p>
        </p:txBody>
      </p:sp>
      <p:sp>
        <p:nvSpPr>
          <p:cNvPr id="89" name="Google Shape;89;p1"/>
          <p:cNvSpPr txBox="1"/>
          <p:nvPr/>
        </p:nvSpPr>
        <p:spPr>
          <a:xfrm>
            <a:off x="2904236" y="3801950"/>
            <a:ext cx="13187100" cy="1077218"/>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kumimoji="0" lang="es-GT" sz="5000" b="0" i="0" u="none" strike="noStrike" kern="0" cap="none" spc="0" normalizeH="0" baseline="0" noProof="0" dirty="0">
                <a:ln>
                  <a:noFill/>
                </a:ln>
                <a:solidFill>
                  <a:srgbClr val="000000"/>
                </a:solidFill>
                <a:effectLst/>
                <a:uLnTx/>
                <a:uFillTx/>
                <a:latin typeface="Arial"/>
                <a:ea typeface="Arial"/>
                <a:cs typeface="Arial"/>
                <a:sym typeface="Arial"/>
              </a:rPr>
              <a:t>Programación Comercial 1 [Sec.]</a:t>
            </a:r>
            <a:endParaRPr sz="4200" b="1" i="0" u="none" strike="noStrike" cap="none" dirty="0">
              <a:solidFill>
                <a:srgbClr val="000000"/>
              </a:solidFill>
              <a:latin typeface="Open Sans"/>
              <a:ea typeface="Open Sans"/>
              <a:cs typeface="Open Sans"/>
              <a:sym typeface="Open San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2"/>
          <p:cNvSpPr/>
          <p:nvPr/>
        </p:nvSpPr>
        <p:spPr>
          <a:xfrm>
            <a:off x="0" y="0"/>
            <a:ext cx="18288000" cy="10401300"/>
          </a:xfrm>
          <a:custGeom>
            <a:avLst/>
            <a:gdLst/>
            <a:ahLst/>
            <a:cxnLst/>
            <a:rect l="l" t="t" r="r" b="b"/>
            <a:pathLst>
              <a:path w="18288000" h="10401300" extrusionOk="0">
                <a:moveTo>
                  <a:pt x="0" y="0"/>
                </a:moveTo>
                <a:lnTo>
                  <a:pt x="18288000" y="0"/>
                </a:lnTo>
                <a:lnTo>
                  <a:pt x="18288000" y="10401300"/>
                </a:lnTo>
                <a:lnTo>
                  <a:pt x="0" y="10401300"/>
                </a:lnTo>
                <a:lnTo>
                  <a:pt x="0" y="0"/>
                </a:lnTo>
                <a:close/>
              </a:path>
            </a:pathLst>
          </a:custGeom>
          <a:blipFill rotWithShape="1">
            <a:blip r:embed="rId3">
              <a:alphaModFix/>
            </a:blip>
            <a:stretch>
              <a:fillRect/>
            </a:stretch>
          </a:blipFill>
          <a:ln>
            <a:noFill/>
          </a:ln>
        </p:spPr>
        <p:txBody>
          <a:bodyPr/>
          <a:lstStyle/>
          <a:p>
            <a:endParaRPr lang="es-GT"/>
          </a:p>
        </p:txBody>
      </p:sp>
      <p:sp>
        <p:nvSpPr>
          <p:cNvPr id="95" name="Google Shape;95;p2"/>
          <p:cNvSpPr txBox="1"/>
          <p:nvPr/>
        </p:nvSpPr>
        <p:spPr>
          <a:xfrm>
            <a:off x="1780674" y="2935368"/>
            <a:ext cx="16050125" cy="3791423"/>
          </a:xfrm>
          <a:prstGeom prst="rect">
            <a:avLst/>
          </a:prstGeom>
          <a:noFill/>
          <a:ln>
            <a:noFill/>
          </a:ln>
        </p:spPr>
        <p:txBody>
          <a:bodyPr spcFirstLastPara="1" wrap="square" lIns="0" tIns="0" rIns="0" bIns="0" anchor="t" anchorCtr="0">
            <a:spAutoFit/>
          </a:bodyPr>
          <a:lstStyle/>
          <a:p>
            <a:pPr lvl="0" algn="ctr">
              <a:lnSpc>
                <a:spcPct val="140004"/>
              </a:lnSpc>
            </a:pPr>
            <a:r>
              <a:rPr lang="en-US" sz="8799" b="1" i="0" u="none" strike="noStrike" cap="none" dirty="0">
                <a:solidFill>
                  <a:srgbClr val="000000"/>
                </a:solidFill>
                <a:latin typeface="Open Sans"/>
                <a:ea typeface="Open Sans"/>
                <a:cs typeface="Open Sans"/>
                <a:sym typeface="Open Sans"/>
              </a:rPr>
              <a:t>UNIDAD 3: </a:t>
            </a:r>
            <a:r>
              <a:rPr lang="en-US" sz="8799" b="1" dirty="0">
                <a:latin typeface="Open Sans"/>
                <a:ea typeface="Open Sans"/>
                <a:cs typeface="Open Sans"/>
                <a:sym typeface="Open Sans"/>
              </a:rPr>
              <a:t>Power BI </a:t>
            </a:r>
            <a:endParaRPr dirty="0"/>
          </a:p>
          <a:p>
            <a:pPr marL="0" marR="0" lvl="0" indent="0" algn="ctr" rtl="0">
              <a:lnSpc>
                <a:spcPct val="140004"/>
              </a:lnSpc>
              <a:spcBef>
                <a:spcPts val="0"/>
              </a:spcBef>
              <a:spcAft>
                <a:spcPts val="0"/>
              </a:spcAft>
              <a:buNone/>
            </a:pPr>
            <a:endParaRPr sz="8799" b="1" i="0" u="none" strike="noStrike" cap="none" dirty="0">
              <a:solidFill>
                <a:srgbClr val="000000"/>
              </a:solidFill>
              <a:latin typeface="Open Sans"/>
              <a:ea typeface="Open Sans"/>
              <a:cs typeface="Open Sans"/>
              <a:sym typeface="Open Sans"/>
            </a:endParaRPr>
          </a:p>
        </p:txBody>
      </p:sp>
      <p:sp>
        <p:nvSpPr>
          <p:cNvPr id="96" name="Google Shape;96;p2"/>
          <p:cNvSpPr txBox="1"/>
          <p:nvPr/>
        </p:nvSpPr>
        <p:spPr>
          <a:xfrm>
            <a:off x="2658978" y="5200650"/>
            <a:ext cx="14293515" cy="2585323"/>
          </a:xfrm>
          <a:prstGeom prst="rect">
            <a:avLst/>
          </a:prstGeom>
          <a:noFill/>
          <a:ln>
            <a:noFill/>
          </a:ln>
        </p:spPr>
        <p:txBody>
          <a:bodyPr spcFirstLastPara="1" wrap="square" lIns="0" tIns="0" rIns="0" bIns="0" anchor="t" anchorCtr="0">
            <a:spAutoFit/>
          </a:bodyPr>
          <a:lstStyle/>
          <a:p>
            <a:pPr lvl="0" algn="ctr">
              <a:lnSpc>
                <a:spcPct val="140000"/>
              </a:lnSpc>
            </a:pPr>
            <a:r>
              <a:rPr lang="es-GT" sz="6000" b="1" dirty="0">
                <a:latin typeface="Open Sans"/>
                <a:ea typeface="Open Sans"/>
                <a:cs typeface="Open Sans"/>
                <a:sym typeface="Open Sans"/>
              </a:rPr>
              <a:t>Análisis de Datos</a:t>
            </a:r>
            <a:endParaRPr sz="1100" dirty="0"/>
          </a:p>
          <a:p>
            <a:pPr marL="0" marR="0" lvl="0" indent="0" algn="ctr" rtl="0">
              <a:lnSpc>
                <a:spcPct val="140000"/>
              </a:lnSpc>
              <a:spcBef>
                <a:spcPts val="0"/>
              </a:spcBef>
              <a:spcAft>
                <a:spcPts val="0"/>
              </a:spcAft>
              <a:buNone/>
            </a:pPr>
            <a:endParaRPr sz="6000" b="1" i="0" u="none" strike="noStrike" cap="none" dirty="0">
              <a:solidFill>
                <a:srgbClr val="000000"/>
              </a:solidFill>
              <a:latin typeface="Open Sans"/>
              <a:ea typeface="Open Sans"/>
              <a:cs typeface="Open Sans"/>
              <a:sym typeface="Open Sa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4"/>
          <p:cNvSpPr/>
          <p:nvPr/>
        </p:nvSpPr>
        <p:spPr>
          <a:xfrm>
            <a:off x="4016947" y="3558803"/>
            <a:ext cx="9896507" cy="5913163"/>
          </a:xfrm>
          <a:custGeom>
            <a:avLst/>
            <a:gdLst/>
            <a:ahLst/>
            <a:cxnLst/>
            <a:rect l="l" t="t" r="r" b="b"/>
            <a:pathLst>
              <a:path w="9896507" h="5913163" extrusionOk="0">
                <a:moveTo>
                  <a:pt x="0" y="0"/>
                </a:moveTo>
                <a:lnTo>
                  <a:pt x="9896507" y="0"/>
                </a:lnTo>
                <a:lnTo>
                  <a:pt x="9896507" y="5913163"/>
                </a:lnTo>
                <a:lnTo>
                  <a:pt x="0" y="5913163"/>
                </a:lnTo>
                <a:lnTo>
                  <a:pt x="0" y="0"/>
                </a:lnTo>
                <a:close/>
              </a:path>
            </a:pathLst>
          </a:custGeom>
          <a:blipFill rotWithShape="1">
            <a:blip r:embed="rId3">
              <a:alphaModFix/>
            </a:blip>
            <a:stretch>
              <a:fillRect/>
            </a:stretch>
          </a:blipFill>
          <a:ln>
            <a:noFill/>
          </a:ln>
        </p:spPr>
        <p:txBody>
          <a:bodyPr/>
          <a:lstStyle/>
          <a:p>
            <a:endParaRPr lang="es-GT" dirty="0"/>
          </a:p>
        </p:txBody>
      </p:sp>
      <p:sp>
        <p:nvSpPr>
          <p:cNvPr id="120" name="Google Shape;120;p4"/>
          <p:cNvSpPr/>
          <p:nvPr/>
        </p:nvSpPr>
        <p:spPr>
          <a:xfrm>
            <a:off x="3493371" y="-625307"/>
            <a:ext cx="11301259" cy="5127946"/>
          </a:xfrm>
          <a:custGeom>
            <a:avLst/>
            <a:gdLst/>
            <a:ahLst/>
            <a:cxnLst/>
            <a:rect l="l" t="t" r="r" b="b"/>
            <a:pathLst>
              <a:path w="11301259" h="5127946" extrusionOk="0">
                <a:moveTo>
                  <a:pt x="0" y="0"/>
                </a:moveTo>
                <a:lnTo>
                  <a:pt x="11301258" y="0"/>
                </a:lnTo>
                <a:lnTo>
                  <a:pt x="11301258" y="5127946"/>
                </a:lnTo>
                <a:lnTo>
                  <a:pt x="0" y="5127946"/>
                </a:lnTo>
                <a:lnTo>
                  <a:pt x="0" y="0"/>
                </a:lnTo>
                <a:close/>
              </a:path>
            </a:pathLst>
          </a:custGeom>
          <a:blipFill rotWithShape="1">
            <a:blip r:embed="rId4">
              <a:alphaModFix/>
            </a:blip>
            <a:stretch>
              <a:fillRect/>
            </a:stretch>
          </a:blipFill>
          <a:ln>
            <a:noFill/>
          </a:ln>
        </p:spPr>
        <p:txBody>
          <a:bodyPr/>
          <a:lstStyle/>
          <a:p>
            <a:endParaRPr lang="es-GT"/>
          </a:p>
        </p:txBody>
      </p:sp>
      <p:sp>
        <p:nvSpPr>
          <p:cNvPr id="3" name="Google Shape;67;p2">
            <a:extLst>
              <a:ext uri="{FF2B5EF4-FFF2-40B4-BE49-F238E27FC236}">
                <a16:creationId xmlns:a16="http://schemas.microsoft.com/office/drawing/2014/main" id="{84EADFC3-AB96-F70E-B567-C6441731FFA2}"/>
              </a:ext>
            </a:extLst>
          </p:cNvPr>
          <p:cNvSpPr txBox="1"/>
          <p:nvPr/>
        </p:nvSpPr>
        <p:spPr>
          <a:xfrm>
            <a:off x="5216756" y="3743994"/>
            <a:ext cx="11390820" cy="4752583"/>
          </a:xfrm>
          <a:prstGeom prst="rect">
            <a:avLst/>
          </a:prstGeom>
          <a:noFill/>
          <a:ln>
            <a:noFill/>
          </a:ln>
        </p:spPr>
        <p:txBody>
          <a:bodyPr spcFirstLastPara="1" wrap="square" lIns="0" tIns="12700" rIns="0" bIns="0" anchor="t" anchorCtr="0">
            <a:spAutoFit/>
          </a:bodyPr>
          <a:lstStyle/>
          <a:p>
            <a:r>
              <a:rPr lang="es-ES" sz="2800" dirty="0"/>
              <a:t>Power Bi</a:t>
            </a:r>
          </a:p>
          <a:p>
            <a:endParaRPr lang="es-ES" sz="2800" dirty="0"/>
          </a:p>
          <a:p>
            <a:r>
              <a:rPr lang="es-ES" sz="2800" dirty="0"/>
              <a:t>ETL</a:t>
            </a:r>
          </a:p>
          <a:p>
            <a:endParaRPr lang="es-ES" sz="2800" dirty="0"/>
          </a:p>
          <a:p>
            <a:r>
              <a:rPr lang="es-ES" sz="2800" dirty="0"/>
              <a:t>Extracción de Datos</a:t>
            </a:r>
          </a:p>
          <a:p>
            <a:endParaRPr lang="es-ES" sz="2800" dirty="0"/>
          </a:p>
          <a:p>
            <a:r>
              <a:rPr lang="es-ES" sz="2800" dirty="0"/>
              <a:t>Transformación de datos</a:t>
            </a:r>
          </a:p>
          <a:p>
            <a:endParaRPr lang="es-ES" sz="2800" dirty="0"/>
          </a:p>
          <a:p>
            <a:r>
              <a:rPr lang="es-ES" sz="2800" dirty="0"/>
              <a:t>Modelamiento de datos</a:t>
            </a:r>
          </a:p>
          <a:p>
            <a:endParaRPr lang="es-ES" sz="2800" dirty="0"/>
          </a:p>
          <a:p>
            <a:endParaRPr lang="es-GT" sz="2800" noProof="1">
              <a:latin typeface="Arial"/>
              <a:ea typeface="Arial"/>
              <a:cs typeface="Arial"/>
              <a:sym typeface="Arial"/>
            </a:endParaRPr>
          </a:p>
        </p:txBody>
      </p:sp>
      <p:pic>
        <p:nvPicPr>
          <p:cNvPr id="4" name="Google Shape;72;p2">
            <a:extLst>
              <a:ext uri="{FF2B5EF4-FFF2-40B4-BE49-F238E27FC236}">
                <a16:creationId xmlns:a16="http://schemas.microsoft.com/office/drawing/2014/main" id="{672E0483-9485-1FE4-1359-D9DB1F5BCFF7}"/>
              </a:ext>
            </a:extLst>
          </p:cNvPr>
          <p:cNvPicPr preferRelativeResize="0"/>
          <p:nvPr/>
        </p:nvPicPr>
        <p:blipFill rotWithShape="1">
          <a:blip r:embed="rId5">
            <a:alphaModFix/>
          </a:blip>
          <a:srcRect/>
          <a:stretch/>
        </p:blipFill>
        <p:spPr>
          <a:xfrm>
            <a:off x="4776969" y="3743994"/>
            <a:ext cx="355998" cy="405713"/>
          </a:xfrm>
          <a:prstGeom prst="rect">
            <a:avLst/>
          </a:prstGeom>
          <a:noFill/>
          <a:ln>
            <a:noFill/>
          </a:ln>
        </p:spPr>
      </p:pic>
      <p:pic>
        <p:nvPicPr>
          <p:cNvPr id="8" name="Google Shape;72;p2">
            <a:extLst>
              <a:ext uri="{FF2B5EF4-FFF2-40B4-BE49-F238E27FC236}">
                <a16:creationId xmlns:a16="http://schemas.microsoft.com/office/drawing/2014/main" id="{B7F6D6C0-9B55-54C3-EA51-772A846E89D2}"/>
              </a:ext>
            </a:extLst>
          </p:cNvPr>
          <p:cNvPicPr preferRelativeResize="0"/>
          <p:nvPr/>
        </p:nvPicPr>
        <p:blipFill rotWithShape="1">
          <a:blip r:embed="rId5">
            <a:alphaModFix/>
          </a:blip>
          <a:srcRect/>
          <a:stretch/>
        </p:blipFill>
        <p:spPr>
          <a:xfrm>
            <a:off x="4776969" y="4638177"/>
            <a:ext cx="355998" cy="405713"/>
          </a:xfrm>
          <a:prstGeom prst="rect">
            <a:avLst/>
          </a:prstGeom>
          <a:noFill/>
          <a:ln>
            <a:noFill/>
          </a:ln>
        </p:spPr>
      </p:pic>
      <p:pic>
        <p:nvPicPr>
          <p:cNvPr id="9" name="Google Shape;72;p2">
            <a:extLst>
              <a:ext uri="{FF2B5EF4-FFF2-40B4-BE49-F238E27FC236}">
                <a16:creationId xmlns:a16="http://schemas.microsoft.com/office/drawing/2014/main" id="{76A05B96-8543-2842-B93E-92D07360ED55}"/>
              </a:ext>
            </a:extLst>
          </p:cNvPr>
          <p:cNvPicPr preferRelativeResize="0"/>
          <p:nvPr/>
        </p:nvPicPr>
        <p:blipFill rotWithShape="1">
          <a:blip r:embed="rId5">
            <a:alphaModFix/>
          </a:blip>
          <a:srcRect/>
          <a:stretch/>
        </p:blipFill>
        <p:spPr>
          <a:xfrm>
            <a:off x="4741306" y="6335729"/>
            <a:ext cx="355998" cy="405713"/>
          </a:xfrm>
          <a:prstGeom prst="rect">
            <a:avLst/>
          </a:prstGeom>
          <a:noFill/>
          <a:ln>
            <a:noFill/>
          </a:ln>
        </p:spPr>
      </p:pic>
      <p:pic>
        <p:nvPicPr>
          <p:cNvPr id="10" name="Google Shape;72;p2">
            <a:extLst>
              <a:ext uri="{FF2B5EF4-FFF2-40B4-BE49-F238E27FC236}">
                <a16:creationId xmlns:a16="http://schemas.microsoft.com/office/drawing/2014/main" id="{61EC5130-1A89-E21E-EDE5-CF39F0D91B3E}"/>
              </a:ext>
            </a:extLst>
          </p:cNvPr>
          <p:cNvPicPr preferRelativeResize="0"/>
          <p:nvPr/>
        </p:nvPicPr>
        <p:blipFill rotWithShape="1">
          <a:blip r:embed="rId5">
            <a:alphaModFix/>
          </a:blip>
          <a:srcRect/>
          <a:stretch/>
        </p:blipFill>
        <p:spPr>
          <a:xfrm>
            <a:off x="4776969" y="7124666"/>
            <a:ext cx="355998" cy="405713"/>
          </a:xfrm>
          <a:prstGeom prst="rect">
            <a:avLst/>
          </a:prstGeom>
          <a:noFill/>
          <a:ln>
            <a:noFill/>
          </a:ln>
        </p:spPr>
      </p:pic>
      <p:pic>
        <p:nvPicPr>
          <p:cNvPr id="12" name="Google Shape;72;p2">
            <a:extLst>
              <a:ext uri="{FF2B5EF4-FFF2-40B4-BE49-F238E27FC236}">
                <a16:creationId xmlns:a16="http://schemas.microsoft.com/office/drawing/2014/main" id="{3B75C814-E895-4F04-28CB-D5B7660FCDC8}"/>
              </a:ext>
            </a:extLst>
          </p:cNvPr>
          <p:cNvPicPr preferRelativeResize="0"/>
          <p:nvPr/>
        </p:nvPicPr>
        <p:blipFill rotWithShape="1">
          <a:blip r:embed="rId5">
            <a:alphaModFix/>
          </a:blip>
          <a:srcRect/>
          <a:stretch/>
        </p:blipFill>
        <p:spPr>
          <a:xfrm>
            <a:off x="4741306" y="5438827"/>
            <a:ext cx="355998" cy="405713"/>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lecha: pentágono 3">
            <a:extLst>
              <a:ext uri="{FF2B5EF4-FFF2-40B4-BE49-F238E27FC236}">
                <a16:creationId xmlns:a16="http://schemas.microsoft.com/office/drawing/2014/main" id="{155E35B9-760A-D8EB-EE65-6D49435C27AB}"/>
              </a:ext>
            </a:extLst>
          </p:cNvPr>
          <p:cNvSpPr/>
          <p:nvPr/>
        </p:nvSpPr>
        <p:spPr>
          <a:xfrm>
            <a:off x="1" y="733961"/>
            <a:ext cx="6371303" cy="1102212"/>
          </a:xfrm>
          <a:prstGeom prst="homePlat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PE" sz="5400" b="1" dirty="0">
                <a:latin typeface="Calibri" panose="020F0502020204030204" pitchFamily="34" charset="0"/>
                <a:cs typeface="Calibri" panose="020F0502020204030204" pitchFamily="34" charset="0"/>
              </a:rPr>
              <a:t>¿Qué es BI?</a:t>
            </a:r>
          </a:p>
        </p:txBody>
      </p:sp>
      <p:sp>
        <p:nvSpPr>
          <p:cNvPr id="5" name="CuadroTexto 4">
            <a:extLst>
              <a:ext uri="{FF2B5EF4-FFF2-40B4-BE49-F238E27FC236}">
                <a16:creationId xmlns:a16="http://schemas.microsoft.com/office/drawing/2014/main" id="{A57A528C-A935-C245-852A-30AB38B3F2FA}"/>
              </a:ext>
            </a:extLst>
          </p:cNvPr>
          <p:cNvSpPr txBox="1"/>
          <p:nvPr/>
        </p:nvSpPr>
        <p:spPr>
          <a:xfrm>
            <a:off x="6371303" y="2101950"/>
            <a:ext cx="10596717" cy="1754326"/>
          </a:xfrm>
          <a:prstGeom prst="rect">
            <a:avLst/>
          </a:prstGeom>
          <a:noFill/>
        </p:spPr>
        <p:txBody>
          <a:bodyPr wrap="square" rtlCol="0">
            <a:spAutoFit/>
          </a:bodyPr>
          <a:lstStyle/>
          <a:p>
            <a:pPr marL="514350" indent="-514350" algn="just">
              <a:buFont typeface="Wingdings" panose="05000000000000000000" pitchFamily="2" charset="2"/>
              <a:buChar char="ü"/>
            </a:pPr>
            <a:r>
              <a:rPr lang="es-MX" sz="3600" dirty="0">
                <a:latin typeface="Calibri" panose="020F0502020204030204" pitchFamily="34" charset="0"/>
                <a:cs typeface="Calibri" panose="020F0502020204030204" pitchFamily="34" charset="0"/>
              </a:rPr>
              <a:t>Es la habilidad de transformar los datos en información, y a su vez esta información en conocimiento para la toma de decisiones.</a:t>
            </a:r>
            <a:endParaRPr lang="es-PE" sz="3600" dirty="0">
              <a:latin typeface="Calibri" panose="020F0502020204030204" pitchFamily="34" charset="0"/>
              <a:cs typeface="Calibri" panose="020F0502020204030204" pitchFamily="34" charset="0"/>
            </a:endParaRPr>
          </a:p>
        </p:txBody>
      </p:sp>
      <p:sp>
        <p:nvSpPr>
          <p:cNvPr id="6" name="CuadroTexto 5">
            <a:extLst>
              <a:ext uri="{FF2B5EF4-FFF2-40B4-BE49-F238E27FC236}">
                <a16:creationId xmlns:a16="http://schemas.microsoft.com/office/drawing/2014/main" id="{82F2AA0A-01E2-4004-832C-2946587F3602}"/>
              </a:ext>
            </a:extLst>
          </p:cNvPr>
          <p:cNvSpPr txBox="1"/>
          <p:nvPr/>
        </p:nvSpPr>
        <p:spPr>
          <a:xfrm>
            <a:off x="527253" y="4250943"/>
            <a:ext cx="5316795" cy="1384995"/>
          </a:xfrm>
          <a:prstGeom prst="rect">
            <a:avLst/>
          </a:prstGeom>
          <a:noFill/>
        </p:spPr>
        <p:txBody>
          <a:bodyPr wrap="square" rtlCol="0">
            <a:spAutoFit/>
          </a:bodyPr>
          <a:lstStyle/>
          <a:p>
            <a:pPr algn="just"/>
            <a:r>
              <a:rPr lang="es-MX" sz="4200" b="1" dirty="0">
                <a:latin typeface="Calibri" panose="020F0502020204030204" pitchFamily="34" charset="0"/>
                <a:cs typeface="Calibri" panose="020F0502020204030204" pitchFamily="34" charset="0"/>
              </a:rPr>
              <a:t>¿Por qué implementar Business Intelligence?</a:t>
            </a:r>
            <a:endParaRPr lang="es-PE" sz="4200" b="1" dirty="0">
              <a:latin typeface="Calibri" panose="020F0502020204030204" pitchFamily="34" charset="0"/>
              <a:cs typeface="Calibri" panose="020F0502020204030204" pitchFamily="34" charset="0"/>
            </a:endParaRPr>
          </a:p>
        </p:txBody>
      </p:sp>
      <p:sp>
        <p:nvSpPr>
          <p:cNvPr id="7" name="CuadroTexto 6">
            <a:extLst>
              <a:ext uri="{FF2B5EF4-FFF2-40B4-BE49-F238E27FC236}">
                <a16:creationId xmlns:a16="http://schemas.microsoft.com/office/drawing/2014/main" id="{3E844CBC-1734-8946-2DF8-1C86ECECE905}"/>
              </a:ext>
            </a:extLst>
          </p:cNvPr>
          <p:cNvSpPr txBox="1"/>
          <p:nvPr/>
        </p:nvSpPr>
        <p:spPr>
          <a:xfrm>
            <a:off x="6371303" y="5790476"/>
            <a:ext cx="10596717" cy="2862322"/>
          </a:xfrm>
          <a:prstGeom prst="rect">
            <a:avLst/>
          </a:prstGeom>
          <a:noFill/>
        </p:spPr>
        <p:txBody>
          <a:bodyPr wrap="square" rtlCol="0">
            <a:spAutoFit/>
          </a:bodyPr>
          <a:lstStyle/>
          <a:p>
            <a:pPr marL="514350" indent="-514350" algn="just">
              <a:buFont typeface="Wingdings" panose="05000000000000000000" pitchFamily="2" charset="2"/>
              <a:buChar char="ü"/>
            </a:pPr>
            <a:r>
              <a:rPr lang="es-PE" sz="3600" dirty="0">
                <a:latin typeface="Calibri" panose="020F0502020204030204" pitchFamily="34" charset="0"/>
                <a:cs typeface="Calibri" panose="020F0502020204030204" pitchFamily="34" charset="0"/>
              </a:rPr>
              <a:t>Visibilidad a las áreas clave del negocio.</a:t>
            </a:r>
          </a:p>
          <a:p>
            <a:pPr marL="514350" indent="-514350" algn="just">
              <a:buFont typeface="Wingdings" panose="05000000000000000000" pitchFamily="2" charset="2"/>
              <a:buChar char="ü"/>
            </a:pPr>
            <a:r>
              <a:rPr lang="es-PE" sz="3600" dirty="0">
                <a:latin typeface="Calibri" panose="020F0502020204030204" pitchFamily="34" charset="0"/>
                <a:cs typeface="Calibri" panose="020F0502020204030204" pitchFamily="34" charset="0"/>
              </a:rPr>
              <a:t>Descubrir patrones ocultos en los datos.</a:t>
            </a:r>
          </a:p>
          <a:p>
            <a:pPr marL="514350" indent="-514350" algn="just">
              <a:buFont typeface="Wingdings" panose="05000000000000000000" pitchFamily="2" charset="2"/>
              <a:buChar char="ü"/>
            </a:pPr>
            <a:r>
              <a:rPr lang="es-PE" sz="3600" dirty="0">
                <a:latin typeface="Calibri" panose="020F0502020204030204" pitchFamily="34" charset="0"/>
                <a:cs typeface="Calibri" panose="020F0502020204030204" pitchFamily="34" charset="0"/>
              </a:rPr>
              <a:t>Mantener acceso rápido  y oportuno a los datos.</a:t>
            </a:r>
          </a:p>
          <a:p>
            <a:pPr marL="514350" indent="-514350" algn="just">
              <a:buFont typeface="Wingdings" panose="05000000000000000000" pitchFamily="2" charset="2"/>
              <a:buChar char="ü"/>
            </a:pPr>
            <a:r>
              <a:rPr lang="es-PE" sz="3600" dirty="0">
                <a:latin typeface="Calibri" panose="020F0502020204030204" pitchFamily="34" charset="0"/>
                <a:cs typeface="Calibri" panose="020F0502020204030204" pitchFamily="34" charset="0"/>
              </a:rPr>
              <a:t>Realizar análisis predictivos.</a:t>
            </a:r>
          </a:p>
          <a:p>
            <a:pPr marL="514350" indent="-514350" algn="just">
              <a:buFont typeface="Wingdings" panose="05000000000000000000" pitchFamily="2" charset="2"/>
              <a:buChar char="ü"/>
            </a:pPr>
            <a:r>
              <a:rPr lang="es-PE" sz="3600" dirty="0">
                <a:latin typeface="Calibri" panose="020F0502020204030204" pitchFamily="34" charset="0"/>
                <a:cs typeface="Calibri" panose="020F0502020204030204" pitchFamily="34" charset="0"/>
              </a:rPr>
              <a:t>Integrar múltiples fuentes de datos.</a:t>
            </a:r>
          </a:p>
        </p:txBody>
      </p:sp>
    </p:spTree>
    <p:extLst>
      <p:ext uri="{BB962C8B-B14F-4D97-AF65-F5344CB8AC3E}">
        <p14:creationId xmlns:p14="http://schemas.microsoft.com/office/powerpoint/2010/main" val="11585161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6" grpId="0"/>
      <p:bldP spid="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lecha: pentágono 3">
            <a:extLst>
              <a:ext uri="{FF2B5EF4-FFF2-40B4-BE49-F238E27FC236}">
                <a16:creationId xmlns:a16="http://schemas.microsoft.com/office/drawing/2014/main" id="{C00C300B-8BF1-A015-DBCB-066508F4331B}"/>
              </a:ext>
            </a:extLst>
          </p:cNvPr>
          <p:cNvSpPr/>
          <p:nvPr/>
        </p:nvSpPr>
        <p:spPr>
          <a:xfrm>
            <a:off x="0" y="733961"/>
            <a:ext cx="6946491" cy="1102212"/>
          </a:xfrm>
          <a:prstGeom prst="homePlat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PE" sz="5400" b="1" dirty="0">
                <a:latin typeface="Calibri" panose="020F0502020204030204" pitchFamily="34" charset="0"/>
                <a:cs typeface="Calibri" panose="020F0502020204030204" pitchFamily="34" charset="0"/>
              </a:rPr>
              <a:t>Componentes de BI</a:t>
            </a:r>
          </a:p>
        </p:txBody>
      </p:sp>
      <p:grpSp>
        <p:nvGrpSpPr>
          <p:cNvPr id="62" name="Grupo 61">
            <a:extLst>
              <a:ext uri="{FF2B5EF4-FFF2-40B4-BE49-F238E27FC236}">
                <a16:creationId xmlns:a16="http://schemas.microsoft.com/office/drawing/2014/main" id="{10AE044A-A71C-FECE-456E-C1270AB204D5}"/>
              </a:ext>
            </a:extLst>
          </p:cNvPr>
          <p:cNvGrpSpPr/>
          <p:nvPr/>
        </p:nvGrpSpPr>
        <p:grpSpPr>
          <a:xfrm>
            <a:off x="12490958" y="2424746"/>
            <a:ext cx="4860000" cy="6658176"/>
            <a:chOff x="8283061" y="1631635"/>
            <a:chExt cx="3240000" cy="4438784"/>
          </a:xfrm>
        </p:grpSpPr>
        <p:sp>
          <p:nvSpPr>
            <p:cNvPr id="35" name="CuadroTexto 21">
              <a:extLst>
                <a:ext uri="{FF2B5EF4-FFF2-40B4-BE49-F238E27FC236}">
                  <a16:creationId xmlns:a16="http://schemas.microsoft.com/office/drawing/2014/main" id="{06B7599A-506C-429C-BFF5-DC585DD3E4D6}"/>
                </a:ext>
              </a:extLst>
            </p:cNvPr>
            <p:cNvSpPr txBox="1"/>
            <p:nvPr/>
          </p:nvSpPr>
          <p:spPr>
            <a:xfrm>
              <a:off x="8689075" y="1631635"/>
              <a:ext cx="2427972" cy="537928"/>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s-PE" sz="5100" b="1" dirty="0">
                  <a:solidFill>
                    <a:schemeClr val="tx1"/>
                  </a:solidFill>
                  <a:latin typeface="Calibri" panose="020F0502020204030204" pitchFamily="34" charset="0"/>
                  <a:cs typeface="Calibri" panose="020F0502020204030204" pitchFamily="34" charset="0"/>
                </a:rPr>
                <a:t>REPORTES</a:t>
              </a:r>
            </a:p>
          </p:txBody>
        </p:sp>
        <p:grpSp>
          <p:nvGrpSpPr>
            <p:cNvPr id="38" name="Grupo 37">
              <a:extLst>
                <a:ext uri="{FF2B5EF4-FFF2-40B4-BE49-F238E27FC236}">
                  <a16:creationId xmlns:a16="http://schemas.microsoft.com/office/drawing/2014/main" id="{89A91184-5150-7D7D-E62D-E7B53B96ABFB}"/>
                </a:ext>
              </a:extLst>
            </p:cNvPr>
            <p:cNvGrpSpPr/>
            <p:nvPr/>
          </p:nvGrpSpPr>
          <p:grpSpPr>
            <a:xfrm>
              <a:off x="8283061" y="4270419"/>
              <a:ext cx="3240000" cy="1800000"/>
              <a:chOff x="8238817" y="2839833"/>
              <a:chExt cx="3240000" cy="1800000"/>
            </a:xfrm>
          </p:grpSpPr>
          <p:sp>
            <p:nvSpPr>
              <p:cNvPr id="34" name="Rectángulo: esquinas redondeadas 33">
                <a:extLst>
                  <a:ext uri="{FF2B5EF4-FFF2-40B4-BE49-F238E27FC236}">
                    <a16:creationId xmlns:a16="http://schemas.microsoft.com/office/drawing/2014/main" id="{CFE12F2E-A1F1-4213-A966-A527EB4936DF}"/>
                  </a:ext>
                </a:extLst>
              </p:cNvPr>
              <p:cNvSpPr/>
              <p:nvPr/>
            </p:nvSpPr>
            <p:spPr>
              <a:xfrm>
                <a:off x="8238817" y="2839833"/>
                <a:ext cx="3240000" cy="1800000"/>
              </a:xfrm>
              <a:prstGeom prst="roundRect">
                <a:avLst/>
              </a:prstGeom>
              <a:ln>
                <a:noFill/>
              </a:ln>
            </p:spPr>
            <p:style>
              <a:lnRef idx="2">
                <a:schemeClr val="accent4">
                  <a:shade val="15000"/>
                </a:schemeClr>
              </a:lnRef>
              <a:fillRef idx="1">
                <a:schemeClr val="accent4"/>
              </a:fillRef>
              <a:effectRef idx="0">
                <a:schemeClr val="accent4"/>
              </a:effectRef>
              <a:fontRef idx="minor">
                <a:schemeClr val="lt1"/>
              </a:fontRef>
            </p:style>
            <p:txBody>
              <a:bodyPr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l"/>
                <a:endParaRPr lang="es-PE" sz="1650"/>
              </a:p>
            </p:txBody>
          </p:sp>
          <p:sp>
            <p:nvSpPr>
              <p:cNvPr id="36" name="CuadroTexto 27">
                <a:extLst>
                  <a:ext uri="{FF2B5EF4-FFF2-40B4-BE49-F238E27FC236}">
                    <a16:creationId xmlns:a16="http://schemas.microsoft.com/office/drawing/2014/main" id="{C296133E-1E23-44A1-8B05-33BE75AE75B5}"/>
                  </a:ext>
                </a:extLst>
              </p:cNvPr>
              <p:cNvSpPr txBox="1"/>
              <p:nvPr/>
            </p:nvSpPr>
            <p:spPr>
              <a:xfrm>
                <a:off x="8410048" y="3009786"/>
                <a:ext cx="2650004" cy="1199808"/>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s-PE" sz="2700" b="1" dirty="0">
                    <a:solidFill>
                      <a:schemeClr val="bg1"/>
                    </a:solidFill>
                    <a:latin typeface="Calibri" panose="020F0502020204030204" pitchFamily="34" charset="0"/>
                    <a:cs typeface="Calibri" panose="020F0502020204030204" pitchFamily="34" charset="0"/>
                  </a:rPr>
                  <a:t>Visualización de datos</a:t>
                </a:r>
              </a:p>
              <a:p>
                <a:pPr marL="428625" indent="-428625">
                  <a:buFont typeface="Wingdings" panose="05000000000000000000" pitchFamily="2" charset="2"/>
                  <a:buChar char="ü"/>
                </a:pPr>
                <a:r>
                  <a:rPr lang="es-PE" sz="2700" b="1" dirty="0">
                    <a:solidFill>
                      <a:schemeClr val="bg1"/>
                    </a:solidFill>
                    <a:latin typeface="Calibri" panose="020F0502020204030204" pitchFamily="34" charset="0"/>
                    <a:cs typeface="Calibri" panose="020F0502020204030204" pitchFamily="34" charset="0"/>
                  </a:rPr>
                  <a:t>Reportes</a:t>
                </a:r>
              </a:p>
              <a:p>
                <a:pPr marL="428625" indent="-428625">
                  <a:buFont typeface="Wingdings" panose="05000000000000000000" pitchFamily="2" charset="2"/>
                  <a:buChar char="ü"/>
                </a:pPr>
                <a:r>
                  <a:rPr lang="es-PE" sz="2700" b="1" dirty="0">
                    <a:solidFill>
                      <a:schemeClr val="bg1"/>
                    </a:solidFill>
                    <a:latin typeface="Calibri" panose="020F0502020204030204" pitchFamily="34" charset="0"/>
                    <a:cs typeface="Calibri" panose="020F0502020204030204" pitchFamily="34" charset="0"/>
                  </a:rPr>
                  <a:t>Dashboard</a:t>
                </a:r>
              </a:p>
              <a:p>
                <a:pPr marL="428625" indent="-428625">
                  <a:buFont typeface="Wingdings" panose="05000000000000000000" pitchFamily="2" charset="2"/>
                  <a:buChar char="ü"/>
                </a:pPr>
                <a:r>
                  <a:rPr lang="es-PE" sz="2700" b="1" dirty="0">
                    <a:solidFill>
                      <a:schemeClr val="bg1"/>
                    </a:solidFill>
                    <a:latin typeface="Calibri" panose="020F0502020204030204" pitchFamily="34" charset="0"/>
                    <a:cs typeface="Calibri" panose="020F0502020204030204" pitchFamily="34" charset="0"/>
                  </a:rPr>
                  <a:t>Contar historias</a:t>
                </a:r>
              </a:p>
            </p:txBody>
          </p:sp>
        </p:grpSp>
        <p:pic>
          <p:nvPicPr>
            <p:cNvPr id="41" name="Gráfico 40" descr="Gráfico de barras con relleno sólido">
              <a:extLst>
                <a:ext uri="{FF2B5EF4-FFF2-40B4-BE49-F238E27FC236}">
                  <a16:creationId xmlns:a16="http://schemas.microsoft.com/office/drawing/2014/main" id="{76685782-FC44-2564-E97B-87113516CE6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8968861" y="2258051"/>
              <a:ext cx="1868400" cy="1868400"/>
            </a:xfrm>
            <a:prstGeom prst="rect">
              <a:avLst/>
            </a:prstGeom>
          </p:spPr>
        </p:pic>
      </p:grpSp>
      <p:grpSp>
        <p:nvGrpSpPr>
          <p:cNvPr id="60" name="Grupo 59">
            <a:extLst>
              <a:ext uri="{FF2B5EF4-FFF2-40B4-BE49-F238E27FC236}">
                <a16:creationId xmlns:a16="http://schemas.microsoft.com/office/drawing/2014/main" id="{4949AC23-1B50-CCB4-2B08-50A4668FF70B}"/>
              </a:ext>
            </a:extLst>
          </p:cNvPr>
          <p:cNvGrpSpPr/>
          <p:nvPr/>
        </p:nvGrpSpPr>
        <p:grpSpPr>
          <a:xfrm>
            <a:off x="1520468" y="2424746"/>
            <a:ext cx="4860000" cy="6680880"/>
            <a:chOff x="1013645" y="1616497"/>
            <a:chExt cx="3240000" cy="4453920"/>
          </a:xfrm>
        </p:grpSpPr>
        <p:grpSp>
          <p:nvGrpSpPr>
            <p:cNvPr id="39" name="Grupo 38">
              <a:extLst>
                <a:ext uri="{FF2B5EF4-FFF2-40B4-BE49-F238E27FC236}">
                  <a16:creationId xmlns:a16="http://schemas.microsoft.com/office/drawing/2014/main" id="{05CFF5FD-5B87-4269-017A-E564A6079C3A}"/>
                </a:ext>
              </a:extLst>
            </p:cNvPr>
            <p:cNvGrpSpPr/>
            <p:nvPr/>
          </p:nvGrpSpPr>
          <p:grpSpPr>
            <a:xfrm>
              <a:off x="1013645" y="4270417"/>
              <a:ext cx="3240000" cy="1800000"/>
              <a:chOff x="1057889" y="2839831"/>
              <a:chExt cx="3240000" cy="1800000"/>
            </a:xfrm>
          </p:grpSpPr>
          <p:sp>
            <p:nvSpPr>
              <p:cNvPr id="28" name="Rectángulo: esquinas redondeadas 27">
                <a:extLst>
                  <a:ext uri="{FF2B5EF4-FFF2-40B4-BE49-F238E27FC236}">
                    <a16:creationId xmlns:a16="http://schemas.microsoft.com/office/drawing/2014/main" id="{B817DA6B-FFD5-253D-0F4F-5B25C06D69F9}"/>
                  </a:ext>
                </a:extLst>
              </p:cNvPr>
              <p:cNvSpPr/>
              <p:nvPr/>
            </p:nvSpPr>
            <p:spPr>
              <a:xfrm>
                <a:off x="1057889" y="2839831"/>
                <a:ext cx="3240000" cy="1800000"/>
              </a:xfrm>
              <a:prstGeom prst="roundRect">
                <a:avLst/>
              </a:prstGeom>
              <a:ln>
                <a:noFill/>
              </a:ln>
            </p:spPr>
            <p:style>
              <a:lnRef idx="2">
                <a:schemeClr val="accent4">
                  <a:shade val="15000"/>
                </a:schemeClr>
              </a:lnRef>
              <a:fillRef idx="1">
                <a:schemeClr val="accent4"/>
              </a:fillRef>
              <a:effectRef idx="0">
                <a:schemeClr val="accent4"/>
              </a:effectRef>
              <a:fontRef idx="minor">
                <a:schemeClr val="lt1"/>
              </a:fontRef>
            </p:style>
            <p:txBody>
              <a:bodyPr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l"/>
                <a:endParaRPr lang="es-PE" sz="1650"/>
              </a:p>
            </p:txBody>
          </p:sp>
          <p:sp>
            <p:nvSpPr>
              <p:cNvPr id="29" name="CuadroTexto 23">
                <a:extLst>
                  <a:ext uri="{FF2B5EF4-FFF2-40B4-BE49-F238E27FC236}">
                    <a16:creationId xmlns:a16="http://schemas.microsoft.com/office/drawing/2014/main" id="{AB41E435-D8A5-6E87-FEDA-685FCCB14E84}"/>
                  </a:ext>
                </a:extLst>
              </p:cNvPr>
              <p:cNvSpPr txBox="1"/>
              <p:nvPr/>
            </p:nvSpPr>
            <p:spPr>
              <a:xfrm>
                <a:off x="1131948" y="3009786"/>
                <a:ext cx="2984705" cy="1460090"/>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s-PE" sz="2700" b="1" dirty="0">
                    <a:solidFill>
                      <a:schemeClr val="bg1"/>
                    </a:solidFill>
                    <a:latin typeface="Calibri" panose="020F0502020204030204" pitchFamily="34" charset="0"/>
                    <a:cs typeface="Calibri" panose="020F0502020204030204" pitchFamily="34" charset="0"/>
                  </a:rPr>
                  <a:t>Descubrimiento de datos</a:t>
                </a:r>
              </a:p>
              <a:p>
                <a:pPr marL="428625" indent="-428625">
                  <a:buFont typeface="Wingdings" panose="05000000000000000000" pitchFamily="2" charset="2"/>
                  <a:buChar char="ü"/>
                </a:pPr>
                <a:r>
                  <a:rPr lang="es-PE" sz="2700" b="1" dirty="0">
                    <a:solidFill>
                      <a:schemeClr val="bg1"/>
                    </a:solidFill>
                    <a:latin typeface="Calibri" panose="020F0502020204030204" pitchFamily="34" charset="0"/>
                    <a:cs typeface="Calibri" panose="020F0502020204030204" pitchFamily="34" charset="0"/>
                  </a:rPr>
                  <a:t>Extracción de datos</a:t>
                </a:r>
              </a:p>
              <a:p>
                <a:pPr marL="428625" indent="-428625">
                  <a:buFont typeface="Wingdings" panose="05000000000000000000" pitchFamily="2" charset="2"/>
                  <a:buChar char="ü"/>
                </a:pPr>
                <a:r>
                  <a:rPr lang="es-PE" sz="2700" b="1" dirty="0">
                    <a:solidFill>
                      <a:schemeClr val="bg1"/>
                    </a:solidFill>
                    <a:latin typeface="Calibri" panose="020F0502020204030204" pitchFamily="34" charset="0"/>
                    <a:cs typeface="Calibri" panose="020F0502020204030204" pitchFamily="34" charset="0"/>
                  </a:rPr>
                  <a:t>Consolidación de fuentes</a:t>
                </a:r>
              </a:p>
              <a:p>
                <a:pPr marL="428625" indent="-428625">
                  <a:buFont typeface="Wingdings" panose="05000000000000000000" pitchFamily="2" charset="2"/>
                  <a:buChar char="ü"/>
                </a:pPr>
                <a:r>
                  <a:rPr lang="es-PE" sz="2700" b="1" dirty="0">
                    <a:solidFill>
                      <a:schemeClr val="bg1"/>
                    </a:solidFill>
                    <a:latin typeface="Calibri" panose="020F0502020204030204" pitchFamily="34" charset="0"/>
                    <a:cs typeface="Calibri" panose="020F0502020204030204" pitchFamily="34" charset="0"/>
                  </a:rPr>
                  <a:t>Limpieza y transformación</a:t>
                </a:r>
              </a:p>
              <a:p>
                <a:pPr marL="428625" indent="-428625">
                  <a:buFont typeface="Wingdings" panose="05000000000000000000" pitchFamily="2" charset="2"/>
                  <a:buChar char="ü"/>
                </a:pPr>
                <a:r>
                  <a:rPr lang="es-PE" sz="2700" b="1" dirty="0">
                    <a:solidFill>
                      <a:schemeClr val="bg1"/>
                    </a:solidFill>
                    <a:latin typeface="Calibri" panose="020F0502020204030204" pitchFamily="34" charset="0"/>
                    <a:cs typeface="Calibri" panose="020F0502020204030204" pitchFamily="34" charset="0"/>
                  </a:rPr>
                  <a:t>Automatización</a:t>
                </a:r>
              </a:p>
            </p:txBody>
          </p:sp>
        </p:grpSp>
        <p:sp>
          <p:nvSpPr>
            <p:cNvPr id="32" name="CuadroTexto 19">
              <a:extLst>
                <a:ext uri="{FF2B5EF4-FFF2-40B4-BE49-F238E27FC236}">
                  <a16:creationId xmlns:a16="http://schemas.microsoft.com/office/drawing/2014/main" id="{2D2DC60F-CA18-7E48-32AC-53DA620F3A84}"/>
                </a:ext>
              </a:extLst>
            </p:cNvPr>
            <p:cNvSpPr txBox="1"/>
            <p:nvPr/>
          </p:nvSpPr>
          <p:spPr>
            <a:xfrm>
              <a:off x="1315445" y="1616497"/>
              <a:ext cx="2427972" cy="537928"/>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s-PE" sz="5100" b="1" dirty="0">
                  <a:solidFill>
                    <a:schemeClr val="tx1"/>
                  </a:solidFill>
                  <a:latin typeface="Calibri" panose="020F0502020204030204" pitchFamily="34" charset="0"/>
                  <a:cs typeface="Calibri" panose="020F0502020204030204" pitchFamily="34" charset="0"/>
                </a:rPr>
                <a:t>ETL</a:t>
              </a:r>
            </a:p>
          </p:txBody>
        </p:sp>
        <p:pic>
          <p:nvPicPr>
            <p:cNvPr id="43" name="Gráfico 42" descr="Engranajes con relleno sólido">
              <a:extLst>
                <a:ext uri="{FF2B5EF4-FFF2-40B4-BE49-F238E27FC236}">
                  <a16:creationId xmlns:a16="http://schemas.microsoft.com/office/drawing/2014/main" id="{23A7B6AA-1C61-4E6F-8C4B-B57D82B1BD5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595506" y="2258659"/>
              <a:ext cx="1867851" cy="1867851"/>
            </a:xfrm>
            <a:prstGeom prst="rect">
              <a:avLst/>
            </a:prstGeom>
          </p:spPr>
        </p:pic>
      </p:grpSp>
      <p:grpSp>
        <p:nvGrpSpPr>
          <p:cNvPr id="61" name="Grupo 60">
            <a:extLst>
              <a:ext uri="{FF2B5EF4-FFF2-40B4-BE49-F238E27FC236}">
                <a16:creationId xmlns:a16="http://schemas.microsoft.com/office/drawing/2014/main" id="{8F9EA219-1355-0CA6-8612-7C81CA93A167}"/>
              </a:ext>
            </a:extLst>
          </p:cNvPr>
          <p:cNvGrpSpPr/>
          <p:nvPr/>
        </p:nvGrpSpPr>
        <p:grpSpPr>
          <a:xfrm>
            <a:off x="6817129" y="2424746"/>
            <a:ext cx="5237168" cy="6680883"/>
            <a:chOff x="4544752" y="1616497"/>
            <a:chExt cx="3491445" cy="4453922"/>
          </a:xfrm>
        </p:grpSpPr>
        <p:grpSp>
          <p:nvGrpSpPr>
            <p:cNvPr id="37" name="Grupo 36">
              <a:extLst>
                <a:ext uri="{FF2B5EF4-FFF2-40B4-BE49-F238E27FC236}">
                  <a16:creationId xmlns:a16="http://schemas.microsoft.com/office/drawing/2014/main" id="{B60F5B37-0704-FFDB-EE31-4493DD532606}"/>
                </a:ext>
              </a:extLst>
            </p:cNvPr>
            <p:cNvGrpSpPr/>
            <p:nvPr/>
          </p:nvGrpSpPr>
          <p:grpSpPr>
            <a:xfrm>
              <a:off x="4670475" y="4270419"/>
              <a:ext cx="3240000" cy="1800000"/>
              <a:chOff x="4670475" y="2839833"/>
              <a:chExt cx="3240000" cy="1800000"/>
            </a:xfrm>
          </p:grpSpPr>
          <p:sp>
            <p:nvSpPr>
              <p:cNvPr id="30" name="Rectángulo: esquinas redondeadas 29">
                <a:extLst>
                  <a:ext uri="{FF2B5EF4-FFF2-40B4-BE49-F238E27FC236}">
                    <a16:creationId xmlns:a16="http://schemas.microsoft.com/office/drawing/2014/main" id="{45B2E67A-CB93-48B6-8937-75737D185F7C}"/>
                  </a:ext>
                </a:extLst>
              </p:cNvPr>
              <p:cNvSpPr/>
              <p:nvPr/>
            </p:nvSpPr>
            <p:spPr>
              <a:xfrm>
                <a:off x="4670475" y="2839833"/>
                <a:ext cx="3240000" cy="1800000"/>
              </a:xfrm>
              <a:prstGeom prst="roundRect">
                <a:avLst/>
              </a:prstGeom>
              <a:ln>
                <a:noFill/>
              </a:ln>
            </p:spPr>
            <p:style>
              <a:lnRef idx="2">
                <a:schemeClr val="accent4">
                  <a:shade val="15000"/>
                </a:schemeClr>
              </a:lnRef>
              <a:fillRef idx="1">
                <a:schemeClr val="accent4"/>
              </a:fillRef>
              <a:effectRef idx="0">
                <a:schemeClr val="accent4"/>
              </a:effectRef>
              <a:fontRef idx="minor">
                <a:schemeClr val="lt1"/>
              </a:fontRef>
            </p:style>
            <p:txBody>
              <a:bodyPr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l"/>
                <a:endParaRPr lang="es-PE" sz="1650"/>
              </a:p>
            </p:txBody>
          </p:sp>
          <p:sp>
            <p:nvSpPr>
              <p:cNvPr id="31" name="CuadroTexto 25">
                <a:extLst>
                  <a:ext uri="{FF2B5EF4-FFF2-40B4-BE49-F238E27FC236}">
                    <a16:creationId xmlns:a16="http://schemas.microsoft.com/office/drawing/2014/main" id="{3134765F-7859-4AA1-B1A1-2905C129304C}"/>
                  </a:ext>
                </a:extLst>
              </p:cNvPr>
              <p:cNvSpPr txBox="1"/>
              <p:nvPr/>
            </p:nvSpPr>
            <p:spPr>
              <a:xfrm>
                <a:off x="4776623" y="3009786"/>
                <a:ext cx="2638753" cy="1460090"/>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s-PE" sz="2700" b="1" dirty="0">
                    <a:solidFill>
                      <a:schemeClr val="bg1"/>
                    </a:solidFill>
                    <a:latin typeface="Calibri" panose="020F0502020204030204" pitchFamily="34" charset="0"/>
                    <a:cs typeface="Calibri" panose="020F0502020204030204" pitchFamily="34" charset="0"/>
                  </a:rPr>
                  <a:t>Modelamiento de datos</a:t>
                </a:r>
              </a:p>
              <a:p>
                <a:pPr marL="428625" indent="-428625">
                  <a:buFont typeface="Wingdings" panose="05000000000000000000" pitchFamily="2" charset="2"/>
                  <a:buChar char="ü"/>
                </a:pPr>
                <a:r>
                  <a:rPr lang="es-PE" sz="2700" b="1" dirty="0">
                    <a:solidFill>
                      <a:schemeClr val="bg1"/>
                    </a:solidFill>
                    <a:latin typeface="Calibri" panose="020F0502020204030204" pitchFamily="34" charset="0"/>
                    <a:cs typeface="Calibri" panose="020F0502020204030204" pitchFamily="34" charset="0"/>
                  </a:rPr>
                  <a:t>Relaciones</a:t>
                </a:r>
              </a:p>
              <a:p>
                <a:pPr marL="428625" indent="-428625">
                  <a:buFont typeface="Wingdings" panose="05000000000000000000" pitchFamily="2" charset="2"/>
                  <a:buChar char="ü"/>
                </a:pPr>
                <a:r>
                  <a:rPr lang="es-PE" sz="2700" b="1" dirty="0">
                    <a:solidFill>
                      <a:schemeClr val="bg1"/>
                    </a:solidFill>
                    <a:latin typeface="Calibri" panose="020F0502020204030204" pitchFamily="34" charset="0"/>
                    <a:cs typeface="Calibri" panose="020F0502020204030204" pitchFamily="34" charset="0"/>
                  </a:rPr>
                  <a:t>Fórmulas</a:t>
                </a:r>
              </a:p>
              <a:p>
                <a:pPr marL="428625" indent="-428625">
                  <a:buFont typeface="Wingdings" panose="05000000000000000000" pitchFamily="2" charset="2"/>
                  <a:buChar char="ü"/>
                </a:pPr>
                <a:r>
                  <a:rPr lang="es-PE" sz="2700" b="1" dirty="0">
                    <a:solidFill>
                      <a:schemeClr val="bg1"/>
                    </a:solidFill>
                    <a:latin typeface="Calibri" panose="020F0502020204030204" pitchFamily="34" charset="0"/>
                    <a:cs typeface="Calibri" panose="020F0502020204030204" pitchFamily="34" charset="0"/>
                  </a:rPr>
                  <a:t>Indicadores</a:t>
                </a:r>
              </a:p>
              <a:p>
                <a:pPr marL="428625" indent="-428625">
                  <a:buFont typeface="Wingdings" panose="05000000000000000000" pitchFamily="2" charset="2"/>
                  <a:buChar char="ü"/>
                </a:pPr>
                <a:r>
                  <a:rPr lang="es-PE" sz="2700" b="1" dirty="0">
                    <a:solidFill>
                      <a:schemeClr val="bg1"/>
                    </a:solidFill>
                    <a:latin typeface="Calibri" panose="020F0502020204030204" pitchFamily="34" charset="0"/>
                    <a:cs typeface="Calibri" panose="020F0502020204030204" pitchFamily="34" charset="0"/>
                  </a:rPr>
                  <a:t>Optimización</a:t>
                </a:r>
              </a:p>
            </p:txBody>
          </p:sp>
        </p:grpSp>
        <p:sp>
          <p:nvSpPr>
            <p:cNvPr id="33" name="CuadroTexto 20">
              <a:extLst>
                <a:ext uri="{FF2B5EF4-FFF2-40B4-BE49-F238E27FC236}">
                  <a16:creationId xmlns:a16="http://schemas.microsoft.com/office/drawing/2014/main" id="{2F2722B8-FFB4-4D56-A409-377DE23657E9}"/>
                </a:ext>
              </a:extLst>
            </p:cNvPr>
            <p:cNvSpPr txBox="1"/>
            <p:nvPr/>
          </p:nvSpPr>
          <p:spPr>
            <a:xfrm>
              <a:off x="4544752" y="1616497"/>
              <a:ext cx="3491445" cy="537928"/>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s-PE" sz="5100" b="1" dirty="0">
                  <a:solidFill>
                    <a:schemeClr val="tx1"/>
                  </a:solidFill>
                  <a:latin typeface="Calibri" panose="020F0502020204030204" pitchFamily="34" charset="0"/>
                  <a:cs typeface="Calibri" panose="020F0502020204030204" pitchFamily="34" charset="0"/>
                </a:rPr>
                <a:t>MODELAMIENTO</a:t>
              </a:r>
            </a:p>
          </p:txBody>
        </p:sp>
        <p:grpSp>
          <p:nvGrpSpPr>
            <p:cNvPr id="47" name="Grupo 46">
              <a:extLst>
                <a:ext uri="{FF2B5EF4-FFF2-40B4-BE49-F238E27FC236}">
                  <a16:creationId xmlns:a16="http://schemas.microsoft.com/office/drawing/2014/main" id="{DFCB1351-4E13-84CB-EB31-B94E91D50672}"/>
                </a:ext>
              </a:extLst>
            </p:cNvPr>
            <p:cNvGrpSpPr/>
            <p:nvPr/>
          </p:nvGrpSpPr>
          <p:grpSpPr>
            <a:xfrm>
              <a:off x="5616349" y="2412866"/>
              <a:ext cx="636843" cy="537928"/>
              <a:chOff x="4776623" y="2580298"/>
              <a:chExt cx="1063739" cy="848702"/>
            </a:xfrm>
          </p:grpSpPr>
          <p:sp>
            <p:nvSpPr>
              <p:cNvPr id="44" name="Rectángulo: esquinas redondeadas 43">
                <a:extLst>
                  <a:ext uri="{FF2B5EF4-FFF2-40B4-BE49-F238E27FC236}">
                    <a16:creationId xmlns:a16="http://schemas.microsoft.com/office/drawing/2014/main" id="{F7CF814D-1B11-EC51-DC5E-57C971584D5A}"/>
                  </a:ext>
                </a:extLst>
              </p:cNvPr>
              <p:cNvSpPr/>
              <p:nvPr/>
            </p:nvSpPr>
            <p:spPr>
              <a:xfrm>
                <a:off x="4776624" y="2580298"/>
                <a:ext cx="1063738" cy="848702"/>
              </a:xfrm>
              <a:prstGeom prst="roundRect">
                <a:avLst/>
              </a:prstGeom>
              <a:ln w="57150"/>
            </p:spPr>
            <p:style>
              <a:lnRef idx="2">
                <a:schemeClr val="accent1"/>
              </a:lnRef>
              <a:fillRef idx="1">
                <a:schemeClr val="lt1"/>
              </a:fillRef>
              <a:effectRef idx="0">
                <a:schemeClr val="accent1"/>
              </a:effectRef>
              <a:fontRef idx="minor">
                <a:schemeClr val="dk1"/>
              </a:fontRef>
            </p:style>
            <p:txBody>
              <a:bodyPr rtlCol="0" anchor="ctr"/>
              <a:lstStyle/>
              <a:p>
                <a:pPr algn="ctr"/>
                <a:endParaRPr lang="es-PE" sz="2100"/>
              </a:p>
            </p:txBody>
          </p:sp>
          <p:cxnSp>
            <p:nvCxnSpPr>
              <p:cNvPr id="46" name="Conector recto 45">
                <a:extLst>
                  <a:ext uri="{FF2B5EF4-FFF2-40B4-BE49-F238E27FC236}">
                    <a16:creationId xmlns:a16="http://schemas.microsoft.com/office/drawing/2014/main" id="{62EF7514-0096-CD9C-C221-371509CD8513}"/>
                  </a:ext>
                </a:extLst>
              </p:cNvPr>
              <p:cNvCxnSpPr/>
              <p:nvPr/>
            </p:nvCxnSpPr>
            <p:spPr>
              <a:xfrm>
                <a:off x="4776623" y="2797523"/>
                <a:ext cx="1048990" cy="0"/>
              </a:xfrm>
              <a:prstGeom prst="line">
                <a:avLst/>
              </a:prstGeom>
              <a:ln w="57150"/>
            </p:spPr>
            <p:style>
              <a:lnRef idx="2">
                <a:schemeClr val="accent1"/>
              </a:lnRef>
              <a:fillRef idx="0">
                <a:schemeClr val="accent1"/>
              </a:fillRef>
              <a:effectRef idx="1">
                <a:schemeClr val="accent1"/>
              </a:effectRef>
              <a:fontRef idx="minor">
                <a:schemeClr val="tx1"/>
              </a:fontRef>
            </p:style>
          </p:cxnSp>
        </p:grpSp>
        <p:grpSp>
          <p:nvGrpSpPr>
            <p:cNvPr id="48" name="Grupo 47">
              <a:extLst>
                <a:ext uri="{FF2B5EF4-FFF2-40B4-BE49-F238E27FC236}">
                  <a16:creationId xmlns:a16="http://schemas.microsoft.com/office/drawing/2014/main" id="{FBA47506-FD7B-BB73-B0CB-5F159BA59610}"/>
                </a:ext>
              </a:extLst>
            </p:cNvPr>
            <p:cNvGrpSpPr/>
            <p:nvPr/>
          </p:nvGrpSpPr>
          <p:grpSpPr>
            <a:xfrm>
              <a:off x="6546348" y="2950876"/>
              <a:ext cx="636843" cy="537928"/>
              <a:chOff x="4776623" y="2580298"/>
              <a:chExt cx="1063739" cy="848702"/>
            </a:xfrm>
          </p:grpSpPr>
          <p:sp>
            <p:nvSpPr>
              <p:cNvPr id="49" name="Rectángulo: esquinas redondeadas 48">
                <a:extLst>
                  <a:ext uri="{FF2B5EF4-FFF2-40B4-BE49-F238E27FC236}">
                    <a16:creationId xmlns:a16="http://schemas.microsoft.com/office/drawing/2014/main" id="{26F04241-53D8-0588-5A45-3E0F6717BDAC}"/>
                  </a:ext>
                </a:extLst>
              </p:cNvPr>
              <p:cNvSpPr/>
              <p:nvPr/>
            </p:nvSpPr>
            <p:spPr>
              <a:xfrm>
                <a:off x="4776624" y="2580298"/>
                <a:ext cx="1063738" cy="848702"/>
              </a:xfrm>
              <a:prstGeom prst="roundRect">
                <a:avLst/>
              </a:prstGeom>
              <a:ln w="57150"/>
            </p:spPr>
            <p:style>
              <a:lnRef idx="2">
                <a:schemeClr val="accent1"/>
              </a:lnRef>
              <a:fillRef idx="1">
                <a:schemeClr val="lt1"/>
              </a:fillRef>
              <a:effectRef idx="0">
                <a:schemeClr val="accent1"/>
              </a:effectRef>
              <a:fontRef idx="minor">
                <a:schemeClr val="dk1"/>
              </a:fontRef>
            </p:style>
            <p:txBody>
              <a:bodyPr rtlCol="0" anchor="ctr"/>
              <a:lstStyle/>
              <a:p>
                <a:pPr algn="ctr"/>
                <a:endParaRPr lang="es-PE" sz="2100"/>
              </a:p>
            </p:txBody>
          </p:sp>
          <p:cxnSp>
            <p:nvCxnSpPr>
              <p:cNvPr id="50" name="Conector recto 49">
                <a:extLst>
                  <a:ext uri="{FF2B5EF4-FFF2-40B4-BE49-F238E27FC236}">
                    <a16:creationId xmlns:a16="http://schemas.microsoft.com/office/drawing/2014/main" id="{DE78FED0-38F8-5927-0BD0-B3EF488A337D}"/>
                  </a:ext>
                </a:extLst>
              </p:cNvPr>
              <p:cNvCxnSpPr/>
              <p:nvPr/>
            </p:nvCxnSpPr>
            <p:spPr>
              <a:xfrm>
                <a:off x="4776623" y="2797523"/>
                <a:ext cx="1048990" cy="0"/>
              </a:xfrm>
              <a:prstGeom prst="line">
                <a:avLst/>
              </a:prstGeom>
              <a:ln w="57150"/>
            </p:spPr>
            <p:style>
              <a:lnRef idx="2">
                <a:schemeClr val="accent1"/>
              </a:lnRef>
              <a:fillRef idx="0">
                <a:schemeClr val="accent1"/>
              </a:fillRef>
              <a:effectRef idx="1">
                <a:schemeClr val="accent1"/>
              </a:effectRef>
              <a:fontRef idx="minor">
                <a:schemeClr val="tx1"/>
              </a:fontRef>
            </p:style>
          </p:cxnSp>
        </p:grpSp>
        <p:grpSp>
          <p:nvGrpSpPr>
            <p:cNvPr id="51" name="Grupo 50">
              <a:extLst>
                <a:ext uri="{FF2B5EF4-FFF2-40B4-BE49-F238E27FC236}">
                  <a16:creationId xmlns:a16="http://schemas.microsoft.com/office/drawing/2014/main" id="{FAD500BF-6BDA-4D71-2F69-F1B622D25658}"/>
                </a:ext>
              </a:extLst>
            </p:cNvPr>
            <p:cNvGrpSpPr/>
            <p:nvPr/>
          </p:nvGrpSpPr>
          <p:grpSpPr>
            <a:xfrm>
              <a:off x="5616349" y="3505876"/>
              <a:ext cx="636843" cy="537928"/>
              <a:chOff x="4776623" y="2580298"/>
              <a:chExt cx="1063739" cy="848702"/>
            </a:xfrm>
          </p:grpSpPr>
          <p:sp>
            <p:nvSpPr>
              <p:cNvPr id="52" name="Rectángulo: esquinas redondeadas 51">
                <a:extLst>
                  <a:ext uri="{FF2B5EF4-FFF2-40B4-BE49-F238E27FC236}">
                    <a16:creationId xmlns:a16="http://schemas.microsoft.com/office/drawing/2014/main" id="{851C3667-07C2-5496-A0A6-1FDB961A69EC}"/>
                  </a:ext>
                </a:extLst>
              </p:cNvPr>
              <p:cNvSpPr/>
              <p:nvPr/>
            </p:nvSpPr>
            <p:spPr>
              <a:xfrm>
                <a:off x="4776624" y="2580298"/>
                <a:ext cx="1063738" cy="848702"/>
              </a:xfrm>
              <a:prstGeom prst="roundRect">
                <a:avLst/>
              </a:prstGeom>
              <a:ln w="57150"/>
            </p:spPr>
            <p:style>
              <a:lnRef idx="2">
                <a:schemeClr val="accent1"/>
              </a:lnRef>
              <a:fillRef idx="1">
                <a:schemeClr val="lt1"/>
              </a:fillRef>
              <a:effectRef idx="0">
                <a:schemeClr val="accent1"/>
              </a:effectRef>
              <a:fontRef idx="minor">
                <a:schemeClr val="dk1"/>
              </a:fontRef>
            </p:style>
            <p:txBody>
              <a:bodyPr rtlCol="0" anchor="ctr"/>
              <a:lstStyle/>
              <a:p>
                <a:pPr algn="ctr"/>
                <a:endParaRPr lang="es-PE" sz="2100"/>
              </a:p>
            </p:txBody>
          </p:sp>
          <p:cxnSp>
            <p:nvCxnSpPr>
              <p:cNvPr id="53" name="Conector recto 52">
                <a:extLst>
                  <a:ext uri="{FF2B5EF4-FFF2-40B4-BE49-F238E27FC236}">
                    <a16:creationId xmlns:a16="http://schemas.microsoft.com/office/drawing/2014/main" id="{505F601B-2442-AE18-E6F5-F8B38A291B55}"/>
                  </a:ext>
                </a:extLst>
              </p:cNvPr>
              <p:cNvCxnSpPr/>
              <p:nvPr/>
            </p:nvCxnSpPr>
            <p:spPr>
              <a:xfrm>
                <a:off x="4776623" y="2797523"/>
                <a:ext cx="1048990" cy="0"/>
              </a:xfrm>
              <a:prstGeom prst="line">
                <a:avLst/>
              </a:prstGeom>
              <a:ln w="57150"/>
            </p:spPr>
            <p:style>
              <a:lnRef idx="2">
                <a:schemeClr val="accent1"/>
              </a:lnRef>
              <a:fillRef idx="0">
                <a:schemeClr val="accent1"/>
              </a:fillRef>
              <a:effectRef idx="1">
                <a:schemeClr val="accent1"/>
              </a:effectRef>
              <a:fontRef idx="minor">
                <a:schemeClr val="tx1"/>
              </a:fontRef>
            </p:style>
          </p:cxnSp>
        </p:grpSp>
        <p:cxnSp>
          <p:nvCxnSpPr>
            <p:cNvPr id="55" name="Conector: angular 54">
              <a:extLst>
                <a:ext uri="{FF2B5EF4-FFF2-40B4-BE49-F238E27FC236}">
                  <a16:creationId xmlns:a16="http://schemas.microsoft.com/office/drawing/2014/main" id="{ABBDFE9B-9CC1-19DA-66A6-6672A898CB5A}"/>
                </a:ext>
              </a:extLst>
            </p:cNvPr>
            <p:cNvCxnSpPr>
              <a:stCxn id="44" idx="2"/>
              <a:endCxn id="49" idx="1"/>
            </p:cNvCxnSpPr>
            <p:nvPr/>
          </p:nvCxnSpPr>
          <p:spPr>
            <a:xfrm rot="16200000" flipH="1">
              <a:off x="6106037" y="2779528"/>
              <a:ext cx="269046" cy="611578"/>
            </a:xfrm>
            <a:prstGeom prst="bentConnector2">
              <a:avLst/>
            </a:prstGeom>
            <a:ln w="57150"/>
          </p:spPr>
          <p:style>
            <a:lnRef idx="2">
              <a:schemeClr val="accent1"/>
            </a:lnRef>
            <a:fillRef idx="0">
              <a:schemeClr val="accent1"/>
            </a:fillRef>
            <a:effectRef idx="1">
              <a:schemeClr val="accent1"/>
            </a:effectRef>
            <a:fontRef idx="minor">
              <a:schemeClr val="tx1"/>
            </a:fontRef>
          </p:style>
        </p:cxnSp>
        <p:cxnSp>
          <p:nvCxnSpPr>
            <p:cNvPr id="59" name="Conector: angular 58">
              <a:extLst>
                <a:ext uri="{FF2B5EF4-FFF2-40B4-BE49-F238E27FC236}">
                  <a16:creationId xmlns:a16="http://schemas.microsoft.com/office/drawing/2014/main" id="{EAC5B111-0FD6-12C9-CE95-F8FE2A49E30B}"/>
                </a:ext>
              </a:extLst>
            </p:cNvPr>
            <p:cNvCxnSpPr>
              <a:stCxn id="49" idx="2"/>
              <a:endCxn id="52" idx="3"/>
            </p:cNvCxnSpPr>
            <p:nvPr/>
          </p:nvCxnSpPr>
          <p:spPr>
            <a:xfrm rot="5400000">
              <a:off x="6415963" y="3326033"/>
              <a:ext cx="286036" cy="611578"/>
            </a:xfrm>
            <a:prstGeom prst="bentConnector2">
              <a:avLst/>
            </a:prstGeom>
            <a:ln w="57150"/>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7136521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C61CE0-EE95-9DE1-C6A0-12CED3623EEA}"/>
            </a:ext>
          </a:extLst>
        </p:cNvPr>
        <p:cNvGrpSpPr/>
        <p:nvPr/>
      </p:nvGrpSpPr>
      <p:grpSpPr>
        <a:xfrm>
          <a:off x="0" y="0"/>
          <a:ext cx="0" cy="0"/>
          <a:chOff x="0" y="0"/>
          <a:chExt cx="0" cy="0"/>
        </a:xfrm>
      </p:grpSpPr>
      <p:sp>
        <p:nvSpPr>
          <p:cNvPr id="4" name="Flecha: pentágono 3">
            <a:extLst>
              <a:ext uri="{FF2B5EF4-FFF2-40B4-BE49-F238E27FC236}">
                <a16:creationId xmlns:a16="http://schemas.microsoft.com/office/drawing/2014/main" id="{5E97FDF0-0E60-3DF9-40AB-7FFC19AB70DE}"/>
              </a:ext>
            </a:extLst>
          </p:cNvPr>
          <p:cNvSpPr/>
          <p:nvPr/>
        </p:nvSpPr>
        <p:spPr>
          <a:xfrm>
            <a:off x="0" y="733961"/>
            <a:ext cx="6946491" cy="1102212"/>
          </a:xfrm>
          <a:prstGeom prst="homePlat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PE" sz="5400" b="1" dirty="0">
                <a:latin typeface="Calibri" panose="020F0502020204030204" pitchFamily="34" charset="0"/>
                <a:cs typeface="Calibri" panose="020F0502020204030204" pitchFamily="34" charset="0"/>
              </a:rPr>
              <a:t>¿Qué es Power BI?</a:t>
            </a:r>
          </a:p>
        </p:txBody>
      </p:sp>
      <p:sp>
        <p:nvSpPr>
          <p:cNvPr id="2" name="CuadroTexto 1">
            <a:extLst>
              <a:ext uri="{FF2B5EF4-FFF2-40B4-BE49-F238E27FC236}">
                <a16:creationId xmlns:a16="http://schemas.microsoft.com/office/drawing/2014/main" id="{473CF4EF-AEA4-EA8E-4E31-CA2A1A6EB7B1}"/>
              </a:ext>
            </a:extLst>
          </p:cNvPr>
          <p:cNvSpPr txBox="1"/>
          <p:nvPr/>
        </p:nvSpPr>
        <p:spPr>
          <a:xfrm>
            <a:off x="6371302" y="2101950"/>
            <a:ext cx="11017046" cy="1754326"/>
          </a:xfrm>
          <a:prstGeom prst="rect">
            <a:avLst/>
          </a:prstGeom>
          <a:noFill/>
        </p:spPr>
        <p:txBody>
          <a:bodyPr wrap="square" rtlCol="0">
            <a:spAutoFit/>
          </a:bodyPr>
          <a:lstStyle/>
          <a:p>
            <a:pPr marL="514350" indent="-514350" algn="just">
              <a:buFont typeface="Wingdings" panose="05000000000000000000" pitchFamily="2" charset="2"/>
              <a:buChar char="ü"/>
            </a:pPr>
            <a:r>
              <a:rPr lang="es-MX" sz="3600" dirty="0">
                <a:latin typeface="Calibri" panose="020F0502020204030204" pitchFamily="34" charset="0"/>
                <a:cs typeface="Calibri" panose="020F0502020204030204" pitchFamily="34" charset="0"/>
              </a:rPr>
              <a:t>Es un servicio de análisis de negocio que proporciona una vista detallada de los datos más críticos de la organización.</a:t>
            </a:r>
            <a:endParaRPr lang="es-PE" sz="3600" dirty="0">
              <a:latin typeface="Calibri" panose="020F0502020204030204" pitchFamily="34" charset="0"/>
              <a:cs typeface="Calibri" panose="020F0502020204030204" pitchFamily="34" charset="0"/>
            </a:endParaRPr>
          </a:p>
        </p:txBody>
      </p:sp>
      <p:sp>
        <p:nvSpPr>
          <p:cNvPr id="3" name="CuadroTexto 2">
            <a:extLst>
              <a:ext uri="{FF2B5EF4-FFF2-40B4-BE49-F238E27FC236}">
                <a16:creationId xmlns:a16="http://schemas.microsoft.com/office/drawing/2014/main" id="{AB48CD2C-6F28-7756-9BB9-B5ED5E42E83B}"/>
              </a:ext>
            </a:extLst>
          </p:cNvPr>
          <p:cNvSpPr txBox="1"/>
          <p:nvPr/>
        </p:nvSpPr>
        <p:spPr>
          <a:xfrm>
            <a:off x="527253" y="4250943"/>
            <a:ext cx="5316795" cy="738664"/>
          </a:xfrm>
          <a:prstGeom prst="rect">
            <a:avLst/>
          </a:prstGeom>
          <a:noFill/>
        </p:spPr>
        <p:txBody>
          <a:bodyPr wrap="square" rtlCol="0">
            <a:spAutoFit/>
          </a:bodyPr>
          <a:lstStyle/>
          <a:p>
            <a:pPr algn="just"/>
            <a:r>
              <a:rPr lang="es-MX" sz="4200" b="1" dirty="0">
                <a:latin typeface="Calibri" panose="020F0502020204030204" pitchFamily="34" charset="0"/>
                <a:cs typeface="Calibri" panose="020F0502020204030204" pitchFamily="34" charset="0"/>
              </a:rPr>
              <a:t>Beneficios:</a:t>
            </a:r>
            <a:endParaRPr lang="es-PE" sz="4200" b="1" dirty="0">
              <a:latin typeface="Calibri" panose="020F0502020204030204" pitchFamily="34" charset="0"/>
              <a:cs typeface="Calibri" panose="020F0502020204030204" pitchFamily="34" charset="0"/>
            </a:endParaRPr>
          </a:p>
        </p:txBody>
      </p:sp>
      <p:sp>
        <p:nvSpPr>
          <p:cNvPr id="5" name="CuadroTexto 4">
            <a:extLst>
              <a:ext uri="{FF2B5EF4-FFF2-40B4-BE49-F238E27FC236}">
                <a16:creationId xmlns:a16="http://schemas.microsoft.com/office/drawing/2014/main" id="{65FA4418-E0EA-4987-3767-10EAB286A2A5}"/>
              </a:ext>
            </a:extLst>
          </p:cNvPr>
          <p:cNvSpPr txBox="1"/>
          <p:nvPr/>
        </p:nvSpPr>
        <p:spPr>
          <a:xfrm>
            <a:off x="6371303" y="5035774"/>
            <a:ext cx="11017044" cy="3970318"/>
          </a:xfrm>
          <a:prstGeom prst="rect">
            <a:avLst/>
          </a:prstGeom>
          <a:noFill/>
        </p:spPr>
        <p:txBody>
          <a:bodyPr wrap="square" rtlCol="0">
            <a:spAutoFit/>
          </a:bodyPr>
          <a:lstStyle/>
          <a:p>
            <a:pPr marL="514350" indent="-514350" algn="just">
              <a:buFont typeface="Wingdings" panose="05000000000000000000" pitchFamily="2" charset="2"/>
              <a:buChar char="ü"/>
            </a:pPr>
            <a:r>
              <a:rPr lang="es-PE" sz="3600" dirty="0">
                <a:latin typeface="Calibri" panose="020F0502020204030204" pitchFamily="34" charset="0"/>
                <a:cs typeface="Calibri" panose="020F0502020204030204" pitchFamily="34" charset="0"/>
              </a:rPr>
              <a:t>Permite generar reportes y </a:t>
            </a:r>
            <a:r>
              <a:rPr lang="es-PE" sz="3600" dirty="0" err="1">
                <a:latin typeface="Calibri" panose="020F0502020204030204" pitchFamily="34" charset="0"/>
                <a:cs typeface="Calibri" panose="020F0502020204030204" pitchFamily="34" charset="0"/>
              </a:rPr>
              <a:t>dashboard</a:t>
            </a:r>
            <a:r>
              <a:rPr lang="es-PE" sz="3600" dirty="0">
                <a:latin typeface="Calibri" panose="020F0502020204030204" pitchFamily="34" charset="0"/>
                <a:cs typeface="Calibri" panose="020F0502020204030204" pitchFamily="34" charset="0"/>
              </a:rPr>
              <a:t> de forma intuitiva.</a:t>
            </a:r>
          </a:p>
          <a:p>
            <a:pPr marL="514350" indent="-514350" algn="just">
              <a:buFont typeface="Wingdings" panose="05000000000000000000" pitchFamily="2" charset="2"/>
              <a:buChar char="ü"/>
            </a:pPr>
            <a:r>
              <a:rPr lang="es-MX" sz="3600" dirty="0">
                <a:latin typeface="Calibri" panose="020F0502020204030204" pitchFamily="34" charset="0"/>
                <a:cs typeface="Calibri" panose="020F0502020204030204" pitchFamily="34" charset="0"/>
              </a:rPr>
              <a:t>Capaz de manejar fuentes de información en la nube u on premise.</a:t>
            </a:r>
          </a:p>
          <a:p>
            <a:pPr marL="514350" indent="-514350" algn="just">
              <a:buFont typeface="Wingdings" panose="05000000000000000000" pitchFamily="2" charset="2"/>
              <a:buChar char="ü"/>
            </a:pPr>
            <a:r>
              <a:rPr lang="es-PE" sz="3600" dirty="0">
                <a:latin typeface="Calibri" panose="020F0502020204030204" pitchFamily="34" charset="0"/>
                <a:cs typeface="Calibri" panose="020F0502020204030204" pitchFamily="34" charset="0"/>
              </a:rPr>
              <a:t>Se conecta a un gran número de fuentes de datos.</a:t>
            </a:r>
          </a:p>
          <a:p>
            <a:pPr marL="514350" indent="-514350" algn="just">
              <a:buFont typeface="Wingdings" panose="05000000000000000000" pitchFamily="2" charset="2"/>
              <a:buChar char="ü"/>
            </a:pPr>
            <a:r>
              <a:rPr lang="es-PE" sz="3600" dirty="0">
                <a:latin typeface="Calibri" panose="020F0502020204030204" pitchFamily="34" charset="0"/>
                <a:cs typeface="Calibri" panose="020F0502020204030204" pitchFamily="34" charset="0"/>
              </a:rPr>
              <a:t>Permite interactuar desde cualquier dispositivo (Ipad, Iphone, Windows y Android).</a:t>
            </a:r>
          </a:p>
        </p:txBody>
      </p:sp>
    </p:spTree>
    <p:extLst>
      <p:ext uri="{BB962C8B-B14F-4D97-AF65-F5344CB8AC3E}">
        <p14:creationId xmlns:p14="http://schemas.microsoft.com/office/powerpoint/2010/main" val="8659578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2" grpId="0"/>
      <p:bldP spid="3" grpId="0"/>
      <p:bldP spid="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D39BA6-51BC-3645-C4C0-818272A68A33}"/>
            </a:ext>
          </a:extLst>
        </p:cNvPr>
        <p:cNvGrpSpPr/>
        <p:nvPr/>
      </p:nvGrpSpPr>
      <p:grpSpPr>
        <a:xfrm>
          <a:off x="0" y="0"/>
          <a:ext cx="0" cy="0"/>
          <a:chOff x="0" y="0"/>
          <a:chExt cx="0" cy="0"/>
        </a:xfrm>
      </p:grpSpPr>
      <p:sp>
        <p:nvSpPr>
          <p:cNvPr id="4" name="Flecha: pentágono 3">
            <a:extLst>
              <a:ext uri="{FF2B5EF4-FFF2-40B4-BE49-F238E27FC236}">
                <a16:creationId xmlns:a16="http://schemas.microsoft.com/office/drawing/2014/main" id="{D97ED652-5C61-36D4-0628-708C8C771898}"/>
              </a:ext>
            </a:extLst>
          </p:cNvPr>
          <p:cNvSpPr/>
          <p:nvPr/>
        </p:nvSpPr>
        <p:spPr>
          <a:xfrm>
            <a:off x="-1" y="733961"/>
            <a:ext cx="8893280" cy="1102212"/>
          </a:xfrm>
          <a:prstGeom prst="homePlat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PE" sz="5400" b="1" dirty="0">
                <a:latin typeface="Calibri" panose="020F0502020204030204" pitchFamily="34" charset="0"/>
                <a:cs typeface="Calibri" panose="020F0502020204030204" pitchFamily="34" charset="0"/>
              </a:rPr>
              <a:t>Componentes de Power BI</a:t>
            </a:r>
          </a:p>
        </p:txBody>
      </p:sp>
      <p:grpSp>
        <p:nvGrpSpPr>
          <p:cNvPr id="24" name="Grupo 23">
            <a:extLst>
              <a:ext uri="{FF2B5EF4-FFF2-40B4-BE49-F238E27FC236}">
                <a16:creationId xmlns:a16="http://schemas.microsoft.com/office/drawing/2014/main" id="{DBCA2639-8545-BBCD-AD1B-17A657CF6EA4}"/>
              </a:ext>
            </a:extLst>
          </p:cNvPr>
          <p:cNvGrpSpPr/>
          <p:nvPr/>
        </p:nvGrpSpPr>
        <p:grpSpPr>
          <a:xfrm>
            <a:off x="641559" y="4422887"/>
            <a:ext cx="4484862" cy="3181223"/>
            <a:chOff x="309717" y="2445141"/>
            <a:chExt cx="2989908" cy="2120815"/>
          </a:xfrm>
        </p:grpSpPr>
        <p:pic>
          <p:nvPicPr>
            <p:cNvPr id="3" name="Imagen 2">
              <a:extLst>
                <a:ext uri="{FF2B5EF4-FFF2-40B4-BE49-F238E27FC236}">
                  <a16:creationId xmlns:a16="http://schemas.microsoft.com/office/drawing/2014/main" id="{795732DC-9480-E26D-1AAB-3C4EE85342C2}"/>
                </a:ext>
              </a:extLst>
            </p:cNvPr>
            <p:cNvPicPr>
              <a:picLocks noChangeAspect="1"/>
            </p:cNvPicPr>
            <p:nvPr/>
          </p:nvPicPr>
          <p:blipFill>
            <a:blip r:embed="rId2"/>
            <a:stretch>
              <a:fillRect/>
            </a:stretch>
          </p:blipFill>
          <p:spPr>
            <a:xfrm>
              <a:off x="2228800" y="2781000"/>
              <a:ext cx="648000" cy="648000"/>
            </a:xfrm>
            <a:prstGeom prst="rect">
              <a:avLst/>
            </a:prstGeom>
          </p:spPr>
        </p:pic>
        <p:pic>
          <p:nvPicPr>
            <p:cNvPr id="6" name="Imagen 5">
              <a:extLst>
                <a:ext uri="{FF2B5EF4-FFF2-40B4-BE49-F238E27FC236}">
                  <a16:creationId xmlns:a16="http://schemas.microsoft.com/office/drawing/2014/main" id="{AFDFBB48-1180-121B-96F9-420259E2106F}"/>
                </a:ext>
              </a:extLst>
            </p:cNvPr>
            <p:cNvPicPr>
              <a:picLocks noChangeAspect="1"/>
            </p:cNvPicPr>
            <p:nvPr/>
          </p:nvPicPr>
          <p:blipFill>
            <a:blip r:embed="rId3"/>
            <a:stretch>
              <a:fillRect/>
            </a:stretch>
          </p:blipFill>
          <p:spPr>
            <a:xfrm>
              <a:off x="544452" y="2781000"/>
              <a:ext cx="648000" cy="648000"/>
            </a:xfrm>
            <a:prstGeom prst="rect">
              <a:avLst/>
            </a:prstGeom>
          </p:spPr>
        </p:pic>
        <p:pic>
          <p:nvPicPr>
            <p:cNvPr id="8" name="Imagen 7">
              <a:extLst>
                <a:ext uri="{FF2B5EF4-FFF2-40B4-BE49-F238E27FC236}">
                  <a16:creationId xmlns:a16="http://schemas.microsoft.com/office/drawing/2014/main" id="{F1F67F07-D75E-DB20-153B-35117149E308}"/>
                </a:ext>
              </a:extLst>
            </p:cNvPr>
            <p:cNvPicPr>
              <a:picLocks noChangeAspect="1"/>
            </p:cNvPicPr>
            <p:nvPr/>
          </p:nvPicPr>
          <p:blipFill>
            <a:blip r:embed="rId4"/>
            <a:stretch>
              <a:fillRect/>
            </a:stretch>
          </p:blipFill>
          <p:spPr>
            <a:xfrm>
              <a:off x="1349322" y="2781000"/>
              <a:ext cx="648000" cy="648000"/>
            </a:xfrm>
            <a:prstGeom prst="rect">
              <a:avLst/>
            </a:prstGeom>
          </p:spPr>
        </p:pic>
        <p:pic>
          <p:nvPicPr>
            <p:cNvPr id="10" name="Imagen 9">
              <a:extLst>
                <a:ext uri="{FF2B5EF4-FFF2-40B4-BE49-F238E27FC236}">
                  <a16:creationId xmlns:a16="http://schemas.microsoft.com/office/drawing/2014/main" id="{4AA6C896-A25C-F4CA-7828-DB2BC823D7A1}"/>
                </a:ext>
              </a:extLst>
            </p:cNvPr>
            <p:cNvPicPr>
              <a:picLocks noChangeAspect="1"/>
            </p:cNvPicPr>
            <p:nvPr/>
          </p:nvPicPr>
          <p:blipFill>
            <a:blip r:embed="rId5"/>
            <a:stretch>
              <a:fillRect/>
            </a:stretch>
          </p:blipFill>
          <p:spPr>
            <a:xfrm>
              <a:off x="544452" y="3589160"/>
              <a:ext cx="648000" cy="648000"/>
            </a:xfrm>
            <a:prstGeom prst="rect">
              <a:avLst/>
            </a:prstGeom>
          </p:spPr>
        </p:pic>
        <p:pic>
          <p:nvPicPr>
            <p:cNvPr id="12" name="Imagen 11">
              <a:extLst>
                <a:ext uri="{FF2B5EF4-FFF2-40B4-BE49-F238E27FC236}">
                  <a16:creationId xmlns:a16="http://schemas.microsoft.com/office/drawing/2014/main" id="{8F5E82EA-1AA2-A270-B5C5-0EBEC3389138}"/>
                </a:ext>
              </a:extLst>
            </p:cNvPr>
            <p:cNvPicPr>
              <a:picLocks noChangeAspect="1"/>
            </p:cNvPicPr>
            <p:nvPr/>
          </p:nvPicPr>
          <p:blipFill>
            <a:blip r:embed="rId6"/>
            <a:stretch>
              <a:fillRect/>
            </a:stretch>
          </p:blipFill>
          <p:spPr>
            <a:xfrm>
              <a:off x="2228800" y="3589160"/>
              <a:ext cx="648000" cy="648000"/>
            </a:xfrm>
            <a:prstGeom prst="rect">
              <a:avLst/>
            </a:prstGeom>
          </p:spPr>
        </p:pic>
        <p:pic>
          <p:nvPicPr>
            <p:cNvPr id="14" name="Imagen 13">
              <a:extLst>
                <a:ext uri="{FF2B5EF4-FFF2-40B4-BE49-F238E27FC236}">
                  <a16:creationId xmlns:a16="http://schemas.microsoft.com/office/drawing/2014/main" id="{255CF804-538B-372A-8CB6-6C8075F3104A}"/>
                </a:ext>
              </a:extLst>
            </p:cNvPr>
            <p:cNvPicPr>
              <a:picLocks noChangeAspect="1"/>
            </p:cNvPicPr>
            <p:nvPr/>
          </p:nvPicPr>
          <p:blipFill>
            <a:blip r:embed="rId7"/>
            <a:stretch>
              <a:fillRect/>
            </a:stretch>
          </p:blipFill>
          <p:spPr>
            <a:xfrm>
              <a:off x="1349322" y="3589160"/>
              <a:ext cx="648000" cy="648000"/>
            </a:xfrm>
            <a:prstGeom prst="rect">
              <a:avLst/>
            </a:prstGeom>
          </p:spPr>
        </p:pic>
        <p:sp>
          <p:nvSpPr>
            <p:cNvPr id="23" name="Rectángulo: esquinas redondeadas 22">
              <a:extLst>
                <a:ext uri="{FF2B5EF4-FFF2-40B4-BE49-F238E27FC236}">
                  <a16:creationId xmlns:a16="http://schemas.microsoft.com/office/drawing/2014/main" id="{B52EF148-3720-A133-9C38-9A580BAE5365}"/>
                </a:ext>
              </a:extLst>
            </p:cNvPr>
            <p:cNvSpPr/>
            <p:nvPr/>
          </p:nvSpPr>
          <p:spPr>
            <a:xfrm>
              <a:off x="309717" y="2445141"/>
              <a:ext cx="2989908" cy="2120815"/>
            </a:xfrm>
            <a:prstGeom prst="roundRect">
              <a:avLst/>
            </a:prstGeom>
            <a:noFill/>
            <a:ln w="38100">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sz="2100"/>
            </a:p>
          </p:txBody>
        </p:sp>
      </p:grpSp>
      <p:grpSp>
        <p:nvGrpSpPr>
          <p:cNvPr id="38" name="Grupo 37">
            <a:extLst>
              <a:ext uri="{FF2B5EF4-FFF2-40B4-BE49-F238E27FC236}">
                <a16:creationId xmlns:a16="http://schemas.microsoft.com/office/drawing/2014/main" id="{C54E8A83-E43D-EFAB-79DA-52D1DC4B8650}"/>
              </a:ext>
            </a:extLst>
          </p:cNvPr>
          <p:cNvGrpSpPr/>
          <p:nvPr/>
        </p:nvGrpSpPr>
        <p:grpSpPr>
          <a:xfrm>
            <a:off x="11490917" y="4556711"/>
            <a:ext cx="6268005" cy="2913573"/>
            <a:chOff x="7690107" y="2919823"/>
            <a:chExt cx="4178670" cy="1942382"/>
          </a:xfrm>
        </p:grpSpPr>
        <p:pic>
          <p:nvPicPr>
            <p:cNvPr id="26" name="Imagen 25">
              <a:extLst>
                <a:ext uri="{FF2B5EF4-FFF2-40B4-BE49-F238E27FC236}">
                  <a16:creationId xmlns:a16="http://schemas.microsoft.com/office/drawing/2014/main" id="{96611101-6803-1113-AA00-5404AECE7ABE}"/>
                </a:ext>
              </a:extLst>
            </p:cNvPr>
            <p:cNvPicPr>
              <a:picLocks noChangeAspect="1"/>
            </p:cNvPicPr>
            <p:nvPr/>
          </p:nvPicPr>
          <p:blipFill>
            <a:blip r:embed="rId8"/>
            <a:stretch>
              <a:fillRect/>
            </a:stretch>
          </p:blipFill>
          <p:spPr>
            <a:xfrm>
              <a:off x="9926395" y="2919823"/>
              <a:ext cx="1942382" cy="1942382"/>
            </a:xfrm>
            <a:prstGeom prst="rect">
              <a:avLst/>
            </a:prstGeom>
          </p:spPr>
        </p:pic>
        <p:cxnSp>
          <p:nvCxnSpPr>
            <p:cNvPr id="28" name="Conector recto de flecha 27">
              <a:extLst>
                <a:ext uri="{FF2B5EF4-FFF2-40B4-BE49-F238E27FC236}">
                  <a16:creationId xmlns:a16="http://schemas.microsoft.com/office/drawing/2014/main" id="{6FB0D56E-D902-CE2B-40D3-4A8F2D540C3F}"/>
                </a:ext>
              </a:extLst>
            </p:cNvPr>
            <p:cNvCxnSpPr>
              <a:stCxn id="18" idx="3"/>
              <a:endCxn id="26" idx="1"/>
            </p:cNvCxnSpPr>
            <p:nvPr/>
          </p:nvCxnSpPr>
          <p:spPr>
            <a:xfrm>
              <a:off x="7690107" y="3891014"/>
              <a:ext cx="2206792" cy="0"/>
            </a:xfrm>
            <a:prstGeom prst="straightConnector1">
              <a:avLst/>
            </a:prstGeom>
            <a:ln w="76200">
              <a:solidFill>
                <a:srgbClr val="00B0F0"/>
              </a:solidFill>
              <a:tailEnd type="triangle"/>
            </a:ln>
          </p:spPr>
          <p:style>
            <a:lnRef idx="2">
              <a:schemeClr val="accent1"/>
            </a:lnRef>
            <a:fillRef idx="0">
              <a:schemeClr val="accent1"/>
            </a:fillRef>
            <a:effectRef idx="1">
              <a:schemeClr val="accent1"/>
            </a:effectRef>
            <a:fontRef idx="minor">
              <a:schemeClr val="tx1"/>
            </a:fontRef>
          </p:style>
        </p:cxnSp>
      </p:grpSp>
      <p:grpSp>
        <p:nvGrpSpPr>
          <p:cNvPr id="37" name="Grupo 36">
            <a:extLst>
              <a:ext uri="{FF2B5EF4-FFF2-40B4-BE49-F238E27FC236}">
                <a16:creationId xmlns:a16="http://schemas.microsoft.com/office/drawing/2014/main" id="{803210BE-7EEE-B1B9-7E24-E796980E36AE}"/>
              </a:ext>
            </a:extLst>
          </p:cNvPr>
          <p:cNvGrpSpPr/>
          <p:nvPr/>
        </p:nvGrpSpPr>
        <p:grpSpPr>
          <a:xfrm>
            <a:off x="5126422" y="2229283"/>
            <a:ext cx="7334348" cy="6636054"/>
            <a:chOff x="3417614" y="1368204"/>
            <a:chExt cx="4889565" cy="4424036"/>
          </a:xfrm>
        </p:grpSpPr>
        <p:pic>
          <p:nvPicPr>
            <p:cNvPr id="18" name="Imagen 17">
              <a:extLst>
                <a:ext uri="{FF2B5EF4-FFF2-40B4-BE49-F238E27FC236}">
                  <a16:creationId xmlns:a16="http://schemas.microsoft.com/office/drawing/2014/main" id="{551B0A07-DE07-F4F4-1320-A42D873410D5}"/>
                </a:ext>
              </a:extLst>
            </p:cNvPr>
            <p:cNvPicPr>
              <a:picLocks noChangeAspect="1"/>
            </p:cNvPicPr>
            <p:nvPr/>
          </p:nvPicPr>
          <p:blipFill>
            <a:blip r:embed="rId9"/>
            <a:stretch>
              <a:fillRect/>
            </a:stretch>
          </p:blipFill>
          <p:spPr>
            <a:xfrm>
              <a:off x="5569292" y="2830606"/>
              <a:ext cx="2120815" cy="2120815"/>
            </a:xfrm>
            <a:prstGeom prst="rect">
              <a:avLst/>
            </a:prstGeom>
          </p:spPr>
        </p:pic>
        <p:pic>
          <p:nvPicPr>
            <p:cNvPr id="21" name="Imagen 20">
              <a:extLst>
                <a:ext uri="{FF2B5EF4-FFF2-40B4-BE49-F238E27FC236}">
                  <a16:creationId xmlns:a16="http://schemas.microsoft.com/office/drawing/2014/main" id="{49189EF0-B017-C081-777C-39CC35C7F3A9}"/>
                </a:ext>
              </a:extLst>
            </p:cNvPr>
            <p:cNvPicPr>
              <a:picLocks noChangeAspect="1"/>
            </p:cNvPicPr>
            <p:nvPr/>
          </p:nvPicPr>
          <p:blipFill>
            <a:blip r:embed="rId10"/>
            <a:stretch>
              <a:fillRect/>
            </a:stretch>
          </p:blipFill>
          <p:spPr>
            <a:xfrm>
              <a:off x="3821153" y="2261931"/>
              <a:ext cx="1478853" cy="1478853"/>
            </a:xfrm>
            <a:prstGeom prst="rect">
              <a:avLst/>
            </a:prstGeom>
          </p:spPr>
        </p:pic>
        <p:cxnSp>
          <p:nvCxnSpPr>
            <p:cNvPr id="29" name="Conector recto de flecha 28">
              <a:extLst>
                <a:ext uri="{FF2B5EF4-FFF2-40B4-BE49-F238E27FC236}">
                  <a16:creationId xmlns:a16="http://schemas.microsoft.com/office/drawing/2014/main" id="{17864C5A-0C62-86F5-450C-94CE07664206}"/>
                </a:ext>
              </a:extLst>
            </p:cNvPr>
            <p:cNvCxnSpPr>
              <a:cxnSpLocks/>
              <a:stCxn id="23" idx="3"/>
              <a:endCxn id="18" idx="1"/>
            </p:cNvCxnSpPr>
            <p:nvPr/>
          </p:nvCxnSpPr>
          <p:spPr>
            <a:xfrm>
              <a:off x="3417614" y="3876267"/>
              <a:ext cx="2151678" cy="14747"/>
            </a:xfrm>
            <a:prstGeom prst="straightConnector1">
              <a:avLst/>
            </a:prstGeom>
            <a:ln w="76200">
              <a:solidFill>
                <a:srgbClr val="00B0F0"/>
              </a:solidFill>
              <a:tailEnd type="triangle"/>
            </a:ln>
          </p:spPr>
          <p:style>
            <a:lnRef idx="2">
              <a:schemeClr val="accent1"/>
            </a:lnRef>
            <a:fillRef idx="0">
              <a:schemeClr val="accent1"/>
            </a:fillRef>
            <a:effectRef idx="1">
              <a:schemeClr val="accent1"/>
            </a:effectRef>
            <a:fontRef idx="minor">
              <a:schemeClr val="tx1"/>
            </a:fontRef>
          </p:style>
        </p:cxnSp>
        <p:sp>
          <p:nvSpPr>
            <p:cNvPr id="35" name="CuadroTexto 34">
              <a:extLst>
                <a:ext uri="{FF2B5EF4-FFF2-40B4-BE49-F238E27FC236}">
                  <a16:creationId xmlns:a16="http://schemas.microsoft.com/office/drawing/2014/main" id="{3D0639A2-1E84-C0FE-D943-51303F15DAA4}"/>
                </a:ext>
              </a:extLst>
            </p:cNvPr>
            <p:cNvSpPr txBox="1"/>
            <p:nvPr/>
          </p:nvSpPr>
          <p:spPr>
            <a:xfrm>
              <a:off x="4952218" y="4992021"/>
              <a:ext cx="3354961" cy="800219"/>
            </a:xfrm>
            <a:prstGeom prst="rect">
              <a:avLst/>
            </a:prstGeom>
            <a:noFill/>
          </p:spPr>
          <p:txBody>
            <a:bodyPr wrap="square" rtlCol="0">
              <a:spAutoFit/>
            </a:bodyPr>
            <a:lstStyle/>
            <a:p>
              <a:pPr algn="ctr"/>
              <a:r>
                <a:rPr lang="es-PE" sz="3600" b="1" dirty="0">
                  <a:solidFill>
                    <a:schemeClr val="accent4"/>
                  </a:solidFill>
                  <a:latin typeface="Calibri" panose="020F0502020204030204" pitchFamily="34" charset="0"/>
                  <a:cs typeface="Calibri" panose="020F0502020204030204" pitchFamily="34" charset="0"/>
                </a:rPr>
                <a:t>Power Pivot</a:t>
              </a:r>
            </a:p>
            <a:p>
              <a:pPr algn="ctr"/>
              <a:r>
                <a:rPr lang="es-PE" sz="3600" b="1" dirty="0">
                  <a:solidFill>
                    <a:schemeClr val="accent4"/>
                  </a:solidFill>
                  <a:latin typeface="Calibri" panose="020F0502020204030204" pitchFamily="34" charset="0"/>
                  <a:cs typeface="Calibri" panose="020F0502020204030204" pitchFamily="34" charset="0"/>
                </a:rPr>
                <a:t>D</a:t>
              </a:r>
              <a:r>
                <a:rPr lang="es-PE" sz="3600" b="1" dirty="0">
                  <a:latin typeface="Calibri" panose="020F0502020204030204" pitchFamily="34" charset="0"/>
                  <a:cs typeface="Calibri" panose="020F0502020204030204" pitchFamily="34" charset="0"/>
                </a:rPr>
                <a:t>ata</a:t>
              </a:r>
              <a:r>
                <a:rPr lang="es-PE" sz="3600" b="1" dirty="0">
                  <a:solidFill>
                    <a:schemeClr val="accent4"/>
                  </a:solidFill>
                  <a:latin typeface="Calibri" panose="020F0502020204030204" pitchFamily="34" charset="0"/>
                  <a:cs typeface="Calibri" panose="020F0502020204030204" pitchFamily="34" charset="0"/>
                </a:rPr>
                <a:t> A</a:t>
              </a:r>
              <a:r>
                <a:rPr lang="es-PE" sz="3600" b="1" dirty="0">
                  <a:latin typeface="Calibri" panose="020F0502020204030204" pitchFamily="34" charset="0"/>
                  <a:cs typeface="Calibri" panose="020F0502020204030204" pitchFamily="34" charset="0"/>
                </a:rPr>
                <a:t>nalysis</a:t>
              </a:r>
              <a:r>
                <a:rPr lang="es-PE" sz="3600" b="1" dirty="0">
                  <a:solidFill>
                    <a:schemeClr val="accent4"/>
                  </a:solidFill>
                  <a:latin typeface="Calibri" panose="020F0502020204030204" pitchFamily="34" charset="0"/>
                  <a:cs typeface="Calibri" panose="020F0502020204030204" pitchFamily="34" charset="0"/>
                </a:rPr>
                <a:t> </a:t>
              </a:r>
              <a:r>
                <a:rPr lang="es-PE" sz="3600" b="1" dirty="0">
                  <a:latin typeface="Calibri" panose="020F0502020204030204" pitchFamily="34" charset="0"/>
                  <a:cs typeface="Calibri" panose="020F0502020204030204" pitchFamily="34" charset="0"/>
                </a:rPr>
                <a:t>E</a:t>
              </a:r>
              <a:r>
                <a:rPr lang="es-PE" sz="3600" b="1" dirty="0">
                  <a:solidFill>
                    <a:schemeClr val="accent4"/>
                  </a:solidFill>
                  <a:latin typeface="Calibri" panose="020F0502020204030204" pitchFamily="34" charset="0"/>
                  <a:cs typeface="Calibri" panose="020F0502020204030204" pitchFamily="34" charset="0"/>
                </a:rPr>
                <a:t>X</a:t>
              </a:r>
              <a:r>
                <a:rPr lang="es-PE" sz="3600" b="1" dirty="0">
                  <a:latin typeface="Calibri" panose="020F0502020204030204" pitchFamily="34" charset="0"/>
                  <a:cs typeface="Calibri" panose="020F0502020204030204" pitchFamily="34" charset="0"/>
                </a:rPr>
                <a:t>pression</a:t>
              </a:r>
            </a:p>
          </p:txBody>
        </p:sp>
        <p:sp>
          <p:nvSpPr>
            <p:cNvPr id="36" name="CuadroTexto 35">
              <a:extLst>
                <a:ext uri="{FF2B5EF4-FFF2-40B4-BE49-F238E27FC236}">
                  <a16:creationId xmlns:a16="http://schemas.microsoft.com/office/drawing/2014/main" id="{BA513AE5-8613-5A77-2603-8F134C5E2278}"/>
                </a:ext>
              </a:extLst>
            </p:cNvPr>
            <p:cNvSpPr txBox="1"/>
            <p:nvPr/>
          </p:nvSpPr>
          <p:spPr>
            <a:xfrm>
              <a:off x="4690581" y="1368204"/>
              <a:ext cx="3166737" cy="1169551"/>
            </a:xfrm>
            <a:prstGeom prst="rect">
              <a:avLst/>
            </a:prstGeom>
            <a:noFill/>
          </p:spPr>
          <p:txBody>
            <a:bodyPr wrap="square" rtlCol="0">
              <a:spAutoFit/>
            </a:bodyPr>
            <a:lstStyle/>
            <a:p>
              <a:r>
                <a:rPr lang="es-PE" sz="3600" b="1" dirty="0">
                  <a:solidFill>
                    <a:schemeClr val="accent4"/>
                  </a:solidFill>
                  <a:latin typeface="Calibri" panose="020F0502020204030204" pitchFamily="34" charset="0"/>
                  <a:cs typeface="Calibri" panose="020F0502020204030204" pitchFamily="34" charset="0"/>
                </a:rPr>
                <a:t>Power Query</a:t>
              </a:r>
            </a:p>
            <a:p>
              <a:r>
                <a:rPr lang="es-PE" sz="3600" b="1" dirty="0">
                  <a:solidFill>
                    <a:schemeClr val="accent4"/>
                  </a:solidFill>
                  <a:latin typeface="Calibri" panose="020F0502020204030204" pitchFamily="34" charset="0"/>
                  <a:cs typeface="Calibri" panose="020F0502020204030204" pitchFamily="34" charset="0"/>
                </a:rPr>
                <a:t>E</a:t>
              </a:r>
              <a:r>
                <a:rPr lang="es-PE" sz="3600" b="1" dirty="0">
                  <a:latin typeface="Calibri" panose="020F0502020204030204" pitchFamily="34" charset="0"/>
                  <a:cs typeface="Calibri" panose="020F0502020204030204" pitchFamily="34" charset="0"/>
                </a:rPr>
                <a:t>xtract</a:t>
              </a:r>
              <a:r>
                <a:rPr lang="es-PE" sz="3600" b="1" dirty="0">
                  <a:solidFill>
                    <a:schemeClr val="accent4"/>
                  </a:solidFill>
                  <a:latin typeface="Calibri" panose="020F0502020204030204" pitchFamily="34" charset="0"/>
                  <a:cs typeface="Calibri" panose="020F0502020204030204" pitchFamily="34" charset="0"/>
                </a:rPr>
                <a:t> T</a:t>
              </a:r>
              <a:r>
                <a:rPr lang="es-PE" sz="3600" b="1" dirty="0">
                  <a:latin typeface="Calibri" panose="020F0502020204030204" pitchFamily="34" charset="0"/>
                  <a:cs typeface="Calibri" panose="020F0502020204030204" pitchFamily="34" charset="0"/>
                </a:rPr>
                <a:t>ransform</a:t>
              </a:r>
              <a:r>
                <a:rPr lang="es-PE" sz="3600" b="1" dirty="0">
                  <a:solidFill>
                    <a:schemeClr val="accent4"/>
                  </a:solidFill>
                  <a:latin typeface="Calibri" panose="020F0502020204030204" pitchFamily="34" charset="0"/>
                  <a:cs typeface="Calibri" panose="020F0502020204030204" pitchFamily="34" charset="0"/>
                </a:rPr>
                <a:t> L</a:t>
              </a:r>
              <a:r>
                <a:rPr lang="es-PE" sz="3600" b="1" dirty="0">
                  <a:latin typeface="Calibri" panose="020F0502020204030204" pitchFamily="34" charset="0"/>
                  <a:cs typeface="Calibri" panose="020F0502020204030204" pitchFamily="34" charset="0"/>
                </a:rPr>
                <a:t>oad</a:t>
              </a:r>
            </a:p>
            <a:p>
              <a:r>
                <a:rPr lang="es-PE" sz="3600" b="1" dirty="0">
                  <a:latin typeface="Calibri" panose="020F0502020204030204" pitchFamily="34" charset="0"/>
                  <a:cs typeface="Calibri" panose="020F0502020204030204" pitchFamily="34" charset="0"/>
                </a:rPr>
                <a:t>Lenguaje M</a:t>
              </a:r>
            </a:p>
          </p:txBody>
        </p:sp>
      </p:grpSp>
    </p:spTree>
    <p:extLst>
      <p:ext uri="{BB962C8B-B14F-4D97-AF65-F5344CB8AC3E}">
        <p14:creationId xmlns:p14="http://schemas.microsoft.com/office/powerpoint/2010/main" val="35532719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50A096-4A85-4C4E-8BB3-C52ADDD0D648}"/>
            </a:ext>
          </a:extLst>
        </p:cNvPr>
        <p:cNvGrpSpPr/>
        <p:nvPr/>
      </p:nvGrpSpPr>
      <p:grpSpPr>
        <a:xfrm>
          <a:off x="0" y="0"/>
          <a:ext cx="0" cy="0"/>
          <a:chOff x="0" y="0"/>
          <a:chExt cx="0" cy="0"/>
        </a:xfrm>
      </p:grpSpPr>
      <p:sp>
        <p:nvSpPr>
          <p:cNvPr id="4" name="CuadroTexto 3">
            <a:extLst>
              <a:ext uri="{FF2B5EF4-FFF2-40B4-BE49-F238E27FC236}">
                <a16:creationId xmlns:a16="http://schemas.microsoft.com/office/drawing/2014/main" id="{27F54163-537C-AAA3-30D7-BDCFCB6C5A2C}"/>
              </a:ext>
            </a:extLst>
          </p:cNvPr>
          <p:cNvSpPr txBox="1"/>
          <p:nvPr/>
        </p:nvSpPr>
        <p:spPr>
          <a:xfrm>
            <a:off x="4790365" y="3541595"/>
            <a:ext cx="8639033" cy="1338828"/>
          </a:xfrm>
          <a:prstGeom prst="rect">
            <a:avLst/>
          </a:prstGeom>
          <a:noFill/>
        </p:spPr>
        <p:txBody>
          <a:bodyPr wrap="square" rtlCol="0">
            <a:spAutoFit/>
          </a:bodyPr>
          <a:lstStyle/>
          <a:p>
            <a:pPr algn="ctr"/>
            <a:r>
              <a:rPr lang="es-PE" sz="8100" b="1" dirty="0">
                <a:latin typeface="Calibri" panose="020F0502020204030204" pitchFamily="34" charset="0"/>
                <a:cs typeface="Calibri" panose="020F0502020204030204" pitchFamily="34" charset="0"/>
              </a:rPr>
              <a:t>ETL</a:t>
            </a:r>
          </a:p>
        </p:txBody>
      </p:sp>
    </p:spTree>
    <p:extLst>
      <p:ext uri="{BB962C8B-B14F-4D97-AF65-F5344CB8AC3E}">
        <p14:creationId xmlns:p14="http://schemas.microsoft.com/office/powerpoint/2010/main" val="6689408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lecha: pentágono 3">
            <a:extLst>
              <a:ext uri="{FF2B5EF4-FFF2-40B4-BE49-F238E27FC236}">
                <a16:creationId xmlns:a16="http://schemas.microsoft.com/office/drawing/2014/main" id="{DA80CA19-EA3A-AC65-169D-39773422593B}"/>
              </a:ext>
            </a:extLst>
          </p:cNvPr>
          <p:cNvSpPr/>
          <p:nvPr/>
        </p:nvSpPr>
        <p:spPr>
          <a:xfrm>
            <a:off x="-1" y="733961"/>
            <a:ext cx="5506874" cy="1102212"/>
          </a:xfrm>
          <a:prstGeom prst="homePlat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PE" sz="5400" b="1" dirty="0">
                <a:latin typeface="Calibri" panose="020F0502020204030204" pitchFamily="34" charset="0"/>
                <a:cs typeface="Calibri" panose="020F0502020204030204" pitchFamily="34" charset="0"/>
              </a:rPr>
              <a:t>Power Query</a:t>
            </a:r>
          </a:p>
        </p:txBody>
      </p:sp>
      <p:sp>
        <p:nvSpPr>
          <p:cNvPr id="5" name="CuadroTexto 4">
            <a:extLst>
              <a:ext uri="{FF2B5EF4-FFF2-40B4-BE49-F238E27FC236}">
                <a16:creationId xmlns:a16="http://schemas.microsoft.com/office/drawing/2014/main" id="{001B9C66-0F50-EE28-0B29-67740EDFF89A}"/>
              </a:ext>
            </a:extLst>
          </p:cNvPr>
          <p:cNvSpPr txBox="1"/>
          <p:nvPr/>
        </p:nvSpPr>
        <p:spPr>
          <a:xfrm>
            <a:off x="762568" y="2212231"/>
            <a:ext cx="16762865" cy="5632311"/>
          </a:xfrm>
          <a:prstGeom prst="rect">
            <a:avLst/>
          </a:prstGeom>
          <a:noFill/>
        </p:spPr>
        <p:txBody>
          <a:bodyPr wrap="square" rtlCol="0">
            <a:spAutoFit/>
          </a:bodyPr>
          <a:lstStyle/>
          <a:p>
            <a:pPr marL="685800" indent="-685800" algn="just">
              <a:buFont typeface="Wingdings" panose="05000000000000000000" pitchFamily="2" charset="2"/>
              <a:buChar char="ü"/>
            </a:pPr>
            <a:r>
              <a:rPr lang="es-MX" sz="3600" dirty="0">
                <a:latin typeface="Calibri" panose="020F0502020204030204" pitchFamily="34" charset="0"/>
                <a:cs typeface="Calibri" panose="020F0502020204030204" pitchFamily="34" charset="0"/>
              </a:rPr>
              <a:t>Es un motor de procesamiento de datos.</a:t>
            </a:r>
          </a:p>
          <a:p>
            <a:pPr marL="685800" indent="-685800" algn="just">
              <a:buFont typeface="Wingdings" panose="05000000000000000000" pitchFamily="2" charset="2"/>
              <a:buChar char="ü"/>
            </a:pPr>
            <a:r>
              <a:rPr lang="es-MX" sz="3600" dirty="0">
                <a:latin typeface="Calibri" panose="020F0502020204030204" pitchFamily="34" charset="0"/>
                <a:cs typeface="Calibri" panose="020F0502020204030204" pitchFamily="34" charset="0"/>
              </a:rPr>
              <a:t>Permite extraer, transformar y cargar los datos (ETL) al destino donde se almacenarán. </a:t>
            </a:r>
          </a:p>
          <a:p>
            <a:pPr marL="685800" indent="-685800" algn="just">
              <a:buFont typeface="Wingdings" panose="05000000000000000000" pitchFamily="2" charset="2"/>
              <a:buChar char="ü"/>
            </a:pPr>
            <a:r>
              <a:rPr lang="es-MX" sz="3600" dirty="0">
                <a:latin typeface="Calibri" panose="020F0502020204030204" pitchFamily="34" charset="0"/>
                <a:cs typeface="Calibri" panose="020F0502020204030204" pitchFamily="34" charset="0"/>
              </a:rPr>
              <a:t>Incluye una interfaz gráfica para obtener datos de orígenes y un editor para aplicar transformaciones.</a:t>
            </a:r>
          </a:p>
          <a:p>
            <a:pPr marL="685800" indent="-685800" algn="just">
              <a:buFont typeface="Wingdings" panose="05000000000000000000" pitchFamily="2" charset="2"/>
              <a:buChar char="ü"/>
            </a:pPr>
            <a:r>
              <a:rPr lang="es-MX" sz="3600" dirty="0">
                <a:latin typeface="Calibri" panose="020F0502020204030204" pitchFamily="34" charset="0"/>
                <a:cs typeface="Calibri" panose="020F0502020204030204" pitchFamily="34" charset="0"/>
              </a:rPr>
              <a:t>El lenguaje de transformación de datos es “M” (todo lo que sucede en la consulta dentro de Power Query se escribe en este lenguaje, y se puede ver a través del editor avanzado). </a:t>
            </a:r>
          </a:p>
          <a:p>
            <a:pPr marL="685800" indent="-685800" algn="just">
              <a:buFont typeface="Wingdings" panose="05000000000000000000" pitchFamily="2" charset="2"/>
              <a:buChar char="ü"/>
            </a:pPr>
            <a:r>
              <a:rPr lang="es-MX" sz="3600" dirty="0">
                <a:latin typeface="Calibri" panose="020F0502020204030204" pitchFamily="34" charset="0"/>
                <a:cs typeface="Calibri" panose="020F0502020204030204" pitchFamily="34" charset="0"/>
              </a:rPr>
              <a:t>Usualmente se entra a ver este código solo cuando uno quiere hacer transformaciones avanzadas, sino basta con la interfaz gráfica.</a:t>
            </a:r>
          </a:p>
        </p:txBody>
      </p:sp>
      <p:pic>
        <p:nvPicPr>
          <p:cNvPr id="7" name="Imagen 6">
            <a:extLst>
              <a:ext uri="{FF2B5EF4-FFF2-40B4-BE49-F238E27FC236}">
                <a16:creationId xmlns:a16="http://schemas.microsoft.com/office/drawing/2014/main" id="{8E967450-9AB3-BA5E-0D02-9F9FEAB6293F}"/>
              </a:ext>
            </a:extLst>
          </p:cNvPr>
          <p:cNvPicPr>
            <a:picLocks noChangeAspect="1"/>
          </p:cNvPicPr>
          <p:nvPr/>
        </p:nvPicPr>
        <p:blipFill>
          <a:blip r:embed="rId2"/>
          <a:stretch>
            <a:fillRect/>
          </a:stretch>
        </p:blipFill>
        <p:spPr>
          <a:xfrm>
            <a:off x="14945685" y="407709"/>
            <a:ext cx="3342315" cy="1754715"/>
          </a:xfrm>
          <a:prstGeom prst="rect">
            <a:avLst/>
          </a:prstGeom>
        </p:spPr>
      </p:pic>
      <p:sp>
        <p:nvSpPr>
          <p:cNvPr id="9" name="CuadroTexto 8">
            <a:extLst>
              <a:ext uri="{FF2B5EF4-FFF2-40B4-BE49-F238E27FC236}">
                <a16:creationId xmlns:a16="http://schemas.microsoft.com/office/drawing/2014/main" id="{C0ECA2EC-BEFE-DDF7-AC2F-023182177E83}"/>
              </a:ext>
            </a:extLst>
          </p:cNvPr>
          <p:cNvSpPr txBox="1"/>
          <p:nvPr/>
        </p:nvSpPr>
        <p:spPr>
          <a:xfrm>
            <a:off x="3575714" y="8071275"/>
            <a:ext cx="11218461" cy="1754326"/>
          </a:xfrm>
          <a:prstGeom prst="rect">
            <a:avLst/>
          </a:prstGeom>
          <a:noFill/>
          <a:ln w="28575">
            <a:solidFill>
              <a:srgbClr val="FF0000"/>
            </a:solidFill>
            <a:prstDash val="sysDash"/>
          </a:ln>
        </p:spPr>
        <p:txBody>
          <a:bodyPr wrap="square" rtlCol="0">
            <a:spAutoFit/>
          </a:bodyPr>
          <a:lstStyle/>
          <a:p>
            <a:pPr algn="ctr"/>
            <a:r>
              <a:rPr lang="es-MX" sz="3600" b="1" dirty="0">
                <a:solidFill>
                  <a:srgbClr val="FF0000"/>
                </a:solidFill>
                <a:latin typeface="Calibri" panose="020F0502020204030204" pitchFamily="34" charset="0"/>
                <a:cs typeface="Calibri" panose="020F0502020204030204" pitchFamily="34" charset="0"/>
              </a:rPr>
              <a:t>“Los usuarios empresariales invierten hasta el 80 % de su tiempo en preparar datos, lo que retrasa el trabajo de análisis y toma de decisiones”</a:t>
            </a:r>
            <a:r>
              <a:rPr lang="es-MX" sz="3600" dirty="0">
                <a:solidFill>
                  <a:srgbClr val="FF0000"/>
                </a:solidFill>
              </a:rPr>
              <a:t>.</a:t>
            </a:r>
            <a:endParaRPr lang="es-PE" sz="3600" dirty="0">
              <a:solidFill>
                <a:srgbClr val="FF0000"/>
              </a:solidFill>
            </a:endParaRPr>
          </a:p>
        </p:txBody>
      </p:sp>
    </p:spTree>
    <p:extLst>
      <p:ext uri="{BB962C8B-B14F-4D97-AF65-F5344CB8AC3E}">
        <p14:creationId xmlns:p14="http://schemas.microsoft.com/office/powerpoint/2010/main" val="23494285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8863453C-DABD-DB3E-19DC-96361C8814B0}"/>
              </a:ext>
            </a:extLst>
          </p:cNvPr>
          <p:cNvSpPr txBox="1"/>
          <p:nvPr/>
        </p:nvSpPr>
        <p:spPr>
          <a:xfrm>
            <a:off x="4790365" y="3541595"/>
            <a:ext cx="8639033" cy="1338828"/>
          </a:xfrm>
          <a:prstGeom prst="rect">
            <a:avLst/>
          </a:prstGeom>
          <a:noFill/>
        </p:spPr>
        <p:txBody>
          <a:bodyPr wrap="square" rtlCol="0">
            <a:spAutoFit/>
          </a:bodyPr>
          <a:lstStyle/>
          <a:p>
            <a:pPr algn="ctr"/>
            <a:r>
              <a:rPr lang="es-PE" sz="8100" b="1" dirty="0">
                <a:latin typeface="Calibri" panose="020F0502020204030204" pitchFamily="34" charset="0"/>
                <a:cs typeface="Calibri" panose="020F0502020204030204" pitchFamily="34" charset="0"/>
              </a:rPr>
              <a:t>Extracción de Datos</a:t>
            </a:r>
          </a:p>
        </p:txBody>
      </p:sp>
    </p:spTree>
    <p:extLst>
      <p:ext uri="{BB962C8B-B14F-4D97-AF65-F5344CB8AC3E}">
        <p14:creationId xmlns:p14="http://schemas.microsoft.com/office/powerpoint/2010/main" val="39668476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lecha: pentágono 3">
            <a:extLst>
              <a:ext uri="{FF2B5EF4-FFF2-40B4-BE49-F238E27FC236}">
                <a16:creationId xmlns:a16="http://schemas.microsoft.com/office/drawing/2014/main" id="{C224BE71-6D91-FF63-03B3-19F0E6092080}"/>
              </a:ext>
            </a:extLst>
          </p:cNvPr>
          <p:cNvSpPr/>
          <p:nvPr/>
        </p:nvSpPr>
        <p:spPr>
          <a:xfrm>
            <a:off x="-1" y="733961"/>
            <a:ext cx="7322576" cy="1102212"/>
          </a:xfrm>
          <a:prstGeom prst="homePlat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PE" sz="5400" b="1" dirty="0">
                <a:latin typeface="Calibri" panose="020F0502020204030204" pitchFamily="34" charset="0"/>
                <a:cs typeface="Calibri" panose="020F0502020204030204" pitchFamily="34" charset="0"/>
              </a:rPr>
              <a:t>Tipos de conexiones</a:t>
            </a:r>
          </a:p>
        </p:txBody>
      </p:sp>
      <p:sp>
        <p:nvSpPr>
          <p:cNvPr id="5" name="CuadroTexto 4">
            <a:extLst>
              <a:ext uri="{FF2B5EF4-FFF2-40B4-BE49-F238E27FC236}">
                <a16:creationId xmlns:a16="http://schemas.microsoft.com/office/drawing/2014/main" id="{9524D8CB-CA02-3E6F-1091-B92842676C09}"/>
              </a:ext>
            </a:extLst>
          </p:cNvPr>
          <p:cNvSpPr txBox="1"/>
          <p:nvPr/>
        </p:nvSpPr>
        <p:spPr>
          <a:xfrm>
            <a:off x="737417" y="2448234"/>
            <a:ext cx="7742904" cy="6232475"/>
          </a:xfrm>
          <a:prstGeom prst="rect">
            <a:avLst/>
          </a:prstGeom>
          <a:noFill/>
        </p:spPr>
        <p:txBody>
          <a:bodyPr wrap="square" rtlCol="0">
            <a:spAutoFit/>
          </a:bodyPr>
          <a:lstStyle/>
          <a:p>
            <a:pPr algn="ctr"/>
            <a:r>
              <a:rPr lang="es-MX" sz="4800" b="1" dirty="0">
                <a:latin typeface="Calibri" panose="020F0502020204030204" pitchFamily="34" charset="0"/>
                <a:cs typeface="Calibri" panose="020F0502020204030204" pitchFamily="34" charset="0"/>
              </a:rPr>
              <a:t>IMPORT</a:t>
            </a:r>
          </a:p>
          <a:p>
            <a:endParaRPr lang="es-MX" sz="2100" dirty="0">
              <a:latin typeface="Calibri" panose="020F0502020204030204" pitchFamily="34" charset="0"/>
              <a:cs typeface="Calibri" panose="020F0502020204030204" pitchFamily="34" charset="0"/>
            </a:endParaRPr>
          </a:p>
          <a:p>
            <a:pPr algn="just"/>
            <a:r>
              <a:rPr lang="es-MX" sz="3000" dirty="0">
                <a:latin typeface="Calibri" panose="020F0502020204030204" pitchFamily="34" charset="0"/>
                <a:cs typeface="Calibri" panose="020F0502020204030204" pitchFamily="34" charset="0"/>
              </a:rPr>
              <a:t>Esta opción permite que las tablas y columnas seleccionadas se importen a Power BI, es decir se hace una “copia” exacta de los datos, si la fuente de datos ha sufrido actualizaciones, es necesario actualizar en la herramienta para importar el nuevo conjunto de datos. Las tablas pueden venir de fuentes de datos diferentes.</a:t>
            </a:r>
          </a:p>
          <a:p>
            <a:pPr algn="just"/>
            <a:endParaRPr lang="es-MX" sz="3000" dirty="0">
              <a:latin typeface="Calibri" panose="020F0502020204030204" pitchFamily="34" charset="0"/>
              <a:cs typeface="Calibri" panose="020F0502020204030204" pitchFamily="34" charset="0"/>
            </a:endParaRPr>
          </a:p>
          <a:p>
            <a:pPr algn="just"/>
            <a:r>
              <a:rPr lang="es-MX" sz="3000" b="1" dirty="0">
                <a:latin typeface="Calibri" panose="020F0502020204030204" pitchFamily="34" charset="0"/>
                <a:cs typeface="Calibri" panose="020F0502020204030204" pitchFamily="34" charset="0"/>
              </a:rPr>
              <a:t>Limitación en tamaño de modelo: </a:t>
            </a:r>
            <a:r>
              <a:rPr lang="es-MX" sz="3000" dirty="0">
                <a:latin typeface="Calibri" panose="020F0502020204030204" pitchFamily="34" charset="0"/>
                <a:cs typeface="Calibri" panose="020F0502020204030204" pitchFamily="34" charset="0"/>
              </a:rPr>
              <a:t>No podemos exceder más de 1GB.</a:t>
            </a:r>
          </a:p>
          <a:p>
            <a:pPr algn="just"/>
            <a:endParaRPr lang="es-MX" sz="3000" dirty="0">
              <a:latin typeface="Calibri" panose="020F0502020204030204" pitchFamily="34" charset="0"/>
              <a:cs typeface="Calibri" panose="020F0502020204030204" pitchFamily="34" charset="0"/>
            </a:endParaRPr>
          </a:p>
        </p:txBody>
      </p:sp>
      <p:sp>
        <p:nvSpPr>
          <p:cNvPr id="6" name="CuadroTexto 5">
            <a:extLst>
              <a:ext uri="{FF2B5EF4-FFF2-40B4-BE49-F238E27FC236}">
                <a16:creationId xmlns:a16="http://schemas.microsoft.com/office/drawing/2014/main" id="{34848986-192A-91AA-D7E0-5921058EEA3B}"/>
              </a:ext>
            </a:extLst>
          </p:cNvPr>
          <p:cNvSpPr txBox="1"/>
          <p:nvPr/>
        </p:nvSpPr>
        <p:spPr>
          <a:xfrm>
            <a:off x="9807683" y="2448235"/>
            <a:ext cx="7742904" cy="7155805"/>
          </a:xfrm>
          <a:prstGeom prst="rect">
            <a:avLst/>
          </a:prstGeom>
          <a:noFill/>
        </p:spPr>
        <p:txBody>
          <a:bodyPr wrap="square" rtlCol="0">
            <a:spAutoFit/>
          </a:bodyPr>
          <a:lstStyle/>
          <a:p>
            <a:pPr algn="ctr"/>
            <a:r>
              <a:rPr lang="es-MX" sz="4800" b="1" dirty="0">
                <a:latin typeface="Calibri" panose="020F0502020204030204" pitchFamily="34" charset="0"/>
                <a:cs typeface="Calibri" panose="020F0502020204030204" pitchFamily="34" charset="0"/>
              </a:rPr>
              <a:t>DIRECT QUERY</a:t>
            </a:r>
          </a:p>
          <a:p>
            <a:endParaRPr lang="es-MX" sz="2100" dirty="0">
              <a:latin typeface="Calibri" panose="020F0502020204030204" pitchFamily="34" charset="0"/>
              <a:cs typeface="Calibri" panose="020F0502020204030204" pitchFamily="34" charset="0"/>
            </a:endParaRPr>
          </a:p>
          <a:p>
            <a:pPr algn="just"/>
            <a:r>
              <a:rPr lang="es-MX" sz="3000" dirty="0">
                <a:latin typeface="Calibri" panose="020F0502020204030204" pitchFamily="34" charset="0"/>
                <a:cs typeface="Calibri" panose="020F0502020204030204" pitchFamily="34" charset="0"/>
              </a:rPr>
              <a:t>En esta opción no se “copian” los datos, Power BI consulta directamente los datos requeridos en las tablas previamente seleccionadas. Al ser una conexión en vivo no es necesario actualizar la conexión. Una limitación importante para esta opción es que todas las tablas requeridas deben provenir de una sola base de datos. </a:t>
            </a:r>
          </a:p>
          <a:p>
            <a:pPr algn="just"/>
            <a:endParaRPr lang="es-MX" sz="3000" dirty="0">
              <a:latin typeface="Calibri" panose="020F0502020204030204" pitchFamily="34" charset="0"/>
              <a:cs typeface="Calibri" panose="020F0502020204030204" pitchFamily="34" charset="0"/>
            </a:endParaRPr>
          </a:p>
          <a:p>
            <a:pPr algn="just"/>
            <a:r>
              <a:rPr lang="es-MX" sz="3000" b="1" dirty="0">
                <a:latin typeface="Calibri" panose="020F0502020204030204" pitchFamily="34" charset="0"/>
                <a:cs typeface="Calibri" panose="020F0502020204030204" pitchFamily="34" charset="0"/>
              </a:rPr>
              <a:t>Limitación en DAX: </a:t>
            </a:r>
            <a:r>
              <a:rPr lang="es-MX" sz="3000" dirty="0">
                <a:latin typeface="Calibri" panose="020F0502020204030204" pitchFamily="34" charset="0"/>
                <a:cs typeface="Calibri" panose="020F0502020204030204" pitchFamily="34" charset="0"/>
              </a:rPr>
              <a:t>No podemos usar todas las expresiones.</a:t>
            </a:r>
          </a:p>
          <a:p>
            <a:pPr algn="just"/>
            <a:r>
              <a:rPr lang="es-MX" sz="3000" b="1" dirty="0">
                <a:latin typeface="Calibri" panose="020F0502020204030204" pitchFamily="34" charset="0"/>
                <a:cs typeface="Calibri" panose="020F0502020204030204" pitchFamily="34" charset="0"/>
              </a:rPr>
              <a:t>Limitación en consultas: </a:t>
            </a:r>
            <a:r>
              <a:rPr lang="es-MX" sz="3000" dirty="0">
                <a:latin typeface="Calibri" panose="020F0502020204030204" pitchFamily="34" charset="0"/>
                <a:cs typeface="Calibri" panose="020F0502020204030204" pitchFamily="34" charset="0"/>
              </a:rPr>
              <a:t>La obtención de los datos va a depender del rendimiento de la base de datos.</a:t>
            </a:r>
            <a:endParaRPr lang="es-PE" sz="30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9314241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B73655-424E-4E9F-60BA-7CD7F9ED2347}"/>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9DDDE343-DC59-087C-103A-457BEBAAB19E}"/>
              </a:ext>
            </a:extLst>
          </p:cNvPr>
          <p:cNvSpPr txBox="1"/>
          <p:nvPr/>
        </p:nvSpPr>
        <p:spPr>
          <a:xfrm>
            <a:off x="4824484" y="3237933"/>
            <a:ext cx="8639033" cy="2585323"/>
          </a:xfrm>
          <a:prstGeom prst="rect">
            <a:avLst/>
          </a:prstGeom>
          <a:noFill/>
        </p:spPr>
        <p:txBody>
          <a:bodyPr wrap="square" rtlCol="0">
            <a:spAutoFit/>
          </a:bodyPr>
          <a:lstStyle/>
          <a:p>
            <a:pPr algn="ctr"/>
            <a:r>
              <a:rPr lang="es-PE" sz="8100" b="1" dirty="0"/>
              <a:t>Transformación de datos</a:t>
            </a:r>
          </a:p>
        </p:txBody>
      </p:sp>
    </p:spTree>
    <p:extLst>
      <p:ext uri="{BB962C8B-B14F-4D97-AF65-F5344CB8AC3E}">
        <p14:creationId xmlns:p14="http://schemas.microsoft.com/office/powerpoint/2010/main" val="3407838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lecha: pentágono 3">
            <a:extLst>
              <a:ext uri="{FF2B5EF4-FFF2-40B4-BE49-F238E27FC236}">
                <a16:creationId xmlns:a16="http://schemas.microsoft.com/office/drawing/2014/main" id="{44ADF747-5C99-2AC0-1E43-0795BBD0E45E}"/>
              </a:ext>
            </a:extLst>
          </p:cNvPr>
          <p:cNvSpPr/>
          <p:nvPr/>
        </p:nvSpPr>
        <p:spPr>
          <a:xfrm>
            <a:off x="1" y="385937"/>
            <a:ext cx="6407624" cy="1102212"/>
          </a:xfrm>
          <a:prstGeom prst="homePlat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PE" sz="5400" b="1" dirty="0">
                <a:latin typeface="Calibri" panose="020F0502020204030204" pitchFamily="34" charset="0"/>
                <a:cs typeface="Calibri" panose="020F0502020204030204" pitchFamily="34" charset="0"/>
              </a:rPr>
              <a:t>Transformaciones</a:t>
            </a:r>
          </a:p>
        </p:txBody>
      </p:sp>
      <p:sp>
        <p:nvSpPr>
          <p:cNvPr id="5" name="CuadroTexto 4">
            <a:extLst>
              <a:ext uri="{FF2B5EF4-FFF2-40B4-BE49-F238E27FC236}">
                <a16:creationId xmlns:a16="http://schemas.microsoft.com/office/drawing/2014/main" id="{52863FB1-A248-284F-4D79-E60738F46398}"/>
              </a:ext>
            </a:extLst>
          </p:cNvPr>
          <p:cNvSpPr txBox="1"/>
          <p:nvPr/>
        </p:nvSpPr>
        <p:spPr>
          <a:xfrm>
            <a:off x="249071" y="1418471"/>
            <a:ext cx="17789858" cy="8425383"/>
          </a:xfrm>
          <a:prstGeom prst="rect">
            <a:avLst/>
          </a:prstGeom>
          <a:noFill/>
        </p:spPr>
        <p:txBody>
          <a:bodyPr wrap="square" rtlCol="0">
            <a:spAutoFit/>
          </a:bodyPr>
          <a:lstStyle/>
          <a:p>
            <a:pPr marL="685800" indent="-685800">
              <a:buFont typeface="+mj-lt"/>
              <a:buAutoNum type="arabicPeriod"/>
            </a:pPr>
            <a:r>
              <a:rPr lang="es-PE" sz="2850" dirty="0">
                <a:latin typeface="Calibri" panose="020F0502020204030204" pitchFamily="34" charset="0"/>
                <a:cs typeface="Calibri" panose="020F0502020204030204" pitchFamily="34" charset="0"/>
              </a:rPr>
              <a:t>Primera fila como encabezado, tipo de valores en columnas, reemplazar valores, minúsculas, mayúsculas, recortar. </a:t>
            </a:r>
          </a:p>
          <a:p>
            <a:pPr marL="685800" indent="-685800">
              <a:buFont typeface="+mj-lt"/>
              <a:buAutoNum type="arabicPeriod"/>
            </a:pPr>
            <a:r>
              <a:rPr lang="es-PE" sz="2850" dirty="0">
                <a:latin typeface="Calibri" panose="020F0502020204030204" pitchFamily="34" charset="0"/>
                <a:cs typeface="Calibri" panose="020F0502020204030204" pitchFamily="34" charset="0"/>
              </a:rPr>
              <a:t>Eliminar columnas, Combinar columnas, duplicar columnas.</a:t>
            </a:r>
          </a:p>
          <a:p>
            <a:pPr marL="685800" indent="-685800">
              <a:buFont typeface="+mj-lt"/>
              <a:buAutoNum type="arabicPeriod"/>
            </a:pPr>
            <a:r>
              <a:rPr lang="es-PE" sz="2850" dirty="0">
                <a:latin typeface="Calibri" panose="020F0502020204030204" pitchFamily="34" charset="0"/>
                <a:cs typeface="Calibri" panose="020F0502020204030204" pitchFamily="34" charset="0"/>
              </a:rPr>
              <a:t>Dividir y extraer columnas.</a:t>
            </a:r>
          </a:p>
          <a:p>
            <a:pPr marL="685800" indent="-685800">
              <a:buFont typeface="+mj-lt"/>
              <a:buAutoNum type="arabicPeriod"/>
            </a:pPr>
            <a:r>
              <a:rPr lang="es-PE" sz="2850" dirty="0">
                <a:latin typeface="Calibri" panose="020F0502020204030204" pitchFamily="34" charset="0"/>
                <a:cs typeface="Calibri" panose="020F0502020204030204" pitchFamily="34" charset="0"/>
              </a:rPr>
              <a:t>Crear columnas a partir de ejemplos.</a:t>
            </a:r>
          </a:p>
          <a:p>
            <a:pPr marL="685800" indent="-685800">
              <a:buFont typeface="+mj-lt"/>
              <a:buAutoNum type="arabicPeriod"/>
            </a:pPr>
            <a:r>
              <a:rPr lang="es-PE" sz="2850" dirty="0">
                <a:latin typeface="Calibri" panose="020F0502020204030204" pitchFamily="34" charset="0"/>
                <a:cs typeface="Calibri" panose="020F0502020204030204" pitchFamily="34" charset="0"/>
              </a:rPr>
              <a:t>Rellenar celdas vacías.</a:t>
            </a:r>
          </a:p>
          <a:p>
            <a:pPr marL="685800" indent="-685800">
              <a:buFont typeface="+mj-lt"/>
              <a:buAutoNum type="arabicPeriod"/>
            </a:pPr>
            <a:r>
              <a:rPr lang="es-PE" sz="2850" dirty="0">
                <a:latin typeface="Calibri" panose="020F0502020204030204" pitchFamily="34" charset="0"/>
                <a:cs typeface="Calibri" panose="020F0502020204030204" pitchFamily="34" charset="0"/>
              </a:rPr>
              <a:t>Eliminar filas superiores y anexar consultas.</a:t>
            </a:r>
          </a:p>
          <a:p>
            <a:pPr marL="685800" indent="-685800">
              <a:buFont typeface="+mj-lt"/>
              <a:buAutoNum type="arabicPeriod"/>
            </a:pPr>
            <a:r>
              <a:rPr lang="es-PE" sz="2850" dirty="0">
                <a:latin typeface="Calibri" panose="020F0502020204030204" pitchFamily="34" charset="0"/>
                <a:cs typeface="Calibri" panose="020F0502020204030204" pitchFamily="34" charset="0"/>
              </a:rPr>
              <a:t>Combinar consultas.</a:t>
            </a:r>
          </a:p>
          <a:p>
            <a:pPr marL="685800" indent="-685800">
              <a:buFont typeface="+mj-lt"/>
              <a:buAutoNum type="arabicPeriod"/>
            </a:pPr>
            <a:r>
              <a:rPr lang="es-PE" sz="2850" dirty="0">
                <a:latin typeface="Calibri" panose="020F0502020204030204" pitchFamily="34" charset="0"/>
                <a:cs typeface="Calibri" panose="020F0502020204030204" pitchFamily="34" charset="0"/>
              </a:rPr>
              <a:t>Anular dinamización de columnas.</a:t>
            </a:r>
          </a:p>
          <a:p>
            <a:pPr marL="685800" indent="-685800">
              <a:buFont typeface="+mj-lt"/>
              <a:buAutoNum type="arabicPeriod"/>
            </a:pPr>
            <a:r>
              <a:rPr lang="es-PE" sz="2850" dirty="0">
                <a:latin typeface="Calibri" panose="020F0502020204030204" pitchFamily="34" charset="0"/>
                <a:cs typeface="Calibri" panose="020F0502020204030204" pitchFamily="34" charset="0"/>
              </a:rPr>
              <a:t>Dinamizar columnas.</a:t>
            </a:r>
          </a:p>
          <a:p>
            <a:pPr marL="685800" indent="-685800">
              <a:buFont typeface="+mj-lt"/>
              <a:buAutoNum type="arabicPeriod"/>
            </a:pPr>
            <a:r>
              <a:rPr lang="es-PE" sz="2850" dirty="0">
                <a:latin typeface="Calibri" panose="020F0502020204030204" pitchFamily="34" charset="0"/>
                <a:cs typeface="Calibri" panose="020F0502020204030204" pitchFamily="34" charset="0"/>
              </a:rPr>
              <a:t>Agrupar filas.</a:t>
            </a:r>
          </a:p>
          <a:p>
            <a:pPr marL="685800" indent="-685800">
              <a:buFont typeface="+mj-lt"/>
              <a:buAutoNum type="arabicPeriod"/>
            </a:pPr>
            <a:r>
              <a:rPr lang="es-PE" sz="2850" dirty="0">
                <a:latin typeface="Calibri" panose="020F0502020204030204" pitchFamily="34" charset="0"/>
                <a:cs typeface="Calibri" panose="020F0502020204030204" pitchFamily="34" charset="0"/>
              </a:rPr>
              <a:t>Concatenar valores agrupados.</a:t>
            </a:r>
          </a:p>
          <a:p>
            <a:pPr marL="685800" indent="-685800">
              <a:buFont typeface="+mj-lt"/>
              <a:buAutoNum type="arabicPeriod"/>
            </a:pPr>
            <a:r>
              <a:rPr lang="es-PE" sz="2850" dirty="0">
                <a:latin typeface="Calibri" panose="020F0502020204030204" pitchFamily="34" charset="0"/>
                <a:cs typeface="Calibri" panose="020F0502020204030204" pitchFamily="34" charset="0"/>
              </a:rPr>
              <a:t>Convertir reporte de columna en tabla</a:t>
            </a:r>
          </a:p>
          <a:p>
            <a:pPr marL="685800" indent="-685800">
              <a:buFont typeface="+mj-lt"/>
              <a:buAutoNum type="arabicPeriod"/>
            </a:pPr>
            <a:r>
              <a:rPr lang="es-PE" sz="2850" dirty="0">
                <a:latin typeface="Calibri" panose="020F0502020204030204" pitchFamily="34" charset="0"/>
                <a:cs typeface="Calibri" panose="020F0502020204030204" pitchFamily="34" charset="0"/>
              </a:rPr>
              <a:t>Importar datos de carpetas</a:t>
            </a:r>
          </a:p>
          <a:p>
            <a:pPr marL="685800" indent="-685800">
              <a:buFont typeface="+mj-lt"/>
              <a:buAutoNum type="arabicPeriod"/>
            </a:pPr>
            <a:r>
              <a:rPr lang="es-PE" sz="2850" dirty="0">
                <a:latin typeface="Calibri" panose="020F0502020204030204" pitchFamily="34" charset="0"/>
                <a:cs typeface="Calibri" panose="020F0502020204030204" pitchFamily="34" charset="0"/>
              </a:rPr>
              <a:t>Columna condicional</a:t>
            </a:r>
          </a:p>
          <a:p>
            <a:pPr marL="685800" indent="-685800">
              <a:buFont typeface="+mj-lt"/>
              <a:buAutoNum type="arabicPeriod"/>
            </a:pPr>
            <a:r>
              <a:rPr lang="es-PE" sz="2850" dirty="0">
                <a:latin typeface="Calibri" panose="020F0502020204030204" pitchFamily="34" charset="0"/>
                <a:cs typeface="Calibri" panose="020F0502020204030204" pitchFamily="34" charset="0"/>
              </a:rPr>
              <a:t>Referenciar y duplicar consultas</a:t>
            </a:r>
          </a:p>
          <a:p>
            <a:pPr marL="685800" indent="-685800">
              <a:buFont typeface="+mj-lt"/>
              <a:buAutoNum type="arabicPeriod"/>
            </a:pPr>
            <a:r>
              <a:rPr lang="es-PE" sz="2850" dirty="0">
                <a:latin typeface="Calibri" panose="020F0502020204030204" pitchFamily="34" charset="0"/>
                <a:cs typeface="Calibri" panose="020F0502020204030204" pitchFamily="34" charset="0"/>
              </a:rPr>
              <a:t>Creación de parámetro</a:t>
            </a:r>
          </a:p>
          <a:p>
            <a:pPr marL="685800" indent="-685800">
              <a:buFont typeface="+mj-lt"/>
              <a:buAutoNum type="arabicPeriod"/>
            </a:pPr>
            <a:r>
              <a:rPr lang="es-PE" sz="2850" dirty="0">
                <a:latin typeface="Calibri" panose="020F0502020204030204" pitchFamily="34" charset="0"/>
                <a:cs typeface="Calibri" panose="020F0502020204030204" pitchFamily="34" charset="0"/>
              </a:rPr>
              <a:t>Crear tabla de calendario (</a:t>
            </a:r>
            <a:r>
              <a:rPr lang="es-PE" sz="2850" dirty="0" err="1">
                <a:latin typeface="Calibri" panose="020F0502020204030204" pitchFamily="34" charset="0"/>
                <a:cs typeface="Calibri" panose="020F0502020204030204" pitchFamily="34" charset="0"/>
              </a:rPr>
              <a:t>List.Dates</a:t>
            </a:r>
            <a:r>
              <a:rPr lang="es-PE" sz="2850" dirty="0">
                <a:latin typeface="Calibri" panose="020F0502020204030204" pitchFamily="34" charset="0"/>
                <a:cs typeface="Calibri" panose="020F0502020204030204" pitchFamily="34" charset="0"/>
              </a:rPr>
              <a:t>)</a:t>
            </a:r>
          </a:p>
          <a:p>
            <a:pPr marL="685800" indent="-685800">
              <a:buFont typeface="+mj-lt"/>
              <a:buAutoNum type="arabicPeriod"/>
            </a:pPr>
            <a:r>
              <a:rPr lang="es-PE" sz="2850" dirty="0">
                <a:latin typeface="Calibri" panose="020F0502020204030204" pitchFamily="34" charset="0"/>
                <a:cs typeface="Calibri" panose="020F0502020204030204" pitchFamily="34" charset="0"/>
              </a:rPr>
              <a:t>Limpiar espacios excesivos entre palabras: </a:t>
            </a:r>
            <a:r>
              <a:rPr lang="es-PE" sz="2850" dirty="0" err="1">
                <a:latin typeface="Calibri" panose="020F0502020204030204" pitchFamily="34" charset="0"/>
                <a:cs typeface="Calibri" panose="020F0502020204030204" pitchFamily="34" charset="0"/>
              </a:rPr>
              <a:t>let</a:t>
            </a:r>
            <a:r>
              <a:rPr lang="es-PE" sz="2850" dirty="0">
                <a:latin typeface="Calibri" panose="020F0502020204030204" pitchFamily="34" charset="0"/>
                <a:cs typeface="Calibri" panose="020F0502020204030204" pitchFamily="34" charset="0"/>
              </a:rPr>
              <a:t> a = </a:t>
            </a:r>
            <a:r>
              <a:rPr lang="es-PE" sz="2850" dirty="0" err="1">
                <a:latin typeface="Calibri" panose="020F0502020204030204" pitchFamily="34" charset="0"/>
                <a:cs typeface="Calibri" panose="020F0502020204030204" pitchFamily="34" charset="0"/>
              </a:rPr>
              <a:t>Text.Trim</a:t>
            </a:r>
            <a:r>
              <a:rPr lang="es-PE" sz="2850" dirty="0">
                <a:latin typeface="Calibri" panose="020F0502020204030204" pitchFamily="34" charset="0"/>
                <a:cs typeface="Calibri" panose="020F0502020204030204" pitchFamily="34" charset="0"/>
              </a:rPr>
              <a:t>([</a:t>
            </a:r>
            <a:r>
              <a:rPr lang="es-PE" sz="2850" dirty="0" err="1">
                <a:latin typeface="Calibri" panose="020F0502020204030204" pitchFamily="34" charset="0"/>
                <a:cs typeface="Calibri" panose="020F0502020204030204" pitchFamily="34" charset="0"/>
              </a:rPr>
              <a:t>text</a:t>
            </a:r>
            <a:r>
              <a:rPr lang="es-PE" sz="2850" dirty="0">
                <a:latin typeface="Calibri" panose="020F0502020204030204" pitchFamily="34" charset="0"/>
                <a:cs typeface="Calibri" panose="020F0502020204030204" pitchFamily="34" charset="0"/>
              </a:rPr>
              <a:t>]), b = </a:t>
            </a:r>
            <a:r>
              <a:rPr lang="es-PE" sz="2850" dirty="0" err="1">
                <a:latin typeface="Calibri" panose="020F0502020204030204" pitchFamily="34" charset="0"/>
                <a:cs typeface="Calibri" panose="020F0502020204030204" pitchFamily="34" charset="0"/>
              </a:rPr>
              <a:t>Text.Split</a:t>
            </a:r>
            <a:r>
              <a:rPr lang="es-PE" sz="2850" dirty="0">
                <a:latin typeface="Calibri" panose="020F0502020204030204" pitchFamily="34" charset="0"/>
                <a:cs typeface="Calibri" panose="020F0502020204030204" pitchFamily="34" charset="0"/>
              </a:rPr>
              <a:t> (a, " "), c = </a:t>
            </a:r>
            <a:r>
              <a:rPr lang="es-PE" sz="2850" dirty="0" err="1">
                <a:latin typeface="Calibri" panose="020F0502020204030204" pitchFamily="34" charset="0"/>
                <a:cs typeface="Calibri" panose="020F0502020204030204" pitchFamily="34" charset="0"/>
              </a:rPr>
              <a:t>List.Select</a:t>
            </a:r>
            <a:r>
              <a:rPr lang="es-PE" sz="2850" dirty="0">
                <a:latin typeface="Calibri" panose="020F0502020204030204" pitchFamily="34" charset="0"/>
                <a:cs typeface="Calibri" panose="020F0502020204030204" pitchFamily="34" charset="0"/>
              </a:rPr>
              <a:t> (b, </a:t>
            </a:r>
            <a:r>
              <a:rPr lang="es-PE" sz="2850" dirty="0" err="1">
                <a:latin typeface="Calibri" panose="020F0502020204030204" pitchFamily="34" charset="0"/>
                <a:cs typeface="Calibri" panose="020F0502020204030204" pitchFamily="34" charset="0"/>
              </a:rPr>
              <a:t>each</a:t>
            </a:r>
            <a:r>
              <a:rPr lang="es-PE" sz="2850" dirty="0">
                <a:latin typeface="Calibri" panose="020F0502020204030204" pitchFamily="34" charset="0"/>
                <a:cs typeface="Calibri" panose="020F0502020204030204" pitchFamily="34" charset="0"/>
              </a:rPr>
              <a:t> _&lt;&gt;"") in </a:t>
            </a:r>
            <a:r>
              <a:rPr lang="es-PE" sz="2850" dirty="0" err="1">
                <a:latin typeface="Calibri" panose="020F0502020204030204" pitchFamily="34" charset="0"/>
                <a:cs typeface="Calibri" panose="020F0502020204030204" pitchFamily="34" charset="0"/>
              </a:rPr>
              <a:t>Text.Combine</a:t>
            </a:r>
            <a:r>
              <a:rPr lang="es-PE" sz="2850" dirty="0">
                <a:latin typeface="Calibri" panose="020F0502020204030204" pitchFamily="34" charset="0"/>
                <a:cs typeface="Calibri" panose="020F0502020204030204" pitchFamily="34" charset="0"/>
              </a:rPr>
              <a:t>(c," ")</a:t>
            </a:r>
          </a:p>
        </p:txBody>
      </p:sp>
    </p:spTree>
    <p:extLst>
      <p:ext uri="{BB962C8B-B14F-4D97-AF65-F5344CB8AC3E}">
        <p14:creationId xmlns:p14="http://schemas.microsoft.com/office/powerpoint/2010/main" val="16301831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3E9612-7618-73D3-5796-0EFFC21085F8}"/>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7F4EF16C-6B15-BCC4-6245-ADD05BDC8399}"/>
              </a:ext>
            </a:extLst>
          </p:cNvPr>
          <p:cNvSpPr txBox="1"/>
          <p:nvPr/>
        </p:nvSpPr>
        <p:spPr>
          <a:xfrm>
            <a:off x="4824484" y="3237933"/>
            <a:ext cx="8639033" cy="2585323"/>
          </a:xfrm>
          <a:prstGeom prst="rect">
            <a:avLst/>
          </a:prstGeom>
          <a:noFill/>
        </p:spPr>
        <p:txBody>
          <a:bodyPr wrap="square" rtlCol="0">
            <a:spAutoFit/>
          </a:bodyPr>
          <a:lstStyle/>
          <a:p>
            <a:pPr algn="ctr"/>
            <a:r>
              <a:rPr lang="es-PE" sz="8100" b="1" dirty="0"/>
              <a:t>Modelamiento de datos</a:t>
            </a:r>
          </a:p>
        </p:txBody>
      </p:sp>
    </p:spTree>
    <p:extLst>
      <p:ext uri="{BB962C8B-B14F-4D97-AF65-F5344CB8AC3E}">
        <p14:creationId xmlns:p14="http://schemas.microsoft.com/office/powerpoint/2010/main" val="4803119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A518AE-EA3B-A36B-C65A-AB9D915ACD1B}"/>
            </a:ext>
          </a:extLst>
        </p:cNvPr>
        <p:cNvGrpSpPr/>
        <p:nvPr/>
      </p:nvGrpSpPr>
      <p:grpSpPr>
        <a:xfrm>
          <a:off x="0" y="0"/>
          <a:ext cx="0" cy="0"/>
          <a:chOff x="0" y="0"/>
          <a:chExt cx="0" cy="0"/>
        </a:xfrm>
      </p:grpSpPr>
      <p:sp>
        <p:nvSpPr>
          <p:cNvPr id="4" name="Flecha: pentágono 3">
            <a:extLst>
              <a:ext uri="{FF2B5EF4-FFF2-40B4-BE49-F238E27FC236}">
                <a16:creationId xmlns:a16="http://schemas.microsoft.com/office/drawing/2014/main" id="{1168F04C-EECD-8B15-4B92-93749E9F1D1A}"/>
              </a:ext>
            </a:extLst>
          </p:cNvPr>
          <p:cNvSpPr/>
          <p:nvPr/>
        </p:nvSpPr>
        <p:spPr>
          <a:xfrm>
            <a:off x="1" y="733961"/>
            <a:ext cx="6080078" cy="1102212"/>
          </a:xfrm>
          <a:prstGeom prst="homePlat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PE" sz="5400" b="1" dirty="0">
                <a:latin typeface="Calibri" panose="020F0502020204030204" pitchFamily="34" charset="0"/>
                <a:cs typeface="Calibri" panose="020F0502020204030204" pitchFamily="34" charset="0"/>
              </a:rPr>
              <a:t>Modelo de datos</a:t>
            </a:r>
          </a:p>
        </p:txBody>
      </p:sp>
      <p:sp>
        <p:nvSpPr>
          <p:cNvPr id="5" name="CuadroTexto 4">
            <a:extLst>
              <a:ext uri="{FF2B5EF4-FFF2-40B4-BE49-F238E27FC236}">
                <a16:creationId xmlns:a16="http://schemas.microsoft.com/office/drawing/2014/main" id="{D6B973BD-B62C-B7CE-7C93-B1BFA28E4B73}"/>
              </a:ext>
            </a:extLst>
          </p:cNvPr>
          <p:cNvSpPr txBox="1"/>
          <p:nvPr/>
        </p:nvSpPr>
        <p:spPr>
          <a:xfrm>
            <a:off x="11116102" y="3303834"/>
            <a:ext cx="6571397" cy="4708981"/>
          </a:xfrm>
          <a:prstGeom prst="rect">
            <a:avLst/>
          </a:prstGeom>
          <a:noFill/>
        </p:spPr>
        <p:txBody>
          <a:bodyPr wrap="square" rtlCol="0">
            <a:spAutoFit/>
          </a:bodyPr>
          <a:lstStyle/>
          <a:p>
            <a:pPr algn="just"/>
            <a:r>
              <a:rPr lang="es-MX" sz="3000" dirty="0">
                <a:latin typeface="Calibri" panose="020F0502020204030204" pitchFamily="34" charset="0"/>
                <a:cs typeface="Calibri" panose="020F0502020204030204" pitchFamily="34" charset="0"/>
              </a:rPr>
              <a:t>Un modelo de datos es una colección de tablas y relaciones, que permiten crear una estructura lógica de información.</a:t>
            </a:r>
          </a:p>
          <a:p>
            <a:pPr algn="just"/>
            <a:r>
              <a:rPr lang="es-MX" sz="3000" dirty="0">
                <a:latin typeface="Calibri" panose="020F0502020204030204" pitchFamily="34" charset="0"/>
                <a:cs typeface="Calibri" panose="020F0502020204030204" pitchFamily="34" charset="0"/>
              </a:rPr>
              <a:t>Poder modelar datos nos brinda la capacidad de definir relaciones entre diferentes tablas que tengan un </a:t>
            </a:r>
            <a:r>
              <a:rPr lang="es-MX" sz="3000" b="1" dirty="0">
                <a:latin typeface="Calibri" panose="020F0502020204030204" pitchFamily="34" charset="0"/>
                <a:cs typeface="Calibri" panose="020F0502020204030204" pitchFamily="34" charset="0"/>
              </a:rPr>
              <a:t>conector en común</a:t>
            </a:r>
            <a:r>
              <a:rPr lang="es-MX" sz="3000" dirty="0">
                <a:latin typeface="Calibri" panose="020F0502020204030204" pitchFamily="34" charset="0"/>
                <a:cs typeface="Calibri" panose="020F0502020204030204" pitchFamily="34" charset="0"/>
              </a:rPr>
              <a:t>. Power BI, permite que hagamos el modelado de manera sencilla e intuitiva, pues nos ofrece un entorno fácil de manipular y entender.</a:t>
            </a:r>
            <a:endParaRPr lang="es-PE" sz="3000" dirty="0">
              <a:latin typeface="Calibri" panose="020F0502020204030204" pitchFamily="34" charset="0"/>
              <a:cs typeface="Calibri" panose="020F0502020204030204" pitchFamily="34" charset="0"/>
            </a:endParaRPr>
          </a:p>
        </p:txBody>
      </p:sp>
      <p:pic>
        <p:nvPicPr>
          <p:cNvPr id="6" name="Imagen 5">
            <a:extLst>
              <a:ext uri="{FF2B5EF4-FFF2-40B4-BE49-F238E27FC236}">
                <a16:creationId xmlns:a16="http://schemas.microsoft.com/office/drawing/2014/main" id="{E78D9F69-4579-4514-228A-9A253D6E4696}"/>
              </a:ext>
            </a:extLst>
          </p:cNvPr>
          <p:cNvPicPr>
            <a:picLocks noChangeAspect="1"/>
          </p:cNvPicPr>
          <p:nvPr/>
        </p:nvPicPr>
        <p:blipFill>
          <a:blip r:embed="rId2"/>
          <a:stretch>
            <a:fillRect/>
          </a:stretch>
        </p:blipFill>
        <p:spPr>
          <a:xfrm>
            <a:off x="600503" y="2881014"/>
            <a:ext cx="10174407" cy="5857734"/>
          </a:xfrm>
          <a:prstGeom prst="rect">
            <a:avLst/>
          </a:prstGeom>
          <a:effectLst>
            <a:glow rad="63500">
              <a:schemeClr val="accent4">
                <a:satMod val="175000"/>
                <a:alpha val="40000"/>
              </a:schemeClr>
            </a:glow>
            <a:outerShdw blurRad="50800" dist="38100" dir="18900000" algn="bl" rotWithShape="0">
              <a:prstClr val="black">
                <a:alpha val="40000"/>
              </a:prstClr>
            </a:outerShdw>
          </a:effectLst>
        </p:spPr>
      </p:pic>
    </p:spTree>
    <p:extLst>
      <p:ext uri="{BB962C8B-B14F-4D97-AF65-F5344CB8AC3E}">
        <p14:creationId xmlns:p14="http://schemas.microsoft.com/office/powerpoint/2010/main" val="32351846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14"/>
          <p:cNvSpPr/>
          <p:nvPr/>
        </p:nvSpPr>
        <p:spPr>
          <a:xfrm>
            <a:off x="3861682" y="571235"/>
            <a:ext cx="10564636" cy="8663002"/>
          </a:xfrm>
          <a:custGeom>
            <a:avLst/>
            <a:gdLst/>
            <a:ahLst/>
            <a:cxnLst/>
            <a:rect l="l" t="t" r="r" b="b"/>
            <a:pathLst>
              <a:path w="10564636" h="8663002" extrusionOk="0">
                <a:moveTo>
                  <a:pt x="0" y="0"/>
                </a:moveTo>
                <a:lnTo>
                  <a:pt x="10564636" y="0"/>
                </a:lnTo>
                <a:lnTo>
                  <a:pt x="10564636" y="8663002"/>
                </a:lnTo>
                <a:lnTo>
                  <a:pt x="0" y="8663002"/>
                </a:lnTo>
                <a:lnTo>
                  <a:pt x="0" y="0"/>
                </a:lnTo>
                <a:close/>
              </a:path>
            </a:pathLst>
          </a:custGeom>
          <a:blipFill rotWithShape="1">
            <a:blip r:embed="rId3">
              <a:alphaModFix/>
            </a:blip>
            <a:stretch>
              <a:fillRect/>
            </a:stretch>
          </a:blipFill>
          <a:ln>
            <a:noFill/>
          </a:ln>
        </p:spPr>
        <p:txBody>
          <a:bodyPr/>
          <a:lstStyle/>
          <a:p>
            <a:endParaRPr lang="es-GT"/>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Google Shape;232;p15"/>
          <p:cNvSpPr/>
          <p:nvPr/>
        </p:nvSpPr>
        <p:spPr>
          <a:xfrm>
            <a:off x="814445" y="0"/>
            <a:ext cx="16659109" cy="10287000"/>
          </a:xfrm>
          <a:custGeom>
            <a:avLst/>
            <a:gdLst/>
            <a:ahLst/>
            <a:cxnLst/>
            <a:rect l="l" t="t" r="r" b="b"/>
            <a:pathLst>
              <a:path w="16659109" h="10287000" extrusionOk="0">
                <a:moveTo>
                  <a:pt x="0" y="0"/>
                </a:moveTo>
                <a:lnTo>
                  <a:pt x="16659110" y="0"/>
                </a:lnTo>
                <a:lnTo>
                  <a:pt x="16659110" y="10287000"/>
                </a:lnTo>
                <a:lnTo>
                  <a:pt x="0" y="10287000"/>
                </a:lnTo>
                <a:lnTo>
                  <a:pt x="0" y="0"/>
                </a:lnTo>
                <a:close/>
              </a:path>
            </a:pathLst>
          </a:custGeom>
          <a:blipFill rotWithShape="1">
            <a:blip r:embed="rId3">
              <a:alphaModFix/>
            </a:blip>
            <a:stretch>
              <a:fillRect/>
            </a:stretch>
          </a:blipFill>
          <a:ln>
            <a:noFill/>
          </a:ln>
        </p:spPr>
        <p:txBody>
          <a:bodyPr/>
          <a:lstStyle/>
          <a:p>
            <a:endParaRPr lang="es-GT"/>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70</TotalTime>
  <Words>752</Words>
  <Application>Microsoft Office PowerPoint</Application>
  <PresentationFormat>Personalizado</PresentationFormat>
  <Paragraphs>98</Paragraphs>
  <Slides>17</Slides>
  <Notes>5</Notes>
  <HiddenSlides>0</HiddenSlides>
  <MMClips>0</MMClips>
  <ScaleCrop>false</ScaleCrop>
  <HeadingPairs>
    <vt:vector size="8" baseType="variant">
      <vt:variant>
        <vt:lpstr>Fuentes usadas</vt:lpstr>
      </vt:variant>
      <vt:variant>
        <vt:i4>5</vt:i4>
      </vt:variant>
      <vt:variant>
        <vt:lpstr>Tema</vt:lpstr>
      </vt:variant>
      <vt:variant>
        <vt:i4>1</vt:i4>
      </vt:variant>
      <vt:variant>
        <vt:lpstr>Servidores OLE incrustados</vt:lpstr>
      </vt:variant>
      <vt:variant>
        <vt:i4>1</vt:i4>
      </vt:variant>
      <vt:variant>
        <vt:lpstr>Títulos de diapositiva</vt:lpstr>
      </vt:variant>
      <vt:variant>
        <vt:i4>17</vt:i4>
      </vt:variant>
    </vt:vector>
  </HeadingPairs>
  <TitlesOfParts>
    <vt:vector size="24" baseType="lpstr">
      <vt:lpstr>Calibri</vt:lpstr>
      <vt:lpstr>Wingdings</vt:lpstr>
      <vt:lpstr>Open Sans</vt:lpstr>
      <vt:lpstr>Arial</vt:lpstr>
      <vt:lpstr>Trebuchet MS</vt:lpstr>
      <vt:lpstr>Office Theme</vt:lpstr>
      <vt:lpstr>Microsoft Excel Worksheet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Oscar Eduardo Morales Girón</cp:lastModifiedBy>
  <cp:revision>20</cp:revision>
  <dcterms:created xsi:type="dcterms:W3CDTF">2006-08-16T00:00:00Z</dcterms:created>
  <dcterms:modified xsi:type="dcterms:W3CDTF">2026-05-10T07:28:01Z</dcterms:modified>
</cp:coreProperties>
</file>