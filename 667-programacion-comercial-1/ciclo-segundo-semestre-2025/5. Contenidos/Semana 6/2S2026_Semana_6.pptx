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9" r:id="rId4"/>
    <p:sldId id="304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5" r:id="rId14"/>
    <p:sldId id="306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69" r:id="rId42"/>
    <p:sldId id="270" r:id="rId43"/>
  </p:sldIdLst>
  <p:sldSz cx="18288000" cy="10287000"/>
  <p:notesSz cx="6858000" cy="9144000"/>
  <p:embeddedFontLst>
    <p:embeddedFont>
      <p:font typeface="Arial Black" panose="020B0A04020102020204" pitchFamily="34" charset="0"/>
      <p:bold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Trebuchet MS" panose="020B0603020202020204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53" y="7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ACE19-98C2-4276-A770-7C9E2E73A42E}" type="slidenum">
              <a:rPr lang="es-GT" smtClean="0"/>
              <a:t>25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35331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494525" y="8207944"/>
            <a:ext cx="1793875" cy="2079625"/>
          </a:xfrm>
          <a:custGeom>
            <a:avLst/>
            <a:gdLst/>
            <a:ahLst/>
            <a:cxnLst/>
            <a:rect l="l" t="t" r="r" b="b"/>
            <a:pathLst>
              <a:path w="1793875" h="2079625">
                <a:moveTo>
                  <a:pt x="1793474" y="0"/>
                </a:moveTo>
                <a:lnTo>
                  <a:pt x="1793474" y="2079055"/>
                </a:lnTo>
                <a:lnTo>
                  <a:pt x="285210" y="2079055"/>
                </a:lnTo>
                <a:lnTo>
                  <a:pt x="0" y="1793844"/>
                </a:lnTo>
                <a:lnTo>
                  <a:pt x="1793474" y="0"/>
                </a:lnTo>
                <a:close/>
              </a:path>
            </a:pathLst>
          </a:custGeom>
          <a:solidFill>
            <a:srgbClr val="407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935176" y="8933065"/>
            <a:ext cx="1557020" cy="1354455"/>
          </a:xfrm>
          <a:custGeom>
            <a:avLst/>
            <a:gdLst/>
            <a:ahLst/>
            <a:cxnLst/>
            <a:rect l="l" t="t" r="r" b="b"/>
            <a:pathLst>
              <a:path w="1557019" h="1354454">
                <a:moveTo>
                  <a:pt x="1556645" y="777983"/>
                </a:moveTo>
                <a:lnTo>
                  <a:pt x="980694" y="1353934"/>
                </a:lnTo>
                <a:lnTo>
                  <a:pt x="575625" y="1353934"/>
                </a:lnTo>
                <a:lnTo>
                  <a:pt x="0" y="777983"/>
                </a:lnTo>
                <a:lnTo>
                  <a:pt x="777983" y="0"/>
                </a:lnTo>
                <a:lnTo>
                  <a:pt x="1556645" y="777983"/>
                </a:lnTo>
                <a:close/>
              </a:path>
            </a:pathLst>
          </a:custGeom>
          <a:solidFill>
            <a:srgbClr val="40785E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373045" y="9048949"/>
            <a:ext cx="2475865" cy="1238250"/>
          </a:xfrm>
          <a:custGeom>
            <a:avLst/>
            <a:gdLst/>
            <a:ahLst/>
            <a:cxnLst/>
            <a:rect l="l" t="t" r="r" b="b"/>
            <a:pathLst>
              <a:path w="2475865" h="1238250">
                <a:moveTo>
                  <a:pt x="2475421" y="1238049"/>
                </a:moveTo>
                <a:lnTo>
                  <a:pt x="0" y="1238049"/>
                </a:lnTo>
                <a:lnTo>
                  <a:pt x="1237372" y="0"/>
                </a:lnTo>
                <a:lnTo>
                  <a:pt x="2475421" y="1238049"/>
                </a:lnTo>
                <a:close/>
              </a:path>
            </a:pathLst>
          </a:custGeom>
          <a:solidFill>
            <a:srgbClr val="BE120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038451" y="5185819"/>
            <a:ext cx="2249805" cy="4498340"/>
          </a:xfrm>
          <a:custGeom>
            <a:avLst/>
            <a:gdLst/>
            <a:ahLst/>
            <a:cxnLst/>
            <a:rect l="l" t="t" r="r" b="b"/>
            <a:pathLst>
              <a:path w="2249805" h="4498340">
                <a:moveTo>
                  <a:pt x="2249547" y="0"/>
                </a:moveTo>
                <a:lnTo>
                  <a:pt x="2249547" y="4497786"/>
                </a:lnTo>
                <a:lnTo>
                  <a:pt x="0" y="2248893"/>
                </a:lnTo>
                <a:lnTo>
                  <a:pt x="2249547" y="0"/>
                </a:lnTo>
                <a:close/>
              </a:path>
            </a:pathLst>
          </a:custGeom>
          <a:solidFill>
            <a:srgbClr val="004653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8210427" y="7601107"/>
            <a:ext cx="78105" cy="155575"/>
          </a:xfrm>
          <a:custGeom>
            <a:avLst/>
            <a:gdLst/>
            <a:ahLst/>
            <a:cxnLst/>
            <a:rect l="l" t="t" r="r" b="b"/>
            <a:pathLst>
              <a:path w="78105" h="155575">
                <a:moveTo>
                  <a:pt x="77572" y="0"/>
                </a:moveTo>
                <a:lnTo>
                  <a:pt x="77572" y="155145"/>
                </a:lnTo>
                <a:lnTo>
                  <a:pt x="0" y="77572"/>
                </a:lnTo>
                <a:lnTo>
                  <a:pt x="77572" y="0"/>
                </a:lnTo>
                <a:close/>
              </a:path>
            </a:pathLst>
          </a:custGeom>
          <a:solidFill>
            <a:srgbClr val="004AAC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0"/>
            <a:ext cx="1185545" cy="1186180"/>
          </a:xfrm>
          <a:custGeom>
            <a:avLst/>
            <a:gdLst/>
            <a:ahLst/>
            <a:cxnLst/>
            <a:rect l="l" t="t" r="r" b="b"/>
            <a:pathLst>
              <a:path w="1185545" h="1186180">
                <a:moveTo>
                  <a:pt x="0" y="1185897"/>
                </a:moveTo>
                <a:lnTo>
                  <a:pt x="0" y="0"/>
                </a:lnTo>
                <a:lnTo>
                  <a:pt x="1185493" y="0"/>
                </a:lnTo>
                <a:lnTo>
                  <a:pt x="0" y="1185897"/>
                </a:lnTo>
                <a:close/>
              </a:path>
            </a:pathLst>
          </a:custGeom>
          <a:solidFill>
            <a:srgbClr val="407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230847" y="0"/>
            <a:ext cx="805180" cy="402590"/>
          </a:xfrm>
          <a:custGeom>
            <a:avLst/>
            <a:gdLst/>
            <a:ahLst/>
            <a:cxnLst/>
            <a:rect l="l" t="t" r="r" b="b"/>
            <a:pathLst>
              <a:path w="805180" h="402590">
                <a:moveTo>
                  <a:pt x="0" y="0"/>
                </a:moveTo>
                <a:lnTo>
                  <a:pt x="804728" y="0"/>
                </a:lnTo>
                <a:lnTo>
                  <a:pt x="402703" y="402025"/>
                </a:lnTo>
                <a:lnTo>
                  <a:pt x="0" y="0"/>
                </a:lnTo>
                <a:close/>
              </a:path>
            </a:pathLst>
          </a:custGeom>
          <a:solidFill>
            <a:srgbClr val="40785E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50153" y="0"/>
            <a:ext cx="572135" cy="286385"/>
          </a:xfrm>
          <a:custGeom>
            <a:avLst/>
            <a:gdLst/>
            <a:ahLst/>
            <a:cxnLst/>
            <a:rect l="l" t="t" r="r" b="b"/>
            <a:pathLst>
              <a:path w="572135" h="286385">
                <a:moveTo>
                  <a:pt x="0" y="0"/>
                </a:moveTo>
                <a:lnTo>
                  <a:pt x="572029" y="0"/>
                </a:lnTo>
                <a:lnTo>
                  <a:pt x="286141" y="286141"/>
                </a:lnTo>
                <a:lnTo>
                  <a:pt x="0" y="0"/>
                </a:lnTo>
                <a:close/>
              </a:path>
            </a:pathLst>
          </a:custGeom>
          <a:solidFill>
            <a:srgbClr val="BE120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2308860" cy="4187825"/>
          </a:xfrm>
          <a:custGeom>
            <a:avLst/>
            <a:gdLst/>
            <a:ahLst/>
            <a:cxnLst/>
            <a:rect l="l" t="t" r="r" b="b"/>
            <a:pathLst>
              <a:path w="2308860" h="4187825">
                <a:moveTo>
                  <a:pt x="0" y="4168543"/>
                </a:moveTo>
                <a:lnTo>
                  <a:pt x="0" y="0"/>
                </a:lnTo>
                <a:lnTo>
                  <a:pt x="407423" y="0"/>
                </a:lnTo>
                <a:lnTo>
                  <a:pt x="2308261" y="1900389"/>
                </a:lnTo>
                <a:lnTo>
                  <a:pt x="20662" y="4187311"/>
                </a:lnTo>
                <a:lnTo>
                  <a:pt x="18768" y="4187311"/>
                </a:lnTo>
                <a:lnTo>
                  <a:pt x="0" y="4168543"/>
                </a:lnTo>
                <a:close/>
              </a:path>
            </a:pathLst>
          </a:custGeom>
          <a:solidFill>
            <a:srgbClr val="004653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1520144"/>
            <a:ext cx="136525" cy="273050"/>
          </a:xfrm>
          <a:custGeom>
            <a:avLst/>
            <a:gdLst/>
            <a:ahLst/>
            <a:cxnLst/>
            <a:rect l="l" t="t" r="r" b="b"/>
            <a:pathLst>
              <a:path w="136525" h="273050">
                <a:moveTo>
                  <a:pt x="0" y="272554"/>
                </a:moveTo>
                <a:lnTo>
                  <a:pt x="0" y="0"/>
                </a:lnTo>
                <a:lnTo>
                  <a:pt x="136277" y="136277"/>
                </a:lnTo>
                <a:lnTo>
                  <a:pt x="0" y="272554"/>
                </a:lnTo>
                <a:close/>
              </a:path>
            </a:pathLst>
          </a:custGeom>
          <a:solidFill>
            <a:srgbClr val="004AAC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444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025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43542" y="133259"/>
            <a:ext cx="1673225" cy="8386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92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629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128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3" r:id="rId9"/>
    <p:sldLayoutId id="2147483664" r:id="rId10"/>
    <p:sldLayoutId id="2147483665" r:id="rId11"/>
    <p:sldLayoutId id="214748366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en-us/download/details.aspx?id=49117" TargetMode="Externa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s-es/office/ltsc/2021/deploy#create-the-configurationxml-filey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ig.office.com/deploymentsettings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learn.microsoft.com/es-es/office/ltsc/2021/deploy#install-office-ltsc-2021-by-using-the-office-deployment-too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://www.projectlibre.com/" TargetMode="Externa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avLst/>
            <a:gdLst/>
            <a:ahLst/>
            <a:cxnLst/>
            <a:rect l="l" t="t" r="r" b="b"/>
            <a:pathLst>
              <a:path w="9002016" h="1811656" extrusionOk="0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524676" imgH="1881100" progId="Excel.Sheet.12">
                  <p:embed/>
                </p:oleObj>
              </mc:Choice>
              <mc:Fallback>
                <p:oleObj r:id="rId5" imgW="9524676" imgH="1881100" progId="Excel.Sheet.1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dirty="0"/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201150"/>
            <a:ext cx="8386287" cy="135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4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4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s-GT" sz="5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Programación Comercial 1 [Sec.]</a:t>
            </a:r>
            <a:endParaRPr sz="42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avLst/>
            <a:gdLst/>
            <a:ahLst/>
            <a:cxnLst/>
            <a:rect l="l" t="t" r="r" b="b"/>
            <a:pathLst>
              <a:path w="18288000" h="10401300" extrusionOk="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5" name="Google Shape;95;p2"/>
          <p:cNvSpPr txBox="1"/>
          <p:nvPr/>
        </p:nvSpPr>
        <p:spPr>
          <a:xfrm>
            <a:off x="1780674" y="2935368"/>
            <a:ext cx="16050125" cy="3791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4"/>
              </a:lnSpc>
            </a:pPr>
            <a:r>
              <a:rPr lang="en-US" sz="8799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2:</a:t>
            </a:r>
            <a:r>
              <a:rPr lang="en-US" sz="8799" b="1" dirty="0">
                <a:latin typeface="Open Sans"/>
                <a:ea typeface="Open Sans"/>
                <a:cs typeface="Open Sans"/>
                <a:sym typeface="Open Sans"/>
              </a:rPr>
              <a:t> Microsoft Project </a:t>
            </a:r>
            <a:endParaRPr dirty="0"/>
          </a:p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799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3441032" y="4831079"/>
            <a:ext cx="10924673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s-GT" sz="7200" b="1" dirty="0">
                <a:latin typeface="Open Sans"/>
                <a:ea typeface="Open Sans"/>
                <a:cs typeface="Open Sans"/>
                <a:sym typeface="Open Sans"/>
              </a:rPr>
              <a:t>Gestión de Proyectos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2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avLst/>
            <a:gdLst/>
            <a:ahLst/>
            <a:cxnLst/>
            <a:rect l="l" t="t" r="r" b="b"/>
            <a:pathLst>
              <a:path w="9896507" h="5913163" extrusionOk="0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avLst/>
            <a:gdLst/>
            <a:ahLst/>
            <a:cxnLst/>
            <a:rect l="l" t="t" r="r" b="b"/>
            <a:pathLst>
              <a:path w="11301259" h="5127946" extrusionOk="0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" name="object 16">
            <a:extLst>
              <a:ext uri="{FF2B5EF4-FFF2-40B4-BE49-F238E27FC236}">
                <a16:creationId xmlns:a16="http://schemas.microsoft.com/office/drawing/2014/main" id="{13E8CFA3-8FE1-8021-D53D-54FDAE29CFC2}"/>
              </a:ext>
            </a:extLst>
          </p:cNvPr>
          <p:cNvSpPr txBox="1"/>
          <p:nvPr/>
        </p:nvSpPr>
        <p:spPr>
          <a:xfrm>
            <a:off x="7158959" y="4623939"/>
            <a:ext cx="58500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GT" sz="3000" spc="-50" dirty="0">
                <a:latin typeface="Arial" panose="020B0604020202020204" pitchFamily="34" charset="0"/>
                <a:cs typeface="Arial" panose="020B0604020202020204" pitchFamily="34" charset="0"/>
              </a:rPr>
              <a:t>Instalación Microsoft Project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97;p2">
            <a:extLst>
              <a:ext uri="{FF2B5EF4-FFF2-40B4-BE49-F238E27FC236}">
                <a16:creationId xmlns:a16="http://schemas.microsoft.com/office/drawing/2014/main" id="{E426C35B-6276-8285-7266-1F7993089C0B}"/>
              </a:ext>
            </a:extLst>
          </p:cNvPr>
          <p:cNvSpPr/>
          <p:nvPr/>
        </p:nvSpPr>
        <p:spPr>
          <a:xfrm>
            <a:off x="6431426" y="4502639"/>
            <a:ext cx="566698" cy="687618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250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768ED33-F4ED-4C21-B317-98DEBD503AA9}"/>
              </a:ext>
            </a:extLst>
          </p:cNvPr>
          <p:cNvSpPr txBox="1"/>
          <p:nvPr/>
        </p:nvSpPr>
        <p:spPr>
          <a:xfrm>
            <a:off x="7276302" y="7836882"/>
            <a:ext cx="4361779" cy="495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5675" marR="5080" indent="-943610">
              <a:lnSpc>
                <a:spcPct val="114100"/>
              </a:lnSpc>
              <a:spcBef>
                <a:spcPts val="100"/>
              </a:spcBef>
            </a:pPr>
            <a:r>
              <a:rPr lang="es-ES" sz="3000" spc="-50" dirty="0">
                <a:latin typeface="Arial" panose="020B0604020202020204" pitchFamily="34" charset="0"/>
                <a:cs typeface="Arial" panose="020B0604020202020204" pitchFamily="34" charset="0"/>
              </a:rPr>
              <a:t>Instalación Project Libre 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0CE7872D-66B7-1C27-A376-3CD6942AB53E}"/>
              </a:ext>
            </a:extLst>
          </p:cNvPr>
          <p:cNvSpPr txBox="1"/>
          <p:nvPr/>
        </p:nvSpPr>
        <p:spPr>
          <a:xfrm>
            <a:off x="7129251" y="6365030"/>
            <a:ext cx="627862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GT" sz="3000" spc="-50" dirty="0">
                <a:latin typeface="Arial" panose="020B0604020202020204" pitchFamily="34" charset="0"/>
                <a:cs typeface="Arial" panose="020B0604020202020204" pitchFamily="34" charset="0"/>
              </a:rPr>
              <a:t>Teoría Microsoft Project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97;p2">
            <a:extLst>
              <a:ext uri="{FF2B5EF4-FFF2-40B4-BE49-F238E27FC236}">
                <a16:creationId xmlns:a16="http://schemas.microsoft.com/office/drawing/2014/main" id="{BB835F12-1645-3B56-9110-E683C1AA1AE5}"/>
              </a:ext>
            </a:extLst>
          </p:cNvPr>
          <p:cNvSpPr/>
          <p:nvPr/>
        </p:nvSpPr>
        <p:spPr>
          <a:xfrm>
            <a:off x="6431426" y="6258466"/>
            <a:ext cx="566698" cy="687618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2500"/>
          </a:p>
        </p:txBody>
      </p:sp>
      <p:sp>
        <p:nvSpPr>
          <p:cNvPr id="14" name="Google Shape;97;p2">
            <a:extLst>
              <a:ext uri="{FF2B5EF4-FFF2-40B4-BE49-F238E27FC236}">
                <a16:creationId xmlns:a16="http://schemas.microsoft.com/office/drawing/2014/main" id="{28D96406-9231-26B6-96A5-A18240FBC03B}"/>
              </a:ext>
            </a:extLst>
          </p:cNvPr>
          <p:cNvSpPr/>
          <p:nvPr/>
        </p:nvSpPr>
        <p:spPr>
          <a:xfrm>
            <a:off x="6431426" y="7763538"/>
            <a:ext cx="566698" cy="687618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6D7F-EFD3-5BFE-89BD-96FDE00C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8616C8-B9C9-A881-73BD-E374A5A656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78513" y="2165350"/>
            <a:ext cx="12409487" cy="49006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89965" marR="5080" indent="-977900">
              <a:lnSpc>
                <a:spcPct val="116399"/>
              </a:lnSpc>
              <a:spcBef>
                <a:spcPts val="90"/>
              </a:spcBef>
            </a:pPr>
            <a:r>
              <a:rPr sz="14300" dirty="0"/>
              <a:t>MICROSOFT </a:t>
            </a:r>
            <a:r>
              <a:rPr lang="es-ES" sz="14300" dirty="0"/>
              <a:t>          </a:t>
            </a:r>
            <a:r>
              <a:rPr sz="14300" dirty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385640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0876" y="164866"/>
            <a:ext cx="7067123" cy="101221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6400" y="3577109"/>
            <a:ext cx="8635886" cy="3132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550" spc="2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sz="2550" spc="3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550" spc="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550" spc="3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conjunto</a:t>
            </a:r>
            <a:r>
              <a:rPr sz="2550" spc="3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3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procesos</a:t>
            </a:r>
            <a:r>
              <a:rPr sz="2550" spc="3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consisten</a:t>
            </a:r>
            <a:r>
              <a:rPr sz="2550" spc="24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254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550" spc="25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grupo</a:t>
            </a:r>
            <a:r>
              <a:rPr sz="2550" spc="25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254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actividades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coordinadas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controladas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fechas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finalización</a:t>
            </a:r>
            <a:r>
              <a:rPr sz="2550" spc="585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59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alcanzar</a:t>
            </a:r>
            <a:r>
              <a:rPr sz="2550" spc="585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objetivos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determinados.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esfuerzo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temporal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lleva</a:t>
            </a:r>
            <a:r>
              <a:rPr sz="255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cabo</a:t>
            </a:r>
            <a:r>
              <a:rPr sz="255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crear</a:t>
            </a:r>
            <a:r>
              <a:rPr sz="255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55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producto,</a:t>
            </a:r>
            <a:r>
              <a:rPr sz="255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servicio</a:t>
            </a:r>
            <a:r>
              <a:rPr sz="255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sz="2550" spc="28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único.</a:t>
            </a:r>
            <a:r>
              <a:rPr sz="2550" spc="29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Requiere</a:t>
            </a:r>
            <a:r>
              <a:rPr sz="2550" spc="29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29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elaboración gradual.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76400" y="2112911"/>
            <a:ext cx="9931286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¿QUÉ ES UN PROYECTO?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869" y="629198"/>
            <a:ext cx="8439149" cy="843914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5ADE2E0-AB06-AFA7-A21C-862FE7C8B6DB}"/>
              </a:ext>
            </a:extLst>
          </p:cNvPr>
          <p:cNvSpPr txBox="1"/>
          <p:nvPr/>
        </p:nvSpPr>
        <p:spPr>
          <a:xfrm>
            <a:off x="718059" y="2781300"/>
            <a:ext cx="8601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dirty="0">
                <a:latin typeface="Arial" panose="020B0604020202020204" pitchFamily="34" charset="0"/>
                <a:cs typeface="Arial" panose="020B0604020202020204" pitchFamily="34" charset="0"/>
              </a:rPr>
              <a:t>INTRODUCCIÓN MICROSOFT PROJECT</a:t>
            </a:r>
            <a:endParaRPr lang="es-GT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4200" y="2506144"/>
            <a:ext cx="11277600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¿QUÉ ES MICROSOFT PROJECT?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43411" y="4446873"/>
            <a:ext cx="13505180" cy="2033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599"/>
              </a:lnSpc>
              <a:spcBef>
                <a:spcPts val="95"/>
              </a:spcBef>
            </a:pP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sz="2850" spc="3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850"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850"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850" spc="3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sz="2850"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50"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sz="2850"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50"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  <a:r>
              <a:rPr sz="2850"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desarrollado</a:t>
            </a:r>
            <a:r>
              <a:rPr sz="2850"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25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Microsoft.</a:t>
            </a:r>
            <a:r>
              <a:rPr sz="2850" spc="5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850" spc="5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utiliza</a:t>
            </a:r>
            <a:r>
              <a:rPr sz="2850" spc="5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850" spc="5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planificar,</a:t>
            </a:r>
            <a:r>
              <a:rPr sz="2850" spc="5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administrar</a:t>
            </a:r>
            <a:r>
              <a:rPr sz="2850" spc="5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850" spc="5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controlar</a:t>
            </a:r>
            <a:r>
              <a:rPr sz="2850" spc="5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  <a:r>
              <a:rPr sz="2850" spc="5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850" spc="-30" dirty="0">
                <a:latin typeface="Arial" panose="020B0604020202020204" pitchFamily="34" charset="0"/>
                <a:cs typeface="Arial" panose="020B0604020202020204" pitchFamily="34" charset="0"/>
              </a:rPr>
              <a:t>diversa</a:t>
            </a:r>
            <a:r>
              <a:rPr sz="28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70" dirty="0">
                <a:latin typeface="Arial" panose="020B0604020202020204" pitchFamily="34" charset="0"/>
                <a:cs typeface="Arial" panose="020B0604020202020204" pitchFamily="34" charset="0"/>
              </a:rPr>
              <a:t>índole,</a:t>
            </a:r>
            <a:r>
              <a:rPr sz="28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20" dirty="0">
                <a:latin typeface="Arial" panose="020B0604020202020204" pitchFamily="34" charset="0"/>
                <a:cs typeface="Arial" panose="020B0604020202020204" pitchFamily="34" charset="0"/>
              </a:rPr>
              <a:t>desde</a:t>
            </a:r>
            <a:r>
              <a:rPr sz="28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35" dirty="0"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  <a:r>
              <a:rPr sz="28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55" dirty="0">
                <a:latin typeface="Arial" panose="020B0604020202020204" pitchFamily="34" charset="0"/>
                <a:cs typeface="Arial" panose="020B0604020202020204" pitchFamily="34" charset="0"/>
              </a:rPr>
              <a:t>construcción</a:t>
            </a:r>
            <a:r>
              <a:rPr sz="28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8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35" dirty="0">
                <a:latin typeface="Arial" panose="020B0604020202020204" pitchFamily="34" charset="0"/>
                <a:cs typeface="Arial" panose="020B0604020202020204" pitchFamily="34" charset="0"/>
              </a:rPr>
              <a:t>desarrollo</a:t>
            </a:r>
            <a:r>
              <a:rPr sz="28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2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sz="28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20" dirty="0">
                <a:latin typeface="Arial" panose="020B0604020202020204" pitchFamily="34" charset="0"/>
                <a:cs typeface="Arial" panose="020B0604020202020204" pitchFamily="34" charset="0"/>
              </a:rPr>
              <a:t>hasta </a:t>
            </a:r>
            <a:r>
              <a:rPr sz="2850" spc="-30" dirty="0">
                <a:latin typeface="Arial" panose="020B0604020202020204" pitchFamily="34" charset="0"/>
                <a:cs typeface="Arial" panose="020B0604020202020204" pitchFamily="34" charset="0"/>
              </a:rPr>
              <a:t>eventos</a:t>
            </a:r>
            <a:r>
              <a:rPr sz="285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85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30" dirty="0">
                <a:latin typeface="Arial" panose="020B0604020202020204" pitchFamily="34" charset="0"/>
                <a:cs typeface="Arial" panose="020B0604020202020204" pitchFamily="34" charset="0"/>
              </a:rPr>
              <a:t>campañas</a:t>
            </a:r>
            <a:r>
              <a:rPr sz="285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5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80" dirty="0">
                <a:latin typeface="Arial" panose="020B0604020202020204" pitchFamily="34" charset="0"/>
                <a:cs typeface="Arial" panose="020B0604020202020204" pitchFamily="34" charset="0"/>
              </a:rPr>
              <a:t>marketing,</a:t>
            </a:r>
            <a:r>
              <a:rPr sz="28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dirty="0">
                <a:latin typeface="Arial" panose="020B0604020202020204" pitchFamily="34" charset="0"/>
                <a:cs typeface="Arial" panose="020B0604020202020204" pitchFamily="34" charset="0"/>
              </a:rPr>
              <a:t>entre</a:t>
            </a:r>
            <a:r>
              <a:rPr sz="285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50" spc="-10" dirty="0">
                <a:latin typeface="Arial" panose="020B0604020202020204" pitchFamily="34" charset="0"/>
                <a:cs typeface="Arial" panose="020B0604020202020204" pitchFamily="34" charset="0"/>
              </a:rPr>
              <a:t>otros.</a:t>
            </a:r>
            <a:endParaRPr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885" y="6261079"/>
            <a:ext cx="18156112" cy="40259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2226343" y="1806596"/>
            <a:ext cx="14449425" cy="2219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6100"/>
              </a:lnSpc>
              <a:spcBef>
                <a:spcPts val="90"/>
              </a:spcBef>
            </a:pPr>
            <a:r>
              <a:rPr lang="es-ES" sz="3100" dirty="0"/>
              <a:t>Este</a:t>
            </a:r>
            <a:r>
              <a:rPr lang="es-ES" sz="3100" spc="300" dirty="0"/>
              <a:t> </a:t>
            </a:r>
            <a:r>
              <a:rPr lang="es-ES" sz="3100" dirty="0"/>
              <a:t>programa</a:t>
            </a:r>
            <a:r>
              <a:rPr lang="es-ES" sz="3100" spc="305" dirty="0"/>
              <a:t> </a:t>
            </a:r>
            <a:r>
              <a:rPr lang="es-ES" sz="3100" dirty="0"/>
              <a:t>proporciona</a:t>
            </a:r>
            <a:r>
              <a:rPr lang="es-ES" sz="3100" spc="305" dirty="0"/>
              <a:t> </a:t>
            </a:r>
            <a:r>
              <a:rPr lang="es-ES" sz="3100" dirty="0"/>
              <a:t>a</a:t>
            </a:r>
            <a:r>
              <a:rPr lang="es-ES" sz="3100" spc="305" dirty="0"/>
              <a:t> </a:t>
            </a:r>
            <a:r>
              <a:rPr lang="es-ES" sz="3100" dirty="0"/>
              <a:t>los</a:t>
            </a:r>
            <a:r>
              <a:rPr lang="es-ES" sz="3100" spc="305" dirty="0"/>
              <a:t> </a:t>
            </a:r>
            <a:r>
              <a:rPr lang="es-ES" sz="3100" dirty="0"/>
              <a:t>administradores</a:t>
            </a:r>
            <a:r>
              <a:rPr lang="es-ES" sz="3100" spc="305" dirty="0"/>
              <a:t> </a:t>
            </a:r>
            <a:r>
              <a:rPr lang="es-ES" sz="3100" dirty="0"/>
              <a:t>de</a:t>
            </a:r>
            <a:r>
              <a:rPr lang="es-ES" sz="3100" spc="305" dirty="0"/>
              <a:t> </a:t>
            </a:r>
            <a:r>
              <a:rPr lang="es-ES" sz="3100" dirty="0"/>
              <a:t>proyectos</a:t>
            </a:r>
            <a:r>
              <a:rPr lang="es-ES" sz="3100" spc="305" dirty="0"/>
              <a:t> </a:t>
            </a:r>
            <a:r>
              <a:rPr lang="es-ES" sz="3100" dirty="0"/>
              <a:t>y</a:t>
            </a:r>
            <a:r>
              <a:rPr lang="es-ES" sz="3100" spc="305" dirty="0"/>
              <a:t> </a:t>
            </a:r>
            <a:r>
              <a:rPr lang="es-ES" sz="3100" spc="-10" dirty="0"/>
              <a:t>equipos </a:t>
            </a:r>
            <a:r>
              <a:rPr lang="es-ES" sz="3100" dirty="0"/>
              <a:t>herramientas</a:t>
            </a:r>
            <a:r>
              <a:rPr lang="es-ES" sz="3100" spc="350" dirty="0"/>
              <a:t> </a:t>
            </a:r>
            <a:r>
              <a:rPr lang="es-ES" sz="3100" dirty="0"/>
              <a:t>para</a:t>
            </a:r>
            <a:r>
              <a:rPr lang="es-ES" sz="3100" spc="355" dirty="0"/>
              <a:t> </a:t>
            </a:r>
            <a:r>
              <a:rPr lang="es-ES" sz="3100" dirty="0"/>
              <a:t>organizar</a:t>
            </a:r>
            <a:r>
              <a:rPr lang="es-ES" sz="3100" spc="350" dirty="0"/>
              <a:t> </a:t>
            </a:r>
            <a:r>
              <a:rPr lang="es-ES" sz="3100" dirty="0"/>
              <a:t>tareas,</a:t>
            </a:r>
            <a:r>
              <a:rPr lang="es-ES" sz="3100" spc="355" dirty="0"/>
              <a:t> </a:t>
            </a:r>
            <a:r>
              <a:rPr lang="es-ES" sz="3100" dirty="0"/>
              <a:t>asignar</a:t>
            </a:r>
            <a:r>
              <a:rPr lang="es-ES" sz="3100" spc="350" dirty="0"/>
              <a:t> </a:t>
            </a:r>
            <a:r>
              <a:rPr lang="es-ES" sz="3100" dirty="0"/>
              <a:t>recursos,</a:t>
            </a:r>
            <a:r>
              <a:rPr lang="es-ES" sz="3100" spc="355" dirty="0"/>
              <a:t> </a:t>
            </a:r>
            <a:r>
              <a:rPr lang="es-ES" sz="3100" dirty="0"/>
              <a:t>crear</a:t>
            </a:r>
            <a:r>
              <a:rPr lang="es-ES" sz="3100" spc="350" dirty="0"/>
              <a:t> </a:t>
            </a:r>
            <a:r>
              <a:rPr lang="es-ES" sz="3100" spc="-10" dirty="0"/>
              <a:t>cronogramas, </a:t>
            </a:r>
            <a:r>
              <a:rPr lang="es-ES" sz="3100" dirty="0"/>
              <a:t>estimar</a:t>
            </a:r>
            <a:r>
              <a:rPr lang="es-ES" sz="3100" spc="-125" dirty="0"/>
              <a:t> </a:t>
            </a:r>
            <a:r>
              <a:rPr lang="es-ES" sz="3100" spc="-10" dirty="0"/>
              <a:t>tiempos</a:t>
            </a:r>
            <a:r>
              <a:rPr lang="es-ES" sz="3100" spc="-125" dirty="0"/>
              <a:t> </a:t>
            </a:r>
            <a:r>
              <a:rPr lang="es-ES" sz="3100" dirty="0"/>
              <a:t>y</a:t>
            </a:r>
            <a:r>
              <a:rPr lang="es-ES" sz="3100" spc="-125" dirty="0"/>
              <a:t> </a:t>
            </a:r>
            <a:r>
              <a:rPr lang="es-ES" sz="3100" spc="-65" dirty="0"/>
              <a:t>costos,</a:t>
            </a:r>
            <a:r>
              <a:rPr lang="es-ES" sz="3100" spc="-125" dirty="0"/>
              <a:t> </a:t>
            </a:r>
            <a:r>
              <a:rPr lang="es-ES" sz="3100" dirty="0"/>
              <a:t>hacer</a:t>
            </a:r>
            <a:r>
              <a:rPr lang="es-ES" sz="3100" spc="-125" dirty="0"/>
              <a:t> </a:t>
            </a:r>
            <a:r>
              <a:rPr lang="es-ES" sz="3100" spc="-40" dirty="0"/>
              <a:t>seguimiento</a:t>
            </a:r>
            <a:r>
              <a:rPr lang="es-ES" sz="3100" spc="-125" dirty="0"/>
              <a:t> </a:t>
            </a:r>
            <a:r>
              <a:rPr lang="es-ES" sz="3100" dirty="0"/>
              <a:t>al</a:t>
            </a:r>
            <a:r>
              <a:rPr lang="es-ES" sz="3100" spc="-120" dirty="0"/>
              <a:t> </a:t>
            </a:r>
            <a:r>
              <a:rPr lang="es-ES" sz="3100" spc="-40" dirty="0"/>
              <a:t>progreso,</a:t>
            </a:r>
            <a:r>
              <a:rPr lang="es-ES" sz="3100" spc="-125" dirty="0"/>
              <a:t> </a:t>
            </a:r>
            <a:r>
              <a:rPr lang="es-ES" sz="3100" spc="-30" dirty="0"/>
              <a:t>gestionar</a:t>
            </a:r>
            <a:r>
              <a:rPr lang="es-ES" sz="3100" spc="-125" dirty="0"/>
              <a:t> </a:t>
            </a:r>
            <a:r>
              <a:rPr lang="es-ES" sz="3100" spc="-50" dirty="0"/>
              <a:t>riesgos</a:t>
            </a:r>
            <a:r>
              <a:rPr lang="es-ES" sz="3100" spc="-125" dirty="0"/>
              <a:t> </a:t>
            </a:r>
            <a:r>
              <a:rPr lang="es-ES" sz="3100" spc="-50" dirty="0"/>
              <a:t>y </a:t>
            </a:r>
            <a:r>
              <a:rPr lang="es-ES" sz="3100" spc="-20" dirty="0"/>
              <a:t>generar</a:t>
            </a:r>
            <a:r>
              <a:rPr lang="es-ES" sz="3100" spc="-204" dirty="0"/>
              <a:t> </a:t>
            </a:r>
            <a:r>
              <a:rPr lang="es-ES" sz="3100" spc="-35" dirty="0"/>
              <a:t>informes</a:t>
            </a:r>
            <a:r>
              <a:rPr lang="es-ES" sz="3100" spc="-200" dirty="0"/>
              <a:t> </a:t>
            </a:r>
            <a:r>
              <a:rPr lang="es-ES" sz="3100" spc="-45" dirty="0"/>
              <a:t>detallados</a:t>
            </a:r>
            <a:r>
              <a:rPr lang="es-ES" sz="3100" spc="-200" dirty="0"/>
              <a:t> </a:t>
            </a:r>
            <a:r>
              <a:rPr lang="es-ES" sz="3100" spc="-20" dirty="0"/>
              <a:t>sobre</a:t>
            </a:r>
            <a:r>
              <a:rPr lang="es-ES" sz="3100" spc="-200" dirty="0"/>
              <a:t> </a:t>
            </a:r>
            <a:r>
              <a:rPr lang="es-ES" sz="3100" spc="-10" dirty="0"/>
              <a:t>el</a:t>
            </a:r>
            <a:r>
              <a:rPr lang="es-ES" sz="3100" spc="-200" dirty="0"/>
              <a:t> </a:t>
            </a:r>
            <a:r>
              <a:rPr lang="es-ES" sz="3100" spc="-25" dirty="0"/>
              <a:t>estado</a:t>
            </a:r>
            <a:r>
              <a:rPr lang="es-ES" sz="3100" spc="-200" dirty="0"/>
              <a:t> </a:t>
            </a:r>
            <a:r>
              <a:rPr lang="es-ES" sz="3100" spc="-25" dirty="0"/>
              <a:t>del</a:t>
            </a:r>
            <a:r>
              <a:rPr lang="es-ES" sz="3100" spc="-204" dirty="0"/>
              <a:t> </a:t>
            </a:r>
            <a:r>
              <a:rPr lang="es-ES" sz="3100" spc="-10" dirty="0"/>
              <a:t>proyecto.</a:t>
            </a:r>
            <a:endParaRPr lang="es-ES" sz="3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75897" y="1370417"/>
            <a:ext cx="769217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CARACTERISTICAS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961" y="2498567"/>
            <a:ext cx="5781690" cy="578165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6645076" y="2760715"/>
            <a:ext cx="10962640" cy="4937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9905" indent="320675">
              <a:lnSpc>
                <a:spcPct val="115199"/>
              </a:lnSpc>
              <a:spcBef>
                <a:spcPts val="95"/>
              </a:spcBef>
              <a:buSzPct val="96078"/>
              <a:buFont typeface="Times New Roman"/>
              <a:buChar char="►"/>
              <a:tabLst>
                <a:tab pos="333375" algn="l"/>
              </a:tabLst>
            </a:pPr>
            <a:r>
              <a:rPr b="1" spc="-65" dirty="0"/>
              <a:t>Creación</a:t>
            </a:r>
            <a:r>
              <a:rPr b="1" spc="-145" dirty="0"/>
              <a:t> </a:t>
            </a:r>
            <a:r>
              <a:rPr b="1" dirty="0"/>
              <a:t>de</a:t>
            </a:r>
            <a:r>
              <a:rPr b="1" spc="-170" dirty="0"/>
              <a:t> </a:t>
            </a:r>
            <a:r>
              <a:rPr b="1" spc="-50" dirty="0"/>
              <a:t>diagramas</a:t>
            </a:r>
            <a:r>
              <a:rPr b="1" spc="-155" dirty="0"/>
              <a:t> </a:t>
            </a:r>
            <a:r>
              <a:rPr b="1" dirty="0"/>
              <a:t>de</a:t>
            </a:r>
            <a:r>
              <a:rPr b="1" spc="-155" dirty="0"/>
              <a:t> </a:t>
            </a:r>
            <a:r>
              <a:rPr b="1" spc="-45" dirty="0"/>
              <a:t>Gantt:</a:t>
            </a:r>
            <a:r>
              <a:rPr b="1" spc="-150" dirty="0"/>
              <a:t> </a:t>
            </a:r>
            <a:r>
              <a:rPr spc="-60" dirty="0"/>
              <a:t>Los</a:t>
            </a:r>
            <a:r>
              <a:rPr spc="-145" dirty="0"/>
              <a:t> </a:t>
            </a:r>
            <a:r>
              <a:rPr spc="-50" dirty="0"/>
              <a:t>diagramas</a:t>
            </a:r>
            <a:r>
              <a:rPr spc="-155" dirty="0"/>
              <a:t> </a:t>
            </a:r>
            <a:r>
              <a:rPr dirty="0"/>
              <a:t>de</a:t>
            </a:r>
            <a:r>
              <a:rPr spc="-150" dirty="0"/>
              <a:t> </a:t>
            </a:r>
            <a:r>
              <a:rPr spc="-20" dirty="0"/>
              <a:t>Gantt</a:t>
            </a:r>
            <a:r>
              <a:rPr spc="-155" dirty="0"/>
              <a:t> </a:t>
            </a:r>
            <a:r>
              <a:rPr spc="-25" dirty="0"/>
              <a:t>ayudan</a:t>
            </a:r>
            <a:r>
              <a:rPr spc="-155" dirty="0"/>
              <a:t> </a:t>
            </a:r>
            <a:r>
              <a:rPr spc="-50" dirty="0"/>
              <a:t>a </a:t>
            </a:r>
            <a:r>
              <a:rPr spc="-80" dirty="0"/>
              <a:t>visualizar</a:t>
            </a:r>
            <a:r>
              <a:rPr spc="-145" dirty="0"/>
              <a:t> </a:t>
            </a:r>
            <a:r>
              <a:rPr spc="-70" dirty="0"/>
              <a:t>las</a:t>
            </a:r>
            <a:r>
              <a:rPr spc="-145" dirty="0"/>
              <a:t> </a:t>
            </a:r>
            <a:r>
              <a:rPr spc="-25" dirty="0"/>
              <a:t>tareas</a:t>
            </a:r>
            <a:r>
              <a:rPr spc="-145" dirty="0"/>
              <a:t> </a:t>
            </a:r>
            <a:r>
              <a:rPr dirty="0"/>
              <a:t>en</a:t>
            </a:r>
            <a:r>
              <a:rPr spc="-145" dirty="0"/>
              <a:t> </a:t>
            </a:r>
            <a:r>
              <a:rPr spc="-50" dirty="0"/>
              <a:t>el</a:t>
            </a:r>
            <a:r>
              <a:rPr spc="-145" dirty="0"/>
              <a:t> </a:t>
            </a:r>
            <a:r>
              <a:rPr spc="-70" dirty="0"/>
              <a:t>tiempo,</a:t>
            </a:r>
            <a:r>
              <a:rPr spc="-140" dirty="0"/>
              <a:t> </a:t>
            </a:r>
            <a:r>
              <a:rPr spc="-35" dirty="0"/>
              <a:t>mostrando</a:t>
            </a:r>
            <a:r>
              <a:rPr spc="-145" dirty="0"/>
              <a:t> </a:t>
            </a:r>
            <a:r>
              <a:rPr spc="-50" dirty="0"/>
              <a:t>la</a:t>
            </a:r>
            <a:r>
              <a:rPr spc="-145" dirty="0"/>
              <a:t> </a:t>
            </a:r>
            <a:r>
              <a:rPr spc="-45" dirty="0"/>
              <a:t>duración</a:t>
            </a:r>
            <a:r>
              <a:rPr spc="-145" dirty="0"/>
              <a:t> </a:t>
            </a:r>
            <a:r>
              <a:rPr dirty="0"/>
              <a:t>y</a:t>
            </a:r>
            <a:r>
              <a:rPr spc="-145" dirty="0"/>
              <a:t> </a:t>
            </a:r>
            <a:r>
              <a:rPr spc="-25" dirty="0"/>
              <a:t>las </a:t>
            </a:r>
            <a:r>
              <a:rPr spc="-45" dirty="0"/>
              <a:t>dependencias</a:t>
            </a:r>
            <a:r>
              <a:rPr spc="-125" dirty="0"/>
              <a:t> </a:t>
            </a:r>
            <a:r>
              <a:rPr spc="-20" dirty="0"/>
              <a:t>entre</a:t>
            </a:r>
            <a:r>
              <a:rPr spc="-120" dirty="0"/>
              <a:t> </a:t>
            </a:r>
            <a:r>
              <a:rPr spc="-10" dirty="0"/>
              <a:t>ellas.</a:t>
            </a:r>
          </a:p>
          <a:p>
            <a:pPr marL="12700" marR="5080" indent="405765">
              <a:lnSpc>
                <a:spcPct val="115199"/>
              </a:lnSpc>
              <a:buSzPct val="96078"/>
              <a:buFont typeface="Times New Roman"/>
              <a:buChar char="►"/>
              <a:tabLst>
                <a:tab pos="418465" algn="l"/>
              </a:tabLst>
            </a:pPr>
            <a:r>
              <a:rPr b="1" spc="-50" dirty="0"/>
              <a:t>Seguimiento</a:t>
            </a:r>
            <a:r>
              <a:rPr b="1" spc="-165" dirty="0"/>
              <a:t> </a:t>
            </a:r>
            <a:r>
              <a:rPr b="1" dirty="0"/>
              <a:t>y</a:t>
            </a:r>
            <a:r>
              <a:rPr b="1" spc="-165" dirty="0"/>
              <a:t> </a:t>
            </a:r>
            <a:r>
              <a:rPr b="1" spc="-65" dirty="0"/>
              <a:t>control:</a:t>
            </a:r>
            <a:r>
              <a:rPr b="1" spc="-145" dirty="0"/>
              <a:t> </a:t>
            </a:r>
            <a:r>
              <a:rPr dirty="0"/>
              <a:t>Permite</a:t>
            </a:r>
            <a:r>
              <a:rPr spc="-150" dirty="0"/>
              <a:t> </a:t>
            </a:r>
            <a:r>
              <a:rPr spc="-65" dirty="0"/>
              <a:t>realizar</a:t>
            </a:r>
            <a:r>
              <a:rPr spc="-145" dirty="0"/>
              <a:t> </a:t>
            </a:r>
            <a:r>
              <a:rPr spc="-20" dirty="0"/>
              <a:t>un</a:t>
            </a:r>
            <a:r>
              <a:rPr spc="-150" dirty="0"/>
              <a:t> </a:t>
            </a:r>
            <a:r>
              <a:rPr spc="-65" dirty="0"/>
              <a:t>seguimiento</a:t>
            </a:r>
            <a:r>
              <a:rPr spc="-145" dirty="0"/>
              <a:t> </a:t>
            </a:r>
            <a:r>
              <a:rPr spc="-45" dirty="0"/>
              <a:t>del</a:t>
            </a:r>
            <a:r>
              <a:rPr spc="-150" dirty="0"/>
              <a:t> </a:t>
            </a:r>
            <a:r>
              <a:rPr spc="-10" dirty="0"/>
              <a:t>progreso </a:t>
            </a:r>
            <a:r>
              <a:rPr spc="-45" dirty="0"/>
              <a:t>del</a:t>
            </a:r>
            <a:r>
              <a:rPr spc="-160" dirty="0"/>
              <a:t> </a:t>
            </a:r>
            <a:r>
              <a:rPr spc="-60" dirty="0"/>
              <a:t>proyecto,</a:t>
            </a:r>
            <a:r>
              <a:rPr spc="-145" dirty="0"/>
              <a:t> </a:t>
            </a:r>
            <a:r>
              <a:rPr spc="-70" dirty="0"/>
              <a:t>actualizar</a:t>
            </a:r>
            <a:r>
              <a:rPr spc="-145" dirty="0"/>
              <a:t> </a:t>
            </a:r>
            <a:r>
              <a:rPr spc="-25" dirty="0"/>
              <a:t>tareas</a:t>
            </a:r>
            <a:r>
              <a:rPr spc="-150" dirty="0"/>
              <a:t> </a:t>
            </a:r>
            <a:r>
              <a:rPr dirty="0"/>
              <a:t>y</a:t>
            </a:r>
            <a:r>
              <a:rPr spc="-150" dirty="0"/>
              <a:t> </a:t>
            </a:r>
            <a:r>
              <a:rPr spc="-10" dirty="0"/>
              <a:t>ver</a:t>
            </a:r>
            <a:r>
              <a:rPr spc="-150" dirty="0"/>
              <a:t> </a:t>
            </a:r>
            <a:r>
              <a:rPr spc="-45" dirty="0"/>
              <a:t>cómo</a:t>
            </a:r>
            <a:r>
              <a:rPr spc="-150" dirty="0"/>
              <a:t> </a:t>
            </a:r>
            <a:r>
              <a:rPr spc="-45" dirty="0"/>
              <a:t>se</a:t>
            </a:r>
            <a:r>
              <a:rPr spc="-150" dirty="0"/>
              <a:t> </a:t>
            </a:r>
            <a:r>
              <a:rPr spc="-40" dirty="0"/>
              <a:t>alinean</a:t>
            </a:r>
            <a:r>
              <a:rPr spc="-150" dirty="0"/>
              <a:t> </a:t>
            </a:r>
            <a:r>
              <a:rPr spc="-55" dirty="0"/>
              <a:t>con</a:t>
            </a:r>
            <a:r>
              <a:rPr spc="-150" dirty="0"/>
              <a:t> </a:t>
            </a:r>
            <a:r>
              <a:rPr spc="-50" dirty="0"/>
              <a:t>el</a:t>
            </a:r>
            <a:r>
              <a:rPr spc="-150" dirty="0"/>
              <a:t> </a:t>
            </a:r>
            <a:r>
              <a:rPr spc="-45" dirty="0"/>
              <a:t>plan</a:t>
            </a:r>
            <a:r>
              <a:rPr spc="-150" dirty="0"/>
              <a:t> </a:t>
            </a:r>
            <a:r>
              <a:rPr spc="-10" dirty="0"/>
              <a:t>original.</a:t>
            </a:r>
          </a:p>
          <a:p>
            <a:pPr marL="12700" marR="1513840" indent="405765">
              <a:lnSpc>
                <a:spcPct val="115199"/>
              </a:lnSpc>
              <a:buSzPct val="96078"/>
              <a:buFont typeface="Times New Roman"/>
              <a:buChar char="►"/>
              <a:tabLst>
                <a:tab pos="418465" algn="l"/>
              </a:tabLst>
            </a:pPr>
            <a:r>
              <a:rPr b="1" spc="-45" dirty="0"/>
              <a:t>Gestión</a:t>
            </a:r>
            <a:r>
              <a:rPr b="1" spc="-155" dirty="0"/>
              <a:t> </a:t>
            </a:r>
            <a:r>
              <a:rPr b="1" dirty="0"/>
              <a:t>de</a:t>
            </a:r>
            <a:r>
              <a:rPr b="1" spc="-145" dirty="0"/>
              <a:t> </a:t>
            </a:r>
            <a:r>
              <a:rPr b="1" spc="-60" dirty="0"/>
              <a:t>recursos:</a:t>
            </a:r>
            <a:r>
              <a:rPr b="1" spc="-145" dirty="0"/>
              <a:t> </a:t>
            </a:r>
            <a:r>
              <a:rPr dirty="0"/>
              <a:t>Permite</a:t>
            </a:r>
            <a:r>
              <a:rPr spc="-145" dirty="0"/>
              <a:t> </a:t>
            </a:r>
            <a:r>
              <a:rPr spc="-70" dirty="0"/>
              <a:t>asignar</a:t>
            </a:r>
            <a:r>
              <a:rPr spc="-145" dirty="0"/>
              <a:t> </a:t>
            </a:r>
            <a:r>
              <a:rPr spc="-45" dirty="0"/>
              <a:t>recursos</a:t>
            </a:r>
            <a:r>
              <a:rPr spc="-145" dirty="0"/>
              <a:t> </a:t>
            </a:r>
            <a:r>
              <a:rPr dirty="0"/>
              <a:t>a</a:t>
            </a:r>
            <a:r>
              <a:rPr spc="-150" dirty="0"/>
              <a:t> </a:t>
            </a:r>
            <a:r>
              <a:rPr spc="-70" dirty="0"/>
              <a:t>las</a:t>
            </a:r>
            <a:r>
              <a:rPr spc="-145" dirty="0"/>
              <a:t> </a:t>
            </a:r>
            <a:r>
              <a:rPr spc="-25" dirty="0"/>
              <a:t>tareas</a:t>
            </a:r>
            <a:r>
              <a:rPr spc="-145" dirty="0"/>
              <a:t> </a:t>
            </a:r>
            <a:r>
              <a:rPr spc="-50" dirty="0"/>
              <a:t>y </a:t>
            </a:r>
            <a:r>
              <a:rPr spc="-45" dirty="0"/>
              <a:t>asegurarse</a:t>
            </a:r>
            <a:r>
              <a:rPr spc="-160" dirty="0"/>
              <a:t> </a:t>
            </a:r>
            <a:r>
              <a:rPr dirty="0"/>
              <a:t>de</a:t>
            </a:r>
            <a:r>
              <a:rPr spc="-175" dirty="0"/>
              <a:t> </a:t>
            </a:r>
            <a:r>
              <a:rPr spc="-10" dirty="0"/>
              <a:t>que</a:t>
            </a:r>
            <a:r>
              <a:rPr spc="-160" dirty="0"/>
              <a:t> </a:t>
            </a:r>
            <a:r>
              <a:rPr spc="-10" dirty="0"/>
              <a:t>no</a:t>
            </a:r>
            <a:r>
              <a:rPr spc="-165" dirty="0"/>
              <a:t> </a:t>
            </a:r>
            <a:r>
              <a:rPr spc="-35" dirty="0"/>
              <a:t>estén</a:t>
            </a:r>
            <a:r>
              <a:rPr spc="-160" dirty="0"/>
              <a:t> </a:t>
            </a:r>
            <a:r>
              <a:rPr spc="-55" dirty="0"/>
              <a:t>sobrecargados</a:t>
            </a:r>
            <a:r>
              <a:rPr spc="-145" dirty="0"/>
              <a:t> </a:t>
            </a:r>
            <a:r>
              <a:rPr dirty="0"/>
              <a:t>o</a:t>
            </a:r>
            <a:r>
              <a:rPr spc="-160" dirty="0"/>
              <a:t> </a:t>
            </a:r>
            <a:r>
              <a:rPr spc="-10" dirty="0"/>
              <a:t>subutilizados.</a:t>
            </a:r>
          </a:p>
          <a:p>
            <a:pPr marL="12700" marR="328930" indent="405765">
              <a:lnSpc>
                <a:spcPct val="115199"/>
              </a:lnSpc>
              <a:buSzPct val="96078"/>
              <a:buFont typeface="Times New Roman"/>
              <a:buChar char="►"/>
              <a:tabLst>
                <a:tab pos="418465" algn="l"/>
              </a:tabLst>
            </a:pPr>
            <a:r>
              <a:rPr b="1" spc="-65" dirty="0"/>
              <a:t>Colaboración:</a:t>
            </a:r>
            <a:r>
              <a:rPr b="1" spc="-140" dirty="0"/>
              <a:t> </a:t>
            </a:r>
            <a:r>
              <a:rPr spc="-65" dirty="0"/>
              <a:t>Facilita</a:t>
            </a:r>
            <a:r>
              <a:rPr spc="-140" dirty="0"/>
              <a:t> </a:t>
            </a:r>
            <a:r>
              <a:rPr spc="-50" dirty="0"/>
              <a:t>la</a:t>
            </a:r>
            <a:r>
              <a:rPr spc="-140" dirty="0"/>
              <a:t> </a:t>
            </a:r>
            <a:r>
              <a:rPr spc="-50" dirty="0"/>
              <a:t>colaboración</a:t>
            </a:r>
            <a:r>
              <a:rPr spc="-135" dirty="0"/>
              <a:t> </a:t>
            </a:r>
            <a:r>
              <a:rPr spc="-20" dirty="0"/>
              <a:t>entre</a:t>
            </a:r>
            <a:r>
              <a:rPr spc="-140" dirty="0"/>
              <a:t> </a:t>
            </a:r>
            <a:r>
              <a:rPr spc="-35" dirty="0"/>
              <a:t>miembros</a:t>
            </a:r>
            <a:r>
              <a:rPr spc="-140" dirty="0"/>
              <a:t> </a:t>
            </a:r>
            <a:r>
              <a:rPr spc="-45" dirty="0"/>
              <a:t>del</a:t>
            </a:r>
            <a:r>
              <a:rPr spc="-140" dirty="0"/>
              <a:t> </a:t>
            </a:r>
            <a:r>
              <a:rPr spc="-40" dirty="0"/>
              <a:t>equipo</a:t>
            </a:r>
            <a:r>
              <a:rPr spc="-135" dirty="0"/>
              <a:t> </a:t>
            </a:r>
            <a:r>
              <a:rPr spc="-50" dirty="0"/>
              <a:t>y </a:t>
            </a:r>
            <a:r>
              <a:rPr spc="-55" dirty="0"/>
              <a:t>stakeholders</a:t>
            </a:r>
            <a:r>
              <a:rPr spc="-145" dirty="0"/>
              <a:t> </a:t>
            </a:r>
            <a:r>
              <a:rPr spc="-30" dirty="0"/>
              <a:t>mediante</a:t>
            </a:r>
            <a:r>
              <a:rPr spc="-145" dirty="0"/>
              <a:t> </a:t>
            </a:r>
            <a:r>
              <a:rPr spc="-50" dirty="0"/>
              <a:t>la</a:t>
            </a:r>
            <a:r>
              <a:rPr spc="-140" dirty="0"/>
              <a:t> </a:t>
            </a:r>
            <a:r>
              <a:rPr spc="-55" dirty="0"/>
              <a:t>compartición</a:t>
            </a:r>
            <a:r>
              <a:rPr spc="-145" dirty="0"/>
              <a:t> </a:t>
            </a:r>
            <a:r>
              <a:rPr dirty="0"/>
              <a:t>de</a:t>
            </a:r>
            <a:r>
              <a:rPr spc="-140" dirty="0"/>
              <a:t> </a:t>
            </a:r>
            <a:r>
              <a:rPr spc="-50" dirty="0"/>
              <a:t>información</a:t>
            </a:r>
            <a:r>
              <a:rPr spc="-145" dirty="0"/>
              <a:t> </a:t>
            </a:r>
            <a:r>
              <a:rPr dirty="0"/>
              <a:t>y</a:t>
            </a:r>
            <a:r>
              <a:rPr spc="-140" dirty="0"/>
              <a:t> </a:t>
            </a:r>
            <a:r>
              <a:rPr spc="-10" dirty="0"/>
              <a:t>documentos.</a:t>
            </a:r>
          </a:p>
          <a:p>
            <a:pPr marL="12700" marR="704850" indent="405765">
              <a:lnSpc>
                <a:spcPct val="115199"/>
              </a:lnSpc>
              <a:buSzPct val="96078"/>
              <a:buFont typeface="Times New Roman"/>
              <a:buChar char="►"/>
              <a:tabLst>
                <a:tab pos="418465" algn="l"/>
              </a:tabLst>
            </a:pPr>
            <a:r>
              <a:rPr b="1" spc="-95" dirty="0"/>
              <a:t>Análisis</a:t>
            </a:r>
            <a:r>
              <a:rPr b="1" spc="-145" dirty="0"/>
              <a:t> </a:t>
            </a:r>
            <a:r>
              <a:rPr b="1" dirty="0"/>
              <a:t>y</a:t>
            </a:r>
            <a:r>
              <a:rPr b="1" spc="-155" dirty="0"/>
              <a:t> </a:t>
            </a:r>
            <a:r>
              <a:rPr b="1" spc="-45" dirty="0"/>
              <a:t>reportes:</a:t>
            </a:r>
            <a:r>
              <a:rPr b="1" spc="-145" dirty="0"/>
              <a:t> </a:t>
            </a:r>
            <a:r>
              <a:rPr spc="-30" dirty="0"/>
              <a:t>Ofrece</a:t>
            </a:r>
            <a:r>
              <a:rPr spc="-150" dirty="0"/>
              <a:t> </a:t>
            </a:r>
            <a:r>
              <a:rPr spc="-30" dirty="0"/>
              <a:t>herramientas</a:t>
            </a:r>
            <a:r>
              <a:rPr spc="-145" dirty="0"/>
              <a:t> </a:t>
            </a:r>
            <a:r>
              <a:rPr dirty="0"/>
              <a:t>para</a:t>
            </a:r>
            <a:r>
              <a:rPr spc="-150" dirty="0"/>
              <a:t> </a:t>
            </a:r>
            <a:r>
              <a:rPr spc="-35" dirty="0"/>
              <a:t>generar</a:t>
            </a:r>
            <a:r>
              <a:rPr spc="-145" dirty="0"/>
              <a:t> </a:t>
            </a:r>
            <a:r>
              <a:rPr spc="-45" dirty="0"/>
              <a:t>informes</a:t>
            </a:r>
            <a:r>
              <a:rPr spc="-150" dirty="0"/>
              <a:t> </a:t>
            </a:r>
            <a:r>
              <a:rPr spc="-50" dirty="0"/>
              <a:t>y </a:t>
            </a:r>
            <a:r>
              <a:rPr spc="-75" dirty="0"/>
              <a:t>análisis</a:t>
            </a:r>
            <a:r>
              <a:rPr spc="-135" dirty="0"/>
              <a:t> </a:t>
            </a:r>
            <a:r>
              <a:rPr spc="-50" dirty="0"/>
              <a:t>detallados</a:t>
            </a:r>
            <a:r>
              <a:rPr spc="-135" dirty="0"/>
              <a:t> </a:t>
            </a:r>
            <a:r>
              <a:rPr spc="-30" dirty="0"/>
              <a:t>sobre</a:t>
            </a:r>
            <a:r>
              <a:rPr spc="-135" dirty="0"/>
              <a:t> </a:t>
            </a:r>
            <a:r>
              <a:rPr spc="-50" dirty="0"/>
              <a:t>el</a:t>
            </a:r>
            <a:r>
              <a:rPr spc="-135" dirty="0"/>
              <a:t> </a:t>
            </a:r>
            <a:r>
              <a:rPr spc="-60" dirty="0"/>
              <a:t>progreso</a:t>
            </a:r>
            <a:r>
              <a:rPr spc="-135" dirty="0"/>
              <a:t> </a:t>
            </a:r>
            <a:r>
              <a:rPr dirty="0"/>
              <a:t>y</a:t>
            </a:r>
            <a:r>
              <a:rPr spc="-135" dirty="0"/>
              <a:t> </a:t>
            </a:r>
            <a:r>
              <a:rPr spc="-50" dirty="0"/>
              <a:t>el</a:t>
            </a:r>
            <a:r>
              <a:rPr spc="-135" dirty="0"/>
              <a:t> </a:t>
            </a:r>
            <a:r>
              <a:rPr spc="-30" dirty="0"/>
              <a:t>desempeño</a:t>
            </a:r>
            <a:r>
              <a:rPr spc="-135" dirty="0"/>
              <a:t> </a:t>
            </a:r>
            <a:r>
              <a:rPr spc="-45" dirty="0"/>
              <a:t>del</a:t>
            </a:r>
            <a:r>
              <a:rPr spc="-135" dirty="0"/>
              <a:t> </a:t>
            </a:r>
            <a:r>
              <a:rPr spc="-10" dirty="0"/>
              <a:t>proyecto.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885" y="6261079"/>
            <a:ext cx="18156112" cy="40259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6600" y="2628900"/>
            <a:ext cx="13101319" cy="221996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47675" indent="-434975">
              <a:lnSpc>
                <a:spcPct val="100000"/>
              </a:lnSpc>
              <a:spcBef>
                <a:spcPts val="690"/>
              </a:spcBef>
              <a:buAutoNum type="arabicPeriod"/>
              <a:tabLst>
                <a:tab pos="447675" algn="l"/>
              </a:tabLst>
            </a:pPr>
            <a:r>
              <a:rPr sz="3100" spc="-10" dirty="0">
                <a:latin typeface="Arial" panose="020B0604020202020204" pitchFamily="34" charset="0"/>
                <a:cs typeface="Arial" panose="020B0604020202020204" pitchFamily="34" charset="0"/>
              </a:rPr>
              <a:t>Proporciona</a:t>
            </a:r>
            <a:r>
              <a:rPr sz="31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65" dirty="0">
                <a:latin typeface="Arial" panose="020B0604020202020204" pitchFamily="34" charset="0"/>
                <a:cs typeface="Arial" panose="020B0604020202020204" pitchFamily="34" charset="0"/>
              </a:rPr>
              <a:t>plantillas</a:t>
            </a:r>
            <a:r>
              <a:rPr sz="31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31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114" dirty="0">
                <a:latin typeface="Arial" panose="020B0604020202020204" pitchFamily="34" charset="0"/>
                <a:cs typeface="Arial" panose="020B0604020202020204" pitchFamily="34" charset="0"/>
              </a:rPr>
              <a:t>agilizar</a:t>
            </a:r>
            <a:r>
              <a:rPr sz="310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1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31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35" dirty="0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sz="31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85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310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10" dirty="0">
                <a:latin typeface="Arial" panose="020B0604020202020204" pitchFamily="34" charset="0"/>
                <a:cs typeface="Arial" panose="020B0604020202020204" pitchFamily="34" charset="0"/>
              </a:rPr>
              <a:t>usuarios.</a:t>
            </a:r>
            <a:endParaRPr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7675" indent="-43497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47675" algn="l"/>
              </a:tabLst>
            </a:pP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310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60" dirty="0">
                <a:latin typeface="Arial" panose="020B0604020202020204" pitchFamily="34" charset="0"/>
                <a:cs typeface="Arial" panose="020B0604020202020204" pitchFamily="34" charset="0"/>
              </a:rPr>
              <a:t>integra</a:t>
            </a:r>
            <a:r>
              <a:rPr sz="31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45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310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40" dirty="0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sz="31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45" dirty="0">
                <a:latin typeface="Arial" panose="020B0604020202020204" pitchFamily="34" charset="0"/>
                <a:cs typeface="Arial" panose="020B0604020202020204" pitchFamily="34" charset="0"/>
              </a:rPr>
              <a:t>productos</a:t>
            </a:r>
            <a:r>
              <a:rPr sz="31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0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10" dirty="0">
                <a:latin typeface="Arial" panose="020B0604020202020204" pitchFamily="34" charset="0"/>
                <a:cs typeface="Arial" panose="020B0604020202020204" pitchFamily="34" charset="0"/>
              </a:rPr>
              <a:t>Microsoft.</a:t>
            </a:r>
            <a:endParaRPr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7675" indent="-43497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47675" algn="l"/>
              </a:tabLst>
            </a:pP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310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70" dirty="0">
                <a:latin typeface="Arial" panose="020B0604020202020204" pitchFamily="34" charset="0"/>
                <a:cs typeface="Arial" panose="020B0604020202020204" pitchFamily="34" charset="0"/>
              </a:rPr>
              <a:t>interfaz</a:t>
            </a:r>
            <a:r>
              <a:rPr sz="31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31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10" dirty="0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sz="31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60" dirty="0">
                <a:latin typeface="Arial" panose="020B0604020202020204" pitchFamily="34" charset="0"/>
                <a:cs typeface="Arial" panose="020B0604020202020204" pitchFamily="34" charset="0"/>
              </a:rPr>
              <a:t>intuitiva</a:t>
            </a:r>
            <a:r>
              <a:rPr sz="31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1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65" dirty="0">
                <a:latin typeface="Arial" panose="020B0604020202020204" pitchFamily="34" charset="0"/>
                <a:cs typeface="Arial" panose="020B0604020202020204" pitchFamily="34" charset="0"/>
              </a:rPr>
              <a:t>similar</a:t>
            </a:r>
            <a:r>
              <a:rPr sz="31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1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40" dirty="0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sz="31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40" dirty="0">
                <a:latin typeface="Arial" panose="020B0604020202020204" pitchFamily="34" charset="0"/>
                <a:cs typeface="Arial" panose="020B0604020202020204" pitchFamily="34" charset="0"/>
              </a:rPr>
              <a:t>programas</a:t>
            </a:r>
            <a:r>
              <a:rPr sz="31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10" dirty="0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endParaRPr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7675" indent="-434975">
              <a:lnSpc>
                <a:spcPct val="100000"/>
              </a:lnSpc>
              <a:spcBef>
                <a:spcPts val="595"/>
              </a:spcBef>
              <a:buAutoNum type="arabicPeriod"/>
              <a:tabLst>
                <a:tab pos="447675" algn="l"/>
              </a:tabLst>
            </a:pP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Posee</a:t>
            </a:r>
            <a:r>
              <a:rPr sz="31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31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10" dirty="0">
                <a:latin typeface="Arial" panose="020B0604020202020204" pitchFamily="34" charset="0"/>
                <a:cs typeface="Arial" panose="020B0604020202020204" pitchFamily="34" charset="0"/>
              </a:rPr>
              <a:t>herramienta</a:t>
            </a:r>
            <a:r>
              <a:rPr sz="31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31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3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31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85" dirty="0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sz="31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00" spc="-10" dirty="0">
                <a:latin typeface="Arial" panose="020B0604020202020204" pitchFamily="34" charset="0"/>
                <a:cs typeface="Arial" panose="020B0604020202020204" pitchFamily="34" charset="0"/>
              </a:rPr>
              <a:t>financiera.</a:t>
            </a:r>
            <a:endParaRPr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15200" y="1254937"/>
            <a:ext cx="3657600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VENTAJAS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869" y="629198"/>
            <a:ext cx="8439149" cy="843914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7304E55-EBD3-C3E5-70A3-D1DE45E99072}"/>
              </a:ext>
            </a:extLst>
          </p:cNvPr>
          <p:cNvSpPr txBox="1"/>
          <p:nvPr/>
        </p:nvSpPr>
        <p:spPr>
          <a:xfrm>
            <a:off x="1219200" y="3086100"/>
            <a:ext cx="71393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dirty="0"/>
              <a:t>INSTALACIÓN MICROSOFT PROJECT</a:t>
            </a:r>
            <a:endParaRPr lang="es-GT" sz="8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89767" y="2305344"/>
            <a:ext cx="2708466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PASO 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98611" y="4662280"/>
            <a:ext cx="9969789" cy="8892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5199"/>
              </a:lnSpc>
              <a:spcBef>
                <a:spcPts val="95"/>
              </a:spcBef>
            </a:pP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ingresar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5" dirty="0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descarga: </a:t>
            </a:r>
            <a:endParaRPr lang="es-ES" sz="2550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-635" algn="ctr">
              <a:lnSpc>
                <a:spcPct val="115199"/>
              </a:lnSpc>
              <a:spcBef>
                <a:spcPts val="95"/>
              </a:spcBef>
            </a:pPr>
            <a:r>
              <a:rPr lang="en-US" sz="2550" spc="-8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https://www.microsoft.com/en-us/download/details.aspx?id=49117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7455" y="4610100"/>
            <a:ext cx="13173089" cy="25717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412671" y="571500"/>
            <a:ext cx="3462658" cy="1270658"/>
          </a:xfrm>
          <a:prstGeom prst="rect">
            <a:avLst/>
          </a:prstGeom>
        </p:spPr>
        <p:txBody>
          <a:bodyPr vert="horz" wrap="square" lIns="0" tIns="427789" rIns="0" bIns="0" rtlCol="0">
            <a:spAutoFit/>
          </a:bodyPr>
          <a:lstStyle/>
          <a:p>
            <a:pPr marL="177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2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9F9605D-0D4C-78FE-D19A-E4C14FD7A9E6}"/>
              </a:ext>
            </a:extLst>
          </p:cNvPr>
          <p:cNvSpPr txBox="1"/>
          <p:nvPr/>
        </p:nvSpPr>
        <p:spPr>
          <a:xfrm>
            <a:off x="3172329" y="2628900"/>
            <a:ext cx="117348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26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40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5" dirty="0">
                <a:latin typeface="Arial" panose="020B0604020202020204" pitchFamily="34" charset="0"/>
                <a:cs typeface="Arial" panose="020B0604020202020204" pitchFamily="34" charset="0"/>
              </a:rPr>
              <a:t>apartado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70" dirty="0">
                <a:latin typeface="Arial" panose="020B0604020202020204" pitchFamily="34" charset="0"/>
                <a:cs typeface="Arial" panose="020B0604020202020204" pitchFamily="34" charset="0"/>
              </a:rPr>
              <a:t>localizaremos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35" dirty="0" err="1">
                <a:latin typeface="Arial" panose="020B0604020202020204" pitchFamily="34" charset="0"/>
                <a:cs typeface="Arial" panose="020B0604020202020204" pitchFamily="34" charset="0"/>
              </a:rPr>
              <a:t>boton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5" dirty="0">
                <a:latin typeface="Arial" panose="020B0604020202020204" pitchFamily="34" charset="0"/>
                <a:cs typeface="Arial" panose="020B0604020202020204" pitchFamily="34" charset="0"/>
              </a:rPr>
              <a:t>descarga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0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7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7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dirty="0">
                <a:latin typeface="Arial" panose="020B0604020202020204" pitchFamily="34" charset="0"/>
                <a:cs typeface="Arial" panose="020B0604020202020204" pitchFamily="34" charset="0"/>
              </a:rPr>
              <a:t>descargaremos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dirty="0">
                <a:latin typeface="Arial" panose="020B0604020202020204" pitchFamily="34" charset="0"/>
                <a:cs typeface="Arial" panose="020B0604020202020204" pitchFamily="34" charset="0"/>
              </a:rPr>
              <a:t>tal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GT" sz="2600" spc="-45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s-GT" sz="260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45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s-GT" sz="2600" dirty="0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s-GT" sz="2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GT" sz="260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GT" sz="2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0" dirty="0">
                <a:latin typeface="Arial" panose="020B0604020202020204" pitchFamily="34" charset="0"/>
                <a:cs typeface="Arial" panose="020B0604020202020204" pitchFamily="34" charset="0"/>
              </a:rPr>
              <a:t>imagen</a:t>
            </a:r>
            <a:endParaRPr lang="es-GT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GT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2349" y="2466994"/>
            <a:ext cx="11163299" cy="12096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0945" y="5600700"/>
            <a:ext cx="10906109" cy="15906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01000" y="847240"/>
            <a:ext cx="2623050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3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244859" y="4030759"/>
            <a:ext cx="13270865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56739" marR="5080" indent="-1844675">
              <a:lnSpc>
                <a:spcPct val="115199"/>
              </a:lnSpc>
              <a:spcBef>
                <a:spcPts val="95"/>
              </a:spcBef>
            </a:pP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Ubicamos</a:t>
            </a:r>
            <a:r>
              <a:rPr sz="25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descarga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“descargas”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procedemos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cortar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descarga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ubicarla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escritorio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nombre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“project”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4808" y="7526216"/>
            <a:ext cx="14070965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46470" marR="5080" indent="-6034405">
              <a:lnSpc>
                <a:spcPct val="115199"/>
              </a:lnSpc>
              <a:spcBef>
                <a:spcPts val="95"/>
              </a:spcBef>
            </a:pP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podemos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instalador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encuentra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“project”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ubicación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escritorio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7095" y="4152900"/>
            <a:ext cx="11553809" cy="36480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61144" y="686179"/>
            <a:ext cx="2565706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4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235607" y="2173246"/>
            <a:ext cx="11816781" cy="1352101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2550" spc="-55" dirty="0" err="1">
                <a:latin typeface="Arial" panose="020B0604020202020204" pitchFamily="34" charset="0"/>
                <a:cs typeface="Arial" panose="020B0604020202020204" pitchFamily="34" charset="0"/>
              </a:rPr>
              <a:t>Ingresamos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link: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5080" algn="ctr">
              <a:lnSpc>
                <a:spcPct val="115199"/>
              </a:lnSpc>
            </a:pPr>
            <a:r>
              <a:rPr lang="es-GT" sz="2550" spc="-12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https://learn.microsoft.com/es-es/office/ltsc/2021/deploy#create-the-configurationxml-file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y</a:t>
            </a:r>
            <a:endParaRPr lang="es-ES"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5080" algn="ctr">
              <a:lnSpc>
                <a:spcPct val="115199"/>
              </a:lnSpc>
            </a:pPr>
            <a:r>
              <a:rPr sz="2550" spc="-50" dirty="0" err="1">
                <a:latin typeface="Arial" panose="020B0604020202020204" pitchFamily="34" charset="0"/>
                <a:cs typeface="Arial" panose="020B0604020202020204" pitchFamily="34" charset="0"/>
              </a:rPr>
              <a:t>ubicamos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pasos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pagina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80272" y="8220519"/>
            <a:ext cx="3727450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paso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5270" y="3467100"/>
            <a:ext cx="8829689" cy="60007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748514" y="458963"/>
            <a:ext cx="2743200" cy="1270658"/>
          </a:xfrm>
          <a:prstGeom prst="rect">
            <a:avLst/>
          </a:prstGeom>
        </p:spPr>
        <p:txBody>
          <a:bodyPr vert="horz" wrap="square" lIns="0" tIns="427789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5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CF2B48-E800-DBE2-C307-B786844F8784}"/>
              </a:ext>
            </a:extLst>
          </p:cNvPr>
          <p:cNvSpPr txBox="1"/>
          <p:nvPr/>
        </p:nvSpPr>
        <p:spPr>
          <a:xfrm>
            <a:off x="1143000" y="1943100"/>
            <a:ext cx="14859000" cy="973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72614" marR="5080" indent="-1860550" algn="ctr">
              <a:lnSpc>
                <a:spcPct val="115199"/>
              </a:lnSpc>
              <a:spcBef>
                <a:spcPts val="95"/>
              </a:spcBef>
              <a:tabLst>
                <a:tab pos="3152140" algn="l"/>
              </a:tabLst>
            </a:pPr>
            <a:r>
              <a:rPr lang="es-GT" sz="260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20" dirty="0">
                <a:latin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60" dirty="0">
                <a:latin typeface="Arial" panose="020B0604020202020204" pitchFamily="34" charset="0"/>
                <a:cs typeface="Arial" panose="020B0604020202020204" pitchFamily="34" charset="0"/>
              </a:rPr>
              <a:t>dimos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14" dirty="0" err="1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45" dirty="0">
                <a:latin typeface="Arial" panose="020B0604020202020204" pitchFamily="34" charset="0"/>
                <a:cs typeface="Arial" panose="020B0604020202020204" pitchFamily="34" charset="0"/>
              </a:rPr>
              <a:t>paso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7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5" dirty="0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40" dirty="0">
                <a:latin typeface="Arial" panose="020B0604020202020204" pitchFamily="34" charset="0"/>
                <a:cs typeface="Arial" panose="020B0604020202020204" pitchFamily="34" charset="0"/>
              </a:rPr>
              <a:t>llevara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40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5" dirty="0">
                <a:latin typeface="Arial" panose="020B0604020202020204" pitchFamily="34" charset="0"/>
                <a:cs typeface="Arial" panose="020B0604020202020204" pitchFamily="34" charset="0"/>
              </a:rPr>
              <a:t>apartado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5" dirty="0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0" dirty="0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GT" sz="2600" spc="-35" dirty="0">
                <a:latin typeface="Arial" panose="020B0604020202020204" pitchFamily="34" charset="0"/>
                <a:cs typeface="Arial" panose="020B0604020202020204" pitchFamily="34" charset="0"/>
              </a:rPr>
              <a:t>emos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5" dirty="0">
                <a:latin typeface="Arial" panose="020B0604020202020204" pitchFamily="34" charset="0"/>
                <a:cs typeface="Arial" panose="020B0604020202020204" pitchFamily="34" charset="0"/>
              </a:rPr>
              <a:t>dar </a:t>
            </a:r>
            <a:r>
              <a:rPr lang="es-GT" sz="2600" spc="-114" dirty="0" err="1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GT" sz="26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5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s-GT" sz="2600" spc="-30" dirty="0">
                <a:latin typeface="Arial" panose="020B0604020202020204" pitchFamily="34" charset="0"/>
                <a:cs typeface="Arial" panose="020B0604020202020204" pitchFamily="34" charset="0"/>
              </a:rPr>
              <a:t>“herramienta</a:t>
            </a:r>
            <a:r>
              <a:rPr lang="es-GT" sz="260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GT" sz="26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70" dirty="0" err="1">
                <a:latin typeface="Arial" panose="020B0604020202020204" pitchFamily="34" charset="0"/>
                <a:cs typeface="Arial" panose="020B0604020202020204" pitchFamily="34" charset="0"/>
              </a:rPr>
              <a:t>personalizacion</a:t>
            </a:r>
            <a:r>
              <a:rPr lang="es-GT" sz="26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GT" sz="26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75" dirty="0">
                <a:latin typeface="Arial" panose="020B0604020202020204" pitchFamily="34" charset="0"/>
                <a:cs typeface="Arial" panose="020B0604020202020204" pitchFamily="34" charset="0"/>
              </a:rPr>
              <a:t>office</a:t>
            </a:r>
            <a:r>
              <a:rPr lang="es-GT" sz="26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0" dirty="0">
                <a:latin typeface="Arial" panose="020B0604020202020204" pitchFamily="34" charset="0"/>
                <a:cs typeface="Arial" panose="020B0604020202020204" pitchFamily="34" charset="0"/>
              </a:rPr>
              <a:t>(OCT) </a:t>
            </a:r>
            <a:r>
              <a:rPr lang="es-GT" sz="2600" spc="-1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https://config.office.com/deploymentsettings</a:t>
            </a:r>
            <a:endParaRPr lang="es-GT" sz="260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382" y="2898495"/>
            <a:ext cx="7962899" cy="61055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66813" y="2898495"/>
            <a:ext cx="7791449" cy="61055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2478881" y="367802"/>
            <a:ext cx="13330238" cy="1830388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972185" algn="ctr">
              <a:lnSpc>
                <a:spcPct val="100000"/>
              </a:lnSpc>
              <a:spcBef>
                <a:spcPts val="725"/>
              </a:spcBef>
            </a:pPr>
            <a:r>
              <a:rPr lang="es-ES" dirty="0"/>
              <a:t>PASO</a:t>
            </a:r>
            <a:r>
              <a:rPr lang="es-ES" spc="-840" dirty="0"/>
              <a:t> </a:t>
            </a:r>
            <a:r>
              <a:rPr lang="es-ES" spc="-520" dirty="0"/>
              <a:t>6</a:t>
            </a:r>
          </a:p>
          <a:p>
            <a:pPr marL="5004435" marR="5080" indent="-4992370" algn="just">
              <a:lnSpc>
                <a:spcPts val="3529"/>
              </a:lnSpc>
            </a:pPr>
            <a:r>
              <a:rPr lang="es-ES" sz="2550" spc="-20" dirty="0"/>
              <a:t>Procedemos</a:t>
            </a:r>
            <a:r>
              <a:rPr lang="es-ES" sz="2550" spc="-145" dirty="0"/>
              <a:t> </a:t>
            </a:r>
            <a:r>
              <a:rPr lang="es-ES" sz="2550" dirty="0"/>
              <a:t>a</a:t>
            </a:r>
            <a:r>
              <a:rPr lang="es-ES" sz="2550" spc="-145" dirty="0"/>
              <a:t> </a:t>
            </a:r>
            <a:r>
              <a:rPr lang="es-ES" sz="2550" spc="-40" dirty="0"/>
              <a:t>llenar</a:t>
            </a:r>
            <a:r>
              <a:rPr lang="es-ES" sz="2550" spc="-145" dirty="0"/>
              <a:t> </a:t>
            </a:r>
            <a:r>
              <a:rPr lang="es-ES" sz="2550" spc="-85" dirty="0"/>
              <a:t>los</a:t>
            </a:r>
            <a:r>
              <a:rPr lang="es-ES" sz="2550" spc="-145" dirty="0"/>
              <a:t> </a:t>
            </a:r>
            <a:r>
              <a:rPr lang="es-ES" sz="2550" spc="-50" dirty="0"/>
              <a:t>datos</a:t>
            </a:r>
            <a:r>
              <a:rPr lang="es-ES" sz="2550" spc="-145" dirty="0"/>
              <a:t> </a:t>
            </a:r>
            <a:r>
              <a:rPr lang="es-ES" sz="2550" spc="-80" dirty="0" err="1"/>
              <a:t>segun</a:t>
            </a:r>
            <a:r>
              <a:rPr lang="es-ES" sz="2550" spc="-145" dirty="0"/>
              <a:t> </a:t>
            </a:r>
            <a:r>
              <a:rPr lang="es-ES" sz="2550" spc="-40" dirty="0"/>
              <a:t>nuestras</a:t>
            </a:r>
            <a:r>
              <a:rPr lang="es-ES" sz="2550" spc="-145" dirty="0"/>
              <a:t> </a:t>
            </a:r>
            <a:r>
              <a:rPr lang="es-ES" sz="2550" spc="-60" dirty="0"/>
              <a:t>necesidades,</a:t>
            </a:r>
            <a:r>
              <a:rPr lang="es-ES" sz="2550" spc="-145" dirty="0"/>
              <a:t> </a:t>
            </a:r>
            <a:r>
              <a:rPr lang="es-ES" sz="2550" dirty="0"/>
              <a:t>en</a:t>
            </a:r>
            <a:r>
              <a:rPr lang="es-ES" sz="2550" spc="-145" dirty="0"/>
              <a:t> </a:t>
            </a:r>
            <a:r>
              <a:rPr lang="es-ES" sz="2550" spc="-50" dirty="0"/>
              <a:t>mi</a:t>
            </a:r>
            <a:r>
              <a:rPr lang="es-ES" sz="2550" spc="-145" dirty="0"/>
              <a:t> </a:t>
            </a:r>
            <a:r>
              <a:rPr lang="es-ES" sz="2550" spc="-60" dirty="0"/>
              <a:t>caso</a:t>
            </a:r>
            <a:r>
              <a:rPr lang="es-ES" sz="2550" spc="-145" dirty="0"/>
              <a:t> </a:t>
            </a:r>
            <a:r>
              <a:rPr lang="es-ES" sz="2550" spc="-50" dirty="0"/>
              <a:t>mi</a:t>
            </a:r>
            <a:r>
              <a:rPr lang="es-ES" sz="2550" spc="-145" dirty="0"/>
              <a:t> </a:t>
            </a:r>
            <a:r>
              <a:rPr lang="es-ES" sz="2550" spc="-65" dirty="0"/>
              <a:t>pc</a:t>
            </a:r>
            <a:r>
              <a:rPr lang="es-ES" sz="2550" spc="-145" dirty="0"/>
              <a:t> </a:t>
            </a:r>
            <a:r>
              <a:rPr lang="es-ES" sz="2550" spc="-45" dirty="0"/>
              <a:t>es</a:t>
            </a:r>
            <a:r>
              <a:rPr lang="es-ES" sz="2550" spc="-145" dirty="0"/>
              <a:t> </a:t>
            </a:r>
            <a:r>
              <a:rPr lang="es-ES" sz="2550" dirty="0"/>
              <a:t>de</a:t>
            </a:r>
            <a:r>
              <a:rPr lang="es-ES" sz="2550" spc="-145" dirty="0"/>
              <a:t> </a:t>
            </a:r>
            <a:r>
              <a:rPr lang="es-ES" sz="2550" spc="-170" dirty="0"/>
              <a:t>64</a:t>
            </a:r>
            <a:r>
              <a:rPr lang="es-ES" sz="2550" spc="-145" dirty="0"/>
              <a:t> </a:t>
            </a:r>
            <a:r>
              <a:rPr lang="es-ES" sz="2550" spc="-75" dirty="0"/>
              <a:t>bits</a:t>
            </a:r>
            <a:r>
              <a:rPr lang="es-ES" sz="2550" spc="-145" dirty="0"/>
              <a:t> </a:t>
            </a:r>
            <a:r>
              <a:rPr lang="es-ES" sz="2550" dirty="0"/>
              <a:t>y</a:t>
            </a:r>
            <a:r>
              <a:rPr lang="es-ES" sz="2550" spc="-145" dirty="0"/>
              <a:t> </a:t>
            </a:r>
            <a:r>
              <a:rPr lang="es-ES" sz="2550" spc="-20" dirty="0"/>
              <a:t>esta </a:t>
            </a:r>
            <a:r>
              <a:rPr lang="es-ES" sz="2550" spc="-45" dirty="0"/>
              <a:t>es</a:t>
            </a:r>
            <a:r>
              <a:rPr lang="es-ES" sz="2550" spc="-145" dirty="0"/>
              <a:t> </a:t>
            </a:r>
            <a:r>
              <a:rPr lang="es-ES" sz="2550" spc="-50" dirty="0"/>
              <a:t>la</a:t>
            </a:r>
            <a:r>
              <a:rPr lang="es-ES" sz="2550" spc="-145" dirty="0"/>
              <a:t> </a:t>
            </a:r>
            <a:r>
              <a:rPr lang="es-ES" sz="2550" spc="-70" dirty="0"/>
              <a:t>configuración</a:t>
            </a:r>
            <a:r>
              <a:rPr lang="es-ES" sz="2550" spc="-145" dirty="0"/>
              <a:t> </a:t>
            </a:r>
            <a:r>
              <a:rPr lang="es-ES" sz="2550" spc="-10" dirty="0"/>
              <a:t>que</a:t>
            </a:r>
            <a:r>
              <a:rPr lang="es-ES" sz="2550" spc="-145" dirty="0"/>
              <a:t> </a:t>
            </a:r>
            <a:r>
              <a:rPr lang="es-ES" sz="2550" spc="-10" dirty="0"/>
              <a:t>utilice:</a:t>
            </a:r>
            <a:endParaRPr lang="es-ES" sz="2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172" y="1773112"/>
            <a:ext cx="9258299" cy="526730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28239" y="4721321"/>
            <a:ext cx="7686689" cy="496254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7788275" y="174514"/>
            <a:ext cx="2711450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dirty="0"/>
              <a:t>PASO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1758" y="1341519"/>
            <a:ext cx="9258299" cy="5067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3437" y="7042647"/>
            <a:ext cx="11429999" cy="28574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7826375" y="386854"/>
            <a:ext cx="2635250" cy="85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2679" y="1249801"/>
            <a:ext cx="6905609" cy="5943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357" y="4220291"/>
            <a:ext cx="7200899" cy="55054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7795132" y="166959"/>
            <a:ext cx="3092450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7206" y="1774371"/>
            <a:ext cx="11477609" cy="28193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3928" y="5331988"/>
            <a:ext cx="4448190" cy="32575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16885" y="7429514"/>
            <a:ext cx="9734549" cy="20859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11788" y="53966"/>
            <a:ext cx="11764010" cy="136334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972185" algn="ctr">
              <a:lnSpc>
                <a:spcPct val="100000"/>
              </a:lnSpc>
              <a:spcBef>
                <a:spcPts val="725"/>
              </a:spcBef>
            </a:pPr>
            <a:r>
              <a:rPr dirty="0"/>
              <a:t>PASO</a:t>
            </a:r>
            <a:r>
              <a:rPr spc="-840" dirty="0"/>
              <a:t> </a:t>
            </a:r>
            <a:r>
              <a:rPr lang="es-ES" spc="-840" dirty="0"/>
              <a:t>10</a:t>
            </a:r>
            <a:endParaRPr spc="-520" dirty="0"/>
          </a:p>
          <a:p>
            <a:pPr marL="12700" algn="ctr">
              <a:lnSpc>
                <a:spcPct val="100000"/>
              </a:lnSpc>
              <a:spcBef>
                <a:spcPts val="305"/>
              </a:spcBef>
              <a:tabLst>
                <a:tab pos="2749550" algn="l"/>
              </a:tabLst>
            </a:pPr>
            <a:r>
              <a:rPr sz="2550" dirty="0"/>
              <a:t>En</a:t>
            </a:r>
            <a:r>
              <a:rPr sz="2550" spc="-150" dirty="0"/>
              <a:t> </a:t>
            </a:r>
            <a:r>
              <a:rPr lang="es-ES" sz="2550" spc="-40" dirty="0"/>
              <a:t>este</a:t>
            </a:r>
            <a:r>
              <a:rPr sz="2550" spc="-145" dirty="0"/>
              <a:t> </a:t>
            </a:r>
            <a:r>
              <a:rPr lang="es-ES" sz="2550" spc="-145" dirty="0"/>
              <a:t>apartado</a:t>
            </a:r>
            <a:r>
              <a:rPr lang="es-ES" sz="2550" spc="-10" dirty="0"/>
              <a:t> nos vamos</a:t>
            </a:r>
            <a:r>
              <a:rPr sz="2550" spc="-175" dirty="0"/>
              <a:t> </a:t>
            </a:r>
            <a:r>
              <a:rPr sz="2550" spc="-35" dirty="0"/>
              <a:t>hasta</a:t>
            </a:r>
            <a:r>
              <a:rPr sz="2550" spc="-160" dirty="0"/>
              <a:t> </a:t>
            </a:r>
            <a:r>
              <a:rPr sz="2550" spc="-40" dirty="0"/>
              <a:t>abajo</a:t>
            </a:r>
            <a:r>
              <a:rPr sz="2550" spc="-160" dirty="0"/>
              <a:t> </a:t>
            </a:r>
            <a:r>
              <a:rPr sz="2550" dirty="0"/>
              <a:t>y</a:t>
            </a:r>
            <a:r>
              <a:rPr sz="2550" spc="-155" dirty="0"/>
              <a:t> </a:t>
            </a:r>
            <a:r>
              <a:rPr sz="2550" spc="-45" dirty="0"/>
              <a:t>presionamos</a:t>
            </a:r>
            <a:r>
              <a:rPr sz="2550" spc="-160" dirty="0"/>
              <a:t> </a:t>
            </a:r>
            <a:r>
              <a:rPr sz="2550" spc="-50" dirty="0"/>
              <a:t>el</a:t>
            </a:r>
            <a:r>
              <a:rPr sz="2550" spc="-155" dirty="0"/>
              <a:t> </a:t>
            </a:r>
            <a:r>
              <a:rPr sz="2550" spc="-35" dirty="0"/>
              <a:t>boton</a:t>
            </a:r>
            <a:r>
              <a:rPr sz="2550" spc="-155" dirty="0"/>
              <a:t> </a:t>
            </a:r>
            <a:r>
              <a:rPr sz="2550" dirty="0"/>
              <a:t>de</a:t>
            </a:r>
            <a:r>
              <a:rPr sz="2550" spc="-160" dirty="0"/>
              <a:t> </a:t>
            </a:r>
            <a:r>
              <a:rPr sz="2550" spc="-25" dirty="0"/>
              <a:t>finalizar.</a:t>
            </a:r>
            <a:endParaRPr sz="2550" dirty="0"/>
          </a:p>
        </p:txBody>
      </p:sp>
      <p:sp>
        <p:nvSpPr>
          <p:cNvPr id="6" name="object 6"/>
          <p:cNvSpPr txBox="1"/>
          <p:nvPr/>
        </p:nvSpPr>
        <p:spPr>
          <a:xfrm>
            <a:off x="9399735" y="5600058"/>
            <a:ext cx="5170170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0400" marR="5080" indent="-1918335">
              <a:lnSpc>
                <a:spcPct val="115199"/>
              </a:lnSpc>
              <a:spcBef>
                <a:spcPts val="95"/>
              </a:spcBef>
            </a:pP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despues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botno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exportar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1244" y="2861929"/>
            <a:ext cx="6105509" cy="61816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630635" y="348750"/>
            <a:ext cx="3026729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11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778B20-C1A4-AC16-5713-0230E99A39AD}"/>
              </a:ext>
            </a:extLst>
          </p:cNvPr>
          <p:cNvSpPr txBox="1"/>
          <p:nvPr/>
        </p:nvSpPr>
        <p:spPr>
          <a:xfrm>
            <a:off x="3695700" y="1394149"/>
            <a:ext cx="10896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600" spc="-4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s-GT" sz="260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dirty="0">
                <a:latin typeface="Arial" panose="020B0604020202020204" pitchFamily="34" charset="0"/>
                <a:cs typeface="Arial" panose="020B0604020202020204" pitchFamily="34" charset="0"/>
              </a:rPr>
              <a:t>desplegara</a:t>
            </a:r>
            <a:r>
              <a:rPr lang="es-GT" sz="2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70" dirty="0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5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5" dirty="0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s-GT" sz="2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30" dirty="0">
                <a:latin typeface="Arial" panose="020B0604020202020204" pitchFamily="34" charset="0"/>
                <a:cs typeface="Arial" panose="020B0604020202020204" pitchFamily="34" charset="0"/>
              </a:rPr>
              <a:t>debemos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35" dirty="0">
                <a:latin typeface="Arial" panose="020B0604020202020204" pitchFamily="34" charset="0"/>
                <a:cs typeface="Arial" panose="020B0604020202020204" pitchFamily="34" charset="0"/>
              </a:rPr>
              <a:t>presionar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40" dirty="0">
                <a:latin typeface="Arial" panose="020B0604020202020204" pitchFamily="34" charset="0"/>
                <a:cs typeface="Arial" panose="020B0604020202020204" pitchFamily="34" charset="0"/>
              </a:rPr>
              <a:t>“Formatos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75" dirty="0">
                <a:latin typeface="Arial" panose="020B0604020202020204" pitchFamily="34" charset="0"/>
                <a:cs typeface="Arial" panose="020B0604020202020204" pitchFamily="34" charset="0"/>
              </a:rPr>
              <a:t>office</a:t>
            </a:r>
            <a:r>
              <a:rPr lang="es-GT" sz="26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0" dirty="0"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  <a:r>
              <a:rPr lang="es-GT"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5" dirty="0">
                <a:latin typeface="Arial" panose="020B0604020202020204" pitchFamily="34" charset="0"/>
                <a:cs typeface="Arial" panose="020B0604020202020204" pitchFamily="34" charset="0"/>
              </a:rPr>
              <a:t>XML”</a:t>
            </a:r>
            <a:r>
              <a:rPr lang="es-GT" sz="2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25" dirty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es-GT" sz="2600" spc="-30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lang="es-GT" sz="260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0" dirty="0">
                <a:latin typeface="Arial" panose="020B0604020202020204" pitchFamily="34" charset="0"/>
                <a:cs typeface="Arial" panose="020B0604020202020204" pitchFamily="34" charset="0"/>
              </a:rPr>
              <a:t>aceptar.</a:t>
            </a:r>
            <a:endParaRPr lang="es-GT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GT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2943" y="2367235"/>
            <a:ext cx="9486899" cy="13906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5257" y="5868771"/>
            <a:ext cx="10944209" cy="32289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04723" y="6576364"/>
            <a:ext cx="3876689" cy="18097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59561" y="625958"/>
            <a:ext cx="316887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12</a:t>
            </a:r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4648200" y="1653958"/>
            <a:ext cx="9872980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Debemos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seleccionar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aceptamos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85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terminos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condiciones: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7400" y="4267106"/>
            <a:ext cx="14399260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0015" marR="5080" indent="-3917950">
              <a:lnSpc>
                <a:spcPct val="115199"/>
              </a:lnSpc>
              <a:spcBef>
                <a:spcPts val="95"/>
              </a:spcBef>
            </a:pP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marcada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casilla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procedemos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cambiar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nombre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archivo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colocamos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“project”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despues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boton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exportar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399" y="3292525"/>
            <a:ext cx="11125199" cy="12858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2850" y="5800723"/>
            <a:ext cx="10782299" cy="19716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07161" y="482475"/>
            <a:ext cx="347367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13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371600" y="1704815"/>
            <a:ext cx="13663294" cy="1345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28085" algn="l"/>
              </a:tabLst>
            </a:pP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550" spc="-10" dirty="0">
                <a:latin typeface="Arial" panose="020B0604020202020204" pitchFamily="34" charset="0"/>
                <a:cs typeface="Arial" panose="020B0604020202020204" pitchFamily="34" charset="0"/>
              </a:rPr>
              <a:t>descargas ubicamos </a:t>
            </a:r>
            <a:r>
              <a:rPr sz="2550" spc="-5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archivo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cortamos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llevamos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1514" algn="ctr">
              <a:lnSpc>
                <a:spcPct val="100000"/>
              </a:lnSpc>
              <a:spcBef>
                <a:spcPts val="5"/>
              </a:spcBef>
            </a:pP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Descargas: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4540" y="4981591"/>
            <a:ext cx="4058920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escritorio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“project”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381" y="3162300"/>
            <a:ext cx="6115049" cy="59626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56322" y="133259"/>
            <a:ext cx="370227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lang="es-ES" dirty="0"/>
              <a:t> 14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669697" y="1538935"/>
            <a:ext cx="14511655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4250" marR="5080" indent="-972185">
              <a:lnSpc>
                <a:spcPct val="115199"/>
              </a:lnSpc>
              <a:spcBef>
                <a:spcPts val="95"/>
              </a:spcBef>
            </a:pP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ubicamos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escritorio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empezar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instalación,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derecho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instalador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despues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“Ejecutar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administrador”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72800" y="4459287"/>
            <a:ext cx="3091180" cy="136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5199"/>
              </a:lnSpc>
              <a:spcBef>
                <a:spcPts val="95"/>
              </a:spcBef>
            </a:pP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(Saldra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ventana emergente,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si)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306854"/>
            <a:ext cx="9534509" cy="8572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6174" y="3823563"/>
            <a:ext cx="4695809" cy="5429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95988" y="5143500"/>
            <a:ext cx="5743559" cy="21240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58350" y="420093"/>
            <a:ext cx="2971299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1</a:t>
            </a:r>
            <a:r>
              <a:rPr lang="es-ES" dirty="0"/>
              <a:t>5</a:t>
            </a:r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6248400" y="1626903"/>
            <a:ext cx="704659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marcamos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casilla,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despues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continuar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8200" y="3077904"/>
            <a:ext cx="1103312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Ubicamos</a:t>
            </a:r>
            <a:r>
              <a:rPr sz="25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nuestra</a:t>
            </a:r>
            <a:r>
              <a:rPr sz="25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ubicada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escritorio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aceptar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5000" y="4320942"/>
            <a:ext cx="564070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saldra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mensaje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aceptar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7784" y="2431678"/>
            <a:ext cx="10687049" cy="22574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7784" y="5647364"/>
            <a:ext cx="10972799" cy="26479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27200" y="8956699"/>
            <a:ext cx="2495549" cy="10382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58000" y="468262"/>
            <a:ext cx="431187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1</a:t>
            </a:r>
            <a:r>
              <a:rPr lang="es-ES" dirty="0"/>
              <a:t>6</a:t>
            </a:r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373128" y="1647862"/>
            <a:ext cx="7028180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Deberiamos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90" dirty="0">
                <a:latin typeface="Arial" panose="020B0604020202020204" pitchFamily="34" charset="0"/>
                <a:cs typeface="Arial" panose="020B0604020202020204" pitchFamily="34" charset="0"/>
              </a:rPr>
              <a:t>algo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asi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nuestra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carpeta: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7467" y="5116089"/>
            <a:ext cx="13250544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ubicacion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archivo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borramos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escribimos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“cmd”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9779" y="9230889"/>
            <a:ext cx="694499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Asi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deberia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ver,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ahora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solo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1245" y="2166951"/>
            <a:ext cx="6105509" cy="31337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9474" y="6685937"/>
            <a:ext cx="11449049" cy="18097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43800" y="335878"/>
            <a:ext cx="3626078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1</a:t>
            </a:r>
            <a:r>
              <a:rPr lang="es-ES" dirty="0"/>
              <a:t>7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951692" y="1425440"/>
            <a:ext cx="431482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mostrara</a:t>
            </a:r>
            <a:r>
              <a:rPr sz="25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asi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1692" y="5592456"/>
            <a:ext cx="15497310" cy="8892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5455" marR="5080" indent="-1723389">
              <a:lnSpc>
                <a:spcPct val="115199"/>
              </a:lnSpc>
              <a:spcBef>
                <a:spcPts val="95"/>
              </a:spcBef>
            </a:pP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nuevamente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pasos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link:</a:t>
            </a:r>
            <a:endParaRPr lang="es-ES" sz="2550" spc="-9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35455" marR="5080" indent="-1723389">
              <a:lnSpc>
                <a:spcPct val="115199"/>
              </a:lnSpc>
              <a:spcBef>
                <a:spcPts val="95"/>
              </a:spcBef>
            </a:pPr>
            <a:r>
              <a:rPr lang="es-MX" sz="2550" spc="-95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https://learn.microsoft.com/es-es/office/ltsc/2021/deploy#install-office-ltsc-2021-by-using-the-office-deployment-tool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99499" y="8817184"/>
            <a:ext cx="3727450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paso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6145" y="2079237"/>
            <a:ext cx="11515709" cy="4171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5724" y="7293446"/>
            <a:ext cx="10496549" cy="23050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02361" y="176381"/>
            <a:ext cx="4083278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1</a:t>
            </a:r>
            <a:r>
              <a:rPr lang="es-ES" dirty="0"/>
              <a:t>8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286000" y="1306143"/>
            <a:ext cx="5120640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Aca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copiamos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90" dirty="0">
                <a:latin typeface="Arial" panose="020B0604020202020204" pitchFamily="34" charset="0"/>
                <a:cs typeface="Arial" panose="020B0604020202020204" pitchFamily="34" charset="0"/>
              </a:rPr>
              <a:t>codigo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mostrado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6000" y="6608355"/>
            <a:ext cx="401891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55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pegamos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consola.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2405" y="2441525"/>
            <a:ext cx="10163189" cy="22002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4627" y="6304696"/>
            <a:ext cx="5143499" cy="31813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78561" y="372647"/>
            <a:ext cx="3930878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1</a:t>
            </a:r>
            <a:r>
              <a:rPr lang="es-ES" dirty="0"/>
              <a:t>9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068363" y="1356569"/>
            <a:ext cx="13916025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33645" marR="5080" indent="-5021580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cambiamos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nombre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archivo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nuestro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archivo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al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cambiarlo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debe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verse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asi: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5109" y="5288549"/>
            <a:ext cx="14875510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69455" marR="5080" indent="-7057390">
              <a:lnSpc>
                <a:spcPct val="115199"/>
              </a:lnSpc>
              <a:spcBef>
                <a:spcPts val="95"/>
              </a:spcBef>
            </a:pPr>
            <a:r>
              <a:rPr sz="2550" spc="-105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nombre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correcto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(saldra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SI)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deberiamos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tener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esto: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7679" y="2396788"/>
            <a:ext cx="10163189" cy="22002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4627" y="6304696"/>
            <a:ext cx="5143499" cy="31813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56322" y="133259"/>
            <a:ext cx="3641804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20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819211" y="1301431"/>
            <a:ext cx="13916025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33645" marR="5080" indent="-5021580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cambiamos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nombre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archivo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nuestro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archivo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al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cambiarlo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debe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verse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asi: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6245" y="5075739"/>
            <a:ext cx="14875510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69455" marR="5080" indent="-7057390">
              <a:lnSpc>
                <a:spcPct val="115199"/>
              </a:lnSpc>
              <a:spcBef>
                <a:spcPts val="95"/>
              </a:spcBef>
            </a:pPr>
            <a:r>
              <a:rPr sz="2550" spc="-105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nombre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correcto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(saldra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SI)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deberiamos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tener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esto: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05302" y="6829773"/>
            <a:ext cx="3300095" cy="181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5199"/>
              </a:lnSpc>
              <a:spcBef>
                <a:spcPts val="95"/>
              </a:spcBef>
            </a:pPr>
            <a:r>
              <a:rPr sz="2550" spc="-110" dirty="0">
                <a:latin typeface="Arial Black"/>
                <a:cs typeface="Arial Black"/>
              </a:rPr>
              <a:t>Nota:</a:t>
            </a:r>
            <a:r>
              <a:rPr sz="2550" spc="-190" dirty="0">
                <a:latin typeface="Arial Black"/>
                <a:cs typeface="Arial Black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tiempo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de espera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depende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velocidad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internet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sz="25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uno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2445" y="521390"/>
            <a:ext cx="6829409" cy="41814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8230" y="4702849"/>
            <a:ext cx="10563209" cy="5067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47800" y="1712770"/>
            <a:ext cx="5019040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9465" marR="5080" indent="-787400">
              <a:lnSpc>
                <a:spcPct val="115199"/>
              </a:lnSpc>
              <a:spcBef>
                <a:spcPts val="95"/>
              </a:spcBef>
            </a:pPr>
            <a:r>
              <a:rPr sz="2550" spc="-85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esos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pasos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contamos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con 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200" y="2624204"/>
            <a:ext cx="9463277" cy="409574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C1A9CDA-893E-BB77-1617-CBD1C9D4B089}"/>
              </a:ext>
            </a:extLst>
          </p:cNvPr>
          <p:cNvSpPr txBox="1"/>
          <p:nvPr/>
        </p:nvSpPr>
        <p:spPr>
          <a:xfrm>
            <a:off x="762000" y="2915532"/>
            <a:ext cx="7162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dirty="0"/>
              <a:t>INSTALACIÓN PROJECT LIBRE</a:t>
            </a:r>
            <a:endParaRPr lang="es-GT" sz="8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86220" y="140822"/>
            <a:ext cx="278787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100"/>
              </a:spcBef>
            </a:pPr>
            <a:r>
              <a:rPr dirty="0"/>
              <a:t>PASO 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69093" y="1402623"/>
            <a:ext cx="8949690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Ingresamos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link: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solidFill>
                  <a:srgbClr val="004A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sz="2550" spc="-75" dirty="0">
                <a:solidFill>
                  <a:srgbClr val="004AAC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www.projectlibre.com/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3720" y="8022823"/>
            <a:ext cx="9072878" cy="4065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apartado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imagen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“Download</a:t>
            </a:r>
            <a:r>
              <a:rPr lang="es-ES" sz="2550" spc="-10" dirty="0">
                <a:latin typeface="Arial" panose="020B0604020202020204" pitchFamily="34" charset="0"/>
                <a:cs typeface="Arial" panose="020B0604020202020204" pitchFamily="34" charset="0"/>
              </a:rPr>
              <a:t> Desktop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C650349-BC03-E9C1-9C57-91BDD75D1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381" y="2552700"/>
            <a:ext cx="9891113" cy="493923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9051" y="2622864"/>
            <a:ext cx="12068159" cy="50387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28832" y="306741"/>
            <a:ext cx="3228596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50" dirty="0">
                <a:latin typeface="Arial" panose="020B0604020202020204" pitchFamily="34" charset="0"/>
                <a:cs typeface="Arial" panose="020B0604020202020204" pitchFamily="34" charset="0"/>
              </a:rPr>
              <a:t>PASO </a:t>
            </a:r>
            <a:r>
              <a:rPr lang="es-ES" sz="545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5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89532" y="1446108"/>
            <a:ext cx="9307195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2395" marR="5080" indent="-2640330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mostrara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pagina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dice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“Files”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acceder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85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instaladores.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6110" y="2068433"/>
            <a:ext cx="11963399" cy="18097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1512" y="5120197"/>
            <a:ext cx="12001499" cy="15525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56322" y="133259"/>
            <a:ext cx="286407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</a:pPr>
            <a:r>
              <a:rPr dirty="0"/>
              <a:t>PASO 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400" y="1304195"/>
            <a:ext cx="606615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Hacemos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dice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“ProjectLibre”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4443" y="3998456"/>
            <a:ext cx="9932670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27220" marR="5080" indent="-4415155">
              <a:lnSpc>
                <a:spcPct val="115199"/>
              </a:lnSpc>
              <a:spcBef>
                <a:spcPts val="95"/>
              </a:spcBef>
            </a:pP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Seleccionamos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ultima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disponible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15" dirty="0">
                <a:latin typeface="Arial" panose="020B0604020202020204" pitchFamily="34" charset="0"/>
                <a:cs typeface="Arial" panose="020B0604020202020204" pitchFamily="34" charset="0"/>
              </a:rPr>
              <a:t>04/09/2024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1.9.3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9185" y="3172266"/>
            <a:ext cx="10306049" cy="59531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11861" y="208559"/>
            <a:ext cx="446427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4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6574" y="1442987"/>
            <a:ext cx="114300" cy="114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6574" y="2338336"/>
            <a:ext cx="114300" cy="114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29297" y="1219079"/>
            <a:ext cx="12053570" cy="136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55725">
              <a:lnSpc>
                <a:spcPct val="115199"/>
              </a:lnSpc>
              <a:spcBef>
                <a:spcPts val="95"/>
              </a:spcBef>
            </a:pP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ProjectLibre.exe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5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queremos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descargar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versión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ProjectLibre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Windows.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">
              <a:lnSpc>
                <a:spcPct val="100000"/>
              </a:lnSpc>
              <a:spcBef>
                <a:spcPts val="465"/>
              </a:spcBef>
            </a:pP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ProjectLibre.dmg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5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queremos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descargar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versión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ProjectLibre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MacOs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360" y="2410602"/>
            <a:ext cx="9420209" cy="1885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5681" y="5942959"/>
            <a:ext cx="4791059" cy="37051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761" y="165379"/>
            <a:ext cx="454047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76699" y="1219079"/>
            <a:ext cx="12816205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95"/>
              </a:spcBef>
            </a:pP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Esperamos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realice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descarga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instalador,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instalado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hacemos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sz="25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instalador.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(saldra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emergente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“si”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2358" y="4700921"/>
            <a:ext cx="789622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Veremos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debemos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presionar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“install”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360" y="2410602"/>
            <a:ext cx="9420209" cy="1885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5681" y="5942959"/>
            <a:ext cx="4791059" cy="37051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41376" y="209999"/>
            <a:ext cx="3805247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PASO </a:t>
            </a:r>
            <a:r>
              <a:rPr lang="es-ES" dirty="0"/>
              <a:t>6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976699" y="1219079"/>
            <a:ext cx="12816205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95"/>
              </a:spcBef>
            </a:pP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Esperamos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realice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descarga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instalador,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instalado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hacemos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click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sz="25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instalador.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(saldra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emergente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“si”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2358" y="4700921"/>
            <a:ext cx="789622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Veremos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debemos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presionar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“install”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6805" y="2134729"/>
            <a:ext cx="8334390" cy="62864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67000" y="1104900"/>
            <a:ext cx="12633960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95"/>
              </a:spcBef>
            </a:pP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siguiendo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pasos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instalado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correctamente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libre.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veremos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algo asi: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avLst/>
            <a:gdLst/>
            <a:ahLst/>
            <a:cxnLst/>
            <a:rect l="l" t="t" r="r" b="b"/>
            <a:pathLst>
              <a:path w="10564636" h="8663002" extrusionOk="0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avLst/>
            <a:gdLst/>
            <a:ahLst/>
            <a:cxnLst/>
            <a:rect l="l" t="t" r="r" b="b"/>
            <a:pathLst>
              <a:path w="16659109" h="10287000" extrusionOk="0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1137</Words>
  <Application>Microsoft Office PowerPoint</Application>
  <PresentationFormat>Personalizado</PresentationFormat>
  <Paragraphs>107</Paragraphs>
  <Slides>42</Slides>
  <Notes>6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50" baseType="lpstr">
      <vt:lpstr>Trebuchet MS</vt:lpstr>
      <vt:lpstr>Open Sans</vt:lpstr>
      <vt:lpstr>Times New Roman</vt:lpstr>
      <vt:lpstr>Calibri</vt:lpstr>
      <vt:lpstr>Arial</vt:lpstr>
      <vt:lpstr>Arial Black</vt:lpstr>
      <vt:lpstr>Office Theme</vt:lpstr>
      <vt:lpstr>Microsoft Excel Worksheet</vt:lpstr>
      <vt:lpstr>Presentación de PowerPoint</vt:lpstr>
      <vt:lpstr>Presentación de PowerPoint</vt:lpstr>
      <vt:lpstr>Presentación de PowerPoint</vt:lpstr>
      <vt:lpstr>MICROSOFT           PROJECT</vt:lpstr>
      <vt:lpstr>¿QUÉ ES UN PROYECTO?</vt:lpstr>
      <vt:lpstr>Presentación de PowerPoint</vt:lpstr>
      <vt:lpstr>¿QUÉ ES MICROSOFT PROJECT?</vt:lpstr>
      <vt:lpstr>Este programa proporciona a los administradores de proyectos y equipos herramientas para organizar tareas, asignar recursos, crear cronogramas, estimar tiempos y costos, hacer seguimiento al progreso, gestionar riesgos y generar informes detallados sobre el estado del proyecto.</vt:lpstr>
      <vt:lpstr>CARACTERISTICAS</vt:lpstr>
      <vt:lpstr>VENTAJAS</vt:lpstr>
      <vt:lpstr>Presentación de PowerPoint</vt:lpstr>
      <vt:lpstr>PASO 1</vt:lpstr>
      <vt:lpstr>PASO 2</vt:lpstr>
      <vt:lpstr>PASO 3</vt:lpstr>
      <vt:lpstr>PASO 4</vt:lpstr>
      <vt:lpstr>PASO 5</vt:lpstr>
      <vt:lpstr>PASO 6 Procedemos a llenar los datos segun nuestras necesidades, en mi caso mi pc es de 64 bits y esta es la configuración que utilice:</vt:lpstr>
      <vt:lpstr>PASO 7</vt:lpstr>
      <vt:lpstr>PASO 8</vt:lpstr>
      <vt:lpstr>PASO 9</vt:lpstr>
      <vt:lpstr>PASO 10 En este apartado nos vamos hasta abajo y presionamos el boton de finalizar.</vt:lpstr>
      <vt:lpstr>PASO 11</vt:lpstr>
      <vt:lpstr>PASO 12</vt:lpstr>
      <vt:lpstr>PASO 13</vt:lpstr>
      <vt:lpstr>PASO 14</vt:lpstr>
      <vt:lpstr>PASO 15</vt:lpstr>
      <vt:lpstr>PASO 16</vt:lpstr>
      <vt:lpstr>PASO 17</vt:lpstr>
      <vt:lpstr>PASO 18</vt:lpstr>
      <vt:lpstr>PASO 19</vt:lpstr>
      <vt:lpstr>PASO 20</vt:lpstr>
      <vt:lpstr>Presentación de PowerPoint</vt:lpstr>
      <vt:lpstr>Presentación de PowerPoint</vt:lpstr>
      <vt:lpstr>PASO 1</vt:lpstr>
      <vt:lpstr>Presentación de PowerPoint</vt:lpstr>
      <vt:lpstr>PASO 3</vt:lpstr>
      <vt:lpstr>PASO 4</vt:lpstr>
      <vt:lpstr>PASO 5</vt:lpstr>
      <vt:lpstr>PASO 6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Oscar Eduardo Morales Girón</cp:lastModifiedBy>
  <cp:revision>11</cp:revision>
  <dcterms:created xsi:type="dcterms:W3CDTF">2006-08-16T00:00:00Z</dcterms:created>
  <dcterms:modified xsi:type="dcterms:W3CDTF">2026-05-10T07:01:41Z</dcterms:modified>
</cp:coreProperties>
</file>