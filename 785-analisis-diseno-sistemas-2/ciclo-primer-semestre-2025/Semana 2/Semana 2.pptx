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10287000" cx="18288000"/>
  <p:notesSz cx="6858000" cy="9144000"/>
  <p:embeddedFontLst>
    <p:embeddedFont>
      <p:font typeface="Poppins"/>
      <p:regular r:id="rId34"/>
      <p:bold r:id="rId35"/>
      <p:italic r:id="rId36"/>
      <p:boldItalic r:id="rId37"/>
    </p:embeddedFont>
    <p:embeddedFont>
      <p:font typeface="Poppins Light"/>
      <p:regular r:id="rId38"/>
      <p:bold r:id="rId39"/>
      <p:italic r:id="rId40"/>
      <p:boldItalic r:id="rId41"/>
    </p:embeddedFont>
    <p:embeddedFont>
      <p:font typeface="Poppins Black"/>
      <p:bold r:id="rId42"/>
      <p:boldItalic r:id="rId43"/>
    </p:embeddedFon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hgNMzAfcEm+vVeS/H469WSnORr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928063-A2A2-4B94-8251-6A62FB6525CB}">
  <a:tblStyle styleId="{9C928063-A2A2-4B94-8251-6A62FB6525C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Light-italic.fntdata"/><Relationship Id="rId20" Type="http://schemas.openxmlformats.org/officeDocument/2006/relationships/slide" Target="slides/slide14.xml"/><Relationship Id="rId42" Type="http://schemas.openxmlformats.org/officeDocument/2006/relationships/font" Target="fonts/PoppinsBlack-bold.fntdata"/><Relationship Id="rId41" Type="http://schemas.openxmlformats.org/officeDocument/2006/relationships/font" Target="fonts/PoppinsLight-boldItalic.fntdata"/><Relationship Id="rId22" Type="http://schemas.openxmlformats.org/officeDocument/2006/relationships/slide" Target="slides/slide16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5.xml"/><Relationship Id="rId43" Type="http://schemas.openxmlformats.org/officeDocument/2006/relationships/font" Target="fonts/PoppinsBlack-boldItalic.fntdata"/><Relationship Id="rId24" Type="http://schemas.openxmlformats.org/officeDocument/2006/relationships/slide" Target="slides/slide18.xml"/><Relationship Id="rId46" Type="http://schemas.openxmlformats.org/officeDocument/2006/relationships/font" Target="fonts/OpenSans-italic.fntdata"/><Relationship Id="rId23" Type="http://schemas.openxmlformats.org/officeDocument/2006/relationships/slide" Target="slides/slide17.xml"/><Relationship Id="rId45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font" Target="fonts/OpenSans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Poppins-bold.fntdata"/><Relationship Id="rId12" Type="http://schemas.openxmlformats.org/officeDocument/2006/relationships/slide" Target="slides/slide6.xml"/><Relationship Id="rId34" Type="http://schemas.openxmlformats.org/officeDocument/2006/relationships/font" Target="fonts/Poppins-regular.fntdata"/><Relationship Id="rId15" Type="http://schemas.openxmlformats.org/officeDocument/2006/relationships/slide" Target="slides/slide9.xml"/><Relationship Id="rId37" Type="http://schemas.openxmlformats.org/officeDocument/2006/relationships/font" Target="fonts/Poppins-boldItalic.fntdata"/><Relationship Id="rId14" Type="http://schemas.openxmlformats.org/officeDocument/2006/relationships/slide" Target="slides/slide8.xml"/><Relationship Id="rId36" Type="http://schemas.openxmlformats.org/officeDocument/2006/relationships/font" Target="fonts/Poppins-italic.fntdata"/><Relationship Id="rId17" Type="http://schemas.openxmlformats.org/officeDocument/2006/relationships/slide" Target="slides/slide11.xml"/><Relationship Id="rId39" Type="http://schemas.openxmlformats.org/officeDocument/2006/relationships/font" Target="fonts/PoppinsLight-bold.fntdata"/><Relationship Id="rId16" Type="http://schemas.openxmlformats.org/officeDocument/2006/relationships/slide" Target="slides/slide10.xml"/><Relationship Id="rId38" Type="http://schemas.openxmlformats.org/officeDocument/2006/relationships/font" Target="fonts/PoppinsLight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ed9f8475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5ed9f8475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ed9f8475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5ed9f8475e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ed9f8475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5ed9f8475e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ed9f8475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35ed9f8475e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ed9f8475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5ed9f8475e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ed9f8475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5ed9f8475e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ed9f8475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5ed9f8475e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ed9f8475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5ed9f8475e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5ed9f8475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5ed9f8475e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ed9f8475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g35ed9f8475e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5ed9f8475e_0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5ed9f8475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ed9f8475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g35ed9f8475e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ed9f8475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g35ed9f8475e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ed9f8475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g35ed9f8475e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5ed9f8475e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g35ed9f8475e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5ed9f8475e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g35ed9f8475e_0_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ed9f8475e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g35ed9f8475e_0_1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ed9f8475e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g35ed9f8475e_0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5ed9f8475e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g35ed9f8475e_0_2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5ed9f8475e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g35ed9f8475e_0_2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5ed9f8475e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g35ed9f8475e_0_2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60abd5a1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0" name="Google Shape;380;g360abd5a1b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3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png"/><Relationship Id="rId4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www.youtube.com/watch?v=2X50sKeBAcQ" TargetMode="External"/><Relationship Id="rId4" Type="http://schemas.openxmlformats.org/officeDocument/2006/relationships/image" Target="../media/image2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37.png"/><Relationship Id="rId5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34.png"/><Relationship Id="rId5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3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063303" y="6994239"/>
            <a:ext cx="5717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Análisis y Diseño de Sistemas 2 B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643905" y="3197949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Elementos de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1300827" y="1975925"/>
            <a:ext cx="15968700" cy="52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51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Analizar y aplicar patrones de diseño en el desarrollo de software para resolver problemas comunes de arquitectura y diseño, mejorando la reutilización, flexibilidad, organización y mantenimiento del código.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/>
        </p:nvSpPr>
        <p:spPr>
          <a:xfrm>
            <a:off x="1374889" y="3027816"/>
            <a:ext cx="126255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Parte teórica que se requiera  (conocimiento)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4"/>
          <p:cNvSpPr txBox="1"/>
          <p:nvPr/>
        </p:nvSpPr>
        <p:spPr>
          <a:xfrm>
            <a:off x="14141311" y="6442453"/>
            <a:ext cx="3238236" cy="2815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Queda a tu discreción de donde te guías para generar el contenido que agregaras(libros, paginas web, etc. que fundamente teóricamente los temas que estas exponiendo a los compañeros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Google Shape;108;g35ed9f8475e_0_1"/>
          <p:cNvGraphicFramePr/>
          <p:nvPr/>
        </p:nvGraphicFramePr>
        <p:xfrm>
          <a:off x="6116951" y="4739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{9C928063-A2A2-4B94-8251-6A62FB6525CB}</a:tableStyleId>
              </a:tblPr>
              <a:tblGrid>
                <a:gridCol w="963725"/>
                <a:gridCol w="5090475"/>
              </a:tblGrid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Avisos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Grupos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Teoría Introductoria de Patrones de diseño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b="1" sz="2000" u="none" cap="none" strike="noStrike">
                        <a:solidFill>
                          <a:srgbClr val="FDFDF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Ejemplo Práctico</a:t>
                      </a:r>
                      <a:endParaRPr sz="2000" u="none" cap="none" strike="noStrike">
                        <a:solidFill>
                          <a:srgbClr val="013362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9" name="Google Shape;109;g35ed9f8475e_0_1"/>
          <p:cNvGrpSpPr/>
          <p:nvPr/>
        </p:nvGrpSpPr>
        <p:grpSpPr>
          <a:xfrm>
            <a:off x="-584626" y="1589619"/>
            <a:ext cx="19457594" cy="2036657"/>
            <a:chOff x="0" y="-76200"/>
            <a:chExt cx="5124600" cy="536400"/>
          </a:xfrm>
        </p:grpSpPr>
        <p:sp>
          <p:nvSpPr>
            <p:cNvPr id="110" name="Google Shape;110;g35ed9f8475e_0_1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11" name="Google Shape;111;g35ed9f8475e_0_1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g35ed9f8475e_0_1"/>
          <p:cNvSpPr/>
          <p:nvPr/>
        </p:nvSpPr>
        <p:spPr>
          <a:xfrm>
            <a:off x="592309" y="8986439"/>
            <a:ext cx="2658272" cy="1329136"/>
          </a:xfrm>
          <a:custGeom>
            <a:rect b="b" l="l" r="r" t="t"/>
            <a:pathLst>
              <a:path extrusionOk="0" h="1329136" w="2658272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g35ed9f8475e_0_1"/>
          <p:cNvSpPr txBox="1"/>
          <p:nvPr/>
        </p:nvSpPr>
        <p:spPr>
          <a:xfrm>
            <a:off x="5939974" y="1861823"/>
            <a:ext cx="6408000" cy="16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76"/>
              <a:buFont typeface="Arial"/>
              <a:buNone/>
            </a:pPr>
            <a:r>
              <a:rPr b="0" i="0" lang="en-US" sz="10576" u="none" cap="none" strike="noStrike">
                <a:solidFill>
                  <a:srgbClr val="FDFDFD"/>
                </a:solidFill>
                <a:latin typeface="Poppins Black"/>
                <a:ea typeface="Poppins Black"/>
                <a:cs typeface="Poppins Black"/>
                <a:sym typeface="Poppins Black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5ed9f8475e_0_1"/>
          <p:cNvSpPr/>
          <p:nvPr/>
        </p:nvSpPr>
        <p:spPr>
          <a:xfrm rot="10800000">
            <a:off x="14838633" y="0"/>
            <a:ext cx="2658272" cy="1329136"/>
          </a:xfrm>
          <a:custGeom>
            <a:rect b="b" l="l" r="r" t="t"/>
            <a:pathLst>
              <a:path extrusionOk="0" h="1329136" w="2658272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g35ed9f8475e_0_11"/>
          <p:cNvGrpSpPr/>
          <p:nvPr/>
        </p:nvGrpSpPr>
        <p:grpSpPr>
          <a:xfrm>
            <a:off x="-808963" y="3898825"/>
            <a:ext cx="19457594" cy="2036657"/>
            <a:chOff x="0" y="-76200"/>
            <a:chExt cx="5124600" cy="536400"/>
          </a:xfrm>
        </p:grpSpPr>
        <p:sp>
          <p:nvSpPr>
            <p:cNvPr id="120" name="Google Shape;120;g35ed9f8475e_0_11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21" name="Google Shape;121;g35ed9f8475e_0_11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g35ed9f8475e_0_11"/>
          <p:cNvSpPr txBox="1"/>
          <p:nvPr/>
        </p:nvSpPr>
        <p:spPr>
          <a:xfrm>
            <a:off x="1599296" y="4433539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Elementos de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g35ed9f8475e_0_18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28" name="Google Shape;128;g35ed9f8475e_0_18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29" name="Google Shape;129;g35ed9f8475e_0_1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g35ed9f8475e_0_18"/>
          <p:cNvSpPr txBox="1"/>
          <p:nvPr/>
        </p:nvSpPr>
        <p:spPr>
          <a:xfrm>
            <a:off x="1599296" y="1326489"/>
            <a:ext cx="15089400" cy="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5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¿Que es un elemento de diseño en software?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5ed9f8475e_0_18"/>
          <p:cNvSpPr txBox="1"/>
          <p:nvPr/>
        </p:nvSpPr>
        <p:spPr>
          <a:xfrm>
            <a:off x="1028700" y="2969245"/>
            <a:ext cx="16230600" cy="2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Los elementos de diseño en software son componentes fundamentales y conceptos que se utilizan para definir la arquitectura, estructura y comportamiento de un sistema de software. Estos elementos ayudan a los desarrolladores a crear software que es eficiente, mantenible, escalable y fácil de entender.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5ed9f8475e_0_18"/>
          <p:cNvPicPr preferRelativeResize="0"/>
          <p:nvPr/>
        </p:nvPicPr>
        <p:blipFill rotWithShape="1">
          <a:blip r:embed="rId3">
            <a:alphaModFix/>
          </a:blip>
          <a:srcRect b="8625" l="0" r="0" t="0"/>
          <a:stretch/>
        </p:blipFill>
        <p:spPr>
          <a:xfrm>
            <a:off x="5026750" y="5925925"/>
            <a:ext cx="6934875" cy="34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g35ed9f8475e_0_27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38" name="Google Shape;138;g35ed9f8475e_0_27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39" name="Google Shape;139;g35ed9f8475e_0_2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g35ed9f8475e_0_27"/>
          <p:cNvSpPr txBox="1"/>
          <p:nvPr/>
        </p:nvSpPr>
        <p:spPr>
          <a:xfrm>
            <a:off x="3111136" y="1180850"/>
            <a:ext cx="10766100" cy="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5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Patrones de diseño de software 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5ed9f8475e_0_27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Los patrones de diseño son soluciones reutilizables a problemas comunes que enfrentan los diseñadores y desarrolladores de software. Estos patrones proporcionan una estructura para elaborar diseños, lo que permite la creación de soluciones eficientes y mantenibles.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35ed9f8475e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2650" y="6570295"/>
            <a:ext cx="55245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5ed9f8475e_0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02700" y="5709425"/>
            <a:ext cx="6192151" cy="3014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g35ed9f8475e_0_27"/>
          <p:cNvCxnSpPr>
            <a:stCxn id="142" idx="3"/>
            <a:endCxn id="143" idx="1"/>
          </p:cNvCxnSpPr>
          <p:nvPr/>
        </p:nvCxnSpPr>
        <p:spPr>
          <a:xfrm flipH="1" rot="10800000">
            <a:off x="7157150" y="7216720"/>
            <a:ext cx="3845700" cy="925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36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g35ed9f8475e_0_38"/>
          <p:cNvGrpSpPr/>
          <p:nvPr/>
        </p:nvGrpSpPr>
        <p:grpSpPr>
          <a:xfrm>
            <a:off x="482825" y="574150"/>
            <a:ext cx="17551243" cy="3980732"/>
            <a:chOff x="0" y="-76200"/>
            <a:chExt cx="5124600" cy="536400"/>
          </a:xfrm>
        </p:grpSpPr>
        <p:sp>
          <p:nvSpPr>
            <p:cNvPr id="150" name="Google Shape;150;g35ed9f8475e_0_38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</p:sp>
        <p:sp>
          <p:nvSpPr>
            <p:cNvPr id="151" name="Google Shape;151;g35ed9f8475e_0_3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g35ed9f8475e_0_38"/>
          <p:cNvGrpSpPr/>
          <p:nvPr/>
        </p:nvGrpSpPr>
        <p:grpSpPr>
          <a:xfrm>
            <a:off x="2688225" y="6148318"/>
            <a:ext cx="2955835" cy="3314988"/>
            <a:chOff x="0" y="-76200"/>
            <a:chExt cx="977168" cy="1095900"/>
          </a:xfrm>
        </p:grpSpPr>
        <p:sp>
          <p:nvSpPr>
            <p:cNvPr id="153" name="Google Shape;153;g35ed9f8475e_0_38"/>
            <p:cNvSpPr/>
            <p:nvPr/>
          </p:nvSpPr>
          <p:spPr>
            <a:xfrm>
              <a:off x="0" y="0"/>
              <a:ext cx="977168" cy="1019574"/>
            </a:xfrm>
            <a:custGeom>
              <a:rect b="b" l="l" r="r" t="t"/>
              <a:pathLst>
                <a:path extrusionOk="0" h="1019574" w="977168">
                  <a:moveTo>
                    <a:pt x="0" y="0"/>
                  </a:moveTo>
                  <a:lnTo>
                    <a:pt x="977168" y="0"/>
                  </a:lnTo>
                  <a:lnTo>
                    <a:pt x="977168" y="1019574"/>
                  </a:lnTo>
                  <a:lnTo>
                    <a:pt x="0" y="1019574"/>
                  </a:lnTo>
                  <a:close/>
                </a:path>
              </a:pathLst>
            </a:custGeom>
            <a:solidFill>
              <a:srgbClr val="8AA9F9"/>
            </a:solidFill>
            <a:ln>
              <a:noFill/>
            </a:ln>
          </p:spPr>
        </p:sp>
        <p:sp>
          <p:nvSpPr>
            <p:cNvPr id="154" name="Google Shape;154;g35ed9f8475e_0_38"/>
            <p:cNvSpPr txBox="1"/>
            <p:nvPr/>
          </p:nvSpPr>
          <p:spPr>
            <a:xfrm>
              <a:off x="0" y="-76200"/>
              <a:ext cx="977100" cy="1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g35ed9f8475e_0_38"/>
          <p:cNvGrpSpPr/>
          <p:nvPr/>
        </p:nvGrpSpPr>
        <p:grpSpPr>
          <a:xfrm>
            <a:off x="6006840" y="6148318"/>
            <a:ext cx="2955835" cy="3314988"/>
            <a:chOff x="0" y="-76200"/>
            <a:chExt cx="977168" cy="1095900"/>
          </a:xfrm>
        </p:grpSpPr>
        <p:sp>
          <p:nvSpPr>
            <p:cNvPr id="156" name="Google Shape;156;g35ed9f8475e_0_38"/>
            <p:cNvSpPr/>
            <p:nvPr/>
          </p:nvSpPr>
          <p:spPr>
            <a:xfrm>
              <a:off x="0" y="0"/>
              <a:ext cx="977168" cy="1019574"/>
            </a:xfrm>
            <a:custGeom>
              <a:rect b="b" l="l" r="r" t="t"/>
              <a:pathLst>
                <a:path extrusionOk="0" h="1019574" w="977168">
                  <a:moveTo>
                    <a:pt x="0" y="0"/>
                  </a:moveTo>
                  <a:lnTo>
                    <a:pt x="977168" y="0"/>
                  </a:lnTo>
                  <a:lnTo>
                    <a:pt x="977168" y="1019574"/>
                  </a:lnTo>
                  <a:lnTo>
                    <a:pt x="0" y="1019574"/>
                  </a:lnTo>
                  <a:close/>
                </a:path>
              </a:pathLst>
            </a:custGeom>
            <a:solidFill>
              <a:srgbClr val="8AA9F9"/>
            </a:solidFill>
            <a:ln>
              <a:noFill/>
            </a:ln>
          </p:spPr>
        </p:sp>
        <p:sp>
          <p:nvSpPr>
            <p:cNvPr id="157" name="Google Shape;157;g35ed9f8475e_0_38"/>
            <p:cNvSpPr txBox="1"/>
            <p:nvPr/>
          </p:nvSpPr>
          <p:spPr>
            <a:xfrm>
              <a:off x="0" y="-76200"/>
              <a:ext cx="977100" cy="1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g35ed9f8475e_0_38"/>
          <p:cNvGrpSpPr/>
          <p:nvPr/>
        </p:nvGrpSpPr>
        <p:grpSpPr>
          <a:xfrm>
            <a:off x="9326973" y="6148318"/>
            <a:ext cx="2955835" cy="3314988"/>
            <a:chOff x="0" y="-76200"/>
            <a:chExt cx="977168" cy="1095900"/>
          </a:xfrm>
        </p:grpSpPr>
        <p:sp>
          <p:nvSpPr>
            <p:cNvPr id="159" name="Google Shape;159;g35ed9f8475e_0_38"/>
            <p:cNvSpPr/>
            <p:nvPr/>
          </p:nvSpPr>
          <p:spPr>
            <a:xfrm>
              <a:off x="0" y="0"/>
              <a:ext cx="977168" cy="1019574"/>
            </a:xfrm>
            <a:custGeom>
              <a:rect b="b" l="l" r="r" t="t"/>
              <a:pathLst>
                <a:path extrusionOk="0" h="1019574" w="977168">
                  <a:moveTo>
                    <a:pt x="0" y="0"/>
                  </a:moveTo>
                  <a:lnTo>
                    <a:pt x="977168" y="0"/>
                  </a:lnTo>
                  <a:lnTo>
                    <a:pt x="977168" y="1019574"/>
                  </a:lnTo>
                  <a:lnTo>
                    <a:pt x="0" y="1019574"/>
                  </a:lnTo>
                  <a:close/>
                </a:path>
              </a:pathLst>
            </a:custGeom>
            <a:solidFill>
              <a:srgbClr val="8AA9F9"/>
            </a:solidFill>
            <a:ln>
              <a:noFill/>
            </a:ln>
          </p:spPr>
        </p:sp>
        <p:sp>
          <p:nvSpPr>
            <p:cNvPr id="160" name="Google Shape;160;g35ed9f8475e_0_38"/>
            <p:cNvSpPr txBox="1"/>
            <p:nvPr/>
          </p:nvSpPr>
          <p:spPr>
            <a:xfrm>
              <a:off x="0" y="-76200"/>
              <a:ext cx="977100" cy="1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g35ed9f8475e_0_38"/>
          <p:cNvGrpSpPr/>
          <p:nvPr/>
        </p:nvGrpSpPr>
        <p:grpSpPr>
          <a:xfrm>
            <a:off x="12642808" y="6148318"/>
            <a:ext cx="2955835" cy="3314988"/>
            <a:chOff x="0" y="-76200"/>
            <a:chExt cx="977168" cy="1095900"/>
          </a:xfrm>
        </p:grpSpPr>
        <p:sp>
          <p:nvSpPr>
            <p:cNvPr id="162" name="Google Shape;162;g35ed9f8475e_0_38"/>
            <p:cNvSpPr/>
            <p:nvPr/>
          </p:nvSpPr>
          <p:spPr>
            <a:xfrm>
              <a:off x="0" y="0"/>
              <a:ext cx="977168" cy="1019574"/>
            </a:xfrm>
            <a:custGeom>
              <a:rect b="b" l="l" r="r" t="t"/>
              <a:pathLst>
                <a:path extrusionOk="0" h="1019574" w="977168">
                  <a:moveTo>
                    <a:pt x="0" y="0"/>
                  </a:moveTo>
                  <a:lnTo>
                    <a:pt x="977168" y="0"/>
                  </a:lnTo>
                  <a:lnTo>
                    <a:pt x="977168" y="1019574"/>
                  </a:lnTo>
                  <a:lnTo>
                    <a:pt x="0" y="1019574"/>
                  </a:lnTo>
                  <a:close/>
                </a:path>
              </a:pathLst>
            </a:custGeom>
            <a:solidFill>
              <a:srgbClr val="8AA9F9"/>
            </a:solidFill>
            <a:ln>
              <a:noFill/>
            </a:ln>
          </p:spPr>
        </p:sp>
        <p:sp>
          <p:nvSpPr>
            <p:cNvPr id="163" name="Google Shape;163;g35ed9f8475e_0_38"/>
            <p:cNvSpPr txBox="1"/>
            <p:nvPr/>
          </p:nvSpPr>
          <p:spPr>
            <a:xfrm>
              <a:off x="0" y="-76200"/>
              <a:ext cx="977100" cy="1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g35ed9f8475e_0_38"/>
          <p:cNvGrpSpPr/>
          <p:nvPr/>
        </p:nvGrpSpPr>
        <p:grpSpPr>
          <a:xfrm>
            <a:off x="3316033" y="5528681"/>
            <a:ext cx="1700296" cy="1700296"/>
            <a:chOff x="0" y="0"/>
            <a:chExt cx="812800" cy="812800"/>
          </a:xfrm>
        </p:grpSpPr>
        <p:sp>
          <p:nvSpPr>
            <p:cNvPr id="165" name="Google Shape;165;g35ed9f8475e_0_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AA9F9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35ed9f8475e_0_38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g35ed9f8475e_0_38"/>
          <p:cNvGrpSpPr/>
          <p:nvPr/>
        </p:nvGrpSpPr>
        <p:grpSpPr>
          <a:xfrm>
            <a:off x="6634649" y="5528681"/>
            <a:ext cx="1700296" cy="1700296"/>
            <a:chOff x="0" y="0"/>
            <a:chExt cx="812800" cy="812800"/>
          </a:xfrm>
        </p:grpSpPr>
        <p:sp>
          <p:nvSpPr>
            <p:cNvPr id="168" name="Google Shape;168;g35ed9f8475e_0_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AA9F9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35ed9f8475e_0_38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g35ed9f8475e_0_38"/>
          <p:cNvGrpSpPr/>
          <p:nvPr/>
        </p:nvGrpSpPr>
        <p:grpSpPr>
          <a:xfrm>
            <a:off x="9954782" y="5528681"/>
            <a:ext cx="1700296" cy="1700296"/>
            <a:chOff x="0" y="0"/>
            <a:chExt cx="812800" cy="812800"/>
          </a:xfrm>
        </p:grpSpPr>
        <p:sp>
          <p:nvSpPr>
            <p:cNvPr id="171" name="Google Shape;171;g35ed9f8475e_0_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AA9F9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35ed9f8475e_0_38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g35ed9f8475e_0_38"/>
          <p:cNvGrpSpPr/>
          <p:nvPr/>
        </p:nvGrpSpPr>
        <p:grpSpPr>
          <a:xfrm>
            <a:off x="13270617" y="5528681"/>
            <a:ext cx="1700296" cy="1700296"/>
            <a:chOff x="0" y="0"/>
            <a:chExt cx="812800" cy="812800"/>
          </a:xfrm>
        </p:grpSpPr>
        <p:sp>
          <p:nvSpPr>
            <p:cNvPr id="174" name="Google Shape;174;g35ed9f8475e_0_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AA9F9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35ed9f8475e_0_38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g35ed9f8475e_0_38"/>
          <p:cNvSpPr/>
          <p:nvPr/>
        </p:nvSpPr>
        <p:spPr>
          <a:xfrm rot="5400000">
            <a:off x="977216" y="-711628"/>
            <a:ext cx="1065046" cy="3019461"/>
          </a:xfrm>
          <a:custGeom>
            <a:rect b="b" l="l" r="r" t="t"/>
            <a:pathLst>
              <a:path extrusionOk="0" h="3019461" w="1065046">
                <a:moveTo>
                  <a:pt x="0" y="0"/>
                </a:moveTo>
                <a:lnTo>
                  <a:pt x="1065046" y="0"/>
                </a:lnTo>
                <a:lnTo>
                  <a:pt x="1065046" y="3019461"/>
                </a:lnTo>
                <a:lnTo>
                  <a:pt x="0" y="3019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g35ed9f8475e_0_38"/>
          <p:cNvSpPr txBox="1"/>
          <p:nvPr/>
        </p:nvSpPr>
        <p:spPr>
          <a:xfrm>
            <a:off x="896025" y="1052625"/>
            <a:ext cx="16702800" cy="30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8324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Importancia y aplicabilidad de los patrones de diseño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5ed9f8475e_0_38"/>
          <p:cNvSpPr txBox="1"/>
          <p:nvPr/>
        </p:nvSpPr>
        <p:spPr>
          <a:xfrm>
            <a:off x="3783564" y="5746861"/>
            <a:ext cx="7653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48"/>
              <a:buFont typeface="Arial"/>
              <a:buNone/>
            </a:pPr>
            <a:r>
              <a:rPr b="1" i="0" lang="en-US" sz="604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5ed9f8475e_0_38"/>
          <p:cNvSpPr txBox="1"/>
          <p:nvPr/>
        </p:nvSpPr>
        <p:spPr>
          <a:xfrm>
            <a:off x="7102180" y="5746861"/>
            <a:ext cx="7653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48"/>
              <a:buFont typeface="Arial"/>
              <a:buNone/>
            </a:pPr>
            <a:r>
              <a:rPr b="1" i="0" lang="en-US" sz="604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5ed9f8475e_0_38"/>
          <p:cNvSpPr txBox="1"/>
          <p:nvPr/>
        </p:nvSpPr>
        <p:spPr>
          <a:xfrm>
            <a:off x="10422313" y="5746861"/>
            <a:ext cx="7653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48"/>
              <a:buFont typeface="Arial"/>
              <a:buNone/>
            </a:pPr>
            <a:r>
              <a:rPr b="1" i="0" lang="en-US" sz="604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5ed9f8475e_0_38"/>
          <p:cNvSpPr txBox="1"/>
          <p:nvPr/>
        </p:nvSpPr>
        <p:spPr>
          <a:xfrm>
            <a:off x="13738148" y="5746861"/>
            <a:ext cx="7653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48"/>
              <a:buFont typeface="Arial"/>
              <a:buNone/>
            </a:pPr>
            <a:r>
              <a:rPr b="1" i="0" lang="en-US" sz="604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5ed9f8475e_0_38"/>
          <p:cNvSpPr txBox="1"/>
          <p:nvPr/>
        </p:nvSpPr>
        <p:spPr>
          <a:xfrm>
            <a:off x="2688050" y="7638875"/>
            <a:ext cx="29559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Proporcionan un vocabulario común para los desarrolladores, lo que facilita la comunicación y la comprensión de las soluciones.</a:t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5ed9f8475e_0_38"/>
          <p:cNvSpPr txBox="1"/>
          <p:nvPr/>
        </p:nvSpPr>
        <p:spPr>
          <a:xfrm>
            <a:off x="2985648" y="7274317"/>
            <a:ext cx="23220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0"/>
              <a:buFont typeface="Arial"/>
              <a:buNone/>
            </a:pPr>
            <a:r>
              <a:rPr b="1" i="0" lang="en-US" sz="20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Estandarización: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5ed9f8475e_0_38"/>
          <p:cNvSpPr txBox="1"/>
          <p:nvPr/>
        </p:nvSpPr>
        <p:spPr>
          <a:xfrm>
            <a:off x="9535237" y="7274317"/>
            <a:ext cx="25350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0"/>
              <a:buFont typeface="Arial"/>
              <a:buNone/>
            </a:pPr>
            <a:r>
              <a:rPr b="1" i="0" lang="en-US" sz="20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Mantenimiento: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5ed9f8475e_0_38"/>
          <p:cNvSpPr txBox="1"/>
          <p:nvPr/>
        </p:nvSpPr>
        <p:spPr>
          <a:xfrm>
            <a:off x="12828673" y="7274317"/>
            <a:ext cx="25884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4"/>
              <a:buFont typeface="Arial"/>
              <a:buNone/>
            </a:pPr>
            <a:r>
              <a:rPr b="1" i="0" lang="en-US" sz="207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Flexibilidad: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5ed9f8475e_0_38"/>
          <p:cNvSpPr/>
          <p:nvPr/>
        </p:nvSpPr>
        <p:spPr>
          <a:xfrm rot="-5400000">
            <a:off x="16181588" y="8403567"/>
            <a:ext cx="1065046" cy="3019461"/>
          </a:xfrm>
          <a:custGeom>
            <a:rect b="b" l="l" r="r" t="t"/>
            <a:pathLst>
              <a:path extrusionOk="0" h="3019461" w="1065046">
                <a:moveTo>
                  <a:pt x="1065046" y="3019461"/>
                </a:moveTo>
                <a:lnTo>
                  <a:pt x="0" y="3019461"/>
                </a:lnTo>
                <a:lnTo>
                  <a:pt x="0" y="0"/>
                </a:lnTo>
                <a:lnTo>
                  <a:pt x="1065046" y="0"/>
                </a:lnTo>
                <a:lnTo>
                  <a:pt x="1065046" y="301946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g35ed9f8475e_0_38"/>
          <p:cNvSpPr txBox="1"/>
          <p:nvPr/>
        </p:nvSpPr>
        <p:spPr>
          <a:xfrm>
            <a:off x="6324524" y="7320267"/>
            <a:ext cx="23220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0"/>
              <a:buFont typeface="Arial"/>
              <a:buNone/>
            </a:pPr>
            <a:r>
              <a:rPr b="1" i="0" lang="en-US" sz="20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Reutilización: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5ed9f8475e_0_38"/>
          <p:cNvSpPr txBox="1"/>
          <p:nvPr/>
        </p:nvSpPr>
        <p:spPr>
          <a:xfrm>
            <a:off x="6006875" y="7638875"/>
            <a:ext cx="29559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Permiten reutilizar soluciones probadas, reduciendo el tiempo y esfuerzo necesarios para resolver problemas recurrentes.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5ed9f8475e_0_38"/>
          <p:cNvSpPr txBox="1"/>
          <p:nvPr/>
        </p:nvSpPr>
        <p:spPr>
          <a:xfrm>
            <a:off x="9325387" y="7771175"/>
            <a:ext cx="29559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 patrones bien aplicados mejoran la claridad y la organización del código, lo que facilita su mantenimiento.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5ed9f8475e_0_38"/>
          <p:cNvSpPr txBox="1"/>
          <p:nvPr/>
        </p:nvSpPr>
        <p:spPr>
          <a:xfrm>
            <a:off x="12643875" y="7638875"/>
            <a:ext cx="29559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Ayudan a crear sistemas más adaptables y flexibles que pueden evolucionar con cambios en los requisitos o el entorno.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g35ed9f8475e_0_83"/>
          <p:cNvGrpSpPr/>
          <p:nvPr/>
        </p:nvGrpSpPr>
        <p:grpSpPr>
          <a:xfrm>
            <a:off x="-584800" y="2996050"/>
            <a:ext cx="19457594" cy="4294901"/>
            <a:chOff x="0" y="-76200"/>
            <a:chExt cx="5124600" cy="536400"/>
          </a:xfrm>
        </p:grpSpPr>
        <p:sp>
          <p:nvSpPr>
            <p:cNvPr id="196" name="Google Shape;196;g35ed9f8475e_0_83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97" name="Google Shape;197;g35ed9f8475e_0_83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g35ed9f8475e_0_83"/>
          <p:cNvSpPr txBox="1"/>
          <p:nvPr/>
        </p:nvSpPr>
        <p:spPr>
          <a:xfrm>
            <a:off x="1599296" y="3590589"/>
            <a:ext cx="15089400" cy="3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Tipos de Patrones de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g35ed9f8475e_0_90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04" name="Google Shape;204;g35ed9f8475e_0_90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05" name="Google Shape;205;g35ed9f8475e_0_90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g35ed9f8475e_0_90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Patrones Creacionales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5ed9f8475e_0_90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Son patrones de diseño relacionados con la creación o construcción de objetos. Estos patrones intentan controlar la forma en que los objetos son creados implementando mecanismos que eviten la creación directa de objetos.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g35ed9f8475e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5575" y="4989620"/>
            <a:ext cx="5962650" cy="421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5ed9f8475e_0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97925" y="507072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g35ed9f8475e_0_100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15" name="Google Shape;215;g35ed9f8475e_0_100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16" name="Google Shape;216;g35ed9f8475e_0_100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g35ed9f8475e_0_100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Patrones Estructurales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5ed9f8475e_0_100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Son patrones que tiene que ver con la forma en que las clases se relacionan con otras clases. Estos patrones ayudan a dar un mayor orden a nuestras clases ayudando a crear componentes más flexibles y extensibles.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g35ed9f8475e_0_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513" y="4910675"/>
            <a:ext cx="5333326" cy="53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g35ed9f8475e_0_109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25" name="Google Shape;225;g35ed9f8475e_0_109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26" name="Google Shape;226;g35ed9f8475e_0_109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g35ed9f8475e_0_109"/>
          <p:cNvSpPr txBox="1"/>
          <p:nvPr/>
        </p:nvSpPr>
        <p:spPr>
          <a:xfrm>
            <a:off x="30750" y="872900"/>
            <a:ext cx="182265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Patrones de Comportamiento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5ed9f8475e_0_109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Son patrones que están relacionados con procedimientos y con la asignación de responsabilidad a los objetos. Los patrones de comportamiento engloban también patrones de comunicación entre ellos.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g35ed9f8475e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5925" y="4944776"/>
            <a:ext cx="5335000" cy="52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5ed9f8475e_0_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52125" y="5491139"/>
            <a:ext cx="6109076" cy="413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g35ed9f8475e_0_119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36" name="Google Shape;236;g35ed9f8475e_0_119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37" name="Google Shape;237;g35ed9f8475e_0_119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" name="Google Shape;238;g35ed9f8475e_0_119"/>
          <p:cNvSpPr txBox="1"/>
          <p:nvPr/>
        </p:nvSpPr>
        <p:spPr>
          <a:xfrm>
            <a:off x="30750" y="872900"/>
            <a:ext cx="182265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Principios de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g35ed9f8475e_0_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850" y="4078151"/>
            <a:ext cx="6266425" cy="3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5ed9f8475e_0_119"/>
          <p:cNvPicPr preferRelativeResize="0"/>
          <p:nvPr/>
        </p:nvPicPr>
        <p:blipFill rotWithShape="1">
          <a:blip r:embed="rId4">
            <a:alphaModFix/>
          </a:blip>
          <a:srcRect b="11957" l="0" r="0" t="19675"/>
          <a:stretch/>
        </p:blipFill>
        <p:spPr>
          <a:xfrm>
            <a:off x="8123175" y="2887250"/>
            <a:ext cx="8500924" cy="672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guimos con la Programación Orientada a Objetos, ésta vez con los 5 principios más famosos, ¡SOLID!&#10; &#10;Si te gusta el contenido, échale un ojo a mi último vídeo! &#10;&#10;4 Habilidades que TODO PROGRAMADOR SENIOR Necesita&#10;https://youtu.be/__EWrXgRIaY&#10;&#10;👾  Redes sociales 👾 &#10;► Twitter: https://twitter.com/bettatech&#10;► Instagram: https://www.instagram.com/betta_tech&#10;► Canal Secundario: https://www.youtube.com/channel/UCIngE8MfiNPKeLTl34P44OQ&#10;► Slack: https://bit.ly/33gaDDM&#10;&#10;👨🏼‍🏫  MIS CURSOS 👨🏼‍🏫 &#10;👽 Curso de iniciación a la programación con JavaScript:&#10;► https://bit.ly/3kr4bTc&#10;&#10;👕  MERCHANDISING  DEL CANAL:&#10;► Tienda YouTube: https://www.youtube.com/c/BettaTech/store&#10;► Tienda Teespring: https://teespring.com/stores/bettatech-store&#10;&#10;⭐️  AFILIADOS ⭐️ &#10;&#10;🎁   7% Descuento en HOSTINGER (Código BETTATECH)&#10;► https://www.hostg.xyz/aff_c?offer_id=357&amp;aff_id=56221&#10;&#10;🧠  Autocompletado con IA (Kite)&#10;► https://www.kite.com/get-kite/?utm_medium=referral&amp;utm_source=youtube&amp;utm_campaign=bettatech&amp;utm_content=description-only&#10;&#10;🐾  MacPaw (CleanMyMacX):&#10;► https://macpaw.audw.net/c/2523912/94160/1733&#10;&#10;🎵 TODA la música es de EpidemicSound:&#10;► https://www.epidemicsound.com/referral/in9amx/&#10;&#10;✉️  CONTACTO PROFESIONAL:&#10;► Respuesta no garantizada: &#10;bettatechyt@gmail.com&#10;&#10;📚 LIBROS 📚 &#10;Design Patterns &#10;► https://amzn.to/39XuQlq&#10;Head First Design Patterns &#10;► https://amzn.to/2uq6XUq&#10;Refactoring &#10;► https://amzn.to/2SQnf2c&#10;Clean Architecture &#10;►  https://amzn.to/3bZVonJ&#10;Clean Code &#10;► https://amzn.to/32WVKq3&#10;Introduction to Algorithms &#10;► https://amzn.to/34SyVFP&#10;Cracking the Coding Interview &#10;► https://amzn.to/2QkdwC6" id="245" name="Google Shape;245;g35ed9f8475e_0_128" title="Los principios SOLID, ¡explicados!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6450" y="1363500"/>
            <a:ext cx="12594450" cy="708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36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g35ed9f8475e_0_132"/>
          <p:cNvGrpSpPr/>
          <p:nvPr/>
        </p:nvGrpSpPr>
        <p:grpSpPr>
          <a:xfrm>
            <a:off x="314000" y="-388749"/>
            <a:ext cx="17763401" cy="3893781"/>
            <a:chOff x="0" y="-76200"/>
            <a:chExt cx="5124600" cy="536400"/>
          </a:xfrm>
        </p:grpSpPr>
        <p:sp>
          <p:nvSpPr>
            <p:cNvPr id="251" name="Google Shape;251;g35ed9f8475e_0_132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</p:sp>
        <p:sp>
          <p:nvSpPr>
            <p:cNvPr id="252" name="Google Shape;252;g35ed9f8475e_0_13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g35ed9f8475e_0_132"/>
          <p:cNvGrpSpPr/>
          <p:nvPr/>
        </p:nvGrpSpPr>
        <p:grpSpPr>
          <a:xfrm>
            <a:off x="3149439" y="4063093"/>
            <a:ext cx="1422563" cy="1422563"/>
            <a:chOff x="0" y="0"/>
            <a:chExt cx="812800" cy="812800"/>
          </a:xfrm>
        </p:grpSpPr>
        <p:sp>
          <p:nvSpPr>
            <p:cNvPr id="254" name="Google Shape;254;g35ed9f8475e_0_13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g35ed9f8475e_0_132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" name="Google Shape;256;g35ed9f8475e_0_132"/>
          <p:cNvGrpSpPr/>
          <p:nvPr/>
        </p:nvGrpSpPr>
        <p:grpSpPr>
          <a:xfrm>
            <a:off x="9186177" y="4063093"/>
            <a:ext cx="1422563" cy="1422563"/>
            <a:chOff x="0" y="0"/>
            <a:chExt cx="812800" cy="812800"/>
          </a:xfrm>
        </p:grpSpPr>
        <p:sp>
          <p:nvSpPr>
            <p:cNvPr id="257" name="Google Shape;257;g35ed9f8475e_0_13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g35ed9f8475e_0_132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" name="Google Shape;259;g35ed9f8475e_0_132"/>
          <p:cNvGrpSpPr/>
          <p:nvPr/>
        </p:nvGrpSpPr>
        <p:grpSpPr>
          <a:xfrm>
            <a:off x="14134370" y="4089756"/>
            <a:ext cx="1422563" cy="1422563"/>
            <a:chOff x="0" y="0"/>
            <a:chExt cx="812800" cy="812800"/>
          </a:xfrm>
        </p:grpSpPr>
        <p:sp>
          <p:nvSpPr>
            <p:cNvPr id="260" name="Google Shape;260;g35ed9f8475e_0_13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g35ed9f8475e_0_132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g35ed9f8475e_0_132"/>
          <p:cNvSpPr txBox="1"/>
          <p:nvPr/>
        </p:nvSpPr>
        <p:spPr>
          <a:xfrm>
            <a:off x="909173" y="10"/>
            <a:ext cx="16230600" cy="3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70"/>
              <a:buFont typeface="Arial"/>
              <a:buNone/>
            </a:pPr>
            <a:r>
              <a:rPr b="1" i="0" lang="en-US" sz="6370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Desafíos actuales en la implementación de patrones de diseño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5ed9f8475e_0_132"/>
          <p:cNvSpPr txBox="1"/>
          <p:nvPr/>
        </p:nvSpPr>
        <p:spPr>
          <a:xfrm>
            <a:off x="2473890" y="6044449"/>
            <a:ext cx="25086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Excesiva Abstracción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5ed9f8475e_0_132"/>
          <p:cNvSpPr txBox="1"/>
          <p:nvPr/>
        </p:nvSpPr>
        <p:spPr>
          <a:xfrm>
            <a:off x="8509355" y="6328274"/>
            <a:ext cx="27762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Resistencia al cambio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5ed9f8475e_0_132"/>
          <p:cNvSpPr txBox="1"/>
          <p:nvPr/>
        </p:nvSpPr>
        <p:spPr>
          <a:xfrm>
            <a:off x="13022544" y="6097763"/>
            <a:ext cx="36462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Cultura y capacitación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5ed9f8475e_0_132"/>
          <p:cNvSpPr txBox="1"/>
          <p:nvPr/>
        </p:nvSpPr>
        <p:spPr>
          <a:xfrm>
            <a:off x="3540610" y="4246209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5ed9f8475e_0_132"/>
          <p:cNvSpPr txBox="1"/>
          <p:nvPr/>
        </p:nvSpPr>
        <p:spPr>
          <a:xfrm>
            <a:off x="9577347" y="4246209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5ed9f8475e_0_132"/>
          <p:cNvSpPr txBox="1"/>
          <p:nvPr/>
        </p:nvSpPr>
        <p:spPr>
          <a:xfrm>
            <a:off x="14525539" y="4272872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g35ed9f8475e_0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2638" y="6600674"/>
            <a:ext cx="5191125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35ed9f8475e_0_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3564" y="7262456"/>
            <a:ext cx="3727800" cy="2485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g35ed9f8475e_0_1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193697" y="7149426"/>
            <a:ext cx="4434417" cy="22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g35ed9f8475e_0_157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77" name="Google Shape;277;g35ed9f8475e_0_157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78" name="Google Shape;278;g35ed9f8475e_0_15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g35ed9f8475e_0_157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Patrones Creacionales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5ed9f8475e_0_157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Son patrones de diseño relacionados con la creación o construcción de objetos. Estos patrones intentan controlar la forma en que los objetos son creados implementando mecanismos que eviten la creación directa de objetos.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g35ed9f8475e_0_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5575" y="4989620"/>
            <a:ext cx="5962650" cy="421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g35ed9f8475e_0_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97925" y="507072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g35ed9f8475e_0_167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88" name="Google Shape;288;g35ed9f8475e_0_167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89" name="Google Shape;289;g35ed9f8475e_0_16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g35ed9f8475e_0_167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</a:t>
            </a:r>
            <a:r>
              <a:rPr b="1" lang="en-US" sz="922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ó</a:t>
            </a: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b="1" lang="en-US" sz="922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Singleton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5ed9f8475e_0_167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Singleton es un patrón de diseño creacional que nos permite asegurarnos de que una clase tenga una única instancia, a la vez que proporciona un punto de acceso global a dicha instancia.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g35ed9f8475e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675" y="5348470"/>
            <a:ext cx="6096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35ed9f8475e_0_1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92700" y="5767125"/>
            <a:ext cx="6096000" cy="411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g35ed9f8475e_0_177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99" name="Google Shape;299;g35ed9f8475e_0_177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300" name="Google Shape;300;g35ed9f8475e_0_17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" name="Google Shape;301;g35ed9f8475e_0_177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</a:t>
            </a:r>
            <a:r>
              <a:rPr b="1" lang="en-US" sz="922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ó</a:t>
            </a: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b="1" lang="en-US" sz="922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Abstract Factory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5ed9f8475e_0_177"/>
          <p:cNvSpPr txBox="1"/>
          <p:nvPr/>
        </p:nvSpPr>
        <p:spPr>
          <a:xfrm>
            <a:off x="1028700" y="2969245"/>
            <a:ext cx="16230600" cy="10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Abstract Factory es un patrón de diseño creacional que nos permite producir familias de objetos relacionados sin especificar sus clases concretas.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g35ed9f8475e_0_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2900" y="4784553"/>
            <a:ext cx="6096000" cy="406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5ed9f8475e_0_1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3425" y="5262970"/>
            <a:ext cx="6096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g35ed9f8475e_0_187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310" name="Google Shape;310;g35ed9f8475e_0_187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311" name="Google Shape;311;g35ed9f8475e_0_18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g35ed9f8475e_0_187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</a:t>
            </a:r>
            <a:r>
              <a:rPr b="1" lang="en-US" sz="922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ó</a:t>
            </a: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b="1" lang="en-US" sz="922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Factory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5ed9f8475e_0_187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Factory Method es un patrón de diseño creacional que proporciona una interfaz para crear objetos en una superclase, mientras permite a las subclases alterar el tipo de objetos que se crearán.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g35ed9f8475e_0_1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950" y="5318570"/>
            <a:ext cx="6096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35ed9f8475e_0_1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9675" y="5318579"/>
            <a:ext cx="8126325" cy="41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g35ed9f8475e_0_197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321" name="Google Shape;321;g35ed9f8475e_0_197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322" name="Google Shape;322;g35ed9f8475e_0_19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3" name="Google Shape;323;g35ed9f8475e_0_197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Patrones Estructurales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5ed9f8475e_0_197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Son patrones que tiene que ver con la forma en que las clases se relacionan con otras clases. Estos patrones ayudan a dar un mayor orden a nuestras clases ayudando a crear componentes más flexibles y extensibles.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g35ed9f8475e_0_1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513" y="4910675"/>
            <a:ext cx="5333326" cy="53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g35ed9f8475e_0_206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331" name="Google Shape;331;g35ed9f8475e_0_206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332" name="Google Shape;332;g35ed9f8475e_0_206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g35ed9f8475e_0_206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</a:t>
            </a:r>
            <a:r>
              <a:rPr b="1" lang="en-US" sz="922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ón Adapter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5ed9f8475e_0_206"/>
          <p:cNvSpPr txBox="1"/>
          <p:nvPr/>
        </p:nvSpPr>
        <p:spPr>
          <a:xfrm>
            <a:off x="1028700" y="2969245"/>
            <a:ext cx="16230600" cy="10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Adapter es un patrón de diseño estructural que permite la colaboración entre objetos con interfaces incompatibles.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g35ed9f8475e_0_2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050" y="4620045"/>
            <a:ext cx="6096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g35ed9f8475e_0_2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3700" y="4288250"/>
            <a:ext cx="4906490" cy="20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5ed9f8475e_0_2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12475" y="6145300"/>
            <a:ext cx="5769429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g35ed9f8475e_0_217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343" name="Google Shape;343;g35ed9f8475e_0_217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344" name="Google Shape;344;g35ed9f8475e_0_21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5" name="Google Shape;345;g35ed9f8475e_0_217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</a:t>
            </a:r>
            <a:r>
              <a:rPr b="1" lang="en-US" sz="922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ón Decorator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5ed9f8475e_0_217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Decorator es un patrón de diseño estructural que te permite añadir funcionalidades a objetos colocando estos objetos dentro de objetos encapsuladores especiales que contienen estas funcionalidades.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g35ed9f8475e_0_2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855045"/>
            <a:ext cx="57150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g35ed9f8475e_0_2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9975" y="5004550"/>
            <a:ext cx="7780925" cy="477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5ed9f8475e_0_2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97000" y="5004551"/>
            <a:ext cx="3484775" cy="33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g35ed9f8475e_0_228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355" name="Google Shape;355;g35ed9f8475e_0_228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356" name="Google Shape;356;g35ed9f8475e_0_22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7" name="Google Shape;357;g35ed9f8475e_0_228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</a:t>
            </a:r>
            <a:r>
              <a:rPr b="1" lang="en-US" sz="922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ón Facade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5ed9f8475e_0_228"/>
          <p:cNvSpPr txBox="1"/>
          <p:nvPr/>
        </p:nvSpPr>
        <p:spPr>
          <a:xfrm>
            <a:off x="1028700" y="2969245"/>
            <a:ext cx="16230600" cy="10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Facade es un patrón de diseño estructural que proporciona una interfaz simplificada a una biblioteca, un framework o cualquier otro grupo complejo de clases.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g35ed9f8475e_0_2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5175" y="4854976"/>
            <a:ext cx="6007850" cy="40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g35ed9f8475e_0_2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575" y="4432026"/>
            <a:ext cx="5745850" cy="22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" name="Google Shape;365;g35ed9f8475e_0_238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366" name="Google Shape;366;g35ed9f8475e_0_238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367" name="Google Shape;367;g35ed9f8475e_0_23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g35ed9f8475e_0_238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</a:t>
            </a:r>
            <a:r>
              <a:rPr b="1" lang="en-US" sz="922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ón Proxy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5ed9f8475e_0_238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Proxy es un patrón de diseño estructural que te permite proporcionar un sustituto o marcador de posición para otro objeto. Un proxy controla el acceso al objeto original, permitiéndole hacer algo antes o después de que la solicitud llegue al objeto original.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g35ed9f8475e_0_2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00" y="4790879"/>
            <a:ext cx="8960400" cy="28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g35ed9f8475e_0_2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13225" y="5433827"/>
            <a:ext cx="6911000" cy="216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77" name="Google Shape;377;p6"/>
          <p:cNvSpPr txBox="1"/>
          <p:nvPr/>
        </p:nvSpPr>
        <p:spPr>
          <a:xfrm>
            <a:off x="3035245" y="2482800"/>
            <a:ext cx="9984000" cy="78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77837" lvl="0" marL="45720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Elementos de diseño en software</a:t>
            </a:r>
            <a:endParaRPr sz="3925">
              <a:solidFill>
                <a:srgbClr val="131416"/>
              </a:solidFill>
            </a:endParaRPr>
          </a:p>
          <a:p>
            <a:pPr indent="-477837" lvl="0" marL="45720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Patrones de diseño de software</a:t>
            </a:r>
            <a:endParaRPr sz="3925">
              <a:solidFill>
                <a:srgbClr val="131416"/>
              </a:solidFill>
            </a:endParaRPr>
          </a:p>
          <a:p>
            <a:pPr indent="-477837" lvl="0" marL="45720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Importancia y aplicabilidad de los patrones</a:t>
            </a:r>
            <a:endParaRPr sz="3925">
              <a:solidFill>
                <a:srgbClr val="131416"/>
              </a:solidFill>
            </a:endParaRPr>
          </a:p>
          <a:p>
            <a:pPr indent="-477837" lvl="0" marL="45720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Tipos de patrones de diseño</a:t>
            </a:r>
            <a:endParaRPr sz="3925">
              <a:solidFill>
                <a:srgbClr val="131416"/>
              </a:solidFill>
            </a:endParaRPr>
          </a:p>
          <a:p>
            <a:pPr indent="-477837" lvl="0" marL="45720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Patrones creacionales</a:t>
            </a:r>
            <a:endParaRPr sz="3925">
              <a:solidFill>
                <a:srgbClr val="131416"/>
              </a:solidFill>
            </a:endParaRPr>
          </a:p>
          <a:p>
            <a:pPr indent="-477837" lvl="0" marL="45720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Patrones estructurales</a:t>
            </a:r>
            <a:endParaRPr sz="3925">
              <a:solidFill>
                <a:srgbClr val="131416"/>
              </a:solidFill>
            </a:endParaRPr>
          </a:p>
          <a:p>
            <a:pPr indent="-477837" lvl="0" marL="45720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Patrones de comportamiento</a:t>
            </a:r>
            <a:endParaRPr sz="3925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60abd5a1b6_0_0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Responsabilidad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83" name="Google Shape;383;g360abd5a1b6_0_0"/>
          <p:cNvSpPr txBox="1"/>
          <p:nvPr/>
        </p:nvSpPr>
        <p:spPr>
          <a:xfrm>
            <a:off x="2230719" y="2675475"/>
            <a:ext cx="14171700" cy="45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Cumpliendo con las tareas asignadas: </a:t>
            </a:r>
            <a:r>
              <a:rPr lang="en-US" sz="3151">
                <a:solidFill>
                  <a:srgbClr val="131416"/>
                </a:solidFill>
              </a:rPr>
              <a:t>Entregando los trabajos y proyectos en tiempo y forma, con el nivel de calidad esperado, sin necesidad de recordatorios constantes.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Asumiendo compromisos dentro del equipo: </a:t>
            </a:r>
            <a:r>
              <a:rPr lang="en-US" sz="3151">
                <a:solidFill>
                  <a:srgbClr val="131416"/>
                </a:solidFill>
              </a:rPr>
              <a:t>Si se acuerda realizar una parte del análisis o diseño, se cumple con lo prometido, considerando que el éxito del equipo depende de cada integrante.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89" name="Google Shape;389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1" name="Google Shape;391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