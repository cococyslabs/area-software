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Bitter" panose="020B0604020202020204" charset="0"/>
      <p:regular r:id="rId31"/>
      <p:bold r:id="rId32"/>
      <p:italic r:id="rId33"/>
      <p:boldItalic r:id="rId34"/>
    </p:embeddedFont>
    <p:embeddedFont>
      <p:font typeface="Impact" panose="020B0806030902050204" pitchFamily="34" charset="0"/>
      <p:regular r:id="rId35"/>
    </p:embeddedFont>
    <p:embeddedFont>
      <p:font typeface="Libre Franklin Medium" pitchFamily="2" charset="0"/>
      <p:regular r:id="rId36"/>
    </p:embeddedFont>
    <p:embeddedFont>
      <p:font typeface="Open Sans" panose="020B0606030504020204" pitchFamily="34" charset="0"/>
      <p:regular r:id="rId37"/>
      <p:bold r:id="rId38"/>
      <p:italic r:id="rId39"/>
      <p:boldItalic r:id="rId40"/>
    </p:embeddedFont>
    <p:embeddedFont>
      <p:font typeface="Poppins" panose="00000500000000000000" pitchFamily="2" charset="0"/>
      <p:regular r:id="rId41"/>
      <p:bold r:id="rId42"/>
      <p:italic r:id="rId43"/>
      <p:boldItalic r:id="rId44"/>
    </p:embeddedFont>
    <p:embeddedFont>
      <p:font typeface="Poppins Black" panose="00000A00000000000000" pitchFamily="2" charset="0"/>
      <p:bold r:id="rId45"/>
      <p:boldItalic r:id="rId46"/>
    </p:embeddedFont>
    <p:embeddedFont>
      <p:font typeface="Poppins Light" panose="000004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WvB8QeBKdG3BLvulf+LnWVLgq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1A7685-B20C-43DA-B50C-903E6625E253}">
  <a:tblStyle styleId="{BC1A7685-B20C-43DA-B50C-903E6625E25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94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5f1b241ad4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35f1b241ad4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f1b241ad4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g35f1b241ad4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5f1b241ad4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g35f1b241ad4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5f1b241ad4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5f1b241ad4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5f1b241ad4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g35f1b241ad4_0_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f1b241ad4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g35f1b241ad4_0_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f1b241ad4_0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 name="Google Shape;184;g35f1b241ad4_0_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f1b241ad4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5f1b241ad4_0_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5f1b241ad4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4" name="Google Shape;204;g35f1b241ad4_0_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5f1b241ad4_0_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 name="Google Shape;212;g35f1b241ad4_0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5f1b241ad4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2" name="Google Shape;222;g35f1b241ad4_0_1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f1b241ad4_0_1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g35f1b241ad4_0_1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5f1b241ad4_0_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g35f1b241ad4_0_1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5f1b241ad4_0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g35f1b241ad4_0_1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5f1b241ad4_0_1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4" name="Google Shape;264;g35f1b241ad4_0_1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5f1b241ad4_0_1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3" name="Google Shape;273;g35f1b241ad4_0_15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5f1b241ad4_0_1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9" name="Google Shape;279;g35f1b241ad4_0_1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5f1b241ad4_0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9" name="Google Shape;289;g35f1b241ad4_0_1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5f1b241ad4_0_1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5f1b241ad4_0_1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5f1b241ad4_0_1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9" name="Google Shape;309;g35f1b241ad4_0_18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5f1b241ad4_0_1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9" name="Google Shape;319;g35f1b241ad4_0_19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5f1b241ad4_0_2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g35f1b241ad4_0_20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9" name="Google Shape;33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60abbf495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5" name="Google Shape;345;g360abbf49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1" name="Google Shape;35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2541309" y="0"/>
            <a:ext cx="5746691" cy="1711780"/>
          </a:xfrm>
          <a:custGeom>
            <a:avLst/>
            <a:gdLst/>
            <a:ahLst/>
            <a:cxnLst/>
            <a:rect l="l" t="t" r="r" b="b"/>
            <a:pathLst>
              <a:path w="5746691" h="1711780" extrusionOk="0">
                <a:moveTo>
                  <a:pt x="0" y="0"/>
                </a:moveTo>
                <a:lnTo>
                  <a:pt x="5746691" y="0"/>
                </a:lnTo>
                <a:lnTo>
                  <a:pt x="5746691" y="1711780"/>
                </a:lnTo>
                <a:lnTo>
                  <a:pt x="0" y="1711780"/>
                </a:lnTo>
                <a:lnTo>
                  <a:pt x="0" y="0"/>
                </a:lnTo>
                <a:close/>
              </a:path>
            </a:pathLst>
          </a:custGeom>
          <a:blipFill rotWithShape="1">
            <a:blip r:embed="rId3">
              <a:alphaModFix/>
            </a:blip>
            <a:stretch>
              <a:fillRect/>
            </a:stretch>
          </a:blipFill>
          <a:ln>
            <a:noFill/>
          </a:ln>
        </p:spPr>
        <p:txBody>
          <a:bodyPr/>
          <a:lstStyle/>
          <a:p>
            <a:endParaRPr lang="es-GT"/>
          </a:p>
        </p:txBody>
      </p:sp>
      <p:sp>
        <p:nvSpPr>
          <p:cNvPr id="85" name="Google Shape;85;p1"/>
          <p:cNvSpPr txBox="1"/>
          <p:nvPr/>
        </p:nvSpPr>
        <p:spPr>
          <a:xfrm>
            <a:off x="1063303" y="6994239"/>
            <a:ext cx="5717400" cy="1847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000"/>
              <a:buFont typeface="Arial"/>
              <a:buNone/>
            </a:pPr>
            <a:r>
              <a:rPr lang="en-US" sz="5000" b="1" i="0" u="none" strike="noStrike" cap="none">
                <a:solidFill>
                  <a:srgbClr val="131416"/>
                </a:solidFill>
                <a:latin typeface="Open Sans"/>
                <a:ea typeface="Open Sans"/>
                <a:cs typeface="Open Sans"/>
                <a:sym typeface="Open Sans"/>
              </a:rPr>
              <a:t>Análisis y Diseño de Sistemas 2 </a:t>
            </a:r>
            <a:endParaRPr sz="5000" b="1" i="0" u="none" strike="noStrike" cap="non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1416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9200"/>
              <a:buFont typeface="Arial"/>
              <a:buNone/>
            </a:pPr>
            <a:r>
              <a:rPr lang="en-US" sz="9200" b="1">
                <a:solidFill>
                  <a:srgbClr val="131416"/>
                </a:solidFill>
                <a:latin typeface="Open Sans"/>
                <a:ea typeface="Open Sans"/>
                <a:cs typeface="Open Sans"/>
                <a:sym typeface="Open Sans"/>
              </a:rPr>
              <a:t>Pruebas de Software</a:t>
            </a:r>
            <a:endParaRPr sz="9200" b="1">
              <a:solidFill>
                <a:srgbClr val="131416"/>
              </a:solidFill>
              <a:latin typeface="Open Sans"/>
              <a:ea typeface="Open Sans"/>
              <a:cs typeface="Open Sans"/>
              <a:sym typeface="Open Sans"/>
            </a:endParaRPr>
          </a:p>
        </p:txBody>
      </p:sp>
      <p:sp>
        <p:nvSpPr>
          <p:cNvPr id="87" name="Google Shape;87;p1"/>
          <p:cNvSpPr txBox="1"/>
          <p:nvPr/>
        </p:nvSpPr>
        <p:spPr>
          <a:xfrm>
            <a:off x="1063303" y="8745251"/>
            <a:ext cx="6981300" cy="384600"/>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Escuela de </a:t>
            </a:r>
            <a:r>
              <a:rPr lang="en-US" sz="2499" b="1">
                <a:solidFill>
                  <a:srgbClr val="131416"/>
                </a:solidFill>
                <a:latin typeface="Open Sans"/>
                <a:ea typeface="Open Sans"/>
                <a:cs typeface="Open Sans"/>
                <a:sym typeface="Open Sans"/>
              </a:rPr>
              <a:t>Ingeniería</a:t>
            </a:r>
            <a:r>
              <a:rPr lang="en-US" sz="2499" b="1" i="0" u="none" strike="noStrike" cap="none">
                <a:solidFill>
                  <a:srgbClr val="131416"/>
                </a:solidFill>
                <a:latin typeface="Open Sans"/>
                <a:ea typeface="Open Sans"/>
                <a:cs typeface="Open Sans"/>
                <a:sym typeface="Open Sans"/>
              </a:rPr>
              <a:t> de Ciencias Y Sistemas</a:t>
            </a:r>
            <a:endParaRPr sz="2499" b="1" i="0" u="none" strike="noStrike" cap="non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Facultad de </a:t>
            </a:r>
            <a:r>
              <a:rPr lang="en-US" sz="2499" b="1">
                <a:solidFill>
                  <a:srgbClr val="131416"/>
                </a:solidFill>
                <a:latin typeface="Open Sans"/>
                <a:ea typeface="Open Sans"/>
                <a:cs typeface="Open Sans"/>
                <a:sym typeface="Open Sans"/>
              </a:rPr>
              <a:t>Ingeniería</a:t>
            </a:r>
            <a:endParaRPr sz="2499" b="1" i="0" u="none" strike="noStrike" cap="non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Universidad de San Carlos de Guatemala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p:nvPr/>
        </p:nvSpPr>
        <p:spPr>
          <a:xfrm>
            <a:off x="214843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n-US" sz="6098" b="0" i="0" u="none" strike="noStrike" cap="none">
                <a:solidFill>
                  <a:srgbClr val="131416"/>
                </a:solidFill>
                <a:latin typeface="Impact"/>
                <a:ea typeface="Impact"/>
                <a:cs typeface="Impact"/>
                <a:sym typeface="Impact"/>
              </a:rPr>
              <a:t>COMPETENCIA(S) QUE DESARROLLAREMOS</a:t>
            </a:r>
            <a:endParaRPr sz="1400" b="0" i="0" u="none" strike="noStrike" cap="none">
              <a:solidFill>
                <a:srgbClr val="000000"/>
              </a:solidFill>
              <a:latin typeface="Impact"/>
              <a:ea typeface="Impact"/>
              <a:cs typeface="Impact"/>
              <a:sym typeface="Impact"/>
            </a:endParaRPr>
          </a:p>
        </p:txBody>
      </p:sp>
      <p:graphicFrame>
        <p:nvGraphicFramePr>
          <p:cNvPr id="2" name="Tabla 1">
            <a:extLst>
              <a:ext uri="{FF2B5EF4-FFF2-40B4-BE49-F238E27FC236}">
                <a16:creationId xmlns:a16="http://schemas.microsoft.com/office/drawing/2014/main" id="{B9CFB6FF-FB28-A406-DB4F-FDDDA6E30C8D}"/>
              </a:ext>
            </a:extLst>
          </p:cNvPr>
          <p:cNvGraphicFramePr>
            <a:graphicFrameLocks noGrp="1"/>
          </p:cNvGraphicFramePr>
          <p:nvPr>
            <p:extLst>
              <p:ext uri="{D42A27DB-BD31-4B8C-83A1-F6EECF244321}">
                <p14:modId xmlns:p14="http://schemas.microsoft.com/office/powerpoint/2010/main" val="3222088504"/>
              </p:ext>
            </p:extLst>
          </p:nvPr>
        </p:nvGraphicFramePr>
        <p:xfrm>
          <a:off x="2489199" y="2578100"/>
          <a:ext cx="11324771" cy="2565400"/>
        </p:xfrm>
        <a:graphic>
          <a:graphicData uri="http://schemas.openxmlformats.org/drawingml/2006/table">
            <a:tbl>
              <a:tblPr>
                <a:tableStyleId>{BC1A7685-B20C-43DA-B50C-903E6625E253}</a:tableStyleId>
              </a:tblPr>
              <a:tblGrid>
                <a:gridCol w="11324771">
                  <a:extLst>
                    <a:ext uri="{9D8B030D-6E8A-4147-A177-3AD203B41FA5}">
                      <a16:colId xmlns:a16="http://schemas.microsoft.com/office/drawing/2014/main" val="1648557040"/>
                    </a:ext>
                  </a:extLst>
                </a:gridCol>
              </a:tblGrid>
              <a:tr h="266700">
                <a:tc>
                  <a:txBody>
                    <a:bodyPr/>
                    <a:lstStyle/>
                    <a:p>
                      <a:pPr>
                        <a:buNone/>
                      </a:pPr>
                      <a:r>
                        <a:rPr lang="es-ES" sz="4000" dirty="0">
                          <a:effectLst/>
                        </a:rPr>
                        <a:t>Reconoce y comprende los tipos y principios de las pruebas no funcionales, valorando su impacto en la arquitectura de software para asegurar niveles adecuados de calidad del sistema.</a:t>
                      </a:r>
                      <a:endParaRPr lang="es-GT" sz="4000" dirty="0">
                        <a:effectLst/>
                        <a:latin typeface="Libre Franklin Medium" pitchFamily="2" charset="0"/>
                        <a:ea typeface="Libre Franklin Medium" pitchFamily="2" charset="0"/>
                        <a:cs typeface="Libre Franklin Medium" pitchFamily="2" charset="0"/>
                      </a:endParaRPr>
                    </a:p>
                  </a:txBody>
                  <a:tcPr marL="63500" marR="63500" marT="63500" marB="63500"/>
                </a:tc>
                <a:extLst>
                  <a:ext uri="{0D108BD9-81ED-4DB2-BD59-A6C34878D82A}">
                    <a16:rowId xmlns:a16="http://schemas.microsoft.com/office/drawing/2014/main" val="88706642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n-US" sz="3925" b="0" i="0" u="none" strike="noStrike" cap="none">
                <a:solidFill>
                  <a:srgbClr val="131416"/>
                </a:solidFill>
                <a:latin typeface="Arial"/>
                <a:ea typeface="Arial"/>
                <a:cs typeface="Arial"/>
                <a:sym typeface="Arial"/>
              </a:rPr>
              <a:t>Parte teórica que se requiera  (conocimiento)</a:t>
            </a:r>
            <a:endParaRPr sz="1400" b="0" i="0" u="none" strike="noStrike" cap="non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n-US" sz="6098" b="0" i="0" u="none" strike="noStrike" cap="none">
                <a:solidFill>
                  <a:srgbClr val="131416"/>
                </a:solidFill>
                <a:latin typeface="Impact"/>
                <a:ea typeface="Impact"/>
                <a:cs typeface="Impact"/>
                <a:sym typeface="Impact"/>
              </a:rPr>
              <a:t>CONTENIDO</a:t>
            </a:r>
            <a:endParaRPr sz="1400" b="0" i="0" u="none" strike="noStrike" cap="non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a:p>
        </p:txBody>
      </p:sp>
      <p:sp>
        <p:nvSpPr>
          <p:cNvPr id="103" name="Google Shape;103;p4"/>
          <p:cNvSpPr txBox="1"/>
          <p:nvPr/>
        </p:nvSpPr>
        <p:spPr>
          <a:xfrm>
            <a:off x="14141311" y="6442453"/>
            <a:ext cx="3238236" cy="2815847"/>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Clr>
                <a:srgbClr val="000000"/>
              </a:buClr>
              <a:buSzPts val="2014"/>
              <a:buFont typeface="Arial"/>
              <a:buNone/>
            </a:pPr>
            <a:r>
              <a:rPr lang="en-US" sz="2014" b="0" i="0" u="none" strike="noStrike" cap="non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07"/>
        <p:cNvGrpSpPr/>
        <p:nvPr/>
      </p:nvGrpSpPr>
      <p:grpSpPr>
        <a:xfrm>
          <a:off x="0" y="0"/>
          <a:ext cx="0" cy="0"/>
          <a:chOff x="0" y="0"/>
          <a:chExt cx="0" cy="0"/>
        </a:xfrm>
      </p:grpSpPr>
      <p:grpSp>
        <p:nvGrpSpPr>
          <p:cNvPr id="108" name="Google Shape;108;g35f1b241ad4_0_1"/>
          <p:cNvGrpSpPr/>
          <p:nvPr/>
        </p:nvGrpSpPr>
        <p:grpSpPr>
          <a:xfrm>
            <a:off x="-584801" y="364850"/>
            <a:ext cx="19457594" cy="2036657"/>
            <a:chOff x="0" y="-76200"/>
            <a:chExt cx="5124600" cy="536400"/>
          </a:xfrm>
        </p:grpSpPr>
        <p:sp>
          <p:nvSpPr>
            <p:cNvPr id="109" name="Google Shape;109;g35f1b241ad4_0_1"/>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10" name="Google Shape;110;g35f1b241ad4_0_1"/>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11" name="Google Shape;111;g35f1b241ad4_0_1"/>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¿Qué es la escalabilidad vertical?</a:t>
            </a:r>
            <a:endParaRPr sz="7024" b="1" i="0" u="none" strike="noStrike" cap="none">
              <a:solidFill>
                <a:srgbClr val="FDFDFD"/>
              </a:solidFill>
              <a:latin typeface="Poppins"/>
              <a:ea typeface="Poppins"/>
              <a:cs typeface="Poppins"/>
              <a:sym typeface="Poppins"/>
            </a:endParaRPr>
          </a:p>
        </p:txBody>
      </p:sp>
      <p:sp>
        <p:nvSpPr>
          <p:cNvPr id="112" name="Google Shape;112;g35f1b241ad4_0_1"/>
          <p:cNvSpPr txBox="1"/>
          <p:nvPr/>
        </p:nvSpPr>
        <p:spPr>
          <a:xfrm>
            <a:off x="1028700" y="2969250"/>
            <a:ext cx="17048400" cy="17334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El escalado vertical tiene mucho que ver con el hardware del servidor de la aplicación. Se consigue de una manera muy sencilla: aumentando los recursos del servidor. Principalmente, en lo que respecta a la capacidad de procesamiento, memoria y almacenamiento.</a:t>
            </a:r>
            <a:endParaRPr sz="2963" b="0" i="0" u="none" strike="noStrike" cap="none">
              <a:solidFill>
                <a:srgbClr val="013362"/>
              </a:solidFill>
              <a:latin typeface="Poppins Light"/>
              <a:ea typeface="Poppins Light"/>
              <a:cs typeface="Poppins Light"/>
              <a:sym typeface="Poppins Light"/>
            </a:endParaRPr>
          </a:p>
        </p:txBody>
      </p:sp>
      <p:pic>
        <p:nvPicPr>
          <p:cNvPr id="113" name="Google Shape;113;g35f1b241ad4_0_1"/>
          <p:cNvPicPr preferRelativeResize="0"/>
          <p:nvPr/>
        </p:nvPicPr>
        <p:blipFill rotWithShape="1">
          <a:blip r:embed="rId3">
            <a:alphaModFix/>
          </a:blip>
          <a:srcRect/>
          <a:stretch/>
        </p:blipFill>
        <p:spPr>
          <a:xfrm>
            <a:off x="4852313" y="5613375"/>
            <a:ext cx="9401175" cy="3924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17"/>
        <p:cNvGrpSpPr/>
        <p:nvPr/>
      </p:nvGrpSpPr>
      <p:grpSpPr>
        <a:xfrm>
          <a:off x="0" y="0"/>
          <a:ext cx="0" cy="0"/>
          <a:chOff x="0" y="0"/>
          <a:chExt cx="0" cy="0"/>
        </a:xfrm>
      </p:grpSpPr>
      <p:graphicFrame>
        <p:nvGraphicFramePr>
          <p:cNvPr id="118" name="Google Shape;118;g35f1b241ad4_0_10"/>
          <p:cNvGraphicFramePr/>
          <p:nvPr/>
        </p:nvGraphicFramePr>
        <p:xfrm>
          <a:off x="6116951" y="4739298"/>
          <a:ext cx="3000000" cy="3000000"/>
        </p:xfrm>
        <a:graphic>
          <a:graphicData uri="http://schemas.openxmlformats.org/drawingml/2006/table">
            <a:tbl>
              <a:tblPr>
                <a:noFill/>
                <a:tableStyleId>{BC1A7685-B20C-43DA-B50C-903E6625E253}</a:tableStyleId>
              </a:tblPr>
              <a:tblGrid>
                <a:gridCol w="963725">
                  <a:extLst>
                    <a:ext uri="{9D8B030D-6E8A-4147-A177-3AD203B41FA5}">
                      <a16:colId xmlns:a16="http://schemas.microsoft.com/office/drawing/2014/main" val="20000"/>
                    </a:ext>
                  </a:extLst>
                </a:gridCol>
                <a:gridCol w="5090475">
                  <a:extLst>
                    <a:ext uri="{9D8B030D-6E8A-4147-A177-3AD203B41FA5}">
                      <a16:colId xmlns:a16="http://schemas.microsoft.com/office/drawing/2014/main" val="20001"/>
                    </a:ext>
                  </a:extLst>
                </a:gridCol>
              </a:tblGrid>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1</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rgbClr val="000000"/>
                        </a:buClr>
                        <a:buSzPts val="2000"/>
                        <a:buFont typeface="Arial"/>
                        <a:buNone/>
                      </a:pPr>
                      <a:r>
                        <a:rPr lang="en-US" sz="2000" u="none" strike="noStrike" cap="none">
                          <a:solidFill>
                            <a:srgbClr val="013362"/>
                          </a:solidFill>
                          <a:latin typeface="Poppins"/>
                          <a:ea typeface="Poppins"/>
                          <a:cs typeface="Poppins"/>
                          <a:sym typeface="Poppins"/>
                        </a:rPr>
                        <a:t>Avisos</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0"/>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2</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rgbClr val="000000"/>
                        </a:buClr>
                        <a:buSzPts val="2000"/>
                        <a:buFont typeface="Arial"/>
                        <a:buNone/>
                      </a:pPr>
                      <a:r>
                        <a:rPr lang="en-US" sz="2000" u="none" strike="noStrike" cap="none">
                          <a:solidFill>
                            <a:srgbClr val="013362"/>
                          </a:solidFill>
                          <a:latin typeface="Poppins"/>
                          <a:ea typeface="Poppins"/>
                          <a:cs typeface="Poppins"/>
                          <a:sym typeface="Poppins"/>
                        </a:rPr>
                        <a:t>Dudas de fase 2</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1"/>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3</a:t>
                      </a:r>
                      <a:endParaRPr sz="1100" b="1" u="none" strike="noStrike" cap="none">
                        <a:solidFill>
                          <a:srgbClr val="FDFDFD"/>
                        </a:solidFill>
                        <a:latin typeface="Poppins"/>
                        <a:ea typeface="Poppins"/>
                        <a:cs typeface="Poppins"/>
                        <a:sym typeface="Poppins"/>
                      </a:endParaRPr>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chemeClr val="dk1"/>
                        </a:buClr>
                        <a:buSzPts val="2000"/>
                        <a:buFont typeface="Arial"/>
                        <a:buNone/>
                      </a:pPr>
                      <a:r>
                        <a:rPr lang="en-US" sz="2000" u="none" strike="noStrike" cap="none">
                          <a:solidFill>
                            <a:srgbClr val="013362"/>
                          </a:solidFill>
                          <a:latin typeface="Poppins"/>
                          <a:ea typeface="Poppins"/>
                          <a:cs typeface="Poppins"/>
                          <a:sym typeface="Poppins"/>
                        </a:rPr>
                        <a:t>Contenido Teórico Pruebas no Funcionales</a:t>
                      </a:r>
                      <a:endParaRPr sz="1100" u="none" strike="noStrike" cap="none">
                        <a:solidFill>
                          <a:srgbClr val="013362"/>
                        </a:solidFill>
                        <a:latin typeface="Poppins"/>
                        <a:ea typeface="Poppins"/>
                        <a:cs typeface="Poppins"/>
                        <a:sym typeface="Poppins"/>
                      </a:endParaRPr>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2"/>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4</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chemeClr val="dk1"/>
                        </a:buClr>
                        <a:buSzPts val="2000"/>
                        <a:buFont typeface="Arial"/>
                        <a:buNone/>
                      </a:pPr>
                      <a:r>
                        <a:rPr lang="en-US" sz="2000" u="none" strike="noStrike" cap="none">
                          <a:solidFill>
                            <a:srgbClr val="013362"/>
                          </a:solidFill>
                          <a:latin typeface="Poppins"/>
                          <a:ea typeface="Poppins"/>
                          <a:cs typeface="Poppins"/>
                          <a:sym typeface="Poppins"/>
                        </a:rPr>
                        <a:t>Kahoot</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19" name="Google Shape;119;g35f1b241ad4_0_10"/>
          <p:cNvGrpSpPr/>
          <p:nvPr/>
        </p:nvGrpSpPr>
        <p:grpSpPr>
          <a:xfrm>
            <a:off x="-584626" y="1589619"/>
            <a:ext cx="19457594" cy="2036657"/>
            <a:chOff x="0" y="-76200"/>
            <a:chExt cx="5124600" cy="536400"/>
          </a:xfrm>
        </p:grpSpPr>
        <p:sp>
          <p:nvSpPr>
            <p:cNvPr id="120" name="Google Shape;120;g35f1b241ad4_0_10"/>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21" name="Google Shape;121;g35f1b241ad4_0_10"/>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22" name="Google Shape;122;g35f1b241ad4_0_10"/>
          <p:cNvSpPr/>
          <p:nvPr/>
        </p:nvSpPr>
        <p:spPr>
          <a:xfrm>
            <a:off x="592309" y="8986439"/>
            <a:ext cx="2658272" cy="1329136"/>
          </a:xfrm>
          <a:custGeom>
            <a:avLst/>
            <a:gdLst/>
            <a:ahLst/>
            <a:cxnLst/>
            <a:rect l="l" t="t" r="r" b="b"/>
            <a:pathLst>
              <a:path w="2658272" h="1329136" extrusionOk="0">
                <a:moveTo>
                  <a:pt x="0" y="0"/>
                </a:moveTo>
                <a:lnTo>
                  <a:pt x="2658272" y="0"/>
                </a:lnTo>
                <a:lnTo>
                  <a:pt x="2658272" y="1329136"/>
                </a:lnTo>
                <a:lnTo>
                  <a:pt x="0" y="1329136"/>
                </a:lnTo>
                <a:lnTo>
                  <a:pt x="0" y="0"/>
                </a:lnTo>
                <a:close/>
              </a:path>
            </a:pathLst>
          </a:custGeom>
          <a:blipFill rotWithShape="1">
            <a:blip r:embed="rId3">
              <a:alphaModFix/>
            </a:blip>
            <a:stretch>
              <a:fillRect/>
            </a:stretch>
          </a:blipFill>
          <a:ln>
            <a:noFill/>
          </a:ln>
        </p:spPr>
        <p:txBody>
          <a:bodyPr/>
          <a:lstStyle/>
          <a:p>
            <a:endParaRPr lang="es-GT"/>
          </a:p>
        </p:txBody>
      </p:sp>
      <p:sp>
        <p:nvSpPr>
          <p:cNvPr id="123" name="Google Shape;123;g35f1b241ad4_0_10"/>
          <p:cNvSpPr txBox="1"/>
          <p:nvPr/>
        </p:nvSpPr>
        <p:spPr>
          <a:xfrm>
            <a:off x="5939974" y="1861823"/>
            <a:ext cx="6408000" cy="1627800"/>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Clr>
                <a:srgbClr val="000000"/>
              </a:buClr>
              <a:buSzPts val="10576"/>
              <a:buFont typeface="Arial"/>
              <a:buNone/>
            </a:pPr>
            <a:r>
              <a:rPr lang="en-US" sz="10576" b="0" i="0" u="none" strike="noStrike" cap="none">
                <a:solidFill>
                  <a:srgbClr val="FDFDFD"/>
                </a:solidFill>
                <a:latin typeface="Poppins Black"/>
                <a:ea typeface="Poppins Black"/>
                <a:cs typeface="Poppins Black"/>
                <a:sym typeface="Poppins Black"/>
              </a:rPr>
              <a:t>AGENDA</a:t>
            </a:r>
            <a:endParaRPr sz="1400" b="0" i="0" u="none" strike="noStrike" cap="none">
              <a:solidFill>
                <a:srgbClr val="000000"/>
              </a:solidFill>
              <a:latin typeface="Arial"/>
              <a:ea typeface="Arial"/>
              <a:cs typeface="Arial"/>
              <a:sym typeface="Arial"/>
            </a:endParaRPr>
          </a:p>
        </p:txBody>
      </p:sp>
      <p:sp>
        <p:nvSpPr>
          <p:cNvPr id="124" name="Google Shape;124;g35f1b241ad4_0_10"/>
          <p:cNvSpPr/>
          <p:nvPr/>
        </p:nvSpPr>
        <p:spPr>
          <a:xfrm rot="10800000">
            <a:off x="14838633" y="0"/>
            <a:ext cx="2658272" cy="1329136"/>
          </a:xfrm>
          <a:custGeom>
            <a:avLst/>
            <a:gdLst/>
            <a:ahLst/>
            <a:cxnLst/>
            <a:rect l="l" t="t" r="r" b="b"/>
            <a:pathLst>
              <a:path w="2658272" h="1329136" extrusionOk="0">
                <a:moveTo>
                  <a:pt x="0" y="0"/>
                </a:moveTo>
                <a:lnTo>
                  <a:pt x="2658272" y="0"/>
                </a:lnTo>
                <a:lnTo>
                  <a:pt x="2658272" y="1329136"/>
                </a:lnTo>
                <a:lnTo>
                  <a:pt x="0" y="1329136"/>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8"/>
        <p:cNvGrpSpPr/>
        <p:nvPr/>
      </p:nvGrpSpPr>
      <p:grpSpPr>
        <a:xfrm>
          <a:off x="0" y="0"/>
          <a:ext cx="0" cy="0"/>
          <a:chOff x="0" y="0"/>
          <a:chExt cx="0" cy="0"/>
        </a:xfrm>
      </p:grpSpPr>
      <p:grpSp>
        <p:nvGrpSpPr>
          <p:cNvPr id="129" name="Google Shape;129;g35f1b241ad4_0_20"/>
          <p:cNvGrpSpPr/>
          <p:nvPr/>
        </p:nvGrpSpPr>
        <p:grpSpPr>
          <a:xfrm>
            <a:off x="-584800" y="2437174"/>
            <a:ext cx="19457594" cy="4853776"/>
            <a:chOff x="0" y="-76200"/>
            <a:chExt cx="5124600" cy="536400"/>
          </a:xfrm>
        </p:grpSpPr>
        <p:sp>
          <p:nvSpPr>
            <p:cNvPr id="130" name="Google Shape;130;g35f1b241ad4_0_20"/>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31" name="Google Shape;131;g35f1b241ad4_0_20"/>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32" name="Google Shape;132;g35f1b241ad4_0_20"/>
          <p:cNvSpPr txBox="1"/>
          <p:nvPr/>
        </p:nvSpPr>
        <p:spPr>
          <a:xfrm>
            <a:off x="1599296" y="4433539"/>
            <a:ext cx="150894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Pruebas de software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36"/>
        <p:cNvGrpSpPr/>
        <p:nvPr/>
      </p:nvGrpSpPr>
      <p:grpSpPr>
        <a:xfrm>
          <a:off x="0" y="0"/>
          <a:ext cx="0" cy="0"/>
          <a:chOff x="0" y="0"/>
          <a:chExt cx="0" cy="0"/>
        </a:xfrm>
      </p:grpSpPr>
      <p:grpSp>
        <p:nvGrpSpPr>
          <p:cNvPr id="137" name="Google Shape;137;g35f1b241ad4_0_27"/>
          <p:cNvGrpSpPr/>
          <p:nvPr/>
        </p:nvGrpSpPr>
        <p:grpSpPr>
          <a:xfrm>
            <a:off x="-584801" y="364850"/>
            <a:ext cx="19457594" cy="2036657"/>
            <a:chOff x="0" y="-76200"/>
            <a:chExt cx="5124600" cy="536400"/>
          </a:xfrm>
        </p:grpSpPr>
        <p:sp>
          <p:nvSpPr>
            <p:cNvPr id="138" name="Google Shape;138;g35f1b241ad4_0_27"/>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39" name="Google Shape;139;g35f1b241ad4_0_27"/>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40" name="Google Shape;140;g35f1b241ad4_0_27"/>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Introducción a las pruebas de software</a:t>
            </a:r>
            <a:endParaRPr sz="100" b="0" i="0" u="none" strike="noStrike" cap="none">
              <a:solidFill>
                <a:srgbClr val="000000"/>
              </a:solidFill>
              <a:latin typeface="Arial"/>
              <a:ea typeface="Arial"/>
              <a:cs typeface="Arial"/>
              <a:sym typeface="Arial"/>
            </a:endParaRPr>
          </a:p>
        </p:txBody>
      </p:sp>
      <p:sp>
        <p:nvSpPr>
          <p:cNvPr id="141" name="Google Shape;141;g35f1b241ad4_0_27"/>
          <p:cNvSpPr txBox="1"/>
          <p:nvPr/>
        </p:nvSpPr>
        <p:spPr>
          <a:xfrm>
            <a:off x="1028700" y="2969245"/>
            <a:ext cx="16230600" cy="17334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Las pruebas de software son un proceso fundamental para garantizar la calidad y el correcto funcionamiento de los sistemas informáticos. Permiten identificar y corregir errores antes de que el software se ponga en producción, lo que ahorra tiempo y recursos.</a:t>
            </a:r>
            <a:endParaRPr sz="1400" b="0" i="0" u="none" strike="noStrike" cap="none">
              <a:solidFill>
                <a:srgbClr val="000000"/>
              </a:solidFill>
              <a:latin typeface="Arial"/>
              <a:ea typeface="Arial"/>
              <a:cs typeface="Arial"/>
              <a:sym typeface="Arial"/>
            </a:endParaRPr>
          </a:p>
        </p:txBody>
      </p:sp>
      <p:pic>
        <p:nvPicPr>
          <p:cNvPr id="142" name="Google Shape;142;g35f1b241ad4_0_27" descr="preencoded.png"/>
          <p:cNvPicPr preferRelativeResize="0"/>
          <p:nvPr/>
        </p:nvPicPr>
        <p:blipFill rotWithShape="1">
          <a:blip r:embed="rId3">
            <a:alphaModFix/>
          </a:blip>
          <a:srcRect/>
          <a:stretch/>
        </p:blipFill>
        <p:spPr>
          <a:xfrm>
            <a:off x="5592605" y="5766450"/>
            <a:ext cx="7102800" cy="39953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3362"/>
        </a:solidFill>
        <a:effectLst/>
      </p:bgPr>
    </p:bg>
    <p:spTree>
      <p:nvGrpSpPr>
        <p:cNvPr id="1" name="Shape 146"/>
        <p:cNvGrpSpPr/>
        <p:nvPr/>
      </p:nvGrpSpPr>
      <p:grpSpPr>
        <a:xfrm>
          <a:off x="0" y="0"/>
          <a:ext cx="0" cy="0"/>
          <a:chOff x="0" y="0"/>
          <a:chExt cx="0" cy="0"/>
        </a:xfrm>
      </p:grpSpPr>
      <p:grpSp>
        <p:nvGrpSpPr>
          <p:cNvPr id="147" name="Google Shape;147;g35f1b241ad4_0_36"/>
          <p:cNvGrpSpPr/>
          <p:nvPr/>
        </p:nvGrpSpPr>
        <p:grpSpPr>
          <a:xfrm>
            <a:off x="-584626" y="928335"/>
            <a:ext cx="19457594" cy="2036657"/>
            <a:chOff x="0" y="-76200"/>
            <a:chExt cx="5124600" cy="536400"/>
          </a:xfrm>
        </p:grpSpPr>
        <p:sp>
          <p:nvSpPr>
            <p:cNvPr id="148" name="Google Shape;148;g35f1b241ad4_0_36"/>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FDFDFD"/>
            </a:solidFill>
            <a:ln>
              <a:noFill/>
            </a:ln>
          </p:spPr>
          <p:txBody>
            <a:bodyPr/>
            <a:lstStyle/>
            <a:p>
              <a:endParaRPr lang="es-GT"/>
            </a:p>
          </p:txBody>
        </p:sp>
        <p:sp>
          <p:nvSpPr>
            <p:cNvPr id="149" name="Google Shape;149;g35f1b241ad4_0_36"/>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0" name="Google Shape;150;g35f1b241ad4_0_36"/>
          <p:cNvSpPr/>
          <p:nvPr/>
        </p:nvSpPr>
        <p:spPr>
          <a:xfrm>
            <a:off x="4388364" y="4265449"/>
            <a:ext cx="2980944" cy="2980944"/>
          </a:xfrm>
          <a:custGeom>
            <a:avLst/>
            <a:gdLst/>
            <a:ahLst/>
            <a:cxnLst/>
            <a:rect l="l" t="t" r="r" b="b"/>
            <a:pathLst>
              <a:path w="812800" h="812800" extrusionOk="0">
                <a:moveTo>
                  <a:pt x="0" y="0"/>
                </a:moveTo>
                <a:lnTo>
                  <a:pt x="812800" y="0"/>
                </a:lnTo>
                <a:lnTo>
                  <a:pt x="812800" y="812800"/>
                </a:lnTo>
                <a:lnTo>
                  <a:pt x="0" y="812800"/>
                </a:lnTo>
                <a:close/>
              </a:path>
            </a:pathLst>
          </a:custGeom>
          <a:blipFill rotWithShape="1">
            <a:blip r:embed="rId3">
              <a:alphaModFix/>
            </a:blip>
            <a:stretch>
              <a:fillRect l="-24989" r="-24989"/>
            </a:stretch>
          </a:blipFill>
          <a:ln>
            <a:noFill/>
          </a:ln>
        </p:spPr>
        <p:txBody>
          <a:bodyPr/>
          <a:lstStyle/>
          <a:p>
            <a:endParaRPr lang="es-GT"/>
          </a:p>
        </p:txBody>
      </p:sp>
      <p:sp>
        <p:nvSpPr>
          <p:cNvPr id="151" name="Google Shape;151;g35f1b241ad4_0_36"/>
          <p:cNvSpPr/>
          <p:nvPr/>
        </p:nvSpPr>
        <p:spPr>
          <a:xfrm>
            <a:off x="7700127" y="4265449"/>
            <a:ext cx="2980944" cy="2980944"/>
          </a:xfrm>
          <a:custGeom>
            <a:avLst/>
            <a:gdLst/>
            <a:ahLst/>
            <a:cxnLst/>
            <a:rect l="l" t="t" r="r" b="b"/>
            <a:pathLst>
              <a:path w="812800" h="812800" extrusionOk="0">
                <a:moveTo>
                  <a:pt x="0" y="0"/>
                </a:moveTo>
                <a:lnTo>
                  <a:pt x="812800" y="0"/>
                </a:lnTo>
                <a:lnTo>
                  <a:pt x="812800" y="812800"/>
                </a:lnTo>
                <a:lnTo>
                  <a:pt x="0" y="812800"/>
                </a:lnTo>
                <a:close/>
              </a:path>
            </a:pathLst>
          </a:custGeom>
          <a:blipFill rotWithShape="1">
            <a:blip r:embed="rId4">
              <a:alphaModFix/>
            </a:blip>
            <a:stretch>
              <a:fillRect t="-46969" b="-2819"/>
            </a:stretch>
          </a:blipFill>
          <a:ln>
            <a:noFill/>
          </a:ln>
        </p:spPr>
        <p:txBody>
          <a:bodyPr/>
          <a:lstStyle/>
          <a:p>
            <a:endParaRPr lang="es-GT"/>
          </a:p>
        </p:txBody>
      </p:sp>
      <p:sp>
        <p:nvSpPr>
          <p:cNvPr id="152" name="Google Shape;152;g35f1b241ad4_0_36"/>
          <p:cNvSpPr/>
          <p:nvPr/>
        </p:nvSpPr>
        <p:spPr>
          <a:xfrm>
            <a:off x="11013931" y="4265449"/>
            <a:ext cx="2980944" cy="2980944"/>
          </a:xfrm>
          <a:custGeom>
            <a:avLst/>
            <a:gdLst/>
            <a:ahLst/>
            <a:cxnLst/>
            <a:rect l="l" t="t" r="r" b="b"/>
            <a:pathLst>
              <a:path w="812800" h="812800" extrusionOk="0">
                <a:moveTo>
                  <a:pt x="0" y="0"/>
                </a:moveTo>
                <a:lnTo>
                  <a:pt x="812800" y="0"/>
                </a:lnTo>
                <a:lnTo>
                  <a:pt x="812800" y="812800"/>
                </a:lnTo>
                <a:lnTo>
                  <a:pt x="0" y="812800"/>
                </a:lnTo>
                <a:close/>
              </a:path>
            </a:pathLst>
          </a:custGeom>
          <a:blipFill rotWithShape="1">
            <a:blip r:embed="rId5">
              <a:alphaModFix/>
            </a:blip>
            <a:stretch>
              <a:fillRect l="-25038" r="-25028"/>
            </a:stretch>
          </a:blipFill>
          <a:ln>
            <a:noFill/>
          </a:ln>
        </p:spPr>
        <p:txBody>
          <a:bodyPr/>
          <a:lstStyle/>
          <a:p>
            <a:endParaRPr lang="es-GT"/>
          </a:p>
        </p:txBody>
      </p:sp>
      <p:grpSp>
        <p:nvGrpSpPr>
          <p:cNvPr id="153" name="Google Shape;153;g35f1b241ad4_0_36"/>
          <p:cNvGrpSpPr/>
          <p:nvPr/>
        </p:nvGrpSpPr>
        <p:grpSpPr>
          <a:xfrm>
            <a:off x="5168014" y="3554168"/>
            <a:ext cx="1422563" cy="1422563"/>
            <a:chOff x="0" y="0"/>
            <a:chExt cx="812800" cy="812800"/>
          </a:xfrm>
        </p:grpSpPr>
        <p:sp>
          <p:nvSpPr>
            <p:cNvPr id="154" name="Google Shape;154;g35f1b241ad4_0_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w="1905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g35f1b241ad4_0_36"/>
            <p:cNvSpPr txBox="1"/>
            <p:nvPr/>
          </p:nvSpPr>
          <p:spPr>
            <a:xfrm>
              <a:off x="76200" y="0"/>
              <a:ext cx="660300" cy="7365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56" name="Google Shape;156;g35f1b241ad4_0_36"/>
          <p:cNvGrpSpPr/>
          <p:nvPr/>
        </p:nvGrpSpPr>
        <p:grpSpPr>
          <a:xfrm>
            <a:off x="8479777" y="3554168"/>
            <a:ext cx="1422563" cy="1422563"/>
            <a:chOff x="0" y="0"/>
            <a:chExt cx="812800" cy="812800"/>
          </a:xfrm>
        </p:grpSpPr>
        <p:sp>
          <p:nvSpPr>
            <p:cNvPr id="157" name="Google Shape;157;g35f1b241ad4_0_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w="1905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g35f1b241ad4_0_36"/>
            <p:cNvSpPr txBox="1"/>
            <p:nvPr/>
          </p:nvSpPr>
          <p:spPr>
            <a:xfrm>
              <a:off x="76200" y="0"/>
              <a:ext cx="660300" cy="7365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59" name="Google Shape;159;g35f1b241ad4_0_36"/>
          <p:cNvGrpSpPr/>
          <p:nvPr/>
        </p:nvGrpSpPr>
        <p:grpSpPr>
          <a:xfrm>
            <a:off x="11793582" y="3554168"/>
            <a:ext cx="1422563" cy="1422563"/>
            <a:chOff x="0" y="0"/>
            <a:chExt cx="812800" cy="812800"/>
          </a:xfrm>
        </p:grpSpPr>
        <p:sp>
          <p:nvSpPr>
            <p:cNvPr id="160" name="Google Shape;160;g35f1b241ad4_0_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w="1905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g35f1b241ad4_0_36"/>
            <p:cNvSpPr txBox="1"/>
            <p:nvPr/>
          </p:nvSpPr>
          <p:spPr>
            <a:xfrm>
              <a:off x="76200" y="0"/>
              <a:ext cx="660300" cy="7365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2" name="Google Shape;162;g35f1b241ad4_0_36"/>
          <p:cNvSpPr txBox="1"/>
          <p:nvPr/>
        </p:nvSpPr>
        <p:spPr>
          <a:xfrm>
            <a:off x="1028700" y="1494776"/>
            <a:ext cx="16230600" cy="2242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6070"/>
              <a:buFont typeface="Arial"/>
              <a:buNone/>
            </a:pPr>
            <a:r>
              <a:rPr lang="en-US" sz="6070" b="1" i="0" u="none" strike="noStrike" cap="none">
                <a:solidFill>
                  <a:srgbClr val="013362"/>
                </a:solidFill>
                <a:latin typeface="Poppins"/>
                <a:ea typeface="Poppins"/>
                <a:cs typeface="Poppins"/>
                <a:sym typeface="Poppins"/>
              </a:rPr>
              <a:t>Importancia de las pruebas de software</a:t>
            </a:r>
            <a:endParaRPr sz="6070" b="1" i="0" u="none" strike="noStrike" cap="none">
              <a:solidFill>
                <a:srgbClr val="013362"/>
              </a:solidFill>
              <a:latin typeface="Poppins"/>
              <a:ea typeface="Poppins"/>
              <a:cs typeface="Poppins"/>
              <a:sym typeface="Poppins"/>
            </a:endParaRPr>
          </a:p>
          <a:p>
            <a:pPr marL="0" marR="0" lvl="0" indent="0" algn="ctr" rtl="0">
              <a:lnSpc>
                <a:spcPct val="140000"/>
              </a:lnSpc>
              <a:spcBef>
                <a:spcPts val="0"/>
              </a:spcBef>
              <a:spcAft>
                <a:spcPts val="0"/>
              </a:spcAft>
              <a:buClr>
                <a:srgbClr val="000000"/>
              </a:buClr>
              <a:buSzPts val="6070"/>
              <a:buFont typeface="Arial"/>
              <a:buNone/>
            </a:pPr>
            <a:endParaRPr sz="6070" b="1" i="0" u="none" strike="noStrike" cap="none">
              <a:solidFill>
                <a:srgbClr val="013362"/>
              </a:solidFill>
              <a:latin typeface="Poppins"/>
              <a:ea typeface="Poppins"/>
              <a:cs typeface="Poppins"/>
              <a:sym typeface="Poppins"/>
            </a:endParaRPr>
          </a:p>
        </p:txBody>
      </p:sp>
      <p:sp>
        <p:nvSpPr>
          <p:cNvPr id="163" name="Google Shape;163;g35f1b241ad4_0_36"/>
          <p:cNvSpPr txBox="1"/>
          <p:nvPr/>
        </p:nvSpPr>
        <p:spPr>
          <a:xfrm>
            <a:off x="4388375" y="7523900"/>
            <a:ext cx="3217200" cy="2179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770"/>
              <a:buFont typeface="Arial"/>
              <a:buNone/>
            </a:pPr>
            <a:r>
              <a:rPr lang="en-US" sz="1770" b="1" i="0" u="none" strike="noStrike" cap="none">
                <a:solidFill>
                  <a:srgbClr val="FFFFFF"/>
                </a:solidFill>
                <a:latin typeface="Poppins"/>
                <a:ea typeface="Poppins"/>
                <a:cs typeface="Poppins"/>
                <a:sym typeface="Poppins"/>
              </a:rPr>
              <a:t>Calidad</a:t>
            </a:r>
            <a:endParaRPr sz="1770" b="1" i="0" u="none" strike="noStrike" cap="none">
              <a:solidFill>
                <a:srgbClr val="FFFFFF"/>
              </a:solidFill>
              <a:latin typeface="Poppins"/>
              <a:ea typeface="Poppins"/>
              <a:cs typeface="Poppins"/>
              <a:sym typeface="Poppins"/>
            </a:endParaRPr>
          </a:p>
          <a:p>
            <a:pPr marL="0" marR="0" lvl="0" indent="0" algn="ctr" rtl="0">
              <a:lnSpc>
                <a:spcPct val="140000"/>
              </a:lnSpc>
              <a:spcBef>
                <a:spcPts val="0"/>
              </a:spcBef>
              <a:spcAft>
                <a:spcPts val="0"/>
              </a:spcAft>
              <a:buClr>
                <a:srgbClr val="000000"/>
              </a:buClr>
              <a:buSzPts val="1770"/>
              <a:buFont typeface="Arial"/>
              <a:buNone/>
            </a:pPr>
            <a:r>
              <a:rPr lang="en-US" sz="1770" b="0" i="0" u="none" strike="noStrike" cap="none">
                <a:solidFill>
                  <a:srgbClr val="FFFFFF"/>
                </a:solidFill>
                <a:latin typeface="Poppins"/>
                <a:ea typeface="Poppins"/>
                <a:cs typeface="Poppins"/>
                <a:sym typeface="Poppins"/>
              </a:rPr>
              <a:t>Las pruebas ayudan a asegurar que el software cumpla con los requisitos y funcione sin errores.</a:t>
            </a:r>
            <a:endParaRPr sz="1770" b="0" i="0" u="none" strike="noStrike" cap="none">
              <a:solidFill>
                <a:srgbClr val="FFFFFF"/>
              </a:solidFill>
              <a:latin typeface="Poppins"/>
              <a:ea typeface="Poppins"/>
              <a:cs typeface="Poppins"/>
              <a:sym typeface="Poppins"/>
            </a:endParaRPr>
          </a:p>
          <a:p>
            <a:pPr marL="0" marR="0" lvl="0" indent="0" algn="ctr" rtl="0">
              <a:lnSpc>
                <a:spcPct val="140000"/>
              </a:lnSpc>
              <a:spcBef>
                <a:spcPts val="0"/>
              </a:spcBef>
              <a:spcAft>
                <a:spcPts val="0"/>
              </a:spcAft>
              <a:buClr>
                <a:srgbClr val="000000"/>
              </a:buClr>
              <a:buSzPts val="1770"/>
              <a:buFont typeface="Arial"/>
              <a:buNone/>
            </a:pPr>
            <a:endParaRPr sz="1770" b="0" i="0" u="none" strike="noStrike" cap="none">
              <a:solidFill>
                <a:srgbClr val="FFFFFF"/>
              </a:solidFill>
              <a:latin typeface="Poppins"/>
              <a:ea typeface="Poppins"/>
              <a:cs typeface="Poppins"/>
              <a:sym typeface="Poppins"/>
            </a:endParaRPr>
          </a:p>
        </p:txBody>
      </p:sp>
      <p:sp>
        <p:nvSpPr>
          <p:cNvPr id="164" name="Google Shape;164;g35f1b241ad4_0_36"/>
          <p:cNvSpPr txBox="1"/>
          <p:nvPr/>
        </p:nvSpPr>
        <p:spPr>
          <a:xfrm>
            <a:off x="7649201" y="7523900"/>
            <a:ext cx="3083700" cy="17982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770"/>
              <a:buFont typeface="Arial"/>
              <a:buNone/>
            </a:pPr>
            <a:r>
              <a:rPr lang="en-US" sz="1770" b="1" i="0" u="none" strike="noStrike" cap="none">
                <a:solidFill>
                  <a:srgbClr val="FFFFFF"/>
                </a:solidFill>
                <a:latin typeface="Poppins"/>
                <a:ea typeface="Poppins"/>
                <a:cs typeface="Poppins"/>
                <a:sym typeface="Poppins"/>
              </a:rPr>
              <a:t>Satisfacción del usuario</a:t>
            </a:r>
            <a:endParaRPr sz="1770" b="1" i="0" u="none" strike="noStrike" cap="none">
              <a:solidFill>
                <a:srgbClr val="FFFFFF"/>
              </a:solidFill>
              <a:latin typeface="Poppins"/>
              <a:ea typeface="Poppins"/>
              <a:cs typeface="Poppins"/>
              <a:sym typeface="Poppins"/>
            </a:endParaRPr>
          </a:p>
          <a:p>
            <a:pPr marL="0" marR="0" lvl="0" indent="0" algn="ctr" rtl="0">
              <a:lnSpc>
                <a:spcPct val="140000"/>
              </a:lnSpc>
              <a:spcBef>
                <a:spcPts val="0"/>
              </a:spcBef>
              <a:spcAft>
                <a:spcPts val="0"/>
              </a:spcAft>
              <a:buClr>
                <a:srgbClr val="000000"/>
              </a:buClr>
              <a:buSzPts val="1770"/>
              <a:buFont typeface="Arial"/>
              <a:buNone/>
            </a:pPr>
            <a:r>
              <a:rPr lang="en-US" sz="1770" b="0" i="0" u="none" strike="noStrike" cap="none">
                <a:solidFill>
                  <a:srgbClr val="FFFFFF"/>
                </a:solidFill>
                <a:latin typeface="Poppins"/>
                <a:ea typeface="Poppins"/>
                <a:cs typeface="Poppins"/>
                <a:sym typeface="Poppins"/>
              </a:rPr>
              <a:t>Un software bien probado brinda una mejor experiencia de usuario y genera más confianza.</a:t>
            </a:r>
            <a:endParaRPr sz="1770" b="0" i="0" u="none" strike="noStrike" cap="none">
              <a:solidFill>
                <a:srgbClr val="FFFFFF"/>
              </a:solidFill>
              <a:latin typeface="Poppins"/>
              <a:ea typeface="Poppins"/>
              <a:cs typeface="Poppins"/>
              <a:sym typeface="Poppins"/>
            </a:endParaRPr>
          </a:p>
        </p:txBody>
      </p:sp>
      <p:sp>
        <p:nvSpPr>
          <p:cNvPr id="165" name="Google Shape;165;g35f1b241ad4_0_36"/>
          <p:cNvSpPr txBox="1"/>
          <p:nvPr/>
        </p:nvSpPr>
        <p:spPr>
          <a:xfrm>
            <a:off x="11013975" y="7523900"/>
            <a:ext cx="2980800" cy="2179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770"/>
              <a:buFont typeface="Arial"/>
              <a:buNone/>
            </a:pPr>
            <a:r>
              <a:rPr lang="en-US" sz="1770" b="1" i="0" u="none" strike="noStrike" cap="none">
                <a:solidFill>
                  <a:srgbClr val="FFFFFF"/>
                </a:solidFill>
                <a:latin typeface="Poppins"/>
                <a:ea typeface="Poppins"/>
                <a:cs typeface="Poppins"/>
                <a:sym typeface="Poppins"/>
              </a:rPr>
              <a:t>Detección temprana de errores</a:t>
            </a:r>
            <a:endParaRPr sz="1770" b="1" i="0" u="none" strike="noStrike" cap="none">
              <a:solidFill>
                <a:srgbClr val="FFFFFF"/>
              </a:solidFill>
              <a:latin typeface="Poppins"/>
              <a:ea typeface="Poppins"/>
              <a:cs typeface="Poppins"/>
              <a:sym typeface="Poppins"/>
            </a:endParaRPr>
          </a:p>
          <a:p>
            <a:pPr marL="0" marR="0" lvl="0" indent="0" algn="ctr" rtl="0">
              <a:lnSpc>
                <a:spcPct val="140000"/>
              </a:lnSpc>
              <a:spcBef>
                <a:spcPts val="0"/>
              </a:spcBef>
              <a:spcAft>
                <a:spcPts val="0"/>
              </a:spcAft>
              <a:buClr>
                <a:srgbClr val="000000"/>
              </a:buClr>
              <a:buSzPts val="1770"/>
              <a:buFont typeface="Arial"/>
              <a:buNone/>
            </a:pPr>
            <a:r>
              <a:rPr lang="en-US" sz="1770" b="0" i="0" u="none" strike="noStrike" cap="none">
                <a:solidFill>
                  <a:srgbClr val="FFFFFF"/>
                </a:solidFill>
                <a:latin typeface="Poppins"/>
                <a:ea typeface="Poppins"/>
                <a:cs typeface="Poppins"/>
                <a:sym typeface="Poppins"/>
              </a:rPr>
              <a:t>Identificar y corregir problemas en las primeras etapas reduce costos y esfuerzo..</a:t>
            </a:r>
            <a:endParaRPr sz="1770" b="0" i="0" u="none" strike="noStrike" cap="none">
              <a:solidFill>
                <a:srgbClr val="FFFFFF"/>
              </a:solidFill>
              <a:latin typeface="Poppins"/>
              <a:ea typeface="Poppins"/>
              <a:cs typeface="Poppins"/>
              <a:sym typeface="Poppins"/>
            </a:endParaRPr>
          </a:p>
        </p:txBody>
      </p:sp>
      <p:sp>
        <p:nvSpPr>
          <p:cNvPr id="166" name="Google Shape;166;g35f1b241ad4_0_36"/>
          <p:cNvSpPr txBox="1"/>
          <p:nvPr/>
        </p:nvSpPr>
        <p:spPr>
          <a:xfrm>
            <a:off x="5559185" y="3737284"/>
            <a:ext cx="640200" cy="778800"/>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5060"/>
              <a:buFont typeface="Arial"/>
              <a:buNone/>
            </a:pPr>
            <a:r>
              <a:rPr lang="en-US" sz="5060" b="1" i="0" u="none" strike="noStrike" cap="none">
                <a:solidFill>
                  <a:srgbClr val="FFFFFF"/>
                </a:solidFill>
                <a:latin typeface="Poppins"/>
                <a:ea typeface="Poppins"/>
                <a:cs typeface="Poppins"/>
                <a:sym typeface="Poppins"/>
              </a:rPr>
              <a:t>1</a:t>
            </a:r>
            <a:endParaRPr sz="1400" b="0" i="0" u="none" strike="noStrike" cap="none">
              <a:solidFill>
                <a:srgbClr val="000000"/>
              </a:solidFill>
              <a:latin typeface="Arial"/>
              <a:ea typeface="Arial"/>
              <a:cs typeface="Arial"/>
              <a:sym typeface="Arial"/>
            </a:endParaRPr>
          </a:p>
        </p:txBody>
      </p:sp>
      <p:sp>
        <p:nvSpPr>
          <p:cNvPr id="167" name="Google Shape;167;g35f1b241ad4_0_36"/>
          <p:cNvSpPr txBox="1"/>
          <p:nvPr/>
        </p:nvSpPr>
        <p:spPr>
          <a:xfrm>
            <a:off x="8870947" y="3737284"/>
            <a:ext cx="640200" cy="778800"/>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5060"/>
              <a:buFont typeface="Arial"/>
              <a:buNone/>
            </a:pPr>
            <a:r>
              <a:rPr lang="en-US" sz="5060" b="1" i="0" u="none" strike="noStrike" cap="none">
                <a:solidFill>
                  <a:srgbClr val="FFFFFF"/>
                </a:solidFill>
                <a:latin typeface="Poppins"/>
                <a:ea typeface="Poppins"/>
                <a:cs typeface="Poppins"/>
                <a:sym typeface="Poppins"/>
              </a:rPr>
              <a:t>2</a:t>
            </a:r>
            <a:endParaRPr sz="1400" b="0" i="0" u="none" strike="noStrike" cap="none">
              <a:solidFill>
                <a:srgbClr val="000000"/>
              </a:solidFill>
              <a:latin typeface="Arial"/>
              <a:ea typeface="Arial"/>
              <a:cs typeface="Arial"/>
              <a:sym typeface="Arial"/>
            </a:endParaRPr>
          </a:p>
        </p:txBody>
      </p:sp>
      <p:sp>
        <p:nvSpPr>
          <p:cNvPr id="168" name="Google Shape;168;g35f1b241ad4_0_36"/>
          <p:cNvSpPr txBox="1"/>
          <p:nvPr/>
        </p:nvSpPr>
        <p:spPr>
          <a:xfrm>
            <a:off x="12184751" y="3737284"/>
            <a:ext cx="640200" cy="778800"/>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5060"/>
              <a:buFont typeface="Arial"/>
              <a:buNone/>
            </a:pPr>
            <a:r>
              <a:rPr lang="en-US" sz="5060" b="1" i="0" u="none" strike="noStrike" cap="none">
                <a:solidFill>
                  <a:srgbClr val="FFFFFF"/>
                </a:solidFill>
                <a:latin typeface="Poppins"/>
                <a:ea typeface="Poppins"/>
                <a:cs typeface="Poppins"/>
                <a:sym typeface="Poppins"/>
              </a:rPr>
              <a:t>3</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72"/>
        <p:cNvGrpSpPr/>
        <p:nvPr/>
      </p:nvGrpSpPr>
      <p:grpSpPr>
        <a:xfrm>
          <a:off x="0" y="0"/>
          <a:ext cx="0" cy="0"/>
          <a:chOff x="0" y="0"/>
          <a:chExt cx="0" cy="0"/>
        </a:xfrm>
      </p:grpSpPr>
      <p:grpSp>
        <p:nvGrpSpPr>
          <p:cNvPr id="173" name="Google Shape;173;g35f1b241ad4_0_61"/>
          <p:cNvGrpSpPr/>
          <p:nvPr/>
        </p:nvGrpSpPr>
        <p:grpSpPr>
          <a:xfrm>
            <a:off x="-584801" y="364850"/>
            <a:ext cx="19457594" cy="2036657"/>
            <a:chOff x="0" y="-76200"/>
            <a:chExt cx="5124600" cy="536400"/>
          </a:xfrm>
        </p:grpSpPr>
        <p:sp>
          <p:nvSpPr>
            <p:cNvPr id="174" name="Google Shape;174;g35f1b241ad4_0_61"/>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75" name="Google Shape;175;g35f1b241ad4_0_61"/>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76" name="Google Shape;176;g35f1b241ad4_0_61"/>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Tipos de pruebas de software</a:t>
            </a:r>
            <a:endParaRPr sz="100" b="0" i="0" u="none" strike="noStrike" cap="none">
              <a:solidFill>
                <a:srgbClr val="000000"/>
              </a:solidFill>
              <a:latin typeface="Arial"/>
              <a:ea typeface="Arial"/>
              <a:cs typeface="Arial"/>
              <a:sym typeface="Arial"/>
            </a:endParaRPr>
          </a:p>
        </p:txBody>
      </p:sp>
      <p:sp>
        <p:nvSpPr>
          <p:cNvPr id="177" name="Google Shape;177;g35f1b241ad4_0_61"/>
          <p:cNvSpPr/>
          <p:nvPr/>
        </p:nvSpPr>
        <p:spPr>
          <a:xfrm>
            <a:off x="793801" y="4206502"/>
            <a:ext cx="3174900" cy="4446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C3F42"/>
              </a:buClr>
              <a:buSzPts val="2200"/>
              <a:buFont typeface="Bitter"/>
              <a:buNone/>
            </a:pPr>
            <a:r>
              <a:rPr lang="en-US" sz="2200" b="1" i="0" u="none" strike="noStrike" cap="none">
                <a:solidFill>
                  <a:srgbClr val="2C3F42"/>
                </a:solidFill>
                <a:latin typeface="Bitter"/>
                <a:ea typeface="Bitter"/>
                <a:cs typeface="Bitter"/>
                <a:sym typeface="Bitter"/>
              </a:rPr>
              <a:t>Pruebas Funcionales</a:t>
            </a:r>
            <a:endParaRPr sz="2200" b="1" i="0" u="none" strike="noStrike" cap="none">
              <a:solidFill>
                <a:srgbClr val="000000"/>
              </a:solidFill>
              <a:latin typeface="Arial"/>
              <a:ea typeface="Arial"/>
              <a:cs typeface="Arial"/>
              <a:sym typeface="Arial"/>
            </a:endParaRPr>
          </a:p>
        </p:txBody>
      </p:sp>
      <p:sp>
        <p:nvSpPr>
          <p:cNvPr id="178" name="Google Shape;178;g35f1b241ad4_0_61"/>
          <p:cNvSpPr/>
          <p:nvPr/>
        </p:nvSpPr>
        <p:spPr>
          <a:xfrm>
            <a:off x="793801" y="4726362"/>
            <a:ext cx="4454400" cy="9105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Validan que el software cumpla con los requisitos especificados.</a:t>
            </a:r>
            <a:endParaRPr sz="1750" b="0" i="0" u="none" strike="noStrike" cap="none">
              <a:solidFill>
                <a:srgbClr val="000000"/>
              </a:solidFill>
              <a:latin typeface="Arial"/>
              <a:ea typeface="Arial"/>
              <a:cs typeface="Arial"/>
              <a:sym typeface="Arial"/>
            </a:endParaRPr>
          </a:p>
        </p:txBody>
      </p:sp>
      <p:sp>
        <p:nvSpPr>
          <p:cNvPr id="179" name="Google Shape;179;g35f1b241ad4_0_61"/>
          <p:cNvSpPr/>
          <p:nvPr/>
        </p:nvSpPr>
        <p:spPr>
          <a:xfrm>
            <a:off x="13765824" y="4522263"/>
            <a:ext cx="39780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C3F42"/>
              </a:buClr>
              <a:buSzPts val="2200"/>
              <a:buFont typeface="Bitter"/>
              <a:buNone/>
            </a:pPr>
            <a:r>
              <a:rPr lang="en-US" sz="2200" b="1" i="0" u="none" strike="noStrike" cap="none">
                <a:solidFill>
                  <a:srgbClr val="2C3F42"/>
                </a:solidFill>
                <a:latin typeface="Bitter"/>
                <a:ea typeface="Bitter"/>
                <a:cs typeface="Bitter"/>
                <a:sym typeface="Bitter"/>
              </a:rPr>
              <a:t>Pruebas No Funcionales</a:t>
            </a:r>
            <a:endParaRPr sz="2200" b="1" i="0" u="none" strike="noStrike" cap="none">
              <a:solidFill>
                <a:srgbClr val="000000"/>
              </a:solidFill>
              <a:latin typeface="Arial"/>
              <a:ea typeface="Arial"/>
              <a:cs typeface="Arial"/>
              <a:sym typeface="Arial"/>
            </a:endParaRPr>
          </a:p>
        </p:txBody>
      </p:sp>
      <p:sp>
        <p:nvSpPr>
          <p:cNvPr id="180" name="Google Shape;180;g35f1b241ad4_0_61"/>
          <p:cNvSpPr/>
          <p:nvPr/>
        </p:nvSpPr>
        <p:spPr>
          <a:xfrm>
            <a:off x="13825653" y="5039048"/>
            <a:ext cx="3978000" cy="725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Evalúan aspectos como rendimiento, seguridad, usabilidad y compatibilidad.</a:t>
            </a:r>
            <a:endParaRPr sz="1750" b="0" i="0" u="none" strike="noStrike" cap="none">
              <a:solidFill>
                <a:srgbClr val="000000"/>
              </a:solidFill>
              <a:latin typeface="Arial"/>
              <a:ea typeface="Arial"/>
              <a:cs typeface="Arial"/>
              <a:sym typeface="Arial"/>
            </a:endParaRPr>
          </a:p>
        </p:txBody>
      </p:sp>
      <p:pic>
        <p:nvPicPr>
          <p:cNvPr id="181" name="Google Shape;181;g35f1b241ad4_0_61" descr="preencoded.png"/>
          <p:cNvPicPr preferRelativeResize="0"/>
          <p:nvPr/>
        </p:nvPicPr>
        <p:blipFill rotWithShape="1">
          <a:blip r:embed="rId3">
            <a:alphaModFix/>
          </a:blip>
          <a:srcRect/>
          <a:stretch/>
        </p:blipFill>
        <p:spPr>
          <a:xfrm>
            <a:off x="5383334" y="3538952"/>
            <a:ext cx="7521351" cy="56473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85"/>
        <p:cNvGrpSpPr/>
        <p:nvPr/>
      </p:nvGrpSpPr>
      <p:grpSpPr>
        <a:xfrm>
          <a:off x="0" y="0"/>
          <a:ext cx="0" cy="0"/>
          <a:chOff x="0" y="0"/>
          <a:chExt cx="0" cy="0"/>
        </a:xfrm>
      </p:grpSpPr>
      <p:grpSp>
        <p:nvGrpSpPr>
          <p:cNvPr id="186" name="Google Shape;186;g35f1b241ad4_0_73"/>
          <p:cNvGrpSpPr/>
          <p:nvPr/>
        </p:nvGrpSpPr>
        <p:grpSpPr>
          <a:xfrm>
            <a:off x="-584801" y="364850"/>
            <a:ext cx="19457594" cy="2036657"/>
            <a:chOff x="0" y="-76200"/>
            <a:chExt cx="5124600" cy="536400"/>
          </a:xfrm>
        </p:grpSpPr>
        <p:sp>
          <p:nvSpPr>
            <p:cNvPr id="187" name="Google Shape;187;g35f1b241ad4_0_73"/>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88" name="Google Shape;188;g35f1b241ad4_0_73"/>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89" name="Google Shape;189;g35f1b241ad4_0_73"/>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Pruebas no funcionales</a:t>
            </a:r>
            <a:endParaRPr sz="7024" b="1" i="0" u="none" strike="noStrike" cap="none">
              <a:solidFill>
                <a:srgbClr val="FDFDFD"/>
              </a:solidFill>
              <a:latin typeface="Poppins"/>
              <a:ea typeface="Poppins"/>
              <a:cs typeface="Poppins"/>
              <a:sym typeface="Poppins"/>
            </a:endParaRPr>
          </a:p>
        </p:txBody>
      </p:sp>
      <p:pic>
        <p:nvPicPr>
          <p:cNvPr id="190" name="Google Shape;190;g35f1b241ad4_0_73"/>
          <p:cNvPicPr preferRelativeResize="0"/>
          <p:nvPr/>
        </p:nvPicPr>
        <p:blipFill rotWithShape="1">
          <a:blip r:embed="rId3">
            <a:alphaModFix/>
          </a:blip>
          <a:srcRect/>
          <a:stretch/>
        </p:blipFill>
        <p:spPr>
          <a:xfrm>
            <a:off x="10304800" y="3346951"/>
            <a:ext cx="7832001" cy="4879876"/>
          </a:xfrm>
          <a:prstGeom prst="rect">
            <a:avLst/>
          </a:prstGeom>
          <a:noFill/>
          <a:ln>
            <a:noFill/>
          </a:ln>
        </p:spPr>
      </p:pic>
      <p:sp>
        <p:nvSpPr>
          <p:cNvPr id="191" name="Google Shape;191;g35f1b241ad4_0_73"/>
          <p:cNvSpPr txBox="1"/>
          <p:nvPr/>
        </p:nvSpPr>
        <p:spPr>
          <a:xfrm>
            <a:off x="1028700" y="2969250"/>
            <a:ext cx="9276000" cy="4287900"/>
          </a:xfrm>
          <a:prstGeom prst="rect">
            <a:avLst/>
          </a:prstGeom>
          <a:noFill/>
          <a:ln>
            <a:noFill/>
          </a:ln>
        </p:spPr>
        <p:txBody>
          <a:bodyPr spcFirstLastPara="1" wrap="square" lIns="0" tIns="0" rIns="0" bIns="0" anchor="t" anchorCtr="0">
            <a:spAutoFit/>
          </a:bodyPr>
          <a:lstStyle/>
          <a:p>
            <a:pPr marL="0" marR="0" lvl="0" indent="0" algn="just"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Las pruebas no funcionales se centran en evaluar las características del sistema que no están relacionadas directamente con las funciones o características específicas que realiza, sino con la calidad del sistema en cuanto a su rendimiento, capacidad de respuesta, escalabilidad, entre otras.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95"/>
        <p:cNvGrpSpPr/>
        <p:nvPr/>
      </p:nvGrpSpPr>
      <p:grpSpPr>
        <a:xfrm>
          <a:off x="0" y="0"/>
          <a:ext cx="0" cy="0"/>
          <a:chOff x="0" y="0"/>
          <a:chExt cx="0" cy="0"/>
        </a:xfrm>
      </p:grpSpPr>
      <p:grpSp>
        <p:nvGrpSpPr>
          <p:cNvPr id="196" name="Google Shape;196;g35f1b241ad4_0_82"/>
          <p:cNvGrpSpPr/>
          <p:nvPr/>
        </p:nvGrpSpPr>
        <p:grpSpPr>
          <a:xfrm>
            <a:off x="-584801" y="364850"/>
            <a:ext cx="19457594" cy="2036657"/>
            <a:chOff x="0" y="-76200"/>
            <a:chExt cx="5124600" cy="536400"/>
          </a:xfrm>
        </p:grpSpPr>
        <p:sp>
          <p:nvSpPr>
            <p:cNvPr id="197" name="Google Shape;197;g35f1b241ad4_0_82"/>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98" name="Google Shape;198;g35f1b241ad4_0_82"/>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99" name="Google Shape;199;g35f1b241ad4_0_82"/>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Pruebas no funcionales</a:t>
            </a:r>
            <a:endParaRPr sz="7024" b="1" i="0" u="none" strike="noStrike" cap="none">
              <a:solidFill>
                <a:srgbClr val="FDFDFD"/>
              </a:solidFill>
              <a:latin typeface="Poppins"/>
              <a:ea typeface="Poppins"/>
              <a:cs typeface="Poppins"/>
              <a:sym typeface="Poppins"/>
            </a:endParaRPr>
          </a:p>
        </p:txBody>
      </p:sp>
      <p:sp>
        <p:nvSpPr>
          <p:cNvPr id="200" name="Google Shape;200;g35f1b241ad4_0_82"/>
          <p:cNvSpPr txBox="1"/>
          <p:nvPr/>
        </p:nvSpPr>
        <p:spPr>
          <a:xfrm>
            <a:off x="1028700" y="2969250"/>
            <a:ext cx="15627900" cy="5565000"/>
          </a:xfrm>
          <a:prstGeom prst="rect">
            <a:avLst/>
          </a:prstGeom>
          <a:noFill/>
          <a:ln>
            <a:noFill/>
          </a:ln>
        </p:spPr>
        <p:txBody>
          <a:bodyPr spcFirstLastPara="1" wrap="square" lIns="0" tIns="0" rIns="0" bIns="0" anchor="t" anchorCtr="0">
            <a:spAutoFit/>
          </a:bodyPr>
          <a:lstStyle/>
          <a:p>
            <a:pPr marL="0" marR="0" lvl="0" indent="0" algn="just" rtl="0">
              <a:lnSpc>
                <a:spcPct val="140027"/>
              </a:lnSpc>
              <a:spcBef>
                <a:spcPts val="0"/>
              </a:spcBef>
              <a:spcAft>
                <a:spcPts val="0"/>
              </a:spcAft>
              <a:buClr>
                <a:srgbClr val="000000"/>
              </a:buClr>
              <a:buSzPts val="2963"/>
              <a:buFont typeface="Arial"/>
              <a:buNone/>
            </a:pPr>
            <a:r>
              <a:rPr lang="en-US" sz="2963" b="1" i="0" u="none" strike="noStrike" cap="none">
                <a:solidFill>
                  <a:srgbClr val="013362"/>
                </a:solidFill>
                <a:latin typeface="Poppins"/>
                <a:ea typeface="Poppins"/>
                <a:cs typeface="Poppins"/>
                <a:sym typeface="Poppins"/>
              </a:rPr>
              <a:t>Objetivo:</a:t>
            </a:r>
            <a:r>
              <a:rPr lang="en-US" sz="2963" b="0" i="0" u="none" strike="noStrike" cap="none">
                <a:solidFill>
                  <a:srgbClr val="013362"/>
                </a:solidFill>
                <a:latin typeface="Poppins Light"/>
                <a:ea typeface="Poppins Light"/>
                <a:cs typeface="Poppins Light"/>
                <a:sym typeface="Poppins Light"/>
              </a:rPr>
              <a:t> Evaluar cómo se comporta el sistema en términos de rendimiento, eficiencia, usabilidad, fiabilidad, y otros aspectos no funcionales bajo diferentes condiciones operativas.</a:t>
            </a:r>
            <a:endParaRPr sz="2963" b="0" i="0" u="none" strike="noStrike" cap="none">
              <a:solidFill>
                <a:srgbClr val="013362"/>
              </a:solidFill>
              <a:latin typeface="Poppins Light"/>
              <a:ea typeface="Poppins Light"/>
              <a:cs typeface="Poppins Light"/>
              <a:sym typeface="Poppins Light"/>
            </a:endParaRPr>
          </a:p>
          <a:p>
            <a:pPr marL="0" marR="0" lvl="0" indent="0" algn="just" rtl="0">
              <a:lnSpc>
                <a:spcPct val="140027"/>
              </a:lnSpc>
              <a:spcBef>
                <a:spcPts val="0"/>
              </a:spcBef>
              <a:spcAft>
                <a:spcPts val="0"/>
              </a:spcAft>
              <a:buClr>
                <a:srgbClr val="000000"/>
              </a:buClr>
              <a:buSzPts val="2963"/>
              <a:buFont typeface="Arial"/>
              <a:buNone/>
            </a:pPr>
            <a:endParaRPr sz="2963" b="0" i="0" u="none" strike="noStrike" cap="none">
              <a:solidFill>
                <a:srgbClr val="013362"/>
              </a:solidFill>
              <a:latin typeface="Poppins Light"/>
              <a:ea typeface="Poppins Light"/>
              <a:cs typeface="Poppins Light"/>
              <a:sym typeface="Poppins Light"/>
            </a:endParaRPr>
          </a:p>
          <a:p>
            <a:pPr marL="0" marR="0" lvl="0" indent="0" algn="just"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Tipos comunes de pruebas no funcionales:</a:t>
            </a:r>
            <a:endParaRPr sz="2963" b="0" i="0" u="none" strike="noStrike" cap="none">
              <a:solidFill>
                <a:srgbClr val="013362"/>
              </a:solidFill>
              <a:latin typeface="Poppins Light"/>
              <a:ea typeface="Poppins Light"/>
              <a:cs typeface="Poppins Light"/>
              <a:sym typeface="Poppins Light"/>
            </a:endParaRPr>
          </a:p>
          <a:p>
            <a:pPr marL="457200" marR="0" lvl="0" indent="-416750" algn="just"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Pruebas de carga</a:t>
            </a:r>
            <a:endParaRPr sz="2963" b="0" i="0" u="none" strike="noStrike" cap="none">
              <a:solidFill>
                <a:srgbClr val="013362"/>
              </a:solidFill>
              <a:latin typeface="Poppins Light"/>
              <a:ea typeface="Poppins Light"/>
              <a:cs typeface="Poppins Light"/>
              <a:sym typeface="Poppins Light"/>
            </a:endParaRPr>
          </a:p>
          <a:p>
            <a:pPr marL="457200" marR="0" lvl="0" indent="-416750" algn="just"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Pruebas de estrés</a:t>
            </a:r>
            <a:endParaRPr sz="2963" b="0" i="0" u="none" strike="noStrike" cap="none">
              <a:solidFill>
                <a:srgbClr val="013362"/>
              </a:solidFill>
              <a:latin typeface="Poppins Light"/>
              <a:ea typeface="Poppins Light"/>
              <a:cs typeface="Poppins Light"/>
              <a:sym typeface="Poppins Light"/>
            </a:endParaRPr>
          </a:p>
          <a:p>
            <a:pPr marL="457200" marR="0" lvl="0" indent="-416750" algn="just"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Pruebas de escalabilidad</a:t>
            </a:r>
            <a:endParaRPr sz="2963" b="0" i="0" u="none" strike="noStrike" cap="none">
              <a:solidFill>
                <a:srgbClr val="013362"/>
              </a:solidFill>
              <a:latin typeface="Poppins Light"/>
              <a:ea typeface="Poppins Light"/>
              <a:cs typeface="Poppins Light"/>
              <a:sym typeface="Poppins Light"/>
            </a:endParaRPr>
          </a:p>
          <a:p>
            <a:pPr marL="457200" marR="0" lvl="0" indent="-416750" algn="just"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Pruebas de portabilidad</a:t>
            </a:r>
            <a:endParaRPr sz="2963" b="0" i="0" u="none" strike="noStrike" cap="none">
              <a:solidFill>
                <a:srgbClr val="013362"/>
              </a:solidFill>
              <a:latin typeface="Poppins Light"/>
              <a:ea typeface="Poppins Light"/>
              <a:cs typeface="Poppins Light"/>
              <a:sym typeface="Poppins Light"/>
            </a:endParaRPr>
          </a:p>
        </p:txBody>
      </p:sp>
      <p:pic>
        <p:nvPicPr>
          <p:cNvPr id="201" name="Google Shape;201;g35f1b241ad4_0_82"/>
          <p:cNvPicPr preferRelativeResize="0"/>
          <p:nvPr/>
        </p:nvPicPr>
        <p:blipFill rotWithShape="1">
          <a:blip r:embed="rId3">
            <a:alphaModFix/>
          </a:blip>
          <a:srcRect/>
          <a:stretch/>
        </p:blipFill>
        <p:spPr>
          <a:xfrm>
            <a:off x="10996825" y="4574100"/>
            <a:ext cx="4876800" cy="4876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05"/>
        <p:cNvGrpSpPr/>
        <p:nvPr/>
      </p:nvGrpSpPr>
      <p:grpSpPr>
        <a:xfrm>
          <a:off x="0" y="0"/>
          <a:ext cx="0" cy="0"/>
          <a:chOff x="0" y="0"/>
          <a:chExt cx="0" cy="0"/>
        </a:xfrm>
      </p:grpSpPr>
      <p:grpSp>
        <p:nvGrpSpPr>
          <p:cNvPr id="206" name="Google Shape;206;g35f1b241ad4_0_91"/>
          <p:cNvGrpSpPr/>
          <p:nvPr/>
        </p:nvGrpSpPr>
        <p:grpSpPr>
          <a:xfrm>
            <a:off x="-584800" y="2437174"/>
            <a:ext cx="19457594" cy="4853776"/>
            <a:chOff x="0" y="-76200"/>
            <a:chExt cx="5124600" cy="536400"/>
          </a:xfrm>
        </p:grpSpPr>
        <p:sp>
          <p:nvSpPr>
            <p:cNvPr id="207" name="Google Shape;207;g35f1b241ad4_0_91"/>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08" name="Google Shape;208;g35f1b241ad4_0_91"/>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09" name="Google Shape;209;g35f1b241ad4_0_91"/>
          <p:cNvSpPr txBox="1"/>
          <p:nvPr/>
        </p:nvSpPr>
        <p:spPr>
          <a:xfrm>
            <a:off x="1479696" y="3439639"/>
            <a:ext cx="15089400" cy="34077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Tipos de pruebas no funcionales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13"/>
        <p:cNvGrpSpPr/>
        <p:nvPr/>
      </p:nvGrpSpPr>
      <p:grpSpPr>
        <a:xfrm>
          <a:off x="0" y="0"/>
          <a:ext cx="0" cy="0"/>
          <a:chOff x="0" y="0"/>
          <a:chExt cx="0" cy="0"/>
        </a:xfrm>
      </p:grpSpPr>
      <p:grpSp>
        <p:nvGrpSpPr>
          <p:cNvPr id="214" name="Google Shape;214;g35f1b241ad4_0_98"/>
          <p:cNvGrpSpPr/>
          <p:nvPr/>
        </p:nvGrpSpPr>
        <p:grpSpPr>
          <a:xfrm>
            <a:off x="-584801" y="364850"/>
            <a:ext cx="19457594" cy="2036657"/>
            <a:chOff x="0" y="-76200"/>
            <a:chExt cx="5124600" cy="536400"/>
          </a:xfrm>
        </p:grpSpPr>
        <p:sp>
          <p:nvSpPr>
            <p:cNvPr id="215" name="Google Shape;215;g35f1b241ad4_0_98"/>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16" name="Google Shape;216;g35f1b241ad4_0_98"/>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17" name="Google Shape;217;g35f1b241ad4_0_98"/>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Pruebas de carga</a:t>
            </a:r>
            <a:endParaRPr sz="7024" b="1" i="0" u="none" strike="noStrike" cap="none">
              <a:solidFill>
                <a:srgbClr val="FDFDFD"/>
              </a:solidFill>
              <a:latin typeface="Poppins"/>
              <a:ea typeface="Poppins"/>
              <a:cs typeface="Poppins"/>
              <a:sym typeface="Poppins"/>
            </a:endParaRPr>
          </a:p>
        </p:txBody>
      </p:sp>
      <p:sp>
        <p:nvSpPr>
          <p:cNvPr id="218" name="Google Shape;218;g35f1b241ad4_0_98"/>
          <p:cNvSpPr txBox="1"/>
          <p:nvPr/>
        </p:nvSpPr>
        <p:spPr>
          <a:xfrm>
            <a:off x="1028700" y="2969250"/>
            <a:ext cx="17048400" cy="17334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Las pruebas de carga se realizan para verificar el comportamiento del sistema bajo una carga esperada de usuarios, transacciones o datos. Se miden aspectos como el tiempo de respuesta, el uso de recursos y la estabilidad bajo condiciones normales de uso.</a:t>
            </a:r>
            <a:endParaRPr sz="2963" b="0" i="0" u="none" strike="noStrike" cap="none">
              <a:solidFill>
                <a:srgbClr val="013362"/>
              </a:solidFill>
              <a:latin typeface="Poppins Light"/>
              <a:ea typeface="Poppins Light"/>
              <a:cs typeface="Poppins Light"/>
              <a:sym typeface="Poppins Light"/>
            </a:endParaRPr>
          </a:p>
        </p:txBody>
      </p:sp>
      <p:pic>
        <p:nvPicPr>
          <p:cNvPr id="219" name="Google Shape;219;g35f1b241ad4_0_98"/>
          <p:cNvPicPr preferRelativeResize="0"/>
          <p:nvPr/>
        </p:nvPicPr>
        <p:blipFill rotWithShape="1">
          <a:blip r:embed="rId3">
            <a:alphaModFix/>
          </a:blip>
          <a:srcRect/>
          <a:stretch/>
        </p:blipFill>
        <p:spPr>
          <a:xfrm>
            <a:off x="5041725" y="5007450"/>
            <a:ext cx="7395702" cy="5279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23"/>
        <p:cNvGrpSpPr/>
        <p:nvPr/>
      </p:nvGrpSpPr>
      <p:grpSpPr>
        <a:xfrm>
          <a:off x="0" y="0"/>
          <a:ext cx="0" cy="0"/>
          <a:chOff x="0" y="0"/>
          <a:chExt cx="0" cy="0"/>
        </a:xfrm>
      </p:grpSpPr>
      <p:grpSp>
        <p:nvGrpSpPr>
          <p:cNvPr id="224" name="Google Shape;224;g35f1b241ad4_0_107"/>
          <p:cNvGrpSpPr/>
          <p:nvPr/>
        </p:nvGrpSpPr>
        <p:grpSpPr>
          <a:xfrm>
            <a:off x="-584801" y="364850"/>
            <a:ext cx="19457594" cy="2036657"/>
            <a:chOff x="0" y="-76200"/>
            <a:chExt cx="5124600" cy="536400"/>
          </a:xfrm>
        </p:grpSpPr>
        <p:sp>
          <p:nvSpPr>
            <p:cNvPr id="225" name="Google Shape;225;g35f1b241ad4_0_107"/>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26" name="Google Shape;226;g35f1b241ad4_0_107"/>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27" name="Google Shape;227;g35f1b241ad4_0_107"/>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Objetivo de las pruebas de carga</a:t>
            </a:r>
            <a:endParaRPr sz="7024" b="1" i="0" u="none" strike="noStrike" cap="none">
              <a:solidFill>
                <a:srgbClr val="FDFDFD"/>
              </a:solidFill>
              <a:latin typeface="Poppins"/>
              <a:ea typeface="Poppins"/>
              <a:cs typeface="Poppins"/>
              <a:sym typeface="Poppins"/>
            </a:endParaRPr>
          </a:p>
        </p:txBody>
      </p:sp>
      <p:sp>
        <p:nvSpPr>
          <p:cNvPr id="228" name="Google Shape;228;g35f1b241ad4_0_107"/>
          <p:cNvSpPr txBox="1"/>
          <p:nvPr/>
        </p:nvSpPr>
        <p:spPr>
          <a:xfrm>
            <a:off x="1028700" y="2969250"/>
            <a:ext cx="17048400" cy="3649200"/>
          </a:xfrm>
          <a:prstGeom prst="rect">
            <a:avLst/>
          </a:prstGeom>
          <a:noFill/>
          <a:ln>
            <a:noFill/>
          </a:ln>
        </p:spPr>
        <p:txBody>
          <a:bodyPr spcFirstLastPara="1" wrap="square" lIns="0" tIns="0" rIns="0" bIns="0" anchor="t" anchorCtr="0">
            <a:spAutoFit/>
          </a:bodyPr>
          <a:lstStyle/>
          <a:p>
            <a:pPr marL="457200" marR="0" lvl="0" indent="-416750" algn="l"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Determinar cómo el sistema maneja múltiples usuarios o transacciones de manera simultánea.</a:t>
            </a:r>
            <a:endParaRPr sz="2963" b="0" i="0" u="none" strike="noStrike" cap="none">
              <a:solidFill>
                <a:srgbClr val="013362"/>
              </a:solidFill>
              <a:latin typeface="Poppins Light"/>
              <a:ea typeface="Poppins Light"/>
              <a:cs typeface="Poppins Light"/>
              <a:sym typeface="Poppins Light"/>
            </a:endParaRPr>
          </a:p>
          <a:p>
            <a:pPr marL="457200" marR="0" lvl="0" indent="-416750" algn="l"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Identificar cuellos de botella o problemas de rendimiento cuando el sistema está bajo su carga máxima esperada.</a:t>
            </a:r>
            <a:endParaRPr sz="2963" b="0" i="0" u="none" strike="noStrike" cap="none">
              <a:solidFill>
                <a:srgbClr val="013362"/>
              </a:solidFill>
              <a:latin typeface="Poppins Light"/>
              <a:ea typeface="Poppins Light"/>
              <a:cs typeface="Poppins Light"/>
              <a:sym typeface="Poppins Light"/>
            </a:endParaRPr>
          </a:p>
          <a:p>
            <a:pPr marL="457200" marR="0" lvl="0" indent="-416750" algn="l"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Garantizar que el tiempo de respuesta sea adecuado bajo las cargas de trabajo normales.</a:t>
            </a:r>
            <a:endParaRPr sz="2963" b="0" i="0" u="none" strike="noStrike" cap="none">
              <a:solidFill>
                <a:srgbClr val="013362"/>
              </a:solidFill>
              <a:latin typeface="Poppins Light"/>
              <a:ea typeface="Poppins Light"/>
              <a:cs typeface="Poppins Light"/>
              <a:sym typeface="Poppins Light"/>
            </a:endParaRPr>
          </a:p>
        </p:txBody>
      </p:sp>
      <p:pic>
        <p:nvPicPr>
          <p:cNvPr id="229" name="Google Shape;229;g35f1b241ad4_0_107"/>
          <p:cNvPicPr preferRelativeResize="0"/>
          <p:nvPr/>
        </p:nvPicPr>
        <p:blipFill rotWithShape="1">
          <a:blip r:embed="rId3">
            <a:alphaModFix/>
          </a:blip>
          <a:srcRect/>
          <a:stretch/>
        </p:blipFill>
        <p:spPr>
          <a:xfrm>
            <a:off x="2595738" y="6486775"/>
            <a:ext cx="5560686" cy="3649200"/>
          </a:xfrm>
          <a:prstGeom prst="rect">
            <a:avLst/>
          </a:prstGeom>
          <a:noFill/>
          <a:ln>
            <a:noFill/>
          </a:ln>
        </p:spPr>
      </p:pic>
      <p:sp>
        <p:nvSpPr>
          <p:cNvPr id="230" name="Google Shape;230;g35f1b241ad4_0_107"/>
          <p:cNvSpPr/>
          <p:nvPr/>
        </p:nvSpPr>
        <p:spPr>
          <a:xfrm>
            <a:off x="8477800" y="6309775"/>
            <a:ext cx="8866584" cy="3588516"/>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100"/>
              <a:buFont typeface="Arial"/>
              <a:buNone/>
            </a:pPr>
            <a:r>
              <a:rPr lang="en-US" sz="2100" b="0" i="0" u="none" strike="noStrike" cap="none">
                <a:solidFill>
                  <a:srgbClr val="000000"/>
                </a:solidFill>
                <a:latin typeface="Calibri"/>
                <a:ea typeface="Calibri"/>
                <a:cs typeface="Calibri"/>
                <a:sym typeface="Calibri"/>
              </a:rPr>
              <a:t>Simular 1,000 usuarios concurrentes accediendo a una aplicación web, midiendo cómo el servidor maneja la carga y los tiempos de respuesta.</a:t>
            </a:r>
            <a:endParaRPr sz="21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34"/>
        <p:cNvGrpSpPr/>
        <p:nvPr/>
      </p:nvGrpSpPr>
      <p:grpSpPr>
        <a:xfrm>
          <a:off x="0" y="0"/>
          <a:ext cx="0" cy="0"/>
          <a:chOff x="0" y="0"/>
          <a:chExt cx="0" cy="0"/>
        </a:xfrm>
      </p:grpSpPr>
      <p:grpSp>
        <p:nvGrpSpPr>
          <p:cNvPr id="235" name="Google Shape;235;g35f1b241ad4_0_117"/>
          <p:cNvGrpSpPr/>
          <p:nvPr/>
        </p:nvGrpSpPr>
        <p:grpSpPr>
          <a:xfrm>
            <a:off x="-584801" y="364850"/>
            <a:ext cx="19457594" cy="2036657"/>
            <a:chOff x="0" y="-76200"/>
            <a:chExt cx="5124600" cy="536400"/>
          </a:xfrm>
        </p:grpSpPr>
        <p:sp>
          <p:nvSpPr>
            <p:cNvPr id="236" name="Google Shape;236;g35f1b241ad4_0_117"/>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37" name="Google Shape;237;g35f1b241ad4_0_117"/>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38" name="Google Shape;238;g35f1b241ad4_0_117"/>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chemeClr val="dk1"/>
              </a:buClr>
              <a:buSzPts val="9224"/>
              <a:buFont typeface="Arial"/>
              <a:buNone/>
            </a:pPr>
            <a:r>
              <a:rPr lang="en-US" sz="7024" b="1" i="0" u="none" strike="noStrike" cap="none">
                <a:solidFill>
                  <a:srgbClr val="FDFDFD"/>
                </a:solidFill>
                <a:latin typeface="Poppins"/>
                <a:ea typeface="Poppins"/>
                <a:cs typeface="Poppins"/>
                <a:sym typeface="Poppins"/>
              </a:rPr>
              <a:t>Pruebas de estrés</a:t>
            </a:r>
            <a:endParaRPr sz="7024" b="1" i="0" u="none" strike="noStrike" cap="none">
              <a:solidFill>
                <a:srgbClr val="FDFDFD"/>
              </a:solidFill>
              <a:latin typeface="Poppins"/>
              <a:ea typeface="Poppins"/>
              <a:cs typeface="Poppins"/>
              <a:sym typeface="Poppins"/>
            </a:endParaRPr>
          </a:p>
        </p:txBody>
      </p:sp>
      <p:sp>
        <p:nvSpPr>
          <p:cNvPr id="239" name="Google Shape;239;g35f1b241ad4_0_117"/>
          <p:cNvSpPr txBox="1"/>
          <p:nvPr/>
        </p:nvSpPr>
        <p:spPr>
          <a:xfrm>
            <a:off x="619800" y="2535650"/>
            <a:ext cx="17048400" cy="2372100"/>
          </a:xfrm>
          <a:prstGeom prst="rect">
            <a:avLst/>
          </a:prstGeom>
          <a:noFill/>
          <a:ln>
            <a:noFill/>
          </a:ln>
        </p:spPr>
        <p:txBody>
          <a:bodyPr spcFirstLastPara="1" wrap="square" lIns="0" tIns="0" rIns="0" bIns="0" anchor="t" anchorCtr="0">
            <a:spAutoFit/>
          </a:bodyPr>
          <a:lstStyle/>
          <a:p>
            <a:pPr marL="0" marR="0" lvl="0" indent="0" algn="l"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Las pruebas de estrés evalúan el comportamiento del sistema bajo condiciones extremas, mucho más allá de su carga esperada. El objetivo es determinar en qué momento el sistema falla, cómo responde en situaciones de sobrecarga y cómo se recupera después de una falla.</a:t>
            </a:r>
            <a:endParaRPr sz="2963" b="0" i="0" u="none" strike="noStrike" cap="none">
              <a:solidFill>
                <a:srgbClr val="013362"/>
              </a:solidFill>
              <a:latin typeface="Poppins Light"/>
              <a:ea typeface="Poppins Light"/>
              <a:cs typeface="Poppins Light"/>
              <a:sym typeface="Poppins Light"/>
            </a:endParaRPr>
          </a:p>
        </p:txBody>
      </p:sp>
      <p:pic>
        <p:nvPicPr>
          <p:cNvPr id="240" name="Google Shape;240;g35f1b241ad4_0_117"/>
          <p:cNvPicPr preferRelativeResize="0"/>
          <p:nvPr/>
        </p:nvPicPr>
        <p:blipFill rotWithShape="1">
          <a:blip r:embed="rId3">
            <a:alphaModFix/>
          </a:blip>
          <a:srcRect/>
          <a:stretch/>
        </p:blipFill>
        <p:spPr>
          <a:xfrm>
            <a:off x="4637088" y="5041900"/>
            <a:ext cx="9013826" cy="5074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44"/>
        <p:cNvGrpSpPr/>
        <p:nvPr/>
      </p:nvGrpSpPr>
      <p:grpSpPr>
        <a:xfrm>
          <a:off x="0" y="0"/>
          <a:ext cx="0" cy="0"/>
          <a:chOff x="0" y="0"/>
          <a:chExt cx="0" cy="0"/>
        </a:xfrm>
      </p:grpSpPr>
      <p:grpSp>
        <p:nvGrpSpPr>
          <p:cNvPr id="245" name="Google Shape;245;g35f1b241ad4_0_126"/>
          <p:cNvGrpSpPr/>
          <p:nvPr/>
        </p:nvGrpSpPr>
        <p:grpSpPr>
          <a:xfrm>
            <a:off x="-584801" y="364850"/>
            <a:ext cx="19457594" cy="2036657"/>
            <a:chOff x="0" y="-76200"/>
            <a:chExt cx="5124600" cy="536400"/>
          </a:xfrm>
        </p:grpSpPr>
        <p:sp>
          <p:nvSpPr>
            <p:cNvPr id="246" name="Google Shape;246;g35f1b241ad4_0_126"/>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47" name="Google Shape;247;g35f1b241ad4_0_126"/>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48" name="Google Shape;248;g35f1b241ad4_0_126"/>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Objetivo de las pruebas de estrés</a:t>
            </a:r>
            <a:endParaRPr sz="7024" b="1" i="0" u="none" strike="noStrike" cap="none">
              <a:solidFill>
                <a:srgbClr val="FDFDFD"/>
              </a:solidFill>
              <a:latin typeface="Poppins"/>
              <a:ea typeface="Poppins"/>
              <a:cs typeface="Poppins"/>
              <a:sym typeface="Poppins"/>
            </a:endParaRPr>
          </a:p>
        </p:txBody>
      </p:sp>
      <p:sp>
        <p:nvSpPr>
          <p:cNvPr id="249" name="Google Shape;249;g35f1b241ad4_0_126"/>
          <p:cNvSpPr txBox="1"/>
          <p:nvPr/>
        </p:nvSpPr>
        <p:spPr>
          <a:xfrm>
            <a:off x="1028700" y="2969250"/>
            <a:ext cx="17048400" cy="2372100"/>
          </a:xfrm>
          <a:prstGeom prst="rect">
            <a:avLst/>
          </a:prstGeom>
          <a:noFill/>
          <a:ln>
            <a:noFill/>
          </a:ln>
        </p:spPr>
        <p:txBody>
          <a:bodyPr spcFirstLastPara="1" wrap="square" lIns="0" tIns="0" rIns="0" bIns="0" anchor="t" anchorCtr="0">
            <a:spAutoFit/>
          </a:bodyPr>
          <a:lstStyle/>
          <a:p>
            <a:pPr marL="457200" marR="0" lvl="0" indent="-416750" algn="l"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Identificar el límite máximo de carga que el sistema puede soportar antes de fallar.</a:t>
            </a:r>
            <a:endParaRPr sz="2963" b="0" i="0" u="none" strike="noStrike" cap="none">
              <a:solidFill>
                <a:srgbClr val="013362"/>
              </a:solidFill>
              <a:latin typeface="Poppins Light"/>
              <a:ea typeface="Poppins Light"/>
              <a:cs typeface="Poppins Light"/>
              <a:sym typeface="Poppins Light"/>
            </a:endParaRPr>
          </a:p>
          <a:p>
            <a:pPr marL="457200" marR="0" lvl="0" indent="-416750" algn="l"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Evaluar si el sistema puede recuperarse de un fallo, y si lo hace, en cuánto tiempo.</a:t>
            </a:r>
            <a:endParaRPr sz="2963" b="0" i="0" u="none" strike="noStrike" cap="none">
              <a:solidFill>
                <a:srgbClr val="013362"/>
              </a:solidFill>
              <a:latin typeface="Poppins Light"/>
              <a:ea typeface="Poppins Light"/>
              <a:cs typeface="Poppins Light"/>
              <a:sym typeface="Poppins Light"/>
            </a:endParaRPr>
          </a:p>
          <a:p>
            <a:pPr marL="457200" marR="0" lvl="0" indent="-416750" algn="l"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Asegurar que, aunque el sistema falle, lo haga de manera controlada, sin pérdida de datos o funcionalidad crítica.</a:t>
            </a:r>
            <a:endParaRPr sz="2963" b="0" i="0" u="none" strike="noStrike" cap="none">
              <a:solidFill>
                <a:srgbClr val="013362"/>
              </a:solidFill>
              <a:latin typeface="Poppins Light"/>
              <a:ea typeface="Poppins Light"/>
              <a:cs typeface="Poppins Light"/>
              <a:sym typeface="Poppins Light"/>
            </a:endParaRPr>
          </a:p>
        </p:txBody>
      </p:sp>
      <p:pic>
        <p:nvPicPr>
          <p:cNvPr id="250" name="Google Shape;250;g35f1b241ad4_0_126"/>
          <p:cNvPicPr preferRelativeResize="0"/>
          <p:nvPr/>
        </p:nvPicPr>
        <p:blipFill rotWithShape="1">
          <a:blip r:embed="rId3">
            <a:alphaModFix/>
          </a:blip>
          <a:srcRect/>
          <a:stretch/>
        </p:blipFill>
        <p:spPr>
          <a:xfrm>
            <a:off x="1617075" y="6366400"/>
            <a:ext cx="4318875" cy="2548125"/>
          </a:xfrm>
          <a:prstGeom prst="rect">
            <a:avLst/>
          </a:prstGeom>
          <a:noFill/>
          <a:ln>
            <a:noFill/>
          </a:ln>
        </p:spPr>
      </p:pic>
      <p:sp>
        <p:nvSpPr>
          <p:cNvPr id="251" name="Google Shape;251;g35f1b241ad4_0_126"/>
          <p:cNvSpPr/>
          <p:nvPr/>
        </p:nvSpPr>
        <p:spPr>
          <a:xfrm>
            <a:off x="7535825" y="5517300"/>
            <a:ext cx="8866584" cy="3588516"/>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100"/>
              <a:buFont typeface="Arial"/>
              <a:buNone/>
            </a:pPr>
            <a:r>
              <a:rPr lang="en-US" sz="2100" b="0" i="0" u="none" strike="noStrike" cap="none">
                <a:solidFill>
                  <a:srgbClr val="000000"/>
                </a:solidFill>
                <a:latin typeface="Calibri"/>
                <a:ea typeface="Calibri"/>
                <a:cs typeface="Calibri"/>
                <a:sym typeface="Calibri"/>
              </a:rPr>
              <a:t>Someter a una tienda en línea a un tráfico 10 veces superior al máximo esperado durante un evento promocional para ver si el sitio colapsa o cómo responde a la sobrecarga.</a:t>
            </a:r>
            <a:endParaRPr sz="2100" b="0" i="0" u="none" strike="noStrike" cap="non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55"/>
        <p:cNvGrpSpPr/>
        <p:nvPr/>
      </p:nvGrpSpPr>
      <p:grpSpPr>
        <a:xfrm>
          <a:off x="0" y="0"/>
          <a:ext cx="0" cy="0"/>
          <a:chOff x="0" y="0"/>
          <a:chExt cx="0" cy="0"/>
        </a:xfrm>
      </p:grpSpPr>
      <p:grpSp>
        <p:nvGrpSpPr>
          <p:cNvPr id="256" name="Google Shape;256;g35f1b241ad4_0_136"/>
          <p:cNvGrpSpPr/>
          <p:nvPr/>
        </p:nvGrpSpPr>
        <p:grpSpPr>
          <a:xfrm>
            <a:off x="-584801" y="364850"/>
            <a:ext cx="19457594" cy="2036657"/>
            <a:chOff x="0" y="-76200"/>
            <a:chExt cx="5124600" cy="536400"/>
          </a:xfrm>
        </p:grpSpPr>
        <p:sp>
          <p:nvSpPr>
            <p:cNvPr id="257" name="Google Shape;257;g35f1b241ad4_0_136"/>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58" name="Google Shape;258;g35f1b241ad4_0_136"/>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59" name="Google Shape;259;g35f1b241ad4_0_136"/>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Locust</a:t>
            </a:r>
            <a:endParaRPr sz="7024" b="1" i="0" u="none" strike="noStrike" cap="none">
              <a:solidFill>
                <a:srgbClr val="FDFDFD"/>
              </a:solidFill>
              <a:latin typeface="Poppins"/>
              <a:ea typeface="Poppins"/>
              <a:cs typeface="Poppins"/>
              <a:sym typeface="Poppins"/>
            </a:endParaRPr>
          </a:p>
        </p:txBody>
      </p:sp>
      <p:sp>
        <p:nvSpPr>
          <p:cNvPr id="260" name="Google Shape;260;g35f1b241ad4_0_136"/>
          <p:cNvSpPr txBox="1"/>
          <p:nvPr/>
        </p:nvSpPr>
        <p:spPr>
          <a:xfrm>
            <a:off x="619800" y="2535650"/>
            <a:ext cx="17048400" cy="1733400"/>
          </a:xfrm>
          <a:prstGeom prst="rect">
            <a:avLst/>
          </a:prstGeom>
          <a:noFill/>
          <a:ln>
            <a:noFill/>
          </a:ln>
        </p:spPr>
        <p:txBody>
          <a:bodyPr spcFirstLastPara="1" wrap="square" lIns="0" tIns="0" rIns="0" bIns="0" anchor="t" anchorCtr="0">
            <a:spAutoFit/>
          </a:bodyPr>
          <a:lstStyle/>
          <a:p>
            <a:pPr marL="0" marR="0" lvl="0" indent="0" algn="l"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es una herramienta de código abierto diseñada para realizar pruebas de carga y pruebas de estrés en aplicaciones web y servicios. Es especialmente popular por su facilidad de uso, flexibilidad y la posibilidad de escribir scripts de prueba en Python.</a:t>
            </a:r>
            <a:endParaRPr sz="2963" b="0" i="0" u="none" strike="noStrike" cap="none">
              <a:solidFill>
                <a:srgbClr val="013362"/>
              </a:solidFill>
              <a:latin typeface="Poppins Light"/>
              <a:ea typeface="Poppins Light"/>
              <a:cs typeface="Poppins Light"/>
              <a:sym typeface="Poppins Light"/>
            </a:endParaRPr>
          </a:p>
        </p:txBody>
      </p:sp>
      <p:pic>
        <p:nvPicPr>
          <p:cNvPr id="261" name="Google Shape;261;g35f1b241ad4_0_136"/>
          <p:cNvPicPr preferRelativeResize="0"/>
          <p:nvPr/>
        </p:nvPicPr>
        <p:blipFill rotWithShape="1">
          <a:blip r:embed="rId3">
            <a:alphaModFix/>
          </a:blip>
          <a:srcRect/>
          <a:stretch/>
        </p:blipFill>
        <p:spPr>
          <a:xfrm>
            <a:off x="4584199" y="5274925"/>
            <a:ext cx="9119601" cy="4787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65"/>
        <p:cNvGrpSpPr/>
        <p:nvPr/>
      </p:nvGrpSpPr>
      <p:grpSpPr>
        <a:xfrm>
          <a:off x="0" y="0"/>
          <a:ext cx="0" cy="0"/>
          <a:chOff x="0" y="0"/>
          <a:chExt cx="0" cy="0"/>
        </a:xfrm>
      </p:grpSpPr>
      <p:grpSp>
        <p:nvGrpSpPr>
          <p:cNvPr id="266" name="Google Shape;266;g35f1b241ad4_0_145"/>
          <p:cNvGrpSpPr/>
          <p:nvPr/>
        </p:nvGrpSpPr>
        <p:grpSpPr>
          <a:xfrm>
            <a:off x="-584801" y="364850"/>
            <a:ext cx="19457594" cy="2036657"/>
            <a:chOff x="0" y="-76200"/>
            <a:chExt cx="5124600" cy="536400"/>
          </a:xfrm>
        </p:grpSpPr>
        <p:sp>
          <p:nvSpPr>
            <p:cNvPr id="267" name="Google Shape;267;g35f1b241ad4_0_145"/>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68" name="Google Shape;268;g35f1b241ad4_0_145"/>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9" name="Google Shape;269;g35f1b241ad4_0_145"/>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Tipos de pruebas con Locust</a:t>
            </a:r>
            <a:endParaRPr sz="7024" b="1" i="0" u="none" strike="noStrike" cap="none">
              <a:solidFill>
                <a:srgbClr val="FDFDFD"/>
              </a:solidFill>
              <a:latin typeface="Poppins"/>
              <a:ea typeface="Poppins"/>
              <a:cs typeface="Poppins"/>
              <a:sym typeface="Poppins"/>
            </a:endParaRPr>
          </a:p>
        </p:txBody>
      </p:sp>
      <p:sp>
        <p:nvSpPr>
          <p:cNvPr id="270" name="Google Shape;270;g35f1b241ad4_0_145"/>
          <p:cNvSpPr txBox="1"/>
          <p:nvPr/>
        </p:nvSpPr>
        <p:spPr>
          <a:xfrm>
            <a:off x="619800" y="2535650"/>
            <a:ext cx="17048400" cy="3649200"/>
          </a:xfrm>
          <a:prstGeom prst="rect">
            <a:avLst/>
          </a:prstGeom>
          <a:noFill/>
          <a:ln>
            <a:noFill/>
          </a:ln>
        </p:spPr>
        <p:txBody>
          <a:bodyPr spcFirstLastPara="1" wrap="square" lIns="0" tIns="0" rIns="0" bIns="0" anchor="t" anchorCtr="0">
            <a:spAutoFit/>
          </a:bodyPr>
          <a:lstStyle/>
          <a:p>
            <a:pPr marL="457200" marR="0" lvl="0" indent="-416750" algn="l" rtl="0">
              <a:lnSpc>
                <a:spcPct val="140027"/>
              </a:lnSpc>
              <a:spcBef>
                <a:spcPts val="0"/>
              </a:spcBef>
              <a:spcAft>
                <a:spcPts val="0"/>
              </a:spcAft>
              <a:buClr>
                <a:srgbClr val="013362"/>
              </a:buClr>
              <a:buSzPts val="2963"/>
              <a:buFont typeface="Poppins Light"/>
              <a:buChar char="●"/>
            </a:pPr>
            <a:r>
              <a:rPr lang="en-US" sz="2963" b="1" i="0" u="none" strike="noStrike" cap="none">
                <a:solidFill>
                  <a:srgbClr val="013362"/>
                </a:solidFill>
                <a:latin typeface="Poppins"/>
                <a:ea typeface="Poppins"/>
                <a:cs typeface="Poppins"/>
                <a:sym typeface="Poppins"/>
              </a:rPr>
              <a:t>Pruebas de carga:</a:t>
            </a:r>
            <a:r>
              <a:rPr lang="en-US" sz="2963" b="0" i="0" u="none" strike="noStrike" cap="none">
                <a:solidFill>
                  <a:srgbClr val="013362"/>
                </a:solidFill>
                <a:latin typeface="Poppins Light"/>
                <a:ea typeface="Poppins Light"/>
                <a:cs typeface="Poppins Light"/>
                <a:sym typeface="Poppins Light"/>
              </a:rPr>
              <a:t> Simula un número determinado de usuarios concurrentes para medir cómo se comporta el sistema bajo condiciones de carga esperada.</a:t>
            </a:r>
            <a:endParaRPr sz="2963" b="0" i="0" u="none" strike="noStrike" cap="none">
              <a:solidFill>
                <a:srgbClr val="013362"/>
              </a:solidFill>
              <a:latin typeface="Poppins Light"/>
              <a:ea typeface="Poppins Light"/>
              <a:cs typeface="Poppins Light"/>
              <a:sym typeface="Poppins Light"/>
            </a:endParaRPr>
          </a:p>
          <a:p>
            <a:pPr marL="457200" marR="0" lvl="0" indent="-416750" algn="l" rtl="0">
              <a:lnSpc>
                <a:spcPct val="140027"/>
              </a:lnSpc>
              <a:spcBef>
                <a:spcPts val="0"/>
              </a:spcBef>
              <a:spcAft>
                <a:spcPts val="0"/>
              </a:spcAft>
              <a:buClr>
                <a:srgbClr val="013362"/>
              </a:buClr>
              <a:buSzPts val="2963"/>
              <a:buFont typeface="Poppins Light"/>
              <a:buChar char="●"/>
            </a:pPr>
            <a:r>
              <a:rPr lang="en-US" sz="2963" b="1" i="0" u="none" strike="noStrike" cap="none">
                <a:solidFill>
                  <a:srgbClr val="013362"/>
                </a:solidFill>
                <a:latin typeface="Poppins"/>
                <a:ea typeface="Poppins"/>
                <a:cs typeface="Poppins"/>
                <a:sym typeface="Poppins"/>
              </a:rPr>
              <a:t>Pruebas de estrés:</a:t>
            </a:r>
            <a:r>
              <a:rPr lang="en-US" sz="2963" b="0" i="0" u="none" strike="noStrike" cap="none">
                <a:solidFill>
                  <a:srgbClr val="013362"/>
                </a:solidFill>
                <a:latin typeface="Poppins Light"/>
                <a:ea typeface="Poppins Light"/>
                <a:cs typeface="Poppins Light"/>
                <a:sym typeface="Poppins Light"/>
              </a:rPr>
              <a:t> Aumenta progresivamente la carga hasta llevar el sistema a su límite, con el objetivo de observar el punto de fallo.</a:t>
            </a:r>
            <a:endParaRPr sz="2963" b="0" i="0" u="none" strike="noStrike" cap="none">
              <a:solidFill>
                <a:srgbClr val="013362"/>
              </a:solidFill>
              <a:latin typeface="Poppins Light"/>
              <a:ea typeface="Poppins Light"/>
              <a:cs typeface="Poppins Light"/>
              <a:sym typeface="Poppins Light"/>
            </a:endParaRPr>
          </a:p>
          <a:p>
            <a:pPr marL="457200" marR="0" lvl="0" indent="-416750" algn="l" rtl="0">
              <a:lnSpc>
                <a:spcPct val="140027"/>
              </a:lnSpc>
              <a:spcBef>
                <a:spcPts val="0"/>
              </a:spcBef>
              <a:spcAft>
                <a:spcPts val="0"/>
              </a:spcAft>
              <a:buClr>
                <a:srgbClr val="013362"/>
              </a:buClr>
              <a:buSzPts val="2963"/>
              <a:buFont typeface="Poppins Light"/>
              <a:buChar char="●"/>
            </a:pPr>
            <a:r>
              <a:rPr lang="en-US" sz="2963" b="1" i="0" u="none" strike="noStrike" cap="none">
                <a:solidFill>
                  <a:srgbClr val="013362"/>
                </a:solidFill>
                <a:latin typeface="Poppins"/>
                <a:ea typeface="Poppins"/>
                <a:cs typeface="Poppins"/>
                <a:sym typeface="Poppins"/>
              </a:rPr>
              <a:t>Pruebas de rendimiento: </a:t>
            </a:r>
            <a:r>
              <a:rPr lang="en-US" sz="2963" b="0" i="0" u="none" strike="noStrike" cap="none">
                <a:solidFill>
                  <a:srgbClr val="013362"/>
                </a:solidFill>
                <a:latin typeface="Poppins Light"/>
                <a:ea typeface="Poppins Light"/>
                <a:cs typeface="Poppins Light"/>
                <a:sym typeface="Poppins Light"/>
              </a:rPr>
              <a:t>Evalúa tiempos de respuesta y capacidad de manejo de solicitudes bajo diferentes escenarios.</a:t>
            </a:r>
            <a:endParaRPr sz="2963" b="0" i="0" u="none" strike="noStrike" cap="none">
              <a:solidFill>
                <a:srgbClr val="013362"/>
              </a:solidFill>
              <a:latin typeface="Poppins Light"/>
              <a:ea typeface="Poppins Light"/>
              <a:cs typeface="Poppins Light"/>
              <a:sym typeface="Poppi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74"/>
        <p:cNvGrpSpPr/>
        <p:nvPr/>
      </p:nvGrpSpPr>
      <p:grpSpPr>
        <a:xfrm>
          <a:off x="0" y="0"/>
          <a:ext cx="0" cy="0"/>
          <a:chOff x="0" y="0"/>
          <a:chExt cx="0" cy="0"/>
        </a:xfrm>
      </p:grpSpPr>
      <p:pic>
        <p:nvPicPr>
          <p:cNvPr id="275" name="Google Shape;275;g35f1b241ad4_0_153"/>
          <p:cNvPicPr preferRelativeResize="0"/>
          <p:nvPr/>
        </p:nvPicPr>
        <p:blipFill rotWithShape="1">
          <a:blip r:embed="rId3">
            <a:alphaModFix/>
          </a:blip>
          <a:srcRect/>
          <a:stretch/>
        </p:blipFill>
        <p:spPr>
          <a:xfrm>
            <a:off x="9122030" y="235125"/>
            <a:ext cx="7303296" cy="4429050"/>
          </a:xfrm>
          <a:prstGeom prst="rect">
            <a:avLst/>
          </a:prstGeom>
          <a:noFill/>
          <a:ln>
            <a:noFill/>
          </a:ln>
        </p:spPr>
      </p:pic>
      <p:pic>
        <p:nvPicPr>
          <p:cNvPr id="276" name="Google Shape;276;g35f1b241ad4_0_153"/>
          <p:cNvPicPr preferRelativeResize="0"/>
          <p:nvPr/>
        </p:nvPicPr>
        <p:blipFill rotWithShape="1">
          <a:blip r:embed="rId4">
            <a:alphaModFix/>
          </a:blip>
          <a:srcRect/>
          <a:stretch/>
        </p:blipFill>
        <p:spPr>
          <a:xfrm>
            <a:off x="598100" y="1793501"/>
            <a:ext cx="14897226" cy="83548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80"/>
        <p:cNvGrpSpPr/>
        <p:nvPr/>
      </p:nvGrpSpPr>
      <p:grpSpPr>
        <a:xfrm>
          <a:off x="0" y="0"/>
          <a:ext cx="0" cy="0"/>
          <a:chOff x="0" y="0"/>
          <a:chExt cx="0" cy="0"/>
        </a:xfrm>
      </p:grpSpPr>
      <p:grpSp>
        <p:nvGrpSpPr>
          <p:cNvPr id="281" name="Google Shape;281;g35f1b241ad4_0_158"/>
          <p:cNvGrpSpPr/>
          <p:nvPr/>
        </p:nvGrpSpPr>
        <p:grpSpPr>
          <a:xfrm>
            <a:off x="-584801" y="364850"/>
            <a:ext cx="19457594" cy="2036657"/>
            <a:chOff x="0" y="-76200"/>
            <a:chExt cx="5124600" cy="536400"/>
          </a:xfrm>
        </p:grpSpPr>
        <p:sp>
          <p:nvSpPr>
            <p:cNvPr id="282" name="Google Shape;282;g35f1b241ad4_0_158"/>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83" name="Google Shape;283;g35f1b241ad4_0_158"/>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84" name="Google Shape;284;g35f1b241ad4_0_158"/>
          <p:cNvSpPr txBox="1"/>
          <p:nvPr/>
        </p:nvSpPr>
        <p:spPr>
          <a:xfrm>
            <a:off x="-408750" y="919525"/>
            <a:ext cx="19105500" cy="9273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6024" b="1" i="0" u="none" strike="noStrike" cap="none">
                <a:solidFill>
                  <a:srgbClr val="FDFDFD"/>
                </a:solidFill>
                <a:latin typeface="Poppins"/>
                <a:ea typeface="Poppins"/>
                <a:cs typeface="Poppins"/>
                <a:sym typeface="Poppins"/>
              </a:rPr>
              <a:t>Pruebas de Escalabilidad</a:t>
            </a:r>
            <a:endParaRPr sz="6024" b="1" i="0" u="none" strike="noStrike" cap="none">
              <a:solidFill>
                <a:srgbClr val="FDFDFD"/>
              </a:solidFill>
              <a:latin typeface="Poppins"/>
              <a:ea typeface="Poppins"/>
              <a:cs typeface="Poppins"/>
              <a:sym typeface="Poppins"/>
            </a:endParaRPr>
          </a:p>
        </p:txBody>
      </p:sp>
      <p:sp>
        <p:nvSpPr>
          <p:cNvPr id="285" name="Google Shape;285;g35f1b241ad4_0_158"/>
          <p:cNvSpPr txBox="1"/>
          <p:nvPr/>
        </p:nvSpPr>
        <p:spPr>
          <a:xfrm>
            <a:off x="1028700" y="2969250"/>
            <a:ext cx="17048400" cy="23721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Las pruebas de escalabilidad evalúan la capacidad de un sistema para manejar un aumento progresivo en la carga (usuarios, datos, transacciones) mientras mantiene el rendimiento adecuado. Estas pruebas verifican si el sistema puede expandirse o reducirse adecuadamente en función de las necesidades sin afectar su funcionalidad.</a:t>
            </a:r>
            <a:endParaRPr sz="2963" b="0" i="0" u="none" strike="noStrike" cap="none">
              <a:solidFill>
                <a:srgbClr val="013362"/>
              </a:solidFill>
              <a:latin typeface="Poppins Light"/>
              <a:ea typeface="Poppins Light"/>
              <a:cs typeface="Poppins Light"/>
              <a:sym typeface="Poppins Light"/>
            </a:endParaRPr>
          </a:p>
        </p:txBody>
      </p:sp>
      <p:pic>
        <p:nvPicPr>
          <p:cNvPr id="286" name="Google Shape;286;g35f1b241ad4_0_158"/>
          <p:cNvPicPr preferRelativeResize="0"/>
          <p:nvPr/>
        </p:nvPicPr>
        <p:blipFill rotWithShape="1">
          <a:blip r:embed="rId3">
            <a:alphaModFix/>
          </a:blip>
          <a:srcRect/>
          <a:stretch/>
        </p:blipFill>
        <p:spPr>
          <a:xfrm>
            <a:off x="6823575" y="5583475"/>
            <a:ext cx="4640849" cy="46408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90"/>
        <p:cNvGrpSpPr/>
        <p:nvPr/>
      </p:nvGrpSpPr>
      <p:grpSpPr>
        <a:xfrm>
          <a:off x="0" y="0"/>
          <a:ext cx="0" cy="0"/>
          <a:chOff x="0" y="0"/>
          <a:chExt cx="0" cy="0"/>
        </a:xfrm>
      </p:grpSpPr>
      <p:grpSp>
        <p:nvGrpSpPr>
          <p:cNvPr id="291" name="Google Shape;291;g35f1b241ad4_0_167"/>
          <p:cNvGrpSpPr/>
          <p:nvPr/>
        </p:nvGrpSpPr>
        <p:grpSpPr>
          <a:xfrm>
            <a:off x="-584801" y="364850"/>
            <a:ext cx="19457594" cy="2036657"/>
            <a:chOff x="0" y="-76200"/>
            <a:chExt cx="5124600" cy="536400"/>
          </a:xfrm>
        </p:grpSpPr>
        <p:sp>
          <p:nvSpPr>
            <p:cNvPr id="292" name="Google Shape;292;g35f1b241ad4_0_167"/>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293" name="Google Shape;293;g35f1b241ad4_0_167"/>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94" name="Google Shape;294;g35f1b241ad4_0_167"/>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¿Qué es la escalabilidad?</a:t>
            </a:r>
            <a:endParaRPr sz="7024" b="1" i="0" u="none" strike="noStrike" cap="none">
              <a:solidFill>
                <a:srgbClr val="FDFDFD"/>
              </a:solidFill>
              <a:latin typeface="Poppins"/>
              <a:ea typeface="Poppins"/>
              <a:cs typeface="Poppins"/>
              <a:sym typeface="Poppins"/>
            </a:endParaRPr>
          </a:p>
        </p:txBody>
      </p:sp>
      <p:sp>
        <p:nvSpPr>
          <p:cNvPr id="295" name="Google Shape;295;g35f1b241ad4_0_167"/>
          <p:cNvSpPr txBox="1"/>
          <p:nvPr/>
        </p:nvSpPr>
        <p:spPr>
          <a:xfrm>
            <a:off x="1028700" y="2969250"/>
            <a:ext cx="17048400" cy="42879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La escalabilidad es una de las características más deseables en las aplicaciones y una de las principales preocupaciones para equipos de desarrollo y administración de servidores. Básicamente, se refiere a la capacidad de crecimiento de la aplicación para atender a un número cada vez mayor de solicitudes y usuarios con total normalidad y sin degradaciones de servicio. De cara a conseguir esta deseada cualidad, existen diferentes vías que no son incompatibles: algunas más centradas en el desarrollo del software y otras en los servidores que harán de plataforma de ejecución.</a:t>
            </a:r>
            <a:endParaRPr sz="2963" b="0" i="0" u="none" strike="noStrike" cap="none">
              <a:solidFill>
                <a:srgbClr val="013362"/>
              </a:solidFill>
              <a:latin typeface="Poppins Light"/>
              <a:ea typeface="Poppins Light"/>
              <a:cs typeface="Poppins Light"/>
              <a:sym typeface="Poppins Light"/>
            </a:endParaRPr>
          </a:p>
        </p:txBody>
      </p:sp>
      <p:pic>
        <p:nvPicPr>
          <p:cNvPr id="296" name="Google Shape;296;g35f1b241ad4_0_167"/>
          <p:cNvPicPr preferRelativeResize="0"/>
          <p:nvPr/>
        </p:nvPicPr>
        <p:blipFill rotWithShape="1">
          <a:blip r:embed="rId3">
            <a:alphaModFix/>
          </a:blip>
          <a:srcRect/>
          <a:stretch/>
        </p:blipFill>
        <p:spPr>
          <a:xfrm>
            <a:off x="7106088" y="7394600"/>
            <a:ext cx="4893633" cy="2725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00"/>
        <p:cNvGrpSpPr/>
        <p:nvPr/>
      </p:nvGrpSpPr>
      <p:grpSpPr>
        <a:xfrm>
          <a:off x="0" y="0"/>
          <a:ext cx="0" cy="0"/>
          <a:chOff x="0" y="0"/>
          <a:chExt cx="0" cy="0"/>
        </a:xfrm>
      </p:grpSpPr>
      <p:grpSp>
        <p:nvGrpSpPr>
          <p:cNvPr id="301" name="Google Shape;301;g35f1b241ad4_0_176"/>
          <p:cNvGrpSpPr/>
          <p:nvPr/>
        </p:nvGrpSpPr>
        <p:grpSpPr>
          <a:xfrm>
            <a:off x="-584801" y="364850"/>
            <a:ext cx="19457594" cy="2036657"/>
            <a:chOff x="0" y="-76200"/>
            <a:chExt cx="5124600" cy="536400"/>
          </a:xfrm>
        </p:grpSpPr>
        <p:sp>
          <p:nvSpPr>
            <p:cNvPr id="302" name="Google Shape;302;g35f1b241ad4_0_176"/>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03" name="Google Shape;303;g35f1b241ad4_0_176"/>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04" name="Google Shape;304;g35f1b241ad4_0_176"/>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¿Qué es la escalabilidad horizontal?</a:t>
            </a:r>
            <a:endParaRPr sz="7024" b="1" i="0" u="none" strike="noStrike" cap="none">
              <a:solidFill>
                <a:srgbClr val="FDFDFD"/>
              </a:solidFill>
              <a:latin typeface="Poppins"/>
              <a:ea typeface="Poppins"/>
              <a:cs typeface="Poppins"/>
              <a:sym typeface="Poppins"/>
            </a:endParaRPr>
          </a:p>
        </p:txBody>
      </p:sp>
      <p:sp>
        <p:nvSpPr>
          <p:cNvPr id="305" name="Google Shape;305;g35f1b241ad4_0_176"/>
          <p:cNvSpPr txBox="1"/>
          <p:nvPr/>
        </p:nvSpPr>
        <p:spPr>
          <a:xfrm>
            <a:off x="1028700" y="2969250"/>
            <a:ext cx="17048400" cy="36492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Por su parte, la escalabilidad horizontal se consigue aumentando el número de servidores que atienden una aplicación. Para ello, un grupo de distintos servidores se configura para atender las peticiones de manera conjunta (es lo que se denomina cluster) y la carga de trabajo se distribuye entre ellos a través de un balanceador. Cada uno de esos servidores se conoce como nodo y el escalado se realiza simplemente agregando un nuevo nodo al cluster.</a:t>
            </a:r>
            <a:endParaRPr sz="2963" b="0" i="0" u="none" strike="noStrike" cap="none">
              <a:solidFill>
                <a:srgbClr val="013362"/>
              </a:solidFill>
              <a:latin typeface="Poppins Light"/>
              <a:ea typeface="Poppins Light"/>
              <a:cs typeface="Poppins Light"/>
              <a:sym typeface="Poppins Light"/>
            </a:endParaRPr>
          </a:p>
        </p:txBody>
      </p:sp>
      <p:pic>
        <p:nvPicPr>
          <p:cNvPr id="306" name="Google Shape;306;g35f1b241ad4_0_176"/>
          <p:cNvPicPr preferRelativeResize="0"/>
          <p:nvPr/>
        </p:nvPicPr>
        <p:blipFill rotWithShape="1">
          <a:blip r:embed="rId3">
            <a:alphaModFix/>
          </a:blip>
          <a:srcRect/>
          <a:stretch/>
        </p:blipFill>
        <p:spPr>
          <a:xfrm>
            <a:off x="5667613" y="6905425"/>
            <a:ext cx="7770575" cy="2693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10"/>
        <p:cNvGrpSpPr/>
        <p:nvPr/>
      </p:nvGrpSpPr>
      <p:grpSpPr>
        <a:xfrm>
          <a:off x="0" y="0"/>
          <a:ext cx="0" cy="0"/>
          <a:chOff x="0" y="0"/>
          <a:chExt cx="0" cy="0"/>
        </a:xfrm>
      </p:grpSpPr>
      <p:grpSp>
        <p:nvGrpSpPr>
          <p:cNvPr id="311" name="Google Shape;311;g35f1b241ad4_0_185"/>
          <p:cNvGrpSpPr/>
          <p:nvPr/>
        </p:nvGrpSpPr>
        <p:grpSpPr>
          <a:xfrm>
            <a:off x="-584801" y="364850"/>
            <a:ext cx="19457594" cy="2036657"/>
            <a:chOff x="0" y="-76200"/>
            <a:chExt cx="5124600" cy="536400"/>
          </a:xfrm>
        </p:grpSpPr>
        <p:sp>
          <p:nvSpPr>
            <p:cNvPr id="312" name="Google Shape;312;g35f1b241ad4_0_185"/>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13" name="Google Shape;313;g35f1b241ad4_0_185"/>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14" name="Google Shape;314;g35f1b241ad4_0_185"/>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¿Qué es la escalabilidad horizontal?</a:t>
            </a:r>
            <a:endParaRPr sz="7024" b="1" i="0" u="none" strike="noStrike" cap="none">
              <a:solidFill>
                <a:srgbClr val="FDFDFD"/>
              </a:solidFill>
              <a:latin typeface="Poppins"/>
              <a:ea typeface="Poppins"/>
              <a:cs typeface="Poppins"/>
              <a:sym typeface="Poppins"/>
            </a:endParaRPr>
          </a:p>
        </p:txBody>
      </p:sp>
      <p:sp>
        <p:nvSpPr>
          <p:cNvPr id="315" name="Google Shape;315;g35f1b241ad4_0_185"/>
          <p:cNvSpPr txBox="1"/>
          <p:nvPr/>
        </p:nvSpPr>
        <p:spPr>
          <a:xfrm>
            <a:off x="1028700" y="2969250"/>
            <a:ext cx="17048400" cy="36492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Por su parte, la escalabilidad horizontal se consigue aumentando el número de servidores que atienden una aplicación. Para ello, un grupo de distintos servidores se configura para atender las peticiones de manera conjunta (es lo que se denomina cluster) y la carga de trabajo se distribuye entre ellos a través de un balanceador. Cada uno de esos servidores se conoce como nodo y el escalado se realiza simplemente agregando un nuevo nodo al cluster.</a:t>
            </a:r>
            <a:endParaRPr sz="2963" b="0" i="0" u="none" strike="noStrike" cap="none">
              <a:solidFill>
                <a:srgbClr val="013362"/>
              </a:solidFill>
              <a:latin typeface="Poppins Light"/>
              <a:ea typeface="Poppins Light"/>
              <a:cs typeface="Poppins Light"/>
              <a:sym typeface="Poppins Light"/>
            </a:endParaRPr>
          </a:p>
        </p:txBody>
      </p:sp>
      <p:pic>
        <p:nvPicPr>
          <p:cNvPr id="316" name="Google Shape;316;g35f1b241ad4_0_185"/>
          <p:cNvPicPr preferRelativeResize="0"/>
          <p:nvPr/>
        </p:nvPicPr>
        <p:blipFill rotWithShape="1">
          <a:blip r:embed="rId3">
            <a:alphaModFix/>
          </a:blip>
          <a:srcRect/>
          <a:stretch/>
        </p:blipFill>
        <p:spPr>
          <a:xfrm>
            <a:off x="5667613" y="6905425"/>
            <a:ext cx="7770575" cy="2693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20"/>
        <p:cNvGrpSpPr/>
        <p:nvPr/>
      </p:nvGrpSpPr>
      <p:grpSpPr>
        <a:xfrm>
          <a:off x="0" y="0"/>
          <a:ext cx="0" cy="0"/>
          <a:chOff x="0" y="0"/>
          <a:chExt cx="0" cy="0"/>
        </a:xfrm>
      </p:grpSpPr>
      <p:grpSp>
        <p:nvGrpSpPr>
          <p:cNvPr id="321" name="Google Shape;321;g35f1b241ad4_0_194"/>
          <p:cNvGrpSpPr/>
          <p:nvPr/>
        </p:nvGrpSpPr>
        <p:grpSpPr>
          <a:xfrm>
            <a:off x="-584801" y="364850"/>
            <a:ext cx="19457594" cy="2036657"/>
            <a:chOff x="0" y="-76200"/>
            <a:chExt cx="5124600" cy="536400"/>
          </a:xfrm>
        </p:grpSpPr>
        <p:sp>
          <p:nvSpPr>
            <p:cNvPr id="322" name="Google Shape;322;g35f1b241ad4_0_194"/>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23" name="Google Shape;323;g35f1b241ad4_0_194"/>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24" name="Google Shape;324;g35f1b241ad4_0_194"/>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Pruebas de Portabilidad</a:t>
            </a:r>
            <a:endParaRPr sz="7024" b="1" i="0" u="none" strike="noStrike" cap="none">
              <a:solidFill>
                <a:srgbClr val="FDFDFD"/>
              </a:solidFill>
              <a:latin typeface="Poppins"/>
              <a:ea typeface="Poppins"/>
              <a:cs typeface="Poppins"/>
              <a:sym typeface="Poppins"/>
            </a:endParaRPr>
          </a:p>
        </p:txBody>
      </p:sp>
      <p:sp>
        <p:nvSpPr>
          <p:cNvPr id="325" name="Google Shape;325;g35f1b241ad4_0_194"/>
          <p:cNvSpPr txBox="1"/>
          <p:nvPr/>
        </p:nvSpPr>
        <p:spPr>
          <a:xfrm>
            <a:off x="1028700" y="2969250"/>
            <a:ext cx="17048400" cy="2372100"/>
          </a:xfrm>
          <a:prstGeom prst="rect">
            <a:avLst/>
          </a:prstGeom>
          <a:noFill/>
          <a:ln>
            <a:noFill/>
          </a:ln>
        </p:spPr>
        <p:txBody>
          <a:bodyPr spcFirstLastPara="1" wrap="square" lIns="0" tIns="0" rIns="0" bIns="0" anchor="t" anchorCtr="0">
            <a:spAutoFit/>
          </a:bodyPr>
          <a:lstStyle/>
          <a:p>
            <a:pPr marL="0" marR="0" lvl="0" indent="0" algn="ctr" rtl="0">
              <a:lnSpc>
                <a:spcPct val="140027"/>
              </a:lnSpc>
              <a:spcBef>
                <a:spcPts val="0"/>
              </a:spcBef>
              <a:spcAft>
                <a:spcPts val="0"/>
              </a:spcAft>
              <a:buClr>
                <a:srgbClr val="000000"/>
              </a:buClr>
              <a:buSzPts val="2963"/>
              <a:buFont typeface="Arial"/>
              <a:buNone/>
            </a:pPr>
            <a:r>
              <a:rPr lang="en-US" sz="2963" b="0" i="0" u="none" strike="noStrike" cap="none">
                <a:solidFill>
                  <a:srgbClr val="013362"/>
                </a:solidFill>
                <a:latin typeface="Poppins Light"/>
                <a:ea typeface="Poppins Light"/>
                <a:cs typeface="Poppins Light"/>
                <a:sym typeface="Poppins Light"/>
              </a:rPr>
              <a:t>Las pruebas de portabilidad evalúan la capacidad del sistema para operar en diferentes entornos (hardware, software, plataformas). Estas pruebas verifican la adaptabilidad del sistema y si es capaz de funcionar correctamente en distintos sistemas operativos, navegadores o dispositivos.</a:t>
            </a:r>
            <a:endParaRPr sz="2963" b="0" i="0" u="none" strike="noStrike" cap="none">
              <a:solidFill>
                <a:srgbClr val="013362"/>
              </a:solidFill>
              <a:latin typeface="Poppins Light"/>
              <a:ea typeface="Poppins Light"/>
              <a:cs typeface="Poppins Light"/>
              <a:sym typeface="Poppins Light"/>
            </a:endParaRPr>
          </a:p>
        </p:txBody>
      </p:sp>
      <p:pic>
        <p:nvPicPr>
          <p:cNvPr id="326" name="Google Shape;326;g35f1b241ad4_0_194"/>
          <p:cNvPicPr preferRelativeResize="0"/>
          <p:nvPr/>
        </p:nvPicPr>
        <p:blipFill rotWithShape="1">
          <a:blip r:embed="rId3">
            <a:alphaModFix/>
          </a:blip>
          <a:srcRect/>
          <a:stretch/>
        </p:blipFill>
        <p:spPr>
          <a:xfrm>
            <a:off x="5841025" y="5909100"/>
            <a:ext cx="6605950" cy="3705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30"/>
        <p:cNvGrpSpPr/>
        <p:nvPr/>
      </p:nvGrpSpPr>
      <p:grpSpPr>
        <a:xfrm>
          <a:off x="0" y="0"/>
          <a:ext cx="0" cy="0"/>
          <a:chOff x="0" y="0"/>
          <a:chExt cx="0" cy="0"/>
        </a:xfrm>
      </p:grpSpPr>
      <p:grpSp>
        <p:nvGrpSpPr>
          <p:cNvPr id="331" name="Google Shape;331;g35f1b241ad4_0_203"/>
          <p:cNvGrpSpPr/>
          <p:nvPr/>
        </p:nvGrpSpPr>
        <p:grpSpPr>
          <a:xfrm>
            <a:off x="-584801" y="364850"/>
            <a:ext cx="19457594" cy="2036657"/>
            <a:chOff x="0" y="-76200"/>
            <a:chExt cx="5124600" cy="536400"/>
          </a:xfrm>
        </p:grpSpPr>
        <p:sp>
          <p:nvSpPr>
            <p:cNvPr id="332" name="Google Shape;332;g35f1b241ad4_0_203"/>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33" name="Google Shape;333;g35f1b241ad4_0_203"/>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34" name="Google Shape;334;g35f1b241ad4_0_203"/>
          <p:cNvSpPr txBox="1"/>
          <p:nvPr/>
        </p:nvSpPr>
        <p:spPr>
          <a:xfrm>
            <a:off x="-232650" y="863000"/>
            <a:ext cx="18753300" cy="10812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7024" b="1" i="0" u="none" strike="noStrike" cap="none">
                <a:solidFill>
                  <a:srgbClr val="FDFDFD"/>
                </a:solidFill>
                <a:latin typeface="Poppins"/>
                <a:ea typeface="Poppins"/>
                <a:cs typeface="Poppins"/>
                <a:sym typeface="Poppins"/>
              </a:rPr>
              <a:t>Objetivo de las Pruebas de Portabilidad</a:t>
            </a:r>
            <a:endParaRPr sz="7024" b="1" i="0" u="none" strike="noStrike" cap="none">
              <a:solidFill>
                <a:srgbClr val="FDFDFD"/>
              </a:solidFill>
              <a:latin typeface="Poppins"/>
              <a:ea typeface="Poppins"/>
              <a:cs typeface="Poppins"/>
              <a:sym typeface="Poppins"/>
            </a:endParaRPr>
          </a:p>
        </p:txBody>
      </p:sp>
      <p:sp>
        <p:nvSpPr>
          <p:cNvPr id="335" name="Google Shape;335;g35f1b241ad4_0_203"/>
          <p:cNvSpPr txBox="1"/>
          <p:nvPr/>
        </p:nvSpPr>
        <p:spPr>
          <a:xfrm>
            <a:off x="1028700" y="2969250"/>
            <a:ext cx="17048400" cy="2372100"/>
          </a:xfrm>
          <a:prstGeom prst="rect">
            <a:avLst/>
          </a:prstGeom>
          <a:noFill/>
          <a:ln>
            <a:noFill/>
          </a:ln>
        </p:spPr>
        <p:txBody>
          <a:bodyPr spcFirstLastPara="1" wrap="square" lIns="0" tIns="0" rIns="0" bIns="0" anchor="t" anchorCtr="0">
            <a:spAutoFit/>
          </a:bodyPr>
          <a:lstStyle/>
          <a:p>
            <a:pPr marL="457200" marR="0" lvl="0" indent="-416750" algn="l"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Garantizar que el sistema funcione de manera consistente y sin errores al trasladarse de un entorno a otro (por ejemplo, de Windows a Linux).</a:t>
            </a:r>
            <a:endParaRPr sz="2963" b="0" i="0" u="none" strike="noStrike" cap="none">
              <a:solidFill>
                <a:srgbClr val="013362"/>
              </a:solidFill>
              <a:latin typeface="Poppins Light"/>
              <a:ea typeface="Poppins Light"/>
              <a:cs typeface="Poppins Light"/>
              <a:sym typeface="Poppins Light"/>
            </a:endParaRPr>
          </a:p>
          <a:p>
            <a:pPr marL="457200" marR="0" lvl="0" indent="-416750" algn="l" rtl="0">
              <a:lnSpc>
                <a:spcPct val="140027"/>
              </a:lnSpc>
              <a:spcBef>
                <a:spcPts val="0"/>
              </a:spcBef>
              <a:spcAft>
                <a:spcPts val="0"/>
              </a:spcAft>
              <a:buClr>
                <a:srgbClr val="013362"/>
              </a:buClr>
              <a:buSzPts val="2963"/>
              <a:buFont typeface="Poppins Light"/>
              <a:buChar char="●"/>
            </a:pPr>
            <a:r>
              <a:rPr lang="en-US" sz="2963" b="0" i="0" u="none" strike="noStrike" cap="none">
                <a:solidFill>
                  <a:srgbClr val="013362"/>
                </a:solidFill>
                <a:latin typeface="Poppins Light"/>
                <a:ea typeface="Poppins Light"/>
                <a:cs typeface="Poppins Light"/>
                <a:sym typeface="Poppins Light"/>
              </a:rPr>
              <a:t>Verificar que los usuarios puedan ejecutar el sistema en una variedad de configuraciones sin problemas.</a:t>
            </a:r>
            <a:endParaRPr sz="2963" b="0" i="0" u="none" strike="noStrike" cap="none">
              <a:solidFill>
                <a:srgbClr val="013362"/>
              </a:solidFill>
              <a:latin typeface="Poppins Light"/>
              <a:ea typeface="Poppins Light"/>
              <a:cs typeface="Poppins Light"/>
              <a:sym typeface="Poppins Light"/>
            </a:endParaRPr>
          </a:p>
        </p:txBody>
      </p:sp>
      <p:pic>
        <p:nvPicPr>
          <p:cNvPr id="336" name="Google Shape;336;g35f1b241ad4_0_203"/>
          <p:cNvPicPr preferRelativeResize="0"/>
          <p:nvPr/>
        </p:nvPicPr>
        <p:blipFill rotWithShape="1">
          <a:blip r:embed="rId3">
            <a:alphaModFix/>
          </a:blip>
          <a:srcRect/>
          <a:stretch/>
        </p:blipFill>
        <p:spPr>
          <a:xfrm>
            <a:off x="4888763" y="5762875"/>
            <a:ext cx="9328275" cy="3432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6"/>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n-US" sz="6900" b="0" i="0" u="none" strike="noStrike" cap="none">
                <a:solidFill>
                  <a:srgbClr val="131416"/>
                </a:solidFill>
                <a:latin typeface="Impact"/>
                <a:ea typeface="Impact"/>
                <a:cs typeface="Impact"/>
                <a:sym typeface="Impact"/>
              </a:rPr>
              <a:t>CONCEPTOS CLAVE APRENDIDOS </a:t>
            </a:r>
            <a:endParaRPr sz="1400" b="0" i="0" u="none" strike="noStrike" cap="none">
              <a:solidFill>
                <a:srgbClr val="000000"/>
              </a:solidFill>
              <a:latin typeface="Impact"/>
              <a:ea typeface="Impact"/>
              <a:cs typeface="Impact"/>
              <a:sym typeface="Impact"/>
            </a:endParaRPr>
          </a:p>
        </p:txBody>
      </p:sp>
      <p:sp>
        <p:nvSpPr>
          <p:cNvPr id="342" name="Google Shape;342;p6"/>
          <p:cNvSpPr txBox="1"/>
          <p:nvPr/>
        </p:nvSpPr>
        <p:spPr>
          <a:xfrm>
            <a:off x="6122737" y="2425433"/>
            <a:ext cx="6911400" cy="4559700"/>
          </a:xfrm>
          <a:prstGeom prst="rect">
            <a:avLst/>
          </a:prstGeom>
          <a:noFill/>
          <a:ln>
            <a:noFill/>
          </a:ln>
        </p:spPr>
        <p:txBody>
          <a:bodyPr spcFirstLastPara="1" wrap="square" lIns="0" tIns="0" rIns="0" bIns="0" anchor="t" anchorCtr="0">
            <a:spAutoFit/>
          </a:bodyPr>
          <a:lstStyle/>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Pruebas no funcionales</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Pruebas de carga</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Pruebas de estrés</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Pruebas de escalabilidad</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Pruebas de portabilidad</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Rendimiento del sistema</a:t>
            </a:r>
            <a:endParaRPr sz="3151">
              <a:solidFill>
                <a:srgbClr val="131416"/>
              </a:solidFill>
            </a:endParaRPr>
          </a:p>
          <a:p>
            <a:pPr marL="457200" lvl="0" indent="-428688" algn="l" rtl="0">
              <a:lnSpc>
                <a:spcPct val="140019"/>
              </a:lnSpc>
              <a:spcBef>
                <a:spcPts val="0"/>
              </a:spcBef>
              <a:spcAft>
                <a:spcPts val="0"/>
              </a:spcAft>
              <a:buClr>
                <a:srgbClr val="131416"/>
              </a:buClr>
              <a:buSzPts val="3151"/>
              <a:buChar char="●"/>
            </a:pPr>
            <a:r>
              <a:rPr lang="en-US" sz="3151">
                <a:solidFill>
                  <a:srgbClr val="131416"/>
                </a:solidFill>
              </a:rPr>
              <a:t>Escalabilidad vertical y horizontal</a:t>
            </a:r>
            <a:endParaRPr sz="3151">
              <a:solidFill>
                <a:srgbClr val="13141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360abbf495b_0_0"/>
          <p:cNvSpPr txBox="1"/>
          <p:nvPr/>
        </p:nvSpPr>
        <p:spPr>
          <a:xfrm>
            <a:off x="2507390" y="1000125"/>
            <a:ext cx="13503300" cy="119988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n-US" sz="6900" b="0" i="0" u="none" strike="noStrike" cap="none" dirty="0">
                <a:solidFill>
                  <a:srgbClr val="131416"/>
                </a:solidFill>
                <a:latin typeface="Impact"/>
                <a:ea typeface="Impact"/>
                <a:cs typeface="Impact"/>
                <a:sym typeface="Impact"/>
              </a:rPr>
              <a:t>Rigor </a:t>
            </a:r>
            <a:r>
              <a:rPr lang="en-US" sz="6900" b="0" i="0" u="none" strike="noStrike" cap="none" dirty="0" err="1">
                <a:solidFill>
                  <a:srgbClr val="131416"/>
                </a:solidFill>
                <a:latin typeface="Impact"/>
                <a:ea typeface="Impact"/>
                <a:cs typeface="Impact"/>
                <a:sym typeface="Impact"/>
              </a:rPr>
              <a:t>técnico</a:t>
            </a:r>
            <a:endParaRPr sz="1400" b="0" i="0" u="none" strike="noStrike" cap="none" dirty="0">
              <a:solidFill>
                <a:srgbClr val="000000"/>
              </a:solidFill>
              <a:latin typeface="Impact"/>
              <a:ea typeface="Impact"/>
              <a:cs typeface="Impact"/>
              <a:sym typeface="Impact"/>
            </a:endParaRPr>
          </a:p>
        </p:txBody>
      </p:sp>
      <p:sp>
        <p:nvSpPr>
          <p:cNvPr id="348" name="Google Shape;348;g360abbf495b_0_0"/>
          <p:cNvSpPr txBox="1"/>
          <p:nvPr/>
        </p:nvSpPr>
        <p:spPr>
          <a:xfrm>
            <a:off x="2230719" y="2675475"/>
            <a:ext cx="14171700" cy="5687711"/>
          </a:xfrm>
          <a:prstGeom prst="rect">
            <a:avLst/>
          </a:prstGeom>
          <a:noFill/>
          <a:ln>
            <a:noFill/>
          </a:ln>
        </p:spPr>
        <p:txBody>
          <a:bodyPr spcFirstLastPara="1" wrap="square" lIns="0" tIns="0" rIns="0" bIns="0" anchor="t" anchorCtr="0">
            <a:spAutoFit/>
          </a:bodyPr>
          <a:lstStyle/>
          <a:p>
            <a:pPr lvl="0">
              <a:lnSpc>
                <a:spcPct val="140019"/>
              </a:lnSpc>
              <a:buSzPts val="3151"/>
            </a:pPr>
            <a:r>
              <a:rPr lang="es-ES" sz="4400" dirty="0"/>
              <a:t>El rigor técnico permite ejecutar pruebas no funcionales con precisión, objetividad y atención al detalle. Este valor es esencial para garantizar la calidad del sistema en aspectos críticos como rendimiento, escalabilidad, portabilidad y estabilidad, más allá de que simplemente "funcione"</a:t>
            </a:r>
            <a:endParaRPr sz="4400" dirty="0">
              <a:solidFill>
                <a:srgbClr val="13141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9"/>
          <p:cNvSpPr txBox="1"/>
          <p:nvPr/>
        </p:nvSpPr>
        <p:spPr>
          <a:xfrm>
            <a:off x="4437795" y="338910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Clr>
                <a:srgbClr val="000000"/>
              </a:buClr>
              <a:buSzPts val="6099"/>
              <a:buFont typeface="Arial"/>
              <a:buNone/>
            </a:pPr>
            <a:r>
              <a:rPr lang="en-US" sz="6099" b="0" i="0" u="none" strike="noStrike" cap="none">
                <a:solidFill>
                  <a:srgbClr val="131416"/>
                </a:solidFill>
                <a:latin typeface="Impact"/>
                <a:ea typeface="Impact"/>
                <a:cs typeface="Impact"/>
                <a:sym typeface="Impact"/>
              </a:rPr>
              <a:t>¡GRACIAS POR SU  ATENCIÓN!</a:t>
            </a:r>
            <a:endParaRPr sz="1400" b="0" i="0" u="none" strike="noStrike" cap="none">
              <a:solidFill>
                <a:srgbClr val="000000"/>
              </a:solidFill>
              <a:latin typeface="Impact"/>
              <a:ea typeface="Impact"/>
              <a:cs typeface="Impact"/>
              <a:sym typeface="Impact"/>
            </a:endParaRPr>
          </a:p>
          <a:p>
            <a:pPr marL="0" marR="0" lvl="0" indent="0" algn="just" rtl="0">
              <a:lnSpc>
                <a:spcPct val="104000"/>
              </a:lnSpc>
              <a:spcBef>
                <a:spcPts val="0"/>
              </a:spcBef>
              <a:spcAft>
                <a:spcPts val="0"/>
              </a:spcAft>
              <a:buClr>
                <a:srgbClr val="000000"/>
              </a:buClr>
              <a:buSzPts val="6099"/>
              <a:buFont typeface="Arial"/>
              <a:buNone/>
            </a:pPr>
            <a:endParaRPr sz="6099" b="0" i="0" u="none" strike="noStrike" cap="none">
              <a:solidFill>
                <a:srgbClr val="131416"/>
              </a:solidFill>
              <a:latin typeface="Impact"/>
              <a:ea typeface="Impact"/>
              <a:cs typeface="Impact"/>
              <a:sym typeface="Impact"/>
            </a:endParaRPr>
          </a:p>
        </p:txBody>
      </p:sp>
      <p:sp>
        <p:nvSpPr>
          <p:cNvPr id="354" name="Google Shape;354;p9"/>
          <p:cNvSpPr txBox="1"/>
          <p:nvPr/>
        </p:nvSpPr>
        <p:spPr>
          <a:xfrm>
            <a:off x="5414714" y="5958103"/>
            <a:ext cx="6704991" cy="89852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5000"/>
              <a:buFont typeface="Arial"/>
              <a:buNone/>
            </a:pPr>
            <a:r>
              <a:rPr lang="en-US" sz="5000" b="0" i="0" u="none" strike="noStrike" cap="none">
                <a:solidFill>
                  <a:srgbClr val="131416"/>
                </a:solidFill>
                <a:latin typeface="Arial"/>
                <a:ea typeface="Arial"/>
                <a:cs typeface="Arial"/>
                <a:sym typeface="Arial"/>
              </a:rPr>
              <a:t>DUDAS</a:t>
            </a:r>
            <a:endParaRPr sz="1400" b="0" i="0" u="none" strike="noStrike" cap="none">
              <a:solidFill>
                <a:srgbClr val="000000"/>
              </a:solidFill>
              <a:latin typeface="Arial"/>
              <a:ea typeface="Arial"/>
              <a:cs typeface="Arial"/>
              <a:sym typeface="Arial"/>
            </a:endParaRPr>
          </a:p>
        </p:txBody>
      </p:sp>
      <p:sp>
        <p:nvSpPr>
          <p:cNvPr id="355" name="Google Shape;355;p9"/>
          <p:cNvSpPr/>
          <p:nvPr/>
        </p:nvSpPr>
        <p:spPr>
          <a:xfrm>
            <a:off x="13963751" y="10287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a:p>
        </p:txBody>
      </p:sp>
      <p:sp>
        <p:nvSpPr>
          <p:cNvPr id="356" name="Google Shape;356;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2000"/>
              <a:buFont typeface="Arial"/>
              <a:buNone/>
            </a:pPr>
            <a:r>
              <a:rPr lang="en-US" sz="2000" b="0" i="0" u="none" strike="noStrike" cap="none">
                <a:solidFill>
                  <a:srgbClr val="131416"/>
                </a:solidFill>
                <a:latin typeface="Arial"/>
                <a:ea typeface="Arial"/>
                <a:cs typeface="Arial"/>
                <a:sym typeface="Arial"/>
              </a:rPr>
              <a:t>RECUERDA QUE TENEMOS NUESTRO FORO SEMANAL DONDE PUEDES CONSULTAR CUALQUIER DUDA QUE TE SURJA EN LA SEMANA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1334</Words>
  <Application>Microsoft Office PowerPoint</Application>
  <PresentationFormat>Personalizado</PresentationFormat>
  <Paragraphs>96</Paragraphs>
  <Slides>28</Slides>
  <Notes>28</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28</vt:i4>
      </vt:variant>
    </vt:vector>
  </HeadingPairs>
  <TitlesOfParts>
    <vt:vector size="38" baseType="lpstr">
      <vt:lpstr>Arial</vt:lpstr>
      <vt:lpstr>Impact</vt:lpstr>
      <vt:lpstr>Open Sans</vt:lpstr>
      <vt:lpstr>Poppins</vt:lpstr>
      <vt:lpstr>Calibri</vt:lpstr>
      <vt:lpstr>Poppins Black</vt:lpstr>
      <vt:lpstr>Libre Franklin Medium</vt:lpstr>
      <vt:lpstr>Poppins Light</vt:lpstr>
      <vt:lpstr>Bitter</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Mynor Moran</cp:lastModifiedBy>
  <cp:revision>1</cp:revision>
  <dcterms:created xsi:type="dcterms:W3CDTF">2006-08-16T00:00:00Z</dcterms:created>
  <dcterms:modified xsi:type="dcterms:W3CDTF">2025-07-05T21:31:53Z</dcterms:modified>
</cp:coreProperties>
</file>