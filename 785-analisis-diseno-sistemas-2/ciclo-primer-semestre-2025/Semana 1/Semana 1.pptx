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10287000" cx="18288000"/>
  <p:notesSz cx="6858000" cy="9144000"/>
  <p:embeddedFontLst>
    <p:embeddedFont>
      <p:font typeface="Poppins"/>
      <p:regular r:id="rId33"/>
      <p:bold r:id="rId34"/>
      <p:italic r:id="rId35"/>
      <p:boldItalic r:id="rId36"/>
    </p:embeddedFont>
    <p:embeddedFont>
      <p:font typeface="Poppins Light"/>
      <p:regular r:id="rId37"/>
      <p:bold r:id="rId38"/>
      <p:italic r:id="rId39"/>
      <p:boldItalic r:id="rId40"/>
    </p:embeddedFont>
    <p:embeddedFont>
      <p:font typeface="Poppins Black"/>
      <p:bold r:id="rId41"/>
      <p:boldItalic r:id="rId42"/>
    </p:embeddedFont>
    <p:embeddedFont>
      <p:font typeface="Open Sans"/>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7" roundtripDataSignature="AMtx7mjf9A130Z1OXY7pgussezoIKWFe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8A5C49-DA9C-4E6A-88BB-8D841A2CDA29}">
  <a:tblStyle styleId="{D08A5C49-DA9C-4E6A-88BB-8D841A2CDA2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Light-boldItalic.fntdata"/><Relationship Id="rId20" Type="http://schemas.openxmlformats.org/officeDocument/2006/relationships/slide" Target="slides/slide14.xml"/><Relationship Id="rId42" Type="http://schemas.openxmlformats.org/officeDocument/2006/relationships/font" Target="fonts/PoppinsBlack-boldItalic.fntdata"/><Relationship Id="rId41" Type="http://schemas.openxmlformats.org/officeDocument/2006/relationships/font" Target="fonts/PoppinsBlack-bold.fntdata"/><Relationship Id="rId22" Type="http://schemas.openxmlformats.org/officeDocument/2006/relationships/slide" Target="slides/slide16.xml"/><Relationship Id="rId44" Type="http://schemas.openxmlformats.org/officeDocument/2006/relationships/font" Target="fonts/OpenSans-bold.fntdata"/><Relationship Id="rId21" Type="http://schemas.openxmlformats.org/officeDocument/2006/relationships/slide" Target="slides/slide15.xml"/><Relationship Id="rId43" Type="http://schemas.openxmlformats.org/officeDocument/2006/relationships/font" Target="fonts/OpenSans-regular.fntdata"/><Relationship Id="rId24" Type="http://schemas.openxmlformats.org/officeDocument/2006/relationships/slide" Target="slides/slide18.xml"/><Relationship Id="rId46" Type="http://schemas.openxmlformats.org/officeDocument/2006/relationships/font" Target="fonts/OpenSans-boldItalic.fntdata"/><Relationship Id="rId23" Type="http://schemas.openxmlformats.org/officeDocument/2006/relationships/slide" Target="slides/slide17.xml"/><Relationship Id="rId45"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Poppins-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Poppins-italic.fntdata"/><Relationship Id="rId12" Type="http://schemas.openxmlformats.org/officeDocument/2006/relationships/slide" Target="slides/slide6.xml"/><Relationship Id="rId34" Type="http://schemas.openxmlformats.org/officeDocument/2006/relationships/font" Target="fonts/Poppins-bold.fntdata"/><Relationship Id="rId15" Type="http://schemas.openxmlformats.org/officeDocument/2006/relationships/slide" Target="slides/slide9.xml"/><Relationship Id="rId37" Type="http://schemas.openxmlformats.org/officeDocument/2006/relationships/font" Target="fonts/PoppinsLight-regular.fntdata"/><Relationship Id="rId14" Type="http://schemas.openxmlformats.org/officeDocument/2006/relationships/slide" Target="slides/slide8.xml"/><Relationship Id="rId36" Type="http://schemas.openxmlformats.org/officeDocument/2006/relationships/font" Target="fonts/Poppins-boldItalic.fntdata"/><Relationship Id="rId17" Type="http://schemas.openxmlformats.org/officeDocument/2006/relationships/slide" Target="slides/slide11.xml"/><Relationship Id="rId39" Type="http://schemas.openxmlformats.org/officeDocument/2006/relationships/font" Target="fonts/PoppinsLight-italic.fntdata"/><Relationship Id="rId16" Type="http://schemas.openxmlformats.org/officeDocument/2006/relationships/slide" Target="slides/slide10.xml"/><Relationship Id="rId38" Type="http://schemas.openxmlformats.org/officeDocument/2006/relationships/font" Target="fonts/PoppinsLight-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5ed7b02e5a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g35ed7b02e5a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ed7b02e5a_2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ed7b02e5a_2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5ed7b02e5a_2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g35ed7b02e5a_2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5ed7b02e5a_2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9" name="Google Shape;139;g35ed7b02e5a_2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5ed7b02e5a_2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g35ed7b02e5a_2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5ed7b02e5a_2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g35ed7b02e5a_2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ed7b02e5a_2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1" name="Google Shape;171;g35ed7b02e5a_2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5ed7b02e5a_2_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3" name="Google Shape;183;g35ed7b02e5a_2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5ed7b02e5a_2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g35ed7b02e5a_2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5ed7b02e5a_2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g35ed7b02e5a_2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5ed7b02e5a_2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g35ed7b02e5a_2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5ed7b02e5a_2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g35ed7b02e5a_2_1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5ed7b02e5a_2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4" name="Google Shape;304;g35ed7b02e5a_2_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5ed7b02e5a_2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g35ed7b02e5a_2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5ed7b02e5a_2_1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9" name="Google Shape;319;g35ed7b02e5a_2_1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5ed7b02e5a_2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8" name="Google Shape;328;g35ed7b02e5a_2_2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5ed7b02e5a_2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g35ed7b02e5a_2_2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5ed7b02e5a_2_2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g35ed7b02e5a_2_2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5ed7b02e5a_2_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0" name="Google Shape;360;g35ed7b02e5a_2_2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5ed7b02e5a_2_2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8" name="Google Shape;368;g35ed7b02e5a_2_2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5" name="Google Shape;37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1" name="Google Shape;38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7" name="Google Shape;38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23.png"/><Relationship Id="rId6" Type="http://schemas.openxmlformats.org/officeDocument/2006/relationships/image" Target="../media/image2.png"/><Relationship Id="rId7"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image" Target="../media/image2.pn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7.png"/><Relationship Id="rId5"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6.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16.png"/><Relationship Id="rId5" Type="http://schemas.openxmlformats.org/officeDocument/2006/relationships/image" Target="../media/image41.png"/><Relationship Id="rId6"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9.png"/><Relationship Id="rId4" Type="http://schemas.openxmlformats.org/officeDocument/2006/relationships/image" Target="../media/image3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5.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9.png"/><Relationship Id="rId4" Type="http://schemas.openxmlformats.org/officeDocument/2006/relationships/hyperlink" Target="http://www.youtube.com/watch?v=HKOws5HfppY" TargetMode="External"/><Relationship Id="rId5" Type="http://schemas.openxmlformats.org/officeDocument/2006/relationships/image" Target="../media/image37.jpg"/><Relationship Id="rId6" Type="http://schemas.openxmlformats.org/officeDocument/2006/relationships/hyperlink" Target="http://www.youtube.com/watch?v=7-KbBDadxtA" TargetMode="External"/><Relationship Id="rId7" Type="http://schemas.openxmlformats.org/officeDocument/2006/relationships/image" Target="../media/image4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9.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63303" y="6994239"/>
            <a:ext cx="57174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lang="en-US" sz="5000">
                <a:solidFill>
                  <a:srgbClr val="131416"/>
                </a:solidFill>
                <a:latin typeface="Open Sans"/>
                <a:ea typeface="Open Sans"/>
                <a:cs typeface="Open Sans"/>
                <a:sym typeface="Open Sans"/>
              </a:rPr>
              <a:t>Análisis y Diseño de Sistemas 2 </a:t>
            </a:r>
            <a:endParaRPr b="1" i="0" sz="5000" u="none" cap="none" strike="noStrike">
              <a:solidFill>
                <a:srgbClr val="131416"/>
              </a:solidFill>
              <a:latin typeface="Open Sans"/>
              <a:ea typeface="Open Sans"/>
              <a:cs typeface="Open Sans"/>
              <a:sym typeface="Open Sans"/>
            </a:endParaRPr>
          </a:p>
        </p:txBody>
      </p:sp>
      <p:sp>
        <p:nvSpPr>
          <p:cNvPr id="86" name="Google Shape;86;p1"/>
          <p:cNvSpPr txBox="1"/>
          <p:nvPr/>
        </p:nvSpPr>
        <p:spPr>
          <a:xfrm>
            <a:off x="2643905" y="3197949"/>
            <a:ext cx="123750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200"/>
              <a:buFont typeface="Arial"/>
              <a:buNone/>
            </a:pPr>
            <a:r>
              <a:rPr b="1" lang="en-US" sz="9200">
                <a:solidFill>
                  <a:srgbClr val="131416"/>
                </a:solidFill>
                <a:latin typeface="Open Sans"/>
                <a:ea typeface="Open Sans"/>
                <a:cs typeface="Open Sans"/>
                <a:sym typeface="Open Sans"/>
              </a:rPr>
              <a:t>Frameworks</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1063303" y="8745251"/>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a:t>
            </a:r>
            <a:r>
              <a:rPr b="1" lang="en-US" sz="2499">
                <a:solidFill>
                  <a:srgbClr val="131416"/>
                </a:solidFill>
                <a:latin typeface="Open Sans"/>
                <a:ea typeface="Open Sans"/>
                <a:cs typeface="Open Sans"/>
                <a:sym typeface="Open Sans"/>
              </a:rPr>
              <a:t>Ingeniería</a:t>
            </a:r>
            <a:r>
              <a:rPr b="1" i="0" lang="en-US" sz="2499" u="none" cap="none" strike="noStrike">
                <a:solidFill>
                  <a:srgbClr val="131416"/>
                </a:solidFill>
                <a:latin typeface="Open Sans"/>
                <a:ea typeface="Open Sans"/>
                <a:cs typeface="Open Sans"/>
                <a:sym typeface="Open Sans"/>
              </a:rPr>
              <a:t> de Ciencias Y Sistemas</a:t>
            </a:r>
            <a:endParaRPr b="1" i="0" sz="2499" u="none" cap="none" strike="noStrike">
              <a:solidFill>
                <a:srgbClr val="131416"/>
              </a:solidFill>
              <a:latin typeface="Open Sans"/>
              <a:ea typeface="Open Sans"/>
              <a:cs typeface="Open Sans"/>
              <a:sym typeface="Open Sans"/>
            </a:endParaRPr>
          </a:p>
        </p:txBody>
      </p:sp>
      <p:sp>
        <p:nvSpPr>
          <p:cNvPr id="88" name="Google Shape;88;p1"/>
          <p:cNvSpPr txBox="1"/>
          <p:nvPr/>
        </p:nvSpPr>
        <p:spPr>
          <a:xfrm>
            <a:off x="1028700" y="9210675"/>
            <a:ext cx="66675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a:t>
            </a:r>
            <a:r>
              <a:rPr b="1" lang="en-US" sz="2499">
                <a:solidFill>
                  <a:srgbClr val="131416"/>
                </a:solidFill>
                <a:latin typeface="Open Sans"/>
                <a:ea typeface="Open Sans"/>
                <a:cs typeface="Open Sans"/>
                <a:sym typeface="Open Sans"/>
              </a:rPr>
              <a:t>Ingeniería</a:t>
            </a:r>
            <a:endParaRPr b="1" i="0" sz="2499" u="none" cap="none" strike="noStrike">
              <a:solidFill>
                <a:srgbClr val="131416"/>
              </a:solidFill>
              <a:latin typeface="Open Sans"/>
              <a:ea typeface="Open Sans"/>
              <a:cs typeface="Open Sans"/>
              <a:sym typeface="Open Sans"/>
            </a:endParaRPr>
          </a:p>
        </p:txBody>
      </p:sp>
      <p:sp>
        <p:nvSpPr>
          <p:cNvPr id="89" name="Google Shape;89;p1"/>
          <p:cNvSpPr txBox="1"/>
          <p:nvPr/>
        </p:nvSpPr>
        <p:spPr>
          <a:xfrm>
            <a:off x="228600" y="9588254"/>
            <a:ext cx="8115300" cy="419346"/>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3"/>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COMPETENCIA(S) QUE DESARROLLAREMOS</a:t>
            </a:r>
            <a:endParaRPr b="0" i="0" sz="1400" u="none" cap="none" strike="noStrike">
              <a:solidFill>
                <a:srgbClr val="000000"/>
              </a:solidFill>
              <a:latin typeface="Impact"/>
              <a:ea typeface="Impact"/>
              <a:cs typeface="Impact"/>
              <a:sym typeface="Impact"/>
            </a:endParaRPr>
          </a:p>
        </p:txBody>
      </p:sp>
      <p:sp>
        <p:nvSpPr>
          <p:cNvPr id="95" name="Google Shape;95;p3"/>
          <p:cNvSpPr txBox="1"/>
          <p:nvPr/>
        </p:nvSpPr>
        <p:spPr>
          <a:xfrm>
            <a:off x="1526752" y="2129525"/>
            <a:ext cx="15441300" cy="6402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lang="en-US" sz="5199">
                <a:solidFill>
                  <a:srgbClr val="131416"/>
                </a:solidFill>
                <a:latin typeface="Open Sans"/>
                <a:ea typeface="Open Sans"/>
                <a:cs typeface="Open Sans"/>
                <a:sym typeface="Open Sans"/>
              </a:rPr>
              <a:t>Comprender y aplicar el concepto de frameworks y patrones de diseño arquitectónico en el desarrollo de software, identificando sus tipos, beneficios y usos prácticos para optimizar la estructura, calidad y mantenimiento de sistemas.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nvSpPr>
        <p:spPr>
          <a:xfrm>
            <a:off x="1374889" y="3027816"/>
            <a:ext cx="12625499" cy="783443"/>
          </a:xfrm>
          <a:prstGeom prst="rect">
            <a:avLst/>
          </a:prstGeom>
          <a:noFill/>
          <a:ln>
            <a:noFill/>
          </a:ln>
        </p:spPr>
        <p:txBody>
          <a:bodyPr anchorCtr="0" anchor="t" bIns="0" lIns="0" spcFirstLastPara="1" rIns="0" wrap="square" tIns="0">
            <a:spAutoFit/>
          </a:bodyPr>
          <a:lstStyle/>
          <a:p>
            <a:pPr indent="0" lvl="0" marL="0" marR="0" rtl="0" algn="l">
              <a:lnSpc>
                <a:spcPct val="173070"/>
              </a:lnSpc>
              <a:spcBef>
                <a:spcPts val="0"/>
              </a:spcBef>
              <a:spcAft>
                <a:spcPts val="0"/>
              </a:spcAft>
              <a:buClr>
                <a:srgbClr val="000000"/>
              </a:buClr>
              <a:buSzPts val="3925"/>
              <a:buFont typeface="Arial"/>
              <a:buNone/>
            </a:pPr>
            <a:r>
              <a:rPr b="0" i="0" lang="en-US" sz="3925" u="none" cap="none" strike="noStrike">
                <a:solidFill>
                  <a:srgbClr val="131416"/>
                </a:solidFill>
                <a:latin typeface="Arial"/>
                <a:ea typeface="Arial"/>
                <a:cs typeface="Arial"/>
                <a:sym typeface="Arial"/>
              </a:rPr>
              <a:t>Parte teórica que se requiera  (conocimiento)</a:t>
            </a:r>
            <a:endParaRPr b="0" i="0" sz="1400" u="none" cap="none" strike="noStrike">
              <a:solidFill>
                <a:srgbClr val="000000"/>
              </a:solidFill>
              <a:latin typeface="Arial"/>
              <a:ea typeface="Arial"/>
              <a:cs typeface="Arial"/>
              <a:sym typeface="Arial"/>
            </a:endParaRPr>
          </a:p>
        </p:txBody>
      </p:sp>
      <p:sp>
        <p:nvSpPr>
          <p:cNvPr id="101" name="Google Shape;101;p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CONTENIDO</a:t>
            </a:r>
            <a:endParaRPr b="0" i="0" sz="1400" u="none" cap="none" strike="noStrike">
              <a:solidFill>
                <a:srgbClr val="000000"/>
              </a:solidFill>
              <a:latin typeface="Impact"/>
              <a:ea typeface="Impact"/>
              <a:cs typeface="Impact"/>
              <a:sym typeface="Impact"/>
            </a:endParaRPr>
          </a:p>
        </p:txBody>
      </p:sp>
      <p:sp>
        <p:nvSpPr>
          <p:cNvPr id="102" name="Google Shape;102;p4"/>
          <p:cNvSpPr/>
          <p:nvPr/>
        </p:nvSpPr>
        <p:spPr>
          <a:xfrm>
            <a:off x="13447195" y="53340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3">
              <a:alphaModFix/>
            </a:blip>
            <a:stretch>
              <a:fillRect b="0" l="0" r="0" t="0"/>
            </a:stretch>
          </a:blipFill>
          <a:ln>
            <a:noFill/>
          </a:ln>
        </p:spPr>
      </p:sp>
      <p:sp>
        <p:nvSpPr>
          <p:cNvPr id="103" name="Google Shape;103;p4"/>
          <p:cNvSpPr txBox="1"/>
          <p:nvPr/>
        </p:nvSpPr>
        <p:spPr>
          <a:xfrm>
            <a:off x="14141311" y="6442453"/>
            <a:ext cx="3238236" cy="2815847"/>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Queda a tu discreción de donde te guías para generar el contenido que agregaras(libros, paginas web, etc. que fundamente teóricamente los temas que estas exponiendo a los compañeros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07" name="Shape 107"/>
        <p:cNvGrpSpPr/>
        <p:nvPr/>
      </p:nvGrpSpPr>
      <p:grpSpPr>
        <a:xfrm>
          <a:off x="0" y="0"/>
          <a:ext cx="0" cy="0"/>
          <a:chOff x="0" y="0"/>
          <a:chExt cx="0" cy="0"/>
        </a:xfrm>
      </p:grpSpPr>
      <p:graphicFrame>
        <p:nvGraphicFramePr>
          <p:cNvPr id="108" name="Google Shape;108;g35ed7b02e5a_2_0"/>
          <p:cNvGraphicFramePr/>
          <p:nvPr/>
        </p:nvGraphicFramePr>
        <p:xfrm>
          <a:off x="6116951" y="4739298"/>
          <a:ext cx="3000000" cy="3000000"/>
        </p:xfrm>
        <a:graphic>
          <a:graphicData uri="http://schemas.openxmlformats.org/drawingml/2006/table">
            <a:tbl>
              <a:tblPr>
                <a:noFill/>
                <a:tableStyleId>{D08A5C49-DA9C-4E6A-88BB-8D841A2CDA29}</a:tableStyleId>
              </a:tblPr>
              <a:tblGrid>
                <a:gridCol w="963725"/>
                <a:gridCol w="5090475"/>
              </a:tblGrid>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1</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Lectura del programa de laboratorio</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2</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Formación de grupos</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3</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Teoria Frameworks</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r h="956900">
                <a:tc>
                  <a:txBody>
                    <a:bodyPr/>
                    <a:lstStyle/>
                    <a:p>
                      <a:pPr indent="0" lvl="0" marL="0" marR="0" rtl="0" algn="ctr">
                        <a:lnSpc>
                          <a:spcPct val="140000"/>
                        </a:lnSpc>
                        <a:spcBef>
                          <a:spcPts val="0"/>
                        </a:spcBef>
                        <a:spcAft>
                          <a:spcPts val="0"/>
                        </a:spcAft>
                        <a:buClr>
                          <a:srgbClr val="000000"/>
                        </a:buClr>
                        <a:buSzPts val="2000"/>
                        <a:buFont typeface="Arial"/>
                        <a:buNone/>
                      </a:pPr>
                      <a:r>
                        <a:rPr b="1" lang="en-US" sz="2000" u="none" cap="none" strike="noStrike">
                          <a:solidFill>
                            <a:srgbClr val="FDFDFD"/>
                          </a:solidFill>
                          <a:latin typeface="Poppins"/>
                          <a:ea typeface="Poppins"/>
                          <a:cs typeface="Poppins"/>
                          <a:sym typeface="Poppins"/>
                        </a:rPr>
                        <a:t>4</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solidFill>
                      <a:srgbClr val="013362"/>
                    </a:solidFill>
                  </a:tcPr>
                </a:tc>
                <a:tc>
                  <a:txBody>
                    <a:bodyPr/>
                    <a:lstStyle/>
                    <a:p>
                      <a:pPr indent="0" lvl="0" marL="0" marR="0" rtl="0" algn="l">
                        <a:lnSpc>
                          <a:spcPct val="140000"/>
                        </a:lnSpc>
                        <a:spcBef>
                          <a:spcPts val="0"/>
                        </a:spcBef>
                        <a:spcAft>
                          <a:spcPts val="0"/>
                        </a:spcAft>
                        <a:buClr>
                          <a:srgbClr val="000000"/>
                        </a:buClr>
                        <a:buSzPts val="2000"/>
                        <a:buFont typeface="Arial"/>
                        <a:buNone/>
                      </a:pPr>
                      <a:r>
                        <a:rPr lang="en-US" sz="2000" u="none" cap="none" strike="noStrike">
                          <a:solidFill>
                            <a:srgbClr val="013362"/>
                          </a:solidFill>
                          <a:latin typeface="Poppins"/>
                          <a:ea typeface="Poppins"/>
                          <a:cs typeface="Poppins"/>
                          <a:sym typeface="Poppins"/>
                        </a:rPr>
                        <a:t>Ejemplo práctico</a:t>
                      </a:r>
                      <a:endParaRPr sz="1100" u="none" cap="none" strike="noStrike"/>
                    </a:p>
                  </a:txBody>
                  <a:tcPr marT="175025" marB="175025" marR="175025" marL="175025" anchor="ctr">
                    <a:lnL cap="flat" cmpd="sng" w="26250">
                      <a:solidFill>
                        <a:srgbClr val="013362"/>
                      </a:solidFill>
                      <a:prstDash val="solid"/>
                      <a:round/>
                      <a:headEnd len="sm" w="sm" type="none"/>
                      <a:tailEnd len="sm" w="sm" type="none"/>
                    </a:lnL>
                    <a:lnR cap="flat" cmpd="sng" w="26250">
                      <a:solidFill>
                        <a:srgbClr val="013362"/>
                      </a:solidFill>
                      <a:prstDash val="solid"/>
                      <a:round/>
                      <a:headEnd len="sm" w="sm" type="none"/>
                      <a:tailEnd len="sm" w="sm" type="none"/>
                    </a:lnR>
                    <a:lnT cap="flat" cmpd="sng" w="26250">
                      <a:solidFill>
                        <a:srgbClr val="013362"/>
                      </a:solidFill>
                      <a:prstDash val="solid"/>
                      <a:round/>
                      <a:headEnd len="sm" w="sm" type="none"/>
                      <a:tailEnd len="sm" w="sm" type="none"/>
                    </a:lnT>
                    <a:lnB cap="flat" cmpd="sng" w="26250">
                      <a:solidFill>
                        <a:srgbClr val="013362"/>
                      </a:solidFill>
                      <a:prstDash val="solid"/>
                      <a:round/>
                      <a:headEnd len="sm" w="sm" type="none"/>
                      <a:tailEnd len="sm" w="sm" type="none"/>
                    </a:lnB>
                  </a:tcPr>
                </a:tc>
              </a:tr>
            </a:tbl>
          </a:graphicData>
        </a:graphic>
      </p:graphicFrame>
      <p:grpSp>
        <p:nvGrpSpPr>
          <p:cNvPr id="109" name="Google Shape;109;g35ed7b02e5a_2_0"/>
          <p:cNvGrpSpPr/>
          <p:nvPr/>
        </p:nvGrpSpPr>
        <p:grpSpPr>
          <a:xfrm>
            <a:off x="-584626" y="1589619"/>
            <a:ext cx="19457594" cy="2036657"/>
            <a:chOff x="0" y="-76200"/>
            <a:chExt cx="5124600" cy="536400"/>
          </a:xfrm>
        </p:grpSpPr>
        <p:sp>
          <p:nvSpPr>
            <p:cNvPr id="110" name="Google Shape;110;g35ed7b02e5a_2_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11" name="Google Shape;111;g35ed7b02e5a_2_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2" name="Google Shape;112;g35ed7b02e5a_2_0"/>
          <p:cNvSpPr/>
          <p:nvPr/>
        </p:nvSpPr>
        <p:spPr>
          <a:xfrm>
            <a:off x="592309" y="8986439"/>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sp>
      <p:sp>
        <p:nvSpPr>
          <p:cNvPr id="113" name="Google Shape;113;g35ed7b02e5a_2_0"/>
          <p:cNvSpPr txBox="1"/>
          <p:nvPr/>
        </p:nvSpPr>
        <p:spPr>
          <a:xfrm>
            <a:off x="5939974" y="1861823"/>
            <a:ext cx="6408000" cy="1627800"/>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0576"/>
              <a:buFont typeface="Arial"/>
              <a:buNone/>
            </a:pPr>
            <a:r>
              <a:rPr b="0" i="0" lang="en-US" sz="10576" u="none" cap="none" strike="noStrike">
                <a:solidFill>
                  <a:srgbClr val="FDFDFD"/>
                </a:solidFill>
                <a:latin typeface="Poppins Black"/>
                <a:ea typeface="Poppins Black"/>
                <a:cs typeface="Poppins Black"/>
                <a:sym typeface="Poppins Black"/>
              </a:rPr>
              <a:t>AGENDA</a:t>
            </a:r>
            <a:endParaRPr b="0" i="0" sz="1400" u="none" cap="none" strike="noStrike">
              <a:solidFill>
                <a:srgbClr val="000000"/>
              </a:solidFill>
              <a:latin typeface="Arial"/>
              <a:ea typeface="Arial"/>
              <a:cs typeface="Arial"/>
              <a:sym typeface="Arial"/>
            </a:endParaRPr>
          </a:p>
        </p:txBody>
      </p:sp>
      <p:sp>
        <p:nvSpPr>
          <p:cNvPr id="114" name="Google Shape;114;g35ed7b02e5a_2_0"/>
          <p:cNvSpPr/>
          <p:nvPr/>
        </p:nvSpPr>
        <p:spPr>
          <a:xfrm rot="10800000">
            <a:off x="14838633" y="0"/>
            <a:ext cx="2658272" cy="1329136"/>
          </a:xfrm>
          <a:custGeom>
            <a:rect b="b" l="l" r="r" t="t"/>
            <a:pathLst>
              <a:path extrusionOk="0" h="1329136" w="2658272">
                <a:moveTo>
                  <a:pt x="0" y="0"/>
                </a:moveTo>
                <a:lnTo>
                  <a:pt x="2658272" y="0"/>
                </a:lnTo>
                <a:lnTo>
                  <a:pt x="2658272" y="1329136"/>
                </a:lnTo>
                <a:lnTo>
                  <a:pt x="0" y="1329136"/>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18" name="Shape 118"/>
        <p:cNvGrpSpPr/>
        <p:nvPr/>
      </p:nvGrpSpPr>
      <p:grpSpPr>
        <a:xfrm>
          <a:off x="0" y="0"/>
          <a:ext cx="0" cy="0"/>
          <a:chOff x="0" y="0"/>
          <a:chExt cx="0" cy="0"/>
        </a:xfrm>
      </p:grpSpPr>
      <p:grpSp>
        <p:nvGrpSpPr>
          <p:cNvPr id="119" name="Google Shape;119;g35ed7b02e5a_2_10"/>
          <p:cNvGrpSpPr/>
          <p:nvPr/>
        </p:nvGrpSpPr>
        <p:grpSpPr>
          <a:xfrm>
            <a:off x="-808963" y="3898825"/>
            <a:ext cx="19457594" cy="2036657"/>
            <a:chOff x="0" y="-76200"/>
            <a:chExt cx="5124600" cy="536400"/>
          </a:xfrm>
        </p:grpSpPr>
        <p:sp>
          <p:nvSpPr>
            <p:cNvPr id="120" name="Google Shape;120;g35ed7b02e5a_2_1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21" name="Google Shape;121;g35ed7b02e5a_2_1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2" name="Google Shape;122;g35ed7b02e5a_2_10"/>
          <p:cNvSpPr txBox="1"/>
          <p:nvPr/>
        </p:nvSpPr>
        <p:spPr>
          <a:xfrm>
            <a:off x="1599296" y="4433539"/>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¿Qué es un Framework?</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26" name="Shape 126"/>
        <p:cNvGrpSpPr/>
        <p:nvPr/>
      </p:nvGrpSpPr>
      <p:grpSpPr>
        <a:xfrm>
          <a:off x="0" y="0"/>
          <a:ext cx="0" cy="0"/>
          <a:chOff x="0" y="0"/>
          <a:chExt cx="0" cy="0"/>
        </a:xfrm>
      </p:grpSpPr>
      <p:grpSp>
        <p:nvGrpSpPr>
          <p:cNvPr id="127" name="Google Shape;127;g35ed7b02e5a_2_17"/>
          <p:cNvGrpSpPr/>
          <p:nvPr/>
        </p:nvGrpSpPr>
        <p:grpSpPr>
          <a:xfrm>
            <a:off x="-584626" y="564525"/>
            <a:ext cx="19457594" cy="2036657"/>
            <a:chOff x="0" y="-76200"/>
            <a:chExt cx="5124600" cy="536400"/>
          </a:xfrm>
        </p:grpSpPr>
        <p:sp>
          <p:nvSpPr>
            <p:cNvPr id="128" name="Google Shape;128;g35ed7b02e5a_2_17"/>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29" name="Google Shape;129;g35ed7b02e5a_2_17"/>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0" name="Google Shape;130;g35ed7b02e5a_2_17"/>
          <p:cNvSpPr txBox="1"/>
          <p:nvPr/>
        </p:nvSpPr>
        <p:spPr>
          <a:xfrm>
            <a:off x="1599296" y="758314"/>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Framework</a:t>
            </a:r>
            <a:endParaRPr b="0" i="0" sz="1400" u="none" cap="none" strike="noStrike">
              <a:solidFill>
                <a:srgbClr val="000000"/>
              </a:solidFill>
              <a:latin typeface="Arial"/>
              <a:ea typeface="Arial"/>
              <a:cs typeface="Arial"/>
              <a:sym typeface="Arial"/>
            </a:endParaRPr>
          </a:p>
        </p:txBody>
      </p:sp>
      <p:sp>
        <p:nvSpPr>
          <p:cNvPr id="131" name="Google Shape;131;g35ed7b02e5a_2_17"/>
          <p:cNvSpPr txBox="1"/>
          <p:nvPr/>
        </p:nvSpPr>
        <p:spPr>
          <a:xfrm>
            <a:off x="1028700" y="2969245"/>
            <a:ext cx="16230600" cy="23721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Un framework, en el contexto del desarrollo de software, es una estructura de soporte predefinida que sirve como base para el desarrollo y la implementación de aplicaciones. Proporciona un conjunto de herramientas, bibliotecas y buenas prácticas que facilitan y aceleran el proceso de desarrollo al ofrecer soluciones reutilizables para problemas comunes.</a:t>
            </a:r>
            <a:endParaRPr b="0" i="0" sz="1400" u="none" cap="none" strike="noStrike">
              <a:solidFill>
                <a:srgbClr val="000000"/>
              </a:solidFill>
              <a:latin typeface="Arial"/>
              <a:ea typeface="Arial"/>
              <a:cs typeface="Arial"/>
              <a:sym typeface="Arial"/>
            </a:endParaRPr>
          </a:p>
        </p:txBody>
      </p:sp>
      <p:pic>
        <p:nvPicPr>
          <p:cNvPr id="132" name="Google Shape;132;g35ed7b02e5a_2_17"/>
          <p:cNvPicPr preferRelativeResize="0"/>
          <p:nvPr/>
        </p:nvPicPr>
        <p:blipFill rotWithShape="1">
          <a:blip r:embed="rId3">
            <a:alphaModFix/>
          </a:blip>
          <a:srcRect b="0" l="0" r="0" t="0"/>
          <a:stretch/>
        </p:blipFill>
        <p:spPr>
          <a:xfrm>
            <a:off x="0" y="6160225"/>
            <a:ext cx="6769423" cy="1821275"/>
          </a:xfrm>
          <a:prstGeom prst="rect">
            <a:avLst/>
          </a:prstGeom>
          <a:noFill/>
          <a:ln>
            <a:noFill/>
          </a:ln>
        </p:spPr>
      </p:pic>
      <p:pic>
        <p:nvPicPr>
          <p:cNvPr id="133" name="Google Shape;133;g35ed7b02e5a_2_17"/>
          <p:cNvPicPr preferRelativeResize="0"/>
          <p:nvPr/>
        </p:nvPicPr>
        <p:blipFill rotWithShape="1">
          <a:blip r:embed="rId4">
            <a:alphaModFix/>
          </a:blip>
          <a:srcRect b="0" l="0" r="0" t="0"/>
          <a:stretch/>
        </p:blipFill>
        <p:spPr>
          <a:xfrm>
            <a:off x="7071374" y="7335749"/>
            <a:ext cx="2856801" cy="2290475"/>
          </a:xfrm>
          <a:prstGeom prst="rect">
            <a:avLst/>
          </a:prstGeom>
          <a:noFill/>
          <a:ln>
            <a:noFill/>
          </a:ln>
        </p:spPr>
      </p:pic>
      <p:pic>
        <p:nvPicPr>
          <p:cNvPr id="134" name="Google Shape;134;g35ed7b02e5a_2_17"/>
          <p:cNvPicPr preferRelativeResize="0"/>
          <p:nvPr/>
        </p:nvPicPr>
        <p:blipFill rotWithShape="1">
          <a:blip r:embed="rId5">
            <a:alphaModFix/>
          </a:blip>
          <a:srcRect b="0" l="0" r="0" t="0"/>
          <a:stretch/>
        </p:blipFill>
        <p:spPr>
          <a:xfrm>
            <a:off x="9587150" y="7624050"/>
            <a:ext cx="3047026" cy="2002175"/>
          </a:xfrm>
          <a:prstGeom prst="rect">
            <a:avLst/>
          </a:prstGeom>
          <a:noFill/>
          <a:ln>
            <a:noFill/>
          </a:ln>
        </p:spPr>
      </p:pic>
      <p:pic>
        <p:nvPicPr>
          <p:cNvPr id="135" name="Google Shape;135;g35ed7b02e5a_2_17"/>
          <p:cNvPicPr preferRelativeResize="0"/>
          <p:nvPr/>
        </p:nvPicPr>
        <p:blipFill rotWithShape="1">
          <a:blip r:embed="rId6">
            <a:alphaModFix/>
          </a:blip>
          <a:srcRect b="0" l="0" r="0" t="0"/>
          <a:stretch/>
        </p:blipFill>
        <p:spPr>
          <a:xfrm>
            <a:off x="12786576" y="6132145"/>
            <a:ext cx="4876800" cy="2438400"/>
          </a:xfrm>
          <a:prstGeom prst="rect">
            <a:avLst/>
          </a:prstGeom>
          <a:noFill/>
          <a:ln>
            <a:noFill/>
          </a:ln>
        </p:spPr>
      </p:pic>
      <p:pic>
        <p:nvPicPr>
          <p:cNvPr id="136" name="Google Shape;136;g35ed7b02e5a_2_17"/>
          <p:cNvPicPr preferRelativeResize="0"/>
          <p:nvPr/>
        </p:nvPicPr>
        <p:blipFill rotWithShape="1">
          <a:blip r:embed="rId7">
            <a:alphaModFix/>
          </a:blip>
          <a:srcRect b="0" l="0" r="0" t="0"/>
          <a:stretch/>
        </p:blipFill>
        <p:spPr>
          <a:xfrm>
            <a:off x="152400" y="8714700"/>
            <a:ext cx="4311810" cy="14198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40" name="Shape 140"/>
        <p:cNvGrpSpPr/>
        <p:nvPr/>
      </p:nvGrpSpPr>
      <p:grpSpPr>
        <a:xfrm>
          <a:off x="0" y="0"/>
          <a:ext cx="0" cy="0"/>
          <a:chOff x="0" y="0"/>
          <a:chExt cx="0" cy="0"/>
        </a:xfrm>
      </p:grpSpPr>
      <p:grpSp>
        <p:nvGrpSpPr>
          <p:cNvPr id="141" name="Google Shape;141;g35ed7b02e5a_2_30"/>
          <p:cNvGrpSpPr/>
          <p:nvPr/>
        </p:nvGrpSpPr>
        <p:grpSpPr>
          <a:xfrm>
            <a:off x="-808963" y="3898825"/>
            <a:ext cx="19457594" cy="2036657"/>
            <a:chOff x="0" y="-76200"/>
            <a:chExt cx="5124600" cy="536400"/>
          </a:xfrm>
        </p:grpSpPr>
        <p:sp>
          <p:nvSpPr>
            <p:cNvPr id="142" name="Google Shape;142;g35ed7b02e5a_2_3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43" name="Google Shape;143;g35ed7b02e5a_2_3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4" name="Google Shape;144;g35ed7b02e5a_2_30"/>
          <p:cNvSpPr txBox="1"/>
          <p:nvPr/>
        </p:nvSpPr>
        <p:spPr>
          <a:xfrm>
            <a:off x="1599296" y="4433539"/>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Tipos de Frameworks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48" name="Shape 148"/>
        <p:cNvGrpSpPr/>
        <p:nvPr/>
      </p:nvGrpSpPr>
      <p:grpSpPr>
        <a:xfrm>
          <a:off x="0" y="0"/>
          <a:ext cx="0" cy="0"/>
          <a:chOff x="0" y="0"/>
          <a:chExt cx="0" cy="0"/>
        </a:xfrm>
      </p:grpSpPr>
      <p:grpSp>
        <p:nvGrpSpPr>
          <p:cNvPr id="149" name="Google Shape;149;g35ed7b02e5a_2_37"/>
          <p:cNvGrpSpPr/>
          <p:nvPr/>
        </p:nvGrpSpPr>
        <p:grpSpPr>
          <a:xfrm>
            <a:off x="-584626" y="564525"/>
            <a:ext cx="19457594" cy="2036657"/>
            <a:chOff x="0" y="-76200"/>
            <a:chExt cx="5124600" cy="536400"/>
          </a:xfrm>
        </p:grpSpPr>
        <p:sp>
          <p:nvSpPr>
            <p:cNvPr id="150" name="Google Shape;150;g35ed7b02e5a_2_37"/>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51" name="Google Shape;151;g35ed7b02e5a_2_37"/>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2" name="Google Shape;152;g35ed7b02e5a_2_37"/>
          <p:cNvSpPr txBox="1"/>
          <p:nvPr/>
        </p:nvSpPr>
        <p:spPr>
          <a:xfrm>
            <a:off x="1599296" y="758314"/>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Frameworks Frontend</a:t>
            </a:r>
            <a:endParaRPr b="0" i="0" sz="1400" u="none" cap="none" strike="noStrike">
              <a:solidFill>
                <a:srgbClr val="000000"/>
              </a:solidFill>
              <a:latin typeface="Arial"/>
              <a:ea typeface="Arial"/>
              <a:cs typeface="Arial"/>
              <a:sym typeface="Arial"/>
            </a:endParaRPr>
          </a:p>
        </p:txBody>
      </p:sp>
      <p:sp>
        <p:nvSpPr>
          <p:cNvPr id="153" name="Google Shape;153;g35ed7b02e5a_2_37"/>
          <p:cNvSpPr txBox="1"/>
          <p:nvPr/>
        </p:nvSpPr>
        <p:spPr>
          <a:xfrm>
            <a:off x="1028700" y="2969245"/>
            <a:ext cx="16230600" cy="10947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Estos frameworks se utilizan para desarrollar la parte frontal de las aplicaciones web, es decir, lo que el usuario ve e interactúa.</a:t>
            </a:r>
            <a:endParaRPr b="0" i="0" sz="1400" u="none" cap="none" strike="noStrike">
              <a:solidFill>
                <a:srgbClr val="000000"/>
              </a:solidFill>
              <a:latin typeface="Arial"/>
              <a:ea typeface="Arial"/>
              <a:cs typeface="Arial"/>
              <a:sym typeface="Arial"/>
            </a:endParaRPr>
          </a:p>
        </p:txBody>
      </p:sp>
      <p:pic>
        <p:nvPicPr>
          <p:cNvPr id="154" name="Google Shape;154;g35ed7b02e5a_2_37"/>
          <p:cNvPicPr preferRelativeResize="0"/>
          <p:nvPr/>
        </p:nvPicPr>
        <p:blipFill rotWithShape="1">
          <a:blip r:embed="rId3">
            <a:alphaModFix/>
          </a:blip>
          <a:srcRect b="0" l="0" r="0" t="0"/>
          <a:stretch/>
        </p:blipFill>
        <p:spPr>
          <a:xfrm>
            <a:off x="8213950" y="7244187"/>
            <a:ext cx="3807174" cy="2501664"/>
          </a:xfrm>
          <a:prstGeom prst="rect">
            <a:avLst/>
          </a:prstGeom>
          <a:noFill/>
          <a:ln>
            <a:noFill/>
          </a:ln>
        </p:spPr>
      </p:pic>
      <p:pic>
        <p:nvPicPr>
          <p:cNvPr id="155" name="Google Shape;155;g35ed7b02e5a_2_37"/>
          <p:cNvPicPr preferRelativeResize="0"/>
          <p:nvPr/>
        </p:nvPicPr>
        <p:blipFill rotWithShape="1">
          <a:blip r:embed="rId4">
            <a:alphaModFix/>
          </a:blip>
          <a:srcRect b="0" l="0" r="0" t="0"/>
          <a:stretch/>
        </p:blipFill>
        <p:spPr>
          <a:xfrm>
            <a:off x="12906176" y="5318820"/>
            <a:ext cx="4876800" cy="2438400"/>
          </a:xfrm>
          <a:prstGeom prst="rect">
            <a:avLst/>
          </a:prstGeom>
          <a:noFill/>
          <a:ln>
            <a:noFill/>
          </a:ln>
        </p:spPr>
      </p:pic>
      <p:pic>
        <p:nvPicPr>
          <p:cNvPr id="156" name="Google Shape;156;g35ed7b02e5a_2_37"/>
          <p:cNvPicPr preferRelativeResize="0"/>
          <p:nvPr/>
        </p:nvPicPr>
        <p:blipFill rotWithShape="1">
          <a:blip r:embed="rId5">
            <a:alphaModFix/>
          </a:blip>
          <a:srcRect b="0" l="0" r="0" t="0"/>
          <a:stretch/>
        </p:blipFill>
        <p:spPr>
          <a:xfrm>
            <a:off x="0" y="4657045"/>
            <a:ext cx="7349118" cy="308662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60" name="Shape 160"/>
        <p:cNvGrpSpPr/>
        <p:nvPr/>
      </p:nvGrpSpPr>
      <p:grpSpPr>
        <a:xfrm>
          <a:off x="0" y="0"/>
          <a:ext cx="0" cy="0"/>
          <a:chOff x="0" y="0"/>
          <a:chExt cx="0" cy="0"/>
        </a:xfrm>
      </p:grpSpPr>
      <p:grpSp>
        <p:nvGrpSpPr>
          <p:cNvPr id="161" name="Google Shape;161;g35ed7b02e5a_2_48"/>
          <p:cNvGrpSpPr/>
          <p:nvPr/>
        </p:nvGrpSpPr>
        <p:grpSpPr>
          <a:xfrm>
            <a:off x="-584626" y="564525"/>
            <a:ext cx="19457594" cy="2036657"/>
            <a:chOff x="0" y="-76200"/>
            <a:chExt cx="5124600" cy="536400"/>
          </a:xfrm>
        </p:grpSpPr>
        <p:sp>
          <p:nvSpPr>
            <p:cNvPr id="162" name="Google Shape;162;g35ed7b02e5a_2_48"/>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63" name="Google Shape;163;g35ed7b02e5a_2_48"/>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4" name="Google Shape;164;g35ed7b02e5a_2_48"/>
          <p:cNvSpPr txBox="1"/>
          <p:nvPr/>
        </p:nvSpPr>
        <p:spPr>
          <a:xfrm>
            <a:off x="1599296" y="758314"/>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Frameworks Backend</a:t>
            </a:r>
            <a:endParaRPr b="0" i="0" sz="1400" u="none" cap="none" strike="noStrike">
              <a:solidFill>
                <a:srgbClr val="000000"/>
              </a:solidFill>
              <a:latin typeface="Arial"/>
              <a:ea typeface="Arial"/>
              <a:cs typeface="Arial"/>
              <a:sym typeface="Arial"/>
            </a:endParaRPr>
          </a:p>
        </p:txBody>
      </p:sp>
      <p:sp>
        <p:nvSpPr>
          <p:cNvPr id="165" name="Google Shape;165;g35ed7b02e5a_2_48"/>
          <p:cNvSpPr txBox="1"/>
          <p:nvPr/>
        </p:nvSpPr>
        <p:spPr>
          <a:xfrm>
            <a:off x="1028700" y="2969245"/>
            <a:ext cx="16230600" cy="10947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Estos frameworks se utilizan para desarrollar la parte del servidor de las aplicaciones, gestionando la lógica de la aplicación, las bases de datos, la autenticación, etc.</a:t>
            </a:r>
            <a:endParaRPr b="0" i="0" sz="1400" u="none" cap="none" strike="noStrike">
              <a:solidFill>
                <a:srgbClr val="000000"/>
              </a:solidFill>
              <a:latin typeface="Arial"/>
              <a:ea typeface="Arial"/>
              <a:cs typeface="Arial"/>
              <a:sym typeface="Arial"/>
            </a:endParaRPr>
          </a:p>
        </p:txBody>
      </p:sp>
      <p:pic>
        <p:nvPicPr>
          <p:cNvPr id="166" name="Google Shape;166;g35ed7b02e5a_2_48"/>
          <p:cNvPicPr preferRelativeResize="0"/>
          <p:nvPr/>
        </p:nvPicPr>
        <p:blipFill rotWithShape="1">
          <a:blip r:embed="rId3">
            <a:alphaModFix/>
          </a:blip>
          <a:srcRect b="0" l="0" r="0" t="0"/>
          <a:stretch/>
        </p:blipFill>
        <p:spPr>
          <a:xfrm>
            <a:off x="735525" y="6337325"/>
            <a:ext cx="4311810" cy="1419899"/>
          </a:xfrm>
          <a:prstGeom prst="rect">
            <a:avLst/>
          </a:prstGeom>
          <a:noFill/>
          <a:ln>
            <a:noFill/>
          </a:ln>
        </p:spPr>
      </p:pic>
      <p:pic>
        <p:nvPicPr>
          <p:cNvPr id="167" name="Google Shape;167;g35ed7b02e5a_2_48"/>
          <p:cNvPicPr preferRelativeResize="0"/>
          <p:nvPr/>
        </p:nvPicPr>
        <p:blipFill rotWithShape="1">
          <a:blip r:embed="rId4">
            <a:alphaModFix/>
          </a:blip>
          <a:srcRect b="0" l="0" r="0" t="0"/>
          <a:stretch/>
        </p:blipFill>
        <p:spPr>
          <a:xfrm>
            <a:off x="6286501" y="7350447"/>
            <a:ext cx="5355863" cy="2811828"/>
          </a:xfrm>
          <a:prstGeom prst="rect">
            <a:avLst/>
          </a:prstGeom>
          <a:noFill/>
          <a:ln>
            <a:noFill/>
          </a:ln>
        </p:spPr>
      </p:pic>
      <p:pic>
        <p:nvPicPr>
          <p:cNvPr id="168" name="Google Shape;168;g35ed7b02e5a_2_48"/>
          <p:cNvPicPr preferRelativeResize="0"/>
          <p:nvPr/>
        </p:nvPicPr>
        <p:blipFill rotWithShape="1">
          <a:blip r:embed="rId5">
            <a:alphaModFix/>
          </a:blip>
          <a:srcRect b="0" l="0" r="0" t="0"/>
          <a:stretch/>
        </p:blipFill>
        <p:spPr>
          <a:xfrm>
            <a:off x="10956254" y="5203299"/>
            <a:ext cx="6524974" cy="1755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72" name="Shape 172"/>
        <p:cNvGrpSpPr/>
        <p:nvPr/>
      </p:nvGrpSpPr>
      <p:grpSpPr>
        <a:xfrm>
          <a:off x="0" y="0"/>
          <a:ext cx="0" cy="0"/>
          <a:chOff x="0" y="0"/>
          <a:chExt cx="0" cy="0"/>
        </a:xfrm>
      </p:grpSpPr>
      <p:grpSp>
        <p:nvGrpSpPr>
          <p:cNvPr id="173" name="Google Shape;173;g35ed7b02e5a_2_59"/>
          <p:cNvGrpSpPr/>
          <p:nvPr/>
        </p:nvGrpSpPr>
        <p:grpSpPr>
          <a:xfrm>
            <a:off x="-584626" y="564525"/>
            <a:ext cx="19457594" cy="2036657"/>
            <a:chOff x="0" y="-76200"/>
            <a:chExt cx="5124600" cy="536400"/>
          </a:xfrm>
        </p:grpSpPr>
        <p:sp>
          <p:nvSpPr>
            <p:cNvPr id="174" name="Google Shape;174;g35ed7b02e5a_2_59"/>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75" name="Google Shape;175;g35ed7b02e5a_2_59"/>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6" name="Google Shape;176;g35ed7b02e5a_2_59"/>
          <p:cNvSpPr txBox="1"/>
          <p:nvPr/>
        </p:nvSpPr>
        <p:spPr>
          <a:xfrm>
            <a:off x="1599296" y="758314"/>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Frameworks Mobile</a:t>
            </a:r>
            <a:endParaRPr b="0" i="0" sz="1400" u="none" cap="none" strike="noStrike">
              <a:solidFill>
                <a:srgbClr val="000000"/>
              </a:solidFill>
              <a:latin typeface="Arial"/>
              <a:ea typeface="Arial"/>
              <a:cs typeface="Arial"/>
              <a:sym typeface="Arial"/>
            </a:endParaRPr>
          </a:p>
        </p:txBody>
      </p:sp>
      <p:sp>
        <p:nvSpPr>
          <p:cNvPr id="177" name="Google Shape;177;g35ed7b02e5a_2_59"/>
          <p:cNvSpPr txBox="1"/>
          <p:nvPr/>
        </p:nvSpPr>
        <p:spPr>
          <a:xfrm>
            <a:off x="1028700" y="2969245"/>
            <a:ext cx="16230600" cy="10947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Estos frameworks se utilizan para el desarrollo de aplicaciones móviles nativas o multiplataforma.</a:t>
            </a:r>
            <a:endParaRPr b="0" i="0" sz="1400" u="none" cap="none" strike="noStrike">
              <a:solidFill>
                <a:srgbClr val="000000"/>
              </a:solidFill>
              <a:latin typeface="Arial"/>
              <a:ea typeface="Arial"/>
              <a:cs typeface="Arial"/>
              <a:sym typeface="Arial"/>
            </a:endParaRPr>
          </a:p>
        </p:txBody>
      </p:sp>
      <p:pic>
        <p:nvPicPr>
          <p:cNvPr id="178" name="Google Shape;178;g35ed7b02e5a_2_59"/>
          <p:cNvPicPr preferRelativeResize="0"/>
          <p:nvPr/>
        </p:nvPicPr>
        <p:blipFill rotWithShape="1">
          <a:blip r:embed="rId3">
            <a:alphaModFix/>
          </a:blip>
          <a:srcRect b="0" l="0" r="0" t="0"/>
          <a:stretch/>
        </p:blipFill>
        <p:spPr>
          <a:xfrm>
            <a:off x="152400" y="5668172"/>
            <a:ext cx="5355873" cy="1529876"/>
          </a:xfrm>
          <a:prstGeom prst="rect">
            <a:avLst/>
          </a:prstGeom>
          <a:noFill/>
          <a:ln>
            <a:noFill/>
          </a:ln>
        </p:spPr>
      </p:pic>
      <p:pic>
        <p:nvPicPr>
          <p:cNvPr id="179" name="Google Shape;179;g35ed7b02e5a_2_59"/>
          <p:cNvPicPr preferRelativeResize="0"/>
          <p:nvPr/>
        </p:nvPicPr>
        <p:blipFill rotWithShape="1">
          <a:blip r:embed="rId4">
            <a:alphaModFix/>
          </a:blip>
          <a:srcRect b="0" l="0" r="0" t="0"/>
          <a:stretch/>
        </p:blipFill>
        <p:spPr>
          <a:xfrm>
            <a:off x="7071374" y="7335749"/>
            <a:ext cx="2856801" cy="2290475"/>
          </a:xfrm>
          <a:prstGeom prst="rect">
            <a:avLst/>
          </a:prstGeom>
          <a:noFill/>
          <a:ln>
            <a:noFill/>
          </a:ln>
        </p:spPr>
      </p:pic>
      <p:pic>
        <p:nvPicPr>
          <p:cNvPr id="180" name="Google Shape;180;g35ed7b02e5a_2_59"/>
          <p:cNvPicPr preferRelativeResize="0"/>
          <p:nvPr/>
        </p:nvPicPr>
        <p:blipFill rotWithShape="1">
          <a:blip r:embed="rId5">
            <a:alphaModFix/>
          </a:blip>
          <a:srcRect b="0" l="0" r="0" t="0"/>
          <a:stretch/>
        </p:blipFill>
        <p:spPr>
          <a:xfrm>
            <a:off x="10832574" y="4745805"/>
            <a:ext cx="5856125" cy="2452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84" name="Shape 184"/>
        <p:cNvGrpSpPr/>
        <p:nvPr/>
      </p:nvGrpSpPr>
      <p:grpSpPr>
        <a:xfrm>
          <a:off x="0" y="0"/>
          <a:ext cx="0" cy="0"/>
          <a:chOff x="0" y="0"/>
          <a:chExt cx="0" cy="0"/>
        </a:xfrm>
      </p:grpSpPr>
      <p:grpSp>
        <p:nvGrpSpPr>
          <p:cNvPr id="185" name="Google Shape;185;g35ed7b02e5a_2_70"/>
          <p:cNvGrpSpPr/>
          <p:nvPr/>
        </p:nvGrpSpPr>
        <p:grpSpPr>
          <a:xfrm>
            <a:off x="-584626" y="564525"/>
            <a:ext cx="19457594" cy="2036657"/>
            <a:chOff x="0" y="-76200"/>
            <a:chExt cx="5124600" cy="536400"/>
          </a:xfrm>
        </p:grpSpPr>
        <p:sp>
          <p:nvSpPr>
            <p:cNvPr id="186" name="Google Shape;186;g35ed7b02e5a_2_70"/>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87" name="Google Shape;187;g35ed7b02e5a_2_70"/>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8" name="Google Shape;188;g35ed7b02e5a_2_70"/>
          <p:cNvSpPr txBox="1"/>
          <p:nvPr/>
        </p:nvSpPr>
        <p:spPr>
          <a:xfrm>
            <a:off x="1599296" y="758314"/>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Frameworks de Testing</a:t>
            </a:r>
            <a:endParaRPr b="0" i="0" sz="1400" u="none" cap="none" strike="noStrike">
              <a:solidFill>
                <a:srgbClr val="000000"/>
              </a:solidFill>
              <a:latin typeface="Arial"/>
              <a:ea typeface="Arial"/>
              <a:cs typeface="Arial"/>
              <a:sym typeface="Arial"/>
            </a:endParaRPr>
          </a:p>
        </p:txBody>
      </p:sp>
      <p:sp>
        <p:nvSpPr>
          <p:cNvPr id="189" name="Google Shape;189;g35ed7b02e5a_2_70"/>
          <p:cNvSpPr txBox="1"/>
          <p:nvPr/>
        </p:nvSpPr>
        <p:spPr>
          <a:xfrm>
            <a:off x="1028700" y="2969245"/>
            <a:ext cx="16230600" cy="10947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Estos frameworks se utilizan para facilitar la creación y ejecución de pruebas automatizadas para asegurar la calidad del software.</a:t>
            </a:r>
            <a:endParaRPr b="0" i="0" sz="1400" u="none" cap="none" strike="noStrike">
              <a:solidFill>
                <a:srgbClr val="000000"/>
              </a:solidFill>
              <a:latin typeface="Arial"/>
              <a:ea typeface="Arial"/>
              <a:cs typeface="Arial"/>
              <a:sym typeface="Arial"/>
            </a:endParaRPr>
          </a:p>
        </p:txBody>
      </p:sp>
      <p:pic>
        <p:nvPicPr>
          <p:cNvPr id="190" name="Google Shape;190;g35ed7b02e5a_2_70"/>
          <p:cNvPicPr preferRelativeResize="0"/>
          <p:nvPr/>
        </p:nvPicPr>
        <p:blipFill rotWithShape="1">
          <a:blip r:embed="rId3">
            <a:alphaModFix/>
          </a:blip>
          <a:srcRect b="0" l="0" r="0" t="0"/>
          <a:stretch/>
        </p:blipFill>
        <p:spPr>
          <a:xfrm>
            <a:off x="1707425" y="5427445"/>
            <a:ext cx="2667000" cy="2667000"/>
          </a:xfrm>
          <a:prstGeom prst="rect">
            <a:avLst/>
          </a:prstGeom>
          <a:noFill/>
          <a:ln>
            <a:noFill/>
          </a:ln>
        </p:spPr>
      </p:pic>
      <p:pic>
        <p:nvPicPr>
          <p:cNvPr id="191" name="Google Shape;191;g35ed7b02e5a_2_70"/>
          <p:cNvPicPr preferRelativeResize="0"/>
          <p:nvPr/>
        </p:nvPicPr>
        <p:blipFill rotWithShape="1">
          <a:blip r:embed="rId4">
            <a:alphaModFix/>
          </a:blip>
          <a:srcRect b="0" l="0" r="0" t="0"/>
          <a:stretch/>
        </p:blipFill>
        <p:spPr>
          <a:xfrm>
            <a:off x="5483750" y="7589688"/>
            <a:ext cx="6305750" cy="1541406"/>
          </a:xfrm>
          <a:prstGeom prst="rect">
            <a:avLst/>
          </a:prstGeom>
          <a:noFill/>
          <a:ln>
            <a:noFill/>
          </a:ln>
        </p:spPr>
      </p:pic>
      <p:pic>
        <p:nvPicPr>
          <p:cNvPr id="192" name="Google Shape;192;g35ed7b02e5a_2_70"/>
          <p:cNvPicPr preferRelativeResize="0"/>
          <p:nvPr/>
        </p:nvPicPr>
        <p:blipFill rotWithShape="1">
          <a:blip r:embed="rId5">
            <a:alphaModFix/>
          </a:blip>
          <a:srcRect b="0" l="0" r="0" t="0"/>
          <a:stretch/>
        </p:blipFill>
        <p:spPr>
          <a:xfrm>
            <a:off x="13094325" y="5173295"/>
            <a:ext cx="2857500" cy="2857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196" name="Shape 196"/>
        <p:cNvGrpSpPr/>
        <p:nvPr/>
      </p:nvGrpSpPr>
      <p:grpSpPr>
        <a:xfrm>
          <a:off x="0" y="0"/>
          <a:ext cx="0" cy="0"/>
          <a:chOff x="0" y="0"/>
          <a:chExt cx="0" cy="0"/>
        </a:xfrm>
      </p:grpSpPr>
      <p:grpSp>
        <p:nvGrpSpPr>
          <p:cNvPr id="197" name="Google Shape;197;g35ed7b02e5a_2_81"/>
          <p:cNvGrpSpPr/>
          <p:nvPr/>
        </p:nvGrpSpPr>
        <p:grpSpPr>
          <a:xfrm>
            <a:off x="-584625" y="403704"/>
            <a:ext cx="19457594" cy="3857628"/>
            <a:chOff x="0" y="-76200"/>
            <a:chExt cx="5124600" cy="536400"/>
          </a:xfrm>
        </p:grpSpPr>
        <p:sp>
          <p:nvSpPr>
            <p:cNvPr id="198" name="Google Shape;198;g35ed7b02e5a_2_81"/>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199" name="Google Shape;199;g35ed7b02e5a_2_81"/>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0" name="Google Shape;200;g35ed7b02e5a_2_81"/>
          <p:cNvSpPr txBox="1"/>
          <p:nvPr/>
        </p:nvSpPr>
        <p:spPr>
          <a:xfrm>
            <a:off x="343900" y="758325"/>
            <a:ext cx="18062100" cy="3407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Frameworks de Machine Learning</a:t>
            </a:r>
            <a:endParaRPr b="0" i="0" sz="1400" u="none" cap="none" strike="noStrike">
              <a:solidFill>
                <a:srgbClr val="000000"/>
              </a:solidFill>
              <a:latin typeface="Arial"/>
              <a:ea typeface="Arial"/>
              <a:cs typeface="Arial"/>
              <a:sym typeface="Arial"/>
            </a:endParaRPr>
          </a:p>
        </p:txBody>
      </p:sp>
      <p:sp>
        <p:nvSpPr>
          <p:cNvPr id="201" name="Google Shape;201;g35ed7b02e5a_2_81"/>
          <p:cNvSpPr txBox="1"/>
          <p:nvPr/>
        </p:nvSpPr>
        <p:spPr>
          <a:xfrm>
            <a:off x="879175" y="4823295"/>
            <a:ext cx="16230600" cy="10947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Estos frameworks se utilizan para desarrollar modelos de aprendizaje automático y aplicaciones de inteligencia artificial.</a:t>
            </a:r>
            <a:endParaRPr b="0" i="0" sz="1400" u="none" cap="none" strike="noStrike">
              <a:solidFill>
                <a:srgbClr val="000000"/>
              </a:solidFill>
              <a:latin typeface="Arial"/>
              <a:ea typeface="Arial"/>
              <a:cs typeface="Arial"/>
              <a:sym typeface="Arial"/>
            </a:endParaRPr>
          </a:p>
        </p:txBody>
      </p:sp>
      <p:pic>
        <p:nvPicPr>
          <p:cNvPr id="202" name="Google Shape;202;g35ed7b02e5a_2_81"/>
          <p:cNvPicPr preferRelativeResize="0"/>
          <p:nvPr/>
        </p:nvPicPr>
        <p:blipFill rotWithShape="1">
          <a:blip r:embed="rId3">
            <a:alphaModFix/>
          </a:blip>
          <a:srcRect b="0" l="0" r="0" t="0"/>
          <a:stretch/>
        </p:blipFill>
        <p:spPr>
          <a:xfrm>
            <a:off x="2574600" y="6222795"/>
            <a:ext cx="4877046" cy="4064205"/>
          </a:xfrm>
          <a:prstGeom prst="rect">
            <a:avLst/>
          </a:prstGeom>
          <a:noFill/>
          <a:ln>
            <a:noFill/>
          </a:ln>
        </p:spPr>
      </p:pic>
      <p:pic>
        <p:nvPicPr>
          <p:cNvPr id="203" name="Google Shape;203;g35ed7b02e5a_2_81"/>
          <p:cNvPicPr preferRelativeResize="0"/>
          <p:nvPr/>
        </p:nvPicPr>
        <p:blipFill rotWithShape="1">
          <a:blip r:embed="rId4">
            <a:alphaModFix/>
          </a:blip>
          <a:srcRect b="0" l="0" r="0" t="0"/>
          <a:stretch/>
        </p:blipFill>
        <p:spPr>
          <a:xfrm>
            <a:off x="11013121" y="7035695"/>
            <a:ext cx="4876800" cy="2438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207" name="Shape 207"/>
        <p:cNvGrpSpPr/>
        <p:nvPr/>
      </p:nvGrpSpPr>
      <p:grpSpPr>
        <a:xfrm>
          <a:off x="0" y="0"/>
          <a:ext cx="0" cy="0"/>
          <a:chOff x="0" y="0"/>
          <a:chExt cx="0" cy="0"/>
        </a:xfrm>
      </p:grpSpPr>
      <p:grpSp>
        <p:nvGrpSpPr>
          <p:cNvPr id="208" name="Google Shape;208;g35ed7b02e5a_2_91"/>
          <p:cNvGrpSpPr/>
          <p:nvPr/>
        </p:nvGrpSpPr>
        <p:grpSpPr>
          <a:xfrm>
            <a:off x="-584625" y="403704"/>
            <a:ext cx="19457594" cy="3857628"/>
            <a:chOff x="0" y="-76200"/>
            <a:chExt cx="5124600" cy="536400"/>
          </a:xfrm>
        </p:grpSpPr>
        <p:sp>
          <p:nvSpPr>
            <p:cNvPr id="209" name="Google Shape;209;g35ed7b02e5a_2_91"/>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210" name="Google Shape;210;g35ed7b02e5a_2_91"/>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1" name="Google Shape;211;g35ed7b02e5a_2_91"/>
          <p:cNvSpPr txBox="1"/>
          <p:nvPr/>
        </p:nvSpPr>
        <p:spPr>
          <a:xfrm>
            <a:off x="343900" y="758325"/>
            <a:ext cx="18062100" cy="3407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FDFDFD"/>
                </a:solidFill>
                <a:latin typeface="Poppins"/>
                <a:ea typeface="Poppins"/>
                <a:cs typeface="Poppins"/>
                <a:sym typeface="Poppins"/>
              </a:rPr>
              <a:t>Frameworks de Desarrollo de Juegos</a:t>
            </a:r>
            <a:endParaRPr b="0" i="0" sz="1400" u="none" cap="none" strike="noStrike">
              <a:solidFill>
                <a:srgbClr val="000000"/>
              </a:solidFill>
              <a:latin typeface="Arial"/>
              <a:ea typeface="Arial"/>
              <a:cs typeface="Arial"/>
              <a:sym typeface="Arial"/>
            </a:endParaRPr>
          </a:p>
        </p:txBody>
      </p:sp>
      <p:sp>
        <p:nvSpPr>
          <p:cNvPr id="212" name="Google Shape;212;g35ed7b02e5a_2_91"/>
          <p:cNvSpPr txBox="1"/>
          <p:nvPr/>
        </p:nvSpPr>
        <p:spPr>
          <a:xfrm>
            <a:off x="879175" y="4823295"/>
            <a:ext cx="16230600" cy="1094700"/>
          </a:xfrm>
          <a:prstGeom prst="rect">
            <a:avLst/>
          </a:prstGeom>
          <a:noFill/>
          <a:ln>
            <a:noFill/>
          </a:ln>
        </p:spPr>
        <p:txBody>
          <a:bodyPr anchorCtr="0" anchor="t" bIns="0" lIns="0" spcFirstLastPara="1" rIns="0" wrap="square" tIns="0">
            <a:spAutoFit/>
          </a:bodyPr>
          <a:lstStyle/>
          <a:p>
            <a:pPr indent="0" lvl="0" marL="0" marR="0" rtl="0" algn="ctr">
              <a:lnSpc>
                <a:spcPct val="140027"/>
              </a:lnSpc>
              <a:spcBef>
                <a:spcPts val="0"/>
              </a:spcBef>
              <a:spcAft>
                <a:spcPts val="0"/>
              </a:spcAft>
              <a:buClr>
                <a:srgbClr val="000000"/>
              </a:buClr>
              <a:buSzPts val="2963"/>
              <a:buFont typeface="Arial"/>
              <a:buNone/>
            </a:pPr>
            <a:r>
              <a:rPr b="0" i="0" lang="en-US" sz="2963" u="none" cap="none" strike="noStrike">
                <a:solidFill>
                  <a:srgbClr val="013362"/>
                </a:solidFill>
                <a:latin typeface="Poppins Light"/>
                <a:ea typeface="Poppins Light"/>
                <a:cs typeface="Poppins Light"/>
                <a:sym typeface="Poppins Light"/>
              </a:rPr>
              <a:t>Estos frameworks proporcionan las herramientas necesarias para desarrollar videojuegos.</a:t>
            </a:r>
            <a:endParaRPr b="0" i="0" sz="1400" u="none" cap="none" strike="noStrike">
              <a:solidFill>
                <a:srgbClr val="000000"/>
              </a:solidFill>
              <a:latin typeface="Arial"/>
              <a:ea typeface="Arial"/>
              <a:cs typeface="Arial"/>
              <a:sym typeface="Arial"/>
            </a:endParaRPr>
          </a:p>
        </p:txBody>
      </p:sp>
      <p:pic>
        <p:nvPicPr>
          <p:cNvPr id="213" name="Google Shape;213;g35ed7b02e5a_2_91"/>
          <p:cNvPicPr preferRelativeResize="0"/>
          <p:nvPr/>
        </p:nvPicPr>
        <p:blipFill rotWithShape="1">
          <a:blip r:embed="rId3">
            <a:alphaModFix/>
          </a:blip>
          <a:srcRect b="0" l="0" r="0" t="0"/>
          <a:stretch/>
        </p:blipFill>
        <p:spPr>
          <a:xfrm>
            <a:off x="2081225" y="6803173"/>
            <a:ext cx="6152300" cy="2264050"/>
          </a:xfrm>
          <a:prstGeom prst="rect">
            <a:avLst/>
          </a:prstGeom>
          <a:noFill/>
          <a:ln>
            <a:noFill/>
          </a:ln>
        </p:spPr>
      </p:pic>
      <p:pic>
        <p:nvPicPr>
          <p:cNvPr id="214" name="Google Shape;214;g35ed7b02e5a_2_91"/>
          <p:cNvPicPr preferRelativeResize="0"/>
          <p:nvPr/>
        </p:nvPicPr>
        <p:blipFill rotWithShape="1">
          <a:blip r:embed="rId4">
            <a:alphaModFix/>
          </a:blip>
          <a:srcRect b="0" l="0" r="0" t="0"/>
          <a:stretch/>
        </p:blipFill>
        <p:spPr>
          <a:xfrm>
            <a:off x="11122125" y="5918005"/>
            <a:ext cx="4338250" cy="3712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3362"/>
        </a:solidFill>
      </p:bgPr>
    </p:bg>
    <p:spTree>
      <p:nvGrpSpPr>
        <p:cNvPr id="218" name="Shape 218"/>
        <p:cNvGrpSpPr/>
        <p:nvPr/>
      </p:nvGrpSpPr>
      <p:grpSpPr>
        <a:xfrm>
          <a:off x="0" y="0"/>
          <a:ext cx="0" cy="0"/>
          <a:chOff x="0" y="0"/>
          <a:chExt cx="0" cy="0"/>
        </a:xfrm>
      </p:grpSpPr>
      <p:grpSp>
        <p:nvGrpSpPr>
          <p:cNvPr id="219" name="Google Shape;219;g35ed7b02e5a_2_101"/>
          <p:cNvGrpSpPr/>
          <p:nvPr/>
        </p:nvGrpSpPr>
        <p:grpSpPr>
          <a:xfrm>
            <a:off x="314000" y="-388749"/>
            <a:ext cx="17763401" cy="3893781"/>
            <a:chOff x="0" y="-76200"/>
            <a:chExt cx="5124600" cy="536400"/>
          </a:xfrm>
        </p:grpSpPr>
        <p:sp>
          <p:nvSpPr>
            <p:cNvPr id="220" name="Google Shape;220;g35ed7b02e5a_2_101"/>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FDFDFD"/>
            </a:solidFill>
            <a:ln>
              <a:noFill/>
            </a:ln>
          </p:spPr>
        </p:sp>
        <p:sp>
          <p:nvSpPr>
            <p:cNvPr id="221" name="Google Shape;221;g35ed7b02e5a_2_101"/>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2" name="Google Shape;222;g35ed7b02e5a_2_101"/>
          <p:cNvGrpSpPr/>
          <p:nvPr/>
        </p:nvGrpSpPr>
        <p:grpSpPr>
          <a:xfrm>
            <a:off x="3522939" y="3884518"/>
            <a:ext cx="1422563" cy="1422563"/>
            <a:chOff x="0" y="0"/>
            <a:chExt cx="812800" cy="812800"/>
          </a:xfrm>
        </p:grpSpPr>
        <p:sp>
          <p:nvSpPr>
            <p:cNvPr id="223" name="Google Shape;223;g35ed7b02e5a_2_10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362"/>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g35ed7b02e5a_2_101"/>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5" name="Google Shape;225;g35ed7b02e5a_2_101"/>
          <p:cNvGrpSpPr/>
          <p:nvPr/>
        </p:nvGrpSpPr>
        <p:grpSpPr>
          <a:xfrm>
            <a:off x="6834702" y="3884518"/>
            <a:ext cx="1422563" cy="1422563"/>
            <a:chOff x="0" y="0"/>
            <a:chExt cx="812800" cy="812800"/>
          </a:xfrm>
        </p:grpSpPr>
        <p:sp>
          <p:nvSpPr>
            <p:cNvPr id="226" name="Google Shape;226;g35ed7b02e5a_2_10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362"/>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g35ed7b02e5a_2_101"/>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8" name="Google Shape;228;g35ed7b02e5a_2_101"/>
          <p:cNvGrpSpPr/>
          <p:nvPr/>
        </p:nvGrpSpPr>
        <p:grpSpPr>
          <a:xfrm>
            <a:off x="10148507" y="3884518"/>
            <a:ext cx="1422563" cy="1422563"/>
            <a:chOff x="0" y="0"/>
            <a:chExt cx="812800" cy="812800"/>
          </a:xfrm>
        </p:grpSpPr>
        <p:sp>
          <p:nvSpPr>
            <p:cNvPr id="229" name="Google Shape;229;g35ed7b02e5a_2_10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362"/>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g35ed7b02e5a_2_101"/>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1" name="Google Shape;231;g35ed7b02e5a_2_101"/>
          <p:cNvGrpSpPr/>
          <p:nvPr/>
        </p:nvGrpSpPr>
        <p:grpSpPr>
          <a:xfrm>
            <a:off x="13455620" y="3884518"/>
            <a:ext cx="1422563" cy="1422563"/>
            <a:chOff x="0" y="0"/>
            <a:chExt cx="812800" cy="812800"/>
          </a:xfrm>
        </p:grpSpPr>
        <p:sp>
          <p:nvSpPr>
            <p:cNvPr id="232" name="Google Shape;232;g35ed7b02e5a_2_10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3362"/>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g35ed7b02e5a_2_101"/>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4" name="Google Shape;234;g35ed7b02e5a_2_101"/>
          <p:cNvSpPr txBox="1"/>
          <p:nvPr/>
        </p:nvSpPr>
        <p:spPr>
          <a:xfrm>
            <a:off x="909173" y="10"/>
            <a:ext cx="16230600" cy="3387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9170"/>
              <a:buFont typeface="Arial"/>
              <a:buNone/>
            </a:pPr>
            <a:r>
              <a:rPr b="1" i="0" lang="en-US" sz="9170" u="none" cap="none" strike="noStrike">
                <a:solidFill>
                  <a:srgbClr val="013362"/>
                </a:solidFill>
                <a:latin typeface="Poppins"/>
                <a:ea typeface="Poppins"/>
                <a:cs typeface="Poppins"/>
                <a:sym typeface="Poppins"/>
              </a:rPr>
              <a:t>Características de los frameworks</a:t>
            </a:r>
            <a:endParaRPr b="0" i="0" sz="1400" u="none" cap="none" strike="noStrike">
              <a:solidFill>
                <a:srgbClr val="000000"/>
              </a:solidFill>
              <a:latin typeface="Arial"/>
              <a:ea typeface="Arial"/>
              <a:cs typeface="Arial"/>
              <a:sym typeface="Arial"/>
            </a:endParaRPr>
          </a:p>
        </p:txBody>
      </p:sp>
      <p:sp>
        <p:nvSpPr>
          <p:cNvPr id="235" name="Google Shape;235;g35ed7b02e5a_2_101"/>
          <p:cNvSpPr txBox="1"/>
          <p:nvPr/>
        </p:nvSpPr>
        <p:spPr>
          <a:xfrm>
            <a:off x="2979915" y="6149699"/>
            <a:ext cx="2508600" cy="272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70"/>
              <a:buFont typeface="Arial"/>
              <a:buNone/>
            </a:pPr>
            <a:r>
              <a:rPr b="1" i="0" lang="en-US" sz="1770" u="none" cap="none" strike="noStrike">
                <a:solidFill>
                  <a:srgbClr val="FFFFFF"/>
                </a:solidFill>
                <a:latin typeface="Poppins"/>
                <a:ea typeface="Poppins"/>
                <a:cs typeface="Poppins"/>
                <a:sym typeface="Poppins"/>
              </a:rPr>
              <a:t>Modularidad</a:t>
            </a:r>
            <a:endParaRPr b="0" i="0" sz="1400" u="none" cap="none" strike="noStrike">
              <a:solidFill>
                <a:srgbClr val="000000"/>
              </a:solidFill>
              <a:latin typeface="Arial"/>
              <a:ea typeface="Arial"/>
              <a:cs typeface="Arial"/>
              <a:sym typeface="Arial"/>
            </a:endParaRPr>
          </a:p>
        </p:txBody>
      </p:sp>
      <p:sp>
        <p:nvSpPr>
          <p:cNvPr id="236" name="Google Shape;236;g35ed7b02e5a_2_101"/>
          <p:cNvSpPr txBox="1"/>
          <p:nvPr/>
        </p:nvSpPr>
        <p:spPr>
          <a:xfrm>
            <a:off x="6157880" y="6149699"/>
            <a:ext cx="2776200" cy="272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70"/>
              <a:buFont typeface="Arial"/>
              <a:buNone/>
            </a:pPr>
            <a:r>
              <a:rPr b="1" i="0" lang="en-US" sz="1770" u="none" cap="none" strike="noStrike">
                <a:solidFill>
                  <a:srgbClr val="FFFFFF"/>
                </a:solidFill>
                <a:latin typeface="Poppins"/>
                <a:ea typeface="Poppins"/>
                <a:cs typeface="Poppins"/>
                <a:sym typeface="Poppins"/>
              </a:rPr>
              <a:t>Inversión de control</a:t>
            </a:r>
            <a:endParaRPr b="0" i="0" sz="1400" u="none" cap="none" strike="noStrike">
              <a:solidFill>
                <a:srgbClr val="000000"/>
              </a:solidFill>
              <a:latin typeface="Arial"/>
              <a:ea typeface="Arial"/>
              <a:cs typeface="Arial"/>
              <a:sym typeface="Arial"/>
            </a:endParaRPr>
          </a:p>
        </p:txBody>
      </p:sp>
      <p:sp>
        <p:nvSpPr>
          <p:cNvPr id="237" name="Google Shape;237;g35ed7b02e5a_2_101"/>
          <p:cNvSpPr txBox="1"/>
          <p:nvPr/>
        </p:nvSpPr>
        <p:spPr>
          <a:xfrm>
            <a:off x="9718585" y="6149699"/>
            <a:ext cx="2282400" cy="272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70"/>
              <a:buFont typeface="Arial"/>
              <a:buNone/>
            </a:pPr>
            <a:r>
              <a:rPr b="1" i="0" lang="en-US" sz="1770" u="none" cap="none" strike="noStrike">
                <a:solidFill>
                  <a:srgbClr val="FFFFFF"/>
                </a:solidFill>
                <a:latin typeface="Poppins"/>
                <a:ea typeface="Poppins"/>
                <a:cs typeface="Poppins"/>
                <a:sym typeface="Poppins"/>
              </a:rPr>
              <a:t>Extensibilidad</a:t>
            </a:r>
            <a:endParaRPr b="0" i="0" sz="1400" u="none" cap="none" strike="noStrike">
              <a:solidFill>
                <a:srgbClr val="000000"/>
              </a:solidFill>
              <a:latin typeface="Arial"/>
              <a:ea typeface="Arial"/>
              <a:cs typeface="Arial"/>
              <a:sym typeface="Arial"/>
            </a:endParaRPr>
          </a:p>
        </p:txBody>
      </p:sp>
      <p:sp>
        <p:nvSpPr>
          <p:cNvPr id="238" name="Google Shape;238;g35ed7b02e5a_2_101"/>
          <p:cNvSpPr txBox="1"/>
          <p:nvPr/>
        </p:nvSpPr>
        <p:spPr>
          <a:xfrm>
            <a:off x="13025711" y="5855212"/>
            <a:ext cx="2282400" cy="654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chemeClr val="dk1"/>
              </a:buClr>
              <a:buSzPts val="1770"/>
              <a:buFont typeface="Arial"/>
              <a:buNone/>
            </a:pPr>
            <a:r>
              <a:rPr b="1" i="0" lang="en-US" sz="1770" u="none" cap="none" strike="noStrike">
                <a:solidFill>
                  <a:schemeClr val="lt1"/>
                </a:solidFill>
                <a:latin typeface="Poppins"/>
                <a:ea typeface="Poppins"/>
                <a:cs typeface="Poppins"/>
                <a:sym typeface="Poppins"/>
              </a:rPr>
              <a:t>Integración de herramientas</a:t>
            </a:r>
            <a:endParaRPr b="0" i="0" sz="1400" u="none" cap="none" strike="noStrike">
              <a:solidFill>
                <a:srgbClr val="000000"/>
              </a:solidFill>
              <a:latin typeface="Arial"/>
              <a:ea typeface="Arial"/>
              <a:cs typeface="Arial"/>
              <a:sym typeface="Arial"/>
            </a:endParaRPr>
          </a:p>
        </p:txBody>
      </p:sp>
      <p:sp>
        <p:nvSpPr>
          <p:cNvPr id="239" name="Google Shape;239;g35ed7b02e5a_2_101"/>
          <p:cNvSpPr txBox="1"/>
          <p:nvPr/>
        </p:nvSpPr>
        <p:spPr>
          <a:xfrm>
            <a:off x="3914110" y="4067634"/>
            <a:ext cx="640200" cy="778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5060"/>
              <a:buFont typeface="Arial"/>
              <a:buNone/>
            </a:pPr>
            <a:r>
              <a:rPr b="1" i="0" lang="en-US" sz="5060" u="none" cap="none" strike="noStrike">
                <a:solidFill>
                  <a:srgbClr val="FFFFFF"/>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240" name="Google Shape;240;g35ed7b02e5a_2_101"/>
          <p:cNvSpPr txBox="1"/>
          <p:nvPr/>
        </p:nvSpPr>
        <p:spPr>
          <a:xfrm>
            <a:off x="7225872" y="4067634"/>
            <a:ext cx="640200" cy="778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5060"/>
              <a:buFont typeface="Arial"/>
              <a:buNone/>
            </a:pPr>
            <a:r>
              <a:rPr b="1" i="0" lang="en-US" sz="5060" u="none" cap="none" strike="noStrike">
                <a:solidFill>
                  <a:srgbClr val="FFFFFF"/>
                </a:solidFill>
                <a:latin typeface="Poppins"/>
                <a:ea typeface="Poppins"/>
                <a:cs typeface="Poppins"/>
                <a:sym typeface="Poppins"/>
              </a:rPr>
              <a:t>2</a:t>
            </a:r>
            <a:endParaRPr b="0" i="0" sz="1400" u="none" cap="none" strike="noStrike">
              <a:solidFill>
                <a:srgbClr val="000000"/>
              </a:solidFill>
              <a:latin typeface="Arial"/>
              <a:ea typeface="Arial"/>
              <a:cs typeface="Arial"/>
              <a:sym typeface="Arial"/>
            </a:endParaRPr>
          </a:p>
        </p:txBody>
      </p:sp>
      <p:sp>
        <p:nvSpPr>
          <p:cNvPr id="241" name="Google Shape;241;g35ed7b02e5a_2_101"/>
          <p:cNvSpPr txBox="1"/>
          <p:nvPr/>
        </p:nvSpPr>
        <p:spPr>
          <a:xfrm>
            <a:off x="10539676" y="4067634"/>
            <a:ext cx="640200" cy="778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5060"/>
              <a:buFont typeface="Arial"/>
              <a:buNone/>
            </a:pPr>
            <a:r>
              <a:rPr b="1" i="0" lang="en-US" sz="5060" u="none" cap="none" strike="noStrike">
                <a:solidFill>
                  <a:srgbClr val="FFFFFF"/>
                </a:solidFill>
                <a:latin typeface="Poppins"/>
                <a:ea typeface="Poppins"/>
                <a:cs typeface="Poppins"/>
                <a:sym typeface="Poppins"/>
              </a:rPr>
              <a:t>3</a:t>
            </a:r>
            <a:endParaRPr b="0" i="0" sz="1400" u="none" cap="none" strike="noStrike">
              <a:solidFill>
                <a:srgbClr val="000000"/>
              </a:solidFill>
              <a:latin typeface="Arial"/>
              <a:ea typeface="Arial"/>
              <a:cs typeface="Arial"/>
              <a:sym typeface="Arial"/>
            </a:endParaRPr>
          </a:p>
        </p:txBody>
      </p:sp>
      <p:sp>
        <p:nvSpPr>
          <p:cNvPr id="242" name="Google Shape;242;g35ed7b02e5a_2_101"/>
          <p:cNvSpPr txBox="1"/>
          <p:nvPr/>
        </p:nvSpPr>
        <p:spPr>
          <a:xfrm>
            <a:off x="13846789" y="4067634"/>
            <a:ext cx="640200" cy="7788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5060"/>
              <a:buFont typeface="Arial"/>
              <a:buNone/>
            </a:pPr>
            <a:r>
              <a:rPr b="1" i="0" lang="en-US" sz="5060" u="none" cap="none" strike="noStrike">
                <a:solidFill>
                  <a:srgbClr val="FFFFFF"/>
                </a:solidFill>
                <a:latin typeface="Poppins"/>
                <a:ea typeface="Poppins"/>
                <a:cs typeface="Poppins"/>
                <a:sym typeface="Poppins"/>
              </a:rPr>
              <a:t>4</a:t>
            </a:r>
            <a:endParaRPr b="0" i="0" sz="1400" u="none" cap="none" strike="noStrike">
              <a:solidFill>
                <a:srgbClr val="000000"/>
              </a:solidFill>
              <a:latin typeface="Arial"/>
              <a:ea typeface="Arial"/>
              <a:cs typeface="Arial"/>
              <a:sym typeface="Arial"/>
            </a:endParaRPr>
          </a:p>
        </p:txBody>
      </p:sp>
      <p:pic>
        <p:nvPicPr>
          <p:cNvPr id="243" name="Google Shape;243;g35ed7b02e5a_2_101"/>
          <p:cNvPicPr preferRelativeResize="0"/>
          <p:nvPr/>
        </p:nvPicPr>
        <p:blipFill rotWithShape="1">
          <a:blip r:embed="rId3">
            <a:alphaModFix/>
          </a:blip>
          <a:srcRect b="0" l="0" r="0" t="0"/>
          <a:stretch/>
        </p:blipFill>
        <p:spPr>
          <a:xfrm>
            <a:off x="3144150" y="6668600"/>
            <a:ext cx="2180125" cy="2180125"/>
          </a:xfrm>
          <a:prstGeom prst="rect">
            <a:avLst/>
          </a:prstGeom>
          <a:noFill/>
          <a:ln>
            <a:noFill/>
          </a:ln>
        </p:spPr>
      </p:pic>
      <p:pic>
        <p:nvPicPr>
          <p:cNvPr id="244" name="Google Shape;244;g35ed7b02e5a_2_101"/>
          <p:cNvPicPr preferRelativeResize="0"/>
          <p:nvPr/>
        </p:nvPicPr>
        <p:blipFill rotWithShape="1">
          <a:blip r:embed="rId4">
            <a:alphaModFix/>
          </a:blip>
          <a:srcRect b="0" l="0" r="0" t="0"/>
          <a:stretch/>
        </p:blipFill>
        <p:spPr>
          <a:xfrm>
            <a:off x="6563038" y="6979525"/>
            <a:ext cx="1965900" cy="1965900"/>
          </a:xfrm>
          <a:prstGeom prst="rect">
            <a:avLst/>
          </a:prstGeom>
          <a:noFill/>
          <a:ln>
            <a:noFill/>
          </a:ln>
        </p:spPr>
      </p:pic>
      <p:pic>
        <p:nvPicPr>
          <p:cNvPr id="245" name="Google Shape;245;g35ed7b02e5a_2_101"/>
          <p:cNvPicPr preferRelativeResize="0"/>
          <p:nvPr/>
        </p:nvPicPr>
        <p:blipFill rotWithShape="1">
          <a:blip r:embed="rId5">
            <a:alphaModFix/>
          </a:blip>
          <a:srcRect b="0" l="0" r="0" t="0"/>
          <a:stretch/>
        </p:blipFill>
        <p:spPr>
          <a:xfrm>
            <a:off x="9687250" y="6803700"/>
            <a:ext cx="2180125" cy="2180125"/>
          </a:xfrm>
          <a:prstGeom prst="rect">
            <a:avLst/>
          </a:prstGeom>
          <a:noFill/>
          <a:ln>
            <a:noFill/>
          </a:ln>
        </p:spPr>
      </p:pic>
      <p:pic>
        <p:nvPicPr>
          <p:cNvPr id="246" name="Google Shape;246;g35ed7b02e5a_2_101"/>
          <p:cNvPicPr preferRelativeResize="0"/>
          <p:nvPr/>
        </p:nvPicPr>
        <p:blipFill rotWithShape="1">
          <a:blip r:embed="rId6">
            <a:alphaModFix/>
          </a:blip>
          <a:srcRect b="0" l="0" r="0" t="0"/>
          <a:stretch/>
        </p:blipFill>
        <p:spPr>
          <a:xfrm>
            <a:off x="13235050" y="6803700"/>
            <a:ext cx="2180125" cy="2180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3362"/>
        </a:solidFill>
      </p:bgPr>
    </p:bg>
    <p:spTree>
      <p:nvGrpSpPr>
        <p:cNvPr id="250" name="Shape 250"/>
        <p:cNvGrpSpPr/>
        <p:nvPr/>
      </p:nvGrpSpPr>
      <p:grpSpPr>
        <a:xfrm>
          <a:off x="0" y="0"/>
          <a:ext cx="0" cy="0"/>
          <a:chOff x="0" y="0"/>
          <a:chExt cx="0" cy="0"/>
        </a:xfrm>
      </p:grpSpPr>
      <p:grpSp>
        <p:nvGrpSpPr>
          <p:cNvPr id="251" name="Google Shape;251;g35ed7b02e5a_2_132"/>
          <p:cNvGrpSpPr/>
          <p:nvPr/>
        </p:nvGrpSpPr>
        <p:grpSpPr>
          <a:xfrm>
            <a:off x="482825" y="574150"/>
            <a:ext cx="17551243" cy="3980732"/>
            <a:chOff x="0" y="-76200"/>
            <a:chExt cx="5124600" cy="536400"/>
          </a:xfrm>
        </p:grpSpPr>
        <p:sp>
          <p:nvSpPr>
            <p:cNvPr id="252" name="Google Shape;252;g35ed7b02e5a_2_132"/>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FDFDFD"/>
            </a:solidFill>
            <a:ln>
              <a:noFill/>
            </a:ln>
          </p:spPr>
        </p:sp>
        <p:sp>
          <p:nvSpPr>
            <p:cNvPr id="253" name="Google Shape;253;g35ed7b02e5a_2_132"/>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4" name="Google Shape;254;g35ed7b02e5a_2_132"/>
          <p:cNvGrpSpPr/>
          <p:nvPr/>
        </p:nvGrpSpPr>
        <p:grpSpPr>
          <a:xfrm>
            <a:off x="722025" y="6223068"/>
            <a:ext cx="2955835" cy="3314988"/>
            <a:chOff x="0" y="-76200"/>
            <a:chExt cx="977168" cy="1095900"/>
          </a:xfrm>
        </p:grpSpPr>
        <p:sp>
          <p:nvSpPr>
            <p:cNvPr id="255" name="Google Shape;255;g35ed7b02e5a_2_132"/>
            <p:cNvSpPr/>
            <p:nvPr/>
          </p:nvSpPr>
          <p:spPr>
            <a:xfrm>
              <a:off x="0" y="0"/>
              <a:ext cx="977168" cy="1019574"/>
            </a:xfrm>
            <a:custGeom>
              <a:rect b="b" l="l" r="r" t="t"/>
              <a:pathLst>
                <a:path extrusionOk="0" h="1019574" w="977168">
                  <a:moveTo>
                    <a:pt x="0" y="0"/>
                  </a:moveTo>
                  <a:lnTo>
                    <a:pt x="977168" y="0"/>
                  </a:lnTo>
                  <a:lnTo>
                    <a:pt x="977168" y="1019574"/>
                  </a:lnTo>
                  <a:lnTo>
                    <a:pt x="0" y="1019574"/>
                  </a:lnTo>
                  <a:close/>
                </a:path>
              </a:pathLst>
            </a:custGeom>
            <a:solidFill>
              <a:srgbClr val="8AA9F9"/>
            </a:solidFill>
            <a:ln>
              <a:noFill/>
            </a:ln>
          </p:spPr>
        </p:sp>
        <p:sp>
          <p:nvSpPr>
            <p:cNvPr id="256" name="Google Shape;256;g35ed7b02e5a_2_132"/>
            <p:cNvSpPr txBox="1"/>
            <p:nvPr/>
          </p:nvSpPr>
          <p:spPr>
            <a:xfrm>
              <a:off x="0" y="-76200"/>
              <a:ext cx="977100" cy="10959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7" name="Google Shape;257;g35ed7b02e5a_2_132"/>
          <p:cNvGrpSpPr/>
          <p:nvPr/>
        </p:nvGrpSpPr>
        <p:grpSpPr>
          <a:xfrm>
            <a:off x="4040640" y="6223068"/>
            <a:ext cx="2955835" cy="3314988"/>
            <a:chOff x="0" y="-76200"/>
            <a:chExt cx="977168" cy="1095900"/>
          </a:xfrm>
        </p:grpSpPr>
        <p:sp>
          <p:nvSpPr>
            <p:cNvPr id="258" name="Google Shape;258;g35ed7b02e5a_2_132"/>
            <p:cNvSpPr/>
            <p:nvPr/>
          </p:nvSpPr>
          <p:spPr>
            <a:xfrm>
              <a:off x="0" y="0"/>
              <a:ext cx="977168" cy="1019574"/>
            </a:xfrm>
            <a:custGeom>
              <a:rect b="b" l="l" r="r" t="t"/>
              <a:pathLst>
                <a:path extrusionOk="0" h="1019574" w="977168">
                  <a:moveTo>
                    <a:pt x="0" y="0"/>
                  </a:moveTo>
                  <a:lnTo>
                    <a:pt x="977168" y="0"/>
                  </a:lnTo>
                  <a:lnTo>
                    <a:pt x="977168" y="1019574"/>
                  </a:lnTo>
                  <a:lnTo>
                    <a:pt x="0" y="1019574"/>
                  </a:lnTo>
                  <a:close/>
                </a:path>
              </a:pathLst>
            </a:custGeom>
            <a:solidFill>
              <a:srgbClr val="8AA9F9"/>
            </a:solidFill>
            <a:ln>
              <a:noFill/>
            </a:ln>
          </p:spPr>
        </p:sp>
        <p:sp>
          <p:nvSpPr>
            <p:cNvPr id="259" name="Google Shape;259;g35ed7b02e5a_2_132"/>
            <p:cNvSpPr txBox="1"/>
            <p:nvPr/>
          </p:nvSpPr>
          <p:spPr>
            <a:xfrm>
              <a:off x="0" y="-76200"/>
              <a:ext cx="977100" cy="10959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0" name="Google Shape;260;g35ed7b02e5a_2_132"/>
          <p:cNvGrpSpPr/>
          <p:nvPr/>
        </p:nvGrpSpPr>
        <p:grpSpPr>
          <a:xfrm>
            <a:off x="7360773" y="6223068"/>
            <a:ext cx="2955835" cy="3314988"/>
            <a:chOff x="0" y="-76200"/>
            <a:chExt cx="977168" cy="1095900"/>
          </a:xfrm>
        </p:grpSpPr>
        <p:sp>
          <p:nvSpPr>
            <p:cNvPr id="261" name="Google Shape;261;g35ed7b02e5a_2_132"/>
            <p:cNvSpPr/>
            <p:nvPr/>
          </p:nvSpPr>
          <p:spPr>
            <a:xfrm>
              <a:off x="0" y="0"/>
              <a:ext cx="977168" cy="1019574"/>
            </a:xfrm>
            <a:custGeom>
              <a:rect b="b" l="l" r="r" t="t"/>
              <a:pathLst>
                <a:path extrusionOk="0" h="1019574" w="977168">
                  <a:moveTo>
                    <a:pt x="0" y="0"/>
                  </a:moveTo>
                  <a:lnTo>
                    <a:pt x="977168" y="0"/>
                  </a:lnTo>
                  <a:lnTo>
                    <a:pt x="977168" y="1019574"/>
                  </a:lnTo>
                  <a:lnTo>
                    <a:pt x="0" y="1019574"/>
                  </a:lnTo>
                  <a:close/>
                </a:path>
              </a:pathLst>
            </a:custGeom>
            <a:solidFill>
              <a:srgbClr val="8AA9F9"/>
            </a:solidFill>
            <a:ln>
              <a:noFill/>
            </a:ln>
          </p:spPr>
        </p:sp>
        <p:sp>
          <p:nvSpPr>
            <p:cNvPr id="262" name="Google Shape;262;g35ed7b02e5a_2_132"/>
            <p:cNvSpPr txBox="1"/>
            <p:nvPr/>
          </p:nvSpPr>
          <p:spPr>
            <a:xfrm>
              <a:off x="0" y="-76200"/>
              <a:ext cx="977100" cy="10959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3" name="Google Shape;263;g35ed7b02e5a_2_132"/>
          <p:cNvGrpSpPr/>
          <p:nvPr/>
        </p:nvGrpSpPr>
        <p:grpSpPr>
          <a:xfrm>
            <a:off x="10676608" y="6223068"/>
            <a:ext cx="2955835" cy="3314988"/>
            <a:chOff x="0" y="-76200"/>
            <a:chExt cx="977168" cy="1095900"/>
          </a:xfrm>
        </p:grpSpPr>
        <p:sp>
          <p:nvSpPr>
            <p:cNvPr id="264" name="Google Shape;264;g35ed7b02e5a_2_132"/>
            <p:cNvSpPr/>
            <p:nvPr/>
          </p:nvSpPr>
          <p:spPr>
            <a:xfrm>
              <a:off x="0" y="0"/>
              <a:ext cx="977168" cy="1019574"/>
            </a:xfrm>
            <a:custGeom>
              <a:rect b="b" l="l" r="r" t="t"/>
              <a:pathLst>
                <a:path extrusionOk="0" h="1019574" w="977168">
                  <a:moveTo>
                    <a:pt x="0" y="0"/>
                  </a:moveTo>
                  <a:lnTo>
                    <a:pt x="977168" y="0"/>
                  </a:lnTo>
                  <a:lnTo>
                    <a:pt x="977168" y="1019574"/>
                  </a:lnTo>
                  <a:lnTo>
                    <a:pt x="0" y="1019574"/>
                  </a:lnTo>
                  <a:close/>
                </a:path>
              </a:pathLst>
            </a:custGeom>
            <a:solidFill>
              <a:srgbClr val="8AA9F9"/>
            </a:solidFill>
            <a:ln>
              <a:noFill/>
            </a:ln>
          </p:spPr>
        </p:sp>
        <p:sp>
          <p:nvSpPr>
            <p:cNvPr id="265" name="Google Shape;265;g35ed7b02e5a_2_132"/>
            <p:cNvSpPr txBox="1"/>
            <p:nvPr/>
          </p:nvSpPr>
          <p:spPr>
            <a:xfrm>
              <a:off x="0" y="-76200"/>
              <a:ext cx="977100" cy="10959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6" name="Google Shape;266;g35ed7b02e5a_2_132"/>
          <p:cNvGrpSpPr/>
          <p:nvPr/>
        </p:nvGrpSpPr>
        <p:grpSpPr>
          <a:xfrm>
            <a:off x="13996741" y="6223068"/>
            <a:ext cx="2955835" cy="3314988"/>
            <a:chOff x="0" y="-76200"/>
            <a:chExt cx="977168" cy="1095900"/>
          </a:xfrm>
        </p:grpSpPr>
        <p:sp>
          <p:nvSpPr>
            <p:cNvPr id="267" name="Google Shape;267;g35ed7b02e5a_2_132"/>
            <p:cNvSpPr/>
            <p:nvPr/>
          </p:nvSpPr>
          <p:spPr>
            <a:xfrm>
              <a:off x="0" y="0"/>
              <a:ext cx="977168" cy="1019574"/>
            </a:xfrm>
            <a:custGeom>
              <a:rect b="b" l="l" r="r" t="t"/>
              <a:pathLst>
                <a:path extrusionOk="0" h="1019574" w="977168">
                  <a:moveTo>
                    <a:pt x="0" y="0"/>
                  </a:moveTo>
                  <a:lnTo>
                    <a:pt x="977168" y="0"/>
                  </a:lnTo>
                  <a:lnTo>
                    <a:pt x="977168" y="1019574"/>
                  </a:lnTo>
                  <a:lnTo>
                    <a:pt x="0" y="1019574"/>
                  </a:lnTo>
                  <a:close/>
                </a:path>
              </a:pathLst>
            </a:custGeom>
            <a:solidFill>
              <a:srgbClr val="8AA9F9"/>
            </a:solidFill>
            <a:ln>
              <a:noFill/>
            </a:ln>
          </p:spPr>
        </p:sp>
        <p:sp>
          <p:nvSpPr>
            <p:cNvPr id="268" name="Google Shape;268;g35ed7b02e5a_2_132"/>
            <p:cNvSpPr txBox="1"/>
            <p:nvPr/>
          </p:nvSpPr>
          <p:spPr>
            <a:xfrm>
              <a:off x="0" y="-76200"/>
              <a:ext cx="977100" cy="10959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9" name="Google Shape;269;g35ed7b02e5a_2_132"/>
          <p:cNvGrpSpPr/>
          <p:nvPr/>
        </p:nvGrpSpPr>
        <p:grpSpPr>
          <a:xfrm>
            <a:off x="1349833" y="5603431"/>
            <a:ext cx="1700296" cy="1700296"/>
            <a:chOff x="0" y="0"/>
            <a:chExt cx="812800" cy="812800"/>
          </a:xfrm>
        </p:grpSpPr>
        <p:sp>
          <p:nvSpPr>
            <p:cNvPr id="270" name="Google Shape;270;g35ed7b02e5a_2_1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A9F9"/>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35ed7b02e5a_2_132"/>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2" name="Google Shape;272;g35ed7b02e5a_2_132"/>
          <p:cNvGrpSpPr/>
          <p:nvPr/>
        </p:nvGrpSpPr>
        <p:grpSpPr>
          <a:xfrm>
            <a:off x="4668449" y="5603431"/>
            <a:ext cx="1700296" cy="1700296"/>
            <a:chOff x="0" y="0"/>
            <a:chExt cx="812800" cy="812800"/>
          </a:xfrm>
        </p:grpSpPr>
        <p:sp>
          <p:nvSpPr>
            <p:cNvPr id="273" name="Google Shape;273;g35ed7b02e5a_2_1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A9F9"/>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g35ed7b02e5a_2_132"/>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5" name="Google Shape;275;g35ed7b02e5a_2_132"/>
          <p:cNvGrpSpPr/>
          <p:nvPr/>
        </p:nvGrpSpPr>
        <p:grpSpPr>
          <a:xfrm>
            <a:off x="7988582" y="5603431"/>
            <a:ext cx="1700296" cy="1700296"/>
            <a:chOff x="0" y="0"/>
            <a:chExt cx="812800" cy="812800"/>
          </a:xfrm>
        </p:grpSpPr>
        <p:sp>
          <p:nvSpPr>
            <p:cNvPr id="276" name="Google Shape;276;g35ed7b02e5a_2_1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A9F9"/>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g35ed7b02e5a_2_132"/>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8" name="Google Shape;278;g35ed7b02e5a_2_132"/>
          <p:cNvGrpSpPr/>
          <p:nvPr/>
        </p:nvGrpSpPr>
        <p:grpSpPr>
          <a:xfrm>
            <a:off x="11304417" y="5603431"/>
            <a:ext cx="1700296" cy="1700296"/>
            <a:chOff x="0" y="0"/>
            <a:chExt cx="812800" cy="812800"/>
          </a:xfrm>
        </p:grpSpPr>
        <p:sp>
          <p:nvSpPr>
            <p:cNvPr id="279" name="Google Shape;279;g35ed7b02e5a_2_1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A9F9"/>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g35ed7b02e5a_2_132"/>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1" name="Google Shape;281;g35ed7b02e5a_2_132"/>
          <p:cNvGrpSpPr/>
          <p:nvPr/>
        </p:nvGrpSpPr>
        <p:grpSpPr>
          <a:xfrm>
            <a:off x="14624549" y="5603431"/>
            <a:ext cx="1700296" cy="1700296"/>
            <a:chOff x="0" y="0"/>
            <a:chExt cx="812800" cy="812800"/>
          </a:xfrm>
        </p:grpSpPr>
        <p:sp>
          <p:nvSpPr>
            <p:cNvPr id="282" name="Google Shape;282;g35ed7b02e5a_2_1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A9F9"/>
            </a:solidFill>
            <a:ln cap="sq" cmpd="sng" w="190500">
              <a:solidFill>
                <a:srgbClr val="FFFFFF"/>
              </a:solidFill>
              <a:prstDash val="solid"/>
              <a:miter lim="8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g35ed7b02e5a_2_132"/>
            <p:cNvSpPr txBox="1"/>
            <p:nvPr/>
          </p:nvSpPr>
          <p:spPr>
            <a:xfrm>
              <a:off x="76200" y="0"/>
              <a:ext cx="660300" cy="7365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4" name="Google Shape;284;g35ed7b02e5a_2_132"/>
          <p:cNvSpPr/>
          <p:nvPr/>
        </p:nvSpPr>
        <p:spPr>
          <a:xfrm rot="5400000">
            <a:off x="977216" y="-711628"/>
            <a:ext cx="1065046" cy="3019461"/>
          </a:xfrm>
          <a:custGeom>
            <a:rect b="b" l="l" r="r" t="t"/>
            <a:pathLst>
              <a:path extrusionOk="0" h="3019461" w="1065046">
                <a:moveTo>
                  <a:pt x="0" y="0"/>
                </a:moveTo>
                <a:lnTo>
                  <a:pt x="1065046" y="0"/>
                </a:lnTo>
                <a:lnTo>
                  <a:pt x="1065046" y="3019461"/>
                </a:lnTo>
                <a:lnTo>
                  <a:pt x="0" y="3019461"/>
                </a:lnTo>
                <a:lnTo>
                  <a:pt x="0" y="0"/>
                </a:lnTo>
                <a:close/>
              </a:path>
            </a:pathLst>
          </a:custGeom>
          <a:blipFill rotWithShape="1">
            <a:blip r:embed="rId3">
              <a:alphaModFix/>
            </a:blip>
            <a:stretch>
              <a:fillRect b="0" l="0" r="0" t="0"/>
            </a:stretch>
          </a:blipFill>
          <a:ln>
            <a:noFill/>
          </a:ln>
        </p:spPr>
      </p:sp>
      <p:sp>
        <p:nvSpPr>
          <p:cNvPr id="285" name="Google Shape;285;g35ed7b02e5a_2_132"/>
          <p:cNvSpPr txBox="1"/>
          <p:nvPr/>
        </p:nvSpPr>
        <p:spPr>
          <a:xfrm>
            <a:off x="896025" y="1052625"/>
            <a:ext cx="16702800" cy="3407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i="0" lang="en-US" sz="9224" u="none" cap="none" strike="noStrike">
                <a:solidFill>
                  <a:srgbClr val="013362"/>
                </a:solidFill>
                <a:latin typeface="Poppins"/>
                <a:ea typeface="Poppins"/>
                <a:cs typeface="Poppins"/>
                <a:sym typeface="Poppins"/>
              </a:rPr>
              <a:t>Beneficios del uso de frameworks</a:t>
            </a:r>
            <a:endParaRPr b="0" i="0" sz="1400" u="none" cap="none" strike="noStrike">
              <a:solidFill>
                <a:srgbClr val="000000"/>
              </a:solidFill>
              <a:latin typeface="Arial"/>
              <a:ea typeface="Arial"/>
              <a:cs typeface="Arial"/>
              <a:sym typeface="Arial"/>
            </a:endParaRPr>
          </a:p>
        </p:txBody>
      </p:sp>
      <p:sp>
        <p:nvSpPr>
          <p:cNvPr id="286" name="Google Shape;286;g35ed7b02e5a_2_132"/>
          <p:cNvSpPr txBox="1"/>
          <p:nvPr/>
        </p:nvSpPr>
        <p:spPr>
          <a:xfrm>
            <a:off x="1817364" y="5821611"/>
            <a:ext cx="765300" cy="9309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6048"/>
              <a:buFont typeface="Arial"/>
              <a:buNone/>
            </a:pPr>
            <a:r>
              <a:rPr b="1" i="0" lang="en-US" sz="6048" u="none" cap="none" strike="noStrike">
                <a:solidFill>
                  <a:srgbClr val="FFFFFF"/>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287" name="Google Shape;287;g35ed7b02e5a_2_132"/>
          <p:cNvSpPr txBox="1"/>
          <p:nvPr/>
        </p:nvSpPr>
        <p:spPr>
          <a:xfrm>
            <a:off x="5135980" y="5821611"/>
            <a:ext cx="765300" cy="9309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6048"/>
              <a:buFont typeface="Arial"/>
              <a:buNone/>
            </a:pPr>
            <a:r>
              <a:rPr b="1" i="0" lang="en-US" sz="6048" u="none" cap="none" strike="noStrike">
                <a:solidFill>
                  <a:srgbClr val="FFFFFF"/>
                </a:solidFill>
                <a:latin typeface="Poppins"/>
                <a:ea typeface="Poppins"/>
                <a:cs typeface="Poppins"/>
                <a:sym typeface="Poppins"/>
              </a:rPr>
              <a:t>2</a:t>
            </a:r>
            <a:endParaRPr b="0" i="0" sz="1400" u="none" cap="none" strike="noStrike">
              <a:solidFill>
                <a:srgbClr val="000000"/>
              </a:solidFill>
              <a:latin typeface="Arial"/>
              <a:ea typeface="Arial"/>
              <a:cs typeface="Arial"/>
              <a:sym typeface="Arial"/>
            </a:endParaRPr>
          </a:p>
        </p:txBody>
      </p:sp>
      <p:sp>
        <p:nvSpPr>
          <p:cNvPr id="288" name="Google Shape;288;g35ed7b02e5a_2_132"/>
          <p:cNvSpPr txBox="1"/>
          <p:nvPr/>
        </p:nvSpPr>
        <p:spPr>
          <a:xfrm>
            <a:off x="8456113" y="5821611"/>
            <a:ext cx="765300" cy="9309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6048"/>
              <a:buFont typeface="Arial"/>
              <a:buNone/>
            </a:pPr>
            <a:r>
              <a:rPr b="1" i="0" lang="en-US" sz="6048" u="none" cap="none" strike="noStrike">
                <a:solidFill>
                  <a:srgbClr val="FFFFFF"/>
                </a:solidFill>
                <a:latin typeface="Poppins"/>
                <a:ea typeface="Poppins"/>
                <a:cs typeface="Poppins"/>
                <a:sym typeface="Poppins"/>
              </a:rPr>
              <a:t>3</a:t>
            </a:r>
            <a:endParaRPr b="0" i="0" sz="1400" u="none" cap="none" strike="noStrike">
              <a:solidFill>
                <a:srgbClr val="000000"/>
              </a:solidFill>
              <a:latin typeface="Arial"/>
              <a:ea typeface="Arial"/>
              <a:cs typeface="Arial"/>
              <a:sym typeface="Arial"/>
            </a:endParaRPr>
          </a:p>
        </p:txBody>
      </p:sp>
      <p:sp>
        <p:nvSpPr>
          <p:cNvPr id="289" name="Google Shape;289;g35ed7b02e5a_2_132"/>
          <p:cNvSpPr txBox="1"/>
          <p:nvPr/>
        </p:nvSpPr>
        <p:spPr>
          <a:xfrm>
            <a:off x="11771948" y="5821611"/>
            <a:ext cx="765300" cy="9309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6048"/>
              <a:buFont typeface="Arial"/>
              <a:buNone/>
            </a:pPr>
            <a:r>
              <a:rPr b="1" i="0" lang="en-US" sz="6048" u="none" cap="none" strike="noStrike">
                <a:solidFill>
                  <a:srgbClr val="FFFFFF"/>
                </a:solidFill>
                <a:latin typeface="Poppins"/>
                <a:ea typeface="Poppins"/>
                <a:cs typeface="Poppins"/>
                <a:sym typeface="Poppins"/>
              </a:rPr>
              <a:t>4</a:t>
            </a:r>
            <a:endParaRPr b="0" i="0" sz="1400" u="none" cap="none" strike="noStrike">
              <a:solidFill>
                <a:srgbClr val="000000"/>
              </a:solidFill>
              <a:latin typeface="Arial"/>
              <a:ea typeface="Arial"/>
              <a:cs typeface="Arial"/>
              <a:sym typeface="Arial"/>
            </a:endParaRPr>
          </a:p>
        </p:txBody>
      </p:sp>
      <p:sp>
        <p:nvSpPr>
          <p:cNvPr id="290" name="Google Shape;290;g35ed7b02e5a_2_132"/>
          <p:cNvSpPr txBox="1"/>
          <p:nvPr/>
        </p:nvSpPr>
        <p:spPr>
          <a:xfrm>
            <a:off x="15092080" y="5821611"/>
            <a:ext cx="765300" cy="9309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6048"/>
              <a:buFont typeface="Arial"/>
              <a:buNone/>
            </a:pPr>
            <a:r>
              <a:rPr b="1" i="0" lang="en-US" sz="6048" u="none" cap="none" strike="noStrike">
                <a:solidFill>
                  <a:srgbClr val="FFFFFF"/>
                </a:solidFill>
                <a:latin typeface="Poppins"/>
                <a:ea typeface="Poppins"/>
                <a:cs typeface="Poppins"/>
                <a:sym typeface="Poppins"/>
              </a:rPr>
              <a:t>5</a:t>
            </a:r>
            <a:endParaRPr b="0" i="0" sz="1400" u="none" cap="none" strike="noStrike">
              <a:solidFill>
                <a:srgbClr val="000000"/>
              </a:solidFill>
              <a:latin typeface="Arial"/>
              <a:ea typeface="Arial"/>
              <a:cs typeface="Arial"/>
              <a:sym typeface="Arial"/>
            </a:endParaRPr>
          </a:p>
        </p:txBody>
      </p:sp>
      <p:sp>
        <p:nvSpPr>
          <p:cNvPr id="291" name="Google Shape;291;g35ed7b02e5a_2_132"/>
          <p:cNvSpPr txBox="1"/>
          <p:nvPr/>
        </p:nvSpPr>
        <p:spPr>
          <a:xfrm>
            <a:off x="912950" y="8113775"/>
            <a:ext cx="2535000" cy="1360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00"/>
              <a:buFont typeface="Arial"/>
              <a:buNone/>
            </a:pPr>
            <a:r>
              <a:rPr b="0" i="0" lang="en-US" sz="1700" u="none" cap="none" strike="noStrike">
                <a:solidFill>
                  <a:schemeClr val="lt1"/>
                </a:solidFill>
                <a:latin typeface="Arial"/>
                <a:ea typeface="Arial"/>
                <a:cs typeface="Arial"/>
                <a:sym typeface="Arial"/>
              </a:rPr>
              <a:t>Proporcionan soluciones reutilizables y predefinidas que reducen el tiempo de desarrollo.</a:t>
            </a:r>
            <a:endParaRPr b="0" i="0" sz="2000" u="none" cap="none" strike="noStrike">
              <a:solidFill>
                <a:schemeClr val="lt1"/>
              </a:solidFill>
              <a:latin typeface="Arial"/>
              <a:ea typeface="Arial"/>
              <a:cs typeface="Arial"/>
              <a:sym typeface="Arial"/>
            </a:endParaRPr>
          </a:p>
        </p:txBody>
      </p:sp>
      <p:sp>
        <p:nvSpPr>
          <p:cNvPr id="292" name="Google Shape;292;g35ed7b02e5a_2_132"/>
          <p:cNvSpPr txBox="1"/>
          <p:nvPr/>
        </p:nvSpPr>
        <p:spPr>
          <a:xfrm>
            <a:off x="1019448" y="7349067"/>
            <a:ext cx="2322000" cy="764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070"/>
              <a:buFont typeface="Arial"/>
              <a:buNone/>
            </a:pPr>
            <a:r>
              <a:rPr b="1" i="0" lang="en-US" sz="2070" u="none" cap="none" strike="noStrike">
                <a:solidFill>
                  <a:srgbClr val="FFFFFF"/>
                </a:solidFill>
                <a:latin typeface="Poppins"/>
                <a:ea typeface="Poppins"/>
                <a:cs typeface="Poppins"/>
                <a:sym typeface="Poppins"/>
              </a:rPr>
              <a:t>Aceleración del desarrollo:</a:t>
            </a:r>
            <a:endParaRPr b="0" i="0" sz="1400" u="none" cap="none" strike="noStrike">
              <a:solidFill>
                <a:srgbClr val="000000"/>
              </a:solidFill>
              <a:latin typeface="Arial"/>
              <a:ea typeface="Arial"/>
              <a:cs typeface="Arial"/>
              <a:sym typeface="Arial"/>
            </a:endParaRPr>
          </a:p>
        </p:txBody>
      </p:sp>
      <p:sp>
        <p:nvSpPr>
          <p:cNvPr id="293" name="Google Shape;293;g35ed7b02e5a_2_132"/>
          <p:cNvSpPr txBox="1"/>
          <p:nvPr/>
        </p:nvSpPr>
        <p:spPr>
          <a:xfrm>
            <a:off x="7569037" y="7349067"/>
            <a:ext cx="2535000" cy="764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070"/>
              <a:buFont typeface="Arial"/>
              <a:buNone/>
            </a:pPr>
            <a:r>
              <a:rPr b="1" i="0" lang="en-US" sz="2070" u="none" cap="none" strike="noStrike">
                <a:solidFill>
                  <a:srgbClr val="FFFFFF"/>
                </a:solidFill>
                <a:latin typeface="Poppins"/>
                <a:ea typeface="Poppins"/>
                <a:cs typeface="Poppins"/>
                <a:sym typeface="Poppins"/>
              </a:rPr>
              <a:t>Facilidad de mantenimiento:</a:t>
            </a:r>
            <a:endParaRPr b="0" i="0" sz="1400" u="none" cap="none" strike="noStrike">
              <a:solidFill>
                <a:srgbClr val="000000"/>
              </a:solidFill>
              <a:latin typeface="Arial"/>
              <a:ea typeface="Arial"/>
              <a:cs typeface="Arial"/>
              <a:sym typeface="Arial"/>
            </a:endParaRPr>
          </a:p>
        </p:txBody>
      </p:sp>
      <p:sp>
        <p:nvSpPr>
          <p:cNvPr id="294" name="Google Shape;294;g35ed7b02e5a_2_132"/>
          <p:cNvSpPr txBox="1"/>
          <p:nvPr/>
        </p:nvSpPr>
        <p:spPr>
          <a:xfrm>
            <a:off x="10862473" y="7349067"/>
            <a:ext cx="2588400" cy="319200"/>
          </a:xfrm>
          <a:prstGeom prst="rect">
            <a:avLst/>
          </a:prstGeom>
          <a:noFill/>
          <a:ln>
            <a:noFill/>
          </a:ln>
        </p:spPr>
        <p:txBody>
          <a:bodyPr anchorCtr="0" anchor="t" bIns="0" lIns="0" spcFirstLastPara="1" rIns="0" wrap="square" tIns="0">
            <a:spAutoFit/>
          </a:bodyPr>
          <a:lstStyle/>
          <a:p>
            <a:pPr indent="0" lvl="0" marL="0" marR="0" rtl="0" algn="ctr">
              <a:lnSpc>
                <a:spcPct val="139971"/>
              </a:lnSpc>
              <a:spcBef>
                <a:spcPts val="0"/>
              </a:spcBef>
              <a:spcAft>
                <a:spcPts val="0"/>
              </a:spcAft>
              <a:buClr>
                <a:srgbClr val="000000"/>
              </a:buClr>
              <a:buSzPts val="2074"/>
              <a:buFont typeface="Arial"/>
              <a:buNone/>
            </a:pPr>
            <a:r>
              <a:rPr b="1" i="0" lang="en-US" sz="2074" u="none" cap="none" strike="noStrike">
                <a:solidFill>
                  <a:srgbClr val="FFFFFF"/>
                </a:solidFill>
                <a:latin typeface="Poppins"/>
                <a:ea typeface="Poppins"/>
                <a:cs typeface="Poppins"/>
                <a:sym typeface="Poppins"/>
              </a:rPr>
              <a:t>Seguridad:</a:t>
            </a:r>
            <a:endParaRPr b="0" i="0" sz="1400" u="none" cap="none" strike="noStrike">
              <a:solidFill>
                <a:srgbClr val="000000"/>
              </a:solidFill>
              <a:latin typeface="Arial"/>
              <a:ea typeface="Arial"/>
              <a:cs typeface="Arial"/>
              <a:sym typeface="Arial"/>
            </a:endParaRPr>
          </a:p>
        </p:txBody>
      </p:sp>
      <p:sp>
        <p:nvSpPr>
          <p:cNvPr id="295" name="Google Shape;295;g35ed7b02e5a_2_132"/>
          <p:cNvSpPr txBox="1"/>
          <p:nvPr/>
        </p:nvSpPr>
        <p:spPr>
          <a:xfrm>
            <a:off x="14089600" y="7349075"/>
            <a:ext cx="2955900" cy="764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070"/>
              <a:buFont typeface="Arial"/>
              <a:buNone/>
            </a:pPr>
            <a:r>
              <a:rPr b="1" i="0" lang="en-US" sz="2070" u="none" cap="none" strike="noStrike">
                <a:solidFill>
                  <a:srgbClr val="FFFFFF"/>
                </a:solidFill>
                <a:latin typeface="Poppins"/>
                <a:ea typeface="Poppins"/>
                <a:cs typeface="Poppins"/>
                <a:sym typeface="Poppins"/>
              </a:rPr>
              <a:t>Soporte y comunidad:</a:t>
            </a:r>
            <a:endParaRPr b="0" i="0" sz="1400" u="none" cap="none" strike="noStrike">
              <a:solidFill>
                <a:srgbClr val="000000"/>
              </a:solidFill>
              <a:latin typeface="Arial"/>
              <a:ea typeface="Arial"/>
              <a:cs typeface="Arial"/>
              <a:sym typeface="Arial"/>
            </a:endParaRPr>
          </a:p>
        </p:txBody>
      </p:sp>
      <p:sp>
        <p:nvSpPr>
          <p:cNvPr id="296" name="Google Shape;296;g35ed7b02e5a_2_132"/>
          <p:cNvSpPr/>
          <p:nvPr/>
        </p:nvSpPr>
        <p:spPr>
          <a:xfrm rot="-5400000">
            <a:off x="16181588" y="8403567"/>
            <a:ext cx="1065046" cy="3019461"/>
          </a:xfrm>
          <a:custGeom>
            <a:rect b="b" l="l" r="r" t="t"/>
            <a:pathLst>
              <a:path extrusionOk="0" h="3019461" w="1065046">
                <a:moveTo>
                  <a:pt x="1065046" y="3019461"/>
                </a:moveTo>
                <a:lnTo>
                  <a:pt x="0" y="3019461"/>
                </a:lnTo>
                <a:lnTo>
                  <a:pt x="0" y="0"/>
                </a:lnTo>
                <a:lnTo>
                  <a:pt x="1065046" y="0"/>
                </a:lnTo>
                <a:lnTo>
                  <a:pt x="1065046" y="3019461"/>
                </a:lnTo>
                <a:close/>
              </a:path>
            </a:pathLst>
          </a:custGeom>
          <a:blipFill rotWithShape="1">
            <a:blip r:embed="rId3">
              <a:alphaModFix/>
            </a:blip>
            <a:stretch>
              <a:fillRect b="0" l="0" r="0" t="0"/>
            </a:stretch>
          </a:blipFill>
          <a:ln>
            <a:noFill/>
          </a:ln>
        </p:spPr>
      </p:sp>
      <p:sp>
        <p:nvSpPr>
          <p:cNvPr id="297" name="Google Shape;297;g35ed7b02e5a_2_132"/>
          <p:cNvSpPr txBox="1"/>
          <p:nvPr/>
        </p:nvSpPr>
        <p:spPr>
          <a:xfrm>
            <a:off x="4358311" y="7498017"/>
            <a:ext cx="2322000" cy="764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070"/>
              <a:buFont typeface="Arial"/>
              <a:buNone/>
            </a:pPr>
            <a:r>
              <a:rPr b="1" i="0" lang="en-US" sz="2070" u="none" cap="none" strike="noStrike">
                <a:solidFill>
                  <a:srgbClr val="FFFFFF"/>
                </a:solidFill>
                <a:latin typeface="Poppins"/>
                <a:ea typeface="Poppins"/>
                <a:cs typeface="Poppins"/>
                <a:sym typeface="Poppins"/>
              </a:rPr>
              <a:t>Consistencia y organización:</a:t>
            </a:r>
            <a:endParaRPr b="0" i="0" sz="1400" u="none" cap="none" strike="noStrike">
              <a:solidFill>
                <a:srgbClr val="000000"/>
              </a:solidFill>
              <a:latin typeface="Arial"/>
              <a:ea typeface="Arial"/>
              <a:cs typeface="Arial"/>
              <a:sym typeface="Arial"/>
            </a:endParaRPr>
          </a:p>
        </p:txBody>
      </p:sp>
      <p:sp>
        <p:nvSpPr>
          <p:cNvPr id="298" name="Google Shape;298;g35ed7b02e5a_2_132"/>
          <p:cNvSpPr txBox="1"/>
          <p:nvPr/>
        </p:nvSpPr>
        <p:spPr>
          <a:xfrm>
            <a:off x="4040675" y="8262725"/>
            <a:ext cx="2955900" cy="9942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00"/>
              <a:buFont typeface="Arial"/>
              <a:buNone/>
            </a:pPr>
            <a:r>
              <a:rPr b="0" i="0" lang="en-US" sz="1700" u="none" cap="none" strike="noStrike">
                <a:solidFill>
                  <a:schemeClr val="lt1"/>
                </a:solidFill>
                <a:latin typeface="Arial"/>
                <a:ea typeface="Arial"/>
                <a:cs typeface="Arial"/>
                <a:sym typeface="Arial"/>
              </a:rPr>
              <a:t>Garantizan una estructura y organización coherentes en el código.</a:t>
            </a:r>
            <a:endParaRPr b="0" i="0" sz="2000" u="none" cap="none" strike="noStrike">
              <a:solidFill>
                <a:schemeClr val="lt1"/>
              </a:solidFill>
              <a:latin typeface="Arial"/>
              <a:ea typeface="Arial"/>
              <a:cs typeface="Arial"/>
              <a:sym typeface="Arial"/>
            </a:endParaRPr>
          </a:p>
        </p:txBody>
      </p:sp>
      <p:sp>
        <p:nvSpPr>
          <p:cNvPr id="299" name="Google Shape;299;g35ed7b02e5a_2_132"/>
          <p:cNvSpPr txBox="1"/>
          <p:nvPr/>
        </p:nvSpPr>
        <p:spPr>
          <a:xfrm>
            <a:off x="7358587" y="8159125"/>
            <a:ext cx="2955900" cy="1360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00"/>
              <a:buFont typeface="Arial"/>
              <a:buNone/>
            </a:pPr>
            <a:r>
              <a:rPr b="0" i="0" lang="en-US" sz="1700" u="none" cap="none" strike="noStrike">
                <a:solidFill>
                  <a:schemeClr val="lt1"/>
                </a:solidFill>
                <a:latin typeface="Arial"/>
                <a:ea typeface="Arial"/>
                <a:cs typeface="Arial"/>
                <a:sym typeface="Arial"/>
              </a:rPr>
              <a:t>Promueven el uso de buenas prácticas y patrones de diseño que facilitan el mantenimiento y la escalabilidad del código.</a:t>
            </a:r>
            <a:endParaRPr b="0" i="0" sz="2000" u="none" cap="none" strike="noStrike">
              <a:solidFill>
                <a:schemeClr val="lt1"/>
              </a:solidFill>
              <a:latin typeface="Arial"/>
              <a:ea typeface="Arial"/>
              <a:cs typeface="Arial"/>
              <a:sym typeface="Arial"/>
            </a:endParaRPr>
          </a:p>
        </p:txBody>
      </p:sp>
      <p:sp>
        <p:nvSpPr>
          <p:cNvPr id="300" name="Google Shape;300;g35ed7b02e5a_2_132"/>
          <p:cNvSpPr txBox="1"/>
          <p:nvPr/>
        </p:nvSpPr>
        <p:spPr>
          <a:xfrm>
            <a:off x="10677675" y="7713625"/>
            <a:ext cx="2955900" cy="172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00"/>
              <a:buFont typeface="Arial"/>
              <a:buNone/>
            </a:pPr>
            <a:r>
              <a:rPr b="0" i="0" lang="en-US" sz="1700" u="none" cap="none" strike="noStrike">
                <a:solidFill>
                  <a:schemeClr val="lt1"/>
                </a:solidFill>
                <a:latin typeface="Arial"/>
                <a:ea typeface="Arial"/>
                <a:cs typeface="Arial"/>
                <a:sym typeface="Arial"/>
              </a:rPr>
              <a:t>Muchos frameworks incluyen medidas de seguridad integradas que protegen contra vulnerabilidades comunes.</a:t>
            </a:r>
            <a:endParaRPr b="0" i="0" sz="2000" u="none" cap="none" strike="noStrike">
              <a:solidFill>
                <a:schemeClr val="lt1"/>
              </a:solidFill>
              <a:latin typeface="Arial"/>
              <a:ea typeface="Arial"/>
              <a:cs typeface="Arial"/>
              <a:sym typeface="Arial"/>
            </a:endParaRPr>
          </a:p>
        </p:txBody>
      </p:sp>
      <p:sp>
        <p:nvSpPr>
          <p:cNvPr id="301" name="Google Shape;301;g35ed7b02e5a_2_132"/>
          <p:cNvSpPr txBox="1"/>
          <p:nvPr/>
        </p:nvSpPr>
        <p:spPr>
          <a:xfrm>
            <a:off x="13994650" y="8159125"/>
            <a:ext cx="2955900" cy="1360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1700"/>
              <a:buFont typeface="Arial"/>
              <a:buNone/>
            </a:pPr>
            <a:r>
              <a:rPr b="0" i="0" lang="en-US" sz="1700" u="none" cap="none" strike="noStrike">
                <a:solidFill>
                  <a:schemeClr val="lt1"/>
                </a:solidFill>
                <a:latin typeface="Arial"/>
                <a:ea typeface="Arial"/>
                <a:cs typeface="Arial"/>
                <a:sym typeface="Arial"/>
              </a:rPr>
              <a:t>Suelen tener una gran comunidad de usuarios que proporciona soporte y recursos adicionales.</a:t>
            </a:r>
            <a:endParaRPr b="0" i="0" sz="2000" u="none" cap="none" strike="noStrike">
              <a:solidFill>
                <a:schemeClr val="lt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05" name="Shape 305"/>
        <p:cNvGrpSpPr/>
        <p:nvPr/>
      </p:nvGrpSpPr>
      <p:grpSpPr>
        <a:xfrm>
          <a:off x="0" y="0"/>
          <a:ext cx="0" cy="0"/>
          <a:chOff x="0" y="0"/>
          <a:chExt cx="0" cy="0"/>
        </a:xfrm>
      </p:grpSpPr>
      <p:sp>
        <p:nvSpPr>
          <p:cNvPr id="306" name="Google Shape;306;g35ed7b02e5a_2_186"/>
          <p:cNvSpPr/>
          <p:nvPr/>
        </p:nvSpPr>
        <p:spPr>
          <a:xfrm rot="5400000">
            <a:off x="1265450" y="-662396"/>
            <a:ext cx="697688" cy="2646404"/>
          </a:xfrm>
          <a:custGeom>
            <a:rect b="b" l="l" r="r" t="t"/>
            <a:pathLst>
              <a:path extrusionOk="0" h="2646404" w="697688">
                <a:moveTo>
                  <a:pt x="0" y="0"/>
                </a:moveTo>
                <a:lnTo>
                  <a:pt x="697688" y="0"/>
                </a:lnTo>
                <a:lnTo>
                  <a:pt x="697688" y="2646404"/>
                </a:lnTo>
                <a:lnTo>
                  <a:pt x="0" y="2646404"/>
                </a:lnTo>
                <a:lnTo>
                  <a:pt x="0" y="0"/>
                </a:lnTo>
                <a:close/>
              </a:path>
            </a:pathLst>
          </a:custGeom>
          <a:blipFill rotWithShape="1">
            <a:blip r:embed="rId3">
              <a:alphaModFix/>
            </a:blip>
            <a:stretch>
              <a:fillRect b="0" l="0" r="0" t="0"/>
            </a:stretch>
          </a:blipFill>
          <a:ln>
            <a:noFill/>
          </a:ln>
        </p:spPr>
      </p:sp>
      <p:sp>
        <p:nvSpPr>
          <p:cNvPr id="307" name="Google Shape;307;g35ed7b02e5a_2_186"/>
          <p:cNvSpPr/>
          <p:nvPr/>
        </p:nvSpPr>
        <p:spPr>
          <a:xfrm rot="5400000">
            <a:off x="16450269" y="8445385"/>
            <a:ext cx="697688" cy="2646404"/>
          </a:xfrm>
          <a:custGeom>
            <a:rect b="b" l="l" r="r" t="t"/>
            <a:pathLst>
              <a:path extrusionOk="0" h="2646404" w="697688">
                <a:moveTo>
                  <a:pt x="0" y="0"/>
                </a:moveTo>
                <a:lnTo>
                  <a:pt x="697689" y="0"/>
                </a:lnTo>
                <a:lnTo>
                  <a:pt x="697689" y="2646405"/>
                </a:lnTo>
                <a:lnTo>
                  <a:pt x="0" y="2646405"/>
                </a:lnTo>
                <a:lnTo>
                  <a:pt x="0" y="0"/>
                </a:lnTo>
                <a:close/>
              </a:path>
            </a:pathLst>
          </a:custGeom>
          <a:blipFill rotWithShape="1">
            <a:blip r:embed="rId3">
              <a:alphaModFix/>
            </a:blip>
            <a:stretch>
              <a:fillRect b="0" l="0" r="0" t="0"/>
            </a:stretch>
          </a:blipFill>
          <a:ln>
            <a:noFill/>
          </a:ln>
        </p:spPr>
      </p:sp>
      <p:pic>
        <p:nvPicPr>
          <p:cNvPr id="308" name="Google Shape;308;g35ed7b02e5a_2_186"/>
          <p:cNvPicPr preferRelativeResize="0"/>
          <p:nvPr/>
        </p:nvPicPr>
        <p:blipFill rotWithShape="1">
          <a:blip r:embed="rId4">
            <a:alphaModFix/>
          </a:blip>
          <a:srcRect b="0" l="0" r="0" t="0"/>
          <a:stretch/>
        </p:blipFill>
        <p:spPr>
          <a:xfrm>
            <a:off x="4152896" y="0"/>
            <a:ext cx="9982200" cy="9982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12" name="Shape 312"/>
        <p:cNvGrpSpPr/>
        <p:nvPr/>
      </p:nvGrpSpPr>
      <p:grpSpPr>
        <a:xfrm>
          <a:off x="0" y="0"/>
          <a:ext cx="0" cy="0"/>
          <a:chOff x="0" y="0"/>
          <a:chExt cx="0" cy="0"/>
        </a:xfrm>
      </p:grpSpPr>
      <p:grpSp>
        <p:nvGrpSpPr>
          <p:cNvPr id="313" name="Google Shape;313;g35ed7b02e5a_2_192"/>
          <p:cNvGrpSpPr/>
          <p:nvPr/>
        </p:nvGrpSpPr>
        <p:grpSpPr>
          <a:xfrm>
            <a:off x="-764125" y="2362390"/>
            <a:ext cx="19457594" cy="4410388"/>
            <a:chOff x="0" y="-76200"/>
            <a:chExt cx="5124600" cy="536400"/>
          </a:xfrm>
        </p:grpSpPr>
        <p:sp>
          <p:nvSpPr>
            <p:cNvPr id="314" name="Google Shape;314;g35ed7b02e5a_2_192"/>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315" name="Google Shape;315;g35ed7b02e5a_2_192"/>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6" name="Google Shape;316;g35ed7b02e5a_2_192"/>
          <p:cNvSpPr txBox="1"/>
          <p:nvPr/>
        </p:nvSpPr>
        <p:spPr>
          <a:xfrm>
            <a:off x="456601" y="3213300"/>
            <a:ext cx="17374800" cy="34077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9224">
                <a:solidFill>
                  <a:srgbClr val="FDFDFD"/>
                </a:solidFill>
                <a:latin typeface="Poppins"/>
                <a:ea typeface="Poppins"/>
                <a:cs typeface="Poppins"/>
                <a:sym typeface="Poppins"/>
              </a:rPr>
              <a:t>Introducción a los Patrones de Diseño de Arquitectura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20" name="Shape 320"/>
        <p:cNvGrpSpPr/>
        <p:nvPr/>
      </p:nvGrpSpPr>
      <p:grpSpPr>
        <a:xfrm>
          <a:off x="0" y="0"/>
          <a:ext cx="0" cy="0"/>
          <a:chOff x="0" y="0"/>
          <a:chExt cx="0" cy="0"/>
        </a:xfrm>
      </p:grpSpPr>
      <p:grpSp>
        <p:nvGrpSpPr>
          <p:cNvPr id="321" name="Google Shape;321;g35ed7b02e5a_2_199"/>
          <p:cNvGrpSpPr/>
          <p:nvPr/>
        </p:nvGrpSpPr>
        <p:grpSpPr>
          <a:xfrm>
            <a:off x="-584626" y="564525"/>
            <a:ext cx="19457594" cy="2036657"/>
            <a:chOff x="0" y="-76200"/>
            <a:chExt cx="5124600" cy="536400"/>
          </a:xfrm>
        </p:grpSpPr>
        <p:sp>
          <p:nvSpPr>
            <p:cNvPr id="322" name="Google Shape;322;g35ed7b02e5a_2_199"/>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323" name="Google Shape;323;g35ed7b02e5a_2_199"/>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4" name="Google Shape;324;g35ed7b02e5a_2_199"/>
          <p:cNvSpPr txBox="1"/>
          <p:nvPr/>
        </p:nvSpPr>
        <p:spPr>
          <a:xfrm>
            <a:off x="1599296" y="758314"/>
            <a:ext cx="15089400" cy="1419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9224">
                <a:solidFill>
                  <a:srgbClr val="FDFDFD"/>
                </a:solidFill>
                <a:latin typeface="Poppins"/>
                <a:ea typeface="Poppins"/>
                <a:cs typeface="Poppins"/>
                <a:sym typeface="Poppins"/>
              </a:rPr>
              <a:t>Patrón de diseño</a:t>
            </a:r>
            <a:endParaRPr b="0" i="0" sz="1400" u="none" cap="none" strike="noStrike">
              <a:solidFill>
                <a:srgbClr val="000000"/>
              </a:solidFill>
              <a:latin typeface="Arial"/>
              <a:ea typeface="Arial"/>
              <a:cs typeface="Arial"/>
              <a:sym typeface="Arial"/>
            </a:endParaRPr>
          </a:p>
        </p:txBody>
      </p:sp>
      <p:sp>
        <p:nvSpPr>
          <p:cNvPr id="325" name="Google Shape;325;g35ed7b02e5a_2_199"/>
          <p:cNvSpPr txBox="1"/>
          <p:nvPr/>
        </p:nvSpPr>
        <p:spPr>
          <a:xfrm>
            <a:off x="1028700" y="2969245"/>
            <a:ext cx="16230600" cy="3010500"/>
          </a:xfrm>
          <a:prstGeom prst="rect">
            <a:avLst/>
          </a:prstGeom>
          <a:noFill/>
          <a:ln>
            <a:noFill/>
          </a:ln>
        </p:spPr>
        <p:txBody>
          <a:bodyPr anchorCtr="0" anchor="t" bIns="0" lIns="0" spcFirstLastPara="1" rIns="0" wrap="square" tIns="0">
            <a:spAutoFit/>
          </a:bodyPr>
          <a:lstStyle/>
          <a:p>
            <a:pPr indent="-416750" lvl="0" marL="457200" rtl="0" algn="l">
              <a:lnSpc>
                <a:spcPct val="140027"/>
              </a:lnSpc>
              <a:spcBef>
                <a:spcPts val="0"/>
              </a:spcBef>
              <a:spcAft>
                <a:spcPts val="0"/>
              </a:spcAft>
              <a:buClr>
                <a:srgbClr val="013362"/>
              </a:buClr>
              <a:buSzPts val="2963"/>
              <a:buFont typeface="Poppins Light"/>
              <a:buChar char="●"/>
            </a:pPr>
            <a:r>
              <a:rPr lang="en-US" sz="2963">
                <a:solidFill>
                  <a:srgbClr val="013362"/>
                </a:solidFill>
                <a:latin typeface="Poppins Light"/>
                <a:ea typeface="Poppins Light"/>
                <a:cs typeface="Poppins Light"/>
                <a:sym typeface="Poppins Light"/>
              </a:rPr>
              <a:t>Son soluciones probadas para problemas recurrentes en el diseño de sistemas de software.</a:t>
            </a:r>
            <a:endParaRPr sz="2963">
              <a:solidFill>
                <a:srgbClr val="013362"/>
              </a:solidFill>
              <a:latin typeface="Poppins Light"/>
              <a:ea typeface="Poppins Light"/>
              <a:cs typeface="Poppins Light"/>
              <a:sym typeface="Poppins Light"/>
            </a:endParaRPr>
          </a:p>
          <a:p>
            <a:pPr indent="-416750" lvl="0" marL="457200" rtl="0" algn="l">
              <a:lnSpc>
                <a:spcPct val="140027"/>
              </a:lnSpc>
              <a:spcBef>
                <a:spcPts val="0"/>
              </a:spcBef>
              <a:spcAft>
                <a:spcPts val="0"/>
              </a:spcAft>
              <a:buClr>
                <a:srgbClr val="013362"/>
              </a:buClr>
              <a:buSzPts val="2963"/>
              <a:buFont typeface="Poppins Light"/>
              <a:buChar char="●"/>
            </a:pPr>
            <a:r>
              <a:rPr lang="en-US" sz="2963">
                <a:solidFill>
                  <a:srgbClr val="013362"/>
                </a:solidFill>
                <a:latin typeface="Poppins Light"/>
                <a:ea typeface="Poppins Light"/>
                <a:cs typeface="Poppins Light"/>
                <a:sym typeface="Poppins Light"/>
              </a:rPr>
              <a:t>Ayudan a definir la estructura del sistema, cómo los componentes interactúan y cómo se distribuyen las responsabilidades.</a:t>
            </a:r>
            <a:endParaRPr sz="2963">
              <a:solidFill>
                <a:srgbClr val="013362"/>
              </a:solidFill>
              <a:latin typeface="Poppins Light"/>
              <a:ea typeface="Poppins Light"/>
              <a:cs typeface="Poppins Light"/>
              <a:sym typeface="Poppins Light"/>
            </a:endParaRPr>
          </a:p>
          <a:p>
            <a:pPr indent="-416750" lvl="0" marL="457200" rtl="0" algn="l">
              <a:lnSpc>
                <a:spcPct val="140027"/>
              </a:lnSpc>
              <a:spcBef>
                <a:spcPts val="0"/>
              </a:spcBef>
              <a:spcAft>
                <a:spcPts val="0"/>
              </a:spcAft>
              <a:buClr>
                <a:srgbClr val="013362"/>
              </a:buClr>
              <a:buSzPts val="2963"/>
              <a:buFont typeface="Poppins Light"/>
              <a:buChar char="●"/>
            </a:pPr>
            <a:r>
              <a:rPr lang="en-US" sz="2963">
                <a:solidFill>
                  <a:srgbClr val="013362"/>
                </a:solidFill>
                <a:latin typeface="Poppins Light"/>
                <a:ea typeface="Poppins Light"/>
                <a:cs typeface="Poppins Light"/>
                <a:sym typeface="Poppins Light"/>
              </a:rPr>
              <a:t>Facilitan la escalabilidad, mantenimiento y eficiencia del sistema.</a:t>
            </a:r>
            <a:endParaRPr sz="2963">
              <a:solidFill>
                <a:srgbClr val="013362"/>
              </a:solidFill>
              <a:latin typeface="Poppins Light"/>
              <a:ea typeface="Poppins Light"/>
              <a:cs typeface="Poppins Light"/>
              <a:sym typeface="Poppi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29" name="Shape 329"/>
        <p:cNvGrpSpPr/>
        <p:nvPr/>
      </p:nvGrpSpPr>
      <p:grpSpPr>
        <a:xfrm>
          <a:off x="0" y="0"/>
          <a:ext cx="0" cy="0"/>
          <a:chOff x="0" y="0"/>
          <a:chExt cx="0" cy="0"/>
        </a:xfrm>
      </p:grpSpPr>
      <p:grpSp>
        <p:nvGrpSpPr>
          <p:cNvPr id="330" name="Google Shape;330;g35ed7b02e5a_2_207"/>
          <p:cNvGrpSpPr/>
          <p:nvPr/>
        </p:nvGrpSpPr>
        <p:grpSpPr>
          <a:xfrm>
            <a:off x="-584801" y="264900"/>
            <a:ext cx="19457594" cy="2036657"/>
            <a:chOff x="0" y="-76200"/>
            <a:chExt cx="5124600" cy="536400"/>
          </a:xfrm>
        </p:grpSpPr>
        <p:sp>
          <p:nvSpPr>
            <p:cNvPr id="331" name="Google Shape;331;g35ed7b02e5a_2_207"/>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332" name="Google Shape;332;g35ed7b02e5a_2_207"/>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3" name="Google Shape;333;g35ed7b02e5a_2_207"/>
          <p:cNvSpPr txBox="1"/>
          <p:nvPr/>
        </p:nvSpPr>
        <p:spPr>
          <a:xfrm>
            <a:off x="458100" y="758325"/>
            <a:ext cx="17349900" cy="13119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8524">
                <a:solidFill>
                  <a:srgbClr val="FDFDFD"/>
                </a:solidFill>
                <a:latin typeface="Poppins"/>
                <a:ea typeface="Poppins"/>
                <a:cs typeface="Poppins"/>
                <a:sym typeface="Poppins"/>
              </a:rPr>
              <a:t>MVC (Model-View-Controller)</a:t>
            </a:r>
            <a:endParaRPr b="0" i="0" sz="700" u="none" cap="none" strike="noStrike">
              <a:solidFill>
                <a:srgbClr val="000000"/>
              </a:solidFill>
              <a:latin typeface="Arial"/>
              <a:ea typeface="Arial"/>
              <a:cs typeface="Arial"/>
              <a:sym typeface="Arial"/>
            </a:endParaRPr>
          </a:p>
        </p:txBody>
      </p:sp>
      <p:sp>
        <p:nvSpPr>
          <p:cNvPr id="334" name="Google Shape;334;g35ed7b02e5a_2_207"/>
          <p:cNvSpPr txBox="1"/>
          <p:nvPr/>
        </p:nvSpPr>
        <p:spPr>
          <a:xfrm>
            <a:off x="1028700" y="2969245"/>
            <a:ext cx="16230600" cy="1094700"/>
          </a:xfrm>
          <a:prstGeom prst="rect">
            <a:avLst/>
          </a:prstGeom>
          <a:noFill/>
          <a:ln>
            <a:noFill/>
          </a:ln>
        </p:spPr>
        <p:txBody>
          <a:bodyPr anchorCtr="0" anchor="t" bIns="0" lIns="0" spcFirstLastPara="1" rIns="0" wrap="square" tIns="0">
            <a:spAutoFit/>
          </a:bodyPr>
          <a:lstStyle/>
          <a:p>
            <a:pPr indent="0" lvl="0" marL="457200" rtl="0" algn="l">
              <a:lnSpc>
                <a:spcPct val="140027"/>
              </a:lnSpc>
              <a:spcBef>
                <a:spcPts val="0"/>
              </a:spcBef>
              <a:spcAft>
                <a:spcPts val="0"/>
              </a:spcAft>
              <a:buNone/>
            </a:pPr>
            <a:r>
              <a:rPr lang="en-US" sz="2963">
                <a:solidFill>
                  <a:srgbClr val="013362"/>
                </a:solidFill>
                <a:latin typeface="Poppins Light"/>
                <a:ea typeface="Poppins Light"/>
                <a:cs typeface="Poppins Light"/>
                <a:sym typeface="Poppins Light"/>
              </a:rPr>
              <a:t>Divide la aplicación en tres capas: Modelo (datos), Vista (interfaz de usuario) y Controlador (lógica de negocio).</a:t>
            </a:r>
            <a:endParaRPr sz="2963">
              <a:solidFill>
                <a:srgbClr val="013362"/>
              </a:solidFill>
              <a:latin typeface="Poppins Light"/>
              <a:ea typeface="Poppins Light"/>
              <a:cs typeface="Poppins Light"/>
              <a:sym typeface="Poppins Light"/>
            </a:endParaRPr>
          </a:p>
        </p:txBody>
      </p:sp>
      <p:pic>
        <p:nvPicPr>
          <p:cNvPr id="335" name="Google Shape;335;g35ed7b02e5a_2_207"/>
          <p:cNvPicPr preferRelativeResize="0"/>
          <p:nvPr/>
        </p:nvPicPr>
        <p:blipFill>
          <a:blip r:embed="rId3">
            <a:alphaModFix/>
          </a:blip>
          <a:stretch>
            <a:fillRect/>
          </a:stretch>
        </p:blipFill>
        <p:spPr>
          <a:xfrm>
            <a:off x="259775" y="5060425"/>
            <a:ext cx="8624451" cy="2876226"/>
          </a:xfrm>
          <a:prstGeom prst="rect">
            <a:avLst/>
          </a:prstGeom>
          <a:noFill/>
          <a:ln>
            <a:noFill/>
          </a:ln>
        </p:spPr>
      </p:pic>
      <p:pic>
        <p:nvPicPr>
          <p:cNvPr id="336" name="Google Shape;336;g35ed7b02e5a_2_207"/>
          <p:cNvPicPr preferRelativeResize="0"/>
          <p:nvPr/>
        </p:nvPicPr>
        <p:blipFill>
          <a:blip r:embed="rId4">
            <a:alphaModFix/>
          </a:blip>
          <a:stretch>
            <a:fillRect/>
          </a:stretch>
        </p:blipFill>
        <p:spPr>
          <a:xfrm>
            <a:off x="8884226" y="4530320"/>
            <a:ext cx="9098976" cy="51181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40" name="Shape 340"/>
        <p:cNvGrpSpPr/>
        <p:nvPr/>
      </p:nvGrpSpPr>
      <p:grpSpPr>
        <a:xfrm>
          <a:off x="0" y="0"/>
          <a:ext cx="0" cy="0"/>
          <a:chOff x="0" y="0"/>
          <a:chExt cx="0" cy="0"/>
        </a:xfrm>
      </p:grpSpPr>
      <p:grpSp>
        <p:nvGrpSpPr>
          <p:cNvPr id="341" name="Google Shape;341;g35ed7b02e5a_2_217"/>
          <p:cNvGrpSpPr/>
          <p:nvPr/>
        </p:nvGrpSpPr>
        <p:grpSpPr>
          <a:xfrm>
            <a:off x="-584801" y="264900"/>
            <a:ext cx="19457594" cy="2036657"/>
            <a:chOff x="0" y="-76200"/>
            <a:chExt cx="5124600" cy="536400"/>
          </a:xfrm>
        </p:grpSpPr>
        <p:sp>
          <p:nvSpPr>
            <p:cNvPr id="342" name="Google Shape;342;g35ed7b02e5a_2_217"/>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343" name="Google Shape;343;g35ed7b02e5a_2_217"/>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4" name="Google Shape;344;g35ed7b02e5a_2_217"/>
          <p:cNvSpPr txBox="1"/>
          <p:nvPr/>
        </p:nvSpPr>
        <p:spPr>
          <a:xfrm>
            <a:off x="458100" y="758325"/>
            <a:ext cx="17349900" cy="9888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6424">
                <a:solidFill>
                  <a:srgbClr val="FDFDFD"/>
                </a:solidFill>
                <a:latin typeface="Poppins"/>
                <a:ea typeface="Poppins"/>
                <a:cs typeface="Poppins"/>
                <a:sym typeface="Poppins"/>
              </a:rPr>
              <a:t>Patrón de Capas (Layered Architecture)</a:t>
            </a:r>
            <a:endParaRPr b="0" i="0" sz="100" u="none" cap="none" strike="noStrike">
              <a:solidFill>
                <a:srgbClr val="000000"/>
              </a:solidFill>
              <a:latin typeface="Arial"/>
              <a:ea typeface="Arial"/>
              <a:cs typeface="Arial"/>
              <a:sym typeface="Arial"/>
            </a:endParaRPr>
          </a:p>
        </p:txBody>
      </p:sp>
      <p:sp>
        <p:nvSpPr>
          <p:cNvPr id="345" name="Google Shape;345;g35ed7b02e5a_2_217"/>
          <p:cNvSpPr txBox="1"/>
          <p:nvPr/>
        </p:nvSpPr>
        <p:spPr>
          <a:xfrm>
            <a:off x="1028700" y="2969245"/>
            <a:ext cx="16230600" cy="456000"/>
          </a:xfrm>
          <a:prstGeom prst="rect">
            <a:avLst/>
          </a:prstGeom>
          <a:noFill/>
          <a:ln>
            <a:noFill/>
          </a:ln>
        </p:spPr>
        <p:txBody>
          <a:bodyPr anchorCtr="0" anchor="t" bIns="0" lIns="0" spcFirstLastPara="1" rIns="0" wrap="square" tIns="0">
            <a:spAutoFit/>
          </a:bodyPr>
          <a:lstStyle/>
          <a:p>
            <a:pPr indent="0" lvl="0" marL="457200" rtl="0" algn="l">
              <a:lnSpc>
                <a:spcPct val="140027"/>
              </a:lnSpc>
              <a:spcBef>
                <a:spcPts val="0"/>
              </a:spcBef>
              <a:spcAft>
                <a:spcPts val="0"/>
              </a:spcAft>
              <a:buNone/>
            </a:pPr>
            <a:r>
              <a:rPr lang="en-US" sz="2963">
                <a:solidFill>
                  <a:srgbClr val="013362"/>
                </a:solidFill>
                <a:latin typeface="Poppins Light"/>
                <a:ea typeface="Poppins Light"/>
                <a:cs typeface="Poppins Light"/>
                <a:sym typeface="Poppins Light"/>
              </a:rPr>
              <a:t>Divide el sistema en capas (presentación, negocio, persistencia de datos).</a:t>
            </a:r>
            <a:endParaRPr sz="2963">
              <a:solidFill>
                <a:srgbClr val="013362"/>
              </a:solidFill>
              <a:latin typeface="Poppins Light"/>
              <a:ea typeface="Poppins Light"/>
              <a:cs typeface="Poppins Light"/>
              <a:sym typeface="Poppins Light"/>
            </a:endParaRPr>
          </a:p>
        </p:txBody>
      </p:sp>
      <p:pic>
        <p:nvPicPr>
          <p:cNvPr id="346" name="Google Shape;346;g35ed7b02e5a_2_217"/>
          <p:cNvPicPr preferRelativeResize="0"/>
          <p:nvPr/>
        </p:nvPicPr>
        <p:blipFill>
          <a:blip r:embed="rId3">
            <a:alphaModFix/>
          </a:blip>
          <a:stretch>
            <a:fillRect/>
          </a:stretch>
        </p:blipFill>
        <p:spPr>
          <a:xfrm>
            <a:off x="257050" y="4361076"/>
            <a:ext cx="11644774" cy="3087450"/>
          </a:xfrm>
          <a:prstGeom prst="rect">
            <a:avLst/>
          </a:prstGeom>
          <a:noFill/>
          <a:ln>
            <a:noFill/>
          </a:ln>
        </p:spPr>
      </p:pic>
      <p:pic>
        <p:nvPicPr>
          <p:cNvPr id="347" name="Google Shape;347;g35ed7b02e5a_2_217"/>
          <p:cNvPicPr preferRelativeResize="0"/>
          <p:nvPr/>
        </p:nvPicPr>
        <p:blipFill>
          <a:blip r:embed="rId4">
            <a:alphaModFix/>
          </a:blip>
          <a:stretch>
            <a:fillRect/>
          </a:stretch>
        </p:blipFill>
        <p:spPr>
          <a:xfrm>
            <a:off x="12054224" y="4968195"/>
            <a:ext cx="6081375" cy="382339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51" name="Shape 351"/>
        <p:cNvGrpSpPr/>
        <p:nvPr/>
      </p:nvGrpSpPr>
      <p:grpSpPr>
        <a:xfrm>
          <a:off x="0" y="0"/>
          <a:ext cx="0" cy="0"/>
          <a:chOff x="0" y="0"/>
          <a:chExt cx="0" cy="0"/>
        </a:xfrm>
      </p:grpSpPr>
      <p:grpSp>
        <p:nvGrpSpPr>
          <p:cNvPr id="352" name="Google Shape;352;g35ed7b02e5a_2_227"/>
          <p:cNvGrpSpPr/>
          <p:nvPr/>
        </p:nvGrpSpPr>
        <p:grpSpPr>
          <a:xfrm>
            <a:off x="-584801" y="264900"/>
            <a:ext cx="19457594" cy="2036657"/>
            <a:chOff x="0" y="-76200"/>
            <a:chExt cx="5124600" cy="536400"/>
          </a:xfrm>
        </p:grpSpPr>
        <p:sp>
          <p:nvSpPr>
            <p:cNvPr id="353" name="Google Shape;353;g35ed7b02e5a_2_227"/>
            <p:cNvSpPr/>
            <p:nvPr/>
          </p:nvSpPr>
          <p:spPr>
            <a:xfrm>
              <a:off x="0" y="0"/>
              <a:ext cx="5124544" cy="460098"/>
            </a:xfrm>
            <a:custGeom>
              <a:rect b="b" l="l" r="r" t="t"/>
              <a:pathLst>
                <a:path extrusionOk="0" h="460098" w="5124544">
                  <a:moveTo>
                    <a:pt x="0" y="0"/>
                  </a:moveTo>
                  <a:lnTo>
                    <a:pt x="5124544" y="0"/>
                  </a:lnTo>
                  <a:lnTo>
                    <a:pt x="5124544" y="460098"/>
                  </a:lnTo>
                  <a:lnTo>
                    <a:pt x="0" y="460098"/>
                  </a:lnTo>
                  <a:close/>
                </a:path>
              </a:pathLst>
            </a:custGeom>
            <a:solidFill>
              <a:srgbClr val="013362"/>
            </a:solidFill>
            <a:ln>
              <a:noFill/>
            </a:ln>
          </p:spPr>
        </p:sp>
        <p:sp>
          <p:nvSpPr>
            <p:cNvPr id="354" name="Google Shape;354;g35ed7b02e5a_2_227"/>
            <p:cNvSpPr txBox="1"/>
            <p:nvPr/>
          </p:nvSpPr>
          <p:spPr>
            <a:xfrm>
              <a:off x="0" y="-76200"/>
              <a:ext cx="5124600" cy="536400"/>
            </a:xfrm>
            <a:prstGeom prst="rect">
              <a:avLst/>
            </a:prstGeom>
            <a:noFill/>
            <a:ln>
              <a:noFill/>
            </a:ln>
          </p:spPr>
          <p:txBody>
            <a:bodyPr anchorCtr="0" anchor="ctr" bIns="50800" lIns="50800" spcFirstLastPara="1" rIns="50800" wrap="square" tIns="50800">
              <a:noAutofit/>
            </a:bodyPr>
            <a:lstStyle/>
            <a:p>
              <a:pPr indent="0" lvl="0" marL="0" marR="0" rtl="0" algn="ctr">
                <a:lnSpc>
                  <a:spcPct val="198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5" name="Google Shape;355;g35ed7b02e5a_2_227"/>
          <p:cNvSpPr txBox="1"/>
          <p:nvPr/>
        </p:nvSpPr>
        <p:spPr>
          <a:xfrm>
            <a:off x="458100" y="758325"/>
            <a:ext cx="17349900" cy="9888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9224"/>
              <a:buFont typeface="Arial"/>
              <a:buNone/>
            </a:pPr>
            <a:r>
              <a:rPr b="1" lang="en-US" sz="6424">
                <a:solidFill>
                  <a:srgbClr val="FDFDFD"/>
                </a:solidFill>
                <a:latin typeface="Poppins"/>
                <a:ea typeface="Poppins"/>
                <a:cs typeface="Poppins"/>
                <a:sym typeface="Poppins"/>
              </a:rPr>
              <a:t>Microservicios</a:t>
            </a:r>
            <a:endParaRPr b="0" i="0" sz="100" u="none" cap="none" strike="noStrike">
              <a:solidFill>
                <a:srgbClr val="000000"/>
              </a:solidFill>
              <a:latin typeface="Arial"/>
              <a:ea typeface="Arial"/>
              <a:cs typeface="Arial"/>
              <a:sym typeface="Arial"/>
            </a:endParaRPr>
          </a:p>
        </p:txBody>
      </p:sp>
      <p:sp>
        <p:nvSpPr>
          <p:cNvPr id="356" name="Google Shape;356;g35ed7b02e5a_2_227"/>
          <p:cNvSpPr txBox="1"/>
          <p:nvPr/>
        </p:nvSpPr>
        <p:spPr>
          <a:xfrm>
            <a:off x="1028700" y="2969245"/>
            <a:ext cx="16230600" cy="1094700"/>
          </a:xfrm>
          <a:prstGeom prst="rect">
            <a:avLst/>
          </a:prstGeom>
          <a:noFill/>
          <a:ln>
            <a:noFill/>
          </a:ln>
        </p:spPr>
        <p:txBody>
          <a:bodyPr anchorCtr="0" anchor="t" bIns="0" lIns="0" spcFirstLastPara="1" rIns="0" wrap="square" tIns="0">
            <a:spAutoFit/>
          </a:bodyPr>
          <a:lstStyle/>
          <a:p>
            <a:pPr indent="0" lvl="0" marL="457200" rtl="0" algn="l">
              <a:lnSpc>
                <a:spcPct val="140027"/>
              </a:lnSpc>
              <a:spcBef>
                <a:spcPts val="0"/>
              </a:spcBef>
              <a:spcAft>
                <a:spcPts val="0"/>
              </a:spcAft>
              <a:buNone/>
            </a:pPr>
            <a:r>
              <a:rPr lang="en-US" sz="2963">
                <a:solidFill>
                  <a:srgbClr val="013362"/>
                </a:solidFill>
                <a:latin typeface="Poppins Light"/>
                <a:ea typeface="Poppins Light"/>
                <a:cs typeface="Poppins Light"/>
                <a:sym typeface="Poppins Light"/>
              </a:rPr>
              <a:t>Este patrón divide la aplicación en servicios independientes que se comunican entre sí, ideales para escalabilidad y despliegues independientes.</a:t>
            </a:r>
            <a:endParaRPr sz="2963">
              <a:solidFill>
                <a:srgbClr val="013362"/>
              </a:solidFill>
              <a:latin typeface="Poppins Light"/>
              <a:ea typeface="Poppins Light"/>
              <a:cs typeface="Poppins Light"/>
              <a:sym typeface="Poppins Light"/>
            </a:endParaRPr>
          </a:p>
        </p:txBody>
      </p:sp>
      <p:pic>
        <p:nvPicPr>
          <p:cNvPr id="357" name="Google Shape;357;g35ed7b02e5a_2_227"/>
          <p:cNvPicPr preferRelativeResize="0"/>
          <p:nvPr/>
        </p:nvPicPr>
        <p:blipFill>
          <a:blip r:embed="rId3">
            <a:alphaModFix/>
          </a:blip>
          <a:stretch>
            <a:fillRect/>
          </a:stretch>
        </p:blipFill>
        <p:spPr>
          <a:xfrm>
            <a:off x="4084175" y="4981075"/>
            <a:ext cx="10119649" cy="46002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61" name="Shape 361"/>
        <p:cNvGrpSpPr/>
        <p:nvPr/>
      </p:nvGrpSpPr>
      <p:grpSpPr>
        <a:xfrm>
          <a:off x="0" y="0"/>
          <a:ext cx="0" cy="0"/>
          <a:chOff x="0" y="0"/>
          <a:chExt cx="0" cy="0"/>
        </a:xfrm>
      </p:grpSpPr>
      <p:sp>
        <p:nvSpPr>
          <p:cNvPr id="362" name="Google Shape;362;g35ed7b02e5a_2_236"/>
          <p:cNvSpPr/>
          <p:nvPr/>
        </p:nvSpPr>
        <p:spPr>
          <a:xfrm rot="5400000">
            <a:off x="1265450" y="-662396"/>
            <a:ext cx="697688" cy="2646404"/>
          </a:xfrm>
          <a:custGeom>
            <a:rect b="b" l="l" r="r" t="t"/>
            <a:pathLst>
              <a:path extrusionOk="0" h="2646404" w="697688">
                <a:moveTo>
                  <a:pt x="0" y="0"/>
                </a:moveTo>
                <a:lnTo>
                  <a:pt x="697688" y="0"/>
                </a:lnTo>
                <a:lnTo>
                  <a:pt x="697688" y="2646404"/>
                </a:lnTo>
                <a:lnTo>
                  <a:pt x="0" y="2646404"/>
                </a:lnTo>
                <a:lnTo>
                  <a:pt x="0" y="0"/>
                </a:lnTo>
                <a:close/>
              </a:path>
            </a:pathLst>
          </a:custGeom>
          <a:blipFill rotWithShape="1">
            <a:blip r:embed="rId3">
              <a:alphaModFix/>
            </a:blip>
            <a:stretch>
              <a:fillRect b="0" l="0" r="0" t="0"/>
            </a:stretch>
          </a:blipFill>
          <a:ln>
            <a:noFill/>
          </a:ln>
        </p:spPr>
      </p:sp>
      <p:sp>
        <p:nvSpPr>
          <p:cNvPr id="363" name="Google Shape;363;g35ed7b02e5a_2_236"/>
          <p:cNvSpPr/>
          <p:nvPr/>
        </p:nvSpPr>
        <p:spPr>
          <a:xfrm rot="5400000">
            <a:off x="16450269" y="8445385"/>
            <a:ext cx="697688" cy="2646404"/>
          </a:xfrm>
          <a:custGeom>
            <a:rect b="b" l="l" r="r" t="t"/>
            <a:pathLst>
              <a:path extrusionOk="0" h="2646404" w="697688">
                <a:moveTo>
                  <a:pt x="0" y="0"/>
                </a:moveTo>
                <a:lnTo>
                  <a:pt x="697689" y="0"/>
                </a:lnTo>
                <a:lnTo>
                  <a:pt x="697689" y="2646405"/>
                </a:lnTo>
                <a:lnTo>
                  <a:pt x="0" y="2646405"/>
                </a:lnTo>
                <a:lnTo>
                  <a:pt x="0" y="0"/>
                </a:lnTo>
                <a:close/>
              </a:path>
            </a:pathLst>
          </a:custGeom>
          <a:blipFill rotWithShape="1">
            <a:blip r:embed="rId3">
              <a:alphaModFix/>
            </a:blip>
            <a:stretch>
              <a:fillRect b="0" l="0" r="0" t="0"/>
            </a:stretch>
          </a:blipFill>
          <a:ln>
            <a:noFill/>
          </a:ln>
        </p:spPr>
      </p:sp>
      <p:pic>
        <p:nvPicPr>
          <p:cNvPr descr="🚀 Desbloquea más de +170 cursos Premium a un precio especial: https://codigofacilito.com/promo&#10;&#10;🐊 Síguenos en:&#10;Twitter: https://twitter.com/codigofacilito&#10;Facebook: https://facebook.com/codigofacilito&#10;Instagram:  https://instagram.com/codigofacilito&#10;TikTok: codigofacilito.oficial&#10;&#10;----&#10;Código Facilito es una de las plataformas de aprendizaje online de programación más grandes de habla hispana. Desde el 2010 formamos programadores en toda América Latina y España enseñando. HTML, JavaScript, React, Python, Rails, Go y mucho más." id="364" name="Google Shape;364;g35ed7b02e5a_2_236" title="Diferencias entre frameworks y librerías.">
            <a:hlinkClick r:id="rId4"/>
          </p:cNvPr>
          <p:cNvPicPr preferRelativeResize="0"/>
          <p:nvPr/>
        </p:nvPicPr>
        <p:blipFill>
          <a:blip r:embed="rId5">
            <a:alphaModFix/>
          </a:blip>
          <a:stretch>
            <a:fillRect/>
          </a:stretch>
        </p:blipFill>
        <p:spPr>
          <a:xfrm>
            <a:off x="1019600" y="1311550"/>
            <a:ext cx="6466800" cy="3637575"/>
          </a:xfrm>
          <a:prstGeom prst="rect">
            <a:avLst/>
          </a:prstGeom>
          <a:noFill/>
          <a:ln>
            <a:noFill/>
          </a:ln>
        </p:spPr>
      </p:pic>
      <p:pic>
        <p:nvPicPr>
          <p:cNvPr descr="Django usa el patrón Modelo Vista Controlador como patrón de arquitectura para el desarrollo de aplicaciones, sólo que lo modifica un poco, en este clase veremos qué es el patrón MVC y cómo se aplica en el desarrollo de proyectos con Django.&#10;&#10;Esta clase pertenece al Curso de Django que puedes encontrar completo en https:platzi.com/django&#10;&#10;PlatziLab." id="365" name="Google Shape;365;g35ed7b02e5a_2_236" title="Qué es MVC y cómo se aplica en Django">
            <a:hlinkClick r:id="rId6"/>
          </p:cNvPr>
          <p:cNvPicPr preferRelativeResize="0"/>
          <p:nvPr/>
        </p:nvPicPr>
        <p:blipFill>
          <a:blip r:embed="rId7">
            <a:alphaModFix/>
          </a:blip>
          <a:stretch>
            <a:fillRect/>
          </a:stretch>
        </p:blipFill>
        <p:spPr>
          <a:xfrm>
            <a:off x="9163900" y="3262425"/>
            <a:ext cx="7198450" cy="4049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1000"/>
                                        <p:tgtEl>
                                          <p:spTgt spid="3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DFDFD"/>
        </a:solidFill>
      </p:bgPr>
    </p:bg>
    <p:spTree>
      <p:nvGrpSpPr>
        <p:cNvPr id="369" name="Shape 369"/>
        <p:cNvGrpSpPr/>
        <p:nvPr/>
      </p:nvGrpSpPr>
      <p:grpSpPr>
        <a:xfrm>
          <a:off x="0" y="0"/>
          <a:ext cx="0" cy="0"/>
          <a:chOff x="0" y="0"/>
          <a:chExt cx="0" cy="0"/>
        </a:xfrm>
      </p:grpSpPr>
      <p:sp>
        <p:nvSpPr>
          <p:cNvPr id="370" name="Google Shape;370;g35ed7b02e5a_2_243"/>
          <p:cNvSpPr/>
          <p:nvPr/>
        </p:nvSpPr>
        <p:spPr>
          <a:xfrm rot="5400000">
            <a:off x="1265450" y="-662396"/>
            <a:ext cx="697688" cy="2646404"/>
          </a:xfrm>
          <a:custGeom>
            <a:rect b="b" l="l" r="r" t="t"/>
            <a:pathLst>
              <a:path extrusionOk="0" h="2646404" w="697688">
                <a:moveTo>
                  <a:pt x="0" y="0"/>
                </a:moveTo>
                <a:lnTo>
                  <a:pt x="697688" y="0"/>
                </a:lnTo>
                <a:lnTo>
                  <a:pt x="697688" y="2646404"/>
                </a:lnTo>
                <a:lnTo>
                  <a:pt x="0" y="2646404"/>
                </a:lnTo>
                <a:lnTo>
                  <a:pt x="0" y="0"/>
                </a:lnTo>
                <a:close/>
              </a:path>
            </a:pathLst>
          </a:custGeom>
          <a:blipFill rotWithShape="1">
            <a:blip r:embed="rId3">
              <a:alphaModFix/>
            </a:blip>
            <a:stretch>
              <a:fillRect b="0" l="0" r="0" t="0"/>
            </a:stretch>
          </a:blipFill>
          <a:ln>
            <a:noFill/>
          </a:ln>
        </p:spPr>
      </p:sp>
      <p:sp>
        <p:nvSpPr>
          <p:cNvPr id="371" name="Google Shape;371;g35ed7b02e5a_2_243"/>
          <p:cNvSpPr/>
          <p:nvPr/>
        </p:nvSpPr>
        <p:spPr>
          <a:xfrm rot="5400000">
            <a:off x="16450269" y="8445385"/>
            <a:ext cx="697688" cy="2646404"/>
          </a:xfrm>
          <a:custGeom>
            <a:rect b="b" l="l" r="r" t="t"/>
            <a:pathLst>
              <a:path extrusionOk="0" h="2646404" w="697688">
                <a:moveTo>
                  <a:pt x="0" y="0"/>
                </a:moveTo>
                <a:lnTo>
                  <a:pt x="697689" y="0"/>
                </a:lnTo>
                <a:lnTo>
                  <a:pt x="697689" y="2646405"/>
                </a:lnTo>
                <a:lnTo>
                  <a:pt x="0" y="2646405"/>
                </a:lnTo>
                <a:lnTo>
                  <a:pt x="0" y="0"/>
                </a:lnTo>
                <a:close/>
              </a:path>
            </a:pathLst>
          </a:custGeom>
          <a:blipFill rotWithShape="1">
            <a:blip r:embed="rId3">
              <a:alphaModFix/>
            </a:blip>
            <a:stretch>
              <a:fillRect b="0" l="0" r="0" t="0"/>
            </a:stretch>
          </a:blipFill>
          <a:ln>
            <a:noFill/>
          </a:ln>
        </p:spPr>
      </p:sp>
      <p:pic>
        <p:nvPicPr>
          <p:cNvPr id="372" name="Google Shape;372;g35ed7b02e5a_2_243"/>
          <p:cNvPicPr preferRelativeResize="0"/>
          <p:nvPr/>
        </p:nvPicPr>
        <p:blipFill rotWithShape="1">
          <a:blip r:embed="rId4">
            <a:alphaModFix/>
          </a:blip>
          <a:srcRect b="0" l="0" r="0" t="0"/>
          <a:stretch/>
        </p:blipFill>
        <p:spPr>
          <a:xfrm>
            <a:off x="2529150" y="1655475"/>
            <a:ext cx="13229700" cy="7444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CONCEPTOS CLAVE APRENDIDOS </a:t>
            </a:r>
            <a:endParaRPr b="0" i="0" sz="1400" u="none" cap="none" strike="noStrike">
              <a:solidFill>
                <a:srgbClr val="000000"/>
              </a:solidFill>
              <a:latin typeface="Impact"/>
              <a:ea typeface="Impact"/>
              <a:cs typeface="Impact"/>
              <a:sym typeface="Impact"/>
            </a:endParaRPr>
          </a:p>
        </p:txBody>
      </p:sp>
      <p:sp>
        <p:nvSpPr>
          <p:cNvPr id="378" name="Google Shape;378;p6"/>
          <p:cNvSpPr txBox="1"/>
          <p:nvPr/>
        </p:nvSpPr>
        <p:spPr>
          <a:xfrm>
            <a:off x="2070450" y="2062125"/>
            <a:ext cx="11053500" cy="5917800"/>
          </a:xfrm>
          <a:prstGeom prst="rect">
            <a:avLst/>
          </a:prstGeom>
          <a:noFill/>
          <a:ln>
            <a:noFill/>
          </a:ln>
        </p:spPr>
        <p:txBody>
          <a:bodyPr anchorCtr="0" anchor="t" bIns="0" lIns="0" spcFirstLastPara="1" rIns="0" wrap="square" tIns="0">
            <a:spAutoFit/>
          </a:bodyPr>
          <a:lstStyle/>
          <a:p>
            <a:pPr indent="-428688" lvl="0" marL="457200" marR="0" rtl="0" algn="l">
              <a:lnSpc>
                <a:spcPct val="140019"/>
              </a:lnSpc>
              <a:spcBef>
                <a:spcPts val="0"/>
              </a:spcBef>
              <a:spcAft>
                <a:spcPts val="0"/>
              </a:spcAft>
              <a:buClr>
                <a:srgbClr val="131416"/>
              </a:buClr>
              <a:buSzPts val="3151"/>
              <a:buChar char="●"/>
            </a:pPr>
            <a:r>
              <a:rPr lang="en-US" sz="3151">
                <a:solidFill>
                  <a:srgbClr val="131416"/>
                </a:solidFill>
              </a:rPr>
              <a:t>Framework</a:t>
            </a:r>
            <a:endParaRPr sz="3151">
              <a:solidFill>
                <a:srgbClr val="131416"/>
              </a:solidFill>
            </a:endParaRPr>
          </a:p>
          <a:p>
            <a:pPr indent="-428688" lvl="0" marL="457200" marR="0" rtl="0" algn="l">
              <a:lnSpc>
                <a:spcPct val="140019"/>
              </a:lnSpc>
              <a:spcBef>
                <a:spcPts val="0"/>
              </a:spcBef>
              <a:spcAft>
                <a:spcPts val="0"/>
              </a:spcAft>
              <a:buClr>
                <a:srgbClr val="131416"/>
              </a:buClr>
              <a:buSzPts val="3151"/>
              <a:buChar char="●"/>
            </a:pPr>
            <a:r>
              <a:rPr lang="en-US" sz="3151">
                <a:solidFill>
                  <a:srgbClr val="131416"/>
                </a:solidFill>
              </a:rPr>
              <a:t>Tipos de Frameworks: Frontend, Backend, Mobile, Testing, Machine Learning, Desarrollo de Juegos</a:t>
            </a:r>
            <a:endParaRPr sz="3151">
              <a:solidFill>
                <a:srgbClr val="131416"/>
              </a:solidFill>
            </a:endParaRPr>
          </a:p>
          <a:p>
            <a:pPr indent="-428688" lvl="0" marL="457200" marR="0" rtl="0" algn="l">
              <a:lnSpc>
                <a:spcPct val="140019"/>
              </a:lnSpc>
              <a:spcBef>
                <a:spcPts val="0"/>
              </a:spcBef>
              <a:spcAft>
                <a:spcPts val="0"/>
              </a:spcAft>
              <a:buClr>
                <a:srgbClr val="131416"/>
              </a:buClr>
              <a:buSzPts val="3151"/>
              <a:buChar char="●"/>
            </a:pPr>
            <a:r>
              <a:rPr lang="en-US" sz="3151">
                <a:solidFill>
                  <a:srgbClr val="131416"/>
                </a:solidFill>
              </a:rPr>
              <a:t>Modularidad</a:t>
            </a:r>
            <a:endParaRPr sz="3151">
              <a:solidFill>
                <a:srgbClr val="131416"/>
              </a:solidFill>
            </a:endParaRPr>
          </a:p>
          <a:p>
            <a:pPr indent="-428688" lvl="0" marL="457200" marR="0" rtl="0" algn="l">
              <a:lnSpc>
                <a:spcPct val="140019"/>
              </a:lnSpc>
              <a:spcBef>
                <a:spcPts val="0"/>
              </a:spcBef>
              <a:spcAft>
                <a:spcPts val="0"/>
              </a:spcAft>
              <a:buClr>
                <a:srgbClr val="131416"/>
              </a:buClr>
              <a:buSzPts val="3151"/>
              <a:buChar char="●"/>
            </a:pPr>
            <a:r>
              <a:rPr lang="en-US" sz="3151">
                <a:solidFill>
                  <a:srgbClr val="131416"/>
                </a:solidFill>
              </a:rPr>
              <a:t>Inversión de control</a:t>
            </a:r>
            <a:endParaRPr sz="3151">
              <a:solidFill>
                <a:srgbClr val="131416"/>
              </a:solidFill>
            </a:endParaRPr>
          </a:p>
          <a:p>
            <a:pPr indent="-428688" lvl="0" marL="457200" marR="0" rtl="0" algn="l">
              <a:lnSpc>
                <a:spcPct val="140019"/>
              </a:lnSpc>
              <a:spcBef>
                <a:spcPts val="0"/>
              </a:spcBef>
              <a:spcAft>
                <a:spcPts val="0"/>
              </a:spcAft>
              <a:buClr>
                <a:srgbClr val="131416"/>
              </a:buClr>
              <a:buSzPts val="3151"/>
              <a:buChar char="●"/>
            </a:pPr>
            <a:r>
              <a:rPr lang="en-US" sz="3151">
                <a:solidFill>
                  <a:srgbClr val="131416"/>
                </a:solidFill>
              </a:rPr>
              <a:t>Extensibilidad</a:t>
            </a:r>
            <a:endParaRPr sz="3151">
              <a:solidFill>
                <a:srgbClr val="131416"/>
              </a:solidFill>
            </a:endParaRPr>
          </a:p>
          <a:p>
            <a:pPr indent="-428688" lvl="0" marL="457200" marR="0" rtl="0" algn="l">
              <a:lnSpc>
                <a:spcPct val="140019"/>
              </a:lnSpc>
              <a:spcBef>
                <a:spcPts val="0"/>
              </a:spcBef>
              <a:spcAft>
                <a:spcPts val="0"/>
              </a:spcAft>
              <a:buClr>
                <a:srgbClr val="131416"/>
              </a:buClr>
              <a:buSzPts val="3151"/>
              <a:buChar char="●"/>
            </a:pPr>
            <a:r>
              <a:rPr lang="en-US" sz="3151">
                <a:solidFill>
                  <a:srgbClr val="131416"/>
                </a:solidFill>
              </a:rPr>
              <a:t>Integración de herramientas</a:t>
            </a:r>
            <a:endParaRPr sz="3151">
              <a:solidFill>
                <a:srgbClr val="131416"/>
              </a:solidFill>
            </a:endParaRPr>
          </a:p>
          <a:p>
            <a:pPr indent="-428688" lvl="0" marL="457200" marR="0" rtl="0" algn="l">
              <a:lnSpc>
                <a:spcPct val="140019"/>
              </a:lnSpc>
              <a:spcBef>
                <a:spcPts val="0"/>
              </a:spcBef>
              <a:spcAft>
                <a:spcPts val="0"/>
              </a:spcAft>
              <a:buClr>
                <a:srgbClr val="131416"/>
              </a:buClr>
              <a:buSzPts val="3151"/>
              <a:buChar char="●"/>
            </a:pPr>
            <a:r>
              <a:rPr lang="en-US" sz="3151">
                <a:solidFill>
                  <a:srgbClr val="131416"/>
                </a:solidFill>
              </a:rPr>
              <a:t>Aceleración del desarrollo</a:t>
            </a:r>
            <a:endParaRPr sz="3151">
              <a:solidFill>
                <a:srgbClr val="131416"/>
              </a:solidFill>
            </a:endParaRPr>
          </a:p>
          <a:p>
            <a:pPr indent="-428688" lvl="0" marL="457200" marR="0" rtl="0" algn="l">
              <a:lnSpc>
                <a:spcPct val="140019"/>
              </a:lnSpc>
              <a:spcBef>
                <a:spcPts val="0"/>
              </a:spcBef>
              <a:spcAft>
                <a:spcPts val="0"/>
              </a:spcAft>
              <a:buClr>
                <a:srgbClr val="131416"/>
              </a:buClr>
              <a:buSzPts val="3151"/>
              <a:buChar char="●"/>
            </a:pPr>
            <a:r>
              <a:rPr lang="en-US" sz="3151">
                <a:solidFill>
                  <a:srgbClr val="131416"/>
                </a:solidFill>
              </a:rPr>
              <a:t>Facilidad de mantenimiento</a:t>
            </a:r>
            <a:endParaRPr sz="3151">
              <a:solidFill>
                <a:srgbClr val="131416"/>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7"/>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lang="en-US" sz="6900">
                <a:solidFill>
                  <a:srgbClr val="131416"/>
                </a:solidFill>
                <a:latin typeface="Impact"/>
                <a:ea typeface="Impact"/>
                <a:cs typeface="Impact"/>
                <a:sym typeface="Impact"/>
              </a:rPr>
              <a:t>Respeto</a:t>
            </a:r>
            <a:endParaRPr b="0" i="0" sz="1400" u="none" cap="none" strike="noStrike">
              <a:solidFill>
                <a:srgbClr val="000000"/>
              </a:solidFill>
              <a:latin typeface="Impact"/>
              <a:ea typeface="Impact"/>
              <a:cs typeface="Impact"/>
              <a:sym typeface="Impact"/>
            </a:endParaRPr>
          </a:p>
        </p:txBody>
      </p:sp>
      <p:sp>
        <p:nvSpPr>
          <p:cNvPr id="384" name="Google Shape;384;p7"/>
          <p:cNvSpPr txBox="1"/>
          <p:nvPr/>
        </p:nvSpPr>
        <p:spPr>
          <a:xfrm>
            <a:off x="2230719" y="2675475"/>
            <a:ext cx="14171700" cy="45597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3151"/>
              <a:buFont typeface="Arial"/>
              <a:buNone/>
            </a:pPr>
            <a:r>
              <a:rPr b="1" lang="en-US" sz="3151">
                <a:solidFill>
                  <a:srgbClr val="131416"/>
                </a:solidFill>
              </a:rPr>
              <a:t>Durante el trabajo en equipo:</a:t>
            </a:r>
            <a:r>
              <a:rPr lang="en-US" sz="3151">
                <a:solidFill>
                  <a:srgbClr val="131416"/>
                </a:solidFill>
              </a:rPr>
              <a:t> Escuchando activamente las ideas de todos los integrantes, sin interrumpir ni menospreciar propuestas. Se valora cada contribución como parte del diseño colaborativo de sistemas.</a:t>
            </a:r>
            <a:endParaRPr sz="3151">
              <a:solidFill>
                <a:srgbClr val="131416"/>
              </a:solidFill>
            </a:endParaRPr>
          </a:p>
          <a:p>
            <a:pPr indent="0" lvl="0" marL="0" marR="0" rtl="0" algn="l">
              <a:lnSpc>
                <a:spcPct val="140019"/>
              </a:lnSpc>
              <a:spcBef>
                <a:spcPts val="0"/>
              </a:spcBef>
              <a:spcAft>
                <a:spcPts val="0"/>
              </a:spcAft>
              <a:buClr>
                <a:srgbClr val="000000"/>
              </a:buClr>
              <a:buSzPts val="3151"/>
              <a:buFont typeface="Arial"/>
              <a:buNone/>
            </a:pPr>
            <a:r>
              <a:t/>
            </a:r>
            <a:endParaRPr sz="3151">
              <a:solidFill>
                <a:srgbClr val="131416"/>
              </a:solidFill>
            </a:endParaRPr>
          </a:p>
          <a:p>
            <a:pPr indent="0" lvl="0" marL="0" marR="0" rtl="0" algn="l">
              <a:lnSpc>
                <a:spcPct val="140019"/>
              </a:lnSpc>
              <a:spcBef>
                <a:spcPts val="0"/>
              </a:spcBef>
              <a:spcAft>
                <a:spcPts val="0"/>
              </a:spcAft>
              <a:buClr>
                <a:srgbClr val="000000"/>
              </a:buClr>
              <a:buSzPts val="3151"/>
              <a:buFont typeface="Arial"/>
              <a:buNone/>
            </a:pPr>
            <a:r>
              <a:rPr b="1" lang="en-US" sz="3151">
                <a:solidFill>
                  <a:srgbClr val="131416"/>
                </a:solidFill>
              </a:rPr>
              <a:t>Con el entorno de aprendizaje:</a:t>
            </a:r>
            <a:r>
              <a:rPr lang="en-US" sz="3151">
                <a:solidFill>
                  <a:srgbClr val="131416"/>
                </a:solidFill>
              </a:rPr>
              <a:t> Respetando los espacios físicos y virtuales (como foros, repositorios o plataformas), evitando actitudes disruptivas o fuera de lugar.</a:t>
            </a:r>
            <a:endParaRPr sz="3151">
              <a:solidFill>
                <a:srgbClr val="131416"/>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9"/>
          <p:cNvSpPr txBox="1"/>
          <p:nvPr/>
        </p:nvSpPr>
        <p:spPr>
          <a:xfrm>
            <a:off x="4437795" y="3389104"/>
            <a:ext cx="8658900" cy="19152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Impact"/>
                <a:ea typeface="Impact"/>
                <a:cs typeface="Impact"/>
                <a:sym typeface="Impact"/>
              </a:rPr>
              <a:t>¡GRACIAS POR SU  ATENCIÓN!</a:t>
            </a:r>
            <a:endParaRPr b="0" i="0" sz="1400" u="none" cap="none" strike="noStrike">
              <a:solidFill>
                <a:srgbClr val="000000"/>
              </a:solidFill>
              <a:latin typeface="Impact"/>
              <a:ea typeface="Impact"/>
              <a:cs typeface="Impact"/>
              <a:sym typeface="Impact"/>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Impact"/>
              <a:ea typeface="Impact"/>
              <a:cs typeface="Impact"/>
              <a:sym typeface="Impact"/>
            </a:endParaRPr>
          </a:p>
        </p:txBody>
      </p:sp>
      <p:sp>
        <p:nvSpPr>
          <p:cNvPr id="390" name="Google Shape;390;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391" name="Google Shape;391;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392" name="Google Shape;392;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