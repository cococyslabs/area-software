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  <p:embeddedFont>
      <p:font typeface="Poppins Black"/>
      <p:bold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BH9FNR5BpyePZsy5cXRpjqQoy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1E8458-4463-4D39-9E21-6AF0D1C223E8}">
  <a:tblStyle styleId="{D51E8458-4463-4D39-9E21-6AF0D1C223E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FAA3DFF-00E8-496C-86C2-FC56FF8015C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ECF4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8ECF4"/>
          </a:solidFill>
        </a:fill>
      </a:tcStyle>
    </a:firstRow>
    <a:neCell>
      <a:tcTxStyle/>
    </a:neCell>
    <a:nwCell>
      <a:tcTxStyle/>
    </a:nwCell>
  </a:tblStyle>
  <a:tblStyle styleId="{69CF80C8-C8AA-4FC0-A6A2-84C3EB0F5E77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5.xml"/><Relationship Id="rId33" Type="http://schemas.openxmlformats.org/officeDocument/2006/relationships/font" Target="fonts/PoppinsBlack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Black-bold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ed9f847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5ed9f8475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d9f8475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5ed9f8475e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9f8475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5ed9f8475e_0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ed9f8475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5ed9f8475e_0_2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ed9f8475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5ed9f8475e_0_2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ed9f8475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5ed9f8475e_0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0abd5a1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60abd5a1b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006913" y="2449453"/>
            <a:ext cx="15968700" cy="413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 los patrones de diseño estructurales analizando sus patrones de interacción, beneficios y escenarios de uso para mejorar la organización y escalabilidad del software.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374889" y="3027816"/>
            <a:ext cx="126255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g35ed9f8475e_0_1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{D51E8458-4463-4D39-9E21-6AF0D1C223E8}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Grupos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Teoría Introductoria de Patrones de diseño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b="1" sz="20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Práctico</a:t>
                      </a:r>
                      <a:endParaRPr sz="20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" name="Google Shape;109;g35ed9f8475e_0_1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10" name="Google Shape;110;g35ed9f8475e_0_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5ed9f8475e_0_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5ed9f8475e_0_1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5ed9f8475e_0_1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5ed9f8475e_0_1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5ed9f8475e_0_10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20" name="Google Shape;120;g35ed9f8475e_0_10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5ed9f8475e_0_10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g35ed9f8475e_0_10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Estructurales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5ed9f8475e_0_100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que tiene que ver con la forma en que las clases se relacionan con otras clases. Estos patrones ayudan a dar un mayor orden a nuestras clases ayudando a crear componentes más flexibles y extensibles.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5ed9f8475e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513" y="4910675"/>
            <a:ext cx="5333326" cy="53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g35ed9f8475e_0_206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0" name="Google Shape;130;g35ed9f8475e_0_206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5ed9f8475e_0_206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g35ed9f8475e_0_206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Patrón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5ed9f8475e_0_206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Adapter es un patrón de diseño estructural que permite la colaboración entre objetos con interfaces incompatibles.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35ed9f8475e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50" y="4620045"/>
            <a:ext cx="6096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5ed9f8475e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700" y="4288250"/>
            <a:ext cx="490649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5ed9f8475e_0_2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12475" y="6145300"/>
            <a:ext cx="5769429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g35ed9f8475e_0_21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42" name="Google Shape;142;g35ed9f8475e_0_21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5ed9f8475e_0_21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g35ed9f8475e_0_21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Patrón Decorator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5ed9f8475e_0_21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Decorator es un patrón de diseño estructural que te permite añadir funcionalidades a objetos colocando estos objetos dentro de objetos encapsuladores especiales que contienen estas funcionalidades.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5ed9f8475e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4855045"/>
            <a:ext cx="5715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5ed9f8475e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9975" y="5004550"/>
            <a:ext cx="7780925" cy="477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5ed9f8475e_0_2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97000" y="5004551"/>
            <a:ext cx="3484775" cy="33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g35ed9f8475e_0_22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54" name="Google Shape;154;g35ed9f8475e_0_22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5ed9f8475e_0_22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g35ed9f8475e_0_228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Patrón Facade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5ed9f8475e_0_228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Facade es un patrón de diseño estructural que proporciona una interfaz simplificada a una biblioteca, un framework o cualquier otro grupo complejo de clases.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5ed9f8475e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175" y="4854976"/>
            <a:ext cx="6007850" cy="40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5ed9f8475e_0_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575" y="4432026"/>
            <a:ext cx="5745850" cy="22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g35ed9f8475e_0_23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65" name="Google Shape;165;g35ed9f8475e_0_23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5ed9f8475e_0_23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g35ed9f8475e_0_238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Patrón Proxy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5ed9f8475e_0_238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Proxy es un patrón de diseño estructural que te permite proporcionar un sustituto o marcador de posición para otro objeto. Un proxy controla el acceso al objeto original, permitiéndole hacer algo antes o después de que la solicitud llegue al objeto original.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5ed9f8475e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0" y="4790879"/>
            <a:ext cx="8960400" cy="28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5ed9f8475e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3225" y="5433827"/>
            <a:ext cx="6911000" cy="21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76" name="Google Shape;176;p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"/>
          <p:cNvSpPr txBox="1"/>
          <p:nvPr/>
        </p:nvSpPr>
        <p:spPr>
          <a:xfrm>
            <a:off x="1599296" y="758314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¿Cuándo se usán?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p2"/>
          <p:cNvGraphicFramePr/>
          <p:nvPr/>
        </p:nvGraphicFramePr>
        <p:xfrm>
          <a:off x="2988127" y="315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{DFAA3DFF-00E8-496C-86C2-FC56FF8015C4}</a:tableStyleId>
              </a:tblPr>
              <a:tblGrid>
                <a:gridCol w="5755825"/>
                <a:gridCol w="5755825"/>
              </a:tblGrid>
              <a:tr h="38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Patrón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¿Cuándo se usa?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</a:tr>
              <a:tr h="119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Adapter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Cuando necesitas </a:t>
                      </a:r>
                      <a:r>
                        <a:rPr b="1" lang="en-US" sz="2000" u="none" cap="none" strike="noStrike"/>
                        <a:t>hacer compatibles dos interfaces</a:t>
                      </a:r>
                      <a:r>
                        <a:rPr lang="en-US" sz="2000" u="none" cap="none" strike="noStrike"/>
                        <a:t> que no lo son. Por ejemplo, al integrar una clase externa o heredada que no se puede modificar con el sistema actual.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19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Decorator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Cuando deseas </a:t>
                      </a:r>
                      <a:r>
                        <a:rPr b="1" lang="en-US" sz="2000" u="none" cap="none" strike="noStrike"/>
                        <a:t>agregar funcionalidades adicionales a un objeto</a:t>
                      </a:r>
                      <a:r>
                        <a:rPr lang="en-US" sz="2000" u="none" cap="none" strike="noStrike"/>
                        <a:t> sin modificar su clase original. Útil para extender comportamiento dinámicamente.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9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Facade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Cuando necesitas </a:t>
                      </a:r>
                      <a:r>
                        <a:rPr b="1" lang="en-US" sz="2000" u="none" cap="none" strike="noStrike"/>
                        <a:t>simplificar el acceso a un sistema complejo</a:t>
                      </a:r>
                      <a:r>
                        <a:rPr lang="en-US" sz="2000" u="none" cap="none" strike="noStrike"/>
                        <a:t> agrupando llamadas o procesos internos bajo una interfaz más simple.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19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Proxy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Cuando quieres </a:t>
                      </a:r>
                      <a:r>
                        <a:rPr b="1" lang="en-US" sz="2000" u="none" cap="none" strike="noStrike"/>
                        <a:t>controlar el acceso a un objeto</a:t>
                      </a:r>
                      <a:r>
                        <a:rPr lang="en-US" sz="2000" u="none" cap="none" strike="noStrike"/>
                        <a:t> (por ejemplo: añadir seguridad, cargar bajo demanda, o hacer algo antes/después de acceder al objeto real).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5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5"/>
          <p:cNvSpPr txBox="1"/>
          <p:nvPr/>
        </p:nvSpPr>
        <p:spPr>
          <a:xfrm>
            <a:off x="1599296" y="758314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5"/>
          <p:cNvGraphicFramePr/>
          <p:nvPr/>
        </p:nvGraphicFramePr>
        <p:xfrm>
          <a:off x="2563585" y="3279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{DFAA3DFF-00E8-496C-86C2-FC56FF8015C4}</a:tableStyleId>
              </a:tblPr>
              <a:tblGrid>
                <a:gridCol w="4104225"/>
                <a:gridCol w="4104225"/>
                <a:gridCol w="4104225"/>
              </a:tblGrid>
              <a:tr h="38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Funcionalidad del sistema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Patrón estructural aplicable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Justificación / Uso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</a:tr>
              <a:tr h="119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Integrar una API externa de biblioteca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Adapter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La API externa tiene métodos diferentes, se necesita adaptarla a la interfaz de tu sistema.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92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Agregar funciones opcionales a un curso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Decorator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Añadir certificados, subtítulos o acceso premium sin modificar la clase original del curso.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19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Interfaz unificada para estudiantes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Facade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Agrupa múltiples operaciones del sistema (ver cursos, notas, notificaciones) bajo una interfaz simple.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92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Controlar acceso a contenido premium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Proxy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Verifica si el estudiante tiene suscripción activa antes de mostrar el contenido.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94" name="Google Shape;194;p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7"/>
          <p:cNvSpPr txBox="1"/>
          <p:nvPr/>
        </p:nvSpPr>
        <p:spPr>
          <a:xfrm>
            <a:off x="1599296" y="758314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Ventajas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7" name="Google Shape;197;p7"/>
          <p:cNvGraphicFramePr/>
          <p:nvPr/>
        </p:nvGraphicFramePr>
        <p:xfrm>
          <a:off x="2988129" y="3558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{DFAA3DFF-00E8-496C-86C2-FC56FF8015C4}</a:tableStyleId>
              </a:tblPr>
              <a:tblGrid>
                <a:gridCol w="6000750"/>
                <a:gridCol w="6000750"/>
              </a:tblGrid>
              <a:tr h="37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Patrón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Ventajas principales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</a:tr>
              <a:tr h="115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Adapter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 Permite reutilizar código existente sin modificarlo.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- Facilita la integración con librerías o APIs externas.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9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Decorator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 Agrega funcionalidades dinámicamente.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- Promueve código abierto para extensión, cerrado para modificación (principio OCP).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9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Facade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 Reduce la complejidad para el usuario o desarrollador.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- Oculta detalles internos del sistema.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9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Proxy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 Controla el acceso al objeto real.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- Puede añadir funcionalidades como caché, logging, validación o carga diferida (lazy loading).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03" name="Google Shape;203;p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8"/>
          <p:cNvSpPr txBox="1"/>
          <p:nvPr/>
        </p:nvSpPr>
        <p:spPr>
          <a:xfrm>
            <a:off x="1338039" y="733684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1338039" y="3837094"/>
            <a:ext cx="973182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grupo de estudiantes de Ingeniería está desarrollando una aplicación llamada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MiEstudianteUSAC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pensada para que los alumnos puedan: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 su horario y cursos.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Consultar materiales de clase y notas.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Recibir alertas importantes.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Enlazar su cuenta con sistemas antiguos de la facultad.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Acceder a contenido avanzado si han completado ciertas tareas o tienen permisos especiales.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12" name="Google Shape;212;p2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22"/>
          <p:cNvSpPr txBox="1"/>
          <p:nvPr/>
        </p:nvSpPr>
        <p:spPr>
          <a:xfrm>
            <a:off x="1338039" y="733684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22"/>
          <p:cNvGraphicFramePr/>
          <p:nvPr/>
        </p:nvGraphicFramePr>
        <p:xfrm>
          <a:off x="3047041" y="3453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{69CF80C8-C8AA-4FC0-A6A2-84C3EB0F5E77}</a:tableStyleId>
              </a:tblPr>
              <a:tblGrid>
                <a:gridCol w="4064650"/>
                <a:gridCol w="4064650"/>
                <a:gridCol w="40646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Funcionalidad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Patrón aplicado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Justificación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Ver su horario y cursos (de forma simplificada)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Facade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Simplifica el acceso a múltiples fuentes de datos (horario, materias, fechas) desde una sola interfaz.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Consultar materiales de clase y notas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Facade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Reúne diferentes subsistemas (notas, archivos, comentarios) bajo un único punto de acceso amigable.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Recibir alertas importantes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Decorator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Permite agregar dinámicamente notificaciones o alertas encima de la interfaz base sin modificarla.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Enlazar su cuenta con sistemas antiguos (SIU, SIGA)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Adapter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Traduce interfaces incompatibles de los sistemas antiguos al formato que espera la nueva app.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Acceder a contenido avanzado con permisos especiales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Proxy</a:t>
                      </a:r>
                      <a:endParaRPr sz="20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Controla el acceso al contenido premium o exclusivo, verificando permisos antes de mostrarlo.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035245" y="2482800"/>
            <a:ext cx="9984000" cy="172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Patrones estructurales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0abd5a1b6_0_0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COLABORACIÓN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7" name="Google Shape;227;g360abd5a1b6_0_0"/>
          <p:cNvSpPr txBox="1"/>
          <p:nvPr/>
        </p:nvSpPr>
        <p:spPr>
          <a:xfrm>
            <a:off x="2507390" y="2863650"/>
            <a:ext cx="1417170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colaboración es fundamental al aplicar patrones estructurales, ya que su esencia es mejorar la interacción segura y eficiente entre objetos o clases. Fomenta el trabajo en equipo, el modularidad y el respeto mutuo entre componentes del sistema, valores esenciales para un diseño sólido y mantenible.</a:t>
            </a:r>
            <a:endParaRPr b="0" i="0" sz="40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