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10287000" cx="18288000"/>
  <p:notesSz cx="6858000" cy="9144000"/>
  <p:embeddedFontLst>
    <p:embeddedFont>
      <p:font typeface="Poppins"/>
      <p:regular r:id="rId38"/>
      <p:bold r:id="rId39"/>
      <p:italic r:id="rId40"/>
      <p:boldItalic r:id="rId41"/>
    </p:embeddedFont>
    <p:embeddedFont>
      <p:font typeface="Poppins Light"/>
      <p:regular r:id="rId42"/>
      <p:bold r:id="rId43"/>
      <p:italic r:id="rId44"/>
      <p:boldItalic r:id="rId45"/>
    </p:embeddedFont>
    <p:embeddedFont>
      <p:font typeface="Poppins Black"/>
      <p:bold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hX99YFCEDreJQjEmfyyUomonE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18C46A-817E-49A0-BE33-200DC4ED9602}">
  <a:tblStyle styleId="{8518C46A-817E-49A0-BE33-200DC4ED96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5A9A5F3-6F89-4C26-A67B-2D70A598154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65AFCC3-FAA8-454A-8C66-22469D4DEE2E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italic.fntdata"/><Relationship Id="rId42" Type="http://schemas.openxmlformats.org/officeDocument/2006/relationships/font" Target="fonts/PoppinsLight-regular.fntdata"/><Relationship Id="rId41" Type="http://schemas.openxmlformats.org/officeDocument/2006/relationships/font" Target="fonts/Poppins-boldItalic.fntdata"/><Relationship Id="rId44" Type="http://schemas.openxmlformats.org/officeDocument/2006/relationships/font" Target="fonts/PoppinsLight-italic.fntdata"/><Relationship Id="rId43" Type="http://schemas.openxmlformats.org/officeDocument/2006/relationships/font" Target="fonts/PoppinsLight-bold.fntdata"/><Relationship Id="rId46" Type="http://schemas.openxmlformats.org/officeDocument/2006/relationships/font" Target="fonts/PoppinsBlack-bold.fntdata"/><Relationship Id="rId45" Type="http://schemas.openxmlformats.org/officeDocument/2006/relationships/font" Target="fonts/Poppins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regular.fntdata"/><Relationship Id="rId47" Type="http://schemas.openxmlformats.org/officeDocument/2006/relationships/font" Target="fonts/PoppinsBlack-boldItalic.fntdata"/><Relationship Id="rId49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Poppins-bold.fntdata"/><Relationship Id="rId38" Type="http://schemas.openxmlformats.org/officeDocument/2006/relationships/font" Target="fonts/Poppins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099b8cf7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6099b8cf7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099b8cf7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6099b8cf7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099b8cf7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6099b8cf7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099b8cf7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6099b8cf77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099b8cf7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6099b8cf7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099b8cf7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6099b8cf77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099b8cf7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6099b8cf77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099b8cf7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6099b8cf77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099b8cf7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g36099b8cf77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099b8cf7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36099b8cf77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099b8cf7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6099b8cf77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099b8cf7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g36099b8cf77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099b8cf7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g36099b8cf77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099b8cf7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g36099b8cf77_0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099b8cf7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6099b8cf77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099b8cf7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6099b8cf77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099b8cf7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6099b8cf77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099b8cf77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6099b8cf77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099b8cf77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6099b8cf77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099b8cf77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6099b8cf77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6099b8cf77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g36099b8cf77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099b8cf7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0" name="Google Shape;330;g36099b8cf77_0_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099b8cf77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g36099b8cf77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099b8cf7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36099b8cf77_0_2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099b8cf77_0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6099b8cf77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0abbd50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0" name="Google Shape;370;g360abbd50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099b8cf77_0_30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82" name="Google Shape;82;g36099b8cf77_0_30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3" name="Google Shape;83;g36099b8cf77_0_30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21.jpg"/><Relationship Id="rId5" Type="http://schemas.openxmlformats.org/officeDocument/2006/relationships/image" Target="../media/image17.jpg"/><Relationship Id="rId6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m3.material.io/" TargetMode="External"/><Relationship Id="rId4" Type="http://schemas.openxmlformats.org/officeDocument/2006/relationships/hyperlink" Target="https://developer.apple.com/design/human-interface-guidelines" TargetMode="External"/><Relationship Id="rId5" Type="http://schemas.openxmlformats.org/officeDocument/2006/relationships/hyperlink" Target="https://getbootstrap.com/docs/5.0/getting-started/introduction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643905" y="31979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Elementos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374900" y="2424475"/>
            <a:ext cx="16283400" cy="75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Diseña interfaces de usuario funcionales y coherentes mediante la aplicación de principios de UI/UX y estilos arquitectónicos, asegurando accesibilidad, usabilidad y escalabilidad en el desarrollo de sistemas.</a:t>
            </a:r>
            <a:endParaRPr b="1" sz="51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t/>
            </a:r>
            <a:endParaRPr b="1" sz="51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t/>
            </a:r>
            <a:endParaRPr b="1" sz="51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1374889" y="3027816"/>
            <a:ext cx="12625499" cy="783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6099b8cf77_0_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g36099b8cf77_0_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{8518C46A-817E-49A0-BE33-200DC4ED9602}</a:tableStyleId>
              </a:tblPr>
              <a:tblGrid>
                <a:gridCol w="3036400"/>
                <a:gridCol w="4344750"/>
              </a:tblGrid>
              <a:tr h="644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 </a:t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  <a:tr h="72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114" name="Google Shape;114;g36099b8cf77_0_1"/>
          <p:cNvSpPr txBox="1"/>
          <p:nvPr/>
        </p:nvSpPr>
        <p:spPr>
          <a:xfrm>
            <a:off x="2880350" y="451660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y Diseño de Sistemas 2 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6099b8cf77_0_1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Angel Barrera Velásquez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g36099b8cf77_0_8"/>
          <p:cNvGraphicFramePr/>
          <p:nvPr/>
        </p:nvGraphicFramePr>
        <p:xfrm>
          <a:off x="6116951" y="4739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{95A9A5F3-6F89-4C26-A67B-2D70A598154F}</a:tableStyleId>
              </a:tblPr>
              <a:tblGrid>
                <a:gridCol w="963725"/>
                <a:gridCol w="5090475"/>
              </a:tblGrid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Avisos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Horarios de Calificación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Contenido Teorico UI/UX</a:t>
                      </a:r>
                      <a:endParaRPr sz="1100" u="none" cap="none" strike="noStrike"/>
                    </a:p>
                  </a:txBody>
                  <a:tcPr marT="175025" marB="175025" marR="175025" marL="175025" anchor="ctr">
                    <a:lnL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6250">
                      <a:solidFill>
                        <a:srgbClr val="01336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1" name="Google Shape;121;g36099b8cf77_0_8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22" name="Google Shape;122;g36099b8cf77_0_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23" name="Google Shape;123;g36099b8cf77_0_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g36099b8cf77_0_8"/>
          <p:cNvSpPr/>
          <p:nvPr/>
        </p:nvSpPr>
        <p:spPr>
          <a:xfrm>
            <a:off x="592309" y="8986439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g36099b8cf77_0_8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b="0" i="0" lang="en-US" sz="10576" u="none" cap="none" strike="noStrik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6099b8cf77_0_8"/>
          <p:cNvSpPr/>
          <p:nvPr/>
        </p:nvSpPr>
        <p:spPr>
          <a:xfrm rot="10800000">
            <a:off x="14838633" y="0"/>
            <a:ext cx="2658272" cy="1329136"/>
          </a:xfrm>
          <a:custGeom>
            <a:rect b="b" l="l" r="r" t="t"/>
            <a:pathLst>
              <a:path extrusionOk="0" h="1329136" w="2658272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g36099b8cf77_0_18"/>
          <p:cNvGrpSpPr/>
          <p:nvPr/>
        </p:nvGrpSpPr>
        <p:grpSpPr>
          <a:xfrm>
            <a:off x="-584800" y="2996050"/>
            <a:ext cx="19457594" cy="4294901"/>
            <a:chOff x="0" y="-76200"/>
            <a:chExt cx="5124600" cy="536400"/>
          </a:xfrm>
        </p:grpSpPr>
        <p:sp>
          <p:nvSpPr>
            <p:cNvPr id="132" name="Google Shape;132;g36099b8cf77_0_1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33" name="Google Shape;133;g36099b8cf77_0_1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g36099b8cf77_0_18"/>
          <p:cNvSpPr txBox="1"/>
          <p:nvPr/>
        </p:nvSpPr>
        <p:spPr>
          <a:xfrm>
            <a:off x="1599296" y="3790614"/>
            <a:ext cx="15089400" cy="3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Catálogo de Estilos</a:t>
            </a:r>
            <a:endParaRPr b="1" i="0" sz="92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UX/UI</a:t>
            </a:r>
            <a:endParaRPr b="1" sz="9224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g36099b8cf77_0_25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140" name="Google Shape;140;g36099b8cf77_0_25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41" name="Google Shape;141;g36099b8cf77_0_25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g36099b8cf77_0_25"/>
          <p:cNvSpPr txBox="1"/>
          <p:nvPr/>
        </p:nvSpPr>
        <p:spPr>
          <a:xfrm>
            <a:off x="-388750" y="773275"/>
            <a:ext cx="18753300" cy="12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9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¿Qué son los Catálogos de estilos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6099b8cf77_0_25"/>
          <p:cNvSpPr txBox="1"/>
          <p:nvPr/>
        </p:nvSpPr>
        <p:spPr>
          <a:xfrm>
            <a:off x="1028700" y="2969245"/>
            <a:ext cx="162306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catálogo de estilos, también conocido como Style Guide o Design System, es un documento vivo que describe y documenta los estándares visuales y de diseño de una marca o proyecto. Este conjunto de directrices asegura que todos los elementos de diseño de una aplicación o sitio web se mantienen coherentes y alineados con la identidad de la marca.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36099b8cf77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175" y="5979750"/>
            <a:ext cx="5571775" cy="291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6099b8cf77_0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9075" y="5867595"/>
            <a:ext cx="7115474" cy="4002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6099b8cf77_0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3962" y="6955920"/>
            <a:ext cx="2914124" cy="291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36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g36099b8cf77_0_36"/>
          <p:cNvGrpSpPr/>
          <p:nvPr/>
        </p:nvGrpSpPr>
        <p:grpSpPr>
          <a:xfrm>
            <a:off x="-584626" y="928335"/>
            <a:ext cx="19457594" cy="2036657"/>
            <a:chOff x="0" y="-76200"/>
            <a:chExt cx="5124600" cy="536400"/>
          </a:xfrm>
        </p:grpSpPr>
        <p:sp>
          <p:nvSpPr>
            <p:cNvPr id="152" name="Google Shape;152;g36099b8cf77_0_36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</p:sp>
        <p:sp>
          <p:nvSpPr>
            <p:cNvPr id="153" name="Google Shape;153;g36099b8cf77_0_36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g36099b8cf77_0_36"/>
          <p:cNvSpPr/>
          <p:nvPr/>
        </p:nvSpPr>
        <p:spPr>
          <a:xfrm>
            <a:off x="2683839" y="4594424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4998" r="-24989" t="0"/>
            </a:stretch>
          </a:blipFill>
          <a:ln>
            <a:noFill/>
          </a:ln>
        </p:spPr>
      </p:sp>
      <p:sp>
        <p:nvSpPr>
          <p:cNvPr id="155" name="Google Shape;155;g36099b8cf77_0_36"/>
          <p:cNvSpPr/>
          <p:nvPr/>
        </p:nvSpPr>
        <p:spPr>
          <a:xfrm>
            <a:off x="5995602" y="4594424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829" l="0" r="0" t="-46978"/>
            </a:stretch>
          </a:blipFill>
          <a:ln>
            <a:noFill/>
          </a:ln>
        </p:spPr>
      </p:sp>
      <p:sp>
        <p:nvSpPr>
          <p:cNvPr id="156" name="Google Shape;156;g36099b8cf77_0_36"/>
          <p:cNvSpPr/>
          <p:nvPr/>
        </p:nvSpPr>
        <p:spPr>
          <a:xfrm>
            <a:off x="9309406" y="4594424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5049" r="-25028" t="0"/>
            </a:stretch>
          </a:blipFill>
          <a:ln>
            <a:noFill/>
          </a:ln>
        </p:spPr>
      </p:sp>
      <p:sp>
        <p:nvSpPr>
          <p:cNvPr id="157" name="Google Shape;157;g36099b8cf77_0_36"/>
          <p:cNvSpPr/>
          <p:nvPr/>
        </p:nvSpPr>
        <p:spPr>
          <a:xfrm>
            <a:off x="12623210" y="4594424"/>
            <a:ext cx="2980944" cy="29809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24998" r="-24989" t="0"/>
            </a:stretch>
          </a:blipFill>
          <a:ln>
            <a:noFill/>
          </a:ln>
        </p:spPr>
      </p:sp>
      <p:grpSp>
        <p:nvGrpSpPr>
          <p:cNvPr id="158" name="Google Shape;158;g36099b8cf77_0_36"/>
          <p:cNvGrpSpPr/>
          <p:nvPr/>
        </p:nvGrpSpPr>
        <p:grpSpPr>
          <a:xfrm>
            <a:off x="3463489" y="3883143"/>
            <a:ext cx="1422563" cy="1422563"/>
            <a:chOff x="0" y="0"/>
            <a:chExt cx="812800" cy="812800"/>
          </a:xfrm>
        </p:grpSpPr>
        <p:sp>
          <p:nvSpPr>
            <p:cNvPr id="159" name="Google Shape;159;g36099b8cf77_0_3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6099b8cf77_0_3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g36099b8cf77_0_36"/>
          <p:cNvGrpSpPr/>
          <p:nvPr/>
        </p:nvGrpSpPr>
        <p:grpSpPr>
          <a:xfrm>
            <a:off x="6775252" y="3883143"/>
            <a:ext cx="1422563" cy="1422563"/>
            <a:chOff x="0" y="0"/>
            <a:chExt cx="812800" cy="812800"/>
          </a:xfrm>
        </p:grpSpPr>
        <p:sp>
          <p:nvSpPr>
            <p:cNvPr id="162" name="Google Shape;162;g36099b8cf77_0_3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36099b8cf77_0_3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g36099b8cf77_0_36"/>
          <p:cNvGrpSpPr/>
          <p:nvPr/>
        </p:nvGrpSpPr>
        <p:grpSpPr>
          <a:xfrm>
            <a:off x="10089057" y="3883143"/>
            <a:ext cx="1422563" cy="1422563"/>
            <a:chOff x="0" y="0"/>
            <a:chExt cx="812800" cy="812800"/>
          </a:xfrm>
        </p:grpSpPr>
        <p:sp>
          <p:nvSpPr>
            <p:cNvPr id="165" name="Google Shape;165;g36099b8cf77_0_3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6099b8cf77_0_3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g36099b8cf77_0_36"/>
          <p:cNvGrpSpPr/>
          <p:nvPr/>
        </p:nvGrpSpPr>
        <p:grpSpPr>
          <a:xfrm>
            <a:off x="13396170" y="3883143"/>
            <a:ext cx="1422563" cy="1422563"/>
            <a:chOff x="0" y="0"/>
            <a:chExt cx="812800" cy="812800"/>
          </a:xfrm>
        </p:grpSpPr>
        <p:sp>
          <p:nvSpPr>
            <p:cNvPr id="168" name="Google Shape;168;g36099b8cf77_0_3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cap="sq" cmpd="sng" w="1905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6099b8cf77_0_3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g36099b8cf77_0_36"/>
          <p:cNvSpPr txBox="1"/>
          <p:nvPr/>
        </p:nvSpPr>
        <p:spPr>
          <a:xfrm>
            <a:off x="1028873" y="1744285"/>
            <a:ext cx="162306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0"/>
              <a:buFont typeface="Arial"/>
              <a:buNone/>
            </a:pPr>
            <a:r>
              <a:rPr b="1" i="0" lang="en-US" sz="6070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Objetivos Principales de los catálogos</a:t>
            </a:r>
            <a:endParaRPr b="1" i="0" sz="6070" u="none" cap="none" strike="noStrike">
              <a:solidFill>
                <a:srgbClr val="01336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36099b8cf77_0_36"/>
          <p:cNvSpPr txBox="1"/>
          <p:nvPr/>
        </p:nvSpPr>
        <p:spPr>
          <a:xfrm>
            <a:off x="2683850" y="7852875"/>
            <a:ext cx="32172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Consistencia Visual</a:t>
            </a:r>
            <a:endParaRPr b="1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Garantizar que todos los componentes de la interfaz mantengan una apariencia y comportamiento uniformes.</a:t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g36099b8cf77_0_36"/>
          <p:cNvSpPr txBox="1"/>
          <p:nvPr/>
        </p:nvSpPr>
        <p:spPr>
          <a:xfrm>
            <a:off x="5944688" y="7662075"/>
            <a:ext cx="30837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Ahorro de Tiempo</a:t>
            </a:r>
            <a:endParaRPr b="1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Proporcionar una referencia rápida y clara para diseñadores y desarrolladores, evitando duplicaciones y malentendidos.</a:t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g36099b8cf77_0_36"/>
          <p:cNvSpPr txBox="1"/>
          <p:nvPr/>
        </p:nvSpPr>
        <p:spPr>
          <a:xfrm>
            <a:off x="9309450" y="7852875"/>
            <a:ext cx="29808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Facilitar la Colaboración</a:t>
            </a:r>
            <a:endParaRPr b="1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Servir como una herramienta de comunicación entre equipos de diseño, desarrollo y stakeholders.</a:t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g36099b8cf77_0_36"/>
          <p:cNvSpPr txBox="1"/>
          <p:nvPr/>
        </p:nvSpPr>
        <p:spPr>
          <a:xfrm>
            <a:off x="12623400" y="7852875"/>
            <a:ext cx="29808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1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Escalabilidad</a:t>
            </a:r>
            <a:endParaRPr b="1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b="0" i="0" lang="en-US" sz="177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Permitir la expansión y actualización del proyecto sin comprometer la coherencia visual.</a:t>
            </a:r>
            <a:endParaRPr b="0" i="0" sz="177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g36099b8cf77_0_36"/>
          <p:cNvSpPr txBox="1"/>
          <p:nvPr/>
        </p:nvSpPr>
        <p:spPr>
          <a:xfrm>
            <a:off x="3854660" y="406625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6099b8cf77_0_36"/>
          <p:cNvSpPr txBox="1"/>
          <p:nvPr/>
        </p:nvSpPr>
        <p:spPr>
          <a:xfrm>
            <a:off x="7166422" y="406625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6099b8cf77_0_36"/>
          <p:cNvSpPr txBox="1"/>
          <p:nvPr/>
        </p:nvSpPr>
        <p:spPr>
          <a:xfrm>
            <a:off x="10480226" y="406625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6099b8cf77_0_36"/>
          <p:cNvSpPr txBox="1"/>
          <p:nvPr/>
        </p:nvSpPr>
        <p:spPr>
          <a:xfrm>
            <a:off x="13787339" y="406625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b="1" i="0" lang="en-US" sz="506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g36099b8cf77_0_67"/>
          <p:cNvGrpSpPr/>
          <p:nvPr/>
        </p:nvGrpSpPr>
        <p:grpSpPr>
          <a:xfrm>
            <a:off x="-584800" y="2996050"/>
            <a:ext cx="19457594" cy="4294901"/>
            <a:chOff x="0" y="-76200"/>
            <a:chExt cx="5124600" cy="536400"/>
          </a:xfrm>
        </p:grpSpPr>
        <p:sp>
          <p:nvSpPr>
            <p:cNvPr id="184" name="Google Shape;184;g36099b8cf77_0_6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85" name="Google Shape;185;g36099b8cf77_0_6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g36099b8cf77_0_67"/>
          <p:cNvSpPr txBox="1"/>
          <p:nvPr/>
        </p:nvSpPr>
        <p:spPr>
          <a:xfrm>
            <a:off x="1035450" y="3883250"/>
            <a:ext cx="16217100" cy="3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¿Cómo crear una guía de estilos?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g36099b8cf77_0_74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92" name="Google Shape;192;g36099b8cf77_0_74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193" name="Google Shape;193;g36099b8cf77_0_74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g36099b8cf77_0_74"/>
          <p:cNvSpPr txBox="1"/>
          <p:nvPr/>
        </p:nvSpPr>
        <p:spPr>
          <a:xfrm>
            <a:off x="556100" y="1257550"/>
            <a:ext cx="17731800" cy="1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69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Estudia la marca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6099b8cf77_0_74"/>
          <p:cNvSpPr txBox="1"/>
          <p:nvPr/>
        </p:nvSpPr>
        <p:spPr>
          <a:xfrm>
            <a:off x="1028700" y="2969245"/>
            <a:ext cx="16230600" cy="10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Cada organización tiene definidos sus colores, valores, historia, hasta un estilo visual. Es importante respetar los componentes de la marca para que el diseño final vaya a tono con ella.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6099b8cf77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3625" y="5191800"/>
            <a:ext cx="8388199" cy="452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6099b8cf77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4855052"/>
            <a:ext cx="7383575" cy="42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g36099b8cf77_0_84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03" name="Google Shape;203;g36099b8cf77_0_84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04" name="Google Shape;204;g36099b8cf77_0_84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36099b8cf77_0_84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Tipografía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6099b8cf77_0_84"/>
          <p:cNvSpPr txBox="1"/>
          <p:nvPr/>
        </p:nvSpPr>
        <p:spPr>
          <a:xfrm>
            <a:off x="115250" y="4796125"/>
            <a:ext cx="6631200" cy="4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algunos casos, las empresas suelen tener una tipografía definida, pero si no es así, se deja documentado en la guía de estilos, el tipo de tipografía y los colores que se van a usar según su jerarquía.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07" name="Google Shape;207;g36099b8cf77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900" y="2818825"/>
            <a:ext cx="5828324" cy="771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g36099b8cf77_0_93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13" name="Google Shape;213;g36099b8cf77_0_93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14" name="Google Shape;214;g36099b8cf77_0_9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g36099b8cf77_0_93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Paleta de colores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6099b8cf77_0_93"/>
          <p:cNvSpPr txBox="1"/>
          <p:nvPr/>
        </p:nvSpPr>
        <p:spPr>
          <a:xfrm>
            <a:off x="115250" y="4796125"/>
            <a:ext cx="6631200" cy="42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Al igual que con la tipografía, la paleta de colores es parte fundamental de la construcción de la interfaz, por eso mismo, se deben definir los colores principales, secundarios y complementarios, a utilizar.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17" name="Google Shape;217;g36099b8cf77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8850" y="2753575"/>
            <a:ext cx="10974676" cy="688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g36099b8cf77_0_102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23" name="Google Shape;223;g36099b8cf77_0_10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24" name="Google Shape;224;g36099b8cf77_0_10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g36099b8cf77_0_102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Voz/Tono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6099b8cf77_0_102"/>
          <p:cNvSpPr txBox="1"/>
          <p:nvPr/>
        </p:nvSpPr>
        <p:spPr>
          <a:xfrm>
            <a:off x="743800" y="2969250"/>
            <a:ext cx="165156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Es la forma en la que decides comunicarte con el usuario; esta puede ser formal o informal, dependiendo de los valores de la marca. Existen plataformas como Duolingo o Spotify, que buscan una manera divertida de dar sus mensajes o resultados de búsqueda.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g36099b8cf77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5493750"/>
            <a:ext cx="7672872" cy="46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6099b8cf77_0_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5276" y="6972625"/>
            <a:ext cx="9719966" cy="14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g36099b8cf77_0_112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34" name="Google Shape;234;g36099b8cf77_0_11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35" name="Google Shape;235;g36099b8cf77_0_11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g36099b8cf77_0_112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Íconos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6099b8cf77_0_112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iconografía es un punto importante a definir, dado a la relevancia de los mismos como elemento de representación de la marca. Estos, deben adaptarse a la imagen que se desea plasmar y, por lo tanto, pueden ser sobrios, creativos o inusuales.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36099b8cf77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2225" y="4876795"/>
            <a:ext cx="5279556" cy="527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6099b8cf77_0_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90781" y="4876795"/>
            <a:ext cx="5279556" cy="527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g36099b8cf77_0_122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45" name="Google Shape;245;g36099b8cf77_0_122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46" name="Google Shape;246;g36099b8cf77_0_12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g36099b8cf77_0_122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Botones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6099b8cf77_0_122"/>
          <p:cNvSpPr txBox="1"/>
          <p:nvPr/>
        </p:nvSpPr>
        <p:spPr>
          <a:xfrm>
            <a:off x="1963875" y="5492075"/>
            <a:ext cx="50010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Los botones son un elemento de integración; en ellos se incluyen todos los puntos anteriores.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g36099b8cf77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4750" y="2835201"/>
            <a:ext cx="7632581" cy="768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g36099b8cf77_0_131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55" name="Google Shape;255;g36099b8cf77_0_131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56" name="Google Shape;256;g36099b8cf77_0_13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g36099b8cf77_0_131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Imágenes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6099b8cf77_0_131"/>
          <p:cNvSpPr txBox="1"/>
          <p:nvPr/>
        </p:nvSpPr>
        <p:spPr>
          <a:xfrm>
            <a:off x="1376675" y="3730450"/>
            <a:ext cx="5001000" cy="55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caso de que lo amerite, la integración de imágenes puede producir un impacto bastante grande en la interfaz y los usuarios, ya que la transmisión del mensaje es más directa.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ctr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59" name="Google Shape;259;g36099b8cf77_0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1050" y="3034501"/>
            <a:ext cx="6012701" cy="450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6099b8cf77_0_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84875" y="7674677"/>
            <a:ext cx="4876347" cy="2438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6099b8cf77_0_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12701" y="4555576"/>
            <a:ext cx="1684876" cy="168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6099b8cf77_0_1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69800" y="8051326"/>
            <a:ext cx="1684876" cy="168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g36099b8cf77_0_143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68" name="Google Shape;268;g36099b8cf77_0_143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69" name="Google Shape;269;g36099b8cf77_0_14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g36099b8cf77_0_143"/>
          <p:cNvSpPr txBox="1"/>
          <p:nvPr/>
        </p:nvSpPr>
        <p:spPr>
          <a:xfrm>
            <a:off x="702600" y="988400"/>
            <a:ext cx="168828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77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Ejemplos de catálogos de estilos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099b8cf77_0_143"/>
          <p:cNvSpPr txBox="1"/>
          <p:nvPr/>
        </p:nvSpPr>
        <p:spPr>
          <a:xfrm>
            <a:off x="702600" y="2923050"/>
            <a:ext cx="14721600" cy="74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1" i="0" lang="en-US" sz="29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Material Design de Google: </a:t>
            </a: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extenso catálogo de estilos que define la apariencia y comportamiento de los productos de Google.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sng" cap="none" strike="noStrike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3"/>
              </a:rPr>
              <a:t>https://m3.material.io/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1" i="0" lang="en-US" sz="29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Human Interface Guidelines de Apple:</a:t>
            </a: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Directrices de diseño para desarrollar aplicaciones en plataformas de Apple, como iOS y macOS.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sng" cap="none" strike="noStrike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4"/>
              </a:rPr>
              <a:t>https://developer.apple.com/design/human-interface-guidelines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1" i="0" lang="en-US" sz="29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Bootstrap:</a:t>
            </a: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Un framework de front-end que incluye un conjunto completo de componentes de interfaz diseñados para ser consistentes.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b="0" i="0" lang="en-US" sz="2963" u="sng" cap="none" strike="noStrike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5"/>
              </a:rPr>
              <a:t>https://getbootstrap.com/docs/5.0/getting-started/introduction/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t/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g36099b8cf77_0_151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77" name="Google Shape;277;g36099b8cf77_0_151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78" name="Google Shape;278;g36099b8cf77_0_15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g36099b8cf77_0_151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Qué es el diseño 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6099b8cf77_0_151"/>
          <p:cNvSpPr txBox="1"/>
          <p:nvPr/>
        </p:nvSpPr>
        <p:spPr>
          <a:xfrm>
            <a:off x="494250" y="2758575"/>
            <a:ext cx="172995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diseño de Experiencia de Usuario (UX) es el proceso de crear productos, sistemas o servicios que proporcionen experiencias significativas y relevantes a los usuarios. Involucra todo el proceso de adquisición e integración del producto, lo que incluye aspectos de marca, diseño, usabilidad y funcionalidad. Una gran parte del diseño UX es hacer que el producto final resulte funcional para proporcionar una experiencia positiva, eficiente y satisfactoria para el usuario.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81" name="Google Shape;281;g36099b8cf77_0_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0275" y="5994575"/>
            <a:ext cx="6214430" cy="41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g36099b8cf77_0_160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87" name="Google Shape;287;g36099b8cf77_0_160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88" name="Google Shape;288;g36099b8cf77_0_16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g36099b8cf77_0_160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Aspectos de 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6099b8cf77_0_160"/>
          <p:cNvSpPr txBox="1"/>
          <p:nvPr/>
        </p:nvSpPr>
        <p:spPr>
          <a:xfrm>
            <a:off x="494250" y="2758575"/>
            <a:ext cx="14742000" cy="7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3"/>
              <a:buFont typeface="Arial"/>
              <a:buNone/>
            </a:pPr>
            <a:r>
              <a:t/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Investigación de usuarios: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comprender las necesidades, comportamientos y motivaciones de los usuarios a través de diversos métodos como entrevistas, encuestas y pruebas de usabilidad.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Arquitectura de la información: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organizar y estructurar el contenido de una manera intuitiva y fácil de usar.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Wireframing y prototipado: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crear representaciones de baja y alta fidelidad del producto para probar y refinar conceptos.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Pruebas de usabilidad: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evaluar el producto probándolo con usuarios reales para identificar problemas y mejorar la experiencia general.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Diseño de interacción: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diseñar los aspectos interactivos de un producto, como botones, transiciones y animaciones, para asegurar que sean intuitivos y mejoren la experiencia del usuario.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Diseño visual: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asegurar que el producto sea estéticamente agradable y refleje la identidad de la marca.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Accesibilidad: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asegurarse de que el producto pueda ser usado por personas con una amplia gama de habilidades y discapacidades.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g36099b8cf77_0_168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96" name="Google Shape;296;g36099b8cf77_0_168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297" name="Google Shape;297;g36099b8cf77_0_16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g36099b8cf77_0_168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Qué es el diseño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6099b8cf77_0_168"/>
          <p:cNvSpPr txBox="1"/>
          <p:nvPr/>
        </p:nvSpPr>
        <p:spPr>
          <a:xfrm>
            <a:off x="494250" y="2758575"/>
            <a:ext cx="172995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9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diseño de Interfaz de Usuario (UI) se enfoca en los aspectos visuales e interactivos de la interfaz de un producto. Implica determinar la apariencia y el comportamiento del producto, incluidos el diseño, los colores, la tipografía y los elementos interactivos, para asegurar que sea visualmente atractivo y fácil de usar. El diseño UI se encarga de crear elementos visuales e interactivos de un producto para lograr una experiencia de usuario atractiva, intuitiva y cohesiva.</a:t>
            </a:r>
            <a:endParaRPr b="0" i="0" sz="29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300" name="Google Shape;300;g36099b8cf77_0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6813" y="5994575"/>
            <a:ext cx="8274725" cy="414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g36099b8cf77_0_17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06" name="Google Shape;306;g36099b8cf77_0_17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07" name="Google Shape;307;g36099b8cf77_0_17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g36099b8cf77_0_17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Aspectos de UI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6099b8cf77_0_177"/>
          <p:cNvSpPr txBox="1"/>
          <p:nvPr/>
        </p:nvSpPr>
        <p:spPr>
          <a:xfrm>
            <a:off x="539100" y="3012750"/>
            <a:ext cx="16012800" cy="58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Diseño visual: 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crear la estética general del producto, que incluye esquemas de colores, tipografía, imágenes e iconografía. Esto garantiza que la interfaz sea visualmente atractiva y refleje la identidad de la marca.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Diseño y composición: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organizar elementos en la pantalla de manera clara y lógica. Esto incluye el espaciado, la alineación y el uso de cuadrículas para crear una interfaz equilibrada y fácil de navegar.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Elementos interactivos: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diseñar botones, deslizadores, formularios y otros componentes interactivos que los usuarios utilizan. Estos elementos deben ser intuitivos y responsivos.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4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Consistencia: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asegurar que el diseño sea consistente en todo el producto. Esto incluye mantener estilos, colores y comportamientos uniformes para proporcionar una experiencia cohesiva.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Accesibilidad: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diseñar interfaces que sean accesibles para usuarios con diferentes habilidades. Esto incluye considerar factores como el contraste, el tamaño de fuente y la navegación por teclado.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78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b="1" i="0" lang="en-US" sz="2363" u="none" cap="none" strike="noStrik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Retroalimentación y capacidad de respuesta: </a:t>
            </a:r>
            <a:r>
              <a:rPr b="0" i="0" lang="en-US" sz="2363" u="none" cap="none" strike="noStrik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proporcionar retroalimentación visual a los usuarios cuando interactúan con los elementos. Esto incluye efectos de desplazamiento, indicadores de carga y mensajes de error para mantener a los usuarios informados sobre el estado de sus acciones.</a:t>
            </a:r>
            <a:endParaRPr b="0" i="0" sz="2363" u="none" cap="none" strike="noStrik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36099b8cf77_0_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857250"/>
            <a:ext cx="15240000" cy="85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36099b8cf77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8988" y="152400"/>
            <a:ext cx="13750035" cy="998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g36099b8cf77_0_193"/>
          <p:cNvGrpSpPr/>
          <p:nvPr/>
        </p:nvGrpSpPr>
        <p:grpSpPr>
          <a:xfrm>
            <a:off x="-584800" y="2996050"/>
            <a:ext cx="19457594" cy="4294901"/>
            <a:chOff x="0" y="-76200"/>
            <a:chExt cx="5124600" cy="536400"/>
          </a:xfrm>
        </p:grpSpPr>
        <p:sp>
          <p:nvSpPr>
            <p:cNvPr id="325" name="Google Shape;325;g36099b8cf77_0_193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26" name="Google Shape;326;g36099b8cf77_0_19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g36099b8cf77_0_193"/>
          <p:cNvSpPr txBox="1"/>
          <p:nvPr/>
        </p:nvSpPr>
        <p:spPr>
          <a:xfrm>
            <a:off x="1599296" y="3790614"/>
            <a:ext cx="15089400" cy="3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i="0" lang="en-US" sz="9224" u="none" cap="none" strike="noStrik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Catálogo de Estilos</a:t>
            </a:r>
            <a:endParaRPr b="1" i="0" sz="9224" u="none" cap="none" strike="noStrik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de Arquitecturas</a:t>
            </a:r>
            <a:endParaRPr b="1" sz="9224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g36099b8cf77_0_200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33" name="Google Shape;333;g36099b8cf77_0_200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34" name="Google Shape;334;g36099b8cf77_0_20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g36099b8cf77_0_200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Estilos de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6099b8cf77_0_200"/>
          <p:cNvSpPr txBox="1"/>
          <p:nvPr/>
        </p:nvSpPr>
        <p:spPr>
          <a:xfrm>
            <a:off x="494250" y="2758575"/>
            <a:ext cx="172995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estilo arquitectónico define una estructura global de alto nivel para organizar un sistema. Se enfoca en cómo se dividen y comunican los componentes dentro del software. Es una abstracción general que guía el diseño de aplicaciones.</a:t>
            </a:r>
            <a:endParaRPr sz="2963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63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Ejemplo:</a:t>
            </a:r>
            <a:br>
              <a:rPr b="1" lang="en-US" sz="2963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Arquitectura en Capas: Un sistema dividido en capa de presentación, lógica de negocio y datos.</a:t>
            </a:r>
            <a:endParaRPr sz="2963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337" name="Google Shape;337;g36099b8cf77_0_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7475" y="5675575"/>
            <a:ext cx="4467775" cy="45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g36099b8cf77_0_209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343" name="Google Shape;343;g36099b8cf77_0_209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44" name="Google Shape;344;g36099b8cf77_0_209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g36099b8cf77_0_209"/>
          <p:cNvSpPr txBox="1"/>
          <p:nvPr/>
        </p:nvSpPr>
        <p:spPr>
          <a:xfrm>
            <a:off x="-388750" y="773275"/>
            <a:ext cx="187533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4"/>
              <a:buFont typeface="Arial"/>
              <a:buNone/>
            </a:pPr>
            <a:r>
              <a:rPr b="1" lang="en-US" sz="71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Principales Estilos de Arquitectura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6" name="Google Shape;346;g36099b8cf77_0_209"/>
          <p:cNvGraphicFramePr/>
          <p:nvPr/>
        </p:nvGraphicFramePr>
        <p:xfrm>
          <a:off x="2978325" y="276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{465AFCC3-FAA8-454A-8C66-22469D4DEE2E}</a:tableStyleId>
              </a:tblPr>
              <a:tblGrid>
                <a:gridCol w="2729125"/>
                <a:gridCol w="9945550"/>
              </a:tblGrid>
              <a:tr h="968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Estilo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solidFill>
                            <a:srgbClr val="FFFFFF"/>
                          </a:solidFill>
                        </a:rPr>
                        <a:t>Uso recomendado</a:t>
                      </a:r>
                      <a:endParaRPr b="1" sz="24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</a:tr>
              <a:tr h="6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Monolítica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Aplicaciones pequeñas y medianas con requisitos estables.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6F5"/>
                    </a:solidFill>
                  </a:tcPr>
                </a:tc>
              </a:tr>
              <a:tr h="6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Cliente-Servidor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Aplicaciones web con interacción en tiempo real.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Capas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Sistemas empresariales grandes con lógica de negocio compleja.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6F5"/>
                    </a:solidFill>
                  </a:tcPr>
                </a:tc>
              </a:tr>
              <a:tr h="6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Microservicios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Plataformas escalables con múltiples módulos independientes.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Event-Driven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Sistemas que procesan eventos en tiempo real (IoT, streaming).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6F5"/>
                    </a:solidFill>
                  </a:tcPr>
                </a:tc>
              </a:tr>
              <a:tr h="6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Pipes and Filters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Procesamiento de datos en etapas, como compiladores.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SOA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Integración de múltiples servicios en un entorno corporativo.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0E6F5"/>
                    </a:solidFill>
                  </a:tcPr>
                </a:tc>
              </a:tr>
              <a:tr h="68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/>
                        <a:t>Hexagonal</a:t>
                      </a:r>
                      <a:endParaRPr b="1" sz="19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Aplicaciones que buscan independencia de infraestructura.</a:t>
                      </a:r>
                      <a:endParaRPr sz="22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g36099b8cf77_0_21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52" name="Google Shape;352;g36099b8cf77_0_217"/>
            <p:cNvSpPr/>
            <p:nvPr/>
          </p:nvSpPr>
          <p:spPr>
            <a:xfrm>
              <a:off x="0" y="0"/>
              <a:ext cx="5124544" cy="460098"/>
            </a:xfrm>
            <a:custGeom>
              <a:rect b="b" l="l" r="r" t="t"/>
              <a:pathLst>
                <a:path extrusionOk="0" h="460098" w="5124544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</p:sp>
        <p:sp>
          <p:nvSpPr>
            <p:cNvPr id="353" name="Google Shape;353;g36099b8cf77_0_21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g36099b8cf77_0_217"/>
          <p:cNvSpPr txBox="1"/>
          <p:nvPr/>
        </p:nvSpPr>
        <p:spPr>
          <a:xfrm>
            <a:off x="1046875" y="1072325"/>
            <a:ext cx="161946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b="1" lang="en-US" sz="9224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Patrones de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6099b8cf77_0_217"/>
          <p:cNvSpPr txBox="1"/>
          <p:nvPr/>
        </p:nvSpPr>
        <p:spPr>
          <a:xfrm>
            <a:off x="494250" y="2758575"/>
            <a:ext cx="172995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Son soluciones probadas y reutilizables para problemas específicos dentro de una arquitectura de software. Mientras un estilo define la organización general, un patrón proporciona una solución detallada a un problema recurrente dentro de ese estilo.</a:t>
            </a:r>
            <a:endParaRPr sz="2963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63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Ejemplo:</a:t>
            </a:r>
            <a:endParaRPr b="1" sz="2963">
              <a:solidFill>
                <a:srgbClr val="01336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63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Dentro de una arquitectura en capas, se pueden usar patrones como MVC (Modelo-Vista-Controlador) para estructurar la capa de presentación.</a:t>
            </a:r>
            <a:endParaRPr sz="2963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356" name="Google Shape;356;g36099b8cf77_0_2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400" y="5994575"/>
            <a:ext cx="5528983" cy="414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g36099b8cf77_0_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0350" y="492688"/>
            <a:ext cx="12407300" cy="930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7" name="Google Shape;367;p6"/>
          <p:cNvSpPr txBox="1"/>
          <p:nvPr/>
        </p:nvSpPr>
        <p:spPr>
          <a:xfrm>
            <a:off x="5803362" y="3038458"/>
            <a:ext cx="6911400" cy="4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Catálogo de estilos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Guía de estilos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Diseño UX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Diseño UI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Investigación de usuarios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Wireframes y prototipos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Accesibilidad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60abbd5028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Responsabilidad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3" name="Google Shape;373;g360abbd5028_0_0"/>
          <p:cNvSpPr txBox="1"/>
          <p:nvPr/>
        </p:nvSpPr>
        <p:spPr>
          <a:xfrm>
            <a:off x="2230719" y="2675475"/>
            <a:ext cx="14171700" cy="4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Cumpliendo con las tareas asignadas: </a:t>
            </a:r>
            <a:r>
              <a:rPr lang="en-US" sz="3151">
                <a:solidFill>
                  <a:srgbClr val="131416"/>
                </a:solidFill>
              </a:rPr>
              <a:t>Entregando los trabajos y proyectos en tiempo y forma, con el nivel de calidad esperado, sin necesidad de recordatorios constantes.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Asumiendo compromisos dentro del equipo: </a:t>
            </a:r>
            <a:r>
              <a:rPr lang="en-US" sz="3151">
                <a:solidFill>
                  <a:srgbClr val="131416"/>
                </a:solidFill>
              </a:rPr>
              <a:t>Si se acuerda realizar una parte del análisis o diseño, se cumple con lo prometido, considerando que el éxito del equipo depende de cada integrante.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