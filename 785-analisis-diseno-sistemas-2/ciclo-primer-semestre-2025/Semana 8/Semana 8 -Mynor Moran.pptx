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10287000" cx="18288000"/>
  <p:notesSz cx="6858000" cy="9144000"/>
  <p:embeddedFontLst>
    <p:embeddedFont>
      <p:font typeface="Poppins"/>
      <p:regular r:id="rId31"/>
      <p:bold r:id="rId32"/>
      <p:italic r:id="rId33"/>
      <p:boldItalic r:id="rId34"/>
    </p:embeddedFont>
    <p:embeddedFont>
      <p:font typeface="Poppins Light"/>
      <p:regular r:id="rId35"/>
      <p:bold r:id="rId36"/>
      <p:italic r:id="rId37"/>
      <p:boldItalic r:id="rId38"/>
    </p:embeddedFont>
    <p:embeddedFont>
      <p:font typeface="Poppins Black"/>
      <p:bold r:id="rId39"/>
      <p:boldItalic r:id="rId40"/>
    </p:embeddedFont>
    <p:embeddedFont>
      <p:font typeface="Bitter"/>
      <p:regular r:id="rId41"/>
      <p:bold r:id="rId42"/>
      <p:italic r:id="rId43"/>
      <p:boldItalic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9" roundtripDataSignature="AMtx7mgUjKWdfHbS1KabWQzFTB2SLF8l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367A3A-3644-48DE-9BCD-DBC4E81246E6}">
  <a:tblStyle styleId="{D5367A3A-3644-48DE-9BCD-DBC4E81246E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lack-boldItalic.fntdata"/><Relationship Id="rId42" Type="http://schemas.openxmlformats.org/officeDocument/2006/relationships/font" Target="fonts/Bitter-bold.fntdata"/><Relationship Id="rId41" Type="http://schemas.openxmlformats.org/officeDocument/2006/relationships/font" Target="fonts/Bitter-regular.fntdata"/><Relationship Id="rId44" Type="http://schemas.openxmlformats.org/officeDocument/2006/relationships/font" Target="fonts/Bitter-boldItalic.fntdata"/><Relationship Id="rId43" Type="http://schemas.openxmlformats.org/officeDocument/2006/relationships/font" Target="fonts/Bitter-italic.fntdata"/><Relationship Id="rId46" Type="http://schemas.openxmlformats.org/officeDocument/2006/relationships/font" Target="fonts/OpenSans-bold.fntdata"/><Relationship Id="rId45"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boldItalic.fntdata"/><Relationship Id="rId47" Type="http://schemas.openxmlformats.org/officeDocument/2006/relationships/font" Target="fonts/OpenSans-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slide" Target="slides/slide24.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PoppinsLight-regular.fntdata"/><Relationship Id="rId34" Type="http://schemas.openxmlformats.org/officeDocument/2006/relationships/font" Target="fonts/Poppins-boldItalic.fntdata"/><Relationship Id="rId37" Type="http://schemas.openxmlformats.org/officeDocument/2006/relationships/font" Target="fonts/PoppinsLight-italic.fntdata"/><Relationship Id="rId36" Type="http://schemas.openxmlformats.org/officeDocument/2006/relationships/font" Target="fonts/PoppinsLight-bold.fntdata"/><Relationship Id="rId39" Type="http://schemas.openxmlformats.org/officeDocument/2006/relationships/font" Target="fonts/PoppinsBlack-bold.fntdata"/><Relationship Id="rId38" Type="http://schemas.openxmlformats.org/officeDocument/2006/relationships/font" Target="fonts/PoppinsLigh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099cd020b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6099cd020b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099cd020b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6099cd020b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099cd020b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6099cd020b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099cd020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6099cd020b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099cd020b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6099cd020b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099cd020b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6099cd020b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099cd020b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6099cd020b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6099cd020b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6099cd020b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099cd020b_0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6099cd020b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099cd020b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6099cd020b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099cd020b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36099cd020b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099cd020b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g36099cd020b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6099cd020b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6099cd020b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6099cd020b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6099cd020b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099cd020b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g36099cd020b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099cd020b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6099cd020b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099cd020b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6099cd020b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099cd020b_0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36099cd020b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0abcd447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360abcd447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repositorio.uci.cu/handle/ident/8092" TargetMode="Externa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hyperlink" Target="https://qalified.com/es/blog/pruebas-regresi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B</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Pruebas de Software</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001777" y="2005825"/>
            <a:ext cx="15729600" cy="2585323"/>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4000" u="none" cap="none" strike="noStrike">
                <a:solidFill>
                  <a:srgbClr val="000000"/>
                </a:solidFill>
                <a:latin typeface="Arial"/>
                <a:ea typeface="Arial"/>
                <a:cs typeface="Arial"/>
                <a:sym typeface="Arial"/>
              </a:rPr>
              <a:t>Comprende los conceptos, tipos y principios de las pruebas funcionales, valorando su rol dentro de una arquitectura de software para garantizar el cumplimiento de los requerimientos del sistema.</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6099cd020b_0_2"/>
          <p:cNvGraphicFramePr/>
          <p:nvPr/>
        </p:nvGraphicFramePr>
        <p:xfrm>
          <a:off x="6116951" y="4739298"/>
          <a:ext cx="3000000" cy="3000000"/>
        </p:xfrm>
        <a:graphic>
          <a:graphicData uri="http://schemas.openxmlformats.org/drawingml/2006/table">
            <a:tbl>
              <a:tblPr>
                <a:noFill/>
                <a:tableStyleId>{D5367A3A-3644-48DE-9BCD-DBC4E81246E6}</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Fase 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Teórico Pruebas Funcionales</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b="1" sz="20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Ejemplo Docker</a:t>
                      </a:r>
                      <a:endParaRPr sz="20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5</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6099cd020b_0_2"/>
          <p:cNvGrpSpPr/>
          <p:nvPr/>
        </p:nvGrpSpPr>
        <p:grpSpPr>
          <a:xfrm>
            <a:off x="-584626" y="1589619"/>
            <a:ext cx="19457594" cy="2036657"/>
            <a:chOff x="0" y="-76200"/>
            <a:chExt cx="5124600" cy="536400"/>
          </a:xfrm>
        </p:grpSpPr>
        <p:sp>
          <p:nvSpPr>
            <p:cNvPr id="110" name="Google Shape;110;g36099cd020b_0_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1" name="Google Shape;111;g36099cd020b_0_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6099cd020b_0_2"/>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3" name="Google Shape;113;g36099cd020b_0_2"/>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6099cd020b_0_2"/>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6099cd020b_0_12"/>
          <p:cNvGrpSpPr/>
          <p:nvPr/>
        </p:nvGrpSpPr>
        <p:grpSpPr>
          <a:xfrm>
            <a:off x="-584800" y="2437174"/>
            <a:ext cx="19457594" cy="4853776"/>
            <a:chOff x="0" y="-76200"/>
            <a:chExt cx="5124600" cy="536400"/>
          </a:xfrm>
        </p:grpSpPr>
        <p:sp>
          <p:nvSpPr>
            <p:cNvPr id="120" name="Google Shape;120;g36099cd020b_0_1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g36099cd020b_0_1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6099cd020b_0_12"/>
          <p:cNvSpPr txBox="1"/>
          <p:nvPr/>
        </p:nvSpPr>
        <p:spPr>
          <a:xfrm>
            <a:off x="1599296" y="4433539"/>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Pruebas de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6" name="Shape 126"/>
        <p:cNvGrpSpPr/>
        <p:nvPr/>
      </p:nvGrpSpPr>
      <p:grpSpPr>
        <a:xfrm>
          <a:off x="0" y="0"/>
          <a:ext cx="0" cy="0"/>
          <a:chOff x="0" y="0"/>
          <a:chExt cx="0" cy="0"/>
        </a:xfrm>
      </p:grpSpPr>
      <p:grpSp>
        <p:nvGrpSpPr>
          <p:cNvPr id="127" name="Google Shape;127;g36099cd020b_0_19"/>
          <p:cNvGrpSpPr/>
          <p:nvPr/>
        </p:nvGrpSpPr>
        <p:grpSpPr>
          <a:xfrm>
            <a:off x="-584801" y="364850"/>
            <a:ext cx="19457594" cy="2036657"/>
            <a:chOff x="0" y="-76200"/>
            <a:chExt cx="5124600" cy="536400"/>
          </a:xfrm>
        </p:grpSpPr>
        <p:sp>
          <p:nvSpPr>
            <p:cNvPr id="128" name="Google Shape;128;g36099cd020b_0_19"/>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g36099cd020b_0_19"/>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g36099cd020b_0_19"/>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Introducción a las pruebas de software</a:t>
            </a:r>
            <a:endParaRPr b="0" i="0" sz="100" u="none" cap="none" strike="noStrike">
              <a:solidFill>
                <a:srgbClr val="000000"/>
              </a:solidFill>
              <a:latin typeface="Arial"/>
              <a:ea typeface="Arial"/>
              <a:cs typeface="Arial"/>
              <a:sym typeface="Arial"/>
            </a:endParaRPr>
          </a:p>
        </p:txBody>
      </p:sp>
      <p:sp>
        <p:nvSpPr>
          <p:cNvPr id="131" name="Google Shape;131;g36099cd020b_0_19"/>
          <p:cNvSpPr txBox="1"/>
          <p:nvPr/>
        </p:nvSpPr>
        <p:spPr>
          <a:xfrm>
            <a:off x="1028700" y="2969245"/>
            <a:ext cx="162306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software son un proceso fundamental para garantizar la calidad y el correcto funcionamiento de los sistemas informáticos. Permiten identificar y corregir errores antes de que el software se ponga en producción, lo que ahorra tiempo y recursos.</a:t>
            </a:r>
            <a:endParaRPr b="0" i="0" sz="1400" u="none" cap="none" strike="noStrike">
              <a:solidFill>
                <a:srgbClr val="000000"/>
              </a:solidFill>
              <a:latin typeface="Arial"/>
              <a:ea typeface="Arial"/>
              <a:cs typeface="Arial"/>
              <a:sym typeface="Arial"/>
            </a:endParaRPr>
          </a:p>
        </p:txBody>
      </p:sp>
      <p:pic>
        <p:nvPicPr>
          <p:cNvPr descr="preencoded.png" id="132" name="Google Shape;132;g36099cd020b_0_19"/>
          <p:cNvPicPr preferRelativeResize="0"/>
          <p:nvPr/>
        </p:nvPicPr>
        <p:blipFill rotWithShape="1">
          <a:blip r:embed="rId3">
            <a:alphaModFix/>
          </a:blip>
          <a:srcRect b="0" l="0" r="0" t="0"/>
          <a:stretch/>
        </p:blipFill>
        <p:spPr>
          <a:xfrm>
            <a:off x="5592605" y="5766450"/>
            <a:ext cx="7102800" cy="3995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3362"/>
        </a:solidFill>
      </p:bgPr>
    </p:bg>
    <p:spTree>
      <p:nvGrpSpPr>
        <p:cNvPr id="136" name="Shape 136"/>
        <p:cNvGrpSpPr/>
        <p:nvPr/>
      </p:nvGrpSpPr>
      <p:grpSpPr>
        <a:xfrm>
          <a:off x="0" y="0"/>
          <a:ext cx="0" cy="0"/>
          <a:chOff x="0" y="0"/>
          <a:chExt cx="0" cy="0"/>
        </a:xfrm>
      </p:grpSpPr>
      <p:grpSp>
        <p:nvGrpSpPr>
          <p:cNvPr id="137" name="Google Shape;137;g36099cd020b_0_28"/>
          <p:cNvGrpSpPr/>
          <p:nvPr/>
        </p:nvGrpSpPr>
        <p:grpSpPr>
          <a:xfrm>
            <a:off x="-584626" y="928335"/>
            <a:ext cx="19457594" cy="2036657"/>
            <a:chOff x="0" y="-76200"/>
            <a:chExt cx="5124600" cy="536400"/>
          </a:xfrm>
        </p:grpSpPr>
        <p:sp>
          <p:nvSpPr>
            <p:cNvPr id="138" name="Google Shape;138;g36099cd020b_0_2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FDFD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g36099cd020b_0_2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g36099cd020b_0_28"/>
          <p:cNvSpPr/>
          <p:nvPr/>
        </p:nvSpPr>
        <p:spPr>
          <a:xfrm>
            <a:off x="4388364"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3">
              <a:alphaModFix/>
            </a:blip>
            <a:stretch>
              <a:fillRect b="0" l="-24986" r="-2499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g36099cd020b_0_28"/>
          <p:cNvSpPr/>
          <p:nvPr/>
        </p:nvSpPr>
        <p:spPr>
          <a:xfrm>
            <a:off x="7700127"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4">
              <a:alphaModFix/>
            </a:blip>
            <a:stretch>
              <a:fillRect b="-2826" l="0" r="0" t="-4696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g36099cd020b_0_28"/>
          <p:cNvSpPr/>
          <p:nvPr/>
        </p:nvSpPr>
        <p:spPr>
          <a:xfrm>
            <a:off x="11013931" y="4265449"/>
            <a:ext cx="2980944" cy="2980944"/>
          </a:xfrm>
          <a:custGeom>
            <a:rect b="b" l="l" r="r" t="t"/>
            <a:pathLst>
              <a:path extrusionOk="0" h="812800" w="812800">
                <a:moveTo>
                  <a:pt x="0" y="0"/>
                </a:moveTo>
                <a:lnTo>
                  <a:pt x="812800" y="0"/>
                </a:lnTo>
                <a:lnTo>
                  <a:pt x="812800" y="812800"/>
                </a:lnTo>
                <a:lnTo>
                  <a:pt x="0" y="812800"/>
                </a:lnTo>
                <a:close/>
              </a:path>
            </a:pathLst>
          </a:custGeom>
          <a:blipFill rotWithShape="1">
            <a:blip r:embed="rId5">
              <a:alphaModFix/>
            </a:blip>
            <a:stretch>
              <a:fillRect b="0" l="-25036" r="-2503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43" name="Google Shape;143;g36099cd020b_0_28"/>
          <p:cNvGrpSpPr/>
          <p:nvPr/>
        </p:nvGrpSpPr>
        <p:grpSpPr>
          <a:xfrm>
            <a:off x="5168014" y="3554168"/>
            <a:ext cx="1422563" cy="1422563"/>
            <a:chOff x="0" y="0"/>
            <a:chExt cx="812800" cy="812800"/>
          </a:xfrm>
        </p:grpSpPr>
        <p:sp>
          <p:nvSpPr>
            <p:cNvPr id="144" name="Google Shape;144;g36099cd020b_0_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36099cd020b_0_28"/>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6" name="Google Shape;146;g36099cd020b_0_28"/>
          <p:cNvGrpSpPr/>
          <p:nvPr/>
        </p:nvGrpSpPr>
        <p:grpSpPr>
          <a:xfrm>
            <a:off x="8479777" y="3554168"/>
            <a:ext cx="1422563" cy="1422563"/>
            <a:chOff x="0" y="0"/>
            <a:chExt cx="812800" cy="812800"/>
          </a:xfrm>
        </p:grpSpPr>
        <p:sp>
          <p:nvSpPr>
            <p:cNvPr id="147" name="Google Shape;147;g36099cd020b_0_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6099cd020b_0_28"/>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g36099cd020b_0_28"/>
          <p:cNvGrpSpPr/>
          <p:nvPr/>
        </p:nvGrpSpPr>
        <p:grpSpPr>
          <a:xfrm>
            <a:off x="11793582" y="3554168"/>
            <a:ext cx="1422563" cy="1422563"/>
            <a:chOff x="0" y="0"/>
            <a:chExt cx="812800" cy="812800"/>
          </a:xfrm>
        </p:grpSpPr>
        <p:sp>
          <p:nvSpPr>
            <p:cNvPr id="150" name="Google Shape;150;g36099cd020b_0_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6099cd020b_0_28"/>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6099cd020b_0_28"/>
          <p:cNvSpPr txBox="1"/>
          <p:nvPr/>
        </p:nvSpPr>
        <p:spPr>
          <a:xfrm>
            <a:off x="1028700" y="1494776"/>
            <a:ext cx="16230600" cy="2242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70"/>
              <a:buFont typeface="Arial"/>
              <a:buNone/>
            </a:pPr>
            <a:r>
              <a:rPr b="1" i="0" lang="en-US" sz="6070" u="none" cap="none" strike="noStrike">
                <a:solidFill>
                  <a:srgbClr val="013362"/>
                </a:solidFill>
                <a:latin typeface="Poppins"/>
                <a:ea typeface="Poppins"/>
                <a:cs typeface="Poppins"/>
                <a:sym typeface="Poppins"/>
              </a:rPr>
              <a:t>Importancia de las pruebas de software</a:t>
            </a:r>
            <a:endParaRPr b="1" i="0" sz="6070" u="none" cap="none" strike="noStrike">
              <a:solidFill>
                <a:srgbClr val="013362"/>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6070"/>
              <a:buFont typeface="Arial"/>
              <a:buNone/>
            </a:pPr>
            <a:r>
              <a:t/>
            </a:r>
            <a:endParaRPr b="1" i="0" sz="6070" u="none" cap="none" strike="noStrike">
              <a:solidFill>
                <a:srgbClr val="013362"/>
              </a:solidFill>
              <a:latin typeface="Poppins"/>
              <a:ea typeface="Poppins"/>
              <a:cs typeface="Poppins"/>
              <a:sym typeface="Poppins"/>
            </a:endParaRPr>
          </a:p>
        </p:txBody>
      </p:sp>
      <p:sp>
        <p:nvSpPr>
          <p:cNvPr id="153" name="Google Shape;153;g36099cd020b_0_28"/>
          <p:cNvSpPr txBox="1"/>
          <p:nvPr/>
        </p:nvSpPr>
        <p:spPr>
          <a:xfrm>
            <a:off x="4388375" y="7523900"/>
            <a:ext cx="3217200" cy="217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Calidad</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Las pruebas ayudan a asegurar que el software cumpla con los requisitos y funcione sin errores.</a:t>
            </a:r>
            <a:endParaRPr b="0"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t/>
            </a:r>
            <a:endParaRPr b="0" i="0" sz="1770" u="none" cap="none" strike="noStrike">
              <a:solidFill>
                <a:srgbClr val="FFFFFF"/>
              </a:solidFill>
              <a:latin typeface="Poppins"/>
              <a:ea typeface="Poppins"/>
              <a:cs typeface="Poppins"/>
              <a:sym typeface="Poppins"/>
            </a:endParaRPr>
          </a:p>
        </p:txBody>
      </p:sp>
      <p:sp>
        <p:nvSpPr>
          <p:cNvPr id="154" name="Google Shape;154;g36099cd020b_0_28"/>
          <p:cNvSpPr txBox="1"/>
          <p:nvPr/>
        </p:nvSpPr>
        <p:spPr>
          <a:xfrm>
            <a:off x="7649201" y="7523900"/>
            <a:ext cx="3083700" cy="1798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Satisfacción del usuario</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Un software bien probado brinda una mejor experiencia de usuario y genera más confianza.</a:t>
            </a:r>
            <a:endParaRPr b="0" i="0" sz="1770" u="none" cap="none" strike="noStrike">
              <a:solidFill>
                <a:srgbClr val="FFFFFF"/>
              </a:solidFill>
              <a:latin typeface="Poppins"/>
              <a:ea typeface="Poppins"/>
              <a:cs typeface="Poppins"/>
              <a:sym typeface="Poppins"/>
            </a:endParaRPr>
          </a:p>
        </p:txBody>
      </p:sp>
      <p:sp>
        <p:nvSpPr>
          <p:cNvPr id="155" name="Google Shape;155;g36099cd020b_0_28"/>
          <p:cNvSpPr txBox="1"/>
          <p:nvPr/>
        </p:nvSpPr>
        <p:spPr>
          <a:xfrm>
            <a:off x="11013975" y="7523900"/>
            <a:ext cx="2980800" cy="217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Detección temprana de errores</a:t>
            </a:r>
            <a:endParaRPr b="1" i="0" sz="1770" u="none" cap="none" strike="noStrike">
              <a:solidFill>
                <a:srgbClr val="FFFFFF"/>
              </a:solidFill>
              <a:latin typeface="Poppins"/>
              <a:ea typeface="Poppins"/>
              <a:cs typeface="Poppins"/>
              <a:sym typeface="Poppins"/>
            </a:endParaRPr>
          </a:p>
          <a:p>
            <a:pPr indent="0" lvl="0" marL="0" marR="0" rtl="0" algn="ctr">
              <a:lnSpc>
                <a:spcPct val="140000"/>
              </a:lnSpc>
              <a:spcBef>
                <a:spcPts val="0"/>
              </a:spcBef>
              <a:spcAft>
                <a:spcPts val="0"/>
              </a:spcAft>
              <a:buClr>
                <a:srgbClr val="000000"/>
              </a:buClr>
              <a:buSzPts val="1770"/>
              <a:buFont typeface="Arial"/>
              <a:buNone/>
            </a:pPr>
            <a:r>
              <a:rPr b="0" i="0" lang="en-US" sz="1770" u="none" cap="none" strike="noStrike">
                <a:solidFill>
                  <a:srgbClr val="FFFFFF"/>
                </a:solidFill>
                <a:latin typeface="Poppins"/>
                <a:ea typeface="Poppins"/>
                <a:cs typeface="Poppins"/>
                <a:sym typeface="Poppins"/>
              </a:rPr>
              <a:t>Identificar y corregir problemas en las primeras etapas reduce costos y esfuerzo..</a:t>
            </a:r>
            <a:endParaRPr b="0" i="0" sz="1770" u="none" cap="none" strike="noStrike">
              <a:solidFill>
                <a:srgbClr val="FFFFFF"/>
              </a:solidFill>
              <a:latin typeface="Poppins"/>
              <a:ea typeface="Poppins"/>
              <a:cs typeface="Poppins"/>
              <a:sym typeface="Poppins"/>
            </a:endParaRPr>
          </a:p>
        </p:txBody>
      </p:sp>
      <p:sp>
        <p:nvSpPr>
          <p:cNvPr id="156" name="Google Shape;156;g36099cd020b_0_28"/>
          <p:cNvSpPr txBox="1"/>
          <p:nvPr/>
        </p:nvSpPr>
        <p:spPr>
          <a:xfrm>
            <a:off x="5559185"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57" name="Google Shape;157;g36099cd020b_0_28"/>
          <p:cNvSpPr txBox="1"/>
          <p:nvPr/>
        </p:nvSpPr>
        <p:spPr>
          <a:xfrm>
            <a:off x="8870947"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58" name="Google Shape;158;g36099cd020b_0_28"/>
          <p:cNvSpPr txBox="1"/>
          <p:nvPr/>
        </p:nvSpPr>
        <p:spPr>
          <a:xfrm>
            <a:off x="12184751" y="373728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2" name="Shape 162"/>
        <p:cNvGrpSpPr/>
        <p:nvPr/>
      </p:nvGrpSpPr>
      <p:grpSpPr>
        <a:xfrm>
          <a:off x="0" y="0"/>
          <a:ext cx="0" cy="0"/>
          <a:chOff x="0" y="0"/>
          <a:chExt cx="0" cy="0"/>
        </a:xfrm>
      </p:grpSpPr>
      <p:grpSp>
        <p:nvGrpSpPr>
          <p:cNvPr id="163" name="Google Shape;163;g36099cd020b_0_53"/>
          <p:cNvGrpSpPr/>
          <p:nvPr/>
        </p:nvGrpSpPr>
        <p:grpSpPr>
          <a:xfrm>
            <a:off x="-584801" y="364850"/>
            <a:ext cx="19457594" cy="2036657"/>
            <a:chOff x="0" y="-76200"/>
            <a:chExt cx="5124600" cy="536400"/>
          </a:xfrm>
        </p:grpSpPr>
        <p:sp>
          <p:nvSpPr>
            <p:cNvPr id="164" name="Google Shape;164;g36099cd020b_0_5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g36099cd020b_0_5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6" name="Google Shape;166;g36099cd020b_0_5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Tipos de pruebas de software</a:t>
            </a:r>
            <a:endParaRPr b="0" i="0" sz="100" u="none" cap="none" strike="noStrike">
              <a:solidFill>
                <a:srgbClr val="000000"/>
              </a:solidFill>
              <a:latin typeface="Arial"/>
              <a:ea typeface="Arial"/>
              <a:cs typeface="Arial"/>
              <a:sym typeface="Arial"/>
            </a:endParaRPr>
          </a:p>
        </p:txBody>
      </p:sp>
      <p:sp>
        <p:nvSpPr>
          <p:cNvPr id="167" name="Google Shape;167;g36099cd020b_0_53"/>
          <p:cNvSpPr/>
          <p:nvPr/>
        </p:nvSpPr>
        <p:spPr>
          <a:xfrm>
            <a:off x="793801" y="4206502"/>
            <a:ext cx="3174900" cy="444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F42"/>
              </a:buClr>
              <a:buSzPts val="2200"/>
              <a:buFont typeface="Bitter"/>
              <a:buNone/>
            </a:pPr>
            <a:r>
              <a:rPr b="1" i="0" lang="en-US" sz="2200" u="none" cap="none" strike="noStrike">
                <a:solidFill>
                  <a:srgbClr val="2C3F42"/>
                </a:solidFill>
                <a:latin typeface="Bitter"/>
                <a:ea typeface="Bitter"/>
                <a:cs typeface="Bitter"/>
                <a:sym typeface="Bitter"/>
              </a:rPr>
              <a:t>Pruebas Funcionales</a:t>
            </a:r>
            <a:endParaRPr b="1" i="0" sz="2200" u="none" cap="none" strike="noStrike">
              <a:solidFill>
                <a:srgbClr val="000000"/>
              </a:solidFill>
              <a:latin typeface="Arial"/>
              <a:ea typeface="Arial"/>
              <a:cs typeface="Arial"/>
              <a:sym typeface="Arial"/>
            </a:endParaRPr>
          </a:p>
        </p:txBody>
      </p:sp>
      <p:sp>
        <p:nvSpPr>
          <p:cNvPr id="168" name="Google Shape;168;g36099cd020b_0_53"/>
          <p:cNvSpPr/>
          <p:nvPr/>
        </p:nvSpPr>
        <p:spPr>
          <a:xfrm>
            <a:off x="793801" y="4726362"/>
            <a:ext cx="4454400" cy="910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Validan que el software cumpla con los requisitos especificados.</a:t>
            </a:r>
            <a:endParaRPr b="0" i="0" sz="1750" u="none" cap="none" strike="noStrike">
              <a:solidFill>
                <a:srgbClr val="000000"/>
              </a:solidFill>
              <a:latin typeface="Arial"/>
              <a:ea typeface="Arial"/>
              <a:cs typeface="Arial"/>
              <a:sym typeface="Arial"/>
            </a:endParaRPr>
          </a:p>
        </p:txBody>
      </p:sp>
      <p:sp>
        <p:nvSpPr>
          <p:cNvPr id="169" name="Google Shape;169;g36099cd020b_0_53"/>
          <p:cNvSpPr/>
          <p:nvPr/>
        </p:nvSpPr>
        <p:spPr>
          <a:xfrm>
            <a:off x="13765824" y="4522263"/>
            <a:ext cx="39780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F42"/>
              </a:buClr>
              <a:buSzPts val="2200"/>
              <a:buFont typeface="Bitter"/>
              <a:buNone/>
            </a:pPr>
            <a:r>
              <a:rPr b="1" i="0" lang="en-US" sz="2200" u="none" cap="none" strike="noStrike">
                <a:solidFill>
                  <a:srgbClr val="2C3F42"/>
                </a:solidFill>
                <a:latin typeface="Bitter"/>
                <a:ea typeface="Bitter"/>
                <a:cs typeface="Bitter"/>
                <a:sym typeface="Bitter"/>
              </a:rPr>
              <a:t>Pruebas No Funcionales</a:t>
            </a:r>
            <a:endParaRPr b="1" i="0" sz="2200" u="none" cap="none" strike="noStrike">
              <a:solidFill>
                <a:srgbClr val="000000"/>
              </a:solidFill>
              <a:latin typeface="Arial"/>
              <a:ea typeface="Arial"/>
              <a:cs typeface="Arial"/>
              <a:sym typeface="Arial"/>
            </a:endParaRPr>
          </a:p>
        </p:txBody>
      </p:sp>
      <p:sp>
        <p:nvSpPr>
          <p:cNvPr id="170" name="Google Shape;170;g36099cd020b_0_53"/>
          <p:cNvSpPr/>
          <p:nvPr/>
        </p:nvSpPr>
        <p:spPr>
          <a:xfrm>
            <a:off x="13825653" y="5039048"/>
            <a:ext cx="39780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Evalúan aspectos como rendimiento, seguridad, usabilidad y compatibilidad.</a:t>
            </a:r>
            <a:endParaRPr b="0" i="0" sz="1750" u="none" cap="none" strike="noStrike">
              <a:solidFill>
                <a:srgbClr val="000000"/>
              </a:solidFill>
              <a:latin typeface="Arial"/>
              <a:ea typeface="Arial"/>
              <a:cs typeface="Arial"/>
              <a:sym typeface="Arial"/>
            </a:endParaRPr>
          </a:p>
        </p:txBody>
      </p:sp>
      <p:pic>
        <p:nvPicPr>
          <p:cNvPr descr="preencoded.png" id="171" name="Google Shape;171;g36099cd020b_0_53"/>
          <p:cNvPicPr preferRelativeResize="0"/>
          <p:nvPr/>
        </p:nvPicPr>
        <p:blipFill rotWithShape="1">
          <a:blip r:embed="rId3">
            <a:alphaModFix/>
          </a:blip>
          <a:srcRect b="0" l="0" r="0" t="0"/>
          <a:stretch/>
        </p:blipFill>
        <p:spPr>
          <a:xfrm>
            <a:off x="5383334" y="3538952"/>
            <a:ext cx="7521351" cy="5647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5" name="Shape 175"/>
        <p:cNvGrpSpPr/>
        <p:nvPr/>
      </p:nvGrpSpPr>
      <p:grpSpPr>
        <a:xfrm>
          <a:off x="0" y="0"/>
          <a:ext cx="0" cy="0"/>
          <a:chOff x="0" y="0"/>
          <a:chExt cx="0" cy="0"/>
        </a:xfrm>
      </p:grpSpPr>
      <p:grpSp>
        <p:nvGrpSpPr>
          <p:cNvPr id="176" name="Google Shape;176;g36099cd020b_0_65"/>
          <p:cNvGrpSpPr/>
          <p:nvPr/>
        </p:nvGrpSpPr>
        <p:grpSpPr>
          <a:xfrm>
            <a:off x="-584801" y="364850"/>
            <a:ext cx="19457594" cy="2036657"/>
            <a:chOff x="0" y="-76200"/>
            <a:chExt cx="5124600" cy="536400"/>
          </a:xfrm>
        </p:grpSpPr>
        <p:sp>
          <p:nvSpPr>
            <p:cNvPr id="177" name="Google Shape;177;g36099cd020b_0_6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g36099cd020b_0_6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9" name="Google Shape;179;g36099cd020b_0_65"/>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Funcionales</a:t>
            </a:r>
            <a:endParaRPr b="1" i="0" sz="7024" u="none" cap="none" strike="noStrike">
              <a:solidFill>
                <a:srgbClr val="FDFDFD"/>
              </a:solidFill>
              <a:latin typeface="Poppins"/>
              <a:ea typeface="Poppins"/>
              <a:cs typeface="Poppins"/>
              <a:sym typeface="Poppins"/>
            </a:endParaRPr>
          </a:p>
        </p:txBody>
      </p:sp>
      <p:sp>
        <p:nvSpPr>
          <p:cNvPr id="180" name="Google Shape;180;g36099cd020b_0_65"/>
          <p:cNvSpPr/>
          <p:nvPr/>
        </p:nvSpPr>
        <p:spPr>
          <a:xfrm>
            <a:off x="2759312" y="3074706"/>
            <a:ext cx="2952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B2E3C"/>
              </a:buClr>
              <a:buSzPts val="2200"/>
              <a:buFont typeface="Bitter"/>
              <a:buNone/>
            </a:pPr>
            <a:r>
              <a:rPr b="1" i="0" lang="en-US" sz="2200" u="none" cap="none" strike="noStrike">
                <a:solidFill>
                  <a:srgbClr val="2B2E3C"/>
                </a:solidFill>
                <a:latin typeface="Bitter"/>
                <a:ea typeface="Bitter"/>
                <a:cs typeface="Bitter"/>
                <a:sym typeface="Bitter"/>
              </a:rPr>
              <a:t>Validación de requisitos</a:t>
            </a:r>
            <a:endParaRPr b="1" i="0" sz="2200" u="none" cap="none" strike="noStrike">
              <a:solidFill>
                <a:srgbClr val="000000"/>
              </a:solidFill>
              <a:latin typeface="Arial"/>
              <a:ea typeface="Arial"/>
              <a:cs typeface="Arial"/>
              <a:sym typeface="Arial"/>
            </a:endParaRPr>
          </a:p>
        </p:txBody>
      </p:sp>
      <p:sp>
        <p:nvSpPr>
          <p:cNvPr id="181" name="Google Shape;181;g36099cd020b_0_65"/>
          <p:cNvSpPr/>
          <p:nvPr/>
        </p:nvSpPr>
        <p:spPr>
          <a:xfrm>
            <a:off x="2759312" y="4102200"/>
            <a:ext cx="31959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Aseguran que el software cumpla con las especificaciones del cliente.</a:t>
            </a:r>
            <a:endParaRPr b="0" i="0" sz="1750" u="none" cap="none" strike="noStrike">
              <a:solidFill>
                <a:srgbClr val="000000"/>
              </a:solidFill>
              <a:latin typeface="Arial"/>
              <a:ea typeface="Arial"/>
              <a:cs typeface="Arial"/>
              <a:sym typeface="Arial"/>
            </a:endParaRPr>
          </a:p>
        </p:txBody>
      </p:sp>
      <p:sp>
        <p:nvSpPr>
          <p:cNvPr id="182" name="Google Shape;182;g36099cd020b_0_65"/>
          <p:cNvSpPr/>
          <p:nvPr/>
        </p:nvSpPr>
        <p:spPr>
          <a:xfrm>
            <a:off x="10717938" y="328706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B2E3C"/>
              </a:buClr>
              <a:buSzPts val="2200"/>
              <a:buFont typeface="Bitter"/>
              <a:buNone/>
            </a:pPr>
            <a:r>
              <a:rPr b="1" i="0" lang="en-US" sz="2200" u="none" cap="none" strike="noStrike">
                <a:solidFill>
                  <a:srgbClr val="2B2E3C"/>
                </a:solidFill>
                <a:latin typeface="Bitter"/>
                <a:ea typeface="Bitter"/>
                <a:cs typeface="Bitter"/>
                <a:sym typeface="Bitter"/>
              </a:rPr>
              <a:t>Casos de prueba</a:t>
            </a:r>
            <a:endParaRPr b="1" i="0" sz="2200" u="none" cap="none" strike="noStrike">
              <a:solidFill>
                <a:srgbClr val="000000"/>
              </a:solidFill>
              <a:latin typeface="Arial"/>
              <a:ea typeface="Arial"/>
              <a:cs typeface="Arial"/>
              <a:sym typeface="Arial"/>
            </a:endParaRPr>
          </a:p>
        </p:txBody>
      </p:sp>
      <p:sp>
        <p:nvSpPr>
          <p:cNvPr id="183" name="Google Shape;183;g36099cd020b_0_65"/>
          <p:cNvSpPr/>
          <p:nvPr/>
        </p:nvSpPr>
        <p:spPr>
          <a:xfrm>
            <a:off x="10717939" y="3777487"/>
            <a:ext cx="31959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Se diseñan escenarios de prueba para cubrir los diferentes casos de uso.</a:t>
            </a:r>
            <a:endParaRPr b="0" i="0" sz="1750" u="none" cap="none" strike="noStrike">
              <a:solidFill>
                <a:srgbClr val="000000"/>
              </a:solidFill>
              <a:latin typeface="Arial"/>
              <a:ea typeface="Arial"/>
              <a:cs typeface="Arial"/>
              <a:sym typeface="Arial"/>
            </a:endParaRPr>
          </a:p>
        </p:txBody>
      </p:sp>
      <p:sp>
        <p:nvSpPr>
          <p:cNvPr id="184" name="Google Shape;184;g36099cd020b_0_65"/>
          <p:cNvSpPr/>
          <p:nvPr/>
        </p:nvSpPr>
        <p:spPr>
          <a:xfrm>
            <a:off x="2759312" y="6558390"/>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B2E3C"/>
              </a:buClr>
              <a:buSzPts val="2200"/>
              <a:buFont typeface="Bitter"/>
              <a:buNone/>
            </a:pPr>
            <a:r>
              <a:rPr b="1" i="0" lang="en-US" sz="2200" u="none" cap="none" strike="noStrike">
                <a:solidFill>
                  <a:srgbClr val="2B2E3C"/>
                </a:solidFill>
                <a:latin typeface="Bitter"/>
                <a:ea typeface="Bitter"/>
                <a:cs typeface="Bitter"/>
                <a:sym typeface="Bitter"/>
              </a:rPr>
              <a:t>Pruebas de aceptación</a:t>
            </a:r>
            <a:endParaRPr b="1" i="0" sz="2200" u="none" cap="none" strike="noStrike">
              <a:solidFill>
                <a:srgbClr val="000000"/>
              </a:solidFill>
              <a:latin typeface="Arial"/>
              <a:ea typeface="Arial"/>
              <a:cs typeface="Arial"/>
              <a:sym typeface="Arial"/>
            </a:endParaRPr>
          </a:p>
        </p:txBody>
      </p:sp>
      <p:sp>
        <p:nvSpPr>
          <p:cNvPr id="185" name="Google Shape;185;g36099cd020b_0_65"/>
          <p:cNvSpPr/>
          <p:nvPr/>
        </p:nvSpPr>
        <p:spPr>
          <a:xfrm>
            <a:off x="2759312" y="7608408"/>
            <a:ext cx="31959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Verifican que el software sea aceptado por los usuarios finales.</a:t>
            </a:r>
            <a:endParaRPr b="0" i="0" sz="1750" u="none" cap="none" strike="noStrike">
              <a:solidFill>
                <a:srgbClr val="000000"/>
              </a:solidFill>
              <a:latin typeface="Arial"/>
              <a:ea typeface="Arial"/>
              <a:cs typeface="Arial"/>
              <a:sym typeface="Arial"/>
            </a:endParaRPr>
          </a:p>
        </p:txBody>
      </p:sp>
      <p:sp>
        <p:nvSpPr>
          <p:cNvPr id="186" name="Google Shape;186;g36099cd020b_0_65"/>
          <p:cNvSpPr/>
          <p:nvPr/>
        </p:nvSpPr>
        <p:spPr>
          <a:xfrm>
            <a:off x="10717938" y="6912690"/>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B2E3C"/>
              </a:buClr>
              <a:buSzPts val="2200"/>
              <a:buFont typeface="Bitter"/>
              <a:buNone/>
            </a:pPr>
            <a:r>
              <a:rPr b="1" i="0" lang="en-US" sz="2200" u="none" cap="none" strike="noStrike">
                <a:solidFill>
                  <a:srgbClr val="2B2E3C"/>
                </a:solidFill>
                <a:latin typeface="Bitter"/>
                <a:ea typeface="Bitter"/>
                <a:cs typeface="Bitter"/>
                <a:sym typeface="Bitter"/>
              </a:rPr>
              <a:t>Pruebas de regresión</a:t>
            </a:r>
            <a:endParaRPr b="1" i="0" sz="2200" u="none" cap="none" strike="noStrike">
              <a:solidFill>
                <a:srgbClr val="000000"/>
              </a:solidFill>
              <a:latin typeface="Arial"/>
              <a:ea typeface="Arial"/>
              <a:cs typeface="Arial"/>
              <a:sym typeface="Arial"/>
            </a:endParaRPr>
          </a:p>
        </p:txBody>
      </p:sp>
      <p:sp>
        <p:nvSpPr>
          <p:cNvPr id="187" name="Google Shape;187;g36099cd020b_0_65"/>
          <p:cNvSpPr/>
          <p:nvPr/>
        </p:nvSpPr>
        <p:spPr>
          <a:xfrm>
            <a:off x="10717939" y="7403108"/>
            <a:ext cx="31959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B2E3C"/>
              </a:buClr>
              <a:buSzPts val="1750"/>
              <a:buFont typeface="Open Sans"/>
              <a:buNone/>
            </a:pPr>
            <a:r>
              <a:rPr b="0" i="0" lang="en-US" sz="1750" u="none" cap="none" strike="noStrike">
                <a:solidFill>
                  <a:srgbClr val="2B2E3C"/>
                </a:solidFill>
                <a:latin typeface="Open Sans"/>
                <a:ea typeface="Open Sans"/>
                <a:cs typeface="Open Sans"/>
                <a:sym typeface="Open Sans"/>
              </a:rPr>
              <a:t>Detectan si los cambios introducidos han afectado la funcionalidad existente.</a:t>
            </a:r>
            <a:endParaRPr b="0" i="0" sz="1750" u="none" cap="none" strike="noStrike">
              <a:solidFill>
                <a:srgbClr val="000000"/>
              </a:solidFill>
              <a:latin typeface="Arial"/>
              <a:ea typeface="Arial"/>
              <a:cs typeface="Arial"/>
              <a:sym typeface="Arial"/>
            </a:endParaRPr>
          </a:p>
        </p:txBody>
      </p:sp>
      <p:pic>
        <p:nvPicPr>
          <p:cNvPr id="188" name="Google Shape;188;g36099cd020b_0_65"/>
          <p:cNvPicPr preferRelativeResize="0"/>
          <p:nvPr/>
        </p:nvPicPr>
        <p:blipFill rotWithShape="1">
          <a:blip r:embed="rId3">
            <a:alphaModFix/>
          </a:blip>
          <a:srcRect b="0" l="0" r="0" t="0"/>
          <a:stretch/>
        </p:blipFill>
        <p:spPr>
          <a:xfrm>
            <a:off x="6107612" y="3429007"/>
            <a:ext cx="4457927" cy="44579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2" name="Shape 192"/>
        <p:cNvGrpSpPr/>
        <p:nvPr/>
      </p:nvGrpSpPr>
      <p:grpSpPr>
        <a:xfrm>
          <a:off x="0" y="0"/>
          <a:ext cx="0" cy="0"/>
          <a:chOff x="0" y="0"/>
          <a:chExt cx="0" cy="0"/>
        </a:xfrm>
      </p:grpSpPr>
      <p:grpSp>
        <p:nvGrpSpPr>
          <p:cNvPr id="193" name="Google Shape;193;g36099cd020b_0_81"/>
          <p:cNvGrpSpPr/>
          <p:nvPr/>
        </p:nvGrpSpPr>
        <p:grpSpPr>
          <a:xfrm>
            <a:off x="-584800" y="2437174"/>
            <a:ext cx="19457594" cy="4853776"/>
            <a:chOff x="0" y="-76200"/>
            <a:chExt cx="5124600" cy="536400"/>
          </a:xfrm>
        </p:grpSpPr>
        <p:sp>
          <p:nvSpPr>
            <p:cNvPr id="194" name="Google Shape;194;g36099cd020b_0_8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g36099cd020b_0_8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g36099cd020b_0_81"/>
          <p:cNvSpPr txBox="1"/>
          <p:nvPr/>
        </p:nvSpPr>
        <p:spPr>
          <a:xfrm>
            <a:off x="1479696" y="343963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Tipos de pruebas funcionales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0" name="Shape 200"/>
        <p:cNvGrpSpPr/>
        <p:nvPr/>
      </p:nvGrpSpPr>
      <p:grpSpPr>
        <a:xfrm>
          <a:off x="0" y="0"/>
          <a:ext cx="0" cy="0"/>
          <a:chOff x="0" y="0"/>
          <a:chExt cx="0" cy="0"/>
        </a:xfrm>
      </p:grpSpPr>
      <p:grpSp>
        <p:nvGrpSpPr>
          <p:cNvPr id="201" name="Google Shape;201;g36099cd020b_0_88"/>
          <p:cNvGrpSpPr/>
          <p:nvPr/>
        </p:nvGrpSpPr>
        <p:grpSpPr>
          <a:xfrm>
            <a:off x="-584801" y="364850"/>
            <a:ext cx="19457594" cy="2036657"/>
            <a:chOff x="0" y="-76200"/>
            <a:chExt cx="5124600" cy="536400"/>
          </a:xfrm>
        </p:grpSpPr>
        <p:sp>
          <p:nvSpPr>
            <p:cNvPr id="202" name="Google Shape;202;g36099cd020b_0_8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g36099cd020b_0_8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4" name="Google Shape;204;g36099cd020b_0_88"/>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unitarias</a:t>
            </a:r>
            <a:endParaRPr b="1" i="0" sz="7024" u="none" cap="none" strike="noStrike">
              <a:solidFill>
                <a:srgbClr val="FDFDFD"/>
              </a:solidFill>
              <a:latin typeface="Poppins"/>
              <a:ea typeface="Poppins"/>
              <a:cs typeface="Poppins"/>
              <a:sym typeface="Poppins"/>
            </a:endParaRPr>
          </a:p>
        </p:txBody>
      </p:sp>
      <p:sp>
        <p:nvSpPr>
          <p:cNvPr id="205" name="Google Shape;205;g36099cd020b_0_88"/>
          <p:cNvSpPr txBox="1"/>
          <p:nvPr/>
        </p:nvSpPr>
        <p:spPr>
          <a:xfrm>
            <a:off x="1028700" y="2969250"/>
            <a:ext cx="17048400" cy="49266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unitarias son la base de las pruebas funcionales. Se centran en verificar la menor parte testable del software, como funciones y métodos individuales, para asegurarse de que se comporten como se espera. Es fundamental para detectar errores a nivel de componente antes de que el código avance a etapas de integración más complejas.</a:t>
            </a:r>
            <a:endParaRPr b="0" i="0" sz="29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Se recomienda implementar pruebas unitarias durante las primeras etapas del desarrollo para garantizar una base de código sólida y confiable.</a:t>
            </a:r>
            <a:endParaRPr b="0" i="0" sz="2963" u="none" cap="none" strike="noStrike">
              <a:solidFill>
                <a:srgbClr val="013362"/>
              </a:solidFill>
              <a:latin typeface="Poppins Light"/>
              <a:ea typeface="Poppins Light"/>
              <a:cs typeface="Poppins Light"/>
              <a:sym typeface="Poppins Light"/>
            </a:endParaRPr>
          </a:p>
          <a:p>
            <a:pPr indent="0" lvl="0" marL="0" marR="0" rtl="0" algn="ctr">
              <a:lnSpc>
                <a:spcPct val="140027"/>
              </a:lnSpc>
              <a:spcBef>
                <a:spcPts val="0"/>
              </a:spcBef>
              <a:spcAft>
                <a:spcPts val="0"/>
              </a:spcAft>
              <a:buClr>
                <a:srgbClr val="000000"/>
              </a:buClr>
              <a:buSzPts val="2963"/>
              <a:buFont typeface="Arial"/>
              <a:buNone/>
            </a:pPr>
            <a:r>
              <a:t/>
            </a:r>
            <a:endParaRPr b="0" i="0" sz="2963" u="none" cap="none" strike="noStrike">
              <a:solidFill>
                <a:srgbClr val="013362"/>
              </a:solidFill>
              <a:latin typeface="Poppins Light"/>
              <a:ea typeface="Poppins Light"/>
              <a:cs typeface="Poppins Light"/>
              <a:sym typeface="Poppins Light"/>
            </a:endParaRPr>
          </a:p>
        </p:txBody>
      </p:sp>
      <p:pic>
        <p:nvPicPr>
          <p:cNvPr id="206" name="Google Shape;206;g36099cd020b_0_88"/>
          <p:cNvPicPr preferRelativeResize="0"/>
          <p:nvPr/>
        </p:nvPicPr>
        <p:blipFill rotWithShape="1">
          <a:blip r:embed="rId3">
            <a:alphaModFix/>
          </a:blip>
          <a:srcRect b="0" l="0" r="0" t="0"/>
          <a:stretch/>
        </p:blipFill>
        <p:spPr>
          <a:xfrm>
            <a:off x="6490682" y="7375625"/>
            <a:ext cx="5656274" cy="2761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0" name="Shape 210"/>
        <p:cNvGrpSpPr/>
        <p:nvPr/>
      </p:nvGrpSpPr>
      <p:grpSpPr>
        <a:xfrm>
          <a:off x="0" y="0"/>
          <a:ext cx="0" cy="0"/>
          <a:chOff x="0" y="0"/>
          <a:chExt cx="0" cy="0"/>
        </a:xfrm>
      </p:grpSpPr>
      <p:grpSp>
        <p:nvGrpSpPr>
          <p:cNvPr id="211" name="Google Shape;211;g36099cd020b_0_97"/>
          <p:cNvGrpSpPr/>
          <p:nvPr/>
        </p:nvGrpSpPr>
        <p:grpSpPr>
          <a:xfrm>
            <a:off x="-584801" y="364850"/>
            <a:ext cx="19457594" cy="2036657"/>
            <a:chOff x="0" y="-76200"/>
            <a:chExt cx="5124600" cy="536400"/>
          </a:xfrm>
        </p:grpSpPr>
        <p:sp>
          <p:nvSpPr>
            <p:cNvPr id="212" name="Google Shape;212;g36099cd020b_0_9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g36099cd020b_0_9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g36099cd020b_0_9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integración</a:t>
            </a:r>
            <a:endParaRPr b="1" i="0" sz="7024" u="none" cap="none" strike="noStrike">
              <a:solidFill>
                <a:srgbClr val="FDFDFD"/>
              </a:solidFill>
              <a:latin typeface="Poppins"/>
              <a:ea typeface="Poppins"/>
              <a:cs typeface="Poppins"/>
              <a:sym typeface="Poppins"/>
            </a:endParaRPr>
          </a:p>
        </p:txBody>
      </p:sp>
      <p:sp>
        <p:nvSpPr>
          <p:cNvPr id="215" name="Google Shape;215;g36099cd020b_0_97"/>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Este tipo de pruebas evalúa la forma en que interactúan y operan varios módulos de aplicaciones de software de forma cohesiva. El sistema se divide en componentes conocidos como módulos o unidades. Cada módulo es responsable de una tarea específica. El verdadero desafío llega cuando combinamos estos componentes para desarrollar todo el sistema de software.</a:t>
            </a:r>
            <a:endParaRPr b="0" i="0" sz="2963" u="none" cap="none" strike="noStrike">
              <a:solidFill>
                <a:srgbClr val="013362"/>
              </a:solidFill>
              <a:latin typeface="Poppins Light"/>
              <a:ea typeface="Poppins Light"/>
              <a:cs typeface="Poppins Light"/>
              <a:sym typeface="Poppins Light"/>
            </a:endParaRPr>
          </a:p>
        </p:txBody>
      </p:sp>
      <p:pic>
        <p:nvPicPr>
          <p:cNvPr id="216" name="Google Shape;216;g36099cd020b_0_97"/>
          <p:cNvPicPr preferRelativeResize="0"/>
          <p:nvPr/>
        </p:nvPicPr>
        <p:blipFill rotWithShape="1">
          <a:blip r:embed="rId3">
            <a:alphaModFix/>
          </a:blip>
          <a:srcRect b="0" l="0" r="0" t="0"/>
          <a:stretch/>
        </p:blipFill>
        <p:spPr>
          <a:xfrm>
            <a:off x="6396317" y="6383025"/>
            <a:ext cx="6313175" cy="356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0" name="Shape 220"/>
        <p:cNvGrpSpPr/>
        <p:nvPr/>
      </p:nvGrpSpPr>
      <p:grpSpPr>
        <a:xfrm>
          <a:off x="0" y="0"/>
          <a:ext cx="0" cy="0"/>
          <a:chOff x="0" y="0"/>
          <a:chExt cx="0" cy="0"/>
        </a:xfrm>
      </p:grpSpPr>
      <p:grpSp>
        <p:nvGrpSpPr>
          <p:cNvPr id="221" name="Google Shape;221;g36099cd020b_0_106"/>
          <p:cNvGrpSpPr/>
          <p:nvPr/>
        </p:nvGrpSpPr>
        <p:grpSpPr>
          <a:xfrm>
            <a:off x="-584801" y="364850"/>
            <a:ext cx="19457594" cy="2036657"/>
            <a:chOff x="0" y="-76200"/>
            <a:chExt cx="5124600" cy="536400"/>
          </a:xfrm>
        </p:grpSpPr>
        <p:sp>
          <p:nvSpPr>
            <p:cNvPr id="222" name="Google Shape;222;g36099cd020b_0_10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g36099cd020b_0_10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g36099cd020b_0_10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integración</a:t>
            </a:r>
            <a:endParaRPr b="1" i="0" sz="7024" u="none" cap="none" strike="noStrike">
              <a:solidFill>
                <a:srgbClr val="FDFDFD"/>
              </a:solidFill>
              <a:latin typeface="Poppins"/>
              <a:ea typeface="Poppins"/>
              <a:cs typeface="Poppins"/>
              <a:sym typeface="Poppins"/>
            </a:endParaRPr>
          </a:p>
        </p:txBody>
      </p:sp>
      <p:pic>
        <p:nvPicPr>
          <p:cNvPr id="225" name="Google Shape;225;g36099cd020b_0_106"/>
          <p:cNvPicPr preferRelativeResize="0"/>
          <p:nvPr/>
        </p:nvPicPr>
        <p:blipFill rotWithShape="1">
          <a:blip r:embed="rId3">
            <a:alphaModFix/>
          </a:blip>
          <a:srcRect b="0" l="0" r="0" t="0"/>
          <a:stretch/>
        </p:blipFill>
        <p:spPr>
          <a:xfrm>
            <a:off x="1815138" y="3428996"/>
            <a:ext cx="14657725" cy="4809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9" name="Shape 229"/>
        <p:cNvGrpSpPr/>
        <p:nvPr/>
      </p:nvGrpSpPr>
      <p:grpSpPr>
        <a:xfrm>
          <a:off x="0" y="0"/>
          <a:ext cx="0" cy="0"/>
          <a:chOff x="0" y="0"/>
          <a:chExt cx="0" cy="0"/>
        </a:xfrm>
      </p:grpSpPr>
      <p:grpSp>
        <p:nvGrpSpPr>
          <p:cNvPr id="230" name="Google Shape;230;g36099cd020b_0_114"/>
          <p:cNvGrpSpPr/>
          <p:nvPr/>
        </p:nvGrpSpPr>
        <p:grpSpPr>
          <a:xfrm>
            <a:off x="-584801" y="364850"/>
            <a:ext cx="19457594" cy="2036657"/>
            <a:chOff x="0" y="-76200"/>
            <a:chExt cx="5124600" cy="536400"/>
          </a:xfrm>
        </p:grpSpPr>
        <p:sp>
          <p:nvSpPr>
            <p:cNvPr id="231" name="Google Shape;231;g36099cd020b_0_114"/>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g36099cd020b_0_114"/>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3" name="Google Shape;233;g36099cd020b_0_114"/>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Integración Top-Down</a:t>
            </a:r>
            <a:endParaRPr b="1" i="0" sz="7024" u="none" cap="none" strike="noStrike">
              <a:solidFill>
                <a:srgbClr val="FDFDFD"/>
              </a:solidFill>
              <a:latin typeface="Poppins"/>
              <a:ea typeface="Poppins"/>
              <a:cs typeface="Poppins"/>
              <a:sym typeface="Poppins"/>
            </a:endParaRPr>
          </a:p>
        </p:txBody>
      </p:sp>
      <p:sp>
        <p:nvSpPr>
          <p:cNvPr id="234" name="Google Shape;234;g36099cd020b_0_114"/>
          <p:cNvSpPr txBox="1"/>
          <p:nvPr/>
        </p:nvSpPr>
        <p:spPr>
          <a:xfrm>
            <a:off x="619800" y="2535650"/>
            <a:ext cx="17048400" cy="30105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top-down emplean un enfoque sistemático para probar los módulos de software desde el nivel superior hacia abajo a través de la jerarquía del sistema. Las pruebas comienzan con el módulo principal del software y continúan con los submódulos de la aplicación.</a:t>
            </a:r>
            <a:endParaRPr b="0" i="0" sz="2963" u="none" cap="none" strike="noStrike">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t/>
            </a:r>
            <a:endParaRPr b="0" i="0" sz="2963" u="none" cap="none" strike="noStrike">
              <a:solidFill>
                <a:srgbClr val="013362"/>
              </a:solidFill>
              <a:latin typeface="Poppins Light"/>
              <a:ea typeface="Poppins Light"/>
              <a:cs typeface="Poppins Light"/>
              <a:sym typeface="Poppins Light"/>
            </a:endParaRPr>
          </a:p>
        </p:txBody>
      </p:sp>
      <p:pic>
        <p:nvPicPr>
          <p:cNvPr id="235" name="Google Shape;235;g36099cd020b_0_114"/>
          <p:cNvPicPr preferRelativeResize="0"/>
          <p:nvPr/>
        </p:nvPicPr>
        <p:blipFill rotWithShape="1">
          <a:blip r:embed="rId3">
            <a:alphaModFix/>
          </a:blip>
          <a:srcRect b="0" l="27767" r="32028" t="0"/>
          <a:stretch/>
        </p:blipFill>
        <p:spPr>
          <a:xfrm>
            <a:off x="6220050" y="4340150"/>
            <a:ext cx="4842819" cy="5483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9" name="Shape 239"/>
        <p:cNvGrpSpPr/>
        <p:nvPr/>
      </p:nvGrpSpPr>
      <p:grpSpPr>
        <a:xfrm>
          <a:off x="0" y="0"/>
          <a:ext cx="0" cy="0"/>
          <a:chOff x="0" y="0"/>
          <a:chExt cx="0" cy="0"/>
        </a:xfrm>
      </p:grpSpPr>
      <p:grpSp>
        <p:nvGrpSpPr>
          <p:cNvPr id="240" name="Google Shape;240;g36099cd020b_0_123"/>
          <p:cNvGrpSpPr/>
          <p:nvPr/>
        </p:nvGrpSpPr>
        <p:grpSpPr>
          <a:xfrm>
            <a:off x="-584801" y="364850"/>
            <a:ext cx="19457594" cy="2036657"/>
            <a:chOff x="0" y="-76200"/>
            <a:chExt cx="5124600" cy="536400"/>
          </a:xfrm>
        </p:grpSpPr>
        <p:sp>
          <p:nvSpPr>
            <p:cNvPr id="241" name="Google Shape;241;g36099cd020b_0_12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g36099cd020b_0_12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g36099cd020b_0_12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Integración Bottom-Up</a:t>
            </a:r>
            <a:endParaRPr b="1" i="0" sz="7024" u="none" cap="none" strike="noStrike">
              <a:solidFill>
                <a:srgbClr val="FDFDFD"/>
              </a:solidFill>
              <a:latin typeface="Poppins"/>
              <a:ea typeface="Poppins"/>
              <a:cs typeface="Poppins"/>
              <a:sym typeface="Poppins"/>
            </a:endParaRPr>
          </a:p>
        </p:txBody>
      </p:sp>
      <p:sp>
        <p:nvSpPr>
          <p:cNvPr id="244" name="Google Shape;244;g36099cd020b_0_123"/>
          <p:cNvSpPr txBox="1"/>
          <p:nvPr/>
        </p:nvSpPr>
        <p:spPr>
          <a:xfrm>
            <a:off x="619800" y="2535650"/>
            <a:ext cx="17048400" cy="30105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Cuando se realizan pruebas bottom-up, primero se prueban los módulos de nivel inferior. Se pasa gradualmente a los módulos de nivel superior y así sucesivamente, hasta que todas las facetas del software se han probado a fondo. Esta estrategia se denomina razonamiento inductivo. Resulta beneficiosa cuando se incorporan al producto final componentes ya existentes.</a:t>
            </a:r>
            <a:endParaRPr b="0" i="0" sz="2963" u="none" cap="none" strike="noStrike">
              <a:solidFill>
                <a:srgbClr val="013362"/>
              </a:solidFill>
              <a:latin typeface="Poppins Light"/>
              <a:ea typeface="Poppins Light"/>
              <a:cs typeface="Poppins Light"/>
              <a:sym typeface="Poppins Light"/>
            </a:endParaRPr>
          </a:p>
        </p:txBody>
      </p:sp>
      <p:pic>
        <p:nvPicPr>
          <p:cNvPr id="245" name="Google Shape;245;g36099cd020b_0_123"/>
          <p:cNvPicPr preferRelativeResize="0"/>
          <p:nvPr/>
        </p:nvPicPr>
        <p:blipFill rotWithShape="1">
          <a:blip r:embed="rId3">
            <a:alphaModFix/>
          </a:blip>
          <a:srcRect b="8023" l="28662" r="27611" t="5685"/>
          <a:stretch/>
        </p:blipFill>
        <p:spPr>
          <a:xfrm>
            <a:off x="6145300" y="5203300"/>
            <a:ext cx="5526399" cy="4964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49" name="Shape 249"/>
        <p:cNvGrpSpPr/>
        <p:nvPr/>
      </p:nvGrpSpPr>
      <p:grpSpPr>
        <a:xfrm>
          <a:off x="0" y="0"/>
          <a:ext cx="0" cy="0"/>
          <a:chOff x="0" y="0"/>
          <a:chExt cx="0" cy="0"/>
        </a:xfrm>
      </p:grpSpPr>
      <p:grpSp>
        <p:nvGrpSpPr>
          <p:cNvPr id="250" name="Google Shape;250;g36099cd020b_0_132"/>
          <p:cNvGrpSpPr/>
          <p:nvPr/>
        </p:nvGrpSpPr>
        <p:grpSpPr>
          <a:xfrm>
            <a:off x="-584801" y="364850"/>
            <a:ext cx="19457594" cy="2036657"/>
            <a:chOff x="0" y="-76200"/>
            <a:chExt cx="5124600" cy="536400"/>
          </a:xfrm>
        </p:grpSpPr>
        <p:sp>
          <p:nvSpPr>
            <p:cNvPr id="251" name="Google Shape;251;g36099cd020b_0_13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g36099cd020b_0_13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3" name="Google Shape;253;g36099cd020b_0_132"/>
          <p:cNvSpPr txBox="1"/>
          <p:nvPr/>
        </p:nvSpPr>
        <p:spPr>
          <a:xfrm>
            <a:off x="-408750" y="919525"/>
            <a:ext cx="19105500" cy="9273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6024" u="none" cap="none" strike="noStrike">
                <a:solidFill>
                  <a:srgbClr val="FDFDFD"/>
                </a:solidFill>
                <a:latin typeface="Poppins"/>
                <a:ea typeface="Poppins"/>
                <a:cs typeface="Poppins"/>
                <a:sym typeface="Poppins"/>
              </a:rPr>
              <a:t>Pruebas Unitarias vs. Pruebas de Integración</a:t>
            </a:r>
            <a:endParaRPr b="1" i="0" sz="6024" u="none" cap="none" strike="noStrike">
              <a:solidFill>
                <a:srgbClr val="FDFDFD"/>
              </a:solidFill>
              <a:latin typeface="Poppins"/>
              <a:ea typeface="Poppins"/>
              <a:cs typeface="Poppins"/>
              <a:sym typeface="Poppins"/>
            </a:endParaRPr>
          </a:p>
        </p:txBody>
      </p:sp>
      <p:pic>
        <p:nvPicPr>
          <p:cNvPr id="254" name="Google Shape;254;g36099cd020b_0_132"/>
          <p:cNvPicPr preferRelativeResize="0"/>
          <p:nvPr/>
        </p:nvPicPr>
        <p:blipFill rotWithShape="1">
          <a:blip r:embed="rId3">
            <a:alphaModFix/>
          </a:blip>
          <a:srcRect b="0" l="0" r="0" t="0"/>
          <a:stretch/>
        </p:blipFill>
        <p:spPr>
          <a:xfrm>
            <a:off x="3509325" y="2628673"/>
            <a:ext cx="11269351" cy="7344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8" name="Shape 258"/>
        <p:cNvGrpSpPr/>
        <p:nvPr/>
      </p:nvGrpSpPr>
      <p:grpSpPr>
        <a:xfrm>
          <a:off x="0" y="0"/>
          <a:ext cx="0" cy="0"/>
          <a:chOff x="0" y="0"/>
          <a:chExt cx="0" cy="0"/>
        </a:xfrm>
      </p:grpSpPr>
      <p:grpSp>
        <p:nvGrpSpPr>
          <p:cNvPr id="259" name="Google Shape;259;g36099cd020b_0_140"/>
          <p:cNvGrpSpPr/>
          <p:nvPr/>
        </p:nvGrpSpPr>
        <p:grpSpPr>
          <a:xfrm>
            <a:off x="-584801" y="364850"/>
            <a:ext cx="19457594" cy="2036657"/>
            <a:chOff x="0" y="-76200"/>
            <a:chExt cx="5124600" cy="536400"/>
          </a:xfrm>
        </p:grpSpPr>
        <p:sp>
          <p:nvSpPr>
            <p:cNvPr id="260" name="Google Shape;260;g36099cd020b_0_14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g36099cd020b_0_14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2" name="Google Shape;262;g36099cd020b_0_140"/>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aceptación</a:t>
            </a:r>
            <a:endParaRPr b="1" i="0" sz="7024" u="none" cap="none" strike="noStrike">
              <a:solidFill>
                <a:srgbClr val="FDFDFD"/>
              </a:solidFill>
              <a:latin typeface="Poppins"/>
              <a:ea typeface="Poppins"/>
              <a:cs typeface="Poppins"/>
              <a:sym typeface="Poppins"/>
            </a:endParaRPr>
          </a:p>
        </p:txBody>
      </p:sp>
      <p:sp>
        <p:nvSpPr>
          <p:cNvPr id="263" name="Google Shape;263;g36099cd020b_0_140"/>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aceptación son pruebas formales que verifican si un sistema satisface los requisitos empresariales. Requieren que se esté ejecutando toda la aplicación durante las pruebas y se centran en replicar las conductas de los usuarios. Sin embargo, también pueden ir más allá y medir el rendimiento del sistema y rechazar cambios si no se han cumplido determinados objetivos.</a:t>
            </a:r>
            <a:endParaRPr b="0" i="0" sz="2963" u="none" cap="none" strike="noStrike">
              <a:solidFill>
                <a:srgbClr val="013362"/>
              </a:solidFill>
              <a:latin typeface="Poppins Light"/>
              <a:ea typeface="Poppins Light"/>
              <a:cs typeface="Poppins Light"/>
              <a:sym typeface="Poppins Light"/>
            </a:endParaRPr>
          </a:p>
        </p:txBody>
      </p:sp>
      <p:sp>
        <p:nvSpPr>
          <p:cNvPr id="264" name="Google Shape;264;g36099cd020b_0_140"/>
          <p:cNvSpPr txBox="1"/>
          <p:nvPr/>
        </p:nvSpPr>
        <p:spPr>
          <a:xfrm>
            <a:off x="1572000" y="8238575"/>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3"/>
              </a:rPr>
              <a:t>https://repositorio.uci.cu/handle/ident/8092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5" name="Google Shape;265;g36099cd020b_0_140"/>
          <p:cNvPicPr preferRelativeResize="0"/>
          <p:nvPr/>
        </p:nvPicPr>
        <p:blipFill rotWithShape="1">
          <a:blip r:embed="rId4">
            <a:alphaModFix/>
          </a:blip>
          <a:srcRect b="0" l="0" r="0" t="0"/>
          <a:stretch/>
        </p:blipFill>
        <p:spPr>
          <a:xfrm>
            <a:off x="5824713" y="6177000"/>
            <a:ext cx="7456376" cy="3960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69" name="Shape 269"/>
        <p:cNvGrpSpPr/>
        <p:nvPr/>
      </p:nvGrpSpPr>
      <p:grpSpPr>
        <a:xfrm>
          <a:off x="0" y="0"/>
          <a:ext cx="0" cy="0"/>
          <a:chOff x="0" y="0"/>
          <a:chExt cx="0" cy="0"/>
        </a:xfrm>
      </p:grpSpPr>
      <p:grpSp>
        <p:nvGrpSpPr>
          <p:cNvPr id="270" name="Google Shape;270;g36099cd020b_0_150"/>
          <p:cNvGrpSpPr/>
          <p:nvPr/>
        </p:nvGrpSpPr>
        <p:grpSpPr>
          <a:xfrm>
            <a:off x="-584801" y="364850"/>
            <a:ext cx="19457594" cy="2036657"/>
            <a:chOff x="0" y="-76200"/>
            <a:chExt cx="5124600" cy="536400"/>
          </a:xfrm>
        </p:grpSpPr>
        <p:sp>
          <p:nvSpPr>
            <p:cNvPr id="271" name="Google Shape;271;g36099cd020b_0_15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g36099cd020b_0_15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g36099cd020b_0_150"/>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La Mauske herramienta misteriosa</a:t>
            </a:r>
            <a:endParaRPr b="1" i="0" sz="7024" u="none" cap="none" strike="noStrike">
              <a:solidFill>
                <a:srgbClr val="FDFDFD"/>
              </a:solidFill>
              <a:latin typeface="Poppins"/>
              <a:ea typeface="Poppins"/>
              <a:cs typeface="Poppins"/>
              <a:sym typeface="Poppins"/>
            </a:endParaRPr>
          </a:p>
        </p:txBody>
      </p:sp>
      <p:pic>
        <p:nvPicPr>
          <p:cNvPr id="274" name="Google Shape;274;g36099cd020b_0_150"/>
          <p:cNvPicPr preferRelativeResize="0"/>
          <p:nvPr/>
        </p:nvPicPr>
        <p:blipFill rotWithShape="1">
          <a:blip r:embed="rId3">
            <a:alphaModFix/>
          </a:blip>
          <a:srcRect b="0" l="0" r="0" t="0"/>
          <a:stretch/>
        </p:blipFill>
        <p:spPr>
          <a:xfrm>
            <a:off x="3905350" y="2401507"/>
            <a:ext cx="10287000" cy="74485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78" name="Shape 278"/>
        <p:cNvGrpSpPr/>
        <p:nvPr/>
      </p:nvGrpSpPr>
      <p:grpSpPr>
        <a:xfrm>
          <a:off x="0" y="0"/>
          <a:ext cx="0" cy="0"/>
          <a:chOff x="0" y="0"/>
          <a:chExt cx="0" cy="0"/>
        </a:xfrm>
      </p:grpSpPr>
      <p:pic>
        <p:nvPicPr>
          <p:cNvPr id="279" name="Google Shape;279;g36099cd020b_0_158"/>
          <p:cNvPicPr preferRelativeResize="0"/>
          <p:nvPr/>
        </p:nvPicPr>
        <p:blipFill rotWithShape="1">
          <a:blip r:embed="rId3">
            <a:alphaModFix/>
          </a:blip>
          <a:srcRect b="0" l="0" r="0" t="0"/>
          <a:stretch/>
        </p:blipFill>
        <p:spPr>
          <a:xfrm>
            <a:off x="11501000" y="2804950"/>
            <a:ext cx="5768425" cy="4677100"/>
          </a:xfrm>
          <a:prstGeom prst="rect">
            <a:avLst/>
          </a:prstGeom>
          <a:noFill/>
          <a:ln>
            <a:noFill/>
          </a:ln>
        </p:spPr>
      </p:pic>
      <p:pic>
        <p:nvPicPr>
          <p:cNvPr id="280" name="Google Shape;280;g36099cd020b_0_158"/>
          <p:cNvPicPr preferRelativeResize="0"/>
          <p:nvPr/>
        </p:nvPicPr>
        <p:blipFill rotWithShape="1">
          <a:blip r:embed="rId4">
            <a:alphaModFix/>
          </a:blip>
          <a:srcRect b="0" l="0" r="0" t="0"/>
          <a:stretch/>
        </p:blipFill>
        <p:spPr>
          <a:xfrm>
            <a:off x="720575" y="2350350"/>
            <a:ext cx="9525000" cy="6172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84" name="Shape 284"/>
        <p:cNvGrpSpPr/>
        <p:nvPr/>
      </p:nvGrpSpPr>
      <p:grpSpPr>
        <a:xfrm>
          <a:off x="0" y="0"/>
          <a:ext cx="0" cy="0"/>
          <a:chOff x="0" y="0"/>
          <a:chExt cx="0" cy="0"/>
        </a:xfrm>
      </p:grpSpPr>
      <p:grpSp>
        <p:nvGrpSpPr>
          <p:cNvPr id="285" name="Google Shape;285;g36099cd020b_0_163"/>
          <p:cNvGrpSpPr/>
          <p:nvPr/>
        </p:nvGrpSpPr>
        <p:grpSpPr>
          <a:xfrm>
            <a:off x="-584801" y="364850"/>
            <a:ext cx="19457594" cy="2036657"/>
            <a:chOff x="0" y="-76200"/>
            <a:chExt cx="5124600" cy="536400"/>
          </a:xfrm>
        </p:grpSpPr>
        <p:sp>
          <p:nvSpPr>
            <p:cNvPr id="286" name="Google Shape;286;g36099cd020b_0_16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g36099cd020b_0_16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8" name="Google Shape;288;g36099cd020b_0_16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Pruebas de regresión</a:t>
            </a:r>
            <a:endParaRPr b="1" i="0" sz="7024" u="none" cap="none" strike="noStrike">
              <a:solidFill>
                <a:srgbClr val="FDFDFD"/>
              </a:solidFill>
              <a:latin typeface="Poppins"/>
              <a:ea typeface="Poppins"/>
              <a:cs typeface="Poppins"/>
              <a:sym typeface="Poppins"/>
            </a:endParaRPr>
          </a:p>
        </p:txBody>
      </p:sp>
      <p:sp>
        <p:nvSpPr>
          <p:cNvPr id="289" name="Google Shape;289;g36099cd020b_0_163"/>
          <p:cNvSpPr txBox="1"/>
          <p:nvPr/>
        </p:nvSpPr>
        <p:spPr>
          <a:xfrm>
            <a:off x="1028713" y="2610400"/>
            <a:ext cx="17048400" cy="42879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Las pruebas de regresión se enfocan en verificar que los cambios, como las correcciones de errores, las mejoras de las funciones y las nuevas funciones añadidas no afecten negativamente las funciones existentes o la funcionalidad. Normalmente se realizan después de un cambio de código relevante o de haber desarrollado una nueva versión del software, y se emplean para asegurar que las funciones existentes sigan respondiendo según lo previsto. Las pruebas de regresión ayudan a garantizar que los nuevos cambios no generen un nuevo error ni provoquen fallos en las funciones existentes.</a:t>
            </a:r>
            <a:endParaRPr b="0" i="0" sz="2963" u="none" cap="none" strike="noStrike">
              <a:solidFill>
                <a:srgbClr val="013362"/>
              </a:solidFill>
              <a:latin typeface="Poppins Light"/>
              <a:ea typeface="Poppins Light"/>
              <a:cs typeface="Poppins Light"/>
              <a:sym typeface="Poppins Light"/>
            </a:endParaRPr>
          </a:p>
        </p:txBody>
      </p:sp>
      <p:pic>
        <p:nvPicPr>
          <p:cNvPr id="290" name="Google Shape;290;g36099cd020b_0_163"/>
          <p:cNvPicPr preferRelativeResize="0"/>
          <p:nvPr/>
        </p:nvPicPr>
        <p:blipFill rotWithShape="1">
          <a:blip r:embed="rId3">
            <a:alphaModFix/>
          </a:blip>
          <a:srcRect b="0" l="0" r="0" t="0"/>
          <a:stretch/>
        </p:blipFill>
        <p:spPr>
          <a:xfrm>
            <a:off x="7565000" y="7107200"/>
            <a:ext cx="3975859" cy="3083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94" name="Shape 294"/>
        <p:cNvGrpSpPr/>
        <p:nvPr/>
      </p:nvGrpSpPr>
      <p:grpSpPr>
        <a:xfrm>
          <a:off x="0" y="0"/>
          <a:ext cx="0" cy="0"/>
          <a:chOff x="0" y="0"/>
          <a:chExt cx="0" cy="0"/>
        </a:xfrm>
      </p:grpSpPr>
      <p:pic>
        <p:nvPicPr>
          <p:cNvPr id="295" name="Google Shape;295;g36099cd020b_0_172"/>
          <p:cNvPicPr preferRelativeResize="0"/>
          <p:nvPr/>
        </p:nvPicPr>
        <p:blipFill rotWithShape="1">
          <a:blip r:embed="rId3">
            <a:alphaModFix/>
          </a:blip>
          <a:srcRect b="0" l="0" r="0" t="0"/>
          <a:stretch/>
        </p:blipFill>
        <p:spPr>
          <a:xfrm>
            <a:off x="3857813" y="2401500"/>
            <a:ext cx="12007726" cy="7936650"/>
          </a:xfrm>
          <a:prstGeom prst="rect">
            <a:avLst/>
          </a:prstGeom>
          <a:noFill/>
          <a:ln>
            <a:noFill/>
          </a:ln>
        </p:spPr>
      </p:pic>
      <p:sp>
        <p:nvSpPr>
          <p:cNvPr id="296" name="Google Shape;296;g36099cd020b_0_172"/>
          <p:cNvSpPr txBox="1"/>
          <p:nvPr/>
        </p:nvSpPr>
        <p:spPr>
          <a:xfrm>
            <a:off x="687775" y="9075875"/>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4"/>
              </a:rPr>
              <a:t>https://qalified.com/es/blog/pruebas-regresion/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7" name="Google Shape;297;g36099cd020b_0_172"/>
          <p:cNvGrpSpPr/>
          <p:nvPr/>
        </p:nvGrpSpPr>
        <p:grpSpPr>
          <a:xfrm>
            <a:off x="-584801" y="364850"/>
            <a:ext cx="19457594" cy="2036657"/>
            <a:chOff x="0" y="-76200"/>
            <a:chExt cx="5124600" cy="536400"/>
          </a:xfrm>
        </p:grpSpPr>
        <p:sp>
          <p:nvSpPr>
            <p:cNvPr id="298" name="Google Shape;298;g36099cd020b_0_17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g36099cd020b_0_17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0" name="Google Shape;300;g36099cd020b_0_172"/>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7024" u="none" cap="none" strike="noStrike">
                <a:solidFill>
                  <a:srgbClr val="FDFDFD"/>
                </a:solidFill>
                <a:latin typeface="Poppins"/>
                <a:ea typeface="Poppins"/>
                <a:cs typeface="Poppins"/>
                <a:sym typeface="Poppins"/>
              </a:rPr>
              <a:t>Ejemplo de prueba de regresión</a:t>
            </a:r>
            <a:endParaRPr b="1" i="0" sz="7024" u="none" cap="none" strike="noStrike">
              <a:solidFill>
                <a:srgbClr val="FDFDFD"/>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06" name="Google Shape;306;p6"/>
          <p:cNvSpPr txBox="1"/>
          <p:nvPr/>
        </p:nvSpPr>
        <p:spPr>
          <a:xfrm>
            <a:off x="6212437" y="3860833"/>
            <a:ext cx="6911400" cy="3880500"/>
          </a:xfrm>
          <a:prstGeom prst="rect">
            <a:avLst/>
          </a:prstGeom>
          <a:noFill/>
          <a:ln>
            <a:noFill/>
          </a:ln>
        </p:spPr>
        <p:txBody>
          <a:bodyPr anchorCtr="0" anchor="t" bIns="0" lIns="0" spcFirstLastPara="1" rIns="0" wrap="square" tIns="0">
            <a:spAutoFit/>
          </a:bodyPr>
          <a:lstStyle/>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Pruebas de aceptación</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Pruebas de regresión</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Pruebas unitarias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Pruebas de integración</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Integración Top-Down</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Integración Bottom-Up</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60abcd447f_0_0"/>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Responsabilidad</a:t>
            </a:r>
            <a:endParaRPr b="0" i="0" sz="1400" u="none" cap="none" strike="noStrike">
              <a:solidFill>
                <a:srgbClr val="000000"/>
              </a:solidFill>
              <a:latin typeface="Impact"/>
              <a:ea typeface="Impact"/>
              <a:cs typeface="Impact"/>
              <a:sym typeface="Impact"/>
            </a:endParaRPr>
          </a:p>
        </p:txBody>
      </p:sp>
      <p:sp>
        <p:nvSpPr>
          <p:cNvPr id="312" name="Google Shape;312;g360abcd447f_0_0"/>
          <p:cNvSpPr txBox="1"/>
          <p:nvPr/>
        </p:nvSpPr>
        <p:spPr>
          <a:xfrm>
            <a:off x="2230719" y="2675475"/>
            <a:ext cx="14171700" cy="3877985"/>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3600" u="none" cap="none" strike="noStrike">
                <a:solidFill>
                  <a:srgbClr val="000000"/>
                </a:solidFill>
                <a:latin typeface="Arial"/>
                <a:ea typeface="Arial"/>
                <a:cs typeface="Arial"/>
                <a:sym typeface="Arial"/>
              </a:rPr>
              <a:t>La responsabilidad es clave en la ejecución de pruebas funcionales, ya que estas aseguran que el sistema cumple con los requisitos definidos. Ser responsable implica validar el correcto funcionamiento del software desde la perspectiva del usuario, detectando errores antes de que lleguen al entorno productivo.</a:t>
            </a:r>
            <a:endParaRPr b="0" i="0" sz="3600" u="none" cap="none" strike="noStrike">
              <a:solidFill>
                <a:srgbClr val="131416"/>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18" name="Google Shape;318;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19" name="Google Shape;319;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