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10287000" cx="18288000"/>
  <p:notesSz cx="6858000" cy="9144000"/>
  <p:embeddedFontLst>
    <p:embeddedFont>
      <p:font typeface="Corben"/>
      <p:regular r:id="rId32"/>
      <p:bold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Nobile"/>
      <p:regular r:id="rId38"/>
      <p:bold r:id="rId39"/>
      <p:italic r:id="rId40"/>
      <p:boldItalic r:id="rId41"/>
    </p:embeddedFont>
    <p:embeddedFont>
      <p:font typeface="Poppins Black"/>
      <p:bold r:id="rId42"/>
      <p:boldItalic r:id="rId43"/>
    </p:embeddedFont>
    <p:embeddedFont>
      <p:font typeface="Alexandria"/>
      <p:regular r:id="rId44"/>
      <p:bold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g7bDpxLj65X1ZlMUV+jjWgltCv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06D4E5-9732-49D0-AAA3-AD04D0BA88B7}">
  <a:tblStyle styleId="{EF06D4E5-9732-49D0-AAA3-AD04D0BA88B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bile-italic.fntdata"/><Relationship Id="rId42" Type="http://schemas.openxmlformats.org/officeDocument/2006/relationships/font" Target="fonts/PoppinsBlack-bold.fntdata"/><Relationship Id="rId41" Type="http://schemas.openxmlformats.org/officeDocument/2006/relationships/font" Target="fonts/Nobile-boldItalic.fntdata"/><Relationship Id="rId44" Type="http://schemas.openxmlformats.org/officeDocument/2006/relationships/font" Target="fonts/Alexandria-regular.fntdata"/><Relationship Id="rId43" Type="http://schemas.openxmlformats.org/officeDocument/2006/relationships/font" Target="fonts/PoppinsBlack-boldItalic.fntdata"/><Relationship Id="rId46" Type="http://schemas.openxmlformats.org/officeDocument/2006/relationships/font" Target="fonts/OpenSans-regular.fntdata"/><Relationship Id="rId45" Type="http://schemas.openxmlformats.org/officeDocument/2006/relationships/font" Target="fonts/Alexandri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Corben-bold.fntdata"/><Relationship Id="rId32" Type="http://schemas.openxmlformats.org/officeDocument/2006/relationships/font" Target="fonts/Corben-regular.fntdata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Nobile-bold.fntdata"/><Relationship Id="rId38" Type="http://schemas.openxmlformats.org/officeDocument/2006/relationships/font" Target="fonts/Nobile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0a94691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60a94691c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0a94691c9_0_1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60a94691c9_0_1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60a94691c9_0_1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0a94691c9_0_2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60a94691c9_0_2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60a94691c9_0_2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0a94691c9_0_4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60a94691c9_0_4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60a94691c9_0_4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0a94691c9_0_5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60a94691c9_0_5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60a94691c9_0_5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0a94691c9_0_7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60a94691c9_0_7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60a94691c9_0_7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0a94691c9_0_94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60a94691c9_0_94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60a94691c9_0_94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0a94691c9_0_113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60a94691c9_0_113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60a94691c9_0_113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0a94691c9_0_12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60a94691c9_0_12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60a94691c9_0_12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0a94691c9_0_13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60a94691c9_0_13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60a94691c9_0_13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60a94691c9_0_15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60a94691c9_0_15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g360a94691c9_0_15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0a94691c9_0_16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60a94691c9_0_16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g360a94691c9_0_16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0a94691c9_0_18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60a94691c9_0_18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g360a94691c9_0_18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0a94691c9_0_19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60a94691c9_0_19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60a94691c9_0_19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0a94691c9_0_21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60a94691c9_0_21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60a94691c9_0_21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0a94691c9_0_229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60a94691c9_0_229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g360a94691c9_0_229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0a94691c9_0_25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60a94691c9_0_25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g360a94691c9_0_25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0a94691c9_0_27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60a94691c9_0_27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g360a94691c9_0_27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60a94691c9_0_28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60a94691c9_0_28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g360a94691c9_0_28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60abcf5b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g360abcf5bc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0a94691c9_0_4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60a94691c9_0_4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3" name="Google Shape;83;g360a94691c9_0_46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0a94691c9_0_4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60a94691c9_0_4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" name="Google Shape;87;g360a94691c9_0_47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a94691c9_0_4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60a94691c9_0_4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" name="Google Shape;91;g360a94691c9_0_47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0a94691c9_0_4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60a94691c9_0_4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5" name="Google Shape;95;g360a94691c9_0_48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0a94691c9_0_4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60a94691c9_0_4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9" name="Google Shape;99;g360a94691c9_0_48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0a94691c9_0_4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60a94691c9_0_4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3" name="Google Shape;103;g360a94691c9_0_48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0a94691c9_0_49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60a94691c9_0_49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g360a94691c9_0_49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0a94691c9_0_49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60a94691c9_0_49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1" name="Google Shape;111;g360a94691c9_0_49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0a94691c9_0_50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60a94691c9_0_50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5" name="Google Shape;115;g360a94691c9_0_50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 1">
  <p:cSld name="Slide 1 master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g360a94691c9_0_5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60a94691c9_0_50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9" name="Google Shape;119;g360a94691c9_0_50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 1">
  <p:cSld name="Slide 2 master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g360a94691c9_0_5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60a94691c9_0_50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3" name="Google Shape;123;g360a94691c9_0_50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 1">
  <p:cSld name="Slide 3 master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g360a94691c9_0_5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60a94691c9_0_5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7" name="Google Shape;127;g360a94691c9_0_5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 1">
  <p:cSld name="Slide 4 master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g360a94691c9_0_5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60a94691c9_0_5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1" name="Google Shape;131;g360a94691c9_0_5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 1">
  <p:cSld name="Slide 5 master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g360a94691c9_0_5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60a94691c9_0_5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5" name="Google Shape;135;g360a94691c9_0_5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 1">
  <p:cSld name="Slide 6 master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g360a94691c9_0_5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60a94691c9_0_5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9" name="Google Shape;139;g360a94691c9_0_5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 1">
  <p:cSld name="Slide 7 master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g360a94691c9_0_5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60a94691c9_0_5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3" name="Google Shape;143;g360a94691c9_0_52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 1">
  <p:cSld name="Slide 8 master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g360a94691c9_0_5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60a94691c9_0_5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7" name="Google Shape;147;g360a94691c9_0_5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g360a94691c9_0_5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60a94691c9_0_53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10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1" name="Google Shape;151;g360a94691c9_0_53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image" Target="../media/image47.png"/><Relationship Id="rId7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956505" y="2525124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Despliegue en la nube (Cloud)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1374902" y="2215150"/>
            <a:ext cx="15491100" cy="6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Diseñar, automatizar y gestionar infraestructura de manera eficiente mediante herramientas como Terraform y Ansible, aplicando principios de infraestructura como código, aprovisionamiento y configuración automatizada.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g360a94691c9_0_1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{EF06D4E5-9732-49D0-AAA3-AD04D0BA88B7}</a:tableStyleId>
              </a:tblPr>
              <a:tblGrid>
                <a:gridCol w="963725"/>
                <a:gridCol w="5090475"/>
              </a:tblGrid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Ejemplos Terraform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Teoria Terraform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b="1" sz="11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Teoria Ansible</a:t>
                      </a:r>
                      <a:endParaRPr sz="11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Dudas Fase 3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1" name="Google Shape;181;g360a94691c9_0_1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82" name="Google Shape;182;g360a94691c9_0_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83" name="Google Shape;183;g360a94691c9_0_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g360a94691c9_0_1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g360a94691c9_0_1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b="0" i="0" lang="en-US" sz="10576" u="none" cap="none" strike="noStrik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0a94691c9_0_1"/>
          <p:cNvSpPr/>
          <p:nvPr/>
        </p:nvSpPr>
        <p:spPr>
          <a:xfrm rot="10800000">
            <a:off x="14838633" y="0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2" name="Google Shape;192;g360a94691c9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g360a94691c9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60" y="3475434"/>
            <a:ext cx="6149130" cy="333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60a94691c9_0_11"/>
          <p:cNvSpPr/>
          <p:nvPr/>
        </p:nvSpPr>
        <p:spPr>
          <a:xfrm>
            <a:off x="7850238" y="1555105"/>
            <a:ext cx="9445500" cy="3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700"/>
              <a:buFont typeface="Alexandria"/>
              <a:buNone/>
            </a:pPr>
            <a:r>
              <a:rPr b="0" i="0" lang="en-US" sz="77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Terraform: Infraestructura como código</a:t>
            </a:r>
            <a:endParaRPr b="0" i="0" sz="7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0a94691c9_0_11"/>
          <p:cNvSpPr/>
          <p:nvPr/>
        </p:nvSpPr>
        <p:spPr>
          <a:xfrm>
            <a:off x="7850238" y="5610923"/>
            <a:ext cx="94455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es una herramienta de código abierto que permite a los desarrolladores y equipos de infraestructura definir y aprovisionar recursos de infraestructura de manera declarativa. Esto les permite gestionar la infraestructura de forma eficiente, reproducible y escalable.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60a94691c9_0_11"/>
          <p:cNvSpPr/>
          <p:nvPr/>
        </p:nvSpPr>
        <p:spPr>
          <a:xfrm>
            <a:off x="7850238" y="8256835"/>
            <a:ext cx="453900" cy="45390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7" name="Google Shape;197;g360a94691c9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9763" y="8266360"/>
            <a:ext cx="434579" cy="43457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60a94691c9_0_11"/>
          <p:cNvSpPr/>
          <p:nvPr/>
        </p:nvSpPr>
        <p:spPr>
          <a:xfrm>
            <a:off x="8445550" y="8235703"/>
            <a:ext cx="58797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Nobile"/>
              <a:buNone/>
            </a:pPr>
            <a:r>
              <a:rPr b="1" i="0" lang="en-US" sz="28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by Luis Angel Barrera Velásquez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4" name="Google Shape;204;g360a94691c9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g360a94691c9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60" y="2462213"/>
            <a:ext cx="6149133" cy="53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60a94691c9_0_22"/>
          <p:cNvSpPr/>
          <p:nvPr/>
        </p:nvSpPr>
        <p:spPr>
          <a:xfrm>
            <a:off x="7850238" y="1826419"/>
            <a:ext cx="70884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¿Qué es Terraform?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0a94691c9_0_22"/>
          <p:cNvSpPr/>
          <p:nvPr/>
        </p:nvSpPr>
        <p:spPr>
          <a:xfrm>
            <a:off x="7850238" y="3456534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60a94691c9_0_22"/>
          <p:cNvSpPr/>
          <p:nvPr/>
        </p:nvSpPr>
        <p:spPr>
          <a:xfrm>
            <a:off x="8089404" y="3562796"/>
            <a:ext cx="159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0a94691c9_0_22"/>
          <p:cNvSpPr/>
          <p:nvPr/>
        </p:nvSpPr>
        <p:spPr>
          <a:xfrm>
            <a:off x="8771633" y="3456534"/>
            <a:ext cx="3645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Lenguaje declarativo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60a94691c9_0_22"/>
          <p:cNvSpPr/>
          <p:nvPr/>
        </p:nvSpPr>
        <p:spPr>
          <a:xfrm>
            <a:off x="8488050" y="4522850"/>
            <a:ext cx="42267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utiliza un lenguaje de alto nivel para describir la infraestructura deseada, en lugar de comandos imperativos.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60a94691c9_0_22"/>
          <p:cNvSpPr/>
          <p:nvPr/>
        </p:nvSpPr>
        <p:spPr>
          <a:xfrm>
            <a:off x="12714834" y="3456534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60a94691c9_0_22"/>
          <p:cNvSpPr/>
          <p:nvPr/>
        </p:nvSpPr>
        <p:spPr>
          <a:xfrm>
            <a:off x="12909351" y="3562796"/>
            <a:ext cx="249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60a94691c9_0_22"/>
          <p:cNvSpPr/>
          <p:nvPr/>
        </p:nvSpPr>
        <p:spPr>
          <a:xfrm>
            <a:off x="13636229" y="345653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Multiplataforma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60a94691c9_0_22"/>
          <p:cNvSpPr/>
          <p:nvPr/>
        </p:nvSpPr>
        <p:spPr>
          <a:xfrm>
            <a:off x="13636229" y="4069556"/>
            <a:ext cx="36597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es compatible con múltiples proveedores de nube, como AWS, Azure, GCP y más.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60a94691c9_0_22"/>
          <p:cNvSpPr/>
          <p:nvPr/>
        </p:nvSpPr>
        <p:spPr>
          <a:xfrm>
            <a:off x="7850238" y="7508329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60a94691c9_0_22"/>
          <p:cNvSpPr/>
          <p:nvPr/>
        </p:nvSpPr>
        <p:spPr>
          <a:xfrm>
            <a:off x="8043863" y="7614591"/>
            <a:ext cx="250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60a94691c9_0_22"/>
          <p:cNvSpPr/>
          <p:nvPr/>
        </p:nvSpPr>
        <p:spPr>
          <a:xfrm>
            <a:off x="8771633" y="750832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Open Source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60a94691c9_0_22"/>
          <p:cNvSpPr/>
          <p:nvPr/>
        </p:nvSpPr>
        <p:spPr>
          <a:xfrm>
            <a:off x="8771632" y="8121351"/>
            <a:ext cx="85242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es un proyecto de código abierto con una gran comunidad que contribuye a su desarrollo.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a94691c9_0_41"/>
          <p:cNvSpPr/>
          <p:nvPr/>
        </p:nvSpPr>
        <p:spPr>
          <a:xfrm>
            <a:off x="992253" y="2948125"/>
            <a:ext cx="98628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Ventajas de Terraform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60a94691c9_0_41"/>
          <p:cNvSpPr/>
          <p:nvPr/>
        </p:nvSpPr>
        <p:spPr>
          <a:xfrm>
            <a:off x="992238" y="4542830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Reproducibilidad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60a94691c9_0_41"/>
          <p:cNvSpPr/>
          <p:nvPr/>
        </p:nvSpPr>
        <p:spPr>
          <a:xfrm>
            <a:off x="992238" y="5269260"/>
            <a:ext cx="49725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permite crear y gestionar entornos idénticos, lo que facilita la implementación y el despliegue de aplicaciones.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60a94691c9_0_41"/>
          <p:cNvSpPr/>
          <p:nvPr/>
        </p:nvSpPr>
        <p:spPr>
          <a:xfrm>
            <a:off x="6666160" y="4542830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Colaboración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0a94691c9_0_41"/>
          <p:cNvSpPr/>
          <p:nvPr/>
        </p:nvSpPr>
        <p:spPr>
          <a:xfrm>
            <a:off x="6666160" y="5269260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Varios miembros del equipo pueden trabajar en paralelo en la misma infraestructura sin conflictos.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60a94691c9_0_41"/>
          <p:cNvSpPr/>
          <p:nvPr/>
        </p:nvSpPr>
        <p:spPr>
          <a:xfrm>
            <a:off x="12340084" y="4542830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Eficiencia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60a94691c9_0_41"/>
          <p:cNvSpPr/>
          <p:nvPr/>
        </p:nvSpPr>
        <p:spPr>
          <a:xfrm>
            <a:off x="12340084" y="5269260"/>
            <a:ext cx="49725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automatiza tareas manuales y reduce el tiempo y esfuerzo requerido para gestionar la infraestructura.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g360a94691c9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g360a94691c9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509" y="3816251"/>
            <a:ext cx="6148983" cy="26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60a94691c9_0_52"/>
          <p:cNvSpPr/>
          <p:nvPr/>
        </p:nvSpPr>
        <p:spPr>
          <a:xfrm>
            <a:off x="992252" y="1332450"/>
            <a:ext cx="9309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Principios de Terraform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60a94691c9_0_52"/>
          <p:cNvSpPr/>
          <p:nvPr/>
        </p:nvSpPr>
        <p:spPr>
          <a:xfrm>
            <a:off x="992238" y="2643634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60a94691c9_0_52"/>
          <p:cNvSpPr/>
          <p:nvPr/>
        </p:nvSpPr>
        <p:spPr>
          <a:xfrm>
            <a:off x="1285280" y="293667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Declarativo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60a94691c9_0_52"/>
          <p:cNvSpPr/>
          <p:nvPr/>
        </p:nvSpPr>
        <p:spPr>
          <a:xfrm>
            <a:off x="1285280" y="3549700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se basa en un lenguaje declarativo que describe el estado deseado de la infraestructura.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0a94691c9_0_52"/>
          <p:cNvSpPr/>
          <p:nvPr/>
        </p:nvSpPr>
        <p:spPr>
          <a:xfrm>
            <a:off x="5856834" y="2643634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60a94691c9_0_52"/>
          <p:cNvSpPr/>
          <p:nvPr/>
        </p:nvSpPr>
        <p:spPr>
          <a:xfrm>
            <a:off x="6149876" y="293667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Idempotente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60a94691c9_0_52"/>
          <p:cNvSpPr/>
          <p:nvPr/>
        </p:nvSpPr>
        <p:spPr>
          <a:xfrm>
            <a:off x="6149876" y="3549700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puede aplicar o revertir cambios sin afectar el estado actual de la infraestructura.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60a94691c9_0_52"/>
          <p:cNvSpPr/>
          <p:nvPr/>
        </p:nvSpPr>
        <p:spPr>
          <a:xfrm>
            <a:off x="992238" y="5940773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60a94691c9_0_52"/>
          <p:cNvSpPr/>
          <p:nvPr/>
        </p:nvSpPr>
        <p:spPr>
          <a:xfrm>
            <a:off x="1285280" y="6233815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Modular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60a94691c9_0_52"/>
          <p:cNvSpPr/>
          <p:nvPr/>
        </p:nvSpPr>
        <p:spPr>
          <a:xfrm>
            <a:off x="1285280" y="6846838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La arquitectura de Terraform permite reutilizar y compartir código entre diferentes proyectos.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0a94691c9_0_52"/>
          <p:cNvSpPr/>
          <p:nvPr/>
        </p:nvSpPr>
        <p:spPr>
          <a:xfrm>
            <a:off x="5856834" y="5940773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0a94691c9_0_52"/>
          <p:cNvSpPr/>
          <p:nvPr/>
        </p:nvSpPr>
        <p:spPr>
          <a:xfrm>
            <a:off x="6149876" y="6233815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Multiproveedor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0a94691c9_0_52"/>
          <p:cNvSpPr/>
          <p:nvPr/>
        </p:nvSpPr>
        <p:spPr>
          <a:xfrm>
            <a:off x="6149876" y="6846838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admite una amplia gama de proveedores de infraestructura, lo que brinda flexibilidad.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6" name="Google Shape;256;g360a94691c9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7" name="Google Shape;257;g360a94691c9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505" y="1315641"/>
            <a:ext cx="6198841" cy="765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60a94691c9_0_71"/>
          <p:cNvSpPr/>
          <p:nvPr/>
        </p:nvSpPr>
        <p:spPr>
          <a:xfrm>
            <a:off x="7780734" y="736998"/>
            <a:ext cx="9584700" cy="16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200"/>
              <a:buFont typeface="Alexandria"/>
              <a:buNone/>
            </a:pPr>
            <a:r>
              <a:rPr b="0" i="0" lang="en-US" sz="52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Sintaxis y recursos de Terraform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60a94691c9_0_71"/>
          <p:cNvSpPr/>
          <p:nvPr/>
        </p:nvSpPr>
        <p:spPr>
          <a:xfrm>
            <a:off x="8161884" y="2780259"/>
            <a:ext cx="28500" cy="6769500"/>
          </a:xfrm>
          <a:prstGeom prst="roundRect">
            <a:avLst>
              <a:gd fmla="val 387511" name="adj"/>
            </a:avLst>
          </a:prstGeom>
          <a:solidFill>
            <a:srgbClr val="B8C3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60a94691c9_0_71"/>
          <p:cNvSpPr/>
          <p:nvPr/>
        </p:nvSpPr>
        <p:spPr>
          <a:xfrm>
            <a:off x="8444136" y="3358903"/>
            <a:ext cx="922800" cy="28500"/>
          </a:xfrm>
          <a:prstGeom prst="roundRect">
            <a:avLst>
              <a:gd fmla="val 387511" name="adj"/>
            </a:avLst>
          </a:prstGeom>
          <a:solidFill>
            <a:srgbClr val="B8C3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60a94691c9_0_71"/>
          <p:cNvSpPr/>
          <p:nvPr/>
        </p:nvSpPr>
        <p:spPr>
          <a:xfrm>
            <a:off x="7879631" y="3076724"/>
            <a:ext cx="593400" cy="593400"/>
          </a:xfrm>
          <a:prstGeom prst="roundRect">
            <a:avLst>
              <a:gd fmla="val 18671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60a94691c9_0_71"/>
          <p:cNvSpPr/>
          <p:nvPr/>
        </p:nvSpPr>
        <p:spPr>
          <a:xfrm>
            <a:off x="8101980" y="3175546"/>
            <a:ext cx="1485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100"/>
              <a:buFont typeface="Alexandria"/>
              <a:buNone/>
            </a:pPr>
            <a:r>
              <a:rPr b="0" i="0" lang="en-US" sz="31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60a94691c9_0_71"/>
          <p:cNvSpPr/>
          <p:nvPr/>
        </p:nvSpPr>
        <p:spPr>
          <a:xfrm>
            <a:off x="9626204" y="3043833"/>
            <a:ext cx="329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Bloques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60a94691c9_0_71"/>
          <p:cNvSpPr/>
          <p:nvPr/>
        </p:nvSpPr>
        <p:spPr>
          <a:xfrm>
            <a:off x="9626204" y="3613696"/>
            <a:ext cx="77394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utiliza bloques de configuración para definir recursos, módulos y variables.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60a94691c9_0_71"/>
          <p:cNvSpPr/>
          <p:nvPr/>
        </p:nvSpPr>
        <p:spPr>
          <a:xfrm>
            <a:off x="8444136" y="5562749"/>
            <a:ext cx="922800" cy="28500"/>
          </a:xfrm>
          <a:prstGeom prst="roundRect">
            <a:avLst>
              <a:gd fmla="val 387511" name="adj"/>
            </a:avLst>
          </a:prstGeom>
          <a:solidFill>
            <a:srgbClr val="B8C3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60a94691c9_0_71"/>
          <p:cNvSpPr/>
          <p:nvPr/>
        </p:nvSpPr>
        <p:spPr>
          <a:xfrm>
            <a:off x="7879631" y="5280571"/>
            <a:ext cx="593400" cy="593400"/>
          </a:xfrm>
          <a:prstGeom prst="roundRect">
            <a:avLst>
              <a:gd fmla="val 18671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60a94691c9_0_71"/>
          <p:cNvSpPr/>
          <p:nvPr/>
        </p:nvSpPr>
        <p:spPr>
          <a:xfrm>
            <a:off x="8060456" y="5379393"/>
            <a:ext cx="23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100"/>
              <a:buFont typeface="Alexandria"/>
              <a:buNone/>
            </a:pPr>
            <a:r>
              <a:rPr b="0" i="0" lang="en-US" sz="31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60a94691c9_0_71"/>
          <p:cNvSpPr/>
          <p:nvPr/>
        </p:nvSpPr>
        <p:spPr>
          <a:xfrm>
            <a:off x="9626204" y="5247680"/>
            <a:ext cx="329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Recursos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0a94691c9_0_71"/>
          <p:cNvSpPr/>
          <p:nvPr/>
        </p:nvSpPr>
        <p:spPr>
          <a:xfrm>
            <a:off x="9626204" y="5817543"/>
            <a:ext cx="77394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recursos representan los componentes de infraestructura que se crearán, como instancias de EC2, VPCs o bases de datos.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60a94691c9_0_71"/>
          <p:cNvSpPr/>
          <p:nvPr/>
        </p:nvSpPr>
        <p:spPr>
          <a:xfrm>
            <a:off x="8444136" y="8188226"/>
            <a:ext cx="922800" cy="28500"/>
          </a:xfrm>
          <a:prstGeom prst="roundRect">
            <a:avLst>
              <a:gd fmla="val 387511" name="adj"/>
            </a:avLst>
          </a:prstGeom>
          <a:solidFill>
            <a:srgbClr val="B8C3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0a94691c9_0_71"/>
          <p:cNvSpPr/>
          <p:nvPr/>
        </p:nvSpPr>
        <p:spPr>
          <a:xfrm>
            <a:off x="7879631" y="7906048"/>
            <a:ext cx="593400" cy="593400"/>
          </a:xfrm>
          <a:prstGeom prst="roundRect">
            <a:avLst>
              <a:gd fmla="val 18671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60a94691c9_0_71"/>
          <p:cNvSpPr/>
          <p:nvPr/>
        </p:nvSpPr>
        <p:spPr>
          <a:xfrm>
            <a:off x="8059713" y="8004870"/>
            <a:ext cx="2328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100"/>
              <a:buFont typeface="Alexandria"/>
              <a:buNone/>
            </a:pPr>
            <a:r>
              <a:rPr b="0" i="0" lang="en-US" sz="31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60a94691c9_0_71"/>
          <p:cNvSpPr/>
          <p:nvPr/>
        </p:nvSpPr>
        <p:spPr>
          <a:xfrm>
            <a:off x="9626204" y="7873156"/>
            <a:ext cx="329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Salidas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60a94691c9_0_71"/>
          <p:cNvSpPr/>
          <p:nvPr/>
        </p:nvSpPr>
        <p:spPr>
          <a:xfrm>
            <a:off x="9626204" y="8443020"/>
            <a:ext cx="77394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Las salidas permiten exponer información importante sobre la infraestructura, como direcciones IP o IDs de recursos.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0" name="Google Shape;280;g360a94691c9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g360a94691c9_0_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5728" y="3141910"/>
            <a:ext cx="6166395" cy="400303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60a94691c9_0_94"/>
          <p:cNvSpPr/>
          <p:nvPr/>
        </p:nvSpPr>
        <p:spPr>
          <a:xfrm>
            <a:off x="968128" y="763041"/>
            <a:ext cx="94938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400"/>
              <a:buFont typeface="Alexandria"/>
              <a:buNone/>
            </a:pPr>
            <a:r>
              <a:rPr b="0" i="0" lang="en-US" sz="54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Flujo de trabajo de Terraform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3" name="Google Shape;283;g360a94691c9_0_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128" y="2906614"/>
            <a:ext cx="691455" cy="69145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60a94691c9_0_94"/>
          <p:cNvSpPr/>
          <p:nvPr/>
        </p:nvSpPr>
        <p:spPr>
          <a:xfrm>
            <a:off x="968128" y="3874591"/>
            <a:ext cx="345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Escribir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60a94691c9_0_94"/>
          <p:cNvSpPr/>
          <p:nvPr/>
        </p:nvSpPr>
        <p:spPr>
          <a:xfrm>
            <a:off x="968128" y="4472583"/>
            <a:ext cx="45393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Crear archivos de configuración de Terraform que describan la infraestructura deseada.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6" name="Google Shape;286;g360a94691c9_0_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2318" y="2906614"/>
            <a:ext cx="691455" cy="69145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60a94691c9_0_94"/>
          <p:cNvSpPr/>
          <p:nvPr/>
        </p:nvSpPr>
        <p:spPr>
          <a:xfrm>
            <a:off x="5922318" y="3874591"/>
            <a:ext cx="345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Planificar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60a94691c9_0_94"/>
          <p:cNvSpPr/>
          <p:nvPr/>
        </p:nvSpPr>
        <p:spPr>
          <a:xfrm>
            <a:off x="5922318" y="4472583"/>
            <a:ext cx="45393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Revisar los cambios que Terraform aplicará a la infraestructura.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9" name="Google Shape;289;g360a94691c9_0_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8128" y="6630144"/>
            <a:ext cx="691455" cy="69145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60a94691c9_0_94"/>
          <p:cNvSpPr/>
          <p:nvPr/>
        </p:nvSpPr>
        <p:spPr>
          <a:xfrm>
            <a:off x="968128" y="7598123"/>
            <a:ext cx="345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Aplicar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60a94691c9_0_94"/>
          <p:cNvSpPr/>
          <p:nvPr/>
        </p:nvSpPr>
        <p:spPr>
          <a:xfrm>
            <a:off x="968128" y="8196114"/>
            <a:ext cx="45393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Ejecutar Terraform para crear o actualizar la infraestructura según la configuración.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2" name="Google Shape;292;g360a94691c9_0_9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2318" y="6630144"/>
            <a:ext cx="691455" cy="69145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60a94691c9_0_94"/>
          <p:cNvSpPr/>
          <p:nvPr/>
        </p:nvSpPr>
        <p:spPr>
          <a:xfrm>
            <a:off x="5922318" y="7598123"/>
            <a:ext cx="345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Destruir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60a94691c9_0_94"/>
          <p:cNvSpPr/>
          <p:nvPr/>
        </p:nvSpPr>
        <p:spPr>
          <a:xfrm>
            <a:off x="5922318" y="8196114"/>
            <a:ext cx="45393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Eliminar la infraestructura cuando ya no se necesite.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0a94691c9_0_113"/>
          <p:cNvSpPr/>
          <p:nvPr/>
        </p:nvSpPr>
        <p:spPr>
          <a:xfrm>
            <a:off x="992252" y="3174950"/>
            <a:ext cx="148569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Módulos y proveedores en Terraform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60a94691c9_0_113"/>
          <p:cNvSpPr/>
          <p:nvPr/>
        </p:nvSpPr>
        <p:spPr>
          <a:xfrm>
            <a:off x="992238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Módulos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60a94691c9_0_113"/>
          <p:cNvSpPr/>
          <p:nvPr/>
        </p:nvSpPr>
        <p:spPr>
          <a:xfrm>
            <a:off x="992238" y="5496074"/>
            <a:ext cx="78060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módulos permiten reutilizar y compartir bloques de configuración entre diferentes proyectos.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60a94691c9_0_113"/>
          <p:cNvSpPr/>
          <p:nvPr/>
        </p:nvSpPr>
        <p:spPr>
          <a:xfrm>
            <a:off x="9499401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Proveedores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60a94691c9_0_113"/>
          <p:cNvSpPr/>
          <p:nvPr/>
        </p:nvSpPr>
        <p:spPr>
          <a:xfrm>
            <a:off x="9499401" y="5496074"/>
            <a:ext cx="78060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admite una amplia variedad de proveedores de infraestructura, lo que permite la gestión de recursos en múltiples plataformas.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0" name="Google Shape;310;g360a94691c9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g360a94691c9_0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166" y="3521125"/>
            <a:ext cx="6201516" cy="324549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60a94691c9_0_122"/>
          <p:cNvSpPr/>
          <p:nvPr/>
        </p:nvSpPr>
        <p:spPr>
          <a:xfrm>
            <a:off x="7777163" y="722114"/>
            <a:ext cx="95919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100"/>
              <a:buFont typeface="Alexandria"/>
              <a:buNone/>
            </a:pPr>
            <a:r>
              <a:rPr b="0" i="0" lang="en-US" sz="51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Gestión del estado en Terraform</a:t>
            </a:r>
            <a:endParaRPr b="0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3" name="Google Shape;313;g360a94691c9_0_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7163" y="2757488"/>
            <a:ext cx="1313110" cy="210085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60a94691c9_0_122"/>
          <p:cNvSpPr/>
          <p:nvPr/>
        </p:nvSpPr>
        <p:spPr>
          <a:xfrm>
            <a:off x="9484073" y="3020020"/>
            <a:ext cx="3282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Estado local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60a94691c9_0_122"/>
          <p:cNvSpPr/>
          <p:nvPr/>
        </p:nvSpPr>
        <p:spPr>
          <a:xfrm>
            <a:off x="9484073" y="3587800"/>
            <a:ext cx="78846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almacena el estado de la infraestructura en archivos locales.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6" name="Google Shape;316;g360a94691c9_0_1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7163" y="4858345"/>
            <a:ext cx="1313110" cy="235371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60a94691c9_0_122"/>
          <p:cNvSpPr/>
          <p:nvPr/>
        </p:nvSpPr>
        <p:spPr>
          <a:xfrm>
            <a:off x="9484073" y="5120879"/>
            <a:ext cx="3282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Estado remoto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60a94691c9_0_122"/>
          <p:cNvSpPr/>
          <p:nvPr/>
        </p:nvSpPr>
        <p:spPr>
          <a:xfrm>
            <a:off x="9484073" y="5688658"/>
            <a:ext cx="7884600" cy="1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también admite el almacenamiento del estado en ubicaciones remotas, como Bucket de S3 o Blob Storage de Azure.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9" name="Google Shape;319;g360a94691c9_0_1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7163" y="7212063"/>
            <a:ext cx="1313110" cy="235371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60a94691c9_0_122"/>
          <p:cNvSpPr/>
          <p:nvPr/>
        </p:nvSpPr>
        <p:spPr>
          <a:xfrm>
            <a:off x="9484073" y="7474595"/>
            <a:ext cx="3282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Bloqueo de estado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60a94691c9_0_122"/>
          <p:cNvSpPr/>
          <p:nvPr/>
        </p:nvSpPr>
        <p:spPr>
          <a:xfrm>
            <a:off x="9484073" y="8042374"/>
            <a:ext cx="7884600" cy="1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implementa bloqueo de estado para evitar conflictos entre múltiples usuarios que trabajan en la misma infraestructura.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7" name="Google Shape;327;g360a94691c9_0_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3544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g360a94691c9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6982" y="354360"/>
            <a:ext cx="6574035" cy="283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60a94691c9_0_138"/>
          <p:cNvSpPr/>
          <p:nvPr/>
        </p:nvSpPr>
        <p:spPr>
          <a:xfrm>
            <a:off x="1091627" y="4109400"/>
            <a:ext cx="136512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Casos de uso y mejores prácticas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60a94691c9_0_138"/>
          <p:cNvSpPr/>
          <p:nvPr/>
        </p:nvSpPr>
        <p:spPr>
          <a:xfrm>
            <a:off x="992238" y="6068466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60a94691c9_0_138"/>
          <p:cNvSpPr/>
          <p:nvPr/>
        </p:nvSpPr>
        <p:spPr>
          <a:xfrm>
            <a:off x="1231404" y="6174730"/>
            <a:ext cx="159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60a94691c9_0_138"/>
          <p:cNvSpPr/>
          <p:nvPr/>
        </p:nvSpPr>
        <p:spPr>
          <a:xfrm>
            <a:off x="1913632" y="6068466"/>
            <a:ext cx="4324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Automatización de despliegues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60a94691c9_0_138"/>
          <p:cNvSpPr/>
          <p:nvPr/>
        </p:nvSpPr>
        <p:spPr>
          <a:xfrm>
            <a:off x="1913632" y="7124402"/>
            <a:ext cx="43242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permite automatizar el despliegue y la gestión de la infraestructura, lo que acelera los procesos y reduce los errores.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60a94691c9_0_138"/>
          <p:cNvSpPr/>
          <p:nvPr/>
        </p:nvSpPr>
        <p:spPr>
          <a:xfrm>
            <a:off x="6521202" y="6068466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60a94691c9_0_138"/>
          <p:cNvSpPr/>
          <p:nvPr/>
        </p:nvSpPr>
        <p:spPr>
          <a:xfrm>
            <a:off x="6715720" y="6174730"/>
            <a:ext cx="249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60a94691c9_0_138"/>
          <p:cNvSpPr/>
          <p:nvPr/>
        </p:nvSpPr>
        <p:spPr>
          <a:xfrm>
            <a:off x="7442598" y="606846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Entornos efímeros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60a94691c9_0_138"/>
          <p:cNvSpPr/>
          <p:nvPr/>
        </p:nvSpPr>
        <p:spPr>
          <a:xfrm>
            <a:off x="7442598" y="6681490"/>
            <a:ext cx="43242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facilita la creación y eliminación de entornos de infraestructura de manera rápida y escalable.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60a94691c9_0_138"/>
          <p:cNvSpPr/>
          <p:nvPr/>
        </p:nvSpPr>
        <p:spPr>
          <a:xfrm>
            <a:off x="12050166" y="6068466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60a94691c9_0_138"/>
          <p:cNvSpPr/>
          <p:nvPr/>
        </p:nvSpPr>
        <p:spPr>
          <a:xfrm>
            <a:off x="12243793" y="6174730"/>
            <a:ext cx="250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60a94691c9_0_138"/>
          <p:cNvSpPr/>
          <p:nvPr/>
        </p:nvSpPr>
        <p:spPr>
          <a:xfrm>
            <a:off x="12971561" y="6068466"/>
            <a:ext cx="4324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Cumplimiento normativo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60a94691c9_0_138"/>
          <p:cNvSpPr/>
          <p:nvPr/>
        </p:nvSpPr>
        <p:spPr>
          <a:xfrm>
            <a:off x="12971561" y="7124402"/>
            <a:ext cx="43242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La gestión de la infraestructura como código con Terraform ayuda a mantener la consistencia y el cumplimiento de las políticas.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7" name="Google Shape;347;g360a94691c9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g360a94691c9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360" y="2883694"/>
            <a:ext cx="6149130" cy="451961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60a94691c9_0_157"/>
          <p:cNvSpPr/>
          <p:nvPr/>
        </p:nvSpPr>
        <p:spPr>
          <a:xfrm>
            <a:off x="992238" y="2393305"/>
            <a:ext cx="9445500" cy="24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700"/>
              <a:buFont typeface="Corben"/>
              <a:buNone/>
            </a:pPr>
            <a:r>
              <a:rPr b="0" i="0" lang="en-US" sz="77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Introducción a Ansible</a:t>
            </a:r>
            <a:endParaRPr b="0" i="0" sz="7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60a94691c9_0_157"/>
          <p:cNvSpPr/>
          <p:nvPr/>
        </p:nvSpPr>
        <p:spPr>
          <a:xfrm>
            <a:off x="992238" y="5264051"/>
            <a:ext cx="94455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es una herramienta de código abierto para la automatización de infraestructura y procesos. Permite a los equipos de TI administrar, aprovisionar y orquestar sus sistemas de manera sencilla y eficiente.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60a94691c9_0_157"/>
          <p:cNvSpPr/>
          <p:nvPr/>
        </p:nvSpPr>
        <p:spPr>
          <a:xfrm>
            <a:off x="992238" y="7418635"/>
            <a:ext cx="453900" cy="45390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2" name="Google Shape;352;g360a94691c9_0_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763" y="7428160"/>
            <a:ext cx="434579" cy="43457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60a94691c9_0_157"/>
          <p:cNvSpPr/>
          <p:nvPr/>
        </p:nvSpPr>
        <p:spPr>
          <a:xfrm>
            <a:off x="1587550" y="7397502"/>
            <a:ext cx="58797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Nobile"/>
              <a:buNone/>
            </a:pPr>
            <a:r>
              <a:rPr b="1" i="0" lang="en-US" sz="28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by Luis Angel Barrera Velásquez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9" name="Google Shape;359;g360a94691c9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g360a94691c9_0_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360" y="1230958"/>
            <a:ext cx="6149131" cy="782493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60a94691c9_0_168"/>
          <p:cNvSpPr/>
          <p:nvPr/>
        </p:nvSpPr>
        <p:spPr>
          <a:xfrm>
            <a:off x="992238" y="1610320"/>
            <a:ext cx="9445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Qué es Ansible y cómo funciona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60a94691c9_0_168"/>
          <p:cNvSpPr/>
          <p:nvPr/>
        </p:nvSpPr>
        <p:spPr>
          <a:xfrm>
            <a:off x="992238" y="4126409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60a94691c9_0_168"/>
          <p:cNvSpPr/>
          <p:nvPr/>
        </p:nvSpPr>
        <p:spPr>
          <a:xfrm>
            <a:off x="1248370" y="4232673"/>
            <a:ext cx="125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60a94691c9_0_168"/>
          <p:cNvSpPr/>
          <p:nvPr/>
        </p:nvSpPr>
        <p:spPr>
          <a:xfrm>
            <a:off x="1913632" y="412640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Control Remoto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60a94691c9_0_168"/>
          <p:cNvSpPr/>
          <p:nvPr/>
        </p:nvSpPr>
        <p:spPr>
          <a:xfrm>
            <a:off x="1913632" y="4739431"/>
            <a:ext cx="36597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utiliza SSH para conectarse y controlar de forma remota los diferentes sistemas.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60a94691c9_0_168"/>
          <p:cNvSpPr/>
          <p:nvPr/>
        </p:nvSpPr>
        <p:spPr>
          <a:xfrm>
            <a:off x="5856834" y="4126409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60a94691c9_0_168"/>
          <p:cNvSpPr/>
          <p:nvPr/>
        </p:nvSpPr>
        <p:spPr>
          <a:xfrm>
            <a:off x="6064895" y="4232673"/>
            <a:ext cx="221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60a94691c9_0_168"/>
          <p:cNvSpPr/>
          <p:nvPr/>
        </p:nvSpPr>
        <p:spPr>
          <a:xfrm>
            <a:off x="6778229" y="412640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Declarativo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60a94691c9_0_168"/>
          <p:cNvSpPr/>
          <p:nvPr/>
        </p:nvSpPr>
        <p:spPr>
          <a:xfrm>
            <a:off x="6778229" y="4739431"/>
            <a:ext cx="36597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usuarios definen el estado deseado y Ansible se encarga de alcanzarlo.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60a94691c9_0_168"/>
          <p:cNvSpPr/>
          <p:nvPr/>
        </p:nvSpPr>
        <p:spPr>
          <a:xfrm>
            <a:off x="992238" y="7156400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60a94691c9_0_168"/>
          <p:cNvSpPr/>
          <p:nvPr/>
        </p:nvSpPr>
        <p:spPr>
          <a:xfrm>
            <a:off x="1191666" y="7262664"/>
            <a:ext cx="238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60a94691c9_0_168"/>
          <p:cNvSpPr/>
          <p:nvPr/>
        </p:nvSpPr>
        <p:spPr>
          <a:xfrm>
            <a:off x="1913632" y="7156400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Agente Menos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60a94691c9_0_168"/>
          <p:cNvSpPr/>
          <p:nvPr/>
        </p:nvSpPr>
        <p:spPr>
          <a:xfrm>
            <a:off x="1913632" y="7769424"/>
            <a:ext cx="85242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No requiere la instalación de agentes en los nodos administrados, lo que simplifica su implementación.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0a94691c9_0_187"/>
          <p:cNvSpPr/>
          <p:nvPr/>
        </p:nvSpPr>
        <p:spPr>
          <a:xfrm>
            <a:off x="992251" y="3174950"/>
            <a:ext cx="156942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Beneficios de Ansible para la automatización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60a94691c9_0_187"/>
          <p:cNvSpPr/>
          <p:nvPr/>
        </p:nvSpPr>
        <p:spPr>
          <a:xfrm>
            <a:off x="992238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Eficiencia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60a94691c9_0_187"/>
          <p:cNvSpPr/>
          <p:nvPr/>
        </p:nvSpPr>
        <p:spPr>
          <a:xfrm>
            <a:off x="992238" y="5496074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automatiza tareas repetitivas y reduce el riesgo de errores humanos.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60a94691c9_0_187"/>
          <p:cNvSpPr/>
          <p:nvPr/>
        </p:nvSpPr>
        <p:spPr>
          <a:xfrm>
            <a:off x="6666160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Escalabilidad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60a94691c9_0_187"/>
          <p:cNvSpPr/>
          <p:nvPr/>
        </p:nvSpPr>
        <p:spPr>
          <a:xfrm>
            <a:off x="6666160" y="5496074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Permite administrar y aprovisionar múltiples sistemas de manera simultánea a escala.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60a94691c9_0_187"/>
          <p:cNvSpPr/>
          <p:nvPr/>
        </p:nvSpPr>
        <p:spPr>
          <a:xfrm>
            <a:off x="12340084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Simplificación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60a94691c9_0_187"/>
          <p:cNvSpPr/>
          <p:nvPr/>
        </p:nvSpPr>
        <p:spPr>
          <a:xfrm>
            <a:off x="12340084" y="5496074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Su sintaxis sencilla y legible facilita la adopción y el uso por parte de los equipos.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1" name="Google Shape;391;g360a94691c9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2" name="Google Shape;392;g360a94691c9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60" y="1920180"/>
            <a:ext cx="6149132" cy="6446488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60a94691c9_0_198"/>
          <p:cNvSpPr/>
          <p:nvPr/>
        </p:nvSpPr>
        <p:spPr>
          <a:xfrm>
            <a:off x="7850238" y="889546"/>
            <a:ext cx="9445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Casos de uso de Ansible en diferentes industrias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60a94691c9_0_198"/>
          <p:cNvSpPr/>
          <p:nvPr/>
        </p:nvSpPr>
        <p:spPr>
          <a:xfrm>
            <a:off x="7850238" y="3086695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60a94691c9_0_198"/>
          <p:cNvSpPr/>
          <p:nvPr/>
        </p:nvSpPr>
        <p:spPr>
          <a:xfrm>
            <a:off x="8143280" y="3379738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Infraestructura de TI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60a94691c9_0_198"/>
          <p:cNvSpPr/>
          <p:nvPr/>
        </p:nvSpPr>
        <p:spPr>
          <a:xfrm>
            <a:off x="8143280" y="3992761"/>
            <a:ext cx="39948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Aprovisionar y gestionar servidores, redes, almacenamiento y nubes.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60a94691c9_0_198"/>
          <p:cNvSpPr/>
          <p:nvPr/>
        </p:nvSpPr>
        <p:spPr>
          <a:xfrm>
            <a:off x="12714834" y="3086695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60a94691c9_0_198"/>
          <p:cNvSpPr/>
          <p:nvPr/>
        </p:nvSpPr>
        <p:spPr>
          <a:xfrm>
            <a:off x="13007875" y="3379750"/>
            <a:ext cx="4142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Desarrollo de Software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60a94691c9_0_198"/>
          <p:cNvSpPr/>
          <p:nvPr/>
        </p:nvSpPr>
        <p:spPr>
          <a:xfrm>
            <a:off x="13007876" y="3992761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Automatizar la construcción, el despliegue y la configuración de aplicaciones.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60a94691c9_0_198"/>
          <p:cNvSpPr/>
          <p:nvPr/>
        </p:nvSpPr>
        <p:spPr>
          <a:xfrm>
            <a:off x="7850238" y="6383834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60a94691c9_0_198"/>
          <p:cNvSpPr/>
          <p:nvPr/>
        </p:nvSpPr>
        <p:spPr>
          <a:xfrm>
            <a:off x="8143280" y="667687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Seguridad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60a94691c9_0_198"/>
          <p:cNvSpPr/>
          <p:nvPr/>
        </p:nvSpPr>
        <p:spPr>
          <a:xfrm>
            <a:off x="8143280" y="7289899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Aplicar configuraciones de seguridad y solucionar vulnerabilidades de forma automatizada.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60a94691c9_0_198"/>
          <p:cNvSpPr/>
          <p:nvPr/>
        </p:nvSpPr>
        <p:spPr>
          <a:xfrm>
            <a:off x="12714834" y="6383834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60a94691c9_0_198"/>
          <p:cNvSpPr/>
          <p:nvPr/>
        </p:nvSpPr>
        <p:spPr>
          <a:xfrm>
            <a:off x="13007876" y="667687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DevOps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60a94691c9_0_198"/>
          <p:cNvSpPr/>
          <p:nvPr/>
        </p:nvSpPr>
        <p:spPr>
          <a:xfrm>
            <a:off x="13007876" y="7289899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Integrar y orquestar los diferentes componentes de la cadena de entrega de software.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0a94691c9_0_217"/>
          <p:cNvSpPr/>
          <p:nvPr/>
        </p:nvSpPr>
        <p:spPr>
          <a:xfrm>
            <a:off x="753003" y="1066725"/>
            <a:ext cx="107151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Conceptos clave de Ansible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60a94691c9_0_217"/>
          <p:cNvSpPr/>
          <p:nvPr/>
        </p:nvSpPr>
        <p:spPr>
          <a:xfrm>
            <a:off x="752988" y="266141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Playbooks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60a94691c9_0_217"/>
          <p:cNvSpPr/>
          <p:nvPr/>
        </p:nvSpPr>
        <p:spPr>
          <a:xfrm>
            <a:off x="752988" y="3387849"/>
            <a:ext cx="4972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Archivos YAML que definen las tareas y la lógica de automatización.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60a94691c9_0_217"/>
          <p:cNvSpPr/>
          <p:nvPr/>
        </p:nvSpPr>
        <p:spPr>
          <a:xfrm>
            <a:off x="6426910" y="266141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Módulos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60a94691c9_0_217"/>
          <p:cNvSpPr/>
          <p:nvPr/>
        </p:nvSpPr>
        <p:spPr>
          <a:xfrm>
            <a:off x="6426910" y="3387849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Componentes que encapsulan la lógica para interactuar con diferentes recursos.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60a94691c9_0_217"/>
          <p:cNvSpPr/>
          <p:nvPr/>
        </p:nvSpPr>
        <p:spPr>
          <a:xfrm>
            <a:off x="12100834" y="266141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Inventarios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60a94691c9_0_217"/>
          <p:cNvSpPr/>
          <p:nvPr/>
        </p:nvSpPr>
        <p:spPr>
          <a:xfrm>
            <a:off x="12100834" y="3387849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Definición de los sistemas administrados, con sus características y grupos.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g360a94691c9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100" y="5379524"/>
            <a:ext cx="60198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4" name="Google Shape;424;g360a94691c9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8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g360a94691c9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537" y="3669060"/>
            <a:ext cx="6168927" cy="295081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60a94691c9_0_229"/>
          <p:cNvSpPr/>
          <p:nvPr/>
        </p:nvSpPr>
        <p:spPr>
          <a:xfrm>
            <a:off x="7822555" y="757833"/>
            <a:ext cx="9501000" cy="1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400"/>
              <a:buFont typeface="Corben"/>
              <a:buNone/>
            </a:pPr>
            <a:r>
              <a:rPr b="0" i="0" lang="en-US" sz="54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Configuración e implementación de Ansible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60a94691c9_0_229"/>
          <p:cNvSpPr/>
          <p:nvPr/>
        </p:nvSpPr>
        <p:spPr>
          <a:xfrm>
            <a:off x="8216801" y="2893665"/>
            <a:ext cx="38400" cy="6637500"/>
          </a:xfrm>
          <a:prstGeom prst="roundRect">
            <a:avLst>
              <a:gd fmla="val 303837" name="adj"/>
            </a:avLst>
          </a:prstGeom>
          <a:solidFill>
            <a:srgbClr val="B8BF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60a94691c9_0_229"/>
          <p:cNvSpPr/>
          <p:nvPr/>
        </p:nvSpPr>
        <p:spPr>
          <a:xfrm>
            <a:off x="8507760" y="3494634"/>
            <a:ext cx="964500" cy="38400"/>
          </a:xfrm>
          <a:prstGeom prst="roundRect">
            <a:avLst>
              <a:gd fmla="val 303837" name="adj"/>
            </a:avLst>
          </a:prstGeom>
          <a:solidFill>
            <a:srgbClr val="B8BF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60a94691c9_0_229"/>
          <p:cNvSpPr/>
          <p:nvPr/>
        </p:nvSpPr>
        <p:spPr>
          <a:xfrm>
            <a:off x="7925841" y="3203674"/>
            <a:ext cx="619800" cy="619800"/>
          </a:xfrm>
          <a:prstGeom prst="roundRect">
            <a:avLst>
              <a:gd fmla="val 18671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60a94691c9_0_229"/>
          <p:cNvSpPr/>
          <p:nvPr/>
        </p:nvSpPr>
        <p:spPr>
          <a:xfrm>
            <a:off x="8174683" y="3306961"/>
            <a:ext cx="122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60a94691c9_0_229"/>
          <p:cNvSpPr/>
          <p:nvPr/>
        </p:nvSpPr>
        <p:spPr>
          <a:xfrm>
            <a:off x="9751665" y="3169146"/>
            <a:ext cx="3445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Instalación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60a94691c9_0_229"/>
          <p:cNvSpPr/>
          <p:nvPr/>
        </p:nvSpPr>
        <p:spPr>
          <a:xfrm>
            <a:off x="9751665" y="3765054"/>
            <a:ext cx="75717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se instala fácilmente en sistemas operativos como Linux y macOS.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60a94691c9_0_229"/>
          <p:cNvSpPr/>
          <p:nvPr/>
        </p:nvSpPr>
        <p:spPr>
          <a:xfrm>
            <a:off x="8507760" y="5798939"/>
            <a:ext cx="964500" cy="38400"/>
          </a:xfrm>
          <a:prstGeom prst="roundRect">
            <a:avLst>
              <a:gd fmla="val 303837" name="adj"/>
            </a:avLst>
          </a:prstGeom>
          <a:solidFill>
            <a:srgbClr val="B8BF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60a94691c9_0_229"/>
          <p:cNvSpPr/>
          <p:nvPr/>
        </p:nvSpPr>
        <p:spPr>
          <a:xfrm>
            <a:off x="7925841" y="5507980"/>
            <a:ext cx="619800" cy="619800"/>
          </a:xfrm>
          <a:prstGeom prst="roundRect">
            <a:avLst>
              <a:gd fmla="val 18671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60a94691c9_0_229"/>
          <p:cNvSpPr/>
          <p:nvPr/>
        </p:nvSpPr>
        <p:spPr>
          <a:xfrm>
            <a:off x="8127950" y="5611266"/>
            <a:ext cx="2157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60a94691c9_0_229"/>
          <p:cNvSpPr/>
          <p:nvPr/>
        </p:nvSpPr>
        <p:spPr>
          <a:xfrm>
            <a:off x="9751665" y="5473453"/>
            <a:ext cx="3445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Configuración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60a94691c9_0_229"/>
          <p:cNvSpPr/>
          <p:nvPr/>
        </p:nvSpPr>
        <p:spPr>
          <a:xfrm>
            <a:off x="9751665" y="6069360"/>
            <a:ext cx="75717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Se define el inventario, las credenciales y las variables de entorno.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60a94691c9_0_229"/>
          <p:cNvSpPr/>
          <p:nvPr/>
        </p:nvSpPr>
        <p:spPr>
          <a:xfrm>
            <a:off x="8507760" y="8103245"/>
            <a:ext cx="964500" cy="38400"/>
          </a:xfrm>
          <a:prstGeom prst="roundRect">
            <a:avLst>
              <a:gd fmla="val 303837" name="adj"/>
            </a:avLst>
          </a:prstGeom>
          <a:solidFill>
            <a:srgbClr val="B8BF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60a94691c9_0_229"/>
          <p:cNvSpPr/>
          <p:nvPr/>
        </p:nvSpPr>
        <p:spPr>
          <a:xfrm>
            <a:off x="7925841" y="7812286"/>
            <a:ext cx="619800" cy="619800"/>
          </a:xfrm>
          <a:prstGeom prst="roundRect">
            <a:avLst>
              <a:gd fmla="val 18671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60a94691c9_0_229"/>
          <p:cNvSpPr/>
          <p:nvPr/>
        </p:nvSpPr>
        <p:spPr>
          <a:xfrm>
            <a:off x="8119765" y="7915573"/>
            <a:ext cx="2322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60a94691c9_0_229"/>
          <p:cNvSpPr/>
          <p:nvPr/>
        </p:nvSpPr>
        <p:spPr>
          <a:xfrm>
            <a:off x="9751665" y="7777758"/>
            <a:ext cx="3445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Implementación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60a94691c9_0_229"/>
          <p:cNvSpPr/>
          <p:nvPr/>
        </p:nvSpPr>
        <p:spPr>
          <a:xfrm>
            <a:off x="9751665" y="8373666"/>
            <a:ext cx="75717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usuarios crean playbooks y los ejecutan para automatizar sus procesos.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8" name="Google Shape;448;g360a94691c9_0_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9" name="Google Shape;449;g360a94691c9_0_2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360" y="3052763"/>
            <a:ext cx="6149130" cy="4181474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60a94691c9_0_252"/>
          <p:cNvSpPr/>
          <p:nvPr/>
        </p:nvSpPr>
        <p:spPr>
          <a:xfrm>
            <a:off x="992238" y="1388864"/>
            <a:ext cx="9445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Gestión de configuraciones con Ansible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60a94691c9_0_252"/>
          <p:cNvSpPr/>
          <p:nvPr/>
        </p:nvSpPr>
        <p:spPr>
          <a:xfrm>
            <a:off x="992238" y="3904953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60a94691c9_0_252"/>
          <p:cNvSpPr/>
          <p:nvPr/>
        </p:nvSpPr>
        <p:spPr>
          <a:xfrm>
            <a:off x="1248370" y="4011216"/>
            <a:ext cx="125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60a94691c9_0_252"/>
          <p:cNvSpPr/>
          <p:nvPr/>
        </p:nvSpPr>
        <p:spPr>
          <a:xfrm>
            <a:off x="1913632" y="3904953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Idempotencia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60a94691c9_0_252"/>
          <p:cNvSpPr/>
          <p:nvPr/>
        </p:nvSpPr>
        <p:spPr>
          <a:xfrm>
            <a:off x="1913632" y="4517975"/>
            <a:ext cx="36597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garantiza que las tareas se ejecuten solo cuando sea necesario.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60a94691c9_0_252"/>
          <p:cNvSpPr/>
          <p:nvPr/>
        </p:nvSpPr>
        <p:spPr>
          <a:xfrm>
            <a:off x="5856834" y="3904953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60a94691c9_0_252"/>
          <p:cNvSpPr/>
          <p:nvPr/>
        </p:nvSpPr>
        <p:spPr>
          <a:xfrm>
            <a:off x="6064895" y="4011216"/>
            <a:ext cx="221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60a94691c9_0_252"/>
          <p:cNvSpPr/>
          <p:nvPr/>
        </p:nvSpPr>
        <p:spPr>
          <a:xfrm>
            <a:off x="6778229" y="3904953"/>
            <a:ext cx="36597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Configuración como Código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60a94691c9_0_252"/>
          <p:cNvSpPr/>
          <p:nvPr/>
        </p:nvSpPr>
        <p:spPr>
          <a:xfrm>
            <a:off x="6778229" y="4960888"/>
            <a:ext cx="36597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playbooks permiten versionar y mantener la configuración de los sistemas.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60a94691c9_0_252"/>
          <p:cNvSpPr/>
          <p:nvPr/>
        </p:nvSpPr>
        <p:spPr>
          <a:xfrm>
            <a:off x="992238" y="7377856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60a94691c9_0_252"/>
          <p:cNvSpPr/>
          <p:nvPr/>
        </p:nvSpPr>
        <p:spPr>
          <a:xfrm>
            <a:off x="1191666" y="7484120"/>
            <a:ext cx="238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60a94691c9_0_252"/>
          <p:cNvSpPr/>
          <p:nvPr/>
        </p:nvSpPr>
        <p:spPr>
          <a:xfrm>
            <a:off x="1913632" y="737785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Registros y Reportes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60a94691c9_0_252"/>
          <p:cNvSpPr/>
          <p:nvPr/>
        </p:nvSpPr>
        <p:spPr>
          <a:xfrm>
            <a:off x="1913632" y="7990880"/>
            <a:ext cx="85242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proporciona una visibilidad detallada de las acciones realizadas.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8" name="Google Shape;468;g360a94691c9_0_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9" name="Google Shape;469;g360a94691c9_0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5133" y="2838599"/>
            <a:ext cx="6167585" cy="4609803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60a94691c9_0_271"/>
          <p:cNvSpPr/>
          <p:nvPr/>
        </p:nvSpPr>
        <p:spPr>
          <a:xfrm>
            <a:off x="966341" y="760363"/>
            <a:ext cx="94974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400"/>
              <a:buFont typeface="Corben"/>
              <a:buNone/>
            </a:pPr>
            <a:r>
              <a:rPr b="0" i="0" lang="en-US" sz="54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Orquestación de infraestructura con Ansible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1" name="Google Shape;471;g360a94691c9_0_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6341" y="2899916"/>
            <a:ext cx="1380530" cy="220890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60a94691c9_0_271"/>
          <p:cNvSpPr/>
          <p:nvPr/>
        </p:nvSpPr>
        <p:spPr>
          <a:xfrm>
            <a:off x="2760910" y="3175993"/>
            <a:ext cx="34515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Aprovisionamiento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60a94691c9_0_271"/>
          <p:cNvSpPr/>
          <p:nvPr/>
        </p:nvSpPr>
        <p:spPr>
          <a:xfrm>
            <a:off x="2760910" y="3772941"/>
            <a:ext cx="77028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Creación de máquinas virtuales, contenedores y otros recursos de infraestructura.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4" name="Google Shape;474;g360a94691c9_0_2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341" y="5108823"/>
            <a:ext cx="1380530" cy="2208907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60a94691c9_0_271"/>
          <p:cNvSpPr/>
          <p:nvPr/>
        </p:nvSpPr>
        <p:spPr>
          <a:xfrm>
            <a:off x="2760910" y="5384899"/>
            <a:ext cx="34515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Configuración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60a94691c9_0_271"/>
          <p:cNvSpPr/>
          <p:nvPr/>
        </p:nvSpPr>
        <p:spPr>
          <a:xfrm>
            <a:off x="2760910" y="5981849"/>
            <a:ext cx="77028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Aplicación de configuraciones específicas a los recursos recién aprovisionados.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7" name="Google Shape;477;g360a94691c9_0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6341" y="7317730"/>
            <a:ext cx="1380530" cy="2208907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60a94691c9_0_271"/>
          <p:cNvSpPr/>
          <p:nvPr/>
        </p:nvSpPr>
        <p:spPr>
          <a:xfrm>
            <a:off x="2760910" y="7593806"/>
            <a:ext cx="34515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Integración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60a94691c9_0_271"/>
          <p:cNvSpPr/>
          <p:nvPr/>
        </p:nvSpPr>
        <p:spPr>
          <a:xfrm>
            <a:off x="2760910" y="8190756"/>
            <a:ext cx="77028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Conexión e interacción entre los diferentes componentes de la infraestructura.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5" name="Google Shape;485;g360a94691c9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6" name="Google Shape;486;g360a94691c9_0_2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526" y="3579763"/>
            <a:ext cx="6254946" cy="3127473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60a94691c9_0_287"/>
          <p:cNvSpPr/>
          <p:nvPr/>
        </p:nvSpPr>
        <p:spPr>
          <a:xfrm>
            <a:off x="7702303" y="664369"/>
            <a:ext cx="97413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700"/>
              <a:buFont typeface="Corben"/>
              <a:buNone/>
            </a:pPr>
            <a:r>
              <a:rPr b="0" i="0" lang="en-US" sz="47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Integración de Ansible con otras herramientas</a:t>
            </a:r>
            <a:endParaRPr b="0" i="0" sz="4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8" name="Google Shape;488;g360a94691c9_0_2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2303" y="2534096"/>
            <a:ext cx="603051" cy="60305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360a94691c9_0_287"/>
          <p:cNvSpPr/>
          <p:nvPr/>
        </p:nvSpPr>
        <p:spPr>
          <a:xfrm>
            <a:off x="7702303" y="3378399"/>
            <a:ext cx="3015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300"/>
              <a:buFont typeface="Corben"/>
              <a:buNone/>
            </a:pPr>
            <a:r>
              <a:rPr b="0" i="0" lang="en-US" sz="2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Git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60a94691c9_0_287"/>
          <p:cNvSpPr/>
          <p:nvPr/>
        </p:nvSpPr>
        <p:spPr>
          <a:xfrm>
            <a:off x="7702303" y="3899893"/>
            <a:ext cx="97413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00"/>
              <a:buFont typeface="Nobile"/>
              <a:buNone/>
            </a:pPr>
            <a:r>
              <a:rPr b="0" i="0" lang="en-US" sz="19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Control de versiones para los playbooks y la configuración.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1" name="Google Shape;491;g360a94691c9_0_2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2303" y="5009555"/>
            <a:ext cx="603051" cy="60305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60a94691c9_0_287"/>
          <p:cNvSpPr/>
          <p:nvPr/>
        </p:nvSpPr>
        <p:spPr>
          <a:xfrm>
            <a:off x="7702303" y="5853856"/>
            <a:ext cx="3015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300"/>
              <a:buFont typeface="Corben"/>
              <a:buNone/>
            </a:pPr>
            <a:r>
              <a:rPr b="0" i="0" lang="en-US" sz="2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Nubes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60a94691c9_0_287"/>
          <p:cNvSpPr/>
          <p:nvPr/>
        </p:nvSpPr>
        <p:spPr>
          <a:xfrm>
            <a:off x="7702303" y="6375350"/>
            <a:ext cx="97413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00"/>
              <a:buFont typeface="Nobile"/>
              <a:buNone/>
            </a:pPr>
            <a:r>
              <a:rPr b="0" i="0" lang="en-US" sz="19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Aprovisionamiento y gestión de recursos en diferentes proveedores de nube.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4" name="Google Shape;494;g360a94691c9_0_2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2303" y="7485013"/>
            <a:ext cx="603051" cy="60305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60a94691c9_0_287"/>
          <p:cNvSpPr/>
          <p:nvPr/>
        </p:nvSpPr>
        <p:spPr>
          <a:xfrm>
            <a:off x="7702303" y="8329315"/>
            <a:ext cx="3015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300"/>
              <a:buFont typeface="Corben"/>
              <a:buNone/>
            </a:pPr>
            <a:r>
              <a:rPr b="0" i="0" lang="en-US" sz="2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Monitoreo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60a94691c9_0_287"/>
          <p:cNvSpPr/>
          <p:nvPr/>
        </p:nvSpPr>
        <p:spPr>
          <a:xfrm>
            <a:off x="7702303" y="8850809"/>
            <a:ext cx="9741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00"/>
              <a:buFont typeface="Nobile"/>
              <a:buNone/>
            </a:pPr>
            <a:r>
              <a:rPr b="0" i="0" lang="en-US" sz="19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Integración con herramientas de monitoreo para obtener visibilidad de la infraestructura.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2" name="Google Shape;502;p6"/>
          <p:cNvSpPr txBox="1"/>
          <p:nvPr/>
        </p:nvSpPr>
        <p:spPr>
          <a:xfrm>
            <a:off x="5688337" y="2470283"/>
            <a:ext cx="69114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Infraestructura como código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Terraform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Lenguaje declarativo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Reproducibilidad y eficiencia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Ansible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Playbooks, módulos e inventarios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60abcf5bc5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Colaboración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8" name="Google Shape;508;g360abcf5bc5_0_0"/>
          <p:cNvSpPr txBox="1"/>
          <p:nvPr/>
        </p:nvSpPr>
        <p:spPr>
          <a:xfrm>
            <a:off x="2230719" y="2675475"/>
            <a:ext cx="14171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Trabajando en equipo con actitud proactiva: </a:t>
            </a:r>
            <a:r>
              <a:rPr lang="en-US" sz="3151">
                <a:solidFill>
                  <a:srgbClr val="131416"/>
                </a:solidFill>
              </a:rPr>
              <a:t>Participando activamente en las tareas grupales, ofreciendo ideas, ayudando a resolver dudas y distribuyendo el trabajo de forma justa.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Resolviendo desacuerdos de manera constructiva: </a:t>
            </a:r>
            <a:r>
              <a:rPr lang="en-US" sz="3151">
                <a:solidFill>
                  <a:srgbClr val="131416"/>
                </a:solidFill>
              </a:rPr>
              <a:t>Si hay diferencias, se manejan con diálogo, buscando consensos y enfocándose en soluciones.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14" name="Google Shape;514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6" name="Google Shape;516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