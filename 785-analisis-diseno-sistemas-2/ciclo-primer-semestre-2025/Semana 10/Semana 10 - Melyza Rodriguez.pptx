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10287000" cx="18288000"/>
  <p:notesSz cx="6858000" cy="9144000"/>
  <p:embeddedFontLst>
    <p:embeddedFont>
      <p:font typeface="Poppins"/>
      <p:regular r:id="rId28"/>
      <p:bold r:id="rId29"/>
      <p:italic r:id="rId30"/>
      <p:boldItalic r:id="rId31"/>
    </p:embeddedFont>
    <p:embeddedFont>
      <p:font typeface="Inter"/>
      <p:regular r:id="rId32"/>
      <p:bold r:id="rId33"/>
      <p:italic r:id="rId34"/>
      <p:boldItalic r:id="rId35"/>
    </p:embeddedFont>
    <p:embeddedFont>
      <p:font typeface="Poppins Light"/>
      <p:regular r:id="rId36"/>
      <p:bold r:id="rId37"/>
      <p:italic r:id="rId38"/>
      <p:boldItalic r:id="rId39"/>
    </p:embeddedFont>
    <p:embeddedFont>
      <p:font typeface="Poppins Black"/>
      <p:bold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6" roundtripDataSignature="AMtx7mi9QH/aiHRcz7q04sBVoJzZ/47b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013FC2-CAF1-46BC-B96C-EB989576612D}">
  <a:tblStyle styleId="{9D013FC2-CAF1-46BC-B96C-EB989576612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lack-bold.fntdata"/><Relationship Id="rId20" Type="http://schemas.openxmlformats.org/officeDocument/2006/relationships/slide" Target="slides/slide14.xml"/><Relationship Id="rId42" Type="http://schemas.openxmlformats.org/officeDocument/2006/relationships/font" Target="fonts/OpenSans-regular.fntdata"/><Relationship Id="rId41" Type="http://schemas.openxmlformats.org/officeDocument/2006/relationships/font" Target="fonts/PoppinsBlack-boldItalic.fntdata"/><Relationship Id="rId22" Type="http://schemas.openxmlformats.org/officeDocument/2006/relationships/slide" Target="slides/slide16.xml"/><Relationship Id="rId44" Type="http://schemas.openxmlformats.org/officeDocument/2006/relationships/font" Target="fonts/OpenSans-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5.xml"/><Relationship Id="rId33" Type="http://schemas.openxmlformats.org/officeDocument/2006/relationships/font" Target="fonts/Inter-bold.fntdata"/><Relationship Id="rId10" Type="http://schemas.openxmlformats.org/officeDocument/2006/relationships/slide" Target="slides/slide4.xml"/><Relationship Id="rId32" Type="http://schemas.openxmlformats.org/officeDocument/2006/relationships/font" Target="fonts/Inter-regular.fntdata"/><Relationship Id="rId13" Type="http://schemas.openxmlformats.org/officeDocument/2006/relationships/slide" Target="slides/slide7.xml"/><Relationship Id="rId35" Type="http://schemas.openxmlformats.org/officeDocument/2006/relationships/font" Target="fonts/Inter-boldItalic.fntdata"/><Relationship Id="rId12" Type="http://schemas.openxmlformats.org/officeDocument/2006/relationships/slide" Target="slides/slide6.xml"/><Relationship Id="rId34" Type="http://schemas.openxmlformats.org/officeDocument/2006/relationships/font" Target="fonts/Inter-italic.fntdata"/><Relationship Id="rId15" Type="http://schemas.openxmlformats.org/officeDocument/2006/relationships/slide" Target="slides/slide9.xml"/><Relationship Id="rId37" Type="http://schemas.openxmlformats.org/officeDocument/2006/relationships/font" Target="fonts/PoppinsLight-bold.fntdata"/><Relationship Id="rId14" Type="http://schemas.openxmlformats.org/officeDocument/2006/relationships/slide" Target="slides/slide8.xml"/><Relationship Id="rId36" Type="http://schemas.openxmlformats.org/officeDocument/2006/relationships/font" Target="fonts/PoppinsLight-regular.fntdata"/><Relationship Id="rId17" Type="http://schemas.openxmlformats.org/officeDocument/2006/relationships/slide" Target="slides/slide11.xml"/><Relationship Id="rId39" Type="http://schemas.openxmlformats.org/officeDocument/2006/relationships/font" Target="fonts/PoppinsLight-boldItalic.fntdata"/><Relationship Id="rId16" Type="http://schemas.openxmlformats.org/officeDocument/2006/relationships/slide" Target="slides/slide10.xml"/><Relationship Id="rId38" Type="http://schemas.openxmlformats.org/officeDocument/2006/relationships/font" Target="fonts/Poppins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b241ad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b241ad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1b241ad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f1b241ad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0abbddf6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60abbddf69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f1b241ad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5f1b241ad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1b241ad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5f1b241ad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2e3a03d3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62e3a03d3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62e3a03d3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362e3a03d3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0abbddf6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60abbddf6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0abbddf69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60abbddf69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2e3a03d35_0_5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62e3a03d35_0_5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2e3a03d35_0_5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62e3a03d35_0_5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2e3a03d35_0_5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62e3a03d35_0_5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62e3a03d35_0_5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62e3a03d35_0_5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5f1b241ad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g35f1b241ad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60abbddf69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60abbddf6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Seguridad</a:t>
            </a:r>
            <a:endParaRPr b="1" i="0" sz="92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346552" y="3216925"/>
            <a:ext cx="155949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131416"/>
                </a:solidFill>
                <a:latin typeface="Open Sans"/>
                <a:ea typeface="Open Sans"/>
                <a:cs typeface="Open Sans"/>
                <a:sym typeface="Open Sans"/>
              </a:rPr>
              <a:t>Integrar principios y prácticas de seguridad en el diseño arquitectónico del software, considerando cada etapa del ciclo de vida del desarrollo para construir aplicaciones robustas, seguras y resilientes frente a amenazas.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f1b241ad4_0_10"/>
          <p:cNvGraphicFramePr/>
          <p:nvPr/>
        </p:nvGraphicFramePr>
        <p:xfrm>
          <a:off x="6116951" y="4739298"/>
          <a:ext cx="3000000" cy="3000000"/>
        </p:xfrm>
        <a:graphic>
          <a:graphicData uri="http://schemas.openxmlformats.org/drawingml/2006/table">
            <a:tbl>
              <a:tblPr>
                <a:noFill/>
                <a:tableStyleId>{9D013FC2-CAF1-46BC-B96C-EB989576612D}</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de fase 3</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Seguridad</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f1b241ad4_0_10"/>
          <p:cNvGrpSpPr/>
          <p:nvPr/>
        </p:nvGrpSpPr>
        <p:grpSpPr>
          <a:xfrm>
            <a:off x="-584626" y="1589619"/>
            <a:ext cx="19457594" cy="2036657"/>
            <a:chOff x="0" y="-76200"/>
            <a:chExt cx="5124600" cy="536400"/>
          </a:xfrm>
        </p:grpSpPr>
        <p:sp>
          <p:nvSpPr>
            <p:cNvPr id="110" name="Google Shape;110;g35f1b241ad4_0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f1b241ad4_0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f1b241ad4_0_1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f1b241ad4_0_1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f1b241ad4_0_1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f1b241ad4_0_1"/>
          <p:cNvGrpSpPr/>
          <p:nvPr/>
        </p:nvGrpSpPr>
        <p:grpSpPr>
          <a:xfrm>
            <a:off x="-584801" y="364850"/>
            <a:ext cx="19457594" cy="2036657"/>
            <a:chOff x="0" y="-76200"/>
            <a:chExt cx="5124600" cy="536400"/>
          </a:xfrm>
        </p:grpSpPr>
        <p:sp>
          <p:nvSpPr>
            <p:cNvPr id="120" name="Google Shape;120;g35f1b241ad4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b241ad4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b241ad4_0_1"/>
          <p:cNvSpPr txBox="1"/>
          <p:nvPr/>
        </p:nvSpPr>
        <p:spPr>
          <a:xfrm>
            <a:off x="-232650" y="863000"/>
            <a:ext cx="18753300" cy="696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4524" u="none" cap="none" strike="noStrike">
                <a:solidFill>
                  <a:srgbClr val="FDFDFD"/>
                </a:solidFill>
                <a:latin typeface="Poppins"/>
                <a:ea typeface="Poppins"/>
                <a:cs typeface="Poppins"/>
                <a:sym typeface="Poppins"/>
              </a:rPr>
              <a:t>La importancia de la seguridad en la arquitectura de software</a:t>
            </a:r>
            <a:endParaRPr b="1" i="0" sz="3624" u="none" cap="none" strike="noStrike">
              <a:solidFill>
                <a:srgbClr val="FDFDFD"/>
              </a:solidFill>
              <a:latin typeface="Poppins"/>
              <a:ea typeface="Poppins"/>
              <a:cs typeface="Poppins"/>
              <a:sym typeface="Poppins"/>
            </a:endParaRPr>
          </a:p>
        </p:txBody>
      </p:sp>
      <p:sp>
        <p:nvSpPr>
          <p:cNvPr id="123" name="Google Shape;123;g35f1b241ad4_0_1"/>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A medida que tanto las empresas como los consumidores dependen cada vez más de las aplicaciones y los servicios web, proteger los datos confidenciales y garantizar la privacidad y seguridad de los usuarios se ha vuelto primordial. La seguridad no es sólo una necesidad en términos de cumplimiento normativo, sino también un factor importante para generar confianza con los clientes y mantener la reputación de su empresa.</a:t>
            </a:r>
            <a:endParaRPr b="0" i="0" sz="2963" u="none" cap="none" strike="noStrike">
              <a:solidFill>
                <a:srgbClr val="013362"/>
              </a:solidFill>
              <a:latin typeface="Poppins Light"/>
              <a:ea typeface="Poppins Light"/>
              <a:cs typeface="Poppins Light"/>
              <a:sym typeface="Poppins Light"/>
            </a:endParaRPr>
          </a:p>
        </p:txBody>
      </p:sp>
      <p:pic>
        <p:nvPicPr>
          <p:cNvPr id="124" name="Google Shape;124;g35f1b241ad4_0_1"/>
          <p:cNvPicPr preferRelativeResize="0"/>
          <p:nvPr/>
        </p:nvPicPr>
        <p:blipFill rotWithShape="1">
          <a:blip r:embed="rId3">
            <a:alphaModFix/>
          </a:blip>
          <a:srcRect b="0" l="0" r="0" t="0"/>
          <a:stretch/>
        </p:blipFill>
        <p:spPr>
          <a:xfrm>
            <a:off x="5509188" y="6303150"/>
            <a:ext cx="7269624" cy="3804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8" name="Shape 128"/>
        <p:cNvGrpSpPr/>
        <p:nvPr/>
      </p:nvGrpSpPr>
      <p:grpSpPr>
        <a:xfrm>
          <a:off x="0" y="0"/>
          <a:ext cx="0" cy="0"/>
          <a:chOff x="0" y="0"/>
          <a:chExt cx="0" cy="0"/>
        </a:xfrm>
      </p:grpSpPr>
      <p:grpSp>
        <p:nvGrpSpPr>
          <p:cNvPr id="129" name="Google Shape;129;g360abbddf69_0_3"/>
          <p:cNvGrpSpPr/>
          <p:nvPr/>
        </p:nvGrpSpPr>
        <p:grpSpPr>
          <a:xfrm>
            <a:off x="-584801" y="364850"/>
            <a:ext cx="19457594" cy="2036657"/>
            <a:chOff x="0" y="-76200"/>
            <a:chExt cx="5124600" cy="536400"/>
          </a:xfrm>
        </p:grpSpPr>
        <p:sp>
          <p:nvSpPr>
            <p:cNvPr id="130" name="Google Shape;130;g360abbddf69_0_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1" name="Google Shape;131;g360abbddf69_0_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2" name="Google Shape;132;g360abbddf69_0_3"/>
          <p:cNvSpPr txBox="1"/>
          <p:nvPr/>
        </p:nvSpPr>
        <p:spPr>
          <a:xfrm>
            <a:off x="-232650" y="863000"/>
            <a:ext cx="18753300" cy="696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4524" u="none" cap="none" strike="noStrike">
                <a:solidFill>
                  <a:srgbClr val="FDFDFD"/>
                </a:solidFill>
                <a:latin typeface="Poppins"/>
                <a:ea typeface="Poppins"/>
                <a:cs typeface="Poppins"/>
                <a:sym typeface="Poppins"/>
              </a:rPr>
              <a:t>La importancia de la seguridad en la arquitectura de software</a:t>
            </a:r>
            <a:endParaRPr b="1" i="0" sz="3624" u="none" cap="none" strike="noStrike">
              <a:solidFill>
                <a:srgbClr val="FDFDFD"/>
              </a:solidFill>
              <a:latin typeface="Poppins"/>
              <a:ea typeface="Poppins"/>
              <a:cs typeface="Poppins"/>
              <a:sym typeface="Poppins"/>
            </a:endParaRPr>
          </a:p>
        </p:txBody>
      </p:sp>
      <p:sp>
        <p:nvSpPr>
          <p:cNvPr id="133" name="Google Shape;133;g360abbddf69_0_3"/>
          <p:cNvSpPr txBox="1"/>
          <p:nvPr/>
        </p:nvSpPr>
        <p:spPr>
          <a:xfrm>
            <a:off x="1028700" y="2631975"/>
            <a:ext cx="17048400" cy="4757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3863">
                <a:solidFill>
                  <a:srgbClr val="013362"/>
                </a:solidFill>
                <a:latin typeface="Poppins Light"/>
                <a:ea typeface="Poppins Light"/>
                <a:cs typeface="Poppins Light"/>
                <a:sym typeface="Poppins Light"/>
              </a:rPr>
              <a:t>La arquitectura de software es clave para aplicaciones seguras. Integrar seguridad desde el diseño reduce riesgos, ahorra recursos y evita vulnerabilidades. Una mala arquitectura puede causar pérdidas financieras y dañar la reputación. Por ello, es esencial considerar la seguridad como parte fundamental del desarrollo arquitectónico del software desde el inicio.</a:t>
            </a:r>
            <a:endParaRPr b="0" i="0" sz="4363" u="none" cap="none" strike="noStrike">
              <a:solidFill>
                <a:srgbClr val="013362"/>
              </a:solidFill>
              <a:latin typeface="Poppins Light"/>
              <a:ea typeface="Poppins Light"/>
              <a:cs typeface="Poppins Light"/>
              <a:sym typeface="Poppins Light"/>
            </a:endParaRPr>
          </a:p>
        </p:txBody>
      </p:sp>
      <p:pic>
        <p:nvPicPr>
          <p:cNvPr id="134" name="Google Shape;134;g360abbddf69_0_3"/>
          <p:cNvPicPr preferRelativeResize="0"/>
          <p:nvPr/>
        </p:nvPicPr>
        <p:blipFill rotWithShape="1">
          <a:blip r:embed="rId3">
            <a:alphaModFix/>
          </a:blip>
          <a:srcRect b="0" l="0" r="0" t="0"/>
          <a:stretch/>
        </p:blipFill>
        <p:spPr>
          <a:xfrm>
            <a:off x="12006386" y="7359525"/>
            <a:ext cx="5204387" cy="292746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8" name="Shape 138"/>
        <p:cNvGrpSpPr/>
        <p:nvPr/>
      </p:nvGrpSpPr>
      <p:grpSpPr>
        <a:xfrm>
          <a:off x="0" y="0"/>
          <a:ext cx="0" cy="0"/>
          <a:chOff x="0" y="0"/>
          <a:chExt cx="0" cy="0"/>
        </a:xfrm>
      </p:grpSpPr>
      <p:grpSp>
        <p:nvGrpSpPr>
          <p:cNvPr id="139" name="Google Shape;139;g35f1b241ad4_0_20"/>
          <p:cNvGrpSpPr/>
          <p:nvPr/>
        </p:nvGrpSpPr>
        <p:grpSpPr>
          <a:xfrm>
            <a:off x="-524975" y="2646499"/>
            <a:ext cx="19457594" cy="4853776"/>
            <a:chOff x="0" y="-76200"/>
            <a:chExt cx="5124600" cy="536400"/>
          </a:xfrm>
        </p:grpSpPr>
        <p:sp>
          <p:nvSpPr>
            <p:cNvPr id="140" name="Google Shape;140;g35f1b241ad4_0_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1" name="Google Shape;141;g35f1b241ad4_0_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2" name="Google Shape;142;g35f1b241ad4_0_20"/>
          <p:cNvSpPr txBox="1"/>
          <p:nvPr/>
        </p:nvSpPr>
        <p:spPr>
          <a:xfrm>
            <a:off x="1599296" y="367098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Comprender la seguridad del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6" name="Shape 146"/>
        <p:cNvGrpSpPr/>
        <p:nvPr/>
      </p:nvGrpSpPr>
      <p:grpSpPr>
        <a:xfrm>
          <a:off x="0" y="0"/>
          <a:ext cx="0" cy="0"/>
          <a:chOff x="0" y="0"/>
          <a:chExt cx="0" cy="0"/>
        </a:xfrm>
      </p:grpSpPr>
      <p:grpSp>
        <p:nvGrpSpPr>
          <p:cNvPr id="147" name="Google Shape;147;g35f1b241ad4_0_27"/>
          <p:cNvGrpSpPr/>
          <p:nvPr/>
        </p:nvGrpSpPr>
        <p:grpSpPr>
          <a:xfrm>
            <a:off x="-584801" y="364850"/>
            <a:ext cx="19457594" cy="2036657"/>
            <a:chOff x="0" y="-76200"/>
            <a:chExt cx="5124600" cy="536400"/>
          </a:xfrm>
        </p:grpSpPr>
        <p:sp>
          <p:nvSpPr>
            <p:cNvPr id="148" name="Google Shape;148;g35f1b241ad4_0_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9" name="Google Shape;149;g35f1b241ad4_0_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0" name="Google Shape;150;g35f1b241ad4_0_2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Ambito</a:t>
            </a:r>
            <a:endParaRPr b="0" i="0" sz="100" u="none" cap="none" strike="noStrike">
              <a:solidFill>
                <a:srgbClr val="000000"/>
              </a:solidFill>
              <a:latin typeface="Arial"/>
              <a:ea typeface="Arial"/>
              <a:cs typeface="Arial"/>
              <a:sym typeface="Arial"/>
            </a:endParaRPr>
          </a:p>
        </p:txBody>
      </p:sp>
      <p:sp>
        <p:nvSpPr>
          <p:cNvPr id="151" name="Google Shape;151;g35f1b241ad4_0_27"/>
          <p:cNvSpPr txBox="1"/>
          <p:nvPr/>
        </p:nvSpPr>
        <p:spPr>
          <a:xfrm>
            <a:off x="1028700" y="2969245"/>
            <a:ext cx="162306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El ámbito de la seguridad del software evoluciona constantemente y surgen de manera alarmante nuevas amenazas y vulnerabilidades. Los ciberdelincuentes son cada vez más sofisticados en sus métodos y utilizan técnicas avanzadas para obtener acceso no autorizado y robar datos confidenciales.</a:t>
            </a:r>
            <a:endParaRPr b="0" i="0" sz="1400" u="none" cap="none" strike="noStrike">
              <a:solidFill>
                <a:srgbClr val="000000"/>
              </a:solidFill>
              <a:latin typeface="Arial"/>
              <a:ea typeface="Arial"/>
              <a:cs typeface="Arial"/>
              <a:sym typeface="Arial"/>
            </a:endParaRPr>
          </a:p>
        </p:txBody>
      </p:sp>
      <p:pic>
        <p:nvPicPr>
          <p:cNvPr descr="preencoded.png" id="152" name="Google Shape;152;g35f1b241ad4_0_27"/>
          <p:cNvPicPr preferRelativeResize="0"/>
          <p:nvPr/>
        </p:nvPicPr>
        <p:blipFill rotWithShape="1">
          <a:blip r:embed="rId3">
            <a:alphaModFix/>
          </a:blip>
          <a:srcRect b="0" l="0" r="0" t="0"/>
          <a:stretch/>
        </p:blipFill>
        <p:spPr>
          <a:xfrm>
            <a:off x="5592605" y="5766450"/>
            <a:ext cx="7102800" cy="3995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56" name="Shape 156"/>
        <p:cNvGrpSpPr/>
        <p:nvPr/>
      </p:nvGrpSpPr>
      <p:grpSpPr>
        <a:xfrm>
          <a:off x="0" y="0"/>
          <a:ext cx="0" cy="0"/>
          <a:chOff x="0" y="0"/>
          <a:chExt cx="0" cy="0"/>
        </a:xfrm>
      </p:grpSpPr>
      <p:grpSp>
        <p:nvGrpSpPr>
          <p:cNvPr id="157" name="Google Shape;157;g362e3a03d35_0_1"/>
          <p:cNvGrpSpPr/>
          <p:nvPr/>
        </p:nvGrpSpPr>
        <p:grpSpPr>
          <a:xfrm>
            <a:off x="-584801" y="364850"/>
            <a:ext cx="19457594" cy="2036657"/>
            <a:chOff x="0" y="-76200"/>
            <a:chExt cx="5124600" cy="536400"/>
          </a:xfrm>
        </p:grpSpPr>
        <p:sp>
          <p:nvSpPr>
            <p:cNvPr id="158" name="Google Shape;158;g362e3a03d35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9" name="Google Shape;159;g362e3a03d35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g362e3a03d35_0_1"/>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amenazas a la seguridad más comunes</a:t>
            </a:r>
            <a:endParaRPr b="0" i="0" sz="100" u="none" cap="none" strike="noStrike">
              <a:solidFill>
                <a:srgbClr val="000000"/>
              </a:solidFill>
              <a:latin typeface="Arial"/>
              <a:ea typeface="Arial"/>
              <a:cs typeface="Arial"/>
              <a:sym typeface="Arial"/>
            </a:endParaRPr>
          </a:p>
        </p:txBody>
      </p:sp>
      <p:sp>
        <p:nvSpPr>
          <p:cNvPr id="161" name="Google Shape;161;g362e3a03d35_0_1"/>
          <p:cNvSpPr/>
          <p:nvPr/>
        </p:nvSpPr>
        <p:spPr>
          <a:xfrm>
            <a:off x="1886101" y="396394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b="1" lang="en-US" sz="2163">
                <a:solidFill>
                  <a:srgbClr val="013362"/>
                </a:solidFill>
                <a:latin typeface="Poppins"/>
                <a:ea typeface="Poppins"/>
                <a:cs typeface="Poppins"/>
                <a:sym typeface="Poppins"/>
              </a:rPr>
              <a:t>Ataques de inyección</a:t>
            </a:r>
            <a:endParaRPr b="0" i="0" sz="2900" u="none" cap="none" strike="noStrike">
              <a:solidFill>
                <a:srgbClr val="000000"/>
              </a:solidFill>
              <a:latin typeface="Arial"/>
              <a:ea typeface="Arial"/>
              <a:cs typeface="Arial"/>
              <a:sym typeface="Arial"/>
            </a:endParaRPr>
          </a:p>
        </p:txBody>
      </p:sp>
      <p:sp>
        <p:nvSpPr>
          <p:cNvPr id="162" name="Google Shape;162;g362e3a03d35_0_1"/>
          <p:cNvSpPr/>
          <p:nvPr/>
        </p:nvSpPr>
        <p:spPr>
          <a:xfrm>
            <a:off x="1886088" y="4852104"/>
            <a:ext cx="3756900" cy="5258100"/>
          </a:xfrm>
          <a:prstGeom prst="rect">
            <a:avLst/>
          </a:prstGeom>
          <a:noFill/>
          <a:ln>
            <a:noFill/>
          </a:ln>
        </p:spPr>
        <p:txBody>
          <a:bodyPr anchorCtr="0" anchor="t" bIns="0" lIns="0" spcFirstLastPara="1" rIns="0" wrap="square" tIns="0">
            <a:noAutofit/>
          </a:bodyPr>
          <a:lstStyle/>
          <a:p>
            <a:pPr indent="0" lvl="0" marL="0" rtl="0" algn="just">
              <a:lnSpc>
                <a:spcPct val="140027"/>
              </a:lnSpc>
              <a:spcBef>
                <a:spcPts val="0"/>
              </a:spcBef>
              <a:spcAft>
                <a:spcPts val="0"/>
              </a:spcAft>
              <a:buNone/>
            </a:pPr>
            <a:r>
              <a:rPr lang="en-US" sz="2163">
                <a:solidFill>
                  <a:srgbClr val="013362"/>
                </a:solidFill>
                <a:latin typeface="Poppins Light"/>
                <a:ea typeface="Poppins Light"/>
                <a:cs typeface="Poppins Light"/>
                <a:sym typeface="Poppins Light"/>
              </a:rPr>
              <a:t>O</a:t>
            </a:r>
            <a:r>
              <a:rPr lang="en-US" sz="2163">
                <a:solidFill>
                  <a:srgbClr val="013362"/>
                </a:solidFill>
                <a:latin typeface="Poppins Light"/>
                <a:ea typeface="Poppins Light"/>
                <a:cs typeface="Poppins Light"/>
                <a:sym typeface="Poppins Light"/>
              </a:rPr>
              <a:t>curren cuando un atacante inyecta código malicioso en una aplicación, a menudo a través de campos de entrada del usuario, lo que hace que la aplicación ejecute acciones no autorizadas en el sistema backend.</a:t>
            </a:r>
            <a:endParaRPr b="0" i="0" sz="2200" u="none" cap="none" strike="noStrike">
              <a:solidFill>
                <a:srgbClr val="000000"/>
              </a:solidFill>
              <a:latin typeface="Arial"/>
              <a:ea typeface="Arial"/>
              <a:cs typeface="Arial"/>
              <a:sym typeface="Arial"/>
            </a:endParaRPr>
          </a:p>
        </p:txBody>
      </p:sp>
      <p:sp>
        <p:nvSpPr>
          <p:cNvPr id="163" name="Google Shape;163;g362e3a03d35_0_1"/>
          <p:cNvSpPr/>
          <p:nvPr/>
        </p:nvSpPr>
        <p:spPr>
          <a:xfrm>
            <a:off x="7347621" y="396394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b="1" lang="en-US" sz="2163">
                <a:solidFill>
                  <a:srgbClr val="013362"/>
                </a:solidFill>
                <a:latin typeface="Poppins"/>
                <a:ea typeface="Poppins"/>
                <a:cs typeface="Poppins"/>
                <a:sym typeface="Poppins"/>
              </a:rPr>
              <a:t>Ataques de secuencias de comandos </a:t>
            </a:r>
            <a:endParaRPr b="0" i="0" sz="2900" u="none" cap="none" strike="noStrike">
              <a:solidFill>
                <a:srgbClr val="000000"/>
              </a:solidFill>
              <a:latin typeface="Arial"/>
              <a:ea typeface="Arial"/>
              <a:cs typeface="Arial"/>
              <a:sym typeface="Arial"/>
            </a:endParaRPr>
          </a:p>
        </p:txBody>
      </p:sp>
      <p:sp>
        <p:nvSpPr>
          <p:cNvPr id="164" name="Google Shape;164;g362e3a03d35_0_1"/>
          <p:cNvSpPr/>
          <p:nvPr/>
        </p:nvSpPr>
        <p:spPr>
          <a:xfrm>
            <a:off x="7365475" y="4852104"/>
            <a:ext cx="3757200" cy="5013600"/>
          </a:xfrm>
          <a:prstGeom prst="rect">
            <a:avLst/>
          </a:prstGeom>
          <a:noFill/>
          <a:ln>
            <a:noFill/>
          </a:ln>
        </p:spPr>
        <p:txBody>
          <a:bodyPr anchorCtr="0" anchor="t" bIns="0" lIns="0" spcFirstLastPara="1" rIns="0" wrap="square" tIns="0">
            <a:noAutofit/>
          </a:bodyPr>
          <a:lstStyle/>
          <a:p>
            <a:pPr indent="0" lvl="0" marL="0" rtl="0" algn="just">
              <a:lnSpc>
                <a:spcPct val="140027"/>
              </a:lnSpc>
              <a:spcBef>
                <a:spcPts val="0"/>
              </a:spcBef>
              <a:spcAft>
                <a:spcPts val="0"/>
              </a:spcAft>
              <a:buNone/>
            </a:pPr>
            <a:r>
              <a:rPr lang="en-US" sz="2163">
                <a:solidFill>
                  <a:srgbClr val="013362"/>
                </a:solidFill>
                <a:latin typeface="Poppins Light"/>
                <a:ea typeface="Poppins Light"/>
                <a:cs typeface="Poppins Light"/>
                <a:sym typeface="Poppins Light"/>
              </a:rPr>
              <a:t>U</a:t>
            </a:r>
            <a:r>
              <a:rPr lang="en-US" sz="2163">
                <a:solidFill>
                  <a:srgbClr val="013362"/>
                </a:solidFill>
                <a:latin typeface="Poppins Light"/>
                <a:ea typeface="Poppins Light"/>
                <a:cs typeface="Poppins Light"/>
                <a:sym typeface="Poppins Light"/>
              </a:rPr>
              <a:t>n atacante inyecta secuencias de comandos maliciosas en un sitio web, apuntando a los usuarios y robando sus datos.</a:t>
            </a:r>
            <a:endParaRPr sz="2163">
              <a:solidFill>
                <a:srgbClr val="013362"/>
              </a:solidFill>
              <a:latin typeface="Poppins Light"/>
              <a:ea typeface="Poppins Light"/>
              <a:cs typeface="Poppins Light"/>
              <a:sym typeface="Poppins Light"/>
            </a:endParaRPr>
          </a:p>
          <a:p>
            <a:pPr indent="0" lvl="0" marL="0" marR="0" rtl="0" algn="l">
              <a:lnSpc>
                <a:spcPct val="162857"/>
              </a:lnSpc>
              <a:spcBef>
                <a:spcPts val="0"/>
              </a:spcBef>
              <a:spcAft>
                <a:spcPts val="0"/>
              </a:spcAft>
              <a:buClr>
                <a:srgbClr val="272525"/>
              </a:buClr>
              <a:buSzPts val="2200"/>
              <a:buFont typeface="Inter"/>
              <a:buNone/>
            </a:pPr>
            <a:r>
              <a:t/>
            </a:r>
            <a:endParaRPr sz="2200">
              <a:solidFill>
                <a:srgbClr val="272525"/>
              </a:solidFill>
              <a:latin typeface="Inter"/>
              <a:ea typeface="Inter"/>
              <a:cs typeface="Inter"/>
              <a:sym typeface="Inter"/>
            </a:endParaRPr>
          </a:p>
        </p:txBody>
      </p:sp>
      <p:sp>
        <p:nvSpPr>
          <p:cNvPr id="165" name="Google Shape;165;g362e3a03d35_0_1"/>
          <p:cNvSpPr/>
          <p:nvPr/>
        </p:nvSpPr>
        <p:spPr>
          <a:xfrm>
            <a:off x="12862989" y="396394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b="1" lang="en-US" sz="2163">
                <a:solidFill>
                  <a:srgbClr val="013362"/>
                </a:solidFill>
                <a:latin typeface="Poppins"/>
                <a:ea typeface="Poppins"/>
                <a:cs typeface="Poppins"/>
                <a:sym typeface="Poppins"/>
              </a:rPr>
              <a:t>Ataques de autenticación y gestión de sesiones</a:t>
            </a:r>
            <a:endParaRPr b="0" i="0" sz="2900" u="none" cap="none" strike="noStrike">
              <a:solidFill>
                <a:srgbClr val="000000"/>
              </a:solidFill>
              <a:latin typeface="Arial"/>
              <a:ea typeface="Arial"/>
              <a:cs typeface="Arial"/>
              <a:sym typeface="Arial"/>
            </a:endParaRPr>
          </a:p>
        </p:txBody>
      </p:sp>
      <p:sp>
        <p:nvSpPr>
          <p:cNvPr id="166" name="Google Shape;166;g362e3a03d35_0_1"/>
          <p:cNvSpPr/>
          <p:nvPr/>
        </p:nvSpPr>
        <p:spPr>
          <a:xfrm>
            <a:off x="12898875" y="4852103"/>
            <a:ext cx="3757200" cy="4845000"/>
          </a:xfrm>
          <a:prstGeom prst="rect">
            <a:avLst/>
          </a:prstGeom>
          <a:noFill/>
          <a:ln>
            <a:noFill/>
          </a:ln>
        </p:spPr>
        <p:txBody>
          <a:bodyPr anchorCtr="0" anchor="t" bIns="0" lIns="0" spcFirstLastPara="1" rIns="0" wrap="square" tIns="0">
            <a:noAutofit/>
          </a:bodyPr>
          <a:lstStyle/>
          <a:p>
            <a:pPr indent="0" lvl="0" marL="0" rtl="0" algn="just">
              <a:lnSpc>
                <a:spcPct val="140027"/>
              </a:lnSpc>
              <a:spcBef>
                <a:spcPts val="0"/>
              </a:spcBef>
              <a:spcAft>
                <a:spcPts val="0"/>
              </a:spcAft>
              <a:buClr>
                <a:schemeClr val="dk1"/>
              </a:buClr>
              <a:buSzPts val="1100"/>
              <a:buFont typeface="Arial"/>
              <a:buNone/>
            </a:pPr>
            <a:r>
              <a:rPr lang="en-US" sz="2163">
                <a:solidFill>
                  <a:srgbClr val="013362"/>
                </a:solidFill>
                <a:latin typeface="Poppins Light"/>
                <a:ea typeface="Poppins Light"/>
                <a:cs typeface="Poppins Light"/>
                <a:sym typeface="Poppins Light"/>
              </a:rPr>
              <a:t>E</a:t>
            </a:r>
            <a:r>
              <a:rPr lang="en-US" sz="2163">
                <a:solidFill>
                  <a:srgbClr val="013362"/>
                </a:solidFill>
                <a:latin typeface="Poppins Light"/>
                <a:ea typeface="Poppins Light"/>
                <a:cs typeface="Poppins Light"/>
                <a:sym typeface="Poppins Light"/>
              </a:rPr>
              <a:t>n los casos en que los mecanismos de autenticación y gestión de sesiones de una aplicación no se implementan de forma segura, un atacante puede obtener acceso no autorizado a cuentas de usuario e información confidencial.</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0" name="Shape 170"/>
        <p:cNvGrpSpPr/>
        <p:nvPr/>
      </p:nvGrpSpPr>
      <p:grpSpPr>
        <a:xfrm>
          <a:off x="0" y="0"/>
          <a:ext cx="0" cy="0"/>
          <a:chOff x="0" y="0"/>
          <a:chExt cx="0" cy="0"/>
        </a:xfrm>
      </p:grpSpPr>
      <p:grpSp>
        <p:nvGrpSpPr>
          <p:cNvPr id="171" name="Google Shape;171;g362e3a03d35_0_9"/>
          <p:cNvGrpSpPr/>
          <p:nvPr/>
        </p:nvGrpSpPr>
        <p:grpSpPr>
          <a:xfrm>
            <a:off x="-584801" y="364850"/>
            <a:ext cx="19457594" cy="2036657"/>
            <a:chOff x="0" y="-76200"/>
            <a:chExt cx="5124600" cy="536400"/>
          </a:xfrm>
        </p:grpSpPr>
        <p:sp>
          <p:nvSpPr>
            <p:cNvPr id="172" name="Google Shape;172;g362e3a03d35_0_9"/>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3" name="Google Shape;173;g362e3a03d35_0_9"/>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g362e3a03d35_0_9"/>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amenazas a la seguridad más comunes</a:t>
            </a:r>
            <a:endParaRPr b="0" i="0" sz="100" u="none" cap="none" strike="noStrike">
              <a:solidFill>
                <a:srgbClr val="000000"/>
              </a:solidFill>
              <a:latin typeface="Arial"/>
              <a:ea typeface="Arial"/>
              <a:cs typeface="Arial"/>
              <a:sym typeface="Arial"/>
            </a:endParaRPr>
          </a:p>
        </p:txBody>
      </p:sp>
      <p:sp>
        <p:nvSpPr>
          <p:cNvPr id="175" name="Google Shape;175;g362e3a03d35_0_9"/>
          <p:cNvSpPr/>
          <p:nvPr/>
        </p:nvSpPr>
        <p:spPr>
          <a:xfrm>
            <a:off x="1879563" y="342899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b="1" lang="en-US" sz="2163">
                <a:solidFill>
                  <a:srgbClr val="013362"/>
                </a:solidFill>
                <a:latin typeface="Poppins"/>
                <a:ea typeface="Poppins"/>
                <a:cs typeface="Poppins"/>
                <a:sym typeface="Poppins"/>
              </a:rPr>
              <a:t>Referencias directas inseguras a objetos</a:t>
            </a:r>
            <a:endParaRPr b="0" i="0" sz="2900" u="none" cap="none" strike="noStrike">
              <a:solidFill>
                <a:srgbClr val="000000"/>
              </a:solidFill>
              <a:latin typeface="Arial"/>
              <a:ea typeface="Arial"/>
              <a:cs typeface="Arial"/>
              <a:sym typeface="Arial"/>
            </a:endParaRPr>
          </a:p>
        </p:txBody>
      </p:sp>
      <p:sp>
        <p:nvSpPr>
          <p:cNvPr id="176" name="Google Shape;176;g362e3a03d35_0_9"/>
          <p:cNvSpPr/>
          <p:nvPr/>
        </p:nvSpPr>
        <p:spPr>
          <a:xfrm>
            <a:off x="1879550" y="4317154"/>
            <a:ext cx="3756900" cy="52581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lang="en-US" sz="2163">
                <a:solidFill>
                  <a:srgbClr val="013362"/>
                </a:solidFill>
                <a:latin typeface="Poppins Light"/>
                <a:ea typeface="Poppins Light"/>
                <a:cs typeface="Poppins Light"/>
                <a:sym typeface="Poppins Light"/>
              </a:rPr>
              <a:t>C</a:t>
            </a:r>
            <a:r>
              <a:rPr lang="en-US" sz="2163">
                <a:solidFill>
                  <a:srgbClr val="013362"/>
                </a:solidFill>
                <a:latin typeface="Poppins Light"/>
                <a:ea typeface="Poppins Light"/>
                <a:cs typeface="Poppins Light"/>
                <a:sym typeface="Poppins Light"/>
              </a:rPr>
              <a:t>uando una aplicación expone objetos internos, como archivos o registros de bases de datos directamente, un atacante puede manipular las referencias para obtener acceso no autorizado a datos y recursos.</a:t>
            </a:r>
            <a:endParaRPr sz="2163">
              <a:solidFill>
                <a:srgbClr val="013362"/>
              </a:solidFill>
              <a:latin typeface="Poppins Light"/>
              <a:ea typeface="Poppins Light"/>
              <a:cs typeface="Poppins Light"/>
              <a:sym typeface="Poppins Light"/>
            </a:endParaRPr>
          </a:p>
          <a:p>
            <a:pPr indent="0" lvl="0" marL="0" rtl="0" algn="just">
              <a:lnSpc>
                <a:spcPct val="140027"/>
              </a:lnSpc>
              <a:spcBef>
                <a:spcPts val="0"/>
              </a:spcBef>
              <a:spcAft>
                <a:spcPts val="0"/>
              </a:spcAft>
              <a:buNone/>
            </a:pPr>
            <a:r>
              <a:t/>
            </a:r>
            <a:endParaRPr sz="2163">
              <a:solidFill>
                <a:srgbClr val="013362"/>
              </a:solidFill>
              <a:latin typeface="Poppins Light"/>
              <a:ea typeface="Poppins Light"/>
              <a:cs typeface="Poppins Light"/>
              <a:sym typeface="Poppins Light"/>
            </a:endParaRPr>
          </a:p>
        </p:txBody>
      </p:sp>
      <p:sp>
        <p:nvSpPr>
          <p:cNvPr id="177" name="Google Shape;177;g362e3a03d35_0_9"/>
          <p:cNvSpPr/>
          <p:nvPr/>
        </p:nvSpPr>
        <p:spPr>
          <a:xfrm>
            <a:off x="7341083" y="342899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None/>
            </a:pPr>
            <a:r>
              <a:rPr b="1" lang="en-US" sz="2163">
                <a:solidFill>
                  <a:srgbClr val="013362"/>
                </a:solidFill>
                <a:latin typeface="Poppins"/>
                <a:ea typeface="Poppins"/>
                <a:cs typeface="Poppins"/>
                <a:sym typeface="Poppins"/>
              </a:rPr>
              <a:t>Configuraciones erróneas de seguridad</a:t>
            </a:r>
            <a:endParaRPr b="0" i="0" sz="2900" u="none" cap="none" strike="noStrike">
              <a:solidFill>
                <a:srgbClr val="000000"/>
              </a:solidFill>
              <a:latin typeface="Arial"/>
              <a:ea typeface="Arial"/>
              <a:cs typeface="Arial"/>
              <a:sym typeface="Arial"/>
            </a:endParaRPr>
          </a:p>
        </p:txBody>
      </p:sp>
      <p:sp>
        <p:nvSpPr>
          <p:cNvPr id="178" name="Google Shape;178;g362e3a03d35_0_9"/>
          <p:cNvSpPr/>
          <p:nvPr/>
        </p:nvSpPr>
        <p:spPr>
          <a:xfrm>
            <a:off x="7358938" y="4317154"/>
            <a:ext cx="3757200" cy="50136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Clr>
                <a:schemeClr val="dk1"/>
              </a:buClr>
              <a:buSzPts val="1100"/>
              <a:buFont typeface="Arial"/>
              <a:buNone/>
            </a:pPr>
            <a:r>
              <a:rPr lang="en-US" sz="2163">
                <a:solidFill>
                  <a:srgbClr val="013362"/>
                </a:solidFill>
                <a:latin typeface="Poppins Light"/>
                <a:ea typeface="Poppins Light"/>
                <a:cs typeface="Poppins Light"/>
                <a:sym typeface="Poppins Light"/>
              </a:rPr>
              <a:t>L</a:t>
            </a:r>
            <a:r>
              <a:rPr lang="en-US" sz="2163">
                <a:solidFill>
                  <a:srgbClr val="013362"/>
                </a:solidFill>
                <a:latin typeface="Poppins Light"/>
                <a:ea typeface="Poppins Light"/>
                <a:cs typeface="Poppins Light"/>
                <a:sym typeface="Poppins Light"/>
              </a:rPr>
              <a:t>os atacantes pueden aprovechar las configuraciones de seguridad débiles, como controles de acceso configurados incorrectamente, administración de parches incompleta y contraseñas predeterminadas o débiles.</a:t>
            </a:r>
            <a:endParaRPr sz="2163">
              <a:solidFill>
                <a:srgbClr val="013362"/>
              </a:solidFill>
              <a:latin typeface="Poppins Light"/>
              <a:ea typeface="Poppins Light"/>
              <a:cs typeface="Poppins Light"/>
              <a:sym typeface="Poppins Light"/>
            </a:endParaRPr>
          </a:p>
          <a:p>
            <a:pPr indent="0" lvl="0" marL="0" marR="0" rtl="0" algn="l">
              <a:lnSpc>
                <a:spcPct val="162857"/>
              </a:lnSpc>
              <a:spcBef>
                <a:spcPts val="0"/>
              </a:spcBef>
              <a:spcAft>
                <a:spcPts val="0"/>
              </a:spcAft>
              <a:buClr>
                <a:srgbClr val="272525"/>
              </a:buClr>
              <a:buSzPts val="2200"/>
              <a:buFont typeface="Inter"/>
              <a:buNone/>
            </a:pPr>
            <a:r>
              <a:t/>
            </a:r>
            <a:endParaRPr sz="2163">
              <a:solidFill>
                <a:srgbClr val="013362"/>
              </a:solidFill>
              <a:latin typeface="Poppins Light"/>
              <a:ea typeface="Poppins Light"/>
              <a:cs typeface="Poppins Light"/>
              <a:sym typeface="Poppins Light"/>
            </a:endParaRPr>
          </a:p>
        </p:txBody>
      </p:sp>
      <p:sp>
        <p:nvSpPr>
          <p:cNvPr id="179" name="Google Shape;179;g362e3a03d35_0_9"/>
          <p:cNvSpPr/>
          <p:nvPr/>
        </p:nvSpPr>
        <p:spPr>
          <a:xfrm>
            <a:off x="12856451" y="3428999"/>
            <a:ext cx="3721200" cy="46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Clr>
                <a:schemeClr val="dk1"/>
              </a:buClr>
              <a:buSzPts val="1100"/>
              <a:buFont typeface="Arial"/>
              <a:buNone/>
            </a:pPr>
            <a:r>
              <a:rPr b="1" lang="en-US" sz="2163">
                <a:solidFill>
                  <a:srgbClr val="013362"/>
                </a:solidFill>
                <a:latin typeface="Poppins"/>
                <a:ea typeface="Poppins"/>
                <a:cs typeface="Poppins"/>
                <a:sym typeface="Poppins"/>
              </a:rPr>
              <a:t>Ataques de falsificación de solicitudes entre sitios </a:t>
            </a:r>
            <a:endParaRPr b="0" i="0" sz="2900" u="none" cap="none" strike="noStrike">
              <a:solidFill>
                <a:srgbClr val="000000"/>
              </a:solidFill>
              <a:latin typeface="Arial"/>
              <a:ea typeface="Arial"/>
              <a:cs typeface="Arial"/>
              <a:sym typeface="Arial"/>
            </a:endParaRPr>
          </a:p>
        </p:txBody>
      </p:sp>
      <p:sp>
        <p:nvSpPr>
          <p:cNvPr id="180" name="Google Shape;180;g362e3a03d35_0_9"/>
          <p:cNvSpPr/>
          <p:nvPr/>
        </p:nvSpPr>
        <p:spPr>
          <a:xfrm>
            <a:off x="12892338" y="4317153"/>
            <a:ext cx="3757200" cy="4845000"/>
          </a:xfrm>
          <a:prstGeom prst="rect">
            <a:avLst/>
          </a:prstGeom>
          <a:noFill/>
          <a:ln>
            <a:noFill/>
          </a:ln>
        </p:spPr>
        <p:txBody>
          <a:bodyPr anchorCtr="0" anchor="t" bIns="0" lIns="0" spcFirstLastPara="1" rIns="0" wrap="square" tIns="0">
            <a:noAutofit/>
          </a:bodyPr>
          <a:lstStyle/>
          <a:p>
            <a:pPr indent="0" lvl="0" marL="0" rtl="0" algn="l">
              <a:lnSpc>
                <a:spcPct val="140027"/>
              </a:lnSpc>
              <a:spcBef>
                <a:spcPts val="0"/>
              </a:spcBef>
              <a:spcAft>
                <a:spcPts val="0"/>
              </a:spcAft>
              <a:buClr>
                <a:schemeClr val="dk1"/>
              </a:buClr>
              <a:buSzPts val="1100"/>
              <a:buFont typeface="Arial"/>
              <a:buNone/>
            </a:pPr>
            <a:r>
              <a:rPr lang="en-US" sz="2163">
                <a:solidFill>
                  <a:srgbClr val="013362"/>
                </a:solidFill>
                <a:latin typeface="Poppins Light"/>
                <a:ea typeface="Poppins Light"/>
                <a:cs typeface="Poppins Light"/>
                <a:sym typeface="Poppins Light"/>
              </a:rPr>
              <a:t>E</a:t>
            </a:r>
            <a:r>
              <a:rPr lang="en-US" sz="2163">
                <a:solidFill>
                  <a:srgbClr val="013362"/>
                </a:solidFill>
                <a:latin typeface="Poppins Light"/>
                <a:ea typeface="Poppins Light"/>
                <a:cs typeface="Poppins Light"/>
                <a:sym typeface="Poppins Light"/>
              </a:rPr>
              <a:t>stos ataques explotan la confianza establecida entre un usuario y un sitio web, engañando a los usuarios para que realicen acciones sin su conocimiento o consentimiento.</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4" name="Shape 184"/>
        <p:cNvGrpSpPr/>
        <p:nvPr/>
      </p:nvGrpSpPr>
      <p:grpSpPr>
        <a:xfrm>
          <a:off x="0" y="0"/>
          <a:ext cx="0" cy="0"/>
          <a:chOff x="0" y="0"/>
          <a:chExt cx="0" cy="0"/>
        </a:xfrm>
      </p:grpSpPr>
      <p:grpSp>
        <p:nvGrpSpPr>
          <p:cNvPr id="185" name="Google Shape;185;g360abbddf69_0_26"/>
          <p:cNvGrpSpPr/>
          <p:nvPr/>
        </p:nvGrpSpPr>
        <p:grpSpPr>
          <a:xfrm>
            <a:off x="-524975" y="2646499"/>
            <a:ext cx="19457594" cy="4853776"/>
            <a:chOff x="0" y="-76200"/>
            <a:chExt cx="5124600" cy="536400"/>
          </a:xfrm>
        </p:grpSpPr>
        <p:sp>
          <p:nvSpPr>
            <p:cNvPr id="186" name="Google Shape;186;g360abbddf69_0_2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7" name="Google Shape;187;g360abbddf69_0_2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60abbddf69_0_26"/>
          <p:cNvSpPr txBox="1"/>
          <p:nvPr/>
        </p:nvSpPr>
        <p:spPr>
          <a:xfrm>
            <a:off x="1599296" y="3670989"/>
            <a:ext cx="15089400" cy="38160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6524" u="none" cap="none" strike="noStrike">
                <a:solidFill>
                  <a:srgbClr val="FDFDFD"/>
                </a:solidFill>
                <a:latin typeface="Poppins"/>
                <a:ea typeface="Poppins"/>
                <a:cs typeface="Poppins"/>
                <a:sym typeface="Poppins"/>
              </a:rPr>
              <a:t>Principios clave para el diseño de una arquitectura de software segura</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2" name="Shape 192"/>
        <p:cNvGrpSpPr/>
        <p:nvPr/>
      </p:nvGrpSpPr>
      <p:grpSpPr>
        <a:xfrm>
          <a:off x="0" y="0"/>
          <a:ext cx="0" cy="0"/>
          <a:chOff x="0" y="0"/>
          <a:chExt cx="0" cy="0"/>
        </a:xfrm>
      </p:grpSpPr>
      <p:grpSp>
        <p:nvGrpSpPr>
          <p:cNvPr id="193" name="Google Shape;193;g360abbddf69_0_33"/>
          <p:cNvGrpSpPr/>
          <p:nvPr/>
        </p:nvGrpSpPr>
        <p:grpSpPr>
          <a:xfrm>
            <a:off x="-584801" y="364850"/>
            <a:ext cx="19457594" cy="2036657"/>
            <a:chOff x="0" y="-76200"/>
            <a:chExt cx="5124600" cy="536400"/>
          </a:xfrm>
        </p:grpSpPr>
        <p:sp>
          <p:nvSpPr>
            <p:cNvPr id="194" name="Google Shape;194;g360abbddf69_0_3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5" name="Google Shape;195;g360abbddf69_0_3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g360abbddf69_0_3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Diseño Seguro</a:t>
            </a:r>
            <a:endParaRPr b="0" i="0" sz="100" u="none" cap="none" strike="noStrike">
              <a:solidFill>
                <a:srgbClr val="000000"/>
              </a:solidFill>
              <a:latin typeface="Arial"/>
              <a:ea typeface="Arial"/>
              <a:cs typeface="Arial"/>
              <a:sym typeface="Arial"/>
            </a:endParaRPr>
          </a:p>
        </p:txBody>
      </p:sp>
      <p:sp>
        <p:nvSpPr>
          <p:cNvPr id="197" name="Google Shape;197;g360abbddf69_0_33"/>
          <p:cNvSpPr txBox="1"/>
          <p:nvPr/>
        </p:nvSpPr>
        <p:spPr>
          <a:xfrm>
            <a:off x="1028700" y="2969245"/>
            <a:ext cx="16230600" cy="53736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4363" u="none" cap="none" strike="noStrike">
                <a:solidFill>
                  <a:srgbClr val="013362"/>
                </a:solidFill>
                <a:latin typeface="Poppins Light"/>
                <a:ea typeface="Poppins Light"/>
                <a:cs typeface="Poppins Light"/>
                <a:sym typeface="Poppins Light"/>
              </a:rPr>
              <a:t>El diseño exitoso de una arquitectura de software segura se basa en un conjunto de principios fundamentales que ayudan a guiar la estructura y las opciones de diseño. La implementación de estos principios permitirá a los desarrolladores trabajar para crear aplicaciones más seguras.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1" name="Shape 201"/>
        <p:cNvGrpSpPr/>
        <p:nvPr/>
      </p:nvGrpSpPr>
      <p:grpSpPr>
        <a:xfrm>
          <a:off x="0" y="0"/>
          <a:ext cx="0" cy="0"/>
          <a:chOff x="0" y="0"/>
          <a:chExt cx="0" cy="0"/>
        </a:xfrm>
      </p:grpSpPr>
      <p:grpSp>
        <p:nvGrpSpPr>
          <p:cNvPr id="202" name="Google Shape;202;g362e3a03d35_0_555"/>
          <p:cNvGrpSpPr/>
          <p:nvPr/>
        </p:nvGrpSpPr>
        <p:grpSpPr>
          <a:xfrm>
            <a:off x="-584801" y="364850"/>
            <a:ext cx="19457594" cy="2036657"/>
            <a:chOff x="0" y="-76200"/>
            <a:chExt cx="5124600" cy="536400"/>
          </a:xfrm>
        </p:grpSpPr>
        <p:sp>
          <p:nvSpPr>
            <p:cNvPr id="203" name="Google Shape;203;g362e3a03d35_0_55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04" name="Google Shape;204;g362e3a03d35_0_55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g362e3a03d35_0_55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Diseño Seguro</a:t>
            </a:r>
            <a:endParaRPr b="0" i="0" sz="100" u="none" cap="none" strike="noStrike">
              <a:solidFill>
                <a:srgbClr val="000000"/>
              </a:solidFill>
              <a:latin typeface="Arial"/>
              <a:ea typeface="Arial"/>
              <a:cs typeface="Arial"/>
              <a:sym typeface="Arial"/>
            </a:endParaRPr>
          </a:p>
        </p:txBody>
      </p:sp>
      <p:pic>
        <p:nvPicPr>
          <p:cNvPr id="206" name="Google Shape;206;g362e3a03d35_0_555"/>
          <p:cNvPicPr preferRelativeResize="0"/>
          <p:nvPr/>
        </p:nvPicPr>
        <p:blipFill>
          <a:blip r:embed="rId3">
            <a:alphaModFix/>
          </a:blip>
          <a:stretch>
            <a:fillRect/>
          </a:stretch>
        </p:blipFill>
        <p:spPr>
          <a:xfrm>
            <a:off x="999038" y="3428994"/>
            <a:ext cx="16121274" cy="4532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0" name="Shape 210"/>
        <p:cNvGrpSpPr/>
        <p:nvPr/>
      </p:nvGrpSpPr>
      <p:grpSpPr>
        <a:xfrm>
          <a:off x="0" y="0"/>
          <a:ext cx="0" cy="0"/>
          <a:chOff x="0" y="0"/>
          <a:chExt cx="0" cy="0"/>
        </a:xfrm>
      </p:grpSpPr>
      <p:grpSp>
        <p:nvGrpSpPr>
          <p:cNvPr id="211" name="Google Shape;211;g362e3a03d35_0_565"/>
          <p:cNvGrpSpPr/>
          <p:nvPr/>
        </p:nvGrpSpPr>
        <p:grpSpPr>
          <a:xfrm>
            <a:off x="-584801" y="364850"/>
            <a:ext cx="19457594" cy="2036657"/>
            <a:chOff x="0" y="-76200"/>
            <a:chExt cx="5124600" cy="536400"/>
          </a:xfrm>
        </p:grpSpPr>
        <p:sp>
          <p:nvSpPr>
            <p:cNvPr id="212" name="Google Shape;212;g362e3a03d35_0_56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13" name="Google Shape;213;g362e3a03d35_0_56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g362e3a03d35_0_56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Principios de seguridad más comunes</a:t>
            </a:r>
            <a:endParaRPr b="0" i="0" sz="100" u="none" cap="none" strike="noStrike">
              <a:solidFill>
                <a:srgbClr val="000000"/>
              </a:solidFill>
              <a:latin typeface="Arial"/>
              <a:ea typeface="Arial"/>
              <a:cs typeface="Arial"/>
              <a:sym typeface="Arial"/>
            </a:endParaRPr>
          </a:p>
        </p:txBody>
      </p:sp>
      <p:sp>
        <p:nvSpPr>
          <p:cNvPr id="215" name="Google Shape;215;g362e3a03d35_0_565"/>
          <p:cNvSpPr txBox="1"/>
          <p:nvPr/>
        </p:nvSpPr>
        <p:spPr>
          <a:xfrm>
            <a:off x="938975" y="2774875"/>
            <a:ext cx="7022400" cy="70506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None/>
            </a:pPr>
            <a:r>
              <a:rPr b="1" i="0" lang="en-US" sz="3463" u="none" cap="none" strike="noStrike">
                <a:solidFill>
                  <a:srgbClr val="013362"/>
                </a:solidFill>
                <a:latin typeface="Poppins"/>
                <a:ea typeface="Poppins"/>
                <a:cs typeface="Poppins"/>
                <a:sym typeface="Poppins"/>
              </a:rPr>
              <a:t>Principio de privilegio mínimo: </a:t>
            </a:r>
            <a:endParaRPr b="1" i="0" sz="3463" u="none" cap="none" strike="noStrike">
              <a:solidFill>
                <a:srgbClr val="013362"/>
              </a:solidFill>
              <a:latin typeface="Poppins"/>
              <a:ea typeface="Poppins"/>
              <a:cs typeface="Poppins"/>
              <a:sym typeface="Poppins"/>
            </a:endParaRPr>
          </a:p>
          <a:p>
            <a:pPr indent="0" lvl="0" marL="0" marR="0" rtl="0" algn="just">
              <a:lnSpc>
                <a:spcPct val="140027"/>
              </a:lnSpc>
              <a:spcBef>
                <a:spcPts val="0"/>
              </a:spcBef>
              <a:spcAft>
                <a:spcPts val="0"/>
              </a:spcAft>
              <a:buNone/>
            </a:pPr>
            <a:r>
              <a:rPr b="0" i="0" lang="en-US" sz="3463" u="none" cap="none" strike="noStrike">
                <a:solidFill>
                  <a:srgbClr val="013362"/>
                </a:solidFill>
                <a:latin typeface="Poppins Light"/>
                <a:ea typeface="Poppins Light"/>
                <a:cs typeface="Poppins Light"/>
                <a:sym typeface="Poppins Light"/>
              </a:rPr>
              <a:t>cada componente de software debe tener el conjunto mínimo de privilegios necesarios para realizar su función. Limitar los privilegios y el acceso de cada componente al mínimo reduce el daño potencial si se produce una violación de seguridad.</a:t>
            </a:r>
            <a:endParaRPr b="0" i="0" sz="3463" u="none" cap="none" strike="noStrike">
              <a:solidFill>
                <a:srgbClr val="013362"/>
              </a:solidFill>
              <a:latin typeface="Poppins Light"/>
              <a:ea typeface="Poppins Light"/>
              <a:cs typeface="Poppins Light"/>
              <a:sym typeface="Poppins Light"/>
            </a:endParaRPr>
          </a:p>
          <a:p>
            <a:pPr indent="0" lvl="0" marL="457200" marR="0" rtl="0" algn="l">
              <a:lnSpc>
                <a:spcPct val="140027"/>
              </a:lnSpc>
              <a:spcBef>
                <a:spcPts val="0"/>
              </a:spcBef>
              <a:spcAft>
                <a:spcPts val="0"/>
              </a:spcAft>
              <a:buNone/>
            </a:pPr>
            <a:r>
              <a:t/>
            </a:r>
            <a:endParaRPr b="0" i="0" sz="2163" u="none" cap="none" strike="noStrike">
              <a:solidFill>
                <a:srgbClr val="013362"/>
              </a:solidFill>
              <a:latin typeface="Poppins Light"/>
              <a:ea typeface="Poppins Light"/>
              <a:cs typeface="Poppins Light"/>
              <a:sym typeface="Poppins Light"/>
            </a:endParaRPr>
          </a:p>
        </p:txBody>
      </p:sp>
      <p:pic>
        <p:nvPicPr>
          <p:cNvPr id="216" name="Google Shape;216;g362e3a03d35_0_565"/>
          <p:cNvPicPr preferRelativeResize="0"/>
          <p:nvPr/>
        </p:nvPicPr>
        <p:blipFill rotWithShape="1">
          <a:blip r:embed="rId3">
            <a:alphaModFix/>
          </a:blip>
          <a:srcRect b="0" l="0" r="20748" t="6445"/>
          <a:stretch/>
        </p:blipFill>
        <p:spPr>
          <a:xfrm>
            <a:off x="8692200" y="3342525"/>
            <a:ext cx="10064548" cy="51977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0" name="Shape 220"/>
        <p:cNvGrpSpPr/>
        <p:nvPr/>
      </p:nvGrpSpPr>
      <p:grpSpPr>
        <a:xfrm>
          <a:off x="0" y="0"/>
          <a:ext cx="0" cy="0"/>
          <a:chOff x="0" y="0"/>
          <a:chExt cx="0" cy="0"/>
        </a:xfrm>
      </p:grpSpPr>
      <p:grpSp>
        <p:nvGrpSpPr>
          <p:cNvPr id="221" name="Google Shape;221;g362e3a03d35_0_573"/>
          <p:cNvGrpSpPr/>
          <p:nvPr/>
        </p:nvGrpSpPr>
        <p:grpSpPr>
          <a:xfrm>
            <a:off x="-584801" y="364850"/>
            <a:ext cx="19457594" cy="2036657"/>
            <a:chOff x="0" y="-76200"/>
            <a:chExt cx="5124600" cy="536400"/>
          </a:xfrm>
        </p:grpSpPr>
        <p:sp>
          <p:nvSpPr>
            <p:cNvPr id="222" name="Google Shape;222;g362e3a03d35_0_5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23" name="Google Shape;223;g362e3a03d35_0_5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g362e3a03d35_0_57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Principios de seguridad más comunes</a:t>
            </a:r>
            <a:endParaRPr b="0" i="0" sz="100" u="none" cap="none" strike="noStrike">
              <a:solidFill>
                <a:srgbClr val="000000"/>
              </a:solidFill>
              <a:latin typeface="Arial"/>
              <a:ea typeface="Arial"/>
              <a:cs typeface="Arial"/>
              <a:sym typeface="Arial"/>
            </a:endParaRPr>
          </a:p>
        </p:txBody>
      </p:sp>
      <p:sp>
        <p:nvSpPr>
          <p:cNvPr id="225" name="Google Shape;225;g362e3a03d35_0_573"/>
          <p:cNvSpPr txBox="1"/>
          <p:nvPr/>
        </p:nvSpPr>
        <p:spPr>
          <a:xfrm>
            <a:off x="281300" y="2772600"/>
            <a:ext cx="10108500" cy="7514400"/>
          </a:xfrm>
          <a:prstGeom prst="rect">
            <a:avLst/>
          </a:prstGeom>
          <a:noFill/>
          <a:ln>
            <a:noFill/>
          </a:ln>
        </p:spPr>
        <p:txBody>
          <a:bodyPr anchorCtr="0" anchor="t" bIns="0" lIns="0" spcFirstLastPara="1" rIns="0" wrap="square" tIns="0">
            <a:spAutoFit/>
          </a:bodyPr>
          <a:lstStyle/>
          <a:p>
            <a:pPr indent="-391350" lvl="0" marL="457200" marR="0" rtl="0" algn="just">
              <a:lnSpc>
                <a:spcPct val="140027"/>
              </a:lnSpc>
              <a:spcBef>
                <a:spcPts val="0"/>
              </a:spcBef>
              <a:spcAft>
                <a:spcPts val="0"/>
              </a:spcAft>
              <a:buClr>
                <a:srgbClr val="013362"/>
              </a:buClr>
              <a:buSzPts val="2563"/>
              <a:buChar char="●"/>
            </a:pPr>
            <a:r>
              <a:rPr b="1" i="0" lang="en-US" sz="2563" u="none" cap="none" strike="noStrike">
                <a:solidFill>
                  <a:srgbClr val="013362"/>
                </a:solidFill>
                <a:latin typeface="Poppins"/>
                <a:ea typeface="Poppins"/>
                <a:cs typeface="Poppins"/>
                <a:sym typeface="Poppins"/>
              </a:rPr>
              <a:t>Manejo adecuado de datos confidenciales: </a:t>
            </a:r>
            <a:r>
              <a:rPr b="0" i="0" lang="en-US" sz="2563" u="none" cap="none" strike="noStrike">
                <a:solidFill>
                  <a:srgbClr val="013362"/>
                </a:solidFill>
                <a:latin typeface="Poppins Light"/>
                <a:ea typeface="Poppins Light"/>
                <a:cs typeface="Poppins Light"/>
                <a:sym typeface="Poppins Light"/>
              </a:rPr>
              <a:t>los datos confidenciales deben tratarse con especial cuidado, por ejemplo mediante cifrado, tokenización, almacenamiento adecuado y transmisión segura. Esto garantiza que incluso si un atacante obtiene acceso a los datos, estos seguirán siendo ininteligibles e inútiles.</a:t>
            </a:r>
            <a:endParaRPr b="0" i="0" sz="2563" u="none" cap="none" strike="noStrike">
              <a:solidFill>
                <a:srgbClr val="013362"/>
              </a:solidFill>
              <a:latin typeface="Poppins Light"/>
              <a:ea typeface="Poppins Light"/>
              <a:cs typeface="Poppins Light"/>
              <a:sym typeface="Poppins Light"/>
            </a:endParaRPr>
          </a:p>
          <a:p>
            <a:pPr indent="-391350" lvl="0" marL="457200" marR="0" rtl="0" algn="just">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Prácticas de codificación segura:</a:t>
            </a:r>
            <a:r>
              <a:rPr b="0" i="0" lang="en-US" sz="2563" u="none" cap="none" strike="noStrike">
                <a:solidFill>
                  <a:srgbClr val="013362"/>
                </a:solidFill>
                <a:latin typeface="Poppins Light"/>
                <a:ea typeface="Poppins Light"/>
                <a:cs typeface="Poppins Light"/>
                <a:sym typeface="Poppins Light"/>
              </a:rPr>
              <a:t> los desarrolladores deben seguir prácticas de codificación segura que reduzcan el riesgo de vulnerabilidades en el código. Esto incluye validar y desinfectar correctamente las entradas del usuario, manejar adecuadamente los errores y seguir estándares y pautas de codificación que promuevan la seguridad.</a:t>
            </a:r>
            <a:endParaRPr b="0" i="0" sz="25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None/>
            </a:pPr>
            <a:r>
              <a:t/>
            </a:r>
            <a:endParaRPr b="0" i="0" sz="2163" u="none" cap="none" strike="noStrike">
              <a:solidFill>
                <a:srgbClr val="013362"/>
              </a:solidFill>
              <a:latin typeface="Poppins Light"/>
              <a:ea typeface="Poppins Light"/>
              <a:cs typeface="Poppins Light"/>
              <a:sym typeface="Poppins Light"/>
            </a:endParaRPr>
          </a:p>
        </p:txBody>
      </p:sp>
      <p:pic>
        <p:nvPicPr>
          <p:cNvPr id="226" name="Google Shape;226;g362e3a03d35_0_573"/>
          <p:cNvPicPr preferRelativeResize="0"/>
          <p:nvPr/>
        </p:nvPicPr>
        <p:blipFill>
          <a:blip r:embed="rId3">
            <a:alphaModFix/>
          </a:blip>
          <a:stretch>
            <a:fillRect/>
          </a:stretch>
        </p:blipFill>
        <p:spPr>
          <a:xfrm>
            <a:off x="10807525" y="3428988"/>
            <a:ext cx="7339775" cy="4857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0" name="Shape 230"/>
        <p:cNvGrpSpPr/>
        <p:nvPr/>
      </p:nvGrpSpPr>
      <p:grpSpPr>
        <a:xfrm>
          <a:off x="0" y="0"/>
          <a:ext cx="0" cy="0"/>
          <a:chOff x="0" y="0"/>
          <a:chExt cx="0" cy="0"/>
        </a:xfrm>
      </p:grpSpPr>
      <p:grpSp>
        <p:nvGrpSpPr>
          <p:cNvPr id="231" name="Google Shape;231;g362e3a03d35_0_583"/>
          <p:cNvGrpSpPr/>
          <p:nvPr/>
        </p:nvGrpSpPr>
        <p:grpSpPr>
          <a:xfrm>
            <a:off x="-584801" y="364850"/>
            <a:ext cx="19457594" cy="2036657"/>
            <a:chOff x="0" y="-76200"/>
            <a:chExt cx="5124600" cy="536400"/>
          </a:xfrm>
        </p:grpSpPr>
        <p:sp>
          <p:nvSpPr>
            <p:cNvPr id="232" name="Google Shape;232;g362e3a03d35_0_58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33" name="Google Shape;233;g362e3a03d35_0_58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4" name="Google Shape;234;g362e3a03d35_0_58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Principios de seguridad más comunes</a:t>
            </a:r>
            <a:endParaRPr b="0" i="0" sz="100" u="none" cap="none" strike="noStrike">
              <a:solidFill>
                <a:srgbClr val="000000"/>
              </a:solidFill>
              <a:latin typeface="Arial"/>
              <a:ea typeface="Arial"/>
              <a:cs typeface="Arial"/>
              <a:sym typeface="Arial"/>
            </a:endParaRPr>
          </a:p>
        </p:txBody>
      </p:sp>
      <p:sp>
        <p:nvSpPr>
          <p:cNvPr id="235" name="Google Shape;235;g362e3a03d35_0_583"/>
          <p:cNvSpPr txBox="1"/>
          <p:nvPr/>
        </p:nvSpPr>
        <p:spPr>
          <a:xfrm>
            <a:off x="298150" y="2555650"/>
            <a:ext cx="10007400" cy="7571700"/>
          </a:xfrm>
          <a:prstGeom prst="rect">
            <a:avLst/>
          </a:prstGeom>
          <a:noFill/>
          <a:ln>
            <a:noFill/>
          </a:ln>
        </p:spPr>
        <p:txBody>
          <a:bodyPr anchorCtr="0" anchor="t" bIns="0" lIns="0" spcFirstLastPara="1" rIns="0" wrap="square" tIns="0">
            <a:spAutoFit/>
          </a:bodyPr>
          <a:lstStyle/>
          <a:p>
            <a:pPr indent="-404050" lvl="0" marL="457200" marR="0" rtl="0" algn="just">
              <a:lnSpc>
                <a:spcPct val="140027"/>
              </a:lnSpc>
              <a:spcBef>
                <a:spcPts val="0"/>
              </a:spcBef>
              <a:spcAft>
                <a:spcPts val="0"/>
              </a:spcAft>
              <a:buClr>
                <a:srgbClr val="013362"/>
              </a:buClr>
              <a:buSzPts val="2763"/>
              <a:buFont typeface="Poppins Light"/>
              <a:buChar char="●"/>
            </a:pPr>
            <a:r>
              <a:rPr b="1" i="0" lang="en-US" sz="2763" u="none" cap="none" strike="noStrike">
                <a:solidFill>
                  <a:srgbClr val="013362"/>
                </a:solidFill>
                <a:latin typeface="Poppins"/>
                <a:ea typeface="Poppins"/>
                <a:cs typeface="Poppins"/>
                <a:sym typeface="Poppins"/>
              </a:rPr>
              <a:t>Implementación de controles de acceso </a:t>
            </a:r>
            <a:endParaRPr b="1" i="0" sz="2763" u="none" cap="none" strike="noStrike">
              <a:solidFill>
                <a:srgbClr val="013362"/>
              </a:solidFill>
              <a:latin typeface="Poppins"/>
              <a:ea typeface="Poppins"/>
              <a:cs typeface="Poppins"/>
              <a:sym typeface="Poppins"/>
            </a:endParaRPr>
          </a:p>
          <a:p>
            <a:pPr indent="0" lvl="0" marL="0" marR="0" rtl="0" algn="just">
              <a:lnSpc>
                <a:spcPct val="140027"/>
              </a:lnSpc>
              <a:spcBef>
                <a:spcPts val="0"/>
              </a:spcBef>
              <a:spcAft>
                <a:spcPts val="0"/>
              </a:spcAft>
              <a:buNone/>
            </a:pPr>
            <a:r>
              <a:rPr b="0" i="0" lang="en-US" sz="2763" u="none" cap="none" strike="noStrike">
                <a:solidFill>
                  <a:srgbClr val="013362"/>
                </a:solidFill>
                <a:latin typeface="Poppins Light"/>
                <a:ea typeface="Poppins Light"/>
                <a:cs typeface="Poppins Light"/>
                <a:sym typeface="Poppins Light"/>
              </a:rPr>
              <a:t>Asegúrese de que existan controles de acceso adecuados, haciendo cumplir la segregación de funciones y el principio de privilegio mínimo. Los controles de acceso deben ser manejables y auditables para rastrear quién tiene acceso al sistema en un momento dado.</a:t>
            </a:r>
            <a:endParaRPr b="0" i="0" sz="2763" u="none" cap="none" strike="noStrike">
              <a:solidFill>
                <a:srgbClr val="013362"/>
              </a:solidFill>
              <a:latin typeface="Poppins Light"/>
              <a:ea typeface="Poppins Light"/>
              <a:cs typeface="Poppins Light"/>
              <a:sym typeface="Poppins Light"/>
            </a:endParaRPr>
          </a:p>
          <a:p>
            <a:pPr indent="-404050" lvl="0" marL="457200" marR="0" rtl="0" algn="just">
              <a:lnSpc>
                <a:spcPct val="140027"/>
              </a:lnSpc>
              <a:spcBef>
                <a:spcPts val="0"/>
              </a:spcBef>
              <a:spcAft>
                <a:spcPts val="0"/>
              </a:spcAft>
              <a:buClr>
                <a:srgbClr val="013362"/>
              </a:buClr>
              <a:buSzPts val="2763"/>
              <a:buFont typeface="Poppins Light"/>
              <a:buChar char="●"/>
            </a:pPr>
            <a:r>
              <a:rPr b="1" i="0" lang="en-US" sz="2763" u="none" cap="none" strike="noStrike">
                <a:solidFill>
                  <a:srgbClr val="013362"/>
                </a:solidFill>
                <a:latin typeface="Poppins"/>
                <a:ea typeface="Poppins"/>
                <a:cs typeface="Poppins"/>
                <a:sym typeface="Poppins"/>
              </a:rPr>
              <a:t>Adoptar una mentalidad que priorice la seguridad </a:t>
            </a:r>
            <a:endParaRPr b="1" i="0" sz="2763" u="none" cap="none" strike="noStrike">
              <a:solidFill>
                <a:srgbClr val="013362"/>
              </a:solidFill>
              <a:latin typeface="Poppins"/>
              <a:ea typeface="Poppins"/>
              <a:cs typeface="Poppins"/>
              <a:sym typeface="Poppins"/>
            </a:endParaRPr>
          </a:p>
          <a:p>
            <a:pPr indent="0" lvl="0" marL="0" marR="0" rtl="0" algn="just">
              <a:lnSpc>
                <a:spcPct val="140027"/>
              </a:lnSpc>
              <a:spcBef>
                <a:spcPts val="0"/>
              </a:spcBef>
              <a:spcAft>
                <a:spcPts val="0"/>
              </a:spcAft>
              <a:buNone/>
            </a:pPr>
            <a:r>
              <a:rPr lang="en-US" sz="2763">
                <a:solidFill>
                  <a:srgbClr val="013362"/>
                </a:solidFill>
                <a:latin typeface="Poppins Light"/>
                <a:ea typeface="Poppins Light"/>
                <a:cs typeface="Poppins Light"/>
                <a:sym typeface="Poppins Light"/>
              </a:rPr>
              <a:t>L</a:t>
            </a:r>
            <a:r>
              <a:rPr b="0" i="0" lang="en-US" sz="2763" u="none" cap="none" strike="noStrike">
                <a:solidFill>
                  <a:srgbClr val="013362"/>
                </a:solidFill>
                <a:latin typeface="Poppins Light"/>
                <a:ea typeface="Poppins Light"/>
                <a:cs typeface="Poppins Light"/>
                <a:sym typeface="Poppins Light"/>
              </a:rPr>
              <a:t>a seguridad debe ser una parte integral del proceso de desarrollo de software, y los desarrolladores deben aprender y mantenerse actualizados continuamente sobre las amenazas y las mejores prácticas de seguridad.</a:t>
            </a:r>
            <a:endParaRPr b="0" i="0" sz="2763" u="none" cap="none" strike="noStrike">
              <a:solidFill>
                <a:srgbClr val="013362"/>
              </a:solidFill>
              <a:latin typeface="Poppins Light"/>
              <a:ea typeface="Poppins Light"/>
              <a:cs typeface="Poppins Light"/>
              <a:sym typeface="Poppins Light"/>
            </a:endParaRPr>
          </a:p>
        </p:txBody>
      </p:sp>
      <p:pic>
        <p:nvPicPr>
          <p:cNvPr id="236" name="Google Shape;236;g362e3a03d35_0_583"/>
          <p:cNvPicPr preferRelativeResize="0"/>
          <p:nvPr/>
        </p:nvPicPr>
        <p:blipFill rotWithShape="1">
          <a:blip r:embed="rId3">
            <a:alphaModFix/>
          </a:blip>
          <a:srcRect b="0" l="18213" r="22344" t="0"/>
          <a:stretch/>
        </p:blipFill>
        <p:spPr>
          <a:xfrm>
            <a:off x="11469200" y="3027850"/>
            <a:ext cx="5666275" cy="58125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40" name="Shape 240"/>
        <p:cNvGrpSpPr/>
        <p:nvPr/>
      </p:nvGrpSpPr>
      <p:grpSpPr>
        <a:xfrm>
          <a:off x="0" y="0"/>
          <a:ext cx="0" cy="0"/>
          <a:chOff x="0" y="0"/>
          <a:chExt cx="0" cy="0"/>
        </a:xfrm>
      </p:grpSpPr>
      <p:grpSp>
        <p:nvGrpSpPr>
          <p:cNvPr id="241" name="Google Shape;241;g35f1b241ad4_0_73"/>
          <p:cNvGrpSpPr/>
          <p:nvPr/>
        </p:nvGrpSpPr>
        <p:grpSpPr>
          <a:xfrm>
            <a:off x="-584801" y="364850"/>
            <a:ext cx="19457594" cy="2036657"/>
            <a:chOff x="0" y="-76200"/>
            <a:chExt cx="5124600" cy="536400"/>
          </a:xfrm>
        </p:grpSpPr>
        <p:sp>
          <p:nvSpPr>
            <p:cNvPr id="242" name="Google Shape;242;g35f1b241ad4_0_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43" name="Google Shape;243;g35f1b241ad4_0_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g35f1b241ad4_0_73"/>
          <p:cNvSpPr txBox="1"/>
          <p:nvPr/>
        </p:nvSpPr>
        <p:spPr>
          <a:xfrm>
            <a:off x="-232650" y="863000"/>
            <a:ext cx="18753300" cy="1597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4324" u="none" cap="none" strike="noStrike">
                <a:solidFill>
                  <a:srgbClr val="FDFDFD"/>
                </a:solidFill>
                <a:latin typeface="Poppins"/>
                <a:ea typeface="Poppins"/>
                <a:cs typeface="Poppins"/>
                <a:sym typeface="Poppins"/>
              </a:rPr>
              <a:t>Integración de la seguridad en el ciclo de vida del desarrollo de software</a:t>
            </a:r>
            <a:endParaRPr b="1" i="0" sz="4324" u="none" cap="none" strike="noStrike">
              <a:solidFill>
                <a:srgbClr val="FDFDFD"/>
              </a:solidFill>
              <a:latin typeface="Poppins"/>
              <a:ea typeface="Poppins"/>
              <a:cs typeface="Poppins"/>
              <a:sym typeface="Poppins"/>
            </a:endParaRPr>
          </a:p>
        </p:txBody>
      </p:sp>
      <p:sp>
        <p:nvSpPr>
          <p:cNvPr id="245" name="Google Shape;245;g35f1b241ad4_0_73"/>
          <p:cNvSpPr txBox="1"/>
          <p:nvPr/>
        </p:nvSpPr>
        <p:spPr>
          <a:xfrm>
            <a:off x="1028700" y="2969250"/>
            <a:ext cx="9276000" cy="55650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Integrar la seguridad en el ciclo de vida de desarrollo de software (SDLC) es esencial para crear aplicaciones confiables y seguras y proteger datos confidenciales de diversas amenazas. Al considerar las medidas de seguridad en cada etapa del SDLC, los desarrolladores pueden establecer una base sólida para un sistema de software resistente a los ataques.</a:t>
            </a:r>
            <a:endParaRPr b="0" i="0" sz="1400" u="none" cap="none" strike="noStrike">
              <a:solidFill>
                <a:srgbClr val="000000"/>
              </a:solidFill>
              <a:latin typeface="Arial"/>
              <a:ea typeface="Arial"/>
              <a:cs typeface="Arial"/>
              <a:sym typeface="Arial"/>
            </a:endParaRPr>
          </a:p>
        </p:txBody>
      </p:sp>
      <p:pic>
        <p:nvPicPr>
          <p:cNvPr id="246" name="Google Shape;246;g35f1b241ad4_0_73"/>
          <p:cNvPicPr preferRelativeResize="0"/>
          <p:nvPr/>
        </p:nvPicPr>
        <p:blipFill rotWithShape="1">
          <a:blip r:embed="rId3">
            <a:alphaModFix/>
          </a:blip>
          <a:srcRect b="0" l="0" r="0" t="0"/>
          <a:stretch/>
        </p:blipFill>
        <p:spPr>
          <a:xfrm>
            <a:off x="10457100" y="2612900"/>
            <a:ext cx="7578540" cy="75217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0" name="Shape 250"/>
        <p:cNvGrpSpPr/>
        <p:nvPr/>
      </p:nvGrpSpPr>
      <p:grpSpPr>
        <a:xfrm>
          <a:off x="0" y="0"/>
          <a:ext cx="0" cy="0"/>
          <a:chOff x="0" y="0"/>
          <a:chExt cx="0" cy="0"/>
        </a:xfrm>
      </p:grpSpPr>
      <p:grpSp>
        <p:nvGrpSpPr>
          <p:cNvPr id="251" name="Google Shape;251;g360abbddf69_0_56"/>
          <p:cNvGrpSpPr/>
          <p:nvPr/>
        </p:nvGrpSpPr>
        <p:grpSpPr>
          <a:xfrm>
            <a:off x="-584801" y="364850"/>
            <a:ext cx="19457594" cy="2036657"/>
            <a:chOff x="0" y="-76200"/>
            <a:chExt cx="5124600" cy="536400"/>
          </a:xfrm>
        </p:grpSpPr>
        <p:sp>
          <p:nvSpPr>
            <p:cNvPr id="252" name="Google Shape;252;g360abbddf69_0_5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53" name="Google Shape;253;g360abbddf69_0_5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4" name="Google Shape;254;g360abbddf69_0_56"/>
          <p:cNvSpPr txBox="1"/>
          <p:nvPr/>
        </p:nvSpPr>
        <p:spPr>
          <a:xfrm>
            <a:off x="-232650" y="863000"/>
            <a:ext cx="18753300" cy="1634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4424" u="none" cap="none" strike="noStrike">
                <a:solidFill>
                  <a:srgbClr val="FDFDFD"/>
                </a:solidFill>
                <a:latin typeface="Poppins"/>
                <a:ea typeface="Poppins"/>
                <a:cs typeface="Poppins"/>
                <a:sym typeface="Poppins"/>
              </a:rPr>
              <a:t>Utilizar una mentalidad que priorice la seguridad al diseñar software</a:t>
            </a:r>
            <a:endParaRPr b="0" i="0" sz="100" u="none" cap="none" strike="noStrike">
              <a:solidFill>
                <a:srgbClr val="000000"/>
              </a:solidFill>
              <a:latin typeface="Arial"/>
              <a:ea typeface="Arial"/>
              <a:cs typeface="Arial"/>
              <a:sym typeface="Arial"/>
            </a:endParaRPr>
          </a:p>
        </p:txBody>
      </p:sp>
      <p:sp>
        <p:nvSpPr>
          <p:cNvPr id="255" name="Google Shape;255;g360abbddf69_0_56"/>
          <p:cNvSpPr txBox="1"/>
          <p:nvPr/>
        </p:nvSpPr>
        <p:spPr>
          <a:xfrm>
            <a:off x="938975" y="2774875"/>
            <a:ext cx="16988400" cy="6393600"/>
          </a:xfrm>
          <a:prstGeom prst="rect">
            <a:avLst/>
          </a:prstGeom>
          <a:noFill/>
          <a:ln>
            <a:noFill/>
          </a:ln>
        </p:spPr>
        <p:txBody>
          <a:bodyPr anchorCtr="0" anchor="t" bIns="0" lIns="0" spcFirstLastPara="1" rIns="0" wrap="square" tIns="0">
            <a:spAutoFit/>
          </a:bodyPr>
          <a:lstStyle/>
          <a:p>
            <a:pPr indent="-365950" lvl="0" marL="457200" marR="0" rtl="0" algn="l">
              <a:lnSpc>
                <a:spcPct val="140027"/>
              </a:lnSpc>
              <a:spcBef>
                <a:spcPts val="0"/>
              </a:spcBef>
              <a:spcAft>
                <a:spcPts val="0"/>
              </a:spcAft>
              <a:buClr>
                <a:srgbClr val="013362"/>
              </a:buClr>
              <a:buSzPts val="2163"/>
              <a:buFont typeface="Poppins Light"/>
              <a:buChar char="●"/>
            </a:pPr>
            <a:r>
              <a:rPr b="1" i="0" lang="en-US" sz="2163" u="none" cap="none" strike="noStrike">
                <a:solidFill>
                  <a:srgbClr val="013362"/>
                </a:solidFill>
                <a:latin typeface="Poppins"/>
                <a:ea typeface="Poppins"/>
                <a:cs typeface="Poppins"/>
                <a:sym typeface="Poppins"/>
              </a:rPr>
              <a:t>Enfatizar la seguridad como una prioridad máxima: </a:t>
            </a:r>
            <a:r>
              <a:rPr b="0" i="0" lang="en-US" sz="2163" u="none" cap="none" strike="noStrike">
                <a:solidFill>
                  <a:srgbClr val="013362"/>
                </a:solidFill>
                <a:latin typeface="Poppins Light"/>
                <a:ea typeface="Poppins Light"/>
                <a:cs typeface="Poppins Light"/>
                <a:sym typeface="Poppins Light"/>
              </a:rPr>
              <a:t>garantizar que todas las partes interesadas, incluidos los desarrolladores, administradores y usuarios finales, comprendan la importancia de la seguridad en todas las etapas del ciclo de vida del desarrollo de software.</a:t>
            </a:r>
            <a:endParaRPr b="0" i="0" sz="2163" u="none" cap="none" strike="noStrike">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i="0" lang="en-US" sz="2163" u="none" cap="none" strike="noStrike">
                <a:solidFill>
                  <a:srgbClr val="013362"/>
                </a:solidFill>
                <a:latin typeface="Poppins"/>
                <a:ea typeface="Poppins"/>
                <a:cs typeface="Poppins"/>
                <a:sym typeface="Poppins"/>
              </a:rPr>
              <a:t>Asignar recursos para la seguridad: </a:t>
            </a:r>
            <a:r>
              <a:rPr b="0" i="0" lang="en-US" sz="2163" u="none" cap="none" strike="noStrike">
                <a:solidFill>
                  <a:srgbClr val="013362"/>
                </a:solidFill>
                <a:latin typeface="Poppins Light"/>
                <a:ea typeface="Poppins Light"/>
                <a:cs typeface="Poppins Light"/>
                <a:sym typeface="Poppins Light"/>
              </a:rPr>
              <a:t>Dedicar los recursos necesarios, incluido el presupuesto, la experiencia y el tiempo, específicamente para abordar los problemas de seguridad. Establezca un equipo de seguridad dedicado e incorpore expertos en seguridad a sus procesos de desarrollo.</a:t>
            </a:r>
            <a:endParaRPr b="0" i="0" sz="2163" u="none" cap="none" strike="noStrike">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i="0" lang="en-US" sz="2163" u="none" cap="none" strike="noStrike">
                <a:solidFill>
                  <a:srgbClr val="013362"/>
                </a:solidFill>
                <a:latin typeface="Poppins"/>
                <a:ea typeface="Poppins"/>
                <a:cs typeface="Poppins"/>
                <a:sym typeface="Poppins"/>
              </a:rPr>
              <a:t>Investigue y siga activamente las mejores prácticas: </a:t>
            </a:r>
            <a:r>
              <a:rPr b="0" i="0" lang="en-US" sz="2163" u="none" cap="none" strike="noStrike">
                <a:solidFill>
                  <a:srgbClr val="013362"/>
                </a:solidFill>
                <a:latin typeface="Poppins Light"/>
                <a:ea typeface="Poppins Light"/>
                <a:cs typeface="Poppins Light"/>
                <a:sym typeface="Poppins Light"/>
              </a:rPr>
              <a:t>mantenga una comprensión actualizada de los estándares, directrices y mejores prácticas de seguridad de la industria. Incorpóralos a tu diseño y desarrollo de software, adaptándose a las necesidades y riesgos específicos de tu proyecto.</a:t>
            </a:r>
            <a:endParaRPr b="0" i="0" sz="2163" u="none" cap="none" strike="noStrike">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i="0" lang="en-US" sz="2163" u="none" cap="none" strike="noStrike">
                <a:solidFill>
                  <a:srgbClr val="013362"/>
                </a:solidFill>
                <a:latin typeface="Poppins"/>
                <a:ea typeface="Poppins"/>
                <a:cs typeface="Poppins"/>
                <a:sym typeface="Poppins"/>
              </a:rPr>
              <a:t>Fomente una cultura consciente de la seguridad: </a:t>
            </a:r>
            <a:r>
              <a:rPr b="0" i="0" lang="en-US" sz="2163" u="none" cap="none" strike="noStrike">
                <a:solidFill>
                  <a:srgbClr val="013362"/>
                </a:solidFill>
                <a:latin typeface="Poppins Light"/>
                <a:ea typeface="Poppins Light"/>
                <a:cs typeface="Poppins Light"/>
                <a:sym typeface="Poppins Light"/>
              </a:rPr>
              <a:t>anime a todos los miembros del equipo de desarrollo a mantener la conciencia y la responsabilidad sobre los aspectos de seguridad de su trabajo. Brinde capacitación y educación periódicas sobre temas relacionados con la seguridad para informar a todos sobre las últimas tendencias y amenazas.</a:t>
            </a:r>
            <a:endParaRPr b="0" i="0" sz="2163" u="none" cap="none" strike="noStrike">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i="0" lang="en-US" sz="2163" u="none" cap="none" strike="noStrike">
                <a:solidFill>
                  <a:srgbClr val="013362"/>
                </a:solidFill>
                <a:latin typeface="Poppins"/>
                <a:ea typeface="Poppins"/>
                <a:cs typeface="Poppins"/>
                <a:sym typeface="Poppins"/>
              </a:rPr>
              <a:t>Aprenda de experiencias pasadas: </a:t>
            </a:r>
            <a:r>
              <a:rPr b="0" i="0" lang="en-US" sz="2163" u="none" cap="none" strike="noStrike">
                <a:solidFill>
                  <a:srgbClr val="013362"/>
                </a:solidFill>
                <a:latin typeface="Poppins Light"/>
                <a:ea typeface="Poppins Light"/>
                <a:cs typeface="Poppins Light"/>
                <a:sym typeface="Poppins Light"/>
              </a:rPr>
              <a:t>analice problemas e incidentes de seguridad anteriores, identifique lecciones aprendidas e implemente cambios para evitar repetir errores del pasado.</a:t>
            </a:r>
            <a:endParaRPr b="0" i="0" sz="2163" u="none" cap="none" strike="noStrike">
              <a:solidFill>
                <a:srgbClr val="013362"/>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61" name="Google Shape;261;p6"/>
          <p:cNvSpPr txBox="1"/>
          <p:nvPr/>
        </p:nvSpPr>
        <p:spPr>
          <a:xfrm>
            <a:off x="6122737" y="2425433"/>
            <a:ext cx="6911400" cy="5238900"/>
          </a:xfrm>
          <a:prstGeom prst="rect">
            <a:avLst/>
          </a:prstGeom>
          <a:noFill/>
          <a:ln>
            <a:noFill/>
          </a:ln>
        </p:spPr>
        <p:txBody>
          <a:bodyPr anchorCtr="0" anchor="t" bIns="0" lIns="0" spcFirstLastPara="1" rIns="0" wrap="square" tIns="0">
            <a:spAutoFit/>
          </a:bodyPr>
          <a:lstStyle/>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Seguridad en la arquitectura de software</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Principio de privilegio mínimo</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Modelado de amenazas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Codificación segura</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Integración de seguridad en el ciclo de vida del desarrollo de software (SDLC)</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chemeClr val="dk1"/>
              </a:buClr>
              <a:buSzPts val="6900"/>
              <a:buFont typeface="Arial"/>
              <a:buNone/>
            </a:pPr>
            <a:r>
              <a:rPr b="0" i="0" lang="en-US" sz="6900" u="none" cap="none" strike="noStrike">
                <a:solidFill>
                  <a:srgbClr val="131416"/>
                </a:solidFill>
                <a:latin typeface="Impact"/>
                <a:ea typeface="Impact"/>
                <a:cs typeface="Impact"/>
                <a:sym typeface="Impact"/>
              </a:rPr>
              <a:t>Ética Profesional</a:t>
            </a:r>
            <a:endParaRPr b="0" i="0" sz="1400" u="none" cap="none" strike="noStrike">
              <a:solidFill>
                <a:srgbClr val="000000"/>
              </a:solidFill>
              <a:latin typeface="Impact"/>
              <a:ea typeface="Impact"/>
              <a:cs typeface="Impact"/>
              <a:sym typeface="Impact"/>
            </a:endParaRPr>
          </a:p>
        </p:txBody>
      </p:sp>
      <p:sp>
        <p:nvSpPr>
          <p:cNvPr id="267" name="Google Shape;267;p7"/>
          <p:cNvSpPr txBox="1"/>
          <p:nvPr/>
        </p:nvSpPr>
        <p:spPr>
          <a:xfrm>
            <a:off x="1348542" y="2391375"/>
            <a:ext cx="156969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i="0" lang="en-US" sz="3151" u="none" cap="none" strike="noStrike">
                <a:solidFill>
                  <a:srgbClr val="131416"/>
                </a:solidFill>
                <a:latin typeface="Arial"/>
                <a:ea typeface="Arial"/>
                <a:cs typeface="Arial"/>
                <a:sym typeface="Arial"/>
              </a:rPr>
              <a:t>Actuando con honestidad académica: </a:t>
            </a:r>
            <a:r>
              <a:rPr b="0" i="0" lang="en-US" sz="3151" u="none" cap="none" strike="noStrike">
                <a:solidFill>
                  <a:srgbClr val="131416"/>
                </a:solidFill>
                <a:latin typeface="Arial"/>
                <a:ea typeface="Arial"/>
                <a:cs typeface="Arial"/>
                <a:sym typeface="Arial"/>
              </a:rPr>
              <a:t>Evitando el plagio, la copia de trabajos, o el uso indebido de información en las entregas. Cada producto del curso debe reflejar esfuerzo y trabajo propio.</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3151"/>
              <a:buFont typeface="Arial"/>
              <a:buNone/>
            </a:pPr>
            <a:r>
              <a:rPr b="1" i="0" lang="en-US" sz="3151" u="none" cap="none" strike="noStrike">
                <a:solidFill>
                  <a:srgbClr val="131416"/>
                </a:solidFill>
                <a:latin typeface="Arial"/>
                <a:ea typeface="Arial"/>
                <a:cs typeface="Arial"/>
                <a:sym typeface="Arial"/>
              </a:rPr>
              <a:t>Respetando la confidencialidad de los proyectos: </a:t>
            </a:r>
            <a:r>
              <a:rPr b="0" i="0" lang="en-US" sz="3151" u="none" cap="none" strike="noStrike">
                <a:solidFill>
                  <a:srgbClr val="131416"/>
                </a:solidFill>
                <a:latin typeface="Arial"/>
                <a:ea typeface="Arial"/>
                <a:cs typeface="Arial"/>
                <a:sym typeface="Arial"/>
              </a:rPr>
              <a:t>Si se trabaja con casos reales o simulaciones de empresas, se mantiene la discreción sobre los datos y procesos, tal como se haría en un entorno profesional.</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73" name="Google Shape;273;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74" name="Google Shape;274;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75" name="Google Shape;275;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