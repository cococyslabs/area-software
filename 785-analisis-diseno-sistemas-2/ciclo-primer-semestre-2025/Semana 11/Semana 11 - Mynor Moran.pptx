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76" r:id="rId13"/>
    <p:sldId id="277" r:id="rId14"/>
    <p:sldId id="278" r:id="rId15"/>
    <p:sldId id="279" r:id="rId16"/>
    <p:sldId id="280" r:id="rId17"/>
    <p:sldId id="281" r:id="rId18"/>
    <p:sldId id="267" r:id="rId19"/>
    <p:sldId id="269" r:id="rId20"/>
    <p:sldId id="283" r:id="rId21"/>
    <p:sldId id="285" r:id="rId22"/>
    <p:sldId id="284" r:id="rId23"/>
    <p:sldId id="286" r:id="rId24"/>
    <p:sldId id="287" r:id="rId25"/>
    <p:sldId id="288" r:id="rId26"/>
    <p:sldId id="289" r:id="rId27"/>
    <p:sldId id="273" r:id="rId28"/>
    <p:sldId id="274" r:id="rId29"/>
    <p:sldId id="275" r:id="rId30"/>
  </p:sldIdLst>
  <p:sldSz cx="18288000" cy="10287000"/>
  <p:notesSz cx="6858000" cy="9144000"/>
  <p:embeddedFontLst>
    <p:embeddedFont>
      <p:font typeface="Alexandria" panose="020B0604020202020204" charset="0"/>
      <p:regular r:id="rId32"/>
      <p:bold r:id="rId33"/>
    </p:embeddedFont>
    <p:embeddedFont>
      <p:font typeface="Corben" panose="020B0604020202020204" charset="0"/>
      <p:regular r:id="rId34"/>
      <p:bold r:id="rId35"/>
    </p:embeddedFont>
    <p:embeddedFont>
      <p:font typeface="Impact" panose="020B0806030902050204" pitchFamily="34" charset="0"/>
      <p:regular r:id="rId36"/>
    </p:embeddedFont>
    <p:embeddedFont>
      <p:font typeface="Nobile" panose="020B0604020202020204" charset="0"/>
      <p:regular r:id="rId37"/>
      <p:bold r:id="rId38"/>
      <p:italic r:id="rId39"/>
      <p:boldItalic r:id="rId40"/>
    </p:embeddedFont>
    <p:embeddedFont>
      <p:font typeface="Open Sans" panose="020B0606030504020204" pitchFamily="34" charset="0"/>
      <p:regular r:id="rId41"/>
      <p:bold r:id="rId42"/>
      <p:italic r:id="rId43"/>
      <p:boldItalic r:id="rId44"/>
    </p:embeddedFont>
    <p:embeddedFont>
      <p:font typeface="Poppins" panose="00000500000000000000" pitchFamily="2" charset="0"/>
      <p:regular r:id="rId45"/>
      <p:bold r:id="rId46"/>
      <p:italic r:id="rId47"/>
      <p:boldItalic r:id="rId48"/>
    </p:embeddedFont>
    <p:embeddedFont>
      <p:font typeface="Poppins Black" panose="00000A00000000000000" pitchFamily="2" charset="0"/>
      <p:bold r:id="rId49"/>
      <p:boldItalic r:id="rId50"/>
    </p:embeddedFont>
    <p:embeddedFont>
      <p:font typeface="Poppins Light" panose="00000400000000000000" pitchFamily="2"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j5EXjpT2JB4HYq/+1g4WAMxc0+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A6A283E-C27E-4D70-9C02-64E733D8C061}">
  <a:tblStyle styleId="{3A6A283E-C27E-4D70-9C02-64E733D8C061}"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94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font" Target="fonts/font1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font" Target="fonts/font22.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2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 Id="rId54"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5f1b241ad4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35f1b241ad4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5f1b241ad4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g35f1b241ad4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5f1b241ad4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35f1b241ad4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60acce8e50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60acce8e50_0_8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60acce8e50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g360acce8e50_0_9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60acce8e50_0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g360acce8e50_0_10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60acce8e50_0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g360acce8e50_0_1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60acce8e50_0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g360acce8e50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60a94691c9_0_11:notes"/>
          <p:cNvSpPr>
            <a:spLocks noGrp="1" noRot="1" noChangeAspect="1"/>
          </p:cNvSpPr>
          <p:nvPr>
            <p:ph type="sldImg" idx="2"/>
          </p:nvPr>
        </p:nvSpPr>
        <p:spPr>
          <a:xfrm>
            <a:off x="571500" y="714375"/>
            <a:ext cx="4572000" cy="1928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360a94691c9_0_11:notes"/>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190" name="Google Shape;190;g360a94691c9_0_11:notes"/>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12</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60a94691c9_0_22:notes"/>
          <p:cNvSpPr>
            <a:spLocks noGrp="1" noRot="1" noChangeAspect="1"/>
          </p:cNvSpPr>
          <p:nvPr>
            <p:ph type="sldImg" idx="2"/>
          </p:nvPr>
        </p:nvSpPr>
        <p:spPr>
          <a:xfrm>
            <a:off x="571500" y="714375"/>
            <a:ext cx="4572000" cy="1928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g360a94691c9_0_22:notes"/>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60a94691c9_0_22:notes"/>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13</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60a94691c9_0_41:notes"/>
          <p:cNvSpPr>
            <a:spLocks noGrp="1" noRot="1" noChangeAspect="1"/>
          </p:cNvSpPr>
          <p:nvPr>
            <p:ph type="sldImg" idx="2"/>
          </p:nvPr>
        </p:nvSpPr>
        <p:spPr>
          <a:xfrm>
            <a:off x="571500" y="714375"/>
            <a:ext cx="4572000" cy="1928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60a94691c9_0_41:notes"/>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222" name="Google Shape;222;g360a94691c9_0_41:notes"/>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14</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60a94691c9_0_71:notes"/>
          <p:cNvSpPr>
            <a:spLocks noGrp="1" noRot="1" noChangeAspect="1"/>
          </p:cNvSpPr>
          <p:nvPr>
            <p:ph type="sldImg" idx="2"/>
          </p:nvPr>
        </p:nvSpPr>
        <p:spPr>
          <a:xfrm>
            <a:off x="571500" y="714375"/>
            <a:ext cx="4572000" cy="1928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60a94691c9_0_71:notes"/>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254" name="Google Shape;254;g360a94691c9_0_71:notes"/>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15</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60a94691c9_0_94:notes"/>
          <p:cNvSpPr>
            <a:spLocks noGrp="1" noRot="1" noChangeAspect="1"/>
          </p:cNvSpPr>
          <p:nvPr>
            <p:ph type="sldImg" idx="2"/>
          </p:nvPr>
        </p:nvSpPr>
        <p:spPr>
          <a:xfrm>
            <a:off x="571500" y="714375"/>
            <a:ext cx="4572000" cy="1928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g360a94691c9_0_94:notes"/>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278" name="Google Shape;278;g360a94691c9_0_94:notes"/>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16</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0a94691c9_0_113:notes"/>
          <p:cNvSpPr>
            <a:spLocks noGrp="1" noRot="1" noChangeAspect="1"/>
          </p:cNvSpPr>
          <p:nvPr>
            <p:ph type="sldImg" idx="2"/>
          </p:nvPr>
        </p:nvSpPr>
        <p:spPr>
          <a:xfrm>
            <a:off x="571500" y="714375"/>
            <a:ext cx="4572000" cy="1928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60a94691c9_0_113:notes"/>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298" name="Google Shape;298;g360a94691c9_0_113:notes"/>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17</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60a94691c9_0_122:notes"/>
          <p:cNvSpPr>
            <a:spLocks noGrp="1" noRot="1" noChangeAspect="1"/>
          </p:cNvSpPr>
          <p:nvPr>
            <p:ph type="sldImg" idx="2"/>
          </p:nvPr>
        </p:nvSpPr>
        <p:spPr>
          <a:xfrm>
            <a:off x="571500" y="714375"/>
            <a:ext cx="4572000" cy="1928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g360a94691c9_0_122:notes"/>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60a94691c9_0_122:notes"/>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18</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60a94691c9_0_157: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360a94691c9_0_157:notes"/>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345" name="Google Shape;345;g360a94691c9_0_157:notes"/>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19</a:t>
            </a:fld>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a:extLst>
            <a:ext uri="{FF2B5EF4-FFF2-40B4-BE49-F238E27FC236}">
              <a16:creationId xmlns:a16="http://schemas.microsoft.com/office/drawing/2014/main" id="{F4B8812F-FF4A-E4A6-A38C-D82039F83866}"/>
            </a:ext>
          </a:extLst>
        </p:cNvPr>
        <p:cNvGrpSpPr/>
        <p:nvPr/>
      </p:nvGrpSpPr>
      <p:grpSpPr>
        <a:xfrm>
          <a:off x="0" y="0"/>
          <a:ext cx="0" cy="0"/>
          <a:chOff x="0" y="0"/>
          <a:chExt cx="0" cy="0"/>
        </a:xfrm>
      </p:grpSpPr>
      <p:sp>
        <p:nvSpPr>
          <p:cNvPr id="343" name="Google Shape;343;g360a94691c9_0_157:notes">
            <a:extLst>
              <a:ext uri="{FF2B5EF4-FFF2-40B4-BE49-F238E27FC236}">
                <a16:creationId xmlns:a16="http://schemas.microsoft.com/office/drawing/2014/main" id="{07144780-DAE1-1F0A-6A3F-11B4FC0B5F10}"/>
              </a:ext>
            </a:extLst>
          </p:cNvPr>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360a94691c9_0_157:notes">
            <a:extLst>
              <a:ext uri="{FF2B5EF4-FFF2-40B4-BE49-F238E27FC236}">
                <a16:creationId xmlns:a16="http://schemas.microsoft.com/office/drawing/2014/main" id="{1673F465-9883-3A9B-F08A-4BD6D914D533}"/>
              </a:ext>
            </a:extLst>
          </p:cNvPr>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345" name="Google Shape;345;g360a94691c9_0_157:notes">
            <a:extLst>
              <a:ext uri="{FF2B5EF4-FFF2-40B4-BE49-F238E27FC236}">
                <a16:creationId xmlns:a16="http://schemas.microsoft.com/office/drawing/2014/main" id="{95089ED1-B639-89AA-8ECF-48FE47520570}"/>
              </a:ext>
            </a:extLst>
          </p:cNvPr>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20</a:t>
            </a:fld>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41276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a:extLst>
            <a:ext uri="{FF2B5EF4-FFF2-40B4-BE49-F238E27FC236}">
              <a16:creationId xmlns:a16="http://schemas.microsoft.com/office/drawing/2014/main" id="{D94CA088-5EAE-B421-50F5-2E7CBF5F5490}"/>
            </a:ext>
          </a:extLst>
        </p:cNvPr>
        <p:cNvGrpSpPr/>
        <p:nvPr/>
      </p:nvGrpSpPr>
      <p:grpSpPr>
        <a:xfrm>
          <a:off x="0" y="0"/>
          <a:ext cx="0" cy="0"/>
          <a:chOff x="0" y="0"/>
          <a:chExt cx="0" cy="0"/>
        </a:xfrm>
      </p:grpSpPr>
      <p:sp>
        <p:nvSpPr>
          <p:cNvPr id="296" name="Google Shape;296;g360a94691c9_0_113:notes">
            <a:extLst>
              <a:ext uri="{FF2B5EF4-FFF2-40B4-BE49-F238E27FC236}">
                <a16:creationId xmlns:a16="http://schemas.microsoft.com/office/drawing/2014/main" id="{75FB2530-AE96-ED5D-C215-A4600954CBEF}"/>
              </a:ext>
            </a:extLst>
          </p:cNvPr>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60a94691c9_0_113:notes">
            <a:extLst>
              <a:ext uri="{FF2B5EF4-FFF2-40B4-BE49-F238E27FC236}">
                <a16:creationId xmlns:a16="http://schemas.microsoft.com/office/drawing/2014/main" id="{E689347E-E17E-BAEC-2F36-0B8B270A8B65}"/>
              </a:ext>
            </a:extLst>
          </p:cNvPr>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298" name="Google Shape;298;g360a94691c9_0_113:notes">
            <a:extLst>
              <a:ext uri="{FF2B5EF4-FFF2-40B4-BE49-F238E27FC236}">
                <a16:creationId xmlns:a16="http://schemas.microsoft.com/office/drawing/2014/main" id="{EE5F7332-63D3-76B1-5FCA-E6B6121C8E0E}"/>
              </a:ext>
            </a:extLst>
          </p:cNvPr>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21</a:t>
            </a:fld>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793376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a:extLst>
            <a:ext uri="{FF2B5EF4-FFF2-40B4-BE49-F238E27FC236}">
              <a16:creationId xmlns:a16="http://schemas.microsoft.com/office/drawing/2014/main" id="{4E77C742-958E-39CF-CA5A-E51865AE6BE0}"/>
            </a:ext>
          </a:extLst>
        </p:cNvPr>
        <p:cNvGrpSpPr/>
        <p:nvPr/>
      </p:nvGrpSpPr>
      <p:grpSpPr>
        <a:xfrm>
          <a:off x="0" y="0"/>
          <a:ext cx="0" cy="0"/>
          <a:chOff x="0" y="0"/>
          <a:chExt cx="0" cy="0"/>
        </a:xfrm>
      </p:grpSpPr>
      <p:sp>
        <p:nvSpPr>
          <p:cNvPr id="343" name="Google Shape;343;g360a94691c9_0_157:notes">
            <a:extLst>
              <a:ext uri="{FF2B5EF4-FFF2-40B4-BE49-F238E27FC236}">
                <a16:creationId xmlns:a16="http://schemas.microsoft.com/office/drawing/2014/main" id="{8C29F4C8-CACC-7AAF-A841-E5C66A1A7895}"/>
              </a:ext>
            </a:extLst>
          </p:cNvPr>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360a94691c9_0_157:notes">
            <a:extLst>
              <a:ext uri="{FF2B5EF4-FFF2-40B4-BE49-F238E27FC236}">
                <a16:creationId xmlns:a16="http://schemas.microsoft.com/office/drawing/2014/main" id="{13C068CC-0495-DC6E-D5BD-A61664A98AD4}"/>
              </a:ext>
            </a:extLst>
          </p:cNvPr>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345" name="Google Shape;345;g360a94691c9_0_157:notes">
            <a:extLst>
              <a:ext uri="{FF2B5EF4-FFF2-40B4-BE49-F238E27FC236}">
                <a16:creationId xmlns:a16="http://schemas.microsoft.com/office/drawing/2014/main" id="{838DC011-75BD-03A3-D562-7A9FFF266CC2}"/>
              </a:ext>
            </a:extLst>
          </p:cNvPr>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22</a:t>
            </a:fld>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34566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a:extLst>
            <a:ext uri="{FF2B5EF4-FFF2-40B4-BE49-F238E27FC236}">
              <a16:creationId xmlns:a16="http://schemas.microsoft.com/office/drawing/2014/main" id="{07C65875-5088-04EF-191C-F0239D2F6013}"/>
            </a:ext>
          </a:extLst>
        </p:cNvPr>
        <p:cNvGrpSpPr/>
        <p:nvPr/>
      </p:nvGrpSpPr>
      <p:grpSpPr>
        <a:xfrm>
          <a:off x="0" y="0"/>
          <a:ext cx="0" cy="0"/>
          <a:chOff x="0" y="0"/>
          <a:chExt cx="0" cy="0"/>
        </a:xfrm>
      </p:grpSpPr>
      <p:sp>
        <p:nvSpPr>
          <p:cNvPr id="343" name="Google Shape;343;g360a94691c9_0_157:notes">
            <a:extLst>
              <a:ext uri="{FF2B5EF4-FFF2-40B4-BE49-F238E27FC236}">
                <a16:creationId xmlns:a16="http://schemas.microsoft.com/office/drawing/2014/main" id="{DB317578-118A-54A9-A346-C7AA3625A444}"/>
              </a:ext>
            </a:extLst>
          </p:cNvPr>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360a94691c9_0_157:notes">
            <a:extLst>
              <a:ext uri="{FF2B5EF4-FFF2-40B4-BE49-F238E27FC236}">
                <a16:creationId xmlns:a16="http://schemas.microsoft.com/office/drawing/2014/main" id="{4E7911FC-FCA2-B8C4-E4DF-CD40A7D83CB5}"/>
              </a:ext>
            </a:extLst>
          </p:cNvPr>
          <p:cNvSpPr txBox="1">
            <a:spLocks noGrp="1"/>
          </p:cNvSpPr>
          <p:nvPr>
            <p:ph type="body" idx="1"/>
          </p:nvPr>
        </p:nvSpPr>
        <p:spPr>
          <a:xfrm>
            <a:off x="571500" y="2750344"/>
            <a:ext cx="4572000" cy="2250300"/>
          </a:xfrm>
          <a:prstGeom prst="rect">
            <a:avLst/>
          </a:prstGeom>
          <a:noFill/>
          <a:ln>
            <a:noFill/>
          </a:ln>
        </p:spPr>
        <p:txBody>
          <a:bodyPr spcFirstLastPara="1" wrap="square" lIns="69850" tIns="34900" rIns="69850" bIns="34900" anchor="t" anchorCtr="0">
            <a:noAutofit/>
          </a:bodyPr>
          <a:lstStyle/>
          <a:p>
            <a:pPr marL="0" lvl="0" indent="0" algn="l" rtl="0">
              <a:lnSpc>
                <a:spcPct val="100000"/>
              </a:lnSpc>
              <a:spcBef>
                <a:spcPts val="0"/>
              </a:spcBef>
              <a:spcAft>
                <a:spcPts val="0"/>
              </a:spcAft>
              <a:buSzPts val="1100"/>
              <a:buNone/>
            </a:pPr>
            <a:endParaRPr/>
          </a:p>
        </p:txBody>
      </p:sp>
      <p:sp>
        <p:nvSpPr>
          <p:cNvPr id="345" name="Google Shape;345;g360a94691c9_0_157:notes">
            <a:extLst>
              <a:ext uri="{FF2B5EF4-FFF2-40B4-BE49-F238E27FC236}">
                <a16:creationId xmlns:a16="http://schemas.microsoft.com/office/drawing/2014/main" id="{111B83E4-EBD2-B77A-858C-418B5ADE14C8}"/>
              </a:ext>
            </a:extLst>
          </p:cNvPr>
          <p:cNvSpPr txBox="1">
            <a:spLocks noGrp="1"/>
          </p:cNvSpPr>
          <p:nvPr>
            <p:ph type="sldNum" idx="12"/>
          </p:nvPr>
        </p:nvSpPr>
        <p:spPr>
          <a:xfrm>
            <a:off x="3237178" y="5428258"/>
            <a:ext cx="2476500" cy="286800"/>
          </a:xfrm>
          <a:prstGeom prst="rect">
            <a:avLst/>
          </a:prstGeom>
          <a:noFill/>
          <a:ln>
            <a:noFill/>
          </a:ln>
        </p:spPr>
        <p:txBody>
          <a:bodyPr spcFirstLastPara="1" wrap="square" lIns="69850" tIns="34900" rIns="69850" bIns="3490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Arial"/>
                <a:ea typeface="Arial"/>
                <a:cs typeface="Arial"/>
                <a:sym typeface="Arial"/>
              </a:rPr>
              <a:t>23</a:t>
            </a:fld>
            <a:endParaRPr sz="11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309493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46C0D9E3-EE36-5F78-1BFF-712DA3F1D318}"/>
            </a:ext>
          </a:extLst>
        </p:cNvPr>
        <p:cNvGrpSpPr/>
        <p:nvPr/>
      </p:nvGrpSpPr>
      <p:grpSpPr>
        <a:xfrm>
          <a:off x="0" y="0"/>
          <a:ext cx="0" cy="0"/>
          <a:chOff x="0" y="0"/>
          <a:chExt cx="0" cy="0"/>
        </a:xfrm>
      </p:grpSpPr>
      <p:sp>
        <p:nvSpPr>
          <p:cNvPr id="172" name="Google Shape;172;g360acce8e50_0_120:notes">
            <a:extLst>
              <a:ext uri="{FF2B5EF4-FFF2-40B4-BE49-F238E27FC236}">
                <a16:creationId xmlns:a16="http://schemas.microsoft.com/office/drawing/2014/main" id="{63282F0A-8646-EB52-9992-12024ED207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g360acce8e50_0_120:notes">
            <a:extLst>
              <a:ext uri="{FF2B5EF4-FFF2-40B4-BE49-F238E27FC236}">
                <a16:creationId xmlns:a16="http://schemas.microsoft.com/office/drawing/2014/main" id="{FFE7540F-8B5D-D4BD-A196-9C8F59C7A7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4661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93DFBF59-EF74-AC27-9376-86CAB7536165}"/>
            </a:ext>
          </a:extLst>
        </p:cNvPr>
        <p:cNvGrpSpPr/>
        <p:nvPr/>
      </p:nvGrpSpPr>
      <p:grpSpPr>
        <a:xfrm>
          <a:off x="0" y="0"/>
          <a:ext cx="0" cy="0"/>
          <a:chOff x="0" y="0"/>
          <a:chExt cx="0" cy="0"/>
        </a:xfrm>
      </p:grpSpPr>
      <p:sp>
        <p:nvSpPr>
          <p:cNvPr id="172" name="Google Shape;172;g360acce8e50_0_120:notes">
            <a:extLst>
              <a:ext uri="{FF2B5EF4-FFF2-40B4-BE49-F238E27FC236}">
                <a16:creationId xmlns:a16="http://schemas.microsoft.com/office/drawing/2014/main" id="{6B7BAB5D-2CA1-503D-1F23-66A72C34A60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g360acce8e50_0_120:notes">
            <a:extLst>
              <a:ext uri="{FF2B5EF4-FFF2-40B4-BE49-F238E27FC236}">
                <a16:creationId xmlns:a16="http://schemas.microsoft.com/office/drawing/2014/main" id="{3E907CA9-6F21-81F4-5F6B-EA7FBDA3EB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964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210157D3-2FFC-17CF-E8AD-AB22D4BD8245}"/>
            </a:ext>
          </a:extLst>
        </p:cNvPr>
        <p:cNvGrpSpPr/>
        <p:nvPr/>
      </p:nvGrpSpPr>
      <p:grpSpPr>
        <a:xfrm>
          <a:off x="0" y="0"/>
          <a:ext cx="0" cy="0"/>
          <a:chOff x="0" y="0"/>
          <a:chExt cx="0" cy="0"/>
        </a:xfrm>
      </p:grpSpPr>
      <p:sp>
        <p:nvSpPr>
          <p:cNvPr id="172" name="Google Shape;172;g360acce8e50_0_120:notes">
            <a:extLst>
              <a:ext uri="{FF2B5EF4-FFF2-40B4-BE49-F238E27FC236}">
                <a16:creationId xmlns:a16="http://schemas.microsoft.com/office/drawing/2014/main" id="{D01C0554-3B89-FBF8-50C1-4D5DB63C46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g360acce8e50_0_120:notes">
            <a:extLst>
              <a:ext uri="{FF2B5EF4-FFF2-40B4-BE49-F238E27FC236}">
                <a16:creationId xmlns:a16="http://schemas.microsoft.com/office/drawing/2014/main" id="{D10E718F-089A-9646-0610-830ACAA14A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1215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1" name="Google Shape;24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60acce8e5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7" name="Google Shape;247;g360acce8e50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3" name="Google Shape;25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15"/>
        <p:cNvGrpSpPr/>
        <p:nvPr/>
      </p:nvGrpSpPr>
      <p:grpSpPr>
        <a:xfrm>
          <a:off x="0" y="0"/>
          <a:ext cx="0" cy="0"/>
          <a:chOff x="0" y="0"/>
          <a:chExt cx="0" cy="0"/>
        </a:xfrm>
      </p:grpSpPr>
      <p:sp>
        <p:nvSpPr>
          <p:cNvPr id="16" name="Google Shape;16;g360a94691c9_0_469"/>
          <p:cNvSpPr/>
          <p:nvPr/>
        </p:nvSpPr>
        <p:spPr>
          <a:xfrm>
            <a:off x="0" y="0"/>
            <a:ext cx="18288000" cy="10287000"/>
          </a:xfrm>
          <a:prstGeom prst="rect">
            <a:avLst/>
          </a:prstGeom>
          <a:solidFill>
            <a:srgbClr val="5C73E6"/>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g360a94691c9_0_469"/>
          <p:cNvSpPr/>
          <p:nvPr/>
        </p:nvSpPr>
        <p:spPr>
          <a:xfrm>
            <a:off x="0" y="0"/>
            <a:ext cx="18288000" cy="10287000"/>
          </a:xfrm>
          <a:prstGeom prst="rect">
            <a:avLst/>
          </a:prstGeom>
          <a:solidFill>
            <a:srgbClr val="F9F9F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 name="Google Shape;18;g360a94691c9_0_469" descr="preencoded.png">
            <a:hlinkClick r:id="rId2"/>
          </p:cNvPr>
          <p:cNvPicPr preferRelativeResize="0"/>
          <p:nvPr/>
        </p:nvPicPr>
        <p:blipFill rotWithShape="1">
          <a:blip r:embed="rId3">
            <a:alphaModFix/>
          </a:blip>
          <a:srcRect/>
          <a:stretch/>
        </p:blipFill>
        <p:spPr>
          <a:xfrm>
            <a:off x="16049019" y="9686925"/>
            <a:ext cx="2153254" cy="514350"/>
          </a:xfrm>
          <a:prstGeom prst="rect">
            <a:avLst/>
          </a:prstGeom>
          <a:noFill/>
          <a:ln>
            <a:noFill/>
          </a:ln>
        </p:spPr>
      </p:pic>
    </p:spTree>
    <p:extLst>
      <p:ext uri="{BB962C8B-B14F-4D97-AF65-F5344CB8AC3E}">
        <p14:creationId xmlns:p14="http://schemas.microsoft.com/office/powerpoint/2010/main" val="3301602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9"/>
        <p:cNvGrpSpPr/>
        <p:nvPr/>
      </p:nvGrpSpPr>
      <p:grpSpPr>
        <a:xfrm>
          <a:off x="0" y="0"/>
          <a:ext cx="0" cy="0"/>
          <a:chOff x="0" y="0"/>
          <a:chExt cx="0" cy="0"/>
        </a:xfrm>
      </p:grpSpPr>
      <p:sp>
        <p:nvSpPr>
          <p:cNvPr id="20" name="Google Shape;20;g360a94691c9_0_473"/>
          <p:cNvSpPr/>
          <p:nvPr/>
        </p:nvSpPr>
        <p:spPr>
          <a:xfrm>
            <a:off x="0" y="0"/>
            <a:ext cx="18288000" cy="10287000"/>
          </a:xfrm>
          <a:prstGeom prst="rect">
            <a:avLst/>
          </a:prstGeom>
          <a:solidFill>
            <a:srgbClr val="5C73E6"/>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g360a94691c9_0_473"/>
          <p:cNvSpPr/>
          <p:nvPr/>
        </p:nvSpPr>
        <p:spPr>
          <a:xfrm>
            <a:off x="0" y="0"/>
            <a:ext cx="18288000" cy="10287000"/>
          </a:xfrm>
          <a:prstGeom prst="rect">
            <a:avLst/>
          </a:prstGeom>
          <a:solidFill>
            <a:srgbClr val="F9F9F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g360a94691c9_0_473" descr="preencoded.png">
            <a:hlinkClick r:id="rId2"/>
          </p:cNvPr>
          <p:cNvPicPr preferRelativeResize="0"/>
          <p:nvPr/>
        </p:nvPicPr>
        <p:blipFill rotWithShape="1">
          <a:blip r:embed="rId3">
            <a:alphaModFix/>
          </a:blip>
          <a:srcRect/>
          <a:stretch/>
        </p:blipFill>
        <p:spPr>
          <a:xfrm>
            <a:off x="16049019" y="9686925"/>
            <a:ext cx="2153254" cy="514350"/>
          </a:xfrm>
          <a:prstGeom prst="rect">
            <a:avLst/>
          </a:prstGeom>
          <a:noFill/>
          <a:ln>
            <a:noFill/>
          </a:ln>
        </p:spPr>
      </p:pic>
    </p:spTree>
    <p:extLst>
      <p:ext uri="{BB962C8B-B14F-4D97-AF65-F5344CB8AC3E}">
        <p14:creationId xmlns:p14="http://schemas.microsoft.com/office/powerpoint/2010/main" val="42471881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23"/>
        <p:cNvGrpSpPr/>
        <p:nvPr/>
      </p:nvGrpSpPr>
      <p:grpSpPr>
        <a:xfrm>
          <a:off x="0" y="0"/>
          <a:ext cx="0" cy="0"/>
          <a:chOff x="0" y="0"/>
          <a:chExt cx="0" cy="0"/>
        </a:xfrm>
      </p:grpSpPr>
      <p:sp>
        <p:nvSpPr>
          <p:cNvPr id="24" name="Google Shape;24;g360a94691c9_0_477"/>
          <p:cNvSpPr/>
          <p:nvPr/>
        </p:nvSpPr>
        <p:spPr>
          <a:xfrm>
            <a:off x="0" y="0"/>
            <a:ext cx="18288000" cy="10287000"/>
          </a:xfrm>
          <a:prstGeom prst="rect">
            <a:avLst/>
          </a:prstGeom>
          <a:solidFill>
            <a:srgbClr val="5C73E6"/>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g360a94691c9_0_477"/>
          <p:cNvSpPr/>
          <p:nvPr/>
        </p:nvSpPr>
        <p:spPr>
          <a:xfrm>
            <a:off x="0" y="0"/>
            <a:ext cx="18288000" cy="10287000"/>
          </a:xfrm>
          <a:prstGeom prst="rect">
            <a:avLst/>
          </a:prstGeom>
          <a:solidFill>
            <a:srgbClr val="F9F9F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 name="Google Shape;26;g360a94691c9_0_477" descr="preencoded.png">
            <a:hlinkClick r:id="rId2"/>
          </p:cNvPr>
          <p:cNvPicPr preferRelativeResize="0"/>
          <p:nvPr/>
        </p:nvPicPr>
        <p:blipFill rotWithShape="1">
          <a:blip r:embed="rId3">
            <a:alphaModFix/>
          </a:blip>
          <a:srcRect/>
          <a:stretch/>
        </p:blipFill>
        <p:spPr>
          <a:xfrm>
            <a:off x="16049019" y="9686925"/>
            <a:ext cx="2153254" cy="514350"/>
          </a:xfrm>
          <a:prstGeom prst="rect">
            <a:avLst/>
          </a:prstGeom>
          <a:noFill/>
          <a:ln>
            <a:noFill/>
          </a:ln>
        </p:spPr>
      </p:pic>
    </p:spTree>
    <p:extLst>
      <p:ext uri="{BB962C8B-B14F-4D97-AF65-F5344CB8AC3E}">
        <p14:creationId xmlns:p14="http://schemas.microsoft.com/office/powerpoint/2010/main" val="2369922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31"/>
        <p:cNvGrpSpPr/>
        <p:nvPr/>
      </p:nvGrpSpPr>
      <p:grpSpPr>
        <a:xfrm>
          <a:off x="0" y="0"/>
          <a:ext cx="0" cy="0"/>
          <a:chOff x="0" y="0"/>
          <a:chExt cx="0" cy="0"/>
        </a:xfrm>
      </p:grpSpPr>
      <p:sp>
        <p:nvSpPr>
          <p:cNvPr id="32" name="Google Shape;32;g360a94691c9_0_485"/>
          <p:cNvSpPr/>
          <p:nvPr/>
        </p:nvSpPr>
        <p:spPr>
          <a:xfrm>
            <a:off x="0" y="0"/>
            <a:ext cx="18288000" cy="10287000"/>
          </a:xfrm>
          <a:prstGeom prst="rect">
            <a:avLst/>
          </a:prstGeom>
          <a:solidFill>
            <a:srgbClr val="5C73E6"/>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g360a94691c9_0_485"/>
          <p:cNvSpPr/>
          <p:nvPr/>
        </p:nvSpPr>
        <p:spPr>
          <a:xfrm>
            <a:off x="0" y="0"/>
            <a:ext cx="18288000" cy="10287000"/>
          </a:xfrm>
          <a:prstGeom prst="rect">
            <a:avLst/>
          </a:prstGeom>
          <a:solidFill>
            <a:srgbClr val="F9F9F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4" name="Google Shape;34;g360a94691c9_0_485" descr="preencoded.png">
            <a:hlinkClick r:id="rId2"/>
          </p:cNvPr>
          <p:cNvPicPr preferRelativeResize="0"/>
          <p:nvPr/>
        </p:nvPicPr>
        <p:blipFill rotWithShape="1">
          <a:blip r:embed="rId3">
            <a:alphaModFix/>
          </a:blip>
          <a:srcRect/>
          <a:stretch/>
        </p:blipFill>
        <p:spPr>
          <a:xfrm>
            <a:off x="16049019" y="9686925"/>
            <a:ext cx="2153254" cy="514350"/>
          </a:xfrm>
          <a:prstGeom prst="rect">
            <a:avLst/>
          </a:prstGeom>
          <a:noFill/>
          <a:ln>
            <a:noFill/>
          </a:ln>
        </p:spPr>
      </p:pic>
    </p:spTree>
    <p:extLst>
      <p:ext uri="{BB962C8B-B14F-4D97-AF65-F5344CB8AC3E}">
        <p14:creationId xmlns:p14="http://schemas.microsoft.com/office/powerpoint/2010/main" val="4052527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35"/>
        <p:cNvGrpSpPr/>
        <p:nvPr/>
      </p:nvGrpSpPr>
      <p:grpSpPr>
        <a:xfrm>
          <a:off x="0" y="0"/>
          <a:ext cx="0" cy="0"/>
          <a:chOff x="0" y="0"/>
          <a:chExt cx="0" cy="0"/>
        </a:xfrm>
      </p:grpSpPr>
      <p:sp>
        <p:nvSpPr>
          <p:cNvPr id="36" name="Google Shape;36;g360a94691c9_0_489"/>
          <p:cNvSpPr/>
          <p:nvPr/>
        </p:nvSpPr>
        <p:spPr>
          <a:xfrm>
            <a:off x="0" y="0"/>
            <a:ext cx="18288000" cy="10287000"/>
          </a:xfrm>
          <a:prstGeom prst="rect">
            <a:avLst/>
          </a:prstGeom>
          <a:solidFill>
            <a:srgbClr val="5C73E6"/>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g360a94691c9_0_489"/>
          <p:cNvSpPr/>
          <p:nvPr/>
        </p:nvSpPr>
        <p:spPr>
          <a:xfrm>
            <a:off x="0" y="0"/>
            <a:ext cx="18288000" cy="10287000"/>
          </a:xfrm>
          <a:prstGeom prst="rect">
            <a:avLst/>
          </a:prstGeom>
          <a:solidFill>
            <a:srgbClr val="F9F9F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 name="Google Shape;38;g360a94691c9_0_489" descr="preencoded.png">
            <a:hlinkClick r:id="rId2"/>
          </p:cNvPr>
          <p:cNvPicPr preferRelativeResize="0"/>
          <p:nvPr/>
        </p:nvPicPr>
        <p:blipFill rotWithShape="1">
          <a:blip r:embed="rId3">
            <a:alphaModFix/>
          </a:blip>
          <a:srcRect/>
          <a:stretch/>
        </p:blipFill>
        <p:spPr>
          <a:xfrm>
            <a:off x="16049019" y="9686925"/>
            <a:ext cx="2153254" cy="514350"/>
          </a:xfrm>
          <a:prstGeom prst="rect">
            <a:avLst/>
          </a:prstGeom>
          <a:noFill/>
          <a:ln>
            <a:noFill/>
          </a:ln>
        </p:spPr>
      </p:pic>
    </p:spTree>
    <p:extLst>
      <p:ext uri="{BB962C8B-B14F-4D97-AF65-F5344CB8AC3E}">
        <p14:creationId xmlns:p14="http://schemas.microsoft.com/office/powerpoint/2010/main" val="3546185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39"/>
        <p:cNvGrpSpPr/>
        <p:nvPr/>
      </p:nvGrpSpPr>
      <p:grpSpPr>
        <a:xfrm>
          <a:off x="0" y="0"/>
          <a:ext cx="0" cy="0"/>
          <a:chOff x="0" y="0"/>
          <a:chExt cx="0" cy="0"/>
        </a:xfrm>
      </p:grpSpPr>
      <p:sp>
        <p:nvSpPr>
          <p:cNvPr id="40" name="Google Shape;40;g360a94691c9_0_493"/>
          <p:cNvSpPr/>
          <p:nvPr/>
        </p:nvSpPr>
        <p:spPr>
          <a:xfrm>
            <a:off x="0" y="0"/>
            <a:ext cx="18288000" cy="10287000"/>
          </a:xfrm>
          <a:prstGeom prst="rect">
            <a:avLst/>
          </a:prstGeom>
          <a:solidFill>
            <a:srgbClr val="5C73E6"/>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360a94691c9_0_493"/>
          <p:cNvSpPr/>
          <p:nvPr/>
        </p:nvSpPr>
        <p:spPr>
          <a:xfrm>
            <a:off x="0" y="0"/>
            <a:ext cx="18288000" cy="10287000"/>
          </a:xfrm>
          <a:prstGeom prst="rect">
            <a:avLst/>
          </a:prstGeom>
          <a:solidFill>
            <a:srgbClr val="F9F9F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2" name="Google Shape;42;g360a94691c9_0_493" descr="preencoded.png">
            <a:hlinkClick r:id="rId2"/>
          </p:cNvPr>
          <p:cNvPicPr preferRelativeResize="0"/>
          <p:nvPr/>
        </p:nvPicPr>
        <p:blipFill rotWithShape="1">
          <a:blip r:embed="rId3">
            <a:alphaModFix/>
          </a:blip>
          <a:srcRect/>
          <a:stretch/>
        </p:blipFill>
        <p:spPr>
          <a:xfrm>
            <a:off x="16049019" y="9686925"/>
            <a:ext cx="2153254" cy="514350"/>
          </a:xfrm>
          <a:prstGeom prst="rect">
            <a:avLst/>
          </a:prstGeom>
          <a:noFill/>
          <a:ln>
            <a:noFill/>
          </a:ln>
        </p:spPr>
      </p:pic>
    </p:spTree>
    <p:extLst>
      <p:ext uri="{BB962C8B-B14F-4D97-AF65-F5344CB8AC3E}">
        <p14:creationId xmlns:p14="http://schemas.microsoft.com/office/powerpoint/2010/main" val="1035256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43"/>
        <p:cNvGrpSpPr/>
        <p:nvPr/>
      </p:nvGrpSpPr>
      <p:grpSpPr>
        <a:xfrm>
          <a:off x="0" y="0"/>
          <a:ext cx="0" cy="0"/>
          <a:chOff x="0" y="0"/>
          <a:chExt cx="0" cy="0"/>
        </a:xfrm>
      </p:grpSpPr>
      <p:sp>
        <p:nvSpPr>
          <p:cNvPr id="44" name="Google Shape;44;g360a94691c9_0_497"/>
          <p:cNvSpPr/>
          <p:nvPr/>
        </p:nvSpPr>
        <p:spPr>
          <a:xfrm>
            <a:off x="0" y="0"/>
            <a:ext cx="18288000" cy="10287000"/>
          </a:xfrm>
          <a:prstGeom prst="rect">
            <a:avLst/>
          </a:prstGeom>
          <a:solidFill>
            <a:srgbClr val="5C73E6"/>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g360a94691c9_0_497"/>
          <p:cNvSpPr/>
          <p:nvPr/>
        </p:nvSpPr>
        <p:spPr>
          <a:xfrm>
            <a:off x="0" y="0"/>
            <a:ext cx="18288000" cy="10287000"/>
          </a:xfrm>
          <a:prstGeom prst="rect">
            <a:avLst/>
          </a:prstGeom>
          <a:solidFill>
            <a:srgbClr val="F9F9F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 name="Google Shape;46;g360a94691c9_0_497" descr="preencoded.png">
            <a:hlinkClick r:id="rId2"/>
          </p:cNvPr>
          <p:cNvPicPr preferRelativeResize="0"/>
          <p:nvPr/>
        </p:nvPicPr>
        <p:blipFill rotWithShape="1">
          <a:blip r:embed="rId3">
            <a:alphaModFix/>
          </a:blip>
          <a:srcRect/>
          <a:stretch/>
        </p:blipFill>
        <p:spPr>
          <a:xfrm>
            <a:off x="16049019" y="9686925"/>
            <a:ext cx="2153254" cy="514350"/>
          </a:xfrm>
          <a:prstGeom prst="rect">
            <a:avLst/>
          </a:prstGeom>
          <a:noFill/>
          <a:ln>
            <a:noFill/>
          </a:ln>
        </p:spPr>
      </p:pic>
    </p:spTree>
    <p:extLst>
      <p:ext uri="{BB962C8B-B14F-4D97-AF65-F5344CB8AC3E}">
        <p14:creationId xmlns:p14="http://schemas.microsoft.com/office/powerpoint/2010/main" val="18190855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lide 1 master 1">
  <p:cSld name="Slide 1 master 1">
    <p:spTree>
      <p:nvGrpSpPr>
        <p:cNvPr id="1" name="Shape 51"/>
        <p:cNvGrpSpPr/>
        <p:nvPr/>
      </p:nvGrpSpPr>
      <p:grpSpPr>
        <a:xfrm>
          <a:off x="0" y="0"/>
          <a:ext cx="0" cy="0"/>
          <a:chOff x="0" y="0"/>
          <a:chExt cx="0" cy="0"/>
        </a:xfrm>
      </p:grpSpPr>
      <p:pic>
        <p:nvPicPr>
          <p:cNvPr id="52" name="Google Shape;52;g360a94691c9_0_505" descr="preencoded.png"/>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53" name="Google Shape;53;g360a94691c9_0_505"/>
          <p:cNvSpPr/>
          <p:nvPr/>
        </p:nvSpPr>
        <p:spPr>
          <a:xfrm>
            <a:off x="0" y="0"/>
            <a:ext cx="18288000" cy="10287000"/>
          </a:xfrm>
          <a:prstGeom prst="rect">
            <a:avLst/>
          </a:prstGeom>
          <a:solidFill>
            <a:srgbClr val="F9F9FF">
              <a:alpha val="74509"/>
            </a:srgbClr>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4" name="Google Shape;54;g360a94691c9_0_505" descr="preencoded.png">
            <a:hlinkClick r:id="rId3"/>
          </p:cNvPr>
          <p:cNvPicPr preferRelativeResize="0"/>
          <p:nvPr/>
        </p:nvPicPr>
        <p:blipFill rotWithShape="1">
          <a:blip r:embed="rId4">
            <a:alphaModFix/>
          </a:blip>
          <a:srcRect/>
          <a:stretch/>
        </p:blipFill>
        <p:spPr>
          <a:xfrm>
            <a:off x="16049019" y="9686925"/>
            <a:ext cx="2153254" cy="514350"/>
          </a:xfrm>
          <a:prstGeom prst="rect">
            <a:avLst/>
          </a:prstGeom>
          <a:noFill/>
          <a:ln>
            <a:noFill/>
          </a:ln>
        </p:spPr>
      </p:pic>
    </p:spTree>
    <p:extLst>
      <p:ext uri="{BB962C8B-B14F-4D97-AF65-F5344CB8AC3E}">
        <p14:creationId xmlns:p14="http://schemas.microsoft.com/office/powerpoint/2010/main" val="1841712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2541309" y="0"/>
            <a:ext cx="5746691" cy="1711780"/>
          </a:xfrm>
          <a:custGeom>
            <a:avLst/>
            <a:gdLst/>
            <a:ahLst/>
            <a:cxnLst/>
            <a:rect l="l" t="t" r="r" b="b"/>
            <a:pathLst>
              <a:path w="5746691" h="1711780" extrusionOk="0">
                <a:moveTo>
                  <a:pt x="0" y="0"/>
                </a:moveTo>
                <a:lnTo>
                  <a:pt x="5746691" y="0"/>
                </a:lnTo>
                <a:lnTo>
                  <a:pt x="5746691" y="1711780"/>
                </a:lnTo>
                <a:lnTo>
                  <a:pt x="0" y="1711780"/>
                </a:lnTo>
                <a:lnTo>
                  <a:pt x="0" y="0"/>
                </a:lnTo>
                <a:close/>
              </a:path>
            </a:pathLst>
          </a:custGeom>
          <a:blipFill rotWithShape="1">
            <a:blip r:embed="rId3">
              <a:alphaModFix/>
            </a:blip>
            <a:stretch>
              <a:fillRect/>
            </a:stretch>
          </a:blipFill>
          <a:ln>
            <a:noFill/>
          </a:ln>
        </p:spPr>
        <p:txBody>
          <a:bodyPr/>
          <a:lstStyle/>
          <a:p>
            <a:endParaRPr lang="es-GT"/>
          </a:p>
        </p:txBody>
      </p:sp>
      <p:sp>
        <p:nvSpPr>
          <p:cNvPr id="85" name="Google Shape;85;p1"/>
          <p:cNvSpPr txBox="1"/>
          <p:nvPr/>
        </p:nvSpPr>
        <p:spPr>
          <a:xfrm>
            <a:off x="1063303" y="6994239"/>
            <a:ext cx="5717400" cy="1847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000"/>
              <a:buFont typeface="Arial"/>
              <a:buNone/>
            </a:pPr>
            <a:r>
              <a:rPr lang="en-US" sz="5000" b="1" i="0" u="none" strike="noStrike" cap="none">
                <a:solidFill>
                  <a:srgbClr val="131416"/>
                </a:solidFill>
                <a:latin typeface="Open Sans"/>
                <a:ea typeface="Open Sans"/>
                <a:cs typeface="Open Sans"/>
                <a:sym typeface="Open Sans"/>
              </a:rPr>
              <a:t>Análisis y Diseño de Sistemas 2 </a:t>
            </a:r>
            <a:endParaRPr sz="5000" b="1" i="0" u="none" strike="noStrike" cap="non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33987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9200"/>
              <a:buFont typeface="Arial"/>
              <a:buNone/>
            </a:pPr>
            <a:r>
              <a:rPr lang="en-US" sz="9200" b="1">
                <a:solidFill>
                  <a:srgbClr val="131416"/>
                </a:solidFill>
                <a:latin typeface="Open Sans"/>
                <a:ea typeface="Open Sans"/>
                <a:cs typeface="Open Sans"/>
                <a:sym typeface="Open Sans"/>
              </a:rPr>
              <a:t>Despliegue en la nube (Cloud)</a:t>
            </a:r>
            <a:endParaRPr sz="9200" b="1" i="0" u="none" strike="noStrike" cap="none">
              <a:solidFill>
                <a:srgbClr val="131416"/>
              </a:solidFill>
              <a:latin typeface="Open Sans"/>
              <a:ea typeface="Open Sans"/>
              <a:cs typeface="Open Sans"/>
              <a:sym typeface="Open Sans"/>
            </a:endParaRPr>
          </a:p>
        </p:txBody>
      </p:sp>
      <p:sp>
        <p:nvSpPr>
          <p:cNvPr id="87" name="Google Shape;87;p1"/>
          <p:cNvSpPr txBox="1"/>
          <p:nvPr/>
        </p:nvSpPr>
        <p:spPr>
          <a:xfrm>
            <a:off x="1063303" y="8745251"/>
            <a:ext cx="6981300" cy="384600"/>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Escuela de Ingeniería de Ciencias Y Sistemas</a:t>
            </a:r>
            <a:endParaRPr sz="2499" b="1" i="0" u="none" strike="noStrike" cap="non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Facultad de Ingeniería</a:t>
            </a:r>
            <a:endParaRPr sz="2499" b="1" i="0" u="none" strike="noStrike" cap="non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Universidad de San Carlos de Guatemala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p:nvPr/>
        </p:nvSpPr>
        <p:spPr>
          <a:xfrm>
            <a:off x="214843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n-US" sz="6098" b="0" i="0" u="none" strike="noStrike" cap="none">
                <a:solidFill>
                  <a:srgbClr val="131416"/>
                </a:solidFill>
                <a:latin typeface="Impact"/>
                <a:ea typeface="Impact"/>
                <a:cs typeface="Impact"/>
                <a:sym typeface="Impact"/>
              </a:rPr>
              <a:t>COMPETENCIA(S) QUE DESARROLLAREMOS</a:t>
            </a:r>
            <a:endParaRPr sz="1400" b="0" i="0" u="none" strike="noStrike" cap="none">
              <a:solidFill>
                <a:srgbClr val="000000"/>
              </a:solidFill>
              <a:latin typeface="Impact"/>
              <a:ea typeface="Impact"/>
              <a:cs typeface="Impact"/>
              <a:sym typeface="Impact"/>
            </a:endParaRPr>
          </a:p>
        </p:txBody>
      </p:sp>
      <p:sp>
        <p:nvSpPr>
          <p:cNvPr id="95" name="Google Shape;95;p3"/>
          <p:cNvSpPr txBox="1"/>
          <p:nvPr/>
        </p:nvSpPr>
        <p:spPr>
          <a:xfrm>
            <a:off x="1346552" y="3216925"/>
            <a:ext cx="15594900" cy="5281800"/>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Clr>
                <a:srgbClr val="000000"/>
              </a:buClr>
              <a:buSzPts val="5199"/>
              <a:buFont typeface="Arial"/>
              <a:buNone/>
            </a:pPr>
            <a:r>
              <a:rPr lang="en-US" sz="5199" b="1">
                <a:solidFill>
                  <a:srgbClr val="131416"/>
                </a:solidFill>
                <a:latin typeface="Open Sans"/>
                <a:ea typeface="Open Sans"/>
                <a:cs typeface="Open Sans"/>
                <a:sym typeface="Open Sans"/>
              </a:rPr>
              <a:t>Analizar y aplicar modelos de servicios en la nube y tipos de arquitectura de software para realizar despliegues eficientes, escalables y adecuados a las necesidades funcionales y no funcionales del sistema.</a:t>
            </a:r>
            <a:endParaRPr sz="5199" b="1">
              <a:solidFill>
                <a:srgbClr val="131416"/>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n-US" sz="3925" b="0" i="0" u="none" strike="noStrike" cap="none">
                <a:solidFill>
                  <a:srgbClr val="131416"/>
                </a:solidFill>
                <a:latin typeface="Arial"/>
                <a:ea typeface="Arial"/>
                <a:cs typeface="Arial"/>
                <a:sym typeface="Arial"/>
              </a:rPr>
              <a:t>Parte teórica que se requiera  (conocimiento)</a:t>
            </a:r>
            <a:endParaRPr sz="1400" b="0" i="0" u="none" strike="noStrike" cap="non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n-US" sz="6098" b="0" i="0" u="none" strike="noStrike" cap="none">
                <a:solidFill>
                  <a:srgbClr val="131416"/>
                </a:solidFill>
                <a:latin typeface="Impact"/>
                <a:ea typeface="Impact"/>
                <a:cs typeface="Impact"/>
                <a:sym typeface="Impact"/>
              </a:rPr>
              <a:t>CONTENIDO</a:t>
            </a:r>
            <a:endParaRPr sz="1400" b="0" i="0" u="none" strike="noStrike" cap="non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a:p>
        </p:txBody>
      </p:sp>
      <p:sp>
        <p:nvSpPr>
          <p:cNvPr id="103" name="Google Shape;103;p4"/>
          <p:cNvSpPr txBox="1"/>
          <p:nvPr/>
        </p:nvSpPr>
        <p:spPr>
          <a:xfrm>
            <a:off x="14141311" y="6442453"/>
            <a:ext cx="3238236" cy="2815847"/>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Clr>
                <a:srgbClr val="000000"/>
              </a:buClr>
              <a:buSzPts val="2014"/>
              <a:buFont typeface="Arial"/>
              <a:buNone/>
            </a:pPr>
            <a:r>
              <a:rPr lang="en-US" sz="2014" b="0" i="0" u="none" strike="noStrike" cap="non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07"/>
        <p:cNvGrpSpPr/>
        <p:nvPr/>
      </p:nvGrpSpPr>
      <p:grpSpPr>
        <a:xfrm>
          <a:off x="0" y="0"/>
          <a:ext cx="0" cy="0"/>
          <a:chOff x="0" y="0"/>
          <a:chExt cx="0" cy="0"/>
        </a:xfrm>
      </p:grpSpPr>
      <p:graphicFrame>
        <p:nvGraphicFramePr>
          <p:cNvPr id="108" name="Google Shape;108;g35f1b241ad4_0_10"/>
          <p:cNvGraphicFramePr/>
          <p:nvPr/>
        </p:nvGraphicFramePr>
        <p:xfrm>
          <a:off x="6116951" y="4739298"/>
          <a:ext cx="3000000" cy="3000000"/>
        </p:xfrm>
        <a:graphic>
          <a:graphicData uri="http://schemas.openxmlformats.org/drawingml/2006/table">
            <a:tbl>
              <a:tblPr>
                <a:noFill/>
                <a:tableStyleId>{3A6A283E-C27E-4D70-9C02-64E733D8C061}</a:tableStyleId>
              </a:tblPr>
              <a:tblGrid>
                <a:gridCol w="963725">
                  <a:extLst>
                    <a:ext uri="{9D8B030D-6E8A-4147-A177-3AD203B41FA5}">
                      <a16:colId xmlns:a16="http://schemas.microsoft.com/office/drawing/2014/main" val="20000"/>
                    </a:ext>
                  </a:extLst>
                </a:gridCol>
                <a:gridCol w="5090475">
                  <a:extLst>
                    <a:ext uri="{9D8B030D-6E8A-4147-A177-3AD203B41FA5}">
                      <a16:colId xmlns:a16="http://schemas.microsoft.com/office/drawing/2014/main" val="20001"/>
                    </a:ext>
                  </a:extLst>
                </a:gridCol>
              </a:tblGrid>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1</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rgbClr val="000000"/>
                        </a:buClr>
                        <a:buSzPts val="2000"/>
                        <a:buFont typeface="Arial"/>
                        <a:buNone/>
                      </a:pPr>
                      <a:r>
                        <a:rPr lang="en-US" sz="2000" u="none" strike="noStrike" cap="none">
                          <a:solidFill>
                            <a:srgbClr val="013362"/>
                          </a:solidFill>
                          <a:latin typeface="Poppins"/>
                          <a:ea typeface="Poppins"/>
                          <a:cs typeface="Poppins"/>
                          <a:sym typeface="Poppins"/>
                        </a:rPr>
                        <a:t>Avisos</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0"/>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2</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rgbClr val="000000"/>
                        </a:buClr>
                        <a:buSzPts val="2000"/>
                        <a:buFont typeface="Arial"/>
                        <a:buNone/>
                      </a:pPr>
                      <a:r>
                        <a:rPr lang="en-US" sz="2000" u="none" strike="noStrike" cap="none">
                          <a:solidFill>
                            <a:srgbClr val="013362"/>
                          </a:solidFill>
                          <a:latin typeface="Poppins"/>
                          <a:ea typeface="Poppins"/>
                          <a:cs typeface="Poppins"/>
                          <a:sym typeface="Poppins"/>
                        </a:rPr>
                        <a:t>Dudas de </a:t>
                      </a:r>
                      <a:r>
                        <a:rPr lang="en-US" sz="2000">
                          <a:solidFill>
                            <a:srgbClr val="013362"/>
                          </a:solidFill>
                          <a:latin typeface="Poppins"/>
                          <a:ea typeface="Poppins"/>
                          <a:cs typeface="Poppins"/>
                          <a:sym typeface="Poppins"/>
                        </a:rPr>
                        <a:t>practica 2</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1"/>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3</a:t>
                      </a:r>
                      <a:endParaRPr sz="1100" b="1" u="none" strike="noStrike" cap="none">
                        <a:solidFill>
                          <a:srgbClr val="FDFDFD"/>
                        </a:solidFill>
                        <a:latin typeface="Poppins"/>
                        <a:ea typeface="Poppins"/>
                        <a:cs typeface="Poppins"/>
                        <a:sym typeface="Poppins"/>
                      </a:endParaRPr>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chemeClr val="dk1"/>
                        </a:buClr>
                        <a:buSzPts val="2000"/>
                        <a:buFont typeface="Arial"/>
                        <a:buNone/>
                      </a:pPr>
                      <a:r>
                        <a:rPr lang="en-US" sz="2000" u="none" strike="noStrike" cap="none">
                          <a:solidFill>
                            <a:srgbClr val="013362"/>
                          </a:solidFill>
                          <a:latin typeface="Poppins"/>
                          <a:ea typeface="Poppins"/>
                          <a:cs typeface="Poppins"/>
                          <a:sym typeface="Poppins"/>
                        </a:rPr>
                        <a:t>Contenido </a:t>
                      </a:r>
                      <a:r>
                        <a:rPr lang="en-US" sz="2000">
                          <a:solidFill>
                            <a:srgbClr val="013362"/>
                          </a:solidFill>
                          <a:latin typeface="Poppins"/>
                          <a:ea typeface="Poppins"/>
                          <a:cs typeface="Poppins"/>
                          <a:sym typeface="Poppins"/>
                        </a:rPr>
                        <a:t>Despliegue en la Nube</a:t>
                      </a:r>
                      <a:endParaRPr sz="1100" u="none" strike="noStrike" cap="none">
                        <a:solidFill>
                          <a:srgbClr val="013362"/>
                        </a:solidFill>
                        <a:latin typeface="Poppins"/>
                        <a:ea typeface="Poppins"/>
                        <a:cs typeface="Poppins"/>
                        <a:sym typeface="Poppins"/>
                      </a:endParaRPr>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2"/>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4</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chemeClr val="dk1"/>
                        </a:buClr>
                        <a:buSzPts val="2000"/>
                        <a:buFont typeface="Arial"/>
                        <a:buNone/>
                      </a:pPr>
                      <a:r>
                        <a:rPr lang="en-US" sz="2000" u="none" strike="noStrike" cap="none">
                          <a:solidFill>
                            <a:srgbClr val="013362"/>
                          </a:solidFill>
                          <a:latin typeface="Poppins"/>
                          <a:ea typeface="Poppins"/>
                          <a:cs typeface="Poppins"/>
                          <a:sym typeface="Poppins"/>
                        </a:rPr>
                        <a:t>Kahoot</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09" name="Google Shape;109;g35f1b241ad4_0_10"/>
          <p:cNvGrpSpPr/>
          <p:nvPr/>
        </p:nvGrpSpPr>
        <p:grpSpPr>
          <a:xfrm>
            <a:off x="-584626" y="1589619"/>
            <a:ext cx="19457594" cy="2036657"/>
            <a:chOff x="0" y="-76200"/>
            <a:chExt cx="5124600" cy="536400"/>
          </a:xfrm>
        </p:grpSpPr>
        <p:sp>
          <p:nvSpPr>
            <p:cNvPr id="110" name="Google Shape;110;g35f1b241ad4_0_10"/>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11" name="Google Shape;111;g35f1b241ad4_0_10"/>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12" name="Google Shape;112;g35f1b241ad4_0_10"/>
          <p:cNvSpPr/>
          <p:nvPr/>
        </p:nvSpPr>
        <p:spPr>
          <a:xfrm>
            <a:off x="592309" y="8986439"/>
            <a:ext cx="2658272" cy="1329136"/>
          </a:xfrm>
          <a:custGeom>
            <a:avLst/>
            <a:gdLst/>
            <a:ahLst/>
            <a:cxnLst/>
            <a:rect l="l" t="t" r="r" b="b"/>
            <a:pathLst>
              <a:path w="2658272" h="1329136" extrusionOk="0">
                <a:moveTo>
                  <a:pt x="0" y="0"/>
                </a:moveTo>
                <a:lnTo>
                  <a:pt x="2658272" y="0"/>
                </a:lnTo>
                <a:lnTo>
                  <a:pt x="2658272" y="1329136"/>
                </a:lnTo>
                <a:lnTo>
                  <a:pt x="0" y="1329136"/>
                </a:lnTo>
                <a:lnTo>
                  <a:pt x="0" y="0"/>
                </a:lnTo>
                <a:close/>
              </a:path>
            </a:pathLst>
          </a:custGeom>
          <a:blipFill rotWithShape="1">
            <a:blip r:embed="rId3">
              <a:alphaModFix/>
            </a:blip>
            <a:stretch>
              <a:fillRect/>
            </a:stretch>
          </a:blipFill>
          <a:ln>
            <a:noFill/>
          </a:ln>
        </p:spPr>
        <p:txBody>
          <a:bodyPr/>
          <a:lstStyle/>
          <a:p>
            <a:endParaRPr lang="es-GT"/>
          </a:p>
        </p:txBody>
      </p:sp>
      <p:sp>
        <p:nvSpPr>
          <p:cNvPr id="113" name="Google Shape;113;g35f1b241ad4_0_10"/>
          <p:cNvSpPr txBox="1"/>
          <p:nvPr/>
        </p:nvSpPr>
        <p:spPr>
          <a:xfrm>
            <a:off x="5939974" y="1861823"/>
            <a:ext cx="6408000" cy="1627800"/>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Clr>
                <a:srgbClr val="000000"/>
              </a:buClr>
              <a:buSzPts val="10576"/>
              <a:buFont typeface="Arial"/>
              <a:buNone/>
            </a:pPr>
            <a:r>
              <a:rPr lang="en-US" sz="10576" b="0" i="0" u="none" strike="noStrike" cap="none">
                <a:solidFill>
                  <a:srgbClr val="FDFDFD"/>
                </a:solidFill>
                <a:latin typeface="Poppins Black"/>
                <a:ea typeface="Poppins Black"/>
                <a:cs typeface="Poppins Black"/>
                <a:sym typeface="Poppins Black"/>
              </a:rPr>
              <a:t>AGENDA</a:t>
            </a:r>
            <a:endParaRPr sz="1400" b="0" i="0" u="none" strike="noStrike" cap="none">
              <a:solidFill>
                <a:srgbClr val="000000"/>
              </a:solidFill>
              <a:latin typeface="Arial"/>
              <a:ea typeface="Arial"/>
              <a:cs typeface="Arial"/>
              <a:sym typeface="Arial"/>
            </a:endParaRPr>
          </a:p>
        </p:txBody>
      </p:sp>
      <p:sp>
        <p:nvSpPr>
          <p:cNvPr id="114" name="Google Shape;114;g35f1b241ad4_0_10"/>
          <p:cNvSpPr/>
          <p:nvPr/>
        </p:nvSpPr>
        <p:spPr>
          <a:xfrm rot="10800000">
            <a:off x="14838633" y="0"/>
            <a:ext cx="2658272" cy="1329136"/>
          </a:xfrm>
          <a:custGeom>
            <a:avLst/>
            <a:gdLst/>
            <a:ahLst/>
            <a:cxnLst/>
            <a:rect l="l" t="t" r="r" b="b"/>
            <a:pathLst>
              <a:path w="2658272" h="1329136" extrusionOk="0">
                <a:moveTo>
                  <a:pt x="0" y="0"/>
                </a:moveTo>
                <a:lnTo>
                  <a:pt x="2658272" y="0"/>
                </a:lnTo>
                <a:lnTo>
                  <a:pt x="2658272" y="1329136"/>
                </a:lnTo>
                <a:lnTo>
                  <a:pt x="0" y="1329136"/>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18"/>
        <p:cNvGrpSpPr/>
        <p:nvPr/>
      </p:nvGrpSpPr>
      <p:grpSpPr>
        <a:xfrm>
          <a:off x="0" y="0"/>
          <a:ext cx="0" cy="0"/>
          <a:chOff x="0" y="0"/>
          <a:chExt cx="0" cy="0"/>
        </a:xfrm>
      </p:grpSpPr>
      <p:grpSp>
        <p:nvGrpSpPr>
          <p:cNvPr id="119" name="Google Shape;119;g35f1b241ad4_0_20"/>
          <p:cNvGrpSpPr/>
          <p:nvPr/>
        </p:nvGrpSpPr>
        <p:grpSpPr>
          <a:xfrm>
            <a:off x="-584800" y="2437174"/>
            <a:ext cx="19457594" cy="4853776"/>
            <a:chOff x="0" y="-76200"/>
            <a:chExt cx="5124600" cy="536400"/>
          </a:xfrm>
        </p:grpSpPr>
        <p:sp>
          <p:nvSpPr>
            <p:cNvPr id="120" name="Google Shape;120;g35f1b241ad4_0_20"/>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21" name="Google Shape;121;g35f1b241ad4_0_20"/>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22" name="Google Shape;122;g35f1b241ad4_0_20"/>
          <p:cNvSpPr txBox="1"/>
          <p:nvPr/>
        </p:nvSpPr>
        <p:spPr>
          <a:xfrm>
            <a:off x="1479696" y="3685939"/>
            <a:ext cx="15089400" cy="34077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a:solidFill>
                  <a:srgbClr val="FDFDFD"/>
                </a:solidFill>
                <a:latin typeface="Poppins"/>
                <a:ea typeface="Poppins"/>
                <a:cs typeface="Poppins"/>
                <a:sym typeface="Poppins"/>
              </a:rPr>
              <a:t>Despliegue en la nube (Cloud)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6"/>
        <p:cNvGrpSpPr/>
        <p:nvPr/>
      </p:nvGrpSpPr>
      <p:grpSpPr>
        <a:xfrm>
          <a:off x="0" y="0"/>
          <a:ext cx="0" cy="0"/>
          <a:chOff x="0" y="0"/>
          <a:chExt cx="0" cy="0"/>
        </a:xfrm>
      </p:grpSpPr>
      <p:grpSp>
        <p:nvGrpSpPr>
          <p:cNvPr id="127" name="Google Shape;127;g35f1b241ad4_0_1"/>
          <p:cNvGrpSpPr/>
          <p:nvPr/>
        </p:nvGrpSpPr>
        <p:grpSpPr>
          <a:xfrm>
            <a:off x="-584801" y="364850"/>
            <a:ext cx="19457594" cy="2036657"/>
            <a:chOff x="0" y="-76200"/>
            <a:chExt cx="5124600" cy="536400"/>
          </a:xfrm>
        </p:grpSpPr>
        <p:sp>
          <p:nvSpPr>
            <p:cNvPr id="128" name="Google Shape;128;g35f1b241ad4_0_1"/>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29" name="Google Shape;129;g35f1b241ad4_0_1"/>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30" name="Google Shape;130;g35f1b241ad4_0_1"/>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a:solidFill>
                  <a:srgbClr val="FDFDFD"/>
                </a:solidFill>
                <a:latin typeface="Poppins"/>
                <a:ea typeface="Poppins"/>
                <a:cs typeface="Poppins"/>
                <a:sym typeface="Poppins"/>
              </a:rPr>
              <a:t>IaaS</a:t>
            </a:r>
            <a:endParaRPr sz="7024" b="1" i="0" u="none" strike="noStrike" cap="none">
              <a:solidFill>
                <a:srgbClr val="FDFDFD"/>
              </a:solidFill>
              <a:latin typeface="Poppins"/>
              <a:ea typeface="Poppins"/>
              <a:cs typeface="Poppins"/>
              <a:sym typeface="Poppins"/>
            </a:endParaRPr>
          </a:p>
        </p:txBody>
      </p:sp>
      <p:sp>
        <p:nvSpPr>
          <p:cNvPr id="131" name="Google Shape;131;g35f1b241ad4_0_1"/>
          <p:cNvSpPr txBox="1"/>
          <p:nvPr/>
        </p:nvSpPr>
        <p:spPr>
          <a:xfrm>
            <a:off x="1028700" y="2969250"/>
            <a:ext cx="17048400" cy="30105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Cuando nos referimos a IaaS, estamos hablando de infraestructuras como servicio. Las empresas contratan la infraestructura de hardware a un tercero a cambio de una cuota o alquiler. La contratación de este hardware permite elegir la capacidad de proceso (procesadores), la memoria a utilizar (memoria RAM) y el espacio de almacenamiento (disco duro).</a:t>
            </a:r>
            <a:endParaRPr sz="2963" b="0" i="0" u="none" strike="noStrike" cap="none">
              <a:solidFill>
                <a:srgbClr val="013362"/>
              </a:solidFill>
              <a:latin typeface="Poppins Light"/>
              <a:ea typeface="Poppins Light"/>
              <a:cs typeface="Poppins Light"/>
              <a:sym typeface="Poppins Light"/>
            </a:endParaRPr>
          </a:p>
        </p:txBody>
      </p:sp>
      <p:pic>
        <p:nvPicPr>
          <p:cNvPr id="132" name="Google Shape;132;g35f1b241ad4_0_1"/>
          <p:cNvPicPr preferRelativeResize="0"/>
          <p:nvPr/>
        </p:nvPicPr>
        <p:blipFill rotWithShape="1">
          <a:blip r:embed="rId3">
            <a:alphaModFix/>
          </a:blip>
          <a:srcRect b="11205"/>
          <a:stretch/>
        </p:blipFill>
        <p:spPr>
          <a:xfrm>
            <a:off x="5580000" y="6284550"/>
            <a:ext cx="6353100" cy="3553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36"/>
        <p:cNvGrpSpPr/>
        <p:nvPr/>
      </p:nvGrpSpPr>
      <p:grpSpPr>
        <a:xfrm>
          <a:off x="0" y="0"/>
          <a:ext cx="0" cy="0"/>
          <a:chOff x="0" y="0"/>
          <a:chExt cx="0" cy="0"/>
        </a:xfrm>
      </p:grpSpPr>
      <p:grpSp>
        <p:nvGrpSpPr>
          <p:cNvPr id="137" name="Google Shape;137;g360acce8e50_0_83"/>
          <p:cNvGrpSpPr/>
          <p:nvPr/>
        </p:nvGrpSpPr>
        <p:grpSpPr>
          <a:xfrm>
            <a:off x="-584801" y="364850"/>
            <a:ext cx="19457594" cy="2036657"/>
            <a:chOff x="0" y="-76200"/>
            <a:chExt cx="5124600" cy="536400"/>
          </a:xfrm>
        </p:grpSpPr>
        <p:sp>
          <p:nvSpPr>
            <p:cNvPr id="138" name="Google Shape;138;g360acce8e50_0_83"/>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39" name="Google Shape;139;g360acce8e50_0_83"/>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40" name="Google Shape;140;g360acce8e50_0_83"/>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a:solidFill>
                  <a:srgbClr val="FDFDFD"/>
                </a:solidFill>
                <a:latin typeface="Poppins"/>
                <a:ea typeface="Poppins"/>
                <a:cs typeface="Poppins"/>
                <a:sym typeface="Poppins"/>
              </a:rPr>
              <a:t>Ejemplos IaaS</a:t>
            </a:r>
            <a:endParaRPr sz="7024" b="1" i="0" u="none" strike="noStrike" cap="none">
              <a:solidFill>
                <a:srgbClr val="FDFDFD"/>
              </a:solidFill>
              <a:latin typeface="Poppins"/>
              <a:ea typeface="Poppins"/>
              <a:cs typeface="Poppins"/>
              <a:sym typeface="Poppins"/>
            </a:endParaRPr>
          </a:p>
        </p:txBody>
      </p:sp>
      <p:sp>
        <p:nvSpPr>
          <p:cNvPr id="141" name="Google Shape;141;g360acce8e50_0_83"/>
          <p:cNvSpPr txBox="1"/>
          <p:nvPr/>
        </p:nvSpPr>
        <p:spPr>
          <a:xfrm>
            <a:off x="1028700" y="2969250"/>
            <a:ext cx="17048400" cy="7023600"/>
          </a:xfrm>
          <a:prstGeom prst="rect">
            <a:avLst/>
          </a:prstGeom>
          <a:noFill/>
          <a:ln>
            <a:noFill/>
          </a:ln>
        </p:spPr>
        <p:txBody>
          <a:bodyPr spcFirstLastPara="1" wrap="square" lIns="0" tIns="0" rIns="0" bIns="0" anchor="t" anchorCtr="0">
            <a:spAutoFit/>
          </a:bodyPr>
          <a:lstStyle/>
          <a:p>
            <a:pPr marL="457200" marR="0" lvl="0" indent="-391350" algn="l" rtl="0">
              <a:lnSpc>
                <a:spcPct val="140027"/>
              </a:lnSpc>
              <a:spcBef>
                <a:spcPts val="0"/>
              </a:spcBef>
              <a:spcAft>
                <a:spcPts val="0"/>
              </a:spcAft>
              <a:buClr>
                <a:srgbClr val="013362"/>
              </a:buClr>
              <a:buSzPts val="2563"/>
              <a:buFont typeface="Poppins Light"/>
              <a:buChar char="●"/>
            </a:pPr>
            <a:r>
              <a:rPr lang="en-US" sz="2563" b="1">
                <a:solidFill>
                  <a:srgbClr val="013362"/>
                </a:solidFill>
                <a:latin typeface="Poppins"/>
                <a:ea typeface="Poppins"/>
                <a:cs typeface="Poppins"/>
                <a:sym typeface="Poppins"/>
              </a:rPr>
              <a:t>Amazon Web Services:</a:t>
            </a:r>
            <a:r>
              <a:rPr lang="en-US" sz="2563">
                <a:solidFill>
                  <a:srgbClr val="013362"/>
                </a:solidFill>
                <a:latin typeface="Poppins Light"/>
                <a:ea typeface="Poppins Light"/>
                <a:cs typeface="Poppins Light"/>
                <a:sym typeface="Poppins Light"/>
              </a:rPr>
              <a:t> el proveedor de servicios en la nube de Amazon es un claro ejemplo de IaaS. Con su servicio central Amazon EC2, permite a los usuarios alquilar servidores virtuales en los cuales instalar sus aplicaciones. EC2 ofrece configuraciones de hardware que pueden ser contratadas por los clientes. En estas configuraciones, llamadas tipos de instancias, se puede elegir entre una variedad de CPUs, memoria RAM, almacenamiento en disco duro y capacidad de transferencia de red. Además ofrece otros servicios anexos, cómo contratación de cortafuegos, direcciones IPv4 estáticas y redes virtuales independientes.</a:t>
            </a:r>
            <a:endParaRPr sz="2563">
              <a:solidFill>
                <a:srgbClr val="013362"/>
              </a:solidFill>
              <a:latin typeface="Poppins Light"/>
              <a:ea typeface="Poppins Light"/>
              <a:cs typeface="Poppins Light"/>
              <a:sym typeface="Poppins Light"/>
            </a:endParaRPr>
          </a:p>
          <a:p>
            <a:pPr marL="457200" marR="0" lvl="0" indent="-391350" algn="l" rtl="0">
              <a:lnSpc>
                <a:spcPct val="140027"/>
              </a:lnSpc>
              <a:spcBef>
                <a:spcPts val="0"/>
              </a:spcBef>
              <a:spcAft>
                <a:spcPts val="0"/>
              </a:spcAft>
              <a:buClr>
                <a:srgbClr val="013362"/>
              </a:buClr>
              <a:buSzPts val="2563"/>
              <a:buFont typeface="Poppins Light"/>
              <a:buChar char="●"/>
            </a:pPr>
            <a:r>
              <a:rPr lang="en-US" sz="2563" b="1">
                <a:solidFill>
                  <a:srgbClr val="013362"/>
                </a:solidFill>
                <a:latin typeface="Poppins"/>
                <a:ea typeface="Poppins"/>
                <a:cs typeface="Poppins"/>
                <a:sym typeface="Poppins"/>
              </a:rPr>
              <a:t>Microsoft Azure:</a:t>
            </a:r>
            <a:r>
              <a:rPr lang="en-US" sz="2563">
                <a:solidFill>
                  <a:srgbClr val="013362"/>
                </a:solidFill>
                <a:latin typeface="Poppins Light"/>
                <a:ea typeface="Poppins Light"/>
                <a:cs typeface="Poppins Light"/>
                <a:sym typeface="Poppins Light"/>
              </a:rPr>
              <a:t> Microsoft también dispone de un servicio IaaS con Azure. En él, se puede realizar una contratación de hardware personalizada en cuanto a CPU, memoria, almacenamiento y velocidad de red. En esta infraestructura los clientes pueden hacer correr sus aplicaciones empresariales, como por ejemplo SAP o Sharepoint sin necesidad de preocuparse por el hardware necesario para hacerlo. Microsoft Azure destaca por la gran cantidad de recursos que pueden ser contratados, lo que la hace ideal para las empresas con necesidades muy exigentes en cuanto a infraestructura.</a:t>
            </a:r>
            <a:endParaRPr sz="2563">
              <a:solidFill>
                <a:srgbClr val="013362"/>
              </a:solidFill>
              <a:latin typeface="Poppins Light"/>
              <a:ea typeface="Poppins Light"/>
              <a:cs typeface="Poppins Light"/>
              <a:sym typeface="Poppi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45"/>
        <p:cNvGrpSpPr/>
        <p:nvPr/>
      </p:nvGrpSpPr>
      <p:grpSpPr>
        <a:xfrm>
          <a:off x="0" y="0"/>
          <a:ext cx="0" cy="0"/>
          <a:chOff x="0" y="0"/>
          <a:chExt cx="0" cy="0"/>
        </a:xfrm>
      </p:grpSpPr>
      <p:grpSp>
        <p:nvGrpSpPr>
          <p:cNvPr id="146" name="Google Shape;146;g360acce8e50_0_93"/>
          <p:cNvGrpSpPr/>
          <p:nvPr/>
        </p:nvGrpSpPr>
        <p:grpSpPr>
          <a:xfrm>
            <a:off x="-584801" y="364850"/>
            <a:ext cx="19457594" cy="2036657"/>
            <a:chOff x="0" y="-76200"/>
            <a:chExt cx="5124600" cy="536400"/>
          </a:xfrm>
        </p:grpSpPr>
        <p:sp>
          <p:nvSpPr>
            <p:cNvPr id="147" name="Google Shape;147;g360acce8e50_0_93"/>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48" name="Google Shape;148;g360acce8e50_0_93"/>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49" name="Google Shape;149;g360acce8e50_0_93"/>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a:solidFill>
                  <a:srgbClr val="FDFDFD"/>
                </a:solidFill>
                <a:latin typeface="Poppins"/>
                <a:ea typeface="Poppins"/>
                <a:cs typeface="Poppins"/>
                <a:sym typeface="Poppins"/>
              </a:rPr>
              <a:t>PaaS</a:t>
            </a:r>
            <a:endParaRPr sz="7024" b="1" i="0" u="none" strike="noStrike" cap="none">
              <a:solidFill>
                <a:srgbClr val="FDFDFD"/>
              </a:solidFill>
              <a:latin typeface="Poppins"/>
              <a:ea typeface="Poppins"/>
              <a:cs typeface="Poppins"/>
              <a:sym typeface="Poppins"/>
            </a:endParaRPr>
          </a:p>
        </p:txBody>
      </p:sp>
      <p:sp>
        <p:nvSpPr>
          <p:cNvPr id="150" name="Google Shape;150;g360acce8e50_0_93"/>
          <p:cNvSpPr txBox="1"/>
          <p:nvPr/>
        </p:nvSpPr>
        <p:spPr>
          <a:xfrm>
            <a:off x="1043650" y="2580500"/>
            <a:ext cx="17048400" cy="4287900"/>
          </a:xfrm>
          <a:prstGeom prst="rect">
            <a:avLst/>
          </a:prstGeom>
          <a:noFill/>
          <a:ln>
            <a:noFill/>
          </a:ln>
        </p:spPr>
        <p:txBody>
          <a:bodyPr spcFirstLastPara="1" wrap="square" lIns="0" tIns="0" rIns="0" bIns="0" anchor="t" anchorCtr="0">
            <a:spAutoFit/>
          </a:bodyPr>
          <a:lstStyle/>
          <a:p>
            <a:pPr marL="0" marR="0" lvl="0" indent="0" algn="l" rtl="0">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El servicio PaaS ofrece plataformas como servicios. En estas plataformas se pueden lanzar aplicaciones como bases de datos, middleware, herramientas de desarrollo, servicios de inteligencia empresarial, etc.</a:t>
            </a:r>
            <a:endParaRPr sz="2963">
              <a:solidFill>
                <a:srgbClr val="013362"/>
              </a:solidFill>
              <a:latin typeface="Poppins Light"/>
              <a:ea typeface="Poppins Light"/>
              <a:cs typeface="Poppins Light"/>
              <a:sym typeface="Poppins Light"/>
            </a:endParaRPr>
          </a:p>
          <a:p>
            <a:pPr marL="0" marR="0" lvl="0" indent="0" algn="l" rtl="0">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Este tipo de servicios es el ideal para los desarrolladores que sólo quieran centrarse en la implementación y administración de sus aplicaciones. Al no tener que preocuparse por los recursos de hardware y software (sistemas operativo), mejoran su eficacia, centrándose sólo en la parte que les interesa.</a:t>
            </a:r>
            <a:endParaRPr sz="2963">
              <a:solidFill>
                <a:srgbClr val="013362"/>
              </a:solidFill>
              <a:latin typeface="Poppins Light"/>
              <a:ea typeface="Poppins Light"/>
              <a:cs typeface="Poppins Light"/>
              <a:sym typeface="Poppins Light"/>
            </a:endParaRPr>
          </a:p>
        </p:txBody>
      </p:sp>
      <p:pic>
        <p:nvPicPr>
          <p:cNvPr id="151" name="Google Shape;151;g360acce8e50_0_93"/>
          <p:cNvPicPr preferRelativeResize="0"/>
          <p:nvPr/>
        </p:nvPicPr>
        <p:blipFill>
          <a:blip r:embed="rId3">
            <a:alphaModFix/>
          </a:blip>
          <a:stretch>
            <a:fillRect/>
          </a:stretch>
        </p:blipFill>
        <p:spPr>
          <a:xfrm>
            <a:off x="6754500" y="7173200"/>
            <a:ext cx="5626691" cy="3113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55"/>
        <p:cNvGrpSpPr/>
        <p:nvPr/>
      </p:nvGrpSpPr>
      <p:grpSpPr>
        <a:xfrm>
          <a:off x="0" y="0"/>
          <a:ext cx="0" cy="0"/>
          <a:chOff x="0" y="0"/>
          <a:chExt cx="0" cy="0"/>
        </a:xfrm>
      </p:grpSpPr>
      <p:grpSp>
        <p:nvGrpSpPr>
          <p:cNvPr id="156" name="Google Shape;156;g360acce8e50_0_102"/>
          <p:cNvGrpSpPr/>
          <p:nvPr/>
        </p:nvGrpSpPr>
        <p:grpSpPr>
          <a:xfrm>
            <a:off x="-584801" y="364850"/>
            <a:ext cx="19457594" cy="2036657"/>
            <a:chOff x="0" y="-76200"/>
            <a:chExt cx="5124600" cy="536400"/>
          </a:xfrm>
        </p:grpSpPr>
        <p:sp>
          <p:nvSpPr>
            <p:cNvPr id="157" name="Google Shape;157;g360acce8e50_0_102"/>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58" name="Google Shape;158;g360acce8e50_0_102"/>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9" name="Google Shape;159;g360acce8e50_0_102"/>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a:solidFill>
                  <a:srgbClr val="FDFDFD"/>
                </a:solidFill>
                <a:latin typeface="Poppins"/>
                <a:ea typeface="Poppins"/>
                <a:cs typeface="Poppins"/>
                <a:sym typeface="Poppins"/>
              </a:rPr>
              <a:t>Ejemplos PaaS</a:t>
            </a:r>
            <a:endParaRPr sz="7024" b="1" i="0" u="none" strike="noStrike" cap="none">
              <a:solidFill>
                <a:srgbClr val="FDFDFD"/>
              </a:solidFill>
              <a:latin typeface="Poppins"/>
              <a:ea typeface="Poppins"/>
              <a:cs typeface="Poppins"/>
              <a:sym typeface="Poppins"/>
            </a:endParaRPr>
          </a:p>
        </p:txBody>
      </p:sp>
      <p:sp>
        <p:nvSpPr>
          <p:cNvPr id="160" name="Google Shape;160;g360acce8e50_0_102"/>
          <p:cNvSpPr txBox="1"/>
          <p:nvPr/>
        </p:nvSpPr>
        <p:spPr>
          <a:xfrm>
            <a:off x="1028700" y="2969250"/>
            <a:ext cx="17048400" cy="4813800"/>
          </a:xfrm>
          <a:prstGeom prst="rect">
            <a:avLst/>
          </a:prstGeom>
          <a:noFill/>
          <a:ln>
            <a:noFill/>
          </a:ln>
        </p:spPr>
        <p:txBody>
          <a:bodyPr spcFirstLastPara="1" wrap="square" lIns="0" tIns="0" rIns="0" bIns="0" anchor="t" anchorCtr="0">
            <a:spAutoFit/>
          </a:bodyPr>
          <a:lstStyle/>
          <a:p>
            <a:pPr marL="457200" marR="0" lvl="0" indent="-391350" algn="l" rtl="0">
              <a:lnSpc>
                <a:spcPct val="140027"/>
              </a:lnSpc>
              <a:spcBef>
                <a:spcPts val="0"/>
              </a:spcBef>
              <a:spcAft>
                <a:spcPts val="0"/>
              </a:spcAft>
              <a:buClr>
                <a:srgbClr val="013362"/>
              </a:buClr>
              <a:buSzPts val="2563"/>
              <a:buFont typeface="Poppins Light"/>
              <a:buChar char="●"/>
            </a:pPr>
            <a:r>
              <a:rPr lang="en-US" sz="2563" b="1">
                <a:solidFill>
                  <a:srgbClr val="013362"/>
                </a:solidFill>
                <a:latin typeface="Poppins"/>
                <a:ea typeface="Poppins"/>
                <a:cs typeface="Poppins"/>
                <a:sym typeface="Poppins"/>
              </a:rPr>
              <a:t>Google App Engine: </a:t>
            </a:r>
            <a:r>
              <a:rPr lang="en-US" sz="2563">
                <a:solidFill>
                  <a:srgbClr val="013362"/>
                </a:solidFill>
                <a:latin typeface="Poppins Light"/>
                <a:ea typeface="Poppins Light"/>
                <a:cs typeface="Poppins Light"/>
                <a:sym typeface="Poppins Light"/>
              </a:rPr>
              <a:t>este servicio de Google está enfocado a que el cliente pueda publicar aplicaciones web online, sin tener que preocuparse por la infraestructura donde hacerlo. Así, el cliente se enfoca solamente en la construcción y configuración de sus aplicaciones, siendo Google la encargada de aprovisionar de los recursos necesarios. Google App Engine cuenta con un nivelador de carga, que va aumentando los recursos necesarios según necesiten las aplicaciones, por lo que no es necesario preocuparse por la escalabilidad.</a:t>
            </a:r>
            <a:endParaRPr sz="2563">
              <a:solidFill>
                <a:srgbClr val="013362"/>
              </a:solidFill>
              <a:latin typeface="Poppins Light"/>
              <a:ea typeface="Poppins Light"/>
              <a:cs typeface="Poppins Light"/>
              <a:sym typeface="Poppins Light"/>
            </a:endParaRPr>
          </a:p>
          <a:p>
            <a:pPr marL="457200" marR="0" lvl="0" indent="-391350" algn="l" rtl="0">
              <a:lnSpc>
                <a:spcPct val="140027"/>
              </a:lnSpc>
              <a:spcBef>
                <a:spcPts val="0"/>
              </a:spcBef>
              <a:spcAft>
                <a:spcPts val="0"/>
              </a:spcAft>
              <a:buClr>
                <a:srgbClr val="013362"/>
              </a:buClr>
              <a:buSzPts val="2563"/>
              <a:buFont typeface="Poppins Light"/>
              <a:buChar char="●"/>
            </a:pPr>
            <a:r>
              <a:rPr lang="en-US" sz="2563" b="1">
                <a:solidFill>
                  <a:srgbClr val="013362"/>
                </a:solidFill>
                <a:latin typeface="Poppins"/>
                <a:ea typeface="Poppins"/>
                <a:cs typeface="Poppins"/>
                <a:sym typeface="Poppins"/>
              </a:rPr>
              <a:t>Bungee Connect: </a:t>
            </a:r>
            <a:r>
              <a:rPr lang="en-US" sz="2563">
                <a:solidFill>
                  <a:srgbClr val="013362"/>
                </a:solidFill>
                <a:latin typeface="Poppins Light"/>
                <a:ea typeface="Poppins Light"/>
                <a:cs typeface="Poppins Light"/>
                <a:sym typeface="Poppins Light"/>
              </a:rPr>
              <a:t>es uno de los primeros servicios PaaS que permitieron el despliegue de aplicaciones en la nube sin preocuparse por la infraestructura. Con el servicio de Bungee Connect se obtiene un entorno adecuado para el desarrollo, testeo y ejecución de aplicaciones web.</a:t>
            </a:r>
            <a:endParaRPr sz="2563">
              <a:solidFill>
                <a:srgbClr val="013362"/>
              </a:solidFill>
              <a:latin typeface="Poppins Light"/>
              <a:ea typeface="Poppins Light"/>
              <a:cs typeface="Poppins Light"/>
              <a:sym typeface="Poppi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64"/>
        <p:cNvGrpSpPr/>
        <p:nvPr/>
      </p:nvGrpSpPr>
      <p:grpSpPr>
        <a:xfrm>
          <a:off x="0" y="0"/>
          <a:ext cx="0" cy="0"/>
          <a:chOff x="0" y="0"/>
          <a:chExt cx="0" cy="0"/>
        </a:xfrm>
      </p:grpSpPr>
      <p:grpSp>
        <p:nvGrpSpPr>
          <p:cNvPr id="165" name="Google Shape;165;g360acce8e50_0_111"/>
          <p:cNvGrpSpPr/>
          <p:nvPr/>
        </p:nvGrpSpPr>
        <p:grpSpPr>
          <a:xfrm>
            <a:off x="-584801" y="200375"/>
            <a:ext cx="19457594" cy="2036657"/>
            <a:chOff x="0" y="-76200"/>
            <a:chExt cx="5124600" cy="536400"/>
          </a:xfrm>
        </p:grpSpPr>
        <p:sp>
          <p:nvSpPr>
            <p:cNvPr id="166" name="Google Shape;166;g360acce8e50_0_111"/>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67" name="Google Shape;167;g360acce8e50_0_111"/>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8" name="Google Shape;168;g360acce8e50_0_111"/>
          <p:cNvSpPr txBox="1"/>
          <p:nvPr/>
        </p:nvSpPr>
        <p:spPr>
          <a:xfrm>
            <a:off x="-232650" y="5789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a:solidFill>
                  <a:srgbClr val="FDFDFD"/>
                </a:solidFill>
                <a:latin typeface="Poppins"/>
                <a:ea typeface="Poppins"/>
                <a:cs typeface="Poppins"/>
                <a:sym typeface="Poppins"/>
              </a:rPr>
              <a:t>SaaS</a:t>
            </a:r>
            <a:endParaRPr sz="7024" b="1" i="0" u="none" strike="noStrike" cap="none">
              <a:solidFill>
                <a:srgbClr val="FDFDFD"/>
              </a:solidFill>
              <a:latin typeface="Poppins"/>
              <a:ea typeface="Poppins"/>
              <a:cs typeface="Poppins"/>
              <a:sym typeface="Poppins"/>
            </a:endParaRPr>
          </a:p>
        </p:txBody>
      </p:sp>
      <p:sp>
        <p:nvSpPr>
          <p:cNvPr id="169" name="Google Shape;169;g360acce8e50_0_111"/>
          <p:cNvSpPr txBox="1"/>
          <p:nvPr/>
        </p:nvSpPr>
        <p:spPr>
          <a:xfrm>
            <a:off x="1043650" y="2580500"/>
            <a:ext cx="17048400" cy="4427700"/>
          </a:xfrm>
          <a:prstGeom prst="rect">
            <a:avLst/>
          </a:prstGeom>
          <a:noFill/>
          <a:ln>
            <a:noFill/>
          </a:ln>
        </p:spPr>
        <p:txBody>
          <a:bodyPr spcFirstLastPara="1" wrap="square" lIns="0" tIns="0" rIns="0" bIns="0" anchor="t" anchorCtr="0">
            <a:spAutoFit/>
          </a:bodyPr>
          <a:lstStyle/>
          <a:p>
            <a:pPr marL="0" marR="0" lvl="0" indent="0" algn="l" rtl="0">
              <a:lnSpc>
                <a:spcPct val="140027"/>
              </a:lnSpc>
              <a:spcBef>
                <a:spcPts val="0"/>
              </a:spcBef>
              <a:spcAft>
                <a:spcPts val="0"/>
              </a:spcAft>
              <a:buClr>
                <a:srgbClr val="000000"/>
              </a:buClr>
              <a:buSzPts val="2963"/>
              <a:buFont typeface="Arial"/>
              <a:buNone/>
            </a:pPr>
            <a:r>
              <a:rPr lang="en-US" sz="2663">
                <a:solidFill>
                  <a:srgbClr val="013362"/>
                </a:solidFill>
                <a:latin typeface="Poppins Light"/>
                <a:ea typeface="Poppins Light"/>
                <a:cs typeface="Poppins Light"/>
                <a:sym typeface="Poppins Light"/>
              </a:rPr>
              <a:t>Este modelo de software como infraestructura, aloja el software de la empresa, así como sus datos, en servidores externos a la misma, y paga una cuota por su utilización. Cualquier empleado de una empresa podrá acceder desde cualquier lugara las aplicaciones de la empresa sin necesidad de instalarlas en un equipo local. Cuando hablamos de software en la nube estamos hablando de SaaS.</a:t>
            </a:r>
            <a:endParaRPr sz="2663">
              <a:solidFill>
                <a:srgbClr val="013362"/>
              </a:solidFill>
              <a:latin typeface="Poppins Light"/>
              <a:ea typeface="Poppins Light"/>
              <a:cs typeface="Poppins Light"/>
              <a:sym typeface="Poppins Light"/>
            </a:endParaRPr>
          </a:p>
          <a:p>
            <a:pPr marL="0" marR="0" lvl="0" indent="0" algn="l" rtl="0">
              <a:lnSpc>
                <a:spcPct val="140027"/>
              </a:lnSpc>
              <a:spcBef>
                <a:spcPts val="0"/>
              </a:spcBef>
              <a:spcAft>
                <a:spcPts val="0"/>
              </a:spcAft>
              <a:buClr>
                <a:srgbClr val="000000"/>
              </a:buClr>
              <a:buSzPts val="2963"/>
              <a:buFont typeface="Arial"/>
              <a:buNone/>
            </a:pPr>
            <a:r>
              <a:rPr lang="en-US" sz="2663">
                <a:solidFill>
                  <a:srgbClr val="013362"/>
                </a:solidFill>
                <a:latin typeface="Poppins Light"/>
                <a:ea typeface="Poppins Light"/>
                <a:cs typeface="Poppins Light"/>
                <a:sym typeface="Poppins Light"/>
              </a:rPr>
              <a:t>Con un SaaS la preocupación de la empresa será sólo cómo utilizar los programas de software necesarios para su funcionamiento, olvidándose del resto de recursos. El hardware requerido, sistemas operativos, aplicaciones, etc. son provistas por el proveedor del servicio que, además, se encarga de mantenerlas funcionando correctamente y actualizadas.</a:t>
            </a:r>
            <a:endParaRPr sz="2663">
              <a:solidFill>
                <a:srgbClr val="013362"/>
              </a:solidFill>
              <a:latin typeface="Poppins Light"/>
              <a:ea typeface="Poppins Light"/>
              <a:cs typeface="Poppins Light"/>
              <a:sym typeface="Poppins Light"/>
            </a:endParaRPr>
          </a:p>
        </p:txBody>
      </p:sp>
      <p:pic>
        <p:nvPicPr>
          <p:cNvPr id="170" name="Google Shape;170;g360acce8e50_0_111"/>
          <p:cNvPicPr preferRelativeResize="0"/>
          <p:nvPr/>
        </p:nvPicPr>
        <p:blipFill>
          <a:blip r:embed="rId3">
            <a:alphaModFix/>
          </a:blip>
          <a:stretch>
            <a:fillRect/>
          </a:stretch>
        </p:blipFill>
        <p:spPr>
          <a:xfrm>
            <a:off x="5684675" y="7008200"/>
            <a:ext cx="5544298" cy="31186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74"/>
        <p:cNvGrpSpPr/>
        <p:nvPr/>
      </p:nvGrpSpPr>
      <p:grpSpPr>
        <a:xfrm>
          <a:off x="0" y="0"/>
          <a:ext cx="0" cy="0"/>
          <a:chOff x="0" y="0"/>
          <a:chExt cx="0" cy="0"/>
        </a:xfrm>
      </p:grpSpPr>
      <p:grpSp>
        <p:nvGrpSpPr>
          <p:cNvPr id="175" name="Google Shape;175;g360acce8e50_0_120"/>
          <p:cNvGrpSpPr/>
          <p:nvPr/>
        </p:nvGrpSpPr>
        <p:grpSpPr>
          <a:xfrm>
            <a:off x="-584801" y="364850"/>
            <a:ext cx="19457594" cy="2036657"/>
            <a:chOff x="0" y="-76200"/>
            <a:chExt cx="5124600" cy="536400"/>
          </a:xfrm>
        </p:grpSpPr>
        <p:sp>
          <p:nvSpPr>
            <p:cNvPr id="176" name="Google Shape;176;g360acce8e50_0_120"/>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77" name="Google Shape;177;g360acce8e50_0_120"/>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78" name="Google Shape;178;g360acce8e50_0_120"/>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a:solidFill>
                  <a:srgbClr val="FDFDFD"/>
                </a:solidFill>
                <a:latin typeface="Poppins"/>
                <a:ea typeface="Poppins"/>
                <a:cs typeface="Poppins"/>
                <a:sym typeface="Poppins"/>
              </a:rPr>
              <a:t>Ejemplos SaaS</a:t>
            </a:r>
            <a:endParaRPr sz="7024" b="1" i="0" u="none" strike="noStrike" cap="none">
              <a:solidFill>
                <a:srgbClr val="FDFDFD"/>
              </a:solidFill>
              <a:latin typeface="Poppins"/>
              <a:ea typeface="Poppins"/>
              <a:cs typeface="Poppins"/>
              <a:sym typeface="Poppins"/>
            </a:endParaRPr>
          </a:p>
        </p:txBody>
      </p:sp>
      <p:sp>
        <p:nvSpPr>
          <p:cNvPr id="179" name="Google Shape;179;g360acce8e50_0_120"/>
          <p:cNvSpPr txBox="1"/>
          <p:nvPr/>
        </p:nvSpPr>
        <p:spPr>
          <a:xfrm>
            <a:off x="1028700" y="2969250"/>
            <a:ext cx="17048400" cy="4813800"/>
          </a:xfrm>
          <a:prstGeom prst="rect">
            <a:avLst/>
          </a:prstGeom>
          <a:noFill/>
          <a:ln>
            <a:noFill/>
          </a:ln>
        </p:spPr>
        <p:txBody>
          <a:bodyPr spcFirstLastPara="1" wrap="square" lIns="0" tIns="0" rIns="0" bIns="0" anchor="t" anchorCtr="0">
            <a:spAutoFit/>
          </a:bodyPr>
          <a:lstStyle/>
          <a:p>
            <a:pPr marL="457200" marR="0" lvl="0" indent="-391350" algn="l" rtl="0">
              <a:lnSpc>
                <a:spcPct val="140027"/>
              </a:lnSpc>
              <a:spcBef>
                <a:spcPts val="0"/>
              </a:spcBef>
              <a:spcAft>
                <a:spcPts val="0"/>
              </a:spcAft>
              <a:buClr>
                <a:srgbClr val="013362"/>
              </a:buClr>
              <a:buSzPts val="2563"/>
              <a:buFont typeface="Poppins Light"/>
              <a:buChar char="●"/>
            </a:pPr>
            <a:r>
              <a:rPr lang="en-US" sz="2563" b="1">
                <a:solidFill>
                  <a:srgbClr val="013362"/>
                </a:solidFill>
                <a:latin typeface="Poppins"/>
                <a:ea typeface="Poppins"/>
                <a:cs typeface="Poppins"/>
                <a:sym typeface="Poppins"/>
              </a:rPr>
              <a:t>Microsoft Office 365: </a:t>
            </a:r>
            <a:r>
              <a:rPr lang="en-US" sz="2563">
                <a:solidFill>
                  <a:srgbClr val="013362"/>
                </a:solidFill>
                <a:latin typeface="Poppins Light"/>
                <a:ea typeface="Poppins Light"/>
                <a:cs typeface="Poppins Light"/>
                <a:sym typeface="Poppins Light"/>
              </a:rPr>
              <a:t>con esta plataforma de Microsoft los usuarios pueden acceder a las herramientas de ofimática de Microsoft (Word, Excel, Access, PowerPoint, etc.) desde cualquier dispositivo, que se ejecutan en servidores de Microsoft. El usuario sólo se preocupa de utilizar la aplicación sin tener nada que ver con su instalación, mantenimiento y actualización.</a:t>
            </a:r>
            <a:endParaRPr sz="2563">
              <a:solidFill>
                <a:srgbClr val="013362"/>
              </a:solidFill>
              <a:latin typeface="Poppins Light"/>
              <a:ea typeface="Poppins Light"/>
              <a:cs typeface="Poppins Light"/>
              <a:sym typeface="Poppins Light"/>
            </a:endParaRPr>
          </a:p>
          <a:p>
            <a:pPr marL="457200" marR="0" lvl="0" indent="-391350" algn="l" rtl="0">
              <a:lnSpc>
                <a:spcPct val="140027"/>
              </a:lnSpc>
              <a:spcBef>
                <a:spcPts val="0"/>
              </a:spcBef>
              <a:spcAft>
                <a:spcPts val="0"/>
              </a:spcAft>
              <a:buClr>
                <a:srgbClr val="013362"/>
              </a:buClr>
              <a:buSzPts val="2563"/>
              <a:buFont typeface="Poppins Light"/>
              <a:buChar char="●"/>
            </a:pPr>
            <a:r>
              <a:rPr lang="en-US" sz="2563" b="1">
                <a:solidFill>
                  <a:srgbClr val="013362"/>
                </a:solidFill>
                <a:latin typeface="Poppins"/>
                <a:ea typeface="Poppins"/>
                <a:cs typeface="Poppins"/>
                <a:sym typeface="Poppins"/>
              </a:rPr>
              <a:t>WordPress: </a:t>
            </a:r>
            <a:r>
              <a:rPr lang="en-US" sz="2563">
                <a:solidFill>
                  <a:srgbClr val="013362"/>
                </a:solidFill>
                <a:latin typeface="Poppins Light"/>
                <a:ea typeface="Poppins Light"/>
                <a:cs typeface="Poppins Light"/>
                <a:sym typeface="Poppins Light"/>
              </a:rPr>
              <a:t>la instalación de WordPress en un servidor para diseñar una página web, da como resultado un sitio o página web que es accesible para los usuarios desde cualquier dispositivo, a través de internet. WordPress es un software que se está ejecutando en un servidor remoto donde el usuario interactúa con él sin tener nada que ver con la infraestructura necesaria para su funcionamiento.</a:t>
            </a:r>
            <a:endParaRPr sz="2563">
              <a:solidFill>
                <a:srgbClr val="013362"/>
              </a:solidFill>
              <a:latin typeface="Poppins Light"/>
              <a:ea typeface="Poppins Light"/>
              <a:cs typeface="Poppins Light"/>
              <a:sym typeface="Poppins Light"/>
            </a:endParaRPr>
          </a:p>
        </p:txBody>
      </p:sp>
      <p:pic>
        <p:nvPicPr>
          <p:cNvPr id="180" name="Google Shape;180;g360acce8e50_0_120"/>
          <p:cNvPicPr preferRelativeResize="0"/>
          <p:nvPr/>
        </p:nvPicPr>
        <p:blipFill>
          <a:blip r:embed="rId3">
            <a:alphaModFix/>
          </a:blip>
          <a:stretch>
            <a:fillRect/>
          </a:stretch>
        </p:blipFill>
        <p:spPr>
          <a:xfrm>
            <a:off x="4572000" y="7681275"/>
            <a:ext cx="6516000" cy="2199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g360a94691c9_0_11" descr="preencoded.png"/>
          <p:cNvPicPr preferRelativeResize="0"/>
          <p:nvPr/>
        </p:nvPicPr>
        <p:blipFill rotWithShape="1">
          <a:blip r:embed="rId3">
            <a:alphaModFix/>
          </a:blip>
          <a:srcRect/>
          <a:stretch/>
        </p:blipFill>
        <p:spPr>
          <a:xfrm>
            <a:off x="0" y="0"/>
            <a:ext cx="6858000" cy="10287000"/>
          </a:xfrm>
          <a:prstGeom prst="rect">
            <a:avLst/>
          </a:prstGeom>
          <a:noFill/>
          <a:ln>
            <a:noFill/>
          </a:ln>
        </p:spPr>
      </p:pic>
      <p:pic>
        <p:nvPicPr>
          <p:cNvPr id="193" name="Google Shape;193;g360a94691c9_0_11" descr="preencoded.png"/>
          <p:cNvPicPr preferRelativeResize="0"/>
          <p:nvPr/>
        </p:nvPicPr>
        <p:blipFill rotWithShape="1">
          <a:blip r:embed="rId4">
            <a:alphaModFix/>
          </a:blip>
          <a:srcRect/>
          <a:stretch/>
        </p:blipFill>
        <p:spPr>
          <a:xfrm>
            <a:off x="354360" y="3475434"/>
            <a:ext cx="6149130" cy="3335983"/>
          </a:xfrm>
          <a:prstGeom prst="rect">
            <a:avLst/>
          </a:prstGeom>
          <a:noFill/>
          <a:ln>
            <a:noFill/>
          </a:ln>
        </p:spPr>
      </p:pic>
      <p:sp>
        <p:nvSpPr>
          <p:cNvPr id="194" name="Google Shape;194;g360a94691c9_0_11"/>
          <p:cNvSpPr/>
          <p:nvPr/>
        </p:nvSpPr>
        <p:spPr>
          <a:xfrm>
            <a:off x="7850238" y="1555105"/>
            <a:ext cx="9445500" cy="3668400"/>
          </a:xfrm>
          <a:prstGeom prst="rect">
            <a:avLst/>
          </a:prstGeom>
          <a:noFill/>
          <a:ln>
            <a:noFill/>
          </a:ln>
        </p:spPr>
        <p:txBody>
          <a:bodyPr spcFirstLastPara="1" wrap="square" lIns="0" tIns="0" rIns="0" bIns="0" anchor="t" anchorCtr="0">
            <a:noAutofit/>
          </a:bodyPr>
          <a:lstStyle/>
          <a:p>
            <a:pPr marL="0" marR="0" lvl="0" indent="0" algn="l" rtl="0">
              <a:lnSpc>
                <a:spcPct val="125203"/>
              </a:lnSpc>
              <a:spcBef>
                <a:spcPts val="0"/>
              </a:spcBef>
              <a:spcAft>
                <a:spcPts val="0"/>
              </a:spcAft>
              <a:buClr>
                <a:srgbClr val="1B1B27"/>
              </a:buClr>
              <a:buSzPts val="7700"/>
              <a:buFont typeface="Alexandria"/>
              <a:buNone/>
            </a:pPr>
            <a:r>
              <a:rPr lang="en-US" sz="7700" b="0" i="0" u="none" strike="noStrike" cap="none">
                <a:solidFill>
                  <a:srgbClr val="1B1B27"/>
                </a:solidFill>
                <a:latin typeface="Alexandria"/>
                <a:ea typeface="Alexandria"/>
                <a:cs typeface="Alexandria"/>
                <a:sym typeface="Alexandria"/>
              </a:rPr>
              <a:t>Terraform: Infraestructura como código</a:t>
            </a:r>
            <a:endParaRPr sz="7700" b="0" i="0" u="none" strike="noStrike" cap="none">
              <a:solidFill>
                <a:srgbClr val="000000"/>
              </a:solidFill>
              <a:latin typeface="Arial"/>
              <a:ea typeface="Arial"/>
              <a:cs typeface="Arial"/>
              <a:sym typeface="Arial"/>
            </a:endParaRPr>
          </a:p>
        </p:txBody>
      </p:sp>
      <p:sp>
        <p:nvSpPr>
          <p:cNvPr id="195" name="Google Shape;195;g360a94691c9_0_11"/>
          <p:cNvSpPr/>
          <p:nvPr/>
        </p:nvSpPr>
        <p:spPr>
          <a:xfrm>
            <a:off x="7850238" y="5610923"/>
            <a:ext cx="9445500" cy="2268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Terraform es una herramienta de código abierto que permite a los desarrolladores y equipos de infraestructura definir y aprovisionar recursos de infraestructura de manera declarativa. Esto les permite gestionar la infraestructura de forma eficiente, reproducible y escalable.</a:t>
            </a:r>
            <a:endParaRPr sz="2200" b="0" i="0" u="none" strike="noStrike" cap="none">
              <a:solidFill>
                <a:srgbClr val="000000"/>
              </a:solidFill>
              <a:latin typeface="Arial"/>
              <a:ea typeface="Arial"/>
              <a:cs typeface="Arial"/>
              <a:sym typeface="Arial"/>
            </a:endParaRPr>
          </a:p>
        </p:txBody>
      </p:sp>
      <p:sp>
        <p:nvSpPr>
          <p:cNvPr id="196" name="Google Shape;196;g360a94691c9_0_11"/>
          <p:cNvSpPr/>
          <p:nvPr/>
        </p:nvSpPr>
        <p:spPr>
          <a:xfrm>
            <a:off x="7850238" y="8256835"/>
            <a:ext cx="453900" cy="453900"/>
          </a:xfrm>
          <a:prstGeom prst="roundRect">
            <a:avLst>
              <a:gd name="adj" fmla="val 25194296"/>
            </a:avLst>
          </a:prstGeom>
          <a:noFill/>
          <a:ln w="9525" cap="flat" cmpd="sng">
            <a:solidFill>
              <a:srgbClr val="FFFFF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7" name="Google Shape;197;g360a94691c9_0_11" descr="preencoded.png"/>
          <p:cNvPicPr preferRelativeResize="0"/>
          <p:nvPr/>
        </p:nvPicPr>
        <p:blipFill rotWithShape="1">
          <a:blip r:embed="rId5">
            <a:alphaModFix/>
          </a:blip>
          <a:srcRect/>
          <a:stretch/>
        </p:blipFill>
        <p:spPr>
          <a:xfrm>
            <a:off x="7859763" y="8266360"/>
            <a:ext cx="434579" cy="434579"/>
          </a:xfrm>
          <a:prstGeom prst="rect">
            <a:avLst/>
          </a:prstGeom>
          <a:noFill/>
          <a:ln>
            <a:noFill/>
          </a:ln>
        </p:spPr>
      </p:pic>
      <p:sp>
        <p:nvSpPr>
          <p:cNvPr id="198" name="Google Shape;198;g360a94691c9_0_11"/>
          <p:cNvSpPr/>
          <p:nvPr/>
        </p:nvSpPr>
        <p:spPr>
          <a:xfrm>
            <a:off x="8445550" y="8235703"/>
            <a:ext cx="5879700" cy="496200"/>
          </a:xfrm>
          <a:prstGeom prst="rect">
            <a:avLst/>
          </a:prstGeom>
          <a:noFill/>
          <a:ln>
            <a:noFill/>
          </a:ln>
        </p:spPr>
        <p:txBody>
          <a:bodyPr spcFirstLastPara="1" wrap="square" lIns="0" tIns="0" rIns="0" bIns="0" anchor="t" anchorCtr="0">
            <a:noAutofit/>
          </a:bodyPr>
          <a:lstStyle/>
          <a:p>
            <a:pPr marL="0" marR="0" lvl="0" indent="0" algn="l" rtl="0">
              <a:lnSpc>
                <a:spcPct val="140909"/>
              </a:lnSpc>
              <a:spcBef>
                <a:spcPts val="0"/>
              </a:spcBef>
              <a:spcAft>
                <a:spcPts val="0"/>
              </a:spcAft>
              <a:buClr>
                <a:srgbClr val="404155"/>
              </a:buClr>
              <a:buSzPts val="2800"/>
              <a:buFont typeface="Nobile"/>
              <a:buNone/>
            </a:pPr>
            <a:r>
              <a:rPr lang="en-US" sz="2800" b="1" i="0" u="none" strike="noStrike" cap="none">
                <a:solidFill>
                  <a:srgbClr val="404155"/>
                </a:solidFill>
                <a:latin typeface="Nobile"/>
                <a:ea typeface="Nobile"/>
                <a:cs typeface="Nobile"/>
                <a:sym typeface="Nobile"/>
              </a:rPr>
              <a:t>by Luis Angel Barrera Velásquez</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g360a94691c9_0_22" descr="preencoded.png"/>
          <p:cNvPicPr preferRelativeResize="0"/>
          <p:nvPr/>
        </p:nvPicPr>
        <p:blipFill rotWithShape="1">
          <a:blip r:embed="rId3">
            <a:alphaModFix/>
          </a:blip>
          <a:srcRect/>
          <a:stretch/>
        </p:blipFill>
        <p:spPr>
          <a:xfrm>
            <a:off x="0" y="0"/>
            <a:ext cx="6858000" cy="10287000"/>
          </a:xfrm>
          <a:prstGeom prst="rect">
            <a:avLst/>
          </a:prstGeom>
          <a:noFill/>
          <a:ln>
            <a:noFill/>
          </a:ln>
        </p:spPr>
      </p:pic>
      <p:pic>
        <p:nvPicPr>
          <p:cNvPr id="205" name="Google Shape;205;g360a94691c9_0_22" descr="preencoded.png"/>
          <p:cNvPicPr preferRelativeResize="0"/>
          <p:nvPr/>
        </p:nvPicPr>
        <p:blipFill rotWithShape="1">
          <a:blip r:embed="rId4">
            <a:alphaModFix/>
          </a:blip>
          <a:srcRect/>
          <a:stretch/>
        </p:blipFill>
        <p:spPr>
          <a:xfrm>
            <a:off x="354360" y="2462213"/>
            <a:ext cx="6149133" cy="5362574"/>
          </a:xfrm>
          <a:prstGeom prst="rect">
            <a:avLst/>
          </a:prstGeom>
          <a:noFill/>
          <a:ln>
            <a:noFill/>
          </a:ln>
        </p:spPr>
      </p:pic>
      <p:sp>
        <p:nvSpPr>
          <p:cNvPr id="206" name="Google Shape;206;g360a94691c9_0_22"/>
          <p:cNvSpPr/>
          <p:nvPr/>
        </p:nvSpPr>
        <p:spPr>
          <a:xfrm>
            <a:off x="7850238" y="1826419"/>
            <a:ext cx="7088400" cy="8862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1B1B27"/>
              </a:buClr>
              <a:buSzPts val="5600"/>
              <a:buFont typeface="Alexandria"/>
              <a:buNone/>
            </a:pPr>
            <a:r>
              <a:rPr lang="en-US" sz="5600" b="0" i="0" u="none" strike="noStrike" cap="none">
                <a:solidFill>
                  <a:srgbClr val="1B1B27"/>
                </a:solidFill>
                <a:latin typeface="Alexandria"/>
                <a:ea typeface="Alexandria"/>
                <a:cs typeface="Alexandria"/>
                <a:sym typeface="Alexandria"/>
              </a:rPr>
              <a:t>¿Qué es Terraform?</a:t>
            </a:r>
            <a:endParaRPr sz="5600" b="0" i="0" u="none" strike="noStrike" cap="none">
              <a:solidFill>
                <a:srgbClr val="000000"/>
              </a:solidFill>
              <a:latin typeface="Arial"/>
              <a:ea typeface="Arial"/>
              <a:cs typeface="Arial"/>
              <a:sym typeface="Arial"/>
            </a:endParaRPr>
          </a:p>
        </p:txBody>
      </p:sp>
      <p:sp>
        <p:nvSpPr>
          <p:cNvPr id="207" name="Google Shape;207;g360a94691c9_0_22"/>
          <p:cNvSpPr/>
          <p:nvPr/>
        </p:nvSpPr>
        <p:spPr>
          <a:xfrm>
            <a:off x="7850238" y="3456534"/>
            <a:ext cx="637800" cy="637800"/>
          </a:xfrm>
          <a:prstGeom prst="roundRect">
            <a:avLst>
              <a:gd name="adj" fmla="val 18669"/>
            </a:avLst>
          </a:prstGeom>
          <a:solidFill>
            <a:srgbClr val="D2DDF9"/>
          </a:solidFill>
          <a:ln w="9525" cap="flat" cmpd="sng">
            <a:solidFill>
              <a:srgbClr val="B8C3D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g360a94691c9_0_22"/>
          <p:cNvSpPr/>
          <p:nvPr/>
        </p:nvSpPr>
        <p:spPr>
          <a:xfrm>
            <a:off x="8089404" y="3562796"/>
            <a:ext cx="159300" cy="425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04155"/>
              </a:buClr>
              <a:buSzPts val="3300"/>
              <a:buFont typeface="Alexandria"/>
              <a:buNone/>
            </a:pPr>
            <a:r>
              <a:rPr lang="en-US" sz="3300" b="0" i="0" u="none" strike="noStrike" cap="none">
                <a:solidFill>
                  <a:srgbClr val="404155"/>
                </a:solidFill>
                <a:latin typeface="Alexandria"/>
                <a:ea typeface="Alexandria"/>
                <a:cs typeface="Alexandria"/>
                <a:sym typeface="Alexandria"/>
              </a:rPr>
              <a:t>1</a:t>
            </a:r>
            <a:endParaRPr sz="3300" b="0" i="0" u="none" strike="noStrike" cap="none">
              <a:solidFill>
                <a:srgbClr val="000000"/>
              </a:solidFill>
              <a:latin typeface="Arial"/>
              <a:ea typeface="Arial"/>
              <a:cs typeface="Arial"/>
              <a:sym typeface="Arial"/>
            </a:endParaRPr>
          </a:p>
        </p:txBody>
      </p:sp>
      <p:sp>
        <p:nvSpPr>
          <p:cNvPr id="209" name="Google Shape;209;g360a94691c9_0_22"/>
          <p:cNvSpPr/>
          <p:nvPr/>
        </p:nvSpPr>
        <p:spPr>
          <a:xfrm>
            <a:off x="8771633" y="3456534"/>
            <a:ext cx="36453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2800"/>
              <a:buFont typeface="Alexandria"/>
              <a:buNone/>
            </a:pPr>
            <a:r>
              <a:rPr lang="en-US" sz="2800" b="0" i="0" u="none" strike="noStrike" cap="none">
                <a:solidFill>
                  <a:srgbClr val="404155"/>
                </a:solidFill>
                <a:latin typeface="Alexandria"/>
                <a:ea typeface="Alexandria"/>
                <a:cs typeface="Alexandria"/>
                <a:sym typeface="Alexandria"/>
              </a:rPr>
              <a:t>Lenguaje declarativo</a:t>
            </a:r>
            <a:endParaRPr sz="2800" b="0" i="0" u="none" strike="noStrike" cap="none">
              <a:solidFill>
                <a:srgbClr val="000000"/>
              </a:solidFill>
              <a:latin typeface="Arial"/>
              <a:ea typeface="Arial"/>
              <a:cs typeface="Arial"/>
              <a:sym typeface="Arial"/>
            </a:endParaRPr>
          </a:p>
        </p:txBody>
      </p:sp>
      <p:sp>
        <p:nvSpPr>
          <p:cNvPr id="210" name="Google Shape;210;g360a94691c9_0_22"/>
          <p:cNvSpPr/>
          <p:nvPr/>
        </p:nvSpPr>
        <p:spPr>
          <a:xfrm>
            <a:off x="8488050" y="4522850"/>
            <a:ext cx="4226700" cy="1814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Terraform utiliza un lenguaje de alto nivel para describir la infraestructura deseada, en lugar de comandos imperativos.</a:t>
            </a:r>
            <a:endParaRPr sz="2200" b="0" i="0" u="none" strike="noStrike" cap="none">
              <a:solidFill>
                <a:srgbClr val="000000"/>
              </a:solidFill>
              <a:latin typeface="Arial"/>
              <a:ea typeface="Arial"/>
              <a:cs typeface="Arial"/>
              <a:sym typeface="Arial"/>
            </a:endParaRPr>
          </a:p>
        </p:txBody>
      </p:sp>
      <p:sp>
        <p:nvSpPr>
          <p:cNvPr id="211" name="Google Shape;211;g360a94691c9_0_22"/>
          <p:cNvSpPr/>
          <p:nvPr/>
        </p:nvSpPr>
        <p:spPr>
          <a:xfrm>
            <a:off x="12714834" y="3456534"/>
            <a:ext cx="637800" cy="637800"/>
          </a:xfrm>
          <a:prstGeom prst="roundRect">
            <a:avLst>
              <a:gd name="adj" fmla="val 18669"/>
            </a:avLst>
          </a:prstGeom>
          <a:solidFill>
            <a:srgbClr val="D2DDF9"/>
          </a:solidFill>
          <a:ln w="9525" cap="flat" cmpd="sng">
            <a:solidFill>
              <a:srgbClr val="B8C3D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g360a94691c9_0_22"/>
          <p:cNvSpPr/>
          <p:nvPr/>
        </p:nvSpPr>
        <p:spPr>
          <a:xfrm>
            <a:off x="12909351" y="3562796"/>
            <a:ext cx="249000" cy="425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04155"/>
              </a:buClr>
              <a:buSzPts val="3300"/>
              <a:buFont typeface="Alexandria"/>
              <a:buNone/>
            </a:pPr>
            <a:r>
              <a:rPr lang="en-US" sz="3300" b="0" i="0" u="none" strike="noStrike" cap="none">
                <a:solidFill>
                  <a:srgbClr val="404155"/>
                </a:solidFill>
                <a:latin typeface="Alexandria"/>
                <a:ea typeface="Alexandria"/>
                <a:cs typeface="Alexandria"/>
                <a:sym typeface="Alexandria"/>
              </a:rPr>
              <a:t>2</a:t>
            </a:r>
            <a:endParaRPr sz="3300" b="0" i="0" u="none" strike="noStrike" cap="none">
              <a:solidFill>
                <a:srgbClr val="000000"/>
              </a:solidFill>
              <a:latin typeface="Arial"/>
              <a:ea typeface="Arial"/>
              <a:cs typeface="Arial"/>
              <a:sym typeface="Arial"/>
            </a:endParaRPr>
          </a:p>
        </p:txBody>
      </p:sp>
      <p:sp>
        <p:nvSpPr>
          <p:cNvPr id="213" name="Google Shape;213;g360a94691c9_0_22"/>
          <p:cNvSpPr/>
          <p:nvPr/>
        </p:nvSpPr>
        <p:spPr>
          <a:xfrm>
            <a:off x="13636229" y="3456534"/>
            <a:ext cx="35442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2800"/>
              <a:buFont typeface="Alexandria"/>
              <a:buNone/>
            </a:pPr>
            <a:r>
              <a:rPr lang="en-US" sz="2800" b="0" i="0" u="none" strike="noStrike" cap="none">
                <a:solidFill>
                  <a:srgbClr val="404155"/>
                </a:solidFill>
                <a:latin typeface="Alexandria"/>
                <a:ea typeface="Alexandria"/>
                <a:cs typeface="Alexandria"/>
                <a:sym typeface="Alexandria"/>
              </a:rPr>
              <a:t>Multiplataforma</a:t>
            </a:r>
            <a:endParaRPr sz="2800" b="0" i="0" u="none" strike="noStrike" cap="none">
              <a:solidFill>
                <a:srgbClr val="000000"/>
              </a:solidFill>
              <a:latin typeface="Arial"/>
              <a:ea typeface="Arial"/>
              <a:cs typeface="Arial"/>
              <a:sym typeface="Arial"/>
            </a:endParaRPr>
          </a:p>
        </p:txBody>
      </p:sp>
      <p:sp>
        <p:nvSpPr>
          <p:cNvPr id="214" name="Google Shape;214;g360a94691c9_0_22"/>
          <p:cNvSpPr/>
          <p:nvPr/>
        </p:nvSpPr>
        <p:spPr>
          <a:xfrm>
            <a:off x="13636229" y="4069556"/>
            <a:ext cx="3659700" cy="1814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Terraform es compatible con múltiples proveedores de nube, como AWS, Azure, GCP y más.</a:t>
            </a:r>
            <a:endParaRPr sz="2200" b="0" i="0" u="none" strike="noStrike" cap="none">
              <a:solidFill>
                <a:srgbClr val="000000"/>
              </a:solidFill>
              <a:latin typeface="Arial"/>
              <a:ea typeface="Arial"/>
              <a:cs typeface="Arial"/>
              <a:sym typeface="Arial"/>
            </a:endParaRPr>
          </a:p>
        </p:txBody>
      </p:sp>
      <p:sp>
        <p:nvSpPr>
          <p:cNvPr id="215" name="Google Shape;215;g360a94691c9_0_22"/>
          <p:cNvSpPr/>
          <p:nvPr/>
        </p:nvSpPr>
        <p:spPr>
          <a:xfrm>
            <a:off x="7850238" y="7508329"/>
            <a:ext cx="637800" cy="637800"/>
          </a:xfrm>
          <a:prstGeom prst="roundRect">
            <a:avLst>
              <a:gd name="adj" fmla="val 18669"/>
            </a:avLst>
          </a:prstGeom>
          <a:solidFill>
            <a:srgbClr val="D2DDF9"/>
          </a:solidFill>
          <a:ln w="9525" cap="flat" cmpd="sng">
            <a:solidFill>
              <a:srgbClr val="B8C3D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g360a94691c9_0_22"/>
          <p:cNvSpPr/>
          <p:nvPr/>
        </p:nvSpPr>
        <p:spPr>
          <a:xfrm>
            <a:off x="8043863" y="7614591"/>
            <a:ext cx="250500" cy="425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04155"/>
              </a:buClr>
              <a:buSzPts val="3300"/>
              <a:buFont typeface="Alexandria"/>
              <a:buNone/>
            </a:pPr>
            <a:r>
              <a:rPr lang="en-US" sz="3300" b="0" i="0" u="none" strike="noStrike" cap="none">
                <a:solidFill>
                  <a:srgbClr val="404155"/>
                </a:solidFill>
                <a:latin typeface="Alexandria"/>
                <a:ea typeface="Alexandria"/>
                <a:cs typeface="Alexandria"/>
                <a:sym typeface="Alexandria"/>
              </a:rPr>
              <a:t>3</a:t>
            </a:r>
            <a:endParaRPr sz="3300" b="0" i="0" u="none" strike="noStrike" cap="none">
              <a:solidFill>
                <a:srgbClr val="000000"/>
              </a:solidFill>
              <a:latin typeface="Arial"/>
              <a:ea typeface="Arial"/>
              <a:cs typeface="Arial"/>
              <a:sym typeface="Arial"/>
            </a:endParaRPr>
          </a:p>
        </p:txBody>
      </p:sp>
      <p:sp>
        <p:nvSpPr>
          <p:cNvPr id="217" name="Google Shape;217;g360a94691c9_0_22"/>
          <p:cNvSpPr/>
          <p:nvPr/>
        </p:nvSpPr>
        <p:spPr>
          <a:xfrm>
            <a:off x="8771633" y="7508329"/>
            <a:ext cx="35442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2800"/>
              <a:buFont typeface="Alexandria"/>
              <a:buNone/>
            </a:pPr>
            <a:r>
              <a:rPr lang="en-US" sz="2800" b="0" i="0" u="none" strike="noStrike" cap="none">
                <a:solidFill>
                  <a:srgbClr val="404155"/>
                </a:solidFill>
                <a:latin typeface="Alexandria"/>
                <a:ea typeface="Alexandria"/>
                <a:cs typeface="Alexandria"/>
                <a:sym typeface="Alexandria"/>
              </a:rPr>
              <a:t>Open Source</a:t>
            </a:r>
            <a:endParaRPr sz="2800" b="0" i="0" u="none" strike="noStrike" cap="none">
              <a:solidFill>
                <a:srgbClr val="000000"/>
              </a:solidFill>
              <a:latin typeface="Arial"/>
              <a:ea typeface="Arial"/>
              <a:cs typeface="Arial"/>
              <a:sym typeface="Arial"/>
            </a:endParaRPr>
          </a:p>
        </p:txBody>
      </p:sp>
      <p:sp>
        <p:nvSpPr>
          <p:cNvPr id="218" name="Google Shape;218;g360a94691c9_0_22"/>
          <p:cNvSpPr/>
          <p:nvPr/>
        </p:nvSpPr>
        <p:spPr>
          <a:xfrm>
            <a:off x="8771632" y="8121351"/>
            <a:ext cx="8524200" cy="9072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Terraform es un proyecto de código abierto con una gran comunidad que contribuye a su desarrollo.</a:t>
            </a:r>
            <a:endParaRPr sz="22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60a94691c9_0_41"/>
          <p:cNvSpPr/>
          <p:nvPr/>
        </p:nvSpPr>
        <p:spPr>
          <a:xfrm>
            <a:off x="992253" y="2948125"/>
            <a:ext cx="9862800" cy="8862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1B1B27"/>
              </a:buClr>
              <a:buSzPts val="5600"/>
              <a:buFont typeface="Alexandria"/>
              <a:buNone/>
            </a:pPr>
            <a:r>
              <a:rPr lang="en-US" sz="5600" b="0" i="0" u="none" strike="noStrike" cap="none">
                <a:solidFill>
                  <a:srgbClr val="1B1B27"/>
                </a:solidFill>
                <a:latin typeface="Alexandria"/>
                <a:ea typeface="Alexandria"/>
                <a:cs typeface="Alexandria"/>
                <a:sym typeface="Alexandria"/>
              </a:rPr>
              <a:t>Ventajas de Terraform</a:t>
            </a:r>
            <a:endParaRPr sz="5600" b="0" i="0" u="none" strike="noStrike" cap="none">
              <a:solidFill>
                <a:srgbClr val="000000"/>
              </a:solidFill>
              <a:latin typeface="Arial"/>
              <a:ea typeface="Arial"/>
              <a:cs typeface="Arial"/>
              <a:sym typeface="Arial"/>
            </a:endParaRPr>
          </a:p>
        </p:txBody>
      </p:sp>
      <p:sp>
        <p:nvSpPr>
          <p:cNvPr id="225" name="Google Shape;225;g360a94691c9_0_41"/>
          <p:cNvSpPr/>
          <p:nvPr/>
        </p:nvSpPr>
        <p:spPr>
          <a:xfrm>
            <a:off x="992238" y="4542830"/>
            <a:ext cx="35442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2800"/>
              <a:buFont typeface="Alexandria"/>
              <a:buNone/>
            </a:pPr>
            <a:r>
              <a:rPr lang="en-US" sz="2800" b="0" i="0" u="none" strike="noStrike" cap="none">
                <a:solidFill>
                  <a:srgbClr val="1B1B27"/>
                </a:solidFill>
                <a:latin typeface="Alexandria"/>
                <a:ea typeface="Alexandria"/>
                <a:cs typeface="Alexandria"/>
                <a:sym typeface="Alexandria"/>
              </a:rPr>
              <a:t>Reproducibilidad</a:t>
            </a:r>
            <a:endParaRPr sz="2800" b="0" i="0" u="none" strike="noStrike" cap="none">
              <a:solidFill>
                <a:srgbClr val="000000"/>
              </a:solidFill>
              <a:latin typeface="Arial"/>
              <a:ea typeface="Arial"/>
              <a:cs typeface="Arial"/>
              <a:sym typeface="Arial"/>
            </a:endParaRPr>
          </a:p>
        </p:txBody>
      </p:sp>
      <p:sp>
        <p:nvSpPr>
          <p:cNvPr id="226" name="Google Shape;226;g360a94691c9_0_41"/>
          <p:cNvSpPr/>
          <p:nvPr/>
        </p:nvSpPr>
        <p:spPr>
          <a:xfrm>
            <a:off x="992238" y="5269260"/>
            <a:ext cx="4972500" cy="1814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Terraform permite crear y gestionar entornos idénticos, lo que facilita la implementación y el despliegue de aplicaciones.</a:t>
            </a:r>
            <a:endParaRPr sz="2200" b="0" i="0" u="none" strike="noStrike" cap="none">
              <a:solidFill>
                <a:srgbClr val="000000"/>
              </a:solidFill>
              <a:latin typeface="Arial"/>
              <a:ea typeface="Arial"/>
              <a:cs typeface="Arial"/>
              <a:sym typeface="Arial"/>
            </a:endParaRPr>
          </a:p>
        </p:txBody>
      </p:sp>
      <p:sp>
        <p:nvSpPr>
          <p:cNvPr id="227" name="Google Shape;227;g360a94691c9_0_41"/>
          <p:cNvSpPr/>
          <p:nvPr/>
        </p:nvSpPr>
        <p:spPr>
          <a:xfrm>
            <a:off x="6666160" y="4542830"/>
            <a:ext cx="35442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2800"/>
              <a:buFont typeface="Alexandria"/>
              <a:buNone/>
            </a:pPr>
            <a:r>
              <a:rPr lang="en-US" sz="2800" b="0" i="0" u="none" strike="noStrike" cap="none">
                <a:solidFill>
                  <a:srgbClr val="1B1B27"/>
                </a:solidFill>
                <a:latin typeface="Alexandria"/>
                <a:ea typeface="Alexandria"/>
                <a:cs typeface="Alexandria"/>
                <a:sym typeface="Alexandria"/>
              </a:rPr>
              <a:t>Colaboración</a:t>
            </a:r>
            <a:endParaRPr sz="2800" b="0" i="0" u="none" strike="noStrike" cap="none">
              <a:solidFill>
                <a:srgbClr val="000000"/>
              </a:solidFill>
              <a:latin typeface="Arial"/>
              <a:ea typeface="Arial"/>
              <a:cs typeface="Arial"/>
              <a:sym typeface="Arial"/>
            </a:endParaRPr>
          </a:p>
        </p:txBody>
      </p:sp>
      <p:sp>
        <p:nvSpPr>
          <p:cNvPr id="228" name="Google Shape;228;g360a94691c9_0_41"/>
          <p:cNvSpPr/>
          <p:nvPr/>
        </p:nvSpPr>
        <p:spPr>
          <a:xfrm>
            <a:off x="6666160" y="5269260"/>
            <a:ext cx="4972500" cy="13608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Varios miembros del equipo pueden trabajar en paralelo en la misma infraestructura sin conflictos.</a:t>
            </a:r>
            <a:endParaRPr sz="2200" b="0" i="0" u="none" strike="noStrike" cap="none">
              <a:solidFill>
                <a:srgbClr val="000000"/>
              </a:solidFill>
              <a:latin typeface="Arial"/>
              <a:ea typeface="Arial"/>
              <a:cs typeface="Arial"/>
              <a:sym typeface="Arial"/>
            </a:endParaRPr>
          </a:p>
        </p:txBody>
      </p:sp>
      <p:sp>
        <p:nvSpPr>
          <p:cNvPr id="229" name="Google Shape;229;g360a94691c9_0_41"/>
          <p:cNvSpPr/>
          <p:nvPr/>
        </p:nvSpPr>
        <p:spPr>
          <a:xfrm>
            <a:off x="12340084" y="4542830"/>
            <a:ext cx="35442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2800"/>
              <a:buFont typeface="Alexandria"/>
              <a:buNone/>
            </a:pPr>
            <a:r>
              <a:rPr lang="en-US" sz="2800" b="0" i="0" u="none" strike="noStrike" cap="none">
                <a:solidFill>
                  <a:srgbClr val="1B1B27"/>
                </a:solidFill>
                <a:latin typeface="Alexandria"/>
                <a:ea typeface="Alexandria"/>
                <a:cs typeface="Alexandria"/>
                <a:sym typeface="Alexandria"/>
              </a:rPr>
              <a:t>Eficiencia</a:t>
            </a:r>
            <a:endParaRPr sz="2800" b="0" i="0" u="none" strike="noStrike" cap="none">
              <a:solidFill>
                <a:srgbClr val="000000"/>
              </a:solidFill>
              <a:latin typeface="Arial"/>
              <a:ea typeface="Arial"/>
              <a:cs typeface="Arial"/>
              <a:sym typeface="Arial"/>
            </a:endParaRPr>
          </a:p>
        </p:txBody>
      </p:sp>
      <p:sp>
        <p:nvSpPr>
          <p:cNvPr id="230" name="Google Shape;230;g360a94691c9_0_41"/>
          <p:cNvSpPr/>
          <p:nvPr/>
        </p:nvSpPr>
        <p:spPr>
          <a:xfrm>
            <a:off x="12340084" y="5269260"/>
            <a:ext cx="4972500" cy="1814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Terraform automatiza tareas manuales y reduce el tiempo y esfuerzo requerido para gestionar la infraestructura.</a:t>
            </a:r>
            <a:endParaRPr sz="22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g360a94691c9_0_71" descr="preencoded.png"/>
          <p:cNvPicPr preferRelativeResize="0"/>
          <p:nvPr/>
        </p:nvPicPr>
        <p:blipFill rotWithShape="1">
          <a:blip r:embed="rId3">
            <a:alphaModFix/>
          </a:blip>
          <a:srcRect/>
          <a:stretch/>
        </p:blipFill>
        <p:spPr>
          <a:xfrm>
            <a:off x="0" y="0"/>
            <a:ext cx="6858000" cy="10287000"/>
          </a:xfrm>
          <a:prstGeom prst="rect">
            <a:avLst/>
          </a:prstGeom>
          <a:noFill/>
          <a:ln>
            <a:noFill/>
          </a:ln>
        </p:spPr>
      </p:pic>
      <p:pic>
        <p:nvPicPr>
          <p:cNvPr id="257" name="Google Shape;257;g360a94691c9_0_71" descr="preencoded.png"/>
          <p:cNvPicPr preferRelativeResize="0"/>
          <p:nvPr/>
        </p:nvPicPr>
        <p:blipFill rotWithShape="1">
          <a:blip r:embed="rId4">
            <a:alphaModFix/>
          </a:blip>
          <a:srcRect/>
          <a:stretch/>
        </p:blipFill>
        <p:spPr>
          <a:xfrm>
            <a:off x="329505" y="1315641"/>
            <a:ext cx="6198841" cy="7655719"/>
          </a:xfrm>
          <a:prstGeom prst="rect">
            <a:avLst/>
          </a:prstGeom>
          <a:noFill/>
          <a:ln>
            <a:noFill/>
          </a:ln>
        </p:spPr>
      </p:pic>
      <p:sp>
        <p:nvSpPr>
          <p:cNvPr id="258" name="Google Shape;258;g360a94691c9_0_71"/>
          <p:cNvSpPr/>
          <p:nvPr/>
        </p:nvSpPr>
        <p:spPr>
          <a:xfrm>
            <a:off x="7780734" y="736998"/>
            <a:ext cx="9584700" cy="1647900"/>
          </a:xfrm>
          <a:prstGeom prst="rect">
            <a:avLst/>
          </a:prstGeom>
          <a:noFill/>
          <a:ln>
            <a:noFill/>
          </a:ln>
        </p:spPr>
        <p:txBody>
          <a:bodyPr spcFirstLastPara="1" wrap="square" lIns="0" tIns="0" rIns="0" bIns="0" anchor="t" anchorCtr="0">
            <a:noAutofit/>
          </a:bodyPr>
          <a:lstStyle/>
          <a:p>
            <a:pPr marL="0" marR="0" lvl="0" indent="0" algn="l" rtl="0">
              <a:lnSpc>
                <a:spcPct val="124096"/>
              </a:lnSpc>
              <a:spcBef>
                <a:spcPts val="0"/>
              </a:spcBef>
              <a:spcAft>
                <a:spcPts val="0"/>
              </a:spcAft>
              <a:buClr>
                <a:srgbClr val="1B1B27"/>
              </a:buClr>
              <a:buSzPts val="5200"/>
              <a:buFont typeface="Alexandria"/>
              <a:buNone/>
            </a:pPr>
            <a:r>
              <a:rPr lang="en-US" sz="5200" b="0" i="0" u="none" strike="noStrike" cap="none">
                <a:solidFill>
                  <a:srgbClr val="1B1B27"/>
                </a:solidFill>
                <a:latin typeface="Alexandria"/>
                <a:ea typeface="Alexandria"/>
                <a:cs typeface="Alexandria"/>
                <a:sym typeface="Alexandria"/>
              </a:rPr>
              <a:t>Sintaxis y recursos de Terraform</a:t>
            </a:r>
            <a:endParaRPr sz="5200" b="0" i="0" u="none" strike="noStrike" cap="none">
              <a:solidFill>
                <a:srgbClr val="000000"/>
              </a:solidFill>
              <a:latin typeface="Arial"/>
              <a:ea typeface="Arial"/>
              <a:cs typeface="Arial"/>
              <a:sym typeface="Arial"/>
            </a:endParaRPr>
          </a:p>
        </p:txBody>
      </p:sp>
      <p:sp>
        <p:nvSpPr>
          <p:cNvPr id="259" name="Google Shape;259;g360a94691c9_0_71"/>
          <p:cNvSpPr/>
          <p:nvPr/>
        </p:nvSpPr>
        <p:spPr>
          <a:xfrm>
            <a:off x="8161884" y="2780259"/>
            <a:ext cx="28500" cy="6769500"/>
          </a:xfrm>
          <a:prstGeom prst="roundRect">
            <a:avLst>
              <a:gd name="adj" fmla="val 387511"/>
            </a:avLst>
          </a:prstGeom>
          <a:solidFill>
            <a:srgbClr val="B8C3D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g360a94691c9_0_71"/>
          <p:cNvSpPr/>
          <p:nvPr/>
        </p:nvSpPr>
        <p:spPr>
          <a:xfrm>
            <a:off x="8444136" y="3358903"/>
            <a:ext cx="922800" cy="28500"/>
          </a:xfrm>
          <a:prstGeom prst="roundRect">
            <a:avLst>
              <a:gd name="adj" fmla="val 387511"/>
            </a:avLst>
          </a:prstGeom>
          <a:solidFill>
            <a:srgbClr val="B8C3D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g360a94691c9_0_71"/>
          <p:cNvSpPr/>
          <p:nvPr/>
        </p:nvSpPr>
        <p:spPr>
          <a:xfrm>
            <a:off x="7879631" y="3076724"/>
            <a:ext cx="593400" cy="593400"/>
          </a:xfrm>
          <a:prstGeom prst="roundRect">
            <a:avLst>
              <a:gd name="adj" fmla="val 18671"/>
            </a:avLst>
          </a:prstGeom>
          <a:solidFill>
            <a:srgbClr val="D2DDF9"/>
          </a:solidFill>
          <a:ln w="9525" cap="flat" cmpd="sng">
            <a:solidFill>
              <a:srgbClr val="B8C3D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g360a94691c9_0_71"/>
          <p:cNvSpPr/>
          <p:nvPr/>
        </p:nvSpPr>
        <p:spPr>
          <a:xfrm>
            <a:off x="8101980" y="3175546"/>
            <a:ext cx="148500" cy="395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04155"/>
              </a:buClr>
              <a:buSzPts val="3100"/>
              <a:buFont typeface="Alexandria"/>
              <a:buNone/>
            </a:pPr>
            <a:r>
              <a:rPr lang="en-US" sz="3100" b="0" i="0" u="none" strike="noStrike" cap="none">
                <a:solidFill>
                  <a:srgbClr val="404155"/>
                </a:solidFill>
                <a:latin typeface="Alexandria"/>
                <a:ea typeface="Alexandria"/>
                <a:cs typeface="Alexandria"/>
                <a:sym typeface="Alexandria"/>
              </a:rPr>
              <a:t>1</a:t>
            </a:r>
            <a:endParaRPr sz="3100" b="0" i="0" u="none" strike="noStrike" cap="none">
              <a:solidFill>
                <a:srgbClr val="000000"/>
              </a:solidFill>
              <a:latin typeface="Arial"/>
              <a:ea typeface="Arial"/>
              <a:cs typeface="Arial"/>
              <a:sym typeface="Arial"/>
            </a:endParaRPr>
          </a:p>
        </p:txBody>
      </p:sp>
      <p:sp>
        <p:nvSpPr>
          <p:cNvPr id="263" name="Google Shape;263;g360a94691c9_0_71"/>
          <p:cNvSpPr/>
          <p:nvPr/>
        </p:nvSpPr>
        <p:spPr>
          <a:xfrm>
            <a:off x="9626204" y="3043833"/>
            <a:ext cx="3295500" cy="4116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2600"/>
              <a:buFont typeface="Alexandria"/>
              <a:buNone/>
            </a:pPr>
            <a:r>
              <a:rPr lang="en-US" sz="2600" b="0" i="0" u="none" strike="noStrike" cap="none">
                <a:solidFill>
                  <a:srgbClr val="404155"/>
                </a:solidFill>
                <a:latin typeface="Alexandria"/>
                <a:ea typeface="Alexandria"/>
                <a:cs typeface="Alexandria"/>
                <a:sym typeface="Alexandria"/>
              </a:rPr>
              <a:t>Bloques</a:t>
            </a:r>
            <a:endParaRPr sz="2600" b="0" i="0" u="none" strike="noStrike" cap="none">
              <a:solidFill>
                <a:srgbClr val="000000"/>
              </a:solidFill>
              <a:latin typeface="Arial"/>
              <a:ea typeface="Arial"/>
              <a:cs typeface="Arial"/>
              <a:sym typeface="Arial"/>
            </a:endParaRPr>
          </a:p>
        </p:txBody>
      </p:sp>
      <p:sp>
        <p:nvSpPr>
          <p:cNvPr id="264" name="Google Shape;264;g360a94691c9_0_71"/>
          <p:cNvSpPr/>
          <p:nvPr/>
        </p:nvSpPr>
        <p:spPr>
          <a:xfrm>
            <a:off x="9626204" y="3613696"/>
            <a:ext cx="7739400" cy="843300"/>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Terraform utiliza bloques de configuración para definir recursos, módulos y variables.</a:t>
            </a:r>
            <a:endParaRPr sz="2100" b="0" i="0" u="none" strike="noStrike" cap="none">
              <a:solidFill>
                <a:srgbClr val="000000"/>
              </a:solidFill>
              <a:latin typeface="Arial"/>
              <a:ea typeface="Arial"/>
              <a:cs typeface="Arial"/>
              <a:sym typeface="Arial"/>
            </a:endParaRPr>
          </a:p>
        </p:txBody>
      </p:sp>
      <p:sp>
        <p:nvSpPr>
          <p:cNvPr id="265" name="Google Shape;265;g360a94691c9_0_71"/>
          <p:cNvSpPr/>
          <p:nvPr/>
        </p:nvSpPr>
        <p:spPr>
          <a:xfrm>
            <a:off x="8444136" y="5562749"/>
            <a:ext cx="922800" cy="28500"/>
          </a:xfrm>
          <a:prstGeom prst="roundRect">
            <a:avLst>
              <a:gd name="adj" fmla="val 387511"/>
            </a:avLst>
          </a:prstGeom>
          <a:solidFill>
            <a:srgbClr val="B8C3D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g360a94691c9_0_71"/>
          <p:cNvSpPr/>
          <p:nvPr/>
        </p:nvSpPr>
        <p:spPr>
          <a:xfrm>
            <a:off x="7879631" y="5280571"/>
            <a:ext cx="593400" cy="593400"/>
          </a:xfrm>
          <a:prstGeom prst="roundRect">
            <a:avLst>
              <a:gd name="adj" fmla="val 18671"/>
            </a:avLst>
          </a:prstGeom>
          <a:solidFill>
            <a:srgbClr val="D2DDF9"/>
          </a:solidFill>
          <a:ln w="9525" cap="flat" cmpd="sng">
            <a:solidFill>
              <a:srgbClr val="B8C3D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g360a94691c9_0_71"/>
          <p:cNvSpPr/>
          <p:nvPr/>
        </p:nvSpPr>
        <p:spPr>
          <a:xfrm>
            <a:off x="8060456" y="5379393"/>
            <a:ext cx="231300" cy="395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04155"/>
              </a:buClr>
              <a:buSzPts val="3100"/>
              <a:buFont typeface="Alexandria"/>
              <a:buNone/>
            </a:pPr>
            <a:r>
              <a:rPr lang="en-US" sz="3100" b="0" i="0" u="none" strike="noStrike" cap="none">
                <a:solidFill>
                  <a:srgbClr val="404155"/>
                </a:solidFill>
                <a:latin typeface="Alexandria"/>
                <a:ea typeface="Alexandria"/>
                <a:cs typeface="Alexandria"/>
                <a:sym typeface="Alexandria"/>
              </a:rPr>
              <a:t>2</a:t>
            </a:r>
            <a:endParaRPr sz="3100" b="0" i="0" u="none" strike="noStrike" cap="none">
              <a:solidFill>
                <a:srgbClr val="000000"/>
              </a:solidFill>
              <a:latin typeface="Arial"/>
              <a:ea typeface="Arial"/>
              <a:cs typeface="Arial"/>
              <a:sym typeface="Arial"/>
            </a:endParaRPr>
          </a:p>
        </p:txBody>
      </p:sp>
      <p:sp>
        <p:nvSpPr>
          <p:cNvPr id="268" name="Google Shape;268;g360a94691c9_0_71"/>
          <p:cNvSpPr/>
          <p:nvPr/>
        </p:nvSpPr>
        <p:spPr>
          <a:xfrm>
            <a:off x="9626204" y="5247680"/>
            <a:ext cx="3295500" cy="4116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2600"/>
              <a:buFont typeface="Alexandria"/>
              <a:buNone/>
            </a:pPr>
            <a:r>
              <a:rPr lang="en-US" sz="2600" b="0" i="0" u="none" strike="noStrike" cap="none">
                <a:solidFill>
                  <a:srgbClr val="404155"/>
                </a:solidFill>
                <a:latin typeface="Alexandria"/>
                <a:ea typeface="Alexandria"/>
                <a:cs typeface="Alexandria"/>
                <a:sym typeface="Alexandria"/>
              </a:rPr>
              <a:t>Recursos</a:t>
            </a:r>
            <a:endParaRPr sz="2600" b="0" i="0" u="none" strike="noStrike" cap="none">
              <a:solidFill>
                <a:srgbClr val="000000"/>
              </a:solidFill>
              <a:latin typeface="Arial"/>
              <a:ea typeface="Arial"/>
              <a:cs typeface="Arial"/>
              <a:sym typeface="Arial"/>
            </a:endParaRPr>
          </a:p>
        </p:txBody>
      </p:sp>
      <p:sp>
        <p:nvSpPr>
          <p:cNvPr id="269" name="Google Shape;269;g360a94691c9_0_71"/>
          <p:cNvSpPr/>
          <p:nvPr/>
        </p:nvSpPr>
        <p:spPr>
          <a:xfrm>
            <a:off x="9626204" y="5817543"/>
            <a:ext cx="7739400" cy="1264800"/>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Los recursos representan los componentes de infraestructura que se crearán, como instancias de EC2, VPCs o bases de datos.</a:t>
            </a:r>
            <a:endParaRPr sz="2100" b="0" i="0" u="none" strike="noStrike" cap="none">
              <a:solidFill>
                <a:srgbClr val="000000"/>
              </a:solidFill>
              <a:latin typeface="Arial"/>
              <a:ea typeface="Arial"/>
              <a:cs typeface="Arial"/>
              <a:sym typeface="Arial"/>
            </a:endParaRPr>
          </a:p>
        </p:txBody>
      </p:sp>
      <p:sp>
        <p:nvSpPr>
          <p:cNvPr id="270" name="Google Shape;270;g360a94691c9_0_71"/>
          <p:cNvSpPr/>
          <p:nvPr/>
        </p:nvSpPr>
        <p:spPr>
          <a:xfrm>
            <a:off x="8444136" y="8188226"/>
            <a:ext cx="922800" cy="28500"/>
          </a:xfrm>
          <a:prstGeom prst="roundRect">
            <a:avLst>
              <a:gd name="adj" fmla="val 387511"/>
            </a:avLst>
          </a:prstGeom>
          <a:solidFill>
            <a:srgbClr val="B8C3DF"/>
          </a:solidFill>
          <a:ln>
            <a:noFill/>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g360a94691c9_0_71"/>
          <p:cNvSpPr/>
          <p:nvPr/>
        </p:nvSpPr>
        <p:spPr>
          <a:xfrm>
            <a:off x="7879631" y="7906048"/>
            <a:ext cx="593400" cy="593400"/>
          </a:xfrm>
          <a:prstGeom prst="roundRect">
            <a:avLst>
              <a:gd name="adj" fmla="val 18671"/>
            </a:avLst>
          </a:prstGeom>
          <a:solidFill>
            <a:srgbClr val="D2DDF9"/>
          </a:solidFill>
          <a:ln w="9525" cap="flat" cmpd="sng">
            <a:solidFill>
              <a:srgbClr val="B8C3D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g360a94691c9_0_71"/>
          <p:cNvSpPr/>
          <p:nvPr/>
        </p:nvSpPr>
        <p:spPr>
          <a:xfrm>
            <a:off x="8059713" y="8004870"/>
            <a:ext cx="232800" cy="395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04155"/>
              </a:buClr>
              <a:buSzPts val="3100"/>
              <a:buFont typeface="Alexandria"/>
              <a:buNone/>
            </a:pPr>
            <a:r>
              <a:rPr lang="en-US" sz="3100" b="0" i="0" u="none" strike="noStrike" cap="none">
                <a:solidFill>
                  <a:srgbClr val="404155"/>
                </a:solidFill>
                <a:latin typeface="Alexandria"/>
                <a:ea typeface="Alexandria"/>
                <a:cs typeface="Alexandria"/>
                <a:sym typeface="Alexandria"/>
              </a:rPr>
              <a:t>3</a:t>
            </a:r>
            <a:endParaRPr sz="3100" b="0" i="0" u="none" strike="noStrike" cap="none">
              <a:solidFill>
                <a:srgbClr val="000000"/>
              </a:solidFill>
              <a:latin typeface="Arial"/>
              <a:ea typeface="Arial"/>
              <a:cs typeface="Arial"/>
              <a:sym typeface="Arial"/>
            </a:endParaRPr>
          </a:p>
        </p:txBody>
      </p:sp>
      <p:sp>
        <p:nvSpPr>
          <p:cNvPr id="273" name="Google Shape;273;g360a94691c9_0_71"/>
          <p:cNvSpPr/>
          <p:nvPr/>
        </p:nvSpPr>
        <p:spPr>
          <a:xfrm>
            <a:off x="9626204" y="7873156"/>
            <a:ext cx="3295500" cy="4116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2600"/>
              <a:buFont typeface="Alexandria"/>
              <a:buNone/>
            </a:pPr>
            <a:r>
              <a:rPr lang="en-US" sz="2600" b="0" i="0" u="none" strike="noStrike" cap="none">
                <a:solidFill>
                  <a:srgbClr val="404155"/>
                </a:solidFill>
                <a:latin typeface="Alexandria"/>
                <a:ea typeface="Alexandria"/>
                <a:cs typeface="Alexandria"/>
                <a:sym typeface="Alexandria"/>
              </a:rPr>
              <a:t>Salidas</a:t>
            </a:r>
            <a:endParaRPr sz="2600" b="0" i="0" u="none" strike="noStrike" cap="none">
              <a:solidFill>
                <a:srgbClr val="000000"/>
              </a:solidFill>
              <a:latin typeface="Arial"/>
              <a:ea typeface="Arial"/>
              <a:cs typeface="Arial"/>
              <a:sym typeface="Arial"/>
            </a:endParaRPr>
          </a:p>
        </p:txBody>
      </p:sp>
      <p:sp>
        <p:nvSpPr>
          <p:cNvPr id="274" name="Google Shape;274;g360a94691c9_0_71"/>
          <p:cNvSpPr/>
          <p:nvPr/>
        </p:nvSpPr>
        <p:spPr>
          <a:xfrm>
            <a:off x="9626204" y="8443020"/>
            <a:ext cx="7739400" cy="843300"/>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Las salidas permiten exponer información importante sobre la infraestructura, como direcciones IP o IDs de recursos.</a:t>
            </a:r>
            <a:endParaRPr sz="21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g360a94691c9_0_94" descr="preencoded.png"/>
          <p:cNvPicPr preferRelativeResize="0"/>
          <p:nvPr/>
        </p:nvPicPr>
        <p:blipFill rotWithShape="1">
          <a:blip r:embed="rId3">
            <a:alphaModFix/>
          </a:blip>
          <a:srcRect/>
          <a:stretch/>
        </p:blipFill>
        <p:spPr>
          <a:xfrm>
            <a:off x="11430000" y="0"/>
            <a:ext cx="6858000" cy="10287000"/>
          </a:xfrm>
          <a:prstGeom prst="rect">
            <a:avLst/>
          </a:prstGeom>
          <a:noFill/>
          <a:ln>
            <a:noFill/>
          </a:ln>
        </p:spPr>
      </p:pic>
      <p:pic>
        <p:nvPicPr>
          <p:cNvPr id="281" name="Google Shape;281;g360a94691c9_0_94" descr="preencoded.png"/>
          <p:cNvPicPr preferRelativeResize="0"/>
          <p:nvPr/>
        </p:nvPicPr>
        <p:blipFill rotWithShape="1">
          <a:blip r:embed="rId4">
            <a:alphaModFix/>
          </a:blip>
          <a:srcRect/>
          <a:stretch/>
        </p:blipFill>
        <p:spPr>
          <a:xfrm>
            <a:off x="11775728" y="3141910"/>
            <a:ext cx="6166395" cy="4003030"/>
          </a:xfrm>
          <a:prstGeom prst="rect">
            <a:avLst/>
          </a:prstGeom>
          <a:noFill/>
          <a:ln>
            <a:noFill/>
          </a:ln>
        </p:spPr>
      </p:pic>
      <p:sp>
        <p:nvSpPr>
          <p:cNvPr id="282" name="Google Shape;282;g360a94691c9_0_94"/>
          <p:cNvSpPr/>
          <p:nvPr/>
        </p:nvSpPr>
        <p:spPr>
          <a:xfrm>
            <a:off x="968128" y="763041"/>
            <a:ext cx="9493800" cy="1728900"/>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1B1B27"/>
              </a:buClr>
              <a:buSzPts val="5400"/>
              <a:buFont typeface="Alexandria"/>
              <a:buNone/>
            </a:pPr>
            <a:r>
              <a:rPr lang="en-US" sz="5400" b="0" i="0" u="none" strike="noStrike" cap="none">
                <a:solidFill>
                  <a:srgbClr val="1B1B27"/>
                </a:solidFill>
                <a:latin typeface="Alexandria"/>
                <a:ea typeface="Alexandria"/>
                <a:cs typeface="Alexandria"/>
                <a:sym typeface="Alexandria"/>
              </a:rPr>
              <a:t>Flujo de trabajo de Terraform</a:t>
            </a:r>
            <a:endParaRPr sz="5400" b="0" i="0" u="none" strike="noStrike" cap="none">
              <a:solidFill>
                <a:srgbClr val="000000"/>
              </a:solidFill>
              <a:latin typeface="Arial"/>
              <a:ea typeface="Arial"/>
              <a:cs typeface="Arial"/>
              <a:sym typeface="Arial"/>
            </a:endParaRPr>
          </a:p>
        </p:txBody>
      </p:sp>
      <p:pic>
        <p:nvPicPr>
          <p:cNvPr id="283" name="Google Shape;283;g360a94691c9_0_94" descr="preencoded.png"/>
          <p:cNvPicPr preferRelativeResize="0"/>
          <p:nvPr/>
        </p:nvPicPr>
        <p:blipFill rotWithShape="1">
          <a:blip r:embed="rId5">
            <a:alphaModFix/>
          </a:blip>
          <a:srcRect/>
          <a:stretch/>
        </p:blipFill>
        <p:spPr>
          <a:xfrm>
            <a:off x="968128" y="2906614"/>
            <a:ext cx="691455" cy="691455"/>
          </a:xfrm>
          <a:prstGeom prst="rect">
            <a:avLst/>
          </a:prstGeom>
          <a:noFill/>
          <a:ln>
            <a:noFill/>
          </a:ln>
        </p:spPr>
      </p:pic>
      <p:sp>
        <p:nvSpPr>
          <p:cNvPr id="284" name="Google Shape;284;g360a94691c9_0_94"/>
          <p:cNvSpPr/>
          <p:nvPr/>
        </p:nvSpPr>
        <p:spPr>
          <a:xfrm>
            <a:off x="968128" y="3874591"/>
            <a:ext cx="3457800" cy="4320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404155"/>
              </a:buClr>
              <a:buSzPts val="2700"/>
              <a:buFont typeface="Alexandria"/>
              <a:buNone/>
            </a:pPr>
            <a:r>
              <a:rPr lang="en-US" sz="2700" b="0" i="0" u="none" strike="noStrike" cap="none">
                <a:solidFill>
                  <a:srgbClr val="404155"/>
                </a:solidFill>
                <a:latin typeface="Alexandria"/>
                <a:ea typeface="Alexandria"/>
                <a:cs typeface="Alexandria"/>
                <a:sym typeface="Alexandria"/>
              </a:rPr>
              <a:t>Escribir</a:t>
            </a:r>
            <a:endParaRPr sz="2700" b="0" i="0" u="none" strike="noStrike" cap="none">
              <a:solidFill>
                <a:srgbClr val="000000"/>
              </a:solidFill>
              <a:latin typeface="Arial"/>
              <a:ea typeface="Arial"/>
              <a:cs typeface="Arial"/>
              <a:sym typeface="Arial"/>
            </a:endParaRPr>
          </a:p>
        </p:txBody>
      </p:sp>
      <p:sp>
        <p:nvSpPr>
          <p:cNvPr id="285" name="Google Shape;285;g360a94691c9_0_94"/>
          <p:cNvSpPr/>
          <p:nvPr/>
        </p:nvSpPr>
        <p:spPr>
          <a:xfrm>
            <a:off x="968128" y="4472583"/>
            <a:ext cx="4539300" cy="1327800"/>
          </a:xfrm>
          <a:prstGeom prst="rect">
            <a:avLst/>
          </a:prstGeom>
          <a:noFill/>
          <a:ln>
            <a:noFill/>
          </a:ln>
        </p:spPr>
        <p:txBody>
          <a:bodyPr spcFirstLastPara="1" wrap="square" lIns="0" tIns="0" rIns="0" bIns="0" anchor="t" anchorCtr="0">
            <a:noAutofit/>
          </a:bodyPr>
          <a:lstStyle/>
          <a:p>
            <a:pPr marL="0" marR="0" lvl="0" indent="0" algn="l" rtl="0">
              <a:lnSpc>
                <a:spcPct val="161764"/>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Crear archivos de configuración de Terraform que describan la infraestructura deseada.</a:t>
            </a:r>
            <a:endParaRPr sz="2100" b="0" i="0" u="none" strike="noStrike" cap="none">
              <a:solidFill>
                <a:srgbClr val="000000"/>
              </a:solidFill>
              <a:latin typeface="Arial"/>
              <a:ea typeface="Arial"/>
              <a:cs typeface="Arial"/>
              <a:sym typeface="Arial"/>
            </a:endParaRPr>
          </a:p>
        </p:txBody>
      </p:sp>
      <p:pic>
        <p:nvPicPr>
          <p:cNvPr id="286" name="Google Shape;286;g360a94691c9_0_94" descr="preencoded.png"/>
          <p:cNvPicPr preferRelativeResize="0"/>
          <p:nvPr/>
        </p:nvPicPr>
        <p:blipFill rotWithShape="1">
          <a:blip r:embed="rId6">
            <a:alphaModFix/>
          </a:blip>
          <a:srcRect/>
          <a:stretch/>
        </p:blipFill>
        <p:spPr>
          <a:xfrm>
            <a:off x="5922318" y="2906614"/>
            <a:ext cx="691455" cy="691455"/>
          </a:xfrm>
          <a:prstGeom prst="rect">
            <a:avLst/>
          </a:prstGeom>
          <a:noFill/>
          <a:ln>
            <a:noFill/>
          </a:ln>
        </p:spPr>
      </p:pic>
      <p:sp>
        <p:nvSpPr>
          <p:cNvPr id="287" name="Google Shape;287;g360a94691c9_0_94"/>
          <p:cNvSpPr/>
          <p:nvPr/>
        </p:nvSpPr>
        <p:spPr>
          <a:xfrm>
            <a:off x="5922318" y="3874591"/>
            <a:ext cx="3457800" cy="4320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404155"/>
              </a:buClr>
              <a:buSzPts val="2700"/>
              <a:buFont typeface="Alexandria"/>
              <a:buNone/>
            </a:pPr>
            <a:r>
              <a:rPr lang="en-US" sz="2700" b="0" i="0" u="none" strike="noStrike" cap="none">
                <a:solidFill>
                  <a:srgbClr val="404155"/>
                </a:solidFill>
                <a:latin typeface="Alexandria"/>
                <a:ea typeface="Alexandria"/>
                <a:cs typeface="Alexandria"/>
                <a:sym typeface="Alexandria"/>
              </a:rPr>
              <a:t>Planificar</a:t>
            </a:r>
            <a:endParaRPr sz="2700" b="0" i="0" u="none" strike="noStrike" cap="none">
              <a:solidFill>
                <a:srgbClr val="000000"/>
              </a:solidFill>
              <a:latin typeface="Arial"/>
              <a:ea typeface="Arial"/>
              <a:cs typeface="Arial"/>
              <a:sym typeface="Arial"/>
            </a:endParaRPr>
          </a:p>
        </p:txBody>
      </p:sp>
      <p:sp>
        <p:nvSpPr>
          <p:cNvPr id="288" name="Google Shape;288;g360a94691c9_0_94"/>
          <p:cNvSpPr/>
          <p:nvPr/>
        </p:nvSpPr>
        <p:spPr>
          <a:xfrm>
            <a:off x="5922318" y="4472583"/>
            <a:ext cx="4539300" cy="1327800"/>
          </a:xfrm>
          <a:prstGeom prst="rect">
            <a:avLst/>
          </a:prstGeom>
          <a:noFill/>
          <a:ln>
            <a:noFill/>
          </a:ln>
        </p:spPr>
        <p:txBody>
          <a:bodyPr spcFirstLastPara="1" wrap="square" lIns="0" tIns="0" rIns="0" bIns="0" anchor="t" anchorCtr="0">
            <a:noAutofit/>
          </a:bodyPr>
          <a:lstStyle/>
          <a:p>
            <a:pPr marL="0" marR="0" lvl="0" indent="0" algn="l" rtl="0">
              <a:lnSpc>
                <a:spcPct val="161764"/>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Revisar los cambios que Terraform aplicará a la infraestructura.</a:t>
            </a:r>
            <a:endParaRPr sz="2100" b="0" i="0" u="none" strike="noStrike" cap="none">
              <a:solidFill>
                <a:srgbClr val="000000"/>
              </a:solidFill>
              <a:latin typeface="Arial"/>
              <a:ea typeface="Arial"/>
              <a:cs typeface="Arial"/>
              <a:sym typeface="Arial"/>
            </a:endParaRPr>
          </a:p>
        </p:txBody>
      </p:sp>
      <p:pic>
        <p:nvPicPr>
          <p:cNvPr id="289" name="Google Shape;289;g360a94691c9_0_94" descr="preencoded.png"/>
          <p:cNvPicPr preferRelativeResize="0"/>
          <p:nvPr/>
        </p:nvPicPr>
        <p:blipFill rotWithShape="1">
          <a:blip r:embed="rId7">
            <a:alphaModFix/>
          </a:blip>
          <a:srcRect/>
          <a:stretch/>
        </p:blipFill>
        <p:spPr>
          <a:xfrm>
            <a:off x="968128" y="6630144"/>
            <a:ext cx="691455" cy="691455"/>
          </a:xfrm>
          <a:prstGeom prst="rect">
            <a:avLst/>
          </a:prstGeom>
          <a:noFill/>
          <a:ln>
            <a:noFill/>
          </a:ln>
        </p:spPr>
      </p:pic>
      <p:sp>
        <p:nvSpPr>
          <p:cNvPr id="290" name="Google Shape;290;g360a94691c9_0_94"/>
          <p:cNvSpPr/>
          <p:nvPr/>
        </p:nvSpPr>
        <p:spPr>
          <a:xfrm>
            <a:off x="968128" y="7598123"/>
            <a:ext cx="3457800" cy="4320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404155"/>
              </a:buClr>
              <a:buSzPts val="2700"/>
              <a:buFont typeface="Alexandria"/>
              <a:buNone/>
            </a:pPr>
            <a:r>
              <a:rPr lang="en-US" sz="2700" b="0" i="0" u="none" strike="noStrike" cap="none">
                <a:solidFill>
                  <a:srgbClr val="404155"/>
                </a:solidFill>
                <a:latin typeface="Alexandria"/>
                <a:ea typeface="Alexandria"/>
                <a:cs typeface="Alexandria"/>
                <a:sym typeface="Alexandria"/>
              </a:rPr>
              <a:t>Aplicar</a:t>
            </a:r>
            <a:endParaRPr sz="2700" b="0" i="0" u="none" strike="noStrike" cap="none">
              <a:solidFill>
                <a:srgbClr val="000000"/>
              </a:solidFill>
              <a:latin typeface="Arial"/>
              <a:ea typeface="Arial"/>
              <a:cs typeface="Arial"/>
              <a:sym typeface="Arial"/>
            </a:endParaRPr>
          </a:p>
        </p:txBody>
      </p:sp>
      <p:sp>
        <p:nvSpPr>
          <p:cNvPr id="291" name="Google Shape;291;g360a94691c9_0_94"/>
          <p:cNvSpPr/>
          <p:nvPr/>
        </p:nvSpPr>
        <p:spPr>
          <a:xfrm>
            <a:off x="968128" y="8196114"/>
            <a:ext cx="4539300" cy="1327800"/>
          </a:xfrm>
          <a:prstGeom prst="rect">
            <a:avLst/>
          </a:prstGeom>
          <a:noFill/>
          <a:ln>
            <a:noFill/>
          </a:ln>
        </p:spPr>
        <p:txBody>
          <a:bodyPr spcFirstLastPara="1" wrap="square" lIns="0" tIns="0" rIns="0" bIns="0" anchor="t" anchorCtr="0">
            <a:noAutofit/>
          </a:bodyPr>
          <a:lstStyle/>
          <a:p>
            <a:pPr marL="0" marR="0" lvl="0" indent="0" algn="l" rtl="0">
              <a:lnSpc>
                <a:spcPct val="161764"/>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Ejecutar Terraform para crear o actualizar la infraestructura según la configuración.</a:t>
            </a:r>
            <a:endParaRPr sz="2100" b="0" i="0" u="none" strike="noStrike" cap="none">
              <a:solidFill>
                <a:srgbClr val="000000"/>
              </a:solidFill>
              <a:latin typeface="Arial"/>
              <a:ea typeface="Arial"/>
              <a:cs typeface="Arial"/>
              <a:sym typeface="Arial"/>
            </a:endParaRPr>
          </a:p>
        </p:txBody>
      </p:sp>
      <p:pic>
        <p:nvPicPr>
          <p:cNvPr id="292" name="Google Shape;292;g360a94691c9_0_94" descr="preencoded.png"/>
          <p:cNvPicPr preferRelativeResize="0"/>
          <p:nvPr/>
        </p:nvPicPr>
        <p:blipFill rotWithShape="1">
          <a:blip r:embed="rId8">
            <a:alphaModFix/>
          </a:blip>
          <a:srcRect/>
          <a:stretch/>
        </p:blipFill>
        <p:spPr>
          <a:xfrm>
            <a:off x="5922318" y="6630144"/>
            <a:ext cx="691455" cy="691455"/>
          </a:xfrm>
          <a:prstGeom prst="rect">
            <a:avLst/>
          </a:prstGeom>
          <a:noFill/>
          <a:ln>
            <a:noFill/>
          </a:ln>
        </p:spPr>
      </p:pic>
      <p:sp>
        <p:nvSpPr>
          <p:cNvPr id="293" name="Google Shape;293;g360a94691c9_0_94"/>
          <p:cNvSpPr/>
          <p:nvPr/>
        </p:nvSpPr>
        <p:spPr>
          <a:xfrm>
            <a:off x="5922318" y="7598123"/>
            <a:ext cx="3457800" cy="4320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404155"/>
              </a:buClr>
              <a:buSzPts val="2700"/>
              <a:buFont typeface="Alexandria"/>
              <a:buNone/>
            </a:pPr>
            <a:r>
              <a:rPr lang="en-US" sz="2700" b="0" i="0" u="none" strike="noStrike" cap="none">
                <a:solidFill>
                  <a:srgbClr val="404155"/>
                </a:solidFill>
                <a:latin typeface="Alexandria"/>
                <a:ea typeface="Alexandria"/>
                <a:cs typeface="Alexandria"/>
                <a:sym typeface="Alexandria"/>
              </a:rPr>
              <a:t>Destruir</a:t>
            </a:r>
            <a:endParaRPr sz="2700" b="0" i="0" u="none" strike="noStrike" cap="none">
              <a:solidFill>
                <a:srgbClr val="000000"/>
              </a:solidFill>
              <a:latin typeface="Arial"/>
              <a:ea typeface="Arial"/>
              <a:cs typeface="Arial"/>
              <a:sym typeface="Arial"/>
            </a:endParaRPr>
          </a:p>
        </p:txBody>
      </p:sp>
      <p:sp>
        <p:nvSpPr>
          <p:cNvPr id="294" name="Google Shape;294;g360a94691c9_0_94"/>
          <p:cNvSpPr/>
          <p:nvPr/>
        </p:nvSpPr>
        <p:spPr>
          <a:xfrm>
            <a:off x="5922318" y="8196114"/>
            <a:ext cx="4539300" cy="885300"/>
          </a:xfrm>
          <a:prstGeom prst="rect">
            <a:avLst/>
          </a:prstGeom>
          <a:noFill/>
          <a:ln>
            <a:noFill/>
          </a:ln>
        </p:spPr>
        <p:txBody>
          <a:bodyPr spcFirstLastPara="1" wrap="square" lIns="0" tIns="0" rIns="0" bIns="0" anchor="t" anchorCtr="0">
            <a:noAutofit/>
          </a:bodyPr>
          <a:lstStyle/>
          <a:p>
            <a:pPr marL="0" marR="0" lvl="0" indent="0" algn="l" rtl="0">
              <a:lnSpc>
                <a:spcPct val="161764"/>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Eliminar la infraestructura cuando ya no se necesite.</a:t>
            </a:r>
            <a:endParaRPr sz="21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60a94691c9_0_113"/>
          <p:cNvSpPr/>
          <p:nvPr/>
        </p:nvSpPr>
        <p:spPr>
          <a:xfrm>
            <a:off x="992252" y="3174950"/>
            <a:ext cx="14856900" cy="8862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1B1B27"/>
              </a:buClr>
              <a:buSzPts val="5600"/>
              <a:buFont typeface="Alexandria"/>
              <a:buNone/>
            </a:pPr>
            <a:r>
              <a:rPr lang="en-US" sz="5600" b="0" i="0" u="none" strike="noStrike" cap="none">
                <a:solidFill>
                  <a:srgbClr val="1B1B27"/>
                </a:solidFill>
                <a:latin typeface="Alexandria"/>
                <a:ea typeface="Alexandria"/>
                <a:cs typeface="Alexandria"/>
                <a:sym typeface="Alexandria"/>
              </a:rPr>
              <a:t>Módulos y proveedores en Terraform</a:t>
            </a:r>
            <a:endParaRPr sz="5600" b="0" i="0" u="none" strike="noStrike" cap="none">
              <a:solidFill>
                <a:srgbClr val="000000"/>
              </a:solidFill>
              <a:latin typeface="Arial"/>
              <a:ea typeface="Arial"/>
              <a:cs typeface="Arial"/>
              <a:sym typeface="Arial"/>
            </a:endParaRPr>
          </a:p>
        </p:txBody>
      </p:sp>
      <p:sp>
        <p:nvSpPr>
          <p:cNvPr id="301" name="Google Shape;301;g360a94691c9_0_113"/>
          <p:cNvSpPr/>
          <p:nvPr/>
        </p:nvSpPr>
        <p:spPr>
          <a:xfrm>
            <a:off x="992238" y="4769644"/>
            <a:ext cx="35442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2800"/>
              <a:buFont typeface="Alexandria"/>
              <a:buNone/>
            </a:pPr>
            <a:r>
              <a:rPr lang="en-US" sz="2800" b="0" i="0" u="none" strike="noStrike" cap="none">
                <a:solidFill>
                  <a:srgbClr val="1B1B27"/>
                </a:solidFill>
                <a:latin typeface="Alexandria"/>
                <a:ea typeface="Alexandria"/>
                <a:cs typeface="Alexandria"/>
                <a:sym typeface="Alexandria"/>
              </a:rPr>
              <a:t>Módulos</a:t>
            </a:r>
            <a:endParaRPr sz="2800" b="0" i="0" u="none" strike="noStrike" cap="none">
              <a:solidFill>
                <a:srgbClr val="000000"/>
              </a:solidFill>
              <a:latin typeface="Arial"/>
              <a:ea typeface="Arial"/>
              <a:cs typeface="Arial"/>
              <a:sym typeface="Arial"/>
            </a:endParaRPr>
          </a:p>
        </p:txBody>
      </p:sp>
      <p:sp>
        <p:nvSpPr>
          <p:cNvPr id="302" name="Google Shape;302;g360a94691c9_0_113"/>
          <p:cNvSpPr/>
          <p:nvPr/>
        </p:nvSpPr>
        <p:spPr>
          <a:xfrm>
            <a:off x="992238" y="5496074"/>
            <a:ext cx="7806000" cy="9072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Los módulos permiten reutilizar y compartir bloques de configuración entre diferentes proyectos.</a:t>
            </a:r>
            <a:endParaRPr sz="2200" b="0" i="0" u="none" strike="noStrike" cap="none">
              <a:solidFill>
                <a:srgbClr val="000000"/>
              </a:solidFill>
              <a:latin typeface="Arial"/>
              <a:ea typeface="Arial"/>
              <a:cs typeface="Arial"/>
              <a:sym typeface="Arial"/>
            </a:endParaRPr>
          </a:p>
        </p:txBody>
      </p:sp>
      <p:sp>
        <p:nvSpPr>
          <p:cNvPr id="303" name="Google Shape;303;g360a94691c9_0_113"/>
          <p:cNvSpPr/>
          <p:nvPr/>
        </p:nvSpPr>
        <p:spPr>
          <a:xfrm>
            <a:off x="9499401" y="4769644"/>
            <a:ext cx="35442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2800"/>
              <a:buFont typeface="Alexandria"/>
              <a:buNone/>
            </a:pPr>
            <a:r>
              <a:rPr lang="en-US" sz="2800" b="0" i="0" u="none" strike="noStrike" cap="none">
                <a:solidFill>
                  <a:srgbClr val="1B1B27"/>
                </a:solidFill>
                <a:latin typeface="Alexandria"/>
                <a:ea typeface="Alexandria"/>
                <a:cs typeface="Alexandria"/>
                <a:sym typeface="Alexandria"/>
              </a:rPr>
              <a:t>Proveedores</a:t>
            </a:r>
            <a:endParaRPr sz="2800" b="0" i="0" u="none" strike="noStrike" cap="none">
              <a:solidFill>
                <a:srgbClr val="000000"/>
              </a:solidFill>
              <a:latin typeface="Arial"/>
              <a:ea typeface="Arial"/>
              <a:cs typeface="Arial"/>
              <a:sym typeface="Arial"/>
            </a:endParaRPr>
          </a:p>
        </p:txBody>
      </p:sp>
      <p:sp>
        <p:nvSpPr>
          <p:cNvPr id="304" name="Google Shape;304;g360a94691c9_0_113"/>
          <p:cNvSpPr/>
          <p:nvPr/>
        </p:nvSpPr>
        <p:spPr>
          <a:xfrm>
            <a:off x="9499401" y="5496074"/>
            <a:ext cx="7806000" cy="13608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4155"/>
              </a:buClr>
              <a:buSzPts val="2200"/>
              <a:buFont typeface="Nobile"/>
              <a:buNone/>
            </a:pPr>
            <a:r>
              <a:rPr lang="en-US" sz="2200" b="0" i="0" u="none" strike="noStrike" cap="none">
                <a:solidFill>
                  <a:srgbClr val="404155"/>
                </a:solidFill>
                <a:latin typeface="Nobile"/>
                <a:ea typeface="Nobile"/>
                <a:cs typeface="Nobile"/>
                <a:sym typeface="Nobile"/>
              </a:rPr>
              <a:t>Terraform admite una amplia variedad de proveedores de infraestructura, lo que permite la gestión de recursos en múltiples plataformas.</a:t>
            </a:r>
            <a:endParaRPr sz="22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g360a94691c9_0_122" descr="preencoded.png"/>
          <p:cNvPicPr preferRelativeResize="0"/>
          <p:nvPr/>
        </p:nvPicPr>
        <p:blipFill rotWithShape="1">
          <a:blip r:embed="rId3">
            <a:alphaModFix/>
          </a:blip>
          <a:srcRect/>
          <a:stretch/>
        </p:blipFill>
        <p:spPr>
          <a:xfrm>
            <a:off x="0" y="0"/>
            <a:ext cx="6858000" cy="10287891"/>
          </a:xfrm>
          <a:prstGeom prst="rect">
            <a:avLst/>
          </a:prstGeom>
          <a:noFill/>
          <a:ln>
            <a:noFill/>
          </a:ln>
        </p:spPr>
      </p:pic>
      <p:pic>
        <p:nvPicPr>
          <p:cNvPr id="311" name="Google Shape;311;g360a94691c9_0_122" descr="preencoded.png"/>
          <p:cNvPicPr preferRelativeResize="0"/>
          <p:nvPr/>
        </p:nvPicPr>
        <p:blipFill rotWithShape="1">
          <a:blip r:embed="rId4">
            <a:alphaModFix/>
          </a:blip>
          <a:srcRect/>
          <a:stretch/>
        </p:blipFill>
        <p:spPr>
          <a:xfrm>
            <a:off x="328166" y="3521125"/>
            <a:ext cx="6201516" cy="3245495"/>
          </a:xfrm>
          <a:prstGeom prst="rect">
            <a:avLst/>
          </a:prstGeom>
          <a:noFill/>
          <a:ln>
            <a:noFill/>
          </a:ln>
        </p:spPr>
      </p:pic>
      <p:sp>
        <p:nvSpPr>
          <p:cNvPr id="312" name="Google Shape;312;g360a94691c9_0_122"/>
          <p:cNvSpPr/>
          <p:nvPr/>
        </p:nvSpPr>
        <p:spPr>
          <a:xfrm>
            <a:off x="7777163" y="722114"/>
            <a:ext cx="9591900" cy="1641900"/>
          </a:xfrm>
          <a:prstGeom prst="rect">
            <a:avLst/>
          </a:prstGeom>
          <a:noFill/>
          <a:ln>
            <a:noFill/>
          </a:ln>
        </p:spPr>
        <p:txBody>
          <a:bodyPr spcFirstLastPara="1" wrap="square" lIns="0" tIns="0" rIns="0" bIns="0" anchor="t" anchorCtr="0">
            <a:noAutofit/>
          </a:bodyPr>
          <a:lstStyle/>
          <a:p>
            <a:pPr marL="0" marR="0" lvl="0" indent="0" algn="l" rtl="0">
              <a:lnSpc>
                <a:spcPct val="125609"/>
              </a:lnSpc>
              <a:spcBef>
                <a:spcPts val="0"/>
              </a:spcBef>
              <a:spcAft>
                <a:spcPts val="0"/>
              </a:spcAft>
              <a:buClr>
                <a:srgbClr val="1B1B27"/>
              </a:buClr>
              <a:buSzPts val="5100"/>
              <a:buFont typeface="Alexandria"/>
              <a:buNone/>
            </a:pPr>
            <a:r>
              <a:rPr lang="en-US" sz="5100" b="0" i="0" u="none" strike="noStrike" cap="none">
                <a:solidFill>
                  <a:srgbClr val="1B1B27"/>
                </a:solidFill>
                <a:latin typeface="Alexandria"/>
                <a:ea typeface="Alexandria"/>
                <a:cs typeface="Alexandria"/>
                <a:sym typeface="Alexandria"/>
              </a:rPr>
              <a:t>Gestión del estado en Terraform</a:t>
            </a:r>
            <a:endParaRPr sz="5100" b="0" i="0" u="none" strike="noStrike" cap="none">
              <a:solidFill>
                <a:srgbClr val="000000"/>
              </a:solidFill>
              <a:latin typeface="Arial"/>
              <a:ea typeface="Arial"/>
              <a:cs typeface="Arial"/>
              <a:sym typeface="Arial"/>
            </a:endParaRPr>
          </a:p>
        </p:txBody>
      </p:sp>
      <p:pic>
        <p:nvPicPr>
          <p:cNvPr id="313" name="Google Shape;313;g360a94691c9_0_122" descr="preencoded.png"/>
          <p:cNvPicPr preferRelativeResize="0"/>
          <p:nvPr/>
        </p:nvPicPr>
        <p:blipFill rotWithShape="1">
          <a:blip r:embed="rId5">
            <a:alphaModFix/>
          </a:blip>
          <a:srcRect/>
          <a:stretch/>
        </p:blipFill>
        <p:spPr>
          <a:xfrm>
            <a:off x="7777163" y="2757488"/>
            <a:ext cx="1313110" cy="2100858"/>
          </a:xfrm>
          <a:prstGeom prst="rect">
            <a:avLst/>
          </a:prstGeom>
          <a:noFill/>
          <a:ln>
            <a:noFill/>
          </a:ln>
        </p:spPr>
      </p:pic>
      <p:sp>
        <p:nvSpPr>
          <p:cNvPr id="314" name="Google Shape;314;g360a94691c9_0_122"/>
          <p:cNvSpPr/>
          <p:nvPr/>
        </p:nvSpPr>
        <p:spPr>
          <a:xfrm>
            <a:off x="9484073" y="3020020"/>
            <a:ext cx="3282900" cy="4101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2600"/>
              <a:buFont typeface="Alexandria"/>
              <a:buNone/>
            </a:pPr>
            <a:r>
              <a:rPr lang="en-US" sz="2600" b="0" i="0" u="none" strike="noStrike" cap="none">
                <a:solidFill>
                  <a:srgbClr val="404155"/>
                </a:solidFill>
                <a:latin typeface="Alexandria"/>
                <a:ea typeface="Alexandria"/>
                <a:cs typeface="Alexandria"/>
                <a:sym typeface="Alexandria"/>
              </a:rPr>
              <a:t>Estado local</a:t>
            </a:r>
            <a:endParaRPr sz="2600" b="0" i="0" u="none" strike="noStrike" cap="none">
              <a:solidFill>
                <a:srgbClr val="000000"/>
              </a:solidFill>
              <a:latin typeface="Arial"/>
              <a:ea typeface="Arial"/>
              <a:cs typeface="Arial"/>
              <a:sym typeface="Arial"/>
            </a:endParaRPr>
          </a:p>
        </p:txBody>
      </p:sp>
      <p:sp>
        <p:nvSpPr>
          <p:cNvPr id="315" name="Google Shape;315;g360a94691c9_0_122"/>
          <p:cNvSpPr/>
          <p:nvPr/>
        </p:nvSpPr>
        <p:spPr>
          <a:xfrm>
            <a:off x="9484073" y="3587800"/>
            <a:ext cx="7884600" cy="840900"/>
          </a:xfrm>
          <a:prstGeom prst="rect">
            <a:avLst/>
          </a:prstGeom>
          <a:noFill/>
          <a:ln>
            <a:noFill/>
          </a:ln>
        </p:spPr>
        <p:txBody>
          <a:bodyPr spcFirstLastPara="1" wrap="square" lIns="0" tIns="0" rIns="0" bIns="0" anchor="t" anchorCtr="0">
            <a:noAutofit/>
          </a:bodyPr>
          <a:lstStyle/>
          <a:p>
            <a:pPr marL="0" marR="0" lvl="0" indent="0" algn="l" rtl="0">
              <a:lnSpc>
                <a:spcPct val="157575"/>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Terraform almacena el estado de la infraestructura en archivos locales.</a:t>
            </a:r>
            <a:endParaRPr sz="2100" b="0" i="0" u="none" strike="noStrike" cap="none">
              <a:solidFill>
                <a:srgbClr val="000000"/>
              </a:solidFill>
              <a:latin typeface="Arial"/>
              <a:ea typeface="Arial"/>
              <a:cs typeface="Arial"/>
              <a:sym typeface="Arial"/>
            </a:endParaRPr>
          </a:p>
        </p:txBody>
      </p:sp>
      <p:pic>
        <p:nvPicPr>
          <p:cNvPr id="316" name="Google Shape;316;g360a94691c9_0_122" descr="preencoded.png"/>
          <p:cNvPicPr preferRelativeResize="0"/>
          <p:nvPr/>
        </p:nvPicPr>
        <p:blipFill rotWithShape="1">
          <a:blip r:embed="rId6">
            <a:alphaModFix/>
          </a:blip>
          <a:srcRect/>
          <a:stretch/>
        </p:blipFill>
        <p:spPr>
          <a:xfrm>
            <a:off x="7777163" y="4858345"/>
            <a:ext cx="1313110" cy="2353716"/>
          </a:xfrm>
          <a:prstGeom prst="rect">
            <a:avLst/>
          </a:prstGeom>
          <a:noFill/>
          <a:ln>
            <a:noFill/>
          </a:ln>
        </p:spPr>
      </p:pic>
      <p:sp>
        <p:nvSpPr>
          <p:cNvPr id="317" name="Google Shape;317;g360a94691c9_0_122"/>
          <p:cNvSpPr/>
          <p:nvPr/>
        </p:nvSpPr>
        <p:spPr>
          <a:xfrm>
            <a:off x="9484073" y="5120879"/>
            <a:ext cx="3282900" cy="4101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2600"/>
              <a:buFont typeface="Alexandria"/>
              <a:buNone/>
            </a:pPr>
            <a:r>
              <a:rPr lang="en-US" sz="2600" b="0" i="0" u="none" strike="noStrike" cap="none">
                <a:solidFill>
                  <a:srgbClr val="404155"/>
                </a:solidFill>
                <a:latin typeface="Alexandria"/>
                <a:ea typeface="Alexandria"/>
                <a:cs typeface="Alexandria"/>
                <a:sym typeface="Alexandria"/>
              </a:rPr>
              <a:t>Estado remoto</a:t>
            </a:r>
            <a:endParaRPr sz="2600" b="0" i="0" u="none" strike="noStrike" cap="none">
              <a:solidFill>
                <a:srgbClr val="000000"/>
              </a:solidFill>
              <a:latin typeface="Arial"/>
              <a:ea typeface="Arial"/>
              <a:cs typeface="Arial"/>
              <a:sym typeface="Arial"/>
            </a:endParaRPr>
          </a:p>
        </p:txBody>
      </p:sp>
      <p:sp>
        <p:nvSpPr>
          <p:cNvPr id="318" name="Google Shape;318;g360a94691c9_0_122"/>
          <p:cNvSpPr/>
          <p:nvPr/>
        </p:nvSpPr>
        <p:spPr>
          <a:xfrm>
            <a:off x="9484073" y="5688658"/>
            <a:ext cx="7884600" cy="1260900"/>
          </a:xfrm>
          <a:prstGeom prst="rect">
            <a:avLst/>
          </a:prstGeom>
          <a:noFill/>
          <a:ln>
            <a:noFill/>
          </a:ln>
        </p:spPr>
        <p:txBody>
          <a:bodyPr spcFirstLastPara="1" wrap="square" lIns="0" tIns="0" rIns="0" bIns="0" anchor="t" anchorCtr="0">
            <a:noAutofit/>
          </a:bodyPr>
          <a:lstStyle/>
          <a:p>
            <a:pPr marL="0" marR="0" lvl="0" indent="0" algn="l" rtl="0">
              <a:lnSpc>
                <a:spcPct val="157575"/>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Terraform también admite el almacenamiento del estado en ubicaciones remotas, como Bucket de S3 o Blob Storage de Azure.</a:t>
            </a:r>
            <a:endParaRPr sz="2100" b="0" i="0" u="none" strike="noStrike" cap="none">
              <a:solidFill>
                <a:srgbClr val="000000"/>
              </a:solidFill>
              <a:latin typeface="Arial"/>
              <a:ea typeface="Arial"/>
              <a:cs typeface="Arial"/>
              <a:sym typeface="Arial"/>
            </a:endParaRPr>
          </a:p>
        </p:txBody>
      </p:sp>
      <p:pic>
        <p:nvPicPr>
          <p:cNvPr id="319" name="Google Shape;319;g360a94691c9_0_122" descr="preencoded.png"/>
          <p:cNvPicPr preferRelativeResize="0"/>
          <p:nvPr/>
        </p:nvPicPr>
        <p:blipFill rotWithShape="1">
          <a:blip r:embed="rId7">
            <a:alphaModFix/>
          </a:blip>
          <a:srcRect/>
          <a:stretch/>
        </p:blipFill>
        <p:spPr>
          <a:xfrm>
            <a:off x="7777163" y="7212063"/>
            <a:ext cx="1313110" cy="2353716"/>
          </a:xfrm>
          <a:prstGeom prst="rect">
            <a:avLst/>
          </a:prstGeom>
          <a:noFill/>
          <a:ln>
            <a:noFill/>
          </a:ln>
        </p:spPr>
      </p:pic>
      <p:sp>
        <p:nvSpPr>
          <p:cNvPr id="320" name="Google Shape;320;g360a94691c9_0_122"/>
          <p:cNvSpPr/>
          <p:nvPr/>
        </p:nvSpPr>
        <p:spPr>
          <a:xfrm>
            <a:off x="9484073" y="7474595"/>
            <a:ext cx="3282900" cy="4101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2600"/>
              <a:buFont typeface="Alexandria"/>
              <a:buNone/>
            </a:pPr>
            <a:r>
              <a:rPr lang="en-US" sz="2600" b="0" i="0" u="none" strike="noStrike" cap="none">
                <a:solidFill>
                  <a:srgbClr val="404155"/>
                </a:solidFill>
                <a:latin typeface="Alexandria"/>
                <a:ea typeface="Alexandria"/>
                <a:cs typeface="Alexandria"/>
                <a:sym typeface="Alexandria"/>
              </a:rPr>
              <a:t>Bloqueo de estado</a:t>
            </a:r>
            <a:endParaRPr sz="2600" b="0" i="0" u="none" strike="noStrike" cap="none">
              <a:solidFill>
                <a:srgbClr val="000000"/>
              </a:solidFill>
              <a:latin typeface="Arial"/>
              <a:ea typeface="Arial"/>
              <a:cs typeface="Arial"/>
              <a:sym typeface="Arial"/>
            </a:endParaRPr>
          </a:p>
        </p:txBody>
      </p:sp>
      <p:sp>
        <p:nvSpPr>
          <p:cNvPr id="321" name="Google Shape;321;g360a94691c9_0_122"/>
          <p:cNvSpPr/>
          <p:nvPr/>
        </p:nvSpPr>
        <p:spPr>
          <a:xfrm>
            <a:off x="9484073" y="8042374"/>
            <a:ext cx="7884600" cy="1260900"/>
          </a:xfrm>
          <a:prstGeom prst="rect">
            <a:avLst/>
          </a:prstGeom>
          <a:noFill/>
          <a:ln>
            <a:noFill/>
          </a:ln>
        </p:spPr>
        <p:txBody>
          <a:bodyPr spcFirstLastPara="1" wrap="square" lIns="0" tIns="0" rIns="0" bIns="0" anchor="t" anchorCtr="0">
            <a:noAutofit/>
          </a:bodyPr>
          <a:lstStyle/>
          <a:p>
            <a:pPr marL="0" marR="0" lvl="0" indent="0" algn="l" rtl="0">
              <a:lnSpc>
                <a:spcPct val="157575"/>
              </a:lnSpc>
              <a:spcBef>
                <a:spcPts val="0"/>
              </a:spcBef>
              <a:spcAft>
                <a:spcPts val="0"/>
              </a:spcAft>
              <a:buClr>
                <a:srgbClr val="404155"/>
              </a:buClr>
              <a:buSzPts val="2100"/>
              <a:buFont typeface="Nobile"/>
              <a:buNone/>
            </a:pPr>
            <a:r>
              <a:rPr lang="en-US" sz="2100" b="0" i="0" u="none" strike="noStrike" cap="none">
                <a:solidFill>
                  <a:srgbClr val="404155"/>
                </a:solidFill>
                <a:latin typeface="Nobile"/>
                <a:ea typeface="Nobile"/>
                <a:cs typeface="Nobile"/>
                <a:sym typeface="Nobile"/>
              </a:rPr>
              <a:t>Terraform implementa bloqueo de estado para evitar conflictos entre múltiples usuarios que trabajan en la misma infraestructura.</a:t>
            </a:r>
            <a:endParaRPr sz="21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g360a94691c9_0_157" descr="preencoded.png"/>
          <p:cNvPicPr preferRelativeResize="0"/>
          <p:nvPr/>
        </p:nvPicPr>
        <p:blipFill rotWithShape="1">
          <a:blip r:embed="rId3">
            <a:alphaModFix/>
          </a:blip>
          <a:srcRect/>
          <a:stretch/>
        </p:blipFill>
        <p:spPr>
          <a:xfrm>
            <a:off x="11430000" y="0"/>
            <a:ext cx="6858000" cy="10287000"/>
          </a:xfrm>
          <a:prstGeom prst="rect">
            <a:avLst/>
          </a:prstGeom>
          <a:noFill/>
          <a:ln>
            <a:noFill/>
          </a:ln>
        </p:spPr>
      </p:pic>
      <p:sp>
        <p:nvSpPr>
          <p:cNvPr id="349" name="Google Shape;349;g360a94691c9_0_157"/>
          <p:cNvSpPr/>
          <p:nvPr/>
        </p:nvSpPr>
        <p:spPr>
          <a:xfrm>
            <a:off x="992238" y="2393305"/>
            <a:ext cx="9445500" cy="2445300"/>
          </a:xfrm>
          <a:prstGeom prst="rect">
            <a:avLst/>
          </a:prstGeom>
          <a:noFill/>
          <a:ln>
            <a:noFill/>
          </a:ln>
        </p:spPr>
        <p:txBody>
          <a:bodyPr spcFirstLastPara="1" wrap="square" lIns="0" tIns="0" rIns="0" bIns="0" anchor="t" anchorCtr="0">
            <a:noAutofit/>
          </a:bodyPr>
          <a:lstStyle/>
          <a:p>
            <a:pPr marL="0" marR="0" lvl="0" indent="0" algn="l" rtl="0">
              <a:lnSpc>
                <a:spcPct val="125203"/>
              </a:lnSpc>
              <a:spcBef>
                <a:spcPts val="0"/>
              </a:spcBef>
              <a:spcAft>
                <a:spcPts val="0"/>
              </a:spcAft>
              <a:buClr>
                <a:srgbClr val="1B1B27"/>
              </a:buClr>
              <a:buSzPts val="7700"/>
              <a:buFont typeface="Corben"/>
              <a:buNone/>
            </a:pPr>
            <a:r>
              <a:rPr lang="es-GT" sz="7700" b="0" i="0" u="none" strike="noStrike" cap="none" dirty="0">
                <a:solidFill>
                  <a:srgbClr val="000000"/>
                </a:solidFill>
                <a:latin typeface="Arial"/>
                <a:ea typeface="Arial"/>
                <a:cs typeface="Arial"/>
                <a:sym typeface="Arial"/>
              </a:rPr>
              <a:t>DOCKER</a:t>
            </a:r>
            <a:endParaRPr sz="7700" b="0" i="0" u="none" strike="noStrike" cap="none" dirty="0">
              <a:solidFill>
                <a:srgbClr val="000000"/>
              </a:solidFill>
              <a:latin typeface="Arial"/>
              <a:ea typeface="Arial"/>
              <a:cs typeface="Arial"/>
              <a:sym typeface="Arial"/>
            </a:endParaRPr>
          </a:p>
        </p:txBody>
      </p:sp>
      <p:sp>
        <p:nvSpPr>
          <p:cNvPr id="350" name="Google Shape;350;g360a94691c9_0_157"/>
          <p:cNvSpPr/>
          <p:nvPr/>
        </p:nvSpPr>
        <p:spPr>
          <a:xfrm>
            <a:off x="992238" y="5264051"/>
            <a:ext cx="9445500" cy="1814700"/>
          </a:xfrm>
          <a:prstGeom prst="rect">
            <a:avLst/>
          </a:prstGeom>
          <a:noFill/>
          <a:ln>
            <a:noFill/>
          </a:ln>
        </p:spPr>
        <p:txBody>
          <a:bodyPr spcFirstLastPara="1" wrap="square" lIns="0" tIns="0" rIns="0" bIns="0" anchor="t" anchorCtr="0">
            <a:noAutofit/>
          </a:bodyPr>
          <a:lstStyle/>
          <a:p>
            <a:pPr lvl="0">
              <a:lnSpc>
                <a:spcPct val="162857"/>
              </a:lnSpc>
              <a:buClr>
                <a:srgbClr val="404155"/>
              </a:buClr>
              <a:buSzPts val="2200"/>
            </a:pPr>
            <a:r>
              <a:rPr lang="es-MX" sz="2400" b="1" dirty="0"/>
              <a:t>Docker</a:t>
            </a:r>
            <a:r>
              <a:rPr lang="es-MX" sz="2400" dirty="0"/>
              <a:t> es una plataforma de código abierto que permite </a:t>
            </a:r>
            <a:r>
              <a:rPr lang="es-MX" sz="2400" b="1" dirty="0"/>
              <a:t>crear, ejecutar y administrar contenedores</a:t>
            </a:r>
            <a:r>
              <a:rPr lang="es-MX" sz="2400" dirty="0"/>
              <a:t>, los cuales son </a:t>
            </a:r>
            <a:r>
              <a:rPr lang="es-MX" sz="2400" b="1" dirty="0"/>
              <a:t>entornos ligeros, portables y aislados</a:t>
            </a:r>
            <a:r>
              <a:rPr lang="es-MX" sz="2400" dirty="0"/>
              <a:t> para ejecutar aplicaciones y sus dependencias.</a:t>
            </a:r>
            <a:endParaRPr sz="2200" b="0" i="0" u="none" strike="noStrike" cap="none" dirty="0">
              <a:solidFill>
                <a:srgbClr val="000000"/>
              </a:solidFill>
              <a:latin typeface="Arial"/>
              <a:ea typeface="Arial"/>
              <a:cs typeface="Arial"/>
              <a:sym typeface="Arial"/>
            </a:endParaRPr>
          </a:p>
        </p:txBody>
      </p:sp>
      <p:sp>
        <p:nvSpPr>
          <p:cNvPr id="351" name="Google Shape;351;g360a94691c9_0_157"/>
          <p:cNvSpPr/>
          <p:nvPr/>
        </p:nvSpPr>
        <p:spPr>
          <a:xfrm>
            <a:off x="992238" y="7418635"/>
            <a:ext cx="453900" cy="453900"/>
          </a:xfrm>
          <a:prstGeom prst="roundRect">
            <a:avLst>
              <a:gd name="adj" fmla="val 25194296"/>
            </a:avLst>
          </a:prstGeom>
          <a:noFill/>
          <a:ln w="9525" cap="flat" cmpd="sng">
            <a:solidFill>
              <a:srgbClr val="FFFFF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50" name="Picture 2" descr="What is Docker? - Viking Software A/S">
            <a:extLst>
              <a:ext uri="{FF2B5EF4-FFF2-40B4-BE49-F238E27FC236}">
                <a16:creationId xmlns:a16="http://schemas.microsoft.com/office/drawing/2014/main" id="{ABC7396E-DC59-059D-583E-D1DC4CBF44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40029" y="2393305"/>
            <a:ext cx="5137376" cy="51373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6">
          <a:extLst>
            <a:ext uri="{FF2B5EF4-FFF2-40B4-BE49-F238E27FC236}">
              <a16:creationId xmlns:a16="http://schemas.microsoft.com/office/drawing/2014/main" id="{2416D955-C675-2B3F-988C-31DAD2E0CD5E}"/>
            </a:ext>
          </a:extLst>
        </p:cNvPr>
        <p:cNvGrpSpPr/>
        <p:nvPr/>
      </p:nvGrpSpPr>
      <p:grpSpPr>
        <a:xfrm>
          <a:off x="0" y="0"/>
          <a:ext cx="0" cy="0"/>
          <a:chOff x="0" y="0"/>
          <a:chExt cx="0" cy="0"/>
        </a:xfrm>
      </p:grpSpPr>
      <p:sp>
        <p:nvSpPr>
          <p:cNvPr id="351" name="Google Shape;351;g360a94691c9_0_157">
            <a:extLst>
              <a:ext uri="{FF2B5EF4-FFF2-40B4-BE49-F238E27FC236}">
                <a16:creationId xmlns:a16="http://schemas.microsoft.com/office/drawing/2014/main" id="{D31B08EF-E3F4-179C-5A29-1F15D6E740EC}"/>
              </a:ext>
            </a:extLst>
          </p:cNvPr>
          <p:cNvSpPr/>
          <p:nvPr/>
        </p:nvSpPr>
        <p:spPr>
          <a:xfrm>
            <a:off x="992238" y="7418635"/>
            <a:ext cx="453900" cy="453900"/>
          </a:xfrm>
          <a:prstGeom prst="roundRect">
            <a:avLst>
              <a:gd name="adj" fmla="val 25194296"/>
            </a:avLst>
          </a:prstGeom>
          <a:noFill/>
          <a:ln w="9525" cap="flat" cmpd="sng">
            <a:solidFill>
              <a:srgbClr val="FFFFF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26" name="Picture 2" descr="The Ultimate Guide to Docker: From Novice to Expert | by  Servifyspheresolutions | FAUN — Developer Community 🐾">
            <a:extLst>
              <a:ext uri="{FF2B5EF4-FFF2-40B4-BE49-F238E27FC236}">
                <a16:creationId xmlns:a16="http://schemas.microsoft.com/office/drawing/2014/main" id="{D7445047-0928-1D3F-C160-FC2D1FDE46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6990" y="1590536"/>
            <a:ext cx="12074020" cy="6784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114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9">
          <a:extLst>
            <a:ext uri="{FF2B5EF4-FFF2-40B4-BE49-F238E27FC236}">
              <a16:creationId xmlns:a16="http://schemas.microsoft.com/office/drawing/2014/main" id="{0E3E9A7B-76E4-599B-7F18-6DACB137B4B6}"/>
            </a:ext>
          </a:extLst>
        </p:cNvPr>
        <p:cNvGrpSpPr/>
        <p:nvPr/>
      </p:nvGrpSpPr>
      <p:grpSpPr>
        <a:xfrm>
          <a:off x="0" y="0"/>
          <a:ext cx="0" cy="0"/>
          <a:chOff x="0" y="0"/>
          <a:chExt cx="0" cy="0"/>
        </a:xfrm>
      </p:grpSpPr>
      <p:sp>
        <p:nvSpPr>
          <p:cNvPr id="300" name="Google Shape;300;g360a94691c9_0_113">
            <a:extLst>
              <a:ext uri="{FF2B5EF4-FFF2-40B4-BE49-F238E27FC236}">
                <a16:creationId xmlns:a16="http://schemas.microsoft.com/office/drawing/2014/main" id="{8617D70C-A8C5-38AC-DA8B-7AEC5CA38EC6}"/>
              </a:ext>
            </a:extLst>
          </p:cNvPr>
          <p:cNvSpPr/>
          <p:nvPr/>
        </p:nvSpPr>
        <p:spPr>
          <a:xfrm>
            <a:off x="992252" y="3174950"/>
            <a:ext cx="14856900" cy="8862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1B1B27"/>
              </a:buClr>
              <a:buSzPts val="5600"/>
              <a:buFont typeface="Alexandria"/>
              <a:buNone/>
            </a:pPr>
            <a:r>
              <a:rPr lang="en-US" sz="5600" dirty="0">
                <a:solidFill>
                  <a:srgbClr val="1B1B27"/>
                </a:solidFill>
                <a:latin typeface="Alexandria"/>
                <a:cs typeface="Alexandria"/>
                <a:sym typeface="Alexandria"/>
              </a:rPr>
              <a:t>¿</a:t>
            </a:r>
            <a:r>
              <a:rPr lang="en-US" sz="5600" dirty="0" err="1">
                <a:solidFill>
                  <a:srgbClr val="1B1B27"/>
                </a:solidFill>
                <a:latin typeface="Alexandria"/>
                <a:cs typeface="Alexandria"/>
                <a:sym typeface="Alexandria"/>
              </a:rPr>
              <a:t>Qué</a:t>
            </a:r>
            <a:r>
              <a:rPr lang="en-US" sz="5600" dirty="0">
                <a:solidFill>
                  <a:srgbClr val="1B1B27"/>
                </a:solidFill>
                <a:latin typeface="Alexandria"/>
                <a:cs typeface="Alexandria"/>
                <a:sym typeface="Alexandria"/>
              </a:rPr>
              <a:t> es </a:t>
            </a:r>
            <a:r>
              <a:rPr lang="en-US" sz="5600" dirty="0" err="1">
                <a:solidFill>
                  <a:srgbClr val="1B1B27"/>
                </a:solidFill>
                <a:latin typeface="Alexandria"/>
                <a:cs typeface="Alexandria"/>
                <a:sym typeface="Alexandria"/>
              </a:rPr>
              <a:t>el</a:t>
            </a:r>
            <a:r>
              <a:rPr lang="en-US" sz="5600" dirty="0">
                <a:solidFill>
                  <a:srgbClr val="1B1B27"/>
                </a:solidFill>
                <a:latin typeface="Alexandria"/>
                <a:cs typeface="Alexandria"/>
                <a:sym typeface="Alexandria"/>
              </a:rPr>
              <a:t> </a:t>
            </a:r>
            <a:r>
              <a:rPr lang="en-US" sz="5600" dirty="0" err="1">
                <a:solidFill>
                  <a:srgbClr val="1B1B27"/>
                </a:solidFill>
                <a:latin typeface="Alexandria"/>
                <a:cs typeface="Alexandria"/>
                <a:sym typeface="Alexandria"/>
              </a:rPr>
              <a:t>contenedor</a:t>
            </a:r>
            <a:r>
              <a:rPr lang="en-US" sz="5600" dirty="0">
                <a:solidFill>
                  <a:srgbClr val="1B1B27"/>
                </a:solidFill>
                <a:latin typeface="Alexandria"/>
                <a:cs typeface="Alexandria"/>
                <a:sym typeface="Alexandria"/>
              </a:rPr>
              <a:t>?</a:t>
            </a:r>
            <a:endParaRPr sz="5600" b="0" i="0" u="none" strike="noStrike" cap="none" dirty="0">
              <a:solidFill>
                <a:srgbClr val="000000"/>
              </a:solidFill>
              <a:latin typeface="Arial"/>
              <a:ea typeface="Arial"/>
              <a:cs typeface="Arial"/>
              <a:sym typeface="Arial"/>
            </a:endParaRPr>
          </a:p>
        </p:txBody>
      </p:sp>
      <p:sp>
        <p:nvSpPr>
          <p:cNvPr id="302" name="Google Shape;302;g360a94691c9_0_113">
            <a:extLst>
              <a:ext uri="{FF2B5EF4-FFF2-40B4-BE49-F238E27FC236}">
                <a16:creationId xmlns:a16="http://schemas.microsoft.com/office/drawing/2014/main" id="{2BF12EE4-0C35-7843-70AB-D8FF101D66CE}"/>
              </a:ext>
            </a:extLst>
          </p:cNvPr>
          <p:cNvSpPr/>
          <p:nvPr/>
        </p:nvSpPr>
        <p:spPr>
          <a:xfrm>
            <a:off x="1338000" y="4689900"/>
            <a:ext cx="14856900" cy="907200"/>
          </a:xfrm>
          <a:prstGeom prst="rect">
            <a:avLst/>
          </a:prstGeom>
          <a:noFill/>
          <a:ln>
            <a:noFill/>
          </a:ln>
        </p:spPr>
        <p:txBody>
          <a:bodyPr spcFirstLastPara="1" wrap="square" lIns="0" tIns="0" rIns="0" bIns="0" anchor="t" anchorCtr="0">
            <a:noAutofit/>
          </a:bodyPr>
          <a:lstStyle/>
          <a:p>
            <a:pPr lvl="0">
              <a:lnSpc>
                <a:spcPct val="162857"/>
              </a:lnSpc>
              <a:buClr>
                <a:srgbClr val="404155"/>
              </a:buClr>
              <a:buSzPts val="2200"/>
            </a:pPr>
            <a:r>
              <a:rPr lang="es-MX" sz="2400" dirty="0"/>
              <a:t>Un </a:t>
            </a:r>
            <a:r>
              <a:rPr lang="es-MX" sz="2400" b="1" dirty="0"/>
              <a:t>contenedor</a:t>
            </a:r>
            <a:r>
              <a:rPr lang="es-MX" sz="2400" dirty="0"/>
              <a:t> es una unidad que empaqueta el código de una aplicación junto con sus librerías, dependencias, configuración y archivos necesarios para ejecutarse </a:t>
            </a:r>
            <a:r>
              <a:rPr lang="es-MX" sz="2400" b="1" dirty="0"/>
              <a:t>de forma consistente</a:t>
            </a:r>
            <a:r>
              <a:rPr lang="es-MX" sz="2400" dirty="0"/>
              <a:t> en cualquier entorno (desarrollo, pruebas, producción).</a:t>
            </a:r>
            <a:r>
              <a:rPr lang="en-US" sz="2200" b="0" i="0" u="none" strike="noStrike" cap="none" dirty="0">
                <a:solidFill>
                  <a:srgbClr val="404155"/>
                </a:solidFill>
                <a:latin typeface="Nobile"/>
                <a:ea typeface="Nobile"/>
                <a:cs typeface="Nobile"/>
                <a:sym typeface="Nobile"/>
              </a:rPr>
              <a:t>.</a:t>
            </a:r>
            <a:endParaRPr sz="22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322985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6">
          <a:extLst>
            <a:ext uri="{FF2B5EF4-FFF2-40B4-BE49-F238E27FC236}">
              <a16:creationId xmlns:a16="http://schemas.microsoft.com/office/drawing/2014/main" id="{2EC72931-4D7E-117C-82DE-08686B8F86A3}"/>
            </a:ext>
          </a:extLst>
        </p:cNvPr>
        <p:cNvGrpSpPr/>
        <p:nvPr/>
      </p:nvGrpSpPr>
      <p:grpSpPr>
        <a:xfrm>
          <a:off x="0" y="0"/>
          <a:ext cx="0" cy="0"/>
          <a:chOff x="0" y="0"/>
          <a:chExt cx="0" cy="0"/>
        </a:xfrm>
      </p:grpSpPr>
      <p:sp>
        <p:nvSpPr>
          <p:cNvPr id="351" name="Google Shape;351;g360a94691c9_0_157">
            <a:extLst>
              <a:ext uri="{FF2B5EF4-FFF2-40B4-BE49-F238E27FC236}">
                <a16:creationId xmlns:a16="http://schemas.microsoft.com/office/drawing/2014/main" id="{E424304C-96F6-960D-11C6-9A8C739E692A}"/>
              </a:ext>
            </a:extLst>
          </p:cNvPr>
          <p:cNvSpPr/>
          <p:nvPr/>
        </p:nvSpPr>
        <p:spPr>
          <a:xfrm>
            <a:off x="992238" y="7418635"/>
            <a:ext cx="453900" cy="453900"/>
          </a:xfrm>
          <a:prstGeom prst="roundRect">
            <a:avLst>
              <a:gd name="adj" fmla="val 25194296"/>
            </a:avLst>
          </a:prstGeom>
          <a:noFill/>
          <a:ln w="9525" cap="flat" cmpd="sng">
            <a:solidFill>
              <a:srgbClr val="FFFFF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74" name="Picture 2" descr="Que es docker?. Docker es una plataforma para… | by Javier Vivanco | Medium">
            <a:extLst>
              <a:ext uri="{FF2B5EF4-FFF2-40B4-BE49-F238E27FC236}">
                <a16:creationId xmlns:a16="http://schemas.microsoft.com/office/drawing/2014/main" id="{D7D202F6-3C2D-F82B-1B31-7AC4E0575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5709" y="1260022"/>
            <a:ext cx="10418989" cy="738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23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6">
          <a:extLst>
            <a:ext uri="{FF2B5EF4-FFF2-40B4-BE49-F238E27FC236}">
              <a16:creationId xmlns:a16="http://schemas.microsoft.com/office/drawing/2014/main" id="{D0D832BE-372E-AB6A-546F-EEC3975B3773}"/>
            </a:ext>
          </a:extLst>
        </p:cNvPr>
        <p:cNvGrpSpPr/>
        <p:nvPr/>
      </p:nvGrpSpPr>
      <p:grpSpPr>
        <a:xfrm>
          <a:off x="0" y="0"/>
          <a:ext cx="0" cy="0"/>
          <a:chOff x="0" y="0"/>
          <a:chExt cx="0" cy="0"/>
        </a:xfrm>
      </p:grpSpPr>
      <p:sp>
        <p:nvSpPr>
          <p:cNvPr id="351" name="Google Shape;351;g360a94691c9_0_157">
            <a:extLst>
              <a:ext uri="{FF2B5EF4-FFF2-40B4-BE49-F238E27FC236}">
                <a16:creationId xmlns:a16="http://schemas.microsoft.com/office/drawing/2014/main" id="{34AB800A-B5CF-DE79-C43B-C49DE9E4045B}"/>
              </a:ext>
            </a:extLst>
          </p:cNvPr>
          <p:cNvSpPr/>
          <p:nvPr/>
        </p:nvSpPr>
        <p:spPr>
          <a:xfrm>
            <a:off x="992238" y="7418635"/>
            <a:ext cx="453900" cy="453900"/>
          </a:xfrm>
          <a:prstGeom prst="roundRect">
            <a:avLst>
              <a:gd name="adj" fmla="val 25194296"/>
            </a:avLst>
          </a:prstGeom>
          <a:noFill/>
          <a:ln w="9525" cap="flat" cmpd="sng">
            <a:solidFill>
              <a:srgbClr val="FFFFFF"/>
            </a:solidFill>
            <a:prstDash val="solid"/>
            <a:round/>
            <a:headEnd type="none" w="sm" len="sm"/>
            <a:tailEnd type="none" w="sm" len="sm"/>
          </a:ln>
        </p:spPr>
        <p:txBody>
          <a:bodyPr spcFirstLastPara="1" wrap="square" lIns="114275" tIns="114275" rIns="114275" bIns="11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7" name="Tabla 16">
            <a:extLst>
              <a:ext uri="{FF2B5EF4-FFF2-40B4-BE49-F238E27FC236}">
                <a16:creationId xmlns:a16="http://schemas.microsoft.com/office/drawing/2014/main" id="{081D1657-28E3-2F44-7610-17D9E54F7EEB}"/>
              </a:ext>
            </a:extLst>
          </p:cNvPr>
          <p:cNvGraphicFramePr>
            <a:graphicFrameLocks noGrp="1"/>
          </p:cNvGraphicFramePr>
          <p:nvPr>
            <p:extLst>
              <p:ext uri="{D42A27DB-BD31-4B8C-83A1-F6EECF244321}">
                <p14:modId xmlns:p14="http://schemas.microsoft.com/office/powerpoint/2010/main" val="1695529615"/>
              </p:ext>
            </p:extLst>
          </p:nvPr>
        </p:nvGraphicFramePr>
        <p:xfrm>
          <a:off x="3477985" y="2419815"/>
          <a:ext cx="10613571" cy="5447370"/>
        </p:xfrm>
        <a:graphic>
          <a:graphicData uri="http://schemas.openxmlformats.org/drawingml/2006/table">
            <a:tbl>
              <a:tblPr>
                <a:tableStyleId>{5DA37D80-6434-44D0-A028-1B22A696006F}</a:tableStyleId>
              </a:tblPr>
              <a:tblGrid>
                <a:gridCol w="3537857">
                  <a:extLst>
                    <a:ext uri="{9D8B030D-6E8A-4147-A177-3AD203B41FA5}">
                      <a16:colId xmlns:a16="http://schemas.microsoft.com/office/drawing/2014/main" val="4264783687"/>
                    </a:ext>
                  </a:extLst>
                </a:gridCol>
                <a:gridCol w="3537857">
                  <a:extLst>
                    <a:ext uri="{9D8B030D-6E8A-4147-A177-3AD203B41FA5}">
                      <a16:colId xmlns:a16="http://schemas.microsoft.com/office/drawing/2014/main" val="1589731135"/>
                    </a:ext>
                  </a:extLst>
                </a:gridCol>
                <a:gridCol w="3537857">
                  <a:extLst>
                    <a:ext uri="{9D8B030D-6E8A-4147-A177-3AD203B41FA5}">
                      <a16:colId xmlns:a16="http://schemas.microsoft.com/office/drawing/2014/main" val="1241963108"/>
                    </a:ext>
                  </a:extLst>
                </a:gridCol>
              </a:tblGrid>
              <a:tr h="955679">
                <a:tc>
                  <a:txBody>
                    <a:bodyPr/>
                    <a:lstStyle/>
                    <a:p>
                      <a:r>
                        <a:rPr lang="es-GT"/>
                        <a:t>Característica</a:t>
                      </a:r>
                    </a:p>
                  </a:txBody>
                  <a:tcPr anchor="ctr"/>
                </a:tc>
                <a:tc>
                  <a:txBody>
                    <a:bodyPr/>
                    <a:lstStyle/>
                    <a:p>
                      <a:r>
                        <a:rPr lang="es-GT"/>
                        <a:t>Docker (contenedor)</a:t>
                      </a:r>
                    </a:p>
                  </a:txBody>
                  <a:tcPr anchor="ctr"/>
                </a:tc>
                <a:tc>
                  <a:txBody>
                    <a:bodyPr/>
                    <a:lstStyle/>
                    <a:p>
                      <a:r>
                        <a:rPr lang="es-GT"/>
                        <a:t>Máquina Virtual</a:t>
                      </a:r>
                    </a:p>
                  </a:txBody>
                  <a:tcPr anchor="ctr"/>
                </a:tc>
                <a:extLst>
                  <a:ext uri="{0D108BD9-81ED-4DB2-BD59-A6C34878D82A}">
                    <a16:rowId xmlns:a16="http://schemas.microsoft.com/office/drawing/2014/main" val="3750614357"/>
                  </a:ext>
                </a:extLst>
              </a:tr>
              <a:tr h="1624654">
                <a:tc>
                  <a:txBody>
                    <a:bodyPr/>
                    <a:lstStyle/>
                    <a:p>
                      <a:r>
                        <a:rPr lang="es-GT"/>
                        <a:t>Peso</a:t>
                      </a:r>
                    </a:p>
                  </a:txBody>
                  <a:tcPr anchor="ctr"/>
                </a:tc>
                <a:tc>
                  <a:txBody>
                    <a:bodyPr/>
                    <a:lstStyle/>
                    <a:p>
                      <a:r>
                        <a:rPr lang="es-GT"/>
                        <a:t>Ligero</a:t>
                      </a:r>
                    </a:p>
                  </a:txBody>
                  <a:tcPr anchor="ctr"/>
                </a:tc>
                <a:tc>
                  <a:txBody>
                    <a:bodyPr/>
                    <a:lstStyle/>
                    <a:p>
                      <a:r>
                        <a:rPr lang="es-GT"/>
                        <a:t>Pesado (sistema operativo completo)</a:t>
                      </a:r>
                    </a:p>
                  </a:txBody>
                  <a:tcPr anchor="ctr"/>
                </a:tc>
                <a:extLst>
                  <a:ext uri="{0D108BD9-81ED-4DB2-BD59-A6C34878D82A}">
                    <a16:rowId xmlns:a16="http://schemas.microsoft.com/office/drawing/2014/main" val="1873637087"/>
                  </a:ext>
                </a:extLst>
              </a:tr>
              <a:tr h="955679">
                <a:tc>
                  <a:txBody>
                    <a:bodyPr/>
                    <a:lstStyle/>
                    <a:p>
                      <a:r>
                        <a:rPr lang="es-GT"/>
                        <a:t>Arranque</a:t>
                      </a:r>
                    </a:p>
                  </a:txBody>
                  <a:tcPr anchor="ctr"/>
                </a:tc>
                <a:tc>
                  <a:txBody>
                    <a:bodyPr/>
                    <a:lstStyle/>
                    <a:p>
                      <a:r>
                        <a:rPr lang="es-GT"/>
                        <a:t>Muy rápido (segundos)</a:t>
                      </a:r>
                    </a:p>
                  </a:txBody>
                  <a:tcPr anchor="ctr"/>
                </a:tc>
                <a:tc>
                  <a:txBody>
                    <a:bodyPr/>
                    <a:lstStyle/>
                    <a:p>
                      <a:r>
                        <a:rPr lang="es-GT"/>
                        <a:t>Más lento (minutos)</a:t>
                      </a:r>
                    </a:p>
                  </a:txBody>
                  <a:tcPr anchor="ctr"/>
                </a:tc>
                <a:extLst>
                  <a:ext uri="{0D108BD9-81ED-4DB2-BD59-A6C34878D82A}">
                    <a16:rowId xmlns:a16="http://schemas.microsoft.com/office/drawing/2014/main" val="1543230468"/>
                  </a:ext>
                </a:extLst>
              </a:tr>
              <a:tr h="955679">
                <a:tc>
                  <a:txBody>
                    <a:bodyPr/>
                    <a:lstStyle/>
                    <a:p>
                      <a:r>
                        <a:rPr lang="es-GT"/>
                        <a:t>Aislamiento</a:t>
                      </a:r>
                    </a:p>
                  </a:txBody>
                  <a:tcPr anchor="ctr"/>
                </a:tc>
                <a:tc>
                  <a:txBody>
                    <a:bodyPr/>
                    <a:lstStyle/>
                    <a:p>
                      <a:r>
                        <a:rPr lang="es-GT"/>
                        <a:t>A nivel de proceso</a:t>
                      </a:r>
                    </a:p>
                  </a:txBody>
                  <a:tcPr anchor="ctr"/>
                </a:tc>
                <a:tc>
                  <a:txBody>
                    <a:bodyPr/>
                    <a:lstStyle/>
                    <a:p>
                      <a:r>
                        <a:rPr lang="es-GT"/>
                        <a:t>A nivel de hardware</a:t>
                      </a:r>
                    </a:p>
                  </a:txBody>
                  <a:tcPr anchor="ctr"/>
                </a:tc>
                <a:extLst>
                  <a:ext uri="{0D108BD9-81ED-4DB2-BD59-A6C34878D82A}">
                    <a16:rowId xmlns:a16="http://schemas.microsoft.com/office/drawing/2014/main" val="1284360702"/>
                  </a:ext>
                </a:extLst>
              </a:tr>
              <a:tr h="955679">
                <a:tc>
                  <a:txBody>
                    <a:bodyPr/>
                    <a:lstStyle/>
                    <a:p>
                      <a:r>
                        <a:rPr lang="es-GT"/>
                        <a:t>Uso de recursos</a:t>
                      </a:r>
                    </a:p>
                  </a:txBody>
                  <a:tcPr anchor="ctr"/>
                </a:tc>
                <a:tc>
                  <a:txBody>
                    <a:bodyPr/>
                    <a:lstStyle/>
                    <a:p>
                      <a:r>
                        <a:rPr lang="es-GT"/>
                        <a:t>Eficiente</a:t>
                      </a:r>
                    </a:p>
                  </a:txBody>
                  <a:tcPr anchor="ctr"/>
                </a:tc>
                <a:tc>
                  <a:txBody>
                    <a:bodyPr/>
                    <a:lstStyle/>
                    <a:p>
                      <a:r>
                        <a:rPr lang="es-GT" dirty="0"/>
                        <a:t>Mayor consumo</a:t>
                      </a:r>
                    </a:p>
                  </a:txBody>
                  <a:tcPr anchor="ctr"/>
                </a:tc>
                <a:extLst>
                  <a:ext uri="{0D108BD9-81ED-4DB2-BD59-A6C34878D82A}">
                    <a16:rowId xmlns:a16="http://schemas.microsoft.com/office/drawing/2014/main" val="1949409733"/>
                  </a:ext>
                </a:extLst>
              </a:tr>
            </a:tbl>
          </a:graphicData>
        </a:graphic>
      </p:graphicFrame>
      <p:sp>
        <p:nvSpPr>
          <p:cNvPr id="19" name="CuadroTexto 18">
            <a:extLst>
              <a:ext uri="{FF2B5EF4-FFF2-40B4-BE49-F238E27FC236}">
                <a16:creationId xmlns:a16="http://schemas.microsoft.com/office/drawing/2014/main" id="{0CB3D9E0-48CA-B4C9-12CE-7691B756BA9C}"/>
              </a:ext>
            </a:extLst>
          </p:cNvPr>
          <p:cNvSpPr txBox="1"/>
          <p:nvPr/>
        </p:nvSpPr>
        <p:spPr>
          <a:xfrm>
            <a:off x="2106385" y="972784"/>
            <a:ext cx="9144000" cy="584775"/>
          </a:xfrm>
          <a:prstGeom prst="rect">
            <a:avLst/>
          </a:prstGeom>
          <a:noFill/>
        </p:spPr>
        <p:txBody>
          <a:bodyPr wrap="square">
            <a:spAutoFit/>
          </a:bodyPr>
          <a:lstStyle/>
          <a:p>
            <a:r>
              <a:rPr lang="es-GT" sz="3200" b="1" dirty="0"/>
              <a:t>Docker vs. Máquina Virtual</a:t>
            </a:r>
          </a:p>
        </p:txBody>
      </p:sp>
    </p:spTree>
    <p:extLst>
      <p:ext uri="{BB962C8B-B14F-4D97-AF65-F5344CB8AC3E}">
        <p14:creationId xmlns:p14="http://schemas.microsoft.com/office/powerpoint/2010/main" val="80514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74">
          <a:extLst>
            <a:ext uri="{FF2B5EF4-FFF2-40B4-BE49-F238E27FC236}">
              <a16:creationId xmlns:a16="http://schemas.microsoft.com/office/drawing/2014/main" id="{0043B966-18A1-59ED-0CCF-1C49650F6450}"/>
            </a:ext>
          </a:extLst>
        </p:cNvPr>
        <p:cNvGrpSpPr/>
        <p:nvPr/>
      </p:nvGrpSpPr>
      <p:grpSpPr>
        <a:xfrm>
          <a:off x="0" y="0"/>
          <a:ext cx="0" cy="0"/>
          <a:chOff x="0" y="0"/>
          <a:chExt cx="0" cy="0"/>
        </a:xfrm>
      </p:grpSpPr>
      <p:grpSp>
        <p:nvGrpSpPr>
          <p:cNvPr id="175" name="Google Shape;175;g360acce8e50_0_120">
            <a:extLst>
              <a:ext uri="{FF2B5EF4-FFF2-40B4-BE49-F238E27FC236}">
                <a16:creationId xmlns:a16="http://schemas.microsoft.com/office/drawing/2014/main" id="{5AA1B99F-BB42-BA7B-08C9-411D9E1BD6E2}"/>
              </a:ext>
            </a:extLst>
          </p:cNvPr>
          <p:cNvGrpSpPr/>
          <p:nvPr/>
        </p:nvGrpSpPr>
        <p:grpSpPr>
          <a:xfrm>
            <a:off x="-584801" y="364850"/>
            <a:ext cx="19457594" cy="2036657"/>
            <a:chOff x="0" y="-76200"/>
            <a:chExt cx="5124600" cy="536400"/>
          </a:xfrm>
        </p:grpSpPr>
        <p:sp>
          <p:nvSpPr>
            <p:cNvPr id="176" name="Google Shape;176;g360acce8e50_0_120">
              <a:extLst>
                <a:ext uri="{FF2B5EF4-FFF2-40B4-BE49-F238E27FC236}">
                  <a16:creationId xmlns:a16="http://schemas.microsoft.com/office/drawing/2014/main" id="{74F76247-85FF-85F1-3E57-EB6CD3AF08F8}"/>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77" name="Google Shape;177;g360acce8e50_0_120">
              <a:extLst>
                <a:ext uri="{FF2B5EF4-FFF2-40B4-BE49-F238E27FC236}">
                  <a16:creationId xmlns:a16="http://schemas.microsoft.com/office/drawing/2014/main" id="{3B32BE2F-B359-98A2-5224-CB93991EE753}"/>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78" name="Google Shape;178;g360acce8e50_0_120">
            <a:extLst>
              <a:ext uri="{FF2B5EF4-FFF2-40B4-BE49-F238E27FC236}">
                <a16:creationId xmlns:a16="http://schemas.microsoft.com/office/drawing/2014/main" id="{45EC716F-3844-C1D1-A266-E6C0D5F99544}"/>
              </a:ext>
            </a:extLst>
          </p:cNvPr>
          <p:cNvSpPr txBox="1"/>
          <p:nvPr/>
        </p:nvSpPr>
        <p:spPr>
          <a:xfrm>
            <a:off x="-232650" y="863000"/>
            <a:ext cx="18753300" cy="151329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dirty="0">
                <a:solidFill>
                  <a:srgbClr val="FDFDFD"/>
                </a:solidFill>
                <a:latin typeface="Poppins"/>
                <a:ea typeface="Poppins"/>
                <a:cs typeface="Poppins"/>
                <a:sym typeface="Poppins"/>
              </a:rPr>
              <a:t>CDN</a:t>
            </a:r>
            <a:endParaRPr sz="7024" b="1" i="0" u="none" strike="noStrike" cap="none" dirty="0">
              <a:solidFill>
                <a:srgbClr val="FDFDFD"/>
              </a:solidFill>
              <a:latin typeface="Poppins"/>
              <a:ea typeface="Poppins"/>
              <a:cs typeface="Poppins"/>
              <a:sym typeface="Poppins"/>
            </a:endParaRPr>
          </a:p>
        </p:txBody>
      </p:sp>
      <p:pic>
        <p:nvPicPr>
          <p:cNvPr id="5122" name="Picture 2" descr="What is CDN (Content Delivery Network)? - ClouDNS Blog">
            <a:extLst>
              <a:ext uri="{FF2B5EF4-FFF2-40B4-BE49-F238E27FC236}">
                <a16:creationId xmlns:a16="http://schemas.microsoft.com/office/drawing/2014/main" id="{3108D711-FA37-B506-5112-85FEE25994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64" y="-1"/>
            <a:ext cx="18446263" cy="10376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718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74">
          <a:extLst>
            <a:ext uri="{FF2B5EF4-FFF2-40B4-BE49-F238E27FC236}">
              <a16:creationId xmlns:a16="http://schemas.microsoft.com/office/drawing/2014/main" id="{41954B71-34A4-4DD1-5AC6-DB1B213C6192}"/>
            </a:ext>
          </a:extLst>
        </p:cNvPr>
        <p:cNvGrpSpPr/>
        <p:nvPr/>
      </p:nvGrpSpPr>
      <p:grpSpPr>
        <a:xfrm>
          <a:off x="0" y="0"/>
          <a:ext cx="0" cy="0"/>
          <a:chOff x="0" y="0"/>
          <a:chExt cx="0" cy="0"/>
        </a:xfrm>
      </p:grpSpPr>
      <p:grpSp>
        <p:nvGrpSpPr>
          <p:cNvPr id="175" name="Google Shape;175;g360acce8e50_0_120">
            <a:extLst>
              <a:ext uri="{FF2B5EF4-FFF2-40B4-BE49-F238E27FC236}">
                <a16:creationId xmlns:a16="http://schemas.microsoft.com/office/drawing/2014/main" id="{86E8F560-B84F-BFD0-6845-97C93C43047F}"/>
              </a:ext>
            </a:extLst>
          </p:cNvPr>
          <p:cNvGrpSpPr/>
          <p:nvPr/>
        </p:nvGrpSpPr>
        <p:grpSpPr>
          <a:xfrm>
            <a:off x="-584801" y="364850"/>
            <a:ext cx="19457594" cy="2036657"/>
            <a:chOff x="0" y="-76200"/>
            <a:chExt cx="5124600" cy="536400"/>
          </a:xfrm>
        </p:grpSpPr>
        <p:sp>
          <p:nvSpPr>
            <p:cNvPr id="176" name="Google Shape;176;g360acce8e50_0_120">
              <a:extLst>
                <a:ext uri="{FF2B5EF4-FFF2-40B4-BE49-F238E27FC236}">
                  <a16:creationId xmlns:a16="http://schemas.microsoft.com/office/drawing/2014/main" id="{C16433D4-D1AD-8EB4-9561-B0A45AB5B8A0}"/>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77" name="Google Shape;177;g360acce8e50_0_120">
              <a:extLst>
                <a:ext uri="{FF2B5EF4-FFF2-40B4-BE49-F238E27FC236}">
                  <a16:creationId xmlns:a16="http://schemas.microsoft.com/office/drawing/2014/main" id="{86AC0069-9BAD-6EB2-D874-CCEF80A6D5AA}"/>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78" name="Google Shape;178;g360acce8e50_0_120">
            <a:extLst>
              <a:ext uri="{FF2B5EF4-FFF2-40B4-BE49-F238E27FC236}">
                <a16:creationId xmlns:a16="http://schemas.microsoft.com/office/drawing/2014/main" id="{DDA27AAD-D070-B6C9-91F2-4B285B9ED22D}"/>
              </a:ext>
            </a:extLst>
          </p:cNvPr>
          <p:cNvSpPr txBox="1"/>
          <p:nvPr/>
        </p:nvSpPr>
        <p:spPr>
          <a:xfrm>
            <a:off x="-232650" y="863000"/>
            <a:ext cx="18753300" cy="151329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dirty="0">
                <a:solidFill>
                  <a:srgbClr val="FDFDFD"/>
                </a:solidFill>
                <a:latin typeface="Poppins"/>
                <a:ea typeface="Poppins"/>
                <a:cs typeface="Poppins"/>
                <a:sym typeface="Poppins"/>
              </a:rPr>
              <a:t>CDN</a:t>
            </a:r>
            <a:endParaRPr sz="7024" b="1" i="0" u="none" strike="noStrike" cap="none" dirty="0">
              <a:solidFill>
                <a:srgbClr val="FDFDFD"/>
              </a:solidFill>
              <a:latin typeface="Poppins"/>
              <a:ea typeface="Poppins"/>
              <a:cs typeface="Poppins"/>
              <a:sym typeface="Poppins"/>
            </a:endParaRPr>
          </a:p>
        </p:txBody>
      </p:sp>
      <p:sp>
        <p:nvSpPr>
          <p:cNvPr id="3" name="CuadroTexto 2">
            <a:extLst>
              <a:ext uri="{FF2B5EF4-FFF2-40B4-BE49-F238E27FC236}">
                <a16:creationId xmlns:a16="http://schemas.microsoft.com/office/drawing/2014/main" id="{ED2B6DC8-0FB9-8FBD-FD67-129E9A1FD7CC}"/>
              </a:ext>
            </a:extLst>
          </p:cNvPr>
          <p:cNvSpPr txBox="1"/>
          <p:nvPr/>
        </p:nvSpPr>
        <p:spPr>
          <a:xfrm>
            <a:off x="1747157" y="3181843"/>
            <a:ext cx="13422085" cy="6740307"/>
          </a:xfrm>
          <a:prstGeom prst="rect">
            <a:avLst/>
          </a:prstGeom>
          <a:noFill/>
        </p:spPr>
        <p:txBody>
          <a:bodyPr wrap="square">
            <a:spAutoFit/>
          </a:bodyPr>
          <a:lstStyle/>
          <a:p>
            <a:r>
              <a:rPr lang="es-MX" sz="3600" dirty="0"/>
              <a:t>Un </a:t>
            </a:r>
            <a:r>
              <a:rPr lang="es-MX" sz="3600" b="1" dirty="0"/>
              <a:t>CDN</a:t>
            </a:r>
            <a:r>
              <a:rPr lang="es-MX" sz="3600" dirty="0"/>
              <a:t> o </a:t>
            </a:r>
            <a:r>
              <a:rPr lang="es-MX" sz="3600" b="1" dirty="0"/>
              <a:t>Red de Entrega de Contenidos</a:t>
            </a:r>
            <a:r>
              <a:rPr lang="es-MX" sz="3600" dirty="0"/>
              <a:t> es una red distribuida de servidores ubicados en distintas regiones geográficas, que tiene como objetivo </a:t>
            </a:r>
            <a:r>
              <a:rPr lang="es-MX" sz="3600" b="1" dirty="0"/>
              <a:t>entregar contenido web (como imágenes, videos, archivos, scripts, etc.) de forma rápida, eficiente y segura</a:t>
            </a:r>
            <a:r>
              <a:rPr lang="es-MX" sz="3600" dirty="0"/>
              <a:t> al usuario final.</a:t>
            </a:r>
          </a:p>
          <a:p>
            <a:endParaRPr lang="es-MX" sz="3600" dirty="0"/>
          </a:p>
          <a:p>
            <a:r>
              <a:rPr lang="es-MX" sz="3600" b="1" dirty="0"/>
              <a:t>¿Qué tipos de contenido puede entregar un CDN?</a:t>
            </a:r>
          </a:p>
          <a:p>
            <a:r>
              <a:rPr lang="es-MX" sz="3600" dirty="0"/>
              <a:t>Imágenes, videos, audios.</a:t>
            </a:r>
          </a:p>
          <a:p>
            <a:r>
              <a:rPr lang="es-MX" sz="3600" dirty="0"/>
              <a:t>Archivos estáticos: CSS, JS, HTML.</a:t>
            </a:r>
          </a:p>
          <a:p>
            <a:r>
              <a:rPr lang="es-MX" sz="3600" dirty="0"/>
              <a:t>Descargas de software.</a:t>
            </a:r>
          </a:p>
          <a:p>
            <a:r>
              <a:rPr lang="es-MX" sz="3600" dirty="0" err="1"/>
              <a:t>APIs</a:t>
            </a:r>
            <a:r>
              <a:rPr lang="es-MX" sz="3600" dirty="0"/>
              <a:t> y páginas web dinámicas (dependiendo del tipo de CDN).</a:t>
            </a:r>
          </a:p>
          <a:p>
            <a:endParaRPr lang="es-GT" sz="3600" dirty="0"/>
          </a:p>
        </p:txBody>
      </p:sp>
    </p:spTree>
    <p:extLst>
      <p:ext uri="{BB962C8B-B14F-4D97-AF65-F5344CB8AC3E}">
        <p14:creationId xmlns:p14="http://schemas.microsoft.com/office/powerpoint/2010/main" val="350096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74">
          <a:extLst>
            <a:ext uri="{FF2B5EF4-FFF2-40B4-BE49-F238E27FC236}">
              <a16:creationId xmlns:a16="http://schemas.microsoft.com/office/drawing/2014/main" id="{9FD7AE0E-63B2-11BD-BD9C-133947BDBC3E}"/>
            </a:ext>
          </a:extLst>
        </p:cNvPr>
        <p:cNvGrpSpPr/>
        <p:nvPr/>
      </p:nvGrpSpPr>
      <p:grpSpPr>
        <a:xfrm>
          <a:off x="0" y="0"/>
          <a:ext cx="0" cy="0"/>
          <a:chOff x="0" y="0"/>
          <a:chExt cx="0" cy="0"/>
        </a:xfrm>
      </p:grpSpPr>
      <p:grpSp>
        <p:nvGrpSpPr>
          <p:cNvPr id="175" name="Google Shape;175;g360acce8e50_0_120">
            <a:extLst>
              <a:ext uri="{FF2B5EF4-FFF2-40B4-BE49-F238E27FC236}">
                <a16:creationId xmlns:a16="http://schemas.microsoft.com/office/drawing/2014/main" id="{087C725A-1E32-7635-9C11-EA36A97D2770}"/>
              </a:ext>
            </a:extLst>
          </p:cNvPr>
          <p:cNvGrpSpPr/>
          <p:nvPr/>
        </p:nvGrpSpPr>
        <p:grpSpPr>
          <a:xfrm>
            <a:off x="-584801" y="364850"/>
            <a:ext cx="19457594" cy="2036657"/>
            <a:chOff x="0" y="-76200"/>
            <a:chExt cx="5124600" cy="536400"/>
          </a:xfrm>
        </p:grpSpPr>
        <p:sp>
          <p:nvSpPr>
            <p:cNvPr id="176" name="Google Shape;176;g360acce8e50_0_120">
              <a:extLst>
                <a:ext uri="{FF2B5EF4-FFF2-40B4-BE49-F238E27FC236}">
                  <a16:creationId xmlns:a16="http://schemas.microsoft.com/office/drawing/2014/main" id="{8FB4750F-34B4-3849-C68F-FD49B2A6E05E}"/>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77" name="Google Shape;177;g360acce8e50_0_120">
              <a:extLst>
                <a:ext uri="{FF2B5EF4-FFF2-40B4-BE49-F238E27FC236}">
                  <a16:creationId xmlns:a16="http://schemas.microsoft.com/office/drawing/2014/main" id="{D49829B2-8C5F-F88D-59BB-2418E97B6026}"/>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78" name="Google Shape;178;g360acce8e50_0_120">
            <a:extLst>
              <a:ext uri="{FF2B5EF4-FFF2-40B4-BE49-F238E27FC236}">
                <a16:creationId xmlns:a16="http://schemas.microsoft.com/office/drawing/2014/main" id="{BC244DAA-06AA-8E97-C6F2-0029DA10E725}"/>
              </a:ext>
            </a:extLst>
          </p:cNvPr>
          <p:cNvSpPr txBox="1"/>
          <p:nvPr/>
        </p:nvSpPr>
        <p:spPr>
          <a:xfrm>
            <a:off x="-232650" y="863000"/>
            <a:ext cx="18753300" cy="151329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dirty="0">
                <a:solidFill>
                  <a:srgbClr val="FDFDFD"/>
                </a:solidFill>
                <a:latin typeface="Poppins"/>
                <a:ea typeface="Poppins"/>
                <a:cs typeface="Poppins"/>
                <a:sym typeface="Poppins"/>
              </a:rPr>
              <a:t>CDN</a:t>
            </a:r>
            <a:endParaRPr sz="7024" b="1" i="0" u="none" strike="noStrike" cap="none" dirty="0">
              <a:solidFill>
                <a:srgbClr val="FDFDFD"/>
              </a:solidFill>
              <a:latin typeface="Poppins"/>
              <a:ea typeface="Poppins"/>
              <a:cs typeface="Poppins"/>
              <a:sym typeface="Poppins"/>
            </a:endParaRPr>
          </a:p>
        </p:txBody>
      </p:sp>
      <p:sp>
        <p:nvSpPr>
          <p:cNvPr id="3" name="CuadroTexto 2">
            <a:extLst>
              <a:ext uri="{FF2B5EF4-FFF2-40B4-BE49-F238E27FC236}">
                <a16:creationId xmlns:a16="http://schemas.microsoft.com/office/drawing/2014/main" id="{3727EEF5-A27F-67A6-5FD5-FCD5CFB338E9}"/>
              </a:ext>
            </a:extLst>
          </p:cNvPr>
          <p:cNvSpPr txBox="1"/>
          <p:nvPr/>
        </p:nvSpPr>
        <p:spPr>
          <a:xfrm>
            <a:off x="2432846" y="2892519"/>
            <a:ext cx="13422085" cy="4524315"/>
          </a:xfrm>
          <a:prstGeom prst="rect">
            <a:avLst/>
          </a:prstGeom>
          <a:noFill/>
        </p:spPr>
        <p:txBody>
          <a:bodyPr wrap="square">
            <a:spAutoFit/>
          </a:bodyPr>
          <a:lstStyle/>
          <a:p>
            <a:r>
              <a:rPr lang="es-GT" sz="3600" b="1" dirty="0"/>
              <a:t>Ejemplos de proveedores de CDN populares</a:t>
            </a:r>
          </a:p>
          <a:p>
            <a:r>
              <a:rPr lang="es-GT" sz="3600" dirty="0" err="1"/>
              <a:t>Cloudflare</a:t>
            </a:r>
            <a:endParaRPr lang="es-GT" sz="3600" dirty="0"/>
          </a:p>
          <a:p>
            <a:r>
              <a:rPr lang="es-GT" sz="3600" dirty="0" err="1"/>
              <a:t>Akamai</a:t>
            </a:r>
            <a:endParaRPr lang="es-GT" sz="3600" dirty="0"/>
          </a:p>
          <a:p>
            <a:r>
              <a:rPr lang="es-GT" sz="3600" dirty="0"/>
              <a:t>Amazon </a:t>
            </a:r>
            <a:r>
              <a:rPr lang="es-GT" sz="3600" dirty="0" err="1"/>
              <a:t>CloudFront</a:t>
            </a:r>
            <a:endParaRPr lang="es-GT" sz="3600" dirty="0"/>
          </a:p>
          <a:p>
            <a:r>
              <a:rPr lang="es-GT" sz="3600" dirty="0"/>
              <a:t>Google Cloud CDN</a:t>
            </a:r>
          </a:p>
          <a:p>
            <a:r>
              <a:rPr lang="es-GT" sz="3600" dirty="0"/>
              <a:t>Microsoft Azure CDN</a:t>
            </a:r>
          </a:p>
          <a:p>
            <a:r>
              <a:rPr lang="es-GT" sz="3600" dirty="0" err="1"/>
              <a:t>Fastly</a:t>
            </a:r>
            <a:endParaRPr lang="es-GT" sz="3600" dirty="0"/>
          </a:p>
          <a:p>
            <a:endParaRPr lang="es-GT" sz="3600" dirty="0"/>
          </a:p>
        </p:txBody>
      </p:sp>
    </p:spTree>
    <p:extLst>
      <p:ext uri="{BB962C8B-B14F-4D97-AF65-F5344CB8AC3E}">
        <p14:creationId xmlns:p14="http://schemas.microsoft.com/office/powerpoint/2010/main" val="3968116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6"/>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n-US" sz="6900" b="0" i="0" u="none" strike="noStrike" cap="none">
                <a:solidFill>
                  <a:srgbClr val="131416"/>
                </a:solidFill>
                <a:latin typeface="Impact"/>
                <a:ea typeface="Impact"/>
                <a:cs typeface="Impact"/>
                <a:sym typeface="Impact"/>
              </a:rPr>
              <a:t>CONCEPTOS CLAVE APRENDIDOS </a:t>
            </a:r>
            <a:endParaRPr sz="1400" b="0" i="0" u="none" strike="noStrike" cap="none">
              <a:solidFill>
                <a:srgbClr val="000000"/>
              </a:solidFill>
              <a:latin typeface="Impact"/>
              <a:ea typeface="Impact"/>
              <a:cs typeface="Impact"/>
              <a:sym typeface="Impact"/>
            </a:endParaRPr>
          </a:p>
        </p:txBody>
      </p:sp>
      <p:sp>
        <p:nvSpPr>
          <p:cNvPr id="244" name="Google Shape;244;p6"/>
          <p:cNvSpPr txBox="1"/>
          <p:nvPr/>
        </p:nvSpPr>
        <p:spPr>
          <a:xfrm>
            <a:off x="6122737" y="2425433"/>
            <a:ext cx="6911400" cy="4751878"/>
          </a:xfrm>
          <a:prstGeom prst="rect">
            <a:avLst/>
          </a:prstGeom>
          <a:noFill/>
          <a:ln>
            <a:noFill/>
          </a:ln>
        </p:spPr>
        <p:txBody>
          <a:bodyPr spcFirstLastPara="1" wrap="square" lIns="0" tIns="0" rIns="0" bIns="0" anchor="t" anchorCtr="0">
            <a:spAutoFit/>
          </a:bodyPr>
          <a:lstStyle/>
          <a:p>
            <a:pPr marL="457200" marR="0" lvl="0" indent="-428688" algn="l" rtl="0">
              <a:lnSpc>
                <a:spcPct val="140019"/>
              </a:lnSpc>
              <a:spcBef>
                <a:spcPts val="0"/>
              </a:spcBef>
              <a:spcAft>
                <a:spcPts val="0"/>
              </a:spcAft>
              <a:buClr>
                <a:srgbClr val="131416"/>
              </a:buClr>
              <a:buSzPts val="3151"/>
              <a:buFont typeface="Arial"/>
              <a:buChar char="●"/>
            </a:pPr>
            <a:r>
              <a:rPr lang="en-US" sz="3151" dirty="0">
                <a:solidFill>
                  <a:srgbClr val="131416"/>
                </a:solidFill>
              </a:rPr>
              <a:t>IaaS</a:t>
            </a:r>
            <a:endParaRPr sz="3151" dirty="0">
              <a:solidFill>
                <a:srgbClr val="131416"/>
              </a:solidFill>
            </a:endParaRPr>
          </a:p>
          <a:p>
            <a:pPr marL="457200" marR="0" lvl="0" indent="-428688" algn="l" rtl="0">
              <a:lnSpc>
                <a:spcPct val="140019"/>
              </a:lnSpc>
              <a:spcBef>
                <a:spcPts val="0"/>
              </a:spcBef>
              <a:spcAft>
                <a:spcPts val="0"/>
              </a:spcAft>
              <a:buClr>
                <a:srgbClr val="131416"/>
              </a:buClr>
              <a:buSzPts val="3151"/>
              <a:buFont typeface="Arial"/>
              <a:buChar char="●"/>
            </a:pPr>
            <a:r>
              <a:rPr lang="en-US" sz="3151" dirty="0">
                <a:solidFill>
                  <a:srgbClr val="131416"/>
                </a:solidFill>
              </a:rPr>
              <a:t>PaaS</a:t>
            </a:r>
            <a:endParaRPr sz="3151" dirty="0">
              <a:solidFill>
                <a:srgbClr val="131416"/>
              </a:solidFill>
            </a:endParaRPr>
          </a:p>
          <a:p>
            <a:pPr marL="457200" marR="0" lvl="0" indent="-428688" algn="l" rtl="0">
              <a:lnSpc>
                <a:spcPct val="140019"/>
              </a:lnSpc>
              <a:spcBef>
                <a:spcPts val="0"/>
              </a:spcBef>
              <a:spcAft>
                <a:spcPts val="0"/>
              </a:spcAft>
              <a:buClr>
                <a:srgbClr val="131416"/>
              </a:buClr>
              <a:buSzPts val="3151"/>
              <a:buFont typeface="Arial"/>
              <a:buChar char="●"/>
            </a:pPr>
            <a:r>
              <a:rPr lang="en-US" sz="3151" dirty="0">
                <a:solidFill>
                  <a:srgbClr val="131416"/>
                </a:solidFill>
              </a:rPr>
              <a:t>SaaS</a:t>
            </a:r>
            <a:endParaRPr sz="3151" dirty="0">
              <a:solidFill>
                <a:srgbClr val="131416"/>
              </a:solidFill>
            </a:endParaRPr>
          </a:p>
          <a:p>
            <a:pPr marL="457200" marR="0" lvl="0" indent="-428688" algn="l" rtl="0">
              <a:lnSpc>
                <a:spcPct val="140019"/>
              </a:lnSpc>
              <a:spcBef>
                <a:spcPts val="0"/>
              </a:spcBef>
              <a:spcAft>
                <a:spcPts val="0"/>
              </a:spcAft>
              <a:buClr>
                <a:srgbClr val="131416"/>
              </a:buClr>
              <a:buSzPts val="3151"/>
              <a:buFont typeface="Arial"/>
              <a:buChar char="●"/>
            </a:pPr>
            <a:r>
              <a:rPr lang="en-US" sz="3151" dirty="0" err="1">
                <a:solidFill>
                  <a:srgbClr val="131416"/>
                </a:solidFill>
              </a:rPr>
              <a:t>Despliegue</a:t>
            </a:r>
            <a:r>
              <a:rPr lang="en-US" sz="3151" dirty="0">
                <a:solidFill>
                  <a:srgbClr val="131416"/>
                </a:solidFill>
              </a:rPr>
              <a:t> </a:t>
            </a:r>
            <a:r>
              <a:rPr lang="en-US" sz="3151" dirty="0" err="1">
                <a:solidFill>
                  <a:srgbClr val="131416"/>
                </a:solidFill>
              </a:rPr>
              <a:t>en</a:t>
            </a:r>
            <a:r>
              <a:rPr lang="en-US" sz="3151" dirty="0">
                <a:solidFill>
                  <a:srgbClr val="131416"/>
                </a:solidFill>
              </a:rPr>
              <a:t> la </a:t>
            </a:r>
            <a:r>
              <a:rPr lang="en-US" sz="3151" dirty="0" err="1">
                <a:solidFill>
                  <a:srgbClr val="131416"/>
                </a:solidFill>
              </a:rPr>
              <a:t>nube</a:t>
            </a:r>
            <a:endParaRPr sz="3151" dirty="0">
              <a:solidFill>
                <a:srgbClr val="131416"/>
              </a:solidFill>
            </a:endParaRPr>
          </a:p>
          <a:p>
            <a:pPr marL="457200" marR="0" lvl="0" indent="-428688" algn="l" rtl="0">
              <a:lnSpc>
                <a:spcPct val="140019"/>
              </a:lnSpc>
              <a:spcBef>
                <a:spcPts val="0"/>
              </a:spcBef>
              <a:spcAft>
                <a:spcPts val="0"/>
              </a:spcAft>
              <a:buClr>
                <a:srgbClr val="131416"/>
              </a:buClr>
              <a:buSzPts val="3151"/>
              <a:buFont typeface="Arial"/>
              <a:buChar char="●"/>
            </a:pPr>
            <a:r>
              <a:rPr lang="en-US" sz="3151" dirty="0">
                <a:solidFill>
                  <a:srgbClr val="131416"/>
                </a:solidFill>
              </a:rPr>
              <a:t>Terraform</a:t>
            </a:r>
            <a:endParaRPr sz="3151" dirty="0">
              <a:solidFill>
                <a:srgbClr val="131416"/>
              </a:solidFill>
            </a:endParaRPr>
          </a:p>
          <a:p>
            <a:pPr marL="457200" marR="0" lvl="0" indent="-428687" algn="l" rtl="0">
              <a:lnSpc>
                <a:spcPct val="140019"/>
              </a:lnSpc>
              <a:spcBef>
                <a:spcPts val="0"/>
              </a:spcBef>
              <a:spcAft>
                <a:spcPts val="0"/>
              </a:spcAft>
              <a:buClr>
                <a:srgbClr val="131416"/>
              </a:buClr>
              <a:buSzPts val="3151"/>
              <a:buFont typeface="Arial"/>
              <a:buChar char="●"/>
            </a:pPr>
            <a:r>
              <a:rPr lang="en-US" sz="3151" dirty="0">
                <a:solidFill>
                  <a:srgbClr val="131416"/>
                </a:solidFill>
              </a:rPr>
              <a:t>Docker</a:t>
            </a:r>
          </a:p>
          <a:p>
            <a:pPr marL="457200" marR="0" lvl="0" indent="-428687" algn="l" rtl="0">
              <a:lnSpc>
                <a:spcPct val="140019"/>
              </a:lnSpc>
              <a:spcBef>
                <a:spcPts val="0"/>
              </a:spcBef>
              <a:spcAft>
                <a:spcPts val="0"/>
              </a:spcAft>
              <a:buClr>
                <a:srgbClr val="131416"/>
              </a:buClr>
              <a:buSzPts val="3151"/>
              <a:buFont typeface="Arial"/>
              <a:buChar char="●"/>
            </a:pPr>
            <a:r>
              <a:rPr lang="en-US" sz="3151" dirty="0">
                <a:solidFill>
                  <a:srgbClr val="131416"/>
                </a:solidFill>
              </a:rPr>
              <a:t>CDN</a:t>
            </a:r>
            <a:endParaRPr sz="3151" dirty="0">
              <a:solidFill>
                <a:srgbClr val="13141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360acce8e50_0_0"/>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chemeClr val="dk1"/>
              </a:buClr>
              <a:buSzPts val="6900"/>
              <a:buFont typeface="Arial"/>
              <a:buNone/>
            </a:pPr>
            <a:r>
              <a:rPr lang="en-US" sz="6900">
                <a:solidFill>
                  <a:srgbClr val="131416"/>
                </a:solidFill>
                <a:latin typeface="Impact"/>
                <a:ea typeface="Impact"/>
                <a:cs typeface="Impact"/>
                <a:sym typeface="Impact"/>
              </a:rPr>
              <a:t>Ética Profesional</a:t>
            </a:r>
            <a:endParaRPr sz="1400" b="0" i="0" u="none" strike="noStrike" cap="none">
              <a:solidFill>
                <a:srgbClr val="000000"/>
              </a:solidFill>
              <a:latin typeface="Impact"/>
              <a:ea typeface="Impact"/>
              <a:cs typeface="Impact"/>
              <a:sym typeface="Impact"/>
            </a:endParaRPr>
          </a:p>
        </p:txBody>
      </p:sp>
      <p:sp>
        <p:nvSpPr>
          <p:cNvPr id="250" name="Google Shape;250;g360acce8e50_0_0"/>
          <p:cNvSpPr txBox="1"/>
          <p:nvPr/>
        </p:nvSpPr>
        <p:spPr>
          <a:xfrm>
            <a:off x="1348542" y="2391375"/>
            <a:ext cx="15696900" cy="4559700"/>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Clr>
                <a:srgbClr val="000000"/>
              </a:buClr>
              <a:buSzPts val="3151"/>
              <a:buFont typeface="Arial"/>
              <a:buNone/>
            </a:pPr>
            <a:r>
              <a:rPr lang="en-US" sz="3151" b="1">
                <a:solidFill>
                  <a:srgbClr val="131416"/>
                </a:solidFill>
              </a:rPr>
              <a:t>Actuando con honestidad académica: </a:t>
            </a:r>
            <a:r>
              <a:rPr lang="en-US" sz="3151">
                <a:solidFill>
                  <a:srgbClr val="131416"/>
                </a:solidFill>
              </a:rPr>
              <a:t>Evitando el plagio, la copia de trabajos, o el uso indebido de información en las entregas. Cada producto del curso debe reflejar esfuerzo y trabajo propio.</a:t>
            </a:r>
            <a:endParaRPr sz="3151">
              <a:solidFill>
                <a:srgbClr val="131416"/>
              </a:solidFill>
            </a:endParaRPr>
          </a:p>
          <a:p>
            <a:pPr marL="0" marR="0" lvl="0" indent="0" algn="l" rtl="0">
              <a:lnSpc>
                <a:spcPct val="140019"/>
              </a:lnSpc>
              <a:spcBef>
                <a:spcPts val="0"/>
              </a:spcBef>
              <a:spcAft>
                <a:spcPts val="0"/>
              </a:spcAft>
              <a:buClr>
                <a:srgbClr val="000000"/>
              </a:buClr>
              <a:buSzPts val="3151"/>
              <a:buFont typeface="Arial"/>
              <a:buNone/>
            </a:pPr>
            <a:endParaRPr sz="3151">
              <a:solidFill>
                <a:srgbClr val="131416"/>
              </a:solidFill>
            </a:endParaRPr>
          </a:p>
          <a:p>
            <a:pPr marL="0" marR="0" lvl="0" indent="0" algn="l" rtl="0">
              <a:lnSpc>
                <a:spcPct val="140019"/>
              </a:lnSpc>
              <a:spcBef>
                <a:spcPts val="0"/>
              </a:spcBef>
              <a:spcAft>
                <a:spcPts val="0"/>
              </a:spcAft>
              <a:buClr>
                <a:srgbClr val="000000"/>
              </a:buClr>
              <a:buSzPts val="3151"/>
              <a:buFont typeface="Arial"/>
              <a:buNone/>
            </a:pPr>
            <a:r>
              <a:rPr lang="en-US" sz="3151" b="1">
                <a:solidFill>
                  <a:srgbClr val="131416"/>
                </a:solidFill>
              </a:rPr>
              <a:t>Respetando la confidencialidad de los proyectos: </a:t>
            </a:r>
            <a:r>
              <a:rPr lang="en-US" sz="3151">
                <a:solidFill>
                  <a:srgbClr val="131416"/>
                </a:solidFill>
              </a:rPr>
              <a:t>Si se trabaja con casos reales o simulaciones de empresas, se mantiene la discreción sobre los datos y procesos, tal como se haría en un entorno profesional.</a:t>
            </a:r>
            <a:endParaRPr sz="3151">
              <a:solidFill>
                <a:srgbClr val="131416"/>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9"/>
          <p:cNvSpPr txBox="1"/>
          <p:nvPr/>
        </p:nvSpPr>
        <p:spPr>
          <a:xfrm>
            <a:off x="4437795" y="338910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Clr>
                <a:srgbClr val="000000"/>
              </a:buClr>
              <a:buSzPts val="6099"/>
              <a:buFont typeface="Arial"/>
              <a:buNone/>
            </a:pPr>
            <a:r>
              <a:rPr lang="en-US" sz="6099" b="0" i="0" u="none" strike="noStrike" cap="none">
                <a:solidFill>
                  <a:srgbClr val="131416"/>
                </a:solidFill>
                <a:latin typeface="Impact"/>
                <a:ea typeface="Impact"/>
                <a:cs typeface="Impact"/>
                <a:sym typeface="Impact"/>
              </a:rPr>
              <a:t>¡GRACIAS POR SU  ATENCIÓN!</a:t>
            </a:r>
            <a:endParaRPr sz="1400" b="0" i="0" u="none" strike="noStrike" cap="none">
              <a:solidFill>
                <a:srgbClr val="000000"/>
              </a:solidFill>
              <a:latin typeface="Impact"/>
              <a:ea typeface="Impact"/>
              <a:cs typeface="Impact"/>
              <a:sym typeface="Impact"/>
            </a:endParaRPr>
          </a:p>
          <a:p>
            <a:pPr marL="0" marR="0" lvl="0" indent="0" algn="just" rtl="0">
              <a:lnSpc>
                <a:spcPct val="104000"/>
              </a:lnSpc>
              <a:spcBef>
                <a:spcPts val="0"/>
              </a:spcBef>
              <a:spcAft>
                <a:spcPts val="0"/>
              </a:spcAft>
              <a:buClr>
                <a:srgbClr val="000000"/>
              </a:buClr>
              <a:buSzPts val="6099"/>
              <a:buFont typeface="Arial"/>
              <a:buNone/>
            </a:pPr>
            <a:endParaRPr sz="6099" b="0" i="0" u="none" strike="noStrike" cap="none">
              <a:solidFill>
                <a:srgbClr val="131416"/>
              </a:solidFill>
              <a:latin typeface="Impact"/>
              <a:ea typeface="Impact"/>
              <a:cs typeface="Impact"/>
              <a:sym typeface="Impact"/>
            </a:endParaRPr>
          </a:p>
        </p:txBody>
      </p:sp>
      <p:sp>
        <p:nvSpPr>
          <p:cNvPr id="256" name="Google Shape;256;p9"/>
          <p:cNvSpPr txBox="1"/>
          <p:nvPr/>
        </p:nvSpPr>
        <p:spPr>
          <a:xfrm>
            <a:off x="5414714" y="5958103"/>
            <a:ext cx="6704991" cy="89852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5000"/>
              <a:buFont typeface="Arial"/>
              <a:buNone/>
            </a:pPr>
            <a:r>
              <a:rPr lang="en-US" sz="5000" b="0" i="0" u="none" strike="noStrike" cap="none">
                <a:solidFill>
                  <a:srgbClr val="131416"/>
                </a:solidFill>
                <a:latin typeface="Arial"/>
                <a:ea typeface="Arial"/>
                <a:cs typeface="Arial"/>
                <a:sym typeface="Arial"/>
              </a:rPr>
              <a:t>DUDAS</a:t>
            </a:r>
            <a:endParaRPr sz="1400" b="0" i="0" u="none" strike="noStrike" cap="none">
              <a:solidFill>
                <a:srgbClr val="000000"/>
              </a:solidFill>
              <a:latin typeface="Arial"/>
              <a:ea typeface="Arial"/>
              <a:cs typeface="Arial"/>
              <a:sym typeface="Arial"/>
            </a:endParaRPr>
          </a:p>
        </p:txBody>
      </p:sp>
      <p:sp>
        <p:nvSpPr>
          <p:cNvPr id="257" name="Google Shape;257;p9"/>
          <p:cNvSpPr/>
          <p:nvPr/>
        </p:nvSpPr>
        <p:spPr>
          <a:xfrm>
            <a:off x="13963751" y="10287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a:p>
        </p:txBody>
      </p:sp>
      <p:sp>
        <p:nvSpPr>
          <p:cNvPr id="258" name="Google Shape;258;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2000"/>
              <a:buFont typeface="Arial"/>
              <a:buNone/>
            </a:pPr>
            <a:r>
              <a:rPr lang="en-US" sz="2000" b="0" i="0" u="none" strike="noStrike" cap="none">
                <a:solidFill>
                  <a:srgbClr val="131416"/>
                </a:solidFill>
                <a:latin typeface="Arial"/>
                <a:ea typeface="Arial"/>
                <a:cs typeface="Arial"/>
                <a:sym typeface="Arial"/>
              </a:rPr>
              <a:t>RECUERDA QUE TENEMOS NUESTRO FORO SEMANAL DONDE PUEDES CONSULTAR CUALQUIER DUDA QUE TE SURJA EN LA SEMANA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1639</Words>
  <Application>Microsoft Office PowerPoint</Application>
  <PresentationFormat>Personalizado</PresentationFormat>
  <Paragraphs>152</Paragraphs>
  <Slides>29</Slides>
  <Notes>29</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29</vt:i4>
      </vt:variant>
    </vt:vector>
  </HeadingPairs>
  <TitlesOfParts>
    <vt:vector size="40" baseType="lpstr">
      <vt:lpstr>Arial</vt:lpstr>
      <vt:lpstr>Poppins</vt:lpstr>
      <vt:lpstr>Impact</vt:lpstr>
      <vt:lpstr>Calibri</vt:lpstr>
      <vt:lpstr>Nobile</vt:lpstr>
      <vt:lpstr>Open Sans</vt:lpstr>
      <vt:lpstr>Poppins Black</vt:lpstr>
      <vt:lpstr>Poppins Light</vt:lpstr>
      <vt:lpstr>Corben</vt:lpstr>
      <vt:lpstr>Alexandria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Mynor Moran</cp:lastModifiedBy>
  <cp:revision>2</cp:revision>
  <dcterms:created xsi:type="dcterms:W3CDTF">2006-08-16T00:00:00Z</dcterms:created>
  <dcterms:modified xsi:type="dcterms:W3CDTF">2025-07-05T22:07:26Z</dcterms:modified>
</cp:coreProperties>
</file>