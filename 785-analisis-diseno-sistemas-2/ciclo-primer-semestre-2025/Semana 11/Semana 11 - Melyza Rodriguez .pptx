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10287000" cx="18288000"/>
  <p:notesSz cx="6858000" cy="9144000"/>
  <p:embeddedFontLst>
    <p:embeddedFont>
      <p:font typeface="Poppins"/>
      <p:regular r:id="rId27"/>
      <p:bold r:id="rId28"/>
      <p:italic r:id="rId29"/>
      <p:boldItalic r:id="rId30"/>
    </p:embeddedFont>
    <p:embeddedFont>
      <p:font typeface="Poppins Light"/>
      <p:regular r:id="rId31"/>
      <p:bold r:id="rId32"/>
      <p:italic r:id="rId33"/>
      <p:boldItalic r:id="rId34"/>
    </p:embeddedFont>
    <p:embeddedFont>
      <p:font typeface="Poppins Black"/>
      <p:bold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1" roundtripDataSignature="AMtx7mgNQk/1R7bbGTbp80E/wMrdPpRx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C91B33-D938-4A45-8F32-7068CE52E2C8}">
  <a:tblStyle styleId="{89C91B33-D938-4A45-8F32-7068CE52E2C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Poppins-bold.fntdata"/><Relationship Id="rId27" Type="http://schemas.openxmlformats.org/officeDocument/2006/relationships/font" Target="fonts/Poppins-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Light-regular.fntdata"/><Relationship Id="rId30" Type="http://schemas.openxmlformats.org/officeDocument/2006/relationships/font" Target="fonts/Poppins-boldItalic.fntdata"/><Relationship Id="rId11" Type="http://schemas.openxmlformats.org/officeDocument/2006/relationships/slide" Target="slides/slide5.xml"/><Relationship Id="rId33" Type="http://schemas.openxmlformats.org/officeDocument/2006/relationships/font" Target="fonts/PoppinsLight-italic.fntdata"/><Relationship Id="rId10" Type="http://schemas.openxmlformats.org/officeDocument/2006/relationships/slide" Target="slides/slide4.xml"/><Relationship Id="rId32" Type="http://schemas.openxmlformats.org/officeDocument/2006/relationships/font" Target="fonts/PoppinsLight-bold.fntdata"/><Relationship Id="rId13" Type="http://schemas.openxmlformats.org/officeDocument/2006/relationships/slide" Target="slides/slide7.xml"/><Relationship Id="rId35" Type="http://schemas.openxmlformats.org/officeDocument/2006/relationships/font" Target="fonts/PoppinsBlack-bold.fntdata"/><Relationship Id="rId12" Type="http://schemas.openxmlformats.org/officeDocument/2006/relationships/slide" Target="slides/slide6.xml"/><Relationship Id="rId34" Type="http://schemas.openxmlformats.org/officeDocument/2006/relationships/font" Target="fonts/PoppinsLight-boldItalic.fntdata"/><Relationship Id="rId15" Type="http://schemas.openxmlformats.org/officeDocument/2006/relationships/slide" Target="slides/slide9.xml"/><Relationship Id="rId37" Type="http://schemas.openxmlformats.org/officeDocument/2006/relationships/font" Target="fonts/OpenSans-regular.fntdata"/><Relationship Id="rId14" Type="http://schemas.openxmlformats.org/officeDocument/2006/relationships/slide" Target="slides/slide8.xml"/><Relationship Id="rId36" Type="http://schemas.openxmlformats.org/officeDocument/2006/relationships/font" Target="fonts/PoppinsBlack-boldItalic.fntdata"/><Relationship Id="rId17" Type="http://schemas.openxmlformats.org/officeDocument/2006/relationships/slide" Target="slides/slide11.xml"/><Relationship Id="rId39" Type="http://schemas.openxmlformats.org/officeDocument/2006/relationships/font" Target="fonts/OpenSans-italic.fntdata"/><Relationship Id="rId16" Type="http://schemas.openxmlformats.org/officeDocument/2006/relationships/slide" Target="slides/slide10.xml"/><Relationship Id="rId38" Type="http://schemas.openxmlformats.org/officeDocument/2006/relationships/font" Target="fonts/OpenSa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f1b241ad4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g35f1b241ad4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f1b241ad4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f1b241ad4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5f1b241ad4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g35f1b241ad4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0acce8e50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360acce8e50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60acce8e50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60acce8e50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60acce8e50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360acce8e50_0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60acce8e50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g360acce8e50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60acce8e50_0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360acce8e50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60acce8e50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g360acce8e50_0_1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5f1b241ad4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35f1b241ad4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f1b241ad4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g35f1b241ad4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60acce8e50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g360acce8e50_0_1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60acce8e50_0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g360acce8e50_0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60acce8e50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g360acce8e50_0_1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60acce8e5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360acce8e5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63303" y="6994239"/>
            <a:ext cx="57174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Análisis y Diseño de Sistemas 2 </a:t>
            </a:r>
            <a:endParaRPr b="1" i="0" sz="5000" u="none" cap="none" strike="noStrike">
              <a:solidFill>
                <a:srgbClr val="131416"/>
              </a:solidFill>
              <a:latin typeface="Open Sans"/>
              <a:ea typeface="Open Sans"/>
              <a:cs typeface="Open Sans"/>
              <a:sym typeface="Open Sans"/>
            </a:endParaRPr>
          </a:p>
        </p:txBody>
      </p:sp>
      <p:sp>
        <p:nvSpPr>
          <p:cNvPr id="86" name="Google Shape;86;p1"/>
          <p:cNvSpPr txBox="1"/>
          <p:nvPr/>
        </p:nvSpPr>
        <p:spPr>
          <a:xfrm>
            <a:off x="2643905" y="3197949"/>
            <a:ext cx="12375000" cy="3398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Despliegue en la nube (Cloud)</a:t>
            </a:r>
            <a:endParaRPr b="1" i="0" sz="9200" u="none" cap="none" strike="noStrike">
              <a:solidFill>
                <a:srgbClr val="131416"/>
              </a:solidFill>
              <a:latin typeface="Open Sans"/>
              <a:ea typeface="Open Sans"/>
              <a:cs typeface="Open Sans"/>
              <a:sym typeface="Open Sans"/>
            </a:endParaRPr>
          </a:p>
        </p:txBody>
      </p:sp>
      <p:sp>
        <p:nvSpPr>
          <p:cNvPr id="87" name="Google Shape;87;p1"/>
          <p:cNvSpPr txBox="1"/>
          <p:nvPr/>
        </p:nvSpPr>
        <p:spPr>
          <a:xfrm>
            <a:off x="1063303" y="8745251"/>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Ingeniería de Ciencias Y Sistemas</a:t>
            </a:r>
            <a:endParaRPr b="1" i="0" sz="2499" u="none" cap="none" strike="noStrike">
              <a:solidFill>
                <a:srgbClr val="131416"/>
              </a:solidFill>
              <a:latin typeface="Open Sans"/>
              <a:ea typeface="Open Sans"/>
              <a:cs typeface="Open Sans"/>
              <a:sym typeface="Open Sans"/>
            </a:endParaRPr>
          </a:p>
        </p:txBody>
      </p:sp>
      <p:sp>
        <p:nvSpPr>
          <p:cNvPr id="88" name="Google Shape;88;p1"/>
          <p:cNvSpPr txBox="1"/>
          <p:nvPr/>
        </p:nvSpPr>
        <p:spPr>
          <a:xfrm>
            <a:off x="1028700" y="9210675"/>
            <a:ext cx="66675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Ingeniería</a:t>
            </a:r>
            <a:endParaRPr b="1" i="0" sz="2499" u="none" cap="none" strike="noStrike">
              <a:solidFill>
                <a:srgbClr val="131416"/>
              </a:solidFill>
              <a:latin typeface="Open Sans"/>
              <a:ea typeface="Open Sans"/>
              <a:cs typeface="Open Sans"/>
              <a:sym typeface="Open Sans"/>
            </a:endParaRPr>
          </a:p>
        </p:txBody>
      </p:sp>
      <p:sp>
        <p:nvSpPr>
          <p:cNvPr id="89" name="Google Shape;89;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nvSpPr>
        <p:spPr>
          <a:xfrm>
            <a:off x="214843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95" name="Google Shape;95;p3"/>
          <p:cNvSpPr txBox="1"/>
          <p:nvPr/>
        </p:nvSpPr>
        <p:spPr>
          <a:xfrm>
            <a:off x="1346552" y="3216925"/>
            <a:ext cx="15594900" cy="52818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i="0" lang="en-US" sz="5199" u="none" cap="none" strike="noStrike">
                <a:solidFill>
                  <a:srgbClr val="131416"/>
                </a:solidFill>
                <a:latin typeface="Open Sans"/>
                <a:ea typeface="Open Sans"/>
                <a:cs typeface="Open Sans"/>
                <a:sym typeface="Open Sans"/>
              </a:rPr>
              <a:t>Analizar y aplicar modelos de servicios en la nube y tipos de arquitectura de software para realizar despliegues eficientes, escalables y adecuados a las necesidades funcionales y no funcionales del sistema.</a:t>
            </a:r>
            <a:endParaRPr b="1" i="0" sz="5199" u="none" cap="none" strike="noStrike">
              <a:solidFill>
                <a:srgbClr val="131416"/>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nvSpPr>
        <p:spPr>
          <a:xfrm>
            <a:off x="1374889" y="3027816"/>
            <a:ext cx="12625499" cy="783443"/>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b="0" i="0" lang="en-US" sz="3925" u="none" cap="none" strike="noStrike">
                <a:solidFill>
                  <a:srgbClr val="131416"/>
                </a:solidFill>
                <a:latin typeface="Arial"/>
                <a:ea typeface="Arial"/>
                <a:cs typeface="Arial"/>
                <a:sym typeface="Arial"/>
              </a:rPr>
              <a:t>Parte teórica que se requiera  (conocimiento)</a:t>
            </a:r>
            <a:endParaRPr b="0" i="0" sz="1400" u="none" cap="none" strike="noStrike">
              <a:solidFill>
                <a:srgbClr val="000000"/>
              </a:solidFill>
              <a:latin typeface="Arial"/>
              <a:ea typeface="Arial"/>
              <a:cs typeface="Arial"/>
              <a:sym typeface="Arial"/>
            </a:endParaRPr>
          </a:p>
        </p:txBody>
      </p:sp>
      <p:sp>
        <p:nvSpPr>
          <p:cNvPr id="101" name="Google Shape;101;p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CONTENIDO</a:t>
            </a:r>
            <a:endParaRPr b="0" i="0" sz="1400" u="none" cap="none" strike="noStrike">
              <a:solidFill>
                <a:srgbClr val="000000"/>
              </a:solidFill>
              <a:latin typeface="Impact"/>
              <a:ea typeface="Impact"/>
              <a:cs typeface="Impact"/>
              <a:sym typeface="Impact"/>
            </a:endParaRPr>
          </a:p>
        </p:txBody>
      </p:sp>
      <p:sp>
        <p:nvSpPr>
          <p:cNvPr id="102" name="Google Shape;102;p4"/>
          <p:cNvSpPr/>
          <p:nvPr/>
        </p:nvSpPr>
        <p:spPr>
          <a:xfrm>
            <a:off x="13447195" y="53340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103" name="Google Shape;103;p4"/>
          <p:cNvSpPr txBox="1"/>
          <p:nvPr/>
        </p:nvSpPr>
        <p:spPr>
          <a:xfrm>
            <a:off x="14141311" y="6442453"/>
            <a:ext cx="3238236" cy="2815847"/>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Queda a tu discreción de donde te guías para generar el contenido que agregaras(libros, paginas web, etc. que fundamente teóricamente los temas que estas exponiendo a los compañeros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07" name="Shape 107"/>
        <p:cNvGrpSpPr/>
        <p:nvPr/>
      </p:nvGrpSpPr>
      <p:grpSpPr>
        <a:xfrm>
          <a:off x="0" y="0"/>
          <a:ext cx="0" cy="0"/>
          <a:chOff x="0" y="0"/>
          <a:chExt cx="0" cy="0"/>
        </a:xfrm>
      </p:grpSpPr>
      <p:graphicFrame>
        <p:nvGraphicFramePr>
          <p:cNvPr id="108" name="Google Shape;108;g35f1b241ad4_0_10"/>
          <p:cNvGraphicFramePr/>
          <p:nvPr/>
        </p:nvGraphicFramePr>
        <p:xfrm>
          <a:off x="6116951" y="4739298"/>
          <a:ext cx="3000000" cy="3000000"/>
        </p:xfrm>
        <a:graphic>
          <a:graphicData uri="http://schemas.openxmlformats.org/drawingml/2006/table">
            <a:tbl>
              <a:tblPr>
                <a:noFill/>
                <a:tableStyleId>{89C91B33-D938-4A45-8F32-7068CE52E2C8}</a:tableStyleId>
              </a:tblPr>
              <a:tblGrid>
                <a:gridCol w="963725"/>
                <a:gridCol w="5090475"/>
              </a:tblGrid>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1</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Avisos</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2</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Dudas de practica 2</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3</a:t>
                      </a:r>
                      <a:endParaRPr b="1" sz="1100" u="none" cap="none" strike="noStrike">
                        <a:solidFill>
                          <a:srgbClr val="FDFDFD"/>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chemeClr val="dk1"/>
                        </a:buClr>
                        <a:buSzPts val="2000"/>
                        <a:buFont typeface="Arial"/>
                        <a:buNone/>
                      </a:pPr>
                      <a:r>
                        <a:rPr lang="en-US" sz="2000" u="none" cap="none" strike="noStrike">
                          <a:solidFill>
                            <a:srgbClr val="013362"/>
                          </a:solidFill>
                          <a:latin typeface="Poppins"/>
                          <a:ea typeface="Poppins"/>
                          <a:cs typeface="Poppins"/>
                          <a:sym typeface="Poppins"/>
                        </a:rPr>
                        <a:t>Contenido Despliegue en la Nube</a:t>
                      </a:r>
                      <a:endParaRPr sz="1100" u="none" cap="none" strike="noStrike">
                        <a:solidFill>
                          <a:srgbClr val="013362"/>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4</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chemeClr val="dk1"/>
                        </a:buClr>
                        <a:buSzPts val="2000"/>
                        <a:buFont typeface="Arial"/>
                        <a:buNone/>
                      </a:pPr>
                      <a:r>
                        <a:rPr lang="en-US" sz="2000" u="none" cap="none" strike="noStrike">
                          <a:solidFill>
                            <a:srgbClr val="013362"/>
                          </a:solidFill>
                          <a:latin typeface="Poppins"/>
                          <a:ea typeface="Poppins"/>
                          <a:cs typeface="Poppins"/>
                          <a:sym typeface="Poppins"/>
                        </a:rPr>
                        <a:t>Kahoot</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bl>
          </a:graphicData>
        </a:graphic>
      </p:graphicFrame>
      <p:grpSp>
        <p:nvGrpSpPr>
          <p:cNvPr id="109" name="Google Shape;109;g35f1b241ad4_0_10"/>
          <p:cNvGrpSpPr/>
          <p:nvPr/>
        </p:nvGrpSpPr>
        <p:grpSpPr>
          <a:xfrm>
            <a:off x="-584626" y="1589619"/>
            <a:ext cx="19457594" cy="2036657"/>
            <a:chOff x="0" y="-76200"/>
            <a:chExt cx="5124600" cy="536400"/>
          </a:xfrm>
        </p:grpSpPr>
        <p:sp>
          <p:nvSpPr>
            <p:cNvPr id="110" name="Google Shape;110;g35f1b241ad4_0_1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11" name="Google Shape;111;g35f1b241ad4_0_1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2" name="Google Shape;112;g35f1b241ad4_0_10"/>
          <p:cNvSpPr/>
          <p:nvPr/>
        </p:nvSpPr>
        <p:spPr>
          <a:xfrm>
            <a:off x="592309" y="8986439"/>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sp>
      <p:sp>
        <p:nvSpPr>
          <p:cNvPr id="113" name="Google Shape;113;g35f1b241ad4_0_10"/>
          <p:cNvSpPr txBox="1"/>
          <p:nvPr/>
        </p:nvSpPr>
        <p:spPr>
          <a:xfrm>
            <a:off x="5939974" y="1861823"/>
            <a:ext cx="6408000" cy="16278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0576"/>
              <a:buFont typeface="Arial"/>
              <a:buNone/>
            </a:pPr>
            <a:r>
              <a:rPr b="0" i="0" lang="en-US" sz="10576" u="none" cap="none" strike="noStrike">
                <a:solidFill>
                  <a:srgbClr val="FDFDFD"/>
                </a:solidFill>
                <a:latin typeface="Poppins Black"/>
                <a:ea typeface="Poppins Black"/>
                <a:cs typeface="Poppins Black"/>
                <a:sym typeface="Poppins Black"/>
              </a:rPr>
              <a:t>AGENDA</a:t>
            </a:r>
            <a:endParaRPr b="0" i="0" sz="1400" u="none" cap="none" strike="noStrike">
              <a:solidFill>
                <a:srgbClr val="000000"/>
              </a:solidFill>
              <a:latin typeface="Arial"/>
              <a:ea typeface="Arial"/>
              <a:cs typeface="Arial"/>
              <a:sym typeface="Arial"/>
            </a:endParaRPr>
          </a:p>
        </p:txBody>
      </p:sp>
      <p:sp>
        <p:nvSpPr>
          <p:cNvPr id="114" name="Google Shape;114;g35f1b241ad4_0_10"/>
          <p:cNvSpPr/>
          <p:nvPr/>
        </p:nvSpPr>
        <p:spPr>
          <a:xfrm rot="10800000">
            <a:off x="14838633" y="0"/>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18" name="Shape 118"/>
        <p:cNvGrpSpPr/>
        <p:nvPr/>
      </p:nvGrpSpPr>
      <p:grpSpPr>
        <a:xfrm>
          <a:off x="0" y="0"/>
          <a:ext cx="0" cy="0"/>
          <a:chOff x="0" y="0"/>
          <a:chExt cx="0" cy="0"/>
        </a:xfrm>
      </p:grpSpPr>
      <p:grpSp>
        <p:nvGrpSpPr>
          <p:cNvPr id="119" name="Google Shape;119;g35f1b241ad4_0_20"/>
          <p:cNvGrpSpPr/>
          <p:nvPr/>
        </p:nvGrpSpPr>
        <p:grpSpPr>
          <a:xfrm>
            <a:off x="-584800" y="2437174"/>
            <a:ext cx="19457594" cy="4853776"/>
            <a:chOff x="0" y="-76200"/>
            <a:chExt cx="5124600" cy="536400"/>
          </a:xfrm>
        </p:grpSpPr>
        <p:sp>
          <p:nvSpPr>
            <p:cNvPr id="120" name="Google Shape;120;g35f1b241ad4_0_2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21" name="Google Shape;121;g35f1b241ad4_0_2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2" name="Google Shape;122;g35f1b241ad4_0_20"/>
          <p:cNvSpPr txBox="1"/>
          <p:nvPr/>
        </p:nvSpPr>
        <p:spPr>
          <a:xfrm>
            <a:off x="1479696" y="3685939"/>
            <a:ext cx="15089400" cy="3407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Despliegue en la nube (Cloud)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26" name="Shape 126"/>
        <p:cNvGrpSpPr/>
        <p:nvPr/>
      </p:nvGrpSpPr>
      <p:grpSpPr>
        <a:xfrm>
          <a:off x="0" y="0"/>
          <a:ext cx="0" cy="0"/>
          <a:chOff x="0" y="0"/>
          <a:chExt cx="0" cy="0"/>
        </a:xfrm>
      </p:grpSpPr>
      <p:grpSp>
        <p:nvGrpSpPr>
          <p:cNvPr id="127" name="Google Shape;127;g35f1b241ad4_0_1"/>
          <p:cNvGrpSpPr/>
          <p:nvPr/>
        </p:nvGrpSpPr>
        <p:grpSpPr>
          <a:xfrm>
            <a:off x="-584801" y="364850"/>
            <a:ext cx="19457594" cy="2036657"/>
            <a:chOff x="0" y="-76200"/>
            <a:chExt cx="5124600" cy="536400"/>
          </a:xfrm>
        </p:grpSpPr>
        <p:sp>
          <p:nvSpPr>
            <p:cNvPr id="128" name="Google Shape;128;g35f1b241ad4_0_1"/>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29" name="Google Shape;129;g35f1b241ad4_0_1"/>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0" name="Google Shape;130;g35f1b241ad4_0_1"/>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IaaS</a:t>
            </a:r>
            <a:endParaRPr b="1" i="0" sz="7024" u="none" cap="none" strike="noStrike">
              <a:solidFill>
                <a:srgbClr val="FDFDFD"/>
              </a:solidFill>
              <a:latin typeface="Poppins"/>
              <a:ea typeface="Poppins"/>
              <a:cs typeface="Poppins"/>
              <a:sym typeface="Poppins"/>
            </a:endParaRPr>
          </a:p>
        </p:txBody>
      </p:sp>
      <p:sp>
        <p:nvSpPr>
          <p:cNvPr id="131" name="Google Shape;131;g35f1b241ad4_0_1"/>
          <p:cNvSpPr txBox="1"/>
          <p:nvPr/>
        </p:nvSpPr>
        <p:spPr>
          <a:xfrm>
            <a:off x="1028700" y="2969250"/>
            <a:ext cx="17048400" cy="30105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Cuando nos referimos a IaaS, estamos hablando de infraestructuras como servicio. Las empresas contratan la infraestructura de hardware a un tercero a cambio de una cuota o alquiler. La contratación de este hardware permite elegir la capacidad de proceso (procesadores), la memoria a utilizar (memoria RAM) y el espacio de almacenamiento (disco duro).</a:t>
            </a:r>
            <a:endParaRPr b="0" i="0" sz="2963" u="none" cap="none" strike="noStrike">
              <a:solidFill>
                <a:srgbClr val="013362"/>
              </a:solidFill>
              <a:latin typeface="Poppins Light"/>
              <a:ea typeface="Poppins Light"/>
              <a:cs typeface="Poppins Light"/>
              <a:sym typeface="Poppins Light"/>
            </a:endParaRPr>
          </a:p>
        </p:txBody>
      </p:sp>
      <p:pic>
        <p:nvPicPr>
          <p:cNvPr id="132" name="Google Shape;132;g35f1b241ad4_0_1"/>
          <p:cNvPicPr preferRelativeResize="0"/>
          <p:nvPr/>
        </p:nvPicPr>
        <p:blipFill rotWithShape="1">
          <a:blip r:embed="rId3">
            <a:alphaModFix/>
          </a:blip>
          <a:srcRect b="11205" l="0" r="0" t="0"/>
          <a:stretch/>
        </p:blipFill>
        <p:spPr>
          <a:xfrm>
            <a:off x="5580000" y="6284550"/>
            <a:ext cx="6353100" cy="35538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36" name="Shape 136"/>
        <p:cNvGrpSpPr/>
        <p:nvPr/>
      </p:nvGrpSpPr>
      <p:grpSpPr>
        <a:xfrm>
          <a:off x="0" y="0"/>
          <a:ext cx="0" cy="0"/>
          <a:chOff x="0" y="0"/>
          <a:chExt cx="0" cy="0"/>
        </a:xfrm>
      </p:grpSpPr>
      <p:grpSp>
        <p:nvGrpSpPr>
          <p:cNvPr id="137" name="Google Shape;137;g360acce8e50_0_83"/>
          <p:cNvGrpSpPr/>
          <p:nvPr/>
        </p:nvGrpSpPr>
        <p:grpSpPr>
          <a:xfrm>
            <a:off x="-584801" y="364850"/>
            <a:ext cx="19457594" cy="2036657"/>
            <a:chOff x="0" y="-76200"/>
            <a:chExt cx="5124600" cy="536400"/>
          </a:xfrm>
        </p:grpSpPr>
        <p:sp>
          <p:nvSpPr>
            <p:cNvPr id="138" name="Google Shape;138;g360acce8e50_0_8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39" name="Google Shape;139;g360acce8e50_0_8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0" name="Google Shape;140;g360acce8e50_0_8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Ejemplos IaaS</a:t>
            </a:r>
            <a:endParaRPr b="1" i="0" sz="7024" u="none" cap="none" strike="noStrike">
              <a:solidFill>
                <a:srgbClr val="FDFDFD"/>
              </a:solidFill>
              <a:latin typeface="Poppins"/>
              <a:ea typeface="Poppins"/>
              <a:cs typeface="Poppins"/>
              <a:sym typeface="Poppins"/>
            </a:endParaRPr>
          </a:p>
        </p:txBody>
      </p:sp>
      <p:sp>
        <p:nvSpPr>
          <p:cNvPr id="141" name="Google Shape;141;g360acce8e50_0_83"/>
          <p:cNvSpPr txBox="1"/>
          <p:nvPr/>
        </p:nvSpPr>
        <p:spPr>
          <a:xfrm>
            <a:off x="1028700" y="2969250"/>
            <a:ext cx="17048400" cy="7023600"/>
          </a:xfrm>
          <a:prstGeom prst="rect">
            <a:avLst/>
          </a:prstGeom>
          <a:noFill/>
          <a:ln>
            <a:noFill/>
          </a:ln>
        </p:spPr>
        <p:txBody>
          <a:bodyPr anchorCtr="0" anchor="t" bIns="0" lIns="0" spcFirstLastPara="1" rIns="0" wrap="square" tIns="0">
            <a:spAutoFit/>
          </a:bodyPr>
          <a:lstStyle/>
          <a:p>
            <a:pPr indent="-391350" lvl="0" marL="457200" marR="0" rtl="0" algn="l">
              <a:lnSpc>
                <a:spcPct val="140027"/>
              </a:lnSpc>
              <a:spcBef>
                <a:spcPts val="0"/>
              </a:spcBef>
              <a:spcAft>
                <a:spcPts val="0"/>
              </a:spcAft>
              <a:buClr>
                <a:srgbClr val="013362"/>
              </a:buClr>
              <a:buSzPts val="2563"/>
              <a:buFont typeface="Poppins Light"/>
              <a:buChar char="●"/>
            </a:pPr>
            <a:r>
              <a:rPr b="1" i="0" lang="en-US" sz="2563" u="none" cap="none" strike="noStrike">
                <a:solidFill>
                  <a:srgbClr val="013362"/>
                </a:solidFill>
                <a:latin typeface="Poppins"/>
                <a:ea typeface="Poppins"/>
                <a:cs typeface="Poppins"/>
                <a:sym typeface="Poppins"/>
              </a:rPr>
              <a:t>Amazon Web Services:</a:t>
            </a:r>
            <a:r>
              <a:rPr b="0" i="0" lang="en-US" sz="2563" u="none" cap="none" strike="noStrike">
                <a:solidFill>
                  <a:srgbClr val="013362"/>
                </a:solidFill>
                <a:latin typeface="Poppins Light"/>
                <a:ea typeface="Poppins Light"/>
                <a:cs typeface="Poppins Light"/>
                <a:sym typeface="Poppins Light"/>
              </a:rPr>
              <a:t> el proveedor de servicios en la nube de Amazon es un claro ejemplo de IaaS. Con su servicio central Amazon EC2, permite a los usuarios alquilar servidores virtuales en los cuales instalar sus aplicaciones. EC2 ofrece configuraciones de hardware que pueden ser contratadas por los clientes. En estas configuraciones, llamadas tipos de instancias, se puede elegir entre una variedad de CPUs, memoria RAM, almacenamiento en disco duro y capacidad de transferencia de red. Además ofrece otros servicios anexos, cómo contratación de cortafuegos, direcciones IPv4 estáticas y redes virtuales independientes.</a:t>
            </a:r>
            <a:endParaRPr b="0" i="0" sz="2563" u="none" cap="none" strike="noStrike">
              <a:solidFill>
                <a:srgbClr val="013362"/>
              </a:solidFill>
              <a:latin typeface="Poppins Light"/>
              <a:ea typeface="Poppins Light"/>
              <a:cs typeface="Poppins Light"/>
              <a:sym typeface="Poppins Light"/>
            </a:endParaRPr>
          </a:p>
          <a:p>
            <a:pPr indent="-391350" lvl="0" marL="457200" marR="0" rtl="0" algn="l">
              <a:lnSpc>
                <a:spcPct val="140027"/>
              </a:lnSpc>
              <a:spcBef>
                <a:spcPts val="0"/>
              </a:spcBef>
              <a:spcAft>
                <a:spcPts val="0"/>
              </a:spcAft>
              <a:buClr>
                <a:srgbClr val="013362"/>
              </a:buClr>
              <a:buSzPts val="2563"/>
              <a:buFont typeface="Poppins Light"/>
              <a:buChar char="●"/>
            </a:pPr>
            <a:r>
              <a:rPr b="1" i="0" lang="en-US" sz="2563" u="none" cap="none" strike="noStrike">
                <a:solidFill>
                  <a:srgbClr val="013362"/>
                </a:solidFill>
                <a:latin typeface="Poppins"/>
                <a:ea typeface="Poppins"/>
                <a:cs typeface="Poppins"/>
                <a:sym typeface="Poppins"/>
              </a:rPr>
              <a:t>Microsoft Azure:</a:t>
            </a:r>
            <a:r>
              <a:rPr b="0" i="0" lang="en-US" sz="2563" u="none" cap="none" strike="noStrike">
                <a:solidFill>
                  <a:srgbClr val="013362"/>
                </a:solidFill>
                <a:latin typeface="Poppins Light"/>
                <a:ea typeface="Poppins Light"/>
                <a:cs typeface="Poppins Light"/>
                <a:sym typeface="Poppins Light"/>
              </a:rPr>
              <a:t> Microsoft también dispone de un servicio IaaS con Azure. En él, se puede realizar una contratación de hardware personalizada en cuanto a CPU, memoria, almacenamiento y velocidad de red. En esta infraestructura los clientes pueden hacer correr sus aplicaciones empresariales, como por ejemplo SAP o Sharepoint sin necesidad de preocuparse por el hardware necesario para hacerlo. Microsoft Azure destaca por la gran cantidad de recursos que pueden ser contratados, lo que la hace ideal para las empresas con necesidades muy exigentes en cuanto a infraestructura.</a:t>
            </a:r>
            <a:endParaRPr b="0" i="0" sz="2563" u="none" cap="none" strike="noStrike">
              <a:solidFill>
                <a:srgbClr val="013362"/>
              </a:solidFill>
              <a:latin typeface="Poppins Light"/>
              <a:ea typeface="Poppins Light"/>
              <a:cs typeface="Poppins Light"/>
              <a:sym typeface="Poppi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45" name="Shape 145"/>
        <p:cNvGrpSpPr/>
        <p:nvPr/>
      </p:nvGrpSpPr>
      <p:grpSpPr>
        <a:xfrm>
          <a:off x="0" y="0"/>
          <a:ext cx="0" cy="0"/>
          <a:chOff x="0" y="0"/>
          <a:chExt cx="0" cy="0"/>
        </a:xfrm>
      </p:grpSpPr>
      <p:grpSp>
        <p:nvGrpSpPr>
          <p:cNvPr id="146" name="Google Shape;146;g360acce8e50_0_93"/>
          <p:cNvGrpSpPr/>
          <p:nvPr/>
        </p:nvGrpSpPr>
        <p:grpSpPr>
          <a:xfrm>
            <a:off x="-584801" y="364850"/>
            <a:ext cx="19457594" cy="2036657"/>
            <a:chOff x="0" y="-76200"/>
            <a:chExt cx="5124600" cy="536400"/>
          </a:xfrm>
        </p:grpSpPr>
        <p:sp>
          <p:nvSpPr>
            <p:cNvPr id="147" name="Google Shape;147;g360acce8e50_0_9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48" name="Google Shape;148;g360acce8e50_0_9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9" name="Google Shape;149;g360acce8e50_0_9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PaaS</a:t>
            </a:r>
            <a:endParaRPr b="1" i="0" sz="7024" u="none" cap="none" strike="noStrike">
              <a:solidFill>
                <a:srgbClr val="FDFDFD"/>
              </a:solidFill>
              <a:latin typeface="Poppins"/>
              <a:ea typeface="Poppins"/>
              <a:cs typeface="Poppins"/>
              <a:sym typeface="Poppins"/>
            </a:endParaRPr>
          </a:p>
        </p:txBody>
      </p:sp>
      <p:sp>
        <p:nvSpPr>
          <p:cNvPr id="150" name="Google Shape;150;g360acce8e50_0_93"/>
          <p:cNvSpPr txBox="1"/>
          <p:nvPr/>
        </p:nvSpPr>
        <p:spPr>
          <a:xfrm>
            <a:off x="1043650" y="2580500"/>
            <a:ext cx="17048400" cy="42879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El servicio PaaS ofrece plataformas como servicios. En estas plataformas se pueden lanzar aplicaciones como bases de datos, middleware, herramientas de desarrollo, servicios de inteligencia empresarial, etc.</a:t>
            </a:r>
            <a:endParaRPr b="0" i="0" sz="2963" u="none" cap="none" strike="noStrike">
              <a:solidFill>
                <a:srgbClr val="013362"/>
              </a:solidFill>
              <a:latin typeface="Poppins Light"/>
              <a:ea typeface="Poppins Light"/>
              <a:cs typeface="Poppins Light"/>
              <a:sym typeface="Poppins Light"/>
            </a:endParaRPr>
          </a:p>
          <a:p>
            <a:pPr indent="0" lvl="0" marL="0" marR="0" rtl="0" algn="l">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Este tipo de servicios es el ideal para los desarrolladores que sólo quieran centrarse en la implementación y administración de sus aplicaciones. Al no tener que preocuparse por los recursos de hardware y software (sistemas operativo), mejoran su eficacia, centrándose sólo en la parte que les interesa.</a:t>
            </a:r>
            <a:endParaRPr b="0" i="0" sz="2963" u="none" cap="none" strike="noStrike">
              <a:solidFill>
                <a:srgbClr val="013362"/>
              </a:solidFill>
              <a:latin typeface="Poppins Light"/>
              <a:ea typeface="Poppins Light"/>
              <a:cs typeface="Poppins Light"/>
              <a:sym typeface="Poppins Light"/>
            </a:endParaRPr>
          </a:p>
        </p:txBody>
      </p:sp>
      <p:pic>
        <p:nvPicPr>
          <p:cNvPr id="151" name="Google Shape;151;g360acce8e50_0_93"/>
          <p:cNvPicPr preferRelativeResize="0"/>
          <p:nvPr/>
        </p:nvPicPr>
        <p:blipFill rotWithShape="1">
          <a:blip r:embed="rId3">
            <a:alphaModFix/>
          </a:blip>
          <a:srcRect b="0" l="0" r="0" t="0"/>
          <a:stretch/>
        </p:blipFill>
        <p:spPr>
          <a:xfrm>
            <a:off x="6754500" y="7173200"/>
            <a:ext cx="5626691" cy="3113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55" name="Shape 155"/>
        <p:cNvGrpSpPr/>
        <p:nvPr/>
      </p:nvGrpSpPr>
      <p:grpSpPr>
        <a:xfrm>
          <a:off x="0" y="0"/>
          <a:ext cx="0" cy="0"/>
          <a:chOff x="0" y="0"/>
          <a:chExt cx="0" cy="0"/>
        </a:xfrm>
      </p:grpSpPr>
      <p:grpSp>
        <p:nvGrpSpPr>
          <p:cNvPr id="156" name="Google Shape;156;g360acce8e50_0_102"/>
          <p:cNvGrpSpPr/>
          <p:nvPr/>
        </p:nvGrpSpPr>
        <p:grpSpPr>
          <a:xfrm>
            <a:off x="-584801" y="364850"/>
            <a:ext cx="19457594" cy="2036657"/>
            <a:chOff x="0" y="-76200"/>
            <a:chExt cx="5124600" cy="536400"/>
          </a:xfrm>
        </p:grpSpPr>
        <p:sp>
          <p:nvSpPr>
            <p:cNvPr id="157" name="Google Shape;157;g360acce8e50_0_102"/>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58" name="Google Shape;158;g360acce8e50_0_102"/>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9" name="Google Shape;159;g360acce8e50_0_102"/>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Ejemplos PaaS</a:t>
            </a:r>
            <a:endParaRPr b="1" i="0" sz="7024" u="none" cap="none" strike="noStrike">
              <a:solidFill>
                <a:srgbClr val="FDFDFD"/>
              </a:solidFill>
              <a:latin typeface="Poppins"/>
              <a:ea typeface="Poppins"/>
              <a:cs typeface="Poppins"/>
              <a:sym typeface="Poppins"/>
            </a:endParaRPr>
          </a:p>
        </p:txBody>
      </p:sp>
      <p:sp>
        <p:nvSpPr>
          <p:cNvPr id="160" name="Google Shape;160;g360acce8e50_0_102"/>
          <p:cNvSpPr txBox="1"/>
          <p:nvPr/>
        </p:nvSpPr>
        <p:spPr>
          <a:xfrm>
            <a:off x="1028700" y="2969250"/>
            <a:ext cx="17048400" cy="4813800"/>
          </a:xfrm>
          <a:prstGeom prst="rect">
            <a:avLst/>
          </a:prstGeom>
          <a:noFill/>
          <a:ln>
            <a:noFill/>
          </a:ln>
        </p:spPr>
        <p:txBody>
          <a:bodyPr anchorCtr="0" anchor="t" bIns="0" lIns="0" spcFirstLastPara="1" rIns="0" wrap="square" tIns="0">
            <a:spAutoFit/>
          </a:bodyPr>
          <a:lstStyle/>
          <a:p>
            <a:pPr indent="-391350" lvl="0" marL="457200" marR="0" rtl="0" algn="l">
              <a:lnSpc>
                <a:spcPct val="140027"/>
              </a:lnSpc>
              <a:spcBef>
                <a:spcPts val="0"/>
              </a:spcBef>
              <a:spcAft>
                <a:spcPts val="0"/>
              </a:spcAft>
              <a:buClr>
                <a:srgbClr val="013362"/>
              </a:buClr>
              <a:buSzPts val="2563"/>
              <a:buFont typeface="Poppins Light"/>
              <a:buChar char="●"/>
            </a:pPr>
            <a:r>
              <a:rPr b="1" i="0" lang="en-US" sz="2563" u="none" cap="none" strike="noStrike">
                <a:solidFill>
                  <a:srgbClr val="013362"/>
                </a:solidFill>
                <a:latin typeface="Poppins"/>
                <a:ea typeface="Poppins"/>
                <a:cs typeface="Poppins"/>
                <a:sym typeface="Poppins"/>
              </a:rPr>
              <a:t>Google App Engine: </a:t>
            </a:r>
            <a:r>
              <a:rPr b="0" i="0" lang="en-US" sz="2563" u="none" cap="none" strike="noStrike">
                <a:solidFill>
                  <a:srgbClr val="013362"/>
                </a:solidFill>
                <a:latin typeface="Poppins Light"/>
                <a:ea typeface="Poppins Light"/>
                <a:cs typeface="Poppins Light"/>
                <a:sym typeface="Poppins Light"/>
              </a:rPr>
              <a:t>este servicio de Google está enfocado a que el cliente pueda publicar aplicaciones web online, sin tener que preocuparse por la infraestructura donde hacerlo. Así, el cliente se enfoca solamente en la construcción y configuración de sus aplicaciones, siendo Google la encargada de aprovisionar de los recursos necesarios. Google App Engine cuenta con un nivelador de carga, que va aumentando los recursos necesarios según necesiten las aplicaciones, por lo que no es necesario preocuparse por la escalabilidad.</a:t>
            </a:r>
            <a:endParaRPr b="0" i="0" sz="2563" u="none" cap="none" strike="noStrike">
              <a:solidFill>
                <a:srgbClr val="013362"/>
              </a:solidFill>
              <a:latin typeface="Poppins Light"/>
              <a:ea typeface="Poppins Light"/>
              <a:cs typeface="Poppins Light"/>
              <a:sym typeface="Poppins Light"/>
            </a:endParaRPr>
          </a:p>
          <a:p>
            <a:pPr indent="-391350" lvl="0" marL="457200" marR="0" rtl="0" algn="l">
              <a:lnSpc>
                <a:spcPct val="140027"/>
              </a:lnSpc>
              <a:spcBef>
                <a:spcPts val="0"/>
              </a:spcBef>
              <a:spcAft>
                <a:spcPts val="0"/>
              </a:spcAft>
              <a:buClr>
                <a:srgbClr val="013362"/>
              </a:buClr>
              <a:buSzPts val="2563"/>
              <a:buFont typeface="Poppins Light"/>
              <a:buChar char="●"/>
            </a:pPr>
            <a:r>
              <a:rPr b="1" i="0" lang="en-US" sz="2563" u="none" cap="none" strike="noStrike">
                <a:solidFill>
                  <a:srgbClr val="013362"/>
                </a:solidFill>
                <a:latin typeface="Poppins"/>
                <a:ea typeface="Poppins"/>
                <a:cs typeface="Poppins"/>
                <a:sym typeface="Poppins"/>
              </a:rPr>
              <a:t>Bungee Connect: </a:t>
            </a:r>
            <a:r>
              <a:rPr b="0" i="0" lang="en-US" sz="2563" u="none" cap="none" strike="noStrike">
                <a:solidFill>
                  <a:srgbClr val="013362"/>
                </a:solidFill>
                <a:latin typeface="Poppins Light"/>
                <a:ea typeface="Poppins Light"/>
                <a:cs typeface="Poppins Light"/>
                <a:sym typeface="Poppins Light"/>
              </a:rPr>
              <a:t>es uno de los primeros servicios PaaS que permitieron el despliegue de aplicaciones en la nube sin preocuparse por la infraestructura. Con el servicio de Bungee Connect se obtiene un entorno adecuado para el desarrollo, testeo y ejecución de aplicaciones web.</a:t>
            </a:r>
            <a:endParaRPr b="0" i="0" sz="2563" u="none" cap="none" strike="noStrike">
              <a:solidFill>
                <a:srgbClr val="013362"/>
              </a:solidFill>
              <a:latin typeface="Poppins Light"/>
              <a:ea typeface="Poppins Light"/>
              <a:cs typeface="Poppins Light"/>
              <a:sym typeface="Poppi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64" name="Shape 164"/>
        <p:cNvGrpSpPr/>
        <p:nvPr/>
      </p:nvGrpSpPr>
      <p:grpSpPr>
        <a:xfrm>
          <a:off x="0" y="0"/>
          <a:ext cx="0" cy="0"/>
          <a:chOff x="0" y="0"/>
          <a:chExt cx="0" cy="0"/>
        </a:xfrm>
      </p:grpSpPr>
      <p:grpSp>
        <p:nvGrpSpPr>
          <p:cNvPr id="165" name="Google Shape;165;g360acce8e50_0_111"/>
          <p:cNvGrpSpPr/>
          <p:nvPr/>
        </p:nvGrpSpPr>
        <p:grpSpPr>
          <a:xfrm>
            <a:off x="-584801" y="200375"/>
            <a:ext cx="19457594" cy="2036657"/>
            <a:chOff x="0" y="-76200"/>
            <a:chExt cx="5124600" cy="536400"/>
          </a:xfrm>
        </p:grpSpPr>
        <p:sp>
          <p:nvSpPr>
            <p:cNvPr id="166" name="Google Shape;166;g360acce8e50_0_111"/>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67" name="Google Shape;167;g360acce8e50_0_111"/>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8" name="Google Shape;168;g360acce8e50_0_111"/>
          <p:cNvSpPr txBox="1"/>
          <p:nvPr/>
        </p:nvSpPr>
        <p:spPr>
          <a:xfrm>
            <a:off x="-232650" y="5789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SaaS</a:t>
            </a:r>
            <a:endParaRPr b="1" i="0" sz="7024" u="none" cap="none" strike="noStrike">
              <a:solidFill>
                <a:srgbClr val="FDFDFD"/>
              </a:solidFill>
              <a:latin typeface="Poppins"/>
              <a:ea typeface="Poppins"/>
              <a:cs typeface="Poppins"/>
              <a:sym typeface="Poppins"/>
            </a:endParaRPr>
          </a:p>
        </p:txBody>
      </p:sp>
      <p:sp>
        <p:nvSpPr>
          <p:cNvPr id="169" name="Google Shape;169;g360acce8e50_0_111"/>
          <p:cNvSpPr txBox="1"/>
          <p:nvPr/>
        </p:nvSpPr>
        <p:spPr>
          <a:xfrm>
            <a:off x="1043650" y="2580500"/>
            <a:ext cx="17048400" cy="44277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963"/>
              <a:buFont typeface="Arial"/>
              <a:buNone/>
            </a:pPr>
            <a:r>
              <a:rPr b="0" i="0" lang="en-US" sz="2663" u="none" cap="none" strike="noStrike">
                <a:solidFill>
                  <a:srgbClr val="013362"/>
                </a:solidFill>
                <a:latin typeface="Poppins Light"/>
                <a:ea typeface="Poppins Light"/>
                <a:cs typeface="Poppins Light"/>
                <a:sym typeface="Poppins Light"/>
              </a:rPr>
              <a:t>Este modelo de software como infraestructura, aloja el software de la empresa, así como sus datos, en servidores externos a la misma, y paga una cuota por su utilización. Cualquier empleado de una empresa podrá acceder desde cualquier lugara las aplicaciones de la empresa sin necesidad de instalarlas en un equipo local. Cuando hablamos de software en la nube estamos hablando de SaaS.</a:t>
            </a:r>
            <a:endParaRPr b="0" i="0" sz="2663" u="none" cap="none" strike="noStrike">
              <a:solidFill>
                <a:srgbClr val="013362"/>
              </a:solidFill>
              <a:latin typeface="Poppins Light"/>
              <a:ea typeface="Poppins Light"/>
              <a:cs typeface="Poppins Light"/>
              <a:sym typeface="Poppins Light"/>
            </a:endParaRPr>
          </a:p>
          <a:p>
            <a:pPr indent="0" lvl="0" marL="0" marR="0" rtl="0" algn="l">
              <a:lnSpc>
                <a:spcPct val="140027"/>
              </a:lnSpc>
              <a:spcBef>
                <a:spcPts val="0"/>
              </a:spcBef>
              <a:spcAft>
                <a:spcPts val="0"/>
              </a:spcAft>
              <a:buClr>
                <a:srgbClr val="000000"/>
              </a:buClr>
              <a:buSzPts val="2963"/>
              <a:buFont typeface="Arial"/>
              <a:buNone/>
            </a:pPr>
            <a:r>
              <a:rPr b="0" i="0" lang="en-US" sz="2663" u="none" cap="none" strike="noStrike">
                <a:solidFill>
                  <a:srgbClr val="013362"/>
                </a:solidFill>
                <a:latin typeface="Poppins Light"/>
                <a:ea typeface="Poppins Light"/>
                <a:cs typeface="Poppins Light"/>
                <a:sym typeface="Poppins Light"/>
              </a:rPr>
              <a:t>Con un SaaS la preocupación de la empresa será sólo cómo utilizar los programas de software necesarios para su funcionamiento, olvidándose del resto de recursos. El hardware requerido, sistemas operativos, aplicaciones, etc. son provistas por el proveedor del servicio que, además, se encarga de mantenerlas funcionando correctamente y actualizadas.</a:t>
            </a:r>
            <a:endParaRPr b="0" i="0" sz="2663" u="none" cap="none" strike="noStrike">
              <a:solidFill>
                <a:srgbClr val="013362"/>
              </a:solidFill>
              <a:latin typeface="Poppins Light"/>
              <a:ea typeface="Poppins Light"/>
              <a:cs typeface="Poppins Light"/>
              <a:sym typeface="Poppins Light"/>
            </a:endParaRPr>
          </a:p>
        </p:txBody>
      </p:sp>
      <p:pic>
        <p:nvPicPr>
          <p:cNvPr id="170" name="Google Shape;170;g360acce8e50_0_111"/>
          <p:cNvPicPr preferRelativeResize="0"/>
          <p:nvPr/>
        </p:nvPicPr>
        <p:blipFill rotWithShape="1">
          <a:blip r:embed="rId3">
            <a:alphaModFix/>
          </a:blip>
          <a:srcRect b="0" l="0" r="0" t="0"/>
          <a:stretch/>
        </p:blipFill>
        <p:spPr>
          <a:xfrm>
            <a:off x="5684675" y="7008200"/>
            <a:ext cx="5544298" cy="31186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74" name="Shape 174"/>
        <p:cNvGrpSpPr/>
        <p:nvPr/>
      </p:nvGrpSpPr>
      <p:grpSpPr>
        <a:xfrm>
          <a:off x="0" y="0"/>
          <a:ext cx="0" cy="0"/>
          <a:chOff x="0" y="0"/>
          <a:chExt cx="0" cy="0"/>
        </a:xfrm>
      </p:grpSpPr>
      <p:grpSp>
        <p:nvGrpSpPr>
          <p:cNvPr id="175" name="Google Shape;175;g360acce8e50_0_120"/>
          <p:cNvGrpSpPr/>
          <p:nvPr/>
        </p:nvGrpSpPr>
        <p:grpSpPr>
          <a:xfrm>
            <a:off x="-584801" y="364850"/>
            <a:ext cx="19457594" cy="2036657"/>
            <a:chOff x="0" y="-76200"/>
            <a:chExt cx="5124600" cy="536400"/>
          </a:xfrm>
        </p:grpSpPr>
        <p:sp>
          <p:nvSpPr>
            <p:cNvPr id="176" name="Google Shape;176;g360acce8e50_0_12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77" name="Google Shape;177;g360acce8e50_0_12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8" name="Google Shape;178;g360acce8e50_0_120"/>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Ejemplos SaaS</a:t>
            </a:r>
            <a:endParaRPr b="1" i="0" sz="7024" u="none" cap="none" strike="noStrike">
              <a:solidFill>
                <a:srgbClr val="FDFDFD"/>
              </a:solidFill>
              <a:latin typeface="Poppins"/>
              <a:ea typeface="Poppins"/>
              <a:cs typeface="Poppins"/>
              <a:sym typeface="Poppins"/>
            </a:endParaRPr>
          </a:p>
        </p:txBody>
      </p:sp>
      <p:sp>
        <p:nvSpPr>
          <p:cNvPr id="179" name="Google Shape;179;g360acce8e50_0_120"/>
          <p:cNvSpPr txBox="1"/>
          <p:nvPr/>
        </p:nvSpPr>
        <p:spPr>
          <a:xfrm>
            <a:off x="1028700" y="2969250"/>
            <a:ext cx="17048400" cy="4813800"/>
          </a:xfrm>
          <a:prstGeom prst="rect">
            <a:avLst/>
          </a:prstGeom>
          <a:noFill/>
          <a:ln>
            <a:noFill/>
          </a:ln>
        </p:spPr>
        <p:txBody>
          <a:bodyPr anchorCtr="0" anchor="t" bIns="0" lIns="0" spcFirstLastPara="1" rIns="0" wrap="square" tIns="0">
            <a:spAutoFit/>
          </a:bodyPr>
          <a:lstStyle/>
          <a:p>
            <a:pPr indent="-391350" lvl="0" marL="457200" marR="0" rtl="0" algn="l">
              <a:lnSpc>
                <a:spcPct val="140027"/>
              </a:lnSpc>
              <a:spcBef>
                <a:spcPts val="0"/>
              </a:spcBef>
              <a:spcAft>
                <a:spcPts val="0"/>
              </a:spcAft>
              <a:buClr>
                <a:srgbClr val="013362"/>
              </a:buClr>
              <a:buSzPts val="2563"/>
              <a:buFont typeface="Poppins Light"/>
              <a:buChar char="●"/>
            </a:pPr>
            <a:r>
              <a:rPr b="1" i="0" lang="en-US" sz="2563" u="none" cap="none" strike="noStrike">
                <a:solidFill>
                  <a:srgbClr val="013362"/>
                </a:solidFill>
                <a:latin typeface="Poppins"/>
                <a:ea typeface="Poppins"/>
                <a:cs typeface="Poppins"/>
                <a:sym typeface="Poppins"/>
              </a:rPr>
              <a:t>Microsoft Office 365: </a:t>
            </a:r>
            <a:r>
              <a:rPr b="0" i="0" lang="en-US" sz="2563" u="none" cap="none" strike="noStrike">
                <a:solidFill>
                  <a:srgbClr val="013362"/>
                </a:solidFill>
                <a:latin typeface="Poppins Light"/>
                <a:ea typeface="Poppins Light"/>
                <a:cs typeface="Poppins Light"/>
                <a:sym typeface="Poppins Light"/>
              </a:rPr>
              <a:t>con esta plataforma de Microsoft los usuarios pueden acceder a las herramientas de ofimática de Microsoft (Word, Excel, Access, PowerPoint, etc.) desde cualquier dispositivo, que se ejecutan en servidores de Microsoft. El usuario sólo se preocupa de utilizar la aplicación sin tener nada que ver con su instalación, mantenimiento y actualización.</a:t>
            </a:r>
            <a:endParaRPr b="0" i="0" sz="2563" u="none" cap="none" strike="noStrike">
              <a:solidFill>
                <a:srgbClr val="013362"/>
              </a:solidFill>
              <a:latin typeface="Poppins Light"/>
              <a:ea typeface="Poppins Light"/>
              <a:cs typeface="Poppins Light"/>
              <a:sym typeface="Poppins Light"/>
            </a:endParaRPr>
          </a:p>
          <a:p>
            <a:pPr indent="-391350" lvl="0" marL="457200" marR="0" rtl="0" algn="l">
              <a:lnSpc>
                <a:spcPct val="140027"/>
              </a:lnSpc>
              <a:spcBef>
                <a:spcPts val="0"/>
              </a:spcBef>
              <a:spcAft>
                <a:spcPts val="0"/>
              </a:spcAft>
              <a:buClr>
                <a:srgbClr val="013362"/>
              </a:buClr>
              <a:buSzPts val="2563"/>
              <a:buFont typeface="Poppins Light"/>
              <a:buChar char="●"/>
            </a:pPr>
            <a:r>
              <a:rPr b="1" i="0" lang="en-US" sz="2563" u="none" cap="none" strike="noStrike">
                <a:solidFill>
                  <a:srgbClr val="013362"/>
                </a:solidFill>
                <a:latin typeface="Poppins"/>
                <a:ea typeface="Poppins"/>
                <a:cs typeface="Poppins"/>
                <a:sym typeface="Poppins"/>
              </a:rPr>
              <a:t>WordPress: </a:t>
            </a:r>
            <a:r>
              <a:rPr b="0" i="0" lang="en-US" sz="2563" u="none" cap="none" strike="noStrike">
                <a:solidFill>
                  <a:srgbClr val="013362"/>
                </a:solidFill>
                <a:latin typeface="Poppins Light"/>
                <a:ea typeface="Poppins Light"/>
                <a:cs typeface="Poppins Light"/>
                <a:sym typeface="Poppins Light"/>
              </a:rPr>
              <a:t>la instalación de WordPress en un servidor para diseñar una página web, da como resultado un sitio o página web que es accesible para los usuarios desde cualquier dispositivo, a través de internet. WordPress es un software que se está ejecutando en un servidor remoto donde el usuario interactúa con él sin tener nada que ver con la infraestructura necesaria para su funcionamiento.</a:t>
            </a:r>
            <a:endParaRPr b="0" i="0" sz="2563" u="none" cap="none" strike="noStrike">
              <a:solidFill>
                <a:srgbClr val="013362"/>
              </a:solidFill>
              <a:latin typeface="Poppins Light"/>
              <a:ea typeface="Poppins Light"/>
              <a:cs typeface="Poppins Light"/>
              <a:sym typeface="Poppins Light"/>
            </a:endParaRPr>
          </a:p>
        </p:txBody>
      </p:sp>
      <p:pic>
        <p:nvPicPr>
          <p:cNvPr id="180" name="Google Shape;180;g360acce8e50_0_120"/>
          <p:cNvPicPr preferRelativeResize="0"/>
          <p:nvPr/>
        </p:nvPicPr>
        <p:blipFill rotWithShape="1">
          <a:blip r:embed="rId3">
            <a:alphaModFix/>
          </a:blip>
          <a:srcRect b="0" l="0" r="0" t="0"/>
          <a:stretch/>
        </p:blipFill>
        <p:spPr>
          <a:xfrm>
            <a:off x="4572000" y="7681275"/>
            <a:ext cx="6516000" cy="2199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84" name="Shape 184"/>
        <p:cNvGrpSpPr/>
        <p:nvPr/>
      </p:nvGrpSpPr>
      <p:grpSpPr>
        <a:xfrm>
          <a:off x="0" y="0"/>
          <a:ext cx="0" cy="0"/>
          <a:chOff x="0" y="0"/>
          <a:chExt cx="0" cy="0"/>
        </a:xfrm>
      </p:grpSpPr>
      <p:grpSp>
        <p:nvGrpSpPr>
          <p:cNvPr id="185" name="Google Shape;185;g360acce8e50_0_132"/>
          <p:cNvGrpSpPr/>
          <p:nvPr/>
        </p:nvGrpSpPr>
        <p:grpSpPr>
          <a:xfrm>
            <a:off x="-584800" y="2437174"/>
            <a:ext cx="19457594" cy="4853776"/>
            <a:chOff x="0" y="-76200"/>
            <a:chExt cx="5124600" cy="536400"/>
          </a:xfrm>
        </p:grpSpPr>
        <p:sp>
          <p:nvSpPr>
            <p:cNvPr id="186" name="Google Shape;186;g360acce8e50_0_132"/>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87" name="Google Shape;187;g360acce8e50_0_132"/>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8" name="Google Shape;188;g360acce8e50_0_132"/>
          <p:cNvSpPr txBox="1"/>
          <p:nvPr/>
        </p:nvSpPr>
        <p:spPr>
          <a:xfrm>
            <a:off x="1479700" y="3685950"/>
            <a:ext cx="16133700" cy="3407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Arquitecturas monolíticas y de microservicios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92" name="Shape 192"/>
        <p:cNvGrpSpPr/>
        <p:nvPr/>
      </p:nvGrpSpPr>
      <p:grpSpPr>
        <a:xfrm>
          <a:off x="0" y="0"/>
          <a:ext cx="0" cy="0"/>
          <a:chOff x="0" y="0"/>
          <a:chExt cx="0" cy="0"/>
        </a:xfrm>
      </p:grpSpPr>
      <p:grpSp>
        <p:nvGrpSpPr>
          <p:cNvPr id="193" name="Google Shape;193;g35f1b241ad4_0_27"/>
          <p:cNvGrpSpPr/>
          <p:nvPr/>
        </p:nvGrpSpPr>
        <p:grpSpPr>
          <a:xfrm>
            <a:off x="-584801" y="364850"/>
            <a:ext cx="19457594" cy="2036657"/>
            <a:chOff x="0" y="-76200"/>
            <a:chExt cx="5124600" cy="536400"/>
          </a:xfrm>
        </p:grpSpPr>
        <p:sp>
          <p:nvSpPr>
            <p:cNvPr id="194" name="Google Shape;194;g35f1b241ad4_0_27"/>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95" name="Google Shape;195;g35f1b241ad4_0_27"/>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6" name="Google Shape;196;g35f1b241ad4_0_27"/>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Diferencias clave</a:t>
            </a:r>
            <a:endParaRPr b="0" i="0" sz="100" u="none" cap="none" strike="noStrike">
              <a:solidFill>
                <a:srgbClr val="000000"/>
              </a:solidFill>
              <a:latin typeface="Arial"/>
              <a:ea typeface="Arial"/>
              <a:cs typeface="Arial"/>
              <a:sym typeface="Arial"/>
            </a:endParaRPr>
          </a:p>
        </p:txBody>
      </p:sp>
      <p:sp>
        <p:nvSpPr>
          <p:cNvPr id="197" name="Google Shape;197;g35f1b241ad4_0_27"/>
          <p:cNvSpPr txBox="1"/>
          <p:nvPr/>
        </p:nvSpPr>
        <p:spPr>
          <a:xfrm>
            <a:off x="1028700" y="2969245"/>
            <a:ext cx="16230600" cy="3649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Las aplicaciones monolíticas suelen constar de una interfaz de usuario del cliente, una base de datos y una aplicación del servidor. Los desarrolladores crean todos estos módulos en un único código base.</a:t>
            </a:r>
            <a:endParaRPr b="0" i="0" sz="2963" u="none" cap="none" strike="noStrike">
              <a:solidFill>
                <a:srgbClr val="013362"/>
              </a:solidFill>
              <a:latin typeface="Poppins Light"/>
              <a:ea typeface="Poppins Light"/>
              <a:cs typeface="Poppins Light"/>
              <a:sym typeface="Poppins Light"/>
            </a:endParaRPr>
          </a:p>
          <a:p>
            <a:pPr indent="0" lvl="0" marL="0" marR="0" rtl="0" algn="l">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Por otro lado, en una arquitectura distribuida, cada microservicio funciona para lograr una única característica o lógica empresarial. En lugar de intercambiar datos dentro del mismo código base, los microservicios se comunican con una API.</a:t>
            </a:r>
            <a:endParaRPr b="0" i="0" sz="2963" u="none" cap="none" strike="noStrike">
              <a:solidFill>
                <a:srgbClr val="013362"/>
              </a:solidFill>
              <a:latin typeface="Poppins Light"/>
              <a:ea typeface="Poppins Light"/>
              <a:cs typeface="Poppins Light"/>
              <a:sym typeface="Poppins Light"/>
            </a:endParaRPr>
          </a:p>
        </p:txBody>
      </p:sp>
      <p:pic>
        <p:nvPicPr>
          <p:cNvPr id="198" name="Google Shape;198;g35f1b241ad4_0_27"/>
          <p:cNvPicPr preferRelativeResize="0"/>
          <p:nvPr/>
        </p:nvPicPr>
        <p:blipFill rotWithShape="1">
          <a:blip r:embed="rId3">
            <a:alphaModFix/>
          </a:blip>
          <a:srcRect b="0" l="0" r="0" t="0"/>
          <a:stretch/>
        </p:blipFill>
        <p:spPr>
          <a:xfrm>
            <a:off x="6422512" y="6726001"/>
            <a:ext cx="5442976" cy="3336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02" name="Shape 202"/>
        <p:cNvGrpSpPr/>
        <p:nvPr/>
      </p:nvGrpSpPr>
      <p:grpSpPr>
        <a:xfrm>
          <a:off x="0" y="0"/>
          <a:ext cx="0" cy="0"/>
          <a:chOff x="0" y="0"/>
          <a:chExt cx="0" cy="0"/>
        </a:xfrm>
      </p:grpSpPr>
      <p:grpSp>
        <p:nvGrpSpPr>
          <p:cNvPr id="203" name="Google Shape;203;g35f1b241ad4_0_73"/>
          <p:cNvGrpSpPr/>
          <p:nvPr/>
        </p:nvGrpSpPr>
        <p:grpSpPr>
          <a:xfrm>
            <a:off x="-584801" y="364850"/>
            <a:ext cx="19457594" cy="2036657"/>
            <a:chOff x="0" y="-76200"/>
            <a:chExt cx="5124600" cy="536400"/>
          </a:xfrm>
        </p:grpSpPr>
        <p:sp>
          <p:nvSpPr>
            <p:cNvPr id="204" name="Google Shape;204;g35f1b241ad4_0_7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05" name="Google Shape;205;g35f1b241ad4_0_7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6" name="Google Shape;206;g35f1b241ad4_0_7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Proceso de desarrollo</a:t>
            </a:r>
            <a:endParaRPr b="1" i="0" sz="7024" u="none" cap="none" strike="noStrike">
              <a:solidFill>
                <a:srgbClr val="FDFDFD"/>
              </a:solidFill>
              <a:latin typeface="Poppins"/>
              <a:ea typeface="Poppins"/>
              <a:cs typeface="Poppins"/>
              <a:sym typeface="Poppins"/>
            </a:endParaRPr>
          </a:p>
        </p:txBody>
      </p:sp>
      <p:sp>
        <p:nvSpPr>
          <p:cNvPr id="207" name="Google Shape;207;g35f1b241ad4_0_73"/>
          <p:cNvSpPr txBox="1"/>
          <p:nvPr/>
        </p:nvSpPr>
        <p:spPr>
          <a:xfrm>
            <a:off x="1028700" y="2969250"/>
            <a:ext cx="9276000" cy="4956300"/>
          </a:xfrm>
          <a:prstGeom prst="rect">
            <a:avLst/>
          </a:prstGeom>
          <a:noFill/>
          <a:ln>
            <a:noFill/>
          </a:ln>
        </p:spPr>
        <p:txBody>
          <a:bodyPr anchorCtr="0" anchor="t" bIns="0" lIns="0" spcFirstLastPara="1" rIns="0" wrap="square" tIns="0">
            <a:spAutoFit/>
          </a:bodyPr>
          <a:lstStyle/>
          <a:p>
            <a:pPr indent="0" lvl="0" marL="0" marR="0" rtl="0" algn="just">
              <a:lnSpc>
                <a:spcPct val="140027"/>
              </a:lnSpc>
              <a:spcBef>
                <a:spcPts val="0"/>
              </a:spcBef>
              <a:spcAft>
                <a:spcPts val="0"/>
              </a:spcAft>
              <a:buClr>
                <a:srgbClr val="000000"/>
              </a:buClr>
              <a:buSzPts val="2963"/>
              <a:buFont typeface="Arial"/>
              <a:buNone/>
            </a:pPr>
            <a:r>
              <a:rPr b="0" i="0" lang="en-US" sz="1962" u="none" cap="none" strike="noStrike">
                <a:solidFill>
                  <a:srgbClr val="013362"/>
                </a:solidFill>
                <a:latin typeface="Poppins Light"/>
                <a:ea typeface="Poppins Light"/>
                <a:cs typeface="Poppins Light"/>
                <a:sym typeface="Poppins Light"/>
              </a:rPr>
              <a:t>Es más fácil empezar con aplicaciones monolíticas, ya que no se requiere mucha planificación inicial. Puede empezar y seguir agregando módulos de código según sea necesario. Sin embargo, la aplicación puede volverse compleja y difícil de actualizar o modificar con el tiempo.</a:t>
            </a:r>
            <a:endParaRPr b="0" i="0" sz="1962" u="none" cap="none" strike="noStrike">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t/>
            </a:r>
            <a:endParaRPr b="0" i="0" sz="1962" u="none" cap="none" strike="noStrike">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rPr b="0" i="0" lang="en-US" sz="1962" u="none" cap="none" strike="noStrike">
                <a:solidFill>
                  <a:srgbClr val="013362"/>
                </a:solidFill>
                <a:latin typeface="Poppins Light"/>
                <a:ea typeface="Poppins Light"/>
                <a:cs typeface="Poppins Light"/>
                <a:sym typeface="Poppins Light"/>
              </a:rPr>
              <a:t>Una arquitectura de microservicios requiere más planificación y diseño antes de comenzar. Los desarrolladores deben identificar diferentes funciones que puedan funcionar de forma independiente y planificar API coherentes. Sin embargo, la coordinación inicial hace que el mantenimiento del código sea mucho más eficiente. Puede hacer cambios y encontrar errores más rápido. La reutilización del código también aumenta con el tiempo.</a:t>
            </a:r>
            <a:endParaRPr b="0" i="0" sz="1962" u="none" cap="none" strike="noStrike">
              <a:solidFill>
                <a:srgbClr val="013362"/>
              </a:solidFill>
              <a:latin typeface="Poppins Light"/>
              <a:ea typeface="Poppins Light"/>
              <a:cs typeface="Poppins Light"/>
              <a:sym typeface="Poppins Light"/>
            </a:endParaRPr>
          </a:p>
        </p:txBody>
      </p:sp>
      <p:pic>
        <p:nvPicPr>
          <p:cNvPr id="208" name="Google Shape;208;g35f1b241ad4_0_73"/>
          <p:cNvPicPr preferRelativeResize="0"/>
          <p:nvPr/>
        </p:nvPicPr>
        <p:blipFill rotWithShape="1">
          <a:blip r:embed="rId3">
            <a:alphaModFix/>
          </a:blip>
          <a:srcRect b="0" l="0" r="0" t="0"/>
          <a:stretch/>
        </p:blipFill>
        <p:spPr>
          <a:xfrm>
            <a:off x="10944772" y="3215500"/>
            <a:ext cx="7056252" cy="4710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12" name="Shape 212"/>
        <p:cNvGrpSpPr/>
        <p:nvPr/>
      </p:nvGrpSpPr>
      <p:grpSpPr>
        <a:xfrm>
          <a:off x="0" y="0"/>
          <a:ext cx="0" cy="0"/>
          <a:chOff x="0" y="0"/>
          <a:chExt cx="0" cy="0"/>
        </a:xfrm>
      </p:grpSpPr>
      <p:grpSp>
        <p:nvGrpSpPr>
          <p:cNvPr id="213" name="Google Shape;213;g360acce8e50_0_144"/>
          <p:cNvGrpSpPr/>
          <p:nvPr/>
        </p:nvGrpSpPr>
        <p:grpSpPr>
          <a:xfrm>
            <a:off x="-584801" y="364850"/>
            <a:ext cx="19457594" cy="2036657"/>
            <a:chOff x="0" y="-76200"/>
            <a:chExt cx="5124600" cy="536400"/>
          </a:xfrm>
        </p:grpSpPr>
        <p:sp>
          <p:nvSpPr>
            <p:cNvPr id="214" name="Google Shape;214;g360acce8e50_0_144"/>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15" name="Google Shape;215;g360acce8e50_0_144"/>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6" name="Google Shape;216;g360acce8e50_0_144"/>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Implementación</a:t>
            </a:r>
            <a:endParaRPr b="1" i="0" sz="7024" u="none" cap="none" strike="noStrike">
              <a:solidFill>
                <a:srgbClr val="FDFDFD"/>
              </a:solidFill>
              <a:latin typeface="Poppins"/>
              <a:ea typeface="Poppins"/>
              <a:cs typeface="Poppins"/>
              <a:sym typeface="Poppins"/>
            </a:endParaRPr>
          </a:p>
        </p:txBody>
      </p:sp>
      <p:sp>
        <p:nvSpPr>
          <p:cNvPr id="217" name="Google Shape;217;g360acce8e50_0_144"/>
          <p:cNvSpPr txBox="1"/>
          <p:nvPr/>
        </p:nvSpPr>
        <p:spPr>
          <a:xfrm>
            <a:off x="438450" y="2665700"/>
            <a:ext cx="7678500" cy="6390600"/>
          </a:xfrm>
          <a:prstGeom prst="rect">
            <a:avLst/>
          </a:prstGeom>
          <a:noFill/>
          <a:ln>
            <a:noFill/>
          </a:ln>
        </p:spPr>
        <p:txBody>
          <a:bodyPr anchorCtr="0" anchor="t" bIns="0" lIns="0" spcFirstLastPara="1" rIns="0" wrap="square" tIns="0">
            <a:spAutoFit/>
          </a:bodyPr>
          <a:lstStyle/>
          <a:p>
            <a:pPr indent="0" lvl="0" marL="0" marR="0" rtl="0" algn="just">
              <a:lnSpc>
                <a:spcPct val="140027"/>
              </a:lnSpc>
              <a:spcBef>
                <a:spcPts val="0"/>
              </a:spcBef>
              <a:spcAft>
                <a:spcPts val="0"/>
              </a:spcAft>
              <a:buClr>
                <a:srgbClr val="000000"/>
              </a:buClr>
              <a:buSzPts val="2963"/>
              <a:buFont typeface="Arial"/>
              <a:buNone/>
            </a:pPr>
            <a:r>
              <a:rPr b="0" i="0" lang="en-US" sz="2162" u="none" cap="none" strike="noStrike">
                <a:solidFill>
                  <a:srgbClr val="013362"/>
                </a:solidFill>
                <a:latin typeface="Poppins Light"/>
                <a:ea typeface="Poppins Light"/>
                <a:cs typeface="Poppins Light"/>
                <a:sym typeface="Poppins Light"/>
              </a:rPr>
              <a:t>La implementación de aplicaciones monolíticas es más sencilla que la implementación de microservicios. Los desarrolladores instalan todo el código base y las dependencias de la aplicación en un único entorno. </a:t>
            </a:r>
            <a:endParaRPr b="0" i="0" sz="2162" u="none" cap="none" strike="noStrike">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t/>
            </a:r>
            <a:endParaRPr b="0" i="0" sz="2162" u="none" cap="none" strike="noStrike">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rPr b="0" i="0" lang="en-US" sz="2162" u="none" cap="none" strike="noStrike">
                <a:solidFill>
                  <a:srgbClr val="013362"/>
                </a:solidFill>
                <a:latin typeface="Poppins Light"/>
                <a:ea typeface="Poppins Light"/>
                <a:cs typeface="Poppins Light"/>
                <a:sym typeface="Poppins Light"/>
              </a:rPr>
              <a:t>Por el contrario, la implementación de aplicaciones basadas en microservicios es más compleja, ya que cada microservicio es un paquete de software que se puede implementar de forma independiente. Los desarrolladores suelen organizar los microservicios en contenedores antes de implementarlos. Los contenedores encapsulan el código y las dependencias relacionadas del microservicio para garantizar la independencia de la plataforma.</a:t>
            </a:r>
            <a:endParaRPr b="0" i="0" sz="2162" u="none" cap="none" strike="noStrike">
              <a:solidFill>
                <a:srgbClr val="013362"/>
              </a:solidFill>
              <a:latin typeface="Poppins Light"/>
              <a:ea typeface="Poppins Light"/>
              <a:cs typeface="Poppins Light"/>
              <a:sym typeface="Poppins Light"/>
            </a:endParaRPr>
          </a:p>
        </p:txBody>
      </p:sp>
      <p:pic>
        <p:nvPicPr>
          <p:cNvPr id="218" name="Google Shape;218;g360acce8e50_0_144"/>
          <p:cNvPicPr preferRelativeResize="0"/>
          <p:nvPr/>
        </p:nvPicPr>
        <p:blipFill>
          <a:blip r:embed="rId3">
            <a:alphaModFix/>
          </a:blip>
          <a:stretch>
            <a:fillRect/>
          </a:stretch>
        </p:blipFill>
        <p:spPr>
          <a:xfrm>
            <a:off x="9273725" y="3060436"/>
            <a:ext cx="8760725" cy="5601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22" name="Shape 222"/>
        <p:cNvGrpSpPr/>
        <p:nvPr/>
      </p:nvGrpSpPr>
      <p:grpSpPr>
        <a:xfrm>
          <a:off x="0" y="0"/>
          <a:ext cx="0" cy="0"/>
          <a:chOff x="0" y="0"/>
          <a:chExt cx="0" cy="0"/>
        </a:xfrm>
      </p:grpSpPr>
      <p:grpSp>
        <p:nvGrpSpPr>
          <p:cNvPr id="223" name="Google Shape;223;g360acce8e50_0_155"/>
          <p:cNvGrpSpPr/>
          <p:nvPr/>
        </p:nvGrpSpPr>
        <p:grpSpPr>
          <a:xfrm>
            <a:off x="-584801" y="364850"/>
            <a:ext cx="19457594" cy="2036657"/>
            <a:chOff x="0" y="-76200"/>
            <a:chExt cx="5124600" cy="536400"/>
          </a:xfrm>
        </p:grpSpPr>
        <p:sp>
          <p:nvSpPr>
            <p:cNvPr id="224" name="Google Shape;224;g360acce8e50_0_155"/>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25" name="Google Shape;225;g360acce8e50_0_155"/>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6" name="Google Shape;226;g360acce8e50_0_155"/>
          <p:cNvSpPr txBox="1"/>
          <p:nvPr/>
        </p:nvSpPr>
        <p:spPr>
          <a:xfrm>
            <a:off x="-232650" y="863000"/>
            <a:ext cx="18753300" cy="2594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Depuración</a:t>
            </a:r>
            <a:endParaRPr b="1" i="0" sz="7024" u="none" cap="none" strike="noStrike">
              <a:solidFill>
                <a:srgbClr val="FDFDFD"/>
              </a:solidFill>
              <a:latin typeface="Poppins"/>
              <a:ea typeface="Poppins"/>
              <a:cs typeface="Poppins"/>
              <a:sym typeface="Poppins"/>
            </a:endParaRPr>
          </a:p>
          <a:p>
            <a:pPr indent="0" lvl="0" marL="0" marR="0" rtl="0" algn="ctr">
              <a:lnSpc>
                <a:spcPct val="140004"/>
              </a:lnSpc>
              <a:spcBef>
                <a:spcPts val="0"/>
              </a:spcBef>
              <a:spcAft>
                <a:spcPts val="0"/>
              </a:spcAft>
              <a:buClr>
                <a:srgbClr val="000000"/>
              </a:buClr>
              <a:buSzPts val="9224"/>
              <a:buFont typeface="Arial"/>
              <a:buNone/>
            </a:pPr>
            <a:r>
              <a:t/>
            </a:r>
            <a:endParaRPr b="1" i="0" sz="7024" u="none" cap="none" strike="noStrike">
              <a:solidFill>
                <a:srgbClr val="FDFDFD"/>
              </a:solidFill>
              <a:latin typeface="Poppins"/>
              <a:ea typeface="Poppins"/>
              <a:cs typeface="Poppins"/>
              <a:sym typeface="Poppins"/>
            </a:endParaRPr>
          </a:p>
        </p:txBody>
      </p:sp>
      <p:sp>
        <p:nvSpPr>
          <p:cNvPr id="227" name="Google Shape;227;g360acce8e50_0_155"/>
          <p:cNvSpPr txBox="1"/>
          <p:nvPr/>
        </p:nvSpPr>
        <p:spPr>
          <a:xfrm>
            <a:off x="1028700" y="2969250"/>
            <a:ext cx="9276000" cy="5802300"/>
          </a:xfrm>
          <a:prstGeom prst="rect">
            <a:avLst/>
          </a:prstGeom>
          <a:noFill/>
          <a:ln>
            <a:noFill/>
          </a:ln>
        </p:spPr>
        <p:txBody>
          <a:bodyPr anchorCtr="0" anchor="t" bIns="0" lIns="0" spcFirstLastPara="1" rIns="0" wrap="square" tIns="0">
            <a:spAutoFit/>
          </a:bodyPr>
          <a:lstStyle/>
          <a:p>
            <a:pPr indent="0" lvl="0" marL="0" marR="0" rtl="0" algn="just">
              <a:lnSpc>
                <a:spcPct val="140027"/>
              </a:lnSpc>
              <a:spcBef>
                <a:spcPts val="0"/>
              </a:spcBef>
              <a:spcAft>
                <a:spcPts val="0"/>
              </a:spcAft>
              <a:buClr>
                <a:srgbClr val="000000"/>
              </a:buClr>
              <a:buSzPts val="2963"/>
              <a:buFont typeface="Arial"/>
              <a:buNone/>
            </a:pPr>
            <a:r>
              <a:rPr b="0" i="0" lang="en-US" sz="1962" u="none" cap="none" strike="noStrike">
                <a:solidFill>
                  <a:srgbClr val="013362"/>
                </a:solidFill>
                <a:latin typeface="Poppins Light"/>
                <a:ea typeface="Poppins Light"/>
                <a:cs typeface="Poppins Light"/>
                <a:sym typeface="Poppins Light"/>
              </a:rPr>
              <a:t>La depuración es un proceso de software para identificar los errores de codificación que hacen que la aplicación se comporte de forma errática. Al depurar una arquitectura monolítica, el desarrollador puede hacer un seguimiento de las transferencias de datos o examinar el comportamiento del código dentro del mismo entorno de programación. En cambio, identificar los problemas de codificación en una arquitectura de microservicios requiere analizar múltiples servicios individuales acoplados de forma flexible. </a:t>
            </a:r>
            <a:endParaRPr b="0" i="0" sz="1962" u="none" cap="none" strike="noStrike">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t/>
            </a:r>
            <a:endParaRPr b="0" i="0" sz="1962" u="none" cap="none" strike="noStrike">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rPr b="0" i="0" lang="en-US" sz="1962" u="none" cap="none" strike="noStrike">
                <a:solidFill>
                  <a:srgbClr val="013362"/>
                </a:solidFill>
                <a:latin typeface="Poppins Light"/>
                <a:ea typeface="Poppins Light"/>
                <a:cs typeface="Poppins Light"/>
                <a:sym typeface="Poppins Light"/>
              </a:rPr>
              <a:t>Depurar aplicaciones con microservicios puede resultar más difícil ya que varios desarrolladores pueden encargarse de muchos microservicios. Por ejemplo, la depuración puede requerir pruebas coordinadas, debates y comentarios entre los miembros del equipo, lo que supone más tiempo y recursos.</a:t>
            </a:r>
            <a:endParaRPr b="0" i="0" sz="1962" u="none" cap="none" strike="noStrike">
              <a:solidFill>
                <a:srgbClr val="013362"/>
              </a:solidFill>
              <a:latin typeface="Poppins Light"/>
              <a:ea typeface="Poppins Light"/>
              <a:cs typeface="Poppins Light"/>
              <a:sym typeface="Poppins Light"/>
            </a:endParaRPr>
          </a:p>
        </p:txBody>
      </p:sp>
      <p:pic>
        <p:nvPicPr>
          <p:cNvPr id="228" name="Google Shape;228;g360acce8e50_0_155"/>
          <p:cNvPicPr preferRelativeResize="0"/>
          <p:nvPr/>
        </p:nvPicPr>
        <p:blipFill rotWithShape="1">
          <a:blip r:embed="rId3">
            <a:alphaModFix/>
          </a:blip>
          <a:srcRect b="0" l="0" r="0" t="0"/>
          <a:stretch/>
        </p:blipFill>
        <p:spPr>
          <a:xfrm>
            <a:off x="10980425" y="3349536"/>
            <a:ext cx="6726201" cy="5041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32" name="Shape 232"/>
        <p:cNvGrpSpPr/>
        <p:nvPr/>
      </p:nvGrpSpPr>
      <p:grpSpPr>
        <a:xfrm>
          <a:off x="0" y="0"/>
          <a:ext cx="0" cy="0"/>
          <a:chOff x="0" y="0"/>
          <a:chExt cx="0" cy="0"/>
        </a:xfrm>
      </p:grpSpPr>
      <p:grpSp>
        <p:nvGrpSpPr>
          <p:cNvPr id="233" name="Google Shape;233;g360acce8e50_0_166"/>
          <p:cNvGrpSpPr/>
          <p:nvPr/>
        </p:nvGrpSpPr>
        <p:grpSpPr>
          <a:xfrm>
            <a:off x="-584801" y="364850"/>
            <a:ext cx="19457594" cy="2036657"/>
            <a:chOff x="0" y="-76200"/>
            <a:chExt cx="5124600" cy="536400"/>
          </a:xfrm>
        </p:grpSpPr>
        <p:sp>
          <p:nvSpPr>
            <p:cNvPr id="234" name="Google Shape;234;g360acce8e50_0_166"/>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35" name="Google Shape;235;g360acce8e50_0_166"/>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6" name="Google Shape;236;g360acce8e50_0_166"/>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Modificaciones</a:t>
            </a:r>
            <a:endParaRPr b="1" i="0" sz="7024" u="none" cap="none" strike="noStrike">
              <a:solidFill>
                <a:srgbClr val="FDFDFD"/>
              </a:solidFill>
              <a:latin typeface="Poppins"/>
              <a:ea typeface="Poppins"/>
              <a:cs typeface="Poppins"/>
              <a:sym typeface="Poppins"/>
            </a:endParaRPr>
          </a:p>
        </p:txBody>
      </p:sp>
      <p:sp>
        <p:nvSpPr>
          <p:cNvPr id="237" name="Google Shape;237;g360acce8e50_0_166"/>
          <p:cNvSpPr txBox="1"/>
          <p:nvPr/>
        </p:nvSpPr>
        <p:spPr>
          <a:xfrm>
            <a:off x="1028700" y="2969250"/>
            <a:ext cx="9276000" cy="7071600"/>
          </a:xfrm>
          <a:prstGeom prst="rect">
            <a:avLst/>
          </a:prstGeom>
          <a:noFill/>
          <a:ln>
            <a:noFill/>
          </a:ln>
        </p:spPr>
        <p:txBody>
          <a:bodyPr anchorCtr="0" anchor="t" bIns="0" lIns="0" spcFirstLastPara="1" rIns="0" wrap="square" tIns="0">
            <a:spAutoFit/>
          </a:bodyPr>
          <a:lstStyle/>
          <a:p>
            <a:pPr indent="0" lvl="0" marL="0" marR="0" rtl="0" algn="just">
              <a:lnSpc>
                <a:spcPct val="140027"/>
              </a:lnSpc>
              <a:spcBef>
                <a:spcPts val="0"/>
              </a:spcBef>
              <a:spcAft>
                <a:spcPts val="0"/>
              </a:spcAft>
              <a:buClr>
                <a:srgbClr val="000000"/>
              </a:buClr>
              <a:buSzPts val="2963"/>
              <a:buFont typeface="Arial"/>
              <a:buNone/>
            </a:pPr>
            <a:r>
              <a:rPr b="0" i="0" lang="en-US" sz="1962" u="none" cap="none" strike="noStrike">
                <a:solidFill>
                  <a:srgbClr val="013362"/>
                </a:solidFill>
                <a:latin typeface="Poppins Light"/>
                <a:ea typeface="Poppins Light"/>
                <a:cs typeface="Poppins Light"/>
                <a:sym typeface="Poppins Light"/>
              </a:rPr>
              <a:t>Las aplicaciones monolíticas se enfrentan a varios desafíos a medida que escalan. La arquitectura monolítica contiene toda la funcionalidad dentro de un único código base, por lo que toda la aplicación debe escalarse a medida que cambien los requisitos. Por ejemplo, si el rendimiento de la aplicación se deteriora debido a que la función de comunicación experimenta un aumento de tráfico, deberá proporcionar más recursos de computación para que toda la aplicación monolítica responda. Esto supone un malgasto de los recursos, ya que no todas las partes de la aplicación están al máximo de su capacidad.</a:t>
            </a:r>
            <a:endParaRPr b="0" i="0" sz="1962" u="none" cap="none" strike="noStrike">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t/>
            </a:r>
            <a:endParaRPr b="0" i="0" sz="1962" u="none" cap="none" strike="noStrike">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rPr b="0" i="0" lang="en-US" sz="1962" u="none" cap="none" strike="noStrike">
                <a:solidFill>
                  <a:srgbClr val="013362"/>
                </a:solidFill>
                <a:latin typeface="Poppins Light"/>
                <a:ea typeface="Poppins Light"/>
                <a:cs typeface="Poppins Light"/>
                <a:sym typeface="Poppins Light"/>
              </a:rPr>
              <a:t>En cambio, la arquitectura de microservicios es compatible con los sistemas distribuidos. Cada componente de software recibe sus propios recursos de computación en un sistema distribuido. Estos recursos se pueden escalar de forma independiente en función de las capacidades actuales y las demandas previstas. Así, por ejemplo, puede asignar más recursos a un servicio de ubicación geográfica en lugar de a todo el sistema.</a:t>
            </a:r>
            <a:endParaRPr b="0" i="0" sz="1962" u="none" cap="none" strike="noStrike">
              <a:solidFill>
                <a:srgbClr val="013362"/>
              </a:solidFill>
              <a:latin typeface="Poppins Light"/>
              <a:ea typeface="Poppins Light"/>
              <a:cs typeface="Poppins Light"/>
              <a:sym typeface="Poppins Light"/>
            </a:endParaRPr>
          </a:p>
        </p:txBody>
      </p:sp>
      <p:pic>
        <p:nvPicPr>
          <p:cNvPr id="238" name="Google Shape;238;g360acce8e50_0_166"/>
          <p:cNvPicPr preferRelativeResize="0"/>
          <p:nvPr/>
        </p:nvPicPr>
        <p:blipFill rotWithShape="1">
          <a:blip r:embed="rId3">
            <a:alphaModFix/>
          </a:blip>
          <a:srcRect b="0" l="0" r="0" t="0"/>
          <a:stretch/>
        </p:blipFill>
        <p:spPr>
          <a:xfrm>
            <a:off x="10442125" y="3720082"/>
            <a:ext cx="7678500" cy="387764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244" name="Google Shape;244;p6"/>
          <p:cNvSpPr txBox="1"/>
          <p:nvPr/>
        </p:nvSpPr>
        <p:spPr>
          <a:xfrm>
            <a:off x="6122737" y="2425433"/>
            <a:ext cx="6911400" cy="3880500"/>
          </a:xfrm>
          <a:prstGeom prst="rect">
            <a:avLst/>
          </a:prstGeom>
          <a:noFill/>
          <a:ln>
            <a:noFill/>
          </a:ln>
        </p:spPr>
        <p:txBody>
          <a:bodyPr anchorCtr="0" anchor="t" bIns="0" lIns="0" spcFirstLastPara="1" rIns="0" wrap="square" tIns="0">
            <a:spAutoFit/>
          </a:bodyPr>
          <a:lstStyle/>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IaaS</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PaaS</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SaaS</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Despliegue en la nube</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Arquitectura monolítica</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Arquitectura de microservicios</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60acce8e50_0_0"/>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chemeClr val="dk1"/>
              </a:buClr>
              <a:buSzPts val="6900"/>
              <a:buFont typeface="Arial"/>
              <a:buNone/>
            </a:pPr>
            <a:r>
              <a:rPr b="0" i="0" lang="en-US" sz="6900" u="none" cap="none" strike="noStrike">
                <a:solidFill>
                  <a:srgbClr val="131416"/>
                </a:solidFill>
                <a:latin typeface="Impact"/>
                <a:ea typeface="Impact"/>
                <a:cs typeface="Impact"/>
                <a:sym typeface="Impact"/>
              </a:rPr>
              <a:t>Ética Profesional</a:t>
            </a:r>
            <a:endParaRPr b="0" i="0" sz="1400" u="none" cap="none" strike="noStrike">
              <a:solidFill>
                <a:srgbClr val="000000"/>
              </a:solidFill>
              <a:latin typeface="Impact"/>
              <a:ea typeface="Impact"/>
              <a:cs typeface="Impact"/>
              <a:sym typeface="Impact"/>
            </a:endParaRPr>
          </a:p>
        </p:txBody>
      </p:sp>
      <p:sp>
        <p:nvSpPr>
          <p:cNvPr id="250" name="Google Shape;250;g360acce8e50_0_0"/>
          <p:cNvSpPr txBox="1"/>
          <p:nvPr/>
        </p:nvSpPr>
        <p:spPr>
          <a:xfrm>
            <a:off x="1348542" y="2391375"/>
            <a:ext cx="15696900" cy="45597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3151"/>
              <a:buFont typeface="Arial"/>
              <a:buNone/>
            </a:pPr>
            <a:r>
              <a:rPr b="1" i="0" lang="en-US" sz="3151" u="none" cap="none" strike="noStrike">
                <a:solidFill>
                  <a:srgbClr val="131416"/>
                </a:solidFill>
                <a:latin typeface="Arial"/>
                <a:ea typeface="Arial"/>
                <a:cs typeface="Arial"/>
                <a:sym typeface="Arial"/>
              </a:rPr>
              <a:t>Actuando con honestidad académica: </a:t>
            </a:r>
            <a:r>
              <a:rPr b="0" i="0" lang="en-US" sz="3151" u="none" cap="none" strike="noStrike">
                <a:solidFill>
                  <a:srgbClr val="131416"/>
                </a:solidFill>
                <a:latin typeface="Arial"/>
                <a:ea typeface="Arial"/>
                <a:cs typeface="Arial"/>
                <a:sym typeface="Arial"/>
              </a:rPr>
              <a:t>Evitando el plagio, la copia de trabajos, o el uso indebido de información en las entregas. Cada producto del curso debe reflejar esfuerzo y trabajo propio.</a:t>
            </a:r>
            <a:endParaRPr b="0" i="0" sz="3151" u="none" cap="none" strike="noStrike">
              <a:solidFill>
                <a:srgbClr val="131416"/>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3151"/>
              <a:buFont typeface="Arial"/>
              <a:buNone/>
            </a:pPr>
            <a:r>
              <a:t/>
            </a:r>
            <a:endParaRPr b="0" i="0" sz="3151" u="none" cap="none" strike="noStrike">
              <a:solidFill>
                <a:srgbClr val="131416"/>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3151"/>
              <a:buFont typeface="Arial"/>
              <a:buNone/>
            </a:pPr>
            <a:r>
              <a:rPr b="1" i="0" lang="en-US" sz="3151" u="none" cap="none" strike="noStrike">
                <a:solidFill>
                  <a:srgbClr val="131416"/>
                </a:solidFill>
                <a:latin typeface="Arial"/>
                <a:ea typeface="Arial"/>
                <a:cs typeface="Arial"/>
                <a:sym typeface="Arial"/>
              </a:rPr>
              <a:t>Respetando la confidencialidad de los proyectos: </a:t>
            </a:r>
            <a:r>
              <a:rPr b="0" i="0" lang="en-US" sz="3151" u="none" cap="none" strike="noStrike">
                <a:solidFill>
                  <a:srgbClr val="131416"/>
                </a:solidFill>
                <a:latin typeface="Arial"/>
                <a:ea typeface="Arial"/>
                <a:cs typeface="Arial"/>
                <a:sym typeface="Arial"/>
              </a:rPr>
              <a:t>Si se trabaja con casos reales o simulaciones de empresas, se mantiene la discreción sobre los datos y procesos, tal como se haría en un entorno profesional.</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256" name="Google Shape;256;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257" name="Google Shape;257;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58" name="Google Shape;258;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