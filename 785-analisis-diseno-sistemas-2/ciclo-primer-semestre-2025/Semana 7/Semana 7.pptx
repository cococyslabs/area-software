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Poppins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Poppins Black"/>
      <p:bold r:id="rId38"/>
      <p:boldItalic r:id="rId39"/>
    </p:embeddedFont>
    <p:embeddedFont>
      <p:font typeface="Petrona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jUPsKqafKsQX9OsSmWZ2P64Mt9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C86DB3-6573-4F1E-BE39-8429B2406D30}">
  <a:tblStyle styleId="{0CC86DB3-6573-4F1E-BE39-8429B2406D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etrona-regular.fntdata"/><Relationship Id="rId20" Type="http://schemas.openxmlformats.org/officeDocument/2006/relationships/slide" Target="slides/slide14.xml"/><Relationship Id="rId42" Type="http://schemas.openxmlformats.org/officeDocument/2006/relationships/font" Target="fonts/Petrona-italic.fntdata"/><Relationship Id="rId41" Type="http://schemas.openxmlformats.org/officeDocument/2006/relationships/font" Target="fonts/Petrona-bold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Petrona-bold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35" Type="http://schemas.openxmlformats.org/officeDocument/2006/relationships/font" Target="fonts/Inter-bold.fntdata"/><Relationship Id="rId12" Type="http://schemas.openxmlformats.org/officeDocument/2006/relationships/slide" Target="slides/slide6.xml"/><Relationship Id="rId34" Type="http://schemas.openxmlformats.org/officeDocument/2006/relationships/font" Target="fonts/Inter-regular.fntdata"/><Relationship Id="rId15" Type="http://schemas.openxmlformats.org/officeDocument/2006/relationships/slide" Target="slides/slide9.xml"/><Relationship Id="rId37" Type="http://schemas.openxmlformats.org/officeDocument/2006/relationships/font" Target="fonts/Inter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-italic.fntdata"/><Relationship Id="rId17" Type="http://schemas.openxmlformats.org/officeDocument/2006/relationships/slide" Target="slides/slide11.xml"/><Relationship Id="rId39" Type="http://schemas.openxmlformats.org/officeDocument/2006/relationships/font" Target="fonts/PoppinsBlack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Black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0a9317ab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60a9317ab0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0a9317ab0_1_1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60a9317ab0_1_1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60a9317ab0_1_1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0a9317ab0_1_2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60a9317ab0_1_2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60a9317ab0_1_2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a9317ab0_1_3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60a9317ab0_1_3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60a9317ab0_1_3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0a9317ab0_1_5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60a9317ab0_1_5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60a9317ab0_1_5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0a9317ab0_1_59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60a9317ab0_1_59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60a9317ab0_1_59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0a9317ab0_1_7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60a9317ab0_1_7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60a9317ab0_1_7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0a9317ab0_1_11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60a9317ab0_1_11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60a9317ab0_1_11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0a9317ab0_1_13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60a9317ab0_1_13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60a9317ab0_1_13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0a9317ab0_1_156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60a9317ab0_1_156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60a9317ab0_1_156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0a9317ab0_1_176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60a9317ab0_1_176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60a9317ab0_1_176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0a9317ab0_1_19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60a9317ab0_1_19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g360a9317ab0_1_19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0a9317ab0_1_22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60a9317ab0_1_22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60a9317ab0_1_22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0a9317ab0_1_24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60a9317ab0_1_24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g360a9317ab0_1_24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0a9317ab0_1_26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60a9317ab0_1_26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g360a9317ab0_1_26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0a9317ab0_1_28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60a9317ab0_1_28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g360a9317ab0_1_28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0a9317ab0_1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60a9317ab0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0abd790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g360abd790c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g360a9317ab0_1_4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60a9317ab0_1_4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g360a9317ab0_1_4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0a9317ab0_1_4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g360a9317ab0_1_4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60a9317ab0_1_4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g360a9317ab0_1_4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60a9317ab0_1_4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g360a9317ab0_1_4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60a9317ab0_1_4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g360a9317ab0_1_4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60a9317ab0_1_4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g360a9317ab0_1_4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60a9317ab0_1_4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g360a9317ab0_1_4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60a9317ab0_1_4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g360a9317ab0_1_4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60a9317ab0_1_4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g360a9317ab0_1_4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60a9317ab0_1_4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g360a9317ab0_1_4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60a9317ab0_1_49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g360a9317ab0_1_4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60a9317ab0_1_49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g360a9317ab0_1_4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60a9317ab0_1_49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g360a9317ab0_1_5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60a9317ab0_1_50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g360a9317ab0_1_5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60a9317ab0_1_50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19.png"/><Relationship Id="rId7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youtube.com/watch?v=xm1psJEFFIY" TargetMode="External"/><Relationship Id="rId4" Type="http://schemas.openxmlformats.org/officeDocument/2006/relationships/image" Target="../media/image2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DevOps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451252" y="3172075"/>
            <a:ext cx="15385500" cy="5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la filosofía y prácticas de DevOps para integrar de forma eficiente los procesos de desarrollo, pruebas y operaciones mediante automatización, mejora continua y colaboración entre equipos.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g360a9317ab0_1_2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{0CC86DB3-6573-4F1E-BE39-8429B2406D30}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CI/CD con GITLAB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b="1" sz="11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Teoria DEVOPS</a:t>
                      </a:r>
                      <a:endParaRPr sz="11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Dudas Fase 3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4" name="Google Shape;154;g360a9317ab0_1_2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55" name="Google Shape;155;g360a9317ab0_1_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56" name="Google Shape;156;g360a9317ab0_1_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60a9317ab0_1_2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60a9317ab0_1_2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60a9317ab0_1_2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g360a9317ab0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84509" y="3560118"/>
            <a:ext cx="6148983" cy="316676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60a9317ab0_1_12"/>
          <p:cNvSpPr/>
          <p:nvPr/>
        </p:nvSpPr>
        <p:spPr>
          <a:xfrm>
            <a:off x="992238" y="3200995"/>
            <a:ext cx="94455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0"/>
              <a:buFont typeface="Petrona"/>
              <a:buNone/>
            </a:pPr>
            <a:r>
              <a:rPr b="1" i="0" lang="en-US" sz="8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El Ciclo de DevOps</a:t>
            </a:r>
            <a:endParaRPr b="0" i="0" sz="8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60a9317ab0_1_12"/>
          <p:cNvSpPr/>
          <p:nvPr/>
        </p:nvSpPr>
        <p:spPr>
          <a:xfrm>
            <a:off x="992238" y="4909989"/>
            <a:ext cx="9445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 este panorama, el ciclo de DevOps abarca un enfoque integral para el desarrollo y despliegue de aplicaciones, impulsado por la colaboración, la automatización y la mejora continua.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60a9317ab0_1_12"/>
          <p:cNvSpPr/>
          <p:nvPr/>
        </p:nvSpPr>
        <p:spPr>
          <a:xfrm>
            <a:off x="992238" y="6610945"/>
            <a:ext cx="453900" cy="45390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9" name="Google Shape;169;g360a9317ab0_1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763" y="6620470"/>
            <a:ext cx="434579" cy="43457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60a9317ab0_1_12"/>
          <p:cNvSpPr/>
          <p:nvPr/>
        </p:nvSpPr>
        <p:spPr>
          <a:xfrm>
            <a:off x="1587550" y="6589811"/>
            <a:ext cx="5579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by Luis Angel Barrera Velásquez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g360a9317ab0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60a9317ab0_1_22"/>
          <p:cNvSpPr/>
          <p:nvPr/>
        </p:nvSpPr>
        <p:spPr>
          <a:xfrm>
            <a:off x="992238" y="1061294"/>
            <a:ext cx="74427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¿Qué es DevOps?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60a9317ab0_1_22"/>
          <p:cNvSpPr/>
          <p:nvPr/>
        </p:nvSpPr>
        <p:spPr>
          <a:xfrm>
            <a:off x="992238" y="2416820"/>
            <a:ext cx="4581000" cy="3943200"/>
          </a:xfrm>
          <a:prstGeom prst="roundRect">
            <a:avLst>
              <a:gd fmla="val 302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0a9317ab0_1_22"/>
          <p:cNvSpPr/>
          <p:nvPr/>
        </p:nvSpPr>
        <p:spPr>
          <a:xfrm>
            <a:off x="1285280" y="2709863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Filosofía y Cultura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60a9317ab0_1_22"/>
          <p:cNvSpPr/>
          <p:nvPr/>
        </p:nvSpPr>
        <p:spPr>
          <a:xfrm>
            <a:off x="1285280" y="3345061"/>
            <a:ext cx="3994800" cy="27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DevOps es una filosofía que promueve la colaboración entre equipos de desarrollo y operaciones para agilizar el proceso de entrega de software.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60a9317ab0_1_22"/>
          <p:cNvSpPr/>
          <p:nvPr/>
        </p:nvSpPr>
        <p:spPr>
          <a:xfrm>
            <a:off x="5856834" y="2416820"/>
            <a:ext cx="4581000" cy="3943200"/>
          </a:xfrm>
          <a:prstGeom prst="roundRect">
            <a:avLst>
              <a:gd fmla="val 302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a9317ab0_1_22"/>
          <p:cNvSpPr/>
          <p:nvPr/>
        </p:nvSpPr>
        <p:spPr>
          <a:xfrm>
            <a:off x="6149876" y="2709863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Automatización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60a9317ab0_1_22"/>
          <p:cNvSpPr/>
          <p:nvPr/>
        </p:nvSpPr>
        <p:spPr>
          <a:xfrm>
            <a:off x="6149876" y="3345061"/>
            <a:ext cx="3994800" cy="27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DevOps se basa en la automatización de tareas manuales, como la compilación, las pruebas y el despliegue, para acelerar el ciclo de desarrollo.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0a9317ab0_1_22"/>
          <p:cNvSpPr/>
          <p:nvPr/>
        </p:nvSpPr>
        <p:spPr>
          <a:xfrm>
            <a:off x="992238" y="6643390"/>
            <a:ext cx="9445500" cy="2582400"/>
          </a:xfrm>
          <a:prstGeom prst="roundRect">
            <a:avLst>
              <a:gd fmla="val 461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0a9317ab0_1_22"/>
          <p:cNvSpPr/>
          <p:nvPr/>
        </p:nvSpPr>
        <p:spPr>
          <a:xfrm>
            <a:off x="1285280" y="6936433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Mejora Continua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0a9317ab0_1_22"/>
          <p:cNvSpPr/>
          <p:nvPr/>
        </p:nvSpPr>
        <p:spPr>
          <a:xfrm>
            <a:off x="1285280" y="7571631"/>
            <a:ext cx="88593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DevOps se enfoca en la retroalimentación constante y la iteración rápida para identificar y solucionar problemas de manera oportuna.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0a9317ab0_1_37"/>
          <p:cNvSpPr/>
          <p:nvPr/>
        </p:nvSpPr>
        <p:spPr>
          <a:xfrm>
            <a:off x="992238" y="1174105"/>
            <a:ext cx="74427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Beneficios de DevOps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3" name="Google Shape;193;g360a9317ab0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238" y="2671465"/>
            <a:ext cx="5150941" cy="3183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60a9317ab0_1_37"/>
          <p:cNvSpPr/>
          <p:nvPr/>
        </p:nvSpPr>
        <p:spPr>
          <a:xfrm>
            <a:off x="992238" y="6209259"/>
            <a:ext cx="4259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Aumento de la Eficiencia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0a9317ab0_1_37"/>
          <p:cNvSpPr/>
          <p:nvPr/>
        </p:nvSpPr>
        <p:spPr>
          <a:xfrm>
            <a:off x="992238" y="6844456"/>
            <a:ext cx="51510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integración de las fases de desarrollo y operaciones mejora la eficiencia de los procesos, reduciendo los cuellos de botella y acelerando el tiempo de entrega.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6" name="Google Shape;196;g360a9317ab0_1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8380" y="2671465"/>
            <a:ext cx="5151090" cy="31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60a9317ab0_1_37"/>
          <p:cNvSpPr/>
          <p:nvPr/>
        </p:nvSpPr>
        <p:spPr>
          <a:xfrm>
            <a:off x="6568380" y="6209408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Mejora de la Calidad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60a9317ab0_1_37"/>
          <p:cNvSpPr/>
          <p:nvPr/>
        </p:nvSpPr>
        <p:spPr>
          <a:xfrm>
            <a:off x="6568380" y="6844605"/>
            <a:ext cx="51510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enfoque colaborativo de DevOps y las prácticas de pruebas continuas garantizan una mayor calidad del software, reduciendo los errores y mejorando la estabilidad.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g360a9317ab0_1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44672" y="2671465"/>
            <a:ext cx="5150941" cy="318343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60a9317ab0_1_37"/>
          <p:cNvSpPr/>
          <p:nvPr/>
        </p:nvSpPr>
        <p:spPr>
          <a:xfrm>
            <a:off x="12144673" y="6209259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Mayor Agilidad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60a9317ab0_1_37"/>
          <p:cNvSpPr/>
          <p:nvPr/>
        </p:nvSpPr>
        <p:spPr>
          <a:xfrm>
            <a:off x="12144673" y="6844456"/>
            <a:ext cx="51510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metodología ágil y la automatización de procesos clave permiten una mayor flexibilidad y capacidad de respuesta a los cambios del mercado.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0a9317ab0_1_51"/>
          <p:cNvSpPr/>
          <p:nvPr/>
        </p:nvSpPr>
        <p:spPr>
          <a:xfrm>
            <a:off x="992238" y="1219646"/>
            <a:ext cx="74427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Cultura DevOps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0a9317ab0_1_51"/>
          <p:cNvSpPr/>
          <p:nvPr/>
        </p:nvSpPr>
        <p:spPr>
          <a:xfrm>
            <a:off x="992238" y="2830265"/>
            <a:ext cx="78060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cultura DevOps se basa en la colaboración, comunicación y confianza entre los equipos de desarrollo y operaciones. Se trata de una mentalidad compartida que fomenta la innovación, la mejora continua y la entrega de valor al cliente de manera rápida y eficiente.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0a9317ab0_1_51"/>
          <p:cNvSpPr/>
          <p:nvPr/>
        </p:nvSpPr>
        <p:spPr>
          <a:xfrm>
            <a:off x="992238" y="5353496"/>
            <a:ext cx="78060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Esto se logra mediante la adopción de prácticas como la integración continua, el despliegue continuo y el monitoreo en tiempo real. Además, se enfatiza la automatización de tareas repetitivas y la eliminación de silos organizacionales.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g360a9317ab0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9401" y="2894111"/>
            <a:ext cx="7805888" cy="585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g360a9317ab0_1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354404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60a9317ab0_1_59"/>
          <p:cNvSpPr/>
          <p:nvPr/>
        </p:nvSpPr>
        <p:spPr>
          <a:xfrm>
            <a:off x="992238" y="4516785"/>
            <a:ext cx="92022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Principios clave de DevOps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8" name="Google Shape;218;g360a9317ab0_1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238" y="5872311"/>
            <a:ext cx="708720" cy="7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60a9317ab0_1_59"/>
          <p:cNvSpPr/>
          <p:nvPr/>
        </p:nvSpPr>
        <p:spPr>
          <a:xfrm>
            <a:off x="992238" y="6864549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Colaboración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60a9317ab0_1_59"/>
          <p:cNvSpPr/>
          <p:nvPr/>
        </p:nvSpPr>
        <p:spPr>
          <a:xfrm>
            <a:off x="992238" y="7499748"/>
            <a:ext cx="37569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Fomentar una cultura de trabajo en equipo y comunicación abierta entre todos los involucrados.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1" name="Google Shape;221;g360a9317ab0_1_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308" y="5872311"/>
            <a:ext cx="708720" cy="7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60a9317ab0_1_59"/>
          <p:cNvSpPr/>
          <p:nvPr/>
        </p:nvSpPr>
        <p:spPr>
          <a:xfrm>
            <a:off x="5174308" y="6864549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Automatización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60a9317ab0_1_59"/>
          <p:cNvSpPr/>
          <p:nvPr/>
        </p:nvSpPr>
        <p:spPr>
          <a:xfrm>
            <a:off x="5174308" y="7499748"/>
            <a:ext cx="37572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Reducir tareas manuales y repetitivas mediante la automatización de procesos clave.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4" name="Google Shape;224;g360a9317ab0_1_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6526" y="5872311"/>
            <a:ext cx="708720" cy="7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60a9317ab0_1_59"/>
          <p:cNvSpPr/>
          <p:nvPr/>
        </p:nvSpPr>
        <p:spPr>
          <a:xfrm>
            <a:off x="9356526" y="6864549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Mejora continua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0a9317ab0_1_59"/>
          <p:cNvSpPr/>
          <p:nvPr/>
        </p:nvSpPr>
        <p:spPr>
          <a:xfrm>
            <a:off x="9356526" y="7499748"/>
            <a:ext cx="37572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Implementar ciclos de retroalimentación y aprendizaje para identificar oportunidades de mejora.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7" name="Google Shape;227;g360a9317ab0_1_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38746" y="5872311"/>
            <a:ext cx="708720" cy="7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60a9317ab0_1_59"/>
          <p:cNvSpPr/>
          <p:nvPr/>
        </p:nvSpPr>
        <p:spPr>
          <a:xfrm>
            <a:off x="13538746" y="6864549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Agilidad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60a9317ab0_1_59"/>
          <p:cNvSpPr/>
          <p:nvPr/>
        </p:nvSpPr>
        <p:spPr>
          <a:xfrm>
            <a:off x="13538746" y="7499748"/>
            <a:ext cx="37572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Adoptar enfoques ágiles que permitan adaptarse rápidamente a los cambios y necesidades del negocio.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0a9317ab0_1_77"/>
          <p:cNvSpPr/>
          <p:nvPr/>
        </p:nvSpPr>
        <p:spPr>
          <a:xfrm>
            <a:off x="777925" y="611238"/>
            <a:ext cx="71025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Petrona"/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Etapas del ciclo de DevOps</a:t>
            </a:r>
            <a:endParaRPr b="0" i="0" sz="4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60a9317ab0_1_77"/>
          <p:cNvSpPr/>
          <p:nvPr/>
        </p:nvSpPr>
        <p:spPr>
          <a:xfrm>
            <a:off x="9129713" y="1785194"/>
            <a:ext cx="28500" cy="78909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60a9317ab0_1_77"/>
          <p:cNvSpPr/>
          <p:nvPr/>
        </p:nvSpPr>
        <p:spPr>
          <a:xfrm>
            <a:off x="8144619" y="2270969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60a9317ab0_1_77"/>
          <p:cNvSpPr/>
          <p:nvPr/>
        </p:nvSpPr>
        <p:spPr>
          <a:xfrm>
            <a:off x="8893969" y="2035225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60a9317ab0_1_77"/>
          <p:cNvSpPr/>
          <p:nvPr/>
        </p:nvSpPr>
        <p:spPr>
          <a:xfrm>
            <a:off x="9068991" y="2110234"/>
            <a:ext cx="150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0a9317ab0_1_77"/>
          <p:cNvSpPr/>
          <p:nvPr/>
        </p:nvSpPr>
        <p:spPr>
          <a:xfrm>
            <a:off x="5004197" y="2007394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Planificación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60a9317ab0_1_77"/>
          <p:cNvSpPr/>
          <p:nvPr/>
        </p:nvSpPr>
        <p:spPr>
          <a:xfrm>
            <a:off x="777925" y="2505373"/>
            <a:ext cx="7143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Definir los objetivos, requisitos y estrategia del proyecto.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0a9317ab0_1_77"/>
          <p:cNvSpPr/>
          <p:nvPr/>
        </p:nvSpPr>
        <p:spPr>
          <a:xfrm>
            <a:off x="9365456" y="3382268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60a9317ab0_1_77"/>
          <p:cNvSpPr/>
          <p:nvPr/>
        </p:nvSpPr>
        <p:spPr>
          <a:xfrm>
            <a:off x="8893969" y="3146524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60a9317ab0_1_77"/>
          <p:cNvSpPr/>
          <p:nvPr/>
        </p:nvSpPr>
        <p:spPr>
          <a:xfrm>
            <a:off x="9044731" y="3221534"/>
            <a:ext cx="198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60a9317ab0_1_77"/>
          <p:cNvSpPr/>
          <p:nvPr/>
        </p:nvSpPr>
        <p:spPr>
          <a:xfrm>
            <a:off x="10366474" y="3118694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Desarrollo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60a9317ab0_1_77"/>
          <p:cNvSpPr/>
          <p:nvPr/>
        </p:nvSpPr>
        <p:spPr>
          <a:xfrm>
            <a:off x="10366474" y="3616673"/>
            <a:ext cx="7143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Codificar las funcionalidades de manera iterativa y colaborativa.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0a9317ab0_1_77"/>
          <p:cNvSpPr/>
          <p:nvPr/>
        </p:nvSpPr>
        <p:spPr>
          <a:xfrm>
            <a:off x="8144619" y="4382393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0a9317ab0_1_77"/>
          <p:cNvSpPr/>
          <p:nvPr/>
        </p:nvSpPr>
        <p:spPr>
          <a:xfrm>
            <a:off x="8893969" y="4146649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0a9317ab0_1_77"/>
          <p:cNvSpPr/>
          <p:nvPr/>
        </p:nvSpPr>
        <p:spPr>
          <a:xfrm>
            <a:off x="9044880" y="4221659"/>
            <a:ext cx="198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0a9317ab0_1_77"/>
          <p:cNvSpPr/>
          <p:nvPr/>
        </p:nvSpPr>
        <p:spPr>
          <a:xfrm>
            <a:off x="5004197" y="4118819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Construcción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60a9317ab0_1_77"/>
          <p:cNvSpPr/>
          <p:nvPr/>
        </p:nvSpPr>
        <p:spPr>
          <a:xfrm>
            <a:off x="777925" y="4616798"/>
            <a:ext cx="7143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Automatizar la compilación e integración continua del código.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60a9317ab0_1_77"/>
          <p:cNvSpPr/>
          <p:nvPr/>
        </p:nvSpPr>
        <p:spPr>
          <a:xfrm>
            <a:off x="9365456" y="5382666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60a9317ab0_1_77"/>
          <p:cNvSpPr/>
          <p:nvPr/>
        </p:nvSpPr>
        <p:spPr>
          <a:xfrm>
            <a:off x="8893969" y="5146923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60a9317ab0_1_77"/>
          <p:cNvSpPr/>
          <p:nvPr/>
        </p:nvSpPr>
        <p:spPr>
          <a:xfrm>
            <a:off x="9049643" y="5221933"/>
            <a:ext cx="188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60a9317ab0_1_77"/>
          <p:cNvSpPr/>
          <p:nvPr/>
        </p:nvSpPr>
        <p:spPr>
          <a:xfrm>
            <a:off x="10366474" y="5119093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Pruebas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60a9317ab0_1_77"/>
          <p:cNvSpPr/>
          <p:nvPr/>
        </p:nvSpPr>
        <p:spPr>
          <a:xfrm>
            <a:off x="10366474" y="5617071"/>
            <a:ext cx="7143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Validar la calidad y el rendimiento del software mediante pruebas automatizadas.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60a9317ab0_1_77"/>
          <p:cNvSpPr/>
          <p:nvPr/>
        </p:nvSpPr>
        <p:spPr>
          <a:xfrm>
            <a:off x="8144619" y="6382941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60a9317ab0_1_77"/>
          <p:cNvSpPr/>
          <p:nvPr/>
        </p:nvSpPr>
        <p:spPr>
          <a:xfrm>
            <a:off x="8893969" y="6147196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60a9317ab0_1_77"/>
          <p:cNvSpPr/>
          <p:nvPr/>
        </p:nvSpPr>
        <p:spPr>
          <a:xfrm>
            <a:off x="9044583" y="6222206"/>
            <a:ext cx="198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60a9317ab0_1_77"/>
          <p:cNvSpPr/>
          <p:nvPr/>
        </p:nvSpPr>
        <p:spPr>
          <a:xfrm>
            <a:off x="5004197" y="6119366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Despliegue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60a9317ab0_1_77"/>
          <p:cNvSpPr/>
          <p:nvPr/>
        </p:nvSpPr>
        <p:spPr>
          <a:xfrm>
            <a:off x="777925" y="6617345"/>
            <a:ext cx="7143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Entregar e implementar el software de manera automatizada y frecuente.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0a9317ab0_1_77"/>
          <p:cNvSpPr/>
          <p:nvPr/>
        </p:nvSpPr>
        <p:spPr>
          <a:xfrm>
            <a:off x="9365456" y="7383215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60a9317ab0_1_77"/>
          <p:cNvSpPr/>
          <p:nvPr/>
        </p:nvSpPr>
        <p:spPr>
          <a:xfrm>
            <a:off x="8893969" y="7147471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60a9317ab0_1_77"/>
          <p:cNvSpPr/>
          <p:nvPr/>
        </p:nvSpPr>
        <p:spPr>
          <a:xfrm>
            <a:off x="9037885" y="7222480"/>
            <a:ext cx="212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60a9317ab0_1_77"/>
          <p:cNvSpPr/>
          <p:nvPr/>
        </p:nvSpPr>
        <p:spPr>
          <a:xfrm>
            <a:off x="10366474" y="7119640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Operaciones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60a9317ab0_1_77"/>
          <p:cNvSpPr/>
          <p:nvPr/>
        </p:nvSpPr>
        <p:spPr>
          <a:xfrm>
            <a:off x="10366474" y="7617619"/>
            <a:ext cx="7143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Monitorear y mantener el software en producción.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60a9317ab0_1_77"/>
          <p:cNvSpPr/>
          <p:nvPr/>
        </p:nvSpPr>
        <p:spPr>
          <a:xfrm>
            <a:off x="8144619" y="8383489"/>
            <a:ext cx="777900" cy="28500"/>
          </a:xfrm>
          <a:prstGeom prst="roundRect">
            <a:avLst>
              <a:gd fmla="val 32671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60a9317ab0_1_77"/>
          <p:cNvSpPr/>
          <p:nvPr/>
        </p:nvSpPr>
        <p:spPr>
          <a:xfrm>
            <a:off x="8893969" y="8147745"/>
            <a:ext cx="500100" cy="500100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0a9317ab0_1_77"/>
          <p:cNvSpPr/>
          <p:nvPr/>
        </p:nvSpPr>
        <p:spPr>
          <a:xfrm>
            <a:off x="9057085" y="8222754"/>
            <a:ext cx="173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7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60a9317ab0_1_77"/>
          <p:cNvSpPr/>
          <p:nvPr/>
        </p:nvSpPr>
        <p:spPr>
          <a:xfrm>
            <a:off x="5004197" y="8119914"/>
            <a:ext cx="2917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Retroalimentación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0a9317ab0_1_77"/>
          <p:cNvSpPr/>
          <p:nvPr/>
        </p:nvSpPr>
        <p:spPr>
          <a:xfrm>
            <a:off x="777925" y="8617893"/>
            <a:ext cx="7143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Analizar datos e información para mejorar continuamente el proceso.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0a9317ab0_1_118"/>
          <p:cNvSpPr/>
          <p:nvPr/>
        </p:nvSpPr>
        <p:spPr>
          <a:xfrm>
            <a:off x="992238" y="1000274"/>
            <a:ext cx="74427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Planificación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8" name="Google Shape;278;g360a9317ab0_1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2935" y="2497634"/>
            <a:ext cx="2690069" cy="1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60a9317ab0_1_118"/>
          <p:cNvSpPr/>
          <p:nvPr/>
        </p:nvSpPr>
        <p:spPr>
          <a:xfrm>
            <a:off x="4992141" y="3247876"/>
            <a:ext cx="151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60a9317ab0_1_118"/>
          <p:cNvSpPr/>
          <p:nvPr/>
        </p:nvSpPr>
        <p:spPr>
          <a:xfrm>
            <a:off x="6696521" y="2781151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Definir objetivos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60a9317ab0_1_118"/>
          <p:cNvSpPr/>
          <p:nvPr/>
        </p:nvSpPr>
        <p:spPr>
          <a:xfrm>
            <a:off x="6696521" y="3416350"/>
            <a:ext cx="7062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Establecer metas claras y medibles para el proyecto.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60a9317ab0_1_118"/>
          <p:cNvSpPr/>
          <p:nvPr/>
        </p:nvSpPr>
        <p:spPr>
          <a:xfrm>
            <a:off x="6483846" y="4169866"/>
            <a:ext cx="10741200" cy="19200"/>
          </a:xfrm>
          <a:prstGeom prst="roundRect">
            <a:avLst>
              <a:gd fmla="val 625116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3" name="Google Shape;283;g360a9317ab0_1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976" y="4224338"/>
            <a:ext cx="5380136" cy="1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60a9317ab0_1_118"/>
          <p:cNvSpPr/>
          <p:nvPr/>
        </p:nvSpPr>
        <p:spPr>
          <a:xfrm>
            <a:off x="4967436" y="4768751"/>
            <a:ext cx="201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60a9317ab0_1_118"/>
          <p:cNvSpPr/>
          <p:nvPr/>
        </p:nvSpPr>
        <p:spPr>
          <a:xfrm>
            <a:off x="8041630" y="4507855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Analizar requisitos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60a9317ab0_1_118"/>
          <p:cNvSpPr/>
          <p:nvPr/>
        </p:nvSpPr>
        <p:spPr>
          <a:xfrm>
            <a:off x="8041630" y="5143054"/>
            <a:ext cx="7786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Identificar las necesidades y expectativas de los usuarios.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60a9317ab0_1_118"/>
          <p:cNvSpPr/>
          <p:nvPr/>
        </p:nvSpPr>
        <p:spPr>
          <a:xfrm>
            <a:off x="7828955" y="5896570"/>
            <a:ext cx="9396000" cy="19200"/>
          </a:xfrm>
          <a:prstGeom prst="roundRect">
            <a:avLst>
              <a:gd fmla="val 625116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8" name="Google Shape;288;g360a9317ab0_1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867" y="5951041"/>
            <a:ext cx="8070205" cy="1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60a9317ab0_1_118"/>
          <p:cNvSpPr/>
          <p:nvPr/>
        </p:nvSpPr>
        <p:spPr>
          <a:xfrm>
            <a:off x="4967585" y="6495455"/>
            <a:ext cx="20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60a9317ab0_1_118"/>
          <p:cNvSpPr/>
          <p:nvPr/>
        </p:nvSpPr>
        <p:spPr>
          <a:xfrm>
            <a:off x="9386590" y="6234559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Diseñar soluciones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60a9317ab0_1_118"/>
          <p:cNvSpPr/>
          <p:nvPr/>
        </p:nvSpPr>
        <p:spPr>
          <a:xfrm>
            <a:off x="9386590" y="6869758"/>
            <a:ext cx="7293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Crear un plan detallado para cumplir con los objetivos.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60a9317ab0_1_118"/>
          <p:cNvSpPr/>
          <p:nvPr/>
        </p:nvSpPr>
        <p:spPr>
          <a:xfrm>
            <a:off x="992238" y="7925841"/>
            <a:ext cx="16303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fase de planificación es fundamental para establecer una sólida base y asegurar el éxito del proyecto. Al definir objetivos claros, analizar los requisitos y diseñar soluciones efectivas, se sientan las bases para un desarrollo y despliegue eficientes.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8" name="Google Shape;298;g360a9317ab0_1_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893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60a9317ab0_1_138"/>
          <p:cNvSpPr/>
          <p:nvPr/>
        </p:nvSpPr>
        <p:spPr>
          <a:xfrm>
            <a:off x="7709744" y="669131"/>
            <a:ext cx="6388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Petrona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Desarrollo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0" name="Google Shape;300;g360a9317ab0_1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9744" y="1832521"/>
            <a:ext cx="1216819" cy="194682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60a9317ab0_1_138"/>
          <p:cNvSpPr/>
          <p:nvPr/>
        </p:nvSpPr>
        <p:spPr>
          <a:xfrm>
            <a:off x="9291489" y="2075855"/>
            <a:ext cx="32397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Análisis de Requisitos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60a9317ab0_1_138"/>
          <p:cNvSpPr/>
          <p:nvPr/>
        </p:nvSpPr>
        <p:spPr>
          <a:xfrm>
            <a:off x="9291489" y="2621013"/>
            <a:ext cx="81447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Comprensión detallada de las necesidades del cliente y definición de los objetivos del proyecto.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3" name="Google Shape;303;g360a9317ab0_1_1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9744" y="3779341"/>
            <a:ext cx="1216819" cy="194682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60a9317ab0_1_138"/>
          <p:cNvSpPr/>
          <p:nvPr/>
        </p:nvSpPr>
        <p:spPr>
          <a:xfrm>
            <a:off x="9291489" y="4022675"/>
            <a:ext cx="31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Diseño de Solución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60a9317ab0_1_138"/>
          <p:cNvSpPr/>
          <p:nvPr/>
        </p:nvSpPr>
        <p:spPr>
          <a:xfrm>
            <a:off x="9291489" y="4567833"/>
            <a:ext cx="81447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Creación de un plan arquitectónico que aborde los requisitos del proyecto de manera efectiva.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6" name="Google Shape;306;g360a9317ab0_1_1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9744" y="5726163"/>
            <a:ext cx="1216819" cy="194682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60a9317ab0_1_138"/>
          <p:cNvSpPr/>
          <p:nvPr/>
        </p:nvSpPr>
        <p:spPr>
          <a:xfrm>
            <a:off x="9291489" y="5969496"/>
            <a:ext cx="41463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Codificación y Colaboración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60a9317ab0_1_138"/>
          <p:cNvSpPr/>
          <p:nvPr/>
        </p:nvSpPr>
        <p:spPr>
          <a:xfrm>
            <a:off x="9291489" y="6514654"/>
            <a:ext cx="81447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Desarrollo del código fuente en un entorno de trabajo colaborativo, utilizando prácticas ágiles.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9" name="Google Shape;309;g360a9317ab0_1_1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9744" y="7672983"/>
            <a:ext cx="1216819" cy="194682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60a9317ab0_1_138"/>
          <p:cNvSpPr/>
          <p:nvPr/>
        </p:nvSpPr>
        <p:spPr>
          <a:xfrm>
            <a:off x="9291489" y="7916316"/>
            <a:ext cx="35835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Revisión y Refinamiento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60a9317ab0_1_138"/>
          <p:cNvSpPr/>
          <p:nvPr/>
        </p:nvSpPr>
        <p:spPr>
          <a:xfrm>
            <a:off x="9291489" y="8461474"/>
            <a:ext cx="81447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Pruebas exhaustivas y ajustes iterativos para garantizar la calidad y el cumplimiento de los requisitos.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0a9317ab0_1_156"/>
          <p:cNvSpPr/>
          <p:nvPr/>
        </p:nvSpPr>
        <p:spPr>
          <a:xfrm>
            <a:off x="977801" y="768251"/>
            <a:ext cx="73344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Construcción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60a9317ab0_1_156"/>
          <p:cNvSpPr/>
          <p:nvPr/>
        </p:nvSpPr>
        <p:spPr>
          <a:xfrm>
            <a:off x="977801" y="2243732"/>
            <a:ext cx="2721900" cy="16317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60a9317ab0_1_156"/>
          <p:cNvSpPr/>
          <p:nvPr/>
        </p:nvSpPr>
        <p:spPr>
          <a:xfrm>
            <a:off x="1266676" y="2780109"/>
            <a:ext cx="149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7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60a9317ab0_1_156"/>
          <p:cNvSpPr/>
          <p:nvPr/>
        </p:nvSpPr>
        <p:spPr>
          <a:xfrm>
            <a:off x="3979069" y="2523084"/>
            <a:ext cx="366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Compilación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60a9317ab0_1_156"/>
          <p:cNvSpPr/>
          <p:nvPr/>
        </p:nvSpPr>
        <p:spPr>
          <a:xfrm>
            <a:off x="3979077" y="3149050"/>
            <a:ext cx="113766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Convertir el código fuente en un ejecutable o paquete distribuible.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60a9317ab0_1_156"/>
          <p:cNvSpPr/>
          <p:nvPr/>
        </p:nvSpPr>
        <p:spPr>
          <a:xfrm>
            <a:off x="3839319" y="3856285"/>
            <a:ext cx="13331400" cy="19200"/>
          </a:xfrm>
          <a:prstGeom prst="roundRect">
            <a:avLst>
              <a:gd fmla="val 615990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60a9317ab0_1_156"/>
          <p:cNvSpPr/>
          <p:nvPr/>
        </p:nvSpPr>
        <p:spPr>
          <a:xfrm>
            <a:off x="977801" y="4014936"/>
            <a:ext cx="5443800" cy="16317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60a9317ab0_1_156"/>
          <p:cNvSpPr/>
          <p:nvPr/>
        </p:nvSpPr>
        <p:spPr>
          <a:xfrm>
            <a:off x="1266676" y="4551313"/>
            <a:ext cx="198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7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60a9317ab0_1_156"/>
          <p:cNvSpPr/>
          <p:nvPr/>
        </p:nvSpPr>
        <p:spPr>
          <a:xfrm>
            <a:off x="6701135" y="4294286"/>
            <a:ext cx="366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Empaquetado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60a9317ab0_1_156"/>
          <p:cNvSpPr/>
          <p:nvPr/>
        </p:nvSpPr>
        <p:spPr>
          <a:xfrm>
            <a:off x="6701123" y="4996450"/>
            <a:ext cx="9521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Empaquetar el software en un formato portable y distributable.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60a9317ab0_1_156"/>
          <p:cNvSpPr/>
          <p:nvPr/>
        </p:nvSpPr>
        <p:spPr>
          <a:xfrm>
            <a:off x="6561385" y="5627489"/>
            <a:ext cx="10609200" cy="19200"/>
          </a:xfrm>
          <a:prstGeom prst="roundRect">
            <a:avLst>
              <a:gd fmla="val 615990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60a9317ab0_1_156"/>
          <p:cNvSpPr/>
          <p:nvPr/>
        </p:nvSpPr>
        <p:spPr>
          <a:xfrm>
            <a:off x="977801" y="5786140"/>
            <a:ext cx="8166300" cy="2078700"/>
          </a:xfrm>
          <a:prstGeom prst="roundRect">
            <a:avLst>
              <a:gd fmla="val 5646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60a9317ab0_1_156"/>
          <p:cNvSpPr/>
          <p:nvPr/>
        </p:nvSpPr>
        <p:spPr>
          <a:xfrm>
            <a:off x="1266676" y="6545908"/>
            <a:ext cx="197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7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60a9317ab0_1_156"/>
          <p:cNvSpPr/>
          <p:nvPr/>
        </p:nvSpPr>
        <p:spPr>
          <a:xfrm>
            <a:off x="9423350" y="6065490"/>
            <a:ext cx="366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Publicación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60a9317ab0_1_156"/>
          <p:cNvSpPr/>
          <p:nvPr/>
        </p:nvSpPr>
        <p:spPr>
          <a:xfrm>
            <a:off x="9423350" y="6691461"/>
            <a:ext cx="7607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Compartir el artefacto construido con los sistemas de despliegue.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60a9317ab0_1_156"/>
          <p:cNvSpPr/>
          <p:nvPr/>
        </p:nvSpPr>
        <p:spPr>
          <a:xfrm>
            <a:off x="977801" y="8178850"/>
            <a:ext cx="163323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etapa de construcción involucra la compilación del código fuente, el empaquetado del software y la publicación de los artefactos en los sistemas de despliegue. Este proceso automatizado y fiable es clave para asegurar la calidad y la entrega continua del producto final.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8" name="Google Shape;338;g360a9317ab0_1_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60a9317ab0_1_176"/>
          <p:cNvSpPr/>
          <p:nvPr/>
        </p:nvSpPr>
        <p:spPr>
          <a:xfrm>
            <a:off x="7771656" y="718840"/>
            <a:ext cx="68529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etrona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Pruebas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60a9317ab0_1_176"/>
          <p:cNvSpPr/>
          <p:nvPr/>
        </p:nvSpPr>
        <p:spPr>
          <a:xfrm>
            <a:off x="8148935" y="1966913"/>
            <a:ext cx="28500" cy="7601400"/>
          </a:xfrm>
          <a:prstGeom prst="roundRect">
            <a:avLst>
              <a:gd fmla="val 38370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60a9317ab0_1_176"/>
          <p:cNvSpPr/>
          <p:nvPr/>
        </p:nvSpPr>
        <p:spPr>
          <a:xfrm>
            <a:off x="8428285" y="2539901"/>
            <a:ext cx="913500" cy="28500"/>
          </a:xfrm>
          <a:prstGeom prst="roundRect">
            <a:avLst>
              <a:gd fmla="val 38370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60a9317ab0_1_176"/>
          <p:cNvSpPr/>
          <p:nvPr/>
        </p:nvSpPr>
        <p:spPr>
          <a:xfrm>
            <a:off x="7869585" y="2260550"/>
            <a:ext cx="587100" cy="587100"/>
          </a:xfrm>
          <a:prstGeom prst="roundRect">
            <a:avLst>
              <a:gd fmla="val 1867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60a9317ab0_1_176"/>
          <p:cNvSpPr/>
          <p:nvPr/>
        </p:nvSpPr>
        <p:spPr>
          <a:xfrm>
            <a:off x="8075116" y="2348508"/>
            <a:ext cx="176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200"/>
              <a:buFont typeface="Petrona"/>
              <a:buNone/>
            </a:pPr>
            <a:r>
              <a:rPr b="1" i="0" lang="en-US" sz="3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60a9317ab0_1_176"/>
          <p:cNvSpPr/>
          <p:nvPr/>
        </p:nvSpPr>
        <p:spPr>
          <a:xfrm>
            <a:off x="9598968" y="2227958"/>
            <a:ext cx="3426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Pruebas unitarias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60a9317ab0_1_176"/>
          <p:cNvSpPr/>
          <p:nvPr/>
        </p:nvSpPr>
        <p:spPr>
          <a:xfrm>
            <a:off x="9598967" y="2812703"/>
            <a:ext cx="77751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Estas pruebas validan el funcionamiento de los componentes individuales del código, asegurando que cada pieza funcione correctamente por sí sola.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60a9317ab0_1_176"/>
          <p:cNvSpPr/>
          <p:nvPr/>
        </p:nvSpPr>
        <p:spPr>
          <a:xfrm>
            <a:off x="8428285" y="5160615"/>
            <a:ext cx="913500" cy="28500"/>
          </a:xfrm>
          <a:prstGeom prst="roundRect">
            <a:avLst>
              <a:gd fmla="val 38370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60a9317ab0_1_176"/>
          <p:cNvSpPr/>
          <p:nvPr/>
        </p:nvSpPr>
        <p:spPr>
          <a:xfrm>
            <a:off x="7869585" y="4881265"/>
            <a:ext cx="587100" cy="587100"/>
          </a:xfrm>
          <a:prstGeom prst="roundRect">
            <a:avLst>
              <a:gd fmla="val 1867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60a9317ab0_1_176"/>
          <p:cNvSpPr/>
          <p:nvPr/>
        </p:nvSpPr>
        <p:spPr>
          <a:xfrm>
            <a:off x="8046541" y="4969223"/>
            <a:ext cx="233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200"/>
              <a:buFont typeface="Petrona"/>
              <a:buNone/>
            </a:pPr>
            <a:r>
              <a:rPr b="1" i="0" lang="en-US" sz="3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60a9317ab0_1_176"/>
          <p:cNvSpPr/>
          <p:nvPr/>
        </p:nvSpPr>
        <p:spPr>
          <a:xfrm>
            <a:off x="9598978" y="4848675"/>
            <a:ext cx="53829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Pruebas de integración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60a9317ab0_1_176"/>
          <p:cNvSpPr/>
          <p:nvPr/>
        </p:nvSpPr>
        <p:spPr>
          <a:xfrm>
            <a:off x="9598967" y="5433418"/>
            <a:ext cx="77751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 encargan de comprobar que los diferentes módulos y componentes del sistema trabajen de manera integrada sin problemas.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60a9317ab0_1_176"/>
          <p:cNvSpPr/>
          <p:nvPr/>
        </p:nvSpPr>
        <p:spPr>
          <a:xfrm>
            <a:off x="8428285" y="7781330"/>
            <a:ext cx="913500" cy="28500"/>
          </a:xfrm>
          <a:prstGeom prst="roundRect">
            <a:avLst>
              <a:gd fmla="val 383703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60a9317ab0_1_176"/>
          <p:cNvSpPr/>
          <p:nvPr/>
        </p:nvSpPr>
        <p:spPr>
          <a:xfrm>
            <a:off x="7869585" y="7501979"/>
            <a:ext cx="587100" cy="587100"/>
          </a:xfrm>
          <a:prstGeom prst="roundRect">
            <a:avLst>
              <a:gd fmla="val 1867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60a9317ab0_1_176"/>
          <p:cNvSpPr/>
          <p:nvPr/>
        </p:nvSpPr>
        <p:spPr>
          <a:xfrm>
            <a:off x="8046839" y="7589936"/>
            <a:ext cx="2328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200"/>
              <a:buFont typeface="Petrona"/>
              <a:buNone/>
            </a:pPr>
            <a:r>
              <a:rPr b="1" i="0" lang="en-US" sz="3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60a9317ab0_1_176"/>
          <p:cNvSpPr/>
          <p:nvPr/>
        </p:nvSpPr>
        <p:spPr>
          <a:xfrm>
            <a:off x="9598979" y="7469375"/>
            <a:ext cx="53829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Pruebas de aceptación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60a9317ab0_1_176"/>
          <p:cNvSpPr/>
          <p:nvPr/>
        </p:nvSpPr>
        <p:spPr>
          <a:xfrm>
            <a:off x="9598967" y="8054131"/>
            <a:ext cx="77751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Validan que el software cumpla con los requisitos y expectativas del cliente, verificando el funcionamiento del sistema completo.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0a9317ab0_1_198"/>
          <p:cNvSpPr/>
          <p:nvPr/>
        </p:nvSpPr>
        <p:spPr>
          <a:xfrm>
            <a:off x="866626" y="680889"/>
            <a:ext cx="64998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Petrona"/>
              <a:buNone/>
            </a:pPr>
            <a:r>
              <a:rPr b="1" i="0" lang="en-US" sz="5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Despliegue</a:t>
            </a:r>
            <a:endParaRPr b="0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60a9317ab0_1_198"/>
          <p:cNvSpPr/>
          <p:nvPr/>
        </p:nvSpPr>
        <p:spPr>
          <a:xfrm>
            <a:off x="866626" y="1988344"/>
            <a:ext cx="2069400" cy="14460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60a9317ab0_1_198"/>
          <p:cNvSpPr/>
          <p:nvPr/>
        </p:nvSpPr>
        <p:spPr>
          <a:xfrm>
            <a:off x="1123653" y="2463701"/>
            <a:ext cx="132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Petrona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60a9317ab0_1_198"/>
          <p:cNvSpPr/>
          <p:nvPr/>
        </p:nvSpPr>
        <p:spPr>
          <a:xfrm>
            <a:off x="3183434" y="2235845"/>
            <a:ext cx="325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Planificación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60a9317ab0_1_198"/>
          <p:cNvSpPr/>
          <p:nvPr/>
        </p:nvSpPr>
        <p:spPr>
          <a:xfrm>
            <a:off x="3183434" y="2790676"/>
            <a:ext cx="48753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Definir un plan de despliegue estratégico.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60a9317ab0_1_198"/>
          <p:cNvSpPr/>
          <p:nvPr/>
        </p:nvSpPr>
        <p:spPr>
          <a:xfrm>
            <a:off x="3059609" y="3422451"/>
            <a:ext cx="14238000" cy="14400"/>
          </a:xfrm>
          <a:prstGeom prst="roundRect">
            <a:avLst>
              <a:gd fmla="val 727916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60a9317ab0_1_198"/>
          <p:cNvSpPr/>
          <p:nvPr/>
        </p:nvSpPr>
        <p:spPr>
          <a:xfrm>
            <a:off x="866626" y="3558034"/>
            <a:ext cx="4138500" cy="14460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60a9317ab0_1_198"/>
          <p:cNvSpPr/>
          <p:nvPr/>
        </p:nvSpPr>
        <p:spPr>
          <a:xfrm>
            <a:off x="1123653" y="4033391"/>
            <a:ext cx="17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Petrona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60a9317ab0_1_198"/>
          <p:cNvSpPr/>
          <p:nvPr/>
        </p:nvSpPr>
        <p:spPr>
          <a:xfrm>
            <a:off x="5252740" y="3805535"/>
            <a:ext cx="325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Automatización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60a9317ab0_1_198"/>
          <p:cNvSpPr/>
          <p:nvPr/>
        </p:nvSpPr>
        <p:spPr>
          <a:xfrm>
            <a:off x="5252740" y="4360366"/>
            <a:ext cx="61905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Implementar procesos de despliegue automatizados.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60a9317ab0_1_198"/>
          <p:cNvSpPr/>
          <p:nvPr/>
        </p:nvSpPr>
        <p:spPr>
          <a:xfrm>
            <a:off x="5128915" y="4992141"/>
            <a:ext cx="12168900" cy="14400"/>
          </a:xfrm>
          <a:prstGeom prst="roundRect">
            <a:avLst>
              <a:gd fmla="val 727916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60a9317ab0_1_198"/>
          <p:cNvSpPr/>
          <p:nvPr/>
        </p:nvSpPr>
        <p:spPr>
          <a:xfrm>
            <a:off x="866626" y="5127724"/>
            <a:ext cx="6207600" cy="14460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60a9317ab0_1_198"/>
          <p:cNvSpPr/>
          <p:nvPr/>
        </p:nvSpPr>
        <p:spPr>
          <a:xfrm>
            <a:off x="1123653" y="5603081"/>
            <a:ext cx="17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Petrona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60a9317ab0_1_198"/>
          <p:cNvSpPr/>
          <p:nvPr/>
        </p:nvSpPr>
        <p:spPr>
          <a:xfrm>
            <a:off x="7322046" y="5375225"/>
            <a:ext cx="325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Monitoreo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60a9317ab0_1_198"/>
          <p:cNvSpPr/>
          <p:nvPr/>
        </p:nvSpPr>
        <p:spPr>
          <a:xfrm>
            <a:off x="7322046" y="5930056"/>
            <a:ext cx="5483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Supervisar el despliegue y resolver problemas.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60a9317ab0_1_198"/>
          <p:cNvSpPr/>
          <p:nvPr/>
        </p:nvSpPr>
        <p:spPr>
          <a:xfrm>
            <a:off x="7198221" y="6561833"/>
            <a:ext cx="10099500" cy="14400"/>
          </a:xfrm>
          <a:prstGeom prst="roundRect">
            <a:avLst>
              <a:gd fmla="val 727916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60a9317ab0_1_198"/>
          <p:cNvSpPr/>
          <p:nvPr/>
        </p:nvSpPr>
        <p:spPr>
          <a:xfrm>
            <a:off x="866626" y="6697415"/>
            <a:ext cx="8277300" cy="14460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60a9317ab0_1_198"/>
          <p:cNvSpPr/>
          <p:nvPr/>
        </p:nvSpPr>
        <p:spPr>
          <a:xfrm>
            <a:off x="1123653" y="7172771"/>
            <a:ext cx="166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Petrona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60a9317ab0_1_198"/>
          <p:cNvSpPr/>
          <p:nvPr/>
        </p:nvSpPr>
        <p:spPr>
          <a:xfrm>
            <a:off x="9391501" y="6944916"/>
            <a:ext cx="325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Retroalimentación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60a9317ab0_1_198"/>
          <p:cNvSpPr/>
          <p:nvPr/>
        </p:nvSpPr>
        <p:spPr>
          <a:xfrm>
            <a:off x="9391501" y="7499748"/>
            <a:ext cx="51573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Recopilar comentarios y mejorar el proceso.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60a9317ab0_1_198"/>
          <p:cNvSpPr/>
          <p:nvPr/>
        </p:nvSpPr>
        <p:spPr>
          <a:xfrm>
            <a:off x="866626" y="8421886"/>
            <a:ext cx="16554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despliegue es una etapa crucial en el ciclo de DevOps, donde se lleva a cabo la implementación del software en el entorno de producción. Es importante contar con una planificación cuidadosa, procesos de automatización, un monitoreo constante y una retroalimentación efectiva para garantizar un despliegue exitoso y sin problemas.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0a9317ab0_1_223"/>
          <p:cNvSpPr/>
          <p:nvPr/>
        </p:nvSpPr>
        <p:spPr>
          <a:xfrm>
            <a:off x="910530" y="718096"/>
            <a:ext cx="6829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etrona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Operaciones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8" name="Google Shape;388;g360a9317ab0_1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8614" y="2092078"/>
            <a:ext cx="2717007" cy="193521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60a9317ab0_1_223"/>
          <p:cNvSpPr/>
          <p:nvPr/>
        </p:nvSpPr>
        <p:spPr>
          <a:xfrm>
            <a:off x="4957465" y="3050679"/>
            <a:ext cx="139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60a9317ab0_1_223"/>
          <p:cNvSpPr/>
          <p:nvPr/>
        </p:nvSpPr>
        <p:spPr>
          <a:xfrm>
            <a:off x="6645771" y="2560290"/>
            <a:ext cx="3414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Implementación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60a9317ab0_1_223"/>
          <p:cNvSpPr/>
          <p:nvPr/>
        </p:nvSpPr>
        <p:spPr>
          <a:xfrm>
            <a:off x="6645771" y="3142953"/>
            <a:ext cx="9050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Despliegue de las aplicaciones y servicios de manera efectiva y eficiente.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60a9317ab0_1_223"/>
          <p:cNvSpPr/>
          <p:nvPr/>
        </p:nvSpPr>
        <p:spPr>
          <a:xfrm>
            <a:off x="6450657" y="4047828"/>
            <a:ext cx="10861800" cy="14400"/>
          </a:xfrm>
          <a:prstGeom prst="roundRect">
            <a:avLst>
              <a:gd fmla="val 76479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3" name="Google Shape;393;g360a9317ab0_1_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0110" y="4092328"/>
            <a:ext cx="5434013" cy="193521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60a9317ab0_1_223"/>
          <p:cNvSpPr/>
          <p:nvPr/>
        </p:nvSpPr>
        <p:spPr>
          <a:xfrm>
            <a:off x="4934843" y="4799708"/>
            <a:ext cx="18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60a9317ab0_1_223"/>
          <p:cNvSpPr/>
          <p:nvPr/>
        </p:nvSpPr>
        <p:spPr>
          <a:xfrm>
            <a:off x="8004274" y="4560540"/>
            <a:ext cx="3414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Monitoreo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60a9317ab0_1_223"/>
          <p:cNvSpPr/>
          <p:nvPr/>
        </p:nvSpPr>
        <p:spPr>
          <a:xfrm>
            <a:off x="8004274" y="5143203"/>
            <a:ext cx="85119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Supervisión continua del rendimiento y la estabilidad de los sistemas.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60a9317ab0_1_223"/>
          <p:cNvSpPr/>
          <p:nvPr/>
        </p:nvSpPr>
        <p:spPr>
          <a:xfrm>
            <a:off x="7809160" y="6048078"/>
            <a:ext cx="9503400" cy="14400"/>
          </a:xfrm>
          <a:prstGeom prst="roundRect">
            <a:avLst>
              <a:gd fmla="val 76479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8" name="Google Shape;398;g360a9317ab0_1_2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608" y="6092577"/>
            <a:ext cx="8151020" cy="193521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60a9317ab0_1_223"/>
          <p:cNvSpPr/>
          <p:nvPr/>
        </p:nvSpPr>
        <p:spPr>
          <a:xfrm>
            <a:off x="4934991" y="6799958"/>
            <a:ext cx="18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60a9317ab0_1_223"/>
          <p:cNvSpPr/>
          <p:nvPr/>
        </p:nvSpPr>
        <p:spPr>
          <a:xfrm>
            <a:off x="9362778" y="6352729"/>
            <a:ext cx="3414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Mantenimiento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60a9317ab0_1_223"/>
          <p:cNvSpPr/>
          <p:nvPr/>
        </p:nvSpPr>
        <p:spPr>
          <a:xfrm>
            <a:off x="9362778" y="6935391"/>
            <a:ext cx="77547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Corrección de errores y actualización de componentes según sea necesario.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60a9317ab0_1_223"/>
          <p:cNvSpPr/>
          <p:nvPr/>
        </p:nvSpPr>
        <p:spPr>
          <a:xfrm>
            <a:off x="910530" y="8320385"/>
            <a:ext cx="16467000" cy="1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etapa de Operaciones en el ciclo de DevOps se enfoca en la implementación, monitoreo y mantenimiento de los sistemas y aplicaciones desplegados. Es crucial asegurar que todo funcione sin problemas y que se puedan detectar y resolver rápidamente cualquier problema que surja.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8" name="Google Shape;408;g360a9317ab0_1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60a9317ab0_1_243"/>
          <p:cNvSpPr/>
          <p:nvPr/>
        </p:nvSpPr>
        <p:spPr>
          <a:xfrm>
            <a:off x="847725" y="688925"/>
            <a:ext cx="63585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Petrona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Monitoreo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0" name="Google Shape;410;g360a9317ab0_1_2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1846957"/>
            <a:ext cx="1211015" cy="193774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60a9317ab0_1_243"/>
          <p:cNvSpPr/>
          <p:nvPr/>
        </p:nvSpPr>
        <p:spPr>
          <a:xfrm>
            <a:off x="2422029" y="2089100"/>
            <a:ext cx="40845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Supervisión en Tiempo Real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60a9317ab0_1_243"/>
          <p:cNvSpPr/>
          <p:nvPr/>
        </p:nvSpPr>
        <p:spPr>
          <a:xfrm>
            <a:off x="2422029" y="2631728"/>
            <a:ext cx="8160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Monitorear el rendimiento de la aplicación y los sistemas en todo momento, detectando problemas y riesgos de manera proactiva.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3" name="Google Shape;413;g360a9317ab0_1_2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3784699"/>
            <a:ext cx="1211015" cy="193774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60a9317ab0_1_243"/>
          <p:cNvSpPr/>
          <p:nvPr/>
        </p:nvSpPr>
        <p:spPr>
          <a:xfrm>
            <a:off x="2422029" y="4026843"/>
            <a:ext cx="3820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Análisis de Métricas Clave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60a9317ab0_1_243"/>
          <p:cNvSpPr/>
          <p:nvPr/>
        </p:nvSpPr>
        <p:spPr>
          <a:xfrm>
            <a:off x="2422029" y="4569470"/>
            <a:ext cx="8160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Recopilar y analizar las métricas más relevantes, como el uso de CPU, la latencia de respuesta y el tráfico de red.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6" name="Google Shape;416;g360a9317ab0_1_2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5722441"/>
            <a:ext cx="1211015" cy="193774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60a9317ab0_1_243"/>
          <p:cNvSpPr/>
          <p:nvPr/>
        </p:nvSpPr>
        <p:spPr>
          <a:xfrm>
            <a:off x="2422029" y="5964585"/>
            <a:ext cx="3179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Alertas Inteligentes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60a9317ab0_1_243"/>
          <p:cNvSpPr/>
          <p:nvPr/>
        </p:nvSpPr>
        <p:spPr>
          <a:xfrm>
            <a:off x="2422029" y="6507213"/>
            <a:ext cx="8160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Configurar alertas que notifiquen al equipo de manera oportuna cuando se detecten problemas, permitiendo una rápida respuesta.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9" name="Google Shape;419;g360a9317ab0_1_2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7660184"/>
            <a:ext cx="1211015" cy="1937742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60a9317ab0_1_243"/>
          <p:cNvSpPr/>
          <p:nvPr/>
        </p:nvSpPr>
        <p:spPr>
          <a:xfrm>
            <a:off x="2422029" y="7902328"/>
            <a:ext cx="3179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Petrona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Mejora Continua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60a9317ab0_1_243"/>
          <p:cNvSpPr/>
          <p:nvPr/>
        </p:nvSpPr>
        <p:spPr>
          <a:xfrm>
            <a:off x="2422029" y="8444954"/>
            <a:ext cx="8160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Utilizar los datos de monitoreo para identificar oportunidades de mejora y refinar continuamente los procesos y la infraestructura.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0a9317ab0_1_261"/>
          <p:cNvSpPr/>
          <p:nvPr/>
        </p:nvSpPr>
        <p:spPr>
          <a:xfrm>
            <a:off x="977801" y="768251"/>
            <a:ext cx="73344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Retroalimentación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60a9317ab0_1_261"/>
          <p:cNvSpPr/>
          <p:nvPr/>
        </p:nvSpPr>
        <p:spPr>
          <a:xfrm>
            <a:off x="977801" y="2243732"/>
            <a:ext cx="2721900" cy="16317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60a9317ab0_1_261"/>
          <p:cNvSpPr/>
          <p:nvPr/>
        </p:nvSpPr>
        <p:spPr>
          <a:xfrm>
            <a:off x="1266676" y="2780109"/>
            <a:ext cx="149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7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60a9317ab0_1_261"/>
          <p:cNvSpPr/>
          <p:nvPr/>
        </p:nvSpPr>
        <p:spPr>
          <a:xfrm>
            <a:off x="3979069" y="2523084"/>
            <a:ext cx="366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Observar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60a9317ab0_1_261"/>
          <p:cNvSpPr/>
          <p:nvPr/>
        </p:nvSpPr>
        <p:spPr>
          <a:xfrm>
            <a:off x="3979069" y="3149054"/>
            <a:ext cx="51678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Analizar los resultados y el desempeño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60a9317ab0_1_261"/>
          <p:cNvSpPr/>
          <p:nvPr/>
        </p:nvSpPr>
        <p:spPr>
          <a:xfrm>
            <a:off x="3839319" y="3856285"/>
            <a:ext cx="13331400" cy="19200"/>
          </a:xfrm>
          <a:prstGeom prst="roundRect">
            <a:avLst>
              <a:gd fmla="val 615990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60a9317ab0_1_261"/>
          <p:cNvSpPr/>
          <p:nvPr/>
        </p:nvSpPr>
        <p:spPr>
          <a:xfrm>
            <a:off x="977801" y="4014936"/>
            <a:ext cx="5443800" cy="16317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60a9317ab0_1_261"/>
          <p:cNvSpPr/>
          <p:nvPr/>
        </p:nvSpPr>
        <p:spPr>
          <a:xfrm>
            <a:off x="1266676" y="4551313"/>
            <a:ext cx="198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7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60a9317ab0_1_261"/>
          <p:cNvSpPr/>
          <p:nvPr/>
        </p:nvSpPr>
        <p:spPr>
          <a:xfrm>
            <a:off x="6701135" y="4294286"/>
            <a:ext cx="366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Ajustar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60a9317ab0_1_261"/>
          <p:cNvSpPr/>
          <p:nvPr/>
        </p:nvSpPr>
        <p:spPr>
          <a:xfrm>
            <a:off x="6701135" y="4920258"/>
            <a:ext cx="5928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Identificar áreas de mejora y aplicar cambios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60a9317ab0_1_261"/>
          <p:cNvSpPr/>
          <p:nvPr/>
        </p:nvSpPr>
        <p:spPr>
          <a:xfrm>
            <a:off x="6561385" y="5627489"/>
            <a:ext cx="10609200" cy="19200"/>
          </a:xfrm>
          <a:prstGeom prst="roundRect">
            <a:avLst>
              <a:gd fmla="val 615990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60a9317ab0_1_261"/>
          <p:cNvSpPr/>
          <p:nvPr/>
        </p:nvSpPr>
        <p:spPr>
          <a:xfrm>
            <a:off x="977801" y="5786140"/>
            <a:ext cx="8166300" cy="1631700"/>
          </a:xfrm>
          <a:prstGeom prst="roundRect">
            <a:avLst>
              <a:gd fmla="val 71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60a9317ab0_1_261"/>
          <p:cNvSpPr/>
          <p:nvPr/>
        </p:nvSpPr>
        <p:spPr>
          <a:xfrm>
            <a:off x="1266676" y="6322516"/>
            <a:ext cx="197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7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60a9317ab0_1_261"/>
          <p:cNvSpPr/>
          <p:nvPr/>
        </p:nvSpPr>
        <p:spPr>
          <a:xfrm>
            <a:off x="9423350" y="6065490"/>
            <a:ext cx="366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Aprender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60a9317ab0_1_261"/>
          <p:cNvSpPr/>
          <p:nvPr/>
        </p:nvSpPr>
        <p:spPr>
          <a:xfrm>
            <a:off x="9423350" y="6691461"/>
            <a:ext cx="6328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Incorporar los conocimientos adquiridos al ciclo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60a9317ab0_1_261"/>
          <p:cNvSpPr/>
          <p:nvPr/>
        </p:nvSpPr>
        <p:spPr>
          <a:xfrm>
            <a:off x="977801" y="7731919"/>
            <a:ext cx="16332300" cy="17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retroalimentación es un paso crucial dentro del ciclo de DevOps, donde se analizan los resultados obtenidos, se identifican áreas de mejora y se aplican los ajustes necesarios. Este proceso de aprendizaje continuo permite refinar y optimizar el flujo de trabajo, asegurando una mejora constante en la calidad y eficiencia del proceso de desarrollo y despliegue.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0a9317ab0_1_281"/>
          <p:cNvSpPr/>
          <p:nvPr/>
        </p:nvSpPr>
        <p:spPr>
          <a:xfrm>
            <a:off x="992238" y="1996083"/>
            <a:ext cx="163035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Petrona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Proyecto Fase 3: Build, Test y Deploy en una sola VM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60a9317ab0_1_281"/>
          <p:cNvSpPr/>
          <p:nvPr/>
        </p:nvSpPr>
        <p:spPr>
          <a:xfrm>
            <a:off x="992238" y="4565451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Build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60a9317ab0_1_281"/>
          <p:cNvSpPr/>
          <p:nvPr/>
        </p:nvSpPr>
        <p:spPr>
          <a:xfrm>
            <a:off x="992238" y="5314058"/>
            <a:ext cx="4972500" cy="27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 esta etapa, construiremos el código fuente utilizando técnicas de integración continua. Aseguraremos que el código se compile y empaquete correctamente para su posterior despliegue.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60a9317ab0_1_281"/>
          <p:cNvSpPr/>
          <p:nvPr/>
        </p:nvSpPr>
        <p:spPr>
          <a:xfrm>
            <a:off x="6666160" y="4565451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Test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60a9317ab0_1_281"/>
          <p:cNvSpPr/>
          <p:nvPr/>
        </p:nvSpPr>
        <p:spPr>
          <a:xfrm>
            <a:off x="6666160" y="5314058"/>
            <a:ext cx="4972500" cy="27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Realizaremos pruebas automatizadas exhaustivas para verificar el correcto funcionamiento de la aplicación. Esto nos permitirá detectar y corregir errores antes del despliegue.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60a9317ab0_1_281"/>
          <p:cNvSpPr/>
          <p:nvPr/>
        </p:nvSpPr>
        <p:spPr>
          <a:xfrm>
            <a:off x="12340084" y="4565451"/>
            <a:ext cx="3721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Deploy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60a9317ab0_1_281"/>
          <p:cNvSpPr/>
          <p:nvPr/>
        </p:nvSpPr>
        <p:spPr>
          <a:xfrm>
            <a:off x="12340084" y="5314058"/>
            <a:ext cx="49725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Finalmente, desplegaremos la aplicación en una sola VM, simplificando el proceso y asegurando una entrega rápida y eficiente.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vOps y CI/CD (Continuous Integration/Continuous Deli) son de los términos mas conocidos en un entorno de producción de muchas aplicaciones web actualmente, gracias a que nos permite automatizar tareas muy repetitivas relacionadas al despliegue y también nos permite hacer entregas mucho mas rápido, además que es una forma de poder trabajar con múltiples desarrolladores ubicados en distintas partes del mundo.&#10;&#10;⭐ Cursos Recomendados&#10;Curso de React ⮕ https://youtu.be/rLoWMU4L_qE&#10;Curso de Javascript para React ⮕ https://youtu.be/lVqHiTCIRQg&#10;&#10;🗣 Redes Sociales&#10;⮕ Twitter https://twitter.com/fazttech&#10;&#10;🎒 Servicios Recomendados&#10;DigitalOcean ⮕ https://m.do.co/c/8ef261d77de5&#10;Namecheap ⮕ https://namecheap.pxf.io/ErDe9&#10;Ledger ⮕ (Hardware Wallet) https://bit.ly/3ijsVNW&#10;SiteGround  ⮕ https://bit.ly/31u9ZEk&#10;Cloudinary  ⮕ https://bit.ly/3ohNlJ7&#10;&#10;🌎 Sitio Web&#10;https://fazt.dev&#10;&#10;#devops #cicd #cloudcomputing" id="459" name="Google Shape;459;g360a9317ab0_1_292" title="¿Qué es DevOps y CI/CD?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88" y="621950"/>
            <a:ext cx="16076625" cy="90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65" name="Google Shape;465;p6"/>
          <p:cNvSpPr txBox="1"/>
          <p:nvPr/>
        </p:nvSpPr>
        <p:spPr>
          <a:xfrm>
            <a:off x="5803362" y="2799233"/>
            <a:ext cx="69114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DevOps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Cultura DevOps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Automatización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Mejora c</a:t>
            </a:r>
            <a:r>
              <a:rPr lang="en-US" sz="3151">
                <a:solidFill>
                  <a:srgbClr val="131416"/>
                </a:solidFill>
              </a:rPr>
              <a:t>o</a:t>
            </a:r>
            <a:r>
              <a:rPr lang="en-US" sz="3151">
                <a:solidFill>
                  <a:srgbClr val="131416"/>
                </a:solidFill>
              </a:rPr>
              <a:t>ntinua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Principios clave de DevOps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Integración continua (CI)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Despliegue continuo (CD)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0abd790cd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Colaboración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71" name="Google Shape;471;g360abd790cd_0_0"/>
          <p:cNvSpPr txBox="1"/>
          <p:nvPr/>
        </p:nvSpPr>
        <p:spPr>
          <a:xfrm>
            <a:off x="2230719" y="2675475"/>
            <a:ext cx="14171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Trabajando en equipo con actitud proactiva: </a:t>
            </a:r>
            <a:r>
              <a:rPr lang="en-US" sz="3151">
                <a:solidFill>
                  <a:srgbClr val="131416"/>
                </a:solidFill>
              </a:rPr>
              <a:t>Participando activamente en las tareas grupales, ofreciendo ideas, ayudando a resolver dudas y distribuyendo el trabajo de forma justa.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Resolviendo desacuerdos de manera constructiva: </a:t>
            </a:r>
            <a:r>
              <a:rPr lang="en-US" sz="3151">
                <a:solidFill>
                  <a:srgbClr val="131416"/>
                </a:solidFill>
              </a:rPr>
              <a:t>Si hay diferencias, se manejan con diálogo, buscando consensos y enfocándose en soluciones.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77" name="Google Shape;477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