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287000" cx="18288000"/>
  <p:notesSz cx="6858000" cy="9144000"/>
  <p:embeddedFontLst>
    <p:embeddedFont>
      <p:font typeface="Poppins"/>
      <p:regular r:id="rId35"/>
      <p:bold r:id="rId36"/>
      <p:italic r:id="rId37"/>
      <p:boldItalic r:id="rId38"/>
    </p:embeddedFont>
    <p:embeddedFont>
      <p:font typeface="Poppins Light"/>
      <p:regular r:id="rId39"/>
      <p:bold r:id="rId40"/>
      <p:italic r:id="rId41"/>
      <p:boldItalic r:id="rId42"/>
    </p:embeddedFont>
    <p:embeddedFont>
      <p:font typeface="Poppins Black"/>
      <p:bold r:id="rId43"/>
      <p:boldItalic r:id="rId44"/>
    </p:embeddedFont>
    <p:embeddedFont>
      <p:font typeface="Bitter"/>
      <p:regular r:id="rId45"/>
      <p:bold r:id="rId46"/>
      <p:italic r:id="rId47"/>
      <p:boldItalic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3" roundtripDataSignature="AMtx7miWvB8QeBKdG3BLvulf+LnWVLgq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1A7685-B20C-43DA-B50C-903E6625E253}">
  <a:tblStyle styleId="{BC1A7685-B20C-43DA-B50C-903E6625E25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Light-bold.fntdata"/><Relationship Id="rId42" Type="http://schemas.openxmlformats.org/officeDocument/2006/relationships/font" Target="fonts/PoppinsLight-boldItalic.fntdata"/><Relationship Id="rId41" Type="http://schemas.openxmlformats.org/officeDocument/2006/relationships/font" Target="fonts/PoppinsLight-italic.fntdata"/><Relationship Id="rId44" Type="http://schemas.openxmlformats.org/officeDocument/2006/relationships/font" Target="fonts/PoppinsBlack-boldItalic.fntdata"/><Relationship Id="rId43" Type="http://schemas.openxmlformats.org/officeDocument/2006/relationships/font" Target="fonts/PoppinsBlack-bold.fntdata"/><Relationship Id="rId46" Type="http://schemas.openxmlformats.org/officeDocument/2006/relationships/font" Target="fonts/Bitter-bold.fntdata"/><Relationship Id="rId45" Type="http://schemas.openxmlformats.org/officeDocument/2006/relationships/font" Target="fonts/Bit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Bitter-boldItalic.fntdata"/><Relationship Id="rId47" Type="http://schemas.openxmlformats.org/officeDocument/2006/relationships/font" Target="fonts/Bitter-italic.fntdata"/><Relationship Id="rId49"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Poppins-regular.fntdata"/><Relationship Id="rId34" Type="http://schemas.openxmlformats.org/officeDocument/2006/relationships/slide" Target="slides/slide28.xml"/><Relationship Id="rId37" Type="http://schemas.openxmlformats.org/officeDocument/2006/relationships/font" Target="fonts/Poppins-italic.fntdata"/><Relationship Id="rId36" Type="http://schemas.openxmlformats.org/officeDocument/2006/relationships/font" Target="fonts/Poppins-bold.fntdata"/><Relationship Id="rId39" Type="http://schemas.openxmlformats.org/officeDocument/2006/relationships/font" Target="fonts/PoppinsLight-regular.fntdata"/><Relationship Id="rId38" Type="http://schemas.openxmlformats.org/officeDocument/2006/relationships/font" Target="fonts/Poppi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italic.fntdata"/><Relationship Id="rId50" Type="http://schemas.openxmlformats.org/officeDocument/2006/relationships/font" Target="fonts/OpenSans-bold.fntdata"/><Relationship Id="rId53" Type="http://customschemas.google.com/relationships/presentationmetadata" Target="metadata"/><Relationship Id="rId52"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f1b241ad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5f1b241ad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5f1b241ad4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g35f1b241ad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f1b241ad4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5f1b241ad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5f1b241ad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5f1b241ad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f1b241ad4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5f1b241ad4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f1b241ad4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5f1b241ad4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5f1b241ad4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g35f1b241ad4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f1b241ad4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5f1b241ad4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5f1b241ad4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g35f1b241ad4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5f1b241ad4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g35f1b241ad4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f1b241ad4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35f1b241ad4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5f1b241ad4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g35f1b241ad4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f1b241ad4_0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5f1b241ad4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5f1b241ad4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g35f1b241ad4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f1b241ad4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5f1b241ad4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5f1b241ad4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35f1b241ad4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5f1b241ad4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g35f1b241ad4_0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5f1b241ad4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g35f1b241ad4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5f1b241ad4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35f1b241ad4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f1b241ad4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g35f1b241ad4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5f1b241ad4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35f1b241ad4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f1b241ad4_0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g35f1b241ad4_0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60abbf495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5" name="Google Shape;345;g360abbf495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7.jpg"/><Relationship Id="rId5"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699423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Análisis y Diseño de Sistemas 2 </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Pruebas de Software</a:t>
            </a:r>
            <a:endParaRPr b="1" sz="9200">
              <a:solidFill>
                <a:srgbClr val="131416"/>
              </a:solidFill>
              <a:latin typeface="Open Sans"/>
              <a:ea typeface="Open Sans"/>
              <a:cs typeface="Open Sans"/>
              <a:sym typeface="Open Sans"/>
            </a:endParaRPr>
          </a:p>
        </p:txBody>
      </p:sp>
      <p:sp>
        <p:nvSpPr>
          <p:cNvPr id="87" name="Google Shape;87;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a:t>
            </a:r>
            <a:r>
              <a:rPr b="1" lang="en-US" sz="2499">
                <a:solidFill>
                  <a:srgbClr val="131416"/>
                </a:solidFill>
                <a:latin typeface="Open Sans"/>
                <a:ea typeface="Open Sans"/>
                <a:cs typeface="Open Sans"/>
                <a:sym typeface="Open Sans"/>
              </a:rPr>
              <a:t>Ingeniería</a:t>
            </a:r>
            <a:r>
              <a:rPr b="1" i="0" lang="en-US" sz="2499" u="none" cap="none" strike="noStrike">
                <a:solidFill>
                  <a:srgbClr val="131416"/>
                </a:solidFill>
                <a:latin typeface="Open Sans"/>
                <a:ea typeface="Open Sans"/>
                <a:cs typeface="Open Sans"/>
                <a:sym typeface="Open Sans"/>
              </a:rPr>
              <a:t>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a:t>
            </a:r>
            <a:r>
              <a:rPr b="1" lang="en-US" sz="2499">
                <a:solidFill>
                  <a:srgbClr val="131416"/>
                </a:solidFill>
                <a:latin typeface="Open Sans"/>
                <a:ea typeface="Open Sans"/>
                <a:cs typeface="Open Sans"/>
                <a:sym typeface="Open Sans"/>
              </a:rPr>
              <a:t>Ingeniería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214843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5" name="Google Shape;95;p3"/>
          <p:cNvSpPr txBox="1"/>
          <p:nvPr/>
        </p:nvSpPr>
        <p:spPr>
          <a:xfrm>
            <a:off x="1346552" y="3216925"/>
            <a:ext cx="15594900" cy="52818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5199">
                <a:solidFill>
                  <a:srgbClr val="131416"/>
                </a:solidFill>
                <a:latin typeface="Open Sans"/>
                <a:ea typeface="Open Sans"/>
                <a:cs typeface="Open Sans"/>
                <a:sym typeface="Open Sans"/>
              </a:rPr>
              <a:t>Evalúa</a:t>
            </a:r>
            <a:r>
              <a:rPr b="1" lang="en-US" sz="5199">
                <a:solidFill>
                  <a:srgbClr val="131416"/>
                </a:solidFill>
                <a:latin typeface="Open Sans"/>
                <a:ea typeface="Open Sans"/>
                <a:cs typeface="Open Sans"/>
                <a:sym typeface="Open Sans"/>
              </a:rPr>
              <a:t> aspectos no funcionales del software mediante pruebas especializadas para asegurar el rendimiento, escalabilidad, portabilidad y estabilidad del sistema bajo distintas condiciones de operación.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0" i="0" lang="en-US" sz="3925" u="none" cap="none" strike="noStrike">
                <a:solidFill>
                  <a:srgbClr val="131416"/>
                </a:solidFill>
                <a:latin typeface="Arial"/>
                <a:ea typeface="Arial"/>
                <a:cs typeface="Arial"/>
                <a:sym typeface="Arial"/>
              </a:rPr>
              <a:t>Parte teórica que se requiera  (conocimiento)</a:t>
            </a:r>
            <a:endParaRPr b="0" i="0" sz="1400" u="none" cap="none" strike="noStrik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03" name="Google Shape;103;p4"/>
          <p:cNvSpPr txBox="1"/>
          <p:nvPr/>
        </p:nvSpPr>
        <p:spPr>
          <a:xfrm>
            <a:off x="14141311" y="6442453"/>
            <a:ext cx="3238236" cy="28158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7" name="Shape 107"/>
        <p:cNvGrpSpPr/>
        <p:nvPr/>
      </p:nvGrpSpPr>
      <p:grpSpPr>
        <a:xfrm>
          <a:off x="0" y="0"/>
          <a:ext cx="0" cy="0"/>
          <a:chOff x="0" y="0"/>
          <a:chExt cx="0" cy="0"/>
        </a:xfrm>
      </p:grpSpPr>
      <p:grpSp>
        <p:nvGrpSpPr>
          <p:cNvPr id="108" name="Google Shape;108;g35f1b241ad4_0_1"/>
          <p:cNvGrpSpPr/>
          <p:nvPr/>
        </p:nvGrpSpPr>
        <p:grpSpPr>
          <a:xfrm>
            <a:off x="-584801" y="364850"/>
            <a:ext cx="19457594" cy="2036657"/>
            <a:chOff x="0" y="-76200"/>
            <a:chExt cx="5124600" cy="536400"/>
          </a:xfrm>
        </p:grpSpPr>
        <p:sp>
          <p:nvSpPr>
            <p:cNvPr id="109" name="Google Shape;109;g35f1b241ad4_0_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10" name="Google Shape;110;g35f1b241ad4_0_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1" name="Google Shape;111;g35f1b241ad4_0_1"/>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¿Qué es la escalabilidad vertical?</a:t>
            </a:r>
            <a:endParaRPr b="1" i="0" sz="7024" u="none" cap="none" strike="noStrike">
              <a:solidFill>
                <a:srgbClr val="FDFDFD"/>
              </a:solidFill>
              <a:latin typeface="Poppins"/>
              <a:ea typeface="Poppins"/>
              <a:cs typeface="Poppins"/>
              <a:sym typeface="Poppins"/>
            </a:endParaRPr>
          </a:p>
        </p:txBody>
      </p:sp>
      <p:sp>
        <p:nvSpPr>
          <p:cNvPr id="112" name="Google Shape;112;g35f1b241ad4_0_1"/>
          <p:cNvSpPr txBox="1"/>
          <p:nvPr/>
        </p:nvSpPr>
        <p:spPr>
          <a:xfrm>
            <a:off x="1028700" y="2969250"/>
            <a:ext cx="17048400" cy="17334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El escalado vertical tiene mucho que ver con el hardware del servidor de la aplicación. Se consigue de una manera muy sencilla: aumentando los recursos del servidor. Principalmente, en lo que respecta a la capacidad de procesamiento, memoria y almacenamiento.</a:t>
            </a:r>
            <a:endParaRPr b="0" i="0" sz="2963" u="none" cap="none" strike="noStrike">
              <a:solidFill>
                <a:srgbClr val="013362"/>
              </a:solidFill>
              <a:latin typeface="Poppins Light"/>
              <a:ea typeface="Poppins Light"/>
              <a:cs typeface="Poppins Light"/>
              <a:sym typeface="Poppins Light"/>
            </a:endParaRPr>
          </a:p>
        </p:txBody>
      </p:sp>
      <p:pic>
        <p:nvPicPr>
          <p:cNvPr id="113" name="Google Shape;113;g35f1b241ad4_0_1"/>
          <p:cNvPicPr preferRelativeResize="0"/>
          <p:nvPr/>
        </p:nvPicPr>
        <p:blipFill rotWithShape="1">
          <a:blip r:embed="rId3">
            <a:alphaModFix/>
          </a:blip>
          <a:srcRect b="0" l="0" r="0" t="0"/>
          <a:stretch/>
        </p:blipFill>
        <p:spPr>
          <a:xfrm>
            <a:off x="4852313" y="5613375"/>
            <a:ext cx="9401175" cy="3924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7" name="Shape 117"/>
        <p:cNvGrpSpPr/>
        <p:nvPr/>
      </p:nvGrpSpPr>
      <p:grpSpPr>
        <a:xfrm>
          <a:off x="0" y="0"/>
          <a:ext cx="0" cy="0"/>
          <a:chOff x="0" y="0"/>
          <a:chExt cx="0" cy="0"/>
        </a:xfrm>
      </p:grpSpPr>
      <p:graphicFrame>
        <p:nvGraphicFramePr>
          <p:cNvPr id="118" name="Google Shape;118;g35f1b241ad4_0_10"/>
          <p:cNvGraphicFramePr/>
          <p:nvPr/>
        </p:nvGraphicFramePr>
        <p:xfrm>
          <a:off x="6116951" y="4739298"/>
          <a:ext cx="3000000" cy="3000000"/>
        </p:xfrm>
        <a:graphic>
          <a:graphicData uri="http://schemas.openxmlformats.org/drawingml/2006/table">
            <a:tbl>
              <a:tblPr>
                <a:noFill/>
                <a:tableStyleId>{BC1A7685-B20C-43DA-B50C-903E6625E253}</a:tableStyleId>
              </a:tblPr>
              <a:tblGrid>
                <a:gridCol w="963725"/>
                <a:gridCol w="5090475"/>
              </a:tblGrid>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1</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Avisos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Dudas de fase 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3</a:t>
                      </a:r>
                      <a:endParaRPr b="1" sz="11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Contenido Teórico Pruebas no Funcionales</a:t>
                      </a:r>
                      <a:endParaRPr sz="11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4</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Kahoot</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bl>
          </a:graphicData>
        </a:graphic>
      </p:graphicFrame>
      <p:grpSp>
        <p:nvGrpSpPr>
          <p:cNvPr id="119" name="Google Shape;119;g35f1b241ad4_0_10"/>
          <p:cNvGrpSpPr/>
          <p:nvPr/>
        </p:nvGrpSpPr>
        <p:grpSpPr>
          <a:xfrm>
            <a:off x="-584626" y="1589619"/>
            <a:ext cx="19457594" cy="2036657"/>
            <a:chOff x="0" y="-76200"/>
            <a:chExt cx="5124600" cy="536400"/>
          </a:xfrm>
        </p:grpSpPr>
        <p:sp>
          <p:nvSpPr>
            <p:cNvPr id="120" name="Google Shape;120;g35f1b241ad4_0_1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1" name="Google Shape;121;g35f1b241ad4_0_1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g35f1b241ad4_0_10"/>
          <p:cNvSpPr/>
          <p:nvPr/>
        </p:nvSpPr>
        <p:spPr>
          <a:xfrm>
            <a:off x="592309" y="8986439"/>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
        <p:nvSpPr>
          <p:cNvPr id="123" name="Google Shape;123;g35f1b241ad4_0_10"/>
          <p:cNvSpPr txBox="1"/>
          <p:nvPr/>
        </p:nvSpPr>
        <p:spPr>
          <a:xfrm>
            <a:off x="5939974" y="1861823"/>
            <a:ext cx="6408000" cy="16278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576"/>
              <a:buFont typeface="Arial"/>
              <a:buNone/>
            </a:pPr>
            <a:r>
              <a:rPr b="0" i="0" lang="en-US" sz="10576" u="none" cap="none" strike="noStrike">
                <a:solidFill>
                  <a:srgbClr val="FDFDFD"/>
                </a:solidFill>
                <a:latin typeface="Poppins Black"/>
                <a:ea typeface="Poppins Black"/>
                <a:cs typeface="Poppins Black"/>
                <a:sym typeface="Poppins Black"/>
              </a:rPr>
              <a:t>AGENDA</a:t>
            </a:r>
            <a:endParaRPr b="0" i="0" sz="1400" u="none" cap="none" strike="noStrike">
              <a:solidFill>
                <a:srgbClr val="000000"/>
              </a:solidFill>
              <a:latin typeface="Arial"/>
              <a:ea typeface="Arial"/>
              <a:cs typeface="Arial"/>
              <a:sym typeface="Arial"/>
            </a:endParaRPr>
          </a:p>
        </p:txBody>
      </p:sp>
      <p:sp>
        <p:nvSpPr>
          <p:cNvPr id="124" name="Google Shape;124;g35f1b241ad4_0_10"/>
          <p:cNvSpPr/>
          <p:nvPr/>
        </p:nvSpPr>
        <p:spPr>
          <a:xfrm rot="10800000">
            <a:off x="14838633" y="0"/>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8" name="Shape 128"/>
        <p:cNvGrpSpPr/>
        <p:nvPr/>
      </p:nvGrpSpPr>
      <p:grpSpPr>
        <a:xfrm>
          <a:off x="0" y="0"/>
          <a:ext cx="0" cy="0"/>
          <a:chOff x="0" y="0"/>
          <a:chExt cx="0" cy="0"/>
        </a:xfrm>
      </p:grpSpPr>
      <p:grpSp>
        <p:nvGrpSpPr>
          <p:cNvPr id="129" name="Google Shape;129;g35f1b241ad4_0_20"/>
          <p:cNvGrpSpPr/>
          <p:nvPr/>
        </p:nvGrpSpPr>
        <p:grpSpPr>
          <a:xfrm>
            <a:off x="-584800" y="2437174"/>
            <a:ext cx="19457594" cy="4853776"/>
            <a:chOff x="0" y="-76200"/>
            <a:chExt cx="5124600" cy="536400"/>
          </a:xfrm>
        </p:grpSpPr>
        <p:sp>
          <p:nvSpPr>
            <p:cNvPr id="130" name="Google Shape;130;g35f1b241ad4_0_2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31" name="Google Shape;131;g35f1b241ad4_0_2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2" name="Google Shape;132;g35f1b241ad4_0_20"/>
          <p:cNvSpPr txBox="1"/>
          <p:nvPr/>
        </p:nvSpPr>
        <p:spPr>
          <a:xfrm>
            <a:off x="1599296" y="4433539"/>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Pruebas de software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6" name="Shape 136"/>
        <p:cNvGrpSpPr/>
        <p:nvPr/>
      </p:nvGrpSpPr>
      <p:grpSpPr>
        <a:xfrm>
          <a:off x="0" y="0"/>
          <a:ext cx="0" cy="0"/>
          <a:chOff x="0" y="0"/>
          <a:chExt cx="0" cy="0"/>
        </a:xfrm>
      </p:grpSpPr>
      <p:grpSp>
        <p:nvGrpSpPr>
          <p:cNvPr id="137" name="Google Shape;137;g35f1b241ad4_0_27"/>
          <p:cNvGrpSpPr/>
          <p:nvPr/>
        </p:nvGrpSpPr>
        <p:grpSpPr>
          <a:xfrm>
            <a:off x="-584801" y="364850"/>
            <a:ext cx="19457594" cy="2036657"/>
            <a:chOff x="0" y="-76200"/>
            <a:chExt cx="5124600" cy="536400"/>
          </a:xfrm>
        </p:grpSpPr>
        <p:sp>
          <p:nvSpPr>
            <p:cNvPr id="138" name="Google Shape;138;g35f1b241ad4_0_2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39" name="Google Shape;139;g35f1b241ad4_0_2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0" name="Google Shape;140;g35f1b241ad4_0_2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Introducción a las pruebas de software</a:t>
            </a:r>
            <a:endParaRPr b="0" i="0" sz="100" u="none" cap="none" strike="noStrike">
              <a:solidFill>
                <a:srgbClr val="000000"/>
              </a:solidFill>
              <a:latin typeface="Arial"/>
              <a:ea typeface="Arial"/>
              <a:cs typeface="Arial"/>
              <a:sym typeface="Arial"/>
            </a:endParaRPr>
          </a:p>
        </p:txBody>
      </p:sp>
      <p:sp>
        <p:nvSpPr>
          <p:cNvPr id="141" name="Google Shape;141;g35f1b241ad4_0_27"/>
          <p:cNvSpPr txBox="1"/>
          <p:nvPr/>
        </p:nvSpPr>
        <p:spPr>
          <a:xfrm>
            <a:off x="1028700" y="2969245"/>
            <a:ext cx="16230600" cy="17334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de software son un proceso fundamental para garantizar la calidad y el correcto funcionamiento de los sistemas informáticos. Permiten identificar y corregir errores antes de que el software se ponga en producción, lo que ahorra tiempo y recursos.</a:t>
            </a:r>
            <a:endParaRPr b="0" i="0" sz="1400" u="none" cap="none" strike="noStrike">
              <a:solidFill>
                <a:srgbClr val="000000"/>
              </a:solidFill>
              <a:latin typeface="Arial"/>
              <a:ea typeface="Arial"/>
              <a:cs typeface="Arial"/>
              <a:sym typeface="Arial"/>
            </a:endParaRPr>
          </a:p>
        </p:txBody>
      </p:sp>
      <p:pic>
        <p:nvPicPr>
          <p:cNvPr descr="preencoded.png" id="142" name="Google Shape;142;g35f1b241ad4_0_27"/>
          <p:cNvPicPr preferRelativeResize="0"/>
          <p:nvPr/>
        </p:nvPicPr>
        <p:blipFill rotWithShape="1">
          <a:blip r:embed="rId3">
            <a:alphaModFix/>
          </a:blip>
          <a:srcRect b="0" l="0" r="0" t="0"/>
          <a:stretch/>
        </p:blipFill>
        <p:spPr>
          <a:xfrm>
            <a:off x="5592605" y="5766450"/>
            <a:ext cx="7102800" cy="39953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3362"/>
        </a:solidFill>
      </p:bgPr>
    </p:bg>
    <p:spTree>
      <p:nvGrpSpPr>
        <p:cNvPr id="146" name="Shape 146"/>
        <p:cNvGrpSpPr/>
        <p:nvPr/>
      </p:nvGrpSpPr>
      <p:grpSpPr>
        <a:xfrm>
          <a:off x="0" y="0"/>
          <a:ext cx="0" cy="0"/>
          <a:chOff x="0" y="0"/>
          <a:chExt cx="0" cy="0"/>
        </a:xfrm>
      </p:grpSpPr>
      <p:grpSp>
        <p:nvGrpSpPr>
          <p:cNvPr id="147" name="Google Shape;147;g35f1b241ad4_0_36"/>
          <p:cNvGrpSpPr/>
          <p:nvPr/>
        </p:nvGrpSpPr>
        <p:grpSpPr>
          <a:xfrm>
            <a:off x="-584626" y="928335"/>
            <a:ext cx="19457594" cy="2036657"/>
            <a:chOff x="0" y="-76200"/>
            <a:chExt cx="5124600" cy="536400"/>
          </a:xfrm>
        </p:grpSpPr>
        <p:sp>
          <p:nvSpPr>
            <p:cNvPr id="148" name="Google Shape;148;g35f1b241ad4_0_3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FDFDFD"/>
            </a:solidFill>
            <a:ln>
              <a:noFill/>
            </a:ln>
          </p:spPr>
        </p:sp>
        <p:sp>
          <p:nvSpPr>
            <p:cNvPr id="149" name="Google Shape;149;g35f1b241ad4_0_3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0" name="Google Shape;150;g35f1b241ad4_0_36"/>
          <p:cNvSpPr/>
          <p:nvPr/>
        </p:nvSpPr>
        <p:spPr>
          <a:xfrm>
            <a:off x="4388364" y="4265449"/>
            <a:ext cx="2980944" cy="2980944"/>
          </a:xfrm>
          <a:custGeom>
            <a:rect b="b" l="l" r="r" t="t"/>
            <a:pathLst>
              <a:path extrusionOk="0" h="812800" w="812800">
                <a:moveTo>
                  <a:pt x="0" y="0"/>
                </a:moveTo>
                <a:lnTo>
                  <a:pt x="812800" y="0"/>
                </a:lnTo>
                <a:lnTo>
                  <a:pt x="812800" y="812800"/>
                </a:lnTo>
                <a:lnTo>
                  <a:pt x="0" y="812800"/>
                </a:lnTo>
                <a:close/>
              </a:path>
            </a:pathLst>
          </a:custGeom>
          <a:blipFill rotWithShape="1">
            <a:blip r:embed="rId3">
              <a:alphaModFix/>
            </a:blip>
            <a:stretch>
              <a:fillRect b="0" l="-24989" r="-24989" t="0"/>
            </a:stretch>
          </a:blipFill>
          <a:ln>
            <a:noFill/>
          </a:ln>
        </p:spPr>
      </p:sp>
      <p:sp>
        <p:nvSpPr>
          <p:cNvPr id="151" name="Google Shape;151;g35f1b241ad4_0_36"/>
          <p:cNvSpPr/>
          <p:nvPr/>
        </p:nvSpPr>
        <p:spPr>
          <a:xfrm>
            <a:off x="7700127" y="4265449"/>
            <a:ext cx="2980944" cy="2980944"/>
          </a:xfrm>
          <a:custGeom>
            <a:rect b="b" l="l" r="r" t="t"/>
            <a:pathLst>
              <a:path extrusionOk="0" h="812800" w="812800">
                <a:moveTo>
                  <a:pt x="0" y="0"/>
                </a:moveTo>
                <a:lnTo>
                  <a:pt x="812800" y="0"/>
                </a:lnTo>
                <a:lnTo>
                  <a:pt x="812800" y="812800"/>
                </a:lnTo>
                <a:lnTo>
                  <a:pt x="0" y="812800"/>
                </a:lnTo>
                <a:close/>
              </a:path>
            </a:pathLst>
          </a:custGeom>
          <a:blipFill rotWithShape="1">
            <a:blip r:embed="rId4">
              <a:alphaModFix/>
            </a:blip>
            <a:stretch>
              <a:fillRect b="-2819" l="0" r="0" t="-46969"/>
            </a:stretch>
          </a:blipFill>
          <a:ln>
            <a:noFill/>
          </a:ln>
        </p:spPr>
      </p:sp>
      <p:sp>
        <p:nvSpPr>
          <p:cNvPr id="152" name="Google Shape;152;g35f1b241ad4_0_36"/>
          <p:cNvSpPr/>
          <p:nvPr/>
        </p:nvSpPr>
        <p:spPr>
          <a:xfrm>
            <a:off x="11013931" y="4265449"/>
            <a:ext cx="2980944" cy="2980944"/>
          </a:xfrm>
          <a:custGeom>
            <a:rect b="b" l="l" r="r" t="t"/>
            <a:pathLst>
              <a:path extrusionOk="0" h="812800" w="812800">
                <a:moveTo>
                  <a:pt x="0" y="0"/>
                </a:moveTo>
                <a:lnTo>
                  <a:pt x="812800" y="0"/>
                </a:lnTo>
                <a:lnTo>
                  <a:pt x="812800" y="812800"/>
                </a:lnTo>
                <a:lnTo>
                  <a:pt x="0" y="812800"/>
                </a:lnTo>
                <a:close/>
              </a:path>
            </a:pathLst>
          </a:custGeom>
          <a:blipFill rotWithShape="1">
            <a:blip r:embed="rId5">
              <a:alphaModFix/>
            </a:blip>
            <a:stretch>
              <a:fillRect b="0" l="-25038" r="-25028" t="0"/>
            </a:stretch>
          </a:blipFill>
          <a:ln>
            <a:noFill/>
          </a:ln>
        </p:spPr>
      </p:sp>
      <p:grpSp>
        <p:nvGrpSpPr>
          <p:cNvPr id="153" name="Google Shape;153;g35f1b241ad4_0_36"/>
          <p:cNvGrpSpPr/>
          <p:nvPr/>
        </p:nvGrpSpPr>
        <p:grpSpPr>
          <a:xfrm>
            <a:off x="5168014" y="3554168"/>
            <a:ext cx="1422563" cy="1422563"/>
            <a:chOff x="0" y="0"/>
            <a:chExt cx="812800" cy="812800"/>
          </a:xfrm>
        </p:grpSpPr>
        <p:sp>
          <p:nvSpPr>
            <p:cNvPr id="154" name="Google Shape;154;g35f1b241ad4_0_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35f1b241ad4_0_36"/>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6" name="Google Shape;156;g35f1b241ad4_0_36"/>
          <p:cNvGrpSpPr/>
          <p:nvPr/>
        </p:nvGrpSpPr>
        <p:grpSpPr>
          <a:xfrm>
            <a:off x="8479777" y="3554168"/>
            <a:ext cx="1422563" cy="1422563"/>
            <a:chOff x="0" y="0"/>
            <a:chExt cx="812800" cy="812800"/>
          </a:xfrm>
        </p:grpSpPr>
        <p:sp>
          <p:nvSpPr>
            <p:cNvPr id="157" name="Google Shape;157;g35f1b241ad4_0_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35f1b241ad4_0_36"/>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9" name="Google Shape;159;g35f1b241ad4_0_36"/>
          <p:cNvGrpSpPr/>
          <p:nvPr/>
        </p:nvGrpSpPr>
        <p:grpSpPr>
          <a:xfrm>
            <a:off x="11793582" y="3554168"/>
            <a:ext cx="1422563" cy="1422563"/>
            <a:chOff x="0" y="0"/>
            <a:chExt cx="812800" cy="812800"/>
          </a:xfrm>
        </p:grpSpPr>
        <p:sp>
          <p:nvSpPr>
            <p:cNvPr id="160" name="Google Shape;160;g35f1b241ad4_0_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5f1b241ad4_0_36"/>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2" name="Google Shape;162;g35f1b241ad4_0_36"/>
          <p:cNvSpPr txBox="1"/>
          <p:nvPr/>
        </p:nvSpPr>
        <p:spPr>
          <a:xfrm>
            <a:off x="1028700" y="1494776"/>
            <a:ext cx="16230600" cy="2242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070"/>
              <a:buFont typeface="Arial"/>
              <a:buNone/>
            </a:pPr>
            <a:r>
              <a:rPr b="1" i="0" lang="en-US" sz="6070" u="none" cap="none" strike="noStrike">
                <a:solidFill>
                  <a:srgbClr val="013362"/>
                </a:solidFill>
                <a:latin typeface="Poppins"/>
                <a:ea typeface="Poppins"/>
                <a:cs typeface="Poppins"/>
                <a:sym typeface="Poppins"/>
              </a:rPr>
              <a:t>Importancia de las pruebas de software</a:t>
            </a:r>
            <a:endParaRPr b="1" i="0" sz="6070" u="none" cap="none" strike="noStrike">
              <a:solidFill>
                <a:srgbClr val="013362"/>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6070"/>
              <a:buFont typeface="Arial"/>
              <a:buNone/>
            </a:pPr>
            <a:r>
              <a:t/>
            </a:r>
            <a:endParaRPr b="1" i="0" sz="6070" u="none" cap="none" strike="noStrike">
              <a:solidFill>
                <a:srgbClr val="013362"/>
              </a:solidFill>
              <a:latin typeface="Poppins"/>
              <a:ea typeface="Poppins"/>
              <a:cs typeface="Poppins"/>
              <a:sym typeface="Poppins"/>
            </a:endParaRPr>
          </a:p>
        </p:txBody>
      </p:sp>
      <p:sp>
        <p:nvSpPr>
          <p:cNvPr id="163" name="Google Shape;163;g35f1b241ad4_0_36"/>
          <p:cNvSpPr txBox="1"/>
          <p:nvPr/>
        </p:nvSpPr>
        <p:spPr>
          <a:xfrm>
            <a:off x="4388375" y="7523900"/>
            <a:ext cx="3217200" cy="217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Calidad</a:t>
            </a:r>
            <a:endParaRPr b="1" i="0" sz="1770" u="none" cap="none" strike="noStrike">
              <a:solidFill>
                <a:srgbClr val="FFFFFF"/>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1770"/>
              <a:buFont typeface="Arial"/>
              <a:buNone/>
            </a:pPr>
            <a:r>
              <a:rPr b="0" i="0" lang="en-US" sz="1770" u="none" cap="none" strike="noStrike">
                <a:solidFill>
                  <a:srgbClr val="FFFFFF"/>
                </a:solidFill>
                <a:latin typeface="Poppins"/>
                <a:ea typeface="Poppins"/>
                <a:cs typeface="Poppins"/>
                <a:sym typeface="Poppins"/>
              </a:rPr>
              <a:t>Las pruebas ayudan a asegurar que el software cumpla con los requisitos y funcione sin errores.</a:t>
            </a:r>
            <a:endParaRPr b="0" i="0" sz="1770" u="none" cap="none" strike="noStrike">
              <a:solidFill>
                <a:srgbClr val="FFFFFF"/>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1770"/>
              <a:buFont typeface="Arial"/>
              <a:buNone/>
            </a:pPr>
            <a:r>
              <a:t/>
            </a:r>
            <a:endParaRPr b="0" i="0" sz="1770" u="none" cap="none" strike="noStrike">
              <a:solidFill>
                <a:srgbClr val="FFFFFF"/>
              </a:solidFill>
              <a:latin typeface="Poppins"/>
              <a:ea typeface="Poppins"/>
              <a:cs typeface="Poppins"/>
              <a:sym typeface="Poppins"/>
            </a:endParaRPr>
          </a:p>
        </p:txBody>
      </p:sp>
      <p:sp>
        <p:nvSpPr>
          <p:cNvPr id="164" name="Google Shape;164;g35f1b241ad4_0_36"/>
          <p:cNvSpPr txBox="1"/>
          <p:nvPr/>
        </p:nvSpPr>
        <p:spPr>
          <a:xfrm>
            <a:off x="7649201" y="7523900"/>
            <a:ext cx="3083700" cy="1798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Satisfacción del usuario</a:t>
            </a:r>
            <a:endParaRPr b="1" i="0" sz="1770" u="none" cap="none" strike="noStrike">
              <a:solidFill>
                <a:srgbClr val="FFFFFF"/>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1770"/>
              <a:buFont typeface="Arial"/>
              <a:buNone/>
            </a:pPr>
            <a:r>
              <a:rPr b="0" i="0" lang="en-US" sz="1770" u="none" cap="none" strike="noStrike">
                <a:solidFill>
                  <a:srgbClr val="FFFFFF"/>
                </a:solidFill>
                <a:latin typeface="Poppins"/>
                <a:ea typeface="Poppins"/>
                <a:cs typeface="Poppins"/>
                <a:sym typeface="Poppins"/>
              </a:rPr>
              <a:t>Un software bien probado brinda una mejor experiencia de usuario y genera más confianza.</a:t>
            </a:r>
            <a:endParaRPr b="0" i="0" sz="1770" u="none" cap="none" strike="noStrike">
              <a:solidFill>
                <a:srgbClr val="FFFFFF"/>
              </a:solidFill>
              <a:latin typeface="Poppins"/>
              <a:ea typeface="Poppins"/>
              <a:cs typeface="Poppins"/>
              <a:sym typeface="Poppins"/>
            </a:endParaRPr>
          </a:p>
        </p:txBody>
      </p:sp>
      <p:sp>
        <p:nvSpPr>
          <p:cNvPr id="165" name="Google Shape;165;g35f1b241ad4_0_36"/>
          <p:cNvSpPr txBox="1"/>
          <p:nvPr/>
        </p:nvSpPr>
        <p:spPr>
          <a:xfrm>
            <a:off x="11013975" y="7523900"/>
            <a:ext cx="2980800" cy="217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Detección temprana de errores</a:t>
            </a:r>
            <a:endParaRPr b="1" i="0" sz="1770" u="none" cap="none" strike="noStrike">
              <a:solidFill>
                <a:srgbClr val="FFFFFF"/>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1770"/>
              <a:buFont typeface="Arial"/>
              <a:buNone/>
            </a:pPr>
            <a:r>
              <a:rPr b="0" i="0" lang="en-US" sz="1770" u="none" cap="none" strike="noStrike">
                <a:solidFill>
                  <a:srgbClr val="FFFFFF"/>
                </a:solidFill>
                <a:latin typeface="Poppins"/>
                <a:ea typeface="Poppins"/>
                <a:cs typeface="Poppins"/>
                <a:sym typeface="Poppins"/>
              </a:rPr>
              <a:t>Identificar y corregir problemas en las primeras etapas reduce costos y esfuerzo..</a:t>
            </a:r>
            <a:endParaRPr b="0" i="0" sz="1770" u="none" cap="none" strike="noStrike">
              <a:solidFill>
                <a:srgbClr val="FFFFFF"/>
              </a:solidFill>
              <a:latin typeface="Poppins"/>
              <a:ea typeface="Poppins"/>
              <a:cs typeface="Poppins"/>
              <a:sym typeface="Poppins"/>
            </a:endParaRPr>
          </a:p>
        </p:txBody>
      </p:sp>
      <p:sp>
        <p:nvSpPr>
          <p:cNvPr id="166" name="Google Shape;166;g35f1b241ad4_0_36"/>
          <p:cNvSpPr txBox="1"/>
          <p:nvPr/>
        </p:nvSpPr>
        <p:spPr>
          <a:xfrm>
            <a:off x="5559185" y="373728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67" name="Google Shape;167;g35f1b241ad4_0_36"/>
          <p:cNvSpPr txBox="1"/>
          <p:nvPr/>
        </p:nvSpPr>
        <p:spPr>
          <a:xfrm>
            <a:off x="8870947" y="373728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168" name="Google Shape;168;g35f1b241ad4_0_36"/>
          <p:cNvSpPr txBox="1"/>
          <p:nvPr/>
        </p:nvSpPr>
        <p:spPr>
          <a:xfrm>
            <a:off x="12184751" y="373728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2" name="Shape 172"/>
        <p:cNvGrpSpPr/>
        <p:nvPr/>
      </p:nvGrpSpPr>
      <p:grpSpPr>
        <a:xfrm>
          <a:off x="0" y="0"/>
          <a:ext cx="0" cy="0"/>
          <a:chOff x="0" y="0"/>
          <a:chExt cx="0" cy="0"/>
        </a:xfrm>
      </p:grpSpPr>
      <p:grpSp>
        <p:nvGrpSpPr>
          <p:cNvPr id="173" name="Google Shape;173;g35f1b241ad4_0_61"/>
          <p:cNvGrpSpPr/>
          <p:nvPr/>
        </p:nvGrpSpPr>
        <p:grpSpPr>
          <a:xfrm>
            <a:off x="-584801" y="364850"/>
            <a:ext cx="19457594" cy="2036657"/>
            <a:chOff x="0" y="-76200"/>
            <a:chExt cx="5124600" cy="536400"/>
          </a:xfrm>
        </p:grpSpPr>
        <p:sp>
          <p:nvSpPr>
            <p:cNvPr id="174" name="Google Shape;174;g35f1b241ad4_0_6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75" name="Google Shape;175;g35f1b241ad4_0_6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g35f1b241ad4_0_61"/>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Tipos de pruebas de software</a:t>
            </a:r>
            <a:endParaRPr b="0" i="0" sz="100" u="none" cap="none" strike="noStrike">
              <a:solidFill>
                <a:srgbClr val="000000"/>
              </a:solidFill>
              <a:latin typeface="Arial"/>
              <a:ea typeface="Arial"/>
              <a:cs typeface="Arial"/>
              <a:sym typeface="Arial"/>
            </a:endParaRPr>
          </a:p>
        </p:txBody>
      </p:sp>
      <p:sp>
        <p:nvSpPr>
          <p:cNvPr id="177" name="Google Shape;177;g35f1b241ad4_0_61"/>
          <p:cNvSpPr/>
          <p:nvPr/>
        </p:nvSpPr>
        <p:spPr>
          <a:xfrm>
            <a:off x="793801" y="4206502"/>
            <a:ext cx="3174900" cy="44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F42"/>
              </a:buClr>
              <a:buSzPts val="2200"/>
              <a:buFont typeface="Bitter"/>
              <a:buNone/>
            </a:pPr>
            <a:r>
              <a:rPr b="1" i="0" lang="en-US" sz="2200" u="none" cap="none" strike="noStrike">
                <a:solidFill>
                  <a:srgbClr val="2C3F42"/>
                </a:solidFill>
                <a:latin typeface="Bitter"/>
                <a:ea typeface="Bitter"/>
                <a:cs typeface="Bitter"/>
                <a:sym typeface="Bitter"/>
              </a:rPr>
              <a:t>Pruebas Funcionales</a:t>
            </a:r>
            <a:endParaRPr b="1" i="0" sz="2200" u="none" cap="none" strike="noStrike">
              <a:solidFill>
                <a:srgbClr val="000000"/>
              </a:solidFill>
              <a:latin typeface="Arial"/>
              <a:ea typeface="Arial"/>
              <a:cs typeface="Arial"/>
              <a:sym typeface="Arial"/>
            </a:endParaRPr>
          </a:p>
        </p:txBody>
      </p:sp>
      <p:sp>
        <p:nvSpPr>
          <p:cNvPr id="178" name="Google Shape;178;g35f1b241ad4_0_61"/>
          <p:cNvSpPr/>
          <p:nvPr/>
        </p:nvSpPr>
        <p:spPr>
          <a:xfrm>
            <a:off x="793801" y="4726362"/>
            <a:ext cx="4454400" cy="910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B2E3C"/>
              </a:buClr>
              <a:buSzPts val="1750"/>
              <a:buFont typeface="Open Sans"/>
              <a:buNone/>
            </a:pPr>
            <a:r>
              <a:rPr b="0" i="0" lang="en-US" sz="1750" u="none" cap="none" strike="noStrike">
                <a:solidFill>
                  <a:srgbClr val="2B2E3C"/>
                </a:solidFill>
                <a:latin typeface="Open Sans"/>
                <a:ea typeface="Open Sans"/>
                <a:cs typeface="Open Sans"/>
                <a:sym typeface="Open Sans"/>
              </a:rPr>
              <a:t>Validan que el software cumpla con los requisitos especificados.</a:t>
            </a:r>
            <a:endParaRPr b="0" i="0" sz="1750" u="none" cap="none" strike="noStrike">
              <a:solidFill>
                <a:srgbClr val="000000"/>
              </a:solidFill>
              <a:latin typeface="Arial"/>
              <a:ea typeface="Arial"/>
              <a:cs typeface="Arial"/>
              <a:sym typeface="Arial"/>
            </a:endParaRPr>
          </a:p>
        </p:txBody>
      </p:sp>
      <p:sp>
        <p:nvSpPr>
          <p:cNvPr id="179" name="Google Shape;179;g35f1b241ad4_0_61"/>
          <p:cNvSpPr/>
          <p:nvPr/>
        </p:nvSpPr>
        <p:spPr>
          <a:xfrm>
            <a:off x="13765824" y="4522263"/>
            <a:ext cx="39780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F42"/>
              </a:buClr>
              <a:buSzPts val="2200"/>
              <a:buFont typeface="Bitter"/>
              <a:buNone/>
            </a:pPr>
            <a:r>
              <a:rPr b="1" i="0" lang="en-US" sz="2200" u="none" cap="none" strike="noStrike">
                <a:solidFill>
                  <a:srgbClr val="2C3F42"/>
                </a:solidFill>
                <a:latin typeface="Bitter"/>
                <a:ea typeface="Bitter"/>
                <a:cs typeface="Bitter"/>
                <a:sym typeface="Bitter"/>
              </a:rPr>
              <a:t>Pruebas No Funcionales</a:t>
            </a:r>
            <a:endParaRPr b="1" i="0" sz="2200" u="none" cap="none" strike="noStrike">
              <a:solidFill>
                <a:srgbClr val="000000"/>
              </a:solidFill>
              <a:latin typeface="Arial"/>
              <a:ea typeface="Arial"/>
              <a:cs typeface="Arial"/>
              <a:sym typeface="Arial"/>
            </a:endParaRPr>
          </a:p>
        </p:txBody>
      </p:sp>
      <p:sp>
        <p:nvSpPr>
          <p:cNvPr id="180" name="Google Shape;180;g35f1b241ad4_0_61"/>
          <p:cNvSpPr/>
          <p:nvPr/>
        </p:nvSpPr>
        <p:spPr>
          <a:xfrm>
            <a:off x="13825653" y="5039048"/>
            <a:ext cx="39780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B2E3C"/>
              </a:buClr>
              <a:buSzPts val="1750"/>
              <a:buFont typeface="Open Sans"/>
              <a:buNone/>
            </a:pPr>
            <a:r>
              <a:rPr b="0" i="0" lang="en-US" sz="1750" u="none" cap="none" strike="noStrike">
                <a:solidFill>
                  <a:srgbClr val="2B2E3C"/>
                </a:solidFill>
                <a:latin typeface="Open Sans"/>
                <a:ea typeface="Open Sans"/>
                <a:cs typeface="Open Sans"/>
                <a:sym typeface="Open Sans"/>
              </a:rPr>
              <a:t>Evalúan aspectos como rendimiento, seguridad, usabilidad y compatibilidad.</a:t>
            </a:r>
            <a:endParaRPr b="0" i="0" sz="1750" u="none" cap="none" strike="noStrike">
              <a:solidFill>
                <a:srgbClr val="000000"/>
              </a:solidFill>
              <a:latin typeface="Arial"/>
              <a:ea typeface="Arial"/>
              <a:cs typeface="Arial"/>
              <a:sym typeface="Arial"/>
            </a:endParaRPr>
          </a:p>
        </p:txBody>
      </p:sp>
      <p:pic>
        <p:nvPicPr>
          <p:cNvPr descr="preencoded.png" id="181" name="Google Shape;181;g35f1b241ad4_0_61"/>
          <p:cNvPicPr preferRelativeResize="0"/>
          <p:nvPr/>
        </p:nvPicPr>
        <p:blipFill rotWithShape="1">
          <a:blip r:embed="rId3">
            <a:alphaModFix/>
          </a:blip>
          <a:srcRect b="0" l="0" r="0" t="0"/>
          <a:stretch/>
        </p:blipFill>
        <p:spPr>
          <a:xfrm>
            <a:off x="5383334" y="3538952"/>
            <a:ext cx="7521351" cy="56473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85" name="Shape 185"/>
        <p:cNvGrpSpPr/>
        <p:nvPr/>
      </p:nvGrpSpPr>
      <p:grpSpPr>
        <a:xfrm>
          <a:off x="0" y="0"/>
          <a:ext cx="0" cy="0"/>
          <a:chOff x="0" y="0"/>
          <a:chExt cx="0" cy="0"/>
        </a:xfrm>
      </p:grpSpPr>
      <p:grpSp>
        <p:nvGrpSpPr>
          <p:cNvPr id="186" name="Google Shape;186;g35f1b241ad4_0_73"/>
          <p:cNvGrpSpPr/>
          <p:nvPr/>
        </p:nvGrpSpPr>
        <p:grpSpPr>
          <a:xfrm>
            <a:off x="-584801" y="364850"/>
            <a:ext cx="19457594" cy="2036657"/>
            <a:chOff x="0" y="-76200"/>
            <a:chExt cx="5124600" cy="536400"/>
          </a:xfrm>
        </p:grpSpPr>
        <p:sp>
          <p:nvSpPr>
            <p:cNvPr id="187" name="Google Shape;187;g35f1b241ad4_0_7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88" name="Google Shape;188;g35f1b241ad4_0_7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9" name="Google Shape;189;g35f1b241ad4_0_7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no funcionales</a:t>
            </a:r>
            <a:endParaRPr b="1" i="0" sz="7024" u="none" cap="none" strike="noStrike">
              <a:solidFill>
                <a:srgbClr val="FDFDFD"/>
              </a:solidFill>
              <a:latin typeface="Poppins"/>
              <a:ea typeface="Poppins"/>
              <a:cs typeface="Poppins"/>
              <a:sym typeface="Poppins"/>
            </a:endParaRPr>
          </a:p>
        </p:txBody>
      </p:sp>
      <p:pic>
        <p:nvPicPr>
          <p:cNvPr id="190" name="Google Shape;190;g35f1b241ad4_0_73"/>
          <p:cNvPicPr preferRelativeResize="0"/>
          <p:nvPr/>
        </p:nvPicPr>
        <p:blipFill rotWithShape="1">
          <a:blip r:embed="rId3">
            <a:alphaModFix/>
          </a:blip>
          <a:srcRect b="0" l="0" r="0" t="0"/>
          <a:stretch/>
        </p:blipFill>
        <p:spPr>
          <a:xfrm>
            <a:off x="10304800" y="3346951"/>
            <a:ext cx="7832001" cy="4879876"/>
          </a:xfrm>
          <a:prstGeom prst="rect">
            <a:avLst/>
          </a:prstGeom>
          <a:noFill/>
          <a:ln>
            <a:noFill/>
          </a:ln>
        </p:spPr>
      </p:pic>
      <p:sp>
        <p:nvSpPr>
          <p:cNvPr id="191" name="Google Shape;191;g35f1b241ad4_0_73"/>
          <p:cNvSpPr txBox="1"/>
          <p:nvPr/>
        </p:nvSpPr>
        <p:spPr>
          <a:xfrm>
            <a:off x="1028700" y="2969250"/>
            <a:ext cx="9276000" cy="42879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no funcionales se centran en evaluar las características del sistema que no están relacionadas directamente con las funciones o características específicas que realiza, sino con la calidad del sistema en cuanto a su rendimiento, capacidad de respuesta, escalabilidad, entre otras.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95" name="Shape 195"/>
        <p:cNvGrpSpPr/>
        <p:nvPr/>
      </p:nvGrpSpPr>
      <p:grpSpPr>
        <a:xfrm>
          <a:off x="0" y="0"/>
          <a:ext cx="0" cy="0"/>
          <a:chOff x="0" y="0"/>
          <a:chExt cx="0" cy="0"/>
        </a:xfrm>
      </p:grpSpPr>
      <p:grpSp>
        <p:nvGrpSpPr>
          <p:cNvPr id="196" name="Google Shape;196;g35f1b241ad4_0_82"/>
          <p:cNvGrpSpPr/>
          <p:nvPr/>
        </p:nvGrpSpPr>
        <p:grpSpPr>
          <a:xfrm>
            <a:off x="-584801" y="364850"/>
            <a:ext cx="19457594" cy="2036657"/>
            <a:chOff x="0" y="-76200"/>
            <a:chExt cx="5124600" cy="536400"/>
          </a:xfrm>
        </p:grpSpPr>
        <p:sp>
          <p:nvSpPr>
            <p:cNvPr id="197" name="Google Shape;197;g35f1b241ad4_0_8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98" name="Google Shape;198;g35f1b241ad4_0_8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9" name="Google Shape;199;g35f1b241ad4_0_82"/>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no funcionales</a:t>
            </a:r>
            <a:endParaRPr b="1" i="0" sz="7024" u="none" cap="none" strike="noStrike">
              <a:solidFill>
                <a:srgbClr val="FDFDFD"/>
              </a:solidFill>
              <a:latin typeface="Poppins"/>
              <a:ea typeface="Poppins"/>
              <a:cs typeface="Poppins"/>
              <a:sym typeface="Poppins"/>
            </a:endParaRPr>
          </a:p>
        </p:txBody>
      </p:sp>
      <p:sp>
        <p:nvSpPr>
          <p:cNvPr id="200" name="Google Shape;200;g35f1b241ad4_0_82"/>
          <p:cNvSpPr txBox="1"/>
          <p:nvPr/>
        </p:nvSpPr>
        <p:spPr>
          <a:xfrm>
            <a:off x="1028700" y="2969250"/>
            <a:ext cx="15627900" cy="55650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b="1" i="0" lang="en-US" sz="2963" u="none" cap="none" strike="noStrike">
                <a:solidFill>
                  <a:srgbClr val="013362"/>
                </a:solidFill>
                <a:latin typeface="Poppins"/>
                <a:ea typeface="Poppins"/>
                <a:cs typeface="Poppins"/>
                <a:sym typeface="Poppins"/>
              </a:rPr>
              <a:t>Objetivo:</a:t>
            </a:r>
            <a:r>
              <a:rPr b="0" i="0" lang="en-US" sz="2963" u="none" cap="none" strike="noStrike">
                <a:solidFill>
                  <a:srgbClr val="013362"/>
                </a:solidFill>
                <a:latin typeface="Poppins Light"/>
                <a:ea typeface="Poppins Light"/>
                <a:cs typeface="Poppins Light"/>
                <a:sym typeface="Poppins Light"/>
              </a:rPr>
              <a:t> Evaluar cómo se comporta el sistema en términos de rendimiento, eficiencia, usabilidad, fiabilidad, y otros aspectos no funcionales bajo diferentes condiciones operativas.</a:t>
            </a:r>
            <a:endParaRPr b="0" i="0" sz="2963"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b="0" i="0" sz="2963"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Tipos comunes de pruebas no funcionales:</a:t>
            </a:r>
            <a:endParaRPr b="0" i="0" sz="2963" u="none" cap="none" strike="noStrike">
              <a:solidFill>
                <a:srgbClr val="013362"/>
              </a:solidFill>
              <a:latin typeface="Poppins Light"/>
              <a:ea typeface="Poppins Light"/>
              <a:cs typeface="Poppins Light"/>
              <a:sym typeface="Poppins Light"/>
            </a:endParaRPr>
          </a:p>
          <a:p>
            <a:pPr indent="-416750" lvl="0" marL="457200" marR="0" rtl="0" algn="just">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Pruebas de carga</a:t>
            </a:r>
            <a:endParaRPr b="0" i="0" sz="2963" u="none" cap="none" strike="noStrike">
              <a:solidFill>
                <a:srgbClr val="013362"/>
              </a:solidFill>
              <a:latin typeface="Poppins Light"/>
              <a:ea typeface="Poppins Light"/>
              <a:cs typeface="Poppins Light"/>
              <a:sym typeface="Poppins Light"/>
            </a:endParaRPr>
          </a:p>
          <a:p>
            <a:pPr indent="-416750" lvl="0" marL="457200" marR="0" rtl="0" algn="just">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Pruebas de estrés</a:t>
            </a:r>
            <a:endParaRPr b="0" i="0" sz="2963" u="none" cap="none" strike="noStrike">
              <a:solidFill>
                <a:srgbClr val="013362"/>
              </a:solidFill>
              <a:latin typeface="Poppins Light"/>
              <a:ea typeface="Poppins Light"/>
              <a:cs typeface="Poppins Light"/>
              <a:sym typeface="Poppins Light"/>
            </a:endParaRPr>
          </a:p>
          <a:p>
            <a:pPr indent="-416750" lvl="0" marL="457200" marR="0" rtl="0" algn="just">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Pruebas de escalabilidad</a:t>
            </a:r>
            <a:endParaRPr b="0" i="0" sz="2963" u="none" cap="none" strike="noStrike">
              <a:solidFill>
                <a:srgbClr val="013362"/>
              </a:solidFill>
              <a:latin typeface="Poppins Light"/>
              <a:ea typeface="Poppins Light"/>
              <a:cs typeface="Poppins Light"/>
              <a:sym typeface="Poppins Light"/>
            </a:endParaRPr>
          </a:p>
          <a:p>
            <a:pPr indent="-416750" lvl="0" marL="457200" marR="0" rtl="0" algn="just">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Pruebas de portabilidad</a:t>
            </a:r>
            <a:endParaRPr b="0" i="0" sz="2963" u="none" cap="none" strike="noStrike">
              <a:solidFill>
                <a:srgbClr val="013362"/>
              </a:solidFill>
              <a:latin typeface="Poppins Light"/>
              <a:ea typeface="Poppins Light"/>
              <a:cs typeface="Poppins Light"/>
              <a:sym typeface="Poppins Light"/>
            </a:endParaRPr>
          </a:p>
        </p:txBody>
      </p:sp>
      <p:pic>
        <p:nvPicPr>
          <p:cNvPr id="201" name="Google Shape;201;g35f1b241ad4_0_82"/>
          <p:cNvPicPr preferRelativeResize="0"/>
          <p:nvPr/>
        </p:nvPicPr>
        <p:blipFill rotWithShape="1">
          <a:blip r:embed="rId3">
            <a:alphaModFix/>
          </a:blip>
          <a:srcRect b="0" l="0" r="0" t="0"/>
          <a:stretch/>
        </p:blipFill>
        <p:spPr>
          <a:xfrm>
            <a:off x="10996825" y="4574100"/>
            <a:ext cx="4876800" cy="4876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5" name="Shape 205"/>
        <p:cNvGrpSpPr/>
        <p:nvPr/>
      </p:nvGrpSpPr>
      <p:grpSpPr>
        <a:xfrm>
          <a:off x="0" y="0"/>
          <a:ext cx="0" cy="0"/>
          <a:chOff x="0" y="0"/>
          <a:chExt cx="0" cy="0"/>
        </a:xfrm>
      </p:grpSpPr>
      <p:grpSp>
        <p:nvGrpSpPr>
          <p:cNvPr id="206" name="Google Shape;206;g35f1b241ad4_0_91"/>
          <p:cNvGrpSpPr/>
          <p:nvPr/>
        </p:nvGrpSpPr>
        <p:grpSpPr>
          <a:xfrm>
            <a:off x="-584800" y="2437174"/>
            <a:ext cx="19457594" cy="4853776"/>
            <a:chOff x="0" y="-76200"/>
            <a:chExt cx="5124600" cy="536400"/>
          </a:xfrm>
        </p:grpSpPr>
        <p:sp>
          <p:nvSpPr>
            <p:cNvPr id="207" name="Google Shape;207;g35f1b241ad4_0_9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08" name="Google Shape;208;g35f1b241ad4_0_9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9" name="Google Shape;209;g35f1b241ad4_0_91"/>
          <p:cNvSpPr txBox="1"/>
          <p:nvPr/>
        </p:nvSpPr>
        <p:spPr>
          <a:xfrm>
            <a:off x="1479696" y="3439639"/>
            <a:ext cx="150894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Tipos de pruebas no funcionales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13" name="Shape 213"/>
        <p:cNvGrpSpPr/>
        <p:nvPr/>
      </p:nvGrpSpPr>
      <p:grpSpPr>
        <a:xfrm>
          <a:off x="0" y="0"/>
          <a:ext cx="0" cy="0"/>
          <a:chOff x="0" y="0"/>
          <a:chExt cx="0" cy="0"/>
        </a:xfrm>
      </p:grpSpPr>
      <p:grpSp>
        <p:nvGrpSpPr>
          <p:cNvPr id="214" name="Google Shape;214;g35f1b241ad4_0_98"/>
          <p:cNvGrpSpPr/>
          <p:nvPr/>
        </p:nvGrpSpPr>
        <p:grpSpPr>
          <a:xfrm>
            <a:off x="-584801" y="364850"/>
            <a:ext cx="19457594" cy="2036657"/>
            <a:chOff x="0" y="-76200"/>
            <a:chExt cx="5124600" cy="536400"/>
          </a:xfrm>
        </p:grpSpPr>
        <p:sp>
          <p:nvSpPr>
            <p:cNvPr id="215" name="Google Shape;215;g35f1b241ad4_0_9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16" name="Google Shape;216;g35f1b241ad4_0_9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7" name="Google Shape;217;g35f1b241ad4_0_98"/>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de carga</a:t>
            </a:r>
            <a:endParaRPr b="1" i="0" sz="7024" u="none" cap="none" strike="noStrike">
              <a:solidFill>
                <a:srgbClr val="FDFDFD"/>
              </a:solidFill>
              <a:latin typeface="Poppins"/>
              <a:ea typeface="Poppins"/>
              <a:cs typeface="Poppins"/>
              <a:sym typeface="Poppins"/>
            </a:endParaRPr>
          </a:p>
        </p:txBody>
      </p:sp>
      <p:sp>
        <p:nvSpPr>
          <p:cNvPr id="218" name="Google Shape;218;g35f1b241ad4_0_98"/>
          <p:cNvSpPr txBox="1"/>
          <p:nvPr/>
        </p:nvSpPr>
        <p:spPr>
          <a:xfrm>
            <a:off x="1028700" y="2969250"/>
            <a:ext cx="17048400" cy="17334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de carga se realizan para verificar el comportamiento del sistema bajo una carga esperada de usuarios, transacciones o datos. Se miden aspectos como el tiempo de respuesta, el uso de recursos y la estabilidad bajo condiciones normales de uso.</a:t>
            </a:r>
            <a:endParaRPr b="0" i="0" sz="2963" u="none" cap="none" strike="noStrike">
              <a:solidFill>
                <a:srgbClr val="013362"/>
              </a:solidFill>
              <a:latin typeface="Poppins Light"/>
              <a:ea typeface="Poppins Light"/>
              <a:cs typeface="Poppins Light"/>
              <a:sym typeface="Poppins Light"/>
            </a:endParaRPr>
          </a:p>
        </p:txBody>
      </p:sp>
      <p:pic>
        <p:nvPicPr>
          <p:cNvPr id="219" name="Google Shape;219;g35f1b241ad4_0_98"/>
          <p:cNvPicPr preferRelativeResize="0"/>
          <p:nvPr/>
        </p:nvPicPr>
        <p:blipFill rotWithShape="1">
          <a:blip r:embed="rId3">
            <a:alphaModFix/>
          </a:blip>
          <a:srcRect b="0" l="0" r="0" t="0"/>
          <a:stretch/>
        </p:blipFill>
        <p:spPr>
          <a:xfrm>
            <a:off x="5041725" y="5007450"/>
            <a:ext cx="7395702" cy="5279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23" name="Shape 223"/>
        <p:cNvGrpSpPr/>
        <p:nvPr/>
      </p:nvGrpSpPr>
      <p:grpSpPr>
        <a:xfrm>
          <a:off x="0" y="0"/>
          <a:ext cx="0" cy="0"/>
          <a:chOff x="0" y="0"/>
          <a:chExt cx="0" cy="0"/>
        </a:xfrm>
      </p:grpSpPr>
      <p:grpSp>
        <p:nvGrpSpPr>
          <p:cNvPr id="224" name="Google Shape;224;g35f1b241ad4_0_107"/>
          <p:cNvGrpSpPr/>
          <p:nvPr/>
        </p:nvGrpSpPr>
        <p:grpSpPr>
          <a:xfrm>
            <a:off x="-584801" y="364850"/>
            <a:ext cx="19457594" cy="2036657"/>
            <a:chOff x="0" y="-76200"/>
            <a:chExt cx="5124600" cy="536400"/>
          </a:xfrm>
        </p:grpSpPr>
        <p:sp>
          <p:nvSpPr>
            <p:cNvPr id="225" name="Google Shape;225;g35f1b241ad4_0_10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26" name="Google Shape;226;g35f1b241ad4_0_10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7" name="Google Shape;227;g35f1b241ad4_0_10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Objetivo de las pruebas de carga</a:t>
            </a:r>
            <a:endParaRPr b="1" i="0" sz="7024" u="none" cap="none" strike="noStrike">
              <a:solidFill>
                <a:srgbClr val="FDFDFD"/>
              </a:solidFill>
              <a:latin typeface="Poppins"/>
              <a:ea typeface="Poppins"/>
              <a:cs typeface="Poppins"/>
              <a:sym typeface="Poppins"/>
            </a:endParaRPr>
          </a:p>
        </p:txBody>
      </p:sp>
      <p:sp>
        <p:nvSpPr>
          <p:cNvPr id="228" name="Google Shape;228;g35f1b241ad4_0_107"/>
          <p:cNvSpPr txBox="1"/>
          <p:nvPr/>
        </p:nvSpPr>
        <p:spPr>
          <a:xfrm>
            <a:off x="1028700" y="2969250"/>
            <a:ext cx="17048400" cy="3649200"/>
          </a:xfrm>
          <a:prstGeom prst="rect">
            <a:avLst/>
          </a:prstGeom>
          <a:noFill/>
          <a:ln>
            <a:noFill/>
          </a:ln>
        </p:spPr>
        <p:txBody>
          <a:bodyPr anchorCtr="0" anchor="t" bIns="0" lIns="0" spcFirstLastPara="1" rIns="0" wrap="square" tIns="0">
            <a:spAutoFit/>
          </a:bodyPr>
          <a:lstStyle/>
          <a:p>
            <a:pPr indent="-416750" lvl="0" marL="457200" marR="0" rtl="0" algn="l">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Determinar cómo el sistema maneja múltiples usuarios o transacciones de manera simultánea.</a:t>
            </a:r>
            <a:endParaRPr b="0" i="0" sz="2963" u="none" cap="none" strike="noStrike">
              <a:solidFill>
                <a:srgbClr val="013362"/>
              </a:solidFill>
              <a:latin typeface="Poppins Light"/>
              <a:ea typeface="Poppins Light"/>
              <a:cs typeface="Poppins Light"/>
              <a:sym typeface="Poppins Light"/>
            </a:endParaRPr>
          </a:p>
          <a:p>
            <a:pPr indent="-416750" lvl="0" marL="457200" marR="0" rtl="0" algn="l">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Identificar cuellos de botella o problemas de rendimiento cuando el sistema está bajo su carga máxima esperada.</a:t>
            </a:r>
            <a:endParaRPr b="0" i="0" sz="2963" u="none" cap="none" strike="noStrike">
              <a:solidFill>
                <a:srgbClr val="013362"/>
              </a:solidFill>
              <a:latin typeface="Poppins Light"/>
              <a:ea typeface="Poppins Light"/>
              <a:cs typeface="Poppins Light"/>
              <a:sym typeface="Poppins Light"/>
            </a:endParaRPr>
          </a:p>
          <a:p>
            <a:pPr indent="-416750" lvl="0" marL="457200" marR="0" rtl="0" algn="l">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Garantizar que el tiempo de respuesta sea adecuado bajo las cargas de trabajo normales.</a:t>
            </a:r>
            <a:endParaRPr b="0" i="0" sz="2963" u="none" cap="none" strike="noStrike">
              <a:solidFill>
                <a:srgbClr val="013362"/>
              </a:solidFill>
              <a:latin typeface="Poppins Light"/>
              <a:ea typeface="Poppins Light"/>
              <a:cs typeface="Poppins Light"/>
              <a:sym typeface="Poppins Light"/>
            </a:endParaRPr>
          </a:p>
        </p:txBody>
      </p:sp>
      <p:pic>
        <p:nvPicPr>
          <p:cNvPr id="229" name="Google Shape;229;g35f1b241ad4_0_107"/>
          <p:cNvPicPr preferRelativeResize="0"/>
          <p:nvPr/>
        </p:nvPicPr>
        <p:blipFill rotWithShape="1">
          <a:blip r:embed="rId3">
            <a:alphaModFix/>
          </a:blip>
          <a:srcRect b="0" l="0" r="0" t="0"/>
          <a:stretch/>
        </p:blipFill>
        <p:spPr>
          <a:xfrm>
            <a:off x="2595738" y="6486775"/>
            <a:ext cx="5560686" cy="3649200"/>
          </a:xfrm>
          <a:prstGeom prst="rect">
            <a:avLst/>
          </a:prstGeom>
          <a:noFill/>
          <a:ln>
            <a:noFill/>
          </a:ln>
        </p:spPr>
      </p:pic>
      <p:sp>
        <p:nvSpPr>
          <p:cNvPr id="230" name="Google Shape;230;g35f1b241ad4_0_107"/>
          <p:cNvSpPr/>
          <p:nvPr/>
        </p:nvSpPr>
        <p:spPr>
          <a:xfrm>
            <a:off x="8477800" y="6309775"/>
            <a:ext cx="8866584" cy="358851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alibri"/>
                <a:ea typeface="Calibri"/>
                <a:cs typeface="Calibri"/>
                <a:sym typeface="Calibri"/>
              </a:rPr>
              <a:t>Simular 1,000 usuarios concurrentes accediendo a una aplicación web, midiendo cómo el servidor maneja la carga y los tiempos de respuesta.</a:t>
            </a:r>
            <a:endParaRPr b="0" i="0" sz="21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34" name="Shape 234"/>
        <p:cNvGrpSpPr/>
        <p:nvPr/>
      </p:nvGrpSpPr>
      <p:grpSpPr>
        <a:xfrm>
          <a:off x="0" y="0"/>
          <a:ext cx="0" cy="0"/>
          <a:chOff x="0" y="0"/>
          <a:chExt cx="0" cy="0"/>
        </a:xfrm>
      </p:grpSpPr>
      <p:grpSp>
        <p:nvGrpSpPr>
          <p:cNvPr id="235" name="Google Shape;235;g35f1b241ad4_0_117"/>
          <p:cNvGrpSpPr/>
          <p:nvPr/>
        </p:nvGrpSpPr>
        <p:grpSpPr>
          <a:xfrm>
            <a:off x="-584801" y="364850"/>
            <a:ext cx="19457594" cy="2036657"/>
            <a:chOff x="0" y="-76200"/>
            <a:chExt cx="5124600" cy="536400"/>
          </a:xfrm>
        </p:grpSpPr>
        <p:sp>
          <p:nvSpPr>
            <p:cNvPr id="236" name="Google Shape;236;g35f1b241ad4_0_11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37" name="Google Shape;237;g35f1b241ad4_0_11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8" name="Google Shape;238;g35f1b241ad4_0_11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chemeClr val="dk1"/>
              </a:buClr>
              <a:buSzPts val="9224"/>
              <a:buFont typeface="Arial"/>
              <a:buNone/>
            </a:pPr>
            <a:r>
              <a:rPr b="1" i="0" lang="en-US" sz="7024" u="none" cap="none" strike="noStrike">
                <a:solidFill>
                  <a:srgbClr val="FDFDFD"/>
                </a:solidFill>
                <a:latin typeface="Poppins"/>
                <a:ea typeface="Poppins"/>
                <a:cs typeface="Poppins"/>
                <a:sym typeface="Poppins"/>
              </a:rPr>
              <a:t>Pruebas de estrés</a:t>
            </a:r>
            <a:endParaRPr b="1" i="0" sz="7024" u="none" cap="none" strike="noStrike">
              <a:solidFill>
                <a:srgbClr val="FDFDFD"/>
              </a:solidFill>
              <a:latin typeface="Poppins"/>
              <a:ea typeface="Poppins"/>
              <a:cs typeface="Poppins"/>
              <a:sym typeface="Poppins"/>
            </a:endParaRPr>
          </a:p>
        </p:txBody>
      </p:sp>
      <p:sp>
        <p:nvSpPr>
          <p:cNvPr id="239" name="Google Shape;239;g35f1b241ad4_0_117"/>
          <p:cNvSpPr txBox="1"/>
          <p:nvPr/>
        </p:nvSpPr>
        <p:spPr>
          <a:xfrm>
            <a:off x="619800" y="2535650"/>
            <a:ext cx="17048400" cy="23721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de estrés evalúan el comportamiento del sistema bajo condiciones extremas, mucho más allá de su carga esperada. El objetivo es determinar en qué momento el sistema falla, cómo responde en situaciones de sobrecarga y cómo se recupera después de una falla.</a:t>
            </a:r>
            <a:endParaRPr b="0" i="0" sz="2963" u="none" cap="none" strike="noStrike">
              <a:solidFill>
                <a:srgbClr val="013362"/>
              </a:solidFill>
              <a:latin typeface="Poppins Light"/>
              <a:ea typeface="Poppins Light"/>
              <a:cs typeface="Poppins Light"/>
              <a:sym typeface="Poppins Light"/>
            </a:endParaRPr>
          </a:p>
        </p:txBody>
      </p:sp>
      <p:pic>
        <p:nvPicPr>
          <p:cNvPr id="240" name="Google Shape;240;g35f1b241ad4_0_117"/>
          <p:cNvPicPr preferRelativeResize="0"/>
          <p:nvPr/>
        </p:nvPicPr>
        <p:blipFill rotWithShape="1">
          <a:blip r:embed="rId3">
            <a:alphaModFix/>
          </a:blip>
          <a:srcRect b="0" l="0" r="0" t="0"/>
          <a:stretch/>
        </p:blipFill>
        <p:spPr>
          <a:xfrm>
            <a:off x="4637088" y="5041900"/>
            <a:ext cx="9013826" cy="5074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44" name="Shape 244"/>
        <p:cNvGrpSpPr/>
        <p:nvPr/>
      </p:nvGrpSpPr>
      <p:grpSpPr>
        <a:xfrm>
          <a:off x="0" y="0"/>
          <a:ext cx="0" cy="0"/>
          <a:chOff x="0" y="0"/>
          <a:chExt cx="0" cy="0"/>
        </a:xfrm>
      </p:grpSpPr>
      <p:grpSp>
        <p:nvGrpSpPr>
          <p:cNvPr id="245" name="Google Shape;245;g35f1b241ad4_0_126"/>
          <p:cNvGrpSpPr/>
          <p:nvPr/>
        </p:nvGrpSpPr>
        <p:grpSpPr>
          <a:xfrm>
            <a:off x="-584801" y="364850"/>
            <a:ext cx="19457594" cy="2036657"/>
            <a:chOff x="0" y="-76200"/>
            <a:chExt cx="5124600" cy="536400"/>
          </a:xfrm>
        </p:grpSpPr>
        <p:sp>
          <p:nvSpPr>
            <p:cNvPr id="246" name="Google Shape;246;g35f1b241ad4_0_12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47" name="Google Shape;247;g35f1b241ad4_0_12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8" name="Google Shape;248;g35f1b241ad4_0_126"/>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Objetivo de las pruebas de estrés</a:t>
            </a:r>
            <a:endParaRPr b="1" i="0" sz="7024" u="none" cap="none" strike="noStrike">
              <a:solidFill>
                <a:srgbClr val="FDFDFD"/>
              </a:solidFill>
              <a:latin typeface="Poppins"/>
              <a:ea typeface="Poppins"/>
              <a:cs typeface="Poppins"/>
              <a:sym typeface="Poppins"/>
            </a:endParaRPr>
          </a:p>
        </p:txBody>
      </p:sp>
      <p:sp>
        <p:nvSpPr>
          <p:cNvPr id="249" name="Google Shape;249;g35f1b241ad4_0_126"/>
          <p:cNvSpPr txBox="1"/>
          <p:nvPr/>
        </p:nvSpPr>
        <p:spPr>
          <a:xfrm>
            <a:off x="1028700" y="2969250"/>
            <a:ext cx="17048400" cy="2372100"/>
          </a:xfrm>
          <a:prstGeom prst="rect">
            <a:avLst/>
          </a:prstGeom>
          <a:noFill/>
          <a:ln>
            <a:noFill/>
          </a:ln>
        </p:spPr>
        <p:txBody>
          <a:bodyPr anchorCtr="0" anchor="t" bIns="0" lIns="0" spcFirstLastPara="1" rIns="0" wrap="square" tIns="0">
            <a:spAutoFit/>
          </a:bodyPr>
          <a:lstStyle/>
          <a:p>
            <a:pPr indent="-416750" lvl="0" marL="457200" marR="0" rtl="0" algn="l">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Identificar el límite máximo de carga que el sistema puede soportar antes de fallar.</a:t>
            </a:r>
            <a:endParaRPr b="0" i="0" sz="2963" u="none" cap="none" strike="noStrike">
              <a:solidFill>
                <a:srgbClr val="013362"/>
              </a:solidFill>
              <a:latin typeface="Poppins Light"/>
              <a:ea typeface="Poppins Light"/>
              <a:cs typeface="Poppins Light"/>
              <a:sym typeface="Poppins Light"/>
            </a:endParaRPr>
          </a:p>
          <a:p>
            <a:pPr indent="-416750" lvl="0" marL="457200" marR="0" rtl="0" algn="l">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Evaluar si el sistema puede recuperarse de un fallo, y si lo hace, en cuánto tiempo.</a:t>
            </a:r>
            <a:endParaRPr b="0" i="0" sz="2963" u="none" cap="none" strike="noStrike">
              <a:solidFill>
                <a:srgbClr val="013362"/>
              </a:solidFill>
              <a:latin typeface="Poppins Light"/>
              <a:ea typeface="Poppins Light"/>
              <a:cs typeface="Poppins Light"/>
              <a:sym typeface="Poppins Light"/>
            </a:endParaRPr>
          </a:p>
          <a:p>
            <a:pPr indent="-416750" lvl="0" marL="457200" marR="0" rtl="0" algn="l">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Asegurar que, aunque el sistema falle, lo haga de manera controlada, sin pérdida de datos o funcionalidad crítica.</a:t>
            </a:r>
            <a:endParaRPr b="0" i="0" sz="2963" u="none" cap="none" strike="noStrike">
              <a:solidFill>
                <a:srgbClr val="013362"/>
              </a:solidFill>
              <a:latin typeface="Poppins Light"/>
              <a:ea typeface="Poppins Light"/>
              <a:cs typeface="Poppins Light"/>
              <a:sym typeface="Poppins Light"/>
            </a:endParaRPr>
          </a:p>
        </p:txBody>
      </p:sp>
      <p:pic>
        <p:nvPicPr>
          <p:cNvPr id="250" name="Google Shape;250;g35f1b241ad4_0_126"/>
          <p:cNvPicPr preferRelativeResize="0"/>
          <p:nvPr/>
        </p:nvPicPr>
        <p:blipFill rotWithShape="1">
          <a:blip r:embed="rId3">
            <a:alphaModFix/>
          </a:blip>
          <a:srcRect b="0" l="0" r="0" t="0"/>
          <a:stretch/>
        </p:blipFill>
        <p:spPr>
          <a:xfrm>
            <a:off x="1617075" y="6366400"/>
            <a:ext cx="4318875" cy="2548125"/>
          </a:xfrm>
          <a:prstGeom prst="rect">
            <a:avLst/>
          </a:prstGeom>
          <a:noFill/>
          <a:ln>
            <a:noFill/>
          </a:ln>
        </p:spPr>
      </p:pic>
      <p:sp>
        <p:nvSpPr>
          <p:cNvPr id="251" name="Google Shape;251;g35f1b241ad4_0_126"/>
          <p:cNvSpPr/>
          <p:nvPr/>
        </p:nvSpPr>
        <p:spPr>
          <a:xfrm>
            <a:off x="7535825" y="5517300"/>
            <a:ext cx="8866584" cy="358851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alibri"/>
                <a:ea typeface="Calibri"/>
                <a:cs typeface="Calibri"/>
                <a:sym typeface="Calibri"/>
              </a:rPr>
              <a:t>Someter a una tienda en línea a un tráfico 10 veces superior al máximo esperado durante un evento promocional para ver si el sitio colapsa o cómo responde a la sobrecarga.</a:t>
            </a:r>
            <a:endParaRPr b="0" i="0" sz="21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55" name="Shape 255"/>
        <p:cNvGrpSpPr/>
        <p:nvPr/>
      </p:nvGrpSpPr>
      <p:grpSpPr>
        <a:xfrm>
          <a:off x="0" y="0"/>
          <a:ext cx="0" cy="0"/>
          <a:chOff x="0" y="0"/>
          <a:chExt cx="0" cy="0"/>
        </a:xfrm>
      </p:grpSpPr>
      <p:grpSp>
        <p:nvGrpSpPr>
          <p:cNvPr id="256" name="Google Shape;256;g35f1b241ad4_0_136"/>
          <p:cNvGrpSpPr/>
          <p:nvPr/>
        </p:nvGrpSpPr>
        <p:grpSpPr>
          <a:xfrm>
            <a:off x="-584801" y="364850"/>
            <a:ext cx="19457594" cy="2036657"/>
            <a:chOff x="0" y="-76200"/>
            <a:chExt cx="5124600" cy="536400"/>
          </a:xfrm>
        </p:grpSpPr>
        <p:sp>
          <p:nvSpPr>
            <p:cNvPr id="257" name="Google Shape;257;g35f1b241ad4_0_13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58" name="Google Shape;258;g35f1b241ad4_0_13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9" name="Google Shape;259;g35f1b241ad4_0_136"/>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Locust</a:t>
            </a:r>
            <a:endParaRPr b="1" i="0" sz="7024" u="none" cap="none" strike="noStrike">
              <a:solidFill>
                <a:srgbClr val="FDFDFD"/>
              </a:solidFill>
              <a:latin typeface="Poppins"/>
              <a:ea typeface="Poppins"/>
              <a:cs typeface="Poppins"/>
              <a:sym typeface="Poppins"/>
            </a:endParaRPr>
          </a:p>
        </p:txBody>
      </p:sp>
      <p:sp>
        <p:nvSpPr>
          <p:cNvPr id="260" name="Google Shape;260;g35f1b241ad4_0_136"/>
          <p:cNvSpPr txBox="1"/>
          <p:nvPr/>
        </p:nvSpPr>
        <p:spPr>
          <a:xfrm>
            <a:off x="619800" y="2535650"/>
            <a:ext cx="17048400" cy="17334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 una herramienta de código abierto diseñada para realizar pruebas de carga y pruebas de estrés en aplicaciones web y servicios. Es especialmente popular por su facilidad de uso, flexibilidad y la posibilidad de escribir scripts de prueba en Python.</a:t>
            </a:r>
            <a:endParaRPr b="0" i="0" sz="2963" u="none" cap="none" strike="noStrike">
              <a:solidFill>
                <a:srgbClr val="013362"/>
              </a:solidFill>
              <a:latin typeface="Poppins Light"/>
              <a:ea typeface="Poppins Light"/>
              <a:cs typeface="Poppins Light"/>
              <a:sym typeface="Poppins Light"/>
            </a:endParaRPr>
          </a:p>
        </p:txBody>
      </p:sp>
      <p:pic>
        <p:nvPicPr>
          <p:cNvPr id="261" name="Google Shape;261;g35f1b241ad4_0_136"/>
          <p:cNvPicPr preferRelativeResize="0"/>
          <p:nvPr/>
        </p:nvPicPr>
        <p:blipFill rotWithShape="1">
          <a:blip r:embed="rId3">
            <a:alphaModFix/>
          </a:blip>
          <a:srcRect b="0" l="0" r="0" t="0"/>
          <a:stretch/>
        </p:blipFill>
        <p:spPr>
          <a:xfrm>
            <a:off x="4584199" y="5274925"/>
            <a:ext cx="9119601" cy="4787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65" name="Shape 265"/>
        <p:cNvGrpSpPr/>
        <p:nvPr/>
      </p:nvGrpSpPr>
      <p:grpSpPr>
        <a:xfrm>
          <a:off x="0" y="0"/>
          <a:ext cx="0" cy="0"/>
          <a:chOff x="0" y="0"/>
          <a:chExt cx="0" cy="0"/>
        </a:xfrm>
      </p:grpSpPr>
      <p:grpSp>
        <p:nvGrpSpPr>
          <p:cNvPr id="266" name="Google Shape;266;g35f1b241ad4_0_145"/>
          <p:cNvGrpSpPr/>
          <p:nvPr/>
        </p:nvGrpSpPr>
        <p:grpSpPr>
          <a:xfrm>
            <a:off x="-584801" y="364850"/>
            <a:ext cx="19457594" cy="2036657"/>
            <a:chOff x="0" y="-76200"/>
            <a:chExt cx="5124600" cy="536400"/>
          </a:xfrm>
        </p:grpSpPr>
        <p:sp>
          <p:nvSpPr>
            <p:cNvPr id="267" name="Google Shape;267;g35f1b241ad4_0_145"/>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68" name="Google Shape;268;g35f1b241ad4_0_145"/>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9" name="Google Shape;269;g35f1b241ad4_0_145"/>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Tipos de pruebas con Locust</a:t>
            </a:r>
            <a:endParaRPr b="1" i="0" sz="7024" u="none" cap="none" strike="noStrike">
              <a:solidFill>
                <a:srgbClr val="FDFDFD"/>
              </a:solidFill>
              <a:latin typeface="Poppins"/>
              <a:ea typeface="Poppins"/>
              <a:cs typeface="Poppins"/>
              <a:sym typeface="Poppins"/>
            </a:endParaRPr>
          </a:p>
        </p:txBody>
      </p:sp>
      <p:sp>
        <p:nvSpPr>
          <p:cNvPr id="270" name="Google Shape;270;g35f1b241ad4_0_145"/>
          <p:cNvSpPr txBox="1"/>
          <p:nvPr/>
        </p:nvSpPr>
        <p:spPr>
          <a:xfrm>
            <a:off x="619800" y="2535650"/>
            <a:ext cx="17048400" cy="3649200"/>
          </a:xfrm>
          <a:prstGeom prst="rect">
            <a:avLst/>
          </a:prstGeom>
          <a:noFill/>
          <a:ln>
            <a:noFill/>
          </a:ln>
        </p:spPr>
        <p:txBody>
          <a:bodyPr anchorCtr="0" anchor="t" bIns="0" lIns="0" spcFirstLastPara="1" rIns="0" wrap="square" tIns="0">
            <a:spAutoFit/>
          </a:bodyPr>
          <a:lstStyle/>
          <a:p>
            <a:pPr indent="-416750" lvl="0" marL="457200" marR="0" rtl="0" algn="l">
              <a:lnSpc>
                <a:spcPct val="140027"/>
              </a:lnSpc>
              <a:spcBef>
                <a:spcPts val="0"/>
              </a:spcBef>
              <a:spcAft>
                <a:spcPts val="0"/>
              </a:spcAft>
              <a:buClr>
                <a:srgbClr val="013362"/>
              </a:buClr>
              <a:buSzPts val="2963"/>
              <a:buFont typeface="Poppins Light"/>
              <a:buChar char="●"/>
            </a:pPr>
            <a:r>
              <a:rPr b="1" i="0" lang="en-US" sz="2963" u="none" cap="none" strike="noStrike">
                <a:solidFill>
                  <a:srgbClr val="013362"/>
                </a:solidFill>
                <a:latin typeface="Poppins"/>
                <a:ea typeface="Poppins"/>
                <a:cs typeface="Poppins"/>
                <a:sym typeface="Poppins"/>
              </a:rPr>
              <a:t>Pruebas de carga:</a:t>
            </a:r>
            <a:r>
              <a:rPr b="0" i="0" lang="en-US" sz="2963" u="none" cap="none" strike="noStrike">
                <a:solidFill>
                  <a:srgbClr val="013362"/>
                </a:solidFill>
                <a:latin typeface="Poppins Light"/>
                <a:ea typeface="Poppins Light"/>
                <a:cs typeface="Poppins Light"/>
                <a:sym typeface="Poppins Light"/>
              </a:rPr>
              <a:t> Simula un número determinado de usuarios concurrentes para medir cómo se comporta el sistema bajo condiciones de carga esperada.</a:t>
            </a:r>
            <a:endParaRPr b="0" i="0" sz="2963" u="none" cap="none" strike="noStrike">
              <a:solidFill>
                <a:srgbClr val="013362"/>
              </a:solidFill>
              <a:latin typeface="Poppins Light"/>
              <a:ea typeface="Poppins Light"/>
              <a:cs typeface="Poppins Light"/>
              <a:sym typeface="Poppins Light"/>
            </a:endParaRPr>
          </a:p>
          <a:p>
            <a:pPr indent="-416750" lvl="0" marL="457200" marR="0" rtl="0" algn="l">
              <a:lnSpc>
                <a:spcPct val="140027"/>
              </a:lnSpc>
              <a:spcBef>
                <a:spcPts val="0"/>
              </a:spcBef>
              <a:spcAft>
                <a:spcPts val="0"/>
              </a:spcAft>
              <a:buClr>
                <a:srgbClr val="013362"/>
              </a:buClr>
              <a:buSzPts val="2963"/>
              <a:buFont typeface="Poppins Light"/>
              <a:buChar char="●"/>
            </a:pPr>
            <a:r>
              <a:rPr b="1" i="0" lang="en-US" sz="2963" u="none" cap="none" strike="noStrike">
                <a:solidFill>
                  <a:srgbClr val="013362"/>
                </a:solidFill>
                <a:latin typeface="Poppins"/>
                <a:ea typeface="Poppins"/>
                <a:cs typeface="Poppins"/>
                <a:sym typeface="Poppins"/>
              </a:rPr>
              <a:t>Pruebas de estrés:</a:t>
            </a:r>
            <a:r>
              <a:rPr b="0" i="0" lang="en-US" sz="2963" u="none" cap="none" strike="noStrike">
                <a:solidFill>
                  <a:srgbClr val="013362"/>
                </a:solidFill>
                <a:latin typeface="Poppins Light"/>
                <a:ea typeface="Poppins Light"/>
                <a:cs typeface="Poppins Light"/>
                <a:sym typeface="Poppins Light"/>
              </a:rPr>
              <a:t> Aumenta progresivamente la carga hasta llevar el sistema a su límite, con el objetivo de observar el punto de fallo.</a:t>
            </a:r>
            <a:endParaRPr b="0" i="0" sz="2963" u="none" cap="none" strike="noStrike">
              <a:solidFill>
                <a:srgbClr val="013362"/>
              </a:solidFill>
              <a:latin typeface="Poppins Light"/>
              <a:ea typeface="Poppins Light"/>
              <a:cs typeface="Poppins Light"/>
              <a:sym typeface="Poppins Light"/>
            </a:endParaRPr>
          </a:p>
          <a:p>
            <a:pPr indent="-416750" lvl="0" marL="457200" marR="0" rtl="0" algn="l">
              <a:lnSpc>
                <a:spcPct val="140027"/>
              </a:lnSpc>
              <a:spcBef>
                <a:spcPts val="0"/>
              </a:spcBef>
              <a:spcAft>
                <a:spcPts val="0"/>
              </a:spcAft>
              <a:buClr>
                <a:srgbClr val="013362"/>
              </a:buClr>
              <a:buSzPts val="2963"/>
              <a:buFont typeface="Poppins Light"/>
              <a:buChar char="●"/>
            </a:pPr>
            <a:r>
              <a:rPr b="1" i="0" lang="en-US" sz="2963" u="none" cap="none" strike="noStrike">
                <a:solidFill>
                  <a:srgbClr val="013362"/>
                </a:solidFill>
                <a:latin typeface="Poppins"/>
                <a:ea typeface="Poppins"/>
                <a:cs typeface="Poppins"/>
                <a:sym typeface="Poppins"/>
              </a:rPr>
              <a:t>Pruebas de rendimiento: </a:t>
            </a:r>
            <a:r>
              <a:rPr b="0" i="0" lang="en-US" sz="2963" u="none" cap="none" strike="noStrike">
                <a:solidFill>
                  <a:srgbClr val="013362"/>
                </a:solidFill>
                <a:latin typeface="Poppins Light"/>
                <a:ea typeface="Poppins Light"/>
                <a:cs typeface="Poppins Light"/>
                <a:sym typeface="Poppins Light"/>
              </a:rPr>
              <a:t>Evalúa tiempos de respuesta y capacidad de manejo de solicitudes bajo diferentes escenarios.</a:t>
            </a:r>
            <a:endParaRPr b="0" i="0" sz="2963" u="none" cap="none" strike="noStrike">
              <a:solidFill>
                <a:srgbClr val="013362"/>
              </a:solidFill>
              <a:latin typeface="Poppins Light"/>
              <a:ea typeface="Poppins Light"/>
              <a:cs typeface="Poppins Light"/>
              <a:sym typeface="Poppi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74" name="Shape 274"/>
        <p:cNvGrpSpPr/>
        <p:nvPr/>
      </p:nvGrpSpPr>
      <p:grpSpPr>
        <a:xfrm>
          <a:off x="0" y="0"/>
          <a:ext cx="0" cy="0"/>
          <a:chOff x="0" y="0"/>
          <a:chExt cx="0" cy="0"/>
        </a:xfrm>
      </p:grpSpPr>
      <p:pic>
        <p:nvPicPr>
          <p:cNvPr id="275" name="Google Shape;275;g35f1b241ad4_0_153"/>
          <p:cNvPicPr preferRelativeResize="0"/>
          <p:nvPr/>
        </p:nvPicPr>
        <p:blipFill rotWithShape="1">
          <a:blip r:embed="rId3">
            <a:alphaModFix/>
          </a:blip>
          <a:srcRect b="0" l="0" r="0" t="0"/>
          <a:stretch/>
        </p:blipFill>
        <p:spPr>
          <a:xfrm>
            <a:off x="9122030" y="235125"/>
            <a:ext cx="7303296" cy="4429050"/>
          </a:xfrm>
          <a:prstGeom prst="rect">
            <a:avLst/>
          </a:prstGeom>
          <a:noFill/>
          <a:ln>
            <a:noFill/>
          </a:ln>
        </p:spPr>
      </p:pic>
      <p:pic>
        <p:nvPicPr>
          <p:cNvPr id="276" name="Google Shape;276;g35f1b241ad4_0_153"/>
          <p:cNvPicPr preferRelativeResize="0"/>
          <p:nvPr/>
        </p:nvPicPr>
        <p:blipFill rotWithShape="1">
          <a:blip r:embed="rId4">
            <a:alphaModFix/>
          </a:blip>
          <a:srcRect b="0" l="0" r="0" t="0"/>
          <a:stretch/>
        </p:blipFill>
        <p:spPr>
          <a:xfrm>
            <a:off x="598100" y="1793501"/>
            <a:ext cx="14897226" cy="83548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80" name="Shape 280"/>
        <p:cNvGrpSpPr/>
        <p:nvPr/>
      </p:nvGrpSpPr>
      <p:grpSpPr>
        <a:xfrm>
          <a:off x="0" y="0"/>
          <a:ext cx="0" cy="0"/>
          <a:chOff x="0" y="0"/>
          <a:chExt cx="0" cy="0"/>
        </a:xfrm>
      </p:grpSpPr>
      <p:grpSp>
        <p:nvGrpSpPr>
          <p:cNvPr id="281" name="Google Shape;281;g35f1b241ad4_0_158"/>
          <p:cNvGrpSpPr/>
          <p:nvPr/>
        </p:nvGrpSpPr>
        <p:grpSpPr>
          <a:xfrm>
            <a:off x="-584801" y="364850"/>
            <a:ext cx="19457594" cy="2036657"/>
            <a:chOff x="0" y="-76200"/>
            <a:chExt cx="5124600" cy="536400"/>
          </a:xfrm>
        </p:grpSpPr>
        <p:sp>
          <p:nvSpPr>
            <p:cNvPr id="282" name="Google Shape;282;g35f1b241ad4_0_15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83" name="Google Shape;283;g35f1b241ad4_0_15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4" name="Google Shape;284;g35f1b241ad4_0_158"/>
          <p:cNvSpPr txBox="1"/>
          <p:nvPr/>
        </p:nvSpPr>
        <p:spPr>
          <a:xfrm>
            <a:off x="-408750" y="919525"/>
            <a:ext cx="19105500" cy="9273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6024" u="none" cap="none" strike="noStrike">
                <a:solidFill>
                  <a:srgbClr val="FDFDFD"/>
                </a:solidFill>
                <a:latin typeface="Poppins"/>
                <a:ea typeface="Poppins"/>
                <a:cs typeface="Poppins"/>
                <a:sym typeface="Poppins"/>
              </a:rPr>
              <a:t>Pruebas de Escalabilidad</a:t>
            </a:r>
            <a:endParaRPr b="1" i="0" sz="6024" u="none" cap="none" strike="noStrike">
              <a:solidFill>
                <a:srgbClr val="FDFDFD"/>
              </a:solidFill>
              <a:latin typeface="Poppins"/>
              <a:ea typeface="Poppins"/>
              <a:cs typeface="Poppins"/>
              <a:sym typeface="Poppins"/>
            </a:endParaRPr>
          </a:p>
        </p:txBody>
      </p:sp>
      <p:sp>
        <p:nvSpPr>
          <p:cNvPr id="285" name="Google Shape;285;g35f1b241ad4_0_158"/>
          <p:cNvSpPr txBox="1"/>
          <p:nvPr/>
        </p:nvSpPr>
        <p:spPr>
          <a:xfrm>
            <a:off x="1028700" y="2969250"/>
            <a:ext cx="17048400" cy="23721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de escalabilidad evalúan la capacidad de un sistema para manejar un aumento progresivo en la carga (usuarios, datos, transacciones) mientras mantiene el rendimiento adecuado. Estas pruebas verifican si el sistema puede expandirse o reducirse adecuadamente en función de las necesidades sin afectar su funcionalidad.</a:t>
            </a:r>
            <a:endParaRPr b="0" i="0" sz="2963" u="none" cap="none" strike="noStrike">
              <a:solidFill>
                <a:srgbClr val="013362"/>
              </a:solidFill>
              <a:latin typeface="Poppins Light"/>
              <a:ea typeface="Poppins Light"/>
              <a:cs typeface="Poppins Light"/>
              <a:sym typeface="Poppins Light"/>
            </a:endParaRPr>
          </a:p>
        </p:txBody>
      </p:sp>
      <p:pic>
        <p:nvPicPr>
          <p:cNvPr id="286" name="Google Shape;286;g35f1b241ad4_0_158"/>
          <p:cNvPicPr preferRelativeResize="0"/>
          <p:nvPr/>
        </p:nvPicPr>
        <p:blipFill rotWithShape="1">
          <a:blip r:embed="rId3">
            <a:alphaModFix/>
          </a:blip>
          <a:srcRect b="0" l="0" r="0" t="0"/>
          <a:stretch/>
        </p:blipFill>
        <p:spPr>
          <a:xfrm>
            <a:off x="6823575" y="5583475"/>
            <a:ext cx="4640849" cy="46408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90" name="Shape 290"/>
        <p:cNvGrpSpPr/>
        <p:nvPr/>
      </p:nvGrpSpPr>
      <p:grpSpPr>
        <a:xfrm>
          <a:off x="0" y="0"/>
          <a:ext cx="0" cy="0"/>
          <a:chOff x="0" y="0"/>
          <a:chExt cx="0" cy="0"/>
        </a:xfrm>
      </p:grpSpPr>
      <p:grpSp>
        <p:nvGrpSpPr>
          <p:cNvPr id="291" name="Google Shape;291;g35f1b241ad4_0_167"/>
          <p:cNvGrpSpPr/>
          <p:nvPr/>
        </p:nvGrpSpPr>
        <p:grpSpPr>
          <a:xfrm>
            <a:off x="-584801" y="364850"/>
            <a:ext cx="19457594" cy="2036657"/>
            <a:chOff x="0" y="-76200"/>
            <a:chExt cx="5124600" cy="536400"/>
          </a:xfrm>
        </p:grpSpPr>
        <p:sp>
          <p:nvSpPr>
            <p:cNvPr id="292" name="Google Shape;292;g35f1b241ad4_0_16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93" name="Google Shape;293;g35f1b241ad4_0_16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4" name="Google Shape;294;g35f1b241ad4_0_16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¿Qué es la escalabilidad?</a:t>
            </a:r>
            <a:endParaRPr b="1" i="0" sz="7024" u="none" cap="none" strike="noStrike">
              <a:solidFill>
                <a:srgbClr val="FDFDFD"/>
              </a:solidFill>
              <a:latin typeface="Poppins"/>
              <a:ea typeface="Poppins"/>
              <a:cs typeface="Poppins"/>
              <a:sym typeface="Poppins"/>
            </a:endParaRPr>
          </a:p>
        </p:txBody>
      </p:sp>
      <p:sp>
        <p:nvSpPr>
          <p:cNvPr id="295" name="Google Shape;295;g35f1b241ad4_0_167"/>
          <p:cNvSpPr txBox="1"/>
          <p:nvPr/>
        </p:nvSpPr>
        <p:spPr>
          <a:xfrm>
            <a:off x="1028700" y="2969250"/>
            <a:ext cx="17048400" cy="42879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 escalabilidad es una de las características más deseables en las aplicaciones y una de las principales preocupaciones para equipos de desarrollo y administración de servidores. Básicamente, se refiere a la capacidad de crecimiento de la aplicación para atender a un número cada vez mayor de solicitudes y usuarios con total normalidad y sin degradaciones de servicio. De cara a conseguir esta deseada cualidad, existen diferentes vías que no son incompatibles: algunas más centradas en el desarrollo del software y otras en los servidores que harán de plataforma de ejecución.</a:t>
            </a:r>
            <a:endParaRPr b="0" i="0" sz="2963" u="none" cap="none" strike="noStrike">
              <a:solidFill>
                <a:srgbClr val="013362"/>
              </a:solidFill>
              <a:latin typeface="Poppins Light"/>
              <a:ea typeface="Poppins Light"/>
              <a:cs typeface="Poppins Light"/>
              <a:sym typeface="Poppins Light"/>
            </a:endParaRPr>
          </a:p>
        </p:txBody>
      </p:sp>
      <p:pic>
        <p:nvPicPr>
          <p:cNvPr id="296" name="Google Shape;296;g35f1b241ad4_0_167"/>
          <p:cNvPicPr preferRelativeResize="0"/>
          <p:nvPr/>
        </p:nvPicPr>
        <p:blipFill rotWithShape="1">
          <a:blip r:embed="rId3">
            <a:alphaModFix/>
          </a:blip>
          <a:srcRect b="0" l="0" r="0" t="0"/>
          <a:stretch/>
        </p:blipFill>
        <p:spPr>
          <a:xfrm>
            <a:off x="7106088" y="7394600"/>
            <a:ext cx="4893633" cy="2725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00" name="Shape 300"/>
        <p:cNvGrpSpPr/>
        <p:nvPr/>
      </p:nvGrpSpPr>
      <p:grpSpPr>
        <a:xfrm>
          <a:off x="0" y="0"/>
          <a:ext cx="0" cy="0"/>
          <a:chOff x="0" y="0"/>
          <a:chExt cx="0" cy="0"/>
        </a:xfrm>
      </p:grpSpPr>
      <p:grpSp>
        <p:nvGrpSpPr>
          <p:cNvPr id="301" name="Google Shape;301;g35f1b241ad4_0_176"/>
          <p:cNvGrpSpPr/>
          <p:nvPr/>
        </p:nvGrpSpPr>
        <p:grpSpPr>
          <a:xfrm>
            <a:off x="-584801" y="364850"/>
            <a:ext cx="19457594" cy="2036657"/>
            <a:chOff x="0" y="-76200"/>
            <a:chExt cx="5124600" cy="536400"/>
          </a:xfrm>
        </p:grpSpPr>
        <p:sp>
          <p:nvSpPr>
            <p:cNvPr id="302" name="Google Shape;302;g35f1b241ad4_0_17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03" name="Google Shape;303;g35f1b241ad4_0_17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4" name="Google Shape;304;g35f1b241ad4_0_176"/>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¿Qué es la escalabilidad horizontal?</a:t>
            </a:r>
            <a:endParaRPr b="1" i="0" sz="7024" u="none" cap="none" strike="noStrike">
              <a:solidFill>
                <a:srgbClr val="FDFDFD"/>
              </a:solidFill>
              <a:latin typeface="Poppins"/>
              <a:ea typeface="Poppins"/>
              <a:cs typeface="Poppins"/>
              <a:sym typeface="Poppins"/>
            </a:endParaRPr>
          </a:p>
        </p:txBody>
      </p:sp>
      <p:sp>
        <p:nvSpPr>
          <p:cNvPr id="305" name="Google Shape;305;g35f1b241ad4_0_176"/>
          <p:cNvSpPr txBox="1"/>
          <p:nvPr/>
        </p:nvSpPr>
        <p:spPr>
          <a:xfrm>
            <a:off x="1028700" y="2969250"/>
            <a:ext cx="17048400" cy="36492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Por su parte, la escalabilidad horizontal se consigue aumentando el número de servidores que atienden una aplicación. Para ello, un grupo de distintos servidores se configura para atender las peticiones de manera conjunta (es lo que se denomina cluster) y la carga de trabajo se distribuye entre ellos a través de un balanceador. Cada uno de esos servidores se conoce como nodo y el escalado se realiza simplemente agregando un nuevo nodo al cluster.</a:t>
            </a:r>
            <a:endParaRPr b="0" i="0" sz="2963" u="none" cap="none" strike="noStrike">
              <a:solidFill>
                <a:srgbClr val="013362"/>
              </a:solidFill>
              <a:latin typeface="Poppins Light"/>
              <a:ea typeface="Poppins Light"/>
              <a:cs typeface="Poppins Light"/>
              <a:sym typeface="Poppins Light"/>
            </a:endParaRPr>
          </a:p>
        </p:txBody>
      </p:sp>
      <p:pic>
        <p:nvPicPr>
          <p:cNvPr id="306" name="Google Shape;306;g35f1b241ad4_0_176"/>
          <p:cNvPicPr preferRelativeResize="0"/>
          <p:nvPr/>
        </p:nvPicPr>
        <p:blipFill rotWithShape="1">
          <a:blip r:embed="rId3">
            <a:alphaModFix/>
          </a:blip>
          <a:srcRect b="0" l="0" r="0" t="0"/>
          <a:stretch/>
        </p:blipFill>
        <p:spPr>
          <a:xfrm>
            <a:off x="5667613" y="6905425"/>
            <a:ext cx="7770575" cy="2693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10" name="Shape 310"/>
        <p:cNvGrpSpPr/>
        <p:nvPr/>
      </p:nvGrpSpPr>
      <p:grpSpPr>
        <a:xfrm>
          <a:off x="0" y="0"/>
          <a:ext cx="0" cy="0"/>
          <a:chOff x="0" y="0"/>
          <a:chExt cx="0" cy="0"/>
        </a:xfrm>
      </p:grpSpPr>
      <p:grpSp>
        <p:nvGrpSpPr>
          <p:cNvPr id="311" name="Google Shape;311;g35f1b241ad4_0_185"/>
          <p:cNvGrpSpPr/>
          <p:nvPr/>
        </p:nvGrpSpPr>
        <p:grpSpPr>
          <a:xfrm>
            <a:off x="-584801" y="364850"/>
            <a:ext cx="19457594" cy="2036657"/>
            <a:chOff x="0" y="-76200"/>
            <a:chExt cx="5124600" cy="536400"/>
          </a:xfrm>
        </p:grpSpPr>
        <p:sp>
          <p:nvSpPr>
            <p:cNvPr id="312" name="Google Shape;312;g35f1b241ad4_0_185"/>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13" name="Google Shape;313;g35f1b241ad4_0_185"/>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4" name="Google Shape;314;g35f1b241ad4_0_185"/>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¿Qué es la escalabilidad horizontal?</a:t>
            </a:r>
            <a:endParaRPr b="1" i="0" sz="7024" u="none" cap="none" strike="noStrike">
              <a:solidFill>
                <a:srgbClr val="FDFDFD"/>
              </a:solidFill>
              <a:latin typeface="Poppins"/>
              <a:ea typeface="Poppins"/>
              <a:cs typeface="Poppins"/>
              <a:sym typeface="Poppins"/>
            </a:endParaRPr>
          </a:p>
        </p:txBody>
      </p:sp>
      <p:sp>
        <p:nvSpPr>
          <p:cNvPr id="315" name="Google Shape;315;g35f1b241ad4_0_185"/>
          <p:cNvSpPr txBox="1"/>
          <p:nvPr/>
        </p:nvSpPr>
        <p:spPr>
          <a:xfrm>
            <a:off x="1028700" y="2969250"/>
            <a:ext cx="17048400" cy="36492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Por su parte, la escalabilidad horizontal se consigue aumentando el número de servidores que atienden una aplicación. Para ello, un grupo de distintos servidores se configura para atender las peticiones de manera conjunta (es lo que se denomina cluster) y la carga de trabajo se distribuye entre ellos a través de un balanceador. Cada uno de esos servidores se conoce como nodo y el escalado se realiza simplemente agregando un nuevo nodo al cluster.</a:t>
            </a:r>
            <a:endParaRPr b="0" i="0" sz="2963" u="none" cap="none" strike="noStrike">
              <a:solidFill>
                <a:srgbClr val="013362"/>
              </a:solidFill>
              <a:latin typeface="Poppins Light"/>
              <a:ea typeface="Poppins Light"/>
              <a:cs typeface="Poppins Light"/>
              <a:sym typeface="Poppins Light"/>
            </a:endParaRPr>
          </a:p>
        </p:txBody>
      </p:sp>
      <p:pic>
        <p:nvPicPr>
          <p:cNvPr id="316" name="Google Shape;316;g35f1b241ad4_0_185"/>
          <p:cNvPicPr preferRelativeResize="0"/>
          <p:nvPr/>
        </p:nvPicPr>
        <p:blipFill rotWithShape="1">
          <a:blip r:embed="rId3">
            <a:alphaModFix/>
          </a:blip>
          <a:srcRect b="0" l="0" r="0" t="0"/>
          <a:stretch/>
        </p:blipFill>
        <p:spPr>
          <a:xfrm>
            <a:off x="5667613" y="6905425"/>
            <a:ext cx="7770575" cy="2693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20" name="Shape 320"/>
        <p:cNvGrpSpPr/>
        <p:nvPr/>
      </p:nvGrpSpPr>
      <p:grpSpPr>
        <a:xfrm>
          <a:off x="0" y="0"/>
          <a:ext cx="0" cy="0"/>
          <a:chOff x="0" y="0"/>
          <a:chExt cx="0" cy="0"/>
        </a:xfrm>
      </p:grpSpPr>
      <p:grpSp>
        <p:nvGrpSpPr>
          <p:cNvPr id="321" name="Google Shape;321;g35f1b241ad4_0_194"/>
          <p:cNvGrpSpPr/>
          <p:nvPr/>
        </p:nvGrpSpPr>
        <p:grpSpPr>
          <a:xfrm>
            <a:off x="-584801" y="364850"/>
            <a:ext cx="19457594" cy="2036657"/>
            <a:chOff x="0" y="-76200"/>
            <a:chExt cx="5124600" cy="536400"/>
          </a:xfrm>
        </p:grpSpPr>
        <p:sp>
          <p:nvSpPr>
            <p:cNvPr id="322" name="Google Shape;322;g35f1b241ad4_0_194"/>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23" name="Google Shape;323;g35f1b241ad4_0_194"/>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4" name="Google Shape;324;g35f1b241ad4_0_194"/>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de Portabilidad</a:t>
            </a:r>
            <a:endParaRPr b="1" i="0" sz="7024" u="none" cap="none" strike="noStrike">
              <a:solidFill>
                <a:srgbClr val="FDFDFD"/>
              </a:solidFill>
              <a:latin typeface="Poppins"/>
              <a:ea typeface="Poppins"/>
              <a:cs typeface="Poppins"/>
              <a:sym typeface="Poppins"/>
            </a:endParaRPr>
          </a:p>
        </p:txBody>
      </p:sp>
      <p:sp>
        <p:nvSpPr>
          <p:cNvPr id="325" name="Google Shape;325;g35f1b241ad4_0_194"/>
          <p:cNvSpPr txBox="1"/>
          <p:nvPr/>
        </p:nvSpPr>
        <p:spPr>
          <a:xfrm>
            <a:off x="1028700" y="2969250"/>
            <a:ext cx="17048400" cy="23721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de portabilidad evalúan la capacidad del sistema para operar en diferentes entornos (hardware, software, plataformas). Estas pruebas verifican la adaptabilidad del sistema y si es capaz de funcionar correctamente en distintos sistemas operativos, navegadores o dispositivos.</a:t>
            </a:r>
            <a:endParaRPr b="0" i="0" sz="2963" u="none" cap="none" strike="noStrike">
              <a:solidFill>
                <a:srgbClr val="013362"/>
              </a:solidFill>
              <a:latin typeface="Poppins Light"/>
              <a:ea typeface="Poppins Light"/>
              <a:cs typeface="Poppins Light"/>
              <a:sym typeface="Poppins Light"/>
            </a:endParaRPr>
          </a:p>
        </p:txBody>
      </p:sp>
      <p:pic>
        <p:nvPicPr>
          <p:cNvPr id="326" name="Google Shape;326;g35f1b241ad4_0_194"/>
          <p:cNvPicPr preferRelativeResize="0"/>
          <p:nvPr/>
        </p:nvPicPr>
        <p:blipFill rotWithShape="1">
          <a:blip r:embed="rId3">
            <a:alphaModFix/>
          </a:blip>
          <a:srcRect b="0" l="0" r="0" t="0"/>
          <a:stretch/>
        </p:blipFill>
        <p:spPr>
          <a:xfrm>
            <a:off x="5841025" y="5909100"/>
            <a:ext cx="6605950" cy="3705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30" name="Shape 330"/>
        <p:cNvGrpSpPr/>
        <p:nvPr/>
      </p:nvGrpSpPr>
      <p:grpSpPr>
        <a:xfrm>
          <a:off x="0" y="0"/>
          <a:ext cx="0" cy="0"/>
          <a:chOff x="0" y="0"/>
          <a:chExt cx="0" cy="0"/>
        </a:xfrm>
      </p:grpSpPr>
      <p:grpSp>
        <p:nvGrpSpPr>
          <p:cNvPr id="331" name="Google Shape;331;g35f1b241ad4_0_203"/>
          <p:cNvGrpSpPr/>
          <p:nvPr/>
        </p:nvGrpSpPr>
        <p:grpSpPr>
          <a:xfrm>
            <a:off x="-584801" y="364850"/>
            <a:ext cx="19457594" cy="2036657"/>
            <a:chOff x="0" y="-76200"/>
            <a:chExt cx="5124600" cy="536400"/>
          </a:xfrm>
        </p:grpSpPr>
        <p:sp>
          <p:nvSpPr>
            <p:cNvPr id="332" name="Google Shape;332;g35f1b241ad4_0_20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33" name="Google Shape;333;g35f1b241ad4_0_20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4" name="Google Shape;334;g35f1b241ad4_0_20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Objetivo de las Pruebas de Portabilidad</a:t>
            </a:r>
            <a:endParaRPr b="1" i="0" sz="7024" u="none" cap="none" strike="noStrike">
              <a:solidFill>
                <a:srgbClr val="FDFDFD"/>
              </a:solidFill>
              <a:latin typeface="Poppins"/>
              <a:ea typeface="Poppins"/>
              <a:cs typeface="Poppins"/>
              <a:sym typeface="Poppins"/>
            </a:endParaRPr>
          </a:p>
        </p:txBody>
      </p:sp>
      <p:sp>
        <p:nvSpPr>
          <p:cNvPr id="335" name="Google Shape;335;g35f1b241ad4_0_203"/>
          <p:cNvSpPr txBox="1"/>
          <p:nvPr/>
        </p:nvSpPr>
        <p:spPr>
          <a:xfrm>
            <a:off x="1028700" y="2969250"/>
            <a:ext cx="17048400" cy="2372100"/>
          </a:xfrm>
          <a:prstGeom prst="rect">
            <a:avLst/>
          </a:prstGeom>
          <a:noFill/>
          <a:ln>
            <a:noFill/>
          </a:ln>
        </p:spPr>
        <p:txBody>
          <a:bodyPr anchorCtr="0" anchor="t" bIns="0" lIns="0" spcFirstLastPara="1" rIns="0" wrap="square" tIns="0">
            <a:spAutoFit/>
          </a:bodyPr>
          <a:lstStyle/>
          <a:p>
            <a:pPr indent="-416750" lvl="0" marL="457200" marR="0" rtl="0" algn="l">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Garantizar que el sistema funcione de manera consistente y sin errores al trasladarse de un entorno a otro (por ejemplo, de Windows a Linux).</a:t>
            </a:r>
            <a:endParaRPr b="0" i="0" sz="2963" u="none" cap="none" strike="noStrike">
              <a:solidFill>
                <a:srgbClr val="013362"/>
              </a:solidFill>
              <a:latin typeface="Poppins Light"/>
              <a:ea typeface="Poppins Light"/>
              <a:cs typeface="Poppins Light"/>
              <a:sym typeface="Poppins Light"/>
            </a:endParaRPr>
          </a:p>
          <a:p>
            <a:pPr indent="-416750" lvl="0" marL="457200" marR="0" rtl="0" algn="l">
              <a:lnSpc>
                <a:spcPct val="140027"/>
              </a:lnSpc>
              <a:spcBef>
                <a:spcPts val="0"/>
              </a:spcBef>
              <a:spcAft>
                <a:spcPts val="0"/>
              </a:spcAft>
              <a:buClr>
                <a:srgbClr val="013362"/>
              </a:buClr>
              <a:buSzPts val="2963"/>
              <a:buFont typeface="Poppins Light"/>
              <a:buChar char="●"/>
            </a:pPr>
            <a:r>
              <a:rPr b="0" i="0" lang="en-US" sz="2963" u="none" cap="none" strike="noStrike">
                <a:solidFill>
                  <a:srgbClr val="013362"/>
                </a:solidFill>
                <a:latin typeface="Poppins Light"/>
                <a:ea typeface="Poppins Light"/>
                <a:cs typeface="Poppins Light"/>
                <a:sym typeface="Poppins Light"/>
              </a:rPr>
              <a:t>Verificar que los usuarios puedan ejecutar el sistema en una variedad de configuraciones sin problemas.</a:t>
            </a:r>
            <a:endParaRPr b="0" i="0" sz="2963" u="none" cap="none" strike="noStrike">
              <a:solidFill>
                <a:srgbClr val="013362"/>
              </a:solidFill>
              <a:latin typeface="Poppins Light"/>
              <a:ea typeface="Poppins Light"/>
              <a:cs typeface="Poppins Light"/>
              <a:sym typeface="Poppins Light"/>
            </a:endParaRPr>
          </a:p>
        </p:txBody>
      </p:sp>
      <p:pic>
        <p:nvPicPr>
          <p:cNvPr id="336" name="Google Shape;336;g35f1b241ad4_0_203"/>
          <p:cNvPicPr preferRelativeResize="0"/>
          <p:nvPr/>
        </p:nvPicPr>
        <p:blipFill rotWithShape="1">
          <a:blip r:embed="rId3">
            <a:alphaModFix/>
          </a:blip>
          <a:srcRect b="0" l="0" r="0" t="0"/>
          <a:stretch/>
        </p:blipFill>
        <p:spPr>
          <a:xfrm>
            <a:off x="4888763" y="5762875"/>
            <a:ext cx="9328275" cy="3432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342" name="Google Shape;342;p6"/>
          <p:cNvSpPr txBox="1"/>
          <p:nvPr/>
        </p:nvSpPr>
        <p:spPr>
          <a:xfrm>
            <a:off x="6122737" y="2425433"/>
            <a:ext cx="6911400" cy="4559700"/>
          </a:xfrm>
          <a:prstGeom prst="rect">
            <a:avLst/>
          </a:prstGeom>
          <a:noFill/>
          <a:ln>
            <a:noFill/>
          </a:ln>
        </p:spPr>
        <p:txBody>
          <a:bodyPr anchorCtr="0" anchor="t" bIns="0" lIns="0" spcFirstLastPara="1" rIns="0" wrap="square" tIns="0">
            <a:spAutoFit/>
          </a:bodyPr>
          <a:lstStyle/>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Pruebas no funcionales</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Pruebas de carga</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Pruebas de estrés</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Pruebas de escalabilidad</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Pruebas de portabilidad</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Rendimiento del sistema</a:t>
            </a:r>
            <a:endParaRPr sz="3151">
              <a:solidFill>
                <a:srgbClr val="131416"/>
              </a:solidFill>
            </a:endParaRPr>
          </a:p>
          <a:p>
            <a:pPr indent="-428688" lvl="0" marL="457200" rtl="0" algn="l">
              <a:lnSpc>
                <a:spcPct val="140019"/>
              </a:lnSpc>
              <a:spcBef>
                <a:spcPts val="0"/>
              </a:spcBef>
              <a:spcAft>
                <a:spcPts val="0"/>
              </a:spcAft>
              <a:buClr>
                <a:srgbClr val="131416"/>
              </a:buClr>
              <a:buSzPts val="3151"/>
              <a:buChar char="●"/>
            </a:pPr>
            <a:r>
              <a:rPr lang="en-US" sz="3151">
                <a:solidFill>
                  <a:srgbClr val="131416"/>
                </a:solidFill>
              </a:rPr>
              <a:t>Escalabilidad vertical y horizontal</a:t>
            </a:r>
            <a:endParaRPr sz="3151">
              <a:solidFill>
                <a:srgbClr val="13141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360abbf495b_0_0"/>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900">
                <a:solidFill>
                  <a:srgbClr val="131416"/>
                </a:solidFill>
                <a:latin typeface="Impact"/>
                <a:ea typeface="Impact"/>
                <a:cs typeface="Impact"/>
                <a:sym typeface="Impact"/>
              </a:rPr>
              <a:t>Colaboración</a:t>
            </a:r>
            <a:endParaRPr b="0" i="0" sz="1400" u="none" cap="none" strike="noStrike">
              <a:solidFill>
                <a:srgbClr val="000000"/>
              </a:solidFill>
              <a:latin typeface="Impact"/>
              <a:ea typeface="Impact"/>
              <a:cs typeface="Impact"/>
              <a:sym typeface="Impact"/>
            </a:endParaRPr>
          </a:p>
        </p:txBody>
      </p:sp>
      <p:sp>
        <p:nvSpPr>
          <p:cNvPr id="348" name="Google Shape;348;g360abbf495b_0_0"/>
          <p:cNvSpPr txBox="1"/>
          <p:nvPr/>
        </p:nvSpPr>
        <p:spPr>
          <a:xfrm>
            <a:off x="2230719" y="2675475"/>
            <a:ext cx="14171700" cy="3880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Trabajando en equipo con actitud proactiva: </a:t>
            </a:r>
            <a:r>
              <a:rPr lang="en-US" sz="3151">
                <a:solidFill>
                  <a:srgbClr val="131416"/>
                </a:solidFill>
              </a:rPr>
              <a:t>Participando activamente en las tareas grupales, ofreciendo ideas, ayudando a resolver dudas y distribuyendo el trabajo de forma justa.</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Resolviendo desacuerdos de manera constructiva: </a:t>
            </a:r>
            <a:r>
              <a:rPr lang="en-US" sz="3151">
                <a:solidFill>
                  <a:srgbClr val="131416"/>
                </a:solidFill>
              </a:rPr>
              <a:t>Si hay diferencias, se manejan con diálogo, buscando consensos y enfocándose en soluciones.</a:t>
            </a:r>
            <a:endParaRPr sz="3151">
              <a:solidFill>
                <a:srgbClr val="13141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354" name="Google Shape;354;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55" name="Google Shape;355;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56" name="Google Shape;356;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