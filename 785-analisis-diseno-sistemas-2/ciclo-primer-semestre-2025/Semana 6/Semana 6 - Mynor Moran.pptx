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7" r:id="rId19"/>
    <p:sldId id="273" r:id="rId20"/>
    <p:sldId id="274" r:id="rId21"/>
    <p:sldId id="275" r:id="rId22"/>
    <p:sldId id="276" r:id="rId23"/>
    <p:sldId id="277" r:id="rId24"/>
    <p:sldId id="278" r:id="rId25"/>
    <p:sldId id="285" r:id="rId26"/>
    <p:sldId id="286" r:id="rId27"/>
  </p:sldIdLst>
  <p:sldSz cx="18288000" cy="10287000"/>
  <p:notesSz cx="6858000" cy="9144000"/>
  <p:embeddedFontLst>
    <p:embeddedFont>
      <p:font typeface="Impact" panose="020B0806030902050204" pitchFamily="34" charset="0"/>
      <p:regular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Poppins" panose="00000500000000000000" pitchFamily="2" charset="0"/>
      <p:regular r:id="rId34"/>
      <p:bold r:id="rId35"/>
      <p:italic r:id="rId36"/>
      <p:boldItalic r:id="rId37"/>
    </p:embeddedFont>
    <p:embeddedFont>
      <p:font typeface="Poppins Black" panose="00000A00000000000000" pitchFamily="2" charset="0"/>
      <p:bold r:id="rId38"/>
      <p:boldItalic r:id="rId39"/>
    </p:embeddedFont>
    <p:embeddedFont>
      <p:font typeface="Poppins Light" panose="000004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hX99YFCEDreJQjEmfyyUomonEI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AF50F49-D715-47D6-A2C1-E6471EE8362F}">
  <a:tblStyle styleId="{3AF50F49-D715-47D6-A2C1-E6471EE8362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00FC1FB-971C-42B1-A704-7647F34F9B9B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B5E33E5-1EB3-4D30-8D07-60AA31A24BB7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5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099b8cf7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6099b8cf7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099b8cf7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36099b8cf7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099b8cf7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g36099b8cf7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099b8cf7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g36099b8cf7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099b8cf7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6099b8cf7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099b8cf77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g36099b8cf77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099b8cf77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g36099b8cf77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099b8cf77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0" name="Google Shape;200;g36099b8cf77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099b8cf77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g36099b8cf77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099b8cf77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g36099b8cf77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6099b8cf77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1" name="Google Shape;231;g36099b8cf77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099b8cf77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2" name="Google Shape;242;g36099b8cf77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099b8cf77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2" name="Google Shape;252;g36099b8cf77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099b8cf77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" name="Google Shape;265;g36099b8cf77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355367C5-7A15-245B-926B-93B5FC54D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6099b8cf77_0_143:notes">
            <a:extLst>
              <a:ext uri="{FF2B5EF4-FFF2-40B4-BE49-F238E27FC236}">
                <a16:creationId xmlns:a16="http://schemas.microsoft.com/office/drawing/2014/main" id="{797B13FF-46FB-B7F5-2440-26F27635BF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" name="Google Shape;265;g36099b8cf77_0_143:notes">
            <a:extLst>
              <a:ext uri="{FF2B5EF4-FFF2-40B4-BE49-F238E27FC236}">
                <a16:creationId xmlns:a16="http://schemas.microsoft.com/office/drawing/2014/main" id="{B1EFA3FA-95B8-E631-8F5C-7FA8198CC5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327460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6099b8cf77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4" name="Google Shape;274;g36099b8cf77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099b8cf77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4" name="Google Shape;284;g36099b8cf77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6099b8cf77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3" name="Google Shape;293;g36099b8cf77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6099b8cf77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3" name="Google Shape;303;g36099b8cf77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6099b8cf77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2" name="Google Shape;312;g36099b8cf77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099b8cf77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7" name="Google Shape;317;g36099b8cf77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60abbd502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0" name="Google Shape;370;g360abbd50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099b8cf77_0_30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6099b8cf77_0_30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g36099b8cf77_0_30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3.material.io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etbootstrap.com/docs/5.0/getting-started/introduction/" TargetMode="External"/><Relationship Id="rId4" Type="http://schemas.openxmlformats.org/officeDocument/2006/relationships/hyperlink" Target="https://developer.apple.com/design/human-interface-guideline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2541309" y="0"/>
            <a:ext cx="5746691" cy="171178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9" name="Google Shape;89;p1"/>
          <p:cNvSpPr txBox="1"/>
          <p:nvPr/>
        </p:nvSpPr>
        <p:spPr>
          <a:xfrm>
            <a:off x="1063303" y="699423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Análisis y Diseño de Sistemas 2 </a:t>
            </a:r>
            <a:endParaRPr sz="5000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643905" y="31979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lang="en-US" sz="9200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Elementos de Diseño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lang="en-US" sz="2499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lang="en-US" sz="2499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374900" y="2424475"/>
            <a:ext cx="16283400" cy="379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7"/>
              </a:lnSpc>
              <a:buSzPts val="5199"/>
            </a:pPr>
            <a:r>
              <a:rPr lang="es-ES" sz="4400" dirty="0"/>
              <a:t>Comprende y valora la importancia del diseño centrado en el usuario mediante el análisis de principios de UX, UI y arquitectura de la información, con el fin de proponer mejoras en la interacción y accesibilidad de interfaces digitales.</a:t>
            </a:r>
            <a:endParaRPr sz="4400" b="1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/>
        </p:nvSpPr>
        <p:spPr>
          <a:xfrm>
            <a:off x="1374889" y="3027816"/>
            <a:ext cx="12625499" cy="783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Parte teórica que se requiera  (conocimiento)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3447195" y="5334021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7" name="Google Shape;107;p4"/>
          <p:cNvSpPr txBox="1"/>
          <p:nvPr/>
        </p:nvSpPr>
        <p:spPr>
          <a:xfrm>
            <a:off x="14141311" y="6442453"/>
            <a:ext cx="3238236" cy="2815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lang="en-US" sz="2014" b="0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Queda a tu discreción de donde te guías para generar el contenido que agregaras(libros, paginas web, etc. que fundamente teóricamente los temas que estas exponiendo a los compañeros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36099b8cf77_0_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3" name="Google Shape;113;g36099b8cf77_0_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{3AF50F49-D715-47D6-A2C1-E6471EE8362F}</a:tableStyleId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/>
                        <a:t> </a:t>
                      </a:r>
                      <a:endParaRPr sz="28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4" name="Google Shape;114;g36099b8cf77_0_1"/>
          <p:cNvSpPr txBox="1"/>
          <p:nvPr/>
        </p:nvSpPr>
        <p:spPr>
          <a:xfrm>
            <a:off x="2880350" y="4516600"/>
            <a:ext cx="135840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y Diseño de Sistemas 2 </a:t>
            </a:r>
            <a:endParaRPr sz="5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6099b8cf77_0_1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Luis Angel Barrera Velásquez</a:t>
            </a:r>
            <a:endParaRPr sz="4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Google Shape;120;g36099b8cf77_0_8"/>
          <p:cNvGraphicFramePr/>
          <p:nvPr/>
        </p:nvGraphicFramePr>
        <p:xfrm>
          <a:off x="6116951" y="47392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{D00FC1FB-971C-42B1-A704-7647F34F9B9B}</a:tableStyleId>
              </a:tblPr>
              <a:tblGrid>
                <a:gridCol w="96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Avisos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Horarios de Calificación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6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DFDFD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133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rgbClr val="013362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Contenido Teorico UI/UX</a:t>
                      </a:r>
                      <a:endParaRPr sz="1100" u="none" strike="noStrike" cap="none"/>
                    </a:p>
                  </a:txBody>
                  <a:tcPr marL="175025" marR="175025" marT="175025" marB="175025" anchor="ctr">
                    <a:lnL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6250" cap="flat" cmpd="sng">
                      <a:solidFill>
                        <a:srgbClr val="01336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1" name="Google Shape;121;g36099b8cf77_0_8"/>
          <p:cNvGrpSpPr/>
          <p:nvPr/>
        </p:nvGrpSpPr>
        <p:grpSpPr>
          <a:xfrm>
            <a:off x="-584626" y="1589619"/>
            <a:ext cx="19457594" cy="2036657"/>
            <a:chOff x="0" y="-76200"/>
            <a:chExt cx="5124600" cy="536400"/>
          </a:xfrm>
        </p:grpSpPr>
        <p:sp>
          <p:nvSpPr>
            <p:cNvPr id="122" name="Google Shape;122;g36099b8cf77_0_8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23" name="Google Shape;123;g36099b8cf77_0_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g36099b8cf77_0_8"/>
          <p:cNvSpPr/>
          <p:nvPr/>
        </p:nvSpPr>
        <p:spPr>
          <a:xfrm>
            <a:off x="592309" y="8986439"/>
            <a:ext cx="2658272" cy="1329136"/>
          </a:xfrm>
          <a:custGeom>
            <a:avLst/>
            <a:gdLst/>
            <a:ahLst/>
            <a:cxnLst/>
            <a:rect l="l" t="t" r="r" b="b"/>
            <a:pathLst>
              <a:path w="2658272" h="1329136" extrusionOk="0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25" name="Google Shape;125;g36099b8cf77_0_8"/>
          <p:cNvSpPr txBox="1"/>
          <p:nvPr/>
        </p:nvSpPr>
        <p:spPr>
          <a:xfrm>
            <a:off x="5939974" y="1861823"/>
            <a:ext cx="6408000" cy="16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76"/>
              <a:buFont typeface="Arial"/>
              <a:buNone/>
            </a:pPr>
            <a:r>
              <a:rPr lang="en-US" sz="10576" b="0" i="0" u="none" strike="noStrike" cap="none">
                <a:solidFill>
                  <a:srgbClr val="FDFDFD"/>
                </a:solidFill>
                <a:latin typeface="Poppins Black"/>
                <a:ea typeface="Poppins Black"/>
                <a:cs typeface="Poppins Black"/>
                <a:sym typeface="Poppins Black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6099b8cf77_0_8"/>
          <p:cNvSpPr/>
          <p:nvPr/>
        </p:nvSpPr>
        <p:spPr>
          <a:xfrm rot="10800000">
            <a:off x="14838633" y="0"/>
            <a:ext cx="2658272" cy="1329136"/>
          </a:xfrm>
          <a:custGeom>
            <a:avLst/>
            <a:gdLst/>
            <a:ahLst/>
            <a:cxnLst/>
            <a:rect l="l" t="t" r="r" b="b"/>
            <a:pathLst>
              <a:path w="2658272" h="1329136" extrusionOk="0">
                <a:moveTo>
                  <a:pt x="0" y="0"/>
                </a:moveTo>
                <a:lnTo>
                  <a:pt x="2658272" y="0"/>
                </a:lnTo>
                <a:lnTo>
                  <a:pt x="2658272" y="1329136"/>
                </a:lnTo>
                <a:lnTo>
                  <a:pt x="0" y="1329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g36099b8cf77_0_18"/>
          <p:cNvGrpSpPr/>
          <p:nvPr/>
        </p:nvGrpSpPr>
        <p:grpSpPr>
          <a:xfrm>
            <a:off x="-584800" y="2996050"/>
            <a:ext cx="19457594" cy="4294901"/>
            <a:chOff x="0" y="-76200"/>
            <a:chExt cx="5124600" cy="536400"/>
          </a:xfrm>
        </p:grpSpPr>
        <p:sp>
          <p:nvSpPr>
            <p:cNvPr id="132" name="Google Shape;132;g36099b8cf77_0_18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33" name="Google Shape;133;g36099b8cf77_0_1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g36099b8cf77_0_18"/>
          <p:cNvSpPr txBox="1"/>
          <p:nvPr/>
        </p:nvSpPr>
        <p:spPr>
          <a:xfrm>
            <a:off x="1599296" y="3790614"/>
            <a:ext cx="15089400" cy="34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Catálogo de Estilos</a:t>
            </a:r>
            <a:endParaRPr sz="9224" b="1" i="0" u="none" strike="noStrike" cap="none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UX/UI</a:t>
            </a:r>
            <a:endParaRPr sz="9224" b="1">
              <a:solidFill>
                <a:srgbClr val="FDFDF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g36099b8cf77_0_25"/>
          <p:cNvGrpSpPr/>
          <p:nvPr/>
        </p:nvGrpSpPr>
        <p:grpSpPr>
          <a:xfrm>
            <a:off x="-584801" y="364850"/>
            <a:ext cx="19457594" cy="2036657"/>
            <a:chOff x="0" y="-76200"/>
            <a:chExt cx="5124600" cy="536400"/>
          </a:xfrm>
        </p:grpSpPr>
        <p:sp>
          <p:nvSpPr>
            <p:cNvPr id="140" name="Google Shape;140;g36099b8cf77_0_25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41" name="Google Shape;141;g36099b8cf77_0_25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g36099b8cf77_0_25"/>
          <p:cNvSpPr txBox="1"/>
          <p:nvPr/>
        </p:nvSpPr>
        <p:spPr>
          <a:xfrm>
            <a:off x="-388750" y="773275"/>
            <a:ext cx="18753300" cy="12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79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¿Qué son los Catálogos de estilos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6099b8cf77_0_25"/>
          <p:cNvSpPr txBox="1"/>
          <p:nvPr/>
        </p:nvSpPr>
        <p:spPr>
          <a:xfrm>
            <a:off x="1028700" y="2969245"/>
            <a:ext cx="16230600" cy="23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catálogo de estilos, también conocido como Style Guide o Design System, es un documento vivo que describe y documenta los estándares visuales y de diseño de una marca o proyecto. Este conjunto de directrices asegura que todos los elementos de diseño de una aplicación o sitio web se mantienen coherentes y alineados con la identidad de la marca.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g36099b8cf77_0_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175" y="5979750"/>
            <a:ext cx="5571775" cy="291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6099b8cf77_0_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49075" y="5867595"/>
            <a:ext cx="7115474" cy="4002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6099b8cf77_0_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63962" y="6955920"/>
            <a:ext cx="2914124" cy="291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362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g36099b8cf77_0_36"/>
          <p:cNvGrpSpPr/>
          <p:nvPr/>
        </p:nvGrpSpPr>
        <p:grpSpPr>
          <a:xfrm>
            <a:off x="-584626" y="928335"/>
            <a:ext cx="19457594" cy="2036657"/>
            <a:chOff x="0" y="-76200"/>
            <a:chExt cx="5124600" cy="536400"/>
          </a:xfrm>
        </p:grpSpPr>
        <p:sp>
          <p:nvSpPr>
            <p:cNvPr id="152" name="Google Shape;152;g36099b8cf77_0_36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FDFDFD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53" name="Google Shape;153;g36099b8cf77_0_36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g36099b8cf77_0_36"/>
          <p:cNvSpPr/>
          <p:nvPr/>
        </p:nvSpPr>
        <p:spPr>
          <a:xfrm>
            <a:off x="2683839" y="4594424"/>
            <a:ext cx="2980944" cy="2980944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4998" r="-24989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55" name="Google Shape;155;g36099b8cf77_0_36"/>
          <p:cNvSpPr/>
          <p:nvPr/>
        </p:nvSpPr>
        <p:spPr>
          <a:xfrm>
            <a:off x="5995602" y="4594424"/>
            <a:ext cx="2980944" cy="2980944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46978" b="-2829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56" name="Google Shape;156;g36099b8cf77_0_36"/>
          <p:cNvSpPr/>
          <p:nvPr/>
        </p:nvSpPr>
        <p:spPr>
          <a:xfrm>
            <a:off x="9309406" y="4594424"/>
            <a:ext cx="2980944" cy="2980944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25049" r="-25028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57" name="Google Shape;157;g36099b8cf77_0_36"/>
          <p:cNvSpPr/>
          <p:nvPr/>
        </p:nvSpPr>
        <p:spPr>
          <a:xfrm>
            <a:off x="12623210" y="4594424"/>
            <a:ext cx="2980944" cy="2980944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24998" r="-24989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58" name="Google Shape;158;g36099b8cf77_0_36"/>
          <p:cNvGrpSpPr/>
          <p:nvPr/>
        </p:nvGrpSpPr>
        <p:grpSpPr>
          <a:xfrm>
            <a:off x="3463489" y="3883143"/>
            <a:ext cx="1422563" cy="1422563"/>
            <a:chOff x="0" y="0"/>
            <a:chExt cx="812800" cy="812800"/>
          </a:xfrm>
        </p:grpSpPr>
        <p:sp>
          <p:nvSpPr>
            <p:cNvPr id="159" name="Google Shape;159;g36099b8cf77_0_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w="1905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g36099b8cf77_0_3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g36099b8cf77_0_36"/>
          <p:cNvGrpSpPr/>
          <p:nvPr/>
        </p:nvGrpSpPr>
        <p:grpSpPr>
          <a:xfrm>
            <a:off x="6775252" y="3883143"/>
            <a:ext cx="1422563" cy="1422563"/>
            <a:chOff x="0" y="0"/>
            <a:chExt cx="812800" cy="812800"/>
          </a:xfrm>
        </p:grpSpPr>
        <p:sp>
          <p:nvSpPr>
            <p:cNvPr id="162" name="Google Shape;162;g36099b8cf77_0_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w="1905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g36099b8cf77_0_3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g36099b8cf77_0_36"/>
          <p:cNvGrpSpPr/>
          <p:nvPr/>
        </p:nvGrpSpPr>
        <p:grpSpPr>
          <a:xfrm>
            <a:off x="10089057" y="3883143"/>
            <a:ext cx="1422563" cy="1422563"/>
            <a:chOff x="0" y="0"/>
            <a:chExt cx="812800" cy="812800"/>
          </a:xfrm>
        </p:grpSpPr>
        <p:sp>
          <p:nvSpPr>
            <p:cNvPr id="165" name="Google Shape;165;g36099b8cf77_0_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w="1905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g36099b8cf77_0_3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" name="Google Shape;167;g36099b8cf77_0_36"/>
          <p:cNvGrpSpPr/>
          <p:nvPr/>
        </p:nvGrpSpPr>
        <p:grpSpPr>
          <a:xfrm>
            <a:off x="13396170" y="3883143"/>
            <a:ext cx="1422563" cy="1422563"/>
            <a:chOff x="0" y="0"/>
            <a:chExt cx="812800" cy="812800"/>
          </a:xfrm>
        </p:grpSpPr>
        <p:sp>
          <p:nvSpPr>
            <p:cNvPr id="168" name="Google Shape;168;g36099b8cf77_0_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362"/>
            </a:solidFill>
            <a:ln w="19050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36099b8cf77_0_36"/>
            <p:cNvSpPr txBox="1"/>
            <p:nvPr/>
          </p:nvSpPr>
          <p:spPr>
            <a:xfrm>
              <a:off x="76200" y="0"/>
              <a:ext cx="660300" cy="73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g36099b8cf77_0_36"/>
          <p:cNvSpPr txBox="1"/>
          <p:nvPr/>
        </p:nvSpPr>
        <p:spPr>
          <a:xfrm>
            <a:off x="1028873" y="1744285"/>
            <a:ext cx="16230600" cy="9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70"/>
              <a:buFont typeface="Arial"/>
              <a:buNone/>
            </a:pPr>
            <a:r>
              <a:rPr lang="en-US" sz="6070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Objetivos Principales de los catálogos</a:t>
            </a:r>
            <a:endParaRPr sz="6070" b="1" i="0" u="none" strike="noStrike" cap="none">
              <a:solidFill>
                <a:srgbClr val="01336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g36099b8cf77_0_36"/>
          <p:cNvSpPr txBox="1"/>
          <p:nvPr/>
        </p:nvSpPr>
        <p:spPr>
          <a:xfrm>
            <a:off x="2683850" y="7852875"/>
            <a:ext cx="3217200" cy="17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lang="en-US" sz="177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Consistencia Visual</a:t>
            </a:r>
            <a:endParaRPr sz="177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lang="en-US" sz="177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Garantizar que todos los componentes de la interfaz mantengan una apariencia y comportamiento uniformes.</a:t>
            </a:r>
            <a:endParaRPr sz="177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g36099b8cf77_0_36"/>
          <p:cNvSpPr txBox="1"/>
          <p:nvPr/>
        </p:nvSpPr>
        <p:spPr>
          <a:xfrm>
            <a:off x="5944688" y="7662075"/>
            <a:ext cx="3083700" cy="21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lang="en-US" sz="177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Ahorro de Tiempo</a:t>
            </a:r>
            <a:endParaRPr sz="177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lang="en-US" sz="177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Proporcionar una referencia rápida y clara para diseñadores y desarrolladores, evitando duplicaciones y malentendidos.</a:t>
            </a:r>
            <a:endParaRPr sz="177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g36099b8cf77_0_36"/>
          <p:cNvSpPr txBox="1"/>
          <p:nvPr/>
        </p:nvSpPr>
        <p:spPr>
          <a:xfrm>
            <a:off x="9309450" y="7852875"/>
            <a:ext cx="2980800" cy="17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lang="en-US" sz="177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Facilitar la Colaboración</a:t>
            </a:r>
            <a:endParaRPr sz="177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lang="en-US" sz="177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Servir como una herramienta de comunicación entre equipos de diseño, desarrollo y stakeholders.</a:t>
            </a:r>
            <a:endParaRPr sz="177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g36099b8cf77_0_36"/>
          <p:cNvSpPr txBox="1"/>
          <p:nvPr/>
        </p:nvSpPr>
        <p:spPr>
          <a:xfrm>
            <a:off x="12623400" y="7852875"/>
            <a:ext cx="2980800" cy="17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lang="en-US" sz="177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Escalabilidad</a:t>
            </a:r>
            <a:endParaRPr sz="177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70"/>
              <a:buFont typeface="Arial"/>
              <a:buNone/>
            </a:pPr>
            <a:r>
              <a:rPr lang="en-US" sz="177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Permitir la expansión y actualización del proyecto sin comprometer la coherencia visual.</a:t>
            </a:r>
            <a:endParaRPr sz="177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g36099b8cf77_0_36"/>
          <p:cNvSpPr txBox="1"/>
          <p:nvPr/>
        </p:nvSpPr>
        <p:spPr>
          <a:xfrm>
            <a:off x="3854660" y="4066259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lang="en-US" sz="506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6099b8cf77_0_36"/>
          <p:cNvSpPr txBox="1"/>
          <p:nvPr/>
        </p:nvSpPr>
        <p:spPr>
          <a:xfrm>
            <a:off x="7166422" y="4066259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lang="en-US" sz="506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6099b8cf77_0_36"/>
          <p:cNvSpPr txBox="1"/>
          <p:nvPr/>
        </p:nvSpPr>
        <p:spPr>
          <a:xfrm>
            <a:off x="10480226" y="4066259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lang="en-US" sz="506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6099b8cf77_0_36"/>
          <p:cNvSpPr txBox="1"/>
          <p:nvPr/>
        </p:nvSpPr>
        <p:spPr>
          <a:xfrm>
            <a:off x="13787339" y="4066259"/>
            <a:ext cx="6402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60"/>
              <a:buFont typeface="Arial"/>
              <a:buNone/>
            </a:pPr>
            <a:r>
              <a:rPr lang="en-US" sz="506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g36099b8cf77_0_67"/>
          <p:cNvGrpSpPr/>
          <p:nvPr/>
        </p:nvGrpSpPr>
        <p:grpSpPr>
          <a:xfrm>
            <a:off x="-584800" y="2996050"/>
            <a:ext cx="19457594" cy="4294901"/>
            <a:chOff x="0" y="-76200"/>
            <a:chExt cx="5124600" cy="536400"/>
          </a:xfrm>
        </p:grpSpPr>
        <p:sp>
          <p:nvSpPr>
            <p:cNvPr id="184" name="Google Shape;184;g36099b8cf77_0_67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85" name="Google Shape;185;g36099b8cf77_0_6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g36099b8cf77_0_67"/>
          <p:cNvSpPr txBox="1"/>
          <p:nvPr/>
        </p:nvSpPr>
        <p:spPr>
          <a:xfrm>
            <a:off x="1035450" y="3883250"/>
            <a:ext cx="16217100" cy="34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¿Cómo crear una guía de estilos?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g36099b8cf77_0_74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192" name="Google Shape;192;g36099b8cf77_0_74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93" name="Google Shape;193;g36099b8cf77_0_74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g36099b8cf77_0_74"/>
          <p:cNvSpPr txBox="1"/>
          <p:nvPr/>
        </p:nvSpPr>
        <p:spPr>
          <a:xfrm>
            <a:off x="556100" y="1257550"/>
            <a:ext cx="17731800" cy="10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69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Estudia la marca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6099b8cf77_0_74"/>
          <p:cNvSpPr txBox="1"/>
          <p:nvPr/>
        </p:nvSpPr>
        <p:spPr>
          <a:xfrm>
            <a:off x="1028700" y="2969245"/>
            <a:ext cx="16230600" cy="10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Cada organización tiene definidos sus colores, valores, historia, hasta un estilo visual. Es importante respetar los componentes de la marca para que el diseño final vaya a tono con ella.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36099b8cf77_0_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23625" y="5191800"/>
            <a:ext cx="8388199" cy="4528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6099b8cf77_0_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855052"/>
            <a:ext cx="7383575" cy="420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g36099b8cf77_0_84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03" name="Google Shape;203;g36099b8cf77_0_84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04" name="Google Shape;204;g36099b8cf77_0_84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g36099b8cf77_0_84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Tipografía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6099b8cf77_0_84"/>
          <p:cNvSpPr txBox="1"/>
          <p:nvPr/>
        </p:nvSpPr>
        <p:spPr>
          <a:xfrm>
            <a:off x="115250" y="4796125"/>
            <a:ext cx="6631200" cy="42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En algunos casos, las empresas suelen tener una tipografía definida, pero si no es así, se deja documentado en la guía de estilos, el tipo de tipografía y los colores que se van a usar según su jerarquía.</a:t>
            </a: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07" name="Google Shape;207;g36099b8cf77_0_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86900" y="2818825"/>
            <a:ext cx="5828324" cy="771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g36099b8cf77_0_93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13" name="Google Shape;213;g36099b8cf77_0_93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14" name="Google Shape;214;g36099b8cf77_0_93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g36099b8cf77_0_93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Paleta de colores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6099b8cf77_0_93"/>
          <p:cNvSpPr txBox="1"/>
          <p:nvPr/>
        </p:nvSpPr>
        <p:spPr>
          <a:xfrm>
            <a:off x="115250" y="4796125"/>
            <a:ext cx="6631200" cy="42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Al igual que con la tipografía, la paleta de colores es parte fundamental de la construcción de la interfaz, por eso mismo, se deben definir los colores principales, secundarios y complementarios, a utilizar.</a:t>
            </a: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17" name="Google Shape;217;g36099b8cf77_0_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8850" y="2753575"/>
            <a:ext cx="10974676" cy="688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g36099b8cf77_0_102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23" name="Google Shape;223;g36099b8cf77_0_102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24" name="Google Shape;224;g36099b8cf77_0_10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g36099b8cf77_0_102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Voz/Tono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6099b8cf77_0_102"/>
          <p:cNvSpPr txBox="1"/>
          <p:nvPr/>
        </p:nvSpPr>
        <p:spPr>
          <a:xfrm>
            <a:off x="743800" y="2969250"/>
            <a:ext cx="16515600" cy="23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Es la forma en la que decides comunicarte con el usuario; esta puede ser formal o informal, dependiendo de los valores de la marca. Existen plataformas como Duolingo o Spotify, que buscan una manera divertida de dar sus mensajes o resultados de búsqueda.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g36099b8cf77_0_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5493750"/>
            <a:ext cx="7672872" cy="46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6099b8cf77_0_1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5276" y="6972625"/>
            <a:ext cx="9719966" cy="14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g36099b8cf77_0_112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34" name="Google Shape;234;g36099b8cf77_0_112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35" name="Google Shape;235;g36099b8cf77_0_11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6" name="Google Shape;236;g36099b8cf77_0_112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Íconos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6099b8cf77_0_112"/>
          <p:cNvSpPr txBox="1"/>
          <p:nvPr/>
        </p:nvSpPr>
        <p:spPr>
          <a:xfrm>
            <a:off x="1028700" y="2969245"/>
            <a:ext cx="16230600" cy="17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iconografía es un punto importante a definir, dado a la relevancia de los mismos como elemento de representación de la marca. Estos, deben adaptarse a la imagen que se desea plasmar y, por lo tanto, pueden ser sobrios, creativos o inusuales.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g36099b8cf77_0_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2225" y="4876795"/>
            <a:ext cx="5279556" cy="5279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6099b8cf77_0_1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90781" y="4876795"/>
            <a:ext cx="5279556" cy="5279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g36099b8cf77_0_122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45" name="Google Shape;245;g36099b8cf77_0_122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46" name="Google Shape;246;g36099b8cf77_0_122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g36099b8cf77_0_122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Botones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6099b8cf77_0_122"/>
          <p:cNvSpPr txBox="1"/>
          <p:nvPr/>
        </p:nvSpPr>
        <p:spPr>
          <a:xfrm>
            <a:off x="1963875" y="5492075"/>
            <a:ext cx="5001000" cy="23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Los botones son un elemento de integración; en ellos se incluyen todos los puntos anteriores.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g36099b8cf77_0_1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64750" y="2835201"/>
            <a:ext cx="7632581" cy="768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g36099b8cf77_0_131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55" name="Google Shape;255;g36099b8cf77_0_131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56" name="Google Shape;256;g36099b8cf77_0_131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g36099b8cf77_0_131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Imágenes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6099b8cf77_0_131"/>
          <p:cNvSpPr txBox="1"/>
          <p:nvPr/>
        </p:nvSpPr>
        <p:spPr>
          <a:xfrm>
            <a:off x="1376675" y="3730450"/>
            <a:ext cx="5001000" cy="55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En caso de que lo amerite, la integración de imágenes puede producir un impacto bastante grande en la interfaz y los usuarios, ya que la transmisión del mensaje es más directa.</a:t>
            </a: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ctr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59" name="Google Shape;259;g36099b8cf77_0_1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1050" y="3034501"/>
            <a:ext cx="6012701" cy="450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6099b8cf77_0_1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84875" y="7674677"/>
            <a:ext cx="4876347" cy="2438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6099b8cf77_0_1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12701" y="4555576"/>
            <a:ext cx="1684876" cy="1684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6099b8cf77_0_1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769800" y="8051326"/>
            <a:ext cx="1684876" cy="168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g36099b8cf77_0_143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68" name="Google Shape;268;g36099b8cf77_0_143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69" name="Google Shape;269;g36099b8cf77_0_143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g36099b8cf77_0_143"/>
          <p:cNvSpPr txBox="1"/>
          <p:nvPr/>
        </p:nvSpPr>
        <p:spPr>
          <a:xfrm>
            <a:off x="702600" y="988400"/>
            <a:ext cx="16882800" cy="11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77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Ejemplos de catálogos de estilos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6099b8cf77_0_143"/>
          <p:cNvSpPr txBox="1"/>
          <p:nvPr/>
        </p:nvSpPr>
        <p:spPr>
          <a:xfrm>
            <a:off x="702600" y="2923050"/>
            <a:ext cx="14721600" cy="74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Material Design de Google: </a:t>
            </a: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extenso catálogo de estilos que define la apariencia y comportamiento de los productos de Google.</a:t>
            </a: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0" i="0" u="sng" strike="noStrike" cap="none">
                <a:solidFill>
                  <a:schemeClr val="hlink"/>
                </a:solidFill>
                <a:latin typeface="Poppins Light"/>
                <a:ea typeface="Poppins Light"/>
                <a:cs typeface="Poppins Light"/>
                <a:sym typeface="Poppins Light"/>
                <a:hlinkClick r:id="rId3"/>
              </a:rPr>
              <a:t>https://m3.material.io/</a:t>
            </a: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Human Interface Guidelines de Apple:</a:t>
            </a: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Directrices de diseño para desarrollar aplicaciones en plataformas de Apple, como iOS y macOS.</a:t>
            </a: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0" i="0" u="sng" strike="noStrike" cap="none">
                <a:solidFill>
                  <a:schemeClr val="hlink"/>
                </a:solidFill>
                <a:latin typeface="Poppins Light"/>
                <a:ea typeface="Poppins Light"/>
                <a:cs typeface="Poppins Light"/>
                <a:sym typeface="Poppins Light"/>
                <a:hlinkClick r:id="rId4"/>
              </a:rPr>
              <a:t>https://developer.apple.com/design/human-interface-guidelines</a:t>
            </a: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Bootstrap:</a:t>
            </a: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Un framework de front-end que incluye un conjunto completo de componentes de interfaz diseñados para ser consistentes.</a:t>
            </a: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r>
              <a:rPr lang="en-US" sz="2963" b="0" i="0" u="sng" strike="noStrike" cap="none">
                <a:solidFill>
                  <a:schemeClr val="hlink"/>
                </a:solidFill>
                <a:latin typeface="Poppins Light"/>
                <a:ea typeface="Poppins Light"/>
                <a:cs typeface="Poppins Light"/>
                <a:sym typeface="Poppins Light"/>
                <a:hlinkClick r:id="rId5"/>
              </a:rPr>
              <a:t>https://getbootstrap.com/docs/5.0/getting-started/introduction/</a:t>
            </a: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63"/>
              <a:buFont typeface="Arial"/>
              <a:buNone/>
            </a:pP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66">
          <a:extLst>
            <a:ext uri="{FF2B5EF4-FFF2-40B4-BE49-F238E27FC236}">
              <a16:creationId xmlns:a16="http://schemas.microsoft.com/office/drawing/2014/main" id="{B48AC220-E602-DA05-B106-E9B83579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g36099b8cf77_0_143">
            <a:extLst>
              <a:ext uri="{FF2B5EF4-FFF2-40B4-BE49-F238E27FC236}">
                <a16:creationId xmlns:a16="http://schemas.microsoft.com/office/drawing/2014/main" id="{F43728A6-85CE-1FDE-C2FB-ACB008F6503F}"/>
              </a:ext>
            </a:extLst>
          </p:cNvPr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68" name="Google Shape;268;g36099b8cf77_0_143">
              <a:extLst>
                <a:ext uri="{FF2B5EF4-FFF2-40B4-BE49-F238E27FC236}">
                  <a16:creationId xmlns:a16="http://schemas.microsoft.com/office/drawing/2014/main" id="{764AE276-42D5-49CC-EAE0-1C16E09C4719}"/>
                </a:ext>
              </a:extLst>
            </p:cNvPr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69" name="Google Shape;269;g36099b8cf77_0_143">
              <a:extLst>
                <a:ext uri="{FF2B5EF4-FFF2-40B4-BE49-F238E27FC236}">
                  <a16:creationId xmlns:a16="http://schemas.microsoft.com/office/drawing/2014/main" id="{2CE004A2-F17C-FE0F-B589-F2A332407624}"/>
                </a:ext>
              </a:extLst>
            </p:cNvPr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g36099b8cf77_0_143">
            <a:extLst>
              <a:ext uri="{FF2B5EF4-FFF2-40B4-BE49-F238E27FC236}">
                <a16:creationId xmlns:a16="http://schemas.microsoft.com/office/drawing/2014/main" id="{7CA2D3A6-C95D-CFEF-824A-E90135E2313A}"/>
              </a:ext>
            </a:extLst>
          </p:cNvPr>
          <p:cNvSpPr txBox="1"/>
          <p:nvPr/>
        </p:nvSpPr>
        <p:spPr>
          <a:xfrm>
            <a:off x="702600" y="988400"/>
            <a:ext cx="16882800" cy="166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7724" b="1" dirty="0" err="1">
                <a:solidFill>
                  <a:srgbClr val="FDFDFD"/>
                </a:solidFill>
                <a:latin typeface="Poppins"/>
                <a:cs typeface="Poppins"/>
                <a:sym typeface="Poppins"/>
              </a:rPr>
              <a:t>Arquitectura</a:t>
            </a:r>
            <a:r>
              <a:rPr lang="en-US" sz="7724" b="1" dirty="0">
                <a:solidFill>
                  <a:srgbClr val="FDFDFD"/>
                </a:solidFill>
                <a:latin typeface="Poppins"/>
                <a:cs typeface="Poppins"/>
                <a:sym typeface="Poppins"/>
              </a:rPr>
              <a:t> de la </a:t>
            </a:r>
            <a:r>
              <a:rPr lang="en-US" sz="7724" b="1" dirty="0" err="1">
                <a:solidFill>
                  <a:srgbClr val="FDFDFD"/>
                </a:solidFill>
                <a:latin typeface="Poppins"/>
                <a:cs typeface="Poppins"/>
                <a:sym typeface="Poppins"/>
              </a:rPr>
              <a:t>información</a:t>
            </a:r>
            <a:endParaRPr sz="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8" name="Picture 4" descr="Arquitectura de la información | Figma">
            <a:extLst>
              <a:ext uri="{FF2B5EF4-FFF2-40B4-BE49-F238E27FC236}">
                <a16:creationId xmlns:a16="http://schemas.microsoft.com/office/drawing/2014/main" id="{D57751D0-86A7-C11A-0629-3C0EB833D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52663"/>
            <a:ext cx="18288000" cy="578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7029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g36099b8cf77_0_151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77" name="Google Shape;277;g36099b8cf77_0_151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78" name="Google Shape;278;g36099b8cf77_0_151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g36099b8cf77_0_151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Qué es el diseño UX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6099b8cf77_0_151"/>
          <p:cNvSpPr txBox="1"/>
          <p:nvPr/>
        </p:nvSpPr>
        <p:spPr>
          <a:xfrm>
            <a:off x="494250" y="2758575"/>
            <a:ext cx="17299500" cy="30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diseño de Experiencia de Usuario (UX) es el proceso de crear productos, sistemas o servicios que proporcionen experiencias significativas y relevantes a los usuarios. Involucra todo el proceso de adquisición e integración del producto, lo que incluye aspectos de marca, diseño, usabilidad y funcionalidad. Una gran parte del diseño UX es hacer que el producto final resulte funcional para proporcionar una experiencia positiva, eficiente y satisfactoria para el usuario.</a:t>
            </a: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81" name="Google Shape;281;g36099b8cf77_0_1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0275" y="5994575"/>
            <a:ext cx="6214430" cy="41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g36099b8cf77_0_160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87" name="Google Shape;287;g36099b8cf77_0_160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88" name="Google Shape;288;g36099b8cf77_0_160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" name="Google Shape;289;g36099b8cf77_0_160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Aspectos de UX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6099b8cf77_0_160"/>
          <p:cNvSpPr txBox="1"/>
          <p:nvPr/>
        </p:nvSpPr>
        <p:spPr>
          <a:xfrm>
            <a:off x="494250" y="2758575"/>
            <a:ext cx="14742000" cy="70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63"/>
              <a:buFont typeface="Arial"/>
              <a:buNone/>
            </a:pPr>
            <a:endParaRPr sz="23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marR="0" lvl="0" indent="-378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lang="en-US" sz="23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Investigación de usuarios:</a:t>
            </a:r>
            <a:r>
              <a:rPr lang="en-US" sz="23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comprender las necesidades, comportamientos y motivaciones de los usuarios a través de diversos métodos como entrevistas, encuestas y pruebas de usabilidad.</a:t>
            </a:r>
            <a:endParaRPr sz="23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marR="0" lvl="0" indent="-378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lang="en-US" sz="23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Arquitectura de la información:</a:t>
            </a:r>
            <a:r>
              <a:rPr lang="en-US" sz="23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organizar y estructurar el contenido de una manera intuitiva y fácil de usar.</a:t>
            </a:r>
            <a:endParaRPr sz="23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marR="0" lvl="0" indent="-378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lang="en-US" sz="23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Wireframing y prototipado:</a:t>
            </a:r>
            <a:r>
              <a:rPr lang="en-US" sz="23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crear representaciones de baja y alta fidelidad del producto para probar y refinar conceptos.</a:t>
            </a:r>
            <a:endParaRPr sz="23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marR="0" lvl="0" indent="-378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lang="en-US" sz="23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Pruebas de usabilidad:</a:t>
            </a:r>
            <a:r>
              <a:rPr lang="en-US" sz="23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evaluar el producto probándolo con usuarios reales para identificar problemas y mejorar la experiencia general.</a:t>
            </a:r>
            <a:endParaRPr sz="23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marR="0" lvl="0" indent="-378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lang="en-US" sz="23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Diseño de interacción:</a:t>
            </a:r>
            <a:r>
              <a:rPr lang="en-US" sz="23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diseñar los aspectos interactivos de un producto, como botones, transiciones y animaciones, para asegurar que sean intuitivos y mejoren la experiencia del usuario.</a:t>
            </a:r>
            <a:endParaRPr sz="23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marR="0" lvl="0" indent="-378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lang="en-US" sz="23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Diseño visual:</a:t>
            </a:r>
            <a:r>
              <a:rPr lang="en-US" sz="23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asegurar que el producto sea estéticamente agradable y refleje la identidad de la marca.</a:t>
            </a:r>
            <a:endParaRPr sz="23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marR="0" lvl="0" indent="-378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lang="en-US" sz="23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Accesibilidad:</a:t>
            </a:r>
            <a:r>
              <a:rPr lang="en-US" sz="23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asegurarse de que el producto pueda ser usado por personas con una amplia gama de habilidades y discapacidades.</a:t>
            </a:r>
            <a:endParaRPr sz="23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g36099b8cf77_0_168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296" name="Google Shape;296;g36099b8cf77_0_168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97" name="Google Shape;297;g36099b8cf77_0_168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g36099b8cf77_0_168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Qué es el diseño UI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6099b8cf77_0_168"/>
          <p:cNvSpPr txBox="1"/>
          <p:nvPr/>
        </p:nvSpPr>
        <p:spPr>
          <a:xfrm>
            <a:off x="494250" y="2758575"/>
            <a:ext cx="17299500" cy="30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diseño de Interfaz de Usuario (UI) se enfoca en los aspectos visuales e interactivos de la interfaz de un producto. Implica determinar la apariencia y el comportamiento del producto, incluidos el diseño, los colores, la tipografía y los elementos interactivos, para asegurar que sea visualmente atractivo y fácil de usar. El diseño UI se encarga de crear elementos visuales e interactivos de un producto para lograr una experiencia de usuario atractiva, intuitiva y cohesiva.</a:t>
            </a:r>
            <a:endParaRPr sz="29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300" name="Google Shape;300;g36099b8cf77_0_1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6813" y="5994575"/>
            <a:ext cx="8274725" cy="414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g36099b8cf77_0_177"/>
          <p:cNvGrpSpPr/>
          <p:nvPr/>
        </p:nvGrpSpPr>
        <p:grpSpPr>
          <a:xfrm>
            <a:off x="-584626" y="564525"/>
            <a:ext cx="19457594" cy="2036657"/>
            <a:chOff x="0" y="-76200"/>
            <a:chExt cx="5124600" cy="536400"/>
          </a:xfrm>
        </p:grpSpPr>
        <p:sp>
          <p:nvSpPr>
            <p:cNvPr id="306" name="Google Shape;306;g36099b8cf77_0_177"/>
            <p:cNvSpPr/>
            <p:nvPr/>
          </p:nvSpPr>
          <p:spPr>
            <a:xfrm>
              <a:off x="0" y="0"/>
              <a:ext cx="5124544" cy="460098"/>
            </a:xfrm>
            <a:custGeom>
              <a:avLst/>
              <a:gdLst/>
              <a:ahLst/>
              <a:cxnLst/>
              <a:rect l="l" t="t" r="r" b="b"/>
              <a:pathLst>
                <a:path w="5124544" h="460098" extrusionOk="0">
                  <a:moveTo>
                    <a:pt x="0" y="0"/>
                  </a:moveTo>
                  <a:lnTo>
                    <a:pt x="5124544" y="0"/>
                  </a:lnTo>
                  <a:lnTo>
                    <a:pt x="5124544" y="460098"/>
                  </a:lnTo>
                  <a:lnTo>
                    <a:pt x="0" y="460098"/>
                  </a:lnTo>
                  <a:close/>
                </a:path>
              </a:pathLst>
            </a:custGeom>
            <a:solidFill>
              <a:srgbClr val="013362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07" name="Google Shape;307;g36099b8cf77_0_177"/>
            <p:cNvSpPr txBox="1"/>
            <p:nvPr/>
          </p:nvSpPr>
          <p:spPr>
            <a:xfrm>
              <a:off x="0" y="-76200"/>
              <a:ext cx="5124600" cy="53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8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8" name="Google Shape;308;g36099b8cf77_0_177"/>
          <p:cNvSpPr txBox="1"/>
          <p:nvPr/>
        </p:nvSpPr>
        <p:spPr>
          <a:xfrm>
            <a:off x="1599296" y="758314"/>
            <a:ext cx="15089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4"/>
              <a:buFont typeface="Arial"/>
              <a:buNone/>
            </a:pPr>
            <a:r>
              <a:rPr lang="en-US" sz="9224" b="1" i="0" u="none" strike="noStrike" cap="none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Aspectos de UI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6099b8cf77_0_177"/>
          <p:cNvSpPr txBox="1"/>
          <p:nvPr/>
        </p:nvSpPr>
        <p:spPr>
          <a:xfrm>
            <a:off x="539100" y="3012750"/>
            <a:ext cx="16012800" cy="58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78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lang="en-US" sz="23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Diseño visual: </a:t>
            </a:r>
            <a:r>
              <a:rPr lang="en-US" sz="23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crear la estética general del producto, que incluye esquemas de colores, tipografía, imágenes e iconografía. Esto garantiza que la interfaz sea visualmente atractiva y refleje la identidad de la marca.</a:t>
            </a:r>
            <a:endParaRPr sz="23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marR="0" lvl="0" indent="-378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lang="en-US" sz="23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Diseño y composición:</a:t>
            </a:r>
            <a:r>
              <a:rPr lang="en-US" sz="23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organizar elementos en la pantalla de manera clara y lógica. Esto incluye el espaciado, la alineación y el uso de cuadrículas para crear una interfaz equilibrada y fácil de navegar.</a:t>
            </a:r>
            <a:endParaRPr sz="23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marR="0" lvl="0" indent="-378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lang="en-US" sz="23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Elementos interactivos:</a:t>
            </a:r>
            <a:r>
              <a:rPr lang="en-US" sz="23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diseñar botones, deslizadores, formularios y otros componentes interactivos que los usuarios utilizan. Estos elementos deben ser intuitivos y responsivos.</a:t>
            </a:r>
            <a:endParaRPr sz="23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marR="0" lvl="0" indent="-378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lang="en-US" sz="24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Consistencia:</a:t>
            </a:r>
            <a:r>
              <a:rPr lang="en-US" sz="23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asegurar que el diseño sea consistente en todo el producto. Esto incluye mantener estilos, colores y comportamientos uniformes para proporcionar una experiencia cohesiva.</a:t>
            </a:r>
            <a:endParaRPr sz="23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marR="0" lvl="0" indent="-378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lang="en-US" sz="23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Accesibilidad:</a:t>
            </a:r>
            <a:r>
              <a:rPr lang="en-US" sz="23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 diseñar interfaces que sean accesibles para usuarios con diferentes habilidades. Esto incluye considerar factores como el contraste, el tamaño de fuente y la navegación por teclado.</a:t>
            </a:r>
            <a:endParaRPr sz="23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marR="0" lvl="0" indent="-378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3362"/>
              </a:buClr>
              <a:buSzPts val="2363"/>
              <a:buFont typeface="Poppins Light"/>
              <a:buChar char="●"/>
            </a:pPr>
            <a:r>
              <a:rPr lang="en-US" sz="2363" b="1" i="0" u="none" strike="noStrike" cap="none">
                <a:solidFill>
                  <a:srgbClr val="013362"/>
                </a:solidFill>
                <a:latin typeface="Poppins"/>
                <a:ea typeface="Poppins"/>
                <a:cs typeface="Poppins"/>
                <a:sym typeface="Poppins"/>
              </a:rPr>
              <a:t>Retroalimentación y capacidad de respuesta: </a:t>
            </a:r>
            <a:r>
              <a:rPr lang="en-US" sz="2363" b="0" i="0" u="none" strike="noStrike" cap="none">
                <a:solidFill>
                  <a:srgbClr val="013362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proporcionar retroalimentación visual a los usuarios cuando interactúan con los elementos. Esto incluye efectos de desplazamiento, indicadores de carga y mensajes de error para mantener a los usuarios informados sobre el estado de sus acciones.</a:t>
            </a:r>
            <a:endParaRPr sz="2363" b="0" i="0" u="none" strike="noStrike" cap="none">
              <a:solidFill>
                <a:srgbClr val="01336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g36099b8cf77_0_1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857250"/>
            <a:ext cx="15240000" cy="857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g36099b8cf77_0_1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8988" y="152400"/>
            <a:ext cx="13750035" cy="998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60abbd5028_0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Responsabilidad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3" name="Google Shape;373;g360abbd5028_0_0"/>
          <p:cNvSpPr txBox="1"/>
          <p:nvPr/>
        </p:nvSpPr>
        <p:spPr>
          <a:xfrm>
            <a:off x="2230719" y="2675475"/>
            <a:ext cx="14171700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19"/>
              </a:lnSpc>
              <a:buSzPts val="3151"/>
            </a:pPr>
            <a:r>
              <a:rPr lang="es-ES" sz="3600" dirty="0"/>
              <a:t>La empatía es clave en el diseño centrado en el usuario. Comprender las necesidades, emociones y expectativas del usuario permite diseñar experiencias más accesibles, útiles y satisfactorias. Fomentar este valor impulsa soluciones tecnológicas humanas y responsables.</a:t>
            </a:r>
            <a:endParaRPr sz="3600" dirty="0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lang="en-US" sz="6099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14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endParaRPr sz="6099" b="0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9" name="Google Shape;379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81" name="Google Shape;381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1298</Words>
  <Application>Microsoft Office PowerPoint</Application>
  <PresentationFormat>Personalizado</PresentationFormat>
  <Paragraphs>89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4" baseType="lpstr">
      <vt:lpstr>Arial</vt:lpstr>
      <vt:lpstr>Impact</vt:lpstr>
      <vt:lpstr>Calibri</vt:lpstr>
      <vt:lpstr>Poppins Black</vt:lpstr>
      <vt:lpstr>Poppins</vt:lpstr>
      <vt:lpstr>Poppins Light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Mynor Moran</cp:lastModifiedBy>
  <cp:revision>1</cp:revision>
  <dcterms:created xsi:type="dcterms:W3CDTF">2006-08-16T00:00:00Z</dcterms:created>
  <dcterms:modified xsi:type="dcterms:W3CDTF">2025-07-05T19:58:39Z</dcterms:modified>
</cp:coreProperties>
</file>