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5" r:id="rId6"/>
    <p:sldId id="274" r:id="rId7"/>
    <p:sldId id="273" r:id="rId8"/>
    <p:sldId id="272" r:id="rId9"/>
    <p:sldId id="283" r:id="rId10"/>
    <p:sldId id="284" r:id="rId11"/>
    <p:sldId id="285" r:id="rId12"/>
    <p:sldId id="286" r:id="rId13"/>
    <p:sldId id="287" r:id="rId14"/>
    <p:sldId id="288" r:id="rId15"/>
    <p:sldId id="280" r:id="rId16"/>
    <p:sldId id="281" r:id="rId17"/>
    <p:sldId id="282" r:id="rId18"/>
  </p:sldIdLst>
  <p:sldSz cx="18288000" cy="10287000"/>
  <p:notesSz cx="6858000" cy="9144000"/>
  <p:embeddedFontLst>
    <p:embeddedFont>
      <p:font typeface="Impact" panose="020B0806030902050204" pitchFamily="34" charset="0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Black" panose="00000A00000000000000" pitchFamily="2" charset="0"/>
      <p:bold r:id="rId29"/>
      <p:boldItalic r:id="rId30"/>
    </p:embeddedFont>
    <p:embeddedFont>
      <p:font typeface="Poppins Light" panose="000004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gNMzAfcEm+vVeS/H469WSnORr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928063-A2A2-4B94-8251-6A62FB6525CB}">
  <a:tblStyle styleId="{9C928063-A2A2-4B94-8251-6A62FB6525C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ed9f8475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35ed9f8475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ed9f8475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g35ed9f8475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ed9f8475e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7" name="Google Shape;307;g35ed9f8475e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ed9f8475e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g35ed9f8475e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g35ed9f8475e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BD0A9D71-0473-184D-BA7E-53453589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>
            <a:extLst>
              <a:ext uri="{FF2B5EF4-FFF2-40B4-BE49-F238E27FC236}">
                <a16:creationId xmlns:a16="http://schemas.microsoft.com/office/drawing/2014/main" id="{A376394E-4F36-E446-C9A0-E9E2F1947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g35ed9f8475e_0_167:notes">
            <a:extLst>
              <a:ext uri="{FF2B5EF4-FFF2-40B4-BE49-F238E27FC236}">
                <a16:creationId xmlns:a16="http://schemas.microsoft.com/office/drawing/2014/main" id="{13B6CA28-8002-4F1C-86A9-3CFE41F26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0574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EE7B7B42-DFBF-6155-977C-F9D4B939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>
            <a:extLst>
              <a:ext uri="{FF2B5EF4-FFF2-40B4-BE49-F238E27FC236}">
                <a16:creationId xmlns:a16="http://schemas.microsoft.com/office/drawing/2014/main" id="{CB2AA8D6-9242-2958-D857-3088F9E9D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g35ed9f8475e_0_167:notes">
            <a:extLst>
              <a:ext uri="{FF2B5EF4-FFF2-40B4-BE49-F238E27FC236}">
                <a16:creationId xmlns:a16="http://schemas.microsoft.com/office/drawing/2014/main" id="{E4383134-66BD-FFA9-F135-EFCAA8ED0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0072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A253B09D-FE6F-2BB2-B727-7C5CDD01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>
            <a:extLst>
              <a:ext uri="{FF2B5EF4-FFF2-40B4-BE49-F238E27FC236}">
                <a16:creationId xmlns:a16="http://schemas.microsoft.com/office/drawing/2014/main" id="{0ADDB075-B792-0C79-0B92-8F3C3910B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g35ed9f8475e_0_167:notes">
            <a:extLst>
              <a:ext uri="{FF2B5EF4-FFF2-40B4-BE49-F238E27FC236}">
                <a16:creationId xmlns:a16="http://schemas.microsoft.com/office/drawing/2014/main" id="{2051CD29-D1BD-998D-AE28-6A6BB37D2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5806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D3729754-C02F-E0C7-CD45-D4656202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>
            <a:extLst>
              <a:ext uri="{FF2B5EF4-FFF2-40B4-BE49-F238E27FC236}">
                <a16:creationId xmlns:a16="http://schemas.microsoft.com/office/drawing/2014/main" id="{275C23A0-7740-E166-3522-D92C0C19C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g35ed9f8475e_0_167:notes">
            <a:extLst>
              <a:ext uri="{FF2B5EF4-FFF2-40B4-BE49-F238E27FC236}">
                <a16:creationId xmlns:a16="http://schemas.microsoft.com/office/drawing/2014/main" id="{AE565C40-C688-4150-1AE4-0D0CFB36C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8636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2E117E76-0174-EBBB-D3C7-EADA83B3A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>
            <a:extLst>
              <a:ext uri="{FF2B5EF4-FFF2-40B4-BE49-F238E27FC236}">
                <a16:creationId xmlns:a16="http://schemas.microsoft.com/office/drawing/2014/main" id="{CC38660E-9A5B-C43A-1A7D-568D23A7E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g35ed9f8475e_0_167:notes">
            <a:extLst>
              <a:ext uri="{FF2B5EF4-FFF2-40B4-BE49-F238E27FC236}">
                <a16:creationId xmlns:a16="http://schemas.microsoft.com/office/drawing/2014/main" id="{678AFEAB-2996-173A-5017-2EB432671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7693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>
          <a:extLst>
            <a:ext uri="{FF2B5EF4-FFF2-40B4-BE49-F238E27FC236}">
              <a16:creationId xmlns:a16="http://schemas.microsoft.com/office/drawing/2014/main" id="{BFE8BE4E-CE19-5D07-9BCE-FD874B13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ed9f8475e_0_167:notes">
            <a:extLst>
              <a:ext uri="{FF2B5EF4-FFF2-40B4-BE49-F238E27FC236}">
                <a16:creationId xmlns:a16="http://schemas.microsoft.com/office/drawing/2014/main" id="{845499E9-BB51-6058-2801-DC9B0D3FF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5" name="Google Shape;285;g35ed9f8475e_0_167:notes">
            <a:extLst>
              <a:ext uri="{FF2B5EF4-FFF2-40B4-BE49-F238E27FC236}">
                <a16:creationId xmlns:a16="http://schemas.microsoft.com/office/drawing/2014/main" id="{E10244CF-70ED-DF1C-4009-D3A310445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5112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0abd5a1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0" name="Google Shape;380;g360abd5a1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6" name="Google Shape;3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sz="50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2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lang="en-US" sz="2499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lang="en-US" sz="2499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00827" y="1975925"/>
            <a:ext cx="15968700" cy="413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5199"/>
            </a:pPr>
            <a:r>
              <a:rPr lang="es-ES" sz="4800" dirty="0"/>
              <a:t>Identifica y comprende los patrones de diseño creacionales, reconociendo sus estructuras, ventajas y aplicaciones para seleccionar el más adecuado según el problema de diseño planteado.</a:t>
            </a:r>
            <a:endParaRPr sz="4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374889" y="3027816"/>
            <a:ext cx="126255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3" name="Google Shape;103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014" b="0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g35ed9f8475e_0_1"/>
          <p:cNvGraphicFramePr/>
          <p:nvPr/>
        </p:nvGraphicFramePr>
        <p:xfrm>
          <a:off x="6116951" y="4739298"/>
          <a:ext cx="6054200" cy="4035646"/>
        </p:xfrm>
        <a:graphic>
          <a:graphicData uri="http://schemas.openxmlformats.org/drawingml/2006/table">
            <a:tbl>
              <a:tblPr>
                <a:noFill/>
                <a:tableStyleId>{9C928063-A2A2-4B94-8251-6A62FB6525CB}</a:tableStyleId>
              </a:tblPr>
              <a:tblGrid>
                <a:gridCol w="96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Grupos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Teoría Introductoria de Patrones de diseño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2000" b="1" u="none" strike="noStrike" cap="non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 Práctico</a:t>
                      </a:r>
                      <a:endParaRPr sz="2000" u="none" strike="noStrike" cap="non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9" name="Google Shape;109;g35ed9f8475e_0_1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10" name="Google Shape;110;g35ed9f8475e_0_1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Google Shape;111;g35ed9f8475e_0_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35ed9f8475e_0_1"/>
          <p:cNvSpPr/>
          <p:nvPr/>
        </p:nvSpPr>
        <p:spPr>
          <a:xfrm>
            <a:off x="592309" y="8986439"/>
            <a:ext cx="2658272" cy="1329136"/>
          </a:xfrm>
          <a:custGeom>
            <a:avLst/>
            <a:gdLst/>
            <a:ahLst/>
            <a:cxnLst/>
            <a:rect l="l" t="t" r="r" b="b"/>
            <a:pathLst>
              <a:path w="2658272" h="1329136" extrusionOk="0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3" name="Google Shape;113;g35ed9f8475e_0_1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lang="en-US" sz="10576" b="0" i="0" u="none" strike="noStrike" cap="non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5ed9f8475e_0_1"/>
          <p:cNvSpPr/>
          <p:nvPr/>
        </p:nvSpPr>
        <p:spPr>
          <a:xfrm rot="10800000">
            <a:off x="14838633" y="0"/>
            <a:ext cx="2658272" cy="1329136"/>
          </a:xfrm>
          <a:custGeom>
            <a:avLst/>
            <a:gdLst/>
            <a:ahLst/>
            <a:cxnLst/>
            <a:rect l="l" t="t" r="r" b="b"/>
            <a:pathLst>
              <a:path w="2658272" h="1329136" extrusionOk="0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g35ed9f8475e_0_90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04" name="Google Shape;204;g35ed9f8475e_0_90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05" name="Google Shape;205;g35ed9f8475e_0_9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g35ed9f8475e_0_90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Creacionales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ed9f8475e_0_90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patrones de diseño relacionados con la creación o construcción de objetos. Estos patrones intentan controlar la forma en que los objetos son creados implementando mecanismos que eviten la creación directa de objetos.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5ed9f8475e_0_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5575" y="4989620"/>
            <a:ext cx="5962650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5ed9f8475e_0_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7925" y="507072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g35ed9f8475e_0_18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10" name="Google Shape;310;g35ed9f8475e_0_187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11" name="Google Shape;311;g35ed9f8475e_0_18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g35ed9f8475e_0_18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lang="en-US" sz="9224" b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9224" b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Factory Method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5ed9f8475e_0_18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Factory Method es un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patrón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diseño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creacional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que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proporciona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interfaz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para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objetos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en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superclase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,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mientras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permite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 las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subclases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alterar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el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tipo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objetos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que se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crearán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35ed9f8475e_0_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50" y="5318570"/>
            <a:ext cx="6096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5ed9f8475e_0_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9675" y="5318579"/>
            <a:ext cx="8126325" cy="41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g35ed9f8475e_0_17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99" name="Google Shape;299;g35ed9f8475e_0_177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00" name="Google Shape;300;g35ed9f8475e_0_17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g35ed9f8475e_0_17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lang="en-US" sz="9224" b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9224" b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Abstract Factory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5ed9f8475e_0_177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Abstract Factory es un patrón de diseño creacional que nos permite producir familias de objetos relacionados sin especificar sus clases concretas.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5ed9f8475e_0_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2900" y="4784553"/>
            <a:ext cx="6096000" cy="40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5ed9f8475e_0_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3425" y="5262970"/>
            <a:ext cx="6096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5ed9f8475e_0_16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8" name="Google Shape;288;g35ed9f8475e_0_167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9" name="Google Shape;289;g35ed9f8475e_0_16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ed9f8475e_0_16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lang="en-US" sz="9224" b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9224" b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Singleton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5ed9f8475e_0_167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Singleton es un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patrón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diseño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creacional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que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nos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permite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asegurarnos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 que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clase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tenga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única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instancia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, a la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vez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que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proporciona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un punto de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acceso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global a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dicha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963" dirty="0" err="1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instancia</a:t>
            </a:r>
            <a:r>
              <a:rPr lang="en-US" sz="2963" dirty="0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g35ed9f8475e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675" y="5348470"/>
            <a:ext cx="6096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5ed9f8475e_0_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92700" y="5767125"/>
            <a:ext cx="6096000" cy="411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8F975659-AB5A-A3F5-C029-EF4666A0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6" name="Rectangle 295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Google Shape;290;g35ed9f8475e_0_167">
            <a:extLst>
              <a:ext uri="{FF2B5EF4-FFF2-40B4-BE49-F238E27FC236}">
                <a16:creationId xmlns:a16="http://schemas.microsoft.com/office/drawing/2014/main" id="{03A39AE0-480D-355D-68FF-6FB311EC687E}"/>
              </a:ext>
            </a:extLst>
          </p:cNvPr>
          <p:cNvSpPr txBox="1"/>
          <p:nvPr/>
        </p:nvSpPr>
        <p:spPr>
          <a:xfrm>
            <a:off x="918972" y="547687"/>
            <a:ext cx="7942522" cy="309571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ts val="9224"/>
            </a:pPr>
            <a:r>
              <a:rPr lang="en-US" sz="81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Patr</a:t>
            </a:r>
            <a:r>
              <a:rPr lang="en-US" sz="8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ó</a:t>
            </a:r>
            <a:r>
              <a:rPr lang="en-US" sz="8100" b="1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n</a:t>
            </a:r>
            <a:r>
              <a:rPr lang="en-US" sz="81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Poppins"/>
              </a:rPr>
              <a:t> Builder</a:t>
            </a:r>
            <a:endParaRPr lang="en-US" sz="8100" b="0" i="0" u="none" strike="noStrike" kern="1200" cap="none">
              <a:solidFill>
                <a:schemeClr val="tx1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298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7300" y="3975271"/>
            <a:ext cx="6515100" cy="27432"/>
          </a:xfrm>
          <a:custGeom>
            <a:avLst/>
            <a:gdLst>
              <a:gd name="connsiteX0" fmla="*/ 0 w 6515100"/>
              <a:gd name="connsiteY0" fmla="*/ 0 h 27432"/>
              <a:gd name="connsiteX1" fmla="*/ 651510 w 6515100"/>
              <a:gd name="connsiteY1" fmla="*/ 0 h 27432"/>
              <a:gd name="connsiteX2" fmla="*/ 1303020 w 6515100"/>
              <a:gd name="connsiteY2" fmla="*/ 0 h 27432"/>
              <a:gd name="connsiteX3" fmla="*/ 1954530 w 6515100"/>
              <a:gd name="connsiteY3" fmla="*/ 0 h 27432"/>
              <a:gd name="connsiteX4" fmla="*/ 2736342 w 6515100"/>
              <a:gd name="connsiteY4" fmla="*/ 0 h 27432"/>
              <a:gd name="connsiteX5" fmla="*/ 3453003 w 6515100"/>
              <a:gd name="connsiteY5" fmla="*/ 0 h 27432"/>
              <a:gd name="connsiteX6" fmla="*/ 3909060 w 6515100"/>
              <a:gd name="connsiteY6" fmla="*/ 0 h 27432"/>
              <a:gd name="connsiteX7" fmla="*/ 4495419 w 6515100"/>
              <a:gd name="connsiteY7" fmla="*/ 0 h 27432"/>
              <a:gd name="connsiteX8" fmla="*/ 5277231 w 6515100"/>
              <a:gd name="connsiteY8" fmla="*/ 0 h 27432"/>
              <a:gd name="connsiteX9" fmla="*/ 5928741 w 6515100"/>
              <a:gd name="connsiteY9" fmla="*/ 0 h 27432"/>
              <a:gd name="connsiteX10" fmla="*/ 6515100 w 6515100"/>
              <a:gd name="connsiteY10" fmla="*/ 0 h 27432"/>
              <a:gd name="connsiteX11" fmla="*/ 6515100 w 6515100"/>
              <a:gd name="connsiteY11" fmla="*/ 27432 h 27432"/>
              <a:gd name="connsiteX12" fmla="*/ 5993892 w 6515100"/>
              <a:gd name="connsiteY12" fmla="*/ 27432 h 27432"/>
              <a:gd name="connsiteX13" fmla="*/ 5212080 w 6515100"/>
              <a:gd name="connsiteY13" fmla="*/ 27432 h 27432"/>
              <a:gd name="connsiteX14" fmla="*/ 4690872 w 6515100"/>
              <a:gd name="connsiteY14" fmla="*/ 27432 h 27432"/>
              <a:gd name="connsiteX15" fmla="*/ 4234815 w 6515100"/>
              <a:gd name="connsiteY15" fmla="*/ 27432 h 27432"/>
              <a:gd name="connsiteX16" fmla="*/ 3778758 w 6515100"/>
              <a:gd name="connsiteY16" fmla="*/ 27432 h 27432"/>
              <a:gd name="connsiteX17" fmla="*/ 3062097 w 6515100"/>
              <a:gd name="connsiteY17" fmla="*/ 27432 h 27432"/>
              <a:gd name="connsiteX18" fmla="*/ 2606040 w 6515100"/>
              <a:gd name="connsiteY18" fmla="*/ 27432 h 27432"/>
              <a:gd name="connsiteX19" fmla="*/ 1954530 w 6515100"/>
              <a:gd name="connsiteY19" fmla="*/ 27432 h 27432"/>
              <a:gd name="connsiteX20" fmla="*/ 1433322 w 6515100"/>
              <a:gd name="connsiteY20" fmla="*/ 27432 h 27432"/>
              <a:gd name="connsiteX21" fmla="*/ 781812 w 6515100"/>
              <a:gd name="connsiteY21" fmla="*/ 27432 h 27432"/>
              <a:gd name="connsiteX22" fmla="*/ 0 w 6515100"/>
              <a:gd name="connsiteY22" fmla="*/ 27432 h 27432"/>
              <a:gd name="connsiteX23" fmla="*/ 0 w 6515100"/>
              <a:gd name="connsiteY23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15100" h="27432" fill="none" extrusionOk="0">
                <a:moveTo>
                  <a:pt x="0" y="0"/>
                </a:moveTo>
                <a:cubicBezTo>
                  <a:pt x="166325" y="-5749"/>
                  <a:pt x="479153" y="-30341"/>
                  <a:pt x="651510" y="0"/>
                </a:cubicBezTo>
                <a:cubicBezTo>
                  <a:pt x="823867" y="30341"/>
                  <a:pt x="1089927" y="17090"/>
                  <a:pt x="1303020" y="0"/>
                </a:cubicBezTo>
                <a:cubicBezTo>
                  <a:pt x="1516113" y="-17090"/>
                  <a:pt x="1647249" y="17285"/>
                  <a:pt x="1954530" y="0"/>
                </a:cubicBezTo>
                <a:cubicBezTo>
                  <a:pt x="2261811" y="-17285"/>
                  <a:pt x="2556150" y="7492"/>
                  <a:pt x="2736342" y="0"/>
                </a:cubicBezTo>
                <a:cubicBezTo>
                  <a:pt x="2916534" y="-7492"/>
                  <a:pt x="3255362" y="4899"/>
                  <a:pt x="3453003" y="0"/>
                </a:cubicBezTo>
                <a:cubicBezTo>
                  <a:pt x="3650644" y="-4899"/>
                  <a:pt x="3707830" y="-10542"/>
                  <a:pt x="3909060" y="0"/>
                </a:cubicBezTo>
                <a:cubicBezTo>
                  <a:pt x="4110290" y="10542"/>
                  <a:pt x="4298105" y="-14723"/>
                  <a:pt x="4495419" y="0"/>
                </a:cubicBezTo>
                <a:cubicBezTo>
                  <a:pt x="4692733" y="14723"/>
                  <a:pt x="5062614" y="17869"/>
                  <a:pt x="5277231" y="0"/>
                </a:cubicBezTo>
                <a:cubicBezTo>
                  <a:pt x="5491848" y="-17869"/>
                  <a:pt x="5741638" y="17967"/>
                  <a:pt x="5928741" y="0"/>
                </a:cubicBezTo>
                <a:cubicBezTo>
                  <a:pt x="6115844" y="-17967"/>
                  <a:pt x="6302591" y="17820"/>
                  <a:pt x="6515100" y="0"/>
                </a:cubicBezTo>
                <a:cubicBezTo>
                  <a:pt x="6514842" y="7487"/>
                  <a:pt x="6514179" y="19984"/>
                  <a:pt x="6515100" y="27432"/>
                </a:cubicBezTo>
                <a:cubicBezTo>
                  <a:pt x="6291717" y="37419"/>
                  <a:pt x="6188280" y="4506"/>
                  <a:pt x="5993892" y="27432"/>
                </a:cubicBezTo>
                <a:cubicBezTo>
                  <a:pt x="5799504" y="50358"/>
                  <a:pt x="5467966" y="44311"/>
                  <a:pt x="5212080" y="27432"/>
                </a:cubicBezTo>
                <a:cubicBezTo>
                  <a:pt x="4956194" y="10553"/>
                  <a:pt x="4907171" y="17487"/>
                  <a:pt x="4690872" y="27432"/>
                </a:cubicBezTo>
                <a:cubicBezTo>
                  <a:pt x="4474573" y="37377"/>
                  <a:pt x="4446118" y="24926"/>
                  <a:pt x="4234815" y="27432"/>
                </a:cubicBezTo>
                <a:cubicBezTo>
                  <a:pt x="4023512" y="29938"/>
                  <a:pt x="3990422" y="31456"/>
                  <a:pt x="3778758" y="27432"/>
                </a:cubicBezTo>
                <a:cubicBezTo>
                  <a:pt x="3567094" y="23408"/>
                  <a:pt x="3235052" y="24901"/>
                  <a:pt x="3062097" y="27432"/>
                </a:cubicBezTo>
                <a:cubicBezTo>
                  <a:pt x="2889142" y="29963"/>
                  <a:pt x="2755311" y="35048"/>
                  <a:pt x="2606040" y="27432"/>
                </a:cubicBezTo>
                <a:cubicBezTo>
                  <a:pt x="2456769" y="19816"/>
                  <a:pt x="2116876" y="43674"/>
                  <a:pt x="1954530" y="27432"/>
                </a:cubicBezTo>
                <a:cubicBezTo>
                  <a:pt x="1792184" y="11191"/>
                  <a:pt x="1635797" y="1960"/>
                  <a:pt x="1433322" y="27432"/>
                </a:cubicBezTo>
                <a:cubicBezTo>
                  <a:pt x="1230847" y="52904"/>
                  <a:pt x="1064298" y="9563"/>
                  <a:pt x="781812" y="27432"/>
                </a:cubicBezTo>
                <a:cubicBezTo>
                  <a:pt x="499326" y="45302"/>
                  <a:pt x="379143" y="59429"/>
                  <a:pt x="0" y="27432"/>
                </a:cubicBezTo>
                <a:cubicBezTo>
                  <a:pt x="-14" y="18173"/>
                  <a:pt x="-517" y="8990"/>
                  <a:pt x="0" y="0"/>
                </a:cubicBezTo>
                <a:close/>
              </a:path>
              <a:path w="6515100" h="27432" stroke="0" extrusionOk="0">
                <a:moveTo>
                  <a:pt x="0" y="0"/>
                </a:moveTo>
                <a:cubicBezTo>
                  <a:pt x="145508" y="-16165"/>
                  <a:pt x="455060" y="24821"/>
                  <a:pt x="586359" y="0"/>
                </a:cubicBezTo>
                <a:cubicBezTo>
                  <a:pt x="717658" y="-24821"/>
                  <a:pt x="818481" y="1436"/>
                  <a:pt x="1042416" y="0"/>
                </a:cubicBezTo>
                <a:cubicBezTo>
                  <a:pt x="1266351" y="-1436"/>
                  <a:pt x="1510662" y="-19098"/>
                  <a:pt x="1824228" y="0"/>
                </a:cubicBezTo>
                <a:cubicBezTo>
                  <a:pt x="2137794" y="19098"/>
                  <a:pt x="2209508" y="-11239"/>
                  <a:pt x="2410587" y="0"/>
                </a:cubicBezTo>
                <a:cubicBezTo>
                  <a:pt x="2611666" y="11239"/>
                  <a:pt x="2755374" y="20903"/>
                  <a:pt x="2996946" y="0"/>
                </a:cubicBezTo>
                <a:cubicBezTo>
                  <a:pt x="3238518" y="-20903"/>
                  <a:pt x="3396366" y="21066"/>
                  <a:pt x="3778758" y="0"/>
                </a:cubicBezTo>
                <a:cubicBezTo>
                  <a:pt x="4161150" y="-21066"/>
                  <a:pt x="4160489" y="-4131"/>
                  <a:pt x="4299966" y="0"/>
                </a:cubicBezTo>
                <a:cubicBezTo>
                  <a:pt x="4439443" y="4131"/>
                  <a:pt x="4829495" y="24889"/>
                  <a:pt x="5081778" y="0"/>
                </a:cubicBezTo>
                <a:cubicBezTo>
                  <a:pt x="5334061" y="-24889"/>
                  <a:pt x="5692112" y="31086"/>
                  <a:pt x="5863590" y="0"/>
                </a:cubicBezTo>
                <a:cubicBezTo>
                  <a:pt x="6035068" y="-31086"/>
                  <a:pt x="6355549" y="-19657"/>
                  <a:pt x="6515100" y="0"/>
                </a:cubicBezTo>
                <a:cubicBezTo>
                  <a:pt x="6514269" y="6329"/>
                  <a:pt x="6515504" y="16858"/>
                  <a:pt x="6515100" y="27432"/>
                </a:cubicBezTo>
                <a:cubicBezTo>
                  <a:pt x="6311868" y="940"/>
                  <a:pt x="6083793" y="16016"/>
                  <a:pt x="5798439" y="27432"/>
                </a:cubicBezTo>
                <a:cubicBezTo>
                  <a:pt x="5513085" y="38848"/>
                  <a:pt x="5362223" y="-5421"/>
                  <a:pt x="5016627" y="27432"/>
                </a:cubicBezTo>
                <a:cubicBezTo>
                  <a:pt x="4671031" y="60285"/>
                  <a:pt x="4447302" y="-4000"/>
                  <a:pt x="4234815" y="27432"/>
                </a:cubicBezTo>
                <a:cubicBezTo>
                  <a:pt x="4022328" y="58864"/>
                  <a:pt x="3971531" y="48578"/>
                  <a:pt x="3713607" y="27432"/>
                </a:cubicBezTo>
                <a:cubicBezTo>
                  <a:pt x="3455683" y="6286"/>
                  <a:pt x="3218262" y="57740"/>
                  <a:pt x="3062097" y="27432"/>
                </a:cubicBezTo>
                <a:cubicBezTo>
                  <a:pt x="2905932" y="-2876"/>
                  <a:pt x="2552648" y="49637"/>
                  <a:pt x="2280285" y="27432"/>
                </a:cubicBezTo>
                <a:cubicBezTo>
                  <a:pt x="2007922" y="5227"/>
                  <a:pt x="1946224" y="14594"/>
                  <a:pt x="1628775" y="27432"/>
                </a:cubicBezTo>
                <a:cubicBezTo>
                  <a:pt x="1311326" y="40271"/>
                  <a:pt x="1267680" y="23624"/>
                  <a:pt x="1172718" y="27432"/>
                </a:cubicBezTo>
                <a:cubicBezTo>
                  <a:pt x="1077756" y="31240"/>
                  <a:pt x="863409" y="30220"/>
                  <a:pt x="651510" y="27432"/>
                </a:cubicBezTo>
                <a:cubicBezTo>
                  <a:pt x="439611" y="24644"/>
                  <a:pt x="324781" y="35805"/>
                  <a:pt x="0" y="27432"/>
                </a:cubicBezTo>
                <a:cubicBezTo>
                  <a:pt x="-177" y="19307"/>
                  <a:pt x="-1145" y="91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Google Shape;291;g35ed9f8475e_0_167">
            <a:extLst>
              <a:ext uri="{FF2B5EF4-FFF2-40B4-BE49-F238E27FC236}">
                <a16:creationId xmlns:a16="http://schemas.microsoft.com/office/drawing/2014/main" id="{CDFBFC0F-BB06-CC86-B16A-492E1677422B}"/>
              </a:ext>
            </a:extLst>
          </p:cNvPr>
          <p:cNvSpPr txBox="1"/>
          <p:nvPr/>
        </p:nvSpPr>
        <p:spPr>
          <a:xfrm>
            <a:off x="918972" y="4362007"/>
            <a:ext cx="7942522" cy="490343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40027"/>
              </a:lnSpc>
              <a:buSzPts val="2963"/>
              <a:buNone/>
              <a:defRPr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</a:defRPr>
            </a:lvl1pPr>
          </a:lstStyle>
          <a:p>
            <a:pPr indent="-2286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Builder es un patrón de diseño creacional que nos permite construir objetos complejos paso a paso. El patrón nos permite producir distintos tipos y representaciones de un objeto empleando el mismo código de construcción.</a:t>
            </a:r>
            <a:r>
              <a:rPr lang="en-US" sz="33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Poppins Light"/>
              </a:rPr>
              <a:t>.</a:t>
            </a:r>
            <a:endParaRPr lang="en-US" sz="3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4445B0-4465-5F49-6439-CACF270F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714" y="587876"/>
            <a:ext cx="4530471" cy="56987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86739A2-D6B1-F181-036F-8749D46E9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6492" y="1462093"/>
            <a:ext cx="3905407" cy="2489696"/>
          </a:xfrm>
          <a:prstGeom prst="rect">
            <a:avLst/>
          </a:prstGeom>
        </p:spPr>
      </p:pic>
      <p:grpSp>
        <p:nvGrpSpPr>
          <p:cNvPr id="287" name="Google Shape;287;g35ed9f8475e_0_167">
            <a:extLst>
              <a:ext uri="{FF2B5EF4-FFF2-40B4-BE49-F238E27FC236}">
                <a16:creationId xmlns:a16="http://schemas.microsoft.com/office/drawing/2014/main" id="{1081A29B-3969-499E-285C-A1C8DE63D74B}"/>
              </a:ext>
            </a:extLst>
          </p:cNvPr>
          <p:cNvGrpSpPr/>
          <p:nvPr/>
        </p:nvGrpSpPr>
        <p:grpSpPr>
          <a:xfrm>
            <a:off x="9594595" y="6776020"/>
            <a:ext cx="8147304" cy="852791"/>
            <a:chOff x="0" y="-76200"/>
            <a:chExt cx="5124600" cy="536400"/>
          </a:xfrm>
        </p:grpSpPr>
        <p:sp>
          <p:nvSpPr>
            <p:cNvPr id="288" name="Google Shape;288;g35ed9f8475e_0_167">
              <a:extLst>
                <a:ext uri="{FF2B5EF4-FFF2-40B4-BE49-F238E27FC236}">
                  <a16:creationId xmlns:a16="http://schemas.microsoft.com/office/drawing/2014/main" id="{E2C848FD-0945-0B1D-F8EF-C74961E34778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9" name="Google Shape;289;g35ed9f8475e_0_167">
              <a:extLst>
                <a:ext uri="{FF2B5EF4-FFF2-40B4-BE49-F238E27FC236}">
                  <a16:creationId xmlns:a16="http://schemas.microsoft.com/office/drawing/2014/main" id="{47ED2FA1-F937-7252-9897-2C0F3313F3F6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2335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7E217645-2CD4-4195-8A14-05825522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5ed9f8475e_0_167">
            <a:extLst>
              <a:ext uri="{FF2B5EF4-FFF2-40B4-BE49-F238E27FC236}">
                <a16:creationId xmlns:a16="http://schemas.microsoft.com/office/drawing/2014/main" id="{AE9E4831-85A9-AA0D-D644-D36428644DE1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8" name="Google Shape;288;g35ed9f8475e_0_167">
              <a:extLst>
                <a:ext uri="{FF2B5EF4-FFF2-40B4-BE49-F238E27FC236}">
                  <a16:creationId xmlns:a16="http://schemas.microsoft.com/office/drawing/2014/main" id="{FC0C7CE6-D06D-3CBD-0BD3-E1855F8EA487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9" name="Google Shape;289;g35ed9f8475e_0_167">
              <a:extLst>
                <a:ext uri="{FF2B5EF4-FFF2-40B4-BE49-F238E27FC236}">
                  <a16:creationId xmlns:a16="http://schemas.microsoft.com/office/drawing/2014/main" id="{7B6E0AE0-5F38-A778-0660-6E750F91E57B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ed9f8475e_0_167">
            <a:extLst>
              <a:ext uri="{FF2B5EF4-FFF2-40B4-BE49-F238E27FC236}">
                <a16:creationId xmlns:a16="http://schemas.microsoft.com/office/drawing/2014/main" id="{14644E9A-D55C-0D76-51B6-3A283244F3A3}"/>
              </a:ext>
            </a:extLst>
          </p:cNvPr>
          <p:cNvSpPr txBox="1"/>
          <p:nvPr/>
        </p:nvSpPr>
        <p:spPr>
          <a:xfrm>
            <a:off x="1599296" y="758314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</a:t>
            </a:r>
            <a:r>
              <a:rPr lang="en-US" sz="9224" b="1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ó</a:t>
            </a: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9224" b="1" dirty="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Prototype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EC76B6-93CE-DC71-5F82-9E90E3781492}"/>
              </a:ext>
            </a:extLst>
          </p:cNvPr>
          <p:cNvSpPr txBox="1"/>
          <p:nvPr/>
        </p:nvSpPr>
        <p:spPr>
          <a:xfrm>
            <a:off x="1713932" y="2979725"/>
            <a:ext cx="15643340" cy="127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40027"/>
              </a:lnSpc>
              <a:buSzPts val="2963"/>
              <a:buNone/>
              <a:defRPr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</a:defRPr>
            </a:lvl1pPr>
          </a:lstStyle>
          <a:p>
            <a:r>
              <a:rPr lang="es-MX" dirty="0" err="1"/>
              <a:t>Prototype</a:t>
            </a:r>
            <a:r>
              <a:rPr lang="es-MX" dirty="0"/>
              <a:t> es un patrón de diseño creacional que nos permite copiar objetos existentes sin que el código dependa de sus clases.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772845-1E5D-9225-421C-DC97B612F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" y="5260490"/>
            <a:ext cx="6385147" cy="37246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616200-236B-0043-35FF-836354E97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664" y="5134147"/>
            <a:ext cx="5745385" cy="458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3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4C98DC90-499D-D903-1673-D27CB2F3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5ed9f8475e_0_167">
            <a:extLst>
              <a:ext uri="{FF2B5EF4-FFF2-40B4-BE49-F238E27FC236}">
                <a16:creationId xmlns:a16="http://schemas.microsoft.com/office/drawing/2014/main" id="{99F60C28-F8E0-5DE8-DE90-3EF35244606A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8" name="Google Shape;288;g35ed9f8475e_0_167">
              <a:extLst>
                <a:ext uri="{FF2B5EF4-FFF2-40B4-BE49-F238E27FC236}">
                  <a16:creationId xmlns:a16="http://schemas.microsoft.com/office/drawing/2014/main" id="{81F0CB5B-73F7-EEFD-D2AA-E7B5ED1C9821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9" name="Google Shape;289;g35ed9f8475e_0_167">
              <a:extLst>
                <a:ext uri="{FF2B5EF4-FFF2-40B4-BE49-F238E27FC236}">
                  <a16:creationId xmlns:a16="http://schemas.microsoft.com/office/drawing/2014/main" id="{69B3B44D-D8CA-B5A2-18C4-FAA05D185E33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ed9f8475e_0_167">
            <a:extLst>
              <a:ext uri="{FF2B5EF4-FFF2-40B4-BE49-F238E27FC236}">
                <a16:creationId xmlns:a16="http://schemas.microsoft.com/office/drawing/2014/main" id="{54310A6C-8FDF-1A92-C52D-6308AC21E7F2}"/>
              </a:ext>
            </a:extLst>
          </p:cNvPr>
          <p:cNvSpPr txBox="1"/>
          <p:nvPr/>
        </p:nvSpPr>
        <p:spPr>
          <a:xfrm>
            <a:off x="1272725" y="485786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dirty="0" err="1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Ventajas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D361678-0753-A3E1-6AD5-F15CF8635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9370"/>
              </p:ext>
            </p:extLst>
          </p:nvPr>
        </p:nvGraphicFramePr>
        <p:xfrm>
          <a:off x="2939143" y="2890119"/>
          <a:ext cx="12409714" cy="660411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204857">
                  <a:extLst>
                    <a:ext uri="{9D8B030D-6E8A-4147-A177-3AD203B41FA5}">
                      <a16:colId xmlns:a16="http://schemas.microsoft.com/office/drawing/2014/main" val="3249402128"/>
                    </a:ext>
                  </a:extLst>
                </a:gridCol>
                <a:gridCol w="6204857">
                  <a:extLst>
                    <a:ext uri="{9D8B030D-6E8A-4147-A177-3AD203B41FA5}">
                      <a16:colId xmlns:a16="http://schemas.microsoft.com/office/drawing/2014/main" val="3225877797"/>
                    </a:ext>
                  </a:extLst>
                </a:gridCol>
              </a:tblGrid>
              <a:tr h="316089">
                <a:tc>
                  <a:txBody>
                    <a:bodyPr/>
                    <a:lstStyle/>
                    <a:p>
                      <a:r>
                        <a:rPr lang="es-GT" sz="1600" b="1"/>
                        <a:t>Patrón</a:t>
                      </a:r>
                      <a:endParaRPr lang="es-GT" sz="16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GT" sz="1600" b="1"/>
                        <a:t>Ventajas principales</a:t>
                      </a:r>
                      <a:endParaRPr lang="es-GT" sz="1600"/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773212801"/>
                  </a:ext>
                </a:extLst>
              </a:tr>
              <a:tr h="1201136">
                <a:tc>
                  <a:txBody>
                    <a:bodyPr/>
                    <a:lstStyle/>
                    <a:p>
                      <a:r>
                        <a:rPr lang="es-GT" sz="1600" b="1"/>
                        <a:t>Singleton</a:t>
                      </a:r>
                      <a:endParaRPr lang="es-GT" sz="16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- Garantiza una única instancia</a:t>
                      </a:r>
                      <a:br>
                        <a:rPr lang="es-MX" sz="1600"/>
                      </a:br>
                      <a:r>
                        <a:rPr lang="es-MX" sz="1600"/>
                        <a:t>- Acceso global centralizado</a:t>
                      </a:r>
                      <a:br>
                        <a:rPr lang="es-MX" sz="1600"/>
                      </a:br>
                      <a:r>
                        <a:rPr lang="es-MX" sz="1600"/>
                        <a:t>- Reduce uso de memoria en recursos compartidos</a:t>
                      </a:r>
                      <a:br>
                        <a:rPr lang="es-MX" sz="1600"/>
                      </a:br>
                      <a:r>
                        <a:rPr lang="es-MX" sz="1600"/>
                        <a:t>- Útil para configuración, logs, etc.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1153588854"/>
                  </a:ext>
                </a:extLst>
              </a:tr>
              <a:tr h="1201136">
                <a:tc>
                  <a:txBody>
                    <a:bodyPr/>
                    <a:lstStyle/>
                    <a:p>
                      <a:r>
                        <a:rPr lang="es-GT" sz="1600" b="1"/>
                        <a:t>Factory Method</a:t>
                      </a:r>
                      <a:endParaRPr lang="es-GT" sz="16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- Permite delegar la creación a subclases</a:t>
                      </a:r>
                      <a:br>
                        <a:rPr lang="es-MX" sz="1600"/>
                      </a:br>
                      <a:r>
                        <a:rPr lang="es-MX" sz="1600"/>
                        <a:t>- Mejora la extensibilidad y reutilización</a:t>
                      </a:r>
                      <a:br>
                        <a:rPr lang="es-MX" sz="1600"/>
                      </a:br>
                      <a:r>
                        <a:rPr lang="es-MX" sz="1600"/>
                        <a:t>- Separa la lógica de creación del código cliente</a:t>
                      </a:r>
                      <a:br>
                        <a:rPr lang="es-MX" sz="1600"/>
                      </a:br>
                      <a:r>
                        <a:rPr lang="es-MX" sz="1600"/>
                        <a:t>- Permite cambiar fácilmente el tipo de objeto creado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899091888"/>
                  </a:ext>
                </a:extLst>
              </a:tr>
              <a:tr h="979874">
                <a:tc>
                  <a:txBody>
                    <a:bodyPr/>
                    <a:lstStyle/>
                    <a:p>
                      <a:r>
                        <a:rPr lang="es-GT" sz="1600" b="1"/>
                        <a:t>Abstract Factory</a:t>
                      </a:r>
                      <a:endParaRPr lang="es-GT" sz="16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GT" sz="1600"/>
                        <a:t>- Crea familias de objetos relacionados</a:t>
                      </a:r>
                      <a:br>
                        <a:rPr lang="es-GT" sz="1600"/>
                      </a:br>
                      <a:r>
                        <a:rPr lang="es-GT" sz="1600"/>
                        <a:t>- Asegura consistencia entre objetos</a:t>
                      </a:r>
                      <a:br>
                        <a:rPr lang="es-GT" sz="1600"/>
                      </a:br>
                      <a:r>
                        <a:rPr lang="es-GT" sz="1600"/>
                        <a:t>- Mejora encapsulamiento de dependencias</a:t>
                      </a:r>
                      <a:br>
                        <a:rPr lang="es-GT" sz="1600"/>
                      </a:br>
                      <a:r>
                        <a:rPr lang="es-GT" sz="1600"/>
                        <a:t>- Facilita cambio de contexto o temas completos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341583108"/>
                  </a:ext>
                </a:extLst>
              </a:tr>
              <a:tr h="1643660">
                <a:tc>
                  <a:txBody>
                    <a:bodyPr/>
                    <a:lstStyle/>
                    <a:p>
                      <a:r>
                        <a:rPr lang="es-GT" sz="1600" b="1"/>
                        <a:t>Builder</a:t>
                      </a:r>
                      <a:endParaRPr lang="es-GT" sz="16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- Maneja objetos con muchas configuraciones o pasos</a:t>
                      </a:r>
                      <a:br>
                        <a:rPr lang="es-MX" sz="1600"/>
                      </a:br>
                      <a:r>
                        <a:rPr lang="es-MX" sz="1600"/>
                        <a:t>- Separa la construcción de la representación final</a:t>
                      </a:r>
                      <a:br>
                        <a:rPr lang="es-MX" sz="1600"/>
                      </a:br>
                      <a:r>
                        <a:rPr lang="es-MX" sz="1600"/>
                        <a:t>- Permite reutilizar la misma lógica de construcción para diferentes representaciones</a:t>
                      </a:r>
                      <a:br>
                        <a:rPr lang="es-MX" sz="1600"/>
                      </a:br>
                      <a:r>
                        <a:rPr lang="es-MX" sz="1600"/>
                        <a:t>- Mejora la legibilidad del código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1355550891"/>
                  </a:ext>
                </a:extLst>
              </a:tr>
              <a:tr h="1201136">
                <a:tc>
                  <a:txBody>
                    <a:bodyPr/>
                    <a:lstStyle/>
                    <a:p>
                      <a:r>
                        <a:rPr lang="es-GT" sz="1600" b="1"/>
                        <a:t>Prototype</a:t>
                      </a:r>
                      <a:endParaRPr lang="es-GT" sz="16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- Evita creación desde cero copiando objetos existentes</a:t>
                      </a:r>
                      <a:br>
                        <a:rPr lang="es-MX" sz="1600" dirty="0"/>
                      </a:br>
                      <a:r>
                        <a:rPr lang="es-MX" sz="1600" dirty="0"/>
                        <a:t>- Útil para objetos costosos de crear</a:t>
                      </a:r>
                      <a:br>
                        <a:rPr lang="es-MX" sz="1600" dirty="0"/>
                      </a:br>
                      <a:r>
                        <a:rPr lang="es-MX" sz="1600" dirty="0"/>
                        <a:t>- Permite clonar sin conocer clases concretas</a:t>
                      </a:r>
                      <a:br>
                        <a:rPr lang="es-MX" sz="1600" dirty="0"/>
                      </a:br>
                      <a:r>
                        <a:rPr lang="es-MX" sz="1600" dirty="0"/>
                        <a:t>- Flexible en tiempo de ejecución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826613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44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4B24314A-6E6A-3A29-04CC-FE968D00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5ed9f8475e_0_167">
            <a:extLst>
              <a:ext uri="{FF2B5EF4-FFF2-40B4-BE49-F238E27FC236}">
                <a16:creationId xmlns:a16="http://schemas.microsoft.com/office/drawing/2014/main" id="{E64156FF-4818-94CD-2E56-CB8CF7C51FB5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8" name="Google Shape;288;g35ed9f8475e_0_167">
              <a:extLst>
                <a:ext uri="{FF2B5EF4-FFF2-40B4-BE49-F238E27FC236}">
                  <a16:creationId xmlns:a16="http://schemas.microsoft.com/office/drawing/2014/main" id="{36043328-1680-DF24-E038-82102428A1BF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9" name="Google Shape;289;g35ed9f8475e_0_167">
              <a:extLst>
                <a:ext uri="{FF2B5EF4-FFF2-40B4-BE49-F238E27FC236}">
                  <a16:creationId xmlns:a16="http://schemas.microsoft.com/office/drawing/2014/main" id="{08D87FDD-BAB6-3354-E416-B3BB4B830897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ed9f8475e_0_167">
            <a:extLst>
              <a:ext uri="{FF2B5EF4-FFF2-40B4-BE49-F238E27FC236}">
                <a16:creationId xmlns:a16="http://schemas.microsoft.com/office/drawing/2014/main" id="{1449725E-30DC-FBDF-C1FE-A02D90299DE7}"/>
              </a:ext>
            </a:extLst>
          </p:cNvPr>
          <p:cNvSpPr txBox="1"/>
          <p:nvPr/>
        </p:nvSpPr>
        <p:spPr>
          <a:xfrm>
            <a:off x="1223739" y="564525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 dirty="0">
                <a:solidFill>
                  <a:srgbClr val="FDFDFD"/>
                </a:solidFill>
                <a:latin typeface="Poppins"/>
                <a:ea typeface="Arial"/>
                <a:cs typeface="Poppins"/>
                <a:sym typeface="Poppins"/>
              </a:rPr>
              <a:t>¿</a:t>
            </a: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Arial"/>
                <a:cs typeface="Poppins"/>
                <a:sym typeface="Poppins"/>
              </a:rPr>
              <a:t>Cuándo</a:t>
            </a:r>
            <a:r>
              <a:rPr lang="en-US" sz="9224" b="1" i="0" u="none" strike="noStrike" cap="none" dirty="0">
                <a:solidFill>
                  <a:srgbClr val="FDFDFD"/>
                </a:solidFill>
                <a:latin typeface="Poppins"/>
                <a:ea typeface="Arial"/>
                <a:cs typeface="Poppins"/>
                <a:sym typeface="Poppins"/>
              </a:rPr>
              <a:t> se </a:t>
            </a: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Arial"/>
                <a:cs typeface="Poppins"/>
                <a:sym typeface="Poppins"/>
              </a:rPr>
              <a:t>usan</a:t>
            </a:r>
            <a:r>
              <a:rPr lang="en-US" sz="9224" b="1" dirty="0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?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D91974E-142A-27B3-5757-D85B1B35F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585071"/>
              </p:ext>
            </p:extLst>
          </p:nvPr>
        </p:nvGraphicFramePr>
        <p:xfrm>
          <a:off x="2816028" y="3020786"/>
          <a:ext cx="12140943" cy="679309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046981">
                  <a:extLst>
                    <a:ext uri="{9D8B030D-6E8A-4147-A177-3AD203B41FA5}">
                      <a16:colId xmlns:a16="http://schemas.microsoft.com/office/drawing/2014/main" val="1793592078"/>
                    </a:ext>
                  </a:extLst>
                </a:gridCol>
                <a:gridCol w="4046981">
                  <a:extLst>
                    <a:ext uri="{9D8B030D-6E8A-4147-A177-3AD203B41FA5}">
                      <a16:colId xmlns:a16="http://schemas.microsoft.com/office/drawing/2014/main" val="3881872938"/>
                    </a:ext>
                  </a:extLst>
                </a:gridCol>
                <a:gridCol w="4046981">
                  <a:extLst>
                    <a:ext uri="{9D8B030D-6E8A-4147-A177-3AD203B41FA5}">
                      <a16:colId xmlns:a16="http://schemas.microsoft.com/office/drawing/2014/main" val="1446897946"/>
                    </a:ext>
                  </a:extLst>
                </a:gridCol>
              </a:tblGrid>
              <a:tr h="278454">
                <a:tc>
                  <a:txBody>
                    <a:bodyPr/>
                    <a:lstStyle/>
                    <a:p>
                      <a:r>
                        <a:rPr lang="es-GT" sz="1800" b="1"/>
                        <a:t>Patrón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¿Cuándo se usa?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Ejemplo sencillo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1971291188"/>
                  </a:ext>
                </a:extLst>
              </a:tr>
              <a:tr h="863205">
                <a:tc>
                  <a:txBody>
                    <a:bodyPr/>
                    <a:lstStyle/>
                    <a:p>
                      <a:r>
                        <a:rPr lang="es-GT" sz="1800" b="1"/>
                        <a:t>Singleton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Cuando solo debe existir </a:t>
                      </a:r>
                      <a:r>
                        <a:rPr lang="es-MX" sz="1800" b="1"/>
                        <a:t>una única instancia</a:t>
                      </a:r>
                      <a:r>
                        <a:rPr lang="es-MX" sz="1800"/>
                        <a:t> de algo en el programa.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- Un solo control remoto para toda la casa.</a:t>
                      </a:r>
                      <a:br>
                        <a:rPr lang="es-MX" sz="1800" dirty="0"/>
                      </a:br>
                      <a:r>
                        <a:rPr lang="es-MX" sz="1800" dirty="0"/>
                        <a:t>- Un único menú de configuración en una app.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1513861374"/>
                  </a:ext>
                </a:extLst>
              </a:tr>
              <a:tr h="1253040">
                <a:tc>
                  <a:txBody>
                    <a:bodyPr/>
                    <a:lstStyle/>
                    <a:p>
                      <a:r>
                        <a:rPr lang="es-GT" sz="1800" b="1"/>
                        <a:t>Factory Method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Cuando quieres dejar que </a:t>
                      </a:r>
                      <a:r>
                        <a:rPr lang="es-MX" sz="1800" b="1"/>
                        <a:t>cada subclase decida qué objeto crear</a:t>
                      </a:r>
                      <a:r>
                        <a:rPr lang="es-MX" sz="1800"/>
                        <a:t>.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- Una app que crea botones diferentes según el sistema operativo.</a:t>
                      </a:r>
                      <a:br>
                        <a:rPr lang="es-MX" sz="1800"/>
                      </a:br>
                      <a:r>
                        <a:rPr lang="es-MX" sz="1800"/>
                        <a:t>- Un videojuego que crea distintos tipos de enemigos según el nivel.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4104234221"/>
                  </a:ext>
                </a:extLst>
              </a:tr>
              <a:tr h="1058123">
                <a:tc>
                  <a:txBody>
                    <a:bodyPr/>
                    <a:lstStyle/>
                    <a:p>
                      <a:r>
                        <a:rPr lang="es-GT" sz="1800" b="1"/>
                        <a:t>Abstract Factory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Cuando necesitas crear </a:t>
                      </a:r>
                      <a:r>
                        <a:rPr lang="es-MX" sz="1800" b="1"/>
                        <a:t>varios objetos que deben funcionar juntos</a:t>
                      </a:r>
                      <a:r>
                        <a:rPr lang="es-MX" sz="1800"/>
                        <a:t>.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- Cambiar todo el tema visual de una app (botones, menús, colores) con un solo cambio.</a:t>
                      </a:r>
                      <a:br>
                        <a:rPr lang="es-MX" sz="1800"/>
                      </a:br>
                      <a:r>
                        <a:rPr lang="es-MX" sz="1800"/>
                        <a:t>- Crear juegos en distintos estilos (futurista, medieval).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0578217"/>
                  </a:ext>
                </a:extLst>
              </a:tr>
              <a:tr h="1253040">
                <a:tc>
                  <a:txBody>
                    <a:bodyPr/>
                    <a:lstStyle/>
                    <a:p>
                      <a:r>
                        <a:rPr lang="es-GT" sz="1800" b="1"/>
                        <a:t>Builder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Cuando necesitas construir </a:t>
                      </a:r>
                      <a:r>
                        <a:rPr lang="es-MX" sz="1800" b="1"/>
                        <a:t>objetos con muchas partes opcionales</a:t>
                      </a:r>
                      <a:r>
                        <a:rPr lang="es-MX" sz="1800"/>
                        <a:t>.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- Pedir una hamburguesa personalizada (con queso, sin tomate, doble carne, etc.).</a:t>
                      </a:r>
                      <a:br>
                        <a:rPr lang="es-MX" sz="1800"/>
                      </a:br>
                      <a:r>
                        <a:rPr lang="es-MX" sz="1800"/>
                        <a:t>- Armar un combo en un restaurante (bebida, papas, postre).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424099283"/>
                  </a:ext>
                </a:extLst>
              </a:tr>
              <a:tr h="1058123">
                <a:tc>
                  <a:txBody>
                    <a:bodyPr/>
                    <a:lstStyle/>
                    <a:p>
                      <a:r>
                        <a:rPr lang="es-GT" sz="1800" b="1"/>
                        <a:t>Prototype</a:t>
                      </a:r>
                      <a:endParaRPr lang="es-GT" sz="1800"/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Cuando necesitas </a:t>
                      </a:r>
                      <a:r>
                        <a:rPr lang="es-MX" sz="1800" b="1"/>
                        <a:t>copiar un objeto existente</a:t>
                      </a:r>
                      <a:r>
                        <a:rPr lang="es-MX" sz="1800"/>
                        <a:t> rápidamente.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- Duplicar una presentación en PowerPoint y solo cambiar el título.</a:t>
                      </a:r>
                      <a:br>
                        <a:rPr lang="es-MX" sz="1800" dirty="0"/>
                      </a:br>
                      <a:r>
                        <a:rPr lang="es-MX" sz="1800" dirty="0"/>
                        <a:t>- Copiar un personaje del juego con las mismas habilidades.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2014443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542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6DEEC8A2-3320-3D93-10E2-41D853DED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5ed9f8475e_0_167">
            <a:extLst>
              <a:ext uri="{FF2B5EF4-FFF2-40B4-BE49-F238E27FC236}">
                <a16:creationId xmlns:a16="http://schemas.microsoft.com/office/drawing/2014/main" id="{AB821CFE-0B90-C177-32CA-92D07ADB32D1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8" name="Google Shape;288;g35ed9f8475e_0_167">
              <a:extLst>
                <a:ext uri="{FF2B5EF4-FFF2-40B4-BE49-F238E27FC236}">
                  <a16:creationId xmlns:a16="http://schemas.microsoft.com/office/drawing/2014/main" id="{7AB62ABF-D167-CB89-AEFD-1FF774D2040D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9" name="Google Shape;289;g35ed9f8475e_0_167">
              <a:extLst>
                <a:ext uri="{FF2B5EF4-FFF2-40B4-BE49-F238E27FC236}">
                  <a16:creationId xmlns:a16="http://schemas.microsoft.com/office/drawing/2014/main" id="{D219F744-374A-AB2B-7CF0-32DF28F5218D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ed9f8475e_0_167">
            <a:extLst>
              <a:ext uri="{FF2B5EF4-FFF2-40B4-BE49-F238E27FC236}">
                <a16:creationId xmlns:a16="http://schemas.microsoft.com/office/drawing/2014/main" id="{D0D15D44-5D7F-91AE-3443-CF236F2E2880}"/>
              </a:ext>
            </a:extLst>
          </p:cNvPr>
          <p:cNvSpPr txBox="1"/>
          <p:nvPr/>
        </p:nvSpPr>
        <p:spPr>
          <a:xfrm>
            <a:off x="1223739" y="564525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dirty="0" err="1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Ejemplo</a:t>
            </a:r>
            <a:r>
              <a:rPr lang="en-US" sz="9224" b="1" dirty="0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9224" b="1" dirty="0" err="1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práctico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224987A-5370-F440-3727-4E640399B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290868"/>
              </p:ext>
            </p:extLst>
          </p:nvPr>
        </p:nvGraphicFramePr>
        <p:xfrm>
          <a:off x="4506687" y="3268396"/>
          <a:ext cx="8229600" cy="6035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5998386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2411531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9429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GT" sz="1800" b="1"/>
                        <a:t>Funcionalidad del sistema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Patrón Creacional Aplicable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Justificación / Uso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150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GT" sz="1800" b="1"/>
                        <a:t>Registrarse e iniciar sesión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Singleton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Controlar una única instancia del gestor de sesiones activas.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08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1800" b="1"/>
                        <a:t>Crear cuentas de usuario (roles)</a:t>
                      </a:r>
                      <a:endParaRPr lang="es-MX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Factory Method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Crear objetos Estudiante, Instructor o Admin según el tipo de usuario.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85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GT" sz="1800" b="1"/>
                        <a:t>Mostrar la interfaz visual (temas)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Abstract Factory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/>
                        <a:t>Generar familias de componentes de UI compatibles (tema claro/oscuro).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79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GT" sz="1800" b="1"/>
                        <a:t>Armar combos de cursos (paquetes)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Builder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/>
                        <a:t>Construir combos de cursos personalizados paso a paso.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131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1800" b="1"/>
                        <a:t>Clonar un curso como plantilla</a:t>
                      </a:r>
                      <a:endParaRPr lang="es-MX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GT" sz="1800" b="1"/>
                        <a:t>Prototype</a:t>
                      </a:r>
                      <a:endParaRPr lang="es-GT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dirty="0"/>
                        <a:t>Copiar un curso existente como base para uno nuevo, sin recrearlo desde cero.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805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080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6">
          <a:extLst>
            <a:ext uri="{FF2B5EF4-FFF2-40B4-BE49-F238E27FC236}">
              <a16:creationId xmlns:a16="http://schemas.microsoft.com/office/drawing/2014/main" id="{4D869CEA-4416-F84C-08A2-A0DE74FD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5ed9f8475e_0_167">
            <a:extLst>
              <a:ext uri="{FF2B5EF4-FFF2-40B4-BE49-F238E27FC236}">
                <a16:creationId xmlns:a16="http://schemas.microsoft.com/office/drawing/2014/main" id="{865E8F6A-02C1-F46F-8BED-7A93F677BD58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8" name="Google Shape;288;g35ed9f8475e_0_167">
              <a:extLst>
                <a:ext uri="{FF2B5EF4-FFF2-40B4-BE49-F238E27FC236}">
                  <a16:creationId xmlns:a16="http://schemas.microsoft.com/office/drawing/2014/main" id="{2BD1CE08-FE56-6074-4595-694B9CA1BF27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9" name="Google Shape;289;g35ed9f8475e_0_167">
              <a:extLst>
                <a:ext uri="{FF2B5EF4-FFF2-40B4-BE49-F238E27FC236}">
                  <a16:creationId xmlns:a16="http://schemas.microsoft.com/office/drawing/2014/main" id="{2F86F8CA-3AAB-1BA1-14FB-3971A0D74D9D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g35ed9f8475e_0_167">
            <a:extLst>
              <a:ext uri="{FF2B5EF4-FFF2-40B4-BE49-F238E27FC236}">
                <a16:creationId xmlns:a16="http://schemas.microsoft.com/office/drawing/2014/main" id="{93F9C672-D49C-1748-AB8A-C8DF5CA40195}"/>
              </a:ext>
            </a:extLst>
          </p:cNvPr>
          <p:cNvSpPr txBox="1"/>
          <p:nvPr/>
        </p:nvSpPr>
        <p:spPr>
          <a:xfrm>
            <a:off x="1223739" y="564525"/>
            <a:ext cx="15089400" cy="198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 dirty="0">
                <a:solidFill>
                  <a:srgbClr val="FDFDFD"/>
                </a:solidFill>
                <a:latin typeface="Poppins"/>
                <a:ea typeface="Arial"/>
                <a:cs typeface="Poppins"/>
                <a:sym typeface="Poppins"/>
              </a:rPr>
              <a:t>Tarea: Caso de </a:t>
            </a:r>
            <a:r>
              <a:rPr lang="en-US" sz="9224" b="1" i="0" u="none" strike="noStrike" cap="none" dirty="0" err="1">
                <a:solidFill>
                  <a:srgbClr val="FDFDFD"/>
                </a:solidFill>
                <a:latin typeface="Poppins"/>
                <a:ea typeface="Arial"/>
                <a:cs typeface="Poppins"/>
                <a:sym typeface="Poppins"/>
              </a:rPr>
              <a:t>estudio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E6A315D-6097-15BF-1D16-866F636006B9}"/>
              </a:ext>
            </a:extLst>
          </p:cNvPr>
          <p:cNvSpPr txBox="1"/>
          <p:nvPr/>
        </p:nvSpPr>
        <p:spPr>
          <a:xfrm>
            <a:off x="848178" y="3291674"/>
            <a:ext cx="1546496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800" dirty="0"/>
              <a:t>La universidad quiere desarrollar una </a:t>
            </a:r>
            <a:r>
              <a:rPr lang="es-MX" sz="2800" b="1" dirty="0"/>
              <a:t>red social exclusiva para estudiantes</a:t>
            </a:r>
            <a:r>
              <a:rPr lang="es-MX" sz="2800" dirty="0"/>
              <a:t>, en la que puedan: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Crear su perfil académico.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Crear publicaciones (tipo blog, anuncio, duda, o proyecto).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Compartir contenido con compañeros.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Personalizar su experiencia de usuario.</a:t>
            </a:r>
          </a:p>
          <a:p>
            <a:pPr>
              <a:buFont typeface="+mj-lt"/>
              <a:buAutoNum type="arabicPeriod"/>
            </a:pPr>
            <a:r>
              <a:rPr lang="es-MX" sz="2800" dirty="0"/>
              <a:t>Reutilizar publicaciones anteriores como plantilla.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262ADC-C30C-7695-717E-F6674AA4F004}"/>
              </a:ext>
            </a:extLst>
          </p:cNvPr>
          <p:cNvSpPr txBox="1"/>
          <p:nvPr/>
        </p:nvSpPr>
        <p:spPr>
          <a:xfrm>
            <a:off x="799646" y="6666166"/>
            <a:ext cx="16688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Se les pide diseñar la arquitectura orientada a objetos del sistema utilizando los </a:t>
            </a:r>
            <a:r>
              <a:rPr lang="es-MX" sz="2400" b="1" dirty="0"/>
              <a:t>5 patrones creacionales</a:t>
            </a:r>
            <a:r>
              <a:rPr lang="es-MX" sz="2400" dirty="0"/>
              <a:t>, pero </a:t>
            </a:r>
            <a:r>
              <a:rPr lang="es-MX" sz="2400" b="1" dirty="0"/>
              <a:t>no se les dice dónde aplicarlos directamente</a:t>
            </a:r>
            <a:r>
              <a:rPr lang="es-MX" sz="2400" dirty="0"/>
              <a:t>. En lugar de eso, se les da una descripción de las necesidades del sistema, y deben </a:t>
            </a:r>
            <a:r>
              <a:rPr lang="es-MX" sz="2400" b="1" dirty="0"/>
              <a:t>deducir en qué parte cada patrón puede ser útil</a:t>
            </a:r>
            <a:r>
              <a:rPr lang="es-MX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1681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7" name="Google Shape;377;p6"/>
          <p:cNvSpPr txBox="1"/>
          <p:nvPr/>
        </p:nvSpPr>
        <p:spPr>
          <a:xfrm>
            <a:off x="4152000" y="3236632"/>
            <a:ext cx="9984000" cy="1723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77837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 dirty="0" err="1">
                <a:solidFill>
                  <a:srgbClr val="131416"/>
                </a:solidFill>
              </a:rPr>
              <a:t>Patrones</a:t>
            </a:r>
            <a:r>
              <a:rPr lang="en-US" sz="3925" dirty="0">
                <a:solidFill>
                  <a:srgbClr val="131416"/>
                </a:solidFill>
              </a:rPr>
              <a:t> </a:t>
            </a:r>
            <a:r>
              <a:rPr lang="en-US" sz="3925" dirty="0" err="1">
                <a:solidFill>
                  <a:srgbClr val="131416"/>
                </a:solidFill>
              </a:rPr>
              <a:t>creacionales</a:t>
            </a:r>
            <a:endParaRPr sz="3925" dirty="0">
              <a:solidFill>
                <a:srgbClr val="131416"/>
              </a:solidFill>
            </a:endParaRPr>
          </a:p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endParaRPr sz="3151" dirty="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0abd5a1b6_0_0"/>
          <p:cNvSpPr txBox="1"/>
          <p:nvPr/>
        </p:nvSpPr>
        <p:spPr>
          <a:xfrm>
            <a:off x="1560333" y="983796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DISCIPLINA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3" name="Google Shape;383;g360abd5a1b6_0_0"/>
          <p:cNvSpPr txBox="1"/>
          <p:nvPr/>
        </p:nvSpPr>
        <p:spPr>
          <a:xfrm>
            <a:off x="2230719" y="2675475"/>
            <a:ext cx="14171700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9"/>
              </a:lnSpc>
              <a:buSzPts val="3151"/>
            </a:pPr>
            <a:r>
              <a:rPr lang="es-ES" sz="4000" dirty="0"/>
              <a:t>La disciplina es clave para comprender y aplicar correctamente los patrones creacionales, ya que requiere atención al detalle, seguimiento de estructuras definidas y constancia para entender su funcionamiento y aplicabilidad en distintos contextos de desarrollo.</a:t>
            </a:r>
            <a:endParaRPr sz="4000" dirty="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9" name="Google Shape;38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91" name="Google Shape;39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974</Words>
  <Application>Microsoft Office PowerPoint</Application>
  <PresentationFormat>Personalizado</PresentationFormat>
  <Paragraphs>97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Poppins</vt:lpstr>
      <vt:lpstr>Open Sans</vt:lpstr>
      <vt:lpstr>Poppins Black</vt:lpstr>
      <vt:lpstr>Impact</vt:lpstr>
      <vt:lpstr>Calibri</vt:lpstr>
      <vt:lpstr>Poppins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Mynor Moran</cp:lastModifiedBy>
  <cp:revision>4</cp:revision>
  <dcterms:created xsi:type="dcterms:W3CDTF">2006-08-16T00:00:00Z</dcterms:created>
  <dcterms:modified xsi:type="dcterms:W3CDTF">2025-07-05T17:48:39Z</dcterms:modified>
</cp:coreProperties>
</file>