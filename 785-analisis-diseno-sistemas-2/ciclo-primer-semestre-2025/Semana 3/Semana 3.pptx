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Poppins"/>
      <p:regular r:id="rId22"/>
      <p:bold r:id="rId23"/>
      <p:italic r:id="rId24"/>
      <p:boldItalic r:id="rId25"/>
    </p:embeddedFont>
    <p:embeddedFont>
      <p:font typeface="Poppins Light"/>
      <p:regular r:id="rId26"/>
      <p:bold r:id="rId27"/>
      <p:italic r:id="rId28"/>
      <p:boldItalic r:id="rId29"/>
    </p:embeddedFont>
    <p:embeddedFont>
      <p:font typeface="Poppins Black"/>
      <p:bold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gPikNxzM1SSIL5yFKbuSMMxKX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33C58A-1E8B-42C3-A2A9-D1031FCFD34D}">
  <a:tblStyle styleId="{8233C58A-1E8B-42C3-A2A9-D1031FCFD34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regular.fntdata"/><Relationship Id="rId21" Type="http://schemas.openxmlformats.org/officeDocument/2006/relationships/slide" Target="slides/slide15.xml"/><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Light-regular.fntdata"/><Relationship Id="rId25" Type="http://schemas.openxmlformats.org/officeDocument/2006/relationships/font" Target="fonts/Poppins-boldItalic.fntdata"/><Relationship Id="rId28" Type="http://schemas.openxmlformats.org/officeDocument/2006/relationships/font" Target="fonts/PoppinsLight-italic.fntdata"/><Relationship Id="rId27" Type="http://schemas.openxmlformats.org/officeDocument/2006/relationships/font" Target="fonts/PoppinsLigh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Ligh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lack-boldItalic.fntdata"/><Relationship Id="rId30" Type="http://schemas.openxmlformats.org/officeDocument/2006/relationships/font" Target="fonts/PoppinsBlack-bold.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94d606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94d6067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194d606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f194d6067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f194d6067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5f194d6067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f194d6067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5f194d6067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f194d6067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5f194d6067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5f194d6067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5f194d6067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f194d6067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5f194d6067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f194d606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5f194d6067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5f194d6067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5f194d6067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80fe5a1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5f80fe5a1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B</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Elementos de Diseño</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a:t>
            </a:r>
            <a:r>
              <a:rPr b="1" lang="en-US" sz="2499">
                <a:solidFill>
                  <a:srgbClr val="131416"/>
                </a:solidFill>
                <a:latin typeface="Open Sans"/>
                <a:ea typeface="Open Sans"/>
                <a:cs typeface="Open Sans"/>
                <a:sym typeface="Open Sans"/>
              </a:rPr>
              <a:t>Ingeniería</a:t>
            </a:r>
            <a:r>
              <a:rPr b="1" i="0" lang="en-US" sz="2499" u="none" cap="none" strike="noStrike">
                <a:solidFill>
                  <a:srgbClr val="131416"/>
                </a:solidFill>
                <a:latin typeface="Open Sans"/>
                <a:ea typeface="Open Sans"/>
                <a:cs typeface="Open Sans"/>
                <a:sym typeface="Open Sans"/>
              </a:rPr>
              <a:t>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a:t>
            </a:r>
            <a:r>
              <a:rPr b="1" lang="en-US" sz="2499">
                <a:solidFill>
                  <a:srgbClr val="131416"/>
                </a:solidFill>
                <a:latin typeface="Open Sans"/>
                <a:ea typeface="Open Sans"/>
                <a:cs typeface="Open Sans"/>
                <a:sym typeface="Open Sans"/>
              </a:rPr>
              <a:t>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861952" y="2499250"/>
            <a:ext cx="145641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Comprender y aplicar patrones de diseño de comportamiento para mejorar la organización del flujo de control, la asignación de responsabilidades entre objetos y la adaptabilidad de los sistemas de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f194d6067_0_2"/>
          <p:cNvGraphicFramePr/>
          <p:nvPr/>
        </p:nvGraphicFramePr>
        <p:xfrm>
          <a:off x="6116951" y="4739298"/>
          <a:ext cx="3000000" cy="3000000"/>
        </p:xfrm>
        <a:graphic>
          <a:graphicData uri="http://schemas.openxmlformats.org/drawingml/2006/table">
            <a:tbl>
              <a:tblPr>
                <a:noFill/>
                <a:tableStyleId>{8233C58A-1E8B-42C3-A2A9-D1031FCFD34D}</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None/>
                      </a:pPr>
                      <a:r>
                        <a:rPr b="1" lang="en-US" sz="2000">
                          <a:solidFill>
                            <a:srgbClr val="FDFDFD"/>
                          </a:solidFill>
                          <a:latin typeface="Poppins"/>
                          <a:ea typeface="Poppins"/>
                          <a:cs typeface="Poppins"/>
                          <a:sym typeface="Poppins"/>
                        </a:rPr>
                        <a:t>2</a:t>
                      </a:r>
                      <a:endParaRPr b="1" sz="20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None/>
                      </a:pPr>
                      <a:r>
                        <a:rPr lang="en-US" sz="2000">
                          <a:solidFill>
                            <a:srgbClr val="013362"/>
                          </a:solidFill>
                          <a:latin typeface="Poppins"/>
                          <a:ea typeface="Poppins"/>
                          <a:cs typeface="Poppins"/>
                          <a:sym typeface="Poppins"/>
                        </a:rPr>
                        <a:t>Lectura de Fase 1</a:t>
                      </a:r>
                      <a:endParaRPr sz="20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FDFDFD"/>
                          </a:solidFill>
                          <a:latin typeface="Poppins"/>
                          <a:ea typeface="Poppins"/>
                          <a:cs typeface="Poppins"/>
                          <a:sym typeface="Poppins"/>
                        </a:rPr>
                        <a:t>3</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Ejemplo Práctico patrones de diseño estructurales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Teoría Patrones de diseño de comportamiento</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a:solidFill>
                            <a:srgbClr val="FDFDFD"/>
                          </a:solidFill>
                          <a:latin typeface="Poppins"/>
                          <a:ea typeface="Poppins"/>
                          <a:cs typeface="Poppins"/>
                          <a:sym typeface="Poppins"/>
                        </a:rPr>
                        <a:t>5</a:t>
                      </a:r>
                      <a:endParaRPr b="1" sz="20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Ejemplo Práctico de Patrones de diseño de comportamiento</a:t>
                      </a:r>
                      <a:endParaRPr sz="20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f194d6067_0_2"/>
          <p:cNvGrpSpPr/>
          <p:nvPr/>
        </p:nvGrpSpPr>
        <p:grpSpPr>
          <a:xfrm>
            <a:off x="-584626" y="1589619"/>
            <a:ext cx="19457594" cy="2036657"/>
            <a:chOff x="0" y="-76200"/>
            <a:chExt cx="5124600" cy="536400"/>
          </a:xfrm>
        </p:grpSpPr>
        <p:sp>
          <p:nvSpPr>
            <p:cNvPr id="110" name="Google Shape;110;g35f194d6067_0_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f194d6067_0_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f194d6067_0_2"/>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f194d6067_0_2"/>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f194d6067_0_2"/>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f194d6067_0_12"/>
          <p:cNvGrpSpPr/>
          <p:nvPr/>
        </p:nvGrpSpPr>
        <p:grpSpPr>
          <a:xfrm>
            <a:off x="-584800" y="2996050"/>
            <a:ext cx="19457594" cy="4294901"/>
            <a:chOff x="0" y="-76200"/>
            <a:chExt cx="5124600" cy="536400"/>
          </a:xfrm>
        </p:grpSpPr>
        <p:sp>
          <p:nvSpPr>
            <p:cNvPr id="120" name="Google Shape;120;g35f194d6067_0_1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94d6067_0_1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94d6067_0_12"/>
          <p:cNvSpPr txBox="1"/>
          <p:nvPr/>
        </p:nvSpPr>
        <p:spPr>
          <a:xfrm>
            <a:off x="1360046" y="388323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Patrones de diseño de comportamiento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6" name="Shape 126"/>
        <p:cNvGrpSpPr/>
        <p:nvPr/>
      </p:nvGrpSpPr>
      <p:grpSpPr>
        <a:xfrm>
          <a:off x="0" y="0"/>
          <a:ext cx="0" cy="0"/>
          <a:chOff x="0" y="0"/>
          <a:chExt cx="0" cy="0"/>
        </a:xfrm>
      </p:grpSpPr>
      <p:grpSp>
        <p:nvGrpSpPr>
          <p:cNvPr id="127" name="Google Shape;127;g35f194d6067_0_19"/>
          <p:cNvGrpSpPr/>
          <p:nvPr/>
        </p:nvGrpSpPr>
        <p:grpSpPr>
          <a:xfrm>
            <a:off x="-584626" y="564525"/>
            <a:ext cx="19457594" cy="2036657"/>
            <a:chOff x="0" y="-76200"/>
            <a:chExt cx="5124600" cy="536400"/>
          </a:xfrm>
        </p:grpSpPr>
        <p:sp>
          <p:nvSpPr>
            <p:cNvPr id="128" name="Google Shape;128;g35f194d6067_0_19"/>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9" name="Google Shape;129;g35f194d6067_0_19"/>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g35f194d6067_0_19"/>
          <p:cNvSpPr txBox="1"/>
          <p:nvPr/>
        </p:nvSpPr>
        <p:spPr>
          <a:xfrm>
            <a:off x="-388750" y="773275"/>
            <a:ext cx="187533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Patrones de comportamiento</a:t>
            </a:r>
            <a:endParaRPr b="0" i="0" sz="1400" u="none" cap="none" strike="noStrike">
              <a:solidFill>
                <a:srgbClr val="000000"/>
              </a:solidFill>
              <a:latin typeface="Arial"/>
              <a:ea typeface="Arial"/>
              <a:cs typeface="Arial"/>
              <a:sym typeface="Arial"/>
            </a:endParaRPr>
          </a:p>
        </p:txBody>
      </p:sp>
      <p:sp>
        <p:nvSpPr>
          <p:cNvPr id="131" name="Google Shape;131;g35f194d6067_0_19"/>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Los patrones de comportamiento tratan con algoritmos y la asignación de responsabilidades entre objetos.</a:t>
            </a:r>
            <a:endParaRPr b="0" i="0" sz="1400" u="none" cap="none" strike="noStrike">
              <a:solidFill>
                <a:srgbClr val="000000"/>
              </a:solidFill>
              <a:latin typeface="Arial"/>
              <a:ea typeface="Arial"/>
              <a:cs typeface="Arial"/>
              <a:sym typeface="Arial"/>
            </a:endParaRPr>
          </a:p>
        </p:txBody>
      </p:sp>
      <p:pic>
        <p:nvPicPr>
          <p:cNvPr id="132" name="Google Shape;132;g35f194d6067_0_19"/>
          <p:cNvPicPr preferRelativeResize="0"/>
          <p:nvPr/>
        </p:nvPicPr>
        <p:blipFill rotWithShape="1">
          <a:blip r:embed="rId3">
            <a:alphaModFix/>
          </a:blip>
          <a:srcRect b="0" l="0" r="0" t="0"/>
          <a:stretch/>
        </p:blipFill>
        <p:spPr>
          <a:xfrm>
            <a:off x="1236838" y="4368745"/>
            <a:ext cx="15502114" cy="59182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6" name="Shape 136"/>
        <p:cNvGrpSpPr/>
        <p:nvPr/>
      </p:nvGrpSpPr>
      <p:grpSpPr>
        <a:xfrm>
          <a:off x="0" y="0"/>
          <a:ext cx="0" cy="0"/>
          <a:chOff x="0" y="0"/>
          <a:chExt cx="0" cy="0"/>
        </a:xfrm>
      </p:grpSpPr>
      <p:grpSp>
        <p:nvGrpSpPr>
          <p:cNvPr id="137" name="Google Shape;137;g35f194d6067_0_28"/>
          <p:cNvGrpSpPr/>
          <p:nvPr/>
        </p:nvGrpSpPr>
        <p:grpSpPr>
          <a:xfrm>
            <a:off x="-584626" y="564525"/>
            <a:ext cx="19457594" cy="2036657"/>
            <a:chOff x="0" y="-76200"/>
            <a:chExt cx="5124600" cy="536400"/>
          </a:xfrm>
        </p:grpSpPr>
        <p:sp>
          <p:nvSpPr>
            <p:cNvPr id="138" name="Google Shape;138;g35f194d6067_0_2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9" name="Google Shape;139;g35f194d6067_0_2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g35f194d6067_0_2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Patrón Observer</a:t>
            </a:r>
            <a:endParaRPr b="0" i="0" sz="1400" u="none" cap="none" strike="noStrike">
              <a:solidFill>
                <a:srgbClr val="000000"/>
              </a:solidFill>
              <a:latin typeface="Arial"/>
              <a:ea typeface="Arial"/>
              <a:cs typeface="Arial"/>
              <a:sym typeface="Arial"/>
            </a:endParaRPr>
          </a:p>
        </p:txBody>
      </p:sp>
      <p:sp>
        <p:nvSpPr>
          <p:cNvPr id="141" name="Google Shape;141;g35f194d6067_0_28"/>
          <p:cNvSpPr txBox="1"/>
          <p:nvPr/>
        </p:nvSpPr>
        <p:spPr>
          <a:xfrm>
            <a:off x="1028700" y="2969245"/>
            <a:ext cx="162306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 un patrón de diseño de comportamiento que te permite definir un mecanismo de suscripción para notificar a varios objetos sobre cualquier evento que le suceda al objeto que están observando.</a:t>
            </a:r>
            <a:endParaRPr b="0" i="0" sz="1400" u="none" cap="none" strike="noStrike">
              <a:solidFill>
                <a:srgbClr val="000000"/>
              </a:solidFill>
              <a:latin typeface="Arial"/>
              <a:ea typeface="Arial"/>
              <a:cs typeface="Arial"/>
              <a:sym typeface="Arial"/>
            </a:endParaRPr>
          </a:p>
        </p:txBody>
      </p:sp>
      <p:pic>
        <p:nvPicPr>
          <p:cNvPr id="142" name="Google Shape;142;g35f194d6067_0_28"/>
          <p:cNvPicPr preferRelativeResize="0"/>
          <p:nvPr/>
        </p:nvPicPr>
        <p:blipFill rotWithShape="1">
          <a:blip r:embed="rId3">
            <a:alphaModFix/>
          </a:blip>
          <a:srcRect b="0" l="0" r="0" t="0"/>
          <a:stretch/>
        </p:blipFill>
        <p:spPr>
          <a:xfrm>
            <a:off x="556100" y="5348451"/>
            <a:ext cx="6561075" cy="3280525"/>
          </a:xfrm>
          <a:prstGeom prst="rect">
            <a:avLst/>
          </a:prstGeom>
          <a:noFill/>
          <a:ln>
            <a:noFill/>
          </a:ln>
        </p:spPr>
      </p:pic>
      <p:pic>
        <p:nvPicPr>
          <p:cNvPr id="143" name="Google Shape;143;g35f194d6067_0_28"/>
          <p:cNvPicPr preferRelativeResize="0"/>
          <p:nvPr/>
        </p:nvPicPr>
        <p:blipFill rotWithShape="1">
          <a:blip r:embed="rId4">
            <a:alphaModFix/>
          </a:blip>
          <a:srcRect b="0" l="0" r="0" t="0"/>
          <a:stretch/>
        </p:blipFill>
        <p:spPr>
          <a:xfrm>
            <a:off x="9123625" y="5693178"/>
            <a:ext cx="6765599" cy="259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7" name="Shape 147"/>
        <p:cNvGrpSpPr/>
        <p:nvPr/>
      </p:nvGrpSpPr>
      <p:grpSpPr>
        <a:xfrm>
          <a:off x="0" y="0"/>
          <a:ext cx="0" cy="0"/>
          <a:chOff x="0" y="0"/>
          <a:chExt cx="0" cy="0"/>
        </a:xfrm>
      </p:grpSpPr>
      <p:grpSp>
        <p:nvGrpSpPr>
          <p:cNvPr id="148" name="Google Shape;148;g35f194d6067_0_38"/>
          <p:cNvGrpSpPr/>
          <p:nvPr/>
        </p:nvGrpSpPr>
        <p:grpSpPr>
          <a:xfrm>
            <a:off x="-584626" y="564525"/>
            <a:ext cx="19457594" cy="2036657"/>
            <a:chOff x="0" y="-76200"/>
            <a:chExt cx="5124600" cy="536400"/>
          </a:xfrm>
        </p:grpSpPr>
        <p:sp>
          <p:nvSpPr>
            <p:cNvPr id="149" name="Google Shape;149;g35f194d6067_0_3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0" name="Google Shape;150;g35f194d6067_0_3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1" name="Google Shape;151;g35f194d6067_0_3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Patrón Strategy</a:t>
            </a:r>
            <a:endParaRPr b="0" i="0" sz="1400" u="none" cap="none" strike="noStrike">
              <a:solidFill>
                <a:srgbClr val="000000"/>
              </a:solidFill>
              <a:latin typeface="Arial"/>
              <a:ea typeface="Arial"/>
              <a:cs typeface="Arial"/>
              <a:sym typeface="Arial"/>
            </a:endParaRPr>
          </a:p>
        </p:txBody>
      </p:sp>
      <p:sp>
        <p:nvSpPr>
          <p:cNvPr id="152" name="Google Shape;152;g35f194d6067_0_38"/>
          <p:cNvSpPr txBox="1"/>
          <p:nvPr/>
        </p:nvSpPr>
        <p:spPr>
          <a:xfrm>
            <a:off x="1028700" y="2969245"/>
            <a:ext cx="162306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Strategy es un patrón de diseño de comportamiento que te permite definir una familia de algoritmos, colocar cada uno de ellos en una clase separada y hacer sus objetos intercambiables.</a:t>
            </a:r>
            <a:endParaRPr b="0" i="0" sz="2963" u="none" cap="none" strike="noStrike">
              <a:solidFill>
                <a:srgbClr val="013362"/>
              </a:solidFill>
              <a:latin typeface="Poppins Light"/>
              <a:ea typeface="Poppins Light"/>
              <a:cs typeface="Poppins Light"/>
              <a:sym typeface="Poppins Light"/>
            </a:endParaRPr>
          </a:p>
        </p:txBody>
      </p:sp>
      <p:pic>
        <p:nvPicPr>
          <p:cNvPr id="153" name="Google Shape;153;g35f194d6067_0_38"/>
          <p:cNvPicPr preferRelativeResize="0"/>
          <p:nvPr/>
        </p:nvPicPr>
        <p:blipFill rotWithShape="1">
          <a:blip r:embed="rId3">
            <a:alphaModFix/>
          </a:blip>
          <a:srcRect b="0" l="0" r="0" t="0"/>
          <a:stretch/>
        </p:blipFill>
        <p:spPr>
          <a:xfrm>
            <a:off x="10783300" y="6140920"/>
            <a:ext cx="5429250" cy="2667000"/>
          </a:xfrm>
          <a:prstGeom prst="rect">
            <a:avLst/>
          </a:prstGeom>
          <a:noFill/>
          <a:ln>
            <a:noFill/>
          </a:ln>
        </p:spPr>
      </p:pic>
      <p:pic>
        <p:nvPicPr>
          <p:cNvPr id="154" name="Google Shape;154;g35f194d6067_0_38"/>
          <p:cNvPicPr preferRelativeResize="0"/>
          <p:nvPr/>
        </p:nvPicPr>
        <p:blipFill rotWithShape="1">
          <a:blip r:embed="rId4">
            <a:alphaModFix/>
          </a:blip>
          <a:srcRect b="0" l="0" r="0" t="0"/>
          <a:stretch/>
        </p:blipFill>
        <p:spPr>
          <a:xfrm>
            <a:off x="1228950" y="5070720"/>
            <a:ext cx="6096000"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58" name="Shape 158"/>
        <p:cNvGrpSpPr/>
        <p:nvPr/>
      </p:nvGrpSpPr>
      <p:grpSpPr>
        <a:xfrm>
          <a:off x="0" y="0"/>
          <a:ext cx="0" cy="0"/>
          <a:chOff x="0" y="0"/>
          <a:chExt cx="0" cy="0"/>
        </a:xfrm>
      </p:grpSpPr>
      <p:grpSp>
        <p:nvGrpSpPr>
          <p:cNvPr id="159" name="Google Shape;159;g35f194d6067_0_48"/>
          <p:cNvGrpSpPr/>
          <p:nvPr/>
        </p:nvGrpSpPr>
        <p:grpSpPr>
          <a:xfrm>
            <a:off x="-584626" y="564525"/>
            <a:ext cx="19457594" cy="2036657"/>
            <a:chOff x="0" y="-76200"/>
            <a:chExt cx="5124600" cy="536400"/>
          </a:xfrm>
        </p:grpSpPr>
        <p:sp>
          <p:nvSpPr>
            <p:cNvPr id="160" name="Google Shape;160;g35f194d6067_0_4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61" name="Google Shape;161;g35f194d6067_0_4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2" name="Google Shape;162;g35f194d6067_0_4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Patrón Command</a:t>
            </a:r>
            <a:endParaRPr b="0" i="0" sz="1400" u="none" cap="none" strike="noStrike">
              <a:solidFill>
                <a:srgbClr val="000000"/>
              </a:solidFill>
              <a:latin typeface="Arial"/>
              <a:ea typeface="Arial"/>
              <a:cs typeface="Arial"/>
              <a:sym typeface="Arial"/>
            </a:endParaRPr>
          </a:p>
        </p:txBody>
      </p:sp>
      <p:sp>
        <p:nvSpPr>
          <p:cNvPr id="163" name="Google Shape;163;g35f194d6067_0_48"/>
          <p:cNvSpPr txBox="1"/>
          <p:nvPr/>
        </p:nvSpPr>
        <p:spPr>
          <a:xfrm>
            <a:off x="1028700" y="2969245"/>
            <a:ext cx="162306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Command 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endParaRPr b="0" i="0" sz="1400" u="none" cap="none" strike="noStrike">
              <a:solidFill>
                <a:srgbClr val="000000"/>
              </a:solidFill>
              <a:latin typeface="Arial"/>
              <a:ea typeface="Arial"/>
              <a:cs typeface="Arial"/>
              <a:sym typeface="Arial"/>
            </a:endParaRPr>
          </a:p>
        </p:txBody>
      </p:sp>
      <p:pic>
        <p:nvPicPr>
          <p:cNvPr id="164" name="Google Shape;164;g35f194d6067_0_48"/>
          <p:cNvPicPr preferRelativeResize="0"/>
          <p:nvPr/>
        </p:nvPicPr>
        <p:blipFill rotWithShape="1">
          <a:blip r:embed="rId3">
            <a:alphaModFix/>
          </a:blip>
          <a:srcRect b="0" l="0" r="0" t="0"/>
          <a:stretch/>
        </p:blipFill>
        <p:spPr>
          <a:xfrm>
            <a:off x="0" y="6527877"/>
            <a:ext cx="8471550" cy="4235775"/>
          </a:xfrm>
          <a:prstGeom prst="rect">
            <a:avLst/>
          </a:prstGeom>
          <a:noFill/>
          <a:ln>
            <a:noFill/>
          </a:ln>
        </p:spPr>
      </p:pic>
      <p:pic>
        <p:nvPicPr>
          <p:cNvPr id="165" name="Google Shape;165;g35f194d6067_0_48"/>
          <p:cNvPicPr preferRelativeResize="0"/>
          <p:nvPr/>
        </p:nvPicPr>
        <p:blipFill rotWithShape="1">
          <a:blip r:embed="rId4">
            <a:alphaModFix/>
          </a:blip>
          <a:srcRect b="0" l="0" r="0" t="0"/>
          <a:stretch/>
        </p:blipFill>
        <p:spPr>
          <a:xfrm>
            <a:off x="8830425" y="5979750"/>
            <a:ext cx="7244525" cy="4527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9" name="Shape 169"/>
        <p:cNvGrpSpPr/>
        <p:nvPr/>
      </p:nvGrpSpPr>
      <p:grpSpPr>
        <a:xfrm>
          <a:off x="0" y="0"/>
          <a:ext cx="0" cy="0"/>
          <a:chOff x="0" y="0"/>
          <a:chExt cx="0" cy="0"/>
        </a:xfrm>
      </p:grpSpPr>
      <p:grpSp>
        <p:nvGrpSpPr>
          <p:cNvPr id="170" name="Google Shape;170;g35f194d6067_0_58"/>
          <p:cNvGrpSpPr/>
          <p:nvPr/>
        </p:nvGrpSpPr>
        <p:grpSpPr>
          <a:xfrm>
            <a:off x="-584626" y="564525"/>
            <a:ext cx="19457594" cy="2036657"/>
            <a:chOff x="0" y="-76200"/>
            <a:chExt cx="5124600" cy="536400"/>
          </a:xfrm>
        </p:grpSpPr>
        <p:sp>
          <p:nvSpPr>
            <p:cNvPr id="171" name="Google Shape;171;g35f194d6067_0_5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2" name="Google Shape;172;g35f194d6067_0_5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3" name="Google Shape;173;g35f194d6067_0_5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Patrones Iterator</a:t>
            </a:r>
            <a:endParaRPr b="0" i="0" sz="1400" u="none" cap="none" strike="noStrike">
              <a:solidFill>
                <a:srgbClr val="000000"/>
              </a:solidFill>
              <a:latin typeface="Arial"/>
              <a:ea typeface="Arial"/>
              <a:cs typeface="Arial"/>
              <a:sym typeface="Arial"/>
            </a:endParaRPr>
          </a:p>
        </p:txBody>
      </p:sp>
      <p:sp>
        <p:nvSpPr>
          <p:cNvPr id="174" name="Google Shape;174;g35f194d6067_0_58"/>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Iterator es un patrón de diseño de comportamiento que te permite recorrer elementos de una colección sin exponer su representación subyacente (lista, pila, árbol, etc.).</a:t>
            </a:r>
            <a:endParaRPr b="0" i="0" sz="1400" u="none" cap="none" strike="noStrike">
              <a:solidFill>
                <a:srgbClr val="000000"/>
              </a:solidFill>
              <a:latin typeface="Arial"/>
              <a:ea typeface="Arial"/>
              <a:cs typeface="Arial"/>
              <a:sym typeface="Arial"/>
            </a:endParaRPr>
          </a:p>
        </p:txBody>
      </p:sp>
      <p:pic>
        <p:nvPicPr>
          <p:cNvPr id="175" name="Google Shape;175;g35f194d6067_0_58"/>
          <p:cNvPicPr preferRelativeResize="0"/>
          <p:nvPr/>
        </p:nvPicPr>
        <p:blipFill rotWithShape="1">
          <a:blip r:embed="rId3">
            <a:alphaModFix/>
          </a:blip>
          <a:srcRect b="0" l="0" r="0" t="0"/>
          <a:stretch/>
        </p:blipFill>
        <p:spPr>
          <a:xfrm>
            <a:off x="591347" y="5143500"/>
            <a:ext cx="6243950" cy="3902475"/>
          </a:xfrm>
          <a:prstGeom prst="rect">
            <a:avLst/>
          </a:prstGeom>
          <a:noFill/>
          <a:ln>
            <a:noFill/>
          </a:ln>
        </p:spPr>
      </p:pic>
      <p:pic>
        <p:nvPicPr>
          <p:cNvPr id="176" name="Google Shape;176;g35f194d6067_0_58"/>
          <p:cNvPicPr preferRelativeResize="0"/>
          <p:nvPr/>
        </p:nvPicPr>
        <p:blipFill rotWithShape="1">
          <a:blip r:embed="rId4">
            <a:alphaModFix/>
          </a:blip>
          <a:srcRect b="0" l="0" r="0" t="0"/>
          <a:stretch/>
        </p:blipFill>
        <p:spPr>
          <a:xfrm>
            <a:off x="8064250" y="4963950"/>
            <a:ext cx="8485075" cy="3977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0" name="Shape 180"/>
        <p:cNvGrpSpPr/>
        <p:nvPr/>
      </p:nvGrpSpPr>
      <p:grpSpPr>
        <a:xfrm>
          <a:off x="0" y="0"/>
          <a:ext cx="0" cy="0"/>
          <a:chOff x="0" y="0"/>
          <a:chExt cx="0" cy="0"/>
        </a:xfrm>
      </p:grpSpPr>
      <p:grpSp>
        <p:nvGrpSpPr>
          <p:cNvPr id="181" name="Google Shape;181;g35f194d6067_0_68"/>
          <p:cNvGrpSpPr/>
          <p:nvPr/>
        </p:nvGrpSpPr>
        <p:grpSpPr>
          <a:xfrm>
            <a:off x="-584626" y="564525"/>
            <a:ext cx="19457594" cy="2036657"/>
            <a:chOff x="0" y="-76200"/>
            <a:chExt cx="5124600" cy="536400"/>
          </a:xfrm>
        </p:grpSpPr>
        <p:sp>
          <p:nvSpPr>
            <p:cNvPr id="182" name="Google Shape;182;g35f194d6067_0_6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3" name="Google Shape;183;g35f194d6067_0_6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4" name="Google Shape;184;g35f194d6067_0_6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Patrón State</a:t>
            </a:r>
            <a:endParaRPr b="0" i="0" sz="1400" u="none" cap="none" strike="noStrike">
              <a:solidFill>
                <a:srgbClr val="000000"/>
              </a:solidFill>
              <a:latin typeface="Arial"/>
              <a:ea typeface="Arial"/>
              <a:cs typeface="Arial"/>
              <a:sym typeface="Arial"/>
            </a:endParaRPr>
          </a:p>
        </p:txBody>
      </p:sp>
      <p:sp>
        <p:nvSpPr>
          <p:cNvPr id="185" name="Google Shape;185;g35f194d6067_0_68"/>
          <p:cNvSpPr txBox="1"/>
          <p:nvPr/>
        </p:nvSpPr>
        <p:spPr>
          <a:xfrm>
            <a:off x="1028700" y="2969245"/>
            <a:ext cx="162306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State es un patrón de diseño de comportamiento que permite a un objeto alterar su comportamiento cuando su estado interno cambia. Parece como si el objeto cambiará su clase.</a:t>
            </a:r>
            <a:endParaRPr b="0" i="0" sz="1400" u="none" cap="none" strike="noStrike">
              <a:solidFill>
                <a:srgbClr val="000000"/>
              </a:solidFill>
              <a:latin typeface="Arial"/>
              <a:ea typeface="Arial"/>
              <a:cs typeface="Arial"/>
              <a:sym typeface="Arial"/>
            </a:endParaRPr>
          </a:p>
        </p:txBody>
      </p:sp>
      <p:pic>
        <p:nvPicPr>
          <p:cNvPr id="186" name="Google Shape;186;g35f194d6067_0_68"/>
          <p:cNvPicPr preferRelativeResize="0"/>
          <p:nvPr/>
        </p:nvPicPr>
        <p:blipFill rotWithShape="1">
          <a:blip r:embed="rId3">
            <a:alphaModFix/>
          </a:blip>
          <a:srcRect b="0" l="0" r="0" t="0"/>
          <a:stretch/>
        </p:blipFill>
        <p:spPr>
          <a:xfrm>
            <a:off x="556125" y="5169045"/>
            <a:ext cx="6096000" cy="3810000"/>
          </a:xfrm>
          <a:prstGeom prst="rect">
            <a:avLst/>
          </a:prstGeom>
          <a:noFill/>
          <a:ln>
            <a:noFill/>
          </a:ln>
        </p:spPr>
      </p:pic>
      <p:pic>
        <p:nvPicPr>
          <p:cNvPr id="187" name="Google Shape;187;g35f194d6067_0_68"/>
          <p:cNvPicPr preferRelativeResize="0"/>
          <p:nvPr/>
        </p:nvPicPr>
        <p:blipFill rotWithShape="1">
          <a:blip r:embed="rId4">
            <a:alphaModFix/>
          </a:blip>
          <a:srcRect b="0" l="0" r="0" t="0"/>
          <a:stretch/>
        </p:blipFill>
        <p:spPr>
          <a:xfrm>
            <a:off x="9615500" y="4788051"/>
            <a:ext cx="6275550" cy="493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g35f194d6067_0_78"/>
          <p:cNvPicPr preferRelativeResize="0"/>
          <p:nvPr/>
        </p:nvPicPr>
        <p:blipFill rotWithShape="1">
          <a:blip r:embed="rId3">
            <a:alphaModFix/>
          </a:blip>
          <a:srcRect b="0" l="0" r="0" t="0"/>
          <a:stretch/>
        </p:blipFill>
        <p:spPr>
          <a:xfrm>
            <a:off x="4151463" y="150963"/>
            <a:ext cx="9985075" cy="9985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198" name="Google Shape;198;p6"/>
          <p:cNvSpPr txBox="1"/>
          <p:nvPr/>
        </p:nvSpPr>
        <p:spPr>
          <a:xfrm>
            <a:off x="6212437" y="3860833"/>
            <a:ext cx="6911400" cy="3880500"/>
          </a:xfrm>
          <a:prstGeom prst="rect">
            <a:avLst/>
          </a:prstGeom>
          <a:noFill/>
          <a:ln>
            <a:noFill/>
          </a:ln>
        </p:spPr>
        <p:txBody>
          <a:bodyPr anchorCtr="0" anchor="t" bIns="0" lIns="0" spcFirstLastPara="1" rIns="0" wrap="square" tIns="0">
            <a:spAutoFit/>
          </a:bodyPr>
          <a:lstStyle/>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Patrones de comportamiento</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Patrón Observer</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Patrón Strategy</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Patrón Command</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Patrón Iterator</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Patrón State</a:t>
            </a:r>
            <a:endParaRPr sz="3151">
              <a:solidFill>
                <a:srgbClr val="13141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5f80fe5a1a_1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Responsabilidad</a:t>
            </a:r>
            <a:endParaRPr b="0" i="0" sz="1400" u="none" cap="none" strike="noStrike">
              <a:solidFill>
                <a:srgbClr val="000000"/>
              </a:solidFill>
              <a:latin typeface="Impact"/>
              <a:ea typeface="Impact"/>
              <a:cs typeface="Impact"/>
              <a:sym typeface="Impact"/>
            </a:endParaRPr>
          </a:p>
        </p:txBody>
      </p:sp>
      <p:sp>
        <p:nvSpPr>
          <p:cNvPr id="204" name="Google Shape;204;g35f80fe5a1a_1_0"/>
          <p:cNvSpPr txBox="1"/>
          <p:nvPr/>
        </p:nvSpPr>
        <p:spPr>
          <a:xfrm>
            <a:off x="2230719" y="2675475"/>
            <a:ext cx="141717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Cumpliendo con las tareas asignadas: </a:t>
            </a:r>
            <a:r>
              <a:rPr lang="en-US" sz="3151">
                <a:solidFill>
                  <a:srgbClr val="131416"/>
                </a:solidFill>
              </a:rPr>
              <a:t>Entregando los trabajos y proyectos en tiempo y forma, con el nivel de calidad esperado, sin necesidad de recordatorios constantes.</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Asumiendo compromisos dentro del equipo: </a:t>
            </a:r>
            <a:r>
              <a:rPr lang="en-US" sz="3151">
                <a:solidFill>
                  <a:srgbClr val="131416"/>
                </a:solidFill>
              </a:rPr>
              <a:t>Si se acuerda realizar una parte del análisis o diseño, se cumple con lo prometido, considerando que el éxito del equipo depende de cada integrante.</a:t>
            </a:r>
            <a:endParaRPr sz="3151">
              <a:solidFill>
                <a:srgbClr val="13141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10" name="Google Shape;210;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11" name="Google Shape;211;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12" name="Google Shape;212;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