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72" r:id="rId14"/>
    <p:sldId id="273" r:id="rId15"/>
    <p:sldId id="274" r:id="rId16"/>
    <p:sldId id="275" r:id="rId17"/>
    <p:sldId id="267" r:id="rId18"/>
    <p:sldId id="268" r:id="rId19"/>
    <p:sldId id="269" r:id="rId20"/>
    <p:sldId id="270" r:id="rId21"/>
  </p:sldIdLst>
  <p:sldSz cx="18288000" cy="10287000"/>
  <p:notesSz cx="6858000" cy="9144000"/>
  <p:embeddedFontLst>
    <p:embeddedFont>
      <p:font typeface="Impact" panose="020B0806030902050204" pitchFamily="34" charset="0"/>
      <p:regular r:id="rId23"/>
    </p:embeddedFont>
    <p:embeddedFont>
      <p:font typeface="Libre Franklin Medium" pitchFamily="2" charset="0"/>
      <p:regular r:id="rId24"/>
      <p:italic r:id="rId25"/>
    </p:embeddedFont>
    <p:embeddedFont>
      <p:font typeface="Open Sans" panose="020B0606030504020204" pitchFamily="34" charset="0"/>
      <p:regular r:id="rId26"/>
      <p:bold r:id="rId27"/>
      <p:italic r:id="rId28"/>
      <p:boldItalic r:id="rId29"/>
    </p:embeddedFont>
    <p:embeddedFont>
      <p:font typeface="Poppins" panose="00000500000000000000" pitchFamily="2" charset="0"/>
      <p:regular r:id="rId30"/>
      <p:bold r:id="rId31"/>
      <p:italic r:id="rId32"/>
      <p:boldItalic r:id="rId33"/>
    </p:embeddedFont>
    <p:embeddedFont>
      <p:font typeface="Poppins Black" panose="00000A00000000000000" pitchFamily="2" charset="0"/>
      <p:bold r:id="rId34"/>
      <p:boldItalic r:id="rId35"/>
    </p:embeddedFont>
    <p:embeddedFont>
      <p:font typeface="Poppins Light" panose="000004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gPikNxzM1SSIL5yFKbuSMMxKXR+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233C58A-1E8B-42C3-A2A9-D1031FCFD34D}">
  <a:tblStyle styleId="{8233C58A-1E8B-42C3-A2A9-D1031FCFD3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9" d="100"/>
          <a:sy n="39" d="100"/>
        </p:scale>
        <p:origin x="94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5f194d6067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g35f194d6067_0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5f194d6067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7" name="Google Shape;117;g35f194d6067_0_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5f194d6067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g35f194d6067_0_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5f194d6067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g35f194d6067_0_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5f194d6067_0_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6" name="Google Shape;146;g35f194d6067_0_3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5f194d6067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g35f194d6067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5f194d6067_0_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g35f194d6067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5f194d6067_0_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g35f194d6067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0C5C22D9-7578-3B21-A692-B02D964A3DA3}"/>
            </a:ext>
          </a:extLst>
        </p:cNvPr>
        <p:cNvGrpSpPr/>
        <p:nvPr/>
      </p:nvGrpSpPr>
      <p:grpSpPr>
        <a:xfrm>
          <a:off x="0" y="0"/>
          <a:ext cx="0" cy="0"/>
          <a:chOff x="0" y="0"/>
          <a:chExt cx="0" cy="0"/>
        </a:xfrm>
      </p:grpSpPr>
      <p:sp>
        <p:nvSpPr>
          <p:cNvPr id="178" name="Google Shape;178;g35f194d6067_0_68:notes">
            <a:extLst>
              <a:ext uri="{FF2B5EF4-FFF2-40B4-BE49-F238E27FC236}">
                <a16:creationId xmlns:a16="http://schemas.microsoft.com/office/drawing/2014/main" id="{AEFDD8AE-B36E-8CF6-B8A2-9DD53609310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g35f194d6067_0_68:notes">
            <a:extLst>
              <a:ext uri="{FF2B5EF4-FFF2-40B4-BE49-F238E27FC236}">
                <a16:creationId xmlns:a16="http://schemas.microsoft.com/office/drawing/2014/main" id="{9597B3EC-E1EC-11E8-009C-DDEEA3F56D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54070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2B8E2F3C-7EA1-B799-A30D-6D16888F18FE}"/>
            </a:ext>
          </a:extLst>
        </p:cNvPr>
        <p:cNvGrpSpPr/>
        <p:nvPr/>
      </p:nvGrpSpPr>
      <p:grpSpPr>
        <a:xfrm>
          <a:off x="0" y="0"/>
          <a:ext cx="0" cy="0"/>
          <a:chOff x="0" y="0"/>
          <a:chExt cx="0" cy="0"/>
        </a:xfrm>
      </p:grpSpPr>
      <p:sp>
        <p:nvSpPr>
          <p:cNvPr id="178" name="Google Shape;178;g35f194d6067_0_68:notes">
            <a:extLst>
              <a:ext uri="{FF2B5EF4-FFF2-40B4-BE49-F238E27FC236}">
                <a16:creationId xmlns:a16="http://schemas.microsoft.com/office/drawing/2014/main" id="{66C5E16E-75E7-B22B-5A94-DA22959E60D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g35f194d6067_0_68:notes">
            <a:extLst>
              <a:ext uri="{FF2B5EF4-FFF2-40B4-BE49-F238E27FC236}">
                <a16:creationId xmlns:a16="http://schemas.microsoft.com/office/drawing/2014/main" id="{FDF4C218-196A-1DF9-6857-F84745EE8B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385655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C1D2916C-78E4-86E4-B5B7-2BD0C7E7CDBD}"/>
            </a:ext>
          </a:extLst>
        </p:cNvPr>
        <p:cNvGrpSpPr/>
        <p:nvPr/>
      </p:nvGrpSpPr>
      <p:grpSpPr>
        <a:xfrm>
          <a:off x="0" y="0"/>
          <a:ext cx="0" cy="0"/>
          <a:chOff x="0" y="0"/>
          <a:chExt cx="0" cy="0"/>
        </a:xfrm>
      </p:grpSpPr>
      <p:sp>
        <p:nvSpPr>
          <p:cNvPr id="178" name="Google Shape;178;g35f194d6067_0_68:notes">
            <a:extLst>
              <a:ext uri="{FF2B5EF4-FFF2-40B4-BE49-F238E27FC236}">
                <a16:creationId xmlns:a16="http://schemas.microsoft.com/office/drawing/2014/main" id="{3ED7DCF6-3D41-0D01-7D64-9216F66277F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g35f194d6067_0_68:notes">
            <a:extLst>
              <a:ext uri="{FF2B5EF4-FFF2-40B4-BE49-F238E27FC236}">
                <a16:creationId xmlns:a16="http://schemas.microsoft.com/office/drawing/2014/main" id="{0F6BC779-AB2B-CCC2-EA29-FD71FAB536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568581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B265F5D8-EEF8-5460-EA29-9E32E61EB6BA}"/>
            </a:ext>
          </a:extLst>
        </p:cNvPr>
        <p:cNvGrpSpPr/>
        <p:nvPr/>
      </p:nvGrpSpPr>
      <p:grpSpPr>
        <a:xfrm>
          <a:off x="0" y="0"/>
          <a:ext cx="0" cy="0"/>
          <a:chOff x="0" y="0"/>
          <a:chExt cx="0" cy="0"/>
        </a:xfrm>
      </p:grpSpPr>
      <p:sp>
        <p:nvSpPr>
          <p:cNvPr id="178" name="Google Shape;178;g35f194d6067_0_68:notes">
            <a:extLst>
              <a:ext uri="{FF2B5EF4-FFF2-40B4-BE49-F238E27FC236}">
                <a16:creationId xmlns:a16="http://schemas.microsoft.com/office/drawing/2014/main" id="{C4ED1301-FAAB-8BA7-5F88-4605812B71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g35f194d6067_0_68:notes">
            <a:extLst>
              <a:ext uri="{FF2B5EF4-FFF2-40B4-BE49-F238E27FC236}">
                <a16:creationId xmlns:a16="http://schemas.microsoft.com/office/drawing/2014/main" id="{32F6BEF3-FA7F-C084-5DB5-2EB697DFD3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61060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6A7B73A4-6076-BC8F-D9E5-651941BDE614}"/>
            </a:ext>
          </a:extLst>
        </p:cNvPr>
        <p:cNvGrpSpPr/>
        <p:nvPr/>
      </p:nvGrpSpPr>
      <p:grpSpPr>
        <a:xfrm>
          <a:off x="0" y="0"/>
          <a:ext cx="0" cy="0"/>
          <a:chOff x="0" y="0"/>
          <a:chExt cx="0" cy="0"/>
        </a:xfrm>
      </p:grpSpPr>
      <p:sp>
        <p:nvSpPr>
          <p:cNvPr id="178" name="Google Shape;178;g35f194d6067_0_68:notes">
            <a:extLst>
              <a:ext uri="{FF2B5EF4-FFF2-40B4-BE49-F238E27FC236}">
                <a16:creationId xmlns:a16="http://schemas.microsoft.com/office/drawing/2014/main" id="{154D84D1-D6F3-8EBD-6C02-CE5659CF2B7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g35f194d6067_0_68:notes">
            <a:extLst>
              <a:ext uri="{FF2B5EF4-FFF2-40B4-BE49-F238E27FC236}">
                <a16:creationId xmlns:a16="http://schemas.microsoft.com/office/drawing/2014/main" id="{3C317608-789B-F6A3-8AA1-24A4FBE3EB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106967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5f194d6067_0_7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 name="Google Shape;190;g35f194d6067_0_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5" name="Google Shape;195;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5f80fe5a1a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1" name="Google Shape;201;g35f80fe5a1a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1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9"/>
          <p:cNvSpPr>
            <a:spLocks noGrp="1"/>
          </p:cNvSpPr>
          <p:nvPr>
            <p:ph type="pic" idx="2"/>
          </p:nvPr>
        </p:nvSpPr>
        <p:spPr>
          <a:xfrm>
            <a:off x="1792288" y="612775"/>
            <a:ext cx="5486400" cy="4114800"/>
          </a:xfrm>
          <a:prstGeom prst="rect">
            <a:avLst/>
          </a:prstGeom>
          <a:noFill/>
          <a:ln>
            <a:noFill/>
          </a:ln>
        </p:spPr>
      </p:sp>
      <p:sp>
        <p:nvSpPr>
          <p:cNvPr id="64" name="Google Shape;64;p1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12541309" y="0"/>
            <a:ext cx="5746691" cy="1711780"/>
          </a:xfrm>
          <a:custGeom>
            <a:avLst/>
            <a:gdLst/>
            <a:ahLst/>
            <a:cxnLst/>
            <a:rect l="l" t="t" r="r" b="b"/>
            <a:pathLst>
              <a:path w="5746691" h="1711780" extrusionOk="0">
                <a:moveTo>
                  <a:pt x="0" y="0"/>
                </a:moveTo>
                <a:lnTo>
                  <a:pt x="5746691" y="0"/>
                </a:lnTo>
                <a:lnTo>
                  <a:pt x="5746691" y="1711780"/>
                </a:lnTo>
                <a:lnTo>
                  <a:pt x="0" y="1711780"/>
                </a:lnTo>
                <a:lnTo>
                  <a:pt x="0" y="0"/>
                </a:lnTo>
                <a:close/>
              </a:path>
            </a:pathLst>
          </a:custGeom>
          <a:blipFill rotWithShape="1">
            <a:blip r:embed="rId3">
              <a:alphaModFix/>
            </a:blip>
            <a:stretch>
              <a:fillRect/>
            </a:stretch>
          </a:blipFill>
          <a:ln>
            <a:noFill/>
          </a:ln>
        </p:spPr>
        <p:txBody>
          <a:bodyPr/>
          <a:lstStyle/>
          <a:p>
            <a:endParaRPr lang="es-GT"/>
          </a:p>
        </p:txBody>
      </p:sp>
      <p:sp>
        <p:nvSpPr>
          <p:cNvPr id="85" name="Google Shape;85;p1"/>
          <p:cNvSpPr txBox="1"/>
          <p:nvPr/>
        </p:nvSpPr>
        <p:spPr>
          <a:xfrm>
            <a:off x="1063303" y="6994239"/>
            <a:ext cx="5717400" cy="1847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5000"/>
              <a:buFont typeface="Arial"/>
              <a:buNone/>
            </a:pPr>
            <a:r>
              <a:rPr lang="en-US" sz="5000" b="1" i="0" u="none" strike="noStrike" cap="none">
                <a:solidFill>
                  <a:srgbClr val="131416"/>
                </a:solidFill>
                <a:latin typeface="Open Sans"/>
                <a:ea typeface="Open Sans"/>
                <a:cs typeface="Open Sans"/>
                <a:sym typeface="Open Sans"/>
              </a:rPr>
              <a:t>Análisis y Diseño de Sistemas 2 B</a:t>
            </a:r>
            <a:endParaRPr sz="5000" b="1" i="0" u="none" strike="noStrike" cap="none">
              <a:solidFill>
                <a:srgbClr val="131416"/>
              </a:solidFill>
              <a:latin typeface="Open Sans"/>
              <a:ea typeface="Open Sans"/>
              <a:cs typeface="Open Sans"/>
              <a:sym typeface="Open Sans"/>
            </a:endParaRPr>
          </a:p>
        </p:txBody>
      </p:sp>
      <p:sp>
        <p:nvSpPr>
          <p:cNvPr id="86" name="Google Shape;86;p1"/>
          <p:cNvSpPr txBox="1"/>
          <p:nvPr/>
        </p:nvSpPr>
        <p:spPr>
          <a:xfrm>
            <a:off x="2643905" y="3197949"/>
            <a:ext cx="12375000" cy="1416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9200"/>
              <a:buFont typeface="Arial"/>
              <a:buNone/>
            </a:pPr>
            <a:r>
              <a:rPr lang="en-US" sz="9200" b="1">
                <a:solidFill>
                  <a:srgbClr val="131416"/>
                </a:solidFill>
                <a:latin typeface="Open Sans"/>
                <a:ea typeface="Open Sans"/>
                <a:cs typeface="Open Sans"/>
                <a:sym typeface="Open Sans"/>
              </a:rPr>
              <a:t>Elementos de Diseño</a:t>
            </a:r>
            <a:endParaRPr sz="1400" b="0" i="0" u="none" strike="noStrike" cap="none">
              <a:solidFill>
                <a:srgbClr val="000000"/>
              </a:solidFill>
              <a:latin typeface="Arial"/>
              <a:ea typeface="Arial"/>
              <a:cs typeface="Arial"/>
              <a:sym typeface="Arial"/>
            </a:endParaRPr>
          </a:p>
        </p:txBody>
      </p:sp>
      <p:sp>
        <p:nvSpPr>
          <p:cNvPr id="87" name="Google Shape;87;p1"/>
          <p:cNvSpPr txBox="1"/>
          <p:nvPr/>
        </p:nvSpPr>
        <p:spPr>
          <a:xfrm>
            <a:off x="1063303" y="8745251"/>
            <a:ext cx="6981300" cy="384600"/>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n-US" sz="2499" b="1" i="0" u="none" strike="noStrike" cap="none">
                <a:solidFill>
                  <a:srgbClr val="131416"/>
                </a:solidFill>
                <a:latin typeface="Open Sans"/>
                <a:ea typeface="Open Sans"/>
                <a:cs typeface="Open Sans"/>
                <a:sym typeface="Open Sans"/>
              </a:rPr>
              <a:t>Escuela de </a:t>
            </a:r>
            <a:r>
              <a:rPr lang="en-US" sz="2499" b="1">
                <a:solidFill>
                  <a:srgbClr val="131416"/>
                </a:solidFill>
                <a:latin typeface="Open Sans"/>
                <a:ea typeface="Open Sans"/>
                <a:cs typeface="Open Sans"/>
                <a:sym typeface="Open Sans"/>
              </a:rPr>
              <a:t>Ingeniería</a:t>
            </a:r>
            <a:r>
              <a:rPr lang="en-US" sz="2499" b="1" i="0" u="none" strike="noStrike" cap="none">
                <a:solidFill>
                  <a:srgbClr val="131416"/>
                </a:solidFill>
                <a:latin typeface="Open Sans"/>
                <a:ea typeface="Open Sans"/>
                <a:cs typeface="Open Sans"/>
                <a:sym typeface="Open Sans"/>
              </a:rPr>
              <a:t> de Ciencias Y Sistemas</a:t>
            </a:r>
            <a:endParaRPr sz="2499" b="1" i="0" u="none" strike="noStrike" cap="none">
              <a:solidFill>
                <a:srgbClr val="131416"/>
              </a:solidFill>
              <a:latin typeface="Open Sans"/>
              <a:ea typeface="Open Sans"/>
              <a:cs typeface="Open Sans"/>
              <a:sym typeface="Open Sans"/>
            </a:endParaRPr>
          </a:p>
        </p:txBody>
      </p:sp>
      <p:sp>
        <p:nvSpPr>
          <p:cNvPr id="88" name="Google Shape;88;p1"/>
          <p:cNvSpPr txBox="1"/>
          <p:nvPr/>
        </p:nvSpPr>
        <p:spPr>
          <a:xfrm>
            <a:off x="1028700" y="9210675"/>
            <a:ext cx="6667500" cy="384600"/>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499"/>
              <a:buFont typeface="Arial"/>
              <a:buNone/>
            </a:pPr>
            <a:r>
              <a:rPr lang="en-US" sz="2499" b="1" i="0" u="none" strike="noStrike" cap="none">
                <a:solidFill>
                  <a:srgbClr val="131416"/>
                </a:solidFill>
                <a:latin typeface="Open Sans"/>
                <a:ea typeface="Open Sans"/>
                <a:cs typeface="Open Sans"/>
                <a:sym typeface="Open Sans"/>
              </a:rPr>
              <a:t>Facultad de </a:t>
            </a:r>
            <a:r>
              <a:rPr lang="en-US" sz="2499" b="1">
                <a:solidFill>
                  <a:srgbClr val="131416"/>
                </a:solidFill>
                <a:latin typeface="Open Sans"/>
                <a:ea typeface="Open Sans"/>
                <a:cs typeface="Open Sans"/>
                <a:sym typeface="Open Sans"/>
              </a:rPr>
              <a:t>Ingeniería</a:t>
            </a:r>
            <a:endParaRPr sz="2499" b="1" i="0" u="none" strike="noStrike" cap="none">
              <a:solidFill>
                <a:srgbClr val="131416"/>
              </a:solidFill>
              <a:latin typeface="Open Sans"/>
              <a:ea typeface="Open Sans"/>
              <a:cs typeface="Open Sans"/>
              <a:sym typeface="Open Sans"/>
            </a:endParaRPr>
          </a:p>
        </p:txBody>
      </p:sp>
      <p:sp>
        <p:nvSpPr>
          <p:cNvPr id="89" name="Google Shape;89;p1"/>
          <p:cNvSpPr txBox="1"/>
          <p:nvPr/>
        </p:nvSpPr>
        <p:spPr>
          <a:xfrm>
            <a:off x="228600" y="9588254"/>
            <a:ext cx="8115300" cy="41934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n-US" sz="2499" b="1" i="0" u="none" strike="noStrike" cap="none">
                <a:solidFill>
                  <a:srgbClr val="131416"/>
                </a:solidFill>
                <a:latin typeface="Open Sans"/>
                <a:ea typeface="Open Sans"/>
                <a:cs typeface="Open Sans"/>
                <a:sym typeface="Open Sans"/>
              </a:rPr>
              <a:t>Universidad de San Carlos de Guatemala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p:nvPr/>
        </p:nvSpPr>
        <p:spPr>
          <a:xfrm>
            <a:off x="1374889" y="654364"/>
            <a:ext cx="13991100" cy="938700"/>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n-US" sz="6098" b="0" i="0" u="none" strike="noStrike" cap="none">
                <a:solidFill>
                  <a:srgbClr val="131416"/>
                </a:solidFill>
                <a:latin typeface="Impact"/>
                <a:ea typeface="Impact"/>
                <a:cs typeface="Impact"/>
                <a:sym typeface="Impact"/>
              </a:rPr>
              <a:t>COMPETENCIA(S) QUE DESARROLLAREMOS</a:t>
            </a:r>
            <a:endParaRPr sz="1400" b="0" i="0" u="none" strike="noStrike" cap="none">
              <a:solidFill>
                <a:srgbClr val="000000"/>
              </a:solidFill>
              <a:latin typeface="Impact"/>
              <a:ea typeface="Impact"/>
              <a:cs typeface="Impact"/>
              <a:sym typeface="Impact"/>
            </a:endParaRPr>
          </a:p>
        </p:txBody>
      </p:sp>
      <p:graphicFrame>
        <p:nvGraphicFramePr>
          <p:cNvPr id="2" name="Tabla 1">
            <a:extLst>
              <a:ext uri="{FF2B5EF4-FFF2-40B4-BE49-F238E27FC236}">
                <a16:creationId xmlns:a16="http://schemas.microsoft.com/office/drawing/2014/main" id="{83F6825A-31E5-D0B3-EF89-A8FA72FF5E1C}"/>
              </a:ext>
            </a:extLst>
          </p:cNvPr>
          <p:cNvGraphicFramePr>
            <a:graphicFrameLocks noGrp="1"/>
          </p:cNvGraphicFramePr>
          <p:nvPr>
            <p:extLst>
              <p:ext uri="{D42A27DB-BD31-4B8C-83A1-F6EECF244321}">
                <p14:modId xmlns:p14="http://schemas.microsoft.com/office/powerpoint/2010/main" val="590132469"/>
              </p:ext>
            </p:extLst>
          </p:nvPr>
        </p:nvGraphicFramePr>
        <p:xfrm>
          <a:off x="1656441" y="3342481"/>
          <a:ext cx="14165943" cy="1590040"/>
        </p:xfrm>
        <a:graphic>
          <a:graphicData uri="http://schemas.openxmlformats.org/drawingml/2006/table">
            <a:tbl>
              <a:tblPr>
                <a:tableStyleId>{8233C58A-1E8B-42C3-A2A9-D1031FCFD34D}</a:tableStyleId>
              </a:tblPr>
              <a:tblGrid>
                <a:gridCol w="14165943">
                  <a:extLst>
                    <a:ext uri="{9D8B030D-6E8A-4147-A177-3AD203B41FA5}">
                      <a16:colId xmlns:a16="http://schemas.microsoft.com/office/drawing/2014/main" val="2864600296"/>
                    </a:ext>
                  </a:extLst>
                </a:gridCol>
              </a:tblGrid>
              <a:tr h="266700">
                <a:tc>
                  <a:txBody>
                    <a:bodyPr/>
                    <a:lstStyle/>
                    <a:p>
                      <a:pPr>
                        <a:buNone/>
                      </a:pPr>
                      <a:r>
                        <a:rPr lang="es-ES" sz="3200" dirty="0">
                          <a:effectLst/>
                        </a:rPr>
                        <a:t>Analiza patrones de diseño de comportamiento, reconociendo sus estructuras, propósito y ventajas, para aplicarlos en la construcción de sistemas con interacciones dinámicas y desacopladas.</a:t>
                      </a:r>
                      <a:endParaRPr lang="es-GT" sz="3200" dirty="0">
                        <a:effectLst/>
                        <a:latin typeface="Libre Franklin Medium" pitchFamily="2" charset="0"/>
                        <a:ea typeface="Libre Franklin Medium" pitchFamily="2" charset="0"/>
                        <a:cs typeface="Libre Franklin Medium" pitchFamily="2" charset="0"/>
                      </a:endParaRPr>
                    </a:p>
                  </a:txBody>
                  <a:tcPr marL="63500" marR="63500" marT="63500" marB="63500"/>
                </a:tc>
                <a:extLst>
                  <a:ext uri="{0D108BD9-81ED-4DB2-BD59-A6C34878D82A}">
                    <a16:rowId xmlns:a16="http://schemas.microsoft.com/office/drawing/2014/main" val="267714143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4"/>
          <p:cNvSpPr txBox="1"/>
          <p:nvPr/>
        </p:nvSpPr>
        <p:spPr>
          <a:xfrm>
            <a:off x="1374889" y="3027816"/>
            <a:ext cx="12625499" cy="783443"/>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n-US" sz="3925" b="0" i="0" u="none" strike="noStrike" cap="none">
                <a:solidFill>
                  <a:srgbClr val="131416"/>
                </a:solidFill>
                <a:latin typeface="Arial"/>
                <a:ea typeface="Arial"/>
                <a:cs typeface="Arial"/>
                <a:sym typeface="Arial"/>
              </a:rPr>
              <a:t>Parte teórica que se requiera  (conocimiento)</a:t>
            </a:r>
            <a:endParaRPr sz="1400" b="0" i="0" u="none" strike="noStrike" cap="none">
              <a:solidFill>
                <a:srgbClr val="000000"/>
              </a:solidFill>
              <a:latin typeface="Arial"/>
              <a:ea typeface="Arial"/>
              <a:cs typeface="Arial"/>
              <a:sym typeface="Arial"/>
            </a:endParaRPr>
          </a:p>
        </p:txBody>
      </p:sp>
      <p:sp>
        <p:nvSpPr>
          <p:cNvPr id="101" name="Google Shape;101;p4"/>
          <p:cNvSpPr txBox="1"/>
          <p:nvPr/>
        </p:nvSpPr>
        <p:spPr>
          <a:xfrm>
            <a:off x="1374889" y="654364"/>
            <a:ext cx="13991100" cy="938700"/>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n-US" sz="6098" b="0" i="0" u="none" strike="noStrike" cap="none">
                <a:solidFill>
                  <a:srgbClr val="131416"/>
                </a:solidFill>
                <a:latin typeface="Impact"/>
                <a:ea typeface="Impact"/>
                <a:cs typeface="Impact"/>
                <a:sym typeface="Impact"/>
              </a:rPr>
              <a:t>CONTENIDO</a:t>
            </a:r>
            <a:endParaRPr sz="1400" b="0" i="0" u="none" strike="noStrike" cap="none">
              <a:solidFill>
                <a:srgbClr val="000000"/>
              </a:solidFill>
              <a:latin typeface="Impact"/>
              <a:ea typeface="Impact"/>
              <a:cs typeface="Impact"/>
              <a:sym typeface="Impact"/>
            </a:endParaRPr>
          </a:p>
        </p:txBody>
      </p:sp>
      <p:sp>
        <p:nvSpPr>
          <p:cNvPr id="102" name="Google Shape;102;p4"/>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a:p>
        </p:txBody>
      </p:sp>
      <p:sp>
        <p:nvSpPr>
          <p:cNvPr id="103" name="Google Shape;103;p4"/>
          <p:cNvSpPr txBox="1"/>
          <p:nvPr/>
        </p:nvSpPr>
        <p:spPr>
          <a:xfrm>
            <a:off x="14141311" y="6442453"/>
            <a:ext cx="3238236" cy="2815847"/>
          </a:xfrm>
          <a:prstGeom prst="rect">
            <a:avLst/>
          </a:prstGeom>
          <a:noFill/>
          <a:ln>
            <a:noFill/>
          </a:ln>
        </p:spPr>
        <p:txBody>
          <a:bodyPr spcFirstLastPara="1" wrap="square" lIns="0" tIns="0" rIns="0" bIns="0" anchor="t" anchorCtr="0">
            <a:spAutoFit/>
          </a:bodyPr>
          <a:lstStyle/>
          <a:p>
            <a:pPr marL="0" marR="0" lvl="0" indent="0" algn="l" rtl="0">
              <a:lnSpc>
                <a:spcPct val="140019"/>
              </a:lnSpc>
              <a:spcBef>
                <a:spcPts val="0"/>
              </a:spcBef>
              <a:spcAft>
                <a:spcPts val="0"/>
              </a:spcAft>
              <a:buClr>
                <a:srgbClr val="000000"/>
              </a:buClr>
              <a:buSzPts val="2014"/>
              <a:buFont typeface="Arial"/>
              <a:buNone/>
            </a:pPr>
            <a:r>
              <a:rPr lang="en-US" sz="2014" b="0" i="0" u="none" strike="noStrike" cap="none">
                <a:solidFill>
                  <a:srgbClr val="131416"/>
                </a:solidFill>
                <a:latin typeface="Open Sans"/>
                <a:ea typeface="Open Sans"/>
                <a:cs typeface="Open Sans"/>
                <a:sym typeface="Open Sans"/>
              </a:rPr>
              <a:t>Queda a tu discreción de donde te guías para generar el contenido que agregaras(libros, paginas web, etc. que fundamente teóricamente los temas que estas exponiendo a los compañeros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07"/>
        <p:cNvGrpSpPr/>
        <p:nvPr/>
      </p:nvGrpSpPr>
      <p:grpSpPr>
        <a:xfrm>
          <a:off x="0" y="0"/>
          <a:ext cx="0" cy="0"/>
          <a:chOff x="0" y="0"/>
          <a:chExt cx="0" cy="0"/>
        </a:xfrm>
      </p:grpSpPr>
      <p:graphicFrame>
        <p:nvGraphicFramePr>
          <p:cNvPr id="108" name="Google Shape;108;g35f194d6067_0_2"/>
          <p:cNvGraphicFramePr/>
          <p:nvPr/>
        </p:nvGraphicFramePr>
        <p:xfrm>
          <a:off x="6116951" y="4739298"/>
          <a:ext cx="3000000" cy="3000000"/>
        </p:xfrm>
        <a:graphic>
          <a:graphicData uri="http://schemas.openxmlformats.org/drawingml/2006/table">
            <a:tbl>
              <a:tblPr>
                <a:noFill/>
                <a:tableStyleId>{8233C58A-1E8B-42C3-A2A9-D1031FCFD34D}</a:tableStyleId>
              </a:tblPr>
              <a:tblGrid>
                <a:gridCol w="963725">
                  <a:extLst>
                    <a:ext uri="{9D8B030D-6E8A-4147-A177-3AD203B41FA5}">
                      <a16:colId xmlns:a16="http://schemas.microsoft.com/office/drawing/2014/main" val="20000"/>
                    </a:ext>
                  </a:extLst>
                </a:gridCol>
                <a:gridCol w="5090475">
                  <a:extLst>
                    <a:ext uri="{9D8B030D-6E8A-4147-A177-3AD203B41FA5}">
                      <a16:colId xmlns:a16="http://schemas.microsoft.com/office/drawing/2014/main" val="20001"/>
                    </a:ext>
                  </a:extLst>
                </a:gridCol>
              </a:tblGrid>
              <a:tr h="956900">
                <a:tc>
                  <a:txBody>
                    <a:bodyPr/>
                    <a:lstStyle/>
                    <a:p>
                      <a:pPr marL="0" marR="0" lvl="0" indent="0" algn="ctr" rtl="0">
                        <a:lnSpc>
                          <a:spcPct val="140000"/>
                        </a:lnSpc>
                        <a:spcBef>
                          <a:spcPts val="0"/>
                        </a:spcBef>
                        <a:spcAft>
                          <a:spcPts val="0"/>
                        </a:spcAft>
                        <a:buClr>
                          <a:srgbClr val="000000"/>
                        </a:buClr>
                        <a:buSzPts val="2000"/>
                        <a:buFont typeface="Arial"/>
                        <a:buNone/>
                      </a:pPr>
                      <a:r>
                        <a:rPr lang="en-US" sz="2000" b="1" u="none" strike="noStrike" cap="none">
                          <a:solidFill>
                            <a:srgbClr val="FDFDFD"/>
                          </a:solidFill>
                          <a:latin typeface="Poppins"/>
                          <a:ea typeface="Poppins"/>
                          <a:cs typeface="Poppins"/>
                          <a:sym typeface="Poppins"/>
                        </a:rPr>
                        <a:t>1</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solidFill>
                      <a:srgbClr val="013362"/>
                    </a:solidFill>
                  </a:tcPr>
                </a:tc>
                <a:tc>
                  <a:txBody>
                    <a:bodyPr/>
                    <a:lstStyle/>
                    <a:p>
                      <a:pPr marL="0" marR="0" lvl="0" indent="0" algn="l" rtl="0">
                        <a:lnSpc>
                          <a:spcPct val="140000"/>
                        </a:lnSpc>
                        <a:spcBef>
                          <a:spcPts val="0"/>
                        </a:spcBef>
                        <a:spcAft>
                          <a:spcPts val="0"/>
                        </a:spcAft>
                        <a:buClr>
                          <a:srgbClr val="000000"/>
                        </a:buClr>
                        <a:buSzPts val="2000"/>
                        <a:buFont typeface="Arial"/>
                        <a:buNone/>
                      </a:pPr>
                      <a:r>
                        <a:rPr lang="en-US" sz="2000" u="none" strike="noStrike" cap="none">
                          <a:solidFill>
                            <a:srgbClr val="013362"/>
                          </a:solidFill>
                          <a:latin typeface="Poppins"/>
                          <a:ea typeface="Poppins"/>
                          <a:cs typeface="Poppins"/>
                          <a:sym typeface="Poppins"/>
                        </a:rPr>
                        <a:t>Avisos</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tcPr>
                </a:tc>
                <a:extLst>
                  <a:ext uri="{0D108BD9-81ED-4DB2-BD59-A6C34878D82A}">
                    <a16:rowId xmlns:a16="http://schemas.microsoft.com/office/drawing/2014/main" val="10000"/>
                  </a:ext>
                </a:extLst>
              </a:tr>
              <a:tr h="956900">
                <a:tc>
                  <a:txBody>
                    <a:bodyPr/>
                    <a:lstStyle/>
                    <a:p>
                      <a:pPr marL="0" marR="0" lvl="0" indent="0" algn="ctr" rtl="0">
                        <a:lnSpc>
                          <a:spcPct val="140000"/>
                        </a:lnSpc>
                        <a:spcBef>
                          <a:spcPts val="0"/>
                        </a:spcBef>
                        <a:spcAft>
                          <a:spcPts val="0"/>
                        </a:spcAft>
                        <a:buNone/>
                      </a:pPr>
                      <a:r>
                        <a:rPr lang="en-US" sz="2000" b="1">
                          <a:solidFill>
                            <a:srgbClr val="FDFDFD"/>
                          </a:solidFill>
                          <a:latin typeface="Poppins"/>
                          <a:ea typeface="Poppins"/>
                          <a:cs typeface="Poppins"/>
                          <a:sym typeface="Poppins"/>
                        </a:rPr>
                        <a:t>2</a:t>
                      </a:r>
                      <a:endParaRPr sz="2000" b="1" u="none" strike="noStrike" cap="none">
                        <a:solidFill>
                          <a:srgbClr val="FDFDFD"/>
                        </a:solidFill>
                        <a:latin typeface="Poppins"/>
                        <a:ea typeface="Poppins"/>
                        <a:cs typeface="Poppins"/>
                        <a:sym typeface="Poppins"/>
                      </a:endParaRPr>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solidFill>
                      <a:srgbClr val="013362"/>
                    </a:solidFill>
                  </a:tcPr>
                </a:tc>
                <a:tc>
                  <a:txBody>
                    <a:bodyPr/>
                    <a:lstStyle/>
                    <a:p>
                      <a:pPr marL="0" marR="0" lvl="0" indent="0" algn="l" rtl="0">
                        <a:lnSpc>
                          <a:spcPct val="140000"/>
                        </a:lnSpc>
                        <a:spcBef>
                          <a:spcPts val="0"/>
                        </a:spcBef>
                        <a:spcAft>
                          <a:spcPts val="0"/>
                        </a:spcAft>
                        <a:buNone/>
                      </a:pPr>
                      <a:r>
                        <a:rPr lang="en-US" sz="2000">
                          <a:solidFill>
                            <a:srgbClr val="013362"/>
                          </a:solidFill>
                          <a:latin typeface="Poppins"/>
                          <a:ea typeface="Poppins"/>
                          <a:cs typeface="Poppins"/>
                          <a:sym typeface="Poppins"/>
                        </a:rPr>
                        <a:t>Lectura de Fase 1</a:t>
                      </a:r>
                      <a:endParaRPr sz="2000" u="none" strike="noStrike" cap="none">
                        <a:solidFill>
                          <a:srgbClr val="013362"/>
                        </a:solidFill>
                        <a:latin typeface="Poppins"/>
                        <a:ea typeface="Poppins"/>
                        <a:cs typeface="Poppins"/>
                        <a:sym typeface="Poppins"/>
                      </a:endParaRPr>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tcPr>
                </a:tc>
                <a:extLst>
                  <a:ext uri="{0D108BD9-81ED-4DB2-BD59-A6C34878D82A}">
                    <a16:rowId xmlns:a16="http://schemas.microsoft.com/office/drawing/2014/main" val="10001"/>
                  </a:ext>
                </a:extLst>
              </a:tr>
              <a:tr h="956900">
                <a:tc>
                  <a:txBody>
                    <a:bodyPr/>
                    <a:lstStyle/>
                    <a:p>
                      <a:pPr marL="0" marR="0" lvl="0" indent="0" algn="ctr" rtl="0">
                        <a:lnSpc>
                          <a:spcPct val="140000"/>
                        </a:lnSpc>
                        <a:spcBef>
                          <a:spcPts val="0"/>
                        </a:spcBef>
                        <a:spcAft>
                          <a:spcPts val="0"/>
                        </a:spcAft>
                        <a:buClr>
                          <a:srgbClr val="000000"/>
                        </a:buClr>
                        <a:buSzPts val="2000"/>
                        <a:buFont typeface="Arial"/>
                        <a:buNone/>
                      </a:pPr>
                      <a:r>
                        <a:rPr lang="en-US" sz="2000" b="1">
                          <a:solidFill>
                            <a:srgbClr val="FDFDFD"/>
                          </a:solidFill>
                          <a:latin typeface="Poppins"/>
                          <a:ea typeface="Poppins"/>
                          <a:cs typeface="Poppins"/>
                          <a:sym typeface="Poppins"/>
                        </a:rPr>
                        <a:t>3</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solidFill>
                      <a:srgbClr val="013362"/>
                    </a:solidFill>
                  </a:tcPr>
                </a:tc>
                <a:tc>
                  <a:txBody>
                    <a:bodyPr/>
                    <a:lstStyle/>
                    <a:p>
                      <a:pPr marL="0" marR="0" lvl="0" indent="0" algn="l" rtl="0">
                        <a:lnSpc>
                          <a:spcPct val="140000"/>
                        </a:lnSpc>
                        <a:spcBef>
                          <a:spcPts val="0"/>
                        </a:spcBef>
                        <a:spcAft>
                          <a:spcPts val="0"/>
                        </a:spcAft>
                        <a:buClr>
                          <a:srgbClr val="000000"/>
                        </a:buClr>
                        <a:buSzPts val="2000"/>
                        <a:buFont typeface="Arial"/>
                        <a:buNone/>
                      </a:pPr>
                      <a:r>
                        <a:rPr lang="en-US" sz="2000" u="none" strike="noStrike" cap="none">
                          <a:solidFill>
                            <a:srgbClr val="013362"/>
                          </a:solidFill>
                          <a:latin typeface="Poppins"/>
                          <a:ea typeface="Poppins"/>
                          <a:cs typeface="Poppins"/>
                          <a:sym typeface="Poppins"/>
                        </a:rPr>
                        <a:t>Ejemplo Práctico patrones de diseño estructurales</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tcPr>
                </a:tc>
                <a:extLst>
                  <a:ext uri="{0D108BD9-81ED-4DB2-BD59-A6C34878D82A}">
                    <a16:rowId xmlns:a16="http://schemas.microsoft.com/office/drawing/2014/main" val="10002"/>
                  </a:ext>
                </a:extLst>
              </a:tr>
              <a:tr h="956900">
                <a:tc>
                  <a:txBody>
                    <a:bodyPr/>
                    <a:lstStyle/>
                    <a:p>
                      <a:pPr marL="0" marR="0" lvl="0" indent="0" algn="ctr" rtl="0">
                        <a:lnSpc>
                          <a:spcPct val="140000"/>
                        </a:lnSpc>
                        <a:spcBef>
                          <a:spcPts val="0"/>
                        </a:spcBef>
                        <a:spcAft>
                          <a:spcPts val="0"/>
                        </a:spcAft>
                        <a:buClr>
                          <a:srgbClr val="000000"/>
                        </a:buClr>
                        <a:buSzPts val="2000"/>
                        <a:buFont typeface="Arial"/>
                        <a:buNone/>
                      </a:pPr>
                      <a:r>
                        <a:rPr lang="en-US" sz="2000" b="1">
                          <a:solidFill>
                            <a:srgbClr val="FDFDFD"/>
                          </a:solidFill>
                          <a:latin typeface="Poppins"/>
                          <a:ea typeface="Poppins"/>
                          <a:cs typeface="Poppins"/>
                          <a:sym typeface="Poppins"/>
                        </a:rPr>
                        <a:t>4</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solidFill>
                      <a:srgbClr val="013362"/>
                    </a:solidFill>
                  </a:tcPr>
                </a:tc>
                <a:tc>
                  <a:txBody>
                    <a:bodyPr/>
                    <a:lstStyle/>
                    <a:p>
                      <a:pPr marL="0" marR="0" lvl="0" indent="0" algn="l" rtl="0">
                        <a:lnSpc>
                          <a:spcPct val="140000"/>
                        </a:lnSpc>
                        <a:spcBef>
                          <a:spcPts val="0"/>
                        </a:spcBef>
                        <a:spcAft>
                          <a:spcPts val="0"/>
                        </a:spcAft>
                        <a:buClr>
                          <a:schemeClr val="dk1"/>
                        </a:buClr>
                        <a:buSzPts val="2000"/>
                        <a:buFont typeface="Arial"/>
                        <a:buNone/>
                      </a:pPr>
                      <a:r>
                        <a:rPr lang="en-US" sz="2000" u="none" strike="noStrike" cap="none">
                          <a:solidFill>
                            <a:srgbClr val="013362"/>
                          </a:solidFill>
                          <a:latin typeface="Poppins"/>
                          <a:ea typeface="Poppins"/>
                          <a:cs typeface="Poppins"/>
                          <a:sym typeface="Poppins"/>
                        </a:rPr>
                        <a:t>Teoría Patrones de diseño de comportamiento</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tcPr>
                </a:tc>
                <a:extLst>
                  <a:ext uri="{0D108BD9-81ED-4DB2-BD59-A6C34878D82A}">
                    <a16:rowId xmlns:a16="http://schemas.microsoft.com/office/drawing/2014/main" val="10003"/>
                  </a:ext>
                </a:extLst>
              </a:tr>
              <a:tr h="956900">
                <a:tc>
                  <a:txBody>
                    <a:bodyPr/>
                    <a:lstStyle/>
                    <a:p>
                      <a:pPr marL="0" marR="0" lvl="0" indent="0" algn="ctr" rtl="0">
                        <a:lnSpc>
                          <a:spcPct val="140000"/>
                        </a:lnSpc>
                        <a:spcBef>
                          <a:spcPts val="0"/>
                        </a:spcBef>
                        <a:spcAft>
                          <a:spcPts val="0"/>
                        </a:spcAft>
                        <a:buClr>
                          <a:srgbClr val="000000"/>
                        </a:buClr>
                        <a:buSzPts val="2000"/>
                        <a:buFont typeface="Arial"/>
                        <a:buNone/>
                      </a:pPr>
                      <a:r>
                        <a:rPr lang="en-US" sz="2000" b="1">
                          <a:solidFill>
                            <a:srgbClr val="FDFDFD"/>
                          </a:solidFill>
                          <a:latin typeface="Poppins"/>
                          <a:ea typeface="Poppins"/>
                          <a:cs typeface="Poppins"/>
                          <a:sym typeface="Poppins"/>
                        </a:rPr>
                        <a:t>5</a:t>
                      </a:r>
                      <a:endParaRPr sz="2000" b="1" u="none" strike="noStrike" cap="none">
                        <a:solidFill>
                          <a:srgbClr val="FDFDFD"/>
                        </a:solidFill>
                        <a:latin typeface="Poppins"/>
                        <a:ea typeface="Poppins"/>
                        <a:cs typeface="Poppins"/>
                        <a:sym typeface="Poppins"/>
                      </a:endParaRPr>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solidFill>
                      <a:srgbClr val="013362"/>
                    </a:solidFill>
                  </a:tcPr>
                </a:tc>
                <a:tc>
                  <a:txBody>
                    <a:bodyPr/>
                    <a:lstStyle/>
                    <a:p>
                      <a:pPr marL="0" marR="0" lvl="0" indent="0" algn="l" rtl="0">
                        <a:lnSpc>
                          <a:spcPct val="140000"/>
                        </a:lnSpc>
                        <a:spcBef>
                          <a:spcPts val="0"/>
                        </a:spcBef>
                        <a:spcAft>
                          <a:spcPts val="0"/>
                        </a:spcAft>
                        <a:buClr>
                          <a:schemeClr val="dk1"/>
                        </a:buClr>
                        <a:buSzPts val="2000"/>
                        <a:buFont typeface="Arial"/>
                        <a:buNone/>
                      </a:pPr>
                      <a:r>
                        <a:rPr lang="en-US" sz="2000" u="none" strike="noStrike" cap="none">
                          <a:solidFill>
                            <a:srgbClr val="013362"/>
                          </a:solidFill>
                          <a:latin typeface="Poppins"/>
                          <a:ea typeface="Poppins"/>
                          <a:cs typeface="Poppins"/>
                          <a:sym typeface="Poppins"/>
                        </a:rPr>
                        <a:t>Ejemplo Práctico de Patrones de diseño de comportamiento</a:t>
                      </a:r>
                      <a:endParaRPr sz="2000" u="none" strike="noStrike" cap="none">
                        <a:solidFill>
                          <a:srgbClr val="013362"/>
                        </a:solidFill>
                        <a:latin typeface="Poppins"/>
                        <a:ea typeface="Poppins"/>
                        <a:cs typeface="Poppins"/>
                        <a:sym typeface="Poppins"/>
                      </a:endParaRPr>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109" name="Google Shape;109;g35f194d6067_0_2"/>
          <p:cNvGrpSpPr/>
          <p:nvPr/>
        </p:nvGrpSpPr>
        <p:grpSpPr>
          <a:xfrm>
            <a:off x="-584626" y="1589619"/>
            <a:ext cx="19457594" cy="2036657"/>
            <a:chOff x="0" y="-76200"/>
            <a:chExt cx="5124600" cy="536400"/>
          </a:xfrm>
        </p:grpSpPr>
        <p:sp>
          <p:nvSpPr>
            <p:cNvPr id="110" name="Google Shape;110;g35f194d6067_0_2"/>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11" name="Google Shape;111;g35f194d6067_0_2"/>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12" name="Google Shape;112;g35f194d6067_0_2"/>
          <p:cNvSpPr/>
          <p:nvPr/>
        </p:nvSpPr>
        <p:spPr>
          <a:xfrm>
            <a:off x="592309" y="8986439"/>
            <a:ext cx="2658272" cy="1329136"/>
          </a:xfrm>
          <a:custGeom>
            <a:avLst/>
            <a:gdLst/>
            <a:ahLst/>
            <a:cxnLst/>
            <a:rect l="l" t="t" r="r" b="b"/>
            <a:pathLst>
              <a:path w="2658272" h="1329136" extrusionOk="0">
                <a:moveTo>
                  <a:pt x="0" y="0"/>
                </a:moveTo>
                <a:lnTo>
                  <a:pt x="2658272" y="0"/>
                </a:lnTo>
                <a:lnTo>
                  <a:pt x="2658272" y="1329136"/>
                </a:lnTo>
                <a:lnTo>
                  <a:pt x="0" y="1329136"/>
                </a:lnTo>
                <a:lnTo>
                  <a:pt x="0" y="0"/>
                </a:lnTo>
                <a:close/>
              </a:path>
            </a:pathLst>
          </a:custGeom>
          <a:blipFill rotWithShape="1">
            <a:blip r:embed="rId3">
              <a:alphaModFix/>
            </a:blip>
            <a:stretch>
              <a:fillRect/>
            </a:stretch>
          </a:blipFill>
          <a:ln>
            <a:noFill/>
          </a:ln>
        </p:spPr>
        <p:txBody>
          <a:bodyPr/>
          <a:lstStyle/>
          <a:p>
            <a:endParaRPr lang="es-GT"/>
          </a:p>
        </p:txBody>
      </p:sp>
      <p:sp>
        <p:nvSpPr>
          <p:cNvPr id="113" name="Google Shape;113;g35f194d6067_0_2"/>
          <p:cNvSpPr txBox="1"/>
          <p:nvPr/>
        </p:nvSpPr>
        <p:spPr>
          <a:xfrm>
            <a:off x="5939974" y="1861823"/>
            <a:ext cx="6408000" cy="1627800"/>
          </a:xfrm>
          <a:prstGeom prst="rect">
            <a:avLst/>
          </a:prstGeom>
          <a:noFill/>
          <a:ln>
            <a:noFill/>
          </a:ln>
        </p:spPr>
        <p:txBody>
          <a:bodyPr spcFirstLastPara="1" wrap="square" lIns="0" tIns="0" rIns="0" bIns="0" anchor="t" anchorCtr="0">
            <a:spAutoFit/>
          </a:bodyPr>
          <a:lstStyle/>
          <a:p>
            <a:pPr marL="0" marR="0" lvl="0" indent="0" algn="ctr" rtl="0">
              <a:lnSpc>
                <a:spcPct val="119998"/>
              </a:lnSpc>
              <a:spcBef>
                <a:spcPts val="0"/>
              </a:spcBef>
              <a:spcAft>
                <a:spcPts val="0"/>
              </a:spcAft>
              <a:buClr>
                <a:srgbClr val="000000"/>
              </a:buClr>
              <a:buSzPts val="10576"/>
              <a:buFont typeface="Arial"/>
              <a:buNone/>
            </a:pPr>
            <a:r>
              <a:rPr lang="en-US" sz="10576" b="0" i="0" u="none" strike="noStrike" cap="none">
                <a:solidFill>
                  <a:srgbClr val="FDFDFD"/>
                </a:solidFill>
                <a:latin typeface="Poppins Black"/>
                <a:ea typeface="Poppins Black"/>
                <a:cs typeface="Poppins Black"/>
                <a:sym typeface="Poppins Black"/>
              </a:rPr>
              <a:t>AGENDA</a:t>
            </a:r>
            <a:endParaRPr sz="1400" b="0" i="0" u="none" strike="noStrike" cap="none">
              <a:solidFill>
                <a:srgbClr val="000000"/>
              </a:solidFill>
              <a:latin typeface="Arial"/>
              <a:ea typeface="Arial"/>
              <a:cs typeface="Arial"/>
              <a:sym typeface="Arial"/>
            </a:endParaRPr>
          </a:p>
        </p:txBody>
      </p:sp>
      <p:sp>
        <p:nvSpPr>
          <p:cNvPr id="114" name="Google Shape;114;g35f194d6067_0_2"/>
          <p:cNvSpPr/>
          <p:nvPr/>
        </p:nvSpPr>
        <p:spPr>
          <a:xfrm rot="10800000">
            <a:off x="14838633" y="0"/>
            <a:ext cx="2658272" cy="1329136"/>
          </a:xfrm>
          <a:custGeom>
            <a:avLst/>
            <a:gdLst/>
            <a:ahLst/>
            <a:cxnLst/>
            <a:rect l="l" t="t" r="r" b="b"/>
            <a:pathLst>
              <a:path w="2658272" h="1329136" extrusionOk="0">
                <a:moveTo>
                  <a:pt x="0" y="0"/>
                </a:moveTo>
                <a:lnTo>
                  <a:pt x="2658272" y="0"/>
                </a:lnTo>
                <a:lnTo>
                  <a:pt x="2658272" y="1329136"/>
                </a:lnTo>
                <a:lnTo>
                  <a:pt x="0" y="1329136"/>
                </a:lnTo>
                <a:lnTo>
                  <a:pt x="0" y="0"/>
                </a:lnTo>
                <a:close/>
              </a:path>
            </a:pathLst>
          </a:custGeom>
          <a:blipFill rotWithShape="1">
            <a:blip r:embed="rId3">
              <a:alphaModFix/>
            </a:blip>
            <a:stretch>
              <a:fillRect/>
            </a:stretch>
          </a:blipFill>
          <a:ln>
            <a:noFill/>
          </a:ln>
        </p:spPr>
        <p:txBody>
          <a:bodyPr/>
          <a:lstStyle/>
          <a:p>
            <a:endParaRPr lang="es-G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18"/>
        <p:cNvGrpSpPr/>
        <p:nvPr/>
      </p:nvGrpSpPr>
      <p:grpSpPr>
        <a:xfrm>
          <a:off x="0" y="0"/>
          <a:ext cx="0" cy="0"/>
          <a:chOff x="0" y="0"/>
          <a:chExt cx="0" cy="0"/>
        </a:xfrm>
      </p:grpSpPr>
      <p:grpSp>
        <p:nvGrpSpPr>
          <p:cNvPr id="119" name="Google Shape;119;g35f194d6067_0_12"/>
          <p:cNvGrpSpPr/>
          <p:nvPr/>
        </p:nvGrpSpPr>
        <p:grpSpPr>
          <a:xfrm>
            <a:off x="-584800" y="2996050"/>
            <a:ext cx="19457594" cy="4294901"/>
            <a:chOff x="0" y="-76200"/>
            <a:chExt cx="5124600" cy="536400"/>
          </a:xfrm>
        </p:grpSpPr>
        <p:sp>
          <p:nvSpPr>
            <p:cNvPr id="120" name="Google Shape;120;g35f194d6067_0_12"/>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21" name="Google Shape;121;g35f194d6067_0_12"/>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22" name="Google Shape;122;g35f194d6067_0_12"/>
          <p:cNvSpPr txBox="1"/>
          <p:nvPr/>
        </p:nvSpPr>
        <p:spPr>
          <a:xfrm>
            <a:off x="1360046" y="3883239"/>
            <a:ext cx="15089400" cy="34077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i="0" u="none" strike="noStrike" cap="none">
                <a:solidFill>
                  <a:srgbClr val="FDFDFD"/>
                </a:solidFill>
                <a:latin typeface="Poppins"/>
                <a:ea typeface="Poppins"/>
                <a:cs typeface="Poppins"/>
                <a:sym typeface="Poppins"/>
              </a:rPr>
              <a:t>Patrones de diseño de comportamiento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26"/>
        <p:cNvGrpSpPr/>
        <p:nvPr/>
      </p:nvGrpSpPr>
      <p:grpSpPr>
        <a:xfrm>
          <a:off x="0" y="0"/>
          <a:ext cx="0" cy="0"/>
          <a:chOff x="0" y="0"/>
          <a:chExt cx="0" cy="0"/>
        </a:xfrm>
      </p:grpSpPr>
      <p:grpSp>
        <p:nvGrpSpPr>
          <p:cNvPr id="127" name="Google Shape;127;g35f194d6067_0_19"/>
          <p:cNvGrpSpPr/>
          <p:nvPr/>
        </p:nvGrpSpPr>
        <p:grpSpPr>
          <a:xfrm>
            <a:off x="-584626" y="564525"/>
            <a:ext cx="19457594" cy="2036657"/>
            <a:chOff x="0" y="-76200"/>
            <a:chExt cx="5124600" cy="536400"/>
          </a:xfrm>
        </p:grpSpPr>
        <p:sp>
          <p:nvSpPr>
            <p:cNvPr id="128" name="Google Shape;128;g35f194d6067_0_19"/>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29" name="Google Shape;129;g35f194d6067_0_19"/>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30" name="Google Shape;130;g35f194d6067_0_19"/>
          <p:cNvSpPr txBox="1"/>
          <p:nvPr/>
        </p:nvSpPr>
        <p:spPr>
          <a:xfrm>
            <a:off x="-388750" y="773275"/>
            <a:ext cx="18753300" cy="14199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i="0" u="none" strike="noStrike" cap="none">
                <a:solidFill>
                  <a:srgbClr val="FDFDFD"/>
                </a:solidFill>
                <a:latin typeface="Poppins"/>
                <a:ea typeface="Poppins"/>
                <a:cs typeface="Poppins"/>
                <a:sym typeface="Poppins"/>
              </a:rPr>
              <a:t>Patrones de comportamiento</a:t>
            </a:r>
            <a:endParaRPr sz="1400" b="0" i="0" u="none" strike="noStrike" cap="none">
              <a:solidFill>
                <a:srgbClr val="000000"/>
              </a:solidFill>
              <a:latin typeface="Arial"/>
              <a:ea typeface="Arial"/>
              <a:cs typeface="Arial"/>
              <a:sym typeface="Arial"/>
            </a:endParaRPr>
          </a:p>
        </p:txBody>
      </p:sp>
      <p:sp>
        <p:nvSpPr>
          <p:cNvPr id="131" name="Google Shape;131;g35f194d6067_0_19"/>
          <p:cNvSpPr txBox="1"/>
          <p:nvPr/>
        </p:nvSpPr>
        <p:spPr>
          <a:xfrm>
            <a:off x="1028700" y="2969245"/>
            <a:ext cx="16230600" cy="1094700"/>
          </a:xfrm>
          <a:prstGeom prst="rect">
            <a:avLst/>
          </a:prstGeom>
          <a:noFill/>
          <a:ln>
            <a:noFill/>
          </a:ln>
        </p:spPr>
        <p:txBody>
          <a:bodyPr spcFirstLastPara="1" wrap="square" lIns="0" tIns="0" rIns="0" bIns="0" anchor="t" anchorCtr="0">
            <a:spAutoFit/>
          </a:bodyPr>
          <a:lstStyle/>
          <a:p>
            <a:pPr marL="0" marR="0" lvl="0" indent="0" algn="ctr"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Los patrones de comportamiento tratan con algoritmos y la asignación de responsabilidades entre objetos.</a:t>
            </a:r>
            <a:endParaRPr sz="1400" b="0" i="0" u="none" strike="noStrike" cap="none">
              <a:solidFill>
                <a:srgbClr val="000000"/>
              </a:solidFill>
              <a:latin typeface="Arial"/>
              <a:ea typeface="Arial"/>
              <a:cs typeface="Arial"/>
              <a:sym typeface="Arial"/>
            </a:endParaRPr>
          </a:p>
        </p:txBody>
      </p:sp>
      <p:pic>
        <p:nvPicPr>
          <p:cNvPr id="132" name="Google Shape;132;g35f194d6067_0_19"/>
          <p:cNvPicPr preferRelativeResize="0"/>
          <p:nvPr/>
        </p:nvPicPr>
        <p:blipFill rotWithShape="1">
          <a:blip r:embed="rId3">
            <a:alphaModFix/>
          </a:blip>
          <a:srcRect/>
          <a:stretch/>
        </p:blipFill>
        <p:spPr>
          <a:xfrm>
            <a:off x="1236838" y="4368745"/>
            <a:ext cx="15502114" cy="591825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36"/>
        <p:cNvGrpSpPr/>
        <p:nvPr/>
      </p:nvGrpSpPr>
      <p:grpSpPr>
        <a:xfrm>
          <a:off x="0" y="0"/>
          <a:ext cx="0" cy="0"/>
          <a:chOff x="0" y="0"/>
          <a:chExt cx="0" cy="0"/>
        </a:xfrm>
      </p:grpSpPr>
      <p:grpSp>
        <p:nvGrpSpPr>
          <p:cNvPr id="137" name="Google Shape;137;g35f194d6067_0_28"/>
          <p:cNvGrpSpPr/>
          <p:nvPr/>
        </p:nvGrpSpPr>
        <p:grpSpPr>
          <a:xfrm>
            <a:off x="-584626" y="564525"/>
            <a:ext cx="19457594" cy="2036657"/>
            <a:chOff x="0" y="-76200"/>
            <a:chExt cx="5124600" cy="536400"/>
          </a:xfrm>
        </p:grpSpPr>
        <p:sp>
          <p:nvSpPr>
            <p:cNvPr id="138" name="Google Shape;138;g35f194d6067_0_28"/>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39" name="Google Shape;139;g35f194d6067_0_28"/>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40" name="Google Shape;140;g35f194d6067_0_28"/>
          <p:cNvSpPr txBox="1"/>
          <p:nvPr/>
        </p:nvSpPr>
        <p:spPr>
          <a:xfrm>
            <a:off x="1599296" y="758314"/>
            <a:ext cx="15089400" cy="14199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i="0" u="none" strike="noStrike" cap="none">
                <a:solidFill>
                  <a:srgbClr val="FDFDFD"/>
                </a:solidFill>
                <a:latin typeface="Poppins"/>
                <a:ea typeface="Poppins"/>
                <a:cs typeface="Poppins"/>
                <a:sym typeface="Poppins"/>
              </a:rPr>
              <a:t>Patrón Observer</a:t>
            </a:r>
            <a:endParaRPr sz="1400" b="0" i="0" u="none" strike="noStrike" cap="none">
              <a:solidFill>
                <a:srgbClr val="000000"/>
              </a:solidFill>
              <a:latin typeface="Arial"/>
              <a:ea typeface="Arial"/>
              <a:cs typeface="Arial"/>
              <a:sym typeface="Arial"/>
            </a:endParaRPr>
          </a:p>
        </p:txBody>
      </p:sp>
      <p:sp>
        <p:nvSpPr>
          <p:cNvPr id="141" name="Google Shape;141;g35f194d6067_0_28"/>
          <p:cNvSpPr txBox="1"/>
          <p:nvPr/>
        </p:nvSpPr>
        <p:spPr>
          <a:xfrm>
            <a:off x="1028700" y="2969245"/>
            <a:ext cx="16230600" cy="1733400"/>
          </a:xfrm>
          <a:prstGeom prst="rect">
            <a:avLst/>
          </a:prstGeom>
          <a:noFill/>
          <a:ln>
            <a:noFill/>
          </a:ln>
        </p:spPr>
        <p:txBody>
          <a:bodyPr spcFirstLastPara="1" wrap="square" lIns="0" tIns="0" rIns="0" bIns="0" anchor="t" anchorCtr="0">
            <a:spAutoFit/>
          </a:bodyPr>
          <a:lstStyle/>
          <a:p>
            <a:pPr marL="0" marR="0" lvl="0" indent="0" algn="ctr"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es un patrón de diseño de comportamiento que te permite definir un mecanismo de suscripción para notificar a varios objetos sobre cualquier evento que le suceda al objeto que están observando.</a:t>
            </a:r>
            <a:endParaRPr sz="1400" b="0" i="0" u="none" strike="noStrike" cap="none">
              <a:solidFill>
                <a:srgbClr val="000000"/>
              </a:solidFill>
              <a:latin typeface="Arial"/>
              <a:ea typeface="Arial"/>
              <a:cs typeface="Arial"/>
              <a:sym typeface="Arial"/>
            </a:endParaRPr>
          </a:p>
        </p:txBody>
      </p:sp>
      <p:pic>
        <p:nvPicPr>
          <p:cNvPr id="142" name="Google Shape;142;g35f194d6067_0_28"/>
          <p:cNvPicPr preferRelativeResize="0"/>
          <p:nvPr/>
        </p:nvPicPr>
        <p:blipFill rotWithShape="1">
          <a:blip r:embed="rId3">
            <a:alphaModFix/>
          </a:blip>
          <a:srcRect/>
          <a:stretch/>
        </p:blipFill>
        <p:spPr>
          <a:xfrm>
            <a:off x="556100" y="5348451"/>
            <a:ext cx="6561075" cy="3280525"/>
          </a:xfrm>
          <a:prstGeom prst="rect">
            <a:avLst/>
          </a:prstGeom>
          <a:noFill/>
          <a:ln>
            <a:noFill/>
          </a:ln>
        </p:spPr>
      </p:pic>
      <p:pic>
        <p:nvPicPr>
          <p:cNvPr id="143" name="Google Shape;143;g35f194d6067_0_28"/>
          <p:cNvPicPr preferRelativeResize="0"/>
          <p:nvPr/>
        </p:nvPicPr>
        <p:blipFill rotWithShape="1">
          <a:blip r:embed="rId4">
            <a:alphaModFix/>
          </a:blip>
          <a:srcRect/>
          <a:stretch/>
        </p:blipFill>
        <p:spPr>
          <a:xfrm>
            <a:off x="9123625" y="5693178"/>
            <a:ext cx="6765599" cy="2591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47"/>
        <p:cNvGrpSpPr/>
        <p:nvPr/>
      </p:nvGrpSpPr>
      <p:grpSpPr>
        <a:xfrm>
          <a:off x="0" y="0"/>
          <a:ext cx="0" cy="0"/>
          <a:chOff x="0" y="0"/>
          <a:chExt cx="0" cy="0"/>
        </a:xfrm>
      </p:grpSpPr>
      <p:grpSp>
        <p:nvGrpSpPr>
          <p:cNvPr id="148" name="Google Shape;148;g35f194d6067_0_38"/>
          <p:cNvGrpSpPr/>
          <p:nvPr/>
        </p:nvGrpSpPr>
        <p:grpSpPr>
          <a:xfrm>
            <a:off x="-584626" y="564525"/>
            <a:ext cx="19457594" cy="2036657"/>
            <a:chOff x="0" y="-76200"/>
            <a:chExt cx="5124600" cy="536400"/>
          </a:xfrm>
        </p:grpSpPr>
        <p:sp>
          <p:nvSpPr>
            <p:cNvPr id="149" name="Google Shape;149;g35f194d6067_0_38"/>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50" name="Google Shape;150;g35f194d6067_0_38"/>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51" name="Google Shape;151;g35f194d6067_0_38"/>
          <p:cNvSpPr txBox="1"/>
          <p:nvPr/>
        </p:nvSpPr>
        <p:spPr>
          <a:xfrm>
            <a:off x="1599296" y="758314"/>
            <a:ext cx="15089400" cy="14199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i="0" u="none" strike="noStrike" cap="none">
                <a:solidFill>
                  <a:srgbClr val="FDFDFD"/>
                </a:solidFill>
                <a:latin typeface="Poppins"/>
                <a:ea typeface="Poppins"/>
                <a:cs typeface="Poppins"/>
                <a:sym typeface="Poppins"/>
              </a:rPr>
              <a:t>Patrón Strategy</a:t>
            </a:r>
            <a:endParaRPr sz="1400" b="0" i="0" u="none" strike="noStrike" cap="none">
              <a:solidFill>
                <a:srgbClr val="000000"/>
              </a:solidFill>
              <a:latin typeface="Arial"/>
              <a:ea typeface="Arial"/>
              <a:cs typeface="Arial"/>
              <a:sym typeface="Arial"/>
            </a:endParaRPr>
          </a:p>
        </p:txBody>
      </p:sp>
      <p:sp>
        <p:nvSpPr>
          <p:cNvPr id="152" name="Google Shape;152;g35f194d6067_0_38"/>
          <p:cNvSpPr txBox="1"/>
          <p:nvPr/>
        </p:nvSpPr>
        <p:spPr>
          <a:xfrm>
            <a:off x="1028700" y="2969245"/>
            <a:ext cx="16230600" cy="1733400"/>
          </a:xfrm>
          <a:prstGeom prst="rect">
            <a:avLst/>
          </a:prstGeom>
          <a:noFill/>
          <a:ln>
            <a:noFill/>
          </a:ln>
        </p:spPr>
        <p:txBody>
          <a:bodyPr spcFirstLastPara="1" wrap="square" lIns="0" tIns="0" rIns="0" bIns="0" anchor="t" anchorCtr="0">
            <a:spAutoFit/>
          </a:bodyPr>
          <a:lstStyle/>
          <a:p>
            <a:pPr marL="0" marR="0" lvl="0" indent="0" algn="ctr"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Strategy es un patrón de diseño de comportamiento que te permite definir una familia de algoritmos, colocar cada uno de ellos en una clase separada y hacer sus objetos intercambiables.</a:t>
            </a:r>
            <a:endParaRPr sz="2963" b="0" i="0" u="none" strike="noStrike" cap="none">
              <a:solidFill>
                <a:srgbClr val="013362"/>
              </a:solidFill>
              <a:latin typeface="Poppins Light"/>
              <a:ea typeface="Poppins Light"/>
              <a:cs typeface="Poppins Light"/>
              <a:sym typeface="Poppins Light"/>
            </a:endParaRPr>
          </a:p>
        </p:txBody>
      </p:sp>
      <p:pic>
        <p:nvPicPr>
          <p:cNvPr id="153" name="Google Shape;153;g35f194d6067_0_38"/>
          <p:cNvPicPr preferRelativeResize="0"/>
          <p:nvPr/>
        </p:nvPicPr>
        <p:blipFill rotWithShape="1">
          <a:blip r:embed="rId3">
            <a:alphaModFix/>
          </a:blip>
          <a:srcRect/>
          <a:stretch/>
        </p:blipFill>
        <p:spPr>
          <a:xfrm>
            <a:off x="10783300" y="6140920"/>
            <a:ext cx="5429250" cy="2667000"/>
          </a:xfrm>
          <a:prstGeom prst="rect">
            <a:avLst/>
          </a:prstGeom>
          <a:noFill/>
          <a:ln>
            <a:noFill/>
          </a:ln>
        </p:spPr>
      </p:pic>
      <p:pic>
        <p:nvPicPr>
          <p:cNvPr id="154" name="Google Shape;154;g35f194d6067_0_38"/>
          <p:cNvPicPr preferRelativeResize="0"/>
          <p:nvPr/>
        </p:nvPicPr>
        <p:blipFill rotWithShape="1">
          <a:blip r:embed="rId4">
            <a:alphaModFix/>
          </a:blip>
          <a:srcRect/>
          <a:stretch/>
        </p:blipFill>
        <p:spPr>
          <a:xfrm>
            <a:off x="1228950" y="5070720"/>
            <a:ext cx="6096000" cy="3810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58"/>
        <p:cNvGrpSpPr/>
        <p:nvPr/>
      </p:nvGrpSpPr>
      <p:grpSpPr>
        <a:xfrm>
          <a:off x="0" y="0"/>
          <a:ext cx="0" cy="0"/>
          <a:chOff x="0" y="0"/>
          <a:chExt cx="0" cy="0"/>
        </a:xfrm>
      </p:grpSpPr>
      <p:grpSp>
        <p:nvGrpSpPr>
          <p:cNvPr id="159" name="Google Shape;159;g35f194d6067_0_48"/>
          <p:cNvGrpSpPr/>
          <p:nvPr/>
        </p:nvGrpSpPr>
        <p:grpSpPr>
          <a:xfrm>
            <a:off x="-584626" y="564525"/>
            <a:ext cx="19457594" cy="2036657"/>
            <a:chOff x="0" y="-76200"/>
            <a:chExt cx="5124600" cy="536400"/>
          </a:xfrm>
        </p:grpSpPr>
        <p:sp>
          <p:nvSpPr>
            <p:cNvPr id="160" name="Google Shape;160;g35f194d6067_0_48"/>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61" name="Google Shape;161;g35f194d6067_0_48"/>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62" name="Google Shape;162;g35f194d6067_0_48"/>
          <p:cNvSpPr txBox="1"/>
          <p:nvPr/>
        </p:nvSpPr>
        <p:spPr>
          <a:xfrm>
            <a:off x="1599296" y="758314"/>
            <a:ext cx="15089400" cy="14199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i="0" u="none" strike="noStrike" cap="none">
                <a:solidFill>
                  <a:srgbClr val="FDFDFD"/>
                </a:solidFill>
                <a:latin typeface="Poppins"/>
                <a:ea typeface="Poppins"/>
                <a:cs typeface="Poppins"/>
                <a:sym typeface="Poppins"/>
              </a:rPr>
              <a:t>Patrón Command</a:t>
            </a:r>
            <a:endParaRPr sz="1400" b="0" i="0" u="none" strike="noStrike" cap="none">
              <a:solidFill>
                <a:srgbClr val="000000"/>
              </a:solidFill>
              <a:latin typeface="Arial"/>
              <a:ea typeface="Arial"/>
              <a:cs typeface="Arial"/>
              <a:sym typeface="Arial"/>
            </a:endParaRPr>
          </a:p>
        </p:txBody>
      </p:sp>
      <p:sp>
        <p:nvSpPr>
          <p:cNvPr id="163" name="Google Shape;163;g35f194d6067_0_48"/>
          <p:cNvSpPr txBox="1"/>
          <p:nvPr/>
        </p:nvSpPr>
        <p:spPr>
          <a:xfrm>
            <a:off x="1028700" y="2969245"/>
            <a:ext cx="16230600" cy="3010500"/>
          </a:xfrm>
          <a:prstGeom prst="rect">
            <a:avLst/>
          </a:prstGeom>
          <a:noFill/>
          <a:ln>
            <a:noFill/>
          </a:ln>
        </p:spPr>
        <p:txBody>
          <a:bodyPr spcFirstLastPara="1" wrap="square" lIns="0" tIns="0" rIns="0" bIns="0" anchor="t" anchorCtr="0">
            <a:spAutoFit/>
          </a:bodyPr>
          <a:lstStyle/>
          <a:p>
            <a:pPr marL="0" marR="0" lvl="0" indent="0" algn="ctr" rtl="0">
              <a:lnSpc>
                <a:spcPct val="140027"/>
              </a:lnSpc>
              <a:spcBef>
                <a:spcPts val="0"/>
              </a:spcBef>
              <a:spcAft>
                <a:spcPts val="0"/>
              </a:spcAft>
              <a:buClr>
                <a:srgbClr val="000000"/>
              </a:buClr>
              <a:buSzPts val="2963"/>
              <a:buFont typeface="Arial"/>
              <a:buNone/>
            </a:pPr>
            <a:r>
              <a:rPr lang="en-US" sz="2963">
                <a:solidFill>
                  <a:srgbClr val="013362"/>
                </a:solidFill>
                <a:latin typeface="Poppins Light"/>
                <a:ea typeface="Poppins Light"/>
                <a:cs typeface="Poppins Light"/>
                <a:sym typeface="Poppins Light"/>
              </a:rPr>
              <a:t>Command es un patrón de diseño de comportamiento que convierte una solicitud en un objeto independiente que contiene toda la información sobre la solicitud. Esta transformación te permite parametrizar los métodos con diferentes solicitudes, retrasar o poner en cola la ejecución de una solicitud y soportar operaciones que no se pueden realizar.</a:t>
            </a:r>
            <a:endParaRPr sz="1400" b="0" i="0" u="none" strike="noStrike" cap="none">
              <a:solidFill>
                <a:srgbClr val="000000"/>
              </a:solidFill>
              <a:latin typeface="Arial"/>
              <a:ea typeface="Arial"/>
              <a:cs typeface="Arial"/>
              <a:sym typeface="Arial"/>
            </a:endParaRPr>
          </a:p>
        </p:txBody>
      </p:sp>
      <p:pic>
        <p:nvPicPr>
          <p:cNvPr id="164" name="Google Shape;164;g35f194d6067_0_48"/>
          <p:cNvPicPr preferRelativeResize="0"/>
          <p:nvPr/>
        </p:nvPicPr>
        <p:blipFill rotWithShape="1">
          <a:blip r:embed="rId3">
            <a:alphaModFix/>
          </a:blip>
          <a:srcRect/>
          <a:stretch/>
        </p:blipFill>
        <p:spPr>
          <a:xfrm>
            <a:off x="0" y="6527877"/>
            <a:ext cx="8471550" cy="4235775"/>
          </a:xfrm>
          <a:prstGeom prst="rect">
            <a:avLst/>
          </a:prstGeom>
          <a:noFill/>
          <a:ln>
            <a:noFill/>
          </a:ln>
        </p:spPr>
      </p:pic>
      <p:pic>
        <p:nvPicPr>
          <p:cNvPr id="3" name="Imagen 2">
            <a:extLst>
              <a:ext uri="{FF2B5EF4-FFF2-40B4-BE49-F238E27FC236}">
                <a16:creationId xmlns:a16="http://schemas.microsoft.com/office/drawing/2014/main" id="{D6EDF665-5FD8-FEA2-D82B-51FFF7EF8D8A}"/>
              </a:ext>
            </a:extLst>
          </p:cNvPr>
          <p:cNvPicPr>
            <a:picLocks noChangeAspect="1"/>
          </p:cNvPicPr>
          <p:nvPr/>
        </p:nvPicPr>
        <p:blipFill>
          <a:blip r:embed="rId4"/>
          <a:stretch>
            <a:fillRect/>
          </a:stretch>
        </p:blipFill>
        <p:spPr>
          <a:xfrm>
            <a:off x="9620509" y="6224557"/>
            <a:ext cx="6338511" cy="36775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69"/>
        <p:cNvGrpSpPr/>
        <p:nvPr/>
      </p:nvGrpSpPr>
      <p:grpSpPr>
        <a:xfrm>
          <a:off x="0" y="0"/>
          <a:ext cx="0" cy="0"/>
          <a:chOff x="0" y="0"/>
          <a:chExt cx="0" cy="0"/>
        </a:xfrm>
      </p:grpSpPr>
      <p:grpSp>
        <p:nvGrpSpPr>
          <p:cNvPr id="170" name="Google Shape;170;g35f194d6067_0_58"/>
          <p:cNvGrpSpPr/>
          <p:nvPr/>
        </p:nvGrpSpPr>
        <p:grpSpPr>
          <a:xfrm>
            <a:off x="-584626" y="564525"/>
            <a:ext cx="19457594" cy="2036657"/>
            <a:chOff x="0" y="-76200"/>
            <a:chExt cx="5124600" cy="536400"/>
          </a:xfrm>
        </p:grpSpPr>
        <p:sp>
          <p:nvSpPr>
            <p:cNvPr id="171" name="Google Shape;171;g35f194d6067_0_58"/>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72" name="Google Shape;172;g35f194d6067_0_58"/>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73" name="Google Shape;173;g35f194d6067_0_58"/>
          <p:cNvSpPr txBox="1"/>
          <p:nvPr/>
        </p:nvSpPr>
        <p:spPr>
          <a:xfrm>
            <a:off x="1599296" y="758314"/>
            <a:ext cx="15089400" cy="14199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i="0" u="none" strike="noStrike" cap="none">
                <a:solidFill>
                  <a:srgbClr val="FDFDFD"/>
                </a:solidFill>
                <a:latin typeface="Poppins"/>
                <a:ea typeface="Poppins"/>
                <a:cs typeface="Poppins"/>
                <a:sym typeface="Poppins"/>
              </a:rPr>
              <a:t>Patrones Iterator</a:t>
            </a:r>
            <a:endParaRPr sz="1400" b="0" i="0" u="none" strike="noStrike" cap="none">
              <a:solidFill>
                <a:srgbClr val="000000"/>
              </a:solidFill>
              <a:latin typeface="Arial"/>
              <a:ea typeface="Arial"/>
              <a:cs typeface="Arial"/>
              <a:sym typeface="Arial"/>
            </a:endParaRPr>
          </a:p>
        </p:txBody>
      </p:sp>
      <p:sp>
        <p:nvSpPr>
          <p:cNvPr id="174" name="Google Shape;174;g35f194d6067_0_58"/>
          <p:cNvSpPr txBox="1"/>
          <p:nvPr/>
        </p:nvSpPr>
        <p:spPr>
          <a:xfrm>
            <a:off x="1028700" y="2969245"/>
            <a:ext cx="16230600" cy="1094700"/>
          </a:xfrm>
          <a:prstGeom prst="rect">
            <a:avLst/>
          </a:prstGeom>
          <a:noFill/>
          <a:ln>
            <a:noFill/>
          </a:ln>
        </p:spPr>
        <p:txBody>
          <a:bodyPr spcFirstLastPara="1" wrap="square" lIns="0" tIns="0" rIns="0" bIns="0" anchor="t" anchorCtr="0">
            <a:spAutoFit/>
          </a:bodyPr>
          <a:lstStyle/>
          <a:p>
            <a:pPr marL="0" marR="0" lvl="0" indent="0" algn="ctr"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Iterator es un patrón de diseño de comportamiento que te permite recorrer elementos de una colección sin exponer su representación subyacente (lista, pila, árbol, etc.).</a:t>
            </a:r>
            <a:endParaRPr sz="1400" b="0" i="0" u="none" strike="noStrike" cap="none">
              <a:solidFill>
                <a:srgbClr val="000000"/>
              </a:solidFill>
              <a:latin typeface="Arial"/>
              <a:ea typeface="Arial"/>
              <a:cs typeface="Arial"/>
              <a:sym typeface="Arial"/>
            </a:endParaRPr>
          </a:p>
        </p:txBody>
      </p:sp>
      <p:pic>
        <p:nvPicPr>
          <p:cNvPr id="176" name="Google Shape;176;g35f194d6067_0_58"/>
          <p:cNvPicPr preferRelativeResize="0"/>
          <p:nvPr/>
        </p:nvPicPr>
        <p:blipFill rotWithShape="1">
          <a:blip r:embed="rId3">
            <a:alphaModFix/>
          </a:blip>
          <a:srcRect/>
          <a:stretch/>
        </p:blipFill>
        <p:spPr>
          <a:xfrm>
            <a:off x="8064250" y="4963950"/>
            <a:ext cx="8485075" cy="3977375"/>
          </a:xfrm>
          <a:prstGeom prst="rect">
            <a:avLst/>
          </a:prstGeom>
          <a:noFill/>
          <a:ln>
            <a:noFill/>
          </a:ln>
        </p:spPr>
      </p:pic>
      <p:pic>
        <p:nvPicPr>
          <p:cNvPr id="3" name="Imagen 2">
            <a:extLst>
              <a:ext uri="{FF2B5EF4-FFF2-40B4-BE49-F238E27FC236}">
                <a16:creationId xmlns:a16="http://schemas.microsoft.com/office/drawing/2014/main" id="{A76F7384-BF1C-5CBD-75E4-4EC37A8106AE}"/>
              </a:ext>
            </a:extLst>
          </p:cNvPr>
          <p:cNvPicPr>
            <a:picLocks noChangeAspect="1"/>
          </p:cNvPicPr>
          <p:nvPr/>
        </p:nvPicPr>
        <p:blipFill>
          <a:blip r:embed="rId4"/>
          <a:stretch>
            <a:fillRect/>
          </a:stretch>
        </p:blipFill>
        <p:spPr>
          <a:xfrm>
            <a:off x="813944" y="4432008"/>
            <a:ext cx="6373114" cy="56967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80"/>
        <p:cNvGrpSpPr/>
        <p:nvPr/>
      </p:nvGrpSpPr>
      <p:grpSpPr>
        <a:xfrm>
          <a:off x="0" y="0"/>
          <a:ext cx="0" cy="0"/>
          <a:chOff x="0" y="0"/>
          <a:chExt cx="0" cy="0"/>
        </a:xfrm>
      </p:grpSpPr>
      <p:grpSp>
        <p:nvGrpSpPr>
          <p:cNvPr id="181" name="Google Shape;181;g35f194d6067_0_68"/>
          <p:cNvGrpSpPr/>
          <p:nvPr/>
        </p:nvGrpSpPr>
        <p:grpSpPr>
          <a:xfrm>
            <a:off x="-584626" y="564525"/>
            <a:ext cx="19457594" cy="2036657"/>
            <a:chOff x="0" y="-76200"/>
            <a:chExt cx="5124600" cy="536400"/>
          </a:xfrm>
        </p:grpSpPr>
        <p:sp>
          <p:nvSpPr>
            <p:cNvPr id="182" name="Google Shape;182;g35f194d6067_0_68"/>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83" name="Google Shape;183;g35f194d6067_0_68"/>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84" name="Google Shape;184;g35f194d6067_0_68"/>
          <p:cNvSpPr txBox="1"/>
          <p:nvPr/>
        </p:nvSpPr>
        <p:spPr>
          <a:xfrm>
            <a:off x="1599296" y="758314"/>
            <a:ext cx="15089400" cy="14199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i="0" u="none" strike="noStrike" cap="none">
                <a:solidFill>
                  <a:srgbClr val="FDFDFD"/>
                </a:solidFill>
                <a:latin typeface="Poppins"/>
                <a:ea typeface="Poppins"/>
                <a:cs typeface="Poppins"/>
                <a:sym typeface="Poppins"/>
              </a:rPr>
              <a:t>Patrón State</a:t>
            </a:r>
            <a:endParaRPr sz="1400" b="0" i="0" u="none" strike="noStrike" cap="none">
              <a:solidFill>
                <a:srgbClr val="000000"/>
              </a:solidFill>
              <a:latin typeface="Arial"/>
              <a:ea typeface="Arial"/>
              <a:cs typeface="Arial"/>
              <a:sym typeface="Arial"/>
            </a:endParaRPr>
          </a:p>
        </p:txBody>
      </p:sp>
      <p:sp>
        <p:nvSpPr>
          <p:cNvPr id="185" name="Google Shape;185;g35f194d6067_0_68"/>
          <p:cNvSpPr txBox="1"/>
          <p:nvPr/>
        </p:nvSpPr>
        <p:spPr>
          <a:xfrm>
            <a:off x="1028700" y="2969245"/>
            <a:ext cx="16230600" cy="1733400"/>
          </a:xfrm>
          <a:prstGeom prst="rect">
            <a:avLst/>
          </a:prstGeom>
          <a:noFill/>
          <a:ln>
            <a:noFill/>
          </a:ln>
        </p:spPr>
        <p:txBody>
          <a:bodyPr spcFirstLastPara="1" wrap="square" lIns="0" tIns="0" rIns="0" bIns="0" anchor="t" anchorCtr="0">
            <a:spAutoFit/>
          </a:bodyPr>
          <a:lstStyle/>
          <a:p>
            <a:pPr marL="0" marR="0" lvl="0" indent="0" algn="ctr"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State es un patrón de diseño de comportamiento que permite a un objeto alterar su comportamiento cuando su estado interno cambia. Parece como si el objeto cambiará su clase.</a:t>
            </a:r>
            <a:endParaRPr sz="1400" b="0" i="0" u="none" strike="noStrike" cap="none">
              <a:solidFill>
                <a:srgbClr val="000000"/>
              </a:solidFill>
              <a:latin typeface="Arial"/>
              <a:ea typeface="Arial"/>
              <a:cs typeface="Arial"/>
              <a:sym typeface="Arial"/>
            </a:endParaRPr>
          </a:p>
        </p:txBody>
      </p:sp>
      <p:pic>
        <p:nvPicPr>
          <p:cNvPr id="187" name="Google Shape;187;g35f194d6067_0_68"/>
          <p:cNvPicPr preferRelativeResize="0"/>
          <p:nvPr/>
        </p:nvPicPr>
        <p:blipFill rotWithShape="1">
          <a:blip r:embed="rId3">
            <a:alphaModFix/>
          </a:blip>
          <a:srcRect/>
          <a:stretch/>
        </p:blipFill>
        <p:spPr>
          <a:xfrm>
            <a:off x="9615500" y="4788051"/>
            <a:ext cx="6275550" cy="4930775"/>
          </a:xfrm>
          <a:prstGeom prst="rect">
            <a:avLst/>
          </a:prstGeom>
          <a:noFill/>
          <a:ln>
            <a:noFill/>
          </a:ln>
        </p:spPr>
      </p:pic>
      <p:pic>
        <p:nvPicPr>
          <p:cNvPr id="3" name="Imagen 2">
            <a:extLst>
              <a:ext uri="{FF2B5EF4-FFF2-40B4-BE49-F238E27FC236}">
                <a16:creationId xmlns:a16="http://schemas.microsoft.com/office/drawing/2014/main" id="{0ED4DBAC-9D48-BFA7-5D36-5F3F8CB38FA7}"/>
              </a:ext>
            </a:extLst>
          </p:cNvPr>
          <p:cNvPicPr>
            <a:picLocks noChangeAspect="1"/>
          </p:cNvPicPr>
          <p:nvPr/>
        </p:nvPicPr>
        <p:blipFill>
          <a:blip r:embed="rId4"/>
          <a:stretch>
            <a:fillRect/>
          </a:stretch>
        </p:blipFill>
        <p:spPr>
          <a:xfrm>
            <a:off x="1608669" y="4788051"/>
            <a:ext cx="7535327" cy="50203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80">
          <a:extLst>
            <a:ext uri="{FF2B5EF4-FFF2-40B4-BE49-F238E27FC236}">
              <a16:creationId xmlns:a16="http://schemas.microsoft.com/office/drawing/2014/main" id="{6DBAAB96-3850-D1C8-199A-8C590B146CA3}"/>
            </a:ext>
          </a:extLst>
        </p:cNvPr>
        <p:cNvGrpSpPr/>
        <p:nvPr/>
      </p:nvGrpSpPr>
      <p:grpSpPr>
        <a:xfrm>
          <a:off x="0" y="0"/>
          <a:ext cx="0" cy="0"/>
          <a:chOff x="0" y="0"/>
          <a:chExt cx="0" cy="0"/>
        </a:xfrm>
      </p:grpSpPr>
      <p:grpSp>
        <p:nvGrpSpPr>
          <p:cNvPr id="181" name="Google Shape;181;g35f194d6067_0_68">
            <a:extLst>
              <a:ext uri="{FF2B5EF4-FFF2-40B4-BE49-F238E27FC236}">
                <a16:creationId xmlns:a16="http://schemas.microsoft.com/office/drawing/2014/main" id="{5E8B57AB-0DFC-7289-A75C-55477F5F95FB}"/>
              </a:ext>
            </a:extLst>
          </p:cNvPr>
          <p:cNvGrpSpPr/>
          <p:nvPr/>
        </p:nvGrpSpPr>
        <p:grpSpPr>
          <a:xfrm>
            <a:off x="-584626" y="564525"/>
            <a:ext cx="19457594" cy="2036657"/>
            <a:chOff x="0" y="-76200"/>
            <a:chExt cx="5124600" cy="536400"/>
          </a:xfrm>
        </p:grpSpPr>
        <p:sp>
          <p:nvSpPr>
            <p:cNvPr id="182" name="Google Shape;182;g35f194d6067_0_68">
              <a:extLst>
                <a:ext uri="{FF2B5EF4-FFF2-40B4-BE49-F238E27FC236}">
                  <a16:creationId xmlns:a16="http://schemas.microsoft.com/office/drawing/2014/main" id="{4FE4CA9C-E538-D471-1E8C-61F8CFBB47A8}"/>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83" name="Google Shape;183;g35f194d6067_0_68">
              <a:extLst>
                <a:ext uri="{FF2B5EF4-FFF2-40B4-BE49-F238E27FC236}">
                  <a16:creationId xmlns:a16="http://schemas.microsoft.com/office/drawing/2014/main" id="{693D6568-5121-F37D-0765-2B3E8A83D14A}"/>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84" name="Google Shape;184;g35f194d6067_0_68">
            <a:extLst>
              <a:ext uri="{FF2B5EF4-FFF2-40B4-BE49-F238E27FC236}">
                <a16:creationId xmlns:a16="http://schemas.microsoft.com/office/drawing/2014/main" id="{E8E768CA-5579-B56B-CABF-F7BAD4F10E3E}"/>
              </a:ext>
            </a:extLst>
          </p:cNvPr>
          <p:cNvSpPr txBox="1"/>
          <p:nvPr/>
        </p:nvSpPr>
        <p:spPr>
          <a:xfrm>
            <a:off x="1599296" y="758314"/>
            <a:ext cx="15089400" cy="1987275"/>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dirty="0">
                <a:solidFill>
                  <a:srgbClr val="FDFDFD"/>
                </a:solidFill>
                <a:latin typeface="Poppins"/>
                <a:cs typeface="Poppins"/>
                <a:sym typeface="Poppins"/>
              </a:rPr>
              <a:t>¿</a:t>
            </a:r>
            <a:r>
              <a:rPr lang="en-US" sz="9224" b="1" dirty="0" err="1">
                <a:solidFill>
                  <a:srgbClr val="FDFDFD"/>
                </a:solidFill>
                <a:latin typeface="Poppins"/>
                <a:cs typeface="Poppins"/>
                <a:sym typeface="Poppins"/>
              </a:rPr>
              <a:t>Cuándo</a:t>
            </a:r>
            <a:r>
              <a:rPr lang="en-US" sz="9224" b="1" dirty="0">
                <a:solidFill>
                  <a:srgbClr val="FDFDFD"/>
                </a:solidFill>
                <a:latin typeface="Poppins"/>
                <a:cs typeface="Poppins"/>
                <a:sym typeface="Poppins"/>
              </a:rPr>
              <a:t> usar?</a:t>
            </a:r>
            <a:endParaRPr lang="en-US" sz="1400" b="0" i="0" u="none" strike="noStrike" cap="none" dirty="0">
              <a:solidFill>
                <a:srgbClr val="000000"/>
              </a:solidFill>
              <a:latin typeface="Arial"/>
              <a:ea typeface="Arial"/>
              <a:cs typeface="Arial"/>
              <a:sym typeface="Arial"/>
            </a:endParaRPr>
          </a:p>
        </p:txBody>
      </p:sp>
      <p:graphicFrame>
        <p:nvGraphicFramePr>
          <p:cNvPr id="2" name="Tabla 1">
            <a:extLst>
              <a:ext uri="{FF2B5EF4-FFF2-40B4-BE49-F238E27FC236}">
                <a16:creationId xmlns:a16="http://schemas.microsoft.com/office/drawing/2014/main" id="{D4A64D36-74B3-EE55-42F4-0992538FCDCA}"/>
              </a:ext>
            </a:extLst>
          </p:cNvPr>
          <p:cNvGraphicFramePr>
            <a:graphicFrameLocks noGrp="1"/>
          </p:cNvGraphicFramePr>
          <p:nvPr>
            <p:extLst>
              <p:ext uri="{D42A27DB-BD31-4B8C-83A1-F6EECF244321}">
                <p14:modId xmlns:p14="http://schemas.microsoft.com/office/powerpoint/2010/main" val="3459986265"/>
              </p:ext>
            </p:extLst>
          </p:nvPr>
        </p:nvGraphicFramePr>
        <p:xfrm>
          <a:off x="3020786" y="3185402"/>
          <a:ext cx="11658600" cy="6343284"/>
        </p:xfrm>
        <a:graphic>
          <a:graphicData uri="http://schemas.openxmlformats.org/drawingml/2006/table">
            <a:tbl>
              <a:tblPr>
                <a:tableStyleId>{69CF1AB2-1976-4502-BF36-3FF5EA218861}</a:tableStyleId>
              </a:tblPr>
              <a:tblGrid>
                <a:gridCol w="5829300">
                  <a:extLst>
                    <a:ext uri="{9D8B030D-6E8A-4147-A177-3AD203B41FA5}">
                      <a16:colId xmlns:a16="http://schemas.microsoft.com/office/drawing/2014/main" val="1837900188"/>
                    </a:ext>
                  </a:extLst>
                </a:gridCol>
                <a:gridCol w="5829300">
                  <a:extLst>
                    <a:ext uri="{9D8B030D-6E8A-4147-A177-3AD203B41FA5}">
                      <a16:colId xmlns:a16="http://schemas.microsoft.com/office/drawing/2014/main" val="1541304860"/>
                    </a:ext>
                  </a:extLst>
                </a:gridCol>
              </a:tblGrid>
              <a:tr h="521604">
                <a:tc>
                  <a:txBody>
                    <a:bodyPr/>
                    <a:lstStyle/>
                    <a:p>
                      <a:r>
                        <a:rPr lang="es-GT" sz="2800" b="1"/>
                        <a:t>Patrón</a:t>
                      </a:r>
                      <a:endParaRPr lang="es-GT" sz="2800"/>
                    </a:p>
                  </a:txBody>
                  <a:tcPr anchor="ctr"/>
                </a:tc>
                <a:tc>
                  <a:txBody>
                    <a:bodyPr/>
                    <a:lstStyle/>
                    <a:p>
                      <a:r>
                        <a:rPr lang="es-GT" sz="2800" b="1"/>
                        <a:t>¿Cuándo se usa?</a:t>
                      </a:r>
                      <a:endParaRPr lang="es-GT" sz="2800"/>
                    </a:p>
                  </a:txBody>
                  <a:tcPr anchor="ctr"/>
                </a:tc>
                <a:extLst>
                  <a:ext uri="{0D108BD9-81ED-4DB2-BD59-A6C34878D82A}">
                    <a16:rowId xmlns:a16="http://schemas.microsoft.com/office/drawing/2014/main" val="119009339"/>
                  </a:ext>
                </a:extLst>
              </a:tr>
              <a:tr h="1251851">
                <a:tc>
                  <a:txBody>
                    <a:bodyPr/>
                    <a:lstStyle/>
                    <a:p>
                      <a:r>
                        <a:rPr lang="es-GT" sz="2800" b="1"/>
                        <a:t>Observer</a:t>
                      </a:r>
                      <a:endParaRPr lang="es-GT" sz="2800"/>
                    </a:p>
                  </a:txBody>
                  <a:tcPr anchor="ctr"/>
                </a:tc>
                <a:tc>
                  <a:txBody>
                    <a:bodyPr/>
                    <a:lstStyle/>
                    <a:p>
                      <a:r>
                        <a:rPr lang="es-MX" sz="2800"/>
                        <a:t>Cuando un objeto necesita </a:t>
                      </a:r>
                      <a:r>
                        <a:rPr lang="es-MX" sz="2800" b="1"/>
                        <a:t>notificar a muchos otros automáticamente</a:t>
                      </a:r>
                      <a:r>
                        <a:rPr lang="es-MX" sz="2800"/>
                        <a:t> cuando cambia su estado, sin acoplarse a ellos.</a:t>
                      </a:r>
                    </a:p>
                  </a:txBody>
                  <a:tcPr anchor="ctr"/>
                </a:tc>
                <a:extLst>
                  <a:ext uri="{0D108BD9-81ED-4DB2-BD59-A6C34878D82A}">
                    <a16:rowId xmlns:a16="http://schemas.microsoft.com/office/drawing/2014/main" val="3226519491"/>
                  </a:ext>
                </a:extLst>
              </a:tr>
              <a:tr h="1251851">
                <a:tc>
                  <a:txBody>
                    <a:bodyPr/>
                    <a:lstStyle/>
                    <a:p>
                      <a:r>
                        <a:rPr lang="es-GT" sz="2800" b="1"/>
                        <a:t>Strategy</a:t>
                      </a:r>
                      <a:endParaRPr lang="es-GT" sz="2800"/>
                    </a:p>
                  </a:txBody>
                  <a:tcPr anchor="ctr"/>
                </a:tc>
                <a:tc>
                  <a:txBody>
                    <a:bodyPr/>
                    <a:lstStyle/>
                    <a:p>
                      <a:r>
                        <a:rPr lang="es-MX" sz="2800"/>
                        <a:t>Cuando necesitas </a:t>
                      </a:r>
                      <a:r>
                        <a:rPr lang="es-MX" sz="2800" b="1"/>
                        <a:t>varias formas de realizar una acción</a:t>
                      </a:r>
                      <a:r>
                        <a:rPr lang="es-MX" sz="2800"/>
                        <a:t>, y deseas poder intercambiar el algoritmo en tiempo de ejecución.</a:t>
                      </a:r>
                    </a:p>
                  </a:txBody>
                  <a:tcPr anchor="ctr"/>
                </a:tc>
                <a:extLst>
                  <a:ext uri="{0D108BD9-81ED-4DB2-BD59-A6C34878D82A}">
                    <a16:rowId xmlns:a16="http://schemas.microsoft.com/office/drawing/2014/main" val="786647005"/>
                  </a:ext>
                </a:extLst>
              </a:tr>
              <a:tr h="1251851">
                <a:tc>
                  <a:txBody>
                    <a:bodyPr/>
                    <a:lstStyle/>
                    <a:p>
                      <a:r>
                        <a:rPr lang="es-GT" sz="2800" b="1"/>
                        <a:t>Command</a:t>
                      </a:r>
                      <a:endParaRPr lang="es-GT" sz="2800"/>
                    </a:p>
                  </a:txBody>
                  <a:tcPr anchor="ctr"/>
                </a:tc>
                <a:tc>
                  <a:txBody>
                    <a:bodyPr/>
                    <a:lstStyle/>
                    <a:p>
                      <a:r>
                        <a:rPr lang="es-MX" sz="2800" dirty="0"/>
                        <a:t>Cuando quieres </a:t>
                      </a:r>
                      <a:r>
                        <a:rPr lang="es-MX" sz="2800" b="1" dirty="0"/>
                        <a:t>encapsular una acción o petición como un objeto</a:t>
                      </a:r>
                      <a:r>
                        <a:rPr lang="es-MX" sz="2800" dirty="0"/>
                        <a:t>, para poder ejecutarla más tarde, deshacerla o ponerla en cola.</a:t>
                      </a:r>
                    </a:p>
                  </a:txBody>
                  <a:tcPr anchor="ctr"/>
                </a:tc>
                <a:extLst>
                  <a:ext uri="{0D108BD9-81ED-4DB2-BD59-A6C34878D82A}">
                    <a16:rowId xmlns:a16="http://schemas.microsoft.com/office/drawing/2014/main" val="2418436411"/>
                  </a:ext>
                </a:extLst>
              </a:tr>
            </a:tbl>
          </a:graphicData>
        </a:graphic>
      </p:graphicFrame>
    </p:spTree>
    <p:extLst>
      <p:ext uri="{BB962C8B-B14F-4D97-AF65-F5344CB8AC3E}">
        <p14:creationId xmlns:p14="http://schemas.microsoft.com/office/powerpoint/2010/main" val="877687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80">
          <a:extLst>
            <a:ext uri="{FF2B5EF4-FFF2-40B4-BE49-F238E27FC236}">
              <a16:creationId xmlns:a16="http://schemas.microsoft.com/office/drawing/2014/main" id="{E528B817-9E46-EC1B-830B-E64E2E923B88}"/>
            </a:ext>
          </a:extLst>
        </p:cNvPr>
        <p:cNvGrpSpPr/>
        <p:nvPr/>
      </p:nvGrpSpPr>
      <p:grpSpPr>
        <a:xfrm>
          <a:off x="0" y="0"/>
          <a:ext cx="0" cy="0"/>
          <a:chOff x="0" y="0"/>
          <a:chExt cx="0" cy="0"/>
        </a:xfrm>
      </p:grpSpPr>
      <p:grpSp>
        <p:nvGrpSpPr>
          <p:cNvPr id="181" name="Google Shape;181;g35f194d6067_0_68">
            <a:extLst>
              <a:ext uri="{FF2B5EF4-FFF2-40B4-BE49-F238E27FC236}">
                <a16:creationId xmlns:a16="http://schemas.microsoft.com/office/drawing/2014/main" id="{61E1D27B-C046-5685-D1D2-6879D90590D9}"/>
              </a:ext>
            </a:extLst>
          </p:cNvPr>
          <p:cNvGrpSpPr/>
          <p:nvPr/>
        </p:nvGrpSpPr>
        <p:grpSpPr>
          <a:xfrm>
            <a:off x="-584626" y="564525"/>
            <a:ext cx="19457594" cy="2036657"/>
            <a:chOff x="0" y="-76200"/>
            <a:chExt cx="5124600" cy="536400"/>
          </a:xfrm>
        </p:grpSpPr>
        <p:sp>
          <p:nvSpPr>
            <p:cNvPr id="182" name="Google Shape;182;g35f194d6067_0_68">
              <a:extLst>
                <a:ext uri="{FF2B5EF4-FFF2-40B4-BE49-F238E27FC236}">
                  <a16:creationId xmlns:a16="http://schemas.microsoft.com/office/drawing/2014/main" id="{6ABC3F93-BD4D-0D19-F8BB-58647FF7C6B3}"/>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83" name="Google Shape;183;g35f194d6067_0_68">
              <a:extLst>
                <a:ext uri="{FF2B5EF4-FFF2-40B4-BE49-F238E27FC236}">
                  <a16:creationId xmlns:a16="http://schemas.microsoft.com/office/drawing/2014/main" id="{687341C1-10F1-4982-5295-AE4532D5FD3B}"/>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84" name="Google Shape;184;g35f194d6067_0_68">
            <a:extLst>
              <a:ext uri="{FF2B5EF4-FFF2-40B4-BE49-F238E27FC236}">
                <a16:creationId xmlns:a16="http://schemas.microsoft.com/office/drawing/2014/main" id="{ADFD120A-2232-A47A-A03C-44ADCE3AADFB}"/>
              </a:ext>
            </a:extLst>
          </p:cNvPr>
          <p:cNvSpPr txBox="1"/>
          <p:nvPr/>
        </p:nvSpPr>
        <p:spPr>
          <a:xfrm>
            <a:off x="1599296" y="758314"/>
            <a:ext cx="15089400" cy="1987275"/>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i="0" u="none" strike="noStrike" cap="none" dirty="0" err="1">
                <a:solidFill>
                  <a:srgbClr val="FDFDFD"/>
                </a:solidFill>
                <a:latin typeface="Poppins"/>
                <a:ea typeface="Arial"/>
                <a:cs typeface="Poppins"/>
                <a:sym typeface="Poppins"/>
              </a:rPr>
              <a:t>Ventajas</a:t>
            </a:r>
            <a:endParaRPr lang="en-US" sz="1400" b="0" i="0" u="none" strike="noStrike" cap="none" dirty="0">
              <a:solidFill>
                <a:srgbClr val="000000"/>
              </a:solidFill>
              <a:latin typeface="Arial"/>
              <a:ea typeface="Arial"/>
              <a:cs typeface="Arial"/>
              <a:sym typeface="Arial"/>
            </a:endParaRPr>
          </a:p>
        </p:txBody>
      </p:sp>
      <p:graphicFrame>
        <p:nvGraphicFramePr>
          <p:cNvPr id="3" name="Tabla 2">
            <a:extLst>
              <a:ext uri="{FF2B5EF4-FFF2-40B4-BE49-F238E27FC236}">
                <a16:creationId xmlns:a16="http://schemas.microsoft.com/office/drawing/2014/main" id="{6F6A059C-B2B3-F549-A545-B0A562E1B432}"/>
              </a:ext>
            </a:extLst>
          </p:cNvPr>
          <p:cNvGraphicFramePr>
            <a:graphicFrameLocks noGrp="1"/>
          </p:cNvGraphicFramePr>
          <p:nvPr>
            <p:extLst>
              <p:ext uri="{D42A27DB-BD31-4B8C-83A1-F6EECF244321}">
                <p14:modId xmlns:p14="http://schemas.microsoft.com/office/powerpoint/2010/main" val="740865387"/>
              </p:ext>
            </p:extLst>
          </p:nvPr>
        </p:nvGraphicFramePr>
        <p:xfrm>
          <a:off x="3249381" y="3429000"/>
          <a:ext cx="10956476" cy="5654953"/>
        </p:xfrm>
        <a:graphic>
          <a:graphicData uri="http://schemas.openxmlformats.org/drawingml/2006/table">
            <a:tbl>
              <a:tblPr>
                <a:tableStyleId>{69CF1AB2-1976-4502-BF36-3FF5EA218861}</a:tableStyleId>
              </a:tblPr>
              <a:tblGrid>
                <a:gridCol w="5478238">
                  <a:extLst>
                    <a:ext uri="{9D8B030D-6E8A-4147-A177-3AD203B41FA5}">
                      <a16:colId xmlns:a16="http://schemas.microsoft.com/office/drawing/2014/main" val="1422294745"/>
                    </a:ext>
                  </a:extLst>
                </a:gridCol>
                <a:gridCol w="5478238">
                  <a:extLst>
                    <a:ext uri="{9D8B030D-6E8A-4147-A177-3AD203B41FA5}">
                      <a16:colId xmlns:a16="http://schemas.microsoft.com/office/drawing/2014/main" val="137208643"/>
                    </a:ext>
                  </a:extLst>
                </a:gridCol>
              </a:tblGrid>
              <a:tr h="508518">
                <a:tc>
                  <a:txBody>
                    <a:bodyPr/>
                    <a:lstStyle/>
                    <a:p>
                      <a:r>
                        <a:rPr lang="es-GT" sz="2400" b="1"/>
                        <a:t>Patrón</a:t>
                      </a:r>
                      <a:endParaRPr lang="es-GT" sz="2400"/>
                    </a:p>
                  </a:txBody>
                  <a:tcPr anchor="ctr"/>
                </a:tc>
                <a:tc>
                  <a:txBody>
                    <a:bodyPr/>
                    <a:lstStyle/>
                    <a:p>
                      <a:r>
                        <a:rPr lang="es-GT" sz="2400" b="1"/>
                        <a:t>Ventajas principales</a:t>
                      </a:r>
                      <a:endParaRPr lang="es-GT" sz="2400"/>
                    </a:p>
                  </a:txBody>
                  <a:tcPr anchor="ctr"/>
                </a:tc>
                <a:extLst>
                  <a:ext uri="{0D108BD9-81ED-4DB2-BD59-A6C34878D82A}">
                    <a16:rowId xmlns:a16="http://schemas.microsoft.com/office/drawing/2014/main" val="3830854595"/>
                  </a:ext>
                </a:extLst>
              </a:tr>
              <a:tr h="1305955">
                <a:tc>
                  <a:txBody>
                    <a:bodyPr/>
                    <a:lstStyle/>
                    <a:p>
                      <a:r>
                        <a:rPr lang="es-GT" sz="2400" b="1"/>
                        <a:t>Observer</a:t>
                      </a:r>
                      <a:endParaRPr lang="es-GT" sz="2400"/>
                    </a:p>
                  </a:txBody>
                  <a:tcPr anchor="ctr"/>
                </a:tc>
                <a:tc>
                  <a:txBody>
                    <a:bodyPr/>
                    <a:lstStyle/>
                    <a:p>
                      <a:r>
                        <a:rPr lang="es-MX" sz="2400"/>
                        <a:t>- Promueve bajo acoplamiento.</a:t>
                      </a:r>
                      <a:br>
                        <a:rPr lang="es-MX" sz="2400"/>
                      </a:br>
                      <a:r>
                        <a:rPr lang="es-MX" sz="2400"/>
                        <a:t>- Facilita notificaciones automáticas.</a:t>
                      </a:r>
                      <a:br>
                        <a:rPr lang="es-MX" sz="2400"/>
                      </a:br>
                      <a:r>
                        <a:rPr lang="es-MX" sz="2400"/>
                        <a:t>- Escalable para múltiples receptores.</a:t>
                      </a:r>
                    </a:p>
                  </a:txBody>
                  <a:tcPr anchor="ctr"/>
                </a:tc>
                <a:extLst>
                  <a:ext uri="{0D108BD9-81ED-4DB2-BD59-A6C34878D82A}">
                    <a16:rowId xmlns:a16="http://schemas.microsoft.com/office/drawing/2014/main" val="793795720"/>
                  </a:ext>
                </a:extLst>
              </a:tr>
              <a:tr h="1305955">
                <a:tc>
                  <a:txBody>
                    <a:bodyPr/>
                    <a:lstStyle/>
                    <a:p>
                      <a:r>
                        <a:rPr lang="es-GT" sz="2400" b="1"/>
                        <a:t>Strategy</a:t>
                      </a:r>
                      <a:endParaRPr lang="es-GT" sz="2400"/>
                    </a:p>
                  </a:txBody>
                  <a:tcPr anchor="ctr"/>
                </a:tc>
                <a:tc>
                  <a:txBody>
                    <a:bodyPr/>
                    <a:lstStyle/>
                    <a:p>
                      <a:r>
                        <a:rPr lang="es-MX" sz="2400"/>
                        <a:t>- Permite intercambiar algoritmos fácilmente.</a:t>
                      </a:r>
                      <a:br>
                        <a:rPr lang="es-MX" sz="2400"/>
                      </a:br>
                      <a:r>
                        <a:rPr lang="es-MX" sz="2400"/>
                        <a:t>- Separa el comportamiento de la lógica principal.</a:t>
                      </a:r>
                      <a:br>
                        <a:rPr lang="es-MX" sz="2400"/>
                      </a:br>
                      <a:r>
                        <a:rPr lang="es-MX" sz="2400"/>
                        <a:t>- Facilita pruebas y mantenimiento.</a:t>
                      </a:r>
                    </a:p>
                  </a:txBody>
                  <a:tcPr anchor="ctr"/>
                </a:tc>
                <a:extLst>
                  <a:ext uri="{0D108BD9-81ED-4DB2-BD59-A6C34878D82A}">
                    <a16:rowId xmlns:a16="http://schemas.microsoft.com/office/drawing/2014/main" val="2672904633"/>
                  </a:ext>
                </a:extLst>
              </a:tr>
              <a:tr h="1686859">
                <a:tc>
                  <a:txBody>
                    <a:bodyPr/>
                    <a:lstStyle/>
                    <a:p>
                      <a:r>
                        <a:rPr lang="es-GT" sz="2400" b="1"/>
                        <a:t>Command</a:t>
                      </a:r>
                      <a:endParaRPr lang="es-GT" sz="2400"/>
                    </a:p>
                  </a:txBody>
                  <a:tcPr anchor="ctr"/>
                </a:tc>
                <a:tc>
                  <a:txBody>
                    <a:bodyPr/>
                    <a:lstStyle/>
                    <a:p>
                      <a:r>
                        <a:rPr lang="es-GT" sz="2400" dirty="0"/>
                        <a:t>- Encapsula solicitudes como objetos.</a:t>
                      </a:r>
                      <a:br>
                        <a:rPr lang="es-GT" sz="2400" dirty="0"/>
                      </a:br>
                      <a:r>
                        <a:rPr lang="es-GT" sz="2400" dirty="0"/>
                        <a:t>- Permite deshacer/rehacer operaciones.</a:t>
                      </a:r>
                      <a:br>
                        <a:rPr lang="es-GT" sz="2400" dirty="0"/>
                      </a:br>
                      <a:r>
                        <a:rPr lang="es-GT" sz="2400" dirty="0"/>
                        <a:t>- Muy útil para colas de tareas o sistemas transaccionales.</a:t>
                      </a:r>
                    </a:p>
                  </a:txBody>
                  <a:tcPr anchor="ctr"/>
                </a:tc>
                <a:extLst>
                  <a:ext uri="{0D108BD9-81ED-4DB2-BD59-A6C34878D82A}">
                    <a16:rowId xmlns:a16="http://schemas.microsoft.com/office/drawing/2014/main" val="3873640930"/>
                  </a:ext>
                </a:extLst>
              </a:tr>
            </a:tbl>
          </a:graphicData>
        </a:graphic>
      </p:graphicFrame>
    </p:spTree>
    <p:extLst>
      <p:ext uri="{BB962C8B-B14F-4D97-AF65-F5344CB8AC3E}">
        <p14:creationId xmlns:p14="http://schemas.microsoft.com/office/powerpoint/2010/main" val="3055653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80">
          <a:extLst>
            <a:ext uri="{FF2B5EF4-FFF2-40B4-BE49-F238E27FC236}">
              <a16:creationId xmlns:a16="http://schemas.microsoft.com/office/drawing/2014/main" id="{FD2D1909-0420-BA1F-C88C-7AEB054A4554}"/>
            </a:ext>
          </a:extLst>
        </p:cNvPr>
        <p:cNvGrpSpPr/>
        <p:nvPr/>
      </p:nvGrpSpPr>
      <p:grpSpPr>
        <a:xfrm>
          <a:off x="0" y="0"/>
          <a:ext cx="0" cy="0"/>
          <a:chOff x="0" y="0"/>
          <a:chExt cx="0" cy="0"/>
        </a:xfrm>
      </p:grpSpPr>
      <p:grpSp>
        <p:nvGrpSpPr>
          <p:cNvPr id="181" name="Google Shape;181;g35f194d6067_0_68">
            <a:extLst>
              <a:ext uri="{FF2B5EF4-FFF2-40B4-BE49-F238E27FC236}">
                <a16:creationId xmlns:a16="http://schemas.microsoft.com/office/drawing/2014/main" id="{6413138A-3423-FD41-732C-9771A7E80022}"/>
              </a:ext>
            </a:extLst>
          </p:cNvPr>
          <p:cNvGrpSpPr/>
          <p:nvPr/>
        </p:nvGrpSpPr>
        <p:grpSpPr>
          <a:xfrm>
            <a:off x="-584626" y="564525"/>
            <a:ext cx="19457594" cy="2036657"/>
            <a:chOff x="0" y="-76200"/>
            <a:chExt cx="5124600" cy="536400"/>
          </a:xfrm>
        </p:grpSpPr>
        <p:sp>
          <p:nvSpPr>
            <p:cNvPr id="182" name="Google Shape;182;g35f194d6067_0_68">
              <a:extLst>
                <a:ext uri="{FF2B5EF4-FFF2-40B4-BE49-F238E27FC236}">
                  <a16:creationId xmlns:a16="http://schemas.microsoft.com/office/drawing/2014/main" id="{F755417D-8EBC-DDDF-345C-192DCA3421EC}"/>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83" name="Google Shape;183;g35f194d6067_0_68">
              <a:extLst>
                <a:ext uri="{FF2B5EF4-FFF2-40B4-BE49-F238E27FC236}">
                  <a16:creationId xmlns:a16="http://schemas.microsoft.com/office/drawing/2014/main" id="{99D66607-39A4-B053-BE3F-BF44096FF3A2}"/>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84" name="Google Shape;184;g35f194d6067_0_68">
            <a:extLst>
              <a:ext uri="{FF2B5EF4-FFF2-40B4-BE49-F238E27FC236}">
                <a16:creationId xmlns:a16="http://schemas.microsoft.com/office/drawing/2014/main" id="{98AA55F7-5B70-FCD1-EC51-E109FEFBF132}"/>
              </a:ext>
            </a:extLst>
          </p:cNvPr>
          <p:cNvSpPr txBox="1"/>
          <p:nvPr/>
        </p:nvSpPr>
        <p:spPr>
          <a:xfrm>
            <a:off x="1599296" y="758314"/>
            <a:ext cx="15089400" cy="1987275"/>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dirty="0" err="1">
                <a:solidFill>
                  <a:srgbClr val="FDFDFD"/>
                </a:solidFill>
                <a:latin typeface="Poppins"/>
                <a:cs typeface="Poppins"/>
                <a:sym typeface="Poppins"/>
              </a:rPr>
              <a:t>Aplicación</a:t>
            </a:r>
            <a:endParaRPr lang="en-US" sz="1400" b="0" i="0" u="none" strike="noStrike" cap="none" dirty="0">
              <a:solidFill>
                <a:srgbClr val="000000"/>
              </a:solidFill>
              <a:latin typeface="Arial"/>
              <a:ea typeface="Arial"/>
              <a:cs typeface="Arial"/>
              <a:sym typeface="Arial"/>
            </a:endParaRPr>
          </a:p>
        </p:txBody>
      </p:sp>
      <p:graphicFrame>
        <p:nvGraphicFramePr>
          <p:cNvPr id="2" name="Tabla 1">
            <a:extLst>
              <a:ext uri="{FF2B5EF4-FFF2-40B4-BE49-F238E27FC236}">
                <a16:creationId xmlns:a16="http://schemas.microsoft.com/office/drawing/2014/main" id="{6EB27BD3-5F88-DEC4-BF59-B7ACAAEE9DE4}"/>
              </a:ext>
            </a:extLst>
          </p:cNvPr>
          <p:cNvGraphicFramePr>
            <a:graphicFrameLocks noGrp="1"/>
          </p:cNvGraphicFramePr>
          <p:nvPr>
            <p:extLst>
              <p:ext uri="{D42A27DB-BD31-4B8C-83A1-F6EECF244321}">
                <p14:modId xmlns:p14="http://schemas.microsoft.com/office/powerpoint/2010/main" val="662723719"/>
              </p:ext>
            </p:extLst>
          </p:nvPr>
        </p:nvGraphicFramePr>
        <p:xfrm>
          <a:off x="971097" y="3034913"/>
          <a:ext cx="16345797" cy="5913120"/>
        </p:xfrm>
        <a:graphic>
          <a:graphicData uri="http://schemas.openxmlformats.org/drawingml/2006/table">
            <a:tbl>
              <a:tblPr>
                <a:tableStyleId>{69CF1AB2-1976-4502-BF36-3FF5EA218861}</a:tableStyleId>
              </a:tblPr>
              <a:tblGrid>
                <a:gridCol w="5448599">
                  <a:extLst>
                    <a:ext uri="{9D8B030D-6E8A-4147-A177-3AD203B41FA5}">
                      <a16:colId xmlns:a16="http://schemas.microsoft.com/office/drawing/2014/main" val="965831268"/>
                    </a:ext>
                  </a:extLst>
                </a:gridCol>
                <a:gridCol w="5448599">
                  <a:extLst>
                    <a:ext uri="{9D8B030D-6E8A-4147-A177-3AD203B41FA5}">
                      <a16:colId xmlns:a16="http://schemas.microsoft.com/office/drawing/2014/main" val="1971556461"/>
                    </a:ext>
                  </a:extLst>
                </a:gridCol>
                <a:gridCol w="5448599">
                  <a:extLst>
                    <a:ext uri="{9D8B030D-6E8A-4147-A177-3AD203B41FA5}">
                      <a16:colId xmlns:a16="http://schemas.microsoft.com/office/drawing/2014/main" val="913200807"/>
                    </a:ext>
                  </a:extLst>
                </a:gridCol>
              </a:tblGrid>
              <a:tr h="400397">
                <a:tc>
                  <a:txBody>
                    <a:bodyPr/>
                    <a:lstStyle/>
                    <a:p>
                      <a:r>
                        <a:rPr lang="es-GT" sz="2800" b="1"/>
                        <a:t>Funcionalidad del sistema</a:t>
                      </a:r>
                      <a:endParaRPr lang="es-GT" sz="2800"/>
                    </a:p>
                  </a:txBody>
                  <a:tcPr anchor="ctr"/>
                </a:tc>
                <a:tc>
                  <a:txBody>
                    <a:bodyPr/>
                    <a:lstStyle/>
                    <a:p>
                      <a:r>
                        <a:rPr lang="es-GT" sz="2800" b="1"/>
                        <a:t>Patrón aplicado</a:t>
                      </a:r>
                      <a:endParaRPr lang="es-GT" sz="2800"/>
                    </a:p>
                  </a:txBody>
                  <a:tcPr anchor="ctr"/>
                </a:tc>
                <a:tc>
                  <a:txBody>
                    <a:bodyPr/>
                    <a:lstStyle/>
                    <a:p>
                      <a:r>
                        <a:rPr lang="es-GT" sz="2800" b="1"/>
                        <a:t>Justificación / Uso</a:t>
                      </a:r>
                      <a:endParaRPr lang="es-GT" sz="2800"/>
                    </a:p>
                  </a:txBody>
                  <a:tcPr anchor="ctr"/>
                </a:tc>
                <a:extLst>
                  <a:ext uri="{0D108BD9-81ED-4DB2-BD59-A6C34878D82A}">
                    <a16:rowId xmlns:a16="http://schemas.microsoft.com/office/drawing/2014/main" val="2091921919"/>
                  </a:ext>
                </a:extLst>
              </a:tr>
              <a:tr h="1241232">
                <a:tc>
                  <a:txBody>
                    <a:bodyPr/>
                    <a:lstStyle/>
                    <a:p>
                      <a:r>
                        <a:rPr lang="es-MX" sz="2800"/>
                        <a:t>Notificar al estudiante cuando se publica una nota nueva</a:t>
                      </a:r>
                    </a:p>
                  </a:txBody>
                  <a:tcPr anchor="ctr"/>
                </a:tc>
                <a:tc>
                  <a:txBody>
                    <a:bodyPr/>
                    <a:lstStyle/>
                    <a:p>
                      <a:r>
                        <a:rPr lang="es-GT" sz="2800" b="1"/>
                        <a:t>Observer</a:t>
                      </a:r>
                      <a:endParaRPr lang="es-GT" sz="2800"/>
                    </a:p>
                  </a:txBody>
                  <a:tcPr anchor="ctr"/>
                </a:tc>
                <a:tc>
                  <a:txBody>
                    <a:bodyPr/>
                    <a:lstStyle/>
                    <a:p>
                      <a:r>
                        <a:rPr lang="es-MX" sz="2800"/>
                        <a:t>El estudiante está suscrito a los cursos; recibe notificaciones automáticas cuando el profesor publica algo.</a:t>
                      </a:r>
                    </a:p>
                  </a:txBody>
                  <a:tcPr anchor="ctr"/>
                </a:tc>
                <a:extLst>
                  <a:ext uri="{0D108BD9-81ED-4DB2-BD59-A6C34878D82A}">
                    <a16:rowId xmlns:a16="http://schemas.microsoft.com/office/drawing/2014/main" val="2221377831"/>
                  </a:ext>
                </a:extLst>
              </a:tr>
              <a:tr h="1241232">
                <a:tc>
                  <a:txBody>
                    <a:bodyPr/>
                    <a:lstStyle/>
                    <a:p>
                      <a:r>
                        <a:rPr lang="es-GT" sz="2800"/>
                        <a:t>Elegir método de pago o forma de ordenamiento de cursos</a:t>
                      </a:r>
                    </a:p>
                  </a:txBody>
                  <a:tcPr anchor="ctr"/>
                </a:tc>
                <a:tc>
                  <a:txBody>
                    <a:bodyPr/>
                    <a:lstStyle/>
                    <a:p>
                      <a:r>
                        <a:rPr lang="es-GT" sz="2800" b="1"/>
                        <a:t>Strategy</a:t>
                      </a:r>
                      <a:endParaRPr lang="es-GT" sz="2800"/>
                    </a:p>
                  </a:txBody>
                  <a:tcPr anchor="ctr"/>
                </a:tc>
                <a:tc>
                  <a:txBody>
                    <a:bodyPr/>
                    <a:lstStyle/>
                    <a:p>
                      <a:r>
                        <a:rPr lang="es-MX" sz="2800"/>
                        <a:t>Permite cambiar dinámicamente el comportamiento (por ejemplo: pagar con tarjeta, PayPal, transferencia).</a:t>
                      </a:r>
                    </a:p>
                  </a:txBody>
                  <a:tcPr anchor="ctr"/>
                </a:tc>
                <a:extLst>
                  <a:ext uri="{0D108BD9-81ED-4DB2-BD59-A6C34878D82A}">
                    <a16:rowId xmlns:a16="http://schemas.microsoft.com/office/drawing/2014/main" val="2338784569"/>
                  </a:ext>
                </a:extLst>
              </a:tr>
              <a:tr h="1241232">
                <a:tc>
                  <a:txBody>
                    <a:bodyPr/>
                    <a:lstStyle/>
                    <a:p>
                      <a:r>
                        <a:rPr lang="es-MX" sz="2800"/>
                        <a:t>Gestionar acciones como “enviar tarea”, “marcar como leído”</a:t>
                      </a:r>
                    </a:p>
                  </a:txBody>
                  <a:tcPr anchor="ctr"/>
                </a:tc>
                <a:tc>
                  <a:txBody>
                    <a:bodyPr/>
                    <a:lstStyle/>
                    <a:p>
                      <a:r>
                        <a:rPr lang="es-GT" sz="2800" b="1"/>
                        <a:t>Command</a:t>
                      </a:r>
                      <a:endParaRPr lang="es-GT" sz="2800"/>
                    </a:p>
                  </a:txBody>
                  <a:tcPr anchor="ctr"/>
                </a:tc>
                <a:tc>
                  <a:txBody>
                    <a:bodyPr/>
                    <a:lstStyle/>
                    <a:p>
                      <a:r>
                        <a:rPr lang="es-MX" sz="2800" dirty="0"/>
                        <a:t>Cada acción se encapsula como un objeto y puede ejecutarse, deshacerse o programarse en una cola.</a:t>
                      </a:r>
                    </a:p>
                  </a:txBody>
                  <a:tcPr anchor="ctr"/>
                </a:tc>
                <a:extLst>
                  <a:ext uri="{0D108BD9-81ED-4DB2-BD59-A6C34878D82A}">
                    <a16:rowId xmlns:a16="http://schemas.microsoft.com/office/drawing/2014/main" val="3680919265"/>
                  </a:ext>
                </a:extLst>
              </a:tr>
            </a:tbl>
          </a:graphicData>
        </a:graphic>
      </p:graphicFrame>
    </p:spTree>
    <p:extLst>
      <p:ext uri="{BB962C8B-B14F-4D97-AF65-F5344CB8AC3E}">
        <p14:creationId xmlns:p14="http://schemas.microsoft.com/office/powerpoint/2010/main" val="3479504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80">
          <a:extLst>
            <a:ext uri="{FF2B5EF4-FFF2-40B4-BE49-F238E27FC236}">
              <a16:creationId xmlns:a16="http://schemas.microsoft.com/office/drawing/2014/main" id="{B1CB9A86-6B57-105B-40F4-1EDB8749E7C1}"/>
            </a:ext>
          </a:extLst>
        </p:cNvPr>
        <p:cNvGrpSpPr/>
        <p:nvPr/>
      </p:nvGrpSpPr>
      <p:grpSpPr>
        <a:xfrm>
          <a:off x="0" y="0"/>
          <a:ext cx="0" cy="0"/>
          <a:chOff x="0" y="0"/>
          <a:chExt cx="0" cy="0"/>
        </a:xfrm>
      </p:grpSpPr>
      <p:grpSp>
        <p:nvGrpSpPr>
          <p:cNvPr id="181" name="Google Shape;181;g35f194d6067_0_68">
            <a:extLst>
              <a:ext uri="{FF2B5EF4-FFF2-40B4-BE49-F238E27FC236}">
                <a16:creationId xmlns:a16="http://schemas.microsoft.com/office/drawing/2014/main" id="{4C4FD8E9-3877-9103-3446-644ABF445F6E}"/>
              </a:ext>
            </a:extLst>
          </p:cNvPr>
          <p:cNvGrpSpPr/>
          <p:nvPr/>
        </p:nvGrpSpPr>
        <p:grpSpPr>
          <a:xfrm>
            <a:off x="-584626" y="564525"/>
            <a:ext cx="19457594" cy="2036657"/>
            <a:chOff x="0" y="-76200"/>
            <a:chExt cx="5124600" cy="536400"/>
          </a:xfrm>
        </p:grpSpPr>
        <p:sp>
          <p:nvSpPr>
            <p:cNvPr id="182" name="Google Shape;182;g35f194d6067_0_68">
              <a:extLst>
                <a:ext uri="{FF2B5EF4-FFF2-40B4-BE49-F238E27FC236}">
                  <a16:creationId xmlns:a16="http://schemas.microsoft.com/office/drawing/2014/main" id="{C7AEB326-35FC-F7DD-4B60-EB08D826AA4C}"/>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83" name="Google Shape;183;g35f194d6067_0_68">
              <a:extLst>
                <a:ext uri="{FF2B5EF4-FFF2-40B4-BE49-F238E27FC236}">
                  <a16:creationId xmlns:a16="http://schemas.microsoft.com/office/drawing/2014/main" id="{0279CDF2-740D-0219-651C-3B5B87C74EE3}"/>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84" name="Google Shape;184;g35f194d6067_0_68">
            <a:extLst>
              <a:ext uri="{FF2B5EF4-FFF2-40B4-BE49-F238E27FC236}">
                <a16:creationId xmlns:a16="http://schemas.microsoft.com/office/drawing/2014/main" id="{A09DC054-06F5-D12C-C7C0-664A2F7D5F5B}"/>
              </a:ext>
            </a:extLst>
          </p:cNvPr>
          <p:cNvSpPr txBox="1"/>
          <p:nvPr/>
        </p:nvSpPr>
        <p:spPr>
          <a:xfrm>
            <a:off x="1599296" y="758314"/>
            <a:ext cx="15089400" cy="1987275"/>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i="0" u="none" strike="noStrike" cap="none" dirty="0" err="1">
                <a:solidFill>
                  <a:srgbClr val="FDFDFD"/>
                </a:solidFill>
                <a:latin typeface="Poppins"/>
                <a:ea typeface="Arial"/>
                <a:cs typeface="Poppins"/>
                <a:sym typeface="Poppins"/>
              </a:rPr>
              <a:t>Ejemplo</a:t>
            </a:r>
            <a:endParaRPr lang="en-US" sz="1400" b="0" i="0" u="none" strike="noStrike" cap="none" dirty="0">
              <a:solidFill>
                <a:srgbClr val="000000"/>
              </a:solidFill>
              <a:latin typeface="Arial"/>
              <a:ea typeface="Arial"/>
              <a:cs typeface="Arial"/>
              <a:sym typeface="Arial"/>
            </a:endParaRPr>
          </a:p>
        </p:txBody>
      </p:sp>
      <p:sp>
        <p:nvSpPr>
          <p:cNvPr id="4" name="CuadroTexto 3">
            <a:extLst>
              <a:ext uri="{FF2B5EF4-FFF2-40B4-BE49-F238E27FC236}">
                <a16:creationId xmlns:a16="http://schemas.microsoft.com/office/drawing/2014/main" id="{FDC90F75-C18F-68F5-5D4F-0C5D659B3059}"/>
              </a:ext>
            </a:extLst>
          </p:cNvPr>
          <p:cNvSpPr txBox="1"/>
          <p:nvPr/>
        </p:nvSpPr>
        <p:spPr>
          <a:xfrm>
            <a:off x="1477732" y="2841124"/>
            <a:ext cx="15332528" cy="1938992"/>
          </a:xfrm>
          <a:prstGeom prst="rect">
            <a:avLst/>
          </a:prstGeom>
          <a:noFill/>
        </p:spPr>
        <p:txBody>
          <a:bodyPr wrap="square">
            <a:spAutoFit/>
          </a:bodyPr>
          <a:lstStyle/>
          <a:p>
            <a:pPr>
              <a:buNone/>
            </a:pPr>
            <a:r>
              <a:rPr lang="es-MX" sz="2400" dirty="0"/>
              <a:t>Una app universitaria permite que </a:t>
            </a:r>
            <a:r>
              <a:rPr lang="es-MX" sz="2400" b="1" dirty="0"/>
              <a:t>los estudiantes reciban una notificación automática</a:t>
            </a:r>
            <a:r>
              <a:rPr lang="es-MX" sz="2400" dirty="0"/>
              <a:t> cada vez que un </a:t>
            </a:r>
            <a:r>
              <a:rPr lang="es-MX" sz="2400" b="1" dirty="0"/>
              <a:t>docente publica una nueva nota</a:t>
            </a:r>
            <a:r>
              <a:rPr lang="es-MX" sz="2400" dirty="0"/>
              <a:t>. Además, los estudiantes pueden elegir </a:t>
            </a:r>
            <a:r>
              <a:rPr lang="es-MX" sz="2400" b="1" dirty="0"/>
              <a:t>cómo quieren recibir esas notificaciones</a:t>
            </a:r>
            <a:r>
              <a:rPr lang="es-MX" sz="2400" dirty="0"/>
              <a:t> (correo, mensaje dentro de la app, notificación </a:t>
            </a:r>
            <a:r>
              <a:rPr lang="es-MX" sz="2400" dirty="0" err="1"/>
              <a:t>push</a:t>
            </a:r>
            <a:r>
              <a:rPr lang="es-MX" sz="2400" dirty="0"/>
              <a:t>).</a:t>
            </a:r>
          </a:p>
          <a:p>
            <a:r>
              <a:rPr lang="es-MX" sz="2400" dirty="0"/>
              <a:t>También, la app registra acciones como “ver nota”, “responder comentario” y permite </a:t>
            </a:r>
            <a:r>
              <a:rPr lang="es-MX" sz="2400" b="1" dirty="0"/>
              <a:t>deshacerlas o repetirlas</a:t>
            </a:r>
            <a:r>
              <a:rPr lang="es-MX" sz="2400" dirty="0"/>
              <a:t> si el usuario lo desea.</a:t>
            </a:r>
          </a:p>
        </p:txBody>
      </p:sp>
      <p:graphicFrame>
        <p:nvGraphicFramePr>
          <p:cNvPr id="5" name="Tabla 4">
            <a:extLst>
              <a:ext uri="{FF2B5EF4-FFF2-40B4-BE49-F238E27FC236}">
                <a16:creationId xmlns:a16="http://schemas.microsoft.com/office/drawing/2014/main" id="{7AB26232-FA28-E2EF-58D5-7B987B6109CD}"/>
              </a:ext>
            </a:extLst>
          </p:cNvPr>
          <p:cNvGraphicFramePr>
            <a:graphicFrameLocks noGrp="1"/>
          </p:cNvGraphicFramePr>
          <p:nvPr>
            <p:extLst>
              <p:ext uri="{D42A27DB-BD31-4B8C-83A1-F6EECF244321}">
                <p14:modId xmlns:p14="http://schemas.microsoft.com/office/powerpoint/2010/main" val="3469649041"/>
              </p:ext>
            </p:extLst>
          </p:nvPr>
        </p:nvGraphicFramePr>
        <p:xfrm>
          <a:off x="3510642" y="5339443"/>
          <a:ext cx="9462408" cy="2932064"/>
        </p:xfrm>
        <a:graphic>
          <a:graphicData uri="http://schemas.openxmlformats.org/drawingml/2006/table">
            <a:tbl>
              <a:tblPr>
                <a:tableStyleId>{BC89EF96-8CEA-46FF-86C4-4CE0E7609802}</a:tableStyleId>
              </a:tblPr>
              <a:tblGrid>
                <a:gridCol w="3154136">
                  <a:extLst>
                    <a:ext uri="{9D8B030D-6E8A-4147-A177-3AD203B41FA5}">
                      <a16:colId xmlns:a16="http://schemas.microsoft.com/office/drawing/2014/main" val="1854609252"/>
                    </a:ext>
                  </a:extLst>
                </a:gridCol>
                <a:gridCol w="3154136">
                  <a:extLst>
                    <a:ext uri="{9D8B030D-6E8A-4147-A177-3AD203B41FA5}">
                      <a16:colId xmlns:a16="http://schemas.microsoft.com/office/drawing/2014/main" val="3701865355"/>
                    </a:ext>
                  </a:extLst>
                </a:gridCol>
                <a:gridCol w="3154136">
                  <a:extLst>
                    <a:ext uri="{9D8B030D-6E8A-4147-A177-3AD203B41FA5}">
                      <a16:colId xmlns:a16="http://schemas.microsoft.com/office/drawing/2014/main" val="1300984620"/>
                    </a:ext>
                  </a:extLst>
                </a:gridCol>
              </a:tblGrid>
              <a:tr h="357569">
                <a:tc>
                  <a:txBody>
                    <a:bodyPr/>
                    <a:lstStyle/>
                    <a:p>
                      <a:r>
                        <a:rPr lang="es-GT" b="1"/>
                        <a:t>Requisito</a:t>
                      </a:r>
                      <a:endParaRPr lang="es-GT"/>
                    </a:p>
                  </a:txBody>
                  <a:tcPr anchor="ctr"/>
                </a:tc>
                <a:tc>
                  <a:txBody>
                    <a:bodyPr/>
                    <a:lstStyle/>
                    <a:p>
                      <a:r>
                        <a:rPr lang="es-GT" b="1"/>
                        <a:t>Patrón</a:t>
                      </a:r>
                      <a:endParaRPr lang="es-GT"/>
                    </a:p>
                  </a:txBody>
                  <a:tcPr anchor="ctr"/>
                </a:tc>
                <a:tc>
                  <a:txBody>
                    <a:bodyPr/>
                    <a:lstStyle/>
                    <a:p>
                      <a:r>
                        <a:rPr lang="es-GT" b="1"/>
                        <a:t>Justificación</a:t>
                      </a:r>
                      <a:endParaRPr lang="es-GT"/>
                    </a:p>
                  </a:txBody>
                  <a:tcPr anchor="ctr"/>
                </a:tc>
                <a:extLst>
                  <a:ext uri="{0D108BD9-81ED-4DB2-BD59-A6C34878D82A}">
                    <a16:rowId xmlns:a16="http://schemas.microsoft.com/office/drawing/2014/main" val="4177664589"/>
                  </a:ext>
                </a:extLst>
              </a:tr>
              <a:tr h="1108463">
                <a:tc>
                  <a:txBody>
                    <a:bodyPr/>
                    <a:lstStyle/>
                    <a:p>
                      <a:r>
                        <a:rPr lang="es-GT"/>
                        <a:t>Notificar a varios estudiantes automáticamente</a:t>
                      </a:r>
                    </a:p>
                  </a:txBody>
                  <a:tcPr anchor="ctr"/>
                </a:tc>
                <a:tc>
                  <a:txBody>
                    <a:bodyPr/>
                    <a:lstStyle/>
                    <a:p>
                      <a:r>
                        <a:rPr lang="es-GT" b="1"/>
                        <a:t>Observer</a:t>
                      </a:r>
                      <a:endParaRPr lang="es-GT"/>
                    </a:p>
                  </a:txBody>
                  <a:tcPr anchor="ctr"/>
                </a:tc>
                <a:tc>
                  <a:txBody>
                    <a:bodyPr/>
                    <a:lstStyle/>
                    <a:p>
                      <a:r>
                        <a:rPr lang="es-MX" dirty="0"/>
                        <a:t>Permite que todos los estudiantes suscritos sean notificados cuando el docente publica una nota.</a:t>
                      </a:r>
                    </a:p>
                  </a:txBody>
                  <a:tcPr anchor="ctr"/>
                </a:tc>
                <a:extLst>
                  <a:ext uri="{0D108BD9-81ED-4DB2-BD59-A6C34878D82A}">
                    <a16:rowId xmlns:a16="http://schemas.microsoft.com/office/drawing/2014/main" val="2041112095"/>
                  </a:ext>
                </a:extLst>
              </a:tr>
              <a:tr h="607867">
                <a:tc>
                  <a:txBody>
                    <a:bodyPr/>
                    <a:lstStyle/>
                    <a:p>
                      <a:r>
                        <a:rPr lang="es-MX"/>
                        <a:t>Elegir forma de notificación (correo, push, app)</a:t>
                      </a:r>
                    </a:p>
                  </a:txBody>
                  <a:tcPr anchor="ctr"/>
                </a:tc>
                <a:tc>
                  <a:txBody>
                    <a:bodyPr/>
                    <a:lstStyle/>
                    <a:p>
                      <a:r>
                        <a:rPr lang="es-GT" b="1"/>
                        <a:t>Strategy</a:t>
                      </a:r>
                      <a:endParaRPr lang="es-GT"/>
                    </a:p>
                  </a:txBody>
                  <a:tcPr anchor="ctr"/>
                </a:tc>
                <a:tc>
                  <a:txBody>
                    <a:bodyPr/>
                    <a:lstStyle/>
                    <a:p>
                      <a:r>
                        <a:rPr lang="es-MX"/>
                        <a:t>Intercambia el comportamiento de envío de forma dinámica.</a:t>
                      </a:r>
                    </a:p>
                  </a:txBody>
                  <a:tcPr anchor="ctr"/>
                </a:tc>
                <a:extLst>
                  <a:ext uri="{0D108BD9-81ED-4DB2-BD59-A6C34878D82A}">
                    <a16:rowId xmlns:a16="http://schemas.microsoft.com/office/drawing/2014/main" val="3552679473"/>
                  </a:ext>
                </a:extLst>
              </a:tr>
              <a:tr h="858165">
                <a:tc>
                  <a:txBody>
                    <a:bodyPr/>
                    <a:lstStyle/>
                    <a:p>
                      <a:r>
                        <a:rPr lang="es-MX"/>
                        <a:t>Registrar acciones del estudiante con posibilidad de deshacer</a:t>
                      </a:r>
                    </a:p>
                  </a:txBody>
                  <a:tcPr anchor="ctr"/>
                </a:tc>
                <a:tc>
                  <a:txBody>
                    <a:bodyPr/>
                    <a:lstStyle/>
                    <a:p>
                      <a:r>
                        <a:rPr lang="es-GT" b="1" dirty="0" err="1"/>
                        <a:t>Command</a:t>
                      </a:r>
                      <a:endParaRPr lang="es-GT" dirty="0"/>
                    </a:p>
                  </a:txBody>
                  <a:tcPr anchor="ctr"/>
                </a:tc>
                <a:tc>
                  <a:txBody>
                    <a:bodyPr/>
                    <a:lstStyle/>
                    <a:p>
                      <a:r>
                        <a:rPr lang="es-MX" dirty="0"/>
                        <a:t>Cada acción se convierte en objeto y puede deshacerse fácilmente.</a:t>
                      </a:r>
                    </a:p>
                  </a:txBody>
                  <a:tcPr anchor="ctr"/>
                </a:tc>
                <a:extLst>
                  <a:ext uri="{0D108BD9-81ED-4DB2-BD59-A6C34878D82A}">
                    <a16:rowId xmlns:a16="http://schemas.microsoft.com/office/drawing/2014/main" val="3345379889"/>
                  </a:ext>
                </a:extLst>
              </a:tr>
            </a:tbl>
          </a:graphicData>
        </a:graphic>
      </p:graphicFrame>
    </p:spTree>
    <p:extLst>
      <p:ext uri="{BB962C8B-B14F-4D97-AF65-F5344CB8AC3E}">
        <p14:creationId xmlns:p14="http://schemas.microsoft.com/office/powerpoint/2010/main" val="2839866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80">
          <a:extLst>
            <a:ext uri="{FF2B5EF4-FFF2-40B4-BE49-F238E27FC236}">
              <a16:creationId xmlns:a16="http://schemas.microsoft.com/office/drawing/2014/main" id="{E5922B24-60E2-EF4A-42BC-8FA47522C25D}"/>
            </a:ext>
          </a:extLst>
        </p:cNvPr>
        <p:cNvGrpSpPr/>
        <p:nvPr/>
      </p:nvGrpSpPr>
      <p:grpSpPr>
        <a:xfrm>
          <a:off x="0" y="0"/>
          <a:ext cx="0" cy="0"/>
          <a:chOff x="0" y="0"/>
          <a:chExt cx="0" cy="0"/>
        </a:xfrm>
      </p:grpSpPr>
      <p:grpSp>
        <p:nvGrpSpPr>
          <p:cNvPr id="181" name="Google Shape;181;g35f194d6067_0_68">
            <a:extLst>
              <a:ext uri="{FF2B5EF4-FFF2-40B4-BE49-F238E27FC236}">
                <a16:creationId xmlns:a16="http://schemas.microsoft.com/office/drawing/2014/main" id="{6B16EE94-2CB4-73A0-2847-1930C8582035}"/>
              </a:ext>
            </a:extLst>
          </p:cNvPr>
          <p:cNvGrpSpPr/>
          <p:nvPr/>
        </p:nvGrpSpPr>
        <p:grpSpPr>
          <a:xfrm>
            <a:off x="-584626" y="564525"/>
            <a:ext cx="19457594" cy="2036657"/>
            <a:chOff x="0" y="-76200"/>
            <a:chExt cx="5124600" cy="536400"/>
          </a:xfrm>
        </p:grpSpPr>
        <p:sp>
          <p:nvSpPr>
            <p:cNvPr id="182" name="Google Shape;182;g35f194d6067_0_68">
              <a:extLst>
                <a:ext uri="{FF2B5EF4-FFF2-40B4-BE49-F238E27FC236}">
                  <a16:creationId xmlns:a16="http://schemas.microsoft.com/office/drawing/2014/main" id="{0F69041E-B551-E78D-82CF-887E32388F1B}"/>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83" name="Google Shape;183;g35f194d6067_0_68">
              <a:extLst>
                <a:ext uri="{FF2B5EF4-FFF2-40B4-BE49-F238E27FC236}">
                  <a16:creationId xmlns:a16="http://schemas.microsoft.com/office/drawing/2014/main" id="{A6028702-B84A-6690-B595-EC60E1B27B7D}"/>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84" name="Google Shape;184;g35f194d6067_0_68">
            <a:extLst>
              <a:ext uri="{FF2B5EF4-FFF2-40B4-BE49-F238E27FC236}">
                <a16:creationId xmlns:a16="http://schemas.microsoft.com/office/drawing/2014/main" id="{874461C7-3963-6C77-F876-C0106677766C}"/>
              </a:ext>
            </a:extLst>
          </p:cNvPr>
          <p:cNvSpPr txBox="1"/>
          <p:nvPr/>
        </p:nvSpPr>
        <p:spPr>
          <a:xfrm>
            <a:off x="1599296" y="758314"/>
            <a:ext cx="15089400" cy="1987275"/>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i="0" u="none" strike="noStrike" cap="none" dirty="0">
                <a:solidFill>
                  <a:srgbClr val="FDFDFD"/>
                </a:solidFill>
                <a:latin typeface="Poppins"/>
                <a:ea typeface="Arial"/>
                <a:cs typeface="Poppins"/>
                <a:sym typeface="Poppins"/>
              </a:rPr>
              <a:t>Tarea</a:t>
            </a:r>
            <a:endParaRPr lang="en-US" sz="1400" b="0" i="0" u="none" strike="noStrike" cap="none" dirty="0">
              <a:solidFill>
                <a:srgbClr val="000000"/>
              </a:solidFill>
              <a:latin typeface="Arial"/>
              <a:ea typeface="Arial"/>
              <a:cs typeface="Arial"/>
              <a:sym typeface="Arial"/>
            </a:endParaRPr>
          </a:p>
        </p:txBody>
      </p:sp>
      <p:sp>
        <p:nvSpPr>
          <p:cNvPr id="4" name="CuadroTexto 3">
            <a:extLst>
              <a:ext uri="{FF2B5EF4-FFF2-40B4-BE49-F238E27FC236}">
                <a16:creationId xmlns:a16="http://schemas.microsoft.com/office/drawing/2014/main" id="{F5AE602C-5DDE-ECB2-A345-2D27EEB65FE0}"/>
              </a:ext>
            </a:extLst>
          </p:cNvPr>
          <p:cNvSpPr txBox="1"/>
          <p:nvPr/>
        </p:nvSpPr>
        <p:spPr>
          <a:xfrm>
            <a:off x="1477732" y="2841124"/>
            <a:ext cx="15332528" cy="1938992"/>
          </a:xfrm>
          <a:prstGeom prst="rect">
            <a:avLst/>
          </a:prstGeom>
          <a:noFill/>
        </p:spPr>
        <p:txBody>
          <a:bodyPr wrap="square">
            <a:spAutoFit/>
          </a:bodyPr>
          <a:lstStyle/>
          <a:p>
            <a:pPr>
              <a:buNone/>
            </a:pPr>
            <a:r>
              <a:rPr lang="es-MX" sz="2400" dirty="0"/>
              <a:t>Una app universitaria permite que </a:t>
            </a:r>
            <a:r>
              <a:rPr lang="es-MX" sz="2400" b="1" dirty="0"/>
              <a:t>los estudiantes reciban una notificación automática</a:t>
            </a:r>
            <a:r>
              <a:rPr lang="es-MX" sz="2400" dirty="0"/>
              <a:t> cada vez que un </a:t>
            </a:r>
            <a:r>
              <a:rPr lang="es-MX" sz="2400" b="1" dirty="0"/>
              <a:t>docente publica una nueva nota</a:t>
            </a:r>
            <a:r>
              <a:rPr lang="es-MX" sz="2400" dirty="0"/>
              <a:t>. Además, los estudiantes pueden elegir </a:t>
            </a:r>
            <a:r>
              <a:rPr lang="es-MX" sz="2400" b="1" dirty="0"/>
              <a:t>cómo quieren recibir esas notificaciones</a:t>
            </a:r>
            <a:r>
              <a:rPr lang="es-MX" sz="2400" dirty="0"/>
              <a:t> (correo, mensaje dentro de la app, notificación </a:t>
            </a:r>
            <a:r>
              <a:rPr lang="es-MX" sz="2400" dirty="0" err="1"/>
              <a:t>push</a:t>
            </a:r>
            <a:r>
              <a:rPr lang="es-MX" sz="2400" dirty="0"/>
              <a:t>).</a:t>
            </a:r>
          </a:p>
          <a:p>
            <a:r>
              <a:rPr lang="es-MX" sz="2400" dirty="0"/>
              <a:t>También, la app registra acciones como “ver nota”, “responder comentario” y permite </a:t>
            </a:r>
            <a:r>
              <a:rPr lang="es-MX" sz="2400" b="1" dirty="0"/>
              <a:t>deshacerlas o repetirlas</a:t>
            </a:r>
            <a:r>
              <a:rPr lang="es-MX" sz="2400" dirty="0"/>
              <a:t> si el usuario lo desea.</a:t>
            </a:r>
          </a:p>
        </p:txBody>
      </p:sp>
      <p:graphicFrame>
        <p:nvGraphicFramePr>
          <p:cNvPr id="5" name="Tabla 4">
            <a:extLst>
              <a:ext uri="{FF2B5EF4-FFF2-40B4-BE49-F238E27FC236}">
                <a16:creationId xmlns:a16="http://schemas.microsoft.com/office/drawing/2014/main" id="{ABEDF854-002C-38DC-5263-C71896ABBB38}"/>
              </a:ext>
            </a:extLst>
          </p:cNvPr>
          <p:cNvGraphicFramePr>
            <a:graphicFrameLocks noGrp="1"/>
          </p:cNvGraphicFramePr>
          <p:nvPr/>
        </p:nvGraphicFramePr>
        <p:xfrm>
          <a:off x="3510642" y="5339443"/>
          <a:ext cx="9462408" cy="2932064"/>
        </p:xfrm>
        <a:graphic>
          <a:graphicData uri="http://schemas.openxmlformats.org/drawingml/2006/table">
            <a:tbl>
              <a:tblPr>
                <a:tableStyleId>{BC89EF96-8CEA-46FF-86C4-4CE0E7609802}</a:tableStyleId>
              </a:tblPr>
              <a:tblGrid>
                <a:gridCol w="3154136">
                  <a:extLst>
                    <a:ext uri="{9D8B030D-6E8A-4147-A177-3AD203B41FA5}">
                      <a16:colId xmlns:a16="http://schemas.microsoft.com/office/drawing/2014/main" val="1854609252"/>
                    </a:ext>
                  </a:extLst>
                </a:gridCol>
                <a:gridCol w="3154136">
                  <a:extLst>
                    <a:ext uri="{9D8B030D-6E8A-4147-A177-3AD203B41FA5}">
                      <a16:colId xmlns:a16="http://schemas.microsoft.com/office/drawing/2014/main" val="3701865355"/>
                    </a:ext>
                  </a:extLst>
                </a:gridCol>
                <a:gridCol w="3154136">
                  <a:extLst>
                    <a:ext uri="{9D8B030D-6E8A-4147-A177-3AD203B41FA5}">
                      <a16:colId xmlns:a16="http://schemas.microsoft.com/office/drawing/2014/main" val="1300984620"/>
                    </a:ext>
                  </a:extLst>
                </a:gridCol>
              </a:tblGrid>
              <a:tr h="357569">
                <a:tc>
                  <a:txBody>
                    <a:bodyPr/>
                    <a:lstStyle/>
                    <a:p>
                      <a:r>
                        <a:rPr lang="es-GT" b="1"/>
                        <a:t>Requisito</a:t>
                      </a:r>
                      <a:endParaRPr lang="es-GT"/>
                    </a:p>
                  </a:txBody>
                  <a:tcPr anchor="ctr"/>
                </a:tc>
                <a:tc>
                  <a:txBody>
                    <a:bodyPr/>
                    <a:lstStyle/>
                    <a:p>
                      <a:r>
                        <a:rPr lang="es-GT" b="1"/>
                        <a:t>Patrón</a:t>
                      </a:r>
                      <a:endParaRPr lang="es-GT"/>
                    </a:p>
                  </a:txBody>
                  <a:tcPr anchor="ctr"/>
                </a:tc>
                <a:tc>
                  <a:txBody>
                    <a:bodyPr/>
                    <a:lstStyle/>
                    <a:p>
                      <a:r>
                        <a:rPr lang="es-GT" b="1"/>
                        <a:t>Justificación</a:t>
                      </a:r>
                      <a:endParaRPr lang="es-GT"/>
                    </a:p>
                  </a:txBody>
                  <a:tcPr anchor="ctr"/>
                </a:tc>
                <a:extLst>
                  <a:ext uri="{0D108BD9-81ED-4DB2-BD59-A6C34878D82A}">
                    <a16:rowId xmlns:a16="http://schemas.microsoft.com/office/drawing/2014/main" val="4177664589"/>
                  </a:ext>
                </a:extLst>
              </a:tr>
              <a:tr h="1108463">
                <a:tc>
                  <a:txBody>
                    <a:bodyPr/>
                    <a:lstStyle/>
                    <a:p>
                      <a:r>
                        <a:rPr lang="es-GT"/>
                        <a:t>Notificar a varios estudiantes automáticamente</a:t>
                      </a:r>
                    </a:p>
                  </a:txBody>
                  <a:tcPr anchor="ctr"/>
                </a:tc>
                <a:tc>
                  <a:txBody>
                    <a:bodyPr/>
                    <a:lstStyle/>
                    <a:p>
                      <a:r>
                        <a:rPr lang="es-GT" b="1"/>
                        <a:t>Observer</a:t>
                      </a:r>
                      <a:endParaRPr lang="es-GT"/>
                    </a:p>
                  </a:txBody>
                  <a:tcPr anchor="ctr"/>
                </a:tc>
                <a:tc>
                  <a:txBody>
                    <a:bodyPr/>
                    <a:lstStyle/>
                    <a:p>
                      <a:r>
                        <a:rPr lang="es-MX" dirty="0"/>
                        <a:t>Permite que todos los estudiantes suscritos sean notificados cuando el docente publica una nota.</a:t>
                      </a:r>
                    </a:p>
                  </a:txBody>
                  <a:tcPr anchor="ctr"/>
                </a:tc>
                <a:extLst>
                  <a:ext uri="{0D108BD9-81ED-4DB2-BD59-A6C34878D82A}">
                    <a16:rowId xmlns:a16="http://schemas.microsoft.com/office/drawing/2014/main" val="2041112095"/>
                  </a:ext>
                </a:extLst>
              </a:tr>
              <a:tr h="607867">
                <a:tc>
                  <a:txBody>
                    <a:bodyPr/>
                    <a:lstStyle/>
                    <a:p>
                      <a:r>
                        <a:rPr lang="es-MX"/>
                        <a:t>Elegir forma de notificación (correo, push, app)</a:t>
                      </a:r>
                    </a:p>
                  </a:txBody>
                  <a:tcPr anchor="ctr"/>
                </a:tc>
                <a:tc>
                  <a:txBody>
                    <a:bodyPr/>
                    <a:lstStyle/>
                    <a:p>
                      <a:r>
                        <a:rPr lang="es-GT" b="1"/>
                        <a:t>Strategy</a:t>
                      </a:r>
                      <a:endParaRPr lang="es-GT"/>
                    </a:p>
                  </a:txBody>
                  <a:tcPr anchor="ctr"/>
                </a:tc>
                <a:tc>
                  <a:txBody>
                    <a:bodyPr/>
                    <a:lstStyle/>
                    <a:p>
                      <a:r>
                        <a:rPr lang="es-MX"/>
                        <a:t>Intercambia el comportamiento de envío de forma dinámica.</a:t>
                      </a:r>
                    </a:p>
                  </a:txBody>
                  <a:tcPr anchor="ctr"/>
                </a:tc>
                <a:extLst>
                  <a:ext uri="{0D108BD9-81ED-4DB2-BD59-A6C34878D82A}">
                    <a16:rowId xmlns:a16="http://schemas.microsoft.com/office/drawing/2014/main" val="3552679473"/>
                  </a:ext>
                </a:extLst>
              </a:tr>
              <a:tr h="858165">
                <a:tc>
                  <a:txBody>
                    <a:bodyPr/>
                    <a:lstStyle/>
                    <a:p>
                      <a:r>
                        <a:rPr lang="es-MX"/>
                        <a:t>Registrar acciones del estudiante con posibilidad de deshacer</a:t>
                      </a:r>
                    </a:p>
                  </a:txBody>
                  <a:tcPr anchor="ctr"/>
                </a:tc>
                <a:tc>
                  <a:txBody>
                    <a:bodyPr/>
                    <a:lstStyle/>
                    <a:p>
                      <a:r>
                        <a:rPr lang="es-GT" b="1" dirty="0" err="1"/>
                        <a:t>Command</a:t>
                      </a:r>
                      <a:endParaRPr lang="es-GT" dirty="0"/>
                    </a:p>
                  </a:txBody>
                  <a:tcPr anchor="ctr"/>
                </a:tc>
                <a:tc>
                  <a:txBody>
                    <a:bodyPr/>
                    <a:lstStyle/>
                    <a:p>
                      <a:r>
                        <a:rPr lang="es-MX" dirty="0"/>
                        <a:t>Cada acción se convierte en objeto y puede deshacerse fácilmente.</a:t>
                      </a:r>
                    </a:p>
                  </a:txBody>
                  <a:tcPr anchor="ctr"/>
                </a:tc>
                <a:extLst>
                  <a:ext uri="{0D108BD9-81ED-4DB2-BD59-A6C34878D82A}">
                    <a16:rowId xmlns:a16="http://schemas.microsoft.com/office/drawing/2014/main" val="3345379889"/>
                  </a:ext>
                </a:extLst>
              </a:tr>
            </a:tbl>
          </a:graphicData>
        </a:graphic>
      </p:graphicFrame>
    </p:spTree>
    <p:extLst>
      <p:ext uri="{BB962C8B-B14F-4D97-AF65-F5344CB8AC3E}">
        <p14:creationId xmlns:p14="http://schemas.microsoft.com/office/powerpoint/2010/main" val="1259434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g35f194d6067_0_78"/>
          <p:cNvPicPr preferRelativeResize="0"/>
          <p:nvPr/>
        </p:nvPicPr>
        <p:blipFill rotWithShape="1">
          <a:blip r:embed="rId3">
            <a:alphaModFix/>
          </a:blip>
          <a:srcRect/>
          <a:stretch/>
        </p:blipFill>
        <p:spPr>
          <a:xfrm>
            <a:off x="4151463" y="150963"/>
            <a:ext cx="9985075" cy="9985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6"/>
          <p:cNvSpPr txBox="1"/>
          <p:nvPr/>
        </p:nvSpPr>
        <p:spPr>
          <a:xfrm>
            <a:off x="2507390" y="1000125"/>
            <a:ext cx="13503300" cy="106200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n-US" sz="6900" b="0" i="0" u="none" strike="noStrike" cap="none">
                <a:solidFill>
                  <a:srgbClr val="131416"/>
                </a:solidFill>
                <a:latin typeface="Impact"/>
                <a:ea typeface="Impact"/>
                <a:cs typeface="Impact"/>
                <a:sym typeface="Impact"/>
              </a:rPr>
              <a:t>CONCEPTOS CLAVE APRENDIDOS </a:t>
            </a:r>
            <a:endParaRPr sz="1400" b="0" i="0" u="none" strike="noStrike" cap="none">
              <a:solidFill>
                <a:srgbClr val="000000"/>
              </a:solidFill>
              <a:latin typeface="Impact"/>
              <a:ea typeface="Impact"/>
              <a:cs typeface="Impact"/>
              <a:sym typeface="Impact"/>
            </a:endParaRPr>
          </a:p>
        </p:txBody>
      </p:sp>
      <p:sp>
        <p:nvSpPr>
          <p:cNvPr id="198" name="Google Shape;198;p6"/>
          <p:cNvSpPr txBox="1"/>
          <p:nvPr/>
        </p:nvSpPr>
        <p:spPr>
          <a:xfrm>
            <a:off x="6212437" y="3860833"/>
            <a:ext cx="6911400" cy="3880500"/>
          </a:xfrm>
          <a:prstGeom prst="rect">
            <a:avLst/>
          </a:prstGeom>
          <a:noFill/>
          <a:ln>
            <a:noFill/>
          </a:ln>
        </p:spPr>
        <p:txBody>
          <a:bodyPr spcFirstLastPara="1" wrap="square" lIns="0" tIns="0" rIns="0" bIns="0" anchor="t" anchorCtr="0">
            <a:spAutoFit/>
          </a:bodyPr>
          <a:lstStyle/>
          <a:p>
            <a:pPr marL="457200" lvl="0" indent="-428688" algn="l" rtl="0">
              <a:lnSpc>
                <a:spcPct val="140019"/>
              </a:lnSpc>
              <a:spcBef>
                <a:spcPts val="0"/>
              </a:spcBef>
              <a:spcAft>
                <a:spcPts val="0"/>
              </a:spcAft>
              <a:buClr>
                <a:srgbClr val="131416"/>
              </a:buClr>
              <a:buSzPts val="3151"/>
              <a:buChar char="●"/>
            </a:pPr>
            <a:r>
              <a:rPr lang="en-US" sz="3151">
                <a:solidFill>
                  <a:srgbClr val="131416"/>
                </a:solidFill>
              </a:rPr>
              <a:t>Patrones de comportamiento</a:t>
            </a:r>
            <a:endParaRPr sz="3151">
              <a:solidFill>
                <a:srgbClr val="131416"/>
              </a:solidFill>
            </a:endParaRPr>
          </a:p>
          <a:p>
            <a:pPr marL="457200" lvl="0" indent="-428688" algn="l" rtl="0">
              <a:lnSpc>
                <a:spcPct val="140019"/>
              </a:lnSpc>
              <a:spcBef>
                <a:spcPts val="0"/>
              </a:spcBef>
              <a:spcAft>
                <a:spcPts val="0"/>
              </a:spcAft>
              <a:buClr>
                <a:srgbClr val="131416"/>
              </a:buClr>
              <a:buSzPts val="3151"/>
              <a:buChar char="●"/>
            </a:pPr>
            <a:r>
              <a:rPr lang="en-US" sz="3151">
                <a:solidFill>
                  <a:srgbClr val="131416"/>
                </a:solidFill>
              </a:rPr>
              <a:t>Patrón Observer</a:t>
            </a:r>
            <a:endParaRPr sz="3151">
              <a:solidFill>
                <a:srgbClr val="131416"/>
              </a:solidFill>
            </a:endParaRPr>
          </a:p>
          <a:p>
            <a:pPr marL="457200" lvl="0" indent="-428688" algn="l" rtl="0">
              <a:lnSpc>
                <a:spcPct val="140019"/>
              </a:lnSpc>
              <a:spcBef>
                <a:spcPts val="0"/>
              </a:spcBef>
              <a:spcAft>
                <a:spcPts val="0"/>
              </a:spcAft>
              <a:buClr>
                <a:srgbClr val="131416"/>
              </a:buClr>
              <a:buSzPts val="3151"/>
              <a:buChar char="●"/>
            </a:pPr>
            <a:r>
              <a:rPr lang="en-US" sz="3151">
                <a:solidFill>
                  <a:srgbClr val="131416"/>
                </a:solidFill>
              </a:rPr>
              <a:t>Patrón Strategy</a:t>
            </a:r>
            <a:endParaRPr sz="3151">
              <a:solidFill>
                <a:srgbClr val="131416"/>
              </a:solidFill>
            </a:endParaRPr>
          </a:p>
          <a:p>
            <a:pPr marL="457200" lvl="0" indent="-428688" algn="l" rtl="0">
              <a:lnSpc>
                <a:spcPct val="140019"/>
              </a:lnSpc>
              <a:spcBef>
                <a:spcPts val="0"/>
              </a:spcBef>
              <a:spcAft>
                <a:spcPts val="0"/>
              </a:spcAft>
              <a:buClr>
                <a:srgbClr val="131416"/>
              </a:buClr>
              <a:buSzPts val="3151"/>
              <a:buChar char="●"/>
            </a:pPr>
            <a:r>
              <a:rPr lang="en-US" sz="3151">
                <a:solidFill>
                  <a:srgbClr val="131416"/>
                </a:solidFill>
              </a:rPr>
              <a:t>Patrón Command</a:t>
            </a:r>
            <a:endParaRPr sz="3151">
              <a:solidFill>
                <a:srgbClr val="131416"/>
              </a:solidFill>
            </a:endParaRPr>
          </a:p>
          <a:p>
            <a:pPr marL="457200" lvl="0" indent="-428688" algn="l" rtl="0">
              <a:lnSpc>
                <a:spcPct val="140019"/>
              </a:lnSpc>
              <a:spcBef>
                <a:spcPts val="0"/>
              </a:spcBef>
              <a:spcAft>
                <a:spcPts val="0"/>
              </a:spcAft>
              <a:buClr>
                <a:srgbClr val="131416"/>
              </a:buClr>
              <a:buSzPts val="3151"/>
              <a:buChar char="●"/>
            </a:pPr>
            <a:r>
              <a:rPr lang="en-US" sz="3151">
                <a:solidFill>
                  <a:srgbClr val="131416"/>
                </a:solidFill>
              </a:rPr>
              <a:t>Patrón Iterator</a:t>
            </a:r>
            <a:endParaRPr sz="3151">
              <a:solidFill>
                <a:srgbClr val="131416"/>
              </a:solidFill>
            </a:endParaRPr>
          </a:p>
          <a:p>
            <a:pPr marL="457200" lvl="0" indent="-428688" algn="l" rtl="0">
              <a:lnSpc>
                <a:spcPct val="140019"/>
              </a:lnSpc>
              <a:spcBef>
                <a:spcPts val="0"/>
              </a:spcBef>
              <a:spcAft>
                <a:spcPts val="0"/>
              </a:spcAft>
              <a:buClr>
                <a:srgbClr val="131416"/>
              </a:buClr>
              <a:buSzPts val="3151"/>
              <a:buChar char="●"/>
            </a:pPr>
            <a:r>
              <a:rPr lang="en-US" sz="3151">
                <a:solidFill>
                  <a:srgbClr val="131416"/>
                </a:solidFill>
              </a:rPr>
              <a:t>Patrón State</a:t>
            </a:r>
            <a:endParaRPr sz="3151">
              <a:solidFill>
                <a:srgbClr val="131416"/>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35f80fe5a1a_1_0"/>
          <p:cNvSpPr txBox="1"/>
          <p:nvPr/>
        </p:nvSpPr>
        <p:spPr>
          <a:xfrm>
            <a:off x="2507390" y="1000125"/>
            <a:ext cx="13503300" cy="119988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n-US" sz="6900" b="0" i="0" u="none" strike="noStrike" cap="none" dirty="0">
                <a:solidFill>
                  <a:srgbClr val="131416"/>
                </a:solidFill>
                <a:latin typeface="Impact"/>
                <a:ea typeface="Impact"/>
                <a:cs typeface="Impact"/>
                <a:sym typeface="Impact"/>
              </a:rPr>
              <a:t>ADAPTABILIDAD</a:t>
            </a:r>
            <a:endParaRPr sz="1400" b="0" i="0" u="none" strike="noStrike" cap="none" dirty="0">
              <a:solidFill>
                <a:srgbClr val="000000"/>
              </a:solidFill>
              <a:latin typeface="Impact"/>
              <a:ea typeface="Impact"/>
              <a:cs typeface="Impact"/>
              <a:sym typeface="Impact"/>
            </a:endParaRPr>
          </a:p>
        </p:txBody>
      </p:sp>
      <p:sp>
        <p:nvSpPr>
          <p:cNvPr id="204" name="Google Shape;204;g35f80fe5a1a_1_0"/>
          <p:cNvSpPr txBox="1"/>
          <p:nvPr/>
        </p:nvSpPr>
        <p:spPr>
          <a:xfrm>
            <a:off x="2230719" y="2675475"/>
            <a:ext cx="14171700" cy="5170646"/>
          </a:xfrm>
          <a:prstGeom prst="rect">
            <a:avLst/>
          </a:prstGeom>
          <a:noFill/>
          <a:ln>
            <a:noFill/>
          </a:ln>
        </p:spPr>
        <p:txBody>
          <a:bodyPr spcFirstLastPara="1" wrap="square" lIns="0" tIns="0" rIns="0" bIns="0" anchor="t" anchorCtr="0">
            <a:spAutoFit/>
          </a:bodyPr>
          <a:lstStyle/>
          <a:p>
            <a:pPr lvl="0">
              <a:lnSpc>
                <a:spcPct val="140019"/>
              </a:lnSpc>
              <a:buSzPts val="3151"/>
            </a:pPr>
            <a:r>
              <a:rPr lang="es-ES" sz="4000" dirty="0"/>
              <a:t>La adaptabilidad es esencial al aplicar patrones de comportamiento, ya que estos se centran en la forma en que los objetos se comunican y reaccionan ante los cambios. Desarrollar esta cualidad permite a los estudiantes diseñar soluciones más flexibles y preparadas para entornos dinámicos y cambiantes.</a:t>
            </a:r>
            <a:endParaRPr sz="4000" dirty="0">
              <a:solidFill>
                <a:srgbClr val="131416"/>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9"/>
          <p:cNvSpPr txBox="1"/>
          <p:nvPr/>
        </p:nvSpPr>
        <p:spPr>
          <a:xfrm>
            <a:off x="4437795" y="3389104"/>
            <a:ext cx="8658900" cy="1915200"/>
          </a:xfrm>
          <a:prstGeom prst="rect">
            <a:avLst/>
          </a:prstGeom>
          <a:noFill/>
          <a:ln>
            <a:noFill/>
          </a:ln>
        </p:spPr>
        <p:txBody>
          <a:bodyPr spcFirstLastPara="1" wrap="square" lIns="0" tIns="0" rIns="0" bIns="0" anchor="t" anchorCtr="0">
            <a:spAutoFit/>
          </a:bodyPr>
          <a:lstStyle/>
          <a:p>
            <a:pPr marL="0" marR="0" lvl="0" indent="0" algn="just" rtl="0">
              <a:lnSpc>
                <a:spcPct val="104000"/>
              </a:lnSpc>
              <a:spcBef>
                <a:spcPts val="0"/>
              </a:spcBef>
              <a:spcAft>
                <a:spcPts val="0"/>
              </a:spcAft>
              <a:buClr>
                <a:srgbClr val="000000"/>
              </a:buClr>
              <a:buSzPts val="6099"/>
              <a:buFont typeface="Arial"/>
              <a:buNone/>
            </a:pPr>
            <a:r>
              <a:rPr lang="en-US" sz="6099" b="0" i="0" u="none" strike="noStrike" cap="none">
                <a:solidFill>
                  <a:srgbClr val="131416"/>
                </a:solidFill>
                <a:latin typeface="Impact"/>
                <a:ea typeface="Impact"/>
                <a:cs typeface="Impact"/>
                <a:sym typeface="Impact"/>
              </a:rPr>
              <a:t>¡GRACIAS POR SU  ATENCIÓN!</a:t>
            </a:r>
            <a:endParaRPr sz="1400" b="0" i="0" u="none" strike="noStrike" cap="none">
              <a:solidFill>
                <a:srgbClr val="000000"/>
              </a:solidFill>
              <a:latin typeface="Impact"/>
              <a:ea typeface="Impact"/>
              <a:cs typeface="Impact"/>
              <a:sym typeface="Impact"/>
            </a:endParaRPr>
          </a:p>
          <a:p>
            <a:pPr marL="0" marR="0" lvl="0" indent="0" algn="just" rtl="0">
              <a:lnSpc>
                <a:spcPct val="104000"/>
              </a:lnSpc>
              <a:spcBef>
                <a:spcPts val="0"/>
              </a:spcBef>
              <a:spcAft>
                <a:spcPts val="0"/>
              </a:spcAft>
              <a:buClr>
                <a:srgbClr val="000000"/>
              </a:buClr>
              <a:buSzPts val="6099"/>
              <a:buFont typeface="Arial"/>
              <a:buNone/>
            </a:pPr>
            <a:endParaRPr sz="6099" b="0" i="0" u="none" strike="noStrike" cap="none">
              <a:solidFill>
                <a:srgbClr val="131416"/>
              </a:solidFill>
              <a:latin typeface="Impact"/>
              <a:ea typeface="Impact"/>
              <a:cs typeface="Impact"/>
              <a:sym typeface="Impact"/>
            </a:endParaRPr>
          </a:p>
        </p:txBody>
      </p:sp>
      <p:sp>
        <p:nvSpPr>
          <p:cNvPr id="210" name="Google Shape;210;p9"/>
          <p:cNvSpPr txBox="1"/>
          <p:nvPr/>
        </p:nvSpPr>
        <p:spPr>
          <a:xfrm>
            <a:off x="5414714" y="5958103"/>
            <a:ext cx="6704991" cy="89852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Clr>
                <a:srgbClr val="000000"/>
              </a:buClr>
              <a:buSzPts val="5000"/>
              <a:buFont typeface="Arial"/>
              <a:buNone/>
            </a:pPr>
            <a:r>
              <a:rPr lang="en-US" sz="5000" b="0" i="0" u="none" strike="noStrike" cap="none">
                <a:solidFill>
                  <a:srgbClr val="131416"/>
                </a:solidFill>
                <a:latin typeface="Arial"/>
                <a:ea typeface="Arial"/>
                <a:cs typeface="Arial"/>
                <a:sym typeface="Arial"/>
              </a:rPr>
              <a:t>DUDAS</a:t>
            </a:r>
            <a:endParaRPr sz="1400" b="0" i="0" u="none" strike="noStrike" cap="none">
              <a:solidFill>
                <a:srgbClr val="000000"/>
              </a:solidFill>
              <a:latin typeface="Arial"/>
              <a:ea typeface="Arial"/>
              <a:cs typeface="Arial"/>
              <a:sym typeface="Arial"/>
            </a:endParaRPr>
          </a:p>
        </p:txBody>
      </p:sp>
      <p:sp>
        <p:nvSpPr>
          <p:cNvPr id="211" name="Google Shape;211;p9"/>
          <p:cNvSpPr/>
          <p:nvPr/>
        </p:nvSpPr>
        <p:spPr>
          <a:xfrm>
            <a:off x="13963751" y="1028700"/>
            <a:ext cx="2757268" cy="3770970"/>
          </a:xfrm>
          <a:custGeom>
            <a:avLst/>
            <a:gdLst/>
            <a:ahLst/>
            <a:cxnLst/>
            <a:rect l="l" t="t" r="r" b="b"/>
            <a:pathLst>
              <a:path w="2757268" h="3770970" extrusionOk="0">
                <a:moveTo>
                  <a:pt x="0" y="0"/>
                </a:moveTo>
                <a:lnTo>
                  <a:pt x="2757268" y="0"/>
                </a:lnTo>
                <a:lnTo>
                  <a:pt x="2757268" y="3770970"/>
                </a:lnTo>
                <a:lnTo>
                  <a:pt x="0" y="3770970"/>
                </a:lnTo>
                <a:lnTo>
                  <a:pt x="0" y="0"/>
                </a:lnTo>
                <a:close/>
              </a:path>
            </a:pathLst>
          </a:custGeom>
          <a:blipFill rotWithShape="1">
            <a:blip r:embed="rId3">
              <a:alphaModFix/>
            </a:blip>
            <a:stretch>
              <a:fillRect/>
            </a:stretch>
          </a:blipFill>
          <a:ln>
            <a:noFill/>
          </a:ln>
        </p:spPr>
        <p:txBody>
          <a:bodyPr/>
          <a:lstStyle/>
          <a:p>
            <a:endParaRPr lang="es-GT"/>
          </a:p>
        </p:txBody>
      </p:sp>
      <p:sp>
        <p:nvSpPr>
          <p:cNvPr id="212" name="Google Shape;212;p9"/>
          <p:cNvSpPr txBox="1"/>
          <p:nvPr/>
        </p:nvSpPr>
        <p:spPr>
          <a:xfrm>
            <a:off x="2411098" y="7899735"/>
            <a:ext cx="13465804" cy="71945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Clr>
                <a:srgbClr val="000000"/>
              </a:buClr>
              <a:buSzPts val="2000"/>
              <a:buFont typeface="Arial"/>
              <a:buNone/>
            </a:pPr>
            <a:r>
              <a:rPr lang="en-US" sz="2000" b="0" i="0" u="none" strike="noStrike" cap="none">
                <a:solidFill>
                  <a:srgbClr val="131416"/>
                </a:solidFill>
                <a:latin typeface="Arial"/>
                <a:ea typeface="Arial"/>
                <a:cs typeface="Arial"/>
                <a:sym typeface="Arial"/>
              </a:rPr>
              <a:t>RECUERDA QUE TENEMOS NUESTRO FORO SEMANAL DONDE PUEDES CONSULTAR CUALQUIER DUDA QUE TE SURJA EN LA SEMANA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952</Words>
  <Application>Microsoft Office PowerPoint</Application>
  <PresentationFormat>Personalizado</PresentationFormat>
  <Paragraphs>107</Paragraphs>
  <Slides>20</Slides>
  <Notes>20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20</vt:i4>
      </vt:variant>
    </vt:vector>
  </HeadingPairs>
  <TitlesOfParts>
    <vt:vector size="29" baseType="lpstr">
      <vt:lpstr>Arial</vt:lpstr>
      <vt:lpstr>Poppins Light</vt:lpstr>
      <vt:lpstr>Poppins</vt:lpstr>
      <vt:lpstr>Open Sans</vt:lpstr>
      <vt:lpstr>Impact</vt:lpstr>
      <vt:lpstr>Calibri</vt:lpstr>
      <vt:lpstr>Poppins Black</vt:lpstr>
      <vt:lpstr>Libre Franklin Medium</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Mynor Moran</cp:lastModifiedBy>
  <cp:revision>2</cp:revision>
  <dcterms:created xsi:type="dcterms:W3CDTF">2006-08-16T00:00:00Z</dcterms:created>
  <dcterms:modified xsi:type="dcterms:W3CDTF">2025-07-05T19:21:34Z</dcterms:modified>
</cp:coreProperties>
</file>