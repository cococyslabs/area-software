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10287000" cx="18288000"/>
  <p:notesSz cx="6858000" cy="9144000"/>
  <p:embeddedFontLst>
    <p:embeddedFont>
      <p:font typeface="Poppins"/>
      <p:regular r:id="rId31"/>
      <p:bold r:id="rId32"/>
      <p:italic r:id="rId33"/>
      <p:boldItalic r:id="rId34"/>
    </p:embeddedFont>
    <p:embeddedFont>
      <p:font typeface="Poppins Light"/>
      <p:regular r:id="rId35"/>
      <p:bold r:id="rId36"/>
      <p:italic r:id="rId37"/>
      <p:boldItalic r:id="rId38"/>
    </p:embeddedFont>
    <p:embeddedFont>
      <p:font typeface="Poppins Black"/>
      <p:bold r:id="rId39"/>
      <p:boldItalic r:id="rId40"/>
    </p:embeddedFont>
    <p:embeddedFont>
      <p:font typeface="Bitter"/>
      <p:regular r:id="rId41"/>
      <p:bold r:id="rId42"/>
      <p:italic r:id="rId43"/>
      <p:boldItalic r:id="rId44"/>
    </p:embeddedFont>
    <p:embeddedFont>
      <p:font typeface="Open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iCFkNb7E9P4z2mhFx+pNI4oFBM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EAB0DD-7F38-4031-BCC8-DF9702657576}">
  <a:tblStyle styleId="{D5EAB0DD-7F38-4031-BCC8-DF970265757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Black-boldItalic.fntdata"/><Relationship Id="rId42" Type="http://schemas.openxmlformats.org/officeDocument/2006/relationships/font" Target="fonts/Bitter-bold.fntdata"/><Relationship Id="rId41" Type="http://schemas.openxmlformats.org/officeDocument/2006/relationships/font" Target="fonts/Bitter-regular.fntdata"/><Relationship Id="rId44" Type="http://schemas.openxmlformats.org/officeDocument/2006/relationships/font" Target="fonts/Bitter-boldItalic.fntdata"/><Relationship Id="rId43" Type="http://schemas.openxmlformats.org/officeDocument/2006/relationships/font" Target="fonts/Bitter-italic.fntdata"/><Relationship Id="rId46" Type="http://schemas.openxmlformats.org/officeDocument/2006/relationships/font" Target="fonts/OpenSans-bold.fntdata"/><Relationship Id="rId45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boldItalic.fntdata"/><Relationship Id="rId47" Type="http://schemas.openxmlformats.org/officeDocument/2006/relationships/font" Target="fonts/OpenSans-italic.fntdata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regular.fntdata"/><Relationship Id="rId30" Type="http://schemas.openxmlformats.org/officeDocument/2006/relationships/slide" Target="slides/slide24.xml"/><Relationship Id="rId33" Type="http://schemas.openxmlformats.org/officeDocument/2006/relationships/font" Target="fonts/Poppins-italic.fntdata"/><Relationship Id="rId32" Type="http://schemas.openxmlformats.org/officeDocument/2006/relationships/font" Target="fonts/Poppins-bold.fntdata"/><Relationship Id="rId35" Type="http://schemas.openxmlformats.org/officeDocument/2006/relationships/font" Target="fonts/PoppinsLight-regular.fntdata"/><Relationship Id="rId34" Type="http://schemas.openxmlformats.org/officeDocument/2006/relationships/font" Target="fonts/Poppins-boldItalic.fntdata"/><Relationship Id="rId37" Type="http://schemas.openxmlformats.org/officeDocument/2006/relationships/font" Target="fonts/PoppinsLight-italic.fntdata"/><Relationship Id="rId36" Type="http://schemas.openxmlformats.org/officeDocument/2006/relationships/font" Target="fonts/PoppinsLight-bold.fntdata"/><Relationship Id="rId39" Type="http://schemas.openxmlformats.org/officeDocument/2006/relationships/font" Target="fonts/PoppinsBlack-bold.fntdata"/><Relationship Id="rId38" Type="http://schemas.openxmlformats.org/officeDocument/2006/relationships/font" Target="fonts/PoppinsLight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099cd020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6099cd020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099cd020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6099cd020b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099cd020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6099cd020b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099cd020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6099cd020b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099cd020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6099cd020b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099cd020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6099cd020b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099cd020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6099cd020b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099cd020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6099cd020b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6099cd020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6099cd020b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099cd020b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6099cd020b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099cd020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36099cd020b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099cd020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6099cd020b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099cd020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36099cd020b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099cd020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g36099cd020b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099cd020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g36099cd020b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099cd020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g36099cd020b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099cd020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g36099cd020b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099cd020b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36099cd020b_0_1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0abcd44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g360abcd447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0.jpg"/><Relationship Id="rId5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repositorio.uci.cu/handle/ident/8092" TargetMode="External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hyperlink" Target="https://qalified.com/es/blog/pruebas-regresion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63303" y="699423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Análisis y Diseño de Sistemas 2 B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43905" y="31979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Pruebas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1001777" y="2005825"/>
            <a:ext cx="15729600" cy="52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51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Analiza distintos patrones de arquitectura de software, reconociendo sus características, beneficios y aplicaciones, para seleccionar e implementar soluciones adecuadas según las necesidades del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/>
        </p:nvSpPr>
        <p:spPr>
          <a:xfrm>
            <a:off x="1374889" y="3027816"/>
            <a:ext cx="12625499" cy="783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Parte teórica que se requiera  (conocimiento)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4"/>
          <p:cNvSpPr txBox="1"/>
          <p:nvPr/>
        </p:nvSpPr>
        <p:spPr>
          <a:xfrm>
            <a:off x="14141311" y="6442453"/>
            <a:ext cx="3238236" cy="2815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Queda a tu discreción de donde te guías para generar el contenido que agregaras(libros, paginas web, etc. que fundamente teóricamente los temas que estas exponiendo a los compañeros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g36099cd020b_0_2"/>
          <p:cNvGraphicFramePr/>
          <p:nvPr/>
        </p:nvGraphicFramePr>
        <p:xfrm>
          <a:off x="6116951" y="4739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{D5EAB0DD-7F38-4031-BCC8-DF9702657576}</a:tableStyleId>
              </a:tblPr>
              <a:tblGrid>
                <a:gridCol w="963725"/>
                <a:gridCol w="5090475"/>
              </a:tblGrid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Avisos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Dudas Fase 2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b="1" sz="1100" u="none" cap="none" strike="noStrike">
                        <a:solidFill>
                          <a:srgbClr val="FDFDF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Contenido Teórico Pruebas Funcionales</a:t>
                      </a:r>
                      <a:endParaRPr sz="1100" u="none" cap="none" strike="noStrike">
                        <a:solidFill>
                          <a:srgbClr val="013362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b="1" sz="2000" u="none" cap="none" strike="noStrike">
                        <a:solidFill>
                          <a:srgbClr val="FDFDF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Ejemplo Docker</a:t>
                      </a:r>
                      <a:endParaRPr sz="2000" u="none" cap="none" strike="noStrike">
                        <a:solidFill>
                          <a:srgbClr val="013362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Kahoot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9" name="Google Shape;109;g36099cd020b_0_2"/>
          <p:cNvGrpSpPr/>
          <p:nvPr/>
        </p:nvGrpSpPr>
        <p:grpSpPr>
          <a:xfrm>
            <a:off x="-584626" y="1589619"/>
            <a:ext cx="19457594" cy="2036657"/>
            <a:chOff x="0" y="-76200"/>
            <a:chExt cx="5124600" cy="536400"/>
          </a:xfrm>
        </p:grpSpPr>
        <p:sp>
          <p:nvSpPr>
            <p:cNvPr id="110" name="Google Shape;110;g36099cd020b_0_2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11" name="Google Shape;111;g36099cd020b_0_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g36099cd020b_0_2"/>
          <p:cNvSpPr/>
          <p:nvPr/>
        </p:nvSpPr>
        <p:spPr>
          <a:xfrm>
            <a:off x="592309" y="8986439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g36099cd020b_0_2"/>
          <p:cNvSpPr txBox="1"/>
          <p:nvPr/>
        </p:nvSpPr>
        <p:spPr>
          <a:xfrm>
            <a:off x="5939974" y="1861823"/>
            <a:ext cx="64080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76"/>
              <a:buFont typeface="Arial"/>
              <a:buNone/>
            </a:pPr>
            <a:r>
              <a:rPr b="0" i="0" lang="en-US" sz="10576" u="none" cap="none" strike="noStrike">
                <a:solidFill>
                  <a:srgbClr val="FDFDFD"/>
                </a:solidFill>
                <a:latin typeface="Poppins Black"/>
                <a:ea typeface="Poppins Black"/>
                <a:cs typeface="Poppins Black"/>
                <a:sym typeface="Poppins Black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6099cd020b_0_2"/>
          <p:cNvSpPr/>
          <p:nvPr/>
        </p:nvSpPr>
        <p:spPr>
          <a:xfrm rot="10800000">
            <a:off x="14838633" y="0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g36099cd020b_0_12"/>
          <p:cNvGrpSpPr/>
          <p:nvPr/>
        </p:nvGrpSpPr>
        <p:grpSpPr>
          <a:xfrm>
            <a:off x="-584800" y="2437174"/>
            <a:ext cx="19457594" cy="4853776"/>
            <a:chOff x="0" y="-76200"/>
            <a:chExt cx="5124600" cy="536400"/>
          </a:xfrm>
        </p:grpSpPr>
        <p:sp>
          <p:nvSpPr>
            <p:cNvPr id="120" name="Google Shape;120;g36099cd020b_0_12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21" name="Google Shape;121;g36099cd020b_0_1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g36099cd020b_0_12"/>
          <p:cNvSpPr txBox="1"/>
          <p:nvPr/>
        </p:nvSpPr>
        <p:spPr>
          <a:xfrm>
            <a:off x="1599296" y="4433539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g36099cd020b_0_19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128" name="Google Shape;128;g36099cd020b_0_19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29" name="Google Shape;129;g36099cd020b_0_19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g36099cd020b_0_19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Introducción a las pruebas de software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6099cd020b_0_19"/>
          <p:cNvSpPr txBox="1"/>
          <p:nvPr/>
        </p:nvSpPr>
        <p:spPr>
          <a:xfrm>
            <a:off x="1028700" y="2969245"/>
            <a:ext cx="16230600" cy="2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pruebas de software son un proceso fundamental para garantizar la calidad y el correcto funcionamiento de los sistemas informáticos. Permiten identificar y corregir errores antes de que el software se ponga en producción, lo que ahorra tiempo y recursos.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2" name="Google Shape;132;g36099cd020b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2605" y="5766450"/>
            <a:ext cx="7102800" cy="3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36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g36099cd020b_0_28"/>
          <p:cNvGrpSpPr/>
          <p:nvPr/>
        </p:nvGrpSpPr>
        <p:grpSpPr>
          <a:xfrm>
            <a:off x="-584626" y="928335"/>
            <a:ext cx="19457594" cy="2036657"/>
            <a:chOff x="0" y="-76200"/>
            <a:chExt cx="5124600" cy="536400"/>
          </a:xfrm>
        </p:grpSpPr>
        <p:sp>
          <p:nvSpPr>
            <p:cNvPr id="138" name="Google Shape;138;g36099cd020b_0_28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</p:sp>
        <p:sp>
          <p:nvSpPr>
            <p:cNvPr id="139" name="Google Shape;139;g36099cd020b_0_2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g36099cd020b_0_28"/>
          <p:cNvSpPr/>
          <p:nvPr/>
        </p:nvSpPr>
        <p:spPr>
          <a:xfrm>
            <a:off x="4388364" y="4265449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4989" r="-24998" t="0"/>
            </a:stretch>
          </a:blipFill>
          <a:ln>
            <a:noFill/>
          </a:ln>
        </p:spPr>
      </p:sp>
      <p:sp>
        <p:nvSpPr>
          <p:cNvPr id="141" name="Google Shape;141;g36099cd020b_0_28"/>
          <p:cNvSpPr/>
          <p:nvPr/>
        </p:nvSpPr>
        <p:spPr>
          <a:xfrm>
            <a:off x="7700127" y="4265449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829" l="0" r="0" t="-46969"/>
            </a:stretch>
          </a:blipFill>
          <a:ln>
            <a:noFill/>
          </a:ln>
        </p:spPr>
      </p:sp>
      <p:sp>
        <p:nvSpPr>
          <p:cNvPr id="142" name="Google Shape;142;g36099cd020b_0_28"/>
          <p:cNvSpPr/>
          <p:nvPr/>
        </p:nvSpPr>
        <p:spPr>
          <a:xfrm>
            <a:off x="11013931" y="4265449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5039" r="-25039" t="0"/>
            </a:stretch>
          </a:blipFill>
          <a:ln>
            <a:noFill/>
          </a:ln>
        </p:spPr>
      </p:sp>
      <p:grpSp>
        <p:nvGrpSpPr>
          <p:cNvPr id="143" name="Google Shape;143;g36099cd020b_0_28"/>
          <p:cNvGrpSpPr/>
          <p:nvPr/>
        </p:nvGrpSpPr>
        <p:grpSpPr>
          <a:xfrm>
            <a:off x="5168014" y="3554168"/>
            <a:ext cx="1422563" cy="1422563"/>
            <a:chOff x="0" y="0"/>
            <a:chExt cx="812800" cy="812800"/>
          </a:xfrm>
        </p:grpSpPr>
        <p:sp>
          <p:nvSpPr>
            <p:cNvPr id="144" name="Google Shape;144;g36099cd020b_0_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36099cd020b_0_2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g36099cd020b_0_28"/>
          <p:cNvGrpSpPr/>
          <p:nvPr/>
        </p:nvGrpSpPr>
        <p:grpSpPr>
          <a:xfrm>
            <a:off x="8479777" y="3554168"/>
            <a:ext cx="1422563" cy="1422563"/>
            <a:chOff x="0" y="0"/>
            <a:chExt cx="812800" cy="812800"/>
          </a:xfrm>
        </p:grpSpPr>
        <p:sp>
          <p:nvSpPr>
            <p:cNvPr id="147" name="Google Shape;147;g36099cd020b_0_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g36099cd020b_0_2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g36099cd020b_0_28"/>
          <p:cNvGrpSpPr/>
          <p:nvPr/>
        </p:nvGrpSpPr>
        <p:grpSpPr>
          <a:xfrm>
            <a:off x="11793582" y="3554168"/>
            <a:ext cx="1422563" cy="1422563"/>
            <a:chOff x="0" y="0"/>
            <a:chExt cx="812800" cy="812800"/>
          </a:xfrm>
        </p:grpSpPr>
        <p:sp>
          <p:nvSpPr>
            <p:cNvPr id="150" name="Google Shape;150;g36099cd020b_0_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g36099cd020b_0_28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g36099cd020b_0_28"/>
          <p:cNvSpPr txBox="1"/>
          <p:nvPr/>
        </p:nvSpPr>
        <p:spPr>
          <a:xfrm>
            <a:off x="1028700" y="1494776"/>
            <a:ext cx="162306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70"/>
              <a:buFont typeface="Arial"/>
              <a:buNone/>
            </a:pPr>
            <a:r>
              <a:rPr b="1" i="0" lang="en-US" sz="6070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Importancia de las pruebas de software</a:t>
            </a:r>
            <a:endParaRPr b="1" i="0" sz="6070" u="none" cap="none" strike="noStrike">
              <a:solidFill>
                <a:srgbClr val="01336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70"/>
              <a:buFont typeface="Arial"/>
              <a:buNone/>
            </a:pPr>
            <a:r>
              <a:t/>
            </a:r>
            <a:endParaRPr b="1" i="0" sz="6070" u="none" cap="none" strike="noStrike">
              <a:solidFill>
                <a:srgbClr val="01336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g36099cd020b_0_28"/>
          <p:cNvSpPr txBox="1"/>
          <p:nvPr/>
        </p:nvSpPr>
        <p:spPr>
          <a:xfrm>
            <a:off x="4388375" y="7523900"/>
            <a:ext cx="32172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Calidad</a:t>
            </a:r>
            <a:endParaRPr b="1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Las pruebas ayudan a asegurar que el software cumpla con los requisitos y funcione sin errores.</a:t>
            </a:r>
            <a:endParaRPr b="0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t/>
            </a:r>
            <a:endParaRPr b="0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36099cd020b_0_28"/>
          <p:cNvSpPr txBox="1"/>
          <p:nvPr/>
        </p:nvSpPr>
        <p:spPr>
          <a:xfrm>
            <a:off x="7649201" y="7523900"/>
            <a:ext cx="3083700" cy="17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Satisfacción del usuario</a:t>
            </a:r>
            <a:endParaRPr b="1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software bien probado brinda una mejor experiencia de usuario y genera más confianza.</a:t>
            </a:r>
            <a:endParaRPr b="0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g36099cd020b_0_28"/>
          <p:cNvSpPr txBox="1"/>
          <p:nvPr/>
        </p:nvSpPr>
        <p:spPr>
          <a:xfrm>
            <a:off x="11013975" y="7523900"/>
            <a:ext cx="29808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Detección temprana de errores</a:t>
            </a:r>
            <a:endParaRPr b="1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Identificar y corregir problemas en las primeras etapas reduce costos y esfuerzo..</a:t>
            </a:r>
            <a:endParaRPr b="0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g36099cd020b_0_28"/>
          <p:cNvSpPr txBox="1"/>
          <p:nvPr/>
        </p:nvSpPr>
        <p:spPr>
          <a:xfrm>
            <a:off x="5559185" y="3737284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6099cd020b_0_28"/>
          <p:cNvSpPr txBox="1"/>
          <p:nvPr/>
        </p:nvSpPr>
        <p:spPr>
          <a:xfrm>
            <a:off x="8870947" y="3737284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6099cd020b_0_28"/>
          <p:cNvSpPr txBox="1"/>
          <p:nvPr/>
        </p:nvSpPr>
        <p:spPr>
          <a:xfrm>
            <a:off x="12184751" y="3737284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g36099cd020b_0_53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164" name="Google Shape;164;g36099cd020b_0_53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65" name="Google Shape;165;g36099cd020b_0_53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g36099cd020b_0_53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Tipos de pruebas de software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6099cd020b_0_53"/>
          <p:cNvSpPr/>
          <p:nvPr/>
        </p:nvSpPr>
        <p:spPr>
          <a:xfrm>
            <a:off x="793801" y="4206502"/>
            <a:ext cx="3174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00"/>
              <a:buFont typeface="Bitter"/>
              <a:buNone/>
            </a:pPr>
            <a:r>
              <a:rPr b="1" i="0" lang="en-US" sz="2200" u="none" cap="none" strike="noStrike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Pruebas Funcionales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6099cd020b_0_53"/>
          <p:cNvSpPr/>
          <p:nvPr/>
        </p:nvSpPr>
        <p:spPr>
          <a:xfrm>
            <a:off x="793801" y="4726362"/>
            <a:ext cx="44544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Validan que el software cumpla con los requisitos especificados.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6099cd020b_0_53"/>
          <p:cNvSpPr/>
          <p:nvPr/>
        </p:nvSpPr>
        <p:spPr>
          <a:xfrm>
            <a:off x="13765824" y="4522263"/>
            <a:ext cx="3978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F42"/>
              </a:buClr>
              <a:buSzPts val="2200"/>
              <a:buFont typeface="Bitter"/>
              <a:buNone/>
            </a:pPr>
            <a:r>
              <a:rPr b="1" i="0" lang="en-US" sz="2200" u="none" cap="none" strike="noStrike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Pruebas No Funcionales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6099cd020b_0_53"/>
          <p:cNvSpPr/>
          <p:nvPr/>
        </p:nvSpPr>
        <p:spPr>
          <a:xfrm>
            <a:off x="13825653" y="5039048"/>
            <a:ext cx="39780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Evalúan aspectos como rendimiento, seguridad, usabilidad y compatibilidad.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1" name="Google Shape;171;g36099cd020b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3334" y="3538952"/>
            <a:ext cx="7521351" cy="564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g36099cd020b_0_65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177" name="Google Shape;177;g36099cd020b_0_65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78" name="Google Shape;178;g36099cd020b_0_65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g36099cd020b_0_65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Funcionales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" name="Google Shape;180;g36099cd020b_0_65"/>
          <p:cNvSpPr/>
          <p:nvPr/>
        </p:nvSpPr>
        <p:spPr>
          <a:xfrm>
            <a:off x="2759312" y="3074706"/>
            <a:ext cx="2952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"/>
              <a:buNone/>
            </a:pPr>
            <a:r>
              <a:rPr b="1" i="0" lang="en-US" sz="2200" u="none" cap="none" strike="noStrike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Validación de requisitos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6099cd020b_0_65"/>
          <p:cNvSpPr/>
          <p:nvPr/>
        </p:nvSpPr>
        <p:spPr>
          <a:xfrm>
            <a:off x="2759312" y="4102200"/>
            <a:ext cx="31959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Aseguran que el software cumpla con las especificaciones del cliente.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6099cd020b_0_65"/>
          <p:cNvSpPr/>
          <p:nvPr/>
        </p:nvSpPr>
        <p:spPr>
          <a:xfrm>
            <a:off x="10717938" y="3287069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"/>
              <a:buNone/>
            </a:pPr>
            <a:r>
              <a:rPr b="1" i="0" lang="en-US" sz="2200" u="none" cap="none" strike="noStrike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Casos de prueba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6099cd020b_0_65"/>
          <p:cNvSpPr/>
          <p:nvPr/>
        </p:nvSpPr>
        <p:spPr>
          <a:xfrm>
            <a:off x="10717939" y="3777487"/>
            <a:ext cx="31959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Se diseñan escenarios de prueba para cubrir los diferentes casos de uso.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6099cd020b_0_65"/>
          <p:cNvSpPr/>
          <p:nvPr/>
        </p:nvSpPr>
        <p:spPr>
          <a:xfrm>
            <a:off x="2759312" y="6558390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"/>
              <a:buNone/>
            </a:pPr>
            <a:r>
              <a:rPr b="1" i="0" lang="en-US" sz="2200" u="none" cap="none" strike="noStrike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Pruebas de aceptación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6099cd020b_0_65"/>
          <p:cNvSpPr/>
          <p:nvPr/>
        </p:nvSpPr>
        <p:spPr>
          <a:xfrm>
            <a:off x="2759312" y="7608408"/>
            <a:ext cx="31959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Verifican que el software sea aceptado por los usuarios finales.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6099cd020b_0_65"/>
          <p:cNvSpPr/>
          <p:nvPr/>
        </p:nvSpPr>
        <p:spPr>
          <a:xfrm>
            <a:off x="10717938" y="6912690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2200"/>
              <a:buFont typeface="Bitter"/>
              <a:buNone/>
            </a:pPr>
            <a:r>
              <a:rPr b="1" i="0" lang="en-US" sz="2200" u="none" cap="none" strike="noStrike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Pruebas de regresión</a:t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6099cd020b_0_65"/>
          <p:cNvSpPr/>
          <p:nvPr/>
        </p:nvSpPr>
        <p:spPr>
          <a:xfrm>
            <a:off x="10717939" y="7403108"/>
            <a:ext cx="31959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B2E3C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Detectan si los cambios introducidos han afectado la funcionalidad existente.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g36099cd020b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7612" y="3429007"/>
            <a:ext cx="4457927" cy="4457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g36099cd020b_0_81"/>
          <p:cNvGrpSpPr/>
          <p:nvPr/>
        </p:nvGrpSpPr>
        <p:grpSpPr>
          <a:xfrm>
            <a:off x="-584800" y="2437174"/>
            <a:ext cx="19457594" cy="4853776"/>
            <a:chOff x="0" y="-76200"/>
            <a:chExt cx="5124600" cy="536400"/>
          </a:xfrm>
        </p:grpSpPr>
        <p:sp>
          <p:nvSpPr>
            <p:cNvPr id="194" name="Google Shape;194;g36099cd020b_0_81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95" name="Google Shape;195;g36099cd020b_0_81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g36099cd020b_0_81"/>
          <p:cNvSpPr txBox="1"/>
          <p:nvPr/>
        </p:nvSpPr>
        <p:spPr>
          <a:xfrm>
            <a:off x="1479696" y="3439639"/>
            <a:ext cx="15089400" cy="3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Tipos de pruebas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g36099cd020b_0_88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02" name="Google Shape;202;g36099cd020b_0_88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03" name="Google Shape;203;g36099cd020b_0_8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g36099cd020b_0_88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unitarias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g36099cd020b_0_88"/>
          <p:cNvSpPr txBox="1"/>
          <p:nvPr/>
        </p:nvSpPr>
        <p:spPr>
          <a:xfrm>
            <a:off x="1028700" y="2969250"/>
            <a:ext cx="17048400" cy="49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pruebas unitarias son la base de las pruebas funcionales. Se centran en verificar la menor parte testable del software, como funciones y métodos individuales, para asegurarse de que se comporten como se espera. Es fundamental para detectar errores a nivel de componente antes de que el código avance a etapas de integración más complejas.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Se recomienda implementar pruebas unitarias durante las primeras etapas del desarrollo para garantizar una base de código sólida y confiable.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t/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06" name="Google Shape;206;g36099cd020b_0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0682" y="7375625"/>
            <a:ext cx="5656274" cy="276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g36099cd020b_0_97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12" name="Google Shape;212;g36099cd020b_0_97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13" name="Google Shape;213;g36099cd020b_0_9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g36099cd020b_0_97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de integración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g36099cd020b_0_97"/>
          <p:cNvSpPr txBox="1"/>
          <p:nvPr/>
        </p:nvSpPr>
        <p:spPr>
          <a:xfrm>
            <a:off x="1028700" y="2969250"/>
            <a:ext cx="170484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Este tipo de pruebas evalúa la forma en que interactúan y operan varios módulos de aplicaciones de software de forma cohesiva. El sistema se divide en componentes conocidos como módulos o unidades. Cada módulo es responsable de una tarea específica. El verdadero desafío llega cuando combinamos estos componentes para desarrollar todo el sistema de software.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16" name="Google Shape;216;g36099cd020b_0_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6317" y="6383025"/>
            <a:ext cx="6313175" cy="356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g36099cd020b_0_106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22" name="Google Shape;222;g36099cd020b_0_106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23" name="Google Shape;223;g36099cd020b_0_106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g36099cd020b_0_106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de integración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5" name="Google Shape;225;g36099cd020b_0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5138" y="3428996"/>
            <a:ext cx="14657725" cy="48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g36099cd020b_0_114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31" name="Google Shape;231;g36099cd020b_0_114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32" name="Google Shape;232;g36099cd020b_0_114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g36099cd020b_0_114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Integración Top-Down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" name="Google Shape;234;g36099cd020b_0_114"/>
          <p:cNvSpPr txBox="1"/>
          <p:nvPr/>
        </p:nvSpPr>
        <p:spPr>
          <a:xfrm>
            <a:off x="619800" y="2535650"/>
            <a:ext cx="170484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pruebas top-down emplean un enfoque sistemático para probar los módulos de software desde el nivel superior hacia abajo a través de la jerarquía del sistema. Las pruebas comienzan con el módulo principal del software y continúan con los submódulos de la aplicación.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t/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35" name="Google Shape;235;g36099cd020b_0_114"/>
          <p:cNvPicPr preferRelativeResize="0"/>
          <p:nvPr/>
        </p:nvPicPr>
        <p:blipFill rotWithShape="1">
          <a:blip r:embed="rId3">
            <a:alphaModFix/>
          </a:blip>
          <a:srcRect b="0" l="27767" r="32029" t="0"/>
          <a:stretch/>
        </p:blipFill>
        <p:spPr>
          <a:xfrm>
            <a:off x="6220050" y="4340150"/>
            <a:ext cx="4842819" cy="548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g36099cd020b_0_123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41" name="Google Shape;241;g36099cd020b_0_123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42" name="Google Shape;242;g36099cd020b_0_123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g36099cd020b_0_123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Integración Bottom-Up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g36099cd020b_0_123"/>
          <p:cNvSpPr txBox="1"/>
          <p:nvPr/>
        </p:nvSpPr>
        <p:spPr>
          <a:xfrm>
            <a:off x="619800" y="2535650"/>
            <a:ext cx="170484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Cuando se realizan pruebas bottom-up, primero se prueban los módulos de nivel inferior. Se pasa gradualmente a los módulos de nivel superior y así sucesivamente, hasta que todas las facetas del software se han probado a fondo. Esta estrategia se denomina razonamiento inductivo. Resulta beneficiosa cuando se incorporan al producto final componentes ya existentes.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45" name="Google Shape;245;g36099cd020b_0_123"/>
          <p:cNvPicPr preferRelativeResize="0"/>
          <p:nvPr/>
        </p:nvPicPr>
        <p:blipFill rotWithShape="1">
          <a:blip r:embed="rId3">
            <a:alphaModFix/>
          </a:blip>
          <a:srcRect b="8024" l="28662" r="27612" t="5686"/>
          <a:stretch/>
        </p:blipFill>
        <p:spPr>
          <a:xfrm>
            <a:off x="6145300" y="5203300"/>
            <a:ext cx="5526399" cy="496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g36099cd020b_0_132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51" name="Google Shape;251;g36099cd020b_0_132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52" name="Google Shape;252;g36099cd020b_0_13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g36099cd020b_0_132"/>
          <p:cNvSpPr txBox="1"/>
          <p:nvPr/>
        </p:nvSpPr>
        <p:spPr>
          <a:xfrm>
            <a:off x="-408750" y="919525"/>
            <a:ext cx="19105500" cy="9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6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Unitarias vs. Pruebas de Integración</a:t>
            </a:r>
            <a:endParaRPr b="1" i="0" sz="6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4" name="Google Shape;254;g36099cd020b_0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9325" y="2628673"/>
            <a:ext cx="11269351" cy="734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g36099cd020b_0_140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60" name="Google Shape;260;g36099cd020b_0_140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61" name="Google Shape;261;g36099cd020b_0_140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g36099cd020b_0_140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de aceptación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g36099cd020b_0_140"/>
          <p:cNvSpPr txBox="1"/>
          <p:nvPr/>
        </p:nvSpPr>
        <p:spPr>
          <a:xfrm>
            <a:off x="1028700" y="2969250"/>
            <a:ext cx="17048400" cy="30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pruebas de aceptación son pruebas formales que verifican si un sistema satisface los requisitos empresariales. Requieren que se esté ejecutando toda la aplicación durante las pruebas y se centran en replicar las conductas de los usuarios. Sin embargo, también pueden ir más allá y medir el rendimiento del sistema y rechazar cambios si no se han cumplido determinados objetivos.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64" name="Google Shape;264;g36099cd020b_0_140"/>
          <p:cNvSpPr txBox="1"/>
          <p:nvPr/>
        </p:nvSpPr>
        <p:spPr>
          <a:xfrm>
            <a:off x="1572000" y="82385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https://repositorio.uci.cu/handle/ident/8092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g36099cd020b_0_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4713" y="6177000"/>
            <a:ext cx="7456376" cy="39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g36099cd020b_0_150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71" name="Google Shape;271;g36099cd020b_0_150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72" name="Google Shape;272;g36099cd020b_0_150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g36099cd020b_0_150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La Mauske herramienta misteriosa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4" name="Google Shape;274;g36099cd020b_0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5350" y="2401507"/>
            <a:ext cx="10287000" cy="744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g36099cd020b_0_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1000" y="2804950"/>
            <a:ext cx="5768425" cy="46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36099cd020b_0_1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575" y="2350350"/>
            <a:ext cx="9525000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g36099cd020b_0_163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86" name="Google Shape;286;g36099cd020b_0_163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87" name="Google Shape;287;g36099cd020b_0_163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g36099cd020b_0_163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Pruebas de regresión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" name="Google Shape;289;g36099cd020b_0_163"/>
          <p:cNvSpPr txBox="1"/>
          <p:nvPr/>
        </p:nvSpPr>
        <p:spPr>
          <a:xfrm>
            <a:off x="1028713" y="2610400"/>
            <a:ext cx="17048400" cy="4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pruebas de regresión se enfocan en verificar que los cambios, como las correcciones de errores, las mejoras de las funciones y las nuevas funciones añadidas no afecten negativamente las funciones existentes o la funcionalidad. Normalmente se realizan después de un cambio de código relevante o de haber desarrollado una nueva versión del software, y se emplean para asegurar que las funciones existentes sigan respondiendo según lo previsto. Las pruebas de regresión ayudan a garantizar que los nuevos cambios no generen un nuevo error ni provoquen fallos en las funciones existentes.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90" name="Google Shape;290;g36099cd020b_0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5000" y="7107200"/>
            <a:ext cx="3975859" cy="30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g36099cd020b_0_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7813" y="2401500"/>
            <a:ext cx="12007726" cy="79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6099cd020b_0_172"/>
          <p:cNvSpPr txBox="1"/>
          <p:nvPr/>
        </p:nvSpPr>
        <p:spPr>
          <a:xfrm>
            <a:off x="687775" y="90758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https://qalified.com/es/blog/pruebas-regresion/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" name="Google Shape;297;g36099cd020b_0_172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298" name="Google Shape;298;g36099cd020b_0_172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99" name="Google Shape;299;g36099cd020b_0_17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0" name="Google Shape;300;g36099cd020b_0_172"/>
          <p:cNvSpPr txBox="1"/>
          <p:nvPr/>
        </p:nvSpPr>
        <p:spPr>
          <a:xfrm>
            <a:off x="-232650" y="863000"/>
            <a:ext cx="18753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0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Ejemplo de prueba de regresión</a:t>
            </a:r>
            <a:endParaRPr b="1" i="0" sz="70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6" name="Google Shape;306;p6"/>
          <p:cNvSpPr txBox="1"/>
          <p:nvPr/>
        </p:nvSpPr>
        <p:spPr>
          <a:xfrm>
            <a:off x="6212437" y="3860833"/>
            <a:ext cx="69114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Pruebas de aceptación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Pruebas de regresión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Pruebas unitarias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Pruebas de integración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Integración Top-Down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Integración Bottom-Up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60abcd447f_0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Colaboración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2" name="Google Shape;312;g360abcd447f_0_0"/>
          <p:cNvSpPr txBox="1"/>
          <p:nvPr/>
        </p:nvSpPr>
        <p:spPr>
          <a:xfrm>
            <a:off x="2230719" y="2675475"/>
            <a:ext cx="141717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Trabajando en equipo con actitud proactiva: </a:t>
            </a:r>
            <a:r>
              <a:rPr lang="en-US" sz="3151">
                <a:solidFill>
                  <a:srgbClr val="131416"/>
                </a:solidFill>
              </a:rPr>
              <a:t>Participando activamente en las tareas grupales, ofreciendo ideas, ayudando a resolver dudas y distribuyendo el trabajo de forma justa.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Resolviendo desacuerdos de manera constructiva: </a:t>
            </a:r>
            <a:r>
              <a:rPr lang="en-US" sz="3151">
                <a:solidFill>
                  <a:srgbClr val="131416"/>
                </a:solidFill>
              </a:rPr>
              <a:t>Si hay diferencias, se manejan con diálogo, buscando consensos y enfocándose en soluciones.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