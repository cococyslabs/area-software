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10287000" cx="18288000"/>
  <p:notesSz cx="6858000" cy="9144000"/>
  <p:embeddedFontLst>
    <p:embeddedFont>
      <p:font typeface="Poppins Light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iu7bGzJ+VUzvL8mN9r0p+b8MH1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31A49C-0523-48A1-821E-6191D212FB6A}">
  <a:tblStyle styleId="{1731A49C-0523-48A1-821E-6191D212FB6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bold.fntdata"/><Relationship Id="rId30" Type="http://schemas.openxmlformats.org/officeDocument/2006/relationships/font" Target="fonts/PoppinsLight-regular.fntdata"/><Relationship Id="rId11" Type="http://schemas.openxmlformats.org/officeDocument/2006/relationships/slide" Target="slides/slide5.xml"/><Relationship Id="rId33" Type="http://schemas.openxmlformats.org/officeDocument/2006/relationships/font" Target="fonts/PoppinsLight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Light-italic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63c5d0ce3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63c5d0ce3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3c5d0ce31_0_3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63c5d0ce31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f194d606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5f194d606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f1b3ae13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f1b3ae1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f80fe5a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5f80fe5a1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3ce9bffb9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63ce9bffb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3ce9bffb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63ce9bff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3ce9bffb9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63ce9bffb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3ce9bff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63ce9bffb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7845e36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c7845e36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3cc3f292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93cc3f292d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3cc3f292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93cc3f292d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3cc3f292d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93cc3f292d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f1b3ae13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df1b3ae13e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f194d6067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5f194d606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3ce9bffb9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63ce9bffb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f1b3ae1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f1b3ae13e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3ce9bffb9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63ce9bffb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3ce9bffb9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63ce9bffb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3c5d0ce31_0_27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" name="Google Shape;13;g363c5d0ce31_0_27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4" name="Google Shape;14;g363c5d0ce31_0_27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63c5d0ce31_0_30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63c5d0ce31_0_266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9" name="Google Shape;19;g363c5d0ce31_0_266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0" name="Google Shape;20;g363c5d0ce31_0_26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63c5d0ce31_0_270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3" name="Google Shape;23;g363c5d0ce31_0_27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63c5d0ce31_0_27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6" name="Google Shape;26;g363c5d0ce31_0_277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" name="Google Shape;27;g363c5d0ce31_0_277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8" name="Google Shape;28;g363c5d0ce31_0_27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3c5d0ce31_0_28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1" name="Google Shape;31;g363c5d0ce31_0_28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63c5d0ce31_0_28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63c5d0ce31_0_28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5" name="Google Shape;35;g363c5d0ce31_0_28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63c5d0ce31_0_289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8" name="Google Shape;38;g363c5d0ce31_0_28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63c5d0ce31_0_292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63c5d0ce31_0_292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2" name="Google Shape;42;g363c5d0ce31_0_292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g363c5d0ce31_0_292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4" name="Google Shape;44;g363c5d0ce31_0_29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63c5d0ce31_0_29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7" name="Google Shape;47;g363c5d0ce31_0_29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3c5d0ce31_0_30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0" name="Google Shape;50;g363c5d0ce31_0_30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1" name="Google Shape;51;g363c5d0ce31_0_30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3c5d0ce31_0_26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63c5d0ce31_0_262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63c5d0ce31_0_26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g363c5d0ce31_0_2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8797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g363c5d0ce31_0_2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4400"/>
            <a:ext cx="18288000" cy="1028329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youtube.com/watch?v=Bx9AJJtv9DA" TargetMode="External"/><Relationship Id="rId4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363c5d0ce31_0_2"/>
          <p:cNvPicPr preferRelativeResize="0"/>
          <p:nvPr/>
        </p:nvPicPr>
        <p:blipFill rotWithShape="1">
          <a:blip r:embed="rId3">
            <a:alphaModFix/>
          </a:blip>
          <a:srcRect b="65980" l="0" r="0" t="0"/>
          <a:stretch/>
        </p:blipFill>
        <p:spPr>
          <a:xfrm>
            <a:off x="175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363c5d0ce31_0_2"/>
          <p:cNvPicPr preferRelativeResize="0"/>
          <p:nvPr/>
        </p:nvPicPr>
        <p:blipFill rotWithShape="1">
          <a:blip r:embed="rId4">
            <a:alphaModFix amt="62000"/>
          </a:blip>
          <a:srcRect b="0" l="0" r="0" t="0"/>
          <a:stretch/>
        </p:blipFill>
        <p:spPr>
          <a:xfrm>
            <a:off x="16902" y="-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" name="Google Shape;58;g363c5d0ce31_0_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{1731A49C-0523-48A1-821E-6191D212FB6A}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Jueves 12/02/2026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17:20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59" name="Google Shape;59;g363c5d0ce31_0_2"/>
          <p:cNvSpPr txBox="1"/>
          <p:nvPr/>
        </p:nvSpPr>
        <p:spPr>
          <a:xfrm>
            <a:off x="2887350" y="4573950"/>
            <a:ext cx="12513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y Diseño de Sistemas 2 Sección B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63c5d0ce31_0_2"/>
          <p:cNvSpPr txBox="1"/>
          <p:nvPr/>
        </p:nvSpPr>
        <p:spPr>
          <a:xfrm>
            <a:off x="112925" y="9152575"/>
            <a:ext cx="9209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Nombre del tutor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63c5d0ce31_0_2"/>
          <p:cNvSpPr txBox="1"/>
          <p:nvPr/>
        </p:nvSpPr>
        <p:spPr>
          <a:xfrm>
            <a:off x="2887350" y="5645925"/>
            <a:ext cx="12513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3000"/>
              <a:t>Escuela de Ingeniería en Ciencias y Sistemas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/>
        </p:nvSpPr>
        <p:spPr>
          <a:xfrm>
            <a:off x="2956505" y="3811812"/>
            <a:ext cx="12375000" cy="14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013362"/>
                </a:solidFill>
                <a:latin typeface="Open Sans"/>
                <a:ea typeface="Open Sans"/>
                <a:cs typeface="Open Sans"/>
                <a:sym typeface="Open Sans"/>
              </a:rPr>
              <a:t>Elementos de Diseño</a:t>
            </a:r>
            <a:endParaRPr b="0" i="0" sz="14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0777" y="406175"/>
            <a:ext cx="8540076" cy="2263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68" name="Google Shape;68;p1"/>
          <p:cNvSpPr txBox="1"/>
          <p:nvPr/>
        </p:nvSpPr>
        <p:spPr>
          <a:xfrm>
            <a:off x="4902600" y="5346338"/>
            <a:ext cx="78576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3900" u="none" cap="none" strike="noStrike">
                <a:solidFill>
                  <a:srgbClr val="013362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Sección B </a:t>
            </a:r>
            <a:endParaRPr b="1" i="0" sz="3900" u="none" cap="none" strike="noStrike">
              <a:solidFill>
                <a:srgbClr val="0133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9" name="Google Shape;69;p1"/>
          <p:cNvGrpSpPr/>
          <p:nvPr/>
        </p:nvGrpSpPr>
        <p:grpSpPr>
          <a:xfrm>
            <a:off x="844275" y="8456025"/>
            <a:ext cx="8653303" cy="1343375"/>
            <a:chOff x="-349750" y="9655475"/>
            <a:chExt cx="8653303" cy="1343375"/>
          </a:xfrm>
        </p:grpSpPr>
        <p:sp>
          <p:nvSpPr>
            <p:cNvPr id="70" name="Google Shape;70;p1"/>
            <p:cNvSpPr txBox="1"/>
            <p:nvPr/>
          </p:nvSpPr>
          <p:spPr>
            <a:xfrm>
              <a:off x="1322253" y="10519464"/>
              <a:ext cx="69813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013362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Ingeniería de Ciencias Y Sistemas</a:t>
              </a:r>
              <a:endParaRPr b="0" i="0" sz="1400" u="none" cap="none" strike="noStrike">
                <a:solidFill>
                  <a:srgbClr val="01336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 txBox="1"/>
            <p:nvPr/>
          </p:nvSpPr>
          <p:spPr>
            <a:xfrm>
              <a:off x="1322250" y="10134863"/>
              <a:ext cx="35253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013362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Ingeniería</a:t>
              </a:r>
              <a:endParaRPr b="0" i="0" sz="1400" u="none" cap="none" strike="noStrike">
                <a:solidFill>
                  <a:srgbClr val="01336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 txBox="1"/>
            <p:nvPr/>
          </p:nvSpPr>
          <p:spPr>
            <a:xfrm>
              <a:off x="1322250" y="9750263"/>
              <a:ext cx="64080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013362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 b="0" i="0" sz="1400" u="none" cap="none" strike="noStrike">
                <a:solidFill>
                  <a:srgbClr val="01336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" name="Google Shape;7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349750" y="9655475"/>
              <a:ext cx="1343375" cy="1343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"/>
          <p:cNvSpPr txBox="1"/>
          <p:nvPr/>
        </p:nvSpPr>
        <p:spPr>
          <a:xfrm>
            <a:off x="14287500" y="9353000"/>
            <a:ext cx="361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2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Jueves </a:t>
            </a:r>
            <a:r>
              <a:rPr b="1" lang="en-US" sz="2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dd</a:t>
            </a:r>
            <a:r>
              <a:rPr b="1" i="0" lang="en-US" sz="2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b="1" lang="en-US" sz="2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MM</a:t>
            </a:r>
            <a:r>
              <a:rPr b="1" i="0" lang="en-US" sz="2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b="1" lang="en-US" sz="2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yyyy</a:t>
            </a:r>
            <a:r>
              <a:rPr b="1" i="0" lang="en-US" sz="2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2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3c5d0ce31_0_348"/>
          <p:cNvSpPr txBox="1"/>
          <p:nvPr/>
        </p:nvSpPr>
        <p:spPr>
          <a:xfrm>
            <a:off x="4616100" y="1274975"/>
            <a:ext cx="905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Anuncios importantes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63c5d0ce31_0_348"/>
          <p:cNvSpPr txBox="1"/>
          <p:nvPr/>
        </p:nvSpPr>
        <p:spPr>
          <a:xfrm>
            <a:off x="3013825" y="3181900"/>
            <a:ext cx="5730000" cy="52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4600"/>
              <a:buFont typeface="Calibri"/>
              <a:buChar char="❏"/>
            </a:pPr>
            <a:r>
              <a:rPr b="1" lang="en-US" sz="4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Anuncio 1</a:t>
            </a:r>
            <a:endParaRPr b="1" sz="4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4600"/>
              <a:buFont typeface="Calibri"/>
              <a:buChar char="❏"/>
            </a:pPr>
            <a:r>
              <a:rPr b="1" lang="en-US" sz="4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Anuncio 2</a:t>
            </a:r>
            <a:endParaRPr b="1" sz="4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4600"/>
              <a:buFont typeface="Calibri"/>
              <a:buChar char="❏"/>
            </a:pPr>
            <a:r>
              <a:rPr b="1" lang="en-US" sz="4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Anuncio 3</a:t>
            </a:r>
            <a:endParaRPr b="1" sz="4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g363c5d0ce31_0_3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4025" y="2816700"/>
            <a:ext cx="5913374" cy="5715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f194d6067_0_2"/>
          <p:cNvSpPr/>
          <p:nvPr/>
        </p:nvSpPr>
        <p:spPr>
          <a:xfrm>
            <a:off x="592309" y="8986439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g35f194d6067_0_2"/>
          <p:cNvSpPr txBox="1"/>
          <p:nvPr/>
        </p:nvSpPr>
        <p:spPr>
          <a:xfrm>
            <a:off x="2080949" y="1329125"/>
            <a:ext cx="14126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8700" u="none" cap="none" strike="noStrike">
                <a:solidFill>
                  <a:srgbClr val="013362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34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5f194d6067_0_2"/>
          <p:cNvSpPr txBox="1"/>
          <p:nvPr/>
        </p:nvSpPr>
        <p:spPr>
          <a:xfrm>
            <a:off x="2478250" y="2918125"/>
            <a:ext cx="6967200" cy="6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Competencia a desarrollar</a:t>
            </a:r>
            <a:endParaRPr b="1" sz="3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Valor de la semana</a:t>
            </a:r>
            <a:endParaRPr b="1" sz="3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Patrones de diseño creacionales</a:t>
            </a:r>
            <a:endParaRPr b="1" sz="3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Conceptos clave aprendidos</a:t>
            </a:r>
            <a:endParaRPr b="1" sz="3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b="1" sz="3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Ejemplo práctico </a:t>
            </a:r>
            <a:endParaRPr b="1" sz="3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Actividad en clase </a:t>
            </a:r>
            <a:endParaRPr b="1" sz="3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Dudas y comentarios</a:t>
            </a:r>
            <a:endParaRPr b="1" sz="3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Foro de la semana</a:t>
            </a:r>
            <a:endParaRPr b="1" sz="3600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g35f194d6067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20400" y="3161500"/>
            <a:ext cx="4616900" cy="5734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2597700" y="4375225"/>
            <a:ext cx="130926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1" i="0" lang="en-US" sz="5498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COMPETENCIA(S) QUE DESARROLLAREMOS</a:t>
            </a:r>
            <a:endParaRPr b="1" i="0" sz="800" u="none" cap="none" strike="noStrike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135550" y="5458225"/>
            <a:ext cx="14016900" cy="42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4199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Comprender y aplicar patrones de diseño creacionales para mejorar el proceso de instanciación de objetos, el control sobre su configuración y la flexibilidad en la construcción de sistemas de software, promoviendo un menor acoplamiento y una arquitectura más escalable y mantenible.</a:t>
            </a:r>
            <a:endParaRPr b="1" i="0" sz="400" u="none" cap="none" strike="noStrike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788" y="368900"/>
            <a:ext cx="5448431" cy="3632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f1b3ae13e_0_8"/>
          <p:cNvSpPr txBox="1"/>
          <p:nvPr/>
        </p:nvSpPr>
        <p:spPr>
          <a:xfrm>
            <a:off x="3724050" y="1929600"/>
            <a:ext cx="1083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Valor de la semana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g3df1b3ae13e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600" y="3609100"/>
            <a:ext cx="48768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80fe5a1a_1_0"/>
          <p:cNvSpPr txBox="1"/>
          <p:nvPr/>
        </p:nvSpPr>
        <p:spPr>
          <a:xfrm>
            <a:off x="1222442" y="563700"/>
            <a:ext cx="158757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Magnanimidad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5f80fe5a1a_1_0"/>
          <p:cNvSpPr txBox="1"/>
          <p:nvPr/>
        </p:nvSpPr>
        <p:spPr>
          <a:xfrm>
            <a:off x="1222451" y="2053575"/>
            <a:ext cx="8742000" cy="7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2851" u="none" cap="none" strike="noStrike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Actuando con magnanimidad en el cumplimiento de responsabilidades:</a:t>
            </a:r>
            <a:endParaRPr b="1" i="0" sz="2851" u="none" cap="none" strike="noStrike">
              <a:solidFill>
                <a:srgbClr val="1314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2851" u="none" cap="none" strike="noStrike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Realizando las tareas asignadas con disposición y excelencia, entregando trabajos y proyectos en tiempo y forma, no solo por obligación, sino por el compromiso de aportar lo mejor de sí al bienestar y éxito del equipo.</a:t>
            </a:r>
            <a:endParaRPr b="0" i="0" sz="2851" u="none" cap="none" strike="noStrike">
              <a:solidFill>
                <a:srgbClr val="1314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2851" u="none" cap="none" strike="noStrike">
              <a:solidFill>
                <a:srgbClr val="1314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2851" u="none" cap="none" strike="noStrike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Mostrando grandeza de ánimo dentro del equipo: </a:t>
            </a:r>
            <a:endParaRPr b="1" i="0" sz="2851" u="none" cap="none" strike="noStrike">
              <a:solidFill>
                <a:srgbClr val="1314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2851" u="none" cap="none" strike="noStrike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Asumiendo compromisos con actitud noble y solidaria, apoyando cuando es necesario, cumpliendo lo prometido e incluso ofreciendo ayuda adicional si la situación lo requiere, entendiendo que el verdadero logro colectivo surge del esfuerzo generoso de cada integrante.</a:t>
            </a:r>
            <a:endParaRPr b="0" i="0" sz="2851" u="none" cap="none" strike="noStrike">
              <a:solidFill>
                <a:srgbClr val="1314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g35f80fe5a1a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5625" y="3436080"/>
            <a:ext cx="7210875" cy="43965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3ce9bffb9_0_7"/>
          <p:cNvSpPr txBox="1"/>
          <p:nvPr/>
        </p:nvSpPr>
        <p:spPr>
          <a:xfrm>
            <a:off x="4903800" y="2075550"/>
            <a:ext cx="8480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Patrones de diseño de software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363ce9bffb9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0" y="5036625"/>
            <a:ext cx="4762500" cy="3609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3ce9bffb9_0_0"/>
          <p:cNvSpPr txBox="1"/>
          <p:nvPr/>
        </p:nvSpPr>
        <p:spPr>
          <a:xfrm>
            <a:off x="3724050" y="1087925"/>
            <a:ext cx="1083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Recordando…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63ce9bffb9_0_0"/>
          <p:cNvSpPr txBox="1"/>
          <p:nvPr/>
        </p:nvSpPr>
        <p:spPr>
          <a:xfrm>
            <a:off x="1340425" y="2712050"/>
            <a:ext cx="8245200" cy="6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3"/>
              <a:buFont typeface="Arial"/>
              <a:buNone/>
            </a:pPr>
            <a:r>
              <a:rPr b="0" i="0" lang="en-US" sz="3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Los patrones de diseño son soluciones reutilizables a problemas comunes que enfrentan los diseñadores y desarrolladores de software. Estos patrones proporcionan una estructura para elaborar diseños, lo que permite la creación de soluciones eficientes y mantenibles. </a:t>
            </a:r>
            <a:endParaRPr b="0" i="0" sz="4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g363ce9bffb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7525" y="3644675"/>
            <a:ext cx="4556250" cy="4556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3ce9bffb9_0_150"/>
          <p:cNvSpPr txBox="1"/>
          <p:nvPr/>
        </p:nvSpPr>
        <p:spPr>
          <a:xfrm>
            <a:off x="4903800" y="1420925"/>
            <a:ext cx="8480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Patrones de diseño creacionales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g363ce9bffb9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3013" y="3886700"/>
            <a:ext cx="5921975" cy="5921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3ce9bffb9_0_12"/>
          <p:cNvSpPr txBox="1"/>
          <p:nvPr/>
        </p:nvSpPr>
        <p:spPr>
          <a:xfrm>
            <a:off x="1278100" y="2376975"/>
            <a:ext cx="8728500" cy="7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42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patrones de diseño relacionados con la creación o construcción de objetos. Estos patrones intentan controlar la forma en que los objetos son creados implementando mecanismos que eviten la creación directa de objetos.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63ce9bffb9_0_12"/>
          <p:cNvSpPr txBox="1"/>
          <p:nvPr/>
        </p:nvSpPr>
        <p:spPr>
          <a:xfrm>
            <a:off x="2376787" y="439000"/>
            <a:ext cx="1353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Patrones de diseño estructurales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63ce9bffb9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4625" y="2532751"/>
            <a:ext cx="6205050" cy="62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7845e36b7_0_0"/>
          <p:cNvSpPr txBox="1"/>
          <p:nvPr/>
        </p:nvSpPr>
        <p:spPr>
          <a:xfrm>
            <a:off x="1160425" y="3755338"/>
            <a:ext cx="8728500" cy="3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4263"/>
              <a:buFont typeface="Poppins Light"/>
              <a:buChar char="●"/>
            </a:pPr>
            <a:r>
              <a:rPr b="0" i="0" lang="en-US" sz="42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Mayor flexibilidad</a:t>
            </a:r>
            <a:endParaRPr b="0" i="0" sz="42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57200" lvl="0" marL="45720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4263"/>
              <a:buFont typeface="Poppins Light"/>
              <a:buChar char="●"/>
            </a:pPr>
            <a:r>
              <a:rPr b="0" i="0" lang="en-US" sz="42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Facilitan la escalabilidad</a:t>
            </a:r>
            <a:endParaRPr b="0" i="0" sz="42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57200" lvl="0" marL="45720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4263"/>
              <a:buFont typeface="Poppins Light"/>
              <a:buChar char="●"/>
            </a:pPr>
            <a:r>
              <a:rPr b="0" i="0" lang="en-US" sz="42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Mejor organización del código</a:t>
            </a:r>
            <a:endParaRPr b="0" i="0" sz="42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57200" lvl="0" marL="45720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4263"/>
              <a:buFont typeface="Poppins Light"/>
              <a:buChar char="●"/>
            </a:pPr>
            <a:r>
              <a:rPr b="0" i="0" lang="en-US" sz="42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Control sobre la creación</a:t>
            </a:r>
            <a:endParaRPr b="0" i="0" sz="42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1" name="Google Shape;141;g3c7845e36b7_0_0"/>
          <p:cNvSpPr txBox="1"/>
          <p:nvPr/>
        </p:nvSpPr>
        <p:spPr>
          <a:xfrm>
            <a:off x="2376787" y="439000"/>
            <a:ext cx="1353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Patrones de diseño creacionales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c7845e36b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7725" y="3226713"/>
            <a:ext cx="6902126" cy="4884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3cc3f292d_1_2"/>
          <p:cNvSpPr txBox="1"/>
          <p:nvPr/>
        </p:nvSpPr>
        <p:spPr>
          <a:xfrm>
            <a:off x="673000" y="1771888"/>
            <a:ext cx="8728500" cy="80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3"/>
              <a:buFont typeface="Arial"/>
              <a:buNone/>
            </a:pPr>
            <a:r>
              <a:rPr b="0" i="0" lang="en-US" sz="42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Builder es un patrón de diseño creacional que nos permite construir objetos complejos paso a paso. El patrón nos permite producir distintos tipos y representaciones de un objeto empleando el mismo código de construcción.</a:t>
            </a:r>
            <a:endParaRPr b="0" i="0" sz="42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8" name="Google Shape;148;g393cc3f292d_1_2"/>
          <p:cNvSpPr txBox="1"/>
          <p:nvPr/>
        </p:nvSpPr>
        <p:spPr>
          <a:xfrm>
            <a:off x="2376612" y="287725"/>
            <a:ext cx="1353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Builder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93cc3f292d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64850" y="2697825"/>
            <a:ext cx="7826174" cy="4891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3cc3f292d_1_8"/>
          <p:cNvSpPr txBox="1"/>
          <p:nvPr/>
        </p:nvSpPr>
        <p:spPr>
          <a:xfrm>
            <a:off x="9346325" y="2977788"/>
            <a:ext cx="8728500" cy="4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3"/>
              <a:buFont typeface="Arial"/>
              <a:buNone/>
            </a:pPr>
            <a:r>
              <a:rPr b="0" i="0" lang="en-US" sz="42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Prototype es un patrón de diseño creacional que nos permite copiar objetos existentes sin que el código dependa de sus clases.</a:t>
            </a:r>
            <a:endParaRPr b="0" i="0" sz="42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5" name="Google Shape;155;g393cc3f292d_1_8"/>
          <p:cNvSpPr txBox="1"/>
          <p:nvPr/>
        </p:nvSpPr>
        <p:spPr>
          <a:xfrm>
            <a:off x="2376787" y="439000"/>
            <a:ext cx="1353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Prototype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93cc3f292d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975" y="2607275"/>
            <a:ext cx="8656850" cy="5410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s patrones de diseño son soluciones generales y reutilizables a problemas comunes que surgen al diseñar software. Al aplicar patrones de diseño, se facilita la creación de software más flexible, mantenible y escalable. Pero ¡OJO! 👀 NO SIEMPRE son la mejor opción y en esta clase vamos a ver por qué.&#10;-&#10;🔥Clase Anterior 👉🏼 https://youtu.be/fzgSFu55Pbw&#10;🔥Clase Siguiente 👉🏼 https://www.youtube.com/watch?v=UekxC1hvurk&#10;💼 Repositorio de código: https://github.com/todocodeacademy/CursoPatronesDisenio&#10;-&#10;💥 APOYÁ EL CANAL 💥&#10;💖 Invitame un tereré desde Argentina (MercadoPago): https://cafecito.app/todocode&#10;💖 Transferencia (alias): todocode&#10;💖 Paypal: https://paypal.me/luikina&#10;-&#10;💥 SEGUINOS EN 💥&#10;🌐Instagram: https://www.instagram.com/todo_code/&#10;🌐Twitter: https://www.twitter.com/todo_code/&#10;🌐Twitch: https://twitch.tv/todocode&#10;🌐TodoCode Academy: http://www.todocodeacademy.com&#10;🌐Discord: https://discord.gg/MqVqXD2MfR" id="161" name="Google Shape;161;g393cc3f292d_1_13" title="PATRONES CREACIONALES: Los PATRONES DE DISEÑO más utilizados en el desarrollo de software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4413" y="699988"/>
            <a:ext cx="15799175" cy="88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CONCEPTOS CLAVE APRENDIDOS 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2113212" y="4432208"/>
            <a:ext cx="69114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51"/>
              <a:buFont typeface="Calibri"/>
              <a:buChar char="●"/>
            </a:pPr>
            <a:r>
              <a:rPr b="0" i="0" lang="en-US" sz="3850" u="none" cap="none" strike="noStrike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Patrones de diseño creacionales</a:t>
            </a:r>
            <a:endParaRPr b="0" i="0" sz="3850" u="none" cap="none" strike="noStrike">
              <a:solidFill>
                <a:srgbClr val="1314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51"/>
              <a:buFont typeface="Calibri"/>
              <a:buChar char="●"/>
            </a:pPr>
            <a:r>
              <a:rPr b="0" i="0" lang="en-US" sz="3850" u="none" cap="none" strike="noStrike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Patrones estructurales</a:t>
            </a:r>
            <a:endParaRPr b="0" i="0" sz="3850" u="none" cap="none" strike="noStrike">
              <a:solidFill>
                <a:srgbClr val="1314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5051" y="2682100"/>
            <a:ext cx="6344650" cy="632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f1b3ae13e_0_14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lang="en-US" sz="6900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f1b3ae13e_0_14"/>
          <p:cNvSpPr txBox="1"/>
          <p:nvPr/>
        </p:nvSpPr>
        <p:spPr>
          <a:xfrm>
            <a:off x="2113200" y="2958350"/>
            <a:ext cx="9098400" cy="55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51"/>
              <a:buFont typeface="Calibri"/>
              <a:buChar char="●"/>
            </a:pPr>
            <a:r>
              <a:rPr lang="en-US" sz="3850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Refactoring Guru</a:t>
            </a:r>
            <a:br>
              <a:rPr lang="en-US" sz="3850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85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https://refactoring.guru/es/design-patterns</a:t>
            </a:r>
            <a:endParaRPr b="1" i="0" sz="385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51"/>
              <a:buFont typeface="Calibri"/>
              <a:buChar char="●"/>
            </a:pPr>
            <a:r>
              <a:rPr lang="en-US" sz="3850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  <a:t>DevCommunity</a:t>
            </a:r>
            <a:br>
              <a:rPr lang="en-US" sz="3850">
                <a:solidFill>
                  <a:srgbClr val="13141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85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https://dev.to/gelopfalcon/los-7-patrones-de-diseno-de-software-mas-importantes-28l2</a:t>
            </a:r>
            <a:endParaRPr b="1" i="0" sz="385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g3df1b3ae13e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6997" y="2697700"/>
            <a:ext cx="6046250" cy="60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f194d6067_0_78"/>
          <p:cNvSpPr txBox="1"/>
          <p:nvPr/>
        </p:nvSpPr>
        <p:spPr>
          <a:xfrm>
            <a:off x="5064150" y="906550"/>
            <a:ext cx="8159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Ejemplo práctico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35f194d6067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325" y="2837375"/>
            <a:ext cx="6841350" cy="6296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3ce9bffb9_0_173"/>
          <p:cNvSpPr txBox="1"/>
          <p:nvPr/>
        </p:nvSpPr>
        <p:spPr>
          <a:xfrm>
            <a:off x="5064150" y="906550"/>
            <a:ext cx="8159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Actividad en clase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63ce9bffb9_0_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4590" y="2400950"/>
            <a:ext cx="7998824" cy="7449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f1b3ae13e_0_24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g3df1b3ae13e_0_24"/>
          <p:cNvSpPr txBox="1"/>
          <p:nvPr/>
        </p:nvSpPr>
        <p:spPr>
          <a:xfrm>
            <a:off x="5655069" y="1667078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g3df1b3ae13e_0_24"/>
          <p:cNvSpPr txBox="1"/>
          <p:nvPr/>
        </p:nvSpPr>
        <p:spPr>
          <a:xfrm>
            <a:off x="5655069" y="246044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5" name="Google Shape;195;g3df1b3ae13e_0_24"/>
          <p:cNvSpPr txBox="1"/>
          <p:nvPr/>
        </p:nvSpPr>
        <p:spPr>
          <a:xfrm>
            <a:off x="5655069" y="3475309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g3df1b3ae13e_0_24"/>
          <p:cNvSpPr txBox="1"/>
          <p:nvPr/>
        </p:nvSpPr>
        <p:spPr>
          <a:xfrm>
            <a:off x="13953088" y="2091258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g3df1b3ae13e_0_24"/>
          <p:cNvSpPr txBox="1"/>
          <p:nvPr/>
        </p:nvSpPr>
        <p:spPr>
          <a:xfrm>
            <a:off x="13953088" y="288462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8" name="Google Shape;198;g3df1b3ae13e_0_24"/>
          <p:cNvSpPr txBox="1"/>
          <p:nvPr/>
        </p:nvSpPr>
        <p:spPr>
          <a:xfrm>
            <a:off x="13953088" y="368028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g3df1b3ae13e_0_24"/>
          <p:cNvSpPr txBox="1"/>
          <p:nvPr/>
        </p:nvSpPr>
        <p:spPr>
          <a:xfrm>
            <a:off x="277231" y="508635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g3df1b3ae13e_0_24"/>
          <p:cNvSpPr txBox="1"/>
          <p:nvPr/>
        </p:nvSpPr>
        <p:spPr>
          <a:xfrm>
            <a:off x="277231" y="585301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g3df1b3ae13e_0_24"/>
          <p:cNvSpPr txBox="1"/>
          <p:nvPr/>
        </p:nvSpPr>
        <p:spPr>
          <a:xfrm>
            <a:off x="277231" y="662009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g3df1b3ae13e_0_24"/>
          <p:cNvSpPr txBox="1"/>
          <p:nvPr/>
        </p:nvSpPr>
        <p:spPr>
          <a:xfrm>
            <a:off x="277231" y="760040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g3df1b3ae13e_0_24"/>
          <p:cNvSpPr txBox="1"/>
          <p:nvPr/>
        </p:nvSpPr>
        <p:spPr>
          <a:xfrm>
            <a:off x="277231" y="836748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g3df1b3ae13e_0_24"/>
          <p:cNvSpPr txBox="1"/>
          <p:nvPr/>
        </p:nvSpPr>
        <p:spPr>
          <a:xfrm>
            <a:off x="277231" y="920115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g3df1b3ae13e_0_24"/>
          <p:cNvSpPr txBox="1"/>
          <p:nvPr/>
        </p:nvSpPr>
        <p:spPr>
          <a:xfrm>
            <a:off x="6406538" y="50749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g3df1b3ae13e_0_24"/>
          <p:cNvSpPr txBox="1"/>
          <p:nvPr/>
        </p:nvSpPr>
        <p:spPr>
          <a:xfrm>
            <a:off x="6406538" y="585301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g3df1b3ae13e_0_24"/>
          <p:cNvSpPr txBox="1"/>
          <p:nvPr/>
        </p:nvSpPr>
        <p:spPr>
          <a:xfrm>
            <a:off x="6406538" y="664866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g3df1b3ae13e_0_24"/>
          <p:cNvSpPr txBox="1"/>
          <p:nvPr/>
        </p:nvSpPr>
        <p:spPr>
          <a:xfrm>
            <a:off x="6406538" y="74443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g3df1b3ae13e_0_24"/>
          <p:cNvSpPr txBox="1"/>
          <p:nvPr/>
        </p:nvSpPr>
        <p:spPr>
          <a:xfrm>
            <a:off x="6406538" y="836748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g3df1b3ae13e_0_24"/>
          <p:cNvSpPr txBox="1"/>
          <p:nvPr/>
        </p:nvSpPr>
        <p:spPr>
          <a:xfrm>
            <a:off x="6406538" y="920115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g3df1b3ae13e_0_24"/>
          <p:cNvSpPr txBox="1"/>
          <p:nvPr/>
        </p:nvSpPr>
        <p:spPr>
          <a:xfrm>
            <a:off x="12538626" y="50749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g3df1b3ae13e_0_24"/>
          <p:cNvSpPr txBox="1"/>
          <p:nvPr/>
        </p:nvSpPr>
        <p:spPr>
          <a:xfrm>
            <a:off x="12538626" y="585301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g3df1b3ae13e_0_24"/>
          <p:cNvSpPr txBox="1"/>
          <p:nvPr/>
        </p:nvSpPr>
        <p:spPr>
          <a:xfrm>
            <a:off x="12538626" y="664866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g3df1b3ae13e_0_24"/>
          <p:cNvSpPr txBox="1"/>
          <p:nvPr/>
        </p:nvSpPr>
        <p:spPr>
          <a:xfrm>
            <a:off x="12538626" y="74443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g3df1b3ae13e_0_24"/>
          <p:cNvSpPr txBox="1"/>
          <p:nvPr/>
        </p:nvSpPr>
        <p:spPr>
          <a:xfrm>
            <a:off x="12538626" y="836748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6" name="Google Shape;216;g3df1b3ae13e_0_24"/>
          <p:cNvSpPr txBox="1"/>
          <p:nvPr/>
        </p:nvSpPr>
        <p:spPr>
          <a:xfrm>
            <a:off x="12538626" y="916314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3ce9bffb9_0_178"/>
          <p:cNvSpPr txBox="1"/>
          <p:nvPr/>
        </p:nvSpPr>
        <p:spPr>
          <a:xfrm>
            <a:off x="4075500" y="1155950"/>
            <a:ext cx="1013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Dudas y comentarios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363ce9bffb9_0_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7227" y="3164675"/>
            <a:ext cx="9213550" cy="5859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/>
        </p:nvSpPr>
        <p:spPr>
          <a:xfrm>
            <a:off x="4075500" y="1592375"/>
            <a:ext cx="1013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Foro de la semana</a:t>
            </a:r>
            <a:endParaRPr b="0" i="0" sz="7200" u="none" cap="none" strike="noStrike">
              <a:solidFill>
                <a:srgbClr val="0133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4283700" y="7702975"/>
            <a:ext cx="97206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Foro Semana 3: </a:t>
            </a:r>
            <a:r>
              <a:rPr b="1" lang="en-US" sz="48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dd</a:t>
            </a:r>
            <a:r>
              <a:rPr b="1" i="0" lang="en-US" sz="48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1" lang="en-US" sz="48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MM</a:t>
            </a:r>
            <a:r>
              <a:rPr b="1" i="0" lang="en-US" sz="48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 al </a:t>
            </a:r>
            <a:r>
              <a:rPr b="1" lang="en-US" sz="48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dd</a:t>
            </a:r>
            <a:r>
              <a:rPr b="1" i="0" lang="en-US" sz="4800" u="none" cap="none" strike="noStrike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1" lang="en-US" sz="4800">
                <a:solidFill>
                  <a:srgbClr val="013362"/>
                </a:solidFill>
                <a:latin typeface="Calibri"/>
                <a:ea typeface="Calibri"/>
                <a:cs typeface="Calibri"/>
                <a:sym typeface="Calibri"/>
              </a:rPr>
              <a:t>MM</a:t>
            </a:r>
            <a:endParaRPr b="1" i="0" sz="4800" u="none" cap="none" strike="noStrike">
              <a:solidFill>
                <a:srgbClr val="0133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7450" y="3437963"/>
            <a:ext cx="9302933" cy="3411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230" name="Google Shape;2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3025" y="3333763"/>
            <a:ext cx="3381375" cy="361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3ce9bffb9_0_184"/>
          <p:cNvSpPr txBox="1"/>
          <p:nvPr/>
        </p:nvSpPr>
        <p:spPr>
          <a:xfrm>
            <a:off x="3809595" y="3057454"/>
            <a:ext cx="8658900" cy="4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10099" u="none" cap="none" strike="noStrike">
                <a:solidFill>
                  <a:srgbClr val="013362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5400" u="none" cap="none" strike="noStrike">
              <a:solidFill>
                <a:srgbClr val="01336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5B0F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6" name="Google Shape;236;g363ce9bffb9_0_184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63ce9bffb9_0_184"/>
          <p:cNvSpPr/>
          <p:nvPr/>
        </p:nvSpPr>
        <p:spPr>
          <a:xfrm>
            <a:off x="13119626" y="330185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pic>
        <p:nvPicPr>
          <p:cNvPr id="238" name="Google Shape;238;g363ce9bffb9_0_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05475" y="2024351"/>
            <a:ext cx="1385550" cy="13720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