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10287000" cx="18288000"/>
  <p:notesSz cx="6858000" cy="9144000"/>
  <p:embeddedFontLst>
    <p:embeddedFont>
      <p:font typeface="Roboto Mono"/>
      <p:regular r:id="rId58"/>
      <p:bold r:id="rId59"/>
      <p:italic r:id="rId60"/>
      <p:boldItalic r:id="rId61"/>
    </p:embeddedFont>
    <p:embeddedFont>
      <p:font typeface="Open Sans"/>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4" roundtripDataSignature="AMtx7mj0Sbzu+sa35LolKmoylWPfII+X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fntdata"/><Relationship Id="rId61" Type="http://schemas.openxmlformats.org/officeDocument/2006/relationships/font" Target="fonts/RobotoMono-boldItalic.fntdata"/><Relationship Id="rId20" Type="http://schemas.openxmlformats.org/officeDocument/2006/relationships/slide" Target="slides/slide15.xml"/><Relationship Id="rId64" Type="http://customschemas.google.com/relationships/presentationmetadata" Target="metadata"/><Relationship Id="rId63" Type="http://schemas.openxmlformats.org/officeDocument/2006/relationships/font" Target="fonts/Open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RobotoMono-bold.fntdata"/><Relationship Id="rId14" Type="http://schemas.openxmlformats.org/officeDocument/2006/relationships/slide" Target="slides/slide9.xml"/><Relationship Id="rId58" Type="http://schemas.openxmlformats.org/officeDocument/2006/relationships/font" Target="fonts/RobotoMon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7d3496d6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e7d3496d61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7d3496d6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e7d3496d61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7d3496d6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e7d3496d61_0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7d3496d61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e7d3496d61_0_2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7d3496d61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e7d3496d61_0_3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7d3496d61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e7d3496d61_0_4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9" name="Google Shape;44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4" name="Google Shape;46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 name="Google Shape;47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4" name="Google Shape;49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 name="Google Shape;50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1" name="Google Shape;52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6" name="Google Shape;53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6" name="Google Shape;57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1" name="Google Shape;59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6" name="Google Shape;60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1" name="Google Shape;62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6" name="Google Shape;63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64471a2a7c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0" name="Google Shape;650;g364471a2a7c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3" name="Google Shape;66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8" name="Google Shape;67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5" name="Google Shape;72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0" name="Google Shape;74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4" name="Google Shape;75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8" name="Google Shape;76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3" name="Google Shape;783;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8" name="Google Shape;79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3" name="Google Shape;81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8" name="Google Shape;82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7d3496d61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g3e7d3496d61_0_5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3" name="Google Shape;85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e7d3496d61_0_5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6" name="Google Shape;866;g3e7d3496d61_0_5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e7d3496d61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g3e7d3496d61_0_6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e7d3496d61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g3e7d3496d61_0_7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7d3496d61_0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g3e7d3496d61_0_7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7d3496d61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g3e7d3496d61_0_8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4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5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5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5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5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3"/>
          <p:cNvSpPr/>
          <p:nvPr>
            <p:ph idx="2" type="pic"/>
          </p:nvPr>
        </p:nvSpPr>
        <p:spPr>
          <a:xfrm>
            <a:off x="1792288" y="612775"/>
            <a:ext cx="5486400" cy="4114800"/>
          </a:xfrm>
          <a:prstGeom prst="rect">
            <a:avLst/>
          </a:prstGeom>
          <a:noFill/>
          <a:ln>
            <a:noFill/>
          </a:ln>
        </p:spPr>
      </p:sp>
      <p:sp>
        <p:nvSpPr>
          <p:cNvPr id="64" name="Google Shape;64;p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5.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16.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29.png"/><Relationship Id="rId5"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5.png"/><Relationship Id="rId4" Type="http://schemas.openxmlformats.org/officeDocument/2006/relationships/image" Target="../media/image39.png"/><Relationship Id="rId5"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5.png"/><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5.png"/><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5.png"/><Relationship Id="rId4" Type="http://schemas.openxmlformats.org/officeDocument/2006/relationships/image" Target="../media/image43.png"/><Relationship Id="rId5"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5.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5.png"/><Relationship Id="rId4" Type="http://schemas.openxmlformats.org/officeDocument/2006/relationships/image" Target="../media/image41.png"/><Relationship Id="rId5"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9.png"/><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5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54.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e7d3496d61_0_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85" name="Google Shape;85;g3e7d3496d61_0_3"/>
          <p:cNvSpPr/>
          <p:nvPr/>
        </p:nvSpPr>
        <p:spPr>
          <a:xfrm>
            <a:off x="1969850" y="3030151"/>
            <a:ext cx="15055872" cy="3260981"/>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pic>
        <p:nvPicPr>
          <p:cNvPr id="86" name="Google Shape;86;g3e7d3496d61_0_3"/>
          <p:cNvPicPr preferRelativeResize="0"/>
          <p:nvPr/>
        </p:nvPicPr>
        <p:blipFill rotWithShape="1">
          <a:blip r:embed="rId5">
            <a:alphaModFix/>
          </a:blip>
          <a:srcRect b="0" l="0" r="0" t="0"/>
          <a:stretch/>
        </p:blipFill>
        <p:spPr>
          <a:xfrm>
            <a:off x="10670025" y="1766775"/>
            <a:ext cx="9524676" cy="1881100"/>
          </a:xfrm>
          <a:prstGeom prst="rect">
            <a:avLst/>
          </a:prstGeom>
          <a:noFill/>
          <a:ln>
            <a:noFill/>
          </a:ln>
        </p:spPr>
      </p:pic>
      <p:sp>
        <p:nvSpPr>
          <p:cNvPr id="87" name="Google Shape;87;g3e7d3496d61_0_3"/>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Escuela de Ingeniería de Ciencias Y Sistemas</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88" name="Google Shape;88;g3e7d3496d61_0_3"/>
          <p:cNvSpPr txBox="1"/>
          <p:nvPr/>
        </p:nvSpPr>
        <p:spPr>
          <a:xfrm>
            <a:off x="348639" y="9201150"/>
            <a:ext cx="4067100" cy="1160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140" u="none" cap="none" strike="noStrike">
                <a:solidFill>
                  <a:srgbClr val="000000"/>
                </a:solidFill>
                <a:latin typeface="Open Sans"/>
                <a:ea typeface="Open Sans"/>
                <a:cs typeface="Open Sans"/>
                <a:sym typeface="Open Sans"/>
              </a:rPr>
              <a:t>NOMBRE DEL TUTOR</a:t>
            </a:r>
            <a:endParaRPr/>
          </a:p>
          <a:p>
            <a:pPr indent="0" lvl="0" marL="0" marR="0" rtl="0" algn="ctr">
              <a:lnSpc>
                <a:spcPct val="140000"/>
              </a:lnSpc>
              <a:spcBef>
                <a:spcPts val="0"/>
              </a:spcBef>
              <a:spcAft>
                <a:spcPts val="0"/>
              </a:spcAft>
              <a:buNone/>
            </a:pPr>
            <a:r>
              <a:t/>
            </a:r>
            <a:endParaRPr b="1" i="0" sz="3140" u="none" cap="none" strike="noStrike">
              <a:solidFill>
                <a:srgbClr val="000000"/>
              </a:solidFill>
              <a:latin typeface="Open Sans"/>
              <a:ea typeface="Open Sans"/>
              <a:cs typeface="Open Sans"/>
              <a:sym typeface="Open Sans"/>
            </a:endParaRPr>
          </a:p>
        </p:txBody>
      </p:sp>
      <p:sp>
        <p:nvSpPr>
          <p:cNvPr id="89" name="Google Shape;89;g3e7d3496d61_0_3"/>
          <p:cNvSpPr txBox="1"/>
          <p:nvPr/>
        </p:nvSpPr>
        <p:spPr>
          <a:xfrm>
            <a:off x="2904236" y="3801950"/>
            <a:ext cx="13187100" cy="1422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200">
                <a:latin typeface="Open Sans"/>
                <a:ea typeface="Open Sans"/>
                <a:cs typeface="Open Sans"/>
                <a:sym typeface="Open Sans"/>
              </a:rPr>
              <a:t>Análisis y diseño de sistema 2</a:t>
            </a:r>
            <a:endParaRPr/>
          </a:p>
          <a:p>
            <a:pPr indent="0" lvl="0" marL="0" marR="0" rtl="0" algn="ctr">
              <a:lnSpc>
                <a:spcPct val="79976"/>
              </a:lnSpc>
              <a:spcBef>
                <a:spcPts val="0"/>
              </a:spcBef>
              <a:spcAft>
                <a:spcPts val="0"/>
              </a:spcAft>
              <a:buNone/>
            </a:pPr>
            <a:r>
              <a:t/>
            </a:r>
            <a:endParaRPr b="1" i="0" sz="4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e7d3496d61_0_87"/>
          <p:cNvSpPr/>
          <p:nvPr/>
        </p:nvSpPr>
        <p:spPr>
          <a:xfrm>
            <a:off x="0" y="0"/>
            <a:ext cx="18288000" cy="1040130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95" name="Google Shape;95;g3e7d3496d61_0_87"/>
          <p:cNvSpPr txBox="1"/>
          <p:nvPr/>
        </p:nvSpPr>
        <p:spPr>
          <a:xfrm>
            <a:off x="6204050" y="3190250"/>
            <a:ext cx="6983100" cy="3250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8799" u="none" cap="none" strike="noStrike">
                <a:solidFill>
                  <a:srgbClr val="000000"/>
                </a:solidFill>
                <a:latin typeface="Open Sans"/>
                <a:ea typeface="Open Sans"/>
                <a:cs typeface="Open Sans"/>
                <a:sym typeface="Open Sans"/>
              </a:rPr>
              <a:t>UNIDAD #:1</a:t>
            </a:r>
            <a:endParaRPr/>
          </a:p>
          <a:p>
            <a:pPr indent="0" lvl="0" marL="0" marR="0" rtl="0" algn="ctr">
              <a:lnSpc>
                <a:spcPct val="140004"/>
              </a:lnSpc>
              <a:spcBef>
                <a:spcPts val="0"/>
              </a:spcBef>
              <a:spcAft>
                <a:spcPts val="0"/>
              </a:spcAft>
              <a:buNone/>
            </a:pPr>
            <a:r>
              <a:t/>
            </a:r>
            <a:endParaRPr b="1" i="0" sz="8799" u="none" cap="none" strike="noStrike">
              <a:solidFill>
                <a:srgbClr val="000000"/>
              </a:solidFill>
              <a:latin typeface="Open Sans"/>
              <a:ea typeface="Open Sans"/>
              <a:cs typeface="Open Sans"/>
              <a:sym typeface="Open Sans"/>
            </a:endParaRPr>
          </a:p>
        </p:txBody>
      </p:sp>
      <p:sp>
        <p:nvSpPr>
          <p:cNvPr id="96" name="Google Shape;96;g3e7d3496d61_0_87"/>
          <p:cNvSpPr txBox="1"/>
          <p:nvPr/>
        </p:nvSpPr>
        <p:spPr>
          <a:xfrm>
            <a:off x="4337062" y="4518725"/>
            <a:ext cx="9919500" cy="4211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7200">
                <a:latin typeface="Open Sans"/>
                <a:ea typeface="Open Sans"/>
                <a:cs typeface="Open Sans"/>
                <a:sym typeface="Open Sans"/>
              </a:rPr>
              <a:t>Patrones de diseño estructurales</a:t>
            </a:r>
            <a:endParaRPr/>
          </a:p>
          <a:p>
            <a:pPr indent="0" lvl="0" marL="0" marR="0" rtl="0" algn="ctr">
              <a:lnSpc>
                <a:spcPct val="140000"/>
              </a:lnSpc>
              <a:spcBef>
                <a:spcPts val="0"/>
              </a:spcBef>
              <a:spcAft>
                <a:spcPts val="0"/>
              </a:spcAft>
              <a:buNone/>
            </a:pPr>
            <a:r>
              <a:t/>
            </a:r>
            <a:endParaRPr b="1" i="0" sz="7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e7d3496d61_0_168"/>
          <p:cNvSpPr/>
          <p:nvPr/>
        </p:nvSpPr>
        <p:spPr>
          <a:xfrm>
            <a:off x="4687137" y="2492771"/>
            <a:ext cx="9432094" cy="6765529"/>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102" name="Google Shape;102;g3e7d3496d61_0_168"/>
          <p:cNvSpPr/>
          <p:nvPr/>
        </p:nvSpPr>
        <p:spPr>
          <a:xfrm>
            <a:off x="3971429" y="612837"/>
            <a:ext cx="11301259" cy="2288505"/>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103" name="Google Shape;103;g3e7d3496d61_0_168"/>
          <p:cNvSpPr/>
          <p:nvPr/>
        </p:nvSpPr>
        <p:spPr>
          <a:xfrm>
            <a:off x="314891" y="2901342"/>
            <a:ext cx="4961633" cy="4961633"/>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104" name="Google Shape;104;g3e7d3496d61_0_168"/>
          <p:cNvSpPr/>
          <p:nvPr/>
        </p:nvSpPr>
        <p:spPr>
          <a:xfrm>
            <a:off x="5276524" y="3174482"/>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5" name="Google Shape;105;g3e7d3496d61_0_168"/>
          <p:cNvSpPr txBox="1"/>
          <p:nvPr/>
        </p:nvSpPr>
        <p:spPr>
          <a:xfrm>
            <a:off x="7866005" y="3510986"/>
            <a:ext cx="14813400" cy="51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400" u="none" cap="none" strike="noStrike">
                <a:solidFill>
                  <a:srgbClr val="000000"/>
                </a:solidFill>
                <a:latin typeface="Open Sans"/>
                <a:ea typeface="Open Sans"/>
                <a:cs typeface="Open Sans"/>
                <a:sym typeface="Open Sans"/>
              </a:rPr>
              <a:t>(Ingresa los anuncios importantes como lo sean, cortos, entregas, practicas, proyectos, horarios de calificación, etc.)</a:t>
            </a:r>
            <a:endParaRPr/>
          </a:p>
          <a:p>
            <a:pPr indent="0" lvl="0" marL="0" marR="0" rtl="0" algn="l">
              <a:lnSpc>
                <a:spcPct val="140000"/>
              </a:lnSpc>
              <a:spcBef>
                <a:spcPts val="0"/>
              </a:spcBef>
              <a:spcAft>
                <a:spcPts val="0"/>
              </a:spcAft>
              <a:buNone/>
            </a:pPr>
            <a:r>
              <a:t/>
            </a:r>
            <a:endParaRPr b="1" i="0" sz="1400" u="none" cap="none" strike="noStrike">
              <a:solidFill>
                <a:srgbClr val="000000"/>
              </a:solidFill>
              <a:latin typeface="Open Sans"/>
              <a:ea typeface="Open Sans"/>
              <a:cs typeface="Open Sans"/>
              <a:sym typeface="Open Sans"/>
            </a:endParaRPr>
          </a:p>
        </p:txBody>
      </p:sp>
      <p:sp>
        <p:nvSpPr>
          <p:cNvPr id="106" name="Google Shape;106;g3e7d3496d61_0_168"/>
          <p:cNvSpPr txBox="1"/>
          <p:nvPr/>
        </p:nvSpPr>
        <p:spPr>
          <a:xfrm>
            <a:off x="5954709" y="4328160"/>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2</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07" name="Google Shape;107;g3e7d3496d61_0_168"/>
          <p:cNvSpPr txBox="1"/>
          <p:nvPr/>
        </p:nvSpPr>
        <p:spPr>
          <a:xfrm>
            <a:off x="5954709" y="3342711"/>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1</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08" name="Google Shape;108;g3e7d3496d61_0_168"/>
          <p:cNvSpPr/>
          <p:nvPr/>
        </p:nvSpPr>
        <p:spPr>
          <a:xfrm>
            <a:off x="5276524" y="4158051"/>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9" name="Google Shape;109;g3e7d3496d61_0_168"/>
          <p:cNvSpPr/>
          <p:nvPr/>
        </p:nvSpPr>
        <p:spPr>
          <a:xfrm>
            <a:off x="5276524" y="5259095"/>
            <a:ext cx="678185" cy="824819"/>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110" name="Google Shape;110;g3e7d3496d61_0_168"/>
          <p:cNvSpPr/>
          <p:nvPr/>
        </p:nvSpPr>
        <p:spPr>
          <a:xfrm>
            <a:off x="5276524" y="6360140"/>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1" name="Google Shape;111;g3e7d3496d61_0_168"/>
          <p:cNvSpPr/>
          <p:nvPr/>
        </p:nvSpPr>
        <p:spPr>
          <a:xfrm>
            <a:off x="5276524" y="7461184"/>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2" name="Google Shape;112;g3e7d3496d61_0_168"/>
          <p:cNvSpPr txBox="1"/>
          <p:nvPr/>
        </p:nvSpPr>
        <p:spPr>
          <a:xfrm>
            <a:off x="5954709" y="544881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3</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13" name="Google Shape;113;g3e7d3496d61_0_168"/>
          <p:cNvSpPr txBox="1"/>
          <p:nvPr/>
        </p:nvSpPr>
        <p:spPr>
          <a:xfrm>
            <a:off x="5954709" y="643560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4</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14" name="Google Shape;114;g3e7d3496d61_0_168"/>
          <p:cNvSpPr txBox="1"/>
          <p:nvPr/>
        </p:nvSpPr>
        <p:spPr>
          <a:xfrm>
            <a:off x="5954709" y="755574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5</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e7d3496d61_0_260"/>
          <p:cNvSpPr/>
          <p:nvPr/>
        </p:nvSpPr>
        <p:spPr>
          <a:xfrm>
            <a:off x="4016947" y="3558803"/>
            <a:ext cx="9896507" cy="5913163"/>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120" name="Google Shape;120;g3e7d3496d61_0_260"/>
          <p:cNvSpPr/>
          <p:nvPr/>
        </p:nvSpPr>
        <p:spPr>
          <a:xfrm>
            <a:off x="3493371" y="-625307"/>
            <a:ext cx="11301259" cy="5127946"/>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121" name="Google Shape;121;g3e7d3496d61_0_260"/>
          <p:cNvSpPr/>
          <p:nvPr/>
        </p:nvSpPr>
        <p:spPr>
          <a:xfrm>
            <a:off x="4875920" y="409023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2" name="Google Shape;122;g3e7d3496d61_0_260"/>
          <p:cNvSpPr txBox="1"/>
          <p:nvPr/>
        </p:nvSpPr>
        <p:spPr>
          <a:xfrm>
            <a:off x="5214988" y="4328150"/>
            <a:ext cx="4203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n-US" sz="2400">
                <a:latin typeface="Open Sans"/>
                <a:ea typeface="Open Sans"/>
                <a:cs typeface="Open Sans"/>
                <a:sym typeface="Open Sans"/>
              </a:rPr>
              <a:t>Dudas proyecto fase 1</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23" name="Google Shape;123;g3e7d3496d61_0_260"/>
          <p:cNvSpPr/>
          <p:nvPr/>
        </p:nvSpPr>
        <p:spPr>
          <a:xfrm>
            <a:off x="4875920" y="514350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4" name="Google Shape;124;g3e7d3496d61_0_260"/>
          <p:cNvSpPr txBox="1"/>
          <p:nvPr/>
        </p:nvSpPr>
        <p:spPr>
          <a:xfrm>
            <a:off x="5215012" y="537955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n-US" sz="2400">
                <a:latin typeface="Open Sans"/>
                <a:ea typeface="Open Sans"/>
                <a:cs typeface="Open Sans"/>
                <a:sym typeface="Open Sans"/>
              </a:rPr>
              <a:t>Teoría</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25" name="Google Shape;125;g3e7d3496d61_0_260"/>
          <p:cNvSpPr/>
          <p:nvPr/>
        </p:nvSpPr>
        <p:spPr>
          <a:xfrm>
            <a:off x="4875920" y="6194896"/>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6" name="Google Shape;126;g3e7d3496d61_0_260"/>
          <p:cNvSpPr txBox="1"/>
          <p:nvPr/>
        </p:nvSpPr>
        <p:spPr>
          <a:xfrm>
            <a:off x="5215012" y="638539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n-US" sz="2400">
                <a:latin typeface="Open Sans"/>
                <a:ea typeface="Open Sans"/>
                <a:cs typeface="Open Sans"/>
                <a:sym typeface="Open Sans"/>
              </a:rPr>
              <a:t>Caso práctico</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e7d3496d61_0_350"/>
          <p:cNvSpPr/>
          <p:nvPr/>
        </p:nvSpPr>
        <p:spPr>
          <a:xfrm>
            <a:off x="0" y="0"/>
            <a:ext cx="18288000" cy="1044702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32" name="Google Shape;132;g3e7d3496d61_0_350"/>
          <p:cNvSpPr/>
          <p:nvPr/>
        </p:nvSpPr>
        <p:spPr>
          <a:xfrm>
            <a:off x="2888408" y="2581776"/>
            <a:ext cx="12511183" cy="3424936"/>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33" name="Google Shape;133;g3e7d3496d61_0_350"/>
          <p:cNvSpPr txBox="1"/>
          <p:nvPr/>
        </p:nvSpPr>
        <p:spPr>
          <a:xfrm>
            <a:off x="5508493" y="3180715"/>
            <a:ext cx="8873400" cy="1286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t/>
            </a:r>
            <a:endParaRPr/>
          </a:p>
          <a:p>
            <a:pPr indent="0" lvl="0" marL="0" marR="0" rtl="0" algn="ctr">
              <a:lnSpc>
                <a:spcPct val="140006"/>
              </a:lnSpc>
              <a:spcBef>
                <a:spcPts val="0"/>
              </a:spcBef>
              <a:spcAft>
                <a:spcPts val="0"/>
              </a:spcAft>
              <a:buNone/>
            </a:pPr>
            <a:r>
              <a:t/>
            </a:r>
            <a:endParaRPr b="1" i="0" sz="6399" u="none" cap="none" strike="noStrike">
              <a:solidFill>
                <a:srgbClr val="000000"/>
              </a:solidFill>
              <a:latin typeface="Open Sans"/>
              <a:ea typeface="Open Sans"/>
              <a:cs typeface="Open Sans"/>
              <a:sym typeface="Open Sans"/>
            </a:endParaRPr>
          </a:p>
        </p:txBody>
      </p:sp>
      <p:sp>
        <p:nvSpPr>
          <p:cNvPr id="134" name="Google Shape;134;g3e7d3496d61_0_350"/>
          <p:cNvSpPr txBox="1"/>
          <p:nvPr/>
        </p:nvSpPr>
        <p:spPr>
          <a:xfrm>
            <a:off x="5508500" y="3429000"/>
            <a:ext cx="8267700" cy="160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t>Identifica patrones de diseño por medio del análisis de las diferentes necesidades para resolver un problema específico que se adapta a la solución propuesta por el patrón seleccionado. </a:t>
            </a:r>
            <a:endParaRPr b="1" sz="2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7d3496d61_0_435"/>
          <p:cNvSpPr/>
          <p:nvPr/>
        </p:nvSpPr>
        <p:spPr>
          <a:xfrm>
            <a:off x="5616573" y="654273"/>
            <a:ext cx="7054854" cy="1553923"/>
          </a:xfrm>
          <a:custGeom>
            <a:rect b="b" l="l" r="r" t="t"/>
            <a:pathLst>
              <a:path extrusionOk="0" h="1553923" w="7054854">
                <a:moveTo>
                  <a:pt x="0" y="0"/>
                </a:moveTo>
                <a:lnTo>
                  <a:pt x="7054854" y="0"/>
                </a:lnTo>
                <a:lnTo>
                  <a:pt x="7054854" y="1553923"/>
                </a:lnTo>
                <a:lnTo>
                  <a:pt x="0" y="1553923"/>
                </a:lnTo>
                <a:lnTo>
                  <a:pt x="0" y="0"/>
                </a:lnTo>
                <a:close/>
              </a:path>
            </a:pathLst>
          </a:custGeom>
          <a:blipFill rotWithShape="1">
            <a:blip r:embed="rId3">
              <a:alphaModFix/>
            </a:blip>
            <a:stretch>
              <a:fillRect b="0" l="-30660" r="-29529" t="0"/>
            </a:stretch>
          </a:blipFill>
          <a:ln>
            <a:noFill/>
          </a:ln>
        </p:spPr>
      </p:sp>
      <p:sp>
        <p:nvSpPr>
          <p:cNvPr id="140" name="Google Shape;140;g3e7d3496d61_0_435"/>
          <p:cNvSpPr txBox="1"/>
          <p:nvPr/>
        </p:nvSpPr>
        <p:spPr>
          <a:xfrm>
            <a:off x="2414359" y="2901129"/>
            <a:ext cx="13459200" cy="3250800"/>
          </a:xfrm>
          <a:prstGeom prst="rect">
            <a:avLst/>
          </a:prstGeom>
          <a:noFill/>
          <a:ln>
            <a:noFill/>
          </a:ln>
        </p:spPr>
        <p:txBody>
          <a:bodyPr anchorCtr="0" anchor="t" bIns="0" lIns="0" spcFirstLastPara="1" rIns="0" wrap="square" tIns="0">
            <a:spAutoFit/>
          </a:bodyPr>
          <a:lstStyle/>
          <a:p>
            <a:pPr indent="-345440" lvl="1" marL="690881" marR="0" rtl="0" algn="l">
              <a:lnSpc>
                <a:spcPct val="140000"/>
              </a:lnSpc>
              <a:spcBef>
                <a:spcPts val="0"/>
              </a:spcBef>
              <a:spcAft>
                <a:spcPts val="0"/>
              </a:spcAft>
              <a:buClr>
                <a:srgbClr val="000000"/>
              </a:buClr>
              <a:buSzPts val="3200"/>
              <a:buFont typeface="Arial"/>
              <a:buChar char="•"/>
            </a:pPr>
            <a:r>
              <a:rPr b="1" lang="en-US" sz="3200">
                <a:latin typeface="Open Sans"/>
                <a:ea typeface="Open Sans"/>
                <a:cs typeface="Open Sans"/>
                <a:sym typeface="Open Sans"/>
              </a:rPr>
              <a:t>Disciplina:</a:t>
            </a:r>
            <a:r>
              <a:rPr lang="en-US" sz="3200">
                <a:latin typeface="Open Sans"/>
                <a:ea typeface="Open Sans"/>
                <a:cs typeface="Open Sans"/>
                <a:sym typeface="Open Sans"/>
              </a:rPr>
              <a:t> es la capacidad de mantener hábitos de estudio, organización y esfuerzo constante, siguiendo normas y objetivos para alcanzar metas académicas y personales efectivamente.</a:t>
            </a:r>
            <a:endParaRPr/>
          </a:p>
          <a:p>
            <a:pPr indent="0" lvl="0" marL="0" marR="0" rtl="0" algn="l">
              <a:lnSpc>
                <a:spcPct val="140000"/>
              </a:lnSpc>
              <a:spcBef>
                <a:spcPts val="0"/>
              </a:spcBef>
              <a:spcAft>
                <a:spcPts val="0"/>
              </a:spcAft>
              <a:buNone/>
            </a:pPr>
            <a:r>
              <a:t/>
            </a:r>
            <a:endParaRPr b="0" i="0" sz="3200" u="none" cap="none" strike="noStrike">
              <a:solidFill>
                <a:srgbClr val="000000"/>
              </a:solidFill>
              <a:latin typeface="Open Sans"/>
              <a:ea typeface="Open Sans"/>
              <a:cs typeface="Open Sans"/>
              <a:sym typeface="Open Sans"/>
            </a:endParaRPr>
          </a:p>
          <a:p>
            <a:pPr indent="0" lvl="0" marL="0" marR="0" rtl="0" algn="l">
              <a:lnSpc>
                <a:spcPct val="140000"/>
              </a:lnSpc>
              <a:spcBef>
                <a:spcPts val="0"/>
              </a:spcBef>
              <a:spcAft>
                <a:spcPts val="0"/>
              </a:spcAft>
              <a:buNone/>
            </a:pPr>
            <a:r>
              <a:t/>
            </a:r>
            <a:endParaRPr b="0"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61A"/>
        </a:solidFill>
      </p:bgPr>
    </p:bg>
    <p:spTree>
      <p:nvGrpSpPr>
        <p:cNvPr id="144" name="Shape 144"/>
        <p:cNvGrpSpPr/>
        <p:nvPr/>
      </p:nvGrpSpPr>
      <p:grpSpPr>
        <a:xfrm>
          <a:off x="0" y="0"/>
          <a:ext cx="0" cy="0"/>
          <a:chOff x="0" y="0"/>
          <a:chExt cx="0" cy="0"/>
        </a:xfrm>
      </p:grpSpPr>
      <p:grpSp>
        <p:nvGrpSpPr>
          <p:cNvPr id="145" name="Google Shape;145;p3"/>
          <p:cNvGrpSpPr/>
          <p:nvPr/>
        </p:nvGrpSpPr>
        <p:grpSpPr>
          <a:xfrm>
            <a:off x="-1474556" y="-715567"/>
            <a:ext cx="6686550" cy="6764908"/>
            <a:chOff x="0" y="-9525"/>
            <a:chExt cx="812800" cy="822325"/>
          </a:xfrm>
        </p:grpSpPr>
        <p:sp>
          <p:nvSpPr>
            <p:cNvPr id="146" name="Google Shape;146;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8" name="Google Shape;148;p3"/>
          <p:cNvSpPr/>
          <p:nvPr/>
        </p:nvSpPr>
        <p:spPr>
          <a:xfrm>
            <a:off x="10875927" y="2569942"/>
            <a:ext cx="10791977" cy="10791977"/>
          </a:xfrm>
          <a:custGeom>
            <a:rect b="b" l="l" r="r" t="t"/>
            <a:pathLst>
              <a:path extrusionOk="0" h="10791977" w="10791977">
                <a:moveTo>
                  <a:pt x="0" y="0"/>
                </a:moveTo>
                <a:lnTo>
                  <a:pt x="10791977" y="0"/>
                </a:lnTo>
                <a:lnTo>
                  <a:pt x="10791977" y="10791977"/>
                </a:lnTo>
                <a:lnTo>
                  <a:pt x="0" y="10791977"/>
                </a:lnTo>
                <a:lnTo>
                  <a:pt x="0" y="0"/>
                </a:lnTo>
                <a:close/>
              </a:path>
            </a:pathLst>
          </a:custGeom>
          <a:blipFill rotWithShape="1">
            <a:blip r:embed="rId3">
              <a:alphaModFix amt="13000"/>
            </a:blip>
            <a:stretch>
              <a:fillRect b="0" l="0" r="0" t="0"/>
            </a:stretch>
          </a:blipFill>
          <a:ln>
            <a:noFill/>
          </a:ln>
        </p:spPr>
      </p:sp>
      <p:grpSp>
        <p:nvGrpSpPr>
          <p:cNvPr id="149" name="Google Shape;149;p3"/>
          <p:cNvGrpSpPr/>
          <p:nvPr/>
        </p:nvGrpSpPr>
        <p:grpSpPr>
          <a:xfrm>
            <a:off x="-277108" y="-787617"/>
            <a:ext cx="18842215" cy="958053"/>
            <a:chOff x="0" y="-85725"/>
            <a:chExt cx="4962559" cy="252327"/>
          </a:xfrm>
        </p:grpSpPr>
        <p:sp>
          <p:nvSpPr>
            <p:cNvPr id="150" name="Google Shape;150;p3"/>
            <p:cNvSpPr/>
            <p:nvPr/>
          </p:nvSpPr>
          <p:spPr>
            <a:xfrm>
              <a:off x="0" y="0"/>
              <a:ext cx="4962559" cy="166602"/>
            </a:xfrm>
            <a:custGeom>
              <a:rect b="b" l="l" r="r" t="t"/>
              <a:pathLst>
                <a:path extrusionOk="0" h="166602" w="4962559">
                  <a:moveTo>
                    <a:pt x="0" y="0"/>
                  </a:moveTo>
                  <a:lnTo>
                    <a:pt x="4962559" y="0"/>
                  </a:lnTo>
                  <a:lnTo>
                    <a:pt x="4962559" y="166602"/>
                  </a:lnTo>
                  <a:lnTo>
                    <a:pt x="0" y="166602"/>
                  </a:lnTo>
                  <a:close/>
                </a:path>
              </a:pathLst>
            </a:custGeom>
            <a:solidFill>
              <a:srgbClr val="000000"/>
            </a:solidFill>
            <a:ln>
              <a:noFill/>
            </a:ln>
          </p:spPr>
        </p:sp>
        <p:sp>
          <p:nvSpPr>
            <p:cNvPr id="151" name="Google Shape;151;p3"/>
            <p:cNvSpPr txBox="1"/>
            <p:nvPr/>
          </p:nvSpPr>
          <p:spPr>
            <a:xfrm>
              <a:off x="0" y="-85725"/>
              <a:ext cx="4962559" cy="2523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2" name="Google Shape;152;p3"/>
          <p:cNvGrpSpPr/>
          <p:nvPr/>
        </p:nvGrpSpPr>
        <p:grpSpPr>
          <a:xfrm>
            <a:off x="-124708" y="9713812"/>
            <a:ext cx="18842215" cy="941555"/>
            <a:chOff x="0" y="-85725"/>
            <a:chExt cx="4962559" cy="247981"/>
          </a:xfrm>
        </p:grpSpPr>
        <p:sp>
          <p:nvSpPr>
            <p:cNvPr id="153" name="Google Shape;153;p3"/>
            <p:cNvSpPr/>
            <p:nvPr/>
          </p:nvSpPr>
          <p:spPr>
            <a:xfrm>
              <a:off x="0" y="0"/>
              <a:ext cx="4962559" cy="162256"/>
            </a:xfrm>
            <a:custGeom>
              <a:rect b="b" l="l" r="r" t="t"/>
              <a:pathLst>
                <a:path extrusionOk="0" h="162256" w="4962559">
                  <a:moveTo>
                    <a:pt x="0" y="0"/>
                  </a:moveTo>
                  <a:lnTo>
                    <a:pt x="4962559" y="0"/>
                  </a:lnTo>
                  <a:lnTo>
                    <a:pt x="4962559" y="162256"/>
                  </a:lnTo>
                  <a:lnTo>
                    <a:pt x="0" y="162256"/>
                  </a:lnTo>
                  <a:close/>
                </a:path>
              </a:pathLst>
            </a:custGeom>
            <a:solidFill>
              <a:srgbClr val="000000"/>
            </a:solidFill>
            <a:ln>
              <a:noFill/>
            </a:ln>
          </p:spPr>
        </p:sp>
        <p:sp>
          <p:nvSpPr>
            <p:cNvPr id="154" name="Google Shape;154;p3"/>
            <p:cNvSpPr txBox="1"/>
            <p:nvPr/>
          </p:nvSpPr>
          <p:spPr>
            <a:xfrm>
              <a:off x="0" y="-85725"/>
              <a:ext cx="4962559" cy="24798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5" name="Google Shape;155;p3"/>
          <p:cNvSpPr txBox="1"/>
          <p:nvPr/>
        </p:nvSpPr>
        <p:spPr>
          <a:xfrm>
            <a:off x="1019175" y="2477475"/>
            <a:ext cx="11757600" cy="18468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11999"/>
              <a:buFont typeface="Arial"/>
              <a:buNone/>
            </a:pPr>
            <a:r>
              <a:rPr b="1" i="0" lang="en-US" sz="11999" u="none" cap="none" strike="noStrike">
                <a:solidFill>
                  <a:srgbClr val="000000"/>
                </a:solidFill>
                <a:latin typeface="Arial"/>
                <a:ea typeface="Arial"/>
                <a:cs typeface="Arial"/>
                <a:sym typeface="Arial"/>
              </a:rPr>
              <a:t>¿DUDAS DEL</a:t>
            </a:r>
            <a:endParaRPr b="0" i="0" sz="1400" u="none" cap="none" strike="noStrike">
              <a:solidFill>
                <a:srgbClr val="000000"/>
              </a:solidFill>
              <a:latin typeface="Arial"/>
              <a:ea typeface="Arial"/>
              <a:cs typeface="Arial"/>
              <a:sym typeface="Arial"/>
            </a:endParaRPr>
          </a:p>
        </p:txBody>
      </p:sp>
      <p:sp>
        <p:nvSpPr>
          <p:cNvPr id="156" name="Google Shape;156;p3"/>
          <p:cNvSpPr txBox="1"/>
          <p:nvPr/>
        </p:nvSpPr>
        <p:spPr>
          <a:xfrm>
            <a:off x="1868727" y="4322675"/>
            <a:ext cx="15914700" cy="1641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10663"/>
              <a:buFont typeface="Arial"/>
              <a:buNone/>
            </a:pPr>
            <a:r>
              <a:rPr b="0" i="0" lang="en-US" sz="10663" u="none" cap="none" strike="noStrike">
                <a:solidFill>
                  <a:srgbClr val="FFFFFF"/>
                </a:solidFill>
                <a:latin typeface="Arial"/>
                <a:ea typeface="Arial"/>
                <a:cs typeface="Arial"/>
                <a:sym typeface="Arial"/>
              </a:rPr>
              <a:t>PROYECTO FASE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61A"/>
        </a:solidFill>
      </p:bgPr>
    </p:bg>
    <p:spTree>
      <p:nvGrpSpPr>
        <p:cNvPr id="160" name="Shape 160"/>
        <p:cNvGrpSpPr/>
        <p:nvPr/>
      </p:nvGrpSpPr>
      <p:grpSpPr>
        <a:xfrm>
          <a:off x="0" y="0"/>
          <a:ext cx="0" cy="0"/>
          <a:chOff x="0" y="0"/>
          <a:chExt cx="0" cy="0"/>
        </a:xfrm>
      </p:grpSpPr>
      <p:grpSp>
        <p:nvGrpSpPr>
          <p:cNvPr id="161" name="Google Shape;161;p4"/>
          <p:cNvGrpSpPr/>
          <p:nvPr/>
        </p:nvGrpSpPr>
        <p:grpSpPr>
          <a:xfrm>
            <a:off x="-1474556" y="-715567"/>
            <a:ext cx="6686550" cy="6764908"/>
            <a:chOff x="0" y="-9525"/>
            <a:chExt cx="812800" cy="822325"/>
          </a:xfrm>
        </p:grpSpPr>
        <p:sp>
          <p:nvSpPr>
            <p:cNvPr id="162" name="Google Shape;16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4"/>
          <p:cNvSpPr/>
          <p:nvPr/>
        </p:nvSpPr>
        <p:spPr>
          <a:xfrm>
            <a:off x="10875927" y="2569942"/>
            <a:ext cx="10791977" cy="10791977"/>
          </a:xfrm>
          <a:custGeom>
            <a:rect b="b" l="l" r="r" t="t"/>
            <a:pathLst>
              <a:path extrusionOk="0" h="10791977" w="10791977">
                <a:moveTo>
                  <a:pt x="0" y="0"/>
                </a:moveTo>
                <a:lnTo>
                  <a:pt x="10791977" y="0"/>
                </a:lnTo>
                <a:lnTo>
                  <a:pt x="10791977" y="10791977"/>
                </a:lnTo>
                <a:lnTo>
                  <a:pt x="0" y="10791977"/>
                </a:lnTo>
                <a:lnTo>
                  <a:pt x="0" y="0"/>
                </a:lnTo>
                <a:close/>
              </a:path>
            </a:pathLst>
          </a:custGeom>
          <a:blipFill rotWithShape="1">
            <a:blip r:embed="rId3">
              <a:alphaModFix amt="13000"/>
            </a:blip>
            <a:stretch>
              <a:fillRect b="0" l="0" r="0" t="0"/>
            </a:stretch>
          </a:blipFill>
          <a:ln>
            <a:noFill/>
          </a:ln>
        </p:spPr>
      </p:sp>
      <p:grpSp>
        <p:nvGrpSpPr>
          <p:cNvPr id="165" name="Google Shape;165;p4"/>
          <p:cNvGrpSpPr/>
          <p:nvPr/>
        </p:nvGrpSpPr>
        <p:grpSpPr>
          <a:xfrm>
            <a:off x="-277108" y="-787617"/>
            <a:ext cx="18842215" cy="958053"/>
            <a:chOff x="0" y="-85725"/>
            <a:chExt cx="4962559" cy="252327"/>
          </a:xfrm>
        </p:grpSpPr>
        <p:sp>
          <p:nvSpPr>
            <p:cNvPr id="166" name="Google Shape;166;p4"/>
            <p:cNvSpPr/>
            <p:nvPr/>
          </p:nvSpPr>
          <p:spPr>
            <a:xfrm>
              <a:off x="0" y="0"/>
              <a:ext cx="4962559" cy="166602"/>
            </a:xfrm>
            <a:custGeom>
              <a:rect b="b" l="l" r="r" t="t"/>
              <a:pathLst>
                <a:path extrusionOk="0" h="166602" w="4962559">
                  <a:moveTo>
                    <a:pt x="0" y="0"/>
                  </a:moveTo>
                  <a:lnTo>
                    <a:pt x="4962559" y="0"/>
                  </a:lnTo>
                  <a:lnTo>
                    <a:pt x="4962559" y="166602"/>
                  </a:lnTo>
                  <a:lnTo>
                    <a:pt x="0" y="166602"/>
                  </a:lnTo>
                  <a:close/>
                </a:path>
              </a:pathLst>
            </a:custGeom>
            <a:solidFill>
              <a:srgbClr val="000000"/>
            </a:solidFill>
            <a:ln>
              <a:noFill/>
            </a:ln>
          </p:spPr>
        </p:sp>
        <p:sp>
          <p:nvSpPr>
            <p:cNvPr id="167" name="Google Shape;167;p4"/>
            <p:cNvSpPr txBox="1"/>
            <p:nvPr/>
          </p:nvSpPr>
          <p:spPr>
            <a:xfrm>
              <a:off x="0" y="-85725"/>
              <a:ext cx="4962559" cy="2523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4"/>
          <p:cNvGrpSpPr/>
          <p:nvPr/>
        </p:nvGrpSpPr>
        <p:grpSpPr>
          <a:xfrm>
            <a:off x="-124708" y="9713812"/>
            <a:ext cx="18842215" cy="941555"/>
            <a:chOff x="0" y="-85725"/>
            <a:chExt cx="4962559" cy="247981"/>
          </a:xfrm>
        </p:grpSpPr>
        <p:sp>
          <p:nvSpPr>
            <p:cNvPr id="169" name="Google Shape;169;p4"/>
            <p:cNvSpPr/>
            <p:nvPr/>
          </p:nvSpPr>
          <p:spPr>
            <a:xfrm>
              <a:off x="0" y="0"/>
              <a:ext cx="4962559" cy="162256"/>
            </a:xfrm>
            <a:custGeom>
              <a:rect b="b" l="l" r="r" t="t"/>
              <a:pathLst>
                <a:path extrusionOk="0" h="162256" w="4962559">
                  <a:moveTo>
                    <a:pt x="0" y="0"/>
                  </a:moveTo>
                  <a:lnTo>
                    <a:pt x="4962559" y="0"/>
                  </a:lnTo>
                  <a:lnTo>
                    <a:pt x="4962559" y="162256"/>
                  </a:lnTo>
                  <a:lnTo>
                    <a:pt x="0" y="162256"/>
                  </a:lnTo>
                  <a:close/>
                </a:path>
              </a:pathLst>
            </a:custGeom>
            <a:solidFill>
              <a:srgbClr val="000000"/>
            </a:solidFill>
            <a:ln>
              <a:noFill/>
            </a:ln>
          </p:spPr>
        </p:sp>
        <p:sp>
          <p:nvSpPr>
            <p:cNvPr id="170" name="Google Shape;170;p4"/>
            <p:cNvSpPr txBox="1"/>
            <p:nvPr/>
          </p:nvSpPr>
          <p:spPr>
            <a:xfrm>
              <a:off x="0" y="-85725"/>
              <a:ext cx="4962559" cy="24798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1" name="Google Shape;171;p4"/>
          <p:cNvSpPr txBox="1"/>
          <p:nvPr/>
        </p:nvSpPr>
        <p:spPr>
          <a:xfrm>
            <a:off x="1019175" y="2477466"/>
            <a:ext cx="15802800" cy="29553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8000"/>
              <a:buFont typeface="Arial"/>
              <a:buNone/>
            </a:pPr>
            <a:r>
              <a:rPr b="1" i="0" lang="en-US" sz="8000" u="none" cap="none" strike="noStrike">
                <a:solidFill>
                  <a:srgbClr val="000000"/>
                </a:solidFill>
                <a:latin typeface="Arial"/>
                <a:ea typeface="Arial"/>
                <a:cs typeface="Arial"/>
                <a:sym typeface="Arial"/>
              </a:rPr>
              <a:t>PATRONES DE DISEÑO ESTRUCTURALES</a:t>
            </a:r>
            <a:endParaRPr b="0" i="0" sz="8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175" name="Shape 175"/>
        <p:cNvGrpSpPr/>
        <p:nvPr/>
      </p:nvGrpSpPr>
      <p:grpSpPr>
        <a:xfrm>
          <a:off x="0" y="0"/>
          <a:ext cx="0" cy="0"/>
          <a:chOff x="0" y="0"/>
          <a:chExt cx="0" cy="0"/>
        </a:xfrm>
      </p:grpSpPr>
      <p:grpSp>
        <p:nvGrpSpPr>
          <p:cNvPr id="176" name="Google Shape;176;p5"/>
          <p:cNvGrpSpPr/>
          <p:nvPr/>
        </p:nvGrpSpPr>
        <p:grpSpPr>
          <a:xfrm>
            <a:off x="12639155" y="-839837"/>
            <a:ext cx="6233896" cy="11290922"/>
            <a:chOff x="0" y="-85725"/>
            <a:chExt cx="1641849" cy="2973741"/>
          </a:xfrm>
        </p:grpSpPr>
        <p:sp>
          <p:nvSpPr>
            <p:cNvPr id="177" name="Google Shape;177;p5"/>
            <p:cNvSpPr/>
            <p:nvPr/>
          </p:nvSpPr>
          <p:spPr>
            <a:xfrm>
              <a:off x="0" y="0"/>
              <a:ext cx="1641849" cy="2888016"/>
            </a:xfrm>
            <a:custGeom>
              <a:rect b="b" l="l" r="r" t="t"/>
              <a:pathLst>
                <a:path extrusionOk="0" h="2888016" w="1641849">
                  <a:moveTo>
                    <a:pt x="0" y="0"/>
                  </a:moveTo>
                  <a:lnTo>
                    <a:pt x="1641849" y="0"/>
                  </a:lnTo>
                  <a:lnTo>
                    <a:pt x="1641849" y="2888016"/>
                  </a:lnTo>
                  <a:lnTo>
                    <a:pt x="0" y="2888016"/>
                  </a:lnTo>
                  <a:close/>
                </a:path>
              </a:pathLst>
            </a:custGeom>
            <a:solidFill>
              <a:srgbClr val="FFC61A"/>
            </a:solidFill>
            <a:ln>
              <a:noFill/>
            </a:ln>
          </p:spPr>
        </p:sp>
        <p:sp>
          <p:nvSpPr>
            <p:cNvPr id="178" name="Google Shape;178;p5"/>
            <p:cNvSpPr txBox="1"/>
            <p:nvPr/>
          </p:nvSpPr>
          <p:spPr>
            <a:xfrm>
              <a:off x="0" y="-85725"/>
              <a:ext cx="1641849" cy="297374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p5"/>
          <p:cNvGrpSpPr/>
          <p:nvPr/>
        </p:nvGrpSpPr>
        <p:grpSpPr>
          <a:xfrm>
            <a:off x="15160324" y="-2279391"/>
            <a:ext cx="3269773" cy="3308091"/>
            <a:chOff x="0" y="-9525"/>
            <a:chExt cx="812800" cy="822325"/>
          </a:xfrm>
        </p:grpSpPr>
        <p:sp>
          <p:nvSpPr>
            <p:cNvPr id="180" name="Google Shape;180;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2" name="Google Shape;182;p5"/>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183" name="Google Shape;183;p5"/>
          <p:cNvGrpSpPr/>
          <p:nvPr/>
        </p:nvGrpSpPr>
        <p:grpSpPr>
          <a:xfrm>
            <a:off x="-277108" y="9663467"/>
            <a:ext cx="18842215" cy="1249748"/>
            <a:chOff x="0" y="-85725"/>
            <a:chExt cx="4962559" cy="329151"/>
          </a:xfrm>
        </p:grpSpPr>
        <p:sp>
          <p:nvSpPr>
            <p:cNvPr id="184" name="Google Shape;184;p5"/>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185" name="Google Shape;185;p5"/>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6" name="Google Shape;186;p5"/>
          <p:cNvSpPr/>
          <p:nvPr/>
        </p:nvSpPr>
        <p:spPr>
          <a:xfrm>
            <a:off x="10240031" y="1601469"/>
            <a:ext cx="7019269" cy="7019240"/>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alphaModFix/>
            </a:blip>
            <a:stretch>
              <a:fillRect b="0" l="-38833" r="-38834"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5"/>
          <p:cNvSpPr txBox="1"/>
          <p:nvPr/>
        </p:nvSpPr>
        <p:spPr>
          <a:xfrm>
            <a:off x="1598671" y="368259"/>
            <a:ext cx="11674978" cy="596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1" i="0" lang="en-US" sz="3500" u="none" cap="none" strike="noStrike">
                <a:solidFill>
                  <a:srgbClr val="000000"/>
                </a:solidFill>
                <a:latin typeface="Arial"/>
                <a:ea typeface="Arial"/>
                <a:cs typeface="Arial"/>
                <a:sym typeface="Arial"/>
              </a:rPr>
              <a:t>PATRÓN DE DISEÑO ESTRUCTURAL</a:t>
            </a:r>
            <a:endParaRPr b="0" i="0" sz="1400" u="none" cap="none" strike="noStrike">
              <a:solidFill>
                <a:srgbClr val="000000"/>
              </a:solidFill>
              <a:latin typeface="Arial"/>
              <a:ea typeface="Arial"/>
              <a:cs typeface="Arial"/>
              <a:sym typeface="Arial"/>
            </a:endParaRPr>
          </a:p>
        </p:txBody>
      </p:sp>
      <p:sp>
        <p:nvSpPr>
          <p:cNvPr id="188" name="Google Shape;188;p5"/>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189" name="Google Shape;189;p5"/>
          <p:cNvSpPr txBox="1"/>
          <p:nvPr/>
        </p:nvSpPr>
        <p:spPr>
          <a:xfrm>
            <a:off x="427379" y="1299522"/>
            <a:ext cx="9128069" cy="115379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199"/>
              <a:buFont typeface="Arial"/>
              <a:buNone/>
            </a:pPr>
            <a:r>
              <a:rPr b="0" i="0" lang="en-US" sz="2199" u="none" cap="none" strike="noStrike">
                <a:solidFill>
                  <a:srgbClr val="000000"/>
                </a:solidFill>
                <a:latin typeface="Arial"/>
                <a:ea typeface="Arial"/>
                <a:cs typeface="Arial"/>
                <a:sym typeface="Arial"/>
              </a:rPr>
              <a:t>Los patrones estructurales explican cómo ensamblar objetos y clases en estructuras más grandes, a la vez que se mantiene la flexibilidad y eficiencia de estas estructuras.</a:t>
            </a:r>
            <a:endParaRPr b="0" i="0" sz="1400" u="none" cap="none" strike="noStrike">
              <a:solidFill>
                <a:srgbClr val="000000"/>
              </a:solidFill>
              <a:latin typeface="Arial"/>
              <a:ea typeface="Arial"/>
              <a:cs typeface="Arial"/>
              <a:sym typeface="Arial"/>
            </a:endParaRPr>
          </a:p>
        </p:txBody>
      </p:sp>
      <p:sp>
        <p:nvSpPr>
          <p:cNvPr id="190" name="Google Shape;190;p5"/>
          <p:cNvSpPr txBox="1"/>
          <p:nvPr/>
        </p:nvSpPr>
        <p:spPr>
          <a:xfrm>
            <a:off x="427379" y="3548692"/>
            <a:ext cx="8008906"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1" i="0" lang="en-US" sz="1899" u="none" cap="none" strike="noStrike">
                <a:solidFill>
                  <a:srgbClr val="000000"/>
                </a:solidFill>
                <a:latin typeface="Arial"/>
                <a:ea typeface="Arial"/>
                <a:cs typeface="Arial"/>
                <a:sym typeface="Arial"/>
              </a:rPr>
              <a:t>Analogía</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1"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Compara los patrones estructurales con un juego de construcción , como LEGO. Cada patrón te da una manera específica de conectar piezas (clases y objetos) para construir algo complejo de forma organizada y reutilizable.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61A"/>
        </a:solidFill>
      </p:bgPr>
    </p:bg>
    <p:spTree>
      <p:nvGrpSpPr>
        <p:cNvPr id="194" name="Shape 194"/>
        <p:cNvGrpSpPr/>
        <p:nvPr/>
      </p:nvGrpSpPr>
      <p:grpSpPr>
        <a:xfrm>
          <a:off x="0" y="0"/>
          <a:ext cx="0" cy="0"/>
          <a:chOff x="0" y="0"/>
          <a:chExt cx="0" cy="0"/>
        </a:xfrm>
      </p:grpSpPr>
      <p:grpSp>
        <p:nvGrpSpPr>
          <p:cNvPr id="195" name="Google Shape;195;p6"/>
          <p:cNvGrpSpPr/>
          <p:nvPr/>
        </p:nvGrpSpPr>
        <p:grpSpPr>
          <a:xfrm>
            <a:off x="-1474556" y="-715567"/>
            <a:ext cx="6686550" cy="6764908"/>
            <a:chOff x="0" y="-9525"/>
            <a:chExt cx="812800" cy="822325"/>
          </a:xfrm>
        </p:grpSpPr>
        <p:sp>
          <p:nvSpPr>
            <p:cNvPr id="196" name="Google Shape;196;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6"/>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8" name="Google Shape;198;p6"/>
          <p:cNvSpPr/>
          <p:nvPr/>
        </p:nvSpPr>
        <p:spPr>
          <a:xfrm>
            <a:off x="10875927" y="2569942"/>
            <a:ext cx="10791977" cy="10791977"/>
          </a:xfrm>
          <a:custGeom>
            <a:rect b="b" l="l" r="r" t="t"/>
            <a:pathLst>
              <a:path extrusionOk="0" h="10791977" w="10791977">
                <a:moveTo>
                  <a:pt x="0" y="0"/>
                </a:moveTo>
                <a:lnTo>
                  <a:pt x="10791977" y="0"/>
                </a:lnTo>
                <a:lnTo>
                  <a:pt x="10791977" y="10791977"/>
                </a:lnTo>
                <a:lnTo>
                  <a:pt x="0" y="10791977"/>
                </a:lnTo>
                <a:lnTo>
                  <a:pt x="0" y="0"/>
                </a:lnTo>
                <a:close/>
              </a:path>
            </a:pathLst>
          </a:custGeom>
          <a:blipFill rotWithShape="1">
            <a:blip r:embed="rId3">
              <a:alphaModFix amt="13000"/>
            </a:blip>
            <a:stretch>
              <a:fillRect b="0" l="0" r="0" t="0"/>
            </a:stretch>
          </a:blipFill>
          <a:ln>
            <a:noFill/>
          </a:ln>
        </p:spPr>
      </p:sp>
      <p:grpSp>
        <p:nvGrpSpPr>
          <p:cNvPr id="199" name="Google Shape;199;p6"/>
          <p:cNvGrpSpPr/>
          <p:nvPr/>
        </p:nvGrpSpPr>
        <p:grpSpPr>
          <a:xfrm>
            <a:off x="-277108" y="-787617"/>
            <a:ext cx="18842215" cy="958053"/>
            <a:chOff x="0" y="-85725"/>
            <a:chExt cx="4962559" cy="252327"/>
          </a:xfrm>
        </p:grpSpPr>
        <p:sp>
          <p:nvSpPr>
            <p:cNvPr id="200" name="Google Shape;200;p6"/>
            <p:cNvSpPr/>
            <p:nvPr/>
          </p:nvSpPr>
          <p:spPr>
            <a:xfrm>
              <a:off x="0" y="0"/>
              <a:ext cx="4962559" cy="166602"/>
            </a:xfrm>
            <a:custGeom>
              <a:rect b="b" l="l" r="r" t="t"/>
              <a:pathLst>
                <a:path extrusionOk="0" h="166602" w="4962559">
                  <a:moveTo>
                    <a:pt x="0" y="0"/>
                  </a:moveTo>
                  <a:lnTo>
                    <a:pt x="4962559" y="0"/>
                  </a:lnTo>
                  <a:lnTo>
                    <a:pt x="4962559" y="166602"/>
                  </a:lnTo>
                  <a:lnTo>
                    <a:pt x="0" y="166602"/>
                  </a:lnTo>
                  <a:close/>
                </a:path>
              </a:pathLst>
            </a:custGeom>
            <a:solidFill>
              <a:srgbClr val="000000"/>
            </a:solidFill>
            <a:ln>
              <a:noFill/>
            </a:ln>
          </p:spPr>
        </p:sp>
        <p:sp>
          <p:nvSpPr>
            <p:cNvPr id="201" name="Google Shape;201;p6"/>
            <p:cNvSpPr txBox="1"/>
            <p:nvPr/>
          </p:nvSpPr>
          <p:spPr>
            <a:xfrm>
              <a:off x="0" y="-85725"/>
              <a:ext cx="4962559" cy="2523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6"/>
          <p:cNvGrpSpPr/>
          <p:nvPr/>
        </p:nvGrpSpPr>
        <p:grpSpPr>
          <a:xfrm>
            <a:off x="-124708" y="9713812"/>
            <a:ext cx="18842215" cy="941555"/>
            <a:chOff x="0" y="-85725"/>
            <a:chExt cx="4962559" cy="247981"/>
          </a:xfrm>
        </p:grpSpPr>
        <p:sp>
          <p:nvSpPr>
            <p:cNvPr id="203" name="Google Shape;203;p6"/>
            <p:cNvSpPr/>
            <p:nvPr/>
          </p:nvSpPr>
          <p:spPr>
            <a:xfrm>
              <a:off x="0" y="0"/>
              <a:ext cx="4962559" cy="162256"/>
            </a:xfrm>
            <a:custGeom>
              <a:rect b="b" l="l" r="r" t="t"/>
              <a:pathLst>
                <a:path extrusionOk="0" h="162256" w="4962559">
                  <a:moveTo>
                    <a:pt x="0" y="0"/>
                  </a:moveTo>
                  <a:lnTo>
                    <a:pt x="4962559" y="0"/>
                  </a:lnTo>
                  <a:lnTo>
                    <a:pt x="4962559" y="162256"/>
                  </a:lnTo>
                  <a:lnTo>
                    <a:pt x="0" y="162256"/>
                  </a:lnTo>
                  <a:close/>
                </a:path>
              </a:pathLst>
            </a:custGeom>
            <a:solidFill>
              <a:srgbClr val="000000"/>
            </a:solidFill>
            <a:ln>
              <a:noFill/>
            </a:ln>
          </p:spPr>
        </p:sp>
        <p:sp>
          <p:nvSpPr>
            <p:cNvPr id="204" name="Google Shape;204;p6"/>
            <p:cNvSpPr txBox="1"/>
            <p:nvPr/>
          </p:nvSpPr>
          <p:spPr>
            <a:xfrm>
              <a:off x="0" y="-85725"/>
              <a:ext cx="4962559" cy="24798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6"/>
          <p:cNvSpPr txBox="1"/>
          <p:nvPr/>
        </p:nvSpPr>
        <p:spPr>
          <a:xfrm>
            <a:off x="4848225" y="3706200"/>
            <a:ext cx="7873800" cy="18468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11999"/>
              <a:buFont typeface="Arial"/>
              <a:buNone/>
            </a:pPr>
            <a:r>
              <a:rPr b="1" i="0" lang="en-US" sz="11999" u="none" cap="none" strike="noStrike">
                <a:solidFill>
                  <a:srgbClr val="000000"/>
                </a:solidFill>
                <a:latin typeface="Arial"/>
                <a:ea typeface="Arial"/>
                <a:cs typeface="Arial"/>
                <a:sym typeface="Arial"/>
              </a:rPr>
              <a:t>ADAPTER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209" name="Shape 209"/>
        <p:cNvGrpSpPr/>
        <p:nvPr/>
      </p:nvGrpSpPr>
      <p:grpSpPr>
        <a:xfrm>
          <a:off x="0" y="0"/>
          <a:ext cx="0" cy="0"/>
          <a:chOff x="0" y="0"/>
          <a:chExt cx="0" cy="0"/>
        </a:xfrm>
      </p:grpSpPr>
      <p:grpSp>
        <p:nvGrpSpPr>
          <p:cNvPr id="210" name="Google Shape;210;p7"/>
          <p:cNvGrpSpPr/>
          <p:nvPr/>
        </p:nvGrpSpPr>
        <p:grpSpPr>
          <a:xfrm>
            <a:off x="12639155" y="-839837"/>
            <a:ext cx="6233896" cy="11290922"/>
            <a:chOff x="0" y="-85725"/>
            <a:chExt cx="1641849" cy="2973741"/>
          </a:xfrm>
        </p:grpSpPr>
        <p:sp>
          <p:nvSpPr>
            <p:cNvPr id="211" name="Google Shape;211;p7"/>
            <p:cNvSpPr/>
            <p:nvPr/>
          </p:nvSpPr>
          <p:spPr>
            <a:xfrm>
              <a:off x="0" y="0"/>
              <a:ext cx="1641849" cy="2888016"/>
            </a:xfrm>
            <a:custGeom>
              <a:rect b="b" l="l" r="r" t="t"/>
              <a:pathLst>
                <a:path extrusionOk="0" h="2888016" w="1641849">
                  <a:moveTo>
                    <a:pt x="0" y="0"/>
                  </a:moveTo>
                  <a:lnTo>
                    <a:pt x="1641849" y="0"/>
                  </a:lnTo>
                  <a:lnTo>
                    <a:pt x="1641849" y="2888016"/>
                  </a:lnTo>
                  <a:lnTo>
                    <a:pt x="0" y="2888016"/>
                  </a:lnTo>
                  <a:close/>
                </a:path>
              </a:pathLst>
            </a:custGeom>
            <a:solidFill>
              <a:srgbClr val="FFC61A"/>
            </a:solidFill>
            <a:ln>
              <a:noFill/>
            </a:ln>
          </p:spPr>
        </p:sp>
        <p:sp>
          <p:nvSpPr>
            <p:cNvPr id="212" name="Google Shape;212;p7"/>
            <p:cNvSpPr txBox="1"/>
            <p:nvPr/>
          </p:nvSpPr>
          <p:spPr>
            <a:xfrm>
              <a:off x="0" y="-85725"/>
              <a:ext cx="1641849" cy="297374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3" name="Google Shape;213;p7"/>
          <p:cNvGrpSpPr/>
          <p:nvPr/>
        </p:nvGrpSpPr>
        <p:grpSpPr>
          <a:xfrm>
            <a:off x="15160324" y="-2279391"/>
            <a:ext cx="3269773" cy="3308091"/>
            <a:chOff x="0" y="-9525"/>
            <a:chExt cx="812800" cy="822325"/>
          </a:xfrm>
        </p:grpSpPr>
        <p:sp>
          <p:nvSpPr>
            <p:cNvPr id="214" name="Google Shape;214;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6" name="Google Shape;216;p7"/>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217" name="Google Shape;217;p7"/>
          <p:cNvGrpSpPr/>
          <p:nvPr/>
        </p:nvGrpSpPr>
        <p:grpSpPr>
          <a:xfrm>
            <a:off x="-277108" y="9663467"/>
            <a:ext cx="18842215" cy="1249748"/>
            <a:chOff x="0" y="-85725"/>
            <a:chExt cx="4962559" cy="329151"/>
          </a:xfrm>
        </p:grpSpPr>
        <p:sp>
          <p:nvSpPr>
            <p:cNvPr id="218" name="Google Shape;218;p7"/>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219" name="Google Shape;219;p7"/>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0" name="Google Shape;220;p7"/>
          <p:cNvSpPr/>
          <p:nvPr/>
        </p:nvSpPr>
        <p:spPr>
          <a:xfrm>
            <a:off x="10240031" y="1601469"/>
            <a:ext cx="7019269" cy="7019240"/>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alphaModFix/>
            </a:blip>
            <a:stretch>
              <a:fillRect b="0" l="-27277" r="-27273"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7"/>
          <p:cNvSpPr txBox="1"/>
          <p:nvPr/>
        </p:nvSpPr>
        <p:spPr>
          <a:xfrm>
            <a:off x="1598671" y="368259"/>
            <a:ext cx="11674978" cy="596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1" i="0" lang="en-US" sz="3500" u="none" cap="none" strike="noStrike">
                <a:solidFill>
                  <a:srgbClr val="000000"/>
                </a:solidFill>
                <a:latin typeface="Arial"/>
                <a:ea typeface="Arial"/>
                <a:cs typeface="Arial"/>
                <a:sym typeface="Arial"/>
              </a:rPr>
              <a:t>ADAPTER</a:t>
            </a:r>
            <a:endParaRPr b="0" i="0" sz="1400" u="none" cap="none" strike="noStrike">
              <a:solidFill>
                <a:srgbClr val="000000"/>
              </a:solidFill>
              <a:latin typeface="Arial"/>
              <a:ea typeface="Arial"/>
              <a:cs typeface="Arial"/>
              <a:sym typeface="Arial"/>
            </a:endParaRPr>
          </a:p>
        </p:txBody>
      </p:sp>
      <p:sp>
        <p:nvSpPr>
          <p:cNvPr id="222" name="Google Shape;222;p7"/>
          <p:cNvSpPr txBox="1"/>
          <p:nvPr/>
        </p:nvSpPr>
        <p:spPr>
          <a:xfrm>
            <a:off x="427379" y="1299522"/>
            <a:ext cx="9128069" cy="76327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199"/>
              <a:buFont typeface="Arial"/>
              <a:buNone/>
            </a:pPr>
            <a:r>
              <a:rPr b="0" i="0" lang="en-US" sz="2199" u="none" cap="none" strike="noStrike">
                <a:solidFill>
                  <a:srgbClr val="000000"/>
                </a:solidFill>
                <a:latin typeface="Arial"/>
                <a:ea typeface="Arial"/>
                <a:cs typeface="Arial"/>
                <a:sym typeface="Arial"/>
              </a:rPr>
              <a:t>Adapter es un patrón de diseño estructural que permite la colaboración entre objetos con interfaces incompatibles.</a:t>
            </a:r>
            <a:endParaRPr b="0" i="0" sz="1400" u="none" cap="none" strike="noStrike">
              <a:solidFill>
                <a:srgbClr val="000000"/>
              </a:solidFill>
              <a:latin typeface="Arial"/>
              <a:ea typeface="Arial"/>
              <a:cs typeface="Arial"/>
              <a:sym typeface="Arial"/>
            </a:endParaRPr>
          </a:p>
        </p:txBody>
      </p:sp>
      <p:sp>
        <p:nvSpPr>
          <p:cNvPr id="223" name="Google Shape;223;p7"/>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224" name="Google Shape;224;p7"/>
          <p:cNvSpPr txBox="1"/>
          <p:nvPr/>
        </p:nvSpPr>
        <p:spPr>
          <a:xfrm>
            <a:off x="427379" y="2415217"/>
            <a:ext cx="7600950"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1" i="0" lang="en-US" sz="1899" u="none" cap="none" strike="noStrike">
                <a:solidFill>
                  <a:srgbClr val="000000"/>
                </a:solidFill>
                <a:latin typeface="Arial"/>
                <a:ea typeface="Arial"/>
                <a:cs typeface="Arial"/>
                <a:sym typeface="Arial"/>
              </a:rPr>
              <a:t>Estructura del Patrón</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1"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La estructura del Adapter generalmente involucra cuatro componentes clave:</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grpSp>
        <p:nvGrpSpPr>
          <p:cNvPr id="225" name="Google Shape;225;p7"/>
          <p:cNvGrpSpPr/>
          <p:nvPr/>
        </p:nvGrpSpPr>
        <p:grpSpPr>
          <a:xfrm>
            <a:off x="427379" y="4485648"/>
            <a:ext cx="3707565" cy="2441733"/>
            <a:chOff x="0" y="-85725"/>
            <a:chExt cx="976478" cy="643090"/>
          </a:xfrm>
        </p:grpSpPr>
        <p:sp>
          <p:nvSpPr>
            <p:cNvPr id="226" name="Google Shape;226;p7"/>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7"/>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7"/>
          <p:cNvGrpSpPr/>
          <p:nvPr/>
        </p:nvGrpSpPr>
        <p:grpSpPr>
          <a:xfrm>
            <a:off x="1560300" y="4073379"/>
            <a:ext cx="1441724" cy="1458619"/>
            <a:chOff x="0" y="-9525"/>
            <a:chExt cx="812800" cy="822325"/>
          </a:xfrm>
        </p:grpSpPr>
        <p:sp>
          <p:nvSpPr>
            <p:cNvPr id="229" name="Google Shape;229;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1" name="Google Shape;231;p7"/>
          <p:cNvSpPr txBox="1"/>
          <p:nvPr/>
        </p:nvSpPr>
        <p:spPr>
          <a:xfrm>
            <a:off x="823296" y="4930267"/>
            <a:ext cx="2915700" cy="2459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Client (Cliente): La clase que colabora con los objetos que tienen la interfaz de </a:t>
            </a:r>
            <a:r>
              <a:rPr b="1" i="0" lang="en-US" sz="1700" u="none" cap="none" strike="noStrike">
                <a:solidFill>
                  <a:srgbClr val="000000"/>
                </a:solidFill>
                <a:latin typeface="Arial"/>
                <a:ea typeface="Arial"/>
                <a:cs typeface="Arial"/>
                <a:sym typeface="Arial"/>
                <a:extLst>
                  <a:ext uri="http://customooxmlschemas.google.com/">
                    <go:slidesCustomData xmlns:go="http://customooxmlschemas.google.com/" textRoundtripDataId="0"/>
                  </a:ext>
                </a:extLst>
              </a:rPr>
              <a:t>destino</a:t>
            </a:r>
            <a:r>
              <a:rPr b="1" i="0" lang="en-US" sz="1700" u="none" cap="none" strike="noStrike">
                <a:solidFill>
                  <a:srgbClr val="000000"/>
                </a:solidFill>
                <a:latin typeface="Arial"/>
                <a:ea typeface="Arial"/>
                <a:cs typeface="Arial"/>
                <a:sym typeface="Arial"/>
              </a:rPr>
              <a:t>. El cliente es el que no puede usar directamente la clase Adaptee.</a:t>
            </a:r>
            <a:endParaRPr b="0" i="0" sz="1300" u="none" cap="none" strike="noStrike">
              <a:solidFill>
                <a:srgbClr val="000000"/>
              </a:solidFill>
              <a:latin typeface="Arial"/>
              <a:ea typeface="Arial"/>
              <a:cs typeface="Arial"/>
              <a:sym typeface="Arial"/>
            </a:endParaRPr>
          </a:p>
        </p:txBody>
      </p:sp>
      <p:grpSp>
        <p:nvGrpSpPr>
          <p:cNvPr id="232" name="Google Shape;232;p7"/>
          <p:cNvGrpSpPr/>
          <p:nvPr/>
        </p:nvGrpSpPr>
        <p:grpSpPr>
          <a:xfrm>
            <a:off x="4767245" y="4508818"/>
            <a:ext cx="3707565" cy="2441733"/>
            <a:chOff x="0" y="-85725"/>
            <a:chExt cx="976478" cy="643090"/>
          </a:xfrm>
        </p:grpSpPr>
        <p:sp>
          <p:nvSpPr>
            <p:cNvPr id="233" name="Google Shape;233;p7"/>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7"/>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5" name="Google Shape;235;p7"/>
          <p:cNvGrpSpPr/>
          <p:nvPr/>
        </p:nvGrpSpPr>
        <p:grpSpPr>
          <a:xfrm>
            <a:off x="5900165" y="4096549"/>
            <a:ext cx="1441724" cy="1458619"/>
            <a:chOff x="0" y="-9525"/>
            <a:chExt cx="812800" cy="822325"/>
          </a:xfrm>
        </p:grpSpPr>
        <p:sp>
          <p:nvSpPr>
            <p:cNvPr id="236" name="Google Shape;236;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7"/>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7"/>
          <p:cNvSpPr txBox="1"/>
          <p:nvPr/>
        </p:nvSpPr>
        <p:spPr>
          <a:xfrm>
            <a:off x="5163162" y="4953437"/>
            <a:ext cx="2915700" cy="1970100"/>
          </a:xfrm>
          <a:prstGeom prst="rect">
            <a:avLst/>
          </a:prstGeom>
          <a:noFill/>
          <a:ln>
            <a:noFill/>
          </a:ln>
        </p:spPr>
        <p:txBody>
          <a:bodyPr anchorCtr="0" anchor="t" bIns="0" lIns="0" spcFirstLastPara="1" rIns="0" wrap="square" tIns="0">
            <a:spAutoFit/>
          </a:bodyPr>
          <a:lstStyle/>
          <a:p>
            <a:pPr indent="-181609" lvl="1" marL="388622" marR="0" rtl="0" algn="ctr">
              <a:lnSpc>
                <a:spcPct val="14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Target (Interfaz Objetivo): La interfaz que el Client espera. Es la que define el contrato que el Client necesita para funcionar.</a:t>
            </a:r>
            <a:endParaRPr b="0" i="0" sz="12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grpSp>
        <p:nvGrpSpPr>
          <p:cNvPr id="239" name="Google Shape;239;p7"/>
          <p:cNvGrpSpPr/>
          <p:nvPr/>
        </p:nvGrpSpPr>
        <p:grpSpPr>
          <a:xfrm>
            <a:off x="457124" y="7322756"/>
            <a:ext cx="3648075" cy="2441733"/>
            <a:chOff x="0" y="-85725"/>
            <a:chExt cx="960810" cy="643090"/>
          </a:xfrm>
        </p:grpSpPr>
        <p:sp>
          <p:nvSpPr>
            <p:cNvPr id="240" name="Google Shape;240;p7"/>
            <p:cNvSpPr/>
            <p:nvPr/>
          </p:nvSpPr>
          <p:spPr>
            <a:xfrm>
              <a:off x="0" y="0"/>
              <a:ext cx="960810" cy="557365"/>
            </a:xfrm>
            <a:custGeom>
              <a:rect b="b" l="l" r="r" t="t"/>
              <a:pathLst>
                <a:path extrusionOk="0" h="557365" w="960810">
                  <a:moveTo>
                    <a:pt x="76399" y="0"/>
                  </a:moveTo>
                  <a:lnTo>
                    <a:pt x="884411" y="0"/>
                  </a:lnTo>
                  <a:cubicBezTo>
                    <a:pt x="926605" y="0"/>
                    <a:pt x="960810" y="34205"/>
                    <a:pt x="960810" y="76399"/>
                  </a:cubicBezTo>
                  <a:lnTo>
                    <a:pt x="960810" y="480966"/>
                  </a:lnTo>
                  <a:cubicBezTo>
                    <a:pt x="960810" y="523160"/>
                    <a:pt x="926605" y="557365"/>
                    <a:pt x="884411" y="557365"/>
                  </a:cubicBezTo>
                  <a:lnTo>
                    <a:pt x="76399" y="557365"/>
                  </a:lnTo>
                  <a:cubicBezTo>
                    <a:pt x="34205" y="557365"/>
                    <a:pt x="0" y="523160"/>
                    <a:pt x="0" y="480966"/>
                  </a:cubicBezTo>
                  <a:lnTo>
                    <a:pt x="0" y="76399"/>
                  </a:lnTo>
                  <a:cubicBezTo>
                    <a:pt x="0" y="34205"/>
                    <a:pt x="34205" y="0"/>
                    <a:pt x="76399"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7"/>
            <p:cNvSpPr txBox="1"/>
            <p:nvPr/>
          </p:nvSpPr>
          <p:spPr>
            <a:xfrm>
              <a:off x="0" y="-85725"/>
              <a:ext cx="960810"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2" name="Google Shape;242;p7"/>
          <p:cNvGrpSpPr/>
          <p:nvPr/>
        </p:nvGrpSpPr>
        <p:grpSpPr>
          <a:xfrm>
            <a:off x="1571866" y="6910486"/>
            <a:ext cx="1418590" cy="1458619"/>
            <a:chOff x="0" y="-9525"/>
            <a:chExt cx="799758" cy="822325"/>
          </a:xfrm>
        </p:grpSpPr>
        <p:sp>
          <p:nvSpPr>
            <p:cNvPr id="243" name="Google Shape;243;p7"/>
            <p:cNvSpPr/>
            <p:nvPr/>
          </p:nvSpPr>
          <p:spPr>
            <a:xfrm>
              <a:off x="0" y="0"/>
              <a:ext cx="799758" cy="812800"/>
            </a:xfrm>
            <a:custGeom>
              <a:rect b="b" l="l" r="r" t="t"/>
              <a:pathLst>
                <a:path extrusionOk="0" h="812800" w="799758">
                  <a:moveTo>
                    <a:pt x="399879" y="0"/>
                  </a:moveTo>
                  <a:cubicBezTo>
                    <a:pt x="179032" y="0"/>
                    <a:pt x="0" y="181951"/>
                    <a:pt x="0" y="406400"/>
                  </a:cubicBezTo>
                  <a:cubicBezTo>
                    <a:pt x="0" y="630849"/>
                    <a:pt x="179032" y="812800"/>
                    <a:pt x="399879" y="812800"/>
                  </a:cubicBezTo>
                  <a:cubicBezTo>
                    <a:pt x="620726" y="812800"/>
                    <a:pt x="799758" y="630849"/>
                    <a:pt x="799758" y="406400"/>
                  </a:cubicBezTo>
                  <a:cubicBezTo>
                    <a:pt x="799758" y="181951"/>
                    <a:pt x="620726" y="0"/>
                    <a:pt x="399879"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7"/>
            <p:cNvSpPr txBox="1"/>
            <p:nvPr/>
          </p:nvSpPr>
          <p:spPr>
            <a:xfrm>
              <a:off x="74977" y="-9525"/>
              <a:ext cx="649804"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5" name="Google Shape;245;p7"/>
          <p:cNvSpPr txBox="1"/>
          <p:nvPr/>
        </p:nvSpPr>
        <p:spPr>
          <a:xfrm>
            <a:off x="846688" y="7776900"/>
            <a:ext cx="2868946" cy="2052320"/>
          </a:xfrm>
          <a:prstGeom prst="rect">
            <a:avLst/>
          </a:prstGeom>
          <a:noFill/>
          <a:ln>
            <a:noFill/>
          </a:ln>
        </p:spPr>
        <p:txBody>
          <a:bodyPr anchorCtr="0" anchor="t" bIns="0" lIns="0" spcFirstLastPara="1" rIns="0" wrap="square" tIns="0">
            <a:spAutoFit/>
          </a:bodyPr>
          <a:lstStyle/>
          <a:p>
            <a:pPr indent="-183516" lvl="1" marL="367032" marR="0" rtl="0" algn="ctr">
              <a:lnSpc>
                <a:spcPct val="140000"/>
              </a:lnSpc>
              <a:spcBef>
                <a:spcPts val="0"/>
              </a:spcBef>
              <a:spcAft>
                <a:spcPts val="0"/>
              </a:spcAft>
              <a:buClr>
                <a:srgbClr val="000000"/>
              </a:buClr>
              <a:buSzPts val="1700"/>
              <a:buFont typeface="Arial"/>
              <a:buChar char="•"/>
            </a:pPr>
            <a:r>
              <a:rPr b="1" i="0" lang="en-US" sz="1700" u="none" cap="none" strike="noStrike">
                <a:solidFill>
                  <a:srgbClr val="000000"/>
                </a:solidFill>
                <a:latin typeface="Arial"/>
                <a:ea typeface="Arial"/>
                <a:cs typeface="Arial"/>
                <a:sym typeface="Arial"/>
              </a:rPr>
              <a:t>Adaptee (Adaptado): La clase con la interfaz incompatible que necesitas usar. Es la clase existente y a menudo de terceros que no puedes modificar.</a:t>
            </a:r>
            <a:endParaRPr b="0" i="0" sz="1400" u="none" cap="none" strike="noStrike">
              <a:solidFill>
                <a:srgbClr val="000000"/>
              </a:solidFill>
              <a:latin typeface="Arial"/>
              <a:ea typeface="Arial"/>
              <a:cs typeface="Arial"/>
              <a:sym typeface="Arial"/>
            </a:endParaRPr>
          </a:p>
        </p:txBody>
      </p:sp>
      <p:grpSp>
        <p:nvGrpSpPr>
          <p:cNvPr id="246" name="Google Shape;246;p7"/>
          <p:cNvGrpSpPr/>
          <p:nvPr/>
        </p:nvGrpSpPr>
        <p:grpSpPr>
          <a:xfrm>
            <a:off x="4767245" y="7322756"/>
            <a:ext cx="3707565" cy="2441733"/>
            <a:chOff x="0" y="-85725"/>
            <a:chExt cx="976478" cy="643090"/>
          </a:xfrm>
        </p:grpSpPr>
        <p:sp>
          <p:nvSpPr>
            <p:cNvPr id="247" name="Google Shape;247;p7"/>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7"/>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p7"/>
          <p:cNvGrpSpPr/>
          <p:nvPr/>
        </p:nvGrpSpPr>
        <p:grpSpPr>
          <a:xfrm>
            <a:off x="5900165" y="6910486"/>
            <a:ext cx="1441724" cy="1458619"/>
            <a:chOff x="0" y="-9525"/>
            <a:chExt cx="812800" cy="822325"/>
          </a:xfrm>
        </p:grpSpPr>
        <p:sp>
          <p:nvSpPr>
            <p:cNvPr id="250" name="Google Shape;250;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7"/>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2" name="Google Shape;252;p7"/>
          <p:cNvSpPr txBox="1"/>
          <p:nvPr/>
        </p:nvSpPr>
        <p:spPr>
          <a:xfrm>
            <a:off x="5163162" y="7776900"/>
            <a:ext cx="2915700" cy="188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Adapter (Adaptador): La clase que hace la magia. Implementa la interfaz Target y contiene una instancia del Adaptee. En sus métodos, delega las llamadas al Adaptee subyacente, traduciendo las peticiones del Target a las del Adaptee.</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256" name="Shape 256"/>
        <p:cNvGrpSpPr/>
        <p:nvPr/>
      </p:nvGrpSpPr>
      <p:grpSpPr>
        <a:xfrm>
          <a:off x="0" y="0"/>
          <a:ext cx="0" cy="0"/>
          <a:chOff x="0" y="0"/>
          <a:chExt cx="0" cy="0"/>
        </a:xfrm>
      </p:grpSpPr>
      <p:grpSp>
        <p:nvGrpSpPr>
          <p:cNvPr id="257" name="Google Shape;257;p8"/>
          <p:cNvGrpSpPr/>
          <p:nvPr/>
        </p:nvGrpSpPr>
        <p:grpSpPr>
          <a:xfrm>
            <a:off x="15160324" y="-2279391"/>
            <a:ext cx="3269773" cy="3308091"/>
            <a:chOff x="0" y="-9525"/>
            <a:chExt cx="812800" cy="822325"/>
          </a:xfrm>
        </p:grpSpPr>
        <p:sp>
          <p:nvSpPr>
            <p:cNvPr id="258" name="Google Shape;258;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8"/>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0" name="Google Shape;260;p8"/>
          <p:cNvGrpSpPr/>
          <p:nvPr/>
        </p:nvGrpSpPr>
        <p:grpSpPr>
          <a:xfrm>
            <a:off x="-277108" y="9663467"/>
            <a:ext cx="18842215" cy="1249748"/>
            <a:chOff x="0" y="-85725"/>
            <a:chExt cx="4962559" cy="329151"/>
          </a:xfrm>
        </p:grpSpPr>
        <p:sp>
          <p:nvSpPr>
            <p:cNvPr id="261" name="Google Shape;261;p8"/>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262" name="Google Shape;262;p8"/>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3" name="Google Shape;263;p8"/>
          <p:cNvSpPr/>
          <p:nvPr/>
        </p:nvSpPr>
        <p:spPr>
          <a:xfrm>
            <a:off x="3627681" y="3278718"/>
            <a:ext cx="9142018" cy="4082017"/>
          </a:xfrm>
          <a:custGeom>
            <a:rect b="b" l="l" r="r" t="t"/>
            <a:pathLst>
              <a:path extrusionOk="0" h="4082017" w="9142018">
                <a:moveTo>
                  <a:pt x="0" y="0"/>
                </a:moveTo>
                <a:lnTo>
                  <a:pt x="9142018" y="0"/>
                </a:lnTo>
                <a:lnTo>
                  <a:pt x="9142018" y="4082018"/>
                </a:lnTo>
                <a:lnTo>
                  <a:pt x="0" y="4082018"/>
                </a:lnTo>
                <a:lnTo>
                  <a:pt x="0" y="0"/>
                </a:lnTo>
                <a:close/>
              </a:path>
            </a:pathLst>
          </a:custGeom>
          <a:blipFill rotWithShape="1">
            <a:blip r:embed="rId3">
              <a:alphaModFix/>
            </a:blip>
            <a:stretch>
              <a:fillRect b="0" l="0" r="0" t="0"/>
            </a:stretch>
          </a:blipFill>
          <a:ln>
            <a:noFill/>
          </a:ln>
        </p:spPr>
      </p:sp>
      <p:sp>
        <p:nvSpPr>
          <p:cNvPr id="264" name="Google Shape;264;p8"/>
          <p:cNvSpPr txBox="1"/>
          <p:nvPr/>
        </p:nvSpPr>
        <p:spPr>
          <a:xfrm>
            <a:off x="509680" y="388458"/>
            <a:ext cx="1607162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PROBLEMA</a:t>
            </a:r>
            <a:endParaRPr b="0" i="0" sz="1400" u="none" cap="none" strike="noStrike">
              <a:solidFill>
                <a:srgbClr val="000000"/>
              </a:solidFill>
              <a:latin typeface="Arial"/>
              <a:ea typeface="Arial"/>
              <a:cs typeface="Arial"/>
              <a:sym typeface="Arial"/>
            </a:endParaRPr>
          </a:p>
        </p:txBody>
      </p:sp>
      <p:sp>
        <p:nvSpPr>
          <p:cNvPr id="265" name="Google Shape;265;p8"/>
          <p:cNvSpPr txBox="1"/>
          <p:nvPr/>
        </p:nvSpPr>
        <p:spPr>
          <a:xfrm>
            <a:off x="509680" y="1574378"/>
            <a:ext cx="15378020" cy="170434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Imagina que estás creando una aplicación de monitoreo del mercado de valores. La aplicación descarga la información de bolsa desde varias fuentes en formato XML para presentarla al usuario con bonitos gráficos y diagramas.</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En cierto momento, decides mejorar la aplicación integrando una inteligente biblioteca de análisis de una tercera persona. Pero hay una trampa: la biblioteca de análisis solo funciona con datos en formato JSON.</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sp>
        <p:nvSpPr>
          <p:cNvPr id="266" name="Google Shape;266;p8"/>
          <p:cNvSpPr txBox="1"/>
          <p:nvPr/>
        </p:nvSpPr>
        <p:spPr>
          <a:xfrm>
            <a:off x="509680" y="7684586"/>
            <a:ext cx="15378020" cy="103759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Podrías cambiar la biblioteca para que funcione con XML. Sin embargo, esto podría descomponer parte del código existente que depende de la biblioteca. Y, lo que es peor, podrías no tener siquiera acceso al código fuente de la biblioteca, lo que hace imposible esta solución.</a:t>
            </a:r>
            <a:endParaRPr b="0" i="0" sz="1400" u="none" cap="none" strike="noStrike">
              <a:solidFill>
                <a:srgbClr val="000000"/>
              </a:solidFill>
              <a:latin typeface="Arial"/>
              <a:ea typeface="Arial"/>
              <a:cs typeface="Arial"/>
              <a:sym typeface="Arial"/>
            </a:endParaRPr>
          </a:p>
        </p:txBody>
      </p:sp>
      <p:sp>
        <p:nvSpPr>
          <p:cNvPr id="267" name="Google Shape;267;p8"/>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271" name="Shape 271"/>
        <p:cNvGrpSpPr/>
        <p:nvPr/>
      </p:nvGrpSpPr>
      <p:grpSpPr>
        <a:xfrm>
          <a:off x="0" y="0"/>
          <a:ext cx="0" cy="0"/>
          <a:chOff x="0" y="0"/>
          <a:chExt cx="0" cy="0"/>
        </a:xfrm>
      </p:grpSpPr>
      <p:grpSp>
        <p:nvGrpSpPr>
          <p:cNvPr id="272" name="Google Shape;272;p9"/>
          <p:cNvGrpSpPr/>
          <p:nvPr/>
        </p:nvGrpSpPr>
        <p:grpSpPr>
          <a:xfrm>
            <a:off x="15160324" y="-2279391"/>
            <a:ext cx="3269773" cy="3308091"/>
            <a:chOff x="0" y="-9525"/>
            <a:chExt cx="812800" cy="822325"/>
          </a:xfrm>
        </p:grpSpPr>
        <p:sp>
          <p:nvSpPr>
            <p:cNvPr id="273" name="Google Shape;273;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9"/>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5" name="Google Shape;275;p9"/>
          <p:cNvGrpSpPr/>
          <p:nvPr/>
        </p:nvGrpSpPr>
        <p:grpSpPr>
          <a:xfrm>
            <a:off x="-277108" y="9663467"/>
            <a:ext cx="18842215" cy="1249748"/>
            <a:chOff x="0" y="-85725"/>
            <a:chExt cx="4962559" cy="329151"/>
          </a:xfrm>
        </p:grpSpPr>
        <p:sp>
          <p:nvSpPr>
            <p:cNvPr id="276" name="Google Shape;276;p9"/>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277" name="Google Shape;277;p9"/>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8" name="Google Shape;278;p9"/>
          <p:cNvSpPr/>
          <p:nvPr/>
        </p:nvSpPr>
        <p:spPr>
          <a:xfrm>
            <a:off x="1329492" y="5839651"/>
            <a:ext cx="6025963" cy="3775302"/>
          </a:xfrm>
          <a:custGeom>
            <a:rect b="b" l="l" r="r" t="t"/>
            <a:pathLst>
              <a:path extrusionOk="0" h="3775302" w="6025963">
                <a:moveTo>
                  <a:pt x="0" y="0"/>
                </a:moveTo>
                <a:lnTo>
                  <a:pt x="6025963" y="0"/>
                </a:lnTo>
                <a:lnTo>
                  <a:pt x="6025963" y="3775302"/>
                </a:lnTo>
                <a:lnTo>
                  <a:pt x="0" y="3775302"/>
                </a:lnTo>
                <a:lnTo>
                  <a:pt x="0" y="0"/>
                </a:lnTo>
                <a:close/>
              </a:path>
            </a:pathLst>
          </a:custGeom>
          <a:blipFill rotWithShape="1">
            <a:blip r:embed="rId3">
              <a:alphaModFix/>
            </a:blip>
            <a:stretch>
              <a:fillRect b="0" l="0" r="0" t="0"/>
            </a:stretch>
          </a:blipFill>
          <a:ln>
            <a:noFill/>
          </a:ln>
        </p:spPr>
      </p:sp>
      <p:sp>
        <p:nvSpPr>
          <p:cNvPr id="279" name="Google Shape;279;p9"/>
          <p:cNvSpPr txBox="1"/>
          <p:nvPr/>
        </p:nvSpPr>
        <p:spPr>
          <a:xfrm>
            <a:off x="509680" y="388458"/>
            <a:ext cx="1607162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SOLUCIÓN...</a:t>
            </a:r>
            <a:endParaRPr b="0" i="0" sz="1400" u="none" cap="none" strike="noStrike">
              <a:solidFill>
                <a:srgbClr val="000000"/>
              </a:solidFill>
              <a:latin typeface="Arial"/>
              <a:ea typeface="Arial"/>
              <a:cs typeface="Arial"/>
              <a:sym typeface="Arial"/>
            </a:endParaRPr>
          </a:p>
        </p:txBody>
      </p:sp>
      <p:sp>
        <p:nvSpPr>
          <p:cNvPr id="280" name="Google Shape;280;p9"/>
          <p:cNvSpPr txBox="1"/>
          <p:nvPr/>
        </p:nvSpPr>
        <p:spPr>
          <a:xfrm>
            <a:off x="509680" y="1427506"/>
            <a:ext cx="15321407" cy="4038143"/>
          </a:xfrm>
          <a:prstGeom prst="rect">
            <a:avLst/>
          </a:prstGeom>
          <a:noFill/>
          <a:ln>
            <a:noFill/>
          </a:ln>
        </p:spPr>
        <p:txBody>
          <a:bodyPr anchorCtr="0" anchor="t" bIns="0" lIns="0" spcFirstLastPara="1" rIns="0" wrap="square" tIns="0">
            <a:spAutoFit/>
          </a:bodyPr>
          <a:lstStyle/>
          <a:p>
            <a:pPr indent="0" lvl="0" marL="0" marR="0" rtl="0" algn="l">
              <a:lnSpc>
                <a:spcPct val="139989"/>
              </a:lnSpc>
              <a:spcBef>
                <a:spcPts val="0"/>
              </a:spcBef>
              <a:spcAft>
                <a:spcPts val="0"/>
              </a:spcAft>
              <a:buClr>
                <a:srgbClr val="000000"/>
              </a:buClr>
              <a:buSzPts val="1893"/>
              <a:buFont typeface="Arial"/>
              <a:buNone/>
            </a:pPr>
            <a:r>
              <a:rPr b="0" i="0" lang="en-US" sz="1893" u="none" cap="none" strike="noStrike">
                <a:solidFill>
                  <a:srgbClr val="000000"/>
                </a:solidFill>
                <a:latin typeface="Arial"/>
                <a:ea typeface="Arial"/>
                <a:cs typeface="Arial"/>
                <a:sym typeface="Arial"/>
              </a:rPr>
              <a:t>Puedes crear un adaptador. Se trata de un objeto especial que convierte la interfaz de un objeto, de forma que otro objeto pueda comprenderla.</a:t>
            </a:r>
            <a:endParaRPr b="0" i="0" sz="1400" u="none" cap="none" strike="noStrike">
              <a:solidFill>
                <a:srgbClr val="000000"/>
              </a:solidFill>
              <a:latin typeface="Arial"/>
              <a:ea typeface="Arial"/>
              <a:cs typeface="Arial"/>
              <a:sym typeface="Arial"/>
            </a:endParaRPr>
          </a:p>
          <a:p>
            <a:pPr indent="0" lvl="0" marL="0" marR="0" rtl="0" algn="l">
              <a:lnSpc>
                <a:spcPct val="139989"/>
              </a:lnSpc>
              <a:spcBef>
                <a:spcPts val="0"/>
              </a:spcBef>
              <a:spcAft>
                <a:spcPts val="0"/>
              </a:spcAft>
              <a:buClr>
                <a:srgbClr val="000000"/>
              </a:buClr>
              <a:buSzPts val="1893"/>
              <a:buFont typeface="Arial"/>
              <a:buNone/>
            </a:pPr>
            <a:r>
              <a:rPr b="0" i="0" lang="en-US" sz="1893" u="none" cap="none" strike="noStrike">
                <a:solidFill>
                  <a:srgbClr val="000000"/>
                </a:solidFill>
                <a:latin typeface="Arial"/>
                <a:ea typeface="Arial"/>
                <a:cs typeface="Arial"/>
                <a:sym typeface="Arial"/>
              </a:rPr>
              <a:t>Un adaptador envuelve uno de los objetos para esconder la complejidad de la conversión que tiene lugar tras bambalinas. El objeto envuelto ni siquiera es consciente de la existencia del adaptador. Por ejemplo, puedes envolver un objeto que opera con metros y kilómetros con un adaptador que convierte todos los datos al sistema anglosajón, es decir, pies y millas.</a:t>
            </a:r>
            <a:endParaRPr b="0" i="0" sz="1400" u="none" cap="none" strike="noStrike">
              <a:solidFill>
                <a:srgbClr val="000000"/>
              </a:solidFill>
              <a:latin typeface="Arial"/>
              <a:ea typeface="Arial"/>
              <a:cs typeface="Arial"/>
              <a:sym typeface="Arial"/>
            </a:endParaRPr>
          </a:p>
          <a:p>
            <a:pPr indent="0" lvl="0" marL="0" marR="0" rtl="0" algn="l">
              <a:lnSpc>
                <a:spcPct val="139989"/>
              </a:lnSpc>
              <a:spcBef>
                <a:spcPts val="0"/>
              </a:spcBef>
              <a:spcAft>
                <a:spcPts val="0"/>
              </a:spcAft>
              <a:buClr>
                <a:srgbClr val="000000"/>
              </a:buClr>
              <a:buSzPts val="1893"/>
              <a:buFont typeface="Arial"/>
              <a:buNone/>
            </a:pPr>
            <a:r>
              <a:rPr b="0" i="0" lang="en-US" sz="1893" u="none" cap="none" strike="noStrike">
                <a:solidFill>
                  <a:srgbClr val="000000"/>
                </a:solidFill>
                <a:latin typeface="Arial"/>
                <a:ea typeface="Arial"/>
                <a:cs typeface="Arial"/>
                <a:sym typeface="Arial"/>
              </a:rPr>
              <a:t>Los adaptadores no solo convierten datos a varios formatos, sino que también ayudan a objetos con distintas interfaces a colaborar. Funciona así:</a:t>
            </a:r>
            <a:endParaRPr b="0" i="0" sz="1400" u="none" cap="none" strike="noStrike">
              <a:solidFill>
                <a:srgbClr val="000000"/>
              </a:solidFill>
              <a:latin typeface="Arial"/>
              <a:ea typeface="Arial"/>
              <a:cs typeface="Arial"/>
              <a:sym typeface="Arial"/>
            </a:endParaRPr>
          </a:p>
          <a:p>
            <a:pPr indent="-204347" lvl="1" marL="408699" marR="0" rtl="0" algn="l">
              <a:lnSpc>
                <a:spcPct val="139989"/>
              </a:lnSpc>
              <a:spcBef>
                <a:spcPts val="0"/>
              </a:spcBef>
              <a:spcAft>
                <a:spcPts val="0"/>
              </a:spcAft>
              <a:buClr>
                <a:srgbClr val="000000"/>
              </a:buClr>
              <a:buSzPts val="1893"/>
              <a:buFont typeface="Arial"/>
              <a:buAutoNum type="arabicPeriod"/>
            </a:pPr>
            <a:r>
              <a:rPr b="0" i="0" lang="en-US" sz="1893" u="none" cap="none" strike="noStrike">
                <a:solidFill>
                  <a:srgbClr val="000000"/>
                </a:solidFill>
                <a:latin typeface="Arial"/>
                <a:ea typeface="Arial"/>
                <a:cs typeface="Arial"/>
                <a:sym typeface="Arial"/>
              </a:rPr>
              <a:t>El adaptador obtiene una interfaz compatible con uno de los objetos existentes.</a:t>
            </a:r>
            <a:endParaRPr b="0" i="0" sz="1400" u="none" cap="none" strike="noStrike">
              <a:solidFill>
                <a:srgbClr val="000000"/>
              </a:solidFill>
              <a:latin typeface="Arial"/>
              <a:ea typeface="Arial"/>
              <a:cs typeface="Arial"/>
              <a:sym typeface="Arial"/>
            </a:endParaRPr>
          </a:p>
          <a:p>
            <a:pPr indent="-204347" lvl="1" marL="408699" marR="0" rtl="0" algn="l">
              <a:lnSpc>
                <a:spcPct val="139989"/>
              </a:lnSpc>
              <a:spcBef>
                <a:spcPts val="0"/>
              </a:spcBef>
              <a:spcAft>
                <a:spcPts val="0"/>
              </a:spcAft>
              <a:buClr>
                <a:srgbClr val="000000"/>
              </a:buClr>
              <a:buSzPts val="1893"/>
              <a:buFont typeface="Arial"/>
              <a:buAutoNum type="arabicPeriod"/>
            </a:pPr>
            <a:r>
              <a:rPr b="0" i="0" lang="en-US" sz="1893" u="none" cap="none" strike="noStrike">
                <a:solidFill>
                  <a:srgbClr val="000000"/>
                </a:solidFill>
                <a:latin typeface="Arial"/>
                <a:ea typeface="Arial"/>
                <a:cs typeface="Arial"/>
                <a:sym typeface="Arial"/>
              </a:rPr>
              <a:t>Utilizando esta interfaz, el objeto existente puede invocar con seguridad los métodos del adaptador.</a:t>
            </a:r>
            <a:endParaRPr b="0" i="0" sz="1400" u="none" cap="none" strike="noStrike">
              <a:solidFill>
                <a:srgbClr val="000000"/>
              </a:solidFill>
              <a:latin typeface="Arial"/>
              <a:ea typeface="Arial"/>
              <a:cs typeface="Arial"/>
              <a:sym typeface="Arial"/>
            </a:endParaRPr>
          </a:p>
          <a:p>
            <a:pPr indent="-204347" lvl="1" marL="408699" marR="0" rtl="0" algn="l">
              <a:lnSpc>
                <a:spcPct val="139989"/>
              </a:lnSpc>
              <a:spcBef>
                <a:spcPts val="0"/>
              </a:spcBef>
              <a:spcAft>
                <a:spcPts val="0"/>
              </a:spcAft>
              <a:buClr>
                <a:srgbClr val="000000"/>
              </a:buClr>
              <a:buSzPts val="1893"/>
              <a:buFont typeface="Arial"/>
              <a:buAutoNum type="arabicPeriod"/>
            </a:pPr>
            <a:r>
              <a:rPr b="0" i="0" lang="en-US" sz="1893" u="none" cap="none" strike="noStrike">
                <a:solidFill>
                  <a:srgbClr val="000000"/>
                </a:solidFill>
                <a:latin typeface="Arial"/>
                <a:ea typeface="Arial"/>
                <a:cs typeface="Arial"/>
                <a:sym typeface="Arial"/>
              </a:rPr>
              <a:t>Al recibir una llamada, el adaptador pasa la solicitud al segundo objeto, pero en un formato y orden que ese segundo objeto espera.</a:t>
            </a:r>
            <a:endParaRPr b="0" i="0" sz="1400" u="none" cap="none" strike="noStrike">
              <a:solidFill>
                <a:srgbClr val="000000"/>
              </a:solidFill>
              <a:latin typeface="Arial"/>
              <a:ea typeface="Arial"/>
              <a:cs typeface="Arial"/>
              <a:sym typeface="Arial"/>
            </a:endParaRPr>
          </a:p>
          <a:p>
            <a:pPr indent="0" lvl="0" marL="0" marR="0" rtl="0" algn="l">
              <a:lnSpc>
                <a:spcPct val="139989"/>
              </a:lnSpc>
              <a:spcBef>
                <a:spcPts val="0"/>
              </a:spcBef>
              <a:spcAft>
                <a:spcPts val="0"/>
              </a:spcAft>
              <a:buClr>
                <a:srgbClr val="000000"/>
              </a:buClr>
              <a:buSzPts val="1893"/>
              <a:buFont typeface="Arial"/>
              <a:buNone/>
            </a:pPr>
            <a:r>
              <a:rPr b="0" i="0" lang="en-US" sz="1893" u="none" cap="none" strike="noStrike">
                <a:solidFill>
                  <a:srgbClr val="000000"/>
                </a:solidFill>
                <a:latin typeface="Arial"/>
                <a:ea typeface="Arial"/>
                <a:cs typeface="Arial"/>
                <a:sym typeface="Arial"/>
              </a:rPr>
              <a:t>En ocasiones se puede incluso crear un adaptador de dos direcciones que pueda convertir las llamadas en ambos sentidos.</a:t>
            </a:r>
            <a:endParaRPr b="0" i="0" sz="1400" u="none" cap="none" strike="noStrike">
              <a:solidFill>
                <a:srgbClr val="000000"/>
              </a:solidFill>
              <a:latin typeface="Arial"/>
              <a:ea typeface="Arial"/>
              <a:cs typeface="Arial"/>
              <a:sym typeface="Arial"/>
            </a:endParaRPr>
          </a:p>
          <a:p>
            <a:pPr indent="0" lvl="0" marL="0" marR="0" rtl="0" algn="l">
              <a:lnSpc>
                <a:spcPct val="139989"/>
              </a:lnSpc>
              <a:spcBef>
                <a:spcPts val="0"/>
              </a:spcBef>
              <a:spcAft>
                <a:spcPts val="0"/>
              </a:spcAft>
              <a:buClr>
                <a:srgbClr val="000000"/>
              </a:buClr>
              <a:buSzPts val="1893"/>
              <a:buFont typeface="Arial"/>
              <a:buNone/>
            </a:pPr>
            <a:r>
              <a:t/>
            </a:r>
            <a:endParaRPr b="0" i="0" sz="1893" u="none" cap="none" strike="noStrike">
              <a:solidFill>
                <a:srgbClr val="000000"/>
              </a:solidFill>
              <a:latin typeface="Arial"/>
              <a:ea typeface="Arial"/>
              <a:cs typeface="Arial"/>
              <a:sym typeface="Arial"/>
            </a:endParaRPr>
          </a:p>
        </p:txBody>
      </p:sp>
      <p:sp>
        <p:nvSpPr>
          <p:cNvPr id="281" name="Google Shape;281;p9"/>
          <p:cNvSpPr txBox="1"/>
          <p:nvPr/>
        </p:nvSpPr>
        <p:spPr>
          <a:xfrm>
            <a:off x="8170383" y="5865699"/>
            <a:ext cx="8543925" cy="270446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Regresemos a nuestra aplicación del mercado de valores. Para resolver el dilema de los formatos incompatibles, puedes crear adaptadores de XML a JSON para cada clase de la biblioteca de análisis con la que trabaje tu código directamente. Después ajustas tu código para que se comunique con la biblioteca únicamente a través de estos adaptadores. Cuando un adaptador recibe una llamada, traduce los datos XML entrantes a una estructura JSON y pasa la llamada a los métodos adecuados de un objeto de análisis envuelto.</a:t>
            </a:r>
            <a:endParaRPr b="0" i="0" sz="1400" u="none" cap="none" strike="noStrike">
              <a:solidFill>
                <a:srgbClr val="000000"/>
              </a:solidFill>
              <a:latin typeface="Arial"/>
              <a:ea typeface="Arial"/>
              <a:cs typeface="Arial"/>
              <a:sym typeface="Arial"/>
            </a:endParaRPr>
          </a:p>
        </p:txBody>
      </p:sp>
      <p:sp>
        <p:nvSpPr>
          <p:cNvPr id="282" name="Google Shape;282;p9"/>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286" name="Shape 286"/>
        <p:cNvGrpSpPr/>
        <p:nvPr/>
      </p:nvGrpSpPr>
      <p:grpSpPr>
        <a:xfrm>
          <a:off x="0" y="0"/>
          <a:ext cx="0" cy="0"/>
          <a:chOff x="0" y="0"/>
          <a:chExt cx="0" cy="0"/>
        </a:xfrm>
      </p:grpSpPr>
      <p:grpSp>
        <p:nvGrpSpPr>
          <p:cNvPr id="287" name="Google Shape;287;p10"/>
          <p:cNvGrpSpPr/>
          <p:nvPr/>
        </p:nvGrpSpPr>
        <p:grpSpPr>
          <a:xfrm>
            <a:off x="15160324" y="-2279391"/>
            <a:ext cx="3269773" cy="3308091"/>
            <a:chOff x="0" y="-9525"/>
            <a:chExt cx="812800" cy="822325"/>
          </a:xfrm>
        </p:grpSpPr>
        <p:sp>
          <p:nvSpPr>
            <p:cNvPr id="288" name="Google Shape;288;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0"/>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10"/>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291" name="Google Shape;291;p10"/>
          <p:cNvGrpSpPr/>
          <p:nvPr/>
        </p:nvGrpSpPr>
        <p:grpSpPr>
          <a:xfrm>
            <a:off x="-277108" y="9663467"/>
            <a:ext cx="18842215" cy="1249748"/>
            <a:chOff x="0" y="-85725"/>
            <a:chExt cx="4962559" cy="329151"/>
          </a:xfrm>
        </p:grpSpPr>
        <p:sp>
          <p:nvSpPr>
            <p:cNvPr id="292" name="Google Shape;292;p10"/>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293" name="Google Shape;293;p10"/>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4" name="Google Shape;294;p10"/>
          <p:cNvSpPr/>
          <p:nvPr/>
        </p:nvSpPr>
        <p:spPr>
          <a:xfrm>
            <a:off x="1028700" y="1493525"/>
            <a:ext cx="9017103" cy="5356850"/>
          </a:xfrm>
          <a:custGeom>
            <a:rect b="b" l="l" r="r" t="t"/>
            <a:pathLst>
              <a:path extrusionOk="0" h="5356850" w="9017103">
                <a:moveTo>
                  <a:pt x="0" y="0"/>
                </a:moveTo>
                <a:lnTo>
                  <a:pt x="9017103" y="0"/>
                </a:lnTo>
                <a:lnTo>
                  <a:pt x="9017103" y="5356850"/>
                </a:lnTo>
                <a:lnTo>
                  <a:pt x="0" y="5356850"/>
                </a:lnTo>
                <a:lnTo>
                  <a:pt x="0" y="0"/>
                </a:lnTo>
                <a:close/>
              </a:path>
            </a:pathLst>
          </a:custGeom>
          <a:blipFill rotWithShape="1">
            <a:blip r:embed="rId4">
              <a:alphaModFix/>
            </a:blip>
            <a:stretch>
              <a:fillRect b="0" l="0" r="0" t="0"/>
            </a:stretch>
          </a:blipFill>
          <a:ln>
            <a:noFill/>
          </a:ln>
        </p:spPr>
      </p:sp>
      <p:sp>
        <p:nvSpPr>
          <p:cNvPr id="295" name="Google Shape;295;p10"/>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ANALOGÍA DEL MUNDO REAL</a:t>
            </a:r>
            <a:endParaRPr b="0" i="0" sz="1400" u="none" cap="none" strike="noStrike">
              <a:solidFill>
                <a:srgbClr val="000000"/>
              </a:solidFill>
              <a:latin typeface="Arial"/>
              <a:ea typeface="Arial"/>
              <a:cs typeface="Arial"/>
              <a:sym typeface="Arial"/>
            </a:endParaRPr>
          </a:p>
        </p:txBody>
      </p:sp>
      <p:sp>
        <p:nvSpPr>
          <p:cNvPr id="296" name="Google Shape;296;p10"/>
          <p:cNvSpPr txBox="1"/>
          <p:nvPr/>
        </p:nvSpPr>
        <p:spPr>
          <a:xfrm>
            <a:off x="10452339" y="2117725"/>
            <a:ext cx="6806961" cy="399415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Arial"/>
                <a:ea typeface="Arial"/>
                <a:cs typeface="Arial"/>
                <a:sym typeface="Arial"/>
              </a:rPr>
              <a:t>Cuando viajas de Europa a Estados Unidos por primera vez, puede ser que te lleves una sorpresa cuanto intentes cargar tu computadora portátil. Los tipos de enchufe son diferentes en cada país, por lo que un enchufe español no sirve en Estados Unidos. El problema puede solucionarse utilizando un adaptador que incluya el enchufe americano y el europeo.</a:t>
            </a:r>
            <a:endParaRPr b="0" i="0" sz="1400" u="none" cap="none" strike="noStrike">
              <a:solidFill>
                <a:srgbClr val="000000"/>
              </a:solidFill>
              <a:latin typeface="Arial"/>
              <a:ea typeface="Arial"/>
              <a:cs typeface="Arial"/>
              <a:sym typeface="Arial"/>
            </a:endParaRPr>
          </a:p>
        </p:txBody>
      </p:sp>
      <p:sp>
        <p:nvSpPr>
          <p:cNvPr id="297" name="Google Shape;297;p10"/>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301" name="Shape 301"/>
        <p:cNvGrpSpPr/>
        <p:nvPr/>
      </p:nvGrpSpPr>
      <p:grpSpPr>
        <a:xfrm>
          <a:off x="0" y="0"/>
          <a:ext cx="0" cy="0"/>
          <a:chOff x="0" y="0"/>
          <a:chExt cx="0" cy="0"/>
        </a:xfrm>
      </p:grpSpPr>
      <p:grpSp>
        <p:nvGrpSpPr>
          <p:cNvPr id="302" name="Google Shape;302;p11"/>
          <p:cNvGrpSpPr/>
          <p:nvPr/>
        </p:nvGrpSpPr>
        <p:grpSpPr>
          <a:xfrm>
            <a:off x="15160324" y="-2279391"/>
            <a:ext cx="3269773" cy="3308091"/>
            <a:chOff x="0" y="-9525"/>
            <a:chExt cx="812800" cy="822325"/>
          </a:xfrm>
        </p:grpSpPr>
        <p:sp>
          <p:nvSpPr>
            <p:cNvPr id="303" name="Google Shape;303;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1"/>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11"/>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306" name="Google Shape;306;p11"/>
          <p:cNvGrpSpPr/>
          <p:nvPr/>
        </p:nvGrpSpPr>
        <p:grpSpPr>
          <a:xfrm>
            <a:off x="-277108" y="9663467"/>
            <a:ext cx="18842215" cy="1249748"/>
            <a:chOff x="0" y="-85725"/>
            <a:chExt cx="4962559" cy="329151"/>
          </a:xfrm>
        </p:grpSpPr>
        <p:sp>
          <p:nvSpPr>
            <p:cNvPr id="307" name="Google Shape;307;p11"/>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308" name="Google Shape;308;p11"/>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9" name="Google Shape;309;p11"/>
          <p:cNvSpPr/>
          <p:nvPr/>
        </p:nvSpPr>
        <p:spPr>
          <a:xfrm>
            <a:off x="639402" y="2085097"/>
            <a:ext cx="8354006" cy="4521606"/>
          </a:xfrm>
          <a:custGeom>
            <a:rect b="b" l="l" r="r" t="t"/>
            <a:pathLst>
              <a:path extrusionOk="0" h="4521606" w="8354006">
                <a:moveTo>
                  <a:pt x="0" y="0"/>
                </a:moveTo>
                <a:lnTo>
                  <a:pt x="8354007" y="0"/>
                </a:lnTo>
                <a:lnTo>
                  <a:pt x="8354007" y="4521606"/>
                </a:lnTo>
                <a:lnTo>
                  <a:pt x="0" y="4521606"/>
                </a:lnTo>
                <a:lnTo>
                  <a:pt x="0" y="0"/>
                </a:lnTo>
                <a:close/>
              </a:path>
            </a:pathLst>
          </a:custGeom>
          <a:blipFill rotWithShape="1">
            <a:blip r:embed="rId4">
              <a:alphaModFix/>
            </a:blip>
            <a:stretch>
              <a:fillRect b="0" l="0" r="0" t="0"/>
            </a:stretch>
          </a:blipFill>
          <a:ln>
            <a:noFill/>
          </a:ln>
        </p:spPr>
      </p:sp>
      <p:sp>
        <p:nvSpPr>
          <p:cNvPr id="310" name="Google Shape;310;p11"/>
          <p:cNvSpPr/>
          <p:nvPr/>
        </p:nvSpPr>
        <p:spPr>
          <a:xfrm>
            <a:off x="9382823" y="2085097"/>
            <a:ext cx="7709276" cy="4911639"/>
          </a:xfrm>
          <a:custGeom>
            <a:rect b="b" l="l" r="r" t="t"/>
            <a:pathLst>
              <a:path extrusionOk="0" h="4911639" w="7709276">
                <a:moveTo>
                  <a:pt x="0" y="0"/>
                </a:moveTo>
                <a:lnTo>
                  <a:pt x="7709276" y="0"/>
                </a:lnTo>
                <a:lnTo>
                  <a:pt x="7709276" y="4911639"/>
                </a:lnTo>
                <a:lnTo>
                  <a:pt x="0" y="4911639"/>
                </a:lnTo>
                <a:lnTo>
                  <a:pt x="0" y="0"/>
                </a:lnTo>
                <a:close/>
              </a:path>
            </a:pathLst>
          </a:custGeom>
          <a:blipFill rotWithShape="1">
            <a:blip r:embed="rId5">
              <a:alphaModFix/>
            </a:blip>
            <a:stretch>
              <a:fillRect b="0" l="0" r="0" t="0"/>
            </a:stretch>
          </a:blipFill>
          <a:ln>
            <a:noFill/>
          </a:ln>
        </p:spPr>
      </p:sp>
      <p:sp>
        <p:nvSpPr>
          <p:cNvPr id="311" name="Google Shape;311;p11"/>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UML</a:t>
            </a:r>
            <a:endParaRPr b="0" i="0" sz="1400" u="none" cap="none" strike="noStrike">
              <a:solidFill>
                <a:srgbClr val="000000"/>
              </a:solidFill>
              <a:latin typeface="Arial"/>
              <a:ea typeface="Arial"/>
              <a:cs typeface="Arial"/>
              <a:sym typeface="Arial"/>
            </a:endParaRPr>
          </a:p>
        </p:txBody>
      </p:sp>
      <p:sp>
        <p:nvSpPr>
          <p:cNvPr id="312" name="Google Shape;312;p11"/>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316" name="Shape 316"/>
        <p:cNvGrpSpPr/>
        <p:nvPr/>
      </p:nvGrpSpPr>
      <p:grpSpPr>
        <a:xfrm>
          <a:off x="0" y="0"/>
          <a:ext cx="0" cy="0"/>
          <a:chOff x="0" y="0"/>
          <a:chExt cx="0" cy="0"/>
        </a:xfrm>
      </p:grpSpPr>
      <p:grpSp>
        <p:nvGrpSpPr>
          <p:cNvPr id="317" name="Google Shape;317;p12"/>
          <p:cNvGrpSpPr/>
          <p:nvPr/>
        </p:nvGrpSpPr>
        <p:grpSpPr>
          <a:xfrm>
            <a:off x="15160324" y="-2279391"/>
            <a:ext cx="3269773" cy="3308091"/>
            <a:chOff x="0" y="-9525"/>
            <a:chExt cx="812800" cy="822325"/>
          </a:xfrm>
        </p:grpSpPr>
        <p:sp>
          <p:nvSpPr>
            <p:cNvPr id="318" name="Google Shape;318;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0" name="Google Shape;320;p12"/>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321" name="Google Shape;321;p12"/>
          <p:cNvGrpSpPr/>
          <p:nvPr/>
        </p:nvGrpSpPr>
        <p:grpSpPr>
          <a:xfrm>
            <a:off x="-277108" y="9663467"/>
            <a:ext cx="18842215" cy="1249748"/>
            <a:chOff x="0" y="-85725"/>
            <a:chExt cx="4962559" cy="329151"/>
          </a:xfrm>
        </p:grpSpPr>
        <p:sp>
          <p:nvSpPr>
            <p:cNvPr id="322" name="Google Shape;322;p12"/>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323" name="Google Shape;323;p12"/>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4" name="Google Shape;324;p12"/>
          <p:cNvSpPr/>
          <p:nvPr/>
        </p:nvSpPr>
        <p:spPr>
          <a:xfrm>
            <a:off x="4702615" y="3993135"/>
            <a:ext cx="8030191" cy="5727501"/>
          </a:xfrm>
          <a:custGeom>
            <a:rect b="b" l="l" r="r" t="t"/>
            <a:pathLst>
              <a:path extrusionOk="0" h="5727501" w="8030191">
                <a:moveTo>
                  <a:pt x="0" y="0"/>
                </a:moveTo>
                <a:lnTo>
                  <a:pt x="8030191" y="0"/>
                </a:lnTo>
                <a:lnTo>
                  <a:pt x="8030191" y="5727502"/>
                </a:lnTo>
                <a:lnTo>
                  <a:pt x="0" y="5727502"/>
                </a:lnTo>
                <a:lnTo>
                  <a:pt x="0" y="0"/>
                </a:lnTo>
                <a:close/>
              </a:path>
            </a:pathLst>
          </a:custGeom>
          <a:blipFill rotWithShape="1">
            <a:blip r:embed="rId4">
              <a:alphaModFix/>
            </a:blip>
            <a:stretch>
              <a:fillRect b="0" l="0" r="0" t="0"/>
            </a:stretch>
          </a:blipFill>
          <a:ln>
            <a:noFill/>
          </a:ln>
        </p:spPr>
      </p:sp>
      <p:sp>
        <p:nvSpPr>
          <p:cNvPr id="325" name="Google Shape;325;p12"/>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CASO REAL</a:t>
            </a:r>
            <a:endParaRPr b="0" i="0" sz="1400" u="none" cap="none" strike="noStrike">
              <a:solidFill>
                <a:srgbClr val="000000"/>
              </a:solidFill>
              <a:latin typeface="Arial"/>
              <a:ea typeface="Arial"/>
              <a:cs typeface="Arial"/>
              <a:sym typeface="Arial"/>
            </a:endParaRPr>
          </a:p>
        </p:txBody>
      </p:sp>
      <p:sp>
        <p:nvSpPr>
          <p:cNvPr id="326" name="Google Shape;326;p12"/>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327" name="Google Shape;327;p12"/>
          <p:cNvSpPr txBox="1"/>
          <p:nvPr/>
        </p:nvSpPr>
        <p:spPr>
          <a:xfrm>
            <a:off x="1304347" y="1449198"/>
            <a:ext cx="15378020"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Mediante la implementación del patrón de diseño Adapter crearemos un adaptador que nos permite interactuar de forma homogénea entre dos API bancarías, las cuales nos permite aprobar créditos personales, sin embargo, las dos API proporcionadas por los bancos cuenta con interfaces diferentes y aunque su funcionamiento es prácticamente igual, las interfaces expuestas son diferentes, lo que implica tener dos implementaciones diferentes para procesar los préstamos con cada banco. Mediante este patrón crearemos un adaptador que permitirá ocultar la complejidad de cada implementación del API, exponiendo una única interface compatible con las dos API proporcionadas, además que dejáramos el camino preparado por si el día de mañana llegara una nueva API bancaría.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331" name="Shape 331"/>
        <p:cNvGrpSpPr/>
        <p:nvPr/>
      </p:nvGrpSpPr>
      <p:grpSpPr>
        <a:xfrm>
          <a:off x="0" y="0"/>
          <a:ext cx="0" cy="0"/>
          <a:chOff x="0" y="0"/>
          <a:chExt cx="0" cy="0"/>
        </a:xfrm>
      </p:grpSpPr>
      <p:grpSp>
        <p:nvGrpSpPr>
          <p:cNvPr id="332" name="Google Shape;332;p13"/>
          <p:cNvGrpSpPr/>
          <p:nvPr/>
        </p:nvGrpSpPr>
        <p:grpSpPr>
          <a:xfrm>
            <a:off x="15160324" y="-2279391"/>
            <a:ext cx="3269773" cy="3308091"/>
            <a:chOff x="0" y="-9525"/>
            <a:chExt cx="812800" cy="822325"/>
          </a:xfrm>
        </p:grpSpPr>
        <p:sp>
          <p:nvSpPr>
            <p:cNvPr id="333" name="Google Shape;333;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3"/>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5" name="Google Shape;335;p13"/>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336" name="Google Shape;336;p13"/>
          <p:cNvGrpSpPr/>
          <p:nvPr/>
        </p:nvGrpSpPr>
        <p:grpSpPr>
          <a:xfrm>
            <a:off x="-277108" y="9663467"/>
            <a:ext cx="18842215" cy="1249748"/>
            <a:chOff x="0" y="-85725"/>
            <a:chExt cx="4962559" cy="329151"/>
          </a:xfrm>
        </p:grpSpPr>
        <p:sp>
          <p:nvSpPr>
            <p:cNvPr id="337" name="Google Shape;337;p13"/>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338" name="Google Shape;338;p13"/>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9" name="Google Shape;339;p13"/>
          <p:cNvSpPr/>
          <p:nvPr/>
        </p:nvSpPr>
        <p:spPr>
          <a:xfrm>
            <a:off x="5606127" y="1235774"/>
            <a:ext cx="6408671" cy="7815453"/>
          </a:xfrm>
          <a:custGeom>
            <a:rect b="b" l="l" r="r" t="t"/>
            <a:pathLst>
              <a:path extrusionOk="0" h="7815453" w="6408671">
                <a:moveTo>
                  <a:pt x="0" y="0"/>
                </a:moveTo>
                <a:lnTo>
                  <a:pt x="6408671" y="0"/>
                </a:lnTo>
                <a:lnTo>
                  <a:pt x="6408671" y="7815452"/>
                </a:lnTo>
                <a:lnTo>
                  <a:pt x="0" y="7815452"/>
                </a:lnTo>
                <a:lnTo>
                  <a:pt x="0" y="0"/>
                </a:lnTo>
                <a:close/>
              </a:path>
            </a:pathLst>
          </a:custGeom>
          <a:blipFill rotWithShape="1">
            <a:blip r:embed="rId4">
              <a:alphaModFix/>
            </a:blip>
            <a:stretch>
              <a:fillRect b="0" l="0" r="0" t="0"/>
            </a:stretch>
          </a:blipFill>
          <a:ln>
            <a:noFill/>
          </a:ln>
        </p:spPr>
      </p:sp>
      <p:sp>
        <p:nvSpPr>
          <p:cNvPr id="340" name="Google Shape;340;p13"/>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FLUJO</a:t>
            </a:r>
            <a:endParaRPr b="0" i="0" sz="1400" u="none" cap="none" strike="noStrike">
              <a:solidFill>
                <a:srgbClr val="000000"/>
              </a:solidFill>
              <a:latin typeface="Arial"/>
              <a:ea typeface="Arial"/>
              <a:cs typeface="Arial"/>
              <a:sym typeface="Arial"/>
            </a:endParaRPr>
          </a:p>
        </p:txBody>
      </p:sp>
      <p:sp>
        <p:nvSpPr>
          <p:cNvPr id="341" name="Google Shape;341;p13"/>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345" name="Shape 345"/>
        <p:cNvGrpSpPr/>
        <p:nvPr/>
      </p:nvGrpSpPr>
      <p:grpSpPr>
        <a:xfrm>
          <a:off x="0" y="0"/>
          <a:ext cx="0" cy="0"/>
          <a:chOff x="0" y="0"/>
          <a:chExt cx="0" cy="0"/>
        </a:xfrm>
      </p:grpSpPr>
      <p:grpSp>
        <p:nvGrpSpPr>
          <p:cNvPr id="346" name="Google Shape;346;p14"/>
          <p:cNvGrpSpPr/>
          <p:nvPr/>
        </p:nvGrpSpPr>
        <p:grpSpPr>
          <a:xfrm>
            <a:off x="15160324" y="-2279391"/>
            <a:ext cx="3269773" cy="3308091"/>
            <a:chOff x="0" y="-9525"/>
            <a:chExt cx="812800" cy="822325"/>
          </a:xfrm>
        </p:grpSpPr>
        <p:sp>
          <p:nvSpPr>
            <p:cNvPr id="347" name="Google Shape;347;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4"/>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9" name="Google Shape;349;p14"/>
          <p:cNvGrpSpPr/>
          <p:nvPr/>
        </p:nvGrpSpPr>
        <p:grpSpPr>
          <a:xfrm>
            <a:off x="-277108" y="9663467"/>
            <a:ext cx="18842215" cy="1249748"/>
            <a:chOff x="0" y="-85725"/>
            <a:chExt cx="4962559" cy="329151"/>
          </a:xfrm>
        </p:grpSpPr>
        <p:sp>
          <p:nvSpPr>
            <p:cNvPr id="350" name="Google Shape;350;p14"/>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351" name="Google Shape;351;p14"/>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2" name="Google Shape;352;p14"/>
          <p:cNvSpPr txBox="1"/>
          <p:nvPr/>
        </p:nvSpPr>
        <p:spPr>
          <a:xfrm>
            <a:off x="748626" y="777384"/>
            <a:ext cx="80874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FFC61A"/>
                </a:solidFill>
                <a:latin typeface="Arial"/>
                <a:ea typeface="Arial"/>
                <a:cs typeface="Arial"/>
                <a:sym typeface="Arial"/>
              </a:rPr>
              <a:t>EJEMPLO PRÁCTICO</a:t>
            </a:r>
            <a:endParaRPr b="0" i="0" sz="1400" u="none" cap="none" strike="noStrike">
              <a:solidFill>
                <a:srgbClr val="000000"/>
              </a:solidFill>
              <a:latin typeface="Arial"/>
              <a:ea typeface="Arial"/>
              <a:cs typeface="Arial"/>
              <a:sym typeface="Arial"/>
            </a:endParaRPr>
          </a:p>
        </p:txBody>
      </p:sp>
      <p:sp>
        <p:nvSpPr>
          <p:cNvPr id="353" name="Google Shape;353;p14"/>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354" name="Google Shape;354;p14"/>
          <p:cNvSpPr txBox="1"/>
          <p:nvPr/>
        </p:nvSpPr>
        <p:spPr>
          <a:xfrm>
            <a:off x="748625" y="1802400"/>
            <a:ext cx="17221500" cy="7386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Tu app usa esta interfaz:</a:t>
            </a:r>
            <a:endParaRPr b="1" i="0" sz="1800" u="none" cap="none" strike="noStrike">
              <a:solidFill>
                <a:schemeClr val="dk1"/>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Roboto Mono"/>
                <a:ea typeface="Roboto Mono"/>
                <a:cs typeface="Roboto Mono"/>
                <a:sym typeface="Roboto Mono"/>
              </a:rPr>
              <a:t>IPago.cobrar(monto: number): boolean</a:t>
            </a:r>
            <a:br>
              <a:rPr b="1" i="0" lang="en-US" sz="1800" u="none" cap="none" strike="noStrike">
                <a:solidFill>
                  <a:schemeClr val="dk1"/>
                </a:solidFill>
                <a:latin typeface="Roboto Mono"/>
                <a:ea typeface="Roboto Mono"/>
                <a:cs typeface="Roboto Mono"/>
                <a:sym typeface="Roboto Mono"/>
              </a:rPr>
            </a:br>
            <a:endParaRPr b="1" i="0" sz="1800" u="none" cap="none" strike="noStrike">
              <a:solidFill>
                <a:schemeClr val="dk1"/>
              </a:solidFill>
              <a:latin typeface="Roboto Mono"/>
              <a:ea typeface="Roboto Mono"/>
              <a:cs typeface="Roboto Mono"/>
              <a:sym typeface="Roboto Mono"/>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Debes integrar una pasarela vieja que no puedes cambiar:</a:t>
            </a:r>
            <a:endParaRPr b="1" i="0" sz="1800" u="none" cap="none" strike="noStrike">
              <a:solidFill>
                <a:schemeClr val="dk1"/>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Roboto Mono"/>
                <a:ea typeface="Roboto Mono"/>
                <a:cs typeface="Roboto Mono"/>
                <a:sym typeface="Roboto Mono"/>
              </a:rPr>
              <a:t>OldGateway.processPayment(value: string): "OK" | "FAIL"</a:t>
            </a:r>
            <a:endParaRPr b="1" i="0" sz="1800" u="none" cap="none" strike="noStrike">
              <a:solidFill>
                <a:schemeClr val="dk1"/>
              </a:solidFill>
              <a:latin typeface="Roboto Mono"/>
              <a:ea typeface="Roboto Mono"/>
              <a:cs typeface="Roboto Mono"/>
              <a:sym typeface="Roboto Mono"/>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Tarea</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Crea </a:t>
            </a:r>
            <a:r>
              <a:rPr b="1" i="0" lang="en-US" sz="1800" u="none" cap="none" strike="noStrike">
                <a:solidFill>
                  <a:schemeClr val="dk1"/>
                </a:solidFill>
                <a:latin typeface="Roboto Mono"/>
                <a:ea typeface="Roboto Mono"/>
                <a:cs typeface="Roboto Mono"/>
                <a:sym typeface="Roboto Mono"/>
              </a:rPr>
              <a:t>OldGatewayAdapter</a:t>
            </a:r>
            <a:r>
              <a:rPr b="1" i="0" lang="en-US" sz="1800" u="none" cap="none" strike="noStrike">
                <a:solidFill>
                  <a:schemeClr val="dk1"/>
                </a:solidFill>
                <a:latin typeface="Arial"/>
                <a:ea typeface="Arial"/>
                <a:cs typeface="Arial"/>
                <a:sym typeface="Arial"/>
              </a:rPr>
              <a:t> que implemente </a:t>
            </a:r>
            <a:r>
              <a:rPr b="1" i="0" lang="en-US" sz="1800" u="none" cap="none" strike="noStrike">
                <a:solidFill>
                  <a:schemeClr val="dk1"/>
                </a:solidFill>
                <a:latin typeface="Roboto Mono"/>
                <a:ea typeface="Roboto Mono"/>
                <a:cs typeface="Roboto Mono"/>
                <a:sym typeface="Roboto Mono"/>
              </a:rPr>
              <a:t>IPago</a:t>
            </a:r>
            <a:r>
              <a:rPr b="1" i="0" lang="en-US" sz="1800" u="none" cap="none" strike="noStrike">
                <a:solidFill>
                  <a:schemeClr val="dk1"/>
                </a:solidFill>
                <a:latin typeface="Arial"/>
                <a:ea typeface="Arial"/>
                <a:cs typeface="Arial"/>
                <a:sym typeface="Arial"/>
              </a:rPr>
              <a:t> y, dentro de </a:t>
            </a:r>
            <a:r>
              <a:rPr b="1" i="0" lang="en-US" sz="1800" u="none" cap="none" strike="noStrike">
                <a:solidFill>
                  <a:schemeClr val="dk1"/>
                </a:solidFill>
                <a:latin typeface="Roboto Mono"/>
                <a:ea typeface="Roboto Mono"/>
                <a:cs typeface="Roboto Mono"/>
                <a:sym typeface="Roboto Mono"/>
              </a:rPr>
              <a:t>cobrar(monto)</a:t>
            </a:r>
            <a:r>
              <a:rPr b="1" i="0" lang="en-US" sz="1800" u="none" cap="none" strike="noStrike">
                <a:solidFill>
                  <a:schemeClr val="dk1"/>
                </a:solidFill>
                <a:latin typeface="Arial"/>
                <a:ea typeface="Arial"/>
                <a:cs typeface="Arial"/>
                <a:sym typeface="Arial"/>
              </a:rPr>
              <a:t>, haga:</a:t>
            </a:r>
            <a:endParaRPr b="1" i="0" sz="1800" u="none" cap="none" strike="noStrike">
              <a:solidFill>
                <a:schemeClr val="dk1"/>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Convertir </a:t>
            </a:r>
            <a:r>
              <a:rPr b="1" i="0" lang="en-US" sz="1800" u="none" cap="none" strike="noStrike">
                <a:solidFill>
                  <a:schemeClr val="dk1"/>
                </a:solidFill>
                <a:latin typeface="Roboto Mono"/>
                <a:ea typeface="Roboto Mono"/>
                <a:cs typeface="Roboto Mono"/>
                <a:sym typeface="Roboto Mono"/>
              </a:rPr>
              <a:t>monto</a:t>
            </a:r>
            <a:r>
              <a:rPr b="1" i="0" lang="en-US" sz="1800" u="none" cap="none" strike="noStrike">
                <a:solidFill>
                  <a:schemeClr val="dk1"/>
                </a:solidFill>
                <a:latin typeface="Arial"/>
                <a:ea typeface="Arial"/>
                <a:cs typeface="Arial"/>
                <a:sym typeface="Arial"/>
              </a:rPr>
              <a:t> (number) a string con dos decimales.</a:t>
            </a:r>
            <a:br>
              <a:rPr b="1" i="0" lang="en-US" sz="1800" u="none" cap="none" strike="noStrike">
                <a:solidFill>
                  <a:schemeClr val="dk1"/>
                </a:solidFill>
                <a:latin typeface="Arial"/>
                <a:ea typeface="Arial"/>
                <a:cs typeface="Arial"/>
                <a:sym typeface="Arial"/>
              </a:rPr>
            </a:br>
            <a:endParaRPr b="1"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Llamar a </a:t>
            </a:r>
            <a:r>
              <a:rPr b="1" i="0" lang="en-US" sz="1800" u="none" cap="none" strike="noStrike">
                <a:solidFill>
                  <a:schemeClr val="dk1"/>
                </a:solidFill>
                <a:latin typeface="Roboto Mono"/>
                <a:ea typeface="Roboto Mono"/>
                <a:cs typeface="Roboto Mono"/>
                <a:sym typeface="Roboto Mono"/>
              </a:rPr>
              <a:t>OldGateway.processPayment(value)</a:t>
            </a:r>
            <a:r>
              <a:rPr b="1" i="0" lang="en-US" sz="1800" u="none" cap="none" strike="noStrike">
                <a:solidFill>
                  <a:schemeClr val="dk1"/>
                </a:solidFill>
                <a:latin typeface="Arial"/>
                <a:ea typeface="Arial"/>
                <a:cs typeface="Arial"/>
                <a:sym typeface="Arial"/>
              </a:rPr>
              <a:t>.</a:t>
            </a:r>
            <a:br>
              <a:rPr b="1" i="0" lang="en-US" sz="1800" u="none" cap="none" strike="noStrike">
                <a:solidFill>
                  <a:schemeClr val="dk1"/>
                </a:solidFill>
                <a:latin typeface="Arial"/>
                <a:ea typeface="Arial"/>
                <a:cs typeface="Arial"/>
                <a:sym typeface="Arial"/>
              </a:rPr>
            </a:br>
            <a:endParaRPr b="1"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Devolver </a:t>
            </a:r>
            <a:r>
              <a:rPr b="1" i="0" lang="en-US" sz="1800" u="none" cap="none" strike="noStrike">
                <a:solidFill>
                  <a:schemeClr val="dk1"/>
                </a:solidFill>
                <a:latin typeface="Roboto Mono"/>
                <a:ea typeface="Roboto Mono"/>
                <a:cs typeface="Roboto Mono"/>
                <a:sym typeface="Roboto Mono"/>
              </a:rPr>
              <a:t>true</a:t>
            </a:r>
            <a:r>
              <a:rPr b="1" i="0" lang="en-US" sz="1800" u="none" cap="none" strike="noStrike">
                <a:solidFill>
                  <a:schemeClr val="dk1"/>
                </a:solidFill>
                <a:latin typeface="Arial"/>
                <a:ea typeface="Arial"/>
                <a:cs typeface="Arial"/>
                <a:sym typeface="Arial"/>
              </a:rPr>
              <a:t> si la respuesta es </a:t>
            </a:r>
            <a:r>
              <a:rPr b="1" i="0" lang="en-US" sz="1800" u="none" cap="none" strike="noStrike">
                <a:solidFill>
                  <a:schemeClr val="dk1"/>
                </a:solidFill>
                <a:latin typeface="Roboto Mono"/>
                <a:ea typeface="Roboto Mono"/>
                <a:cs typeface="Roboto Mono"/>
                <a:sym typeface="Roboto Mono"/>
              </a:rPr>
              <a:t>"OK"</a:t>
            </a:r>
            <a:r>
              <a:rPr b="1" i="0" lang="en-US" sz="1800" u="none" cap="none" strike="noStrike">
                <a:solidFill>
                  <a:schemeClr val="dk1"/>
                </a:solidFill>
                <a:latin typeface="Arial"/>
                <a:ea typeface="Arial"/>
                <a:cs typeface="Arial"/>
                <a:sym typeface="Arial"/>
              </a:rPr>
              <a:t>, y </a:t>
            </a:r>
            <a:r>
              <a:rPr b="1" i="0" lang="en-US" sz="1800" u="none" cap="none" strike="noStrike">
                <a:solidFill>
                  <a:schemeClr val="dk1"/>
                </a:solidFill>
                <a:latin typeface="Roboto Mono"/>
                <a:ea typeface="Roboto Mono"/>
                <a:cs typeface="Roboto Mono"/>
                <a:sym typeface="Roboto Mono"/>
              </a:rPr>
              <a:t>false</a:t>
            </a:r>
            <a:r>
              <a:rPr b="1" i="0" lang="en-US" sz="1800" u="none" cap="none" strike="noStrike">
                <a:solidFill>
                  <a:schemeClr val="dk1"/>
                </a:solidFill>
                <a:latin typeface="Arial"/>
                <a:ea typeface="Arial"/>
                <a:cs typeface="Arial"/>
                <a:sym typeface="Arial"/>
              </a:rPr>
              <a:t> si es </a:t>
            </a:r>
            <a:r>
              <a:rPr b="1" i="0" lang="en-US" sz="1800" u="none" cap="none" strike="noStrike">
                <a:solidFill>
                  <a:schemeClr val="dk1"/>
                </a:solidFill>
                <a:latin typeface="Roboto Mono"/>
                <a:ea typeface="Roboto Mono"/>
                <a:cs typeface="Roboto Mono"/>
                <a:sym typeface="Roboto Mono"/>
              </a:rPr>
              <a:t>"FAIL"</a:t>
            </a:r>
            <a:r>
              <a:rPr b="1" i="0" lang="en-US" sz="1800" u="none" cap="none" strike="noStrike">
                <a:solidFill>
                  <a:schemeClr val="dk1"/>
                </a:solidFill>
                <a:latin typeface="Arial"/>
                <a:ea typeface="Arial"/>
                <a:cs typeface="Arial"/>
                <a:sym typeface="Arial"/>
              </a:rPr>
              <a:t>.</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Regla extra</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Si </a:t>
            </a:r>
            <a:r>
              <a:rPr b="1" i="0" lang="en-US" sz="1800" u="none" cap="none" strike="noStrike">
                <a:solidFill>
                  <a:schemeClr val="dk1"/>
                </a:solidFill>
                <a:latin typeface="Roboto Mono"/>
                <a:ea typeface="Roboto Mono"/>
                <a:cs typeface="Roboto Mono"/>
                <a:sym typeface="Roboto Mono"/>
              </a:rPr>
              <a:t>monto &lt;= 0</a:t>
            </a:r>
            <a:r>
              <a:rPr b="1" i="0" lang="en-US" sz="1800" u="none" cap="none" strike="noStrike">
                <a:solidFill>
                  <a:schemeClr val="dk1"/>
                </a:solidFill>
                <a:latin typeface="Arial"/>
                <a:ea typeface="Arial"/>
                <a:cs typeface="Arial"/>
                <a:sym typeface="Arial"/>
              </a:rPr>
              <a:t>, devolver </a:t>
            </a:r>
            <a:r>
              <a:rPr b="1" i="0" lang="en-US" sz="1800" u="none" cap="none" strike="noStrike">
                <a:solidFill>
                  <a:schemeClr val="dk1"/>
                </a:solidFill>
                <a:latin typeface="Roboto Mono"/>
                <a:ea typeface="Roboto Mono"/>
                <a:cs typeface="Roboto Mono"/>
                <a:sym typeface="Roboto Mono"/>
              </a:rPr>
              <a:t>false</a:t>
            </a:r>
            <a:r>
              <a:rPr b="1" i="0" lang="en-US" sz="1800" u="none" cap="none" strike="noStrike">
                <a:solidFill>
                  <a:schemeClr val="dk1"/>
                </a:solidFill>
                <a:latin typeface="Arial"/>
                <a:ea typeface="Arial"/>
                <a:cs typeface="Arial"/>
                <a:sym typeface="Arial"/>
              </a:rPr>
              <a:t> sin llamar a la pasarela.</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Criterio de aceptación</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El resto del sistema sigue usando solo </a:t>
            </a:r>
            <a:r>
              <a:rPr b="1" i="0" lang="en-US" sz="1800" u="none" cap="none" strike="noStrike">
                <a:solidFill>
                  <a:schemeClr val="dk1"/>
                </a:solidFill>
                <a:latin typeface="Roboto Mono"/>
                <a:ea typeface="Roboto Mono"/>
                <a:cs typeface="Roboto Mono"/>
                <a:sym typeface="Roboto Mono"/>
              </a:rPr>
              <a:t>IPago</a:t>
            </a:r>
            <a:r>
              <a:rPr b="1" i="0" lang="en-US" sz="1800" u="none" cap="none" strike="noStrike">
                <a:solidFill>
                  <a:schemeClr val="dk1"/>
                </a:solidFill>
                <a:latin typeface="Arial"/>
                <a:ea typeface="Arial"/>
                <a:cs typeface="Arial"/>
                <a:sym typeface="Arial"/>
              </a:rPr>
              <a:t>. Al inyectar el adaptador, </a:t>
            </a:r>
            <a:r>
              <a:rPr b="1" i="0" lang="en-US" sz="1800" u="none" cap="none" strike="noStrike">
                <a:solidFill>
                  <a:schemeClr val="dk1"/>
                </a:solidFill>
                <a:latin typeface="Roboto Mono"/>
                <a:ea typeface="Roboto Mono"/>
                <a:cs typeface="Roboto Mono"/>
                <a:sym typeface="Roboto Mono"/>
              </a:rPr>
              <a:t>cobrar(199.99)</a:t>
            </a:r>
            <a:r>
              <a:rPr b="1" i="0" lang="en-US" sz="1800" u="none" cap="none" strike="noStrike">
                <a:solidFill>
                  <a:schemeClr val="dk1"/>
                </a:solidFill>
                <a:latin typeface="Arial"/>
                <a:ea typeface="Arial"/>
                <a:cs typeface="Arial"/>
                <a:sym typeface="Arial"/>
              </a:rPr>
              <a:t> termina llamando internamente </a:t>
            </a:r>
            <a:r>
              <a:rPr b="1" i="0" lang="en-US" sz="1800" u="none" cap="none" strike="noStrike">
                <a:solidFill>
                  <a:schemeClr val="dk1"/>
                </a:solidFill>
                <a:latin typeface="Roboto Mono"/>
                <a:ea typeface="Roboto Mono"/>
                <a:cs typeface="Roboto Mono"/>
                <a:sym typeface="Roboto Mono"/>
              </a:rPr>
              <a:t>processPayment("199.99")</a:t>
            </a:r>
            <a:r>
              <a:rPr b="1" i="0" lang="en-US" sz="1800" u="none" cap="none" strike="noStrike">
                <a:solidFill>
                  <a:schemeClr val="dk1"/>
                </a:solidFill>
                <a:latin typeface="Arial"/>
                <a:ea typeface="Arial"/>
                <a:cs typeface="Arial"/>
                <a:sym typeface="Arial"/>
              </a:rPr>
              <a:t> y retorna </a:t>
            </a:r>
            <a:r>
              <a:rPr b="1" i="0" lang="en-US" sz="1800" u="none" cap="none" strike="noStrike">
                <a:solidFill>
                  <a:schemeClr val="dk1"/>
                </a:solidFill>
                <a:latin typeface="Roboto Mono"/>
                <a:ea typeface="Roboto Mono"/>
                <a:cs typeface="Roboto Mono"/>
                <a:sym typeface="Roboto Mono"/>
              </a:rPr>
              <a:t>true</a:t>
            </a:r>
            <a:r>
              <a:rPr b="1" i="0" lang="en-US" sz="1800" u="none" cap="none" strike="noStrike">
                <a:solidFill>
                  <a:schemeClr val="dk1"/>
                </a:solidFill>
                <a:latin typeface="Arial"/>
                <a:ea typeface="Arial"/>
                <a:cs typeface="Arial"/>
                <a:sym typeface="Arial"/>
              </a:rPr>
              <a:t>.</a:t>
            </a:r>
            <a:endParaRPr b="1" i="0" sz="1800" u="none" cap="none" strike="noStrike">
              <a:solidFill>
                <a:schemeClr val="dk1"/>
              </a:solidFill>
              <a:latin typeface="Arial"/>
              <a:ea typeface="Arial"/>
              <a:cs typeface="Arial"/>
              <a:sym typeface="Arial"/>
            </a:endParaRPr>
          </a:p>
          <a:p>
            <a:pPr indent="0" lvl="0" marL="0" marR="0" rtl="0" algn="ctr">
              <a:lnSpc>
                <a:spcPct val="140031"/>
              </a:lnSpc>
              <a:spcBef>
                <a:spcPts val="12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61A"/>
        </a:solidFill>
      </p:bgPr>
    </p:bg>
    <p:spTree>
      <p:nvGrpSpPr>
        <p:cNvPr id="358" name="Shape 358"/>
        <p:cNvGrpSpPr/>
        <p:nvPr/>
      </p:nvGrpSpPr>
      <p:grpSpPr>
        <a:xfrm>
          <a:off x="0" y="0"/>
          <a:ext cx="0" cy="0"/>
          <a:chOff x="0" y="0"/>
          <a:chExt cx="0" cy="0"/>
        </a:xfrm>
      </p:grpSpPr>
      <p:grpSp>
        <p:nvGrpSpPr>
          <p:cNvPr id="359" name="Google Shape;359;p15"/>
          <p:cNvGrpSpPr/>
          <p:nvPr/>
        </p:nvGrpSpPr>
        <p:grpSpPr>
          <a:xfrm>
            <a:off x="-1474556" y="-715567"/>
            <a:ext cx="6686550" cy="6764908"/>
            <a:chOff x="0" y="-9525"/>
            <a:chExt cx="812800" cy="822325"/>
          </a:xfrm>
        </p:grpSpPr>
        <p:sp>
          <p:nvSpPr>
            <p:cNvPr id="360" name="Google Shape;360;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5"/>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2" name="Google Shape;362;p15"/>
          <p:cNvSpPr/>
          <p:nvPr/>
        </p:nvSpPr>
        <p:spPr>
          <a:xfrm>
            <a:off x="10875927" y="2569942"/>
            <a:ext cx="10791977" cy="10791977"/>
          </a:xfrm>
          <a:custGeom>
            <a:rect b="b" l="l" r="r" t="t"/>
            <a:pathLst>
              <a:path extrusionOk="0" h="10791977" w="10791977">
                <a:moveTo>
                  <a:pt x="0" y="0"/>
                </a:moveTo>
                <a:lnTo>
                  <a:pt x="10791977" y="0"/>
                </a:lnTo>
                <a:lnTo>
                  <a:pt x="10791977" y="10791977"/>
                </a:lnTo>
                <a:lnTo>
                  <a:pt x="0" y="10791977"/>
                </a:lnTo>
                <a:lnTo>
                  <a:pt x="0" y="0"/>
                </a:lnTo>
                <a:close/>
              </a:path>
            </a:pathLst>
          </a:custGeom>
          <a:blipFill rotWithShape="1">
            <a:blip r:embed="rId3">
              <a:alphaModFix amt="13000"/>
            </a:blip>
            <a:stretch>
              <a:fillRect b="0" l="0" r="0" t="0"/>
            </a:stretch>
          </a:blipFill>
          <a:ln>
            <a:noFill/>
          </a:ln>
        </p:spPr>
      </p:sp>
      <p:grpSp>
        <p:nvGrpSpPr>
          <p:cNvPr id="363" name="Google Shape;363;p15"/>
          <p:cNvGrpSpPr/>
          <p:nvPr/>
        </p:nvGrpSpPr>
        <p:grpSpPr>
          <a:xfrm>
            <a:off x="-277108" y="-787617"/>
            <a:ext cx="18842215" cy="958053"/>
            <a:chOff x="0" y="-85725"/>
            <a:chExt cx="4962559" cy="252327"/>
          </a:xfrm>
        </p:grpSpPr>
        <p:sp>
          <p:nvSpPr>
            <p:cNvPr id="364" name="Google Shape;364;p15"/>
            <p:cNvSpPr/>
            <p:nvPr/>
          </p:nvSpPr>
          <p:spPr>
            <a:xfrm>
              <a:off x="0" y="0"/>
              <a:ext cx="4962559" cy="166602"/>
            </a:xfrm>
            <a:custGeom>
              <a:rect b="b" l="l" r="r" t="t"/>
              <a:pathLst>
                <a:path extrusionOk="0" h="166602" w="4962559">
                  <a:moveTo>
                    <a:pt x="0" y="0"/>
                  </a:moveTo>
                  <a:lnTo>
                    <a:pt x="4962559" y="0"/>
                  </a:lnTo>
                  <a:lnTo>
                    <a:pt x="4962559" y="166602"/>
                  </a:lnTo>
                  <a:lnTo>
                    <a:pt x="0" y="166602"/>
                  </a:lnTo>
                  <a:close/>
                </a:path>
              </a:pathLst>
            </a:custGeom>
            <a:solidFill>
              <a:srgbClr val="000000"/>
            </a:solidFill>
            <a:ln>
              <a:noFill/>
            </a:ln>
          </p:spPr>
        </p:sp>
        <p:sp>
          <p:nvSpPr>
            <p:cNvPr id="365" name="Google Shape;365;p15"/>
            <p:cNvSpPr txBox="1"/>
            <p:nvPr/>
          </p:nvSpPr>
          <p:spPr>
            <a:xfrm>
              <a:off x="0" y="-85725"/>
              <a:ext cx="4962559" cy="2523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6" name="Google Shape;366;p15"/>
          <p:cNvGrpSpPr/>
          <p:nvPr/>
        </p:nvGrpSpPr>
        <p:grpSpPr>
          <a:xfrm>
            <a:off x="-124708" y="9713812"/>
            <a:ext cx="18842215" cy="941555"/>
            <a:chOff x="0" y="-85725"/>
            <a:chExt cx="4962559" cy="247981"/>
          </a:xfrm>
        </p:grpSpPr>
        <p:sp>
          <p:nvSpPr>
            <p:cNvPr id="367" name="Google Shape;367;p15"/>
            <p:cNvSpPr/>
            <p:nvPr/>
          </p:nvSpPr>
          <p:spPr>
            <a:xfrm>
              <a:off x="0" y="0"/>
              <a:ext cx="4962559" cy="162256"/>
            </a:xfrm>
            <a:custGeom>
              <a:rect b="b" l="l" r="r" t="t"/>
              <a:pathLst>
                <a:path extrusionOk="0" h="162256" w="4962559">
                  <a:moveTo>
                    <a:pt x="0" y="0"/>
                  </a:moveTo>
                  <a:lnTo>
                    <a:pt x="4962559" y="0"/>
                  </a:lnTo>
                  <a:lnTo>
                    <a:pt x="4962559" y="162256"/>
                  </a:lnTo>
                  <a:lnTo>
                    <a:pt x="0" y="162256"/>
                  </a:lnTo>
                  <a:close/>
                </a:path>
              </a:pathLst>
            </a:custGeom>
            <a:solidFill>
              <a:srgbClr val="000000"/>
            </a:solidFill>
            <a:ln>
              <a:noFill/>
            </a:ln>
          </p:spPr>
        </p:sp>
        <p:sp>
          <p:nvSpPr>
            <p:cNvPr id="368" name="Google Shape;368;p15"/>
            <p:cNvSpPr txBox="1"/>
            <p:nvPr/>
          </p:nvSpPr>
          <p:spPr>
            <a:xfrm>
              <a:off x="0" y="-85725"/>
              <a:ext cx="4962559" cy="24798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9" name="Google Shape;369;p15"/>
          <p:cNvSpPr txBox="1"/>
          <p:nvPr/>
        </p:nvSpPr>
        <p:spPr>
          <a:xfrm>
            <a:off x="4848225" y="3706191"/>
            <a:ext cx="7315990" cy="2045224"/>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11999"/>
              <a:buFont typeface="Arial"/>
              <a:buNone/>
            </a:pPr>
            <a:r>
              <a:rPr b="1" i="0" lang="en-US" sz="11999" u="none" cap="none" strike="noStrike">
                <a:solidFill>
                  <a:srgbClr val="000000"/>
                </a:solidFill>
                <a:latin typeface="Arial"/>
                <a:ea typeface="Arial"/>
                <a:cs typeface="Arial"/>
                <a:sym typeface="Arial"/>
              </a:rPr>
              <a:t>PROXY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373" name="Shape 373"/>
        <p:cNvGrpSpPr/>
        <p:nvPr/>
      </p:nvGrpSpPr>
      <p:grpSpPr>
        <a:xfrm>
          <a:off x="0" y="0"/>
          <a:ext cx="0" cy="0"/>
          <a:chOff x="0" y="0"/>
          <a:chExt cx="0" cy="0"/>
        </a:xfrm>
      </p:grpSpPr>
      <p:grpSp>
        <p:nvGrpSpPr>
          <p:cNvPr id="374" name="Google Shape;374;p16"/>
          <p:cNvGrpSpPr/>
          <p:nvPr/>
        </p:nvGrpSpPr>
        <p:grpSpPr>
          <a:xfrm>
            <a:off x="12639155" y="-839837"/>
            <a:ext cx="6233896" cy="11290922"/>
            <a:chOff x="0" y="-85725"/>
            <a:chExt cx="1641849" cy="2973741"/>
          </a:xfrm>
        </p:grpSpPr>
        <p:sp>
          <p:nvSpPr>
            <p:cNvPr id="375" name="Google Shape;375;p16"/>
            <p:cNvSpPr/>
            <p:nvPr/>
          </p:nvSpPr>
          <p:spPr>
            <a:xfrm>
              <a:off x="0" y="0"/>
              <a:ext cx="1641849" cy="2888016"/>
            </a:xfrm>
            <a:custGeom>
              <a:rect b="b" l="l" r="r" t="t"/>
              <a:pathLst>
                <a:path extrusionOk="0" h="2888016" w="1641849">
                  <a:moveTo>
                    <a:pt x="0" y="0"/>
                  </a:moveTo>
                  <a:lnTo>
                    <a:pt x="1641849" y="0"/>
                  </a:lnTo>
                  <a:lnTo>
                    <a:pt x="1641849" y="2888016"/>
                  </a:lnTo>
                  <a:lnTo>
                    <a:pt x="0" y="2888016"/>
                  </a:lnTo>
                  <a:close/>
                </a:path>
              </a:pathLst>
            </a:custGeom>
            <a:solidFill>
              <a:srgbClr val="FFC61A"/>
            </a:solidFill>
            <a:ln>
              <a:noFill/>
            </a:ln>
          </p:spPr>
        </p:sp>
        <p:sp>
          <p:nvSpPr>
            <p:cNvPr id="376" name="Google Shape;376;p16"/>
            <p:cNvSpPr txBox="1"/>
            <p:nvPr/>
          </p:nvSpPr>
          <p:spPr>
            <a:xfrm>
              <a:off x="0" y="-85725"/>
              <a:ext cx="1641849" cy="297374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7" name="Google Shape;377;p16"/>
          <p:cNvGrpSpPr/>
          <p:nvPr/>
        </p:nvGrpSpPr>
        <p:grpSpPr>
          <a:xfrm>
            <a:off x="15160324" y="-2279391"/>
            <a:ext cx="3269773" cy="3308091"/>
            <a:chOff x="0" y="-9525"/>
            <a:chExt cx="812800" cy="822325"/>
          </a:xfrm>
        </p:grpSpPr>
        <p:sp>
          <p:nvSpPr>
            <p:cNvPr id="378" name="Google Shape;378;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6"/>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0" name="Google Shape;380;p16"/>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381" name="Google Shape;381;p16"/>
          <p:cNvGrpSpPr/>
          <p:nvPr/>
        </p:nvGrpSpPr>
        <p:grpSpPr>
          <a:xfrm>
            <a:off x="-277108" y="9663467"/>
            <a:ext cx="18842215" cy="1249748"/>
            <a:chOff x="0" y="-85725"/>
            <a:chExt cx="4962559" cy="329151"/>
          </a:xfrm>
        </p:grpSpPr>
        <p:sp>
          <p:nvSpPr>
            <p:cNvPr id="382" name="Google Shape;382;p16"/>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383" name="Google Shape;383;p16"/>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4" name="Google Shape;384;p16"/>
          <p:cNvSpPr/>
          <p:nvPr/>
        </p:nvSpPr>
        <p:spPr>
          <a:xfrm>
            <a:off x="10240031" y="1601469"/>
            <a:ext cx="7019269" cy="7019240"/>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alphaModFix/>
            </a:blip>
            <a:stretch>
              <a:fillRect b="0" l="-30172" r="-30172"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6"/>
          <p:cNvSpPr txBox="1"/>
          <p:nvPr/>
        </p:nvSpPr>
        <p:spPr>
          <a:xfrm>
            <a:off x="427379" y="2577653"/>
            <a:ext cx="7600950"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1" i="0" lang="en-US" sz="1899" u="none" cap="none" strike="noStrike">
                <a:solidFill>
                  <a:srgbClr val="000000"/>
                </a:solidFill>
                <a:latin typeface="Arial"/>
                <a:ea typeface="Arial"/>
                <a:cs typeface="Arial"/>
                <a:sym typeface="Arial"/>
              </a:rPr>
              <a:t>Estructura del Patrón</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1"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La estructura del proxy generalmente involucra cuatro componentes clave:</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grpSp>
        <p:nvGrpSpPr>
          <p:cNvPr id="386" name="Google Shape;386;p16"/>
          <p:cNvGrpSpPr/>
          <p:nvPr/>
        </p:nvGrpSpPr>
        <p:grpSpPr>
          <a:xfrm>
            <a:off x="427379" y="4485648"/>
            <a:ext cx="3707565" cy="2441733"/>
            <a:chOff x="0" y="-85725"/>
            <a:chExt cx="976478" cy="643090"/>
          </a:xfrm>
        </p:grpSpPr>
        <p:sp>
          <p:nvSpPr>
            <p:cNvPr id="387" name="Google Shape;387;p16"/>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6"/>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9" name="Google Shape;389;p16"/>
          <p:cNvGrpSpPr/>
          <p:nvPr/>
        </p:nvGrpSpPr>
        <p:grpSpPr>
          <a:xfrm>
            <a:off x="1560300" y="4073379"/>
            <a:ext cx="1441724" cy="1458619"/>
            <a:chOff x="0" y="-9525"/>
            <a:chExt cx="812800" cy="822325"/>
          </a:xfrm>
        </p:grpSpPr>
        <p:sp>
          <p:nvSpPr>
            <p:cNvPr id="390" name="Google Shape;390;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6"/>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2" name="Google Shape;392;p16"/>
          <p:cNvGrpSpPr/>
          <p:nvPr/>
        </p:nvGrpSpPr>
        <p:grpSpPr>
          <a:xfrm>
            <a:off x="4767245" y="4508818"/>
            <a:ext cx="3707565" cy="2441733"/>
            <a:chOff x="0" y="-85725"/>
            <a:chExt cx="976478" cy="643090"/>
          </a:xfrm>
        </p:grpSpPr>
        <p:sp>
          <p:nvSpPr>
            <p:cNvPr id="393" name="Google Shape;393;p16"/>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6"/>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5" name="Google Shape;395;p16"/>
          <p:cNvGrpSpPr/>
          <p:nvPr/>
        </p:nvGrpSpPr>
        <p:grpSpPr>
          <a:xfrm>
            <a:off x="5900165" y="4096549"/>
            <a:ext cx="1441724" cy="1458619"/>
            <a:chOff x="0" y="-9525"/>
            <a:chExt cx="812800" cy="822325"/>
          </a:xfrm>
        </p:grpSpPr>
        <p:sp>
          <p:nvSpPr>
            <p:cNvPr id="396" name="Google Shape;396;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6"/>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8" name="Google Shape;398;p16"/>
          <p:cNvGrpSpPr/>
          <p:nvPr/>
        </p:nvGrpSpPr>
        <p:grpSpPr>
          <a:xfrm>
            <a:off x="457124" y="7322756"/>
            <a:ext cx="3648075" cy="2441733"/>
            <a:chOff x="0" y="-85725"/>
            <a:chExt cx="960810" cy="643090"/>
          </a:xfrm>
        </p:grpSpPr>
        <p:sp>
          <p:nvSpPr>
            <p:cNvPr id="399" name="Google Shape;399;p16"/>
            <p:cNvSpPr/>
            <p:nvPr/>
          </p:nvSpPr>
          <p:spPr>
            <a:xfrm>
              <a:off x="0" y="0"/>
              <a:ext cx="960810" cy="557365"/>
            </a:xfrm>
            <a:custGeom>
              <a:rect b="b" l="l" r="r" t="t"/>
              <a:pathLst>
                <a:path extrusionOk="0" h="557365" w="960810">
                  <a:moveTo>
                    <a:pt x="76399" y="0"/>
                  </a:moveTo>
                  <a:lnTo>
                    <a:pt x="884411" y="0"/>
                  </a:lnTo>
                  <a:cubicBezTo>
                    <a:pt x="926605" y="0"/>
                    <a:pt x="960810" y="34205"/>
                    <a:pt x="960810" y="76399"/>
                  </a:cubicBezTo>
                  <a:lnTo>
                    <a:pt x="960810" y="480966"/>
                  </a:lnTo>
                  <a:cubicBezTo>
                    <a:pt x="960810" y="523160"/>
                    <a:pt x="926605" y="557365"/>
                    <a:pt x="884411" y="557365"/>
                  </a:cubicBezTo>
                  <a:lnTo>
                    <a:pt x="76399" y="557365"/>
                  </a:lnTo>
                  <a:cubicBezTo>
                    <a:pt x="34205" y="557365"/>
                    <a:pt x="0" y="523160"/>
                    <a:pt x="0" y="480966"/>
                  </a:cubicBezTo>
                  <a:lnTo>
                    <a:pt x="0" y="76399"/>
                  </a:lnTo>
                  <a:cubicBezTo>
                    <a:pt x="0" y="34205"/>
                    <a:pt x="34205" y="0"/>
                    <a:pt x="76399"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6"/>
            <p:cNvSpPr txBox="1"/>
            <p:nvPr/>
          </p:nvSpPr>
          <p:spPr>
            <a:xfrm>
              <a:off x="0" y="-85725"/>
              <a:ext cx="960810"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1" name="Google Shape;401;p16"/>
          <p:cNvGrpSpPr/>
          <p:nvPr/>
        </p:nvGrpSpPr>
        <p:grpSpPr>
          <a:xfrm>
            <a:off x="1571866" y="6910486"/>
            <a:ext cx="1418590" cy="1458619"/>
            <a:chOff x="0" y="-9525"/>
            <a:chExt cx="799758" cy="822325"/>
          </a:xfrm>
        </p:grpSpPr>
        <p:sp>
          <p:nvSpPr>
            <p:cNvPr id="402" name="Google Shape;402;p16"/>
            <p:cNvSpPr/>
            <p:nvPr/>
          </p:nvSpPr>
          <p:spPr>
            <a:xfrm>
              <a:off x="0" y="0"/>
              <a:ext cx="799758" cy="812800"/>
            </a:xfrm>
            <a:custGeom>
              <a:rect b="b" l="l" r="r" t="t"/>
              <a:pathLst>
                <a:path extrusionOk="0" h="812800" w="799758">
                  <a:moveTo>
                    <a:pt x="399879" y="0"/>
                  </a:moveTo>
                  <a:cubicBezTo>
                    <a:pt x="179032" y="0"/>
                    <a:pt x="0" y="181951"/>
                    <a:pt x="0" y="406400"/>
                  </a:cubicBezTo>
                  <a:cubicBezTo>
                    <a:pt x="0" y="630849"/>
                    <a:pt x="179032" y="812800"/>
                    <a:pt x="399879" y="812800"/>
                  </a:cubicBezTo>
                  <a:cubicBezTo>
                    <a:pt x="620726" y="812800"/>
                    <a:pt x="799758" y="630849"/>
                    <a:pt x="799758" y="406400"/>
                  </a:cubicBezTo>
                  <a:cubicBezTo>
                    <a:pt x="799758" y="181951"/>
                    <a:pt x="620726" y="0"/>
                    <a:pt x="399879"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6"/>
            <p:cNvSpPr txBox="1"/>
            <p:nvPr/>
          </p:nvSpPr>
          <p:spPr>
            <a:xfrm>
              <a:off x="74977" y="-9525"/>
              <a:ext cx="649804"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4" name="Google Shape;404;p16"/>
          <p:cNvGrpSpPr/>
          <p:nvPr/>
        </p:nvGrpSpPr>
        <p:grpSpPr>
          <a:xfrm>
            <a:off x="4767245" y="7322756"/>
            <a:ext cx="3707565" cy="2441733"/>
            <a:chOff x="0" y="-85725"/>
            <a:chExt cx="976478" cy="643090"/>
          </a:xfrm>
        </p:grpSpPr>
        <p:sp>
          <p:nvSpPr>
            <p:cNvPr id="405" name="Google Shape;405;p16"/>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6"/>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7" name="Google Shape;407;p16"/>
          <p:cNvGrpSpPr/>
          <p:nvPr/>
        </p:nvGrpSpPr>
        <p:grpSpPr>
          <a:xfrm>
            <a:off x="5900165" y="6910486"/>
            <a:ext cx="1441724" cy="1458619"/>
            <a:chOff x="0" y="-9525"/>
            <a:chExt cx="812800" cy="822325"/>
          </a:xfrm>
        </p:grpSpPr>
        <p:sp>
          <p:nvSpPr>
            <p:cNvPr id="408" name="Google Shape;408;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6"/>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0" name="Google Shape;410;p16"/>
          <p:cNvSpPr txBox="1"/>
          <p:nvPr/>
        </p:nvSpPr>
        <p:spPr>
          <a:xfrm>
            <a:off x="1598671" y="368259"/>
            <a:ext cx="11674978" cy="596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1" i="0" lang="en-US" sz="3500" u="none" cap="none" strike="noStrike">
                <a:solidFill>
                  <a:srgbClr val="000000"/>
                </a:solidFill>
                <a:latin typeface="Arial"/>
                <a:ea typeface="Arial"/>
                <a:cs typeface="Arial"/>
                <a:sym typeface="Arial"/>
              </a:rPr>
              <a:t>PROXY</a:t>
            </a:r>
            <a:endParaRPr b="0" i="0" sz="1400" u="none" cap="none" strike="noStrike">
              <a:solidFill>
                <a:srgbClr val="000000"/>
              </a:solidFill>
              <a:latin typeface="Arial"/>
              <a:ea typeface="Arial"/>
              <a:cs typeface="Arial"/>
              <a:sym typeface="Arial"/>
            </a:endParaRPr>
          </a:p>
        </p:txBody>
      </p:sp>
      <p:sp>
        <p:nvSpPr>
          <p:cNvPr id="411" name="Google Shape;411;p16"/>
          <p:cNvSpPr txBox="1"/>
          <p:nvPr/>
        </p:nvSpPr>
        <p:spPr>
          <a:xfrm>
            <a:off x="427379" y="1153795"/>
            <a:ext cx="10013013" cy="131381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El patrón Proxy es un patrón estructural que actúa como un sustituto o marcador de posición para otro objeto, permitiendo controlar el acceso a este. En lugar de interactuar directamente con el objeto real, el cliente interactúa con el proxy, que a su vez delega la petición al objeto real en el momento y la forma correctos.</a:t>
            </a:r>
            <a:endParaRPr b="0" i="0" sz="1400" u="none" cap="none" strike="noStrike">
              <a:solidFill>
                <a:srgbClr val="000000"/>
              </a:solidFill>
              <a:latin typeface="Arial"/>
              <a:ea typeface="Arial"/>
              <a:cs typeface="Arial"/>
              <a:sym typeface="Arial"/>
            </a:endParaRPr>
          </a:p>
        </p:txBody>
      </p:sp>
      <p:sp>
        <p:nvSpPr>
          <p:cNvPr id="412" name="Google Shape;412;p16"/>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413" name="Google Shape;413;p16"/>
          <p:cNvSpPr txBox="1"/>
          <p:nvPr/>
        </p:nvSpPr>
        <p:spPr>
          <a:xfrm>
            <a:off x="823296" y="4939792"/>
            <a:ext cx="2915730" cy="16452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Subject (Sujeto): La interfaz común que tanto el RealSubject como el Proxy implementan. Esto garantiza que el Proxy sea intercambiable por el RealSubject.</a:t>
            </a:r>
            <a:endParaRPr b="0" i="0" sz="1400" u="none" cap="none" strike="noStrike">
              <a:solidFill>
                <a:srgbClr val="000000"/>
              </a:solidFill>
              <a:latin typeface="Arial"/>
              <a:ea typeface="Arial"/>
              <a:cs typeface="Arial"/>
              <a:sym typeface="Arial"/>
            </a:endParaRPr>
          </a:p>
        </p:txBody>
      </p:sp>
      <p:sp>
        <p:nvSpPr>
          <p:cNvPr id="414" name="Google Shape;414;p16"/>
          <p:cNvSpPr txBox="1"/>
          <p:nvPr/>
        </p:nvSpPr>
        <p:spPr>
          <a:xfrm>
            <a:off x="5163162" y="4953437"/>
            <a:ext cx="2915730" cy="156400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RealSubject (Sujeto Real): El objeto pesado o complejo que el Proxy representa. Este objeto realiza el trabajo real.</a:t>
            </a:r>
            <a:endParaRPr b="0" i="0" sz="1400" u="none" cap="none" strike="noStrike">
              <a:solidFill>
                <a:srgbClr val="000000"/>
              </a:solidFill>
              <a:latin typeface="Arial"/>
              <a:ea typeface="Arial"/>
              <a:cs typeface="Arial"/>
              <a:sym typeface="Arial"/>
            </a:endParaRPr>
          </a:p>
        </p:txBody>
      </p:sp>
      <p:sp>
        <p:nvSpPr>
          <p:cNvPr id="415" name="Google Shape;415;p16"/>
          <p:cNvSpPr txBox="1"/>
          <p:nvPr/>
        </p:nvSpPr>
        <p:spPr>
          <a:xfrm>
            <a:off x="846688" y="7776900"/>
            <a:ext cx="2868946" cy="1726565"/>
          </a:xfrm>
          <a:prstGeom prst="rect">
            <a:avLst/>
          </a:prstGeom>
          <a:noFill/>
          <a:ln>
            <a:noFill/>
          </a:ln>
        </p:spPr>
        <p:txBody>
          <a:bodyPr anchorCtr="0" anchor="t" bIns="0" lIns="0" spcFirstLastPara="1" rIns="0" wrap="square" tIns="0">
            <a:spAutoFit/>
          </a:bodyPr>
          <a:lstStyle/>
          <a:p>
            <a:pPr indent="-151132" lvl="1" marL="302264" marR="0" rtl="0" algn="ctr">
              <a:lnSpc>
                <a:spcPct val="14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Proxy (Sustituto): El objeto que actúa como sustituto. Mantiene una referencia al RealSubject y controla el acceso a él. Puede añadir lógica adicional antes o después de delegar la petición al objeto real.</a:t>
            </a:r>
            <a:endParaRPr b="0" i="0" sz="1400" u="none" cap="none" strike="noStrike">
              <a:solidFill>
                <a:srgbClr val="000000"/>
              </a:solidFill>
              <a:latin typeface="Arial"/>
              <a:ea typeface="Arial"/>
              <a:cs typeface="Arial"/>
              <a:sym typeface="Arial"/>
            </a:endParaRPr>
          </a:p>
        </p:txBody>
      </p:sp>
      <p:sp>
        <p:nvSpPr>
          <p:cNvPr id="416" name="Google Shape;416;p16"/>
          <p:cNvSpPr txBox="1"/>
          <p:nvPr/>
        </p:nvSpPr>
        <p:spPr>
          <a:xfrm>
            <a:off x="5163162" y="7776900"/>
            <a:ext cx="2915730" cy="175704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Client (Cliente): El objeto que interactúa con el Proxy pensando que es el RealSubject. El cliente no necesita saber que está usando un proxy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420" name="Shape 420"/>
        <p:cNvGrpSpPr/>
        <p:nvPr/>
      </p:nvGrpSpPr>
      <p:grpSpPr>
        <a:xfrm>
          <a:off x="0" y="0"/>
          <a:ext cx="0" cy="0"/>
          <a:chOff x="0" y="0"/>
          <a:chExt cx="0" cy="0"/>
        </a:xfrm>
      </p:grpSpPr>
      <p:grpSp>
        <p:nvGrpSpPr>
          <p:cNvPr id="421" name="Google Shape;421;p17"/>
          <p:cNvGrpSpPr/>
          <p:nvPr/>
        </p:nvGrpSpPr>
        <p:grpSpPr>
          <a:xfrm>
            <a:off x="15160324" y="-2279391"/>
            <a:ext cx="3269773" cy="3308091"/>
            <a:chOff x="0" y="-9525"/>
            <a:chExt cx="812800" cy="822325"/>
          </a:xfrm>
        </p:grpSpPr>
        <p:sp>
          <p:nvSpPr>
            <p:cNvPr id="422" name="Google Shape;422;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7"/>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4" name="Google Shape;424;p17"/>
          <p:cNvGrpSpPr/>
          <p:nvPr/>
        </p:nvGrpSpPr>
        <p:grpSpPr>
          <a:xfrm>
            <a:off x="-277108" y="9663467"/>
            <a:ext cx="18842215" cy="1249748"/>
            <a:chOff x="0" y="-85725"/>
            <a:chExt cx="4962559" cy="329151"/>
          </a:xfrm>
        </p:grpSpPr>
        <p:sp>
          <p:nvSpPr>
            <p:cNvPr id="425" name="Google Shape;425;p17"/>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426" name="Google Shape;426;p17"/>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7" name="Google Shape;427;p17"/>
          <p:cNvSpPr/>
          <p:nvPr/>
        </p:nvSpPr>
        <p:spPr>
          <a:xfrm>
            <a:off x="3955960" y="2886992"/>
            <a:ext cx="10376079" cy="4513016"/>
          </a:xfrm>
          <a:custGeom>
            <a:rect b="b" l="l" r="r" t="t"/>
            <a:pathLst>
              <a:path extrusionOk="0" h="4513016" w="10376079">
                <a:moveTo>
                  <a:pt x="0" y="0"/>
                </a:moveTo>
                <a:lnTo>
                  <a:pt x="10376080" y="0"/>
                </a:lnTo>
                <a:lnTo>
                  <a:pt x="10376080" y="4513016"/>
                </a:lnTo>
                <a:lnTo>
                  <a:pt x="0" y="4513016"/>
                </a:lnTo>
                <a:lnTo>
                  <a:pt x="0" y="0"/>
                </a:lnTo>
                <a:close/>
              </a:path>
            </a:pathLst>
          </a:custGeom>
          <a:blipFill rotWithShape="1">
            <a:blip r:embed="rId3">
              <a:alphaModFix/>
            </a:blip>
            <a:stretch>
              <a:fillRect b="0" l="0" r="0" t="0"/>
            </a:stretch>
          </a:blipFill>
          <a:ln>
            <a:noFill/>
          </a:ln>
        </p:spPr>
      </p:sp>
      <p:sp>
        <p:nvSpPr>
          <p:cNvPr id="428" name="Google Shape;428;p17"/>
          <p:cNvSpPr txBox="1"/>
          <p:nvPr/>
        </p:nvSpPr>
        <p:spPr>
          <a:xfrm>
            <a:off x="509680" y="388458"/>
            <a:ext cx="1607162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PROBLEMA</a:t>
            </a:r>
            <a:endParaRPr b="0" i="0" sz="1400" u="none" cap="none" strike="noStrike">
              <a:solidFill>
                <a:srgbClr val="000000"/>
              </a:solidFill>
              <a:latin typeface="Arial"/>
              <a:ea typeface="Arial"/>
              <a:cs typeface="Arial"/>
              <a:sym typeface="Arial"/>
            </a:endParaRPr>
          </a:p>
        </p:txBody>
      </p:sp>
      <p:sp>
        <p:nvSpPr>
          <p:cNvPr id="429" name="Google Shape;429;p17"/>
          <p:cNvSpPr txBox="1"/>
          <p:nvPr/>
        </p:nvSpPr>
        <p:spPr>
          <a:xfrm>
            <a:off x="509680" y="1574378"/>
            <a:ext cx="15378020" cy="7042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¿Por qué querrías controlar el acceso a un objeto? Imagina que tienes un objeto enorme que consume una gran cantidad de recursos del sistema. Lo necesitas de vez en cuando, pero no siempre.</a:t>
            </a:r>
            <a:endParaRPr b="0" i="0" sz="1400" u="none" cap="none" strike="noStrike">
              <a:solidFill>
                <a:srgbClr val="000000"/>
              </a:solidFill>
              <a:latin typeface="Arial"/>
              <a:ea typeface="Arial"/>
              <a:cs typeface="Arial"/>
              <a:sym typeface="Arial"/>
            </a:endParaRPr>
          </a:p>
        </p:txBody>
      </p:sp>
      <p:sp>
        <p:nvSpPr>
          <p:cNvPr id="430" name="Google Shape;430;p17"/>
          <p:cNvSpPr txBox="1"/>
          <p:nvPr/>
        </p:nvSpPr>
        <p:spPr>
          <a:xfrm>
            <a:off x="509680" y="7684586"/>
            <a:ext cx="15378020"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Puedes llevar a cabo una implementación diferida, es decir, crear este objeto sólo cuando sea realmente necesario. Todos los clientes del objeto tendrán que ejecutar algún código de inicialización diferida. Lamentablemente, esto seguramente generará una gran cantidad de código duplicado.</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En un mundo ideal, querríamos meter este código directamente dentro de la clase de nuestro objeto, pero eso no siempre es posible. Por ejemplo, la clase puede ser parte de una biblioteca cerrada de un tercero.</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sp>
        <p:nvSpPr>
          <p:cNvPr id="431" name="Google Shape;431;p17"/>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435" name="Shape 435"/>
        <p:cNvGrpSpPr/>
        <p:nvPr/>
      </p:nvGrpSpPr>
      <p:grpSpPr>
        <a:xfrm>
          <a:off x="0" y="0"/>
          <a:ext cx="0" cy="0"/>
          <a:chOff x="0" y="0"/>
          <a:chExt cx="0" cy="0"/>
        </a:xfrm>
      </p:grpSpPr>
      <p:grpSp>
        <p:nvGrpSpPr>
          <p:cNvPr id="436" name="Google Shape;436;p18"/>
          <p:cNvGrpSpPr/>
          <p:nvPr/>
        </p:nvGrpSpPr>
        <p:grpSpPr>
          <a:xfrm>
            <a:off x="15160324" y="-2279391"/>
            <a:ext cx="3269773" cy="3308091"/>
            <a:chOff x="0" y="-9525"/>
            <a:chExt cx="812800" cy="822325"/>
          </a:xfrm>
        </p:grpSpPr>
        <p:sp>
          <p:nvSpPr>
            <p:cNvPr id="437" name="Google Shape;437;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8"/>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9" name="Google Shape;439;p18"/>
          <p:cNvGrpSpPr/>
          <p:nvPr/>
        </p:nvGrpSpPr>
        <p:grpSpPr>
          <a:xfrm>
            <a:off x="-277108" y="9663467"/>
            <a:ext cx="18842215" cy="1249748"/>
            <a:chOff x="0" y="-85725"/>
            <a:chExt cx="4962559" cy="329151"/>
          </a:xfrm>
        </p:grpSpPr>
        <p:sp>
          <p:nvSpPr>
            <p:cNvPr id="440" name="Google Shape;440;p18"/>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441" name="Google Shape;441;p18"/>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2" name="Google Shape;442;p18"/>
          <p:cNvSpPr/>
          <p:nvPr/>
        </p:nvSpPr>
        <p:spPr>
          <a:xfrm>
            <a:off x="3520470" y="2836886"/>
            <a:ext cx="10106067" cy="4057180"/>
          </a:xfrm>
          <a:custGeom>
            <a:rect b="b" l="l" r="r" t="t"/>
            <a:pathLst>
              <a:path extrusionOk="0" h="4057180" w="10106067">
                <a:moveTo>
                  <a:pt x="0" y="0"/>
                </a:moveTo>
                <a:lnTo>
                  <a:pt x="10106067" y="0"/>
                </a:lnTo>
                <a:lnTo>
                  <a:pt x="10106067" y="4057180"/>
                </a:lnTo>
                <a:lnTo>
                  <a:pt x="0" y="4057180"/>
                </a:lnTo>
                <a:lnTo>
                  <a:pt x="0" y="0"/>
                </a:lnTo>
                <a:close/>
              </a:path>
            </a:pathLst>
          </a:custGeom>
          <a:blipFill rotWithShape="1">
            <a:blip r:embed="rId3">
              <a:alphaModFix/>
            </a:blip>
            <a:stretch>
              <a:fillRect b="0" l="0" r="0" t="0"/>
            </a:stretch>
          </a:blipFill>
          <a:ln>
            <a:noFill/>
          </a:ln>
        </p:spPr>
      </p:sp>
      <p:sp>
        <p:nvSpPr>
          <p:cNvPr id="443" name="Google Shape;443;p18"/>
          <p:cNvSpPr txBox="1"/>
          <p:nvPr/>
        </p:nvSpPr>
        <p:spPr>
          <a:xfrm>
            <a:off x="509680" y="388458"/>
            <a:ext cx="1607162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SOLUCIÓN...</a:t>
            </a:r>
            <a:endParaRPr b="0" i="0" sz="1400" u="none" cap="none" strike="noStrike">
              <a:solidFill>
                <a:srgbClr val="000000"/>
              </a:solidFill>
              <a:latin typeface="Arial"/>
              <a:ea typeface="Arial"/>
              <a:cs typeface="Arial"/>
              <a:sym typeface="Arial"/>
            </a:endParaRPr>
          </a:p>
        </p:txBody>
      </p:sp>
      <p:sp>
        <p:nvSpPr>
          <p:cNvPr id="444" name="Google Shape;444;p18"/>
          <p:cNvSpPr txBox="1"/>
          <p:nvPr/>
        </p:nvSpPr>
        <p:spPr>
          <a:xfrm>
            <a:off x="509680" y="1427506"/>
            <a:ext cx="15321407" cy="1037768"/>
          </a:xfrm>
          <a:prstGeom prst="rect">
            <a:avLst/>
          </a:prstGeom>
          <a:noFill/>
          <a:ln>
            <a:noFill/>
          </a:ln>
        </p:spPr>
        <p:txBody>
          <a:bodyPr anchorCtr="0" anchor="t" bIns="0" lIns="0" spcFirstLastPara="1" rIns="0" wrap="square" tIns="0">
            <a:spAutoFit/>
          </a:bodyPr>
          <a:lstStyle/>
          <a:p>
            <a:pPr indent="0" lvl="0" marL="0" marR="0" rtl="0" algn="l">
              <a:lnSpc>
                <a:spcPct val="139989"/>
              </a:lnSpc>
              <a:spcBef>
                <a:spcPts val="0"/>
              </a:spcBef>
              <a:spcAft>
                <a:spcPts val="0"/>
              </a:spcAft>
              <a:buClr>
                <a:srgbClr val="000000"/>
              </a:buClr>
              <a:buSzPts val="1893"/>
              <a:buFont typeface="Arial"/>
              <a:buNone/>
            </a:pPr>
            <a:r>
              <a:rPr b="0" i="0" lang="en-US" sz="1893" u="none" cap="none" strike="noStrike">
                <a:solidFill>
                  <a:srgbClr val="000000"/>
                </a:solidFill>
                <a:latin typeface="Arial"/>
                <a:ea typeface="Arial"/>
                <a:cs typeface="Arial"/>
                <a:sym typeface="Arial"/>
              </a:rPr>
              <a:t>El patrón Proxy sugiere que crees una nueva clase proxy con la misma interfaz que un objeto de servicio original. Después actualizas tu aplicación para que pase el objeto proxy a todos los clientes del objeto original. Al recibir una solicitud de un cliente, el proxy crea un objeto de servicio real y le delega todo el trabajo.</a:t>
            </a:r>
            <a:endParaRPr b="0" i="0" sz="1400" u="none" cap="none" strike="noStrike">
              <a:solidFill>
                <a:srgbClr val="000000"/>
              </a:solidFill>
              <a:latin typeface="Arial"/>
              <a:ea typeface="Arial"/>
              <a:cs typeface="Arial"/>
              <a:sym typeface="Arial"/>
            </a:endParaRPr>
          </a:p>
        </p:txBody>
      </p:sp>
      <p:sp>
        <p:nvSpPr>
          <p:cNvPr id="445" name="Google Shape;445;p18"/>
          <p:cNvSpPr txBox="1"/>
          <p:nvPr/>
        </p:nvSpPr>
        <p:spPr>
          <a:xfrm>
            <a:off x="992565" y="7560816"/>
            <a:ext cx="16266735" cy="103759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Pero, ¿cuál es la ventaja? Si necesitas ejecutar algo antes o después de la lógica primaria de la clase, el proxy te permite hacerlo sin cambiar esa clase. Ya que el proxy implementa la misma interfaz que la clase original, puede pasarse a cualquier cliente que espere un objeto de servicio real.</a:t>
            </a:r>
            <a:endParaRPr b="0" i="0" sz="1400" u="none" cap="none" strike="noStrike">
              <a:solidFill>
                <a:srgbClr val="000000"/>
              </a:solidFill>
              <a:latin typeface="Arial"/>
              <a:ea typeface="Arial"/>
              <a:cs typeface="Arial"/>
              <a:sym typeface="Arial"/>
            </a:endParaRPr>
          </a:p>
        </p:txBody>
      </p:sp>
      <p:sp>
        <p:nvSpPr>
          <p:cNvPr id="446" name="Google Shape;446;p18"/>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450" name="Shape 450"/>
        <p:cNvGrpSpPr/>
        <p:nvPr/>
      </p:nvGrpSpPr>
      <p:grpSpPr>
        <a:xfrm>
          <a:off x="0" y="0"/>
          <a:ext cx="0" cy="0"/>
          <a:chOff x="0" y="0"/>
          <a:chExt cx="0" cy="0"/>
        </a:xfrm>
      </p:grpSpPr>
      <p:grpSp>
        <p:nvGrpSpPr>
          <p:cNvPr id="451" name="Google Shape;451;p19"/>
          <p:cNvGrpSpPr/>
          <p:nvPr/>
        </p:nvGrpSpPr>
        <p:grpSpPr>
          <a:xfrm>
            <a:off x="15160324" y="-2279391"/>
            <a:ext cx="3269773" cy="3308091"/>
            <a:chOff x="0" y="-9525"/>
            <a:chExt cx="812800" cy="822325"/>
          </a:xfrm>
        </p:grpSpPr>
        <p:sp>
          <p:nvSpPr>
            <p:cNvPr id="452" name="Google Shape;452;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9"/>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4" name="Google Shape;454;p19"/>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455" name="Google Shape;455;p19"/>
          <p:cNvGrpSpPr/>
          <p:nvPr/>
        </p:nvGrpSpPr>
        <p:grpSpPr>
          <a:xfrm>
            <a:off x="-277108" y="9663467"/>
            <a:ext cx="18842215" cy="1249748"/>
            <a:chOff x="0" y="-85725"/>
            <a:chExt cx="4962559" cy="329151"/>
          </a:xfrm>
        </p:grpSpPr>
        <p:sp>
          <p:nvSpPr>
            <p:cNvPr id="456" name="Google Shape;456;p19"/>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457" name="Google Shape;457;p19"/>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8" name="Google Shape;458;p19"/>
          <p:cNvSpPr/>
          <p:nvPr/>
        </p:nvSpPr>
        <p:spPr>
          <a:xfrm>
            <a:off x="639402" y="2153031"/>
            <a:ext cx="8947963" cy="4037839"/>
          </a:xfrm>
          <a:custGeom>
            <a:rect b="b" l="l" r="r" t="t"/>
            <a:pathLst>
              <a:path extrusionOk="0" h="4037839" w="8947963">
                <a:moveTo>
                  <a:pt x="0" y="0"/>
                </a:moveTo>
                <a:lnTo>
                  <a:pt x="8947963" y="0"/>
                </a:lnTo>
                <a:lnTo>
                  <a:pt x="8947963" y="4037838"/>
                </a:lnTo>
                <a:lnTo>
                  <a:pt x="0" y="4037838"/>
                </a:lnTo>
                <a:lnTo>
                  <a:pt x="0" y="0"/>
                </a:lnTo>
                <a:close/>
              </a:path>
            </a:pathLst>
          </a:custGeom>
          <a:blipFill rotWithShape="1">
            <a:blip r:embed="rId4">
              <a:alphaModFix/>
            </a:blip>
            <a:stretch>
              <a:fillRect b="0" l="0" r="0" t="0"/>
            </a:stretch>
          </a:blipFill>
          <a:ln>
            <a:noFill/>
          </a:ln>
        </p:spPr>
      </p:sp>
      <p:sp>
        <p:nvSpPr>
          <p:cNvPr id="459" name="Google Shape;459;p19"/>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ANALOGÍA DEL MUNDO REAL</a:t>
            </a:r>
            <a:endParaRPr b="0" i="0" sz="1400" u="none" cap="none" strike="noStrike">
              <a:solidFill>
                <a:srgbClr val="000000"/>
              </a:solidFill>
              <a:latin typeface="Arial"/>
              <a:ea typeface="Arial"/>
              <a:cs typeface="Arial"/>
              <a:sym typeface="Arial"/>
            </a:endParaRPr>
          </a:p>
        </p:txBody>
      </p:sp>
      <p:sp>
        <p:nvSpPr>
          <p:cNvPr id="460" name="Google Shape;460;p19"/>
          <p:cNvSpPr txBox="1"/>
          <p:nvPr/>
        </p:nvSpPr>
        <p:spPr>
          <a:xfrm>
            <a:off x="10215090" y="2038731"/>
            <a:ext cx="6806961" cy="5308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Arial"/>
                <a:ea typeface="Arial"/>
                <a:cs typeface="Arial"/>
                <a:sym typeface="Arial"/>
              </a:rPr>
              <a:t>Una tarjeta de crédito es un proxy de una cuenta bancaria, que, a su vez, es un proxy de un manojo de billetes. Ambos implementan la misma interfaz, por lo que pueden utilizarse para realizar un pago. El consumidor se siente genial porque no necesita llevar un montón de efectivo encima. El dueño de la tienda también está contento porque los ingresos de la transacción se añaden electrónicamente a la cuenta bancaria de la tienda sin el riesgo de perder el depósito o sufrir un robo de camino al banco.</a:t>
            </a:r>
            <a:endParaRPr b="0" i="0" sz="1400" u="none" cap="none" strike="noStrike">
              <a:solidFill>
                <a:srgbClr val="000000"/>
              </a:solidFill>
              <a:latin typeface="Arial"/>
              <a:ea typeface="Arial"/>
              <a:cs typeface="Arial"/>
              <a:sym typeface="Arial"/>
            </a:endParaRPr>
          </a:p>
        </p:txBody>
      </p:sp>
      <p:sp>
        <p:nvSpPr>
          <p:cNvPr id="461" name="Google Shape;461;p19"/>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465" name="Shape 465"/>
        <p:cNvGrpSpPr/>
        <p:nvPr/>
      </p:nvGrpSpPr>
      <p:grpSpPr>
        <a:xfrm>
          <a:off x="0" y="0"/>
          <a:ext cx="0" cy="0"/>
          <a:chOff x="0" y="0"/>
          <a:chExt cx="0" cy="0"/>
        </a:xfrm>
      </p:grpSpPr>
      <p:grpSp>
        <p:nvGrpSpPr>
          <p:cNvPr id="466" name="Google Shape;466;p20"/>
          <p:cNvGrpSpPr/>
          <p:nvPr/>
        </p:nvGrpSpPr>
        <p:grpSpPr>
          <a:xfrm>
            <a:off x="15160324" y="-2279391"/>
            <a:ext cx="3269773" cy="3308091"/>
            <a:chOff x="0" y="-9525"/>
            <a:chExt cx="812800" cy="822325"/>
          </a:xfrm>
        </p:grpSpPr>
        <p:sp>
          <p:nvSpPr>
            <p:cNvPr id="467" name="Google Shape;467;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0"/>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9" name="Google Shape;469;p20"/>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470" name="Google Shape;470;p20"/>
          <p:cNvGrpSpPr/>
          <p:nvPr/>
        </p:nvGrpSpPr>
        <p:grpSpPr>
          <a:xfrm>
            <a:off x="-277108" y="9663467"/>
            <a:ext cx="18842215" cy="1249748"/>
            <a:chOff x="0" y="-85725"/>
            <a:chExt cx="4962559" cy="329151"/>
          </a:xfrm>
        </p:grpSpPr>
        <p:sp>
          <p:nvSpPr>
            <p:cNvPr id="471" name="Google Shape;471;p20"/>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472" name="Google Shape;472;p20"/>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3" name="Google Shape;473;p20"/>
          <p:cNvSpPr/>
          <p:nvPr/>
        </p:nvSpPr>
        <p:spPr>
          <a:xfrm>
            <a:off x="639402" y="2085097"/>
            <a:ext cx="8008883" cy="4632697"/>
          </a:xfrm>
          <a:custGeom>
            <a:rect b="b" l="l" r="r" t="t"/>
            <a:pathLst>
              <a:path extrusionOk="0" h="4632697" w="8008883">
                <a:moveTo>
                  <a:pt x="0" y="0"/>
                </a:moveTo>
                <a:lnTo>
                  <a:pt x="8008884" y="0"/>
                </a:lnTo>
                <a:lnTo>
                  <a:pt x="8008884" y="4632696"/>
                </a:lnTo>
                <a:lnTo>
                  <a:pt x="0" y="4632696"/>
                </a:lnTo>
                <a:lnTo>
                  <a:pt x="0" y="0"/>
                </a:lnTo>
                <a:close/>
              </a:path>
            </a:pathLst>
          </a:custGeom>
          <a:blipFill rotWithShape="1">
            <a:blip r:embed="rId4">
              <a:alphaModFix/>
            </a:blip>
            <a:stretch>
              <a:fillRect b="0" l="0" r="0" t="0"/>
            </a:stretch>
          </a:blipFill>
          <a:ln>
            <a:noFill/>
          </a:ln>
        </p:spPr>
      </p:sp>
      <p:sp>
        <p:nvSpPr>
          <p:cNvPr id="474" name="Google Shape;474;p20"/>
          <p:cNvSpPr/>
          <p:nvPr/>
        </p:nvSpPr>
        <p:spPr>
          <a:xfrm>
            <a:off x="9758182" y="2085097"/>
            <a:ext cx="7820918" cy="5314767"/>
          </a:xfrm>
          <a:custGeom>
            <a:rect b="b" l="l" r="r" t="t"/>
            <a:pathLst>
              <a:path extrusionOk="0" h="5314767" w="7820918">
                <a:moveTo>
                  <a:pt x="0" y="0"/>
                </a:moveTo>
                <a:lnTo>
                  <a:pt x="7820917" y="0"/>
                </a:lnTo>
                <a:lnTo>
                  <a:pt x="7820917" y="5314767"/>
                </a:lnTo>
                <a:lnTo>
                  <a:pt x="0" y="5314767"/>
                </a:lnTo>
                <a:lnTo>
                  <a:pt x="0" y="0"/>
                </a:lnTo>
                <a:close/>
              </a:path>
            </a:pathLst>
          </a:custGeom>
          <a:blipFill rotWithShape="1">
            <a:blip r:embed="rId5">
              <a:alphaModFix/>
            </a:blip>
            <a:stretch>
              <a:fillRect b="0" l="0" r="0" t="0"/>
            </a:stretch>
          </a:blipFill>
          <a:ln>
            <a:noFill/>
          </a:ln>
        </p:spPr>
      </p:sp>
      <p:sp>
        <p:nvSpPr>
          <p:cNvPr id="475" name="Google Shape;475;p20"/>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UML</a:t>
            </a:r>
            <a:endParaRPr b="0" i="0" sz="1400" u="none" cap="none" strike="noStrike">
              <a:solidFill>
                <a:srgbClr val="000000"/>
              </a:solidFill>
              <a:latin typeface="Arial"/>
              <a:ea typeface="Arial"/>
              <a:cs typeface="Arial"/>
              <a:sym typeface="Arial"/>
            </a:endParaRPr>
          </a:p>
        </p:txBody>
      </p:sp>
      <p:sp>
        <p:nvSpPr>
          <p:cNvPr id="476" name="Google Shape;476;p20"/>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480" name="Shape 480"/>
        <p:cNvGrpSpPr/>
        <p:nvPr/>
      </p:nvGrpSpPr>
      <p:grpSpPr>
        <a:xfrm>
          <a:off x="0" y="0"/>
          <a:ext cx="0" cy="0"/>
          <a:chOff x="0" y="0"/>
          <a:chExt cx="0" cy="0"/>
        </a:xfrm>
      </p:grpSpPr>
      <p:grpSp>
        <p:nvGrpSpPr>
          <p:cNvPr id="481" name="Google Shape;481;p21"/>
          <p:cNvGrpSpPr/>
          <p:nvPr/>
        </p:nvGrpSpPr>
        <p:grpSpPr>
          <a:xfrm>
            <a:off x="15160324" y="-2279391"/>
            <a:ext cx="3269773" cy="3308091"/>
            <a:chOff x="0" y="-9525"/>
            <a:chExt cx="812800" cy="822325"/>
          </a:xfrm>
        </p:grpSpPr>
        <p:sp>
          <p:nvSpPr>
            <p:cNvPr id="482" name="Google Shape;482;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1"/>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4" name="Google Shape;484;p21"/>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485" name="Google Shape;485;p21"/>
          <p:cNvGrpSpPr/>
          <p:nvPr/>
        </p:nvGrpSpPr>
        <p:grpSpPr>
          <a:xfrm>
            <a:off x="-277108" y="9663467"/>
            <a:ext cx="18842215" cy="1249748"/>
            <a:chOff x="0" y="-85725"/>
            <a:chExt cx="4962559" cy="329151"/>
          </a:xfrm>
        </p:grpSpPr>
        <p:sp>
          <p:nvSpPr>
            <p:cNvPr id="486" name="Google Shape;486;p21"/>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487" name="Google Shape;487;p21"/>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8" name="Google Shape;488;p21"/>
          <p:cNvSpPr/>
          <p:nvPr/>
        </p:nvSpPr>
        <p:spPr>
          <a:xfrm>
            <a:off x="1028700" y="3993135"/>
            <a:ext cx="10986492" cy="5134312"/>
          </a:xfrm>
          <a:custGeom>
            <a:rect b="b" l="l" r="r" t="t"/>
            <a:pathLst>
              <a:path extrusionOk="0" h="5134312" w="10986492">
                <a:moveTo>
                  <a:pt x="0" y="0"/>
                </a:moveTo>
                <a:lnTo>
                  <a:pt x="10986492" y="0"/>
                </a:lnTo>
                <a:lnTo>
                  <a:pt x="10986492" y="5134313"/>
                </a:lnTo>
                <a:lnTo>
                  <a:pt x="0" y="5134313"/>
                </a:lnTo>
                <a:lnTo>
                  <a:pt x="0" y="0"/>
                </a:lnTo>
                <a:close/>
              </a:path>
            </a:pathLst>
          </a:custGeom>
          <a:blipFill rotWithShape="1">
            <a:blip r:embed="rId4">
              <a:alphaModFix/>
            </a:blip>
            <a:stretch>
              <a:fillRect b="0" l="0" r="0" t="0"/>
            </a:stretch>
          </a:blipFill>
          <a:ln>
            <a:noFill/>
          </a:ln>
        </p:spPr>
      </p:sp>
      <p:sp>
        <p:nvSpPr>
          <p:cNvPr id="489" name="Google Shape;489;p21"/>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CASO REAL</a:t>
            </a:r>
            <a:endParaRPr b="0" i="0" sz="1400" u="none" cap="none" strike="noStrike">
              <a:solidFill>
                <a:srgbClr val="000000"/>
              </a:solidFill>
              <a:latin typeface="Arial"/>
              <a:ea typeface="Arial"/>
              <a:cs typeface="Arial"/>
              <a:sym typeface="Arial"/>
            </a:endParaRPr>
          </a:p>
        </p:txBody>
      </p:sp>
      <p:sp>
        <p:nvSpPr>
          <p:cNvPr id="490" name="Google Shape;490;p21"/>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491" name="Google Shape;491;p21"/>
          <p:cNvSpPr txBox="1"/>
          <p:nvPr/>
        </p:nvSpPr>
        <p:spPr>
          <a:xfrm>
            <a:off x="1028700" y="1783970"/>
            <a:ext cx="15378020" cy="137096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Mediante la implementación del patrón de diseño Proxy crearemos un mecanismo de seguridad, el cual intercepte las ejecuciones de procesos para validar si el usuario que intenta ejecutar cuenta con los privilegios necesarios, evitando que usuarios no autorizados los ejecuten, además, una vez que el proceso es ejecutado, se auditara la ejecución y quedará un registra de la ejecución. Todo esto se realizará sin que el usuario se dé cuenta, pues el proxy envolverá la lógica de seguridad.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495" name="Shape 495"/>
        <p:cNvGrpSpPr/>
        <p:nvPr/>
      </p:nvGrpSpPr>
      <p:grpSpPr>
        <a:xfrm>
          <a:off x="0" y="0"/>
          <a:ext cx="0" cy="0"/>
          <a:chOff x="0" y="0"/>
          <a:chExt cx="0" cy="0"/>
        </a:xfrm>
      </p:grpSpPr>
      <p:grpSp>
        <p:nvGrpSpPr>
          <p:cNvPr id="496" name="Google Shape;496;p22"/>
          <p:cNvGrpSpPr/>
          <p:nvPr/>
        </p:nvGrpSpPr>
        <p:grpSpPr>
          <a:xfrm>
            <a:off x="15160324" y="-2279391"/>
            <a:ext cx="3269773" cy="3308091"/>
            <a:chOff x="0" y="-9525"/>
            <a:chExt cx="812800" cy="822325"/>
          </a:xfrm>
        </p:grpSpPr>
        <p:sp>
          <p:nvSpPr>
            <p:cNvPr id="497" name="Google Shape;497;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2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9" name="Google Shape;499;p22"/>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500" name="Google Shape;500;p22"/>
          <p:cNvGrpSpPr/>
          <p:nvPr/>
        </p:nvGrpSpPr>
        <p:grpSpPr>
          <a:xfrm>
            <a:off x="-277108" y="9663467"/>
            <a:ext cx="18842215" cy="1249748"/>
            <a:chOff x="0" y="-85725"/>
            <a:chExt cx="4962559" cy="329151"/>
          </a:xfrm>
        </p:grpSpPr>
        <p:sp>
          <p:nvSpPr>
            <p:cNvPr id="501" name="Google Shape;501;p22"/>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502" name="Google Shape;502;p22"/>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3" name="Google Shape;503;p22"/>
          <p:cNvSpPr/>
          <p:nvPr/>
        </p:nvSpPr>
        <p:spPr>
          <a:xfrm>
            <a:off x="5238042" y="434934"/>
            <a:ext cx="7259222" cy="8948194"/>
          </a:xfrm>
          <a:custGeom>
            <a:rect b="b" l="l" r="r" t="t"/>
            <a:pathLst>
              <a:path extrusionOk="0" h="8948194" w="7259222">
                <a:moveTo>
                  <a:pt x="0" y="0"/>
                </a:moveTo>
                <a:lnTo>
                  <a:pt x="7259223" y="0"/>
                </a:lnTo>
                <a:lnTo>
                  <a:pt x="7259223" y="8948194"/>
                </a:lnTo>
                <a:lnTo>
                  <a:pt x="0" y="8948194"/>
                </a:lnTo>
                <a:lnTo>
                  <a:pt x="0" y="0"/>
                </a:lnTo>
                <a:close/>
              </a:path>
            </a:pathLst>
          </a:custGeom>
          <a:blipFill rotWithShape="1">
            <a:blip r:embed="rId4">
              <a:alphaModFix/>
            </a:blip>
            <a:stretch>
              <a:fillRect b="0" l="0" r="0" t="0"/>
            </a:stretch>
          </a:blipFill>
          <a:ln>
            <a:noFill/>
          </a:ln>
        </p:spPr>
      </p:sp>
      <p:sp>
        <p:nvSpPr>
          <p:cNvPr id="504" name="Google Shape;504;p22"/>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FLUJO</a:t>
            </a:r>
            <a:endParaRPr b="0" i="0" sz="1400" u="none" cap="none" strike="noStrike">
              <a:solidFill>
                <a:srgbClr val="000000"/>
              </a:solidFill>
              <a:latin typeface="Arial"/>
              <a:ea typeface="Arial"/>
              <a:cs typeface="Arial"/>
              <a:sym typeface="Arial"/>
            </a:endParaRPr>
          </a:p>
        </p:txBody>
      </p:sp>
      <p:sp>
        <p:nvSpPr>
          <p:cNvPr id="505" name="Google Shape;505;p22"/>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509" name="Shape 509"/>
        <p:cNvGrpSpPr/>
        <p:nvPr/>
      </p:nvGrpSpPr>
      <p:grpSpPr>
        <a:xfrm>
          <a:off x="0" y="0"/>
          <a:ext cx="0" cy="0"/>
          <a:chOff x="0" y="0"/>
          <a:chExt cx="0" cy="0"/>
        </a:xfrm>
      </p:grpSpPr>
      <p:grpSp>
        <p:nvGrpSpPr>
          <p:cNvPr id="510" name="Google Shape;510;p23"/>
          <p:cNvGrpSpPr/>
          <p:nvPr/>
        </p:nvGrpSpPr>
        <p:grpSpPr>
          <a:xfrm>
            <a:off x="15160324" y="-2279391"/>
            <a:ext cx="3269773" cy="3308091"/>
            <a:chOff x="0" y="-9525"/>
            <a:chExt cx="812800" cy="822325"/>
          </a:xfrm>
        </p:grpSpPr>
        <p:sp>
          <p:nvSpPr>
            <p:cNvPr id="511" name="Google Shape;511;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3"/>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3" name="Google Shape;513;p23"/>
          <p:cNvGrpSpPr/>
          <p:nvPr/>
        </p:nvGrpSpPr>
        <p:grpSpPr>
          <a:xfrm>
            <a:off x="-277108" y="9663467"/>
            <a:ext cx="18842215" cy="1249748"/>
            <a:chOff x="0" y="-85725"/>
            <a:chExt cx="4962559" cy="329151"/>
          </a:xfrm>
        </p:grpSpPr>
        <p:sp>
          <p:nvSpPr>
            <p:cNvPr id="514" name="Google Shape;514;p23"/>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515" name="Google Shape;515;p23"/>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6" name="Google Shape;516;p23"/>
          <p:cNvSpPr txBox="1"/>
          <p:nvPr/>
        </p:nvSpPr>
        <p:spPr>
          <a:xfrm>
            <a:off x="748626" y="777384"/>
            <a:ext cx="8087344"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FFC61A"/>
                </a:solidFill>
                <a:latin typeface="Arial"/>
                <a:ea typeface="Arial"/>
                <a:cs typeface="Arial"/>
                <a:sym typeface="Arial"/>
              </a:rPr>
              <a:t>EJEMPLO PRACTICO</a:t>
            </a:r>
            <a:endParaRPr b="0" i="0" sz="1400" u="none" cap="none" strike="noStrike">
              <a:solidFill>
                <a:srgbClr val="000000"/>
              </a:solidFill>
              <a:latin typeface="Arial"/>
              <a:ea typeface="Arial"/>
              <a:cs typeface="Arial"/>
              <a:sym typeface="Arial"/>
            </a:endParaRPr>
          </a:p>
        </p:txBody>
      </p:sp>
      <p:sp>
        <p:nvSpPr>
          <p:cNvPr id="517" name="Google Shape;517;p23"/>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518" name="Google Shape;518;p23"/>
          <p:cNvSpPr txBox="1"/>
          <p:nvPr/>
        </p:nvSpPr>
        <p:spPr>
          <a:xfrm>
            <a:off x="1368322" y="3051721"/>
            <a:ext cx="15653729" cy="357334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2482"/>
              <a:buFont typeface="Arial"/>
              <a:buNone/>
            </a:pPr>
            <a:r>
              <a:rPr b="0" i="0" lang="en-US" sz="2482" u="none" cap="none" strike="noStrike">
                <a:solidFill>
                  <a:srgbClr val="000000"/>
                </a:solidFill>
                <a:latin typeface="Arial"/>
                <a:ea typeface="Arial"/>
                <a:cs typeface="Arial"/>
                <a:sym typeface="Arial"/>
              </a:rPr>
              <a:t>Enunciado: Quieres crear un servicio de visualización de imágenes para una galería en línea. Las imágenes son de muy alta resolución y se cargan lentamente desde un servidor. Diseña un sistema donde el cliente interactúa con un ImageProxy en lugar de con el RealImage. El Proxy debe tener las siguientes funcionalidades:</a:t>
            </a:r>
            <a:endParaRPr b="0" i="0" sz="1400" u="none" cap="none" strike="noStrike">
              <a:solidFill>
                <a:srgbClr val="000000"/>
              </a:solidFill>
              <a:latin typeface="Arial"/>
              <a:ea typeface="Arial"/>
              <a:cs typeface="Arial"/>
              <a:sym typeface="Arial"/>
            </a:endParaRPr>
          </a:p>
          <a:p>
            <a:pPr indent="0" lvl="0" marL="0" marR="0" rtl="0" algn="ctr">
              <a:lnSpc>
                <a:spcPct val="140008"/>
              </a:lnSpc>
              <a:spcBef>
                <a:spcPts val="0"/>
              </a:spcBef>
              <a:spcAft>
                <a:spcPts val="0"/>
              </a:spcAft>
              <a:buClr>
                <a:srgbClr val="000000"/>
              </a:buClr>
              <a:buSzPts val="2482"/>
              <a:buFont typeface="Arial"/>
              <a:buNone/>
            </a:pPr>
            <a:r>
              <a:rPr b="0" i="0" lang="en-US" sz="2482" u="none" cap="none" strike="noStrike">
                <a:solidFill>
                  <a:srgbClr val="000000"/>
                </a:solidFill>
                <a:latin typeface="Arial"/>
                <a:ea typeface="Arial"/>
                <a:cs typeface="Arial"/>
                <a:sym typeface="Arial"/>
              </a:rPr>
              <a:t>Muestra un marcador de posición (un placeholder o un mensaje de carga) de forma inmediata.</a:t>
            </a:r>
            <a:endParaRPr b="0" i="0" sz="1400" u="none" cap="none" strike="noStrike">
              <a:solidFill>
                <a:srgbClr val="000000"/>
              </a:solidFill>
              <a:latin typeface="Arial"/>
              <a:ea typeface="Arial"/>
              <a:cs typeface="Arial"/>
              <a:sym typeface="Arial"/>
            </a:endParaRPr>
          </a:p>
          <a:p>
            <a:pPr indent="0" lvl="0" marL="0" marR="0" rtl="0" algn="ctr">
              <a:lnSpc>
                <a:spcPct val="140008"/>
              </a:lnSpc>
              <a:spcBef>
                <a:spcPts val="0"/>
              </a:spcBef>
              <a:spcAft>
                <a:spcPts val="0"/>
              </a:spcAft>
              <a:buClr>
                <a:srgbClr val="000000"/>
              </a:buClr>
              <a:buSzPts val="2482"/>
              <a:buFont typeface="Arial"/>
              <a:buNone/>
            </a:pPr>
            <a:r>
              <a:rPr b="0" i="0" lang="en-US" sz="2482" u="none" cap="none" strike="noStrike">
                <a:solidFill>
                  <a:srgbClr val="000000"/>
                </a:solidFill>
                <a:latin typeface="Arial"/>
                <a:ea typeface="Arial"/>
                <a:cs typeface="Arial"/>
                <a:sym typeface="Arial"/>
              </a:rPr>
              <a:t>Solo carga la imagen real desde el servidor cuando el usuario intenta verla (carga perezosa o lazy loading).</a:t>
            </a:r>
            <a:endParaRPr b="0" i="0" sz="1400" u="none" cap="none" strike="noStrike">
              <a:solidFill>
                <a:srgbClr val="000000"/>
              </a:solidFill>
              <a:latin typeface="Arial"/>
              <a:ea typeface="Arial"/>
              <a:cs typeface="Arial"/>
              <a:sym typeface="Arial"/>
            </a:endParaRPr>
          </a:p>
          <a:p>
            <a:pPr indent="0" lvl="0" marL="0" marR="0" rtl="0" algn="ctr">
              <a:lnSpc>
                <a:spcPct val="140008"/>
              </a:lnSpc>
              <a:spcBef>
                <a:spcPts val="0"/>
              </a:spcBef>
              <a:spcAft>
                <a:spcPts val="0"/>
              </a:spcAft>
              <a:buClr>
                <a:srgbClr val="000000"/>
              </a:buClr>
              <a:buSzPts val="2482"/>
              <a:buFont typeface="Arial"/>
              <a:buNone/>
            </a:pPr>
            <a:r>
              <a:rPr b="0" i="0" lang="en-US" sz="2482" u="none" cap="none" strike="noStrike">
                <a:solidFill>
                  <a:srgbClr val="000000"/>
                </a:solidFill>
                <a:latin typeface="Arial"/>
                <a:ea typeface="Arial"/>
                <a:cs typeface="Arial"/>
                <a:sym typeface="Arial"/>
              </a:rPr>
              <a:t>Almacena en caché la imagen cargada para no tener que volver a cargarla si el usuario la solicita de nuevo.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61A"/>
        </a:solidFill>
      </p:bgPr>
    </p:bg>
    <p:spTree>
      <p:nvGrpSpPr>
        <p:cNvPr id="522" name="Shape 522"/>
        <p:cNvGrpSpPr/>
        <p:nvPr/>
      </p:nvGrpSpPr>
      <p:grpSpPr>
        <a:xfrm>
          <a:off x="0" y="0"/>
          <a:ext cx="0" cy="0"/>
          <a:chOff x="0" y="0"/>
          <a:chExt cx="0" cy="0"/>
        </a:xfrm>
      </p:grpSpPr>
      <p:grpSp>
        <p:nvGrpSpPr>
          <p:cNvPr id="523" name="Google Shape;523;p24"/>
          <p:cNvGrpSpPr/>
          <p:nvPr/>
        </p:nvGrpSpPr>
        <p:grpSpPr>
          <a:xfrm>
            <a:off x="-1474556" y="-715567"/>
            <a:ext cx="6686550" cy="6764908"/>
            <a:chOff x="0" y="-9525"/>
            <a:chExt cx="812800" cy="822325"/>
          </a:xfrm>
        </p:grpSpPr>
        <p:sp>
          <p:nvSpPr>
            <p:cNvPr id="524" name="Google Shape;524;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24"/>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6" name="Google Shape;526;p24"/>
          <p:cNvSpPr/>
          <p:nvPr/>
        </p:nvSpPr>
        <p:spPr>
          <a:xfrm>
            <a:off x="10875927" y="2569942"/>
            <a:ext cx="10791977" cy="10791977"/>
          </a:xfrm>
          <a:custGeom>
            <a:rect b="b" l="l" r="r" t="t"/>
            <a:pathLst>
              <a:path extrusionOk="0" h="10791977" w="10791977">
                <a:moveTo>
                  <a:pt x="0" y="0"/>
                </a:moveTo>
                <a:lnTo>
                  <a:pt x="10791977" y="0"/>
                </a:lnTo>
                <a:lnTo>
                  <a:pt x="10791977" y="10791977"/>
                </a:lnTo>
                <a:lnTo>
                  <a:pt x="0" y="10791977"/>
                </a:lnTo>
                <a:lnTo>
                  <a:pt x="0" y="0"/>
                </a:lnTo>
                <a:close/>
              </a:path>
            </a:pathLst>
          </a:custGeom>
          <a:blipFill rotWithShape="1">
            <a:blip r:embed="rId3">
              <a:alphaModFix amt="13000"/>
            </a:blip>
            <a:stretch>
              <a:fillRect b="0" l="0" r="0" t="0"/>
            </a:stretch>
          </a:blipFill>
          <a:ln>
            <a:noFill/>
          </a:ln>
        </p:spPr>
      </p:sp>
      <p:grpSp>
        <p:nvGrpSpPr>
          <p:cNvPr id="527" name="Google Shape;527;p24"/>
          <p:cNvGrpSpPr/>
          <p:nvPr/>
        </p:nvGrpSpPr>
        <p:grpSpPr>
          <a:xfrm>
            <a:off x="-277108" y="-787617"/>
            <a:ext cx="18842215" cy="958053"/>
            <a:chOff x="0" y="-85725"/>
            <a:chExt cx="4962559" cy="252327"/>
          </a:xfrm>
        </p:grpSpPr>
        <p:sp>
          <p:nvSpPr>
            <p:cNvPr id="528" name="Google Shape;528;p24"/>
            <p:cNvSpPr/>
            <p:nvPr/>
          </p:nvSpPr>
          <p:spPr>
            <a:xfrm>
              <a:off x="0" y="0"/>
              <a:ext cx="4962559" cy="166602"/>
            </a:xfrm>
            <a:custGeom>
              <a:rect b="b" l="l" r="r" t="t"/>
              <a:pathLst>
                <a:path extrusionOk="0" h="166602" w="4962559">
                  <a:moveTo>
                    <a:pt x="0" y="0"/>
                  </a:moveTo>
                  <a:lnTo>
                    <a:pt x="4962559" y="0"/>
                  </a:lnTo>
                  <a:lnTo>
                    <a:pt x="4962559" y="166602"/>
                  </a:lnTo>
                  <a:lnTo>
                    <a:pt x="0" y="166602"/>
                  </a:lnTo>
                  <a:close/>
                </a:path>
              </a:pathLst>
            </a:custGeom>
            <a:solidFill>
              <a:srgbClr val="000000"/>
            </a:solidFill>
            <a:ln>
              <a:noFill/>
            </a:ln>
          </p:spPr>
        </p:sp>
        <p:sp>
          <p:nvSpPr>
            <p:cNvPr id="529" name="Google Shape;529;p24"/>
            <p:cNvSpPr txBox="1"/>
            <p:nvPr/>
          </p:nvSpPr>
          <p:spPr>
            <a:xfrm>
              <a:off x="0" y="-85725"/>
              <a:ext cx="4962559" cy="2523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0" name="Google Shape;530;p24"/>
          <p:cNvGrpSpPr/>
          <p:nvPr/>
        </p:nvGrpSpPr>
        <p:grpSpPr>
          <a:xfrm>
            <a:off x="-124708" y="9713812"/>
            <a:ext cx="18842215" cy="941555"/>
            <a:chOff x="0" y="-85725"/>
            <a:chExt cx="4962559" cy="247981"/>
          </a:xfrm>
        </p:grpSpPr>
        <p:sp>
          <p:nvSpPr>
            <p:cNvPr id="531" name="Google Shape;531;p24"/>
            <p:cNvSpPr/>
            <p:nvPr/>
          </p:nvSpPr>
          <p:spPr>
            <a:xfrm>
              <a:off x="0" y="0"/>
              <a:ext cx="4962559" cy="162256"/>
            </a:xfrm>
            <a:custGeom>
              <a:rect b="b" l="l" r="r" t="t"/>
              <a:pathLst>
                <a:path extrusionOk="0" h="162256" w="4962559">
                  <a:moveTo>
                    <a:pt x="0" y="0"/>
                  </a:moveTo>
                  <a:lnTo>
                    <a:pt x="4962559" y="0"/>
                  </a:lnTo>
                  <a:lnTo>
                    <a:pt x="4962559" y="162256"/>
                  </a:lnTo>
                  <a:lnTo>
                    <a:pt x="0" y="162256"/>
                  </a:lnTo>
                  <a:close/>
                </a:path>
              </a:pathLst>
            </a:custGeom>
            <a:solidFill>
              <a:srgbClr val="000000"/>
            </a:solidFill>
            <a:ln>
              <a:noFill/>
            </a:ln>
          </p:spPr>
        </p:sp>
        <p:sp>
          <p:nvSpPr>
            <p:cNvPr id="532" name="Google Shape;532;p24"/>
            <p:cNvSpPr txBox="1"/>
            <p:nvPr/>
          </p:nvSpPr>
          <p:spPr>
            <a:xfrm>
              <a:off x="0" y="-85725"/>
              <a:ext cx="4962559" cy="24798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3" name="Google Shape;533;p24"/>
          <p:cNvSpPr txBox="1"/>
          <p:nvPr/>
        </p:nvSpPr>
        <p:spPr>
          <a:xfrm>
            <a:off x="4848225" y="3706191"/>
            <a:ext cx="7315990" cy="2045224"/>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11999"/>
              <a:buFont typeface="Arial"/>
              <a:buNone/>
            </a:pPr>
            <a:r>
              <a:rPr b="1" i="0" lang="en-US" sz="11999" u="none" cap="none" strike="noStrike">
                <a:solidFill>
                  <a:srgbClr val="000000"/>
                </a:solidFill>
                <a:latin typeface="Arial"/>
                <a:ea typeface="Arial"/>
                <a:cs typeface="Arial"/>
                <a:sym typeface="Arial"/>
              </a:rPr>
              <a:t>FACADE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537" name="Shape 537"/>
        <p:cNvGrpSpPr/>
        <p:nvPr/>
      </p:nvGrpSpPr>
      <p:grpSpPr>
        <a:xfrm>
          <a:off x="0" y="0"/>
          <a:ext cx="0" cy="0"/>
          <a:chOff x="0" y="0"/>
          <a:chExt cx="0" cy="0"/>
        </a:xfrm>
      </p:grpSpPr>
      <p:grpSp>
        <p:nvGrpSpPr>
          <p:cNvPr id="538" name="Google Shape;538;p25"/>
          <p:cNvGrpSpPr/>
          <p:nvPr/>
        </p:nvGrpSpPr>
        <p:grpSpPr>
          <a:xfrm>
            <a:off x="12639155" y="-839837"/>
            <a:ext cx="6233896" cy="11290922"/>
            <a:chOff x="0" y="-85725"/>
            <a:chExt cx="1641849" cy="2973741"/>
          </a:xfrm>
        </p:grpSpPr>
        <p:sp>
          <p:nvSpPr>
            <p:cNvPr id="539" name="Google Shape;539;p25"/>
            <p:cNvSpPr/>
            <p:nvPr/>
          </p:nvSpPr>
          <p:spPr>
            <a:xfrm>
              <a:off x="0" y="0"/>
              <a:ext cx="1641849" cy="2888016"/>
            </a:xfrm>
            <a:custGeom>
              <a:rect b="b" l="l" r="r" t="t"/>
              <a:pathLst>
                <a:path extrusionOk="0" h="2888016" w="1641849">
                  <a:moveTo>
                    <a:pt x="0" y="0"/>
                  </a:moveTo>
                  <a:lnTo>
                    <a:pt x="1641849" y="0"/>
                  </a:lnTo>
                  <a:lnTo>
                    <a:pt x="1641849" y="2888016"/>
                  </a:lnTo>
                  <a:lnTo>
                    <a:pt x="0" y="2888016"/>
                  </a:lnTo>
                  <a:close/>
                </a:path>
              </a:pathLst>
            </a:custGeom>
            <a:solidFill>
              <a:srgbClr val="FFC61A"/>
            </a:solidFill>
            <a:ln>
              <a:noFill/>
            </a:ln>
          </p:spPr>
        </p:sp>
        <p:sp>
          <p:nvSpPr>
            <p:cNvPr id="540" name="Google Shape;540;p25"/>
            <p:cNvSpPr txBox="1"/>
            <p:nvPr/>
          </p:nvSpPr>
          <p:spPr>
            <a:xfrm>
              <a:off x="0" y="-85725"/>
              <a:ext cx="1641849" cy="297374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1" name="Google Shape;541;p25"/>
          <p:cNvGrpSpPr/>
          <p:nvPr/>
        </p:nvGrpSpPr>
        <p:grpSpPr>
          <a:xfrm>
            <a:off x="15160324" y="-2279391"/>
            <a:ext cx="3269773" cy="3308091"/>
            <a:chOff x="0" y="-9525"/>
            <a:chExt cx="812800" cy="822325"/>
          </a:xfrm>
        </p:grpSpPr>
        <p:sp>
          <p:nvSpPr>
            <p:cNvPr id="542" name="Google Shape;542;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25"/>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4" name="Google Shape;544;p25"/>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545" name="Google Shape;545;p25"/>
          <p:cNvGrpSpPr/>
          <p:nvPr/>
        </p:nvGrpSpPr>
        <p:grpSpPr>
          <a:xfrm>
            <a:off x="-277108" y="9663467"/>
            <a:ext cx="18842215" cy="1249748"/>
            <a:chOff x="0" y="-85725"/>
            <a:chExt cx="4962559" cy="329151"/>
          </a:xfrm>
        </p:grpSpPr>
        <p:sp>
          <p:nvSpPr>
            <p:cNvPr id="546" name="Google Shape;546;p25"/>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547" name="Google Shape;547;p25"/>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8" name="Google Shape;548;p25"/>
          <p:cNvSpPr/>
          <p:nvPr/>
        </p:nvSpPr>
        <p:spPr>
          <a:xfrm>
            <a:off x="10240031" y="1601469"/>
            <a:ext cx="7019269" cy="7019240"/>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alphaModFix/>
            </a:blip>
            <a:stretch>
              <a:fillRect b="0" l="-25901" r="-25904"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25"/>
          <p:cNvSpPr txBox="1"/>
          <p:nvPr/>
        </p:nvSpPr>
        <p:spPr>
          <a:xfrm>
            <a:off x="427379" y="2577653"/>
            <a:ext cx="7600950"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1" i="0" lang="en-US" sz="1899" u="none" cap="none" strike="noStrike">
                <a:solidFill>
                  <a:srgbClr val="000000"/>
                </a:solidFill>
                <a:latin typeface="Arial"/>
                <a:ea typeface="Arial"/>
                <a:cs typeface="Arial"/>
                <a:sym typeface="Arial"/>
              </a:rPr>
              <a:t>Estructura del Patrón</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1"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La estructura del Facade generalmente involucra cuatro componentes clave:</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grpSp>
        <p:nvGrpSpPr>
          <p:cNvPr id="550" name="Google Shape;550;p25"/>
          <p:cNvGrpSpPr/>
          <p:nvPr/>
        </p:nvGrpSpPr>
        <p:grpSpPr>
          <a:xfrm>
            <a:off x="427379" y="4485648"/>
            <a:ext cx="3707565" cy="2441733"/>
            <a:chOff x="0" y="-85725"/>
            <a:chExt cx="976478" cy="643090"/>
          </a:xfrm>
        </p:grpSpPr>
        <p:sp>
          <p:nvSpPr>
            <p:cNvPr id="551" name="Google Shape;551;p25"/>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5"/>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3" name="Google Shape;553;p25"/>
          <p:cNvGrpSpPr/>
          <p:nvPr/>
        </p:nvGrpSpPr>
        <p:grpSpPr>
          <a:xfrm>
            <a:off x="1560300" y="4073379"/>
            <a:ext cx="1441724" cy="1458619"/>
            <a:chOff x="0" y="-9525"/>
            <a:chExt cx="812800" cy="822325"/>
          </a:xfrm>
        </p:grpSpPr>
        <p:sp>
          <p:nvSpPr>
            <p:cNvPr id="554" name="Google Shape;554;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5"/>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6" name="Google Shape;556;p25"/>
          <p:cNvGrpSpPr/>
          <p:nvPr/>
        </p:nvGrpSpPr>
        <p:grpSpPr>
          <a:xfrm>
            <a:off x="4767245" y="4508818"/>
            <a:ext cx="3707565" cy="3296657"/>
            <a:chOff x="0" y="-85725"/>
            <a:chExt cx="976478" cy="868255"/>
          </a:xfrm>
        </p:grpSpPr>
        <p:sp>
          <p:nvSpPr>
            <p:cNvPr id="557" name="Google Shape;557;p25"/>
            <p:cNvSpPr/>
            <p:nvPr/>
          </p:nvSpPr>
          <p:spPr>
            <a:xfrm>
              <a:off x="0" y="0"/>
              <a:ext cx="976478" cy="782530"/>
            </a:xfrm>
            <a:custGeom>
              <a:rect b="b" l="l" r="r" t="t"/>
              <a:pathLst>
                <a:path extrusionOk="0" h="782530" w="976478">
                  <a:moveTo>
                    <a:pt x="75173" y="0"/>
                  </a:moveTo>
                  <a:lnTo>
                    <a:pt x="901305" y="0"/>
                  </a:lnTo>
                  <a:cubicBezTo>
                    <a:pt x="921242" y="0"/>
                    <a:pt x="940363" y="7920"/>
                    <a:pt x="954460" y="22018"/>
                  </a:cubicBezTo>
                  <a:cubicBezTo>
                    <a:pt x="968558" y="36115"/>
                    <a:pt x="976478" y="55236"/>
                    <a:pt x="976478" y="75173"/>
                  </a:cubicBezTo>
                  <a:lnTo>
                    <a:pt x="976478" y="707357"/>
                  </a:lnTo>
                  <a:cubicBezTo>
                    <a:pt x="976478" y="727294"/>
                    <a:pt x="968558" y="746415"/>
                    <a:pt x="954460" y="760513"/>
                  </a:cubicBezTo>
                  <a:cubicBezTo>
                    <a:pt x="940363" y="774610"/>
                    <a:pt x="921242" y="782530"/>
                    <a:pt x="901305" y="782530"/>
                  </a:cubicBezTo>
                  <a:lnTo>
                    <a:pt x="75173" y="782530"/>
                  </a:lnTo>
                  <a:cubicBezTo>
                    <a:pt x="55236" y="782530"/>
                    <a:pt x="36115" y="774610"/>
                    <a:pt x="22018" y="760513"/>
                  </a:cubicBezTo>
                  <a:cubicBezTo>
                    <a:pt x="7920" y="746415"/>
                    <a:pt x="0" y="727294"/>
                    <a:pt x="0" y="707357"/>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25"/>
            <p:cNvSpPr txBox="1"/>
            <p:nvPr/>
          </p:nvSpPr>
          <p:spPr>
            <a:xfrm>
              <a:off x="0" y="-85725"/>
              <a:ext cx="976478" cy="86825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9" name="Google Shape;559;p25"/>
          <p:cNvGrpSpPr/>
          <p:nvPr/>
        </p:nvGrpSpPr>
        <p:grpSpPr>
          <a:xfrm>
            <a:off x="5900165" y="4096549"/>
            <a:ext cx="1441724" cy="1458619"/>
            <a:chOff x="0" y="-9525"/>
            <a:chExt cx="812800" cy="822325"/>
          </a:xfrm>
        </p:grpSpPr>
        <p:sp>
          <p:nvSpPr>
            <p:cNvPr id="560" name="Google Shape;560;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5"/>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2" name="Google Shape;562;p25"/>
          <p:cNvGrpSpPr/>
          <p:nvPr/>
        </p:nvGrpSpPr>
        <p:grpSpPr>
          <a:xfrm>
            <a:off x="457124" y="7322756"/>
            <a:ext cx="3648075" cy="2441733"/>
            <a:chOff x="0" y="-85725"/>
            <a:chExt cx="960810" cy="643090"/>
          </a:xfrm>
        </p:grpSpPr>
        <p:sp>
          <p:nvSpPr>
            <p:cNvPr id="563" name="Google Shape;563;p25"/>
            <p:cNvSpPr/>
            <p:nvPr/>
          </p:nvSpPr>
          <p:spPr>
            <a:xfrm>
              <a:off x="0" y="0"/>
              <a:ext cx="960810" cy="557365"/>
            </a:xfrm>
            <a:custGeom>
              <a:rect b="b" l="l" r="r" t="t"/>
              <a:pathLst>
                <a:path extrusionOk="0" h="557365" w="960810">
                  <a:moveTo>
                    <a:pt x="76399" y="0"/>
                  </a:moveTo>
                  <a:lnTo>
                    <a:pt x="884411" y="0"/>
                  </a:lnTo>
                  <a:cubicBezTo>
                    <a:pt x="926605" y="0"/>
                    <a:pt x="960810" y="34205"/>
                    <a:pt x="960810" y="76399"/>
                  </a:cubicBezTo>
                  <a:lnTo>
                    <a:pt x="960810" y="480966"/>
                  </a:lnTo>
                  <a:cubicBezTo>
                    <a:pt x="960810" y="523160"/>
                    <a:pt x="926605" y="557365"/>
                    <a:pt x="884411" y="557365"/>
                  </a:cubicBezTo>
                  <a:lnTo>
                    <a:pt x="76399" y="557365"/>
                  </a:lnTo>
                  <a:cubicBezTo>
                    <a:pt x="34205" y="557365"/>
                    <a:pt x="0" y="523160"/>
                    <a:pt x="0" y="480966"/>
                  </a:cubicBezTo>
                  <a:lnTo>
                    <a:pt x="0" y="76399"/>
                  </a:lnTo>
                  <a:cubicBezTo>
                    <a:pt x="0" y="34205"/>
                    <a:pt x="34205" y="0"/>
                    <a:pt x="76399"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25"/>
            <p:cNvSpPr txBox="1"/>
            <p:nvPr/>
          </p:nvSpPr>
          <p:spPr>
            <a:xfrm>
              <a:off x="0" y="-85725"/>
              <a:ext cx="960810"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5" name="Google Shape;565;p25"/>
          <p:cNvGrpSpPr/>
          <p:nvPr/>
        </p:nvGrpSpPr>
        <p:grpSpPr>
          <a:xfrm>
            <a:off x="1571866" y="6910486"/>
            <a:ext cx="1418590" cy="1458619"/>
            <a:chOff x="0" y="-9525"/>
            <a:chExt cx="799758" cy="822325"/>
          </a:xfrm>
        </p:grpSpPr>
        <p:sp>
          <p:nvSpPr>
            <p:cNvPr id="566" name="Google Shape;566;p25"/>
            <p:cNvSpPr/>
            <p:nvPr/>
          </p:nvSpPr>
          <p:spPr>
            <a:xfrm>
              <a:off x="0" y="0"/>
              <a:ext cx="799758" cy="812800"/>
            </a:xfrm>
            <a:custGeom>
              <a:rect b="b" l="l" r="r" t="t"/>
              <a:pathLst>
                <a:path extrusionOk="0" h="812800" w="799758">
                  <a:moveTo>
                    <a:pt x="399879" y="0"/>
                  </a:moveTo>
                  <a:cubicBezTo>
                    <a:pt x="179032" y="0"/>
                    <a:pt x="0" y="181951"/>
                    <a:pt x="0" y="406400"/>
                  </a:cubicBezTo>
                  <a:cubicBezTo>
                    <a:pt x="0" y="630849"/>
                    <a:pt x="179032" y="812800"/>
                    <a:pt x="399879" y="812800"/>
                  </a:cubicBezTo>
                  <a:cubicBezTo>
                    <a:pt x="620726" y="812800"/>
                    <a:pt x="799758" y="630849"/>
                    <a:pt x="799758" y="406400"/>
                  </a:cubicBezTo>
                  <a:cubicBezTo>
                    <a:pt x="799758" y="181951"/>
                    <a:pt x="620726" y="0"/>
                    <a:pt x="399879"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25"/>
            <p:cNvSpPr txBox="1"/>
            <p:nvPr/>
          </p:nvSpPr>
          <p:spPr>
            <a:xfrm>
              <a:off x="74977" y="-9525"/>
              <a:ext cx="649804"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8" name="Google Shape;568;p25"/>
          <p:cNvSpPr txBox="1"/>
          <p:nvPr/>
        </p:nvSpPr>
        <p:spPr>
          <a:xfrm>
            <a:off x="1598671" y="368259"/>
            <a:ext cx="11674978" cy="596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1" i="0" lang="en-US" sz="3500" u="none" cap="none" strike="noStrike">
                <a:solidFill>
                  <a:srgbClr val="000000"/>
                </a:solidFill>
                <a:latin typeface="Arial"/>
                <a:ea typeface="Arial"/>
                <a:cs typeface="Arial"/>
                <a:sym typeface="Arial"/>
              </a:rPr>
              <a:t>FACADE</a:t>
            </a:r>
            <a:endParaRPr b="0" i="0" sz="1400" u="none" cap="none" strike="noStrike">
              <a:solidFill>
                <a:srgbClr val="000000"/>
              </a:solidFill>
              <a:latin typeface="Arial"/>
              <a:ea typeface="Arial"/>
              <a:cs typeface="Arial"/>
              <a:sym typeface="Arial"/>
            </a:endParaRPr>
          </a:p>
        </p:txBody>
      </p:sp>
      <p:sp>
        <p:nvSpPr>
          <p:cNvPr id="569" name="Google Shape;569;p25"/>
          <p:cNvSpPr txBox="1"/>
          <p:nvPr/>
        </p:nvSpPr>
        <p:spPr>
          <a:xfrm>
            <a:off x="427379" y="1153795"/>
            <a:ext cx="10013013" cy="9804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El patrón de diseño Facade es un patrón estructural que ofrece una interfaz simple y unificada a un subsistema complejo. Su propósito es simplificar la interacción del cliente con un conjunto de clases, ocultando su complejidad y exponiendo un único punto de entrada.</a:t>
            </a:r>
            <a:endParaRPr b="0" i="0" sz="1400" u="none" cap="none" strike="noStrike">
              <a:solidFill>
                <a:srgbClr val="000000"/>
              </a:solidFill>
              <a:latin typeface="Arial"/>
              <a:ea typeface="Arial"/>
              <a:cs typeface="Arial"/>
              <a:sym typeface="Arial"/>
            </a:endParaRPr>
          </a:p>
        </p:txBody>
      </p:sp>
      <p:sp>
        <p:nvSpPr>
          <p:cNvPr id="570" name="Google Shape;570;p25"/>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571" name="Google Shape;571;p25"/>
          <p:cNvSpPr txBox="1"/>
          <p:nvPr/>
        </p:nvSpPr>
        <p:spPr>
          <a:xfrm>
            <a:off x="823296" y="4939792"/>
            <a:ext cx="2915730" cy="147891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Facade (Fachada): La clase principal que proporciona la interfaz unificada y simplificada. Internamente, mantiene referencias a las clases del subsistema y delega las peticiones del cliente a los objetos apropiados</a:t>
            </a:r>
            <a:endParaRPr b="0" i="0" sz="1400" u="none" cap="none" strike="noStrike">
              <a:solidFill>
                <a:srgbClr val="000000"/>
              </a:solidFill>
              <a:latin typeface="Arial"/>
              <a:ea typeface="Arial"/>
              <a:cs typeface="Arial"/>
              <a:sym typeface="Arial"/>
            </a:endParaRPr>
          </a:p>
        </p:txBody>
      </p:sp>
      <p:sp>
        <p:nvSpPr>
          <p:cNvPr id="572" name="Google Shape;572;p25"/>
          <p:cNvSpPr txBox="1"/>
          <p:nvPr/>
        </p:nvSpPr>
        <p:spPr>
          <a:xfrm>
            <a:off x="5163162" y="4953437"/>
            <a:ext cx="2915730" cy="25069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Subsystem Classes (Clases del Subsistema): Las clases complejas y de bajo nivel que realizan el trabajo real. El cliente no interactúa directamente con ellas; en su lugar, se comunican a través de la Facade.</a:t>
            </a:r>
            <a:endParaRPr b="0" i="0" sz="1400" u="none" cap="none" strike="noStrike">
              <a:solidFill>
                <a:srgbClr val="000000"/>
              </a:solidFill>
              <a:latin typeface="Arial"/>
              <a:ea typeface="Arial"/>
              <a:cs typeface="Arial"/>
              <a:sym typeface="Arial"/>
            </a:endParaRPr>
          </a:p>
        </p:txBody>
      </p:sp>
      <p:sp>
        <p:nvSpPr>
          <p:cNvPr id="573" name="Google Shape;573;p25"/>
          <p:cNvSpPr txBox="1"/>
          <p:nvPr/>
        </p:nvSpPr>
        <p:spPr>
          <a:xfrm>
            <a:off x="846688" y="7776900"/>
            <a:ext cx="2868946" cy="1726565"/>
          </a:xfrm>
          <a:prstGeom prst="rect">
            <a:avLst/>
          </a:prstGeom>
          <a:noFill/>
          <a:ln>
            <a:noFill/>
          </a:ln>
        </p:spPr>
        <p:txBody>
          <a:bodyPr anchorCtr="0" anchor="t" bIns="0" lIns="0" spcFirstLastPara="1" rIns="0" wrap="square" tIns="0">
            <a:spAutoFit/>
          </a:bodyPr>
          <a:lstStyle/>
          <a:p>
            <a:pPr indent="-151132" lvl="1" marL="302264" marR="0" rtl="0" algn="ctr">
              <a:lnSpc>
                <a:spcPct val="14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Client (Cliente): El objeto que usa el Facade para interactuar con el subsistema. El cliente no conoce la complejidad interna del subsistema y solo usa la interfaz simplificada que ofrece la Facade.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577" name="Shape 577"/>
        <p:cNvGrpSpPr/>
        <p:nvPr/>
      </p:nvGrpSpPr>
      <p:grpSpPr>
        <a:xfrm>
          <a:off x="0" y="0"/>
          <a:ext cx="0" cy="0"/>
          <a:chOff x="0" y="0"/>
          <a:chExt cx="0" cy="0"/>
        </a:xfrm>
      </p:grpSpPr>
      <p:grpSp>
        <p:nvGrpSpPr>
          <p:cNvPr id="578" name="Google Shape;578;p26"/>
          <p:cNvGrpSpPr/>
          <p:nvPr/>
        </p:nvGrpSpPr>
        <p:grpSpPr>
          <a:xfrm>
            <a:off x="15160324" y="-2279391"/>
            <a:ext cx="3269773" cy="3308091"/>
            <a:chOff x="0" y="-9525"/>
            <a:chExt cx="812800" cy="822325"/>
          </a:xfrm>
        </p:grpSpPr>
        <p:sp>
          <p:nvSpPr>
            <p:cNvPr id="579" name="Google Shape;579;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26"/>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1" name="Google Shape;581;p26"/>
          <p:cNvGrpSpPr/>
          <p:nvPr/>
        </p:nvGrpSpPr>
        <p:grpSpPr>
          <a:xfrm>
            <a:off x="-277108" y="9663467"/>
            <a:ext cx="18842215" cy="1249748"/>
            <a:chOff x="0" y="-85725"/>
            <a:chExt cx="4962559" cy="329151"/>
          </a:xfrm>
        </p:grpSpPr>
        <p:sp>
          <p:nvSpPr>
            <p:cNvPr id="582" name="Google Shape;582;p26"/>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583" name="Google Shape;583;p26"/>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4" name="Google Shape;584;p26"/>
          <p:cNvSpPr txBox="1"/>
          <p:nvPr/>
        </p:nvSpPr>
        <p:spPr>
          <a:xfrm>
            <a:off x="509680" y="388458"/>
            <a:ext cx="1607162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PROBLEMA</a:t>
            </a:r>
            <a:endParaRPr b="0" i="0" sz="1400" u="none" cap="none" strike="noStrike">
              <a:solidFill>
                <a:srgbClr val="000000"/>
              </a:solidFill>
              <a:latin typeface="Arial"/>
              <a:ea typeface="Arial"/>
              <a:cs typeface="Arial"/>
              <a:sym typeface="Arial"/>
            </a:endParaRPr>
          </a:p>
        </p:txBody>
      </p:sp>
      <p:sp>
        <p:nvSpPr>
          <p:cNvPr id="585" name="Google Shape;585;p26"/>
          <p:cNvSpPr txBox="1"/>
          <p:nvPr/>
        </p:nvSpPr>
        <p:spPr>
          <a:xfrm>
            <a:off x="509680" y="1574378"/>
            <a:ext cx="15378020" cy="237109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Imagina que debes lograr que tu código trabaje con un amplio grupo de objetos que pertenecen a una sofisticada biblioteca o framework. Normalmente, debes inicializar todos esos objetos, llevar un registro de las dependencias, ejecutar los métodos en el orden correcto y así sucesivamente.</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Como resultado, la lógica de negocio de tus clases se vería estrechamente acoplada a los detalles de implementación de las clases de terceros, haciéndola difícil de comprender y mantener.</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sp>
        <p:nvSpPr>
          <p:cNvPr id="586" name="Google Shape;586;p26"/>
          <p:cNvSpPr txBox="1"/>
          <p:nvPr/>
        </p:nvSpPr>
        <p:spPr>
          <a:xfrm>
            <a:off x="359335" y="5656793"/>
            <a:ext cx="17310925" cy="303784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Una fachada es una clase que proporciona una interfaz simple a un subsistema complejo que contiene muchas partes móviles. Una fachada puede proporcionar una funcionalidad limitada en comparación con trabajar directamente con el subsistema. Sin embargo, tan solo incluye las funciones realmente importantes para los clientes.</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Tener una fachada resulta útil cuando tienes que integrar tu aplicación con una biblioteca sofisticada con decenas de funciones, de la cual sólo necesitas una pequeña parte.</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Por ejemplo, una aplicación que sube breves vídeos divertidos de gatos a las redes sociales, podría potencialmente utilizar una biblioteca de conversión de vídeo profesional. Sin embargo, lo único que necesita en realidad es una clase con el método simple codificar(nombreDelArchivo, formato). Una vez que crees dicha clase y la conectes con la biblioteca de conversión de vídeo, tendrás tu primera fachada.</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sp>
        <p:nvSpPr>
          <p:cNvPr id="587" name="Google Shape;587;p26"/>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588" name="Google Shape;588;p26"/>
          <p:cNvSpPr txBox="1"/>
          <p:nvPr/>
        </p:nvSpPr>
        <p:spPr>
          <a:xfrm>
            <a:off x="359335" y="4469343"/>
            <a:ext cx="1607162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SOLUCIÓN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592" name="Shape 592"/>
        <p:cNvGrpSpPr/>
        <p:nvPr/>
      </p:nvGrpSpPr>
      <p:grpSpPr>
        <a:xfrm>
          <a:off x="0" y="0"/>
          <a:ext cx="0" cy="0"/>
          <a:chOff x="0" y="0"/>
          <a:chExt cx="0" cy="0"/>
        </a:xfrm>
      </p:grpSpPr>
      <p:grpSp>
        <p:nvGrpSpPr>
          <p:cNvPr id="593" name="Google Shape;593;p27"/>
          <p:cNvGrpSpPr/>
          <p:nvPr/>
        </p:nvGrpSpPr>
        <p:grpSpPr>
          <a:xfrm>
            <a:off x="15160324" y="-2279391"/>
            <a:ext cx="3269773" cy="3308091"/>
            <a:chOff x="0" y="-9525"/>
            <a:chExt cx="812800" cy="822325"/>
          </a:xfrm>
        </p:grpSpPr>
        <p:sp>
          <p:nvSpPr>
            <p:cNvPr id="594" name="Google Shape;594;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27"/>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96" name="Google Shape;596;p27"/>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597" name="Google Shape;597;p27"/>
          <p:cNvGrpSpPr/>
          <p:nvPr/>
        </p:nvGrpSpPr>
        <p:grpSpPr>
          <a:xfrm>
            <a:off x="-277108" y="9663467"/>
            <a:ext cx="18842215" cy="1249748"/>
            <a:chOff x="0" y="-85725"/>
            <a:chExt cx="4962559" cy="329151"/>
          </a:xfrm>
        </p:grpSpPr>
        <p:sp>
          <p:nvSpPr>
            <p:cNvPr id="598" name="Google Shape;598;p27"/>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599" name="Google Shape;599;p27"/>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0" name="Google Shape;600;p27"/>
          <p:cNvSpPr/>
          <p:nvPr/>
        </p:nvSpPr>
        <p:spPr>
          <a:xfrm>
            <a:off x="1028700" y="2618791"/>
            <a:ext cx="8115300" cy="3779327"/>
          </a:xfrm>
          <a:custGeom>
            <a:rect b="b" l="l" r="r" t="t"/>
            <a:pathLst>
              <a:path extrusionOk="0" h="3779327" w="8115300">
                <a:moveTo>
                  <a:pt x="0" y="0"/>
                </a:moveTo>
                <a:lnTo>
                  <a:pt x="8115300" y="0"/>
                </a:lnTo>
                <a:lnTo>
                  <a:pt x="8115300" y="3779327"/>
                </a:lnTo>
                <a:lnTo>
                  <a:pt x="0" y="3779327"/>
                </a:lnTo>
                <a:lnTo>
                  <a:pt x="0" y="0"/>
                </a:lnTo>
                <a:close/>
              </a:path>
            </a:pathLst>
          </a:custGeom>
          <a:blipFill rotWithShape="1">
            <a:blip r:embed="rId4">
              <a:alphaModFix/>
            </a:blip>
            <a:stretch>
              <a:fillRect b="0" l="0" r="0" t="0"/>
            </a:stretch>
          </a:blipFill>
          <a:ln>
            <a:noFill/>
          </a:ln>
        </p:spPr>
      </p:sp>
      <p:sp>
        <p:nvSpPr>
          <p:cNvPr id="601" name="Google Shape;601;p27"/>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ANALOGÍA DEL MUNDO REAL</a:t>
            </a:r>
            <a:endParaRPr b="0" i="0" sz="1400" u="none" cap="none" strike="noStrike">
              <a:solidFill>
                <a:srgbClr val="000000"/>
              </a:solidFill>
              <a:latin typeface="Arial"/>
              <a:ea typeface="Arial"/>
              <a:cs typeface="Arial"/>
              <a:sym typeface="Arial"/>
            </a:endParaRPr>
          </a:p>
        </p:txBody>
      </p:sp>
      <p:sp>
        <p:nvSpPr>
          <p:cNvPr id="602" name="Google Shape;602;p27"/>
          <p:cNvSpPr txBox="1"/>
          <p:nvPr/>
        </p:nvSpPr>
        <p:spPr>
          <a:xfrm>
            <a:off x="10215090" y="2644219"/>
            <a:ext cx="6806961" cy="31178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Arial"/>
                <a:ea typeface="Arial"/>
                <a:cs typeface="Arial"/>
                <a:sym typeface="Arial"/>
              </a:rPr>
              <a:t>Cuando llamas a una tienda para hacer un pedido por teléfono, un operador es tu fachada a todos los servicios y departamentos de la tienda. El operador te proporciona una sencilla interfaz de voz al sistema de pedidos, pasarelas de pago y varios servicios de entrega.</a:t>
            </a:r>
            <a:endParaRPr b="0" i="0" sz="1400" u="none" cap="none" strike="noStrike">
              <a:solidFill>
                <a:srgbClr val="000000"/>
              </a:solidFill>
              <a:latin typeface="Arial"/>
              <a:ea typeface="Arial"/>
              <a:cs typeface="Arial"/>
              <a:sym typeface="Arial"/>
            </a:endParaRPr>
          </a:p>
        </p:txBody>
      </p:sp>
      <p:sp>
        <p:nvSpPr>
          <p:cNvPr id="603" name="Google Shape;603;p27"/>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607" name="Shape 607"/>
        <p:cNvGrpSpPr/>
        <p:nvPr/>
      </p:nvGrpSpPr>
      <p:grpSpPr>
        <a:xfrm>
          <a:off x="0" y="0"/>
          <a:ext cx="0" cy="0"/>
          <a:chOff x="0" y="0"/>
          <a:chExt cx="0" cy="0"/>
        </a:xfrm>
      </p:grpSpPr>
      <p:grpSp>
        <p:nvGrpSpPr>
          <p:cNvPr id="608" name="Google Shape;608;p28"/>
          <p:cNvGrpSpPr/>
          <p:nvPr/>
        </p:nvGrpSpPr>
        <p:grpSpPr>
          <a:xfrm>
            <a:off x="15160324" y="-2279391"/>
            <a:ext cx="3269773" cy="3308091"/>
            <a:chOff x="0" y="-9525"/>
            <a:chExt cx="812800" cy="822325"/>
          </a:xfrm>
        </p:grpSpPr>
        <p:sp>
          <p:nvSpPr>
            <p:cNvPr id="609" name="Google Shape;609;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28"/>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1" name="Google Shape;611;p28"/>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612" name="Google Shape;612;p28"/>
          <p:cNvGrpSpPr/>
          <p:nvPr/>
        </p:nvGrpSpPr>
        <p:grpSpPr>
          <a:xfrm>
            <a:off x="-277108" y="9663467"/>
            <a:ext cx="18842215" cy="1249748"/>
            <a:chOff x="0" y="-85725"/>
            <a:chExt cx="4962559" cy="329151"/>
          </a:xfrm>
        </p:grpSpPr>
        <p:sp>
          <p:nvSpPr>
            <p:cNvPr id="613" name="Google Shape;613;p28"/>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614" name="Google Shape;614;p28"/>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5" name="Google Shape;615;p28"/>
          <p:cNvSpPr/>
          <p:nvPr/>
        </p:nvSpPr>
        <p:spPr>
          <a:xfrm>
            <a:off x="1028700" y="2085097"/>
            <a:ext cx="7223603" cy="5811968"/>
          </a:xfrm>
          <a:custGeom>
            <a:rect b="b" l="l" r="r" t="t"/>
            <a:pathLst>
              <a:path extrusionOk="0" h="5811968" w="7223603">
                <a:moveTo>
                  <a:pt x="0" y="0"/>
                </a:moveTo>
                <a:lnTo>
                  <a:pt x="7223603" y="0"/>
                </a:lnTo>
                <a:lnTo>
                  <a:pt x="7223603" y="5811968"/>
                </a:lnTo>
                <a:lnTo>
                  <a:pt x="0" y="5811968"/>
                </a:lnTo>
                <a:lnTo>
                  <a:pt x="0" y="0"/>
                </a:lnTo>
                <a:close/>
              </a:path>
            </a:pathLst>
          </a:custGeom>
          <a:blipFill rotWithShape="1">
            <a:blip r:embed="rId4">
              <a:alphaModFix/>
            </a:blip>
            <a:stretch>
              <a:fillRect b="0" l="0" r="0" t="0"/>
            </a:stretch>
          </a:blipFill>
          <a:ln>
            <a:noFill/>
          </a:ln>
        </p:spPr>
      </p:sp>
      <p:sp>
        <p:nvSpPr>
          <p:cNvPr id="616" name="Google Shape;616;p28"/>
          <p:cNvSpPr/>
          <p:nvPr/>
        </p:nvSpPr>
        <p:spPr>
          <a:xfrm>
            <a:off x="9300606" y="2085097"/>
            <a:ext cx="8349926" cy="5562214"/>
          </a:xfrm>
          <a:custGeom>
            <a:rect b="b" l="l" r="r" t="t"/>
            <a:pathLst>
              <a:path extrusionOk="0" h="5562214" w="8349926">
                <a:moveTo>
                  <a:pt x="0" y="0"/>
                </a:moveTo>
                <a:lnTo>
                  <a:pt x="8349927" y="0"/>
                </a:lnTo>
                <a:lnTo>
                  <a:pt x="8349927" y="5562213"/>
                </a:lnTo>
                <a:lnTo>
                  <a:pt x="0" y="5562213"/>
                </a:lnTo>
                <a:lnTo>
                  <a:pt x="0" y="0"/>
                </a:lnTo>
                <a:close/>
              </a:path>
            </a:pathLst>
          </a:custGeom>
          <a:blipFill rotWithShape="1">
            <a:blip r:embed="rId5">
              <a:alphaModFix/>
            </a:blip>
            <a:stretch>
              <a:fillRect b="0" l="0" r="0" t="0"/>
            </a:stretch>
          </a:blipFill>
          <a:ln>
            <a:noFill/>
          </a:ln>
        </p:spPr>
      </p:sp>
      <p:sp>
        <p:nvSpPr>
          <p:cNvPr id="617" name="Google Shape;617;p28"/>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UML</a:t>
            </a:r>
            <a:endParaRPr b="0" i="0" sz="1400" u="none" cap="none" strike="noStrike">
              <a:solidFill>
                <a:srgbClr val="000000"/>
              </a:solidFill>
              <a:latin typeface="Arial"/>
              <a:ea typeface="Arial"/>
              <a:cs typeface="Arial"/>
              <a:sym typeface="Arial"/>
            </a:endParaRPr>
          </a:p>
        </p:txBody>
      </p:sp>
      <p:sp>
        <p:nvSpPr>
          <p:cNvPr id="618" name="Google Shape;618;p28"/>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622" name="Shape 622"/>
        <p:cNvGrpSpPr/>
        <p:nvPr/>
      </p:nvGrpSpPr>
      <p:grpSpPr>
        <a:xfrm>
          <a:off x="0" y="0"/>
          <a:ext cx="0" cy="0"/>
          <a:chOff x="0" y="0"/>
          <a:chExt cx="0" cy="0"/>
        </a:xfrm>
      </p:grpSpPr>
      <p:grpSp>
        <p:nvGrpSpPr>
          <p:cNvPr id="623" name="Google Shape;623;p29"/>
          <p:cNvGrpSpPr/>
          <p:nvPr/>
        </p:nvGrpSpPr>
        <p:grpSpPr>
          <a:xfrm>
            <a:off x="15160324" y="-2279391"/>
            <a:ext cx="3269773" cy="3308091"/>
            <a:chOff x="0" y="-9525"/>
            <a:chExt cx="812800" cy="822325"/>
          </a:xfrm>
        </p:grpSpPr>
        <p:sp>
          <p:nvSpPr>
            <p:cNvPr id="624" name="Google Shape;624;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29"/>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6" name="Google Shape;626;p29"/>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627" name="Google Shape;627;p29"/>
          <p:cNvGrpSpPr/>
          <p:nvPr/>
        </p:nvGrpSpPr>
        <p:grpSpPr>
          <a:xfrm>
            <a:off x="-277108" y="9663467"/>
            <a:ext cx="18842215" cy="1249748"/>
            <a:chOff x="0" y="-85725"/>
            <a:chExt cx="4962559" cy="329151"/>
          </a:xfrm>
        </p:grpSpPr>
        <p:sp>
          <p:nvSpPr>
            <p:cNvPr id="628" name="Google Shape;628;p29"/>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629" name="Google Shape;629;p29"/>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0" name="Google Shape;630;p29"/>
          <p:cNvSpPr/>
          <p:nvPr/>
        </p:nvSpPr>
        <p:spPr>
          <a:xfrm>
            <a:off x="4564648" y="3424339"/>
            <a:ext cx="7923429" cy="5293720"/>
          </a:xfrm>
          <a:custGeom>
            <a:rect b="b" l="l" r="r" t="t"/>
            <a:pathLst>
              <a:path extrusionOk="0" h="5293720" w="7923429">
                <a:moveTo>
                  <a:pt x="0" y="0"/>
                </a:moveTo>
                <a:lnTo>
                  <a:pt x="7923429" y="0"/>
                </a:lnTo>
                <a:lnTo>
                  <a:pt x="7923429" y="5293719"/>
                </a:lnTo>
                <a:lnTo>
                  <a:pt x="0" y="5293719"/>
                </a:lnTo>
                <a:lnTo>
                  <a:pt x="0" y="0"/>
                </a:lnTo>
                <a:close/>
              </a:path>
            </a:pathLst>
          </a:custGeom>
          <a:blipFill rotWithShape="1">
            <a:blip r:embed="rId4">
              <a:alphaModFix/>
            </a:blip>
            <a:stretch>
              <a:fillRect b="0" l="0" r="0" t="0"/>
            </a:stretch>
          </a:blipFill>
          <a:ln>
            <a:noFill/>
          </a:ln>
        </p:spPr>
      </p:sp>
      <p:sp>
        <p:nvSpPr>
          <p:cNvPr id="631" name="Google Shape;631;p29"/>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CASO REAL</a:t>
            </a:r>
            <a:endParaRPr b="0" i="0" sz="1400" u="none" cap="none" strike="noStrike">
              <a:solidFill>
                <a:srgbClr val="000000"/>
              </a:solidFill>
              <a:latin typeface="Arial"/>
              <a:ea typeface="Arial"/>
              <a:cs typeface="Arial"/>
              <a:sym typeface="Arial"/>
            </a:endParaRPr>
          </a:p>
        </p:txBody>
      </p:sp>
      <p:sp>
        <p:nvSpPr>
          <p:cNvPr id="632" name="Google Shape;632;p29"/>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633" name="Google Shape;633;p29"/>
          <p:cNvSpPr txBox="1"/>
          <p:nvPr/>
        </p:nvSpPr>
        <p:spPr>
          <a:xfrm>
            <a:off x="639402" y="1172772"/>
            <a:ext cx="15378020" cy="170434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Mediante la implementación del patrón de diseño Facade implementaremos un sistema que permite realizar pagos en línea, para lo cual será necesario interactuar con varios sistemas, dichos sistemas conllevan una cierta complejidad, por lo que interactuar con todos los subsistemas puede ser muy complicado, sobre todo para los programadores que no tienen contexto del funcionamiento de los subsistemas. Por lo cual se implementará una fachada que permita exponer operaciones de alto nivel, las cuales se encarguen de interactuar con los |subsistemas y abstrae a los programadores de la complejidad de interactuar con dichos sistemas.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637" name="Shape 637"/>
        <p:cNvGrpSpPr/>
        <p:nvPr/>
      </p:nvGrpSpPr>
      <p:grpSpPr>
        <a:xfrm>
          <a:off x="0" y="0"/>
          <a:ext cx="0" cy="0"/>
          <a:chOff x="0" y="0"/>
          <a:chExt cx="0" cy="0"/>
        </a:xfrm>
      </p:grpSpPr>
      <p:grpSp>
        <p:nvGrpSpPr>
          <p:cNvPr id="638" name="Google Shape;638;p30"/>
          <p:cNvGrpSpPr/>
          <p:nvPr/>
        </p:nvGrpSpPr>
        <p:grpSpPr>
          <a:xfrm>
            <a:off x="15160324" y="-2279391"/>
            <a:ext cx="3269773" cy="3308091"/>
            <a:chOff x="0" y="-9525"/>
            <a:chExt cx="812800" cy="822325"/>
          </a:xfrm>
        </p:grpSpPr>
        <p:sp>
          <p:nvSpPr>
            <p:cNvPr id="639" name="Google Shape;639;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30"/>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1" name="Google Shape;641;p30"/>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642" name="Google Shape;642;p30"/>
          <p:cNvGrpSpPr/>
          <p:nvPr/>
        </p:nvGrpSpPr>
        <p:grpSpPr>
          <a:xfrm>
            <a:off x="-277108" y="9663467"/>
            <a:ext cx="18842215" cy="1249748"/>
            <a:chOff x="0" y="-85725"/>
            <a:chExt cx="4962559" cy="329151"/>
          </a:xfrm>
        </p:grpSpPr>
        <p:sp>
          <p:nvSpPr>
            <p:cNvPr id="643" name="Google Shape;643;p30"/>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644" name="Google Shape;644;p30"/>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5" name="Google Shape;645;p30"/>
          <p:cNvSpPr/>
          <p:nvPr/>
        </p:nvSpPr>
        <p:spPr>
          <a:xfrm>
            <a:off x="5834818" y="570323"/>
            <a:ext cx="7245361" cy="9171343"/>
          </a:xfrm>
          <a:custGeom>
            <a:rect b="b" l="l" r="r" t="t"/>
            <a:pathLst>
              <a:path extrusionOk="0" h="9171343" w="7245361">
                <a:moveTo>
                  <a:pt x="0" y="0"/>
                </a:moveTo>
                <a:lnTo>
                  <a:pt x="7245361" y="0"/>
                </a:lnTo>
                <a:lnTo>
                  <a:pt x="7245361" y="9171343"/>
                </a:lnTo>
                <a:lnTo>
                  <a:pt x="0" y="9171343"/>
                </a:lnTo>
                <a:lnTo>
                  <a:pt x="0" y="0"/>
                </a:lnTo>
                <a:close/>
              </a:path>
            </a:pathLst>
          </a:custGeom>
          <a:blipFill rotWithShape="1">
            <a:blip r:embed="rId4">
              <a:alphaModFix/>
            </a:blip>
            <a:stretch>
              <a:fillRect b="0" l="0" r="0" t="0"/>
            </a:stretch>
          </a:blipFill>
          <a:ln>
            <a:noFill/>
          </a:ln>
        </p:spPr>
      </p:sp>
      <p:sp>
        <p:nvSpPr>
          <p:cNvPr id="646" name="Google Shape;646;p30"/>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FLUJO</a:t>
            </a:r>
            <a:endParaRPr b="0" i="0" sz="1400" u="none" cap="none" strike="noStrike">
              <a:solidFill>
                <a:srgbClr val="000000"/>
              </a:solidFill>
              <a:latin typeface="Arial"/>
              <a:ea typeface="Arial"/>
              <a:cs typeface="Arial"/>
              <a:sym typeface="Arial"/>
            </a:endParaRPr>
          </a:p>
        </p:txBody>
      </p:sp>
      <p:sp>
        <p:nvSpPr>
          <p:cNvPr id="647" name="Google Shape;647;p30"/>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651" name="Shape 651"/>
        <p:cNvGrpSpPr/>
        <p:nvPr/>
      </p:nvGrpSpPr>
      <p:grpSpPr>
        <a:xfrm>
          <a:off x="0" y="0"/>
          <a:ext cx="0" cy="0"/>
          <a:chOff x="0" y="0"/>
          <a:chExt cx="0" cy="0"/>
        </a:xfrm>
      </p:grpSpPr>
      <p:grpSp>
        <p:nvGrpSpPr>
          <p:cNvPr id="652" name="Google Shape;652;g364471a2a7c_0_2"/>
          <p:cNvGrpSpPr/>
          <p:nvPr/>
        </p:nvGrpSpPr>
        <p:grpSpPr>
          <a:xfrm>
            <a:off x="15160324" y="-2279391"/>
            <a:ext cx="3269813" cy="3308131"/>
            <a:chOff x="0" y="-9525"/>
            <a:chExt cx="812800" cy="822325"/>
          </a:xfrm>
        </p:grpSpPr>
        <p:sp>
          <p:nvSpPr>
            <p:cNvPr id="653" name="Google Shape;653;g364471a2a7c_0_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g364471a2a7c_0_2"/>
            <p:cNvSpPr txBox="1"/>
            <p:nvPr/>
          </p:nvSpPr>
          <p:spPr>
            <a:xfrm>
              <a:off x="76200" y="-9525"/>
              <a:ext cx="660300" cy="746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55" name="Google Shape;655;g364471a2a7c_0_2"/>
          <p:cNvGrpSpPr/>
          <p:nvPr/>
        </p:nvGrpSpPr>
        <p:grpSpPr>
          <a:xfrm>
            <a:off x="-277108" y="9663466"/>
            <a:ext cx="18842496" cy="1249753"/>
            <a:chOff x="0" y="-85725"/>
            <a:chExt cx="4962600" cy="329151"/>
          </a:xfrm>
        </p:grpSpPr>
        <p:sp>
          <p:nvSpPr>
            <p:cNvPr id="656" name="Google Shape;656;g364471a2a7c_0_2"/>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657" name="Google Shape;657;g364471a2a7c_0_2"/>
            <p:cNvSpPr txBox="1"/>
            <p:nvPr/>
          </p:nvSpPr>
          <p:spPr>
            <a:xfrm>
              <a:off x="0" y="-85725"/>
              <a:ext cx="4962600" cy="329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8" name="Google Shape;658;g364471a2a7c_0_2"/>
          <p:cNvSpPr txBox="1"/>
          <p:nvPr/>
        </p:nvSpPr>
        <p:spPr>
          <a:xfrm>
            <a:off x="748626" y="777384"/>
            <a:ext cx="80874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FFC61A"/>
                </a:solidFill>
                <a:latin typeface="Arial"/>
                <a:ea typeface="Arial"/>
                <a:cs typeface="Arial"/>
                <a:sym typeface="Arial"/>
              </a:rPr>
              <a:t>EJEMPLO PRÁCTICO</a:t>
            </a:r>
            <a:endParaRPr b="0" i="0" sz="1400" u="none" cap="none" strike="noStrike">
              <a:solidFill>
                <a:srgbClr val="000000"/>
              </a:solidFill>
              <a:latin typeface="Arial"/>
              <a:ea typeface="Arial"/>
              <a:cs typeface="Arial"/>
              <a:sym typeface="Arial"/>
            </a:endParaRPr>
          </a:p>
        </p:txBody>
      </p:sp>
      <p:sp>
        <p:nvSpPr>
          <p:cNvPr id="659" name="Google Shape;659;g364471a2a7c_0_2"/>
          <p:cNvSpPr txBox="1"/>
          <p:nvPr/>
        </p:nvSpPr>
        <p:spPr>
          <a:xfrm>
            <a:off x="15756103" y="60284"/>
            <a:ext cx="2532000" cy="738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660" name="Google Shape;660;g364471a2a7c_0_2"/>
          <p:cNvSpPr txBox="1"/>
          <p:nvPr/>
        </p:nvSpPr>
        <p:spPr>
          <a:xfrm>
            <a:off x="1261858" y="2569575"/>
            <a:ext cx="15324000" cy="7296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200"/>
              </a:spcBef>
              <a:spcAft>
                <a:spcPts val="0"/>
              </a:spcAft>
              <a:buClr>
                <a:srgbClr val="000000"/>
              </a:buClr>
              <a:buSzPts val="1100"/>
              <a:buFont typeface="Arial"/>
              <a:buNone/>
            </a:pPr>
            <a:r>
              <a:rPr b="0" i="0" lang="en-US" sz="3000" u="none" cap="none" strike="noStrike">
                <a:solidFill>
                  <a:schemeClr val="dk1"/>
                </a:solidFill>
                <a:latin typeface="Arial"/>
                <a:ea typeface="Arial"/>
                <a:cs typeface="Arial"/>
                <a:sym typeface="Arial"/>
              </a:rPr>
              <a:t>La app necesita </a:t>
            </a:r>
            <a:r>
              <a:rPr b="1" i="0" lang="en-US" sz="3000" u="none" cap="none" strike="noStrike">
                <a:solidFill>
                  <a:schemeClr val="dk1"/>
                </a:solidFill>
                <a:latin typeface="Arial"/>
                <a:ea typeface="Arial"/>
                <a:cs typeface="Arial"/>
                <a:sym typeface="Arial"/>
              </a:rPr>
              <a:t>registrar</a:t>
            </a:r>
            <a:r>
              <a:rPr b="0" i="0" lang="en-US" sz="3000" u="none" cap="none" strike="noStrike">
                <a:solidFill>
                  <a:schemeClr val="dk1"/>
                </a:solidFill>
                <a:latin typeface="Arial"/>
                <a:ea typeface="Arial"/>
                <a:cs typeface="Arial"/>
                <a:sym typeface="Arial"/>
              </a:rPr>
              <a:t> y </a:t>
            </a:r>
            <a:r>
              <a:rPr b="1" i="0" lang="en-US" sz="3000" u="none" cap="none" strike="noStrike">
                <a:solidFill>
                  <a:schemeClr val="dk1"/>
                </a:solidFill>
                <a:latin typeface="Arial"/>
                <a:ea typeface="Arial"/>
                <a:cs typeface="Arial"/>
                <a:sym typeface="Arial"/>
              </a:rPr>
              <a:t>loguear</a:t>
            </a:r>
            <a:r>
              <a:rPr b="0" i="0" lang="en-US" sz="3000" u="none" cap="none" strike="noStrike">
                <a:solidFill>
                  <a:schemeClr val="dk1"/>
                </a:solidFill>
                <a:latin typeface="Arial"/>
                <a:ea typeface="Arial"/>
                <a:cs typeface="Arial"/>
                <a:sym typeface="Arial"/>
              </a:rPr>
              <a:t> usuarios. Internamente hay varios pasos (validar email, “hashear” password, guardar usuario, emitir token de sesión).</a:t>
            </a:r>
            <a:br>
              <a:rPr b="0" i="0" lang="en-US" sz="3000" u="none" cap="none" strike="noStrike">
                <a:solidFill>
                  <a:schemeClr val="dk1"/>
                </a:solidFill>
                <a:latin typeface="Arial"/>
                <a:ea typeface="Arial"/>
                <a:cs typeface="Arial"/>
                <a:sym typeface="Arial"/>
              </a:rPr>
            </a:br>
            <a:r>
              <a:rPr b="0" i="0" lang="en-US" sz="3000" u="none" cap="none" strike="noStrike">
                <a:solidFill>
                  <a:schemeClr val="dk1"/>
                </a:solidFill>
                <a:latin typeface="Arial"/>
                <a:ea typeface="Arial"/>
                <a:cs typeface="Arial"/>
                <a:sym typeface="Arial"/>
              </a:rPr>
              <a:t> Crea una </a:t>
            </a:r>
            <a:r>
              <a:rPr b="1" i="0" lang="en-US" sz="3000" u="none" cap="none" strike="noStrike">
                <a:solidFill>
                  <a:schemeClr val="dk1"/>
                </a:solidFill>
                <a:latin typeface="Arial"/>
                <a:ea typeface="Arial"/>
                <a:cs typeface="Arial"/>
                <a:sym typeface="Arial"/>
              </a:rPr>
              <a:t>Fachada </a:t>
            </a:r>
            <a:r>
              <a:rPr b="1" i="0" lang="en-US" sz="3000" u="none" cap="none" strike="noStrike">
                <a:solidFill>
                  <a:schemeClr val="dk1"/>
                </a:solidFill>
                <a:latin typeface="Roboto Mono"/>
                <a:ea typeface="Roboto Mono"/>
                <a:cs typeface="Roboto Mono"/>
                <a:sym typeface="Roboto Mono"/>
              </a:rPr>
              <a:t>AuthFacade</a:t>
            </a:r>
            <a:r>
              <a:rPr b="0" i="0" lang="en-US" sz="3000" u="none" cap="none" strike="noStrike">
                <a:solidFill>
                  <a:schemeClr val="dk1"/>
                </a:solidFill>
                <a:latin typeface="Arial"/>
                <a:ea typeface="Arial"/>
                <a:cs typeface="Arial"/>
                <a:sym typeface="Arial"/>
              </a:rPr>
              <a:t> con métodos:</a:t>
            </a:r>
            <a:endParaRPr b="0" i="0" sz="3000" u="none" cap="none" strike="noStrike">
              <a:solidFill>
                <a:schemeClr val="dk1"/>
              </a:solidFill>
              <a:latin typeface="Arial"/>
              <a:ea typeface="Arial"/>
              <a:cs typeface="Arial"/>
              <a:sym typeface="Arial"/>
            </a:endParaRPr>
          </a:p>
          <a:p>
            <a:pPr indent="-419100" lvl="0" marL="457200" marR="0" rtl="0" algn="l">
              <a:lnSpc>
                <a:spcPct val="115000"/>
              </a:lnSpc>
              <a:spcBef>
                <a:spcPts val="1200"/>
              </a:spcBef>
              <a:spcAft>
                <a:spcPts val="0"/>
              </a:spcAft>
              <a:buClr>
                <a:schemeClr val="dk1"/>
              </a:buClr>
              <a:buSzPts val="3000"/>
              <a:buFont typeface="Arial"/>
              <a:buChar char="●"/>
            </a:pPr>
            <a:r>
              <a:rPr b="0" i="0" lang="en-US" sz="3000" u="none" cap="none" strike="noStrike">
                <a:solidFill>
                  <a:schemeClr val="dk1"/>
                </a:solidFill>
                <a:latin typeface="Roboto Mono"/>
                <a:ea typeface="Roboto Mono"/>
                <a:cs typeface="Roboto Mono"/>
                <a:sym typeface="Roboto Mono"/>
              </a:rPr>
              <a:t>register(email, password): Promise&lt;{ id: number }&gt;</a:t>
            </a:r>
            <a:br>
              <a:rPr b="0" i="0" lang="en-US" sz="3000" u="none" cap="none" strike="noStrike">
                <a:solidFill>
                  <a:schemeClr val="dk1"/>
                </a:solidFill>
                <a:latin typeface="Roboto Mono"/>
                <a:ea typeface="Roboto Mono"/>
                <a:cs typeface="Roboto Mono"/>
                <a:sym typeface="Roboto Mono"/>
              </a:rPr>
            </a:br>
            <a:endParaRPr b="0" i="0" sz="3000" u="none" cap="none" strike="noStrike">
              <a:solidFill>
                <a:schemeClr val="dk1"/>
              </a:solidFill>
              <a:latin typeface="Roboto Mono"/>
              <a:ea typeface="Roboto Mono"/>
              <a:cs typeface="Roboto Mono"/>
              <a:sym typeface="Roboto Mono"/>
            </a:endParaRPr>
          </a:p>
          <a:p>
            <a:pPr indent="-419100" lvl="0" marL="457200" marR="0" rtl="0" algn="l">
              <a:lnSpc>
                <a:spcPct val="115000"/>
              </a:lnSpc>
              <a:spcBef>
                <a:spcPts val="0"/>
              </a:spcBef>
              <a:spcAft>
                <a:spcPts val="0"/>
              </a:spcAft>
              <a:buClr>
                <a:schemeClr val="dk1"/>
              </a:buClr>
              <a:buSzPts val="3000"/>
              <a:buFont typeface="Arial"/>
              <a:buChar char="●"/>
            </a:pPr>
            <a:r>
              <a:rPr b="0" i="0" lang="en-US" sz="3000" u="none" cap="none" strike="noStrike">
                <a:solidFill>
                  <a:schemeClr val="dk1"/>
                </a:solidFill>
                <a:latin typeface="Roboto Mono"/>
                <a:ea typeface="Roboto Mono"/>
                <a:cs typeface="Roboto Mono"/>
                <a:sym typeface="Roboto Mono"/>
              </a:rPr>
              <a:t>login(email, password): Promise&lt;{ token: string }&gt;</a:t>
            </a:r>
            <a:br>
              <a:rPr b="0" i="0" lang="en-US" sz="3000" u="none" cap="none" strike="noStrike">
                <a:solidFill>
                  <a:schemeClr val="dk1"/>
                </a:solidFill>
                <a:latin typeface="Roboto Mono"/>
                <a:ea typeface="Roboto Mono"/>
                <a:cs typeface="Roboto Mono"/>
                <a:sym typeface="Roboto Mono"/>
              </a:rPr>
            </a:br>
            <a:endParaRPr b="0" i="0" sz="3000" u="none" cap="none" strike="noStrike">
              <a:solidFill>
                <a:schemeClr val="dk1"/>
              </a:solidFill>
              <a:latin typeface="Roboto Mono"/>
              <a:ea typeface="Roboto Mono"/>
              <a:cs typeface="Roboto Mono"/>
              <a:sym typeface="Roboto Mono"/>
            </a:endParaRPr>
          </a:p>
          <a:p>
            <a:pPr indent="-419100" lvl="0" marL="457200" marR="0" rtl="0" algn="l">
              <a:lnSpc>
                <a:spcPct val="115000"/>
              </a:lnSpc>
              <a:spcBef>
                <a:spcPts val="0"/>
              </a:spcBef>
              <a:spcAft>
                <a:spcPts val="0"/>
              </a:spcAft>
              <a:buClr>
                <a:schemeClr val="dk1"/>
              </a:buClr>
              <a:buSzPts val="3000"/>
              <a:buFont typeface="Arial"/>
              <a:buChar char="●"/>
            </a:pPr>
            <a:r>
              <a:rPr b="0" i="0" lang="en-US" sz="3000" u="none" cap="none" strike="noStrike">
                <a:solidFill>
                  <a:schemeClr val="dk1"/>
                </a:solidFill>
                <a:latin typeface="Roboto Mono"/>
                <a:ea typeface="Roboto Mono"/>
                <a:cs typeface="Roboto Mono"/>
                <a:sym typeface="Roboto Mono"/>
              </a:rPr>
              <a:t>getProfile(token): Promise&lt;{ id: number; email: string }&gt;</a:t>
            </a:r>
            <a:br>
              <a:rPr b="0" i="0" lang="en-US" sz="3000" u="none" cap="none" strike="noStrike">
                <a:solidFill>
                  <a:schemeClr val="dk1"/>
                </a:solidFill>
                <a:latin typeface="Roboto Mono"/>
                <a:ea typeface="Roboto Mono"/>
                <a:cs typeface="Roboto Mono"/>
                <a:sym typeface="Roboto Mono"/>
              </a:rPr>
            </a:br>
            <a:endParaRPr b="0" i="0" sz="3000" u="none" cap="none" strike="noStrike">
              <a:solidFill>
                <a:schemeClr val="dk1"/>
              </a:solidFill>
              <a:latin typeface="Roboto Mono"/>
              <a:ea typeface="Roboto Mono"/>
              <a:cs typeface="Roboto Mono"/>
              <a:sym typeface="Roboto Mono"/>
            </a:endParaRPr>
          </a:p>
          <a:p>
            <a:pPr indent="-419100" lvl="0" marL="457200" marR="0" rtl="0" algn="l">
              <a:lnSpc>
                <a:spcPct val="115000"/>
              </a:lnSpc>
              <a:spcBef>
                <a:spcPts val="0"/>
              </a:spcBef>
              <a:spcAft>
                <a:spcPts val="0"/>
              </a:spcAft>
              <a:buClr>
                <a:schemeClr val="dk1"/>
              </a:buClr>
              <a:buSzPts val="3000"/>
              <a:buFont typeface="Arial"/>
              <a:buChar char="●"/>
            </a:pPr>
            <a:r>
              <a:rPr b="0" i="0" lang="en-US" sz="3000" u="none" cap="none" strike="noStrike">
                <a:solidFill>
                  <a:schemeClr val="dk1"/>
                </a:solidFill>
                <a:latin typeface="Roboto Mono"/>
                <a:ea typeface="Roboto Mono"/>
                <a:cs typeface="Roboto Mono"/>
                <a:sym typeface="Roboto Mono"/>
              </a:rPr>
              <a:t>logout(token): Promise&lt;void&gt;</a:t>
            </a:r>
            <a:br>
              <a:rPr b="0" i="0" lang="en-US" sz="3000" u="none" cap="none" strike="noStrike">
                <a:solidFill>
                  <a:schemeClr val="dk1"/>
                </a:solidFill>
                <a:latin typeface="Roboto Mono"/>
                <a:ea typeface="Roboto Mono"/>
                <a:cs typeface="Roboto Mono"/>
                <a:sym typeface="Roboto Mono"/>
              </a:rPr>
            </a:br>
            <a:endParaRPr b="0" i="0" sz="3000" u="none" cap="none" strike="noStrike">
              <a:solidFill>
                <a:schemeClr val="dk1"/>
              </a:solidFill>
              <a:latin typeface="Roboto Mono"/>
              <a:ea typeface="Roboto Mono"/>
              <a:cs typeface="Roboto Mono"/>
              <a:sym typeface="Roboto Mono"/>
            </a:endParaRPr>
          </a:p>
          <a:p>
            <a:pPr indent="0" lvl="0" marL="0" marR="0" rtl="0" algn="l">
              <a:lnSpc>
                <a:spcPct val="115000"/>
              </a:lnSpc>
              <a:spcBef>
                <a:spcPts val="1200"/>
              </a:spcBef>
              <a:spcAft>
                <a:spcPts val="0"/>
              </a:spcAft>
              <a:buClr>
                <a:srgbClr val="000000"/>
              </a:buClr>
              <a:buSzPts val="1100"/>
              <a:buFont typeface="Arial"/>
              <a:buNone/>
            </a:pPr>
            <a:r>
              <a:rPr b="0" i="0" lang="en-US" sz="3000" u="none" cap="none" strike="noStrike">
                <a:solidFill>
                  <a:schemeClr val="dk1"/>
                </a:solidFill>
                <a:latin typeface="Arial"/>
                <a:ea typeface="Arial"/>
                <a:cs typeface="Arial"/>
                <a:sym typeface="Arial"/>
              </a:rPr>
              <a:t>Los clientes solo llaman a la fachada; los subsistemas quedan ocultos.</a:t>
            </a:r>
            <a:endParaRPr b="0" i="0" sz="3000" u="none" cap="none" strike="noStrike">
              <a:solidFill>
                <a:schemeClr val="dk1"/>
              </a:solidFill>
              <a:latin typeface="Arial"/>
              <a:ea typeface="Arial"/>
              <a:cs typeface="Arial"/>
              <a:sym typeface="Arial"/>
            </a:endParaRPr>
          </a:p>
          <a:p>
            <a:pPr indent="0" lvl="0" marL="0" marR="0" rtl="0" algn="ctr">
              <a:lnSpc>
                <a:spcPct val="140031"/>
              </a:lnSpc>
              <a:spcBef>
                <a:spcPts val="1200"/>
              </a:spcBef>
              <a:spcAft>
                <a:spcPts val="0"/>
              </a:spcAft>
              <a:buClr>
                <a:srgbClr val="000000"/>
              </a:buClr>
              <a:buSzPts val="3000"/>
              <a:buFont typeface="Arial"/>
              <a:buNone/>
            </a:pPr>
            <a:r>
              <a:t/>
            </a:r>
            <a:endParaRPr b="0" i="0" sz="30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61A"/>
        </a:solidFill>
      </p:bgPr>
    </p:bg>
    <p:spTree>
      <p:nvGrpSpPr>
        <p:cNvPr id="664" name="Shape 664"/>
        <p:cNvGrpSpPr/>
        <p:nvPr/>
      </p:nvGrpSpPr>
      <p:grpSpPr>
        <a:xfrm>
          <a:off x="0" y="0"/>
          <a:ext cx="0" cy="0"/>
          <a:chOff x="0" y="0"/>
          <a:chExt cx="0" cy="0"/>
        </a:xfrm>
      </p:grpSpPr>
      <p:grpSp>
        <p:nvGrpSpPr>
          <p:cNvPr id="665" name="Google Shape;665;p32"/>
          <p:cNvGrpSpPr/>
          <p:nvPr/>
        </p:nvGrpSpPr>
        <p:grpSpPr>
          <a:xfrm>
            <a:off x="-1474556" y="-715567"/>
            <a:ext cx="6686550" cy="6764908"/>
            <a:chOff x="0" y="-9525"/>
            <a:chExt cx="812800" cy="822325"/>
          </a:xfrm>
        </p:grpSpPr>
        <p:sp>
          <p:nvSpPr>
            <p:cNvPr id="666" name="Google Shape;666;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3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68" name="Google Shape;668;p32"/>
          <p:cNvSpPr/>
          <p:nvPr/>
        </p:nvSpPr>
        <p:spPr>
          <a:xfrm>
            <a:off x="10875927" y="2569942"/>
            <a:ext cx="10791977" cy="10791977"/>
          </a:xfrm>
          <a:custGeom>
            <a:rect b="b" l="l" r="r" t="t"/>
            <a:pathLst>
              <a:path extrusionOk="0" h="10791977" w="10791977">
                <a:moveTo>
                  <a:pt x="0" y="0"/>
                </a:moveTo>
                <a:lnTo>
                  <a:pt x="10791977" y="0"/>
                </a:lnTo>
                <a:lnTo>
                  <a:pt x="10791977" y="10791977"/>
                </a:lnTo>
                <a:lnTo>
                  <a:pt x="0" y="10791977"/>
                </a:lnTo>
                <a:lnTo>
                  <a:pt x="0" y="0"/>
                </a:lnTo>
                <a:close/>
              </a:path>
            </a:pathLst>
          </a:custGeom>
          <a:blipFill rotWithShape="1">
            <a:blip r:embed="rId3">
              <a:alphaModFix amt="13000"/>
            </a:blip>
            <a:stretch>
              <a:fillRect b="0" l="0" r="0" t="0"/>
            </a:stretch>
          </a:blipFill>
          <a:ln>
            <a:noFill/>
          </a:ln>
        </p:spPr>
      </p:sp>
      <p:grpSp>
        <p:nvGrpSpPr>
          <p:cNvPr id="669" name="Google Shape;669;p32"/>
          <p:cNvGrpSpPr/>
          <p:nvPr/>
        </p:nvGrpSpPr>
        <p:grpSpPr>
          <a:xfrm>
            <a:off x="-277108" y="-787617"/>
            <a:ext cx="18842215" cy="958053"/>
            <a:chOff x="0" y="-85725"/>
            <a:chExt cx="4962559" cy="252327"/>
          </a:xfrm>
        </p:grpSpPr>
        <p:sp>
          <p:nvSpPr>
            <p:cNvPr id="670" name="Google Shape;670;p32"/>
            <p:cNvSpPr/>
            <p:nvPr/>
          </p:nvSpPr>
          <p:spPr>
            <a:xfrm>
              <a:off x="0" y="0"/>
              <a:ext cx="4962559" cy="166602"/>
            </a:xfrm>
            <a:custGeom>
              <a:rect b="b" l="l" r="r" t="t"/>
              <a:pathLst>
                <a:path extrusionOk="0" h="166602" w="4962559">
                  <a:moveTo>
                    <a:pt x="0" y="0"/>
                  </a:moveTo>
                  <a:lnTo>
                    <a:pt x="4962559" y="0"/>
                  </a:lnTo>
                  <a:lnTo>
                    <a:pt x="4962559" y="166602"/>
                  </a:lnTo>
                  <a:lnTo>
                    <a:pt x="0" y="166602"/>
                  </a:lnTo>
                  <a:close/>
                </a:path>
              </a:pathLst>
            </a:custGeom>
            <a:solidFill>
              <a:srgbClr val="000000"/>
            </a:solidFill>
            <a:ln>
              <a:noFill/>
            </a:ln>
          </p:spPr>
        </p:sp>
        <p:sp>
          <p:nvSpPr>
            <p:cNvPr id="671" name="Google Shape;671;p32"/>
            <p:cNvSpPr txBox="1"/>
            <p:nvPr/>
          </p:nvSpPr>
          <p:spPr>
            <a:xfrm>
              <a:off x="0" y="-85725"/>
              <a:ext cx="4962559" cy="2523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2" name="Google Shape;672;p32"/>
          <p:cNvGrpSpPr/>
          <p:nvPr/>
        </p:nvGrpSpPr>
        <p:grpSpPr>
          <a:xfrm>
            <a:off x="-124708" y="9713812"/>
            <a:ext cx="18842215" cy="941555"/>
            <a:chOff x="0" y="-85725"/>
            <a:chExt cx="4962559" cy="247981"/>
          </a:xfrm>
        </p:grpSpPr>
        <p:sp>
          <p:nvSpPr>
            <p:cNvPr id="673" name="Google Shape;673;p32"/>
            <p:cNvSpPr/>
            <p:nvPr/>
          </p:nvSpPr>
          <p:spPr>
            <a:xfrm>
              <a:off x="0" y="0"/>
              <a:ext cx="4962559" cy="162256"/>
            </a:xfrm>
            <a:custGeom>
              <a:rect b="b" l="l" r="r" t="t"/>
              <a:pathLst>
                <a:path extrusionOk="0" h="162256" w="4962559">
                  <a:moveTo>
                    <a:pt x="0" y="0"/>
                  </a:moveTo>
                  <a:lnTo>
                    <a:pt x="4962559" y="0"/>
                  </a:lnTo>
                  <a:lnTo>
                    <a:pt x="4962559" y="162256"/>
                  </a:lnTo>
                  <a:lnTo>
                    <a:pt x="0" y="162256"/>
                  </a:lnTo>
                  <a:close/>
                </a:path>
              </a:pathLst>
            </a:custGeom>
            <a:solidFill>
              <a:srgbClr val="000000"/>
            </a:solidFill>
            <a:ln>
              <a:noFill/>
            </a:ln>
          </p:spPr>
        </p:sp>
        <p:sp>
          <p:nvSpPr>
            <p:cNvPr id="674" name="Google Shape;674;p32"/>
            <p:cNvSpPr txBox="1"/>
            <p:nvPr/>
          </p:nvSpPr>
          <p:spPr>
            <a:xfrm>
              <a:off x="0" y="-85725"/>
              <a:ext cx="4962559" cy="24798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75" name="Google Shape;675;p32"/>
          <p:cNvSpPr txBox="1"/>
          <p:nvPr/>
        </p:nvSpPr>
        <p:spPr>
          <a:xfrm>
            <a:off x="4848225" y="3706200"/>
            <a:ext cx="9925800" cy="18468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11999"/>
              <a:buFont typeface="Arial"/>
              <a:buNone/>
            </a:pPr>
            <a:r>
              <a:rPr b="1" i="0" lang="en-US" sz="11999" u="none" cap="none" strike="noStrike">
                <a:solidFill>
                  <a:srgbClr val="000000"/>
                </a:solidFill>
                <a:latin typeface="Arial"/>
                <a:ea typeface="Arial"/>
                <a:cs typeface="Arial"/>
                <a:sym typeface="Arial"/>
              </a:rPr>
              <a:t>DECORATOR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679" name="Shape 679"/>
        <p:cNvGrpSpPr/>
        <p:nvPr/>
      </p:nvGrpSpPr>
      <p:grpSpPr>
        <a:xfrm>
          <a:off x="0" y="0"/>
          <a:ext cx="0" cy="0"/>
          <a:chOff x="0" y="0"/>
          <a:chExt cx="0" cy="0"/>
        </a:xfrm>
      </p:grpSpPr>
      <p:grpSp>
        <p:nvGrpSpPr>
          <p:cNvPr id="680" name="Google Shape;680;p33"/>
          <p:cNvGrpSpPr/>
          <p:nvPr/>
        </p:nvGrpSpPr>
        <p:grpSpPr>
          <a:xfrm>
            <a:off x="12639155" y="-839837"/>
            <a:ext cx="6233896" cy="11290922"/>
            <a:chOff x="0" y="-85725"/>
            <a:chExt cx="1641849" cy="2973741"/>
          </a:xfrm>
        </p:grpSpPr>
        <p:sp>
          <p:nvSpPr>
            <p:cNvPr id="681" name="Google Shape;681;p33"/>
            <p:cNvSpPr/>
            <p:nvPr/>
          </p:nvSpPr>
          <p:spPr>
            <a:xfrm>
              <a:off x="0" y="0"/>
              <a:ext cx="1641849" cy="2888016"/>
            </a:xfrm>
            <a:custGeom>
              <a:rect b="b" l="l" r="r" t="t"/>
              <a:pathLst>
                <a:path extrusionOk="0" h="2888016" w="1641849">
                  <a:moveTo>
                    <a:pt x="0" y="0"/>
                  </a:moveTo>
                  <a:lnTo>
                    <a:pt x="1641849" y="0"/>
                  </a:lnTo>
                  <a:lnTo>
                    <a:pt x="1641849" y="2888016"/>
                  </a:lnTo>
                  <a:lnTo>
                    <a:pt x="0" y="2888016"/>
                  </a:lnTo>
                  <a:close/>
                </a:path>
              </a:pathLst>
            </a:custGeom>
            <a:solidFill>
              <a:srgbClr val="FFC61A"/>
            </a:solidFill>
            <a:ln>
              <a:noFill/>
            </a:ln>
          </p:spPr>
        </p:sp>
        <p:sp>
          <p:nvSpPr>
            <p:cNvPr id="682" name="Google Shape;682;p33"/>
            <p:cNvSpPr txBox="1"/>
            <p:nvPr/>
          </p:nvSpPr>
          <p:spPr>
            <a:xfrm>
              <a:off x="0" y="-85725"/>
              <a:ext cx="1641849" cy="297374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83" name="Google Shape;683;p33"/>
          <p:cNvGrpSpPr/>
          <p:nvPr/>
        </p:nvGrpSpPr>
        <p:grpSpPr>
          <a:xfrm>
            <a:off x="15160324" y="-2279391"/>
            <a:ext cx="3269773" cy="3308091"/>
            <a:chOff x="0" y="-9525"/>
            <a:chExt cx="812800" cy="822325"/>
          </a:xfrm>
        </p:grpSpPr>
        <p:sp>
          <p:nvSpPr>
            <p:cNvPr id="684" name="Google Shape;684;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33"/>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6" name="Google Shape;686;p33"/>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687" name="Google Shape;687;p33"/>
          <p:cNvGrpSpPr/>
          <p:nvPr/>
        </p:nvGrpSpPr>
        <p:grpSpPr>
          <a:xfrm>
            <a:off x="-277108" y="9663467"/>
            <a:ext cx="18842215" cy="1249748"/>
            <a:chOff x="0" y="-85725"/>
            <a:chExt cx="4962559" cy="329151"/>
          </a:xfrm>
        </p:grpSpPr>
        <p:sp>
          <p:nvSpPr>
            <p:cNvPr id="688" name="Google Shape;688;p33"/>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689" name="Google Shape;689;p33"/>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90" name="Google Shape;690;p33"/>
          <p:cNvSpPr/>
          <p:nvPr/>
        </p:nvSpPr>
        <p:spPr>
          <a:xfrm>
            <a:off x="10240031" y="1601469"/>
            <a:ext cx="7019269" cy="7019240"/>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alphaModFix/>
            </a:blip>
            <a:stretch>
              <a:fillRect b="0" l="-27080" r="-2708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33"/>
          <p:cNvSpPr txBox="1"/>
          <p:nvPr/>
        </p:nvSpPr>
        <p:spPr>
          <a:xfrm>
            <a:off x="427379" y="2577653"/>
            <a:ext cx="7600950"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1" i="0" lang="en-US" sz="1899" u="none" cap="none" strike="noStrike">
                <a:solidFill>
                  <a:srgbClr val="000000"/>
                </a:solidFill>
                <a:latin typeface="Arial"/>
                <a:ea typeface="Arial"/>
                <a:cs typeface="Arial"/>
                <a:sym typeface="Arial"/>
              </a:rPr>
              <a:t>Estructura del Patrón</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1"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La estructura del Decorator generalmente involucra cuatro componentes clave:</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grpSp>
        <p:nvGrpSpPr>
          <p:cNvPr id="692" name="Google Shape;692;p33"/>
          <p:cNvGrpSpPr/>
          <p:nvPr/>
        </p:nvGrpSpPr>
        <p:grpSpPr>
          <a:xfrm>
            <a:off x="427379" y="4485648"/>
            <a:ext cx="3707565" cy="2441733"/>
            <a:chOff x="0" y="-85725"/>
            <a:chExt cx="976478" cy="643090"/>
          </a:xfrm>
        </p:grpSpPr>
        <p:sp>
          <p:nvSpPr>
            <p:cNvPr id="693" name="Google Shape;693;p33"/>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33"/>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95" name="Google Shape;695;p33"/>
          <p:cNvGrpSpPr/>
          <p:nvPr/>
        </p:nvGrpSpPr>
        <p:grpSpPr>
          <a:xfrm>
            <a:off x="1560300" y="4073379"/>
            <a:ext cx="1441724" cy="1458619"/>
            <a:chOff x="0" y="-9525"/>
            <a:chExt cx="812800" cy="822325"/>
          </a:xfrm>
        </p:grpSpPr>
        <p:sp>
          <p:nvSpPr>
            <p:cNvPr id="696" name="Google Shape;696;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33"/>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98" name="Google Shape;698;p33"/>
          <p:cNvGrpSpPr/>
          <p:nvPr/>
        </p:nvGrpSpPr>
        <p:grpSpPr>
          <a:xfrm>
            <a:off x="4767245" y="4508818"/>
            <a:ext cx="3707565" cy="2441733"/>
            <a:chOff x="0" y="-85725"/>
            <a:chExt cx="976478" cy="643090"/>
          </a:xfrm>
        </p:grpSpPr>
        <p:sp>
          <p:nvSpPr>
            <p:cNvPr id="699" name="Google Shape;699;p33"/>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33"/>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01" name="Google Shape;701;p33"/>
          <p:cNvGrpSpPr/>
          <p:nvPr/>
        </p:nvGrpSpPr>
        <p:grpSpPr>
          <a:xfrm>
            <a:off x="5900165" y="4096549"/>
            <a:ext cx="1441724" cy="1458619"/>
            <a:chOff x="0" y="-9525"/>
            <a:chExt cx="812800" cy="822325"/>
          </a:xfrm>
        </p:grpSpPr>
        <p:sp>
          <p:nvSpPr>
            <p:cNvPr id="702" name="Google Shape;702;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33"/>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04" name="Google Shape;704;p33"/>
          <p:cNvGrpSpPr/>
          <p:nvPr/>
        </p:nvGrpSpPr>
        <p:grpSpPr>
          <a:xfrm>
            <a:off x="457124" y="7322756"/>
            <a:ext cx="3648075" cy="2441733"/>
            <a:chOff x="0" y="-85725"/>
            <a:chExt cx="960810" cy="643090"/>
          </a:xfrm>
        </p:grpSpPr>
        <p:sp>
          <p:nvSpPr>
            <p:cNvPr id="705" name="Google Shape;705;p33"/>
            <p:cNvSpPr/>
            <p:nvPr/>
          </p:nvSpPr>
          <p:spPr>
            <a:xfrm>
              <a:off x="0" y="0"/>
              <a:ext cx="960810" cy="557365"/>
            </a:xfrm>
            <a:custGeom>
              <a:rect b="b" l="l" r="r" t="t"/>
              <a:pathLst>
                <a:path extrusionOk="0" h="557365" w="960810">
                  <a:moveTo>
                    <a:pt x="76399" y="0"/>
                  </a:moveTo>
                  <a:lnTo>
                    <a:pt x="884411" y="0"/>
                  </a:lnTo>
                  <a:cubicBezTo>
                    <a:pt x="926605" y="0"/>
                    <a:pt x="960810" y="34205"/>
                    <a:pt x="960810" y="76399"/>
                  </a:cubicBezTo>
                  <a:lnTo>
                    <a:pt x="960810" y="480966"/>
                  </a:lnTo>
                  <a:cubicBezTo>
                    <a:pt x="960810" y="523160"/>
                    <a:pt x="926605" y="557365"/>
                    <a:pt x="884411" y="557365"/>
                  </a:cubicBezTo>
                  <a:lnTo>
                    <a:pt x="76399" y="557365"/>
                  </a:lnTo>
                  <a:cubicBezTo>
                    <a:pt x="34205" y="557365"/>
                    <a:pt x="0" y="523160"/>
                    <a:pt x="0" y="480966"/>
                  </a:cubicBezTo>
                  <a:lnTo>
                    <a:pt x="0" y="76399"/>
                  </a:lnTo>
                  <a:cubicBezTo>
                    <a:pt x="0" y="34205"/>
                    <a:pt x="34205" y="0"/>
                    <a:pt x="76399"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33"/>
            <p:cNvSpPr txBox="1"/>
            <p:nvPr/>
          </p:nvSpPr>
          <p:spPr>
            <a:xfrm>
              <a:off x="0" y="-85725"/>
              <a:ext cx="960810"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07" name="Google Shape;707;p33"/>
          <p:cNvGrpSpPr/>
          <p:nvPr/>
        </p:nvGrpSpPr>
        <p:grpSpPr>
          <a:xfrm>
            <a:off x="1571866" y="6910486"/>
            <a:ext cx="1418590" cy="1458619"/>
            <a:chOff x="0" y="-9525"/>
            <a:chExt cx="799758" cy="822325"/>
          </a:xfrm>
        </p:grpSpPr>
        <p:sp>
          <p:nvSpPr>
            <p:cNvPr id="708" name="Google Shape;708;p33"/>
            <p:cNvSpPr/>
            <p:nvPr/>
          </p:nvSpPr>
          <p:spPr>
            <a:xfrm>
              <a:off x="0" y="0"/>
              <a:ext cx="799758" cy="812800"/>
            </a:xfrm>
            <a:custGeom>
              <a:rect b="b" l="l" r="r" t="t"/>
              <a:pathLst>
                <a:path extrusionOk="0" h="812800" w="799758">
                  <a:moveTo>
                    <a:pt x="399879" y="0"/>
                  </a:moveTo>
                  <a:cubicBezTo>
                    <a:pt x="179032" y="0"/>
                    <a:pt x="0" y="181951"/>
                    <a:pt x="0" y="406400"/>
                  </a:cubicBezTo>
                  <a:cubicBezTo>
                    <a:pt x="0" y="630849"/>
                    <a:pt x="179032" y="812800"/>
                    <a:pt x="399879" y="812800"/>
                  </a:cubicBezTo>
                  <a:cubicBezTo>
                    <a:pt x="620726" y="812800"/>
                    <a:pt x="799758" y="630849"/>
                    <a:pt x="799758" y="406400"/>
                  </a:cubicBezTo>
                  <a:cubicBezTo>
                    <a:pt x="799758" y="181951"/>
                    <a:pt x="620726" y="0"/>
                    <a:pt x="399879"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33"/>
            <p:cNvSpPr txBox="1"/>
            <p:nvPr/>
          </p:nvSpPr>
          <p:spPr>
            <a:xfrm>
              <a:off x="74977" y="-9525"/>
              <a:ext cx="649804"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10" name="Google Shape;710;p33"/>
          <p:cNvGrpSpPr/>
          <p:nvPr/>
        </p:nvGrpSpPr>
        <p:grpSpPr>
          <a:xfrm>
            <a:off x="4767245" y="7322756"/>
            <a:ext cx="3707565" cy="2441733"/>
            <a:chOff x="0" y="-85725"/>
            <a:chExt cx="976478" cy="643090"/>
          </a:xfrm>
        </p:grpSpPr>
        <p:sp>
          <p:nvSpPr>
            <p:cNvPr id="711" name="Google Shape;711;p33"/>
            <p:cNvSpPr/>
            <p:nvPr/>
          </p:nvSpPr>
          <p:spPr>
            <a:xfrm>
              <a:off x="0" y="0"/>
              <a:ext cx="976478" cy="557365"/>
            </a:xfrm>
            <a:custGeom>
              <a:rect b="b" l="l" r="r" t="t"/>
              <a:pathLst>
                <a:path extrusionOk="0" h="557365" w="976478">
                  <a:moveTo>
                    <a:pt x="75173" y="0"/>
                  </a:moveTo>
                  <a:lnTo>
                    <a:pt x="901305" y="0"/>
                  </a:lnTo>
                  <a:cubicBezTo>
                    <a:pt x="921242" y="0"/>
                    <a:pt x="940363" y="7920"/>
                    <a:pt x="954460" y="22018"/>
                  </a:cubicBezTo>
                  <a:cubicBezTo>
                    <a:pt x="968558" y="36115"/>
                    <a:pt x="976478" y="55236"/>
                    <a:pt x="976478" y="75173"/>
                  </a:cubicBezTo>
                  <a:lnTo>
                    <a:pt x="976478" y="482192"/>
                  </a:lnTo>
                  <a:cubicBezTo>
                    <a:pt x="976478" y="502129"/>
                    <a:pt x="968558" y="521250"/>
                    <a:pt x="954460" y="535347"/>
                  </a:cubicBezTo>
                  <a:cubicBezTo>
                    <a:pt x="940363" y="549445"/>
                    <a:pt x="921242" y="557365"/>
                    <a:pt x="901305" y="557365"/>
                  </a:cubicBezTo>
                  <a:lnTo>
                    <a:pt x="75173" y="557365"/>
                  </a:lnTo>
                  <a:cubicBezTo>
                    <a:pt x="55236" y="557365"/>
                    <a:pt x="36115" y="549445"/>
                    <a:pt x="22018" y="535347"/>
                  </a:cubicBezTo>
                  <a:cubicBezTo>
                    <a:pt x="7920" y="521250"/>
                    <a:pt x="0" y="502129"/>
                    <a:pt x="0" y="482192"/>
                  </a:cubicBezTo>
                  <a:lnTo>
                    <a:pt x="0" y="75173"/>
                  </a:lnTo>
                  <a:cubicBezTo>
                    <a:pt x="0" y="55236"/>
                    <a:pt x="7920" y="36115"/>
                    <a:pt x="22018" y="22018"/>
                  </a:cubicBezTo>
                  <a:cubicBezTo>
                    <a:pt x="36115" y="7920"/>
                    <a:pt x="55236" y="0"/>
                    <a:pt x="75173"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33"/>
            <p:cNvSpPr txBox="1"/>
            <p:nvPr/>
          </p:nvSpPr>
          <p:spPr>
            <a:xfrm>
              <a:off x="0" y="-85725"/>
              <a:ext cx="976478" cy="643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13" name="Google Shape;713;p33"/>
          <p:cNvGrpSpPr/>
          <p:nvPr/>
        </p:nvGrpSpPr>
        <p:grpSpPr>
          <a:xfrm>
            <a:off x="5900165" y="6910486"/>
            <a:ext cx="1441724" cy="1458619"/>
            <a:chOff x="0" y="-9525"/>
            <a:chExt cx="812800" cy="822325"/>
          </a:xfrm>
        </p:grpSpPr>
        <p:sp>
          <p:nvSpPr>
            <p:cNvPr id="714" name="Google Shape;714;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6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33"/>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6" name="Google Shape;716;p33"/>
          <p:cNvSpPr txBox="1"/>
          <p:nvPr/>
        </p:nvSpPr>
        <p:spPr>
          <a:xfrm>
            <a:off x="1598671" y="368259"/>
            <a:ext cx="11674978" cy="596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1" i="0" lang="en-US" sz="3500" u="none" cap="none" strike="noStrike">
                <a:solidFill>
                  <a:srgbClr val="000000"/>
                </a:solidFill>
                <a:latin typeface="Arial"/>
                <a:ea typeface="Arial"/>
                <a:cs typeface="Arial"/>
                <a:sym typeface="Arial"/>
              </a:rPr>
              <a:t>DECORATOR</a:t>
            </a:r>
            <a:endParaRPr b="0" i="0" sz="1400" u="none" cap="none" strike="noStrike">
              <a:solidFill>
                <a:srgbClr val="000000"/>
              </a:solidFill>
              <a:latin typeface="Arial"/>
              <a:ea typeface="Arial"/>
              <a:cs typeface="Arial"/>
              <a:sym typeface="Arial"/>
            </a:endParaRPr>
          </a:p>
        </p:txBody>
      </p:sp>
      <p:sp>
        <p:nvSpPr>
          <p:cNvPr id="717" name="Google Shape;717;p33"/>
          <p:cNvSpPr txBox="1"/>
          <p:nvPr/>
        </p:nvSpPr>
        <p:spPr>
          <a:xfrm>
            <a:off x="427379" y="1153795"/>
            <a:ext cx="10013013" cy="131381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El patrón de diseño Decorator (Decorador) es un patrón estructural que permite añadir nuevas funcionalidades a un objeto de forma dinámica sin modificar su código fuente original. Esto se logra envolviendo el objeto original en un "decorador" que implementa la misma interfaz, de manera que el cliente no se dé cuenta de que está tratando con un objeto mejorado.</a:t>
            </a:r>
            <a:endParaRPr b="0" i="0" sz="1400" u="none" cap="none" strike="noStrike">
              <a:solidFill>
                <a:srgbClr val="000000"/>
              </a:solidFill>
              <a:latin typeface="Arial"/>
              <a:ea typeface="Arial"/>
              <a:cs typeface="Arial"/>
              <a:sym typeface="Arial"/>
            </a:endParaRPr>
          </a:p>
        </p:txBody>
      </p:sp>
      <p:sp>
        <p:nvSpPr>
          <p:cNvPr id="718" name="Google Shape;718;p33"/>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719" name="Google Shape;719;p33"/>
          <p:cNvSpPr txBox="1"/>
          <p:nvPr/>
        </p:nvSpPr>
        <p:spPr>
          <a:xfrm>
            <a:off x="823296" y="4939792"/>
            <a:ext cx="2915730" cy="19215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Component (Componente): La interfaz común que tanto el objeto base como los decoradores implementan. Esto garantiza que todos los objetos pueden ser tratados de la misma manera por el cliente.</a:t>
            </a:r>
            <a:endParaRPr b="0" i="0" sz="1400" u="none" cap="none" strike="noStrike">
              <a:solidFill>
                <a:srgbClr val="000000"/>
              </a:solidFill>
              <a:latin typeface="Arial"/>
              <a:ea typeface="Arial"/>
              <a:cs typeface="Arial"/>
              <a:sym typeface="Arial"/>
            </a:endParaRPr>
          </a:p>
        </p:txBody>
      </p:sp>
      <p:sp>
        <p:nvSpPr>
          <p:cNvPr id="720" name="Google Shape;720;p33"/>
          <p:cNvSpPr txBox="1"/>
          <p:nvPr/>
        </p:nvSpPr>
        <p:spPr>
          <a:xfrm>
            <a:off x="5163162" y="4953437"/>
            <a:ext cx="2915730" cy="187833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ConcreteComponent (Componente Concreto): La clase original que recibe las nuevas funcionalidades. Este es el objeto que queremos "decorar".</a:t>
            </a:r>
            <a:endParaRPr b="0" i="0" sz="1400" u="none" cap="none" strike="noStrike">
              <a:solidFill>
                <a:srgbClr val="000000"/>
              </a:solidFill>
              <a:latin typeface="Arial"/>
              <a:ea typeface="Arial"/>
              <a:cs typeface="Arial"/>
              <a:sym typeface="Arial"/>
            </a:endParaRPr>
          </a:p>
        </p:txBody>
      </p:sp>
      <p:sp>
        <p:nvSpPr>
          <p:cNvPr id="721" name="Google Shape;721;p33"/>
          <p:cNvSpPr txBox="1"/>
          <p:nvPr/>
        </p:nvSpPr>
        <p:spPr>
          <a:xfrm>
            <a:off x="846688" y="7776900"/>
            <a:ext cx="2868946" cy="1478915"/>
          </a:xfrm>
          <a:prstGeom prst="rect">
            <a:avLst/>
          </a:prstGeom>
          <a:noFill/>
          <a:ln>
            <a:noFill/>
          </a:ln>
        </p:spPr>
        <p:txBody>
          <a:bodyPr anchorCtr="0" anchor="t" bIns="0" lIns="0" spcFirstLastPara="1" rIns="0" wrap="square" tIns="0">
            <a:spAutoFit/>
          </a:bodyPr>
          <a:lstStyle/>
          <a:p>
            <a:pPr indent="-151132" lvl="1" marL="302264" marR="0" rtl="0" algn="ctr">
              <a:lnSpc>
                <a:spcPct val="14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Decorator (Decorador): Una clase abstracta que implementa la interfaz Component. Contiene una referencia a un objeto Component, lo que le permite envolverlo.</a:t>
            </a:r>
            <a:endParaRPr b="0" i="0" sz="1400" u="none" cap="none" strike="noStrike">
              <a:solidFill>
                <a:srgbClr val="000000"/>
              </a:solidFill>
              <a:latin typeface="Arial"/>
              <a:ea typeface="Arial"/>
              <a:cs typeface="Arial"/>
              <a:sym typeface="Arial"/>
            </a:endParaRPr>
          </a:p>
        </p:txBody>
      </p:sp>
      <p:sp>
        <p:nvSpPr>
          <p:cNvPr id="722" name="Google Shape;722;p33"/>
          <p:cNvSpPr txBox="1"/>
          <p:nvPr/>
        </p:nvSpPr>
        <p:spPr>
          <a:xfrm>
            <a:off x="5163162" y="7786425"/>
            <a:ext cx="2915730" cy="181482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ConcreteDecorator (Decorador Concreto): Las clases que añaden funcionalidades específicas. Cada una de estas clases implementa la lógica de la decoración y delega la llamada al objeto envuelto para asegurarse de que el comportamiento original se mantenga.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726" name="Shape 726"/>
        <p:cNvGrpSpPr/>
        <p:nvPr/>
      </p:nvGrpSpPr>
      <p:grpSpPr>
        <a:xfrm>
          <a:off x="0" y="0"/>
          <a:ext cx="0" cy="0"/>
          <a:chOff x="0" y="0"/>
          <a:chExt cx="0" cy="0"/>
        </a:xfrm>
      </p:grpSpPr>
      <p:grpSp>
        <p:nvGrpSpPr>
          <p:cNvPr id="727" name="Google Shape;727;p34"/>
          <p:cNvGrpSpPr/>
          <p:nvPr/>
        </p:nvGrpSpPr>
        <p:grpSpPr>
          <a:xfrm>
            <a:off x="15160324" y="-2279391"/>
            <a:ext cx="3269773" cy="3308091"/>
            <a:chOff x="0" y="-9525"/>
            <a:chExt cx="812800" cy="822325"/>
          </a:xfrm>
        </p:grpSpPr>
        <p:sp>
          <p:nvSpPr>
            <p:cNvPr id="728" name="Google Shape;728;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34"/>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30" name="Google Shape;730;p34"/>
          <p:cNvGrpSpPr/>
          <p:nvPr/>
        </p:nvGrpSpPr>
        <p:grpSpPr>
          <a:xfrm>
            <a:off x="-277108" y="9663467"/>
            <a:ext cx="18842215" cy="1249748"/>
            <a:chOff x="0" y="-85725"/>
            <a:chExt cx="4962559" cy="329151"/>
          </a:xfrm>
        </p:grpSpPr>
        <p:sp>
          <p:nvSpPr>
            <p:cNvPr id="731" name="Google Shape;731;p34"/>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732" name="Google Shape;732;p34"/>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33" name="Google Shape;733;p34"/>
          <p:cNvSpPr/>
          <p:nvPr/>
        </p:nvSpPr>
        <p:spPr>
          <a:xfrm>
            <a:off x="4518746" y="3901182"/>
            <a:ext cx="8396138" cy="3438650"/>
          </a:xfrm>
          <a:custGeom>
            <a:rect b="b" l="l" r="r" t="t"/>
            <a:pathLst>
              <a:path extrusionOk="0" h="3438650" w="8396138">
                <a:moveTo>
                  <a:pt x="0" y="0"/>
                </a:moveTo>
                <a:lnTo>
                  <a:pt x="8396138" y="0"/>
                </a:lnTo>
                <a:lnTo>
                  <a:pt x="8396138" y="3438649"/>
                </a:lnTo>
                <a:lnTo>
                  <a:pt x="0" y="3438649"/>
                </a:lnTo>
                <a:lnTo>
                  <a:pt x="0" y="0"/>
                </a:lnTo>
                <a:close/>
              </a:path>
            </a:pathLst>
          </a:custGeom>
          <a:blipFill rotWithShape="1">
            <a:blip r:embed="rId3">
              <a:alphaModFix/>
            </a:blip>
            <a:stretch>
              <a:fillRect b="0" l="0" r="0" t="0"/>
            </a:stretch>
          </a:blipFill>
          <a:ln>
            <a:noFill/>
          </a:ln>
        </p:spPr>
      </p:sp>
      <p:sp>
        <p:nvSpPr>
          <p:cNvPr id="734" name="Google Shape;734;p34"/>
          <p:cNvSpPr txBox="1"/>
          <p:nvPr/>
        </p:nvSpPr>
        <p:spPr>
          <a:xfrm>
            <a:off x="509680" y="388458"/>
            <a:ext cx="1607162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PROBLEMA</a:t>
            </a:r>
            <a:endParaRPr b="0" i="0" sz="1400" u="none" cap="none" strike="noStrike">
              <a:solidFill>
                <a:srgbClr val="000000"/>
              </a:solidFill>
              <a:latin typeface="Arial"/>
              <a:ea typeface="Arial"/>
              <a:cs typeface="Arial"/>
              <a:sym typeface="Arial"/>
            </a:endParaRPr>
          </a:p>
        </p:txBody>
      </p:sp>
      <p:sp>
        <p:nvSpPr>
          <p:cNvPr id="735" name="Google Shape;735;p34"/>
          <p:cNvSpPr txBox="1"/>
          <p:nvPr/>
        </p:nvSpPr>
        <p:spPr>
          <a:xfrm>
            <a:off x="509680" y="1574378"/>
            <a:ext cx="16749620" cy="237109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Imagina que estás trabajando en una biblioteca de notificaciones que permite a otros programas notificar a sus usuarios acerca de eventos importantes.</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La versión inicial de la biblioteca se basaba en la clase Notificador que solo contaba con unos cuantos campos, un constructor y un único método send. El método podía aceptar un argumento de mensaje de un cliente y enviar el mensaje a una lista de correos electrónicos que se pasaban a la clase notificadora a través de su constructor. Una aplicación de un tercero que actuaba como cliente debía crear y configurar el objeto notificador una vez y después utilizarlo cada vez que sucediera algo importante.</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sp>
        <p:nvSpPr>
          <p:cNvPr id="736" name="Google Shape;736;p34"/>
          <p:cNvSpPr txBox="1"/>
          <p:nvPr/>
        </p:nvSpPr>
        <p:spPr>
          <a:xfrm>
            <a:off x="509680" y="7684586"/>
            <a:ext cx="15378020" cy="103759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En cierto momento te das cuenta de que los usuarios de la biblioteca esperan algo más que unas simples notificaciones por correo. A muchos de ellos les gustaría recibir mensajes SMS sobre asuntos importantes. Otros querrían recibir las notificaciones por Facebook y, por supuesto, a los usuarios corporativos les encantaría recibir notificaciones por Slack.</a:t>
            </a:r>
            <a:endParaRPr b="0" i="0" sz="1400" u="none" cap="none" strike="noStrike">
              <a:solidFill>
                <a:srgbClr val="000000"/>
              </a:solidFill>
              <a:latin typeface="Arial"/>
              <a:ea typeface="Arial"/>
              <a:cs typeface="Arial"/>
              <a:sym typeface="Arial"/>
            </a:endParaRPr>
          </a:p>
        </p:txBody>
      </p:sp>
      <p:sp>
        <p:nvSpPr>
          <p:cNvPr id="737" name="Google Shape;737;p34"/>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741" name="Shape 741"/>
        <p:cNvGrpSpPr/>
        <p:nvPr/>
      </p:nvGrpSpPr>
      <p:grpSpPr>
        <a:xfrm>
          <a:off x="0" y="0"/>
          <a:ext cx="0" cy="0"/>
          <a:chOff x="0" y="0"/>
          <a:chExt cx="0" cy="0"/>
        </a:xfrm>
      </p:grpSpPr>
      <p:grpSp>
        <p:nvGrpSpPr>
          <p:cNvPr id="742" name="Google Shape;742;p35"/>
          <p:cNvGrpSpPr/>
          <p:nvPr/>
        </p:nvGrpSpPr>
        <p:grpSpPr>
          <a:xfrm>
            <a:off x="15160324" y="-2279391"/>
            <a:ext cx="3269773" cy="3308091"/>
            <a:chOff x="0" y="-9525"/>
            <a:chExt cx="812800" cy="822325"/>
          </a:xfrm>
        </p:grpSpPr>
        <p:sp>
          <p:nvSpPr>
            <p:cNvPr id="743" name="Google Shape;743;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35"/>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45" name="Google Shape;745;p35"/>
          <p:cNvGrpSpPr/>
          <p:nvPr/>
        </p:nvGrpSpPr>
        <p:grpSpPr>
          <a:xfrm>
            <a:off x="-277108" y="9663467"/>
            <a:ext cx="18842215" cy="1249748"/>
            <a:chOff x="0" y="-85725"/>
            <a:chExt cx="4962559" cy="329151"/>
          </a:xfrm>
        </p:grpSpPr>
        <p:sp>
          <p:nvSpPr>
            <p:cNvPr id="746" name="Google Shape;746;p35"/>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747" name="Google Shape;747;p35"/>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48" name="Google Shape;748;p35"/>
          <p:cNvSpPr/>
          <p:nvPr/>
        </p:nvSpPr>
        <p:spPr>
          <a:xfrm>
            <a:off x="4198278" y="1869141"/>
            <a:ext cx="8000824" cy="3274359"/>
          </a:xfrm>
          <a:custGeom>
            <a:rect b="b" l="l" r="r" t="t"/>
            <a:pathLst>
              <a:path extrusionOk="0" h="3274359" w="8000824">
                <a:moveTo>
                  <a:pt x="0" y="0"/>
                </a:moveTo>
                <a:lnTo>
                  <a:pt x="8000824" y="0"/>
                </a:lnTo>
                <a:lnTo>
                  <a:pt x="8000824" y="3274359"/>
                </a:lnTo>
                <a:lnTo>
                  <a:pt x="0" y="3274359"/>
                </a:lnTo>
                <a:lnTo>
                  <a:pt x="0" y="0"/>
                </a:lnTo>
                <a:close/>
              </a:path>
            </a:pathLst>
          </a:custGeom>
          <a:blipFill rotWithShape="1">
            <a:blip r:embed="rId3">
              <a:alphaModFix/>
            </a:blip>
            <a:stretch>
              <a:fillRect b="0" l="0" r="0" t="0"/>
            </a:stretch>
          </a:blipFill>
          <a:ln>
            <a:noFill/>
          </a:ln>
        </p:spPr>
      </p:sp>
      <p:sp>
        <p:nvSpPr>
          <p:cNvPr id="749" name="Google Shape;749;p35"/>
          <p:cNvSpPr txBox="1"/>
          <p:nvPr/>
        </p:nvSpPr>
        <p:spPr>
          <a:xfrm>
            <a:off x="769190" y="467042"/>
            <a:ext cx="14391134" cy="103759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En cierto momento te das cuenta de que los usuarios de la biblioteca esperan algo más que unas simples notificaciones por correo. A muchos de ellos les gustaría recibir mensajes SMS sobre asuntos importantes. Otros querrían recibir las notificaciones por Facebook y, por supuesto, a los usuarios corporativos les encantaría recibir notificaciones por Slack.</a:t>
            </a:r>
            <a:endParaRPr b="0" i="0" sz="1400" u="none" cap="none" strike="noStrike">
              <a:solidFill>
                <a:srgbClr val="000000"/>
              </a:solidFill>
              <a:latin typeface="Arial"/>
              <a:ea typeface="Arial"/>
              <a:cs typeface="Arial"/>
              <a:sym typeface="Arial"/>
            </a:endParaRPr>
          </a:p>
        </p:txBody>
      </p:sp>
      <p:sp>
        <p:nvSpPr>
          <p:cNvPr id="750" name="Google Shape;750;p35"/>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751" name="Google Shape;751;p35"/>
          <p:cNvSpPr txBox="1"/>
          <p:nvPr/>
        </p:nvSpPr>
        <p:spPr>
          <a:xfrm>
            <a:off x="769190" y="6162675"/>
            <a:ext cx="17045050"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No puede ser muy complicado ¿verdad? Extendiste la clase Notificador y metiste los métodos adicionales de notificación dentro de nuevas subclases. Ahora el cliente debería instanciar la clase notificadora deseada y utilizarla para el resto de notificaciones.</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Pero entonces alguien te hace una pregunta razonable: “¿Por qué no se pueden utilizar varios tipos de notificación al mismo tiempo? Si tu casa está en llamas, probablemente quieras que te informen a través de todos los canales”.</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Intentaste solucionar ese problema creando subclases especiales que combinaban varios métodos de notificación dentro de una clase. </a:t>
            </a:r>
            <a:r>
              <a:rPr b="1" i="0" lang="en-US" sz="1899" u="none" cap="none" strike="noStrike">
                <a:solidFill>
                  <a:srgbClr val="000000"/>
                </a:solidFill>
                <a:latin typeface="Arial"/>
                <a:ea typeface="Arial"/>
                <a:cs typeface="Arial"/>
                <a:sym typeface="Arial"/>
              </a:rPr>
              <a:t>Sin embargo, enseguida resultó evidente que esta solución inflaría el código en gran medida, no sólo el de la biblioteca, sino también el código cliente.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755" name="Shape 755"/>
        <p:cNvGrpSpPr/>
        <p:nvPr/>
      </p:nvGrpSpPr>
      <p:grpSpPr>
        <a:xfrm>
          <a:off x="0" y="0"/>
          <a:ext cx="0" cy="0"/>
          <a:chOff x="0" y="0"/>
          <a:chExt cx="0" cy="0"/>
        </a:xfrm>
      </p:grpSpPr>
      <p:grpSp>
        <p:nvGrpSpPr>
          <p:cNvPr id="756" name="Google Shape;756;p36"/>
          <p:cNvGrpSpPr/>
          <p:nvPr/>
        </p:nvGrpSpPr>
        <p:grpSpPr>
          <a:xfrm>
            <a:off x="15160324" y="-2279391"/>
            <a:ext cx="3269773" cy="3308091"/>
            <a:chOff x="0" y="-9525"/>
            <a:chExt cx="812800" cy="822325"/>
          </a:xfrm>
        </p:grpSpPr>
        <p:sp>
          <p:nvSpPr>
            <p:cNvPr id="757" name="Google Shape;757;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36"/>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59" name="Google Shape;759;p36"/>
          <p:cNvGrpSpPr/>
          <p:nvPr/>
        </p:nvGrpSpPr>
        <p:grpSpPr>
          <a:xfrm>
            <a:off x="-277108" y="9663467"/>
            <a:ext cx="18842215" cy="1249748"/>
            <a:chOff x="0" y="-85725"/>
            <a:chExt cx="4962559" cy="329151"/>
          </a:xfrm>
        </p:grpSpPr>
        <p:sp>
          <p:nvSpPr>
            <p:cNvPr id="760" name="Google Shape;760;p36"/>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761" name="Google Shape;761;p36"/>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62" name="Google Shape;762;p36"/>
          <p:cNvSpPr/>
          <p:nvPr/>
        </p:nvSpPr>
        <p:spPr>
          <a:xfrm>
            <a:off x="2782371" y="5056074"/>
            <a:ext cx="10776025" cy="3915512"/>
          </a:xfrm>
          <a:custGeom>
            <a:rect b="b" l="l" r="r" t="t"/>
            <a:pathLst>
              <a:path extrusionOk="0" h="3915512" w="10776025">
                <a:moveTo>
                  <a:pt x="0" y="0"/>
                </a:moveTo>
                <a:lnTo>
                  <a:pt x="10776024" y="0"/>
                </a:lnTo>
                <a:lnTo>
                  <a:pt x="10776024" y="3915512"/>
                </a:lnTo>
                <a:lnTo>
                  <a:pt x="0" y="3915512"/>
                </a:lnTo>
                <a:lnTo>
                  <a:pt x="0" y="0"/>
                </a:lnTo>
                <a:close/>
              </a:path>
            </a:pathLst>
          </a:custGeom>
          <a:blipFill rotWithShape="1">
            <a:blip r:embed="rId3">
              <a:alphaModFix/>
            </a:blip>
            <a:stretch>
              <a:fillRect b="0" l="0" r="0" t="0"/>
            </a:stretch>
          </a:blipFill>
          <a:ln>
            <a:noFill/>
          </a:ln>
        </p:spPr>
      </p:sp>
      <p:sp>
        <p:nvSpPr>
          <p:cNvPr id="763" name="Google Shape;763;p36"/>
          <p:cNvSpPr txBox="1"/>
          <p:nvPr/>
        </p:nvSpPr>
        <p:spPr>
          <a:xfrm>
            <a:off x="509680" y="388458"/>
            <a:ext cx="1607162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SOLUCIÓN...</a:t>
            </a:r>
            <a:endParaRPr b="0" i="0" sz="1400" u="none" cap="none" strike="noStrike">
              <a:solidFill>
                <a:srgbClr val="000000"/>
              </a:solidFill>
              <a:latin typeface="Arial"/>
              <a:ea typeface="Arial"/>
              <a:cs typeface="Arial"/>
              <a:sym typeface="Arial"/>
            </a:endParaRPr>
          </a:p>
        </p:txBody>
      </p:sp>
      <p:sp>
        <p:nvSpPr>
          <p:cNvPr id="764" name="Google Shape;764;p36"/>
          <p:cNvSpPr txBox="1"/>
          <p:nvPr/>
        </p:nvSpPr>
        <p:spPr>
          <a:xfrm>
            <a:off x="509680" y="1427506"/>
            <a:ext cx="15321407" cy="3371393"/>
          </a:xfrm>
          <a:prstGeom prst="rect">
            <a:avLst/>
          </a:prstGeom>
          <a:noFill/>
          <a:ln>
            <a:noFill/>
          </a:ln>
        </p:spPr>
        <p:txBody>
          <a:bodyPr anchorCtr="0" anchor="t" bIns="0" lIns="0" spcFirstLastPara="1" rIns="0" wrap="square" tIns="0">
            <a:spAutoFit/>
          </a:bodyPr>
          <a:lstStyle/>
          <a:p>
            <a:pPr indent="0" lvl="0" marL="0" marR="0" rtl="0" algn="l">
              <a:lnSpc>
                <a:spcPct val="139989"/>
              </a:lnSpc>
              <a:spcBef>
                <a:spcPts val="0"/>
              </a:spcBef>
              <a:spcAft>
                <a:spcPts val="0"/>
              </a:spcAft>
              <a:buClr>
                <a:srgbClr val="000000"/>
              </a:buClr>
              <a:buSzPts val="1893"/>
              <a:buFont typeface="Arial"/>
              <a:buNone/>
            </a:pPr>
            <a:r>
              <a:rPr b="0" i="0" lang="en-US" sz="1893" u="none" cap="none" strike="noStrike">
                <a:solidFill>
                  <a:srgbClr val="000000"/>
                </a:solidFill>
                <a:latin typeface="Arial"/>
                <a:ea typeface="Arial"/>
                <a:cs typeface="Arial"/>
                <a:sym typeface="Arial"/>
              </a:rPr>
              <a:t>Cuando tenemos que alterar la funcionalidad de un objeto, lo primero que se viene a la mente es extender una clase. No obstante, la herencia tiene varias limitaciones importantes de las que debes ser consciente.</a:t>
            </a:r>
            <a:endParaRPr b="0" i="0" sz="1400" u="none" cap="none" strike="noStrike">
              <a:solidFill>
                <a:srgbClr val="000000"/>
              </a:solidFill>
              <a:latin typeface="Arial"/>
              <a:ea typeface="Arial"/>
              <a:cs typeface="Arial"/>
              <a:sym typeface="Arial"/>
            </a:endParaRPr>
          </a:p>
          <a:p>
            <a:pPr indent="-204347" lvl="1" marL="408699" marR="0" rtl="0" algn="l">
              <a:lnSpc>
                <a:spcPct val="139989"/>
              </a:lnSpc>
              <a:spcBef>
                <a:spcPts val="0"/>
              </a:spcBef>
              <a:spcAft>
                <a:spcPts val="0"/>
              </a:spcAft>
              <a:buClr>
                <a:srgbClr val="000000"/>
              </a:buClr>
              <a:buSzPts val="1893"/>
              <a:buFont typeface="Arial"/>
              <a:buChar char="•"/>
            </a:pPr>
            <a:r>
              <a:rPr b="0" i="0" lang="en-US" sz="1893" u="none" cap="none" strike="noStrike">
                <a:solidFill>
                  <a:srgbClr val="000000"/>
                </a:solidFill>
                <a:latin typeface="Arial"/>
                <a:ea typeface="Arial"/>
                <a:cs typeface="Arial"/>
                <a:sym typeface="Arial"/>
              </a:rPr>
              <a:t>La herencia es estática. No se puede alterar la funcionalidad de un objeto existente durante el tiempo de ejecución. Sólo se puede sustituir el objeto completo por otro creado a partir de una subclase diferente.</a:t>
            </a:r>
            <a:endParaRPr b="0" i="0" sz="1400" u="none" cap="none" strike="noStrike">
              <a:solidFill>
                <a:srgbClr val="000000"/>
              </a:solidFill>
              <a:latin typeface="Arial"/>
              <a:ea typeface="Arial"/>
              <a:cs typeface="Arial"/>
              <a:sym typeface="Arial"/>
            </a:endParaRPr>
          </a:p>
          <a:p>
            <a:pPr indent="-204347" lvl="1" marL="408699" marR="0" rtl="0" algn="l">
              <a:lnSpc>
                <a:spcPct val="139989"/>
              </a:lnSpc>
              <a:spcBef>
                <a:spcPts val="0"/>
              </a:spcBef>
              <a:spcAft>
                <a:spcPts val="0"/>
              </a:spcAft>
              <a:buClr>
                <a:srgbClr val="000000"/>
              </a:buClr>
              <a:buSzPts val="1893"/>
              <a:buFont typeface="Arial"/>
              <a:buChar char="•"/>
            </a:pPr>
            <a:r>
              <a:rPr b="0" i="0" lang="en-US" sz="1893" u="none" cap="none" strike="noStrike">
                <a:solidFill>
                  <a:srgbClr val="000000"/>
                </a:solidFill>
                <a:latin typeface="Arial"/>
                <a:ea typeface="Arial"/>
                <a:cs typeface="Arial"/>
                <a:sym typeface="Arial"/>
              </a:rPr>
              <a:t>Las subclases sólo pueden tener una clase padre. En la mayoría de lenguajes, la herencia no permite a una clase heredar comportamientos de varias clases al mismo tiempo.</a:t>
            </a:r>
            <a:endParaRPr b="0" i="0" sz="1400" u="none" cap="none" strike="noStrike">
              <a:solidFill>
                <a:srgbClr val="000000"/>
              </a:solidFill>
              <a:latin typeface="Arial"/>
              <a:ea typeface="Arial"/>
              <a:cs typeface="Arial"/>
              <a:sym typeface="Arial"/>
            </a:endParaRPr>
          </a:p>
          <a:p>
            <a:pPr indent="0" lvl="0" marL="0" marR="0" rtl="0" algn="l">
              <a:lnSpc>
                <a:spcPct val="139989"/>
              </a:lnSpc>
              <a:spcBef>
                <a:spcPts val="0"/>
              </a:spcBef>
              <a:spcAft>
                <a:spcPts val="0"/>
              </a:spcAft>
              <a:buClr>
                <a:srgbClr val="000000"/>
              </a:buClr>
              <a:buSzPts val="1893"/>
              <a:buFont typeface="Arial"/>
              <a:buNone/>
            </a:pPr>
            <a:r>
              <a:rPr b="0" i="0" lang="en-US" sz="1893" u="none" cap="none" strike="noStrike">
                <a:solidFill>
                  <a:srgbClr val="000000"/>
                </a:solidFill>
                <a:latin typeface="Arial"/>
                <a:ea typeface="Arial"/>
                <a:cs typeface="Arial"/>
                <a:sym typeface="Arial"/>
              </a:rPr>
              <a:t>Una de las formas de superar estas limitaciones es empleando la Agregación o la Composición  en lugar de la Herencia. Ambas alternativas funcionan prácticamente del mismo modo: un objeto tiene una referencia a otro y le delega parte del trabajo, mientras que con la herencia, el propio objeto puede realizar ese trabajo, heredando el comportamiento de su superclase.</a:t>
            </a:r>
            <a:endParaRPr b="0" i="0" sz="1400" u="none" cap="none" strike="noStrike">
              <a:solidFill>
                <a:srgbClr val="000000"/>
              </a:solidFill>
              <a:latin typeface="Arial"/>
              <a:ea typeface="Arial"/>
              <a:cs typeface="Arial"/>
              <a:sym typeface="Arial"/>
            </a:endParaRPr>
          </a:p>
          <a:p>
            <a:pPr indent="0" lvl="0" marL="0" marR="0" rtl="0" algn="l">
              <a:lnSpc>
                <a:spcPct val="139989"/>
              </a:lnSpc>
              <a:spcBef>
                <a:spcPts val="0"/>
              </a:spcBef>
              <a:spcAft>
                <a:spcPts val="0"/>
              </a:spcAft>
              <a:buClr>
                <a:srgbClr val="000000"/>
              </a:buClr>
              <a:buSzPts val="1893"/>
              <a:buFont typeface="Arial"/>
              <a:buNone/>
            </a:pPr>
            <a:r>
              <a:t/>
            </a:r>
            <a:endParaRPr b="0" i="0" sz="1893" u="none" cap="none" strike="noStrike">
              <a:solidFill>
                <a:srgbClr val="000000"/>
              </a:solidFill>
              <a:latin typeface="Arial"/>
              <a:ea typeface="Arial"/>
              <a:cs typeface="Arial"/>
              <a:sym typeface="Arial"/>
            </a:endParaRPr>
          </a:p>
        </p:txBody>
      </p:sp>
      <p:sp>
        <p:nvSpPr>
          <p:cNvPr id="765" name="Google Shape;765;p36"/>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769" name="Shape 769"/>
        <p:cNvGrpSpPr/>
        <p:nvPr/>
      </p:nvGrpSpPr>
      <p:grpSpPr>
        <a:xfrm>
          <a:off x="0" y="0"/>
          <a:ext cx="0" cy="0"/>
          <a:chOff x="0" y="0"/>
          <a:chExt cx="0" cy="0"/>
        </a:xfrm>
      </p:grpSpPr>
      <p:grpSp>
        <p:nvGrpSpPr>
          <p:cNvPr id="770" name="Google Shape;770;p37"/>
          <p:cNvGrpSpPr/>
          <p:nvPr/>
        </p:nvGrpSpPr>
        <p:grpSpPr>
          <a:xfrm>
            <a:off x="15160324" y="-2279391"/>
            <a:ext cx="3269773" cy="3308091"/>
            <a:chOff x="0" y="-9525"/>
            <a:chExt cx="812800" cy="822325"/>
          </a:xfrm>
        </p:grpSpPr>
        <p:sp>
          <p:nvSpPr>
            <p:cNvPr id="771" name="Google Shape;771;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37"/>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73" name="Google Shape;773;p37"/>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774" name="Google Shape;774;p37"/>
          <p:cNvGrpSpPr/>
          <p:nvPr/>
        </p:nvGrpSpPr>
        <p:grpSpPr>
          <a:xfrm>
            <a:off x="-277108" y="9663467"/>
            <a:ext cx="18842215" cy="1249748"/>
            <a:chOff x="0" y="-85725"/>
            <a:chExt cx="4962559" cy="329151"/>
          </a:xfrm>
        </p:grpSpPr>
        <p:sp>
          <p:nvSpPr>
            <p:cNvPr id="775" name="Google Shape;775;p37"/>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776" name="Google Shape;776;p37"/>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77" name="Google Shape;777;p37"/>
          <p:cNvSpPr/>
          <p:nvPr/>
        </p:nvSpPr>
        <p:spPr>
          <a:xfrm>
            <a:off x="971874" y="2232025"/>
            <a:ext cx="8432197" cy="4592917"/>
          </a:xfrm>
          <a:custGeom>
            <a:rect b="b" l="l" r="r" t="t"/>
            <a:pathLst>
              <a:path extrusionOk="0" h="4592917" w="8432197">
                <a:moveTo>
                  <a:pt x="0" y="0"/>
                </a:moveTo>
                <a:lnTo>
                  <a:pt x="8432197" y="0"/>
                </a:lnTo>
                <a:lnTo>
                  <a:pt x="8432197" y="4592917"/>
                </a:lnTo>
                <a:lnTo>
                  <a:pt x="0" y="4592917"/>
                </a:lnTo>
                <a:lnTo>
                  <a:pt x="0" y="0"/>
                </a:lnTo>
                <a:close/>
              </a:path>
            </a:pathLst>
          </a:custGeom>
          <a:blipFill rotWithShape="1">
            <a:blip r:embed="rId4">
              <a:alphaModFix/>
            </a:blip>
            <a:stretch>
              <a:fillRect b="0" l="0" r="0" t="0"/>
            </a:stretch>
          </a:blipFill>
          <a:ln>
            <a:noFill/>
          </a:ln>
        </p:spPr>
      </p:sp>
      <p:sp>
        <p:nvSpPr>
          <p:cNvPr id="778" name="Google Shape;778;p37"/>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ANALOGÍA DEL MUNDO REAL</a:t>
            </a:r>
            <a:endParaRPr b="0" i="0" sz="1400" u="none" cap="none" strike="noStrike">
              <a:solidFill>
                <a:srgbClr val="000000"/>
              </a:solidFill>
              <a:latin typeface="Arial"/>
              <a:ea typeface="Arial"/>
              <a:cs typeface="Arial"/>
              <a:sym typeface="Arial"/>
            </a:endParaRPr>
          </a:p>
        </p:txBody>
      </p:sp>
      <p:sp>
        <p:nvSpPr>
          <p:cNvPr id="779" name="Google Shape;779;p37"/>
          <p:cNvSpPr txBox="1"/>
          <p:nvPr/>
        </p:nvSpPr>
        <p:spPr>
          <a:xfrm>
            <a:off x="10452339" y="2117725"/>
            <a:ext cx="6806961" cy="44323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Arial"/>
                <a:ea typeface="Arial"/>
                <a:cs typeface="Arial"/>
                <a:sym typeface="Arial"/>
              </a:rPr>
              <a:t>Vestir ropa es un ejemplo del uso de decoradores. Cuando tienes frío, te cubres con un suéter. Si sigues teniendo frío a pesar del suéter, puedes ponerte una chaqueta encima. Si está lloviendo, puedes ponerte un impermeable. Todas estas prendas “extienden” tu comportamiento básico pero no son parte de ti, y puedes quitarte fácilmente cualquier prenda cuando lo desees.</a:t>
            </a:r>
            <a:endParaRPr b="0" i="0" sz="1400" u="none" cap="none" strike="noStrike">
              <a:solidFill>
                <a:srgbClr val="000000"/>
              </a:solidFill>
              <a:latin typeface="Arial"/>
              <a:ea typeface="Arial"/>
              <a:cs typeface="Arial"/>
              <a:sym typeface="Arial"/>
            </a:endParaRPr>
          </a:p>
        </p:txBody>
      </p:sp>
      <p:sp>
        <p:nvSpPr>
          <p:cNvPr id="780" name="Google Shape;780;p37"/>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784" name="Shape 784"/>
        <p:cNvGrpSpPr/>
        <p:nvPr/>
      </p:nvGrpSpPr>
      <p:grpSpPr>
        <a:xfrm>
          <a:off x="0" y="0"/>
          <a:ext cx="0" cy="0"/>
          <a:chOff x="0" y="0"/>
          <a:chExt cx="0" cy="0"/>
        </a:xfrm>
      </p:grpSpPr>
      <p:grpSp>
        <p:nvGrpSpPr>
          <p:cNvPr id="785" name="Google Shape;785;p38"/>
          <p:cNvGrpSpPr/>
          <p:nvPr/>
        </p:nvGrpSpPr>
        <p:grpSpPr>
          <a:xfrm>
            <a:off x="15160324" y="-2279391"/>
            <a:ext cx="3269773" cy="3308091"/>
            <a:chOff x="0" y="-9525"/>
            <a:chExt cx="812800" cy="822325"/>
          </a:xfrm>
        </p:grpSpPr>
        <p:sp>
          <p:nvSpPr>
            <p:cNvPr id="786" name="Google Shape;786;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38"/>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88" name="Google Shape;788;p38"/>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789" name="Google Shape;789;p38"/>
          <p:cNvGrpSpPr/>
          <p:nvPr/>
        </p:nvGrpSpPr>
        <p:grpSpPr>
          <a:xfrm>
            <a:off x="-277108" y="9663467"/>
            <a:ext cx="18842215" cy="1249748"/>
            <a:chOff x="0" y="-85725"/>
            <a:chExt cx="4962559" cy="329151"/>
          </a:xfrm>
        </p:grpSpPr>
        <p:sp>
          <p:nvSpPr>
            <p:cNvPr id="790" name="Google Shape;790;p38"/>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791" name="Google Shape;791;p38"/>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92" name="Google Shape;792;p38"/>
          <p:cNvSpPr/>
          <p:nvPr/>
        </p:nvSpPr>
        <p:spPr>
          <a:xfrm>
            <a:off x="7779566" y="2783236"/>
            <a:ext cx="9586562" cy="5451183"/>
          </a:xfrm>
          <a:custGeom>
            <a:rect b="b" l="l" r="r" t="t"/>
            <a:pathLst>
              <a:path extrusionOk="0" h="5451183" w="9586562">
                <a:moveTo>
                  <a:pt x="0" y="0"/>
                </a:moveTo>
                <a:lnTo>
                  <a:pt x="9586562" y="0"/>
                </a:lnTo>
                <a:lnTo>
                  <a:pt x="9586562" y="5451183"/>
                </a:lnTo>
                <a:lnTo>
                  <a:pt x="0" y="5451183"/>
                </a:lnTo>
                <a:lnTo>
                  <a:pt x="0" y="0"/>
                </a:lnTo>
                <a:close/>
              </a:path>
            </a:pathLst>
          </a:custGeom>
          <a:blipFill rotWithShape="1">
            <a:blip r:embed="rId4">
              <a:alphaModFix/>
            </a:blip>
            <a:stretch>
              <a:fillRect b="0" l="0" r="0" t="0"/>
            </a:stretch>
          </a:blipFill>
          <a:ln>
            <a:noFill/>
          </a:ln>
        </p:spPr>
      </p:sp>
      <p:sp>
        <p:nvSpPr>
          <p:cNvPr id="793" name="Google Shape;793;p38"/>
          <p:cNvSpPr/>
          <p:nvPr/>
        </p:nvSpPr>
        <p:spPr>
          <a:xfrm>
            <a:off x="295181" y="2235273"/>
            <a:ext cx="7124882" cy="5816454"/>
          </a:xfrm>
          <a:custGeom>
            <a:rect b="b" l="l" r="r" t="t"/>
            <a:pathLst>
              <a:path extrusionOk="0" h="5816454" w="7124882">
                <a:moveTo>
                  <a:pt x="0" y="0"/>
                </a:moveTo>
                <a:lnTo>
                  <a:pt x="7124882" y="0"/>
                </a:lnTo>
                <a:lnTo>
                  <a:pt x="7124882" y="5816454"/>
                </a:lnTo>
                <a:lnTo>
                  <a:pt x="0" y="5816454"/>
                </a:lnTo>
                <a:lnTo>
                  <a:pt x="0" y="0"/>
                </a:lnTo>
                <a:close/>
              </a:path>
            </a:pathLst>
          </a:custGeom>
          <a:blipFill rotWithShape="1">
            <a:blip r:embed="rId5">
              <a:alphaModFix/>
            </a:blip>
            <a:stretch>
              <a:fillRect b="0" l="0" r="0" t="0"/>
            </a:stretch>
          </a:blipFill>
          <a:ln>
            <a:noFill/>
          </a:ln>
        </p:spPr>
      </p:sp>
      <p:sp>
        <p:nvSpPr>
          <p:cNvPr id="794" name="Google Shape;794;p38"/>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UML</a:t>
            </a:r>
            <a:endParaRPr b="0" i="0" sz="1400" u="none" cap="none" strike="noStrike">
              <a:solidFill>
                <a:srgbClr val="000000"/>
              </a:solidFill>
              <a:latin typeface="Arial"/>
              <a:ea typeface="Arial"/>
              <a:cs typeface="Arial"/>
              <a:sym typeface="Arial"/>
            </a:endParaRPr>
          </a:p>
        </p:txBody>
      </p:sp>
      <p:sp>
        <p:nvSpPr>
          <p:cNvPr id="795" name="Google Shape;795;p38"/>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799" name="Shape 799"/>
        <p:cNvGrpSpPr/>
        <p:nvPr/>
      </p:nvGrpSpPr>
      <p:grpSpPr>
        <a:xfrm>
          <a:off x="0" y="0"/>
          <a:ext cx="0" cy="0"/>
          <a:chOff x="0" y="0"/>
          <a:chExt cx="0" cy="0"/>
        </a:xfrm>
      </p:grpSpPr>
      <p:grpSp>
        <p:nvGrpSpPr>
          <p:cNvPr id="800" name="Google Shape;800;p39"/>
          <p:cNvGrpSpPr/>
          <p:nvPr/>
        </p:nvGrpSpPr>
        <p:grpSpPr>
          <a:xfrm>
            <a:off x="15160324" y="-2279391"/>
            <a:ext cx="3269773" cy="3308091"/>
            <a:chOff x="0" y="-9525"/>
            <a:chExt cx="812800" cy="822325"/>
          </a:xfrm>
        </p:grpSpPr>
        <p:sp>
          <p:nvSpPr>
            <p:cNvPr id="801" name="Google Shape;801;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39"/>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03" name="Google Shape;803;p39"/>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804" name="Google Shape;804;p39"/>
          <p:cNvGrpSpPr/>
          <p:nvPr/>
        </p:nvGrpSpPr>
        <p:grpSpPr>
          <a:xfrm>
            <a:off x="-277108" y="9663467"/>
            <a:ext cx="18842215" cy="1249748"/>
            <a:chOff x="0" y="-85725"/>
            <a:chExt cx="4962559" cy="329151"/>
          </a:xfrm>
        </p:grpSpPr>
        <p:sp>
          <p:nvSpPr>
            <p:cNvPr id="805" name="Google Shape;805;p39"/>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806" name="Google Shape;806;p39"/>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07" name="Google Shape;807;p39"/>
          <p:cNvSpPr/>
          <p:nvPr/>
        </p:nvSpPr>
        <p:spPr>
          <a:xfrm>
            <a:off x="3382479" y="4185697"/>
            <a:ext cx="10917553" cy="4197831"/>
          </a:xfrm>
          <a:custGeom>
            <a:rect b="b" l="l" r="r" t="t"/>
            <a:pathLst>
              <a:path extrusionOk="0" h="4197831" w="10917553">
                <a:moveTo>
                  <a:pt x="0" y="0"/>
                </a:moveTo>
                <a:lnTo>
                  <a:pt x="10917553" y="0"/>
                </a:lnTo>
                <a:lnTo>
                  <a:pt x="10917553" y="4197831"/>
                </a:lnTo>
                <a:lnTo>
                  <a:pt x="0" y="4197831"/>
                </a:lnTo>
                <a:lnTo>
                  <a:pt x="0" y="0"/>
                </a:lnTo>
                <a:close/>
              </a:path>
            </a:pathLst>
          </a:custGeom>
          <a:blipFill rotWithShape="1">
            <a:blip r:embed="rId4">
              <a:alphaModFix/>
            </a:blip>
            <a:stretch>
              <a:fillRect b="0" l="0" r="0" t="0"/>
            </a:stretch>
          </a:blipFill>
          <a:ln>
            <a:noFill/>
          </a:ln>
        </p:spPr>
      </p:sp>
      <p:sp>
        <p:nvSpPr>
          <p:cNvPr id="808" name="Google Shape;808;p39"/>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CASO REAL</a:t>
            </a:r>
            <a:endParaRPr b="0" i="0" sz="1400" u="none" cap="none" strike="noStrike">
              <a:solidFill>
                <a:srgbClr val="000000"/>
              </a:solidFill>
              <a:latin typeface="Arial"/>
              <a:ea typeface="Arial"/>
              <a:cs typeface="Arial"/>
              <a:sym typeface="Arial"/>
            </a:endParaRPr>
          </a:p>
        </p:txBody>
      </p:sp>
      <p:sp>
        <p:nvSpPr>
          <p:cNvPr id="809" name="Google Shape;809;p39"/>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810" name="Google Shape;810;p39"/>
          <p:cNvSpPr txBox="1"/>
          <p:nvPr/>
        </p:nvSpPr>
        <p:spPr>
          <a:xfrm>
            <a:off x="639402" y="1172772"/>
            <a:ext cx="15378020" cy="20377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Mediante la implementación del patrón de diseño Decorator crearemos una aplicación que nos permite procesar un mensaje en capas, donde cada capa se encargará de procesar un mensaje a diferente nivel. primero convertiremos un Objeto en XML, seguido, lo envolveremos en un mensaje SOAP para después encriptar el mensaje, finalmente obtendremos un mensaje SOAP totalmente encriptado, el cual podrá ser enviado de forma segura a un destinatario. Cada capa de procesamiento será implementada con un decorador, y cada decorador podrá cambiar de posición para obtener un resultado diferente, de la misma manera, podrá ser agregados nuevos decoradores en medio de cualquier paso.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814" name="Shape 814"/>
        <p:cNvGrpSpPr/>
        <p:nvPr/>
      </p:nvGrpSpPr>
      <p:grpSpPr>
        <a:xfrm>
          <a:off x="0" y="0"/>
          <a:ext cx="0" cy="0"/>
          <a:chOff x="0" y="0"/>
          <a:chExt cx="0" cy="0"/>
        </a:xfrm>
      </p:grpSpPr>
      <p:grpSp>
        <p:nvGrpSpPr>
          <p:cNvPr id="815" name="Google Shape;815;p40"/>
          <p:cNvGrpSpPr/>
          <p:nvPr/>
        </p:nvGrpSpPr>
        <p:grpSpPr>
          <a:xfrm>
            <a:off x="15160324" y="-2279391"/>
            <a:ext cx="3269773" cy="3308091"/>
            <a:chOff x="0" y="-9525"/>
            <a:chExt cx="812800" cy="822325"/>
          </a:xfrm>
        </p:grpSpPr>
        <p:sp>
          <p:nvSpPr>
            <p:cNvPr id="816" name="Google Shape;816;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40"/>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18" name="Google Shape;818;p40"/>
          <p:cNvSpPr/>
          <p:nvPr/>
        </p:nvSpPr>
        <p:spPr>
          <a:xfrm>
            <a:off x="639402" y="570323"/>
            <a:ext cx="664944" cy="332472"/>
          </a:xfrm>
          <a:custGeom>
            <a:rect b="b" l="l" r="r" t="t"/>
            <a:pathLst>
              <a:path extrusionOk="0" h="332472" w="664944">
                <a:moveTo>
                  <a:pt x="0" y="0"/>
                </a:moveTo>
                <a:lnTo>
                  <a:pt x="664945" y="0"/>
                </a:lnTo>
                <a:lnTo>
                  <a:pt x="664945" y="332473"/>
                </a:lnTo>
                <a:lnTo>
                  <a:pt x="0" y="332473"/>
                </a:lnTo>
                <a:lnTo>
                  <a:pt x="0" y="0"/>
                </a:lnTo>
                <a:close/>
              </a:path>
            </a:pathLst>
          </a:custGeom>
          <a:blipFill rotWithShape="1">
            <a:blip r:embed="rId3">
              <a:alphaModFix/>
            </a:blip>
            <a:stretch>
              <a:fillRect b="0" l="0" r="0" t="0"/>
            </a:stretch>
          </a:blipFill>
          <a:ln>
            <a:noFill/>
          </a:ln>
        </p:spPr>
      </p:sp>
      <p:grpSp>
        <p:nvGrpSpPr>
          <p:cNvPr id="819" name="Google Shape;819;p40"/>
          <p:cNvGrpSpPr/>
          <p:nvPr/>
        </p:nvGrpSpPr>
        <p:grpSpPr>
          <a:xfrm>
            <a:off x="-277108" y="9663467"/>
            <a:ext cx="18842215" cy="1249748"/>
            <a:chOff x="0" y="-85725"/>
            <a:chExt cx="4962559" cy="329151"/>
          </a:xfrm>
        </p:grpSpPr>
        <p:sp>
          <p:nvSpPr>
            <p:cNvPr id="820" name="Google Shape;820;p40"/>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821" name="Google Shape;821;p40"/>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22" name="Google Shape;822;p40"/>
          <p:cNvSpPr/>
          <p:nvPr/>
        </p:nvSpPr>
        <p:spPr>
          <a:xfrm>
            <a:off x="1028700" y="1376623"/>
            <a:ext cx="7801224" cy="7533754"/>
          </a:xfrm>
          <a:custGeom>
            <a:rect b="b" l="l" r="r" t="t"/>
            <a:pathLst>
              <a:path extrusionOk="0" h="7533754" w="7801224">
                <a:moveTo>
                  <a:pt x="0" y="0"/>
                </a:moveTo>
                <a:lnTo>
                  <a:pt x="7801224" y="0"/>
                </a:lnTo>
                <a:lnTo>
                  <a:pt x="7801224" y="7533754"/>
                </a:lnTo>
                <a:lnTo>
                  <a:pt x="0" y="7533754"/>
                </a:lnTo>
                <a:lnTo>
                  <a:pt x="0" y="0"/>
                </a:lnTo>
                <a:close/>
              </a:path>
            </a:pathLst>
          </a:custGeom>
          <a:blipFill rotWithShape="1">
            <a:blip r:embed="rId4">
              <a:alphaModFix/>
            </a:blip>
            <a:stretch>
              <a:fillRect b="0" l="0" r="0" t="0"/>
            </a:stretch>
          </a:blipFill>
          <a:ln>
            <a:noFill/>
          </a:ln>
        </p:spPr>
      </p:sp>
      <p:sp>
        <p:nvSpPr>
          <p:cNvPr id="823" name="Google Shape;823;p40"/>
          <p:cNvSpPr/>
          <p:nvPr/>
        </p:nvSpPr>
        <p:spPr>
          <a:xfrm>
            <a:off x="9144000" y="1376623"/>
            <a:ext cx="8346157" cy="5469154"/>
          </a:xfrm>
          <a:custGeom>
            <a:rect b="b" l="l" r="r" t="t"/>
            <a:pathLst>
              <a:path extrusionOk="0" h="5469154" w="8346157">
                <a:moveTo>
                  <a:pt x="0" y="0"/>
                </a:moveTo>
                <a:lnTo>
                  <a:pt x="8346157" y="0"/>
                </a:lnTo>
                <a:lnTo>
                  <a:pt x="8346157" y="5469154"/>
                </a:lnTo>
                <a:lnTo>
                  <a:pt x="0" y="5469154"/>
                </a:lnTo>
                <a:lnTo>
                  <a:pt x="0" y="0"/>
                </a:lnTo>
                <a:close/>
              </a:path>
            </a:pathLst>
          </a:custGeom>
          <a:blipFill rotWithShape="1">
            <a:blip r:embed="rId5">
              <a:alphaModFix/>
            </a:blip>
            <a:stretch>
              <a:fillRect b="0" l="0" r="0" t="0"/>
            </a:stretch>
          </a:blipFill>
          <a:ln>
            <a:noFill/>
          </a:ln>
        </p:spPr>
      </p:sp>
      <p:sp>
        <p:nvSpPr>
          <p:cNvPr id="824" name="Google Shape;824;p40"/>
          <p:cNvSpPr txBox="1"/>
          <p:nvPr/>
        </p:nvSpPr>
        <p:spPr>
          <a:xfrm>
            <a:off x="1349730" y="377744"/>
            <a:ext cx="6429836" cy="65095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900"/>
              <a:buFont typeface="Arial"/>
              <a:buNone/>
            </a:pPr>
            <a:r>
              <a:rPr b="1" i="0" lang="en-US" sz="3900" u="none" cap="none" strike="noStrike">
                <a:solidFill>
                  <a:srgbClr val="000000"/>
                </a:solidFill>
                <a:latin typeface="Arial"/>
                <a:ea typeface="Arial"/>
                <a:cs typeface="Arial"/>
                <a:sym typeface="Arial"/>
              </a:rPr>
              <a:t>FLUJO</a:t>
            </a:r>
            <a:endParaRPr b="0" i="0" sz="1400" u="none" cap="none" strike="noStrike">
              <a:solidFill>
                <a:srgbClr val="000000"/>
              </a:solidFill>
              <a:latin typeface="Arial"/>
              <a:ea typeface="Arial"/>
              <a:cs typeface="Arial"/>
              <a:sym typeface="Arial"/>
            </a:endParaRPr>
          </a:p>
        </p:txBody>
      </p:sp>
      <p:sp>
        <p:nvSpPr>
          <p:cNvPr id="825" name="Google Shape;825;p40"/>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829" name="Shape 829"/>
        <p:cNvGrpSpPr/>
        <p:nvPr/>
      </p:nvGrpSpPr>
      <p:grpSpPr>
        <a:xfrm>
          <a:off x="0" y="0"/>
          <a:ext cx="0" cy="0"/>
          <a:chOff x="0" y="0"/>
          <a:chExt cx="0" cy="0"/>
        </a:xfrm>
      </p:grpSpPr>
      <p:grpSp>
        <p:nvGrpSpPr>
          <p:cNvPr id="830" name="Google Shape;830;p42"/>
          <p:cNvGrpSpPr/>
          <p:nvPr/>
        </p:nvGrpSpPr>
        <p:grpSpPr>
          <a:xfrm>
            <a:off x="15160324" y="-2279391"/>
            <a:ext cx="3269773" cy="3308091"/>
            <a:chOff x="0" y="-9525"/>
            <a:chExt cx="812800" cy="822325"/>
          </a:xfrm>
        </p:grpSpPr>
        <p:sp>
          <p:nvSpPr>
            <p:cNvPr id="831" name="Google Shape;831;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42"/>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33" name="Google Shape;833;p42"/>
          <p:cNvGrpSpPr/>
          <p:nvPr/>
        </p:nvGrpSpPr>
        <p:grpSpPr>
          <a:xfrm>
            <a:off x="-277108" y="9663467"/>
            <a:ext cx="18842215" cy="1249748"/>
            <a:chOff x="0" y="-85725"/>
            <a:chExt cx="4962559" cy="329151"/>
          </a:xfrm>
        </p:grpSpPr>
        <p:sp>
          <p:nvSpPr>
            <p:cNvPr id="834" name="Google Shape;834;p42"/>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835" name="Google Shape;835;p42"/>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36" name="Google Shape;836;p42"/>
          <p:cNvSpPr txBox="1"/>
          <p:nvPr/>
        </p:nvSpPr>
        <p:spPr>
          <a:xfrm>
            <a:off x="748626" y="777384"/>
            <a:ext cx="8087344"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FFC61A"/>
                </a:solidFill>
                <a:latin typeface="Arial"/>
                <a:ea typeface="Arial"/>
                <a:cs typeface="Arial"/>
                <a:sym typeface="Arial"/>
              </a:rPr>
              <a:t>OTROS PATRONES</a:t>
            </a:r>
            <a:endParaRPr b="0" i="0" sz="1400" u="none" cap="none" strike="noStrike">
              <a:solidFill>
                <a:srgbClr val="000000"/>
              </a:solidFill>
              <a:latin typeface="Arial"/>
              <a:ea typeface="Arial"/>
              <a:cs typeface="Arial"/>
              <a:sym typeface="Arial"/>
            </a:endParaRPr>
          </a:p>
        </p:txBody>
      </p:sp>
      <p:sp>
        <p:nvSpPr>
          <p:cNvPr id="837" name="Google Shape;837;p42"/>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838" name="Google Shape;838;p42"/>
          <p:cNvSpPr txBox="1"/>
          <p:nvPr/>
        </p:nvSpPr>
        <p:spPr>
          <a:xfrm>
            <a:off x="1388817" y="1963185"/>
            <a:ext cx="7447153" cy="1215325"/>
          </a:xfrm>
          <a:prstGeom prst="rect">
            <a:avLst/>
          </a:prstGeom>
          <a:noFill/>
          <a:ln>
            <a:noFill/>
          </a:ln>
        </p:spPr>
        <p:txBody>
          <a:bodyPr anchorCtr="0" anchor="t" bIns="0" lIns="0" spcFirstLastPara="1" rIns="0" wrap="square" tIns="0">
            <a:spAutoFit/>
          </a:bodyPr>
          <a:lstStyle/>
          <a:p>
            <a:pPr indent="0" lvl="0" marL="0" marR="0" rtl="0" algn="l">
              <a:lnSpc>
                <a:spcPct val="139975"/>
              </a:lnSpc>
              <a:spcBef>
                <a:spcPts val="0"/>
              </a:spcBef>
              <a:spcAft>
                <a:spcPts val="0"/>
              </a:spcAft>
              <a:buClr>
                <a:srgbClr val="000000"/>
              </a:buClr>
              <a:buSzPts val="3282"/>
              <a:buFont typeface="Arial"/>
              <a:buNone/>
            </a:pPr>
            <a:r>
              <a:rPr b="1" i="0" lang="en-US" sz="3282" u="none" cap="none" strike="noStrike">
                <a:solidFill>
                  <a:srgbClr val="000000"/>
                </a:solidFill>
                <a:latin typeface="Arial"/>
                <a:ea typeface="Arial"/>
                <a:cs typeface="Arial"/>
                <a:sym typeface="Arial"/>
              </a:rPr>
              <a:t>Flyweight</a:t>
            </a:r>
            <a:endParaRPr b="0" i="0" sz="1400" u="none" cap="none" strike="noStrike">
              <a:solidFill>
                <a:srgbClr val="000000"/>
              </a:solidFill>
              <a:latin typeface="Arial"/>
              <a:ea typeface="Arial"/>
              <a:cs typeface="Arial"/>
              <a:sym typeface="Arial"/>
            </a:endParaRPr>
          </a:p>
          <a:p>
            <a:pPr indent="0" lvl="0" marL="0" marR="0" rtl="0" algn="l">
              <a:lnSpc>
                <a:spcPct val="139975"/>
              </a:lnSpc>
              <a:spcBef>
                <a:spcPts val="0"/>
              </a:spcBef>
              <a:spcAft>
                <a:spcPts val="0"/>
              </a:spcAft>
              <a:buClr>
                <a:srgbClr val="000000"/>
              </a:buClr>
              <a:buSzPts val="3282"/>
              <a:buFont typeface="Arial"/>
              <a:buNone/>
            </a:pPr>
            <a:r>
              <a:t/>
            </a:r>
            <a:endParaRPr b="1" i="0" sz="3282" u="none" cap="none" strike="noStrike">
              <a:solidFill>
                <a:srgbClr val="000000"/>
              </a:solidFill>
              <a:latin typeface="Arial"/>
              <a:ea typeface="Arial"/>
              <a:cs typeface="Arial"/>
              <a:sym typeface="Arial"/>
            </a:endParaRPr>
          </a:p>
        </p:txBody>
      </p:sp>
      <p:sp>
        <p:nvSpPr>
          <p:cNvPr id="839" name="Google Shape;839;p42"/>
          <p:cNvSpPr txBox="1"/>
          <p:nvPr/>
        </p:nvSpPr>
        <p:spPr>
          <a:xfrm>
            <a:off x="1388817" y="2766752"/>
            <a:ext cx="13412142" cy="13709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Flyweight es un patrón de diseño estructural que te permite mantener más objetos dentro de la cantidad disponible de RAM compartiendo las partes comunes del estado entre varios objetos en lugar de mantener toda la información en cada objeto.</a:t>
            </a:r>
            <a:endParaRPr b="0" i="0" sz="1400" u="none" cap="none" strike="noStrike">
              <a:solidFill>
                <a:srgbClr val="000000"/>
              </a:solidFill>
              <a:latin typeface="Arial"/>
              <a:ea typeface="Arial"/>
              <a:cs typeface="Arial"/>
              <a:sym typeface="Arial"/>
            </a:endParaRPr>
          </a:p>
          <a:p>
            <a:pPr indent="0" lvl="0" marL="0" marR="0" rtl="0" algn="ctr">
              <a:lnSpc>
                <a:spcPct val="140021"/>
              </a:lnSpc>
              <a:spcBef>
                <a:spcPts val="0"/>
              </a:spcBef>
              <a:spcAft>
                <a:spcPts val="0"/>
              </a:spcAft>
              <a:buClr>
                <a:srgbClr val="000000"/>
              </a:buClr>
              <a:buSzPts val="1899"/>
              <a:buFont typeface="Arial"/>
              <a:buNone/>
            </a:pPr>
            <a:r>
              <a:t/>
            </a:r>
            <a:endParaRPr b="0" i="0" sz="1899" u="none" cap="none" strike="noStrike">
              <a:solidFill>
                <a:srgbClr val="000000"/>
              </a:solidFill>
              <a:latin typeface="Arial"/>
              <a:ea typeface="Arial"/>
              <a:cs typeface="Arial"/>
              <a:sym typeface="Arial"/>
            </a:endParaRPr>
          </a:p>
        </p:txBody>
      </p:sp>
      <p:sp>
        <p:nvSpPr>
          <p:cNvPr id="840" name="Google Shape;840;p42"/>
          <p:cNvSpPr txBox="1"/>
          <p:nvPr/>
        </p:nvSpPr>
        <p:spPr>
          <a:xfrm>
            <a:off x="1388817" y="4164929"/>
            <a:ext cx="7447153" cy="1215325"/>
          </a:xfrm>
          <a:prstGeom prst="rect">
            <a:avLst/>
          </a:prstGeom>
          <a:noFill/>
          <a:ln>
            <a:noFill/>
          </a:ln>
        </p:spPr>
        <p:txBody>
          <a:bodyPr anchorCtr="0" anchor="t" bIns="0" lIns="0" spcFirstLastPara="1" rIns="0" wrap="square" tIns="0">
            <a:spAutoFit/>
          </a:bodyPr>
          <a:lstStyle/>
          <a:p>
            <a:pPr indent="0" lvl="0" marL="0" marR="0" rtl="0" algn="l">
              <a:lnSpc>
                <a:spcPct val="139975"/>
              </a:lnSpc>
              <a:spcBef>
                <a:spcPts val="0"/>
              </a:spcBef>
              <a:spcAft>
                <a:spcPts val="0"/>
              </a:spcAft>
              <a:buClr>
                <a:srgbClr val="000000"/>
              </a:buClr>
              <a:buSzPts val="3282"/>
              <a:buFont typeface="Arial"/>
              <a:buNone/>
            </a:pPr>
            <a:r>
              <a:rPr b="1" i="0" lang="en-US" sz="3282" u="none" cap="none" strike="noStrike">
                <a:solidFill>
                  <a:srgbClr val="000000"/>
                </a:solidFill>
                <a:latin typeface="Arial"/>
                <a:ea typeface="Arial"/>
                <a:cs typeface="Arial"/>
                <a:sym typeface="Arial"/>
              </a:rPr>
              <a:t>Bridge</a:t>
            </a:r>
            <a:endParaRPr b="0" i="0" sz="1400" u="none" cap="none" strike="noStrike">
              <a:solidFill>
                <a:srgbClr val="000000"/>
              </a:solidFill>
              <a:latin typeface="Arial"/>
              <a:ea typeface="Arial"/>
              <a:cs typeface="Arial"/>
              <a:sym typeface="Arial"/>
            </a:endParaRPr>
          </a:p>
          <a:p>
            <a:pPr indent="0" lvl="0" marL="0" marR="0" rtl="0" algn="l">
              <a:lnSpc>
                <a:spcPct val="139975"/>
              </a:lnSpc>
              <a:spcBef>
                <a:spcPts val="0"/>
              </a:spcBef>
              <a:spcAft>
                <a:spcPts val="0"/>
              </a:spcAft>
              <a:buClr>
                <a:srgbClr val="000000"/>
              </a:buClr>
              <a:buSzPts val="3282"/>
              <a:buFont typeface="Arial"/>
              <a:buNone/>
            </a:pPr>
            <a:r>
              <a:t/>
            </a:r>
            <a:endParaRPr b="1" i="0" sz="3282" u="none" cap="none" strike="noStrike">
              <a:solidFill>
                <a:srgbClr val="000000"/>
              </a:solidFill>
              <a:latin typeface="Arial"/>
              <a:ea typeface="Arial"/>
              <a:cs typeface="Arial"/>
              <a:sym typeface="Arial"/>
            </a:endParaRPr>
          </a:p>
        </p:txBody>
      </p:sp>
      <p:sp>
        <p:nvSpPr>
          <p:cNvPr id="841" name="Google Shape;841;p42"/>
          <p:cNvSpPr txBox="1"/>
          <p:nvPr/>
        </p:nvSpPr>
        <p:spPr>
          <a:xfrm>
            <a:off x="1748182" y="5057775"/>
            <a:ext cx="13412142" cy="103759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Bridge es un patrón de diseño estructural que te permite dividir una clase grande, o un grupo de clases estrechamente relacionadas, en dos jerarquías separadas (abstracción e implementación) que pueden desarrollarse independientemente la una de la otra.</a:t>
            </a:r>
            <a:endParaRPr b="0" i="0" sz="1400" u="none" cap="none" strike="noStrike">
              <a:solidFill>
                <a:srgbClr val="000000"/>
              </a:solidFill>
              <a:latin typeface="Arial"/>
              <a:ea typeface="Arial"/>
              <a:cs typeface="Arial"/>
              <a:sym typeface="Arial"/>
            </a:endParaRPr>
          </a:p>
        </p:txBody>
      </p:sp>
      <p:sp>
        <p:nvSpPr>
          <p:cNvPr id="842" name="Google Shape;842;p42"/>
          <p:cNvSpPr txBox="1"/>
          <p:nvPr/>
        </p:nvSpPr>
        <p:spPr>
          <a:xfrm>
            <a:off x="1388817" y="6646130"/>
            <a:ext cx="7447153" cy="1215325"/>
          </a:xfrm>
          <a:prstGeom prst="rect">
            <a:avLst/>
          </a:prstGeom>
          <a:noFill/>
          <a:ln>
            <a:noFill/>
          </a:ln>
        </p:spPr>
        <p:txBody>
          <a:bodyPr anchorCtr="0" anchor="t" bIns="0" lIns="0" spcFirstLastPara="1" rIns="0" wrap="square" tIns="0">
            <a:spAutoFit/>
          </a:bodyPr>
          <a:lstStyle/>
          <a:p>
            <a:pPr indent="0" lvl="0" marL="0" marR="0" rtl="0" algn="l">
              <a:lnSpc>
                <a:spcPct val="139975"/>
              </a:lnSpc>
              <a:spcBef>
                <a:spcPts val="0"/>
              </a:spcBef>
              <a:spcAft>
                <a:spcPts val="0"/>
              </a:spcAft>
              <a:buClr>
                <a:srgbClr val="000000"/>
              </a:buClr>
              <a:buSzPts val="3282"/>
              <a:buFont typeface="Arial"/>
              <a:buNone/>
            </a:pPr>
            <a:r>
              <a:rPr b="1" i="0" lang="en-US" sz="3282" u="none" cap="none" strike="noStrike">
                <a:solidFill>
                  <a:srgbClr val="000000"/>
                </a:solidFill>
                <a:latin typeface="Arial"/>
                <a:ea typeface="Arial"/>
                <a:cs typeface="Arial"/>
                <a:sym typeface="Arial"/>
              </a:rPr>
              <a:t>Composite</a:t>
            </a:r>
            <a:endParaRPr b="0" i="0" sz="1400" u="none" cap="none" strike="noStrike">
              <a:solidFill>
                <a:srgbClr val="000000"/>
              </a:solidFill>
              <a:latin typeface="Arial"/>
              <a:ea typeface="Arial"/>
              <a:cs typeface="Arial"/>
              <a:sym typeface="Arial"/>
            </a:endParaRPr>
          </a:p>
          <a:p>
            <a:pPr indent="0" lvl="0" marL="0" marR="0" rtl="0" algn="l">
              <a:lnSpc>
                <a:spcPct val="139975"/>
              </a:lnSpc>
              <a:spcBef>
                <a:spcPts val="0"/>
              </a:spcBef>
              <a:spcAft>
                <a:spcPts val="0"/>
              </a:spcAft>
              <a:buClr>
                <a:srgbClr val="000000"/>
              </a:buClr>
              <a:buSzPts val="3282"/>
              <a:buFont typeface="Arial"/>
              <a:buNone/>
            </a:pPr>
            <a:r>
              <a:t/>
            </a:r>
            <a:endParaRPr b="1" i="0" sz="3282" u="none" cap="none" strike="noStrike">
              <a:solidFill>
                <a:srgbClr val="000000"/>
              </a:solidFill>
              <a:latin typeface="Arial"/>
              <a:ea typeface="Arial"/>
              <a:cs typeface="Arial"/>
              <a:sym typeface="Arial"/>
            </a:endParaRPr>
          </a:p>
        </p:txBody>
      </p:sp>
      <p:sp>
        <p:nvSpPr>
          <p:cNvPr id="843" name="Google Shape;843;p42"/>
          <p:cNvSpPr txBox="1"/>
          <p:nvPr/>
        </p:nvSpPr>
        <p:spPr>
          <a:xfrm>
            <a:off x="1900582" y="7775730"/>
            <a:ext cx="13412142" cy="70421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0" i="0" lang="en-US" sz="1899" u="none" cap="none" strike="noStrike">
                <a:solidFill>
                  <a:srgbClr val="000000"/>
                </a:solidFill>
                <a:latin typeface="Arial"/>
                <a:ea typeface="Arial"/>
                <a:cs typeface="Arial"/>
                <a:sym typeface="Arial"/>
              </a:rPr>
              <a:t>Composite es un patrón de diseño estructural que te permite componer objetos en estructuras de árbol y trabajar con esas estructuras como si fueran objetos individuales.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e7d3496d61_0_517"/>
          <p:cNvSpPr/>
          <p:nvPr/>
        </p:nvSpPr>
        <p:spPr>
          <a:xfrm>
            <a:off x="3493371" y="547445"/>
            <a:ext cx="11301259" cy="1553923"/>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849" name="Google Shape;849;g3e7d3496d61_0_517"/>
          <p:cNvSpPr/>
          <p:nvPr/>
        </p:nvSpPr>
        <p:spPr>
          <a:xfrm>
            <a:off x="1967873" y="2798489"/>
            <a:ext cx="14352253" cy="5956185"/>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850" name="Google Shape;850;g3e7d3496d61_0_517"/>
          <p:cNvSpPr txBox="1"/>
          <p:nvPr/>
        </p:nvSpPr>
        <p:spPr>
          <a:xfrm>
            <a:off x="2474691" y="3684440"/>
            <a:ext cx="13765800" cy="3940500"/>
          </a:xfrm>
          <a:prstGeom prst="rect">
            <a:avLst/>
          </a:prstGeom>
          <a:noFill/>
          <a:ln>
            <a:noFill/>
          </a:ln>
        </p:spPr>
        <p:txBody>
          <a:bodyPr anchorCtr="0" anchor="t" bIns="0" lIns="0" spcFirstLastPara="1" rIns="0" wrap="square" tIns="0">
            <a:spAutoFit/>
          </a:bodyPr>
          <a:lstStyle/>
          <a:p>
            <a:pPr indent="-345440" lvl="1" marL="690881" marR="0" rtl="0" algn="l">
              <a:lnSpc>
                <a:spcPct val="140000"/>
              </a:lnSpc>
              <a:spcBef>
                <a:spcPts val="0"/>
              </a:spcBef>
              <a:spcAft>
                <a:spcPts val="0"/>
              </a:spcAft>
              <a:buClr>
                <a:srgbClr val="000000"/>
              </a:buClr>
              <a:buSzPts val="3200"/>
              <a:buFont typeface="Arial"/>
              <a:buChar char="•"/>
            </a:pPr>
            <a:r>
              <a:rPr lang="en-US" sz="3200">
                <a:latin typeface="Open Sans"/>
                <a:ea typeface="Open Sans"/>
                <a:cs typeface="Open Sans"/>
                <a:sym typeface="Open Sans"/>
              </a:rPr>
              <a:t>Patron de diseño estructurales:</a:t>
            </a:r>
            <a:endParaRPr sz="3200">
              <a:latin typeface="Open Sans"/>
              <a:ea typeface="Open Sans"/>
              <a:cs typeface="Open Sans"/>
              <a:sym typeface="Open Sans"/>
            </a:endParaRPr>
          </a:p>
          <a:p>
            <a:pPr indent="-431800" lvl="2" marL="1371600" marR="0" rtl="0" algn="l">
              <a:lnSpc>
                <a:spcPct val="140000"/>
              </a:lnSpc>
              <a:spcBef>
                <a:spcPts val="0"/>
              </a:spcBef>
              <a:spcAft>
                <a:spcPts val="0"/>
              </a:spcAft>
              <a:buSzPts val="3200"/>
              <a:buFont typeface="Open Sans"/>
              <a:buChar char="■"/>
            </a:pPr>
            <a:r>
              <a:rPr lang="en-US" sz="3200">
                <a:latin typeface="Open Sans"/>
                <a:ea typeface="Open Sans"/>
                <a:cs typeface="Open Sans"/>
                <a:sym typeface="Open Sans"/>
              </a:rPr>
              <a:t>Adapter</a:t>
            </a:r>
            <a:endParaRPr sz="3200">
              <a:latin typeface="Open Sans"/>
              <a:ea typeface="Open Sans"/>
              <a:cs typeface="Open Sans"/>
              <a:sym typeface="Open Sans"/>
            </a:endParaRPr>
          </a:p>
          <a:p>
            <a:pPr indent="-431800" lvl="2" marL="1371600" marR="0" rtl="0" algn="l">
              <a:lnSpc>
                <a:spcPct val="140000"/>
              </a:lnSpc>
              <a:spcBef>
                <a:spcPts val="0"/>
              </a:spcBef>
              <a:spcAft>
                <a:spcPts val="0"/>
              </a:spcAft>
              <a:buSzPts val="3200"/>
              <a:buFont typeface="Open Sans"/>
              <a:buChar char="■"/>
            </a:pPr>
            <a:r>
              <a:rPr lang="en-US" sz="3200">
                <a:latin typeface="Open Sans"/>
                <a:ea typeface="Open Sans"/>
                <a:cs typeface="Open Sans"/>
                <a:sym typeface="Open Sans"/>
              </a:rPr>
              <a:t>Proxy</a:t>
            </a:r>
            <a:endParaRPr sz="3200">
              <a:latin typeface="Open Sans"/>
              <a:ea typeface="Open Sans"/>
              <a:cs typeface="Open Sans"/>
              <a:sym typeface="Open Sans"/>
            </a:endParaRPr>
          </a:p>
          <a:p>
            <a:pPr indent="-431800" lvl="2" marL="1371600" marR="0" rtl="0" algn="l">
              <a:lnSpc>
                <a:spcPct val="140000"/>
              </a:lnSpc>
              <a:spcBef>
                <a:spcPts val="0"/>
              </a:spcBef>
              <a:spcAft>
                <a:spcPts val="0"/>
              </a:spcAft>
              <a:buSzPts val="3200"/>
              <a:buFont typeface="Open Sans"/>
              <a:buChar char="■"/>
            </a:pPr>
            <a:r>
              <a:rPr lang="en-US" sz="3200">
                <a:latin typeface="Open Sans"/>
                <a:ea typeface="Open Sans"/>
                <a:cs typeface="Open Sans"/>
                <a:sym typeface="Open Sans"/>
              </a:rPr>
              <a:t>Facade</a:t>
            </a:r>
            <a:endParaRPr sz="3200">
              <a:latin typeface="Open Sans"/>
              <a:ea typeface="Open Sans"/>
              <a:cs typeface="Open Sans"/>
              <a:sym typeface="Open Sans"/>
            </a:endParaRPr>
          </a:p>
          <a:p>
            <a:pPr indent="-431800" lvl="2" marL="1371600" marR="0" rtl="0" algn="l">
              <a:lnSpc>
                <a:spcPct val="140000"/>
              </a:lnSpc>
              <a:spcBef>
                <a:spcPts val="0"/>
              </a:spcBef>
              <a:spcAft>
                <a:spcPts val="0"/>
              </a:spcAft>
              <a:buSzPts val="3200"/>
              <a:buFont typeface="Open Sans"/>
              <a:buChar char="■"/>
            </a:pPr>
            <a:r>
              <a:rPr lang="en-US" sz="3200">
                <a:latin typeface="Open Sans"/>
                <a:ea typeface="Open Sans"/>
                <a:cs typeface="Open Sans"/>
                <a:sym typeface="Open Sans"/>
              </a:rPr>
              <a:t>Decorator</a:t>
            </a:r>
            <a:endParaRPr sz="3200">
              <a:latin typeface="Open Sans"/>
              <a:ea typeface="Open Sans"/>
              <a:cs typeface="Open Sans"/>
              <a:sym typeface="Open Sans"/>
            </a:endParaRPr>
          </a:p>
          <a:p>
            <a:pPr indent="0" lvl="0" marL="0" marR="0" rtl="0" algn="l">
              <a:lnSpc>
                <a:spcPct val="104968"/>
              </a:lnSpc>
              <a:spcBef>
                <a:spcPts val="0"/>
              </a:spcBef>
              <a:spcAft>
                <a:spcPts val="0"/>
              </a:spcAft>
              <a:buNone/>
            </a:pPr>
            <a:r>
              <a:t/>
            </a:r>
            <a:endParaRPr b="0"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854" name="Shape 854"/>
        <p:cNvGrpSpPr/>
        <p:nvPr/>
      </p:nvGrpSpPr>
      <p:grpSpPr>
        <a:xfrm>
          <a:off x="0" y="0"/>
          <a:ext cx="0" cy="0"/>
          <a:chOff x="0" y="0"/>
          <a:chExt cx="0" cy="0"/>
        </a:xfrm>
      </p:grpSpPr>
      <p:grpSp>
        <p:nvGrpSpPr>
          <p:cNvPr id="855" name="Google Shape;855;p41"/>
          <p:cNvGrpSpPr/>
          <p:nvPr/>
        </p:nvGrpSpPr>
        <p:grpSpPr>
          <a:xfrm>
            <a:off x="15160324" y="-2279391"/>
            <a:ext cx="3269773" cy="3308091"/>
            <a:chOff x="0" y="-9525"/>
            <a:chExt cx="812800" cy="822325"/>
          </a:xfrm>
        </p:grpSpPr>
        <p:sp>
          <p:nvSpPr>
            <p:cNvPr id="856" name="Google Shape;856;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41"/>
            <p:cNvSpPr txBox="1"/>
            <p:nvPr/>
          </p:nvSpPr>
          <p:spPr>
            <a:xfrm>
              <a:off x="76200" y="-9525"/>
              <a:ext cx="660400" cy="7461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58" name="Google Shape;858;p41"/>
          <p:cNvGrpSpPr/>
          <p:nvPr/>
        </p:nvGrpSpPr>
        <p:grpSpPr>
          <a:xfrm>
            <a:off x="-277108" y="9663467"/>
            <a:ext cx="18842215" cy="1249748"/>
            <a:chOff x="0" y="-85725"/>
            <a:chExt cx="4962559" cy="329151"/>
          </a:xfrm>
        </p:grpSpPr>
        <p:sp>
          <p:nvSpPr>
            <p:cNvPr id="859" name="Google Shape;859;p41"/>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860" name="Google Shape;860;p41"/>
            <p:cNvSpPr txBox="1"/>
            <p:nvPr/>
          </p:nvSpPr>
          <p:spPr>
            <a:xfrm>
              <a:off x="0" y="-85725"/>
              <a:ext cx="4962559" cy="3291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61" name="Google Shape;861;p41"/>
          <p:cNvSpPr txBox="1"/>
          <p:nvPr/>
        </p:nvSpPr>
        <p:spPr>
          <a:xfrm>
            <a:off x="748626" y="777384"/>
            <a:ext cx="8087344"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FFC61A"/>
                </a:solidFill>
                <a:latin typeface="Arial"/>
                <a:ea typeface="Arial"/>
                <a:cs typeface="Arial"/>
                <a:sym typeface="Arial"/>
              </a:rPr>
              <a:t>EJEMPLO PRACTICO</a:t>
            </a:r>
            <a:endParaRPr b="0" i="0" sz="1400" u="none" cap="none" strike="noStrike">
              <a:solidFill>
                <a:srgbClr val="000000"/>
              </a:solidFill>
              <a:latin typeface="Arial"/>
              <a:ea typeface="Arial"/>
              <a:cs typeface="Arial"/>
              <a:sym typeface="Arial"/>
            </a:endParaRPr>
          </a:p>
        </p:txBody>
      </p:sp>
      <p:sp>
        <p:nvSpPr>
          <p:cNvPr id="862" name="Google Shape;862;p41"/>
          <p:cNvSpPr txBox="1"/>
          <p:nvPr/>
        </p:nvSpPr>
        <p:spPr>
          <a:xfrm>
            <a:off x="15756103" y="60284"/>
            <a:ext cx="2531897" cy="701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863" name="Google Shape;863;p41"/>
          <p:cNvSpPr txBox="1"/>
          <p:nvPr/>
        </p:nvSpPr>
        <p:spPr>
          <a:xfrm>
            <a:off x="718585" y="3489793"/>
            <a:ext cx="16540715" cy="2747367"/>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532"/>
              <a:buFont typeface="Arial"/>
              <a:buNone/>
            </a:pPr>
            <a:r>
              <a:rPr b="0" i="0" lang="en-US" sz="2532" u="none" cap="none" strike="noStrike">
                <a:solidFill>
                  <a:srgbClr val="000000"/>
                </a:solidFill>
                <a:latin typeface="Arial"/>
                <a:ea typeface="Arial"/>
                <a:cs typeface="Arial"/>
                <a:sym typeface="Arial"/>
              </a:rPr>
              <a:t>Enunciado: Estás construyendo un sistema para una tienda de café en línea. Tienes una clase base Beverage con un método para obtener el costo. Necesitas añadir funcionalidades opcionales como Milk, Sugar, o Soy a cualquier bebida, sin modificar la clase base Beverage. Usa el patrón Decorator para crear un sistema que te permita combinar estas opciones de forma dinámica. Por ejemplo, un cliente debería poder pedir un Coffee simple, o un Coffee con Milk, o un Coffee con Milk y Sugar, y el sistema debería calcular el costo total de cada combinación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867" name="Shape 867"/>
        <p:cNvGrpSpPr/>
        <p:nvPr/>
      </p:nvGrpSpPr>
      <p:grpSpPr>
        <a:xfrm>
          <a:off x="0" y="0"/>
          <a:ext cx="0" cy="0"/>
          <a:chOff x="0" y="0"/>
          <a:chExt cx="0" cy="0"/>
        </a:xfrm>
      </p:grpSpPr>
      <p:grpSp>
        <p:nvGrpSpPr>
          <p:cNvPr id="868" name="Google Shape;868;g3e7d3496d61_0_598"/>
          <p:cNvGrpSpPr/>
          <p:nvPr/>
        </p:nvGrpSpPr>
        <p:grpSpPr>
          <a:xfrm>
            <a:off x="15160324" y="-2279391"/>
            <a:ext cx="3269813" cy="3308131"/>
            <a:chOff x="0" y="-9525"/>
            <a:chExt cx="812800" cy="822325"/>
          </a:xfrm>
        </p:grpSpPr>
        <p:sp>
          <p:nvSpPr>
            <p:cNvPr id="869" name="Google Shape;869;g3e7d3496d61_0_59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g3e7d3496d61_0_598"/>
            <p:cNvSpPr txBox="1"/>
            <p:nvPr/>
          </p:nvSpPr>
          <p:spPr>
            <a:xfrm>
              <a:off x="76200" y="-9525"/>
              <a:ext cx="660300" cy="746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71" name="Google Shape;871;g3e7d3496d61_0_598"/>
          <p:cNvGrpSpPr/>
          <p:nvPr/>
        </p:nvGrpSpPr>
        <p:grpSpPr>
          <a:xfrm>
            <a:off x="-277108" y="9663466"/>
            <a:ext cx="18842496" cy="1249753"/>
            <a:chOff x="0" y="-85725"/>
            <a:chExt cx="4962600" cy="329151"/>
          </a:xfrm>
        </p:grpSpPr>
        <p:sp>
          <p:nvSpPr>
            <p:cNvPr id="872" name="Google Shape;872;g3e7d3496d61_0_598"/>
            <p:cNvSpPr/>
            <p:nvPr/>
          </p:nvSpPr>
          <p:spPr>
            <a:xfrm>
              <a:off x="0" y="0"/>
              <a:ext cx="4962559" cy="243426"/>
            </a:xfrm>
            <a:custGeom>
              <a:rect b="b" l="l" r="r" t="t"/>
              <a:pathLst>
                <a:path extrusionOk="0" h="243426" w="4962559">
                  <a:moveTo>
                    <a:pt x="0" y="0"/>
                  </a:moveTo>
                  <a:lnTo>
                    <a:pt x="4962559" y="0"/>
                  </a:lnTo>
                  <a:lnTo>
                    <a:pt x="4962559" y="243426"/>
                  </a:lnTo>
                  <a:lnTo>
                    <a:pt x="0" y="243426"/>
                  </a:lnTo>
                  <a:close/>
                </a:path>
              </a:pathLst>
            </a:custGeom>
            <a:solidFill>
              <a:srgbClr val="000000"/>
            </a:solidFill>
            <a:ln>
              <a:noFill/>
            </a:ln>
          </p:spPr>
        </p:sp>
        <p:sp>
          <p:nvSpPr>
            <p:cNvPr id="873" name="Google Shape;873;g3e7d3496d61_0_598"/>
            <p:cNvSpPr txBox="1"/>
            <p:nvPr/>
          </p:nvSpPr>
          <p:spPr>
            <a:xfrm>
              <a:off x="0" y="-85725"/>
              <a:ext cx="4962600" cy="329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74" name="Google Shape;874;g3e7d3496d61_0_598"/>
          <p:cNvSpPr txBox="1"/>
          <p:nvPr/>
        </p:nvSpPr>
        <p:spPr>
          <a:xfrm>
            <a:off x="748625" y="777375"/>
            <a:ext cx="94293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lang="en-US" sz="5000">
                <a:solidFill>
                  <a:srgbClr val="FFC61A"/>
                </a:solidFill>
              </a:rPr>
              <a:t>Practiquemos lo aprendido</a:t>
            </a:r>
            <a:endParaRPr b="0" i="0" sz="1400" u="none" cap="none" strike="noStrike">
              <a:solidFill>
                <a:srgbClr val="000000"/>
              </a:solidFill>
              <a:latin typeface="Arial"/>
              <a:ea typeface="Arial"/>
              <a:cs typeface="Arial"/>
              <a:sym typeface="Arial"/>
            </a:endParaRPr>
          </a:p>
        </p:txBody>
      </p:sp>
      <p:sp>
        <p:nvSpPr>
          <p:cNvPr id="875" name="Google Shape;875;g3e7d3496d61_0_598"/>
          <p:cNvSpPr txBox="1"/>
          <p:nvPr/>
        </p:nvSpPr>
        <p:spPr>
          <a:xfrm>
            <a:off x="15756103" y="60284"/>
            <a:ext cx="2532000" cy="738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PATRON DE DISEÑO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ESTRUCTURAL</a:t>
            </a:r>
            <a:endParaRPr b="0" i="0" sz="1400" u="none" cap="none" strike="noStrike">
              <a:solidFill>
                <a:srgbClr val="000000"/>
              </a:solidFill>
              <a:latin typeface="Arial"/>
              <a:ea typeface="Arial"/>
              <a:cs typeface="Arial"/>
              <a:sym typeface="Arial"/>
            </a:endParaRPr>
          </a:p>
        </p:txBody>
      </p:sp>
      <p:sp>
        <p:nvSpPr>
          <p:cNvPr id="876" name="Google Shape;876;g3e7d3496d61_0_598"/>
          <p:cNvSpPr txBox="1"/>
          <p:nvPr/>
        </p:nvSpPr>
        <p:spPr>
          <a:xfrm>
            <a:off x="718585" y="3489793"/>
            <a:ext cx="16540800" cy="9354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532"/>
              <a:buFont typeface="Arial"/>
              <a:buNone/>
            </a:pPr>
            <a:r>
              <a:rPr lang="en-US" sz="2532"/>
              <a:t>Generar una analogía de aplicación del patrón adapter en un objeto de la vida real, identificando las diferentes partes que conforman la solución que implementa este patrón.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e7d3496d61_0_611"/>
          <p:cNvSpPr/>
          <p:nvPr/>
        </p:nvSpPr>
        <p:spPr>
          <a:xfrm>
            <a:off x="0" y="0"/>
            <a:ext cx="18288000" cy="1026414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882" name="Google Shape;882;g3e7d3496d61_0_611"/>
          <p:cNvSpPr txBox="1"/>
          <p:nvPr/>
        </p:nvSpPr>
        <p:spPr>
          <a:xfrm>
            <a:off x="5655069" y="1667078"/>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83" name="Google Shape;883;g3e7d3496d61_0_611"/>
          <p:cNvSpPr txBox="1"/>
          <p:nvPr/>
        </p:nvSpPr>
        <p:spPr>
          <a:xfrm>
            <a:off x="5655069" y="2460445"/>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84" name="Google Shape;884;g3e7d3496d61_0_611"/>
          <p:cNvSpPr txBox="1"/>
          <p:nvPr/>
        </p:nvSpPr>
        <p:spPr>
          <a:xfrm>
            <a:off x="5655069" y="3475309"/>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85" name="Google Shape;885;g3e7d3496d61_0_611"/>
          <p:cNvSpPr txBox="1"/>
          <p:nvPr/>
        </p:nvSpPr>
        <p:spPr>
          <a:xfrm>
            <a:off x="13953088" y="2091258"/>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86" name="Google Shape;886;g3e7d3496d61_0_611"/>
          <p:cNvSpPr txBox="1"/>
          <p:nvPr/>
        </p:nvSpPr>
        <p:spPr>
          <a:xfrm>
            <a:off x="13953088" y="2884625"/>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87" name="Google Shape;887;g3e7d3496d61_0_611"/>
          <p:cNvSpPr txBox="1"/>
          <p:nvPr/>
        </p:nvSpPr>
        <p:spPr>
          <a:xfrm>
            <a:off x="13953088" y="368028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88" name="Google Shape;888;g3e7d3496d61_0_611"/>
          <p:cNvSpPr txBox="1"/>
          <p:nvPr/>
        </p:nvSpPr>
        <p:spPr>
          <a:xfrm>
            <a:off x="277231" y="508635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89" name="Google Shape;889;g3e7d3496d61_0_611"/>
          <p:cNvSpPr txBox="1"/>
          <p:nvPr/>
        </p:nvSpPr>
        <p:spPr>
          <a:xfrm>
            <a:off x="277231" y="585301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0" name="Google Shape;890;g3e7d3496d61_0_611"/>
          <p:cNvSpPr txBox="1"/>
          <p:nvPr/>
        </p:nvSpPr>
        <p:spPr>
          <a:xfrm>
            <a:off x="277231" y="662009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1" name="Google Shape;891;g3e7d3496d61_0_611"/>
          <p:cNvSpPr txBox="1"/>
          <p:nvPr/>
        </p:nvSpPr>
        <p:spPr>
          <a:xfrm>
            <a:off x="277231" y="7600405"/>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2" name="Google Shape;892;g3e7d3496d61_0_611"/>
          <p:cNvSpPr txBox="1"/>
          <p:nvPr/>
        </p:nvSpPr>
        <p:spPr>
          <a:xfrm>
            <a:off x="277231" y="8367485"/>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3" name="Google Shape;893;g3e7d3496d61_0_611"/>
          <p:cNvSpPr txBox="1"/>
          <p:nvPr/>
        </p:nvSpPr>
        <p:spPr>
          <a:xfrm>
            <a:off x="277231" y="920115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4" name="Google Shape;894;g3e7d3496d61_0_611"/>
          <p:cNvSpPr txBox="1"/>
          <p:nvPr/>
        </p:nvSpPr>
        <p:spPr>
          <a:xfrm>
            <a:off x="6406538" y="507492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5" name="Google Shape;895;g3e7d3496d61_0_611"/>
          <p:cNvSpPr txBox="1"/>
          <p:nvPr/>
        </p:nvSpPr>
        <p:spPr>
          <a:xfrm>
            <a:off x="6406538" y="585301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6" name="Google Shape;896;g3e7d3496d61_0_611"/>
          <p:cNvSpPr txBox="1"/>
          <p:nvPr/>
        </p:nvSpPr>
        <p:spPr>
          <a:xfrm>
            <a:off x="6406538" y="6648665"/>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7" name="Google Shape;897;g3e7d3496d61_0_611"/>
          <p:cNvSpPr txBox="1"/>
          <p:nvPr/>
        </p:nvSpPr>
        <p:spPr>
          <a:xfrm>
            <a:off x="6406538" y="744432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8" name="Google Shape;898;g3e7d3496d61_0_611"/>
          <p:cNvSpPr txBox="1"/>
          <p:nvPr/>
        </p:nvSpPr>
        <p:spPr>
          <a:xfrm>
            <a:off x="6406538" y="8367485"/>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899" name="Google Shape;899;g3e7d3496d61_0_611"/>
          <p:cNvSpPr txBox="1"/>
          <p:nvPr/>
        </p:nvSpPr>
        <p:spPr>
          <a:xfrm>
            <a:off x="6406538" y="920115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900" name="Google Shape;900;g3e7d3496d61_0_611"/>
          <p:cNvSpPr txBox="1"/>
          <p:nvPr/>
        </p:nvSpPr>
        <p:spPr>
          <a:xfrm>
            <a:off x="12538626" y="507492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901" name="Google Shape;901;g3e7d3496d61_0_611"/>
          <p:cNvSpPr txBox="1"/>
          <p:nvPr/>
        </p:nvSpPr>
        <p:spPr>
          <a:xfrm>
            <a:off x="12538626" y="585301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902" name="Google Shape;902;g3e7d3496d61_0_611"/>
          <p:cNvSpPr txBox="1"/>
          <p:nvPr/>
        </p:nvSpPr>
        <p:spPr>
          <a:xfrm>
            <a:off x="12538626" y="6648665"/>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903" name="Google Shape;903;g3e7d3496d61_0_611"/>
          <p:cNvSpPr txBox="1"/>
          <p:nvPr/>
        </p:nvSpPr>
        <p:spPr>
          <a:xfrm>
            <a:off x="12538626" y="744432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904" name="Google Shape;904;g3e7d3496d61_0_611"/>
          <p:cNvSpPr txBox="1"/>
          <p:nvPr/>
        </p:nvSpPr>
        <p:spPr>
          <a:xfrm>
            <a:off x="12538626" y="8367485"/>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
        <p:nvSpPr>
          <p:cNvPr id="905" name="Google Shape;905;g3e7d3496d61_0_611"/>
          <p:cNvSpPr txBox="1"/>
          <p:nvPr/>
        </p:nvSpPr>
        <p:spPr>
          <a:xfrm>
            <a:off x="12538626" y="9163140"/>
            <a:ext cx="15030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3e7d3496d61_0_714"/>
          <p:cNvSpPr/>
          <p:nvPr/>
        </p:nvSpPr>
        <p:spPr>
          <a:xfrm>
            <a:off x="3493371" y="-591537"/>
            <a:ext cx="11301259" cy="5113820"/>
          </a:xfrm>
          <a:custGeom>
            <a:rect b="b" l="l" r="r" t="t"/>
            <a:pathLst>
              <a:path extrusionOk="0" h="5113820" w="11301259">
                <a:moveTo>
                  <a:pt x="0" y="0"/>
                </a:moveTo>
                <a:lnTo>
                  <a:pt x="11301258" y="0"/>
                </a:lnTo>
                <a:lnTo>
                  <a:pt x="11301258" y="5113820"/>
                </a:lnTo>
                <a:lnTo>
                  <a:pt x="0" y="5113820"/>
                </a:lnTo>
                <a:lnTo>
                  <a:pt x="0" y="0"/>
                </a:lnTo>
                <a:close/>
              </a:path>
            </a:pathLst>
          </a:custGeom>
          <a:blipFill rotWithShape="1">
            <a:blip r:embed="rId3">
              <a:alphaModFix/>
            </a:blip>
            <a:stretch>
              <a:fillRect b="0" l="0" r="0" t="0"/>
            </a:stretch>
          </a:blipFill>
          <a:ln>
            <a:noFill/>
          </a:ln>
        </p:spPr>
      </p:sp>
      <p:sp>
        <p:nvSpPr>
          <p:cNvPr id="911" name="Google Shape;911;g3e7d3496d61_0_714"/>
          <p:cNvSpPr/>
          <p:nvPr/>
        </p:nvSpPr>
        <p:spPr>
          <a:xfrm>
            <a:off x="2197698" y="3492869"/>
            <a:ext cx="13892604" cy="5765431"/>
          </a:xfrm>
          <a:custGeom>
            <a:rect b="b" l="l" r="r" t="t"/>
            <a:pathLst>
              <a:path extrusionOk="0" h="5765431" w="13892604">
                <a:moveTo>
                  <a:pt x="0" y="0"/>
                </a:moveTo>
                <a:lnTo>
                  <a:pt x="13892604" y="0"/>
                </a:lnTo>
                <a:lnTo>
                  <a:pt x="13892604" y="5765431"/>
                </a:lnTo>
                <a:lnTo>
                  <a:pt x="0" y="5765431"/>
                </a:lnTo>
                <a:lnTo>
                  <a:pt x="0" y="0"/>
                </a:lnTo>
                <a:close/>
              </a:path>
            </a:pathLst>
          </a:custGeom>
          <a:blipFill rotWithShape="1">
            <a:blip r:embed="rId4">
              <a:alphaModFix/>
            </a:blip>
            <a:stretch>
              <a:fillRect b="0" l="0" r="0" t="0"/>
            </a:stretch>
          </a:blipFill>
          <a:ln>
            <a:noFill/>
          </a:ln>
        </p:spPr>
      </p:sp>
      <p:sp>
        <p:nvSpPr>
          <p:cNvPr id="912" name="Google Shape;912;g3e7d3496d61_0_714"/>
          <p:cNvSpPr txBox="1"/>
          <p:nvPr/>
        </p:nvSpPr>
        <p:spPr>
          <a:xfrm>
            <a:off x="2580394" y="4461626"/>
            <a:ext cx="13127100" cy="1034100"/>
          </a:xfrm>
          <a:prstGeom prst="rect">
            <a:avLst/>
          </a:prstGeom>
          <a:noFill/>
          <a:ln>
            <a:noFill/>
          </a:ln>
        </p:spPr>
        <p:txBody>
          <a:bodyPr anchorCtr="0" anchor="t" bIns="0" lIns="0" spcFirstLastPara="1" rIns="0" wrap="square" tIns="0">
            <a:spAutoFit/>
          </a:bodyPr>
          <a:lstStyle/>
          <a:p>
            <a:pPr indent="-302260" lvl="1" marL="604519" marR="0" rtl="0" algn="l">
              <a:lnSpc>
                <a:spcPct val="140014"/>
              </a:lnSpc>
              <a:spcBef>
                <a:spcPts val="0"/>
              </a:spcBef>
              <a:spcAft>
                <a:spcPts val="0"/>
              </a:spcAft>
              <a:buClr>
                <a:srgbClr val="000000"/>
              </a:buClr>
              <a:buSzPts val="2799"/>
              <a:buFont typeface="Arial"/>
              <a:buChar char="•"/>
            </a:pPr>
            <a:r>
              <a:rPr lang="en-US" sz="2799">
                <a:latin typeface="Open Sans"/>
                <a:ea typeface="Open Sans"/>
                <a:cs typeface="Open Sans"/>
                <a:sym typeface="Open Sans"/>
              </a:rPr>
              <a:t>https://refactoring.guru/es/design-patterns/structural-patterns</a:t>
            </a:r>
            <a:endParaRPr/>
          </a:p>
          <a:p>
            <a:pPr indent="0" lvl="0" marL="0" marR="0" rtl="0" algn="ctr">
              <a:lnSpc>
                <a:spcPct val="140014"/>
              </a:lnSpc>
              <a:spcBef>
                <a:spcPts val="0"/>
              </a:spcBef>
              <a:spcAft>
                <a:spcPts val="0"/>
              </a:spcAft>
              <a:buNone/>
            </a:pPr>
            <a:r>
              <a:t/>
            </a:r>
            <a:endParaRPr b="0" i="0" sz="2799" u="none" cap="none" strike="noStrike">
              <a:solidFill>
                <a:srgbClr val="000000"/>
              </a:solidFill>
              <a:latin typeface="Open Sans"/>
              <a:ea typeface="Open Sans"/>
              <a:cs typeface="Open Sans"/>
              <a:sym typeface="Open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e7d3496d61_0_796"/>
          <p:cNvSpPr/>
          <p:nvPr/>
        </p:nvSpPr>
        <p:spPr>
          <a:xfrm>
            <a:off x="3861682" y="595298"/>
            <a:ext cx="10564636" cy="8663002"/>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e7d3496d61_0_875"/>
          <p:cNvSpPr/>
          <p:nvPr/>
        </p:nvSpPr>
        <p:spPr>
          <a:xfrm>
            <a:off x="814445" y="0"/>
            <a:ext cx="16659109" cy="102870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