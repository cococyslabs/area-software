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10287000" cx="18288000"/>
  <p:notesSz cx="6858000" cy="9144000"/>
  <p:embeddedFontLst>
    <p:embeddedFont>
      <p:font typeface="Poppins"/>
      <p:regular r:id="rId50"/>
      <p:bold r:id="rId51"/>
      <p:italic r:id="rId52"/>
      <p:boldItalic r:id="rId53"/>
    </p:embeddedFont>
    <p:embeddedFont>
      <p:font typeface="DM Sans"/>
      <p:regular r:id="rId54"/>
      <p:bold r:id="rId55"/>
      <p:italic r:id="rId56"/>
      <p:boldItalic r:id="rId57"/>
    </p:embeddedFont>
    <p:embeddedFont>
      <p:font typeface="Open Sans"/>
      <p:bold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0" roundtripDataSignature="AMtx7mgTJsXOSWm0b8KeuYo6mrLwnd7h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3C02D9E-5B9A-49BD-BD24-AC790C85BC15}">
  <a:tblStyle styleId="{E3C02D9E-5B9A-49BD-BD24-AC790C85BC1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customschemas.google.com/relationships/presentationmetadata" Target="meta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Poppins-bold.fntdata"/><Relationship Id="rId50" Type="http://schemas.openxmlformats.org/officeDocument/2006/relationships/font" Target="fonts/Poppins-regular.fntdata"/><Relationship Id="rId53" Type="http://schemas.openxmlformats.org/officeDocument/2006/relationships/font" Target="fonts/Poppins-boldItalic.fntdata"/><Relationship Id="rId52" Type="http://schemas.openxmlformats.org/officeDocument/2006/relationships/font" Target="fonts/Poppins-italic.fntdata"/><Relationship Id="rId11" Type="http://schemas.openxmlformats.org/officeDocument/2006/relationships/slide" Target="slides/slide5.xml"/><Relationship Id="rId55" Type="http://schemas.openxmlformats.org/officeDocument/2006/relationships/font" Target="fonts/DMSans-bold.fntdata"/><Relationship Id="rId10" Type="http://schemas.openxmlformats.org/officeDocument/2006/relationships/slide" Target="slides/slide4.xml"/><Relationship Id="rId54" Type="http://schemas.openxmlformats.org/officeDocument/2006/relationships/font" Target="fonts/DMSans-regular.fntdata"/><Relationship Id="rId13" Type="http://schemas.openxmlformats.org/officeDocument/2006/relationships/slide" Target="slides/slide7.xml"/><Relationship Id="rId57" Type="http://schemas.openxmlformats.org/officeDocument/2006/relationships/font" Target="fonts/DMSans-boldItalic.fntdata"/><Relationship Id="rId12" Type="http://schemas.openxmlformats.org/officeDocument/2006/relationships/slide" Target="slides/slide6.xml"/><Relationship Id="rId56" Type="http://schemas.openxmlformats.org/officeDocument/2006/relationships/font" Target="fonts/DMSans-italic.fntdata"/><Relationship Id="rId15" Type="http://schemas.openxmlformats.org/officeDocument/2006/relationships/slide" Target="slides/slide9.xml"/><Relationship Id="rId59" Type="http://schemas.openxmlformats.org/officeDocument/2006/relationships/font" Target="fonts/OpenSans-boldItalic.fntdata"/><Relationship Id="rId14" Type="http://schemas.openxmlformats.org/officeDocument/2006/relationships/slide" Target="slides/slide8.xml"/><Relationship Id="rId58" Type="http://schemas.openxmlformats.org/officeDocument/2006/relationships/font" Target="fonts/OpenSans-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7d37d72a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e7d37d72a0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e7d37d72a0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g3e7d37d72a0_0_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7d37d72a0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g3e7d37d72a0_0_1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7d37d72a0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3e7d37d72a0_0_2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7d37d72a0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g3e7d37d72a0_0_3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7d37d72a0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e7d37d72a0_0_4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4" name="Google Shape;21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 name="Google Shape;23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0" name="Google Shape;26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8" name="Google Shape;28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7" name="Google Shape;29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6" name="Google Shape;30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9" name="Google Shape;31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9" name="Google Shape;32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7" name="Google Shape;35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6" name="Google Shape;36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4" name="Google Shape;39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2" name="Google Shape;40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5" name="Google Shape;41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5" name="Google Shape;42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4" name="Google Shape;45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3" name="Google Shape;46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7" name="Google Shape;49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5" name="Google Shape;50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8" name="Google Shape;51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8" name="Google Shape;52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7" name="Google Shape;537;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6" name="Google Shape;56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9" name="Google Shape;59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7" name="Google Shape;607;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0" name="Google Shape;62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0" name="Google Shape;63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9" name="Google Shape;659;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8" name="Google Shape;668;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6" name="Google Shape;696;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5" name="Google Shape;705;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e7d37d72a0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g3e7d37d72a0_0_5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e7d37d72a0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g3e7d37d72a0_0_6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e7d37d72a0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g3e7d37d72a0_0_6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6" name="Google Shape;736;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4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4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4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4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4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4"/>
          <p:cNvSpPr/>
          <p:nvPr>
            <p:ph idx="2" type="pic"/>
          </p:nvPr>
        </p:nvSpPr>
        <p:spPr>
          <a:xfrm>
            <a:off x="1792288" y="612775"/>
            <a:ext cx="5486400" cy="4114800"/>
          </a:xfrm>
          <a:prstGeom prst="rect">
            <a:avLst/>
          </a:prstGeom>
          <a:noFill/>
          <a:ln>
            <a:noFill/>
          </a:ln>
        </p:spPr>
      </p:sp>
      <p:sp>
        <p:nvSpPr>
          <p:cNvPr id="64" name="Google Shape;64;p4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 Id="rId4" Type="http://schemas.openxmlformats.org/officeDocument/2006/relationships/image" Target="../media/image5.png"/><Relationship Id="rId5"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8.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9.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6.jp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0.png"/><Relationship Id="rId4"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16.jpg"/><Relationship Id="rId5"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14.png"/><Relationship Id="rId5" Type="http://schemas.openxmlformats.org/officeDocument/2006/relationships/image" Target="../media/image36.png"/><Relationship Id="rId6" Type="http://schemas.openxmlformats.org/officeDocument/2006/relationships/image" Target="../media/image27.png"/><Relationship Id="rId7"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16.jpg"/><Relationship Id="rId5"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24.png"/><Relationship Id="rId5" Type="http://schemas.openxmlformats.org/officeDocument/2006/relationships/image" Target="../media/image14.png"/><Relationship Id="rId6" Type="http://schemas.openxmlformats.org/officeDocument/2006/relationships/image" Target="../media/image36.png"/><Relationship Id="rId7"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0.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5.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1.png"/><Relationship Id="rId4" Type="http://schemas.openxmlformats.org/officeDocument/2006/relationships/image" Target="../media/image16.jpg"/><Relationship Id="rId5"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0.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7.png"/><Relationship Id="rId4" Type="http://schemas.openxmlformats.org/officeDocument/2006/relationships/image" Target="../media/image24.png"/><Relationship Id="rId5" Type="http://schemas.openxmlformats.org/officeDocument/2006/relationships/image" Target="../media/image14.png"/><Relationship Id="rId6" Type="http://schemas.openxmlformats.org/officeDocument/2006/relationships/image" Target="../media/image36.png"/><Relationship Id="rId7"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0.pn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5.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1.png"/><Relationship Id="rId4" Type="http://schemas.openxmlformats.org/officeDocument/2006/relationships/image" Target="../media/image16.jpg"/><Relationship Id="rId5"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7.png"/><Relationship Id="rId4" Type="http://schemas.openxmlformats.org/officeDocument/2006/relationships/image" Target="../media/image24.png"/><Relationship Id="rId5" Type="http://schemas.openxmlformats.org/officeDocument/2006/relationships/image" Target="../media/image14.png"/><Relationship Id="rId6" Type="http://schemas.openxmlformats.org/officeDocument/2006/relationships/image" Target="../media/image36.png"/><Relationship Id="rId7"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0.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0.png"/><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7.png"/><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7.png"/><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5.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e7d37d72a0_0_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85" name="Google Shape;85;g3e7d37d72a0_0_6"/>
          <p:cNvSpPr/>
          <p:nvPr/>
        </p:nvSpPr>
        <p:spPr>
          <a:xfrm>
            <a:off x="1969850" y="3030151"/>
            <a:ext cx="15055872" cy="3260981"/>
          </a:xfrm>
          <a:custGeom>
            <a:rect b="b" l="l" r="r" t="t"/>
            <a:pathLst>
              <a:path extrusionOk="0" h="1811656" w="9002016">
                <a:moveTo>
                  <a:pt x="0" y="0"/>
                </a:moveTo>
                <a:lnTo>
                  <a:pt x="9002016" y="0"/>
                </a:lnTo>
                <a:lnTo>
                  <a:pt x="9002016" y="1811656"/>
                </a:lnTo>
                <a:lnTo>
                  <a:pt x="0" y="1811656"/>
                </a:lnTo>
                <a:lnTo>
                  <a:pt x="0" y="0"/>
                </a:lnTo>
                <a:close/>
              </a:path>
            </a:pathLst>
          </a:custGeom>
          <a:blipFill rotWithShape="1">
            <a:blip r:embed="rId4">
              <a:alphaModFix/>
            </a:blip>
            <a:stretch>
              <a:fillRect b="0" l="0" r="0" t="0"/>
            </a:stretch>
          </a:blipFill>
          <a:ln>
            <a:noFill/>
          </a:ln>
        </p:spPr>
      </p:sp>
      <p:pic>
        <p:nvPicPr>
          <p:cNvPr id="86" name="Google Shape;86;g3e7d37d72a0_0_6"/>
          <p:cNvPicPr preferRelativeResize="0"/>
          <p:nvPr/>
        </p:nvPicPr>
        <p:blipFill rotWithShape="1">
          <a:blip r:embed="rId5">
            <a:alphaModFix/>
          </a:blip>
          <a:srcRect b="0" l="0" r="0" t="0"/>
          <a:stretch/>
        </p:blipFill>
        <p:spPr>
          <a:xfrm>
            <a:off x="10670025" y="1766775"/>
            <a:ext cx="9524676" cy="1881100"/>
          </a:xfrm>
          <a:prstGeom prst="rect">
            <a:avLst/>
          </a:prstGeom>
          <a:noFill/>
          <a:ln>
            <a:noFill/>
          </a:ln>
        </p:spPr>
      </p:pic>
      <p:sp>
        <p:nvSpPr>
          <p:cNvPr id="87" name="Google Shape;87;g3e7d37d72a0_0_6"/>
          <p:cNvSpPr txBox="1"/>
          <p:nvPr/>
        </p:nvSpPr>
        <p:spPr>
          <a:xfrm>
            <a:off x="5792614" y="6291132"/>
            <a:ext cx="67029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US" sz="2400" u="none" cap="none" strike="noStrike">
                <a:solidFill>
                  <a:srgbClr val="000000"/>
                </a:solidFill>
                <a:latin typeface="Open Sans"/>
                <a:ea typeface="Open Sans"/>
                <a:cs typeface="Open Sans"/>
                <a:sym typeface="Open Sans"/>
              </a:rPr>
              <a:t>Escuela de Ingeniería de Ciencias Y Sistemas</a:t>
            </a:r>
            <a:endParaRPr/>
          </a:p>
          <a:p>
            <a:pPr indent="0" lvl="0" marL="0" marR="0" rtl="0" algn="ctr">
              <a:lnSpc>
                <a:spcPct val="139958"/>
              </a:lnSpc>
              <a:spcBef>
                <a:spcPts val="0"/>
              </a:spcBef>
              <a:spcAft>
                <a:spcPts val="0"/>
              </a:spcAft>
              <a:buNone/>
            </a:pPr>
            <a:r>
              <a:t/>
            </a:r>
            <a:endParaRPr b="1" i="0" sz="2400" u="none" cap="none" strike="noStrike">
              <a:solidFill>
                <a:srgbClr val="000000"/>
              </a:solidFill>
              <a:latin typeface="Open Sans"/>
              <a:ea typeface="Open Sans"/>
              <a:cs typeface="Open Sans"/>
              <a:sym typeface="Open Sans"/>
            </a:endParaRPr>
          </a:p>
        </p:txBody>
      </p:sp>
      <p:sp>
        <p:nvSpPr>
          <p:cNvPr id="88" name="Google Shape;88;g3e7d37d72a0_0_6"/>
          <p:cNvSpPr txBox="1"/>
          <p:nvPr/>
        </p:nvSpPr>
        <p:spPr>
          <a:xfrm>
            <a:off x="348639" y="9201150"/>
            <a:ext cx="4067100" cy="1160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140" u="none" cap="none" strike="noStrike">
                <a:solidFill>
                  <a:srgbClr val="000000"/>
                </a:solidFill>
                <a:latin typeface="Open Sans"/>
                <a:ea typeface="Open Sans"/>
                <a:cs typeface="Open Sans"/>
                <a:sym typeface="Open Sans"/>
              </a:rPr>
              <a:t>NOMBRE DEL TUTOR</a:t>
            </a:r>
            <a:endParaRPr/>
          </a:p>
          <a:p>
            <a:pPr indent="0" lvl="0" marL="0" marR="0" rtl="0" algn="ctr">
              <a:lnSpc>
                <a:spcPct val="140000"/>
              </a:lnSpc>
              <a:spcBef>
                <a:spcPts val="0"/>
              </a:spcBef>
              <a:spcAft>
                <a:spcPts val="0"/>
              </a:spcAft>
              <a:buNone/>
            </a:pPr>
            <a:r>
              <a:t/>
            </a:r>
            <a:endParaRPr b="1" i="0" sz="3140" u="none" cap="none" strike="noStrike">
              <a:solidFill>
                <a:srgbClr val="000000"/>
              </a:solidFill>
              <a:latin typeface="Open Sans"/>
              <a:ea typeface="Open Sans"/>
              <a:cs typeface="Open Sans"/>
              <a:sym typeface="Open Sans"/>
            </a:endParaRPr>
          </a:p>
        </p:txBody>
      </p:sp>
      <p:sp>
        <p:nvSpPr>
          <p:cNvPr id="89" name="Google Shape;89;g3e7d37d72a0_0_6"/>
          <p:cNvSpPr txBox="1"/>
          <p:nvPr/>
        </p:nvSpPr>
        <p:spPr>
          <a:xfrm>
            <a:off x="2904236" y="3801950"/>
            <a:ext cx="13187100" cy="1422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4200">
                <a:latin typeface="Open Sans"/>
                <a:ea typeface="Open Sans"/>
                <a:cs typeface="Open Sans"/>
                <a:sym typeface="Open Sans"/>
              </a:rPr>
              <a:t>Análisis y diseño de sistema 2</a:t>
            </a:r>
            <a:endParaRPr/>
          </a:p>
          <a:p>
            <a:pPr indent="0" lvl="0" marL="0" marR="0" rtl="0" algn="ctr">
              <a:lnSpc>
                <a:spcPct val="79976"/>
              </a:lnSpc>
              <a:spcBef>
                <a:spcPts val="0"/>
              </a:spcBef>
              <a:spcAft>
                <a:spcPts val="0"/>
              </a:spcAft>
              <a:buNone/>
            </a:pPr>
            <a:r>
              <a:t/>
            </a:r>
            <a:endParaRPr b="1" i="0" sz="4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3e7d37d72a0_0_90"/>
          <p:cNvSpPr/>
          <p:nvPr/>
        </p:nvSpPr>
        <p:spPr>
          <a:xfrm>
            <a:off x="-104125" y="0"/>
            <a:ext cx="18288000" cy="10401300"/>
          </a:xfrm>
          <a:custGeom>
            <a:rect b="b" l="l" r="r" t="t"/>
            <a:pathLst>
              <a:path extrusionOk="0" h="10401300" w="18288000">
                <a:moveTo>
                  <a:pt x="0" y="0"/>
                </a:moveTo>
                <a:lnTo>
                  <a:pt x="18288000" y="0"/>
                </a:lnTo>
                <a:lnTo>
                  <a:pt x="18288000" y="10401300"/>
                </a:lnTo>
                <a:lnTo>
                  <a:pt x="0" y="10401300"/>
                </a:lnTo>
                <a:lnTo>
                  <a:pt x="0" y="0"/>
                </a:lnTo>
                <a:close/>
              </a:path>
            </a:pathLst>
          </a:custGeom>
          <a:blipFill rotWithShape="1">
            <a:blip r:embed="rId3">
              <a:alphaModFix/>
            </a:blip>
            <a:stretch>
              <a:fillRect b="0" l="0" r="0" t="0"/>
            </a:stretch>
          </a:blipFill>
          <a:ln>
            <a:noFill/>
          </a:ln>
        </p:spPr>
      </p:sp>
      <p:sp>
        <p:nvSpPr>
          <p:cNvPr id="95" name="Google Shape;95;g3e7d37d72a0_0_90"/>
          <p:cNvSpPr txBox="1"/>
          <p:nvPr/>
        </p:nvSpPr>
        <p:spPr>
          <a:xfrm>
            <a:off x="6204050" y="3190250"/>
            <a:ext cx="6983100" cy="32505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8799" u="none" cap="none" strike="noStrike">
                <a:solidFill>
                  <a:srgbClr val="000000"/>
                </a:solidFill>
                <a:latin typeface="Open Sans"/>
                <a:ea typeface="Open Sans"/>
                <a:cs typeface="Open Sans"/>
                <a:sym typeface="Open Sans"/>
              </a:rPr>
              <a:t>UNIDAD #:</a:t>
            </a:r>
            <a:r>
              <a:rPr b="1" lang="en-US" sz="8799">
                <a:latin typeface="Open Sans"/>
                <a:ea typeface="Open Sans"/>
                <a:cs typeface="Open Sans"/>
                <a:sym typeface="Open Sans"/>
              </a:rPr>
              <a:t>4</a:t>
            </a:r>
            <a:endParaRPr/>
          </a:p>
          <a:p>
            <a:pPr indent="0" lvl="0" marL="0" marR="0" rtl="0" algn="ctr">
              <a:lnSpc>
                <a:spcPct val="140004"/>
              </a:lnSpc>
              <a:spcBef>
                <a:spcPts val="0"/>
              </a:spcBef>
              <a:spcAft>
                <a:spcPts val="0"/>
              </a:spcAft>
              <a:buNone/>
            </a:pPr>
            <a:r>
              <a:t/>
            </a:r>
            <a:endParaRPr b="1" i="0" sz="8799" u="none" cap="none" strike="noStrike">
              <a:solidFill>
                <a:srgbClr val="000000"/>
              </a:solidFill>
              <a:latin typeface="Open Sans"/>
              <a:ea typeface="Open Sans"/>
              <a:cs typeface="Open Sans"/>
              <a:sym typeface="Open Sans"/>
            </a:endParaRPr>
          </a:p>
        </p:txBody>
      </p:sp>
      <p:sp>
        <p:nvSpPr>
          <p:cNvPr id="96" name="Google Shape;96;g3e7d37d72a0_0_90"/>
          <p:cNvSpPr txBox="1"/>
          <p:nvPr/>
        </p:nvSpPr>
        <p:spPr>
          <a:xfrm>
            <a:off x="4337062" y="4518725"/>
            <a:ext cx="9919500" cy="4211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7200">
                <a:latin typeface="Open Sans"/>
                <a:ea typeface="Open Sans"/>
                <a:cs typeface="Open Sans"/>
                <a:sym typeface="Open Sans"/>
              </a:rPr>
              <a:t>Requerimientos no funcionales</a:t>
            </a:r>
            <a:endParaRPr/>
          </a:p>
          <a:p>
            <a:pPr indent="0" lvl="0" marL="0" marR="0" rtl="0" algn="ctr">
              <a:lnSpc>
                <a:spcPct val="140000"/>
              </a:lnSpc>
              <a:spcBef>
                <a:spcPts val="0"/>
              </a:spcBef>
              <a:spcAft>
                <a:spcPts val="0"/>
              </a:spcAft>
              <a:buNone/>
            </a:pPr>
            <a:r>
              <a:t/>
            </a:r>
            <a:endParaRPr b="1" i="0" sz="7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e7d37d72a0_0_171"/>
          <p:cNvSpPr/>
          <p:nvPr/>
        </p:nvSpPr>
        <p:spPr>
          <a:xfrm>
            <a:off x="4687137" y="2492771"/>
            <a:ext cx="9432094" cy="6765529"/>
          </a:xfrm>
          <a:custGeom>
            <a:rect b="b" l="l" r="r" t="t"/>
            <a:pathLst>
              <a:path extrusionOk="0" h="6765529" w="9432094">
                <a:moveTo>
                  <a:pt x="0" y="0"/>
                </a:moveTo>
                <a:lnTo>
                  <a:pt x="9432093" y="0"/>
                </a:lnTo>
                <a:lnTo>
                  <a:pt x="9432093" y="6765529"/>
                </a:lnTo>
                <a:lnTo>
                  <a:pt x="0" y="6765529"/>
                </a:lnTo>
                <a:lnTo>
                  <a:pt x="0" y="0"/>
                </a:lnTo>
                <a:close/>
              </a:path>
            </a:pathLst>
          </a:custGeom>
          <a:blipFill rotWithShape="1">
            <a:blip r:embed="rId3">
              <a:alphaModFix/>
            </a:blip>
            <a:stretch>
              <a:fillRect b="0" l="0" r="0" t="0"/>
            </a:stretch>
          </a:blipFill>
          <a:ln>
            <a:noFill/>
          </a:ln>
        </p:spPr>
      </p:sp>
      <p:sp>
        <p:nvSpPr>
          <p:cNvPr id="102" name="Google Shape;102;g3e7d37d72a0_0_171"/>
          <p:cNvSpPr/>
          <p:nvPr/>
        </p:nvSpPr>
        <p:spPr>
          <a:xfrm>
            <a:off x="3971429" y="612837"/>
            <a:ext cx="11301259" cy="2288505"/>
          </a:xfrm>
          <a:custGeom>
            <a:rect b="b" l="l" r="r" t="t"/>
            <a:pathLst>
              <a:path extrusionOk="0" h="2288505" w="11301259">
                <a:moveTo>
                  <a:pt x="0" y="0"/>
                </a:moveTo>
                <a:lnTo>
                  <a:pt x="11301259" y="0"/>
                </a:lnTo>
                <a:lnTo>
                  <a:pt x="11301259" y="2288505"/>
                </a:lnTo>
                <a:lnTo>
                  <a:pt x="0" y="2288505"/>
                </a:lnTo>
                <a:lnTo>
                  <a:pt x="0" y="0"/>
                </a:lnTo>
                <a:close/>
              </a:path>
            </a:pathLst>
          </a:custGeom>
          <a:blipFill rotWithShape="1">
            <a:blip r:embed="rId4">
              <a:alphaModFix/>
            </a:blip>
            <a:stretch>
              <a:fillRect b="0" l="0" r="0" t="0"/>
            </a:stretch>
          </a:blipFill>
          <a:ln>
            <a:noFill/>
          </a:ln>
        </p:spPr>
      </p:sp>
      <p:sp>
        <p:nvSpPr>
          <p:cNvPr id="103" name="Google Shape;103;g3e7d37d72a0_0_171"/>
          <p:cNvSpPr/>
          <p:nvPr/>
        </p:nvSpPr>
        <p:spPr>
          <a:xfrm>
            <a:off x="314891" y="2901342"/>
            <a:ext cx="4961633" cy="4961633"/>
          </a:xfrm>
          <a:custGeom>
            <a:rect b="b" l="l" r="r" t="t"/>
            <a:pathLst>
              <a:path extrusionOk="0" h="4961633" w="4961633">
                <a:moveTo>
                  <a:pt x="0" y="0"/>
                </a:moveTo>
                <a:lnTo>
                  <a:pt x="4961633" y="0"/>
                </a:lnTo>
                <a:lnTo>
                  <a:pt x="4961633" y="4961632"/>
                </a:lnTo>
                <a:lnTo>
                  <a:pt x="0" y="4961632"/>
                </a:lnTo>
                <a:lnTo>
                  <a:pt x="0" y="0"/>
                </a:lnTo>
                <a:close/>
              </a:path>
            </a:pathLst>
          </a:custGeom>
          <a:blipFill rotWithShape="1">
            <a:blip r:embed="rId5">
              <a:alphaModFix/>
            </a:blip>
            <a:stretch>
              <a:fillRect b="0" l="0" r="0" t="0"/>
            </a:stretch>
          </a:blipFill>
          <a:ln>
            <a:noFill/>
          </a:ln>
        </p:spPr>
      </p:sp>
      <p:sp>
        <p:nvSpPr>
          <p:cNvPr id="104" name="Google Shape;104;g3e7d37d72a0_0_171"/>
          <p:cNvSpPr/>
          <p:nvPr/>
        </p:nvSpPr>
        <p:spPr>
          <a:xfrm>
            <a:off x="5276524" y="3174482"/>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05" name="Google Shape;105;g3e7d37d72a0_0_171"/>
          <p:cNvSpPr txBox="1"/>
          <p:nvPr/>
        </p:nvSpPr>
        <p:spPr>
          <a:xfrm>
            <a:off x="7866005" y="3510986"/>
            <a:ext cx="14813400" cy="517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400" u="none" cap="none" strike="noStrike">
                <a:solidFill>
                  <a:srgbClr val="000000"/>
                </a:solidFill>
                <a:latin typeface="Open Sans"/>
                <a:ea typeface="Open Sans"/>
                <a:cs typeface="Open Sans"/>
                <a:sym typeface="Open Sans"/>
              </a:rPr>
              <a:t>(Ingresa los anuncios importantes como lo sean, cortos, entregas, practicas, proyectos, horarios de calificación, etc.)</a:t>
            </a:r>
            <a:endParaRPr/>
          </a:p>
          <a:p>
            <a:pPr indent="0" lvl="0" marL="0" marR="0" rtl="0" algn="l">
              <a:lnSpc>
                <a:spcPct val="140000"/>
              </a:lnSpc>
              <a:spcBef>
                <a:spcPts val="0"/>
              </a:spcBef>
              <a:spcAft>
                <a:spcPts val="0"/>
              </a:spcAft>
              <a:buNone/>
            </a:pPr>
            <a:r>
              <a:t/>
            </a:r>
            <a:endParaRPr b="1" i="0" sz="1400" u="none" cap="none" strike="noStrike">
              <a:solidFill>
                <a:srgbClr val="000000"/>
              </a:solidFill>
              <a:latin typeface="Open Sans"/>
              <a:ea typeface="Open Sans"/>
              <a:cs typeface="Open Sans"/>
              <a:sym typeface="Open Sans"/>
            </a:endParaRPr>
          </a:p>
        </p:txBody>
      </p:sp>
      <p:sp>
        <p:nvSpPr>
          <p:cNvPr id="106" name="Google Shape;106;g3e7d37d72a0_0_171"/>
          <p:cNvSpPr txBox="1"/>
          <p:nvPr/>
        </p:nvSpPr>
        <p:spPr>
          <a:xfrm>
            <a:off x="5954709" y="4328160"/>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US" sz="2400" u="none" cap="none" strike="noStrike">
                <a:solidFill>
                  <a:srgbClr val="000000"/>
                </a:solidFill>
                <a:latin typeface="Open Sans"/>
                <a:ea typeface="Open Sans"/>
                <a:cs typeface="Open Sans"/>
                <a:sym typeface="Open Sans"/>
              </a:rPr>
              <a:t>Anuncio 2</a:t>
            </a:r>
            <a:endParaRPr/>
          </a:p>
          <a:p>
            <a:pPr indent="0" lvl="0" marL="0" marR="0" rtl="0" algn="ctr">
              <a:lnSpc>
                <a:spcPct val="139958"/>
              </a:lnSpc>
              <a:spcBef>
                <a:spcPts val="0"/>
              </a:spcBef>
              <a:spcAft>
                <a:spcPts val="0"/>
              </a:spcAft>
              <a:buNone/>
            </a:pPr>
            <a:r>
              <a:t/>
            </a:r>
            <a:endParaRPr b="1" i="0" sz="2400" u="none" cap="none" strike="noStrike">
              <a:solidFill>
                <a:srgbClr val="000000"/>
              </a:solidFill>
              <a:latin typeface="Open Sans"/>
              <a:ea typeface="Open Sans"/>
              <a:cs typeface="Open Sans"/>
              <a:sym typeface="Open Sans"/>
            </a:endParaRPr>
          </a:p>
        </p:txBody>
      </p:sp>
      <p:sp>
        <p:nvSpPr>
          <p:cNvPr id="107" name="Google Shape;107;g3e7d37d72a0_0_171"/>
          <p:cNvSpPr txBox="1"/>
          <p:nvPr/>
        </p:nvSpPr>
        <p:spPr>
          <a:xfrm>
            <a:off x="5954709" y="3342711"/>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US" sz="2400" u="none" cap="none" strike="noStrike">
                <a:solidFill>
                  <a:srgbClr val="000000"/>
                </a:solidFill>
                <a:latin typeface="Open Sans"/>
                <a:ea typeface="Open Sans"/>
                <a:cs typeface="Open Sans"/>
                <a:sym typeface="Open Sans"/>
              </a:rPr>
              <a:t>Anuncio 1</a:t>
            </a:r>
            <a:endParaRPr/>
          </a:p>
          <a:p>
            <a:pPr indent="0" lvl="0" marL="0" marR="0" rtl="0" algn="ctr">
              <a:lnSpc>
                <a:spcPct val="139958"/>
              </a:lnSpc>
              <a:spcBef>
                <a:spcPts val="0"/>
              </a:spcBef>
              <a:spcAft>
                <a:spcPts val="0"/>
              </a:spcAft>
              <a:buNone/>
            </a:pPr>
            <a:r>
              <a:t/>
            </a:r>
            <a:endParaRPr b="1" i="0" sz="2400" u="none" cap="none" strike="noStrike">
              <a:solidFill>
                <a:srgbClr val="000000"/>
              </a:solidFill>
              <a:latin typeface="Open Sans"/>
              <a:ea typeface="Open Sans"/>
              <a:cs typeface="Open Sans"/>
              <a:sym typeface="Open Sans"/>
            </a:endParaRPr>
          </a:p>
        </p:txBody>
      </p:sp>
      <p:sp>
        <p:nvSpPr>
          <p:cNvPr id="108" name="Google Shape;108;g3e7d37d72a0_0_171"/>
          <p:cNvSpPr/>
          <p:nvPr/>
        </p:nvSpPr>
        <p:spPr>
          <a:xfrm>
            <a:off x="5276524" y="4158051"/>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09" name="Google Shape;109;g3e7d37d72a0_0_171"/>
          <p:cNvSpPr/>
          <p:nvPr/>
        </p:nvSpPr>
        <p:spPr>
          <a:xfrm>
            <a:off x="5276524" y="5259095"/>
            <a:ext cx="678185" cy="824819"/>
          </a:xfrm>
          <a:custGeom>
            <a:rect b="b" l="l" r="r" t="t"/>
            <a:pathLst>
              <a:path extrusionOk="0" h="824819" w="678185">
                <a:moveTo>
                  <a:pt x="0" y="0"/>
                </a:moveTo>
                <a:lnTo>
                  <a:pt x="678185" y="0"/>
                </a:lnTo>
                <a:lnTo>
                  <a:pt x="678185" y="824820"/>
                </a:lnTo>
                <a:lnTo>
                  <a:pt x="0" y="824820"/>
                </a:lnTo>
                <a:lnTo>
                  <a:pt x="0" y="0"/>
                </a:lnTo>
                <a:close/>
              </a:path>
            </a:pathLst>
          </a:custGeom>
          <a:blipFill rotWithShape="1">
            <a:blip r:embed="rId6">
              <a:alphaModFix/>
            </a:blip>
            <a:stretch>
              <a:fillRect b="0" l="0" r="0" t="0"/>
            </a:stretch>
          </a:blipFill>
          <a:ln>
            <a:noFill/>
          </a:ln>
        </p:spPr>
      </p:sp>
      <p:sp>
        <p:nvSpPr>
          <p:cNvPr id="110" name="Google Shape;110;g3e7d37d72a0_0_171"/>
          <p:cNvSpPr/>
          <p:nvPr/>
        </p:nvSpPr>
        <p:spPr>
          <a:xfrm>
            <a:off x="5276524" y="6360140"/>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11" name="Google Shape;111;g3e7d37d72a0_0_171"/>
          <p:cNvSpPr/>
          <p:nvPr/>
        </p:nvSpPr>
        <p:spPr>
          <a:xfrm>
            <a:off x="5276524" y="7461184"/>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12" name="Google Shape;112;g3e7d37d72a0_0_171"/>
          <p:cNvSpPr txBox="1"/>
          <p:nvPr/>
        </p:nvSpPr>
        <p:spPr>
          <a:xfrm>
            <a:off x="5954709" y="544881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US" sz="2400" u="none" cap="none" strike="noStrike">
                <a:solidFill>
                  <a:srgbClr val="000000"/>
                </a:solidFill>
                <a:latin typeface="Open Sans"/>
                <a:ea typeface="Open Sans"/>
                <a:cs typeface="Open Sans"/>
                <a:sym typeface="Open Sans"/>
              </a:rPr>
              <a:t>Anuncio 3</a:t>
            </a:r>
            <a:endParaRPr/>
          </a:p>
          <a:p>
            <a:pPr indent="0" lvl="0" marL="0" marR="0" rtl="0" algn="ctr">
              <a:lnSpc>
                <a:spcPct val="139958"/>
              </a:lnSpc>
              <a:spcBef>
                <a:spcPts val="0"/>
              </a:spcBef>
              <a:spcAft>
                <a:spcPts val="0"/>
              </a:spcAft>
              <a:buNone/>
            </a:pPr>
            <a:r>
              <a:t/>
            </a:r>
            <a:endParaRPr b="1" i="0" sz="2400" u="none" cap="none" strike="noStrike">
              <a:solidFill>
                <a:srgbClr val="000000"/>
              </a:solidFill>
              <a:latin typeface="Open Sans"/>
              <a:ea typeface="Open Sans"/>
              <a:cs typeface="Open Sans"/>
              <a:sym typeface="Open Sans"/>
            </a:endParaRPr>
          </a:p>
        </p:txBody>
      </p:sp>
      <p:sp>
        <p:nvSpPr>
          <p:cNvPr id="113" name="Google Shape;113;g3e7d37d72a0_0_171"/>
          <p:cNvSpPr txBox="1"/>
          <p:nvPr/>
        </p:nvSpPr>
        <p:spPr>
          <a:xfrm>
            <a:off x="5954709" y="643560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US" sz="2400" u="none" cap="none" strike="noStrike">
                <a:solidFill>
                  <a:srgbClr val="000000"/>
                </a:solidFill>
                <a:latin typeface="Open Sans"/>
                <a:ea typeface="Open Sans"/>
                <a:cs typeface="Open Sans"/>
                <a:sym typeface="Open Sans"/>
              </a:rPr>
              <a:t>Anuncio 4</a:t>
            </a:r>
            <a:endParaRPr/>
          </a:p>
          <a:p>
            <a:pPr indent="0" lvl="0" marL="0" marR="0" rtl="0" algn="ctr">
              <a:lnSpc>
                <a:spcPct val="139958"/>
              </a:lnSpc>
              <a:spcBef>
                <a:spcPts val="0"/>
              </a:spcBef>
              <a:spcAft>
                <a:spcPts val="0"/>
              </a:spcAft>
              <a:buNone/>
            </a:pPr>
            <a:r>
              <a:t/>
            </a:r>
            <a:endParaRPr b="1" i="0" sz="2400" u="none" cap="none" strike="noStrike">
              <a:solidFill>
                <a:srgbClr val="000000"/>
              </a:solidFill>
              <a:latin typeface="Open Sans"/>
              <a:ea typeface="Open Sans"/>
              <a:cs typeface="Open Sans"/>
              <a:sym typeface="Open Sans"/>
            </a:endParaRPr>
          </a:p>
        </p:txBody>
      </p:sp>
      <p:sp>
        <p:nvSpPr>
          <p:cNvPr id="114" name="Google Shape;114;g3e7d37d72a0_0_171"/>
          <p:cNvSpPr txBox="1"/>
          <p:nvPr/>
        </p:nvSpPr>
        <p:spPr>
          <a:xfrm>
            <a:off x="5954709" y="755574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US" sz="2400" u="none" cap="none" strike="noStrike">
                <a:solidFill>
                  <a:srgbClr val="000000"/>
                </a:solidFill>
                <a:latin typeface="Open Sans"/>
                <a:ea typeface="Open Sans"/>
                <a:cs typeface="Open Sans"/>
                <a:sym typeface="Open Sans"/>
              </a:rPr>
              <a:t>Anuncio 5</a:t>
            </a:r>
            <a:endParaRPr/>
          </a:p>
          <a:p>
            <a:pPr indent="0" lvl="0" marL="0" marR="0" rtl="0" algn="ctr">
              <a:lnSpc>
                <a:spcPct val="139958"/>
              </a:lnSpc>
              <a:spcBef>
                <a:spcPts val="0"/>
              </a:spcBef>
              <a:spcAft>
                <a:spcPts val="0"/>
              </a:spcAft>
              <a:buNone/>
            </a:pPr>
            <a:r>
              <a:t/>
            </a:r>
            <a:endParaRPr b="1" i="0" sz="2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e7d37d72a0_0_280"/>
          <p:cNvSpPr/>
          <p:nvPr/>
        </p:nvSpPr>
        <p:spPr>
          <a:xfrm>
            <a:off x="4016947" y="3558803"/>
            <a:ext cx="9896507" cy="5913163"/>
          </a:xfrm>
          <a:custGeom>
            <a:rect b="b" l="l" r="r" t="t"/>
            <a:pathLst>
              <a:path extrusionOk="0" h="5913163" w="9896507">
                <a:moveTo>
                  <a:pt x="0" y="0"/>
                </a:moveTo>
                <a:lnTo>
                  <a:pt x="9896507" y="0"/>
                </a:lnTo>
                <a:lnTo>
                  <a:pt x="9896507" y="5913163"/>
                </a:lnTo>
                <a:lnTo>
                  <a:pt x="0" y="5913163"/>
                </a:lnTo>
                <a:lnTo>
                  <a:pt x="0" y="0"/>
                </a:lnTo>
                <a:close/>
              </a:path>
            </a:pathLst>
          </a:custGeom>
          <a:blipFill rotWithShape="1">
            <a:blip r:embed="rId3">
              <a:alphaModFix/>
            </a:blip>
            <a:stretch>
              <a:fillRect b="0" l="0" r="0" t="0"/>
            </a:stretch>
          </a:blipFill>
          <a:ln>
            <a:noFill/>
          </a:ln>
        </p:spPr>
      </p:sp>
      <p:sp>
        <p:nvSpPr>
          <p:cNvPr id="120" name="Google Shape;120;g3e7d37d72a0_0_280"/>
          <p:cNvSpPr/>
          <p:nvPr/>
        </p:nvSpPr>
        <p:spPr>
          <a:xfrm>
            <a:off x="3493371" y="-625307"/>
            <a:ext cx="11301259" cy="5127946"/>
          </a:xfrm>
          <a:custGeom>
            <a:rect b="b" l="l" r="r" t="t"/>
            <a:pathLst>
              <a:path extrusionOk="0" h="5127946" w="11301259">
                <a:moveTo>
                  <a:pt x="0" y="0"/>
                </a:moveTo>
                <a:lnTo>
                  <a:pt x="11301258" y="0"/>
                </a:lnTo>
                <a:lnTo>
                  <a:pt x="11301258" y="5127946"/>
                </a:lnTo>
                <a:lnTo>
                  <a:pt x="0" y="5127946"/>
                </a:lnTo>
                <a:lnTo>
                  <a:pt x="0" y="0"/>
                </a:lnTo>
                <a:close/>
              </a:path>
            </a:pathLst>
          </a:custGeom>
          <a:blipFill rotWithShape="1">
            <a:blip r:embed="rId4">
              <a:alphaModFix/>
            </a:blip>
            <a:stretch>
              <a:fillRect b="0" l="0" r="0" t="0"/>
            </a:stretch>
          </a:blipFill>
          <a:ln>
            <a:noFill/>
          </a:ln>
        </p:spPr>
      </p:sp>
      <p:sp>
        <p:nvSpPr>
          <p:cNvPr id="121" name="Google Shape;121;g3e7d37d72a0_0_280"/>
          <p:cNvSpPr/>
          <p:nvPr/>
        </p:nvSpPr>
        <p:spPr>
          <a:xfrm>
            <a:off x="4875920" y="4090230"/>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2" name="Google Shape;122;g3e7d37d72a0_0_280"/>
          <p:cNvSpPr txBox="1"/>
          <p:nvPr/>
        </p:nvSpPr>
        <p:spPr>
          <a:xfrm>
            <a:off x="5214988" y="4328150"/>
            <a:ext cx="42030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lang="en-US" sz="2400">
                <a:latin typeface="Open Sans"/>
                <a:ea typeface="Open Sans"/>
                <a:cs typeface="Open Sans"/>
                <a:sym typeface="Open Sans"/>
              </a:rPr>
              <a:t>Dudas del proyecto</a:t>
            </a:r>
            <a:endParaRPr/>
          </a:p>
          <a:p>
            <a:pPr indent="0" lvl="0" marL="0" marR="0" rtl="0" algn="ctr">
              <a:lnSpc>
                <a:spcPct val="139958"/>
              </a:lnSpc>
              <a:spcBef>
                <a:spcPts val="0"/>
              </a:spcBef>
              <a:spcAft>
                <a:spcPts val="0"/>
              </a:spcAft>
              <a:buNone/>
            </a:pPr>
            <a:r>
              <a:t/>
            </a:r>
            <a:endParaRPr b="1" i="0" sz="2400" u="none" cap="none" strike="noStrike">
              <a:solidFill>
                <a:srgbClr val="000000"/>
              </a:solidFill>
              <a:latin typeface="Open Sans"/>
              <a:ea typeface="Open Sans"/>
              <a:cs typeface="Open Sans"/>
              <a:sym typeface="Open Sans"/>
            </a:endParaRPr>
          </a:p>
        </p:txBody>
      </p:sp>
      <p:sp>
        <p:nvSpPr>
          <p:cNvPr id="123" name="Google Shape;123;g3e7d37d72a0_0_280"/>
          <p:cNvSpPr/>
          <p:nvPr/>
        </p:nvSpPr>
        <p:spPr>
          <a:xfrm>
            <a:off x="4875920" y="5143500"/>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4" name="Google Shape;124;g3e7d37d72a0_0_280"/>
          <p:cNvSpPr txBox="1"/>
          <p:nvPr/>
        </p:nvSpPr>
        <p:spPr>
          <a:xfrm>
            <a:off x="5215012" y="537955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lang="en-US" sz="2400">
                <a:latin typeface="Open Sans"/>
                <a:ea typeface="Open Sans"/>
                <a:cs typeface="Open Sans"/>
                <a:sym typeface="Open Sans"/>
              </a:rPr>
              <a:t>Teoría</a:t>
            </a:r>
            <a:endParaRPr/>
          </a:p>
          <a:p>
            <a:pPr indent="0" lvl="0" marL="0" marR="0" rtl="0" algn="ctr">
              <a:lnSpc>
                <a:spcPct val="139958"/>
              </a:lnSpc>
              <a:spcBef>
                <a:spcPts val="0"/>
              </a:spcBef>
              <a:spcAft>
                <a:spcPts val="0"/>
              </a:spcAft>
              <a:buNone/>
            </a:pPr>
            <a:r>
              <a:t/>
            </a:r>
            <a:endParaRPr b="1" i="0" sz="2400" u="none" cap="none" strike="noStrike">
              <a:solidFill>
                <a:srgbClr val="000000"/>
              </a:solidFill>
              <a:latin typeface="Open Sans"/>
              <a:ea typeface="Open Sans"/>
              <a:cs typeface="Open Sans"/>
              <a:sym typeface="Open Sans"/>
            </a:endParaRPr>
          </a:p>
        </p:txBody>
      </p:sp>
      <p:sp>
        <p:nvSpPr>
          <p:cNvPr id="125" name="Google Shape;125;g3e7d37d72a0_0_280"/>
          <p:cNvSpPr/>
          <p:nvPr/>
        </p:nvSpPr>
        <p:spPr>
          <a:xfrm>
            <a:off x="4875920" y="6194896"/>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6" name="Google Shape;126;g3e7d37d72a0_0_280"/>
          <p:cNvSpPr txBox="1"/>
          <p:nvPr/>
        </p:nvSpPr>
        <p:spPr>
          <a:xfrm>
            <a:off x="5215012" y="638539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lang="en-US" sz="2400">
                <a:latin typeface="Open Sans"/>
                <a:ea typeface="Open Sans"/>
                <a:cs typeface="Open Sans"/>
                <a:sym typeface="Open Sans"/>
              </a:rPr>
              <a:t>Caso práctico</a:t>
            </a:r>
            <a:endParaRPr/>
          </a:p>
          <a:p>
            <a:pPr indent="0" lvl="0" marL="0" marR="0" rtl="0" algn="ctr">
              <a:lnSpc>
                <a:spcPct val="139958"/>
              </a:lnSpc>
              <a:spcBef>
                <a:spcPts val="0"/>
              </a:spcBef>
              <a:spcAft>
                <a:spcPts val="0"/>
              </a:spcAft>
              <a:buNone/>
            </a:pPr>
            <a:r>
              <a:t/>
            </a:r>
            <a:endParaRPr b="1" i="0" sz="2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e7d37d72a0_0_366"/>
          <p:cNvSpPr/>
          <p:nvPr/>
        </p:nvSpPr>
        <p:spPr>
          <a:xfrm>
            <a:off x="0" y="0"/>
            <a:ext cx="18288000" cy="10447020"/>
          </a:xfrm>
          <a:custGeom>
            <a:rect b="b" l="l" r="r" t="t"/>
            <a:pathLst>
              <a:path extrusionOk="0" h="10447020" w="18288000">
                <a:moveTo>
                  <a:pt x="0" y="0"/>
                </a:moveTo>
                <a:lnTo>
                  <a:pt x="18288000" y="0"/>
                </a:lnTo>
                <a:lnTo>
                  <a:pt x="18288000" y="10447020"/>
                </a:lnTo>
                <a:lnTo>
                  <a:pt x="0" y="10447020"/>
                </a:lnTo>
                <a:lnTo>
                  <a:pt x="0" y="0"/>
                </a:lnTo>
                <a:close/>
              </a:path>
            </a:pathLst>
          </a:custGeom>
          <a:blipFill rotWithShape="1">
            <a:blip r:embed="rId3">
              <a:alphaModFix/>
            </a:blip>
            <a:stretch>
              <a:fillRect b="0" l="0" r="0" t="0"/>
            </a:stretch>
          </a:blipFill>
          <a:ln>
            <a:noFill/>
          </a:ln>
        </p:spPr>
      </p:sp>
      <p:sp>
        <p:nvSpPr>
          <p:cNvPr id="132" name="Google Shape;132;g3e7d37d72a0_0_366"/>
          <p:cNvSpPr/>
          <p:nvPr/>
        </p:nvSpPr>
        <p:spPr>
          <a:xfrm>
            <a:off x="2888408" y="2581776"/>
            <a:ext cx="12511183" cy="3424936"/>
          </a:xfrm>
          <a:custGeom>
            <a:rect b="b" l="l" r="r" t="t"/>
            <a:pathLst>
              <a:path extrusionOk="0" h="3424936" w="12511183">
                <a:moveTo>
                  <a:pt x="0" y="0"/>
                </a:moveTo>
                <a:lnTo>
                  <a:pt x="12511184" y="0"/>
                </a:lnTo>
                <a:lnTo>
                  <a:pt x="12511184" y="3424937"/>
                </a:lnTo>
                <a:lnTo>
                  <a:pt x="0" y="3424937"/>
                </a:lnTo>
                <a:lnTo>
                  <a:pt x="0" y="0"/>
                </a:lnTo>
                <a:close/>
              </a:path>
            </a:pathLst>
          </a:custGeom>
          <a:blipFill rotWithShape="1">
            <a:blip r:embed="rId4">
              <a:alphaModFix/>
            </a:blip>
            <a:stretch>
              <a:fillRect b="0" l="0" r="0" t="0"/>
            </a:stretch>
          </a:blipFill>
          <a:ln>
            <a:noFill/>
          </a:ln>
        </p:spPr>
      </p:sp>
      <p:sp>
        <p:nvSpPr>
          <p:cNvPr id="133" name="Google Shape;133;g3e7d37d72a0_0_366"/>
          <p:cNvSpPr txBox="1"/>
          <p:nvPr/>
        </p:nvSpPr>
        <p:spPr>
          <a:xfrm>
            <a:off x="5508493" y="3180715"/>
            <a:ext cx="8873400" cy="12867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t/>
            </a:r>
            <a:endParaRPr/>
          </a:p>
          <a:p>
            <a:pPr indent="0" lvl="0" marL="0" marR="0" rtl="0" algn="ctr">
              <a:lnSpc>
                <a:spcPct val="140006"/>
              </a:lnSpc>
              <a:spcBef>
                <a:spcPts val="0"/>
              </a:spcBef>
              <a:spcAft>
                <a:spcPts val="0"/>
              </a:spcAft>
              <a:buNone/>
            </a:pPr>
            <a:r>
              <a:t/>
            </a:r>
            <a:endParaRPr b="1" i="0" sz="6399" u="none" cap="none" strike="noStrike">
              <a:solidFill>
                <a:srgbClr val="000000"/>
              </a:solidFill>
              <a:latin typeface="Open Sans"/>
              <a:ea typeface="Open Sans"/>
              <a:cs typeface="Open Sans"/>
              <a:sym typeface="Open Sans"/>
            </a:endParaRPr>
          </a:p>
        </p:txBody>
      </p:sp>
      <p:sp>
        <p:nvSpPr>
          <p:cNvPr id="134" name="Google Shape;134;g3e7d37d72a0_0_366"/>
          <p:cNvSpPr txBox="1"/>
          <p:nvPr/>
        </p:nvSpPr>
        <p:spPr>
          <a:xfrm>
            <a:off x="5508500" y="3429000"/>
            <a:ext cx="8267700" cy="1600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t>Diseña arquitecturas de software  mediante la definición de componentes, conexiones y capas del sistema para asegurar la funcionalidad, rendimiento y escalabilidad del producto final </a:t>
            </a:r>
            <a:endParaRPr b="1" sz="23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e7d37d72a0_0_449"/>
          <p:cNvSpPr/>
          <p:nvPr/>
        </p:nvSpPr>
        <p:spPr>
          <a:xfrm>
            <a:off x="5616573" y="654273"/>
            <a:ext cx="7054854" cy="1553923"/>
          </a:xfrm>
          <a:custGeom>
            <a:rect b="b" l="l" r="r" t="t"/>
            <a:pathLst>
              <a:path extrusionOk="0" h="1553923" w="7054854">
                <a:moveTo>
                  <a:pt x="0" y="0"/>
                </a:moveTo>
                <a:lnTo>
                  <a:pt x="7054854" y="0"/>
                </a:lnTo>
                <a:lnTo>
                  <a:pt x="7054854" y="1553923"/>
                </a:lnTo>
                <a:lnTo>
                  <a:pt x="0" y="1553923"/>
                </a:lnTo>
                <a:lnTo>
                  <a:pt x="0" y="0"/>
                </a:lnTo>
                <a:close/>
              </a:path>
            </a:pathLst>
          </a:custGeom>
          <a:blipFill rotWithShape="1">
            <a:blip r:embed="rId3">
              <a:alphaModFix/>
            </a:blip>
            <a:stretch>
              <a:fillRect b="0" l="-30660" r="-29529" t="0"/>
            </a:stretch>
          </a:blipFill>
          <a:ln>
            <a:noFill/>
          </a:ln>
        </p:spPr>
      </p:sp>
      <p:sp>
        <p:nvSpPr>
          <p:cNvPr id="140" name="Google Shape;140;g3e7d37d72a0_0_449"/>
          <p:cNvSpPr txBox="1"/>
          <p:nvPr/>
        </p:nvSpPr>
        <p:spPr>
          <a:xfrm>
            <a:off x="2414359" y="2901129"/>
            <a:ext cx="13459200" cy="187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3200">
                <a:latin typeface="Open Sans"/>
                <a:ea typeface="Open Sans"/>
                <a:cs typeface="Open Sans"/>
                <a:sym typeface="Open Sans"/>
              </a:rPr>
              <a:t>El liderazgo </a:t>
            </a:r>
            <a:r>
              <a:rPr lang="en-US" sz="3200">
                <a:latin typeface="Open Sans"/>
                <a:ea typeface="Open Sans"/>
                <a:cs typeface="Open Sans"/>
                <a:sym typeface="Open Sans"/>
              </a:rPr>
              <a:t>es la capacidad de influir, guiar y motivar a un grupo de personas para alcanzar objetivos comunes, promoviendo colaboración, compromiso y desarrollo del equipo.</a:t>
            </a:r>
            <a:endParaRPr i="0" sz="3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144" name="Shape 144"/>
        <p:cNvGrpSpPr/>
        <p:nvPr/>
      </p:nvGrpSpPr>
      <p:grpSpPr>
        <a:xfrm>
          <a:off x="0" y="0"/>
          <a:ext cx="0" cy="0"/>
          <a:chOff x="0" y="0"/>
          <a:chExt cx="0" cy="0"/>
        </a:xfrm>
      </p:grpSpPr>
      <p:grpSp>
        <p:nvGrpSpPr>
          <p:cNvPr id="145" name="Google Shape;145;p1"/>
          <p:cNvGrpSpPr/>
          <p:nvPr/>
        </p:nvGrpSpPr>
        <p:grpSpPr>
          <a:xfrm>
            <a:off x="2986667" y="2983770"/>
            <a:ext cx="2613061" cy="2711880"/>
            <a:chOff x="0" y="-38100"/>
            <a:chExt cx="991873" cy="1029383"/>
          </a:xfrm>
        </p:grpSpPr>
        <p:sp>
          <p:nvSpPr>
            <p:cNvPr id="146" name="Google Shape;146;p1"/>
            <p:cNvSpPr/>
            <p:nvPr/>
          </p:nvSpPr>
          <p:spPr>
            <a:xfrm>
              <a:off x="0" y="0"/>
              <a:ext cx="991873" cy="991283"/>
            </a:xfrm>
            <a:custGeom>
              <a:rect b="b" l="l" r="r" t="t"/>
              <a:pathLst>
                <a:path extrusionOk="0" h="991283" w="991873">
                  <a:moveTo>
                    <a:pt x="0" y="0"/>
                  </a:moveTo>
                  <a:lnTo>
                    <a:pt x="991873" y="0"/>
                  </a:lnTo>
                  <a:lnTo>
                    <a:pt x="991873" y="991283"/>
                  </a:lnTo>
                  <a:lnTo>
                    <a:pt x="0" y="991283"/>
                  </a:lnTo>
                  <a:close/>
                </a:path>
              </a:pathLst>
            </a:custGeom>
            <a:solidFill>
              <a:srgbClr val="145DA0"/>
            </a:solidFill>
            <a:ln cap="sq" cmpd="sng" w="9525">
              <a:solidFill>
                <a:srgbClr val="FFFFFF"/>
              </a:solidFill>
              <a:prstDash val="solid"/>
              <a:miter lim="8000"/>
              <a:headEnd len="sm" w="sm" type="none"/>
              <a:tailEnd len="sm" w="sm" type="none"/>
            </a:ln>
          </p:spPr>
        </p:sp>
        <p:sp>
          <p:nvSpPr>
            <p:cNvPr id="147" name="Google Shape;147;p1"/>
            <p:cNvSpPr txBox="1"/>
            <p:nvPr/>
          </p:nvSpPr>
          <p:spPr>
            <a:xfrm>
              <a:off x="0" y="-38100"/>
              <a:ext cx="991873" cy="1029383"/>
            </a:xfrm>
            <a:prstGeom prst="rect">
              <a:avLst/>
            </a:prstGeom>
            <a:noFill/>
            <a:ln>
              <a:noFill/>
            </a:ln>
          </p:spPr>
          <p:txBody>
            <a:bodyPr anchorCtr="0" anchor="ctr" bIns="50800" lIns="50800" spcFirstLastPara="1" rIns="50800" wrap="square" tIns="50800">
              <a:noAutofit/>
            </a:bodyPr>
            <a:lstStyle/>
            <a:p>
              <a:pPr indent="0" lvl="0" marL="0" marR="0" rtl="0" algn="ctr">
                <a:lnSpc>
                  <a:spcPct val="193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48" name="Google Shape;148;p1"/>
          <p:cNvCxnSpPr/>
          <p:nvPr/>
        </p:nvCxnSpPr>
        <p:spPr>
          <a:xfrm>
            <a:off x="3133964" y="4640463"/>
            <a:ext cx="2203125" cy="0"/>
          </a:xfrm>
          <a:prstGeom prst="straightConnector1">
            <a:avLst/>
          </a:prstGeom>
          <a:noFill/>
          <a:ln cap="flat" cmpd="sng" w="38100">
            <a:solidFill>
              <a:srgbClr val="FFFFFF"/>
            </a:solidFill>
            <a:prstDash val="solid"/>
            <a:round/>
            <a:headEnd len="sm" w="sm" type="none"/>
            <a:tailEnd len="sm" w="sm" type="none"/>
          </a:ln>
        </p:spPr>
      </p:cxnSp>
      <p:grpSp>
        <p:nvGrpSpPr>
          <p:cNvPr id="149" name="Google Shape;149;p1"/>
          <p:cNvGrpSpPr/>
          <p:nvPr/>
        </p:nvGrpSpPr>
        <p:grpSpPr>
          <a:xfrm>
            <a:off x="5844564" y="2983770"/>
            <a:ext cx="2613061" cy="2711880"/>
            <a:chOff x="0" y="-38100"/>
            <a:chExt cx="991873" cy="1029383"/>
          </a:xfrm>
        </p:grpSpPr>
        <p:sp>
          <p:nvSpPr>
            <p:cNvPr id="150" name="Google Shape;150;p1"/>
            <p:cNvSpPr/>
            <p:nvPr/>
          </p:nvSpPr>
          <p:spPr>
            <a:xfrm>
              <a:off x="0" y="0"/>
              <a:ext cx="991873" cy="991283"/>
            </a:xfrm>
            <a:custGeom>
              <a:rect b="b" l="l" r="r" t="t"/>
              <a:pathLst>
                <a:path extrusionOk="0" h="991283" w="991873">
                  <a:moveTo>
                    <a:pt x="0" y="0"/>
                  </a:moveTo>
                  <a:lnTo>
                    <a:pt x="991873" y="0"/>
                  </a:lnTo>
                  <a:lnTo>
                    <a:pt x="991873" y="991283"/>
                  </a:lnTo>
                  <a:lnTo>
                    <a:pt x="0" y="991283"/>
                  </a:lnTo>
                  <a:close/>
                </a:path>
              </a:pathLst>
            </a:custGeom>
            <a:solidFill>
              <a:srgbClr val="145DA0"/>
            </a:solidFill>
            <a:ln cap="sq" cmpd="sng" w="9525">
              <a:solidFill>
                <a:srgbClr val="FFFFFF"/>
              </a:solidFill>
              <a:prstDash val="solid"/>
              <a:miter lim="8000"/>
              <a:headEnd len="sm" w="sm" type="none"/>
              <a:tailEnd len="sm" w="sm" type="none"/>
            </a:ln>
          </p:spPr>
        </p:sp>
        <p:sp>
          <p:nvSpPr>
            <p:cNvPr id="151" name="Google Shape;151;p1"/>
            <p:cNvSpPr txBox="1"/>
            <p:nvPr/>
          </p:nvSpPr>
          <p:spPr>
            <a:xfrm>
              <a:off x="0" y="-38100"/>
              <a:ext cx="991873" cy="1029383"/>
            </a:xfrm>
            <a:prstGeom prst="rect">
              <a:avLst/>
            </a:prstGeom>
            <a:noFill/>
            <a:ln>
              <a:noFill/>
            </a:ln>
          </p:spPr>
          <p:txBody>
            <a:bodyPr anchorCtr="0" anchor="ctr" bIns="50800" lIns="50800" spcFirstLastPara="1" rIns="50800" wrap="square" tIns="50800">
              <a:noAutofit/>
            </a:bodyPr>
            <a:lstStyle/>
            <a:p>
              <a:pPr indent="0" lvl="0" marL="0" marR="0" rtl="0" algn="ctr">
                <a:lnSpc>
                  <a:spcPct val="193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52" name="Google Shape;152;p1"/>
          <p:cNvCxnSpPr/>
          <p:nvPr/>
        </p:nvCxnSpPr>
        <p:spPr>
          <a:xfrm>
            <a:off x="5991861" y="4640463"/>
            <a:ext cx="2203125" cy="0"/>
          </a:xfrm>
          <a:prstGeom prst="straightConnector1">
            <a:avLst/>
          </a:prstGeom>
          <a:noFill/>
          <a:ln cap="flat" cmpd="sng" w="38100">
            <a:solidFill>
              <a:srgbClr val="FFFFFF"/>
            </a:solidFill>
            <a:prstDash val="solid"/>
            <a:round/>
            <a:headEnd len="sm" w="sm" type="none"/>
            <a:tailEnd len="sm" w="sm" type="none"/>
          </a:ln>
        </p:spPr>
      </p:cxnSp>
      <p:grpSp>
        <p:nvGrpSpPr>
          <p:cNvPr id="153" name="Google Shape;153;p1"/>
          <p:cNvGrpSpPr/>
          <p:nvPr/>
        </p:nvGrpSpPr>
        <p:grpSpPr>
          <a:xfrm>
            <a:off x="4172889" y="5766726"/>
            <a:ext cx="2613061" cy="2711880"/>
            <a:chOff x="0" y="-38100"/>
            <a:chExt cx="991873" cy="1029383"/>
          </a:xfrm>
        </p:grpSpPr>
        <p:sp>
          <p:nvSpPr>
            <p:cNvPr id="154" name="Google Shape;154;p1"/>
            <p:cNvSpPr/>
            <p:nvPr/>
          </p:nvSpPr>
          <p:spPr>
            <a:xfrm>
              <a:off x="0" y="0"/>
              <a:ext cx="991873" cy="991283"/>
            </a:xfrm>
            <a:custGeom>
              <a:rect b="b" l="l" r="r" t="t"/>
              <a:pathLst>
                <a:path extrusionOk="0" h="991283" w="991873">
                  <a:moveTo>
                    <a:pt x="0" y="0"/>
                  </a:moveTo>
                  <a:lnTo>
                    <a:pt x="991873" y="0"/>
                  </a:lnTo>
                  <a:lnTo>
                    <a:pt x="991873" y="991283"/>
                  </a:lnTo>
                  <a:lnTo>
                    <a:pt x="0" y="991283"/>
                  </a:lnTo>
                  <a:close/>
                </a:path>
              </a:pathLst>
            </a:custGeom>
            <a:solidFill>
              <a:srgbClr val="145DA0"/>
            </a:solidFill>
            <a:ln cap="sq" cmpd="sng" w="9525">
              <a:solidFill>
                <a:srgbClr val="FFFFFF"/>
              </a:solidFill>
              <a:prstDash val="solid"/>
              <a:miter lim="8000"/>
              <a:headEnd len="sm" w="sm" type="none"/>
              <a:tailEnd len="sm" w="sm" type="none"/>
            </a:ln>
          </p:spPr>
        </p:sp>
        <p:sp>
          <p:nvSpPr>
            <p:cNvPr id="155" name="Google Shape;155;p1"/>
            <p:cNvSpPr txBox="1"/>
            <p:nvPr/>
          </p:nvSpPr>
          <p:spPr>
            <a:xfrm>
              <a:off x="0" y="-38100"/>
              <a:ext cx="991873" cy="1029383"/>
            </a:xfrm>
            <a:prstGeom prst="rect">
              <a:avLst/>
            </a:prstGeom>
            <a:noFill/>
            <a:ln>
              <a:noFill/>
            </a:ln>
          </p:spPr>
          <p:txBody>
            <a:bodyPr anchorCtr="0" anchor="ctr" bIns="50800" lIns="50800" spcFirstLastPara="1" rIns="50800" wrap="square" tIns="50800">
              <a:noAutofit/>
            </a:bodyPr>
            <a:lstStyle/>
            <a:p>
              <a:pPr indent="0" lvl="0" marL="0" marR="0" rtl="0" algn="ctr">
                <a:lnSpc>
                  <a:spcPct val="193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56" name="Google Shape;156;p1"/>
          <p:cNvCxnSpPr/>
          <p:nvPr/>
        </p:nvCxnSpPr>
        <p:spPr>
          <a:xfrm>
            <a:off x="4320186" y="7423420"/>
            <a:ext cx="2203125" cy="0"/>
          </a:xfrm>
          <a:prstGeom prst="straightConnector1">
            <a:avLst/>
          </a:prstGeom>
          <a:noFill/>
          <a:ln cap="flat" cmpd="sng" w="38100">
            <a:solidFill>
              <a:srgbClr val="FFFFFF"/>
            </a:solidFill>
            <a:prstDash val="solid"/>
            <a:round/>
            <a:headEnd len="sm" w="sm" type="none"/>
            <a:tailEnd len="sm" w="sm" type="none"/>
          </a:ln>
        </p:spPr>
      </p:cxnSp>
      <p:grpSp>
        <p:nvGrpSpPr>
          <p:cNvPr id="157" name="Google Shape;157;p1"/>
          <p:cNvGrpSpPr/>
          <p:nvPr/>
        </p:nvGrpSpPr>
        <p:grpSpPr>
          <a:xfrm>
            <a:off x="7030786" y="5766726"/>
            <a:ext cx="2613061" cy="2711880"/>
            <a:chOff x="0" y="-38100"/>
            <a:chExt cx="991873" cy="1029383"/>
          </a:xfrm>
        </p:grpSpPr>
        <p:sp>
          <p:nvSpPr>
            <p:cNvPr id="158" name="Google Shape;158;p1"/>
            <p:cNvSpPr/>
            <p:nvPr/>
          </p:nvSpPr>
          <p:spPr>
            <a:xfrm>
              <a:off x="0" y="0"/>
              <a:ext cx="991873" cy="991283"/>
            </a:xfrm>
            <a:custGeom>
              <a:rect b="b" l="l" r="r" t="t"/>
              <a:pathLst>
                <a:path extrusionOk="0" h="991283" w="991873">
                  <a:moveTo>
                    <a:pt x="0" y="0"/>
                  </a:moveTo>
                  <a:lnTo>
                    <a:pt x="991873" y="0"/>
                  </a:lnTo>
                  <a:lnTo>
                    <a:pt x="991873" y="991283"/>
                  </a:lnTo>
                  <a:lnTo>
                    <a:pt x="0" y="991283"/>
                  </a:lnTo>
                  <a:close/>
                </a:path>
              </a:pathLst>
            </a:custGeom>
            <a:solidFill>
              <a:srgbClr val="145DA0"/>
            </a:solidFill>
            <a:ln cap="sq" cmpd="sng" w="9525">
              <a:solidFill>
                <a:srgbClr val="FFFFFF"/>
              </a:solidFill>
              <a:prstDash val="solid"/>
              <a:miter lim="8000"/>
              <a:headEnd len="sm" w="sm" type="none"/>
              <a:tailEnd len="sm" w="sm" type="none"/>
            </a:ln>
          </p:spPr>
        </p:sp>
        <p:sp>
          <p:nvSpPr>
            <p:cNvPr id="159" name="Google Shape;159;p1"/>
            <p:cNvSpPr txBox="1"/>
            <p:nvPr/>
          </p:nvSpPr>
          <p:spPr>
            <a:xfrm>
              <a:off x="0" y="-38100"/>
              <a:ext cx="991873" cy="1029383"/>
            </a:xfrm>
            <a:prstGeom prst="rect">
              <a:avLst/>
            </a:prstGeom>
            <a:noFill/>
            <a:ln>
              <a:noFill/>
            </a:ln>
          </p:spPr>
          <p:txBody>
            <a:bodyPr anchorCtr="0" anchor="ctr" bIns="50800" lIns="50800" spcFirstLastPara="1" rIns="50800" wrap="square" tIns="50800">
              <a:noAutofit/>
            </a:bodyPr>
            <a:lstStyle/>
            <a:p>
              <a:pPr indent="0" lvl="0" marL="0" marR="0" rtl="0" algn="ctr">
                <a:lnSpc>
                  <a:spcPct val="193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60" name="Google Shape;160;p1"/>
          <p:cNvCxnSpPr/>
          <p:nvPr/>
        </p:nvCxnSpPr>
        <p:spPr>
          <a:xfrm>
            <a:off x="7178083" y="7423420"/>
            <a:ext cx="2203125" cy="0"/>
          </a:xfrm>
          <a:prstGeom prst="straightConnector1">
            <a:avLst/>
          </a:prstGeom>
          <a:noFill/>
          <a:ln cap="flat" cmpd="sng" w="38100">
            <a:solidFill>
              <a:srgbClr val="FFFFFF"/>
            </a:solidFill>
            <a:prstDash val="solid"/>
            <a:round/>
            <a:headEnd len="sm" w="sm" type="none"/>
            <a:tailEnd len="sm" w="sm" type="none"/>
          </a:ln>
        </p:spPr>
      </p:cxnSp>
      <p:sp>
        <p:nvSpPr>
          <p:cNvPr id="161" name="Google Shape;161;p1"/>
          <p:cNvSpPr/>
          <p:nvPr/>
        </p:nvSpPr>
        <p:spPr>
          <a:xfrm>
            <a:off x="10000675" y="1509629"/>
            <a:ext cx="6992751" cy="8074770"/>
          </a:xfrm>
          <a:custGeom>
            <a:rect b="b" l="l" r="r" t="t"/>
            <a:pathLst>
              <a:path extrusionOk="0" h="6350000" w="5499100">
                <a:moveTo>
                  <a:pt x="2749550" y="6350000"/>
                </a:moveTo>
                <a:lnTo>
                  <a:pt x="0" y="4762500"/>
                </a:lnTo>
                <a:lnTo>
                  <a:pt x="0" y="1587500"/>
                </a:lnTo>
                <a:lnTo>
                  <a:pt x="2749550" y="0"/>
                </a:lnTo>
                <a:lnTo>
                  <a:pt x="5499100" y="1587500"/>
                </a:lnTo>
                <a:lnTo>
                  <a:pt x="5499100" y="4762500"/>
                </a:lnTo>
                <a:lnTo>
                  <a:pt x="2749550" y="6350000"/>
                </a:lnTo>
                <a:close/>
              </a:path>
            </a:pathLst>
          </a:custGeom>
          <a:solidFill>
            <a:srgbClr val="56AEFF"/>
          </a:solidFill>
          <a:ln cap="flat" cmpd="sng" w="12700">
            <a:solidFill>
              <a:srgbClr val="000000"/>
            </a:solidFill>
            <a:prstDash val="solid"/>
            <a:round/>
            <a:headEnd len="sm" w="sm" type="none"/>
            <a:tailEnd len="sm" w="sm" type="none"/>
          </a:ln>
        </p:spPr>
      </p:sp>
      <p:sp>
        <p:nvSpPr>
          <p:cNvPr id="162" name="Google Shape;162;p1"/>
          <p:cNvSpPr/>
          <p:nvPr/>
        </p:nvSpPr>
        <p:spPr>
          <a:xfrm>
            <a:off x="10143550" y="1698193"/>
            <a:ext cx="6697476" cy="7733806"/>
          </a:xfrm>
          <a:custGeom>
            <a:rect b="b" l="l" r="r" t="t"/>
            <a:pathLst>
              <a:path extrusionOk="0" h="6350000" w="5499100">
                <a:moveTo>
                  <a:pt x="2749550" y="6350000"/>
                </a:moveTo>
                <a:lnTo>
                  <a:pt x="0" y="4762500"/>
                </a:lnTo>
                <a:lnTo>
                  <a:pt x="0" y="1587500"/>
                </a:lnTo>
                <a:lnTo>
                  <a:pt x="2749550" y="0"/>
                </a:lnTo>
                <a:lnTo>
                  <a:pt x="5499100" y="1587500"/>
                </a:lnTo>
                <a:lnTo>
                  <a:pt x="5499100" y="4762500"/>
                </a:lnTo>
                <a:lnTo>
                  <a:pt x="2749550" y="6350000"/>
                </a:lnTo>
                <a:close/>
              </a:path>
            </a:pathLst>
          </a:custGeom>
          <a:blipFill rotWithShape="1">
            <a:blip r:embed="rId3">
              <a:alphaModFix/>
            </a:blip>
            <a:stretch>
              <a:fillRect b="0" l="-19283" r="-19283" t="0"/>
            </a:stretch>
          </a:blipFill>
          <a:ln>
            <a:noFill/>
          </a:ln>
        </p:spPr>
      </p:sp>
      <p:grpSp>
        <p:nvGrpSpPr>
          <p:cNvPr id="163" name="Google Shape;163;p1"/>
          <p:cNvGrpSpPr/>
          <p:nvPr/>
        </p:nvGrpSpPr>
        <p:grpSpPr>
          <a:xfrm>
            <a:off x="8705275" y="2983770"/>
            <a:ext cx="2613061" cy="2711880"/>
            <a:chOff x="0" y="-38100"/>
            <a:chExt cx="991873" cy="1029383"/>
          </a:xfrm>
        </p:grpSpPr>
        <p:sp>
          <p:nvSpPr>
            <p:cNvPr id="164" name="Google Shape;164;p1"/>
            <p:cNvSpPr/>
            <p:nvPr/>
          </p:nvSpPr>
          <p:spPr>
            <a:xfrm>
              <a:off x="0" y="0"/>
              <a:ext cx="991873" cy="991283"/>
            </a:xfrm>
            <a:custGeom>
              <a:rect b="b" l="l" r="r" t="t"/>
              <a:pathLst>
                <a:path extrusionOk="0" h="991283" w="991873">
                  <a:moveTo>
                    <a:pt x="0" y="0"/>
                  </a:moveTo>
                  <a:lnTo>
                    <a:pt x="991873" y="0"/>
                  </a:lnTo>
                  <a:lnTo>
                    <a:pt x="991873" y="991283"/>
                  </a:lnTo>
                  <a:lnTo>
                    <a:pt x="0" y="991283"/>
                  </a:lnTo>
                  <a:close/>
                </a:path>
              </a:pathLst>
            </a:custGeom>
            <a:solidFill>
              <a:srgbClr val="145DA0"/>
            </a:solidFill>
            <a:ln cap="sq" cmpd="sng" w="9525">
              <a:solidFill>
                <a:srgbClr val="FFFFFF"/>
              </a:solidFill>
              <a:prstDash val="solid"/>
              <a:miter lim="8000"/>
              <a:headEnd len="sm" w="sm" type="none"/>
              <a:tailEnd len="sm" w="sm" type="none"/>
            </a:ln>
          </p:spPr>
        </p:sp>
        <p:sp>
          <p:nvSpPr>
            <p:cNvPr id="165" name="Google Shape;165;p1"/>
            <p:cNvSpPr txBox="1"/>
            <p:nvPr/>
          </p:nvSpPr>
          <p:spPr>
            <a:xfrm>
              <a:off x="0" y="-38100"/>
              <a:ext cx="991873" cy="1029383"/>
            </a:xfrm>
            <a:prstGeom prst="rect">
              <a:avLst/>
            </a:prstGeom>
            <a:noFill/>
            <a:ln>
              <a:noFill/>
            </a:ln>
          </p:spPr>
          <p:txBody>
            <a:bodyPr anchorCtr="0" anchor="ctr" bIns="50800" lIns="50800" spcFirstLastPara="1" rIns="50800" wrap="square" tIns="50800">
              <a:noAutofit/>
            </a:bodyPr>
            <a:lstStyle/>
            <a:p>
              <a:pPr indent="0" lvl="0" marL="0" marR="0" rtl="0" algn="ctr">
                <a:lnSpc>
                  <a:spcPct val="193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66" name="Google Shape;166;p1"/>
          <p:cNvCxnSpPr/>
          <p:nvPr/>
        </p:nvCxnSpPr>
        <p:spPr>
          <a:xfrm>
            <a:off x="8852572" y="4640463"/>
            <a:ext cx="2203125" cy="0"/>
          </a:xfrm>
          <a:prstGeom prst="straightConnector1">
            <a:avLst/>
          </a:prstGeom>
          <a:noFill/>
          <a:ln cap="flat" cmpd="sng" w="38100">
            <a:solidFill>
              <a:srgbClr val="FFFFFF"/>
            </a:solidFill>
            <a:prstDash val="solid"/>
            <a:round/>
            <a:headEnd len="sm" w="sm" type="none"/>
            <a:tailEnd len="sm" w="sm" type="none"/>
          </a:ln>
        </p:spPr>
      </p:cxnSp>
      <p:sp>
        <p:nvSpPr>
          <p:cNvPr id="167" name="Google Shape;167;p1"/>
          <p:cNvSpPr/>
          <p:nvPr/>
        </p:nvSpPr>
        <p:spPr>
          <a:xfrm>
            <a:off x="-7631327" y="597505"/>
            <a:ext cx="9077445" cy="9077445"/>
          </a:xfrm>
          <a:custGeom>
            <a:rect b="b" l="l" r="r" t="t"/>
            <a:pathLst>
              <a:path extrusionOk="0" h="9077445" w="9077445">
                <a:moveTo>
                  <a:pt x="0" y="0"/>
                </a:moveTo>
                <a:lnTo>
                  <a:pt x="9077444" y="0"/>
                </a:lnTo>
                <a:lnTo>
                  <a:pt x="9077444" y="9077445"/>
                </a:lnTo>
                <a:lnTo>
                  <a:pt x="0" y="9077445"/>
                </a:lnTo>
                <a:lnTo>
                  <a:pt x="0" y="0"/>
                </a:lnTo>
                <a:close/>
              </a:path>
            </a:pathLst>
          </a:custGeom>
          <a:blipFill rotWithShape="1">
            <a:blip r:embed="rId4">
              <a:alphaModFix/>
            </a:blip>
            <a:stretch>
              <a:fillRect b="0" l="0" r="0" t="0"/>
            </a:stretch>
          </a:blipFill>
          <a:ln>
            <a:noFill/>
          </a:ln>
        </p:spPr>
      </p:sp>
      <p:sp>
        <p:nvSpPr>
          <p:cNvPr id="168" name="Google Shape;168;p1"/>
          <p:cNvSpPr txBox="1"/>
          <p:nvPr/>
        </p:nvSpPr>
        <p:spPr>
          <a:xfrm>
            <a:off x="2986667" y="1621993"/>
            <a:ext cx="8437330" cy="1290699"/>
          </a:xfrm>
          <a:prstGeom prst="rect">
            <a:avLst/>
          </a:prstGeom>
          <a:noFill/>
          <a:ln>
            <a:noFill/>
          </a:ln>
        </p:spPr>
        <p:txBody>
          <a:bodyPr anchorCtr="0" anchor="t" bIns="0" lIns="0" spcFirstLastPara="1" rIns="0" wrap="square" tIns="0">
            <a:spAutoFit/>
          </a:bodyPr>
          <a:lstStyle/>
          <a:p>
            <a:pPr indent="0" lvl="0" marL="0" marR="0" rtl="0" algn="ctr">
              <a:lnSpc>
                <a:spcPct val="120027"/>
              </a:lnSpc>
              <a:spcBef>
                <a:spcPts val="0"/>
              </a:spcBef>
              <a:spcAft>
                <a:spcPts val="0"/>
              </a:spcAft>
              <a:buClr>
                <a:srgbClr val="000000"/>
              </a:buClr>
              <a:buSzPts val="8019"/>
              <a:buFont typeface="Arial"/>
              <a:buNone/>
            </a:pPr>
            <a:r>
              <a:rPr b="0" i="0" lang="en-US" sz="8019" u="none" cap="none" strike="noStrike">
                <a:solidFill>
                  <a:srgbClr val="56AEFF"/>
                </a:solidFill>
                <a:latin typeface="Poppins"/>
                <a:ea typeface="Poppins"/>
                <a:cs typeface="Poppins"/>
                <a:sym typeface="Poppins"/>
              </a:rPr>
              <a:t>CONTENIDO</a:t>
            </a:r>
            <a:endParaRPr b="0" i="0" sz="1400" u="none" cap="none" strike="noStrike">
              <a:solidFill>
                <a:srgbClr val="000000"/>
              </a:solidFill>
              <a:latin typeface="Arial"/>
              <a:ea typeface="Arial"/>
              <a:cs typeface="Arial"/>
              <a:sym typeface="Arial"/>
            </a:endParaRPr>
          </a:p>
        </p:txBody>
      </p:sp>
      <p:sp>
        <p:nvSpPr>
          <p:cNvPr id="169" name="Google Shape;169;p1"/>
          <p:cNvSpPr txBox="1"/>
          <p:nvPr/>
        </p:nvSpPr>
        <p:spPr>
          <a:xfrm>
            <a:off x="3133964" y="4795854"/>
            <a:ext cx="2318467" cy="642646"/>
          </a:xfrm>
          <a:prstGeom prst="rect">
            <a:avLst/>
          </a:prstGeom>
          <a:noFill/>
          <a:ln>
            <a:noFill/>
          </a:ln>
        </p:spPr>
        <p:txBody>
          <a:bodyPr anchorCtr="0" anchor="t" bIns="0" lIns="0" spcFirstLastPara="1" rIns="0" wrap="square" tIns="0">
            <a:spAutoFit/>
          </a:bodyPr>
          <a:lstStyle/>
          <a:p>
            <a:pPr indent="0" lvl="0" marL="0" marR="0" rtl="0" algn="ctr">
              <a:lnSpc>
                <a:spcPct val="138049"/>
              </a:lnSpc>
              <a:spcBef>
                <a:spcPts val="0"/>
              </a:spcBef>
              <a:spcAft>
                <a:spcPts val="0"/>
              </a:spcAft>
              <a:buClr>
                <a:srgbClr val="000000"/>
              </a:buClr>
              <a:buSzPts val="1887"/>
              <a:buFont typeface="Arial"/>
              <a:buNone/>
            </a:pPr>
            <a:r>
              <a:rPr b="0" i="0" lang="en-US" sz="1887" u="none" cap="none" strike="noStrike">
                <a:solidFill>
                  <a:srgbClr val="FFFFFF"/>
                </a:solidFill>
                <a:latin typeface="DM Sans"/>
                <a:ea typeface="DM Sans"/>
                <a:cs typeface="DM Sans"/>
                <a:sym typeface="DM Sans"/>
              </a:rPr>
              <a:t>pruebas  no funcioanles</a:t>
            </a:r>
            <a:endParaRPr b="0" i="0" sz="1400" u="none" cap="none" strike="noStrike">
              <a:solidFill>
                <a:srgbClr val="000000"/>
              </a:solidFill>
              <a:latin typeface="Arial"/>
              <a:ea typeface="Arial"/>
              <a:cs typeface="Arial"/>
              <a:sym typeface="Arial"/>
            </a:endParaRPr>
          </a:p>
        </p:txBody>
      </p:sp>
      <p:sp>
        <p:nvSpPr>
          <p:cNvPr id="170" name="Google Shape;170;p1"/>
          <p:cNvSpPr txBox="1"/>
          <p:nvPr/>
        </p:nvSpPr>
        <p:spPr>
          <a:xfrm>
            <a:off x="3447970" y="3225902"/>
            <a:ext cx="1690455" cy="973796"/>
          </a:xfrm>
          <a:prstGeom prst="rect">
            <a:avLst/>
          </a:prstGeom>
          <a:noFill/>
          <a:ln>
            <a:noFill/>
          </a:ln>
        </p:spPr>
        <p:txBody>
          <a:bodyPr anchorCtr="0" anchor="t" bIns="0" lIns="0" spcFirstLastPara="1" rIns="0" wrap="square" tIns="0">
            <a:spAutoFit/>
          </a:bodyPr>
          <a:lstStyle/>
          <a:p>
            <a:pPr indent="0" lvl="0" marL="0" marR="0" rtl="0" algn="ctr">
              <a:lnSpc>
                <a:spcPct val="137994"/>
              </a:lnSpc>
              <a:spcBef>
                <a:spcPts val="0"/>
              </a:spcBef>
              <a:spcAft>
                <a:spcPts val="0"/>
              </a:spcAft>
              <a:buClr>
                <a:srgbClr val="000000"/>
              </a:buClr>
              <a:buSzPts val="5735"/>
              <a:buFont typeface="Arial"/>
              <a:buNone/>
            </a:pPr>
            <a:r>
              <a:rPr b="1" i="0" lang="en-US" sz="5735" u="none" cap="none" strike="noStrike">
                <a:solidFill>
                  <a:srgbClr val="FFFFFF"/>
                </a:solidFill>
                <a:latin typeface="DM Sans"/>
                <a:ea typeface="DM Sans"/>
                <a:cs typeface="DM Sans"/>
                <a:sym typeface="DM Sans"/>
              </a:rPr>
              <a:t>01</a:t>
            </a:r>
            <a:endParaRPr b="0" i="0" sz="1400" u="none" cap="none" strike="noStrike">
              <a:solidFill>
                <a:srgbClr val="000000"/>
              </a:solidFill>
              <a:latin typeface="Arial"/>
              <a:ea typeface="Arial"/>
              <a:cs typeface="Arial"/>
              <a:sym typeface="Arial"/>
            </a:endParaRPr>
          </a:p>
        </p:txBody>
      </p:sp>
      <p:sp>
        <p:nvSpPr>
          <p:cNvPr id="171" name="Google Shape;171;p1"/>
          <p:cNvSpPr txBox="1"/>
          <p:nvPr/>
        </p:nvSpPr>
        <p:spPr>
          <a:xfrm>
            <a:off x="5991861" y="4795854"/>
            <a:ext cx="2318467" cy="318796"/>
          </a:xfrm>
          <a:prstGeom prst="rect">
            <a:avLst/>
          </a:prstGeom>
          <a:noFill/>
          <a:ln>
            <a:noFill/>
          </a:ln>
        </p:spPr>
        <p:txBody>
          <a:bodyPr anchorCtr="0" anchor="t" bIns="0" lIns="0" spcFirstLastPara="1" rIns="0" wrap="square" tIns="0">
            <a:spAutoFit/>
          </a:bodyPr>
          <a:lstStyle/>
          <a:p>
            <a:pPr indent="0" lvl="0" marL="0" marR="0" rtl="0" algn="ctr">
              <a:lnSpc>
                <a:spcPct val="138049"/>
              </a:lnSpc>
              <a:spcBef>
                <a:spcPts val="0"/>
              </a:spcBef>
              <a:spcAft>
                <a:spcPts val="0"/>
              </a:spcAft>
              <a:buClr>
                <a:srgbClr val="000000"/>
              </a:buClr>
              <a:buSzPts val="1887"/>
              <a:buFont typeface="Arial"/>
              <a:buNone/>
            </a:pPr>
            <a:r>
              <a:rPr b="0" i="0" lang="en-US" sz="1887" u="none" cap="none" strike="noStrike">
                <a:solidFill>
                  <a:srgbClr val="FFFFFF"/>
                </a:solidFill>
                <a:latin typeface="DM Sans"/>
                <a:ea typeface="DM Sans"/>
                <a:cs typeface="DM Sans"/>
                <a:sym typeface="DM Sans"/>
              </a:rPr>
              <a:t>pruebas de carga</a:t>
            </a:r>
            <a:endParaRPr b="0" i="0" sz="1400" u="none" cap="none" strike="noStrike">
              <a:solidFill>
                <a:srgbClr val="000000"/>
              </a:solidFill>
              <a:latin typeface="Arial"/>
              <a:ea typeface="Arial"/>
              <a:cs typeface="Arial"/>
              <a:sym typeface="Arial"/>
            </a:endParaRPr>
          </a:p>
        </p:txBody>
      </p:sp>
      <p:sp>
        <p:nvSpPr>
          <p:cNvPr id="172" name="Google Shape;172;p1"/>
          <p:cNvSpPr txBox="1"/>
          <p:nvPr/>
        </p:nvSpPr>
        <p:spPr>
          <a:xfrm>
            <a:off x="6305867" y="3225902"/>
            <a:ext cx="1690455" cy="973796"/>
          </a:xfrm>
          <a:prstGeom prst="rect">
            <a:avLst/>
          </a:prstGeom>
          <a:noFill/>
          <a:ln>
            <a:noFill/>
          </a:ln>
        </p:spPr>
        <p:txBody>
          <a:bodyPr anchorCtr="0" anchor="t" bIns="0" lIns="0" spcFirstLastPara="1" rIns="0" wrap="square" tIns="0">
            <a:spAutoFit/>
          </a:bodyPr>
          <a:lstStyle/>
          <a:p>
            <a:pPr indent="0" lvl="0" marL="0" marR="0" rtl="0" algn="ctr">
              <a:lnSpc>
                <a:spcPct val="137994"/>
              </a:lnSpc>
              <a:spcBef>
                <a:spcPts val="0"/>
              </a:spcBef>
              <a:spcAft>
                <a:spcPts val="0"/>
              </a:spcAft>
              <a:buClr>
                <a:srgbClr val="000000"/>
              </a:buClr>
              <a:buSzPts val="5735"/>
              <a:buFont typeface="Arial"/>
              <a:buNone/>
            </a:pPr>
            <a:r>
              <a:rPr b="1" i="0" lang="en-US" sz="5735" u="none" cap="none" strike="noStrike">
                <a:solidFill>
                  <a:srgbClr val="FFFFFF"/>
                </a:solidFill>
                <a:latin typeface="DM Sans"/>
                <a:ea typeface="DM Sans"/>
                <a:cs typeface="DM Sans"/>
                <a:sym typeface="DM Sans"/>
              </a:rPr>
              <a:t>02</a:t>
            </a:r>
            <a:endParaRPr b="0" i="0" sz="1400" u="none" cap="none" strike="noStrike">
              <a:solidFill>
                <a:srgbClr val="000000"/>
              </a:solidFill>
              <a:latin typeface="Arial"/>
              <a:ea typeface="Arial"/>
              <a:cs typeface="Arial"/>
              <a:sym typeface="Arial"/>
            </a:endParaRPr>
          </a:p>
        </p:txBody>
      </p:sp>
      <p:sp>
        <p:nvSpPr>
          <p:cNvPr id="173" name="Google Shape;173;p1"/>
          <p:cNvSpPr txBox="1"/>
          <p:nvPr/>
        </p:nvSpPr>
        <p:spPr>
          <a:xfrm>
            <a:off x="4320186" y="7578811"/>
            <a:ext cx="2318467" cy="642646"/>
          </a:xfrm>
          <a:prstGeom prst="rect">
            <a:avLst/>
          </a:prstGeom>
          <a:noFill/>
          <a:ln>
            <a:noFill/>
          </a:ln>
        </p:spPr>
        <p:txBody>
          <a:bodyPr anchorCtr="0" anchor="t" bIns="0" lIns="0" spcFirstLastPara="1" rIns="0" wrap="square" tIns="0">
            <a:spAutoFit/>
          </a:bodyPr>
          <a:lstStyle/>
          <a:p>
            <a:pPr indent="0" lvl="0" marL="0" marR="0" rtl="0" algn="ctr">
              <a:lnSpc>
                <a:spcPct val="138049"/>
              </a:lnSpc>
              <a:spcBef>
                <a:spcPts val="0"/>
              </a:spcBef>
              <a:spcAft>
                <a:spcPts val="0"/>
              </a:spcAft>
              <a:buClr>
                <a:srgbClr val="000000"/>
              </a:buClr>
              <a:buSzPts val="1887"/>
              <a:buFont typeface="Arial"/>
              <a:buNone/>
            </a:pPr>
            <a:r>
              <a:rPr b="0" i="0" lang="en-US" sz="1887" u="none" cap="none" strike="noStrike">
                <a:solidFill>
                  <a:srgbClr val="FFFFFF"/>
                </a:solidFill>
                <a:latin typeface="DM Sans"/>
                <a:ea typeface="DM Sans"/>
                <a:cs typeface="DM Sans"/>
                <a:sym typeface="DM Sans"/>
              </a:rPr>
              <a:t>pruebas de escalabilidad</a:t>
            </a:r>
            <a:endParaRPr b="0" i="0" sz="1400" u="none" cap="none" strike="noStrike">
              <a:solidFill>
                <a:srgbClr val="000000"/>
              </a:solidFill>
              <a:latin typeface="Arial"/>
              <a:ea typeface="Arial"/>
              <a:cs typeface="Arial"/>
              <a:sym typeface="Arial"/>
            </a:endParaRPr>
          </a:p>
        </p:txBody>
      </p:sp>
      <p:sp>
        <p:nvSpPr>
          <p:cNvPr id="174" name="Google Shape;174;p1"/>
          <p:cNvSpPr txBox="1"/>
          <p:nvPr/>
        </p:nvSpPr>
        <p:spPr>
          <a:xfrm>
            <a:off x="4634192" y="6008858"/>
            <a:ext cx="1690455" cy="973796"/>
          </a:xfrm>
          <a:prstGeom prst="rect">
            <a:avLst/>
          </a:prstGeom>
          <a:noFill/>
          <a:ln>
            <a:noFill/>
          </a:ln>
        </p:spPr>
        <p:txBody>
          <a:bodyPr anchorCtr="0" anchor="t" bIns="0" lIns="0" spcFirstLastPara="1" rIns="0" wrap="square" tIns="0">
            <a:spAutoFit/>
          </a:bodyPr>
          <a:lstStyle/>
          <a:p>
            <a:pPr indent="0" lvl="0" marL="0" marR="0" rtl="0" algn="ctr">
              <a:lnSpc>
                <a:spcPct val="137994"/>
              </a:lnSpc>
              <a:spcBef>
                <a:spcPts val="0"/>
              </a:spcBef>
              <a:spcAft>
                <a:spcPts val="0"/>
              </a:spcAft>
              <a:buClr>
                <a:srgbClr val="000000"/>
              </a:buClr>
              <a:buSzPts val="5735"/>
              <a:buFont typeface="Arial"/>
              <a:buNone/>
            </a:pPr>
            <a:r>
              <a:rPr b="1" i="0" lang="en-US" sz="5735" u="none" cap="none" strike="noStrike">
                <a:solidFill>
                  <a:srgbClr val="FFFFFF"/>
                </a:solidFill>
                <a:latin typeface="DM Sans"/>
                <a:ea typeface="DM Sans"/>
                <a:cs typeface="DM Sans"/>
                <a:sym typeface="DM Sans"/>
              </a:rPr>
              <a:t>04</a:t>
            </a:r>
            <a:endParaRPr b="0" i="0" sz="1400" u="none" cap="none" strike="noStrike">
              <a:solidFill>
                <a:srgbClr val="000000"/>
              </a:solidFill>
              <a:latin typeface="Arial"/>
              <a:ea typeface="Arial"/>
              <a:cs typeface="Arial"/>
              <a:sym typeface="Arial"/>
            </a:endParaRPr>
          </a:p>
        </p:txBody>
      </p:sp>
      <p:sp>
        <p:nvSpPr>
          <p:cNvPr id="175" name="Google Shape;175;p1"/>
          <p:cNvSpPr txBox="1"/>
          <p:nvPr/>
        </p:nvSpPr>
        <p:spPr>
          <a:xfrm>
            <a:off x="7178083" y="7578811"/>
            <a:ext cx="2318467" cy="642646"/>
          </a:xfrm>
          <a:prstGeom prst="rect">
            <a:avLst/>
          </a:prstGeom>
          <a:noFill/>
          <a:ln>
            <a:noFill/>
          </a:ln>
        </p:spPr>
        <p:txBody>
          <a:bodyPr anchorCtr="0" anchor="t" bIns="0" lIns="0" spcFirstLastPara="1" rIns="0" wrap="square" tIns="0">
            <a:spAutoFit/>
          </a:bodyPr>
          <a:lstStyle/>
          <a:p>
            <a:pPr indent="0" lvl="0" marL="0" marR="0" rtl="0" algn="ctr">
              <a:lnSpc>
                <a:spcPct val="138049"/>
              </a:lnSpc>
              <a:spcBef>
                <a:spcPts val="0"/>
              </a:spcBef>
              <a:spcAft>
                <a:spcPts val="0"/>
              </a:spcAft>
              <a:buClr>
                <a:srgbClr val="000000"/>
              </a:buClr>
              <a:buSzPts val="1887"/>
              <a:buFont typeface="Arial"/>
              <a:buNone/>
            </a:pPr>
            <a:r>
              <a:rPr b="0" i="0" lang="en-US" sz="1887" u="none" cap="none" strike="noStrike">
                <a:solidFill>
                  <a:srgbClr val="FFFFFF"/>
                </a:solidFill>
                <a:latin typeface="DM Sans"/>
                <a:ea typeface="DM Sans"/>
                <a:cs typeface="DM Sans"/>
                <a:sym typeface="DM Sans"/>
              </a:rPr>
              <a:t>pruebas de portabilidad</a:t>
            </a:r>
            <a:endParaRPr b="0" i="0" sz="1400" u="none" cap="none" strike="noStrike">
              <a:solidFill>
                <a:srgbClr val="000000"/>
              </a:solidFill>
              <a:latin typeface="Arial"/>
              <a:ea typeface="Arial"/>
              <a:cs typeface="Arial"/>
              <a:sym typeface="Arial"/>
            </a:endParaRPr>
          </a:p>
        </p:txBody>
      </p:sp>
      <p:sp>
        <p:nvSpPr>
          <p:cNvPr id="176" name="Google Shape;176;p1"/>
          <p:cNvSpPr txBox="1"/>
          <p:nvPr/>
        </p:nvSpPr>
        <p:spPr>
          <a:xfrm>
            <a:off x="7492089" y="6008858"/>
            <a:ext cx="1690455" cy="973796"/>
          </a:xfrm>
          <a:prstGeom prst="rect">
            <a:avLst/>
          </a:prstGeom>
          <a:noFill/>
          <a:ln>
            <a:noFill/>
          </a:ln>
        </p:spPr>
        <p:txBody>
          <a:bodyPr anchorCtr="0" anchor="t" bIns="0" lIns="0" spcFirstLastPara="1" rIns="0" wrap="square" tIns="0">
            <a:spAutoFit/>
          </a:bodyPr>
          <a:lstStyle/>
          <a:p>
            <a:pPr indent="0" lvl="0" marL="0" marR="0" rtl="0" algn="ctr">
              <a:lnSpc>
                <a:spcPct val="137994"/>
              </a:lnSpc>
              <a:spcBef>
                <a:spcPts val="0"/>
              </a:spcBef>
              <a:spcAft>
                <a:spcPts val="0"/>
              </a:spcAft>
              <a:buClr>
                <a:srgbClr val="000000"/>
              </a:buClr>
              <a:buSzPts val="5735"/>
              <a:buFont typeface="Arial"/>
              <a:buNone/>
            </a:pPr>
            <a:r>
              <a:rPr b="1" i="0" lang="en-US" sz="5735" u="none" cap="none" strike="noStrike">
                <a:solidFill>
                  <a:srgbClr val="FFFFFF"/>
                </a:solidFill>
                <a:latin typeface="DM Sans"/>
                <a:ea typeface="DM Sans"/>
                <a:cs typeface="DM Sans"/>
                <a:sym typeface="DM Sans"/>
              </a:rPr>
              <a:t>05</a:t>
            </a:r>
            <a:endParaRPr b="0" i="0" sz="1400" u="none" cap="none" strike="noStrike">
              <a:solidFill>
                <a:srgbClr val="000000"/>
              </a:solidFill>
              <a:latin typeface="Arial"/>
              <a:ea typeface="Arial"/>
              <a:cs typeface="Arial"/>
              <a:sym typeface="Arial"/>
            </a:endParaRPr>
          </a:p>
        </p:txBody>
      </p:sp>
      <p:sp>
        <p:nvSpPr>
          <p:cNvPr id="177" name="Google Shape;177;p1"/>
          <p:cNvSpPr txBox="1"/>
          <p:nvPr/>
        </p:nvSpPr>
        <p:spPr>
          <a:xfrm>
            <a:off x="8852572" y="4795854"/>
            <a:ext cx="2318467" cy="318796"/>
          </a:xfrm>
          <a:prstGeom prst="rect">
            <a:avLst/>
          </a:prstGeom>
          <a:noFill/>
          <a:ln>
            <a:noFill/>
          </a:ln>
        </p:spPr>
        <p:txBody>
          <a:bodyPr anchorCtr="0" anchor="t" bIns="0" lIns="0" spcFirstLastPara="1" rIns="0" wrap="square" tIns="0">
            <a:spAutoFit/>
          </a:bodyPr>
          <a:lstStyle/>
          <a:p>
            <a:pPr indent="0" lvl="0" marL="0" marR="0" rtl="0" algn="ctr">
              <a:lnSpc>
                <a:spcPct val="138049"/>
              </a:lnSpc>
              <a:spcBef>
                <a:spcPts val="0"/>
              </a:spcBef>
              <a:spcAft>
                <a:spcPts val="0"/>
              </a:spcAft>
              <a:buClr>
                <a:srgbClr val="000000"/>
              </a:buClr>
              <a:buSzPts val="1887"/>
              <a:buFont typeface="Arial"/>
              <a:buNone/>
            </a:pPr>
            <a:r>
              <a:rPr b="0" i="0" lang="en-US" sz="1887" u="none" cap="none" strike="noStrike">
                <a:solidFill>
                  <a:srgbClr val="FFFFFF"/>
                </a:solidFill>
                <a:latin typeface="DM Sans"/>
                <a:ea typeface="DM Sans"/>
                <a:cs typeface="DM Sans"/>
                <a:sym typeface="DM Sans"/>
              </a:rPr>
              <a:t>pruebas de estres</a:t>
            </a:r>
            <a:endParaRPr b="0" i="0" sz="1400" u="none" cap="none" strike="noStrike">
              <a:solidFill>
                <a:srgbClr val="000000"/>
              </a:solidFill>
              <a:latin typeface="Arial"/>
              <a:ea typeface="Arial"/>
              <a:cs typeface="Arial"/>
              <a:sym typeface="Arial"/>
            </a:endParaRPr>
          </a:p>
        </p:txBody>
      </p:sp>
      <p:sp>
        <p:nvSpPr>
          <p:cNvPr id="178" name="Google Shape;178;p1"/>
          <p:cNvSpPr txBox="1"/>
          <p:nvPr/>
        </p:nvSpPr>
        <p:spPr>
          <a:xfrm>
            <a:off x="9166578" y="3225902"/>
            <a:ext cx="1690455" cy="973796"/>
          </a:xfrm>
          <a:prstGeom prst="rect">
            <a:avLst/>
          </a:prstGeom>
          <a:noFill/>
          <a:ln>
            <a:noFill/>
          </a:ln>
        </p:spPr>
        <p:txBody>
          <a:bodyPr anchorCtr="0" anchor="t" bIns="0" lIns="0" spcFirstLastPara="1" rIns="0" wrap="square" tIns="0">
            <a:spAutoFit/>
          </a:bodyPr>
          <a:lstStyle/>
          <a:p>
            <a:pPr indent="0" lvl="0" marL="0" marR="0" rtl="0" algn="ctr">
              <a:lnSpc>
                <a:spcPct val="137994"/>
              </a:lnSpc>
              <a:spcBef>
                <a:spcPts val="0"/>
              </a:spcBef>
              <a:spcAft>
                <a:spcPts val="0"/>
              </a:spcAft>
              <a:buClr>
                <a:srgbClr val="000000"/>
              </a:buClr>
              <a:buSzPts val="5735"/>
              <a:buFont typeface="Arial"/>
              <a:buNone/>
            </a:pPr>
            <a:r>
              <a:rPr b="1" i="0" lang="en-US" sz="5735" u="none" cap="none" strike="noStrike">
                <a:solidFill>
                  <a:srgbClr val="FFFFFF"/>
                </a:solidFill>
                <a:latin typeface="DM Sans"/>
                <a:ea typeface="DM Sans"/>
                <a:cs typeface="DM Sans"/>
                <a:sym typeface="DM Sans"/>
              </a:rPr>
              <a:t>03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182" name="Shape 182"/>
        <p:cNvGrpSpPr/>
        <p:nvPr/>
      </p:nvGrpSpPr>
      <p:grpSpPr>
        <a:xfrm>
          <a:off x="0" y="0"/>
          <a:ext cx="0" cy="0"/>
          <a:chOff x="0" y="0"/>
          <a:chExt cx="0" cy="0"/>
        </a:xfrm>
      </p:grpSpPr>
      <p:grpSp>
        <p:nvGrpSpPr>
          <p:cNvPr id="183" name="Google Shape;183;p2"/>
          <p:cNvGrpSpPr/>
          <p:nvPr/>
        </p:nvGrpSpPr>
        <p:grpSpPr>
          <a:xfrm rot="-5400000">
            <a:off x="11338296" y="4100704"/>
            <a:ext cx="11958151" cy="2037819"/>
            <a:chOff x="0" y="-28575"/>
            <a:chExt cx="3149472" cy="536710"/>
          </a:xfrm>
        </p:grpSpPr>
        <p:sp>
          <p:nvSpPr>
            <p:cNvPr id="184" name="Google Shape;184;p2"/>
            <p:cNvSpPr/>
            <p:nvPr/>
          </p:nvSpPr>
          <p:spPr>
            <a:xfrm>
              <a:off x="0" y="0"/>
              <a:ext cx="3149472" cy="508135"/>
            </a:xfrm>
            <a:custGeom>
              <a:rect b="b" l="l" r="r" t="t"/>
              <a:pathLst>
                <a:path extrusionOk="0" h="508135" w="3149472">
                  <a:moveTo>
                    <a:pt x="0" y="0"/>
                  </a:moveTo>
                  <a:lnTo>
                    <a:pt x="3149472" y="0"/>
                  </a:lnTo>
                  <a:lnTo>
                    <a:pt x="3149472" y="508135"/>
                  </a:lnTo>
                  <a:lnTo>
                    <a:pt x="0" y="508135"/>
                  </a:lnTo>
                  <a:close/>
                </a:path>
              </a:pathLst>
            </a:custGeom>
            <a:solidFill>
              <a:srgbClr val="145DA0"/>
            </a:solidFill>
            <a:ln>
              <a:noFill/>
            </a:ln>
          </p:spPr>
        </p:sp>
        <p:sp>
          <p:nvSpPr>
            <p:cNvPr id="185" name="Google Shape;185;p2"/>
            <p:cNvSpPr txBox="1"/>
            <p:nvPr/>
          </p:nvSpPr>
          <p:spPr>
            <a:xfrm>
              <a:off x="0" y="-28575"/>
              <a:ext cx="3149472" cy="536710"/>
            </a:xfrm>
            <a:prstGeom prst="rect">
              <a:avLst/>
            </a:prstGeom>
            <a:noFill/>
            <a:ln>
              <a:noFill/>
            </a:ln>
          </p:spPr>
          <p:txBody>
            <a:bodyPr anchorCtr="0" anchor="ctr" bIns="50800" lIns="50800" spcFirstLastPara="1" rIns="50800" wrap="square" tIns="50800">
              <a:noAutofit/>
            </a:bodyPr>
            <a:lstStyle/>
            <a:p>
              <a:pPr indent="0" lvl="0" marL="0" marR="0" rtl="0" algn="ctr">
                <a:lnSpc>
                  <a:spcPct val="143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6" name="Google Shape;186;p2"/>
          <p:cNvSpPr/>
          <p:nvPr/>
        </p:nvSpPr>
        <p:spPr>
          <a:xfrm>
            <a:off x="11208957" y="-1011147"/>
            <a:ext cx="2647750" cy="2647750"/>
          </a:xfrm>
          <a:custGeom>
            <a:rect b="b" l="l" r="r" t="t"/>
            <a:pathLst>
              <a:path extrusionOk="0" h="2647750" w="2647750">
                <a:moveTo>
                  <a:pt x="0" y="0"/>
                </a:moveTo>
                <a:lnTo>
                  <a:pt x="2647750" y="0"/>
                </a:lnTo>
                <a:lnTo>
                  <a:pt x="2647750" y="2647750"/>
                </a:lnTo>
                <a:lnTo>
                  <a:pt x="0" y="2647750"/>
                </a:lnTo>
                <a:lnTo>
                  <a:pt x="0" y="0"/>
                </a:lnTo>
                <a:close/>
              </a:path>
            </a:pathLst>
          </a:custGeom>
          <a:blipFill rotWithShape="1">
            <a:blip r:embed="rId3">
              <a:alphaModFix/>
            </a:blip>
            <a:stretch>
              <a:fillRect b="0" l="0" r="0" t="0"/>
            </a:stretch>
          </a:blipFill>
          <a:ln>
            <a:noFill/>
          </a:ln>
        </p:spPr>
      </p:sp>
      <p:sp>
        <p:nvSpPr>
          <p:cNvPr id="187" name="Google Shape;187;p2"/>
          <p:cNvSpPr/>
          <p:nvPr/>
        </p:nvSpPr>
        <p:spPr>
          <a:xfrm>
            <a:off x="9852182" y="625594"/>
            <a:ext cx="7519437" cy="8987929"/>
          </a:xfrm>
          <a:custGeom>
            <a:rect b="b" l="l" r="r" t="t"/>
            <a:pathLst>
              <a:path extrusionOk="0" h="10286874" w="8606155">
                <a:moveTo>
                  <a:pt x="8606155" y="10251441"/>
                </a:moveTo>
                <a:cubicBezTo>
                  <a:pt x="8606155" y="10284588"/>
                  <a:pt x="8595487" y="10286874"/>
                  <a:pt x="8567674" y="10286874"/>
                </a:cubicBezTo>
                <a:cubicBezTo>
                  <a:pt x="5713094" y="10286239"/>
                  <a:pt x="2858643" y="10286239"/>
                  <a:pt x="4064" y="10286239"/>
                </a:cubicBezTo>
                <a:cubicBezTo>
                  <a:pt x="0" y="10272396"/>
                  <a:pt x="6350" y="10259823"/>
                  <a:pt x="9271" y="10246996"/>
                </a:cubicBezTo>
                <a:cubicBezTo>
                  <a:pt x="134747" y="9685402"/>
                  <a:pt x="260350" y="9123935"/>
                  <a:pt x="386207" y="8562467"/>
                </a:cubicBezTo>
                <a:cubicBezTo>
                  <a:pt x="565658" y="7761986"/>
                  <a:pt x="745490" y="6961633"/>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6"/>
                  <a:pt x="8605139" y="6846317"/>
                  <a:pt x="8606155" y="10251441"/>
                </a:cubicBezTo>
                <a:close/>
              </a:path>
            </a:pathLst>
          </a:custGeom>
          <a:blipFill rotWithShape="1">
            <a:blip r:embed="rId4">
              <a:alphaModFix/>
            </a:blip>
            <a:stretch>
              <a:fillRect b="-12762" l="0" r="0" t="-12763"/>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2"/>
          <p:cNvSpPr txBox="1"/>
          <p:nvPr/>
        </p:nvSpPr>
        <p:spPr>
          <a:xfrm>
            <a:off x="1028700" y="3451684"/>
            <a:ext cx="7044924" cy="116723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7268"/>
              <a:buFont typeface="Arial"/>
              <a:buNone/>
            </a:pPr>
            <a:r>
              <a:rPr b="0" i="0" lang="en-US" sz="7268" u="none" cap="none" strike="noStrike">
                <a:solidFill>
                  <a:srgbClr val="FFFBFB"/>
                </a:solidFill>
                <a:latin typeface="Poppins"/>
                <a:ea typeface="Poppins"/>
                <a:cs typeface="Poppins"/>
                <a:sym typeface="Poppins"/>
              </a:rPr>
              <a:t>PRUEBAS </a:t>
            </a:r>
            <a:endParaRPr b="0" i="0" sz="1400" u="none" cap="none" strike="noStrike">
              <a:solidFill>
                <a:srgbClr val="000000"/>
              </a:solidFill>
              <a:latin typeface="Arial"/>
              <a:ea typeface="Arial"/>
              <a:cs typeface="Arial"/>
              <a:sym typeface="Arial"/>
            </a:endParaRPr>
          </a:p>
        </p:txBody>
      </p:sp>
      <p:sp>
        <p:nvSpPr>
          <p:cNvPr id="189" name="Google Shape;189;p2"/>
          <p:cNvSpPr/>
          <p:nvPr/>
        </p:nvSpPr>
        <p:spPr>
          <a:xfrm>
            <a:off x="1028700" y="1136365"/>
            <a:ext cx="846187" cy="981086"/>
          </a:xfrm>
          <a:custGeom>
            <a:rect b="b" l="l" r="r" t="t"/>
            <a:pathLst>
              <a:path extrusionOk="0" h="981086" w="846187">
                <a:moveTo>
                  <a:pt x="0" y="0"/>
                </a:moveTo>
                <a:lnTo>
                  <a:pt x="846187" y="0"/>
                </a:lnTo>
                <a:lnTo>
                  <a:pt x="846187" y="981087"/>
                </a:lnTo>
                <a:lnTo>
                  <a:pt x="0" y="981087"/>
                </a:lnTo>
                <a:lnTo>
                  <a:pt x="0" y="0"/>
                </a:lnTo>
                <a:close/>
              </a:path>
            </a:pathLst>
          </a:custGeom>
          <a:blipFill rotWithShape="1">
            <a:blip r:embed="rId5">
              <a:alphaModFix/>
            </a:blip>
            <a:stretch>
              <a:fillRect b="0" l="0" r="0" t="0"/>
            </a:stretch>
          </a:blipFill>
          <a:ln>
            <a:noFill/>
          </a:ln>
        </p:spPr>
      </p:sp>
      <p:sp>
        <p:nvSpPr>
          <p:cNvPr id="190" name="Google Shape;190;p2"/>
          <p:cNvSpPr/>
          <p:nvPr/>
        </p:nvSpPr>
        <p:spPr>
          <a:xfrm>
            <a:off x="-295175" y="8630507"/>
            <a:ext cx="2647750" cy="2647750"/>
          </a:xfrm>
          <a:custGeom>
            <a:rect b="b" l="l" r="r" t="t"/>
            <a:pathLst>
              <a:path extrusionOk="0" h="2647750" w="2647750">
                <a:moveTo>
                  <a:pt x="0" y="0"/>
                </a:moveTo>
                <a:lnTo>
                  <a:pt x="2647750" y="0"/>
                </a:lnTo>
                <a:lnTo>
                  <a:pt x="2647750" y="2647751"/>
                </a:lnTo>
                <a:lnTo>
                  <a:pt x="0" y="2647751"/>
                </a:lnTo>
                <a:lnTo>
                  <a:pt x="0" y="0"/>
                </a:lnTo>
                <a:close/>
              </a:path>
            </a:pathLst>
          </a:custGeom>
          <a:blipFill rotWithShape="1">
            <a:blip r:embed="rId3">
              <a:alphaModFix/>
            </a:blip>
            <a:stretch>
              <a:fillRect b="0" l="0" r="0" t="0"/>
            </a:stretch>
          </a:blipFill>
          <a:ln>
            <a:noFill/>
          </a:ln>
        </p:spPr>
      </p:sp>
      <p:sp>
        <p:nvSpPr>
          <p:cNvPr id="191" name="Google Shape;191;p2"/>
          <p:cNvSpPr txBox="1"/>
          <p:nvPr/>
        </p:nvSpPr>
        <p:spPr>
          <a:xfrm>
            <a:off x="445312" y="5014839"/>
            <a:ext cx="10449276" cy="3656755"/>
          </a:xfrm>
          <a:prstGeom prst="rect">
            <a:avLst/>
          </a:prstGeom>
          <a:noFill/>
          <a:ln>
            <a:noFill/>
          </a:ln>
        </p:spPr>
        <p:txBody>
          <a:bodyPr anchorCtr="0" anchor="t" bIns="0" lIns="0" spcFirstLastPara="1" rIns="0" wrap="square" tIns="0">
            <a:spAutoFit/>
          </a:bodyPr>
          <a:lstStyle/>
          <a:p>
            <a:pPr indent="0" lvl="0" marL="0" marR="0" rtl="0" algn="l">
              <a:lnSpc>
                <a:spcPct val="119993"/>
              </a:lnSpc>
              <a:spcBef>
                <a:spcPts val="0"/>
              </a:spcBef>
              <a:spcAft>
                <a:spcPts val="0"/>
              </a:spcAft>
              <a:buClr>
                <a:srgbClr val="000000"/>
              </a:buClr>
              <a:buSzPts val="11729"/>
              <a:buFont typeface="Arial"/>
              <a:buNone/>
            </a:pPr>
            <a:r>
              <a:rPr b="1" i="0" lang="en-US" sz="11729" u="none" cap="none" strike="noStrike">
                <a:solidFill>
                  <a:srgbClr val="56AEFF"/>
                </a:solidFill>
                <a:latin typeface="Poppins"/>
                <a:ea typeface="Poppins"/>
                <a:cs typeface="Poppins"/>
                <a:sym typeface="Poppins"/>
              </a:rPr>
              <a:t>NO FUNCIONALES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5DA0"/>
        </a:solidFill>
      </p:bgPr>
    </p:bg>
    <p:spTree>
      <p:nvGrpSpPr>
        <p:cNvPr id="195" name="Shape 195"/>
        <p:cNvGrpSpPr/>
        <p:nvPr/>
      </p:nvGrpSpPr>
      <p:grpSpPr>
        <a:xfrm>
          <a:off x="0" y="0"/>
          <a:ext cx="0" cy="0"/>
          <a:chOff x="0" y="0"/>
          <a:chExt cx="0" cy="0"/>
        </a:xfrm>
      </p:grpSpPr>
      <p:sp>
        <p:nvSpPr>
          <p:cNvPr id="196" name="Google Shape;196;p3"/>
          <p:cNvSpPr/>
          <p:nvPr/>
        </p:nvSpPr>
        <p:spPr>
          <a:xfrm>
            <a:off x="7020707" y="3778347"/>
            <a:ext cx="1197170" cy="1210374"/>
          </a:xfrm>
          <a:custGeom>
            <a:rect b="b" l="l" r="r" t="t"/>
            <a:pathLst>
              <a:path extrusionOk="0" h="1210374" w="1197170">
                <a:moveTo>
                  <a:pt x="0" y="0"/>
                </a:moveTo>
                <a:lnTo>
                  <a:pt x="1197170" y="0"/>
                </a:lnTo>
                <a:lnTo>
                  <a:pt x="1197170" y="1210373"/>
                </a:lnTo>
                <a:lnTo>
                  <a:pt x="0" y="1210373"/>
                </a:lnTo>
                <a:lnTo>
                  <a:pt x="0" y="0"/>
                </a:lnTo>
                <a:close/>
              </a:path>
            </a:pathLst>
          </a:custGeom>
          <a:blipFill rotWithShape="1">
            <a:blip r:embed="rId3">
              <a:alphaModFix/>
            </a:blip>
            <a:stretch>
              <a:fillRect b="0" l="0" r="0" t="0"/>
            </a:stretch>
          </a:blipFill>
          <a:ln>
            <a:noFill/>
          </a:ln>
        </p:spPr>
      </p:sp>
      <p:grpSp>
        <p:nvGrpSpPr>
          <p:cNvPr id="197" name="Google Shape;197;p3"/>
          <p:cNvGrpSpPr/>
          <p:nvPr/>
        </p:nvGrpSpPr>
        <p:grpSpPr>
          <a:xfrm rot="10800000">
            <a:off x="81160" y="9258300"/>
            <a:ext cx="13457996" cy="3264379"/>
            <a:chOff x="0" y="0"/>
            <a:chExt cx="17943995" cy="4352506"/>
          </a:xfrm>
        </p:grpSpPr>
        <p:sp>
          <p:nvSpPr>
            <p:cNvPr id="198" name="Google Shape;198;p3"/>
            <p:cNvSpPr/>
            <p:nvPr/>
          </p:nvSpPr>
          <p:spPr>
            <a:xfrm>
              <a:off x="0" y="0"/>
              <a:ext cx="4149650" cy="4149650"/>
            </a:xfrm>
            <a:custGeom>
              <a:rect b="b" l="l" r="r" t="t"/>
              <a:pathLst>
                <a:path extrusionOk="0" h="4149650" w="4149650">
                  <a:moveTo>
                    <a:pt x="0" y="0"/>
                  </a:moveTo>
                  <a:lnTo>
                    <a:pt x="4149650" y="0"/>
                  </a:lnTo>
                  <a:lnTo>
                    <a:pt x="4149650" y="4149650"/>
                  </a:lnTo>
                  <a:lnTo>
                    <a:pt x="0" y="4149650"/>
                  </a:lnTo>
                  <a:lnTo>
                    <a:pt x="0" y="0"/>
                  </a:lnTo>
                  <a:close/>
                </a:path>
              </a:pathLst>
            </a:custGeom>
            <a:blipFill rotWithShape="1">
              <a:blip r:embed="rId4">
                <a:alphaModFix/>
              </a:blip>
              <a:stretch>
                <a:fillRect b="0" l="0" r="0" t="0"/>
              </a:stretch>
            </a:blipFill>
            <a:ln>
              <a:noFill/>
            </a:ln>
          </p:spPr>
        </p:sp>
        <p:sp>
          <p:nvSpPr>
            <p:cNvPr id="199" name="Google Shape;199;p3"/>
            <p:cNvSpPr/>
            <p:nvPr/>
          </p:nvSpPr>
          <p:spPr>
            <a:xfrm>
              <a:off x="4600097" y="861572"/>
              <a:ext cx="4149650" cy="3288079"/>
            </a:xfrm>
            <a:custGeom>
              <a:rect b="b" l="l" r="r" t="t"/>
              <a:pathLst>
                <a:path extrusionOk="0" h="3288079" w="4149650">
                  <a:moveTo>
                    <a:pt x="0" y="0"/>
                  </a:moveTo>
                  <a:lnTo>
                    <a:pt x="4149651" y="0"/>
                  </a:lnTo>
                  <a:lnTo>
                    <a:pt x="4149651" y="3288078"/>
                  </a:lnTo>
                  <a:lnTo>
                    <a:pt x="0" y="3288078"/>
                  </a:lnTo>
                  <a:lnTo>
                    <a:pt x="0" y="0"/>
                  </a:lnTo>
                  <a:close/>
                </a:path>
              </a:pathLst>
            </a:custGeom>
            <a:blipFill rotWithShape="1">
              <a:blip r:embed="rId4">
                <a:alphaModFix/>
              </a:blip>
              <a:stretch>
                <a:fillRect b="-26200" l="0" r="0" t="0"/>
              </a:stretch>
            </a:blipFill>
            <a:ln>
              <a:noFill/>
            </a:ln>
          </p:spPr>
        </p:sp>
        <p:sp>
          <p:nvSpPr>
            <p:cNvPr id="200" name="Google Shape;200;p3"/>
            <p:cNvSpPr/>
            <p:nvPr/>
          </p:nvSpPr>
          <p:spPr>
            <a:xfrm>
              <a:off x="9194248" y="202855"/>
              <a:ext cx="4149650" cy="4149650"/>
            </a:xfrm>
            <a:custGeom>
              <a:rect b="b" l="l" r="r" t="t"/>
              <a:pathLst>
                <a:path extrusionOk="0" h="4149650" w="4149650">
                  <a:moveTo>
                    <a:pt x="0" y="0"/>
                  </a:moveTo>
                  <a:lnTo>
                    <a:pt x="4149650" y="0"/>
                  </a:lnTo>
                  <a:lnTo>
                    <a:pt x="4149650" y="4149651"/>
                  </a:lnTo>
                  <a:lnTo>
                    <a:pt x="0" y="4149651"/>
                  </a:lnTo>
                  <a:lnTo>
                    <a:pt x="0" y="0"/>
                  </a:lnTo>
                  <a:close/>
                </a:path>
              </a:pathLst>
            </a:custGeom>
            <a:blipFill rotWithShape="1">
              <a:blip r:embed="rId4">
                <a:alphaModFix/>
              </a:blip>
              <a:stretch>
                <a:fillRect b="0" l="0" r="0" t="0"/>
              </a:stretch>
            </a:blipFill>
            <a:ln>
              <a:noFill/>
            </a:ln>
          </p:spPr>
        </p:sp>
        <p:sp>
          <p:nvSpPr>
            <p:cNvPr id="201" name="Google Shape;201;p3"/>
            <p:cNvSpPr/>
            <p:nvPr/>
          </p:nvSpPr>
          <p:spPr>
            <a:xfrm>
              <a:off x="13794345" y="1064427"/>
              <a:ext cx="4149650" cy="3288079"/>
            </a:xfrm>
            <a:custGeom>
              <a:rect b="b" l="l" r="r" t="t"/>
              <a:pathLst>
                <a:path extrusionOk="0" h="3288079" w="4149650">
                  <a:moveTo>
                    <a:pt x="0" y="0"/>
                  </a:moveTo>
                  <a:lnTo>
                    <a:pt x="4149650" y="0"/>
                  </a:lnTo>
                  <a:lnTo>
                    <a:pt x="4149650" y="3288079"/>
                  </a:lnTo>
                  <a:lnTo>
                    <a:pt x="0" y="3288079"/>
                  </a:lnTo>
                  <a:lnTo>
                    <a:pt x="0" y="0"/>
                  </a:lnTo>
                  <a:close/>
                </a:path>
              </a:pathLst>
            </a:custGeom>
            <a:blipFill rotWithShape="1">
              <a:blip r:embed="rId4">
                <a:alphaModFix/>
              </a:blip>
              <a:stretch>
                <a:fillRect b="-26200" l="0" r="0" t="0"/>
              </a:stretch>
            </a:blipFill>
            <a:ln>
              <a:noFill/>
            </a:ln>
          </p:spPr>
        </p:sp>
      </p:grpSp>
      <p:sp>
        <p:nvSpPr>
          <p:cNvPr id="202" name="Google Shape;202;p3"/>
          <p:cNvSpPr/>
          <p:nvPr/>
        </p:nvSpPr>
        <p:spPr>
          <a:xfrm rot="6150721">
            <a:off x="6080933" y="4579544"/>
            <a:ext cx="13544802" cy="1127911"/>
          </a:xfrm>
          <a:custGeom>
            <a:rect b="b" l="l" r="r" t="t"/>
            <a:pathLst>
              <a:path extrusionOk="0" h="1127911" w="13544802">
                <a:moveTo>
                  <a:pt x="0" y="0"/>
                </a:moveTo>
                <a:lnTo>
                  <a:pt x="13544801" y="0"/>
                </a:lnTo>
                <a:lnTo>
                  <a:pt x="13544801" y="1127912"/>
                </a:lnTo>
                <a:lnTo>
                  <a:pt x="0" y="1127912"/>
                </a:lnTo>
                <a:lnTo>
                  <a:pt x="0" y="0"/>
                </a:lnTo>
                <a:close/>
              </a:path>
            </a:pathLst>
          </a:custGeom>
          <a:blipFill rotWithShape="1">
            <a:blip r:embed="rId5">
              <a:alphaModFix/>
            </a:blip>
            <a:stretch>
              <a:fillRect b="0" l="0" r="0" t="-137164"/>
            </a:stretch>
          </a:blipFill>
          <a:ln>
            <a:noFill/>
          </a:ln>
        </p:spPr>
      </p:sp>
      <p:sp>
        <p:nvSpPr>
          <p:cNvPr id="203" name="Google Shape;203;p3"/>
          <p:cNvSpPr/>
          <p:nvPr/>
        </p:nvSpPr>
        <p:spPr>
          <a:xfrm>
            <a:off x="11807534" y="0"/>
            <a:ext cx="6254290" cy="10287000"/>
          </a:xfrm>
          <a:custGeom>
            <a:rect b="b" l="l" r="r" t="t"/>
            <a:pathLst>
              <a:path extrusionOk="0" h="6350000" w="3860673">
                <a:moveTo>
                  <a:pt x="3860673" y="0"/>
                </a:moveTo>
                <a:lnTo>
                  <a:pt x="2341753" y="6350000"/>
                </a:lnTo>
                <a:lnTo>
                  <a:pt x="0" y="6350000"/>
                </a:lnTo>
                <a:lnTo>
                  <a:pt x="1518920" y="0"/>
                </a:lnTo>
                <a:lnTo>
                  <a:pt x="3860673" y="0"/>
                </a:lnTo>
                <a:close/>
              </a:path>
            </a:pathLst>
          </a:custGeom>
          <a:blipFill rotWithShape="1">
            <a:blip r:embed="rId6">
              <a:alphaModFix/>
            </a:blip>
            <a:stretch>
              <a:fillRect b="0" l="-122672" r="-122668" t="0"/>
            </a:stretch>
          </a:blipFill>
          <a:ln>
            <a:noFill/>
          </a:ln>
        </p:spPr>
      </p:sp>
      <p:sp>
        <p:nvSpPr>
          <p:cNvPr id="204" name="Google Shape;204;p3"/>
          <p:cNvSpPr/>
          <p:nvPr/>
        </p:nvSpPr>
        <p:spPr>
          <a:xfrm rot="-4615544">
            <a:off x="10510810" y="5041623"/>
            <a:ext cx="13544802" cy="1127911"/>
          </a:xfrm>
          <a:custGeom>
            <a:rect b="b" l="l" r="r" t="t"/>
            <a:pathLst>
              <a:path extrusionOk="0" h="1127911" w="13544802">
                <a:moveTo>
                  <a:pt x="0" y="0"/>
                </a:moveTo>
                <a:lnTo>
                  <a:pt x="13544801" y="0"/>
                </a:lnTo>
                <a:lnTo>
                  <a:pt x="13544801" y="1127912"/>
                </a:lnTo>
                <a:lnTo>
                  <a:pt x="0" y="1127912"/>
                </a:lnTo>
                <a:lnTo>
                  <a:pt x="0" y="0"/>
                </a:lnTo>
                <a:close/>
              </a:path>
            </a:pathLst>
          </a:custGeom>
          <a:blipFill rotWithShape="1">
            <a:blip r:embed="rId5">
              <a:alphaModFix/>
            </a:blip>
            <a:stretch>
              <a:fillRect b="0" l="0" r="0" t="-137164"/>
            </a:stretch>
          </a:blipFill>
          <a:ln>
            <a:noFill/>
          </a:ln>
        </p:spPr>
      </p:sp>
      <p:grpSp>
        <p:nvGrpSpPr>
          <p:cNvPr id="205" name="Google Shape;205;p3"/>
          <p:cNvGrpSpPr/>
          <p:nvPr/>
        </p:nvGrpSpPr>
        <p:grpSpPr>
          <a:xfrm rot="10800000">
            <a:off x="15966396" y="9258300"/>
            <a:ext cx="13457996" cy="3264379"/>
            <a:chOff x="0" y="0"/>
            <a:chExt cx="17943995" cy="4352506"/>
          </a:xfrm>
        </p:grpSpPr>
        <p:sp>
          <p:nvSpPr>
            <p:cNvPr id="206" name="Google Shape;206;p3"/>
            <p:cNvSpPr/>
            <p:nvPr/>
          </p:nvSpPr>
          <p:spPr>
            <a:xfrm>
              <a:off x="0" y="0"/>
              <a:ext cx="4149650" cy="4149650"/>
            </a:xfrm>
            <a:custGeom>
              <a:rect b="b" l="l" r="r" t="t"/>
              <a:pathLst>
                <a:path extrusionOk="0" h="4149650" w="4149650">
                  <a:moveTo>
                    <a:pt x="0" y="0"/>
                  </a:moveTo>
                  <a:lnTo>
                    <a:pt x="4149650" y="0"/>
                  </a:lnTo>
                  <a:lnTo>
                    <a:pt x="4149650" y="4149650"/>
                  </a:lnTo>
                  <a:lnTo>
                    <a:pt x="0" y="4149650"/>
                  </a:lnTo>
                  <a:lnTo>
                    <a:pt x="0" y="0"/>
                  </a:lnTo>
                  <a:close/>
                </a:path>
              </a:pathLst>
            </a:custGeom>
            <a:blipFill rotWithShape="1">
              <a:blip r:embed="rId4">
                <a:alphaModFix/>
              </a:blip>
              <a:stretch>
                <a:fillRect b="0" l="0" r="0" t="0"/>
              </a:stretch>
            </a:blipFill>
            <a:ln>
              <a:noFill/>
            </a:ln>
          </p:spPr>
        </p:sp>
        <p:sp>
          <p:nvSpPr>
            <p:cNvPr id="207" name="Google Shape;207;p3"/>
            <p:cNvSpPr/>
            <p:nvPr/>
          </p:nvSpPr>
          <p:spPr>
            <a:xfrm>
              <a:off x="4600097" y="861572"/>
              <a:ext cx="4149650" cy="3288079"/>
            </a:xfrm>
            <a:custGeom>
              <a:rect b="b" l="l" r="r" t="t"/>
              <a:pathLst>
                <a:path extrusionOk="0" h="3288079" w="4149650">
                  <a:moveTo>
                    <a:pt x="0" y="0"/>
                  </a:moveTo>
                  <a:lnTo>
                    <a:pt x="4149651" y="0"/>
                  </a:lnTo>
                  <a:lnTo>
                    <a:pt x="4149651" y="3288078"/>
                  </a:lnTo>
                  <a:lnTo>
                    <a:pt x="0" y="3288078"/>
                  </a:lnTo>
                  <a:lnTo>
                    <a:pt x="0" y="0"/>
                  </a:lnTo>
                  <a:close/>
                </a:path>
              </a:pathLst>
            </a:custGeom>
            <a:blipFill rotWithShape="1">
              <a:blip r:embed="rId4">
                <a:alphaModFix/>
              </a:blip>
              <a:stretch>
                <a:fillRect b="-26200" l="0" r="0" t="0"/>
              </a:stretch>
            </a:blipFill>
            <a:ln>
              <a:noFill/>
            </a:ln>
          </p:spPr>
        </p:sp>
        <p:sp>
          <p:nvSpPr>
            <p:cNvPr id="208" name="Google Shape;208;p3"/>
            <p:cNvSpPr/>
            <p:nvPr/>
          </p:nvSpPr>
          <p:spPr>
            <a:xfrm>
              <a:off x="9194248" y="202855"/>
              <a:ext cx="4149650" cy="4149650"/>
            </a:xfrm>
            <a:custGeom>
              <a:rect b="b" l="l" r="r" t="t"/>
              <a:pathLst>
                <a:path extrusionOk="0" h="4149650" w="4149650">
                  <a:moveTo>
                    <a:pt x="0" y="0"/>
                  </a:moveTo>
                  <a:lnTo>
                    <a:pt x="4149650" y="0"/>
                  </a:lnTo>
                  <a:lnTo>
                    <a:pt x="4149650" y="4149651"/>
                  </a:lnTo>
                  <a:lnTo>
                    <a:pt x="0" y="4149651"/>
                  </a:lnTo>
                  <a:lnTo>
                    <a:pt x="0" y="0"/>
                  </a:lnTo>
                  <a:close/>
                </a:path>
              </a:pathLst>
            </a:custGeom>
            <a:blipFill rotWithShape="1">
              <a:blip r:embed="rId4">
                <a:alphaModFix/>
              </a:blip>
              <a:stretch>
                <a:fillRect b="0" l="0" r="0" t="0"/>
              </a:stretch>
            </a:blipFill>
            <a:ln>
              <a:noFill/>
            </a:ln>
          </p:spPr>
        </p:sp>
        <p:sp>
          <p:nvSpPr>
            <p:cNvPr id="209" name="Google Shape;209;p3"/>
            <p:cNvSpPr/>
            <p:nvPr/>
          </p:nvSpPr>
          <p:spPr>
            <a:xfrm>
              <a:off x="13794345" y="1064427"/>
              <a:ext cx="4149650" cy="3288079"/>
            </a:xfrm>
            <a:custGeom>
              <a:rect b="b" l="l" r="r" t="t"/>
              <a:pathLst>
                <a:path extrusionOk="0" h="3288079" w="4149650">
                  <a:moveTo>
                    <a:pt x="0" y="0"/>
                  </a:moveTo>
                  <a:lnTo>
                    <a:pt x="4149650" y="0"/>
                  </a:lnTo>
                  <a:lnTo>
                    <a:pt x="4149650" y="3288079"/>
                  </a:lnTo>
                  <a:lnTo>
                    <a:pt x="0" y="3288079"/>
                  </a:lnTo>
                  <a:lnTo>
                    <a:pt x="0" y="0"/>
                  </a:lnTo>
                  <a:close/>
                </a:path>
              </a:pathLst>
            </a:custGeom>
            <a:blipFill rotWithShape="1">
              <a:blip r:embed="rId4">
                <a:alphaModFix/>
              </a:blip>
              <a:stretch>
                <a:fillRect b="-26200" l="0" r="0" t="0"/>
              </a:stretch>
            </a:blipFill>
            <a:ln>
              <a:noFill/>
            </a:ln>
          </p:spPr>
        </p:sp>
      </p:grpSp>
      <p:sp>
        <p:nvSpPr>
          <p:cNvPr id="210" name="Google Shape;210;p3"/>
          <p:cNvSpPr txBox="1"/>
          <p:nvPr/>
        </p:nvSpPr>
        <p:spPr>
          <a:xfrm>
            <a:off x="0" y="707292"/>
            <a:ext cx="14041414" cy="2505199"/>
          </a:xfrm>
          <a:prstGeom prst="rect">
            <a:avLst/>
          </a:prstGeom>
          <a:noFill/>
          <a:ln>
            <a:noFill/>
          </a:ln>
        </p:spPr>
        <p:txBody>
          <a:bodyPr anchorCtr="0" anchor="t" bIns="0" lIns="0" spcFirstLastPara="1" rIns="0" wrap="square" tIns="0">
            <a:spAutoFit/>
          </a:bodyPr>
          <a:lstStyle/>
          <a:p>
            <a:pPr indent="0" lvl="0" marL="0" marR="0" rtl="0" algn="ctr">
              <a:lnSpc>
                <a:spcPct val="120027"/>
              </a:lnSpc>
              <a:spcBef>
                <a:spcPts val="0"/>
              </a:spcBef>
              <a:spcAft>
                <a:spcPts val="0"/>
              </a:spcAft>
              <a:buClr>
                <a:srgbClr val="000000"/>
              </a:buClr>
              <a:buSzPts val="8019"/>
              <a:buFont typeface="Arial"/>
              <a:buNone/>
            </a:pPr>
            <a:r>
              <a:rPr b="0" i="0" lang="en-US" sz="8019" u="none" cap="none" strike="noStrike">
                <a:solidFill>
                  <a:srgbClr val="FFFFFF"/>
                </a:solidFill>
                <a:latin typeface="Poppins"/>
                <a:ea typeface="Poppins"/>
                <a:cs typeface="Poppins"/>
                <a:sym typeface="Poppins"/>
              </a:rPr>
              <a:t>¿QUE SON LAS PRUEBAS NO FUNCIONALES?</a:t>
            </a:r>
            <a:endParaRPr b="0" i="0" sz="1400" u="none" cap="none" strike="noStrike">
              <a:solidFill>
                <a:srgbClr val="000000"/>
              </a:solidFill>
              <a:latin typeface="Arial"/>
              <a:ea typeface="Arial"/>
              <a:cs typeface="Arial"/>
              <a:sym typeface="Arial"/>
            </a:endParaRPr>
          </a:p>
        </p:txBody>
      </p:sp>
      <p:sp>
        <p:nvSpPr>
          <p:cNvPr id="211" name="Google Shape;211;p3"/>
          <p:cNvSpPr txBox="1"/>
          <p:nvPr/>
        </p:nvSpPr>
        <p:spPr>
          <a:xfrm>
            <a:off x="1778357" y="5503070"/>
            <a:ext cx="9784633" cy="2283613"/>
          </a:xfrm>
          <a:prstGeom prst="rect">
            <a:avLst/>
          </a:prstGeom>
          <a:noFill/>
          <a:ln>
            <a:noFill/>
          </a:ln>
        </p:spPr>
        <p:txBody>
          <a:bodyPr anchorCtr="0" anchor="t" bIns="0" lIns="0" spcFirstLastPara="1" rIns="0" wrap="square" tIns="0">
            <a:spAutoFit/>
          </a:bodyPr>
          <a:lstStyle/>
          <a:p>
            <a:pPr indent="0" lvl="0" marL="0" marR="0" rtl="0" algn="ctr">
              <a:lnSpc>
                <a:spcPct val="138042"/>
              </a:lnSpc>
              <a:spcBef>
                <a:spcPts val="0"/>
              </a:spcBef>
              <a:spcAft>
                <a:spcPts val="0"/>
              </a:spcAft>
              <a:buClr>
                <a:srgbClr val="000000"/>
              </a:buClr>
              <a:buSzPts val="2187"/>
              <a:buFont typeface="Arial"/>
              <a:buNone/>
            </a:pPr>
            <a:r>
              <a:rPr b="0" i="0" lang="en-US" sz="2187" u="none" cap="none" strike="noStrike">
                <a:solidFill>
                  <a:srgbClr val="FFFFFF"/>
                </a:solidFill>
                <a:latin typeface="DM Sans"/>
                <a:ea typeface="DM Sans"/>
                <a:cs typeface="DM Sans"/>
                <a:sym typeface="DM Sans"/>
              </a:rPr>
              <a:t>Las pruebas no funcionales son un tipo de pruebas de software que se realizan para verificar los aspectos no funcionales de una aplicación de software. En lugar de centrarse en lo que el software "hace" (sus funcionalidades), estas pruebas se enfocan en cómo lo hace, es decir, en su rendimiento, usabilidad, fiabilidad, seguridad y escalabilidad, entre otros atributos de calidad.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5DA0"/>
        </a:solidFill>
      </p:bgPr>
    </p:bg>
    <p:spTree>
      <p:nvGrpSpPr>
        <p:cNvPr id="215" name="Shape 215"/>
        <p:cNvGrpSpPr/>
        <p:nvPr/>
      </p:nvGrpSpPr>
      <p:grpSpPr>
        <a:xfrm>
          <a:off x="0" y="0"/>
          <a:ext cx="0" cy="0"/>
          <a:chOff x="0" y="0"/>
          <a:chExt cx="0" cy="0"/>
        </a:xfrm>
      </p:grpSpPr>
      <p:grpSp>
        <p:nvGrpSpPr>
          <p:cNvPr id="216" name="Google Shape;216;p4"/>
          <p:cNvGrpSpPr/>
          <p:nvPr/>
        </p:nvGrpSpPr>
        <p:grpSpPr>
          <a:xfrm rot="10800000">
            <a:off x="81160" y="9258300"/>
            <a:ext cx="13457996" cy="3264379"/>
            <a:chOff x="0" y="0"/>
            <a:chExt cx="17943995" cy="4352506"/>
          </a:xfrm>
        </p:grpSpPr>
        <p:sp>
          <p:nvSpPr>
            <p:cNvPr id="217" name="Google Shape;217;p4"/>
            <p:cNvSpPr/>
            <p:nvPr/>
          </p:nvSpPr>
          <p:spPr>
            <a:xfrm>
              <a:off x="0" y="0"/>
              <a:ext cx="4149650" cy="4149650"/>
            </a:xfrm>
            <a:custGeom>
              <a:rect b="b" l="l" r="r" t="t"/>
              <a:pathLst>
                <a:path extrusionOk="0" h="4149650" w="4149650">
                  <a:moveTo>
                    <a:pt x="0" y="0"/>
                  </a:moveTo>
                  <a:lnTo>
                    <a:pt x="4149650" y="0"/>
                  </a:lnTo>
                  <a:lnTo>
                    <a:pt x="4149650" y="4149650"/>
                  </a:lnTo>
                  <a:lnTo>
                    <a:pt x="0" y="4149650"/>
                  </a:lnTo>
                  <a:lnTo>
                    <a:pt x="0" y="0"/>
                  </a:lnTo>
                  <a:close/>
                </a:path>
              </a:pathLst>
            </a:custGeom>
            <a:blipFill rotWithShape="1">
              <a:blip r:embed="rId3">
                <a:alphaModFix/>
              </a:blip>
              <a:stretch>
                <a:fillRect b="0" l="0" r="0" t="0"/>
              </a:stretch>
            </a:blipFill>
            <a:ln>
              <a:noFill/>
            </a:ln>
          </p:spPr>
        </p:sp>
        <p:sp>
          <p:nvSpPr>
            <p:cNvPr id="218" name="Google Shape;218;p4"/>
            <p:cNvSpPr/>
            <p:nvPr/>
          </p:nvSpPr>
          <p:spPr>
            <a:xfrm>
              <a:off x="4600097" y="861572"/>
              <a:ext cx="4149650" cy="3288079"/>
            </a:xfrm>
            <a:custGeom>
              <a:rect b="b" l="l" r="r" t="t"/>
              <a:pathLst>
                <a:path extrusionOk="0" h="3288079" w="4149650">
                  <a:moveTo>
                    <a:pt x="0" y="0"/>
                  </a:moveTo>
                  <a:lnTo>
                    <a:pt x="4149651" y="0"/>
                  </a:lnTo>
                  <a:lnTo>
                    <a:pt x="4149651" y="3288078"/>
                  </a:lnTo>
                  <a:lnTo>
                    <a:pt x="0" y="3288078"/>
                  </a:lnTo>
                  <a:lnTo>
                    <a:pt x="0" y="0"/>
                  </a:lnTo>
                  <a:close/>
                </a:path>
              </a:pathLst>
            </a:custGeom>
            <a:blipFill rotWithShape="1">
              <a:blip r:embed="rId3">
                <a:alphaModFix/>
              </a:blip>
              <a:stretch>
                <a:fillRect b="-26200" l="0" r="0" t="0"/>
              </a:stretch>
            </a:blipFill>
            <a:ln>
              <a:noFill/>
            </a:ln>
          </p:spPr>
        </p:sp>
        <p:sp>
          <p:nvSpPr>
            <p:cNvPr id="219" name="Google Shape;219;p4"/>
            <p:cNvSpPr/>
            <p:nvPr/>
          </p:nvSpPr>
          <p:spPr>
            <a:xfrm>
              <a:off x="9194248" y="202855"/>
              <a:ext cx="4149650" cy="4149650"/>
            </a:xfrm>
            <a:custGeom>
              <a:rect b="b" l="l" r="r" t="t"/>
              <a:pathLst>
                <a:path extrusionOk="0" h="4149650" w="4149650">
                  <a:moveTo>
                    <a:pt x="0" y="0"/>
                  </a:moveTo>
                  <a:lnTo>
                    <a:pt x="4149650" y="0"/>
                  </a:lnTo>
                  <a:lnTo>
                    <a:pt x="4149650" y="4149651"/>
                  </a:lnTo>
                  <a:lnTo>
                    <a:pt x="0" y="4149651"/>
                  </a:lnTo>
                  <a:lnTo>
                    <a:pt x="0" y="0"/>
                  </a:lnTo>
                  <a:close/>
                </a:path>
              </a:pathLst>
            </a:custGeom>
            <a:blipFill rotWithShape="1">
              <a:blip r:embed="rId3">
                <a:alphaModFix/>
              </a:blip>
              <a:stretch>
                <a:fillRect b="0" l="0" r="0" t="0"/>
              </a:stretch>
            </a:blipFill>
            <a:ln>
              <a:noFill/>
            </a:ln>
          </p:spPr>
        </p:sp>
        <p:sp>
          <p:nvSpPr>
            <p:cNvPr id="220" name="Google Shape;220;p4"/>
            <p:cNvSpPr/>
            <p:nvPr/>
          </p:nvSpPr>
          <p:spPr>
            <a:xfrm>
              <a:off x="13794345" y="1064427"/>
              <a:ext cx="4149650" cy="3288079"/>
            </a:xfrm>
            <a:custGeom>
              <a:rect b="b" l="l" r="r" t="t"/>
              <a:pathLst>
                <a:path extrusionOk="0" h="3288079" w="4149650">
                  <a:moveTo>
                    <a:pt x="0" y="0"/>
                  </a:moveTo>
                  <a:lnTo>
                    <a:pt x="4149650" y="0"/>
                  </a:lnTo>
                  <a:lnTo>
                    <a:pt x="4149650" y="3288079"/>
                  </a:lnTo>
                  <a:lnTo>
                    <a:pt x="0" y="3288079"/>
                  </a:lnTo>
                  <a:lnTo>
                    <a:pt x="0" y="0"/>
                  </a:lnTo>
                  <a:close/>
                </a:path>
              </a:pathLst>
            </a:custGeom>
            <a:blipFill rotWithShape="1">
              <a:blip r:embed="rId3">
                <a:alphaModFix/>
              </a:blip>
              <a:stretch>
                <a:fillRect b="-26200" l="0" r="0" t="0"/>
              </a:stretch>
            </a:blipFill>
            <a:ln>
              <a:noFill/>
            </a:ln>
          </p:spPr>
        </p:sp>
      </p:grpSp>
      <p:sp>
        <p:nvSpPr>
          <p:cNvPr id="221" name="Google Shape;221;p4"/>
          <p:cNvSpPr/>
          <p:nvPr/>
        </p:nvSpPr>
        <p:spPr>
          <a:xfrm rot="6150721">
            <a:off x="6080933" y="4579544"/>
            <a:ext cx="13544802" cy="1127911"/>
          </a:xfrm>
          <a:custGeom>
            <a:rect b="b" l="l" r="r" t="t"/>
            <a:pathLst>
              <a:path extrusionOk="0" h="1127911" w="13544802">
                <a:moveTo>
                  <a:pt x="0" y="0"/>
                </a:moveTo>
                <a:lnTo>
                  <a:pt x="13544801" y="0"/>
                </a:lnTo>
                <a:lnTo>
                  <a:pt x="13544801" y="1127912"/>
                </a:lnTo>
                <a:lnTo>
                  <a:pt x="0" y="1127912"/>
                </a:lnTo>
                <a:lnTo>
                  <a:pt x="0" y="0"/>
                </a:lnTo>
                <a:close/>
              </a:path>
            </a:pathLst>
          </a:custGeom>
          <a:blipFill rotWithShape="1">
            <a:blip r:embed="rId4">
              <a:alphaModFix/>
            </a:blip>
            <a:stretch>
              <a:fillRect b="0" l="0" r="0" t="-137164"/>
            </a:stretch>
          </a:blipFill>
          <a:ln>
            <a:noFill/>
          </a:ln>
        </p:spPr>
      </p:sp>
      <p:sp>
        <p:nvSpPr>
          <p:cNvPr id="222" name="Google Shape;222;p4"/>
          <p:cNvSpPr/>
          <p:nvPr/>
        </p:nvSpPr>
        <p:spPr>
          <a:xfrm rot="-4615544">
            <a:off x="10510810" y="5041623"/>
            <a:ext cx="13544802" cy="1127911"/>
          </a:xfrm>
          <a:custGeom>
            <a:rect b="b" l="l" r="r" t="t"/>
            <a:pathLst>
              <a:path extrusionOk="0" h="1127911" w="13544802">
                <a:moveTo>
                  <a:pt x="0" y="0"/>
                </a:moveTo>
                <a:lnTo>
                  <a:pt x="13544801" y="0"/>
                </a:lnTo>
                <a:lnTo>
                  <a:pt x="13544801" y="1127912"/>
                </a:lnTo>
                <a:lnTo>
                  <a:pt x="0" y="1127912"/>
                </a:lnTo>
                <a:lnTo>
                  <a:pt x="0" y="0"/>
                </a:lnTo>
                <a:close/>
              </a:path>
            </a:pathLst>
          </a:custGeom>
          <a:blipFill rotWithShape="1">
            <a:blip r:embed="rId4">
              <a:alphaModFix/>
            </a:blip>
            <a:stretch>
              <a:fillRect b="0" l="0" r="0" t="-137164"/>
            </a:stretch>
          </a:blipFill>
          <a:ln>
            <a:noFill/>
          </a:ln>
        </p:spPr>
      </p:sp>
      <p:grpSp>
        <p:nvGrpSpPr>
          <p:cNvPr id="223" name="Google Shape;223;p4"/>
          <p:cNvGrpSpPr/>
          <p:nvPr/>
        </p:nvGrpSpPr>
        <p:grpSpPr>
          <a:xfrm rot="10800000">
            <a:off x="15966396" y="9258300"/>
            <a:ext cx="13457996" cy="3264379"/>
            <a:chOff x="0" y="0"/>
            <a:chExt cx="17943995" cy="4352506"/>
          </a:xfrm>
        </p:grpSpPr>
        <p:sp>
          <p:nvSpPr>
            <p:cNvPr id="224" name="Google Shape;224;p4"/>
            <p:cNvSpPr/>
            <p:nvPr/>
          </p:nvSpPr>
          <p:spPr>
            <a:xfrm>
              <a:off x="0" y="0"/>
              <a:ext cx="4149650" cy="4149650"/>
            </a:xfrm>
            <a:custGeom>
              <a:rect b="b" l="l" r="r" t="t"/>
              <a:pathLst>
                <a:path extrusionOk="0" h="4149650" w="4149650">
                  <a:moveTo>
                    <a:pt x="0" y="0"/>
                  </a:moveTo>
                  <a:lnTo>
                    <a:pt x="4149650" y="0"/>
                  </a:lnTo>
                  <a:lnTo>
                    <a:pt x="4149650" y="4149650"/>
                  </a:lnTo>
                  <a:lnTo>
                    <a:pt x="0" y="4149650"/>
                  </a:lnTo>
                  <a:lnTo>
                    <a:pt x="0" y="0"/>
                  </a:lnTo>
                  <a:close/>
                </a:path>
              </a:pathLst>
            </a:custGeom>
            <a:blipFill rotWithShape="1">
              <a:blip r:embed="rId3">
                <a:alphaModFix/>
              </a:blip>
              <a:stretch>
                <a:fillRect b="0" l="0" r="0" t="0"/>
              </a:stretch>
            </a:blipFill>
            <a:ln>
              <a:noFill/>
            </a:ln>
          </p:spPr>
        </p:sp>
        <p:sp>
          <p:nvSpPr>
            <p:cNvPr id="225" name="Google Shape;225;p4"/>
            <p:cNvSpPr/>
            <p:nvPr/>
          </p:nvSpPr>
          <p:spPr>
            <a:xfrm>
              <a:off x="4600097" y="861572"/>
              <a:ext cx="4149650" cy="3288079"/>
            </a:xfrm>
            <a:custGeom>
              <a:rect b="b" l="l" r="r" t="t"/>
              <a:pathLst>
                <a:path extrusionOk="0" h="3288079" w="4149650">
                  <a:moveTo>
                    <a:pt x="0" y="0"/>
                  </a:moveTo>
                  <a:lnTo>
                    <a:pt x="4149651" y="0"/>
                  </a:lnTo>
                  <a:lnTo>
                    <a:pt x="4149651" y="3288078"/>
                  </a:lnTo>
                  <a:lnTo>
                    <a:pt x="0" y="3288078"/>
                  </a:lnTo>
                  <a:lnTo>
                    <a:pt x="0" y="0"/>
                  </a:lnTo>
                  <a:close/>
                </a:path>
              </a:pathLst>
            </a:custGeom>
            <a:blipFill rotWithShape="1">
              <a:blip r:embed="rId3">
                <a:alphaModFix/>
              </a:blip>
              <a:stretch>
                <a:fillRect b="-26200" l="0" r="0" t="0"/>
              </a:stretch>
            </a:blipFill>
            <a:ln>
              <a:noFill/>
            </a:ln>
          </p:spPr>
        </p:sp>
        <p:sp>
          <p:nvSpPr>
            <p:cNvPr id="226" name="Google Shape;226;p4"/>
            <p:cNvSpPr/>
            <p:nvPr/>
          </p:nvSpPr>
          <p:spPr>
            <a:xfrm>
              <a:off x="9194248" y="202855"/>
              <a:ext cx="4149650" cy="4149650"/>
            </a:xfrm>
            <a:custGeom>
              <a:rect b="b" l="l" r="r" t="t"/>
              <a:pathLst>
                <a:path extrusionOk="0" h="4149650" w="4149650">
                  <a:moveTo>
                    <a:pt x="0" y="0"/>
                  </a:moveTo>
                  <a:lnTo>
                    <a:pt x="4149650" y="0"/>
                  </a:lnTo>
                  <a:lnTo>
                    <a:pt x="4149650" y="4149651"/>
                  </a:lnTo>
                  <a:lnTo>
                    <a:pt x="0" y="4149651"/>
                  </a:lnTo>
                  <a:lnTo>
                    <a:pt x="0" y="0"/>
                  </a:lnTo>
                  <a:close/>
                </a:path>
              </a:pathLst>
            </a:custGeom>
            <a:blipFill rotWithShape="1">
              <a:blip r:embed="rId3">
                <a:alphaModFix/>
              </a:blip>
              <a:stretch>
                <a:fillRect b="0" l="0" r="0" t="0"/>
              </a:stretch>
            </a:blipFill>
            <a:ln>
              <a:noFill/>
            </a:ln>
          </p:spPr>
        </p:sp>
        <p:sp>
          <p:nvSpPr>
            <p:cNvPr id="227" name="Google Shape;227;p4"/>
            <p:cNvSpPr/>
            <p:nvPr/>
          </p:nvSpPr>
          <p:spPr>
            <a:xfrm>
              <a:off x="13794345" y="1064427"/>
              <a:ext cx="4149650" cy="3288079"/>
            </a:xfrm>
            <a:custGeom>
              <a:rect b="b" l="l" r="r" t="t"/>
              <a:pathLst>
                <a:path extrusionOk="0" h="3288079" w="4149650">
                  <a:moveTo>
                    <a:pt x="0" y="0"/>
                  </a:moveTo>
                  <a:lnTo>
                    <a:pt x="4149650" y="0"/>
                  </a:lnTo>
                  <a:lnTo>
                    <a:pt x="4149650" y="3288079"/>
                  </a:lnTo>
                  <a:lnTo>
                    <a:pt x="0" y="3288079"/>
                  </a:lnTo>
                  <a:lnTo>
                    <a:pt x="0" y="0"/>
                  </a:lnTo>
                  <a:close/>
                </a:path>
              </a:pathLst>
            </a:custGeom>
            <a:blipFill rotWithShape="1">
              <a:blip r:embed="rId3">
                <a:alphaModFix/>
              </a:blip>
              <a:stretch>
                <a:fillRect b="-26200" l="0" r="0" t="0"/>
              </a:stretch>
            </a:blipFill>
            <a:ln>
              <a:noFill/>
            </a:ln>
          </p:spPr>
        </p:sp>
      </p:grpSp>
      <p:sp>
        <p:nvSpPr>
          <p:cNvPr id="228" name="Google Shape;228;p4"/>
          <p:cNvSpPr/>
          <p:nvPr/>
        </p:nvSpPr>
        <p:spPr>
          <a:xfrm>
            <a:off x="4967232" y="3373055"/>
            <a:ext cx="9325087" cy="5222049"/>
          </a:xfrm>
          <a:custGeom>
            <a:rect b="b" l="l" r="r" t="t"/>
            <a:pathLst>
              <a:path extrusionOk="0" h="5222049" w="9325087">
                <a:moveTo>
                  <a:pt x="0" y="0"/>
                </a:moveTo>
                <a:lnTo>
                  <a:pt x="9325086" y="0"/>
                </a:lnTo>
                <a:lnTo>
                  <a:pt x="9325086" y="5222049"/>
                </a:lnTo>
                <a:lnTo>
                  <a:pt x="0" y="5222049"/>
                </a:lnTo>
                <a:lnTo>
                  <a:pt x="0" y="0"/>
                </a:lnTo>
                <a:close/>
              </a:path>
            </a:pathLst>
          </a:custGeom>
          <a:blipFill rotWithShape="1">
            <a:blip r:embed="rId5">
              <a:alphaModFix/>
            </a:blip>
            <a:stretch>
              <a:fillRect b="0" l="0" r="0" t="0"/>
            </a:stretch>
          </a:blipFill>
          <a:ln>
            <a:noFill/>
          </a:ln>
        </p:spPr>
      </p:sp>
      <p:sp>
        <p:nvSpPr>
          <p:cNvPr id="229" name="Google Shape;229;p4"/>
          <p:cNvSpPr txBox="1"/>
          <p:nvPr/>
        </p:nvSpPr>
        <p:spPr>
          <a:xfrm>
            <a:off x="1260485" y="1188245"/>
            <a:ext cx="9784633" cy="1521613"/>
          </a:xfrm>
          <a:prstGeom prst="rect">
            <a:avLst/>
          </a:prstGeom>
          <a:noFill/>
          <a:ln>
            <a:noFill/>
          </a:ln>
        </p:spPr>
        <p:txBody>
          <a:bodyPr anchorCtr="0" anchor="t" bIns="0" lIns="0" spcFirstLastPara="1" rIns="0" wrap="square" tIns="0">
            <a:spAutoFit/>
          </a:bodyPr>
          <a:lstStyle/>
          <a:p>
            <a:pPr indent="0" lvl="0" marL="0" marR="0" rtl="0" algn="ctr">
              <a:lnSpc>
                <a:spcPct val="138042"/>
              </a:lnSpc>
              <a:spcBef>
                <a:spcPts val="0"/>
              </a:spcBef>
              <a:spcAft>
                <a:spcPts val="0"/>
              </a:spcAft>
              <a:buClr>
                <a:srgbClr val="000000"/>
              </a:buClr>
              <a:buSzPts val="2187"/>
              <a:buFont typeface="Arial"/>
              <a:buNone/>
            </a:pPr>
            <a:r>
              <a:rPr b="0" i="0" lang="en-US" sz="2187" u="none" cap="none" strike="noStrike">
                <a:solidFill>
                  <a:srgbClr val="FFFFFF"/>
                </a:solidFill>
                <a:latin typeface="DM Sans"/>
                <a:ea typeface="DM Sans"/>
                <a:cs typeface="DM Sans"/>
                <a:sym typeface="DM Sans"/>
              </a:rPr>
              <a:t> Imagina un coche. Las pruebas funcionales se asegurarían de que el motor enciende y las ruedas giran. Las pruebas no funcionales verificarían qué tan rápido puede ir, qué tan cómodo es el asiento y cuánto combustible consume.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233" name="Shape 233"/>
        <p:cNvGrpSpPr/>
        <p:nvPr/>
      </p:nvGrpSpPr>
      <p:grpSpPr>
        <a:xfrm>
          <a:off x="0" y="0"/>
          <a:ext cx="0" cy="0"/>
          <a:chOff x="0" y="0"/>
          <a:chExt cx="0" cy="0"/>
        </a:xfrm>
      </p:grpSpPr>
      <p:grpSp>
        <p:nvGrpSpPr>
          <p:cNvPr id="234" name="Google Shape;234;p5"/>
          <p:cNvGrpSpPr/>
          <p:nvPr/>
        </p:nvGrpSpPr>
        <p:grpSpPr>
          <a:xfrm>
            <a:off x="6723272" y="2035179"/>
            <a:ext cx="4161751" cy="1246529"/>
            <a:chOff x="0" y="-38100"/>
            <a:chExt cx="2565722" cy="768486"/>
          </a:xfrm>
        </p:grpSpPr>
        <p:sp>
          <p:nvSpPr>
            <p:cNvPr id="235" name="Google Shape;235;p5"/>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145DA0"/>
            </a:solidFill>
            <a:ln>
              <a:noFill/>
            </a:ln>
          </p:spPr>
        </p:sp>
        <p:sp>
          <p:nvSpPr>
            <p:cNvPr id="236" name="Google Shape;236;p5"/>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7" name="Google Shape;237;p5"/>
          <p:cNvGrpSpPr/>
          <p:nvPr/>
        </p:nvGrpSpPr>
        <p:grpSpPr>
          <a:xfrm rot="10800000">
            <a:off x="5756860" y="3281708"/>
            <a:ext cx="4161751" cy="1246529"/>
            <a:chOff x="0" y="-38100"/>
            <a:chExt cx="2565722" cy="768486"/>
          </a:xfrm>
        </p:grpSpPr>
        <p:sp>
          <p:nvSpPr>
            <p:cNvPr id="238" name="Google Shape;238;p5"/>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0071C9"/>
            </a:solidFill>
            <a:ln>
              <a:noFill/>
            </a:ln>
          </p:spPr>
        </p:sp>
        <p:sp>
          <p:nvSpPr>
            <p:cNvPr id="239" name="Google Shape;239;p5"/>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0" name="Google Shape;240;p5"/>
          <p:cNvGrpSpPr/>
          <p:nvPr/>
        </p:nvGrpSpPr>
        <p:grpSpPr>
          <a:xfrm>
            <a:off x="7387678" y="4404636"/>
            <a:ext cx="4161751" cy="1246529"/>
            <a:chOff x="0" y="-38100"/>
            <a:chExt cx="2565722" cy="768486"/>
          </a:xfrm>
        </p:grpSpPr>
        <p:sp>
          <p:nvSpPr>
            <p:cNvPr id="241" name="Google Shape;241;p5"/>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56AEFF"/>
            </a:solidFill>
            <a:ln>
              <a:noFill/>
            </a:ln>
          </p:spPr>
        </p:sp>
        <p:sp>
          <p:nvSpPr>
            <p:cNvPr id="242" name="Google Shape;242;p5"/>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3" name="Google Shape;243;p5"/>
          <p:cNvGrpSpPr/>
          <p:nvPr/>
        </p:nvGrpSpPr>
        <p:grpSpPr>
          <a:xfrm rot="10800000">
            <a:off x="6421266" y="5651165"/>
            <a:ext cx="4161751" cy="1246529"/>
            <a:chOff x="0" y="-38100"/>
            <a:chExt cx="2565722" cy="768486"/>
          </a:xfrm>
        </p:grpSpPr>
        <p:sp>
          <p:nvSpPr>
            <p:cNvPr id="244" name="Google Shape;244;p5"/>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4BD1FB"/>
            </a:solidFill>
            <a:ln>
              <a:noFill/>
            </a:ln>
          </p:spPr>
        </p:sp>
        <p:sp>
          <p:nvSpPr>
            <p:cNvPr id="245" name="Google Shape;245;p5"/>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6" name="Google Shape;246;p5"/>
          <p:cNvSpPr txBox="1"/>
          <p:nvPr/>
        </p:nvSpPr>
        <p:spPr>
          <a:xfrm>
            <a:off x="5979320" y="3400695"/>
            <a:ext cx="3716832" cy="839166"/>
          </a:xfrm>
          <a:prstGeom prst="rect">
            <a:avLst/>
          </a:prstGeom>
          <a:noFill/>
          <a:ln>
            <a:noFill/>
          </a:ln>
        </p:spPr>
        <p:txBody>
          <a:bodyPr anchorCtr="0" anchor="t" bIns="0" lIns="0" spcFirstLastPara="1" rIns="0" wrap="square" tIns="0">
            <a:spAutoFit/>
          </a:bodyPr>
          <a:lstStyle/>
          <a:p>
            <a:pPr indent="0" lvl="0" marL="0" marR="0" rtl="0" algn="ctr">
              <a:lnSpc>
                <a:spcPct val="138013"/>
              </a:lnSpc>
              <a:spcBef>
                <a:spcPts val="0"/>
              </a:spcBef>
              <a:spcAft>
                <a:spcPts val="0"/>
              </a:spcAft>
              <a:buClr>
                <a:srgbClr val="000000"/>
              </a:buClr>
              <a:buSzPts val="2457"/>
              <a:buFont typeface="Arial"/>
              <a:buNone/>
            </a:pPr>
            <a:r>
              <a:rPr b="1" i="0" lang="en-US" sz="2457" u="none" cap="none" strike="noStrike">
                <a:solidFill>
                  <a:srgbClr val="051D40"/>
                </a:solidFill>
                <a:latin typeface="DM Sans"/>
                <a:ea typeface="DM Sans"/>
                <a:cs typeface="DM Sans"/>
                <a:sym typeface="DM Sans"/>
              </a:rPr>
              <a:t>Garantizan la experiencia del usuario</a:t>
            </a:r>
            <a:endParaRPr b="0" i="0" sz="1400" u="none" cap="none" strike="noStrike">
              <a:solidFill>
                <a:srgbClr val="000000"/>
              </a:solidFill>
              <a:latin typeface="Arial"/>
              <a:ea typeface="Arial"/>
              <a:cs typeface="Arial"/>
              <a:sym typeface="Arial"/>
            </a:endParaRPr>
          </a:p>
        </p:txBody>
      </p:sp>
      <p:sp>
        <p:nvSpPr>
          <p:cNvPr id="247" name="Google Shape;247;p5"/>
          <p:cNvSpPr/>
          <p:nvPr/>
        </p:nvSpPr>
        <p:spPr>
          <a:xfrm>
            <a:off x="6694069" y="3428600"/>
            <a:ext cx="821455" cy="821455"/>
          </a:xfrm>
          <a:custGeom>
            <a:rect b="b" l="l" r="r" t="t"/>
            <a:pathLst>
              <a:path extrusionOk="0" h="821455" w="821455">
                <a:moveTo>
                  <a:pt x="0" y="0"/>
                </a:moveTo>
                <a:lnTo>
                  <a:pt x="821455" y="0"/>
                </a:lnTo>
                <a:lnTo>
                  <a:pt x="821455" y="821455"/>
                </a:lnTo>
                <a:lnTo>
                  <a:pt x="0" y="821455"/>
                </a:lnTo>
                <a:lnTo>
                  <a:pt x="0" y="0"/>
                </a:lnTo>
                <a:close/>
              </a:path>
            </a:pathLst>
          </a:custGeom>
          <a:blipFill rotWithShape="1">
            <a:blip r:embed="rId3">
              <a:alphaModFix/>
            </a:blip>
            <a:stretch>
              <a:fillRect b="0" l="0" r="0" t="0"/>
            </a:stretch>
          </a:blipFill>
          <a:ln>
            <a:noFill/>
          </a:ln>
        </p:spPr>
      </p:sp>
      <p:sp>
        <p:nvSpPr>
          <p:cNvPr id="248" name="Google Shape;248;p5"/>
          <p:cNvSpPr txBox="1"/>
          <p:nvPr/>
        </p:nvSpPr>
        <p:spPr>
          <a:xfrm>
            <a:off x="6980004" y="2179083"/>
            <a:ext cx="3775934" cy="972897"/>
          </a:xfrm>
          <a:prstGeom prst="rect">
            <a:avLst/>
          </a:prstGeom>
          <a:noFill/>
          <a:ln>
            <a:noFill/>
          </a:ln>
        </p:spPr>
        <p:txBody>
          <a:bodyPr anchorCtr="0" anchor="t" bIns="0" lIns="0" spcFirstLastPara="1" rIns="0" wrap="square" tIns="0">
            <a:spAutoFit/>
          </a:bodyPr>
          <a:lstStyle/>
          <a:p>
            <a:pPr indent="0" lvl="0" marL="0" marR="0" rtl="0" algn="ctr">
              <a:lnSpc>
                <a:spcPct val="138011"/>
              </a:lnSpc>
              <a:spcBef>
                <a:spcPts val="0"/>
              </a:spcBef>
              <a:spcAft>
                <a:spcPts val="0"/>
              </a:spcAft>
              <a:buClr>
                <a:srgbClr val="000000"/>
              </a:buClr>
              <a:buSzPts val="2857"/>
              <a:buFont typeface="Arial"/>
              <a:buNone/>
            </a:pPr>
            <a:r>
              <a:rPr b="1" i="0" lang="en-US" sz="2857" u="none" cap="none" strike="noStrike">
                <a:solidFill>
                  <a:srgbClr val="051D40"/>
                </a:solidFill>
                <a:latin typeface="DM Sans"/>
                <a:ea typeface="DM Sans"/>
                <a:cs typeface="DM Sans"/>
                <a:sym typeface="DM Sans"/>
              </a:rPr>
              <a:t>Evalúan la calidad y el rendimiento</a:t>
            </a:r>
            <a:endParaRPr b="0" i="0" sz="1400" u="none" cap="none" strike="noStrike">
              <a:solidFill>
                <a:srgbClr val="000000"/>
              </a:solidFill>
              <a:latin typeface="Arial"/>
              <a:ea typeface="Arial"/>
              <a:cs typeface="Arial"/>
              <a:sym typeface="Arial"/>
            </a:endParaRPr>
          </a:p>
        </p:txBody>
      </p:sp>
      <p:sp>
        <p:nvSpPr>
          <p:cNvPr id="249" name="Google Shape;249;p5"/>
          <p:cNvSpPr txBox="1"/>
          <p:nvPr/>
        </p:nvSpPr>
        <p:spPr>
          <a:xfrm>
            <a:off x="1313374" y="309508"/>
            <a:ext cx="13726645" cy="730377"/>
          </a:xfrm>
          <a:prstGeom prst="rect">
            <a:avLst/>
          </a:prstGeom>
          <a:noFill/>
          <a:ln>
            <a:noFill/>
          </a:ln>
        </p:spPr>
        <p:txBody>
          <a:bodyPr anchorCtr="0" anchor="t" bIns="0" lIns="0" spcFirstLastPara="1" rIns="0" wrap="square" tIns="0">
            <a:spAutoFit/>
          </a:bodyPr>
          <a:lstStyle/>
          <a:p>
            <a:pPr indent="0" lvl="0" marL="0" marR="0" rtl="0" algn="l">
              <a:lnSpc>
                <a:spcPct val="138000"/>
              </a:lnSpc>
              <a:spcBef>
                <a:spcPts val="0"/>
              </a:spcBef>
              <a:spcAft>
                <a:spcPts val="0"/>
              </a:spcAft>
              <a:buClr>
                <a:srgbClr val="000000"/>
              </a:buClr>
              <a:buSzPts val="4300"/>
              <a:buFont typeface="Arial"/>
              <a:buNone/>
            </a:pPr>
            <a:r>
              <a:rPr b="1" i="0" lang="en-US" sz="4300" u="none" cap="none" strike="noStrike">
                <a:solidFill>
                  <a:srgbClr val="FFFFFF"/>
                </a:solidFill>
                <a:latin typeface="DM Sans"/>
                <a:ea typeface="DM Sans"/>
                <a:cs typeface="DM Sans"/>
                <a:sym typeface="DM Sans"/>
              </a:rPr>
              <a:t>Puntos clave de las pruebas no funcionales</a:t>
            </a:r>
            <a:endParaRPr b="0" i="0" sz="1400" u="none" cap="none" strike="noStrike">
              <a:solidFill>
                <a:srgbClr val="000000"/>
              </a:solidFill>
              <a:latin typeface="Arial"/>
              <a:ea typeface="Arial"/>
              <a:cs typeface="Arial"/>
              <a:sym typeface="Arial"/>
            </a:endParaRPr>
          </a:p>
        </p:txBody>
      </p:sp>
      <p:sp>
        <p:nvSpPr>
          <p:cNvPr id="250" name="Google Shape;250;p5"/>
          <p:cNvSpPr txBox="1"/>
          <p:nvPr/>
        </p:nvSpPr>
        <p:spPr>
          <a:xfrm>
            <a:off x="7837736" y="4767424"/>
            <a:ext cx="3538773" cy="535128"/>
          </a:xfrm>
          <a:prstGeom prst="rect">
            <a:avLst/>
          </a:prstGeom>
          <a:noFill/>
          <a:ln>
            <a:noFill/>
          </a:ln>
        </p:spPr>
        <p:txBody>
          <a:bodyPr anchorCtr="0" anchor="t" bIns="0" lIns="0" spcFirstLastPara="1" rIns="0" wrap="square" tIns="0">
            <a:spAutoFit/>
          </a:bodyPr>
          <a:lstStyle/>
          <a:p>
            <a:pPr indent="0" lvl="0" marL="0" marR="0" rtl="0" algn="ctr">
              <a:lnSpc>
                <a:spcPct val="138010"/>
              </a:lnSpc>
              <a:spcBef>
                <a:spcPts val="0"/>
              </a:spcBef>
              <a:spcAft>
                <a:spcPts val="0"/>
              </a:spcAft>
              <a:buClr>
                <a:srgbClr val="000000"/>
              </a:buClr>
              <a:buSzPts val="3257"/>
              <a:buFont typeface="Arial"/>
              <a:buNone/>
            </a:pPr>
            <a:r>
              <a:rPr b="1" i="0" lang="en-US" sz="3257" u="none" cap="none" strike="noStrike">
                <a:solidFill>
                  <a:srgbClr val="051D40"/>
                </a:solidFill>
                <a:latin typeface="DM Sans"/>
                <a:ea typeface="DM Sans"/>
                <a:cs typeface="DM Sans"/>
                <a:sym typeface="DM Sans"/>
              </a:rPr>
              <a:t>Reducen riesgos</a:t>
            </a:r>
            <a:endParaRPr b="0" i="0" sz="1400" u="none" cap="none" strike="noStrike">
              <a:solidFill>
                <a:srgbClr val="000000"/>
              </a:solidFill>
              <a:latin typeface="Arial"/>
              <a:ea typeface="Arial"/>
              <a:cs typeface="Arial"/>
              <a:sym typeface="Arial"/>
            </a:endParaRPr>
          </a:p>
        </p:txBody>
      </p:sp>
      <p:sp>
        <p:nvSpPr>
          <p:cNvPr id="251" name="Google Shape;251;p5"/>
          <p:cNvSpPr txBox="1"/>
          <p:nvPr/>
        </p:nvSpPr>
        <p:spPr>
          <a:xfrm>
            <a:off x="7104796" y="5744439"/>
            <a:ext cx="2745282" cy="1054050"/>
          </a:xfrm>
          <a:prstGeom prst="rect">
            <a:avLst/>
          </a:prstGeom>
          <a:noFill/>
          <a:ln>
            <a:noFill/>
          </a:ln>
        </p:spPr>
        <p:txBody>
          <a:bodyPr anchorCtr="0" anchor="t" bIns="0" lIns="0" spcFirstLastPara="1" rIns="0" wrap="square" tIns="0">
            <a:spAutoFit/>
          </a:bodyPr>
          <a:lstStyle/>
          <a:p>
            <a:pPr indent="0" lvl="0" marL="0" marR="0" rtl="0" algn="ctr">
              <a:lnSpc>
                <a:spcPct val="138011"/>
              </a:lnSpc>
              <a:spcBef>
                <a:spcPts val="0"/>
              </a:spcBef>
              <a:spcAft>
                <a:spcPts val="0"/>
              </a:spcAft>
              <a:buClr>
                <a:srgbClr val="000000"/>
              </a:buClr>
              <a:buSzPts val="3057"/>
              <a:buFont typeface="Arial"/>
              <a:buNone/>
            </a:pPr>
            <a:r>
              <a:rPr b="1" i="0" lang="en-US" sz="3057" u="none" cap="none" strike="noStrike">
                <a:solidFill>
                  <a:srgbClr val="051D40"/>
                </a:solidFill>
                <a:latin typeface="DM Sans"/>
                <a:ea typeface="DM Sans"/>
                <a:cs typeface="DM Sans"/>
                <a:sym typeface="DM Sans"/>
              </a:rPr>
              <a:t>Tipos comunes</a:t>
            </a:r>
            <a:endParaRPr b="0" i="0" sz="1400" u="none" cap="none" strike="noStrike">
              <a:solidFill>
                <a:srgbClr val="000000"/>
              </a:solidFill>
              <a:latin typeface="Arial"/>
              <a:ea typeface="Arial"/>
              <a:cs typeface="Arial"/>
              <a:sym typeface="Arial"/>
            </a:endParaRPr>
          </a:p>
        </p:txBody>
      </p:sp>
      <p:sp>
        <p:nvSpPr>
          <p:cNvPr id="252" name="Google Shape;252;p5"/>
          <p:cNvSpPr txBox="1"/>
          <p:nvPr/>
        </p:nvSpPr>
        <p:spPr>
          <a:xfrm>
            <a:off x="1028700" y="2290605"/>
            <a:ext cx="4490889" cy="2524444"/>
          </a:xfrm>
          <a:prstGeom prst="rect">
            <a:avLst/>
          </a:prstGeom>
          <a:noFill/>
          <a:ln>
            <a:noFill/>
          </a:ln>
        </p:spPr>
        <p:txBody>
          <a:bodyPr anchorCtr="0" anchor="t" bIns="0" lIns="0" spcFirstLastPara="1" rIns="0" wrap="square" tIns="0">
            <a:spAutoFit/>
          </a:bodyPr>
          <a:lstStyle/>
          <a:p>
            <a:pPr indent="0" lvl="0" marL="0" marR="0" rtl="0" algn="r">
              <a:lnSpc>
                <a:spcPct val="137989"/>
              </a:lnSpc>
              <a:spcBef>
                <a:spcPts val="0"/>
              </a:spcBef>
              <a:spcAft>
                <a:spcPts val="0"/>
              </a:spcAft>
              <a:buClr>
                <a:srgbClr val="000000"/>
              </a:buClr>
              <a:buSzPts val="2069"/>
              <a:buFont typeface="Arial"/>
              <a:buNone/>
            </a:pPr>
            <a:r>
              <a:rPr b="0" i="0" lang="en-US" sz="2069" u="none" cap="none" strike="noStrike">
                <a:solidFill>
                  <a:srgbClr val="FFFFFF"/>
                </a:solidFill>
                <a:latin typeface="DM Sans"/>
                <a:ea typeface="DM Sans"/>
                <a:cs typeface="DM Sans"/>
                <a:sym typeface="DM Sans"/>
              </a:rPr>
              <a:t>Una aplicación puede tener todas sus funciones correctas, pero si es lenta o difícil de usar, los usuarios se frustrarán y la abandonarán. Las pruebas no funcionales, como las de usabilidad, garantizan que la experiencia sea fluida y positiva.</a:t>
            </a:r>
            <a:endParaRPr b="0" i="0" sz="1400" u="none" cap="none" strike="noStrike">
              <a:solidFill>
                <a:srgbClr val="000000"/>
              </a:solidFill>
              <a:latin typeface="Arial"/>
              <a:ea typeface="Arial"/>
              <a:cs typeface="Arial"/>
              <a:sym typeface="Arial"/>
            </a:endParaRPr>
          </a:p>
        </p:txBody>
      </p:sp>
      <p:sp>
        <p:nvSpPr>
          <p:cNvPr id="253" name="Google Shape;253;p5"/>
          <p:cNvSpPr txBox="1"/>
          <p:nvPr/>
        </p:nvSpPr>
        <p:spPr>
          <a:xfrm>
            <a:off x="11885148" y="4064092"/>
            <a:ext cx="4998190" cy="2276413"/>
          </a:xfrm>
          <a:prstGeom prst="rect">
            <a:avLst/>
          </a:prstGeom>
          <a:noFill/>
          <a:ln>
            <a:noFill/>
          </a:ln>
        </p:spPr>
        <p:txBody>
          <a:bodyPr anchorCtr="0" anchor="t" bIns="0" lIns="0" spcFirstLastPara="1" rIns="0" wrap="square" tIns="0">
            <a:spAutoFit/>
          </a:bodyPr>
          <a:lstStyle/>
          <a:p>
            <a:pPr indent="0" lvl="0" marL="0" marR="0" rtl="0" algn="l">
              <a:lnSpc>
                <a:spcPct val="137986"/>
              </a:lnSpc>
              <a:spcBef>
                <a:spcPts val="0"/>
              </a:spcBef>
              <a:spcAft>
                <a:spcPts val="0"/>
              </a:spcAft>
              <a:buClr>
                <a:srgbClr val="000000"/>
              </a:buClr>
              <a:buSzPts val="1669"/>
              <a:buFont typeface="Arial"/>
              <a:buNone/>
            </a:pPr>
            <a:r>
              <a:rPr b="0" i="0" lang="en-US" sz="1669" u="none" cap="none" strike="noStrike">
                <a:solidFill>
                  <a:srgbClr val="FFFFFF"/>
                </a:solidFill>
                <a:latin typeface="DM Sans"/>
                <a:ea typeface="DM Sans"/>
                <a:cs typeface="DM Sans"/>
                <a:sym typeface="DM Sans"/>
              </a:rPr>
              <a:t>Identificar problemas de rendimiento o seguridad en las primeras etapas del desarrollo puede prevenir fallos mayores en producción. Un sitio web que no soporta un gran número de visitantes podría colapsar durante un evento importante, causando pérdidas económicas y de reputación. Las pruebas de estrés y de carga ayudan a prevenir estos escenarios.</a:t>
            </a:r>
            <a:endParaRPr b="0" i="0" sz="1400" u="none" cap="none" strike="noStrike">
              <a:solidFill>
                <a:srgbClr val="000000"/>
              </a:solidFill>
              <a:latin typeface="Arial"/>
              <a:ea typeface="Arial"/>
              <a:cs typeface="Arial"/>
              <a:sym typeface="Arial"/>
            </a:endParaRPr>
          </a:p>
        </p:txBody>
      </p:sp>
      <p:sp>
        <p:nvSpPr>
          <p:cNvPr id="254" name="Google Shape;254;p5"/>
          <p:cNvSpPr txBox="1"/>
          <p:nvPr/>
        </p:nvSpPr>
        <p:spPr>
          <a:xfrm>
            <a:off x="1715026" y="5613065"/>
            <a:ext cx="4372865" cy="3248344"/>
          </a:xfrm>
          <a:prstGeom prst="rect">
            <a:avLst/>
          </a:prstGeom>
          <a:noFill/>
          <a:ln>
            <a:noFill/>
          </a:ln>
        </p:spPr>
        <p:txBody>
          <a:bodyPr anchorCtr="0" anchor="t" bIns="0" lIns="0" spcFirstLastPara="1" rIns="0" wrap="square" tIns="0">
            <a:spAutoFit/>
          </a:bodyPr>
          <a:lstStyle/>
          <a:p>
            <a:pPr indent="0" lvl="0" marL="0" marR="0" rtl="0" algn="r">
              <a:lnSpc>
                <a:spcPct val="137989"/>
              </a:lnSpc>
              <a:spcBef>
                <a:spcPts val="0"/>
              </a:spcBef>
              <a:spcAft>
                <a:spcPts val="0"/>
              </a:spcAft>
              <a:buClr>
                <a:srgbClr val="000000"/>
              </a:buClr>
              <a:buSzPts val="2069"/>
              <a:buFont typeface="Arial"/>
              <a:buNone/>
            </a:pPr>
            <a:r>
              <a:rPr b="0" i="0" lang="en-US" sz="2069" u="none" cap="none" strike="noStrike">
                <a:solidFill>
                  <a:srgbClr val="FFFFFF"/>
                </a:solidFill>
                <a:latin typeface="DM Sans"/>
                <a:ea typeface="DM Sans"/>
                <a:cs typeface="DM Sans"/>
                <a:sym typeface="DM Sans"/>
              </a:rPr>
              <a:t>Dentro de las pruebas no funcionales, hay varias categorías, como las pruebas de rendimiento (carga, estrés, volumen), de seguridad, de usabilidad, de portabilidad y de escalabilidad. Cada una de ellas se centra en un aspecto específico de la calidad del software.</a:t>
            </a:r>
            <a:endParaRPr b="0" i="0" sz="1400" u="none" cap="none" strike="noStrike">
              <a:solidFill>
                <a:srgbClr val="000000"/>
              </a:solidFill>
              <a:latin typeface="Arial"/>
              <a:ea typeface="Arial"/>
              <a:cs typeface="Arial"/>
              <a:sym typeface="Arial"/>
            </a:endParaRPr>
          </a:p>
        </p:txBody>
      </p:sp>
      <p:sp>
        <p:nvSpPr>
          <p:cNvPr id="255" name="Google Shape;255;p5"/>
          <p:cNvSpPr/>
          <p:nvPr/>
        </p:nvSpPr>
        <p:spPr>
          <a:xfrm>
            <a:off x="-2519628" y="7712017"/>
            <a:ext cx="6602062" cy="6602062"/>
          </a:xfrm>
          <a:custGeom>
            <a:rect b="b" l="l" r="r" t="t"/>
            <a:pathLst>
              <a:path extrusionOk="0" h="6602062" w="6602062">
                <a:moveTo>
                  <a:pt x="0" y="0"/>
                </a:moveTo>
                <a:lnTo>
                  <a:pt x="6602062" y="0"/>
                </a:lnTo>
                <a:lnTo>
                  <a:pt x="6602062" y="6602062"/>
                </a:lnTo>
                <a:lnTo>
                  <a:pt x="0" y="6602062"/>
                </a:lnTo>
                <a:lnTo>
                  <a:pt x="0" y="0"/>
                </a:lnTo>
                <a:close/>
              </a:path>
            </a:pathLst>
          </a:custGeom>
          <a:blipFill rotWithShape="1">
            <a:blip r:embed="rId4">
              <a:alphaModFix/>
            </a:blip>
            <a:stretch>
              <a:fillRect b="0" l="0" r="0" t="0"/>
            </a:stretch>
          </a:blipFill>
          <a:ln>
            <a:noFill/>
          </a:ln>
        </p:spPr>
      </p:sp>
      <p:sp>
        <p:nvSpPr>
          <p:cNvPr id="256" name="Google Shape;256;p5"/>
          <p:cNvSpPr/>
          <p:nvPr/>
        </p:nvSpPr>
        <p:spPr>
          <a:xfrm rot="10436461">
            <a:off x="14111851" y="-3920191"/>
            <a:ext cx="6294897" cy="6294897"/>
          </a:xfrm>
          <a:custGeom>
            <a:rect b="b" l="l" r="r" t="t"/>
            <a:pathLst>
              <a:path extrusionOk="0" h="6294897" w="6294897">
                <a:moveTo>
                  <a:pt x="0" y="0"/>
                </a:moveTo>
                <a:lnTo>
                  <a:pt x="6294898" y="0"/>
                </a:lnTo>
                <a:lnTo>
                  <a:pt x="6294898" y="6294898"/>
                </a:lnTo>
                <a:lnTo>
                  <a:pt x="0" y="6294898"/>
                </a:lnTo>
                <a:lnTo>
                  <a:pt x="0" y="0"/>
                </a:lnTo>
                <a:close/>
              </a:path>
            </a:pathLst>
          </a:custGeom>
          <a:blipFill rotWithShape="1">
            <a:blip r:embed="rId4">
              <a:alphaModFix/>
            </a:blip>
            <a:stretch>
              <a:fillRect b="0" l="0" r="0" t="0"/>
            </a:stretch>
          </a:blipFill>
          <a:ln>
            <a:noFill/>
          </a:ln>
        </p:spPr>
      </p:sp>
      <p:sp>
        <p:nvSpPr>
          <p:cNvPr id="257" name="Google Shape;257;p5"/>
          <p:cNvSpPr txBox="1"/>
          <p:nvPr/>
        </p:nvSpPr>
        <p:spPr>
          <a:xfrm>
            <a:off x="11342223" y="1679725"/>
            <a:ext cx="6084040" cy="1990663"/>
          </a:xfrm>
          <a:prstGeom prst="rect">
            <a:avLst/>
          </a:prstGeom>
          <a:noFill/>
          <a:ln>
            <a:noFill/>
          </a:ln>
        </p:spPr>
        <p:txBody>
          <a:bodyPr anchorCtr="0" anchor="t" bIns="0" lIns="0" spcFirstLastPara="1" rIns="0" wrap="square" tIns="0">
            <a:spAutoFit/>
          </a:bodyPr>
          <a:lstStyle/>
          <a:p>
            <a:pPr indent="0" lvl="0" marL="0" marR="0" rtl="0" algn="l">
              <a:lnSpc>
                <a:spcPct val="137986"/>
              </a:lnSpc>
              <a:spcBef>
                <a:spcPts val="0"/>
              </a:spcBef>
              <a:spcAft>
                <a:spcPts val="0"/>
              </a:spcAft>
              <a:buClr>
                <a:srgbClr val="000000"/>
              </a:buClr>
              <a:buSzPts val="1669"/>
              <a:buFont typeface="Arial"/>
              <a:buNone/>
            </a:pPr>
            <a:r>
              <a:rPr b="0" i="0" lang="en-US" sz="1669" u="none" cap="none" strike="noStrike">
                <a:solidFill>
                  <a:srgbClr val="FFFFFF"/>
                </a:solidFill>
                <a:latin typeface="DM Sans"/>
                <a:ea typeface="DM Sans"/>
                <a:cs typeface="DM Sans"/>
                <a:sym typeface="DM Sans"/>
              </a:rPr>
              <a:t>Estas pruebas no se centran en si una característica funciona o no, sino en su rendimiento. Por ejemplo, una prueba funcional podría verificar que un botón de inicio de sesión funciona, mientras que una prueba no funcional de carga evaluaría si ese botón sigue funcionando correctamente cuando 1000 usuarios intentan iniciar sesión al mismo tiempo.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261" name="Shape 261"/>
        <p:cNvGrpSpPr/>
        <p:nvPr/>
      </p:nvGrpSpPr>
      <p:grpSpPr>
        <a:xfrm>
          <a:off x="0" y="0"/>
          <a:ext cx="0" cy="0"/>
          <a:chOff x="0" y="0"/>
          <a:chExt cx="0" cy="0"/>
        </a:xfrm>
      </p:grpSpPr>
      <p:grpSp>
        <p:nvGrpSpPr>
          <p:cNvPr id="262" name="Google Shape;262;p6"/>
          <p:cNvGrpSpPr/>
          <p:nvPr/>
        </p:nvGrpSpPr>
        <p:grpSpPr>
          <a:xfrm>
            <a:off x="6723272" y="2035179"/>
            <a:ext cx="4161751" cy="1246529"/>
            <a:chOff x="0" y="-38100"/>
            <a:chExt cx="2565722" cy="768486"/>
          </a:xfrm>
        </p:grpSpPr>
        <p:sp>
          <p:nvSpPr>
            <p:cNvPr id="263" name="Google Shape;263;p6"/>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145DA0"/>
            </a:solidFill>
            <a:ln>
              <a:noFill/>
            </a:ln>
          </p:spPr>
        </p:sp>
        <p:sp>
          <p:nvSpPr>
            <p:cNvPr id="264" name="Google Shape;264;p6"/>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5" name="Google Shape;265;p6"/>
          <p:cNvGrpSpPr/>
          <p:nvPr/>
        </p:nvGrpSpPr>
        <p:grpSpPr>
          <a:xfrm rot="10800000">
            <a:off x="5756860" y="3281708"/>
            <a:ext cx="4161751" cy="1246529"/>
            <a:chOff x="0" y="-38100"/>
            <a:chExt cx="2565722" cy="768486"/>
          </a:xfrm>
        </p:grpSpPr>
        <p:sp>
          <p:nvSpPr>
            <p:cNvPr id="266" name="Google Shape;266;p6"/>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0071C9"/>
            </a:solidFill>
            <a:ln>
              <a:noFill/>
            </a:ln>
          </p:spPr>
        </p:sp>
        <p:sp>
          <p:nvSpPr>
            <p:cNvPr id="267" name="Google Shape;267;p6"/>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8" name="Google Shape;268;p6"/>
          <p:cNvGrpSpPr/>
          <p:nvPr/>
        </p:nvGrpSpPr>
        <p:grpSpPr>
          <a:xfrm>
            <a:off x="7387678" y="4404636"/>
            <a:ext cx="4161751" cy="1246529"/>
            <a:chOff x="0" y="-38100"/>
            <a:chExt cx="2565722" cy="768486"/>
          </a:xfrm>
        </p:grpSpPr>
        <p:sp>
          <p:nvSpPr>
            <p:cNvPr id="269" name="Google Shape;269;p6"/>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56AEFF"/>
            </a:solidFill>
            <a:ln>
              <a:noFill/>
            </a:ln>
          </p:spPr>
        </p:sp>
        <p:sp>
          <p:nvSpPr>
            <p:cNvPr id="270" name="Google Shape;270;p6"/>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1" name="Google Shape;271;p6"/>
          <p:cNvGrpSpPr/>
          <p:nvPr/>
        </p:nvGrpSpPr>
        <p:grpSpPr>
          <a:xfrm rot="10800000">
            <a:off x="6421266" y="5651165"/>
            <a:ext cx="4161751" cy="1246529"/>
            <a:chOff x="0" y="-38100"/>
            <a:chExt cx="2565722" cy="768486"/>
          </a:xfrm>
        </p:grpSpPr>
        <p:sp>
          <p:nvSpPr>
            <p:cNvPr id="272" name="Google Shape;272;p6"/>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4BD1FB"/>
            </a:solidFill>
            <a:ln>
              <a:noFill/>
            </a:ln>
          </p:spPr>
        </p:sp>
        <p:sp>
          <p:nvSpPr>
            <p:cNvPr id="273" name="Google Shape;273;p6"/>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4" name="Google Shape;274;p6"/>
          <p:cNvSpPr txBox="1"/>
          <p:nvPr/>
        </p:nvSpPr>
        <p:spPr>
          <a:xfrm>
            <a:off x="5979320" y="3400695"/>
            <a:ext cx="3716832" cy="839166"/>
          </a:xfrm>
          <a:prstGeom prst="rect">
            <a:avLst/>
          </a:prstGeom>
          <a:noFill/>
          <a:ln>
            <a:noFill/>
          </a:ln>
        </p:spPr>
        <p:txBody>
          <a:bodyPr anchorCtr="0" anchor="t" bIns="0" lIns="0" spcFirstLastPara="1" rIns="0" wrap="square" tIns="0">
            <a:spAutoFit/>
          </a:bodyPr>
          <a:lstStyle/>
          <a:p>
            <a:pPr indent="0" lvl="0" marL="0" marR="0" rtl="0" algn="ctr">
              <a:lnSpc>
                <a:spcPct val="138013"/>
              </a:lnSpc>
              <a:spcBef>
                <a:spcPts val="0"/>
              </a:spcBef>
              <a:spcAft>
                <a:spcPts val="0"/>
              </a:spcAft>
              <a:buClr>
                <a:srgbClr val="000000"/>
              </a:buClr>
              <a:buSzPts val="2457"/>
              <a:buFont typeface="Arial"/>
              <a:buNone/>
            </a:pPr>
            <a:r>
              <a:rPr b="1" i="0" lang="en-US" sz="2457" u="none" cap="none" strike="noStrike">
                <a:solidFill>
                  <a:srgbClr val="051D40"/>
                </a:solidFill>
                <a:latin typeface="DM Sans"/>
                <a:ea typeface="DM Sans"/>
                <a:cs typeface="DM Sans"/>
                <a:sym typeface="DM Sans"/>
              </a:rPr>
              <a:t>Pruebas en Entornos Realistas</a:t>
            </a:r>
            <a:endParaRPr b="0" i="0" sz="1400" u="none" cap="none" strike="noStrike">
              <a:solidFill>
                <a:srgbClr val="000000"/>
              </a:solidFill>
              <a:latin typeface="Arial"/>
              <a:ea typeface="Arial"/>
              <a:cs typeface="Arial"/>
              <a:sym typeface="Arial"/>
            </a:endParaRPr>
          </a:p>
        </p:txBody>
      </p:sp>
      <p:sp>
        <p:nvSpPr>
          <p:cNvPr id="275" name="Google Shape;275;p6"/>
          <p:cNvSpPr/>
          <p:nvPr/>
        </p:nvSpPr>
        <p:spPr>
          <a:xfrm>
            <a:off x="6694069" y="3428600"/>
            <a:ext cx="821455" cy="821455"/>
          </a:xfrm>
          <a:custGeom>
            <a:rect b="b" l="l" r="r" t="t"/>
            <a:pathLst>
              <a:path extrusionOk="0" h="821455" w="821455">
                <a:moveTo>
                  <a:pt x="0" y="0"/>
                </a:moveTo>
                <a:lnTo>
                  <a:pt x="821455" y="0"/>
                </a:lnTo>
                <a:lnTo>
                  <a:pt x="821455" y="821455"/>
                </a:lnTo>
                <a:lnTo>
                  <a:pt x="0" y="821455"/>
                </a:lnTo>
                <a:lnTo>
                  <a:pt x="0" y="0"/>
                </a:lnTo>
                <a:close/>
              </a:path>
            </a:pathLst>
          </a:custGeom>
          <a:blipFill rotWithShape="1">
            <a:blip r:embed="rId3">
              <a:alphaModFix/>
            </a:blip>
            <a:stretch>
              <a:fillRect b="0" l="0" r="0" t="0"/>
            </a:stretch>
          </a:blipFill>
          <a:ln>
            <a:noFill/>
          </a:ln>
        </p:spPr>
      </p:sp>
      <p:sp>
        <p:nvSpPr>
          <p:cNvPr id="276" name="Google Shape;276;p6"/>
          <p:cNvSpPr txBox="1"/>
          <p:nvPr/>
        </p:nvSpPr>
        <p:spPr>
          <a:xfrm>
            <a:off x="6916181" y="2426733"/>
            <a:ext cx="3775934" cy="477597"/>
          </a:xfrm>
          <a:prstGeom prst="rect">
            <a:avLst/>
          </a:prstGeom>
          <a:noFill/>
          <a:ln>
            <a:noFill/>
          </a:ln>
        </p:spPr>
        <p:txBody>
          <a:bodyPr anchorCtr="0" anchor="t" bIns="0" lIns="0" spcFirstLastPara="1" rIns="0" wrap="square" tIns="0">
            <a:spAutoFit/>
          </a:bodyPr>
          <a:lstStyle/>
          <a:p>
            <a:pPr indent="0" lvl="0" marL="0" marR="0" rtl="0" algn="ctr">
              <a:lnSpc>
                <a:spcPct val="138011"/>
              </a:lnSpc>
              <a:spcBef>
                <a:spcPts val="0"/>
              </a:spcBef>
              <a:spcAft>
                <a:spcPts val="0"/>
              </a:spcAft>
              <a:buClr>
                <a:srgbClr val="000000"/>
              </a:buClr>
              <a:buSzPts val="2857"/>
              <a:buFont typeface="Arial"/>
              <a:buNone/>
            </a:pPr>
            <a:r>
              <a:rPr b="1" i="0" lang="en-US" sz="2857" u="none" cap="none" strike="noStrike">
                <a:solidFill>
                  <a:srgbClr val="051D40"/>
                </a:solidFill>
                <a:latin typeface="DM Sans"/>
                <a:ea typeface="DM Sans"/>
                <a:cs typeface="DM Sans"/>
                <a:sym typeface="DM Sans"/>
              </a:rPr>
              <a:t>Medición y Métricas</a:t>
            </a:r>
            <a:endParaRPr b="0" i="0" sz="1400" u="none" cap="none" strike="noStrike">
              <a:solidFill>
                <a:srgbClr val="000000"/>
              </a:solidFill>
              <a:latin typeface="Arial"/>
              <a:ea typeface="Arial"/>
              <a:cs typeface="Arial"/>
              <a:sym typeface="Arial"/>
            </a:endParaRPr>
          </a:p>
        </p:txBody>
      </p:sp>
      <p:sp>
        <p:nvSpPr>
          <p:cNvPr id="277" name="Google Shape;277;p6"/>
          <p:cNvSpPr txBox="1"/>
          <p:nvPr/>
        </p:nvSpPr>
        <p:spPr>
          <a:xfrm>
            <a:off x="1313374" y="309508"/>
            <a:ext cx="13726645" cy="730377"/>
          </a:xfrm>
          <a:prstGeom prst="rect">
            <a:avLst/>
          </a:prstGeom>
          <a:noFill/>
          <a:ln>
            <a:noFill/>
          </a:ln>
        </p:spPr>
        <p:txBody>
          <a:bodyPr anchorCtr="0" anchor="t" bIns="0" lIns="0" spcFirstLastPara="1" rIns="0" wrap="square" tIns="0">
            <a:spAutoFit/>
          </a:bodyPr>
          <a:lstStyle/>
          <a:p>
            <a:pPr indent="0" lvl="0" marL="0" marR="0" rtl="0" algn="l">
              <a:lnSpc>
                <a:spcPct val="138000"/>
              </a:lnSpc>
              <a:spcBef>
                <a:spcPts val="0"/>
              </a:spcBef>
              <a:spcAft>
                <a:spcPts val="0"/>
              </a:spcAft>
              <a:buClr>
                <a:srgbClr val="000000"/>
              </a:buClr>
              <a:buSzPts val="4300"/>
              <a:buFont typeface="Arial"/>
              <a:buNone/>
            </a:pPr>
            <a:r>
              <a:rPr b="1" i="0" lang="en-US" sz="4300" u="none" cap="none" strike="noStrike">
                <a:solidFill>
                  <a:srgbClr val="FFFFFF"/>
                </a:solidFill>
                <a:latin typeface="DM Sans"/>
                <a:ea typeface="DM Sans"/>
                <a:cs typeface="DM Sans"/>
                <a:sym typeface="DM Sans"/>
              </a:rPr>
              <a:t>Principios Clave</a:t>
            </a:r>
            <a:endParaRPr b="0" i="0" sz="1400" u="none" cap="none" strike="noStrike">
              <a:solidFill>
                <a:srgbClr val="000000"/>
              </a:solidFill>
              <a:latin typeface="Arial"/>
              <a:ea typeface="Arial"/>
              <a:cs typeface="Arial"/>
              <a:sym typeface="Arial"/>
            </a:endParaRPr>
          </a:p>
        </p:txBody>
      </p:sp>
      <p:sp>
        <p:nvSpPr>
          <p:cNvPr id="278" name="Google Shape;278;p6"/>
          <p:cNvSpPr txBox="1"/>
          <p:nvPr/>
        </p:nvSpPr>
        <p:spPr>
          <a:xfrm>
            <a:off x="7699167" y="4580736"/>
            <a:ext cx="3538773" cy="891744"/>
          </a:xfrm>
          <a:prstGeom prst="rect">
            <a:avLst/>
          </a:prstGeom>
          <a:noFill/>
          <a:ln>
            <a:noFill/>
          </a:ln>
        </p:spPr>
        <p:txBody>
          <a:bodyPr anchorCtr="0" anchor="t" bIns="0" lIns="0" spcFirstLastPara="1" rIns="0" wrap="square" tIns="0">
            <a:spAutoFit/>
          </a:bodyPr>
          <a:lstStyle/>
          <a:p>
            <a:pPr indent="0" lvl="0" marL="0" marR="0" rtl="0" algn="ctr">
              <a:lnSpc>
                <a:spcPct val="138012"/>
              </a:lnSpc>
              <a:spcBef>
                <a:spcPts val="0"/>
              </a:spcBef>
              <a:spcAft>
                <a:spcPts val="0"/>
              </a:spcAft>
              <a:buClr>
                <a:srgbClr val="000000"/>
              </a:buClr>
              <a:buSzPts val="2657"/>
              <a:buFont typeface="Arial"/>
              <a:buNone/>
            </a:pPr>
            <a:r>
              <a:rPr b="1" i="0" lang="en-US" sz="2657" u="none" cap="none" strike="noStrike">
                <a:solidFill>
                  <a:srgbClr val="051D40"/>
                </a:solidFill>
                <a:latin typeface="DM Sans"/>
                <a:ea typeface="DM Sans"/>
                <a:cs typeface="DM Sans"/>
                <a:sym typeface="DM Sans"/>
              </a:rPr>
              <a:t>Evaluación Temprana y Continua</a:t>
            </a:r>
            <a:endParaRPr b="0" i="0" sz="1400" u="none" cap="none" strike="noStrike">
              <a:solidFill>
                <a:srgbClr val="000000"/>
              </a:solidFill>
              <a:latin typeface="Arial"/>
              <a:ea typeface="Arial"/>
              <a:cs typeface="Arial"/>
              <a:sym typeface="Arial"/>
            </a:endParaRPr>
          </a:p>
        </p:txBody>
      </p:sp>
      <p:sp>
        <p:nvSpPr>
          <p:cNvPr id="279" name="Google Shape;279;p6"/>
          <p:cNvSpPr txBox="1"/>
          <p:nvPr/>
        </p:nvSpPr>
        <p:spPr>
          <a:xfrm>
            <a:off x="7104796" y="5744439"/>
            <a:ext cx="2745282" cy="1054050"/>
          </a:xfrm>
          <a:prstGeom prst="rect">
            <a:avLst/>
          </a:prstGeom>
          <a:noFill/>
          <a:ln>
            <a:noFill/>
          </a:ln>
        </p:spPr>
        <p:txBody>
          <a:bodyPr anchorCtr="0" anchor="t" bIns="0" lIns="0" spcFirstLastPara="1" rIns="0" wrap="square" tIns="0">
            <a:spAutoFit/>
          </a:bodyPr>
          <a:lstStyle/>
          <a:p>
            <a:pPr indent="0" lvl="0" marL="0" marR="0" rtl="0" algn="ctr">
              <a:lnSpc>
                <a:spcPct val="138011"/>
              </a:lnSpc>
              <a:spcBef>
                <a:spcPts val="0"/>
              </a:spcBef>
              <a:spcAft>
                <a:spcPts val="0"/>
              </a:spcAft>
              <a:buClr>
                <a:srgbClr val="000000"/>
              </a:buClr>
              <a:buSzPts val="3057"/>
              <a:buFont typeface="Arial"/>
              <a:buNone/>
            </a:pPr>
            <a:r>
              <a:rPr b="1" i="0" lang="en-US" sz="3057" u="none" cap="none" strike="noStrike">
                <a:solidFill>
                  <a:srgbClr val="051D40"/>
                </a:solidFill>
                <a:latin typeface="DM Sans"/>
                <a:ea typeface="DM Sans"/>
                <a:cs typeface="DM Sans"/>
                <a:sym typeface="DM Sans"/>
              </a:rPr>
              <a:t>Tipos comunes</a:t>
            </a:r>
            <a:endParaRPr b="0" i="0" sz="1400" u="none" cap="none" strike="noStrike">
              <a:solidFill>
                <a:srgbClr val="000000"/>
              </a:solidFill>
              <a:latin typeface="Arial"/>
              <a:ea typeface="Arial"/>
              <a:cs typeface="Arial"/>
              <a:sym typeface="Arial"/>
            </a:endParaRPr>
          </a:p>
        </p:txBody>
      </p:sp>
      <p:sp>
        <p:nvSpPr>
          <p:cNvPr id="280" name="Google Shape;280;p6"/>
          <p:cNvSpPr txBox="1"/>
          <p:nvPr/>
        </p:nvSpPr>
        <p:spPr>
          <a:xfrm>
            <a:off x="1028700" y="2300130"/>
            <a:ext cx="4490889" cy="2121727"/>
          </a:xfrm>
          <a:prstGeom prst="rect">
            <a:avLst/>
          </a:prstGeom>
          <a:noFill/>
          <a:ln>
            <a:noFill/>
          </a:ln>
        </p:spPr>
        <p:txBody>
          <a:bodyPr anchorCtr="0" anchor="t" bIns="0" lIns="0" spcFirstLastPara="1" rIns="0" wrap="square" tIns="0">
            <a:spAutoFit/>
          </a:bodyPr>
          <a:lstStyle/>
          <a:p>
            <a:pPr indent="0" lvl="0" marL="0" marR="0" rtl="0" algn="r">
              <a:lnSpc>
                <a:spcPct val="137987"/>
              </a:lnSpc>
              <a:spcBef>
                <a:spcPts val="0"/>
              </a:spcBef>
              <a:spcAft>
                <a:spcPts val="0"/>
              </a:spcAft>
              <a:buClr>
                <a:srgbClr val="000000"/>
              </a:buClr>
              <a:buSzPts val="1769"/>
              <a:buFont typeface="Arial"/>
              <a:buNone/>
            </a:pPr>
            <a:r>
              <a:rPr b="0" i="0" lang="en-US" sz="1769" u="none" cap="none" strike="noStrike">
                <a:solidFill>
                  <a:srgbClr val="FFFFFF"/>
                </a:solidFill>
                <a:latin typeface="DM Sans"/>
                <a:ea typeface="DM Sans"/>
                <a:cs typeface="DM Sans"/>
                <a:sym typeface="DM Sans"/>
              </a:rPr>
              <a:t>Los resultados de las pruebas solo son válidos si se ejecutan en un entorno que simula fielmente el entorno de producción. Si las pruebas se realizan en un entorno de desarrollo con pocos recursos, los resultados no serán representativos de lo que ocurrirá en el entorno de producción.</a:t>
            </a:r>
            <a:endParaRPr b="0" i="0" sz="1400" u="none" cap="none" strike="noStrike">
              <a:solidFill>
                <a:srgbClr val="000000"/>
              </a:solidFill>
              <a:latin typeface="Arial"/>
              <a:ea typeface="Arial"/>
              <a:cs typeface="Arial"/>
              <a:sym typeface="Arial"/>
            </a:endParaRPr>
          </a:p>
        </p:txBody>
      </p:sp>
      <p:sp>
        <p:nvSpPr>
          <p:cNvPr id="281" name="Google Shape;281;p6"/>
          <p:cNvSpPr txBox="1"/>
          <p:nvPr/>
        </p:nvSpPr>
        <p:spPr>
          <a:xfrm>
            <a:off x="11885148" y="4064092"/>
            <a:ext cx="4998190" cy="1419163"/>
          </a:xfrm>
          <a:prstGeom prst="rect">
            <a:avLst/>
          </a:prstGeom>
          <a:noFill/>
          <a:ln>
            <a:noFill/>
          </a:ln>
        </p:spPr>
        <p:txBody>
          <a:bodyPr anchorCtr="0" anchor="t" bIns="0" lIns="0" spcFirstLastPara="1" rIns="0" wrap="square" tIns="0">
            <a:spAutoFit/>
          </a:bodyPr>
          <a:lstStyle/>
          <a:p>
            <a:pPr indent="0" lvl="0" marL="0" marR="0" rtl="0" algn="l">
              <a:lnSpc>
                <a:spcPct val="137986"/>
              </a:lnSpc>
              <a:spcBef>
                <a:spcPts val="0"/>
              </a:spcBef>
              <a:spcAft>
                <a:spcPts val="0"/>
              </a:spcAft>
              <a:buClr>
                <a:srgbClr val="000000"/>
              </a:buClr>
              <a:buSzPts val="1669"/>
              <a:buFont typeface="Arial"/>
              <a:buNone/>
            </a:pPr>
            <a:r>
              <a:rPr b="0" i="0" lang="en-US" sz="1669" u="none" cap="none" strike="noStrike">
                <a:solidFill>
                  <a:srgbClr val="FFFFFF"/>
                </a:solidFill>
                <a:latin typeface="DM Sans"/>
                <a:ea typeface="DM Sans"/>
                <a:cs typeface="DM Sans"/>
                <a:sym typeface="DM Sans"/>
              </a:rPr>
              <a:t> Los problemas no funcionales son a menudo difíciles y costosos de solucionar si se descubren tarde. Por ello, es crucial empezar a considerar y planificar estas pruebas desde las primeras etapas del ciclo de vida del desarrollo de software.</a:t>
            </a:r>
            <a:endParaRPr b="0" i="0" sz="1400" u="none" cap="none" strike="noStrike">
              <a:solidFill>
                <a:srgbClr val="000000"/>
              </a:solidFill>
              <a:latin typeface="Arial"/>
              <a:ea typeface="Arial"/>
              <a:cs typeface="Arial"/>
              <a:sym typeface="Arial"/>
            </a:endParaRPr>
          </a:p>
        </p:txBody>
      </p:sp>
      <p:sp>
        <p:nvSpPr>
          <p:cNvPr id="282" name="Google Shape;282;p6"/>
          <p:cNvSpPr txBox="1"/>
          <p:nvPr/>
        </p:nvSpPr>
        <p:spPr>
          <a:xfrm>
            <a:off x="1606455" y="5454680"/>
            <a:ext cx="4372865" cy="2121727"/>
          </a:xfrm>
          <a:prstGeom prst="rect">
            <a:avLst/>
          </a:prstGeom>
          <a:noFill/>
          <a:ln>
            <a:noFill/>
          </a:ln>
        </p:spPr>
        <p:txBody>
          <a:bodyPr anchorCtr="0" anchor="t" bIns="0" lIns="0" spcFirstLastPara="1" rIns="0" wrap="square" tIns="0">
            <a:spAutoFit/>
          </a:bodyPr>
          <a:lstStyle/>
          <a:p>
            <a:pPr indent="0" lvl="0" marL="0" marR="0" rtl="0" algn="r">
              <a:lnSpc>
                <a:spcPct val="137987"/>
              </a:lnSpc>
              <a:spcBef>
                <a:spcPts val="0"/>
              </a:spcBef>
              <a:spcAft>
                <a:spcPts val="0"/>
              </a:spcAft>
              <a:buClr>
                <a:srgbClr val="000000"/>
              </a:buClr>
              <a:buSzPts val="1769"/>
              <a:buFont typeface="Arial"/>
              <a:buNone/>
            </a:pPr>
            <a:r>
              <a:rPr b="0" i="0" lang="en-US" sz="1769" u="none" cap="none" strike="noStrike">
                <a:solidFill>
                  <a:srgbClr val="FFFFFF"/>
                </a:solidFill>
                <a:latin typeface="DM Sans"/>
                <a:ea typeface="DM Sans"/>
                <a:cs typeface="DM Sans"/>
                <a:sym typeface="DM Sans"/>
              </a:rPr>
              <a:t>Los objetivos de las pruebas no funcionales deben estar alineados con las expectativas del negocio. Por ejemplo, una aplicación para un evento masivo necesita un enfoque en la escalabilidad, mientras que un sistema bancario requiere un enfoque en la seguridad.</a:t>
            </a:r>
            <a:endParaRPr b="0" i="0" sz="1400" u="none" cap="none" strike="noStrike">
              <a:solidFill>
                <a:srgbClr val="000000"/>
              </a:solidFill>
              <a:latin typeface="Arial"/>
              <a:ea typeface="Arial"/>
              <a:cs typeface="Arial"/>
              <a:sym typeface="Arial"/>
            </a:endParaRPr>
          </a:p>
        </p:txBody>
      </p:sp>
      <p:sp>
        <p:nvSpPr>
          <p:cNvPr id="283" name="Google Shape;283;p6"/>
          <p:cNvSpPr/>
          <p:nvPr/>
        </p:nvSpPr>
        <p:spPr>
          <a:xfrm>
            <a:off x="-2519628" y="7712017"/>
            <a:ext cx="6602062" cy="6602062"/>
          </a:xfrm>
          <a:custGeom>
            <a:rect b="b" l="l" r="r" t="t"/>
            <a:pathLst>
              <a:path extrusionOk="0" h="6602062" w="6602062">
                <a:moveTo>
                  <a:pt x="0" y="0"/>
                </a:moveTo>
                <a:lnTo>
                  <a:pt x="6602062" y="0"/>
                </a:lnTo>
                <a:lnTo>
                  <a:pt x="6602062" y="6602062"/>
                </a:lnTo>
                <a:lnTo>
                  <a:pt x="0" y="6602062"/>
                </a:lnTo>
                <a:lnTo>
                  <a:pt x="0" y="0"/>
                </a:lnTo>
                <a:close/>
              </a:path>
            </a:pathLst>
          </a:custGeom>
          <a:blipFill rotWithShape="1">
            <a:blip r:embed="rId4">
              <a:alphaModFix/>
            </a:blip>
            <a:stretch>
              <a:fillRect b="0" l="0" r="0" t="0"/>
            </a:stretch>
          </a:blipFill>
          <a:ln>
            <a:noFill/>
          </a:ln>
        </p:spPr>
      </p:sp>
      <p:sp>
        <p:nvSpPr>
          <p:cNvPr id="284" name="Google Shape;284;p6"/>
          <p:cNvSpPr/>
          <p:nvPr/>
        </p:nvSpPr>
        <p:spPr>
          <a:xfrm rot="10436461">
            <a:off x="14111851" y="-3920191"/>
            <a:ext cx="6294897" cy="6294897"/>
          </a:xfrm>
          <a:custGeom>
            <a:rect b="b" l="l" r="r" t="t"/>
            <a:pathLst>
              <a:path extrusionOk="0" h="6294897" w="6294897">
                <a:moveTo>
                  <a:pt x="0" y="0"/>
                </a:moveTo>
                <a:lnTo>
                  <a:pt x="6294898" y="0"/>
                </a:lnTo>
                <a:lnTo>
                  <a:pt x="6294898" y="6294898"/>
                </a:lnTo>
                <a:lnTo>
                  <a:pt x="0" y="6294898"/>
                </a:lnTo>
                <a:lnTo>
                  <a:pt x="0" y="0"/>
                </a:lnTo>
                <a:close/>
              </a:path>
            </a:pathLst>
          </a:custGeom>
          <a:blipFill rotWithShape="1">
            <a:blip r:embed="rId4">
              <a:alphaModFix/>
            </a:blip>
            <a:stretch>
              <a:fillRect b="0" l="0" r="0" t="0"/>
            </a:stretch>
          </a:blipFill>
          <a:ln>
            <a:noFill/>
          </a:ln>
        </p:spPr>
      </p:sp>
      <p:sp>
        <p:nvSpPr>
          <p:cNvPr id="285" name="Google Shape;285;p6"/>
          <p:cNvSpPr txBox="1"/>
          <p:nvPr/>
        </p:nvSpPr>
        <p:spPr>
          <a:xfrm>
            <a:off x="11376508" y="1750489"/>
            <a:ext cx="6084040" cy="1419163"/>
          </a:xfrm>
          <a:prstGeom prst="rect">
            <a:avLst/>
          </a:prstGeom>
          <a:noFill/>
          <a:ln>
            <a:noFill/>
          </a:ln>
        </p:spPr>
        <p:txBody>
          <a:bodyPr anchorCtr="0" anchor="t" bIns="0" lIns="0" spcFirstLastPara="1" rIns="0" wrap="square" tIns="0">
            <a:spAutoFit/>
          </a:bodyPr>
          <a:lstStyle/>
          <a:p>
            <a:pPr indent="0" lvl="0" marL="0" marR="0" rtl="0" algn="l">
              <a:lnSpc>
                <a:spcPct val="137986"/>
              </a:lnSpc>
              <a:spcBef>
                <a:spcPts val="0"/>
              </a:spcBef>
              <a:spcAft>
                <a:spcPts val="0"/>
              </a:spcAft>
              <a:buClr>
                <a:srgbClr val="000000"/>
              </a:buClr>
              <a:buSzPts val="1669"/>
              <a:buFont typeface="Arial"/>
              <a:buNone/>
            </a:pPr>
            <a:r>
              <a:rPr b="0" i="0" lang="en-US" sz="1669" u="none" cap="none" strike="noStrike">
                <a:solidFill>
                  <a:srgbClr val="FFFFFF"/>
                </a:solidFill>
                <a:latin typeface="DM Sans"/>
                <a:ea typeface="DM Sans"/>
                <a:cs typeface="DM Sans"/>
                <a:sym typeface="DM Sans"/>
              </a:rPr>
              <a:t> Las pruebas no funcionales se basan en datos cuantificables. No es suficiente decir que un sistema es "rápido"; es necesario definir una métrica, como "el tiempo de respuesta de la página de inicio de sesión no debe exceder los 2 segundos".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289" name="Shape 289"/>
        <p:cNvGrpSpPr/>
        <p:nvPr/>
      </p:nvGrpSpPr>
      <p:grpSpPr>
        <a:xfrm>
          <a:off x="0" y="0"/>
          <a:ext cx="0" cy="0"/>
          <a:chOff x="0" y="0"/>
          <a:chExt cx="0" cy="0"/>
        </a:xfrm>
      </p:grpSpPr>
      <p:sp>
        <p:nvSpPr>
          <p:cNvPr id="290" name="Google Shape;290;p7"/>
          <p:cNvSpPr/>
          <p:nvPr/>
        </p:nvSpPr>
        <p:spPr>
          <a:xfrm>
            <a:off x="6694069" y="3428600"/>
            <a:ext cx="821455" cy="821455"/>
          </a:xfrm>
          <a:custGeom>
            <a:rect b="b" l="l" r="r" t="t"/>
            <a:pathLst>
              <a:path extrusionOk="0" h="821455" w="821455">
                <a:moveTo>
                  <a:pt x="0" y="0"/>
                </a:moveTo>
                <a:lnTo>
                  <a:pt x="821455" y="0"/>
                </a:lnTo>
                <a:lnTo>
                  <a:pt x="821455" y="821455"/>
                </a:lnTo>
                <a:lnTo>
                  <a:pt x="0" y="821455"/>
                </a:lnTo>
                <a:lnTo>
                  <a:pt x="0" y="0"/>
                </a:lnTo>
                <a:close/>
              </a:path>
            </a:pathLst>
          </a:custGeom>
          <a:blipFill rotWithShape="1">
            <a:blip r:embed="rId3">
              <a:alphaModFix/>
            </a:blip>
            <a:stretch>
              <a:fillRect b="0" l="0" r="0" t="0"/>
            </a:stretch>
          </a:blipFill>
          <a:ln>
            <a:noFill/>
          </a:ln>
        </p:spPr>
      </p:sp>
      <p:sp>
        <p:nvSpPr>
          <p:cNvPr id="291" name="Google Shape;291;p7"/>
          <p:cNvSpPr txBox="1"/>
          <p:nvPr/>
        </p:nvSpPr>
        <p:spPr>
          <a:xfrm>
            <a:off x="1313374" y="309508"/>
            <a:ext cx="13726645" cy="1482852"/>
          </a:xfrm>
          <a:prstGeom prst="rect">
            <a:avLst/>
          </a:prstGeom>
          <a:noFill/>
          <a:ln>
            <a:noFill/>
          </a:ln>
        </p:spPr>
        <p:txBody>
          <a:bodyPr anchorCtr="0" anchor="t" bIns="0" lIns="0" spcFirstLastPara="1" rIns="0" wrap="square" tIns="0">
            <a:spAutoFit/>
          </a:bodyPr>
          <a:lstStyle/>
          <a:p>
            <a:pPr indent="0" lvl="0" marL="0" marR="0" rtl="0" algn="l">
              <a:lnSpc>
                <a:spcPct val="138000"/>
              </a:lnSpc>
              <a:spcBef>
                <a:spcPts val="0"/>
              </a:spcBef>
              <a:spcAft>
                <a:spcPts val="0"/>
              </a:spcAft>
              <a:buClr>
                <a:srgbClr val="000000"/>
              </a:buClr>
              <a:buSzPts val="4300"/>
              <a:buFont typeface="Arial"/>
              <a:buNone/>
            </a:pPr>
            <a:r>
              <a:rPr b="1" i="0" lang="en-US" sz="4300" u="none" cap="none" strike="noStrike">
                <a:solidFill>
                  <a:srgbClr val="FFFFFF"/>
                </a:solidFill>
                <a:latin typeface="DM Sans"/>
                <a:ea typeface="DM Sans"/>
                <a:cs typeface="DM Sans"/>
                <a:sym typeface="DM Sans"/>
              </a:rPr>
              <a:t>Importancia dentro de una arquitectura de software</a:t>
            </a:r>
            <a:endParaRPr b="0" i="0" sz="1400" u="none" cap="none" strike="noStrike">
              <a:solidFill>
                <a:srgbClr val="000000"/>
              </a:solidFill>
              <a:latin typeface="Arial"/>
              <a:ea typeface="Arial"/>
              <a:cs typeface="Arial"/>
              <a:sym typeface="Arial"/>
            </a:endParaRPr>
          </a:p>
        </p:txBody>
      </p:sp>
      <p:sp>
        <p:nvSpPr>
          <p:cNvPr id="292" name="Google Shape;292;p7"/>
          <p:cNvSpPr txBox="1"/>
          <p:nvPr/>
        </p:nvSpPr>
        <p:spPr>
          <a:xfrm>
            <a:off x="1196391" y="1944759"/>
            <a:ext cx="15895219" cy="7600327"/>
          </a:xfrm>
          <a:prstGeom prst="rect">
            <a:avLst/>
          </a:prstGeom>
          <a:noFill/>
          <a:ln>
            <a:noFill/>
          </a:ln>
        </p:spPr>
        <p:txBody>
          <a:bodyPr anchorCtr="0" anchor="t" bIns="0" lIns="0" spcFirstLastPara="1" rIns="0" wrap="square" tIns="0">
            <a:spAutoFit/>
          </a:bodyPr>
          <a:lstStyle/>
          <a:p>
            <a:pPr indent="-227836" lvl="1" marL="455672" marR="0" rtl="0" algn="just">
              <a:lnSpc>
                <a:spcPct val="138009"/>
              </a:lnSpc>
              <a:spcBef>
                <a:spcPts val="0"/>
              </a:spcBef>
              <a:spcAft>
                <a:spcPts val="0"/>
              </a:spcAft>
              <a:buClr>
                <a:srgbClr val="FFFFFF"/>
              </a:buClr>
              <a:buSzPts val="2110"/>
              <a:buFont typeface="Arial"/>
              <a:buChar char="•"/>
            </a:pPr>
            <a:r>
              <a:rPr b="0" i="0" lang="en-US" sz="2110" u="none" cap="none" strike="noStrike">
                <a:solidFill>
                  <a:srgbClr val="FFFFFF"/>
                </a:solidFill>
                <a:latin typeface="DM Sans"/>
                <a:ea typeface="DM Sans"/>
                <a:cs typeface="DM Sans"/>
                <a:sym typeface="DM Sans"/>
              </a:rPr>
              <a:t>La importancia de las pruebas no funcionales dentro de una arquitectura de software es crucial, ya que se enfocan en los atributos de calidad que determinan si el sistema será exitoso en el mundo real, más allá de que sus funcionalidades básicas operen correctamente. Su aplicabilidad es transversal y debe ser considerada desde las fases más tempranas del diseño arquitectónico.</a:t>
            </a:r>
            <a:endParaRPr b="0" i="0" sz="1400" u="none" cap="none" strike="noStrike">
              <a:solidFill>
                <a:srgbClr val="000000"/>
              </a:solidFill>
              <a:latin typeface="Arial"/>
              <a:ea typeface="Arial"/>
              <a:cs typeface="Arial"/>
              <a:sym typeface="Arial"/>
            </a:endParaRPr>
          </a:p>
          <a:p>
            <a:pPr indent="-93851" lvl="1" marL="455672" marR="0" rtl="0" algn="just">
              <a:lnSpc>
                <a:spcPct val="138009"/>
              </a:lnSpc>
              <a:spcBef>
                <a:spcPts val="0"/>
              </a:spcBef>
              <a:spcAft>
                <a:spcPts val="0"/>
              </a:spcAft>
              <a:buClr>
                <a:schemeClr val="dk1"/>
              </a:buClr>
              <a:buSzPts val="2110"/>
              <a:buFont typeface="Arial"/>
              <a:buNone/>
            </a:pPr>
            <a:r>
              <a:t/>
            </a:r>
            <a:endParaRPr b="0" i="0" sz="2110" u="none" cap="none" strike="noStrike">
              <a:solidFill>
                <a:srgbClr val="FFFFFF"/>
              </a:solidFill>
              <a:latin typeface="DM Sans"/>
              <a:ea typeface="DM Sans"/>
              <a:cs typeface="DM Sans"/>
              <a:sym typeface="DM Sans"/>
            </a:endParaRPr>
          </a:p>
          <a:p>
            <a:pPr indent="-227836" lvl="1" marL="455672" marR="0" rtl="0" algn="just">
              <a:lnSpc>
                <a:spcPct val="138009"/>
              </a:lnSpc>
              <a:spcBef>
                <a:spcPts val="0"/>
              </a:spcBef>
              <a:spcAft>
                <a:spcPts val="0"/>
              </a:spcAft>
              <a:buClr>
                <a:srgbClr val="FFFFFF"/>
              </a:buClr>
              <a:buSzPts val="2110"/>
              <a:buFont typeface="Arial"/>
              <a:buChar char="•"/>
            </a:pPr>
            <a:r>
              <a:rPr b="0" i="0" lang="en-US" sz="2110" u="none" cap="none" strike="noStrike">
                <a:solidFill>
                  <a:srgbClr val="FFFFFF"/>
                </a:solidFill>
                <a:latin typeface="DM Sans"/>
                <a:ea typeface="DM Sans"/>
                <a:cs typeface="DM Sans"/>
                <a:sym typeface="DM Sans"/>
              </a:rPr>
              <a:t>Importancia</a:t>
            </a:r>
            <a:endParaRPr b="0" i="0" sz="1400" u="none" cap="none" strike="noStrike">
              <a:solidFill>
                <a:srgbClr val="000000"/>
              </a:solidFill>
              <a:latin typeface="Arial"/>
              <a:ea typeface="Arial"/>
              <a:cs typeface="Arial"/>
              <a:sym typeface="Arial"/>
            </a:endParaRPr>
          </a:p>
          <a:p>
            <a:pPr indent="-93851" lvl="1" marL="455672" marR="0" rtl="0" algn="just">
              <a:lnSpc>
                <a:spcPct val="138009"/>
              </a:lnSpc>
              <a:spcBef>
                <a:spcPts val="0"/>
              </a:spcBef>
              <a:spcAft>
                <a:spcPts val="0"/>
              </a:spcAft>
              <a:buClr>
                <a:schemeClr val="dk1"/>
              </a:buClr>
              <a:buSzPts val="2110"/>
              <a:buFont typeface="Arial"/>
              <a:buNone/>
            </a:pPr>
            <a:r>
              <a:t/>
            </a:r>
            <a:endParaRPr b="0" i="0" sz="2110" u="none" cap="none" strike="noStrike">
              <a:solidFill>
                <a:srgbClr val="FFFFFF"/>
              </a:solidFill>
              <a:latin typeface="DM Sans"/>
              <a:ea typeface="DM Sans"/>
              <a:cs typeface="DM Sans"/>
              <a:sym typeface="DM Sans"/>
            </a:endParaRPr>
          </a:p>
          <a:p>
            <a:pPr indent="-227836" lvl="1" marL="455672" marR="0" rtl="0" algn="just">
              <a:lnSpc>
                <a:spcPct val="138009"/>
              </a:lnSpc>
              <a:spcBef>
                <a:spcPts val="0"/>
              </a:spcBef>
              <a:spcAft>
                <a:spcPts val="0"/>
              </a:spcAft>
              <a:buClr>
                <a:srgbClr val="FFFFFF"/>
              </a:buClr>
              <a:buSzPts val="2110"/>
              <a:buFont typeface="Arial"/>
              <a:buChar char="•"/>
            </a:pPr>
            <a:r>
              <a:rPr b="0" i="0" lang="en-US" sz="2110" u="none" cap="none" strike="noStrike">
                <a:solidFill>
                  <a:srgbClr val="FFFFFF"/>
                </a:solidFill>
                <a:latin typeface="DM Sans"/>
                <a:ea typeface="DM Sans"/>
                <a:cs typeface="DM Sans"/>
                <a:sym typeface="DM Sans"/>
              </a:rPr>
              <a:t>Satisfacción del usuario final: Un software que cumple todas sus funciones, pero es lento o inestable, genera una mala experiencia de usuario. Las pruebas no funcionales aseguran que la aplicación sea rápida, fiable y fácil de usar, lo cual es clave para la retención de clientes y la reputación de la marca.</a:t>
            </a:r>
            <a:endParaRPr b="0" i="0" sz="1400" u="none" cap="none" strike="noStrike">
              <a:solidFill>
                <a:srgbClr val="000000"/>
              </a:solidFill>
              <a:latin typeface="Arial"/>
              <a:ea typeface="Arial"/>
              <a:cs typeface="Arial"/>
              <a:sym typeface="Arial"/>
            </a:endParaRPr>
          </a:p>
          <a:p>
            <a:pPr indent="-227836" lvl="1" marL="455672" marR="0" rtl="0" algn="just">
              <a:lnSpc>
                <a:spcPct val="138009"/>
              </a:lnSpc>
              <a:spcBef>
                <a:spcPts val="0"/>
              </a:spcBef>
              <a:spcAft>
                <a:spcPts val="0"/>
              </a:spcAft>
              <a:buClr>
                <a:srgbClr val="FFFFFF"/>
              </a:buClr>
              <a:buSzPts val="2110"/>
              <a:buFont typeface="Arial"/>
              <a:buChar char="•"/>
            </a:pPr>
            <a:r>
              <a:rPr b="0" i="0" lang="en-US" sz="2110" u="none" cap="none" strike="noStrike">
                <a:solidFill>
                  <a:srgbClr val="FFFFFF"/>
                </a:solidFill>
                <a:latin typeface="DM Sans"/>
                <a:ea typeface="DM Sans"/>
                <a:cs typeface="DM Sans"/>
                <a:sym typeface="DM Sans"/>
              </a:rPr>
              <a:t>Reducción de riesgos: Identificar problemas de rendimiento o vulnerabilidades de seguridad en las etapas iniciales del desarrollo es mucho menos costoso que solucionarlos una vez que el sistema ya está en producción. Un fallo de seguridad o una caída del sistema pueden resultar en grandes pérdidas financieras y de datos.</a:t>
            </a:r>
            <a:endParaRPr b="0" i="0" sz="1400" u="none" cap="none" strike="noStrike">
              <a:solidFill>
                <a:srgbClr val="000000"/>
              </a:solidFill>
              <a:latin typeface="Arial"/>
              <a:ea typeface="Arial"/>
              <a:cs typeface="Arial"/>
              <a:sym typeface="Arial"/>
            </a:endParaRPr>
          </a:p>
          <a:p>
            <a:pPr indent="-227836" lvl="1" marL="455672" marR="0" rtl="0" algn="just">
              <a:lnSpc>
                <a:spcPct val="138009"/>
              </a:lnSpc>
              <a:spcBef>
                <a:spcPts val="0"/>
              </a:spcBef>
              <a:spcAft>
                <a:spcPts val="0"/>
              </a:spcAft>
              <a:buClr>
                <a:srgbClr val="FFFFFF"/>
              </a:buClr>
              <a:buSzPts val="2110"/>
              <a:buFont typeface="Arial"/>
              <a:buChar char="•"/>
            </a:pPr>
            <a:r>
              <a:rPr b="0" i="0" lang="en-US" sz="2110" u="none" cap="none" strike="noStrike">
                <a:solidFill>
                  <a:srgbClr val="FFFFFF"/>
                </a:solidFill>
                <a:latin typeface="DM Sans"/>
                <a:ea typeface="DM Sans"/>
                <a:cs typeface="DM Sans"/>
                <a:sym typeface="DM Sans"/>
              </a:rPr>
              <a:t>Optimización de recursos: Permiten identificar cuellos de botella y problemas de rendimiento que podrían requerir una reestructuración de la arquitectura. Al hacerlo de forma anticipada, se puede optimizar el uso de hardware y software, evitando gastos innecesarios.</a:t>
            </a:r>
            <a:endParaRPr b="0" i="0" sz="1400" u="none" cap="none" strike="noStrike">
              <a:solidFill>
                <a:srgbClr val="000000"/>
              </a:solidFill>
              <a:latin typeface="Arial"/>
              <a:ea typeface="Arial"/>
              <a:cs typeface="Arial"/>
              <a:sym typeface="Arial"/>
            </a:endParaRPr>
          </a:p>
          <a:p>
            <a:pPr indent="-227836" lvl="1" marL="455672" marR="0" rtl="0" algn="just">
              <a:lnSpc>
                <a:spcPct val="138009"/>
              </a:lnSpc>
              <a:spcBef>
                <a:spcPts val="0"/>
              </a:spcBef>
              <a:spcAft>
                <a:spcPts val="0"/>
              </a:spcAft>
              <a:buClr>
                <a:srgbClr val="FFFFFF"/>
              </a:buClr>
              <a:buSzPts val="2110"/>
              <a:buFont typeface="Arial"/>
              <a:buChar char="•"/>
            </a:pPr>
            <a:r>
              <a:rPr b="0" i="0" lang="en-US" sz="2110" u="none" cap="none" strike="noStrike">
                <a:solidFill>
                  <a:srgbClr val="FFFFFF"/>
                </a:solidFill>
                <a:latin typeface="DM Sans"/>
                <a:ea typeface="DM Sans"/>
                <a:cs typeface="DM Sans"/>
                <a:sym typeface="DM Sans"/>
              </a:rPr>
              <a:t>Cumplimiento de requisitos: Muchos requisitos del negocio, aunque no se consideren "funcionales" directamente, son críticos para la operación. Por ejemplo, un requisito de negocio podría ser que "el sitio web debe ser capaz de manejar 10,000 usuarios simultáneos en un evento de venta". Las pruebas no funcionales son las únicas que pueden verificar este tipo de exigencias.</a:t>
            </a:r>
            <a:endParaRPr b="0" i="0" sz="1400" u="none" cap="none" strike="noStrike">
              <a:solidFill>
                <a:srgbClr val="000000"/>
              </a:solidFill>
              <a:latin typeface="Arial"/>
              <a:ea typeface="Arial"/>
              <a:cs typeface="Arial"/>
              <a:sym typeface="Arial"/>
            </a:endParaRPr>
          </a:p>
          <a:p>
            <a:pPr indent="0" lvl="0" marL="0" marR="0" rtl="0" algn="just">
              <a:lnSpc>
                <a:spcPct val="138009"/>
              </a:lnSpc>
              <a:spcBef>
                <a:spcPts val="0"/>
              </a:spcBef>
              <a:spcAft>
                <a:spcPts val="0"/>
              </a:spcAft>
              <a:buClr>
                <a:srgbClr val="000000"/>
              </a:buClr>
              <a:buSzPts val="2110"/>
              <a:buFont typeface="Arial"/>
              <a:buNone/>
            </a:pPr>
            <a:r>
              <a:t/>
            </a:r>
            <a:endParaRPr b="0" i="0" sz="2110" u="none" cap="none" strike="noStrike">
              <a:solidFill>
                <a:srgbClr val="FFFFFF"/>
              </a:solidFill>
              <a:latin typeface="DM Sans"/>
              <a:ea typeface="DM Sans"/>
              <a:cs typeface="DM Sans"/>
              <a:sym typeface="DM Sans"/>
            </a:endParaRPr>
          </a:p>
        </p:txBody>
      </p:sp>
      <p:sp>
        <p:nvSpPr>
          <p:cNvPr id="293" name="Google Shape;293;p7"/>
          <p:cNvSpPr/>
          <p:nvPr/>
        </p:nvSpPr>
        <p:spPr>
          <a:xfrm>
            <a:off x="-2519628" y="7712017"/>
            <a:ext cx="6602062" cy="6602062"/>
          </a:xfrm>
          <a:custGeom>
            <a:rect b="b" l="l" r="r" t="t"/>
            <a:pathLst>
              <a:path extrusionOk="0" h="6602062" w="6602062">
                <a:moveTo>
                  <a:pt x="0" y="0"/>
                </a:moveTo>
                <a:lnTo>
                  <a:pt x="6602062" y="0"/>
                </a:lnTo>
                <a:lnTo>
                  <a:pt x="6602062" y="6602062"/>
                </a:lnTo>
                <a:lnTo>
                  <a:pt x="0" y="6602062"/>
                </a:lnTo>
                <a:lnTo>
                  <a:pt x="0" y="0"/>
                </a:lnTo>
                <a:close/>
              </a:path>
            </a:pathLst>
          </a:custGeom>
          <a:blipFill rotWithShape="1">
            <a:blip r:embed="rId4">
              <a:alphaModFix/>
            </a:blip>
            <a:stretch>
              <a:fillRect b="0" l="0" r="0" t="0"/>
            </a:stretch>
          </a:blipFill>
          <a:ln>
            <a:noFill/>
          </a:ln>
        </p:spPr>
      </p:sp>
      <p:sp>
        <p:nvSpPr>
          <p:cNvPr id="294" name="Google Shape;294;p7"/>
          <p:cNvSpPr/>
          <p:nvPr/>
        </p:nvSpPr>
        <p:spPr>
          <a:xfrm rot="10436461">
            <a:off x="14111851" y="-3920191"/>
            <a:ext cx="6294897" cy="6294897"/>
          </a:xfrm>
          <a:custGeom>
            <a:rect b="b" l="l" r="r" t="t"/>
            <a:pathLst>
              <a:path extrusionOk="0" h="6294897" w="6294897">
                <a:moveTo>
                  <a:pt x="0" y="0"/>
                </a:moveTo>
                <a:lnTo>
                  <a:pt x="6294898" y="0"/>
                </a:lnTo>
                <a:lnTo>
                  <a:pt x="6294898" y="6294898"/>
                </a:lnTo>
                <a:lnTo>
                  <a:pt x="0" y="6294898"/>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298" name="Shape 298"/>
        <p:cNvGrpSpPr/>
        <p:nvPr/>
      </p:nvGrpSpPr>
      <p:grpSpPr>
        <a:xfrm>
          <a:off x="0" y="0"/>
          <a:ext cx="0" cy="0"/>
          <a:chOff x="0" y="0"/>
          <a:chExt cx="0" cy="0"/>
        </a:xfrm>
      </p:grpSpPr>
      <p:sp>
        <p:nvSpPr>
          <p:cNvPr id="299" name="Google Shape;299;p8"/>
          <p:cNvSpPr/>
          <p:nvPr/>
        </p:nvSpPr>
        <p:spPr>
          <a:xfrm>
            <a:off x="6694069" y="3428600"/>
            <a:ext cx="821455" cy="821455"/>
          </a:xfrm>
          <a:custGeom>
            <a:rect b="b" l="l" r="r" t="t"/>
            <a:pathLst>
              <a:path extrusionOk="0" h="821455" w="821455">
                <a:moveTo>
                  <a:pt x="0" y="0"/>
                </a:moveTo>
                <a:lnTo>
                  <a:pt x="821455" y="0"/>
                </a:lnTo>
                <a:lnTo>
                  <a:pt x="821455" y="821455"/>
                </a:lnTo>
                <a:lnTo>
                  <a:pt x="0" y="821455"/>
                </a:lnTo>
                <a:lnTo>
                  <a:pt x="0" y="0"/>
                </a:lnTo>
                <a:close/>
              </a:path>
            </a:pathLst>
          </a:custGeom>
          <a:blipFill rotWithShape="1">
            <a:blip r:embed="rId3">
              <a:alphaModFix/>
            </a:blip>
            <a:stretch>
              <a:fillRect b="0" l="0" r="0" t="0"/>
            </a:stretch>
          </a:blipFill>
          <a:ln>
            <a:noFill/>
          </a:ln>
        </p:spPr>
      </p:sp>
      <p:sp>
        <p:nvSpPr>
          <p:cNvPr id="300" name="Google Shape;300;p8"/>
          <p:cNvSpPr txBox="1"/>
          <p:nvPr/>
        </p:nvSpPr>
        <p:spPr>
          <a:xfrm>
            <a:off x="1313374" y="309508"/>
            <a:ext cx="13726645" cy="730377"/>
          </a:xfrm>
          <a:prstGeom prst="rect">
            <a:avLst/>
          </a:prstGeom>
          <a:noFill/>
          <a:ln>
            <a:noFill/>
          </a:ln>
        </p:spPr>
        <p:txBody>
          <a:bodyPr anchorCtr="0" anchor="t" bIns="0" lIns="0" spcFirstLastPara="1" rIns="0" wrap="square" tIns="0">
            <a:spAutoFit/>
          </a:bodyPr>
          <a:lstStyle/>
          <a:p>
            <a:pPr indent="0" lvl="0" marL="0" marR="0" rtl="0" algn="l">
              <a:lnSpc>
                <a:spcPct val="138000"/>
              </a:lnSpc>
              <a:spcBef>
                <a:spcPts val="0"/>
              </a:spcBef>
              <a:spcAft>
                <a:spcPts val="0"/>
              </a:spcAft>
              <a:buClr>
                <a:srgbClr val="000000"/>
              </a:buClr>
              <a:buSzPts val="4300"/>
              <a:buFont typeface="Arial"/>
              <a:buNone/>
            </a:pPr>
            <a:r>
              <a:rPr b="1" i="0" lang="en-US" sz="4300" u="none" cap="none" strike="noStrike">
                <a:solidFill>
                  <a:srgbClr val="FFFFFF"/>
                </a:solidFill>
                <a:latin typeface="DM Sans"/>
                <a:ea typeface="DM Sans"/>
                <a:cs typeface="DM Sans"/>
                <a:sym typeface="DM Sans"/>
              </a:rPr>
              <a:t>Aplicabilidad en la Arquitectura de Software</a:t>
            </a:r>
            <a:endParaRPr b="0" i="0" sz="1400" u="none" cap="none" strike="noStrike">
              <a:solidFill>
                <a:srgbClr val="000000"/>
              </a:solidFill>
              <a:latin typeface="Arial"/>
              <a:ea typeface="Arial"/>
              <a:cs typeface="Arial"/>
              <a:sym typeface="Arial"/>
            </a:endParaRPr>
          </a:p>
        </p:txBody>
      </p:sp>
      <p:sp>
        <p:nvSpPr>
          <p:cNvPr id="301" name="Google Shape;301;p8"/>
          <p:cNvSpPr txBox="1"/>
          <p:nvPr/>
        </p:nvSpPr>
        <p:spPr>
          <a:xfrm>
            <a:off x="1028700" y="1487559"/>
            <a:ext cx="15895219" cy="7955420"/>
          </a:xfrm>
          <a:prstGeom prst="rect">
            <a:avLst/>
          </a:prstGeom>
          <a:noFill/>
          <a:ln>
            <a:noFill/>
          </a:ln>
        </p:spPr>
        <p:txBody>
          <a:bodyPr anchorCtr="0" anchor="t" bIns="0" lIns="0" spcFirstLastPara="1" rIns="0" wrap="square" tIns="0">
            <a:spAutoFit/>
          </a:bodyPr>
          <a:lstStyle/>
          <a:p>
            <a:pPr indent="-260219" lvl="1" marL="520440" marR="0" rtl="0" algn="just">
              <a:lnSpc>
                <a:spcPct val="138008"/>
              </a:lnSpc>
              <a:spcBef>
                <a:spcPts val="0"/>
              </a:spcBef>
              <a:spcAft>
                <a:spcPts val="0"/>
              </a:spcAft>
              <a:buClr>
                <a:srgbClr val="FFFFFF"/>
              </a:buClr>
              <a:buSzPts val="2410"/>
              <a:buFont typeface="Arial"/>
              <a:buChar char="•"/>
            </a:pPr>
            <a:r>
              <a:rPr b="0" i="0" lang="en-US" sz="2410" u="none" cap="none" strike="noStrike">
                <a:solidFill>
                  <a:srgbClr val="FFFFFF"/>
                </a:solidFill>
                <a:latin typeface="DM Sans"/>
                <a:ea typeface="DM Sans"/>
                <a:cs typeface="DM Sans"/>
                <a:sym typeface="DM Sans"/>
              </a:rPr>
              <a:t>Diseño arquitectónico: Durante el diseño de la arquitectura, se deben considerar los requisitos no funcionales. Por ejemplo, si se sabe que la aplicación necesitará manejar un gran volumen de tráfico, la arquitectura debe diseñarse para ser escalable, quizás utilizando microservicios o una arquitectura en la nube. Las pruebas no funcionales validarán que esas decisiones de diseño sean efectivas.</a:t>
            </a:r>
            <a:endParaRPr b="0" i="0" sz="1400" u="none" cap="none" strike="noStrike">
              <a:solidFill>
                <a:srgbClr val="000000"/>
              </a:solidFill>
              <a:latin typeface="Arial"/>
              <a:ea typeface="Arial"/>
              <a:cs typeface="Arial"/>
              <a:sym typeface="Arial"/>
            </a:endParaRPr>
          </a:p>
          <a:p>
            <a:pPr indent="0" lvl="0" marL="0" marR="0" rtl="0" algn="just">
              <a:lnSpc>
                <a:spcPct val="138008"/>
              </a:lnSpc>
              <a:spcBef>
                <a:spcPts val="0"/>
              </a:spcBef>
              <a:spcAft>
                <a:spcPts val="0"/>
              </a:spcAft>
              <a:buClr>
                <a:srgbClr val="000000"/>
              </a:buClr>
              <a:buSzPts val="2410"/>
              <a:buFont typeface="Arial"/>
              <a:buNone/>
            </a:pPr>
            <a:r>
              <a:t/>
            </a:r>
            <a:endParaRPr b="0" i="0" sz="2410" u="none" cap="none" strike="noStrike">
              <a:solidFill>
                <a:srgbClr val="FFFFFF"/>
              </a:solidFill>
              <a:latin typeface="DM Sans"/>
              <a:ea typeface="DM Sans"/>
              <a:cs typeface="DM Sans"/>
              <a:sym typeface="DM Sans"/>
            </a:endParaRPr>
          </a:p>
          <a:p>
            <a:pPr indent="-260219" lvl="1" marL="520440" marR="0" rtl="0" algn="just">
              <a:lnSpc>
                <a:spcPct val="138008"/>
              </a:lnSpc>
              <a:spcBef>
                <a:spcPts val="0"/>
              </a:spcBef>
              <a:spcAft>
                <a:spcPts val="0"/>
              </a:spcAft>
              <a:buClr>
                <a:srgbClr val="FFFFFF"/>
              </a:buClr>
              <a:buSzPts val="2410"/>
              <a:buFont typeface="Arial"/>
              <a:buChar char="•"/>
            </a:pPr>
            <a:r>
              <a:rPr b="0" i="0" lang="en-US" sz="2410" u="none" cap="none" strike="noStrike">
                <a:solidFill>
                  <a:srgbClr val="FFFFFF"/>
                </a:solidFill>
                <a:latin typeface="DM Sans"/>
                <a:ea typeface="DM Sans"/>
                <a:cs typeface="DM Sans"/>
                <a:sym typeface="DM Sans"/>
              </a:rPr>
              <a:t>Selección de tecnologías: La elección de bases de datos, lenguajes de programación, frameworks y servidores debe basarse, en parte, en los requisitos no funcionales. Si se necesita una alta disponibilidad, se seleccionarán tecnologías que la ofrezcan. Las pruebas de fiabilidad confirmarán que las tecnologías elegidas cumplen con estas expectativas.</a:t>
            </a:r>
            <a:endParaRPr b="0" i="0" sz="1400" u="none" cap="none" strike="noStrike">
              <a:solidFill>
                <a:srgbClr val="000000"/>
              </a:solidFill>
              <a:latin typeface="Arial"/>
              <a:ea typeface="Arial"/>
              <a:cs typeface="Arial"/>
              <a:sym typeface="Arial"/>
            </a:endParaRPr>
          </a:p>
          <a:p>
            <a:pPr indent="-107184" lvl="1" marL="520440" marR="0" rtl="0" algn="just">
              <a:lnSpc>
                <a:spcPct val="138008"/>
              </a:lnSpc>
              <a:spcBef>
                <a:spcPts val="0"/>
              </a:spcBef>
              <a:spcAft>
                <a:spcPts val="0"/>
              </a:spcAft>
              <a:buClr>
                <a:schemeClr val="dk1"/>
              </a:buClr>
              <a:buSzPts val="2410"/>
              <a:buFont typeface="Arial"/>
              <a:buNone/>
            </a:pPr>
            <a:r>
              <a:t/>
            </a:r>
            <a:endParaRPr b="0" i="0" sz="2410" u="none" cap="none" strike="noStrike">
              <a:solidFill>
                <a:srgbClr val="FFFFFF"/>
              </a:solidFill>
              <a:latin typeface="DM Sans"/>
              <a:ea typeface="DM Sans"/>
              <a:cs typeface="DM Sans"/>
              <a:sym typeface="DM Sans"/>
            </a:endParaRPr>
          </a:p>
          <a:p>
            <a:pPr indent="-260219" lvl="1" marL="520440" marR="0" rtl="0" algn="just">
              <a:lnSpc>
                <a:spcPct val="138008"/>
              </a:lnSpc>
              <a:spcBef>
                <a:spcPts val="0"/>
              </a:spcBef>
              <a:spcAft>
                <a:spcPts val="0"/>
              </a:spcAft>
              <a:buClr>
                <a:srgbClr val="FFFFFF"/>
              </a:buClr>
              <a:buSzPts val="2410"/>
              <a:buFont typeface="Arial"/>
              <a:buChar char="•"/>
            </a:pPr>
            <a:r>
              <a:rPr b="0" i="0" lang="en-US" sz="2410" u="none" cap="none" strike="noStrike">
                <a:solidFill>
                  <a:srgbClr val="FFFFFF"/>
                </a:solidFill>
                <a:latin typeface="DM Sans"/>
                <a:ea typeface="DM Sans"/>
                <a:cs typeface="DM Sans"/>
                <a:sym typeface="DM Sans"/>
              </a:rPr>
              <a:t>Entornos de prueba: La aplicabilidad de las pruebas no funcionales requiere que se realicen en un entorno que simule lo más fielmente posible el entorno de producción. Un entorno de prueba con recursos limitados no proporcionará resultados fiables sobre el rendimiento bajo una carga de trabajo real.</a:t>
            </a:r>
            <a:endParaRPr b="0" i="0" sz="1400" u="none" cap="none" strike="noStrike">
              <a:solidFill>
                <a:srgbClr val="000000"/>
              </a:solidFill>
              <a:latin typeface="Arial"/>
              <a:ea typeface="Arial"/>
              <a:cs typeface="Arial"/>
              <a:sym typeface="Arial"/>
            </a:endParaRPr>
          </a:p>
          <a:p>
            <a:pPr indent="-107184" lvl="1" marL="520440" marR="0" rtl="0" algn="just">
              <a:lnSpc>
                <a:spcPct val="138008"/>
              </a:lnSpc>
              <a:spcBef>
                <a:spcPts val="0"/>
              </a:spcBef>
              <a:spcAft>
                <a:spcPts val="0"/>
              </a:spcAft>
              <a:buClr>
                <a:schemeClr val="dk1"/>
              </a:buClr>
              <a:buSzPts val="2410"/>
              <a:buFont typeface="Arial"/>
              <a:buNone/>
            </a:pPr>
            <a:r>
              <a:t/>
            </a:r>
            <a:endParaRPr b="0" i="0" sz="2410" u="none" cap="none" strike="noStrike">
              <a:solidFill>
                <a:srgbClr val="FFFFFF"/>
              </a:solidFill>
              <a:latin typeface="DM Sans"/>
              <a:ea typeface="DM Sans"/>
              <a:cs typeface="DM Sans"/>
              <a:sym typeface="DM Sans"/>
            </a:endParaRPr>
          </a:p>
          <a:p>
            <a:pPr indent="-260219" lvl="1" marL="520440" marR="0" rtl="0" algn="just">
              <a:lnSpc>
                <a:spcPct val="138008"/>
              </a:lnSpc>
              <a:spcBef>
                <a:spcPts val="0"/>
              </a:spcBef>
              <a:spcAft>
                <a:spcPts val="0"/>
              </a:spcAft>
              <a:buClr>
                <a:srgbClr val="FFFFFF"/>
              </a:buClr>
              <a:buSzPts val="2410"/>
              <a:buFont typeface="Arial"/>
              <a:buChar char="•"/>
            </a:pPr>
            <a:r>
              <a:rPr b="0" i="0" lang="en-US" sz="2410" u="none" cap="none" strike="noStrike">
                <a:solidFill>
                  <a:srgbClr val="FFFFFF"/>
                </a:solidFill>
                <a:latin typeface="DM Sans"/>
                <a:ea typeface="DM Sans"/>
                <a:cs typeface="DM Sans"/>
                <a:sym typeface="DM Sans"/>
              </a:rPr>
              <a:t>Monitoreo continuo: Una vez que el software está en producción, la aplicabilidad de las pruebas no funcionales continúa a través del monitoreo. Las herramientas de monitoreo en tiempo real ayudan a detectar desviaciones en el rendimiento, lo que puede indicar la necesidad de optimizaciones o de un nuevo ciclo de pruebas.</a:t>
            </a:r>
            <a:endParaRPr b="0" i="0" sz="1400" u="none" cap="none" strike="noStrike">
              <a:solidFill>
                <a:srgbClr val="000000"/>
              </a:solidFill>
              <a:latin typeface="Arial"/>
              <a:ea typeface="Arial"/>
              <a:cs typeface="Arial"/>
              <a:sym typeface="Arial"/>
            </a:endParaRPr>
          </a:p>
          <a:p>
            <a:pPr indent="0" lvl="0" marL="0" marR="0" rtl="0" algn="just">
              <a:lnSpc>
                <a:spcPct val="138008"/>
              </a:lnSpc>
              <a:spcBef>
                <a:spcPts val="0"/>
              </a:spcBef>
              <a:spcAft>
                <a:spcPts val="0"/>
              </a:spcAft>
              <a:buClr>
                <a:srgbClr val="000000"/>
              </a:buClr>
              <a:buSzPts val="2410"/>
              <a:buFont typeface="Arial"/>
              <a:buNone/>
            </a:pPr>
            <a:r>
              <a:t/>
            </a:r>
            <a:endParaRPr b="0" i="0" sz="2410" u="none" cap="none" strike="noStrike">
              <a:solidFill>
                <a:srgbClr val="FFFFFF"/>
              </a:solidFill>
              <a:latin typeface="DM Sans"/>
              <a:ea typeface="DM Sans"/>
              <a:cs typeface="DM Sans"/>
              <a:sym typeface="DM Sans"/>
            </a:endParaRPr>
          </a:p>
        </p:txBody>
      </p:sp>
      <p:sp>
        <p:nvSpPr>
          <p:cNvPr id="302" name="Google Shape;302;p8"/>
          <p:cNvSpPr/>
          <p:nvPr/>
        </p:nvSpPr>
        <p:spPr>
          <a:xfrm>
            <a:off x="-2519628" y="7712017"/>
            <a:ext cx="6602062" cy="6602062"/>
          </a:xfrm>
          <a:custGeom>
            <a:rect b="b" l="l" r="r" t="t"/>
            <a:pathLst>
              <a:path extrusionOk="0" h="6602062" w="6602062">
                <a:moveTo>
                  <a:pt x="0" y="0"/>
                </a:moveTo>
                <a:lnTo>
                  <a:pt x="6602062" y="0"/>
                </a:lnTo>
                <a:lnTo>
                  <a:pt x="6602062" y="6602062"/>
                </a:lnTo>
                <a:lnTo>
                  <a:pt x="0" y="6602062"/>
                </a:lnTo>
                <a:lnTo>
                  <a:pt x="0" y="0"/>
                </a:lnTo>
                <a:close/>
              </a:path>
            </a:pathLst>
          </a:custGeom>
          <a:blipFill rotWithShape="1">
            <a:blip r:embed="rId4">
              <a:alphaModFix/>
            </a:blip>
            <a:stretch>
              <a:fillRect b="0" l="0" r="0" t="0"/>
            </a:stretch>
          </a:blipFill>
          <a:ln>
            <a:noFill/>
          </a:ln>
        </p:spPr>
      </p:sp>
      <p:sp>
        <p:nvSpPr>
          <p:cNvPr id="303" name="Google Shape;303;p8"/>
          <p:cNvSpPr/>
          <p:nvPr/>
        </p:nvSpPr>
        <p:spPr>
          <a:xfrm rot="10436461">
            <a:off x="14111851" y="-3920191"/>
            <a:ext cx="6294897" cy="6294897"/>
          </a:xfrm>
          <a:custGeom>
            <a:rect b="b" l="l" r="r" t="t"/>
            <a:pathLst>
              <a:path extrusionOk="0" h="6294897" w="6294897">
                <a:moveTo>
                  <a:pt x="0" y="0"/>
                </a:moveTo>
                <a:lnTo>
                  <a:pt x="6294898" y="0"/>
                </a:lnTo>
                <a:lnTo>
                  <a:pt x="6294898" y="6294898"/>
                </a:lnTo>
                <a:lnTo>
                  <a:pt x="0" y="6294898"/>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307" name="Shape 307"/>
        <p:cNvGrpSpPr/>
        <p:nvPr/>
      </p:nvGrpSpPr>
      <p:grpSpPr>
        <a:xfrm>
          <a:off x="0" y="0"/>
          <a:ext cx="0" cy="0"/>
          <a:chOff x="0" y="0"/>
          <a:chExt cx="0" cy="0"/>
        </a:xfrm>
      </p:grpSpPr>
      <p:grpSp>
        <p:nvGrpSpPr>
          <p:cNvPr id="308" name="Google Shape;308;p9"/>
          <p:cNvGrpSpPr/>
          <p:nvPr/>
        </p:nvGrpSpPr>
        <p:grpSpPr>
          <a:xfrm rot="-5400000">
            <a:off x="11338296" y="4100704"/>
            <a:ext cx="11958151" cy="2037819"/>
            <a:chOff x="0" y="-28575"/>
            <a:chExt cx="3149472" cy="536710"/>
          </a:xfrm>
        </p:grpSpPr>
        <p:sp>
          <p:nvSpPr>
            <p:cNvPr id="309" name="Google Shape;309;p9"/>
            <p:cNvSpPr/>
            <p:nvPr/>
          </p:nvSpPr>
          <p:spPr>
            <a:xfrm>
              <a:off x="0" y="0"/>
              <a:ext cx="3149472" cy="508135"/>
            </a:xfrm>
            <a:custGeom>
              <a:rect b="b" l="l" r="r" t="t"/>
              <a:pathLst>
                <a:path extrusionOk="0" h="508135" w="3149472">
                  <a:moveTo>
                    <a:pt x="0" y="0"/>
                  </a:moveTo>
                  <a:lnTo>
                    <a:pt x="3149472" y="0"/>
                  </a:lnTo>
                  <a:lnTo>
                    <a:pt x="3149472" y="508135"/>
                  </a:lnTo>
                  <a:lnTo>
                    <a:pt x="0" y="508135"/>
                  </a:lnTo>
                  <a:close/>
                </a:path>
              </a:pathLst>
            </a:custGeom>
            <a:solidFill>
              <a:srgbClr val="145DA0"/>
            </a:solidFill>
            <a:ln>
              <a:noFill/>
            </a:ln>
          </p:spPr>
        </p:sp>
        <p:sp>
          <p:nvSpPr>
            <p:cNvPr id="310" name="Google Shape;310;p9"/>
            <p:cNvSpPr txBox="1"/>
            <p:nvPr/>
          </p:nvSpPr>
          <p:spPr>
            <a:xfrm>
              <a:off x="0" y="-28575"/>
              <a:ext cx="3149472" cy="536710"/>
            </a:xfrm>
            <a:prstGeom prst="rect">
              <a:avLst/>
            </a:prstGeom>
            <a:noFill/>
            <a:ln>
              <a:noFill/>
            </a:ln>
          </p:spPr>
          <p:txBody>
            <a:bodyPr anchorCtr="0" anchor="ctr" bIns="50800" lIns="50800" spcFirstLastPara="1" rIns="50800" wrap="square" tIns="50800">
              <a:noAutofit/>
            </a:bodyPr>
            <a:lstStyle/>
            <a:p>
              <a:pPr indent="0" lvl="0" marL="0" marR="0" rtl="0" algn="ctr">
                <a:lnSpc>
                  <a:spcPct val="143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1" name="Google Shape;311;p9"/>
          <p:cNvSpPr/>
          <p:nvPr/>
        </p:nvSpPr>
        <p:spPr>
          <a:xfrm>
            <a:off x="11208957" y="-1011147"/>
            <a:ext cx="2647750" cy="2647750"/>
          </a:xfrm>
          <a:custGeom>
            <a:rect b="b" l="l" r="r" t="t"/>
            <a:pathLst>
              <a:path extrusionOk="0" h="2647750" w="2647750">
                <a:moveTo>
                  <a:pt x="0" y="0"/>
                </a:moveTo>
                <a:lnTo>
                  <a:pt x="2647750" y="0"/>
                </a:lnTo>
                <a:lnTo>
                  <a:pt x="2647750" y="2647750"/>
                </a:lnTo>
                <a:lnTo>
                  <a:pt x="0" y="2647750"/>
                </a:lnTo>
                <a:lnTo>
                  <a:pt x="0" y="0"/>
                </a:lnTo>
                <a:close/>
              </a:path>
            </a:pathLst>
          </a:custGeom>
          <a:blipFill rotWithShape="1">
            <a:blip r:embed="rId3">
              <a:alphaModFix/>
            </a:blip>
            <a:stretch>
              <a:fillRect b="0" l="0" r="0" t="0"/>
            </a:stretch>
          </a:blipFill>
          <a:ln>
            <a:noFill/>
          </a:ln>
        </p:spPr>
      </p:sp>
      <p:sp>
        <p:nvSpPr>
          <p:cNvPr id="312" name="Google Shape;312;p9"/>
          <p:cNvSpPr/>
          <p:nvPr/>
        </p:nvSpPr>
        <p:spPr>
          <a:xfrm>
            <a:off x="9852182" y="625594"/>
            <a:ext cx="7519437" cy="8987929"/>
          </a:xfrm>
          <a:custGeom>
            <a:rect b="b" l="l" r="r" t="t"/>
            <a:pathLst>
              <a:path extrusionOk="0" h="10286874" w="8606155">
                <a:moveTo>
                  <a:pt x="8606155" y="10251441"/>
                </a:moveTo>
                <a:cubicBezTo>
                  <a:pt x="8606155" y="10284588"/>
                  <a:pt x="8595487" y="10286874"/>
                  <a:pt x="8567674" y="10286874"/>
                </a:cubicBezTo>
                <a:cubicBezTo>
                  <a:pt x="5713094" y="10286239"/>
                  <a:pt x="2858643" y="10286239"/>
                  <a:pt x="4064" y="10286239"/>
                </a:cubicBezTo>
                <a:cubicBezTo>
                  <a:pt x="0" y="10272396"/>
                  <a:pt x="6350" y="10259823"/>
                  <a:pt x="9271" y="10246996"/>
                </a:cubicBezTo>
                <a:cubicBezTo>
                  <a:pt x="134747" y="9685402"/>
                  <a:pt x="260350" y="9123935"/>
                  <a:pt x="386207" y="8562467"/>
                </a:cubicBezTo>
                <a:cubicBezTo>
                  <a:pt x="565658" y="7761986"/>
                  <a:pt x="745490" y="6961633"/>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6"/>
                  <a:pt x="8605139" y="6846317"/>
                  <a:pt x="8606155" y="10251441"/>
                </a:cubicBezTo>
                <a:close/>
              </a:path>
            </a:pathLst>
          </a:custGeom>
          <a:blipFill rotWithShape="1">
            <a:blip r:embed="rId4">
              <a:alphaModFix/>
            </a:blip>
            <a:stretch>
              <a:fillRect b="-12762" l="0" r="0" t="-12763"/>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9"/>
          <p:cNvSpPr txBox="1"/>
          <p:nvPr/>
        </p:nvSpPr>
        <p:spPr>
          <a:xfrm>
            <a:off x="1028700" y="3451684"/>
            <a:ext cx="7044924" cy="116723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7268"/>
              <a:buFont typeface="Arial"/>
              <a:buNone/>
            </a:pPr>
            <a:r>
              <a:rPr b="0" i="0" lang="en-US" sz="7268" u="none" cap="none" strike="noStrike">
                <a:solidFill>
                  <a:srgbClr val="FFFBFB"/>
                </a:solidFill>
                <a:latin typeface="Poppins"/>
                <a:ea typeface="Poppins"/>
                <a:cs typeface="Poppins"/>
                <a:sym typeface="Poppins"/>
              </a:rPr>
              <a:t>PRUEBAS </a:t>
            </a:r>
            <a:endParaRPr b="0" i="0" sz="1400" u="none" cap="none" strike="noStrike">
              <a:solidFill>
                <a:srgbClr val="000000"/>
              </a:solidFill>
              <a:latin typeface="Arial"/>
              <a:ea typeface="Arial"/>
              <a:cs typeface="Arial"/>
              <a:sym typeface="Arial"/>
            </a:endParaRPr>
          </a:p>
        </p:txBody>
      </p:sp>
      <p:sp>
        <p:nvSpPr>
          <p:cNvPr id="314" name="Google Shape;314;p9"/>
          <p:cNvSpPr/>
          <p:nvPr/>
        </p:nvSpPr>
        <p:spPr>
          <a:xfrm>
            <a:off x="1028700" y="1136365"/>
            <a:ext cx="846187" cy="981086"/>
          </a:xfrm>
          <a:custGeom>
            <a:rect b="b" l="l" r="r" t="t"/>
            <a:pathLst>
              <a:path extrusionOk="0" h="981086" w="846187">
                <a:moveTo>
                  <a:pt x="0" y="0"/>
                </a:moveTo>
                <a:lnTo>
                  <a:pt x="846187" y="0"/>
                </a:lnTo>
                <a:lnTo>
                  <a:pt x="846187" y="981087"/>
                </a:lnTo>
                <a:lnTo>
                  <a:pt x="0" y="981087"/>
                </a:lnTo>
                <a:lnTo>
                  <a:pt x="0" y="0"/>
                </a:lnTo>
                <a:close/>
              </a:path>
            </a:pathLst>
          </a:custGeom>
          <a:blipFill rotWithShape="1">
            <a:blip r:embed="rId5">
              <a:alphaModFix/>
            </a:blip>
            <a:stretch>
              <a:fillRect b="0" l="0" r="0" t="0"/>
            </a:stretch>
          </a:blipFill>
          <a:ln>
            <a:noFill/>
          </a:ln>
        </p:spPr>
      </p:sp>
      <p:sp>
        <p:nvSpPr>
          <p:cNvPr id="315" name="Google Shape;315;p9"/>
          <p:cNvSpPr/>
          <p:nvPr/>
        </p:nvSpPr>
        <p:spPr>
          <a:xfrm>
            <a:off x="-295175" y="8630507"/>
            <a:ext cx="2647750" cy="2647750"/>
          </a:xfrm>
          <a:custGeom>
            <a:rect b="b" l="l" r="r" t="t"/>
            <a:pathLst>
              <a:path extrusionOk="0" h="2647750" w="2647750">
                <a:moveTo>
                  <a:pt x="0" y="0"/>
                </a:moveTo>
                <a:lnTo>
                  <a:pt x="2647750" y="0"/>
                </a:lnTo>
                <a:lnTo>
                  <a:pt x="2647750" y="2647751"/>
                </a:lnTo>
                <a:lnTo>
                  <a:pt x="0" y="2647751"/>
                </a:lnTo>
                <a:lnTo>
                  <a:pt x="0" y="0"/>
                </a:lnTo>
                <a:close/>
              </a:path>
            </a:pathLst>
          </a:custGeom>
          <a:blipFill rotWithShape="1">
            <a:blip r:embed="rId3">
              <a:alphaModFix/>
            </a:blip>
            <a:stretch>
              <a:fillRect b="0" l="0" r="0" t="0"/>
            </a:stretch>
          </a:blipFill>
          <a:ln>
            <a:noFill/>
          </a:ln>
        </p:spPr>
      </p:sp>
      <p:sp>
        <p:nvSpPr>
          <p:cNvPr id="316" name="Google Shape;316;p9"/>
          <p:cNvSpPr txBox="1"/>
          <p:nvPr/>
        </p:nvSpPr>
        <p:spPr>
          <a:xfrm>
            <a:off x="759681" y="4781484"/>
            <a:ext cx="10449276" cy="1880765"/>
          </a:xfrm>
          <a:prstGeom prst="rect">
            <a:avLst/>
          </a:prstGeom>
          <a:noFill/>
          <a:ln>
            <a:noFill/>
          </a:ln>
        </p:spPr>
        <p:txBody>
          <a:bodyPr anchorCtr="0" anchor="t" bIns="0" lIns="0" spcFirstLastPara="1" rIns="0" wrap="square" tIns="0">
            <a:spAutoFit/>
          </a:bodyPr>
          <a:lstStyle/>
          <a:p>
            <a:pPr indent="0" lvl="0" marL="0" marR="0" rtl="0" algn="l">
              <a:lnSpc>
                <a:spcPct val="119993"/>
              </a:lnSpc>
              <a:spcBef>
                <a:spcPts val="0"/>
              </a:spcBef>
              <a:spcAft>
                <a:spcPts val="0"/>
              </a:spcAft>
              <a:buClr>
                <a:srgbClr val="000000"/>
              </a:buClr>
              <a:buSzPts val="11729"/>
              <a:buFont typeface="Arial"/>
              <a:buNone/>
            </a:pPr>
            <a:r>
              <a:rPr b="1" i="0" lang="en-US" sz="11729" u="none" cap="none" strike="noStrike">
                <a:solidFill>
                  <a:srgbClr val="56AEFF"/>
                </a:solidFill>
                <a:latin typeface="Poppins"/>
                <a:ea typeface="Poppins"/>
                <a:cs typeface="Poppins"/>
                <a:sym typeface="Poppins"/>
              </a:rPr>
              <a:t>DE CARGA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5DA0"/>
        </a:solidFill>
      </p:bgPr>
    </p:bg>
    <p:spTree>
      <p:nvGrpSpPr>
        <p:cNvPr id="320" name="Shape 320"/>
        <p:cNvGrpSpPr/>
        <p:nvPr/>
      </p:nvGrpSpPr>
      <p:grpSpPr>
        <a:xfrm>
          <a:off x="0" y="0"/>
          <a:ext cx="0" cy="0"/>
          <a:chOff x="0" y="0"/>
          <a:chExt cx="0" cy="0"/>
        </a:xfrm>
      </p:grpSpPr>
      <p:sp>
        <p:nvSpPr>
          <p:cNvPr id="321" name="Google Shape;321;p10"/>
          <p:cNvSpPr/>
          <p:nvPr/>
        </p:nvSpPr>
        <p:spPr>
          <a:xfrm>
            <a:off x="0" y="0"/>
            <a:ext cx="18288000" cy="3860032"/>
          </a:xfrm>
          <a:custGeom>
            <a:rect b="b" l="l" r="r" t="t"/>
            <a:pathLst>
              <a:path extrusionOk="0" h="3860032" w="18288000">
                <a:moveTo>
                  <a:pt x="0" y="0"/>
                </a:moveTo>
                <a:lnTo>
                  <a:pt x="18288000" y="0"/>
                </a:lnTo>
                <a:lnTo>
                  <a:pt x="18288000" y="3860032"/>
                </a:lnTo>
                <a:lnTo>
                  <a:pt x="0" y="3860032"/>
                </a:lnTo>
                <a:lnTo>
                  <a:pt x="0" y="0"/>
                </a:lnTo>
                <a:close/>
              </a:path>
            </a:pathLst>
          </a:custGeom>
          <a:blipFill rotWithShape="1">
            <a:blip r:embed="rId3">
              <a:alphaModFix/>
            </a:blip>
            <a:stretch>
              <a:fillRect b="-107818" l="0" r="0" t="-107818"/>
            </a:stretch>
          </a:blipFill>
          <a:ln>
            <a:noFill/>
          </a:ln>
        </p:spPr>
      </p:sp>
      <p:grpSp>
        <p:nvGrpSpPr>
          <p:cNvPr id="322" name="Google Shape;322;p10"/>
          <p:cNvGrpSpPr/>
          <p:nvPr/>
        </p:nvGrpSpPr>
        <p:grpSpPr>
          <a:xfrm>
            <a:off x="4458366" y="-144661"/>
            <a:ext cx="9658350" cy="10431661"/>
            <a:chOff x="0" y="-38100"/>
            <a:chExt cx="2543763" cy="2747433"/>
          </a:xfrm>
        </p:grpSpPr>
        <p:sp>
          <p:nvSpPr>
            <p:cNvPr id="323" name="Google Shape;323;p10"/>
            <p:cNvSpPr/>
            <p:nvPr/>
          </p:nvSpPr>
          <p:spPr>
            <a:xfrm>
              <a:off x="0" y="0"/>
              <a:ext cx="2543763" cy="2709333"/>
            </a:xfrm>
            <a:custGeom>
              <a:rect b="b" l="l" r="r" t="t"/>
              <a:pathLst>
                <a:path extrusionOk="0" h="2709333" w="2543763">
                  <a:moveTo>
                    <a:pt x="0" y="0"/>
                  </a:moveTo>
                  <a:lnTo>
                    <a:pt x="2543763" y="0"/>
                  </a:lnTo>
                  <a:lnTo>
                    <a:pt x="2543763" y="2709333"/>
                  </a:lnTo>
                  <a:lnTo>
                    <a:pt x="0" y="2709333"/>
                  </a:lnTo>
                  <a:close/>
                </a:path>
              </a:pathLst>
            </a:custGeom>
            <a:solidFill>
              <a:srgbClr val="051D40">
                <a:alpha val="74901"/>
              </a:srgbClr>
            </a:solidFill>
            <a:ln>
              <a:noFill/>
            </a:ln>
          </p:spPr>
        </p:sp>
        <p:sp>
          <p:nvSpPr>
            <p:cNvPr id="324" name="Google Shape;324;p10"/>
            <p:cNvSpPr txBox="1"/>
            <p:nvPr/>
          </p:nvSpPr>
          <p:spPr>
            <a:xfrm>
              <a:off x="0" y="-38100"/>
              <a:ext cx="254376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5" name="Google Shape;325;p10"/>
          <p:cNvSpPr txBox="1"/>
          <p:nvPr/>
        </p:nvSpPr>
        <p:spPr>
          <a:xfrm>
            <a:off x="5021151" y="2324975"/>
            <a:ext cx="8245699" cy="762000"/>
          </a:xfrm>
          <a:prstGeom prst="rect">
            <a:avLst/>
          </a:prstGeom>
          <a:noFill/>
          <a:ln>
            <a:noFill/>
          </a:ln>
        </p:spPr>
        <p:txBody>
          <a:bodyPr anchorCtr="0" anchor="t" bIns="0" lIns="0" spcFirstLastPara="1" rIns="0" wrap="square" tIns="0">
            <a:spAutoFit/>
          </a:bodyPr>
          <a:lstStyle/>
          <a:p>
            <a:pPr indent="0" lvl="0" marL="0" marR="0" rtl="0" algn="ctr">
              <a:lnSpc>
                <a:spcPct val="120004"/>
              </a:lnSpc>
              <a:spcBef>
                <a:spcPts val="0"/>
              </a:spcBef>
              <a:spcAft>
                <a:spcPts val="0"/>
              </a:spcAft>
              <a:buClr>
                <a:srgbClr val="000000"/>
              </a:buClr>
              <a:buSzPts val="4739"/>
              <a:buFont typeface="Arial"/>
              <a:buNone/>
            </a:pPr>
            <a:r>
              <a:rPr b="0" i="0" lang="en-US" sz="4739" u="none" cap="none" strike="noStrike">
                <a:solidFill>
                  <a:srgbClr val="FFFFFF"/>
                </a:solidFill>
                <a:latin typeface="Poppins"/>
                <a:ea typeface="Poppins"/>
                <a:cs typeface="Poppins"/>
                <a:sym typeface="Poppins"/>
              </a:rPr>
              <a:t>PRUEBAS DE CARGA</a:t>
            </a:r>
            <a:endParaRPr b="0" i="0" sz="1400" u="none" cap="none" strike="noStrike">
              <a:solidFill>
                <a:srgbClr val="000000"/>
              </a:solidFill>
              <a:latin typeface="Arial"/>
              <a:ea typeface="Arial"/>
              <a:cs typeface="Arial"/>
              <a:sym typeface="Arial"/>
            </a:endParaRPr>
          </a:p>
        </p:txBody>
      </p:sp>
      <p:sp>
        <p:nvSpPr>
          <p:cNvPr id="326" name="Google Shape;326;p10"/>
          <p:cNvSpPr txBox="1"/>
          <p:nvPr/>
        </p:nvSpPr>
        <p:spPr>
          <a:xfrm>
            <a:off x="6108479" y="4645324"/>
            <a:ext cx="6902620" cy="3645429"/>
          </a:xfrm>
          <a:prstGeom prst="rect">
            <a:avLst/>
          </a:prstGeom>
          <a:noFill/>
          <a:ln>
            <a:noFill/>
          </a:ln>
        </p:spPr>
        <p:txBody>
          <a:bodyPr anchorCtr="0" anchor="t" bIns="0" lIns="0" spcFirstLastPara="1" rIns="0" wrap="square" tIns="0">
            <a:spAutoFit/>
          </a:bodyPr>
          <a:lstStyle/>
          <a:p>
            <a:pPr indent="0" lvl="0" marL="0" marR="0" rtl="0" algn="ctr">
              <a:lnSpc>
                <a:spcPct val="138011"/>
              </a:lnSpc>
              <a:spcBef>
                <a:spcPts val="0"/>
              </a:spcBef>
              <a:spcAft>
                <a:spcPts val="0"/>
              </a:spcAft>
              <a:buClr>
                <a:srgbClr val="000000"/>
              </a:buClr>
              <a:buSzPts val="2615"/>
              <a:buFont typeface="Arial"/>
              <a:buNone/>
            </a:pPr>
            <a:r>
              <a:rPr b="0" i="0" lang="en-US" sz="2615" u="none" cap="none" strike="noStrike">
                <a:solidFill>
                  <a:srgbClr val="FFFFFF"/>
                </a:solidFill>
                <a:latin typeface="DM Sans"/>
                <a:ea typeface="DM Sans"/>
                <a:cs typeface="DM Sans"/>
                <a:sym typeface="DM Sans"/>
              </a:rPr>
              <a:t>son un tipo de pruebas de rendimiento que se realizan para evaluar el comportamiento de un sistema de software bajo una carga de trabajo anticipada y realista. El objetivo principal es determinar si la aplicación puede manejar la cantidad de usuarios y transacciones esperadas sin degradar su rendimiento.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5DA0"/>
        </a:solidFill>
      </p:bgPr>
    </p:bg>
    <p:spTree>
      <p:nvGrpSpPr>
        <p:cNvPr id="330" name="Shape 330"/>
        <p:cNvGrpSpPr/>
        <p:nvPr/>
      </p:nvGrpSpPr>
      <p:grpSpPr>
        <a:xfrm>
          <a:off x="0" y="0"/>
          <a:ext cx="0" cy="0"/>
          <a:chOff x="0" y="0"/>
          <a:chExt cx="0" cy="0"/>
        </a:xfrm>
      </p:grpSpPr>
      <p:sp>
        <p:nvSpPr>
          <p:cNvPr id="331" name="Google Shape;331;p11"/>
          <p:cNvSpPr/>
          <p:nvPr/>
        </p:nvSpPr>
        <p:spPr>
          <a:xfrm rot="1313163">
            <a:off x="-4397261" y="6412995"/>
            <a:ext cx="9085628" cy="5368780"/>
          </a:xfrm>
          <a:custGeom>
            <a:rect b="b" l="l" r="r" t="t"/>
            <a:pathLst>
              <a:path extrusionOk="0" h="5368780" w="9085628">
                <a:moveTo>
                  <a:pt x="0" y="0"/>
                </a:moveTo>
                <a:lnTo>
                  <a:pt x="9085629" y="0"/>
                </a:lnTo>
                <a:lnTo>
                  <a:pt x="9085629" y="5368780"/>
                </a:lnTo>
                <a:lnTo>
                  <a:pt x="0" y="5368780"/>
                </a:lnTo>
                <a:lnTo>
                  <a:pt x="0" y="0"/>
                </a:lnTo>
                <a:close/>
              </a:path>
            </a:pathLst>
          </a:custGeom>
          <a:blipFill rotWithShape="1">
            <a:blip r:embed="rId3">
              <a:alphaModFix/>
            </a:blip>
            <a:stretch>
              <a:fillRect b="0" l="0" r="0" t="0"/>
            </a:stretch>
          </a:blipFill>
          <a:ln>
            <a:noFill/>
          </a:ln>
        </p:spPr>
      </p:sp>
      <p:sp>
        <p:nvSpPr>
          <p:cNvPr id="332" name="Google Shape;332;p11"/>
          <p:cNvSpPr/>
          <p:nvPr/>
        </p:nvSpPr>
        <p:spPr>
          <a:xfrm>
            <a:off x="2170729" y="7129242"/>
            <a:ext cx="4319810" cy="426581"/>
          </a:xfrm>
          <a:custGeom>
            <a:rect b="b" l="l" r="r" t="t"/>
            <a:pathLst>
              <a:path extrusionOk="0" h="426581" w="4319810">
                <a:moveTo>
                  <a:pt x="0" y="0"/>
                </a:moveTo>
                <a:lnTo>
                  <a:pt x="4319810" y="0"/>
                </a:lnTo>
                <a:lnTo>
                  <a:pt x="4319810" y="426581"/>
                </a:lnTo>
                <a:lnTo>
                  <a:pt x="0" y="426581"/>
                </a:lnTo>
                <a:lnTo>
                  <a:pt x="0" y="0"/>
                </a:lnTo>
                <a:close/>
              </a:path>
            </a:pathLst>
          </a:custGeom>
          <a:blipFill rotWithShape="1">
            <a:blip r:embed="rId4">
              <a:alphaModFix/>
            </a:blip>
            <a:stretch>
              <a:fillRect b="0" l="0" r="0" t="-99996"/>
            </a:stretch>
          </a:blipFill>
          <a:ln>
            <a:noFill/>
          </a:ln>
        </p:spPr>
      </p:sp>
      <p:sp>
        <p:nvSpPr>
          <p:cNvPr id="333" name="Google Shape;333;p11"/>
          <p:cNvSpPr/>
          <p:nvPr/>
        </p:nvSpPr>
        <p:spPr>
          <a:xfrm>
            <a:off x="6886864" y="7129242"/>
            <a:ext cx="4319810" cy="426581"/>
          </a:xfrm>
          <a:custGeom>
            <a:rect b="b" l="l" r="r" t="t"/>
            <a:pathLst>
              <a:path extrusionOk="0" h="426581" w="4319810">
                <a:moveTo>
                  <a:pt x="0" y="0"/>
                </a:moveTo>
                <a:lnTo>
                  <a:pt x="4319809" y="0"/>
                </a:lnTo>
                <a:lnTo>
                  <a:pt x="4319809" y="426581"/>
                </a:lnTo>
                <a:lnTo>
                  <a:pt x="0" y="426581"/>
                </a:lnTo>
                <a:lnTo>
                  <a:pt x="0" y="0"/>
                </a:lnTo>
                <a:close/>
              </a:path>
            </a:pathLst>
          </a:custGeom>
          <a:blipFill rotWithShape="1">
            <a:blip r:embed="rId4">
              <a:alphaModFix/>
            </a:blip>
            <a:stretch>
              <a:fillRect b="0" l="0" r="0" t="-99996"/>
            </a:stretch>
          </a:blipFill>
          <a:ln>
            <a:noFill/>
          </a:ln>
        </p:spPr>
      </p:sp>
      <p:sp>
        <p:nvSpPr>
          <p:cNvPr id="334" name="Google Shape;334;p11"/>
          <p:cNvSpPr/>
          <p:nvPr/>
        </p:nvSpPr>
        <p:spPr>
          <a:xfrm>
            <a:off x="11606723" y="7129242"/>
            <a:ext cx="4319810" cy="426581"/>
          </a:xfrm>
          <a:custGeom>
            <a:rect b="b" l="l" r="r" t="t"/>
            <a:pathLst>
              <a:path extrusionOk="0" h="426581" w="4319810">
                <a:moveTo>
                  <a:pt x="0" y="0"/>
                </a:moveTo>
                <a:lnTo>
                  <a:pt x="4319810" y="0"/>
                </a:lnTo>
                <a:lnTo>
                  <a:pt x="4319810" y="426581"/>
                </a:lnTo>
                <a:lnTo>
                  <a:pt x="0" y="426581"/>
                </a:lnTo>
                <a:lnTo>
                  <a:pt x="0" y="0"/>
                </a:lnTo>
                <a:close/>
              </a:path>
            </a:pathLst>
          </a:custGeom>
          <a:blipFill rotWithShape="1">
            <a:blip r:embed="rId4">
              <a:alphaModFix/>
            </a:blip>
            <a:stretch>
              <a:fillRect b="0" l="0" r="0" t="-99996"/>
            </a:stretch>
          </a:blipFill>
          <a:ln>
            <a:noFill/>
          </a:ln>
        </p:spPr>
      </p:sp>
      <p:grpSp>
        <p:nvGrpSpPr>
          <p:cNvPr id="335" name="Google Shape;335;p11"/>
          <p:cNvGrpSpPr/>
          <p:nvPr/>
        </p:nvGrpSpPr>
        <p:grpSpPr>
          <a:xfrm>
            <a:off x="2193491" y="2778566"/>
            <a:ext cx="4297048" cy="4777257"/>
            <a:chOff x="0" y="-38100"/>
            <a:chExt cx="1131733" cy="1258208"/>
          </a:xfrm>
        </p:grpSpPr>
        <p:sp>
          <p:nvSpPr>
            <p:cNvPr id="336" name="Google Shape;336;p11"/>
            <p:cNvSpPr/>
            <p:nvPr/>
          </p:nvSpPr>
          <p:spPr>
            <a:xfrm>
              <a:off x="0" y="0"/>
              <a:ext cx="1131733" cy="1220108"/>
            </a:xfrm>
            <a:custGeom>
              <a:rect b="b" l="l" r="r" t="t"/>
              <a:pathLst>
                <a:path extrusionOk="0" h="1220108" w="1131733">
                  <a:moveTo>
                    <a:pt x="0" y="0"/>
                  </a:moveTo>
                  <a:lnTo>
                    <a:pt x="1131733" y="0"/>
                  </a:lnTo>
                  <a:lnTo>
                    <a:pt x="1131733" y="1220108"/>
                  </a:lnTo>
                  <a:lnTo>
                    <a:pt x="0" y="1220108"/>
                  </a:lnTo>
                  <a:close/>
                </a:path>
              </a:pathLst>
            </a:custGeom>
            <a:solidFill>
              <a:srgbClr val="CFF4FF"/>
            </a:solidFill>
            <a:ln cap="sq" cmpd="sng" w="19050">
              <a:solidFill>
                <a:srgbClr val="FFFFFF"/>
              </a:solidFill>
              <a:prstDash val="solid"/>
              <a:miter lim="8000"/>
              <a:headEnd len="sm" w="sm" type="none"/>
              <a:tailEnd len="sm" w="sm" type="none"/>
            </a:ln>
          </p:spPr>
        </p:sp>
        <p:sp>
          <p:nvSpPr>
            <p:cNvPr id="337" name="Google Shape;337;p11"/>
            <p:cNvSpPr txBox="1"/>
            <p:nvPr/>
          </p:nvSpPr>
          <p:spPr>
            <a:xfrm>
              <a:off x="0" y="-38100"/>
              <a:ext cx="1131733" cy="1258208"/>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8" name="Google Shape;338;p11"/>
          <p:cNvSpPr/>
          <p:nvPr/>
        </p:nvSpPr>
        <p:spPr>
          <a:xfrm>
            <a:off x="3911573" y="3225912"/>
            <a:ext cx="1114628" cy="1130866"/>
          </a:xfrm>
          <a:custGeom>
            <a:rect b="b" l="l" r="r" t="t"/>
            <a:pathLst>
              <a:path extrusionOk="0" h="1130866" w="1114628">
                <a:moveTo>
                  <a:pt x="0" y="0"/>
                </a:moveTo>
                <a:lnTo>
                  <a:pt x="1114628" y="0"/>
                </a:lnTo>
                <a:lnTo>
                  <a:pt x="1114628" y="1130866"/>
                </a:lnTo>
                <a:lnTo>
                  <a:pt x="0" y="1130866"/>
                </a:lnTo>
                <a:lnTo>
                  <a:pt x="0" y="0"/>
                </a:lnTo>
                <a:close/>
              </a:path>
            </a:pathLst>
          </a:custGeom>
          <a:blipFill rotWithShape="1">
            <a:blip r:embed="rId5">
              <a:alphaModFix/>
            </a:blip>
            <a:stretch>
              <a:fillRect b="0" l="0" r="0" t="0"/>
            </a:stretch>
          </a:blipFill>
          <a:ln>
            <a:noFill/>
          </a:ln>
        </p:spPr>
      </p:sp>
      <p:grpSp>
        <p:nvGrpSpPr>
          <p:cNvPr id="339" name="Google Shape;339;p11"/>
          <p:cNvGrpSpPr/>
          <p:nvPr/>
        </p:nvGrpSpPr>
        <p:grpSpPr>
          <a:xfrm>
            <a:off x="6896375" y="2778566"/>
            <a:ext cx="4297048" cy="4777257"/>
            <a:chOff x="0" y="-38100"/>
            <a:chExt cx="1131733" cy="1258208"/>
          </a:xfrm>
        </p:grpSpPr>
        <p:sp>
          <p:nvSpPr>
            <p:cNvPr id="340" name="Google Shape;340;p11"/>
            <p:cNvSpPr/>
            <p:nvPr/>
          </p:nvSpPr>
          <p:spPr>
            <a:xfrm>
              <a:off x="0" y="0"/>
              <a:ext cx="1131733" cy="1220108"/>
            </a:xfrm>
            <a:custGeom>
              <a:rect b="b" l="l" r="r" t="t"/>
              <a:pathLst>
                <a:path extrusionOk="0" h="1220108" w="1131733">
                  <a:moveTo>
                    <a:pt x="0" y="0"/>
                  </a:moveTo>
                  <a:lnTo>
                    <a:pt x="1131733" y="0"/>
                  </a:lnTo>
                  <a:lnTo>
                    <a:pt x="1131733" y="1220108"/>
                  </a:lnTo>
                  <a:lnTo>
                    <a:pt x="0" y="1220108"/>
                  </a:lnTo>
                  <a:close/>
                </a:path>
              </a:pathLst>
            </a:custGeom>
            <a:solidFill>
              <a:srgbClr val="CFF4FF"/>
            </a:solidFill>
            <a:ln cap="sq" cmpd="sng" w="19050">
              <a:solidFill>
                <a:srgbClr val="FFFFFF"/>
              </a:solidFill>
              <a:prstDash val="solid"/>
              <a:miter lim="8000"/>
              <a:headEnd len="sm" w="sm" type="none"/>
              <a:tailEnd len="sm" w="sm" type="none"/>
            </a:ln>
          </p:spPr>
        </p:sp>
        <p:sp>
          <p:nvSpPr>
            <p:cNvPr id="341" name="Google Shape;341;p11"/>
            <p:cNvSpPr txBox="1"/>
            <p:nvPr/>
          </p:nvSpPr>
          <p:spPr>
            <a:xfrm>
              <a:off x="0" y="-38100"/>
              <a:ext cx="1131733" cy="1258208"/>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2" name="Google Shape;342;p11"/>
          <p:cNvGrpSpPr/>
          <p:nvPr/>
        </p:nvGrpSpPr>
        <p:grpSpPr>
          <a:xfrm>
            <a:off x="11602998" y="2778566"/>
            <a:ext cx="4297048" cy="4777257"/>
            <a:chOff x="0" y="-38100"/>
            <a:chExt cx="1131733" cy="1258208"/>
          </a:xfrm>
        </p:grpSpPr>
        <p:sp>
          <p:nvSpPr>
            <p:cNvPr id="343" name="Google Shape;343;p11"/>
            <p:cNvSpPr/>
            <p:nvPr/>
          </p:nvSpPr>
          <p:spPr>
            <a:xfrm>
              <a:off x="0" y="0"/>
              <a:ext cx="1131733" cy="1220108"/>
            </a:xfrm>
            <a:custGeom>
              <a:rect b="b" l="l" r="r" t="t"/>
              <a:pathLst>
                <a:path extrusionOk="0" h="1220108" w="1131733">
                  <a:moveTo>
                    <a:pt x="0" y="0"/>
                  </a:moveTo>
                  <a:lnTo>
                    <a:pt x="1131733" y="0"/>
                  </a:lnTo>
                  <a:lnTo>
                    <a:pt x="1131733" y="1220108"/>
                  </a:lnTo>
                  <a:lnTo>
                    <a:pt x="0" y="1220108"/>
                  </a:lnTo>
                  <a:close/>
                </a:path>
              </a:pathLst>
            </a:custGeom>
            <a:solidFill>
              <a:srgbClr val="CFF4FF"/>
            </a:solidFill>
            <a:ln cap="sq" cmpd="sng" w="19050">
              <a:solidFill>
                <a:srgbClr val="FFFFFF"/>
              </a:solidFill>
              <a:prstDash val="solid"/>
              <a:miter lim="8000"/>
              <a:headEnd len="sm" w="sm" type="none"/>
              <a:tailEnd len="sm" w="sm" type="none"/>
            </a:ln>
          </p:spPr>
        </p:sp>
        <p:sp>
          <p:nvSpPr>
            <p:cNvPr id="344" name="Google Shape;344;p11"/>
            <p:cNvSpPr txBox="1"/>
            <p:nvPr/>
          </p:nvSpPr>
          <p:spPr>
            <a:xfrm>
              <a:off x="0" y="-38100"/>
              <a:ext cx="1131733" cy="1258208"/>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5" name="Google Shape;345;p11"/>
          <p:cNvSpPr/>
          <p:nvPr/>
        </p:nvSpPr>
        <p:spPr>
          <a:xfrm>
            <a:off x="8456216" y="3397261"/>
            <a:ext cx="1007650" cy="959517"/>
          </a:xfrm>
          <a:custGeom>
            <a:rect b="b" l="l" r="r" t="t"/>
            <a:pathLst>
              <a:path extrusionOk="0" h="959517" w="1007650">
                <a:moveTo>
                  <a:pt x="0" y="0"/>
                </a:moveTo>
                <a:lnTo>
                  <a:pt x="1007650" y="0"/>
                </a:lnTo>
                <a:lnTo>
                  <a:pt x="1007650" y="959517"/>
                </a:lnTo>
                <a:lnTo>
                  <a:pt x="0" y="959517"/>
                </a:lnTo>
                <a:lnTo>
                  <a:pt x="0" y="0"/>
                </a:lnTo>
                <a:close/>
              </a:path>
            </a:pathLst>
          </a:custGeom>
          <a:blipFill rotWithShape="1">
            <a:blip r:embed="rId6">
              <a:alphaModFix/>
            </a:blip>
            <a:stretch>
              <a:fillRect b="0" l="0" r="0" t="0"/>
            </a:stretch>
          </a:blipFill>
          <a:ln>
            <a:noFill/>
          </a:ln>
        </p:spPr>
      </p:sp>
      <p:sp>
        <p:nvSpPr>
          <p:cNvPr id="346" name="Google Shape;346;p11"/>
          <p:cNvSpPr/>
          <p:nvPr/>
        </p:nvSpPr>
        <p:spPr>
          <a:xfrm rot="1313163">
            <a:off x="14330817" y="-1655690"/>
            <a:ext cx="9085628" cy="5368780"/>
          </a:xfrm>
          <a:custGeom>
            <a:rect b="b" l="l" r="r" t="t"/>
            <a:pathLst>
              <a:path extrusionOk="0" h="5368780" w="9085628">
                <a:moveTo>
                  <a:pt x="0" y="0"/>
                </a:moveTo>
                <a:lnTo>
                  <a:pt x="9085629" y="0"/>
                </a:lnTo>
                <a:lnTo>
                  <a:pt x="9085629" y="5368780"/>
                </a:lnTo>
                <a:lnTo>
                  <a:pt x="0" y="5368780"/>
                </a:lnTo>
                <a:lnTo>
                  <a:pt x="0" y="0"/>
                </a:lnTo>
                <a:close/>
              </a:path>
            </a:pathLst>
          </a:custGeom>
          <a:blipFill rotWithShape="1">
            <a:blip r:embed="rId3">
              <a:alphaModFix/>
            </a:blip>
            <a:stretch>
              <a:fillRect b="0" l="0" r="0" t="0"/>
            </a:stretch>
          </a:blipFill>
          <a:ln>
            <a:noFill/>
          </a:ln>
        </p:spPr>
      </p:sp>
      <p:sp>
        <p:nvSpPr>
          <p:cNvPr id="347" name="Google Shape;347;p11"/>
          <p:cNvSpPr/>
          <p:nvPr/>
        </p:nvSpPr>
        <p:spPr>
          <a:xfrm>
            <a:off x="12813685" y="3289108"/>
            <a:ext cx="1493354" cy="1175824"/>
          </a:xfrm>
          <a:custGeom>
            <a:rect b="b" l="l" r="r" t="t"/>
            <a:pathLst>
              <a:path extrusionOk="0" h="1175824" w="1493354">
                <a:moveTo>
                  <a:pt x="0" y="0"/>
                </a:moveTo>
                <a:lnTo>
                  <a:pt x="1493354" y="0"/>
                </a:lnTo>
                <a:lnTo>
                  <a:pt x="1493354" y="1175823"/>
                </a:lnTo>
                <a:lnTo>
                  <a:pt x="0" y="1175823"/>
                </a:lnTo>
                <a:lnTo>
                  <a:pt x="0" y="0"/>
                </a:lnTo>
                <a:close/>
              </a:path>
            </a:pathLst>
          </a:custGeom>
          <a:blipFill rotWithShape="1">
            <a:blip r:embed="rId7">
              <a:alphaModFix/>
            </a:blip>
            <a:stretch>
              <a:fillRect b="0" l="0" r="0" t="0"/>
            </a:stretch>
          </a:blipFill>
          <a:ln>
            <a:noFill/>
          </a:ln>
        </p:spPr>
      </p:sp>
      <p:sp>
        <p:nvSpPr>
          <p:cNvPr id="348" name="Google Shape;348;p11"/>
          <p:cNvSpPr txBox="1"/>
          <p:nvPr/>
        </p:nvSpPr>
        <p:spPr>
          <a:xfrm>
            <a:off x="2340721" y="5663395"/>
            <a:ext cx="4002588" cy="1092805"/>
          </a:xfrm>
          <a:prstGeom prst="rect">
            <a:avLst/>
          </a:prstGeom>
          <a:noFill/>
          <a:ln>
            <a:noFill/>
          </a:ln>
        </p:spPr>
        <p:txBody>
          <a:bodyPr anchorCtr="0" anchor="t" bIns="0" lIns="0" spcFirstLastPara="1" rIns="0" wrap="square" tIns="0">
            <a:spAutoFit/>
          </a:bodyPr>
          <a:lstStyle/>
          <a:p>
            <a:pPr indent="0" lvl="0" marL="0" marR="0" rtl="0" algn="ctr">
              <a:lnSpc>
                <a:spcPct val="137977"/>
              </a:lnSpc>
              <a:spcBef>
                <a:spcPts val="0"/>
              </a:spcBef>
              <a:spcAft>
                <a:spcPts val="0"/>
              </a:spcAft>
              <a:buClr>
                <a:srgbClr val="000000"/>
              </a:buClr>
              <a:buSzPts val="1572"/>
              <a:buFont typeface="Arial"/>
              <a:buNone/>
            </a:pPr>
            <a:r>
              <a:rPr b="0" i="0" lang="en-US" sz="1572" u="none" cap="none" strike="noStrike">
                <a:solidFill>
                  <a:srgbClr val="051D40"/>
                </a:solidFill>
                <a:latin typeface="DM Sans"/>
                <a:ea typeface="DM Sans"/>
                <a:cs typeface="DM Sans"/>
                <a:sym typeface="DM Sans"/>
              </a:rPr>
              <a:t>Miden el tiempo que tarda el sistema en responder a las solicitudes de los usuarios. Un tiempo de respuesta rápido es crucial para una buena experiencia de usuario.</a:t>
            </a:r>
            <a:endParaRPr b="0" i="0" sz="1400" u="none" cap="none" strike="noStrike">
              <a:solidFill>
                <a:srgbClr val="000000"/>
              </a:solidFill>
              <a:latin typeface="Arial"/>
              <a:ea typeface="Arial"/>
              <a:cs typeface="Arial"/>
              <a:sym typeface="Arial"/>
            </a:endParaRPr>
          </a:p>
        </p:txBody>
      </p:sp>
      <p:sp>
        <p:nvSpPr>
          <p:cNvPr id="349" name="Google Shape;349;p11"/>
          <p:cNvSpPr txBox="1"/>
          <p:nvPr/>
        </p:nvSpPr>
        <p:spPr>
          <a:xfrm>
            <a:off x="2322288" y="4472076"/>
            <a:ext cx="4002588" cy="1285699"/>
          </a:xfrm>
          <a:prstGeom prst="rect">
            <a:avLst/>
          </a:prstGeom>
          <a:noFill/>
          <a:ln>
            <a:noFill/>
          </a:ln>
        </p:spPr>
        <p:txBody>
          <a:bodyPr anchorCtr="0" anchor="t" bIns="0" lIns="0" spcFirstLastPara="1" rIns="0" wrap="square" tIns="0">
            <a:spAutoFit/>
          </a:bodyPr>
          <a:lstStyle/>
          <a:p>
            <a:pPr indent="0" lvl="0" marL="0" marR="0" rtl="0" algn="ctr">
              <a:lnSpc>
                <a:spcPct val="138009"/>
              </a:lnSpc>
              <a:spcBef>
                <a:spcPts val="0"/>
              </a:spcBef>
              <a:spcAft>
                <a:spcPts val="0"/>
              </a:spcAft>
              <a:buClr>
                <a:srgbClr val="000000"/>
              </a:buClr>
              <a:buSzPts val="3757"/>
              <a:buFont typeface="Arial"/>
              <a:buNone/>
            </a:pPr>
            <a:r>
              <a:rPr b="1" i="0" lang="en-US" sz="3757" u="none" cap="none" strike="noStrike">
                <a:solidFill>
                  <a:srgbClr val="0071C9"/>
                </a:solidFill>
                <a:latin typeface="DM Sans"/>
                <a:ea typeface="DM Sans"/>
                <a:cs typeface="DM Sans"/>
                <a:sym typeface="DM Sans"/>
              </a:rPr>
              <a:t>Tiempo de respuesta</a:t>
            </a:r>
            <a:endParaRPr b="0" i="0" sz="1400" u="none" cap="none" strike="noStrike">
              <a:solidFill>
                <a:srgbClr val="000000"/>
              </a:solidFill>
              <a:latin typeface="Arial"/>
              <a:ea typeface="Arial"/>
              <a:cs typeface="Arial"/>
              <a:sym typeface="Arial"/>
            </a:endParaRPr>
          </a:p>
        </p:txBody>
      </p:sp>
      <p:sp>
        <p:nvSpPr>
          <p:cNvPr id="350" name="Google Shape;350;p11"/>
          <p:cNvSpPr txBox="1"/>
          <p:nvPr/>
        </p:nvSpPr>
        <p:spPr>
          <a:xfrm>
            <a:off x="7043606" y="5663395"/>
            <a:ext cx="4002588" cy="1642892"/>
          </a:xfrm>
          <a:prstGeom prst="rect">
            <a:avLst/>
          </a:prstGeom>
          <a:noFill/>
          <a:ln>
            <a:noFill/>
          </a:ln>
        </p:spPr>
        <p:txBody>
          <a:bodyPr anchorCtr="0" anchor="t" bIns="0" lIns="0" spcFirstLastPara="1" rIns="0" wrap="square" tIns="0">
            <a:spAutoFit/>
          </a:bodyPr>
          <a:lstStyle/>
          <a:p>
            <a:pPr indent="0" lvl="0" marL="0" marR="0" rtl="0" algn="ctr">
              <a:lnSpc>
                <a:spcPct val="137977"/>
              </a:lnSpc>
              <a:spcBef>
                <a:spcPts val="0"/>
              </a:spcBef>
              <a:spcAft>
                <a:spcPts val="0"/>
              </a:spcAft>
              <a:buClr>
                <a:srgbClr val="000000"/>
              </a:buClr>
              <a:buSzPts val="1572"/>
              <a:buFont typeface="Arial"/>
              <a:buNone/>
            </a:pPr>
            <a:r>
              <a:rPr b="0" i="0" lang="en-US" sz="1572" u="none" cap="none" strike="noStrike">
                <a:solidFill>
                  <a:srgbClr val="051D40"/>
                </a:solidFill>
                <a:latin typeface="DM Sans"/>
                <a:ea typeface="DM Sans"/>
                <a:cs typeface="DM Sans"/>
                <a:sym typeface="DM Sans"/>
              </a:rPr>
              <a:t>Evalúan cómo la aplicación utiliza recursos del sistema como la CPU, la memoria, la red y la base de datos bajo una carga normal. Esto ayuda a identificar cuellos de botella y posibles problemas de rendimiento.</a:t>
            </a:r>
            <a:endParaRPr b="0" i="0" sz="1400" u="none" cap="none" strike="noStrike">
              <a:solidFill>
                <a:srgbClr val="000000"/>
              </a:solidFill>
              <a:latin typeface="Arial"/>
              <a:ea typeface="Arial"/>
              <a:cs typeface="Arial"/>
              <a:sym typeface="Arial"/>
            </a:endParaRPr>
          </a:p>
        </p:txBody>
      </p:sp>
      <p:sp>
        <p:nvSpPr>
          <p:cNvPr id="351" name="Google Shape;351;p11"/>
          <p:cNvSpPr txBox="1"/>
          <p:nvPr/>
        </p:nvSpPr>
        <p:spPr>
          <a:xfrm>
            <a:off x="7045475" y="4354811"/>
            <a:ext cx="4002588" cy="1285699"/>
          </a:xfrm>
          <a:prstGeom prst="rect">
            <a:avLst/>
          </a:prstGeom>
          <a:noFill/>
          <a:ln>
            <a:noFill/>
          </a:ln>
        </p:spPr>
        <p:txBody>
          <a:bodyPr anchorCtr="0" anchor="t" bIns="0" lIns="0" spcFirstLastPara="1" rIns="0" wrap="square" tIns="0">
            <a:spAutoFit/>
          </a:bodyPr>
          <a:lstStyle/>
          <a:p>
            <a:pPr indent="0" lvl="0" marL="0" marR="0" rtl="0" algn="ctr">
              <a:lnSpc>
                <a:spcPct val="138009"/>
              </a:lnSpc>
              <a:spcBef>
                <a:spcPts val="0"/>
              </a:spcBef>
              <a:spcAft>
                <a:spcPts val="0"/>
              </a:spcAft>
              <a:buClr>
                <a:srgbClr val="000000"/>
              </a:buClr>
              <a:buSzPts val="3757"/>
              <a:buFont typeface="Arial"/>
              <a:buNone/>
            </a:pPr>
            <a:r>
              <a:rPr b="1" i="0" lang="en-US" sz="3757" u="none" cap="none" strike="noStrike">
                <a:solidFill>
                  <a:srgbClr val="F1945B"/>
                </a:solidFill>
                <a:latin typeface="DM Sans"/>
                <a:ea typeface="DM Sans"/>
                <a:cs typeface="DM Sans"/>
                <a:sym typeface="DM Sans"/>
              </a:rPr>
              <a:t>Utilización de recursos</a:t>
            </a:r>
            <a:endParaRPr b="0" i="0" sz="1400" u="none" cap="none" strike="noStrike">
              <a:solidFill>
                <a:srgbClr val="000000"/>
              </a:solidFill>
              <a:latin typeface="Arial"/>
              <a:ea typeface="Arial"/>
              <a:cs typeface="Arial"/>
              <a:sym typeface="Arial"/>
            </a:endParaRPr>
          </a:p>
        </p:txBody>
      </p:sp>
      <p:sp>
        <p:nvSpPr>
          <p:cNvPr id="352" name="Google Shape;352;p11"/>
          <p:cNvSpPr txBox="1"/>
          <p:nvPr/>
        </p:nvSpPr>
        <p:spPr>
          <a:xfrm>
            <a:off x="11765334" y="6095095"/>
            <a:ext cx="4002588" cy="766442"/>
          </a:xfrm>
          <a:prstGeom prst="rect">
            <a:avLst/>
          </a:prstGeom>
          <a:noFill/>
          <a:ln>
            <a:noFill/>
          </a:ln>
        </p:spPr>
        <p:txBody>
          <a:bodyPr anchorCtr="0" anchor="t" bIns="0" lIns="0" spcFirstLastPara="1" rIns="0" wrap="square" tIns="0">
            <a:spAutoFit/>
          </a:bodyPr>
          <a:lstStyle/>
          <a:p>
            <a:pPr indent="0" lvl="0" marL="0" marR="0" rtl="0" algn="ctr">
              <a:lnSpc>
                <a:spcPct val="137975"/>
              </a:lnSpc>
              <a:spcBef>
                <a:spcPts val="0"/>
              </a:spcBef>
              <a:spcAft>
                <a:spcPts val="0"/>
              </a:spcAft>
              <a:buClr>
                <a:srgbClr val="000000"/>
              </a:buClr>
              <a:buSzPts val="1472"/>
              <a:buFont typeface="Arial"/>
              <a:buNone/>
            </a:pPr>
            <a:r>
              <a:rPr b="0" i="0" lang="en-US" sz="1472" u="none" cap="none" strike="noStrike">
                <a:solidFill>
                  <a:srgbClr val="051D40"/>
                </a:solidFill>
                <a:latin typeface="DM Sans"/>
                <a:ea typeface="DM Sans"/>
                <a:cs typeface="DM Sans"/>
                <a:sym typeface="DM Sans"/>
              </a:rPr>
              <a:t>Aseguran que el sistema no se congele, se bloquee o muestre errores bajo la carga esperada.</a:t>
            </a:r>
            <a:endParaRPr b="0" i="0" sz="1400" u="none" cap="none" strike="noStrike">
              <a:solidFill>
                <a:srgbClr val="000000"/>
              </a:solidFill>
              <a:latin typeface="Arial"/>
              <a:ea typeface="Arial"/>
              <a:cs typeface="Arial"/>
              <a:sym typeface="Arial"/>
            </a:endParaRPr>
          </a:p>
        </p:txBody>
      </p:sp>
      <p:sp>
        <p:nvSpPr>
          <p:cNvPr id="353" name="Google Shape;353;p11"/>
          <p:cNvSpPr txBox="1"/>
          <p:nvPr/>
        </p:nvSpPr>
        <p:spPr>
          <a:xfrm>
            <a:off x="11750229" y="4570266"/>
            <a:ext cx="4002588" cy="1285699"/>
          </a:xfrm>
          <a:prstGeom prst="rect">
            <a:avLst/>
          </a:prstGeom>
          <a:noFill/>
          <a:ln>
            <a:noFill/>
          </a:ln>
        </p:spPr>
        <p:txBody>
          <a:bodyPr anchorCtr="0" anchor="t" bIns="0" lIns="0" spcFirstLastPara="1" rIns="0" wrap="square" tIns="0">
            <a:spAutoFit/>
          </a:bodyPr>
          <a:lstStyle/>
          <a:p>
            <a:pPr indent="0" lvl="0" marL="0" marR="0" rtl="0" algn="ctr">
              <a:lnSpc>
                <a:spcPct val="138009"/>
              </a:lnSpc>
              <a:spcBef>
                <a:spcPts val="0"/>
              </a:spcBef>
              <a:spcAft>
                <a:spcPts val="0"/>
              </a:spcAft>
              <a:buClr>
                <a:srgbClr val="000000"/>
              </a:buClr>
              <a:buSzPts val="3757"/>
              <a:buFont typeface="Arial"/>
              <a:buNone/>
            </a:pPr>
            <a:r>
              <a:rPr b="1" i="0" lang="en-US" sz="3757" u="none" cap="none" strike="noStrike">
                <a:solidFill>
                  <a:srgbClr val="1C5739"/>
                </a:solidFill>
                <a:latin typeface="DM Sans"/>
                <a:ea typeface="DM Sans"/>
                <a:cs typeface="DM Sans"/>
                <a:sym typeface="DM Sans"/>
              </a:rPr>
              <a:t>Comportamiento del sistema</a:t>
            </a:r>
            <a:endParaRPr b="0" i="0" sz="1400" u="none" cap="none" strike="noStrike">
              <a:solidFill>
                <a:srgbClr val="000000"/>
              </a:solidFill>
              <a:latin typeface="Arial"/>
              <a:ea typeface="Arial"/>
              <a:cs typeface="Arial"/>
              <a:sym typeface="Arial"/>
            </a:endParaRPr>
          </a:p>
        </p:txBody>
      </p:sp>
      <p:sp>
        <p:nvSpPr>
          <p:cNvPr id="354" name="Google Shape;354;p11"/>
          <p:cNvSpPr txBox="1"/>
          <p:nvPr/>
        </p:nvSpPr>
        <p:spPr>
          <a:xfrm>
            <a:off x="2170729" y="623887"/>
            <a:ext cx="8245699" cy="1476375"/>
          </a:xfrm>
          <a:prstGeom prst="rect">
            <a:avLst/>
          </a:prstGeom>
          <a:noFill/>
          <a:ln>
            <a:noFill/>
          </a:ln>
        </p:spPr>
        <p:txBody>
          <a:bodyPr anchorCtr="0" anchor="t" bIns="0" lIns="0" spcFirstLastPara="1" rIns="0" wrap="square" tIns="0">
            <a:spAutoFit/>
          </a:bodyPr>
          <a:lstStyle/>
          <a:p>
            <a:pPr indent="0" lvl="0" marL="0" marR="0" rtl="0" algn="ctr">
              <a:lnSpc>
                <a:spcPct val="120004"/>
              </a:lnSpc>
              <a:spcBef>
                <a:spcPts val="0"/>
              </a:spcBef>
              <a:spcAft>
                <a:spcPts val="0"/>
              </a:spcAft>
              <a:buClr>
                <a:srgbClr val="000000"/>
              </a:buClr>
              <a:buSzPts val="4739"/>
              <a:buFont typeface="Arial"/>
              <a:buNone/>
            </a:pPr>
            <a:r>
              <a:rPr b="0" i="0" lang="en-US" sz="4739" u="none" cap="none" strike="noStrike">
                <a:solidFill>
                  <a:srgbClr val="FFFFFF"/>
                </a:solidFill>
                <a:latin typeface="Poppins"/>
                <a:ea typeface="Poppins"/>
                <a:cs typeface="Poppins"/>
                <a:sym typeface="Poppins"/>
              </a:rPr>
              <a:t>¿QUÉ EVALÚAN LAS PRUEBAS DE CARGA?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358" name="Shape 358"/>
        <p:cNvGrpSpPr/>
        <p:nvPr/>
      </p:nvGrpSpPr>
      <p:grpSpPr>
        <a:xfrm>
          <a:off x="0" y="0"/>
          <a:ext cx="0" cy="0"/>
          <a:chOff x="0" y="0"/>
          <a:chExt cx="0" cy="0"/>
        </a:xfrm>
      </p:grpSpPr>
      <p:sp>
        <p:nvSpPr>
          <p:cNvPr id="359" name="Google Shape;359;p12"/>
          <p:cNvSpPr/>
          <p:nvPr/>
        </p:nvSpPr>
        <p:spPr>
          <a:xfrm>
            <a:off x="6694069" y="3428600"/>
            <a:ext cx="821455" cy="821455"/>
          </a:xfrm>
          <a:custGeom>
            <a:rect b="b" l="l" r="r" t="t"/>
            <a:pathLst>
              <a:path extrusionOk="0" h="821455" w="821455">
                <a:moveTo>
                  <a:pt x="0" y="0"/>
                </a:moveTo>
                <a:lnTo>
                  <a:pt x="821455" y="0"/>
                </a:lnTo>
                <a:lnTo>
                  <a:pt x="821455" y="821455"/>
                </a:lnTo>
                <a:lnTo>
                  <a:pt x="0" y="821455"/>
                </a:lnTo>
                <a:lnTo>
                  <a:pt x="0" y="0"/>
                </a:lnTo>
                <a:close/>
              </a:path>
            </a:pathLst>
          </a:custGeom>
          <a:blipFill rotWithShape="1">
            <a:blip r:embed="rId3">
              <a:alphaModFix/>
            </a:blip>
            <a:stretch>
              <a:fillRect b="0" l="0" r="0" t="0"/>
            </a:stretch>
          </a:blipFill>
          <a:ln>
            <a:noFill/>
          </a:ln>
        </p:spPr>
      </p:sp>
      <p:sp>
        <p:nvSpPr>
          <p:cNvPr id="360" name="Google Shape;360;p12"/>
          <p:cNvSpPr txBox="1"/>
          <p:nvPr/>
        </p:nvSpPr>
        <p:spPr>
          <a:xfrm>
            <a:off x="1028700" y="2286055"/>
            <a:ext cx="13726645" cy="730377"/>
          </a:xfrm>
          <a:prstGeom prst="rect">
            <a:avLst/>
          </a:prstGeom>
          <a:noFill/>
          <a:ln>
            <a:noFill/>
          </a:ln>
        </p:spPr>
        <p:txBody>
          <a:bodyPr anchorCtr="0" anchor="t" bIns="0" lIns="0" spcFirstLastPara="1" rIns="0" wrap="square" tIns="0">
            <a:spAutoFit/>
          </a:bodyPr>
          <a:lstStyle/>
          <a:p>
            <a:pPr indent="0" lvl="0" marL="0" marR="0" rtl="0" algn="l">
              <a:lnSpc>
                <a:spcPct val="138000"/>
              </a:lnSpc>
              <a:spcBef>
                <a:spcPts val="0"/>
              </a:spcBef>
              <a:spcAft>
                <a:spcPts val="0"/>
              </a:spcAft>
              <a:buClr>
                <a:srgbClr val="000000"/>
              </a:buClr>
              <a:buSzPts val="4300"/>
              <a:buFont typeface="Arial"/>
              <a:buNone/>
            </a:pPr>
            <a:r>
              <a:rPr b="1" i="0" lang="en-US" sz="4300" u="none" cap="none" strike="noStrike">
                <a:solidFill>
                  <a:srgbClr val="FFFFFF"/>
                </a:solidFill>
                <a:latin typeface="DM Sans"/>
                <a:ea typeface="DM Sans"/>
                <a:cs typeface="DM Sans"/>
                <a:sym typeface="DM Sans"/>
              </a:rPr>
              <a:t>¿Por qué son importantes?</a:t>
            </a:r>
            <a:endParaRPr b="0" i="0" sz="1400" u="none" cap="none" strike="noStrike">
              <a:solidFill>
                <a:srgbClr val="000000"/>
              </a:solidFill>
              <a:latin typeface="Arial"/>
              <a:ea typeface="Arial"/>
              <a:cs typeface="Arial"/>
              <a:sym typeface="Arial"/>
            </a:endParaRPr>
          </a:p>
        </p:txBody>
      </p:sp>
      <p:sp>
        <p:nvSpPr>
          <p:cNvPr id="361" name="Google Shape;361;p12"/>
          <p:cNvSpPr txBox="1"/>
          <p:nvPr/>
        </p:nvSpPr>
        <p:spPr>
          <a:xfrm>
            <a:off x="1028700" y="3791703"/>
            <a:ext cx="15895219" cy="2088020"/>
          </a:xfrm>
          <a:prstGeom prst="rect">
            <a:avLst/>
          </a:prstGeom>
          <a:noFill/>
          <a:ln>
            <a:noFill/>
          </a:ln>
        </p:spPr>
        <p:txBody>
          <a:bodyPr anchorCtr="0" anchor="t" bIns="0" lIns="0" spcFirstLastPara="1" rIns="0" wrap="square" tIns="0">
            <a:spAutoFit/>
          </a:bodyPr>
          <a:lstStyle/>
          <a:p>
            <a:pPr indent="0" lvl="0" marL="0" marR="0" rtl="0" algn="just">
              <a:lnSpc>
                <a:spcPct val="138008"/>
              </a:lnSpc>
              <a:spcBef>
                <a:spcPts val="0"/>
              </a:spcBef>
              <a:spcAft>
                <a:spcPts val="0"/>
              </a:spcAft>
              <a:buClr>
                <a:srgbClr val="000000"/>
              </a:buClr>
              <a:buSzPts val="2410"/>
              <a:buFont typeface="Arial"/>
              <a:buNone/>
            </a:pPr>
            <a:r>
              <a:rPr b="0" i="0" lang="en-US" sz="2410" u="none" cap="none" strike="noStrike">
                <a:solidFill>
                  <a:srgbClr val="FFFFFF"/>
                </a:solidFill>
                <a:latin typeface="DM Sans"/>
                <a:ea typeface="DM Sans"/>
                <a:cs typeface="DM Sans"/>
                <a:sym typeface="DM Sans"/>
              </a:rPr>
              <a:t>Imagina una tienda en línea que se prepara para una venta de "Black Friday". Saben que esperan 10,000 visitantes simultáneos. Si el sistema no se prueba para soportar esa carga, podría volverse increíblemente lento o colapsar, resultando en pérdida de ventas e insatisfacción del cliente. Las pruebas de carga ayudan a prevenir estos escenarios al simular el tráfico esperado de antemano y asegurar que la arquitectura de software y el hardware sean lo suficientemente robustos.</a:t>
            </a:r>
            <a:endParaRPr b="0" i="0" sz="1400" u="none" cap="none" strike="noStrike">
              <a:solidFill>
                <a:srgbClr val="000000"/>
              </a:solidFill>
              <a:latin typeface="Arial"/>
              <a:ea typeface="Arial"/>
              <a:cs typeface="Arial"/>
              <a:sym typeface="Arial"/>
            </a:endParaRPr>
          </a:p>
        </p:txBody>
      </p:sp>
      <p:sp>
        <p:nvSpPr>
          <p:cNvPr id="362" name="Google Shape;362;p12"/>
          <p:cNvSpPr/>
          <p:nvPr/>
        </p:nvSpPr>
        <p:spPr>
          <a:xfrm>
            <a:off x="-2519628" y="7712017"/>
            <a:ext cx="6602062" cy="6602062"/>
          </a:xfrm>
          <a:custGeom>
            <a:rect b="b" l="l" r="r" t="t"/>
            <a:pathLst>
              <a:path extrusionOk="0" h="6602062" w="6602062">
                <a:moveTo>
                  <a:pt x="0" y="0"/>
                </a:moveTo>
                <a:lnTo>
                  <a:pt x="6602062" y="0"/>
                </a:lnTo>
                <a:lnTo>
                  <a:pt x="6602062" y="6602062"/>
                </a:lnTo>
                <a:lnTo>
                  <a:pt x="0" y="6602062"/>
                </a:lnTo>
                <a:lnTo>
                  <a:pt x="0" y="0"/>
                </a:lnTo>
                <a:close/>
              </a:path>
            </a:pathLst>
          </a:custGeom>
          <a:blipFill rotWithShape="1">
            <a:blip r:embed="rId4">
              <a:alphaModFix/>
            </a:blip>
            <a:stretch>
              <a:fillRect b="0" l="0" r="0" t="0"/>
            </a:stretch>
          </a:blipFill>
          <a:ln>
            <a:noFill/>
          </a:ln>
        </p:spPr>
      </p:sp>
      <p:sp>
        <p:nvSpPr>
          <p:cNvPr id="363" name="Google Shape;363;p12"/>
          <p:cNvSpPr/>
          <p:nvPr/>
        </p:nvSpPr>
        <p:spPr>
          <a:xfrm rot="10436461">
            <a:off x="14111851" y="-3920191"/>
            <a:ext cx="6294897" cy="6294897"/>
          </a:xfrm>
          <a:custGeom>
            <a:rect b="b" l="l" r="r" t="t"/>
            <a:pathLst>
              <a:path extrusionOk="0" h="6294897" w="6294897">
                <a:moveTo>
                  <a:pt x="0" y="0"/>
                </a:moveTo>
                <a:lnTo>
                  <a:pt x="6294898" y="0"/>
                </a:lnTo>
                <a:lnTo>
                  <a:pt x="6294898" y="6294898"/>
                </a:lnTo>
                <a:lnTo>
                  <a:pt x="0" y="6294898"/>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367" name="Shape 367"/>
        <p:cNvGrpSpPr/>
        <p:nvPr/>
      </p:nvGrpSpPr>
      <p:grpSpPr>
        <a:xfrm>
          <a:off x="0" y="0"/>
          <a:ext cx="0" cy="0"/>
          <a:chOff x="0" y="0"/>
          <a:chExt cx="0" cy="0"/>
        </a:xfrm>
      </p:grpSpPr>
      <p:grpSp>
        <p:nvGrpSpPr>
          <p:cNvPr id="368" name="Google Shape;368;p13"/>
          <p:cNvGrpSpPr/>
          <p:nvPr/>
        </p:nvGrpSpPr>
        <p:grpSpPr>
          <a:xfrm>
            <a:off x="6723272" y="2035179"/>
            <a:ext cx="4161751" cy="1246529"/>
            <a:chOff x="0" y="-38100"/>
            <a:chExt cx="2565722" cy="768486"/>
          </a:xfrm>
        </p:grpSpPr>
        <p:sp>
          <p:nvSpPr>
            <p:cNvPr id="369" name="Google Shape;369;p13"/>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145DA0"/>
            </a:solidFill>
            <a:ln>
              <a:noFill/>
            </a:ln>
          </p:spPr>
        </p:sp>
        <p:sp>
          <p:nvSpPr>
            <p:cNvPr id="370" name="Google Shape;370;p13"/>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1" name="Google Shape;371;p13"/>
          <p:cNvGrpSpPr/>
          <p:nvPr/>
        </p:nvGrpSpPr>
        <p:grpSpPr>
          <a:xfrm rot="10800000">
            <a:off x="5756860" y="3281708"/>
            <a:ext cx="4161751" cy="1246529"/>
            <a:chOff x="0" y="-38100"/>
            <a:chExt cx="2565722" cy="768486"/>
          </a:xfrm>
        </p:grpSpPr>
        <p:sp>
          <p:nvSpPr>
            <p:cNvPr id="372" name="Google Shape;372;p13"/>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0071C9"/>
            </a:solidFill>
            <a:ln>
              <a:noFill/>
            </a:ln>
          </p:spPr>
        </p:sp>
        <p:sp>
          <p:nvSpPr>
            <p:cNvPr id="373" name="Google Shape;373;p13"/>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4" name="Google Shape;374;p13"/>
          <p:cNvGrpSpPr/>
          <p:nvPr/>
        </p:nvGrpSpPr>
        <p:grpSpPr>
          <a:xfrm>
            <a:off x="7387678" y="4404636"/>
            <a:ext cx="4161751" cy="1246529"/>
            <a:chOff x="0" y="-38100"/>
            <a:chExt cx="2565722" cy="768486"/>
          </a:xfrm>
        </p:grpSpPr>
        <p:sp>
          <p:nvSpPr>
            <p:cNvPr id="375" name="Google Shape;375;p13"/>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56AEFF"/>
            </a:solidFill>
            <a:ln>
              <a:noFill/>
            </a:ln>
          </p:spPr>
        </p:sp>
        <p:sp>
          <p:nvSpPr>
            <p:cNvPr id="376" name="Google Shape;376;p13"/>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7" name="Google Shape;377;p13"/>
          <p:cNvGrpSpPr/>
          <p:nvPr/>
        </p:nvGrpSpPr>
        <p:grpSpPr>
          <a:xfrm rot="10800000">
            <a:off x="6421266" y="5651165"/>
            <a:ext cx="4161751" cy="1246529"/>
            <a:chOff x="0" y="-38100"/>
            <a:chExt cx="2565722" cy="768486"/>
          </a:xfrm>
        </p:grpSpPr>
        <p:sp>
          <p:nvSpPr>
            <p:cNvPr id="378" name="Google Shape;378;p13"/>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4BD1FB"/>
            </a:solidFill>
            <a:ln>
              <a:noFill/>
            </a:ln>
          </p:spPr>
        </p:sp>
        <p:sp>
          <p:nvSpPr>
            <p:cNvPr id="379" name="Google Shape;379;p13"/>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80" name="Google Shape;380;p13"/>
          <p:cNvSpPr txBox="1"/>
          <p:nvPr/>
        </p:nvSpPr>
        <p:spPr>
          <a:xfrm>
            <a:off x="6694069" y="3239206"/>
            <a:ext cx="2745282" cy="1285699"/>
          </a:xfrm>
          <a:prstGeom prst="rect">
            <a:avLst/>
          </a:prstGeom>
          <a:noFill/>
          <a:ln>
            <a:noFill/>
          </a:ln>
        </p:spPr>
        <p:txBody>
          <a:bodyPr anchorCtr="0" anchor="t" bIns="0" lIns="0" spcFirstLastPara="1" rIns="0" wrap="square" tIns="0">
            <a:spAutoFit/>
          </a:bodyPr>
          <a:lstStyle/>
          <a:p>
            <a:pPr indent="0" lvl="0" marL="0" marR="0" rtl="0" algn="ctr">
              <a:lnSpc>
                <a:spcPct val="138009"/>
              </a:lnSpc>
              <a:spcBef>
                <a:spcPts val="0"/>
              </a:spcBef>
              <a:spcAft>
                <a:spcPts val="0"/>
              </a:spcAft>
              <a:buClr>
                <a:srgbClr val="000000"/>
              </a:buClr>
              <a:buSzPts val="3757"/>
              <a:buFont typeface="Arial"/>
              <a:buNone/>
            </a:pPr>
            <a:r>
              <a:rPr b="1" i="0" lang="en-US" sz="3757" u="none" cap="none" strike="noStrike">
                <a:solidFill>
                  <a:srgbClr val="051D40"/>
                </a:solidFill>
                <a:latin typeface="DM Sans"/>
                <a:ea typeface="DM Sans"/>
                <a:cs typeface="DM Sans"/>
                <a:sym typeface="DM Sans"/>
              </a:rPr>
              <a:t>Crear el escenario</a:t>
            </a:r>
            <a:endParaRPr b="0" i="0" sz="1400" u="none" cap="none" strike="noStrike">
              <a:solidFill>
                <a:srgbClr val="000000"/>
              </a:solidFill>
              <a:latin typeface="Arial"/>
              <a:ea typeface="Arial"/>
              <a:cs typeface="Arial"/>
              <a:sym typeface="Arial"/>
            </a:endParaRPr>
          </a:p>
        </p:txBody>
      </p:sp>
      <p:sp>
        <p:nvSpPr>
          <p:cNvPr id="381" name="Google Shape;381;p13"/>
          <p:cNvSpPr/>
          <p:nvPr/>
        </p:nvSpPr>
        <p:spPr>
          <a:xfrm>
            <a:off x="6694069" y="3428600"/>
            <a:ext cx="821455" cy="821455"/>
          </a:xfrm>
          <a:custGeom>
            <a:rect b="b" l="l" r="r" t="t"/>
            <a:pathLst>
              <a:path extrusionOk="0" h="821455" w="821455">
                <a:moveTo>
                  <a:pt x="0" y="0"/>
                </a:moveTo>
                <a:lnTo>
                  <a:pt x="821455" y="0"/>
                </a:lnTo>
                <a:lnTo>
                  <a:pt x="821455" y="821455"/>
                </a:lnTo>
                <a:lnTo>
                  <a:pt x="0" y="821455"/>
                </a:lnTo>
                <a:lnTo>
                  <a:pt x="0" y="0"/>
                </a:lnTo>
                <a:close/>
              </a:path>
            </a:pathLst>
          </a:custGeom>
          <a:blipFill rotWithShape="1">
            <a:blip r:embed="rId3">
              <a:alphaModFix/>
            </a:blip>
            <a:stretch>
              <a:fillRect b="0" l="0" r="0" t="0"/>
            </a:stretch>
          </a:blipFill>
          <a:ln>
            <a:noFill/>
          </a:ln>
        </p:spPr>
      </p:sp>
      <p:sp>
        <p:nvSpPr>
          <p:cNvPr id="382" name="Google Shape;382;p13"/>
          <p:cNvSpPr txBox="1"/>
          <p:nvPr/>
        </p:nvSpPr>
        <p:spPr>
          <a:xfrm>
            <a:off x="6916181" y="2426733"/>
            <a:ext cx="3775934" cy="477597"/>
          </a:xfrm>
          <a:prstGeom prst="rect">
            <a:avLst/>
          </a:prstGeom>
          <a:noFill/>
          <a:ln>
            <a:noFill/>
          </a:ln>
        </p:spPr>
        <p:txBody>
          <a:bodyPr anchorCtr="0" anchor="t" bIns="0" lIns="0" spcFirstLastPara="1" rIns="0" wrap="square" tIns="0">
            <a:spAutoFit/>
          </a:bodyPr>
          <a:lstStyle/>
          <a:p>
            <a:pPr indent="0" lvl="0" marL="0" marR="0" rtl="0" algn="ctr">
              <a:lnSpc>
                <a:spcPct val="138011"/>
              </a:lnSpc>
              <a:spcBef>
                <a:spcPts val="0"/>
              </a:spcBef>
              <a:spcAft>
                <a:spcPts val="0"/>
              </a:spcAft>
              <a:buClr>
                <a:srgbClr val="000000"/>
              </a:buClr>
              <a:buSzPts val="2857"/>
              <a:buFont typeface="Arial"/>
              <a:buNone/>
            </a:pPr>
            <a:r>
              <a:rPr b="1" i="0" lang="en-US" sz="2857" u="none" cap="none" strike="noStrike">
                <a:solidFill>
                  <a:srgbClr val="051D40"/>
                </a:solidFill>
                <a:latin typeface="DM Sans"/>
                <a:ea typeface="DM Sans"/>
                <a:cs typeface="DM Sans"/>
                <a:sym typeface="DM Sans"/>
              </a:rPr>
              <a:t>Definir los objetivos</a:t>
            </a:r>
            <a:endParaRPr b="0" i="0" sz="1400" u="none" cap="none" strike="noStrike">
              <a:solidFill>
                <a:srgbClr val="000000"/>
              </a:solidFill>
              <a:latin typeface="Arial"/>
              <a:ea typeface="Arial"/>
              <a:cs typeface="Arial"/>
              <a:sym typeface="Arial"/>
            </a:endParaRPr>
          </a:p>
        </p:txBody>
      </p:sp>
      <p:sp>
        <p:nvSpPr>
          <p:cNvPr id="383" name="Google Shape;383;p13"/>
          <p:cNvSpPr txBox="1"/>
          <p:nvPr/>
        </p:nvSpPr>
        <p:spPr>
          <a:xfrm>
            <a:off x="1313374" y="309508"/>
            <a:ext cx="13726645" cy="730377"/>
          </a:xfrm>
          <a:prstGeom prst="rect">
            <a:avLst/>
          </a:prstGeom>
          <a:noFill/>
          <a:ln>
            <a:noFill/>
          </a:ln>
        </p:spPr>
        <p:txBody>
          <a:bodyPr anchorCtr="0" anchor="t" bIns="0" lIns="0" spcFirstLastPara="1" rIns="0" wrap="square" tIns="0">
            <a:spAutoFit/>
          </a:bodyPr>
          <a:lstStyle/>
          <a:p>
            <a:pPr indent="0" lvl="0" marL="0" marR="0" rtl="0" algn="l">
              <a:lnSpc>
                <a:spcPct val="138000"/>
              </a:lnSpc>
              <a:spcBef>
                <a:spcPts val="0"/>
              </a:spcBef>
              <a:spcAft>
                <a:spcPts val="0"/>
              </a:spcAft>
              <a:buClr>
                <a:srgbClr val="000000"/>
              </a:buClr>
              <a:buSzPts val="4300"/>
              <a:buFont typeface="Arial"/>
              <a:buNone/>
            </a:pPr>
            <a:r>
              <a:rPr b="1" i="0" lang="en-US" sz="4300" u="none" cap="none" strike="noStrike">
                <a:solidFill>
                  <a:srgbClr val="FFFFFF"/>
                </a:solidFill>
                <a:latin typeface="DM Sans"/>
                <a:ea typeface="DM Sans"/>
                <a:cs typeface="DM Sans"/>
                <a:sym typeface="DM Sans"/>
              </a:rPr>
              <a:t>¿Cómo se realizan?</a:t>
            </a:r>
            <a:endParaRPr b="0" i="0" sz="1400" u="none" cap="none" strike="noStrike">
              <a:solidFill>
                <a:srgbClr val="000000"/>
              </a:solidFill>
              <a:latin typeface="Arial"/>
              <a:ea typeface="Arial"/>
              <a:cs typeface="Arial"/>
              <a:sym typeface="Arial"/>
            </a:endParaRPr>
          </a:p>
        </p:txBody>
      </p:sp>
      <p:sp>
        <p:nvSpPr>
          <p:cNvPr id="384" name="Google Shape;384;p13"/>
          <p:cNvSpPr txBox="1"/>
          <p:nvPr/>
        </p:nvSpPr>
        <p:spPr>
          <a:xfrm>
            <a:off x="7837736" y="4418811"/>
            <a:ext cx="3538773" cy="1097103"/>
          </a:xfrm>
          <a:prstGeom prst="rect">
            <a:avLst/>
          </a:prstGeom>
          <a:noFill/>
          <a:ln>
            <a:noFill/>
          </a:ln>
        </p:spPr>
        <p:txBody>
          <a:bodyPr anchorCtr="0" anchor="t" bIns="0" lIns="0" spcFirstLastPara="1" rIns="0" wrap="square" tIns="0">
            <a:spAutoFit/>
          </a:bodyPr>
          <a:lstStyle/>
          <a:p>
            <a:pPr indent="0" lvl="0" marL="0" marR="0" rtl="0" algn="ctr">
              <a:lnSpc>
                <a:spcPct val="138010"/>
              </a:lnSpc>
              <a:spcBef>
                <a:spcPts val="0"/>
              </a:spcBef>
              <a:spcAft>
                <a:spcPts val="0"/>
              </a:spcAft>
              <a:buClr>
                <a:srgbClr val="000000"/>
              </a:buClr>
              <a:buSzPts val="3257"/>
              <a:buFont typeface="Arial"/>
              <a:buNone/>
            </a:pPr>
            <a:r>
              <a:rPr b="1" i="0" lang="en-US" sz="3257" u="none" cap="none" strike="noStrike">
                <a:solidFill>
                  <a:srgbClr val="051D40"/>
                </a:solidFill>
                <a:latin typeface="DM Sans"/>
                <a:ea typeface="DM Sans"/>
                <a:cs typeface="DM Sans"/>
                <a:sym typeface="DM Sans"/>
              </a:rPr>
              <a:t>Ejecutar la prueba</a:t>
            </a:r>
            <a:endParaRPr b="0" i="0" sz="1400" u="none" cap="none" strike="noStrike">
              <a:solidFill>
                <a:srgbClr val="000000"/>
              </a:solidFill>
              <a:latin typeface="Arial"/>
              <a:ea typeface="Arial"/>
              <a:cs typeface="Arial"/>
              <a:sym typeface="Arial"/>
            </a:endParaRPr>
          </a:p>
        </p:txBody>
      </p:sp>
      <p:sp>
        <p:nvSpPr>
          <p:cNvPr id="385" name="Google Shape;385;p13"/>
          <p:cNvSpPr txBox="1"/>
          <p:nvPr/>
        </p:nvSpPr>
        <p:spPr>
          <a:xfrm>
            <a:off x="7104796" y="5744439"/>
            <a:ext cx="2745282" cy="1054050"/>
          </a:xfrm>
          <a:prstGeom prst="rect">
            <a:avLst/>
          </a:prstGeom>
          <a:noFill/>
          <a:ln>
            <a:noFill/>
          </a:ln>
        </p:spPr>
        <p:txBody>
          <a:bodyPr anchorCtr="0" anchor="t" bIns="0" lIns="0" spcFirstLastPara="1" rIns="0" wrap="square" tIns="0">
            <a:spAutoFit/>
          </a:bodyPr>
          <a:lstStyle/>
          <a:p>
            <a:pPr indent="0" lvl="0" marL="0" marR="0" rtl="0" algn="ctr">
              <a:lnSpc>
                <a:spcPct val="138011"/>
              </a:lnSpc>
              <a:spcBef>
                <a:spcPts val="0"/>
              </a:spcBef>
              <a:spcAft>
                <a:spcPts val="0"/>
              </a:spcAft>
              <a:buClr>
                <a:srgbClr val="000000"/>
              </a:buClr>
              <a:buSzPts val="3057"/>
              <a:buFont typeface="Arial"/>
              <a:buNone/>
            </a:pPr>
            <a:r>
              <a:rPr b="1" i="0" lang="en-US" sz="3057" u="none" cap="none" strike="noStrike">
                <a:solidFill>
                  <a:srgbClr val="051D40"/>
                </a:solidFill>
                <a:latin typeface="DM Sans"/>
                <a:ea typeface="DM Sans"/>
                <a:cs typeface="DM Sans"/>
                <a:sym typeface="DM Sans"/>
              </a:rPr>
              <a:t>Analizar los resultados</a:t>
            </a:r>
            <a:endParaRPr b="0" i="0" sz="1400" u="none" cap="none" strike="noStrike">
              <a:solidFill>
                <a:srgbClr val="000000"/>
              </a:solidFill>
              <a:latin typeface="Arial"/>
              <a:ea typeface="Arial"/>
              <a:cs typeface="Arial"/>
              <a:sym typeface="Arial"/>
            </a:endParaRPr>
          </a:p>
        </p:txBody>
      </p:sp>
      <p:sp>
        <p:nvSpPr>
          <p:cNvPr id="386" name="Google Shape;386;p13"/>
          <p:cNvSpPr txBox="1"/>
          <p:nvPr/>
        </p:nvSpPr>
        <p:spPr>
          <a:xfrm>
            <a:off x="1028700" y="2652555"/>
            <a:ext cx="4490889" cy="2162494"/>
          </a:xfrm>
          <a:prstGeom prst="rect">
            <a:avLst/>
          </a:prstGeom>
          <a:noFill/>
          <a:ln>
            <a:noFill/>
          </a:ln>
        </p:spPr>
        <p:txBody>
          <a:bodyPr anchorCtr="0" anchor="t" bIns="0" lIns="0" spcFirstLastPara="1" rIns="0" wrap="square" tIns="0">
            <a:spAutoFit/>
          </a:bodyPr>
          <a:lstStyle/>
          <a:p>
            <a:pPr indent="0" lvl="0" marL="0" marR="0" rtl="0" algn="r">
              <a:lnSpc>
                <a:spcPct val="137989"/>
              </a:lnSpc>
              <a:spcBef>
                <a:spcPts val="0"/>
              </a:spcBef>
              <a:spcAft>
                <a:spcPts val="0"/>
              </a:spcAft>
              <a:buClr>
                <a:srgbClr val="000000"/>
              </a:buClr>
              <a:buSzPts val="2069"/>
              <a:buFont typeface="Arial"/>
              <a:buNone/>
            </a:pPr>
            <a:r>
              <a:rPr b="0" i="0" lang="en-US" sz="2069" u="none" cap="none" strike="noStrike">
                <a:solidFill>
                  <a:srgbClr val="FFFFFF"/>
                </a:solidFill>
                <a:latin typeface="DM Sans"/>
                <a:ea typeface="DM Sans"/>
                <a:cs typeface="DM Sans"/>
                <a:sym typeface="DM Sans"/>
              </a:rPr>
              <a:t>Se diseñan scripts que imitan el comportamiento de los usuarios reales. Por ejemplo, un script podría simular a un usuario navegando por productos, agregando artículos al carrito y finalizando una compra.</a:t>
            </a:r>
            <a:endParaRPr b="0" i="0" sz="1400" u="none" cap="none" strike="noStrike">
              <a:solidFill>
                <a:srgbClr val="000000"/>
              </a:solidFill>
              <a:latin typeface="Arial"/>
              <a:ea typeface="Arial"/>
              <a:cs typeface="Arial"/>
              <a:sym typeface="Arial"/>
            </a:endParaRPr>
          </a:p>
        </p:txBody>
      </p:sp>
      <p:sp>
        <p:nvSpPr>
          <p:cNvPr id="387" name="Google Shape;387;p13"/>
          <p:cNvSpPr txBox="1"/>
          <p:nvPr/>
        </p:nvSpPr>
        <p:spPr>
          <a:xfrm>
            <a:off x="1617350" y="6060142"/>
            <a:ext cx="4372865" cy="1438594"/>
          </a:xfrm>
          <a:prstGeom prst="rect">
            <a:avLst/>
          </a:prstGeom>
          <a:noFill/>
          <a:ln>
            <a:noFill/>
          </a:ln>
        </p:spPr>
        <p:txBody>
          <a:bodyPr anchorCtr="0" anchor="t" bIns="0" lIns="0" spcFirstLastPara="1" rIns="0" wrap="square" tIns="0">
            <a:spAutoFit/>
          </a:bodyPr>
          <a:lstStyle/>
          <a:p>
            <a:pPr indent="0" lvl="0" marL="0" marR="0" rtl="0" algn="r">
              <a:lnSpc>
                <a:spcPct val="137989"/>
              </a:lnSpc>
              <a:spcBef>
                <a:spcPts val="0"/>
              </a:spcBef>
              <a:spcAft>
                <a:spcPts val="0"/>
              </a:spcAft>
              <a:buClr>
                <a:srgbClr val="000000"/>
              </a:buClr>
              <a:buSzPts val="2069"/>
              <a:buFont typeface="Arial"/>
              <a:buNone/>
            </a:pPr>
            <a:r>
              <a:rPr b="0" i="0" lang="en-US" sz="2069" u="none" cap="none" strike="noStrike">
                <a:solidFill>
                  <a:srgbClr val="FFFFFF"/>
                </a:solidFill>
                <a:latin typeface="DM Sans"/>
                <a:ea typeface="DM Sans"/>
                <a:cs typeface="DM Sans"/>
                <a:sym typeface="DM Sans"/>
              </a:rPr>
              <a:t>Se analizan los datos recopilados para identificar problemas de rendimiento y se ajusta el sistema según sea necesario.</a:t>
            </a:r>
            <a:endParaRPr b="0" i="0" sz="1400" u="none" cap="none" strike="noStrike">
              <a:solidFill>
                <a:srgbClr val="000000"/>
              </a:solidFill>
              <a:latin typeface="Arial"/>
              <a:ea typeface="Arial"/>
              <a:cs typeface="Arial"/>
              <a:sym typeface="Arial"/>
            </a:endParaRPr>
          </a:p>
        </p:txBody>
      </p:sp>
      <p:sp>
        <p:nvSpPr>
          <p:cNvPr id="388" name="Google Shape;388;p13"/>
          <p:cNvSpPr/>
          <p:nvPr/>
        </p:nvSpPr>
        <p:spPr>
          <a:xfrm>
            <a:off x="-2519628" y="7712017"/>
            <a:ext cx="6602062" cy="6602062"/>
          </a:xfrm>
          <a:custGeom>
            <a:rect b="b" l="l" r="r" t="t"/>
            <a:pathLst>
              <a:path extrusionOk="0" h="6602062" w="6602062">
                <a:moveTo>
                  <a:pt x="0" y="0"/>
                </a:moveTo>
                <a:lnTo>
                  <a:pt x="6602062" y="0"/>
                </a:lnTo>
                <a:lnTo>
                  <a:pt x="6602062" y="6602062"/>
                </a:lnTo>
                <a:lnTo>
                  <a:pt x="0" y="6602062"/>
                </a:lnTo>
                <a:lnTo>
                  <a:pt x="0" y="0"/>
                </a:lnTo>
                <a:close/>
              </a:path>
            </a:pathLst>
          </a:custGeom>
          <a:blipFill rotWithShape="1">
            <a:blip r:embed="rId4">
              <a:alphaModFix/>
            </a:blip>
            <a:stretch>
              <a:fillRect b="0" l="0" r="0" t="0"/>
            </a:stretch>
          </a:blipFill>
          <a:ln>
            <a:noFill/>
          </a:ln>
        </p:spPr>
      </p:sp>
      <p:sp>
        <p:nvSpPr>
          <p:cNvPr id="389" name="Google Shape;389;p13"/>
          <p:cNvSpPr/>
          <p:nvPr/>
        </p:nvSpPr>
        <p:spPr>
          <a:xfrm rot="10436461">
            <a:off x="14111851" y="-3920191"/>
            <a:ext cx="6294897" cy="6294897"/>
          </a:xfrm>
          <a:custGeom>
            <a:rect b="b" l="l" r="r" t="t"/>
            <a:pathLst>
              <a:path extrusionOk="0" h="6294897" w="6294897">
                <a:moveTo>
                  <a:pt x="0" y="0"/>
                </a:moveTo>
                <a:lnTo>
                  <a:pt x="6294898" y="0"/>
                </a:lnTo>
                <a:lnTo>
                  <a:pt x="6294898" y="6294898"/>
                </a:lnTo>
                <a:lnTo>
                  <a:pt x="0" y="6294898"/>
                </a:lnTo>
                <a:lnTo>
                  <a:pt x="0" y="0"/>
                </a:lnTo>
                <a:close/>
              </a:path>
            </a:pathLst>
          </a:custGeom>
          <a:blipFill rotWithShape="1">
            <a:blip r:embed="rId4">
              <a:alphaModFix/>
            </a:blip>
            <a:stretch>
              <a:fillRect b="0" l="0" r="0" t="0"/>
            </a:stretch>
          </a:blipFill>
          <a:ln>
            <a:noFill/>
          </a:ln>
        </p:spPr>
      </p:sp>
      <p:sp>
        <p:nvSpPr>
          <p:cNvPr id="390" name="Google Shape;390;p13"/>
          <p:cNvSpPr txBox="1"/>
          <p:nvPr/>
        </p:nvSpPr>
        <p:spPr>
          <a:xfrm>
            <a:off x="11549429" y="2014483"/>
            <a:ext cx="4998190" cy="1414117"/>
          </a:xfrm>
          <a:prstGeom prst="rect">
            <a:avLst/>
          </a:prstGeom>
          <a:noFill/>
          <a:ln>
            <a:noFill/>
          </a:ln>
        </p:spPr>
        <p:txBody>
          <a:bodyPr anchorCtr="0" anchor="t" bIns="0" lIns="0" spcFirstLastPara="1" rIns="0" wrap="square" tIns="0">
            <a:spAutoFit/>
          </a:bodyPr>
          <a:lstStyle/>
          <a:p>
            <a:pPr indent="0" lvl="0" marL="0" marR="0" rtl="0" algn="l">
              <a:lnSpc>
                <a:spcPct val="137989"/>
              </a:lnSpc>
              <a:spcBef>
                <a:spcPts val="0"/>
              </a:spcBef>
              <a:spcAft>
                <a:spcPts val="0"/>
              </a:spcAft>
              <a:buClr>
                <a:srgbClr val="000000"/>
              </a:buClr>
              <a:buSzPts val="2069"/>
              <a:buFont typeface="Arial"/>
              <a:buNone/>
            </a:pPr>
            <a:r>
              <a:rPr b="0" i="0" lang="en-US" sz="2069" u="none" cap="none" strike="noStrike">
                <a:solidFill>
                  <a:srgbClr val="FFFFFF"/>
                </a:solidFill>
                <a:latin typeface="DM Sans"/>
                <a:ea typeface="DM Sans"/>
                <a:cs typeface="DM Sans"/>
                <a:sym typeface="DM Sans"/>
              </a:rPr>
              <a:t>Se establecen métricas claras como el tiempo de respuesta máximo aceptable y el número de usuarios concurrentes a simular.</a:t>
            </a:r>
            <a:endParaRPr b="0" i="0" sz="1400" u="none" cap="none" strike="noStrike">
              <a:solidFill>
                <a:srgbClr val="000000"/>
              </a:solidFill>
              <a:latin typeface="Arial"/>
              <a:ea typeface="Arial"/>
              <a:cs typeface="Arial"/>
              <a:sym typeface="Arial"/>
            </a:endParaRPr>
          </a:p>
        </p:txBody>
      </p:sp>
      <p:sp>
        <p:nvSpPr>
          <p:cNvPr id="391" name="Google Shape;391;p13"/>
          <p:cNvSpPr txBox="1"/>
          <p:nvPr/>
        </p:nvSpPr>
        <p:spPr>
          <a:xfrm>
            <a:off x="11701829" y="4211955"/>
            <a:ext cx="5094207" cy="1614196"/>
          </a:xfrm>
          <a:prstGeom prst="rect">
            <a:avLst/>
          </a:prstGeom>
          <a:noFill/>
          <a:ln>
            <a:noFill/>
          </a:ln>
        </p:spPr>
        <p:txBody>
          <a:bodyPr anchorCtr="0" anchor="t" bIns="0" lIns="0" spcFirstLastPara="1" rIns="0" wrap="square" tIns="0">
            <a:spAutoFit/>
          </a:bodyPr>
          <a:lstStyle/>
          <a:p>
            <a:pPr indent="0" lvl="0" marL="0" marR="0" rtl="0" algn="ctr">
              <a:lnSpc>
                <a:spcPct val="138049"/>
              </a:lnSpc>
              <a:spcBef>
                <a:spcPts val="0"/>
              </a:spcBef>
              <a:spcAft>
                <a:spcPts val="0"/>
              </a:spcAft>
              <a:buClr>
                <a:srgbClr val="000000"/>
              </a:buClr>
              <a:buSzPts val="1887"/>
              <a:buFont typeface="Arial"/>
              <a:buNone/>
            </a:pPr>
            <a:r>
              <a:rPr b="0" i="0" lang="en-US" sz="1887" u="none" cap="none" strike="noStrike">
                <a:solidFill>
                  <a:srgbClr val="F5FFF5"/>
                </a:solidFill>
                <a:latin typeface="DM Sans"/>
                <a:ea typeface="DM Sans"/>
                <a:cs typeface="DM Sans"/>
                <a:sym typeface="DM Sans"/>
              </a:rPr>
              <a:t>Se utilizan herramientas de automatización de pruebas de carga (como Apache JMeter o LoadRunner) para generar un gran número de usuarios virtuales que ejecutan los scripts de forma simultánea.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395" name="Shape 395"/>
        <p:cNvGrpSpPr/>
        <p:nvPr/>
      </p:nvGrpSpPr>
      <p:grpSpPr>
        <a:xfrm>
          <a:off x="0" y="0"/>
          <a:ext cx="0" cy="0"/>
          <a:chOff x="0" y="0"/>
          <a:chExt cx="0" cy="0"/>
        </a:xfrm>
      </p:grpSpPr>
      <p:sp>
        <p:nvSpPr>
          <p:cNvPr id="396" name="Google Shape;396;p14"/>
          <p:cNvSpPr txBox="1"/>
          <p:nvPr/>
        </p:nvSpPr>
        <p:spPr>
          <a:xfrm>
            <a:off x="4986640" y="4146526"/>
            <a:ext cx="8457192" cy="1057036"/>
          </a:xfrm>
          <a:prstGeom prst="rect">
            <a:avLst/>
          </a:prstGeom>
          <a:noFill/>
          <a:ln>
            <a:noFill/>
          </a:ln>
        </p:spPr>
        <p:txBody>
          <a:bodyPr anchorCtr="0" anchor="t" bIns="0" lIns="0" spcFirstLastPara="1" rIns="0" wrap="square" tIns="0">
            <a:spAutoFit/>
          </a:bodyPr>
          <a:lstStyle/>
          <a:p>
            <a:pPr indent="0" lvl="0" marL="0" marR="0" rtl="0" algn="ctr">
              <a:lnSpc>
                <a:spcPct val="120018"/>
              </a:lnSpc>
              <a:spcBef>
                <a:spcPts val="0"/>
              </a:spcBef>
              <a:spcAft>
                <a:spcPts val="0"/>
              </a:spcAft>
              <a:buClr>
                <a:srgbClr val="000000"/>
              </a:buClr>
              <a:buSzPts val="6569"/>
              <a:buFont typeface="Arial"/>
              <a:buNone/>
            </a:pPr>
            <a:r>
              <a:rPr b="0" i="0" lang="en-US" sz="6569" u="none" cap="none" strike="noStrike">
                <a:solidFill>
                  <a:srgbClr val="FFFFFF"/>
                </a:solidFill>
                <a:latin typeface="Poppins"/>
                <a:ea typeface="Poppins"/>
                <a:cs typeface="Poppins"/>
                <a:sym typeface="Poppins"/>
              </a:rPr>
              <a:t>EJEMPLO PRACTICO</a:t>
            </a:r>
            <a:endParaRPr b="0" i="0" sz="1400" u="none" cap="none" strike="noStrike">
              <a:solidFill>
                <a:srgbClr val="000000"/>
              </a:solidFill>
              <a:latin typeface="Arial"/>
              <a:ea typeface="Arial"/>
              <a:cs typeface="Arial"/>
              <a:sym typeface="Arial"/>
            </a:endParaRPr>
          </a:p>
        </p:txBody>
      </p:sp>
      <p:sp>
        <p:nvSpPr>
          <p:cNvPr id="397" name="Google Shape;397;p14"/>
          <p:cNvSpPr/>
          <p:nvPr/>
        </p:nvSpPr>
        <p:spPr>
          <a:xfrm>
            <a:off x="-2622339" y="7919689"/>
            <a:ext cx="6452848" cy="5596379"/>
          </a:xfrm>
          <a:custGeom>
            <a:rect b="b" l="l" r="r" t="t"/>
            <a:pathLst>
              <a:path extrusionOk="0" h="5596379" w="6452848">
                <a:moveTo>
                  <a:pt x="0" y="0"/>
                </a:moveTo>
                <a:lnTo>
                  <a:pt x="6452849" y="0"/>
                </a:lnTo>
                <a:lnTo>
                  <a:pt x="6452849" y="5596379"/>
                </a:lnTo>
                <a:lnTo>
                  <a:pt x="0" y="5596379"/>
                </a:lnTo>
                <a:lnTo>
                  <a:pt x="0" y="0"/>
                </a:lnTo>
                <a:close/>
              </a:path>
            </a:pathLst>
          </a:custGeom>
          <a:blipFill rotWithShape="1">
            <a:blip r:embed="rId3">
              <a:alphaModFix/>
            </a:blip>
            <a:stretch>
              <a:fillRect b="0" l="0" r="0" t="0"/>
            </a:stretch>
          </a:blipFill>
          <a:ln>
            <a:noFill/>
          </a:ln>
        </p:spPr>
      </p:sp>
      <p:sp>
        <p:nvSpPr>
          <p:cNvPr id="398" name="Google Shape;398;p14"/>
          <p:cNvSpPr/>
          <p:nvPr/>
        </p:nvSpPr>
        <p:spPr>
          <a:xfrm rot="10800000">
            <a:off x="13367400" y="-2798190"/>
            <a:ext cx="6452848" cy="5596379"/>
          </a:xfrm>
          <a:custGeom>
            <a:rect b="b" l="l" r="r" t="t"/>
            <a:pathLst>
              <a:path extrusionOk="0" h="5596379" w="6452848">
                <a:moveTo>
                  <a:pt x="0" y="0"/>
                </a:moveTo>
                <a:lnTo>
                  <a:pt x="6452849" y="0"/>
                </a:lnTo>
                <a:lnTo>
                  <a:pt x="6452849" y="5596380"/>
                </a:lnTo>
                <a:lnTo>
                  <a:pt x="0" y="5596380"/>
                </a:lnTo>
                <a:lnTo>
                  <a:pt x="0" y="0"/>
                </a:lnTo>
                <a:close/>
              </a:path>
            </a:pathLst>
          </a:custGeom>
          <a:blipFill rotWithShape="1">
            <a:blip r:embed="rId3">
              <a:alphaModFix/>
            </a:blip>
            <a:stretch>
              <a:fillRect b="0" l="0" r="0" t="0"/>
            </a:stretch>
          </a:blipFill>
          <a:ln>
            <a:noFill/>
          </a:ln>
        </p:spPr>
      </p:sp>
      <p:sp>
        <p:nvSpPr>
          <p:cNvPr id="399" name="Google Shape;399;p14"/>
          <p:cNvSpPr/>
          <p:nvPr/>
        </p:nvSpPr>
        <p:spPr>
          <a:xfrm>
            <a:off x="8527219" y="2541678"/>
            <a:ext cx="879643" cy="1273167"/>
          </a:xfrm>
          <a:custGeom>
            <a:rect b="b" l="l" r="r" t="t"/>
            <a:pathLst>
              <a:path extrusionOk="0" h="1273167" w="879643">
                <a:moveTo>
                  <a:pt x="0" y="0"/>
                </a:moveTo>
                <a:lnTo>
                  <a:pt x="879643" y="0"/>
                </a:lnTo>
                <a:lnTo>
                  <a:pt x="879643" y="1273167"/>
                </a:lnTo>
                <a:lnTo>
                  <a:pt x="0" y="1273167"/>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403" name="Shape 403"/>
        <p:cNvGrpSpPr/>
        <p:nvPr/>
      </p:nvGrpSpPr>
      <p:grpSpPr>
        <a:xfrm>
          <a:off x="0" y="0"/>
          <a:ext cx="0" cy="0"/>
          <a:chOff x="0" y="0"/>
          <a:chExt cx="0" cy="0"/>
        </a:xfrm>
      </p:grpSpPr>
      <p:grpSp>
        <p:nvGrpSpPr>
          <p:cNvPr id="404" name="Google Shape;404;p15"/>
          <p:cNvGrpSpPr/>
          <p:nvPr/>
        </p:nvGrpSpPr>
        <p:grpSpPr>
          <a:xfrm rot="-5400000">
            <a:off x="11338296" y="4100704"/>
            <a:ext cx="11958151" cy="2037819"/>
            <a:chOff x="0" y="-28575"/>
            <a:chExt cx="3149472" cy="536710"/>
          </a:xfrm>
        </p:grpSpPr>
        <p:sp>
          <p:nvSpPr>
            <p:cNvPr id="405" name="Google Shape;405;p15"/>
            <p:cNvSpPr/>
            <p:nvPr/>
          </p:nvSpPr>
          <p:spPr>
            <a:xfrm>
              <a:off x="0" y="0"/>
              <a:ext cx="3149472" cy="508135"/>
            </a:xfrm>
            <a:custGeom>
              <a:rect b="b" l="l" r="r" t="t"/>
              <a:pathLst>
                <a:path extrusionOk="0" h="508135" w="3149472">
                  <a:moveTo>
                    <a:pt x="0" y="0"/>
                  </a:moveTo>
                  <a:lnTo>
                    <a:pt x="3149472" y="0"/>
                  </a:lnTo>
                  <a:lnTo>
                    <a:pt x="3149472" y="508135"/>
                  </a:lnTo>
                  <a:lnTo>
                    <a:pt x="0" y="508135"/>
                  </a:lnTo>
                  <a:close/>
                </a:path>
              </a:pathLst>
            </a:custGeom>
            <a:solidFill>
              <a:srgbClr val="145DA0"/>
            </a:solidFill>
            <a:ln>
              <a:noFill/>
            </a:ln>
          </p:spPr>
        </p:sp>
        <p:sp>
          <p:nvSpPr>
            <p:cNvPr id="406" name="Google Shape;406;p15"/>
            <p:cNvSpPr txBox="1"/>
            <p:nvPr/>
          </p:nvSpPr>
          <p:spPr>
            <a:xfrm>
              <a:off x="0" y="-28575"/>
              <a:ext cx="3149472" cy="536710"/>
            </a:xfrm>
            <a:prstGeom prst="rect">
              <a:avLst/>
            </a:prstGeom>
            <a:noFill/>
            <a:ln>
              <a:noFill/>
            </a:ln>
          </p:spPr>
          <p:txBody>
            <a:bodyPr anchorCtr="0" anchor="ctr" bIns="50800" lIns="50800" spcFirstLastPara="1" rIns="50800" wrap="square" tIns="50800">
              <a:noAutofit/>
            </a:bodyPr>
            <a:lstStyle/>
            <a:p>
              <a:pPr indent="0" lvl="0" marL="0" marR="0" rtl="0" algn="ctr">
                <a:lnSpc>
                  <a:spcPct val="143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07" name="Google Shape;407;p15"/>
          <p:cNvSpPr/>
          <p:nvPr/>
        </p:nvSpPr>
        <p:spPr>
          <a:xfrm>
            <a:off x="11208957" y="-1011147"/>
            <a:ext cx="2647750" cy="2647750"/>
          </a:xfrm>
          <a:custGeom>
            <a:rect b="b" l="l" r="r" t="t"/>
            <a:pathLst>
              <a:path extrusionOk="0" h="2647750" w="2647750">
                <a:moveTo>
                  <a:pt x="0" y="0"/>
                </a:moveTo>
                <a:lnTo>
                  <a:pt x="2647750" y="0"/>
                </a:lnTo>
                <a:lnTo>
                  <a:pt x="2647750" y="2647750"/>
                </a:lnTo>
                <a:lnTo>
                  <a:pt x="0" y="2647750"/>
                </a:lnTo>
                <a:lnTo>
                  <a:pt x="0" y="0"/>
                </a:lnTo>
                <a:close/>
              </a:path>
            </a:pathLst>
          </a:custGeom>
          <a:blipFill rotWithShape="1">
            <a:blip r:embed="rId3">
              <a:alphaModFix/>
            </a:blip>
            <a:stretch>
              <a:fillRect b="0" l="0" r="0" t="0"/>
            </a:stretch>
          </a:blipFill>
          <a:ln>
            <a:noFill/>
          </a:ln>
        </p:spPr>
      </p:sp>
      <p:sp>
        <p:nvSpPr>
          <p:cNvPr id="408" name="Google Shape;408;p15"/>
          <p:cNvSpPr/>
          <p:nvPr/>
        </p:nvSpPr>
        <p:spPr>
          <a:xfrm>
            <a:off x="9852182" y="625594"/>
            <a:ext cx="7519437" cy="8987929"/>
          </a:xfrm>
          <a:custGeom>
            <a:rect b="b" l="l" r="r" t="t"/>
            <a:pathLst>
              <a:path extrusionOk="0" h="10286874" w="8606155">
                <a:moveTo>
                  <a:pt x="8606155" y="10251441"/>
                </a:moveTo>
                <a:cubicBezTo>
                  <a:pt x="8606155" y="10284588"/>
                  <a:pt x="8595487" y="10286874"/>
                  <a:pt x="8567674" y="10286874"/>
                </a:cubicBezTo>
                <a:cubicBezTo>
                  <a:pt x="5713094" y="10286239"/>
                  <a:pt x="2858643" y="10286239"/>
                  <a:pt x="4064" y="10286239"/>
                </a:cubicBezTo>
                <a:cubicBezTo>
                  <a:pt x="0" y="10272396"/>
                  <a:pt x="6350" y="10259823"/>
                  <a:pt x="9271" y="10246996"/>
                </a:cubicBezTo>
                <a:cubicBezTo>
                  <a:pt x="134747" y="9685402"/>
                  <a:pt x="260350" y="9123935"/>
                  <a:pt x="386207" y="8562467"/>
                </a:cubicBezTo>
                <a:cubicBezTo>
                  <a:pt x="565658" y="7761986"/>
                  <a:pt x="745490" y="6961633"/>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6"/>
                  <a:pt x="8605139" y="6846317"/>
                  <a:pt x="8606155" y="10251441"/>
                </a:cubicBezTo>
                <a:close/>
              </a:path>
            </a:pathLst>
          </a:custGeom>
          <a:blipFill rotWithShape="1">
            <a:blip r:embed="rId4">
              <a:alphaModFix/>
            </a:blip>
            <a:stretch>
              <a:fillRect b="-12762" l="0" r="0" t="-12763"/>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15"/>
          <p:cNvSpPr txBox="1"/>
          <p:nvPr/>
        </p:nvSpPr>
        <p:spPr>
          <a:xfrm>
            <a:off x="1028700" y="3451684"/>
            <a:ext cx="7044924" cy="116723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7268"/>
              <a:buFont typeface="Arial"/>
              <a:buNone/>
            </a:pPr>
            <a:r>
              <a:rPr b="0" i="0" lang="en-US" sz="7268" u="none" cap="none" strike="noStrike">
                <a:solidFill>
                  <a:srgbClr val="FFFBFB"/>
                </a:solidFill>
                <a:latin typeface="Poppins"/>
                <a:ea typeface="Poppins"/>
                <a:cs typeface="Poppins"/>
                <a:sym typeface="Poppins"/>
              </a:rPr>
              <a:t>PRUEBAS </a:t>
            </a:r>
            <a:endParaRPr b="0" i="0" sz="1400" u="none" cap="none" strike="noStrike">
              <a:solidFill>
                <a:srgbClr val="000000"/>
              </a:solidFill>
              <a:latin typeface="Arial"/>
              <a:ea typeface="Arial"/>
              <a:cs typeface="Arial"/>
              <a:sym typeface="Arial"/>
            </a:endParaRPr>
          </a:p>
        </p:txBody>
      </p:sp>
      <p:sp>
        <p:nvSpPr>
          <p:cNvPr id="410" name="Google Shape;410;p15"/>
          <p:cNvSpPr/>
          <p:nvPr/>
        </p:nvSpPr>
        <p:spPr>
          <a:xfrm>
            <a:off x="1028700" y="1136365"/>
            <a:ext cx="846187" cy="981086"/>
          </a:xfrm>
          <a:custGeom>
            <a:rect b="b" l="l" r="r" t="t"/>
            <a:pathLst>
              <a:path extrusionOk="0" h="981086" w="846187">
                <a:moveTo>
                  <a:pt x="0" y="0"/>
                </a:moveTo>
                <a:lnTo>
                  <a:pt x="846187" y="0"/>
                </a:lnTo>
                <a:lnTo>
                  <a:pt x="846187" y="981087"/>
                </a:lnTo>
                <a:lnTo>
                  <a:pt x="0" y="981087"/>
                </a:lnTo>
                <a:lnTo>
                  <a:pt x="0" y="0"/>
                </a:lnTo>
                <a:close/>
              </a:path>
            </a:pathLst>
          </a:custGeom>
          <a:blipFill rotWithShape="1">
            <a:blip r:embed="rId5">
              <a:alphaModFix/>
            </a:blip>
            <a:stretch>
              <a:fillRect b="0" l="0" r="0" t="0"/>
            </a:stretch>
          </a:blipFill>
          <a:ln>
            <a:noFill/>
          </a:ln>
        </p:spPr>
      </p:sp>
      <p:sp>
        <p:nvSpPr>
          <p:cNvPr id="411" name="Google Shape;411;p15"/>
          <p:cNvSpPr/>
          <p:nvPr/>
        </p:nvSpPr>
        <p:spPr>
          <a:xfrm>
            <a:off x="-295175" y="8630507"/>
            <a:ext cx="2647750" cy="2647750"/>
          </a:xfrm>
          <a:custGeom>
            <a:rect b="b" l="l" r="r" t="t"/>
            <a:pathLst>
              <a:path extrusionOk="0" h="2647750" w="2647750">
                <a:moveTo>
                  <a:pt x="0" y="0"/>
                </a:moveTo>
                <a:lnTo>
                  <a:pt x="2647750" y="0"/>
                </a:lnTo>
                <a:lnTo>
                  <a:pt x="2647750" y="2647751"/>
                </a:lnTo>
                <a:lnTo>
                  <a:pt x="0" y="2647751"/>
                </a:lnTo>
                <a:lnTo>
                  <a:pt x="0" y="0"/>
                </a:lnTo>
                <a:close/>
              </a:path>
            </a:pathLst>
          </a:custGeom>
          <a:blipFill rotWithShape="1">
            <a:blip r:embed="rId3">
              <a:alphaModFix/>
            </a:blip>
            <a:stretch>
              <a:fillRect b="0" l="0" r="0" t="0"/>
            </a:stretch>
          </a:blipFill>
          <a:ln>
            <a:noFill/>
          </a:ln>
        </p:spPr>
      </p:sp>
      <p:sp>
        <p:nvSpPr>
          <p:cNvPr id="412" name="Google Shape;412;p15"/>
          <p:cNvSpPr txBox="1"/>
          <p:nvPr/>
        </p:nvSpPr>
        <p:spPr>
          <a:xfrm>
            <a:off x="487433" y="4781484"/>
            <a:ext cx="10449276" cy="1880765"/>
          </a:xfrm>
          <a:prstGeom prst="rect">
            <a:avLst/>
          </a:prstGeom>
          <a:noFill/>
          <a:ln>
            <a:noFill/>
          </a:ln>
        </p:spPr>
        <p:txBody>
          <a:bodyPr anchorCtr="0" anchor="t" bIns="0" lIns="0" spcFirstLastPara="1" rIns="0" wrap="square" tIns="0">
            <a:spAutoFit/>
          </a:bodyPr>
          <a:lstStyle/>
          <a:p>
            <a:pPr indent="0" lvl="0" marL="0" marR="0" rtl="0" algn="l">
              <a:lnSpc>
                <a:spcPct val="119993"/>
              </a:lnSpc>
              <a:spcBef>
                <a:spcPts val="0"/>
              </a:spcBef>
              <a:spcAft>
                <a:spcPts val="0"/>
              </a:spcAft>
              <a:buClr>
                <a:srgbClr val="000000"/>
              </a:buClr>
              <a:buSzPts val="11729"/>
              <a:buFont typeface="Arial"/>
              <a:buNone/>
            </a:pPr>
            <a:r>
              <a:rPr b="1" i="0" lang="en-US" sz="11729" u="none" cap="none" strike="noStrike">
                <a:solidFill>
                  <a:srgbClr val="56AEFF"/>
                </a:solidFill>
                <a:latin typeface="Poppins"/>
                <a:ea typeface="Poppins"/>
                <a:cs typeface="Poppins"/>
                <a:sym typeface="Poppins"/>
              </a:rPr>
              <a:t>STRESS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5DA0"/>
        </a:solidFill>
      </p:bgPr>
    </p:bg>
    <p:spTree>
      <p:nvGrpSpPr>
        <p:cNvPr id="416" name="Shape 416"/>
        <p:cNvGrpSpPr/>
        <p:nvPr/>
      </p:nvGrpSpPr>
      <p:grpSpPr>
        <a:xfrm>
          <a:off x="0" y="0"/>
          <a:ext cx="0" cy="0"/>
          <a:chOff x="0" y="0"/>
          <a:chExt cx="0" cy="0"/>
        </a:xfrm>
      </p:grpSpPr>
      <p:sp>
        <p:nvSpPr>
          <p:cNvPr id="417" name="Google Shape;417;p16"/>
          <p:cNvSpPr/>
          <p:nvPr/>
        </p:nvSpPr>
        <p:spPr>
          <a:xfrm>
            <a:off x="0" y="0"/>
            <a:ext cx="18288000" cy="3860032"/>
          </a:xfrm>
          <a:custGeom>
            <a:rect b="b" l="l" r="r" t="t"/>
            <a:pathLst>
              <a:path extrusionOk="0" h="3860032" w="18288000">
                <a:moveTo>
                  <a:pt x="0" y="0"/>
                </a:moveTo>
                <a:lnTo>
                  <a:pt x="18288000" y="0"/>
                </a:lnTo>
                <a:lnTo>
                  <a:pt x="18288000" y="3860032"/>
                </a:lnTo>
                <a:lnTo>
                  <a:pt x="0" y="3860032"/>
                </a:lnTo>
                <a:lnTo>
                  <a:pt x="0" y="0"/>
                </a:lnTo>
                <a:close/>
              </a:path>
            </a:pathLst>
          </a:custGeom>
          <a:blipFill rotWithShape="1">
            <a:blip r:embed="rId3">
              <a:alphaModFix/>
            </a:blip>
            <a:stretch>
              <a:fillRect b="-107818" l="0" r="0" t="-107818"/>
            </a:stretch>
          </a:blipFill>
          <a:ln>
            <a:noFill/>
          </a:ln>
        </p:spPr>
      </p:sp>
      <p:grpSp>
        <p:nvGrpSpPr>
          <p:cNvPr id="418" name="Google Shape;418;p16"/>
          <p:cNvGrpSpPr/>
          <p:nvPr/>
        </p:nvGrpSpPr>
        <p:grpSpPr>
          <a:xfrm>
            <a:off x="4458366" y="-144661"/>
            <a:ext cx="9658350" cy="10431661"/>
            <a:chOff x="0" y="-38100"/>
            <a:chExt cx="2543763" cy="2747433"/>
          </a:xfrm>
        </p:grpSpPr>
        <p:sp>
          <p:nvSpPr>
            <p:cNvPr id="419" name="Google Shape;419;p16"/>
            <p:cNvSpPr/>
            <p:nvPr/>
          </p:nvSpPr>
          <p:spPr>
            <a:xfrm>
              <a:off x="0" y="0"/>
              <a:ext cx="2543763" cy="2709333"/>
            </a:xfrm>
            <a:custGeom>
              <a:rect b="b" l="l" r="r" t="t"/>
              <a:pathLst>
                <a:path extrusionOk="0" h="2709333" w="2543763">
                  <a:moveTo>
                    <a:pt x="0" y="0"/>
                  </a:moveTo>
                  <a:lnTo>
                    <a:pt x="2543763" y="0"/>
                  </a:lnTo>
                  <a:lnTo>
                    <a:pt x="2543763" y="2709333"/>
                  </a:lnTo>
                  <a:lnTo>
                    <a:pt x="0" y="2709333"/>
                  </a:lnTo>
                  <a:close/>
                </a:path>
              </a:pathLst>
            </a:custGeom>
            <a:solidFill>
              <a:srgbClr val="051D40">
                <a:alpha val="74901"/>
              </a:srgbClr>
            </a:solidFill>
            <a:ln>
              <a:noFill/>
            </a:ln>
          </p:spPr>
        </p:sp>
        <p:sp>
          <p:nvSpPr>
            <p:cNvPr id="420" name="Google Shape;420;p16"/>
            <p:cNvSpPr txBox="1"/>
            <p:nvPr/>
          </p:nvSpPr>
          <p:spPr>
            <a:xfrm>
              <a:off x="0" y="-38100"/>
              <a:ext cx="254376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21" name="Google Shape;421;p16"/>
          <p:cNvSpPr txBox="1"/>
          <p:nvPr/>
        </p:nvSpPr>
        <p:spPr>
          <a:xfrm>
            <a:off x="5021151" y="2324975"/>
            <a:ext cx="8245699" cy="762000"/>
          </a:xfrm>
          <a:prstGeom prst="rect">
            <a:avLst/>
          </a:prstGeom>
          <a:noFill/>
          <a:ln>
            <a:noFill/>
          </a:ln>
        </p:spPr>
        <p:txBody>
          <a:bodyPr anchorCtr="0" anchor="t" bIns="0" lIns="0" spcFirstLastPara="1" rIns="0" wrap="square" tIns="0">
            <a:spAutoFit/>
          </a:bodyPr>
          <a:lstStyle/>
          <a:p>
            <a:pPr indent="0" lvl="0" marL="0" marR="0" rtl="0" algn="ctr">
              <a:lnSpc>
                <a:spcPct val="120004"/>
              </a:lnSpc>
              <a:spcBef>
                <a:spcPts val="0"/>
              </a:spcBef>
              <a:spcAft>
                <a:spcPts val="0"/>
              </a:spcAft>
              <a:buClr>
                <a:srgbClr val="000000"/>
              </a:buClr>
              <a:buSzPts val="4739"/>
              <a:buFont typeface="Arial"/>
              <a:buNone/>
            </a:pPr>
            <a:r>
              <a:rPr b="0" i="0" lang="en-US" sz="4739" u="none" cap="none" strike="noStrike">
                <a:solidFill>
                  <a:srgbClr val="FFFFFF"/>
                </a:solidFill>
                <a:latin typeface="Poppins"/>
                <a:ea typeface="Poppins"/>
                <a:cs typeface="Poppins"/>
                <a:sym typeface="Poppins"/>
              </a:rPr>
              <a:t>PRUEBAS DE STRESS</a:t>
            </a:r>
            <a:endParaRPr b="0" i="0" sz="1400" u="none" cap="none" strike="noStrike">
              <a:solidFill>
                <a:srgbClr val="000000"/>
              </a:solidFill>
              <a:latin typeface="Arial"/>
              <a:ea typeface="Arial"/>
              <a:cs typeface="Arial"/>
              <a:sym typeface="Arial"/>
            </a:endParaRPr>
          </a:p>
        </p:txBody>
      </p:sp>
      <p:sp>
        <p:nvSpPr>
          <p:cNvPr id="422" name="Google Shape;422;p16"/>
          <p:cNvSpPr txBox="1"/>
          <p:nvPr/>
        </p:nvSpPr>
        <p:spPr>
          <a:xfrm>
            <a:off x="6108479" y="4645324"/>
            <a:ext cx="6902620" cy="3188229"/>
          </a:xfrm>
          <a:prstGeom prst="rect">
            <a:avLst/>
          </a:prstGeom>
          <a:noFill/>
          <a:ln>
            <a:noFill/>
          </a:ln>
        </p:spPr>
        <p:txBody>
          <a:bodyPr anchorCtr="0" anchor="t" bIns="0" lIns="0" spcFirstLastPara="1" rIns="0" wrap="square" tIns="0">
            <a:spAutoFit/>
          </a:bodyPr>
          <a:lstStyle/>
          <a:p>
            <a:pPr indent="0" lvl="0" marL="0" marR="0" rtl="0" algn="ctr">
              <a:lnSpc>
                <a:spcPct val="138011"/>
              </a:lnSpc>
              <a:spcBef>
                <a:spcPts val="0"/>
              </a:spcBef>
              <a:spcAft>
                <a:spcPts val="0"/>
              </a:spcAft>
              <a:buClr>
                <a:srgbClr val="000000"/>
              </a:buClr>
              <a:buSzPts val="2615"/>
              <a:buFont typeface="Arial"/>
              <a:buNone/>
            </a:pPr>
            <a:r>
              <a:rPr b="0" i="0" lang="en-US" sz="2615" u="none" cap="none" strike="noStrike">
                <a:solidFill>
                  <a:srgbClr val="FFFFFF"/>
                </a:solidFill>
                <a:latin typeface="DM Sans"/>
                <a:ea typeface="DM Sans"/>
                <a:cs typeface="DM Sans"/>
                <a:sym typeface="DM Sans"/>
              </a:rPr>
              <a:t> son un tipo de pruebas de rendimiento que se realizan para evaluar el comportamiento de un sistema de software bajo una carga de trabajo extrema, más allá de sus límites normales. El objetivo no es solo ver si el sistema se mantiene, sino también cómo falla y si se recupera de manera adecuada.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5DA0"/>
        </a:solidFill>
      </p:bgPr>
    </p:bg>
    <p:spTree>
      <p:nvGrpSpPr>
        <p:cNvPr id="426" name="Shape 426"/>
        <p:cNvGrpSpPr/>
        <p:nvPr/>
      </p:nvGrpSpPr>
      <p:grpSpPr>
        <a:xfrm>
          <a:off x="0" y="0"/>
          <a:ext cx="0" cy="0"/>
          <a:chOff x="0" y="0"/>
          <a:chExt cx="0" cy="0"/>
        </a:xfrm>
      </p:grpSpPr>
      <p:sp>
        <p:nvSpPr>
          <p:cNvPr id="427" name="Google Shape;427;p17"/>
          <p:cNvSpPr/>
          <p:nvPr/>
        </p:nvSpPr>
        <p:spPr>
          <a:xfrm>
            <a:off x="8303258" y="3455241"/>
            <a:ext cx="1007650" cy="959517"/>
          </a:xfrm>
          <a:custGeom>
            <a:rect b="b" l="l" r="r" t="t"/>
            <a:pathLst>
              <a:path extrusionOk="0" h="959517" w="1007650">
                <a:moveTo>
                  <a:pt x="0" y="0"/>
                </a:moveTo>
                <a:lnTo>
                  <a:pt x="1007650" y="0"/>
                </a:lnTo>
                <a:lnTo>
                  <a:pt x="1007650" y="959517"/>
                </a:lnTo>
                <a:lnTo>
                  <a:pt x="0" y="959517"/>
                </a:lnTo>
                <a:lnTo>
                  <a:pt x="0" y="0"/>
                </a:lnTo>
                <a:close/>
              </a:path>
            </a:pathLst>
          </a:custGeom>
          <a:blipFill rotWithShape="1">
            <a:blip r:embed="rId3">
              <a:alphaModFix/>
            </a:blip>
            <a:stretch>
              <a:fillRect b="0" l="0" r="0" t="0"/>
            </a:stretch>
          </a:blipFill>
          <a:ln>
            <a:noFill/>
          </a:ln>
        </p:spPr>
      </p:sp>
      <p:sp>
        <p:nvSpPr>
          <p:cNvPr id="428" name="Google Shape;428;p17"/>
          <p:cNvSpPr txBox="1"/>
          <p:nvPr/>
        </p:nvSpPr>
        <p:spPr>
          <a:xfrm>
            <a:off x="944910" y="625412"/>
            <a:ext cx="9617422" cy="730377"/>
          </a:xfrm>
          <a:prstGeom prst="rect">
            <a:avLst/>
          </a:prstGeom>
          <a:noFill/>
          <a:ln>
            <a:noFill/>
          </a:ln>
        </p:spPr>
        <p:txBody>
          <a:bodyPr anchorCtr="0" anchor="t" bIns="0" lIns="0" spcFirstLastPara="1" rIns="0" wrap="square" tIns="0">
            <a:spAutoFit/>
          </a:bodyPr>
          <a:lstStyle/>
          <a:p>
            <a:pPr indent="0" lvl="0" marL="0" marR="0" rtl="0" algn="ctr">
              <a:lnSpc>
                <a:spcPct val="138000"/>
              </a:lnSpc>
              <a:spcBef>
                <a:spcPts val="0"/>
              </a:spcBef>
              <a:spcAft>
                <a:spcPts val="0"/>
              </a:spcAft>
              <a:buClr>
                <a:srgbClr val="000000"/>
              </a:buClr>
              <a:buSzPts val="4300"/>
              <a:buFont typeface="Arial"/>
              <a:buNone/>
            </a:pPr>
            <a:r>
              <a:rPr b="1" i="0" lang="en-US" sz="4300" u="none" cap="none" strike="noStrike">
                <a:solidFill>
                  <a:srgbClr val="F5FFF5"/>
                </a:solidFill>
                <a:latin typeface="DM Sans"/>
                <a:ea typeface="DM Sans"/>
                <a:cs typeface="DM Sans"/>
                <a:sym typeface="DM Sans"/>
              </a:rPr>
              <a:t>¿Qué evalúan las pruebas de estrés?</a:t>
            </a:r>
            <a:endParaRPr b="0" i="0" sz="1400" u="none" cap="none" strike="noStrike">
              <a:solidFill>
                <a:srgbClr val="000000"/>
              </a:solidFill>
              <a:latin typeface="Arial"/>
              <a:ea typeface="Arial"/>
              <a:cs typeface="Arial"/>
              <a:sym typeface="Arial"/>
            </a:endParaRPr>
          </a:p>
        </p:txBody>
      </p:sp>
      <p:sp>
        <p:nvSpPr>
          <p:cNvPr id="429" name="Google Shape;429;p17"/>
          <p:cNvSpPr/>
          <p:nvPr/>
        </p:nvSpPr>
        <p:spPr>
          <a:xfrm rot="1313163">
            <a:off x="-4397261" y="6412995"/>
            <a:ext cx="9085628" cy="5368780"/>
          </a:xfrm>
          <a:custGeom>
            <a:rect b="b" l="l" r="r" t="t"/>
            <a:pathLst>
              <a:path extrusionOk="0" h="5368780" w="9085628">
                <a:moveTo>
                  <a:pt x="0" y="0"/>
                </a:moveTo>
                <a:lnTo>
                  <a:pt x="9085629" y="0"/>
                </a:lnTo>
                <a:lnTo>
                  <a:pt x="9085629" y="5368780"/>
                </a:lnTo>
                <a:lnTo>
                  <a:pt x="0" y="5368780"/>
                </a:lnTo>
                <a:lnTo>
                  <a:pt x="0" y="0"/>
                </a:lnTo>
                <a:close/>
              </a:path>
            </a:pathLst>
          </a:custGeom>
          <a:blipFill rotWithShape="1">
            <a:blip r:embed="rId4">
              <a:alphaModFix/>
            </a:blip>
            <a:stretch>
              <a:fillRect b="0" l="0" r="0" t="0"/>
            </a:stretch>
          </a:blipFill>
          <a:ln>
            <a:noFill/>
          </a:ln>
        </p:spPr>
      </p:sp>
      <p:sp>
        <p:nvSpPr>
          <p:cNvPr id="430" name="Google Shape;430;p17"/>
          <p:cNvSpPr/>
          <p:nvPr/>
        </p:nvSpPr>
        <p:spPr>
          <a:xfrm>
            <a:off x="2170729" y="7129242"/>
            <a:ext cx="4319810" cy="426581"/>
          </a:xfrm>
          <a:custGeom>
            <a:rect b="b" l="l" r="r" t="t"/>
            <a:pathLst>
              <a:path extrusionOk="0" h="426581" w="4319810">
                <a:moveTo>
                  <a:pt x="0" y="0"/>
                </a:moveTo>
                <a:lnTo>
                  <a:pt x="4319810" y="0"/>
                </a:lnTo>
                <a:lnTo>
                  <a:pt x="4319810" y="426581"/>
                </a:lnTo>
                <a:lnTo>
                  <a:pt x="0" y="426581"/>
                </a:lnTo>
                <a:lnTo>
                  <a:pt x="0" y="0"/>
                </a:lnTo>
                <a:close/>
              </a:path>
            </a:pathLst>
          </a:custGeom>
          <a:blipFill rotWithShape="1">
            <a:blip r:embed="rId5">
              <a:alphaModFix/>
            </a:blip>
            <a:stretch>
              <a:fillRect b="0" l="0" r="0" t="-99996"/>
            </a:stretch>
          </a:blipFill>
          <a:ln>
            <a:noFill/>
          </a:ln>
        </p:spPr>
      </p:sp>
      <p:sp>
        <p:nvSpPr>
          <p:cNvPr id="431" name="Google Shape;431;p17"/>
          <p:cNvSpPr/>
          <p:nvPr/>
        </p:nvSpPr>
        <p:spPr>
          <a:xfrm>
            <a:off x="6886864" y="7129242"/>
            <a:ext cx="4319810" cy="426581"/>
          </a:xfrm>
          <a:custGeom>
            <a:rect b="b" l="l" r="r" t="t"/>
            <a:pathLst>
              <a:path extrusionOk="0" h="426581" w="4319810">
                <a:moveTo>
                  <a:pt x="0" y="0"/>
                </a:moveTo>
                <a:lnTo>
                  <a:pt x="4319809" y="0"/>
                </a:lnTo>
                <a:lnTo>
                  <a:pt x="4319809" y="426581"/>
                </a:lnTo>
                <a:lnTo>
                  <a:pt x="0" y="426581"/>
                </a:lnTo>
                <a:lnTo>
                  <a:pt x="0" y="0"/>
                </a:lnTo>
                <a:close/>
              </a:path>
            </a:pathLst>
          </a:custGeom>
          <a:blipFill rotWithShape="1">
            <a:blip r:embed="rId5">
              <a:alphaModFix/>
            </a:blip>
            <a:stretch>
              <a:fillRect b="0" l="0" r="0" t="-99996"/>
            </a:stretch>
          </a:blipFill>
          <a:ln>
            <a:noFill/>
          </a:ln>
        </p:spPr>
      </p:sp>
      <p:sp>
        <p:nvSpPr>
          <p:cNvPr id="432" name="Google Shape;432;p17"/>
          <p:cNvSpPr/>
          <p:nvPr/>
        </p:nvSpPr>
        <p:spPr>
          <a:xfrm>
            <a:off x="11606723" y="7129242"/>
            <a:ext cx="4319810" cy="426581"/>
          </a:xfrm>
          <a:custGeom>
            <a:rect b="b" l="l" r="r" t="t"/>
            <a:pathLst>
              <a:path extrusionOk="0" h="426581" w="4319810">
                <a:moveTo>
                  <a:pt x="0" y="0"/>
                </a:moveTo>
                <a:lnTo>
                  <a:pt x="4319810" y="0"/>
                </a:lnTo>
                <a:lnTo>
                  <a:pt x="4319810" y="426581"/>
                </a:lnTo>
                <a:lnTo>
                  <a:pt x="0" y="426581"/>
                </a:lnTo>
                <a:lnTo>
                  <a:pt x="0" y="0"/>
                </a:lnTo>
                <a:close/>
              </a:path>
            </a:pathLst>
          </a:custGeom>
          <a:blipFill rotWithShape="1">
            <a:blip r:embed="rId5">
              <a:alphaModFix/>
            </a:blip>
            <a:stretch>
              <a:fillRect b="0" l="0" r="0" t="-99996"/>
            </a:stretch>
          </a:blipFill>
          <a:ln>
            <a:noFill/>
          </a:ln>
        </p:spPr>
      </p:sp>
      <p:grpSp>
        <p:nvGrpSpPr>
          <p:cNvPr id="433" name="Google Shape;433;p17"/>
          <p:cNvGrpSpPr/>
          <p:nvPr/>
        </p:nvGrpSpPr>
        <p:grpSpPr>
          <a:xfrm>
            <a:off x="2193491" y="2778566"/>
            <a:ext cx="4297048" cy="4777257"/>
            <a:chOff x="0" y="-38100"/>
            <a:chExt cx="1131733" cy="1258208"/>
          </a:xfrm>
        </p:grpSpPr>
        <p:sp>
          <p:nvSpPr>
            <p:cNvPr id="434" name="Google Shape;434;p17"/>
            <p:cNvSpPr/>
            <p:nvPr/>
          </p:nvSpPr>
          <p:spPr>
            <a:xfrm>
              <a:off x="0" y="0"/>
              <a:ext cx="1131733" cy="1220108"/>
            </a:xfrm>
            <a:custGeom>
              <a:rect b="b" l="l" r="r" t="t"/>
              <a:pathLst>
                <a:path extrusionOk="0" h="1220108" w="1131733">
                  <a:moveTo>
                    <a:pt x="0" y="0"/>
                  </a:moveTo>
                  <a:lnTo>
                    <a:pt x="1131733" y="0"/>
                  </a:lnTo>
                  <a:lnTo>
                    <a:pt x="1131733" y="1220108"/>
                  </a:lnTo>
                  <a:lnTo>
                    <a:pt x="0" y="1220108"/>
                  </a:lnTo>
                  <a:close/>
                </a:path>
              </a:pathLst>
            </a:custGeom>
            <a:solidFill>
              <a:srgbClr val="CFF4FF"/>
            </a:solidFill>
            <a:ln cap="sq" cmpd="sng" w="19050">
              <a:solidFill>
                <a:srgbClr val="FFFFFF"/>
              </a:solidFill>
              <a:prstDash val="solid"/>
              <a:miter lim="8000"/>
              <a:headEnd len="sm" w="sm" type="none"/>
              <a:tailEnd len="sm" w="sm" type="none"/>
            </a:ln>
          </p:spPr>
        </p:sp>
        <p:sp>
          <p:nvSpPr>
            <p:cNvPr id="435" name="Google Shape;435;p17"/>
            <p:cNvSpPr txBox="1"/>
            <p:nvPr/>
          </p:nvSpPr>
          <p:spPr>
            <a:xfrm>
              <a:off x="0" y="-38100"/>
              <a:ext cx="1131733" cy="1258208"/>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6" name="Google Shape;436;p17"/>
          <p:cNvSpPr/>
          <p:nvPr/>
        </p:nvSpPr>
        <p:spPr>
          <a:xfrm>
            <a:off x="3911573" y="3225912"/>
            <a:ext cx="1114628" cy="1130866"/>
          </a:xfrm>
          <a:custGeom>
            <a:rect b="b" l="l" r="r" t="t"/>
            <a:pathLst>
              <a:path extrusionOk="0" h="1130866" w="1114628">
                <a:moveTo>
                  <a:pt x="0" y="0"/>
                </a:moveTo>
                <a:lnTo>
                  <a:pt x="1114628" y="0"/>
                </a:lnTo>
                <a:lnTo>
                  <a:pt x="1114628" y="1130866"/>
                </a:lnTo>
                <a:lnTo>
                  <a:pt x="0" y="1130866"/>
                </a:lnTo>
                <a:lnTo>
                  <a:pt x="0" y="0"/>
                </a:lnTo>
                <a:close/>
              </a:path>
            </a:pathLst>
          </a:custGeom>
          <a:blipFill rotWithShape="1">
            <a:blip r:embed="rId6">
              <a:alphaModFix/>
            </a:blip>
            <a:stretch>
              <a:fillRect b="0" l="0" r="0" t="0"/>
            </a:stretch>
          </a:blipFill>
          <a:ln>
            <a:noFill/>
          </a:ln>
        </p:spPr>
      </p:sp>
      <p:grpSp>
        <p:nvGrpSpPr>
          <p:cNvPr id="437" name="Google Shape;437;p17"/>
          <p:cNvGrpSpPr/>
          <p:nvPr/>
        </p:nvGrpSpPr>
        <p:grpSpPr>
          <a:xfrm>
            <a:off x="6896375" y="2778566"/>
            <a:ext cx="4297048" cy="4777257"/>
            <a:chOff x="0" y="-38100"/>
            <a:chExt cx="1131733" cy="1258208"/>
          </a:xfrm>
        </p:grpSpPr>
        <p:sp>
          <p:nvSpPr>
            <p:cNvPr id="438" name="Google Shape;438;p17"/>
            <p:cNvSpPr/>
            <p:nvPr/>
          </p:nvSpPr>
          <p:spPr>
            <a:xfrm>
              <a:off x="0" y="0"/>
              <a:ext cx="1131733" cy="1220108"/>
            </a:xfrm>
            <a:custGeom>
              <a:rect b="b" l="l" r="r" t="t"/>
              <a:pathLst>
                <a:path extrusionOk="0" h="1220108" w="1131733">
                  <a:moveTo>
                    <a:pt x="0" y="0"/>
                  </a:moveTo>
                  <a:lnTo>
                    <a:pt x="1131733" y="0"/>
                  </a:lnTo>
                  <a:lnTo>
                    <a:pt x="1131733" y="1220108"/>
                  </a:lnTo>
                  <a:lnTo>
                    <a:pt x="0" y="1220108"/>
                  </a:lnTo>
                  <a:close/>
                </a:path>
              </a:pathLst>
            </a:custGeom>
            <a:solidFill>
              <a:srgbClr val="CFF4FF"/>
            </a:solidFill>
            <a:ln cap="sq" cmpd="sng" w="19050">
              <a:solidFill>
                <a:srgbClr val="FFFFFF"/>
              </a:solidFill>
              <a:prstDash val="solid"/>
              <a:miter lim="8000"/>
              <a:headEnd len="sm" w="sm" type="none"/>
              <a:tailEnd len="sm" w="sm" type="none"/>
            </a:ln>
          </p:spPr>
        </p:sp>
        <p:sp>
          <p:nvSpPr>
            <p:cNvPr id="439" name="Google Shape;439;p17"/>
            <p:cNvSpPr txBox="1"/>
            <p:nvPr/>
          </p:nvSpPr>
          <p:spPr>
            <a:xfrm>
              <a:off x="0" y="-38100"/>
              <a:ext cx="1131733" cy="1258208"/>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40" name="Google Shape;440;p17"/>
          <p:cNvGrpSpPr/>
          <p:nvPr/>
        </p:nvGrpSpPr>
        <p:grpSpPr>
          <a:xfrm>
            <a:off x="11602998" y="2778566"/>
            <a:ext cx="4297048" cy="4777257"/>
            <a:chOff x="0" y="-38100"/>
            <a:chExt cx="1131733" cy="1258208"/>
          </a:xfrm>
        </p:grpSpPr>
        <p:sp>
          <p:nvSpPr>
            <p:cNvPr id="441" name="Google Shape;441;p17"/>
            <p:cNvSpPr/>
            <p:nvPr/>
          </p:nvSpPr>
          <p:spPr>
            <a:xfrm>
              <a:off x="0" y="0"/>
              <a:ext cx="1131733" cy="1220108"/>
            </a:xfrm>
            <a:custGeom>
              <a:rect b="b" l="l" r="r" t="t"/>
              <a:pathLst>
                <a:path extrusionOk="0" h="1220108" w="1131733">
                  <a:moveTo>
                    <a:pt x="0" y="0"/>
                  </a:moveTo>
                  <a:lnTo>
                    <a:pt x="1131733" y="0"/>
                  </a:lnTo>
                  <a:lnTo>
                    <a:pt x="1131733" y="1220108"/>
                  </a:lnTo>
                  <a:lnTo>
                    <a:pt x="0" y="1220108"/>
                  </a:lnTo>
                  <a:close/>
                </a:path>
              </a:pathLst>
            </a:custGeom>
            <a:solidFill>
              <a:srgbClr val="CFF4FF"/>
            </a:solidFill>
            <a:ln cap="sq" cmpd="sng" w="19050">
              <a:solidFill>
                <a:srgbClr val="FFFFFF"/>
              </a:solidFill>
              <a:prstDash val="solid"/>
              <a:miter lim="8000"/>
              <a:headEnd len="sm" w="sm" type="none"/>
              <a:tailEnd len="sm" w="sm" type="none"/>
            </a:ln>
          </p:spPr>
        </p:sp>
        <p:sp>
          <p:nvSpPr>
            <p:cNvPr id="442" name="Google Shape;442;p17"/>
            <p:cNvSpPr txBox="1"/>
            <p:nvPr/>
          </p:nvSpPr>
          <p:spPr>
            <a:xfrm>
              <a:off x="0" y="-38100"/>
              <a:ext cx="1131733" cy="1258208"/>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3" name="Google Shape;443;p17"/>
          <p:cNvSpPr/>
          <p:nvPr/>
        </p:nvSpPr>
        <p:spPr>
          <a:xfrm>
            <a:off x="8456216" y="3397261"/>
            <a:ext cx="1007650" cy="959517"/>
          </a:xfrm>
          <a:custGeom>
            <a:rect b="b" l="l" r="r" t="t"/>
            <a:pathLst>
              <a:path extrusionOk="0" h="959517" w="1007650">
                <a:moveTo>
                  <a:pt x="0" y="0"/>
                </a:moveTo>
                <a:lnTo>
                  <a:pt x="1007650" y="0"/>
                </a:lnTo>
                <a:lnTo>
                  <a:pt x="1007650" y="959517"/>
                </a:lnTo>
                <a:lnTo>
                  <a:pt x="0" y="959517"/>
                </a:lnTo>
                <a:lnTo>
                  <a:pt x="0" y="0"/>
                </a:lnTo>
                <a:close/>
              </a:path>
            </a:pathLst>
          </a:custGeom>
          <a:blipFill rotWithShape="1">
            <a:blip r:embed="rId3">
              <a:alphaModFix/>
            </a:blip>
            <a:stretch>
              <a:fillRect b="0" l="0" r="0" t="0"/>
            </a:stretch>
          </a:blipFill>
          <a:ln>
            <a:noFill/>
          </a:ln>
        </p:spPr>
      </p:sp>
      <p:sp>
        <p:nvSpPr>
          <p:cNvPr id="444" name="Google Shape;444;p17"/>
          <p:cNvSpPr/>
          <p:nvPr/>
        </p:nvSpPr>
        <p:spPr>
          <a:xfrm rot="1313163">
            <a:off x="14330817" y="-1655690"/>
            <a:ext cx="9085628" cy="5368780"/>
          </a:xfrm>
          <a:custGeom>
            <a:rect b="b" l="l" r="r" t="t"/>
            <a:pathLst>
              <a:path extrusionOk="0" h="5368780" w="9085628">
                <a:moveTo>
                  <a:pt x="0" y="0"/>
                </a:moveTo>
                <a:lnTo>
                  <a:pt x="9085629" y="0"/>
                </a:lnTo>
                <a:lnTo>
                  <a:pt x="9085629" y="5368780"/>
                </a:lnTo>
                <a:lnTo>
                  <a:pt x="0" y="5368780"/>
                </a:lnTo>
                <a:lnTo>
                  <a:pt x="0" y="0"/>
                </a:lnTo>
                <a:close/>
              </a:path>
            </a:pathLst>
          </a:custGeom>
          <a:blipFill rotWithShape="1">
            <a:blip r:embed="rId4">
              <a:alphaModFix/>
            </a:blip>
            <a:stretch>
              <a:fillRect b="0" l="0" r="0" t="0"/>
            </a:stretch>
          </a:blipFill>
          <a:ln>
            <a:noFill/>
          </a:ln>
        </p:spPr>
      </p:sp>
      <p:sp>
        <p:nvSpPr>
          <p:cNvPr id="445" name="Google Shape;445;p17"/>
          <p:cNvSpPr/>
          <p:nvPr/>
        </p:nvSpPr>
        <p:spPr>
          <a:xfrm>
            <a:off x="12813685" y="3289108"/>
            <a:ext cx="1493354" cy="1175824"/>
          </a:xfrm>
          <a:custGeom>
            <a:rect b="b" l="l" r="r" t="t"/>
            <a:pathLst>
              <a:path extrusionOk="0" h="1175824" w="1493354">
                <a:moveTo>
                  <a:pt x="0" y="0"/>
                </a:moveTo>
                <a:lnTo>
                  <a:pt x="1493354" y="0"/>
                </a:lnTo>
                <a:lnTo>
                  <a:pt x="1493354" y="1175823"/>
                </a:lnTo>
                <a:lnTo>
                  <a:pt x="0" y="1175823"/>
                </a:lnTo>
                <a:lnTo>
                  <a:pt x="0" y="0"/>
                </a:lnTo>
                <a:close/>
              </a:path>
            </a:pathLst>
          </a:custGeom>
          <a:blipFill rotWithShape="1">
            <a:blip r:embed="rId7">
              <a:alphaModFix/>
            </a:blip>
            <a:stretch>
              <a:fillRect b="0" l="0" r="0" t="0"/>
            </a:stretch>
          </a:blipFill>
          <a:ln>
            <a:noFill/>
          </a:ln>
        </p:spPr>
      </p:sp>
      <p:sp>
        <p:nvSpPr>
          <p:cNvPr id="446" name="Google Shape;446;p17"/>
          <p:cNvSpPr txBox="1"/>
          <p:nvPr/>
        </p:nvSpPr>
        <p:spPr>
          <a:xfrm>
            <a:off x="2340721" y="5663395"/>
            <a:ext cx="4002588" cy="817761"/>
          </a:xfrm>
          <a:prstGeom prst="rect">
            <a:avLst/>
          </a:prstGeom>
          <a:noFill/>
          <a:ln>
            <a:noFill/>
          </a:ln>
        </p:spPr>
        <p:txBody>
          <a:bodyPr anchorCtr="0" anchor="t" bIns="0" lIns="0" spcFirstLastPara="1" rIns="0" wrap="square" tIns="0">
            <a:spAutoFit/>
          </a:bodyPr>
          <a:lstStyle/>
          <a:p>
            <a:pPr indent="0" lvl="0" marL="0" marR="0" rtl="0" algn="ctr">
              <a:lnSpc>
                <a:spcPct val="137977"/>
              </a:lnSpc>
              <a:spcBef>
                <a:spcPts val="0"/>
              </a:spcBef>
              <a:spcAft>
                <a:spcPts val="0"/>
              </a:spcAft>
              <a:buClr>
                <a:srgbClr val="000000"/>
              </a:buClr>
              <a:buSzPts val="1572"/>
              <a:buFont typeface="Arial"/>
              <a:buNone/>
            </a:pPr>
            <a:r>
              <a:rPr b="0" i="0" lang="en-US" sz="1572" u="none" cap="none" strike="noStrike">
                <a:solidFill>
                  <a:srgbClr val="051D40"/>
                </a:solidFill>
                <a:latin typeface="DM Sans"/>
                <a:ea typeface="DM Sans"/>
                <a:cs typeface="DM Sans"/>
                <a:sym typeface="DM Sans"/>
              </a:rPr>
              <a:t>Su principal objetivo es encontrar el punto exacto en el que el sistema se rompe o deja de funcionar de forma aceptable.</a:t>
            </a:r>
            <a:endParaRPr b="0" i="0" sz="1400" u="none" cap="none" strike="noStrike">
              <a:solidFill>
                <a:srgbClr val="000000"/>
              </a:solidFill>
              <a:latin typeface="Arial"/>
              <a:ea typeface="Arial"/>
              <a:cs typeface="Arial"/>
              <a:sym typeface="Arial"/>
            </a:endParaRPr>
          </a:p>
        </p:txBody>
      </p:sp>
      <p:sp>
        <p:nvSpPr>
          <p:cNvPr id="447" name="Google Shape;447;p17"/>
          <p:cNvSpPr txBox="1"/>
          <p:nvPr/>
        </p:nvSpPr>
        <p:spPr>
          <a:xfrm>
            <a:off x="2322288" y="4472076"/>
            <a:ext cx="4002588" cy="628474"/>
          </a:xfrm>
          <a:prstGeom prst="rect">
            <a:avLst/>
          </a:prstGeom>
          <a:noFill/>
          <a:ln>
            <a:noFill/>
          </a:ln>
        </p:spPr>
        <p:txBody>
          <a:bodyPr anchorCtr="0" anchor="t" bIns="0" lIns="0" spcFirstLastPara="1" rIns="0" wrap="square" tIns="0">
            <a:spAutoFit/>
          </a:bodyPr>
          <a:lstStyle/>
          <a:p>
            <a:pPr indent="0" lvl="0" marL="0" marR="0" rtl="0" algn="ctr">
              <a:lnSpc>
                <a:spcPct val="138009"/>
              </a:lnSpc>
              <a:spcBef>
                <a:spcPts val="0"/>
              </a:spcBef>
              <a:spcAft>
                <a:spcPts val="0"/>
              </a:spcAft>
              <a:buClr>
                <a:srgbClr val="000000"/>
              </a:buClr>
              <a:buSzPts val="3757"/>
              <a:buFont typeface="Arial"/>
              <a:buNone/>
            </a:pPr>
            <a:r>
              <a:rPr b="1" i="0" lang="en-US" sz="3757" u="none" cap="none" strike="noStrike">
                <a:solidFill>
                  <a:srgbClr val="0071C9"/>
                </a:solidFill>
                <a:latin typeface="DM Sans"/>
                <a:ea typeface="DM Sans"/>
                <a:cs typeface="DM Sans"/>
                <a:sym typeface="DM Sans"/>
              </a:rPr>
              <a:t>Punto de quiebre</a:t>
            </a:r>
            <a:endParaRPr b="0" i="0" sz="1400" u="none" cap="none" strike="noStrike">
              <a:solidFill>
                <a:srgbClr val="000000"/>
              </a:solidFill>
              <a:latin typeface="Arial"/>
              <a:ea typeface="Arial"/>
              <a:cs typeface="Arial"/>
              <a:sym typeface="Arial"/>
            </a:endParaRPr>
          </a:p>
        </p:txBody>
      </p:sp>
      <p:sp>
        <p:nvSpPr>
          <p:cNvPr id="448" name="Google Shape;448;p17"/>
          <p:cNvSpPr txBox="1"/>
          <p:nvPr/>
        </p:nvSpPr>
        <p:spPr>
          <a:xfrm>
            <a:off x="7043606" y="5663395"/>
            <a:ext cx="4002588" cy="1092805"/>
          </a:xfrm>
          <a:prstGeom prst="rect">
            <a:avLst/>
          </a:prstGeom>
          <a:noFill/>
          <a:ln>
            <a:noFill/>
          </a:ln>
        </p:spPr>
        <p:txBody>
          <a:bodyPr anchorCtr="0" anchor="t" bIns="0" lIns="0" spcFirstLastPara="1" rIns="0" wrap="square" tIns="0">
            <a:spAutoFit/>
          </a:bodyPr>
          <a:lstStyle/>
          <a:p>
            <a:pPr indent="0" lvl="0" marL="0" marR="0" rtl="0" algn="ctr">
              <a:lnSpc>
                <a:spcPct val="137977"/>
              </a:lnSpc>
              <a:spcBef>
                <a:spcPts val="0"/>
              </a:spcBef>
              <a:spcAft>
                <a:spcPts val="0"/>
              </a:spcAft>
              <a:buClr>
                <a:srgbClr val="000000"/>
              </a:buClr>
              <a:buSzPts val="1572"/>
              <a:buFont typeface="Arial"/>
              <a:buNone/>
            </a:pPr>
            <a:r>
              <a:rPr b="0" i="0" lang="en-US" sz="1572" u="none" cap="none" strike="noStrike">
                <a:solidFill>
                  <a:srgbClr val="051D40"/>
                </a:solidFill>
                <a:latin typeface="DM Sans"/>
                <a:ea typeface="DM Sans"/>
                <a:cs typeface="DM Sans"/>
                <a:sym typeface="DM Sans"/>
              </a:rPr>
              <a:t>Evalúan cómo el sistema maneja la sobrecarga de usuarios o transacciones. ¿Se congela, se bloquea o simplemente se vuelve más lento?</a:t>
            </a:r>
            <a:endParaRPr b="0" i="0" sz="1400" u="none" cap="none" strike="noStrike">
              <a:solidFill>
                <a:srgbClr val="000000"/>
              </a:solidFill>
              <a:latin typeface="Arial"/>
              <a:ea typeface="Arial"/>
              <a:cs typeface="Arial"/>
              <a:sym typeface="Arial"/>
            </a:endParaRPr>
          </a:p>
        </p:txBody>
      </p:sp>
      <p:sp>
        <p:nvSpPr>
          <p:cNvPr id="449" name="Google Shape;449;p17"/>
          <p:cNvSpPr txBox="1"/>
          <p:nvPr/>
        </p:nvSpPr>
        <p:spPr>
          <a:xfrm>
            <a:off x="7045475" y="4354811"/>
            <a:ext cx="4002588" cy="1285699"/>
          </a:xfrm>
          <a:prstGeom prst="rect">
            <a:avLst/>
          </a:prstGeom>
          <a:noFill/>
          <a:ln>
            <a:noFill/>
          </a:ln>
        </p:spPr>
        <p:txBody>
          <a:bodyPr anchorCtr="0" anchor="t" bIns="0" lIns="0" spcFirstLastPara="1" rIns="0" wrap="square" tIns="0">
            <a:spAutoFit/>
          </a:bodyPr>
          <a:lstStyle/>
          <a:p>
            <a:pPr indent="0" lvl="0" marL="0" marR="0" rtl="0" algn="ctr">
              <a:lnSpc>
                <a:spcPct val="138009"/>
              </a:lnSpc>
              <a:spcBef>
                <a:spcPts val="0"/>
              </a:spcBef>
              <a:spcAft>
                <a:spcPts val="0"/>
              </a:spcAft>
              <a:buClr>
                <a:srgbClr val="000000"/>
              </a:buClr>
              <a:buSzPts val="3757"/>
              <a:buFont typeface="Arial"/>
              <a:buNone/>
            </a:pPr>
            <a:r>
              <a:rPr b="1" i="0" lang="en-US" sz="3757" u="none" cap="none" strike="noStrike">
                <a:solidFill>
                  <a:srgbClr val="F1945B"/>
                </a:solidFill>
                <a:latin typeface="DM Sans"/>
                <a:ea typeface="DM Sans"/>
                <a:cs typeface="DM Sans"/>
                <a:sym typeface="DM Sans"/>
              </a:rPr>
              <a:t>Comportamiento bajo presión</a:t>
            </a:r>
            <a:endParaRPr b="0" i="0" sz="1400" u="none" cap="none" strike="noStrike">
              <a:solidFill>
                <a:srgbClr val="000000"/>
              </a:solidFill>
              <a:latin typeface="Arial"/>
              <a:ea typeface="Arial"/>
              <a:cs typeface="Arial"/>
              <a:sym typeface="Arial"/>
            </a:endParaRPr>
          </a:p>
        </p:txBody>
      </p:sp>
      <p:sp>
        <p:nvSpPr>
          <p:cNvPr id="450" name="Google Shape;450;p17"/>
          <p:cNvSpPr txBox="1"/>
          <p:nvPr/>
        </p:nvSpPr>
        <p:spPr>
          <a:xfrm>
            <a:off x="11765334" y="6095095"/>
            <a:ext cx="4002588" cy="1280792"/>
          </a:xfrm>
          <a:prstGeom prst="rect">
            <a:avLst/>
          </a:prstGeom>
          <a:noFill/>
          <a:ln>
            <a:noFill/>
          </a:ln>
        </p:spPr>
        <p:txBody>
          <a:bodyPr anchorCtr="0" anchor="t" bIns="0" lIns="0" spcFirstLastPara="1" rIns="0" wrap="square" tIns="0">
            <a:spAutoFit/>
          </a:bodyPr>
          <a:lstStyle/>
          <a:p>
            <a:pPr indent="0" lvl="0" marL="0" marR="0" rtl="0" algn="ctr">
              <a:lnSpc>
                <a:spcPct val="137975"/>
              </a:lnSpc>
              <a:spcBef>
                <a:spcPts val="0"/>
              </a:spcBef>
              <a:spcAft>
                <a:spcPts val="0"/>
              </a:spcAft>
              <a:buClr>
                <a:srgbClr val="000000"/>
              </a:buClr>
              <a:buSzPts val="1472"/>
              <a:buFont typeface="Arial"/>
              <a:buNone/>
            </a:pPr>
            <a:r>
              <a:rPr b="0" i="0" lang="en-US" sz="1472" u="none" cap="none" strike="noStrike">
                <a:solidFill>
                  <a:srgbClr val="051D40"/>
                </a:solidFill>
                <a:latin typeface="DM Sans"/>
                <a:ea typeface="DM Sans"/>
                <a:cs typeface="DM Sans"/>
                <a:sym typeface="DM Sans"/>
              </a:rPr>
              <a:t>Una vez que el estrés desaparece, ¿el sistema se recupera de forma automática y vuelve a su estado normal? O, por el contrario, ¿requiere una intervención manual para reiniciarse?</a:t>
            </a:r>
            <a:endParaRPr b="0" i="0" sz="1400" u="none" cap="none" strike="noStrike">
              <a:solidFill>
                <a:srgbClr val="000000"/>
              </a:solidFill>
              <a:latin typeface="Arial"/>
              <a:ea typeface="Arial"/>
              <a:cs typeface="Arial"/>
              <a:sym typeface="Arial"/>
            </a:endParaRPr>
          </a:p>
        </p:txBody>
      </p:sp>
      <p:sp>
        <p:nvSpPr>
          <p:cNvPr id="451" name="Google Shape;451;p17"/>
          <p:cNvSpPr txBox="1"/>
          <p:nvPr/>
        </p:nvSpPr>
        <p:spPr>
          <a:xfrm>
            <a:off x="11750229" y="4570266"/>
            <a:ext cx="4002588" cy="1285699"/>
          </a:xfrm>
          <a:prstGeom prst="rect">
            <a:avLst/>
          </a:prstGeom>
          <a:noFill/>
          <a:ln>
            <a:noFill/>
          </a:ln>
        </p:spPr>
        <p:txBody>
          <a:bodyPr anchorCtr="0" anchor="t" bIns="0" lIns="0" spcFirstLastPara="1" rIns="0" wrap="square" tIns="0">
            <a:spAutoFit/>
          </a:bodyPr>
          <a:lstStyle/>
          <a:p>
            <a:pPr indent="0" lvl="0" marL="0" marR="0" rtl="0" algn="ctr">
              <a:lnSpc>
                <a:spcPct val="138009"/>
              </a:lnSpc>
              <a:spcBef>
                <a:spcPts val="0"/>
              </a:spcBef>
              <a:spcAft>
                <a:spcPts val="0"/>
              </a:spcAft>
              <a:buClr>
                <a:srgbClr val="000000"/>
              </a:buClr>
              <a:buSzPts val="3757"/>
              <a:buFont typeface="Arial"/>
              <a:buNone/>
            </a:pPr>
            <a:r>
              <a:rPr b="1" i="0" lang="en-US" sz="3757" u="none" cap="none" strike="noStrike">
                <a:solidFill>
                  <a:srgbClr val="1C5739"/>
                </a:solidFill>
                <a:latin typeface="DM Sans"/>
                <a:ea typeface="DM Sans"/>
                <a:cs typeface="DM Sans"/>
                <a:sym typeface="DM Sans"/>
              </a:rPr>
              <a:t>Capacidad de recuperación: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455" name="Shape 455"/>
        <p:cNvGrpSpPr/>
        <p:nvPr/>
      </p:nvGrpSpPr>
      <p:grpSpPr>
        <a:xfrm>
          <a:off x="0" y="0"/>
          <a:ext cx="0" cy="0"/>
          <a:chOff x="0" y="0"/>
          <a:chExt cx="0" cy="0"/>
        </a:xfrm>
      </p:grpSpPr>
      <p:sp>
        <p:nvSpPr>
          <p:cNvPr id="456" name="Google Shape;456;p18"/>
          <p:cNvSpPr/>
          <p:nvPr/>
        </p:nvSpPr>
        <p:spPr>
          <a:xfrm>
            <a:off x="6694069" y="3428600"/>
            <a:ext cx="821455" cy="821455"/>
          </a:xfrm>
          <a:custGeom>
            <a:rect b="b" l="l" r="r" t="t"/>
            <a:pathLst>
              <a:path extrusionOk="0" h="821455" w="821455">
                <a:moveTo>
                  <a:pt x="0" y="0"/>
                </a:moveTo>
                <a:lnTo>
                  <a:pt x="821455" y="0"/>
                </a:lnTo>
                <a:lnTo>
                  <a:pt x="821455" y="821455"/>
                </a:lnTo>
                <a:lnTo>
                  <a:pt x="0" y="821455"/>
                </a:lnTo>
                <a:lnTo>
                  <a:pt x="0" y="0"/>
                </a:lnTo>
                <a:close/>
              </a:path>
            </a:pathLst>
          </a:custGeom>
          <a:blipFill rotWithShape="1">
            <a:blip r:embed="rId3">
              <a:alphaModFix/>
            </a:blip>
            <a:stretch>
              <a:fillRect b="0" l="0" r="0" t="0"/>
            </a:stretch>
          </a:blipFill>
          <a:ln>
            <a:noFill/>
          </a:ln>
        </p:spPr>
      </p:sp>
      <p:sp>
        <p:nvSpPr>
          <p:cNvPr id="457" name="Google Shape;457;p18"/>
          <p:cNvSpPr txBox="1"/>
          <p:nvPr/>
        </p:nvSpPr>
        <p:spPr>
          <a:xfrm>
            <a:off x="1028700" y="2286055"/>
            <a:ext cx="13726645" cy="730377"/>
          </a:xfrm>
          <a:prstGeom prst="rect">
            <a:avLst/>
          </a:prstGeom>
          <a:noFill/>
          <a:ln>
            <a:noFill/>
          </a:ln>
        </p:spPr>
        <p:txBody>
          <a:bodyPr anchorCtr="0" anchor="t" bIns="0" lIns="0" spcFirstLastPara="1" rIns="0" wrap="square" tIns="0">
            <a:spAutoFit/>
          </a:bodyPr>
          <a:lstStyle/>
          <a:p>
            <a:pPr indent="0" lvl="0" marL="0" marR="0" rtl="0" algn="l">
              <a:lnSpc>
                <a:spcPct val="138000"/>
              </a:lnSpc>
              <a:spcBef>
                <a:spcPts val="0"/>
              </a:spcBef>
              <a:spcAft>
                <a:spcPts val="0"/>
              </a:spcAft>
              <a:buClr>
                <a:srgbClr val="000000"/>
              </a:buClr>
              <a:buSzPts val="4300"/>
              <a:buFont typeface="Arial"/>
              <a:buNone/>
            </a:pPr>
            <a:r>
              <a:rPr b="1" i="0" lang="en-US" sz="4300" u="none" cap="none" strike="noStrike">
                <a:solidFill>
                  <a:srgbClr val="FFFFFF"/>
                </a:solidFill>
                <a:latin typeface="DM Sans"/>
                <a:ea typeface="DM Sans"/>
                <a:cs typeface="DM Sans"/>
                <a:sym typeface="DM Sans"/>
              </a:rPr>
              <a:t>¿Por qué son importantes?</a:t>
            </a:r>
            <a:endParaRPr b="0" i="0" sz="1400" u="none" cap="none" strike="noStrike">
              <a:solidFill>
                <a:srgbClr val="000000"/>
              </a:solidFill>
              <a:latin typeface="Arial"/>
              <a:ea typeface="Arial"/>
              <a:cs typeface="Arial"/>
              <a:sym typeface="Arial"/>
            </a:endParaRPr>
          </a:p>
        </p:txBody>
      </p:sp>
      <p:sp>
        <p:nvSpPr>
          <p:cNvPr id="458" name="Google Shape;458;p18"/>
          <p:cNvSpPr txBox="1"/>
          <p:nvPr/>
        </p:nvSpPr>
        <p:spPr>
          <a:xfrm>
            <a:off x="1028700" y="3791703"/>
            <a:ext cx="15895219" cy="2088020"/>
          </a:xfrm>
          <a:prstGeom prst="rect">
            <a:avLst/>
          </a:prstGeom>
          <a:noFill/>
          <a:ln>
            <a:noFill/>
          </a:ln>
        </p:spPr>
        <p:txBody>
          <a:bodyPr anchorCtr="0" anchor="t" bIns="0" lIns="0" spcFirstLastPara="1" rIns="0" wrap="square" tIns="0">
            <a:spAutoFit/>
          </a:bodyPr>
          <a:lstStyle/>
          <a:p>
            <a:pPr indent="0" lvl="0" marL="0" marR="0" rtl="0" algn="just">
              <a:lnSpc>
                <a:spcPct val="138008"/>
              </a:lnSpc>
              <a:spcBef>
                <a:spcPts val="0"/>
              </a:spcBef>
              <a:spcAft>
                <a:spcPts val="0"/>
              </a:spcAft>
              <a:buClr>
                <a:srgbClr val="000000"/>
              </a:buClr>
              <a:buSzPts val="2410"/>
              <a:buFont typeface="Arial"/>
              <a:buNone/>
            </a:pPr>
            <a:r>
              <a:rPr b="0" i="0" lang="en-US" sz="2410" u="none" cap="none" strike="noStrike">
                <a:solidFill>
                  <a:srgbClr val="FFFFFF"/>
                </a:solidFill>
                <a:latin typeface="DM Sans"/>
                <a:ea typeface="DM Sans"/>
                <a:cs typeface="DM Sans"/>
                <a:sym typeface="DM Sans"/>
              </a:rPr>
              <a:t>Piensa en un sistema de compra de boletos para un concierto muy popular. Durante la venta, miles de personas intentarán comprar boletos en cuestión de segundos. Esto creará un pico de tráfico que es mucho más alto que el tráfico promedio. Si el sistema no ha sido probado para este escenario, podría colapsar por completo, causando frustración masiva, pérdida de ventas y daños a la reputación de la empresa. Las pruebas de estrés ayudan a prepararse para estos eventos de alto impacto.</a:t>
            </a:r>
            <a:endParaRPr b="0" i="0" sz="1400" u="none" cap="none" strike="noStrike">
              <a:solidFill>
                <a:srgbClr val="000000"/>
              </a:solidFill>
              <a:latin typeface="Arial"/>
              <a:ea typeface="Arial"/>
              <a:cs typeface="Arial"/>
              <a:sym typeface="Arial"/>
            </a:endParaRPr>
          </a:p>
        </p:txBody>
      </p:sp>
      <p:sp>
        <p:nvSpPr>
          <p:cNvPr id="459" name="Google Shape;459;p18"/>
          <p:cNvSpPr/>
          <p:nvPr/>
        </p:nvSpPr>
        <p:spPr>
          <a:xfrm>
            <a:off x="-2519628" y="7712017"/>
            <a:ext cx="6602062" cy="6602062"/>
          </a:xfrm>
          <a:custGeom>
            <a:rect b="b" l="l" r="r" t="t"/>
            <a:pathLst>
              <a:path extrusionOk="0" h="6602062" w="6602062">
                <a:moveTo>
                  <a:pt x="0" y="0"/>
                </a:moveTo>
                <a:lnTo>
                  <a:pt x="6602062" y="0"/>
                </a:lnTo>
                <a:lnTo>
                  <a:pt x="6602062" y="6602062"/>
                </a:lnTo>
                <a:lnTo>
                  <a:pt x="0" y="6602062"/>
                </a:lnTo>
                <a:lnTo>
                  <a:pt x="0" y="0"/>
                </a:lnTo>
                <a:close/>
              </a:path>
            </a:pathLst>
          </a:custGeom>
          <a:blipFill rotWithShape="1">
            <a:blip r:embed="rId4">
              <a:alphaModFix/>
            </a:blip>
            <a:stretch>
              <a:fillRect b="0" l="0" r="0" t="0"/>
            </a:stretch>
          </a:blipFill>
          <a:ln>
            <a:noFill/>
          </a:ln>
        </p:spPr>
      </p:sp>
      <p:sp>
        <p:nvSpPr>
          <p:cNvPr id="460" name="Google Shape;460;p18"/>
          <p:cNvSpPr/>
          <p:nvPr/>
        </p:nvSpPr>
        <p:spPr>
          <a:xfrm rot="10436461">
            <a:off x="14111851" y="-3920191"/>
            <a:ext cx="6294897" cy="6294897"/>
          </a:xfrm>
          <a:custGeom>
            <a:rect b="b" l="l" r="r" t="t"/>
            <a:pathLst>
              <a:path extrusionOk="0" h="6294897" w="6294897">
                <a:moveTo>
                  <a:pt x="0" y="0"/>
                </a:moveTo>
                <a:lnTo>
                  <a:pt x="6294898" y="0"/>
                </a:lnTo>
                <a:lnTo>
                  <a:pt x="6294898" y="6294898"/>
                </a:lnTo>
                <a:lnTo>
                  <a:pt x="0" y="6294898"/>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464" name="Shape 464"/>
        <p:cNvGrpSpPr/>
        <p:nvPr/>
      </p:nvGrpSpPr>
      <p:grpSpPr>
        <a:xfrm>
          <a:off x="0" y="0"/>
          <a:ext cx="0" cy="0"/>
          <a:chOff x="0" y="0"/>
          <a:chExt cx="0" cy="0"/>
        </a:xfrm>
      </p:grpSpPr>
      <p:grpSp>
        <p:nvGrpSpPr>
          <p:cNvPr id="465" name="Google Shape;465;p19"/>
          <p:cNvGrpSpPr/>
          <p:nvPr/>
        </p:nvGrpSpPr>
        <p:grpSpPr>
          <a:xfrm>
            <a:off x="6723272" y="2035179"/>
            <a:ext cx="4161751" cy="1246529"/>
            <a:chOff x="0" y="-38100"/>
            <a:chExt cx="2565722" cy="768486"/>
          </a:xfrm>
        </p:grpSpPr>
        <p:sp>
          <p:nvSpPr>
            <p:cNvPr id="466" name="Google Shape;466;p19"/>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145DA0"/>
            </a:solidFill>
            <a:ln>
              <a:noFill/>
            </a:ln>
          </p:spPr>
        </p:sp>
        <p:sp>
          <p:nvSpPr>
            <p:cNvPr id="467" name="Google Shape;467;p19"/>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68" name="Google Shape;468;p19"/>
          <p:cNvGrpSpPr/>
          <p:nvPr/>
        </p:nvGrpSpPr>
        <p:grpSpPr>
          <a:xfrm rot="10800000">
            <a:off x="5756860" y="3281708"/>
            <a:ext cx="4161751" cy="1246529"/>
            <a:chOff x="0" y="-38100"/>
            <a:chExt cx="2565722" cy="768486"/>
          </a:xfrm>
        </p:grpSpPr>
        <p:sp>
          <p:nvSpPr>
            <p:cNvPr id="469" name="Google Shape;469;p19"/>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0071C9"/>
            </a:solidFill>
            <a:ln>
              <a:noFill/>
            </a:ln>
          </p:spPr>
        </p:sp>
        <p:sp>
          <p:nvSpPr>
            <p:cNvPr id="470" name="Google Shape;470;p19"/>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71" name="Google Shape;471;p19"/>
          <p:cNvGrpSpPr/>
          <p:nvPr/>
        </p:nvGrpSpPr>
        <p:grpSpPr>
          <a:xfrm>
            <a:off x="7387678" y="4404636"/>
            <a:ext cx="4161751" cy="1246529"/>
            <a:chOff x="0" y="-38100"/>
            <a:chExt cx="2565722" cy="768486"/>
          </a:xfrm>
        </p:grpSpPr>
        <p:sp>
          <p:nvSpPr>
            <p:cNvPr id="472" name="Google Shape;472;p19"/>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56AEFF"/>
            </a:solidFill>
            <a:ln>
              <a:noFill/>
            </a:ln>
          </p:spPr>
        </p:sp>
        <p:sp>
          <p:nvSpPr>
            <p:cNvPr id="473" name="Google Shape;473;p19"/>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74" name="Google Shape;474;p19"/>
          <p:cNvGrpSpPr/>
          <p:nvPr/>
        </p:nvGrpSpPr>
        <p:grpSpPr>
          <a:xfrm rot="10800000">
            <a:off x="6421266" y="5651165"/>
            <a:ext cx="4161751" cy="1246529"/>
            <a:chOff x="0" y="-38100"/>
            <a:chExt cx="2565722" cy="768486"/>
          </a:xfrm>
        </p:grpSpPr>
        <p:sp>
          <p:nvSpPr>
            <p:cNvPr id="475" name="Google Shape;475;p19"/>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4BD1FB"/>
            </a:solidFill>
            <a:ln>
              <a:noFill/>
            </a:ln>
          </p:spPr>
        </p:sp>
        <p:sp>
          <p:nvSpPr>
            <p:cNvPr id="476" name="Google Shape;476;p19"/>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77" name="Google Shape;477;p19"/>
          <p:cNvSpPr txBox="1"/>
          <p:nvPr/>
        </p:nvSpPr>
        <p:spPr>
          <a:xfrm>
            <a:off x="6694069" y="3239206"/>
            <a:ext cx="2745282" cy="1285699"/>
          </a:xfrm>
          <a:prstGeom prst="rect">
            <a:avLst/>
          </a:prstGeom>
          <a:noFill/>
          <a:ln>
            <a:noFill/>
          </a:ln>
        </p:spPr>
        <p:txBody>
          <a:bodyPr anchorCtr="0" anchor="t" bIns="0" lIns="0" spcFirstLastPara="1" rIns="0" wrap="square" tIns="0">
            <a:spAutoFit/>
          </a:bodyPr>
          <a:lstStyle/>
          <a:p>
            <a:pPr indent="0" lvl="0" marL="0" marR="0" rtl="0" algn="ctr">
              <a:lnSpc>
                <a:spcPct val="138009"/>
              </a:lnSpc>
              <a:spcBef>
                <a:spcPts val="0"/>
              </a:spcBef>
              <a:spcAft>
                <a:spcPts val="0"/>
              </a:spcAft>
              <a:buClr>
                <a:srgbClr val="000000"/>
              </a:buClr>
              <a:buSzPts val="3757"/>
              <a:buFont typeface="Arial"/>
              <a:buNone/>
            </a:pPr>
            <a:r>
              <a:rPr b="1" i="0" lang="en-US" sz="3757" u="none" cap="none" strike="noStrike">
                <a:solidFill>
                  <a:srgbClr val="051D40"/>
                </a:solidFill>
                <a:latin typeface="DM Sans"/>
                <a:ea typeface="DM Sans"/>
                <a:cs typeface="DM Sans"/>
                <a:sym typeface="DM Sans"/>
              </a:rPr>
              <a:t>Crear el escenario</a:t>
            </a:r>
            <a:endParaRPr b="0" i="0" sz="1400" u="none" cap="none" strike="noStrike">
              <a:solidFill>
                <a:srgbClr val="000000"/>
              </a:solidFill>
              <a:latin typeface="Arial"/>
              <a:ea typeface="Arial"/>
              <a:cs typeface="Arial"/>
              <a:sym typeface="Arial"/>
            </a:endParaRPr>
          </a:p>
        </p:txBody>
      </p:sp>
      <p:sp>
        <p:nvSpPr>
          <p:cNvPr id="478" name="Google Shape;478;p19"/>
          <p:cNvSpPr/>
          <p:nvPr/>
        </p:nvSpPr>
        <p:spPr>
          <a:xfrm>
            <a:off x="6694069" y="3428600"/>
            <a:ext cx="821455" cy="821455"/>
          </a:xfrm>
          <a:custGeom>
            <a:rect b="b" l="l" r="r" t="t"/>
            <a:pathLst>
              <a:path extrusionOk="0" h="821455" w="821455">
                <a:moveTo>
                  <a:pt x="0" y="0"/>
                </a:moveTo>
                <a:lnTo>
                  <a:pt x="821455" y="0"/>
                </a:lnTo>
                <a:lnTo>
                  <a:pt x="821455" y="821455"/>
                </a:lnTo>
                <a:lnTo>
                  <a:pt x="0" y="821455"/>
                </a:lnTo>
                <a:lnTo>
                  <a:pt x="0" y="0"/>
                </a:lnTo>
                <a:close/>
              </a:path>
            </a:pathLst>
          </a:custGeom>
          <a:blipFill rotWithShape="1">
            <a:blip r:embed="rId3">
              <a:alphaModFix/>
            </a:blip>
            <a:stretch>
              <a:fillRect b="0" l="0" r="0" t="0"/>
            </a:stretch>
          </a:blipFill>
          <a:ln>
            <a:noFill/>
          </a:ln>
        </p:spPr>
      </p:sp>
      <p:sp>
        <p:nvSpPr>
          <p:cNvPr id="479" name="Google Shape;479;p19"/>
          <p:cNvSpPr txBox="1"/>
          <p:nvPr/>
        </p:nvSpPr>
        <p:spPr>
          <a:xfrm>
            <a:off x="6916181" y="2426733"/>
            <a:ext cx="3775934" cy="477597"/>
          </a:xfrm>
          <a:prstGeom prst="rect">
            <a:avLst/>
          </a:prstGeom>
          <a:noFill/>
          <a:ln>
            <a:noFill/>
          </a:ln>
        </p:spPr>
        <p:txBody>
          <a:bodyPr anchorCtr="0" anchor="t" bIns="0" lIns="0" spcFirstLastPara="1" rIns="0" wrap="square" tIns="0">
            <a:spAutoFit/>
          </a:bodyPr>
          <a:lstStyle/>
          <a:p>
            <a:pPr indent="0" lvl="0" marL="0" marR="0" rtl="0" algn="ctr">
              <a:lnSpc>
                <a:spcPct val="138011"/>
              </a:lnSpc>
              <a:spcBef>
                <a:spcPts val="0"/>
              </a:spcBef>
              <a:spcAft>
                <a:spcPts val="0"/>
              </a:spcAft>
              <a:buClr>
                <a:srgbClr val="000000"/>
              </a:buClr>
              <a:buSzPts val="2857"/>
              <a:buFont typeface="Arial"/>
              <a:buNone/>
            </a:pPr>
            <a:r>
              <a:rPr b="1" i="0" lang="en-US" sz="2857" u="none" cap="none" strike="noStrike">
                <a:solidFill>
                  <a:srgbClr val="051D40"/>
                </a:solidFill>
                <a:latin typeface="DM Sans"/>
                <a:ea typeface="DM Sans"/>
                <a:cs typeface="DM Sans"/>
                <a:sym typeface="DM Sans"/>
              </a:rPr>
              <a:t>Definir el límite</a:t>
            </a:r>
            <a:endParaRPr b="0" i="0" sz="1400" u="none" cap="none" strike="noStrike">
              <a:solidFill>
                <a:srgbClr val="000000"/>
              </a:solidFill>
              <a:latin typeface="Arial"/>
              <a:ea typeface="Arial"/>
              <a:cs typeface="Arial"/>
              <a:sym typeface="Arial"/>
            </a:endParaRPr>
          </a:p>
        </p:txBody>
      </p:sp>
      <p:sp>
        <p:nvSpPr>
          <p:cNvPr id="480" name="Google Shape;480;p19"/>
          <p:cNvSpPr txBox="1"/>
          <p:nvPr/>
        </p:nvSpPr>
        <p:spPr>
          <a:xfrm>
            <a:off x="1313374" y="309508"/>
            <a:ext cx="13726645" cy="730377"/>
          </a:xfrm>
          <a:prstGeom prst="rect">
            <a:avLst/>
          </a:prstGeom>
          <a:noFill/>
          <a:ln>
            <a:noFill/>
          </a:ln>
        </p:spPr>
        <p:txBody>
          <a:bodyPr anchorCtr="0" anchor="t" bIns="0" lIns="0" spcFirstLastPara="1" rIns="0" wrap="square" tIns="0">
            <a:spAutoFit/>
          </a:bodyPr>
          <a:lstStyle/>
          <a:p>
            <a:pPr indent="0" lvl="0" marL="0" marR="0" rtl="0" algn="l">
              <a:lnSpc>
                <a:spcPct val="138000"/>
              </a:lnSpc>
              <a:spcBef>
                <a:spcPts val="0"/>
              </a:spcBef>
              <a:spcAft>
                <a:spcPts val="0"/>
              </a:spcAft>
              <a:buClr>
                <a:srgbClr val="000000"/>
              </a:buClr>
              <a:buSzPts val="4300"/>
              <a:buFont typeface="Arial"/>
              <a:buNone/>
            </a:pPr>
            <a:r>
              <a:rPr b="1" i="0" lang="en-US" sz="4300" u="none" cap="none" strike="noStrike">
                <a:solidFill>
                  <a:srgbClr val="FFFFFF"/>
                </a:solidFill>
                <a:latin typeface="DM Sans"/>
                <a:ea typeface="DM Sans"/>
                <a:cs typeface="DM Sans"/>
                <a:sym typeface="DM Sans"/>
              </a:rPr>
              <a:t>¿Cómo se realizan?</a:t>
            </a:r>
            <a:endParaRPr b="0" i="0" sz="1400" u="none" cap="none" strike="noStrike">
              <a:solidFill>
                <a:srgbClr val="000000"/>
              </a:solidFill>
              <a:latin typeface="Arial"/>
              <a:ea typeface="Arial"/>
              <a:cs typeface="Arial"/>
              <a:sym typeface="Arial"/>
            </a:endParaRPr>
          </a:p>
        </p:txBody>
      </p:sp>
      <p:sp>
        <p:nvSpPr>
          <p:cNvPr id="481" name="Google Shape;481;p19"/>
          <p:cNvSpPr txBox="1"/>
          <p:nvPr/>
        </p:nvSpPr>
        <p:spPr>
          <a:xfrm>
            <a:off x="7837736" y="4418811"/>
            <a:ext cx="3538773" cy="972897"/>
          </a:xfrm>
          <a:prstGeom prst="rect">
            <a:avLst/>
          </a:prstGeom>
          <a:noFill/>
          <a:ln>
            <a:noFill/>
          </a:ln>
        </p:spPr>
        <p:txBody>
          <a:bodyPr anchorCtr="0" anchor="t" bIns="0" lIns="0" spcFirstLastPara="1" rIns="0" wrap="square" tIns="0">
            <a:spAutoFit/>
          </a:bodyPr>
          <a:lstStyle/>
          <a:p>
            <a:pPr indent="0" lvl="0" marL="0" marR="0" rtl="0" algn="ctr">
              <a:lnSpc>
                <a:spcPct val="138011"/>
              </a:lnSpc>
              <a:spcBef>
                <a:spcPts val="0"/>
              </a:spcBef>
              <a:spcAft>
                <a:spcPts val="0"/>
              </a:spcAft>
              <a:buClr>
                <a:srgbClr val="000000"/>
              </a:buClr>
              <a:buSzPts val="2857"/>
              <a:buFont typeface="Arial"/>
              <a:buNone/>
            </a:pPr>
            <a:r>
              <a:rPr b="1" i="0" lang="en-US" sz="2857" u="none" cap="none" strike="noStrike">
                <a:solidFill>
                  <a:srgbClr val="051D40"/>
                </a:solidFill>
                <a:latin typeface="DM Sans"/>
                <a:ea typeface="DM Sans"/>
                <a:cs typeface="DM Sans"/>
                <a:sym typeface="DM Sans"/>
              </a:rPr>
              <a:t>Aumentar la carga de forma gradual</a:t>
            </a:r>
            <a:endParaRPr b="0" i="0" sz="1400" u="none" cap="none" strike="noStrike">
              <a:solidFill>
                <a:srgbClr val="000000"/>
              </a:solidFill>
              <a:latin typeface="Arial"/>
              <a:ea typeface="Arial"/>
              <a:cs typeface="Arial"/>
              <a:sym typeface="Arial"/>
            </a:endParaRPr>
          </a:p>
        </p:txBody>
      </p:sp>
      <p:sp>
        <p:nvSpPr>
          <p:cNvPr id="482" name="Google Shape;482;p19"/>
          <p:cNvSpPr txBox="1"/>
          <p:nvPr/>
        </p:nvSpPr>
        <p:spPr>
          <a:xfrm>
            <a:off x="7104796" y="5744439"/>
            <a:ext cx="2745282" cy="1054050"/>
          </a:xfrm>
          <a:prstGeom prst="rect">
            <a:avLst/>
          </a:prstGeom>
          <a:noFill/>
          <a:ln>
            <a:noFill/>
          </a:ln>
        </p:spPr>
        <p:txBody>
          <a:bodyPr anchorCtr="0" anchor="t" bIns="0" lIns="0" spcFirstLastPara="1" rIns="0" wrap="square" tIns="0">
            <a:spAutoFit/>
          </a:bodyPr>
          <a:lstStyle/>
          <a:p>
            <a:pPr indent="0" lvl="0" marL="0" marR="0" rtl="0" algn="ctr">
              <a:lnSpc>
                <a:spcPct val="138011"/>
              </a:lnSpc>
              <a:spcBef>
                <a:spcPts val="0"/>
              </a:spcBef>
              <a:spcAft>
                <a:spcPts val="0"/>
              </a:spcAft>
              <a:buClr>
                <a:srgbClr val="000000"/>
              </a:buClr>
              <a:buSzPts val="3057"/>
              <a:buFont typeface="Arial"/>
              <a:buNone/>
            </a:pPr>
            <a:r>
              <a:rPr b="1" i="0" lang="en-US" sz="3057" u="none" cap="none" strike="noStrike">
                <a:solidFill>
                  <a:srgbClr val="051D40"/>
                </a:solidFill>
                <a:latin typeface="DM Sans"/>
                <a:ea typeface="DM Sans"/>
                <a:cs typeface="DM Sans"/>
                <a:sym typeface="DM Sans"/>
              </a:rPr>
              <a:t>Monitorear y analizar</a:t>
            </a:r>
            <a:endParaRPr b="0" i="0" sz="1400" u="none" cap="none" strike="noStrike">
              <a:solidFill>
                <a:srgbClr val="000000"/>
              </a:solidFill>
              <a:latin typeface="Arial"/>
              <a:ea typeface="Arial"/>
              <a:cs typeface="Arial"/>
              <a:sym typeface="Arial"/>
            </a:endParaRPr>
          </a:p>
        </p:txBody>
      </p:sp>
      <p:sp>
        <p:nvSpPr>
          <p:cNvPr id="483" name="Google Shape;483;p19"/>
          <p:cNvSpPr txBox="1"/>
          <p:nvPr/>
        </p:nvSpPr>
        <p:spPr>
          <a:xfrm>
            <a:off x="1028700" y="2652555"/>
            <a:ext cx="4490889" cy="1800544"/>
          </a:xfrm>
          <a:prstGeom prst="rect">
            <a:avLst/>
          </a:prstGeom>
          <a:noFill/>
          <a:ln>
            <a:noFill/>
          </a:ln>
        </p:spPr>
        <p:txBody>
          <a:bodyPr anchorCtr="0" anchor="t" bIns="0" lIns="0" spcFirstLastPara="1" rIns="0" wrap="square" tIns="0">
            <a:spAutoFit/>
          </a:bodyPr>
          <a:lstStyle/>
          <a:p>
            <a:pPr indent="0" lvl="0" marL="0" marR="0" rtl="0" algn="r">
              <a:lnSpc>
                <a:spcPct val="137989"/>
              </a:lnSpc>
              <a:spcBef>
                <a:spcPts val="0"/>
              </a:spcBef>
              <a:spcAft>
                <a:spcPts val="0"/>
              </a:spcAft>
              <a:buClr>
                <a:srgbClr val="000000"/>
              </a:buClr>
              <a:buSzPts val="2069"/>
              <a:buFont typeface="Arial"/>
              <a:buNone/>
            </a:pPr>
            <a:r>
              <a:rPr b="0" i="0" lang="en-US" sz="2069" u="none" cap="none" strike="noStrike">
                <a:solidFill>
                  <a:srgbClr val="FFFFFF"/>
                </a:solidFill>
                <a:latin typeface="DM Sans"/>
                <a:ea typeface="DM Sans"/>
                <a:cs typeface="DM Sans"/>
                <a:sym typeface="DM Sans"/>
              </a:rPr>
              <a:t>Similar a las pruebas de carga, se usan herramientas de automatización como k6, JMeter o LoadRunner para generar un tráfico artificial.</a:t>
            </a:r>
            <a:endParaRPr b="0" i="0" sz="1400" u="none" cap="none" strike="noStrike">
              <a:solidFill>
                <a:srgbClr val="000000"/>
              </a:solidFill>
              <a:latin typeface="Arial"/>
              <a:ea typeface="Arial"/>
              <a:cs typeface="Arial"/>
              <a:sym typeface="Arial"/>
            </a:endParaRPr>
          </a:p>
        </p:txBody>
      </p:sp>
      <p:sp>
        <p:nvSpPr>
          <p:cNvPr id="484" name="Google Shape;484;p19"/>
          <p:cNvSpPr txBox="1"/>
          <p:nvPr/>
        </p:nvSpPr>
        <p:spPr>
          <a:xfrm>
            <a:off x="1617350" y="5613065"/>
            <a:ext cx="4372865" cy="1800544"/>
          </a:xfrm>
          <a:prstGeom prst="rect">
            <a:avLst/>
          </a:prstGeom>
          <a:noFill/>
          <a:ln>
            <a:noFill/>
          </a:ln>
        </p:spPr>
        <p:txBody>
          <a:bodyPr anchorCtr="0" anchor="t" bIns="0" lIns="0" spcFirstLastPara="1" rIns="0" wrap="square" tIns="0">
            <a:spAutoFit/>
          </a:bodyPr>
          <a:lstStyle/>
          <a:p>
            <a:pPr indent="0" lvl="0" marL="0" marR="0" rtl="0" algn="r">
              <a:lnSpc>
                <a:spcPct val="137989"/>
              </a:lnSpc>
              <a:spcBef>
                <a:spcPts val="0"/>
              </a:spcBef>
              <a:spcAft>
                <a:spcPts val="0"/>
              </a:spcAft>
              <a:buClr>
                <a:srgbClr val="000000"/>
              </a:buClr>
              <a:buSzPts val="2069"/>
              <a:buFont typeface="Arial"/>
              <a:buNone/>
            </a:pPr>
            <a:r>
              <a:rPr b="0" i="0" lang="en-US" sz="2069" u="none" cap="none" strike="noStrike">
                <a:solidFill>
                  <a:srgbClr val="FFFFFF"/>
                </a:solidFill>
                <a:latin typeface="DM Sans"/>
                <a:ea typeface="DM Sans"/>
                <a:cs typeface="DM Sans"/>
                <a:sym typeface="DM Sans"/>
              </a:rPr>
              <a:t>Durante la prueba, se monitorean de cerca los recursos del servidor (CPU, memoria, base de datos) para entender qué componente está causando el cuello de botella.</a:t>
            </a:r>
            <a:endParaRPr b="0" i="0" sz="1400" u="none" cap="none" strike="noStrike">
              <a:solidFill>
                <a:srgbClr val="000000"/>
              </a:solidFill>
              <a:latin typeface="Arial"/>
              <a:ea typeface="Arial"/>
              <a:cs typeface="Arial"/>
              <a:sym typeface="Arial"/>
            </a:endParaRPr>
          </a:p>
        </p:txBody>
      </p:sp>
      <p:sp>
        <p:nvSpPr>
          <p:cNvPr id="485" name="Google Shape;485;p19"/>
          <p:cNvSpPr/>
          <p:nvPr/>
        </p:nvSpPr>
        <p:spPr>
          <a:xfrm>
            <a:off x="-2519628" y="7712017"/>
            <a:ext cx="6602062" cy="6602062"/>
          </a:xfrm>
          <a:custGeom>
            <a:rect b="b" l="l" r="r" t="t"/>
            <a:pathLst>
              <a:path extrusionOk="0" h="6602062" w="6602062">
                <a:moveTo>
                  <a:pt x="0" y="0"/>
                </a:moveTo>
                <a:lnTo>
                  <a:pt x="6602062" y="0"/>
                </a:lnTo>
                <a:lnTo>
                  <a:pt x="6602062" y="6602062"/>
                </a:lnTo>
                <a:lnTo>
                  <a:pt x="0" y="6602062"/>
                </a:lnTo>
                <a:lnTo>
                  <a:pt x="0" y="0"/>
                </a:lnTo>
                <a:close/>
              </a:path>
            </a:pathLst>
          </a:custGeom>
          <a:blipFill rotWithShape="1">
            <a:blip r:embed="rId4">
              <a:alphaModFix/>
            </a:blip>
            <a:stretch>
              <a:fillRect b="0" l="0" r="0" t="0"/>
            </a:stretch>
          </a:blipFill>
          <a:ln>
            <a:noFill/>
          </a:ln>
        </p:spPr>
      </p:sp>
      <p:sp>
        <p:nvSpPr>
          <p:cNvPr id="486" name="Google Shape;486;p19"/>
          <p:cNvSpPr/>
          <p:nvPr/>
        </p:nvSpPr>
        <p:spPr>
          <a:xfrm rot="10436461">
            <a:off x="14111851" y="-3920191"/>
            <a:ext cx="6294897" cy="6294897"/>
          </a:xfrm>
          <a:custGeom>
            <a:rect b="b" l="l" r="r" t="t"/>
            <a:pathLst>
              <a:path extrusionOk="0" h="6294897" w="6294897">
                <a:moveTo>
                  <a:pt x="0" y="0"/>
                </a:moveTo>
                <a:lnTo>
                  <a:pt x="6294898" y="0"/>
                </a:lnTo>
                <a:lnTo>
                  <a:pt x="6294898" y="6294898"/>
                </a:lnTo>
                <a:lnTo>
                  <a:pt x="0" y="6294898"/>
                </a:lnTo>
                <a:lnTo>
                  <a:pt x="0" y="0"/>
                </a:lnTo>
                <a:close/>
              </a:path>
            </a:pathLst>
          </a:custGeom>
          <a:blipFill rotWithShape="1">
            <a:blip r:embed="rId4">
              <a:alphaModFix/>
            </a:blip>
            <a:stretch>
              <a:fillRect b="0" l="0" r="0" t="0"/>
            </a:stretch>
          </a:blipFill>
          <a:ln>
            <a:noFill/>
          </a:ln>
        </p:spPr>
      </p:sp>
      <p:sp>
        <p:nvSpPr>
          <p:cNvPr id="487" name="Google Shape;487;p19"/>
          <p:cNvSpPr txBox="1"/>
          <p:nvPr/>
        </p:nvSpPr>
        <p:spPr>
          <a:xfrm>
            <a:off x="11549429" y="2014483"/>
            <a:ext cx="4998190" cy="1058286"/>
          </a:xfrm>
          <a:prstGeom prst="rect">
            <a:avLst/>
          </a:prstGeom>
          <a:noFill/>
          <a:ln>
            <a:noFill/>
          </a:ln>
        </p:spPr>
        <p:txBody>
          <a:bodyPr anchorCtr="0" anchor="t" bIns="0" lIns="0" spcFirstLastPara="1" rIns="0" wrap="square" tIns="0">
            <a:spAutoFit/>
          </a:bodyPr>
          <a:lstStyle/>
          <a:p>
            <a:pPr indent="0" lvl="0" marL="0" marR="0" rtl="0" algn="l">
              <a:lnSpc>
                <a:spcPct val="137989"/>
              </a:lnSpc>
              <a:spcBef>
                <a:spcPts val="0"/>
              </a:spcBef>
              <a:spcAft>
                <a:spcPts val="0"/>
              </a:spcAft>
              <a:buClr>
                <a:srgbClr val="000000"/>
              </a:buClr>
              <a:buSzPts val="2069"/>
              <a:buFont typeface="Arial"/>
              <a:buNone/>
            </a:pPr>
            <a:r>
              <a:rPr b="0" i="0" lang="en-US" sz="2069" u="none" cap="none" strike="noStrike">
                <a:solidFill>
                  <a:srgbClr val="FFFFFF"/>
                </a:solidFill>
                <a:latin typeface="DM Sans"/>
                <a:ea typeface="DM Sans"/>
                <a:cs typeface="DM Sans"/>
                <a:sym typeface="DM Sans"/>
              </a:rPr>
              <a:t> Se establece un número de usuarios o un volumen de transacciones que es significativamente mayor al esperado.</a:t>
            </a:r>
            <a:endParaRPr b="0" i="0" sz="1400" u="none" cap="none" strike="noStrike">
              <a:solidFill>
                <a:srgbClr val="000000"/>
              </a:solidFill>
              <a:latin typeface="Arial"/>
              <a:ea typeface="Arial"/>
              <a:cs typeface="Arial"/>
              <a:sym typeface="Arial"/>
            </a:endParaRPr>
          </a:p>
        </p:txBody>
      </p:sp>
      <p:sp>
        <p:nvSpPr>
          <p:cNvPr id="488" name="Google Shape;488;p19"/>
          <p:cNvSpPr txBox="1"/>
          <p:nvPr/>
        </p:nvSpPr>
        <p:spPr>
          <a:xfrm>
            <a:off x="11701829" y="4211955"/>
            <a:ext cx="5094207" cy="1290346"/>
          </a:xfrm>
          <a:prstGeom prst="rect">
            <a:avLst/>
          </a:prstGeom>
          <a:noFill/>
          <a:ln>
            <a:noFill/>
          </a:ln>
        </p:spPr>
        <p:txBody>
          <a:bodyPr anchorCtr="0" anchor="t" bIns="0" lIns="0" spcFirstLastPara="1" rIns="0" wrap="square" tIns="0">
            <a:spAutoFit/>
          </a:bodyPr>
          <a:lstStyle/>
          <a:p>
            <a:pPr indent="0" lvl="0" marL="0" marR="0" rtl="0" algn="ctr">
              <a:lnSpc>
                <a:spcPct val="138049"/>
              </a:lnSpc>
              <a:spcBef>
                <a:spcPts val="0"/>
              </a:spcBef>
              <a:spcAft>
                <a:spcPts val="0"/>
              </a:spcAft>
              <a:buClr>
                <a:srgbClr val="000000"/>
              </a:buClr>
              <a:buSzPts val="1887"/>
              <a:buFont typeface="Arial"/>
              <a:buNone/>
            </a:pPr>
            <a:r>
              <a:rPr b="0" i="0" lang="en-US" sz="1887" u="none" cap="none" strike="noStrike">
                <a:solidFill>
                  <a:srgbClr val="F5FFF5"/>
                </a:solidFill>
                <a:latin typeface="DM Sans"/>
                <a:ea typeface="DM Sans"/>
                <a:cs typeface="DM Sans"/>
                <a:sym typeface="DM Sans"/>
              </a:rPr>
              <a:t>A menudo, la carga se incrementa de forma progresiva hasta que el sistema alcanza su punto de saturación y empieza a mostrar errores o tiempos de respuesta inaceptables.</a:t>
            </a:r>
            <a:endParaRPr b="0" i="0" sz="1400" u="none" cap="none" strike="noStrike">
              <a:solidFill>
                <a:srgbClr val="000000"/>
              </a:solidFill>
              <a:latin typeface="Arial"/>
              <a:ea typeface="Arial"/>
              <a:cs typeface="Arial"/>
              <a:sym typeface="Arial"/>
            </a:endParaRPr>
          </a:p>
        </p:txBody>
      </p:sp>
      <p:grpSp>
        <p:nvGrpSpPr>
          <p:cNvPr id="489" name="Google Shape;489;p19"/>
          <p:cNvGrpSpPr/>
          <p:nvPr/>
        </p:nvGrpSpPr>
        <p:grpSpPr>
          <a:xfrm>
            <a:off x="7515524" y="6793144"/>
            <a:ext cx="4161751" cy="1246529"/>
            <a:chOff x="0" y="-38100"/>
            <a:chExt cx="2565722" cy="768486"/>
          </a:xfrm>
        </p:grpSpPr>
        <p:sp>
          <p:nvSpPr>
            <p:cNvPr id="490" name="Google Shape;490;p19"/>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56AEFF"/>
            </a:solidFill>
            <a:ln>
              <a:noFill/>
            </a:ln>
          </p:spPr>
        </p:sp>
        <p:sp>
          <p:nvSpPr>
            <p:cNvPr id="491" name="Google Shape;491;p19"/>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92" name="Google Shape;492;p19"/>
          <p:cNvSpPr txBox="1"/>
          <p:nvPr/>
        </p:nvSpPr>
        <p:spPr>
          <a:xfrm>
            <a:off x="8010656" y="6903348"/>
            <a:ext cx="3538773" cy="972897"/>
          </a:xfrm>
          <a:prstGeom prst="rect">
            <a:avLst/>
          </a:prstGeom>
          <a:noFill/>
          <a:ln>
            <a:noFill/>
          </a:ln>
        </p:spPr>
        <p:txBody>
          <a:bodyPr anchorCtr="0" anchor="t" bIns="0" lIns="0" spcFirstLastPara="1" rIns="0" wrap="square" tIns="0">
            <a:spAutoFit/>
          </a:bodyPr>
          <a:lstStyle/>
          <a:p>
            <a:pPr indent="0" lvl="0" marL="0" marR="0" rtl="0" algn="ctr">
              <a:lnSpc>
                <a:spcPct val="138011"/>
              </a:lnSpc>
              <a:spcBef>
                <a:spcPts val="0"/>
              </a:spcBef>
              <a:spcAft>
                <a:spcPts val="0"/>
              </a:spcAft>
              <a:buClr>
                <a:srgbClr val="000000"/>
              </a:buClr>
              <a:buSzPts val="2857"/>
              <a:buFont typeface="Arial"/>
              <a:buNone/>
            </a:pPr>
            <a:r>
              <a:rPr b="1" i="0" lang="en-US" sz="2857" u="none" cap="none" strike="noStrike">
                <a:solidFill>
                  <a:srgbClr val="051D40"/>
                </a:solidFill>
                <a:latin typeface="DM Sans"/>
                <a:ea typeface="DM Sans"/>
                <a:cs typeface="DM Sans"/>
                <a:sym typeface="DM Sans"/>
              </a:rPr>
              <a:t>Evaluar la recuperación</a:t>
            </a:r>
            <a:endParaRPr b="0" i="0" sz="1400" u="none" cap="none" strike="noStrike">
              <a:solidFill>
                <a:srgbClr val="000000"/>
              </a:solidFill>
              <a:latin typeface="Arial"/>
              <a:ea typeface="Arial"/>
              <a:cs typeface="Arial"/>
              <a:sym typeface="Arial"/>
            </a:endParaRPr>
          </a:p>
        </p:txBody>
      </p:sp>
      <p:sp>
        <p:nvSpPr>
          <p:cNvPr id="493" name="Google Shape;493;p19"/>
          <p:cNvSpPr txBox="1"/>
          <p:nvPr/>
        </p:nvSpPr>
        <p:spPr>
          <a:xfrm>
            <a:off x="11905875" y="7026301"/>
            <a:ext cx="5094207" cy="966496"/>
          </a:xfrm>
          <a:prstGeom prst="rect">
            <a:avLst/>
          </a:prstGeom>
          <a:noFill/>
          <a:ln>
            <a:noFill/>
          </a:ln>
        </p:spPr>
        <p:txBody>
          <a:bodyPr anchorCtr="0" anchor="t" bIns="0" lIns="0" spcFirstLastPara="1" rIns="0" wrap="square" tIns="0">
            <a:spAutoFit/>
          </a:bodyPr>
          <a:lstStyle/>
          <a:p>
            <a:pPr indent="0" lvl="0" marL="0" marR="0" rtl="0" algn="ctr">
              <a:lnSpc>
                <a:spcPct val="138049"/>
              </a:lnSpc>
              <a:spcBef>
                <a:spcPts val="0"/>
              </a:spcBef>
              <a:spcAft>
                <a:spcPts val="0"/>
              </a:spcAft>
              <a:buClr>
                <a:srgbClr val="000000"/>
              </a:buClr>
              <a:buSzPts val="1887"/>
              <a:buFont typeface="Arial"/>
              <a:buNone/>
            </a:pPr>
            <a:r>
              <a:rPr b="0" i="0" lang="en-US" sz="1887" u="none" cap="none" strike="noStrike">
                <a:solidFill>
                  <a:srgbClr val="F5FFF5"/>
                </a:solidFill>
                <a:latin typeface="DM Sans"/>
                <a:ea typeface="DM Sans"/>
                <a:cs typeface="DM Sans"/>
                <a:sym typeface="DM Sans"/>
              </a:rPr>
              <a:t>Después de la prueba de estrés, se reduce la carga a niveles normales para ver si el sistema se recupera por sí solo.</a:t>
            </a:r>
            <a:endParaRPr b="0" i="0" sz="1400" u="none" cap="none" strike="noStrike">
              <a:solidFill>
                <a:srgbClr val="000000"/>
              </a:solidFill>
              <a:latin typeface="Arial"/>
              <a:ea typeface="Arial"/>
              <a:cs typeface="Arial"/>
              <a:sym typeface="Arial"/>
            </a:endParaRPr>
          </a:p>
        </p:txBody>
      </p:sp>
      <p:sp>
        <p:nvSpPr>
          <p:cNvPr id="494" name="Google Shape;494;p19"/>
          <p:cNvSpPr txBox="1"/>
          <p:nvPr/>
        </p:nvSpPr>
        <p:spPr>
          <a:xfrm>
            <a:off x="3835555" y="8917927"/>
            <a:ext cx="10212969" cy="642646"/>
          </a:xfrm>
          <a:prstGeom prst="rect">
            <a:avLst/>
          </a:prstGeom>
          <a:noFill/>
          <a:ln>
            <a:noFill/>
          </a:ln>
        </p:spPr>
        <p:txBody>
          <a:bodyPr anchorCtr="0" anchor="t" bIns="0" lIns="0" spcFirstLastPara="1" rIns="0" wrap="square" tIns="0">
            <a:spAutoFit/>
          </a:bodyPr>
          <a:lstStyle/>
          <a:p>
            <a:pPr indent="0" lvl="0" marL="0" marR="0" rtl="0" algn="ctr">
              <a:lnSpc>
                <a:spcPct val="138049"/>
              </a:lnSpc>
              <a:spcBef>
                <a:spcPts val="0"/>
              </a:spcBef>
              <a:spcAft>
                <a:spcPts val="0"/>
              </a:spcAft>
              <a:buClr>
                <a:srgbClr val="000000"/>
              </a:buClr>
              <a:buSzPts val="1887"/>
              <a:buFont typeface="Arial"/>
              <a:buNone/>
            </a:pPr>
            <a:r>
              <a:rPr b="1" i="0" lang="en-US" sz="1887" u="none" cap="none" strike="noStrike">
                <a:solidFill>
                  <a:srgbClr val="F5FFF5"/>
                </a:solidFill>
                <a:latin typeface="DM Sans"/>
                <a:ea typeface="DM Sans"/>
                <a:cs typeface="DM Sans"/>
                <a:sym typeface="DM Sans"/>
              </a:rPr>
              <a:t>En resumen, mientras las pruebas de carga confirman que un sistema puede manejar lo que se espera, las pruebas de estrés lo preparan para lo inesperado.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498" name="Shape 498"/>
        <p:cNvGrpSpPr/>
        <p:nvPr/>
      </p:nvGrpSpPr>
      <p:grpSpPr>
        <a:xfrm>
          <a:off x="0" y="0"/>
          <a:ext cx="0" cy="0"/>
          <a:chOff x="0" y="0"/>
          <a:chExt cx="0" cy="0"/>
        </a:xfrm>
      </p:grpSpPr>
      <p:sp>
        <p:nvSpPr>
          <p:cNvPr id="499" name="Google Shape;499;p20"/>
          <p:cNvSpPr txBox="1"/>
          <p:nvPr/>
        </p:nvSpPr>
        <p:spPr>
          <a:xfrm>
            <a:off x="4986640" y="4146526"/>
            <a:ext cx="8457192" cy="1057036"/>
          </a:xfrm>
          <a:prstGeom prst="rect">
            <a:avLst/>
          </a:prstGeom>
          <a:noFill/>
          <a:ln>
            <a:noFill/>
          </a:ln>
        </p:spPr>
        <p:txBody>
          <a:bodyPr anchorCtr="0" anchor="t" bIns="0" lIns="0" spcFirstLastPara="1" rIns="0" wrap="square" tIns="0">
            <a:spAutoFit/>
          </a:bodyPr>
          <a:lstStyle/>
          <a:p>
            <a:pPr indent="0" lvl="0" marL="0" marR="0" rtl="0" algn="ctr">
              <a:lnSpc>
                <a:spcPct val="120018"/>
              </a:lnSpc>
              <a:spcBef>
                <a:spcPts val="0"/>
              </a:spcBef>
              <a:spcAft>
                <a:spcPts val="0"/>
              </a:spcAft>
              <a:buClr>
                <a:srgbClr val="000000"/>
              </a:buClr>
              <a:buSzPts val="6569"/>
              <a:buFont typeface="Arial"/>
              <a:buNone/>
            </a:pPr>
            <a:r>
              <a:rPr b="0" i="0" lang="en-US" sz="6569" u="none" cap="none" strike="noStrike">
                <a:solidFill>
                  <a:srgbClr val="FFFFFF"/>
                </a:solidFill>
                <a:latin typeface="Poppins"/>
                <a:ea typeface="Poppins"/>
                <a:cs typeface="Poppins"/>
                <a:sym typeface="Poppins"/>
              </a:rPr>
              <a:t>EJEMPLO PRACTICO</a:t>
            </a:r>
            <a:endParaRPr b="0" i="0" sz="1400" u="none" cap="none" strike="noStrike">
              <a:solidFill>
                <a:srgbClr val="000000"/>
              </a:solidFill>
              <a:latin typeface="Arial"/>
              <a:ea typeface="Arial"/>
              <a:cs typeface="Arial"/>
              <a:sym typeface="Arial"/>
            </a:endParaRPr>
          </a:p>
        </p:txBody>
      </p:sp>
      <p:sp>
        <p:nvSpPr>
          <p:cNvPr id="500" name="Google Shape;500;p20"/>
          <p:cNvSpPr/>
          <p:nvPr/>
        </p:nvSpPr>
        <p:spPr>
          <a:xfrm>
            <a:off x="-2622339" y="7919689"/>
            <a:ext cx="6452848" cy="5596379"/>
          </a:xfrm>
          <a:custGeom>
            <a:rect b="b" l="l" r="r" t="t"/>
            <a:pathLst>
              <a:path extrusionOk="0" h="5596379" w="6452848">
                <a:moveTo>
                  <a:pt x="0" y="0"/>
                </a:moveTo>
                <a:lnTo>
                  <a:pt x="6452849" y="0"/>
                </a:lnTo>
                <a:lnTo>
                  <a:pt x="6452849" y="5596379"/>
                </a:lnTo>
                <a:lnTo>
                  <a:pt x="0" y="5596379"/>
                </a:lnTo>
                <a:lnTo>
                  <a:pt x="0" y="0"/>
                </a:lnTo>
                <a:close/>
              </a:path>
            </a:pathLst>
          </a:custGeom>
          <a:blipFill rotWithShape="1">
            <a:blip r:embed="rId3">
              <a:alphaModFix/>
            </a:blip>
            <a:stretch>
              <a:fillRect b="0" l="0" r="0" t="0"/>
            </a:stretch>
          </a:blipFill>
          <a:ln>
            <a:noFill/>
          </a:ln>
        </p:spPr>
      </p:sp>
      <p:sp>
        <p:nvSpPr>
          <p:cNvPr id="501" name="Google Shape;501;p20"/>
          <p:cNvSpPr/>
          <p:nvPr/>
        </p:nvSpPr>
        <p:spPr>
          <a:xfrm rot="10800000">
            <a:off x="13367400" y="-2798190"/>
            <a:ext cx="6452848" cy="5596379"/>
          </a:xfrm>
          <a:custGeom>
            <a:rect b="b" l="l" r="r" t="t"/>
            <a:pathLst>
              <a:path extrusionOk="0" h="5596379" w="6452848">
                <a:moveTo>
                  <a:pt x="0" y="0"/>
                </a:moveTo>
                <a:lnTo>
                  <a:pt x="6452849" y="0"/>
                </a:lnTo>
                <a:lnTo>
                  <a:pt x="6452849" y="5596380"/>
                </a:lnTo>
                <a:lnTo>
                  <a:pt x="0" y="5596380"/>
                </a:lnTo>
                <a:lnTo>
                  <a:pt x="0" y="0"/>
                </a:lnTo>
                <a:close/>
              </a:path>
            </a:pathLst>
          </a:custGeom>
          <a:blipFill rotWithShape="1">
            <a:blip r:embed="rId3">
              <a:alphaModFix/>
            </a:blip>
            <a:stretch>
              <a:fillRect b="0" l="0" r="0" t="0"/>
            </a:stretch>
          </a:blipFill>
          <a:ln>
            <a:noFill/>
          </a:ln>
        </p:spPr>
      </p:sp>
      <p:sp>
        <p:nvSpPr>
          <p:cNvPr id="502" name="Google Shape;502;p20"/>
          <p:cNvSpPr/>
          <p:nvPr/>
        </p:nvSpPr>
        <p:spPr>
          <a:xfrm>
            <a:off x="8527219" y="2541678"/>
            <a:ext cx="879643" cy="1273167"/>
          </a:xfrm>
          <a:custGeom>
            <a:rect b="b" l="l" r="r" t="t"/>
            <a:pathLst>
              <a:path extrusionOk="0" h="1273167" w="879643">
                <a:moveTo>
                  <a:pt x="0" y="0"/>
                </a:moveTo>
                <a:lnTo>
                  <a:pt x="879643" y="0"/>
                </a:lnTo>
                <a:lnTo>
                  <a:pt x="879643" y="1273167"/>
                </a:lnTo>
                <a:lnTo>
                  <a:pt x="0" y="1273167"/>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506" name="Shape 506"/>
        <p:cNvGrpSpPr/>
        <p:nvPr/>
      </p:nvGrpSpPr>
      <p:grpSpPr>
        <a:xfrm>
          <a:off x="0" y="0"/>
          <a:ext cx="0" cy="0"/>
          <a:chOff x="0" y="0"/>
          <a:chExt cx="0" cy="0"/>
        </a:xfrm>
      </p:grpSpPr>
      <p:grpSp>
        <p:nvGrpSpPr>
          <p:cNvPr id="507" name="Google Shape;507;p21"/>
          <p:cNvGrpSpPr/>
          <p:nvPr/>
        </p:nvGrpSpPr>
        <p:grpSpPr>
          <a:xfrm rot="-5400000">
            <a:off x="11338296" y="4100704"/>
            <a:ext cx="11958151" cy="2037819"/>
            <a:chOff x="0" y="-28575"/>
            <a:chExt cx="3149472" cy="536710"/>
          </a:xfrm>
        </p:grpSpPr>
        <p:sp>
          <p:nvSpPr>
            <p:cNvPr id="508" name="Google Shape;508;p21"/>
            <p:cNvSpPr/>
            <p:nvPr/>
          </p:nvSpPr>
          <p:spPr>
            <a:xfrm>
              <a:off x="0" y="0"/>
              <a:ext cx="3149472" cy="508135"/>
            </a:xfrm>
            <a:custGeom>
              <a:rect b="b" l="l" r="r" t="t"/>
              <a:pathLst>
                <a:path extrusionOk="0" h="508135" w="3149472">
                  <a:moveTo>
                    <a:pt x="0" y="0"/>
                  </a:moveTo>
                  <a:lnTo>
                    <a:pt x="3149472" y="0"/>
                  </a:lnTo>
                  <a:lnTo>
                    <a:pt x="3149472" y="508135"/>
                  </a:lnTo>
                  <a:lnTo>
                    <a:pt x="0" y="508135"/>
                  </a:lnTo>
                  <a:close/>
                </a:path>
              </a:pathLst>
            </a:custGeom>
            <a:solidFill>
              <a:srgbClr val="145DA0"/>
            </a:solidFill>
            <a:ln>
              <a:noFill/>
            </a:ln>
          </p:spPr>
        </p:sp>
        <p:sp>
          <p:nvSpPr>
            <p:cNvPr id="509" name="Google Shape;509;p21"/>
            <p:cNvSpPr txBox="1"/>
            <p:nvPr/>
          </p:nvSpPr>
          <p:spPr>
            <a:xfrm>
              <a:off x="0" y="-28575"/>
              <a:ext cx="3149472" cy="536710"/>
            </a:xfrm>
            <a:prstGeom prst="rect">
              <a:avLst/>
            </a:prstGeom>
            <a:noFill/>
            <a:ln>
              <a:noFill/>
            </a:ln>
          </p:spPr>
          <p:txBody>
            <a:bodyPr anchorCtr="0" anchor="ctr" bIns="50800" lIns="50800" spcFirstLastPara="1" rIns="50800" wrap="square" tIns="50800">
              <a:noAutofit/>
            </a:bodyPr>
            <a:lstStyle/>
            <a:p>
              <a:pPr indent="0" lvl="0" marL="0" marR="0" rtl="0" algn="ctr">
                <a:lnSpc>
                  <a:spcPct val="143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10" name="Google Shape;510;p21"/>
          <p:cNvSpPr/>
          <p:nvPr/>
        </p:nvSpPr>
        <p:spPr>
          <a:xfrm>
            <a:off x="11208957" y="-1011147"/>
            <a:ext cx="2647750" cy="2647750"/>
          </a:xfrm>
          <a:custGeom>
            <a:rect b="b" l="l" r="r" t="t"/>
            <a:pathLst>
              <a:path extrusionOk="0" h="2647750" w="2647750">
                <a:moveTo>
                  <a:pt x="0" y="0"/>
                </a:moveTo>
                <a:lnTo>
                  <a:pt x="2647750" y="0"/>
                </a:lnTo>
                <a:lnTo>
                  <a:pt x="2647750" y="2647750"/>
                </a:lnTo>
                <a:lnTo>
                  <a:pt x="0" y="2647750"/>
                </a:lnTo>
                <a:lnTo>
                  <a:pt x="0" y="0"/>
                </a:lnTo>
                <a:close/>
              </a:path>
            </a:pathLst>
          </a:custGeom>
          <a:blipFill rotWithShape="1">
            <a:blip r:embed="rId3">
              <a:alphaModFix/>
            </a:blip>
            <a:stretch>
              <a:fillRect b="0" l="0" r="0" t="0"/>
            </a:stretch>
          </a:blipFill>
          <a:ln>
            <a:noFill/>
          </a:ln>
        </p:spPr>
      </p:sp>
      <p:sp>
        <p:nvSpPr>
          <p:cNvPr id="511" name="Google Shape;511;p21"/>
          <p:cNvSpPr/>
          <p:nvPr/>
        </p:nvSpPr>
        <p:spPr>
          <a:xfrm>
            <a:off x="9852182" y="625594"/>
            <a:ext cx="7519437" cy="8987929"/>
          </a:xfrm>
          <a:custGeom>
            <a:rect b="b" l="l" r="r" t="t"/>
            <a:pathLst>
              <a:path extrusionOk="0" h="10286874" w="8606155">
                <a:moveTo>
                  <a:pt x="8606155" y="10251441"/>
                </a:moveTo>
                <a:cubicBezTo>
                  <a:pt x="8606155" y="10284588"/>
                  <a:pt x="8595487" y="10286874"/>
                  <a:pt x="8567674" y="10286874"/>
                </a:cubicBezTo>
                <a:cubicBezTo>
                  <a:pt x="5713094" y="10286239"/>
                  <a:pt x="2858643" y="10286239"/>
                  <a:pt x="4064" y="10286239"/>
                </a:cubicBezTo>
                <a:cubicBezTo>
                  <a:pt x="0" y="10272396"/>
                  <a:pt x="6350" y="10259823"/>
                  <a:pt x="9271" y="10246996"/>
                </a:cubicBezTo>
                <a:cubicBezTo>
                  <a:pt x="134747" y="9685402"/>
                  <a:pt x="260350" y="9123935"/>
                  <a:pt x="386207" y="8562467"/>
                </a:cubicBezTo>
                <a:cubicBezTo>
                  <a:pt x="565658" y="7761986"/>
                  <a:pt x="745490" y="6961633"/>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6"/>
                  <a:pt x="8605139" y="6846317"/>
                  <a:pt x="8606155" y="10251441"/>
                </a:cubicBezTo>
                <a:close/>
              </a:path>
            </a:pathLst>
          </a:custGeom>
          <a:blipFill rotWithShape="1">
            <a:blip r:embed="rId4">
              <a:alphaModFix/>
            </a:blip>
            <a:stretch>
              <a:fillRect b="-12762" l="0" r="0" t="-12763"/>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21"/>
          <p:cNvSpPr txBox="1"/>
          <p:nvPr/>
        </p:nvSpPr>
        <p:spPr>
          <a:xfrm>
            <a:off x="1028700" y="3451684"/>
            <a:ext cx="7044924" cy="116723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7268"/>
              <a:buFont typeface="Arial"/>
              <a:buNone/>
            </a:pPr>
            <a:r>
              <a:rPr b="0" i="0" lang="en-US" sz="7268" u="none" cap="none" strike="noStrike">
                <a:solidFill>
                  <a:srgbClr val="FFFBFB"/>
                </a:solidFill>
                <a:latin typeface="Poppins"/>
                <a:ea typeface="Poppins"/>
                <a:cs typeface="Poppins"/>
                <a:sym typeface="Poppins"/>
              </a:rPr>
              <a:t>PRUEBAS DE</a:t>
            </a:r>
            <a:endParaRPr b="0" i="0" sz="1400" u="none" cap="none" strike="noStrike">
              <a:solidFill>
                <a:srgbClr val="000000"/>
              </a:solidFill>
              <a:latin typeface="Arial"/>
              <a:ea typeface="Arial"/>
              <a:cs typeface="Arial"/>
              <a:sym typeface="Arial"/>
            </a:endParaRPr>
          </a:p>
        </p:txBody>
      </p:sp>
      <p:sp>
        <p:nvSpPr>
          <p:cNvPr id="513" name="Google Shape;513;p21"/>
          <p:cNvSpPr/>
          <p:nvPr/>
        </p:nvSpPr>
        <p:spPr>
          <a:xfrm>
            <a:off x="1028700" y="1136365"/>
            <a:ext cx="846187" cy="981086"/>
          </a:xfrm>
          <a:custGeom>
            <a:rect b="b" l="l" r="r" t="t"/>
            <a:pathLst>
              <a:path extrusionOk="0" h="981086" w="846187">
                <a:moveTo>
                  <a:pt x="0" y="0"/>
                </a:moveTo>
                <a:lnTo>
                  <a:pt x="846187" y="0"/>
                </a:lnTo>
                <a:lnTo>
                  <a:pt x="846187" y="981087"/>
                </a:lnTo>
                <a:lnTo>
                  <a:pt x="0" y="981087"/>
                </a:lnTo>
                <a:lnTo>
                  <a:pt x="0" y="0"/>
                </a:lnTo>
                <a:close/>
              </a:path>
            </a:pathLst>
          </a:custGeom>
          <a:blipFill rotWithShape="1">
            <a:blip r:embed="rId5">
              <a:alphaModFix/>
            </a:blip>
            <a:stretch>
              <a:fillRect b="0" l="0" r="0" t="0"/>
            </a:stretch>
          </a:blipFill>
          <a:ln>
            <a:noFill/>
          </a:ln>
        </p:spPr>
      </p:sp>
      <p:sp>
        <p:nvSpPr>
          <p:cNvPr id="514" name="Google Shape;514;p21"/>
          <p:cNvSpPr/>
          <p:nvPr/>
        </p:nvSpPr>
        <p:spPr>
          <a:xfrm>
            <a:off x="-295175" y="8630507"/>
            <a:ext cx="2647750" cy="2647750"/>
          </a:xfrm>
          <a:custGeom>
            <a:rect b="b" l="l" r="r" t="t"/>
            <a:pathLst>
              <a:path extrusionOk="0" h="2647750" w="2647750">
                <a:moveTo>
                  <a:pt x="0" y="0"/>
                </a:moveTo>
                <a:lnTo>
                  <a:pt x="2647750" y="0"/>
                </a:lnTo>
                <a:lnTo>
                  <a:pt x="2647750" y="2647751"/>
                </a:lnTo>
                <a:lnTo>
                  <a:pt x="0" y="2647751"/>
                </a:lnTo>
                <a:lnTo>
                  <a:pt x="0" y="0"/>
                </a:lnTo>
                <a:close/>
              </a:path>
            </a:pathLst>
          </a:custGeom>
          <a:blipFill rotWithShape="1">
            <a:blip r:embed="rId3">
              <a:alphaModFix/>
            </a:blip>
            <a:stretch>
              <a:fillRect b="0" l="0" r="0" t="0"/>
            </a:stretch>
          </a:blipFill>
          <a:ln>
            <a:noFill/>
          </a:ln>
        </p:spPr>
      </p:sp>
      <p:sp>
        <p:nvSpPr>
          <p:cNvPr id="515" name="Google Shape;515;p21"/>
          <p:cNvSpPr txBox="1"/>
          <p:nvPr/>
        </p:nvSpPr>
        <p:spPr>
          <a:xfrm>
            <a:off x="759681" y="4781484"/>
            <a:ext cx="11773151" cy="1880765"/>
          </a:xfrm>
          <a:prstGeom prst="rect">
            <a:avLst/>
          </a:prstGeom>
          <a:noFill/>
          <a:ln>
            <a:noFill/>
          </a:ln>
        </p:spPr>
        <p:txBody>
          <a:bodyPr anchorCtr="0" anchor="t" bIns="0" lIns="0" spcFirstLastPara="1" rIns="0" wrap="square" tIns="0">
            <a:spAutoFit/>
          </a:bodyPr>
          <a:lstStyle/>
          <a:p>
            <a:pPr indent="0" lvl="0" marL="0" marR="0" rtl="0" algn="l">
              <a:lnSpc>
                <a:spcPct val="119993"/>
              </a:lnSpc>
              <a:spcBef>
                <a:spcPts val="0"/>
              </a:spcBef>
              <a:spcAft>
                <a:spcPts val="0"/>
              </a:spcAft>
              <a:buClr>
                <a:srgbClr val="000000"/>
              </a:buClr>
              <a:buSzPts val="11729"/>
              <a:buFont typeface="Arial"/>
              <a:buNone/>
            </a:pPr>
            <a:r>
              <a:rPr b="1" i="0" lang="en-US" sz="11729" u="none" cap="none" strike="noStrike">
                <a:solidFill>
                  <a:srgbClr val="56AEFF"/>
                </a:solidFill>
                <a:latin typeface="Poppins"/>
                <a:ea typeface="Poppins"/>
                <a:cs typeface="Poppins"/>
                <a:sym typeface="Poppins"/>
              </a:rPr>
              <a:t>ESCALABILIDAD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5DA0"/>
        </a:solidFill>
      </p:bgPr>
    </p:bg>
    <p:spTree>
      <p:nvGrpSpPr>
        <p:cNvPr id="519" name="Shape 519"/>
        <p:cNvGrpSpPr/>
        <p:nvPr/>
      </p:nvGrpSpPr>
      <p:grpSpPr>
        <a:xfrm>
          <a:off x="0" y="0"/>
          <a:ext cx="0" cy="0"/>
          <a:chOff x="0" y="0"/>
          <a:chExt cx="0" cy="0"/>
        </a:xfrm>
      </p:grpSpPr>
      <p:sp>
        <p:nvSpPr>
          <p:cNvPr id="520" name="Google Shape;520;p22"/>
          <p:cNvSpPr/>
          <p:nvPr/>
        </p:nvSpPr>
        <p:spPr>
          <a:xfrm>
            <a:off x="0" y="0"/>
            <a:ext cx="18288000" cy="3860032"/>
          </a:xfrm>
          <a:custGeom>
            <a:rect b="b" l="l" r="r" t="t"/>
            <a:pathLst>
              <a:path extrusionOk="0" h="3860032" w="18288000">
                <a:moveTo>
                  <a:pt x="0" y="0"/>
                </a:moveTo>
                <a:lnTo>
                  <a:pt x="18288000" y="0"/>
                </a:lnTo>
                <a:lnTo>
                  <a:pt x="18288000" y="3860032"/>
                </a:lnTo>
                <a:lnTo>
                  <a:pt x="0" y="3860032"/>
                </a:lnTo>
                <a:lnTo>
                  <a:pt x="0" y="0"/>
                </a:lnTo>
                <a:close/>
              </a:path>
            </a:pathLst>
          </a:custGeom>
          <a:blipFill rotWithShape="1">
            <a:blip r:embed="rId3">
              <a:alphaModFix/>
            </a:blip>
            <a:stretch>
              <a:fillRect b="-107818" l="0" r="0" t="-107818"/>
            </a:stretch>
          </a:blipFill>
          <a:ln>
            <a:noFill/>
          </a:ln>
        </p:spPr>
      </p:sp>
      <p:grpSp>
        <p:nvGrpSpPr>
          <p:cNvPr id="521" name="Google Shape;521;p22"/>
          <p:cNvGrpSpPr/>
          <p:nvPr/>
        </p:nvGrpSpPr>
        <p:grpSpPr>
          <a:xfrm>
            <a:off x="4458366" y="-144661"/>
            <a:ext cx="9658350" cy="10431661"/>
            <a:chOff x="0" y="-38100"/>
            <a:chExt cx="2543763" cy="2747433"/>
          </a:xfrm>
        </p:grpSpPr>
        <p:sp>
          <p:nvSpPr>
            <p:cNvPr id="522" name="Google Shape;522;p22"/>
            <p:cNvSpPr/>
            <p:nvPr/>
          </p:nvSpPr>
          <p:spPr>
            <a:xfrm>
              <a:off x="0" y="0"/>
              <a:ext cx="2543763" cy="2709333"/>
            </a:xfrm>
            <a:custGeom>
              <a:rect b="b" l="l" r="r" t="t"/>
              <a:pathLst>
                <a:path extrusionOk="0" h="2709333" w="2543763">
                  <a:moveTo>
                    <a:pt x="0" y="0"/>
                  </a:moveTo>
                  <a:lnTo>
                    <a:pt x="2543763" y="0"/>
                  </a:lnTo>
                  <a:lnTo>
                    <a:pt x="2543763" y="2709333"/>
                  </a:lnTo>
                  <a:lnTo>
                    <a:pt x="0" y="2709333"/>
                  </a:lnTo>
                  <a:close/>
                </a:path>
              </a:pathLst>
            </a:custGeom>
            <a:solidFill>
              <a:srgbClr val="051D40">
                <a:alpha val="74901"/>
              </a:srgbClr>
            </a:solidFill>
            <a:ln>
              <a:noFill/>
            </a:ln>
          </p:spPr>
        </p:sp>
        <p:sp>
          <p:nvSpPr>
            <p:cNvPr id="523" name="Google Shape;523;p22"/>
            <p:cNvSpPr txBox="1"/>
            <p:nvPr/>
          </p:nvSpPr>
          <p:spPr>
            <a:xfrm>
              <a:off x="0" y="-38100"/>
              <a:ext cx="254376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24" name="Google Shape;524;p22"/>
          <p:cNvSpPr txBox="1"/>
          <p:nvPr/>
        </p:nvSpPr>
        <p:spPr>
          <a:xfrm>
            <a:off x="5021151" y="2324975"/>
            <a:ext cx="8245699" cy="762000"/>
          </a:xfrm>
          <a:prstGeom prst="rect">
            <a:avLst/>
          </a:prstGeom>
          <a:noFill/>
          <a:ln>
            <a:noFill/>
          </a:ln>
        </p:spPr>
        <p:txBody>
          <a:bodyPr anchorCtr="0" anchor="t" bIns="0" lIns="0" spcFirstLastPara="1" rIns="0" wrap="square" tIns="0">
            <a:spAutoFit/>
          </a:bodyPr>
          <a:lstStyle/>
          <a:p>
            <a:pPr indent="0" lvl="0" marL="0" marR="0" rtl="0" algn="ctr">
              <a:lnSpc>
                <a:spcPct val="120004"/>
              </a:lnSpc>
              <a:spcBef>
                <a:spcPts val="0"/>
              </a:spcBef>
              <a:spcAft>
                <a:spcPts val="0"/>
              </a:spcAft>
              <a:buClr>
                <a:srgbClr val="000000"/>
              </a:buClr>
              <a:buSzPts val="4739"/>
              <a:buFont typeface="Arial"/>
              <a:buNone/>
            </a:pPr>
            <a:r>
              <a:rPr b="0" i="0" lang="en-US" sz="4739" u="none" cap="none" strike="noStrike">
                <a:solidFill>
                  <a:srgbClr val="FFFFFF"/>
                </a:solidFill>
                <a:latin typeface="Poppins"/>
                <a:ea typeface="Poppins"/>
                <a:cs typeface="Poppins"/>
                <a:sym typeface="Poppins"/>
              </a:rPr>
              <a:t>PRUEBAS DE ESCALABILIDAD</a:t>
            </a:r>
            <a:endParaRPr b="0" i="0" sz="1400" u="none" cap="none" strike="noStrike">
              <a:solidFill>
                <a:srgbClr val="000000"/>
              </a:solidFill>
              <a:latin typeface="Arial"/>
              <a:ea typeface="Arial"/>
              <a:cs typeface="Arial"/>
              <a:sym typeface="Arial"/>
            </a:endParaRPr>
          </a:p>
        </p:txBody>
      </p:sp>
      <p:sp>
        <p:nvSpPr>
          <p:cNvPr id="525" name="Google Shape;525;p22"/>
          <p:cNvSpPr txBox="1"/>
          <p:nvPr/>
        </p:nvSpPr>
        <p:spPr>
          <a:xfrm>
            <a:off x="5991801" y="4431415"/>
            <a:ext cx="6902620" cy="3645429"/>
          </a:xfrm>
          <a:prstGeom prst="rect">
            <a:avLst/>
          </a:prstGeom>
          <a:noFill/>
          <a:ln>
            <a:noFill/>
          </a:ln>
        </p:spPr>
        <p:txBody>
          <a:bodyPr anchorCtr="0" anchor="t" bIns="0" lIns="0" spcFirstLastPara="1" rIns="0" wrap="square" tIns="0">
            <a:spAutoFit/>
          </a:bodyPr>
          <a:lstStyle/>
          <a:p>
            <a:pPr indent="0" lvl="0" marL="0" marR="0" rtl="0" algn="ctr">
              <a:lnSpc>
                <a:spcPct val="138011"/>
              </a:lnSpc>
              <a:spcBef>
                <a:spcPts val="0"/>
              </a:spcBef>
              <a:spcAft>
                <a:spcPts val="0"/>
              </a:spcAft>
              <a:buClr>
                <a:srgbClr val="000000"/>
              </a:buClr>
              <a:buSzPts val="2615"/>
              <a:buFont typeface="Arial"/>
              <a:buNone/>
            </a:pPr>
            <a:r>
              <a:rPr b="0" i="0" lang="en-US" sz="2615" u="none" cap="none" strike="noStrike">
                <a:solidFill>
                  <a:srgbClr val="FFFFFF"/>
                </a:solidFill>
                <a:latin typeface="DM Sans"/>
                <a:ea typeface="DM Sans"/>
                <a:cs typeface="DM Sans"/>
                <a:sym typeface="DM Sans"/>
              </a:rPr>
              <a:t>son un tipo de pruebas de rendimiento que se realizan para determinar la capacidad de un sistema, una red o una aplicación para manejar un aumento en el volumen de trabajo de manera eficiente. Su objetivo es asegurar que el sistema puede crecer en términos de usuarios, transacciones o datos sin que su rendimiento se degrade.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529" name="Shape 529"/>
        <p:cNvGrpSpPr/>
        <p:nvPr/>
      </p:nvGrpSpPr>
      <p:grpSpPr>
        <a:xfrm>
          <a:off x="0" y="0"/>
          <a:ext cx="0" cy="0"/>
          <a:chOff x="0" y="0"/>
          <a:chExt cx="0" cy="0"/>
        </a:xfrm>
      </p:grpSpPr>
      <p:sp>
        <p:nvSpPr>
          <p:cNvPr id="530" name="Google Shape;530;p23"/>
          <p:cNvSpPr/>
          <p:nvPr/>
        </p:nvSpPr>
        <p:spPr>
          <a:xfrm>
            <a:off x="6694069" y="3428600"/>
            <a:ext cx="821455" cy="821455"/>
          </a:xfrm>
          <a:custGeom>
            <a:rect b="b" l="l" r="r" t="t"/>
            <a:pathLst>
              <a:path extrusionOk="0" h="821455" w="821455">
                <a:moveTo>
                  <a:pt x="0" y="0"/>
                </a:moveTo>
                <a:lnTo>
                  <a:pt x="821455" y="0"/>
                </a:lnTo>
                <a:lnTo>
                  <a:pt x="821455" y="821455"/>
                </a:lnTo>
                <a:lnTo>
                  <a:pt x="0" y="821455"/>
                </a:lnTo>
                <a:lnTo>
                  <a:pt x="0" y="0"/>
                </a:lnTo>
                <a:close/>
              </a:path>
            </a:pathLst>
          </a:custGeom>
          <a:blipFill rotWithShape="1">
            <a:blip r:embed="rId3">
              <a:alphaModFix/>
            </a:blip>
            <a:stretch>
              <a:fillRect b="0" l="0" r="0" t="0"/>
            </a:stretch>
          </a:blipFill>
          <a:ln>
            <a:noFill/>
          </a:ln>
        </p:spPr>
      </p:sp>
      <p:sp>
        <p:nvSpPr>
          <p:cNvPr id="531" name="Google Shape;531;p23"/>
          <p:cNvSpPr txBox="1"/>
          <p:nvPr/>
        </p:nvSpPr>
        <p:spPr>
          <a:xfrm>
            <a:off x="1028700" y="2286055"/>
            <a:ext cx="13726645" cy="730377"/>
          </a:xfrm>
          <a:prstGeom prst="rect">
            <a:avLst/>
          </a:prstGeom>
          <a:noFill/>
          <a:ln>
            <a:noFill/>
          </a:ln>
        </p:spPr>
        <p:txBody>
          <a:bodyPr anchorCtr="0" anchor="t" bIns="0" lIns="0" spcFirstLastPara="1" rIns="0" wrap="square" tIns="0">
            <a:spAutoFit/>
          </a:bodyPr>
          <a:lstStyle/>
          <a:p>
            <a:pPr indent="0" lvl="0" marL="0" marR="0" rtl="0" algn="l">
              <a:lnSpc>
                <a:spcPct val="138000"/>
              </a:lnSpc>
              <a:spcBef>
                <a:spcPts val="0"/>
              </a:spcBef>
              <a:spcAft>
                <a:spcPts val="0"/>
              </a:spcAft>
              <a:buClr>
                <a:srgbClr val="000000"/>
              </a:buClr>
              <a:buSzPts val="4300"/>
              <a:buFont typeface="Arial"/>
              <a:buNone/>
            </a:pPr>
            <a:r>
              <a:rPr b="1" i="0" lang="en-US" sz="4300" u="none" cap="none" strike="noStrike">
                <a:solidFill>
                  <a:srgbClr val="FFFFFF"/>
                </a:solidFill>
                <a:latin typeface="DM Sans"/>
                <a:ea typeface="DM Sans"/>
                <a:cs typeface="DM Sans"/>
                <a:sym typeface="DM Sans"/>
              </a:rPr>
              <a:t>¿Por qué son importantes?</a:t>
            </a:r>
            <a:endParaRPr b="0" i="0" sz="1400" u="none" cap="none" strike="noStrike">
              <a:solidFill>
                <a:srgbClr val="000000"/>
              </a:solidFill>
              <a:latin typeface="Arial"/>
              <a:ea typeface="Arial"/>
              <a:cs typeface="Arial"/>
              <a:sym typeface="Arial"/>
            </a:endParaRPr>
          </a:p>
        </p:txBody>
      </p:sp>
      <p:sp>
        <p:nvSpPr>
          <p:cNvPr id="532" name="Google Shape;532;p23"/>
          <p:cNvSpPr txBox="1"/>
          <p:nvPr/>
        </p:nvSpPr>
        <p:spPr>
          <a:xfrm>
            <a:off x="1028700" y="3791703"/>
            <a:ext cx="15895219" cy="2507120"/>
          </a:xfrm>
          <a:prstGeom prst="rect">
            <a:avLst/>
          </a:prstGeom>
          <a:noFill/>
          <a:ln>
            <a:noFill/>
          </a:ln>
        </p:spPr>
        <p:txBody>
          <a:bodyPr anchorCtr="0" anchor="t" bIns="0" lIns="0" spcFirstLastPara="1" rIns="0" wrap="square" tIns="0">
            <a:spAutoFit/>
          </a:bodyPr>
          <a:lstStyle/>
          <a:p>
            <a:pPr indent="0" lvl="0" marL="0" marR="0" rtl="0" algn="just">
              <a:lnSpc>
                <a:spcPct val="138008"/>
              </a:lnSpc>
              <a:spcBef>
                <a:spcPts val="0"/>
              </a:spcBef>
              <a:spcAft>
                <a:spcPts val="0"/>
              </a:spcAft>
              <a:buClr>
                <a:srgbClr val="000000"/>
              </a:buClr>
              <a:buSzPts val="2410"/>
              <a:buFont typeface="Arial"/>
              <a:buNone/>
            </a:pPr>
            <a:r>
              <a:rPr b="0" i="0" lang="en-US" sz="2410" u="none" cap="none" strike="noStrike">
                <a:solidFill>
                  <a:srgbClr val="FFFFFF"/>
                </a:solidFill>
                <a:latin typeface="DM Sans"/>
                <a:ea typeface="DM Sans"/>
                <a:cs typeface="DM Sans"/>
                <a:sym typeface="DM Sans"/>
              </a:rPr>
              <a:t>Imagina una red social o una plataforma de comercio electrónico. Si la base de usuarios crece exponencialmente, la plataforma debe ser capaz de soportar a todos esos nuevos usuarios sin volverse lenta o inestable. Las pruebas de escalabilidad garantizan que la arquitectura de software y la infraestructura subyacente puedan soportar este crecimiento futuro. Sin ellas, una empresa podría invertir en hardware costoso que no logra el rendimiento deseado o, peor aún, su plataforma podría colapsar cuando más lo necesita.</a:t>
            </a:r>
            <a:endParaRPr b="0" i="0" sz="1400" u="none" cap="none" strike="noStrike">
              <a:solidFill>
                <a:srgbClr val="000000"/>
              </a:solidFill>
              <a:latin typeface="Arial"/>
              <a:ea typeface="Arial"/>
              <a:cs typeface="Arial"/>
              <a:sym typeface="Arial"/>
            </a:endParaRPr>
          </a:p>
        </p:txBody>
      </p:sp>
      <p:sp>
        <p:nvSpPr>
          <p:cNvPr id="533" name="Google Shape;533;p23"/>
          <p:cNvSpPr/>
          <p:nvPr/>
        </p:nvSpPr>
        <p:spPr>
          <a:xfrm>
            <a:off x="-2519628" y="7712017"/>
            <a:ext cx="6602062" cy="6602062"/>
          </a:xfrm>
          <a:custGeom>
            <a:rect b="b" l="l" r="r" t="t"/>
            <a:pathLst>
              <a:path extrusionOk="0" h="6602062" w="6602062">
                <a:moveTo>
                  <a:pt x="0" y="0"/>
                </a:moveTo>
                <a:lnTo>
                  <a:pt x="6602062" y="0"/>
                </a:lnTo>
                <a:lnTo>
                  <a:pt x="6602062" y="6602062"/>
                </a:lnTo>
                <a:lnTo>
                  <a:pt x="0" y="6602062"/>
                </a:lnTo>
                <a:lnTo>
                  <a:pt x="0" y="0"/>
                </a:lnTo>
                <a:close/>
              </a:path>
            </a:pathLst>
          </a:custGeom>
          <a:blipFill rotWithShape="1">
            <a:blip r:embed="rId4">
              <a:alphaModFix/>
            </a:blip>
            <a:stretch>
              <a:fillRect b="0" l="0" r="0" t="0"/>
            </a:stretch>
          </a:blipFill>
          <a:ln>
            <a:noFill/>
          </a:ln>
        </p:spPr>
      </p:sp>
      <p:sp>
        <p:nvSpPr>
          <p:cNvPr id="534" name="Google Shape;534;p23"/>
          <p:cNvSpPr/>
          <p:nvPr/>
        </p:nvSpPr>
        <p:spPr>
          <a:xfrm rot="10436461">
            <a:off x="14111851" y="-3920191"/>
            <a:ext cx="6294897" cy="6294897"/>
          </a:xfrm>
          <a:custGeom>
            <a:rect b="b" l="l" r="r" t="t"/>
            <a:pathLst>
              <a:path extrusionOk="0" h="6294897" w="6294897">
                <a:moveTo>
                  <a:pt x="0" y="0"/>
                </a:moveTo>
                <a:lnTo>
                  <a:pt x="6294898" y="0"/>
                </a:lnTo>
                <a:lnTo>
                  <a:pt x="6294898" y="6294898"/>
                </a:lnTo>
                <a:lnTo>
                  <a:pt x="0" y="6294898"/>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5DA0"/>
        </a:solidFill>
      </p:bgPr>
    </p:bg>
    <p:spTree>
      <p:nvGrpSpPr>
        <p:cNvPr id="538" name="Shape 538"/>
        <p:cNvGrpSpPr/>
        <p:nvPr/>
      </p:nvGrpSpPr>
      <p:grpSpPr>
        <a:xfrm>
          <a:off x="0" y="0"/>
          <a:ext cx="0" cy="0"/>
          <a:chOff x="0" y="0"/>
          <a:chExt cx="0" cy="0"/>
        </a:xfrm>
      </p:grpSpPr>
      <p:sp>
        <p:nvSpPr>
          <p:cNvPr id="539" name="Google Shape;539;p24"/>
          <p:cNvSpPr/>
          <p:nvPr/>
        </p:nvSpPr>
        <p:spPr>
          <a:xfrm>
            <a:off x="8303258" y="3455241"/>
            <a:ext cx="1007650" cy="959517"/>
          </a:xfrm>
          <a:custGeom>
            <a:rect b="b" l="l" r="r" t="t"/>
            <a:pathLst>
              <a:path extrusionOk="0" h="959517" w="1007650">
                <a:moveTo>
                  <a:pt x="0" y="0"/>
                </a:moveTo>
                <a:lnTo>
                  <a:pt x="1007650" y="0"/>
                </a:lnTo>
                <a:lnTo>
                  <a:pt x="1007650" y="959517"/>
                </a:lnTo>
                <a:lnTo>
                  <a:pt x="0" y="959517"/>
                </a:lnTo>
                <a:lnTo>
                  <a:pt x="0" y="0"/>
                </a:lnTo>
                <a:close/>
              </a:path>
            </a:pathLst>
          </a:custGeom>
          <a:blipFill rotWithShape="1">
            <a:blip r:embed="rId3">
              <a:alphaModFix/>
            </a:blip>
            <a:stretch>
              <a:fillRect b="0" l="0" r="0" t="0"/>
            </a:stretch>
          </a:blipFill>
          <a:ln>
            <a:noFill/>
          </a:ln>
        </p:spPr>
      </p:sp>
      <p:sp>
        <p:nvSpPr>
          <p:cNvPr id="540" name="Google Shape;540;p24"/>
          <p:cNvSpPr txBox="1"/>
          <p:nvPr/>
        </p:nvSpPr>
        <p:spPr>
          <a:xfrm>
            <a:off x="593185" y="625412"/>
            <a:ext cx="11500247" cy="730377"/>
          </a:xfrm>
          <a:prstGeom prst="rect">
            <a:avLst/>
          </a:prstGeom>
          <a:noFill/>
          <a:ln>
            <a:noFill/>
          </a:ln>
        </p:spPr>
        <p:txBody>
          <a:bodyPr anchorCtr="0" anchor="t" bIns="0" lIns="0" spcFirstLastPara="1" rIns="0" wrap="square" tIns="0">
            <a:spAutoFit/>
          </a:bodyPr>
          <a:lstStyle/>
          <a:p>
            <a:pPr indent="0" lvl="0" marL="0" marR="0" rtl="0" algn="ctr">
              <a:lnSpc>
                <a:spcPct val="138000"/>
              </a:lnSpc>
              <a:spcBef>
                <a:spcPts val="0"/>
              </a:spcBef>
              <a:spcAft>
                <a:spcPts val="0"/>
              </a:spcAft>
              <a:buClr>
                <a:srgbClr val="000000"/>
              </a:buClr>
              <a:buSzPts val="4300"/>
              <a:buFont typeface="Arial"/>
              <a:buNone/>
            </a:pPr>
            <a:r>
              <a:rPr b="1" i="0" lang="en-US" sz="4300" u="none" cap="none" strike="noStrike">
                <a:solidFill>
                  <a:srgbClr val="F5FFF5"/>
                </a:solidFill>
                <a:latin typeface="DM Sans"/>
                <a:ea typeface="DM Sans"/>
                <a:cs typeface="DM Sans"/>
                <a:sym typeface="DM Sans"/>
              </a:rPr>
              <a:t>¿Qué evalúan las pruebas de escalabilidad?</a:t>
            </a:r>
            <a:endParaRPr b="0" i="0" sz="1400" u="none" cap="none" strike="noStrike">
              <a:solidFill>
                <a:srgbClr val="000000"/>
              </a:solidFill>
              <a:latin typeface="Arial"/>
              <a:ea typeface="Arial"/>
              <a:cs typeface="Arial"/>
              <a:sym typeface="Arial"/>
            </a:endParaRPr>
          </a:p>
        </p:txBody>
      </p:sp>
      <p:sp>
        <p:nvSpPr>
          <p:cNvPr id="541" name="Google Shape;541;p24"/>
          <p:cNvSpPr/>
          <p:nvPr/>
        </p:nvSpPr>
        <p:spPr>
          <a:xfrm rot="1313163">
            <a:off x="-4397261" y="6412995"/>
            <a:ext cx="9085628" cy="5368780"/>
          </a:xfrm>
          <a:custGeom>
            <a:rect b="b" l="l" r="r" t="t"/>
            <a:pathLst>
              <a:path extrusionOk="0" h="5368780" w="9085628">
                <a:moveTo>
                  <a:pt x="0" y="0"/>
                </a:moveTo>
                <a:lnTo>
                  <a:pt x="9085629" y="0"/>
                </a:lnTo>
                <a:lnTo>
                  <a:pt x="9085629" y="5368780"/>
                </a:lnTo>
                <a:lnTo>
                  <a:pt x="0" y="5368780"/>
                </a:lnTo>
                <a:lnTo>
                  <a:pt x="0" y="0"/>
                </a:lnTo>
                <a:close/>
              </a:path>
            </a:pathLst>
          </a:custGeom>
          <a:blipFill rotWithShape="1">
            <a:blip r:embed="rId4">
              <a:alphaModFix/>
            </a:blip>
            <a:stretch>
              <a:fillRect b="0" l="0" r="0" t="0"/>
            </a:stretch>
          </a:blipFill>
          <a:ln>
            <a:noFill/>
          </a:ln>
        </p:spPr>
      </p:sp>
      <p:sp>
        <p:nvSpPr>
          <p:cNvPr id="542" name="Google Shape;542;p24"/>
          <p:cNvSpPr/>
          <p:nvPr/>
        </p:nvSpPr>
        <p:spPr>
          <a:xfrm>
            <a:off x="2170729" y="7129242"/>
            <a:ext cx="4319810" cy="426581"/>
          </a:xfrm>
          <a:custGeom>
            <a:rect b="b" l="l" r="r" t="t"/>
            <a:pathLst>
              <a:path extrusionOk="0" h="426581" w="4319810">
                <a:moveTo>
                  <a:pt x="0" y="0"/>
                </a:moveTo>
                <a:lnTo>
                  <a:pt x="4319810" y="0"/>
                </a:lnTo>
                <a:lnTo>
                  <a:pt x="4319810" y="426581"/>
                </a:lnTo>
                <a:lnTo>
                  <a:pt x="0" y="426581"/>
                </a:lnTo>
                <a:lnTo>
                  <a:pt x="0" y="0"/>
                </a:lnTo>
                <a:close/>
              </a:path>
            </a:pathLst>
          </a:custGeom>
          <a:blipFill rotWithShape="1">
            <a:blip r:embed="rId5">
              <a:alphaModFix/>
            </a:blip>
            <a:stretch>
              <a:fillRect b="0" l="0" r="0" t="-99996"/>
            </a:stretch>
          </a:blipFill>
          <a:ln>
            <a:noFill/>
          </a:ln>
        </p:spPr>
      </p:sp>
      <p:sp>
        <p:nvSpPr>
          <p:cNvPr id="543" name="Google Shape;543;p24"/>
          <p:cNvSpPr/>
          <p:nvPr/>
        </p:nvSpPr>
        <p:spPr>
          <a:xfrm>
            <a:off x="6886864" y="7129242"/>
            <a:ext cx="4319810" cy="426581"/>
          </a:xfrm>
          <a:custGeom>
            <a:rect b="b" l="l" r="r" t="t"/>
            <a:pathLst>
              <a:path extrusionOk="0" h="426581" w="4319810">
                <a:moveTo>
                  <a:pt x="0" y="0"/>
                </a:moveTo>
                <a:lnTo>
                  <a:pt x="4319809" y="0"/>
                </a:lnTo>
                <a:lnTo>
                  <a:pt x="4319809" y="426581"/>
                </a:lnTo>
                <a:lnTo>
                  <a:pt x="0" y="426581"/>
                </a:lnTo>
                <a:lnTo>
                  <a:pt x="0" y="0"/>
                </a:lnTo>
                <a:close/>
              </a:path>
            </a:pathLst>
          </a:custGeom>
          <a:blipFill rotWithShape="1">
            <a:blip r:embed="rId5">
              <a:alphaModFix/>
            </a:blip>
            <a:stretch>
              <a:fillRect b="0" l="0" r="0" t="-99996"/>
            </a:stretch>
          </a:blipFill>
          <a:ln>
            <a:noFill/>
          </a:ln>
        </p:spPr>
      </p:sp>
      <p:sp>
        <p:nvSpPr>
          <p:cNvPr id="544" name="Google Shape;544;p24"/>
          <p:cNvSpPr/>
          <p:nvPr/>
        </p:nvSpPr>
        <p:spPr>
          <a:xfrm>
            <a:off x="11606723" y="7129242"/>
            <a:ext cx="4319810" cy="426581"/>
          </a:xfrm>
          <a:custGeom>
            <a:rect b="b" l="l" r="r" t="t"/>
            <a:pathLst>
              <a:path extrusionOk="0" h="426581" w="4319810">
                <a:moveTo>
                  <a:pt x="0" y="0"/>
                </a:moveTo>
                <a:lnTo>
                  <a:pt x="4319810" y="0"/>
                </a:lnTo>
                <a:lnTo>
                  <a:pt x="4319810" y="426581"/>
                </a:lnTo>
                <a:lnTo>
                  <a:pt x="0" y="426581"/>
                </a:lnTo>
                <a:lnTo>
                  <a:pt x="0" y="0"/>
                </a:lnTo>
                <a:close/>
              </a:path>
            </a:pathLst>
          </a:custGeom>
          <a:blipFill rotWithShape="1">
            <a:blip r:embed="rId5">
              <a:alphaModFix/>
            </a:blip>
            <a:stretch>
              <a:fillRect b="0" l="0" r="0" t="-99996"/>
            </a:stretch>
          </a:blipFill>
          <a:ln>
            <a:noFill/>
          </a:ln>
        </p:spPr>
      </p:sp>
      <p:grpSp>
        <p:nvGrpSpPr>
          <p:cNvPr id="545" name="Google Shape;545;p24"/>
          <p:cNvGrpSpPr/>
          <p:nvPr/>
        </p:nvGrpSpPr>
        <p:grpSpPr>
          <a:xfrm>
            <a:off x="2193491" y="2778566"/>
            <a:ext cx="4297048" cy="4777257"/>
            <a:chOff x="0" y="-38100"/>
            <a:chExt cx="1131733" cy="1258208"/>
          </a:xfrm>
        </p:grpSpPr>
        <p:sp>
          <p:nvSpPr>
            <p:cNvPr id="546" name="Google Shape;546;p24"/>
            <p:cNvSpPr/>
            <p:nvPr/>
          </p:nvSpPr>
          <p:spPr>
            <a:xfrm>
              <a:off x="0" y="0"/>
              <a:ext cx="1131733" cy="1220108"/>
            </a:xfrm>
            <a:custGeom>
              <a:rect b="b" l="l" r="r" t="t"/>
              <a:pathLst>
                <a:path extrusionOk="0" h="1220108" w="1131733">
                  <a:moveTo>
                    <a:pt x="0" y="0"/>
                  </a:moveTo>
                  <a:lnTo>
                    <a:pt x="1131733" y="0"/>
                  </a:lnTo>
                  <a:lnTo>
                    <a:pt x="1131733" y="1220108"/>
                  </a:lnTo>
                  <a:lnTo>
                    <a:pt x="0" y="1220108"/>
                  </a:lnTo>
                  <a:close/>
                </a:path>
              </a:pathLst>
            </a:custGeom>
            <a:solidFill>
              <a:srgbClr val="CFF4FF"/>
            </a:solidFill>
            <a:ln cap="sq" cmpd="sng" w="19050">
              <a:solidFill>
                <a:srgbClr val="FFFFFF"/>
              </a:solidFill>
              <a:prstDash val="solid"/>
              <a:miter lim="8000"/>
              <a:headEnd len="sm" w="sm" type="none"/>
              <a:tailEnd len="sm" w="sm" type="none"/>
            </a:ln>
          </p:spPr>
        </p:sp>
        <p:sp>
          <p:nvSpPr>
            <p:cNvPr id="547" name="Google Shape;547;p24"/>
            <p:cNvSpPr txBox="1"/>
            <p:nvPr/>
          </p:nvSpPr>
          <p:spPr>
            <a:xfrm>
              <a:off x="0" y="-38100"/>
              <a:ext cx="1131733" cy="1258208"/>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48" name="Google Shape;548;p24"/>
          <p:cNvSpPr/>
          <p:nvPr/>
        </p:nvSpPr>
        <p:spPr>
          <a:xfrm>
            <a:off x="3911573" y="3225912"/>
            <a:ext cx="1114628" cy="1130866"/>
          </a:xfrm>
          <a:custGeom>
            <a:rect b="b" l="l" r="r" t="t"/>
            <a:pathLst>
              <a:path extrusionOk="0" h="1130866" w="1114628">
                <a:moveTo>
                  <a:pt x="0" y="0"/>
                </a:moveTo>
                <a:lnTo>
                  <a:pt x="1114628" y="0"/>
                </a:lnTo>
                <a:lnTo>
                  <a:pt x="1114628" y="1130866"/>
                </a:lnTo>
                <a:lnTo>
                  <a:pt x="0" y="1130866"/>
                </a:lnTo>
                <a:lnTo>
                  <a:pt x="0" y="0"/>
                </a:lnTo>
                <a:close/>
              </a:path>
            </a:pathLst>
          </a:custGeom>
          <a:blipFill rotWithShape="1">
            <a:blip r:embed="rId6">
              <a:alphaModFix/>
            </a:blip>
            <a:stretch>
              <a:fillRect b="0" l="0" r="0" t="0"/>
            </a:stretch>
          </a:blipFill>
          <a:ln>
            <a:noFill/>
          </a:ln>
        </p:spPr>
      </p:sp>
      <p:grpSp>
        <p:nvGrpSpPr>
          <p:cNvPr id="549" name="Google Shape;549;p24"/>
          <p:cNvGrpSpPr/>
          <p:nvPr/>
        </p:nvGrpSpPr>
        <p:grpSpPr>
          <a:xfrm>
            <a:off x="6896375" y="2778566"/>
            <a:ext cx="4297048" cy="4777257"/>
            <a:chOff x="0" y="-38100"/>
            <a:chExt cx="1131733" cy="1258208"/>
          </a:xfrm>
        </p:grpSpPr>
        <p:sp>
          <p:nvSpPr>
            <p:cNvPr id="550" name="Google Shape;550;p24"/>
            <p:cNvSpPr/>
            <p:nvPr/>
          </p:nvSpPr>
          <p:spPr>
            <a:xfrm>
              <a:off x="0" y="0"/>
              <a:ext cx="1131733" cy="1220108"/>
            </a:xfrm>
            <a:custGeom>
              <a:rect b="b" l="l" r="r" t="t"/>
              <a:pathLst>
                <a:path extrusionOk="0" h="1220108" w="1131733">
                  <a:moveTo>
                    <a:pt x="0" y="0"/>
                  </a:moveTo>
                  <a:lnTo>
                    <a:pt x="1131733" y="0"/>
                  </a:lnTo>
                  <a:lnTo>
                    <a:pt x="1131733" y="1220108"/>
                  </a:lnTo>
                  <a:lnTo>
                    <a:pt x="0" y="1220108"/>
                  </a:lnTo>
                  <a:close/>
                </a:path>
              </a:pathLst>
            </a:custGeom>
            <a:solidFill>
              <a:srgbClr val="CFF4FF"/>
            </a:solidFill>
            <a:ln cap="sq" cmpd="sng" w="19050">
              <a:solidFill>
                <a:srgbClr val="FFFFFF"/>
              </a:solidFill>
              <a:prstDash val="solid"/>
              <a:miter lim="8000"/>
              <a:headEnd len="sm" w="sm" type="none"/>
              <a:tailEnd len="sm" w="sm" type="none"/>
            </a:ln>
          </p:spPr>
        </p:sp>
        <p:sp>
          <p:nvSpPr>
            <p:cNvPr id="551" name="Google Shape;551;p24"/>
            <p:cNvSpPr txBox="1"/>
            <p:nvPr/>
          </p:nvSpPr>
          <p:spPr>
            <a:xfrm>
              <a:off x="0" y="-38100"/>
              <a:ext cx="1131733" cy="1258208"/>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52" name="Google Shape;552;p24"/>
          <p:cNvGrpSpPr/>
          <p:nvPr/>
        </p:nvGrpSpPr>
        <p:grpSpPr>
          <a:xfrm>
            <a:off x="11602998" y="2778566"/>
            <a:ext cx="4297048" cy="4777257"/>
            <a:chOff x="0" y="-38100"/>
            <a:chExt cx="1131733" cy="1258208"/>
          </a:xfrm>
        </p:grpSpPr>
        <p:sp>
          <p:nvSpPr>
            <p:cNvPr id="553" name="Google Shape;553;p24"/>
            <p:cNvSpPr/>
            <p:nvPr/>
          </p:nvSpPr>
          <p:spPr>
            <a:xfrm>
              <a:off x="0" y="0"/>
              <a:ext cx="1131733" cy="1220108"/>
            </a:xfrm>
            <a:custGeom>
              <a:rect b="b" l="l" r="r" t="t"/>
              <a:pathLst>
                <a:path extrusionOk="0" h="1220108" w="1131733">
                  <a:moveTo>
                    <a:pt x="0" y="0"/>
                  </a:moveTo>
                  <a:lnTo>
                    <a:pt x="1131733" y="0"/>
                  </a:lnTo>
                  <a:lnTo>
                    <a:pt x="1131733" y="1220108"/>
                  </a:lnTo>
                  <a:lnTo>
                    <a:pt x="0" y="1220108"/>
                  </a:lnTo>
                  <a:close/>
                </a:path>
              </a:pathLst>
            </a:custGeom>
            <a:solidFill>
              <a:srgbClr val="CFF4FF"/>
            </a:solidFill>
            <a:ln cap="sq" cmpd="sng" w="19050">
              <a:solidFill>
                <a:srgbClr val="FFFFFF"/>
              </a:solidFill>
              <a:prstDash val="solid"/>
              <a:miter lim="8000"/>
              <a:headEnd len="sm" w="sm" type="none"/>
              <a:tailEnd len="sm" w="sm" type="none"/>
            </a:ln>
          </p:spPr>
        </p:sp>
        <p:sp>
          <p:nvSpPr>
            <p:cNvPr id="554" name="Google Shape;554;p24"/>
            <p:cNvSpPr txBox="1"/>
            <p:nvPr/>
          </p:nvSpPr>
          <p:spPr>
            <a:xfrm>
              <a:off x="0" y="-38100"/>
              <a:ext cx="1131733" cy="1258208"/>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55" name="Google Shape;555;p24"/>
          <p:cNvSpPr/>
          <p:nvPr/>
        </p:nvSpPr>
        <p:spPr>
          <a:xfrm>
            <a:off x="8456216" y="3397261"/>
            <a:ext cx="1007650" cy="959517"/>
          </a:xfrm>
          <a:custGeom>
            <a:rect b="b" l="l" r="r" t="t"/>
            <a:pathLst>
              <a:path extrusionOk="0" h="959517" w="1007650">
                <a:moveTo>
                  <a:pt x="0" y="0"/>
                </a:moveTo>
                <a:lnTo>
                  <a:pt x="1007650" y="0"/>
                </a:lnTo>
                <a:lnTo>
                  <a:pt x="1007650" y="959517"/>
                </a:lnTo>
                <a:lnTo>
                  <a:pt x="0" y="959517"/>
                </a:lnTo>
                <a:lnTo>
                  <a:pt x="0" y="0"/>
                </a:lnTo>
                <a:close/>
              </a:path>
            </a:pathLst>
          </a:custGeom>
          <a:blipFill rotWithShape="1">
            <a:blip r:embed="rId3">
              <a:alphaModFix/>
            </a:blip>
            <a:stretch>
              <a:fillRect b="0" l="0" r="0" t="0"/>
            </a:stretch>
          </a:blipFill>
          <a:ln>
            <a:noFill/>
          </a:ln>
        </p:spPr>
      </p:sp>
      <p:sp>
        <p:nvSpPr>
          <p:cNvPr id="556" name="Google Shape;556;p24"/>
          <p:cNvSpPr/>
          <p:nvPr/>
        </p:nvSpPr>
        <p:spPr>
          <a:xfrm rot="1313163">
            <a:off x="14330817" y="-1655690"/>
            <a:ext cx="9085628" cy="5368780"/>
          </a:xfrm>
          <a:custGeom>
            <a:rect b="b" l="l" r="r" t="t"/>
            <a:pathLst>
              <a:path extrusionOk="0" h="5368780" w="9085628">
                <a:moveTo>
                  <a:pt x="0" y="0"/>
                </a:moveTo>
                <a:lnTo>
                  <a:pt x="9085629" y="0"/>
                </a:lnTo>
                <a:lnTo>
                  <a:pt x="9085629" y="5368780"/>
                </a:lnTo>
                <a:lnTo>
                  <a:pt x="0" y="5368780"/>
                </a:lnTo>
                <a:lnTo>
                  <a:pt x="0" y="0"/>
                </a:lnTo>
                <a:close/>
              </a:path>
            </a:pathLst>
          </a:custGeom>
          <a:blipFill rotWithShape="1">
            <a:blip r:embed="rId4">
              <a:alphaModFix/>
            </a:blip>
            <a:stretch>
              <a:fillRect b="0" l="0" r="0" t="0"/>
            </a:stretch>
          </a:blipFill>
          <a:ln>
            <a:noFill/>
          </a:ln>
        </p:spPr>
      </p:sp>
      <p:sp>
        <p:nvSpPr>
          <p:cNvPr id="557" name="Google Shape;557;p24"/>
          <p:cNvSpPr/>
          <p:nvPr/>
        </p:nvSpPr>
        <p:spPr>
          <a:xfrm>
            <a:off x="12813685" y="3289108"/>
            <a:ext cx="1493354" cy="1175824"/>
          </a:xfrm>
          <a:custGeom>
            <a:rect b="b" l="l" r="r" t="t"/>
            <a:pathLst>
              <a:path extrusionOk="0" h="1175824" w="1493354">
                <a:moveTo>
                  <a:pt x="0" y="0"/>
                </a:moveTo>
                <a:lnTo>
                  <a:pt x="1493354" y="0"/>
                </a:lnTo>
                <a:lnTo>
                  <a:pt x="1493354" y="1175823"/>
                </a:lnTo>
                <a:lnTo>
                  <a:pt x="0" y="1175823"/>
                </a:lnTo>
                <a:lnTo>
                  <a:pt x="0" y="0"/>
                </a:lnTo>
                <a:close/>
              </a:path>
            </a:pathLst>
          </a:custGeom>
          <a:blipFill rotWithShape="1">
            <a:blip r:embed="rId7">
              <a:alphaModFix/>
            </a:blip>
            <a:stretch>
              <a:fillRect b="0" l="0" r="0" t="0"/>
            </a:stretch>
          </a:blipFill>
          <a:ln>
            <a:noFill/>
          </a:ln>
        </p:spPr>
      </p:sp>
      <p:sp>
        <p:nvSpPr>
          <p:cNvPr id="558" name="Google Shape;558;p24"/>
          <p:cNvSpPr txBox="1"/>
          <p:nvPr/>
        </p:nvSpPr>
        <p:spPr>
          <a:xfrm>
            <a:off x="2341351" y="5732995"/>
            <a:ext cx="4002588" cy="1642892"/>
          </a:xfrm>
          <a:prstGeom prst="rect">
            <a:avLst/>
          </a:prstGeom>
          <a:noFill/>
          <a:ln>
            <a:noFill/>
          </a:ln>
        </p:spPr>
        <p:txBody>
          <a:bodyPr anchorCtr="0" anchor="t" bIns="0" lIns="0" spcFirstLastPara="1" rIns="0" wrap="square" tIns="0">
            <a:spAutoFit/>
          </a:bodyPr>
          <a:lstStyle/>
          <a:p>
            <a:pPr indent="0" lvl="0" marL="0" marR="0" rtl="0" algn="ctr">
              <a:lnSpc>
                <a:spcPct val="137977"/>
              </a:lnSpc>
              <a:spcBef>
                <a:spcPts val="0"/>
              </a:spcBef>
              <a:spcAft>
                <a:spcPts val="0"/>
              </a:spcAft>
              <a:buClr>
                <a:srgbClr val="000000"/>
              </a:buClr>
              <a:buSzPts val="1572"/>
              <a:buFont typeface="Arial"/>
              <a:buNone/>
            </a:pPr>
            <a:r>
              <a:rPr b="0" i="0" lang="en-US" sz="1572" u="none" cap="none" strike="noStrike">
                <a:solidFill>
                  <a:srgbClr val="051D40"/>
                </a:solidFill>
                <a:latin typeface="DM Sans"/>
                <a:ea typeface="DM Sans"/>
                <a:cs typeface="DM Sans"/>
                <a:sym typeface="DM Sans"/>
              </a:rPr>
              <a:t>Miden cómo responde el sistema a un incremento gradual en la carga. Se busca identificar el punto en el que el rendimiento empieza a caer, incluso cuando se añaden más recursos (como servidores o memoria).</a:t>
            </a:r>
            <a:endParaRPr b="0" i="0" sz="1400" u="none" cap="none" strike="noStrike">
              <a:solidFill>
                <a:srgbClr val="000000"/>
              </a:solidFill>
              <a:latin typeface="Arial"/>
              <a:ea typeface="Arial"/>
              <a:cs typeface="Arial"/>
              <a:sym typeface="Arial"/>
            </a:endParaRPr>
          </a:p>
        </p:txBody>
      </p:sp>
      <p:sp>
        <p:nvSpPr>
          <p:cNvPr id="559" name="Google Shape;559;p24"/>
          <p:cNvSpPr txBox="1"/>
          <p:nvPr/>
        </p:nvSpPr>
        <p:spPr>
          <a:xfrm>
            <a:off x="2322288" y="4472076"/>
            <a:ext cx="4002588" cy="1285699"/>
          </a:xfrm>
          <a:prstGeom prst="rect">
            <a:avLst/>
          </a:prstGeom>
          <a:noFill/>
          <a:ln>
            <a:noFill/>
          </a:ln>
        </p:spPr>
        <p:txBody>
          <a:bodyPr anchorCtr="0" anchor="t" bIns="0" lIns="0" spcFirstLastPara="1" rIns="0" wrap="square" tIns="0">
            <a:spAutoFit/>
          </a:bodyPr>
          <a:lstStyle/>
          <a:p>
            <a:pPr indent="0" lvl="0" marL="0" marR="0" rtl="0" algn="ctr">
              <a:lnSpc>
                <a:spcPct val="138009"/>
              </a:lnSpc>
              <a:spcBef>
                <a:spcPts val="0"/>
              </a:spcBef>
              <a:spcAft>
                <a:spcPts val="0"/>
              </a:spcAft>
              <a:buClr>
                <a:srgbClr val="000000"/>
              </a:buClr>
              <a:buSzPts val="3757"/>
              <a:buFont typeface="Arial"/>
              <a:buNone/>
            </a:pPr>
            <a:r>
              <a:rPr b="1" i="0" lang="en-US" sz="3757" u="none" cap="none" strike="noStrike">
                <a:solidFill>
                  <a:srgbClr val="0071C9"/>
                </a:solidFill>
                <a:latin typeface="DM Sans"/>
                <a:ea typeface="DM Sans"/>
                <a:cs typeface="DM Sans"/>
                <a:sym typeface="DM Sans"/>
              </a:rPr>
              <a:t>Capacidad de crecimiento</a:t>
            </a:r>
            <a:endParaRPr b="0" i="0" sz="1400" u="none" cap="none" strike="noStrike">
              <a:solidFill>
                <a:srgbClr val="000000"/>
              </a:solidFill>
              <a:latin typeface="Arial"/>
              <a:ea typeface="Arial"/>
              <a:cs typeface="Arial"/>
              <a:sym typeface="Arial"/>
            </a:endParaRPr>
          </a:p>
        </p:txBody>
      </p:sp>
      <p:sp>
        <p:nvSpPr>
          <p:cNvPr id="560" name="Google Shape;560;p24"/>
          <p:cNvSpPr txBox="1"/>
          <p:nvPr/>
        </p:nvSpPr>
        <p:spPr>
          <a:xfrm>
            <a:off x="7043606" y="5663395"/>
            <a:ext cx="4002588" cy="1367849"/>
          </a:xfrm>
          <a:prstGeom prst="rect">
            <a:avLst/>
          </a:prstGeom>
          <a:noFill/>
          <a:ln>
            <a:noFill/>
          </a:ln>
        </p:spPr>
        <p:txBody>
          <a:bodyPr anchorCtr="0" anchor="t" bIns="0" lIns="0" spcFirstLastPara="1" rIns="0" wrap="square" tIns="0">
            <a:spAutoFit/>
          </a:bodyPr>
          <a:lstStyle/>
          <a:p>
            <a:pPr indent="0" lvl="0" marL="0" marR="0" rtl="0" algn="ctr">
              <a:lnSpc>
                <a:spcPct val="137977"/>
              </a:lnSpc>
              <a:spcBef>
                <a:spcPts val="0"/>
              </a:spcBef>
              <a:spcAft>
                <a:spcPts val="0"/>
              </a:spcAft>
              <a:buClr>
                <a:srgbClr val="000000"/>
              </a:buClr>
              <a:buSzPts val="1572"/>
              <a:buFont typeface="Arial"/>
              <a:buNone/>
            </a:pPr>
            <a:r>
              <a:rPr b="0" i="0" lang="en-US" sz="1572" u="none" cap="none" strike="noStrike">
                <a:solidFill>
                  <a:srgbClr val="051D40"/>
                </a:solidFill>
                <a:latin typeface="DM Sans"/>
                <a:ea typeface="DM Sans"/>
                <a:cs typeface="DM Sans"/>
                <a:sym typeface="DM Sans"/>
              </a:rPr>
              <a:t>Evalúan si el sistema utiliza los recursos de manera eficiente a medida que la carga aumenta. Por ejemplo, ¿duplicar los servidores realmente duplica la capacidad?</a:t>
            </a:r>
            <a:endParaRPr b="0" i="0" sz="1400" u="none" cap="none" strike="noStrike">
              <a:solidFill>
                <a:srgbClr val="000000"/>
              </a:solidFill>
              <a:latin typeface="Arial"/>
              <a:ea typeface="Arial"/>
              <a:cs typeface="Arial"/>
              <a:sym typeface="Arial"/>
            </a:endParaRPr>
          </a:p>
        </p:txBody>
      </p:sp>
      <p:sp>
        <p:nvSpPr>
          <p:cNvPr id="561" name="Google Shape;561;p24"/>
          <p:cNvSpPr txBox="1"/>
          <p:nvPr/>
        </p:nvSpPr>
        <p:spPr>
          <a:xfrm>
            <a:off x="7045475" y="4354811"/>
            <a:ext cx="4002588" cy="1285699"/>
          </a:xfrm>
          <a:prstGeom prst="rect">
            <a:avLst/>
          </a:prstGeom>
          <a:noFill/>
          <a:ln>
            <a:noFill/>
          </a:ln>
        </p:spPr>
        <p:txBody>
          <a:bodyPr anchorCtr="0" anchor="t" bIns="0" lIns="0" spcFirstLastPara="1" rIns="0" wrap="square" tIns="0">
            <a:spAutoFit/>
          </a:bodyPr>
          <a:lstStyle/>
          <a:p>
            <a:pPr indent="0" lvl="0" marL="0" marR="0" rtl="0" algn="ctr">
              <a:lnSpc>
                <a:spcPct val="138009"/>
              </a:lnSpc>
              <a:spcBef>
                <a:spcPts val="0"/>
              </a:spcBef>
              <a:spcAft>
                <a:spcPts val="0"/>
              </a:spcAft>
              <a:buClr>
                <a:srgbClr val="000000"/>
              </a:buClr>
              <a:buSzPts val="3757"/>
              <a:buFont typeface="Arial"/>
              <a:buNone/>
            </a:pPr>
            <a:r>
              <a:rPr b="1" i="0" lang="en-US" sz="3757" u="none" cap="none" strike="noStrike">
                <a:solidFill>
                  <a:srgbClr val="F1945B"/>
                </a:solidFill>
                <a:latin typeface="DM Sans"/>
                <a:ea typeface="DM Sans"/>
                <a:cs typeface="DM Sans"/>
                <a:sym typeface="DM Sans"/>
              </a:rPr>
              <a:t>Eficiencia de los recursos</a:t>
            </a:r>
            <a:endParaRPr b="0" i="0" sz="1400" u="none" cap="none" strike="noStrike">
              <a:solidFill>
                <a:srgbClr val="000000"/>
              </a:solidFill>
              <a:latin typeface="Arial"/>
              <a:ea typeface="Arial"/>
              <a:cs typeface="Arial"/>
              <a:sym typeface="Arial"/>
            </a:endParaRPr>
          </a:p>
        </p:txBody>
      </p:sp>
      <p:sp>
        <p:nvSpPr>
          <p:cNvPr id="562" name="Google Shape;562;p24"/>
          <p:cNvSpPr txBox="1"/>
          <p:nvPr/>
        </p:nvSpPr>
        <p:spPr>
          <a:xfrm>
            <a:off x="11765334" y="5729199"/>
            <a:ext cx="4002588" cy="1023617"/>
          </a:xfrm>
          <a:prstGeom prst="rect">
            <a:avLst/>
          </a:prstGeom>
          <a:noFill/>
          <a:ln>
            <a:noFill/>
          </a:ln>
        </p:spPr>
        <p:txBody>
          <a:bodyPr anchorCtr="0" anchor="t" bIns="0" lIns="0" spcFirstLastPara="1" rIns="0" wrap="square" tIns="0">
            <a:spAutoFit/>
          </a:bodyPr>
          <a:lstStyle/>
          <a:p>
            <a:pPr indent="0" lvl="0" marL="0" marR="0" rtl="0" algn="ctr">
              <a:lnSpc>
                <a:spcPct val="137975"/>
              </a:lnSpc>
              <a:spcBef>
                <a:spcPts val="0"/>
              </a:spcBef>
              <a:spcAft>
                <a:spcPts val="0"/>
              </a:spcAft>
              <a:buClr>
                <a:srgbClr val="000000"/>
              </a:buClr>
              <a:buSzPts val="1472"/>
              <a:buFont typeface="Arial"/>
              <a:buNone/>
            </a:pPr>
            <a:r>
              <a:rPr b="0" i="0" lang="en-US" sz="1472" u="none" cap="none" strike="noStrike">
                <a:solidFill>
                  <a:srgbClr val="051D40"/>
                </a:solidFill>
                <a:latin typeface="DM Sans"/>
                <a:ea typeface="DM Sans"/>
                <a:cs typeface="DM Sans"/>
                <a:sym typeface="DM Sans"/>
              </a:rPr>
              <a:t>Ayudan a identificar componentes (como la base de datos, la red o un servidor específico) que impiden que el sistema escale correctamente.</a:t>
            </a:r>
            <a:endParaRPr b="0" i="0" sz="1400" u="none" cap="none" strike="noStrike">
              <a:solidFill>
                <a:srgbClr val="000000"/>
              </a:solidFill>
              <a:latin typeface="Arial"/>
              <a:ea typeface="Arial"/>
              <a:cs typeface="Arial"/>
              <a:sym typeface="Arial"/>
            </a:endParaRPr>
          </a:p>
        </p:txBody>
      </p:sp>
      <p:sp>
        <p:nvSpPr>
          <p:cNvPr id="563" name="Google Shape;563;p24"/>
          <p:cNvSpPr txBox="1"/>
          <p:nvPr/>
        </p:nvSpPr>
        <p:spPr>
          <a:xfrm>
            <a:off x="11750229" y="4570266"/>
            <a:ext cx="4002588" cy="628474"/>
          </a:xfrm>
          <a:prstGeom prst="rect">
            <a:avLst/>
          </a:prstGeom>
          <a:noFill/>
          <a:ln>
            <a:noFill/>
          </a:ln>
        </p:spPr>
        <p:txBody>
          <a:bodyPr anchorCtr="0" anchor="t" bIns="0" lIns="0" spcFirstLastPara="1" rIns="0" wrap="square" tIns="0">
            <a:spAutoFit/>
          </a:bodyPr>
          <a:lstStyle/>
          <a:p>
            <a:pPr indent="0" lvl="0" marL="0" marR="0" rtl="0" algn="ctr">
              <a:lnSpc>
                <a:spcPct val="138009"/>
              </a:lnSpc>
              <a:spcBef>
                <a:spcPts val="0"/>
              </a:spcBef>
              <a:spcAft>
                <a:spcPts val="0"/>
              </a:spcAft>
              <a:buClr>
                <a:srgbClr val="000000"/>
              </a:buClr>
              <a:buSzPts val="3757"/>
              <a:buFont typeface="Arial"/>
              <a:buNone/>
            </a:pPr>
            <a:r>
              <a:rPr b="1" i="0" lang="en-US" sz="3757" u="none" cap="none" strike="noStrike">
                <a:solidFill>
                  <a:srgbClr val="1C5739"/>
                </a:solidFill>
                <a:latin typeface="DM Sans"/>
                <a:ea typeface="DM Sans"/>
                <a:cs typeface="DM Sans"/>
                <a:sym typeface="DM Sans"/>
              </a:rPr>
              <a:t>Cuellos de botella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567" name="Shape 567"/>
        <p:cNvGrpSpPr/>
        <p:nvPr/>
      </p:nvGrpSpPr>
      <p:grpSpPr>
        <a:xfrm>
          <a:off x="0" y="0"/>
          <a:ext cx="0" cy="0"/>
          <a:chOff x="0" y="0"/>
          <a:chExt cx="0" cy="0"/>
        </a:xfrm>
      </p:grpSpPr>
      <p:grpSp>
        <p:nvGrpSpPr>
          <p:cNvPr id="568" name="Google Shape;568;p25"/>
          <p:cNvGrpSpPr/>
          <p:nvPr/>
        </p:nvGrpSpPr>
        <p:grpSpPr>
          <a:xfrm>
            <a:off x="6723272" y="2035179"/>
            <a:ext cx="4161751" cy="1246529"/>
            <a:chOff x="0" y="-38100"/>
            <a:chExt cx="2565722" cy="768486"/>
          </a:xfrm>
        </p:grpSpPr>
        <p:sp>
          <p:nvSpPr>
            <p:cNvPr id="569" name="Google Shape;569;p25"/>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145DA0"/>
            </a:solidFill>
            <a:ln>
              <a:noFill/>
            </a:ln>
          </p:spPr>
        </p:sp>
        <p:sp>
          <p:nvSpPr>
            <p:cNvPr id="570" name="Google Shape;570;p25"/>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71" name="Google Shape;571;p25"/>
          <p:cNvGrpSpPr/>
          <p:nvPr/>
        </p:nvGrpSpPr>
        <p:grpSpPr>
          <a:xfrm rot="10800000">
            <a:off x="5756860" y="3281708"/>
            <a:ext cx="4161751" cy="1246529"/>
            <a:chOff x="0" y="-38100"/>
            <a:chExt cx="2565722" cy="768486"/>
          </a:xfrm>
        </p:grpSpPr>
        <p:sp>
          <p:nvSpPr>
            <p:cNvPr id="572" name="Google Shape;572;p25"/>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0071C9"/>
            </a:solidFill>
            <a:ln>
              <a:noFill/>
            </a:ln>
          </p:spPr>
        </p:sp>
        <p:sp>
          <p:nvSpPr>
            <p:cNvPr id="573" name="Google Shape;573;p25"/>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74" name="Google Shape;574;p25"/>
          <p:cNvGrpSpPr/>
          <p:nvPr/>
        </p:nvGrpSpPr>
        <p:grpSpPr>
          <a:xfrm>
            <a:off x="7387678" y="4404636"/>
            <a:ext cx="4161751" cy="1246529"/>
            <a:chOff x="0" y="-38100"/>
            <a:chExt cx="2565722" cy="768486"/>
          </a:xfrm>
        </p:grpSpPr>
        <p:sp>
          <p:nvSpPr>
            <p:cNvPr id="575" name="Google Shape;575;p25"/>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56AEFF"/>
            </a:solidFill>
            <a:ln>
              <a:noFill/>
            </a:ln>
          </p:spPr>
        </p:sp>
        <p:sp>
          <p:nvSpPr>
            <p:cNvPr id="576" name="Google Shape;576;p25"/>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77" name="Google Shape;577;p25"/>
          <p:cNvGrpSpPr/>
          <p:nvPr/>
        </p:nvGrpSpPr>
        <p:grpSpPr>
          <a:xfrm rot="10800000">
            <a:off x="6421266" y="5651165"/>
            <a:ext cx="4161751" cy="1246529"/>
            <a:chOff x="0" y="-38100"/>
            <a:chExt cx="2565722" cy="768486"/>
          </a:xfrm>
        </p:grpSpPr>
        <p:sp>
          <p:nvSpPr>
            <p:cNvPr id="578" name="Google Shape;578;p25"/>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4BD1FB"/>
            </a:solidFill>
            <a:ln>
              <a:noFill/>
            </a:ln>
          </p:spPr>
        </p:sp>
        <p:sp>
          <p:nvSpPr>
            <p:cNvPr id="579" name="Google Shape;579;p25"/>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80" name="Google Shape;580;p25"/>
          <p:cNvSpPr txBox="1"/>
          <p:nvPr/>
        </p:nvSpPr>
        <p:spPr>
          <a:xfrm>
            <a:off x="6421266" y="3224558"/>
            <a:ext cx="3085974" cy="1285699"/>
          </a:xfrm>
          <a:prstGeom prst="rect">
            <a:avLst/>
          </a:prstGeom>
          <a:noFill/>
          <a:ln>
            <a:noFill/>
          </a:ln>
        </p:spPr>
        <p:txBody>
          <a:bodyPr anchorCtr="0" anchor="t" bIns="0" lIns="0" spcFirstLastPara="1" rIns="0" wrap="square" tIns="0">
            <a:spAutoFit/>
          </a:bodyPr>
          <a:lstStyle/>
          <a:p>
            <a:pPr indent="0" lvl="0" marL="0" marR="0" rtl="0" algn="ctr">
              <a:lnSpc>
                <a:spcPct val="138009"/>
              </a:lnSpc>
              <a:spcBef>
                <a:spcPts val="0"/>
              </a:spcBef>
              <a:spcAft>
                <a:spcPts val="0"/>
              </a:spcAft>
              <a:buClr>
                <a:srgbClr val="000000"/>
              </a:buClr>
              <a:buSzPts val="3757"/>
              <a:buFont typeface="Arial"/>
              <a:buNone/>
            </a:pPr>
            <a:r>
              <a:rPr b="1" i="0" lang="en-US" sz="3757" u="none" cap="none" strike="noStrike">
                <a:solidFill>
                  <a:srgbClr val="051D40"/>
                </a:solidFill>
                <a:latin typeface="DM Sans"/>
                <a:ea typeface="DM Sans"/>
                <a:cs typeface="DM Sans"/>
                <a:sym typeface="DM Sans"/>
              </a:rPr>
              <a:t>Incrementar la carga</a:t>
            </a:r>
            <a:endParaRPr b="0" i="0" sz="1400" u="none" cap="none" strike="noStrike">
              <a:solidFill>
                <a:srgbClr val="000000"/>
              </a:solidFill>
              <a:latin typeface="Arial"/>
              <a:ea typeface="Arial"/>
              <a:cs typeface="Arial"/>
              <a:sym typeface="Arial"/>
            </a:endParaRPr>
          </a:p>
        </p:txBody>
      </p:sp>
      <p:sp>
        <p:nvSpPr>
          <p:cNvPr id="581" name="Google Shape;581;p25"/>
          <p:cNvSpPr/>
          <p:nvPr/>
        </p:nvSpPr>
        <p:spPr>
          <a:xfrm>
            <a:off x="6694069" y="3428600"/>
            <a:ext cx="821455" cy="821455"/>
          </a:xfrm>
          <a:custGeom>
            <a:rect b="b" l="l" r="r" t="t"/>
            <a:pathLst>
              <a:path extrusionOk="0" h="821455" w="821455">
                <a:moveTo>
                  <a:pt x="0" y="0"/>
                </a:moveTo>
                <a:lnTo>
                  <a:pt x="821455" y="0"/>
                </a:lnTo>
                <a:lnTo>
                  <a:pt x="821455" y="821455"/>
                </a:lnTo>
                <a:lnTo>
                  <a:pt x="0" y="821455"/>
                </a:lnTo>
                <a:lnTo>
                  <a:pt x="0" y="0"/>
                </a:lnTo>
                <a:close/>
              </a:path>
            </a:pathLst>
          </a:custGeom>
          <a:blipFill rotWithShape="1">
            <a:blip r:embed="rId3">
              <a:alphaModFix/>
            </a:blip>
            <a:stretch>
              <a:fillRect b="0" l="0" r="0" t="0"/>
            </a:stretch>
          </a:blipFill>
          <a:ln>
            <a:noFill/>
          </a:ln>
        </p:spPr>
      </p:sp>
      <p:sp>
        <p:nvSpPr>
          <p:cNvPr id="582" name="Google Shape;582;p25"/>
          <p:cNvSpPr txBox="1"/>
          <p:nvPr/>
        </p:nvSpPr>
        <p:spPr>
          <a:xfrm>
            <a:off x="6916181" y="2426733"/>
            <a:ext cx="3775934" cy="477597"/>
          </a:xfrm>
          <a:prstGeom prst="rect">
            <a:avLst/>
          </a:prstGeom>
          <a:noFill/>
          <a:ln>
            <a:noFill/>
          </a:ln>
        </p:spPr>
        <p:txBody>
          <a:bodyPr anchorCtr="0" anchor="t" bIns="0" lIns="0" spcFirstLastPara="1" rIns="0" wrap="square" tIns="0">
            <a:spAutoFit/>
          </a:bodyPr>
          <a:lstStyle/>
          <a:p>
            <a:pPr indent="0" lvl="0" marL="0" marR="0" rtl="0" algn="ctr">
              <a:lnSpc>
                <a:spcPct val="138011"/>
              </a:lnSpc>
              <a:spcBef>
                <a:spcPts val="0"/>
              </a:spcBef>
              <a:spcAft>
                <a:spcPts val="0"/>
              </a:spcAft>
              <a:buClr>
                <a:srgbClr val="000000"/>
              </a:buClr>
              <a:buSzPts val="2857"/>
              <a:buFont typeface="Arial"/>
              <a:buNone/>
            </a:pPr>
            <a:r>
              <a:rPr b="1" i="0" lang="en-US" sz="2857" u="none" cap="none" strike="noStrike">
                <a:solidFill>
                  <a:srgbClr val="051D40"/>
                </a:solidFill>
                <a:latin typeface="DM Sans"/>
                <a:ea typeface="DM Sans"/>
                <a:cs typeface="DM Sans"/>
                <a:sym typeface="DM Sans"/>
              </a:rPr>
              <a:t>Definir el límite</a:t>
            </a:r>
            <a:endParaRPr b="0" i="0" sz="1400" u="none" cap="none" strike="noStrike">
              <a:solidFill>
                <a:srgbClr val="000000"/>
              </a:solidFill>
              <a:latin typeface="Arial"/>
              <a:ea typeface="Arial"/>
              <a:cs typeface="Arial"/>
              <a:sym typeface="Arial"/>
            </a:endParaRPr>
          </a:p>
        </p:txBody>
      </p:sp>
      <p:sp>
        <p:nvSpPr>
          <p:cNvPr id="583" name="Google Shape;583;p25"/>
          <p:cNvSpPr txBox="1"/>
          <p:nvPr/>
        </p:nvSpPr>
        <p:spPr>
          <a:xfrm>
            <a:off x="1313374" y="309508"/>
            <a:ext cx="13726645" cy="730377"/>
          </a:xfrm>
          <a:prstGeom prst="rect">
            <a:avLst/>
          </a:prstGeom>
          <a:noFill/>
          <a:ln>
            <a:noFill/>
          </a:ln>
        </p:spPr>
        <p:txBody>
          <a:bodyPr anchorCtr="0" anchor="t" bIns="0" lIns="0" spcFirstLastPara="1" rIns="0" wrap="square" tIns="0">
            <a:spAutoFit/>
          </a:bodyPr>
          <a:lstStyle/>
          <a:p>
            <a:pPr indent="0" lvl="0" marL="0" marR="0" rtl="0" algn="l">
              <a:lnSpc>
                <a:spcPct val="138000"/>
              </a:lnSpc>
              <a:spcBef>
                <a:spcPts val="0"/>
              </a:spcBef>
              <a:spcAft>
                <a:spcPts val="0"/>
              </a:spcAft>
              <a:buClr>
                <a:srgbClr val="000000"/>
              </a:buClr>
              <a:buSzPts val="4300"/>
              <a:buFont typeface="Arial"/>
              <a:buNone/>
            </a:pPr>
            <a:r>
              <a:rPr b="1" i="0" lang="en-US" sz="4300" u="none" cap="none" strike="noStrike">
                <a:solidFill>
                  <a:srgbClr val="FFFFFF"/>
                </a:solidFill>
                <a:latin typeface="DM Sans"/>
                <a:ea typeface="DM Sans"/>
                <a:cs typeface="DM Sans"/>
                <a:sym typeface="DM Sans"/>
              </a:rPr>
              <a:t>¿Cómo se realizan?</a:t>
            </a:r>
            <a:endParaRPr b="0" i="0" sz="1400" u="none" cap="none" strike="noStrike">
              <a:solidFill>
                <a:srgbClr val="000000"/>
              </a:solidFill>
              <a:latin typeface="Arial"/>
              <a:ea typeface="Arial"/>
              <a:cs typeface="Arial"/>
              <a:sym typeface="Arial"/>
            </a:endParaRPr>
          </a:p>
        </p:txBody>
      </p:sp>
      <p:sp>
        <p:nvSpPr>
          <p:cNvPr id="584" name="Google Shape;584;p25"/>
          <p:cNvSpPr txBox="1"/>
          <p:nvPr/>
        </p:nvSpPr>
        <p:spPr>
          <a:xfrm>
            <a:off x="7837736" y="4418811"/>
            <a:ext cx="3538773" cy="972897"/>
          </a:xfrm>
          <a:prstGeom prst="rect">
            <a:avLst/>
          </a:prstGeom>
          <a:noFill/>
          <a:ln>
            <a:noFill/>
          </a:ln>
        </p:spPr>
        <p:txBody>
          <a:bodyPr anchorCtr="0" anchor="t" bIns="0" lIns="0" spcFirstLastPara="1" rIns="0" wrap="square" tIns="0">
            <a:spAutoFit/>
          </a:bodyPr>
          <a:lstStyle/>
          <a:p>
            <a:pPr indent="0" lvl="0" marL="0" marR="0" rtl="0" algn="ctr">
              <a:lnSpc>
                <a:spcPct val="138011"/>
              </a:lnSpc>
              <a:spcBef>
                <a:spcPts val="0"/>
              </a:spcBef>
              <a:spcAft>
                <a:spcPts val="0"/>
              </a:spcAft>
              <a:buClr>
                <a:srgbClr val="000000"/>
              </a:buClr>
              <a:buSzPts val="2857"/>
              <a:buFont typeface="Arial"/>
              <a:buNone/>
            </a:pPr>
            <a:r>
              <a:rPr b="1" i="0" lang="en-US" sz="2857" u="none" cap="none" strike="noStrike">
                <a:solidFill>
                  <a:srgbClr val="051D40"/>
                </a:solidFill>
                <a:latin typeface="DM Sans"/>
                <a:ea typeface="DM Sans"/>
                <a:cs typeface="DM Sans"/>
                <a:sym typeface="DM Sans"/>
              </a:rPr>
              <a:t>Monitorear el rendimiento</a:t>
            </a:r>
            <a:endParaRPr b="0" i="0" sz="1400" u="none" cap="none" strike="noStrike">
              <a:solidFill>
                <a:srgbClr val="000000"/>
              </a:solidFill>
              <a:latin typeface="Arial"/>
              <a:ea typeface="Arial"/>
              <a:cs typeface="Arial"/>
              <a:sym typeface="Arial"/>
            </a:endParaRPr>
          </a:p>
        </p:txBody>
      </p:sp>
      <p:sp>
        <p:nvSpPr>
          <p:cNvPr id="585" name="Google Shape;585;p25"/>
          <p:cNvSpPr txBox="1"/>
          <p:nvPr/>
        </p:nvSpPr>
        <p:spPr>
          <a:xfrm>
            <a:off x="6611281" y="5687929"/>
            <a:ext cx="3971737" cy="1054050"/>
          </a:xfrm>
          <a:prstGeom prst="rect">
            <a:avLst/>
          </a:prstGeom>
          <a:noFill/>
          <a:ln>
            <a:noFill/>
          </a:ln>
        </p:spPr>
        <p:txBody>
          <a:bodyPr anchorCtr="0" anchor="t" bIns="0" lIns="0" spcFirstLastPara="1" rIns="0" wrap="square" tIns="0">
            <a:spAutoFit/>
          </a:bodyPr>
          <a:lstStyle/>
          <a:p>
            <a:pPr indent="0" lvl="0" marL="0" marR="0" rtl="0" algn="ctr">
              <a:lnSpc>
                <a:spcPct val="138011"/>
              </a:lnSpc>
              <a:spcBef>
                <a:spcPts val="0"/>
              </a:spcBef>
              <a:spcAft>
                <a:spcPts val="0"/>
              </a:spcAft>
              <a:buClr>
                <a:srgbClr val="000000"/>
              </a:buClr>
              <a:buSzPts val="3057"/>
              <a:buFont typeface="Arial"/>
              <a:buNone/>
            </a:pPr>
            <a:r>
              <a:rPr b="1" i="0" lang="en-US" sz="3057" u="none" cap="none" strike="noStrike">
                <a:solidFill>
                  <a:srgbClr val="051D40"/>
                </a:solidFill>
                <a:latin typeface="DM Sans"/>
                <a:ea typeface="DM Sans"/>
                <a:cs typeface="DM Sans"/>
                <a:sym typeface="DM Sans"/>
              </a:rPr>
              <a:t>Identificar el punto de inflexión</a:t>
            </a:r>
            <a:endParaRPr b="0" i="0" sz="1400" u="none" cap="none" strike="noStrike">
              <a:solidFill>
                <a:srgbClr val="000000"/>
              </a:solidFill>
              <a:latin typeface="Arial"/>
              <a:ea typeface="Arial"/>
              <a:cs typeface="Arial"/>
              <a:sym typeface="Arial"/>
            </a:endParaRPr>
          </a:p>
        </p:txBody>
      </p:sp>
      <p:sp>
        <p:nvSpPr>
          <p:cNvPr id="586" name="Google Shape;586;p25"/>
          <p:cNvSpPr txBox="1"/>
          <p:nvPr/>
        </p:nvSpPr>
        <p:spPr>
          <a:xfrm>
            <a:off x="1028700" y="2652555"/>
            <a:ext cx="4490889" cy="2162494"/>
          </a:xfrm>
          <a:prstGeom prst="rect">
            <a:avLst/>
          </a:prstGeom>
          <a:noFill/>
          <a:ln>
            <a:noFill/>
          </a:ln>
        </p:spPr>
        <p:txBody>
          <a:bodyPr anchorCtr="0" anchor="t" bIns="0" lIns="0" spcFirstLastPara="1" rIns="0" wrap="square" tIns="0">
            <a:spAutoFit/>
          </a:bodyPr>
          <a:lstStyle/>
          <a:p>
            <a:pPr indent="0" lvl="0" marL="0" marR="0" rtl="0" algn="r">
              <a:lnSpc>
                <a:spcPct val="137989"/>
              </a:lnSpc>
              <a:spcBef>
                <a:spcPts val="0"/>
              </a:spcBef>
              <a:spcAft>
                <a:spcPts val="0"/>
              </a:spcAft>
              <a:buClr>
                <a:srgbClr val="000000"/>
              </a:buClr>
              <a:buSzPts val="2069"/>
              <a:buFont typeface="Arial"/>
              <a:buNone/>
            </a:pPr>
            <a:r>
              <a:rPr b="0" i="0" lang="en-US" sz="2069" u="none" cap="none" strike="noStrike">
                <a:solidFill>
                  <a:srgbClr val="FFFFFF"/>
                </a:solidFill>
                <a:latin typeface="DM Sans"/>
                <a:ea typeface="DM Sans"/>
                <a:cs typeface="DM Sans"/>
                <a:sym typeface="DM Sans"/>
              </a:rPr>
              <a:t>La prueba se inicia con una carga baja y se va aumentando de manera constante y controlada. Esto puede hacerse añadiendo más usuarios virtuales o más transacciones por segundo.</a:t>
            </a:r>
            <a:endParaRPr b="0" i="0" sz="1400" u="none" cap="none" strike="noStrike">
              <a:solidFill>
                <a:srgbClr val="000000"/>
              </a:solidFill>
              <a:latin typeface="Arial"/>
              <a:ea typeface="Arial"/>
              <a:cs typeface="Arial"/>
              <a:sym typeface="Arial"/>
            </a:endParaRPr>
          </a:p>
        </p:txBody>
      </p:sp>
      <p:sp>
        <p:nvSpPr>
          <p:cNvPr id="587" name="Google Shape;587;p25"/>
          <p:cNvSpPr txBox="1"/>
          <p:nvPr/>
        </p:nvSpPr>
        <p:spPr>
          <a:xfrm>
            <a:off x="1617350" y="5613065"/>
            <a:ext cx="4372865" cy="2162494"/>
          </a:xfrm>
          <a:prstGeom prst="rect">
            <a:avLst/>
          </a:prstGeom>
          <a:noFill/>
          <a:ln>
            <a:noFill/>
          </a:ln>
        </p:spPr>
        <p:txBody>
          <a:bodyPr anchorCtr="0" anchor="t" bIns="0" lIns="0" spcFirstLastPara="1" rIns="0" wrap="square" tIns="0">
            <a:spAutoFit/>
          </a:bodyPr>
          <a:lstStyle/>
          <a:p>
            <a:pPr indent="0" lvl="0" marL="0" marR="0" rtl="0" algn="r">
              <a:lnSpc>
                <a:spcPct val="137989"/>
              </a:lnSpc>
              <a:spcBef>
                <a:spcPts val="0"/>
              </a:spcBef>
              <a:spcAft>
                <a:spcPts val="0"/>
              </a:spcAft>
              <a:buClr>
                <a:srgbClr val="000000"/>
              </a:buClr>
              <a:buSzPts val="2069"/>
              <a:buFont typeface="Arial"/>
              <a:buNone/>
            </a:pPr>
            <a:r>
              <a:rPr b="0" i="0" lang="en-US" sz="2069" u="none" cap="none" strike="noStrike">
                <a:solidFill>
                  <a:srgbClr val="FFFFFF"/>
                </a:solidFill>
                <a:latin typeface="DM Sans"/>
                <a:ea typeface="DM Sans"/>
                <a:cs typeface="DM Sans"/>
                <a:sym typeface="DM Sans"/>
              </a:rPr>
              <a:t>Se observa el punto en el que el rendimiento comienza a degradarse. Este es el punto de inflexión de la escalabilidad, más allá del cual el sistema ya no puede crecer de manera eficiente.</a:t>
            </a:r>
            <a:endParaRPr b="0" i="0" sz="1400" u="none" cap="none" strike="noStrike">
              <a:solidFill>
                <a:srgbClr val="000000"/>
              </a:solidFill>
              <a:latin typeface="Arial"/>
              <a:ea typeface="Arial"/>
              <a:cs typeface="Arial"/>
              <a:sym typeface="Arial"/>
            </a:endParaRPr>
          </a:p>
        </p:txBody>
      </p:sp>
      <p:sp>
        <p:nvSpPr>
          <p:cNvPr id="588" name="Google Shape;588;p25"/>
          <p:cNvSpPr/>
          <p:nvPr/>
        </p:nvSpPr>
        <p:spPr>
          <a:xfrm>
            <a:off x="-2519628" y="7712017"/>
            <a:ext cx="6602062" cy="6602062"/>
          </a:xfrm>
          <a:custGeom>
            <a:rect b="b" l="l" r="r" t="t"/>
            <a:pathLst>
              <a:path extrusionOk="0" h="6602062" w="6602062">
                <a:moveTo>
                  <a:pt x="0" y="0"/>
                </a:moveTo>
                <a:lnTo>
                  <a:pt x="6602062" y="0"/>
                </a:lnTo>
                <a:lnTo>
                  <a:pt x="6602062" y="6602062"/>
                </a:lnTo>
                <a:lnTo>
                  <a:pt x="0" y="6602062"/>
                </a:lnTo>
                <a:lnTo>
                  <a:pt x="0" y="0"/>
                </a:lnTo>
                <a:close/>
              </a:path>
            </a:pathLst>
          </a:custGeom>
          <a:blipFill rotWithShape="1">
            <a:blip r:embed="rId4">
              <a:alphaModFix/>
            </a:blip>
            <a:stretch>
              <a:fillRect b="0" l="0" r="0" t="0"/>
            </a:stretch>
          </a:blipFill>
          <a:ln>
            <a:noFill/>
          </a:ln>
        </p:spPr>
      </p:sp>
      <p:sp>
        <p:nvSpPr>
          <p:cNvPr id="589" name="Google Shape;589;p25"/>
          <p:cNvSpPr/>
          <p:nvPr/>
        </p:nvSpPr>
        <p:spPr>
          <a:xfrm rot="10436461">
            <a:off x="14111851" y="-3920191"/>
            <a:ext cx="6294897" cy="6294897"/>
          </a:xfrm>
          <a:custGeom>
            <a:rect b="b" l="l" r="r" t="t"/>
            <a:pathLst>
              <a:path extrusionOk="0" h="6294897" w="6294897">
                <a:moveTo>
                  <a:pt x="0" y="0"/>
                </a:moveTo>
                <a:lnTo>
                  <a:pt x="6294898" y="0"/>
                </a:lnTo>
                <a:lnTo>
                  <a:pt x="6294898" y="6294898"/>
                </a:lnTo>
                <a:lnTo>
                  <a:pt x="0" y="6294898"/>
                </a:lnTo>
                <a:lnTo>
                  <a:pt x="0" y="0"/>
                </a:lnTo>
                <a:close/>
              </a:path>
            </a:pathLst>
          </a:custGeom>
          <a:blipFill rotWithShape="1">
            <a:blip r:embed="rId4">
              <a:alphaModFix/>
            </a:blip>
            <a:stretch>
              <a:fillRect b="0" l="0" r="0" t="0"/>
            </a:stretch>
          </a:blipFill>
          <a:ln>
            <a:noFill/>
          </a:ln>
        </p:spPr>
      </p:sp>
      <p:sp>
        <p:nvSpPr>
          <p:cNvPr id="590" name="Google Shape;590;p25"/>
          <p:cNvSpPr txBox="1"/>
          <p:nvPr/>
        </p:nvSpPr>
        <p:spPr>
          <a:xfrm>
            <a:off x="11376508" y="1392418"/>
            <a:ext cx="4998190" cy="2125779"/>
          </a:xfrm>
          <a:prstGeom prst="rect">
            <a:avLst/>
          </a:prstGeom>
          <a:noFill/>
          <a:ln>
            <a:noFill/>
          </a:ln>
        </p:spPr>
        <p:txBody>
          <a:bodyPr anchorCtr="0" anchor="t" bIns="0" lIns="0" spcFirstLastPara="1" rIns="0" wrap="square" tIns="0">
            <a:spAutoFit/>
          </a:bodyPr>
          <a:lstStyle/>
          <a:p>
            <a:pPr indent="0" lvl="0" marL="0" marR="0" rtl="0" algn="l">
              <a:lnSpc>
                <a:spcPct val="137989"/>
              </a:lnSpc>
              <a:spcBef>
                <a:spcPts val="0"/>
              </a:spcBef>
              <a:spcAft>
                <a:spcPts val="0"/>
              </a:spcAft>
              <a:buClr>
                <a:srgbClr val="000000"/>
              </a:buClr>
              <a:buSzPts val="2069"/>
              <a:buFont typeface="Arial"/>
              <a:buNone/>
            </a:pPr>
            <a:r>
              <a:rPr b="0" i="0" lang="en-US" sz="2069" u="none" cap="none" strike="noStrike">
                <a:solidFill>
                  <a:srgbClr val="FFFFFF"/>
                </a:solidFill>
                <a:latin typeface="DM Sans"/>
                <a:ea typeface="DM Sans"/>
                <a:cs typeface="DM Sans"/>
                <a:sym typeface="DM Sans"/>
              </a:rPr>
              <a:t>Se establecen métricas de rendimiento y se define el objetivo de escalabilidad. Por ejemplo, "el sistema debe soportar 1 millón de usuarios registrados sin que el tiempo de respuesta de la página de inicio de sesión exceda los 500 ms".</a:t>
            </a:r>
            <a:endParaRPr b="0" i="0" sz="1400" u="none" cap="none" strike="noStrike">
              <a:solidFill>
                <a:srgbClr val="000000"/>
              </a:solidFill>
              <a:latin typeface="Arial"/>
              <a:ea typeface="Arial"/>
              <a:cs typeface="Arial"/>
              <a:sym typeface="Arial"/>
            </a:endParaRPr>
          </a:p>
        </p:txBody>
      </p:sp>
      <p:sp>
        <p:nvSpPr>
          <p:cNvPr id="591" name="Google Shape;591;p25"/>
          <p:cNvSpPr txBox="1"/>
          <p:nvPr/>
        </p:nvSpPr>
        <p:spPr>
          <a:xfrm>
            <a:off x="11701829" y="4211955"/>
            <a:ext cx="5094207" cy="1614196"/>
          </a:xfrm>
          <a:prstGeom prst="rect">
            <a:avLst/>
          </a:prstGeom>
          <a:noFill/>
          <a:ln>
            <a:noFill/>
          </a:ln>
        </p:spPr>
        <p:txBody>
          <a:bodyPr anchorCtr="0" anchor="t" bIns="0" lIns="0" spcFirstLastPara="1" rIns="0" wrap="square" tIns="0">
            <a:spAutoFit/>
          </a:bodyPr>
          <a:lstStyle/>
          <a:p>
            <a:pPr indent="0" lvl="0" marL="0" marR="0" rtl="0" algn="ctr">
              <a:lnSpc>
                <a:spcPct val="138049"/>
              </a:lnSpc>
              <a:spcBef>
                <a:spcPts val="0"/>
              </a:spcBef>
              <a:spcAft>
                <a:spcPts val="0"/>
              </a:spcAft>
              <a:buClr>
                <a:srgbClr val="000000"/>
              </a:buClr>
              <a:buSzPts val="1887"/>
              <a:buFont typeface="Arial"/>
              <a:buNone/>
            </a:pPr>
            <a:r>
              <a:rPr b="0" i="0" lang="en-US" sz="1887" u="none" cap="none" strike="noStrike">
                <a:solidFill>
                  <a:srgbClr val="F5FFF5"/>
                </a:solidFill>
                <a:latin typeface="DM Sans"/>
                <a:ea typeface="DM Sans"/>
                <a:cs typeface="DM Sans"/>
                <a:sym typeface="DM Sans"/>
              </a:rPr>
              <a:t>Durante todo el proceso, se monitorean las métricas clave de rendimiento (como el tiempo de respuesta y la utilización de recursos del servidor) para ver cómo se comportan a medida que la carga aumenta.</a:t>
            </a:r>
            <a:endParaRPr b="0" i="0" sz="1400" u="none" cap="none" strike="noStrike">
              <a:solidFill>
                <a:srgbClr val="000000"/>
              </a:solidFill>
              <a:latin typeface="Arial"/>
              <a:ea typeface="Arial"/>
              <a:cs typeface="Arial"/>
              <a:sym typeface="Arial"/>
            </a:endParaRPr>
          </a:p>
        </p:txBody>
      </p:sp>
      <p:grpSp>
        <p:nvGrpSpPr>
          <p:cNvPr id="592" name="Google Shape;592;p25"/>
          <p:cNvGrpSpPr/>
          <p:nvPr/>
        </p:nvGrpSpPr>
        <p:grpSpPr>
          <a:xfrm>
            <a:off x="7515524" y="6793144"/>
            <a:ext cx="4161751" cy="1246529"/>
            <a:chOff x="0" y="-38100"/>
            <a:chExt cx="2565722" cy="768486"/>
          </a:xfrm>
        </p:grpSpPr>
        <p:sp>
          <p:nvSpPr>
            <p:cNvPr id="593" name="Google Shape;593;p25"/>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56AEFF"/>
            </a:solidFill>
            <a:ln>
              <a:noFill/>
            </a:ln>
          </p:spPr>
        </p:sp>
        <p:sp>
          <p:nvSpPr>
            <p:cNvPr id="594" name="Google Shape;594;p25"/>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95" name="Google Shape;595;p25"/>
          <p:cNvSpPr txBox="1"/>
          <p:nvPr/>
        </p:nvSpPr>
        <p:spPr>
          <a:xfrm>
            <a:off x="7964253" y="7184697"/>
            <a:ext cx="3538773" cy="477597"/>
          </a:xfrm>
          <a:prstGeom prst="rect">
            <a:avLst/>
          </a:prstGeom>
          <a:noFill/>
          <a:ln>
            <a:noFill/>
          </a:ln>
        </p:spPr>
        <p:txBody>
          <a:bodyPr anchorCtr="0" anchor="t" bIns="0" lIns="0" spcFirstLastPara="1" rIns="0" wrap="square" tIns="0">
            <a:spAutoFit/>
          </a:bodyPr>
          <a:lstStyle/>
          <a:p>
            <a:pPr indent="0" lvl="0" marL="0" marR="0" rtl="0" algn="ctr">
              <a:lnSpc>
                <a:spcPct val="138011"/>
              </a:lnSpc>
              <a:spcBef>
                <a:spcPts val="0"/>
              </a:spcBef>
              <a:spcAft>
                <a:spcPts val="0"/>
              </a:spcAft>
              <a:buClr>
                <a:srgbClr val="000000"/>
              </a:buClr>
              <a:buSzPts val="2857"/>
              <a:buFont typeface="Arial"/>
              <a:buNone/>
            </a:pPr>
            <a:r>
              <a:rPr b="1" i="0" lang="en-US" sz="2857" u="none" cap="none" strike="noStrike">
                <a:solidFill>
                  <a:srgbClr val="051D40"/>
                </a:solidFill>
                <a:latin typeface="DM Sans"/>
                <a:ea typeface="DM Sans"/>
                <a:cs typeface="DM Sans"/>
                <a:sym typeface="DM Sans"/>
              </a:rPr>
              <a:t>Analizar y optimizar</a:t>
            </a:r>
            <a:endParaRPr b="0" i="0" sz="1400" u="none" cap="none" strike="noStrike">
              <a:solidFill>
                <a:srgbClr val="000000"/>
              </a:solidFill>
              <a:latin typeface="Arial"/>
              <a:ea typeface="Arial"/>
              <a:cs typeface="Arial"/>
              <a:sym typeface="Arial"/>
            </a:endParaRPr>
          </a:p>
        </p:txBody>
      </p:sp>
      <p:sp>
        <p:nvSpPr>
          <p:cNvPr id="596" name="Google Shape;596;p25"/>
          <p:cNvSpPr txBox="1"/>
          <p:nvPr/>
        </p:nvSpPr>
        <p:spPr>
          <a:xfrm>
            <a:off x="11905875" y="6459235"/>
            <a:ext cx="5094207" cy="1938046"/>
          </a:xfrm>
          <a:prstGeom prst="rect">
            <a:avLst/>
          </a:prstGeom>
          <a:noFill/>
          <a:ln>
            <a:noFill/>
          </a:ln>
        </p:spPr>
        <p:txBody>
          <a:bodyPr anchorCtr="0" anchor="t" bIns="0" lIns="0" spcFirstLastPara="1" rIns="0" wrap="square" tIns="0">
            <a:spAutoFit/>
          </a:bodyPr>
          <a:lstStyle/>
          <a:p>
            <a:pPr indent="0" lvl="0" marL="0" marR="0" rtl="0" algn="ctr">
              <a:lnSpc>
                <a:spcPct val="138049"/>
              </a:lnSpc>
              <a:spcBef>
                <a:spcPts val="0"/>
              </a:spcBef>
              <a:spcAft>
                <a:spcPts val="0"/>
              </a:spcAft>
              <a:buClr>
                <a:srgbClr val="000000"/>
              </a:buClr>
              <a:buSzPts val="1887"/>
              <a:buFont typeface="Arial"/>
              <a:buNone/>
            </a:pPr>
            <a:r>
              <a:rPr b="0" i="0" lang="en-US" sz="1887" u="none" cap="none" strike="noStrike">
                <a:solidFill>
                  <a:srgbClr val="F5FFF5"/>
                </a:solidFill>
                <a:latin typeface="DM Sans"/>
                <a:ea typeface="DM Sans"/>
                <a:cs typeface="DM Sans"/>
                <a:sym typeface="DM Sans"/>
              </a:rPr>
              <a:t>Con la información obtenida, se pueden tomar decisiones informadas sobre cómo optimizar la arquitectura para mejorar la escalabilidad, como optimizar consultas a la base de datos, implementar balanceadores de carga o reestructurar el código.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600" name="Shape 600"/>
        <p:cNvGrpSpPr/>
        <p:nvPr/>
      </p:nvGrpSpPr>
      <p:grpSpPr>
        <a:xfrm>
          <a:off x="0" y="0"/>
          <a:ext cx="0" cy="0"/>
          <a:chOff x="0" y="0"/>
          <a:chExt cx="0" cy="0"/>
        </a:xfrm>
      </p:grpSpPr>
      <p:sp>
        <p:nvSpPr>
          <p:cNvPr id="601" name="Google Shape;601;p26"/>
          <p:cNvSpPr txBox="1"/>
          <p:nvPr/>
        </p:nvSpPr>
        <p:spPr>
          <a:xfrm>
            <a:off x="4986640" y="4146526"/>
            <a:ext cx="8457192" cy="1057036"/>
          </a:xfrm>
          <a:prstGeom prst="rect">
            <a:avLst/>
          </a:prstGeom>
          <a:noFill/>
          <a:ln>
            <a:noFill/>
          </a:ln>
        </p:spPr>
        <p:txBody>
          <a:bodyPr anchorCtr="0" anchor="t" bIns="0" lIns="0" spcFirstLastPara="1" rIns="0" wrap="square" tIns="0">
            <a:spAutoFit/>
          </a:bodyPr>
          <a:lstStyle/>
          <a:p>
            <a:pPr indent="0" lvl="0" marL="0" marR="0" rtl="0" algn="ctr">
              <a:lnSpc>
                <a:spcPct val="120018"/>
              </a:lnSpc>
              <a:spcBef>
                <a:spcPts val="0"/>
              </a:spcBef>
              <a:spcAft>
                <a:spcPts val="0"/>
              </a:spcAft>
              <a:buClr>
                <a:srgbClr val="000000"/>
              </a:buClr>
              <a:buSzPts val="6569"/>
              <a:buFont typeface="Arial"/>
              <a:buNone/>
            </a:pPr>
            <a:r>
              <a:rPr b="0" i="0" lang="en-US" sz="6569" u="none" cap="none" strike="noStrike">
                <a:solidFill>
                  <a:srgbClr val="FFFFFF"/>
                </a:solidFill>
                <a:latin typeface="Poppins"/>
                <a:ea typeface="Poppins"/>
                <a:cs typeface="Poppins"/>
                <a:sym typeface="Poppins"/>
              </a:rPr>
              <a:t>EJEMPLO PRACTICO</a:t>
            </a:r>
            <a:endParaRPr b="0" i="0" sz="1400" u="none" cap="none" strike="noStrike">
              <a:solidFill>
                <a:srgbClr val="000000"/>
              </a:solidFill>
              <a:latin typeface="Arial"/>
              <a:ea typeface="Arial"/>
              <a:cs typeface="Arial"/>
              <a:sym typeface="Arial"/>
            </a:endParaRPr>
          </a:p>
        </p:txBody>
      </p:sp>
      <p:sp>
        <p:nvSpPr>
          <p:cNvPr id="602" name="Google Shape;602;p26"/>
          <p:cNvSpPr/>
          <p:nvPr/>
        </p:nvSpPr>
        <p:spPr>
          <a:xfrm>
            <a:off x="-2622339" y="7919689"/>
            <a:ext cx="6452848" cy="5596379"/>
          </a:xfrm>
          <a:custGeom>
            <a:rect b="b" l="l" r="r" t="t"/>
            <a:pathLst>
              <a:path extrusionOk="0" h="5596379" w="6452848">
                <a:moveTo>
                  <a:pt x="0" y="0"/>
                </a:moveTo>
                <a:lnTo>
                  <a:pt x="6452849" y="0"/>
                </a:lnTo>
                <a:lnTo>
                  <a:pt x="6452849" y="5596379"/>
                </a:lnTo>
                <a:lnTo>
                  <a:pt x="0" y="5596379"/>
                </a:lnTo>
                <a:lnTo>
                  <a:pt x="0" y="0"/>
                </a:lnTo>
                <a:close/>
              </a:path>
            </a:pathLst>
          </a:custGeom>
          <a:blipFill rotWithShape="1">
            <a:blip r:embed="rId3">
              <a:alphaModFix/>
            </a:blip>
            <a:stretch>
              <a:fillRect b="0" l="0" r="0" t="0"/>
            </a:stretch>
          </a:blipFill>
          <a:ln>
            <a:noFill/>
          </a:ln>
        </p:spPr>
      </p:sp>
      <p:sp>
        <p:nvSpPr>
          <p:cNvPr id="603" name="Google Shape;603;p26"/>
          <p:cNvSpPr/>
          <p:nvPr/>
        </p:nvSpPr>
        <p:spPr>
          <a:xfrm rot="10800000">
            <a:off x="13367400" y="-2798190"/>
            <a:ext cx="6452848" cy="5596379"/>
          </a:xfrm>
          <a:custGeom>
            <a:rect b="b" l="l" r="r" t="t"/>
            <a:pathLst>
              <a:path extrusionOk="0" h="5596379" w="6452848">
                <a:moveTo>
                  <a:pt x="0" y="0"/>
                </a:moveTo>
                <a:lnTo>
                  <a:pt x="6452849" y="0"/>
                </a:lnTo>
                <a:lnTo>
                  <a:pt x="6452849" y="5596380"/>
                </a:lnTo>
                <a:lnTo>
                  <a:pt x="0" y="5596380"/>
                </a:lnTo>
                <a:lnTo>
                  <a:pt x="0" y="0"/>
                </a:lnTo>
                <a:close/>
              </a:path>
            </a:pathLst>
          </a:custGeom>
          <a:blipFill rotWithShape="1">
            <a:blip r:embed="rId3">
              <a:alphaModFix/>
            </a:blip>
            <a:stretch>
              <a:fillRect b="0" l="0" r="0" t="0"/>
            </a:stretch>
          </a:blipFill>
          <a:ln>
            <a:noFill/>
          </a:ln>
        </p:spPr>
      </p:sp>
      <p:sp>
        <p:nvSpPr>
          <p:cNvPr id="604" name="Google Shape;604;p26"/>
          <p:cNvSpPr/>
          <p:nvPr/>
        </p:nvSpPr>
        <p:spPr>
          <a:xfrm>
            <a:off x="8527219" y="2541678"/>
            <a:ext cx="879643" cy="1273167"/>
          </a:xfrm>
          <a:custGeom>
            <a:rect b="b" l="l" r="r" t="t"/>
            <a:pathLst>
              <a:path extrusionOk="0" h="1273167" w="879643">
                <a:moveTo>
                  <a:pt x="0" y="0"/>
                </a:moveTo>
                <a:lnTo>
                  <a:pt x="879643" y="0"/>
                </a:lnTo>
                <a:lnTo>
                  <a:pt x="879643" y="1273167"/>
                </a:lnTo>
                <a:lnTo>
                  <a:pt x="0" y="1273167"/>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608" name="Shape 608"/>
        <p:cNvGrpSpPr/>
        <p:nvPr/>
      </p:nvGrpSpPr>
      <p:grpSpPr>
        <a:xfrm>
          <a:off x="0" y="0"/>
          <a:ext cx="0" cy="0"/>
          <a:chOff x="0" y="0"/>
          <a:chExt cx="0" cy="0"/>
        </a:xfrm>
      </p:grpSpPr>
      <p:grpSp>
        <p:nvGrpSpPr>
          <p:cNvPr id="609" name="Google Shape;609;p27"/>
          <p:cNvGrpSpPr/>
          <p:nvPr/>
        </p:nvGrpSpPr>
        <p:grpSpPr>
          <a:xfrm rot="-5400000">
            <a:off x="11338296" y="4100704"/>
            <a:ext cx="11958151" cy="2037819"/>
            <a:chOff x="0" y="-28575"/>
            <a:chExt cx="3149472" cy="536710"/>
          </a:xfrm>
        </p:grpSpPr>
        <p:sp>
          <p:nvSpPr>
            <p:cNvPr id="610" name="Google Shape;610;p27"/>
            <p:cNvSpPr/>
            <p:nvPr/>
          </p:nvSpPr>
          <p:spPr>
            <a:xfrm>
              <a:off x="0" y="0"/>
              <a:ext cx="3149472" cy="508135"/>
            </a:xfrm>
            <a:custGeom>
              <a:rect b="b" l="l" r="r" t="t"/>
              <a:pathLst>
                <a:path extrusionOk="0" h="508135" w="3149472">
                  <a:moveTo>
                    <a:pt x="0" y="0"/>
                  </a:moveTo>
                  <a:lnTo>
                    <a:pt x="3149472" y="0"/>
                  </a:lnTo>
                  <a:lnTo>
                    <a:pt x="3149472" y="508135"/>
                  </a:lnTo>
                  <a:lnTo>
                    <a:pt x="0" y="508135"/>
                  </a:lnTo>
                  <a:close/>
                </a:path>
              </a:pathLst>
            </a:custGeom>
            <a:solidFill>
              <a:srgbClr val="145DA0"/>
            </a:solidFill>
            <a:ln>
              <a:noFill/>
            </a:ln>
          </p:spPr>
        </p:sp>
        <p:sp>
          <p:nvSpPr>
            <p:cNvPr id="611" name="Google Shape;611;p27"/>
            <p:cNvSpPr txBox="1"/>
            <p:nvPr/>
          </p:nvSpPr>
          <p:spPr>
            <a:xfrm>
              <a:off x="0" y="-28575"/>
              <a:ext cx="3149472" cy="536710"/>
            </a:xfrm>
            <a:prstGeom prst="rect">
              <a:avLst/>
            </a:prstGeom>
            <a:noFill/>
            <a:ln>
              <a:noFill/>
            </a:ln>
          </p:spPr>
          <p:txBody>
            <a:bodyPr anchorCtr="0" anchor="ctr" bIns="50800" lIns="50800" spcFirstLastPara="1" rIns="50800" wrap="square" tIns="50800">
              <a:noAutofit/>
            </a:bodyPr>
            <a:lstStyle/>
            <a:p>
              <a:pPr indent="0" lvl="0" marL="0" marR="0" rtl="0" algn="ctr">
                <a:lnSpc>
                  <a:spcPct val="143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12" name="Google Shape;612;p27"/>
          <p:cNvSpPr/>
          <p:nvPr/>
        </p:nvSpPr>
        <p:spPr>
          <a:xfrm>
            <a:off x="11208957" y="-1011147"/>
            <a:ext cx="2647750" cy="2647750"/>
          </a:xfrm>
          <a:custGeom>
            <a:rect b="b" l="l" r="r" t="t"/>
            <a:pathLst>
              <a:path extrusionOk="0" h="2647750" w="2647750">
                <a:moveTo>
                  <a:pt x="0" y="0"/>
                </a:moveTo>
                <a:lnTo>
                  <a:pt x="2647750" y="0"/>
                </a:lnTo>
                <a:lnTo>
                  <a:pt x="2647750" y="2647750"/>
                </a:lnTo>
                <a:lnTo>
                  <a:pt x="0" y="2647750"/>
                </a:lnTo>
                <a:lnTo>
                  <a:pt x="0" y="0"/>
                </a:lnTo>
                <a:close/>
              </a:path>
            </a:pathLst>
          </a:custGeom>
          <a:blipFill rotWithShape="1">
            <a:blip r:embed="rId3">
              <a:alphaModFix/>
            </a:blip>
            <a:stretch>
              <a:fillRect b="0" l="0" r="0" t="0"/>
            </a:stretch>
          </a:blipFill>
          <a:ln>
            <a:noFill/>
          </a:ln>
        </p:spPr>
      </p:sp>
      <p:sp>
        <p:nvSpPr>
          <p:cNvPr id="613" name="Google Shape;613;p27"/>
          <p:cNvSpPr/>
          <p:nvPr/>
        </p:nvSpPr>
        <p:spPr>
          <a:xfrm>
            <a:off x="9852182" y="625594"/>
            <a:ext cx="7519437" cy="8987929"/>
          </a:xfrm>
          <a:custGeom>
            <a:rect b="b" l="l" r="r" t="t"/>
            <a:pathLst>
              <a:path extrusionOk="0" h="10286874" w="8606155">
                <a:moveTo>
                  <a:pt x="8606155" y="10251441"/>
                </a:moveTo>
                <a:cubicBezTo>
                  <a:pt x="8606155" y="10284588"/>
                  <a:pt x="8595487" y="10286874"/>
                  <a:pt x="8567674" y="10286874"/>
                </a:cubicBezTo>
                <a:cubicBezTo>
                  <a:pt x="5713094" y="10286239"/>
                  <a:pt x="2858643" y="10286239"/>
                  <a:pt x="4064" y="10286239"/>
                </a:cubicBezTo>
                <a:cubicBezTo>
                  <a:pt x="0" y="10272396"/>
                  <a:pt x="6350" y="10259823"/>
                  <a:pt x="9271" y="10246996"/>
                </a:cubicBezTo>
                <a:cubicBezTo>
                  <a:pt x="134747" y="9685402"/>
                  <a:pt x="260350" y="9123935"/>
                  <a:pt x="386207" y="8562467"/>
                </a:cubicBezTo>
                <a:cubicBezTo>
                  <a:pt x="565658" y="7761986"/>
                  <a:pt x="745490" y="6961633"/>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6"/>
                  <a:pt x="8605139" y="6846317"/>
                  <a:pt x="8606155" y="10251441"/>
                </a:cubicBezTo>
                <a:close/>
              </a:path>
            </a:pathLst>
          </a:custGeom>
          <a:blipFill rotWithShape="1">
            <a:blip r:embed="rId4">
              <a:alphaModFix/>
            </a:blip>
            <a:stretch>
              <a:fillRect b="-12762" l="0" r="0" t="-12763"/>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27"/>
          <p:cNvSpPr txBox="1"/>
          <p:nvPr/>
        </p:nvSpPr>
        <p:spPr>
          <a:xfrm>
            <a:off x="1028700" y="3451684"/>
            <a:ext cx="7044924" cy="116723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7268"/>
              <a:buFont typeface="Arial"/>
              <a:buNone/>
            </a:pPr>
            <a:r>
              <a:rPr b="0" i="0" lang="en-US" sz="7268" u="none" cap="none" strike="noStrike">
                <a:solidFill>
                  <a:srgbClr val="FFFBFB"/>
                </a:solidFill>
                <a:latin typeface="Poppins"/>
                <a:ea typeface="Poppins"/>
                <a:cs typeface="Poppins"/>
                <a:sym typeface="Poppins"/>
              </a:rPr>
              <a:t>PRUEBAS DE</a:t>
            </a:r>
            <a:endParaRPr b="0" i="0" sz="1400" u="none" cap="none" strike="noStrike">
              <a:solidFill>
                <a:srgbClr val="000000"/>
              </a:solidFill>
              <a:latin typeface="Arial"/>
              <a:ea typeface="Arial"/>
              <a:cs typeface="Arial"/>
              <a:sym typeface="Arial"/>
            </a:endParaRPr>
          </a:p>
        </p:txBody>
      </p:sp>
      <p:sp>
        <p:nvSpPr>
          <p:cNvPr id="615" name="Google Shape;615;p27"/>
          <p:cNvSpPr/>
          <p:nvPr/>
        </p:nvSpPr>
        <p:spPr>
          <a:xfrm>
            <a:off x="1028700" y="1136365"/>
            <a:ext cx="846187" cy="981086"/>
          </a:xfrm>
          <a:custGeom>
            <a:rect b="b" l="l" r="r" t="t"/>
            <a:pathLst>
              <a:path extrusionOk="0" h="981086" w="846187">
                <a:moveTo>
                  <a:pt x="0" y="0"/>
                </a:moveTo>
                <a:lnTo>
                  <a:pt x="846187" y="0"/>
                </a:lnTo>
                <a:lnTo>
                  <a:pt x="846187" y="981087"/>
                </a:lnTo>
                <a:lnTo>
                  <a:pt x="0" y="981087"/>
                </a:lnTo>
                <a:lnTo>
                  <a:pt x="0" y="0"/>
                </a:lnTo>
                <a:close/>
              </a:path>
            </a:pathLst>
          </a:custGeom>
          <a:blipFill rotWithShape="1">
            <a:blip r:embed="rId5">
              <a:alphaModFix/>
            </a:blip>
            <a:stretch>
              <a:fillRect b="0" l="0" r="0" t="0"/>
            </a:stretch>
          </a:blipFill>
          <a:ln>
            <a:noFill/>
          </a:ln>
        </p:spPr>
      </p:sp>
      <p:sp>
        <p:nvSpPr>
          <p:cNvPr id="616" name="Google Shape;616;p27"/>
          <p:cNvSpPr/>
          <p:nvPr/>
        </p:nvSpPr>
        <p:spPr>
          <a:xfrm>
            <a:off x="-295175" y="8630507"/>
            <a:ext cx="2647750" cy="2647750"/>
          </a:xfrm>
          <a:custGeom>
            <a:rect b="b" l="l" r="r" t="t"/>
            <a:pathLst>
              <a:path extrusionOk="0" h="2647750" w="2647750">
                <a:moveTo>
                  <a:pt x="0" y="0"/>
                </a:moveTo>
                <a:lnTo>
                  <a:pt x="2647750" y="0"/>
                </a:lnTo>
                <a:lnTo>
                  <a:pt x="2647750" y="2647751"/>
                </a:lnTo>
                <a:lnTo>
                  <a:pt x="0" y="2647751"/>
                </a:lnTo>
                <a:lnTo>
                  <a:pt x="0" y="0"/>
                </a:lnTo>
                <a:close/>
              </a:path>
            </a:pathLst>
          </a:custGeom>
          <a:blipFill rotWithShape="1">
            <a:blip r:embed="rId3">
              <a:alphaModFix/>
            </a:blip>
            <a:stretch>
              <a:fillRect b="0" l="0" r="0" t="0"/>
            </a:stretch>
          </a:blipFill>
          <a:ln>
            <a:noFill/>
          </a:ln>
        </p:spPr>
      </p:sp>
      <p:sp>
        <p:nvSpPr>
          <p:cNvPr id="617" name="Google Shape;617;p27"/>
          <p:cNvSpPr txBox="1"/>
          <p:nvPr/>
        </p:nvSpPr>
        <p:spPr>
          <a:xfrm>
            <a:off x="759681" y="4781484"/>
            <a:ext cx="11077926" cy="1880765"/>
          </a:xfrm>
          <a:prstGeom prst="rect">
            <a:avLst/>
          </a:prstGeom>
          <a:noFill/>
          <a:ln>
            <a:noFill/>
          </a:ln>
        </p:spPr>
        <p:txBody>
          <a:bodyPr anchorCtr="0" anchor="t" bIns="0" lIns="0" spcFirstLastPara="1" rIns="0" wrap="square" tIns="0">
            <a:spAutoFit/>
          </a:bodyPr>
          <a:lstStyle/>
          <a:p>
            <a:pPr indent="0" lvl="0" marL="0" marR="0" rtl="0" algn="l">
              <a:lnSpc>
                <a:spcPct val="119993"/>
              </a:lnSpc>
              <a:spcBef>
                <a:spcPts val="0"/>
              </a:spcBef>
              <a:spcAft>
                <a:spcPts val="0"/>
              </a:spcAft>
              <a:buClr>
                <a:srgbClr val="000000"/>
              </a:buClr>
              <a:buSzPts val="11729"/>
              <a:buFont typeface="Arial"/>
              <a:buNone/>
            </a:pPr>
            <a:r>
              <a:rPr b="1" i="0" lang="en-US" sz="11729" u="none" cap="none" strike="noStrike">
                <a:solidFill>
                  <a:srgbClr val="56AEFF"/>
                </a:solidFill>
                <a:latin typeface="Poppins"/>
                <a:ea typeface="Poppins"/>
                <a:cs typeface="Poppins"/>
                <a:sym typeface="Poppins"/>
              </a:rPr>
              <a:t>PORTABILIDAD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5DA0"/>
        </a:solidFill>
      </p:bgPr>
    </p:bg>
    <p:spTree>
      <p:nvGrpSpPr>
        <p:cNvPr id="621" name="Shape 621"/>
        <p:cNvGrpSpPr/>
        <p:nvPr/>
      </p:nvGrpSpPr>
      <p:grpSpPr>
        <a:xfrm>
          <a:off x="0" y="0"/>
          <a:ext cx="0" cy="0"/>
          <a:chOff x="0" y="0"/>
          <a:chExt cx="0" cy="0"/>
        </a:xfrm>
      </p:grpSpPr>
      <p:sp>
        <p:nvSpPr>
          <p:cNvPr id="622" name="Google Shape;622;p28"/>
          <p:cNvSpPr/>
          <p:nvPr/>
        </p:nvSpPr>
        <p:spPr>
          <a:xfrm>
            <a:off x="0" y="0"/>
            <a:ext cx="18288000" cy="3860032"/>
          </a:xfrm>
          <a:custGeom>
            <a:rect b="b" l="l" r="r" t="t"/>
            <a:pathLst>
              <a:path extrusionOk="0" h="3860032" w="18288000">
                <a:moveTo>
                  <a:pt x="0" y="0"/>
                </a:moveTo>
                <a:lnTo>
                  <a:pt x="18288000" y="0"/>
                </a:lnTo>
                <a:lnTo>
                  <a:pt x="18288000" y="3860032"/>
                </a:lnTo>
                <a:lnTo>
                  <a:pt x="0" y="3860032"/>
                </a:lnTo>
                <a:lnTo>
                  <a:pt x="0" y="0"/>
                </a:lnTo>
                <a:close/>
              </a:path>
            </a:pathLst>
          </a:custGeom>
          <a:blipFill rotWithShape="1">
            <a:blip r:embed="rId3">
              <a:alphaModFix/>
            </a:blip>
            <a:stretch>
              <a:fillRect b="-107818" l="0" r="0" t="-107818"/>
            </a:stretch>
          </a:blipFill>
          <a:ln>
            <a:noFill/>
          </a:ln>
        </p:spPr>
      </p:sp>
      <p:grpSp>
        <p:nvGrpSpPr>
          <p:cNvPr id="623" name="Google Shape;623;p28"/>
          <p:cNvGrpSpPr/>
          <p:nvPr/>
        </p:nvGrpSpPr>
        <p:grpSpPr>
          <a:xfrm>
            <a:off x="4458366" y="-144661"/>
            <a:ext cx="9658350" cy="10431661"/>
            <a:chOff x="0" y="-38100"/>
            <a:chExt cx="2543763" cy="2747433"/>
          </a:xfrm>
        </p:grpSpPr>
        <p:sp>
          <p:nvSpPr>
            <p:cNvPr id="624" name="Google Shape;624;p28"/>
            <p:cNvSpPr/>
            <p:nvPr/>
          </p:nvSpPr>
          <p:spPr>
            <a:xfrm>
              <a:off x="0" y="0"/>
              <a:ext cx="2543763" cy="2709333"/>
            </a:xfrm>
            <a:custGeom>
              <a:rect b="b" l="l" r="r" t="t"/>
              <a:pathLst>
                <a:path extrusionOk="0" h="2709333" w="2543763">
                  <a:moveTo>
                    <a:pt x="0" y="0"/>
                  </a:moveTo>
                  <a:lnTo>
                    <a:pt x="2543763" y="0"/>
                  </a:lnTo>
                  <a:lnTo>
                    <a:pt x="2543763" y="2709333"/>
                  </a:lnTo>
                  <a:lnTo>
                    <a:pt x="0" y="2709333"/>
                  </a:lnTo>
                  <a:close/>
                </a:path>
              </a:pathLst>
            </a:custGeom>
            <a:solidFill>
              <a:srgbClr val="051D40">
                <a:alpha val="74901"/>
              </a:srgbClr>
            </a:solidFill>
            <a:ln>
              <a:noFill/>
            </a:ln>
          </p:spPr>
        </p:sp>
        <p:sp>
          <p:nvSpPr>
            <p:cNvPr id="625" name="Google Shape;625;p28"/>
            <p:cNvSpPr txBox="1"/>
            <p:nvPr/>
          </p:nvSpPr>
          <p:spPr>
            <a:xfrm>
              <a:off x="0" y="-38100"/>
              <a:ext cx="254376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26" name="Google Shape;626;p28"/>
          <p:cNvSpPr txBox="1"/>
          <p:nvPr/>
        </p:nvSpPr>
        <p:spPr>
          <a:xfrm>
            <a:off x="5021151" y="2324975"/>
            <a:ext cx="8245699" cy="762000"/>
          </a:xfrm>
          <a:prstGeom prst="rect">
            <a:avLst/>
          </a:prstGeom>
          <a:noFill/>
          <a:ln>
            <a:noFill/>
          </a:ln>
        </p:spPr>
        <p:txBody>
          <a:bodyPr anchorCtr="0" anchor="t" bIns="0" lIns="0" spcFirstLastPara="1" rIns="0" wrap="square" tIns="0">
            <a:spAutoFit/>
          </a:bodyPr>
          <a:lstStyle/>
          <a:p>
            <a:pPr indent="0" lvl="0" marL="0" marR="0" rtl="0" algn="ctr">
              <a:lnSpc>
                <a:spcPct val="120004"/>
              </a:lnSpc>
              <a:spcBef>
                <a:spcPts val="0"/>
              </a:spcBef>
              <a:spcAft>
                <a:spcPts val="0"/>
              </a:spcAft>
              <a:buClr>
                <a:srgbClr val="000000"/>
              </a:buClr>
              <a:buSzPts val="4739"/>
              <a:buFont typeface="Arial"/>
              <a:buNone/>
            </a:pPr>
            <a:r>
              <a:rPr b="0" i="0" lang="en-US" sz="4739" u="none" cap="none" strike="noStrike">
                <a:solidFill>
                  <a:srgbClr val="FFFFFF"/>
                </a:solidFill>
                <a:latin typeface="Poppins"/>
                <a:ea typeface="Poppins"/>
                <a:cs typeface="Poppins"/>
                <a:sym typeface="Poppins"/>
              </a:rPr>
              <a:t>PRUEBAS DE PORTABILIDAD</a:t>
            </a:r>
            <a:endParaRPr b="0" i="0" sz="1400" u="none" cap="none" strike="noStrike">
              <a:solidFill>
                <a:srgbClr val="000000"/>
              </a:solidFill>
              <a:latin typeface="Arial"/>
              <a:ea typeface="Arial"/>
              <a:cs typeface="Arial"/>
              <a:sym typeface="Arial"/>
            </a:endParaRPr>
          </a:p>
        </p:txBody>
      </p:sp>
      <p:sp>
        <p:nvSpPr>
          <p:cNvPr id="627" name="Google Shape;627;p28"/>
          <p:cNvSpPr txBox="1"/>
          <p:nvPr/>
        </p:nvSpPr>
        <p:spPr>
          <a:xfrm>
            <a:off x="6108479" y="4645324"/>
            <a:ext cx="6902620" cy="4102629"/>
          </a:xfrm>
          <a:prstGeom prst="rect">
            <a:avLst/>
          </a:prstGeom>
          <a:noFill/>
          <a:ln>
            <a:noFill/>
          </a:ln>
        </p:spPr>
        <p:txBody>
          <a:bodyPr anchorCtr="0" anchor="t" bIns="0" lIns="0" spcFirstLastPara="1" rIns="0" wrap="square" tIns="0">
            <a:spAutoFit/>
          </a:bodyPr>
          <a:lstStyle/>
          <a:p>
            <a:pPr indent="0" lvl="0" marL="0" marR="0" rtl="0" algn="ctr">
              <a:lnSpc>
                <a:spcPct val="138011"/>
              </a:lnSpc>
              <a:spcBef>
                <a:spcPts val="0"/>
              </a:spcBef>
              <a:spcAft>
                <a:spcPts val="0"/>
              </a:spcAft>
              <a:buClr>
                <a:srgbClr val="000000"/>
              </a:buClr>
              <a:buSzPts val="2615"/>
              <a:buFont typeface="Arial"/>
              <a:buNone/>
            </a:pPr>
            <a:r>
              <a:rPr b="0" i="0" lang="en-US" sz="2615" u="none" cap="none" strike="noStrike">
                <a:solidFill>
                  <a:srgbClr val="FFFFFF"/>
                </a:solidFill>
                <a:latin typeface="DM Sans"/>
                <a:ea typeface="DM Sans"/>
                <a:cs typeface="DM Sans"/>
                <a:sym typeface="DM Sans"/>
              </a:rPr>
              <a:t>son un tipo de pruebas no funcionales que se realizan para verificar si un sistema de software puede ser transferido de un entorno a otro sin problemas. El objetivo es asegurar que la aplicación funcione de manera consistente y correcta en diferentes sistemas operativos, navegadores web, dispositivos móviles y configuraciones de hardware.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5DA0"/>
        </a:solidFill>
      </p:bgPr>
    </p:bg>
    <p:spTree>
      <p:nvGrpSpPr>
        <p:cNvPr id="631" name="Shape 631"/>
        <p:cNvGrpSpPr/>
        <p:nvPr/>
      </p:nvGrpSpPr>
      <p:grpSpPr>
        <a:xfrm>
          <a:off x="0" y="0"/>
          <a:ext cx="0" cy="0"/>
          <a:chOff x="0" y="0"/>
          <a:chExt cx="0" cy="0"/>
        </a:xfrm>
      </p:grpSpPr>
      <p:sp>
        <p:nvSpPr>
          <p:cNvPr id="632" name="Google Shape;632;p29"/>
          <p:cNvSpPr/>
          <p:nvPr/>
        </p:nvSpPr>
        <p:spPr>
          <a:xfrm>
            <a:off x="8303258" y="3455241"/>
            <a:ext cx="1007650" cy="959517"/>
          </a:xfrm>
          <a:custGeom>
            <a:rect b="b" l="l" r="r" t="t"/>
            <a:pathLst>
              <a:path extrusionOk="0" h="959517" w="1007650">
                <a:moveTo>
                  <a:pt x="0" y="0"/>
                </a:moveTo>
                <a:lnTo>
                  <a:pt x="1007650" y="0"/>
                </a:lnTo>
                <a:lnTo>
                  <a:pt x="1007650" y="959517"/>
                </a:lnTo>
                <a:lnTo>
                  <a:pt x="0" y="959517"/>
                </a:lnTo>
                <a:lnTo>
                  <a:pt x="0" y="0"/>
                </a:lnTo>
                <a:close/>
              </a:path>
            </a:pathLst>
          </a:custGeom>
          <a:blipFill rotWithShape="1">
            <a:blip r:embed="rId3">
              <a:alphaModFix/>
            </a:blip>
            <a:stretch>
              <a:fillRect b="0" l="0" r="0" t="0"/>
            </a:stretch>
          </a:blipFill>
          <a:ln>
            <a:noFill/>
          </a:ln>
        </p:spPr>
      </p:sp>
      <p:sp>
        <p:nvSpPr>
          <p:cNvPr id="633" name="Google Shape;633;p29"/>
          <p:cNvSpPr txBox="1"/>
          <p:nvPr/>
        </p:nvSpPr>
        <p:spPr>
          <a:xfrm>
            <a:off x="725345" y="625412"/>
            <a:ext cx="11235928" cy="730377"/>
          </a:xfrm>
          <a:prstGeom prst="rect">
            <a:avLst/>
          </a:prstGeom>
          <a:noFill/>
          <a:ln>
            <a:noFill/>
          </a:ln>
        </p:spPr>
        <p:txBody>
          <a:bodyPr anchorCtr="0" anchor="t" bIns="0" lIns="0" spcFirstLastPara="1" rIns="0" wrap="square" tIns="0">
            <a:spAutoFit/>
          </a:bodyPr>
          <a:lstStyle/>
          <a:p>
            <a:pPr indent="0" lvl="0" marL="0" marR="0" rtl="0" algn="ctr">
              <a:lnSpc>
                <a:spcPct val="138000"/>
              </a:lnSpc>
              <a:spcBef>
                <a:spcPts val="0"/>
              </a:spcBef>
              <a:spcAft>
                <a:spcPts val="0"/>
              </a:spcAft>
              <a:buClr>
                <a:srgbClr val="000000"/>
              </a:buClr>
              <a:buSzPts val="4300"/>
              <a:buFont typeface="Arial"/>
              <a:buNone/>
            </a:pPr>
            <a:r>
              <a:rPr b="1" i="0" lang="en-US" sz="4300" u="none" cap="none" strike="noStrike">
                <a:solidFill>
                  <a:srgbClr val="F5FFF5"/>
                </a:solidFill>
                <a:latin typeface="DM Sans"/>
                <a:ea typeface="DM Sans"/>
                <a:cs typeface="DM Sans"/>
                <a:sym typeface="DM Sans"/>
              </a:rPr>
              <a:t>¿Qué evalúan las pruebas de portabilidad?</a:t>
            </a:r>
            <a:endParaRPr b="0" i="0" sz="1400" u="none" cap="none" strike="noStrike">
              <a:solidFill>
                <a:srgbClr val="000000"/>
              </a:solidFill>
              <a:latin typeface="Arial"/>
              <a:ea typeface="Arial"/>
              <a:cs typeface="Arial"/>
              <a:sym typeface="Arial"/>
            </a:endParaRPr>
          </a:p>
        </p:txBody>
      </p:sp>
      <p:sp>
        <p:nvSpPr>
          <p:cNvPr id="634" name="Google Shape;634;p29"/>
          <p:cNvSpPr/>
          <p:nvPr/>
        </p:nvSpPr>
        <p:spPr>
          <a:xfrm rot="1313163">
            <a:off x="-4397261" y="6412995"/>
            <a:ext cx="9085628" cy="5368780"/>
          </a:xfrm>
          <a:custGeom>
            <a:rect b="b" l="l" r="r" t="t"/>
            <a:pathLst>
              <a:path extrusionOk="0" h="5368780" w="9085628">
                <a:moveTo>
                  <a:pt x="0" y="0"/>
                </a:moveTo>
                <a:lnTo>
                  <a:pt x="9085629" y="0"/>
                </a:lnTo>
                <a:lnTo>
                  <a:pt x="9085629" y="5368780"/>
                </a:lnTo>
                <a:lnTo>
                  <a:pt x="0" y="5368780"/>
                </a:lnTo>
                <a:lnTo>
                  <a:pt x="0" y="0"/>
                </a:lnTo>
                <a:close/>
              </a:path>
            </a:pathLst>
          </a:custGeom>
          <a:blipFill rotWithShape="1">
            <a:blip r:embed="rId4">
              <a:alphaModFix/>
            </a:blip>
            <a:stretch>
              <a:fillRect b="0" l="0" r="0" t="0"/>
            </a:stretch>
          </a:blipFill>
          <a:ln>
            <a:noFill/>
          </a:ln>
        </p:spPr>
      </p:sp>
      <p:sp>
        <p:nvSpPr>
          <p:cNvPr id="635" name="Google Shape;635;p29"/>
          <p:cNvSpPr/>
          <p:nvPr/>
        </p:nvSpPr>
        <p:spPr>
          <a:xfrm>
            <a:off x="2170729" y="7129242"/>
            <a:ext cx="4319810" cy="426581"/>
          </a:xfrm>
          <a:custGeom>
            <a:rect b="b" l="l" r="r" t="t"/>
            <a:pathLst>
              <a:path extrusionOk="0" h="426581" w="4319810">
                <a:moveTo>
                  <a:pt x="0" y="0"/>
                </a:moveTo>
                <a:lnTo>
                  <a:pt x="4319810" y="0"/>
                </a:lnTo>
                <a:lnTo>
                  <a:pt x="4319810" y="426581"/>
                </a:lnTo>
                <a:lnTo>
                  <a:pt x="0" y="426581"/>
                </a:lnTo>
                <a:lnTo>
                  <a:pt x="0" y="0"/>
                </a:lnTo>
                <a:close/>
              </a:path>
            </a:pathLst>
          </a:custGeom>
          <a:blipFill rotWithShape="1">
            <a:blip r:embed="rId5">
              <a:alphaModFix/>
            </a:blip>
            <a:stretch>
              <a:fillRect b="0" l="0" r="0" t="-99996"/>
            </a:stretch>
          </a:blipFill>
          <a:ln>
            <a:noFill/>
          </a:ln>
        </p:spPr>
      </p:sp>
      <p:sp>
        <p:nvSpPr>
          <p:cNvPr id="636" name="Google Shape;636;p29"/>
          <p:cNvSpPr/>
          <p:nvPr/>
        </p:nvSpPr>
        <p:spPr>
          <a:xfrm>
            <a:off x="6886864" y="7129242"/>
            <a:ext cx="4319810" cy="426581"/>
          </a:xfrm>
          <a:custGeom>
            <a:rect b="b" l="l" r="r" t="t"/>
            <a:pathLst>
              <a:path extrusionOk="0" h="426581" w="4319810">
                <a:moveTo>
                  <a:pt x="0" y="0"/>
                </a:moveTo>
                <a:lnTo>
                  <a:pt x="4319809" y="0"/>
                </a:lnTo>
                <a:lnTo>
                  <a:pt x="4319809" y="426581"/>
                </a:lnTo>
                <a:lnTo>
                  <a:pt x="0" y="426581"/>
                </a:lnTo>
                <a:lnTo>
                  <a:pt x="0" y="0"/>
                </a:lnTo>
                <a:close/>
              </a:path>
            </a:pathLst>
          </a:custGeom>
          <a:blipFill rotWithShape="1">
            <a:blip r:embed="rId5">
              <a:alphaModFix/>
            </a:blip>
            <a:stretch>
              <a:fillRect b="0" l="0" r="0" t="-99996"/>
            </a:stretch>
          </a:blipFill>
          <a:ln>
            <a:noFill/>
          </a:ln>
        </p:spPr>
      </p:sp>
      <p:sp>
        <p:nvSpPr>
          <p:cNvPr id="637" name="Google Shape;637;p29"/>
          <p:cNvSpPr/>
          <p:nvPr/>
        </p:nvSpPr>
        <p:spPr>
          <a:xfrm>
            <a:off x="11606723" y="7129242"/>
            <a:ext cx="4319810" cy="426581"/>
          </a:xfrm>
          <a:custGeom>
            <a:rect b="b" l="l" r="r" t="t"/>
            <a:pathLst>
              <a:path extrusionOk="0" h="426581" w="4319810">
                <a:moveTo>
                  <a:pt x="0" y="0"/>
                </a:moveTo>
                <a:lnTo>
                  <a:pt x="4319810" y="0"/>
                </a:lnTo>
                <a:lnTo>
                  <a:pt x="4319810" y="426581"/>
                </a:lnTo>
                <a:lnTo>
                  <a:pt x="0" y="426581"/>
                </a:lnTo>
                <a:lnTo>
                  <a:pt x="0" y="0"/>
                </a:lnTo>
                <a:close/>
              </a:path>
            </a:pathLst>
          </a:custGeom>
          <a:blipFill rotWithShape="1">
            <a:blip r:embed="rId5">
              <a:alphaModFix/>
            </a:blip>
            <a:stretch>
              <a:fillRect b="0" l="0" r="0" t="-99996"/>
            </a:stretch>
          </a:blipFill>
          <a:ln>
            <a:noFill/>
          </a:ln>
        </p:spPr>
      </p:sp>
      <p:grpSp>
        <p:nvGrpSpPr>
          <p:cNvPr id="638" name="Google Shape;638;p29"/>
          <p:cNvGrpSpPr/>
          <p:nvPr/>
        </p:nvGrpSpPr>
        <p:grpSpPr>
          <a:xfrm>
            <a:off x="2193491" y="2778566"/>
            <a:ext cx="4297048" cy="4777257"/>
            <a:chOff x="0" y="-38100"/>
            <a:chExt cx="1131733" cy="1258208"/>
          </a:xfrm>
        </p:grpSpPr>
        <p:sp>
          <p:nvSpPr>
            <p:cNvPr id="639" name="Google Shape;639;p29"/>
            <p:cNvSpPr/>
            <p:nvPr/>
          </p:nvSpPr>
          <p:spPr>
            <a:xfrm>
              <a:off x="0" y="0"/>
              <a:ext cx="1131733" cy="1220108"/>
            </a:xfrm>
            <a:custGeom>
              <a:rect b="b" l="l" r="r" t="t"/>
              <a:pathLst>
                <a:path extrusionOk="0" h="1220108" w="1131733">
                  <a:moveTo>
                    <a:pt x="0" y="0"/>
                  </a:moveTo>
                  <a:lnTo>
                    <a:pt x="1131733" y="0"/>
                  </a:lnTo>
                  <a:lnTo>
                    <a:pt x="1131733" y="1220108"/>
                  </a:lnTo>
                  <a:lnTo>
                    <a:pt x="0" y="1220108"/>
                  </a:lnTo>
                  <a:close/>
                </a:path>
              </a:pathLst>
            </a:custGeom>
            <a:solidFill>
              <a:srgbClr val="CFF4FF"/>
            </a:solidFill>
            <a:ln cap="sq" cmpd="sng" w="19050">
              <a:solidFill>
                <a:srgbClr val="FFFFFF"/>
              </a:solidFill>
              <a:prstDash val="solid"/>
              <a:miter lim="8000"/>
              <a:headEnd len="sm" w="sm" type="none"/>
              <a:tailEnd len="sm" w="sm" type="none"/>
            </a:ln>
          </p:spPr>
        </p:sp>
        <p:sp>
          <p:nvSpPr>
            <p:cNvPr id="640" name="Google Shape;640;p29"/>
            <p:cNvSpPr txBox="1"/>
            <p:nvPr/>
          </p:nvSpPr>
          <p:spPr>
            <a:xfrm>
              <a:off x="0" y="-38100"/>
              <a:ext cx="1131733" cy="1258208"/>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41" name="Google Shape;641;p29"/>
          <p:cNvSpPr/>
          <p:nvPr/>
        </p:nvSpPr>
        <p:spPr>
          <a:xfrm>
            <a:off x="3911573" y="3225912"/>
            <a:ext cx="1114628" cy="1130866"/>
          </a:xfrm>
          <a:custGeom>
            <a:rect b="b" l="l" r="r" t="t"/>
            <a:pathLst>
              <a:path extrusionOk="0" h="1130866" w="1114628">
                <a:moveTo>
                  <a:pt x="0" y="0"/>
                </a:moveTo>
                <a:lnTo>
                  <a:pt x="1114628" y="0"/>
                </a:lnTo>
                <a:lnTo>
                  <a:pt x="1114628" y="1130866"/>
                </a:lnTo>
                <a:lnTo>
                  <a:pt x="0" y="1130866"/>
                </a:lnTo>
                <a:lnTo>
                  <a:pt x="0" y="0"/>
                </a:lnTo>
                <a:close/>
              </a:path>
            </a:pathLst>
          </a:custGeom>
          <a:blipFill rotWithShape="1">
            <a:blip r:embed="rId6">
              <a:alphaModFix/>
            </a:blip>
            <a:stretch>
              <a:fillRect b="0" l="0" r="0" t="0"/>
            </a:stretch>
          </a:blipFill>
          <a:ln>
            <a:noFill/>
          </a:ln>
        </p:spPr>
      </p:sp>
      <p:grpSp>
        <p:nvGrpSpPr>
          <p:cNvPr id="642" name="Google Shape;642;p29"/>
          <p:cNvGrpSpPr/>
          <p:nvPr/>
        </p:nvGrpSpPr>
        <p:grpSpPr>
          <a:xfrm>
            <a:off x="6896375" y="2778566"/>
            <a:ext cx="4297048" cy="4777257"/>
            <a:chOff x="0" y="-38100"/>
            <a:chExt cx="1131733" cy="1258208"/>
          </a:xfrm>
        </p:grpSpPr>
        <p:sp>
          <p:nvSpPr>
            <p:cNvPr id="643" name="Google Shape;643;p29"/>
            <p:cNvSpPr/>
            <p:nvPr/>
          </p:nvSpPr>
          <p:spPr>
            <a:xfrm>
              <a:off x="0" y="0"/>
              <a:ext cx="1131733" cy="1220108"/>
            </a:xfrm>
            <a:custGeom>
              <a:rect b="b" l="l" r="r" t="t"/>
              <a:pathLst>
                <a:path extrusionOk="0" h="1220108" w="1131733">
                  <a:moveTo>
                    <a:pt x="0" y="0"/>
                  </a:moveTo>
                  <a:lnTo>
                    <a:pt x="1131733" y="0"/>
                  </a:lnTo>
                  <a:lnTo>
                    <a:pt x="1131733" y="1220108"/>
                  </a:lnTo>
                  <a:lnTo>
                    <a:pt x="0" y="1220108"/>
                  </a:lnTo>
                  <a:close/>
                </a:path>
              </a:pathLst>
            </a:custGeom>
            <a:solidFill>
              <a:srgbClr val="CFF4FF"/>
            </a:solidFill>
            <a:ln cap="sq" cmpd="sng" w="19050">
              <a:solidFill>
                <a:srgbClr val="FFFFFF"/>
              </a:solidFill>
              <a:prstDash val="solid"/>
              <a:miter lim="8000"/>
              <a:headEnd len="sm" w="sm" type="none"/>
              <a:tailEnd len="sm" w="sm" type="none"/>
            </a:ln>
          </p:spPr>
        </p:sp>
        <p:sp>
          <p:nvSpPr>
            <p:cNvPr id="644" name="Google Shape;644;p29"/>
            <p:cNvSpPr txBox="1"/>
            <p:nvPr/>
          </p:nvSpPr>
          <p:spPr>
            <a:xfrm>
              <a:off x="0" y="-38100"/>
              <a:ext cx="1131733" cy="1258208"/>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45" name="Google Shape;645;p29"/>
          <p:cNvGrpSpPr/>
          <p:nvPr/>
        </p:nvGrpSpPr>
        <p:grpSpPr>
          <a:xfrm>
            <a:off x="11602998" y="2778566"/>
            <a:ext cx="4297048" cy="4777257"/>
            <a:chOff x="0" y="-38100"/>
            <a:chExt cx="1131733" cy="1258208"/>
          </a:xfrm>
        </p:grpSpPr>
        <p:sp>
          <p:nvSpPr>
            <p:cNvPr id="646" name="Google Shape;646;p29"/>
            <p:cNvSpPr/>
            <p:nvPr/>
          </p:nvSpPr>
          <p:spPr>
            <a:xfrm>
              <a:off x="0" y="0"/>
              <a:ext cx="1131733" cy="1220108"/>
            </a:xfrm>
            <a:custGeom>
              <a:rect b="b" l="l" r="r" t="t"/>
              <a:pathLst>
                <a:path extrusionOk="0" h="1220108" w="1131733">
                  <a:moveTo>
                    <a:pt x="0" y="0"/>
                  </a:moveTo>
                  <a:lnTo>
                    <a:pt x="1131733" y="0"/>
                  </a:lnTo>
                  <a:lnTo>
                    <a:pt x="1131733" y="1220108"/>
                  </a:lnTo>
                  <a:lnTo>
                    <a:pt x="0" y="1220108"/>
                  </a:lnTo>
                  <a:close/>
                </a:path>
              </a:pathLst>
            </a:custGeom>
            <a:solidFill>
              <a:srgbClr val="CFF4FF"/>
            </a:solidFill>
            <a:ln cap="sq" cmpd="sng" w="19050">
              <a:solidFill>
                <a:srgbClr val="FFFFFF"/>
              </a:solidFill>
              <a:prstDash val="solid"/>
              <a:miter lim="8000"/>
              <a:headEnd len="sm" w="sm" type="none"/>
              <a:tailEnd len="sm" w="sm" type="none"/>
            </a:ln>
          </p:spPr>
        </p:sp>
        <p:sp>
          <p:nvSpPr>
            <p:cNvPr id="647" name="Google Shape;647;p29"/>
            <p:cNvSpPr txBox="1"/>
            <p:nvPr/>
          </p:nvSpPr>
          <p:spPr>
            <a:xfrm>
              <a:off x="0" y="-38100"/>
              <a:ext cx="1131733" cy="1258208"/>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48" name="Google Shape;648;p29"/>
          <p:cNvSpPr/>
          <p:nvPr/>
        </p:nvSpPr>
        <p:spPr>
          <a:xfrm>
            <a:off x="8456216" y="3397261"/>
            <a:ext cx="1007650" cy="959517"/>
          </a:xfrm>
          <a:custGeom>
            <a:rect b="b" l="l" r="r" t="t"/>
            <a:pathLst>
              <a:path extrusionOk="0" h="959517" w="1007650">
                <a:moveTo>
                  <a:pt x="0" y="0"/>
                </a:moveTo>
                <a:lnTo>
                  <a:pt x="1007650" y="0"/>
                </a:lnTo>
                <a:lnTo>
                  <a:pt x="1007650" y="959517"/>
                </a:lnTo>
                <a:lnTo>
                  <a:pt x="0" y="959517"/>
                </a:lnTo>
                <a:lnTo>
                  <a:pt x="0" y="0"/>
                </a:lnTo>
                <a:close/>
              </a:path>
            </a:pathLst>
          </a:custGeom>
          <a:blipFill rotWithShape="1">
            <a:blip r:embed="rId3">
              <a:alphaModFix/>
            </a:blip>
            <a:stretch>
              <a:fillRect b="0" l="0" r="0" t="0"/>
            </a:stretch>
          </a:blipFill>
          <a:ln>
            <a:noFill/>
          </a:ln>
        </p:spPr>
      </p:sp>
      <p:sp>
        <p:nvSpPr>
          <p:cNvPr id="649" name="Google Shape;649;p29"/>
          <p:cNvSpPr/>
          <p:nvPr/>
        </p:nvSpPr>
        <p:spPr>
          <a:xfrm rot="1313163">
            <a:off x="14330817" y="-1655690"/>
            <a:ext cx="9085628" cy="5368780"/>
          </a:xfrm>
          <a:custGeom>
            <a:rect b="b" l="l" r="r" t="t"/>
            <a:pathLst>
              <a:path extrusionOk="0" h="5368780" w="9085628">
                <a:moveTo>
                  <a:pt x="0" y="0"/>
                </a:moveTo>
                <a:lnTo>
                  <a:pt x="9085629" y="0"/>
                </a:lnTo>
                <a:lnTo>
                  <a:pt x="9085629" y="5368780"/>
                </a:lnTo>
                <a:lnTo>
                  <a:pt x="0" y="5368780"/>
                </a:lnTo>
                <a:lnTo>
                  <a:pt x="0" y="0"/>
                </a:lnTo>
                <a:close/>
              </a:path>
            </a:pathLst>
          </a:custGeom>
          <a:blipFill rotWithShape="1">
            <a:blip r:embed="rId4">
              <a:alphaModFix/>
            </a:blip>
            <a:stretch>
              <a:fillRect b="0" l="0" r="0" t="0"/>
            </a:stretch>
          </a:blipFill>
          <a:ln>
            <a:noFill/>
          </a:ln>
        </p:spPr>
      </p:sp>
      <p:sp>
        <p:nvSpPr>
          <p:cNvPr id="650" name="Google Shape;650;p29"/>
          <p:cNvSpPr/>
          <p:nvPr/>
        </p:nvSpPr>
        <p:spPr>
          <a:xfrm>
            <a:off x="12813685" y="3289108"/>
            <a:ext cx="1493354" cy="1175824"/>
          </a:xfrm>
          <a:custGeom>
            <a:rect b="b" l="l" r="r" t="t"/>
            <a:pathLst>
              <a:path extrusionOk="0" h="1175824" w="1493354">
                <a:moveTo>
                  <a:pt x="0" y="0"/>
                </a:moveTo>
                <a:lnTo>
                  <a:pt x="1493354" y="0"/>
                </a:lnTo>
                <a:lnTo>
                  <a:pt x="1493354" y="1175823"/>
                </a:lnTo>
                <a:lnTo>
                  <a:pt x="0" y="1175823"/>
                </a:lnTo>
                <a:lnTo>
                  <a:pt x="0" y="0"/>
                </a:lnTo>
                <a:close/>
              </a:path>
            </a:pathLst>
          </a:custGeom>
          <a:blipFill rotWithShape="1">
            <a:blip r:embed="rId7">
              <a:alphaModFix/>
            </a:blip>
            <a:stretch>
              <a:fillRect b="0" l="0" r="0" t="0"/>
            </a:stretch>
          </a:blipFill>
          <a:ln>
            <a:noFill/>
          </a:ln>
        </p:spPr>
      </p:sp>
      <p:sp>
        <p:nvSpPr>
          <p:cNvPr id="651" name="Google Shape;651;p29"/>
          <p:cNvSpPr txBox="1"/>
          <p:nvPr/>
        </p:nvSpPr>
        <p:spPr>
          <a:xfrm>
            <a:off x="2341351" y="5732995"/>
            <a:ext cx="4002588" cy="1092805"/>
          </a:xfrm>
          <a:prstGeom prst="rect">
            <a:avLst/>
          </a:prstGeom>
          <a:noFill/>
          <a:ln>
            <a:noFill/>
          </a:ln>
        </p:spPr>
        <p:txBody>
          <a:bodyPr anchorCtr="0" anchor="t" bIns="0" lIns="0" spcFirstLastPara="1" rIns="0" wrap="square" tIns="0">
            <a:spAutoFit/>
          </a:bodyPr>
          <a:lstStyle/>
          <a:p>
            <a:pPr indent="0" lvl="0" marL="0" marR="0" rtl="0" algn="ctr">
              <a:lnSpc>
                <a:spcPct val="137977"/>
              </a:lnSpc>
              <a:spcBef>
                <a:spcPts val="0"/>
              </a:spcBef>
              <a:spcAft>
                <a:spcPts val="0"/>
              </a:spcAft>
              <a:buClr>
                <a:srgbClr val="000000"/>
              </a:buClr>
              <a:buSzPts val="1572"/>
              <a:buFont typeface="Arial"/>
              <a:buNone/>
            </a:pPr>
            <a:r>
              <a:rPr b="0" i="0" lang="en-US" sz="1572" u="none" cap="none" strike="noStrike">
                <a:solidFill>
                  <a:srgbClr val="051D40"/>
                </a:solidFill>
                <a:latin typeface="DM Sans"/>
                <a:ea typeface="DM Sans"/>
                <a:cs typeface="DM Sans"/>
                <a:sym typeface="DM Sans"/>
              </a:rPr>
              <a:t>Miden qué tan bien el software se adapta a nuevos entornos. Esto incluye la instalación, ejecución y uso en diferentes plataformas.</a:t>
            </a:r>
            <a:endParaRPr b="0" i="0" sz="1400" u="none" cap="none" strike="noStrike">
              <a:solidFill>
                <a:srgbClr val="000000"/>
              </a:solidFill>
              <a:latin typeface="Arial"/>
              <a:ea typeface="Arial"/>
              <a:cs typeface="Arial"/>
              <a:sym typeface="Arial"/>
            </a:endParaRPr>
          </a:p>
        </p:txBody>
      </p:sp>
      <p:sp>
        <p:nvSpPr>
          <p:cNvPr id="652" name="Google Shape;652;p29"/>
          <p:cNvSpPr txBox="1"/>
          <p:nvPr/>
        </p:nvSpPr>
        <p:spPr>
          <a:xfrm>
            <a:off x="2322288" y="4472076"/>
            <a:ext cx="4002588" cy="1285699"/>
          </a:xfrm>
          <a:prstGeom prst="rect">
            <a:avLst/>
          </a:prstGeom>
          <a:noFill/>
          <a:ln>
            <a:noFill/>
          </a:ln>
        </p:spPr>
        <p:txBody>
          <a:bodyPr anchorCtr="0" anchor="t" bIns="0" lIns="0" spcFirstLastPara="1" rIns="0" wrap="square" tIns="0">
            <a:spAutoFit/>
          </a:bodyPr>
          <a:lstStyle/>
          <a:p>
            <a:pPr indent="0" lvl="0" marL="0" marR="0" rtl="0" algn="ctr">
              <a:lnSpc>
                <a:spcPct val="138009"/>
              </a:lnSpc>
              <a:spcBef>
                <a:spcPts val="0"/>
              </a:spcBef>
              <a:spcAft>
                <a:spcPts val="0"/>
              </a:spcAft>
              <a:buClr>
                <a:srgbClr val="000000"/>
              </a:buClr>
              <a:buSzPts val="3757"/>
              <a:buFont typeface="Arial"/>
              <a:buNone/>
            </a:pPr>
            <a:r>
              <a:rPr b="1" i="0" lang="en-US" sz="3757" u="none" cap="none" strike="noStrike">
                <a:solidFill>
                  <a:srgbClr val="0071C9"/>
                </a:solidFill>
                <a:latin typeface="DM Sans"/>
                <a:ea typeface="DM Sans"/>
                <a:cs typeface="DM Sans"/>
                <a:sym typeface="DM Sans"/>
              </a:rPr>
              <a:t>Compatibilidad con el entorno</a:t>
            </a:r>
            <a:endParaRPr b="0" i="0" sz="1400" u="none" cap="none" strike="noStrike">
              <a:solidFill>
                <a:srgbClr val="000000"/>
              </a:solidFill>
              <a:latin typeface="Arial"/>
              <a:ea typeface="Arial"/>
              <a:cs typeface="Arial"/>
              <a:sym typeface="Arial"/>
            </a:endParaRPr>
          </a:p>
        </p:txBody>
      </p:sp>
      <p:sp>
        <p:nvSpPr>
          <p:cNvPr id="653" name="Google Shape;653;p29"/>
          <p:cNvSpPr txBox="1"/>
          <p:nvPr/>
        </p:nvSpPr>
        <p:spPr>
          <a:xfrm>
            <a:off x="7043606" y="5663395"/>
            <a:ext cx="4002588" cy="1367849"/>
          </a:xfrm>
          <a:prstGeom prst="rect">
            <a:avLst/>
          </a:prstGeom>
          <a:noFill/>
          <a:ln>
            <a:noFill/>
          </a:ln>
        </p:spPr>
        <p:txBody>
          <a:bodyPr anchorCtr="0" anchor="t" bIns="0" lIns="0" spcFirstLastPara="1" rIns="0" wrap="square" tIns="0">
            <a:spAutoFit/>
          </a:bodyPr>
          <a:lstStyle/>
          <a:p>
            <a:pPr indent="0" lvl="0" marL="0" marR="0" rtl="0" algn="ctr">
              <a:lnSpc>
                <a:spcPct val="137977"/>
              </a:lnSpc>
              <a:spcBef>
                <a:spcPts val="0"/>
              </a:spcBef>
              <a:spcAft>
                <a:spcPts val="0"/>
              </a:spcAft>
              <a:buClr>
                <a:srgbClr val="000000"/>
              </a:buClr>
              <a:buSzPts val="1572"/>
              <a:buFont typeface="Arial"/>
              <a:buNone/>
            </a:pPr>
            <a:r>
              <a:rPr b="0" i="0" lang="en-US" sz="1572" u="none" cap="none" strike="noStrike">
                <a:solidFill>
                  <a:srgbClr val="051D40"/>
                </a:solidFill>
                <a:latin typeface="DM Sans"/>
                <a:ea typeface="DM Sans"/>
                <a:cs typeface="DM Sans"/>
                <a:sym typeface="DM Sans"/>
              </a:rPr>
              <a:t> Verifican que la interfaz de usuario (UI) se muestre de manera correcta y sin errores visuales en distintas resoluciones de pantalla, tamaños de ventana o navegadores.</a:t>
            </a:r>
            <a:endParaRPr b="0" i="0" sz="1400" u="none" cap="none" strike="noStrike">
              <a:solidFill>
                <a:srgbClr val="000000"/>
              </a:solidFill>
              <a:latin typeface="Arial"/>
              <a:ea typeface="Arial"/>
              <a:cs typeface="Arial"/>
              <a:sym typeface="Arial"/>
            </a:endParaRPr>
          </a:p>
        </p:txBody>
      </p:sp>
      <p:sp>
        <p:nvSpPr>
          <p:cNvPr id="654" name="Google Shape;654;p29"/>
          <p:cNvSpPr txBox="1"/>
          <p:nvPr/>
        </p:nvSpPr>
        <p:spPr>
          <a:xfrm>
            <a:off x="7045475" y="4354811"/>
            <a:ext cx="4002588" cy="1285699"/>
          </a:xfrm>
          <a:prstGeom prst="rect">
            <a:avLst/>
          </a:prstGeom>
          <a:noFill/>
          <a:ln>
            <a:noFill/>
          </a:ln>
        </p:spPr>
        <p:txBody>
          <a:bodyPr anchorCtr="0" anchor="t" bIns="0" lIns="0" spcFirstLastPara="1" rIns="0" wrap="square" tIns="0">
            <a:spAutoFit/>
          </a:bodyPr>
          <a:lstStyle/>
          <a:p>
            <a:pPr indent="0" lvl="0" marL="0" marR="0" rtl="0" algn="ctr">
              <a:lnSpc>
                <a:spcPct val="138009"/>
              </a:lnSpc>
              <a:spcBef>
                <a:spcPts val="0"/>
              </a:spcBef>
              <a:spcAft>
                <a:spcPts val="0"/>
              </a:spcAft>
              <a:buClr>
                <a:srgbClr val="000000"/>
              </a:buClr>
              <a:buSzPts val="3757"/>
              <a:buFont typeface="Arial"/>
              <a:buNone/>
            </a:pPr>
            <a:r>
              <a:rPr b="1" i="0" lang="en-US" sz="3757" u="none" cap="none" strike="noStrike">
                <a:solidFill>
                  <a:srgbClr val="F1945B"/>
                </a:solidFill>
                <a:latin typeface="DM Sans"/>
                <a:ea typeface="DM Sans"/>
                <a:cs typeface="DM Sans"/>
                <a:sym typeface="DM Sans"/>
              </a:rPr>
              <a:t>Consistencia de la interfaz</a:t>
            </a:r>
            <a:endParaRPr b="0" i="0" sz="1400" u="none" cap="none" strike="noStrike">
              <a:solidFill>
                <a:srgbClr val="000000"/>
              </a:solidFill>
              <a:latin typeface="Arial"/>
              <a:ea typeface="Arial"/>
              <a:cs typeface="Arial"/>
              <a:sym typeface="Arial"/>
            </a:endParaRPr>
          </a:p>
        </p:txBody>
      </p:sp>
      <p:sp>
        <p:nvSpPr>
          <p:cNvPr id="655" name="Google Shape;655;p29"/>
          <p:cNvSpPr txBox="1"/>
          <p:nvPr/>
        </p:nvSpPr>
        <p:spPr>
          <a:xfrm>
            <a:off x="11745873" y="5896176"/>
            <a:ext cx="4002588" cy="766442"/>
          </a:xfrm>
          <a:prstGeom prst="rect">
            <a:avLst/>
          </a:prstGeom>
          <a:noFill/>
          <a:ln>
            <a:noFill/>
          </a:ln>
        </p:spPr>
        <p:txBody>
          <a:bodyPr anchorCtr="0" anchor="t" bIns="0" lIns="0" spcFirstLastPara="1" rIns="0" wrap="square" tIns="0">
            <a:spAutoFit/>
          </a:bodyPr>
          <a:lstStyle/>
          <a:p>
            <a:pPr indent="0" lvl="0" marL="0" marR="0" rtl="0" algn="ctr">
              <a:lnSpc>
                <a:spcPct val="137975"/>
              </a:lnSpc>
              <a:spcBef>
                <a:spcPts val="0"/>
              </a:spcBef>
              <a:spcAft>
                <a:spcPts val="0"/>
              </a:spcAft>
              <a:buClr>
                <a:srgbClr val="000000"/>
              </a:buClr>
              <a:buSzPts val="1472"/>
              <a:buFont typeface="Arial"/>
              <a:buNone/>
            </a:pPr>
            <a:r>
              <a:rPr b="0" i="0" lang="en-US" sz="1472" u="none" cap="none" strike="noStrike">
                <a:solidFill>
                  <a:srgbClr val="051D40"/>
                </a:solidFill>
                <a:latin typeface="DM Sans"/>
                <a:ea typeface="DM Sans"/>
                <a:cs typeface="DM Sans"/>
                <a:sym typeface="DM Sans"/>
              </a:rPr>
              <a:t>Aseguran que los datos puedan ser transferidos y utilizados correctamente entre diferentes sistemas, si es necesario</a:t>
            </a:r>
            <a:endParaRPr b="0" i="0" sz="1400" u="none" cap="none" strike="noStrike">
              <a:solidFill>
                <a:srgbClr val="000000"/>
              </a:solidFill>
              <a:latin typeface="Arial"/>
              <a:ea typeface="Arial"/>
              <a:cs typeface="Arial"/>
              <a:sym typeface="Arial"/>
            </a:endParaRPr>
          </a:p>
        </p:txBody>
      </p:sp>
      <p:sp>
        <p:nvSpPr>
          <p:cNvPr id="656" name="Google Shape;656;p29"/>
          <p:cNvSpPr txBox="1"/>
          <p:nvPr/>
        </p:nvSpPr>
        <p:spPr>
          <a:xfrm>
            <a:off x="11750229" y="4570266"/>
            <a:ext cx="4002588" cy="1285699"/>
          </a:xfrm>
          <a:prstGeom prst="rect">
            <a:avLst/>
          </a:prstGeom>
          <a:noFill/>
          <a:ln>
            <a:noFill/>
          </a:ln>
        </p:spPr>
        <p:txBody>
          <a:bodyPr anchorCtr="0" anchor="t" bIns="0" lIns="0" spcFirstLastPara="1" rIns="0" wrap="square" tIns="0">
            <a:spAutoFit/>
          </a:bodyPr>
          <a:lstStyle/>
          <a:p>
            <a:pPr indent="0" lvl="0" marL="0" marR="0" rtl="0" algn="ctr">
              <a:lnSpc>
                <a:spcPct val="138009"/>
              </a:lnSpc>
              <a:spcBef>
                <a:spcPts val="0"/>
              </a:spcBef>
              <a:spcAft>
                <a:spcPts val="0"/>
              </a:spcAft>
              <a:buClr>
                <a:srgbClr val="000000"/>
              </a:buClr>
              <a:buSzPts val="3757"/>
              <a:buFont typeface="Arial"/>
              <a:buNone/>
            </a:pPr>
            <a:r>
              <a:rPr b="1" i="0" lang="en-US" sz="3757" u="none" cap="none" strike="noStrike">
                <a:solidFill>
                  <a:srgbClr val="1C5739"/>
                </a:solidFill>
                <a:latin typeface="DM Sans"/>
                <a:ea typeface="DM Sans"/>
                <a:cs typeface="DM Sans"/>
                <a:sym typeface="DM Sans"/>
              </a:rPr>
              <a:t>Integración de datos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660" name="Shape 660"/>
        <p:cNvGrpSpPr/>
        <p:nvPr/>
      </p:nvGrpSpPr>
      <p:grpSpPr>
        <a:xfrm>
          <a:off x="0" y="0"/>
          <a:ext cx="0" cy="0"/>
          <a:chOff x="0" y="0"/>
          <a:chExt cx="0" cy="0"/>
        </a:xfrm>
      </p:grpSpPr>
      <p:sp>
        <p:nvSpPr>
          <p:cNvPr id="661" name="Google Shape;661;p30"/>
          <p:cNvSpPr/>
          <p:nvPr/>
        </p:nvSpPr>
        <p:spPr>
          <a:xfrm>
            <a:off x="6694069" y="3428600"/>
            <a:ext cx="821455" cy="821455"/>
          </a:xfrm>
          <a:custGeom>
            <a:rect b="b" l="l" r="r" t="t"/>
            <a:pathLst>
              <a:path extrusionOk="0" h="821455" w="821455">
                <a:moveTo>
                  <a:pt x="0" y="0"/>
                </a:moveTo>
                <a:lnTo>
                  <a:pt x="821455" y="0"/>
                </a:lnTo>
                <a:lnTo>
                  <a:pt x="821455" y="821455"/>
                </a:lnTo>
                <a:lnTo>
                  <a:pt x="0" y="821455"/>
                </a:lnTo>
                <a:lnTo>
                  <a:pt x="0" y="0"/>
                </a:lnTo>
                <a:close/>
              </a:path>
            </a:pathLst>
          </a:custGeom>
          <a:blipFill rotWithShape="1">
            <a:blip r:embed="rId3">
              <a:alphaModFix/>
            </a:blip>
            <a:stretch>
              <a:fillRect b="0" l="0" r="0" t="0"/>
            </a:stretch>
          </a:blipFill>
          <a:ln>
            <a:noFill/>
          </a:ln>
        </p:spPr>
      </p:sp>
      <p:sp>
        <p:nvSpPr>
          <p:cNvPr id="662" name="Google Shape;662;p30"/>
          <p:cNvSpPr txBox="1"/>
          <p:nvPr/>
        </p:nvSpPr>
        <p:spPr>
          <a:xfrm>
            <a:off x="1028700" y="2286055"/>
            <a:ext cx="13726645" cy="730377"/>
          </a:xfrm>
          <a:prstGeom prst="rect">
            <a:avLst/>
          </a:prstGeom>
          <a:noFill/>
          <a:ln>
            <a:noFill/>
          </a:ln>
        </p:spPr>
        <p:txBody>
          <a:bodyPr anchorCtr="0" anchor="t" bIns="0" lIns="0" spcFirstLastPara="1" rIns="0" wrap="square" tIns="0">
            <a:spAutoFit/>
          </a:bodyPr>
          <a:lstStyle/>
          <a:p>
            <a:pPr indent="0" lvl="0" marL="0" marR="0" rtl="0" algn="l">
              <a:lnSpc>
                <a:spcPct val="138000"/>
              </a:lnSpc>
              <a:spcBef>
                <a:spcPts val="0"/>
              </a:spcBef>
              <a:spcAft>
                <a:spcPts val="0"/>
              </a:spcAft>
              <a:buClr>
                <a:srgbClr val="000000"/>
              </a:buClr>
              <a:buSzPts val="4300"/>
              <a:buFont typeface="Arial"/>
              <a:buNone/>
            </a:pPr>
            <a:r>
              <a:rPr b="1" i="0" lang="en-US" sz="4300" u="none" cap="none" strike="noStrike">
                <a:solidFill>
                  <a:srgbClr val="FFFFFF"/>
                </a:solidFill>
                <a:latin typeface="DM Sans"/>
                <a:ea typeface="DM Sans"/>
                <a:cs typeface="DM Sans"/>
                <a:sym typeface="DM Sans"/>
              </a:rPr>
              <a:t>¿Por qué son importantes?</a:t>
            </a:r>
            <a:endParaRPr b="0" i="0" sz="1400" u="none" cap="none" strike="noStrike">
              <a:solidFill>
                <a:srgbClr val="000000"/>
              </a:solidFill>
              <a:latin typeface="Arial"/>
              <a:ea typeface="Arial"/>
              <a:cs typeface="Arial"/>
              <a:sym typeface="Arial"/>
            </a:endParaRPr>
          </a:p>
        </p:txBody>
      </p:sp>
      <p:sp>
        <p:nvSpPr>
          <p:cNvPr id="663" name="Google Shape;663;p30"/>
          <p:cNvSpPr txBox="1"/>
          <p:nvPr/>
        </p:nvSpPr>
        <p:spPr>
          <a:xfrm>
            <a:off x="1028700" y="3791703"/>
            <a:ext cx="15895219" cy="2088020"/>
          </a:xfrm>
          <a:prstGeom prst="rect">
            <a:avLst/>
          </a:prstGeom>
          <a:noFill/>
          <a:ln>
            <a:noFill/>
          </a:ln>
        </p:spPr>
        <p:txBody>
          <a:bodyPr anchorCtr="0" anchor="t" bIns="0" lIns="0" spcFirstLastPara="1" rIns="0" wrap="square" tIns="0">
            <a:spAutoFit/>
          </a:bodyPr>
          <a:lstStyle/>
          <a:p>
            <a:pPr indent="0" lvl="0" marL="0" marR="0" rtl="0" algn="just">
              <a:lnSpc>
                <a:spcPct val="138008"/>
              </a:lnSpc>
              <a:spcBef>
                <a:spcPts val="0"/>
              </a:spcBef>
              <a:spcAft>
                <a:spcPts val="0"/>
              </a:spcAft>
              <a:buClr>
                <a:srgbClr val="000000"/>
              </a:buClr>
              <a:buSzPts val="2410"/>
              <a:buFont typeface="Arial"/>
              <a:buNone/>
            </a:pPr>
            <a:r>
              <a:rPr b="0" i="0" lang="en-US" sz="2410" u="none" cap="none" strike="noStrike">
                <a:solidFill>
                  <a:srgbClr val="FFFFFF"/>
                </a:solidFill>
                <a:latin typeface="DM Sans"/>
                <a:ea typeface="DM Sans"/>
                <a:cs typeface="DM Sans"/>
                <a:sym typeface="DM Sans"/>
              </a:rPr>
              <a:t>En un mundo donde los usuarios acceden a la misma aplicación desde múltiples dispositivos (un ordenador con Windows, una Mac, un teléfono Android o una tablet con iOS), la portabilidad es fundamental. Si una aplicación web no se muestra correctamente en Safari o una aplicación de escritorio no funciona en Linux, se puede perder una porción significativa de la base de usuarios. Las pruebas de portabilidad garantizan una experiencia de usuario uniforme y amplia el alcance del software a un mercado más grande.</a:t>
            </a:r>
            <a:endParaRPr b="0" i="0" sz="1400" u="none" cap="none" strike="noStrike">
              <a:solidFill>
                <a:srgbClr val="000000"/>
              </a:solidFill>
              <a:latin typeface="Arial"/>
              <a:ea typeface="Arial"/>
              <a:cs typeface="Arial"/>
              <a:sym typeface="Arial"/>
            </a:endParaRPr>
          </a:p>
        </p:txBody>
      </p:sp>
      <p:sp>
        <p:nvSpPr>
          <p:cNvPr id="664" name="Google Shape;664;p30"/>
          <p:cNvSpPr/>
          <p:nvPr/>
        </p:nvSpPr>
        <p:spPr>
          <a:xfrm>
            <a:off x="-2519628" y="7712017"/>
            <a:ext cx="6602062" cy="6602062"/>
          </a:xfrm>
          <a:custGeom>
            <a:rect b="b" l="l" r="r" t="t"/>
            <a:pathLst>
              <a:path extrusionOk="0" h="6602062" w="6602062">
                <a:moveTo>
                  <a:pt x="0" y="0"/>
                </a:moveTo>
                <a:lnTo>
                  <a:pt x="6602062" y="0"/>
                </a:lnTo>
                <a:lnTo>
                  <a:pt x="6602062" y="6602062"/>
                </a:lnTo>
                <a:lnTo>
                  <a:pt x="0" y="6602062"/>
                </a:lnTo>
                <a:lnTo>
                  <a:pt x="0" y="0"/>
                </a:lnTo>
                <a:close/>
              </a:path>
            </a:pathLst>
          </a:custGeom>
          <a:blipFill rotWithShape="1">
            <a:blip r:embed="rId4">
              <a:alphaModFix/>
            </a:blip>
            <a:stretch>
              <a:fillRect b="0" l="0" r="0" t="0"/>
            </a:stretch>
          </a:blipFill>
          <a:ln>
            <a:noFill/>
          </a:ln>
        </p:spPr>
      </p:sp>
      <p:sp>
        <p:nvSpPr>
          <p:cNvPr id="665" name="Google Shape;665;p30"/>
          <p:cNvSpPr/>
          <p:nvPr/>
        </p:nvSpPr>
        <p:spPr>
          <a:xfrm rot="10436461">
            <a:off x="14111851" y="-3920191"/>
            <a:ext cx="6294897" cy="6294897"/>
          </a:xfrm>
          <a:custGeom>
            <a:rect b="b" l="l" r="r" t="t"/>
            <a:pathLst>
              <a:path extrusionOk="0" h="6294897" w="6294897">
                <a:moveTo>
                  <a:pt x="0" y="0"/>
                </a:moveTo>
                <a:lnTo>
                  <a:pt x="6294898" y="0"/>
                </a:lnTo>
                <a:lnTo>
                  <a:pt x="6294898" y="6294898"/>
                </a:lnTo>
                <a:lnTo>
                  <a:pt x="0" y="6294898"/>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669" name="Shape 669"/>
        <p:cNvGrpSpPr/>
        <p:nvPr/>
      </p:nvGrpSpPr>
      <p:grpSpPr>
        <a:xfrm>
          <a:off x="0" y="0"/>
          <a:ext cx="0" cy="0"/>
          <a:chOff x="0" y="0"/>
          <a:chExt cx="0" cy="0"/>
        </a:xfrm>
      </p:grpSpPr>
      <p:grpSp>
        <p:nvGrpSpPr>
          <p:cNvPr id="670" name="Google Shape;670;p31"/>
          <p:cNvGrpSpPr/>
          <p:nvPr/>
        </p:nvGrpSpPr>
        <p:grpSpPr>
          <a:xfrm>
            <a:off x="6723272" y="2035179"/>
            <a:ext cx="4161751" cy="1246529"/>
            <a:chOff x="0" y="-38100"/>
            <a:chExt cx="2565722" cy="768486"/>
          </a:xfrm>
        </p:grpSpPr>
        <p:sp>
          <p:nvSpPr>
            <p:cNvPr id="671" name="Google Shape;671;p31"/>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145DA0"/>
            </a:solidFill>
            <a:ln>
              <a:noFill/>
            </a:ln>
          </p:spPr>
        </p:sp>
        <p:sp>
          <p:nvSpPr>
            <p:cNvPr id="672" name="Google Shape;672;p31"/>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73" name="Google Shape;673;p31"/>
          <p:cNvGrpSpPr/>
          <p:nvPr/>
        </p:nvGrpSpPr>
        <p:grpSpPr>
          <a:xfrm rot="10800000">
            <a:off x="5756860" y="3281708"/>
            <a:ext cx="4161751" cy="1246529"/>
            <a:chOff x="0" y="-38100"/>
            <a:chExt cx="2565722" cy="768486"/>
          </a:xfrm>
        </p:grpSpPr>
        <p:sp>
          <p:nvSpPr>
            <p:cNvPr id="674" name="Google Shape;674;p31"/>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0071C9"/>
            </a:solidFill>
            <a:ln>
              <a:noFill/>
            </a:ln>
          </p:spPr>
        </p:sp>
        <p:sp>
          <p:nvSpPr>
            <p:cNvPr id="675" name="Google Shape;675;p31"/>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76" name="Google Shape;676;p31"/>
          <p:cNvGrpSpPr/>
          <p:nvPr/>
        </p:nvGrpSpPr>
        <p:grpSpPr>
          <a:xfrm>
            <a:off x="7387678" y="4404636"/>
            <a:ext cx="4161751" cy="1246529"/>
            <a:chOff x="0" y="-38100"/>
            <a:chExt cx="2565722" cy="768486"/>
          </a:xfrm>
        </p:grpSpPr>
        <p:sp>
          <p:nvSpPr>
            <p:cNvPr id="677" name="Google Shape;677;p31"/>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56AEFF"/>
            </a:solidFill>
            <a:ln>
              <a:noFill/>
            </a:ln>
          </p:spPr>
        </p:sp>
        <p:sp>
          <p:nvSpPr>
            <p:cNvPr id="678" name="Google Shape;678;p31"/>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79" name="Google Shape;679;p31"/>
          <p:cNvGrpSpPr/>
          <p:nvPr/>
        </p:nvGrpSpPr>
        <p:grpSpPr>
          <a:xfrm rot="10800000">
            <a:off x="6421266" y="5651165"/>
            <a:ext cx="4161751" cy="1246529"/>
            <a:chOff x="0" y="-38100"/>
            <a:chExt cx="2565722" cy="768486"/>
          </a:xfrm>
        </p:grpSpPr>
        <p:sp>
          <p:nvSpPr>
            <p:cNvPr id="680" name="Google Shape;680;p31"/>
            <p:cNvSpPr/>
            <p:nvPr/>
          </p:nvSpPr>
          <p:spPr>
            <a:xfrm>
              <a:off x="0" y="0"/>
              <a:ext cx="2565722" cy="730386"/>
            </a:xfrm>
            <a:custGeom>
              <a:rect b="b" l="l" r="r" t="t"/>
              <a:pathLst>
                <a:path extrusionOk="0" h="730386" w="2565722">
                  <a:moveTo>
                    <a:pt x="0" y="0"/>
                  </a:moveTo>
                  <a:lnTo>
                    <a:pt x="2362522" y="0"/>
                  </a:lnTo>
                  <a:lnTo>
                    <a:pt x="2565722" y="365193"/>
                  </a:lnTo>
                  <a:lnTo>
                    <a:pt x="2362522" y="730386"/>
                  </a:lnTo>
                  <a:lnTo>
                    <a:pt x="0" y="730386"/>
                  </a:lnTo>
                  <a:lnTo>
                    <a:pt x="203200" y="365193"/>
                  </a:lnTo>
                  <a:lnTo>
                    <a:pt x="0" y="0"/>
                  </a:lnTo>
                  <a:close/>
                </a:path>
              </a:pathLst>
            </a:custGeom>
            <a:solidFill>
              <a:srgbClr val="4BD1FB"/>
            </a:solidFill>
            <a:ln>
              <a:noFill/>
            </a:ln>
          </p:spPr>
        </p:sp>
        <p:sp>
          <p:nvSpPr>
            <p:cNvPr id="681" name="Google Shape;681;p31"/>
            <p:cNvSpPr txBox="1"/>
            <p:nvPr/>
          </p:nvSpPr>
          <p:spPr>
            <a:xfrm>
              <a:off x="177800" y="-38100"/>
              <a:ext cx="2311722" cy="768486"/>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82" name="Google Shape;682;p31"/>
          <p:cNvSpPr txBox="1"/>
          <p:nvPr/>
        </p:nvSpPr>
        <p:spPr>
          <a:xfrm>
            <a:off x="6421266" y="3224558"/>
            <a:ext cx="3085974" cy="1285699"/>
          </a:xfrm>
          <a:prstGeom prst="rect">
            <a:avLst/>
          </a:prstGeom>
          <a:noFill/>
          <a:ln>
            <a:noFill/>
          </a:ln>
        </p:spPr>
        <p:txBody>
          <a:bodyPr anchorCtr="0" anchor="t" bIns="0" lIns="0" spcFirstLastPara="1" rIns="0" wrap="square" tIns="0">
            <a:spAutoFit/>
          </a:bodyPr>
          <a:lstStyle/>
          <a:p>
            <a:pPr indent="0" lvl="0" marL="0" marR="0" rtl="0" algn="ctr">
              <a:lnSpc>
                <a:spcPct val="138009"/>
              </a:lnSpc>
              <a:spcBef>
                <a:spcPts val="0"/>
              </a:spcBef>
              <a:spcAft>
                <a:spcPts val="0"/>
              </a:spcAft>
              <a:buClr>
                <a:srgbClr val="000000"/>
              </a:buClr>
              <a:buSzPts val="3757"/>
              <a:buFont typeface="Arial"/>
              <a:buNone/>
            </a:pPr>
            <a:r>
              <a:rPr b="1" i="0" lang="en-US" sz="3757" u="none" cap="none" strike="noStrike">
                <a:solidFill>
                  <a:srgbClr val="051D40"/>
                </a:solidFill>
                <a:latin typeface="DM Sans"/>
                <a:ea typeface="DM Sans"/>
                <a:cs typeface="DM Sans"/>
                <a:sym typeface="DM Sans"/>
              </a:rPr>
              <a:t>Preparar los entornos</a:t>
            </a:r>
            <a:endParaRPr b="0" i="0" sz="1400" u="none" cap="none" strike="noStrike">
              <a:solidFill>
                <a:srgbClr val="000000"/>
              </a:solidFill>
              <a:latin typeface="Arial"/>
              <a:ea typeface="Arial"/>
              <a:cs typeface="Arial"/>
              <a:sym typeface="Arial"/>
            </a:endParaRPr>
          </a:p>
        </p:txBody>
      </p:sp>
      <p:sp>
        <p:nvSpPr>
          <p:cNvPr id="683" name="Google Shape;683;p31"/>
          <p:cNvSpPr/>
          <p:nvPr/>
        </p:nvSpPr>
        <p:spPr>
          <a:xfrm>
            <a:off x="6694069" y="3428600"/>
            <a:ext cx="821455" cy="821455"/>
          </a:xfrm>
          <a:custGeom>
            <a:rect b="b" l="l" r="r" t="t"/>
            <a:pathLst>
              <a:path extrusionOk="0" h="821455" w="821455">
                <a:moveTo>
                  <a:pt x="0" y="0"/>
                </a:moveTo>
                <a:lnTo>
                  <a:pt x="821455" y="0"/>
                </a:lnTo>
                <a:lnTo>
                  <a:pt x="821455" y="821455"/>
                </a:lnTo>
                <a:lnTo>
                  <a:pt x="0" y="821455"/>
                </a:lnTo>
                <a:lnTo>
                  <a:pt x="0" y="0"/>
                </a:lnTo>
                <a:close/>
              </a:path>
            </a:pathLst>
          </a:custGeom>
          <a:blipFill rotWithShape="1">
            <a:blip r:embed="rId3">
              <a:alphaModFix/>
            </a:blip>
            <a:stretch>
              <a:fillRect b="0" l="0" r="0" t="0"/>
            </a:stretch>
          </a:blipFill>
          <a:ln>
            <a:noFill/>
          </a:ln>
        </p:spPr>
      </p:sp>
      <p:sp>
        <p:nvSpPr>
          <p:cNvPr id="684" name="Google Shape;684;p31"/>
          <p:cNvSpPr txBox="1"/>
          <p:nvPr/>
        </p:nvSpPr>
        <p:spPr>
          <a:xfrm>
            <a:off x="6916181" y="2426733"/>
            <a:ext cx="3775934" cy="477597"/>
          </a:xfrm>
          <a:prstGeom prst="rect">
            <a:avLst/>
          </a:prstGeom>
          <a:noFill/>
          <a:ln>
            <a:noFill/>
          </a:ln>
        </p:spPr>
        <p:txBody>
          <a:bodyPr anchorCtr="0" anchor="t" bIns="0" lIns="0" spcFirstLastPara="1" rIns="0" wrap="square" tIns="0">
            <a:spAutoFit/>
          </a:bodyPr>
          <a:lstStyle/>
          <a:p>
            <a:pPr indent="0" lvl="0" marL="0" marR="0" rtl="0" algn="ctr">
              <a:lnSpc>
                <a:spcPct val="138011"/>
              </a:lnSpc>
              <a:spcBef>
                <a:spcPts val="0"/>
              </a:spcBef>
              <a:spcAft>
                <a:spcPts val="0"/>
              </a:spcAft>
              <a:buClr>
                <a:srgbClr val="000000"/>
              </a:buClr>
              <a:buSzPts val="2857"/>
              <a:buFont typeface="Arial"/>
              <a:buNone/>
            </a:pPr>
            <a:r>
              <a:rPr b="1" i="0" lang="en-US" sz="2857" u="none" cap="none" strike="noStrike">
                <a:solidFill>
                  <a:srgbClr val="051D40"/>
                </a:solidFill>
                <a:latin typeface="DM Sans"/>
                <a:ea typeface="DM Sans"/>
                <a:cs typeface="DM Sans"/>
                <a:sym typeface="DM Sans"/>
              </a:rPr>
              <a:t>Definir los entornos</a:t>
            </a:r>
            <a:endParaRPr b="0" i="0" sz="1400" u="none" cap="none" strike="noStrike">
              <a:solidFill>
                <a:srgbClr val="000000"/>
              </a:solidFill>
              <a:latin typeface="Arial"/>
              <a:ea typeface="Arial"/>
              <a:cs typeface="Arial"/>
              <a:sym typeface="Arial"/>
            </a:endParaRPr>
          </a:p>
        </p:txBody>
      </p:sp>
      <p:sp>
        <p:nvSpPr>
          <p:cNvPr id="685" name="Google Shape;685;p31"/>
          <p:cNvSpPr txBox="1"/>
          <p:nvPr/>
        </p:nvSpPr>
        <p:spPr>
          <a:xfrm>
            <a:off x="1313374" y="309508"/>
            <a:ext cx="13726645" cy="730377"/>
          </a:xfrm>
          <a:prstGeom prst="rect">
            <a:avLst/>
          </a:prstGeom>
          <a:noFill/>
          <a:ln>
            <a:noFill/>
          </a:ln>
        </p:spPr>
        <p:txBody>
          <a:bodyPr anchorCtr="0" anchor="t" bIns="0" lIns="0" spcFirstLastPara="1" rIns="0" wrap="square" tIns="0">
            <a:spAutoFit/>
          </a:bodyPr>
          <a:lstStyle/>
          <a:p>
            <a:pPr indent="0" lvl="0" marL="0" marR="0" rtl="0" algn="l">
              <a:lnSpc>
                <a:spcPct val="138000"/>
              </a:lnSpc>
              <a:spcBef>
                <a:spcPts val="0"/>
              </a:spcBef>
              <a:spcAft>
                <a:spcPts val="0"/>
              </a:spcAft>
              <a:buClr>
                <a:srgbClr val="000000"/>
              </a:buClr>
              <a:buSzPts val="4300"/>
              <a:buFont typeface="Arial"/>
              <a:buNone/>
            </a:pPr>
            <a:r>
              <a:rPr b="1" i="0" lang="en-US" sz="4300" u="none" cap="none" strike="noStrike">
                <a:solidFill>
                  <a:srgbClr val="FFFFFF"/>
                </a:solidFill>
                <a:latin typeface="DM Sans"/>
                <a:ea typeface="DM Sans"/>
                <a:cs typeface="DM Sans"/>
                <a:sym typeface="DM Sans"/>
              </a:rPr>
              <a:t>¿Cómo se realizan?</a:t>
            </a:r>
            <a:endParaRPr b="0" i="0" sz="1400" u="none" cap="none" strike="noStrike">
              <a:solidFill>
                <a:srgbClr val="000000"/>
              </a:solidFill>
              <a:latin typeface="Arial"/>
              <a:ea typeface="Arial"/>
              <a:cs typeface="Arial"/>
              <a:sym typeface="Arial"/>
            </a:endParaRPr>
          </a:p>
        </p:txBody>
      </p:sp>
      <p:sp>
        <p:nvSpPr>
          <p:cNvPr id="686" name="Google Shape;686;p31"/>
          <p:cNvSpPr txBox="1"/>
          <p:nvPr/>
        </p:nvSpPr>
        <p:spPr>
          <a:xfrm>
            <a:off x="7699167" y="4527842"/>
            <a:ext cx="3538773" cy="972897"/>
          </a:xfrm>
          <a:prstGeom prst="rect">
            <a:avLst/>
          </a:prstGeom>
          <a:noFill/>
          <a:ln>
            <a:noFill/>
          </a:ln>
        </p:spPr>
        <p:txBody>
          <a:bodyPr anchorCtr="0" anchor="t" bIns="0" lIns="0" spcFirstLastPara="1" rIns="0" wrap="square" tIns="0">
            <a:spAutoFit/>
          </a:bodyPr>
          <a:lstStyle/>
          <a:p>
            <a:pPr indent="0" lvl="0" marL="0" marR="0" rtl="0" algn="ctr">
              <a:lnSpc>
                <a:spcPct val="138011"/>
              </a:lnSpc>
              <a:spcBef>
                <a:spcPts val="0"/>
              </a:spcBef>
              <a:spcAft>
                <a:spcPts val="0"/>
              </a:spcAft>
              <a:buClr>
                <a:srgbClr val="000000"/>
              </a:buClr>
              <a:buSzPts val="2857"/>
              <a:buFont typeface="Arial"/>
              <a:buNone/>
            </a:pPr>
            <a:r>
              <a:rPr b="1" i="0" lang="en-US" sz="2857" u="none" cap="none" strike="noStrike">
                <a:solidFill>
                  <a:srgbClr val="051D40"/>
                </a:solidFill>
                <a:latin typeface="DM Sans"/>
                <a:ea typeface="DM Sans"/>
                <a:cs typeface="DM Sans"/>
                <a:sym typeface="DM Sans"/>
              </a:rPr>
              <a:t>Ejecutar las pruebas</a:t>
            </a:r>
            <a:endParaRPr b="0" i="0" sz="1400" u="none" cap="none" strike="noStrike">
              <a:solidFill>
                <a:srgbClr val="000000"/>
              </a:solidFill>
              <a:latin typeface="Arial"/>
              <a:ea typeface="Arial"/>
              <a:cs typeface="Arial"/>
              <a:sym typeface="Arial"/>
            </a:endParaRPr>
          </a:p>
        </p:txBody>
      </p:sp>
      <p:sp>
        <p:nvSpPr>
          <p:cNvPr id="687" name="Google Shape;687;p31"/>
          <p:cNvSpPr txBox="1"/>
          <p:nvPr/>
        </p:nvSpPr>
        <p:spPr>
          <a:xfrm>
            <a:off x="6611281" y="5687929"/>
            <a:ext cx="3971737" cy="520650"/>
          </a:xfrm>
          <a:prstGeom prst="rect">
            <a:avLst/>
          </a:prstGeom>
          <a:noFill/>
          <a:ln>
            <a:noFill/>
          </a:ln>
        </p:spPr>
        <p:txBody>
          <a:bodyPr anchorCtr="0" anchor="t" bIns="0" lIns="0" spcFirstLastPara="1" rIns="0" wrap="square" tIns="0">
            <a:spAutoFit/>
          </a:bodyPr>
          <a:lstStyle/>
          <a:p>
            <a:pPr indent="0" lvl="0" marL="0" marR="0" rtl="0" algn="ctr">
              <a:lnSpc>
                <a:spcPct val="138011"/>
              </a:lnSpc>
              <a:spcBef>
                <a:spcPts val="0"/>
              </a:spcBef>
              <a:spcAft>
                <a:spcPts val="0"/>
              </a:spcAft>
              <a:buClr>
                <a:srgbClr val="000000"/>
              </a:buClr>
              <a:buSzPts val="3057"/>
              <a:buFont typeface="Arial"/>
              <a:buNone/>
            </a:pPr>
            <a:r>
              <a:rPr b="1" i="0" lang="en-US" sz="3057" u="none" cap="none" strike="noStrike">
                <a:solidFill>
                  <a:srgbClr val="051D40"/>
                </a:solidFill>
                <a:latin typeface="DM Sans"/>
                <a:ea typeface="DM Sans"/>
                <a:cs typeface="DM Sans"/>
                <a:sym typeface="DM Sans"/>
              </a:rPr>
              <a:t>Reportar y corregir</a:t>
            </a:r>
            <a:endParaRPr b="0" i="0" sz="1400" u="none" cap="none" strike="noStrike">
              <a:solidFill>
                <a:srgbClr val="000000"/>
              </a:solidFill>
              <a:latin typeface="Arial"/>
              <a:ea typeface="Arial"/>
              <a:cs typeface="Arial"/>
              <a:sym typeface="Arial"/>
            </a:endParaRPr>
          </a:p>
        </p:txBody>
      </p:sp>
      <p:sp>
        <p:nvSpPr>
          <p:cNvPr id="688" name="Google Shape;688;p31"/>
          <p:cNvSpPr txBox="1"/>
          <p:nvPr/>
        </p:nvSpPr>
        <p:spPr>
          <a:xfrm>
            <a:off x="1113572" y="2920005"/>
            <a:ext cx="4490889" cy="1800544"/>
          </a:xfrm>
          <a:prstGeom prst="rect">
            <a:avLst/>
          </a:prstGeom>
          <a:noFill/>
          <a:ln>
            <a:noFill/>
          </a:ln>
        </p:spPr>
        <p:txBody>
          <a:bodyPr anchorCtr="0" anchor="t" bIns="0" lIns="0" spcFirstLastPara="1" rIns="0" wrap="square" tIns="0">
            <a:spAutoFit/>
          </a:bodyPr>
          <a:lstStyle/>
          <a:p>
            <a:pPr indent="0" lvl="0" marL="0" marR="0" rtl="0" algn="r">
              <a:lnSpc>
                <a:spcPct val="137989"/>
              </a:lnSpc>
              <a:spcBef>
                <a:spcPts val="0"/>
              </a:spcBef>
              <a:spcAft>
                <a:spcPts val="0"/>
              </a:spcAft>
              <a:buClr>
                <a:srgbClr val="000000"/>
              </a:buClr>
              <a:buSzPts val="2069"/>
              <a:buFont typeface="Arial"/>
              <a:buNone/>
            </a:pPr>
            <a:r>
              <a:rPr b="0" i="0" lang="en-US" sz="2069" u="none" cap="none" strike="noStrike">
                <a:solidFill>
                  <a:srgbClr val="FFFFFF"/>
                </a:solidFill>
                <a:latin typeface="DM Sans"/>
                <a:ea typeface="DM Sans"/>
                <a:cs typeface="DM Sans"/>
                <a:sym typeface="DM Sans"/>
              </a:rPr>
              <a:t>Se configuran los dispositivos o máquinas virtuales con los sistemas operativos, navegadores y otras configuraciones de software necesarias para la prueba.</a:t>
            </a:r>
            <a:endParaRPr b="0" i="0" sz="1400" u="none" cap="none" strike="noStrike">
              <a:solidFill>
                <a:srgbClr val="000000"/>
              </a:solidFill>
              <a:latin typeface="Arial"/>
              <a:ea typeface="Arial"/>
              <a:cs typeface="Arial"/>
              <a:sym typeface="Arial"/>
            </a:endParaRPr>
          </a:p>
        </p:txBody>
      </p:sp>
      <p:sp>
        <p:nvSpPr>
          <p:cNvPr id="689" name="Google Shape;689;p31"/>
          <p:cNvSpPr txBox="1"/>
          <p:nvPr/>
        </p:nvSpPr>
        <p:spPr>
          <a:xfrm>
            <a:off x="1617350" y="5613065"/>
            <a:ext cx="4372865" cy="3248344"/>
          </a:xfrm>
          <a:prstGeom prst="rect">
            <a:avLst/>
          </a:prstGeom>
          <a:noFill/>
          <a:ln>
            <a:noFill/>
          </a:ln>
        </p:spPr>
        <p:txBody>
          <a:bodyPr anchorCtr="0" anchor="t" bIns="0" lIns="0" spcFirstLastPara="1" rIns="0" wrap="square" tIns="0">
            <a:spAutoFit/>
          </a:bodyPr>
          <a:lstStyle/>
          <a:p>
            <a:pPr indent="0" lvl="0" marL="0" marR="0" rtl="0" algn="r">
              <a:lnSpc>
                <a:spcPct val="137989"/>
              </a:lnSpc>
              <a:spcBef>
                <a:spcPts val="0"/>
              </a:spcBef>
              <a:spcAft>
                <a:spcPts val="0"/>
              </a:spcAft>
              <a:buClr>
                <a:srgbClr val="000000"/>
              </a:buClr>
              <a:buSzPts val="2069"/>
              <a:buFont typeface="Arial"/>
              <a:buNone/>
            </a:pPr>
            <a:r>
              <a:rPr b="0" i="0" lang="en-US" sz="2069" u="none" cap="none" strike="noStrike">
                <a:solidFill>
                  <a:srgbClr val="FFFFFF"/>
                </a:solidFill>
                <a:latin typeface="DM Sans"/>
                <a:ea typeface="DM Sans"/>
                <a:cs typeface="DM Sans"/>
                <a:sym typeface="DM Sans"/>
              </a:rPr>
              <a:t>Se documentan los errores de compatibilidad y se reportan al equipo de desarrollo para que se corrijan. Los errores comunes incluyen problemas de diseño (la UI se rompe en un navegador), fallos de rendimiento o incompatibilidades de funciones específicas.</a:t>
            </a:r>
            <a:endParaRPr b="0" i="0" sz="1400" u="none" cap="none" strike="noStrike">
              <a:solidFill>
                <a:srgbClr val="000000"/>
              </a:solidFill>
              <a:latin typeface="Arial"/>
              <a:ea typeface="Arial"/>
              <a:cs typeface="Arial"/>
              <a:sym typeface="Arial"/>
            </a:endParaRPr>
          </a:p>
        </p:txBody>
      </p:sp>
      <p:sp>
        <p:nvSpPr>
          <p:cNvPr id="690" name="Google Shape;690;p31"/>
          <p:cNvSpPr/>
          <p:nvPr/>
        </p:nvSpPr>
        <p:spPr>
          <a:xfrm>
            <a:off x="-2519628" y="7712017"/>
            <a:ext cx="6602062" cy="6602062"/>
          </a:xfrm>
          <a:custGeom>
            <a:rect b="b" l="l" r="r" t="t"/>
            <a:pathLst>
              <a:path extrusionOk="0" h="6602062" w="6602062">
                <a:moveTo>
                  <a:pt x="0" y="0"/>
                </a:moveTo>
                <a:lnTo>
                  <a:pt x="6602062" y="0"/>
                </a:lnTo>
                <a:lnTo>
                  <a:pt x="6602062" y="6602062"/>
                </a:lnTo>
                <a:lnTo>
                  <a:pt x="0" y="6602062"/>
                </a:lnTo>
                <a:lnTo>
                  <a:pt x="0" y="0"/>
                </a:lnTo>
                <a:close/>
              </a:path>
            </a:pathLst>
          </a:custGeom>
          <a:blipFill rotWithShape="1">
            <a:blip r:embed="rId4">
              <a:alphaModFix/>
            </a:blip>
            <a:stretch>
              <a:fillRect b="0" l="0" r="0" t="0"/>
            </a:stretch>
          </a:blipFill>
          <a:ln>
            <a:noFill/>
          </a:ln>
        </p:spPr>
      </p:sp>
      <p:sp>
        <p:nvSpPr>
          <p:cNvPr id="691" name="Google Shape;691;p31"/>
          <p:cNvSpPr/>
          <p:nvPr/>
        </p:nvSpPr>
        <p:spPr>
          <a:xfrm rot="10436461">
            <a:off x="14111851" y="-3920191"/>
            <a:ext cx="6294897" cy="6294897"/>
          </a:xfrm>
          <a:custGeom>
            <a:rect b="b" l="l" r="r" t="t"/>
            <a:pathLst>
              <a:path extrusionOk="0" h="6294897" w="6294897">
                <a:moveTo>
                  <a:pt x="0" y="0"/>
                </a:moveTo>
                <a:lnTo>
                  <a:pt x="6294898" y="0"/>
                </a:lnTo>
                <a:lnTo>
                  <a:pt x="6294898" y="6294898"/>
                </a:lnTo>
                <a:lnTo>
                  <a:pt x="0" y="6294898"/>
                </a:lnTo>
                <a:lnTo>
                  <a:pt x="0" y="0"/>
                </a:lnTo>
                <a:close/>
              </a:path>
            </a:pathLst>
          </a:custGeom>
          <a:blipFill rotWithShape="1">
            <a:blip r:embed="rId4">
              <a:alphaModFix/>
            </a:blip>
            <a:stretch>
              <a:fillRect b="0" l="0" r="0" t="0"/>
            </a:stretch>
          </a:blipFill>
          <a:ln>
            <a:noFill/>
          </a:ln>
        </p:spPr>
      </p:sp>
      <p:sp>
        <p:nvSpPr>
          <p:cNvPr id="692" name="Google Shape;692;p31"/>
          <p:cNvSpPr txBox="1"/>
          <p:nvPr/>
        </p:nvSpPr>
        <p:spPr>
          <a:xfrm>
            <a:off x="11376508" y="1632382"/>
            <a:ext cx="4998190" cy="1769948"/>
          </a:xfrm>
          <a:prstGeom prst="rect">
            <a:avLst/>
          </a:prstGeom>
          <a:noFill/>
          <a:ln>
            <a:noFill/>
          </a:ln>
        </p:spPr>
        <p:txBody>
          <a:bodyPr anchorCtr="0" anchor="t" bIns="0" lIns="0" spcFirstLastPara="1" rIns="0" wrap="square" tIns="0">
            <a:spAutoFit/>
          </a:bodyPr>
          <a:lstStyle/>
          <a:p>
            <a:pPr indent="0" lvl="0" marL="0" marR="0" rtl="0" algn="l">
              <a:lnSpc>
                <a:spcPct val="137989"/>
              </a:lnSpc>
              <a:spcBef>
                <a:spcPts val="0"/>
              </a:spcBef>
              <a:spcAft>
                <a:spcPts val="0"/>
              </a:spcAft>
              <a:buClr>
                <a:srgbClr val="000000"/>
              </a:buClr>
              <a:buSzPts val="2069"/>
              <a:buFont typeface="Arial"/>
              <a:buNone/>
            </a:pPr>
            <a:r>
              <a:rPr b="0" i="0" lang="en-US" sz="2069" u="none" cap="none" strike="noStrike">
                <a:solidFill>
                  <a:srgbClr val="FFFFFF"/>
                </a:solidFill>
                <a:latin typeface="DM Sans"/>
                <a:ea typeface="DM Sans"/>
                <a:cs typeface="DM Sans"/>
                <a:sym typeface="DM Sans"/>
              </a:rPr>
              <a:t> Se identifican y se priorizan los entornos de destino. Por ejemplo, "probar la aplicación en Chrome, Firefox y Safari en Windows 10, macOS y las últimas versiones de iOS y Android</a:t>
            </a:r>
            <a:endParaRPr b="0" i="0" sz="1400" u="none" cap="none" strike="noStrike">
              <a:solidFill>
                <a:srgbClr val="000000"/>
              </a:solidFill>
              <a:latin typeface="Arial"/>
              <a:ea typeface="Arial"/>
              <a:cs typeface="Arial"/>
              <a:sym typeface="Arial"/>
            </a:endParaRPr>
          </a:p>
        </p:txBody>
      </p:sp>
      <p:sp>
        <p:nvSpPr>
          <p:cNvPr id="693" name="Google Shape;693;p31"/>
          <p:cNvSpPr txBox="1"/>
          <p:nvPr/>
        </p:nvSpPr>
        <p:spPr>
          <a:xfrm>
            <a:off x="11701829" y="4211955"/>
            <a:ext cx="5094207" cy="1614196"/>
          </a:xfrm>
          <a:prstGeom prst="rect">
            <a:avLst/>
          </a:prstGeom>
          <a:noFill/>
          <a:ln>
            <a:noFill/>
          </a:ln>
        </p:spPr>
        <p:txBody>
          <a:bodyPr anchorCtr="0" anchor="t" bIns="0" lIns="0" spcFirstLastPara="1" rIns="0" wrap="square" tIns="0">
            <a:spAutoFit/>
          </a:bodyPr>
          <a:lstStyle/>
          <a:p>
            <a:pPr indent="0" lvl="0" marL="0" marR="0" rtl="0" algn="ctr">
              <a:lnSpc>
                <a:spcPct val="138049"/>
              </a:lnSpc>
              <a:spcBef>
                <a:spcPts val="0"/>
              </a:spcBef>
              <a:spcAft>
                <a:spcPts val="0"/>
              </a:spcAft>
              <a:buClr>
                <a:srgbClr val="000000"/>
              </a:buClr>
              <a:buSzPts val="1887"/>
              <a:buFont typeface="Arial"/>
              <a:buNone/>
            </a:pPr>
            <a:r>
              <a:rPr b="0" i="0" lang="en-US" sz="1887" u="none" cap="none" strike="noStrike">
                <a:solidFill>
                  <a:srgbClr val="F5FFF5"/>
                </a:solidFill>
                <a:latin typeface="DM Sans"/>
                <a:ea typeface="DM Sans"/>
                <a:cs typeface="DM Sans"/>
                <a:sym typeface="DM Sans"/>
              </a:rPr>
              <a:t>Se ejecutan los casos de prueba funcionales y no funcionales en cada uno de los entornos. El objetivo es verificar que todo funciona exactamente igual que en el entorno de desarrollo.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697" name="Shape 697"/>
        <p:cNvGrpSpPr/>
        <p:nvPr/>
      </p:nvGrpSpPr>
      <p:grpSpPr>
        <a:xfrm>
          <a:off x="0" y="0"/>
          <a:ext cx="0" cy="0"/>
          <a:chOff x="0" y="0"/>
          <a:chExt cx="0" cy="0"/>
        </a:xfrm>
      </p:grpSpPr>
      <p:sp>
        <p:nvSpPr>
          <p:cNvPr id="698" name="Google Shape;698;p32"/>
          <p:cNvSpPr/>
          <p:nvPr/>
        </p:nvSpPr>
        <p:spPr>
          <a:xfrm>
            <a:off x="17259300" y="8127303"/>
            <a:ext cx="1802889" cy="1802889"/>
          </a:xfrm>
          <a:custGeom>
            <a:rect b="b" l="l" r="r" t="t"/>
            <a:pathLst>
              <a:path extrusionOk="0" h="1802889" w="1802889">
                <a:moveTo>
                  <a:pt x="0" y="0"/>
                </a:moveTo>
                <a:lnTo>
                  <a:pt x="1802889" y="0"/>
                </a:lnTo>
                <a:lnTo>
                  <a:pt x="1802889" y="1802889"/>
                </a:lnTo>
                <a:lnTo>
                  <a:pt x="0" y="1802889"/>
                </a:lnTo>
                <a:lnTo>
                  <a:pt x="0" y="0"/>
                </a:lnTo>
                <a:close/>
              </a:path>
            </a:pathLst>
          </a:custGeom>
          <a:blipFill rotWithShape="1">
            <a:blip r:embed="rId3">
              <a:alphaModFix/>
            </a:blip>
            <a:stretch>
              <a:fillRect b="0" l="0" r="0" t="0"/>
            </a:stretch>
          </a:blipFill>
          <a:ln>
            <a:noFill/>
          </a:ln>
        </p:spPr>
      </p:sp>
      <p:grpSp>
        <p:nvGrpSpPr>
          <p:cNvPr id="699" name="Google Shape;699;p32"/>
          <p:cNvGrpSpPr/>
          <p:nvPr/>
        </p:nvGrpSpPr>
        <p:grpSpPr>
          <a:xfrm>
            <a:off x="-1543050" y="-199408"/>
            <a:ext cx="2760734" cy="10486408"/>
            <a:chOff x="0" y="-38100"/>
            <a:chExt cx="727107" cy="2761852"/>
          </a:xfrm>
        </p:grpSpPr>
        <p:sp>
          <p:nvSpPr>
            <p:cNvPr id="700" name="Google Shape;700;p32"/>
            <p:cNvSpPr/>
            <p:nvPr/>
          </p:nvSpPr>
          <p:spPr>
            <a:xfrm>
              <a:off x="0" y="0"/>
              <a:ext cx="727107" cy="2723752"/>
            </a:xfrm>
            <a:custGeom>
              <a:rect b="b" l="l" r="r" t="t"/>
              <a:pathLst>
                <a:path extrusionOk="0" h="2723752" w="727107">
                  <a:moveTo>
                    <a:pt x="0" y="0"/>
                  </a:moveTo>
                  <a:lnTo>
                    <a:pt x="727107" y="0"/>
                  </a:lnTo>
                  <a:lnTo>
                    <a:pt x="727107" y="2723752"/>
                  </a:lnTo>
                  <a:lnTo>
                    <a:pt x="0" y="2723752"/>
                  </a:lnTo>
                  <a:close/>
                </a:path>
              </a:pathLst>
            </a:custGeom>
            <a:solidFill>
              <a:srgbClr val="145DA0"/>
            </a:solidFill>
            <a:ln>
              <a:noFill/>
            </a:ln>
          </p:spPr>
        </p:sp>
        <p:sp>
          <p:nvSpPr>
            <p:cNvPr id="701" name="Google Shape;701;p32"/>
            <p:cNvSpPr txBox="1"/>
            <p:nvPr/>
          </p:nvSpPr>
          <p:spPr>
            <a:xfrm>
              <a:off x="0" y="-38100"/>
              <a:ext cx="727107" cy="2761852"/>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02" name="Google Shape;702;p32"/>
          <p:cNvSpPr/>
          <p:nvPr/>
        </p:nvSpPr>
        <p:spPr>
          <a:xfrm>
            <a:off x="2878156" y="587273"/>
            <a:ext cx="13072202" cy="9057706"/>
          </a:xfrm>
          <a:custGeom>
            <a:rect b="b" l="l" r="r" t="t"/>
            <a:pathLst>
              <a:path extrusionOk="0" h="9057706" w="13072202">
                <a:moveTo>
                  <a:pt x="0" y="0"/>
                </a:moveTo>
                <a:lnTo>
                  <a:pt x="13072202" y="0"/>
                </a:lnTo>
                <a:lnTo>
                  <a:pt x="13072202" y="9057706"/>
                </a:lnTo>
                <a:lnTo>
                  <a:pt x="0" y="9057706"/>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33"/>
          <p:cNvSpPr/>
          <p:nvPr/>
        </p:nvSpPr>
        <p:spPr>
          <a:xfrm>
            <a:off x="17259300" y="8127303"/>
            <a:ext cx="1802889" cy="1802889"/>
          </a:xfrm>
          <a:custGeom>
            <a:rect b="b" l="l" r="r" t="t"/>
            <a:pathLst>
              <a:path extrusionOk="0" h="1802889" w="1802889">
                <a:moveTo>
                  <a:pt x="0" y="0"/>
                </a:moveTo>
                <a:lnTo>
                  <a:pt x="1802889" y="0"/>
                </a:lnTo>
                <a:lnTo>
                  <a:pt x="1802889" y="1802889"/>
                </a:lnTo>
                <a:lnTo>
                  <a:pt x="0" y="1802889"/>
                </a:lnTo>
                <a:lnTo>
                  <a:pt x="0" y="0"/>
                </a:lnTo>
                <a:close/>
              </a:path>
            </a:pathLst>
          </a:custGeom>
          <a:blipFill rotWithShape="1">
            <a:blip r:embed="rId3">
              <a:alphaModFix/>
            </a:blip>
            <a:stretch>
              <a:fillRect b="0" l="0" r="0" t="0"/>
            </a:stretch>
          </a:blipFill>
          <a:ln>
            <a:noFill/>
          </a:ln>
        </p:spPr>
      </p:sp>
      <p:grpSp>
        <p:nvGrpSpPr>
          <p:cNvPr id="708" name="Google Shape;708;p33"/>
          <p:cNvGrpSpPr/>
          <p:nvPr/>
        </p:nvGrpSpPr>
        <p:grpSpPr>
          <a:xfrm>
            <a:off x="-1543050" y="-199408"/>
            <a:ext cx="2760734" cy="10486408"/>
            <a:chOff x="0" y="-38100"/>
            <a:chExt cx="727107" cy="2761852"/>
          </a:xfrm>
        </p:grpSpPr>
        <p:sp>
          <p:nvSpPr>
            <p:cNvPr id="709" name="Google Shape;709;p33"/>
            <p:cNvSpPr/>
            <p:nvPr/>
          </p:nvSpPr>
          <p:spPr>
            <a:xfrm>
              <a:off x="0" y="0"/>
              <a:ext cx="727107" cy="2723752"/>
            </a:xfrm>
            <a:custGeom>
              <a:rect b="b" l="l" r="r" t="t"/>
              <a:pathLst>
                <a:path extrusionOk="0" h="2723752" w="727107">
                  <a:moveTo>
                    <a:pt x="0" y="0"/>
                  </a:moveTo>
                  <a:lnTo>
                    <a:pt x="727107" y="0"/>
                  </a:lnTo>
                  <a:lnTo>
                    <a:pt x="727107" y="2723752"/>
                  </a:lnTo>
                  <a:lnTo>
                    <a:pt x="0" y="2723752"/>
                  </a:lnTo>
                  <a:close/>
                </a:path>
              </a:pathLst>
            </a:custGeom>
            <a:solidFill>
              <a:srgbClr val="145DA0"/>
            </a:solidFill>
            <a:ln>
              <a:noFill/>
            </a:ln>
          </p:spPr>
        </p:sp>
        <p:sp>
          <p:nvSpPr>
            <p:cNvPr id="710" name="Google Shape;710;p33"/>
            <p:cNvSpPr txBox="1"/>
            <p:nvPr/>
          </p:nvSpPr>
          <p:spPr>
            <a:xfrm>
              <a:off x="0" y="-38100"/>
              <a:ext cx="727107" cy="2761852"/>
            </a:xfrm>
            <a:prstGeom prst="rect">
              <a:avLst/>
            </a:prstGeom>
            <a:noFill/>
            <a:ln>
              <a:noFill/>
            </a:ln>
          </p:spPr>
          <p:txBody>
            <a:bodyPr anchorCtr="0" anchor="ctr" bIns="50800" lIns="50800" spcFirstLastPara="1" rIns="50800" wrap="square" tIns="50800">
              <a:noAutofit/>
            </a:bodyPr>
            <a:lstStyle/>
            <a:p>
              <a:pPr indent="0" lvl="0" marL="0" marR="0" rtl="0" algn="ctr">
                <a:lnSpc>
                  <a:spcPct val="144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11" name="Google Shape;711;p33"/>
          <p:cNvSpPr/>
          <p:nvPr/>
        </p:nvSpPr>
        <p:spPr>
          <a:xfrm>
            <a:off x="4163111" y="1446559"/>
            <a:ext cx="10773043" cy="7339136"/>
          </a:xfrm>
          <a:custGeom>
            <a:rect b="b" l="l" r="r" t="t"/>
            <a:pathLst>
              <a:path extrusionOk="0" h="7339136" w="10773043">
                <a:moveTo>
                  <a:pt x="0" y="0"/>
                </a:moveTo>
                <a:lnTo>
                  <a:pt x="10773043" y="0"/>
                </a:lnTo>
                <a:lnTo>
                  <a:pt x="10773043" y="7339135"/>
                </a:lnTo>
                <a:lnTo>
                  <a:pt x="0" y="7339135"/>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g3e7d37d72a0_0_530"/>
          <p:cNvSpPr/>
          <p:nvPr/>
        </p:nvSpPr>
        <p:spPr>
          <a:xfrm>
            <a:off x="0" y="0"/>
            <a:ext cx="8229600" cy="2789320"/>
          </a:xfrm>
          <a:custGeom>
            <a:rect b="b" l="l" r="r" t="t"/>
            <a:pathLst>
              <a:path extrusionOk="0" h="7292340" w="18288000">
                <a:moveTo>
                  <a:pt x="0" y="0"/>
                </a:moveTo>
                <a:lnTo>
                  <a:pt x="18288000" y="0"/>
                </a:lnTo>
                <a:lnTo>
                  <a:pt x="18288000" y="7292340"/>
                </a:lnTo>
                <a:lnTo>
                  <a:pt x="0" y="7292340"/>
                </a:lnTo>
                <a:lnTo>
                  <a:pt x="0" y="0"/>
                </a:lnTo>
                <a:close/>
              </a:path>
            </a:pathLst>
          </a:custGeom>
          <a:blipFill rotWithShape="1">
            <a:blip r:embed="rId3">
              <a:alphaModFix/>
            </a:blip>
            <a:stretch>
              <a:fillRect b="0" l="0" r="0" t="0"/>
            </a:stretch>
          </a:blipFill>
          <a:ln>
            <a:noFill/>
          </a:ln>
        </p:spPr>
      </p:sp>
      <p:grpSp>
        <p:nvGrpSpPr>
          <p:cNvPr id="717" name="Google Shape;717;g3e7d37d72a0_0_530"/>
          <p:cNvGrpSpPr/>
          <p:nvPr/>
        </p:nvGrpSpPr>
        <p:grpSpPr>
          <a:xfrm>
            <a:off x="15318704" y="7552524"/>
            <a:ext cx="2286000" cy="2286000"/>
            <a:chOff x="0" y="0"/>
            <a:chExt cx="3048000" cy="3048000"/>
          </a:xfrm>
        </p:grpSpPr>
        <p:sp>
          <p:nvSpPr>
            <p:cNvPr id="718" name="Google Shape;718;g3e7d37d72a0_0_530"/>
            <p:cNvSpPr/>
            <p:nvPr/>
          </p:nvSpPr>
          <p:spPr>
            <a:xfrm>
              <a:off x="0" y="0"/>
              <a:ext cx="3048000" cy="2946400"/>
            </a:xfrm>
            <a:custGeom>
              <a:rect b="b" l="l" r="r" t="t"/>
              <a:pathLst>
                <a:path extrusionOk="0" h="2946400" w="3048000">
                  <a:moveTo>
                    <a:pt x="0" y="0"/>
                  </a:moveTo>
                  <a:lnTo>
                    <a:pt x="3048000" y="0"/>
                  </a:lnTo>
                  <a:lnTo>
                    <a:pt x="3048000" y="2946400"/>
                  </a:lnTo>
                  <a:lnTo>
                    <a:pt x="0" y="2946400"/>
                  </a:lnTo>
                  <a:close/>
                </a:path>
              </a:pathLst>
            </a:custGeom>
            <a:solidFill>
              <a:srgbClr val="FF5757"/>
            </a:solidFill>
            <a:ln>
              <a:noFill/>
            </a:ln>
          </p:spPr>
        </p:sp>
        <p:sp>
          <p:nvSpPr>
            <p:cNvPr id="719" name="Google Shape;719;g3e7d37d72a0_0_530"/>
            <p:cNvSpPr/>
            <p:nvPr/>
          </p:nvSpPr>
          <p:spPr>
            <a:xfrm>
              <a:off x="0" y="0"/>
              <a:ext cx="3048000" cy="3048000"/>
            </a:xfrm>
            <a:custGeom>
              <a:rect b="b" l="l" r="r" t="t"/>
              <a:pathLst>
                <a:path extrusionOk="0" h="3048000" w="3048000">
                  <a:moveTo>
                    <a:pt x="0" y="2946400"/>
                  </a:moveTo>
                  <a:lnTo>
                    <a:pt x="3048000" y="2946400"/>
                  </a:lnTo>
                  <a:lnTo>
                    <a:pt x="2921000" y="3048000"/>
                  </a:lnTo>
                  <a:cubicBezTo>
                    <a:pt x="2921000" y="3048000"/>
                    <a:pt x="1930400" y="2971800"/>
                    <a:pt x="1828800" y="2971800"/>
                  </a:cubicBezTo>
                  <a:lnTo>
                    <a:pt x="1219200" y="2971800"/>
                  </a:lnTo>
                  <a:cubicBezTo>
                    <a:pt x="1117600" y="2971800"/>
                    <a:pt x="127000" y="3048000"/>
                    <a:pt x="127000" y="3048000"/>
                  </a:cubicBezTo>
                  <a:lnTo>
                    <a:pt x="0" y="2946400"/>
                  </a:lnTo>
                  <a:lnTo>
                    <a:pt x="0" y="0"/>
                  </a:lnTo>
                  <a:lnTo>
                    <a:pt x="3048000" y="0"/>
                  </a:lnTo>
                  <a:lnTo>
                    <a:pt x="3048000" y="2946400"/>
                  </a:lnTo>
                  <a:lnTo>
                    <a:pt x="12700" y="2946400"/>
                  </a:lnTo>
                  <a:lnTo>
                    <a:pt x="12700" y="2933700"/>
                  </a:lnTo>
                  <a:lnTo>
                    <a:pt x="3035300" y="2933700"/>
                  </a:lnTo>
                  <a:lnTo>
                    <a:pt x="3035300" y="12700"/>
                  </a:lnTo>
                  <a:lnTo>
                    <a:pt x="12700" y="12700"/>
                  </a:lnTo>
                  <a:lnTo>
                    <a:pt x="12700" y="2946400"/>
                  </a:lnTo>
                </a:path>
              </a:pathLst>
            </a:custGeom>
            <a:solidFill>
              <a:srgbClr val="394C60">
                <a:alpha val="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0" name="Google Shape;720;g3e7d37d72a0_0_530"/>
          <p:cNvSpPr txBox="1"/>
          <p:nvPr/>
        </p:nvSpPr>
        <p:spPr>
          <a:xfrm>
            <a:off x="2029725" y="2929250"/>
            <a:ext cx="13614600" cy="411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US" sz="2400">
                <a:solidFill>
                  <a:schemeClr val="dk1"/>
                </a:solidFill>
              </a:rPr>
              <a:t>Contexto:</a:t>
            </a:r>
            <a:r>
              <a:rPr lang="en-US" sz="2400">
                <a:solidFill>
                  <a:schemeClr val="dk1"/>
                </a:solidFill>
              </a:rPr>
              <a:t> Imaginad que vuestro sistema (el de la cafetería o el de noticias) es crítico. Si el sistema se cae, la empresa pierde dinero cada minuto. No basta con decir "que no se caiga", hay que definir un </a:t>
            </a:r>
            <a:r>
              <a:rPr b="1" lang="en-US" sz="2400">
                <a:solidFill>
                  <a:schemeClr val="dk1"/>
                </a:solidFill>
              </a:rPr>
              <a:t>EAC medible</a:t>
            </a:r>
            <a:r>
              <a:rPr lang="en-US" sz="2400">
                <a:solidFill>
                  <a:schemeClr val="dk1"/>
                </a:solidFill>
              </a:rPr>
              <a:t>.</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2400">
                <a:solidFill>
                  <a:schemeClr val="dk1"/>
                </a:solidFill>
              </a:rPr>
              <a:t>1. El Enunciado del Ejemplo (Lo que tú les das)</a:t>
            </a:r>
            <a:endParaRPr b="1" sz="24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US" sz="2400">
                <a:solidFill>
                  <a:schemeClr val="dk1"/>
                </a:solidFill>
              </a:rPr>
              <a:t>"El sistema de procesamiento de pedidos debe tener una </a:t>
            </a:r>
            <a:r>
              <a:rPr b="1" lang="en-US" sz="2400">
                <a:solidFill>
                  <a:schemeClr val="dk1"/>
                </a:solidFill>
              </a:rPr>
              <a:t>disponibilidad del 99.9% (Triple Nueve)</a:t>
            </a:r>
            <a:r>
              <a:rPr lang="en-US" sz="2400">
                <a:solidFill>
                  <a:schemeClr val="dk1"/>
                </a:solidFill>
              </a:rPr>
              <a:t> durante el horario de operación comercial (08:00 a 20:00), con un tiempo de recuperación (MTTR) no mayor a </a:t>
            </a:r>
            <a:r>
              <a:rPr b="1" lang="en-US" sz="2400">
                <a:solidFill>
                  <a:schemeClr val="dk1"/>
                </a:solidFill>
              </a:rPr>
              <a:t>5 minutos</a:t>
            </a:r>
            <a:r>
              <a:rPr lang="en-US" sz="2400">
                <a:solidFill>
                  <a:schemeClr val="dk1"/>
                </a:solidFill>
              </a:rPr>
              <a:t> en caso de fallo crítico."</a:t>
            </a:r>
            <a:endParaRPr sz="2400">
              <a:solidFill>
                <a:schemeClr val="dk1"/>
              </a:solidFill>
            </a:endParaRPr>
          </a:p>
          <a:p>
            <a:pPr indent="0" lvl="0" marL="0" rtl="0" algn="l">
              <a:spcBef>
                <a:spcPts val="1200"/>
              </a:spcBef>
              <a:spcAft>
                <a:spcPts val="0"/>
              </a:spcAft>
              <a:buNone/>
            </a:pPr>
            <a:r>
              <a:t/>
            </a:r>
            <a:endParaRPr sz="320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g3e7d37d72a0_0_614"/>
          <p:cNvSpPr/>
          <p:nvPr/>
        </p:nvSpPr>
        <p:spPr>
          <a:xfrm>
            <a:off x="0" y="0"/>
            <a:ext cx="7818120" cy="2518258"/>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3">
              <a:alphaModFix/>
            </a:blip>
            <a:stretch>
              <a:fillRect b="0" l="0" r="0" t="0"/>
            </a:stretch>
          </a:blipFill>
          <a:ln>
            <a:noFill/>
          </a:ln>
        </p:spPr>
      </p:sp>
      <p:sp>
        <p:nvSpPr>
          <p:cNvPr id="726" name="Google Shape;726;g3e7d37d72a0_0_614"/>
          <p:cNvSpPr txBox="1"/>
          <p:nvPr/>
        </p:nvSpPr>
        <p:spPr>
          <a:xfrm>
            <a:off x="719375" y="2877000"/>
            <a:ext cx="16977900" cy="661800"/>
          </a:xfrm>
          <a:prstGeom prst="rect">
            <a:avLst/>
          </a:prstGeom>
          <a:noFill/>
          <a:ln>
            <a:noFill/>
          </a:ln>
        </p:spPr>
        <p:txBody>
          <a:bodyPr anchorCtr="0" anchor="t" bIns="91425" lIns="91425" spcFirstLastPara="1" rIns="91425" wrap="square" tIns="91425">
            <a:spAutoFit/>
          </a:bodyPr>
          <a:lstStyle/>
          <a:p>
            <a:pPr indent="-425450" lvl="0" marL="457200" rtl="0" algn="l">
              <a:lnSpc>
                <a:spcPct val="115000"/>
              </a:lnSpc>
              <a:spcBef>
                <a:spcPts val="1200"/>
              </a:spcBef>
              <a:spcAft>
                <a:spcPts val="0"/>
              </a:spcAft>
              <a:buClr>
                <a:schemeClr val="dk1"/>
              </a:buClr>
              <a:buSzPts val="3100"/>
              <a:buAutoNum type="arabicPeriod"/>
            </a:pPr>
            <a:r>
              <a:rPr lang="en-US" sz="1500">
                <a:solidFill>
                  <a:schemeClr val="dk1"/>
                </a:solidFill>
              </a:rPr>
              <a:t>Investigad y completad la siguiente tabla basada en el estándar </a:t>
            </a:r>
            <a:r>
              <a:rPr b="1" lang="en-US" sz="1500">
                <a:solidFill>
                  <a:schemeClr val="dk1"/>
                </a:solidFill>
              </a:rPr>
              <a:t>OWASP Top 10</a:t>
            </a:r>
            <a:r>
              <a:rPr lang="en-US" sz="1500">
                <a:solidFill>
                  <a:schemeClr val="dk1"/>
                </a:solidFill>
              </a:rPr>
              <a:t>. Para cada vulnerabilidad, debéis proponer una medida de contingencia técnica (prevención). </a:t>
            </a:r>
            <a:endParaRPr sz="3100">
              <a:solidFill>
                <a:schemeClr val="dk1"/>
              </a:solidFill>
            </a:endParaRPr>
          </a:p>
        </p:txBody>
      </p:sp>
      <p:graphicFrame>
        <p:nvGraphicFramePr>
          <p:cNvPr id="727" name="Google Shape;727;g3e7d37d72a0_0_614"/>
          <p:cNvGraphicFramePr/>
          <p:nvPr/>
        </p:nvGraphicFramePr>
        <p:xfrm>
          <a:off x="2297275" y="3984000"/>
          <a:ext cx="3000000" cy="3000000"/>
        </p:xfrm>
        <a:graphic>
          <a:graphicData uri="http://schemas.openxmlformats.org/drawingml/2006/table">
            <a:tbl>
              <a:tblPr>
                <a:noFill/>
                <a:tableStyleId>{E3C02D9E-5B9A-49BD-BD24-AC790C85BC15}</a:tableStyleId>
              </a:tblPr>
              <a:tblGrid>
                <a:gridCol w="295275"/>
                <a:gridCol w="2952750"/>
                <a:gridCol w="3600450"/>
                <a:gridCol w="3619500"/>
              </a:tblGrid>
              <a:tr h="495300">
                <a:tc>
                  <a:txBody>
                    <a:bodyPr/>
                    <a:lstStyle/>
                    <a:p>
                      <a:pPr indent="0" lvl="0" marL="0" rtl="0" algn="l">
                        <a:lnSpc>
                          <a:spcPct val="115000"/>
                        </a:lnSpc>
                        <a:spcBef>
                          <a:spcPts val="0"/>
                        </a:spcBef>
                        <a:spcAft>
                          <a:spcPts val="0"/>
                        </a:spcAft>
                        <a:buNone/>
                      </a:pPr>
                      <a:r>
                        <a:rPr b="1" lang="en-US" sz="1100">
                          <a:solidFill>
                            <a:srgbClr val="1F1F1F"/>
                          </a:solidFill>
                        </a:rPr>
                        <a:t>#</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US" sz="1100">
                          <a:solidFill>
                            <a:srgbClr val="1F1F1F"/>
                          </a:solidFill>
                        </a:rPr>
                        <a:t>Vulnerabilidad (Nombre)</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US" sz="1100">
                          <a:solidFill>
                            <a:srgbClr val="1F1F1F"/>
                          </a:solidFill>
                        </a:rPr>
                        <a:t>Descripción Breve</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US" sz="1100">
                          <a:solidFill>
                            <a:srgbClr val="1F1F1F"/>
                          </a:solidFill>
                        </a:rPr>
                        <a:t>Medida de Contingencia</a:t>
                      </a:r>
                      <a:endParaRPr b="1"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solidFill>
                      <a:srgbClr val="EFEFEF"/>
                    </a:solidFill>
                  </a:tcPr>
                </a:tc>
              </a:tr>
              <a:tr h="495300">
                <a:tc>
                  <a:txBody>
                    <a:bodyPr/>
                    <a:lstStyle/>
                    <a:p>
                      <a:pPr indent="0" lvl="0" marL="0" rtl="0" algn="l">
                        <a:lnSpc>
                          <a:spcPct val="115000"/>
                        </a:lnSpc>
                        <a:spcBef>
                          <a:spcPts val="0"/>
                        </a:spcBef>
                        <a:spcAft>
                          <a:spcPts val="0"/>
                        </a:spcAft>
                        <a:buNone/>
                      </a:pPr>
                      <a:r>
                        <a:rPr lang="en-US" sz="1100">
                          <a:solidFill>
                            <a:srgbClr val="1F1F1F"/>
                          </a:solidFill>
                        </a:rPr>
                        <a:t>1</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Inyección (SQL, NoSQL)</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1F1F1F"/>
                          </a:solidFill>
                        </a:rPr>
                        <a:t>Datos no confiables enviados al intérprete.</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1F1F1F"/>
                          </a:solidFill>
                        </a:rPr>
                        <a:t>Uso de consultas preparadas (Prepared Statements).</a:t>
                      </a:r>
                      <a:endParaRPr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495300">
                <a:tc>
                  <a:txBody>
                    <a:bodyPr/>
                    <a:lstStyle/>
                    <a:p>
                      <a:pPr indent="0" lvl="0" marL="0" rtl="0" algn="l">
                        <a:lnSpc>
                          <a:spcPct val="115000"/>
                        </a:lnSpc>
                        <a:spcBef>
                          <a:spcPts val="0"/>
                        </a:spcBef>
                        <a:spcAft>
                          <a:spcPts val="0"/>
                        </a:spcAft>
                        <a:buNone/>
                      </a:pPr>
                      <a:r>
                        <a:rPr lang="en-US" sz="1100">
                          <a:solidFill>
                            <a:srgbClr val="1F1F1F"/>
                          </a:solidFill>
                        </a:rPr>
                        <a:t>2</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Pérdida de Autenticación</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1F1F1F"/>
                          </a:solidFill>
                        </a:rPr>
                        <a:t>Fallos en la gestión de sesiones o contraseñas.</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1F1F1F"/>
                          </a:solidFill>
                        </a:rPr>
                        <a:t>Implementar MFA (Autenticación de Dos Factores).</a:t>
                      </a:r>
                      <a:endParaRPr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495300">
                <a:tc>
                  <a:txBody>
                    <a:bodyPr/>
                    <a:lstStyle/>
                    <a:p>
                      <a:pPr indent="0" lvl="0" marL="0" rtl="0" algn="l">
                        <a:lnSpc>
                          <a:spcPct val="115000"/>
                        </a:lnSpc>
                        <a:spcBef>
                          <a:spcPts val="0"/>
                        </a:spcBef>
                        <a:spcAft>
                          <a:spcPts val="0"/>
                        </a:spcAft>
                        <a:buNone/>
                      </a:pPr>
                      <a:r>
                        <a:rPr lang="en-US" sz="1100">
                          <a:solidFill>
                            <a:srgbClr val="1F1F1F"/>
                          </a:solidFill>
                        </a:rPr>
                        <a:t>3</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Exposición de Datos Sensibles</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1F1F1F"/>
                          </a:solidFill>
                        </a:rPr>
                        <a:t>Falta de cifrado en datos en reposo o tránsito.</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1F1F1F"/>
                          </a:solidFill>
                        </a:rPr>
                        <a:t>Cifrado AES-256 y uso de protocolos TLS.</a:t>
                      </a:r>
                      <a:endParaRPr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495300">
                <a:tc>
                  <a:txBody>
                    <a:bodyPr/>
                    <a:lstStyle/>
                    <a:p>
                      <a:pPr indent="0" lvl="0" marL="0" rtl="0" algn="l">
                        <a:lnSpc>
                          <a:spcPct val="115000"/>
                        </a:lnSpc>
                        <a:spcBef>
                          <a:spcPts val="0"/>
                        </a:spcBef>
                        <a:spcAft>
                          <a:spcPts val="0"/>
                        </a:spcAft>
                        <a:buNone/>
                      </a:pPr>
                      <a:r>
                        <a:rPr lang="en-US" sz="1100">
                          <a:solidFill>
                            <a:srgbClr val="1F1F1F"/>
                          </a:solidFill>
                        </a:rPr>
                        <a:t>4</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XML External Entities (XXE)</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1F1F1F"/>
                          </a:solidFill>
                        </a:rPr>
                        <a:t>Procesamiento de entidades externas en XML.</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1F1F1F"/>
                          </a:solidFill>
                        </a:rPr>
                        <a:t>Deshabilitar el procesamiento de entidades externas.</a:t>
                      </a:r>
                      <a:endParaRPr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495300">
                <a:tc>
                  <a:txBody>
                    <a:bodyPr/>
                    <a:lstStyle/>
                    <a:p>
                      <a:pPr indent="0" lvl="0" marL="0" rtl="0" algn="l">
                        <a:lnSpc>
                          <a:spcPct val="115000"/>
                        </a:lnSpc>
                        <a:spcBef>
                          <a:spcPts val="0"/>
                        </a:spcBef>
                        <a:spcAft>
                          <a:spcPts val="0"/>
                        </a:spcAft>
                        <a:buNone/>
                      </a:pPr>
                      <a:r>
                        <a:rPr lang="en-US" sz="1100">
                          <a:solidFill>
                            <a:srgbClr val="1F1F1F"/>
                          </a:solidFill>
                        </a:rPr>
                        <a:t>5</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Control de Acceso Quebrado</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1F1F1F"/>
                          </a:solidFill>
                        </a:rPr>
                        <a:t>Usuarios acceden a funciones fuera de su permiso.</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1F1F1F"/>
                          </a:solidFill>
                        </a:rPr>
                        <a:t>Implementar el principio de "mínimo privilegio".</a:t>
                      </a:r>
                      <a:endParaRPr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495300">
                <a:tc>
                  <a:txBody>
                    <a:bodyPr/>
                    <a:lstStyle/>
                    <a:p>
                      <a:pPr indent="0" lvl="0" marL="0" rtl="0" algn="l">
                        <a:lnSpc>
                          <a:spcPct val="115000"/>
                        </a:lnSpc>
                        <a:spcBef>
                          <a:spcPts val="0"/>
                        </a:spcBef>
                        <a:spcAft>
                          <a:spcPts val="0"/>
                        </a:spcAft>
                        <a:buNone/>
                      </a:pPr>
                      <a:r>
                        <a:rPr lang="en-US" sz="1100">
                          <a:solidFill>
                            <a:srgbClr val="1F1F1F"/>
                          </a:solidFill>
                        </a:rPr>
                        <a:t>6</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Configuración de Seguridad Incorrecta</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1F1F1F"/>
                          </a:solidFill>
                        </a:rPr>
                        <a:t>Ajustes por defecto o servicios innecesarios.</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1F1F1F"/>
                          </a:solidFill>
                        </a:rPr>
                        <a:t>Endurecimiento (Hardening) de servidores y apps.</a:t>
                      </a:r>
                      <a:endParaRPr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495300">
                <a:tc>
                  <a:txBody>
                    <a:bodyPr/>
                    <a:lstStyle/>
                    <a:p>
                      <a:pPr indent="0" lvl="0" marL="0" rtl="0" algn="l">
                        <a:lnSpc>
                          <a:spcPct val="115000"/>
                        </a:lnSpc>
                        <a:spcBef>
                          <a:spcPts val="0"/>
                        </a:spcBef>
                        <a:spcAft>
                          <a:spcPts val="0"/>
                        </a:spcAft>
                        <a:buNone/>
                      </a:pPr>
                      <a:r>
                        <a:rPr lang="en-US" sz="1100">
                          <a:solidFill>
                            <a:srgbClr val="1F1F1F"/>
                          </a:solidFill>
                        </a:rPr>
                        <a:t>7</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Cross-Site Scripting (XSS)</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1F1F1F"/>
                          </a:solidFill>
                        </a:rPr>
                        <a:t>Inyección de scripts en páginas vistas por otros.</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1F1F1F"/>
                          </a:solidFill>
                        </a:rPr>
                        <a:t>Escapar datos de salida y validar entradas.</a:t>
                      </a:r>
                      <a:endParaRPr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495300">
                <a:tc>
                  <a:txBody>
                    <a:bodyPr/>
                    <a:lstStyle/>
                    <a:p>
                      <a:pPr indent="0" lvl="0" marL="0" rtl="0" algn="l">
                        <a:lnSpc>
                          <a:spcPct val="115000"/>
                        </a:lnSpc>
                        <a:spcBef>
                          <a:spcPts val="0"/>
                        </a:spcBef>
                        <a:spcAft>
                          <a:spcPts val="0"/>
                        </a:spcAft>
                        <a:buNone/>
                      </a:pPr>
                      <a:r>
                        <a:rPr lang="en-US" sz="1100">
                          <a:solidFill>
                            <a:srgbClr val="1F1F1F"/>
                          </a:solidFill>
                        </a:rPr>
                        <a:t>8</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Deserialización Insegura</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1F1F1F"/>
                          </a:solidFill>
                        </a:rPr>
                        <a:t>Ejecución de código al convertir datos en objetos.</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1F1F1F"/>
                          </a:solidFill>
                        </a:rPr>
                        <a:t>No aceptar objetos serializados de fuentes dudosas.</a:t>
                      </a:r>
                      <a:endParaRPr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495300">
                <a:tc>
                  <a:txBody>
                    <a:bodyPr/>
                    <a:lstStyle/>
                    <a:p>
                      <a:pPr indent="0" lvl="0" marL="0" rtl="0" algn="l">
                        <a:lnSpc>
                          <a:spcPct val="115000"/>
                        </a:lnSpc>
                        <a:spcBef>
                          <a:spcPts val="0"/>
                        </a:spcBef>
                        <a:spcAft>
                          <a:spcPts val="0"/>
                        </a:spcAft>
                        <a:buNone/>
                      </a:pPr>
                      <a:r>
                        <a:rPr lang="en-US" sz="1100">
                          <a:solidFill>
                            <a:srgbClr val="1F1F1F"/>
                          </a:solidFill>
                        </a:rPr>
                        <a:t>9</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Componentes Vulnerables</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1F1F1F"/>
                          </a:solidFill>
                        </a:rPr>
                        <a:t>Uso de librerías antiguas con fallos conocidos.</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1F1F1F"/>
                          </a:solidFill>
                        </a:rPr>
                        <a:t>Auditoría de dependencias y parches constantes.</a:t>
                      </a:r>
                      <a:endParaRPr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495300">
                <a:tc>
                  <a:txBody>
                    <a:bodyPr/>
                    <a:lstStyle/>
                    <a:p>
                      <a:pPr indent="0" lvl="0" marL="0" rtl="0" algn="l">
                        <a:lnSpc>
                          <a:spcPct val="115000"/>
                        </a:lnSpc>
                        <a:spcBef>
                          <a:spcPts val="0"/>
                        </a:spcBef>
                        <a:spcAft>
                          <a:spcPts val="0"/>
                        </a:spcAft>
                        <a:buNone/>
                      </a:pPr>
                      <a:r>
                        <a:rPr lang="en-US" sz="1100">
                          <a:solidFill>
                            <a:srgbClr val="1F1F1F"/>
                          </a:solidFill>
                        </a:rPr>
                        <a:t>10</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1F1F1F"/>
                          </a:solidFill>
                        </a:rPr>
                        <a:t>Registro y Monitoreo Insuficiente</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1F1F1F"/>
                          </a:solidFill>
                        </a:rPr>
                        <a:t>No detectar ataques en tiempo real.</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1F1F1F"/>
                          </a:solidFill>
                        </a:rPr>
                        <a:t>Centralización de logs y alertas automáticas.</a:t>
                      </a:r>
                      <a:endParaRPr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g3e7d37d72a0_0_697"/>
          <p:cNvSpPr/>
          <p:nvPr/>
        </p:nvSpPr>
        <p:spPr>
          <a:xfrm>
            <a:off x="0" y="0"/>
            <a:ext cx="7818120" cy="2518258"/>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3">
              <a:alphaModFix/>
            </a:blip>
            <a:stretch>
              <a:fillRect b="0" l="0" r="0" t="0"/>
            </a:stretch>
          </a:blipFill>
          <a:ln>
            <a:noFill/>
          </a:ln>
        </p:spPr>
      </p:sp>
      <p:sp>
        <p:nvSpPr>
          <p:cNvPr id="733" name="Google Shape;733;g3e7d37d72a0_0_697"/>
          <p:cNvSpPr txBox="1"/>
          <p:nvPr/>
        </p:nvSpPr>
        <p:spPr>
          <a:xfrm>
            <a:off x="1706825" y="3528950"/>
            <a:ext cx="12876600" cy="354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300">
                <a:solidFill>
                  <a:schemeClr val="dk1"/>
                </a:solidFill>
              </a:rPr>
              <a:t>Elege </a:t>
            </a:r>
            <a:r>
              <a:rPr b="1" lang="en-US" sz="2300">
                <a:solidFill>
                  <a:schemeClr val="dk1"/>
                </a:solidFill>
              </a:rPr>
              <a:t>una</a:t>
            </a:r>
            <a:r>
              <a:rPr lang="en-US" sz="2300">
                <a:solidFill>
                  <a:schemeClr val="dk1"/>
                </a:solidFill>
              </a:rPr>
              <a:t> de las vulnerabilidades anteriores y redacta un </a:t>
            </a:r>
            <a:r>
              <a:rPr b="1" lang="en-US" sz="2300">
                <a:solidFill>
                  <a:schemeClr val="dk1"/>
                </a:solidFill>
              </a:rPr>
              <a:t>Escenario de Atributo de Calidad (EAC)</a:t>
            </a:r>
            <a:r>
              <a:rPr lang="en-US" sz="2300">
                <a:solidFill>
                  <a:schemeClr val="dk1"/>
                </a:solidFill>
              </a:rPr>
              <a:t> formal. Recuerda que un EAC debe tener:</a:t>
            </a:r>
            <a:endParaRPr sz="2300">
              <a:solidFill>
                <a:schemeClr val="dk1"/>
              </a:solidFill>
            </a:endParaRPr>
          </a:p>
          <a:p>
            <a:pPr indent="-374650" lvl="0" marL="457200" rtl="0" algn="l">
              <a:lnSpc>
                <a:spcPct val="115000"/>
              </a:lnSpc>
              <a:spcBef>
                <a:spcPts val="1200"/>
              </a:spcBef>
              <a:spcAft>
                <a:spcPts val="0"/>
              </a:spcAft>
              <a:buClr>
                <a:schemeClr val="dk1"/>
              </a:buClr>
              <a:buSzPts val="2300"/>
              <a:buAutoNum type="arabicPeriod"/>
            </a:pPr>
            <a:r>
              <a:rPr b="1" lang="en-US" sz="2300">
                <a:solidFill>
                  <a:schemeClr val="dk1"/>
                </a:solidFill>
              </a:rPr>
              <a:t>Fuente del estímulo:</a:t>
            </a:r>
            <a:r>
              <a:rPr lang="en-US" sz="2300">
                <a:solidFill>
                  <a:schemeClr val="dk1"/>
                </a:solidFill>
              </a:rPr>
              <a:t> ¿Quién ataca? (ej. Un hacker externo).</a:t>
            </a:r>
            <a:endParaRPr sz="2300">
              <a:solidFill>
                <a:schemeClr val="dk1"/>
              </a:solidFill>
            </a:endParaRPr>
          </a:p>
          <a:p>
            <a:pPr indent="-374650" lvl="0" marL="457200" rtl="0" algn="l">
              <a:lnSpc>
                <a:spcPct val="115000"/>
              </a:lnSpc>
              <a:spcBef>
                <a:spcPts val="0"/>
              </a:spcBef>
              <a:spcAft>
                <a:spcPts val="0"/>
              </a:spcAft>
              <a:buClr>
                <a:schemeClr val="dk1"/>
              </a:buClr>
              <a:buSzPts val="2300"/>
              <a:buAutoNum type="arabicPeriod"/>
            </a:pPr>
            <a:r>
              <a:rPr b="1" lang="en-US" sz="2300">
                <a:solidFill>
                  <a:schemeClr val="dk1"/>
                </a:solidFill>
              </a:rPr>
              <a:t>Estímulo:</a:t>
            </a:r>
            <a:r>
              <a:rPr lang="en-US" sz="2300">
                <a:solidFill>
                  <a:schemeClr val="dk1"/>
                </a:solidFill>
              </a:rPr>
              <a:t> ¿Qué intenta hacer? (ej. Inyectar código SQL).</a:t>
            </a:r>
            <a:endParaRPr sz="2300">
              <a:solidFill>
                <a:schemeClr val="dk1"/>
              </a:solidFill>
            </a:endParaRPr>
          </a:p>
          <a:p>
            <a:pPr indent="-374650" lvl="0" marL="457200" rtl="0" algn="l">
              <a:lnSpc>
                <a:spcPct val="115000"/>
              </a:lnSpc>
              <a:spcBef>
                <a:spcPts val="0"/>
              </a:spcBef>
              <a:spcAft>
                <a:spcPts val="0"/>
              </a:spcAft>
              <a:buClr>
                <a:schemeClr val="dk1"/>
              </a:buClr>
              <a:buSzPts val="2300"/>
              <a:buAutoNum type="arabicPeriod"/>
            </a:pPr>
            <a:r>
              <a:rPr b="1" lang="en-US" sz="2300">
                <a:solidFill>
                  <a:schemeClr val="dk1"/>
                </a:solidFill>
              </a:rPr>
              <a:t>Artefacto:</a:t>
            </a:r>
            <a:r>
              <a:rPr lang="en-US" sz="2300">
                <a:solidFill>
                  <a:schemeClr val="dk1"/>
                </a:solidFill>
              </a:rPr>
              <a:t> ¿Qué parte del sistema es atacada? (ej. La base de datos de usuarios).</a:t>
            </a:r>
            <a:endParaRPr sz="2300">
              <a:solidFill>
                <a:schemeClr val="dk1"/>
              </a:solidFill>
            </a:endParaRPr>
          </a:p>
          <a:p>
            <a:pPr indent="-374650" lvl="0" marL="457200" rtl="0" algn="l">
              <a:lnSpc>
                <a:spcPct val="115000"/>
              </a:lnSpc>
              <a:spcBef>
                <a:spcPts val="0"/>
              </a:spcBef>
              <a:spcAft>
                <a:spcPts val="0"/>
              </a:spcAft>
              <a:buClr>
                <a:schemeClr val="dk1"/>
              </a:buClr>
              <a:buSzPts val="2300"/>
              <a:buAutoNum type="arabicPeriod"/>
            </a:pPr>
            <a:r>
              <a:rPr b="1" lang="en-US" sz="2300">
                <a:solidFill>
                  <a:schemeClr val="dk1"/>
                </a:solidFill>
              </a:rPr>
              <a:t>Respuesta:</a:t>
            </a:r>
            <a:r>
              <a:rPr lang="en-US" sz="2300">
                <a:solidFill>
                  <a:schemeClr val="dk1"/>
                </a:solidFill>
              </a:rPr>
              <a:t> ¿Qué hace el sistema? (ej. El sistema bloquea la petición y registra el evento).</a:t>
            </a:r>
            <a:endParaRPr sz="2300">
              <a:solidFill>
                <a:schemeClr val="dk1"/>
              </a:solidFill>
            </a:endParaRPr>
          </a:p>
          <a:p>
            <a:pPr indent="-374650" lvl="0" marL="457200" rtl="0" algn="l">
              <a:lnSpc>
                <a:spcPct val="115000"/>
              </a:lnSpc>
              <a:spcBef>
                <a:spcPts val="0"/>
              </a:spcBef>
              <a:spcAft>
                <a:spcPts val="0"/>
              </a:spcAft>
              <a:buClr>
                <a:schemeClr val="dk1"/>
              </a:buClr>
              <a:buSzPts val="2300"/>
              <a:buAutoNum type="arabicPeriod"/>
            </a:pPr>
            <a:r>
              <a:rPr b="1" lang="en-US" sz="2300">
                <a:solidFill>
                  <a:schemeClr val="dk1"/>
                </a:solidFill>
              </a:rPr>
              <a:t>Medida de respuesta:</a:t>
            </a:r>
            <a:r>
              <a:rPr lang="en-US" sz="2300">
                <a:solidFill>
                  <a:schemeClr val="dk1"/>
                </a:solidFill>
              </a:rPr>
              <a:t> ¿Cómo lo medimos? (ej. El ataque debe ser neutralizado en menos de 1 segundo).</a:t>
            </a:r>
            <a:endParaRPr sz="2300">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1D40"/>
        </a:solidFill>
      </p:bgPr>
    </p:bg>
    <p:spTree>
      <p:nvGrpSpPr>
        <p:cNvPr id="737" name="Shape 737"/>
        <p:cNvGrpSpPr/>
        <p:nvPr/>
      </p:nvGrpSpPr>
      <p:grpSpPr>
        <a:xfrm>
          <a:off x="0" y="0"/>
          <a:ext cx="0" cy="0"/>
          <a:chOff x="0" y="0"/>
          <a:chExt cx="0" cy="0"/>
        </a:xfrm>
      </p:grpSpPr>
      <p:sp>
        <p:nvSpPr>
          <p:cNvPr id="738" name="Google Shape;738;p34"/>
          <p:cNvSpPr txBox="1"/>
          <p:nvPr/>
        </p:nvSpPr>
        <p:spPr>
          <a:xfrm>
            <a:off x="4986640" y="4146526"/>
            <a:ext cx="8457192" cy="1057036"/>
          </a:xfrm>
          <a:prstGeom prst="rect">
            <a:avLst/>
          </a:prstGeom>
          <a:noFill/>
          <a:ln>
            <a:noFill/>
          </a:ln>
        </p:spPr>
        <p:txBody>
          <a:bodyPr anchorCtr="0" anchor="t" bIns="0" lIns="0" spcFirstLastPara="1" rIns="0" wrap="square" tIns="0">
            <a:spAutoFit/>
          </a:bodyPr>
          <a:lstStyle/>
          <a:p>
            <a:pPr indent="0" lvl="0" marL="0" marR="0" rtl="0" algn="ctr">
              <a:lnSpc>
                <a:spcPct val="120018"/>
              </a:lnSpc>
              <a:spcBef>
                <a:spcPts val="0"/>
              </a:spcBef>
              <a:spcAft>
                <a:spcPts val="0"/>
              </a:spcAft>
              <a:buClr>
                <a:srgbClr val="000000"/>
              </a:buClr>
              <a:buSzPts val="6569"/>
              <a:buFont typeface="Arial"/>
              <a:buNone/>
            </a:pPr>
            <a:r>
              <a:rPr b="0" i="0" lang="en-US" sz="6569" u="none" cap="none" strike="noStrike">
                <a:solidFill>
                  <a:srgbClr val="FFFFFF"/>
                </a:solidFill>
                <a:latin typeface="Poppins"/>
                <a:ea typeface="Poppins"/>
                <a:cs typeface="Poppins"/>
                <a:sym typeface="Poppins"/>
              </a:rPr>
              <a:t>MUCHAS GRACIAS</a:t>
            </a:r>
            <a:endParaRPr b="0" i="0" sz="1400" u="none" cap="none" strike="noStrike">
              <a:solidFill>
                <a:srgbClr val="000000"/>
              </a:solidFill>
              <a:latin typeface="Arial"/>
              <a:ea typeface="Arial"/>
              <a:cs typeface="Arial"/>
              <a:sym typeface="Arial"/>
            </a:endParaRPr>
          </a:p>
        </p:txBody>
      </p:sp>
      <p:sp>
        <p:nvSpPr>
          <p:cNvPr id="739" name="Google Shape;739;p34"/>
          <p:cNvSpPr/>
          <p:nvPr/>
        </p:nvSpPr>
        <p:spPr>
          <a:xfrm>
            <a:off x="-2622339" y="7919689"/>
            <a:ext cx="6452848" cy="5596379"/>
          </a:xfrm>
          <a:custGeom>
            <a:rect b="b" l="l" r="r" t="t"/>
            <a:pathLst>
              <a:path extrusionOk="0" h="5596379" w="6452848">
                <a:moveTo>
                  <a:pt x="0" y="0"/>
                </a:moveTo>
                <a:lnTo>
                  <a:pt x="6452849" y="0"/>
                </a:lnTo>
                <a:lnTo>
                  <a:pt x="6452849" y="5596379"/>
                </a:lnTo>
                <a:lnTo>
                  <a:pt x="0" y="5596379"/>
                </a:lnTo>
                <a:lnTo>
                  <a:pt x="0" y="0"/>
                </a:lnTo>
                <a:close/>
              </a:path>
            </a:pathLst>
          </a:custGeom>
          <a:blipFill rotWithShape="1">
            <a:blip r:embed="rId3">
              <a:alphaModFix/>
            </a:blip>
            <a:stretch>
              <a:fillRect b="0" l="0" r="0" t="0"/>
            </a:stretch>
          </a:blipFill>
          <a:ln>
            <a:noFill/>
          </a:ln>
        </p:spPr>
      </p:sp>
      <p:sp>
        <p:nvSpPr>
          <p:cNvPr id="740" name="Google Shape;740;p34"/>
          <p:cNvSpPr/>
          <p:nvPr/>
        </p:nvSpPr>
        <p:spPr>
          <a:xfrm rot="10800000">
            <a:off x="13367400" y="-2798190"/>
            <a:ext cx="6452848" cy="5596379"/>
          </a:xfrm>
          <a:custGeom>
            <a:rect b="b" l="l" r="r" t="t"/>
            <a:pathLst>
              <a:path extrusionOk="0" h="5596379" w="6452848">
                <a:moveTo>
                  <a:pt x="0" y="0"/>
                </a:moveTo>
                <a:lnTo>
                  <a:pt x="6452849" y="0"/>
                </a:lnTo>
                <a:lnTo>
                  <a:pt x="6452849" y="5596380"/>
                </a:lnTo>
                <a:lnTo>
                  <a:pt x="0" y="5596380"/>
                </a:lnTo>
                <a:lnTo>
                  <a:pt x="0" y="0"/>
                </a:lnTo>
                <a:close/>
              </a:path>
            </a:pathLst>
          </a:custGeom>
          <a:blipFill rotWithShape="1">
            <a:blip r:embed="rId3">
              <a:alphaModFix/>
            </a:blip>
            <a:stretch>
              <a:fillRect b="0" l="0" r="0" t="0"/>
            </a:stretch>
          </a:blipFill>
          <a:ln>
            <a:noFill/>
          </a:ln>
        </p:spPr>
      </p:sp>
      <p:sp>
        <p:nvSpPr>
          <p:cNvPr id="741" name="Google Shape;741;p34"/>
          <p:cNvSpPr/>
          <p:nvPr/>
        </p:nvSpPr>
        <p:spPr>
          <a:xfrm>
            <a:off x="8527219" y="2541678"/>
            <a:ext cx="879643" cy="1273167"/>
          </a:xfrm>
          <a:custGeom>
            <a:rect b="b" l="l" r="r" t="t"/>
            <a:pathLst>
              <a:path extrusionOk="0" h="1273167" w="879643">
                <a:moveTo>
                  <a:pt x="0" y="0"/>
                </a:moveTo>
                <a:lnTo>
                  <a:pt x="879643" y="0"/>
                </a:lnTo>
                <a:lnTo>
                  <a:pt x="879643" y="1273167"/>
                </a:lnTo>
                <a:lnTo>
                  <a:pt x="0" y="1273167"/>
                </a:lnTo>
                <a:lnTo>
                  <a:pt x="0" y="0"/>
                </a:lnTo>
                <a:close/>
              </a:path>
            </a:pathLst>
          </a:custGeom>
          <a:blipFill rotWithShape="1">
            <a:blip r:embed="rId4">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