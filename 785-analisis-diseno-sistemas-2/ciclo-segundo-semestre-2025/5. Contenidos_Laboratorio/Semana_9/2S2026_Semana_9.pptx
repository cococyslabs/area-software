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10287000" cx="18288000"/>
  <p:notesSz cx="6858000" cy="9144000"/>
  <p:embeddedFontLst>
    <p:embeddedFont>
      <p:font typeface="Poppins"/>
      <p:regular r:id="rId40"/>
      <p:bold r:id="rId41"/>
      <p:italic r:id="rId42"/>
      <p:boldItalic r:id="rId43"/>
    </p:embeddedFont>
    <p:embeddedFont>
      <p:font typeface="Poppins Light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wbbaRqQARog0OPD5i0CgpqaDY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27DE5C-3EC9-41C5-A30C-DB180AE92990}">
  <a:tblStyle styleId="{9127DE5C-3EC9-41C5-A30C-DB180AE9299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44" Type="http://schemas.openxmlformats.org/officeDocument/2006/relationships/font" Target="fonts/PoppinsLight-regular.fntdata"/><Relationship Id="rId43" Type="http://schemas.openxmlformats.org/officeDocument/2006/relationships/font" Target="fonts/Poppins-boldItalic.fntdata"/><Relationship Id="rId46" Type="http://schemas.openxmlformats.org/officeDocument/2006/relationships/font" Target="fonts/PoppinsLight-italic.fntdata"/><Relationship Id="rId45" Type="http://schemas.openxmlformats.org/officeDocument/2006/relationships/font" Target="fonts/Poppins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-regular.fntdata"/><Relationship Id="rId47" Type="http://schemas.openxmlformats.org/officeDocument/2006/relationships/font" Target="fonts/PoppinsLight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52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3c5d0ce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63c5d0ce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453264b04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6453264b0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194d606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5f194d606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60eccee1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660eccee1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f80fe5a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5f80fe5a1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60eccee1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660eccee1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60eccee1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660eccee10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60eccee1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660eccee10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60eccee1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660eccee10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60eccee1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660eccee10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60eccee1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660eccee10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60eccee1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660eccee10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60eccee1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660eccee10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60eccee1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660eccee10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60eccee1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660eccee10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60eccee1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660eccee10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60eccee1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660eccee10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60eccee1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660eccee10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60eccee1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660eccee10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60eccee1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660eccee10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60eccee1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660eccee10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60eccee1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660eccee10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f1d82d1c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df1d82d1c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4e247833d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64e247833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0c40e153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80c40e15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f1d82d1c1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df1d82d1c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f1d82d1c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f1d82d1c1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4e247833d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64e247833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3ce9bffb9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63ce9bffb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63c5d0ce31_0_27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g363c5d0ce31_0_27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3" name="Google Shape;23;g363c5d0ce31_0_27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63c5d0ce31_0_30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63c5d0ce31_0_26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28" name="Google Shape;28;g363c5d0ce31_0_26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9" name="Google Shape;29;g363c5d0ce31_0_2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63c5d0ce31_0_270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2" name="Google Shape;32;g363c5d0ce31_0_27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63c5d0ce31_0_27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5" name="Google Shape;35;g363c5d0ce31_0_27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6" name="Google Shape;36;g363c5d0ce31_0_27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" name="Google Shape;37;g363c5d0ce31_0_27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63c5d0ce31_0_28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0" name="Google Shape;40;g363c5d0ce31_0_28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63c5d0ce31_0_28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g363c5d0ce31_0_28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4" name="Google Shape;44;g363c5d0ce31_0_28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63c5d0ce31_0_28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7" name="Google Shape;47;g363c5d0ce31_0_28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3c5d0ce31_0_292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63c5d0ce31_0_292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51" name="Google Shape;51;g363c5d0ce31_0_292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g363c5d0ce31_0_292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3" name="Google Shape;53;g363c5d0ce31_0_29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3c5d0ce31_0_29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56" name="Google Shape;56;g363c5d0ce31_0_29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3c5d0ce31_0_30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9" name="Google Shape;59;g363c5d0ce31_0_30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0" name="Google Shape;60;g363c5d0ce31_0_3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1d82d1c1_0_14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df1d82d1c1_0_14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df1d82d1c1_0_14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f1d82d1c1_0_15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df1d82d1c1_0_15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g3df1d82d1c1_0_15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df1d82d1c1_0_15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df1d82d1c1_0_1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1d82d1c1_0_1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df1d82d1c1_0_15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g3df1d82d1c1_0_15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df1d82d1c1_0_15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df1d82d1c1_0_1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f1d82d1c1_0_16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df1d82d1c1_0_16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g3df1d82d1c1_0_16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df1d82d1c1_0_16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df1d82d1c1_0_1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f1d82d1c1_0_1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f1d82d1c1_0_17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2" name="Google Shape;92;g3df1d82d1c1_0_170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3" name="Google Shape;93;g3df1d82d1c1_0_17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df1d82d1c1_0_17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df1d82d1c1_0_1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f1d82d1c1_0_1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f1d82d1c1_0_17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9" name="Google Shape;99;g3df1d82d1c1_0_17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0" name="Google Shape;100;g3df1d82d1c1_0_17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1" name="Google Shape;101;g3df1d82d1c1_0_17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2" name="Google Shape;102;g3df1d82d1c1_0_1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df1d82d1c1_0_1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df1d82d1c1_0_1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1d82d1c1_0_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df1d82d1c1_0_18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df1d82d1c1_0_18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df1d82d1c1_0_18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f1d82d1c1_0_19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df1d82d1c1_0_19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g3df1d82d1c1_0_19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g3df1d82d1c1_0_19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df1d82d1c1_0_19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df1d82d1c1_0_19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1d82d1c1_0_19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df1d82d1c1_0_19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g3df1d82d1c1_0_19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g3df1d82d1c1_0_1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df1d82d1c1_0_1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df1d82d1c1_0_1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1d82d1c1_0_2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df1d82d1c1_0_205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g3df1d82d1c1_0_20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df1d82d1c1_0_20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df1d82d1c1_0_20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1d82d1c1_0_211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df1d82d1c1_0_211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g3df1d82d1c1_0_2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df1d82d1c1_0_2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df1d82d1c1_0_2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.xml"/><Relationship Id="rId11" Type="http://schemas.openxmlformats.org/officeDocument/2006/relationships/image" Target="../media/image1.png"/><Relationship Id="rId22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21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2.xml"/><Relationship Id="rId12" Type="http://schemas.openxmlformats.org/officeDocument/2006/relationships/slideLayout" Target="../slideLayouts/slideLayout1.xml"/><Relationship Id="rId23" Type="http://schemas.openxmlformats.org/officeDocument/2006/relationships/theme" Target="../theme/theme2.xml"/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5" Type="http://schemas.openxmlformats.org/officeDocument/2006/relationships/slideLayout" Target="../slideLayouts/slideLayout4.xml"/><Relationship Id="rId14" Type="http://schemas.openxmlformats.org/officeDocument/2006/relationships/slideLayout" Target="../slideLayouts/slideLayout3.xml"/><Relationship Id="rId17" Type="http://schemas.openxmlformats.org/officeDocument/2006/relationships/slideLayout" Target="../slideLayouts/slideLayout6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19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3c5d0ce31_0_26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63c5d0ce31_0_26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63c5d0ce31_0_26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63c5d0ce31_0_2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8797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g363c5d0ce31_0_2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4400"/>
            <a:ext cx="18288000" cy="1028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g363c5d0ce31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0"/>
            <a:ext cx="18287911" cy="1027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g363c5d0ce31_0_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g363c5d0ce31_0_2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8288001" cy="1029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g363c5d0ce31_0_2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g363c5d0ce31_0_2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3c5d0ce31_0_2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g363c5d0ce31_0_2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18288000" cy="10287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363c5d0ce31_0_2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0"/>
            <a:ext cx="18287999" cy="1028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63c5d0ce31_0_2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0"/>
            <a:ext cx="18288001" cy="102870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1d82d1c1_0_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g3df1d82d1c1_0_14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g3df1d82d1c1_0_1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g3df1d82d1c1_0_1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g3df1d82d1c1_0_1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testingit.com.mx/blog/pruebas-unitarias-de-software" TargetMode="External"/><Relationship Id="rId4" Type="http://schemas.openxmlformats.org/officeDocument/2006/relationships/hyperlink" Target="https://octopus.com/devops/unit-testing/" TargetMode="External"/><Relationship Id="rId5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63c5d0ce31_0_2"/>
          <p:cNvPicPr preferRelativeResize="0"/>
          <p:nvPr/>
        </p:nvPicPr>
        <p:blipFill rotWithShape="1">
          <a:blip r:embed="rId3">
            <a:alphaModFix/>
          </a:blip>
          <a:srcRect b="65980" l="0" r="0" t="0"/>
          <a:stretch/>
        </p:blipFill>
        <p:spPr>
          <a:xfrm>
            <a:off x="175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63c5d0ce31_0_2"/>
          <p:cNvPicPr preferRelativeResize="0"/>
          <p:nvPr/>
        </p:nvPicPr>
        <p:blipFill rotWithShape="1">
          <a:blip r:embed="rId4">
            <a:alphaModFix amt="62000"/>
          </a:blip>
          <a:srcRect b="0" l="0" r="0" t="0"/>
          <a:stretch/>
        </p:blipFill>
        <p:spPr>
          <a:xfrm>
            <a:off x="16902" y="-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g363c5d0ce31_0_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{9127DE5C-3EC9-41C5-A30C-DB180AE92990}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Jueves </a:t>
                      </a:r>
                      <a:r>
                        <a:rPr lang="en-US" sz="2800"/>
                        <a:t>dd</a:t>
                      </a:r>
                      <a:r>
                        <a:rPr lang="en-US" sz="2800" u="none" cap="none" strike="noStrike"/>
                        <a:t>/</a:t>
                      </a:r>
                      <a:r>
                        <a:rPr lang="en-US" sz="2800"/>
                        <a:t>MM</a:t>
                      </a:r>
                      <a:r>
                        <a:rPr lang="en-US" sz="2800" u="none" cap="none" strike="noStrike"/>
                        <a:t>/</a:t>
                      </a:r>
                      <a:r>
                        <a:rPr lang="en-US" sz="2800"/>
                        <a:t>yyyy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17:20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143" name="Google Shape;143;g363c5d0ce31_0_2"/>
          <p:cNvSpPr txBox="1"/>
          <p:nvPr/>
        </p:nvSpPr>
        <p:spPr>
          <a:xfrm>
            <a:off x="2887350" y="4573950"/>
            <a:ext cx="12513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y Diseño de Sistemas 2 Sección B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63c5d0ce31_0_2"/>
          <p:cNvSpPr txBox="1"/>
          <p:nvPr/>
        </p:nvSpPr>
        <p:spPr>
          <a:xfrm>
            <a:off x="159700" y="9136975"/>
            <a:ext cx="9209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Nombre del tutor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63c5d0ce31_0_2"/>
          <p:cNvSpPr txBox="1"/>
          <p:nvPr/>
        </p:nvSpPr>
        <p:spPr>
          <a:xfrm>
            <a:off x="2887350" y="5645925"/>
            <a:ext cx="12513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3000"/>
              <a:t>Escuela de Ingeniería en Ciencias y Sistemas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/>
        </p:nvSpPr>
        <p:spPr>
          <a:xfrm>
            <a:off x="1777050" y="3796225"/>
            <a:ext cx="14733900" cy="14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software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0777" y="406175"/>
            <a:ext cx="8540076" cy="2263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</p:pic>
      <p:sp>
        <p:nvSpPr>
          <p:cNvPr id="152" name="Google Shape;152;p1"/>
          <p:cNvSpPr txBox="1"/>
          <p:nvPr/>
        </p:nvSpPr>
        <p:spPr>
          <a:xfrm>
            <a:off x="4902600" y="5346338"/>
            <a:ext cx="7857600" cy="1440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3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Análisis y Diseño de Sistemas 2 Sección B </a:t>
            </a:r>
            <a:endParaRPr b="1" i="0" sz="3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"/>
          <p:cNvGrpSpPr/>
          <p:nvPr/>
        </p:nvGrpSpPr>
        <p:grpSpPr>
          <a:xfrm>
            <a:off x="1232475" y="8283500"/>
            <a:ext cx="8653303" cy="1343375"/>
            <a:chOff x="38450" y="9482950"/>
            <a:chExt cx="8653303" cy="1343375"/>
          </a:xfrm>
        </p:grpSpPr>
        <p:sp>
          <p:nvSpPr>
            <p:cNvPr id="154" name="Google Shape;154;p1"/>
            <p:cNvSpPr txBox="1"/>
            <p:nvPr/>
          </p:nvSpPr>
          <p:spPr>
            <a:xfrm>
              <a:off x="1710453" y="10346939"/>
              <a:ext cx="6981300" cy="3846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8235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Escuela de Ingeniería de Ciencias Y Sistemas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 txBox="1"/>
            <p:nvPr/>
          </p:nvSpPr>
          <p:spPr>
            <a:xfrm>
              <a:off x="1710450" y="9962338"/>
              <a:ext cx="3525300" cy="3846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8235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Facultad de Ingeniería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 txBox="1"/>
            <p:nvPr/>
          </p:nvSpPr>
          <p:spPr>
            <a:xfrm>
              <a:off x="1710450" y="9577738"/>
              <a:ext cx="6408000" cy="3846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8235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Universidad de San Carlos de Guatemala</a:t>
              </a:r>
              <a:endPara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450" y="9482950"/>
              <a:ext cx="1343375" cy="1343375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8235"/>
                </a:srgbClr>
              </a:outerShdw>
            </a:effectLst>
          </p:spPr>
        </p:pic>
      </p:grpSp>
      <p:sp>
        <p:nvSpPr>
          <p:cNvPr id="158" name="Google Shape;158;p1"/>
          <p:cNvSpPr txBox="1"/>
          <p:nvPr/>
        </p:nvSpPr>
        <p:spPr>
          <a:xfrm>
            <a:off x="14450550" y="9353000"/>
            <a:ext cx="3450300" cy="44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2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Jueves </a:t>
            </a:r>
            <a:r>
              <a:rPr b="1" lang="en-US" sz="2900">
                <a:solidFill>
                  <a:schemeClr val="lt2"/>
                </a:solidFill>
              </a:rPr>
              <a:t>dd</a:t>
            </a:r>
            <a:r>
              <a:rPr b="1" i="0" lang="en-US" sz="2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2900">
                <a:solidFill>
                  <a:schemeClr val="lt2"/>
                </a:solidFill>
              </a:rPr>
              <a:t>MM</a:t>
            </a:r>
            <a:r>
              <a:rPr b="1" i="0" lang="en-US" sz="2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2900">
                <a:solidFill>
                  <a:schemeClr val="lt2"/>
                </a:solidFill>
              </a:rPr>
              <a:t>yyyy</a:t>
            </a:r>
            <a:r>
              <a:rPr b="1" i="0" lang="en-US" sz="2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453264b04_0_33"/>
          <p:cNvSpPr txBox="1"/>
          <p:nvPr/>
        </p:nvSpPr>
        <p:spPr>
          <a:xfrm>
            <a:off x="4057200" y="1038625"/>
            <a:ext cx="101736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chemeClr val="lt2"/>
                </a:solidFill>
              </a:rPr>
              <a:t>Anuncios importantes</a:t>
            </a:r>
            <a:endParaRPr b="0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6453264b04_0_33"/>
          <p:cNvSpPr txBox="1"/>
          <p:nvPr/>
        </p:nvSpPr>
        <p:spPr>
          <a:xfrm>
            <a:off x="2922400" y="2840238"/>
            <a:ext cx="6967200" cy="613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lang="en-US" sz="3600">
                <a:solidFill>
                  <a:schemeClr val="lt2"/>
                </a:solidFill>
              </a:rPr>
              <a:t>Anuncio 1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Anuncio 2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Anuncio 3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Anuncio 4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Anuncio 5</a:t>
            </a:r>
            <a:endParaRPr b="1" sz="36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6453264b04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7100" y="346845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194d6067_0_2"/>
          <p:cNvSpPr txBox="1"/>
          <p:nvPr/>
        </p:nvSpPr>
        <p:spPr>
          <a:xfrm>
            <a:off x="2080949" y="182375"/>
            <a:ext cx="14126100" cy="133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8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5f194d6067_0_2"/>
          <p:cNvSpPr txBox="1"/>
          <p:nvPr/>
        </p:nvSpPr>
        <p:spPr>
          <a:xfrm>
            <a:off x="2202325" y="1732650"/>
            <a:ext cx="7726200" cy="7848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lang="en-US" sz="3600">
                <a:solidFill>
                  <a:schemeClr val="lt2"/>
                </a:solidFill>
              </a:rPr>
              <a:t>Competencia a desarrollar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Valor de la semana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i="0" lang="en-US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funcionales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i="0" lang="en-US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Conceptos y principios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i="0" lang="en-US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Importancia y aplicabilidad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i="0" lang="en-US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unitarias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Conceptos clave aprendidos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Referencias</a:t>
            </a:r>
            <a:endParaRPr b="1" sz="3600">
              <a:solidFill>
                <a:schemeClr val="lt2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i="0" lang="en-US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❏"/>
            </a:pPr>
            <a:r>
              <a:rPr b="1" lang="en-US" sz="3600">
                <a:solidFill>
                  <a:schemeClr val="lt2"/>
                </a:solidFill>
              </a:rPr>
              <a:t>Actividad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Char char="❏"/>
            </a:pPr>
            <a:r>
              <a:rPr b="1" i="0" lang="en-US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Foro de la semana </a:t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g35f194d606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9200" y="27051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/>
        </p:nvSpPr>
        <p:spPr>
          <a:xfrm>
            <a:off x="2660050" y="5219150"/>
            <a:ext cx="13092600" cy="70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1" i="0" lang="en-US" sz="4598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1" i="0" sz="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2210500" y="6346025"/>
            <a:ext cx="13991700" cy="352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Comprende los conceptos, tipos y principios de las pruebas funcionales, valorando su rol dentro de una arquitectura de software para garantizar el cumplimiento de los requerimientos del sistema.</a:t>
            </a:r>
            <a:endParaRPr b="0" i="0" sz="4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42275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0eccee10_0_17"/>
          <p:cNvSpPr txBox="1"/>
          <p:nvPr/>
        </p:nvSpPr>
        <p:spPr>
          <a:xfrm>
            <a:off x="3781500" y="1329050"/>
            <a:ext cx="10725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chemeClr val="lt2"/>
                </a:solidFill>
              </a:rPr>
              <a:t>Valor de la semana</a:t>
            </a:r>
            <a:endParaRPr b="0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660eccee10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100" y="2774375"/>
            <a:ext cx="7083800" cy="6284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f80fe5a1a_1_0"/>
          <p:cNvSpPr txBox="1"/>
          <p:nvPr/>
        </p:nvSpPr>
        <p:spPr>
          <a:xfrm>
            <a:off x="1206142" y="392250"/>
            <a:ext cx="15875700" cy="106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Puntualidad</a:t>
            </a:r>
            <a:endParaRPr b="1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5f80fe5a1a_1_0"/>
          <p:cNvSpPr txBox="1"/>
          <p:nvPr/>
        </p:nvSpPr>
        <p:spPr>
          <a:xfrm>
            <a:off x="715275" y="2045875"/>
            <a:ext cx="9392400" cy="726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26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Cumpliendo con responsabilidad y respeto por el tiempo:</a:t>
            </a:r>
            <a:endParaRPr b="1" i="0" sz="25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26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Honrando los compromisos adquiridos y valorando el tiempo propio y el de los demás, asegurando la presencia y entrega de resultados en los plazos establecidos. La puntualidad refleja organización, compromiso y profesionalismo en cada acción realizada.</a:t>
            </a:r>
            <a:endParaRPr b="0" i="0" sz="26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26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26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Fortaleciendo la confianza y la eficiencia colectiva:</a:t>
            </a:r>
            <a:endParaRPr b="1" i="0" sz="26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26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Promoviendo un ambiente de respeto y orden, donde la disciplina en el cumplimiento de horarios contribuye a la coordinación de tareas y al logro de objetivos comunes. La puntualidad fomenta la confianza entre los integrantes del equipo y potencia la efectividad en los procesos compartidos.</a:t>
            </a:r>
            <a:endParaRPr b="0" i="0" sz="26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5f80fe5a1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5050" y="32395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60eccee10_0_24"/>
          <p:cNvSpPr txBox="1"/>
          <p:nvPr/>
        </p:nvSpPr>
        <p:spPr>
          <a:xfrm>
            <a:off x="3781500" y="1329050"/>
            <a:ext cx="10725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software</a:t>
            </a:r>
            <a:endParaRPr b="0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660eccee10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32520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60eccee10_0_31"/>
          <p:cNvSpPr txBox="1"/>
          <p:nvPr/>
        </p:nvSpPr>
        <p:spPr>
          <a:xfrm>
            <a:off x="-232650" y="700775"/>
            <a:ext cx="18753300" cy="108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Introducción a las pruebas de software</a:t>
            </a:r>
            <a:endParaRPr b="0" i="0" sz="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660eccee10_0_31"/>
          <p:cNvSpPr txBox="1"/>
          <p:nvPr/>
        </p:nvSpPr>
        <p:spPr>
          <a:xfrm>
            <a:off x="1028700" y="2308107"/>
            <a:ext cx="16230600" cy="293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6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pruebas de software son un proceso fundamental para garantizar la calidad y el correcto funcionamiento de los sistemas informáticos. Permiten identificar y corregir errores antes de que el software se ponga en producción, lo que ahorra tiempo y recursos.</a:t>
            </a:r>
            <a:endParaRPr b="0" i="0" sz="2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" name="Google Shape;205;g3660eccee10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605" y="5766450"/>
            <a:ext cx="7102800" cy="3995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60eccee10_0_40"/>
          <p:cNvSpPr/>
          <p:nvPr/>
        </p:nvSpPr>
        <p:spPr>
          <a:xfrm>
            <a:off x="4388364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90" r="-2499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60eccee10_0_40"/>
          <p:cNvSpPr/>
          <p:nvPr/>
        </p:nvSpPr>
        <p:spPr>
          <a:xfrm>
            <a:off x="7700127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19" l="0" r="0" t="-469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60eccee10_0_40"/>
          <p:cNvSpPr/>
          <p:nvPr/>
        </p:nvSpPr>
        <p:spPr>
          <a:xfrm>
            <a:off x="11013931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039" r="-2502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g3660eccee10_0_40"/>
          <p:cNvGrpSpPr/>
          <p:nvPr/>
        </p:nvGrpSpPr>
        <p:grpSpPr>
          <a:xfrm>
            <a:off x="5168014" y="3554168"/>
            <a:ext cx="1422563" cy="1422563"/>
            <a:chOff x="0" y="0"/>
            <a:chExt cx="812800" cy="812800"/>
          </a:xfrm>
        </p:grpSpPr>
        <p:sp>
          <p:nvSpPr>
            <p:cNvPr id="214" name="Google Shape;214;g3660eccee10_0_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4EA7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660eccee10_0_4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g3660eccee10_0_40"/>
          <p:cNvGrpSpPr/>
          <p:nvPr/>
        </p:nvGrpSpPr>
        <p:grpSpPr>
          <a:xfrm>
            <a:off x="8479777" y="3554168"/>
            <a:ext cx="1422563" cy="1422563"/>
            <a:chOff x="0" y="0"/>
            <a:chExt cx="812800" cy="812800"/>
          </a:xfrm>
        </p:grpSpPr>
        <p:sp>
          <p:nvSpPr>
            <p:cNvPr id="217" name="Google Shape;217;g3660eccee10_0_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4EA7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660eccee10_0_4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g3660eccee10_0_40"/>
          <p:cNvGrpSpPr/>
          <p:nvPr/>
        </p:nvGrpSpPr>
        <p:grpSpPr>
          <a:xfrm>
            <a:off x="11793582" y="3554168"/>
            <a:ext cx="1422563" cy="1422563"/>
            <a:chOff x="0" y="0"/>
            <a:chExt cx="812800" cy="812800"/>
          </a:xfrm>
        </p:grpSpPr>
        <p:sp>
          <p:nvSpPr>
            <p:cNvPr id="220" name="Google Shape;220;g3660eccee10_0_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4EA7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660eccee10_0_4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g3660eccee10_0_40"/>
          <p:cNvSpPr txBox="1"/>
          <p:nvPr/>
        </p:nvSpPr>
        <p:spPr>
          <a:xfrm>
            <a:off x="1075763" y="1562351"/>
            <a:ext cx="16230600" cy="2242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rPr b="1" i="0" lang="en-US" sz="60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Importancia de las pruebas de software</a:t>
            </a:r>
            <a:endParaRPr b="1" i="0" sz="60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t/>
            </a:r>
            <a:endParaRPr b="1" i="0" sz="60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660eccee10_0_40"/>
          <p:cNvSpPr txBox="1"/>
          <p:nvPr/>
        </p:nvSpPr>
        <p:spPr>
          <a:xfrm>
            <a:off x="4388375" y="7523900"/>
            <a:ext cx="3217200" cy="256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1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1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pruebas ayudan a asegurar que el software cumpla con los requisitos y funcione sin errores.</a:t>
            </a:r>
            <a:endParaRPr b="0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0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660eccee10_0_40"/>
          <p:cNvSpPr txBox="1"/>
          <p:nvPr/>
        </p:nvSpPr>
        <p:spPr>
          <a:xfrm>
            <a:off x="7649201" y="7523900"/>
            <a:ext cx="3083700" cy="217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Satisfacción del usuario</a:t>
            </a:r>
            <a:endParaRPr b="1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1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Un software bien probado brinda una mejor experiencia de usuario y genera más confianza.</a:t>
            </a:r>
            <a:endParaRPr b="0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660eccee10_0_40"/>
          <p:cNvSpPr txBox="1"/>
          <p:nvPr/>
        </p:nvSpPr>
        <p:spPr>
          <a:xfrm>
            <a:off x="11013975" y="7523900"/>
            <a:ext cx="2980800" cy="217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Detección temprana de errores</a:t>
            </a:r>
            <a:endParaRPr b="1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Identificar y corregir problemas en las primeras etapas reduce costos y esfuerzo.</a:t>
            </a:r>
            <a:endParaRPr b="0" i="0" sz="177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60eccee10_0_40"/>
          <p:cNvSpPr txBox="1"/>
          <p:nvPr/>
        </p:nvSpPr>
        <p:spPr>
          <a:xfrm>
            <a:off x="5559185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60eccee10_0_40"/>
          <p:cNvSpPr txBox="1"/>
          <p:nvPr/>
        </p:nvSpPr>
        <p:spPr>
          <a:xfrm>
            <a:off x="8870947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60eccee10_0_40"/>
          <p:cNvSpPr txBox="1"/>
          <p:nvPr/>
        </p:nvSpPr>
        <p:spPr>
          <a:xfrm>
            <a:off x="12184751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60eccee10_0_65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Tipos de pruebas de software</a:t>
            </a:r>
            <a:endParaRPr b="0" i="0" sz="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660eccee10_0_65"/>
          <p:cNvSpPr/>
          <p:nvPr/>
        </p:nvSpPr>
        <p:spPr>
          <a:xfrm>
            <a:off x="793800" y="3538950"/>
            <a:ext cx="4233300" cy="465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"/>
              <a:buNone/>
            </a:pPr>
            <a:r>
              <a:rPr b="1" i="0" lang="en-US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Funcionales</a:t>
            </a:r>
            <a:endParaRPr b="1" i="0" sz="3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60eccee10_0_65"/>
          <p:cNvSpPr/>
          <p:nvPr/>
        </p:nvSpPr>
        <p:spPr>
          <a:xfrm>
            <a:off x="793800" y="4364510"/>
            <a:ext cx="4454400" cy="207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28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Validan que el software cumpla con los requisitos especificados.</a:t>
            </a:r>
            <a:endParaRPr b="0" i="0" sz="28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660eccee10_0_65"/>
          <p:cNvSpPr/>
          <p:nvPr/>
        </p:nvSpPr>
        <p:spPr>
          <a:xfrm>
            <a:off x="13468425" y="5551274"/>
            <a:ext cx="4535700" cy="29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"/>
              <a:buNone/>
            </a:pPr>
            <a:r>
              <a:rPr b="1" i="0" lang="en-US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No Funcionales</a:t>
            </a:r>
            <a:endParaRPr b="1" i="0" sz="3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660eccee10_0_65"/>
          <p:cNvSpPr/>
          <p:nvPr/>
        </p:nvSpPr>
        <p:spPr>
          <a:xfrm>
            <a:off x="13468425" y="6376825"/>
            <a:ext cx="4454400" cy="280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28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Evalúan aspectos como rendimiento, seguridad, usabilidad y compatibilidad.</a:t>
            </a:r>
            <a:endParaRPr b="0" i="0" sz="28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8" name="Google Shape;238;g3660eccee10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3334" y="3538952"/>
            <a:ext cx="7521351" cy="564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60eccee10_0_77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Pruebas Funcionales</a:t>
            </a:r>
            <a:endParaRPr b="1" i="0" sz="7024" u="none" cap="none" strike="noStrike">
              <a:solidFill>
                <a:srgbClr val="FDFD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660eccee10_0_77"/>
          <p:cNvSpPr/>
          <p:nvPr/>
        </p:nvSpPr>
        <p:spPr>
          <a:xfrm>
            <a:off x="2759300" y="3429000"/>
            <a:ext cx="39171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Validación de requisitos</a:t>
            </a:r>
            <a:endParaRPr b="1" i="0" sz="2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660eccee10_0_77"/>
          <p:cNvSpPr/>
          <p:nvPr/>
        </p:nvSpPr>
        <p:spPr>
          <a:xfrm>
            <a:off x="3119912" y="3919400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Aseguran que el software cumpla con las especificaciones del cliente.</a:t>
            </a:r>
            <a:endParaRPr b="0" i="0" sz="2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660eccee10_0_77"/>
          <p:cNvSpPr/>
          <p:nvPr/>
        </p:nvSpPr>
        <p:spPr>
          <a:xfrm>
            <a:off x="11948063" y="342899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Casos de prueba</a:t>
            </a:r>
            <a:endParaRPr b="1" i="0" sz="2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60eccee10_0_77"/>
          <p:cNvSpPr/>
          <p:nvPr/>
        </p:nvSpPr>
        <p:spPr>
          <a:xfrm>
            <a:off x="12340064" y="3919412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 diseñan escenarios de prueba para cubrir los diferentes casos de uso.</a:t>
            </a:r>
            <a:endParaRPr b="0" i="0" sz="2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60eccee10_0_77"/>
          <p:cNvSpPr/>
          <p:nvPr/>
        </p:nvSpPr>
        <p:spPr>
          <a:xfrm>
            <a:off x="2759300" y="6745575"/>
            <a:ext cx="39981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aceptación</a:t>
            </a:r>
            <a:endParaRPr b="1" i="0" sz="2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60eccee10_0_77"/>
          <p:cNvSpPr/>
          <p:nvPr/>
        </p:nvSpPr>
        <p:spPr>
          <a:xfrm>
            <a:off x="3160412" y="7217283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Verifican que el software sea aceptado por los usuarios finales.</a:t>
            </a:r>
            <a:endParaRPr b="0" i="0" sz="2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60eccee10_0_77"/>
          <p:cNvSpPr/>
          <p:nvPr/>
        </p:nvSpPr>
        <p:spPr>
          <a:xfrm>
            <a:off x="11988580" y="6745574"/>
            <a:ext cx="4123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</a:pPr>
            <a:r>
              <a:rPr b="1" i="0" lang="en-US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regresión</a:t>
            </a:r>
            <a:endParaRPr b="1" i="0" sz="2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660eccee10_0_77"/>
          <p:cNvSpPr/>
          <p:nvPr/>
        </p:nvSpPr>
        <p:spPr>
          <a:xfrm>
            <a:off x="12452214" y="7217283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Detectan si los cambios introducidos han afectado la funcionalidad existente.</a:t>
            </a:r>
            <a:endParaRPr b="0" i="0" sz="20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660eccee10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224" y="3709507"/>
            <a:ext cx="4457927" cy="4457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60eccee10_0_93"/>
          <p:cNvSpPr txBox="1"/>
          <p:nvPr/>
        </p:nvSpPr>
        <p:spPr>
          <a:xfrm>
            <a:off x="1599296" y="2128414"/>
            <a:ext cx="150894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Tipos de pruebas funcionales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g3660eccee10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4146039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60eccee10_0_100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unitarias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660eccee10_0_100"/>
          <p:cNvSpPr txBox="1"/>
          <p:nvPr/>
        </p:nvSpPr>
        <p:spPr>
          <a:xfrm>
            <a:off x="619788" y="2322013"/>
            <a:ext cx="17048400" cy="467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2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pruebas unitarias son la base de las pruebas funcionales. Se centran en verificar la menor parte testeable del software, como funciones y métodos individuales, para asegurarse de que se comporten como se espera. Es fundamental para detectar errores a nivel de componente antes de que el código avance a etapas de integración más complejas.</a:t>
            </a:r>
            <a:endParaRPr b="0" i="0" sz="32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2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 recomienda implementar pruebas unitarias durante las primeras etapas del desarrollo para garantizar una base de código sólida y confiable.</a:t>
            </a:r>
            <a:endParaRPr b="0" i="0" sz="32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660eccee10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0682" y="7375625"/>
            <a:ext cx="5656274" cy="27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60eccee10_0_109"/>
          <p:cNvSpPr txBox="1"/>
          <p:nvPr/>
        </p:nvSpPr>
        <p:spPr>
          <a:xfrm>
            <a:off x="3972750" y="998175"/>
            <a:ext cx="10342500" cy="108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integración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60eccee10_0_109"/>
          <p:cNvSpPr txBox="1"/>
          <p:nvPr/>
        </p:nvSpPr>
        <p:spPr>
          <a:xfrm>
            <a:off x="619800" y="2739450"/>
            <a:ext cx="17048400" cy="2372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Este tipo de pruebas evalúa la forma en que interactúan y operan varios módulos de aplicaciones de software de forma cohesiva. El sistema se divide en componentes conocidos como módulos o unidades. Cada módulo es responsable de una tarea específica. El verdadero desafío llega cuando combinamos estos componentes para desarrollar todo el sistema de software.</a:t>
            </a:r>
            <a:endParaRPr b="0" i="0" sz="29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660eccee10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152" y="5658825"/>
            <a:ext cx="7525500" cy="424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60eccee10_0_118"/>
          <p:cNvSpPr txBox="1"/>
          <p:nvPr/>
        </p:nvSpPr>
        <p:spPr>
          <a:xfrm>
            <a:off x="3986250" y="808950"/>
            <a:ext cx="103155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Pruebas de integración</a:t>
            </a:r>
            <a:endParaRPr b="1" i="0" sz="7024" u="none" cap="none" strike="noStrike">
              <a:solidFill>
                <a:srgbClr val="FDFD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660eccee10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251" y="3036100"/>
            <a:ext cx="16143501" cy="52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60eccee10_0_126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Integración Top-Down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660eccee10_0_126"/>
          <p:cNvSpPr txBox="1"/>
          <p:nvPr/>
        </p:nvSpPr>
        <p:spPr>
          <a:xfrm>
            <a:off x="619800" y="2346400"/>
            <a:ext cx="170484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pruebas top-down emplean un enfoque sistemático para probar los módulos de software desde el nivel superior hacia abajo a través de la jerarquía del sistema. Las pruebas comienzan con el módulo principal del software y continúan con los submódulos de la aplicación.</a:t>
            </a:r>
            <a:endParaRPr b="0" i="0" sz="29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g3660eccee10_0_126"/>
          <p:cNvPicPr preferRelativeResize="0"/>
          <p:nvPr/>
        </p:nvPicPr>
        <p:blipFill rotWithShape="1">
          <a:blip r:embed="rId3">
            <a:alphaModFix/>
          </a:blip>
          <a:srcRect b="0" l="27769" r="32026" t="0"/>
          <a:stretch/>
        </p:blipFill>
        <p:spPr>
          <a:xfrm>
            <a:off x="6287650" y="4488700"/>
            <a:ext cx="4842819" cy="54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60eccee10_0_135"/>
          <p:cNvSpPr txBox="1"/>
          <p:nvPr/>
        </p:nvSpPr>
        <p:spPr>
          <a:xfrm>
            <a:off x="3154950" y="754850"/>
            <a:ext cx="119781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Integración Bottom-Up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660eccee10_0_135"/>
          <p:cNvSpPr txBox="1"/>
          <p:nvPr/>
        </p:nvSpPr>
        <p:spPr>
          <a:xfrm>
            <a:off x="619800" y="2293075"/>
            <a:ext cx="170484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Cuando se realizan pruebas bottom-up, primero se prueban los módulos de nivel inferior. Se pasa gradualmente a los módulos de nivel superior y así sucesivamente, hasta que todas las facetas del software se han probado a fondo. Esta estrategia se denomina razonamiento inductivo. Resulta beneficiosa cuando se incorporan al producto final componentes ya existentes.</a:t>
            </a:r>
            <a:endParaRPr b="0" i="0" sz="29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g3660eccee10_0_135"/>
          <p:cNvPicPr preferRelativeResize="0"/>
          <p:nvPr/>
        </p:nvPicPr>
        <p:blipFill rotWithShape="1">
          <a:blip r:embed="rId3">
            <a:alphaModFix/>
          </a:blip>
          <a:srcRect b="8024" l="28662" r="27612" t="5686"/>
          <a:stretch/>
        </p:blipFill>
        <p:spPr>
          <a:xfrm>
            <a:off x="6380800" y="5122200"/>
            <a:ext cx="5526399" cy="496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60eccee10_0_144"/>
          <p:cNvSpPr txBox="1"/>
          <p:nvPr/>
        </p:nvSpPr>
        <p:spPr>
          <a:xfrm>
            <a:off x="-408750" y="919525"/>
            <a:ext cx="191055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6024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Pruebas Unitarias vs. Pruebas de Integración</a:t>
            </a:r>
            <a:endParaRPr b="1" i="0" sz="6024" u="none" cap="none" strike="noStrike">
              <a:solidFill>
                <a:srgbClr val="FDFD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g3660eccee10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125" y="2209625"/>
            <a:ext cx="11991749" cy="781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60eccee10_0_152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aceptación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660eccee10_0_152"/>
          <p:cNvSpPr txBox="1"/>
          <p:nvPr/>
        </p:nvSpPr>
        <p:spPr>
          <a:xfrm>
            <a:off x="1028713" y="2523175"/>
            <a:ext cx="170484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Las pruebas de aceptación son pruebas formales que verifican si un sistema satisface los requisitos empresariales. Requieren que se esté ejecutando toda la aplicación durante las pruebas y se centran en replicar las conductas de los usuarios. Sin embargo, también pueden ir más allá y medir el rendimiento del sistema y rechazar cambios si no se han cumplido determinados objetivos.</a:t>
            </a:r>
            <a:endParaRPr b="0" i="0" sz="2963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g3660eccee10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950" y="5474250"/>
            <a:ext cx="8719951" cy="46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660eccee10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225" y="2404425"/>
            <a:ext cx="11008800" cy="71337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660eccee10_0_170"/>
          <p:cNvSpPr txBox="1"/>
          <p:nvPr/>
        </p:nvSpPr>
        <p:spPr>
          <a:xfrm>
            <a:off x="5047500" y="835950"/>
            <a:ext cx="81930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POSTMAN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g3660eccee10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14875" y="3512400"/>
            <a:ext cx="38481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60eccee10_0_175"/>
          <p:cNvSpPr txBox="1"/>
          <p:nvPr/>
        </p:nvSpPr>
        <p:spPr>
          <a:xfrm>
            <a:off x="-232650" y="52505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Pruebas de regresión</a:t>
            </a:r>
            <a:endParaRPr b="1" i="0" sz="7024" u="none" cap="none" strike="noStrik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g3660eccee10_0_175"/>
          <p:cNvSpPr txBox="1"/>
          <p:nvPr/>
        </p:nvSpPr>
        <p:spPr>
          <a:xfrm>
            <a:off x="553113" y="1948025"/>
            <a:ext cx="17048400" cy="4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regresión se enfocan en verificar que los cambios, como las correcciones de errores, las mejoras de las funciones y las nuevas funciones añadidas no afecten negativamente las funciones existentes o la funcionalidad. Normalmente se realizan después de un cambio de código relevante o de haber desarrollado una nueva versión del software, y se emplean para asegurar que las funciones existentes sigan respondiendo según lo previsto. Las pruebas de regresión ayudan a garantizar que los nuevos cambios no generen un nuevo error ni provoquen fallos en las funciones existentes.</a:t>
            </a:r>
            <a:endParaRPr b="0" i="0" sz="2963" u="none" cap="none" strike="noStrike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19" name="Google Shape;319;g3660eccee10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9000" y="6235925"/>
            <a:ext cx="3901337" cy="391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660eccee10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0125" y="1847275"/>
            <a:ext cx="12412999" cy="820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660eccee10_0_184"/>
          <p:cNvSpPr txBox="1"/>
          <p:nvPr/>
        </p:nvSpPr>
        <p:spPr>
          <a:xfrm>
            <a:off x="-232650" y="403375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Arial"/>
                <a:ea typeface="Arial"/>
                <a:cs typeface="Arial"/>
                <a:sym typeface="Arial"/>
              </a:rPr>
              <a:t>Ejemplo de prueba de regresión</a:t>
            </a:r>
            <a:endParaRPr b="1" i="0" sz="7024" u="none" cap="none" strike="noStrike">
              <a:solidFill>
                <a:srgbClr val="FDFDF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60eccee10_0_193"/>
          <p:cNvSpPr txBox="1"/>
          <p:nvPr/>
        </p:nvSpPr>
        <p:spPr>
          <a:xfrm>
            <a:off x="4279404" y="3203250"/>
            <a:ext cx="47490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b="0" i="0" lang="en-US" sz="31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aceptación</a:t>
            </a:r>
            <a:endParaRPr b="0" i="0" sz="31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b="0" i="0" lang="en-US" sz="31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regresión</a:t>
            </a:r>
            <a:endParaRPr b="0" i="0" sz="31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b="0" i="0" lang="en-US" sz="31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unitarias</a:t>
            </a:r>
            <a:endParaRPr b="0" i="0" sz="31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b="0" i="0" lang="en-US" sz="31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de integración</a:t>
            </a:r>
            <a:endParaRPr b="0" i="0" sz="31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b="0" i="0" lang="en-US" sz="31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Integración Top-Down</a:t>
            </a:r>
            <a:endParaRPr b="0" i="0" sz="31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b="0" i="0" lang="en-US" sz="3151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Integración Bottom-Up</a:t>
            </a:r>
            <a:endParaRPr b="0" i="0" sz="3151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660eccee10_0_193"/>
          <p:cNvSpPr txBox="1"/>
          <p:nvPr/>
        </p:nvSpPr>
        <p:spPr>
          <a:xfrm>
            <a:off x="5047500" y="835950"/>
            <a:ext cx="81930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g3660eccee10_0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3537" y="270510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f1d82d1c1_0_2"/>
          <p:cNvSpPr txBox="1"/>
          <p:nvPr/>
        </p:nvSpPr>
        <p:spPr>
          <a:xfrm>
            <a:off x="2699373" y="3203250"/>
            <a:ext cx="71673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Font typeface="Arial"/>
              <a:buChar char="❏"/>
            </a:pPr>
            <a:r>
              <a:rPr lang="en-US" sz="3151">
                <a:solidFill>
                  <a:schemeClr val="lt2"/>
                </a:solidFill>
              </a:rPr>
              <a:t>Testing IT</a:t>
            </a:r>
            <a:br>
              <a:rPr lang="en-US" sz="3151">
                <a:solidFill>
                  <a:schemeClr val="lt2"/>
                </a:solidFill>
              </a:rPr>
            </a:br>
            <a:r>
              <a:rPr lang="en-US" sz="3151" u="sng">
                <a:solidFill>
                  <a:schemeClr val="hlink"/>
                </a:solidFill>
                <a:hlinkClick r:id="rId3"/>
              </a:rPr>
              <a:t>https://www.testingit.com.mx/blog/pruebas-unitarias-de-software</a:t>
            </a:r>
            <a:endParaRPr sz="3151">
              <a:solidFill>
                <a:schemeClr val="lt2"/>
              </a:solidFill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51"/>
              <a:buChar char="❏"/>
            </a:pPr>
            <a:r>
              <a:rPr lang="en-US" sz="3151">
                <a:solidFill>
                  <a:schemeClr val="lt2"/>
                </a:solidFill>
              </a:rPr>
              <a:t>Codefresh</a:t>
            </a:r>
            <a:br>
              <a:rPr lang="en-US" sz="3151">
                <a:solidFill>
                  <a:schemeClr val="lt2"/>
                </a:solidFill>
              </a:rPr>
            </a:br>
            <a:r>
              <a:rPr lang="en-US" sz="3151" u="sng">
                <a:solidFill>
                  <a:schemeClr val="hlink"/>
                </a:solidFill>
                <a:hlinkClick r:id="rId4"/>
              </a:rPr>
              <a:t>https://octopus.com/devops/unit-testing/</a:t>
            </a:r>
            <a:r>
              <a:rPr lang="en-US" sz="3151">
                <a:solidFill>
                  <a:schemeClr val="lt2"/>
                </a:solidFill>
              </a:rPr>
              <a:t> </a:t>
            </a:r>
            <a:endParaRPr sz="3151">
              <a:solidFill>
                <a:schemeClr val="lt2"/>
              </a:solidFill>
            </a:endParaRPr>
          </a:p>
        </p:txBody>
      </p:sp>
      <p:sp>
        <p:nvSpPr>
          <p:cNvPr id="338" name="Google Shape;338;g3df1d82d1c1_0_2"/>
          <p:cNvSpPr txBox="1"/>
          <p:nvPr/>
        </p:nvSpPr>
        <p:spPr>
          <a:xfrm>
            <a:off x="5047500" y="835950"/>
            <a:ext cx="81930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lang="en-US" sz="7024">
                <a:solidFill>
                  <a:schemeClr val="lt2"/>
                </a:solidFill>
              </a:rPr>
              <a:t>Referencias</a:t>
            </a:r>
            <a:endParaRPr b="1" i="0" sz="7024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g3df1d82d1c1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98248" y="270510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4e247833d_0_82"/>
          <p:cNvSpPr txBox="1"/>
          <p:nvPr/>
        </p:nvSpPr>
        <p:spPr>
          <a:xfrm>
            <a:off x="2833500" y="147005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1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g364e247833d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112" y="3429000"/>
            <a:ext cx="5239775" cy="52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g380c40e153c_0_0"/>
          <p:cNvPicPr preferRelativeResize="0"/>
          <p:nvPr/>
        </p:nvPicPr>
        <p:blipFill rotWithShape="1">
          <a:blip r:embed="rId3">
            <a:alphaModFix/>
          </a:blip>
          <a:srcRect b="0" l="0" r="61059" t="0"/>
          <a:stretch/>
        </p:blipFill>
        <p:spPr>
          <a:xfrm>
            <a:off x="4777750" y="3178000"/>
            <a:ext cx="4467150" cy="57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80c40e153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7300" y="3989426"/>
            <a:ext cx="4112950" cy="41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80c40e153c_0_0"/>
          <p:cNvSpPr txBox="1"/>
          <p:nvPr/>
        </p:nvSpPr>
        <p:spPr>
          <a:xfrm>
            <a:off x="2848250" y="850175"/>
            <a:ext cx="137112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Pruebas unitarias y de integración</a:t>
            </a:r>
            <a:endParaRPr b="1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f1d82d1c1_0_217"/>
          <p:cNvSpPr txBox="1"/>
          <p:nvPr/>
        </p:nvSpPr>
        <p:spPr>
          <a:xfrm>
            <a:off x="2833513" y="15324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chemeClr val="lt2"/>
                </a:solidFill>
              </a:rPr>
              <a:t>Actividad en clase</a:t>
            </a:r>
            <a:endParaRPr b="1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df1d82d1c1_0_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625" y="342900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f1d82d1c1_0_114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g3df1d82d1c1_0_114"/>
          <p:cNvSpPr txBox="1"/>
          <p:nvPr/>
        </p:nvSpPr>
        <p:spPr>
          <a:xfrm>
            <a:off x="5655069" y="166707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65" name="Google Shape;365;g3df1d82d1c1_0_114"/>
          <p:cNvSpPr txBox="1"/>
          <p:nvPr/>
        </p:nvSpPr>
        <p:spPr>
          <a:xfrm>
            <a:off x="5655069" y="246044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66" name="Google Shape;366;g3df1d82d1c1_0_114"/>
          <p:cNvSpPr txBox="1"/>
          <p:nvPr/>
        </p:nvSpPr>
        <p:spPr>
          <a:xfrm>
            <a:off x="5655069" y="3475309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67" name="Google Shape;367;g3df1d82d1c1_0_114"/>
          <p:cNvSpPr txBox="1"/>
          <p:nvPr/>
        </p:nvSpPr>
        <p:spPr>
          <a:xfrm>
            <a:off x="13953088" y="209125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68" name="Google Shape;368;g3df1d82d1c1_0_114"/>
          <p:cNvSpPr txBox="1"/>
          <p:nvPr/>
        </p:nvSpPr>
        <p:spPr>
          <a:xfrm>
            <a:off x="13953088" y="288462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69" name="Google Shape;369;g3df1d82d1c1_0_114"/>
          <p:cNvSpPr txBox="1"/>
          <p:nvPr/>
        </p:nvSpPr>
        <p:spPr>
          <a:xfrm>
            <a:off x="13953088" y="368028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0" name="Google Shape;370;g3df1d82d1c1_0_114"/>
          <p:cNvSpPr txBox="1"/>
          <p:nvPr/>
        </p:nvSpPr>
        <p:spPr>
          <a:xfrm>
            <a:off x="277231" y="50863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1" name="Google Shape;371;g3df1d82d1c1_0_114"/>
          <p:cNvSpPr txBox="1"/>
          <p:nvPr/>
        </p:nvSpPr>
        <p:spPr>
          <a:xfrm>
            <a:off x="277231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2" name="Google Shape;372;g3df1d82d1c1_0_114"/>
          <p:cNvSpPr txBox="1"/>
          <p:nvPr/>
        </p:nvSpPr>
        <p:spPr>
          <a:xfrm>
            <a:off x="277231" y="662009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3" name="Google Shape;373;g3df1d82d1c1_0_114"/>
          <p:cNvSpPr txBox="1"/>
          <p:nvPr/>
        </p:nvSpPr>
        <p:spPr>
          <a:xfrm>
            <a:off x="277231" y="760040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4" name="Google Shape;374;g3df1d82d1c1_0_114"/>
          <p:cNvSpPr txBox="1"/>
          <p:nvPr/>
        </p:nvSpPr>
        <p:spPr>
          <a:xfrm>
            <a:off x="277231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5" name="Google Shape;375;g3df1d82d1c1_0_114"/>
          <p:cNvSpPr txBox="1"/>
          <p:nvPr/>
        </p:nvSpPr>
        <p:spPr>
          <a:xfrm>
            <a:off x="277231" y="92011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6" name="Google Shape;376;g3df1d82d1c1_0_114"/>
          <p:cNvSpPr txBox="1"/>
          <p:nvPr/>
        </p:nvSpPr>
        <p:spPr>
          <a:xfrm>
            <a:off x="6406538" y="50749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7" name="Google Shape;377;g3df1d82d1c1_0_114"/>
          <p:cNvSpPr txBox="1"/>
          <p:nvPr/>
        </p:nvSpPr>
        <p:spPr>
          <a:xfrm>
            <a:off x="6406538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8" name="Google Shape;378;g3df1d82d1c1_0_114"/>
          <p:cNvSpPr txBox="1"/>
          <p:nvPr/>
        </p:nvSpPr>
        <p:spPr>
          <a:xfrm>
            <a:off x="6406538" y="664866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79" name="Google Shape;379;g3df1d82d1c1_0_114"/>
          <p:cNvSpPr txBox="1"/>
          <p:nvPr/>
        </p:nvSpPr>
        <p:spPr>
          <a:xfrm>
            <a:off x="6406538" y="74443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0" name="Google Shape;380;g3df1d82d1c1_0_114"/>
          <p:cNvSpPr txBox="1"/>
          <p:nvPr/>
        </p:nvSpPr>
        <p:spPr>
          <a:xfrm>
            <a:off x="6406538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1" name="Google Shape;381;g3df1d82d1c1_0_114"/>
          <p:cNvSpPr txBox="1"/>
          <p:nvPr/>
        </p:nvSpPr>
        <p:spPr>
          <a:xfrm>
            <a:off x="6406538" y="92011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2" name="Google Shape;382;g3df1d82d1c1_0_114"/>
          <p:cNvSpPr txBox="1"/>
          <p:nvPr/>
        </p:nvSpPr>
        <p:spPr>
          <a:xfrm>
            <a:off x="12538626" y="50749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3" name="Google Shape;383;g3df1d82d1c1_0_114"/>
          <p:cNvSpPr txBox="1"/>
          <p:nvPr/>
        </p:nvSpPr>
        <p:spPr>
          <a:xfrm>
            <a:off x="12538626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4" name="Google Shape;384;g3df1d82d1c1_0_114"/>
          <p:cNvSpPr txBox="1"/>
          <p:nvPr/>
        </p:nvSpPr>
        <p:spPr>
          <a:xfrm>
            <a:off x="12538626" y="664866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5" name="Google Shape;385;g3df1d82d1c1_0_114"/>
          <p:cNvSpPr txBox="1"/>
          <p:nvPr/>
        </p:nvSpPr>
        <p:spPr>
          <a:xfrm>
            <a:off x="12538626" y="74443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6" name="Google Shape;386;g3df1d82d1c1_0_114"/>
          <p:cNvSpPr txBox="1"/>
          <p:nvPr/>
        </p:nvSpPr>
        <p:spPr>
          <a:xfrm>
            <a:off x="12538626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87" name="Google Shape;387;g3df1d82d1c1_0_114"/>
          <p:cNvSpPr txBox="1"/>
          <p:nvPr/>
        </p:nvSpPr>
        <p:spPr>
          <a:xfrm>
            <a:off x="12538626" y="916314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4e247833d_0_76"/>
          <p:cNvSpPr txBox="1"/>
          <p:nvPr/>
        </p:nvSpPr>
        <p:spPr>
          <a:xfrm>
            <a:off x="2833513" y="15324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Dudas o comentarios</a:t>
            </a:r>
            <a:endParaRPr b="1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g364e247833d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4525" y="3429000"/>
            <a:ext cx="5458950" cy="5458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"/>
          <p:cNvSpPr txBox="1"/>
          <p:nvPr/>
        </p:nvSpPr>
        <p:spPr>
          <a:xfrm>
            <a:off x="4075500" y="1592375"/>
            <a:ext cx="1013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Foro de la semana</a:t>
            </a:r>
            <a:endParaRPr b="0" i="0" sz="7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3477150" y="7796475"/>
            <a:ext cx="11333700" cy="104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Foro Semana 9: </a:t>
            </a:r>
            <a:r>
              <a:rPr b="1" lang="en-US" sz="4800">
                <a:solidFill>
                  <a:schemeClr val="lt2"/>
                </a:solidFill>
              </a:rPr>
              <a:t>dd/MM</a:t>
            </a:r>
            <a:r>
              <a:rPr b="1" i="0" lang="en-US" sz="4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b="1" lang="en-US" sz="4800">
                <a:solidFill>
                  <a:schemeClr val="lt2"/>
                </a:solidFill>
              </a:rPr>
              <a:t>dd</a:t>
            </a:r>
            <a:r>
              <a:rPr b="1" i="0" lang="en-US" sz="4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US" sz="4800">
                <a:solidFill>
                  <a:schemeClr val="lt2"/>
                </a:solidFill>
              </a:rPr>
              <a:t>MM</a:t>
            </a:r>
            <a:endParaRPr b="1" i="0" sz="4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450" y="3437963"/>
            <a:ext cx="9302933" cy="3411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47625">
              <a:schemeClr val="lt1">
                <a:alpha val="47843"/>
              </a:schemeClr>
            </a:outerShdw>
          </a:effectLst>
        </p:spPr>
      </p:pic>
      <p:pic>
        <p:nvPicPr>
          <p:cNvPr id="401" name="Google Shape;4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8653" y="3722413"/>
            <a:ext cx="3193626" cy="31936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3ce9bffb9_0_184"/>
          <p:cNvSpPr txBox="1"/>
          <p:nvPr/>
        </p:nvSpPr>
        <p:spPr>
          <a:xfrm>
            <a:off x="3809595" y="3057454"/>
            <a:ext cx="8658900" cy="4172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10099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5400" u="none" cap="none" strike="noStrike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20124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7" name="Google Shape;407;g363ce9bffb9_0_184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1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63ce9bffb9_0_184"/>
          <p:cNvSpPr/>
          <p:nvPr/>
        </p:nvSpPr>
        <p:spPr>
          <a:xfrm>
            <a:off x="13119626" y="330185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</p:sp>
      <p:pic>
        <p:nvPicPr>
          <p:cNvPr id="409" name="Google Shape;409;g363ce9bffb9_0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5475" y="2024351"/>
            <a:ext cx="1385550" cy="13720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784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