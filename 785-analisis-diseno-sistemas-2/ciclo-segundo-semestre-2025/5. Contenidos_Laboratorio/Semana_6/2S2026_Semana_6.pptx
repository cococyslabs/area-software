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y="10287000" cx="18288000"/>
  <p:notesSz cx="6858000" cy="9144000"/>
  <p:embeddedFontLst>
    <p:embeddedFont>
      <p:font typeface="Poppins"/>
      <p:regular r:id="rId46"/>
      <p:bold r:id="rId47"/>
      <p:italic r:id="rId48"/>
      <p:boldItalic r:id="rId49"/>
    </p:embeddedFont>
    <p:embeddedFont>
      <p:font typeface="Poppins Light"/>
      <p:regular r:id="rId50"/>
      <p:bold r:id="rId51"/>
      <p:italic r:id="rId52"/>
      <p:boldItalic r:id="rId53"/>
    </p:embeddedFont>
    <p:embeddedFont>
      <p:font typeface="Open Sans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8" roundtripDataSignature="AMtx7mjBNs/1chnnKEmI93ihFR4z/rWJ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E85EDC8-141F-486B-9E22-A7288C3F8F21}">
  <a:tblStyle styleId="{5E85EDC8-141F-486B-9E22-A7288C3F8F2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Poppins-regular.fntdata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Poppins-italic.fntdata"/><Relationship Id="rId47" Type="http://schemas.openxmlformats.org/officeDocument/2006/relationships/font" Target="fonts/Poppins-bold.fntdata"/><Relationship Id="rId49" Type="http://schemas.openxmlformats.org/officeDocument/2006/relationships/font" Target="fonts/Poppi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PoppinsLight-bold.fntdata"/><Relationship Id="rId50" Type="http://schemas.openxmlformats.org/officeDocument/2006/relationships/font" Target="fonts/PoppinsLight-regular.fntdata"/><Relationship Id="rId53" Type="http://schemas.openxmlformats.org/officeDocument/2006/relationships/font" Target="fonts/PoppinsLight-boldItalic.fntdata"/><Relationship Id="rId52" Type="http://schemas.openxmlformats.org/officeDocument/2006/relationships/font" Target="fonts/PoppinsLight-italic.fntdata"/><Relationship Id="rId11" Type="http://schemas.openxmlformats.org/officeDocument/2006/relationships/slide" Target="slides/slide5.xml"/><Relationship Id="rId55" Type="http://schemas.openxmlformats.org/officeDocument/2006/relationships/font" Target="fonts/OpenSans-bold.fntdata"/><Relationship Id="rId10" Type="http://schemas.openxmlformats.org/officeDocument/2006/relationships/slide" Target="slides/slide4.xml"/><Relationship Id="rId54" Type="http://schemas.openxmlformats.org/officeDocument/2006/relationships/font" Target="fonts/OpenSans-regular.fntdata"/><Relationship Id="rId13" Type="http://schemas.openxmlformats.org/officeDocument/2006/relationships/slide" Target="slides/slide7.xml"/><Relationship Id="rId57" Type="http://schemas.openxmlformats.org/officeDocument/2006/relationships/font" Target="fonts/OpenSans-boldItalic.fntdata"/><Relationship Id="rId12" Type="http://schemas.openxmlformats.org/officeDocument/2006/relationships/slide" Target="slides/slide6.xml"/><Relationship Id="rId56" Type="http://schemas.openxmlformats.org/officeDocument/2006/relationships/font" Target="fonts/OpenSans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8" Type="http://customschemas.google.com/relationships/presentationmetadata" Target="meta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3c5d0ce3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g363c5d0ce3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453264b04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6453264b04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5f194d606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g35f194d6067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64d3574e2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g364d3574e2f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f80fe5a1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5f80fe5a1a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f1c3ad16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g3df1c3ad164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64d3574e2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g364d3574e2f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64d3574e2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g364d3574e2f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64d3574e2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g364d3574e2f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64d3574e2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364d3574e2f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64d3574e2f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g364d3574e2f_0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64d3574e2f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g364d3574e2f_0_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64d3574e2f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g364d3574e2f_0_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64d3574e2f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g364d3574e2f_0_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64d3574e2f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g364d3574e2f_0_1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64d3574e2f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g364d3574e2f_0_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64e247833d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364e247833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64d3574e2f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g364d3574e2f_0_1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64e247833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g364e247833d_0_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64e247833d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g364e247833d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64e247833d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364e247833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4d3574e2f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8" name="Google Shape;258;g364d3574e2f_0_1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64e247833d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5" name="Google Shape;265;g364e247833d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64d3574e2f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g364d3574e2f_0_1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64d3574e2f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7" name="Google Shape;277;g364d3574e2f_0_1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64d3574e2f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4" name="Google Shape;284;g364d3574e2f_0_1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64e247833d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0" name="Google Shape;290;g364e247833d_0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64d3574e2f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6" name="Google Shape;296;g364d3574e2f_0_1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64d3574e2f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1" name="Google Shape;301;g364d3574e2f_0_1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df1c3ad164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g3df1c3ad16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df1c3ad164_0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g3df1c3ad164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64e247833d_0_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g364e247833d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64e247833d_0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g364e247833d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df1c3ad16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df1c3ad164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df1c3ad164_0_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g3df1c3ad164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7" name="Google Shape;36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63ce9bffb9_0_1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g363ce9bffb9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63c5d0ce31_0_273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6" name="Google Shape;16;g363c5d0ce31_0_273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7" name="Google Shape;17;g363c5d0ce31_0_27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63c5d0ce31_0_30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63c5d0ce31_0_266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22" name="Google Shape;22;g363c5d0ce31_0_266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23" name="Google Shape;23;g363c5d0ce31_0_26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63c5d0ce31_0_270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26" name="Google Shape;26;g363c5d0ce31_0_27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63c5d0ce31_0_277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9" name="Google Shape;29;g363c5d0ce31_0_277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0" name="Google Shape;30;g363c5d0ce31_0_277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1" name="Google Shape;31;g363c5d0ce31_0_27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63c5d0ce31_0_282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34" name="Google Shape;34;g363c5d0ce31_0_28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63c5d0ce31_0_285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g363c5d0ce31_0_285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8" name="Google Shape;38;g363c5d0ce31_0_28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63c5d0ce31_0_289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41" name="Google Shape;41;g363c5d0ce31_0_28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63c5d0ce31_0_292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g363c5d0ce31_0_292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45" name="Google Shape;45;g363c5d0ce31_0_292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6" name="Google Shape;46;g363c5d0ce31_0_292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7" name="Google Shape;47;g363c5d0ce31_0_29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63c5d0ce31_0_298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50" name="Google Shape;50;g363c5d0ce31_0_29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63c5d0ce31_0_301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53" name="Google Shape;53;g363c5d0ce31_0_301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54" name="Google Shape;54;g363c5d0ce31_0_30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6.xml"/><Relationship Id="rId10" Type="http://schemas.openxmlformats.org/officeDocument/2006/relationships/slideLayout" Target="../slideLayouts/slideLayout5.xml"/><Relationship Id="rId13" Type="http://schemas.openxmlformats.org/officeDocument/2006/relationships/slideLayout" Target="../slideLayouts/slideLayout8.xml"/><Relationship Id="rId12" Type="http://schemas.openxmlformats.org/officeDocument/2006/relationships/slideLayout" Target="../slideLayouts/slideLayout7.xml"/><Relationship Id="rId1" Type="http://schemas.openxmlformats.org/officeDocument/2006/relationships/image" Target="../media/image5.png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9" Type="http://schemas.openxmlformats.org/officeDocument/2006/relationships/slideLayout" Target="../slideLayouts/slideLayout4.xml"/><Relationship Id="rId15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9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1.xml"/><Relationship Id="rId5" Type="http://schemas.openxmlformats.org/officeDocument/2006/relationships/image" Target="../media/image24.png"/><Relationship Id="rId6" Type="http://schemas.openxmlformats.org/officeDocument/2006/relationships/slideLayout" Target="../slideLayouts/slideLayout1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63c5d0ce31_0_262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63c5d0ce31_0_262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064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064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064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064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064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064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064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363c5d0ce31_0_26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Google Shape;9;g363c5d0ce31_0_26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8287976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g363c5d0ce31_0_2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4400"/>
            <a:ext cx="18288000" cy="1028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g363c5d0ce31_0_2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600"/>
            <a:ext cx="18287911" cy="10273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g363c5d0ce31_0_2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25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g363c5d0ce31_0_2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8288001" cy="1029350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Relationship Id="rId4" Type="http://schemas.openxmlformats.org/officeDocument/2006/relationships/image" Target="../media/image19.jpg"/><Relationship Id="rId5" Type="http://schemas.openxmlformats.org/officeDocument/2006/relationships/image" Target="../media/image15.jpg"/><Relationship Id="rId6" Type="http://schemas.openxmlformats.org/officeDocument/2006/relationships/image" Target="../media/image2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png"/><Relationship Id="rId4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6.png"/><Relationship Id="rId4" Type="http://schemas.openxmlformats.org/officeDocument/2006/relationships/image" Target="../media/image5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4.png"/><Relationship Id="rId4" Type="http://schemas.openxmlformats.org/officeDocument/2006/relationships/image" Target="../media/image5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3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g363c5d0ce31_0_2"/>
          <p:cNvPicPr preferRelativeResize="0"/>
          <p:nvPr/>
        </p:nvPicPr>
        <p:blipFill rotWithShape="1">
          <a:blip r:embed="rId3">
            <a:alphaModFix/>
          </a:blip>
          <a:srcRect b="65980" l="0" r="0" t="0"/>
          <a:stretch/>
        </p:blipFill>
        <p:spPr>
          <a:xfrm>
            <a:off x="175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g363c5d0ce31_0_2"/>
          <p:cNvPicPr preferRelativeResize="0"/>
          <p:nvPr/>
        </p:nvPicPr>
        <p:blipFill rotWithShape="1">
          <a:blip r:embed="rId4">
            <a:alphaModFix amt="62000"/>
          </a:blip>
          <a:srcRect b="0" l="0" r="0" t="0"/>
          <a:stretch/>
        </p:blipFill>
        <p:spPr>
          <a:xfrm>
            <a:off x="16902" y="-1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1" name="Google Shape;61;g363c5d0ce31_0_2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{5E85EDC8-141F-486B-9E22-A7288C3F8F21}</a:tableStyleId>
              </a:tblPr>
              <a:tblGrid>
                <a:gridCol w="3036400"/>
                <a:gridCol w="43447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Jueves DD/MM/YYYY</a:t>
                      </a:r>
                      <a:endParaRPr sz="2800" u="none" cap="none" strike="noStrike"/>
                    </a:p>
                  </a:txBody>
                  <a:tcPr marT="182850" marB="182850" marR="182850" marL="182850"/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17:20</a:t>
                      </a:r>
                      <a:endParaRPr sz="2800" u="none" cap="none" strike="noStrike"/>
                    </a:p>
                  </a:txBody>
                  <a:tcPr marT="182850" marB="182850" marR="182850" marL="182850"/>
                </a:tc>
              </a:tr>
            </a:tbl>
          </a:graphicData>
        </a:graphic>
      </p:graphicFrame>
      <p:sp>
        <p:nvSpPr>
          <p:cNvPr id="62" name="Google Shape;62;g363c5d0ce31_0_2"/>
          <p:cNvSpPr txBox="1"/>
          <p:nvPr/>
        </p:nvSpPr>
        <p:spPr>
          <a:xfrm>
            <a:off x="2887350" y="4573950"/>
            <a:ext cx="125133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Análisis y Diseño de Sistemas 2 Sección B</a:t>
            </a:r>
            <a:endParaRPr b="0" i="0" sz="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g363c5d0ce31_0_2"/>
          <p:cNvSpPr txBox="1"/>
          <p:nvPr/>
        </p:nvSpPr>
        <p:spPr>
          <a:xfrm>
            <a:off x="144100" y="9168150"/>
            <a:ext cx="92091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/>
              <a:t>Nombre del tutor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g363c5d0ce31_0_2"/>
          <p:cNvSpPr txBox="1"/>
          <p:nvPr/>
        </p:nvSpPr>
        <p:spPr>
          <a:xfrm>
            <a:off x="2887350" y="5645925"/>
            <a:ext cx="12513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3000"/>
              <a:t>Escuela de Ingeniería en Ciencias y Sistemas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/>
          <p:nvPr/>
        </p:nvSpPr>
        <p:spPr>
          <a:xfrm>
            <a:off x="2956505" y="3811812"/>
            <a:ext cx="12375000" cy="14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0B5394"/>
                </a:solidFill>
                <a:latin typeface="Open Sans"/>
                <a:ea typeface="Open Sans"/>
                <a:cs typeface="Open Sans"/>
                <a:sym typeface="Open Sans"/>
              </a:rPr>
              <a:t>Elementos de Diseño</a:t>
            </a:r>
            <a:endParaRPr b="0" i="0" sz="1400" u="none" cap="none" strike="noStrik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" name="Google Shape;7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0777" y="406175"/>
            <a:ext cx="8540076" cy="22633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</p:pic>
      <p:sp>
        <p:nvSpPr>
          <p:cNvPr id="71" name="Google Shape;71;p1"/>
          <p:cNvSpPr txBox="1"/>
          <p:nvPr/>
        </p:nvSpPr>
        <p:spPr>
          <a:xfrm>
            <a:off x="4902600" y="5346338"/>
            <a:ext cx="7857600" cy="1440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3900" u="none" cap="none" strike="noStrike">
                <a:solidFill>
                  <a:srgbClr val="0B5394"/>
                </a:solidFill>
                <a:latin typeface="Open Sans"/>
                <a:ea typeface="Open Sans"/>
                <a:cs typeface="Open Sans"/>
                <a:sym typeface="Open Sans"/>
              </a:rPr>
              <a:t>Análisis y Diseño de Sistemas 2 Sección B </a:t>
            </a:r>
            <a:endParaRPr b="1" i="0" sz="3900" u="none" cap="none" strike="noStrike">
              <a:solidFill>
                <a:srgbClr val="0B539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72" name="Google Shape;72;p1"/>
          <p:cNvGrpSpPr/>
          <p:nvPr/>
        </p:nvGrpSpPr>
        <p:grpSpPr>
          <a:xfrm>
            <a:off x="1232475" y="8283500"/>
            <a:ext cx="8653303" cy="1343375"/>
            <a:chOff x="38450" y="9482950"/>
            <a:chExt cx="8653303" cy="1343375"/>
          </a:xfrm>
        </p:grpSpPr>
        <p:sp>
          <p:nvSpPr>
            <p:cNvPr id="73" name="Google Shape;73;p1"/>
            <p:cNvSpPr txBox="1"/>
            <p:nvPr/>
          </p:nvSpPr>
          <p:spPr>
            <a:xfrm>
              <a:off x="1710453" y="10346939"/>
              <a:ext cx="6981300" cy="3846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411"/>
                </a:srgbClr>
              </a:outerShdw>
            </a:effectLst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1" i="0" lang="en-US" sz="2499" u="none" cap="none" strike="noStrike">
                  <a:solidFill>
                    <a:srgbClr val="0B5394"/>
                  </a:solidFill>
                  <a:latin typeface="Open Sans"/>
                  <a:ea typeface="Open Sans"/>
                  <a:cs typeface="Open Sans"/>
                  <a:sym typeface="Open Sans"/>
                </a:rPr>
                <a:t>Escuela de Ingeniería de Ciencias Y Sistemas</a:t>
              </a:r>
              <a:endParaRPr b="0" i="0" sz="1400" u="none" cap="none" strike="noStrik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"/>
            <p:cNvSpPr txBox="1"/>
            <p:nvPr/>
          </p:nvSpPr>
          <p:spPr>
            <a:xfrm>
              <a:off x="1710450" y="9962338"/>
              <a:ext cx="3525300" cy="3846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411"/>
                </a:srgbClr>
              </a:outerShdw>
            </a:effectLst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1" i="0" lang="en-US" sz="2499" u="none" cap="none" strike="noStrike">
                  <a:solidFill>
                    <a:srgbClr val="0B5394"/>
                  </a:solidFill>
                  <a:latin typeface="Open Sans"/>
                  <a:ea typeface="Open Sans"/>
                  <a:cs typeface="Open Sans"/>
                  <a:sym typeface="Open Sans"/>
                </a:rPr>
                <a:t>Facultad de Ingeniería</a:t>
              </a:r>
              <a:endParaRPr b="0" i="0" sz="1400" u="none" cap="none" strike="noStrik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"/>
            <p:cNvSpPr txBox="1"/>
            <p:nvPr/>
          </p:nvSpPr>
          <p:spPr>
            <a:xfrm>
              <a:off x="1710450" y="9577738"/>
              <a:ext cx="6408000" cy="3846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411"/>
                </a:srgbClr>
              </a:outerShdw>
            </a:effectLst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1" i="0" lang="en-US" sz="2499" u="none" cap="none" strike="noStrike">
                  <a:solidFill>
                    <a:srgbClr val="0B5394"/>
                  </a:solidFill>
                  <a:latin typeface="Open Sans"/>
                  <a:ea typeface="Open Sans"/>
                  <a:cs typeface="Open Sans"/>
                  <a:sym typeface="Open Sans"/>
                </a:rPr>
                <a:t>Universidad de San Carlos de Guatemala</a:t>
              </a:r>
              <a:endParaRPr b="0" i="0" sz="1400" u="none" cap="none" strike="noStrik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6" name="Google Shape;76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450" y="9482950"/>
              <a:ext cx="1343375" cy="1343375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411"/>
                </a:srgbClr>
              </a:outerShdw>
            </a:effectLst>
          </p:spPr>
        </p:pic>
      </p:grpSp>
      <p:sp>
        <p:nvSpPr>
          <p:cNvPr id="77" name="Google Shape;77;p1"/>
          <p:cNvSpPr txBox="1"/>
          <p:nvPr/>
        </p:nvSpPr>
        <p:spPr>
          <a:xfrm>
            <a:off x="14121250" y="9353000"/>
            <a:ext cx="3779700" cy="446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2900" u="none" cap="none" strike="noStrike">
                <a:solidFill>
                  <a:srgbClr val="0B5394"/>
                </a:solidFill>
                <a:latin typeface="Open Sans"/>
                <a:ea typeface="Open Sans"/>
                <a:cs typeface="Open Sans"/>
                <a:sym typeface="Open Sans"/>
              </a:rPr>
              <a:t>Jueves DD/MM/YYYY</a:t>
            </a:r>
            <a:r>
              <a:rPr b="1" i="0" lang="en-US" sz="29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i="0" sz="29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453264b04_0_33"/>
          <p:cNvSpPr txBox="1"/>
          <p:nvPr/>
        </p:nvSpPr>
        <p:spPr>
          <a:xfrm>
            <a:off x="4683300" y="1042300"/>
            <a:ext cx="8921400" cy="1108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lang="en-US" sz="7200">
                <a:solidFill>
                  <a:srgbClr val="20124D"/>
                </a:solidFill>
                <a:latin typeface="Calibri"/>
                <a:ea typeface="Calibri"/>
                <a:cs typeface="Calibri"/>
                <a:sym typeface="Calibri"/>
              </a:rPr>
              <a:t>Anuncios importantes</a:t>
            </a:r>
            <a:endParaRPr b="0" i="0" sz="7200" u="none" cap="none" strike="noStrike">
              <a:solidFill>
                <a:srgbClr val="2012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g36453264b04_0_33"/>
          <p:cNvSpPr txBox="1"/>
          <p:nvPr/>
        </p:nvSpPr>
        <p:spPr>
          <a:xfrm>
            <a:off x="2922400" y="2840238"/>
            <a:ext cx="6967200" cy="613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600"/>
              <a:buFont typeface="Calibri"/>
              <a:buChar char="❏"/>
            </a:pPr>
            <a:r>
              <a:rPr b="1" lang="en-US" sz="3600">
                <a:solidFill>
                  <a:srgbClr val="20124D"/>
                </a:solidFill>
                <a:latin typeface="Calibri"/>
                <a:ea typeface="Calibri"/>
                <a:cs typeface="Calibri"/>
                <a:sym typeface="Calibri"/>
              </a:rPr>
              <a:t>Anuncio 1</a:t>
            </a:r>
            <a:endParaRPr b="1" sz="3600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600"/>
              <a:buFont typeface="Calibri"/>
              <a:buChar char="❏"/>
            </a:pPr>
            <a:r>
              <a:rPr b="1" lang="en-US" sz="3600">
                <a:solidFill>
                  <a:srgbClr val="20124D"/>
                </a:solidFill>
                <a:latin typeface="Calibri"/>
                <a:ea typeface="Calibri"/>
                <a:cs typeface="Calibri"/>
                <a:sym typeface="Calibri"/>
              </a:rPr>
              <a:t>Anuncio 2</a:t>
            </a:r>
            <a:endParaRPr b="1" sz="3600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600"/>
              <a:buFont typeface="Calibri"/>
              <a:buChar char="❏"/>
            </a:pPr>
            <a:r>
              <a:rPr b="1" lang="en-US" sz="3600">
                <a:solidFill>
                  <a:srgbClr val="20124D"/>
                </a:solidFill>
                <a:latin typeface="Calibri"/>
                <a:ea typeface="Calibri"/>
                <a:cs typeface="Calibri"/>
                <a:sym typeface="Calibri"/>
              </a:rPr>
              <a:t>Anuncio 3</a:t>
            </a:r>
            <a:endParaRPr b="1" sz="3600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600"/>
              <a:buFont typeface="Calibri"/>
              <a:buChar char="❏"/>
            </a:pPr>
            <a:r>
              <a:rPr b="1" lang="en-US" sz="3600">
                <a:solidFill>
                  <a:srgbClr val="20124D"/>
                </a:solidFill>
                <a:latin typeface="Calibri"/>
                <a:ea typeface="Calibri"/>
                <a:cs typeface="Calibri"/>
                <a:sym typeface="Calibri"/>
              </a:rPr>
              <a:t>Anuncio 4</a:t>
            </a:r>
            <a:endParaRPr b="1" sz="3600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g36453264b04_0_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77150" y="1902837"/>
            <a:ext cx="6481326" cy="648132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5f194d6067_0_2"/>
          <p:cNvSpPr txBox="1"/>
          <p:nvPr/>
        </p:nvSpPr>
        <p:spPr>
          <a:xfrm>
            <a:off x="2080949" y="509700"/>
            <a:ext cx="14126100" cy="1339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8700" u="none" cap="none" strike="noStrike">
                <a:solidFill>
                  <a:srgbClr val="20124D"/>
                </a:solidFill>
                <a:latin typeface="Open Sans"/>
                <a:ea typeface="Open Sans"/>
                <a:cs typeface="Open Sans"/>
                <a:sym typeface="Open Sans"/>
              </a:rPr>
              <a:t>Agenda</a:t>
            </a:r>
            <a:endParaRPr b="0" i="0" sz="3400" u="none" cap="none" strike="noStrike">
              <a:solidFill>
                <a:srgbClr val="2012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5f194d6067_0_2"/>
          <p:cNvSpPr txBox="1"/>
          <p:nvPr/>
        </p:nvSpPr>
        <p:spPr>
          <a:xfrm>
            <a:off x="2451725" y="2302053"/>
            <a:ext cx="6967200" cy="7276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600"/>
              <a:buFont typeface="Calibri"/>
              <a:buChar char="❏"/>
            </a:pPr>
            <a:r>
              <a:rPr b="1" lang="en-US" sz="3600">
                <a:solidFill>
                  <a:srgbClr val="20124D"/>
                </a:solidFill>
                <a:latin typeface="Calibri"/>
                <a:ea typeface="Calibri"/>
                <a:cs typeface="Calibri"/>
                <a:sym typeface="Calibri"/>
              </a:rPr>
              <a:t>Competencia a desarrollar</a:t>
            </a:r>
            <a:endParaRPr b="1" sz="3600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600"/>
              <a:buFont typeface="Calibri"/>
              <a:buChar char="❏"/>
            </a:pPr>
            <a:r>
              <a:rPr b="1" lang="en-US" sz="3600">
                <a:solidFill>
                  <a:srgbClr val="20124D"/>
                </a:solidFill>
                <a:latin typeface="Calibri"/>
                <a:ea typeface="Calibri"/>
                <a:cs typeface="Calibri"/>
                <a:sym typeface="Calibri"/>
              </a:rPr>
              <a:t>Valor de la semana</a:t>
            </a:r>
            <a:endParaRPr b="1" sz="3600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600"/>
              <a:buFont typeface="Calibri"/>
              <a:buChar char="❏"/>
            </a:pPr>
            <a:r>
              <a:rPr b="1" lang="en-US" sz="3600">
                <a:solidFill>
                  <a:srgbClr val="20124D"/>
                </a:solidFill>
                <a:latin typeface="Calibri"/>
                <a:ea typeface="Calibri"/>
                <a:cs typeface="Calibri"/>
                <a:sym typeface="Calibri"/>
              </a:rPr>
              <a:t>Catálogos de estilos</a:t>
            </a:r>
            <a:endParaRPr b="1" sz="3600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600"/>
              <a:buFont typeface="Calibri"/>
              <a:buChar char="❏"/>
            </a:pPr>
            <a:r>
              <a:rPr b="1" lang="en-US" sz="3600">
                <a:solidFill>
                  <a:srgbClr val="20124D"/>
                </a:solidFill>
                <a:latin typeface="Calibri"/>
                <a:ea typeface="Calibri"/>
                <a:cs typeface="Calibri"/>
                <a:sym typeface="Calibri"/>
              </a:rPr>
              <a:t>Arquitectura de la información</a:t>
            </a:r>
            <a:endParaRPr b="1" sz="3600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600"/>
              <a:buFont typeface="Calibri"/>
              <a:buChar char="❏"/>
            </a:pPr>
            <a:r>
              <a:rPr b="1" lang="en-US" sz="3600">
                <a:solidFill>
                  <a:srgbClr val="20124D"/>
                </a:solidFill>
                <a:latin typeface="Calibri"/>
                <a:ea typeface="Calibri"/>
                <a:cs typeface="Calibri"/>
                <a:sym typeface="Calibri"/>
              </a:rPr>
              <a:t>UX / UI</a:t>
            </a:r>
            <a:endParaRPr b="1" sz="3600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600"/>
              <a:buFont typeface="Calibri"/>
              <a:buChar char="❏"/>
            </a:pPr>
            <a:r>
              <a:rPr b="1" lang="en-US" sz="3600">
                <a:solidFill>
                  <a:srgbClr val="20124D"/>
                </a:solidFill>
                <a:latin typeface="Calibri"/>
                <a:ea typeface="Calibri"/>
                <a:cs typeface="Calibri"/>
                <a:sym typeface="Calibri"/>
              </a:rPr>
              <a:t>Conceptos clave aprendidos</a:t>
            </a:r>
            <a:endParaRPr b="1" sz="3600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600"/>
              <a:buFont typeface="Calibri"/>
              <a:buChar char="❏"/>
            </a:pPr>
            <a:r>
              <a:rPr b="1" lang="en-US" sz="3600">
                <a:solidFill>
                  <a:srgbClr val="20124D"/>
                </a:solidFill>
                <a:latin typeface="Calibri"/>
                <a:ea typeface="Calibri"/>
                <a:cs typeface="Calibri"/>
                <a:sym typeface="Calibri"/>
              </a:rPr>
              <a:t>Referencias</a:t>
            </a:r>
            <a:endParaRPr b="1" sz="3600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600"/>
              <a:buFont typeface="Calibri"/>
              <a:buChar char="❏"/>
            </a:pPr>
            <a:r>
              <a:rPr b="1" lang="en-US" sz="3600">
                <a:solidFill>
                  <a:srgbClr val="20124D"/>
                </a:solidFill>
                <a:latin typeface="Calibri"/>
                <a:ea typeface="Calibri"/>
                <a:cs typeface="Calibri"/>
                <a:sym typeface="Calibri"/>
              </a:rPr>
              <a:t>Ejemplo</a:t>
            </a:r>
            <a:endParaRPr b="1" sz="3600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600"/>
              <a:buFont typeface="Calibri"/>
              <a:buChar char="❏"/>
            </a:pPr>
            <a:r>
              <a:rPr b="1" lang="en-US" sz="3600">
                <a:solidFill>
                  <a:srgbClr val="20124D"/>
                </a:solidFill>
                <a:latin typeface="Calibri"/>
                <a:ea typeface="Calibri"/>
                <a:cs typeface="Calibri"/>
                <a:sym typeface="Calibri"/>
              </a:rPr>
              <a:t>Actividad</a:t>
            </a:r>
            <a:endParaRPr b="1" sz="3600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600"/>
              <a:buFont typeface="Calibri"/>
              <a:buChar char="❏"/>
            </a:pPr>
            <a:r>
              <a:rPr b="1" lang="en-US" sz="3600">
                <a:solidFill>
                  <a:srgbClr val="20124D"/>
                </a:solidFill>
                <a:latin typeface="Calibri"/>
                <a:ea typeface="Calibri"/>
                <a:cs typeface="Calibri"/>
                <a:sym typeface="Calibri"/>
              </a:rPr>
              <a:t>Valores</a:t>
            </a:r>
            <a:endParaRPr b="1" sz="3600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600"/>
              <a:buFont typeface="Calibri"/>
              <a:buChar char="❏"/>
            </a:pPr>
            <a:r>
              <a:rPr b="1" lang="en-US" sz="3600">
                <a:solidFill>
                  <a:srgbClr val="20124D"/>
                </a:solidFill>
                <a:latin typeface="Calibri"/>
                <a:ea typeface="Calibri"/>
                <a:cs typeface="Calibri"/>
                <a:sym typeface="Calibri"/>
              </a:rPr>
              <a:t>Foro de la semana </a:t>
            </a:r>
            <a:endParaRPr b="1" sz="3600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g35f194d6067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8800" y="2302050"/>
            <a:ext cx="6143800" cy="5865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/>
        </p:nvSpPr>
        <p:spPr>
          <a:xfrm>
            <a:off x="2504175" y="4159250"/>
            <a:ext cx="13092600" cy="846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1" i="0" lang="en-US" sz="5498" u="none" cap="none" strike="noStrike">
                <a:solidFill>
                  <a:srgbClr val="20124D"/>
                </a:solidFill>
                <a:latin typeface="Calibri"/>
                <a:ea typeface="Calibri"/>
                <a:cs typeface="Calibri"/>
                <a:sym typeface="Calibri"/>
              </a:rPr>
              <a:t>COMPETENCIA(S) QUE DESARROLLAREMOS</a:t>
            </a:r>
            <a:endParaRPr b="1" i="0" sz="800" u="none" cap="none" strike="noStrike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 txBox="1"/>
          <p:nvPr/>
        </p:nvSpPr>
        <p:spPr>
          <a:xfrm>
            <a:off x="2148150" y="5582275"/>
            <a:ext cx="13991700" cy="447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Comprende y valora la importancia del diseño centrado en el usuario mediante el análisis de principios de UX, UI y arquitectura de la información, con el fin de proponer mejoras en la interacción y accesibilidad de interfaces digitales.</a:t>
            </a:r>
            <a:endParaRPr b="1" i="0" sz="400" u="none" cap="none" strike="noStrike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3"/>
          <p:cNvPicPr preferRelativeResize="0"/>
          <p:nvPr/>
        </p:nvPicPr>
        <p:blipFill rotWithShape="1">
          <a:blip r:embed="rId3">
            <a:alphaModFix/>
          </a:blip>
          <a:srcRect b="0" l="0" r="0" t="19354"/>
          <a:stretch/>
        </p:blipFill>
        <p:spPr>
          <a:xfrm>
            <a:off x="5929313" y="358475"/>
            <a:ext cx="6429375" cy="34567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64d3574e2f_0_3"/>
          <p:cNvSpPr txBox="1"/>
          <p:nvPr/>
        </p:nvSpPr>
        <p:spPr>
          <a:xfrm>
            <a:off x="4616100" y="1274975"/>
            <a:ext cx="9053100" cy="1108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lang="en-US" sz="7200">
                <a:solidFill>
                  <a:srgbClr val="20124D"/>
                </a:solidFill>
                <a:latin typeface="Calibri"/>
                <a:ea typeface="Calibri"/>
                <a:cs typeface="Calibri"/>
                <a:sym typeface="Calibri"/>
              </a:rPr>
              <a:t>Valor de la semana</a:t>
            </a:r>
            <a:endParaRPr b="1" i="0" sz="7200" u="none" cap="none" strike="noStrike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g364d3574e2f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0512" y="3143475"/>
            <a:ext cx="5506975" cy="55069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f80fe5a1a_1_0"/>
          <p:cNvSpPr txBox="1"/>
          <p:nvPr/>
        </p:nvSpPr>
        <p:spPr>
          <a:xfrm>
            <a:off x="1206142" y="392250"/>
            <a:ext cx="15875700" cy="1062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1" i="0" lang="en-US" sz="6900" u="none" cap="none" strike="noStrike">
                <a:solidFill>
                  <a:srgbClr val="20124D"/>
                </a:solidFill>
                <a:latin typeface="Calibri"/>
                <a:ea typeface="Calibri"/>
                <a:cs typeface="Calibri"/>
                <a:sym typeface="Calibri"/>
              </a:rPr>
              <a:t>Honestidad</a:t>
            </a:r>
            <a:endParaRPr b="1" i="0" sz="1400" u="none" cap="none" strike="noStrike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35f80fe5a1a_1_0"/>
          <p:cNvSpPr txBox="1"/>
          <p:nvPr/>
        </p:nvSpPr>
        <p:spPr>
          <a:xfrm>
            <a:off x="728775" y="1802575"/>
            <a:ext cx="9392400" cy="795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i="0" lang="en-US" sz="3151" u="none" cap="none" strike="noStrike">
                <a:solidFill>
                  <a:srgbClr val="20124D"/>
                </a:solidFill>
                <a:latin typeface="Calibri"/>
                <a:ea typeface="Calibri"/>
                <a:cs typeface="Calibri"/>
                <a:sym typeface="Calibri"/>
              </a:rPr>
              <a:t>Actuando con transparencia y coherencia:</a:t>
            </a:r>
            <a:endParaRPr b="1" i="0" sz="3151" u="none" cap="none" strike="noStrike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0" i="0" lang="en-US" sz="3151" u="none" cap="none" strike="noStrike">
                <a:solidFill>
                  <a:srgbClr val="20124D"/>
                </a:solidFill>
                <a:latin typeface="Calibri"/>
                <a:ea typeface="Calibri"/>
                <a:cs typeface="Calibri"/>
                <a:sym typeface="Calibri"/>
              </a:rPr>
              <a:t>Comunicando de forma clara y abierta, compartiendo información veraz y alineada con los principios del equipo, generando confianza al actuar con integridad y coherencia entre lo que se dice y lo que se hace.</a:t>
            </a:r>
            <a:endParaRPr b="0" i="0" sz="3151" u="none" cap="none" strike="noStrike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b="1" i="0" sz="3151" u="none" cap="none" strike="noStrike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i="0" lang="en-US" sz="3151" u="none" cap="none" strike="noStrike">
                <a:solidFill>
                  <a:srgbClr val="20124D"/>
                </a:solidFill>
                <a:latin typeface="Calibri"/>
                <a:ea typeface="Calibri"/>
                <a:cs typeface="Calibri"/>
                <a:sym typeface="Calibri"/>
              </a:rPr>
              <a:t>Fomentando la confianza y la ética en el trabajo</a:t>
            </a:r>
            <a:endParaRPr b="1" i="0" sz="3151" u="none" cap="none" strike="noStrike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0" i="0" lang="en-US" sz="3151" u="none" cap="none" strike="noStrike">
                <a:solidFill>
                  <a:srgbClr val="20124D"/>
                </a:solidFill>
                <a:latin typeface="Calibri"/>
                <a:ea typeface="Calibri"/>
                <a:cs typeface="Calibri"/>
                <a:sym typeface="Calibri"/>
              </a:rPr>
              <a:t>Reconociendo errores cuando ocurren, ofreciendo retroalimentación sincera y constructiva, y asegurando que cada decisión esté basada en la verdad y el respeto, fortaleciendo así la relación y la credibilidad dentro del equipo.</a:t>
            </a:r>
            <a:endParaRPr b="0" i="0" sz="3151" u="none" cap="none" strike="noStrike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g35f80fe5a1a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11375" y="2835063"/>
            <a:ext cx="6055576" cy="58904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f1c3ad164_0_1"/>
          <p:cNvSpPr txBox="1"/>
          <p:nvPr/>
        </p:nvSpPr>
        <p:spPr>
          <a:xfrm>
            <a:off x="4616100" y="1274975"/>
            <a:ext cx="9053100" cy="3324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20124D"/>
                </a:solidFill>
                <a:latin typeface="Calibri"/>
                <a:ea typeface="Calibri"/>
                <a:cs typeface="Calibri"/>
                <a:sym typeface="Calibri"/>
              </a:rPr>
              <a:t>Catálogo de Estilos</a:t>
            </a:r>
            <a:endParaRPr b="1" i="0" sz="7200" u="none" cap="none" strike="noStrike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20124D"/>
                </a:solidFill>
                <a:latin typeface="Calibri"/>
                <a:ea typeface="Calibri"/>
                <a:cs typeface="Calibri"/>
                <a:sym typeface="Calibri"/>
              </a:rPr>
              <a:t>UX/UI</a:t>
            </a:r>
            <a:endParaRPr b="1" i="0" sz="7200" u="none" cap="none" strike="noStrike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t/>
            </a:r>
            <a:endParaRPr b="1" i="0" sz="7200" u="none" cap="none" strike="noStrike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g3df1c3ad164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2900" y="3782500"/>
            <a:ext cx="5879500" cy="5879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9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64d3574e2f_0_10"/>
          <p:cNvSpPr txBox="1"/>
          <p:nvPr/>
        </p:nvSpPr>
        <p:spPr>
          <a:xfrm>
            <a:off x="-529025" y="2441000"/>
            <a:ext cx="187533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64d3574e2f_0_10"/>
          <p:cNvSpPr txBox="1"/>
          <p:nvPr/>
        </p:nvSpPr>
        <p:spPr>
          <a:xfrm>
            <a:off x="1028700" y="1987295"/>
            <a:ext cx="16230600" cy="3010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none" cap="none" strike="noStrike">
                <a:solidFill>
                  <a:srgbClr val="0B5394"/>
                </a:solidFill>
                <a:latin typeface="Poppins Light"/>
                <a:ea typeface="Poppins Light"/>
                <a:cs typeface="Poppins Light"/>
                <a:sym typeface="Poppins Light"/>
              </a:rPr>
              <a:t>Un catálogo de estilos, también conocido como Style Guide o Design System, es un documento vivo que describe y documenta los estándares visuales y de diseño de una marca o proyecto. Este conjunto de directrices asegura que todos los elementos de diseño de una aplicación o sitio web se mantienen coherentes y alineados con la identidad de la marca.</a:t>
            </a:r>
            <a:endParaRPr b="0" i="0" sz="1400" u="none" cap="none" strike="noStrik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g364d3574e2f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08864" y="5933024"/>
            <a:ext cx="2477526" cy="247752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sp>
        <p:nvSpPr>
          <p:cNvPr id="125" name="Google Shape;125;g364d3574e2f_0_10"/>
          <p:cNvSpPr txBox="1"/>
          <p:nvPr/>
        </p:nvSpPr>
        <p:spPr>
          <a:xfrm>
            <a:off x="2072975" y="386550"/>
            <a:ext cx="14968200" cy="1108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¿Qué son los catálogos de estilos?</a:t>
            </a:r>
            <a:endParaRPr b="1" i="0" sz="7200" u="none" cap="none" strike="noStrike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g364d3574e2f_0_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2950" y="6649825"/>
            <a:ext cx="5505450" cy="166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pic>
        <p:nvPicPr>
          <p:cNvPr id="127" name="Google Shape;127;g364d3574e2f_0_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26750" y="5933022"/>
            <a:ext cx="5505449" cy="229302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3362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64d3574e2f_0_21"/>
          <p:cNvSpPr/>
          <p:nvPr/>
        </p:nvSpPr>
        <p:spPr>
          <a:xfrm>
            <a:off x="2683814" y="3768349"/>
            <a:ext cx="2980944" cy="2980944"/>
          </a:xfrm>
          <a:custGeom>
            <a:rect b="b" l="l" r="r" t="t"/>
            <a:pathLst>
              <a:path extrusionOk="0" h="812800" w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4998" r="-2497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64d3574e2f_0_21"/>
          <p:cNvSpPr/>
          <p:nvPr/>
        </p:nvSpPr>
        <p:spPr>
          <a:xfrm>
            <a:off x="5995577" y="3768349"/>
            <a:ext cx="2980944" cy="2980944"/>
          </a:xfrm>
          <a:custGeom>
            <a:rect b="b" l="l" r="r" t="t"/>
            <a:pathLst>
              <a:path extrusionOk="0" h="812800" w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828" l="0" r="0" t="-4697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64d3574e2f_0_21"/>
          <p:cNvSpPr/>
          <p:nvPr/>
        </p:nvSpPr>
        <p:spPr>
          <a:xfrm>
            <a:off x="9309381" y="3768349"/>
            <a:ext cx="2980944" cy="2980944"/>
          </a:xfrm>
          <a:custGeom>
            <a:rect b="b" l="l" r="r" t="t"/>
            <a:pathLst>
              <a:path extrusionOk="0" h="812800" w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25050" r="-2502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64d3574e2f_0_21"/>
          <p:cNvSpPr/>
          <p:nvPr/>
        </p:nvSpPr>
        <p:spPr>
          <a:xfrm>
            <a:off x="12623185" y="3768349"/>
            <a:ext cx="2980944" cy="2980944"/>
          </a:xfrm>
          <a:custGeom>
            <a:rect b="b" l="l" r="r" t="t"/>
            <a:pathLst>
              <a:path extrusionOk="0" h="812800" w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24998" r="-2497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6" name="Google Shape;136;g364d3574e2f_0_21"/>
          <p:cNvGrpSpPr/>
          <p:nvPr/>
        </p:nvGrpSpPr>
        <p:grpSpPr>
          <a:xfrm>
            <a:off x="3463464" y="3057068"/>
            <a:ext cx="1422563" cy="1422563"/>
            <a:chOff x="0" y="0"/>
            <a:chExt cx="812800" cy="812800"/>
          </a:xfrm>
        </p:grpSpPr>
        <p:sp>
          <p:nvSpPr>
            <p:cNvPr id="137" name="Google Shape;137;g364d3574e2f_0_2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3362"/>
            </a:solidFill>
            <a:ln cap="sq" cmpd="sng" w="1905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g364d3574e2f_0_21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g364d3574e2f_0_21"/>
          <p:cNvGrpSpPr/>
          <p:nvPr/>
        </p:nvGrpSpPr>
        <p:grpSpPr>
          <a:xfrm>
            <a:off x="6775227" y="3057068"/>
            <a:ext cx="1422563" cy="1422563"/>
            <a:chOff x="0" y="0"/>
            <a:chExt cx="812800" cy="812800"/>
          </a:xfrm>
        </p:grpSpPr>
        <p:sp>
          <p:nvSpPr>
            <p:cNvPr id="140" name="Google Shape;140;g364d3574e2f_0_2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3362"/>
            </a:solidFill>
            <a:ln cap="sq" cmpd="sng" w="1905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g364d3574e2f_0_21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g364d3574e2f_0_21"/>
          <p:cNvGrpSpPr/>
          <p:nvPr/>
        </p:nvGrpSpPr>
        <p:grpSpPr>
          <a:xfrm>
            <a:off x="10089032" y="3057068"/>
            <a:ext cx="1422563" cy="1422563"/>
            <a:chOff x="0" y="0"/>
            <a:chExt cx="812800" cy="812800"/>
          </a:xfrm>
        </p:grpSpPr>
        <p:sp>
          <p:nvSpPr>
            <p:cNvPr id="143" name="Google Shape;143;g364d3574e2f_0_2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3362"/>
            </a:solidFill>
            <a:ln cap="sq" cmpd="sng" w="1905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g364d3574e2f_0_21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5" name="Google Shape;145;g364d3574e2f_0_21"/>
          <p:cNvGrpSpPr/>
          <p:nvPr/>
        </p:nvGrpSpPr>
        <p:grpSpPr>
          <a:xfrm>
            <a:off x="13396145" y="3057068"/>
            <a:ext cx="1422563" cy="1422563"/>
            <a:chOff x="0" y="0"/>
            <a:chExt cx="812800" cy="812800"/>
          </a:xfrm>
        </p:grpSpPr>
        <p:sp>
          <p:nvSpPr>
            <p:cNvPr id="146" name="Google Shape;146;g364d3574e2f_0_2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3362"/>
            </a:solidFill>
            <a:ln cap="sq" cmpd="sng" w="1905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g364d3574e2f_0_21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8" name="Google Shape;148;g364d3574e2f_0_21"/>
          <p:cNvSpPr txBox="1"/>
          <p:nvPr/>
        </p:nvSpPr>
        <p:spPr>
          <a:xfrm>
            <a:off x="2683825" y="7026800"/>
            <a:ext cx="3217200" cy="2561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b="1" i="0" lang="en-US" sz="1770" u="none" cap="none" strike="noStrike">
                <a:solidFill>
                  <a:srgbClr val="0B5394"/>
                </a:solidFill>
                <a:latin typeface="Poppins"/>
                <a:ea typeface="Poppins"/>
                <a:cs typeface="Poppins"/>
                <a:sym typeface="Poppins"/>
              </a:rPr>
              <a:t>Consistencia Visual</a:t>
            </a:r>
            <a:endParaRPr b="1" i="0" sz="1770" u="none" cap="none" strike="noStrike">
              <a:solidFill>
                <a:srgbClr val="0B539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t/>
            </a:r>
            <a:endParaRPr b="1" i="0" sz="1770" u="none" cap="none" strike="noStrike">
              <a:solidFill>
                <a:srgbClr val="0B539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b="0" i="0" lang="en-US" sz="1770" u="none" cap="none" strike="noStrike">
                <a:solidFill>
                  <a:srgbClr val="0B5394"/>
                </a:solidFill>
                <a:latin typeface="Poppins"/>
                <a:ea typeface="Poppins"/>
                <a:cs typeface="Poppins"/>
                <a:sym typeface="Poppins"/>
              </a:rPr>
              <a:t>Garantizar que todos los componentes de la interfaz mantengan una apariencia y comportamiento uniformes.</a:t>
            </a:r>
            <a:endParaRPr b="0" i="0" sz="1770" u="none" cap="none" strike="noStrike">
              <a:solidFill>
                <a:srgbClr val="0B539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9" name="Google Shape;149;g364d3574e2f_0_21"/>
          <p:cNvSpPr txBox="1"/>
          <p:nvPr/>
        </p:nvSpPr>
        <p:spPr>
          <a:xfrm>
            <a:off x="5945226" y="6645500"/>
            <a:ext cx="3083700" cy="3323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t/>
            </a:r>
            <a:endParaRPr b="1" i="0" sz="1770" u="none" cap="none" strike="noStrike">
              <a:solidFill>
                <a:srgbClr val="0B539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b="1" i="0" lang="en-US" sz="1770" u="none" cap="none" strike="noStrike">
                <a:solidFill>
                  <a:srgbClr val="0B5394"/>
                </a:solidFill>
                <a:latin typeface="Poppins"/>
                <a:ea typeface="Poppins"/>
                <a:cs typeface="Poppins"/>
                <a:sym typeface="Poppins"/>
              </a:rPr>
              <a:t>Ahorro de Tiempo</a:t>
            </a:r>
            <a:endParaRPr b="1" i="0" sz="1770" u="none" cap="none" strike="noStrike">
              <a:solidFill>
                <a:srgbClr val="0B539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t/>
            </a:r>
            <a:endParaRPr b="1" i="0" sz="1770" u="none" cap="none" strike="noStrike">
              <a:solidFill>
                <a:srgbClr val="0B539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b="0" i="0" lang="en-US" sz="1770" u="none" cap="none" strike="noStrike">
                <a:solidFill>
                  <a:srgbClr val="0B5394"/>
                </a:solidFill>
                <a:latin typeface="Poppins"/>
                <a:ea typeface="Poppins"/>
                <a:cs typeface="Poppins"/>
                <a:sym typeface="Poppins"/>
              </a:rPr>
              <a:t>Proporcionar una referencia rápida y clara para diseñadores y desarrolladores, evitando duplicaciones y malentendidos.</a:t>
            </a:r>
            <a:endParaRPr b="0" i="0" sz="1770" u="none" cap="none" strike="noStrike">
              <a:solidFill>
                <a:srgbClr val="0B539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0" name="Google Shape;150;g364d3574e2f_0_21"/>
          <p:cNvSpPr txBox="1"/>
          <p:nvPr/>
        </p:nvSpPr>
        <p:spPr>
          <a:xfrm>
            <a:off x="9309425" y="7026800"/>
            <a:ext cx="2980800" cy="2561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b="1" i="0" lang="en-US" sz="1770" u="none" cap="none" strike="noStrike">
                <a:solidFill>
                  <a:srgbClr val="0B5394"/>
                </a:solidFill>
                <a:latin typeface="Poppins"/>
                <a:ea typeface="Poppins"/>
                <a:cs typeface="Poppins"/>
                <a:sym typeface="Poppins"/>
              </a:rPr>
              <a:t>Facilitar la Colaboración</a:t>
            </a:r>
            <a:endParaRPr b="1" i="0" sz="1770" u="none" cap="none" strike="noStrike">
              <a:solidFill>
                <a:srgbClr val="0B539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t/>
            </a:r>
            <a:endParaRPr b="0" i="0" sz="1770" u="none" cap="none" strike="noStrike">
              <a:solidFill>
                <a:srgbClr val="0B539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b="0" i="0" lang="en-US" sz="1770" u="none" cap="none" strike="noStrike">
                <a:solidFill>
                  <a:srgbClr val="0B5394"/>
                </a:solidFill>
                <a:latin typeface="Poppins"/>
                <a:ea typeface="Poppins"/>
                <a:cs typeface="Poppins"/>
                <a:sym typeface="Poppins"/>
              </a:rPr>
              <a:t>Servir como una herramienta de comunicación entre equipos de diseño, desarrollo y stakeholders.</a:t>
            </a:r>
            <a:endParaRPr b="0" i="0" sz="1770" u="none" cap="none" strike="noStrike">
              <a:solidFill>
                <a:srgbClr val="0B539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1" name="Google Shape;151;g364d3574e2f_0_21"/>
          <p:cNvSpPr txBox="1"/>
          <p:nvPr/>
        </p:nvSpPr>
        <p:spPr>
          <a:xfrm>
            <a:off x="12623375" y="7026800"/>
            <a:ext cx="2980800" cy="2561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b="1" i="0" lang="en-US" sz="1770" u="none" cap="none" strike="noStrike">
                <a:solidFill>
                  <a:srgbClr val="0B5394"/>
                </a:solidFill>
                <a:latin typeface="Poppins"/>
                <a:ea typeface="Poppins"/>
                <a:cs typeface="Poppins"/>
                <a:sym typeface="Poppins"/>
              </a:rPr>
              <a:t>Escalabilidad</a:t>
            </a:r>
            <a:endParaRPr b="1" i="0" sz="1770" u="none" cap="none" strike="noStrike">
              <a:solidFill>
                <a:srgbClr val="0B539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t/>
            </a:r>
            <a:endParaRPr b="0" i="0" sz="1770" u="none" cap="none" strike="noStrike">
              <a:solidFill>
                <a:srgbClr val="0B539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b="0" i="0" lang="en-US" sz="1770" u="none" cap="none" strike="noStrike">
                <a:solidFill>
                  <a:srgbClr val="0B5394"/>
                </a:solidFill>
                <a:latin typeface="Poppins"/>
                <a:ea typeface="Poppins"/>
                <a:cs typeface="Poppins"/>
                <a:sym typeface="Poppins"/>
              </a:rPr>
              <a:t>Permitir la expansión y actualización del proyecto sin comprometer la coherencia visual.</a:t>
            </a:r>
            <a:endParaRPr b="0" i="0" sz="1770" u="none" cap="none" strike="noStrike">
              <a:solidFill>
                <a:srgbClr val="0B539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2" name="Google Shape;152;g364d3574e2f_0_21"/>
          <p:cNvSpPr txBox="1"/>
          <p:nvPr/>
        </p:nvSpPr>
        <p:spPr>
          <a:xfrm>
            <a:off x="3854635" y="3240184"/>
            <a:ext cx="6402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60"/>
              <a:buFont typeface="Arial"/>
              <a:buNone/>
            </a:pPr>
            <a:r>
              <a:rPr b="1" i="0" lang="en-US" sz="506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64d3574e2f_0_21"/>
          <p:cNvSpPr txBox="1"/>
          <p:nvPr/>
        </p:nvSpPr>
        <p:spPr>
          <a:xfrm>
            <a:off x="7166397" y="3240184"/>
            <a:ext cx="6402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60"/>
              <a:buFont typeface="Arial"/>
              <a:buNone/>
            </a:pPr>
            <a:r>
              <a:rPr b="1" i="0" lang="en-US" sz="506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64d3574e2f_0_21"/>
          <p:cNvSpPr txBox="1"/>
          <p:nvPr/>
        </p:nvSpPr>
        <p:spPr>
          <a:xfrm>
            <a:off x="10480201" y="3240184"/>
            <a:ext cx="6402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60"/>
              <a:buFont typeface="Arial"/>
              <a:buNone/>
            </a:pPr>
            <a:r>
              <a:rPr b="1" i="0" lang="en-US" sz="506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64d3574e2f_0_21"/>
          <p:cNvSpPr txBox="1"/>
          <p:nvPr/>
        </p:nvSpPr>
        <p:spPr>
          <a:xfrm>
            <a:off x="13787314" y="3240184"/>
            <a:ext cx="6402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60"/>
              <a:buFont typeface="Arial"/>
              <a:buNone/>
            </a:pPr>
            <a:r>
              <a:rPr b="1" i="0" lang="en-US" sz="506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64d3574e2f_0_21"/>
          <p:cNvSpPr txBox="1"/>
          <p:nvPr/>
        </p:nvSpPr>
        <p:spPr>
          <a:xfrm>
            <a:off x="2072975" y="386550"/>
            <a:ext cx="14968200" cy="1108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Objetivos Principales de los catálogos</a:t>
            </a:r>
            <a:endParaRPr b="1" i="0" sz="7200" u="none" cap="none" strike="noStrike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64d3574e2f_0_52"/>
          <p:cNvSpPr txBox="1"/>
          <p:nvPr/>
        </p:nvSpPr>
        <p:spPr>
          <a:xfrm>
            <a:off x="1035450" y="3883250"/>
            <a:ext cx="16217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64d3574e2f_0_52"/>
          <p:cNvSpPr txBox="1"/>
          <p:nvPr/>
        </p:nvSpPr>
        <p:spPr>
          <a:xfrm>
            <a:off x="4616100" y="1274975"/>
            <a:ext cx="9053100" cy="3324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¿Cómo crear una guía de estilos?</a:t>
            </a:r>
            <a:endParaRPr b="1" i="0" sz="7200" u="none" cap="none" strike="noStrike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t/>
            </a:r>
            <a:endParaRPr b="1" i="0" sz="7200" u="none" cap="none" strike="noStrike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g364d3574e2f_0_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2875" y="3791125"/>
            <a:ext cx="8139550" cy="56976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64d3574e2f_0_59"/>
          <p:cNvSpPr txBox="1"/>
          <p:nvPr/>
        </p:nvSpPr>
        <p:spPr>
          <a:xfrm>
            <a:off x="556100" y="1257550"/>
            <a:ext cx="177318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64d3574e2f_0_59"/>
          <p:cNvSpPr txBox="1"/>
          <p:nvPr/>
        </p:nvSpPr>
        <p:spPr>
          <a:xfrm>
            <a:off x="1028700" y="2143170"/>
            <a:ext cx="16230600" cy="1733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none" cap="none" strike="noStrike">
                <a:solidFill>
                  <a:srgbClr val="0B5394"/>
                </a:solidFill>
                <a:latin typeface="Poppins Light"/>
                <a:ea typeface="Poppins Light"/>
                <a:cs typeface="Poppins Light"/>
                <a:sym typeface="Poppins Light"/>
              </a:rPr>
              <a:t>Cada organización tiene definidos sus colores, valores, historia, hasta un estilo visual. Es importante respetar los componentes de la marca para que el diseño final vaya a tono con ella.</a:t>
            </a:r>
            <a:endParaRPr b="0" i="0" sz="1400" u="none" cap="none" strike="noStrik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g364d3574e2f_0_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16850" y="4727700"/>
            <a:ext cx="7781309" cy="420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364d3574e2f_0_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0213" y="4823877"/>
            <a:ext cx="7383575" cy="420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g364d3574e2f_0_59"/>
          <p:cNvSpPr txBox="1"/>
          <p:nvPr/>
        </p:nvSpPr>
        <p:spPr>
          <a:xfrm>
            <a:off x="4617450" y="600450"/>
            <a:ext cx="9053100" cy="2216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Estudia la marca</a:t>
            </a:r>
            <a:endParaRPr b="1" i="0" sz="7200" u="none" cap="none" strike="noStrike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t/>
            </a:r>
            <a:endParaRPr b="1" i="0" sz="7200" u="none" cap="none" strike="noStrike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4d3574e2f_0_69"/>
          <p:cNvSpPr txBox="1"/>
          <p:nvPr/>
        </p:nvSpPr>
        <p:spPr>
          <a:xfrm>
            <a:off x="1599296" y="758314"/>
            <a:ext cx="15089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64d3574e2f_0_69"/>
          <p:cNvSpPr txBox="1"/>
          <p:nvPr/>
        </p:nvSpPr>
        <p:spPr>
          <a:xfrm>
            <a:off x="1256400" y="2395800"/>
            <a:ext cx="6631200" cy="7067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3763" u="none" cap="none" strike="noStrike">
                <a:solidFill>
                  <a:srgbClr val="0B5394"/>
                </a:solidFill>
                <a:latin typeface="Poppins Light"/>
                <a:ea typeface="Poppins Light"/>
                <a:cs typeface="Poppins Light"/>
                <a:sym typeface="Poppins Light"/>
              </a:rPr>
              <a:t>En algunos casos, las empresas suelen tener una tipografía definida, pero si no es así, se deja documentado en la guía de estilos, el tipo de tipografía y los colores que se van a usar según su jerarquía.</a:t>
            </a:r>
            <a:endParaRPr b="0" i="0" sz="3763" u="none" cap="none" strike="noStrike">
              <a:solidFill>
                <a:srgbClr val="0B5394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179" name="Google Shape;179;g364d3574e2f_0_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83200" y="2072425"/>
            <a:ext cx="5828324" cy="77144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sp>
        <p:nvSpPr>
          <p:cNvPr id="180" name="Google Shape;180;g364d3574e2f_0_69"/>
          <p:cNvSpPr txBox="1"/>
          <p:nvPr/>
        </p:nvSpPr>
        <p:spPr>
          <a:xfrm>
            <a:off x="4477150" y="602425"/>
            <a:ext cx="9053100" cy="1108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Tipografía</a:t>
            </a:r>
            <a:endParaRPr b="1" i="0" sz="7200" u="none" cap="none" strike="noStrike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64d3574e2f_0_78"/>
          <p:cNvSpPr txBox="1"/>
          <p:nvPr/>
        </p:nvSpPr>
        <p:spPr>
          <a:xfrm>
            <a:off x="1599296" y="2628689"/>
            <a:ext cx="15089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64d3574e2f_0_78"/>
          <p:cNvSpPr txBox="1"/>
          <p:nvPr/>
        </p:nvSpPr>
        <p:spPr>
          <a:xfrm>
            <a:off x="1003675" y="2723150"/>
            <a:ext cx="7319400" cy="6423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3863" u="none" cap="none" strike="noStrike">
                <a:solidFill>
                  <a:srgbClr val="0B5394"/>
                </a:solidFill>
                <a:latin typeface="Poppins Light"/>
                <a:ea typeface="Poppins Light"/>
                <a:cs typeface="Poppins Light"/>
                <a:sym typeface="Poppins Light"/>
              </a:rPr>
              <a:t>Al igual que con la tipografía, la paleta de colores es parte fundamental de la construcción de la interfaz, por eso mismo, se deben definir los colores principales, secundarios y complementarios, a utilizar.</a:t>
            </a:r>
            <a:endParaRPr b="0" i="0" sz="3863" u="none" cap="none" strike="noStrike">
              <a:solidFill>
                <a:srgbClr val="0B5394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87" name="Google Shape;187;g364d3574e2f_0_78"/>
          <p:cNvSpPr txBox="1"/>
          <p:nvPr/>
        </p:nvSpPr>
        <p:spPr>
          <a:xfrm>
            <a:off x="4477150" y="602425"/>
            <a:ext cx="9053100" cy="1108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Paleta de colores</a:t>
            </a:r>
            <a:endParaRPr b="1" i="0" sz="7200" u="none" cap="none" strike="noStrike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g364d3574e2f_0_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83575" y="3358526"/>
            <a:ext cx="8375800" cy="51522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64d3574e2f_0_87"/>
          <p:cNvSpPr txBox="1"/>
          <p:nvPr/>
        </p:nvSpPr>
        <p:spPr>
          <a:xfrm>
            <a:off x="745900" y="2151188"/>
            <a:ext cx="16515600" cy="2372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none" cap="none" strike="noStrike">
                <a:solidFill>
                  <a:srgbClr val="0B5394"/>
                </a:solidFill>
                <a:latin typeface="Poppins Light"/>
                <a:ea typeface="Poppins Light"/>
                <a:cs typeface="Poppins Light"/>
                <a:sym typeface="Poppins Light"/>
              </a:rPr>
              <a:t>Es la forma en la que decides comunicarte con el usuario; esta puede ser formal o informal, dependiendo de los valores de la marca. Existen plataformas como Duolingo o Spotify, que buscan una manera divertida de dar sus mensajes o resultados de búsqueda.</a:t>
            </a:r>
            <a:endParaRPr b="0" i="0" sz="1400" u="none" cap="none" strike="noStrik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g364d3574e2f_0_87"/>
          <p:cNvPicPr preferRelativeResize="0"/>
          <p:nvPr/>
        </p:nvPicPr>
        <p:blipFill rotWithShape="1">
          <a:blip r:embed="rId3">
            <a:alphaModFix/>
          </a:blip>
          <a:srcRect b="0" l="16596" r="16988" t="0"/>
          <a:stretch/>
        </p:blipFill>
        <p:spPr>
          <a:xfrm>
            <a:off x="1808025" y="5088500"/>
            <a:ext cx="4255075" cy="46408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pic>
        <p:nvPicPr>
          <p:cNvPr id="195" name="Google Shape;195;g364d3574e2f_0_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61501" y="6319825"/>
            <a:ext cx="9719966" cy="1419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sp>
        <p:nvSpPr>
          <p:cNvPr id="196" name="Google Shape;196;g364d3574e2f_0_87"/>
          <p:cNvSpPr txBox="1"/>
          <p:nvPr/>
        </p:nvSpPr>
        <p:spPr>
          <a:xfrm>
            <a:off x="4477150" y="602425"/>
            <a:ext cx="9053100" cy="1108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Voz / Tono</a:t>
            </a:r>
            <a:endParaRPr b="1" i="0" sz="7200" u="none" cap="none" strike="noStrike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4d3574e2f_0_97"/>
          <p:cNvSpPr txBox="1"/>
          <p:nvPr/>
        </p:nvSpPr>
        <p:spPr>
          <a:xfrm>
            <a:off x="1443421" y="2301364"/>
            <a:ext cx="15089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64d3574e2f_0_97"/>
          <p:cNvSpPr txBox="1"/>
          <p:nvPr/>
        </p:nvSpPr>
        <p:spPr>
          <a:xfrm>
            <a:off x="1028700" y="2083170"/>
            <a:ext cx="16230600" cy="1733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none" cap="none" strike="noStrike">
                <a:solidFill>
                  <a:srgbClr val="0B5394"/>
                </a:solidFill>
                <a:latin typeface="Poppins Light"/>
                <a:ea typeface="Poppins Light"/>
                <a:cs typeface="Poppins Light"/>
                <a:sym typeface="Poppins Light"/>
              </a:rPr>
              <a:t>La iconografía es un punto importante a definir, dado a la relevancia de los mismos como elemento de representación de la marca. Estos, deben adaptarse a la imagen que se desea plasmar y, por lo tanto, pueden ser sobrios, creativos o inusuales.</a:t>
            </a:r>
            <a:endParaRPr b="0" i="0" sz="1400" u="none" cap="none" strike="noStrik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g364d3574e2f_0_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7831" y="4412007"/>
            <a:ext cx="5279556" cy="527955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sp>
        <p:nvSpPr>
          <p:cNvPr id="204" name="Google Shape;204;g364d3574e2f_0_97"/>
          <p:cNvSpPr txBox="1"/>
          <p:nvPr/>
        </p:nvSpPr>
        <p:spPr>
          <a:xfrm>
            <a:off x="4477150" y="602425"/>
            <a:ext cx="9053100" cy="1108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Íconos</a:t>
            </a:r>
            <a:endParaRPr b="1" i="0" sz="7200" u="none" cap="none" strike="noStrike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g364d3574e2f_0_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79375" y="4469975"/>
            <a:ext cx="5279551" cy="5163627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64d3574e2f_0_107"/>
          <p:cNvSpPr txBox="1"/>
          <p:nvPr/>
        </p:nvSpPr>
        <p:spPr>
          <a:xfrm>
            <a:off x="1307921" y="3174189"/>
            <a:ext cx="15089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64d3574e2f_0_107"/>
          <p:cNvSpPr txBox="1"/>
          <p:nvPr/>
        </p:nvSpPr>
        <p:spPr>
          <a:xfrm>
            <a:off x="1948300" y="3174200"/>
            <a:ext cx="6936000" cy="51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50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Los botones son un elemento de integración; en ellos se incluyen todos los puntos anteriores.</a:t>
            </a:r>
            <a:endParaRPr b="0" i="0" sz="3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g364d3574e2f_0_107"/>
          <p:cNvPicPr preferRelativeResize="0"/>
          <p:nvPr/>
        </p:nvPicPr>
        <p:blipFill rotWithShape="1">
          <a:blip r:embed="rId3">
            <a:alphaModFix/>
          </a:blip>
          <a:srcRect b="4469" l="7288" r="7561" t="4678"/>
          <a:stretch/>
        </p:blipFill>
        <p:spPr>
          <a:xfrm>
            <a:off x="10551950" y="2629125"/>
            <a:ext cx="6499500" cy="69826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sp>
        <p:nvSpPr>
          <p:cNvPr id="213" name="Google Shape;213;g364d3574e2f_0_107"/>
          <p:cNvSpPr txBox="1"/>
          <p:nvPr/>
        </p:nvSpPr>
        <p:spPr>
          <a:xfrm>
            <a:off x="4477150" y="602425"/>
            <a:ext cx="9053100" cy="1108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Botones</a:t>
            </a:r>
            <a:endParaRPr b="1" i="0" sz="7200" u="none" cap="none" strike="noStrike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4d3574e2f_0_116"/>
          <p:cNvSpPr txBox="1"/>
          <p:nvPr/>
        </p:nvSpPr>
        <p:spPr>
          <a:xfrm>
            <a:off x="2071500" y="2525950"/>
            <a:ext cx="6625800" cy="6423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3863" u="none" cap="none" strike="noStrike">
                <a:solidFill>
                  <a:srgbClr val="0B5394"/>
                </a:solidFill>
                <a:latin typeface="Poppins Light"/>
                <a:ea typeface="Poppins Light"/>
                <a:cs typeface="Poppins Light"/>
                <a:sym typeface="Poppins Light"/>
              </a:rPr>
              <a:t>En caso de que lo amerite, la integración de imágenes puede producir un impacto bastante grande en la interfaz y los usuarios, ya que la transmisión del mensaje es más directa.</a:t>
            </a:r>
            <a:endParaRPr b="0" i="0" sz="38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19" name="Google Shape;219;g364d3574e2f_0_116"/>
          <p:cNvSpPr txBox="1"/>
          <p:nvPr/>
        </p:nvSpPr>
        <p:spPr>
          <a:xfrm>
            <a:off x="857850" y="602425"/>
            <a:ext cx="9053100" cy="1108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Imágenes</a:t>
            </a:r>
            <a:endParaRPr b="1" i="0" sz="7200" u="none" cap="none" strike="noStrike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g364d3574e2f_0_116"/>
          <p:cNvPicPr preferRelativeResize="0"/>
          <p:nvPr/>
        </p:nvPicPr>
        <p:blipFill rotWithShape="1">
          <a:blip r:embed="rId3">
            <a:alphaModFix/>
          </a:blip>
          <a:srcRect b="0" l="9733" r="10876" t="0"/>
          <a:stretch/>
        </p:blipFill>
        <p:spPr>
          <a:xfrm>
            <a:off x="10029975" y="1278074"/>
            <a:ext cx="7615050" cy="48198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pic>
        <p:nvPicPr>
          <p:cNvPr id="221" name="Google Shape;221;g364d3574e2f_0_1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4775" y="5751525"/>
            <a:ext cx="7684123" cy="39119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64e247833d_0_32"/>
          <p:cNvSpPr txBox="1"/>
          <p:nvPr/>
        </p:nvSpPr>
        <p:spPr>
          <a:xfrm>
            <a:off x="4617450" y="836225"/>
            <a:ext cx="9053100" cy="2216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Arquitectura de la información</a:t>
            </a:r>
            <a:endParaRPr b="1" i="0" sz="7200" u="none" cap="none" strike="noStrike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g364e247833d_0_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5600" y="3641450"/>
            <a:ext cx="4876800" cy="4876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64d3574e2f_0_136"/>
          <p:cNvSpPr txBox="1"/>
          <p:nvPr/>
        </p:nvSpPr>
        <p:spPr>
          <a:xfrm>
            <a:off x="702775" y="2017100"/>
            <a:ext cx="168828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364d3574e2f_0_136"/>
          <p:cNvSpPr txBox="1"/>
          <p:nvPr/>
        </p:nvSpPr>
        <p:spPr>
          <a:xfrm>
            <a:off x="2833500" y="908900"/>
            <a:ext cx="12621000" cy="1108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Arquitectura de la información</a:t>
            </a:r>
            <a:endParaRPr b="1" i="0" sz="7200" u="none" cap="none" strike="noStrike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364d3574e2f_0_136"/>
          <p:cNvSpPr txBox="1"/>
          <p:nvPr/>
        </p:nvSpPr>
        <p:spPr>
          <a:xfrm>
            <a:off x="2246425" y="2415875"/>
            <a:ext cx="13795500" cy="7088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4263" u="none" cap="none" strike="noStrike">
                <a:solidFill>
                  <a:srgbClr val="0B5394"/>
                </a:solidFill>
                <a:latin typeface="Poppins Light"/>
                <a:ea typeface="Poppins Light"/>
                <a:cs typeface="Poppins Light"/>
                <a:sym typeface="Poppins Light"/>
              </a:rPr>
              <a:t>La arquitectura de la información es la disciplina que se enfoca en organizar, estructurar y etiquetar la información de forma que sea clara, comprensible y fácil de encontrar para los usuarios. Es un pilar fundamental en el diseño de sitios web, aplicaciones, intranets y cualquier sistema que gestione grandes cantidades de datos o contenidos.</a:t>
            </a:r>
            <a:endParaRPr b="0" i="0" sz="42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64e247833d_0_38"/>
          <p:cNvSpPr txBox="1"/>
          <p:nvPr/>
        </p:nvSpPr>
        <p:spPr>
          <a:xfrm>
            <a:off x="702775" y="2017100"/>
            <a:ext cx="16882800" cy="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64e247833d_0_38"/>
          <p:cNvSpPr txBox="1"/>
          <p:nvPr/>
        </p:nvSpPr>
        <p:spPr>
          <a:xfrm>
            <a:off x="2833500" y="908900"/>
            <a:ext cx="12621000" cy="1108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Arquitectura de la información</a:t>
            </a:r>
            <a:endParaRPr b="1" i="0" sz="7200" u="none" cap="none" strike="noStrike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g364e247833d_0_38"/>
          <p:cNvPicPr preferRelativeResize="0"/>
          <p:nvPr/>
        </p:nvPicPr>
        <p:blipFill rotWithShape="1">
          <a:blip r:embed="rId3">
            <a:alphaModFix/>
          </a:blip>
          <a:srcRect b="8760" l="0" r="0" t="15785"/>
          <a:stretch/>
        </p:blipFill>
        <p:spPr>
          <a:xfrm>
            <a:off x="1840039" y="2727600"/>
            <a:ext cx="14608274" cy="67488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g364e247833d_0_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275" y="3927763"/>
            <a:ext cx="10439400" cy="51530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sp>
        <p:nvSpPr>
          <p:cNvPr id="247" name="Google Shape;247;g364e247833d_0_49"/>
          <p:cNvSpPr txBox="1"/>
          <p:nvPr/>
        </p:nvSpPr>
        <p:spPr>
          <a:xfrm>
            <a:off x="2152800" y="819775"/>
            <a:ext cx="13982400" cy="2259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3863" u="none" cap="none" strike="noStrike">
                <a:solidFill>
                  <a:srgbClr val="0B5394"/>
                </a:solidFill>
                <a:latin typeface="Poppins Light"/>
                <a:ea typeface="Poppins Light"/>
                <a:cs typeface="Poppins Light"/>
                <a:sym typeface="Poppins Light"/>
              </a:rPr>
              <a:t>La arquitectura de la información también incluye la segmentación o restricción de información según perfiles</a:t>
            </a:r>
            <a:endParaRPr b="0" i="0" sz="38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48" name="Google Shape;248;g364e247833d_0_49"/>
          <p:cNvSpPr/>
          <p:nvPr/>
        </p:nvSpPr>
        <p:spPr>
          <a:xfrm>
            <a:off x="5860500" y="5813700"/>
            <a:ext cx="6141000" cy="7482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64e247833d_0_49"/>
          <p:cNvSpPr txBox="1"/>
          <p:nvPr/>
        </p:nvSpPr>
        <p:spPr>
          <a:xfrm>
            <a:off x="12305400" y="3927775"/>
            <a:ext cx="5868300" cy="1539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600"/>
              <a:buFont typeface="Calibri"/>
              <a:buChar char="❏"/>
            </a:pPr>
            <a:r>
              <a:rPr b="0" i="0" lang="en-US" sz="36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Control de acceso</a:t>
            </a:r>
            <a:endParaRPr b="0" i="0" sz="3600" u="none" cap="none" strike="noStrike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600"/>
              <a:buFont typeface="Calibri"/>
              <a:buChar char="❏"/>
            </a:pPr>
            <a:r>
              <a:rPr b="0" i="0" lang="en-US" sz="36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Experiencia personalizada</a:t>
            </a:r>
            <a:endParaRPr b="0" i="0" sz="3600" u="none" cap="none" strike="noStrike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64e247833d_0_64"/>
          <p:cNvSpPr txBox="1"/>
          <p:nvPr/>
        </p:nvSpPr>
        <p:spPr>
          <a:xfrm>
            <a:off x="2833500" y="908900"/>
            <a:ext cx="12621000" cy="1108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UX / UI</a:t>
            </a:r>
            <a:endParaRPr b="1" i="0" sz="7200" u="none" cap="none" strike="noStrike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g364e247833d_0_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4614" y="2917675"/>
            <a:ext cx="8138775" cy="5722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64d3574e2f_0_144"/>
          <p:cNvSpPr txBox="1"/>
          <p:nvPr/>
        </p:nvSpPr>
        <p:spPr>
          <a:xfrm>
            <a:off x="494250" y="1702300"/>
            <a:ext cx="17299500" cy="3078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963" u="none" cap="none" strike="noStrike">
                <a:solidFill>
                  <a:srgbClr val="0B5394"/>
                </a:solidFill>
                <a:latin typeface="Poppins Light"/>
                <a:ea typeface="Poppins Light"/>
                <a:cs typeface="Poppins Light"/>
                <a:sym typeface="Poppins Light"/>
              </a:rPr>
              <a:t>El diseño de Experiencia de Usuario (UX) es el proceso de crear productos, sistemas o servicios que proporcionen experiencias significativas y relevantes a los usuarios. Involucra todo el proceso de adquisición e integración del producto, lo que incluye aspectos de marca, diseño, usabilidad y funcionalidad. Una gran parte del diseño UX es hacer que el producto final resulte funcional para proporcionar una experiencia positiva, eficiente y satisfactoria para el usuario.</a:t>
            </a:r>
            <a:endParaRPr b="0" i="0" sz="2963" u="none" cap="none" strike="noStrike">
              <a:solidFill>
                <a:srgbClr val="0B5394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61" name="Google Shape;261;g364d3574e2f_0_144"/>
          <p:cNvSpPr txBox="1"/>
          <p:nvPr/>
        </p:nvSpPr>
        <p:spPr>
          <a:xfrm>
            <a:off x="2833500" y="269875"/>
            <a:ext cx="12621000" cy="1108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¿Qué es el diseño UX?</a:t>
            </a:r>
            <a:endParaRPr b="1" i="0" sz="7200" u="none" cap="none" strike="noStrike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2" name="Google Shape;262;g364d3574e2f_0_1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8475" y="5105125"/>
            <a:ext cx="6931658" cy="50138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64e247833d_0_59"/>
          <p:cNvSpPr txBox="1"/>
          <p:nvPr/>
        </p:nvSpPr>
        <p:spPr>
          <a:xfrm>
            <a:off x="743625" y="1823375"/>
            <a:ext cx="16214400" cy="7504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63"/>
              <a:buFont typeface="Arial"/>
              <a:buNone/>
            </a:pPr>
            <a:r>
              <a:t/>
            </a:r>
            <a:endParaRPr b="0" i="0" sz="3063" u="none" cap="none" strike="noStrike">
              <a:solidFill>
                <a:srgbClr val="0B5394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4231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063"/>
              <a:buFont typeface="Poppins Light"/>
              <a:buChar char="●"/>
            </a:pPr>
            <a:r>
              <a:rPr b="0" i="0" lang="en-US" sz="3063" u="none" cap="none" strike="noStrike">
                <a:solidFill>
                  <a:srgbClr val="0B5394"/>
                </a:solidFill>
                <a:latin typeface="Poppins"/>
                <a:ea typeface="Poppins"/>
                <a:cs typeface="Poppins"/>
                <a:sym typeface="Poppins"/>
              </a:rPr>
              <a:t>Investigación de usuarios:</a:t>
            </a:r>
            <a:r>
              <a:rPr b="0" i="0" lang="en-US" sz="3063" u="none" cap="none" strike="noStrike">
                <a:solidFill>
                  <a:srgbClr val="0B5394"/>
                </a:solidFill>
                <a:latin typeface="Poppins Light"/>
                <a:ea typeface="Poppins Light"/>
                <a:cs typeface="Poppins Light"/>
                <a:sym typeface="Poppins Light"/>
              </a:rPr>
              <a:t> comprender las necesidades, comportamientos y motivaciones de los usuarios a través de diversos métodos como entrevistas, encuestas y pruebas de usabilidad.</a:t>
            </a:r>
            <a:endParaRPr b="0" i="0" sz="3063" u="none" cap="none" strike="noStrike">
              <a:solidFill>
                <a:srgbClr val="0B5394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3"/>
              <a:buFont typeface="Arial"/>
              <a:buNone/>
            </a:pPr>
            <a:r>
              <a:t/>
            </a:r>
            <a:endParaRPr b="0" i="0" sz="3063" u="none" cap="none" strike="noStrike">
              <a:solidFill>
                <a:srgbClr val="0B5394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4231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063"/>
              <a:buFont typeface="Poppins Light"/>
              <a:buChar char="●"/>
            </a:pPr>
            <a:r>
              <a:rPr b="0" i="0" lang="en-US" sz="3063" u="none" cap="none" strike="noStrike">
                <a:solidFill>
                  <a:srgbClr val="0B5394"/>
                </a:solidFill>
                <a:latin typeface="Poppins"/>
                <a:ea typeface="Poppins"/>
                <a:cs typeface="Poppins"/>
                <a:sym typeface="Poppins"/>
              </a:rPr>
              <a:t>Arquitectura de la información:</a:t>
            </a:r>
            <a:r>
              <a:rPr b="0" i="0" lang="en-US" sz="3063" u="none" cap="none" strike="noStrike">
                <a:solidFill>
                  <a:srgbClr val="0B5394"/>
                </a:solidFill>
                <a:latin typeface="Poppins Light"/>
                <a:ea typeface="Poppins Light"/>
                <a:cs typeface="Poppins Light"/>
                <a:sym typeface="Poppins Light"/>
              </a:rPr>
              <a:t> organizar y estructurar el contenido de una manera intuitiva y fácil de usar.</a:t>
            </a:r>
            <a:endParaRPr b="0" i="0" sz="3063" u="none" cap="none" strike="noStrike">
              <a:solidFill>
                <a:srgbClr val="0B5394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3"/>
              <a:buFont typeface="Arial"/>
              <a:buNone/>
            </a:pPr>
            <a:r>
              <a:t/>
            </a:r>
            <a:endParaRPr b="0" i="0" sz="3063" u="none" cap="none" strike="noStrike">
              <a:solidFill>
                <a:srgbClr val="0B5394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4231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063"/>
              <a:buFont typeface="Poppins Light"/>
              <a:buChar char="●"/>
            </a:pPr>
            <a:r>
              <a:rPr b="0" i="0" lang="en-US" sz="3063" u="none" cap="none" strike="noStrike">
                <a:solidFill>
                  <a:srgbClr val="0B5394"/>
                </a:solidFill>
                <a:latin typeface="Poppins"/>
                <a:ea typeface="Poppins"/>
                <a:cs typeface="Poppins"/>
                <a:sym typeface="Poppins"/>
              </a:rPr>
              <a:t>Wireframing y prototipado:</a:t>
            </a:r>
            <a:r>
              <a:rPr b="0" i="0" lang="en-US" sz="3063" u="none" cap="none" strike="noStrike">
                <a:solidFill>
                  <a:srgbClr val="0B5394"/>
                </a:solidFill>
                <a:latin typeface="Poppins Light"/>
                <a:ea typeface="Poppins Light"/>
                <a:cs typeface="Poppins Light"/>
                <a:sym typeface="Poppins Light"/>
              </a:rPr>
              <a:t> crear representaciones de baja y alta fidelidad del producto para probar y refinar conceptos.</a:t>
            </a:r>
            <a:endParaRPr b="0" i="0" sz="3063" u="none" cap="none" strike="noStrike">
              <a:solidFill>
                <a:srgbClr val="0B5394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3"/>
              <a:buFont typeface="Arial"/>
              <a:buNone/>
            </a:pPr>
            <a:r>
              <a:t/>
            </a:r>
            <a:endParaRPr b="0" i="0" sz="3063" u="none" cap="none" strike="noStrike">
              <a:solidFill>
                <a:srgbClr val="0B5394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4231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063"/>
              <a:buFont typeface="Poppins Light"/>
              <a:buChar char="●"/>
            </a:pPr>
            <a:r>
              <a:rPr b="0" i="0" lang="en-US" sz="3063" u="none" cap="none" strike="noStrike">
                <a:solidFill>
                  <a:srgbClr val="0B5394"/>
                </a:solidFill>
                <a:latin typeface="Poppins"/>
                <a:ea typeface="Poppins"/>
                <a:cs typeface="Poppins"/>
                <a:sym typeface="Poppins"/>
              </a:rPr>
              <a:t>Pruebas de usabilidad:</a:t>
            </a:r>
            <a:r>
              <a:rPr b="0" i="0" lang="en-US" sz="3063" u="none" cap="none" strike="noStrike">
                <a:solidFill>
                  <a:srgbClr val="0B5394"/>
                </a:solidFill>
                <a:latin typeface="Poppins Light"/>
                <a:ea typeface="Poppins Light"/>
                <a:cs typeface="Poppins Light"/>
                <a:sym typeface="Poppins Light"/>
              </a:rPr>
              <a:t> evaluar el producto probándolo con usuarios reales para identificar problemas y mejorar la experiencia general.</a:t>
            </a:r>
            <a:endParaRPr b="0" i="0" sz="3063" u="none" cap="none" strike="noStrike">
              <a:solidFill>
                <a:srgbClr val="0B5394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t/>
            </a:r>
            <a:endParaRPr b="0" i="0" sz="2963" u="none" cap="none" strike="noStrike">
              <a:solidFill>
                <a:srgbClr val="0B5394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68" name="Google Shape;268;g364e247833d_0_59"/>
          <p:cNvSpPr txBox="1"/>
          <p:nvPr/>
        </p:nvSpPr>
        <p:spPr>
          <a:xfrm>
            <a:off x="2833500" y="394575"/>
            <a:ext cx="12621000" cy="1108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Aspectos de UX</a:t>
            </a:r>
            <a:endParaRPr b="1" i="0" sz="7200" u="none" cap="none" strike="noStrike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64d3574e2f_0_153"/>
          <p:cNvSpPr txBox="1"/>
          <p:nvPr/>
        </p:nvSpPr>
        <p:spPr>
          <a:xfrm>
            <a:off x="743625" y="1823375"/>
            <a:ext cx="16214400" cy="5328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0"/>
              <a:buFont typeface="Arial"/>
              <a:buNone/>
            </a:pPr>
            <a:r>
              <a:t/>
            </a:r>
            <a:endParaRPr b="0" i="0" sz="3050" u="none" cap="none" strike="noStrike">
              <a:solidFill>
                <a:srgbClr val="0B5394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422275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050"/>
              <a:buFont typeface="Poppins Light"/>
              <a:buChar char="●"/>
            </a:pPr>
            <a:r>
              <a:rPr b="0" i="0" lang="en-US" sz="3050" u="none" cap="none" strike="noStrike">
                <a:solidFill>
                  <a:srgbClr val="0B5394"/>
                </a:solidFill>
                <a:latin typeface="Poppins"/>
                <a:ea typeface="Poppins"/>
                <a:cs typeface="Poppins"/>
                <a:sym typeface="Poppins"/>
              </a:rPr>
              <a:t>Diseño de interacción:</a:t>
            </a:r>
            <a:r>
              <a:rPr b="0" i="0" lang="en-US" sz="3050" u="none" cap="none" strike="noStrike">
                <a:solidFill>
                  <a:srgbClr val="0B5394"/>
                </a:solidFill>
                <a:latin typeface="Poppins Light"/>
                <a:ea typeface="Poppins Light"/>
                <a:cs typeface="Poppins Light"/>
                <a:sym typeface="Poppins Light"/>
              </a:rPr>
              <a:t> diseñar los aspectos interactivos de un producto, como botones, transiciones y animaciones, para asegurar que sean intuitivos y mejoren la experiencia del usuario.</a:t>
            </a:r>
            <a:endParaRPr b="0" i="0" sz="3050" u="none" cap="none" strike="noStrike">
              <a:solidFill>
                <a:srgbClr val="0B5394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0"/>
              <a:buFont typeface="Arial"/>
              <a:buNone/>
            </a:pPr>
            <a:r>
              <a:t/>
            </a:r>
            <a:endParaRPr b="0" i="0" sz="3050" u="none" cap="none" strike="noStrike">
              <a:solidFill>
                <a:srgbClr val="0B5394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422275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050"/>
              <a:buFont typeface="Poppins Light"/>
              <a:buChar char="●"/>
            </a:pPr>
            <a:r>
              <a:rPr b="0" i="0" lang="en-US" sz="3050" u="none" cap="none" strike="noStrike">
                <a:solidFill>
                  <a:srgbClr val="0B5394"/>
                </a:solidFill>
                <a:latin typeface="Poppins"/>
                <a:ea typeface="Poppins"/>
                <a:cs typeface="Poppins"/>
                <a:sym typeface="Poppins"/>
              </a:rPr>
              <a:t>Diseño visual:</a:t>
            </a:r>
            <a:r>
              <a:rPr b="0" i="0" lang="en-US" sz="3050" u="none" cap="none" strike="noStrike">
                <a:solidFill>
                  <a:srgbClr val="0B5394"/>
                </a:solidFill>
                <a:latin typeface="Poppins Light"/>
                <a:ea typeface="Poppins Light"/>
                <a:cs typeface="Poppins Light"/>
                <a:sym typeface="Poppins Light"/>
              </a:rPr>
              <a:t> asegurar que el producto sea estéticamente agradable y refleje la identidad de la marca.</a:t>
            </a:r>
            <a:endParaRPr b="0" i="0" sz="3050" u="none" cap="none" strike="noStrike">
              <a:solidFill>
                <a:srgbClr val="0B5394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0"/>
              <a:buFont typeface="Arial"/>
              <a:buNone/>
            </a:pPr>
            <a:r>
              <a:t/>
            </a:r>
            <a:endParaRPr b="0" i="0" sz="3050" u="none" cap="none" strike="noStrike">
              <a:solidFill>
                <a:srgbClr val="0B5394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422275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050"/>
              <a:buFont typeface="Poppins Light"/>
              <a:buChar char="●"/>
            </a:pPr>
            <a:r>
              <a:rPr b="0" i="0" lang="en-US" sz="3050" u="none" cap="none" strike="noStrike">
                <a:solidFill>
                  <a:srgbClr val="0B5394"/>
                </a:solidFill>
                <a:latin typeface="Poppins"/>
                <a:ea typeface="Poppins"/>
                <a:cs typeface="Poppins"/>
                <a:sym typeface="Poppins"/>
              </a:rPr>
              <a:t>Accesibilidad:</a:t>
            </a:r>
            <a:r>
              <a:rPr b="0" i="0" lang="en-US" sz="3050" u="none" cap="none" strike="noStrike">
                <a:solidFill>
                  <a:srgbClr val="0B5394"/>
                </a:solidFill>
                <a:latin typeface="Poppins Light"/>
                <a:ea typeface="Poppins Light"/>
                <a:cs typeface="Poppins Light"/>
                <a:sym typeface="Poppins Light"/>
              </a:rPr>
              <a:t> asegurarse de que el producto pueda ser usado por personas con una amplia gama de habilidades y discapacidades.</a:t>
            </a:r>
            <a:endParaRPr b="0" i="0" sz="3050" u="none" cap="none" strike="noStrike">
              <a:solidFill>
                <a:srgbClr val="0B5394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74" name="Google Shape;274;g364d3574e2f_0_153"/>
          <p:cNvSpPr txBox="1"/>
          <p:nvPr/>
        </p:nvSpPr>
        <p:spPr>
          <a:xfrm>
            <a:off x="2833500" y="394575"/>
            <a:ext cx="12621000" cy="1108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Aspectos de UX</a:t>
            </a:r>
            <a:endParaRPr b="1" i="0" sz="7200" u="none" cap="none" strike="noStrike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64d3574e2f_0_161"/>
          <p:cNvSpPr txBox="1"/>
          <p:nvPr/>
        </p:nvSpPr>
        <p:spPr>
          <a:xfrm>
            <a:off x="494438" y="2072775"/>
            <a:ext cx="17299500" cy="3078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963" u="none" cap="none" strike="noStrike">
                <a:solidFill>
                  <a:srgbClr val="0B5394"/>
                </a:solidFill>
                <a:latin typeface="Poppins Light"/>
                <a:ea typeface="Poppins Light"/>
                <a:cs typeface="Poppins Light"/>
                <a:sym typeface="Poppins Light"/>
              </a:rPr>
              <a:t>El diseño de Interfaz de Usuario (UI) se enfoca en los aspectos visuales e interactivos de la interfaz de un producto. Implica determinar la apariencia y el comportamiento del producto, incluidos el diseño, los colores, la tipografía y los elementos interactivos, para asegurar que sea visualmente atractivo y fácil de usar. El diseño UI se encarga de crear elementos visuales e interactivos de un producto para lograr una experiencia de usuario atractiva, intuitiva y cohesiva.</a:t>
            </a:r>
            <a:endParaRPr b="0" i="0" sz="2963" u="none" cap="none" strike="noStrike">
              <a:solidFill>
                <a:srgbClr val="0B5394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80" name="Google Shape;280;g364d3574e2f_0_1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6826" y="5721375"/>
            <a:ext cx="8274725" cy="4145024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g364d3574e2f_0_161"/>
          <p:cNvSpPr txBox="1"/>
          <p:nvPr/>
        </p:nvSpPr>
        <p:spPr>
          <a:xfrm>
            <a:off x="2833500" y="394575"/>
            <a:ext cx="12621000" cy="1108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¿Qué es el diseño UI?</a:t>
            </a:r>
            <a:endParaRPr b="1" i="0" sz="7200" u="none" cap="none" strike="noStrike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64d3574e2f_0_170"/>
          <p:cNvSpPr txBox="1"/>
          <p:nvPr/>
        </p:nvSpPr>
        <p:spPr>
          <a:xfrm>
            <a:off x="523500" y="2171125"/>
            <a:ext cx="16012800" cy="6763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-3913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63"/>
              <a:buFont typeface="Poppins Light"/>
              <a:buChar char="●"/>
            </a:pPr>
            <a:r>
              <a:rPr b="0" i="0" lang="en-US" sz="2563" u="none" cap="none" strike="noStrike">
                <a:solidFill>
                  <a:srgbClr val="0B5394"/>
                </a:solidFill>
                <a:latin typeface="Poppins"/>
                <a:ea typeface="Poppins"/>
                <a:cs typeface="Poppins"/>
                <a:sym typeface="Poppins"/>
              </a:rPr>
              <a:t>Diseño visual: </a:t>
            </a:r>
            <a:r>
              <a:rPr b="0" i="0" lang="en-US" sz="2563" u="none" cap="none" strike="noStrike">
                <a:solidFill>
                  <a:srgbClr val="0B5394"/>
                </a:solidFill>
                <a:latin typeface="Poppins Light"/>
                <a:ea typeface="Poppins Light"/>
                <a:cs typeface="Poppins Light"/>
                <a:sym typeface="Poppins Light"/>
              </a:rPr>
              <a:t>crear la estética general del producto, que incluye esquemas de colores, tipografía, imágenes e iconografía. Esto garantiza que la interfaz sea visualmente atractiva y refleje la identidad de la marca.</a:t>
            </a:r>
            <a:endParaRPr b="0" i="0" sz="2563" u="none" cap="none" strike="noStrike">
              <a:solidFill>
                <a:srgbClr val="0B5394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63"/>
              <a:buFont typeface="Arial"/>
              <a:buNone/>
            </a:pPr>
            <a:r>
              <a:t/>
            </a:r>
            <a:endParaRPr b="0" i="0" sz="2563" u="none" cap="none" strike="noStrike">
              <a:solidFill>
                <a:srgbClr val="0B5394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913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63"/>
              <a:buFont typeface="Poppins Light"/>
              <a:buChar char="●"/>
            </a:pPr>
            <a:r>
              <a:rPr b="0" i="0" lang="en-US" sz="2563" u="none" cap="none" strike="noStrike">
                <a:solidFill>
                  <a:srgbClr val="0B5394"/>
                </a:solidFill>
                <a:latin typeface="Poppins"/>
                <a:ea typeface="Poppins"/>
                <a:cs typeface="Poppins"/>
                <a:sym typeface="Poppins"/>
              </a:rPr>
              <a:t>Diseño y composición:</a:t>
            </a:r>
            <a:r>
              <a:rPr b="0" i="0" lang="en-US" sz="2563" u="none" cap="none" strike="noStrike">
                <a:solidFill>
                  <a:srgbClr val="0B5394"/>
                </a:solidFill>
                <a:latin typeface="Poppins Light"/>
                <a:ea typeface="Poppins Light"/>
                <a:cs typeface="Poppins Light"/>
                <a:sym typeface="Poppins Light"/>
              </a:rPr>
              <a:t> organizar elementos en la pantalla de manera clara y lógica. Esto incluye el espaciado, la alineación y el uso de cuadrículas para crear una interfaz equilibrada y fácil de navegar.</a:t>
            </a:r>
            <a:endParaRPr b="0" i="0" sz="2563" u="none" cap="none" strike="noStrike">
              <a:solidFill>
                <a:srgbClr val="0B5394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63"/>
              <a:buFont typeface="Arial"/>
              <a:buNone/>
            </a:pPr>
            <a:r>
              <a:t/>
            </a:r>
            <a:endParaRPr b="0" i="0" sz="2563" u="none" cap="none" strike="noStrike">
              <a:solidFill>
                <a:srgbClr val="0B5394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913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63"/>
              <a:buFont typeface="Poppins Light"/>
              <a:buChar char="●"/>
            </a:pPr>
            <a:r>
              <a:rPr b="0" i="0" lang="en-US" sz="2563" u="none" cap="none" strike="noStrike">
                <a:solidFill>
                  <a:srgbClr val="0B5394"/>
                </a:solidFill>
                <a:latin typeface="Poppins"/>
                <a:ea typeface="Poppins"/>
                <a:cs typeface="Poppins"/>
                <a:sym typeface="Poppins"/>
              </a:rPr>
              <a:t>Elementos interactivos:</a:t>
            </a:r>
            <a:r>
              <a:rPr b="0" i="0" lang="en-US" sz="2563" u="none" cap="none" strike="noStrike">
                <a:solidFill>
                  <a:srgbClr val="0B5394"/>
                </a:solidFill>
                <a:latin typeface="Poppins Light"/>
                <a:ea typeface="Poppins Light"/>
                <a:cs typeface="Poppins Light"/>
                <a:sym typeface="Poppins Light"/>
              </a:rPr>
              <a:t> diseñar botones, deslizadores, formularios y otros componentes interactivos que los usuarios utilizan. Estos elementos deben ser intuitivos y responsivos.</a:t>
            </a:r>
            <a:endParaRPr b="0" i="0" sz="2563" u="none" cap="none" strike="noStrike">
              <a:solidFill>
                <a:srgbClr val="0B5394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63"/>
              <a:buFont typeface="Arial"/>
              <a:buNone/>
            </a:pPr>
            <a:r>
              <a:t/>
            </a:r>
            <a:endParaRPr b="0" i="0" sz="2563" u="none" cap="none" strike="noStrike">
              <a:solidFill>
                <a:srgbClr val="0B5394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786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363"/>
              <a:buFont typeface="Poppins Light"/>
              <a:buChar char="●"/>
            </a:pPr>
            <a:r>
              <a:rPr b="0" i="0" lang="en-US" sz="2663" u="none" cap="none" strike="noStrike">
                <a:solidFill>
                  <a:srgbClr val="0B5394"/>
                </a:solidFill>
                <a:latin typeface="Poppins"/>
                <a:ea typeface="Poppins"/>
                <a:cs typeface="Poppins"/>
                <a:sym typeface="Poppins"/>
              </a:rPr>
              <a:t>Consistencia:</a:t>
            </a:r>
            <a:r>
              <a:rPr b="0" i="0" lang="en-US" sz="2563" u="none" cap="none" strike="noStrike">
                <a:solidFill>
                  <a:srgbClr val="0B5394"/>
                </a:solidFill>
                <a:latin typeface="Poppins Light"/>
                <a:ea typeface="Poppins Light"/>
                <a:cs typeface="Poppins Light"/>
                <a:sym typeface="Poppins Light"/>
              </a:rPr>
              <a:t> asegurar que el diseño sea consistente en todo el producto. Esto incluye mantener estilos, colores y comportamientos uniformes para proporcionar una experiencia cohesiva.</a:t>
            </a:r>
            <a:endParaRPr b="0" i="0" sz="2563" u="none" cap="none" strike="noStrike">
              <a:solidFill>
                <a:srgbClr val="0B5394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63"/>
              <a:buFont typeface="Arial"/>
              <a:buNone/>
            </a:pPr>
            <a:r>
              <a:t/>
            </a:r>
            <a:endParaRPr b="0" i="0" sz="2563" u="none" cap="none" strike="noStrike">
              <a:solidFill>
                <a:srgbClr val="0B5394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87" name="Google Shape;287;g364d3574e2f_0_170"/>
          <p:cNvSpPr txBox="1"/>
          <p:nvPr/>
        </p:nvSpPr>
        <p:spPr>
          <a:xfrm>
            <a:off x="2833500" y="425750"/>
            <a:ext cx="12621000" cy="1108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Aspectos de UI</a:t>
            </a:r>
            <a:endParaRPr b="1" i="0" sz="7200" u="none" cap="none" strike="noStrike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64e247833d_0_71"/>
          <p:cNvSpPr txBox="1"/>
          <p:nvPr/>
        </p:nvSpPr>
        <p:spPr>
          <a:xfrm>
            <a:off x="523500" y="1781450"/>
            <a:ext cx="16012800" cy="4023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63"/>
              <a:buFont typeface="Arial"/>
              <a:buNone/>
            </a:pPr>
            <a:r>
              <a:t/>
            </a:r>
            <a:endParaRPr b="0" i="0" sz="2563" u="none" cap="none" strike="noStrike">
              <a:solidFill>
                <a:srgbClr val="0B5394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913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63"/>
              <a:buFont typeface="Poppins Light"/>
              <a:buChar char="●"/>
            </a:pPr>
            <a:r>
              <a:rPr b="0" i="0" lang="en-US" sz="2563" u="none" cap="none" strike="noStrike">
                <a:solidFill>
                  <a:srgbClr val="0B5394"/>
                </a:solidFill>
                <a:latin typeface="Poppins"/>
                <a:ea typeface="Poppins"/>
                <a:cs typeface="Poppins"/>
                <a:sym typeface="Poppins"/>
              </a:rPr>
              <a:t>Accesibilidad:</a:t>
            </a:r>
            <a:r>
              <a:rPr b="0" i="0" lang="en-US" sz="2563" u="none" cap="none" strike="noStrike">
                <a:solidFill>
                  <a:srgbClr val="0B5394"/>
                </a:solidFill>
                <a:latin typeface="Poppins Light"/>
                <a:ea typeface="Poppins Light"/>
                <a:cs typeface="Poppins Light"/>
                <a:sym typeface="Poppins Light"/>
              </a:rPr>
              <a:t> diseñar interfaces que sean accesibles para usuarios con diferentes habilidades. Esto incluye considerar factores como el contraste, el tamaño de fuente y la navegación por teclado.</a:t>
            </a:r>
            <a:endParaRPr b="0" i="0" sz="2563" u="none" cap="none" strike="noStrike">
              <a:solidFill>
                <a:srgbClr val="0B5394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63"/>
              <a:buFont typeface="Arial"/>
              <a:buNone/>
            </a:pPr>
            <a:r>
              <a:t/>
            </a:r>
            <a:endParaRPr b="0" i="0" sz="2563" u="none" cap="none" strike="noStrike">
              <a:solidFill>
                <a:srgbClr val="0B5394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913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563"/>
              <a:buFont typeface="Poppins Light"/>
              <a:buChar char="●"/>
            </a:pPr>
            <a:r>
              <a:rPr b="0" i="0" lang="en-US" sz="2563" u="none" cap="none" strike="noStrike">
                <a:solidFill>
                  <a:srgbClr val="0B5394"/>
                </a:solidFill>
                <a:latin typeface="Poppins"/>
                <a:ea typeface="Poppins"/>
                <a:cs typeface="Poppins"/>
                <a:sym typeface="Poppins"/>
              </a:rPr>
              <a:t>Retroalimentación y capacidad de respuesta: </a:t>
            </a:r>
            <a:r>
              <a:rPr b="0" i="0" lang="en-US" sz="2563" u="none" cap="none" strike="noStrike">
                <a:solidFill>
                  <a:srgbClr val="0B5394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proporcionar retroalimentación visual a los usuarios cuando interactúan con los elementos. Esto incluye efectos de desplazamiento, indicadores de carga y mensajes de error para mantener a los usuarios informados sobre el estado de sus acciones.</a:t>
            </a:r>
            <a:endParaRPr b="0" i="0" sz="2563" u="none" cap="none" strike="noStrike">
              <a:solidFill>
                <a:srgbClr val="0B5394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93" name="Google Shape;293;g364e247833d_0_71"/>
          <p:cNvSpPr txBox="1"/>
          <p:nvPr/>
        </p:nvSpPr>
        <p:spPr>
          <a:xfrm>
            <a:off x="2833500" y="425750"/>
            <a:ext cx="12621000" cy="1108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Aspectos de UI</a:t>
            </a:r>
            <a:endParaRPr b="1" i="0" sz="7200" u="none" cap="none" strike="noStrike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g364d3574e2f_0_1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857250"/>
            <a:ext cx="15240000" cy="8572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g364d3574e2f_0_1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8988" y="152400"/>
            <a:ext cx="13750035" cy="99822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df1c3ad164_0_7"/>
          <p:cNvSpPr txBox="1"/>
          <p:nvPr/>
        </p:nvSpPr>
        <p:spPr>
          <a:xfrm>
            <a:off x="3556350" y="637050"/>
            <a:ext cx="11175300" cy="1108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lang="en-US" sz="7200">
                <a:solidFill>
                  <a:srgbClr val="20124D"/>
                </a:solidFill>
                <a:latin typeface="Calibri"/>
                <a:ea typeface="Calibri"/>
                <a:cs typeface="Calibri"/>
                <a:sym typeface="Calibri"/>
              </a:rPr>
              <a:t>Conceptos clave aprendidos</a:t>
            </a:r>
            <a:endParaRPr b="0" i="0" sz="7200" u="none" cap="none" strike="noStrike">
              <a:solidFill>
                <a:srgbClr val="2012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df1c3ad164_0_7"/>
          <p:cNvSpPr txBox="1"/>
          <p:nvPr/>
        </p:nvSpPr>
        <p:spPr>
          <a:xfrm>
            <a:off x="2922400" y="2840238"/>
            <a:ext cx="6967200" cy="613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600"/>
              <a:buFont typeface="Calibri"/>
              <a:buChar char="❏"/>
            </a:pPr>
            <a:r>
              <a:rPr b="1" lang="en-US" sz="3600">
                <a:solidFill>
                  <a:srgbClr val="20124D"/>
                </a:solidFill>
                <a:latin typeface="Calibri"/>
                <a:ea typeface="Calibri"/>
                <a:cs typeface="Calibri"/>
                <a:sym typeface="Calibri"/>
              </a:rPr>
              <a:t>Estilos</a:t>
            </a:r>
            <a:endParaRPr b="1" sz="3600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600"/>
              <a:buFont typeface="Calibri"/>
              <a:buChar char="❏"/>
            </a:pPr>
            <a:r>
              <a:rPr b="1" lang="en-US" sz="3600">
                <a:solidFill>
                  <a:srgbClr val="20124D"/>
                </a:solidFill>
                <a:latin typeface="Calibri"/>
                <a:ea typeface="Calibri"/>
                <a:cs typeface="Calibri"/>
                <a:sym typeface="Calibri"/>
              </a:rPr>
              <a:t>Identidad</a:t>
            </a:r>
            <a:endParaRPr b="1" sz="3600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600"/>
              <a:buFont typeface="Calibri"/>
              <a:buChar char="❏"/>
            </a:pPr>
            <a:r>
              <a:rPr b="1" lang="en-US" sz="3600">
                <a:solidFill>
                  <a:srgbClr val="20124D"/>
                </a:solidFill>
                <a:latin typeface="Calibri"/>
                <a:ea typeface="Calibri"/>
                <a:cs typeface="Calibri"/>
                <a:sym typeface="Calibri"/>
              </a:rPr>
              <a:t>Organización de la información</a:t>
            </a:r>
            <a:endParaRPr b="1" sz="3600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600"/>
              <a:buFont typeface="Calibri"/>
              <a:buChar char="❏"/>
            </a:pPr>
            <a:r>
              <a:rPr b="1" lang="en-US" sz="3600">
                <a:solidFill>
                  <a:srgbClr val="20124D"/>
                </a:solidFill>
                <a:latin typeface="Calibri"/>
                <a:ea typeface="Calibri"/>
                <a:cs typeface="Calibri"/>
                <a:sym typeface="Calibri"/>
              </a:rPr>
              <a:t>Experiencia de usuario</a:t>
            </a:r>
            <a:endParaRPr b="1" sz="3600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600"/>
              <a:buFont typeface="Calibri"/>
              <a:buChar char="❏"/>
            </a:pPr>
            <a:r>
              <a:rPr b="1" lang="en-US" sz="3600">
                <a:solidFill>
                  <a:srgbClr val="20124D"/>
                </a:solidFill>
                <a:latin typeface="Calibri"/>
                <a:ea typeface="Calibri"/>
                <a:cs typeface="Calibri"/>
                <a:sym typeface="Calibri"/>
              </a:rPr>
              <a:t>Interfaz de usuario</a:t>
            </a:r>
            <a:endParaRPr b="1" sz="3600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0" name="Google Shape;310;g3df1c3ad164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62700" y="2676975"/>
            <a:ext cx="8093600" cy="5297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df1c3ad164_0_95"/>
          <p:cNvSpPr txBox="1"/>
          <p:nvPr/>
        </p:nvSpPr>
        <p:spPr>
          <a:xfrm>
            <a:off x="3556350" y="637050"/>
            <a:ext cx="11175300" cy="1108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lang="en-US" sz="7200">
                <a:solidFill>
                  <a:srgbClr val="20124D"/>
                </a:solidFill>
                <a:latin typeface="Calibri"/>
                <a:ea typeface="Calibri"/>
                <a:cs typeface="Calibri"/>
                <a:sym typeface="Calibri"/>
              </a:rPr>
              <a:t>Referencias</a:t>
            </a:r>
            <a:endParaRPr b="0" i="0" sz="7200" u="none" cap="none" strike="noStrike">
              <a:solidFill>
                <a:srgbClr val="2012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3df1c3ad164_0_95"/>
          <p:cNvSpPr txBox="1"/>
          <p:nvPr/>
        </p:nvSpPr>
        <p:spPr>
          <a:xfrm>
            <a:off x="1829825" y="2806650"/>
            <a:ext cx="8440500" cy="613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600"/>
              <a:buFont typeface="Calibri"/>
              <a:buChar char="❏"/>
            </a:pPr>
            <a:r>
              <a:rPr b="1" lang="en-US" sz="3600">
                <a:solidFill>
                  <a:srgbClr val="20124D"/>
                </a:solidFill>
                <a:latin typeface="Calibri"/>
                <a:ea typeface="Calibri"/>
                <a:cs typeface="Calibri"/>
                <a:sym typeface="Calibri"/>
              </a:rPr>
              <a:t>Codecademy</a:t>
            </a:r>
            <a:br>
              <a:rPr b="1" lang="en-US" sz="3600">
                <a:solidFill>
                  <a:srgbClr val="20124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3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https://www.codecademy.com/article/what-are-ui-and-ux-design</a:t>
            </a:r>
            <a:endParaRPr b="1" sz="3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600"/>
              <a:buFont typeface="Calibri"/>
              <a:buChar char="❏"/>
            </a:pPr>
            <a:r>
              <a:rPr b="1" lang="en-US" sz="3600">
                <a:solidFill>
                  <a:srgbClr val="20124D"/>
                </a:solidFill>
                <a:latin typeface="Calibri"/>
                <a:ea typeface="Calibri"/>
                <a:cs typeface="Calibri"/>
                <a:sym typeface="Calibri"/>
              </a:rPr>
              <a:t>Neoland</a:t>
            </a:r>
            <a:br>
              <a:rPr b="1" lang="en-US" sz="3600">
                <a:solidFill>
                  <a:srgbClr val="20124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3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https://neoland.es/que-es-el-ux-ui-design/</a:t>
            </a:r>
            <a:endParaRPr b="1" sz="3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7" name="Google Shape;317;g3df1c3ad164_0_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17875" y="2806650"/>
            <a:ext cx="4876800" cy="4876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64e247833d_0_82"/>
          <p:cNvSpPr txBox="1"/>
          <p:nvPr/>
        </p:nvSpPr>
        <p:spPr>
          <a:xfrm>
            <a:off x="2833500" y="1470050"/>
            <a:ext cx="12621000" cy="1108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Ejemplo práctico</a:t>
            </a:r>
            <a:endParaRPr b="1" i="0" sz="7200" u="none" cap="none" strike="noStrike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3" name="Google Shape;323;g364e247833d_0_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4901" y="2914625"/>
            <a:ext cx="6318201" cy="69359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64e247833d_0_76"/>
          <p:cNvSpPr txBox="1"/>
          <p:nvPr/>
        </p:nvSpPr>
        <p:spPr>
          <a:xfrm>
            <a:off x="2833500" y="1532400"/>
            <a:ext cx="12621000" cy="1108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lang="en-US" sz="7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Actividad en clase</a:t>
            </a:r>
            <a:endParaRPr b="1" i="0" sz="7200" u="none" cap="none" strike="noStrike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9" name="Google Shape;329;g364e247833d_0_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7300" y="2980050"/>
            <a:ext cx="8153400" cy="527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df1c3ad164_0_14"/>
          <p:cNvSpPr/>
          <p:nvPr/>
        </p:nvSpPr>
        <p:spPr>
          <a:xfrm>
            <a:off x="0" y="0"/>
            <a:ext cx="18288000" cy="10264140"/>
          </a:xfrm>
          <a:custGeom>
            <a:rect b="b" l="l" r="r" t="t"/>
            <a:pathLst>
              <a:path extrusionOk="0"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5" name="Google Shape;335;g3df1c3ad164_0_14"/>
          <p:cNvSpPr txBox="1"/>
          <p:nvPr/>
        </p:nvSpPr>
        <p:spPr>
          <a:xfrm>
            <a:off x="5655069" y="1667078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336" name="Google Shape;336;g3df1c3ad164_0_14"/>
          <p:cNvSpPr txBox="1"/>
          <p:nvPr/>
        </p:nvSpPr>
        <p:spPr>
          <a:xfrm>
            <a:off x="5655069" y="2460445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337" name="Google Shape;337;g3df1c3ad164_0_14"/>
          <p:cNvSpPr txBox="1"/>
          <p:nvPr/>
        </p:nvSpPr>
        <p:spPr>
          <a:xfrm>
            <a:off x="5655069" y="3475309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338" name="Google Shape;338;g3df1c3ad164_0_14"/>
          <p:cNvSpPr txBox="1"/>
          <p:nvPr/>
        </p:nvSpPr>
        <p:spPr>
          <a:xfrm>
            <a:off x="13953088" y="2091258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339" name="Google Shape;339;g3df1c3ad164_0_14"/>
          <p:cNvSpPr txBox="1"/>
          <p:nvPr/>
        </p:nvSpPr>
        <p:spPr>
          <a:xfrm>
            <a:off x="13953088" y="2884625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340" name="Google Shape;340;g3df1c3ad164_0_14"/>
          <p:cNvSpPr txBox="1"/>
          <p:nvPr/>
        </p:nvSpPr>
        <p:spPr>
          <a:xfrm>
            <a:off x="13953088" y="3680280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341" name="Google Shape;341;g3df1c3ad164_0_14"/>
          <p:cNvSpPr txBox="1"/>
          <p:nvPr/>
        </p:nvSpPr>
        <p:spPr>
          <a:xfrm>
            <a:off x="277231" y="5086350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342" name="Google Shape;342;g3df1c3ad164_0_14"/>
          <p:cNvSpPr txBox="1"/>
          <p:nvPr/>
        </p:nvSpPr>
        <p:spPr>
          <a:xfrm>
            <a:off x="277231" y="5853010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343" name="Google Shape;343;g3df1c3ad164_0_14"/>
          <p:cNvSpPr txBox="1"/>
          <p:nvPr/>
        </p:nvSpPr>
        <p:spPr>
          <a:xfrm>
            <a:off x="277231" y="6620090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344" name="Google Shape;344;g3df1c3ad164_0_14"/>
          <p:cNvSpPr txBox="1"/>
          <p:nvPr/>
        </p:nvSpPr>
        <p:spPr>
          <a:xfrm>
            <a:off x="277231" y="7600405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345" name="Google Shape;345;g3df1c3ad164_0_14"/>
          <p:cNvSpPr txBox="1"/>
          <p:nvPr/>
        </p:nvSpPr>
        <p:spPr>
          <a:xfrm>
            <a:off x="277231" y="8367485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346" name="Google Shape;346;g3df1c3ad164_0_14"/>
          <p:cNvSpPr txBox="1"/>
          <p:nvPr/>
        </p:nvSpPr>
        <p:spPr>
          <a:xfrm>
            <a:off x="277231" y="9201150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347" name="Google Shape;347;g3df1c3ad164_0_14"/>
          <p:cNvSpPr txBox="1"/>
          <p:nvPr/>
        </p:nvSpPr>
        <p:spPr>
          <a:xfrm>
            <a:off x="6406538" y="5074920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348" name="Google Shape;348;g3df1c3ad164_0_14"/>
          <p:cNvSpPr txBox="1"/>
          <p:nvPr/>
        </p:nvSpPr>
        <p:spPr>
          <a:xfrm>
            <a:off x="6406538" y="5853010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349" name="Google Shape;349;g3df1c3ad164_0_14"/>
          <p:cNvSpPr txBox="1"/>
          <p:nvPr/>
        </p:nvSpPr>
        <p:spPr>
          <a:xfrm>
            <a:off x="6406538" y="6648665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350" name="Google Shape;350;g3df1c3ad164_0_14"/>
          <p:cNvSpPr txBox="1"/>
          <p:nvPr/>
        </p:nvSpPr>
        <p:spPr>
          <a:xfrm>
            <a:off x="6406538" y="7444320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351" name="Google Shape;351;g3df1c3ad164_0_14"/>
          <p:cNvSpPr txBox="1"/>
          <p:nvPr/>
        </p:nvSpPr>
        <p:spPr>
          <a:xfrm>
            <a:off x="6406538" y="8367485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352" name="Google Shape;352;g3df1c3ad164_0_14"/>
          <p:cNvSpPr txBox="1"/>
          <p:nvPr/>
        </p:nvSpPr>
        <p:spPr>
          <a:xfrm>
            <a:off x="6406538" y="9201150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353" name="Google Shape;353;g3df1c3ad164_0_14"/>
          <p:cNvSpPr txBox="1"/>
          <p:nvPr/>
        </p:nvSpPr>
        <p:spPr>
          <a:xfrm>
            <a:off x="12538626" y="5074920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354" name="Google Shape;354;g3df1c3ad164_0_14"/>
          <p:cNvSpPr txBox="1"/>
          <p:nvPr/>
        </p:nvSpPr>
        <p:spPr>
          <a:xfrm>
            <a:off x="12538626" y="5853010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355" name="Google Shape;355;g3df1c3ad164_0_14"/>
          <p:cNvSpPr txBox="1"/>
          <p:nvPr/>
        </p:nvSpPr>
        <p:spPr>
          <a:xfrm>
            <a:off x="12538626" y="6648665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356" name="Google Shape;356;g3df1c3ad164_0_14"/>
          <p:cNvSpPr txBox="1"/>
          <p:nvPr/>
        </p:nvSpPr>
        <p:spPr>
          <a:xfrm>
            <a:off x="12538626" y="7444320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357" name="Google Shape;357;g3df1c3ad164_0_14"/>
          <p:cNvSpPr txBox="1"/>
          <p:nvPr/>
        </p:nvSpPr>
        <p:spPr>
          <a:xfrm>
            <a:off x="12538626" y="8367485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358" name="Google Shape;358;g3df1c3ad164_0_14"/>
          <p:cNvSpPr txBox="1"/>
          <p:nvPr/>
        </p:nvSpPr>
        <p:spPr>
          <a:xfrm>
            <a:off x="12538626" y="9163140"/>
            <a:ext cx="150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df1c3ad164_0_89"/>
          <p:cNvSpPr txBox="1"/>
          <p:nvPr/>
        </p:nvSpPr>
        <p:spPr>
          <a:xfrm>
            <a:off x="2833500" y="1532400"/>
            <a:ext cx="12621000" cy="1108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Dudas o comentarios</a:t>
            </a:r>
            <a:endParaRPr b="1" i="0" sz="7200" u="none" cap="none" strike="noStrike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4" name="Google Shape;364;g3df1c3ad164_0_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97518" y="3525575"/>
            <a:ext cx="6292975" cy="55567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9"/>
              </a:srgbClr>
            </a:outerShdw>
          </a:effec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9"/>
          <p:cNvSpPr txBox="1"/>
          <p:nvPr/>
        </p:nvSpPr>
        <p:spPr>
          <a:xfrm>
            <a:off x="4075500" y="1592375"/>
            <a:ext cx="10137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20124D"/>
                </a:solidFill>
                <a:latin typeface="Calibri"/>
                <a:ea typeface="Calibri"/>
                <a:cs typeface="Calibri"/>
                <a:sym typeface="Calibri"/>
              </a:rPr>
              <a:t>Foro de la semana</a:t>
            </a:r>
            <a:endParaRPr b="0" i="0" sz="7200" u="none" cap="none" strike="noStrike">
              <a:solidFill>
                <a:srgbClr val="2012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9"/>
          <p:cNvSpPr txBox="1"/>
          <p:nvPr/>
        </p:nvSpPr>
        <p:spPr>
          <a:xfrm>
            <a:off x="4283700" y="7702975"/>
            <a:ext cx="9720600" cy="1042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20124D"/>
                </a:solidFill>
                <a:latin typeface="Calibri"/>
                <a:ea typeface="Calibri"/>
                <a:cs typeface="Calibri"/>
                <a:sym typeface="Calibri"/>
              </a:rPr>
              <a:t>Foro Semana 6: 25/08 al 30/08</a:t>
            </a:r>
            <a:endParaRPr b="1" i="0" sz="4800" u="none" cap="none" strike="noStrike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1" name="Google Shape;37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7450" y="3437963"/>
            <a:ext cx="9302933" cy="34110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</p:pic>
      <p:pic>
        <p:nvPicPr>
          <p:cNvPr id="372" name="Google Shape;37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96408" y="3058650"/>
            <a:ext cx="4286250" cy="42862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63ce9bffb9_0_184"/>
          <p:cNvSpPr txBox="1"/>
          <p:nvPr/>
        </p:nvSpPr>
        <p:spPr>
          <a:xfrm>
            <a:off x="3809595" y="3057454"/>
            <a:ext cx="8658900" cy="4172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10099" u="none" cap="none" strike="noStrike">
                <a:solidFill>
                  <a:srgbClr val="20124D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5400" u="none" cap="none" strike="noStrike">
              <a:solidFill>
                <a:srgbClr val="20124D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20124D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78" name="Google Shape;378;g363ce9bffb9_0_184"/>
          <p:cNvSpPr txBox="1"/>
          <p:nvPr/>
        </p:nvSpPr>
        <p:spPr>
          <a:xfrm>
            <a:off x="2411098" y="7899735"/>
            <a:ext cx="13465800" cy="763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0124D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1" i="0" sz="1400" u="none" cap="none" strike="noStrike">
              <a:solidFill>
                <a:srgbClr val="2012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g363ce9bffb9_0_184"/>
          <p:cNvSpPr/>
          <p:nvPr/>
        </p:nvSpPr>
        <p:spPr>
          <a:xfrm>
            <a:off x="13119626" y="330185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</p:sp>
      <p:pic>
        <p:nvPicPr>
          <p:cNvPr id="380" name="Google Shape;380;g363ce9bffb9_0_1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05475" y="2024351"/>
            <a:ext cx="1385550" cy="13720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